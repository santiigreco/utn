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5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3" name="Shape 103"/>
        <p:cNvGrpSpPr/>
        <p:nvPr/>
      </p:nvGrpSpPr>
      <p:grpSpPr>
        <a:xfrm>
          <a:off x="0" y="0"/>
          <a:ext cx="0" cy="0"/>
          <a:chOff x="0" y="0"/>
          <a:chExt cx="0" cy="0"/>
        </a:xfrm>
      </p:grpSpPr>
      <p:sp>
        <p:nvSpPr>
          <p:cNvPr id="104" name="Shape 10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05" name="Shape 10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0" name="Shape 110"/>
        <p:cNvGrpSpPr/>
        <p:nvPr/>
      </p:nvGrpSpPr>
      <p:grpSpPr>
        <a:xfrm>
          <a:off x="0" y="0"/>
          <a:ext cx="0" cy="0"/>
          <a:chOff x="0" y="0"/>
          <a:chExt cx="0" cy="0"/>
        </a:xfrm>
      </p:grpSpPr>
      <p:sp>
        <p:nvSpPr>
          <p:cNvPr id="111" name="Shape 11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12" name="Shape 11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8" name="Shape 118"/>
        <p:cNvGrpSpPr/>
        <p:nvPr/>
      </p:nvGrpSpPr>
      <p:grpSpPr>
        <a:xfrm>
          <a:off x="0" y="0"/>
          <a:ext cx="0" cy="0"/>
          <a:chOff x="0" y="0"/>
          <a:chExt cx="0" cy="0"/>
        </a:xfrm>
      </p:grpSpPr>
      <p:sp>
        <p:nvSpPr>
          <p:cNvPr id="119" name="Shape 11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20" name="Shape 12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6" name="Shape 126"/>
        <p:cNvGrpSpPr/>
        <p:nvPr/>
      </p:nvGrpSpPr>
      <p:grpSpPr>
        <a:xfrm>
          <a:off x="0" y="0"/>
          <a:ext cx="0" cy="0"/>
          <a:chOff x="0" y="0"/>
          <a:chExt cx="0" cy="0"/>
        </a:xfrm>
      </p:grpSpPr>
      <p:sp>
        <p:nvSpPr>
          <p:cNvPr id="127" name="Shape 12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28" name="Shape 12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3" name="Shape 133"/>
        <p:cNvGrpSpPr/>
        <p:nvPr/>
      </p:nvGrpSpPr>
      <p:grpSpPr>
        <a:xfrm>
          <a:off x="0" y="0"/>
          <a:ext cx="0" cy="0"/>
          <a:chOff x="0" y="0"/>
          <a:chExt cx="0" cy="0"/>
        </a:xfrm>
      </p:grpSpPr>
      <p:sp>
        <p:nvSpPr>
          <p:cNvPr id="134" name="Shape 13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35" name="Shape 13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0" name="Shape 140"/>
        <p:cNvGrpSpPr/>
        <p:nvPr/>
      </p:nvGrpSpPr>
      <p:grpSpPr>
        <a:xfrm>
          <a:off x="0" y="0"/>
          <a:ext cx="0" cy="0"/>
          <a:chOff x="0" y="0"/>
          <a:chExt cx="0" cy="0"/>
        </a:xfrm>
      </p:grpSpPr>
      <p:sp>
        <p:nvSpPr>
          <p:cNvPr id="141" name="Shape 14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42" name="Shape 14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7" name="Shape 147"/>
        <p:cNvGrpSpPr/>
        <p:nvPr/>
      </p:nvGrpSpPr>
      <p:grpSpPr>
        <a:xfrm>
          <a:off x="0" y="0"/>
          <a:ext cx="0" cy="0"/>
          <a:chOff x="0" y="0"/>
          <a:chExt cx="0" cy="0"/>
        </a:xfrm>
      </p:grpSpPr>
      <p:sp>
        <p:nvSpPr>
          <p:cNvPr id="148" name="Shape 14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49" name="Shape 14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4" name="Shape 154"/>
        <p:cNvGrpSpPr/>
        <p:nvPr/>
      </p:nvGrpSpPr>
      <p:grpSpPr>
        <a:xfrm>
          <a:off x="0" y="0"/>
          <a:ext cx="0" cy="0"/>
          <a:chOff x="0" y="0"/>
          <a:chExt cx="0" cy="0"/>
        </a:xfrm>
      </p:grpSpPr>
      <p:sp>
        <p:nvSpPr>
          <p:cNvPr id="155" name="Shape 15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56" name="Shape 15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4" name="Shape 164"/>
        <p:cNvGrpSpPr/>
        <p:nvPr/>
      </p:nvGrpSpPr>
      <p:grpSpPr>
        <a:xfrm>
          <a:off x="0" y="0"/>
          <a:ext cx="0" cy="0"/>
          <a:chOff x="0" y="0"/>
          <a:chExt cx="0" cy="0"/>
        </a:xfrm>
      </p:grpSpPr>
      <p:sp>
        <p:nvSpPr>
          <p:cNvPr id="165" name="Shape 16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66" name="Shape 16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3" name="Shape 173"/>
        <p:cNvGrpSpPr/>
        <p:nvPr/>
      </p:nvGrpSpPr>
      <p:grpSpPr>
        <a:xfrm>
          <a:off x="0" y="0"/>
          <a:ext cx="0" cy="0"/>
          <a:chOff x="0" y="0"/>
          <a:chExt cx="0" cy="0"/>
        </a:xfrm>
      </p:grpSpPr>
      <p:sp>
        <p:nvSpPr>
          <p:cNvPr id="174" name="Shape 17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75" name="Shape 17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0" name="Shape 180"/>
        <p:cNvGrpSpPr/>
        <p:nvPr/>
      </p:nvGrpSpPr>
      <p:grpSpPr>
        <a:xfrm>
          <a:off x="0" y="0"/>
          <a:ext cx="0" cy="0"/>
          <a:chOff x="0" y="0"/>
          <a:chExt cx="0" cy="0"/>
        </a:xfrm>
      </p:grpSpPr>
      <p:sp>
        <p:nvSpPr>
          <p:cNvPr id="181" name="Shape 18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82" name="Shape 18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7" name="Shape 187"/>
        <p:cNvGrpSpPr/>
        <p:nvPr/>
      </p:nvGrpSpPr>
      <p:grpSpPr>
        <a:xfrm>
          <a:off x="0" y="0"/>
          <a:ext cx="0" cy="0"/>
          <a:chOff x="0" y="0"/>
          <a:chExt cx="0" cy="0"/>
        </a:xfrm>
      </p:grpSpPr>
      <p:sp>
        <p:nvSpPr>
          <p:cNvPr id="188" name="Shape 18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89" name="Shape 18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5" name="Shape 195"/>
        <p:cNvGrpSpPr/>
        <p:nvPr/>
      </p:nvGrpSpPr>
      <p:grpSpPr>
        <a:xfrm>
          <a:off x="0" y="0"/>
          <a:ext cx="0" cy="0"/>
          <a:chOff x="0" y="0"/>
          <a:chExt cx="0" cy="0"/>
        </a:xfrm>
      </p:grpSpPr>
      <p:sp>
        <p:nvSpPr>
          <p:cNvPr id="196" name="Shape 19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197" name="Shape 19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2" name="Shape 202"/>
        <p:cNvGrpSpPr/>
        <p:nvPr/>
      </p:nvGrpSpPr>
      <p:grpSpPr>
        <a:xfrm>
          <a:off x="0" y="0"/>
          <a:ext cx="0" cy="0"/>
          <a:chOff x="0" y="0"/>
          <a:chExt cx="0" cy="0"/>
        </a:xfrm>
      </p:grpSpPr>
      <p:sp>
        <p:nvSpPr>
          <p:cNvPr id="203" name="Shape 20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04" name="Shape 20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9" name="Shape 209"/>
        <p:cNvGrpSpPr/>
        <p:nvPr/>
      </p:nvGrpSpPr>
      <p:grpSpPr>
        <a:xfrm>
          <a:off x="0" y="0"/>
          <a:ext cx="0" cy="0"/>
          <a:chOff x="0" y="0"/>
          <a:chExt cx="0" cy="0"/>
        </a:xfrm>
      </p:grpSpPr>
      <p:sp>
        <p:nvSpPr>
          <p:cNvPr id="210" name="Shape 21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11" name="Shape 21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3" name="Shape 223"/>
        <p:cNvGrpSpPr/>
        <p:nvPr/>
      </p:nvGrpSpPr>
      <p:grpSpPr>
        <a:xfrm>
          <a:off x="0" y="0"/>
          <a:ext cx="0" cy="0"/>
          <a:chOff x="0" y="0"/>
          <a:chExt cx="0" cy="0"/>
        </a:xfrm>
      </p:grpSpPr>
      <p:sp>
        <p:nvSpPr>
          <p:cNvPr id="224" name="Shape 22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25" name="Shape 22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73" name="Shape 273"/>
        <p:cNvGrpSpPr/>
        <p:nvPr/>
      </p:nvGrpSpPr>
      <p:grpSpPr>
        <a:xfrm>
          <a:off x="0" y="0"/>
          <a:ext cx="0" cy="0"/>
          <a:chOff x="0" y="0"/>
          <a:chExt cx="0" cy="0"/>
        </a:xfrm>
      </p:grpSpPr>
      <p:sp>
        <p:nvSpPr>
          <p:cNvPr id="274" name="Shape 27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75" name="Shape 27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0" name="Shape 280"/>
        <p:cNvGrpSpPr/>
        <p:nvPr/>
      </p:nvGrpSpPr>
      <p:grpSpPr>
        <a:xfrm>
          <a:off x="0" y="0"/>
          <a:ext cx="0" cy="0"/>
          <a:chOff x="0" y="0"/>
          <a:chExt cx="0" cy="0"/>
        </a:xfrm>
      </p:grpSpPr>
      <p:sp>
        <p:nvSpPr>
          <p:cNvPr id="281" name="Shape 28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82" name="Shape 28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8" name="Shape 288"/>
        <p:cNvGrpSpPr/>
        <p:nvPr/>
      </p:nvGrpSpPr>
      <p:grpSpPr>
        <a:xfrm>
          <a:off x="0" y="0"/>
          <a:ext cx="0" cy="0"/>
          <a:chOff x="0" y="0"/>
          <a:chExt cx="0" cy="0"/>
        </a:xfrm>
      </p:grpSpPr>
      <p:sp>
        <p:nvSpPr>
          <p:cNvPr id="289" name="Shape 28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90" name="Shape 29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7" name="Shape 297"/>
        <p:cNvGrpSpPr/>
        <p:nvPr/>
      </p:nvGrpSpPr>
      <p:grpSpPr>
        <a:xfrm>
          <a:off x="0" y="0"/>
          <a:ext cx="0" cy="0"/>
          <a:chOff x="0" y="0"/>
          <a:chExt cx="0" cy="0"/>
        </a:xfrm>
      </p:grpSpPr>
      <p:sp>
        <p:nvSpPr>
          <p:cNvPr id="298" name="Shape 29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299" name="Shape 29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05" name="Shape 305"/>
        <p:cNvGrpSpPr/>
        <p:nvPr/>
      </p:nvGrpSpPr>
      <p:grpSpPr>
        <a:xfrm>
          <a:off x="0" y="0"/>
          <a:ext cx="0" cy="0"/>
          <a:chOff x="0" y="0"/>
          <a:chExt cx="0" cy="0"/>
        </a:xfrm>
      </p:grpSpPr>
      <p:sp>
        <p:nvSpPr>
          <p:cNvPr id="306" name="Shape 30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07" name="Shape 30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2" name="Shape 312"/>
        <p:cNvGrpSpPr/>
        <p:nvPr/>
      </p:nvGrpSpPr>
      <p:grpSpPr>
        <a:xfrm>
          <a:off x="0" y="0"/>
          <a:ext cx="0" cy="0"/>
          <a:chOff x="0" y="0"/>
          <a:chExt cx="0" cy="0"/>
        </a:xfrm>
      </p:grpSpPr>
      <p:sp>
        <p:nvSpPr>
          <p:cNvPr id="313" name="Shape 31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14" name="Shape 31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19" name="Shape 319"/>
        <p:cNvGrpSpPr/>
        <p:nvPr/>
      </p:nvGrpSpPr>
      <p:grpSpPr>
        <a:xfrm>
          <a:off x="0" y="0"/>
          <a:ext cx="0" cy="0"/>
          <a:chOff x="0" y="0"/>
          <a:chExt cx="0" cy="0"/>
        </a:xfrm>
      </p:grpSpPr>
      <p:sp>
        <p:nvSpPr>
          <p:cNvPr id="320" name="Shape 32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21" name="Shape 32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26" name="Shape 326"/>
        <p:cNvGrpSpPr/>
        <p:nvPr/>
      </p:nvGrpSpPr>
      <p:grpSpPr>
        <a:xfrm>
          <a:off x="0" y="0"/>
          <a:ext cx="0" cy="0"/>
          <a:chOff x="0" y="0"/>
          <a:chExt cx="0" cy="0"/>
        </a:xfrm>
      </p:grpSpPr>
      <p:sp>
        <p:nvSpPr>
          <p:cNvPr id="327" name="Shape 32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28" name="Shape 32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34" name="Shape 334"/>
        <p:cNvGrpSpPr/>
        <p:nvPr/>
      </p:nvGrpSpPr>
      <p:grpSpPr>
        <a:xfrm>
          <a:off x="0" y="0"/>
          <a:ext cx="0" cy="0"/>
          <a:chOff x="0" y="0"/>
          <a:chExt cx="0" cy="0"/>
        </a:xfrm>
      </p:grpSpPr>
      <p:sp>
        <p:nvSpPr>
          <p:cNvPr id="335" name="Shape 33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36" name="Shape 33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1" name="Shape 351"/>
        <p:cNvGrpSpPr/>
        <p:nvPr/>
      </p:nvGrpSpPr>
      <p:grpSpPr>
        <a:xfrm>
          <a:off x="0" y="0"/>
          <a:ext cx="0" cy="0"/>
          <a:chOff x="0" y="0"/>
          <a:chExt cx="0" cy="0"/>
        </a:xfrm>
      </p:grpSpPr>
      <p:sp>
        <p:nvSpPr>
          <p:cNvPr id="352" name="Shape 35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53" name="Shape 35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9" name="Shape 359"/>
        <p:cNvGrpSpPr/>
        <p:nvPr/>
      </p:nvGrpSpPr>
      <p:grpSpPr>
        <a:xfrm>
          <a:off x="0" y="0"/>
          <a:ext cx="0" cy="0"/>
          <a:chOff x="0" y="0"/>
          <a:chExt cx="0" cy="0"/>
        </a:xfrm>
      </p:grpSpPr>
      <p:sp>
        <p:nvSpPr>
          <p:cNvPr id="360" name="Shape 360"/>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61" name="Shape 36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67" name="Shape 367"/>
        <p:cNvGrpSpPr/>
        <p:nvPr/>
      </p:nvGrpSpPr>
      <p:grpSpPr>
        <a:xfrm>
          <a:off x="0" y="0"/>
          <a:ext cx="0" cy="0"/>
          <a:chOff x="0" y="0"/>
          <a:chExt cx="0" cy="0"/>
        </a:xfrm>
      </p:grpSpPr>
      <p:sp>
        <p:nvSpPr>
          <p:cNvPr id="368" name="Shape 36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69" name="Shape 36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75" name="Shape 375"/>
        <p:cNvGrpSpPr/>
        <p:nvPr/>
      </p:nvGrpSpPr>
      <p:grpSpPr>
        <a:xfrm>
          <a:off x="0" y="0"/>
          <a:ext cx="0" cy="0"/>
          <a:chOff x="0" y="0"/>
          <a:chExt cx="0" cy="0"/>
        </a:xfrm>
      </p:grpSpPr>
      <p:sp>
        <p:nvSpPr>
          <p:cNvPr id="376" name="Shape 376"/>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77" name="Shape 377"/>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2" name="Shape 392"/>
        <p:cNvGrpSpPr/>
        <p:nvPr/>
      </p:nvGrpSpPr>
      <p:grpSpPr>
        <a:xfrm>
          <a:off x="0" y="0"/>
          <a:ext cx="0" cy="0"/>
          <a:chOff x="0" y="0"/>
          <a:chExt cx="0" cy="0"/>
        </a:xfrm>
      </p:grpSpPr>
      <p:sp>
        <p:nvSpPr>
          <p:cNvPr id="393" name="Shape 393"/>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394" name="Shape 39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0" name="Shape 400"/>
        <p:cNvGrpSpPr/>
        <p:nvPr/>
      </p:nvGrpSpPr>
      <p:grpSpPr>
        <a:xfrm>
          <a:off x="0" y="0"/>
          <a:ext cx="0" cy="0"/>
          <a:chOff x="0" y="0"/>
          <a:chExt cx="0" cy="0"/>
        </a:xfrm>
      </p:grpSpPr>
      <p:sp>
        <p:nvSpPr>
          <p:cNvPr id="401" name="Shape 40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02" name="Shape 40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08" name="Shape 408"/>
        <p:cNvGrpSpPr/>
        <p:nvPr/>
      </p:nvGrpSpPr>
      <p:grpSpPr>
        <a:xfrm>
          <a:off x="0" y="0"/>
          <a:ext cx="0" cy="0"/>
          <a:chOff x="0" y="0"/>
          <a:chExt cx="0" cy="0"/>
        </a:xfrm>
      </p:grpSpPr>
      <p:sp>
        <p:nvSpPr>
          <p:cNvPr id="409" name="Shape 40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10" name="Shape 41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16" name="Shape 416"/>
        <p:cNvGrpSpPr/>
        <p:nvPr/>
      </p:nvGrpSpPr>
      <p:grpSpPr>
        <a:xfrm>
          <a:off x="0" y="0"/>
          <a:ext cx="0" cy="0"/>
          <a:chOff x="0" y="0"/>
          <a:chExt cx="0" cy="0"/>
        </a:xfrm>
      </p:grpSpPr>
      <p:sp>
        <p:nvSpPr>
          <p:cNvPr id="417" name="Shape 41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18" name="Shape 41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24" name="Shape 424"/>
        <p:cNvGrpSpPr/>
        <p:nvPr/>
      </p:nvGrpSpPr>
      <p:grpSpPr>
        <a:xfrm>
          <a:off x="0" y="0"/>
          <a:ext cx="0" cy="0"/>
          <a:chOff x="0" y="0"/>
          <a:chExt cx="0" cy="0"/>
        </a:xfrm>
      </p:grpSpPr>
      <p:sp>
        <p:nvSpPr>
          <p:cNvPr id="425" name="Shape 425"/>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26" name="Shape 42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58" name="Shape 458"/>
        <p:cNvGrpSpPr/>
        <p:nvPr/>
      </p:nvGrpSpPr>
      <p:grpSpPr>
        <a:xfrm>
          <a:off x="0" y="0"/>
          <a:ext cx="0" cy="0"/>
          <a:chOff x="0" y="0"/>
          <a:chExt cx="0" cy="0"/>
        </a:xfrm>
      </p:grpSpPr>
      <p:sp>
        <p:nvSpPr>
          <p:cNvPr id="459" name="Shape 459"/>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60" name="Shape 46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66" name="Shape 466"/>
        <p:cNvGrpSpPr/>
        <p:nvPr/>
      </p:nvGrpSpPr>
      <p:grpSpPr>
        <a:xfrm>
          <a:off x="0" y="0"/>
          <a:ext cx="0" cy="0"/>
          <a:chOff x="0" y="0"/>
          <a:chExt cx="0" cy="0"/>
        </a:xfrm>
      </p:grpSpPr>
      <p:sp>
        <p:nvSpPr>
          <p:cNvPr id="467" name="Shape 46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68" name="Shape 46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73" name="Shape 473"/>
        <p:cNvGrpSpPr/>
        <p:nvPr/>
      </p:nvGrpSpPr>
      <p:grpSpPr>
        <a:xfrm>
          <a:off x="0" y="0"/>
          <a:ext cx="0" cy="0"/>
          <a:chOff x="0" y="0"/>
          <a:chExt cx="0" cy="0"/>
        </a:xfrm>
      </p:grpSpPr>
      <p:sp>
        <p:nvSpPr>
          <p:cNvPr id="474" name="Shape 47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75" name="Shape 47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81" name="Shape 481"/>
        <p:cNvGrpSpPr/>
        <p:nvPr/>
      </p:nvGrpSpPr>
      <p:grpSpPr>
        <a:xfrm>
          <a:off x="0" y="0"/>
          <a:ext cx="0" cy="0"/>
          <a:chOff x="0" y="0"/>
          <a:chExt cx="0" cy="0"/>
        </a:xfrm>
      </p:grpSpPr>
      <p:sp>
        <p:nvSpPr>
          <p:cNvPr id="482" name="Shape 48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483" name="Shape 48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6" name="Shape 506"/>
        <p:cNvGrpSpPr/>
        <p:nvPr/>
      </p:nvGrpSpPr>
      <p:grpSpPr>
        <a:xfrm>
          <a:off x="0" y="0"/>
          <a:ext cx="0" cy="0"/>
          <a:chOff x="0" y="0"/>
          <a:chExt cx="0" cy="0"/>
        </a:xfrm>
      </p:grpSpPr>
      <p:sp>
        <p:nvSpPr>
          <p:cNvPr id="507" name="Shape 507"/>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08" name="Shape 50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13" name="Shape 513"/>
        <p:cNvGrpSpPr/>
        <p:nvPr/>
      </p:nvGrpSpPr>
      <p:grpSpPr>
        <a:xfrm>
          <a:off x="0" y="0"/>
          <a:ext cx="0" cy="0"/>
          <a:chOff x="0" y="0"/>
          <a:chExt cx="0" cy="0"/>
        </a:xfrm>
      </p:grpSpPr>
      <p:sp>
        <p:nvSpPr>
          <p:cNvPr id="514" name="Shape 514"/>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15" name="Shape 51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0" name="Shape 520"/>
        <p:cNvGrpSpPr/>
        <p:nvPr/>
      </p:nvGrpSpPr>
      <p:grpSpPr>
        <a:xfrm>
          <a:off x="0" y="0"/>
          <a:ext cx="0" cy="0"/>
          <a:chOff x="0" y="0"/>
          <a:chExt cx="0" cy="0"/>
        </a:xfrm>
      </p:grpSpPr>
      <p:sp>
        <p:nvSpPr>
          <p:cNvPr id="521" name="Shape 521"/>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22" name="Shape 52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27" name="Shape 527"/>
        <p:cNvGrpSpPr/>
        <p:nvPr/>
      </p:nvGrpSpPr>
      <p:grpSpPr>
        <a:xfrm>
          <a:off x="0" y="0"/>
          <a:ext cx="0" cy="0"/>
          <a:chOff x="0" y="0"/>
          <a:chExt cx="0" cy="0"/>
        </a:xfrm>
      </p:grpSpPr>
      <p:sp>
        <p:nvSpPr>
          <p:cNvPr id="528" name="Shape 528"/>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lvl="0">
              <a:spcBef>
                <a:spcPts val="0"/>
              </a:spcBef>
              <a:buNone/>
            </a:pPr>
            <a:r>
              <a:t/>
            </a:r>
            <a:endParaRPr/>
          </a:p>
        </p:txBody>
      </p:sp>
      <p:sp>
        <p:nvSpPr>
          <p:cNvPr id="529" name="Shape 52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bg>
      <p:bgPr>
        <a:solidFill>
          <a:schemeClr val="lt1"/>
        </a:solidFill>
      </p:bgPr>
    </p:bg>
    <p:spTree>
      <p:nvGrpSpPr>
        <p:cNvPr id="44" name="Shape 44"/>
        <p:cNvGrpSpPr/>
        <p:nvPr/>
      </p:nvGrpSpPr>
      <p:grpSpPr>
        <a:xfrm>
          <a:off x="0" y="0"/>
          <a:ext cx="0" cy="0"/>
          <a:chOff x="0" y="0"/>
          <a:chExt cx="0" cy="0"/>
        </a:xfrm>
      </p:grpSpPr>
      <p:cxnSp>
        <p:nvCxnSpPr>
          <p:cNvPr id="45" name="Shape 45"/>
          <p:cNvCxnSpPr/>
          <p:nvPr/>
        </p:nvCxnSpPr>
        <p:spPr>
          <a:xfrm>
            <a:off x="7315200" y="1066800"/>
            <a:ext cx="0" cy="4495800"/>
          </a:xfrm>
          <a:prstGeom prst="straightConnector1">
            <a:avLst/>
          </a:prstGeom>
          <a:noFill/>
          <a:ln cap="flat" cmpd="sng" w="9525">
            <a:solidFill>
              <a:schemeClr val="dk1"/>
            </a:solidFill>
            <a:prstDash val="solid"/>
            <a:miter/>
            <a:headEnd len="med" w="med" type="none"/>
            <a:tailEnd len="med" w="med" type="none"/>
          </a:ln>
        </p:spPr>
      </p:cxnSp>
      <p:sp>
        <p:nvSpPr>
          <p:cNvPr id="46" name="Shape 46"/>
          <p:cNvSpPr txBox="1"/>
          <p:nvPr>
            <p:ph type="ctrTitle"/>
          </p:nvPr>
        </p:nvSpPr>
        <p:spPr>
          <a:xfrm>
            <a:off x="2195511" y="549275"/>
            <a:ext cx="6781800" cy="213359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1pPr>
            <a:lvl2pPr indent="0" lvl="1"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2pPr>
            <a:lvl3pPr indent="0" lvl="2"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3pPr>
            <a:lvl4pPr indent="0" lvl="3"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4pPr>
            <a:lvl5pPr indent="0" lvl="4"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5pPr>
            <a:lvl6pPr indent="0" lvl="5"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6pPr>
            <a:lvl7pPr indent="0" lvl="6"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7pPr>
            <a:lvl8pPr indent="0" lvl="7"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8pPr>
            <a:lvl9pPr indent="0" lvl="8"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9pPr>
          </a:lstStyle>
          <a:p/>
        </p:txBody>
      </p:sp>
      <p:sp>
        <p:nvSpPr>
          <p:cNvPr id="47" name="Shape 47"/>
          <p:cNvSpPr txBox="1"/>
          <p:nvPr>
            <p:ph idx="1" type="subTitle"/>
          </p:nvPr>
        </p:nvSpPr>
        <p:spPr>
          <a:xfrm>
            <a:off x="849312" y="3049586"/>
            <a:ext cx="6248399" cy="2362200"/>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ans Symbols"/>
              <a:buChar char="●"/>
              <a:defRPr b="0" i="0" sz="3000" u="none" cap="none" strike="noStrike">
                <a:solidFill>
                  <a:schemeClr val="dk1"/>
                </a:solidFill>
                <a:latin typeface="Arial"/>
                <a:ea typeface="Arial"/>
                <a:cs typeface="Arial"/>
                <a:sym typeface="Arial"/>
              </a:defRPr>
            </a:lvl1pPr>
            <a:lvl2pPr indent="-233680" lvl="1" marL="692150" marR="0" rtl="0" algn="l">
              <a:lnSpc>
                <a:spcPct val="100000"/>
              </a:lnSpc>
              <a:spcBef>
                <a:spcPts val="520"/>
              </a:spcBef>
              <a:spcAft>
                <a:spcPts val="0"/>
              </a:spcAft>
              <a:buClr>
                <a:schemeClr val="accent2"/>
              </a:buClr>
              <a:buFont typeface="Noto Sans Symbols"/>
              <a:buChar char="●"/>
              <a:defRPr b="0" i="0" sz="2600" u="none" cap="none" strike="noStrike">
                <a:solidFill>
                  <a:schemeClr val="dk1"/>
                </a:solidFill>
                <a:latin typeface="Arial"/>
                <a:ea typeface="Arial"/>
                <a:cs typeface="Arial"/>
                <a:sym typeface="Arial"/>
              </a:defRPr>
            </a:lvl2pPr>
            <a:lvl3pPr indent="-199390" lvl="2" marL="987425" marR="0" rtl="0" algn="l">
              <a:lnSpc>
                <a:spcPct val="100000"/>
              </a:lnSpc>
              <a:spcBef>
                <a:spcPts val="460"/>
              </a:spcBef>
              <a:spcAft>
                <a:spcPts val="0"/>
              </a:spcAft>
              <a:buClr>
                <a:schemeClr val="accent1"/>
              </a:buClr>
              <a:buFont typeface="Noto Sans Symbols"/>
              <a:buChar char="●"/>
              <a:defRPr b="0" i="0" sz="2300" u="none" cap="none" strike="noStrike">
                <a:solidFill>
                  <a:schemeClr val="dk1"/>
                </a:solidFill>
                <a:latin typeface="Arial"/>
                <a:ea typeface="Arial"/>
                <a:cs typeface="Arial"/>
                <a:sym typeface="Arial"/>
              </a:defRPr>
            </a:lvl3pPr>
            <a:lvl4pPr indent="-207962" lvl="3" marL="1281112" marR="0" rtl="0" algn="l">
              <a:lnSpc>
                <a:spcPct val="100000"/>
              </a:lnSpc>
              <a:spcBef>
                <a:spcPts val="400"/>
              </a:spcBef>
              <a:spcAft>
                <a:spcPts val="0"/>
              </a:spcAft>
              <a:buClr>
                <a:schemeClr val="dk2"/>
              </a:buClr>
              <a:buFont typeface="Noto Sans Symbols"/>
              <a:buChar char="▪"/>
              <a:defRPr b="0" i="0" sz="2000" u="none" cap="none" strike="noStrike">
                <a:solidFill>
                  <a:schemeClr val="dk1"/>
                </a:solidFill>
                <a:latin typeface="Arial"/>
                <a:ea typeface="Arial"/>
                <a:cs typeface="Arial"/>
                <a:sym typeface="Arial"/>
              </a:defRPr>
            </a:lvl4pPr>
            <a:lvl5pPr indent="-214312" lvl="4" marL="1598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5pPr>
            <a:lvl6pPr indent="-239711" lvl="5" marL="1916111"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6pPr>
            <a:lvl7pPr indent="-290511" lvl="6" marL="25511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7pPr>
            <a:lvl8pPr indent="-366712" lvl="7" marL="350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8pPr>
            <a:lvl9pPr indent="-455612" lvl="8" marL="477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9pPr>
          </a:lstStyle>
          <a:p/>
        </p:txBody>
      </p:sp>
      <p:sp>
        <p:nvSpPr>
          <p:cNvPr id="48" name="Shape 48"/>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49" name="Shape 49"/>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50" name="Shape 50"/>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51" name="Shape 51"/>
          <p:cNvGrpSpPr/>
          <p:nvPr/>
        </p:nvGrpSpPr>
        <p:grpSpPr>
          <a:xfrm>
            <a:off x="7493000" y="2992436"/>
            <a:ext cx="1338261" cy="2189162"/>
            <a:chOff x="7467600" y="2992436"/>
            <a:chExt cx="1338261" cy="2189162"/>
          </a:xfrm>
        </p:grpSpPr>
        <p:sp>
          <p:nvSpPr>
            <p:cNvPr id="52" name="Shape 52"/>
            <p:cNvSpPr/>
            <p:nvPr/>
          </p:nvSpPr>
          <p:spPr>
            <a:xfrm>
              <a:off x="7467600"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3" name="Shape 53"/>
            <p:cNvSpPr/>
            <p:nvPr/>
          </p:nvSpPr>
          <p:spPr>
            <a:xfrm>
              <a:off x="7751761"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 name="Shape 54"/>
            <p:cNvSpPr/>
            <p:nvPr/>
          </p:nvSpPr>
          <p:spPr>
            <a:xfrm>
              <a:off x="8035925" y="2992436"/>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 name="Shape 55"/>
            <p:cNvSpPr/>
            <p:nvPr/>
          </p:nvSpPr>
          <p:spPr>
            <a:xfrm>
              <a:off x="7467600"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 name="Shape 56"/>
            <p:cNvSpPr/>
            <p:nvPr/>
          </p:nvSpPr>
          <p:spPr>
            <a:xfrm>
              <a:off x="7751761"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 name="Shape 57"/>
            <p:cNvSpPr/>
            <p:nvPr/>
          </p:nvSpPr>
          <p:spPr>
            <a:xfrm>
              <a:off x="8035925" y="3276600"/>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 name="Shape 58"/>
            <p:cNvSpPr/>
            <p:nvPr/>
          </p:nvSpPr>
          <p:spPr>
            <a:xfrm>
              <a:off x="8320086" y="3276600"/>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 name="Shape 59"/>
            <p:cNvSpPr/>
            <p:nvPr/>
          </p:nvSpPr>
          <p:spPr>
            <a:xfrm>
              <a:off x="7467600"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 name="Shape 60"/>
            <p:cNvSpPr/>
            <p:nvPr/>
          </p:nvSpPr>
          <p:spPr>
            <a:xfrm>
              <a:off x="7751761" y="3560762"/>
              <a:ext cx="201611" cy="201611"/>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 name="Shape 61"/>
            <p:cNvSpPr/>
            <p:nvPr/>
          </p:nvSpPr>
          <p:spPr>
            <a:xfrm>
              <a:off x="8035925"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2" name="Shape 62"/>
            <p:cNvSpPr/>
            <p:nvPr/>
          </p:nvSpPr>
          <p:spPr>
            <a:xfrm>
              <a:off x="8320086" y="35607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3" name="Shape 63"/>
            <p:cNvSpPr/>
            <p:nvPr/>
          </p:nvSpPr>
          <p:spPr>
            <a:xfrm>
              <a:off x="8604250" y="35607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4" name="Shape 64"/>
            <p:cNvSpPr/>
            <p:nvPr/>
          </p:nvSpPr>
          <p:spPr>
            <a:xfrm>
              <a:off x="7467600" y="3843337"/>
              <a:ext cx="201611" cy="203199"/>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5" name="Shape 65"/>
            <p:cNvSpPr/>
            <p:nvPr/>
          </p:nvSpPr>
          <p:spPr>
            <a:xfrm>
              <a:off x="7751761"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6" name="Shape 66"/>
            <p:cNvSpPr/>
            <p:nvPr/>
          </p:nvSpPr>
          <p:spPr>
            <a:xfrm>
              <a:off x="8035925" y="3843337"/>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7" name="Shape 67"/>
            <p:cNvSpPr/>
            <p:nvPr/>
          </p:nvSpPr>
          <p:spPr>
            <a:xfrm>
              <a:off x="8320086" y="3843337"/>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Shape 68"/>
            <p:cNvSpPr/>
            <p:nvPr/>
          </p:nvSpPr>
          <p:spPr>
            <a:xfrm>
              <a:off x="7467600"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9" name="Shape 69"/>
            <p:cNvSpPr/>
            <p:nvPr/>
          </p:nvSpPr>
          <p:spPr>
            <a:xfrm>
              <a:off x="7751761" y="4127500"/>
              <a:ext cx="201611" cy="203199"/>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 name="Shape 70"/>
            <p:cNvSpPr/>
            <p:nvPr/>
          </p:nvSpPr>
          <p:spPr>
            <a:xfrm>
              <a:off x="8035925"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1" name="Shape 71"/>
            <p:cNvSpPr/>
            <p:nvPr/>
          </p:nvSpPr>
          <p:spPr>
            <a:xfrm>
              <a:off x="8320086" y="4127500"/>
              <a:ext cx="201611" cy="203199"/>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2" name="Shape 72"/>
            <p:cNvSpPr/>
            <p:nvPr/>
          </p:nvSpPr>
          <p:spPr>
            <a:xfrm>
              <a:off x="8604250" y="4127500"/>
              <a:ext cx="201611" cy="203199"/>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3" name="Shape 73"/>
            <p:cNvSpPr/>
            <p:nvPr/>
          </p:nvSpPr>
          <p:spPr>
            <a:xfrm>
              <a:off x="7467600" y="4411662"/>
              <a:ext cx="201611" cy="201611"/>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4" name="Shape 74"/>
            <p:cNvSpPr/>
            <p:nvPr/>
          </p:nvSpPr>
          <p:spPr>
            <a:xfrm>
              <a:off x="7751761"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5" name="Shape 75"/>
            <p:cNvSpPr/>
            <p:nvPr/>
          </p:nvSpPr>
          <p:spPr>
            <a:xfrm>
              <a:off x="8035925" y="4411662"/>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6" name="Shape 76"/>
            <p:cNvSpPr/>
            <p:nvPr/>
          </p:nvSpPr>
          <p:spPr>
            <a:xfrm>
              <a:off x="8320086" y="4411662"/>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7" name="Shape 77"/>
            <p:cNvSpPr/>
            <p:nvPr/>
          </p:nvSpPr>
          <p:spPr>
            <a:xfrm>
              <a:off x="7467600"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8" name="Shape 78"/>
            <p:cNvSpPr/>
            <p:nvPr/>
          </p:nvSpPr>
          <p:spPr>
            <a:xfrm>
              <a:off x="7751761" y="4695825"/>
              <a:ext cx="201611" cy="201611"/>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9" name="Shape 79"/>
            <p:cNvSpPr/>
            <p:nvPr/>
          </p:nvSpPr>
          <p:spPr>
            <a:xfrm>
              <a:off x="8035925"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0" name="Shape 80"/>
            <p:cNvSpPr/>
            <p:nvPr/>
          </p:nvSpPr>
          <p:spPr>
            <a:xfrm>
              <a:off x="8320086" y="4695825"/>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1" name="Shape 81"/>
            <p:cNvSpPr/>
            <p:nvPr/>
          </p:nvSpPr>
          <p:spPr>
            <a:xfrm>
              <a:off x="7751761"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82" name="Shape 82"/>
            <p:cNvSpPr/>
            <p:nvPr/>
          </p:nvSpPr>
          <p:spPr>
            <a:xfrm>
              <a:off x="8320086" y="4979987"/>
              <a:ext cx="201611" cy="201611"/>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cxnSp>
        <p:nvCxnSpPr>
          <p:cNvPr id="83" name="Shape 83"/>
          <p:cNvCxnSpPr/>
          <p:nvPr/>
        </p:nvCxnSpPr>
        <p:spPr>
          <a:xfrm>
            <a:off x="304800" y="2819400"/>
            <a:ext cx="8229600" cy="0"/>
          </a:xfrm>
          <a:prstGeom prst="straightConnector1">
            <a:avLst/>
          </a:prstGeom>
          <a:noFill/>
          <a:ln cap="flat" cmpd="sng" w="9525">
            <a:solidFill>
              <a:schemeClr val="dk1"/>
            </a:solidFill>
            <a:prstDash val="solid"/>
            <a:miter/>
            <a:headEnd len="med" w="med" type="none"/>
            <a:tailEnd len="med" w="med" type="none"/>
          </a:ln>
        </p:spPr>
      </p:cxnSp>
      <p:pic>
        <p:nvPicPr>
          <p:cNvPr id="84" name="Shape 84"/>
          <p:cNvPicPr preferRelativeResize="0"/>
          <p:nvPr/>
        </p:nvPicPr>
        <p:blipFill rotWithShape="1">
          <a:blip r:embed="rId2">
            <a:alphaModFix/>
          </a:blip>
          <a:srcRect b="0" l="0" r="0" t="0"/>
          <a:stretch/>
        </p:blipFill>
        <p:spPr>
          <a:xfrm>
            <a:off x="250825" y="260350"/>
            <a:ext cx="3013074" cy="60801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AndTwoObj">
  <p:cSld name="Title, text on left, two objects on right">
    <p:spTree>
      <p:nvGrpSpPr>
        <p:cNvPr id="85" name="Shape 85"/>
        <p:cNvGrpSpPr/>
        <p:nvPr/>
      </p:nvGrpSpPr>
      <p:grpSpPr>
        <a:xfrm>
          <a:off x="0" y="0"/>
          <a:ext cx="0" cy="0"/>
          <a:chOff x="0" y="0"/>
          <a:chExt cx="0" cy="0"/>
        </a:xfrm>
      </p:grpSpPr>
      <p:sp>
        <p:nvSpPr>
          <p:cNvPr id="86" name="Shape 86"/>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87" name="Shape 87"/>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88" name="Shape 88"/>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text on left, text on right">
    <p:spTree>
      <p:nvGrpSpPr>
        <p:cNvPr id="89" name="Shape 89"/>
        <p:cNvGrpSpPr/>
        <p:nvPr/>
      </p:nvGrpSpPr>
      <p:grpSpPr>
        <a:xfrm>
          <a:off x="0" y="0"/>
          <a:ext cx="0" cy="0"/>
          <a:chOff x="0" y="0"/>
          <a:chExt cx="0" cy="0"/>
        </a:xfrm>
      </p:grpSpPr>
      <p:sp>
        <p:nvSpPr>
          <p:cNvPr id="90" name="Shape 90"/>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1" name="Shape 91"/>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2" name="Shape 92"/>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fourObj">
  <p:cSld name="Title and four objects">
    <p:spTree>
      <p:nvGrpSpPr>
        <p:cNvPr id="93" name="Shape 93"/>
        <p:cNvGrpSpPr/>
        <p:nvPr/>
      </p:nvGrpSpPr>
      <p:grpSpPr>
        <a:xfrm>
          <a:off x="0" y="0"/>
          <a:ext cx="0" cy="0"/>
          <a:chOff x="0" y="0"/>
          <a:chExt cx="0" cy="0"/>
        </a:xfrm>
      </p:grpSpPr>
      <p:sp>
        <p:nvSpPr>
          <p:cNvPr id="94" name="Shape 94"/>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5" name="Shape 95"/>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96" name="Shape 96"/>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text">
    <p:spTree>
      <p:nvGrpSpPr>
        <p:cNvPr id="97" name="Shape 97"/>
        <p:cNvGrpSpPr/>
        <p:nvPr/>
      </p:nvGrpSpPr>
      <p:grpSpPr>
        <a:xfrm>
          <a:off x="0" y="0"/>
          <a:ext cx="0" cy="0"/>
          <a:chOff x="0" y="0"/>
          <a:chExt cx="0" cy="0"/>
        </a:xfrm>
      </p:grpSpPr>
      <p:sp>
        <p:nvSpPr>
          <p:cNvPr id="98" name="Shape 98"/>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rtl="0" algn="l">
              <a:lnSpc>
                <a:spcPct val="100000"/>
              </a:lnSpc>
              <a:spcBef>
                <a:spcPts val="0"/>
              </a:spcBef>
              <a:spcAft>
                <a:spcPts val="0"/>
              </a:spcAft>
              <a:defRPr b="1" i="0" sz="3900" u="none">
                <a:solidFill>
                  <a:schemeClr val="dk2"/>
                </a:solidFill>
                <a:latin typeface="Arial"/>
                <a:ea typeface="Arial"/>
                <a:cs typeface="Arial"/>
                <a:sym typeface="Arial"/>
              </a:defRPr>
            </a:lvl1pPr>
            <a:lvl2pPr indent="0" lvl="1" marL="0" rtl="0" algn="l">
              <a:lnSpc>
                <a:spcPct val="100000"/>
              </a:lnSpc>
              <a:spcBef>
                <a:spcPts val="0"/>
              </a:spcBef>
              <a:spcAft>
                <a:spcPts val="0"/>
              </a:spcAft>
              <a:defRPr b="1" i="0" sz="3900" u="none">
                <a:solidFill>
                  <a:schemeClr val="dk2"/>
                </a:solidFill>
                <a:latin typeface="Arial"/>
                <a:ea typeface="Arial"/>
                <a:cs typeface="Arial"/>
                <a:sym typeface="Arial"/>
              </a:defRPr>
            </a:lvl2pPr>
            <a:lvl3pPr indent="0" lvl="2" marL="0" rtl="0" algn="l">
              <a:lnSpc>
                <a:spcPct val="100000"/>
              </a:lnSpc>
              <a:spcBef>
                <a:spcPts val="0"/>
              </a:spcBef>
              <a:spcAft>
                <a:spcPts val="0"/>
              </a:spcAft>
              <a:defRPr b="1" i="0" sz="3900" u="none">
                <a:solidFill>
                  <a:schemeClr val="dk2"/>
                </a:solidFill>
                <a:latin typeface="Arial"/>
                <a:ea typeface="Arial"/>
                <a:cs typeface="Arial"/>
                <a:sym typeface="Arial"/>
              </a:defRPr>
            </a:lvl3pPr>
            <a:lvl4pPr indent="0" lvl="3" marL="0" rtl="0" algn="l">
              <a:lnSpc>
                <a:spcPct val="100000"/>
              </a:lnSpc>
              <a:spcBef>
                <a:spcPts val="0"/>
              </a:spcBef>
              <a:spcAft>
                <a:spcPts val="0"/>
              </a:spcAft>
              <a:defRPr b="1" i="0" sz="3900" u="none">
                <a:solidFill>
                  <a:schemeClr val="dk2"/>
                </a:solidFill>
                <a:latin typeface="Arial"/>
                <a:ea typeface="Arial"/>
                <a:cs typeface="Arial"/>
                <a:sym typeface="Arial"/>
              </a:defRPr>
            </a:lvl4pPr>
            <a:lvl5pPr indent="0" lvl="4" marL="0" rtl="0" algn="l">
              <a:lnSpc>
                <a:spcPct val="100000"/>
              </a:lnSpc>
              <a:spcBef>
                <a:spcPts val="0"/>
              </a:spcBef>
              <a:spcAft>
                <a:spcPts val="0"/>
              </a:spcAft>
              <a:defRPr b="1" i="0" sz="3900" u="none">
                <a:solidFill>
                  <a:schemeClr val="dk2"/>
                </a:solidFill>
                <a:latin typeface="Arial"/>
                <a:ea typeface="Arial"/>
                <a:cs typeface="Arial"/>
                <a:sym typeface="Arial"/>
              </a:defRPr>
            </a:lvl5pPr>
            <a:lvl6pPr indent="0" lvl="5" marL="0" rtl="0" algn="l">
              <a:lnSpc>
                <a:spcPct val="100000"/>
              </a:lnSpc>
              <a:spcBef>
                <a:spcPts val="0"/>
              </a:spcBef>
              <a:spcAft>
                <a:spcPts val="0"/>
              </a:spcAft>
              <a:defRPr b="1" i="0" sz="3900" u="none">
                <a:solidFill>
                  <a:schemeClr val="dk2"/>
                </a:solidFill>
                <a:latin typeface="Arial"/>
                <a:ea typeface="Arial"/>
                <a:cs typeface="Arial"/>
                <a:sym typeface="Arial"/>
              </a:defRPr>
            </a:lvl6pPr>
            <a:lvl7pPr indent="0" lvl="6" marL="0" rtl="0" algn="l">
              <a:lnSpc>
                <a:spcPct val="100000"/>
              </a:lnSpc>
              <a:spcBef>
                <a:spcPts val="0"/>
              </a:spcBef>
              <a:spcAft>
                <a:spcPts val="0"/>
              </a:spcAft>
              <a:defRPr b="1" i="0" sz="3900" u="none">
                <a:solidFill>
                  <a:schemeClr val="dk2"/>
                </a:solidFill>
                <a:latin typeface="Arial"/>
                <a:ea typeface="Arial"/>
                <a:cs typeface="Arial"/>
                <a:sym typeface="Arial"/>
              </a:defRPr>
            </a:lvl7pPr>
            <a:lvl8pPr indent="0" lvl="7" marL="0" rtl="0" algn="l">
              <a:lnSpc>
                <a:spcPct val="100000"/>
              </a:lnSpc>
              <a:spcBef>
                <a:spcPts val="0"/>
              </a:spcBef>
              <a:spcAft>
                <a:spcPts val="0"/>
              </a:spcAft>
              <a:defRPr b="1" i="0" sz="3900" u="none">
                <a:solidFill>
                  <a:schemeClr val="dk2"/>
                </a:solidFill>
                <a:latin typeface="Arial"/>
                <a:ea typeface="Arial"/>
                <a:cs typeface="Arial"/>
                <a:sym typeface="Arial"/>
              </a:defRPr>
            </a:lvl8pPr>
            <a:lvl9pPr indent="0" lvl="8" marL="0" rtl="0" algn="l">
              <a:lnSpc>
                <a:spcPct val="100000"/>
              </a:lnSpc>
              <a:spcBef>
                <a:spcPts val="0"/>
              </a:spcBef>
              <a:spcAft>
                <a:spcPts val="0"/>
              </a:spcAft>
              <a:defRPr b="1" i="0" sz="3900" u="none">
                <a:solidFill>
                  <a:schemeClr val="dk2"/>
                </a:solidFill>
                <a:latin typeface="Arial"/>
                <a:ea typeface="Arial"/>
                <a:cs typeface="Arial"/>
                <a:sym typeface="Arial"/>
              </a:defRPr>
            </a:lvl9pPr>
          </a:lstStyle>
          <a:p/>
        </p:txBody>
      </p:sp>
      <p:sp>
        <p:nvSpPr>
          <p:cNvPr id="99" name="Shape 99"/>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rtl="0" algn="l">
              <a:lnSpc>
                <a:spcPct val="100000"/>
              </a:lnSpc>
              <a:spcBef>
                <a:spcPts val="600"/>
              </a:spcBef>
              <a:spcAft>
                <a:spcPts val="0"/>
              </a:spcAft>
              <a:buClr>
                <a:schemeClr val="dk2"/>
              </a:buClr>
              <a:buFont typeface="Noto Sans Symbols"/>
              <a:buChar char="●"/>
              <a:defRPr b="0" i="0" sz="3000" u="none">
                <a:solidFill>
                  <a:schemeClr val="dk1"/>
                </a:solidFill>
                <a:latin typeface="Arial"/>
                <a:ea typeface="Arial"/>
                <a:cs typeface="Arial"/>
                <a:sym typeface="Arial"/>
              </a:defRPr>
            </a:lvl1pPr>
            <a:lvl2pPr indent="-233680" lvl="1" marL="692150" rtl="0" algn="l">
              <a:lnSpc>
                <a:spcPct val="100000"/>
              </a:lnSpc>
              <a:spcBef>
                <a:spcPts val="520"/>
              </a:spcBef>
              <a:spcAft>
                <a:spcPts val="0"/>
              </a:spcAft>
              <a:buClr>
                <a:schemeClr val="accent2"/>
              </a:buClr>
              <a:buFont typeface="Noto Sans Symbols"/>
              <a:buChar char="●"/>
              <a:defRPr b="0" i="0" sz="2600" u="none">
                <a:solidFill>
                  <a:schemeClr val="dk1"/>
                </a:solidFill>
                <a:latin typeface="Arial"/>
                <a:ea typeface="Arial"/>
                <a:cs typeface="Arial"/>
                <a:sym typeface="Arial"/>
              </a:defRPr>
            </a:lvl2pPr>
            <a:lvl3pPr indent="-199390" lvl="2" marL="987425" rtl="0" algn="l">
              <a:lnSpc>
                <a:spcPct val="100000"/>
              </a:lnSpc>
              <a:spcBef>
                <a:spcPts val="460"/>
              </a:spcBef>
              <a:spcAft>
                <a:spcPts val="0"/>
              </a:spcAft>
              <a:buClr>
                <a:schemeClr val="accent1"/>
              </a:buClr>
              <a:buFont typeface="Noto Sans Symbols"/>
              <a:buChar char="●"/>
              <a:defRPr b="0" i="0" sz="2300" u="none">
                <a:solidFill>
                  <a:schemeClr val="dk1"/>
                </a:solidFill>
                <a:latin typeface="Arial"/>
                <a:ea typeface="Arial"/>
                <a:cs typeface="Arial"/>
                <a:sym typeface="Arial"/>
              </a:defRPr>
            </a:lvl3pPr>
            <a:lvl4pPr indent="-207962" lvl="3" marL="1281112" rtl="0" algn="l">
              <a:lnSpc>
                <a:spcPct val="100000"/>
              </a:lnSpc>
              <a:spcBef>
                <a:spcPts val="400"/>
              </a:spcBef>
              <a:spcAft>
                <a:spcPts val="0"/>
              </a:spcAft>
              <a:buClr>
                <a:schemeClr val="dk2"/>
              </a:buClr>
              <a:buFont typeface="Noto Sans Symbols"/>
              <a:buChar char="▪"/>
              <a:defRPr b="0" i="0" sz="2000" u="none">
                <a:solidFill>
                  <a:schemeClr val="dk1"/>
                </a:solidFill>
                <a:latin typeface="Arial"/>
                <a:ea typeface="Arial"/>
                <a:cs typeface="Arial"/>
                <a:sym typeface="Arial"/>
              </a:defRPr>
            </a:lvl4pPr>
            <a:lvl5pPr indent="-214312" lvl="4" marL="15986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5pPr>
            <a:lvl6pPr indent="-239711" lvl="5" marL="1916111"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6pPr>
            <a:lvl7pPr indent="-290511" lvl="6" marL="25511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7pPr>
            <a:lvl8pPr indent="-366712" lvl="7" marL="35036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8pPr>
            <a:lvl9pPr indent="-455612" lvl="8" marL="4773612" rtl="0" algn="l">
              <a:lnSpc>
                <a:spcPct val="100000"/>
              </a:lnSpc>
              <a:spcBef>
                <a:spcPts val="400"/>
              </a:spcBef>
              <a:spcAft>
                <a:spcPts val="0"/>
              </a:spcAft>
              <a:buClr>
                <a:schemeClr val="folHlink"/>
              </a:buClr>
              <a:buFont typeface="Noto Sans Symbols"/>
              <a:buChar char="▪"/>
              <a:defRPr b="0" i="0" sz="2000" u="none">
                <a:solidFill>
                  <a:schemeClr val="dk1"/>
                </a:solidFill>
                <a:latin typeface="Arial"/>
                <a:ea typeface="Arial"/>
                <a:cs typeface="Arial"/>
                <a:sym typeface="Arial"/>
              </a:defRPr>
            </a:lvl9pPr>
          </a:lstStyle>
          <a:p/>
        </p:txBody>
      </p:sp>
      <p:sp>
        <p:nvSpPr>
          <p:cNvPr id="100" name="Shape 100"/>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01" name="Shape 101"/>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02" name="Shape 102"/>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000" u="none" cap="none" strike="noStrike">
                <a:solidFill>
                  <a:schemeClr val="dk1"/>
                </a:solidFill>
                <a:latin typeface="Arial"/>
                <a:ea typeface="Arial"/>
                <a:cs typeface="Arial"/>
                <a:sym typeface="Arial"/>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cxnSp>
        <p:nvCxnSpPr>
          <p:cNvPr id="6" name="Shape 6"/>
          <p:cNvCxnSpPr/>
          <p:nvPr/>
        </p:nvCxnSpPr>
        <p:spPr>
          <a:xfrm>
            <a:off x="7962900" y="152400"/>
            <a:ext cx="0" cy="1524000"/>
          </a:xfrm>
          <a:prstGeom prst="straightConnector1">
            <a:avLst/>
          </a:prstGeom>
          <a:noFill/>
          <a:ln cap="flat" cmpd="sng" w="9525">
            <a:solidFill>
              <a:schemeClr val="dk1"/>
            </a:solidFill>
            <a:prstDash val="solid"/>
            <a:miter/>
            <a:headEnd len="med" w="med" type="none"/>
            <a:tailEnd len="med" w="med" type="none"/>
          </a:ln>
        </p:spPr>
      </p:cxnSp>
      <p:sp>
        <p:nvSpPr>
          <p:cNvPr id="7" name="Shape 7"/>
          <p:cNvSpPr txBox="1"/>
          <p:nvPr>
            <p:ph type="title"/>
          </p:nvPr>
        </p:nvSpPr>
        <p:spPr>
          <a:xfrm>
            <a:off x="457200" y="122236"/>
            <a:ext cx="7543800" cy="12954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1pPr>
            <a:lvl2pPr indent="0" lvl="1"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2pPr>
            <a:lvl3pPr indent="0" lvl="2"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3pPr>
            <a:lvl4pPr indent="0" lvl="3"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4pPr>
            <a:lvl5pPr indent="0" lvl="4"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5pPr>
            <a:lvl6pPr indent="0" lvl="5"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6pPr>
            <a:lvl7pPr indent="0" lvl="6"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7pPr>
            <a:lvl8pPr indent="0" lvl="7"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8pPr>
            <a:lvl9pPr indent="0" lvl="8" marL="0" marR="0" rtl="0" algn="l">
              <a:lnSpc>
                <a:spcPct val="100000"/>
              </a:lnSpc>
              <a:spcBef>
                <a:spcPts val="0"/>
              </a:spcBef>
              <a:spcAft>
                <a:spcPts val="0"/>
              </a:spcAft>
              <a:defRPr b="1" i="0" sz="3900" u="none" cap="none" strike="noStrike">
                <a:solidFill>
                  <a:schemeClr val="dk2"/>
                </a:solidFill>
                <a:latin typeface="Arial"/>
                <a:ea typeface="Arial"/>
                <a:cs typeface="Arial"/>
                <a:sym typeface="Arial"/>
              </a:defRPr>
            </a:lvl9pPr>
          </a:lstStyle>
          <a:p/>
        </p:txBody>
      </p:sp>
      <p:sp>
        <p:nvSpPr>
          <p:cNvPr id="8" name="Shape 8"/>
          <p:cNvSpPr txBox="1"/>
          <p:nvPr>
            <p:ph idx="1" type="body"/>
          </p:nvPr>
        </p:nvSpPr>
        <p:spPr>
          <a:xfrm>
            <a:off x="457200" y="1719261"/>
            <a:ext cx="8229600" cy="4411661"/>
          </a:xfrm>
          <a:prstGeom prst="rect">
            <a:avLst/>
          </a:prstGeom>
          <a:noFill/>
          <a:ln>
            <a:noFill/>
          </a:ln>
        </p:spPr>
        <p:txBody>
          <a:bodyPr anchorCtr="0" anchor="t" bIns="91425" lIns="91425" rIns="91425" tIns="91425"/>
          <a:lstStyle>
            <a:lvl1pPr indent="-209550" lvl="0" marL="342900" marR="0" rtl="0" algn="l">
              <a:lnSpc>
                <a:spcPct val="100000"/>
              </a:lnSpc>
              <a:spcBef>
                <a:spcPts val="600"/>
              </a:spcBef>
              <a:spcAft>
                <a:spcPts val="0"/>
              </a:spcAft>
              <a:buClr>
                <a:schemeClr val="dk2"/>
              </a:buClr>
              <a:buFont typeface="Noto Sans Symbols"/>
              <a:buChar char="●"/>
              <a:defRPr b="0" i="0" sz="3000" u="none" cap="none" strike="noStrike">
                <a:solidFill>
                  <a:schemeClr val="dk1"/>
                </a:solidFill>
                <a:latin typeface="Arial"/>
                <a:ea typeface="Arial"/>
                <a:cs typeface="Arial"/>
                <a:sym typeface="Arial"/>
              </a:defRPr>
            </a:lvl1pPr>
            <a:lvl2pPr indent="-233680" lvl="1" marL="692150" marR="0" rtl="0" algn="l">
              <a:lnSpc>
                <a:spcPct val="100000"/>
              </a:lnSpc>
              <a:spcBef>
                <a:spcPts val="520"/>
              </a:spcBef>
              <a:spcAft>
                <a:spcPts val="0"/>
              </a:spcAft>
              <a:buClr>
                <a:schemeClr val="accent2"/>
              </a:buClr>
              <a:buFont typeface="Noto Sans Symbols"/>
              <a:buChar char="●"/>
              <a:defRPr b="0" i="0" sz="2600" u="none" cap="none" strike="noStrike">
                <a:solidFill>
                  <a:schemeClr val="dk1"/>
                </a:solidFill>
                <a:latin typeface="Arial"/>
                <a:ea typeface="Arial"/>
                <a:cs typeface="Arial"/>
                <a:sym typeface="Arial"/>
              </a:defRPr>
            </a:lvl2pPr>
            <a:lvl3pPr indent="-199390" lvl="2" marL="987425" marR="0" rtl="0" algn="l">
              <a:lnSpc>
                <a:spcPct val="100000"/>
              </a:lnSpc>
              <a:spcBef>
                <a:spcPts val="460"/>
              </a:spcBef>
              <a:spcAft>
                <a:spcPts val="0"/>
              </a:spcAft>
              <a:buClr>
                <a:schemeClr val="accent1"/>
              </a:buClr>
              <a:buFont typeface="Noto Sans Symbols"/>
              <a:buChar char="●"/>
              <a:defRPr b="0" i="0" sz="2300" u="none" cap="none" strike="noStrike">
                <a:solidFill>
                  <a:schemeClr val="dk1"/>
                </a:solidFill>
                <a:latin typeface="Arial"/>
                <a:ea typeface="Arial"/>
                <a:cs typeface="Arial"/>
                <a:sym typeface="Arial"/>
              </a:defRPr>
            </a:lvl3pPr>
            <a:lvl4pPr indent="-207962" lvl="3" marL="1281112" marR="0" rtl="0" algn="l">
              <a:lnSpc>
                <a:spcPct val="100000"/>
              </a:lnSpc>
              <a:spcBef>
                <a:spcPts val="400"/>
              </a:spcBef>
              <a:spcAft>
                <a:spcPts val="0"/>
              </a:spcAft>
              <a:buClr>
                <a:schemeClr val="dk2"/>
              </a:buClr>
              <a:buFont typeface="Noto Sans Symbols"/>
              <a:buChar char="▪"/>
              <a:defRPr b="0" i="0" sz="2000" u="none" cap="none" strike="noStrike">
                <a:solidFill>
                  <a:schemeClr val="dk1"/>
                </a:solidFill>
                <a:latin typeface="Arial"/>
                <a:ea typeface="Arial"/>
                <a:cs typeface="Arial"/>
                <a:sym typeface="Arial"/>
              </a:defRPr>
            </a:lvl4pPr>
            <a:lvl5pPr indent="-214312" lvl="4" marL="1598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5pPr>
            <a:lvl6pPr indent="-239711" lvl="5" marL="1916111"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6pPr>
            <a:lvl7pPr indent="-290511" lvl="6" marL="25511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7pPr>
            <a:lvl8pPr indent="-366712" lvl="7" marL="350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8pPr>
            <a:lvl9pPr indent="-455612" lvl="8" marL="4773612" marR="0" rtl="0" algn="l">
              <a:lnSpc>
                <a:spcPct val="100000"/>
              </a:lnSpc>
              <a:spcBef>
                <a:spcPts val="400"/>
              </a:spcBef>
              <a:spcAft>
                <a:spcPts val="0"/>
              </a:spcAft>
              <a:buClr>
                <a:schemeClr val="folHlink"/>
              </a:buClr>
              <a:buFont typeface="Noto Sans Symbols"/>
              <a:buChar char="▪"/>
              <a:defRPr b="0" i="0" sz="2000" u="none" cap="none" strike="noStrike">
                <a:solidFill>
                  <a:schemeClr val="dk1"/>
                </a:solidFill>
                <a:latin typeface="Arial"/>
                <a:ea typeface="Arial"/>
                <a:cs typeface="Arial"/>
                <a:sym typeface="Arial"/>
              </a:defRPr>
            </a:lvl9pPr>
          </a:lstStyle>
          <a:p/>
        </p:txBody>
      </p:sp>
      <p:sp>
        <p:nvSpPr>
          <p:cNvPr id="9" name="Shape 9"/>
          <p:cNvSpPr txBox="1"/>
          <p:nvPr>
            <p:ph idx="10" type="dt"/>
          </p:nvPr>
        </p:nvSpPr>
        <p:spPr>
          <a:xfrm>
            <a:off x="457200" y="6248400"/>
            <a:ext cx="2133599" cy="4572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0" name="Shape 10"/>
          <p:cNvSpPr txBox="1"/>
          <p:nvPr>
            <p:ph idx="11" type="ftr"/>
          </p:nvPr>
        </p:nvSpPr>
        <p:spPr>
          <a:xfrm>
            <a:off x="3124200" y="6248400"/>
            <a:ext cx="2895600" cy="457200"/>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defRPr b="0" i="0" sz="1000" u="none" cap="none" strike="noStrike">
                <a:solidFill>
                  <a:schemeClr val="dk1"/>
                </a:solidFill>
                <a:latin typeface="Arial"/>
                <a:ea typeface="Arial"/>
                <a:cs typeface="Arial"/>
                <a:sym typeface="Arial"/>
              </a:defRPr>
            </a:lvl1pPr>
            <a:lvl2pPr indent="0" lvl="1" marL="4572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2pPr>
            <a:lvl3pPr indent="0" lvl="2" marL="914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3pPr>
            <a:lvl4pPr indent="0" lvl="3" marL="13716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4pPr>
            <a:lvl5pPr indent="0" lvl="4" marL="1828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5pPr>
            <a:lvl6pPr indent="0" lvl="5" marL="2286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6pPr>
            <a:lvl7pPr indent="0" lvl="6" marL="32004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7pPr>
            <a:lvl8pPr indent="0" lvl="7" marL="45720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8pPr>
            <a:lvl9pPr indent="0" lvl="8" marL="6400800" marR="0" rtl="0" algn="l">
              <a:lnSpc>
                <a:spcPct val="100000"/>
              </a:lnSpc>
              <a:spcBef>
                <a:spcPts val="0"/>
              </a:spcBef>
              <a:spcAft>
                <a:spcPts val="0"/>
              </a:spcAft>
              <a:defRPr b="0" i="0" sz="1800" u="none" cap="none" strike="noStrike">
                <a:solidFill>
                  <a:schemeClr val="dk1"/>
                </a:solidFill>
                <a:latin typeface="Arial"/>
                <a:ea typeface="Arial"/>
                <a:cs typeface="Arial"/>
                <a:sym typeface="Arial"/>
              </a:defRPr>
            </a:lvl9pPr>
          </a:lstStyle>
          <a:p/>
        </p:txBody>
      </p:sp>
      <p:sp>
        <p:nvSpPr>
          <p:cNvPr id="11" name="Shape 11"/>
          <p:cNvSpPr txBox="1"/>
          <p:nvPr>
            <p:ph idx="12" type="sldNum"/>
          </p:nvPr>
        </p:nvSpPr>
        <p:spPr>
          <a:xfrm>
            <a:off x="6553200" y="6248400"/>
            <a:ext cx="2133599" cy="457200"/>
          </a:xfrm>
          <a:prstGeom prst="rect">
            <a:avLst/>
          </a:prstGeom>
          <a:noFill/>
          <a:ln>
            <a:noFill/>
          </a:ln>
        </p:spPr>
        <p:txBody>
          <a:bodyPr anchorCtr="0" anchor="t" bIns="45700" lIns="91425" rIns="91425" tIns="45700">
            <a:noAutofit/>
          </a:bodyPr>
          <a:lstStyle/>
          <a:p>
            <a:pPr indent="0" lvl="0" marL="0" marR="0" rtl="0" algn="r">
              <a:lnSpc>
                <a:spcPct val="100000"/>
              </a:lnSpc>
              <a:spcBef>
                <a:spcPts val="0"/>
              </a:spcBef>
              <a:spcAft>
                <a:spcPts val="0"/>
              </a:spcAft>
              <a:buClr>
                <a:schemeClr val="dk1"/>
              </a:buClr>
              <a:buSzPct val="25000"/>
              <a:buFont typeface="Arial"/>
              <a:buNone/>
            </a:pPr>
            <a:fld id="{00000000-1234-1234-1234-123412341234}" type="slidenum">
              <a:rPr b="0" i="0" lang="en-US" sz="1000" u="none" cap="none" strike="noStrike">
                <a:solidFill>
                  <a:schemeClr val="dk1"/>
                </a:solidFill>
                <a:latin typeface="Arial"/>
                <a:ea typeface="Arial"/>
                <a:cs typeface="Arial"/>
                <a:sym typeface="Arial"/>
              </a:rPr>
              <a:t>‹#›</a:t>
            </a:fld>
          </a:p>
        </p:txBody>
      </p:sp>
      <p:grpSp>
        <p:nvGrpSpPr>
          <p:cNvPr id="12" name="Shape 12"/>
          <p:cNvGrpSpPr/>
          <p:nvPr/>
        </p:nvGrpSpPr>
        <p:grpSpPr>
          <a:xfrm>
            <a:off x="8153399" y="152399"/>
            <a:ext cx="792161" cy="1295399"/>
            <a:chOff x="8153400" y="1524000"/>
            <a:chExt cx="838200" cy="1371600"/>
          </a:xfrm>
        </p:grpSpPr>
        <p:sp>
          <p:nvSpPr>
            <p:cNvPr id="13" name="Shape 13"/>
            <p:cNvSpPr/>
            <p:nvPr/>
          </p:nvSpPr>
          <p:spPr>
            <a:xfrm>
              <a:off x="81534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4" name="Shape 14"/>
            <p:cNvSpPr/>
            <p:nvPr/>
          </p:nvSpPr>
          <p:spPr>
            <a:xfrm>
              <a:off x="83312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5" name="Shape 15"/>
            <p:cNvSpPr/>
            <p:nvPr/>
          </p:nvSpPr>
          <p:spPr>
            <a:xfrm>
              <a:off x="8509000" y="15240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 name="Shape 16"/>
            <p:cNvSpPr/>
            <p:nvPr/>
          </p:nvSpPr>
          <p:spPr>
            <a:xfrm>
              <a:off x="81534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7" name="Shape 17"/>
            <p:cNvSpPr/>
            <p:nvPr/>
          </p:nvSpPr>
          <p:spPr>
            <a:xfrm>
              <a:off x="83312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8" name="Shape 18"/>
            <p:cNvSpPr/>
            <p:nvPr/>
          </p:nvSpPr>
          <p:spPr>
            <a:xfrm>
              <a:off x="8509000" y="17018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9" name="Shape 19"/>
            <p:cNvSpPr/>
            <p:nvPr/>
          </p:nvSpPr>
          <p:spPr>
            <a:xfrm>
              <a:off x="8686800" y="17018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0" name="Shape 20"/>
            <p:cNvSpPr/>
            <p:nvPr/>
          </p:nvSpPr>
          <p:spPr>
            <a:xfrm>
              <a:off x="81534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 name="Shape 21"/>
            <p:cNvSpPr/>
            <p:nvPr/>
          </p:nvSpPr>
          <p:spPr>
            <a:xfrm>
              <a:off x="8331200" y="18796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Shape 22"/>
            <p:cNvSpPr/>
            <p:nvPr/>
          </p:nvSpPr>
          <p:spPr>
            <a:xfrm>
              <a:off x="85090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3" name="Shape 23"/>
            <p:cNvSpPr/>
            <p:nvPr/>
          </p:nvSpPr>
          <p:spPr>
            <a:xfrm>
              <a:off x="8686800" y="18796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 name="Shape 24"/>
            <p:cNvSpPr/>
            <p:nvPr/>
          </p:nvSpPr>
          <p:spPr>
            <a:xfrm>
              <a:off x="8864600" y="18796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 name="Shape 25"/>
            <p:cNvSpPr/>
            <p:nvPr/>
          </p:nvSpPr>
          <p:spPr>
            <a:xfrm>
              <a:off x="8153400" y="2057400"/>
              <a:ext cx="127000" cy="127000"/>
            </a:xfrm>
            <a:prstGeom prst="ellipse">
              <a:avLst/>
            </a:prstGeom>
            <a:solidFill>
              <a:schemeClr val="dk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 name="Shape 26"/>
            <p:cNvSpPr/>
            <p:nvPr/>
          </p:nvSpPr>
          <p:spPr>
            <a:xfrm>
              <a:off x="83312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7" name="Shape 27"/>
            <p:cNvSpPr/>
            <p:nvPr/>
          </p:nvSpPr>
          <p:spPr>
            <a:xfrm>
              <a:off x="8509000" y="20574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8" name="Shape 28"/>
            <p:cNvSpPr/>
            <p:nvPr/>
          </p:nvSpPr>
          <p:spPr>
            <a:xfrm>
              <a:off x="8686800" y="20574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9" name="Shape 29"/>
            <p:cNvSpPr/>
            <p:nvPr/>
          </p:nvSpPr>
          <p:spPr>
            <a:xfrm>
              <a:off x="81534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 name="Shape 30"/>
            <p:cNvSpPr/>
            <p:nvPr/>
          </p:nvSpPr>
          <p:spPr>
            <a:xfrm>
              <a:off x="8331200" y="22352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 name="Shape 31"/>
            <p:cNvSpPr/>
            <p:nvPr/>
          </p:nvSpPr>
          <p:spPr>
            <a:xfrm>
              <a:off x="85090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2" name="Shape 32"/>
            <p:cNvSpPr/>
            <p:nvPr/>
          </p:nvSpPr>
          <p:spPr>
            <a:xfrm>
              <a:off x="8686800" y="22352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3" name="Shape 33"/>
            <p:cNvSpPr/>
            <p:nvPr/>
          </p:nvSpPr>
          <p:spPr>
            <a:xfrm>
              <a:off x="8864600" y="22352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 name="Shape 34"/>
            <p:cNvSpPr/>
            <p:nvPr/>
          </p:nvSpPr>
          <p:spPr>
            <a:xfrm>
              <a:off x="8153400" y="2413000"/>
              <a:ext cx="127000" cy="127000"/>
            </a:xfrm>
            <a:prstGeom prst="ellipse">
              <a:avLst/>
            </a:prstGeom>
            <a:solidFill>
              <a:schemeClr val="accent2"/>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5" name="Shape 35"/>
            <p:cNvSpPr/>
            <p:nvPr/>
          </p:nvSpPr>
          <p:spPr>
            <a:xfrm>
              <a:off x="83312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6" name="Shape 36"/>
            <p:cNvSpPr/>
            <p:nvPr/>
          </p:nvSpPr>
          <p:spPr>
            <a:xfrm>
              <a:off x="8509000" y="24130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7" name="Shape 37"/>
            <p:cNvSpPr/>
            <p:nvPr/>
          </p:nvSpPr>
          <p:spPr>
            <a:xfrm>
              <a:off x="8686800" y="24130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8" name="Shape 38"/>
            <p:cNvSpPr/>
            <p:nvPr/>
          </p:nvSpPr>
          <p:spPr>
            <a:xfrm>
              <a:off x="81534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9" name="Shape 39"/>
            <p:cNvSpPr/>
            <p:nvPr/>
          </p:nvSpPr>
          <p:spPr>
            <a:xfrm>
              <a:off x="8331200" y="2590800"/>
              <a:ext cx="127000" cy="127000"/>
            </a:xfrm>
            <a:prstGeom prst="ellipse">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0" name="Shape 40"/>
            <p:cNvSpPr/>
            <p:nvPr/>
          </p:nvSpPr>
          <p:spPr>
            <a:xfrm>
              <a:off x="85090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1" name="Shape 41"/>
            <p:cNvSpPr/>
            <p:nvPr/>
          </p:nvSpPr>
          <p:spPr>
            <a:xfrm>
              <a:off x="8686800" y="25908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2" name="Shape 42"/>
            <p:cNvSpPr/>
            <p:nvPr/>
          </p:nvSpPr>
          <p:spPr>
            <a:xfrm>
              <a:off x="83312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 name="Shape 43"/>
            <p:cNvSpPr/>
            <p:nvPr/>
          </p:nvSpPr>
          <p:spPr>
            <a:xfrm>
              <a:off x="8686800" y="2768600"/>
              <a:ext cx="127000" cy="127000"/>
            </a:xfrm>
            <a:prstGeom prst="ellipse">
              <a:avLst/>
            </a:prstGeom>
            <a:solidFill>
              <a:schemeClr val="folHlink"/>
            </a:solidFill>
            <a:ln>
              <a:noFill/>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04.jpg"/><Relationship Id="rId4" Type="http://schemas.openxmlformats.org/officeDocument/2006/relationships/image" Target="../media/image0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02.jpg"/><Relationship Id="rId4"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01.jpg"/><Relationship Id="rId4" Type="http://schemas.openxmlformats.org/officeDocument/2006/relationships/image" Target="../media/image0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05.jpg"/><Relationship Id="rId4" Type="http://schemas.openxmlformats.org/officeDocument/2006/relationships/image" Target="../media/image0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0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06.png"/><Relationship Id="rId4" Type="http://schemas.openxmlformats.org/officeDocument/2006/relationships/image" Target="../media/image0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09.jpg"/><Relationship Id="rId4" Type="http://schemas.openxmlformats.org/officeDocument/2006/relationships/image" Target="../media/image16.jpg"/><Relationship Id="rId5" Type="http://schemas.openxmlformats.org/officeDocument/2006/relationships/image" Target="../media/image08.jpg"/><Relationship Id="rId6" Type="http://schemas.openxmlformats.org/officeDocument/2006/relationships/image" Target="../media/image12.jpg"/><Relationship Id="rId7" Type="http://schemas.openxmlformats.org/officeDocument/2006/relationships/image" Target="../media/image0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07.jpg"/><Relationship Id="rId4" Type="http://schemas.openxmlformats.org/officeDocument/2006/relationships/image" Target="../media/image10.jpg"/><Relationship Id="rId5" Type="http://schemas.openxmlformats.org/officeDocument/2006/relationships/image" Target="../media/image11.png"/><Relationship Id="rId6" Type="http://schemas.openxmlformats.org/officeDocument/2006/relationships/image" Target="../media/image0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3.jpg"/><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jpg"/><Relationship Id="rId4" Type="http://schemas.openxmlformats.org/officeDocument/2006/relationships/image" Target="../media/image0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14.jpg"/><Relationship Id="rId5" Type="http://schemas.openxmlformats.org/officeDocument/2006/relationships/image" Target="../media/image0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2.jpg"/><Relationship Id="rId4" Type="http://schemas.openxmlformats.org/officeDocument/2006/relationships/image" Target="../media/image0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jpg"/><Relationship Id="rId4" Type="http://schemas.openxmlformats.org/officeDocument/2006/relationships/image" Target="../media/image0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0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0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3.jpg"/><Relationship Id="rId4" Type="http://schemas.openxmlformats.org/officeDocument/2006/relationships/image" Target="../media/image0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44.jpg"/><Relationship Id="rId5" Type="http://schemas.openxmlformats.org/officeDocument/2006/relationships/image" Target="../media/image0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jpg"/><Relationship Id="rId4" Type="http://schemas.openxmlformats.org/officeDocument/2006/relationships/image" Target="../media/image0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0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0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6.jpg"/><Relationship Id="rId4" Type="http://schemas.openxmlformats.org/officeDocument/2006/relationships/image" Target="../media/image0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0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5.jpg"/><Relationship Id="rId4" Type="http://schemas.openxmlformats.org/officeDocument/2006/relationships/image" Target="../media/image0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 Id="rId4" Type="http://schemas.openxmlformats.org/officeDocument/2006/relationships/image" Target="../media/image0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7.jpg"/><Relationship Id="rId4" Type="http://schemas.openxmlformats.org/officeDocument/2006/relationships/image" Target="../media/image0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0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0.jpg"/><Relationship Id="rId4" Type="http://schemas.openxmlformats.org/officeDocument/2006/relationships/image" Target="../media/image0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jpg"/><Relationship Id="rId4" Type="http://schemas.openxmlformats.org/officeDocument/2006/relationships/image" Target="../media/image0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 Id="rId4" Type="http://schemas.openxmlformats.org/officeDocument/2006/relationships/image" Target="../media/image0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1.jpg"/><Relationship Id="rId4" Type="http://schemas.openxmlformats.org/officeDocument/2006/relationships/image" Target="../media/image0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0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2.jpg"/><Relationship Id="rId4" Type="http://schemas.openxmlformats.org/officeDocument/2006/relationships/image" Target="../media/image34.jpg"/><Relationship Id="rId5" Type="http://schemas.openxmlformats.org/officeDocument/2006/relationships/image" Target="../media/image0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0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 Id="rId4" Type="http://schemas.openxmlformats.org/officeDocument/2006/relationships/image" Target="../media/image0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0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0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0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6.jpg"/><Relationship Id="rId4" Type="http://schemas.openxmlformats.org/officeDocument/2006/relationships/image" Target="../media/image0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1.jpg"/><Relationship Id="rId4" Type="http://schemas.openxmlformats.org/officeDocument/2006/relationships/image" Target="../media/image42.png"/><Relationship Id="rId5" Type="http://schemas.openxmlformats.org/officeDocument/2006/relationships/image" Target="../media/image39.jpg"/><Relationship Id="rId6" Type="http://schemas.openxmlformats.org/officeDocument/2006/relationships/image" Target="../media/image40.jpg"/><Relationship Id="rId7" Type="http://schemas.openxmlformats.org/officeDocument/2006/relationships/image" Target="../media/image43.jpg"/><Relationship Id="rId8" Type="http://schemas.openxmlformats.org/officeDocument/2006/relationships/image" Target="../media/image0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6" name="Shape 106"/>
        <p:cNvGrpSpPr/>
        <p:nvPr/>
      </p:nvGrpSpPr>
      <p:grpSpPr>
        <a:xfrm>
          <a:off x="0" y="0"/>
          <a:ext cx="0" cy="0"/>
          <a:chOff x="0" y="0"/>
          <a:chExt cx="0" cy="0"/>
        </a:xfrm>
      </p:grpSpPr>
      <p:sp>
        <p:nvSpPr>
          <p:cNvPr id="107" name="Shape 107"/>
          <p:cNvSpPr txBox="1"/>
          <p:nvPr>
            <p:ph type="ctrTitle"/>
          </p:nvPr>
        </p:nvSpPr>
        <p:spPr>
          <a:xfrm>
            <a:off x="2195511" y="549275"/>
            <a:ext cx="6781800" cy="213359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Clr>
                <a:schemeClr val="dk2"/>
              </a:buClr>
              <a:buSzPct val="25000"/>
              <a:buFont typeface="Arial"/>
              <a:buNone/>
            </a:pPr>
            <a:r>
              <a:rPr b="1" i="0" lang="en-US" sz="4800" u="none" cap="none" strike="noStrike">
                <a:solidFill>
                  <a:schemeClr val="dk2"/>
                </a:solidFill>
                <a:latin typeface="Arial"/>
                <a:ea typeface="Arial"/>
                <a:cs typeface="Arial"/>
                <a:sym typeface="Arial"/>
              </a:rPr>
              <a:t>MACROECONOMÍA</a:t>
            </a:r>
          </a:p>
        </p:txBody>
      </p:sp>
      <p:sp>
        <p:nvSpPr>
          <p:cNvPr id="108" name="Shape 108"/>
          <p:cNvSpPr txBox="1"/>
          <p:nvPr>
            <p:ph idx="1" type="subTitle"/>
          </p:nvPr>
        </p:nvSpPr>
        <p:spPr>
          <a:xfrm>
            <a:off x="107950" y="2997200"/>
            <a:ext cx="5543549" cy="345598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2"/>
              </a:buClr>
              <a:buSzPct val="25000"/>
              <a:buFont typeface="Noto Sans Symbols"/>
              <a:buNone/>
            </a:pPr>
            <a:r>
              <a:rPr b="0" i="0" lang="en-US" sz="3200" u="none" cap="none" strike="noStrike">
                <a:solidFill>
                  <a:schemeClr val="dk1"/>
                </a:solidFill>
                <a:latin typeface="Arial"/>
                <a:ea typeface="Arial"/>
                <a:cs typeface="Arial"/>
                <a:sym typeface="Arial"/>
              </a:rPr>
              <a:t>La disciplina de la ciencia económica que estudia el comportamiento de las </a:t>
            </a:r>
            <a:r>
              <a:rPr b="1" i="0" lang="en-US" sz="3200" u="sng" cap="none" strike="noStrike">
                <a:solidFill>
                  <a:srgbClr val="FF0000"/>
                </a:solidFill>
                <a:latin typeface="Arial"/>
                <a:ea typeface="Arial"/>
                <a:cs typeface="Arial"/>
                <a:sym typeface="Arial"/>
              </a:rPr>
              <a:t>variables económicas </a:t>
            </a:r>
            <a:r>
              <a:rPr b="1" i="1" lang="en-US" sz="3200" u="sng" cap="none" strike="noStrike">
                <a:solidFill>
                  <a:srgbClr val="FF0000"/>
                </a:solidFill>
                <a:latin typeface="Arial"/>
                <a:ea typeface="Arial"/>
                <a:cs typeface="Arial"/>
                <a:sym typeface="Arial"/>
              </a:rPr>
              <a:t>agregadas</a:t>
            </a:r>
            <a:r>
              <a:rPr b="1" i="0" lang="en-US" sz="3200" u="sng" cap="none" strike="noStrike">
                <a:solidFill>
                  <a:srgbClr val="FF0000"/>
                </a:solidFill>
                <a:latin typeface="Arial"/>
                <a:ea typeface="Arial"/>
                <a:cs typeface="Arial"/>
                <a:sym typeface="Arial"/>
              </a:rPr>
              <a:t> </a:t>
            </a:r>
          </a:p>
        </p:txBody>
      </p:sp>
      <p:pic>
        <p:nvPicPr>
          <p:cNvPr id="109" name="Shape 109"/>
          <p:cNvPicPr preferRelativeResize="0"/>
          <p:nvPr/>
        </p:nvPicPr>
        <p:blipFill rotWithShape="1">
          <a:blip r:embed="rId3">
            <a:alphaModFix/>
          </a:blip>
          <a:srcRect b="0" l="0" r="0" t="0"/>
          <a:stretch/>
        </p:blipFill>
        <p:spPr>
          <a:xfrm>
            <a:off x="5972175" y="2852736"/>
            <a:ext cx="3136899" cy="3208336"/>
          </a:xfrm>
          <a:prstGeom prst="rect">
            <a:avLst/>
          </a:prstGeom>
          <a:noFill/>
          <a:ln>
            <a:noFill/>
          </a:ln>
        </p:spPr>
      </p:pic>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13" name="Shape 113"/>
        <p:cNvGrpSpPr/>
        <p:nvPr/>
      </p:nvGrpSpPr>
      <p:grpSpPr>
        <a:xfrm>
          <a:off x="0" y="0"/>
          <a:ext cx="0" cy="0"/>
          <a:chOff x="0" y="0"/>
          <a:chExt cx="0" cy="0"/>
        </a:xfrm>
      </p:grpSpPr>
      <p:sp>
        <p:nvSpPr>
          <p:cNvPr id="114" name="Shape 114"/>
          <p:cNvSpPr txBox="1"/>
          <p:nvPr>
            <p:ph idx="4294967295" type="title"/>
          </p:nvPr>
        </p:nvSpPr>
        <p:spPr>
          <a:xfrm>
            <a:off x="4140200" y="122236"/>
            <a:ext cx="3860799"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AGREGADO</a:t>
            </a:r>
          </a:p>
        </p:txBody>
      </p:sp>
      <p:sp>
        <p:nvSpPr>
          <p:cNvPr id="115" name="Shape 115"/>
          <p:cNvSpPr txBox="1"/>
          <p:nvPr>
            <p:ph idx="4294967295" type="body"/>
          </p:nvPr>
        </p:nvSpPr>
        <p:spPr>
          <a:xfrm>
            <a:off x="457200" y="1719261"/>
            <a:ext cx="4038599" cy="44116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Conjunto de elementos de la misma naturaleza o ligados a un mismo concepto, reunidos con el objeto de obtener una estimación de un conjunto que no es directamente accesible para una observación o medición.</a:t>
            </a:r>
            <a:br>
              <a:rPr b="0" i="0" lang="en-US" sz="2600" u="none" cap="none" strike="noStrike">
                <a:solidFill>
                  <a:schemeClr val="dk1"/>
                </a:solidFill>
                <a:latin typeface="Arial"/>
                <a:ea typeface="Arial"/>
                <a:cs typeface="Arial"/>
                <a:sym typeface="Arial"/>
              </a:rPr>
            </a:br>
          </a:p>
        </p:txBody>
      </p:sp>
      <p:pic>
        <p:nvPicPr>
          <p:cNvPr id="116" name="Shape 116"/>
          <p:cNvPicPr preferRelativeResize="0"/>
          <p:nvPr>
            <p:ph idx="4294967295" type="body"/>
          </p:nvPr>
        </p:nvPicPr>
        <p:blipFill rotWithShape="1">
          <a:blip r:embed="rId3">
            <a:alphaModFix/>
          </a:blip>
          <a:srcRect b="0" l="0" r="0" t="0"/>
          <a:stretch/>
        </p:blipFill>
        <p:spPr>
          <a:xfrm>
            <a:off x="4643437" y="1844675"/>
            <a:ext cx="4176711" cy="3744912"/>
          </a:xfrm>
          <a:prstGeom prst="rect">
            <a:avLst/>
          </a:prstGeom>
          <a:noFill/>
          <a:ln>
            <a:noFill/>
          </a:ln>
        </p:spPr>
      </p:pic>
      <p:pic>
        <p:nvPicPr>
          <p:cNvPr id="117" name="Shape 117"/>
          <p:cNvPicPr preferRelativeResize="0"/>
          <p:nvPr>
            <p:ph idx="4294967295" type="body"/>
          </p:nvPr>
        </p:nvPicPr>
        <p:blipFill rotWithShape="1">
          <a:blip r:embed="rId4">
            <a:alphaModFix/>
          </a:blip>
          <a:srcRect b="0" l="0" r="0" t="0"/>
          <a:stretch/>
        </p:blipFill>
        <p:spPr>
          <a:xfrm>
            <a:off x="250825" y="333375"/>
            <a:ext cx="3009899" cy="609599"/>
          </a:xfrm>
          <a:prstGeom prst="rect">
            <a:avLst/>
          </a:prstGeom>
          <a:noFill/>
          <a:ln>
            <a:noFill/>
          </a:ln>
        </p:spPr>
      </p:pic>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21" name="Shape 121"/>
        <p:cNvGrpSpPr/>
        <p:nvPr/>
      </p:nvGrpSpPr>
      <p:grpSpPr>
        <a:xfrm>
          <a:off x="0" y="0"/>
          <a:ext cx="0" cy="0"/>
          <a:chOff x="0" y="0"/>
          <a:chExt cx="0" cy="0"/>
        </a:xfrm>
      </p:grpSpPr>
      <p:sp>
        <p:nvSpPr>
          <p:cNvPr id="122" name="Shape 122"/>
          <p:cNvSpPr txBox="1"/>
          <p:nvPr>
            <p:ph idx="4294967295" type="title"/>
          </p:nvPr>
        </p:nvSpPr>
        <p:spPr>
          <a:xfrm>
            <a:off x="900112" y="981075"/>
            <a:ext cx="6994525" cy="1295400"/>
          </a:xfrm>
          <a:prstGeom prst="rect">
            <a:avLst/>
          </a:prstGeom>
          <a:noFill/>
          <a:ln>
            <a:noFill/>
          </a:ln>
        </p:spPr>
        <p:txBody>
          <a:bodyPr anchorCtr="0" anchor="b" bIns="45700" lIns="91425" rIns="91425" tIns="45700">
            <a:noAutofit/>
          </a:bodyPr>
          <a:lstStyle/>
          <a:p>
            <a:pPr indent="0" lvl="0" marL="0" marR="0" rtl="0" algn="ctr">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VARIABLES ECONÓMICAS AGREGADAS</a:t>
            </a:r>
          </a:p>
        </p:txBody>
      </p:sp>
      <p:sp>
        <p:nvSpPr>
          <p:cNvPr id="123" name="Shape 123"/>
          <p:cNvSpPr txBox="1"/>
          <p:nvPr>
            <p:ph idx="4294967295" type="body"/>
          </p:nvPr>
        </p:nvSpPr>
        <p:spPr>
          <a:xfrm>
            <a:off x="250825" y="2295525"/>
            <a:ext cx="5545137" cy="3870324"/>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Con </a:t>
            </a:r>
            <a:r>
              <a:rPr b="1" i="0" lang="en-US" sz="2600" u="none" cap="none" strike="noStrike">
                <a:solidFill>
                  <a:schemeClr val="dk1"/>
                </a:solidFill>
                <a:latin typeface="Arial"/>
                <a:ea typeface="Arial"/>
                <a:cs typeface="Arial"/>
                <a:sym typeface="Arial"/>
              </a:rPr>
              <a:t>variables económicas agregadas</a:t>
            </a:r>
            <a:r>
              <a:rPr b="0" i="0" lang="en-US" sz="2600" u="none" cap="none" strike="noStrike">
                <a:solidFill>
                  <a:schemeClr val="dk1"/>
                </a:solidFill>
                <a:latin typeface="Arial"/>
                <a:ea typeface="Arial"/>
                <a:cs typeface="Arial"/>
                <a:sym typeface="Arial"/>
              </a:rPr>
              <a:t> se hace referencia a la suma de un gran número de acciones y decisiones individuales tomadas por personas, empresas, consumidores, productores, trabajadores, el Estado, etc., las cuales componen la vida económica de un país. </a:t>
            </a:r>
          </a:p>
        </p:txBody>
      </p:sp>
      <p:pic>
        <p:nvPicPr>
          <p:cNvPr id="124" name="Shape 124"/>
          <p:cNvPicPr preferRelativeResize="0"/>
          <p:nvPr>
            <p:ph idx="4294967295" type="body"/>
          </p:nvPr>
        </p:nvPicPr>
        <p:blipFill rotWithShape="1">
          <a:blip r:embed="rId3">
            <a:alphaModFix/>
          </a:blip>
          <a:srcRect b="0" l="0" r="0" t="0"/>
          <a:stretch/>
        </p:blipFill>
        <p:spPr>
          <a:xfrm>
            <a:off x="6156325" y="3357562"/>
            <a:ext cx="2663824" cy="2232025"/>
          </a:xfrm>
          <a:prstGeom prst="rect">
            <a:avLst/>
          </a:prstGeom>
          <a:noFill/>
          <a:ln>
            <a:noFill/>
          </a:ln>
        </p:spPr>
      </p:pic>
      <p:pic>
        <p:nvPicPr>
          <p:cNvPr id="125" name="Shape 125"/>
          <p:cNvPicPr preferRelativeResize="0"/>
          <p:nvPr>
            <p:ph idx="4294967295" type="body"/>
          </p:nvPr>
        </p:nvPicPr>
        <p:blipFill rotWithShape="1">
          <a:blip r:embed="rId4">
            <a:alphaModFix/>
          </a:blip>
          <a:srcRect b="0" l="0" r="0" t="0"/>
          <a:stretch/>
        </p:blipFill>
        <p:spPr>
          <a:xfrm>
            <a:off x="250825" y="260350"/>
            <a:ext cx="3009899" cy="609599"/>
          </a:xfrm>
          <a:prstGeom prst="rect">
            <a:avLst/>
          </a:prstGeom>
          <a:noFill/>
          <a:ln>
            <a:noFill/>
          </a:ln>
        </p:spPr>
      </p:pic>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29" name="Shape 129"/>
        <p:cNvGrpSpPr/>
        <p:nvPr/>
      </p:nvGrpSpPr>
      <p:grpSpPr>
        <a:xfrm>
          <a:off x="0" y="0"/>
          <a:ext cx="0" cy="0"/>
          <a:chOff x="0" y="0"/>
          <a:chExt cx="0" cy="0"/>
        </a:xfrm>
      </p:grpSpPr>
      <p:sp>
        <p:nvSpPr>
          <p:cNvPr id="130" name="Shape 130"/>
          <p:cNvSpPr txBox="1"/>
          <p:nvPr>
            <p:ph idx="4294967295" type="title"/>
          </p:nvPr>
        </p:nvSpPr>
        <p:spPr>
          <a:xfrm>
            <a:off x="4500562" y="122236"/>
            <a:ext cx="3500436"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POBREZA</a:t>
            </a:r>
          </a:p>
        </p:txBody>
      </p:sp>
      <p:pic>
        <p:nvPicPr>
          <p:cNvPr id="131" name="Shape 131"/>
          <p:cNvPicPr preferRelativeResize="0"/>
          <p:nvPr>
            <p:ph idx="4294967295" type="body"/>
          </p:nvPr>
        </p:nvPicPr>
        <p:blipFill rotWithShape="1">
          <a:blip r:embed="rId3">
            <a:alphaModFix/>
          </a:blip>
          <a:srcRect b="0" l="0" r="0" t="0"/>
          <a:stretch/>
        </p:blipFill>
        <p:spPr>
          <a:xfrm>
            <a:off x="539750" y="1701800"/>
            <a:ext cx="7345361" cy="5040312"/>
          </a:xfrm>
          <a:prstGeom prst="rect">
            <a:avLst/>
          </a:prstGeom>
          <a:noFill/>
          <a:ln>
            <a:noFill/>
          </a:ln>
        </p:spPr>
      </p:pic>
      <p:pic>
        <p:nvPicPr>
          <p:cNvPr id="132" name="Shape 132"/>
          <p:cNvPicPr preferRelativeResize="0"/>
          <p:nvPr>
            <p:ph idx="4294967295" type="body"/>
          </p:nvPr>
        </p:nvPicPr>
        <p:blipFill rotWithShape="1">
          <a:blip r:embed="rId4">
            <a:alphaModFix/>
          </a:blip>
          <a:srcRect b="0" l="0" r="0" t="0"/>
          <a:stretch/>
        </p:blipFill>
        <p:spPr>
          <a:xfrm>
            <a:off x="250825" y="476250"/>
            <a:ext cx="3009899" cy="609599"/>
          </a:xfrm>
          <a:prstGeom prst="rect">
            <a:avLst/>
          </a:prstGeom>
          <a:noFill/>
          <a:ln>
            <a:noFill/>
          </a:ln>
        </p:spPr>
      </p:pic>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6" name="Shape 136"/>
        <p:cNvGrpSpPr/>
        <p:nvPr/>
      </p:nvGrpSpPr>
      <p:grpSpPr>
        <a:xfrm>
          <a:off x="0" y="0"/>
          <a:ext cx="0" cy="0"/>
          <a:chOff x="0" y="0"/>
          <a:chExt cx="0" cy="0"/>
        </a:xfrm>
      </p:grpSpPr>
      <p:sp>
        <p:nvSpPr>
          <p:cNvPr id="137" name="Shape 137"/>
          <p:cNvSpPr txBox="1"/>
          <p:nvPr>
            <p:ph idx="4294967295" type="title"/>
          </p:nvPr>
        </p:nvSpPr>
        <p:spPr>
          <a:xfrm>
            <a:off x="3924300" y="122236"/>
            <a:ext cx="4076699" cy="930275"/>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DESEMPLEO</a:t>
            </a:r>
          </a:p>
        </p:txBody>
      </p:sp>
      <p:pic>
        <p:nvPicPr>
          <p:cNvPr id="138" name="Shape 138"/>
          <p:cNvPicPr preferRelativeResize="0"/>
          <p:nvPr>
            <p:ph idx="4294967295" type="body"/>
          </p:nvPr>
        </p:nvPicPr>
        <p:blipFill rotWithShape="1">
          <a:blip r:embed="rId3">
            <a:alphaModFix/>
          </a:blip>
          <a:srcRect b="0" l="0" r="0" t="0"/>
          <a:stretch/>
        </p:blipFill>
        <p:spPr>
          <a:xfrm>
            <a:off x="1619250" y="981075"/>
            <a:ext cx="5400675" cy="5805486"/>
          </a:xfrm>
          <a:prstGeom prst="rect">
            <a:avLst/>
          </a:prstGeom>
          <a:noFill/>
          <a:ln>
            <a:noFill/>
          </a:ln>
        </p:spPr>
      </p:pic>
      <p:pic>
        <p:nvPicPr>
          <p:cNvPr id="139" name="Shape 139"/>
          <p:cNvPicPr preferRelativeResize="0"/>
          <p:nvPr>
            <p:ph idx="4294967295" type="body"/>
          </p:nvPr>
        </p:nvPicPr>
        <p:blipFill rotWithShape="1">
          <a:blip r:embed="rId4">
            <a:alphaModFix/>
          </a:blip>
          <a:srcRect b="0" l="0" r="0" t="0"/>
          <a:stretch/>
        </p:blipFill>
        <p:spPr>
          <a:xfrm>
            <a:off x="468312" y="404812"/>
            <a:ext cx="3009899" cy="609599"/>
          </a:xfrm>
          <a:prstGeom prst="rect">
            <a:avLst/>
          </a:prstGeom>
          <a:noFill/>
          <a:ln>
            <a:noFill/>
          </a:ln>
        </p:spPr>
      </p:pic>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43" name="Shape 143"/>
        <p:cNvGrpSpPr/>
        <p:nvPr/>
      </p:nvGrpSpPr>
      <p:grpSpPr>
        <a:xfrm>
          <a:off x="0" y="0"/>
          <a:ext cx="0" cy="0"/>
          <a:chOff x="0" y="0"/>
          <a:chExt cx="0" cy="0"/>
        </a:xfrm>
      </p:grpSpPr>
      <p:sp>
        <p:nvSpPr>
          <p:cNvPr id="144" name="Shape 144"/>
          <p:cNvSpPr txBox="1"/>
          <p:nvPr>
            <p:ph idx="4294967295" type="title"/>
          </p:nvPr>
        </p:nvSpPr>
        <p:spPr>
          <a:xfrm>
            <a:off x="3419475" y="122236"/>
            <a:ext cx="4581524" cy="85883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EXPORTACIONES</a:t>
            </a:r>
          </a:p>
        </p:txBody>
      </p:sp>
      <p:pic>
        <p:nvPicPr>
          <p:cNvPr id="145" name="Shape 145"/>
          <p:cNvPicPr preferRelativeResize="0"/>
          <p:nvPr>
            <p:ph idx="4294967295" type="body"/>
          </p:nvPr>
        </p:nvPicPr>
        <p:blipFill rotWithShape="1">
          <a:blip r:embed="rId3">
            <a:alphaModFix/>
          </a:blip>
          <a:srcRect b="0" l="0" r="0" t="0"/>
          <a:stretch/>
        </p:blipFill>
        <p:spPr>
          <a:xfrm>
            <a:off x="250825" y="1125537"/>
            <a:ext cx="7634287" cy="5543549"/>
          </a:xfrm>
          <a:prstGeom prst="rect">
            <a:avLst/>
          </a:prstGeom>
          <a:noFill/>
          <a:ln>
            <a:noFill/>
          </a:ln>
        </p:spPr>
      </p:pic>
      <p:pic>
        <p:nvPicPr>
          <p:cNvPr id="146" name="Shape 146"/>
          <p:cNvPicPr preferRelativeResize="0"/>
          <p:nvPr>
            <p:ph idx="4294967295" type="body"/>
          </p:nvPr>
        </p:nvPicPr>
        <p:blipFill rotWithShape="1">
          <a:blip r:embed="rId4">
            <a:alphaModFix/>
          </a:blip>
          <a:srcRect b="0" l="0" r="0" t="0"/>
          <a:stretch/>
        </p:blipFill>
        <p:spPr>
          <a:xfrm>
            <a:off x="179386" y="260350"/>
            <a:ext cx="3009899" cy="609599"/>
          </a:xfrm>
          <a:prstGeom prst="rect">
            <a:avLst/>
          </a:prstGeom>
          <a:noFill/>
          <a:ln>
            <a:noFill/>
          </a:ln>
        </p:spPr>
      </p:pic>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0" name="Shape 150"/>
        <p:cNvGrpSpPr/>
        <p:nvPr/>
      </p:nvGrpSpPr>
      <p:grpSpPr>
        <a:xfrm>
          <a:off x="0" y="0"/>
          <a:ext cx="0" cy="0"/>
          <a:chOff x="0" y="0"/>
          <a:chExt cx="0" cy="0"/>
        </a:xfrm>
      </p:grpSpPr>
      <p:sp>
        <p:nvSpPr>
          <p:cNvPr id="151" name="Shape 151"/>
          <p:cNvSpPr txBox="1"/>
          <p:nvPr>
            <p:ph idx="4294967295" type="title"/>
          </p:nvPr>
        </p:nvSpPr>
        <p:spPr>
          <a:xfrm>
            <a:off x="4859337" y="122236"/>
            <a:ext cx="3141662" cy="71437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CONSUMO</a:t>
            </a:r>
          </a:p>
        </p:txBody>
      </p:sp>
      <p:pic>
        <p:nvPicPr>
          <p:cNvPr id="152" name="Shape 152"/>
          <p:cNvPicPr preferRelativeResize="0"/>
          <p:nvPr>
            <p:ph idx="4294967295" type="body"/>
          </p:nvPr>
        </p:nvPicPr>
        <p:blipFill rotWithShape="1">
          <a:blip r:embed="rId3">
            <a:alphaModFix/>
          </a:blip>
          <a:srcRect b="0" l="0" r="0" t="0"/>
          <a:stretch/>
        </p:blipFill>
        <p:spPr>
          <a:xfrm>
            <a:off x="3203575" y="908050"/>
            <a:ext cx="3094037" cy="5545137"/>
          </a:xfrm>
          <a:prstGeom prst="rect">
            <a:avLst/>
          </a:prstGeom>
          <a:noFill/>
          <a:ln>
            <a:noFill/>
          </a:ln>
        </p:spPr>
      </p:pic>
      <p:pic>
        <p:nvPicPr>
          <p:cNvPr id="153" name="Shape 153"/>
          <p:cNvPicPr preferRelativeResize="0"/>
          <p:nvPr>
            <p:ph idx="4294967295" type="body"/>
          </p:nvPr>
        </p:nvPicPr>
        <p:blipFill rotWithShape="1">
          <a:blip r:embed="rId4">
            <a:alphaModFix/>
          </a:blip>
          <a:srcRect b="0" l="0" r="0" t="0"/>
          <a:stretch/>
        </p:blipFill>
        <p:spPr>
          <a:xfrm>
            <a:off x="539750" y="333375"/>
            <a:ext cx="3009899" cy="609599"/>
          </a:xfrm>
          <a:prstGeom prst="rect">
            <a:avLst/>
          </a:prstGeom>
          <a:noFill/>
          <a:ln>
            <a:noFill/>
          </a:ln>
        </p:spPr>
      </p:pic>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57" name="Shape 157"/>
        <p:cNvGrpSpPr/>
        <p:nvPr/>
      </p:nvGrpSpPr>
      <p:grpSpPr>
        <a:xfrm>
          <a:off x="0" y="0"/>
          <a:ext cx="0" cy="0"/>
          <a:chOff x="0" y="0"/>
          <a:chExt cx="0" cy="0"/>
        </a:xfrm>
      </p:grpSpPr>
      <p:sp>
        <p:nvSpPr>
          <p:cNvPr id="158" name="Shape 158"/>
          <p:cNvSpPr txBox="1"/>
          <p:nvPr>
            <p:ph idx="4294967295" type="title"/>
          </p:nvPr>
        </p:nvSpPr>
        <p:spPr>
          <a:xfrm>
            <a:off x="241300" y="836612"/>
            <a:ext cx="5843587" cy="7921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AHORRO E INVERSIÓN</a:t>
            </a:r>
          </a:p>
        </p:txBody>
      </p:sp>
      <p:pic>
        <p:nvPicPr>
          <p:cNvPr id="159" name="Shape 159"/>
          <p:cNvPicPr preferRelativeResize="0"/>
          <p:nvPr>
            <p:ph idx="4294967295" type="body"/>
          </p:nvPr>
        </p:nvPicPr>
        <p:blipFill rotWithShape="1">
          <a:blip r:embed="rId3">
            <a:alphaModFix/>
          </a:blip>
          <a:srcRect b="0" l="0" r="0" t="0"/>
          <a:stretch/>
        </p:blipFill>
        <p:spPr>
          <a:xfrm>
            <a:off x="179386" y="1557337"/>
            <a:ext cx="4032249" cy="2736850"/>
          </a:xfrm>
          <a:prstGeom prst="rect">
            <a:avLst/>
          </a:prstGeom>
          <a:noFill/>
          <a:ln>
            <a:noFill/>
          </a:ln>
        </p:spPr>
      </p:pic>
      <p:pic>
        <p:nvPicPr>
          <p:cNvPr id="160" name="Shape 160"/>
          <p:cNvPicPr preferRelativeResize="0"/>
          <p:nvPr>
            <p:ph idx="4294967295" type="body"/>
          </p:nvPr>
        </p:nvPicPr>
        <p:blipFill rotWithShape="1">
          <a:blip r:embed="rId4">
            <a:alphaModFix/>
          </a:blip>
          <a:srcRect b="0" l="0" r="0" t="0"/>
          <a:stretch/>
        </p:blipFill>
        <p:spPr>
          <a:xfrm>
            <a:off x="4572000" y="3573462"/>
            <a:ext cx="4392611" cy="3095625"/>
          </a:xfrm>
          <a:prstGeom prst="rect">
            <a:avLst/>
          </a:prstGeom>
          <a:noFill/>
          <a:ln>
            <a:noFill/>
          </a:ln>
        </p:spPr>
      </p:pic>
      <p:pic>
        <p:nvPicPr>
          <p:cNvPr id="161" name="Shape 161"/>
          <p:cNvPicPr preferRelativeResize="0"/>
          <p:nvPr/>
        </p:nvPicPr>
        <p:blipFill rotWithShape="1">
          <a:blip r:embed="rId5">
            <a:alphaModFix/>
          </a:blip>
          <a:srcRect b="0" l="0" r="0" t="0"/>
          <a:stretch/>
        </p:blipFill>
        <p:spPr>
          <a:xfrm>
            <a:off x="468312" y="4437062"/>
            <a:ext cx="3168650" cy="2232025"/>
          </a:xfrm>
          <a:prstGeom prst="rect">
            <a:avLst/>
          </a:prstGeom>
          <a:noFill/>
          <a:ln>
            <a:noFill/>
          </a:ln>
        </p:spPr>
      </p:pic>
      <p:pic>
        <p:nvPicPr>
          <p:cNvPr id="162" name="Shape 162"/>
          <p:cNvPicPr preferRelativeResize="0"/>
          <p:nvPr/>
        </p:nvPicPr>
        <p:blipFill rotWithShape="1">
          <a:blip r:embed="rId6">
            <a:alphaModFix/>
          </a:blip>
          <a:srcRect b="0" l="0" r="0" t="0"/>
          <a:stretch/>
        </p:blipFill>
        <p:spPr>
          <a:xfrm>
            <a:off x="6156325" y="0"/>
            <a:ext cx="2800349" cy="3429000"/>
          </a:xfrm>
          <a:prstGeom prst="rect">
            <a:avLst/>
          </a:prstGeom>
          <a:noFill/>
          <a:ln>
            <a:noFill/>
          </a:ln>
        </p:spPr>
      </p:pic>
      <p:pic>
        <p:nvPicPr>
          <p:cNvPr id="163" name="Shape 163"/>
          <p:cNvPicPr preferRelativeResize="0"/>
          <p:nvPr>
            <p:ph idx="4294967295" type="body"/>
          </p:nvPr>
        </p:nvPicPr>
        <p:blipFill rotWithShape="1">
          <a:blip r:embed="rId7">
            <a:alphaModFix/>
          </a:blip>
          <a:srcRect b="0" l="0" r="0" t="0"/>
          <a:stretch/>
        </p:blipFill>
        <p:spPr>
          <a:xfrm>
            <a:off x="395287" y="188911"/>
            <a:ext cx="3009899" cy="609599"/>
          </a:xfrm>
          <a:prstGeom prst="rect">
            <a:avLst/>
          </a:prstGeom>
          <a:noFill/>
          <a:ln>
            <a:noFill/>
          </a:ln>
        </p:spPr>
      </p:pic>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67" name="Shape 167"/>
        <p:cNvGrpSpPr/>
        <p:nvPr/>
      </p:nvGrpSpPr>
      <p:grpSpPr>
        <a:xfrm>
          <a:off x="0" y="0"/>
          <a:ext cx="0" cy="0"/>
          <a:chOff x="0" y="0"/>
          <a:chExt cx="0" cy="0"/>
        </a:xfrm>
      </p:grpSpPr>
      <p:sp>
        <p:nvSpPr>
          <p:cNvPr id="168" name="Shape 168"/>
          <p:cNvSpPr txBox="1"/>
          <p:nvPr>
            <p:ph idx="4294967295" type="title"/>
          </p:nvPr>
        </p:nvSpPr>
        <p:spPr>
          <a:xfrm>
            <a:off x="3348037" y="122236"/>
            <a:ext cx="5329237" cy="930275"/>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TASA DE INTERÉS</a:t>
            </a:r>
          </a:p>
        </p:txBody>
      </p:sp>
      <p:pic>
        <p:nvPicPr>
          <p:cNvPr id="169" name="Shape 169"/>
          <p:cNvPicPr preferRelativeResize="0"/>
          <p:nvPr>
            <p:ph idx="4294967295" type="body"/>
          </p:nvPr>
        </p:nvPicPr>
        <p:blipFill rotWithShape="1">
          <a:blip r:embed="rId3">
            <a:alphaModFix/>
          </a:blip>
          <a:srcRect b="0" l="0" r="0" t="0"/>
          <a:stretch/>
        </p:blipFill>
        <p:spPr>
          <a:xfrm>
            <a:off x="611187" y="1412875"/>
            <a:ext cx="1597024" cy="2128836"/>
          </a:xfrm>
          <a:prstGeom prst="rect">
            <a:avLst/>
          </a:prstGeom>
          <a:noFill/>
          <a:ln>
            <a:noFill/>
          </a:ln>
        </p:spPr>
      </p:pic>
      <p:pic>
        <p:nvPicPr>
          <p:cNvPr id="170" name="Shape 170"/>
          <p:cNvPicPr preferRelativeResize="0"/>
          <p:nvPr>
            <p:ph idx="4294967295" type="body"/>
          </p:nvPr>
        </p:nvPicPr>
        <p:blipFill rotWithShape="1">
          <a:blip r:embed="rId4">
            <a:alphaModFix/>
          </a:blip>
          <a:srcRect b="0" l="0" r="0" t="0"/>
          <a:stretch/>
        </p:blipFill>
        <p:spPr>
          <a:xfrm>
            <a:off x="4572000" y="1484312"/>
            <a:ext cx="2193925" cy="2128836"/>
          </a:xfrm>
          <a:prstGeom prst="rect">
            <a:avLst/>
          </a:prstGeom>
          <a:noFill/>
          <a:ln>
            <a:noFill/>
          </a:ln>
        </p:spPr>
      </p:pic>
      <p:pic>
        <p:nvPicPr>
          <p:cNvPr id="171" name="Shape 171"/>
          <p:cNvPicPr preferRelativeResize="0"/>
          <p:nvPr>
            <p:ph idx="4294967295" type="body"/>
          </p:nvPr>
        </p:nvPicPr>
        <p:blipFill rotWithShape="1">
          <a:blip r:embed="rId5">
            <a:alphaModFix/>
          </a:blip>
          <a:srcRect b="0" l="0" r="0" t="0"/>
          <a:stretch/>
        </p:blipFill>
        <p:spPr>
          <a:xfrm>
            <a:off x="2627311" y="3213100"/>
            <a:ext cx="1368425" cy="3311524"/>
          </a:xfrm>
          <a:prstGeom prst="rect">
            <a:avLst/>
          </a:prstGeom>
          <a:noFill/>
          <a:ln>
            <a:noFill/>
          </a:ln>
        </p:spPr>
      </p:pic>
      <p:pic>
        <p:nvPicPr>
          <p:cNvPr id="172" name="Shape 172"/>
          <p:cNvPicPr preferRelativeResize="0"/>
          <p:nvPr>
            <p:ph idx="4294967295" type="body"/>
          </p:nvPr>
        </p:nvPicPr>
        <p:blipFill rotWithShape="1">
          <a:blip r:embed="rId6">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76" name="Shape 176"/>
        <p:cNvGrpSpPr/>
        <p:nvPr/>
      </p:nvGrpSpPr>
      <p:grpSpPr>
        <a:xfrm>
          <a:off x="0" y="0"/>
          <a:ext cx="0" cy="0"/>
          <a:chOff x="0" y="0"/>
          <a:chExt cx="0" cy="0"/>
        </a:xfrm>
      </p:grpSpPr>
      <p:sp>
        <p:nvSpPr>
          <p:cNvPr id="177" name="Shape 177"/>
          <p:cNvSpPr txBox="1"/>
          <p:nvPr>
            <p:ph idx="4294967295" type="title"/>
          </p:nvPr>
        </p:nvSpPr>
        <p:spPr>
          <a:xfrm>
            <a:off x="457200" y="122236"/>
            <a:ext cx="7543800"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INFLACIÓN</a:t>
            </a:r>
          </a:p>
        </p:txBody>
      </p:sp>
      <p:pic>
        <p:nvPicPr>
          <p:cNvPr id="178" name="Shape 178"/>
          <p:cNvPicPr preferRelativeResize="0"/>
          <p:nvPr>
            <p:ph idx="4294967295" type="body"/>
          </p:nvPr>
        </p:nvPicPr>
        <p:blipFill rotWithShape="1">
          <a:blip r:embed="rId3">
            <a:alphaModFix/>
          </a:blip>
          <a:srcRect b="0" l="0" r="0" t="0"/>
          <a:stretch/>
        </p:blipFill>
        <p:spPr>
          <a:xfrm>
            <a:off x="107950" y="1341437"/>
            <a:ext cx="2744786" cy="3240087"/>
          </a:xfrm>
          <a:prstGeom prst="rect">
            <a:avLst/>
          </a:prstGeom>
          <a:noFill/>
          <a:ln>
            <a:noFill/>
          </a:ln>
        </p:spPr>
      </p:pic>
      <p:pic>
        <p:nvPicPr>
          <p:cNvPr id="179" name="Shape 179"/>
          <p:cNvPicPr preferRelativeResize="0"/>
          <p:nvPr>
            <p:ph idx="4294967295" type="body"/>
          </p:nvPr>
        </p:nvPicPr>
        <p:blipFill rotWithShape="1">
          <a:blip r:embed="rId4">
            <a:alphaModFix/>
          </a:blip>
          <a:srcRect b="0" l="0" r="0" t="0"/>
          <a:stretch/>
        </p:blipFill>
        <p:spPr>
          <a:xfrm>
            <a:off x="3059111" y="2708275"/>
            <a:ext cx="5940424" cy="3816349"/>
          </a:xfrm>
          <a:prstGeom prst="rect">
            <a:avLst/>
          </a:prstGeom>
          <a:noFill/>
          <a:ln>
            <a:no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83" name="Shape 183"/>
        <p:cNvGrpSpPr/>
        <p:nvPr/>
      </p:nvGrpSpPr>
      <p:grpSpPr>
        <a:xfrm>
          <a:off x="0" y="0"/>
          <a:ext cx="0" cy="0"/>
          <a:chOff x="0" y="0"/>
          <a:chExt cx="0" cy="0"/>
        </a:xfrm>
      </p:grpSpPr>
      <p:sp>
        <p:nvSpPr>
          <p:cNvPr id="184" name="Shape 184"/>
          <p:cNvSpPr txBox="1"/>
          <p:nvPr>
            <p:ph idx="4294967295" type="title"/>
          </p:nvPr>
        </p:nvSpPr>
        <p:spPr>
          <a:xfrm>
            <a:off x="2844800" y="765175"/>
            <a:ext cx="5040312" cy="6524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PRECIOS Y SALARIOS</a:t>
            </a:r>
          </a:p>
        </p:txBody>
      </p:sp>
      <p:pic>
        <p:nvPicPr>
          <p:cNvPr id="185" name="Shape 185"/>
          <p:cNvPicPr preferRelativeResize="0"/>
          <p:nvPr>
            <p:ph idx="4294967295" type="body"/>
          </p:nvPr>
        </p:nvPicPr>
        <p:blipFill rotWithShape="1">
          <a:blip r:embed="rId3">
            <a:alphaModFix/>
          </a:blip>
          <a:srcRect b="0" l="0" r="0" t="0"/>
          <a:stretch/>
        </p:blipFill>
        <p:spPr>
          <a:xfrm>
            <a:off x="395287" y="1484312"/>
            <a:ext cx="7777162" cy="5113337"/>
          </a:xfrm>
          <a:prstGeom prst="rect">
            <a:avLst/>
          </a:prstGeom>
          <a:noFill/>
          <a:ln>
            <a:noFill/>
          </a:ln>
        </p:spPr>
      </p:pic>
      <p:pic>
        <p:nvPicPr>
          <p:cNvPr id="186" name="Shape 186"/>
          <p:cNvPicPr preferRelativeResize="0"/>
          <p:nvPr>
            <p:ph idx="4294967295" type="body"/>
          </p:nvPr>
        </p:nvPicPr>
        <p:blipFill rotWithShape="1">
          <a:blip r:embed="rId4">
            <a:alphaModFix/>
          </a:blip>
          <a:srcRect b="0" l="0" r="0" t="0"/>
          <a:stretch/>
        </p:blipFill>
        <p:spPr>
          <a:xfrm>
            <a:off x="49211" y="155575"/>
            <a:ext cx="3009899" cy="609599"/>
          </a:xfrm>
          <a:prstGeom prst="rect">
            <a:avLst/>
          </a:prstGeom>
          <a:noFill/>
          <a:ln>
            <a:noFill/>
          </a:ln>
        </p:spPr>
      </p:pic>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90" name="Shape 190"/>
        <p:cNvGrpSpPr/>
        <p:nvPr/>
      </p:nvGrpSpPr>
      <p:grpSpPr>
        <a:xfrm>
          <a:off x="0" y="0"/>
          <a:ext cx="0" cy="0"/>
          <a:chOff x="0" y="0"/>
          <a:chExt cx="0" cy="0"/>
        </a:xfrm>
      </p:grpSpPr>
      <p:sp>
        <p:nvSpPr>
          <p:cNvPr id="191" name="Shape 191"/>
          <p:cNvSpPr txBox="1"/>
          <p:nvPr>
            <p:ph idx="4294967295" type="title"/>
          </p:nvPr>
        </p:nvSpPr>
        <p:spPr>
          <a:xfrm>
            <a:off x="3995737" y="188911"/>
            <a:ext cx="3313112" cy="1223961"/>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DEUDA EXTERNA</a:t>
            </a:r>
          </a:p>
        </p:txBody>
      </p:sp>
      <p:pic>
        <p:nvPicPr>
          <p:cNvPr id="192" name="Shape 192"/>
          <p:cNvPicPr preferRelativeResize="0"/>
          <p:nvPr>
            <p:ph idx="4294967295" type="body"/>
          </p:nvPr>
        </p:nvPicPr>
        <p:blipFill rotWithShape="1">
          <a:blip r:embed="rId3">
            <a:alphaModFix/>
          </a:blip>
          <a:srcRect b="0" l="0" r="0" t="0"/>
          <a:stretch/>
        </p:blipFill>
        <p:spPr>
          <a:xfrm>
            <a:off x="468312" y="1628775"/>
            <a:ext cx="4175125" cy="4464050"/>
          </a:xfrm>
          <a:prstGeom prst="rect">
            <a:avLst/>
          </a:prstGeom>
          <a:noFill/>
          <a:ln>
            <a:noFill/>
          </a:ln>
        </p:spPr>
      </p:pic>
      <p:pic>
        <p:nvPicPr>
          <p:cNvPr id="193" name="Shape 193"/>
          <p:cNvPicPr preferRelativeResize="0"/>
          <p:nvPr>
            <p:ph idx="4294967295" type="body"/>
          </p:nvPr>
        </p:nvPicPr>
        <p:blipFill rotWithShape="1">
          <a:blip r:embed="rId4">
            <a:alphaModFix/>
          </a:blip>
          <a:srcRect b="0" l="0" r="0" t="0"/>
          <a:stretch/>
        </p:blipFill>
        <p:spPr>
          <a:xfrm>
            <a:off x="5148262" y="1916111"/>
            <a:ext cx="3384550" cy="3817937"/>
          </a:xfrm>
          <a:prstGeom prst="rect">
            <a:avLst/>
          </a:prstGeom>
          <a:noFill/>
          <a:ln>
            <a:noFill/>
          </a:ln>
        </p:spPr>
      </p:pic>
      <p:pic>
        <p:nvPicPr>
          <p:cNvPr id="194" name="Shape 194"/>
          <p:cNvPicPr preferRelativeResize="0"/>
          <p:nvPr>
            <p:ph idx="4294967295" type="body"/>
          </p:nvPr>
        </p:nvPicPr>
        <p:blipFill rotWithShape="1">
          <a:blip r:embed="rId5">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98" name="Shape 198"/>
        <p:cNvGrpSpPr/>
        <p:nvPr/>
      </p:nvGrpSpPr>
      <p:grpSpPr>
        <a:xfrm>
          <a:off x="0" y="0"/>
          <a:ext cx="0" cy="0"/>
          <a:chOff x="0" y="0"/>
          <a:chExt cx="0" cy="0"/>
        </a:xfrm>
      </p:grpSpPr>
      <p:sp>
        <p:nvSpPr>
          <p:cNvPr id="199" name="Shape 199"/>
          <p:cNvSpPr txBox="1"/>
          <p:nvPr>
            <p:ph type="title"/>
          </p:nvPr>
        </p:nvSpPr>
        <p:spPr>
          <a:xfrm>
            <a:off x="3481387" y="122236"/>
            <a:ext cx="4619625"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MICROECONOMÍA Y MACROECONOMÍA</a:t>
            </a:r>
          </a:p>
        </p:txBody>
      </p:sp>
      <p:pic>
        <p:nvPicPr>
          <p:cNvPr id="200" name="Shape 200"/>
          <p:cNvPicPr preferRelativeResize="0"/>
          <p:nvPr/>
        </p:nvPicPr>
        <p:blipFill rotWithShape="1">
          <a:blip r:embed="rId3">
            <a:alphaModFix/>
          </a:blip>
          <a:srcRect b="0" l="0" r="0" t="0"/>
          <a:stretch/>
        </p:blipFill>
        <p:spPr>
          <a:xfrm>
            <a:off x="0" y="1697036"/>
            <a:ext cx="9144000" cy="5045074"/>
          </a:xfrm>
          <a:prstGeom prst="rect">
            <a:avLst/>
          </a:prstGeom>
          <a:noFill/>
          <a:ln>
            <a:noFill/>
          </a:ln>
        </p:spPr>
      </p:pic>
      <p:pic>
        <p:nvPicPr>
          <p:cNvPr id="201" name="Shape 201"/>
          <p:cNvPicPr preferRelativeResize="0"/>
          <p:nvPr>
            <p:ph idx="1" type="body"/>
          </p:nvPr>
        </p:nvPicPr>
        <p:blipFill rotWithShape="1">
          <a:blip r:embed="rId4">
            <a:alphaModFix/>
          </a:blip>
          <a:srcRect b="0" l="0" r="0" t="0"/>
          <a:stretch/>
        </p:blipFill>
        <p:spPr>
          <a:xfrm>
            <a:off x="122236" y="260350"/>
            <a:ext cx="3009899" cy="609599"/>
          </a:xfrm>
          <a:prstGeom prst="rect">
            <a:avLst/>
          </a:prstGeom>
          <a:noFill/>
          <a:ln>
            <a:noFill/>
          </a:ln>
        </p:spPr>
      </p:pic>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5" name="Shape 205"/>
        <p:cNvGrpSpPr/>
        <p:nvPr/>
      </p:nvGrpSpPr>
      <p:grpSpPr>
        <a:xfrm>
          <a:off x="0" y="0"/>
          <a:ext cx="0" cy="0"/>
          <a:chOff x="0" y="0"/>
          <a:chExt cx="0" cy="0"/>
        </a:xfrm>
      </p:grpSpPr>
      <p:sp>
        <p:nvSpPr>
          <p:cNvPr id="206" name="Shape 206"/>
          <p:cNvSpPr txBox="1"/>
          <p:nvPr>
            <p:ph idx="4294967295" type="title"/>
          </p:nvPr>
        </p:nvSpPr>
        <p:spPr>
          <a:xfrm>
            <a:off x="3348037" y="188911"/>
            <a:ext cx="4619625" cy="1106487"/>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MACROECONOMÍA Y MICROECONOMÍA</a:t>
            </a:r>
          </a:p>
        </p:txBody>
      </p:sp>
      <p:pic>
        <p:nvPicPr>
          <p:cNvPr id="207" name="Shape 207"/>
          <p:cNvPicPr preferRelativeResize="0"/>
          <p:nvPr/>
        </p:nvPicPr>
        <p:blipFill rotWithShape="1">
          <a:blip r:embed="rId3">
            <a:alphaModFix/>
          </a:blip>
          <a:srcRect b="0" l="0" r="0" t="0"/>
          <a:stretch/>
        </p:blipFill>
        <p:spPr>
          <a:xfrm>
            <a:off x="539750" y="1557337"/>
            <a:ext cx="7345361" cy="4967286"/>
          </a:xfrm>
          <a:prstGeom prst="rect">
            <a:avLst/>
          </a:prstGeom>
          <a:noFill/>
          <a:ln>
            <a:noFill/>
          </a:ln>
        </p:spPr>
      </p:pic>
      <p:pic>
        <p:nvPicPr>
          <p:cNvPr id="208" name="Shape 208"/>
          <p:cNvPicPr preferRelativeResize="0"/>
          <p:nvPr>
            <p:ph idx="4294967295" type="body"/>
          </p:nvPr>
        </p:nvPicPr>
        <p:blipFill rotWithShape="1">
          <a:blip r:embed="rId4">
            <a:alphaModFix/>
          </a:blip>
          <a:srcRect b="0" l="0" r="0" t="0"/>
          <a:stretch/>
        </p:blipFill>
        <p:spPr>
          <a:xfrm>
            <a:off x="179386" y="260350"/>
            <a:ext cx="3009899" cy="609599"/>
          </a:xfrm>
          <a:prstGeom prst="rect">
            <a:avLst/>
          </a:prstGeom>
          <a:noFill/>
          <a:ln>
            <a:noFill/>
          </a:ln>
        </p:spPr>
      </p:pic>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2" name="Shape 212"/>
        <p:cNvGrpSpPr/>
        <p:nvPr/>
      </p:nvGrpSpPr>
      <p:grpSpPr>
        <a:xfrm>
          <a:off x="0" y="0"/>
          <a:ext cx="0" cy="0"/>
          <a:chOff x="0" y="0"/>
          <a:chExt cx="0" cy="0"/>
        </a:xfrm>
      </p:grpSpPr>
      <p:sp>
        <p:nvSpPr>
          <p:cNvPr id="213" name="Shape 213"/>
          <p:cNvSpPr txBox="1"/>
          <p:nvPr>
            <p:ph type="title"/>
          </p:nvPr>
        </p:nvSpPr>
        <p:spPr>
          <a:xfrm>
            <a:off x="457200" y="122236"/>
            <a:ext cx="7543800"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SISTEMA MACROECONÓMICO</a:t>
            </a:r>
          </a:p>
        </p:txBody>
      </p:sp>
      <p:grpSp>
        <p:nvGrpSpPr>
          <p:cNvPr id="214" name="Shape 214"/>
          <p:cNvGrpSpPr/>
          <p:nvPr/>
        </p:nvGrpSpPr>
        <p:grpSpPr>
          <a:xfrm>
            <a:off x="180730" y="1838396"/>
            <a:ext cx="8871439" cy="4809981"/>
            <a:chOff x="2357436" y="11841161"/>
            <a:chExt cx="14416088" cy="6738938"/>
          </a:xfrm>
        </p:grpSpPr>
        <p:sp>
          <p:nvSpPr>
            <p:cNvPr id="215" name="Shape 215"/>
            <p:cNvSpPr txBox="1"/>
            <p:nvPr/>
          </p:nvSpPr>
          <p:spPr>
            <a:xfrm>
              <a:off x="2357436" y="11841161"/>
              <a:ext cx="5499099" cy="3516312"/>
            </a:xfrm>
            <a:prstGeom prst="rect">
              <a:avLst/>
            </a:prstGeom>
            <a:solidFill>
              <a:srgbClr val="FFFF99"/>
            </a:solidFill>
            <a:ln cap="flat" cmpd="sng" w="9525">
              <a:solidFill>
                <a:srgbClr val="000000"/>
              </a:solidFill>
              <a:prstDash val="solid"/>
              <a:miter/>
              <a:headEnd len="med" w="med" type="none"/>
              <a:tailEnd len="med" w="med" type="none"/>
            </a:ln>
          </p:spPr>
          <p:txBody>
            <a:bodyPr anchorCtr="0" anchor="t" bIns="31675" lIns="63325" rIns="63325" tIns="31675">
              <a:noAutofit/>
            </a:bodyPr>
            <a:lstStyle/>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Instrumentos de </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Política Económica</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-Política Fiscal</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-Política Monetaria</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-Políticas de Com. Exterior</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-Tipo de Cambio</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-Políticas de oferta</a:t>
              </a:r>
            </a:p>
            <a:p>
              <a:pPr indent="0" lvl="0" marL="0" marR="0" rtl="0" algn="l">
                <a:lnSpc>
                  <a:spcPct val="100000"/>
                </a:lnSpc>
                <a:spcBef>
                  <a:spcPts val="0"/>
                </a:spcBef>
                <a:spcAft>
                  <a:spcPts val="0"/>
                </a:spcAft>
                <a:buNone/>
              </a:pPr>
              <a:r>
                <a:t/>
              </a:r>
              <a:endParaRPr b="1" i="1" sz="1200" u="none" cap="none" strike="noStrike">
                <a:solidFill>
                  <a:srgbClr val="000000"/>
                </a:solidFill>
                <a:latin typeface="Verdana"/>
                <a:ea typeface="Verdana"/>
                <a:cs typeface="Verdana"/>
                <a:sym typeface="Verdana"/>
              </a:endParaRPr>
            </a:p>
          </p:txBody>
        </p:sp>
        <p:sp>
          <p:nvSpPr>
            <p:cNvPr id="216" name="Shape 216"/>
            <p:cNvSpPr txBox="1"/>
            <p:nvPr/>
          </p:nvSpPr>
          <p:spPr>
            <a:xfrm>
              <a:off x="2357436" y="15649575"/>
              <a:ext cx="5273674" cy="2930525"/>
            </a:xfrm>
            <a:prstGeom prst="rect">
              <a:avLst/>
            </a:prstGeom>
            <a:solidFill>
              <a:srgbClr val="FFFF99"/>
            </a:solidFill>
            <a:ln cap="flat" cmpd="sng" w="9525">
              <a:solidFill>
                <a:srgbClr val="000000"/>
              </a:solidFill>
              <a:prstDash val="solid"/>
              <a:miter/>
              <a:headEnd len="med" w="med" type="none"/>
              <a:tailEnd len="med" w="med" type="none"/>
            </a:ln>
          </p:spPr>
          <p:txBody>
            <a:bodyPr anchorCtr="0" anchor="t" bIns="31675" lIns="63325" rIns="63325" tIns="31675">
              <a:noAutofit/>
            </a:bodyPr>
            <a:lstStyle/>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Variables Exógenas</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-Problemas Climáticos.</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-Conflictos bélicos.</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-Producción extranjera</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-Crisis económicas internacionales.</a:t>
              </a:r>
            </a:p>
            <a:p>
              <a:pPr indent="0" lvl="0" marL="0" marR="0" rtl="0" algn="l">
                <a:lnSpc>
                  <a:spcPct val="100000"/>
                </a:lnSpc>
                <a:spcBef>
                  <a:spcPts val="0"/>
                </a:spcBef>
                <a:spcAft>
                  <a:spcPts val="0"/>
                </a:spcAft>
                <a:buClr>
                  <a:srgbClr val="000000"/>
                </a:buClr>
                <a:buSzPct val="25000"/>
                <a:buFont typeface="Verdana"/>
                <a:buNone/>
              </a:pPr>
              <a:r>
                <a:rPr b="1" i="1" lang="en-US" sz="1200" u="none" cap="none" strike="noStrike">
                  <a:solidFill>
                    <a:srgbClr val="000000"/>
                  </a:solidFill>
                  <a:latin typeface="Verdana"/>
                  <a:ea typeface="Verdana"/>
                  <a:cs typeface="Verdana"/>
                  <a:sym typeface="Verdana"/>
                </a:rPr>
                <a:t>-etc.</a:t>
              </a:r>
            </a:p>
          </p:txBody>
        </p:sp>
        <p:sp>
          <p:nvSpPr>
            <p:cNvPr id="217" name="Shape 217"/>
            <p:cNvSpPr txBox="1"/>
            <p:nvPr/>
          </p:nvSpPr>
          <p:spPr>
            <a:xfrm>
              <a:off x="9096375" y="14806612"/>
              <a:ext cx="3516312" cy="1722437"/>
            </a:xfrm>
            <a:prstGeom prst="rect">
              <a:avLst/>
            </a:prstGeom>
            <a:solidFill>
              <a:srgbClr val="CCFFFF">
                <a:alpha val="83921"/>
              </a:srgbClr>
            </a:solidFill>
            <a:ln cap="flat" cmpd="sng" w="9525">
              <a:solidFill>
                <a:srgbClr val="000000"/>
              </a:solidFill>
              <a:prstDash val="solid"/>
              <a:miter/>
              <a:headEnd len="med" w="med" type="none"/>
              <a:tailEnd len="med" w="med" type="none"/>
            </a:ln>
          </p:spPr>
          <p:txBody>
            <a:bodyPr anchorCtr="0" anchor="t" bIns="31675" lIns="63325" rIns="63325" tIns="31675">
              <a:noAutofit/>
            </a:bodyPr>
            <a:lstStyle/>
            <a:p>
              <a:pPr indent="0" lvl="0" marL="0" marR="0" rtl="0" algn="l">
                <a:lnSpc>
                  <a:spcPct val="100000"/>
                </a:lnSpc>
                <a:spcBef>
                  <a:spcPts val="0"/>
                </a:spcBef>
                <a:spcAft>
                  <a:spcPts val="0"/>
                </a:spcAft>
                <a:buClr>
                  <a:schemeClr val="dk1"/>
                </a:buClr>
                <a:buFont typeface="Arial"/>
                <a:buNone/>
              </a:pPr>
              <a:r>
                <a:t/>
              </a:r>
              <a:endParaRPr b="1" i="1" sz="11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Sistema</a:t>
              </a: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Macroeconómico</a:t>
              </a:r>
            </a:p>
          </p:txBody>
        </p:sp>
        <p:cxnSp>
          <p:nvCxnSpPr>
            <p:cNvPr id="218" name="Shape 218"/>
            <p:cNvCxnSpPr/>
            <p:nvPr/>
          </p:nvCxnSpPr>
          <p:spPr>
            <a:xfrm>
              <a:off x="7924800" y="15062200"/>
              <a:ext cx="1171575" cy="1587"/>
            </a:xfrm>
            <a:prstGeom prst="straightConnector1">
              <a:avLst/>
            </a:prstGeom>
            <a:noFill/>
            <a:ln cap="flat" cmpd="sng" w="9525">
              <a:solidFill>
                <a:srgbClr val="000000"/>
              </a:solidFill>
              <a:prstDash val="solid"/>
              <a:miter/>
              <a:headEnd len="med" w="med" type="none"/>
              <a:tailEnd len="lg" w="lg" type="stealth"/>
            </a:ln>
          </p:spPr>
        </p:cxnSp>
        <p:cxnSp>
          <p:nvCxnSpPr>
            <p:cNvPr id="219" name="Shape 219"/>
            <p:cNvCxnSpPr/>
            <p:nvPr/>
          </p:nvCxnSpPr>
          <p:spPr>
            <a:xfrm flipH="1" rot="10800000">
              <a:off x="7631111" y="16236950"/>
              <a:ext cx="1465261" cy="1587"/>
            </a:xfrm>
            <a:prstGeom prst="straightConnector1">
              <a:avLst/>
            </a:prstGeom>
            <a:noFill/>
            <a:ln cap="flat" cmpd="sng" w="9525">
              <a:solidFill>
                <a:srgbClr val="000000"/>
              </a:solidFill>
              <a:prstDash val="solid"/>
              <a:miter/>
              <a:headEnd len="med" w="med" type="none"/>
              <a:tailEnd len="lg" w="lg" type="stealth"/>
            </a:ln>
          </p:spPr>
        </p:cxnSp>
        <p:sp>
          <p:nvSpPr>
            <p:cNvPr id="220" name="Shape 220"/>
            <p:cNvSpPr txBox="1"/>
            <p:nvPr/>
          </p:nvSpPr>
          <p:spPr>
            <a:xfrm>
              <a:off x="13208000" y="12426950"/>
              <a:ext cx="3565525" cy="5861050"/>
            </a:xfrm>
            <a:prstGeom prst="rect">
              <a:avLst/>
            </a:prstGeom>
            <a:solidFill>
              <a:schemeClr val="hlink">
                <a:alpha val="16862"/>
              </a:schemeClr>
            </a:solidFill>
            <a:ln cap="flat" cmpd="sng" w="9525">
              <a:solidFill>
                <a:srgbClr val="000000"/>
              </a:solidFill>
              <a:prstDash val="solid"/>
              <a:miter/>
              <a:headEnd len="med" w="med" type="none"/>
              <a:tailEnd len="med" w="med" type="none"/>
            </a:ln>
          </p:spPr>
          <p:txBody>
            <a:bodyPr anchorCtr="0" anchor="t" bIns="31675" lIns="63325" rIns="63325" tIns="31675">
              <a:noAutofit/>
            </a:bodyPr>
            <a:lstStyle/>
            <a:p>
              <a:pPr indent="0" lvl="0" marL="0" marR="0" rtl="0" algn="l">
                <a:lnSpc>
                  <a:spcPct val="100000"/>
                </a:lnSpc>
                <a:spcBef>
                  <a:spcPts val="0"/>
                </a:spcBef>
                <a:spcAft>
                  <a:spcPts val="0"/>
                </a:spcAft>
                <a:buClr>
                  <a:schemeClr val="dk1"/>
                </a:buClr>
                <a:buFont typeface="Arial"/>
                <a:buNone/>
              </a:pPr>
              <a:r>
                <a:t/>
              </a:r>
              <a:endParaRPr b="1" i="1" sz="1000" u="none" cap="none" strike="noStrike">
                <a:solidFill>
                  <a:schemeClr val="dk1"/>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Font typeface="Arial"/>
                <a:buNone/>
              </a:pPr>
              <a:r>
                <a:t/>
              </a:r>
              <a:endParaRPr b="1" i="1" sz="10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Variables Inducidas</a:t>
              </a:r>
            </a:p>
            <a:p>
              <a:pPr indent="0" lvl="0" marL="0" marR="0" rtl="0" algn="l">
                <a:lnSpc>
                  <a:spcPct val="100000"/>
                </a:lnSpc>
                <a:spcBef>
                  <a:spcPts val="0"/>
                </a:spcBef>
                <a:spcAft>
                  <a:spcPts val="0"/>
                </a:spcAft>
                <a:buClr>
                  <a:schemeClr val="dk1"/>
                </a:buClr>
                <a:buFont typeface="Arial"/>
                <a:buNone/>
              </a:pPr>
              <a:r>
                <a:t/>
              </a:r>
              <a:endParaRPr b="1" i="1"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chemeClr val="dk1"/>
                </a:buClr>
                <a:buFont typeface="Arial"/>
                <a:buNone/>
              </a:pPr>
              <a:r>
                <a:t/>
              </a:r>
              <a:endParaRPr b="1" i="1" sz="14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-Producción</a:t>
              </a: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-Empleo</a:t>
              </a: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-Precios</a:t>
              </a: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-Exportaciones</a:t>
              </a:r>
            </a:p>
            <a:p>
              <a:pPr indent="0" lvl="0" marL="0" marR="0" rtl="0" algn="l">
                <a:lnSpc>
                  <a:spcPct val="100000"/>
                </a:lnSpc>
                <a:spcBef>
                  <a:spcPts val="0"/>
                </a:spcBef>
                <a:spcAft>
                  <a:spcPts val="0"/>
                </a:spcAft>
                <a:buClr>
                  <a:srgbClr val="000000"/>
                </a:buClr>
                <a:buSzPct val="25000"/>
                <a:buFont typeface="Verdana"/>
                <a:buNone/>
              </a:pPr>
              <a:r>
                <a:rPr b="1" i="1" lang="en-US" sz="1400" u="none" cap="none" strike="noStrike">
                  <a:solidFill>
                    <a:srgbClr val="000000"/>
                  </a:solidFill>
                  <a:latin typeface="Verdana"/>
                  <a:ea typeface="Verdana"/>
                  <a:cs typeface="Verdana"/>
                  <a:sym typeface="Verdana"/>
                </a:rPr>
                <a:t>-Tasa de interés</a:t>
              </a:r>
            </a:p>
          </p:txBody>
        </p:sp>
        <p:cxnSp>
          <p:nvCxnSpPr>
            <p:cNvPr id="221" name="Shape 221"/>
            <p:cNvCxnSpPr/>
            <p:nvPr/>
          </p:nvCxnSpPr>
          <p:spPr>
            <a:xfrm flipH="1" rot="10800000">
              <a:off x="12636500" y="15547975"/>
              <a:ext cx="571500" cy="1587"/>
            </a:xfrm>
            <a:prstGeom prst="straightConnector1">
              <a:avLst/>
            </a:prstGeom>
            <a:noFill/>
            <a:ln cap="flat" cmpd="sng" w="12700">
              <a:solidFill>
                <a:srgbClr val="000000"/>
              </a:solidFill>
              <a:prstDash val="solid"/>
              <a:miter/>
              <a:headEnd len="med" w="med" type="none"/>
              <a:tailEnd len="lg" w="lg" type="stealth"/>
            </a:ln>
          </p:spPr>
        </p:cxnSp>
      </p:grpSp>
      <p:pic>
        <p:nvPicPr>
          <p:cNvPr id="222" name="Shape 222"/>
          <p:cNvPicPr preferRelativeResize="0"/>
          <p:nvPr>
            <p:ph idx="1" type="body"/>
          </p:nvPr>
        </p:nvPicPr>
        <p:blipFill rotWithShape="1">
          <a:blip r:embed="rId3">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6" name="Shape 226"/>
        <p:cNvGrpSpPr/>
        <p:nvPr/>
      </p:nvGrpSpPr>
      <p:grpSpPr>
        <a:xfrm>
          <a:off x="0" y="0"/>
          <a:ext cx="0" cy="0"/>
          <a:chOff x="0" y="0"/>
          <a:chExt cx="0" cy="0"/>
        </a:xfrm>
      </p:grpSpPr>
      <p:sp>
        <p:nvSpPr>
          <p:cNvPr id="227" name="Shape 227"/>
          <p:cNvSpPr txBox="1"/>
          <p:nvPr/>
        </p:nvSpPr>
        <p:spPr>
          <a:xfrm>
            <a:off x="4997450" y="2420936"/>
            <a:ext cx="511174" cy="441324"/>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Y</a:t>
            </a:r>
          </a:p>
        </p:txBody>
      </p:sp>
      <p:sp>
        <p:nvSpPr>
          <p:cNvPr id="228" name="Shape 228"/>
          <p:cNvSpPr txBox="1"/>
          <p:nvPr/>
        </p:nvSpPr>
        <p:spPr>
          <a:xfrm>
            <a:off x="5651500" y="4846637"/>
            <a:ext cx="3255962" cy="454024"/>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990000"/>
              </a:buClr>
              <a:buSzPct val="25000"/>
              <a:buFont typeface="Arial"/>
              <a:buNone/>
            </a:pPr>
            <a:r>
              <a:rPr b="1" i="0" lang="en-US" sz="1000" u="none" cap="none" strike="noStrike">
                <a:solidFill>
                  <a:srgbClr val="990000"/>
                </a:solidFill>
                <a:latin typeface="Arial"/>
                <a:ea typeface="Arial"/>
                <a:cs typeface="Arial"/>
                <a:sym typeface="Arial"/>
              </a:rPr>
              <a:t>Giros al Exterior (DIVISAS)</a:t>
            </a:r>
          </a:p>
        </p:txBody>
      </p:sp>
      <p:sp>
        <p:nvSpPr>
          <p:cNvPr id="229" name="Shape 229"/>
          <p:cNvSpPr txBox="1"/>
          <p:nvPr/>
        </p:nvSpPr>
        <p:spPr>
          <a:xfrm>
            <a:off x="5888037" y="5589587"/>
            <a:ext cx="3255962" cy="454024"/>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990000"/>
              </a:buClr>
              <a:buSzPct val="25000"/>
              <a:buFont typeface="Arial"/>
              <a:buNone/>
            </a:pPr>
            <a:r>
              <a:rPr b="1" i="0" lang="en-US" sz="1000" u="none" cap="none" strike="noStrike">
                <a:solidFill>
                  <a:srgbClr val="990000"/>
                </a:solidFill>
                <a:latin typeface="Arial"/>
                <a:ea typeface="Arial"/>
                <a:cs typeface="Arial"/>
                <a:sym typeface="Arial"/>
              </a:rPr>
              <a:t>Giros al Exterior (DIVISAS)</a:t>
            </a:r>
          </a:p>
        </p:txBody>
      </p:sp>
      <p:sp>
        <p:nvSpPr>
          <p:cNvPr id="230" name="Shape 230"/>
          <p:cNvSpPr txBox="1"/>
          <p:nvPr/>
        </p:nvSpPr>
        <p:spPr>
          <a:xfrm>
            <a:off x="1836736" y="3517900"/>
            <a:ext cx="1727199" cy="342899"/>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33"/>
              </a:buClr>
              <a:buSzPct val="25000"/>
              <a:buFont typeface="Arial"/>
              <a:buNone/>
            </a:pPr>
            <a:r>
              <a:rPr b="1" i="0" lang="en-US" sz="1000" u="none" cap="none" strike="noStrike">
                <a:solidFill>
                  <a:srgbClr val="FF0033"/>
                </a:solidFill>
                <a:latin typeface="Arial"/>
                <a:ea typeface="Arial"/>
                <a:cs typeface="Arial"/>
                <a:sym typeface="Arial"/>
              </a:rPr>
              <a:t>Gasto Público ($)</a:t>
            </a:r>
          </a:p>
        </p:txBody>
      </p:sp>
      <p:sp>
        <p:nvSpPr>
          <p:cNvPr id="231" name="Shape 231"/>
          <p:cNvSpPr txBox="1"/>
          <p:nvPr/>
        </p:nvSpPr>
        <p:spPr>
          <a:xfrm>
            <a:off x="3492500" y="3141661"/>
            <a:ext cx="1727199" cy="342899"/>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33"/>
              </a:buClr>
              <a:buSzPct val="25000"/>
              <a:buFont typeface="Arial"/>
              <a:buNone/>
            </a:pPr>
            <a:r>
              <a:rPr b="1" i="0" lang="en-US" sz="1000" u="none" cap="none" strike="noStrike">
                <a:solidFill>
                  <a:srgbClr val="FF0033"/>
                </a:solidFill>
                <a:latin typeface="Arial"/>
                <a:ea typeface="Arial"/>
                <a:cs typeface="Arial"/>
                <a:sym typeface="Arial"/>
              </a:rPr>
              <a:t>Gasto Público ($)</a:t>
            </a:r>
          </a:p>
        </p:txBody>
      </p:sp>
      <p:sp>
        <p:nvSpPr>
          <p:cNvPr id="232" name="Shape 232"/>
          <p:cNvSpPr txBox="1"/>
          <p:nvPr/>
        </p:nvSpPr>
        <p:spPr>
          <a:xfrm>
            <a:off x="1908175" y="4076700"/>
            <a:ext cx="1141411" cy="215899"/>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B/S Útiles</a:t>
            </a:r>
          </a:p>
        </p:txBody>
      </p:sp>
      <p:sp>
        <p:nvSpPr>
          <p:cNvPr id="233" name="Shape 233"/>
          <p:cNvSpPr txBox="1"/>
          <p:nvPr/>
        </p:nvSpPr>
        <p:spPr>
          <a:xfrm>
            <a:off x="2027236" y="2676525"/>
            <a:ext cx="960436" cy="176212"/>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Servicios </a:t>
            </a:r>
          </a:p>
        </p:txBody>
      </p:sp>
      <p:sp>
        <p:nvSpPr>
          <p:cNvPr id="234" name="Shape 234"/>
          <p:cNvSpPr txBox="1"/>
          <p:nvPr/>
        </p:nvSpPr>
        <p:spPr>
          <a:xfrm>
            <a:off x="3497262" y="2708275"/>
            <a:ext cx="1722437" cy="360362"/>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00"/>
              </a:buClr>
              <a:buSzPct val="25000"/>
              <a:buFont typeface="Arial"/>
              <a:buNone/>
            </a:pPr>
            <a:r>
              <a:rPr b="1" i="0" lang="en-US" sz="1000" u="none" cap="none" strike="noStrike">
                <a:solidFill>
                  <a:srgbClr val="FF0000"/>
                </a:solidFill>
                <a:latin typeface="Arial"/>
                <a:ea typeface="Arial"/>
                <a:cs typeface="Arial"/>
                <a:sym typeface="Arial"/>
              </a:rPr>
              <a:t>Impuestos ($) indirectos</a:t>
            </a:r>
          </a:p>
        </p:txBody>
      </p:sp>
      <p:sp>
        <p:nvSpPr>
          <p:cNvPr id="235" name="Shape 235"/>
          <p:cNvSpPr txBox="1"/>
          <p:nvPr/>
        </p:nvSpPr>
        <p:spPr>
          <a:xfrm>
            <a:off x="3132136" y="2276475"/>
            <a:ext cx="1800225" cy="342899"/>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00"/>
              </a:buClr>
              <a:buSzPct val="25000"/>
              <a:buFont typeface="Arial"/>
              <a:buNone/>
            </a:pPr>
            <a:r>
              <a:rPr b="1" i="0" lang="en-US" sz="1000" u="none" cap="none" strike="noStrike">
                <a:solidFill>
                  <a:srgbClr val="FF0000"/>
                </a:solidFill>
                <a:latin typeface="Arial"/>
                <a:ea typeface="Arial"/>
                <a:cs typeface="Arial"/>
                <a:sym typeface="Arial"/>
              </a:rPr>
              <a:t>Impuestos ($)  directos</a:t>
            </a:r>
          </a:p>
        </p:txBody>
      </p:sp>
      <p:sp>
        <p:nvSpPr>
          <p:cNvPr id="236" name="Shape 236"/>
          <p:cNvSpPr txBox="1"/>
          <p:nvPr/>
        </p:nvSpPr>
        <p:spPr>
          <a:xfrm>
            <a:off x="1939925" y="2349500"/>
            <a:ext cx="1119187" cy="287337"/>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00"/>
              </a:buClr>
              <a:buSzPct val="25000"/>
              <a:buFont typeface="Arial"/>
              <a:buNone/>
            </a:pPr>
            <a:r>
              <a:rPr b="1" i="0" lang="en-US" sz="1000" u="none" cap="none" strike="noStrike">
                <a:solidFill>
                  <a:srgbClr val="FF0000"/>
                </a:solidFill>
                <a:latin typeface="Arial"/>
                <a:ea typeface="Arial"/>
                <a:cs typeface="Arial"/>
                <a:sym typeface="Arial"/>
              </a:rPr>
              <a:t>Subsidios ($)</a:t>
            </a:r>
          </a:p>
        </p:txBody>
      </p:sp>
      <p:sp>
        <p:nvSpPr>
          <p:cNvPr id="237" name="Shape 237"/>
          <p:cNvSpPr txBox="1"/>
          <p:nvPr/>
        </p:nvSpPr>
        <p:spPr>
          <a:xfrm>
            <a:off x="971550" y="2565400"/>
            <a:ext cx="360362" cy="288925"/>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Yd</a:t>
            </a:r>
          </a:p>
        </p:txBody>
      </p:sp>
      <p:sp>
        <p:nvSpPr>
          <p:cNvPr id="238" name="Shape 238"/>
          <p:cNvSpPr txBox="1"/>
          <p:nvPr/>
        </p:nvSpPr>
        <p:spPr>
          <a:xfrm>
            <a:off x="1619250" y="1773236"/>
            <a:ext cx="3024187" cy="215899"/>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rgbClr val="FF0000"/>
              </a:buClr>
              <a:buSzPct val="25000"/>
              <a:buFont typeface="Arial"/>
              <a:buNone/>
            </a:pPr>
            <a:r>
              <a:rPr b="1" i="0" lang="en-US" sz="1000" u="none" cap="none" strike="noStrike">
                <a:solidFill>
                  <a:srgbClr val="FF0000"/>
                </a:solidFill>
                <a:latin typeface="Arial"/>
                <a:ea typeface="Arial"/>
                <a:cs typeface="Arial"/>
                <a:sym typeface="Arial"/>
              </a:rPr>
              <a:t>Renta de los factores de la Producción ($)</a:t>
            </a:r>
          </a:p>
        </p:txBody>
      </p:sp>
      <p:sp>
        <p:nvSpPr>
          <p:cNvPr id="239" name="Shape 239"/>
          <p:cNvSpPr txBox="1"/>
          <p:nvPr/>
        </p:nvSpPr>
        <p:spPr>
          <a:xfrm>
            <a:off x="4429125" y="1341437"/>
            <a:ext cx="2447925" cy="360362"/>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Aporte de factores Producción (B/S)</a:t>
            </a:r>
          </a:p>
        </p:txBody>
      </p:sp>
      <p:sp>
        <p:nvSpPr>
          <p:cNvPr id="240" name="Shape 240"/>
          <p:cNvSpPr txBox="1"/>
          <p:nvPr/>
        </p:nvSpPr>
        <p:spPr>
          <a:xfrm>
            <a:off x="6249987" y="3429000"/>
            <a:ext cx="1562099" cy="504824"/>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Exportaciones (B/S)</a:t>
            </a:r>
          </a:p>
        </p:txBody>
      </p:sp>
      <p:sp>
        <p:nvSpPr>
          <p:cNvPr id="241" name="Shape 241"/>
          <p:cNvSpPr txBox="1"/>
          <p:nvPr>
            <p:ph type="title"/>
          </p:nvPr>
        </p:nvSpPr>
        <p:spPr>
          <a:xfrm>
            <a:off x="3409950" y="115886"/>
            <a:ext cx="4833937" cy="1157287"/>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MODELO MACROECONÓMICO</a:t>
            </a:r>
          </a:p>
        </p:txBody>
      </p:sp>
      <p:pic>
        <p:nvPicPr>
          <p:cNvPr id="242" name="Shape 242"/>
          <p:cNvPicPr preferRelativeResize="0"/>
          <p:nvPr>
            <p:ph idx="1" type="body"/>
          </p:nvPr>
        </p:nvPicPr>
        <p:blipFill rotWithShape="1">
          <a:blip r:embed="rId3">
            <a:alphaModFix/>
          </a:blip>
          <a:srcRect b="0" l="0" r="0" t="0"/>
          <a:stretch/>
        </p:blipFill>
        <p:spPr>
          <a:xfrm>
            <a:off x="179386" y="188911"/>
            <a:ext cx="3009899" cy="609599"/>
          </a:xfrm>
          <a:prstGeom prst="rect">
            <a:avLst/>
          </a:prstGeom>
          <a:noFill/>
          <a:ln>
            <a:noFill/>
          </a:ln>
        </p:spPr>
      </p:pic>
      <p:sp>
        <p:nvSpPr>
          <p:cNvPr id="243" name="Shape 243"/>
          <p:cNvSpPr txBox="1"/>
          <p:nvPr/>
        </p:nvSpPr>
        <p:spPr>
          <a:xfrm>
            <a:off x="611187" y="2852736"/>
            <a:ext cx="1368425" cy="571500"/>
          </a:xfrm>
          <a:prstGeom prst="rect">
            <a:avLst/>
          </a:prstGeom>
          <a:solidFill>
            <a:srgbClr val="00FFFF"/>
          </a:solidFill>
          <a:ln cap="flat" cmpd="sng" w="12700">
            <a:solidFill>
              <a:srgbClr val="000000"/>
            </a:solidFill>
            <a:prstDash val="solid"/>
            <a:miter/>
            <a:headEnd len="med" w="med" type="none"/>
            <a:tailEnd len="med" w="med" type="none"/>
          </a:ln>
        </p:spPr>
        <p:txBody>
          <a:bodyPr anchorCtr="0" anchor="t" bIns="31250" lIns="62525" rIns="62525" tIns="31250">
            <a:noAutofit/>
          </a:bodyPr>
          <a:lstStyle/>
          <a:p>
            <a:pPr indent="0" lvl="0" marL="0" marR="0" rtl="0" algn="l">
              <a:lnSpc>
                <a:spcPct val="100000"/>
              </a:lnSpc>
              <a:spcBef>
                <a:spcPts val="0"/>
              </a:spcBef>
              <a:spcAft>
                <a:spcPts val="0"/>
              </a:spcAft>
              <a:buClr>
                <a:schemeClr val="dk1"/>
              </a:buClr>
              <a:buFont typeface="Arial"/>
              <a:buNone/>
            </a:pPr>
            <a:r>
              <a:t/>
            </a:r>
            <a:endParaRPr b="1"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Sector de los Consumidores</a:t>
            </a:r>
          </a:p>
        </p:txBody>
      </p:sp>
      <p:sp>
        <p:nvSpPr>
          <p:cNvPr id="244" name="Shape 244"/>
          <p:cNvSpPr txBox="1"/>
          <p:nvPr/>
        </p:nvSpPr>
        <p:spPr>
          <a:xfrm>
            <a:off x="2843211" y="2708275"/>
            <a:ext cx="603249" cy="830261"/>
          </a:xfrm>
          <a:prstGeom prst="rect">
            <a:avLst/>
          </a:prstGeom>
          <a:solidFill>
            <a:srgbClr val="00FFFF"/>
          </a:solidFill>
          <a:ln cap="flat" cmpd="sng" w="9525">
            <a:solidFill>
              <a:srgbClr val="000000"/>
            </a:solidFill>
            <a:prstDash val="solid"/>
            <a:miter/>
            <a:headEnd len="med" w="med" type="none"/>
            <a:tailEnd len="med" w="med" type="none"/>
          </a:ln>
        </p:spPr>
        <p:txBody>
          <a:bodyPr anchorCtr="0" anchor="t" bIns="31250" lIns="62525" rIns="62525" tIns="31250">
            <a:noAutofit/>
          </a:bodyPr>
          <a:lstStyle/>
          <a:p>
            <a:pPr indent="0" lvl="0" marL="0" marR="0" rtl="0" algn="ctr">
              <a:lnSpc>
                <a:spcPct val="100000"/>
              </a:lnSpc>
              <a:spcBef>
                <a:spcPts val="0"/>
              </a:spcBef>
              <a:spcAft>
                <a:spcPts val="0"/>
              </a:spcAft>
              <a:buClr>
                <a:schemeClr val="dk1"/>
              </a:buClr>
              <a:buFont typeface="Arial"/>
              <a:buNone/>
            </a:pPr>
            <a:r>
              <a:t/>
            </a:r>
            <a:endParaRPr b="1"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Sector del </a:t>
            </a:r>
          </a:p>
          <a:p>
            <a:pPr indent="0" lvl="0" marL="0" marR="0" rtl="0" algn="ctr">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Estado</a:t>
            </a:r>
          </a:p>
        </p:txBody>
      </p:sp>
      <p:sp>
        <p:nvSpPr>
          <p:cNvPr id="245" name="Shape 245"/>
          <p:cNvSpPr txBox="1"/>
          <p:nvPr/>
        </p:nvSpPr>
        <p:spPr>
          <a:xfrm>
            <a:off x="5076825" y="2924175"/>
            <a:ext cx="711200" cy="849312"/>
          </a:xfrm>
          <a:prstGeom prst="rect">
            <a:avLst/>
          </a:prstGeom>
          <a:solidFill>
            <a:srgbClr val="00FFFF"/>
          </a:solidFill>
          <a:ln cap="flat" cmpd="sng" w="9525">
            <a:solidFill>
              <a:srgbClr val="000000"/>
            </a:solidFill>
            <a:prstDash val="solid"/>
            <a:miter/>
            <a:headEnd len="med" w="med" type="none"/>
            <a:tailEnd len="med" w="med" type="none"/>
          </a:ln>
        </p:spPr>
        <p:txBody>
          <a:bodyPr anchorCtr="0" anchor="t" bIns="31250" lIns="62525" rIns="62525" tIns="31250">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Sector </a:t>
            </a:r>
          </a:p>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de los Negocios</a:t>
            </a:r>
          </a:p>
        </p:txBody>
      </p:sp>
      <p:sp>
        <p:nvSpPr>
          <p:cNvPr id="246" name="Shape 246"/>
          <p:cNvSpPr txBox="1"/>
          <p:nvPr/>
        </p:nvSpPr>
        <p:spPr>
          <a:xfrm>
            <a:off x="7667625" y="2997200"/>
            <a:ext cx="792162" cy="711200"/>
          </a:xfrm>
          <a:prstGeom prst="rect">
            <a:avLst/>
          </a:prstGeom>
          <a:solidFill>
            <a:srgbClr val="00FFFF"/>
          </a:solidFill>
          <a:ln cap="flat" cmpd="sng" w="9525">
            <a:solidFill>
              <a:srgbClr val="000000"/>
            </a:solidFill>
            <a:prstDash val="solid"/>
            <a:miter/>
            <a:headEnd len="med" w="med" type="none"/>
            <a:tailEnd len="med" w="med" type="none"/>
          </a:ln>
        </p:spPr>
        <p:txBody>
          <a:bodyPr anchorCtr="0" anchor="t" bIns="31250" lIns="62525" rIns="62525" tIns="31250">
            <a:noAutofit/>
          </a:bodyPr>
          <a:lstStyle/>
          <a:p>
            <a:pPr indent="0" lvl="0" marL="0" marR="0" rtl="0" algn="ctr">
              <a:lnSpc>
                <a:spcPct val="100000"/>
              </a:lnSpc>
              <a:spcBef>
                <a:spcPts val="0"/>
              </a:spcBef>
              <a:spcAft>
                <a:spcPts val="0"/>
              </a:spcAft>
              <a:buClr>
                <a:schemeClr val="dk1"/>
              </a:buClr>
              <a:buFont typeface="Arial"/>
              <a:buNone/>
            </a:pPr>
            <a:r>
              <a:t/>
            </a:r>
            <a:endParaRPr b="1" i="0" sz="1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Sector Externo</a:t>
            </a:r>
          </a:p>
        </p:txBody>
      </p:sp>
      <p:sp>
        <p:nvSpPr>
          <p:cNvPr id="247" name="Shape 247"/>
          <p:cNvSpPr/>
          <p:nvPr/>
        </p:nvSpPr>
        <p:spPr>
          <a:xfrm>
            <a:off x="395287" y="1557337"/>
            <a:ext cx="5305425" cy="1339850"/>
          </a:xfrm>
          <a:custGeom>
            <a:pathLst>
              <a:path extrusionOk="0" h="120000" w="120000">
                <a:moveTo>
                  <a:pt x="4560" y="118293"/>
                </a:moveTo>
                <a:cubicBezTo>
                  <a:pt x="6570" y="101516"/>
                  <a:pt x="0" y="34834"/>
                  <a:pt x="16552" y="17914"/>
                </a:cubicBezTo>
                <a:cubicBezTo>
                  <a:pt x="33105" y="995"/>
                  <a:pt x="87971" y="0"/>
                  <a:pt x="103985" y="17061"/>
                </a:cubicBezTo>
                <a:cubicBezTo>
                  <a:pt x="120000" y="34123"/>
                  <a:pt x="110843" y="98530"/>
                  <a:pt x="112639" y="120000"/>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8" name="Shape 248"/>
          <p:cNvSpPr/>
          <p:nvPr/>
        </p:nvSpPr>
        <p:spPr>
          <a:xfrm>
            <a:off x="5508625" y="1628775"/>
            <a:ext cx="2757486" cy="1358899"/>
          </a:xfrm>
          <a:custGeom>
            <a:pathLst>
              <a:path extrusionOk="0" h="120000" w="120000">
                <a:moveTo>
                  <a:pt x="8221" y="114953"/>
                </a:moveTo>
                <a:cubicBezTo>
                  <a:pt x="9464" y="98691"/>
                  <a:pt x="0" y="33644"/>
                  <a:pt x="15889" y="17383"/>
                </a:cubicBezTo>
                <a:cubicBezTo>
                  <a:pt x="31778" y="1121"/>
                  <a:pt x="86977" y="0"/>
                  <a:pt x="103488" y="17102"/>
                </a:cubicBezTo>
                <a:cubicBezTo>
                  <a:pt x="119999" y="34205"/>
                  <a:pt x="112607" y="98551"/>
                  <a:pt x="115025" y="120000"/>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49" name="Shape 249"/>
          <p:cNvSpPr/>
          <p:nvPr/>
        </p:nvSpPr>
        <p:spPr>
          <a:xfrm>
            <a:off x="1187450" y="3429000"/>
            <a:ext cx="4156075" cy="954086"/>
          </a:xfrm>
          <a:custGeom>
            <a:pathLst>
              <a:path extrusionOk="0" h="120000" w="120000">
                <a:moveTo>
                  <a:pt x="113537" y="43527"/>
                </a:moveTo>
                <a:cubicBezTo>
                  <a:pt x="111932" y="54708"/>
                  <a:pt x="120000" y="100831"/>
                  <a:pt x="103773" y="110415"/>
                </a:cubicBezTo>
                <a:cubicBezTo>
                  <a:pt x="87547" y="120000"/>
                  <a:pt x="32085" y="119400"/>
                  <a:pt x="16042" y="101031"/>
                </a:cubicBezTo>
                <a:cubicBezTo>
                  <a:pt x="0" y="82662"/>
                  <a:pt x="9350" y="21164"/>
                  <a:pt x="7563" y="0"/>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50" name="Shape 250"/>
          <p:cNvCxnSpPr/>
          <p:nvPr/>
        </p:nvCxnSpPr>
        <p:spPr>
          <a:xfrm>
            <a:off x="1979611" y="2924175"/>
            <a:ext cx="863599" cy="0"/>
          </a:xfrm>
          <a:prstGeom prst="straightConnector1">
            <a:avLst/>
          </a:prstGeom>
          <a:noFill/>
          <a:ln cap="flat" cmpd="sng" w="9525">
            <a:solidFill>
              <a:schemeClr val="dk1"/>
            </a:solidFill>
            <a:prstDash val="solid"/>
            <a:miter/>
            <a:headEnd len="med" w="med" type="none"/>
            <a:tailEnd len="lg" w="lg" type="triangle"/>
          </a:ln>
        </p:spPr>
      </p:cxnSp>
      <p:cxnSp>
        <p:nvCxnSpPr>
          <p:cNvPr id="251" name="Shape 251"/>
          <p:cNvCxnSpPr/>
          <p:nvPr/>
        </p:nvCxnSpPr>
        <p:spPr>
          <a:xfrm rot="10800000">
            <a:off x="3203575" y="3500436"/>
            <a:ext cx="0" cy="792162"/>
          </a:xfrm>
          <a:prstGeom prst="straightConnector1">
            <a:avLst/>
          </a:prstGeom>
          <a:noFill/>
          <a:ln cap="flat" cmpd="sng" w="9525">
            <a:solidFill>
              <a:schemeClr val="dk1"/>
            </a:solidFill>
            <a:prstDash val="solid"/>
            <a:miter/>
            <a:headEnd len="med" w="med" type="none"/>
            <a:tailEnd len="lg" w="lg" type="triangle"/>
          </a:ln>
        </p:spPr>
      </p:cxnSp>
      <p:cxnSp>
        <p:nvCxnSpPr>
          <p:cNvPr id="252" name="Shape 252"/>
          <p:cNvCxnSpPr/>
          <p:nvPr/>
        </p:nvCxnSpPr>
        <p:spPr>
          <a:xfrm rot="10800000">
            <a:off x="5795962" y="3068636"/>
            <a:ext cx="1871662" cy="0"/>
          </a:xfrm>
          <a:prstGeom prst="straightConnector1">
            <a:avLst/>
          </a:prstGeom>
          <a:noFill/>
          <a:ln cap="flat" cmpd="sng" w="9525">
            <a:solidFill>
              <a:schemeClr val="dk1"/>
            </a:solidFill>
            <a:prstDash val="solid"/>
            <a:miter/>
            <a:headEnd len="med" w="med" type="none"/>
            <a:tailEnd len="lg" w="lg" type="triangle"/>
          </a:ln>
        </p:spPr>
      </p:cxnSp>
      <p:cxnSp>
        <p:nvCxnSpPr>
          <p:cNvPr id="253" name="Shape 253"/>
          <p:cNvCxnSpPr/>
          <p:nvPr/>
        </p:nvCxnSpPr>
        <p:spPr>
          <a:xfrm>
            <a:off x="5795962" y="3644900"/>
            <a:ext cx="1871662" cy="0"/>
          </a:xfrm>
          <a:prstGeom prst="straightConnector1">
            <a:avLst/>
          </a:prstGeom>
          <a:noFill/>
          <a:ln cap="flat" cmpd="sng" w="9525">
            <a:solidFill>
              <a:schemeClr val="dk1"/>
            </a:solidFill>
            <a:prstDash val="solid"/>
            <a:miter/>
            <a:headEnd len="med" w="med" type="none"/>
            <a:tailEnd len="lg" w="lg" type="triangle"/>
          </a:ln>
        </p:spPr>
      </p:cxnSp>
      <p:sp>
        <p:nvSpPr>
          <p:cNvPr id="254" name="Shape 254"/>
          <p:cNvSpPr/>
          <p:nvPr/>
        </p:nvSpPr>
        <p:spPr>
          <a:xfrm>
            <a:off x="755650" y="1916111"/>
            <a:ext cx="4703762" cy="1003300"/>
          </a:xfrm>
          <a:custGeom>
            <a:pathLst>
              <a:path extrusionOk="0" h="120000" w="120000">
                <a:moveTo>
                  <a:pt x="3806" y="110886"/>
                </a:moveTo>
                <a:cubicBezTo>
                  <a:pt x="5953" y="94936"/>
                  <a:pt x="0" y="30000"/>
                  <a:pt x="16645" y="15000"/>
                </a:cubicBezTo>
                <a:cubicBezTo>
                  <a:pt x="33290" y="0"/>
                  <a:pt x="87600" y="3797"/>
                  <a:pt x="103800" y="21265"/>
                </a:cubicBezTo>
                <a:cubicBezTo>
                  <a:pt x="119999" y="38734"/>
                  <a:pt x="111819" y="99493"/>
                  <a:pt x="113925" y="120000"/>
                </a:cubicBezTo>
              </a:path>
            </a:pathLst>
          </a:custGeom>
          <a:noFill/>
          <a:ln cap="flat"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5" name="Shape 255"/>
          <p:cNvSpPr/>
          <p:nvPr/>
        </p:nvSpPr>
        <p:spPr>
          <a:xfrm flipH="1">
            <a:off x="3059111" y="-24871362"/>
            <a:ext cx="22225" cy="8456612"/>
          </a:xfrm>
          <a:custGeom>
            <a:pathLst>
              <a:path extrusionOk="0" h="120000" w="120000">
                <a:moveTo>
                  <a:pt x="0" y="0"/>
                </a:moveTo>
                <a:lnTo>
                  <a:pt x="120000" y="120000"/>
                </a:lnTo>
              </a:path>
            </a:pathLst>
          </a:custGeom>
          <a:noFill/>
          <a:ln cap="flat" cmpd="sng" w="9525">
            <a:solidFill>
              <a:srgbClr val="FF0000"/>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6" name="Shape 256"/>
          <p:cNvSpPr/>
          <p:nvPr/>
        </p:nvSpPr>
        <p:spPr>
          <a:xfrm>
            <a:off x="2916236" y="1989136"/>
            <a:ext cx="1587" cy="647700"/>
          </a:xfrm>
          <a:custGeom>
            <a:pathLst>
              <a:path extrusionOk="0" h="120000" w="120000">
                <a:moveTo>
                  <a:pt x="0" y="120000"/>
                </a:moveTo>
                <a:lnTo>
                  <a:pt x="120000" y="0"/>
                </a:lnTo>
              </a:path>
            </a:pathLst>
          </a:custGeom>
          <a:noFill/>
          <a:ln cap="flat" cmpd="sng" w="9525">
            <a:solidFill>
              <a:srgbClr val="FF0000"/>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7" name="Shape 257"/>
          <p:cNvSpPr/>
          <p:nvPr/>
        </p:nvSpPr>
        <p:spPr>
          <a:xfrm>
            <a:off x="827087" y="3429000"/>
            <a:ext cx="4010025" cy="2087562"/>
          </a:xfrm>
          <a:custGeom>
            <a:pathLst>
              <a:path extrusionOk="0" h="120000" w="120000">
                <a:moveTo>
                  <a:pt x="120000" y="115711"/>
                </a:moveTo>
                <a:cubicBezTo>
                  <a:pt x="109881" y="115893"/>
                  <a:pt x="77672" y="119361"/>
                  <a:pt x="59239" y="116806"/>
                </a:cubicBezTo>
                <a:cubicBezTo>
                  <a:pt x="40807" y="114250"/>
                  <a:pt x="18717" y="120000"/>
                  <a:pt x="9358" y="100562"/>
                </a:cubicBezTo>
                <a:cubicBezTo>
                  <a:pt x="0" y="81125"/>
                  <a:pt x="4418" y="20897"/>
                  <a:pt x="3135" y="0"/>
                </a:cubicBezTo>
              </a:path>
            </a:pathLst>
          </a:custGeom>
          <a:noFill/>
          <a:ln cap="flat" cmpd="sng" w="9525">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58" name="Shape 258"/>
          <p:cNvSpPr txBox="1"/>
          <p:nvPr/>
        </p:nvSpPr>
        <p:spPr>
          <a:xfrm>
            <a:off x="4859337" y="5084762"/>
            <a:ext cx="825499" cy="571500"/>
          </a:xfrm>
          <a:prstGeom prst="rect">
            <a:avLst/>
          </a:prstGeom>
          <a:noFill/>
          <a:ln cap="flat" cmpd="sng" w="9525">
            <a:solidFill>
              <a:srgbClr val="000000"/>
            </a:solidFill>
            <a:prstDash val="solid"/>
            <a:miter/>
            <a:headEnd len="med" w="med" type="none"/>
            <a:tailEnd len="med" w="med" type="none"/>
          </a:ln>
        </p:spPr>
        <p:txBody>
          <a:bodyPr anchorCtr="0" anchor="t" bIns="31250" lIns="62525" rIns="62525" tIns="31250">
            <a:noAutofit/>
          </a:bodyPr>
          <a:lstStyle/>
          <a:p>
            <a:pPr indent="0" lvl="0" marL="0" marR="0" rtl="0" algn="just">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Sistema Bancario</a:t>
            </a:r>
          </a:p>
        </p:txBody>
      </p:sp>
      <p:cxnSp>
        <p:nvCxnSpPr>
          <p:cNvPr id="259" name="Shape 259"/>
          <p:cNvCxnSpPr/>
          <p:nvPr/>
        </p:nvCxnSpPr>
        <p:spPr>
          <a:xfrm rot="10800000">
            <a:off x="5364162" y="3789362"/>
            <a:ext cx="0" cy="1295400"/>
          </a:xfrm>
          <a:prstGeom prst="straightConnector1">
            <a:avLst/>
          </a:prstGeom>
          <a:noFill/>
          <a:ln cap="flat" cmpd="sng" w="9525">
            <a:solidFill>
              <a:srgbClr val="FF0000"/>
            </a:solidFill>
            <a:prstDash val="solid"/>
            <a:miter/>
            <a:headEnd len="med" w="med" type="none"/>
            <a:tailEnd len="lg" w="lg" type="triangle"/>
          </a:ln>
        </p:spPr>
      </p:cxnSp>
      <p:sp>
        <p:nvSpPr>
          <p:cNvPr id="260" name="Shape 260"/>
          <p:cNvSpPr/>
          <p:nvPr/>
        </p:nvSpPr>
        <p:spPr>
          <a:xfrm>
            <a:off x="971550" y="4724400"/>
            <a:ext cx="4367212" cy="4762"/>
          </a:xfrm>
          <a:custGeom>
            <a:pathLst>
              <a:path extrusionOk="0" h="120000" w="120000">
                <a:moveTo>
                  <a:pt x="0" y="120000"/>
                </a:moveTo>
                <a:lnTo>
                  <a:pt x="120000" y="0"/>
                </a:lnTo>
              </a:path>
            </a:pathLst>
          </a:custGeom>
          <a:noFill/>
          <a:ln cap="flat" cmpd="sng" w="9525">
            <a:solidFill>
              <a:srgbClr val="FF0000"/>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1" name="Shape 261"/>
          <p:cNvSpPr/>
          <p:nvPr/>
        </p:nvSpPr>
        <p:spPr>
          <a:xfrm>
            <a:off x="5651500" y="3716337"/>
            <a:ext cx="2747961" cy="1892300"/>
          </a:xfrm>
          <a:custGeom>
            <a:pathLst>
              <a:path extrusionOk="0" h="120000" w="120000">
                <a:moveTo>
                  <a:pt x="116533" y="0"/>
                </a:moveTo>
                <a:cubicBezTo>
                  <a:pt x="116533" y="9765"/>
                  <a:pt x="120000" y="40469"/>
                  <a:pt x="116533" y="58892"/>
                </a:cubicBezTo>
                <a:cubicBezTo>
                  <a:pt x="113067" y="77315"/>
                  <a:pt x="115147" y="101073"/>
                  <a:pt x="95736" y="110536"/>
                </a:cubicBezTo>
                <a:cubicBezTo>
                  <a:pt x="76325" y="120000"/>
                  <a:pt x="19965" y="114865"/>
                  <a:pt x="0" y="115973"/>
                </a:cubicBezTo>
              </a:path>
            </a:pathLst>
          </a:custGeom>
          <a:noFill/>
          <a:ln cap="flat" cmpd="sng" w="9525">
            <a:solidFill>
              <a:srgbClr val="8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62" name="Shape 262"/>
          <p:cNvSpPr/>
          <p:nvPr/>
        </p:nvSpPr>
        <p:spPr>
          <a:xfrm>
            <a:off x="5651500" y="3716337"/>
            <a:ext cx="2366962" cy="1509711"/>
          </a:xfrm>
          <a:custGeom>
            <a:pathLst>
              <a:path extrusionOk="0" h="120000" w="120000">
                <a:moveTo>
                  <a:pt x="115814" y="0"/>
                </a:moveTo>
                <a:cubicBezTo>
                  <a:pt x="115331" y="10725"/>
                  <a:pt x="119999" y="46435"/>
                  <a:pt x="113319" y="65110"/>
                </a:cubicBezTo>
                <a:cubicBezTo>
                  <a:pt x="106720" y="83785"/>
                  <a:pt x="94728" y="103343"/>
                  <a:pt x="75814" y="111671"/>
                </a:cubicBezTo>
                <a:cubicBezTo>
                  <a:pt x="56901" y="120000"/>
                  <a:pt x="15774" y="114321"/>
                  <a:pt x="0" y="114952"/>
                </a:cubicBezTo>
              </a:path>
            </a:pathLst>
          </a:custGeom>
          <a:noFill/>
          <a:ln cap="flat" cmpd="sng" w="9525">
            <a:solidFill>
              <a:srgbClr val="80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263" name="Shape 263"/>
          <p:cNvCxnSpPr/>
          <p:nvPr/>
        </p:nvCxnSpPr>
        <p:spPr>
          <a:xfrm rot="10800000">
            <a:off x="5580062" y="3789361"/>
            <a:ext cx="0" cy="1293811"/>
          </a:xfrm>
          <a:prstGeom prst="straightConnector1">
            <a:avLst/>
          </a:prstGeom>
          <a:noFill/>
          <a:ln cap="flat" cmpd="sng" w="9525">
            <a:solidFill>
              <a:srgbClr val="FF0000"/>
            </a:solidFill>
            <a:prstDash val="solid"/>
            <a:miter/>
            <a:headEnd len="med" w="med" type="none"/>
            <a:tailEnd len="lg" w="lg" type="triangle"/>
          </a:ln>
        </p:spPr>
      </p:cxnSp>
      <p:cxnSp>
        <p:nvCxnSpPr>
          <p:cNvPr id="264" name="Shape 264"/>
          <p:cNvCxnSpPr/>
          <p:nvPr/>
        </p:nvCxnSpPr>
        <p:spPr>
          <a:xfrm>
            <a:off x="3419475" y="3429000"/>
            <a:ext cx="1657350" cy="0"/>
          </a:xfrm>
          <a:prstGeom prst="straightConnector1">
            <a:avLst/>
          </a:prstGeom>
          <a:noFill/>
          <a:ln cap="flat" cmpd="sng" w="9525">
            <a:solidFill>
              <a:srgbClr val="FF0000"/>
            </a:solidFill>
            <a:prstDash val="solid"/>
            <a:miter/>
            <a:headEnd len="med" w="med" type="none"/>
            <a:tailEnd len="lg" w="lg" type="triangle"/>
          </a:ln>
        </p:spPr>
      </p:cxnSp>
      <p:cxnSp>
        <p:nvCxnSpPr>
          <p:cNvPr id="265" name="Shape 265"/>
          <p:cNvCxnSpPr/>
          <p:nvPr/>
        </p:nvCxnSpPr>
        <p:spPr>
          <a:xfrm rot="10800000">
            <a:off x="3419474" y="2997200"/>
            <a:ext cx="1657350" cy="0"/>
          </a:xfrm>
          <a:prstGeom prst="straightConnector1">
            <a:avLst/>
          </a:prstGeom>
          <a:noFill/>
          <a:ln cap="flat" cmpd="sng" w="9525">
            <a:solidFill>
              <a:srgbClr val="FF0000"/>
            </a:solidFill>
            <a:prstDash val="solid"/>
            <a:miter/>
            <a:headEnd len="med" w="med" type="none"/>
            <a:tailEnd len="lg" w="lg" type="triangle"/>
          </a:ln>
        </p:spPr>
      </p:cxnSp>
      <p:cxnSp>
        <p:nvCxnSpPr>
          <p:cNvPr id="266" name="Shape 266"/>
          <p:cNvCxnSpPr/>
          <p:nvPr/>
        </p:nvCxnSpPr>
        <p:spPr>
          <a:xfrm rot="10800000">
            <a:off x="1979611" y="3357562"/>
            <a:ext cx="863599" cy="0"/>
          </a:xfrm>
          <a:prstGeom prst="straightConnector1">
            <a:avLst/>
          </a:prstGeom>
          <a:noFill/>
          <a:ln cap="flat" cmpd="sng" w="9525">
            <a:solidFill>
              <a:srgbClr val="FF0000"/>
            </a:solidFill>
            <a:prstDash val="solid"/>
            <a:miter/>
            <a:headEnd len="med" w="med" type="none"/>
            <a:tailEnd len="lg" w="lg" type="triangle"/>
          </a:ln>
        </p:spPr>
      </p:cxnSp>
      <p:sp>
        <p:nvSpPr>
          <p:cNvPr id="267" name="Shape 267"/>
          <p:cNvSpPr txBox="1"/>
          <p:nvPr/>
        </p:nvSpPr>
        <p:spPr>
          <a:xfrm>
            <a:off x="6084887" y="2852736"/>
            <a:ext cx="1800225" cy="360362"/>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Importaciones  (B/S)</a:t>
            </a:r>
          </a:p>
        </p:txBody>
      </p:sp>
      <p:sp>
        <p:nvSpPr>
          <p:cNvPr id="268" name="Shape 268"/>
          <p:cNvSpPr txBox="1"/>
          <p:nvPr/>
        </p:nvSpPr>
        <p:spPr>
          <a:xfrm>
            <a:off x="3717925" y="4005262"/>
            <a:ext cx="1141411" cy="215899"/>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0"/>
              </a:spcAft>
              <a:buClr>
                <a:schemeClr val="dk1"/>
              </a:buClr>
              <a:buSzPct val="25000"/>
              <a:buFont typeface="Arial"/>
              <a:buNone/>
            </a:pPr>
            <a:r>
              <a:rPr b="1" i="0" lang="en-US" sz="1000" u="none" cap="none" strike="noStrike">
                <a:solidFill>
                  <a:schemeClr val="dk1"/>
                </a:solidFill>
                <a:latin typeface="Arial"/>
                <a:ea typeface="Arial"/>
                <a:cs typeface="Arial"/>
                <a:sym typeface="Arial"/>
              </a:rPr>
              <a:t>B/S Útiles</a:t>
            </a:r>
          </a:p>
        </p:txBody>
      </p:sp>
      <p:sp>
        <p:nvSpPr>
          <p:cNvPr id="269" name="Shape 269"/>
          <p:cNvSpPr txBox="1"/>
          <p:nvPr/>
        </p:nvSpPr>
        <p:spPr>
          <a:xfrm>
            <a:off x="2124075" y="4508500"/>
            <a:ext cx="1279525" cy="203199"/>
          </a:xfrm>
          <a:prstGeom prst="rect">
            <a:avLst/>
          </a:prstGeom>
          <a:noFill/>
          <a:ln>
            <a:noFill/>
          </a:ln>
        </p:spPr>
        <p:txBody>
          <a:bodyPr anchorCtr="0" anchor="t" bIns="39075" lIns="78175" rIns="78175" tIns="39075">
            <a:noAutofit/>
          </a:bodyPr>
          <a:lstStyle/>
          <a:p>
            <a:pPr indent="0" lvl="0" marL="0" marR="0" rtl="0" algn="l">
              <a:lnSpc>
                <a:spcPct val="100000"/>
              </a:lnSpc>
              <a:spcBef>
                <a:spcPts val="0"/>
              </a:spcBef>
              <a:spcAft>
                <a:spcPts val="500"/>
              </a:spcAft>
              <a:buClr>
                <a:srgbClr val="FF0033"/>
              </a:buClr>
              <a:buSzPct val="25000"/>
              <a:buFont typeface="Arial"/>
              <a:buNone/>
            </a:pPr>
            <a:r>
              <a:rPr b="1" i="0" lang="en-US" sz="1000" u="none" cap="none" strike="noStrike">
                <a:solidFill>
                  <a:srgbClr val="FF0033"/>
                </a:solidFill>
                <a:latin typeface="Arial"/>
                <a:ea typeface="Arial"/>
                <a:cs typeface="Arial"/>
                <a:sym typeface="Arial"/>
              </a:rPr>
              <a:t>Consumo ($)</a:t>
            </a:r>
          </a:p>
        </p:txBody>
      </p:sp>
      <p:sp>
        <p:nvSpPr>
          <p:cNvPr id="270" name="Shape 270"/>
          <p:cNvSpPr txBox="1"/>
          <p:nvPr/>
        </p:nvSpPr>
        <p:spPr>
          <a:xfrm>
            <a:off x="2051050" y="5157787"/>
            <a:ext cx="1206499" cy="203199"/>
          </a:xfrm>
          <a:prstGeom prst="rect">
            <a:avLst/>
          </a:prstGeom>
          <a:noFill/>
          <a:ln>
            <a:noFill/>
          </a:ln>
        </p:spPr>
        <p:txBody>
          <a:bodyPr anchorCtr="0" anchor="t" bIns="39075" lIns="78175" rIns="78175" tIns="39075">
            <a:noAutofit/>
          </a:bodyPr>
          <a:lstStyle/>
          <a:p>
            <a:pPr indent="0" lvl="0" marL="0" marR="0" rtl="0" algn="just">
              <a:lnSpc>
                <a:spcPct val="100000"/>
              </a:lnSpc>
              <a:spcBef>
                <a:spcPts val="0"/>
              </a:spcBef>
              <a:spcAft>
                <a:spcPts val="500"/>
              </a:spcAft>
              <a:buClr>
                <a:srgbClr val="FF0033"/>
              </a:buClr>
              <a:buSzPct val="25000"/>
              <a:buFont typeface="Arial"/>
              <a:buNone/>
            </a:pPr>
            <a:r>
              <a:rPr b="1" i="0" lang="en-US" sz="1000" u="none" cap="none" strike="noStrike">
                <a:solidFill>
                  <a:srgbClr val="FF0033"/>
                </a:solidFill>
                <a:latin typeface="Arial"/>
                <a:ea typeface="Arial"/>
                <a:cs typeface="Arial"/>
                <a:sym typeface="Arial"/>
              </a:rPr>
              <a:t>Ahorro ($)</a:t>
            </a:r>
          </a:p>
        </p:txBody>
      </p:sp>
      <p:sp>
        <p:nvSpPr>
          <p:cNvPr id="271" name="Shape 271"/>
          <p:cNvSpPr txBox="1"/>
          <p:nvPr/>
        </p:nvSpPr>
        <p:spPr>
          <a:xfrm>
            <a:off x="5724525" y="4149725"/>
            <a:ext cx="1303337" cy="276224"/>
          </a:xfrm>
          <a:prstGeom prst="rect">
            <a:avLst/>
          </a:prstGeom>
          <a:noFill/>
          <a:ln>
            <a:noFill/>
          </a:ln>
        </p:spPr>
        <p:txBody>
          <a:bodyPr anchorCtr="0" anchor="t" bIns="39075" lIns="78175" rIns="78175" tIns="39075">
            <a:noAutofit/>
          </a:bodyPr>
          <a:lstStyle/>
          <a:p>
            <a:pPr indent="0" lvl="0" marL="0" marR="0" rtl="0" algn="just">
              <a:lnSpc>
                <a:spcPct val="100000"/>
              </a:lnSpc>
              <a:spcBef>
                <a:spcPts val="0"/>
              </a:spcBef>
              <a:spcAft>
                <a:spcPts val="0"/>
              </a:spcAft>
              <a:buClr>
                <a:srgbClr val="FF0033"/>
              </a:buClr>
              <a:buSzPct val="25000"/>
              <a:buFont typeface="Arial"/>
              <a:buNone/>
            </a:pPr>
            <a:r>
              <a:rPr b="1" i="0" lang="en-US" sz="1000" u="none" cap="none" strike="noStrike">
                <a:solidFill>
                  <a:srgbClr val="FF0033"/>
                </a:solidFill>
                <a:latin typeface="Arial"/>
                <a:ea typeface="Arial"/>
                <a:cs typeface="Arial"/>
                <a:sym typeface="Arial"/>
              </a:rPr>
              <a:t>Inversión ($)</a:t>
            </a:r>
          </a:p>
        </p:txBody>
      </p:sp>
      <p:cxnSp>
        <p:nvCxnSpPr>
          <p:cNvPr id="272" name="Shape 272"/>
          <p:cNvCxnSpPr/>
          <p:nvPr/>
        </p:nvCxnSpPr>
        <p:spPr>
          <a:xfrm>
            <a:off x="3132136" y="1989136"/>
            <a:ext cx="0" cy="719136"/>
          </a:xfrm>
          <a:prstGeom prst="straightConnector1">
            <a:avLst/>
          </a:prstGeom>
          <a:noFill/>
          <a:ln cap="flat" cmpd="sng" w="9525">
            <a:solidFill>
              <a:srgbClr val="FF0000"/>
            </a:solidFill>
            <a:prstDash val="solid"/>
            <a:miter/>
            <a:headEnd len="med" w="med" type="none"/>
            <a:tailEnd len="lg" w="lg" type="triangle"/>
          </a:ln>
        </p:spPr>
      </p:cxn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76" name="Shape 276"/>
        <p:cNvGrpSpPr/>
        <p:nvPr/>
      </p:nvGrpSpPr>
      <p:grpSpPr>
        <a:xfrm>
          <a:off x="0" y="0"/>
          <a:ext cx="0" cy="0"/>
          <a:chOff x="0" y="0"/>
          <a:chExt cx="0" cy="0"/>
        </a:xfrm>
      </p:grpSpPr>
      <p:sp>
        <p:nvSpPr>
          <p:cNvPr id="277" name="Shape 277"/>
          <p:cNvSpPr txBox="1"/>
          <p:nvPr>
            <p:ph idx="4294967295" type="title"/>
          </p:nvPr>
        </p:nvSpPr>
        <p:spPr>
          <a:xfrm>
            <a:off x="457200" y="122236"/>
            <a:ext cx="7543800"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SECTOR DE LOS CONSUMIDORES</a:t>
            </a:r>
          </a:p>
        </p:txBody>
      </p:sp>
      <p:sp>
        <p:nvSpPr>
          <p:cNvPr id="278" name="Shape 278"/>
          <p:cNvSpPr txBox="1"/>
          <p:nvPr>
            <p:ph idx="4294967295" type="body"/>
          </p:nvPr>
        </p:nvSpPr>
        <p:spPr>
          <a:xfrm>
            <a:off x="461962" y="2636836"/>
            <a:ext cx="4038599" cy="250190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Sector donde se agrupan </a:t>
            </a:r>
            <a:r>
              <a:rPr b="0" i="0" lang="en-US" sz="2600" u="none" cap="none" strike="noStrike">
                <a:solidFill>
                  <a:srgbClr val="FF0000"/>
                </a:solidFill>
                <a:latin typeface="Arial"/>
                <a:ea typeface="Arial"/>
                <a:cs typeface="Arial"/>
                <a:sym typeface="Arial"/>
              </a:rPr>
              <a:t>las familias</a:t>
            </a:r>
            <a:r>
              <a:rPr b="0" i="0" lang="en-US" sz="2600" u="none" cap="none" strike="noStrike">
                <a:solidFill>
                  <a:schemeClr val="dk1"/>
                </a:solidFill>
                <a:latin typeface="Arial"/>
                <a:ea typeface="Arial"/>
                <a:cs typeface="Arial"/>
                <a:sym typeface="Arial"/>
              </a:rPr>
              <a:t> con la pretensión de satisfacer en forma conjunta sus necesidades utilizando las rentas disponibles.</a:t>
            </a:r>
          </a:p>
        </p:txBody>
      </p:sp>
      <p:pic>
        <p:nvPicPr>
          <p:cNvPr id="279" name="Shape 279"/>
          <p:cNvPicPr preferRelativeResize="0"/>
          <p:nvPr>
            <p:ph idx="4294967295" type="body"/>
          </p:nvPr>
        </p:nvPicPr>
        <p:blipFill rotWithShape="1">
          <a:blip r:embed="rId3">
            <a:alphaModFix/>
          </a:blip>
          <a:srcRect b="0" l="0" r="0" t="0"/>
          <a:stretch/>
        </p:blipFill>
        <p:spPr>
          <a:xfrm>
            <a:off x="5595937" y="2852736"/>
            <a:ext cx="2143125" cy="2143125"/>
          </a:xfrm>
          <a:prstGeom prst="rect">
            <a:avLst/>
          </a:prstGeom>
          <a:noFill/>
          <a:ln>
            <a:noFill/>
          </a:ln>
        </p:spPr>
      </p:pic>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83" name="Shape 283"/>
        <p:cNvGrpSpPr/>
        <p:nvPr/>
      </p:nvGrpSpPr>
      <p:grpSpPr>
        <a:xfrm>
          <a:off x="0" y="0"/>
          <a:ext cx="0" cy="0"/>
          <a:chOff x="0" y="0"/>
          <a:chExt cx="0" cy="0"/>
        </a:xfrm>
      </p:grpSpPr>
      <p:sp>
        <p:nvSpPr>
          <p:cNvPr id="284" name="Shape 284"/>
          <p:cNvSpPr txBox="1"/>
          <p:nvPr>
            <p:ph idx="4294967295" type="title"/>
          </p:nvPr>
        </p:nvSpPr>
        <p:spPr>
          <a:xfrm>
            <a:off x="179386" y="836612"/>
            <a:ext cx="7543800" cy="7969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SECTOR DE LOS NEGOCIOS</a:t>
            </a:r>
          </a:p>
        </p:txBody>
      </p:sp>
      <p:sp>
        <p:nvSpPr>
          <p:cNvPr id="285" name="Shape 285"/>
          <p:cNvSpPr txBox="1"/>
          <p:nvPr>
            <p:ph idx="4294967295" type="body"/>
          </p:nvPr>
        </p:nvSpPr>
        <p:spPr>
          <a:xfrm>
            <a:off x="179386" y="2222500"/>
            <a:ext cx="4537074" cy="3438525"/>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Sector donde se agrupan </a:t>
            </a:r>
            <a:r>
              <a:rPr b="0" i="0" lang="en-US" sz="2600" u="none" cap="none" strike="noStrike">
                <a:solidFill>
                  <a:srgbClr val="FF0000"/>
                </a:solidFill>
                <a:latin typeface="Arial"/>
                <a:ea typeface="Arial"/>
                <a:cs typeface="Arial"/>
                <a:sym typeface="Arial"/>
              </a:rPr>
              <a:t>las empresas</a:t>
            </a:r>
            <a:r>
              <a:rPr b="0" i="0" lang="en-US" sz="2600" u="none" cap="none" strike="noStrike">
                <a:solidFill>
                  <a:schemeClr val="dk1"/>
                </a:solidFill>
                <a:latin typeface="Arial"/>
                <a:ea typeface="Arial"/>
                <a:cs typeface="Arial"/>
                <a:sym typeface="Arial"/>
              </a:rPr>
              <a:t>, que utilizan los factores de la producción aportados por el Sector de los Consumidores y el Sector Externo, para generar los bienes y servicios útiles para satisfacer las necesidades.</a:t>
            </a:r>
          </a:p>
        </p:txBody>
      </p:sp>
      <p:pic>
        <p:nvPicPr>
          <p:cNvPr id="286" name="Shape 286"/>
          <p:cNvPicPr preferRelativeResize="0"/>
          <p:nvPr>
            <p:ph idx="4294967295" type="body"/>
          </p:nvPr>
        </p:nvPicPr>
        <p:blipFill rotWithShape="1">
          <a:blip r:embed="rId3">
            <a:alphaModFix/>
          </a:blip>
          <a:srcRect b="0" l="0" r="0" t="0"/>
          <a:stretch/>
        </p:blipFill>
        <p:spPr>
          <a:xfrm>
            <a:off x="4859337" y="2060575"/>
            <a:ext cx="3960811" cy="4321174"/>
          </a:xfrm>
          <a:prstGeom prst="rect">
            <a:avLst/>
          </a:prstGeom>
          <a:noFill/>
          <a:ln>
            <a:noFill/>
          </a:ln>
        </p:spPr>
      </p:pic>
      <p:pic>
        <p:nvPicPr>
          <p:cNvPr id="287" name="Shape 287"/>
          <p:cNvPicPr preferRelativeResize="0"/>
          <p:nvPr>
            <p:ph idx="4294967295" type="body"/>
          </p:nvPr>
        </p:nvPicPr>
        <p:blipFill rotWithShape="1">
          <a:blip r:embed="rId4">
            <a:alphaModFix/>
          </a:blip>
          <a:srcRect b="0" l="0" r="0" t="0"/>
          <a:stretch/>
        </p:blipFill>
        <p:spPr>
          <a:xfrm>
            <a:off x="122236" y="115886"/>
            <a:ext cx="3009899" cy="609599"/>
          </a:xfrm>
          <a:prstGeom prst="rect">
            <a:avLst/>
          </a:prstGeom>
          <a:noFill/>
          <a:ln>
            <a:noFill/>
          </a:ln>
        </p:spPr>
      </p:pic>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91" name="Shape 291"/>
        <p:cNvGrpSpPr/>
        <p:nvPr/>
      </p:nvGrpSpPr>
      <p:grpSpPr>
        <a:xfrm>
          <a:off x="0" y="0"/>
          <a:ext cx="0" cy="0"/>
          <a:chOff x="0" y="0"/>
          <a:chExt cx="0" cy="0"/>
        </a:xfrm>
      </p:grpSpPr>
      <p:sp>
        <p:nvSpPr>
          <p:cNvPr id="292" name="Shape 292"/>
          <p:cNvSpPr txBox="1"/>
          <p:nvPr>
            <p:ph idx="4294967295" type="title"/>
          </p:nvPr>
        </p:nvSpPr>
        <p:spPr>
          <a:xfrm>
            <a:off x="2978150" y="549275"/>
            <a:ext cx="5194300" cy="7969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SECTOR DEL ESTADO</a:t>
            </a:r>
          </a:p>
        </p:txBody>
      </p:sp>
      <p:sp>
        <p:nvSpPr>
          <p:cNvPr id="293" name="Shape 293"/>
          <p:cNvSpPr txBox="1"/>
          <p:nvPr>
            <p:ph idx="4294967295" type="body"/>
          </p:nvPr>
        </p:nvSpPr>
        <p:spPr>
          <a:xfrm>
            <a:off x="179386" y="1412875"/>
            <a:ext cx="5761036" cy="5184775"/>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Sector destinado a establecer el marco de referencia para el funcionamiento del modelo, en todo lo referente a la voluntad y deseos que pretende la población en su conjunto.</a:t>
            </a:r>
          </a:p>
          <a:p>
            <a:pPr indent="-342900" lvl="0" marL="342900" marR="0" rtl="0" algn="l">
              <a:lnSpc>
                <a:spcPct val="80000"/>
              </a:lnSpc>
              <a:spcBef>
                <a:spcPts val="360"/>
              </a:spcBef>
              <a:spcAft>
                <a:spcPts val="0"/>
              </a:spcAft>
              <a:buClr>
                <a:schemeClr val="dk2"/>
              </a:buClr>
              <a:buSzPct val="25000"/>
              <a:buFont typeface="Noto Sans Symbols"/>
              <a:buNone/>
            </a:pPr>
            <a:r>
              <a:t/>
            </a:r>
            <a:endParaRPr b="0" i="0" sz="1800" u="none" cap="none" strike="noStrike">
              <a:solidFill>
                <a:schemeClr val="dk1"/>
              </a:solidFill>
              <a:latin typeface="Arial"/>
              <a:ea typeface="Arial"/>
              <a:cs typeface="Arial"/>
              <a:sym typeface="Arial"/>
            </a:endParaRPr>
          </a:p>
          <a:p>
            <a:pPr indent="-342900" lvl="0" marL="342900" marR="0" rtl="0" algn="l">
              <a:lnSpc>
                <a:spcPct val="80000"/>
              </a:lnSpc>
              <a:spcBef>
                <a:spcPts val="360"/>
              </a:spcBef>
              <a:spcAft>
                <a:spcPts val="0"/>
              </a:spcAft>
              <a:buClr>
                <a:schemeClr val="dk2"/>
              </a:buClr>
              <a:buSzPct val="25000"/>
              <a:buFont typeface="Noto Sans Symbols"/>
              <a:buNone/>
            </a:pPr>
            <a:r>
              <a:t/>
            </a:r>
            <a:endParaRPr b="0" i="0" sz="1800" u="none" cap="none" strike="noStrike">
              <a:solidFill>
                <a:srgbClr val="FF0000"/>
              </a:solidFill>
              <a:latin typeface="Arial"/>
              <a:ea typeface="Arial"/>
              <a:cs typeface="Arial"/>
              <a:sym typeface="Arial"/>
            </a:endParaRPr>
          </a:p>
          <a:p>
            <a:pPr indent="-342900" lvl="0" marL="342900" marR="0" rtl="0" algn="ctr">
              <a:lnSpc>
                <a:spcPct val="80000"/>
              </a:lnSpc>
              <a:spcBef>
                <a:spcPts val="360"/>
              </a:spcBef>
              <a:spcAft>
                <a:spcPts val="0"/>
              </a:spcAft>
              <a:buClr>
                <a:schemeClr val="dk2"/>
              </a:buClr>
              <a:buSzPct val="25000"/>
              <a:buFont typeface="Noto Sans Symbols"/>
              <a:buNone/>
            </a:pPr>
            <a:r>
              <a:rPr b="1" i="1" lang="en-US" sz="1800" u="none" cap="none" strike="noStrike">
                <a:solidFill>
                  <a:srgbClr val="FF0000"/>
                </a:solidFill>
                <a:latin typeface="Arial"/>
                <a:ea typeface="Arial"/>
                <a:cs typeface="Arial"/>
                <a:sym typeface="Arial"/>
              </a:rPr>
              <a:t>GOBIERNO</a:t>
            </a:r>
          </a:p>
          <a:p>
            <a:pPr indent="-342900" lvl="0" marL="342900" marR="0" rtl="0" algn="l">
              <a:lnSpc>
                <a:spcPct val="80000"/>
              </a:lnSpc>
              <a:spcBef>
                <a:spcPts val="36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El poder ejecutivo haciendo uso de sus funciones es el responsable de llevar adelante las políticas fiscales (aprobadas por el poder legislativo en la Ley de Presupuesto Nacional), mediante la determinación de la recaudación (Impuestos y transferencias (subsidios)) y del gasto e inversión pública.</a:t>
            </a:r>
          </a:p>
          <a:p>
            <a:pPr indent="-342900" lvl="0" marL="342900" marR="0" rtl="0" algn="l">
              <a:lnSpc>
                <a:spcPct val="80000"/>
              </a:lnSpc>
              <a:spcBef>
                <a:spcPts val="360"/>
              </a:spcBef>
              <a:spcAft>
                <a:spcPts val="0"/>
              </a:spcAft>
              <a:buClr>
                <a:schemeClr val="dk2"/>
              </a:buClr>
              <a:buSzPct val="25000"/>
              <a:buFont typeface="Noto Sans Symbols"/>
              <a:buNone/>
            </a:pPr>
            <a:r>
              <a:t/>
            </a:r>
            <a:endParaRPr b="0" i="0" sz="1800" u="none" cap="none" strike="noStrike">
              <a:solidFill>
                <a:srgbClr val="FF0000"/>
              </a:solidFill>
              <a:latin typeface="Arial"/>
              <a:ea typeface="Arial"/>
              <a:cs typeface="Arial"/>
              <a:sym typeface="Arial"/>
            </a:endParaRPr>
          </a:p>
          <a:p>
            <a:pPr indent="-342900" lvl="0" marL="342900" marR="0" rtl="0" algn="ctr">
              <a:lnSpc>
                <a:spcPct val="80000"/>
              </a:lnSpc>
              <a:spcBef>
                <a:spcPts val="360"/>
              </a:spcBef>
              <a:spcAft>
                <a:spcPts val="0"/>
              </a:spcAft>
              <a:buClr>
                <a:schemeClr val="dk2"/>
              </a:buClr>
              <a:buSzPct val="25000"/>
              <a:buFont typeface="Noto Sans Symbols"/>
              <a:buNone/>
            </a:pPr>
            <a:r>
              <a:rPr b="1" i="1" lang="en-US" sz="1800" u="none" cap="none" strike="noStrike">
                <a:solidFill>
                  <a:srgbClr val="FF0000"/>
                </a:solidFill>
                <a:latin typeface="Arial"/>
                <a:ea typeface="Arial"/>
                <a:cs typeface="Arial"/>
                <a:sym typeface="Arial"/>
              </a:rPr>
              <a:t>BANCO CENTRAL</a:t>
            </a:r>
          </a:p>
          <a:p>
            <a:pPr indent="-342900" lvl="0" marL="342900" marR="0" rtl="0" algn="l">
              <a:lnSpc>
                <a:spcPct val="80000"/>
              </a:lnSpc>
              <a:spcBef>
                <a:spcPts val="360"/>
              </a:spcBef>
              <a:spcAft>
                <a:spcPts val="0"/>
              </a:spcAft>
              <a:buClr>
                <a:schemeClr val="dk2"/>
              </a:buClr>
              <a:buSzPct val="25000"/>
              <a:buFont typeface="Noto Sans Symbols"/>
              <a:buNone/>
            </a:pPr>
            <a:r>
              <a:rPr b="0" i="0" lang="en-US" sz="1800" u="none" cap="none" strike="noStrike">
                <a:solidFill>
                  <a:schemeClr val="dk1"/>
                </a:solidFill>
                <a:latin typeface="Arial"/>
                <a:ea typeface="Arial"/>
                <a:cs typeface="Arial"/>
                <a:sym typeface="Arial"/>
              </a:rPr>
              <a:t>Las autoridades del banco central son las responsables de llevar adelante las políticas monetarias para atender las necesidades surgidas de la evolución económica siguiendo los objetivos de mantener el valor de la moneda, evitando la inflación.</a:t>
            </a:r>
          </a:p>
        </p:txBody>
      </p:sp>
      <p:pic>
        <p:nvPicPr>
          <p:cNvPr id="294" name="Shape 294"/>
          <p:cNvPicPr preferRelativeResize="0"/>
          <p:nvPr>
            <p:ph idx="4294967295" type="body"/>
          </p:nvPr>
        </p:nvPicPr>
        <p:blipFill rotWithShape="1">
          <a:blip r:embed="rId3">
            <a:alphaModFix/>
          </a:blip>
          <a:srcRect b="0" l="0" r="0" t="0"/>
          <a:stretch/>
        </p:blipFill>
        <p:spPr>
          <a:xfrm>
            <a:off x="6081712" y="1700211"/>
            <a:ext cx="3062286" cy="2128836"/>
          </a:xfrm>
          <a:prstGeom prst="rect">
            <a:avLst/>
          </a:prstGeom>
          <a:noFill/>
          <a:ln>
            <a:noFill/>
          </a:ln>
        </p:spPr>
      </p:pic>
      <p:pic>
        <p:nvPicPr>
          <p:cNvPr id="295" name="Shape 295"/>
          <p:cNvPicPr preferRelativeResize="0"/>
          <p:nvPr>
            <p:ph idx="4294967295" type="body"/>
          </p:nvPr>
        </p:nvPicPr>
        <p:blipFill rotWithShape="1">
          <a:blip r:embed="rId4">
            <a:alphaModFix/>
          </a:blip>
          <a:srcRect b="0" l="0" r="0" t="0"/>
          <a:stretch/>
        </p:blipFill>
        <p:spPr>
          <a:xfrm>
            <a:off x="6443662" y="4441825"/>
            <a:ext cx="2447925" cy="1866900"/>
          </a:xfrm>
          <a:prstGeom prst="rect">
            <a:avLst/>
          </a:prstGeom>
          <a:noFill/>
          <a:ln>
            <a:noFill/>
          </a:ln>
        </p:spPr>
      </p:pic>
      <p:pic>
        <p:nvPicPr>
          <p:cNvPr id="296" name="Shape 296"/>
          <p:cNvPicPr preferRelativeResize="0"/>
          <p:nvPr/>
        </p:nvPicPr>
        <p:blipFill rotWithShape="1">
          <a:blip r:embed="rId5">
            <a:alphaModFix/>
          </a:blip>
          <a:srcRect b="0" l="0" r="0" t="0"/>
          <a:stretch/>
        </p:blipFill>
        <p:spPr>
          <a:xfrm>
            <a:off x="122236" y="155575"/>
            <a:ext cx="3009899" cy="609599"/>
          </a:xfrm>
          <a:prstGeom prst="rect">
            <a:avLst/>
          </a:prstGeom>
          <a:noFill/>
          <a:ln>
            <a:noFill/>
          </a:ln>
        </p:spPr>
      </p:pic>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0" name="Shape 300"/>
        <p:cNvGrpSpPr/>
        <p:nvPr/>
      </p:nvGrpSpPr>
      <p:grpSpPr>
        <a:xfrm>
          <a:off x="0" y="0"/>
          <a:ext cx="0" cy="0"/>
          <a:chOff x="0" y="0"/>
          <a:chExt cx="0" cy="0"/>
        </a:xfrm>
      </p:grpSpPr>
      <p:sp>
        <p:nvSpPr>
          <p:cNvPr id="301" name="Shape 301"/>
          <p:cNvSpPr txBox="1"/>
          <p:nvPr>
            <p:ph idx="4294967295" type="title"/>
          </p:nvPr>
        </p:nvSpPr>
        <p:spPr>
          <a:xfrm>
            <a:off x="2843211" y="908050"/>
            <a:ext cx="5040312" cy="7207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SECTOR EXTERNO</a:t>
            </a:r>
          </a:p>
        </p:txBody>
      </p:sp>
      <p:sp>
        <p:nvSpPr>
          <p:cNvPr id="302" name="Shape 302"/>
          <p:cNvSpPr txBox="1"/>
          <p:nvPr>
            <p:ph idx="4294967295" type="body"/>
          </p:nvPr>
        </p:nvSpPr>
        <p:spPr>
          <a:xfrm>
            <a:off x="0" y="2184400"/>
            <a:ext cx="4787900" cy="33321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Sector que agrupa </a:t>
            </a:r>
            <a:r>
              <a:rPr b="1" i="0" lang="en-US" sz="2600" u="none" cap="none" strike="noStrike">
                <a:solidFill>
                  <a:srgbClr val="FF0000"/>
                </a:solidFill>
                <a:latin typeface="Arial"/>
                <a:ea typeface="Arial"/>
                <a:cs typeface="Arial"/>
                <a:sym typeface="Arial"/>
              </a:rPr>
              <a:t>al resto del mundo</a:t>
            </a:r>
            <a:r>
              <a:rPr b="0" i="0" lang="en-US" sz="2600" u="none" cap="none" strike="noStrike">
                <a:solidFill>
                  <a:schemeClr val="dk1"/>
                </a:solidFill>
                <a:latin typeface="Arial"/>
                <a:ea typeface="Arial"/>
                <a:cs typeface="Arial"/>
                <a:sym typeface="Arial"/>
              </a:rPr>
              <a:t> y se pretende a través de él, establecer la influencia de las interrelaciones que la población del país mantiene habitualmente con otras organizaciones del resto del mundo.</a:t>
            </a:r>
          </a:p>
        </p:txBody>
      </p:sp>
      <p:pic>
        <p:nvPicPr>
          <p:cNvPr id="303" name="Shape 303"/>
          <p:cNvPicPr preferRelativeResize="0"/>
          <p:nvPr>
            <p:ph idx="4294967295" type="body"/>
          </p:nvPr>
        </p:nvPicPr>
        <p:blipFill rotWithShape="1">
          <a:blip r:embed="rId3">
            <a:alphaModFix/>
          </a:blip>
          <a:srcRect b="0" l="0" r="0" t="0"/>
          <a:stretch/>
        </p:blipFill>
        <p:spPr>
          <a:xfrm>
            <a:off x="4643437" y="1844675"/>
            <a:ext cx="4176711" cy="4608512"/>
          </a:xfrm>
          <a:prstGeom prst="rect">
            <a:avLst/>
          </a:prstGeom>
          <a:noFill/>
          <a:ln>
            <a:noFill/>
          </a:ln>
        </p:spPr>
      </p:pic>
      <p:pic>
        <p:nvPicPr>
          <p:cNvPr id="304" name="Shape 304"/>
          <p:cNvPicPr preferRelativeResize="0"/>
          <p:nvPr>
            <p:ph idx="4294967295" type="body"/>
          </p:nvPr>
        </p:nvPicPr>
        <p:blipFill rotWithShape="1">
          <a:blip r:embed="rId4">
            <a:alphaModFix/>
          </a:blip>
          <a:srcRect b="0" l="0" r="0" t="0"/>
          <a:stretch/>
        </p:blipFill>
        <p:spPr>
          <a:xfrm>
            <a:off x="250825" y="188911"/>
            <a:ext cx="3009899" cy="609599"/>
          </a:xfrm>
          <a:prstGeom prst="rect">
            <a:avLst/>
          </a:prstGeom>
          <a:noFill/>
          <a:ln>
            <a:noFill/>
          </a:ln>
        </p:spPr>
      </p:pic>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8" name="Shape 308"/>
        <p:cNvGrpSpPr/>
        <p:nvPr/>
      </p:nvGrpSpPr>
      <p:grpSpPr>
        <a:xfrm>
          <a:off x="0" y="0"/>
          <a:ext cx="0" cy="0"/>
          <a:chOff x="0" y="0"/>
          <a:chExt cx="0" cy="0"/>
        </a:xfrm>
      </p:grpSpPr>
      <p:sp>
        <p:nvSpPr>
          <p:cNvPr id="309" name="Shape 309"/>
          <p:cNvSpPr txBox="1"/>
          <p:nvPr>
            <p:ph idx="4294967295" type="title"/>
          </p:nvPr>
        </p:nvSpPr>
        <p:spPr>
          <a:xfrm>
            <a:off x="250825" y="836612"/>
            <a:ext cx="7596186" cy="72548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FACTORES DE LA PRODUCCIÓN</a:t>
            </a:r>
          </a:p>
        </p:txBody>
      </p:sp>
      <p:sp>
        <p:nvSpPr>
          <p:cNvPr id="310" name="Shape 310"/>
          <p:cNvSpPr txBox="1"/>
          <p:nvPr>
            <p:ph idx="4294967295" type="body"/>
          </p:nvPr>
        </p:nvSpPr>
        <p:spPr>
          <a:xfrm>
            <a:off x="0" y="1719261"/>
            <a:ext cx="9144000" cy="5138736"/>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Son </a:t>
            </a:r>
            <a:r>
              <a:rPr b="0" i="0" lang="en-US" sz="2600" u="none" cap="none" strike="noStrike">
                <a:solidFill>
                  <a:srgbClr val="FF0000"/>
                </a:solidFill>
                <a:latin typeface="Arial"/>
                <a:ea typeface="Arial"/>
                <a:cs typeface="Arial"/>
                <a:sym typeface="Arial"/>
              </a:rPr>
              <a:t>los recursos (bienes y servicios)</a:t>
            </a:r>
            <a:r>
              <a:rPr b="0" i="0" lang="en-US" sz="2600" u="none" cap="none" strike="noStrike">
                <a:solidFill>
                  <a:schemeClr val="dk1"/>
                </a:solidFill>
                <a:latin typeface="Arial"/>
                <a:ea typeface="Arial"/>
                <a:cs typeface="Arial"/>
                <a:sym typeface="Arial"/>
              </a:rPr>
              <a:t> que utiliza el </a:t>
            </a:r>
            <a:r>
              <a:rPr b="0" i="1" lang="en-US" sz="2600" u="none" cap="none" strike="noStrike">
                <a:solidFill>
                  <a:schemeClr val="dk1"/>
                </a:solidFill>
                <a:latin typeface="Arial"/>
                <a:ea typeface="Arial"/>
                <a:cs typeface="Arial"/>
                <a:sym typeface="Arial"/>
              </a:rPr>
              <a:t>Sector de los Negocios,</a:t>
            </a:r>
            <a:r>
              <a:rPr b="0" i="0" lang="en-US" sz="2600" u="none" cap="none" strike="noStrike">
                <a:solidFill>
                  <a:schemeClr val="dk1"/>
                </a:solidFill>
                <a:latin typeface="Arial"/>
                <a:ea typeface="Arial"/>
                <a:cs typeface="Arial"/>
                <a:sym typeface="Arial"/>
              </a:rPr>
              <a:t> para agregar valor a los bienes. Los propietarios de esos recursos son:</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  -</a:t>
            </a:r>
            <a:r>
              <a:rPr b="0" i="1" lang="en-US" sz="2600" u="none" cap="none" strike="noStrike">
                <a:solidFill>
                  <a:srgbClr val="FF0000"/>
                </a:solidFill>
                <a:latin typeface="Arial"/>
                <a:ea typeface="Arial"/>
                <a:cs typeface="Arial"/>
                <a:sym typeface="Arial"/>
              </a:rPr>
              <a:t>Sector de los Consumidores</a:t>
            </a:r>
            <a:r>
              <a:rPr b="0" i="0" lang="en-US" sz="2600" u="none" cap="none" strike="noStrike">
                <a:solidFill>
                  <a:srgbClr val="FF0000"/>
                </a:solidFill>
                <a:latin typeface="Arial"/>
                <a:ea typeface="Arial"/>
                <a:cs typeface="Arial"/>
                <a:sym typeface="Arial"/>
              </a:rPr>
              <a:t> (familias)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rgbClr val="FF0000"/>
                </a:solidFill>
                <a:latin typeface="Arial"/>
                <a:ea typeface="Arial"/>
                <a:cs typeface="Arial"/>
                <a:sym typeface="Arial"/>
              </a:rPr>
              <a:t>	-</a:t>
            </a:r>
            <a:r>
              <a:rPr b="0" i="1" lang="en-US" sz="2600" u="none" cap="none" strike="noStrike">
                <a:solidFill>
                  <a:srgbClr val="FF0000"/>
                </a:solidFill>
                <a:latin typeface="Arial"/>
                <a:ea typeface="Arial"/>
                <a:cs typeface="Arial"/>
                <a:sym typeface="Arial"/>
              </a:rPr>
              <a:t>Sector Externo</a:t>
            </a:r>
            <a:r>
              <a:rPr b="0" i="0" lang="en-US" sz="2600" u="none" cap="none" strike="noStrike">
                <a:solidFill>
                  <a:schemeClr val="dk1"/>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y estarán dispuestos a entregarlos al </a:t>
            </a:r>
          </a:p>
          <a:p>
            <a:pPr indent="-342900" lvl="0" marL="342900" marR="0" rtl="0" algn="l">
              <a:lnSpc>
                <a:spcPct val="100000"/>
              </a:lnSpc>
              <a:spcBef>
                <a:spcPts val="520"/>
              </a:spcBef>
              <a:spcAft>
                <a:spcPts val="0"/>
              </a:spcAft>
              <a:buClr>
                <a:schemeClr val="dk2"/>
              </a:buClr>
              <a:buSzPct val="25000"/>
              <a:buFont typeface="Noto Sans Symbols"/>
              <a:buNone/>
            </a:pPr>
            <a:r>
              <a:rPr b="0" i="1" lang="en-US" sz="2600" u="none" cap="none" strike="noStrike">
                <a:solidFill>
                  <a:srgbClr val="FF0000"/>
                </a:solidFill>
                <a:latin typeface="Arial"/>
                <a:ea typeface="Arial"/>
                <a:cs typeface="Arial"/>
                <a:sym typeface="Arial"/>
              </a:rPr>
              <a:t>Sector de los Negocios</a:t>
            </a:r>
            <a:r>
              <a:rPr b="0" i="1" lang="en-US" sz="2600" u="none" cap="none" strike="noStrike">
                <a:solidFill>
                  <a:schemeClr val="dk1"/>
                </a:solidFill>
                <a:latin typeface="Arial"/>
                <a:ea typeface="Arial"/>
                <a:cs typeface="Arial"/>
                <a:sym typeface="Arial"/>
              </a:rPr>
              <a:t>,</a:t>
            </a:r>
            <a:r>
              <a:rPr b="0" i="0" lang="en-US" sz="2600" u="none" cap="none" strike="noStrike">
                <a:solidFill>
                  <a:schemeClr val="dk1"/>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si reciben una remuneración monetaria adecuada. </a:t>
            </a:r>
          </a:p>
        </p:txBody>
      </p:sp>
      <p:pic>
        <p:nvPicPr>
          <p:cNvPr id="311" name="Shape 311"/>
          <p:cNvPicPr preferRelativeResize="0"/>
          <p:nvPr>
            <p:ph idx="4294967295" type="body"/>
          </p:nvPr>
        </p:nvPicPr>
        <p:blipFill rotWithShape="1">
          <a:blip r:embed="rId3">
            <a:alphaModFix/>
          </a:blip>
          <a:srcRect b="0" l="0" r="0" t="0"/>
          <a:stretch/>
        </p:blipFill>
        <p:spPr>
          <a:xfrm>
            <a:off x="122236" y="155575"/>
            <a:ext cx="3009899" cy="609599"/>
          </a:xfrm>
          <a:prstGeom prst="rect">
            <a:avLst/>
          </a:prstGeom>
          <a:noFill/>
          <a:ln>
            <a:noFill/>
          </a:ln>
        </p:spPr>
      </p:pic>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15" name="Shape 315"/>
        <p:cNvGrpSpPr/>
        <p:nvPr/>
      </p:nvGrpSpPr>
      <p:grpSpPr>
        <a:xfrm>
          <a:off x="0" y="0"/>
          <a:ext cx="0" cy="0"/>
          <a:chOff x="0" y="0"/>
          <a:chExt cx="0" cy="0"/>
        </a:xfrm>
      </p:grpSpPr>
      <p:sp>
        <p:nvSpPr>
          <p:cNvPr id="316" name="Shape 316"/>
          <p:cNvSpPr txBox="1"/>
          <p:nvPr>
            <p:ph idx="4294967295" type="title"/>
          </p:nvPr>
        </p:nvSpPr>
        <p:spPr>
          <a:xfrm>
            <a:off x="3265486" y="976312"/>
            <a:ext cx="4186236" cy="5810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BIENES ÚTILES</a:t>
            </a:r>
          </a:p>
        </p:txBody>
      </p:sp>
      <p:sp>
        <p:nvSpPr>
          <p:cNvPr id="317" name="Shape 317"/>
          <p:cNvSpPr txBox="1"/>
          <p:nvPr>
            <p:ph idx="4294967295" type="body"/>
          </p:nvPr>
        </p:nvSpPr>
        <p:spPr>
          <a:xfrm>
            <a:off x="179386" y="1719261"/>
            <a:ext cx="8964612" cy="487838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Son </a:t>
            </a:r>
            <a:r>
              <a:rPr b="0" i="0" lang="en-US" sz="2600" u="none" cap="none" strike="noStrike">
                <a:solidFill>
                  <a:srgbClr val="FF0000"/>
                </a:solidFill>
                <a:latin typeface="Arial"/>
                <a:ea typeface="Arial"/>
                <a:cs typeface="Arial"/>
                <a:sym typeface="Arial"/>
              </a:rPr>
              <a:t>los medios materiales</a:t>
            </a:r>
            <a:r>
              <a:rPr b="0" i="0" lang="en-US" sz="2600" u="none" cap="none" strike="noStrike">
                <a:solidFill>
                  <a:schemeClr val="dk1"/>
                </a:solidFill>
                <a:latin typeface="Arial"/>
                <a:ea typeface="Arial"/>
                <a:cs typeface="Arial"/>
                <a:sym typeface="Arial"/>
              </a:rPr>
              <a:t> que satisfacen las necesidades de:</a:t>
            </a:r>
          </a:p>
          <a:p>
            <a:pPr indent="-342900" lvl="0" marL="342900" marR="0" rtl="0" algn="l">
              <a:lnSpc>
                <a:spcPct val="100000"/>
              </a:lnSpc>
              <a:spcBef>
                <a:spcPts val="520"/>
              </a:spcBef>
              <a:spcAft>
                <a:spcPts val="0"/>
              </a:spcAft>
              <a:buClr>
                <a:schemeClr val="dk2"/>
              </a:buClr>
              <a:buSzPct val="25000"/>
              <a:buFont typeface="Noto Sans Symbols"/>
              <a:buNone/>
            </a:pPr>
            <a:r>
              <a:t/>
            </a:r>
            <a:endParaRPr b="0" i="1" sz="2600" u="none" cap="none" strike="noStrike">
              <a:solidFill>
                <a:srgbClr val="FF0000"/>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1" i="1" lang="en-US" sz="2600" u="none" cap="none" strike="noStrike">
                <a:solidFill>
                  <a:srgbClr val="FF0000"/>
                </a:solidFill>
                <a:latin typeface="Arial"/>
                <a:ea typeface="Arial"/>
                <a:cs typeface="Arial"/>
                <a:sym typeface="Arial"/>
              </a:rPr>
              <a:t>Sector de los Consumidores</a:t>
            </a:r>
            <a:r>
              <a:rPr b="1" i="0" lang="en-US" sz="2600" u="none" cap="none" strike="noStrike">
                <a:solidFill>
                  <a:srgbClr val="FF0000"/>
                </a:solidFill>
                <a:latin typeface="Arial"/>
                <a:ea typeface="Arial"/>
                <a:cs typeface="Arial"/>
                <a:sym typeface="Arial"/>
              </a:rPr>
              <a:t> (familias), </a:t>
            </a:r>
          </a:p>
          <a:p>
            <a:pPr indent="-342900" lvl="0" marL="342900" marR="0" rtl="0" algn="l">
              <a:lnSpc>
                <a:spcPct val="100000"/>
              </a:lnSpc>
              <a:spcBef>
                <a:spcPts val="520"/>
              </a:spcBef>
              <a:spcAft>
                <a:spcPts val="0"/>
              </a:spcAft>
              <a:buClr>
                <a:schemeClr val="dk2"/>
              </a:buClr>
              <a:buSzPct val="25000"/>
              <a:buFont typeface="Noto Sans Symbols"/>
              <a:buNone/>
            </a:pPr>
            <a:r>
              <a:rPr b="1" i="1" lang="en-US" sz="2600" u="none" cap="none" strike="noStrike">
                <a:solidFill>
                  <a:srgbClr val="FF0000"/>
                </a:solidFill>
                <a:latin typeface="Arial"/>
                <a:ea typeface="Arial"/>
                <a:cs typeface="Arial"/>
                <a:sym typeface="Arial"/>
              </a:rPr>
              <a:t>Sector del Estado</a:t>
            </a:r>
          </a:p>
          <a:p>
            <a:pPr indent="-342900" lvl="0" marL="342900" marR="0" rtl="0" algn="l">
              <a:lnSpc>
                <a:spcPct val="100000"/>
              </a:lnSpc>
              <a:spcBef>
                <a:spcPts val="520"/>
              </a:spcBef>
              <a:spcAft>
                <a:spcPts val="0"/>
              </a:spcAft>
              <a:buClr>
                <a:schemeClr val="dk2"/>
              </a:buClr>
              <a:buSzPct val="25000"/>
              <a:buFont typeface="Noto Sans Symbols"/>
              <a:buNone/>
            </a:pPr>
            <a:r>
              <a:rPr b="1" i="1" lang="en-US" sz="2600" u="none" cap="none" strike="noStrike">
                <a:solidFill>
                  <a:srgbClr val="FF0000"/>
                </a:solidFill>
                <a:latin typeface="Arial"/>
                <a:ea typeface="Arial"/>
                <a:cs typeface="Arial"/>
                <a:sym typeface="Arial"/>
              </a:rPr>
              <a:t>Sector Externo.</a:t>
            </a:r>
          </a:p>
        </p:txBody>
      </p:sp>
      <p:pic>
        <p:nvPicPr>
          <p:cNvPr id="318" name="Shape 318"/>
          <p:cNvPicPr preferRelativeResize="0"/>
          <p:nvPr>
            <p:ph idx="4294967295" type="body"/>
          </p:nvPr>
        </p:nvPicPr>
        <p:blipFill rotWithShape="1">
          <a:blip r:embed="rId3">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2" name="Shape 322"/>
        <p:cNvGrpSpPr/>
        <p:nvPr/>
      </p:nvGrpSpPr>
      <p:grpSpPr>
        <a:xfrm>
          <a:off x="0" y="0"/>
          <a:ext cx="0" cy="0"/>
          <a:chOff x="0" y="0"/>
          <a:chExt cx="0" cy="0"/>
        </a:xfrm>
      </p:grpSpPr>
      <p:sp>
        <p:nvSpPr>
          <p:cNvPr id="323" name="Shape 323"/>
          <p:cNvSpPr txBox="1"/>
          <p:nvPr>
            <p:ph idx="4294967295" type="title"/>
          </p:nvPr>
        </p:nvSpPr>
        <p:spPr>
          <a:xfrm>
            <a:off x="2114550" y="1047750"/>
            <a:ext cx="5770562" cy="72548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SERVICIOS ÚTILES</a:t>
            </a:r>
          </a:p>
        </p:txBody>
      </p:sp>
      <p:sp>
        <p:nvSpPr>
          <p:cNvPr id="324" name="Shape 324"/>
          <p:cNvSpPr txBox="1"/>
          <p:nvPr>
            <p:ph idx="4294967295" type="body"/>
          </p:nvPr>
        </p:nvSpPr>
        <p:spPr>
          <a:xfrm>
            <a:off x="179386" y="2060575"/>
            <a:ext cx="8964612" cy="4608512"/>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Son </a:t>
            </a:r>
            <a:r>
              <a:rPr b="0" i="0" lang="en-US" sz="2600" u="none" cap="none" strike="noStrike">
                <a:solidFill>
                  <a:srgbClr val="FF0000"/>
                </a:solidFill>
                <a:latin typeface="Arial"/>
                <a:ea typeface="Arial"/>
                <a:cs typeface="Arial"/>
                <a:sym typeface="Arial"/>
              </a:rPr>
              <a:t>las prestaciones realizadas por el ser humano o por objetos materiales a través del ser humano</a:t>
            </a:r>
            <a:r>
              <a:rPr b="0" i="0" lang="en-US" sz="2600" u="none" cap="none" strike="noStrike">
                <a:solidFill>
                  <a:schemeClr val="dk1"/>
                </a:solidFill>
                <a:latin typeface="Arial"/>
                <a:ea typeface="Arial"/>
                <a:cs typeface="Arial"/>
                <a:sym typeface="Arial"/>
              </a:rPr>
              <a:t> que satisfacen las necesidades de:</a:t>
            </a: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1" i="1" lang="en-US" sz="2600" u="none" cap="none" strike="noStrike">
                <a:solidFill>
                  <a:srgbClr val="FF0000"/>
                </a:solidFill>
                <a:latin typeface="Arial"/>
                <a:ea typeface="Arial"/>
                <a:cs typeface="Arial"/>
                <a:sym typeface="Arial"/>
              </a:rPr>
              <a:t>Sector de los Consumidores</a:t>
            </a:r>
            <a:r>
              <a:rPr b="1" i="0" lang="en-US" sz="2600" u="none" cap="none" strike="noStrike">
                <a:solidFill>
                  <a:srgbClr val="FF0000"/>
                </a:solidFill>
                <a:latin typeface="Arial"/>
                <a:ea typeface="Arial"/>
                <a:cs typeface="Arial"/>
                <a:sym typeface="Arial"/>
              </a:rPr>
              <a:t> (familias), </a:t>
            </a:r>
          </a:p>
          <a:p>
            <a:pPr indent="-342900" lvl="0" marL="342900" marR="0" rtl="0" algn="l">
              <a:lnSpc>
                <a:spcPct val="100000"/>
              </a:lnSpc>
              <a:spcBef>
                <a:spcPts val="520"/>
              </a:spcBef>
              <a:spcAft>
                <a:spcPts val="0"/>
              </a:spcAft>
              <a:buClr>
                <a:schemeClr val="dk2"/>
              </a:buClr>
              <a:buSzPct val="25000"/>
              <a:buFont typeface="Noto Sans Symbols"/>
              <a:buNone/>
            </a:pPr>
            <a:r>
              <a:rPr b="1" i="1" lang="en-US" sz="2600" u="none" cap="none" strike="noStrike">
                <a:solidFill>
                  <a:srgbClr val="FF0000"/>
                </a:solidFill>
                <a:latin typeface="Arial"/>
                <a:ea typeface="Arial"/>
                <a:cs typeface="Arial"/>
                <a:sym typeface="Arial"/>
              </a:rPr>
              <a:t>Sector del Estado</a:t>
            </a:r>
          </a:p>
          <a:p>
            <a:pPr indent="-342900" lvl="0" marL="342900" marR="0" rtl="0" algn="l">
              <a:lnSpc>
                <a:spcPct val="100000"/>
              </a:lnSpc>
              <a:spcBef>
                <a:spcPts val="520"/>
              </a:spcBef>
              <a:spcAft>
                <a:spcPts val="0"/>
              </a:spcAft>
              <a:buClr>
                <a:schemeClr val="dk2"/>
              </a:buClr>
              <a:buSzPct val="25000"/>
              <a:buFont typeface="Noto Sans Symbols"/>
              <a:buNone/>
            </a:pPr>
            <a:r>
              <a:rPr b="1" i="1" lang="en-US" sz="2600" u="none" cap="none" strike="noStrike">
                <a:solidFill>
                  <a:srgbClr val="FF0000"/>
                </a:solidFill>
                <a:latin typeface="Arial"/>
                <a:ea typeface="Arial"/>
                <a:cs typeface="Arial"/>
                <a:sym typeface="Arial"/>
              </a:rPr>
              <a:t>Sector Externo.</a:t>
            </a:r>
          </a:p>
        </p:txBody>
      </p:sp>
      <p:pic>
        <p:nvPicPr>
          <p:cNvPr id="325" name="Shape 325"/>
          <p:cNvPicPr preferRelativeResize="0"/>
          <p:nvPr>
            <p:ph idx="4294967295" type="body"/>
          </p:nvPr>
        </p:nvPicPr>
        <p:blipFill rotWithShape="1">
          <a:blip r:embed="rId3">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29" name="Shape 329"/>
        <p:cNvGrpSpPr/>
        <p:nvPr/>
      </p:nvGrpSpPr>
      <p:grpSpPr>
        <a:xfrm>
          <a:off x="0" y="0"/>
          <a:ext cx="0" cy="0"/>
          <a:chOff x="0" y="0"/>
          <a:chExt cx="0" cy="0"/>
        </a:xfrm>
      </p:grpSpPr>
      <p:sp>
        <p:nvSpPr>
          <p:cNvPr id="330" name="Shape 330"/>
          <p:cNvSpPr txBox="1"/>
          <p:nvPr>
            <p:ph idx="4294967295" type="title"/>
          </p:nvPr>
        </p:nvSpPr>
        <p:spPr>
          <a:xfrm>
            <a:off x="2257425" y="903287"/>
            <a:ext cx="5627686" cy="72548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OFERTA AGREGADA</a:t>
            </a:r>
          </a:p>
        </p:txBody>
      </p:sp>
      <p:sp>
        <p:nvSpPr>
          <p:cNvPr id="331" name="Shape 331"/>
          <p:cNvSpPr txBox="1"/>
          <p:nvPr>
            <p:ph idx="4294967295" type="body"/>
          </p:nvPr>
        </p:nvSpPr>
        <p:spPr>
          <a:xfrm>
            <a:off x="457200" y="1719261"/>
            <a:ext cx="8435975"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Es el volumen de producción que fabricará y venderá: </a:t>
            </a:r>
          </a:p>
          <a:p>
            <a:pPr indent="-342900" lvl="0" marL="342900" marR="0" rtl="0" algn="l">
              <a:lnSpc>
                <a:spcPct val="90000"/>
              </a:lnSpc>
              <a:spcBef>
                <a:spcPts val="440"/>
              </a:spcBef>
              <a:spcAft>
                <a:spcPts val="0"/>
              </a:spcAft>
              <a:buClr>
                <a:schemeClr val="dk2"/>
              </a:buClr>
              <a:buSzPct val="25000"/>
              <a:buFont typeface="Noto Sans Symbols"/>
              <a:buNone/>
            </a:pPr>
            <a:r>
              <a:rPr b="1" i="0" lang="en-US" sz="2200" u="none" cap="none" strike="noStrike">
                <a:solidFill>
                  <a:srgbClr val="FF0000"/>
                </a:solidFill>
                <a:latin typeface="Arial"/>
                <a:ea typeface="Arial"/>
                <a:cs typeface="Arial"/>
                <a:sym typeface="Arial"/>
              </a:rPr>
              <a:t>El </a:t>
            </a:r>
            <a:r>
              <a:rPr b="1" i="1" lang="en-US" sz="2200" u="none" cap="none" strike="noStrike">
                <a:solidFill>
                  <a:srgbClr val="FF0000"/>
                </a:solidFill>
                <a:latin typeface="Arial"/>
                <a:ea typeface="Arial"/>
                <a:cs typeface="Arial"/>
                <a:sym typeface="Arial"/>
              </a:rPr>
              <a:t>Sector de los Negocios </a:t>
            </a:r>
          </a:p>
          <a:p>
            <a:pPr indent="-342900" lvl="0" marL="342900" marR="0" rtl="0" algn="l">
              <a:lnSpc>
                <a:spcPct val="90000"/>
              </a:lnSpc>
              <a:spcBef>
                <a:spcPts val="440"/>
              </a:spcBef>
              <a:spcAft>
                <a:spcPts val="0"/>
              </a:spcAft>
              <a:buClr>
                <a:schemeClr val="dk2"/>
              </a:buClr>
              <a:buSzPct val="25000"/>
              <a:buFont typeface="Noto Sans Symbols"/>
              <a:buNone/>
            </a:pPr>
            <a:r>
              <a:rPr b="1" i="1" lang="en-US" sz="2200" u="none" cap="none" strike="noStrike">
                <a:solidFill>
                  <a:srgbClr val="FF0000"/>
                </a:solidFill>
                <a:latin typeface="Arial"/>
                <a:ea typeface="Arial"/>
                <a:cs typeface="Arial"/>
                <a:sym typeface="Arial"/>
              </a:rPr>
              <a:t>El Sector Externo</a:t>
            </a:r>
            <a:r>
              <a:rPr b="0" i="0" lang="en-US" sz="2200" u="none" cap="none" strike="noStrike">
                <a:solidFill>
                  <a:schemeClr val="dk1"/>
                </a:solidFill>
                <a:latin typeface="Arial"/>
                <a:ea typeface="Arial"/>
                <a:cs typeface="Arial"/>
                <a:sym typeface="Arial"/>
              </a:rPr>
              <a:t> </a:t>
            </a:r>
          </a:p>
          <a:p>
            <a:pPr indent="-342900" lvl="0" marL="342900" marR="0" rtl="0" algn="l">
              <a:lnSpc>
                <a:spcPct val="90000"/>
              </a:lnSpc>
              <a:spcBef>
                <a:spcPts val="44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dados los precios vigentes, </a:t>
            </a:r>
          </a:p>
          <a:p>
            <a:pPr indent="-342900" lvl="0" marL="342900" marR="0" rtl="0" algn="l">
              <a:lnSpc>
                <a:spcPct val="90000"/>
              </a:lnSpc>
              <a:spcBef>
                <a:spcPts val="44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la capacidad productiva, y </a:t>
            </a:r>
          </a:p>
          <a:p>
            <a:pPr indent="-342900" lvl="0" marL="342900" marR="0" rtl="0" algn="l">
              <a:lnSpc>
                <a:spcPct val="90000"/>
              </a:lnSpc>
              <a:spcBef>
                <a:spcPts val="44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los costos establecidos.</a:t>
            </a:r>
          </a:p>
          <a:p>
            <a:pPr indent="-342900" lvl="0" marL="342900" marR="0" rtl="0" algn="l">
              <a:lnSpc>
                <a:spcPct val="9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9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9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9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90000"/>
              </a:lnSpc>
              <a:spcBef>
                <a:spcPts val="440"/>
              </a:spcBef>
              <a:spcAft>
                <a:spcPts val="0"/>
              </a:spcAft>
              <a:buClr>
                <a:schemeClr val="dk2"/>
              </a:buClr>
              <a:buSzPct val="25000"/>
              <a:buFont typeface="Noto Sans Symbols"/>
              <a:buNone/>
            </a:pPr>
            <a:r>
              <a:t/>
            </a:r>
            <a:endParaRPr b="0" i="0" sz="2200" u="none" cap="none" strike="noStrike">
              <a:solidFill>
                <a:schemeClr val="dk1"/>
              </a:solidFill>
              <a:latin typeface="Arial"/>
              <a:ea typeface="Arial"/>
              <a:cs typeface="Arial"/>
              <a:sym typeface="Arial"/>
            </a:endParaRPr>
          </a:p>
          <a:p>
            <a:pPr indent="-342900" lvl="0" marL="342900" marR="0" rtl="0" algn="l">
              <a:lnSpc>
                <a:spcPct val="90000"/>
              </a:lnSpc>
              <a:spcBef>
                <a:spcPts val="320"/>
              </a:spcBef>
              <a:spcAft>
                <a:spcPts val="0"/>
              </a:spcAft>
              <a:buClr>
                <a:schemeClr val="dk2"/>
              </a:buClr>
              <a:buSzPct val="25000"/>
              <a:buFont typeface="Noto Sans Symbols"/>
              <a:buNone/>
            </a:pPr>
            <a:r>
              <a:rPr b="1" i="1" lang="en-US" sz="1600" u="sng" cap="none" strike="noStrike">
                <a:solidFill>
                  <a:srgbClr val="FF0000"/>
                </a:solidFill>
                <a:latin typeface="Arial"/>
                <a:ea typeface="Arial"/>
                <a:cs typeface="Arial"/>
                <a:sym typeface="Arial"/>
              </a:rPr>
              <a:t>OA = PRODUCTO INTERIOR BRUTO + IMPORTACIONES</a:t>
            </a:r>
          </a:p>
        </p:txBody>
      </p:sp>
      <p:pic>
        <p:nvPicPr>
          <p:cNvPr id="332" name="Shape 332"/>
          <p:cNvPicPr preferRelativeResize="0"/>
          <p:nvPr>
            <p:ph idx="4294967295" type="body"/>
          </p:nvPr>
        </p:nvPicPr>
        <p:blipFill rotWithShape="1">
          <a:blip r:embed="rId3">
            <a:alphaModFix/>
          </a:blip>
          <a:srcRect b="0" l="0" r="0" t="0"/>
          <a:stretch/>
        </p:blipFill>
        <p:spPr>
          <a:xfrm>
            <a:off x="4356100" y="2133600"/>
            <a:ext cx="4608512" cy="3455986"/>
          </a:xfrm>
          <a:prstGeom prst="rect">
            <a:avLst/>
          </a:prstGeom>
          <a:noFill/>
          <a:ln>
            <a:noFill/>
          </a:ln>
        </p:spPr>
      </p:pic>
      <p:pic>
        <p:nvPicPr>
          <p:cNvPr id="333" name="Shape 333"/>
          <p:cNvPicPr preferRelativeResize="0"/>
          <p:nvPr>
            <p:ph idx="4294967295" type="body"/>
          </p:nvPr>
        </p:nvPicPr>
        <p:blipFill rotWithShape="1">
          <a:blip r:embed="rId4">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37" name="Shape 337"/>
        <p:cNvGrpSpPr/>
        <p:nvPr/>
      </p:nvGrpSpPr>
      <p:grpSpPr>
        <a:xfrm>
          <a:off x="0" y="0"/>
          <a:ext cx="0" cy="0"/>
          <a:chOff x="0" y="0"/>
          <a:chExt cx="0" cy="0"/>
        </a:xfrm>
      </p:grpSpPr>
      <p:sp>
        <p:nvSpPr>
          <p:cNvPr id="338" name="Shape 338"/>
          <p:cNvSpPr txBox="1"/>
          <p:nvPr>
            <p:ph idx="4294967295" type="title"/>
          </p:nvPr>
        </p:nvSpPr>
        <p:spPr>
          <a:xfrm>
            <a:off x="2689225" y="903287"/>
            <a:ext cx="5267324" cy="72548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OFERTA AGREGADA</a:t>
            </a:r>
          </a:p>
        </p:txBody>
      </p:sp>
      <p:sp>
        <p:nvSpPr>
          <p:cNvPr id="339" name="Shape 339"/>
          <p:cNvSpPr txBox="1"/>
          <p:nvPr>
            <p:ph idx="4294967295" type="body"/>
          </p:nvPr>
        </p:nvSpPr>
        <p:spPr>
          <a:xfrm>
            <a:off x="457200" y="1719261"/>
            <a:ext cx="4038599" cy="4411661"/>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2"/>
              </a:buClr>
              <a:buSzPct val="25000"/>
              <a:buFont typeface="Noto Sans Symbols"/>
              <a:buNone/>
            </a:pPr>
            <a:r>
              <a:rPr b="1" i="1" lang="en-US" sz="1400" u="sng" cap="none" strike="noStrike">
                <a:solidFill>
                  <a:schemeClr val="dk1"/>
                </a:solidFill>
                <a:latin typeface="Arial"/>
                <a:ea typeface="Arial"/>
                <a:cs typeface="Arial"/>
                <a:sym typeface="Arial"/>
              </a:rPr>
              <a:t>OFERTA AGREGADA</a:t>
            </a:r>
          </a:p>
        </p:txBody>
      </p:sp>
      <p:cxnSp>
        <p:nvCxnSpPr>
          <p:cNvPr id="340" name="Shape 340"/>
          <p:cNvCxnSpPr/>
          <p:nvPr/>
        </p:nvCxnSpPr>
        <p:spPr>
          <a:xfrm>
            <a:off x="1403350" y="1700211"/>
            <a:ext cx="0" cy="4033837"/>
          </a:xfrm>
          <a:prstGeom prst="straightConnector1">
            <a:avLst/>
          </a:prstGeom>
          <a:noFill/>
          <a:ln cap="flat" cmpd="sng" w="9525">
            <a:solidFill>
              <a:schemeClr val="dk1"/>
            </a:solidFill>
            <a:prstDash val="solid"/>
            <a:miter/>
            <a:headEnd len="med" w="med" type="none"/>
            <a:tailEnd len="med" w="med" type="none"/>
          </a:ln>
        </p:spPr>
      </p:cxnSp>
      <p:cxnSp>
        <p:nvCxnSpPr>
          <p:cNvPr id="341" name="Shape 341"/>
          <p:cNvCxnSpPr/>
          <p:nvPr/>
        </p:nvCxnSpPr>
        <p:spPr>
          <a:xfrm>
            <a:off x="971550" y="5589587"/>
            <a:ext cx="6769100" cy="0"/>
          </a:xfrm>
          <a:prstGeom prst="straightConnector1">
            <a:avLst/>
          </a:prstGeom>
          <a:noFill/>
          <a:ln cap="flat" cmpd="sng" w="9525">
            <a:solidFill>
              <a:schemeClr val="dk1"/>
            </a:solidFill>
            <a:prstDash val="solid"/>
            <a:miter/>
            <a:headEnd len="med" w="med" type="none"/>
            <a:tailEnd len="med" w="med" type="none"/>
          </a:ln>
        </p:spPr>
      </p:cxnSp>
      <p:sp>
        <p:nvSpPr>
          <p:cNvPr id="342" name="Shape 342"/>
          <p:cNvSpPr/>
          <p:nvPr/>
        </p:nvSpPr>
        <p:spPr>
          <a:xfrm>
            <a:off x="1476375" y="2492375"/>
            <a:ext cx="4246562" cy="2674937"/>
          </a:xfrm>
          <a:custGeom>
            <a:pathLst>
              <a:path extrusionOk="0" h="120000" w="120000">
                <a:moveTo>
                  <a:pt x="0" y="119786"/>
                </a:moveTo>
                <a:cubicBezTo>
                  <a:pt x="3050" y="119430"/>
                  <a:pt x="9914" y="119999"/>
                  <a:pt x="18302" y="117792"/>
                </a:cubicBezTo>
                <a:cubicBezTo>
                  <a:pt x="26691" y="115584"/>
                  <a:pt x="40463" y="111525"/>
                  <a:pt x="50377" y="106540"/>
                </a:cubicBezTo>
                <a:cubicBezTo>
                  <a:pt x="60291" y="101554"/>
                  <a:pt x="68949" y="97851"/>
                  <a:pt x="77921" y="88023"/>
                </a:cubicBezTo>
                <a:cubicBezTo>
                  <a:pt x="86893" y="78195"/>
                  <a:pt x="97166" y="62314"/>
                  <a:pt x="104164" y="47643"/>
                </a:cubicBezTo>
                <a:cubicBezTo>
                  <a:pt x="111162" y="32973"/>
                  <a:pt x="116725" y="9970"/>
                  <a:pt x="120000" y="0"/>
                </a:cubicBezTo>
              </a:path>
            </a:pathLst>
          </a:custGeom>
          <a:noFill/>
          <a:ln cap="flat" cmpd="sng" w="3175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43" name="Shape 343"/>
          <p:cNvSpPr txBox="1"/>
          <p:nvPr/>
        </p:nvSpPr>
        <p:spPr>
          <a:xfrm>
            <a:off x="107950" y="1700211"/>
            <a:ext cx="1295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NIVEL DE PRECIOS</a:t>
            </a:r>
          </a:p>
        </p:txBody>
      </p:sp>
      <p:sp>
        <p:nvSpPr>
          <p:cNvPr id="344" name="Shape 344"/>
          <p:cNvSpPr txBox="1"/>
          <p:nvPr/>
        </p:nvSpPr>
        <p:spPr>
          <a:xfrm>
            <a:off x="6588125" y="5732462"/>
            <a:ext cx="172878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OFERTA AGREGADA ($)</a:t>
            </a:r>
          </a:p>
        </p:txBody>
      </p:sp>
      <p:cxnSp>
        <p:nvCxnSpPr>
          <p:cNvPr id="345" name="Shape 345"/>
          <p:cNvCxnSpPr/>
          <p:nvPr/>
        </p:nvCxnSpPr>
        <p:spPr>
          <a:xfrm>
            <a:off x="1403350" y="3644900"/>
            <a:ext cx="3673475" cy="0"/>
          </a:xfrm>
          <a:prstGeom prst="straightConnector1">
            <a:avLst/>
          </a:prstGeom>
          <a:noFill/>
          <a:ln cap="flat" cmpd="sng" w="9525">
            <a:solidFill>
              <a:schemeClr val="dk1"/>
            </a:solidFill>
            <a:prstDash val="solid"/>
            <a:miter/>
            <a:headEnd len="med" w="med" type="none"/>
            <a:tailEnd len="med" w="med" type="none"/>
          </a:ln>
        </p:spPr>
      </p:cxnSp>
      <p:cxnSp>
        <p:nvCxnSpPr>
          <p:cNvPr id="346" name="Shape 346"/>
          <p:cNvCxnSpPr/>
          <p:nvPr/>
        </p:nvCxnSpPr>
        <p:spPr>
          <a:xfrm>
            <a:off x="5076825" y="3644900"/>
            <a:ext cx="0" cy="1944687"/>
          </a:xfrm>
          <a:prstGeom prst="straightConnector1">
            <a:avLst/>
          </a:prstGeom>
          <a:noFill/>
          <a:ln cap="flat" cmpd="sng" w="9525">
            <a:solidFill>
              <a:schemeClr val="dk1"/>
            </a:solidFill>
            <a:prstDash val="solid"/>
            <a:miter/>
            <a:headEnd len="med" w="med" type="none"/>
            <a:tailEnd len="med" w="med" type="none"/>
          </a:ln>
        </p:spPr>
      </p:cxnSp>
      <p:sp>
        <p:nvSpPr>
          <p:cNvPr id="347" name="Shape 347"/>
          <p:cNvSpPr txBox="1"/>
          <p:nvPr/>
        </p:nvSpPr>
        <p:spPr>
          <a:xfrm>
            <a:off x="611187" y="3357562"/>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 P(1)</a:t>
            </a:r>
          </a:p>
        </p:txBody>
      </p:sp>
      <p:sp>
        <p:nvSpPr>
          <p:cNvPr id="348" name="Shape 348"/>
          <p:cNvSpPr txBox="1"/>
          <p:nvPr/>
        </p:nvSpPr>
        <p:spPr>
          <a:xfrm>
            <a:off x="4716462" y="5518150"/>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OA(1)</a:t>
            </a:r>
          </a:p>
        </p:txBody>
      </p:sp>
      <p:sp>
        <p:nvSpPr>
          <p:cNvPr id="349" name="Shape 349"/>
          <p:cNvSpPr txBox="1"/>
          <p:nvPr/>
        </p:nvSpPr>
        <p:spPr>
          <a:xfrm>
            <a:off x="4930775" y="3355975"/>
            <a:ext cx="217487"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1</a:t>
            </a:r>
          </a:p>
        </p:txBody>
      </p:sp>
      <p:pic>
        <p:nvPicPr>
          <p:cNvPr id="350" name="Shape 350"/>
          <p:cNvPicPr preferRelativeResize="0"/>
          <p:nvPr>
            <p:ph idx="4294967295" type="body"/>
          </p:nvPr>
        </p:nvPicPr>
        <p:blipFill rotWithShape="1">
          <a:blip r:embed="rId3">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54" name="Shape 354"/>
        <p:cNvGrpSpPr/>
        <p:nvPr/>
      </p:nvGrpSpPr>
      <p:grpSpPr>
        <a:xfrm>
          <a:off x="0" y="0"/>
          <a:ext cx="0" cy="0"/>
          <a:chOff x="0" y="0"/>
          <a:chExt cx="0" cy="0"/>
        </a:xfrm>
      </p:grpSpPr>
      <p:sp>
        <p:nvSpPr>
          <p:cNvPr id="355" name="Shape 355"/>
          <p:cNvSpPr txBox="1"/>
          <p:nvPr>
            <p:ph idx="4294967295" type="title"/>
          </p:nvPr>
        </p:nvSpPr>
        <p:spPr>
          <a:xfrm>
            <a:off x="323850" y="903287"/>
            <a:ext cx="7543800" cy="72548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PRODUCTO INTERIOR BRUTO </a:t>
            </a:r>
          </a:p>
        </p:txBody>
      </p:sp>
      <p:sp>
        <p:nvSpPr>
          <p:cNvPr id="356" name="Shape 356"/>
          <p:cNvSpPr txBox="1"/>
          <p:nvPr>
            <p:ph idx="4294967295" type="body"/>
          </p:nvPr>
        </p:nvSpPr>
        <p:spPr>
          <a:xfrm>
            <a:off x="0" y="1719261"/>
            <a:ext cx="5292725" cy="4878387"/>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Representa </a:t>
            </a:r>
          </a:p>
          <a:p>
            <a:pPr indent="-342900" lvl="0" marL="342900" marR="0" rtl="0" algn="l">
              <a:lnSpc>
                <a:spcPct val="100000"/>
              </a:lnSpc>
              <a:spcBef>
                <a:spcPts val="520"/>
              </a:spcBef>
              <a:spcAft>
                <a:spcPts val="0"/>
              </a:spcAft>
              <a:buClr>
                <a:schemeClr val="dk2"/>
              </a:buClr>
              <a:buSzPct val="25000"/>
              <a:buFont typeface="Noto Sans Symbols"/>
              <a:buNone/>
            </a:pPr>
            <a:r>
              <a:rPr b="1" i="0" lang="en-US" sz="2600" u="none" cap="none" strike="noStrike">
                <a:solidFill>
                  <a:srgbClr val="FF0000"/>
                </a:solidFill>
                <a:latin typeface="Arial"/>
                <a:ea typeface="Arial"/>
                <a:cs typeface="Arial"/>
                <a:sym typeface="Arial"/>
              </a:rPr>
              <a:t>La producción de bienes y servicios finales</a:t>
            </a:r>
            <a:r>
              <a:rPr b="0" i="0" lang="en-US" sz="2600" u="none" cap="none" strike="noStrike">
                <a:solidFill>
                  <a:schemeClr val="dk1"/>
                </a:solidFill>
                <a:latin typeface="Arial"/>
                <a:ea typeface="Arial"/>
                <a:cs typeface="Arial"/>
                <a:sym typeface="Arial"/>
              </a:rPr>
              <a:t> de un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determinado país a lo largo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de un lapso de tiempo,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expresada en valores monetarios.  </a:t>
            </a:r>
          </a:p>
        </p:txBody>
      </p:sp>
      <p:pic>
        <p:nvPicPr>
          <p:cNvPr id="357" name="Shape 357"/>
          <p:cNvPicPr preferRelativeResize="0"/>
          <p:nvPr>
            <p:ph idx="4294967295" type="body"/>
          </p:nvPr>
        </p:nvPicPr>
        <p:blipFill rotWithShape="1">
          <a:blip r:embed="rId3">
            <a:alphaModFix/>
          </a:blip>
          <a:srcRect b="0" l="0" r="0" t="0"/>
          <a:stretch/>
        </p:blipFill>
        <p:spPr>
          <a:xfrm>
            <a:off x="5148262" y="1844675"/>
            <a:ext cx="3995736" cy="4824412"/>
          </a:xfrm>
          <a:prstGeom prst="rect">
            <a:avLst/>
          </a:prstGeom>
          <a:noFill/>
          <a:ln>
            <a:noFill/>
          </a:ln>
        </p:spPr>
      </p:pic>
      <p:pic>
        <p:nvPicPr>
          <p:cNvPr id="358" name="Shape 358"/>
          <p:cNvPicPr preferRelativeResize="0"/>
          <p:nvPr>
            <p:ph idx="4294967295" type="body"/>
          </p:nvPr>
        </p:nvPicPr>
        <p:blipFill rotWithShape="1">
          <a:blip r:embed="rId4">
            <a:alphaModFix/>
          </a:blip>
          <a:srcRect b="0" l="0" r="0" t="0"/>
          <a:stretch/>
        </p:blipFill>
        <p:spPr>
          <a:xfrm>
            <a:off x="179386" y="227012"/>
            <a:ext cx="3009899" cy="609599"/>
          </a:xfrm>
          <a:prstGeom prst="rect">
            <a:avLst/>
          </a:prstGeom>
          <a:noFill/>
          <a:ln>
            <a:noFill/>
          </a:ln>
        </p:spPr>
      </p:pic>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62" name="Shape 362"/>
        <p:cNvGrpSpPr/>
        <p:nvPr/>
      </p:nvGrpSpPr>
      <p:grpSpPr>
        <a:xfrm>
          <a:off x="0" y="0"/>
          <a:ext cx="0" cy="0"/>
          <a:chOff x="0" y="0"/>
          <a:chExt cx="0" cy="0"/>
        </a:xfrm>
      </p:grpSpPr>
      <p:sp>
        <p:nvSpPr>
          <p:cNvPr id="363" name="Shape 363"/>
          <p:cNvSpPr txBox="1"/>
          <p:nvPr>
            <p:ph idx="4294967295" type="title"/>
          </p:nvPr>
        </p:nvSpPr>
        <p:spPr>
          <a:xfrm>
            <a:off x="3276600" y="765175"/>
            <a:ext cx="4724400" cy="6524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IMPORTACIONES</a:t>
            </a:r>
          </a:p>
        </p:txBody>
      </p:sp>
      <p:sp>
        <p:nvSpPr>
          <p:cNvPr id="364" name="Shape 364"/>
          <p:cNvSpPr txBox="1"/>
          <p:nvPr>
            <p:ph idx="4294967295" type="body"/>
          </p:nvPr>
        </p:nvSpPr>
        <p:spPr>
          <a:xfrm>
            <a:off x="250825" y="1701800"/>
            <a:ext cx="4033837" cy="4895850"/>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Es el gasto en bienes y servicios provenientes de:</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 </a:t>
            </a:r>
            <a:r>
              <a:rPr b="1" i="0" lang="en-US" sz="2600" u="none" cap="none" strike="noStrike">
                <a:solidFill>
                  <a:srgbClr val="FF0000"/>
                </a:solidFill>
                <a:latin typeface="Arial"/>
                <a:ea typeface="Arial"/>
                <a:cs typeface="Arial"/>
                <a:sym typeface="Arial"/>
              </a:rPr>
              <a:t>Sector Externo</a:t>
            </a:r>
            <a:r>
              <a:rPr b="0" i="0" lang="en-US" sz="2600" u="none" cap="none" strike="noStrike">
                <a:solidFill>
                  <a:srgbClr val="FF0000"/>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y pretendidos para el uso o consumo de:</a:t>
            </a: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9250" lvl="1" marL="692150" marR="0" rtl="0" algn="l">
              <a:lnSpc>
                <a:spcPct val="100000"/>
              </a:lnSpc>
              <a:spcBef>
                <a:spcPts val="440"/>
              </a:spcBef>
              <a:spcAft>
                <a:spcPts val="0"/>
              </a:spcAft>
              <a:buClr>
                <a:schemeClr val="accent2"/>
              </a:buClr>
              <a:buSzPct val="70000"/>
              <a:buFont typeface="Noto Sans Symbols"/>
              <a:buChar char="●"/>
            </a:pPr>
            <a:r>
              <a:rPr b="1" i="0" lang="en-US" sz="2200" u="none" cap="none" strike="noStrike">
                <a:solidFill>
                  <a:srgbClr val="FF0000"/>
                </a:solidFill>
                <a:latin typeface="Arial"/>
                <a:ea typeface="Arial"/>
                <a:cs typeface="Arial"/>
                <a:sym typeface="Arial"/>
              </a:rPr>
              <a:t>Sector de los Consumidores</a:t>
            </a:r>
          </a:p>
          <a:p>
            <a:pPr indent="-349250" lvl="1" marL="692150" marR="0" rtl="0" algn="l">
              <a:lnSpc>
                <a:spcPct val="100000"/>
              </a:lnSpc>
              <a:spcBef>
                <a:spcPts val="440"/>
              </a:spcBef>
              <a:spcAft>
                <a:spcPts val="0"/>
              </a:spcAft>
              <a:buClr>
                <a:schemeClr val="accent2"/>
              </a:buClr>
              <a:buSzPct val="70000"/>
              <a:buFont typeface="Noto Sans Symbols"/>
              <a:buChar char="●"/>
            </a:pPr>
            <a:r>
              <a:rPr b="1" i="0" lang="en-US" sz="2200" u="none" cap="none" strike="noStrike">
                <a:solidFill>
                  <a:srgbClr val="FF0000"/>
                </a:solidFill>
                <a:latin typeface="Arial"/>
                <a:ea typeface="Arial"/>
                <a:cs typeface="Arial"/>
                <a:sym typeface="Arial"/>
              </a:rPr>
              <a:t>Sector del Estado.</a:t>
            </a:r>
          </a:p>
          <a:p>
            <a:pPr indent="-342900" lvl="0" marL="342900" marR="0" rtl="0" algn="l">
              <a:lnSpc>
                <a:spcPct val="100000"/>
              </a:lnSpc>
              <a:spcBef>
                <a:spcPts val="440"/>
              </a:spcBef>
              <a:spcAft>
                <a:spcPts val="0"/>
              </a:spcAft>
              <a:buClr>
                <a:schemeClr val="dk2"/>
              </a:buClr>
              <a:buSzPct val="70000"/>
              <a:buFont typeface="Noto Sans Symbols"/>
              <a:buNone/>
            </a:pPr>
            <a:r>
              <a:t/>
            </a:r>
            <a:endParaRPr b="1" i="0" sz="2200" u="none" cap="none" strike="noStrike">
              <a:solidFill>
                <a:srgbClr val="FF0000"/>
              </a:solidFill>
              <a:latin typeface="Arial"/>
              <a:ea typeface="Arial"/>
              <a:cs typeface="Arial"/>
              <a:sym typeface="Arial"/>
            </a:endParaRPr>
          </a:p>
        </p:txBody>
      </p:sp>
      <p:pic>
        <p:nvPicPr>
          <p:cNvPr id="365" name="Shape 365"/>
          <p:cNvPicPr preferRelativeResize="0"/>
          <p:nvPr>
            <p:ph idx="4294967295" type="body"/>
          </p:nvPr>
        </p:nvPicPr>
        <p:blipFill rotWithShape="1">
          <a:blip r:embed="rId3">
            <a:alphaModFix/>
          </a:blip>
          <a:srcRect b="0" l="0" r="0" t="0"/>
          <a:stretch/>
        </p:blipFill>
        <p:spPr>
          <a:xfrm>
            <a:off x="4500562" y="1700211"/>
            <a:ext cx="4643437" cy="4968875"/>
          </a:xfrm>
          <a:prstGeom prst="rect">
            <a:avLst/>
          </a:prstGeom>
          <a:noFill/>
          <a:ln>
            <a:noFill/>
          </a:ln>
        </p:spPr>
      </p:pic>
      <p:pic>
        <p:nvPicPr>
          <p:cNvPr id="366" name="Shape 366"/>
          <p:cNvPicPr preferRelativeResize="0"/>
          <p:nvPr>
            <p:ph idx="4294967295" type="body"/>
          </p:nvPr>
        </p:nvPicPr>
        <p:blipFill rotWithShape="1">
          <a:blip r:embed="rId4">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70" name="Shape 370"/>
        <p:cNvGrpSpPr/>
        <p:nvPr/>
      </p:nvGrpSpPr>
      <p:grpSpPr>
        <a:xfrm>
          <a:off x="0" y="0"/>
          <a:ext cx="0" cy="0"/>
          <a:chOff x="0" y="0"/>
          <a:chExt cx="0" cy="0"/>
        </a:xfrm>
      </p:grpSpPr>
      <p:sp>
        <p:nvSpPr>
          <p:cNvPr id="371" name="Shape 371"/>
          <p:cNvSpPr txBox="1"/>
          <p:nvPr>
            <p:ph idx="4294967295" type="title"/>
          </p:nvPr>
        </p:nvSpPr>
        <p:spPr>
          <a:xfrm>
            <a:off x="2617786" y="904875"/>
            <a:ext cx="5267324" cy="6524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DEMANDA AGREGADA</a:t>
            </a:r>
          </a:p>
        </p:txBody>
      </p:sp>
      <p:sp>
        <p:nvSpPr>
          <p:cNvPr id="372" name="Shape 372"/>
          <p:cNvSpPr txBox="1"/>
          <p:nvPr>
            <p:ph idx="4294967295" type="body"/>
          </p:nvPr>
        </p:nvSpPr>
        <p:spPr>
          <a:xfrm>
            <a:off x="0" y="1719261"/>
            <a:ext cx="8893175" cy="4949825"/>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Es la cantidad que gastarán:</a:t>
            </a:r>
          </a:p>
          <a:p>
            <a:pPr indent="-342900" lvl="0" marL="342900" marR="0" rtl="0" algn="l">
              <a:lnSpc>
                <a:spcPct val="90000"/>
              </a:lnSpc>
              <a:spcBef>
                <a:spcPts val="440"/>
              </a:spcBef>
              <a:spcAft>
                <a:spcPts val="0"/>
              </a:spcAft>
              <a:buClr>
                <a:schemeClr val="dk2"/>
              </a:buClr>
              <a:buSzPct val="25000"/>
              <a:buFont typeface="Noto Sans Symbols"/>
              <a:buNone/>
            </a:pPr>
            <a:r>
              <a:rPr b="1" i="1" lang="en-US" sz="2200" u="none" cap="none" strike="noStrike">
                <a:solidFill>
                  <a:srgbClr val="FF0000"/>
                </a:solidFill>
                <a:latin typeface="Arial"/>
                <a:ea typeface="Arial"/>
                <a:cs typeface="Arial"/>
                <a:sym typeface="Arial"/>
              </a:rPr>
              <a:t>El Sector de los Consumidores</a:t>
            </a:r>
          </a:p>
          <a:p>
            <a:pPr indent="-342900" lvl="0" marL="342900" marR="0" rtl="0" algn="l">
              <a:lnSpc>
                <a:spcPct val="90000"/>
              </a:lnSpc>
              <a:spcBef>
                <a:spcPts val="440"/>
              </a:spcBef>
              <a:spcAft>
                <a:spcPts val="0"/>
              </a:spcAft>
              <a:buClr>
                <a:schemeClr val="dk2"/>
              </a:buClr>
              <a:buSzPct val="25000"/>
              <a:buFont typeface="Noto Sans Symbols"/>
              <a:buNone/>
            </a:pPr>
            <a:r>
              <a:rPr b="1" i="1" lang="en-US" sz="2200" u="none" cap="none" strike="noStrike">
                <a:solidFill>
                  <a:srgbClr val="FF0000"/>
                </a:solidFill>
                <a:latin typeface="Arial"/>
                <a:ea typeface="Arial"/>
                <a:cs typeface="Arial"/>
                <a:sym typeface="Arial"/>
              </a:rPr>
              <a:t>El Sector de los Negocios</a:t>
            </a:r>
          </a:p>
          <a:p>
            <a:pPr indent="-342900" lvl="0" marL="342900" marR="0" rtl="0" algn="l">
              <a:lnSpc>
                <a:spcPct val="90000"/>
              </a:lnSpc>
              <a:spcBef>
                <a:spcPts val="440"/>
              </a:spcBef>
              <a:spcAft>
                <a:spcPts val="0"/>
              </a:spcAft>
              <a:buClr>
                <a:schemeClr val="dk2"/>
              </a:buClr>
              <a:buSzPct val="25000"/>
              <a:buFont typeface="Noto Sans Symbols"/>
              <a:buNone/>
            </a:pPr>
            <a:r>
              <a:rPr b="1" i="1" lang="en-US" sz="2200" u="none" cap="none" strike="noStrike">
                <a:solidFill>
                  <a:srgbClr val="FF0000"/>
                </a:solidFill>
                <a:latin typeface="Arial"/>
                <a:ea typeface="Arial"/>
                <a:cs typeface="Arial"/>
                <a:sym typeface="Arial"/>
              </a:rPr>
              <a:t>El Sector del Estado</a:t>
            </a:r>
          </a:p>
          <a:p>
            <a:pPr indent="-342900" lvl="0" marL="342900" marR="0" rtl="0" algn="l">
              <a:lnSpc>
                <a:spcPct val="90000"/>
              </a:lnSpc>
              <a:spcBef>
                <a:spcPts val="440"/>
              </a:spcBef>
              <a:spcAft>
                <a:spcPts val="0"/>
              </a:spcAft>
              <a:buClr>
                <a:schemeClr val="dk2"/>
              </a:buClr>
              <a:buSzPct val="25000"/>
              <a:buFont typeface="Noto Sans Symbols"/>
              <a:buNone/>
            </a:pPr>
            <a:r>
              <a:rPr b="1" i="1" lang="en-US" sz="2200" u="none" cap="none" strike="noStrike">
                <a:solidFill>
                  <a:srgbClr val="FF0000"/>
                </a:solidFill>
                <a:latin typeface="Arial"/>
                <a:ea typeface="Arial"/>
                <a:cs typeface="Arial"/>
                <a:sym typeface="Arial"/>
              </a:rPr>
              <a:t>El Sector Externo</a:t>
            </a:r>
          </a:p>
          <a:p>
            <a:pPr indent="-342900" lvl="0" marL="342900" marR="0" rtl="0" algn="l">
              <a:lnSpc>
                <a:spcPct val="90000"/>
              </a:lnSpc>
              <a:spcBef>
                <a:spcPts val="44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dados los precios, las rentas vigentes</a:t>
            </a:r>
          </a:p>
          <a:p>
            <a:pPr indent="-342900" lvl="0" marL="342900" marR="0" rtl="0" algn="l">
              <a:lnSpc>
                <a:spcPct val="90000"/>
              </a:lnSpc>
              <a:spcBef>
                <a:spcPts val="440"/>
              </a:spcBef>
              <a:spcAft>
                <a:spcPts val="0"/>
              </a:spcAft>
              <a:buClr>
                <a:schemeClr val="dk2"/>
              </a:buClr>
              <a:buSzPct val="25000"/>
              <a:buFont typeface="Noto Sans Symbols"/>
              <a:buNone/>
            </a:pPr>
            <a:r>
              <a:rPr b="0" i="0" lang="en-US" sz="2200" u="none" cap="none" strike="noStrike">
                <a:solidFill>
                  <a:schemeClr val="dk1"/>
                </a:solidFill>
                <a:latin typeface="Arial"/>
                <a:ea typeface="Arial"/>
                <a:cs typeface="Arial"/>
                <a:sym typeface="Arial"/>
              </a:rPr>
              <a:t>y otras variables económicas.</a:t>
            </a:r>
          </a:p>
          <a:p>
            <a:pPr indent="-342900" lvl="0" marL="342900" marR="0" rtl="0" algn="l">
              <a:lnSpc>
                <a:spcPct val="90000"/>
              </a:lnSpc>
              <a:spcBef>
                <a:spcPts val="280"/>
              </a:spcBef>
              <a:spcAft>
                <a:spcPts val="0"/>
              </a:spcAft>
              <a:buClr>
                <a:schemeClr val="dk2"/>
              </a:buClr>
              <a:buSzPct val="25000"/>
              <a:buFont typeface="Noto Sans Symbols"/>
              <a:buNone/>
            </a:pPr>
            <a:r>
              <a:t/>
            </a:r>
            <a:endParaRPr b="1" i="1" sz="1400" u="none" cap="none" strike="noStrike">
              <a:solidFill>
                <a:srgbClr val="FF0000"/>
              </a:solidFill>
              <a:latin typeface="Arial"/>
              <a:ea typeface="Arial"/>
              <a:cs typeface="Arial"/>
              <a:sym typeface="Arial"/>
            </a:endParaRPr>
          </a:p>
          <a:p>
            <a:pPr indent="-342900" lvl="0" marL="342900" marR="0" rtl="0" algn="l">
              <a:lnSpc>
                <a:spcPct val="90000"/>
              </a:lnSpc>
              <a:spcBef>
                <a:spcPts val="280"/>
              </a:spcBef>
              <a:spcAft>
                <a:spcPts val="0"/>
              </a:spcAft>
              <a:buClr>
                <a:schemeClr val="dk2"/>
              </a:buClr>
              <a:buSzPct val="25000"/>
              <a:buFont typeface="Noto Sans Symbols"/>
              <a:buNone/>
            </a:pPr>
            <a:r>
              <a:t/>
            </a:r>
            <a:endParaRPr b="1" i="1" sz="1400" u="sng" cap="none" strike="noStrike">
              <a:solidFill>
                <a:srgbClr val="FF0000"/>
              </a:solidFill>
              <a:latin typeface="Arial"/>
              <a:ea typeface="Arial"/>
              <a:cs typeface="Arial"/>
              <a:sym typeface="Arial"/>
            </a:endParaRPr>
          </a:p>
          <a:p>
            <a:pPr indent="-342900" lvl="0" marL="342900" marR="0" rtl="0" algn="l">
              <a:lnSpc>
                <a:spcPct val="90000"/>
              </a:lnSpc>
              <a:spcBef>
                <a:spcPts val="280"/>
              </a:spcBef>
              <a:spcAft>
                <a:spcPts val="0"/>
              </a:spcAft>
              <a:buClr>
                <a:schemeClr val="dk2"/>
              </a:buClr>
              <a:buSzPct val="25000"/>
              <a:buFont typeface="Noto Sans Symbols"/>
              <a:buNone/>
            </a:pPr>
            <a:r>
              <a:t/>
            </a:r>
            <a:endParaRPr b="1" i="1" sz="1400" u="sng" cap="none" strike="noStrike">
              <a:solidFill>
                <a:srgbClr val="FF0000"/>
              </a:solidFill>
              <a:latin typeface="Arial"/>
              <a:ea typeface="Arial"/>
              <a:cs typeface="Arial"/>
              <a:sym typeface="Arial"/>
            </a:endParaRPr>
          </a:p>
          <a:p>
            <a:pPr indent="-342900" lvl="0" marL="342900" marR="0" rtl="0" algn="l">
              <a:lnSpc>
                <a:spcPct val="90000"/>
              </a:lnSpc>
              <a:spcBef>
                <a:spcPts val="280"/>
              </a:spcBef>
              <a:spcAft>
                <a:spcPts val="0"/>
              </a:spcAft>
              <a:buClr>
                <a:schemeClr val="dk2"/>
              </a:buClr>
              <a:buSzPct val="25000"/>
              <a:buFont typeface="Noto Sans Symbols"/>
              <a:buNone/>
            </a:pPr>
            <a:r>
              <a:t/>
            </a:r>
            <a:endParaRPr b="1" i="1" sz="1400" u="sng" cap="none" strike="noStrike">
              <a:solidFill>
                <a:srgbClr val="FF0000"/>
              </a:solidFill>
              <a:latin typeface="Arial"/>
              <a:ea typeface="Arial"/>
              <a:cs typeface="Arial"/>
              <a:sym typeface="Arial"/>
            </a:endParaRPr>
          </a:p>
          <a:p>
            <a:pPr indent="-342900" lvl="0" marL="342900" marR="0" rtl="0" algn="l">
              <a:lnSpc>
                <a:spcPct val="90000"/>
              </a:lnSpc>
              <a:spcBef>
                <a:spcPts val="280"/>
              </a:spcBef>
              <a:spcAft>
                <a:spcPts val="0"/>
              </a:spcAft>
              <a:buClr>
                <a:schemeClr val="dk2"/>
              </a:buClr>
              <a:buSzPct val="25000"/>
              <a:buFont typeface="Noto Sans Symbols"/>
              <a:buNone/>
            </a:pPr>
            <a:r>
              <a:t/>
            </a:r>
            <a:endParaRPr b="1" i="1" sz="1400" u="sng" cap="none" strike="noStrike">
              <a:solidFill>
                <a:srgbClr val="FF0000"/>
              </a:solidFill>
              <a:latin typeface="Arial"/>
              <a:ea typeface="Arial"/>
              <a:cs typeface="Arial"/>
              <a:sym typeface="Arial"/>
            </a:endParaRPr>
          </a:p>
          <a:p>
            <a:pPr indent="-342900" lvl="0" marL="342900" marR="0" rtl="0" algn="l">
              <a:lnSpc>
                <a:spcPct val="90000"/>
              </a:lnSpc>
              <a:spcBef>
                <a:spcPts val="280"/>
              </a:spcBef>
              <a:spcAft>
                <a:spcPts val="0"/>
              </a:spcAft>
              <a:buClr>
                <a:schemeClr val="dk2"/>
              </a:buClr>
              <a:buSzPct val="25000"/>
              <a:buFont typeface="Noto Sans Symbols"/>
              <a:buNone/>
            </a:pPr>
            <a:r>
              <a:t/>
            </a:r>
            <a:endParaRPr b="1" i="1" sz="1400" u="sng" cap="none" strike="noStrike">
              <a:solidFill>
                <a:srgbClr val="FF0000"/>
              </a:solidFill>
              <a:latin typeface="Arial"/>
              <a:ea typeface="Arial"/>
              <a:cs typeface="Arial"/>
              <a:sym typeface="Arial"/>
            </a:endParaRPr>
          </a:p>
          <a:p>
            <a:pPr indent="-342900" lvl="0" marL="342900" marR="0" rtl="0" algn="l">
              <a:lnSpc>
                <a:spcPct val="90000"/>
              </a:lnSpc>
              <a:spcBef>
                <a:spcPts val="280"/>
              </a:spcBef>
              <a:spcAft>
                <a:spcPts val="0"/>
              </a:spcAft>
              <a:buClr>
                <a:schemeClr val="dk2"/>
              </a:buClr>
              <a:buSzPct val="25000"/>
              <a:buFont typeface="Noto Sans Symbols"/>
              <a:buNone/>
            </a:pPr>
            <a:r>
              <a:t/>
            </a:r>
            <a:endParaRPr b="1" i="1" sz="1400" u="sng" cap="none" strike="noStrike">
              <a:solidFill>
                <a:srgbClr val="FF0000"/>
              </a:solidFill>
              <a:latin typeface="Arial"/>
              <a:ea typeface="Arial"/>
              <a:cs typeface="Arial"/>
              <a:sym typeface="Arial"/>
            </a:endParaRPr>
          </a:p>
          <a:p>
            <a:pPr indent="-342900" lvl="0" marL="342900" marR="0" rtl="0" algn="l">
              <a:lnSpc>
                <a:spcPct val="90000"/>
              </a:lnSpc>
              <a:spcBef>
                <a:spcPts val="360"/>
              </a:spcBef>
              <a:spcAft>
                <a:spcPts val="0"/>
              </a:spcAft>
              <a:buClr>
                <a:schemeClr val="dk2"/>
              </a:buClr>
              <a:buSzPct val="25000"/>
              <a:buFont typeface="Noto Sans Symbols"/>
              <a:buNone/>
            </a:pPr>
            <a:r>
              <a:rPr b="1" i="1" lang="en-US" sz="1800" u="sng" cap="none" strike="noStrike">
                <a:solidFill>
                  <a:srgbClr val="FF0000"/>
                </a:solidFill>
                <a:latin typeface="Arial"/>
                <a:ea typeface="Arial"/>
                <a:cs typeface="Arial"/>
                <a:sym typeface="Arial"/>
              </a:rPr>
              <a:t>DA = CONSUMO + INVERSIÓN + GASTO PÚBLICO + EXPORTACIONES</a:t>
            </a:r>
          </a:p>
        </p:txBody>
      </p:sp>
      <p:pic>
        <p:nvPicPr>
          <p:cNvPr id="373" name="Shape 373"/>
          <p:cNvPicPr preferRelativeResize="0"/>
          <p:nvPr>
            <p:ph idx="4294967295" type="body"/>
          </p:nvPr>
        </p:nvPicPr>
        <p:blipFill rotWithShape="1">
          <a:blip r:embed="rId3">
            <a:alphaModFix/>
          </a:blip>
          <a:srcRect b="0" l="0" r="0" t="0"/>
          <a:stretch/>
        </p:blipFill>
        <p:spPr>
          <a:xfrm>
            <a:off x="4932362" y="1989136"/>
            <a:ext cx="3960811" cy="3671886"/>
          </a:xfrm>
          <a:prstGeom prst="rect">
            <a:avLst/>
          </a:prstGeom>
          <a:noFill/>
          <a:ln>
            <a:noFill/>
          </a:ln>
        </p:spPr>
      </p:pic>
      <p:pic>
        <p:nvPicPr>
          <p:cNvPr id="374" name="Shape 374"/>
          <p:cNvPicPr preferRelativeResize="0"/>
          <p:nvPr>
            <p:ph idx="4294967295" type="body"/>
          </p:nvPr>
        </p:nvPicPr>
        <p:blipFill rotWithShape="1">
          <a:blip r:embed="rId4">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78" name="Shape 378"/>
        <p:cNvGrpSpPr/>
        <p:nvPr/>
      </p:nvGrpSpPr>
      <p:grpSpPr>
        <a:xfrm>
          <a:off x="0" y="0"/>
          <a:ext cx="0" cy="0"/>
          <a:chOff x="0" y="0"/>
          <a:chExt cx="0" cy="0"/>
        </a:xfrm>
      </p:grpSpPr>
      <p:sp>
        <p:nvSpPr>
          <p:cNvPr id="379" name="Shape 379"/>
          <p:cNvSpPr txBox="1"/>
          <p:nvPr>
            <p:ph idx="4294967295" type="title"/>
          </p:nvPr>
        </p:nvSpPr>
        <p:spPr>
          <a:xfrm>
            <a:off x="2511425" y="765175"/>
            <a:ext cx="5373687" cy="72548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DEMANDA AGREGADA</a:t>
            </a:r>
          </a:p>
        </p:txBody>
      </p:sp>
      <p:sp>
        <p:nvSpPr>
          <p:cNvPr id="380" name="Shape 380"/>
          <p:cNvSpPr txBox="1"/>
          <p:nvPr>
            <p:ph idx="4294967295" type="body"/>
          </p:nvPr>
        </p:nvSpPr>
        <p:spPr>
          <a:xfrm>
            <a:off x="457200" y="1719261"/>
            <a:ext cx="4038599" cy="4411661"/>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2"/>
              </a:buClr>
              <a:buSzPct val="25000"/>
              <a:buFont typeface="Noto Sans Symbols"/>
              <a:buNone/>
            </a:pPr>
            <a:r>
              <a:rPr b="1" i="1" lang="en-US" sz="1400" u="sng" cap="none" strike="noStrike">
                <a:solidFill>
                  <a:schemeClr val="dk1"/>
                </a:solidFill>
                <a:latin typeface="Arial"/>
                <a:ea typeface="Arial"/>
                <a:cs typeface="Arial"/>
                <a:sym typeface="Arial"/>
              </a:rPr>
              <a:t>DEMANDA AGREGADA</a:t>
            </a:r>
          </a:p>
        </p:txBody>
      </p:sp>
      <p:sp>
        <p:nvSpPr>
          <p:cNvPr id="381" name="Shape 381"/>
          <p:cNvSpPr txBox="1"/>
          <p:nvPr/>
        </p:nvSpPr>
        <p:spPr>
          <a:xfrm>
            <a:off x="107950" y="2205036"/>
            <a:ext cx="1295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NIVEL DE PRECIOS</a:t>
            </a:r>
          </a:p>
        </p:txBody>
      </p:sp>
      <p:sp>
        <p:nvSpPr>
          <p:cNvPr id="382" name="Shape 382"/>
          <p:cNvSpPr txBox="1"/>
          <p:nvPr/>
        </p:nvSpPr>
        <p:spPr>
          <a:xfrm>
            <a:off x="6588125" y="5732462"/>
            <a:ext cx="172878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OFERTA AGREGADA ($)</a:t>
            </a:r>
          </a:p>
        </p:txBody>
      </p:sp>
      <p:cxnSp>
        <p:nvCxnSpPr>
          <p:cNvPr id="383" name="Shape 383"/>
          <p:cNvCxnSpPr/>
          <p:nvPr/>
        </p:nvCxnSpPr>
        <p:spPr>
          <a:xfrm>
            <a:off x="1619250" y="1916111"/>
            <a:ext cx="0" cy="4033837"/>
          </a:xfrm>
          <a:prstGeom prst="straightConnector1">
            <a:avLst/>
          </a:prstGeom>
          <a:noFill/>
          <a:ln cap="flat" cmpd="sng" w="9525">
            <a:solidFill>
              <a:schemeClr val="dk1"/>
            </a:solidFill>
            <a:prstDash val="solid"/>
            <a:miter/>
            <a:headEnd len="med" w="med" type="none"/>
            <a:tailEnd len="med" w="med" type="none"/>
          </a:ln>
        </p:spPr>
      </p:cxnSp>
      <p:cxnSp>
        <p:nvCxnSpPr>
          <p:cNvPr id="384" name="Shape 384"/>
          <p:cNvCxnSpPr/>
          <p:nvPr/>
        </p:nvCxnSpPr>
        <p:spPr>
          <a:xfrm>
            <a:off x="971550" y="5589587"/>
            <a:ext cx="6769100" cy="0"/>
          </a:xfrm>
          <a:prstGeom prst="straightConnector1">
            <a:avLst/>
          </a:prstGeom>
          <a:noFill/>
          <a:ln cap="flat" cmpd="sng" w="9525">
            <a:solidFill>
              <a:schemeClr val="dk1"/>
            </a:solidFill>
            <a:prstDash val="solid"/>
            <a:miter/>
            <a:headEnd len="med" w="med" type="none"/>
            <a:tailEnd len="med" w="med" type="none"/>
          </a:ln>
        </p:spPr>
      </p:cxnSp>
      <p:sp>
        <p:nvSpPr>
          <p:cNvPr id="385" name="Shape 385"/>
          <p:cNvSpPr/>
          <p:nvPr/>
        </p:nvSpPr>
        <p:spPr>
          <a:xfrm>
            <a:off x="1908175" y="2133600"/>
            <a:ext cx="4733925" cy="2757486"/>
          </a:xfrm>
          <a:custGeom>
            <a:pathLst>
              <a:path extrusionOk="0" h="120000" w="120000">
                <a:moveTo>
                  <a:pt x="0" y="0"/>
                </a:moveTo>
                <a:cubicBezTo>
                  <a:pt x="684" y="3937"/>
                  <a:pt x="1609" y="13264"/>
                  <a:pt x="4104" y="23765"/>
                </a:cubicBezTo>
                <a:cubicBezTo>
                  <a:pt x="6599" y="34265"/>
                  <a:pt x="10503" y="51744"/>
                  <a:pt x="14969" y="62936"/>
                </a:cubicBezTo>
                <a:cubicBezTo>
                  <a:pt x="19436" y="74127"/>
                  <a:pt x="23863" y="83454"/>
                  <a:pt x="31026" y="91122"/>
                </a:cubicBezTo>
                <a:cubicBezTo>
                  <a:pt x="38189" y="98791"/>
                  <a:pt x="49376" y="105077"/>
                  <a:pt x="57947" y="109084"/>
                </a:cubicBezTo>
                <a:cubicBezTo>
                  <a:pt x="66519" y="113091"/>
                  <a:pt x="71991" y="113506"/>
                  <a:pt x="82334" y="115302"/>
                </a:cubicBezTo>
                <a:cubicBezTo>
                  <a:pt x="92676" y="117098"/>
                  <a:pt x="112152" y="119032"/>
                  <a:pt x="119999" y="119999"/>
                </a:cubicBezTo>
              </a:path>
            </a:pathLst>
          </a:custGeom>
          <a:noFill/>
          <a:ln cap="flat" cmpd="sng" w="25400">
            <a:solidFill>
              <a:srgbClr val="FF00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386" name="Shape 386"/>
          <p:cNvCxnSpPr/>
          <p:nvPr/>
        </p:nvCxnSpPr>
        <p:spPr>
          <a:xfrm>
            <a:off x="1619250" y="3933825"/>
            <a:ext cx="1152525" cy="0"/>
          </a:xfrm>
          <a:prstGeom prst="straightConnector1">
            <a:avLst/>
          </a:prstGeom>
          <a:noFill/>
          <a:ln cap="flat" cmpd="sng" w="9525">
            <a:solidFill>
              <a:schemeClr val="dk1"/>
            </a:solidFill>
            <a:prstDash val="solid"/>
            <a:miter/>
            <a:headEnd len="med" w="med" type="none"/>
            <a:tailEnd len="med" w="med" type="none"/>
          </a:ln>
        </p:spPr>
      </p:cxnSp>
      <p:cxnSp>
        <p:nvCxnSpPr>
          <p:cNvPr id="387" name="Shape 387"/>
          <p:cNvCxnSpPr/>
          <p:nvPr/>
        </p:nvCxnSpPr>
        <p:spPr>
          <a:xfrm>
            <a:off x="2771775" y="3933825"/>
            <a:ext cx="0" cy="1655761"/>
          </a:xfrm>
          <a:prstGeom prst="straightConnector1">
            <a:avLst/>
          </a:prstGeom>
          <a:noFill/>
          <a:ln cap="flat" cmpd="sng" w="9525">
            <a:solidFill>
              <a:schemeClr val="dk1"/>
            </a:solidFill>
            <a:prstDash val="solid"/>
            <a:miter/>
            <a:headEnd len="med" w="med" type="none"/>
            <a:tailEnd len="med" w="med" type="none"/>
          </a:ln>
        </p:spPr>
      </p:cxnSp>
      <p:sp>
        <p:nvSpPr>
          <p:cNvPr id="388" name="Shape 388"/>
          <p:cNvSpPr txBox="1"/>
          <p:nvPr/>
        </p:nvSpPr>
        <p:spPr>
          <a:xfrm>
            <a:off x="1044575" y="3717925"/>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 P(1)</a:t>
            </a:r>
          </a:p>
        </p:txBody>
      </p:sp>
      <p:sp>
        <p:nvSpPr>
          <p:cNvPr id="389" name="Shape 389"/>
          <p:cNvSpPr txBox="1"/>
          <p:nvPr/>
        </p:nvSpPr>
        <p:spPr>
          <a:xfrm>
            <a:off x="2698750" y="3644900"/>
            <a:ext cx="217487"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1</a:t>
            </a:r>
          </a:p>
        </p:txBody>
      </p:sp>
      <p:sp>
        <p:nvSpPr>
          <p:cNvPr id="390" name="Shape 390"/>
          <p:cNvSpPr txBox="1"/>
          <p:nvPr/>
        </p:nvSpPr>
        <p:spPr>
          <a:xfrm>
            <a:off x="2484436" y="5445125"/>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DA(1)</a:t>
            </a:r>
          </a:p>
        </p:txBody>
      </p:sp>
      <p:pic>
        <p:nvPicPr>
          <p:cNvPr id="391" name="Shape 391"/>
          <p:cNvPicPr preferRelativeResize="0"/>
          <p:nvPr>
            <p:ph idx="4294967295" type="body"/>
          </p:nvPr>
        </p:nvPicPr>
        <p:blipFill rotWithShape="1">
          <a:blip r:embed="rId3">
            <a:alphaModFix/>
          </a:blip>
          <a:srcRect b="0" l="0" r="0" t="0"/>
          <a:stretch/>
        </p:blipFill>
        <p:spPr>
          <a:xfrm>
            <a:off x="107950" y="227012"/>
            <a:ext cx="3009899" cy="609599"/>
          </a:xfrm>
          <a:prstGeom prst="rect">
            <a:avLst/>
          </a:prstGeom>
          <a:noFill/>
          <a:ln>
            <a:noFill/>
          </a:ln>
        </p:spPr>
      </p:pic>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95" name="Shape 395"/>
        <p:cNvGrpSpPr/>
        <p:nvPr/>
      </p:nvGrpSpPr>
      <p:grpSpPr>
        <a:xfrm>
          <a:off x="0" y="0"/>
          <a:ext cx="0" cy="0"/>
          <a:chOff x="0" y="0"/>
          <a:chExt cx="0" cy="0"/>
        </a:xfrm>
      </p:grpSpPr>
      <p:sp>
        <p:nvSpPr>
          <p:cNvPr id="396" name="Shape 396"/>
          <p:cNvSpPr txBox="1"/>
          <p:nvPr>
            <p:ph idx="4294967295" type="title"/>
          </p:nvPr>
        </p:nvSpPr>
        <p:spPr>
          <a:xfrm>
            <a:off x="341312" y="1047750"/>
            <a:ext cx="7543800" cy="6524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CONSUMO PRIVADO INTERNO</a:t>
            </a:r>
          </a:p>
        </p:txBody>
      </p:sp>
      <p:sp>
        <p:nvSpPr>
          <p:cNvPr id="397" name="Shape 397"/>
          <p:cNvSpPr txBox="1"/>
          <p:nvPr>
            <p:ph idx="4294967295" type="body"/>
          </p:nvPr>
        </p:nvSpPr>
        <p:spPr>
          <a:xfrm>
            <a:off x="179386" y="2151061"/>
            <a:ext cx="5400675" cy="37258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Es toda actividad humana relacionada con la decisión de distribuir el ingreso disponible (sueldos, rentas, beneficios, intereses, etc.) en los distintos bienes y servicios que ofrece el </a:t>
            </a:r>
            <a:r>
              <a:rPr b="1" i="1" lang="en-US" sz="2600" u="none" cap="none" strike="noStrike">
                <a:solidFill>
                  <a:srgbClr val="FF0000"/>
                </a:solidFill>
                <a:latin typeface="Arial"/>
                <a:ea typeface="Arial"/>
                <a:cs typeface="Arial"/>
                <a:sym typeface="Arial"/>
              </a:rPr>
              <a:t>Sector de los Negocios</a:t>
            </a:r>
            <a:r>
              <a:rPr b="0" i="0" lang="en-US" sz="2600" u="none" cap="none" strike="noStrike">
                <a:solidFill>
                  <a:schemeClr val="dk1"/>
                </a:solidFill>
                <a:latin typeface="Arial"/>
                <a:ea typeface="Arial"/>
                <a:cs typeface="Arial"/>
                <a:sym typeface="Arial"/>
              </a:rPr>
              <a:t> para satisfacer las necesidades del </a:t>
            </a:r>
            <a:r>
              <a:rPr b="1" i="1" lang="en-US" sz="2600" u="none" cap="none" strike="noStrike">
                <a:solidFill>
                  <a:srgbClr val="FF0000"/>
                </a:solidFill>
                <a:latin typeface="Arial"/>
                <a:ea typeface="Arial"/>
                <a:cs typeface="Arial"/>
                <a:sym typeface="Arial"/>
              </a:rPr>
              <a:t>Sector de los Consumidores</a:t>
            </a:r>
            <a:r>
              <a:rPr b="0" i="0" lang="en-US" sz="2600" u="none" cap="none" strike="noStrike">
                <a:solidFill>
                  <a:schemeClr val="dk1"/>
                </a:solidFill>
                <a:latin typeface="Arial"/>
                <a:ea typeface="Arial"/>
                <a:cs typeface="Arial"/>
                <a:sym typeface="Arial"/>
              </a:rPr>
              <a:t>. </a:t>
            </a:r>
          </a:p>
        </p:txBody>
      </p:sp>
      <p:pic>
        <p:nvPicPr>
          <p:cNvPr id="398" name="Shape 398"/>
          <p:cNvPicPr preferRelativeResize="0"/>
          <p:nvPr>
            <p:ph idx="4294967295" type="body"/>
          </p:nvPr>
        </p:nvPicPr>
        <p:blipFill rotWithShape="1">
          <a:blip r:embed="rId3">
            <a:alphaModFix/>
          </a:blip>
          <a:srcRect b="0" l="0" r="0" t="0"/>
          <a:stretch/>
        </p:blipFill>
        <p:spPr>
          <a:xfrm>
            <a:off x="4859337" y="1989136"/>
            <a:ext cx="4284661" cy="3600450"/>
          </a:xfrm>
          <a:prstGeom prst="rect">
            <a:avLst/>
          </a:prstGeom>
          <a:noFill/>
          <a:ln>
            <a:noFill/>
          </a:ln>
        </p:spPr>
      </p:pic>
      <p:pic>
        <p:nvPicPr>
          <p:cNvPr id="399" name="Shape 399"/>
          <p:cNvPicPr preferRelativeResize="0"/>
          <p:nvPr>
            <p:ph idx="4294967295" type="body"/>
          </p:nvPr>
        </p:nvPicPr>
        <p:blipFill rotWithShape="1">
          <a:blip r:embed="rId4">
            <a:alphaModFix/>
          </a:blip>
          <a:srcRect b="0" l="0" r="0" t="0"/>
          <a:stretch/>
        </p:blipFill>
        <p:spPr>
          <a:xfrm>
            <a:off x="250825" y="188911"/>
            <a:ext cx="3009899" cy="609599"/>
          </a:xfrm>
          <a:prstGeom prst="rect">
            <a:avLst/>
          </a:prstGeom>
          <a:noFill/>
          <a:ln>
            <a:noFill/>
          </a:ln>
        </p:spPr>
      </p:pic>
    </p:spTree>
  </p:cSld>
  <p:clrMapOvr>
    <a:masterClrMapping/>
  </p:clrMapOvr>
  <p:transition spd="slow">
    <p:cu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03" name="Shape 403"/>
        <p:cNvGrpSpPr/>
        <p:nvPr/>
      </p:nvGrpSpPr>
      <p:grpSpPr>
        <a:xfrm>
          <a:off x="0" y="0"/>
          <a:ext cx="0" cy="0"/>
          <a:chOff x="0" y="0"/>
          <a:chExt cx="0" cy="0"/>
        </a:xfrm>
      </p:grpSpPr>
      <p:sp>
        <p:nvSpPr>
          <p:cNvPr id="404" name="Shape 404"/>
          <p:cNvSpPr txBox="1"/>
          <p:nvPr>
            <p:ph idx="4294967295" type="title"/>
          </p:nvPr>
        </p:nvSpPr>
        <p:spPr>
          <a:xfrm>
            <a:off x="2627311" y="1047750"/>
            <a:ext cx="4176711" cy="5810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GASTO PÚBLICO</a:t>
            </a:r>
          </a:p>
        </p:txBody>
      </p:sp>
      <p:sp>
        <p:nvSpPr>
          <p:cNvPr id="405" name="Shape 405"/>
          <p:cNvSpPr txBox="1"/>
          <p:nvPr>
            <p:ph idx="4294967295" type="body"/>
          </p:nvPr>
        </p:nvSpPr>
        <p:spPr>
          <a:xfrm>
            <a:off x="34925" y="2924175"/>
            <a:ext cx="4537074" cy="1225550"/>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Es la cantidad que gastará el </a:t>
            </a:r>
            <a:r>
              <a:rPr b="1" i="1" lang="en-US" sz="2600" u="none" cap="none" strike="noStrike">
                <a:solidFill>
                  <a:srgbClr val="FF0000"/>
                </a:solidFill>
                <a:latin typeface="Arial"/>
                <a:ea typeface="Arial"/>
                <a:cs typeface="Arial"/>
                <a:sym typeface="Arial"/>
              </a:rPr>
              <a:t>Sector del Estado</a:t>
            </a:r>
            <a:r>
              <a:rPr b="0" i="0" lang="en-US" sz="2600" u="none" cap="none" strike="noStrike">
                <a:solidFill>
                  <a:schemeClr val="dk1"/>
                </a:solidFill>
                <a:latin typeface="Arial"/>
                <a:ea typeface="Arial"/>
                <a:cs typeface="Arial"/>
                <a:sym typeface="Arial"/>
              </a:rPr>
              <a:t> durante un período considerado.</a:t>
            </a:r>
          </a:p>
        </p:txBody>
      </p:sp>
      <p:pic>
        <p:nvPicPr>
          <p:cNvPr id="406" name="Shape 406"/>
          <p:cNvPicPr preferRelativeResize="0"/>
          <p:nvPr>
            <p:ph idx="4294967295" type="body"/>
          </p:nvPr>
        </p:nvPicPr>
        <p:blipFill rotWithShape="1">
          <a:blip r:embed="rId3">
            <a:alphaModFix/>
          </a:blip>
          <a:srcRect b="0" l="0" r="0" t="0"/>
          <a:stretch/>
        </p:blipFill>
        <p:spPr>
          <a:xfrm>
            <a:off x="4427537" y="1628775"/>
            <a:ext cx="4716462" cy="4752974"/>
          </a:xfrm>
          <a:prstGeom prst="rect">
            <a:avLst/>
          </a:prstGeom>
          <a:noFill/>
          <a:ln>
            <a:noFill/>
          </a:ln>
        </p:spPr>
      </p:pic>
      <p:pic>
        <p:nvPicPr>
          <p:cNvPr id="407" name="Shape 407"/>
          <p:cNvPicPr preferRelativeResize="0"/>
          <p:nvPr>
            <p:ph idx="4294967295" type="body"/>
          </p:nvPr>
        </p:nvPicPr>
        <p:blipFill rotWithShape="1">
          <a:blip r:embed="rId4">
            <a:alphaModFix/>
          </a:blip>
          <a:srcRect b="0" l="0" r="0" t="0"/>
          <a:stretch/>
        </p:blipFill>
        <p:spPr>
          <a:xfrm>
            <a:off x="323850" y="260350"/>
            <a:ext cx="3009899" cy="609599"/>
          </a:xfrm>
          <a:prstGeom prst="rect">
            <a:avLst/>
          </a:prstGeom>
          <a:noFill/>
          <a:ln>
            <a:noFill/>
          </a:ln>
        </p:spPr>
      </p:pic>
    </p:spTree>
  </p:cSld>
  <p:clrMapOvr>
    <a:masterClrMapping/>
  </p:clrMapOvr>
  <p:transition spd="slow">
    <p:cut/>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1" name="Shape 411"/>
        <p:cNvGrpSpPr/>
        <p:nvPr/>
      </p:nvGrpSpPr>
      <p:grpSpPr>
        <a:xfrm>
          <a:off x="0" y="0"/>
          <a:ext cx="0" cy="0"/>
          <a:chOff x="0" y="0"/>
          <a:chExt cx="0" cy="0"/>
        </a:xfrm>
      </p:grpSpPr>
      <p:sp>
        <p:nvSpPr>
          <p:cNvPr id="412" name="Shape 412"/>
          <p:cNvSpPr txBox="1"/>
          <p:nvPr>
            <p:ph idx="4294967295" type="title"/>
          </p:nvPr>
        </p:nvSpPr>
        <p:spPr>
          <a:xfrm>
            <a:off x="2976561" y="904875"/>
            <a:ext cx="4835525" cy="6524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INVERSIÓN PRIVADA</a:t>
            </a:r>
          </a:p>
        </p:txBody>
      </p:sp>
      <p:sp>
        <p:nvSpPr>
          <p:cNvPr id="413" name="Shape 413"/>
          <p:cNvSpPr txBox="1"/>
          <p:nvPr>
            <p:ph idx="4294967295" type="body"/>
          </p:nvPr>
        </p:nvSpPr>
        <p:spPr>
          <a:xfrm>
            <a:off x="250825" y="1844675"/>
            <a:ext cx="4038599" cy="4411661"/>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Es la variable que mide el gasto para adquirir ciertos bienes con el ánimo de obtener ingresos o rentas a lo largo del tiempo. </a:t>
            </a:r>
          </a:p>
          <a:p>
            <a:pPr indent="-342900" lvl="0" marL="342900" marR="0" rtl="0" algn="l">
              <a:lnSpc>
                <a:spcPct val="9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9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La inversión se refiere al empleo de un capital en algún tipo de actividad o negocio con el objetivo de incrementarlo.</a:t>
            </a:r>
          </a:p>
        </p:txBody>
      </p:sp>
      <p:pic>
        <p:nvPicPr>
          <p:cNvPr id="414" name="Shape 414"/>
          <p:cNvPicPr preferRelativeResize="0"/>
          <p:nvPr>
            <p:ph idx="4294967295" type="body"/>
          </p:nvPr>
        </p:nvPicPr>
        <p:blipFill rotWithShape="1">
          <a:blip r:embed="rId3">
            <a:alphaModFix/>
          </a:blip>
          <a:srcRect b="0" l="0" r="0" t="0"/>
          <a:stretch/>
        </p:blipFill>
        <p:spPr>
          <a:xfrm>
            <a:off x="4500562" y="1843086"/>
            <a:ext cx="4572000" cy="4465636"/>
          </a:xfrm>
          <a:prstGeom prst="rect">
            <a:avLst/>
          </a:prstGeom>
          <a:noFill/>
          <a:ln>
            <a:noFill/>
          </a:ln>
        </p:spPr>
      </p:pic>
      <p:pic>
        <p:nvPicPr>
          <p:cNvPr id="415" name="Shape 415"/>
          <p:cNvPicPr preferRelativeResize="0"/>
          <p:nvPr>
            <p:ph idx="4294967295" type="body"/>
          </p:nvPr>
        </p:nvPicPr>
        <p:blipFill rotWithShape="1">
          <a:blip r:embed="rId4">
            <a:alphaModFix/>
          </a:blip>
          <a:srcRect b="0" l="0" r="0" t="0"/>
          <a:stretch/>
        </p:blipFill>
        <p:spPr>
          <a:xfrm>
            <a:off x="122236" y="298450"/>
            <a:ext cx="3009899" cy="609599"/>
          </a:xfrm>
          <a:prstGeom prst="rect">
            <a:avLst/>
          </a:prstGeom>
          <a:noFill/>
          <a:ln>
            <a:noFill/>
          </a:ln>
        </p:spPr>
      </p:pic>
    </p:spTree>
  </p:cSld>
  <p:clrMapOvr>
    <a:masterClrMapping/>
  </p:clrMapOvr>
  <p:transition spd="slow">
    <p:cut/>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19" name="Shape 419"/>
        <p:cNvGrpSpPr/>
        <p:nvPr/>
      </p:nvGrpSpPr>
      <p:grpSpPr>
        <a:xfrm>
          <a:off x="0" y="0"/>
          <a:ext cx="0" cy="0"/>
          <a:chOff x="0" y="0"/>
          <a:chExt cx="0" cy="0"/>
        </a:xfrm>
      </p:grpSpPr>
      <p:pic>
        <p:nvPicPr>
          <p:cNvPr id="420" name="Shape 420"/>
          <p:cNvPicPr preferRelativeResize="0"/>
          <p:nvPr>
            <p:ph idx="4294967295" type="body"/>
          </p:nvPr>
        </p:nvPicPr>
        <p:blipFill rotWithShape="1">
          <a:blip r:embed="rId3">
            <a:alphaModFix/>
          </a:blip>
          <a:srcRect b="0" l="0" r="0" t="0"/>
          <a:stretch/>
        </p:blipFill>
        <p:spPr>
          <a:xfrm>
            <a:off x="4787900" y="1773236"/>
            <a:ext cx="4356099" cy="4535487"/>
          </a:xfrm>
          <a:prstGeom prst="rect">
            <a:avLst/>
          </a:prstGeom>
          <a:noFill/>
          <a:ln>
            <a:noFill/>
          </a:ln>
        </p:spPr>
      </p:pic>
      <p:sp>
        <p:nvSpPr>
          <p:cNvPr id="421" name="Shape 421"/>
          <p:cNvSpPr txBox="1"/>
          <p:nvPr>
            <p:ph idx="4294967295" type="title"/>
          </p:nvPr>
        </p:nvSpPr>
        <p:spPr>
          <a:xfrm>
            <a:off x="395287" y="1263650"/>
            <a:ext cx="4330700" cy="5810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EXPORTACIONES</a:t>
            </a:r>
          </a:p>
        </p:txBody>
      </p:sp>
      <p:sp>
        <p:nvSpPr>
          <p:cNvPr id="422" name="Shape 422"/>
          <p:cNvSpPr txBox="1"/>
          <p:nvPr>
            <p:ph idx="4294967295" type="body"/>
          </p:nvPr>
        </p:nvSpPr>
        <p:spPr>
          <a:xfrm>
            <a:off x="76200" y="2060575"/>
            <a:ext cx="4856161" cy="4608512"/>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Es el gasto en bienes y servicios producidos en el país por el </a:t>
            </a:r>
          </a:p>
          <a:p>
            <a:pPr indent="-342900" lvl="0" marL="342900" marR="0" rtl="0" algn="l">
              <a:lnSpc>
                <a:spcPct val="100000"/>
              </a:lnSpc>
              <a:spcBef>
                <a:spcPts val="520"/>
              </a:spcBef>
              <a:spcAft>
                <a:spcPts val="0"/>
              </a:spcAft>
              <a:buClr>
                <a:schemeClr val="dk2"/>
              </a:buClr>
              <a:buSzPct val="25000"/>
              <a:buFont typeface="Noto Sans Symbols"/>
              <a:buNone/>
            </a:pPr>
            <a:r>
              <a:rPr b="1" i="0" lang="en-US" sz="2600" u="none" cap="none" strike="noStrike">
                <a:solidFill>
                  <a:srgbClr val="FF0000"/>
                </a:solidFill>
                <a:latin typeface="Arial"/>
                <a:ea typeface="Arial"/>
                <a:cs typeface="Arial"/>
                <a:sym typeface="Arial"/>
              </a:rPr>
              <a:t>Sector de los Negocios</a:t>
            </a:r>
            <a:r>
              <a:rPr b="0" i="0" lang="en-US" sz="2600" u="none" cap="none" strike="noStrike">
                <a:solidFill>
                  <a:schemeClr val="dk1"/>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para satisfacer las necesidades del </a:t>
            </a:r>
          </a:p>
          <a:p>
            <a:pPr indent="-342900" lvl="0" marL="342900" marR="0" rtl="0" algn="l">
              <a:lnSpc>
                <a:spcPct val="100000"/>
              </a:lnSpc>
              <a:spcBef>
                <a:spcPts val="520"/>
              </a:spcBef>
              <a:spcAft>
                <a:spcPts val="0"/>
              </a:spcAft>
              <a:buClr>
                <a:schemeClr val="dk2"/>
              </a:buClr>
              <a:buSzPct val="25000"/>
              <a:buFont typeface="Noto Sans Symbols"/>
              <a:buNone/>
            </a:pPr>
            <a:r>
              <a:rPr b="1" i="0" lang="en-US" sz="2600" u="none" cap="none" strike="noStrike">
                <a:solidFill>
                  <a:srgbClr val="FF0000"/>
                </a:solidFill>
                <a:latin typeface="Arial"/>
                <a:ea typeface="Arial"/>
                <a:cs typeface="Arial"/>
                <a:sym typeface="Arial"/>
              </a:rPr>
              <a:t>Sector Externo.</a:t>
            </a:r>
            <a:r>
              <a:rPr b="0" i="0" lang="en-US" sz="2600" u="none" cap="none" strike="noStrike">
                <a:solidFill>
                  <a:schemeClr val="dk1"/>
                </a:solidFill>
                <a:latin typeface="Arial"/>
                <a:ea typeface="Arial"/>
                <a:cs typeface="Arial"/>
                <a:sym typeface="Arial"/>
              </a:rPr>
              <a:t> </a:t>
            </a:r>
          </a:p>
        </p:txBody>
      </p:sp>
      <p:pic>
        <p:nvPicPr>
          <p:cNvPr id="423" name="Shape 423"/>
          <p:cNvPicPr preferRelativeResize="0"/>
          <p:nvPr>
            <p:ph idx="4294967295" type="body"/>
          </p:nvPr>
        </p:nvPicPr>
        <p:blipFill rotWithShape="1">
          <a:blip r:embed="rId4">
            <a:alphaModFix/>
          </a:blip>
          <a:srcRect b="0" l="0" r="0" t="0"/>
          <a:stretch/>
        </p:blipFill>
        <p:spPr>
          <a:xfrm>
            <a:off x="323850" y="188911"/>
            <a:ext cx="3009899" cy="609599"/>
          </a:xfrm>
          <a:prstGeom prst="rect">
            <a:avLst/>
          </a:prstGeom>
          <a:noFill/>
          <a:ln>
            <a:noFill/>
          </a:ln>
        </p:spPr>
      </p:pic>
    </p:spTree>
  </p:cSld>
  <p:clrMapOvr>
    <a:masterClrMapping/>
  </p:clrMapOvr>
  <p:transition spd="slow">
    <p:cut/>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27" name="Shape 427"/>
        <p:cNvGrpSpPr/>
        <p:nvPr/>
      </p:nvGrpSpPr>
      <p:grpSpPr>
        <a:xfrm>
          <a:off x="0" y="0"/>
          <a:ext cx="0" cy="0"/>
          <a:chOff x="0" y="0"/>
          <a:chExt cx="0" cy="0"/>
        </a:xfrm>
      </p:grpSpPr>
      <p:sp>
        <p:nvSpPr>
          <p:cNvPr id="428" name="Shape 428"/>
          <p:cNvSpPr txBox="1"/>
          <p:nvPr>
            <p:ph type="title"/>
          </p:nvPr>
        </p:nvSpPr>
        <p:spPr>
          <a:xfrm>
            <a:off x="1474787" y="620712"/>
            <a:ext cx="6553200"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EQUILIBRIO DE OFERTA Y DEMANDA AGREGADA</a:t>
            </a:r>
          </a:p>
        </p:txBody>
      </p:sp>
      <p:sp>
        <p:nvSpPr>
          <p:cNvPr id="429" name="Shape 429"/>
          <p:cNvSpPr txBox="1"/>
          <p:nvPr/>
        </p:nvSpPr>
        <p:spPr>
          <a:xfrm>
            <a:off x="539750" y="1916111"/>
            <a:ext cx="7848599" cy="3960811"/>
          </a:xfrm>
          <a:prstGeom prst="rect">
            <a:avLst/>
          </a:prstGeom>
          <a:noFill/>
          <a:ln>
            <a:noFill/>
          </a:ln>
        </p:spPr>
        <p:txBody>
          <a:bodyPr anchorCtr="0" anchor="t" bIns="45700" lIns="91425" rIns="91425" tIns="45700">
            <a:noAutofit/>
          </a:bodyPr>
          <a:lstStyle/>
          <a:p>
            <a:pPr indent="-342900" lvl="0" marL="342900" marR="0" rtl="0" algn="ctr">
              <a:lnSpc>
                <a:spcPct val="100000"/>
              </a:lnSpc>
              <a:spcBef>
                <a:spcPts val="0"/>
              </a:spcBef>
              <a:spcAft>
                <a:spcPts val="0"/>
              </a:spcAft>
              <a:buClr>
                <a:schemeClr val="dk1"/>
              </a:buClr>
              <a:buSzPct val="25000"/>
              <a:buFont typeface="Arial"/>
              <a:buNone/>
            </a:pPr>
            <a:r>
              <a:rPr b="1" i="1" lang="en-US" sz="1600" u="sng" cap="none" strike="noStrike">
                <a:solidFill>
                  <a:schemeClr val="dk1"/>
                </a:solidFill>
                <a:latin typeface="Arial"/>
                <a:ea typeface="Arial"/>
                <a:cs typeface="Arial"/>
                <a:sym typeface="Arial"/>
              </a:rPr>
              <a:t> </a:t>
            </a:r>
          </a:p>
        </p:txBody>
      </p:sp>
      <p:sp>
        <p:nvSpPr>
          <p:cNvPr id="430" name="Shape 430"/>
          <p:cNvSpPr/>
          <p:nvPr/>
        </p:nvSpPr>
        <p:spPr>
          <a:xfrm>
            <a:off x="2339975" y="2308225"/>
            <a:ext cx="4479924" cy="2849562"/>
          </a:xfrm>
          <a:custGeom>
            <a:pathLst>
              <a:path extrusionOk="0" h="120000" w="120000">
                <a:moveTo>
                  <a:pt x="0" y="0"/>
                </a:moveTo>
                <a:cubicBezTo>
                  <a:pt x="1573" y="6217"/>
                  <a:pt x="4549" y="24601"/>
                  <a:pt x="9482" y="37236"/>
                </a:cubicBezTo>
                <a:cubicBezTo>
                  <a:pt x="14415" y="49871"/>
                  <a:pt x="21729" y="65715"/>
                  <a:pt x="29638" y="75743"/>
                </a:cubicBezTo>
                <a:cubicBezTo>
                  <a:pt x="37547" y="85771"/>
                  <a:pt x="48348" y="91988"/>
                  <a:pt x="56895" y="97470"/>
                </a:cubicBezTo>
                <a:cubicBezTo>
                  <a:pt x="65442" y="102952"/>
                  <a:pt x="70290" y="104757"/>
                  <a:pt x="80793" y="108501"/>
                </a:cubicBezTo>
                <a:cubicBezTo>
                  <a:pt x="91296" y="112245"/>
                  <a:pt x="111835" y="117660"/>
                  <a:pt x="120000" y="120000"/>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1" name="Shape 431"/>
          <p:cNvSpPr/>
          <p:nvPr/>
        </p:nvSpPr>
        <p:spPr>
          <a:xfrm>
            <a:off x="1835150" y="2349500"/>
            <a:ext cx="4241799" cy="2792412"/>
          </a:xfrm>
          <a:custGeom>
            <a:pathLst>
              <a:path extrusionOk="0" h="120000" w="120000">
                <a:moveTo>
                  <a:pt x="0" y="119795"/>
                </a:moveTo>
                <a:cubicBezTo>
                  <a:pt x="3053" y="119454"/>
                  <a:pt x="9925" y="119999"/>
                  <a:pt x="18323" y="117885"/>
                </a:cubicBezTo>
                <a:cubicBezTo>
                  <a:pt x="26721" y="115770"/>
                  <a:pt x="40508" y="111881"/>
                  <a:pt x="50434" y="107106"/>
                </a:cubicBezTo>
                <a:cubicBezTo>
                  <a:pt x="60359" y="102330"/>
                  <a:pt x="69476" y="98919"/>
                  <a:pt x="78008" y="89368"/>
                </a:cubicBezTo>
                <a:cubicBezTo>
                  <a:pt x="86541" y="79818"/>
                  <a:pt x="94625" y="64741"/>
                  <a:pt x="101631" y="49869"/>
                </a:cubicBezTo>
                <a:cubicBezTo>
                  <a:pt x="108637" y="34997"/>
                  <a:pt x="116182" y="10369"/>
                  <a:pt x="120000" y="0"/>
                </a:cubicBezTo>
              </a:path>
            </a:pathLst>
          </a:custGeom>
          <a:no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32" name="Shape 432"/>
          <p:cNvSpPr txBox="1"/>
          <p:nvPr/>
        </p:nvSpPr>
        <p:spPr>
          <a:xfrm>
            <a:off x="107950" y="1700211"/>
            <a:ext cx="12954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NIVEL DE PRECIOS</a:t>
            </a:r>
          </a:p>
        </p:txBody>
      </p:sp>
      <p:sp>
        <p:nvSpPr>
          <p:cNvPr id="433" name="Shape 433"/>
          <p:cNvSpPr txBox="1"/>
          <p:nvPr/>
        </p:nvSpPr>
        <p:spPr>
          <a:xfrm>
            <a:off x="6156325" y="5516562"/>
            <a:ext cx="2232025" cy="433386"/>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OFERTA Y DEMANDA AGREGADA ($)</a:t>
            </a:r>
          </a:p>
        </p:txBody>
      </p:sp>
      <p:cxnSp>
        <p:nvCxnSpPr>
          <p:cNvPr id="434" name="Shape 434"/>
          <p:cNvCxnSpPr/>
          <p:nvPr/>
        </p:nvCxnSpPr>
        <p:spPr>
          <a:xfrm>
            <a:off x="1619250" y="1916111"/>
            <a:ext cx="0" cy="4033837"/>
          </a:xfrm>
          <a:prstGeom prst="straightConnector1">
            <a:avLst/>
          </a:prstGeom>
          <a:noFill/>
          <a:ln cap="flat" cmpd="sng" w="9525">
            <a:solidFill>
              <a:schemeClr val="dk1"/>
            </a:solidFill>
            <a:prstDash val="solid"/>
            <a:miter/>
            <a:headEnd len="med" w="med" type="none"/>
            <a:tailEnd len="med" w="med" type="none"/>
          </a:ln>
        </p:spPr>
      </p:cxnSp>
      <p:cxnSp>
        <p:nvCxnSpPr>
          <p:cNvPr id="435" name="Shape 435"/>
          <p:cNvCxnSpPr/>
          <p:nvPr/>
        </p:nvCxnSpPr>
        <p:spPr>
          <a:xfrm>
            <a:off x="1619250" y="4581525"/>
            <a:ext cx="2736850" cy="0"/>
          </a:xfrm>
          <a:prstGeom prst="straightConnector1">
            <a:avLst/>
          </a:prstGeom>
          <a:noFill/>
          <a:ln cap="flat" cmpd="sng" w="9525">
            <a:solidFill>
              <a:schemeClr val="dk1"/>
            </a:solidFill>
            <a:prstDash val="solid"/>
            <a:miter/>
            <a:headEnd len="med" w="med" type="none"/>
            <a:tailEnd len="med" w="med" type="none"/>
          </a:ln>
        </p:spPr>
      </p:cxnSp>
      <p:cxnSp>
        <p:nvCxnSpPr>
          <p:cNvPr id="436" name="Shape 436"/>
          <p:cNvCxnSpPr/>
          <p:nvPr/>
        </p:nvCxnSpPr>
        <p:spPr>
          <a:xfrm>
            <a:off x="4356100" y="4581525"/>
            <a:ext cx="0" cy="1008062"/>
          </a:xfrm>
          <a:prstGeom prst="straightConnector1">
            <a:avLst/>
          </a:prstGeom>
          <a:noFill/>
          <a:ln cap="flat" cmpd="sng" w="9525">
            <a:solidFill>
              <a:schemeClr val="dk1"/>
            </a:solidFill>
            <a:prstDash val="solid"/>
            <a:miter/>
            <a:headEnd len="med" w="med" type="none"/>
            <a:tailEnd len="med" w="med" type="none"/>
          </a:ln>
        </p:spPr>
      </p:cxnSp>
      <p:sp>
        <p:nvSpPr>
          <p:cNvPr id="437" name="Shape 437"/>
          <p:cNvSpPr txBox="1"/>
          <p:nvPr/>
        </p:nvSpPr>
        <p:spPr>
          <a:xfrm>
            <a:off x="4283075" y="4292600"/>
            <a:ext cx="217487"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1</a:t>
            </a:r>
          </a:p>
        </p:txBody>
      </p:sp>
      <p:sp>
        <p:nvSpPr>
          <p:cNvPr id="438" name="Shape 438"/>
          <p:cNvSpPr txBox="1"/>
          <p:nvPr/>
        </p:nvSpPr>
        <p:spPr>
          <a:xfrm>
            <a:off x="1044575" y="4365625"/>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 P(1)</a:t>
            </a:r>
          </a:p>
        </p:txBody>
      </p:sp>
      <p:sp>
        <p:nvSpPr>
          <p:cNvPr id="439" name="Shape 439"/>
          <p:cNvSpPr txBox="1"/>
          <p:nvPr/>
        </p:nvSpPr>
        <p:spPr>
          <a:xfrm>
            <a:off x="4068762" y="5445125"/>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OA(1) = DA(1)</a:t>
            </a:r>
          </a:p>
        </p:txBody>
      </p:sp>
      <p:cxnSp>
        <p:nvCxnSpPr>
          <p:cNvPr id="440" name="Shape 440"/>
          <p:cNvCxnSpPr/>
          <p:nvPr/>
        </p:nvCxnSpPr>
        <p:spPr>
          <a:xfrm>
            <a:off x="971550" y="5589587"/>
            <a:ext cx="6769100" cy="0"/>
          </a:xfrm>
          <a:prstGeom prst="straightConnector1">
            <a:avLst/>
          </a:prstGeom>
          <a:noFill/>
          <a:ln cap="flat" cmpd="sng" w="9525">
            <a:solidFill>
              <a:schemeClr val="dk1"/>
            </a:solidFill>
            <a:prstDash val="solid"/>
            <a:miter/>
            <a:headEnd len="med" w="med" type="none"/>
            <a:tailEnd len="med" w="med" type="none"/>
          </a:ln>
        </p:spPr>
      </p:cxnSp>
      <p:sp>
        <p:nvSpPr>
          <p:cNvPr id="441" name="Shape 441"/>
          <p:cNvSpPr txBox="1"/>
          <p:nvPr/>
        </p:nvSpPr>
        <p:spPr>
          <a:xfrm>
            <a:off x="6011862" y="2492375"/>
            <a:ext cx="172878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OFERTA AGREGADA ($)</a:t>
            </a:r>
          </a:p>
        </p:txBody>
      </p:sp>
      <p:sp>
        <p:nvSpPr>
          <p:cNvPr id="442" name="Shape 442"/>
          <p:cNvSpPr txBox="1"/>
          <p:nvPr/>
        </p:nvSpPr>
        <p:spPr>
          <a:xfrm>
            <a:off x="2555875" y="2276475"/>
            <a:ext cx="1728787" cy="360362"/>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DEMANDA AGREGADA ($)</a:t>
            </a:r>
          </a:p>
        </p:txBody>
      </p:sp>
      <p:cxnSp>
        <p:nvCxnSpPr>
          <p:cNvPr id="443" name="Shape 443"/>
          <p:cNvCxnSpPr/>
          <p:nvPr/>
        </p:nvCxnSpPr>
        <p:spPr>
          <a:xfrm>
            <a:off x="1619250" y="4149725"/>
            <a:ext cx="3313112" cy="0"/>
          </a:xfrm>
          <a:prstGeom prst="straightConnector1">
            <a:avLst/>
          </a:prstGeom>
          <a:noFill/>
          <a:ln cap="flat" cmpd="sng" w="9525">
            <a:solidFill>
              <a:schemeClr val="dk1"/>
            </a:solidFill>
            <a:prstDash val="solid"/>
            <a:miter/>
            <a:headEnd len="med" w="med" type="none"/>
            <a:tailEnd len="med" w="med" type="none"/>
          </a:ln>
        </p:spPr>
      </p:cxnSp>
      <p:cxnSp>
        <p:nvCxnSpPr>
          <p:cNvPr id="444" name="Shape 444"/>
          <p:cNvCxnSpPr/>
          <p:nvPr/>
        </p:nvCxnSpPr>
        <p:spPr>
          <a:xfrm>
            <a:off x="1619250" y="4941887"/>
            <a:ext cx="4032249" cy="0"/>
          </a:xfrm>
          <a:prstGeom prst="straightConnector1">
            <a:avLst/>
          </a:prstGeom>
          <a:noFill/>
          <a:ln cap="flat" cmpd="sng" w="9525">
            <a:solidFill>
              <a:schemeClr val="dk1"/>
            </a:solidFill>
            <a:prstDash val="solid"/>
            <a:miter/>
            <a:headEnd len="med" w="med" type="none"/>
            <a:tailEnd len="med" w="med" type="none"/>
          </a:ln>
        </p:spPr>
      </p:cxnSp>
      <p:cxnSp>
        <p:nvCxnSpPr>
          <p:cNvPr id="445" name="Shape 445"/>
          <p:cNvCxnSpPr/>
          <p:nvPr/>
        </p:nvCxnSpPr>
        <p:spPr>
          <a:xfrm>
            <a:off x="3492500" y="4149725"/>
            <a:ext cx="1439862" cy="0"/>
          </a:xfrm>
          <a:prstGeom prst="straightConnector1">
            <a:avLst/>
          </a:prstGeom>
          <a:noFill/>
          <a:ln cap="flat" cmpd="sng" w="31750">
            <a:solidFill>
              <a:srgbClr val="008000"/>
            </a:solidFill>
            <a:prstDash val="solid"/>
            <a:miter/>
            <a:headEnd len="med" w="med" type="none"/>
            <a:tailEnd len="med" w="med" type="none"/>
          </a:ln>
        </p:spPr>
      </p:cxnSp>
      <p:cxnSp>
        <p:nvCxnSpPr>
          <p:cNvPr id="446" name="Shape 446"/>
          <p:cNvCxnSpPr/>
          <p:nvPr/>
        </p:nvCxnSpPr>
        <p:spPr>
          <a:xfrm>
            <a:off x="3276600" y="4941887"/>
            <a:ext cx="2303461" cy="0"/>
          </a:xfrm>
          <a:prstGeom prst="straightConnector1">
            <a:avLst/>
          </a:prstGeom>
          <a:noFill/>
          <a:ln cap="flat" cmpd="sng" w="38100">
            <a:solidFill>
              <a:srgbClr val="FF0000"/>
            </a:solidFill>
            <a:prstDash val="solid"/>
            <a:miter/>
            <a:headEnd len="med" w="med" type="none"/>
            <a:tailEnd len="med" w="med" type="none"/>
          </a:ln>
        </p:spPr>
      </p:cxnSp>
      <p:sp>
        <p:nvSpPr>
          <p:cNvPr id="447" name="Shape 447"/>
          <p:cNvSpPr txBox="1"/>
          <p:nvPr/>
        </p:nvSpPr>
        <p:spPr>
          <a:xfrm>
            <a:off x="1042987" y="3933825"/>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 P(2)</a:t>
            </a:r>
          </a:p>
        </p:txBody>
      </p:sp>
      <p:sp>
        <p:nvSpPr>
          <p:cNvPr id="448" name="Shape 448"/>
          <p:cNvSpPr txBox="1"/>
          <p:nvPr/>
        </p:nvSpPr>
        <p:spPr>
          <a:xfrm>
            <a:off x="1042987" y="4725987"/>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N P(3)</a:t>
            </a:r>
          </a:p>
        </p:txBody>
      </p:sp>
      <p:sp>
        <p:nvSpPr>
          <p:cNvPr id="449" name="Shape 449"/>
          <p:cNvSpPr txBox="1"/>
          <p:nvPr/>
        </p:nvSpPr>
        <p:spPr>
          <a:xfrm>
            <a:off x="5292725" y="4868862"/>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DA(3)</a:t>
            </a:r>
          </a:p>
        </p:txBody>
      </p:sp>
      <p:sp>
        <p:nvSpPr>
          <p:cNvPr id="450" name="Shape 450"/>
          <p:cNvSpPr txBox="1"/>
          <p:nvPr/>
        </p:nvSpPr>
        <p:spPr>
          <a:xfrm>
            <a:off x="2987675" y="4868862"/>
            <a:ext cx="647700" cy="431799"/>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OA(3)</a:t>
            </a:r>
          </a:p>
        </p:txBody>
      </p:sp>
      <p:sp>
        <p:nvSpPr>
          <p:cNvPr id="451" name="Shape 451"/>
          <p:cNvSpPr txBox="1"/>
          <p:nvPr/>
        </p:nvSpPr>
        <p:spPr>
          <a:xfrm>
            <a:off x="5435600" y="4652962"/>
            <a:ext cx="217487"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a:t>
            </a:r>
          </a:p>
        </p:txBody>
      </p:sp>
      <p:sp>
        <p:nvSpPr>
          <p:cNvPr id="452" name="Shape 452"/>
          <p:cNvSpPr txBox="1"/>
          <p:nvPr/>
        </p:nvSpPr>
        <p:spPr>
          <a:xfrm>
            <a:off x="3276600" y="4652962"/>
            <a:ext cx="217487"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3´</a:t>
            </a:r>
          </a:p>
        </p:txBody>
      </p:sp>
      <p:sp>
        <p:nvSpPr>
          <p:cNvPr id="453" name="Shape 453"/>
          <p:cNvSpPr txBox="1"/>
          <p:nvPr/>
        </p:nvSpPr>
        <p:spPr>
          <a:xfrm>
            <a:off x="4859337" y="3860800"/>
            <a:ext cx="217487"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a:t>
            </a:r>
          </a:p>
        </p:txBody>
      </p:sp>
      <p:sp>
        <p:nvSpPr>
          <p:cNvPr id="454" name="Shape 454"/>
          <p:cNvSpPr txBox="1"/>
          <p:nvPr/>
        </p:nvSpPr>
        <p:spPr>
          <a:xfrm>
            <a:off x="3419475" y="3860800"/>
            <a:ext cx="217487"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a:t>
            </a:r>
          </a:p>
        </p:txBody>
      </p:sp>
      <p:sp>
        <p:nvSpPr>
          <p:cNvPr id="455" name="Shape 455"/>
          <p:cNvSpPr txBox="1"/>
          <p:nvPr/>
        </p:nvSpPr>
        <p:spPr>
          <a:xfrm>
            <a:off x="3708400" y="3860800"/>
            <a:ext cx="1079499"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SOBRANTE</a:t>
            </a:r>
          </a:p>
        </p:txBody>
      </p:sp>
      <p:sp>
        <p:nvSpPr>
          <p:cNvPr id="456" name="Shape 456"/>
          <p:cNvSpPr txBox="1"/>
          <p:nvPr/>
        </p:nvSpPr>
        <p:spPr>
          <a:xfrm>
            <a:off x="3852862" y="4724400"/>
            <a:ext cx="1079499" cy="288925"/>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0" i="0" lang="en-US" sz="1000" u="none" cap="none" strike="noStrike">
                <a:solidFill>
                  <a:schemeClr val="dk1"/>
                </a:solidFill>
                <a:latin typeface="Arial"/>
                <a:ea typeface="Arial"/>
                <a:cs typeface="Arial"/>
                <a:sym typeface="Arial"/>
              </a:rPr>
              <a:t>FALTANTE</a:t>
            </a:r>
          </a:p>
        </p:txBody>
      </p:sp>
      <p:pic>
        <p:nvPicPr>
          <p:cNvPr id="457" name="Shape 457"/>
          <p:cNvPicPr preferRelativeResize="0"/>
          <p:nvPr>
            <p:ph idx="1" type="body"/>
          </p:nvPr>
        </p:nvPicPr>
        <p:blipFill rotWithShape="1">
          <a:blip r:embed="rId3">
            <a:alphaModFix/>
          </a:blip>
          <a:srcRect b="0" l="0" r="0" t="0"/>
          <a:stretch/>
        </p:blipFill>
        <p:spPr>
          <a:xfrm>
            <a:off x="323850" y="188911"/>
            <a:ext cx="3009899" cy="609599"/>
          </a:xfrm>
          <a:prstGeom prst="rect">
            <a:avLst/>
          </a:prstGeom>
          <a:noFill/>
          <a:ln>
            <a:noFill/>
          </a:ln>
        </p:spPr>
      </p:pic>
    </p:spTree>
  </p:cSld>
  <p:clrMapOvr>
    <a:masterClrMapping/>
  </p:clrMapOvr>
  <p:transition spd="slow">
    <p:cut/>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1" name="Shape 461"/>
        <p:cNvGrpSpPr/>
        <p:nvPr/>
      </p:nvGrpSpPr>
      <p:grpSpPr>
        <a:xfrm>
          <a:off x="0" y="0"/>
          <a:ext cx="0" cy="0"/>
          <a:chOff x="0" y="0"/>
          <a:chExt cx="0" cy="0"/>
        </a:xfrm>
      </p:grpSpPr>
      <p:sp>
        <p:nvSpPr>
          <p:cNvPr id="462" name="Shape 462"/>
          <p:cNvSpPr txBox="1"/>
          <p:nvPr>
            <p:ph idx="4294967295" type="title"/>
          </p:nvPr>
        </p:nvSpPr>
        <p:spPr>
          <a:xfrm>
            <a:off x="1331912" y="549275"/>
            <a:ext cx="6059487" cy="8683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EL SUEÑO DEL FARAÓN</a:t>
            </a:r>
            <a:br>
              <a:rPr b="1" i="0" lang="en-US" sz="3500" u="none" cap="none" strike="noStrike">
                <a:solidFill>
                  <a:schemeClr val="dk2"/>
                </a:solidFill>
                <a:latin typeface="Arial"/>
                <a:ea typeface="Arial"/>
                <a:cs typeface="Arial"/>
                <a:sym typeface="Arial"/>
              </a:rPr>
            </a:br>
            <a:r>
              <a:rPr b="0" i="0" lang="en-US" sz="1400" u="none" cap="none" strike="noStrike">
                <a:solidFill>
                  <a:schemeClr val="dk2"/>
                </a:solidFill>
                <a:latin typeface="Arial"/>
                <a:ea typeface="Arial"/>
                <a:cs typeface="Arial"/>
                <a:sym typeface="Arial"/>
              </a:rPr>
              <a:t>(Génesis 41 25)</a:t>
            </a:r>
          </a:p>
        </p:txBody>
      </p:sp>
      <p:pic>
        <p:nvPicPr>
          <p:cNvPr id="463" name="Shape 463"/>
          <p:cNvPicPr preferRelativeResize="0"/>
          <p:nvPr>
            <p:ph idx="4294967295" type="body"/>
          </p:nvPr>
        </p:nvPicPr>
        <p:blipFill rotWithShape="1">
          <a:blip r:embed="rId3">
            <a:alphaModFix/>
          </a:blip>
          <a:srcRect b="0" l="0" r="0" t="0"/>
          <a:stretch/>
        </p:blipFill>
        <p:spPr>
          <a:xfrm>
            <a:off x="6084887" y="2565400"/>
            <a:ext cx="3059111" cy="2447925"/>
          </a:xfrm>
          <a:prstGeom prst="rect">
            <a:avLst/>
          </a:prstGeom>
          <a:noFill/>
          <a:ln>
            <a:noFill/>
          </a:ln>
        </p:spPr>
      </p:pic>
      <p:pic>
        <p:nvPicPr>
          <p:cNvPr id="464" name="Shape 464"/>
          <p:cNvPicPr preferRelativeResize="0"/>
          <p:nvPr>
            <p:ph idx="4294967295" type="body"/>
          </p:nvPr>
        </p:nvPicPr>
        <p:blipFill rotWithShape="1">
          <a:blip r:embed="rId4">
            <a:alphaModFix/>
          </a:blip>
          <a:srcRect b="0" l="0" r="0" t="0"/>
          <a:stretch/>
        </p:blipFill>
        <p:spPr>
          <a:xfrm>
            <a:off x="250825" y="1844675"/>
            <a:ext cx="5903911" cy="4752974"/>
          </a:xfrm>
          <a:prstGeom prst="rect">
            <a:avLst/>
          </a:prstGeom>
          <a:noFill/>
          <a:ln>
            <a:noFill/>
          </a:ln>
        </p:spPr>
      </p:pic>
      <p:pic>
        <p:nvPicPr>
          <p:cNvPr id="465" name="Shape 465"/>
          <p:cNvPicPr preferRelativeResize="0"/>
          <p:nvPr>
            <p:ph idx="4294967295" type="body"/>
          </p:nvPr>
        </p:nvPicPr>
        <p:blipFill rotWithShape="1">
          <a:blip r:embed="rId5">
            <a:alphaModFix/>
          </a:blip>
          <a:srcRect b="0" l="0" r="0" t="0"/>
          <a:stretch/>
        </p:blipFill>
        <p:spPr>
          <a:xfrm>
            <a:off x="179386" y="155575"/>
            <a:ext cx="3009899" cy="609599"/>
          </a:xfrm>
          <a:prstGeom prst="rect">
            <a:avLst/>
          </a:prstGeom>
          <a:noFill/>
          <a:ln>
            <a:noFill/>
          </a:ln>
        </p:spPr>
      </p:pic>
    </p:spTree>
  </p:cSld>
  <p:clrMapOvr>
    <a:masterClrMapping/>
  </p:clrMapOvr>
  <p:transition spd="slow">
    <p:cut/>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69" name="Shape 469"/>
        <p:cNvGrpSpPr/>
        <p:nvPr/>
      </p:nvGrpSpPr>
      <p:grpSpPr>
        <a:xfrm>
          <a:off x="0" y="0"/>
          <a:ext cx="0" cy="0"/>
          <a:chOff x="0" y="0"/>
          <a:chExt cx="0" cy="0"/>
        </a:xfrm>
      </p:grpSpPr>
      <p:sp>
        <p:nvSpPr>
          <p:cNvPr id="470" name="Shape 470"/>
          <p:cNvSpPr txBox="1"/>
          <p:nvPr>
            <p:ph type="title"/>
          </p:nvPr>
        </p:nvSpPr>
        <p:spPr>
          <a:xfrm>
            <a:off x="457200" y="122236"/>
            <a:ext cx="7543800"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ABUNDANCIA VS. ESCASEZ</a:t>
            </a:r>
          </a:p>
        </p:txBody>
      </p:sp>
      <p:pic>
        <p:nvPicPr>
          <p:cNvPr id="471" name="Shape 471"/>
          <p:cNvPicPr preferRelativeResize="0"/>
          <p:nvPr/>
        </p:nvPicPr>
        <p:blipFill rotWithShape="1">
          <a:blip r:embed="rId3">
            <a:alphaModFix/>
          </a:blip>
          <a:srcRect b="0" l="0" r="0" t="0"/>
          <a:stretch/>
        </p:blipFill>
        <p:spPr>
          <a:xfrm>
            <a:off x="900112" y="1628775"/>
            <a:ext cx="7200900" cy="4464050"/>
          </a:xfrm>
          <a:prstGeom prst="rect">
            <a:avLst/>
          </a:prstGeom>
          <a:noFill/>
          <a:ln>
            <a:noFill/>
          </a:ln>
        </p:spPr>
      </p:pic>
      <p:pic>
        <p:nvPicPr>
          <p:cNvPr id="472" name="Shape 472"/>
          <p:cNvPicPr preferRelativeResize="0"/>
          <p:nvPr>
            <p:ph idx="1" type="body"/>
          </p:nvPr>
        </p:nvPicPr>
        <p:blipFill rotWithShape="1">
          <a:blip r:embed="rId4">
            <a:alphaModFix/>
          </a:blip>
          <a:srcRect b="0" l="0" r="0" t="0"/>
          <a:stretch/>
        </p:blipFill>
        <p:spPr>
          <a:xfrm>
            <a:off x="179386" y="188911"/>
            <a:ext cx="3009899" cy="609599"/>
          </a:xfrm>
          <a:prstGeom prst="rect">
            <a:avLst/>
          </a:prstGeom>
          <a:noFill/>
          <a:ln>
            <a:noFill/>
          </a:ln>
        </p:spPr>
      </p:pic>
    </p:spTree>
  </p:cSld>
  <p:clrMapOvr>
    <a:masterClrMapping/>
  </p:clrMapOvr>
  <p:transition spd="slow">
    <p:cut/>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76" name="Shape 476"/>
        <p:cNvGrpSpPr/>
        <p:nvPr/>
      </p:nvGrpSpPr>
      <p:grpSpPr>
        <a:xfrm>
          <a:off x="0" y="0"/>
          <a:ext cx="0" cy="0"/>
          <a:chOff x="0" y="0"/>
          <a:chExt cx="0" cy="0"/>
        </a:xfrm>
      </p:grpSpPr>
      <p:sp>
        <p:nvSpPr>
          <p:cNvPr id="477" name="Shape 477"/>
          <p:cNvSpPr txBox="1"/>
          <p:nvPr>
            <p:ph idx="4294967295" type="title"/>
          </p:nvPr>
        </p:nvSpPr>
        <p:spPr>
          <a:xfrm>
            <a:off x="2976561" y="692150"/>
            <a:ext cx="4908550" cy="725486"/>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CICLO ECONOMICO</a:t>
            </a:r>
          </a:p>
        </p:txBody>
      </p:sp>
      <p:sp>
        <p:nvSpPr>
          <p:cNvPr id="478" name="Shape 478"/>
          <p:cNvSpPr txBox="1"/>
          <p:nvPr>
            <p:ph idx="4294967295" type="body"/>
          </p:nvPr>
        </p:nvSpPr>
        <p:spPr>
          <a:xfrm>
            <a:off x="0" y="1719261"/>
            <a:ext cx="5724524" cy="5138736"/>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Se llaman </a:t>
            </a:r>
            <a:r>
              <a:rPr b="1" i="0" lang="en-US" sz="2600" u="none" cap="none" strike="noStrike">
                <a:solidFill>
                  <a:srgbClr val="FF0000"/>
                </a:solidFill>
                <a:latin typeface="Arial"/>
                <a:ea typeface="Arial"/>
                <a:cs typeface="Arial"/>
                <a:sym typeface="Arial"/>
              </a:rPr>
              <a:t>ciclos económicos</a:t>
            </a:r>
            <a:r>
              <a:rPr b="0" i="0" lang="en-US" sz="2600" u="none" cap="none" strike="noStrike">
                <a:solidFill>
                  <a:schemeClr val="dk1"/>
                </a:solidFill>
                <a:latin typeface="Arial"/>
                <a:ea typeface="Arial"/>
                <a:cs typeface="Arial"/>
                <a:sym typeface="Arial"/>
              </a:rPr>
              <a:t>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a la indeterminación de la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actividad global,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caracterizada por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la expansión o la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contracción simultánea</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de la producción en</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la mayoría de los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sectores y que suceden </a:t>
            </a:r>
          </a:p>
          <a:p>
            <a:pPr indent="-342900" lvl="0" marL="342900" marR="0" rtl="0" algn="l">
              <a:lnSpc>
                <a:spcPct val="100000"/>
              </a:lnSpc>
              <a:spcBef>
                <a:spcPts val="52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en una época o periodo determinado .</a:t>
            </a:r>
          </a:p>
        </p:txBody>
      </p:sp>
      <p:pic>
        <p:nvPicPr>
          <p:cNvPr id="479" name="Shape 479"/>
          <p:cNvPicPr preferRelativeResize="0"/>
          <p:nvPr>
            <p:ph idx="4294967295" type="body"/>
          </p:nvPr>
        </p:nvPicPr>
        <p:blipFill rotWithShape="1">
          <a:blip r:embed="rId3">
            <a:alphaModFix/>
          </a:blip>
          <a:srcRect b="0" l="0" r="0" t="0"/>
          <a:stretch/>
        </p:blipFill>
        <p:spPr>
          <a:xfrm>
            <a:off x="3995737" y="2205036"/>
            <a:ext cx="4897436" cy="3887786"/>
          </a:xfrm>
          <a:prstGeom prst="rect">
            <a:avLst/>
          </a:prstGeom>
          <a:noFill/>
          <a:ln>
            <a:noFill/>
          </a:ln>
        </p:spPr>
      </p:pic>
      <p:pic>
        <p:nvPicPr>
          <p:cNvPr id="480" name="Shape 480"/>
          <p:cNvPicPr preferRelativeResize="0"/>
          <p:nvPr>
            <p:ph idx="4294967295" type="body"/>
          </p:nvPr>
        </p:nvPicPr>
        <p:blipFill rotWithShape="1">
          <a:blip r:embed="rId4">
            <a:alphaModFix/>
          </a:blip>
          <a:srcRect b="0" l="0" r="0" t="0"/>
          <a:stretch/>
        </p:blipFill>
        <p:spPr>
          <a:xfrm>
            <a:off x="323850" y="188911"/>
            <a:ext cx="3009899" cy="609599"/>
          </a:xfrm>
          <a:prstGeom prst="rect">
            <a:avLst/>
          </a:prstGeom>
          <a:noFill/>
          <a:ln>
            <a:noFill/>
          </a:ln>
        </p:spPr>
      </p:pic>
    </p:spTree>
  </p:cSld>
  <p:clrMapOvr>
    <a:masterClrMapping/>
  </p:clrMapOvr>
  <p:transition spd="slow">
    <p:cut/>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84" name="Shape 484"/>
        <p:cNvGrpSpPr/>
        <p:nvPr/>
      </p:nvGrpSpPr>
      <p:grpSpPr>
        <a:xfrm>
          <a:off x="0" y="0"/>
          <a:ext cx="0" cy="0"/>
          <a:chOff x="0" y="0"/>
          <a:chExt cx="0" cy="0"/>
        </a:xfrm>
      </p:grpSpPr>
      <p:sp>
        <p:nvSpPr>
          <p:cNvPr id="485" name="Shape 485"/>
          <p:cNvSpPr txBox="1"/>
          <p:nvPr>
            <p:ph type="title"/>
          </p:nvPr>
        </p:nvSpPr>
        <p:spPr>
          <a:xfrm>
            <a:off x="2905125" y="903287"/>
            <a:ext cx="5627686" cy="581024"/>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CICLOS ECONÓMICOS</a:t>
            </a:r>
          </a:p>
        </p:txBody>
      </p:sp>
      <p:grpSp>
        <p:nvGrpSpPr>
          <p:cNvPr id="486" name="Shape 486"/>
          <p:cNvGrpSpPr/>
          <p:nvPr/>
        </p:nvGrpSpPr>
        <p:grpSpPr>
          <a:xfrm>
            <a:off x="553151" y="1657656"/>
            <a:ext cx="8051096" cy="4548372"/>
            <a:chOff x="3429000" y="2851150"/>
            <a:chExt cx="14573249" cy="7497761"/>
          </a:xfrm>
        </p:grpSpPr>
        <p:cxnSp>
          <p:nvCxnSpPr>
            <p:cNvPr id="487" name="Shape 487"/>
            <p:cNvCxnSpPr/>
            <p:nvPr/>
          </p:nvCxnSpPr>
          <p:spPr>
            <a:xfrm rot="10800000">
              <a:off x="5429250" y="3706812"/>
              <a:ext cx="0" cy="6575424"/>
            </a:xfrm>
            <a:prstGeom prst="straightConnector1">
              <a:avLst/>
            </a:prstGeom>
            <a:noFill/>
            <a:ln cap="flat" cmpd="sng" w="25400">
              <a:solidFill>
                <a:srgbClr val="000000"/>
              </a:solidFill>
              <a:prstDash val="solid"/>
              <a:miter/>
              <a:headEnd len="med" w="med" type="none"/>
              <a:tailEnd len="lg" w="lg" type="stealth"/>
            </a:ln>
          </p:spPr>
        </p:cxnSp>
        <p:cxnSp>
          <p:nvCxnSpPr>
            <p:cNvPr id="488" name="Shape 488"/>
            <p:cNvCxnSpPr/>
            <p:nvPr/>
          </p:nvCxnSpPr>
          <p:spPr>
            <a:xfrm flipH="1" rot="10800000">
              <a:off x="5429250" y="10280649"/>
              <a:ext cx="10858499" cy="1587"/>
            </a:xfrm>
            <a:prstGeom prst="straightConnector1">
              <a:avLst/>
            </a:prstGeom>
            <a:noFill/>
            <a:ln cap="flat" cmpd="sng" w="25400">
              <a:solidFill>
                <a:srgbClr val="000000"/>
              </a:solidFill>
              <a:prstDash val="solid"/>
              <a:miter/>
              <a:headEnd len="med" w="med" type="none"/>
              <a:tailEnd len="lg" w="lg" type="stealth"/>
            </a:ln>
          </p:spPr>
        </p:cxnSp>
        <p:sp>
          <p:nvSpPr>
            <p:cNvPr id="489" name="Shape 489"/>
            <p:cNvSpPr/>
            <p:nvPr/>
          </p:nvSpPr>
          <p:spPr>
            <a:xfrm>
              <a:off x="5715000" y="5780087"/>
              <a:ext cx="9548812" cy="3263900"/>
            </a:xfrm>
            <a:custGeom>
              <a:pathLst>
                <a:path extrusionOk="0" h="120000" w="120000">
                  <a:moveTo>
                    <a:pt x="0" y="81420"/>
                  </a:moveTo>
                  <a:cubicBezTo>
                    <a:pt x="2394" y="70038"/>
                    <a:pt x="4788" y="58657"/>
                    <a:pt x="7182" y="49902"/>
                  </a:cubicBezTo>
                  <a:cubicBezTo>
                    <a:pt x="9576" y="41147"/>
                    <a:pt x="11770" y="33093"/>
                    <a:pt x="14364" y="28891"/>
                  </a:cubicBezTo>
                  <a:cubicBezTo>
                    <a:pt x="16957" y="24688"/>
                    <a:pt x="20209" y="22062"/>
                    <a:pt x="22743" y="24747"/>
                  </a:cubicBezTo>
                  <a:cubicBezTo>
                    <a:pt x="25276" y="27431"/>
                    <a:pt x="27591" y="36887"/>
                    <a:pt x="29625" y="44883"/>
                  </a:cubicBezTo>
                  <a:cubicBezTo>
                    <a:pt x="31660" y="52879"/>
                    <a:pt x="33216" y="63268"/>
                    <a:pt x="35012" y="72898"/>
                  </a:cubicBezTo>
                  <a:cubicBezTo>
                    <a:pt x="36807" y="82529"/>
                    <a:pt x="38463" y="95077"/>
                    <a:pt x="40399" y="102665"/>
                  </a:cubicBezTo>
                  <a:cubicBezTo>
                    <a:pt x="42334" y="110252"/>
                    <a:pt x="44748" y="116848"/>
                    <a:pt x="46683" y="118424"/>
                  </a:cubicBezTo>
                  <a:cubicBezTo>
                    <a:pt x="48618" y="120000"/>
                    <a:pt x="50453" y="115330"/>
                    <a:pt x="52049" y="112237"/>
                  </a:cubicBezTo>
                  <a:cubicBezTo>
                    <a:pt x="53645" y="109143"/>
                    <a:pt x="54783" y="105350"/>
                    <a:pt x="56239" y="99980"/>
                  </a:cubicBezTo>
                  <a:cubicBezTo>
                    <a:pt x="57695" y="94610"/>
                    <a:pt x="59152" y="86147"/>
                    <a:pt x="60748" y="79902"/>
                  </a:cubicBezTo>
                  <a:cubicBezTo>
                    <a:pt x="62344" y="73657"/>
                    <a:pt x="64039" y="65428"/>
                    <a:pt x="65835" y="62392"/>
                  </a:cubicBezTo>
                  <a:cubicBezTo>
                    <a:pt x="67630" y="59357"/>
                    <a:pt x="69366" y="59182"/>
                    <a:pt x="71521" y="61517"/>
                  </a:cubicBezTo>
                  <a:cubicBezTo>
                    <a:pt x="73675" y="63852"/>
                    <a:pt x="76249" y="71322"/>
                    <a:pt x="78703" y="76400"/>
                  </a:cubicBezTo>
                  <a:cubicBezTo>
                    <a:pt x="81157" y="81478"/>
                    <a:pt x="83790" y="88132"/>
                    <a:pt x="86184" y="91926"/>
                  </a:cubicBezTo>
                  <a:cubicBezTo>
                    <a:pt x="88578" y="95719"/>
                    <a:pt x="91172" y="99863"/>
                    <a:pt x="93067" y="99163"/>
                  </a:cubicBezTo>
                  <a:cubicBezTo>
                    <a:pt x="94962" y="98463"/>
                    <a:pt x="96119" y="94202"/>
                    <a:pt x="97556" y="87782"/>
                  </a:cubicBezTo>
                  <a:cubicBezTo>
                    <a:pt x="98992" y="81361"/>
                    <a:pt x="100049" y="73949"/>
                    <a:pt x="101745" y="60642"/>
                  </a:cubicBezTo>
                  <a:cubicBezTo>
                    <a:pt x="103441" y="47334"/>
                    <a:pt x="104678" y="15758"/>
                    <a:pt x="107730" y="7879"/>
                  </a:cubicBezTo>
                  <a:cubicBezTo>
                    <a:pt x="110783" y="0"/>
                    <a:pt x="117446" y="12256"/>
                    <a:pt x="120000" y="13365"/>
                  </a:cubicBezTo>
                </a:path>
              </a:pathLst>
            </a:custGeom>
            <a:noFill/>
            <a:ln cap="flat" cmpd="sng" w="25400">
              <a:solidFill>
                <a:srgbClr val="003300"/>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490" name="Shape 490"/>
            <p:cNvCxnSpPr/>
            <p:nvPr/>
          </p:nvCxnSpPr>
          <p:spPr>
            <a:xfrm flipH="1" rot="10800000">
              <a:off x="4572000" y="6851649"/>
              <a:ext cx="11715750" cy="1714500"/>
            </a:xfrm>
            <a:prstGeom prst="straightConnector1">
              <a:avLst/>
            </a:prstGeom>
            <a:noFill/>
            <a:ln cap="flat" cmpd="sng" w="9525">
              <a:solidFill>
                <a:srgbClr val="000000"/>
              </a:solidFill>
              <a:prstDash val="solid"/>
              <a:miter/>
              <a:headEnd len="med" w="med" type="none"/>
              <a:tailEnd len="med" w="med" type="none"/>
            </a:ln>
          </p:spPr>
        </p:cxnSp>
        <p:sp>
          <p:nvSpPr>
            <p:cNvPr id="491" name="Shape 491"/>
            <p:cNvSpPr txBox="1"/>
            <p:nvPr/>
          </p:nvSpPr>
          <p:spPr>
            <a:xfrm>
              <a:off x="16041687" y="9423400"/>
              <a:ext cx="1960561" cy="925511"/>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Tiempo</a:t>
              </a:r>
            </a:p>
          </p:txBody>
        </p:sp>
        <p:sp>
          <p:nvSpPr>
            <p:cNvPr id="492" name="Shape 492"/>
            <p:cNvSpPr txBox="1"/>
            <p:nvPr/>
          </p:nvSpPr>
          <p:spPr>
            <a:xfrm>
              <a:off x="3429000" y="3068636"/>
              <a:ext cx="2857499" cy="1211261"/>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Crecimiento PIB</a:t>
              </a:r>
            </a:p>
          </p:txBody>
        </p:sp>
        <p:sp>
          <p:nvSpPr>
            <p:cNvPr id="493" name="Shape 493"/>
            <p:cNvSpPr txBox="1"/>
            <p:nvPr/>
          </p:nvSpPr>
          <p:spPr>
            <a:xfrm>
              <a:off x="8001000" y="2851150"/>
              <a:ext cx="5838824" cy="925511"/>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Crecimiento Económico</a:t>
              </a:r>
            </a:p>
          </p:txBody>
        </p:sp>
        <p:sp>
          <p:nvSpPr>
            <p:cNvPr id="494" name="Shape 494"/>
            <p:cNvSpPr txBox="1"/>
            <p:nvPr/>
          </p:nvSpPr>
          <p:spPr>
            <a:xfrm>
              <a:off x="10612436" y="6783386"/>
              <a:ext cx="1960561" cy="925511"/>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Pico</a:t>
              </a:r>
            </a:p>
          </p:txBody>
        </p:sp>
        <p:sp>
          <p:nvSpPr>
            <p:cNvPr id="495" name="Shape 495"/>
            <p:cNvSpPr txBox="1"/>
            <p:nvPr/>
          </p:nvSpPr>
          <p:spPr>
            <a:xfrm>
              <a:off x="12858750" y="7423150"/>
              <a:ext cx="2857499" cy="639762"/>
            </a:xfrm>
            <a:prstGeom prst="rect">
              <a:avLst/>
            </a:prstGeom>
            <a:solidFill>
              <a:srgbClr val="00FFFF">
                <a:alpha val="55686"/>
              </a:srgbClr>
            </a:solid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Contracción</a:t>
              </a:r>
            </a:p>
          </p:txBody>
        </p:sp>
        <p:sp>
          <p:nvSpPr>
            <p:cNvPr id="496" name="Shape 496"/>
            <p:cNvSpPr txBox="1"/>
            <p:nvPr/>
          </p:nvSpPr>
          <p:spPr>
            <a:xfrm>
              <a:off x="6572250" y="7994650"/>
              <a:ext cx="3143249" cy="639762"/>
            </a:xfrm>
            <a:prstGeom prst="rect">
              <a:avLst/>
            </a:prstGeom>
            <a:solidFill>
              <a:srgbClr val="33CCCC">
                <a:alpha val="66666"/>
              </a:srgbClr>
            </a:solid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Recuperación</a:t>
              </a:r>
            </a:p>
          </p:txBody>
        </p:sp>
        <p:cxnSp>
          <p:nvCxnSpPr>
            <p:cNvPr id="497" name="Shape 497"/>
            <p:cNvCxnSpPr/>
            <p:nvPr/>
          </p:nvCxnSpPr>
          <p:spPr>
            <a:xfrm>
              <a:off x="9429750" y="8566150"/>
              <a:ext cx="1587" cy="1714500"/>
            </a:xfrm>
            <a:prstGeom prst="straightConnector1">
              <a:avLst/>
            </a:prstGeom>
            <a:noFill/>
            <a:ln cap="flat" cmpd="sng" w="9525">
              <a:solidFill>
                <a:srgbClr val="000000"/>
              </a:solidFill>
              <a:prstDash val="solid"/>
              <a:miter/>
              <a:headEnd len="med" w="med" type="none"/>
              <a:tailEnd len="med" w="med" type="none"/>
            </a:ln>
          </p:spPr>
        </p:cxnSp>
        <p:cxnSp>
          <p:nvCxnSpPr>
            <p:cNvPr id="498" name="Shape 498"/>
            <p:cNvCxnSpPr/>
            <p:nvPr/>
          </p:nvCxnSpPr>
          <p:spPr>
            <a:xfrm>
              <a:off x="13144500" y="8280400"/>
              <a:ext cx="1587" cy="2000250"/>
            </a:xfrm>
            <a:prstGeom prst="straightConnector1">
              <a:avLst/>
            </a:prstGeom>
            <a:noFill/>
            <a:ln cap="flat" cmpd="sng" w="9525">
              <a:solidFill>
                <a:srgbClr val="000000"/>
              </a:solidFill>
              <a:prstDash val="solid"/>
              <a:miter/>
              <a:headEnd len="med" w="med" type="none"/>
              <a:tailEnd len="med" w="med" type="none"/>
            </a:ln>
          </p:spPr>
        </p:cxnSp>
        <p:sp>
          <p:nvSpPr>
            <p:cNvPr id="499" name="Shape 499"/>
            <p:cNvSpPr txBox="1"/>
            <p:nvPr/>
          </p:nvSpPr>
          <p:spPr>
            <a:xfrm>
              <a:off x="10287000" y="9069386"/>
              <a:ext cx="1960561" cy="925511"/>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Ciclo</a:t>
              </a:r>
            </a:p>
          </p:txBody>
        </p:sp>
        <p:cxnSp>
          <p:nvCxnSpPr>
            <p:cNvPr id="500" name="Shape 500"/>
            <p:cNvCxnSpPr/>
            <p:nvPr/>
          </p:nvCxnSpPr>
          <p:spPr>
            <a:xfrm>
              <a:off x="9429750" y="9709150"/>
              <a:ext cx="3714750" cy="0"/>
            </a:xfrm>
            <a:prstGeom prst="straightConnector1">
              <a:avLst/>
            </a:prstGeom>
            <a:noFill/>
            <a:ln cap="flat" cmpd="sng" w="9525">
              <a:solidFill>
                <a:srgbClr val="000000"/>
              </a:solidFill>
              <a:prstDash val="solid"/>
              <a:miter/>
              <a:headEnd len="med" w="med" type="stealth"/>
              <a:tailEnd len="med" w="med" type="stealth"/>
            </a:ln>
          </p:spPr>
        </p:cxnSp>
        <p:sp>
          <p:nvSpPr>
            <p:cNvPr id="501" name="Shape 501"/>
            <p:cNvSpPr txBox="1"/>
            <p:nvPr/>
          </p:nvSpPr>
          <p:spPr>
            <a:xfrm>
              <a:off x="8326436" y="8851900"/>
              <a:ext cx="1960561" cy="925511"/>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Valle</a:t>
              </a:r>
            </a:p>
          </p:txBody>
        </p:sp>
        <p:cxnSp>
          <p:nvCxnSpPr>
            <p:cNvPr id="502" name="Shape 502"/>
            <p:cNvCxnSpPr/>
            <p:nvPr/>
          </p:nvCxnSpPr>
          <p:spPr>
            <a:xfrm flipH="1" rot="10800000">
              <a:off x="9715500" y="7994649"/>
              <a:ext cx="857250" cy="285750"/>
            </a:xfrm>
            <a:prstGeom prst="straightConnector1">
              <a:avLst/>
            </a:prstGeom>
            <a:noFill/>
            <a:ln cap="flat" cmpd="sng" w="25400">
              <a:solidFill>
                <a:srgbClr val="000080"/>
              </a:solidFill>
              <a:prstDash val="solid"/>
              <a:miter/>
              <a:headEnd len="med" w="med" type="none"/>
              <a:tailEnd len="lg" w="lg" type="stealth"/>
            </a:ln>
          </p:spPr>
        </p:cxnSp>
        <p:cxnSp>
          <p:nvCxnSpPr>
            <p:cNvPr id="503" name="Shape 503"/>
            <p:cNvCxnSpPr/>
            <p:nvPr/>
          </p:nvCxnSpPr>
          <p:spPr>
            <a:xfrm rot="10800000">
              <a:off x="12001499" y="7708899"/>
              <a:ext cx="857250" cy="1587"/>
            </a:xfrm>
            <a:prstGeom prst="straightConnector1">
              <a:avLst/>
            </a:prstGeom>
            <a:noFill/>
            <a:ln cap="flat" cmpd="sng" w="25400">
              <a:solidFill>
                <a:srgbClr val="000080"/>
              </a:solidFill>
              <a:prstDash val="solid"/>
              <a:miter/>
              <a:headEnd len="med" w="med" type="none"/>
              <a:tailEnd len="lg" w="lg" type="stealth"/>
            </a:ln>
          </p:spPr>
        </p:cxnSp>
        <p:sp>
          <p:nvSpPr>
            <p:cNvPr id="504" name="Shape 504"/>
            <p:cNvSpPr txBox="1"/>
            <p:nvPr/>
          </p:nvSpPr>
          <p:spPr>
            <a:xfrm>
              <a:off x="15144750" y="6211887"/>
              <a:ext cx="2571749" cy="925511"/>
            </a:xfrm>
            <a:prstGeom prst="rect">
              <a:avLst/>
            </a:prstGeom>
            <a:noFill/>
            <a:ln>
              <a:noFill/>
            </a:ln>
          </p:spPr>
          <p:txBody>
            <a:bodyPr anchorCtr="0" anchor="t" bIns="37025" lIns="74050" rIns="74050" tIns="37025">
              <a:noAutofit/>
            </a:bodyPr>
            <a:lstStyle/>
            <a:p>
              <a:pPr indent="0" lvl="0" marL="0" marR="0" rtl="0" algn="l">
                <a:lnSpc>
                  <a:spcPct val="100000"/>
                </a:lnSpc>
                <a:spcBef>
                  <a:spcPts val="0"/>
                </a:spcBef>
                <a:spcAft>
                  <a:spcPts val="0"/>
                </a:spcAft>
                <a:buClr>
                  <a:srgbClr val="FF0000"/>
                </a:buClr>
                <a:buSzPct val="25000"/>
                <a:buFont typeface="Arial"/>
                <a:buNone/>
              </a:pPr>
              <a:r>
                <a:rPr b="1" i="1" lang="en-US" sz="1200" u="none" cap="none" strike="noStrike">
                  <a:solidFill>
                    <a:srgbClr val="FF0000"/>
                  </a:solidFill>
                  <a:latin typeface="Arial"/>
                  <a:ea typeface="Arial"/>
                  <a:cs typeface="Arial"/>
                  <a:sym typeface="Arial"/>
                </a:rPr>
                <a:t>Tendencia</a:t>
              </a:r>
            </a:p>
          </p:txBody>
        </p:sp>
      </p:grpSp>
      <p:pic>
        <p:nvPicPr>
          <p:cNvPr id="505" name="Shape 505"/>
          <p:cNvPicPr preferRelativeResize="0"/>
          <p:nvPr>
            <p:ph idx="1" type="body"/>
          </p:nvPr>
        </p:nvPicPr>
        <p:blipFill rotWithShape="1">
          <a:blip r:embed="rId3">
            <a:alphaModFix/>
          </a:blip>
          <a:srcRect b="0" l="0" r="0" t="0"/>
          <a:stretch/>
        </p:blipFill>
        <p:spPr>
          <a:xfrm>
            <a:off x="395287" y="188911"/>
            <a:ext cx="3009899" cy="609599"/>
          </a:xfrm>
          <a:prstGeom prst="rect">
            <a:avLst/>
          </a:prstGeom>
          <a:noFill/>
          <a:ln>
            <a:noFill/>
          </a:ln>
        </p:spPr>
      </p:pic>
    </p:spTree>
  </p:cSld>
  <p:clrMapOvr>
    <a:masterClrMapping/>
  </p:clrMapOvr>
  <p:transition spd="slow">
    <p:cut/>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09" name="Shape 509"/>
        <p:cNvGrpSpPr/>
        <p:nvPr/>
      </p:nvGrpSpPr>
      <p:grpSpPr>
        <a:xfrm>
          <a:off x="0" y="0"/>
          <a:ext cx="0" cy="0"/>
          <a:chOff x="0" y="0"/>
          <a:chExt cx="0" cy="0"/>
        </a:xfrm>
      </p:grpSpPr>
      <p:sp>
        <p:nvSpPr>
          <p:cNvPr id="510" name="Shape 510"/>
          <p:cNvSpPr txBox="1"/>
          <p:nvPr>
            <p:ph idx="4294967295" type="title"/>
          </p:nvPr>
        </p:nvSpPr>
        <p:spPr>
          <a:xfrm>
            <a:off x="3563937" y="1624012"/>
            <a:ext cx="3384550" cy="652462"/>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TENDENCIA</a:t>
            </a:r>
          </a:p>
        </p:txBody>
      </p:sp>
      <p:sp>
        <p:nvSpPr>
          <p:cNvPr id="511" name="Shape 511"/>
          <p:cNvSpPr txBox="1"/>
          <p:nvPr>
            <p:ph idx="4294967295" type="body"/>
          </p:nvPr>
        </p:nvSpPr>
        <p:spPr>
          <a:xfrm>
            <a:off x="215900" y="3068636"/>
            <a:ext cx="8820149" cy="1296986"/>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dk2"/>
              </a:buClr>
              <a:buSzPct val="25000"/>
              <a:buFont typeface="Noto Sans Symbols"/>
              <a:buNone/>
            </a:pPr>
            <a:r>
              <a:rPr b="0" i="0" lang="en-US" sz="2600" u="none" cap="none" strike="noStrike">
                <a:solidFill>
                  <a:schemeClr val="dk1"/>
                </a:solidFill>
                <a:latin typeface="Arial"/>
                <a:ea typeface="Arial"/>
                <a:cs typeface="Arial"/>
                <a:sym typeface="Arial"/>
              </a:rPr>
              <a:t>Es un patrón de comportamiento de las variables de un modelo determinado o simplemente la dirección o rumbo que toman esas variables de un entorno particular </a:t>
            </a:r>
          </a:p>
        </p:txBody>
      </p:sp>
      <p:pic>
        <p:nvPicPr>
          <p:cNvPr id="512" name="Shape 512"/>
          <p:cNvPicPr preferRelativeResize="0"/>
          <p:nvPr>
            <p:ph idx="4294967295" type="body"/>
          </p:nvPr>
        </p:nvPicPr>
        <p:blipFill rotWithShape="1">
          <a:blip r:embed="rId3">
            <a:alphaModFix/>
          </a:blip>
          <a:srcRect b="0" l="0" r="0" t="0"/>
          <a:stretch/>
        </p:blipFill>
        <p:spPr>
          <a:xfrm>
            <a:off x="179386" y="260350"/>
            <a:ext cx="3009899" cy="609599"/>
          </a:xfrm>
          <a:prstGeom prst="rect">
            <a:avLst/>
          </a:prstGeom>
          <a:noFill/>
          <a:ln>
            <a:noFill/>
          </a:ln>
        </p:spPr>
      </p:pic>
    </p:spTree>
  </p:cSld>
  <p:clrMapOvr>
    <a:masterClrMapping/>
  </p:clrMapOvr>
  <p:transition spd="slow">
    <p:cut/>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16" name="Shape 516"/>
        <p:cNvGrpSpPr/>
        <p:nvPr/>
      </p:nvGrpSpPr>
      <p:grpSpPr>
        <a:xfrm>
          <a:off x="0" y="0"/>
          <a:ext cx="0" cy="0"/>
          <a:chOff x="0" y="0"/>
          <a:chExt cx="0" cy="0"/>
        </a:xfrm>
      </p:grpSpPr>
      <p:sp>
        <p:nvSpPr>
          <p:cNvPr id="517" name="Shape 517"/>
          <p:cNvSpPr txBox="1"/>
          <p:nvPr>
            <p:ph idx="4294967295" type="title"/>
          </p:nvPr>
        </p:nvSpPr>
        <p:spPr>
          <a:xfrm>
            <a:off x="1060450" y="909637"/>
            <a:ext cx="7543800"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CRECIMIENTO VS.  DESARROLLO ECONÓMICO</a:t>
            </a:r>
          </a:p>
        </p:txBody>
      </p:sp>
      <p:sp>
        <p:nvSpPr>
          <p:cNvPr id="518" name="Shape 518"/>
          <p:cNvSpPr txBox="1"/>
          <p:nvPr>
            <p:ph idx="4294967295" type="body"/>
          </p:nvPr>
        </p:nvSpPr>
        <p:spPr>
          <a:xfrm>
            <a:off x="250825" y="2349500"/>
            <a:ext cx="8713786" cy="4248149"/>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dk2"/>
              </a:buClr>
              <a:buSzPct val="25000"/>
              <a:buFont typeface="Noto Sans Symbols"/>
              <a:buNone/>
            </a:pPr>
            <a:r>
              <a:rPr b="1" i="0" lang="en-US" sz="2600" u="none" cap="none" strike="noStrike">
                <a:solidFill>
                  <a:srgbClr val="FF0000"/>
                </a:solidFill>
                <a:latin typeface="Arial"/>
                <a:ea typeface="Arial"/>
                <a:cs typeface="Arial"/>
                <a:sym typeface="Arial"/>
              </a:rPr>
              <a:t>Crecimiento económico</a:t>
            </a:r>
            <a:r>
              <a:rPr b="0" i="0" lang="en-US" sz="2600" u="none" cap="none" strike="noStrike">
                <a:solidFill>
                  <a:schemeClr val="dk1"/>
                </a:solidFill>
                <a:latin typeface="Arial"/>
                <a:ea typeface="Arial"/>
                <a:cs typeface="Arial"/>
                <a:sym typeface="Arial"/>
              </a:rPr>
              <a:t> es el cambio cuantitativo (expansión o contracción) de la economía de un país.</a:t>
            </a:r>
          </a:p>
          <a:p>
            <a:pPr indent="-342900" lvl="0" marL="342900" marR="0" rtl="0" algn="l">
              <a:lnSpc>
                <a:spcPct val="100000"/>
              </a:lnSpc>
              <a:spcBef>
                <a:spcPts val="520"/>
              </a:spcBef>
              <a:spcAft>
                <a:spcPts val="0"/>
              </a:spcAft>
              <a:buClr>
                <a:schemeClr val="dk2"/>
              </a:buClr>
              <a:buSzPct val="25000"/>
              <a:buFont typeface="Noto Sans Symbols"/>
              <a:buNone/>
            </a:pPr>
            <a:r>
              <a:t/>
            </a:r>
            <a:endParaRPr b="0" i="0" sz="2600" u="none" cap="none" strike="noStrike">
              <a:solidFill>
                <a:schemeClr val="dk1"/>
              </a:solidFill>
              <a:latin typeface="Arial"/>
              <a:ea typeface="Arial"/>
              <a:cs typeface="Arial"/>
              <a:sym typeface="Arial"/>
            </a:endParaRPr>
          </a:p>
          <a:p>
            <a:pPr indent="-342900" lvl="0" marL="342900" marR="0" rtl="0" algn="l">
              <a:lnSpc>
                <a:spcPct val="100000"/>
              </a:lnSpc>
              <a:spcBef>
                <a:spcPts val="520"/>
              </a:spcBef>
              <a:spcAft>
                <a:spcPts val="0"/>
              </a:spcAft>
              <a:buClr>
                <a:schemeClr val="dk2"/>
              </a:buClr>
              <a:buSzPct val="25000"/>
              <a:buFont typeface="Noto Sans Symbols"/>
              <a:buNone/>
            </a:pPr>
            <a:r>
              <a:rPr b="1" i="0" lang="en-US" sz="2600" u="none" cap="none" strike="noStrike">
                <a:solidFill>
                  <a:srgbClr val="FF0000"/>
                </a:solidFill>
                <a:latin typeface="Arial"/>
                <a:ea typeface="Arial"/>
                <a:cs typeface="Arial"/>
                <a:sym typeface="Arial"/>
              </a:rPr>
              <a:t>Desarrollo económico</a:t>
            </a:r>
            <a:r>
              <a:rPr b="0" i="0" lang="en-US" sz="2600" u="none" cap="none" strike="noStrike">
                <a:solidFill>
                  <a:schemeClr val="dk1"/>
                </a:solidFill>
                <a:latin typeface="Arial"/>
                <a:ea typeface="Arial"/>
                <a:cs typeface="Arial"/>
                <a:sym typeface="Arial"/>
              </a:rPr>
              <a:t> implica una evolución o cambio positivo en las relaciones de individuos, grupos e instituciones en una sociedad, conjuga la capacidad de </a:t>
            </a:r>
            <a:r>
              <a:rPr b="0" i="1" lang="en-US" sz="2600" u="none" cap="none" strike="noStrike">
                <a:solidFill>
                  <a:schemeClr val="dk1"/>
                </a:solidFill>
                <a:latin typeface="Arial"/>
                <a:ea typeface="Arial"/>
                <a:cs typeface="Arial"/>
                <a:sym typeface="Arial"/>
              </a:rPr>
              <a:t>crecimiento</a:t>
            </a:r>
            <a:r>
              <a:rPr b="0" i="0" lang="en-US" sz="2600" u="none" cap="none" strike="noStrike">
                <a:solidFill>
                  <a:schemeClr val="dk1"/>
                </a:solidFill>
                <a:latin typeface="Arial"/>
                <a:ea typeface="Arial"/>
                <a:cs typeface="Arial"/>
                <a:sym typeface="Arial"/>
              </a:rPr>
              <a:t> con la capacidad de </a:t>
            </a:r>
            <a:r>
              <a:rPr b="0" i="1" lang="en-US" sz="2600" u="none" cap="none" strike="noStrike">
                <a:solidFill>
                  <a:schemeClr val="dk1"/>
                </a:solidFill>
                <a:latin typeface="Arial"/>
                <a:ea typeface="Arial"/>
                <a:cs typeface="Arial"/>
                <a:sym typeface="Arial"/>
              </a:rPr>
              <a:t>transformación</a:t>
            </a:r>
            <a:r>
              <a:rPr b="0" i="0" lang="en-US" sz="2600" u="none" cap="none" strike="noStrike">
                <a:solidFill>
                  <a:schemeClr val="dk1"/>
                </a:solidFill>
                <a:latin typeface="Arial"/>
                <a:ea typeface="Arial"/>
                <a:cs typeface="Arial"/>
                <a:sym typeface="Arial"/>
              </a:rPr>
              <a:t> de la base económica y con la capacidad de </a:t>
            </a:r>
            <a:r>
              <a:rPr b="0" i="1" lang="en-US" sz="2600" u="none" cap="none" strike="noStrike">
                <a:solidFill>
                  <a:schemeClr val="dk1"/>
                </a:solidFill>
                <a:latin typeface="Arial"/>
                <a:ea typeface="Arial"/>
                <a:cs typeface="Arial"/>
                <a:sym typeface="Arial"/>
              </a:rPr>
              <a:t>absorción social</a:t>
            </a:r>
            <a:r>
              <a:rPr b="0" i="0" lang="en-US" sz="2600" u="none" cap="none" strike="noStrike">
                <a:solidFill>
                  <a:schemeClr val="dk1"/>
                </a:solidFill>
                <a:latin typeface="Arial"/>
                <a:ea typeface="Arial"/>
                <a:cs typeface="Arial"/>
                <a:sym typeface="Arial"/>
              </a:rPr>
              <a:t> de los frutos del crecimiento.</a:t>
            </a:r>
          </a:p>
        </p:txBody>
      </p:sp>
      <p:pic>
        <p:nvPicPr>
          <p:cNvPr id="519" name="Shape 519"/>
          <p:cNvPicPr preferRelativeResize="0"/>
          <p:nvPr>
            <p:ph idx="4294967295" type="body"/>
          </p:nvPr>
        </p:nvPicPr>
        <p:blipFill rotWithShape="1">
          <a:blip r:embed="rId3">
            <a:alphaModFix/>
          </a:blip>
          <a:srcRect b="0" l="0" r="0" t="0"/>
          <a:stretch/>
        </p:blipFill>
        <p:spPr>
          <a:xfrm>
            <a:off x="250825" y="188911"/>
            <a:ext cx="3009899" cy="609599"/>
          </a:xfrm>
          <a:prstGeom prst="rect">
            <a:avLst/>
          </a:prstGeom>
          <a:noFill/>
          <a:ln>
            <a:noFill/>
          </a:ln>
        </p:spPr>
      </p:pic>
    </p:spTree>
  </p:cSld>
  <p:clrMapOvr>
    <a:masterClrMapping/>
  </p:clrMapOvr>
  <p:transition spd="slow">
    <p:cut/>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23" name="Shape 523"/>
        <p:cNvGrpSpPr/>
        <p:nvPr/>
      </p:nvGrpSpPr>
      <p:grpSpPr>
        <a:xfrm>
          <a:off x="0" y="0"/>
          <a:ext cx="0" cy="0"/>
          <a:chOff x="0" y="0"/>
          <a:chExt cx="0" cy="0"/>
        </a:xfrm>
      </p:grpSpPr>
      <p:pic>
        <p:nvPicPr>
          <p:cNvPr id="524" name="Shape 524"/>
          <p:cNvPicPr preferRelativeResize="0"/>
          <p:nvPr>
            <p:ph idx="4294967295" type="body"/>
          </p:nvPr>
        </p:nvPicPr>
        <p:blipFill rotWithShape="1">
          <a:blip r:embed="rId3">
            <a:alphaModFix/>
          </a:blip>
          <a:srcRect b="0" l="0" r="0" t="0"/>
          <a:stretch/>
        </p:blipFill>
        <p:spPr>
          <a:xfrm>
            <a:off x="250825" y="1484312"/>
            <a:ext cx="8569325" cy="5373687"/>
          </a:xfrm>
          <a:prstGeom prst="rect">
            <a:avLst/>
          </a:prstGeom>
          <a:noFill/>
          <a:ln>
            <a:noFill/>
          </a:ln>
        </p:spPr>
      </p:pic>
      <p:pic>
        <p:nvPicPr>
          <p:cNvPr id="525" name="Shape 525"/>
          <p:cNvPicPr preferRelativeResize="0"/>
          <p:nvPr>
            <p:ph idx="4294967295" type="body"/>
          </p:nvPr>
        </p:nvPicPr>
        <p:blipFill rotWithShape="1">
          <a:blip r:embed="rId4">
            <a:alphaModFix/>
          </a:blip>
          <a:srcRect b="0" l="0" r="0" t="0"/>
          <a:stretch/>
        </p:blipFill>
        <p:spPr>
          <a:xfrm>
            <a:off x="250825" y="260350"/>
            <a:ext cx="3009899" cy="609599"/>
          </a:xfrm>
          <a:prstGeom prst="rect">
            <a:avLst/>
          </a:prstGeom>
          <a:noFill/>
          <a:ln>
            <a:noFill/>
          </a:ln>
        </p:spPr>
      </p:pic>
      <p:sp>
        <p:nvSpPr>
          <p:cNvPr id="526" name="Shape 526"/>
          <p:cNvSpPr txBox="1"/>
          <p:nvPr>
            <p:ph idx="4294967295" type="title"/>
          </p:nvPr>
        </p:nvSpPr>
        <p:spPr>
          <a:xfrm>
            <a:off x="107950" y="981075"/>
            <a:ext cx="7848599"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900" u="none" cap="none" strike="noStrike">
                <a:solidFill>
                  <a:schemeClr val="dk2"/>
                </a:solidFill>
                <a:latin typeface="Arial"/>
                <a:ea typeface="Arial"/>
                <a:cs typeface="Arial"/>
                <a:sym typeface="Arial"/>
              </a:rPr>
              <a:t>CRECIMIENTO Y DESARROLLO ECONÓMICO</a:t>
            </a:r>
          </a:p>
        </p:txBody>
      </p:sp>
    </p:spTree>
  </p:cSld>
  <p:clrMapOvr>
    <a:masterClrMapping/>
  </p:clrMapOvr>
  <p:transition spd="slow">
    <p:cut/>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30" name="Shape 530"/>
        <p:cNvGrpSpPr/>
        <p:nvPr/>
      </p:nvGrpSpPr>
      <p:grpSpPr>
        <a:xfrm>
          <a:off x="0" y="0"/>
          <a:ext cx="0" cy="0"/>
          <a:chOff x="0" y="0"/>
          <a:chExt cx="0" cy="0"/>
        </a:xfrm>
      </p:grpSpPr>
      <p:sp>
        <p:nvSpPr>
          <p:cNvPr id="531" name="Shape 531"/>
          <p:cNvSpPr txBox="1"/>
          <p:nvPr>
            <p:ph idx="4294967295" type="title"/>
          </p:nvPr>
        </p:nvSpPr>
        <p:spPr>
          <a:xfrm>
            <a:off x="2266950" y="620712"/>
            <a:ext cx="5761036" cy="1295400"/>
          </a:xfrm>
          <a:prstGeom prst="rect">
            <a:avLst/>
          </a:prstGeom>
          <a:noFill/>
          <a:ln>
            <a:noFill/>
          </a:ln>
        </p:spPr>
        <p:txBody>
          <a:bodyPr anchorCtr="0" anchor="b" bIns="45700" lIns="91425" rIns="91425" tIns="45700">
            <a:noAutofit/>
          </a:bodyPr>
          <a:lstStyle/>
          <a:p>
            <a:pPr indent="0" lvl="0" marL="0" marR="0" rtl="0" algn="l">
              <a:lnSpc>
                <a:spcPct val="100000"/>
              </a:lnSpc>
              <a:spcBef>
                <a:spcPts val="0"/>
              </a:spcBef>
              <a:spcAft>
                <a:spcPts val="0"/>
              </a:spcAft>
              <a:buClr>
                <a:schemeClr val="dk2"/>
              </a:buClr>
              <a:buSzPct val="25000"/>
              <a:buFont typeface="Arial"/>
              <a:buNone/>
            </a:pPr>
            <a:r>
              <a:rPr b="1" i="0" lang="en-US" sz="3500" u="none" cap="none" strike="noStrike">
                <a:solidFill>
                  <a:schemeClr val="dk2"/>
                </a:solidFill>
                <a:latin typeface="Arial"/>
                <a:ea typeface="Arial"/>
                <a:cs typeface="Arial"/>
                <a:sym typeface="Arial"/>
              </a:rPr>
              <a:t>POLÍTICAS ECONÓMICAS</a:t>
            </a:r>
            <a:br>
              <a:rPr b="1" i="0" lang="en-US" sz="3500" u="none" cap="none" strike="noStrike">
                <a:solidFill>
                  <a:schemeClr val="dk2"/>
                </a:solidFill>
                <a:latin typeface="Arial"/>
                <a:ea typeface="Arial"/>
                <a:cs typeface="Arial"/>
                <a:sym typeface="Arial"/>
              </a:rPr>
            </a:br>
            <a:r>
              <a:rPr b="1" i="0" lang="en-US" sz="3500" u="none" cap="none" strike="noStrike">
                <a:solidFill>
                  <a:schemeClr val="dk2"/>
                </a:solidFill>
                <a:latin typeface="Arial"/>
                <a:ea typeface="Arial"/>
                <a:cs typeface="Arial"/>
                <a:sym typeface="Arial"/>
              </a:rPr>
              <a:t>(VARIABLES EXÓGENAS)</a:t>
            </a:r>
          </a:p>
        </p:txBody>
      </p:sp>
      <p:sp>
        <p:nvSpPr>
          <p:cNvPr id="532" name="Shape 532"/>
          <p:cNvSpPr txBox="1"/>
          <p:nvPr>
            <p:ph idx="4294967295" type="body"/>
          </p:nvPr>
        </p:nvSpPr>
        <p:spPr>
          <a:xfrm>
            <a:off x="636587" y="1916111"/>
            <a:ext cx="8507411" cy="3529012"/>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dk2"/>
              </a:buClr>
              <a:buSzPct val="25000"/>
              <a:buFont typeface="Noto Sans Symbols"/>
              <a:buNone/>
            </a:pPr>
            <a:r>
              <a:rPr b="0" i="0" lang="en-US" sz="2200" u="none" cap="none" strike="noStrike">
                <a:solidFill>
                  <a:schemeClr val="hlink"/>
                </a:solidFill>
                <a:latin typeface="Arial"/>
                <a:ea typeface="Arial"/>
                <a:cs typeface="Arial"/>
                <a:sym typeface="Arial"/>
              </a:rPr>
              <a:t>POLÍTICA FISCAL (GOBIERNO)</a:t>
            </a:r>
          </a:p>
          <a:p>
            <a:pPr indent="-342900" lvl="0" marL="342900" marR="0" rtl="0" algn="l">
              <a:lnSpc>
                <a:spcPct val="80000"/>
              </a:lnSpc>
              <a:spcBef>
                <a:spcPts val="440"/>
              </a:spcBef>
              <a:spcAft>
                <a:spcPts val="0"/>
              </a:spcAft>
              <a:buClr>
                <a:schemeClr val="dk2"/>
              </a:buClr>
              <a:buSzPct val="25000"/>
              <a:buFont typeface="Noto Sans Symbols"/>
              <a:buNone/>
            </a:pPr>
            <a:r>
              <a:rPr b="0" i="0" lang="en-US" sz="2200" u="none" cap="none" strike="noStrike">
                <a:solidFill>
                  <a:schemeClr val="hlink"/>
                </a:solidFill>
                <a:latin typeface="Arial"/>
                <a:ea typeface="Arial"/>
                <a:cs typeface="Arial"/>
                <a:sym typeface="Arial"/>
              </a:rPr>
              <a:t>			IMPUESTOS</a:t>
            </a:r>
          </a:p>
          <a:p>
            <a:pPr indent="-342900" lvl="0" marL="342900" marR="0" rtl="0" algn="l">
              <a:lnSpc>
                <a:spcPct val="80000"/>
              </a:lnSpc>
              <a:spcBef>
                <a:spcPts val="440"/>
              </a:spcBef>
              <a:spcAft>
                <a:spcPts val="0"/>
              </a:spcAft>
              <a:buClr>
                <a:schemeClr val="dk2"/>
              </a:buClr>
              <a:buSzPct val="25000"/>
              <a:buFont typeface="Noto Sans Symbols"/>
              <a:buNone/>
            </a:pPr>
            <a:r>
              <a:t/>
            </a:r>
            <a:endParaRPr b="0" i="0" sz="2200" u="none" cap="none" strike="noStrike">
              <a:solidFill>
                <a:schemeClr val="hlink"/>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25000"/>
              <a:buFont typeface="Noto Sans Symbols"/>
              <a:buNone/>
            </a:pPr>
            <a:r>
              <a:rPr b="0" i="0" lang="en-US" sz="2200" u="none" cap="none" strike="noStrike">
                <a:solidFill>
                  <a:schemeClr val="hlink"/>
                </a:solidFill>
                <a:latin typeface="Arial"/>
                <a:ea typeface="Arial"/>
                <a:cs typeface="Arial"/>
                <a:sym typeface="Arial"/>
              </a:rPr>
              <a:t>			GASTO E INVERSIÓN PÚBLICA</a:t>
            </a:r>
          </a:p>
          <a:p>
            <a:pPr indent="-342900" lvl="0" marL="342900" marR="0" rtl="0" algn="l">
              <a:lnSpc>
                <a:spcPct val="80000"/>
              </a:lnSpc>
              <a:spcBef>
                <a:spcPts val="440"/>
              </a:spcBef>
              <a:spcAft>
                <a:spcPts val="0"/>
              </a:spcAft>
              <a:buClr>
                <a:schemeClr val="dk2"/>
              </a:buClr>
              <a:buSzPct val="25000"/>
              <a:buFont typeface="Noto Sans Symbols"/>
              <a:buNone/>
            </a:pPr>
            <a:r>
              <a:t/>
            </a:r>
            <a:endParaRPr b="0" i="0" sz="2200" u="none" cap="none" strike="noStrike">
              <a:solidFill>
                <a:schemeClr val="hlink"/>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25000"/>
              <a:buFont typeface="Noto Sans Symbols"/>
              <a:buNone/>
            </a:pPr>
            <a:r>
              <a:t/>
            </a:r>
            <a:endParaRPr b="0" i="0" sz="2200" u="none" cap="none" strike="noStrike">
              <a:solidFill>
                <a:srgbClr val="FF0000"/>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25000"/>
              <a:buFont typeface="Noto Sans Symbols"/>
              <a:buNone/>
            </a:pPr>
            <a:r>
              <a:t/>
            </a:r>
            <a:endParaRPr b="0" i="0" sz="2200" u="none" cap="none" strike="noStrike">
              <a:solidFill>
                <a:srgbClr val="FF0000"/>
              </a:solidFill>
              <a:latin typeface="Arial"/>
              <a:ea typeface="Arial"/>
              <a:cs typeface="Arial"/>
              <a:sym typeface="Arial"/>
            </a:endParaRPr>
          </a:p>
          <a:p>
            <a:pPr indent="-342900" lvl="0" marL="342900" marR="0" rtl="0" algn="l">
              <a:lnSpc>
                <a:spcPct val="80000"/>
              </a:lnSpc>
              <a:spcBef>
                <a:spcPts val="440"/>
              </a:spcBef>
              <a:spcAft>
                <a:spcPts val="0"/>
              </a:spcAft>
              <a:buClr>
                <a:schemeClr val="dk2"/>
              </a:buClr>
              <a:buSzPct val="25000"/>
              <a:buFont typeface="Noto Sans Symbols"/>
              <a:buNone/>
            </a:pPr>
            <a:r>
              <a:rPr b="0" i="0" lang="en-US" sz="2200" u="none" cap="none" strike="noStrike">
                <a:solidFill>
                  <a:srgbClr val="FF0000"/>
                </a:solidFill>
                <a:latin typeface="Arial"/>
                <a:ea typeface="Arial"/>
                <a:cs typeface="Arial"/>
                <a:sym typeface="Arial"/>
              </a:rPr>
              <a:t>POLÍTICA MONETARIA (BANCO CENTRAL)</a:t>
            </a:r>
          </a:p>
          <a:p>
            <a:pPr indent="-342900" lvl="0" marL="342900" marR="0" rtl="0" algn="l">
              <a:lnSpc>
                <a:spcPct val="80000"/>
              </a:lnSpc>
              <a:spcBef>
                <a:spcPts val="440"/>
              </a:spcBef>
              <a:spcAft>
                <a:spcPts val="0"/>
              </a:spcAft>
              <a:buClr>
                <a:schemeClr val="dk2"/>
              </a:buClr>
              <a:buSzPct val="25000"/>
              <a:buFont typeface="Noto Sans Symbols"/>
              <a:buNone/>
            </a:pPr>
            <a:r>
              <a:rPr b="0" i="0" lang="en-US" sz="2200" u="none" cap="none" strike="noStrike">
                <a:solidFill>
                  <a:srgbClr val="FF0000"/>
                </a:solidFill>
                <a:latin typeface="Arial"/>
                <a:ea typeface="Arial"/>
                <a:cs typeface="Arial"/>
                <a:sym typeface="Arial"/>
              </a:rPr>
              <a:t>			</a:t>
            </a:r>
          </a:p>
          <a:p>
            <a:pPr indent="-342900" lvl="0" marL="342900" marR="0" rtl="0" algn="l">
              <a:lnSpc>
                <a:spcPct val="80000"/>
              </a:lnSpc>
              <a:spcBef>
                <a:spcPts val="440"/>
              </a:spcBef>
              <a:spcAft>
                <a:spcPts val="0"/>
              </a:spcAft>
              <a:buClr>
                <a:schemeClr val="dk2"/>
              </a:buClr>
              <a:buSzPct val="25000"/>
              <a:buFont typeface="Noto Sans Symbols"/>
              <a:buNone/>
            </a:pPr>
            <a:r>
              <a:rPr b="0" i="0" lang="en-US" sz="2200" u="none" cap="none" strike="noStrike">
                <a:solidFill>
                  <a:srgbClr val="FF0000"/>
                </a:solidFill>
                <a:latin typeface="Arial"/>
                <a:ea typeface="Arial"/>
                <a:cs typeface="Arial"/>
                <a:sym typeface="Arial"/>
              </a:rPr>
              <a:t>			  CANTIDAD DE DINERO</a:t>
            </a:r>
          </a:p>
        </p:txBody>
      </p:sp>
      <p:pic>
        <p:nvPicPr>
          <p:cNvPr id="533" name="Shape 533"/>
          <p:cNvPicPr preferRelativeResize="0"/>
          <p:nvPr>
            <p:ph idx="4294967295" type="body"/>
          </p:nvPr>
        </p:nvPicPr>
        <p:blipFill rotWithShape="1">
          <a:blip r:embed="rId3">
            <a:alphaModFix/>
          </a:blip>
          <a:srcRect b="0" l="0" r="0" t="0"/>
          <a:stretch/>
        </p:blipFill>
        <p:spPr>
          <a:xfrm>
            <a:off x="6227762" y="4652962"/>
            <a:ext cx="2160586" cy="2016124"/>
          </a:xfrm>
          <a:prstGeom prst="rect">
            <a:avLst/>
          </a:prstGeom>
          <a:noFill/>
          <a:ln>
            <a:noFill/>
          </a:ln>
        </p:spPr>
      </p:pic>
      <p:pic>
        <p:nvPicPr>
          <p:cNvPr id="534" name="Shape 534"/>
          <p:cNvPicPr preferRelativeResize="0"/>
          <p:nvPr/>
        </p:nvPicPr>
        <p:blipFill rotWithShape="1">
          <a:blip r:embed="rId4">
            <a:alphaModFix/>
          </a:blip>
          <a:srcRect b="0" l="0" r="0" t="0"/>
          <a:stretch/>
        </p:blipFill>
        <p:spPr>
          <a:xfrm>
            <a:off x="179386" y="2276475"/>
            <a:ext cx="2236787" cy="1223961"/>
          </a:xfrm>
          <a:prstGeom prst="rect">
            <a:avLst/>
          </a:prstGeom>
          <a:noFill/>
          <a:ln>
            <a:noFill/>
          </a:ln>
        </p:spPr>
      </p:pic>
      <p:pic>
        <p:nvPicPr>
          <p:cNvPr id="535" name="Shape 535"/>
          <p:cNvPicPr preferRelativeResize="0"/>
          <p:nvPr/>
        </p:nvPicPr>
        <p:blipFill rotWithShape="1">
          <a:blip r:embed="rId5">
            <a:alphaModFix/>
          </a:blip>
          <a:srcRect b="0" l="0" r="0" t="0"/>
          <a:stretch/>
        </p:blipFill>
        <p:spPr>
          <a:xfrm>
            <a:off x="6732586" y="2781300"/>
            <a:ext cx="2232025" cy="1943100"/>
          </a:xfrm>
          <a:prstGeom prst="rect">
            <a:avLst/>
          </a:prstGeom>
          <a:noFill/>
          <a:ln>
            <a:noFill/>
          </a:ln>
        </p:spPr>
      </p:pic>
      <p:pic>
        <p:nvPicPr>
          <p:cNvPr id="536" name="Shape 536"/>
          <p:cNvPicPr preferRelativeResize="0"/>
          <p:nvPr/>
        </p:nvPicPr>
        <p:blipFill rotWithShape="1">
          <a:blip r:embed="rId6">
            <a:alphaModFix/>
          </a:blip>
          <a:srcRect b="0" l="0" r="0" t="0"/>
          <a:stretch/>
        </p:blipFill>
        <p:spPr>
          <a:xfrm>
            <a:off x="250825" y="4724400"/>
            <a:ext cx="2376487" cy="2133599"/>
          </a:xfrm>
          <a:prstGeom prst="rect">
            <a:avLst/>
          </a:prstGeom>
          <a:noFill/>
          <a:ln>
            <a:noFill/>
          </a:ln>
        </p:spPr>
      </p:pic>
      <p:pic>
        <p:nvPicPr>
          <p:cNvPr id="537" name="Shape 537"/>
          <p:cNvPicPr preferRelativeResize="0"/>
          <p:nvPr>
            <p:ph idx="4294967295" type="body"/>
          </p:nvPr>
        </p:nvPicPr>
        <p:blipFill rotWithShape="1">
          <a:blip r:embed="rId7">
            <a:alphaModFix/>
          </a:blip>
          <a:srcRect b="0" l="0" r="0" t="0"/>
          <a:stretch/>
        </p:blipFill>
        <p:spPr>
          <a:xfrm>
            <a:off x="6740525" y="1916111"/>
            <a:ext cx="2403474" cy="1135062"/>
          </a:xfrm>
          <a:prstGeom prst="rect">
            <a:avLst/>
          </a:prstGeom>
          <a:noFill/>
          <a:ln>
            <a:noFill/>
          </a:ln>
        </p:spPr>
      </p:pic>
      <p:pic>
        <p:nvPicPr>
          <p:cNvPr id="538" name="Shape 538"/>
          <p:cNvPicPr preferRelativeResize="0"/>
          <p:nvPr/>
        </p:nvPicPr>
        <p:blipFill rotWithShape="1">
          <a:blip r:embed="rId8">
            <a:alphaModFix/>
          </a:blip>
          <a:srcRect b="0" l="0" r="0" t="0"/>
          <a:stretch/>
        </p:blipFill>
        <p:spPr>
          <a:xfrm>
            <a:off x="179386" y="260350"/>
            <a:ext cx="3009899" cy="609599"/>
          </a:xfrm>
          <a:prstGeom prst="rect">
            <a:avLst/>
          </a:prstGeom>
          <a:noFill/>
          <a:ln>
            <a:noFill/>
          </a:ln>
        </p:spPr>
      </p:pic>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Red">
  <a:themeElements>
    <a:clrScheme name="default">
      <a:dk1>
        <a:srgbClr val="000000"/>
      </a:dk1>
      <a:lt1>
        <a:srgbClr val="FFFFFF"/>
      </a:lt1>
      <a:dk2>
        <a:srgbClr val="330066"/>
      </a:dk2>
      <a:lt2>
        <a:srgbClr val="808080"/>
      </a:lt2>
      <a:accent1>
        <a:srgbClr val="CCCC00"/>
      </a:accent1>
      <a:accent2>
        <a:srgbClr val="669999"/>
      </a:accent2>
      <a:accent3>
        <a:srgbClr val="FFFFFF"/>
      </a:accent3>
      <a:accent4>
        <a:srgbClr val="CCCC00"/>
      </a:accent4>
      <a:accent5>
        <a:srgbClr val="669999"/>
      </a:accent5>
      <a:accent6>
        <a:srgbClr val="FFFFFF"/>
      </a:accent6>
      <a:hlink>
        <a:srgbClr val="7E9CE8"/>
      </a:hlink>
      <a:folHlink>
        <a:srgbClr val="D8D8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