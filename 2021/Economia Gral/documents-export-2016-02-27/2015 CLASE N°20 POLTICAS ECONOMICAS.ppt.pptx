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6858000" cx="9144000"/>
  <p:notesSz cx="6858000" cy="9144000"/>
  <p:embeddedFontLst>
    <p:embeddedFont>
      <p:font typeface="Tahoma"/>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mAuthor clrIdx="0" id="0" initials="" lastIdx="1" name="Ruben Peso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slide" Target="slides/slide41.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8" Type="http://schemas.openxmlformats.org/officeDocument/2006/relationships/font" Target="fonts/Tahoma-bold.fntdata"/><Relationship Id="rId25" Type="http://schemas.openxmlformats.org/officeDocument/2006/relationships/slide" Target="slides/slide20.xml"/><Relationship Id="rId47" Type="http://schemas.openxmlformats.org/officeDocument/2006/relationships/font" Target="fonts/Tahoma-regular.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m authorId="0" idx="1">
    <p:pos x="6000" y="0"/>
    <p:text>Hasta aca llegue hoy</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rgbClr val="000000"/>
        </a:solidFill>
      </p:bgPr>
    </p:bg>
    <p:spTree>
      <p:nvGrpSpPr>
        <p:cNvPr id="2" name="Shape 2"/>
        <p:cNvGrpSpPr/>
        <p:nvPr/>
      </p:nvGrpSpPr>
      <p:grpSpPr>
        <a:xfrm>
          <a:off x="0" y="0"/>
          <a:ext cx="0" cy="0"/>
          <a:chOff x="0" y="0"/>
          <a:chExt cx="0" cy="0"/>
        </a:xfrm>
      </p:grpSpPr>
      <p:sp>
        <p:nvSpPr>
          <p:cNvPr id="3" name="Shape 3"/>
          <p:cNvSpPr txBox="1"/>
          <p:nvPr>
            <p:ph idx="2" type="hdr"/>
          </p:nvPr>
        </p:nvSpPr>
        <p:spPr>
          <a:xfrm>
            <a:off x="0" y="0"/>
            <a:ext cx="2971799" cy="4572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None/>
              <a:defRPr b="0" i="0" sz="1200" u="none" cap="none" strike="noStrike">
                <a:solidFill>
                  <a:srgbClr val="000000"/>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9pPr>
          </a:lstStyle>
          <a:p/>
        </p:txBody>
      </p:sp>
      <p:sp>
        <p:nvSpPr>
          <p:cNvPr id="4" name="Shape 4"/>
          <p:cNvSpPr txBox="1"/>
          <p:nvPr>
            <p:ph idx="10" type="dt"/>
          </p:nvPr>
        </p:nvSpPr>
        <p:spPr>
          <a:xfrm>
            <a:off x="3884612" y="0"/>
            <a:ext cx="2971799" cy="457200"/>
          </a:xfrm>
          <a:prstGeom prst="rect">
            <a:avLst/>
          </a:prstGeom>
          <a:noFill/>
          <a:ln>
            <a:noFill/>
          </a:ln>
        </p:spPr>
        <p:txBody>
          <a:bodyPr anchorCtr="0" anchor="t" bIns="91425" lIns="91425" rIns="91425" tIns="91425"/>
          <a:lstStyle>
            <a:lvl1pPr indent="0" lvl="0" marL="0" marR="0" rtl="0" algn="r">
              <a:lnSpc>
                <a:spcPct val="100000"/>
              </a:lnSpc>
              <a:spcBef>
                <a:spcPts val="0"/>
              </a:spcBef>
              <a:spcAft>
                <a:spcPts val="0"/>
              </a:spcAft>
              <a:buNone/>
              <a:defRPr b="0" i="0" sz="1200" u="none" cap="none" strike="noStrike">
                <a:solidFill>
                  <a:srgbClr val="000000"/>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9pPr>
          </a:lstStyle>
          <a:p/>
        </p:txBody>
      </p:sp>
      <p:sp>
        <p:nvSpPr>
          <p:cNvPr id="5" name="Shape 5"/>
          <p:cNvSpPr/>
          <p:nvPr>
            <p:ph idx="3"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a:headEnd len="med" w="med" type="none"/>
            <a:tailEnd len="med" w="med" type="none"/>
          </a:ln>
        </p:spPr>
      </p:sp>
      <p:sp>
        <p:nvSpPr>
          <p:cNvPr id="6" name="Shape 6"/>
          <p:cNvSpPr txBox="1"/>
          <p:nvPr>
            <p:ph idx="1" type="body"/>
          </p:nvPr>
        </p:nvSpPr>
        <p:spPr>
          <a:xfrm>
            <a:off x="685800" y="4343400"/>
            <a:ext cx="5486399" cy="4114800"/>
          </a:xfrm>
          <a:prstGeom prst="rect">
            <a:avLst/>
          </a:prstGeom>
          <a:noFill/>
          <a:ln>
            <a:noFill/>
          </a:ln>
        </p:spPr>
        <p:txBody>
          <a:bodyPr anchorCtr="0" anchor="t" bIns="91425" lIns="91425" rIns="91425" tIns="91425"/>
          <a:lstStyle>
            <a:lvl1pPr indent="0" lvl="0" marL="0" marR="0" rtl="0" algn="l">
              <a:spcBef>
                <a:spcPts val="0"/>
              </a:spcBef>
              <a:buNone/>
              <a:defRPr b="0" i="0" sz="1800" u="none" cap="none" strike="noStrike"/>
            </a:lvl1pPr>
            <a:lvl2pPr indent="0" lvl="1" marL="457200" marR="0" rtl="0" algn="l">
              <a:spcBef>
                <a:spcPts val="0"/>
              </a:spcBef>
              <a:buNone/>
              <a:defRPr b="0" i="0" sz="1800" u="none" cap="none" strike="noStrike"/>
            </a:lvl2pPr>
            <a:lvl3pPr indent="0" lvl="2" marL="914400" marR="0" rtl="0" algn="l">
              <a:spcBef>
                <a:spcPts val="0"/>
              </a:spcBef>
              <a:buNone/>
              <a:defRPr b="0" i="0" sz="1800" u="none" cap="none" strike="noStrike"/>
            </a:lvl3pPr>
            <a:lvl4pPr indent="0" lvl="3" marL="1371600" marR="0" rtl="0" algn="l">
              <a:spcBef>
                <a:spcPts val="0"/>
              </a:spcBef>
              <a:buNone/>
              <a:defRPr b="0" i="0" sz="1800" u="none" cap="none" strike="noStrike"/>
            </a:lvl4pPr>
            <a:lvl5pPr indent="0" lvl="4" marL="1828800" marR="0" rtl="0" algn="l">
              <a:spcBef>
                <a:spcPts val="0"/>
              </a:spcBef>
              <a:buNone/>
              <a:defRPr b="0" i="0" sz="1800" u="none" cap="none" strike="noStrike"/>
            </a:lvl5pPr>
            <a:lvl6pPr indent="0" lvl="5" marL="2286000" marR="0" rtl="0" algn="l">
              <a:spcBef>
                <a:spcPts val="0"/>
              </a:spcBef>
              <a:buNone/>
              <a:defRPr b="0" i="0" sz="1800" u="none" cap="none" strike="noStrike"/>
            </a:lvl6pPr>
            <a:lvl7pPr indent="0" lvl="6" marL="2743200" marR="0" rtl="0" algn="l">
              <a:spcBef>
                <a:spcPts val="0"/>
              </a:spcBef>
              <a:buNone/>
              <a:defRPr b="0" i="0" sz="1800" u="none" cap="none" strike="noStrike"/>
            </a:lvl7pPr>
            <a:lvl8pPr indent="0" lvl="7" marL="3200400" marR="0" rtl="0" algn="l">
              <a:spcBef>
                <a:spcPts val="0"/>
              </a:spcBef>
              <a:buNone/>
              <a:defRPr b="0" i="0" sz="1800" u="none" cap="none" strike="noStrike"/>
            </a:lvl8pPr>
            <a:lvl9pPr indent="0" lvl="8" marL="3657600" marR="0" rtl="0" algn="l">
              <a:spcBef>
                <a:spcPts val="0"/>
              </a:spcBef>
              <a:buNone/>
              <a:defRPr b="0" i="0" sz="1800" u="none" cap="none" strike="noStrike"/>
            </a:lvl9pPr>
          </a:lstStyle>
          <a:p/>
        </p:txBody>
      </p:sp>
      <p:sp>
        <p:nvSpPr>
          <p:cNvPr id="7" name="Shape 7"/>
          <p:cNvSpPr txBox="1"/>
          <p:nvPr>
            <p:ph idx="11" type="ftr"/>
          </p:nvPr>
        </p:nvSpPr>
        <p:spPr>
          <a:xfrm>
            <a:off x="0" y="8685211"/>
            <a:ext cx="2971799" cy="457200"/>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buNone/>
              <a:defRPr b="0" i="0" sz="1200" u="none" cap="none" strike="noStrike">
                <a:solidFill>
                  <a:srgbClr val="000000"/>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rgbClr val="000000"/>
                </a:solidFill>
                <a:latin typeface="Calibri"/>
                <a:ea typeface="Calibri"/>
                <a:cs typeface="Calibri"/>
                <a:sym typeface="Calibri"/>
              </a:defRPr>
            </a:lvl9pPr>
          </a:lstStyle>
          <a:p/>
        </p:txBody>
      </p:sp>
      <p:sp>
        <p:nvSpPr>
          <p:cNvPr id="8" name="Shape 8"/>
          <p:cNvSpPr txBox="1"/>
          <p:nvPr>
            <p:ph idx="12" type="sldNum"/>
          </p:nvPr>
        </p:nvSpPr>
        <p:spPr>
          <a:xfrm>
            <a:off x="3884612" y="8685211"/>
            <a:ext cx="2971799" cy="457200"/>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Clr>
                <a:srgbClr val="000000"/>
              </a:buClr>
              <a:buSzPct val="250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4" name="Shape 84"/>
        <p:cNvGrpSpPr/>
        <p:nvPr/>
      </p:nvGrpSpPr>
      <p:grpSpPr>
        <a:xfrm>
          <a:off x="0" y="0"/>
          <a:ext cx="0" cy="0"/>
          <a:chOff x="0" y="0"/>
          <a:chExt cx="0" cy="0"/>
        </a:xfrm>
      </p:grpSpPr>
      <p:sp>
        <p:nvSpPr>
          <p:cNvPr id="85" name="Shape 85"/>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86" name="Shape 86"/>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4" name="Shape 94"/>
        <p:cNvGrpSpPr/>
        <p:nvPr/>
      </p:nvGrpSpPr>
      <p:grpSpPr>
        <a:xfrm>
          <a:off x="0" y="0"/>
          <a:ext cx="0" cy="0"/>
          <a:chOff x="0" y="0"/>
          <a:chExt cx="0" cy="0"/>
        </a:xfrm>
      </p:grpSpPr>
      <p:sp>
        <p:nvSpPr>
          <p:cNvPr id="95" name="Shape 95"/>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96" name="Shape 96"/>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3" name="Shape 103"/>
        <p:cNvGrpSpPr/>
        <p:nvPr/>
      </p:nvGrpSpPr>
      <p:grpSpPr>
        <a:xfrm>
          <a:off x="0" y="0"/>
          <a:ext cx="0" cy="0"/>
          <a:chOff x="0" y="0"/>
          <a:chExt cx="0" cy="0"/>
        </a:xfrm>
      </p:grpSpPr>
      <p:sp>
        <p:nvSpPr>
          <p:cNvPr id="104" name="Shape 104"/>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105" name="Shape 105"/>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8" name="Shape 118"/>
        <p:cNvGrpSpPr/>
        <p:nvPr/>
      </p:nvGrpSpPr>
      <p:grpSpPr>
        <a:xfrm>
          <a:off x="0" y="0"/>
          <a:ext cx="0" cy="0"/>
          <a:chOff x="0" y="0"/>
          <a:chExt cx="0" cy="0"/>
        </a:xfrm>
      </p:grpSpPr>
      <p:sp>
        <p:nvSpPr>
          <p:cNvPr id="119" name="Shape 119"/>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120" name="Shape 120"/>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33" name="Shape 133"/>
        <p:cNvGrpSpPr/>
        <p:nvPr/>
      </p:nvGrpSpPr>
      <p:grpSpPr>
        <a:xfrm>
          <a:off x="0" y="0"/>
          <a:ext cx="0" cy="0"/>
          <a:chOff x="0" y="0"/>
          <a:chExt cx="0" cy="0"/>
        </a:xfrm>
      </p:grpSpPr>
      <p:sp>
        <p:nvSpPr>
          <p:cNvPr id="134" name="Shape 134"/>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135" name="Shape 135"/>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43" name="Shape 143"/>
        <p:cNvGrpSpPr/>
        <p:nvPr/>
      </p:nvGrpSpPr>
      <p:grpSpPr>
        <a:xfrm>
          <a:off x="0" y="0"/>
          <a:ext cx="0" cy="0"/>
          <a:chOff x="0" y="0"/>
          <a:chExt cx="0" cy="0"/>
        </a:xfrm>
      </p:grpSpPr>
      <p:sp>
        <p:nvSpPr>
          <p:cNvPr id="144" name="Shape 144"/>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145" name="Shape 145"/>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82" name="Shape 182"/>
        <p:cNvGrpSpPr/>
        <p:nvPr/>
      </p:nvGrpSpPr>
      <p:grpSpPr>
        <a:xfrm>
          <a:off x="0" y="0"/>
          <a:ext cx="0" cy="0"/>
          <a:chOff x="0" y="0"/>
          <a:chExt cx="0" cy="0"/>
        </a:xfrm>
      </p:grpSpPr>
      <p:sp>
        <p:nvSpPr>
          <p:cNvPr id="183" name="Shape 183"/>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184" name="Shape 184"/>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22" name="Shape 222"/>
        <p:cNvGrpSpPr/>
        <p:nvPr/>
      </p:nvGrpSpPr>
      <p:grpSpPr>
        <a:xfrm>
          <a:off x="0" y="0"/>
          <a:ext cx="0" cy="0"/>
          <a:chOff x="0" y="0"/>
          <a:chExt cx="0" cy="0"/>
        </a:xfrm>
      </p:grpSpPr>
      <p:sp>
        <p:nvSpPr>
          <p:cNvPr id="223" name="Shape 223"/>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224" name="Shape 224"/>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33" name="Shape 233"/>
        <p:cNvGrpSpPr/>
        <p:nvPr/>
      </p:nvGrpSpPr>
      <p:grpSpPr>
        <a:xfrm>
          <a:off x="0" y="0"/>
          <a:ext cx="0" cy="0"/>
          <a:chOff x="0" y="0"/>
          <a:chExt cx="0" cy="0"/>
        </a:xfrm>
      </p:grpSpPr>
      <p:sp>
        <p:nvSpPr>
          <p:cNvPr id="234" name="Shape 234"/>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235" name="Shape 235"/>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44" name="Shape 244"/>
        <p:cNvGrpSpPr/>
        <p:nvPr/>
      </p:nvGrpSpPr>
      <p:grpSpPr>
        <a:xfrm>
          <a:off x="0" y="0"/>
          <a:ext cx="0" cy="0"/>
          <a:chOff x="0" y="0"/>
          <a:chExt cx="0" cy="0"/>
        </a:xfrm>
      </p:grpSpPr>
      <p:sp>
        <p:nvSpPr>
          <p:cNvPr id="245" name="Shape 245"/>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246" name="Shape 246"/>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56" name="Shape 256"/>
        <p:cNvGrpSpPr/>
        <p:nvPr/>
      </p:nvGrpSpPr>
      <p:grpSpPr>
        <a:xfrm>
          <a:off x="0" y="0"/>
          <a:ext cx="0" cy="0"/>
          <a:chOff x="0" y="0"/>
          <a:chExt cx="0" cy="0"/>
        </a:xfrm>
      </p:grpSpPr>
      <p:sp>
        <p:nvSpPr>
          <p:cNvPr id="257" name="Shape 257"/>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258" name="Shape 258"/>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68" name="Shape 268"/>
        <p:cNvGrpSpPr/>
        <p:nvPr/>
      </p:nvGrpSpPr>
      <p:grpSpPr>
        <a:xfrm>
          <a:off x="0" y="0"/>
          <a:ext cx="0" cy="0"/>
          <a:chOff x="0" y="0"/>
          <a:chExt cx="0" cy="0"/>
        </a:xfrm>
      </p:grpSpPr>
      <p:sp>
        <p:nvSpPr>
          <p:cNvPr id="269" name="Shape 269"/>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270" name="Shape 270"/>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80" name="Shape 280"/>
        <p:cNvGrpSpPr/>
        <p:nvPr/>
      </p:nvGrpSpPr>
      <p:grpSpPr>
        <a:xfrm>
          <a:off x="0" y="0"/>
          <a:ext cx="0" cy="0"/>
          <a:chOff x="0" y="0"/>
          <a:chExt cx="0" cy="0"/>
        </a:xfrm>
      </p:grpSpPr>
      <p:sp>
        <p:nvSpPr>
          <p:cNvPr id="281" name="Shape 281"/>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282" name="Shape 282"/>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19" name="Shape 319"/>
        <p:cNvGrpSpPr/>
        <p:nvPr/>
      </p:nvGrpSpPr>
      <p:grpSpPr>
        <a:xfrm>
          <a:off x="0" y="0"/>
          <a:ext cx="0" cy="0"/>
          <a:chOff x="0" y="0"/>
          <a:chExt cx="0" cy="0"/>
        </a:xfrm>
      </p:grpSpPr>
      <p:sp>
        <p:nvSpPr>
          <p:cNvPr id="320" name="Shape 320"/>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321" name="Shape 321"/>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30" name="Shape 330"/>
        <p:cNvGrpSpPr/>
        <p:nvPr/>
      </p:nvGrpSpPr>
      <p:grpSpPr>
        <a:xfrm>
          <a:off x="0" y="0"/>
          <a:ext cx="0" cy="0"/>
          <a:chOff x="0" y="0"/>
          <a:chExt cx="0" cy="0"/>
        </a:xfrm>
      </p:grpSpPr>
      <p:sp>
        <p:nvSpPr>
          <p:cNvPr id="331" name="Shape 331"/>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332" name="Shape 332"/>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38" name="Shape 338"/>
        <p:cNvGrpSpPr/>
        <p:nvPr/>
      </p:nvGrpSpPr>
      <p:grpSpPr>
        <a:xfrm>
          <a:off x="0" y="0"/>
          <a:ext cx="0" cy="0"/>
          <a:chOff x="0" y="0"/>
          <a:chExt cx="0" cy="0"/>
        </a:xfrm>
      </p:grpSpPr>
      <p:sp>
        <p:nvSpPr>
          <p:cNvPr id="339" name="Shape 339"/>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340" name="Shape 340"/>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55" name="Shape 355"/>
        <p:cNvGrpSpPr/>
        <p:nvPr/>
      </p:nvGrpSpPr>
      <p:grpSpPr>
        <a:xfrm>
          <a:off x="0" y="0"/>
          <a:ext cx="0" cy="0"/>
          <a:chOff x="0" y="0"/>
          <a:chExt cx="0" cy="0"/>
        </a:xfrm>
      </p:grpSpPr>
      <p:sp>
        <p:nvSpPr>
          <p:cNvPr id="356" name="Shape 356"/>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357" name="Shape 357"/>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91" name="Shape 391"/>
        <p:cNvGrpSpPr/>
        <p:nvPr/>
      </p:nvGrpSpPr>
      <p:grpSpPr>
        <a:xfrm>
          <a:off x="0" y="0"/>
          <a:ext cx="0" cy="0"/>
          <a:chOff x="0" y="0"/>
          <a:chExt cx="0" cy="0"/>
        </a:xfrm>
      </p:grpSpPr>
      <p:sp>
        <p:nvSpPr>
          <p:cNvPr id="392" name="Shape 392"/>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393" name="Shape 393"/>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06" name="Shape 406"/>
        <p:cNvGrpSpPr/>
        <p:nvPr/>
      </p:nvGrpSpPr>
      <p:grpSpPr>
        <a:xfrm>
          <a:off x="0" y="0"/>
          <a:ext cx="0" cy="0"/>
          <a:chOff x="0" y="0"/>
          <a:chExt cx="0" cy="0"/>
        </a:xfrm>
      </p:grpSpPr>
      <p:sp>
        <p:nvSpPr>
          <p:cNvPr id="407" name="Shape 407"/>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408" name="Shape 408"/>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30" name="Shape 430"/>
        <p:cNvGrpSpPr/>
        <p:nvPr/>
      </p:nvGrpSpPr>
      <p:grpSpPr>
        <a:xfrm>
          <a:off x="0" y="0"/>
          <a:ext cx="0" cy="0"/>
          <a:chOff x="0" y="0"/>
          <a:chExt cx="0" cy="0"/>
        </a:xfrm>
      </p:grpSpPr>
      <p:sp>
        <p:nvSpPr>
          <p:cNvPr id="431" name="Shape 431"/>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432" name="Shape 432"/>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59" name="Shape 459"/>
        <p:cNvGrpSpPr/>
        <p:nvPr/>
      </p:nvGrpSpPr>
      <p:grpSpPr>
        <a:xfrm>
          <a:off x="0" y="0"/>
          <a:ext cx="0" cy="0"/>
          <a:chOff x="0" y="0"/>
          <a:chExt cx="0" cy="0"/>
        </a:xfrm>
      </p:grpSpPr>
      <p:sp>
        <p:nvSpPr>
          <p:cNvPr id="460" name="Shape 460"/>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461" name="Shape 461"/>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90" name="Shape 490"/>
        <p:cNvGrpSpPr/>
        <p:nvPr/>
      </p:nvGrpSpPr>
      <p:grpSpPr>
        <a:xfrm>
          <a:off x="0" y="0"/>
          <a:ext cx="0" cy="0"/>
          <a:chOff x="0" y="0"/>
          <a:chExt cx="0" cy="0"/>
        </a:xfrm>
      </p:grpSpPr>
      <p:sp>
        <p:nvSpPr>
          <p:cNvPr id="491" name="Shape 491"/>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492" name="Shape 492"/>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20" name="Shape 520"/>
        <p:cNvGrpSpPr/>
        <p:nvPr/>
      </p:nvGrpSpPr>
      <p:grpSpPr>
        <a:xfrm>
          <a:off x="0" y="0"/>
          <a:ext cx="0" cy="0"/>
          <a:chOff x="0" y="0"/>
          <a:chExt cx="0" cy="0"/>
        </a:xfrm>
      </p:grpSpPr>
      <p:sp>
        <p:nvSpPr>
          <p:cNvPr id="521" name="Shape 521"/>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522" name="Shape 522"/>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28" name="Shape 528"/>
        <p:cNvGrpSpPr/>
        <p:nvPr/>
      </p:nvGrpSpPr>
      <p:grpSpPr>
        <a:xfrm>
          <a:off x="0" y="0"/>
          <a:ext cx="0" cy="0"/>
          <a:chOff x="0" y="0"/>
          <a:chExt cx="0" cy="0"/>
        </a:xfrm>
      </p:grpSpPr>
      <p:sp>
        <p:nvSpPr>
          <p:cNvPr id="529" name="Shape 529"/>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530" name="Shape 530"/>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55" name="Shape 555"/>
        <p:cNvGrpSpPr/>
        <p:nvPr/>
      </p:nvGrpSpPr>
      <p:grpSpPr>
        <a:xfrm>
          <a:off x="0" y="0"/>
          <a:ext cx="0" cy="0"/>
          <a:chOff x="0" y="0"/>
          <a:chExt cx="0" cy="0"/>
        </a:xfrm>
      </p:grpSpPr>
      <p:sp>
        <p:nvSpPr>
          <p:cNvPr id="556" name="Shape 556"/>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557" name="Shape 557"/>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65" name="Shape 565"/>
        <p:cNvGrpSpPr/>
        <p:nvPr/>
      </p:nvGrpSpPr>
      <p:grpSpPr>
        <a:xfrm>
          <a:off x="0" y="0"/>
          <a:ext cx="0" cy="0"/>
          <a:chOff x="0" y="0"/>
          <a:chExt cx="0" cy="0"/>
        </a:xfrm>
      </p:grpSpPr>
      <p:sp>
        <p:nvSpPr>
          <p:cNvPr id="566" name="Shape 566"/>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567" name="Shape 567"/>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02" name="Shape 602"/>
        <p:cNvGrpSpPr/>
        <p:nvPr/>
      </p:nvGrpSpPr>
      <p:grpSpPr>
        <a:xfrm>
          <a:off x="0" y="0"/>
          <a:ext cx="0" cy="0"/>
          <a:chOff x="0" y="0"/>
          <a:chExt cx="0" cy="0"/>
        </a:xfrm>
      </p:grpSpPr>
      <p:sp>
        <p:nvSpPr>
          <p:cNvPr id="603" name="Shape 603"/>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604" name="Shape 604"/>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17" name="Shape 617"/>
        <p:cNvGrpSpPr/>
        <p:nvPr/>
      </p:nvGrpSpPr>
      <p:grpSpPr>
        <a:xfrm>
          <a:off x="0" y="0"/>
          <a:ext cx="0" cy="0"/>
          <a:chOff x="0" y="0"/>
          <a:chExt cx="0" cy="0"/>
        </a:xfrm>
      </p:grpSpPr>
      <p:sp>
        <p:nvSpPr>
          <p:cNvPr id="618" name="Shape 618"/>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619" name="Shape 619"/>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39" name="Shape 639"/>
        <p:cNvGrpSpPr/>
        <p:nvPr/>
      </p:nvGrpSpPr>
      <p:grpSpPr>
        <a:xfrm>
          <a:off x="0" y="0"/>
          <a:ext cx="0" cy="0"/>
          <a:chOff x="0" y="0"/>
          <a:chExt cx="0" cy="0"/>
        </a:xfrm>
      </p:grpSpPr>
      <p:sp>
        <p:nvSpPr>
          <p:cNvPr id="640" name="Shape 640"/>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641" name="Shape 641"/>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71" name="Shape 671"/>
        <p:cNvGrpSpPr/>
        <p:nvPr/>
      </p:nvGrpSpPr>
      <p:grpSpPr>
        <a:xfrm>
          <a:off x="0" y="0"/>
          <a:ext cx="0" cy="0"/>
          <a:chOff x="0" y="0"/>
          <a:chExt cx="0" cy="0"/>
        </a:xfrm>
      </p:grpSpPr>
      <p:sp>
        <p:nvSpPr>
          <p:cNvPr id="672" name="Shape 672"/>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673" name="Shape 673"/>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00" name="Shape 700"/>
        <p:cNvGrpSpPr/>
        <p:nvPr/>
      </p:nvGrpSpPr>
      <p:grpSpPr>
        <a:xfrm>
          <a:off x="0" y="0"/>
          <a:ext cx="0" cy="0"/>
          <a:chOff x="0" y="0"/>
          <a:chExt cx="0" cy="0"/>
        </a:xfrm>
      </p:grpSpPr>
      <p:sp>
        <p:nvSpPr>
          <p:cNvPr id="701" name="Shape 701"/>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702" name="Shape 702"/>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31" name="Shape 731"/>
        <p:cNvGrpSpPr/>
        <p:nvPr/>
      </p:nvGrpSpPr>
      <p:grpSpPr>
        <a:xfrm>
          <a:off x="0" y="0"/>
          <a:ext cx="0" cy="0"/>
          <a:chOff x="0" y="0"/>
          <a:chExt cx="0" cy="0"/>
        </a:xfrm>
      </p:grpSpPr>
      <p:sp>
        <p:nvSpPr>
          <p:cNvPr id="732" name="Shape 732"/>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733" name="Shape 733"/>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51" name="Shape 751"/>
        <p:cNvGrpSpPr/>
        <p:nvPr/>
      </p:nvGrpSpPr>
      <p:grpSpPr>
        <a:xfrm>
          <a:off x="0" y="0"/>
          <a:ext cx="0" cy="0"/>
          <a:chOff x="0" y="0"/>
          <a:chExt cx="0" cy="0"/>
        </a:xfrm>
      </p:grpSpPr>
      <p:sp>
        <p:nvSpPr>
          <p:cNvPr id="752" name="Shape 752"/>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753" name="Shape 753"/>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90" name="Shape 790"/>
        <p:cNvGrpSpPr/>
        <p:nvPr/>
      </p:nvGrpSpPr>
      <p:grpSpPr>
        <a:xfrm>
          <a:off x="0" y="0"/>
          <a:ext cx="0" cy="0"/>
          <a:chOff x="0" y="0"/>
          <a:chExt cx="0" cy="0"/>
        </a:xfrm>
      </p:grpSpPr>
      <p:sp>
        <p:nvSpPr>
          <p:cNvPr id="791" name="Shape 791"/>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792" name="Shape 792"/>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20" name="Shape 820"/>
        <p:cNvGrpSpPr/>
        <p:nvPr/>
      </p:nvGrpSpPr>
      <p:grpSpPr>
        <a:xfrm>
          <a:off x="0" y="0"/>
          <a:ext cx="0" cy="0"/>
          <a:chOff x="0" y="0"/>
          <a:chExt cx="0" cy="0"/>
        </a:xfrm>
      </p:grpSpPr>
      <p:sp>
        <p:nvSpPr>
          <p:cNvPr id="821" name="Shape 821"/>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822" name="Shape 822"/>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50" name="Shape 850"/>
        <p:cNvGrpSpPr/>
        <p:nvPr/>
      </p:nvGrpSpPr>
      <p:grpSpPr>
        <a:xfrm>
          <a:off x="0" y="0"/>
          <a:ext cx="0" cy="0"/>
          <a:chOff x="0" y="0"/>
          <a:chExt cx="0" cy="0"/>
        </a:xfrm>
      </p:grpSpPr>
      <p:sp>
        <p:nvSpPr>
          <p:cNvPr id="851" name="Shape 851"/>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852" name="Shape 852"/>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80" name="Shape 880"/>
        <p:cNvGrpSpPr/>
        <p:nvPr/>
      </p:nvGrpSpPr>
      <p:grpSpPr>
        <a:xfrm>
          <a:off x="0" y="0"/>
          <a:ext cx="0" cy="0"/>
          <a:chOff x="0" y="0"/>
          <a:chExt cx="0" cy="0"/>
        </a:xfrm>
      </p:grpSpPr>
      <p:sp>
        <p:nvSpPr>
          <p:cNvPr id="881" name="Shape 881"/>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882" name="Shape 882"/>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10" name="Shape 910"/>
        <p:cNvGrpSpPr/>
        <p:nvPr/>
      </p:nvGrpSpPr>
      <p:grpSpPr>
        <a:xfrm>
          <a:off x="0" y="0"/>
          <a:ext cx="0" cy="0"/>
          <a:chOff x="0" y="0"/>
          <a:chExt cx="0" cy="0"/>
        </a:xfrm>
      </p:grpSpPr>
      <p:sp>
        <p:nvSpPr>
          <p:cNvPr id="911" name="Shape 911"/>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912" name="Shape 912"/>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42" name="Shape 942"/>
        <p:cNvGrpSpPr/>
        <p:nvPr/>
      </p:nvGrpSpPr>
      <p:grpSpPr>
        <a:xfrm>
          <a:off x="0" y="0"/>
          <a:ext cx="0" cy="0"/>
          <a:chOff x="0" y="0"/>
          <a:chExt cx="0" cy="0"/>
        </a:xfrm>
      </p:grpSpPr>
      <p:sp>
        <p:nvSpPr>
          <p:cNvPr id="943" name="Shape 943"/>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944" name="Shape 944"/>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74" name="Shape 974"/>
        <p:cNvGrpSpPr/>
        <p:nvPr/>
      </p:nvGrpSpPr>
      <p:grpSpPr>
        <a:xfrm>
          <a:off x="0" y="0"/>
          <a:ext cx="0" cy="0"/>
          <a:chOff x="0" y="0"/>
          <a:chExt cx="0" cy="0"/>
        </a:xfrm>
      </p:grpSpPr>
      <p:sp>
        <p:nvSpPr>
          <p:cNvPr id="975" name="Shape 975"/>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976" name="Shape 976"/>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06" name="Shape 1006"/>
        <p:cNvGrpSpPr/>
        <p:nvPr/>
      </p:nvGrpSpPr>
      <p:grpSpPr>
        <a:xfrm>
          <a:off x="0" y="0"/>
          <a:ext cx="0" cy="0"/>
          <a:chOff x="0" y="0"/>
          <a:chExt cx="0" cy="0"/>
        </a:xfrm>
      </p:grpSpPr>
      <p:sp>
        <p:nvSpPr>
          <p:cNvPr id="1007" name="Shape 1007"/>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1008" name="Shape 1008"/>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15" name="Shape 15"/>
        <p:cNvGrpSpPr/>
        <p:nvPr/>
      </p:nvGrpSpPr>
      <p:grpSpPr>
        <a:xfrm>
          <a:off x="0" y="0"/>
          <a:ext cx="0" cy="0"/>
          <a:chOff x="0" y="0"/>
          <a:chExt cx="0" cy="0"/>
        </a:xfrm>
      </p:grpSpPr>
      <p:sp>
        <p:nvSpPr>
          <p:cNvPr id="16" name="Shape 16"/>
          <p:cNvSpPr txBox="1"/>
          <p:nvPr>
            <p:ph type="ctrTitle"/>
          </p:nvPr>
        </p:nvSpPr>
        <p:spPr>
          <a:xfrm>
            <a:off x="685800" y="2130425"/>
            <a:ext cx="7772400" cy="1470024"/>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44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17" name="Shape 17"/>
          <p:cNvSpPr txBox="1"/>
          <p:nvPr>
            <p:ph idx="1" type="subTitle"/>
          </p:nvPr>
        </p:nvSpPr>
        <p:spPr>
          <a:xfrm>
            <a:off x="1371600" y="3886200"/>
            <a:ext cx="6400799" cy="1752600"/>
          </a:xfrm>
          <a:prstGeom prst="rect">
            <a:avLst/>
          </a:prstGeom>
          <a:noFill/>
          <a:ln>
            <a:noFill/>
          </a:ln>
        </p:spPr>
        <p:txBody>
          <a:bodyPr anchorCtr="0" anchor="t" bIns="91425" lIns="91425" rIns="91425" tIns="91425"/>
          <a:lstStyle>
            <a:lvl1pPr indent="0" lvl="0" marL="0" marR="0" rtl="0" algn="ctr">
              <a:spcBef>
                <a:spcPts val="640"/>
              </a:spcBef>
              <a:buClr>
                <a:srgbClr val="888888"/>
              </a:buClr>
              <a:buFont typeface="Arial"/>
              <a:buNone/>
              <a:defRPr b="0" i="0" sz="3200" u="none" cap="none" strike="noStrike">
                <a:solidFill>
                  <a:srgbClr val="888888"/>
                </a:solidFill>
                <a:latin typeface="Calibri"/>
                <a:ea typeface="Calibri"/>
                <a:cs typeface="Calibri"/>
                <a:sym typeface="Calibri"/>
              </a:defRPr>
            </a:lvl1pPr>
            <a:lvl2pPr indent="0" lvl="1" marL="457200" marR="0" rtl="0" algn="ctr">
              <a:spcBef>
                <a:spcPts val="560"/>
              </a:spcBef>
              <a:buClr>
                <a:srgbClr val="888888"/>
              </a:buClr>
              <a:buFont typeface="Arial"/>
              <a:buNone/>
              <a:defRPr b="0" i="0" sz="2800" u="none" cap="none" strike="noStrike">
                <a:solidFill>
                  <a:srgbClr val="888888"/>
                </a:solidFill>
                <a:latin typeface="Calibri"/>
                <a:ea typeface="Calibri"/>
                <a:cs typeface="Calibri"/>
                <a:sym typeface="Calibri"/>
              </a:defRPr>
            </a:lvl2pPr>
            <a:lvl3pPr indent="0" lvl="2" marL="914400" marR="0" rtl="0" algn="ctr">
              <a:spcBef>
                <a:spcPts val="480"/>
              </a:spcBef>
              <a:buClr>
                <a:srgbClr val="888888"/>
              </a:buClr>
              <a:buFont typeface="Arial"/>
              <a:buNone/>
              <a:defRPr b="0" i="0" sz="2400" u="none" cap="none" strike="noStrike">
                <a:solidFill>
                  <a:srgbClr val="888888"/>
                </a:solidFill>
                <a:latin typeface="Calibri"/>
                <a:ea typeface="Calibri"/>
                <a:cs typeface="Calibri"/>
                <a:sym typeface="Calibri"/>
              </a:defRPr>
            </a:lvl3pPr>
            <a:lvl4pPr indent="0" lvl="3" marL="13716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4pPr>
            <a:lvl5pPr indent="0" lvl="4" marL="18288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5pPr>
            <a:lvl6pPr indent="0" lvl="5" marL="22860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6pPr>
            <a:lvl7pPr indent="0" lvl="6" marL="27432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7pPr>
            <a:lvl8pPr indent="0" lvl="7" marL="32004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8pPr>
            <a:lvl9pPr indent="0" lvl="8" marL="36576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9pPr>
          </a:lstStyle>
          <a:p/>
        </p:txBody>
      </p:sp>
      <p:sp>
        <p:nvSpPr>
          <p:cNvPr id="18" name="Shape 18"/>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200" u="none" cap="none" strike="noStrike">
                <a:solidFill>
                  <a:srgbClr val="898989"/>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19" name="Shape 19"/>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20" name="Shape 20"/>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21" name="Shape 21"/>
        <p:cNvGrpSpPr/>
        <p:nvPr/>
      </p:nvGrpSpPr>
      <p:grpSpPr>
        <a:xfrm>
          <a:off x="0" y="0"/>
          <a:ext cx="0" cy="0"/>
          <a:chOff x="0" y="0"/>
          <a:chExt cx="0" cy="0"/>
        </a:xfrm>
      </p:grpSpPr>
      <p:sp>
        <p:nvSpPr>
          <p:cNvPr id="22" name="Shape 22"/>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200" u="none" cap="none" strike="noStrike">
                <a:solidFill>
                  <a:srgbClr val="898989"/>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23" name="Shape 23"/>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24" name="Shape 24"/>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
  <p:cSld name="Title and Content">
    <p:spTree>
      <p:nvGrpSpPr>
        <p:cNvPr id="25" name="Shape 25"/>
        <p:cNvGrpSpPr/>
        <p:nvPr/>
      </p:nvGrpSpPr>
      <p:grpSpPr>
        <a:xfrm>
          <a:off x="0" y="0"/>
          <a:ext cx="0" cy="0"/>
          <a:chOff x="0" y="0"/>
          <a:chExt cx="0" cy="0"/>
        </a:xfrm>
      </p:grpSpPr>
      <p:sp>
        <p:nvSpPr>
          <p:cNvPr id="26" name="Shape 26"/>
          <p:cNvSpPr txBox="1"/>
          <p:nvPr>
            <p:ph type="title"/>
          </p:nvPr>
        </p:nvSpPr>
        <p:spPr>
          <a:xfrm>
            <a:off x="457200" y="274637"/>
            <a:ext cx="8229600" cy="1143000"/>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44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27" name="Shape 27"/>
          <p:cNvSpPr txBox="1"/>
          <p:nvPr>
            <p:ph idx="1" type="body"/>
          </p:nvPr>
        </p:nvSpPr>
        <p:spPr>
          <a:xfrm>
            <a:off x="457200" y="1600200"/>
            <a:ext cx="8229600" cy="4525961"/>
          </a:xfrm>
          <a:prstGeom prst="rect">
            <a:avLst/>
          </a:prstGeom>
          <a:noFill/>
          <a:ln>
            <a:noFill/>
          </a:ln>
        </p:spPr>
        <p:txBody>
          <a:bodyPr anchorCtr="0" anchor="t" bIns="91425" lIns="91425" rIns="91425" tIns="91425"/>
          <a:lstStyle>
            <a:lvl1pPr indent="-139700" lvl="0" marL="342900" marR="0" rtl="0" algn="l">
              <a:spcBef>
                <a:spcPts val="640"/>
              </a:spcBef>
              <a:buClr>
                <a:schemeClr val="dk1"/>
              </a:buClr>
              <a:buSzPct val="100000"/>
              <a:buFont typeface="Arial"/>
              <a:buChar char="•"/>
              <a:defRPr b="0" i="0" sz="3200" u="none" cap="none" strike="noStrike">
                <a:solidFill>
                  <a:schemeClr val="dk1"/>
                </a:solidFill>
                <a:latin typeface="Calibri"/>
                <a:ea typeface="Calibri"/>
                <a:cs typeface="Calibri"/>
                <a:sym typeface="Calibri"/>
              </a:defRPr>
            </a:lvl1pPr>
            <a:lvl2pPr indent="-107950" lvl="1" marL="742950" marR="0" rtl="0" algn="l">
              <a:spcBef>
                <a:spcPts val="560"/>
              </a:spcBef>
              <a:buClr>
                <a:schemeClr val="dk1"/>
              </a:buClr>
              <a:buSzPct val="100000"/>
              <a:buFont typeface="Arial"/>
              <a:buChar char="–"/>
              <a:defRPr b="0" i="0" sz="2800" u="none" cap="none" strike="noStrike">
                <a:solidFill>
                  <a:schemeClr val="dk1"/>
                </a:solidFill>
                <a:latin typeface="Calibri"/>
                <a:ea typeface="Calibri"/>
                <a:cs typeface="Calibri"/>
                <a:sym typeface="Calibri"/>
              </a:defRPr>
            </a:lvl2pPr>
            <a:lvl3pPr indent="-76200" lvl="2" marL="11430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3pPr>
            <a:lvl4pPr indent="-101600" lvl="3" marL="1600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4pPr>
            <a:lvl5pPr indent="-101600" lvl="4" marL="20574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
        <p:nvSpPr>
          <p:cNvPr id="28" name="Shape 28"/>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200" u="none">
                <a:solidFill>
                  <a:srgbClr val="898989"/>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29" name="Shape 29"/>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800" u="non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30" name="Shape 30"/>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a:solidFill>
                  <a:srgbClr val="898989"/>
                </a:solidFill>
                <a:latin typeface="Calibri"/>
                <a:ea typeface="Calibri"/>
                <a:cs typeface="Calibri"/>
                <a:sym typeface="Calibri"/>
              </a:rPr>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vertTitleAndTx">
  <p:cSld name="Vertical Title and Text">
    <p:spTree>
      <p:nvGrpSpPr>
        <p:cNvPr id="31" name="Shape 31"/>
        <p:cNvGrpSpPr/>
        <p:nvPr/>
      </p:nvGrpSpPr>
      <p:grpSpPr>
        <a:xfrm>
          <a:off x="0" y="0"/>
          <a:ext cx="0" cy="0"/>
          <a:chOff x="0" y="0"/>
          <a:chExt cx="0" cy="0"/>
        </a:xfrm>
      </p:grpSpPr>
      <p:sp>
        <p:nvSpPr>
          <p:cNvPr id="32" name="Shape 32"/>
          <p:cNvSpPr txBox="1"/>
          <p:nvPr>
            <p:ph type="title"/>
          </p:nvPr>
        </p:nvSpPr>
        <p:spPr>
          <a:xfrm rot="5400000">
            <a:off x="4732337" y="2171700"/>
            <a:ext cx="5851525" cy="2057400"/>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44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33" name="Shape 33"/>
          <p:cNvSpPr txBox="1"/>
          <p:nvPr>
            <p:ph idx="1" type="body"/>
          </p:nvPr>
        </p:nvSpPr>
        <p:spPr>
          <a:xfrm rot="5400000">
            <a:off x="541337" y="190500"/>
            <a:ext cx="5851525" cy="6019799"/>
          </a:xfrm>
          <a:prstGeom prst="rect">
            <a:avLst/>
          </a:prstGeom>
          <a:noFill/>
          <a:ln>
            <a:noFill/>
          </a:ln>
        </p:spPr>
        <p:txBody>
          <a:bodyPr anchorCtr="0" anchor="t" bIns="91425" lIns="91425" rIns="91425" tIns="91425"/>
          <a:lstStyle>
            <a:lvl1pPr indent="-139700" lvl="0" marL="342900" marR="0" rtl="0" algn="l">
              <a:spcBef>
                <a:spcPts val="640"/>
              </a:spcBef>
              <a:buClr>
                <a:schemeClr val="dk1"/>
              </a:buClr>
              <a:buSzPct val="100000"/>
              <a:buFont typeface="Arial"/>
              <a:buChar char="•"/>
              <a:defRPr b="0" i="0" sz="3200" u="none" cap="none" strike="noStrike">
                <a:solidFill>
                  <a:schemeClr val="dk1"/>
                </a:solidFill>
                <a:latin typeface="Calibri"/>
                <a:ea typeface="Calibri"/>
                <a:cs typeface="Calibri"/>
                <a:sym typeface="Calibri"/>
              </a:defRPr>
            </a:lvl1pPr>
            <a:lvl2pPr indent="-107950" lvl="1" marL="742950" marR="0" rtl="0" algn="l">
              <a:spcBef>
                <a:spcPts val="560"/>
              </a:spcBef>
              <a:buClr>
                <a:schemeClr val="dk1"/>
              </a:buClr>
              <a:buSzPct val="100000"/>
              <a:buFont typeface="Arial"/>
              <a:buChar char="–"/>
              <a:defRPr b="0" i="0" sz="2800" u="none" cap="none" strike="noStrike">
                <a:solidFill>
                  <a:schemeClr val="dk1"/>
                </a:solidFill>
                <a:latin typeface="Calibri"/>
                <a:ea typeface="Calibri"/>
                <a:cs typeface="Calibri"/>
                <a:sym typeface="Calibri"/>
              </a:defRPr>
            </a:lvl2pPr>
            <a:lvl3pPr indent="-76200" lvl="2" marL="11430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3pPr>
            <a:lvl4pPr indent="-101600" lvl="3" marL="1600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4pPr>
            <a:lvl5pPr indent="-101600" lvl="4" marL="20574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
        <p:nvSpPr>
          <p:cNvPr id="34" name="Shape 34"/>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200" u="none">
                <a:solidFill>
                  <a:srgbClr val="898989"/>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35" name="Shape 35"/>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800" u="non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36" name="Shape 36"/>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a:solidFill>
                  <a:srgbClr val="898989"/>
                </a:solidFill>
                <a:latin typeface="Calibri"/>
                <a:ea typeface="Calibri"/>
                <a:cs typeface="Calibri"/>
                <a:sym typeface="Calibri"/>
              </a:rPr>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vertTx">
  <p:cSld name="Title and Vertical Text">
    <p:spTree>
      <p:nvGrpSpPr>
        <p:cNvPr id="37" name="Shape 37"/>
        <p:cNvGrpSpPr/>
        <p:nvPr/>
      </p:nvGrpSpPr>
      <p:grpSpPr>
        <a:xfrm>
          <a:off x="0" y="0"/>
          <a:ext cx="0" cy="0"/>
          <a:chOff x="0" y="0"/>
          <a:chExt cx="0" cy="0"/>
        </a:xfrm>
      </p:grpSpPr>
      <p:sp>
        <p:nvSpPr>
          <p:cNvPr id="38" name="Shape 38"/>
          <p:cNvSpPr txBox="1"/>
          <p:nvPr>
            <p:ph type="title"/>
          </p:nvPr>
        </p:nvSpPr>
        <p:spPr>
          <a:xfrm>
            <a:off x="457200" y="274637"/>
            <a:ext cx="8229600" cy="1143000"/>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44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39" name="Shape 39"/>
          <p:cNvSpPr txBox="1"/>
          <p:nvPr>
            <p:ph idx="1" type="body"/>
          </p:nvPr>
        </p:nvSpPr>
        <p:spPr>
          <a:xfrm rot="5400000">
            <a:off x="2309018" y="-251619"/>
            <a:ext cx="4525961" cy="8229600"/>
          </a:xfrm>
          <a:prstGeom prst="rect">
            <a:avLst/>
          </a:prstGeom>
          <a:noFill/>
          <a:ln>
            <a:noFill/>
          </a:ln>
        </p:spPr>
        <p:txBody>
          <a:bodyPr anchorCtr="0" anchor="t" bIns="91425" lIns="91425" rIns="91425" tIns="91425"/>
          <a:lstStyle>
            <a:lvl1pPr indent="-139700" lvl="0" marL="342900" marR="0" rtl="0" algn="l">
              <a:spcBef>
                <a:spcPts val="640"/>
              </a:spcBef>
              <a:buClr>
                <a:schemeClr val="dk1"/>
              </a:buClr>
              <a:buSzPct val="100000"/>
              <a:buFont typeface="Arial"/>
              <a:buChar char="•"/>
              <a:defRPr b="0" i="0" sz="3200" u="none" cap="none" strike="noStrike">
                <a:solidFill>
                  <a:schemeClr val="dk1"/>
                </a:solidFill>
                <a:latin typeface="Calibri"/>
                <a:ea typeface="Calibri"/>
                <a:cs typeface="Calibri"/>
                <a:sym typeface="Calibri"/>
              </a:defRPr>
            </a:lvl1pPr>
            <a:lvl2pPr indent="-107950" lvl="1" marL="742950" marR="0" rtl="0" algn="l">
              <a:spcBef>
                <a:spcPts val="560"/>
              </a:spcBef>
              <a:buClr>
                <a:schemeClr val="dk1"/>
              </a:buClr>
              <a:buSzPct val="100000"/>
              <a:buFont typeface="Arial"/>
              <a:buChar char="–"/>
              <a:defRPr b="0" i="0" sz="2800" u="none" cap="none" strike="noStrike">
                <a:solidFill>
                  <a:schemeClr val="dk1"/>
                </a:solidFill>
                <a:latin typeface="Calibri"/>
                <a:ea typeface="Calibri"/>
                <a:cs typeface="Calibri"/>
                <a:sym typeface="Calibri"/>
              </a:defRPr>
            </a:lvl2pPr>
            <a:lvl3pPr indent="-76200" lvl="2" marL="11430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3pPr>
            <a:lvl4pPr indent="-101600" lvl="3" marL="1600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4pPr>
            <a:lvl5pPr indent="-101600" lvl="4" marL="20574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
        <p:nvSpPr>
          <p:cNvPr id="40" name="Shape 40"/>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200" u="none">
                <a:solidFill>
                  <a:srgbClr val="898989"/>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41" name="Shape 41"/>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800" u="non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42" name="Shape 42"/>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a:solidFill>
                  <a:srgbClr val="898989"/>
                </a:solidFill>
                <a:latin typeface="Calibri"/>
                <a:ea typeface="Calibri"/>
                <a:cs typeface="Calibri"/>
                <a:sym typeface="Calibri"/>
              </a:rPr>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picTx">
  <p:cSld name="Picture with Caption">
    <p:spTree>
      <p:nvGrpSpPr>
        <p:cNvPr id="43" name="Shape 43"/>
        <p:cNvGrpSpPr/>
        <p:nvPr/>
      </p:nvGrpSpPr>
      <p:grpSpPr>
        <a:xfrm>
          <a:off x="0" y="0"/>
          <a:ext cx="0" cy="0"/>
          <a:chOff x="0" y="0"/>
          <a:chExt cx="0" cy="0"/>
        </a:xfrm>
      </p:grpSpPr>
      <p:sp>
        <p:nvSpPr>
          <p:cNvPr id="44" name="Shape 44"/>
          <p:cNvSpPr txBox="1"/>
          <p:nvPr>
            <p:ph type="title"/>
          </p:nvPr>
        </p:nvSpPr>
        <p:spPr>
          <a:xfrm>
            <a:off x="1792288" y="4800600"/>
            <a:ext cx="5486399" cy="566737"/>
          </a:xfrm>
          <a:prstGeom prst="rect">
            <a:avLst/>
          </a:prstGeom>
          <a:noFill/>
          <a:ln>
            <a:noFill/>
          </a:ln>
        </p:spPr>
        <p:txBody>
          <a:bodyPr anchorCtr="0" anchor="b" bIns="91425" lIns="91425" rIns="91425" tIns="91425"/>
          <a:lstStyle>
            <a:lvl1pPr indent="0" lvl="0" marL="0" marR="0" rtl="0" algn="l">
              <a:spcBef>
                <a:spcPts val="0"/>
              </a:spcBef>
              <a:buClr>
                <a:schemeClr val="dk1"/>
              </a:buClr>
              <a:buFont typeface="Calibri"/>
              <a:buNone/>
              <a:defRPr b="1" i="0" sz="20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45" name="Shape 45"/>
          <p:cNvSpPr/>
          <p:nvPr>
            <p:ph idx="2" type="pic"/>
          </p:nvPr>
        </p:nvSpPr>
        <p:spPr>
          <a:xfrm>
            <a:off x="1792288" y="612775"/>
            <a:ext cx="5486399" cy="4114800"/>
          </a:xfrm>
          <a:prstGeom prst="rect">
            <a:avLst/>
          </a:prstGeom>
          <a:noFill/>
          <a:ln>
            <a:noFill/>
          </a:ln>
        </p:spPr>
        <p:txBody>
          <a:bodyPr anchorCtr="0" anchor="t" bIns="91425" lIns="91425" rIns="91425" tIns="91425"/>
          <a:lstStyle>
            <a:lvl1pPr indent="0" lvl="0" marL="0" marR="0" rtl="0" algn="l">
              <a:spcBef>
                <a:spcPts val="640"/>
              </a:spcBef>
              <a:buClr>
                <a:schemeClr val="dk1"/>
              </a:buClr>
              <a:buFont typeface="Arial"/>
              <a:buNone/>
              <a:defRPr b="0" i="0" sz="3200" u="none" cap="none" strike="noStrike">
                <a:solidFill>
                  <a:schemeClr val="dk1"/>
                </a:solidFill>
                <a:latin typeface="Calibri"/>
                <a:ea typeface="Calibri"/>
                <a:cs typeface="Calibri"/>
                <a:sym typeface="Calibri"/>
              </a:defRPr>
            </a:lvl1pPr>
            <a:lvl2pPr indent="0" lvl="1" marL="457200" marR="0" rtl="0" algn="l">
              <a:spcBef>
                <a:spcPts val="560"/>
              </a:spcBef>
              <a:buClr>
                <a:schemeClr val="dk1"/>
              </a:buClr>
              <a:buFont typeface="Arial"/>
              <a:buNone/>
              <a:defRPr b="0" i="0" sz="2800" u="none" cap="none" strike="noStrike">
                <a:solidFill>
                  <a:schemeClr val="dk1"/>
                </a:solidFill>
                <a:latin typeface="Calibri"/>
                <a:ea typeface="Calibri"/>
                <a:cs typeface="Calibri"/>
                <a:sym typeface="Calibri"/>
              </a:defRPr>
            </a:lvl2pPr>
            <a:lvl3pPr indent="0" lvl="2" marL="914400" marR="0" rtl="0" algn="l">
              <a:spcBef>
                <a:spcPts val="480"/>
              </a:spcBef>
              <a:buClr>
                <a:schemeClr val="dk1"/>
              </a:buClr>
              <a:buFont typeface="Arial"/>
              <a:buNone/>
              <a:defRPr b="0" i="0" sz="2400" u="none" cap="none" strike="noStrike">
                <a:solidFill>
                  <a:schemeClr val="dk1"/>
                </a:solidFill>
                <a:latin typeface="Calibri"/>
                <a:ea typeface="Calibri"/>
                <a:cs typeface="Calibri"/>
                <a:sym typeface="Calibri"/>
              </a:defRPr>
            </a:lvl3pPr>
            <a:lvl4pPr indent="0" lvl="3" marL="13716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4pPr>
            <a:lvl5pPr indent="0" lvl="4" marL="18288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5pPr>
            <a:lvl6pPr indent="0" lvl="5" marL="22860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6pPr>
            <a:lvl7pPr indent="0" lvl="6" marL="27432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7pPr>
            <a:lvl8pPr indent="0" lvl="7" marL="32004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8pPr>
            <a:lvl9pPr indent="0" lvl="8" marL="3657600" marR="0" rtl="0" algn="l">
              <a:spcBef>
                <a:spcPts val="400"/>
              </a:spcBef>
              <a:buClr>
                <a:schemeClr val="dk1"/>
              </a:buClr>
              <a:buFont typeface="Arial"/>
              <a:buNone/>
              <a:defRPr b="0" i="0" sz="2000" u="none" cap="none" strike="noStrike">
                <a:solidFill>
                  <a:schemeClr val="dk1"/>
                </a:solidFill>
                <a:latin typeface="Calibri"/>
                <a:ea typeface="Calibri"/>
                <a:cs typeface="Calibri"/>
                <a:sym typeface="Calibri"/>
              </a:defRPr>
            </a:lvl9pPr>
          </a:lstStyle>
          <a:p/>
        </p:txBody>
      </p:sp>
      <p:sp>
        <p:nvSpPr>
          <p:cNvPr id="46" name="Shape 46"/>
          <p:cNvSpPr txBox="1"/>
          <p:nvPr>
            <p:ph idx="1" type="body"/>
          </p:nvPr>
        </p:nvSpPr>
        <p:spPr>
          <a:xfrm>
            <a:off x="1792288" y="5367337"/>
            <a:ext cx="5486399" cy="804861"/>
          </a:xfrm>
          <a:prstGeom prst="rect">
            <a:avLst/>
          </a:prstGeom>
          <a:noFill/>
          <a:ln>
            <a:noFill/>
          </a:ln>
        </p:spPr>
        <p:txBody>
          <a:bodyPr anchorCtr="0" anchor="t" bIns="91425" lIns="91425" rIns="91425" tIns="91425"/>
          <a:lstStyle>
            <a:lvl1pPr indent="0" lvl="0" marL="0" marR="0" rtl="0" algn="l">
              <a:spcBef>
                <a:spcPts val="280"/>
              </a:spcBef>
              <a:buClr>
                <a:schemeClr val="dk1"/>
              </a:buClr>
              <a:buFont typeface="Arial"/>
              <a:buNone/>
              <a:defRPr b="0" i="0" sz="1400" u="none" cap="none" strike="noStrike">
                <a:solidFill>
                  <a:schemeClr val="dk1"/>
                </a:solidFill>
                <a:latin typeface="Calibri"/>
                <a:ea typeface="Calibri"/>
                <a:cs typeface="Calibri"/>
                <a:sym typeface="Calibri"/>
              </a:defRPr>
            </a:lvl1pPr>
            <a:lvl2pPr indent="0" lvl="1" marL="457200" marR="0" rtl="0" algn="l">
              <a:spcBef>
                <a:spcPts val="240"/>
              </a:spcBef>
              <a:buClr>
                <a:schemeClr val="dk1"/>
              </a:buClr>
              <a:buFont typeface="Arial"/>
              <a:buNone/>
              <a:defRPr b="0" i="0" sz="1200" u="none" cap="none" strike="noStrike">
                <a:solidFill>
                  <a:schemeClr val="dk1"/>
                </a:solidFill>
                <a:latin typeface="Calibri"/>
                <a:ea typeface="Calibri"/>
                <a:cs typeface="Calibri"/>
                <a:sym typeface="Calibri"/>
              </a:defRPr>
            </a:lvl2pPr>
            <a:lvl3pPr indent="0" lvl="2" marL="914400" marR="0" rtl="0" algn="l">
              <a:spcBef>
                <a:spcPts val="200"/>
              </a:spcBef>
              <a:buClr>
                <a:schemeClr val="dk1"/>
              </a:buClr>
              <a:buFont typeface="Arial"/>
              <a:buNone/>
              <a:defRPr b="0" i="0" sz="1000" u="none" cap="none" strike="noStrike">
                <a:solidFill>
                  <a:schemeClr val="dk1"/>
                </a:solidFill>
                <a:latin typeface="Calibri"/>
                <a:ea typeface="Calibri"/>
                <a:cs typeface="Calibri"/>
                <a:sym typeface="Calibri"/>
              </a:defRPr>
            </a:lvl3pPr>
            <a:lvl4pPr indent="0" lvl="3" marL="13716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4pPr>
            <a:lvl5pPr indent="0" lvl="4" marL="18288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5pPr>
            <a:lvl6pPr indent="0" lvl="5" marL="22860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6pPr>
            <a:lvl7pPr indent="0" lvl="6" marL="27432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7pPr>
            <a:lvl8pPr indent="0" lvl="7" marL="32004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8pPr>
            <a:lvl9pPr indent="0" lvl="8" marL="36576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9pPr>
          </a:lstStyle>
          <a:p/>
        </p:txBody>
      </p:sp>
      <p:sp>
        <p:nvSpPr>
          <p:cNvPr id="47" name="Shape 47"/>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200" u="none">
                <a:solidFill>
                  <a:srgbClr val="898989"/>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48" name="Shape 48"/>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800" u="non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49" name="Shape 49"/>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a:solidFill>
                  <a:srgbClr val="898989"/>
                </a:solidFill>
                <a:latin typeface="Calibri"/>
                <a:ea typeface="Calibri"/>
                <a:cs typeface="Calibri"/>
                <a:sym typeface="Calibri"/>
              </a:rPr>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Tx">
  <p:cSld name="Content with Caption">
    <p:spTree>
      <p:nvGrpSpPr>
        <p:cNvPr id="50" name="Shape 50"/>
        <p:cNvGrpSpPr/>
        <p:nvPr/>
      </p:nvGrpSpPr>
      <p:grpSpPr>
        <a:xfrm>
          <a:off x="0" y="0"/>
          <a:ext cx="0" cy="0"/>
          <a:chOff x="0" y="0"/>
          <a:chExt cx="0" cy="0"/>
        </a:xfrm>
      </p:grpSpPr>
      <p:sp>
        <p:nvSpPr>
          <p:cNvPr id="51" name="Shape 51"/>
          <p:cNvSpPr txBox="1"/>
          <p:nvPr>
            <p:ph type="title"/>
          </p:nvPr>
        </p:nvSpPr>
        <p:spPr>
          <a:xfrm>
            <a:off x="457200" y="273050"/>
            <a:ext cx="3008313" cy="1162049"/>
          </a:xfrm>
          <a:prstGeom prst="rect">
            <a:avLst/>
          </a:prstGeom>
          <a:noFill/>
          <a:ln>
            <a:noFill/>
          </a:ln>
        </p:spPr>
        <p:txBody>
          <a:bodyPr anchorCtr="0" anchor="b" bIns="91425" lIns="91425" rIns="91425" tIns="91425"/>
          <a:lstStyle>
            <a:lvl1pPr indent="0" lvl="0" marL="0" marR="0" rtl="0" algn="l">
              <a:spcBef>
                <a:spcPts val="0"/>
              </a:spcBef>
              <a:buClr>
                <a:schemeClr val="dk1"/>
              </a:buClr>
              <a:buFont typeface="Calibri"/>
              <a:buNone/>
              <a:defRPr b="1" i="0" sz="20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52" name="Shape 52"/>
          <p:cNvSpPr txBox="1"/>
          <p:nvPr>
            <p:ph idx="1" type="body"/>
          </p:nvPr>
        </p:nvSpPr>
        <p:spPr>
          <a:xfrm>
            <a:off x="3575050" y="273050"/>
            <a:ext cx="5111750" cy="5853112"/>
          </a:xfrm>
          <a:prstGeom prst="rect">
            <a:avLst/>
          </a:prstGeom>
          <a:noFill/>
          <a:ln>
            <a:noFill/>
          </a:ln>
        </p:spPr>
        <p:txBody>
          <a:bodyPr anchorCtr="0" anchor="t" bIns="91425" lIns="91425" rIns="91425" tIns="91425"/>
          <a:lstStyle>
            <a:lvl1pPr indent="-139700" lvl="0" marL="342900" marR="0" rtl="0" algn="l">
              <a:spcBef>
                <a:spcPts val="640"/>
              </a:spcBef>
              <a:buClr>
                <a:schemeClr val="dk1"/>
              </a:buClr>
              <a:buSzPct val="100000"/>
              <a:buFont typeface="Arial"/>
              <a:buChar char="•"/>
              <a:defRPr b="0" i="0" sz="3200" u="none" cap="none" strike="noStrike">
                <a:solidFill>
                  <a:schemeClr val="dk1"/>
                </a:solidFill>
                <a:latin typeface="Calibri"/>
                <a:ea typeface="Calibri"/>
                <a:cs typeface="Calibri"/>
                <a:sym typeface="Calibri"/>
              </a:defRPr>
            </a:lvl1pPr>
            <a:lvl2pPr indent="-107950" lvl="1" marL="742950" marR="0" rtl="0" algn="l">
              <a:spcBef>
                <a:spcPts val="560"/>
              </a:spcBef>
              <a:buClr>
                <a:schemeClr val="dk1"/>
              </a:buClr>
              <a:buSzPct val="100000"/>
              <a:buFont typeface="Arial"/>
              <a:buChar char="–"/>
              <a:defRPr b="0" i="0" sz="2800" u="none" cap="none" strike="noStrike">
                <a:solidFill>
                  <a:schemeClr val="dk1"/>
                </a:solidFill>
                <a:latin typeface="Calibri"/>
                <a:ea typeface="Calibri"/>
                <a:cs typeface="Calibri"/>
                <a:sym typeface="Calibri"/>
              </a:defRPr>
            </a:lvl2pPr>
            <a:lvl3pPr indent="-76200" lvl="2" marL="11430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3pPr>
            <a:lvl4pPr indent="-101600" lvl="3" marL="1600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4pPr>
            <a:lvl5pPr indent="-101600" lvl="4" marL="20574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
        <p:nvSpPr>
          <p:cNvPr id="53" name="Shape 53"/>
          <p:cNvSpPr txBox="1"/>
          <p:nvPr>
            <p:ph idx="2" type="body"/>
          </p:nvPr>
        </p:nvSpPr>
        <p:spPr>
          <a:xfrm>
            <a:off x="457200" y="1435100"/>
            <a:ext cx="3008313" cy="4691063"/>
          </a:xfrm>
          <a:prstGeom prst="rect">
            <a:avLst/>
          </a:prstGeom>
          <a:noFill/>
          <a:ln>
            <a:noFill/>
          </a:ln>
        </p:spPr>
        <p:txBody>
          <a:bodyPr anchorCtr="0" anchor="t" bIns="91425" lIns="91425" rIns="91425" tIns="91425"/>
          <a:lstStyle>
            <a:lvl1pPr indent="0" lvl="0" marL="0" marR="0" rtl="0" algn="l">
              <a:spcBef>
                <a:spcPts val="280"/>
              </a:spcBef>
              <a:buClr>
                <a:schemeClr val="dk1"/>
              </a:buClr>
              <a:buFont typeface="Arial"/>
              <a:buNone/>
              <a:defRPr b="0" i="0" sz="1400" u="none" cap="none" strike="noStrike">
                <a:solidFill>
                  <a:schemeClr val="dk1"/>
                </a:solidFill>
                <a:latin typeface="Calibri"/>
                <a:ea typeface="Calibri"/>
                <a:cs typeface="Calibri"/>
                <a:sym typeface="Calibri"/>
              </a:defRPr>
            </a:lvl1pPr>
            <a:lvl2pPr indent="0" lvl="1" marL="457200" marR="0" rtl="0" algn="l">
              <a:spcBef>
                <a:spcPts val="240"/>
              </a:spcBef>
              <a:buClr>
                <a:schemeClr val="dk1"/>
              </a:buClr>
              <a:buFont typeface="Arial"/>
              <a:buNone/>
              <a:defRPr b="0" i="0" sz="1200" u="none" cap="none" strike="noStrike">
                <a:solidFill>
                  <a:schemeClr val="dk1"/>
                </a:solidFill>
                <a:latin typeface="Calibri"/>
                <a:ea typeface="Calibri"/>
                <a:cs typeface="Calibri"/>
                <a:sym typeface="Calibri"/>
              </a:defRPr>
            </a:lvl2pPr>
            <a:lvl3pPr indent="0" lvl="2" marL="914400" marR="0" rtl="0" algn="l">
              <a:spcBef>
                <a:spcPts val="200"/>
              </a:spcBef>
              <a:buClr>
                <a:schemeClr val="dk1"/>
              </a:buClr>
              <a:buFont typeface="Arial"/>
              <a:buNone/>
              <a:defRPr b="0" i="0" sz="1000" u="none" cap="none" strike="noStrike">
                <a:solidFill>
                  <a:schemeClr val="dk1"/>
                </a:solidFill>
                <a:latin typeface="Calibri"/>
                <a:ea typeface="Calibri"/>
                <a:cs typeface="Calibri"/>
                <a:sym typeface="Calibri"/>
              </a:defRPr>
            </a:lvl3pPr>
            <a:lvl4pPr indent="0" lvl="3" marL="13716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4pPr>
            <a:lvl5pPr indent="0" lvl="4" marL="18288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5pPr>
            <a:lvl6pPr indent="0" lvl="5" marL="22860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6pPr>
            <a:lvl7pPr indent="0" lvl="6" marL="27432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7pPr>
            <a:lvl8pPr indent="0" lvl="7" marL="32004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8pPr>
            <a:lvl9pPr indent="0" lvl="8" marL="3657600" marR="0" rtl="0" algn="l">
              <a:spcBef>
                <a:spcPts val="180"/>
              </a:spcBef>
              <a:buClr>
                <a:schemeClr val="dk1"/>
              </a:buClr>
              <a:buFont typeface="Arial"/>
              <a:buNone/>
              <a:defRPr b="0" i="0" sz="900" u="none" cap="none" strike="noStrike">
                <a:solidFill>
                  <a:schemeClr val="dk1"/>
                </a:solidFill>
                <a:latin typeface="Calibri"/>
                <a:ea typeface="Calibri"/>
                <a:cs typeface="Calibri"/>
                <a:sym typeface="Calibri"/>
              </a:defRPr>
            </a:lvl9pPr>
          </a:lstStyle>
          <a:p/>
        </p:txBody>
      </p:sp>
      <p:sp>
        <p:nvSpPr>
          <p:cNvPr id="54" name="Shape 54"/>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200" u="none">
                <a:solidFill>
                  <a:srgbClr val="898989"/>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55" name="Shape 55"/>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800" u="non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56" name="Shape 56"/>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a:solidFill>
                  <a:srgbClr val="898989"/>
                </a:solidFill>
                <a:latin typeface="Calibri"/>
                <a:ea typeface="Calibri"/>
                <a:cs typeface="Calibri"/>
                <a:sym typeface="Calibri"/>
              </a:rPr>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57" name="Shape 57"/>
        <p:cNvGrpSpPr/>
        <p:nvPr/>
      </p:nvGrpSpPr>
      <p:grpSpPr>
        <a:xfrm>
          <a:off x="0" y="0"/>
          <a:ext cx="0" cy="0"/>
          <a:chOff x="0" y="0"/>
          <a:chExt cx="0" cy="0"/>
        </a:xfrm>
      </p:grpSpPr>
      <p:sp>
        <p:nvSpPr>
          <p:cNvPr id="58" name="Shape 58"/>
          <p:cNvSpPr txBox="1"/>
          <p:nvPr>
            <p:ph type="title"/>
          </p:nvPr>
        </p:nvSpPr>
        <p:spPr>
          <a:xfrm>
            <a:off x="457200" y="274637"/>
            <a:ext cx="8229600" cy="1143000"/>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44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59" name="Shape 59"/>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200" u="none">
                <a:solidFill>
                  <a:srgbClr val="898989"/>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60" name="Shape 60"/>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800" u="non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61" name="Shape 61"/>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a:solidFill>
                  <a:srgbClr val="898989"/>
                </a:solidFill>
                <a:latin typeface="Calibri"/>
                <a:ea typeface="Calibri"/>
                <a:cs typeface="Calibri"/>
                <a:sym typeface="Calibri"/>
              </a:rPr>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TxTwoObj">
  <p:cSld name="Comparison">
    <p:spTree>
      <p:nvGrpSpPr>
        <p:cNvPr id="62" name="Shape 62"/>
        <p:cNvGrpSpPr/>
        <p:nvPr/>
      </p:nvGrpSpPr>
      <p:grpSpPr>
        <a:xfrm>
          <a:off x="0" y="0"/>
          <a:ext cx="0" cy="0"/>
          <a:chOff x="0" y="0"/>
          <a:chExt cx="0" cy="0"/>
        </a:xfrm>
      </p:grpSpPr>
      <p:sp>
        <p:nvSpPr>
          <p:cNvPr id="63" name="Shape 63"/>
          <p:cNvSpPr txBox="1"/>
          <p:nvPr>
            <p:ph type="title"/>
          </p:nvPr>
        </p:nvSpPr>
        <p:spPr>
          <a:xfrm>
            <a:off x="457200" y="274637"/>
            <a:ext cx="8229600" cy="1143000"/>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44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64" name="Shape 64"/>
          <p:cNvSpPr txBox="1"/>
          <p:nvPr>
            <p:ph idx="1" type="body"/>
          </p:nvPr>
        </p:nvSpPr>
        <p:spPr>
          <a:xfrm>
            <a:off x="457200" y="1535112"/>
            <a:ext cx="4040187" cy="639762"/>
          </a:xfrm>
          <a:prstGeom prst="rect">
            <a:avLst/>
          </a:prstGeom>
          <a:noFill/>
          <a:ln>
            <a:noFill/>
          </a:ln>
        </p:spPr>
        <p:txBody>
          <a:bodyPr anchorCtr="0" anchor="b" bIns="91425" lIns="91425" rIns="91425" tIns="91425"/>
          <a:lstStyle>
            <a:lvl1pPr indent="0" lvl="0" marL="0" marR="0" rtl="0" algn="l">
              <a:spcBef>
                <a:spcPts val="480"/>
              </a:spcBef>
              <a:buClr>
                <a:schemeClr val="dk1"/>
              </a:buClr>
              <a:buFont typeface="Arial"/>
              <a:buNone/>
              <a:defRPr b="1" i="0" sz="2400" u="none" cap="none" strike="noStrike">
                <a:solidFill>
                  <a:schemeClr val="dk1"/>
                </a:solidFill>
                <a:latin typeface="Calibri"/>
                <a:ea typeface="Calibri"/>
                <a:cs typeface="Calibri"/>
                <a:sym typeface="Calibri"/>
              </a:defRPr>
            </a:lvl1pPr>
            <a:lvl2pPr indent="0" lvl="1" marL="457200" marR="0" rtl="0" algn="l">
              <a:spcBef>
                <a:spcPts val="400"/>
              </a:spcBef>
              <a:buClr>
                <a:schemeClr val="dk1"/>
              </a:buClr>
              <a:buFont typeface="Arial"/>
              <a:buNone/>
              <a:defRPr b="1" i="0" sz="2000" u="none" cap="none" strike="noStrike">
                <a:solidFill>
                  <a:schemeClr val="dk1"/>
                </a:solidFill>
                <a:latin typeface="Calibri"/>
                <a:ea typeface="Calibri"/>
                <a:cs typeface="Calibri"/>
                <a:sym typeface="Calibri"/>
              </a:defRPr>
            </a:lvl2pPr>
            <a:lvl3pPr indent="0" lvl="2" marL="914400" marR="0" rtl="0" algn="l">
              <a:spcBef>
                <a:spcPts val="360"/>
              </a:spcBef>
              <a:buClr>
                <a:schemeClr val="dk1"/>
              </a:buClr>
              <a:buFont typeface="Arial"/>
              <a:buNone/>
              <a:defRPr b="1" i="0" sz="1800" u="none" cap="none" strike="noStrike">
                <a:solidFill>
                  <a:schemeClr val="dk1"/>
                </a:solidFill>
                <a:latin typeface="Calibri"/>
                <a:ea typeface="Calibri"/>
                <a:cs typeface="Calibri"/>
                <a:sym typeface="Calibri"/>
              </a:defRPr>
            </a:lvl3pPr>
            <a:lvl4pPr indent="0" lvl="3" marL="13716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4pPr>
            <a:lvl5pPr indent="0" lvl="4" marL="18288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5pPr>
            <a:lvl6pPr indent="0" lvl="5" marL="22860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6pPr>
            <a:lvl7pPr indent="0" lvl="6" marL="27432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7pPr>
            <a:lvl8pPr indent="0" lvl="7" marL="32004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8pPr>
            <a:lvl9pPr indent="0" lvl="8" marL="36576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9pPr>
          </a:lstStyle>
          <a:p/>
        </p:txBody>
      </p:sp>
      <p:sp>
        <p:nvSpPr>
          <p:cNvPr id="65" name="Shape 65"/>
          <p:cNvSpPr txBox="1"/>
          <p:nvPr>
            <p:ph idx="2" type="body"/>
          </p:nvPr>
        </p:nvSpPr>
        <p:spPr>
          <a:xfrm>
            <a:off x="457200" y="2174875"/>
            <a:ext cx="4040187" cy="3951287"/>
          </a:xfrm>
          <a:prstGeom prst="rect">
            <a:avLst/>
          </a:prstGeom>
          <a:noFill/>
          <a:ln>
            <a:noFill/>
          </a:ln>
        </p:spPr>
        <p:txBody>
          <a:bodyPr anchorCtr="0" anchor="t" bIns="91425" lIns="91425" rIns="91425" tIns="91425"/>
          <a:lstStyle>
            <a:lvl1pPr indent="-190500" lvl="0" marL="3429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1pPr>
            <a:lvl2pPr indent="-158750" lvl="1" marL="74295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2pPr>
            <a:lvl3pPr indent="-114300" lvl="2" marL="1143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3pPr>
            <a:lvl4pPr indent="-127000" lvl="3" marL="1600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4pPr>
            <a:lvl5pPr indent="-127000" lvl="4" marL="20574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5pPr>
            <a:lvl6pPr indent="-127000" lvl="5" marL="25146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6pPr>
            <a:lvl7pPr indent="-127000" lvl="6" marL="29718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7pPr>
            <a:lvl8pPr indent="-127000" lvl="7" marL="34290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8pPr>
            <a:lvl9pPr indent="-127000" lvl="8" marL="3886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9pPr>
          </a:lstStyle>
          <a:p/>
        </p:txBody>
      </p:sp>
      <p:sp>
        <p:nvSpPr>
          <p:cNvPr id="66" name="Shape 66"/>
          <p:cNvSpPr txBox="1"/>
          <p:nvPr>
            <p:ph idx="3" type="body"/>
          </p:nvPr>
        </p:nvSpPr>
        <p:spPr>
          <a:xfrm>
            <a:off x="4645025" y="1535112"/>
            <a:ext cx="4041774" cy="639762"/>
          </a:xfrm>
          <a:prstGeom prst="rect">
            <a:avLst/>
          </a:prstGeom>
          <a:noFill/>
          <a:ln>
            <a:noFill/>
          </a:ln>
        </p:spPr>
        <p:txBody>
          <a:bodyPr anchorCtr="0" anchor="b" bIns="91425" lIns="91425" rIns="91425" tIns="91425"/>
          <a:lstStyle>
            <a:lvl1pPr indent="0" lvl="0" marL="0" marR="0" rtl="0" algn="l">
              <a:spcBef>
                <a:spcPts val="480"/>
              </a:spcBef>
              <a:buClr>
                <a:schemeClr val="dk1"/>
              </a:buClr>
              <a:buFont typeface="Arial"/>
              <a:buNone/>
              <a:defRPr b="1" i="0" sz="2400" u="none" cap="none" strike="noStrike">
                <a:solidFill>
                  <a:schemeClr val="dk1"/>
                </a:solidFill>
                <a:latin typeface="Calibri"/>
                <a:ea typeface="Calibri"/>
                <a:cs typeface="Calibri"/>
                <a:sym typeface="Calibri"/>
              </a:defRPr>
            </a:lvl1pPr>
            <a:lvl2pPr indent="0" lvl="1" marL="457200" marR="0" rtl="0" algn="l">
              <a:spcBef>
                <a:spcPts val="400"/>
              </a:spcBef>
              <a:buClr>
                <a:schemeClr val="dk1"/>
              </a:buClr>
              <a:buFont typeface="Arial"/>
              <a:buNone/>
              <a:defRPr b="1" i="0" sz="2000" u="none" cap="none" strike="noStrike">
                <a:solidFill>
                  <a:schemeClr val="dk1"/>
                </a:solidFill>
                <a:latin typeface="Calibri"/>
                <a:ea typeface="Calibri"/>
                <a:cs typeface="Calibri"/>
                <a:sym typeface="Calibri"/>
              </a:defRPr>
            </a:lvl2pPr>
            <a:lvl3pPr indent="0" lvl="2" marL="914400" marR="0" rtl="0" algn="l">
              <a:spcBef>
                <a:spcPts val="360"/>
              </a:spcBef>
              <a:buClr>
                <a:schemeClr val="dk1"/>
              </a:buClr>
              <a:buFont typeface="Arial"/>
              <a:buNone/>
              <a:defRPr b="1" i="0" sz="1800" u="none" cap="none" strike="noStrike">
                <a:solidFill>
                  <a:schemeClr val="dk1"/>
                </a:solidFill>
                <a:latin typeface="Calibri"/>
                <a:ea typeface="Calibri"/>
                <a:cs typeface="Calibri"/>
                <a:sym typeface="Calibri"/>
              </a:defRPr>
            </a:lvl3pPr>
            <a:lvl4pPr indent="0" lvl="3" marL="13716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4pPr>
            <a:lvl5pPr indent="0" lvl="4" marL="18288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5pPr>
            <a:lvl6pPr indent="0" lvl="5" marL="22860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6pPr>
            <a:lvl7pPr indent="0" lvl="6" marL="27432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7pPr>
            <a:lvl8pPr indent="0" lvl="7" marL="32004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8pPr>
            <a:lvl9pPr indent="0" lvl="8" marL="3657600" marR="0" rtl="0" algn="l">
              <a:spcBef>
                <a:spcPts val="320"/>
              </a:spcBef>
              <a:buClr>
                <a:schemeClr val="dk1"/>
              </a:buClr>
              <a:buFont typeface="Arial"/>
              <a:buNone/>
              <a:defRPr b="1" i="0" sz="1600" u="none" cap="none" strike="noStrike">
                <a:solidFill>
                  <a:schemeClr val="dk1"/>
                </a:solidFill>
                <a:latin typeface="Calibri"/>
                <a:ea typeface="Calibri"/>
                <a:cs typeface="Calibri"/>
                <a:sym typeface="Calibri"/>
              </a:defRPr>
            </a:lvl9pPr>
          </a:lstStyle>
          <a:p/>
        </p:txBody>
      </p:sp>
      <p:sp>
        <p:nvSpPr>
          <p:cNvPr id="67" name="Shape 67"/>
          <p:cNvSpPr txBox="1"/>
          <p:nvPr>
            <p:ph idx="4" type="body"/>
          </p:nvPr>
        </p:nvSpPr>
        <p:spPr>
          <a:xfrm>
            <a:off x="4645025" y="2174875"/>
            <a:ext cx="4041774" cy="3951287"/>
          </a:xfrm>
          <a:prstGeom prst="rect">
            <a:avLst/>
          </a:prstGeom>
          <a:noFill/>
          <a:ln>
            <a:noFill/>
          </a:ln>
        </p:spPr>
        <p:txBody>
          <a:bodyPr anchorCtr="0" anchor="t" bIns="91425" lIns="91425" rIns="91425" tIns="91425"/>
          <a:lstStyle>
            <a:lvl1pPr indent="-190500" lvl="0" marL="3429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1pPr>
            <a:lvl2pPr indent="-158750" lvl="1" marL="74295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2pPr>
            <a:lvl3pPr indent="-114300" lvl="2" marL="1143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3pPr>
            <a:lvl4pPr indent="-127000" lvl="3" marL="1600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4pPr>
            <a:lvl5pPr indent="-127000" lvl="4" marL="20574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5pPr>
            <a:lvl6pPr indent="-127000" lvl="5" marL="25146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6pPr>
            <a:lvl7pPr indent="-127000" lvl="6" marL="29718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7pPr>
            <a:lvl8pPr indent="-127000" lvl="7" marL="34290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8pPr>
            <a:lvl9pPr indent="-127000" lvl="8" marL="3886200" marR="0" rtl="0" algn="l">
              <a:spcBef>
                <a:spcPts val="320"/>
              </a:spcBef>
              <a:buClr>
                <a:schemeClr val="dk1"/>
              </a:buClr>
              <a:buSzPct val="100000"/>
              <a:buFont typeface="Arial"/>
              <a:buChar char="•"/>
              <a:defRPr b="0" i="0" sz="1600" u="none" cap="none" strike="noStrike">
                <a:solidFill>
                  <a:schemeClr val="dk1"/>
                </a:solidFill>
                <a:latin typeface="Calibri"/>
                <a:ea typeface="Calibri"/>
                <a:cs typeface="Calibri"/>
                <a:sym typeface="Calibri"/>
              </a:defRPr>
            </a:lvl9pPr>
          </a:lstStyle>
          <a:p/>
        </p:txBody>
      </p:sp>
      <p:sp>
        <p:nvSpPr>
          <p:cNvPr id="68" name="Shape 68"/>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200" u="none">
                <a:solidFill>
                  <a:srgbClr val="898989"/>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69" name="Shape 69"/>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800" u="non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70" name="Shape 70"/>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a:solidFill>
                  <a:srgbClr val="898989"/>
                </a:solidFill>
                <a:latin typeface="Calibri"/>
                <a:ea typeface="Calibri"/>
                <a:cs typeface="Calibri"/>
                <a:sym typeface="Calibri"/>
              </a:rPr>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Obj">
  <p:cSld name="Two Content">
    <p:spTree>
      <p:nvGrpSpPr>
        <p:cNvPr id="71" name="Shape 71"/>
        <p:cNvGrpSpPr/>
        <p:nvPr/>
      </p:nvGrpSpPr>
      <p:grpSpPr>
        <a:xfrm>
          <a:off x="0" y="0"/>
          <a:ext cx="0" cy="0"/>
          <a:chOff x="0" y="0"/>
          <a:chExt cx="0" cy="0"/>
        </a:xfrm>
      </p:grpSpPr>
      <p:sp>
        <p:nvSpPr>
          <p:cNvPr id="72" name="Shape 72"/>
          <p:cNvSpPr txBox="1"/>
          <p:nvPr>
            <p:ph type="title"/>
          </p:nvPr>
        </p:nvSpPr>
        <p:spPr>
          <a:xfrm>
            <a:off x="457200" y="274637"/>
            <a:ext cx="8229600" cy="1143000"/>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44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73" name="Shape 73"/>
          <p:cNvSpPr txBox="1"/>
          <p:nvPr>
            <p:ph idx="1" type="body"/>
          </p:nvPr>
        </p:nvSpPr>
        <p:spPr>
          <a:xfrm>
            <a:off x="457200" y="1600200"/>
            <a:ext cx="4038599" cy="4525963"/>
          </a:xfrm>
          <a:prstGeom prst="rect">
            <a:avLst/>
          </a:prstGeom>
          <a:noFill/>
          <a:ln>
            <a:noFill/>
          </a:ln>
        </p:spPr>
        <p:txBody>
          <a:bodyPr anchorCtr="0" anchor="t" bIns="91425" lIns="91425" rIns="91425" tIns="91425"/>
          <a:lstStyle>
            <a:lvl1pPr indent="-165100" lvl="0" marL="342900" marR="0" rtl="0" algn="l">
              <a:spcBef>
                <a:spcPts val="560"/>
              </a:spcBef>
              <a:buClr>
                <a:schemeClr val="dk1"/>
              </a:buClr>
              <a:buSzPct val="100000"/>
              <a:buFont typeface="Arial"/>
              <a:buChar char="•"/>
              <a:defRPr b="0" i="0" sz="2800" u="none" cap="none" strike="noStrike">
                <a:solidFill>
                  <a:schemeClr val="dk1"/>
                </a:solidFill>
                <a:latin typeface="Calibri"/>
                <a:ea typeface="Calibri"/>
                <a:cs typeface="Calibri"/>
                <a:sym typeface="Calibri"/>
              </a:defRPr>
            </a:lvl1pPr>
            <a:lvl2pPr indent="-133350" lvl="1" marL="74295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2pPr>
            <a:lvl3pPr indent="-101600" lvl="2" marL="1143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3pPr>
            <a:lvl4pPr indent="-114300" lvl="3" marL="16002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4pPr>
            <a:lvl5pPr indent="-114300" lvl="4" marL="20574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5pPr>
            <a:lvl6pPr indent="-114300" lvl="5" marL="25146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6pPr>
            <a:lvl7pPr indent="-114300" lvl="6" marL="29718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7pPr>
            <a:lvl8pPr indent="-114300" lvl="7" marL="3429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8pPr>
            <a:lvl9pPr indent="-114300" lvl="8" marL="38862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9pPr>
          </a:lstStyle>
          <a:p/>
        </p:txBody>
      </p:sp>
      <p:sp>
        <p:nvSpPr>
          <p:cNvPr id="74" name="Shape 74"/>
          <p:cNvSpPr txBox="1"/>
          <p:nvPr>
            <p:ph idx="2" type="body"/>
          </p:nvPr>
        </p:nvSpPr>
        <p:spPr>
          <a:xfrm>
            <a:off x="4648200" y="1600200"/>
            <a:ext cx="4038599" cy="4525963"/>
          </a:xfrm>
          <a:prstGeom prst="rect">
            <a:avLst/>
          </a:prstGeom>
          <a:noFill/>
          <a:ln>
            <a:noFill/>
          </a:ln>
        </p:spPr>
        <p:txBody>
          <a:bodyPr anchorCtr="0" anchor="t" bIns="91425" lIns="91425" rIns="91425" tIns="91425"/>
          <a:lstStyle>
            <a:lvl1pPr indent="-165100" lvl="0" marL="342900" marR="0" rtl="0" algn="l">
              <a:spcBef>
                <a:spcPts val="560"/>
              </a:spcBef>
              <a:buClr>
                <a:schemeClr val="dk1"/>
              </a:buClr>
              <a:buSzPct val="100000"/>
              <a:buFont typeface="Arial"/>
              <a:buChar char="•"/>
              <a:defRPr b="0" i="0" sz="2800" u="none" cap="none" strike="noStrike">
                <a:solidFill>
                  <a:schemeClr val="dk1"/>
                </a:solidFill>
                <a:latin typeface="Calibri"/>
                <a:ea typeface="Calibri"/>
                <a:cs typeface="Calibri"/>
                <a:sym typeface="Calibri"/>
              </a:defRPr>
            </a:lvl1pPr>
            <a:lvl2pPr indent="-133350" lvl="1" marL="74295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2pPr>
            <a:lvl3pPr indent="-101600" lvl="2" marL="1143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3pPr>
            <a:lvl4pPr indent="-114300" lvl="3" marL="16002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4pPr>
            <a:lvl5pPr indent="-114300" lvl="4" marL="20574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5pPr>
            <a:lvl6pPr indent="-114300" lvl="5" marL="25146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6pPr>
            <a:lvl7pPr indent="-114300" lvl="6" marL="29718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7pPr>
            <a:lvl8pPr indent="-114300" lvl="7" marL="34290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8pPr>
            <a:lvl9pPr indent="-114300" lvl="8" marL="3886200" marR="0" rtl="0" algn="l">
              <a:spcBef>
                <a:spcPts val="360"/>
              </a:spcBef>
              <a:buClr>
                <a:schemeClr val="dk1"/>
              </a:buClr>
              <a:buSzPct val="100000"/>
              <a:buFont typeface="Arial"/>
              <a:buChar char="•"/>
              <a:defRPr b="0" i="0" sz="1800" u="none" cap="none" strike="noStrike">
                <a:solidFill>
                  <a:schemeClr val="dk1"/>
                </a:solidFill>
                <a:latin typeface="Calibri"/>
                <a:ea typeface="Calibri"/>
                <a:cs typeface="Calibri"/>
                <a:sym typeface="Calibri"/>
              </a:defRPr>
            </a:lvl9pPr>
          </a:lstStyle>
          <a:p/>
        </p:txBody>
      </p:sp>
      <p:sp>
        <p:nvSpPr>
          <p:cNvPr id="75" name="Shape 75"/>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200" u="none">
                <a:solidFill>
                  <a:srgbClr val="898989"/>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76" name="Shape 76"/>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800" u="non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77" name="Shape 77"/>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a:solidFill>
                  <a:srgbClr val="898989"/>
                </a:solidFill>
                <a:latin typeface="Calibri"/>
                <a:ea typeface="Calibri"/>
                <a:cs typeface="Calibri"/>
                <a:sym typeface="Calibri"/>
              </a:rPr>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secHead">
  <p:cSld name="Section Header">
    <p:spTree>
      <p:nvGrpSpPr>
        <p:cNvPr id="78" name="Shape 78"/>
        <p:cNvGrpSpPr/>
        <p:nvPr/>
      </p:nvGrpSpPr>
      <p:grpSpPr>
        <a:xfrm>
          <a:off x="0" y="0"/>
          <a:ext cx="0" cy="0"/>
          <a:chOff x="0" y="0"/>
          <a:chExt cx="0" cy="0"/>
        </a:xfrm>
      </p:grpSpPr>
      <p:sp>
        <p:nvSpPr>
          <p:cNvPr id="79" name="Shape 79"/>
          <p:cNvSpPr txBox="1"/>
          <p:nvPr>
            <p:ph type="title"/>
          </p:nvPr>
        </p:nvSpPr>
        <p:spPr>
          <a:xfrm>
            <a:off x="722312" y="4406900"/>
            <a:ext cx="7772400" cy="1362075"/>
          </a:xfrm>
          <a:prstGeom prst="rect">
            <a:avLst/>
          </a:prstGeom>
          <a:noFill/>
          <a:ln>
            <a:noFill/>
          </a:ln>
        </p:spPr>
        <p:txBody>
          <a:bodyPr anchorCtr="0" anchor="t" bIns="91425" lIns="91425" rIns="91425" tIns="91425"/>
          <a:lstStyle>
            <a:lvl1pPr indent="0" lvl="0" marL="0" marR="0" rtl="0" algn="l">
              <a:spcBef>
                <a:spcPts val="0"/>
              </a:spcBef>
              <a:buClr>
                <a:schemeClr val="dk1"/>
              </a:buClr>
              <a:buFont typeface="Calibri"/>
              <a:buNone/>
              <a:defRPr b="1" i="0" sz="40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80" name="Shape 80"/>
          <p:cNvSpPr txBox="1"/>
          <p:nvPr>
            <p:ph idx="1" type="body"/>
          </p:nvPr>
        </p:nvSpPr>
        <p:spPr>
          <a:xfrm>
            <a:off x="722312" y="2906713"/>
            <a:ext cx="7772400" cy="1500187"/>
          </a:xfrm>
          <a:prstGeom prst="rect">
            <a:avLst/>
          </a:prstGeom>
          <a:noFill/>
          <a:ln>
            <a:noFill/>
          </a:ln>
        </p:spPr>
        <p:txBody>
          <a:bodyPr anchorCtr="0" anchor="b" bIns="91425" lIns="91425" rIns="91425" tIns="91425"/>
          <a:lstStyle>
            <a:lvl1pPr indent="0" lvl="0" marL="0" marR="0" rtl="0" algn="l">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1pPr>
            <a:lvl2pPr indent="0" lvl="1" marL="457200" marR="0" rtl="0" algn="l">
              <a:spcBef>
                <a:spcPts val="360"/>
              </a:spcBef>
              <a:buClr>
                <a:srgbClr val="888888"/>
              </a:buClr>
              <a:buFont typeface="Arial"/>
              <a:buNone/>
              <a:defRPr b="0" i="0" sz="1800" u="none" cap="none" strike="noStrike">
                <a:solidFill>
                  <a:srgbClr val="888888"/>
                </a:solidFill>
                <a:latin typeface="Calibri"/>
                <a:ea typeface="Calibri"/>
                <a:cs typeface="Calibri"/>
                <a:sym typeface="Calibri"/>
              </a:defRPr>
            </a:lvl2pPr>
            <a:lvl3pPr indent="0" lvl="2" marL="914400" marR="0" rtl="0" algn="l">
              <a:spcBef>
                <a:spcPts val="320"/>
              </a:spcBef>
              <a:buClr>
                <a:srgbClr val="888888"/>
              </a:buClr>
              <a:buFont typeface="Arial"/>
              <a:buNone/>
              <a:defRPr b="0" i="0" sz="1600" u="none" cap="none" strike="noStrike">
                <a:solidFill>
                  <a:srgbClr val="888888"/>
                </a:solidFill>
                <a:latin typeface="Calibri"/>
                <a:ea typeface="Calibri"/>
                <a:cs typeface="Calibri"/>
                <a:sym typeface="Calibri"/>
              </a:defRPr>
            </a:lvl3pPr>
            <a:lvl4pPr indent="0" lvl="3" marL="13716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4pPr>
            <a:lvl5pPr indent="0" lvl="4" marL="18288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5pPr>
            <a:lvl6pPr indent="0" lvl="5" marL="22860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6pPr>
            <a:lvl7pPr indent="0" lvl="6" marL="27432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7pPr>
            <a:lvl8pPr indent="0" lvl="7" marL="32004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8pPr>
            <a:lvl9pPr indent="0" lvl="8" marL="3657600" marR="0" rtl="0" algn="l">
              <a:spcBef>
                <a:spcPts val="280"/>
              </a:spcBef>
              <a:buClr>
                <a:srgbClr val="888888"/>
              </a:buClr>
              <a:buFont typeface="Arial"/>
              <a:buNone/>
              <a:defRPr b="0" i="0" sz="1400" u="none" cap="none" strike="noStrike">
                <a:solidFill>
                  <a:srgbClr val="888888"/>
                </a:solidFill>
                <a:latin typeface="Calibri"/>
                <a:ea typeface="Calibri"/>
                <a:cs typeface="Calibri"/>
                <a:sym typeface="Calibri"/>
              </a:defRPr>
            </a:lvl9pPr>
          </a:lstStyle>
          <a:p/>
        </p:txBody>
      </p:sp>
      <p:sp>
        <p:nvSpPr>
          <p:cNvPr id="81" name="Shape 81"/>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200" u="none">
                <a:solidFill>
                  <a:srgbClr val="898989"/>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82" name="Shape 82"/>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800" u="non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83" name="Shape 83"/>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a:solidFill>
                  <a:srgbClr val="898989"/>
                </a:solidFill>
                <a:latin typeface="Calibri"/>
                <a:ea typeface="Calibri"/>
                <a:cs typeface="Calibri"/>
                <a:sym typeface="Calibri"/>
              </a:rPr>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9" name="Shape 9"/>
        <p:cNvGrpSpPr/>
        <p:nvPr/>
      </p:nvGrpSpPr>
      <p:grpSpPr>
        <a:xfrm>
          <a:off x="0" y="0"/>
          <a:ext cx="0" cy="0"/>
          <a:chOff x="0" y="0"/>
          <a:chExt cx="0" cy="0"/>
        </a:xfrm>
      </p:grpSpPr>
      <p:sp>
        <p:nvSpPr>
          <p:cNvPr id="10" name="Shape 10"/>
          <p:cNvSpPr txBox="1"/>
          <p:nvPr>
            <p:ph type="title"/>
          </p:nvPr>
        </p:nvSpPr>
        <p:spPr>
          <a:xfrm>
            <a:off x="457200" y="274637"/>
            <a:ext cx="8229600" cy="1143000"/>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4400" u="none" cap="none" strike="noStrike">
                <a:solidFill>
                  <a:schemeClr val="dk1"/>
                </a:solidFill>
                <a:latin typeface="Calibri"/>
                <a:ea typeface="Calibri"/>
                <a:cs typeface="Calibri"/>
                <a:sym typeface="Calibri"/>
              </a:defRPr>
            </a:lvl1pPr>
            <a:lvl2pPr indent="0" lvl="1">
              <a:spcBef>
                <a:spcPts val="0"/>
              </a:spcBef>
              <a:buNone/>
              <a:defRPr sz="1800"/>
            </a:lvl2pPr>
            <a:lvl3pPr indent="0" lvl="2">
              <a:spcBef>
                <a:spcPts val="0"/>
              </a:spcBef>
              <a:buNone/>
              <a:defRPr sz="1800"/>
            </a:lvl3pPr>
            <a:lvl4pPr indent="0" lvl="3">
              <a:spcBef>
                <a:spcPts val="0"/>
              </a:spcBef>
              <a:buNone/>
              <a:defRPr sz="1800"/>
            </a:lvl4pPr>
            <a:lvl5pPr indent="0" lvl="4">
              <a:spcBef>
                <a:spcPts val="0"/>
              </a:spcBef>
              <a:buNone/>
              <a:defRPr sz="1800"/>
            </a:lvl5pPr>
            <a:lvl6pPr indent="0" lvl="5">
              <a:spcBef>
                <a:spcPts val="0"/>
              </a:spcBef>
              <a:buNone/>
              <a:defRPr sz="1800"/>
            </a:lvl6pPr>
            <a:lvl7pPr indent="0" lvl="6">
              <a:spcBef>
                <a:spcPts val="0"/>
              </a:spcBef>
              <a:buNone/>
              <a:defRPr sz="1800"/>
            </a:lvl7pPr>
            <a:lvl8pPr indent="0" lvl="7">
              <a:spcBef>
                <a:spcPts val="0"/>
              </a:spcBef>
              <a:buNone/>
              <a:defRPr sz="1800"/>
            </a:lvl8pPr>
            <a:lvl9pPr indent="0" lvl="8">
              <a:spcBef>
                <a:spcPts val="0"/>
              </a:spcBef>
              <a:buNone/>
              <a:defRPr sz="1800"/>
            </a:lvl9pPr>
          </a:lstStyle>
          <a:p/>
        </p:txBody>
      </p:sp>
      <p:sp>
        <p:nvSpPr>
          <p:cNvPr id="11" name="Shape 11"/>
          <p:cNvSpPr txBox="1"/>
          <p:nvPr>
            <p:ph idx="1" type="body"/>
          </p:nvPr>
        </p:nvSpPr>
        <p:spPr>
          <a:xfrm>
            <a:off x="457200" y="1600200"/>
            <a:ext cx="8229600" cy="4525961"/>
          </a:xfrm>
          <a:prstGeom prst="rect">
            <a:avLst/>
          </a:prstGeom>
          <a:noFill/>
          <a:ln>
            <a:noFill/>
          </a:ln>
        </p:spPr>
        <p:txBody>
          <a:bodyPr anchorCtr="0" anchor="t" bIns="91425" lIns="91425" rIns="91425" tIns="91425"/>
          <a:lstStyle>
            <a:lvl1pPr indent="-139700" lvl="0" marL="342900" marR="0" rtl="0" algn="l">
              <a:spcBef>
                <a:spcPts val="640"/>
              </a:spcBef>
              <a:buClr>
                <a:schemeClr val="dk1"/>
              </a:buClr>
              <a:buSzPct val="100000"/>
              <a:buFont typeface="Arial"/>
              <a:buChar char="•"/>
              <a:defRPr b="0" i="0" sz="3200" u="none" cap="none" strike="noStrike">
                <a:solidFill>
                  <a:schemeClr val="dk1"/>
                </a:solidFill>
                <a:latin typeface="Calibri"/>
                <a:ea typeface="Calibri"/>
                <a:cs typeface="Calibri"/>
                <a:sym typeface="Calibri"/>
              </a:defRPr>
            </a:lvl1pPr>
            <a:lvl2pPr indent="-107950" lvl="1" marL="742950" marR="0" rtl="0" algn="l">
              <a:spcBef>
                <a:spcPts val="560"/>
              </a:spcBef>
              <a:buClr>
                <a:schemeClr val="dk1"/>
              </a:buClr>
              <a:buSzPct val="100000"/>
              <a:buFont typeface="Arial"/>
              <a:buChar char="–"/>
              <a:defRPr b="0" i="0" sz="2800" u="none" cap="none" strike="noStrike">
                <a:solidFill>
                  <a:schemeClr val="dk1"/>
                </a:solidFill>
                <a:latin typeface="Calibri"/>
                <a:ea typeface="Calibri"/>
                <a:cs typeface="Calibri"/>
                <a:sym typeface="Calibri"/>
              </a:defRPr>
            </a:lvl2pPr>
            <a:lvl3pPr indent="-76200" lvl="2" marL="1143000" marR="0" rtl="0" algn="l">
              <a:spcBef>
                <a:spcPts val="480"/>
              </a:spcBef>
              <a:buClr>
                <a:schemeClr val="dk1"/>
              </a:buClr>
              <a:buSzPct val="100000"/>
              <a:buFont typeface="Arial"/>
              <a:buChar char="•"/>
              <a:defRPr b="0" i="0" sz="2400" u="none" cap="none" strike="noStrike">
                <a:solidFill>
                  <a:schemeClr val="dk1"/>
                </a:solidFill>
                <a:latin typeface="Calibri"/>
                <a:ea typeface="Calibri"/>
                <a:cs typeface="Calibri"/>
                <a:sym typeface="Calibri"/>
              </a:defRPr>
            </a:lvl3pPr>
            <a:lvl4pPr indent="-101600" lvl="3" marL="1600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4pPr>
            <a:lvl5pPr indent="-101600" lvl="4" marL="20574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SzPct val="100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Shape 12"/>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200" u="none" cap="none" strike="noStrike">
                <a:solidFill>
                  <a:srgbClr val="898989"/>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13" name="Shape 13"/>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buNone/>
              <a:defRPr b="0" i="0" sz="1800" u="none" cap="none" strike="noStrike">
                <a:solidFill>
                  <a:schemeClr val="dk1"/>
                </a:solidFill>
                <a:latin typeface="Calibri"/>
                <a:ea typeface="Calibri"/>
                <a:cs typeface="Calibri"/>
                <a:sym typeface="Calibri"/>
              </a:defRPr>
            </a:lvl9pPr>
          </a:lstStyle>
          <a:p/>
        </p:txBody>
      </p:sp>
      <p:sp>
        <p:nvSpPr>
          <p:cNvPr id="14" name="Shape 14"/>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02.png"/><Relationship Id="rId4" Type="http://schemas.openxmlformats.org/officeDocument/2006/relationships/image" Target="../media/image00.jpg"/><Relationship Id="rId5" Type="http://schemas.openxmlformats.org/officeDocument/2006/relationships/image" Target="../media/image01.png"/><Relationship Id="rId6" Type="http://schemas.openxmlformats.org/officeDocument/2006/relationships/image" Target="../media/image0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02.png"/><Relationship Id="rId4" Type="http://schemas.openxmlformats.org/officeDocument/2006/relationships/image" Target="../media/image03.png"/><Relationship Id="rId5" Type="http://schemas.openxmlformats.org/officeDocument/2006/relationships/image" Target="../media/image0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02.png"/><Relationship Id="rId4" Type="http://schemas.openxmlformats.org/officeDocument/2006/relationships/image" Target="../media/image03.png"/><Relationship Id="rId10" Type="http://schemas.openxmlformats.org/officeDocument/2006/relationships/image" Target="../media/image06.jpg"/><Relationship Id="rId9" Type="http://schemas.openxmlformats.org/officeDocument/2006/relationships/image" Target="../media/image11.jpg"/><Relationship Id="rId5" Type="http://schemas.openxmlformats.org/officeDocument/2006/relationships/image" Target="../media/image01.png"/><Relationship Id="rId6" Type="http://schemas.openxmlformats.org/officeDocument/2006/relationships/image" Target="../media/image05.jpg"/><Relationship Id="rId7" Type="http://schemas.openxmlformats.org/officeDocument/2006/relationships/image" Target="../media/image07.jpg"/><Relationship Id="rId8" Type="http://schemas.openxmlformats.org/officeDocument/2006/relationships/image" Target="../media/image0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02.png"/><Relationship Id="rId4" Type="http://schemas.openxmlformats.org/officeDocument/2006/relationships/image" Target="../media/image03.png"/><Relationship Id="rId10" Type="http://schemas.openxmlformats.org/officeDocument/2006/relationships/image" Target="../media/image13.jpg"/><Relationship Id="rId9" Type="http://schemas.openxmlformats.org/officeDocument/2006/relationships/image" Target="../media/image14.jpg"/><Relationship Id="rId5" Type="http://schemas.openxmlformats.org/officeDocument/2006/relationships/image" Target="../media/image01.png"/><Relationship Id="rId6" Type="http://schemas.openxmlformats.org/officeDocument/2006/relationships/image" Target="../media/image10.jpg"/><Relationship Id="rId7" Type="http://schemas.openxmlformats.org/officeDocument/2006/relationships/image" Target="../media/image08.jpg"/><Relationship Id="rId8"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02.png"/><Relationship Id="rId4" Type="http://schemas.openxmlformats.org/officeDocument/2006/relationships/image" Target="../media/image03.png"/><Relationship Id="rId5" Type="http://schemas.openxmlformats.org/officeDocument/2006/relationships/image" Target="../media/image0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03.png"/><Relationship Id="rId4" Type="http://schemas.openxmlformats.org/officeDocument/2006/relationships/image" Target="../media/image02.png"/><Relationship Id="rId5" Type="http://schemas.openxmlformats.org/officeDocument/2006/relationships/image" Target="../media/image0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03.png"/><Relationship Id="rId4" Type="http://schemas.openxmlformats.org/officeDocument/2006/relationships/image" Target="../media/image02.png"/><Relationship Id="rId5" Type="http://schemas.openxmlformats.org/officeDocument/2006/relationships/image" Target="../media/image0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02.png"/><Relationship Id="rId4" Type="http://schemas.openxmlformats.org/officeDocument/2006/relationships/image" Target="../media/image03.png"/><Relationship Id="rId5" Type="http://schemas.openxmlformats.org/officeDocument/2006/relationships/image" Target="../media/image01.png"/><Relationship Id="rId6" Type="http://schemas.openxmlformats.org/officeDocument/2006/relationships/image" Target="../media/image19.jpg"/><Relationship Id="rId7" Type="http://schemas.openxmlformats.org/officeDocument/2006/relationships/image" Target="../media/image1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02.png"/><Relationship Id="rId4" Type="http://schemas.openxmlformats.org/officeDocument/2006/relationships/image" Target="../media/image03.png"/><Relationship Id="rId5" Type="http://schemas.openxmlformats.org/officeDocument/2006/relationships/image" Target="../media/image01.png"/><Relationship Id="rId6" Type="http://schemas.openxmlformats.org/officeDocument/2006/relationships/image" Target="../media/image18.jpg"/><Relationship Id="rId7"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02.png"/><Relationship Id="rId4" Type="http://schemas.openxmlformats.org/officeDocument/2006/relationships/image" Target="../media/image03.png"/><Relationship Id="rId5" Type="http://schemas.openxmlformats.org/officeDocument/2006/relationships/image" Target="../media/image0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02.png"/><Relationship Id="rId4" Type="http://schemas.openxmlformats.org/officeDocument/2006/relationships/image" Target="../media/image03.png"/><Relationship Id="rId5" Type="http://schemas.openxmlformats.org/officeDocument/2006/relationships/image" Target="../media/image0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02.png"/><Relationship Id="rId4" Type="http://schemas.openxmlformats.org/officeDocument/2006/relationships/image" Target="../media/image03.png"/><Relationship Id="rId5" Type="http://schemas.openxmlformats.org/officeDocument/2006/relationships/image" Target="../media/image01.png"/><Relationship Id="rId6" Type="http://schemas.openxmlformats.org/officeDocument/2006/relationships/image" Target="../media/image20.jpg"/><Relationship Id="rId7" Type="http://schemas.openxmlformats.org/officeDocument/2006/relationships/image" Target="../media/image17.jpg"/><Relationship Id="rId8" Type="http://schemas.openxmlformats.org/officeDocument/2006/relationships/image" Target="../media/image2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03.png"/><Relationship Id="rId4" Type="http://schemas.openxmlformats.org/officeDocument/2006/relationships/image" Target="../media/image02.png"/><Relationship Id="rId5" Type="http://schemas.openxmlformats.org/officeDocument/2006/relationships/image" Target="../media/image0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02.png"/><Relationship Id="rId4" Type="http://schemas.openxmlformats.org/officeDocument/2006/relationships/image" Target="../media/image01.png"/><Relationship Id="rId5" Type="http://schemas.openxmlformats.org/officeDocument/2006/relationships/image" Target="../media/image23.jpg"/><Relationship Id="rId6" Type="http://schemas.openxmlformats.org/officeDocument/2006/relationships/image" Target="../media/image2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02.png"/><Relationship Id="rId4" Type="http://schemas.openxmlformats.org/officeDocument/2006/relationships/image" Target="../media/image0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02.png"/><Relationship Id="rId4" Type="http://schemas.openxmlformats.org/officeDocument/2006/relationships/image" Target="../media/image0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02.png"/><Relationship Id="rId4" Type="http://schemas.openxmlformats.org/officeDocument/2006/relationships/image" Target="../media/image0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02.png"/><Relationship Id="rId4" Type="http://schemas.openxmlformats.org/officeDocument/2006/relationships/image" Target="../media/image03.png"/><Relationship Id="rId5" Type="http://schemas.openxmlformats.org/officeDocument/2006/relationships/image" Target="../media/image0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02.png"/><Relationship Id="rId4" Type="http://schemas.openxmlformats.org/officeDocument/2006/relationships/image" Target="../media/image03.png"/><Relationship Id="rId5" Type="http://schemas.openxmlformats.org/officeDocument/2006/relationships/image" Target="../media/image0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02.png"/><Relationship Id="rId4" Type="http://schemas.openxmlformats.org/officeDocument/2006/relationships/image" Target="../media/image0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02.png"/><Relationship Id="rId4" Type="http://schemas.openxmlformats.org/officeDocument/2006/relationships/image" Target="../media/image0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02.png"/><Relationship Id="rId4" Type="http://schemas.openxmlformats.org/officeDocument/2006/relationships/image" Target="../media/image0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comments" Target="../comments/comment1.xml"/><Relationship Id="rId4" Type="http://schemas.openxmlformats.org/officeDocument/2006/relationships/image" Target="../media/image02.png"/><Relationship Id="rId5" Type="http://schemas.openxmlformats.org/officeDocument/2006/relationships/image" Target="../media/image0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02.png"/><Relationship Id="rId4" Type="http://schemas.openxmlformats.org/officeDocument/2006/relationships/image" Target="../media/image0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02.png"/><Relationship Id="rId4" Type="http://schemas.openxmlformats.org/officeDocument/2006/relationships/image" Target="../media/image0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02.png"/><Relationship Id="rId4" Type="http://schemas.openxmlformats.org/officeDocument/2006/relationships/image" Target="../media/image0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02.png"/><Relationship Id="rId4" Type="http://schemas.openxmlformats.org/officeDocument/2006/relationships/image" Target="../media/image03.png"/><Relationship Id="rId5" Type="http://schemas.openxmlformats.org/officeDocument/2006/relationships/image" Target="../media/image0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02.png"/><Relationship Id="rId4" Type="http://schemas.openxmlformats.org/officeDocument/2006/relationships/image" Target="../media/image03.png"/><Relationship Id="rId5" Type="http://schemas.openxmlformats.org/officeDocument/2006/relationships/image" Target="../media/image0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02.png"/><Relationship Id="rId4" Type="http://schemas.openxmlformats.org/officeDocument/2006/relationships/image" Target="../media/image0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02.png"/><Relationship Id="rId4" Type="http://schemas.openxmlformats.org/officeDocument/2006/relationships/image" Target="../media/image0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02.png"/><Relationship Id="rId4" Type="http://schemas.openxmlformats.org/officeDocument/2006/relationships/image" Target="../media/image0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02.png"/><Relationship Id="rId4" Type="http://schemas.openxmlformats.org/officeDocument/2006/relationships/image" Target="../media/image0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02.png"/><Relationship Id="rId4" Type="http://schemas.openxmlformats.org/officeDocument/2006/relationships/image" Target="../media/image0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02.png"/><Relationship Id="rId4" Type="http://schemas.openxmlformats.org/officeDocument/2006/relationships/image" Target="../media/image0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02.png"/><Relationship Id="rId4" Type="http://schemas.openxmlformats.org/officeDocument/2006/relationships/image" Target="../media/image0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02.png"/><Relationship Id="rId4" Type="http://schemas.openxmlformats.org/officeDocument/2006/relationships/image" Target="../media/image0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02.png"/><Relationship Id="rId4" Type="http://schemas.openxmlformats.org/officeDocument/2006/relationships/image" Target="../media/image0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02.png"/><Relationship Id="rId4" Type="http://schemas.openxmlformats.org/officeDocument/2006/relationships/image" Target="../media/image0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02.png"/><Relationship Id="rId4" Type="http://schemas.openxmlformats.org/officeDocument/2006/relationships/image" Target="../media/image0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02.png"/><Relationship Id="rId4" Type="http://schemas.openxmlformats.org/officeDocument/2006/relationships/image" Target="../media/image0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02.png"/><Relationship Id="rId4" Type="http://schemas.openxmlformats.org/officeDocument/2006/relationships/image" Target="../media/image0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87" name="Shape 87"/>
        <p:cNvGrpSpPr/>
        <p:nvPr/>
      </p:nvGrpSpPr>
      <p:grpSpPr>
        <a:xfrm>
          <a:off x="0" y="0"/>
          <a:ext cx="0" cy="0"/>
          <a:chOff x="0" y="0"/>
          <a:chExt cx="0" cy="0"/>
        </a:xfrm>
      </p:grpSpPr>
      <p:pic>
        <p:nvPicPr>
          <p:cNvPr id="88" name="Shape 88"/>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89" name="Shape 89"/>
          <p:cNvPicPr preferRelativeResize="0"/>
          <p:nvPr/>
        </p:nvPicPr>
        <p:blipFill rotWithShape="1">
          <a:blip r:embed="rId4">
            <a:alphaModFix/>
          </a:blip>
          <a:srcRect b="0" l="0" r="0" t="0"/>
          <a:stretch/>
        </p:blipFill>
        <p:spPr>
          <a:xfrm>
            <a:off x="263525" y="1447800"/>
            <a:ext cx="8610599" cy="2254250"/>
          </a:xfrm>
          <a:prstGeom prst="rect">
            <a:avLst/>
          </a:prstGeom>
          <a:noFill/>
          <a:ln>
            <a:noFill/>
          </a:ln>
        </p:spPr>
      </p:pic>
      <p:pic>
        <p:nvPicPr>
          <p:cNvPr id="90" name="Shape 90"/>
          <p:cNvPicPr preferRelativeResize="0"/>
          <p:nvPr/>
        </p:nvPicPr>
        <p:blipFill rotWithShape="1">
          <a:blip r:embed="rId5">
            <a:alphaModFix/>
          </a:blip>
          <a:srcRect b="0" l="0" r="0" t="0"/>
          <a:stretch/>
        </p:blipFill>
        <p:spPr>
          <a:xfrm>
            <a:off x="263525" y="304800"/>
            <a:ext cx="3013074" cy="608011"/>
          </a:xfrm>
          <a:prstGeom prst="rect">
            <a:avLst/>
          </a:prstGeom>
          <a:noFill/>
          <a:ln>
            <a:noFill/>
          </a:ln>
        </p:spPr>
      </p:pic>
      <p:sp>
        <p:nvSpPr>
          <p:cNvPr id="91" name="Shape 91"/>
          <p:cNvSpPr txBox="1"/>
          <p:nvPr/>
        </p:nvSpPr>
        <p:spPr>
          <a:xfrm>
            <a:off x="4419600" y="133350"/>
            <a:ext cx="3886200" cy="93345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POLITICAS ECONOMICAS</a:t>
            </a:r>
          </a:p>
        </p:txBody>
      </p:sp>
      <p:sp>
        <p:nvSpPr>
          <p:cNvPr id="92" name="Shape 92"/>
          <p:cNvSpPr txBox="1"/>
          <p:nvPr/>
        </p:nvSpPr>
        <p:spPr>
          <a:xfrm>
            <a:off x="381000" y="4191000"/>
            <a:ext cx="5059362" cy="19177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0" i="0" lang="en-US" sz="2400" u="none" cap="none" strike="noStrike">
                <a:solidFill>
                  <a:srgbClr val="BB4F59"/>
                </a:solidFill>
                <a:latin typeface="Arial"/>
                <a:ea typeface="Arial"/>
                <a:cs typeface="Arial"/>
                <a:sym typeface="Arial"/>
              </a:rPr>
              <a:t>SINTESIS NEOCLASICA</a:t>
            </a:r>
          </a:p>
          <a:p>
            <a:pPr indent="0" lvl="0" marL="0" marR="0" rtl="0" algn="l">
              <a:lnSpc>
                <a:spcPct val="100000"/>
              </a:lnSpc>
              <a:spcBef>
                <a:spcPts val="0"/>
              </a:spcBef>
              <a:spcAft>
                <a:spcPts val="0"/>
              </a:spcAft>
              <a:buClr>
                <a:schemeClr val="dk1"/>
              </a:buClr>
              <a:buFont typeface="Calibri"/>
              <a:buNone/>
            </a:pPr>
            <a:r>
              <a:t/>
            </a:r>
            <a:endParaRPr b="0" i="0" sz="2400" u="none" cap="none" strike="noStrike">
              <a:solidFill>
                <a:srgbClr val="BB4F59"/>
              </a:solidFill>
              <a:latin typeface="Arial"/>
              <a:ea typeface="Arial"/>
              <a:cs typeface="Arial"/>
              <a:sym typeface="Arial"/>
            </a:endParaRPr>
          </a:p>
          <a:p>
            <a:pPr indent="0" lvl="0" marL="0" marR="0" rtl="0" algn="l">
              <a:lnSpc>
                <a:spcPct val="100000"/>
              </a:lnSpc>
              <a:spcBef>
                <a:spcPts val="0"/>
              </a:spcBef>
              <a:spcAft>
                <a:spcPts val="0"/>
              </a:spcAft>
              <a:buClr>
                <a:srgbClr val="BB4F59"/>
              </a:buClr>
              <a:buSzPct val="25000"/>
              <a:buFont typeface="Arial"/>
              <a:buNone/>
            </a:pPr>
            <a:r>
              <a:rPr b="0" i="0" lang="en-US" sz="2400" u="none" cap="none" strike="noStrike">
                <a:solidFill>
                  <a:srgbClr val="BB4F59"/>
                </a:solidFill>
                <a:latin typeface="Arial"/>
                <a:ea typeface="Arial"/>
                <a:cs typeface="Arial"/>
                <a:sym typeface="Arial"/>
              </a:rPr>
              <a:t>MODELO IS LM</a:t>
            </a:r>
          </a:p>
          <a:p>
            <a:pPr indent="0" lvl="0" marL="0" marR="0" rtl="0" algn="l">
              <a:lnSpc>
                <a:spcPct val="100000"/>
              </a:lnSpc>
              <a:spcBef>
                <a:spcPts val="0"/>
              </a:spcBef>
              <a:spcAft>
                <a:spcPts val="0"/>
              </a:spcAft>
              <a:buClr>
                <a:schemeClr val="dk1"/>
              </a:buClr>
              <a:buFont typeface="Calibri"/>
              <a:buNone/>
            </a:pPr>
            <a:r>
              <a:t/>
            </a:r>
            <a:endParaRPr b="0" i="0" sz="2400" u="none" cap="none" strike="noStrike">
              <a:solidFill>
                <a:srgbClr val="BB4F59"/>
              </a:solidFill>
              <a:latin typeface="Arial"/>
              <a:ea typeface="Arial"/>
              <a:cs typeface="Arial"/>
              <a:sym typeface="Arial"/>
            </a:endParaRPr>
          </a:p>
          <a:p>
            <a:pPr indent="0" lvl="0" marL="0" marR="0" rtl="0" algn="l">
              <a:lnSpc>
                <a:spcPct val="100000"/>
              </a:lnSpc>
              <a:spcBef>
                <a:spcPts val="0"/>
              </a:spcBef>
              <a:spcAft>
                <a:spcPts val="0"/>
              </a:spcAft>
              <a:buClr>
                <a:srgbClr val="BB4F59"/>
              </a:buClr>
              <a:buSzPct val="25000"/>
              <a:buFont typeface="Arial"/>
              <a:buNone/>
            </a:pPr>
            <a:r>
              <a:rPr b="0" i="0" lang="en-US" sz="2400" u="none" cap="none" strike="noStrike">
                <a:solidFill>
                  <a:srgbClr val="BB4F59"/>
                </a:solidFill>
                <a:latin typeface="Arial"/>
                <a:ea typeface="Arial"/>
                <a:cs typeface="Arial"/>
                <a:sym typeface="Arial"/>
              </a:rPr>
              <a:t>EQUILIBRIO MACROECONÓMICO</a:t>
            </a:r>
          </a:p>
        </p:txBody>
      </p:sp>
      <p:pic>
        <p:nvPicPr>
          <p:cNvPr id="93" name="Shape 93"/>
          <p:cNvPicPr preferRelativeResize="0"/>
          <p:nvPr/>
        </p:nvPicPr>
        <p:blipFill rotWithShape="1">
          <a:blip r:embed="rId6">
            <a:alphaModFix/>
          </a:blip>
          <a:srcRect b="0" l="0" r="0" t="0"/>
          <a:stretch/>
        </p:blipFill>
        <p:spPr>
          <a:xfrm>
            <a:off x="6019800" y="3879850"/>
            <a:ext cx="2743199" cy="2597150"/>
          </a:xfrm>
          <a:prstGeom prst="rect">
            <a:avLst/>
          </a:prstGeom>
          <a:noFill/>
          <a:ln>
            <a:noFill/>
          </a:ln>
        </p:spPr>
      </p:pic>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97" name="Shape 97"/>
        <p:cNvGrpSpPr/>
        <p:nvPr/>
      </p:nvGrpSpPr>
      <p:grpSpPr>
        <a:xfrm>
          <a:off x="0" y="0"/>
          <a:ext cx="0" cy="0"/>
          <a:chOff x="0" y="0"/>
          <a:chExt cx="0" cy="0"/>
        </a:xfrm>
      </p:grpSpPr>
      <p:pic>
        <p:nvPicPr>
          <p:cNvPr id="98" name="Shape 98"/>
          <p:cNvPicPr preferRelativeResize="0"/>
          <p:nvPr/>
        </p:nvPicPr>
        <p:blipFill rotWithShape="1">
          <a:blip r:embed="rId3">
            <a:alphaModFix/>
          </a:blip>
          <a:srcRect b="0" l="0" r="0" t="0"/>
          <a:stretch/>
        </p:blipFill>
        <p:spPr>
          <a:xfrm>
            <a:off x="0" y="1085850"/>
            <a:ext cx="9144000" cy="209699"/>
          </a:xfrm>
          <a:prstGeom prst="rect">
            <a:avLst/>
          </a:prstGeom>
          <a:noFill/>
          <a:ln>
            <a:noFill/>
          </a:ln>
        </p:spPr>
      </p:pic>
      <p:pic>
        <p:nvPicPr>
          <p:cNvPr id="99" name="Shape 99"/>
          <p:cNvPicPr preferRelativeResize="0"/>
          <p:nvPr/>
        </p:nvPicPr>
        <p:blipFill rotWithShape="1">
          <a:blip r:embed="rId4">
            <a:alphaModFix/>
          </a:blip>
          <a:srcRect b="0" l="0" r="0" t="0"/>
          <a:stretch/>
        </p:blipFill>
        <p:spPr>
          <a:xfrm>
            <a:off x="247650" y="1444625"/>
            <a:ext cx="8626474" cy="5114925"/>
          </a:xfrm>
          <a:prstGeom prst="rect">
            <a:avLst/>
          </a:prstGeom>
          <a:noFill/>
          <a:ln>
            <a:noFill/>
          </a:ln>
        </p:spPr>
      </p:pic>
      <p:pic>
        <p:nvPicPr>
          <p:cNvPr id="100" name="Shape 100"/>
          <p:cNvPicPr preferRelativeResize="0"/>
          <p:nvPr/>
        </p:nvPicPr>
        <p:blipFill rotWithShape="1">
          <a:blip r:embed="rId5">
            <a:alphaModFix/>
          </a:blip>
          <a:srcRect b="0" l="0" r="0" t="0"/>
          <a:stretch/>
        </p:blipFill>
        <p:spPr>
          <a:xfrm>
            <a:off x="255587" y="306387"/>
            <a:ext cx="3013074" cy="608011"/>
          </a:xfrm>
          <a:prstGeom prst="rect">
            <a:avLst/>
          </a:prstGeom>
          <a:noFill/>
          <a:ln>
            <a:noFill/>
          </a:ln>
        </p:spPr>
      </p:pic>
      <p:sp>
        <p:nvSpPr>
          <p:cNvPr id="101" name="Shape 101"/>
          <p:cNvSpPr txBox="1"/>
          <p:nvPr/>
        </p:nvSpPr>
        <p:spPr>
          <a:xfrm>
            <a:off x="3910012" y="152400"/>
            <a:ext cx="4548187"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TEMARIO</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CLASE N° 20 </a:t>
            </a:r>
          </a:p>
        </p:txBody>
      </p:sp>
      <p:sp>
        <p:nvSpPr>
          <p:cNvPr id="102" name="Shape 102"/>
          <p:cNvSpPr txBox="1"/>
          <p:nvPr/>
        </p:nvSpPr>
        <p:spPr>
          <a:xfrm>
            <a:off x="0" y="1295400"/>
            <a:ext cx="9144000" cy="5886899"/>
          </a:xfrm>
          <a:prstGeom prst="rect">
            <a:avLst/>
          </a:prstGeom>
          <a:solidFill>
            <a:srgbClr val="FF6600"/>
          </a:solid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Políticas Económicas – Objetivos</a:t>
            </a:r>
          </a:p>
          <a:p>
            <a:pPr indent="-342900" lvl="0" marL="342900" marR="0" rtl="0" algn="l">
              <a:lnSpc>
                <a:spcPct val="9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Políticas Monetarias y Fiscales</a:t>
            </a:r>
          </a:p>
          <a:p>
            <a:pPr indent="-342900" lvl="0" marL="342900" marR="0" rtl="0" algn="l">
              <a:lnSpc>
                <a:spcPct val="9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Políticas monetarias - Directas e Indirectas</a:t>
            </a:r>
          </a:p>
          <a:p>
            <a:pPr indent="-342900" lvl="0" marL="342900" marR="0" rtl="0" algn="l">
              <a:lnSpc>
                <a:spcPct val="9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Políticas monetarias expansivas.</a:t>
            </a:r>
          </a:p>
          <a:p>
            <a:pPr indent="-342900" lvl="0" marL="342900" marR="0" rtl="0" algn="l">
              <a:lnSpc>
                <a:spcPct val="9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Políticas monetarias contractivas.</a:t>
            </a:r>
          </a:p>
          <a:p>
            <a:pPr indent="-342900" lvl="0" marL="342900" marR="0" rtl="0" algn="l">
              <a:lnSpc>
                <a:spcPct val="9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Políticas fiscales expansivas y contractivas</a:t>
            </a:r>
          </a:p>
          <a:p>
            <a:pPr indent="-342900" lvl="0" marL="342900" marR="0" rtl="0" algn="l">
              <a:lnSpc>
                <a:spcPct val="9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Políticas fiscales positivas (Estabilizadores automáticos)</a:t>
            </a:r>
          </a:p>
          <a:p>
            <a:pPr indent="-342900" lvl="0" marL="342900" marR="0" rtl="0" algn="l">
              <a:lnSpc>
                <a:spcPct val="9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Estabilizadores automáticos - Impuesto a las ganancias.</a:t>
            </a:r>
          </a:p>
          <a:p>
            <a:pPr indent="-342900" lvl="0" marL="342900" marR="0" rtl="0" algn="l">
              <a:lnSpc>
                <a:spcPct val="9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Estabilizadores automáticos - Seguro de desempleo</a:t>
            </a:r>
          </a:p>
          <a:p>
            <a:pPr indent="-342900" lvl="0" marL="342900" marR="0" rtl="0" algn="l">
              <a:lnSpc>
                <a:spcPct val="9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Políticas fiscales discrecionales.</a:t>
            </a:r>
          </a:p>
          <a:p>
            <a:pPr indent="-342900" lvl="0" marL="342900" marR="0" rtl="0" algn="l">
              <a:lnSpc>
                <a:spcPct val="9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Variables macroeconómicas en el mercado monetario.</a:t>
            </a:r>
          </a:p>
          <a:p>
            <a:pPr indent="-342900" lvl="0" marL="342900" marR="0" rtl="0" algn="l">
              <a:lnSpc>
                <a:spcPct val="9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Equilibrio en el mercado monetario y la curva LM.</a:t>
            </a:r>
          </a:p>
          <a:p>
            <a:pPr indent="-342900" lvl="0" marL="342900" marR="0" rtl="0" algn="l">
              <a:lnSpc>
                <a:spcPct val="9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Curva LM.</a:t>
            </a:r>
          </a:p>
          <a:p>
            <a:pPr indent="-342900" lvl="0" marL="342900" marR="0" rtl="0" algn="l">
              <a:lnSpc>
                <a:spcPct val="9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Variables macroeconómicas en el mercado de bienes y servicios.</a:t>
            </a:r>
          </a:p>
          <a:p>
            <a:pPr indent="-342900" lvl="0" marL="342900" marR="0" rtl="0" algn="l">
              <a:lnSpc>
                <a:spcPct val="9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Equilibrio en el mercado de bienes y servicios y la curva IS.</a:t>
            </a:r>
          </a:p>
          <a:p>
            <a:pPr indent="-342900" lvl="0" marL="342900" marR="0" rtl="0" algn="l">
              <a:lnSpc>
                <a:spcPct val="9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Curva IS.</a:t>
            </a:r>
          </a:p>
          <a:p>
            <a:pPr indent="-342900" lvl="0" marL="342900" marR="0" rtl="0" algn="l">
              <a:lnSpc>
                <a:spcPct val="9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Modelo IS LM</a:t>
            </a:r>
          </a:p>
          <a:p>
            <a:pPr indent="-342900" lvl="0" marL="342900" marR="0" rtl="0" algn="l">
              <a:lnSpc>
                <a:spcPct val="9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Equilibrio simultáneo en los mercados de bienes y servicios y del dinero.</a:t>
            </a:r>
          </a:p>
          <a:p>
            <a:pPr indent="-342900" lvl="0" marL="342900" marR="0" rtl="0" algn="l">
              <a:lnSpc>
                <a:spcPct val="9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Políticas fiscales expansivas y contractivas y la curva IS.</a:t>
            </a:r>
          </a:p>
          <a:p>
            <a:pPr indent="-342900" lvl="0" marL="342900" marR="0" rtl="0" algn="l">
              <a:lnSpc>
                <a:spcPct val="9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Políticas monetarias expansivas y contractivas y la curva LM.</a:t>
            </a:r>
          </a:p>
          <a:p>
            <a:pPr indent="-342900" lvl="0" marL="342900" marR="0" rtl="0" algn="l">
              <a:lnSpc>
                <a:spcPct val="9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Políticas combinadas fiscales y monetarias.</a:t>
            </a:r>
          </a:p>
        </p:txBody>
      </p:sp>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06" name="Shape 106"/>
        <p:cNvGrpSpPr/>
        <p:nvPr/>
      </p:nvGrpSpPr>
      <p:grpSpPr>
        <a:xfrm>
          <a:off x="0" y="0"/>
          <a:ext cx="0" cy="0"/>
          <a:chOff x="0" y="0"/>
          <a:chExt cx="0" cy="0"/>
        </a:xfrm>
      </p:grpSpPr>
      <p:pic>
        <p:nvPicPr>
          <p:cNvPr id="107" name="Shape 107"/>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108" name="Shape 108"/>
          <p:cNvPicPr preferRelativeResize="0"/>
          <p:nvPr/>
        </p:nvPicPr>
        <p:blipFill rotWithShape="1">
          <a:blip r:embed="rId4">
            <a:alphaModFix/>
          </a:blip>
          <a:srcRect b="0" l="0" r="0" t="0"/>
          <a:stretch/>
        </p:blipFill>
        <p:spPr>
          <a:xfrm>
            <a:off x="228600" y="1423987"/>
            <a:ext cx="8645524" cy="5129211"/>
          </a:xfrm>
          <a:prstGeom prst="rect">
            <a:avLst/>
          </a:prstGeom>
          <a:noFill/>
          <a:ln>
            <a:noFill/>
          </a:ln>
        </p:spPr>
      </p:pic>
      <p:pic>
        <p:nvPicPr>
          <p:cNvPr id="109" name="Shape 109"/>
          <p:cNvPicPr preferRelativeResize="0"/>
          <p:nvPr/>
        </p:nvPicPr>
        <p:blipFill rotWithShape="1">
          <a:blip r:embed="rId5">
            <a:alphaModFix/>
          </a:blip>
          <a:srcRect b="0" l="0" r="0" t="0"/>
          <a:stretch/>
        </p:blipFill>
        <p:spPr>
          <a:xfrm>
            <a:off x="255587" y="306387"/>
            <a:ext cx="3013074" cy="608011"/>
          </a:xfrm>
          <a:prstGeom prst="rect">
            <a:avLst/>
          </a:prstGeom>
          <a:noFill/>
          <a:ln>
            <a:noFill/>
          </a:ln>
        </p:spPr>
      </p:pic>
      <p:sp>
        <p:nvSpPr>
          <p:cNvPr id="110" name="Shape 110"/>
          <p:cNvSpPr txBox="1"/>
          <p:nvPr/>
        </p:nvSpPr>
        <p:spPr>
          <a:xfrm>
            <a:off x="4114800" y="304800"/>
            <a:ext cx="4114800"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POLÍTICAS ECONÓMICAS</a:t>
            </a:r>
          </a:p>
        </p:txBody>
      </p:sp>
      <p:sp>
        <p:nvSpPr>
          <p:cNvPr id="111" name="Shape 111"/>
          <p:cNvSpPr txBox="1"/>
          <p:nvPr/>
        </p:nvSpPr>
        <p:spPr>
          <a:xfrm>
            <a:off x="304800" y="1524000"/>
            <a:ext cx="4343400" cy="2155824"/>
          </a:xfrm>
          <a:prstGeom prst="rect">
            <a:avLst/>
          </a:prstGeom>
          <a:solidFill>
            <a:srgbClr val="00FFFF">
              <a:alpha val="31764"/>
            </a:srgbClr>
          </a:solidFill>
          <a:ln>
            <a:noFill/>
          </a:ln>
        </p:spPr>
        <p:txBody>
          <a:bodyPr anchorCtr="0" anchor="ctr" bIns="152350" lIns="223200" rIns="91425" tIns="152350">
            <a:noAutofit/>
          </a:bodyPr>
          <a:lstStyle/>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	POLÍTICAS ECONÓMICAS</a:t>
            </a:r>
          </a:p>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El conjunto de políticas económicas está integrado por varias medidas diseñadas por el gobierno destinadas a influir sobre la marcha de la economía en su conjunto.</a:t>
            </a:r>
            <a:r>
              <a:rPr b="0" i="0" lang="en-US" sz="1800" u="none" cap="none" strike="noStrike">
                <a:solidFill>
                  <a:schemeClr val="dk1"/>
                </a:solidFill>
                <a:latin typeface="Arial"/>
                <a:ea typeface="Arial"/>
                <a:cs typeface="Arial"/>
                <a:sym typeface="Arial"/>
              </a:rPr>
              <a:t> </a:t>
            </a:r>
          </a:p>
          <a:p>
            <a:pPr indent="0" lvl="0" marL="0" marR="0" rtl="0" algn="l">
              <a:lnSpc>
                <a:spcPct val="100000"/>
              </a:lnSpc>
              <a:spcBef>
                <a:spcPts val="0"/>
              </a:spcBef>
              <a:spcAft>
                <a:spcPts val="0"/>
              </a:spcAft>
              <a:buNone/>
            </a:pPr>
            <a:r>
              <a:t/>
            </a:r>
            <a:endParaRPr b="1" i="1" sz="1800" u="none">
              <a:solidFill>
                <a:schemeClr val="dk1"/>
              </a:solidFill>
              <a:latin typeface="Arial"/>
              <a:ea typeface="Arial"/>
              <a:cs typeface="Arial"/>
              <a:sym typeface="Arial"/>
            </a:endParaRPr>
          </a:p>
        </p:txBody>
      </p:sp>
      <p:sp>
        <p:nvSpPr>
          <p:cNvPr id="112" name="Shape 112"/>
          <p:cNvSpPr txBox="1"/>
          <p:nvPr/>
        </p:nvSpPr>
        <p:spPr>
          <a:xfrm>
            <a:off x="76200" y="3857625"/>
            <a:ext cx="8285161" cy="2695574"/>
          </a:xfrm>
          <a:prstGeom prst="rect">
            <a:avLst/>
          </a:prstGeom>
          <a:solidFill>
            <a:srgbClr val="FFFF99">
              <a:alpha val="52941"/>
            </a:srgbClr>
          </a:solidFill>
          <a:ln>
            <a:noFill/>
          </a:ln>
        </p:spPr>
        <p:txBody>
          <a:bodyPr anchorCtr="0" anchor="ctr" bIns="76175" lIns="636375" rIns="91425" tIns="76175">
            <a:noAutofit/>
          </a:bodyPr>
          <a:lstStyle/>
          <a:p>
            <a:pPr indent="-342900" lvl="0" marL="342900" marR="0" rtl="0" algn="l">
              <a:lnSpc>
                <a:spcPct val="100000"/>
              </a:lnSpc>
              <a:spcBef>
                <a:spcPts val="0"/>
              </a:spcBef>
              <a:spcAft>
                <a:spcPts val="0"/>
              </a:spcAft>
              <a:buClr>
                <a:schemeClr val="dk1"/>
              </a:buClr>
              <a:buSzPct val="25000"/>
              <a:buFont typeface="Arial"/>
              <a:buNone/>
            </a:pPr>
            <a:r>
              <a:rPr b="1" i="0" lang="en-US" sz="1800" u="none">
                <a:solidFill>
                  <a:schemeClr val="dk1"/>
                </a:solidFill>
                <a:latin typeface="Arial"/>
                <a:ea typeface="Arial"/>
                <a:cs typeface="Arial"/>
                <a:sym typeface="Arial"/>
              </a:rPr>
              <a:t>OBJETIVOS</a:t>
            </a:r>
          </a:p>
          <a:p>
            <a:pPr indent="-342900" lvl="0" marL="342900" marR="0" rtl="0" algn="l">
              <a:lnSpc>
                <a:spcPct val="100000"/>
              </a:lnSpc>
              <a:spcBef>
                <a:spcPts val="0"/>
              </a:spcBef>
              <a:spcAft>
                <a:spcPts val="0"/>
              </a:spcAft>
              <a:buClr>
                <a:schemeClr val="dk1"/>
              </a:buClr>
              <a:buSzPct val="104999"/>
              <a:buFont typeface="Arial"/>
              <a:buAutoNum type="arabicPeriod"/>
            </a:pPr>
            <a:r>
              <a:rPr b="1" i="0" lang="en-US" sz="1800" u="none">
                <a:solidFill>
                  <a:schemeClr val="dk1"/>
                </a:solidFill>
                <a:latin typeface="Arial"/>
                <a:ea typeface="Arial"/>
                <a:cs typeface="Arial"/>
                <a:sym typeface="Arial"/>
              </a:rPr>
              <a:t>CONTROLAR LA INFLACIÓN.</a:t>
            </a:r>
          </a:p>
          <a:p>
            <a:pPr indent="-342900" lvl="0" marL="342900" marR="0" rtl="0" algn="l">
              <a:lnSpc>
                <a:spcPct val="105000"/>
              </a:lnSpc>
              <a:spcBef>
                <a:spcPts val="0"/>
              </a:spcBef>
              <a:spcAft>
                <a:spcPts val="0"/>
              </a:spcAft>
              <a:buClr>
                <a:schemeClr val="dk1"/>
              </a:buClr>
              <a:buSzPct val="104999"/>
              <a:buFont typeface="Arial"/>
              <a:buAutoNum type="arabicPeriod"/>
            </a:pPr>
            <a:r>
              <a:rPr b="1" i="0" lang="en-US" sz="1800" u="none">
                <a:solidFill>
                  <a:schemeClr val="dk1"/>
                </a:solidFill>
                <a:latin typeface="Arial"/>
                <a:ea typeface="Arial"/>
                <a:cs typeface="Arial"/>
                <a:sym typeface="Arial"/>
              </a:rPr>
              <a:t>MANTENER NIVELES BAJOS DE DESEMPLEO.</a:t>
            </a:r>
          </a:p>
          <a:p>
            <a:pPr indent="-342900" lvl="0" marL="342900" marR="0" rtl="0" algn="l">
              <a:lnSpc>
                <a:spcPct val="105000"/>
              </a:lnSpc>
              <a:spcBef>
                <a:spcPts val="0"/>
              </a:spcBef>
              <a:spcAft>
                <a:spcPts val="0"/>
              </a:spcAft>
              <a:buClr>
                <a:schemeClr val="dk1"/>
              </a:buClr>
              <a:buSzPct val="104999"/>
              <a:buFont typeface="Arial"/>
              <a:buAutoNum type="arabicPeriod"/>
            </a:pPr>
            <a:r>
              <a:rPr b="1" i="0" lang="en-US" sz="1800" u="none">
                <a:solidFill>
                  <a:schemeClr val="dk1"/>
                </a:solidFill>
                <a:latin typeface="Arial"/>
                <a:ea typeface="Arial"/>
                <a:cs typeface="Arial"/>
                <a:sym typeface="Arial"/>
              </a:rPr>
              <a:t>PROMOVER EL CRECIMIENTO DE LA PRODUCCIÓN</a:t>
            </a:r>
          </a:p>
          <a:p>
            <a:pPr indent="-342900" lvl="0" marL="342900" marR="0" rtl="0" algn="l">
              <a:lnSpc>
                <a:spcPct val="105000"/>
              </a:lnSpc>
              <a:spcBef>
                <a:spcPts val="0"/>
              </a:spcBef>
              <a:spcAft>
                <a:spcPts val="0"/>
              </a:spcAft>
              <a:buClr>
                <a:schemeClr val="dk1"/>
              </a:buClr>
              <a:buSzPct val="104999"/>
              <a:buFont typeface="Arial"/>
              <a:buAutoNum type="arabicPeriod"/>
            </a:pPr>
            <a:r>
              <a:rPr b="1" i="0" lang="en-US" sz="1800" u="none">
                <a:solidFill>
                  <a:schemeClr val="dk1"/>
                </a:solidFill>
                <a:latin typeface="Arial"/>
                <a:ea typeface="Arial"/>
                <a:cs typeface="Arial"/>
                <a:sym typeface="Arial"/>
              </a:rPr>
              <a:t>MANTENER EQUILIBRADAS LAS CUENTAS CON EL SECTOR EXTERNO.</a:t>
            </a:r>
          </a:p>
          <a:p>
            <a:pPr indent="-342900" lvl="0" marL="342900" marR="0" rtl="0" algn="l">
              <a:lnSpc>
                <a:spcPct val="105000"/>
              </a:lnSpc>
              <a:spcBef>
                <a:spcPts val="0"/>
              </a:spcBef>
              <a:spcAft>
                <a:spcPts val="0"/>
              </a:spcAft>
              <a:buClr>
                <a:schemeClr val="dk1"/>
              </a:buClr>
              <a:buSzPct val="104999"/>
              <a:buFont typeface="Arial"/>
              <a:buAutoNum type="arabicPeriod"/>
            </a:pPr>
            <a:r>
              <a:rPr b="1" i="0" lang="en-US" sz="1800" u="none">
                <a:solidFill>
                  <a:schemeClr val="dk1"/>
                </a:solidFill>
                <a:latin typeface="Arial"/>
                <a:ea typeface="Arial"/>
                <a:cs typeface="Arial"/>
                <a:sym typeface="Arial"/>
              </a:rPr>
              <a:t>EVITAR ENDEUDAMIENTOS EXCESIVOS</a:t>
            </a:r>
          </a:p>
          <a:p>
            <a:pPr indent="-342900" lvl="0" marL="342900" marR="0" rtl="0" algn="l">
              <a:lnSpc>
                <a:spcPct val="100000"/>
              </a:lnSpc>
              <a:spcBef>
                <a:spcPts val="0"/>
              </a:spcBef>
              <a:spcAft>
                <a:spcPts val="0"/>
              </a:spcAft>
              <a:buClr>
                <a:srgbClr val="0000FF"/>
              </a:buClr>
              <a:buSzPct val="25000"/>
              <a:buFont typeface="Arial"/>
              <a:buNone/>
            </a:pPr>
            <a:r>
              <a:rPr b="1" i="1" lang="en-US" sz="1800" u="none">
                <a:solidFill>
                  <a:schemeClr val="dk1"/>
                </a:solidFill>
                <a:latin typeface="Arial"/>
                <a:ea typeface="Arial"/>
                <a:cs typeface="Arial"/>
                <a:sym typeface="Arial"/>
              </a:rPr>
              <a:t> </a:t>
            </a:r>
          </a:p>
          <a:p>
            <a:pPr indent="0" lvl="0" marL="0" marR="0" rtl="0" algn="l">
              <a:lnSpc>
                <a:spcPct val="100000"/>
              </a:lnSpc>
              <a:spcBef>
                <a:spcPts val="0"/>
              </a:spcBef>
              <a:spcAft>
                <a:spcPts val="0"/>
              </a:spcAft>
              <a:buNone/>
            </a:pPr>
            <a:r>
              <a:t/>
            </a:r>
            <a:endParaRPr b="1" i="1" sz="1800" u="none">
              <a:solidFill>
                <a:schemeClr val="dk1"/>
              </a:solidFill>
              <a:latin typeface="Arial"/>
              <a:ea typeface="Arial"/>
              <a:cs typeface="Arial"/>
              <a:sym typeface="Arial"/>
            </a:endParaRPr>
          </a:p>
        </p:txBody>
      </p:sp>
      <p:pic>
        <p:nvPicPr>
          <p:cNvPr id="113" name="Shape 113"/>
          <p:cNvPicPr preferRelativeResize="0"/>
          <p:nvPr/>
        </p:nvPicPr>
        <p:blipFill rotWithShape="1">
          <a:blip r:embed="rId6">
            <a:alphaModFix/>
          </a:blip>
          <a:srcRect b="0" l="0" r="0" t="0"/>
          <a:stretch/>
        </p:blipFill>
        <p:spPr>
          <a:xfrm>
            <a:off x="6572250" y="2971800"/>
            <a:ext cx="971550" cy="1600199"/>
          </a:xfrm>
          <a:prstGeom prst="rect">
            <a:avLst/>
          </a:prstGeom>
          <a:noFill/>
          <a:ln>
            <a:noFill/>
          </a:ln>
        </p:spPr>
      </p:pic>
      <p:pic>
        <p:nvPicPr>
          <p:cNvPr id="114" name="Shape 114"/>
          <p:cNvPicPr preferRelativeResize="0"/>
          <p:nvPr/>
        </p:nvPicPr>
        <p:blipFill rotWithShape="1">
          <a:blip r:embed="rId7">
            <a:alphaModFix/>
          </a:blip>
          <a:srcRect b="0" l="0" r="0" t="0"/>
          <a:stretch/>
        </p:blipFill>
        <p:spPr>
          <a:xfrm>
            <a:off x="4495800" y="3151186"/>
            <a:ext cx="1219199" cy="1192211"/>
          </a:xfrm>
          <a:prstGeom prst="rect">
            <a:avLst/>
          </a:prstGeom>
          <a:noFill/>
          <a:ln>
            <a:noFill/>
          </a:ln>
        </p:spPr>
      </p:pic>
      <p:pic>
        <p:nvPicPr>
          <p:cNvPr id="115" name="Shape 115"/>
          <p:cNvPicPr preferRelativeResize="0"/>
          <p:nvPr/>
        </p:nvPicPr>
        <p:blipFill rotWithShape="1">
          <a:blip r:embed="rId8">
            <a:alphaModFix/>
          </a:blip>
          <a:srcRect b="0" l="0" r="0" t="0"/>
          <a:stretch/>
        </p:blipFill>
        <p:spPr>
          <a:xfrm>
            <a:off x="7543800" y="3868737"/>
            <a:ext cx="1219199" cy="1008062"/>
          </a:xfrm>
          <a:prstGeom prst="rect">
            <a:avLst/>
          </a:prstGeom>
          <a:noFill/>
          <a:ln>
            <a:noFill/>
          </a:ln>
        </p:spPr>
      </p:pic>
      <p:pic>
        <p:nvPicPr>
          <p:cNvPr id="116" name="Shape 116"/>
          <p:cNvPicPr preferRelativeResize="0"/>
          <p:nvPr/>
        </p:nvPicPr>
        <p:blipFill rotWithShape="1">
          <a:blip r:embed="rId9">
            <a:alphaModFix/>
          </a:blip>
          <a:srcRect b="0" l="0" r="0" t="0"/>
          <a:stretch/>
        </p:blipFill>
        <p:spPr>
          <a:xfrm>
            <a:off x="6629400" y="5392737"/>
            <a:ext cx="1177924" cy="1312862"/>
          </a:xfrm>
          <a:prstGeom prst="rect">
            <a:avLst/>
          </a:prstGeom>
          <a:noFill/>
          <a:ln>
            <a:noFill/>
          </a:ln>
        </p:spPr>
      </p:pic>
      <p:pic>
        <p:nvPicPr>
          <p:cNvPr id="117" name="Shape 117"/>
          <p:cNvPicPr preferRelativeResize="0"/>
          <p:nvPr/>
        </p:nvPicPr>
        <p:blipFill rotWithShape="1">
          <a:blip r:embed="rId10">
            <a:alphaModFix/>
          </a:blip>
          <a:srcRect b="0" l="0" r="0" t="0"/>
          <a:stretch/>
        </p:blipFill>
        <p:spPr>
          <a:xfrm>
            <a:off x="4648200" y="1447800"/>
            <a:ext cx="2009774" cy="1524000"/>
          </a:xfrm>
          <a:prstGeom prst="rect">
            <a:avLst/>
          </a:prstGeom>
          <a:noFill/>
          <a:ln>
            <a:noFill/>
          </a:ln>
        </p:spPr>
      </p:pic>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21" name="Shape 121"/>
        <p:cNvGrpSpPr/>
        <p:nvPr/>
      </p:nvGrpSpPr>
      <p:grpSpPr>
        <a:xfrm>
          <a:off x="0" y="0"/>
          <a:ext cx="0" cy="0"/>
          <a:chOff x="0" y="0"/>
          <a:chExt cx="0" cy="0"/>
        </a:xfrm>
      </p:grpSpPr>
      <p:pic>
        <p:nvPicPr>
          <p:cNvPr id="122" name="Shape 122"/>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123" name="Shape 123"/>
          <p:cNvPicPr preferRelativeResize="0"/>
          <p:nvPr/>
        </p:nvPicPr>
        <p:blipFill rotWithShape="1">
          <a:blip r:embed="rId4">
            <a:alphaModFix/>
          </a:blip>
          <a:srcRect b="0" l="0" r="0" t="0"/>
          <a:stretch/>
        </p:blipFill>
        <p:spPr>
          <a:xfrm>
            <a:off x="228600" y="1423987"/>
            <a:ext cx="8645524" cy="5129211"/>
          </a:xfrm>
          <a:prstGeom prst="rect">
            <a:avLst/>
          </a:prstGeom>
          <a:noFill/>
          <a:ln>
            <a:noFill/>
          </a:ln>
        </p:spPr>
      </p:pic>
      <p:pic>
        <p:nvPicPr>
          <p:cNvPr id="124" name="Shape 124"/>
          <p:cNvPicPr preferRelativeResize="0"/>
          <p:nvPr/>
        </p:nvPicPr>
        <p:blipFill rotWithShape="1">
          <a:blip r:embed="rId5">
            <a:alphaModFix/>
          </a:blip>
          <a:srcRect b="0" l="0" r="0" t="0"/>
          <a:stretch/>
        </p:blipFill>
        <p:spPr>
          <a:xfrm>
            <a:off x="255587" y="306387"/>
            <a:ext cx="3013074" cy="608011"/>
          </a:xfrm>
          <a:prstGeom prst="rect">
            <a:avLst/>
          </a:prstGeom>
          <a:noFill/>
          <a:ln>
            <a:noFill/>
          </a:ln>
        </p:spPr>
      </p:pic>
      <p:sp>
        <p:nvSpPr>
          <p:cNvPr id="125" name="Shape 125"/>
          <p:cNvSpPr txBox="1"/>
          <p:nvPr/>
        </p:nvSpPr>
        <p:spPr>
          <a:xfrm>
            <a:off x="4114800" y="304800"/>
            <a:ext cx="4114800"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0" lang="en-US" sz="2400" u="none">
                <a:solidFill>
                  <a:srgbClr val="BB4F59"/>
                </a:solidFill>
                <a:latin typeface="Arial"/>
                <a:ea typeface="Arial"/>
                <a:cs typeface="Arial"/>
                <a:sym typeface="Arial"/>
              </a:rPr>
              <a:t>POLÍTICAS ECONÓMICAS</a:t>
            </a:r>
          </a:p>
        </p:txBody>
      </p:sp>
      <p:sp>
        <p:nvSpPr>
          <p:cNvPr id="126" name="Shape 126"/>
          <p:cNvSpPr txBox="1"/>
          <p:nvPr/>
        </p:nvSpPr>
        <p:spPr>
          <a:xfrm>
            <a:off x="0" y="3241675"/>
            <a:ext cx="7813674" cy="1865312"/>
          </a:xfrm>
          <a:prstGeom prst="rect">
            <a:avLst/>
          </a:prstGeom>
          <a:noFill/>
          <a:ln>
            <a:noFill/>
          </a:ln>
        </p:spPr>
        <p:txBody>
          <a:bodyPr anchorCtr="0" anchor="ctr" bIns="76175" lIns="241200" rIns="91425" tIns="76175">
            <a:noAutofit/>
          </a:bodyPr>
          <a:lstStyle/>
          <a:p>
            <a:pPr indent="0" lvl="0" marL="0" marR="0" rtl="0" algn="l">
              <a:lnSpc>
                <a:spcPct val="100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POLÍTICAS FISCALES</a:t>
            </a:r>
          </a:p>
          <a:p>
            <a:pPr indent="0" lvl="0" marL="0" marR="0" rtl="0" algn="l">
              <a:lnSpc>
                <a:spcPct val="100000"/>
              </a:lnSpc>
              <a:spcBef>
                <a:spcPts val="0"/>
              </a:spcBef>
              <a:spcAft>
                <a:spcPts val="0"/>
              </a:spcAft>
              <a:buClr>
                <a:schemeClr val="dk1"/>
              </a:buClr>
              <a:buSzPct val="25000"/>
              <a:buFont typeface="Arial"/>
              <a:buNone/>
            </a:pPr>
            <a:r>
              <a:rPr b="0" i="1" lang="en-US" sz="1800" u="none">
                <a:solidFill>
                  <a:schemeClr val="dk1"/>
                </a:solidFill>
                <a:latin typeface="Arial"/>
                <a:ea typeface="Arial"/>
                <a:cs typeface="Arial"/>
                <a:sym typeface="Arial"/>
              </a:rPr>
              <a:t>La </a:t>
            </a:r>
            <a:r>
              <a:rPr b="1" i="1" lang="en-US" sz="1800" u="none">
                <a:solidFill>
                  <a:schemeClr val="dk1"/>
                </a:solidFill>
                <a:latin typeface="Arial"/>
                <a:ea typeface="Arial"/>
                <a:cs typeface="Arial"/>
                <a:sym typeface="Arial"/>
              </a:rPr>
              <a:t>política fiscal</a:t>
            </a:r>
            <a:r>
              <a:rPr b="0" i="1" lang="en-US" sz="1800" u="none">
                <a:solidFill>
                  <a:schemeClr val="dk1"/>
                </a:solidFill>
                <a:latin typeface="Arial"/>
                <a:ea typeface="Arial"/>
                <a:cs typeface="Arial"/>
                <a:sym typeface="Arial"/>
              </a:rPr>
              <a:t> es una rama de la política económica que configura el presupuesto del Estado, y sus componentes, el gasto público y los impuestos como variables de control para asegurar y mantener la estabilidad económica, amortiguando las oscilaciones de los ciclos económicos y contribuyendo a mantener una economía creciente, de pleno empleo y sin inflación alta. </a:t>
            </a:r>
          </a:p>
        </p:txBody>
      </p:sp>
      <p:sp>
        <p:nvSpPr>
          <p:cNvPr id="127" name="Shape 127"/>
          <p:cNvSpPr txBox="1"/>
          <p:nvPr/>
        </p:nvSpPr>
        <p:spPr>
          <a:xfrm>
            <a:off x="304800" y="1560512"/>
            <a:ext cx="6096000" cy="1250950"/>
          </a:xfrm>
          <a:prstGeom prst="rect">
            <a:avLst/>
          </a:prstGeom>
          <a:noFill/>
          <a:ln>
            <a:noFill/>
          </a:ln>
        </p:spPr>
        <p:txBody>
          <a:bodyPr anchorCtr="0" anchor="ctr" bIns="76175" lIns="241200" rIns="91425" tIns="76175">
            <a:noAutofit/>
          </a:bodyPr>
          <a:lstStyle/>
          <a:p>
            <a:pPr indent="0" lvl="0" marL="0" marR="0" rtl="0" algn="l">
              <a:lnSpc>
                <a:spcPct val="100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POLÍTICAS MONETARIAS</a:t>
            </a:r>
          </a:p>
          <a:p>
            <a:pPr indent="0" lvl="0" marL="0" marR="0" rtl="0" algn="l">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La </a:t>
            </a:r>
            <a:r>
              <a:rPr b="1" i="0" lang="en-US" sz="1800" u="none">
                <a:solidFill>
                  <a:schemeClr val="dk1"/>
                </a:solidFill>
                <a:latin typeface="Arial"/>
                <a:ea typeface="Arial"/>
                <a:cs typeface="Arial"/>
                <a:sym typeface="Arial"/>
              </a:rPr>
              <a:t>política monetaria</a:t>
            </a:r>
            <a:r>
              <a:rPr b="0" i="0" lang="en-US" sz="1800" u="none">
                <a:solidFill>
                  <a:schemeClr val="dk1"/>
                </a:solidFill>
                <a:latin typeface="Arial"/>
                <a:ea typeface="Arial"/>
                <a:cs typeface="Arial"/>
                <a:sym typeface="Arial"/>
              </a:rPr>
              <a:t> es una política económica que usa la cantidad de dinero como variable de control para asegurar y mantener la estabilidad económica.</a:t>
            </a:r>
            <a:r>
              <a:rPr b="1" i="1" lang="en-US" sz="1800" u="none">
                <a:solidFill>
                  <a:schemeClr val="dk1"/>
                </a:solidFill>
                <a:latin typeface="Arial"/>
                <a:ea typeface="Arial"/>
                <a:cs typeface="Arial"/>
                <a:sym typeface="Arial"/>
              </a:rPr>
              <a:t> </a:t>
            </a:r>
          </a:p>
        </p:txBody>
      </p:sp>
      <p:pic>
        <p:nvPicPr>
          <p:cNvPr id="128" name="Shape 128"/>
          <p:cNvPicPr preferRelativeResize="0"/>
          <p:nvPr/>
        </p:nvPicPr>
        <p:blipFill rotWithShape="1">
          <a:blip r:embed="rId6">
            <a:alphaModFix/>
          </a:blip>
          <a:srcRect b="0" l="0" r="0" t="0"/>
          <a:stretch/>
        </p:blipFill>
        <p:spPr>
          <a:xfrm>
            <a:off x="6400800" y="1447800"/>
            <a:ext cx="2381249" cy="1924049"/>
          </a:xfrm>
          <a:prstGeom prst="rect">
            <a:avLst/>
          </a:prstGeom>
          <a:noFill/>
          <a:ln>
            <a:noFill/>
          </a:ln>
        </p:spPr>
      </p:pic>
      <p:pic>
        <p:nvPicPr>
          <p:cNvPr id="129" name="Shape 129"/>
          <p:cNvPicPr preferRelativeResize="0"/>
          <p:nvPr/>
        </p:nvPicPr>
        <p:blipFill rotWithShape="1">
          <a:blip r:embed="rId7">
            <a:alphaModFix/>
          </a:blip>
          <a:srcRect b="0" l="0" r="0" t="0"/>
          <a:stretch/>
        </p:blipFill>
        <p:spPr>
          <a:xfrm>
            <a:off x="457200" y="5299075"/>
            <a:ext cx="2438399" cy="1482724"/>
          </a:xfrm>
          <a:prstGeom prst="rect">
            <a:avLst/>
          </a:prstGeom>
          <a:noFill/>
          <a:ln>
            <a:noFill/>
          </a:ln>
        </p:spPr>
      </p:pic>
      <p:pic>
        <p:nvPicPr>
          <p:cNvPr id="130" name="Shape 130"/>
          <p:cNvPicPr preferRelativeResize="0"/>
          <p:nvPr/>
        </p:nvPicPr>
        <p:blipFill rotWithShape="1">
          <a:blip r:embed="rId8">
            <a:alphaModFix/>
          </a:blip>
          <a:srcRect b="0" l="0" r="0" t="0"/>
          <a:stretch/>
        </p:blipFill>
        <p:spPr>
          <a:xfrm>
            <a:off x="3657600" y="5257800"/>
            <a:ext cx="2057400" cy="1543049"/>
          </a:xfrm>
          <a:prstGeom prst="rect">
            <a:avLst/>
          </a:prstGeom>
          <a:noFill/>
          <a:ln>
            <a:noFill/>
          </a:ln>
        </p:spPr>
      </p:pic>
      <p:pic>
        <p:nvPicPr>
          <p:cNvPr id="131" name="Shape 131"/>
          <p:cNvPicPr preferRelativeResize="0"/>
          <p:nvPr/>
        </p:nvPicPr>
        <p:blipFill rotWithShape="1">
          <a:blip r:embed="rId9">
            <a:alphaModFix/>
          </a:blip>
          <a:srcRect b="0" l="0" r="0" t="0"/>
          <a:stretch/>
        </p:blipFill>
        <p:spPr>
          <a:xfrm>
            <a:off x="6477000" y="5105400"/>
            <a:ext cx="1600199" cy="1600199"/>
          </a:xfrm>
          <a:prstGeom prst="rect">
            <a:avLst/>
          </a:prstGeom>
          <a:noFill/>
          <a:ln>
            <a:noFill/>
          </a:ln>
        </p:spPr>
      </p:pic>
      <p:pic>
        <p:nvPicPr>
          <p:cNvPr id="132" name="Shape 132"/>
          <p:cNvPicPr preferRelativeResize="0"/>
          <p:nvPr/>
        </p:nvPicPr>
        <p:blipFill rotWithShape="1">
          <a:blip r:embed="rId10">
            <a:alphaModFix/>
          </a:blip>
          <a:srcRect b="0" l="0" r="0" t="0"/>
          <a:stretch/>
        </p:blipFill>
        <p:spPr>
          <a:xfrm>
            <a:off x="7881936" y="3524250"/>
            <a:ext cx="1109661" cy="1428749"/>
          </a:xfrm>
          <a:prstGeom prst="rect">
            <a:avLst/>
          </a:prstGeom>
          <a:noFill/>
          <a:ln>
            <a:noFill/>
          </a:ln>
        </p:spPr>
      </p:pic>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36" name="Shape 136"/>
        <p:cNvGrpSpPr/>
        <p:nvPr/>
      </p:nvGrpSpPr>
      <p:grpSpPr>
        <a:xfrm>
          <a:off x="0" y="0"/>
          <a:ext cx="0" cy="0"/>
          <a:chOff x="0" y="0"/>
          <a:chExt cx="0" cy="0"/>
        </a:xfrm>
      </p:grpSpPr>
      <p:pic>
        <p:nvPicPr>
          <p:cNvPr id="137" name="Shape 137"/>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138" name="Shape 138"/>
          <p:cNvPicPr preferRelativeResize="0"/>
          <p:nvPr/>
        </p:nvPicPr>
        <p:blipFill rotWithShape="1">
          <a:blip r:embed="rId4">
            <a:alphaModFix/>
          </a:blip>
          <a:srcRect b="0" l="0" r="0" t="0"/>
          <a:stretch/>
        </p:blipFill>
        <p:spPr>
          <a:xfrm>
            <a:off x="228600" y="1423987"/>
            <a:ext cx="8645524" cy="5129211"/>
          </a:xfrm>
          <a:prstGeom prst="rect">
            <a:avLst/>
          </a:prstGeom>
          <a:noFill/>
          <a:ln>
            <a:noFill/>
          </a:ln>
        </p:spPr>
      </p:pic>
      <p:pic>
        <p:nvPicPr>
          <p:cNvPr id="139" name="Shape 139"/>
          <p:cNvPicPr preferRelativeResize="0"/>
          <p:nvPr/>
        </p:nvPicPr>
        <p:blipFill rotWithShape="1">
          <a:blip r:embed="rId5">
            <a:alphaModFix/>
          </a:blip>
          <a:srcRect b="0" l="0" r="0" t="0"/>
          <a:stretch/>
        </p:blipFill>
        <p:spPr>
          <a:xfrm>
            <a:off x="255587" y="306387"/>
            <a:ext cx="3013074" cy="608011"/>
          </a:xfrm>
          <a:prstGeom prst="rect">
            <a:avLst/>
          </a:prstGeom>
          <a:noFill/>
          <a:ln>
            <a:noFill/>
          </a:ln>
        </p:spPr>
      </p:pic>
      <p:sp>
        <p:nvSpPr>
          <p:cNvPr id="140" name="Shape 140"/>
          <p:cNvSpPr txBox="1"/>
          <p:nvPr/>
        </p:nvSpPr>
        <p:spPr>
          <a:xfrm>
            <a:off x="4114800" y="304800"/>
            <a:ext cx="4114800"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0" lang="en-US" sz="2400" u="none">
                <a:solidFill>
                  <a:srgbClr val="BB4F59"/>
                </a:solidFill>
                <a:latin typeface="Arial"/>
                <a:ea typeface="Arial"/>
                <a:cs typeface="Arial"/>
                <a:sym typeface="Arial"/>
              </a:rPr>
              <a:t>POLÍTICAS MONETARIAS</a:t>
            </a:r>
          </a:p>
        </p:txBody>
      </p:sp>
      <p:sp>
        <p:nvSpPr>
          <p:cNvPr id="141" name="Shape 141"/>
          <p:cNvSpPr txBox="1"/>
          <p:nvPr/>
        </p:nvSpPr>
        <p:spPr>
          <a:xfrm>
            <a:off x="304800" y="1582737"/>
            <a:ext cx="8229600" cy="2105024"/>
          </a:xfrm>
          <a:prstGeom prst="rect">
            <a:avLst/>
          </a:prstGeom>
          <a:noFill/>
          <a:ln>
            <a:noFill/>
          </a:ln>
        </p:spPr>
        <p:txBody>
          <a:bodyPr anchorCtr="0" anchor="ctr" bIns="76175" lIns="241200" rIns="91425" tIns="76175">
            <a:noAutofit/>
          </a:bodyPr>
          <a:lstStyle/>
          <a:p>
            <a:pPr indent="0" lvl="0" marL="0" marR="0" rtl="0" algn="l">
              <a:lnSpc>
                <a:spcPct val="100000"/>
              </a:lnSpc>
              <a:spcBef>
                <a:spcPts val="0"/>
              </a:spcBef>
              <a:spcAft>
                <a:spcPts val="0"/>
              </a:spcAft>
              <a:buClr>
                <a:schemeClr val="dk1"/>
              </a:buClr>
              <a:buSzPct val="25000"/>
              <a:buFont typeface="Arial"/>
              <a:buNone/>
            </a:pPr>
            <a:r>
              <a:rPr b="1" i="1" lang="en-US" sz="2000" u="none">
                <a:solidFill>
                  <a:schemeClr val="dk1"/>
                </a:solidFill>
                <a:latin typeface="Arial"/>
                <a:ea typeface="Arial"/>
                <a:cs typeface="Arial"/>
                <a:sym typeface="Arial"/>
              </a:rPr>
              <a:t>TIPO DE POLÍTICAS MONETARIAS</a:t>
            </a:r>
          </a:p>
          <a:p>
            <a:pPr indent="0" lvl="0" marL="0" marR="0" rtl="0" algn="l">
              <a:lnSpc>
                <a:spcPct val="100000"/>
              </a:lnSpc>
              <a:spcBef>
                <a:spcPts val="0"/>
              </a:spcBef>
              <a:spcAft>
                <a:spcPts val="0"/>
              </a:spcAft>
              <a:buClr>
                <a:srgbClr val="008000"/>
              </a:buClr>
              <a:buSzPct val="25000"/>
              <a:buFont typeface="Arial"/>
              <a:buNone/>
            </a:pPr>
            <a:r>
              <a:rPr b="1" i="1" lang="en-US" sz="1800" u="none">
                <a:solidFill>
                  <a:srgbClr val="008000"/>
                </a:solidFill>
                <a:latin typeface="Arial"/>
                <a:ea typeface="Arial"/>
                <a:cs typeface="Arial"/>
                <a:sym typeface="Arial"/>
              </a:rPr>
              <a:t>EXPANSIVAS:</a:t>
            </a:r>
          </a:p>
          <a:p>
            <a:pPr indent="0" lvl="0" marL="0" marR="0" rtl="0" algn="l">
              <a:lnSpc>
                <a:spcPct val="100000"/>
              </a:lnSpc>
              <a:spcBef>
                <a:spcPts val="0"/>
              </a:spcBef>
              <a:spcAft>
                <a:spcPts val="0"/>
              </a:spcAft>
              <a:buClr>
                <a:srgbClr val="008000"/>
              </a:buClr>
              <a:buSzPct val="25000"/>
              <a:buFont typeface="Arial"/>
              <a:buNone/>
            </a:pPr>
            <a:r>
              <a:rPr b="1" i="1" lang="en-US" sz="1800" u="none">
                <a:solidFill>
                  <a:srgbClr val="008000"/>
                </a:solidFill>
                <a:latin typeface="Arial"/>
                <a:ea typeface="Arial"/>
                <a:cs typeface="Arial"/>
                <a:sym typeface="Arial"/>
              </a:rPr>
              <a:t>Cuando el objetivo que persigue se realiza colocando mayor cantidad de dinero en circulación.</a:t>
            </a:r>
          </a:p>
          <a:p>
            <a:pPr indent="0" lvl="0" marL="0" marR="0" rtl="0" algn="l">
              <a:lnSpc>
                <a:spcPct val="100000"/>
              </a:lnSpc>
              <a:spcBef>
                <a:spcPts val="0"/>
              </a:spcBef>
              <a:spcAft>
                <a:spcPts val="0"/>
              </a:spcAft>
              <a:buClr>
                <a:srgbClr val="FF0066"/>
              </a:buClr>
              <a:buSzPct val="25000"/>
              <a:buFont typeface="Arial"/>
              <a:buNone/>
            </a:pPr>
            <a:r>
              <a:rPr b="1" i="1" lang="en-US" sz="1800" u="none">
                <a:solidFill>
                  <a:srgbClr val="FF0066"/>
                </a:solidFill>
                <a:latin typeface="Arial"/>
                <a:ea typeface="Arial"/>
                <a:cs typeface="Arial"/>
                <a:sym typeface="Arial"/>
              </a:rPr>
              <a:t>CONTRACTIVAS:</a:t>
            </a:r>
          </a:p>
          <a:p>
            <a:pPr indent="0" lvl="0" marL="0" marR="0" rtl="0" algn="l">
              <a:lnSpc>
                <a:spcPct val="100000"/>
              </a:lnSpc>
              <a:spcBef>
                <a:spcPts val="0"/>
              </a:spcBef>
              <a:spcAft>
                <a:spcPts val="0"/>
              </a:spcAft>
              <a:buClr>
                <a:srgbClr val="FF0066"/>
              </a:buClr>
              <a:buSzPct val="25000"/>
              <a:buFont typeface="Arial"/>
              <a:buNone/>
            </a:pPr>
            <a:r>
              <a:rPr b="1" i="1" lang="en-US" sz="1800" u="none">
                <a:solidFill>
                  <a:srgbClr val="FF0066"/>
                </a:solidFill>
                <a:latin typeface="Arial"/>
                <a:ea typeface="Arial"/>
                <a:cs typeface="Arial"/>
                <a:sym typeface="Arial"/>
              </a:rPr>
              <a:t>Cuando se considera que hay un exceso de dinero en circulación por lo cual se debe reducir la oferta monetaria </a:t>
            </a:r>
          </a:p>
        </p:txBody>
      </p:sp>
      <p:sp>
        <p:nvSpPr>
          <p:cNvPr id="142" name="Shape 142"/>
          <p:cNvSpPr txBox="1"/>
          <p:nvPr/>
        </p:nvSpPr>
        <p:spPr>
          <a:xfrm>
            <a:off x="457200" y="3887787"/>
            <a:ext cx="8229600" cy="2349499"/>
          </a:xfrm>
          <a:prstGeom prst="rect">
            <a:avLst/>
          </a:prstGeom>
          <a:noFill/>
          <a:ln>
            <a:noFill/>
          </a:ln>
        </p:spPr>
        <p:txBody>
          <a:bodyPr anchorCtr="0" anchor="ctr" bIns="76175" lIns="241200" rIns="91425" tIns="76175">
            <a:noAutofit/>
          </a:bodyPr>
          <a:lstStyle/>
          <a:p>
            <a:pPr indent="-342900" lvl="0" marL="342900" marR="0" rtl="0" algn="l">
              <a:lnSpc>
                <a:spcPct val="100000"/>
              </a:lnSpc>
              <a:spcBef>
                <a:spcPts val="0"/>
              </a:spcBef>
              <a:spcAft>
                <a:spcPts val="0"/>
              </a:spcAft>
              <a:buClr>
                <a:schemeClr val="dk2"/>
              </a:buClr>
              <a:buSzPct val="25000"/>
              <a:buFont typeface="Arial"/>
              <a:buNone/>
            </a:pPr>
            <a:r>
              <a:rPr b="1" i="1" lang="en-US" sz="1800" u="none">
                <a:solidFill>
                  <a:schemeClr val="dk2"/>
                </a:solidFill>
                <a:latin typeface="Arial"/>
                <a:ea typeface="Arial"/>
                <a:cs typeface="Arial"/>
                <a:sym typeface="Arial"/>
              </a:rPr>
              <a:t>TÉCNICAS DIRECTAS</a:t>
            </a:r>
          </a:p>
          <a:p>
            <a:pPr indent="-342900" lvl="0" marL="342900" marR="0" rtl="0" algn="l">
              <a:lnSpc>
                <a:spcPct val="100000"/>
              </a:lnSpc>
              <a:spcBef>
                <a:spcPts val="0"/>
              </a:spcBef>
              <a:spcAft>
                <a:spcPts val="0"/>
              </a:spcAft>
              <a:buClr>
                <a:schemeClr val="dk2"/>
              </a:buClr>
              <a:buSzPct val="100000"/>
              <a:buFont typeface="Arial"/>
              <a:buAutoNum type="arabicPeriod"/>
            </a:pPr>
            <a:r>
              <a:rPr b="1" i="1" lang="en-US" sz="1800" u="none">
                <a:solidFill>
                  <a:schemeClr val="dk2"/>
                </a:solidFill>
                <a:latin typeface="Arial"/>
                <a:ea typeface="Arial"/>
                <a:cs typeface="Arial"/>
                <a:sym typeface="Arial"/>
              </a:rPr>
              <a:t>POLÍTICA DE FIJACIÓN DEL EFECTIVO MÍNIMO (ENCAJE)</a:t>
            </a:r>
          </a:p>
          <a:p>
            <a:pPr indent="-342900" lvl="0" marL="342900" marR="0" rtl="0" algn="l">
              <a:lnSpc>
                <a:spcPct val="100000"/>
              </a:lnSpc>
              <a:spcBef>
                <a:spcPts val="0"/>
              </a:spcBef>
              <a:spcAft>
                <a:spcPts val="0"/>
              </a:spcAft>
              <a:buClr>
                <a:schemeClr val="dk2"/>
              </a:buClr>
              <a:buSzPct val="100000"/>
              <a:buFont typeface="Arial"/>
              <a:buAutoNum type="arabicPeriod"/>
            </a:pPr>
            <a:r>
              <a:rPr b="1" i="1" lang="en-US" sz="1800" u="none">
                <a:solidFill>
                  <a:schemeClr val="dk2"/>
                </a:solidFill>
                <a:latin typeface="Arial"/>
                <a:ea typeface="Arial"/>
                <a:cs typeface="Arial"/>
                <a:sym typeface="Arial"/>
              </a:rPr>
              <a:t>POLÍTICA DE LIMITACIÓN GLOBAL DEL CRÉDITO</a:t>
            </a:r>
          </a:p>
          <a:p>
            <a:pPr indent="-342900" lvl="0" marL="342900" marR="0" rtl="0" algn="l">
              <a:lnSpc>
                <a:spcPct val="100000"/>
              </a:lnSpc>
              <a:spcBef>
                <a:spcPts val="0"/>
              </a:spcBef>
              <a:spcAft>
                <a:spcPts val="0"/>
              </a:spcAft>
              <a:buClr>
                <a:schemeClr val="dk2"/>
              </a:buClr>
              <a:buSzPct val="100000"/>
              <a:buFont typeface="Arial"/>
              <a:buAutoNum type="arabicPeriod"/>
            </a:pPr>
            <a:r>
              <a:rPr b="1" i="1" lang="en-US" sz="1800" u="none">
                <a:solidFill>
                  <a:schemeClr val="dk2"/>
                </a:solidFill>
                <a:latin typeface="Arial"/>
                <a:ea typeface="Arial"/>
                <a:cs typeface="Arial"/>
                <a:sym typeface="Arial"/>
              </a:rPr>
              <a:t>POLÍTICA SELECTIVA DEL CRÉDITO</a:t>
            </a:r>
          </a:p>
          <a:p>
            <a:pPr indent="-342900" lvl="0" marL="342900" marR="0" rtl="0" algn="l">
              <a:lnSpc>
                <a:spcPct val="100000"/>
              </a:lnSpc>
              <a:spcBef>
                <a:spcPts val="0"/>
              </a:spcBef>
              <a:spcAft>
                <a:spcPts val="0"/>
              </a:spcAft>
              <a:buClr>
                <a:schemeClr val="dk2"/>
              </a:buClr>
              <a:buFont typeface="Calibri"/>
              <a:buNone/>
            </a:pPr>
            <a:r>
              <a:t/>
            </a:r>
            <a:endParaRPr b="1" i="1" sz="1800" u="none">
              <a:solidFill>
                <a:schemeClr val="dk2"/>
              </a:solidFill>
              <a:latin typeface="Arial"/>
              <a:ea typeface="Arial"/>
              <a:cs typeface="Arial"/>
              <a:sym typeface="Arial"/>
            </a:endParaRPr>
          </a:p>
          <a:p>
            <a:pPr indent="-342900" lvl="0" marL="342900" marR="0" rtl="0" algn="l">
              <a:lnSpc>
                <a:spcPct val="100000"/>
              </a:lnSpc>
              <a:spcBef>
                <a:spcPts val="0"/>
              </a:spcBef>
              <a:spcAft>
                <a:spcPts val="0"/>
              </a:spcAft>
              <a:buClr>
                <a:srgbClr val="CC0099"/>
              </a:buClr>
              <a:buSzPct val="25000"/>
              <a:buFont typeface="Arial"/>
              <a:buNone/>
            </a:pPr>
            <a:r>
              <a:rPr b="1" i="1" lang="en-US" sz="1800" u="none">
                <a:solidFill>
                  <a:srgbClr val="CC0099"/>
                </a:solidFill>
                <a:latin typeface="Arial"/>
                <a:ea typeface="Arial"/>
                <a:cs typeface="Arial"/>
                <a:sym typeface="Arial"/>
              </a:rPr>
              <a:t>TÉCNICAS INDIRECTAS</a:t>
            </a:r>
          </a:p>
          <a:p>
            <a:pPr indent="-342900" lvl="0" marL="342900" marR="0" rtl="0" algn="l">
              <a:lnSpc>
                <a:spcPct val="100000"/>
              </a:lnSpc>
              <a:spcBef>
                <a:spcPts val="0"/>
              </a:spcBef>
              <a:spcAft>
                <a:spcPts val="0"/>
              </a:spcAft>
              <a:buClr>
                <a:srgbClr val="CC0099"/>
              </a:buClr>
              <a:buSzPct val="100000"/>
              <a:buFont typeface="Arial"/>
              <a:buAutoNum type="arabicPeriod"/>
            </a:pPr>
            <a:r>
              <a:rPr b="1" i="1" lang="en-US" sz="1800" u="none">
                <a:solidFill>
                  <a:srgbClr val="CC0099"/>
                </a:solidFill>
                <a:latin typeface="Arial"/>
                <a:ea typeface="Arial"/>
                <a:cs typeface="Arial"/>
                <a:sym typeface="Arial"/>
              </a:rPr>
              <a:t>POLÍTICA DE MERCADO ABIERTO</a:t>
            </a:r>
          </a:p>
          <a:p>
            <a:pPr indent="-342900" lvl="0" marL="342900" marR="0" rtl="0" algn="l">
              <a:lnSpc>
                <a:spcPct val="100000"/>
              </a:lnSpc>
              <a:spcBef>
                <a:spcPts val="0"/>
              </a:spcBef>
              <a:spcAft>
                <a:spcPts val="0"/>
              </a:spcAft>
              <a:buClr>
                <a:srgbClr val="CC0099"/>
              </a:buClr>
              <a:buSzPct val="100000"/>
              <a:buFont typeface="Arial"/>
              <a:buAutoNum type="arabicPeriod"/>
            </a:pPr>
            <a:r>
              <a:rPr b="1" i="1" lang="en-US" sz="1800" u="none">
                <a:solidFill>
                  <a:srgbClr val="CC0099"/>
                </a:solidFill>
                <a:latin typeface="Arial"/>
                <a:ea typeface="Arial"/>
                <a:cs typeface="Arial"/>
                <a:sym typeface="Arial"/>
              </a:rPr>
              <a:t>POLITICA DE VARIACIÓN DEL TIPO O TASA DE REDESCUENTO</a:t>
            </a:r>
            <a:r>
              <a:rPr b="1" i="1" lang="en-US" sz="1800" u="none">
                <a:solidFill>
                  <a:schemeClr val="dk1"/>
                </a:solidFill>
                <a:latin typeface="Arial"/>
                <a:ea typeface="Arial"/>
                <a:cs typeface="Arial"/>
                <a:sym typeface="Arial"/>
              </a:rPr>
              <a:t> </a:t>
            </a:r>
          </a:p>
        </p:txBody>
      </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46" name="Shape 146"/>
        <p:cNvGrpSpPr/>
        <p:nvPr/>
      </p:nvGrpSpPr>
      <p:grpSpPr>
        <a:xfrm>
          <a:off x="0" y="0"/>
          <a:ext cx="0" cy="0"/>
          <a:chOff x="0" y="0"/>
          <a:chExt cx="0" cy="0"/>
        </a:xfrm>
      </p:grpSpPr>
      <p:pic>
        <p:nvPicPr>
          <p:cNvPr id="147" name="Shape 147"/>
          <p:cNvPicPr preferRelativeResize="0"/>
          <p:nvPr/>
        </p:nvPicPr>
        <p:blipFill rotWithShape="1">
          <a:blip r:embed="rId3">
            <a:alphaModFix/>
          </a:blip>
          <a:srcRect b="0" l="0" r="0" t="0"/>
          <a:stretch/>
        </p:blipFill>
        <p:spPr>
          <a:xfrm>
            <a:off x="228600" y="1423987"/>
            <a:ext cx="8645524" cy="5129211"/>
          </a:xfrm>
          <a:prstGeom prst="rect">
            <a:avLst/>
          </a:prstGeom>
          <a:noFill/>
          <a:ln>
            <a:noFill/>
          </a:ln>
        </p:spPr>
      </p:pic>
      <p:sp>
        <p:nvSpPr>
          <p:cNvPr id="148" name="Shape 148"/>
          <p:cNvSpPr txBox="1"/>
          <p:nvPr/>
        </p:nvSpPr>
        <p:spPr>
          <a:xfrm>
            <a:off x="381000" y="2317750"/>
            <a:ext cx="3352799" cy="1371599"/>
          </a:xfrm>
          <a:prstGeom prst="rect">
            <a:avLst/>
          </a:prstGeom>
          <a:solidFill>
            <a:srgbClr val="CCFFFF"/>
          </a:solidFill>
          <a:ln>
            <a:noFill/>
          </a:ln>
        </p:spPr>
        <p:txBody>
          <a:bodyPr anchorCtr="0" anchor="ctr" bIns="76175" lIns="25200" rIns="91425" tIns="76175">
            <a:noAutofit/>
          </a:bodyPr>
          <a:lstStyle/>
          <a:p>
            <a:pPr indent="0" lvl="0" marL="0" marR="0" rtl="0" algn="l">
              <a:lnSpc>
                <a:spcPct val="100000"/>
              </a:lnSpc>
              <a:spcBef>
                <a:spcPts val="0"/>
              </a:spcBef>
              <a:spcAft>
                <a:spcPts val="0"/>
              </a:spcAft>
              <a:buClr>
                <a:schemeClr val="dk1"/>
              </a:buClr>
              <a:buSzPct val="25000"/>
              <a:buFont typeface="Arial"/>
              <a:buNone/>
            </a:pPr>
            <a:r>
              <a:rPr b="1" i="1" lang="en-US" sz="2000" u="none">
                <a:solidFill>
                  <a:schemeClr val="dk1"/>
                </a:solidFill>
                <a:latin typeface="Arial"/>
                <a:ea typeface="Arial"/>
                <a:cs typeface="Arial"/>
                <a:sym typeface="Arial"/>
              </a:rPr>
              <a:t>POLÍTICAS MONETARIAS</a:t>
            </a:r>
          </a:p>
          <a:p>
            <a:pPr indent="0" lvl="0" marL="0" marR="0" rtl="0" algn="l">
              <a:lnSpc>
                <a:spcPct val="100000"/>
              </a:lnSpc>
              <a:spcBef>
                <a:spcPts val="0"/>
              </a:spcBef>
              <a:spcAft>
                <a:spcPts val="0"/>
              </a:spcAft>
              <a:buClr>
                <a:schemeClr val="dk1"/>
              </a:buClr>
              <a:buSzPct val="25000"/>
              <a:buFont typeface="Arial"/>
              <a:buNone/>
            </a:pPr>
            <a:r>
              <a:rPr b="1" i="1" lang="en-US" sz="2000" u="none">
                <a:solidFill>
                  <a:schemeClr val="dk1"/>
                </a:solidFill>
                <a:latin typeface="Arial"/>
                <a:ea typeface="Arial"/>
                <a:cs typeface="Arial"/>
                <a:sym typeface="Arial"/>
              </a:rPr>
              <a:t>EXPANSIVAS:</a:t>
            </a:r>
          </a:p>
          <a:p>
            <a:pPr indent="0" lvl="0" marL="0" marR="0" rtl="0" algn="l">
              <a:lnSpc>
                <a:spcPct val="100000"/>
              </a:lnSpc>
              <a:spcBef>
                <a:spcPts val="0"/>
              </a:spcBef>
              <a:spcAft>
                <a:spcPts val="0"/>
              </a:spcAft>
              <a:buClr>
                <a:srgbClr val="FF0066"/>
              </a:buClr>
              <a:buSzPct val="25000"/>
              <a:buFont typeface="Arial"/>
              <a:buNone/>
            </a:pPr>
            <a:r>
              <a:rPr b="1" i="1" lang="en-US" sz="2000" u="none">
                <a:solidFill>
                  <a:srgbClr val="FF0066"/>
                </a:solidFill>
                <a:latin typeface="Arial"/>
                <a:ea typeface="Arial"/>
                <a:cs typeface="Arial"/>
                <a:sym typeface="Arial"/>
              </a:rPr>
              <a:t>AUMENTAN LA OFERTA</a:t>
            </a:r>
          </a:p>
          <a:p>
            <a:pPr indent="0" lvl="0" marL="0" marR="0" rtl="0" algn="l">
              <a:lnSpc>
                <a:spcPct val="100000"/>
              </a:lnSpc>
              <a:spcBef>
                <a:spcPts val="0"/>
              </a:spcBef>
              <a:spcAft>
                <a:spcPts val="0"/>
              </a:spcAft>
              <a:buClr>
                <a:srgbClr val="FF0066"/>
              </a:buClr>
              <a:buSzPct val="25000"/>
              <a:buFont typeface="Arial"/>
              <a:buNone/>
            </a:pPr>
            <a:r>
              <a:rPr b="1" i="1" lang="en-US" sz="2000" u="none">
                <a:solidFill>
                  <a:srgbClr val="FF0066"/>
                </a:solidFill>
                <a:latin typeface="Arial"/>
                <a:ea typeface="Arial"/>
                <a:cs typeface="Arial"/>
                <a:sym typeface="Arial"/>
              </a:rPr>
              <a:t>MONETARIA REAL </a:t>
            </a:r>
          </a:p>
        </p:txBody>
      </p:sp>
      <p:pic>
        <p:nvPicPr>
          <p:cNvPr id="149" name="Shape 149"/>
          <p:cNvPicPr preferRelativeResize="0"/>
          <p:nvPr/>
        </p:nvPicPr>
        <p:blipFill rotWithShape="1">
          <a:blip r:embed="rId4">
            <a:alphaModFix/>
          </a:blip>
          <a:srcRect b="0" l="0" r="0" t="0"/>
          <a:stretch/>
        </p:blipFill>
        <p:spPr>
          <a:xfrm>
            <a:off x="263525" y="1085850"/>
            <a:ext cx="8610599" cy="209549"/>
          </a:xfrm>
          <a:prstGeom prst="rect">
            <a:avLst/>
          </a:prstGeom>
          <a:noFill/>
          <a:ln>
            <a:noFill/>
          </a:ln>
        </p:spPr>
      </p:pic>
      <p:pic>
        <p:nvPicPr>
          <p:cNvPr id="150" name="Shape 150"/>
          <p:cNvPicPr preferRelativeResize="0"/>
          <p:nvPr/>
        </p:nvPicPr>
        <p:blipFill rotWithShape="1">
          <a:blip r:embed="rId5">
            <a:alphaModFix/>
          </a:blip>
          <a:srcRect b="0" l="0" r="0" t="0"/>
          <a:stretch/>
        </p:blipFill>
        <p:spPr>
          <a:xfrm>
            <a:off x="255587" y="306387"/>
            <a:ext cx="3013074" cy="608011"/>
          </a:xfrm>
          <a:prstGeom prst="rect">
            <a:avLst/>
          </a:prstGeom>
          <a:noFill/>
          <a:ln>
            <a:noFill/>
          </a:ln>
        </p:spPr>
      </p:pic>
      <p:sp>
        <p:nvSpPr>
          <p:cNvPr id="151" name="Shape 151"/>
          <p:cNvSpPr txBox="1"/>
          <p:nvPr/>
        </p:nvSpPr>
        <p:spPr>
          <a:xfrm>
            <a:off x="4114800" y="304800"/>
            <a:ext cx="4114800"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a:solidFill>
                  <a:srgbClr val="BB4F59"/>
                </a:solidFill>
                <a:latin typeface="Arial"/>
                <a:ea typeface="Arial"/>
                <a:cs typeface="Arial"/>
                <a:sym typeface="Arial"/>
              </a:rPr>
              <a:t>POLÍTICAS MONETARIAS EXPANSIVAS</a:t>
            </a:r>
          </a:p>
        </p:txBody>
      </p:sp>
      <p:cxnSp>
        <p:nvCxnSpPr>
          <p:cNvPr id="152" name="Shape 152"/>
          <p:cNvCxnSpPr/>
          <p:nvPr/>
        </p:nvCxnSpPr>
        <p:spPr>
          <a:xfrm rot="10800000">
            <a:off x="3268661" y="1981199"/>
            <a:ext cx="0" cy="1828800"/>
          </a:xfrm>
          <a:prstGeom prst="straightConnector1">
            <a:avLst/>
          </a:prstGeom>
          <a:noFill/>
          <a:ln>
            <a:noFill/>
          </a:ln>
        </p:spPr>
      </p:cxnSp>
      <p:cxnSp>
        <p:nvCxnSpPr>
          <p:cNvPr id="153" name="Shape 153"/>
          <p:cNvCxnSpPr/>
          <p:nvPr/>
        </p:nvCxnSpPr>
        <p:spPr>
          <a:xfrm rot="10800000">
            <a:off x="4114800" y="1981199"/>
            <a:ext cx="0" cy="1828800"/>
          </a:xfrm>
          <a:prstGeom prst="straightConnector1">
            <a:avLst/>
          </a:prstGeom>
          <a:noFill/>
          <a:ln cap="flat" cmpd="sng" w="12700">
            <a:solidFill>
              <a:schemeClr val="dk1"/>
            </a:solidFill>
            <a:prstDash val="solid"/>
            <a:miter/>
            <a:headEnd len="med" w="med" type="none"/>
            <a:tailEnd len="lg" w="lg" type="triangle"/>
          </a:ln>
        </p:spPr>
      </p:cxnSp>
      <p:cxnSp>
        <p:nvCxnSpPr>
          <p:cNvPr id="154" name="Shape 154"/>
          <p:cNvCxnSpPr/>
          <p:nvPr/>
        </p:nvCxnSpPr>
        <p:spPr>
          <a:xfrm>
            <a:off x="4114800" y="3817937"/>
            <a:ext cx="4759324" cy="0"/>
          </a:xfrm>
          <a:prstGeom prst="straightConnector1">
            <a:avLst/>
          </a:prstGeom>
          <a:noFill/>
          <a:ln cap="flat" cmpd="sng" w="19050">
            <a:solidFill>
              <a:schemeClr val="dk1"/>
            </a:solidFill>
            <a:prstDash val="solid"/>
            <a:miter/>
            <a:headEnd len="med" w="med" type="none"/>
            <a:tailEnd len="lg" w="lg" type="triangle"/>
          </a:ln>
        </p:spPr>
      </p:cxnSp>
      <p:cxnSp>
        <p:nvCxnSpPr>
          <p:cNvPr id="155" name="Shape 155"/>
          <p:cNvCxnSpPr/>
          <p:nvPr/>
        </p:nvCxnSpPr>
        <p:spPr>
          <a:xfrm rot="10800000">
            <a:off x="4953000" y="1981199"/>
            <a:ext cx="0" cy="1828800"/>
          </a:xfrm>
          <a:prstGeom prst="straightConnector1">
            <a:avLst/>
          </a:prstGeom>
          <a:noFill/>
          <a:ln cap="flat" cmpd="sng" w="15875">
            <a:solidFill>
              <a:srgbClr val="FF0000"/>
            </a:solidFill>
            <a:prstDash val="solid"/>
            <a:miter/>
            <a:headEnd len="med" w="med" type="none"/>
            <a:tailEnd len="med" w="med" type="none"/>
          </a:ln>
        </p:spPr>
      </p:cxnSp>
      <p:cxnSp>
        <p:nvCxnSpPr>
          <p:cNvPr id="156" name="Shape 156"/>
          <p:cNvCxnSpPr/>
          <p:nvPr/>
        </p:nvCxnSpPr>
        <p:spPr>
          <a:xfrm rot="10800000">
            <a:off x="5410200" y="1981199"/>
            <a:ext cx="0" cy="1828800"/>
          </a:xfrm>
          <a:prstGeom prst="straightConnector1">
            <a:avLst/>
          </a:prstGeom>
          <a:noFill/>
          <a:ln cap="flat" cmpd="sng" w="15875">
            <a:solidFill>
              <a:srgbClr val="FF0066"/>
            </a:solidFill>
            <a:prstDash val="solid"/>
            <a:miter/>
            <a:headEnd len="med" w="med" type="none"/>
            <a:tailEnd len="med" w="med" type="none"/>
          </a:ln>
        </p:spPr>
      </p:cxnSp>
      <p:sp>
        <p:nvSpPr>
          <p:cNvPr id="157" name="Shape 157"/>
          <p:cNvSpPr/>
          <p:nvPr/>
        </p:nvSpPr>
        <p:spPr>
          <a:xfrm>
            <a:off x="4373562" y="2133600"/>
            <a:ext cx="1554162" cy="1219199"/>
          </a:xfrm>
          <a:custGeom>
            <a:pathLst>
              <a:path extrusionOk="0" h="120000" w="120000">
                <a:moveTo>
                  <a:pt x="0" y="0"/>
                </a:moveTo>
                <a:cubicBezTo>
                  <a:pt x="2328" y="7812"/>
                  <a:pt x="6618" y="31562"/>
                  <a:pt x="14096" y="46562"/>
                </a:cubicBezTo>
                <a:cubicBezTo>
                  <a:pt x="21573" y="61562"/>
                  <a:pt x="34565" y="79218"/>
                  <a:pt x="44739" y="90000"/>
                </a:cubicBezTo>
                <a:cubicBezTo>
                  <a:pt x="54913" y="100781"/>
                  <a:pt x="62880" y="105937"/>
                  <a:pt x="75383" y="110937"/>
                </a:cubicBezTo>
                <a:cubicBezTo>
                  <a:pt x="87885" y="115937"/>
                  <a:pt x="110684" y="118125"/>
                  <a:pt x="120000" y="120000"/>
                </a:cubicBezTo>
              </a:path>
            </a:pathLst>
          </a:custGeom>
          <a:noFill/>
          <a:ln cap="flat" cmpd="sng" w="28575">
            <a:solidFill>
              <a:srgbClr val="000080"/>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58" name="Shape 158"/>
          <p:cNvSpPr/>
          <p:nvPr/>
        </p:nvSpPr>
        <p:spPr>
          <a:xfrm>
            <a:off x="4953000" y="2514600"/>
            <a:ext cx="457200" cy="485775"/>
          </a:xfrm>
          <a:prstGeom prst="stripedRightArrow">
            <a:avLst>
              <a:gd fmla="val 50000" name="adj1"/>
              <a:gd fmla="val 50000" name="adj2"/>
            </a:avLst>
          </a:prstGeom>
          <a:solidFill>
            <a:srgbClr val="FFFF00"/>
          </a:solidFill>
          <a:ln cap="flat" cmpd="sng" w="15875">
            <a:solidFill>
              <a:schemeClr val="dk1"/>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59" name="Shape 159"/>
          <p:cNvSpPr txBox="1"/>
          <p:nvPr/>
        </p:nvSpPr>
        <p:spPr>
          <a:xfrm>
            <a:off x="228600" y="1447800"/>
            <a:ext cx="8915400" cy="396874"/>
          </a:xfrm>
          <a:prstGeom prst="rect">
            <a:avLst/>
          </a:prstGeom>
          <a:noFill/>
          <a:ln>
            <a:noFill/>
          </a:ln>
        </p:spPr>
        <p:txBody>
          <a:bodyPr anchorCtr="0" anchor="ctr" bIns="76175" lIns="25200" rIns="91425" tIns="76175">
            <a:noAutofit/>
          </a:bodyPr>
          <a:lstStyle/>
          <a:p>
            <a:pPr indent="-342900" lvl="0" marL="342900" marR="0" rtl="0" algn="l">
              <a:lnSpc>
                <a:spcPct val="100000"/>
              </a:lnSpc>
              <a:spcBef>
                <a:spcPts val="0"/>
              </a:spcBef>
              <a:spcAft>
                <a:spcPts val="0"/>
              </a:spcAft>
              <a:buClr>
                <a:schemeClr val="dk1"/>
              </a:buClr>
              <a:buSzPct val="25000"/>
              <a:buFont typeface="Arial"/>
              <a:buNone/>
            </a:pPr>
            <a:r>
              <a:rPr b="1" i="1" lang="en-US" sz="1600" u="none">
                <a:solidFill>
                  <a:schemeClr val="dk1"/>
                </a:solidFill>
                <a:latin typeface="Arial"/>
                <a:ea typeface="Arial"/>
                <a:cs typeface="Arial"/>
                <a:sym typeface="Arial"/>
              </a:rPr>
              <a:t>OFERTA MONETARIA REAL (Ms) = OFERTA MONETARIA NOMINAL / NIVEL DE PRECIOS</a:t>
            </a:r>
          </a:p>
        </p:txBody>
      </p:sp>
      <p:sp>
        <p:nvSpPr>
          <p:cNvPr id="160" name="Shape 160"/>
          <p:cNvSpPr txBox="1"/>
          <p:nvPr/>
        </p:nvSpPr>
        <p:spPr>
          <a:xfrm>
            <a:off x="3657600" y="1935161"/>
            <a:ext cx="381000" cy="427037"/>
          </a:xfrm>
          <a:prstGeom prst="rect">
            <a:avLst/>
          </a:prstGeom>
          <a:noFill/>
          <a:ln>
            <a:noFill/>
          </a:ln>
        </p:spPr>
        <p:txBody>
          <a:bodyPr anchorCtr="0" anchor="ctr" bIns="76175" lIns="241200" rIns="91425" tIns="76175">
            <a:noAutofit/>
          </a:bodyPr>
          <a:lstStyle/>
          <a:p>
            <a:pPr indent="-342900" lvl="0" marL="342900" marR="0" rtl="0" algn="l">
              <a:lnSpc>
                <a:spcPct val="100000"/>
              </a:lnSpc>
              <a:spcBef>
                <a:spcPts val="0"/>
              </a:spcBef>
              <a:spcAft>
                <a:spcPts val="0"/>
              </a:spcAft>
              <a:buClr>
                <a:schemeClr val="dk2"/>
              </a:buClr>
              <a:buSzPct val="25000"/>
              <a:buFont typeface="Arial"/>
              <a:buNone/>
            </a:pPr>
            <a:r>
              <a:rPr b="1" i="0" lang="en-US" sz="1800" u="none">
                <a:solidFill>
                  <a:schemeClr val="dk2"/>
                </a:solidFill>
                <a:latin typeface="Arial"/>
                <a:ea typeface="Arial"/>
                <a:cs typeface="Arial"/>
                <a:sym typeface="Arial"/>
              </a:rPr>
              <a:t>i</a:t>
            </a:r>
          </a:p>
        </p:txBody>
      </p:sp>
      <p:sp>
        <p:nvSpPr>
          <p:cNvPr id="161" name="Shape 161"/>
          <p:cNvSpPr txBox="1"/>
          <p:nvPr/>
        </p:nvSpPr>
        <p:spPr>
          <a:xfrm>
            <a:off x="5867400" y="3810000"/>
            <a:ext cx="974725" cy="365125"/>
          </a:xfrm>
          <a:prstGeom prst="rect">
            <a:avLst/>
          </a:prstGeom>
          <a:noFill/>
          <a:ln>
            <a:noFill/>
          </a:ln>
        </p:spPr>
        <p:txBody>
          <a:bodyPr anchorCtr="0" anchor="ctr" bIns="76175" lIns="241200" rIns="91425" tIns="76175">
            <a:noAutofit/>
          </a:bodyPr>
          <a:lstStyle/>
          <a:p>
            <a:pPr indent="-342900" lvl="0" marL="342900" marR="0" rtl="0" algn="l">
              <a:lnSpc>
                <a:spcPct val="100000"/>
              </a:lnSpc>
              <a:spcBef>
                <a:spcPts val="0"/>
              </a:spcBef>
              <a:spcAft>
                <a:spcPts val="0"/>
              </a:spcAft>
              <a:buClr>
                <a:srgbClr val="FF0066"/>
              </a:buClr>
              <a:buSzPct val="25000"/>
              <a:buFont typeface="Arial"/>
              <a:buNone/>
            </a:pPr>
            <a:r>
              <a:rPr b="0" i="0" lang="en-US" sz="1400" u="none">
                <a:solidFill>
                  <a:srgbClr val="FF0066"/>
                </a:solidFill>
                <a:latin typeface="Arial"/>
                <a:ea typeface="Arial"/>
                <a:cs typeface="Arial"/>
                <a:sym typeface="Arial"/>
              </a:rPr>
              <a:t>OM/NP</a:t>
            </a:r>
          </a:p>
        </p:txBody>
      </p:sp>
      <p:sp>
        <p:nvSpPr>
          <p:cNvPr id="162" name="Shape 162"/>
          <p:cNvSpPr txBox="1"/>
          <p:nvPr/>
        </p:nvSpPr>
        <p:spPr>
          <a:xfrm>
            <a:off x="4511675" y="3763962"/>
            <a:ext cx="1279525" cy="427037"/>
          </a:xfrm>
          <a:prstGeom prst="rect">
            <a:avLst/>
          </a:prstGeom>
          <a:noFill/>
          <a:ln>
            <a:noFill/>
          </a:ln>
        </p:spPr>
        <p:txBody>
          <a:bodyPr anchorCtr="0" anchor="ctr" bIns="76175" lIns="241200" rIns="91425" tIns="76175">
            <a:noAutofit/>
          </a:bodyPr>
          <a:lstStyle/>
          <a:p>
            <a:pPr indent="-342900" lvl="0" marL="342900" marR="0" rtl="0" algn="l">
              <a:lnSpc>
                <a:spcPct val="100000"/>
              </a:lnSpc>
              <a:spcBef>
                <a:spcPts val="0"/>
              </a:spcBef>
              <a:spcAft>
                <a:spcPts val="0"/>
              </a:spcAft>
              <a:buClr>
                <a:srgbClr val="FF0000"/>
              </a:buClr>
              <a:buSzPct val="25000"/>
              <a:buFont typeface="Arial"/>
              <a:buNone/>
            </a:pPr>
            <a:r>
              <a:rPr b="1" i="0" lang="en-US" sz="1800" u="none">
                <a:solidFill>
                  <a:srgbClr val="FF0000"/>
                </a:solidFill>
                <a:latin typeface="Arial"/>
                <a:ea typeface="Arial"/>
                <a:cs typeface="Arial"/>
                <a:sym typeface="Arial"/>
              </a:rPr>
              <a:t>Ms  M´s</a:t>
            </a:r>
          </a:p>
        </p:txBody>
      </p:sp>
      <p:cxnSp>
        <p:nvCxnSpPr>
          <p:cNvPr id="163" name="Shape 163"/>
          <p:cNvCxnSpPr/>
          <p:nvPr/>
        </p:nvCxnSpPr>
        <p:spPr>
          <a:xfrm rot="10800000">
            <a:off x="6858000" y="1981199"/>
            <a:ext cx="0" cy="1828800"/>
          </a:xfrm>
          <a:prstGeom prst="straightConnector1">
            <a:avLst/>
          </a:prstGeom>
          <a:noFill/>
          <a:ln cap="flat" cmpd="sng" w="12700">
            <a:solidFill>
              <a:schemeClr val="dk1"/>
            </a:solidFill>
            <a:prstDash val="solid"/>
            <a:miter/>
            <a:headEnd len="med" w="med" type="none"/>
            <a:tailEnd len="lg" w="lg" type="triangle"/>
          </a:ln>
        </p:spPr>
      </p:cxnSp>
      <p:sp>
        <p:nvSpPr>
          <p:cNvPr id="164" name="Shape 164"/>
          <p:cNvSpPr txBox="1"/>
          <p:nvPr/>
        </p:nvSpPr>
        <p:spPr>
          <a:xfrm>
            <a:off x="6400800" y="1905000"/>
            <a:ext cx="381000" cy="427037"/>
          </a:xfrm>
          <a:prstGeom prst="rect">
            <a:avLst/>
          </a:prstGeom>
          <a:noFill/>
          <a:ln>
            <a:noFill/>
          </a:ln>
        </p:spPr>
        <p:txBody>
          <a:bodyPr anchorCtr="0" anchor="ctr" bIns="76175" lIns="241200" rIns="91425" tIns="76175">
            <a:noAutofit/>
          </a:bodyPr>
          <a:lstStyle/>
          <a:p>
            <a:pPr indent="-342900" lvl="0" marL="342900" marR="0" rtl="0" algn="l">
              <a:lnSpc>
                <a:spcPct val="100000"/>
              </a:lnSpc>
              <a:spcBef>
                <a:spcPts val="0"/>
              </a:spcBef>
              <a:spcAft>
                <a:spcPts val="0"/>
              </a:spcAft>
              <a:buClr>
                <a:schemeClr val="dk2"/>
              </a:buClr>
              <a:buSzPct val="25000"/>
              <a:buFont typeface="Arial"/>
              <a:buNone/>
            </a:pPr>
            <a:r>
              <a:rPr b="1" i="0" lang="en-US" sz="1800" u="none">
                <a:solidFill>
                  <a:schemeClr val="dk2"/>
                </a:solidFill>
                <a:latin typeface="Arial"/>
                <a:ea typeface="Arial"/>
                <a:cs typeface="Arial"/>
                <a:sym typeface="Arial"/>
              </a:rPr>
              <a:t>i</a:t>
            </a:r>
          </a:p>
        </p:txBody>
      </p:sp>
      <p:sp>
        <p:nvSpPr>
          <p:cNvPr id="165" name="Shape 165"/>
          <p:cNvSpPr txBox="1"/>
          <p:nvPr/>
        </p:nvSpPr>
        <p:spPr>
          <a:xfrm>
            <a:off x="5486400" y="2984500"/>
            <a:ext cx="762000" cy="368299"/>
          </a:xfrm>
          <a:prstGeom prst="rect">
            <a:avLst/>
          </a:prstGeom>
          <a:noFill/>
          <a:ln>
            <a:noFill/>
          </a:ln>
        </p:spPr>
        <p:txBody>
          <a:bodyPr anchorCtr="0" anchor="ctr" bIns="76175" lIns="36000" rIns="36000" tIns="76175">
            <a:noAutofit/>
          </a:bodyPr>
          <a:lstStyle/>
          <a:p>
            <a:pPr indent="-342900" lvl="0" marL="342900" marR="0" rtl="0" algn="l">
              <a:lnSpc>
                <a:spcPct val="100000"/>
              </a:lnSpc>
              <a:spcBef>
                <a:spcPts val="0"/>
              </a:spcBef>
              <a:spcAft>
                <a:spcPts val="0"/>
              </a:spcAft>
              <a:buClr>
                <a:schemeClr val="dk2"/>
              </a:buClr>
              <a:buSzPct val="25000"/>
              <a:buFont typeface="Arial"/>
              <a:buNone/>
            </a:pPr>
            <a:r>
              <a:rPr b="1" i="0" lang="en-US" sz="1400" u="none">
                <a:solidFill>
                  <a:schemeClr val="dk2"/>
                </a:solidFill>
                <a:latin typeface="Arial"/>
                <a:ea typeface="Arial"/>
                <a:cs typeface="Arial"/>
                <a:sym typeface="Arial"/>
              </a:rPr>
              <a:t>Md(Y,i)</a:t>
            </a:r>
          </a:p>
        </p:txBody>
      </p:sp>
      <p:cxnSp>
        <p:nvCxnSpPr>
          <p:cNvPr id="166" name="Shape 166"/>
          <p:cNvCxnSpPr/>
          <p:nvPr/>
        </p:nvCxnSpPr>
        <p:spPr>
          <a:xfrm rot="10800000">
            <a:off x="4114799" y="3048000"/>
            <a:ext cx="3505200" cy="0"/>
          </a:xfrm>
          <a:prstGeom prst="straightConnector1">
            <a:avLst/>
          </a:prstGeom>
          <a:noFill/>
          <a:ln cap="flat" cmpd="sng" w="12700">
            <a:solidFill>
              <a:schemeClr val="dk1"/>
            </a:solidFill>
            <a:prstDash val="solid"/>
            <a:miter/>
            <a:headEnd len="med" w="med" type="none"/>
            <a:tailEnd len="med" w="med" type="none"/>
          </a:ln>
        </p:spPr>
      </p:cxnSp>
      <p:sp>
        <p:nvSpPr>
          <p:cNvPr id="167" name="Shape 167"/>
          <p:cNvSpPr txBox="1"/>
          <p:nvPr/>
        </p:nvSpPr>
        <p:spPr>
          <a:xfrm>
            <a:off x="3733800" y="2803525"/>
            <a:ext cx="639762" cy="701674"/>
          </a:xfrm>
          <a:prstGeom prst="rect">
            <a:avLst/>
          </a:prstGeom>
          <a:noFill/>
          <a:ln>
            <a:noFill/>
          </a:ln>
        </p:spPr>
        <p:txBody>
          <a:bodyPr anchorCtr="0" anchor="ctr" bIns="76175" lIns="241200" rIns="91425" tIns="76175">
            <a:noAutofit/>
          </a:bodyPr>
          <a:lstStyle/>
          <a:p>
            <a:pPr indent="-342900" lvl="0" marL="342900" marR="0" rtl="0" algn="l">
              <a:lnSpc>
                <a:spcPct val="100000"/>
              </a:lnSpc>
              <a:spcBef>
                <a:spcPts val="0"/>
              </a:spcBef>
              <a:spcAft>
                <a:spcPts val="0"/>
              </a:spcAft>
              <a:buClr>
                <a:schemeClr val="dk2"/>
              </a:buClr>
              <a:buSzPct val="25000"/>
              <a:buFont typeface="Arial"/>
              <a:buNone/>
            </a:pPr>
            <a:r>
              <a:rPr b="1" i="0" lang="en-US" sz="1800" u="none">
                <a:solidFill>
                  <a:schemeClr val="dk2"/>
                </a:solidFill>
                <a:latin typeface="Arial"/>
                <a:ea typeface="Arial"/>
                <a:cs typeface="Arial"/>
                <a:sym typeface="Arial"/>
              </a:rPr>
              <a:t>i</a:t>
            </a:r>
          </a:p>
          <a:p>
            <a:pPr indent="-342900" lvl="0" marL="342900" marR="0" rtl="0" algn="l">
              <a:lnSpc>
                <a:spcPct val="100000"/>
              </a:lnSpc>
              <a:spcBef>
                <a:spcPts val="0"/>
              </a:spcBef>
              <a:spcAft>
                <a:spcPts val="0"/>
              </a:spcAft>
              <a:buClr>
                <a:schemeClr val="dk2"/>
              </a:buClr>
              <a:buSzPct val="25000"/>
              <a:buFont typeface="Arial"/>
              <a:buNone/>
            </a:pPr>
            <a:r>
              <a:rPr b="1" i="0" lang="en-US" sz="1800" u="none">
                <a:solidFill>
                  <a:schemeClr val="dk2"/>
                </a:solidFill>
                <a:latin typeface="Arial"/>
                <a:ea typeface="Arial"/>
                <a:cs typeface="Arial"/>
                <a:sym typeface="Arial"/>
              </a:rPr>
              <a:t>i´</a:t>
            </a:r>
          </a:p>
        </p:txBody>
      </p:sp>
      <p:sp>
        <p:nvSpPr>
          <p:cNvPr id="168" name="Shape 168"/>
          <p:cNvSpPr/>
          <p:nvPr/>
        </p:nvSpPr>
        <p:spPr>
          <a:xfrm rot="5400000">
            <a:off x="4471987" y="2919411"/>
            <a:ext cx="228600" cy="485775"/>
          </a:xfrm>
          <a:prstGeom prst="stripedRightArrow">
            <a:avLst>
              <a:gd fmla="val 50000" name="adj1"/>
              <a:gd fmla="val 50000" name="adj2"/>
            </a:avLst>
          </a:prstGeom>
          <a:solidFill>
            <a:srgbClr val="FFFF00"/>
          </a:solidFill>
          <a:ln cap="flat" cmpd="sng" w="15875">
            <a:solidFill>
              <a:schemeClr val="dk1"/>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69" name="Shape 169"/>
          <p:cNvSpPr txBox="1"/>
          <p:nvPr/>
        </p:nvSpPr>
        <p:spPr>
          <a:xfrm>
            <a:off x="7924800" y="2133600"/>
            <a:ext cx="457200" cy="365125"/>
          </a:xfrm>
          <a:prstGeom prst="rect">
            <a:avLst/>
          </a:prstGeom>
          <a:noFill/>
          <a:ln>
            <a:noFill/>
          </a:ln>
        </p:spPr>
        <p:txBody>
          <a:bodyPr anchorCtr="0" anchor="ctr" bIns="76175" lIns="25200" rIns="91425" tIns="76175">
            <a:noAutofit/>
          </a:bodyPr>
          <a:lstStyle/>
          <a:p>
            <a:pPr indent="-342900" lvl="0" marL="34290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LM</a:t>
            </a:r>
          </a:p>
        </p:txBody>
      </p:sp>
      <p:sp>
        <p:nvSpPr>
          <p:cNvPr id="170" name="Shape 170"/>
          <p:cNvSpPr/>
          <p:nvPr/>
        </p:nvSpPr>
        <p:spPr>
          <a:xfrm>
            <a:off x="6954836" y="1965325"/>
            <a:ext cx="1595436" cy="1417636"/>
          </a:xfrm>
          <a:custGeom>
            <a:pathLst>
              <a:path extrusionOk="0" h="120000" w="120000">
                <a:moveTo>
                  <a:pt x="0" y="120000"/>
                </a:moveTo>
                <a:cubicBezTo>
                  <a:pt x="8119" y="115296"/>
                  <a:pt x="35582" y="101052"/>
                  <a:pt x="48835" y="91646"/>
                </a:cubicBezTo>
                <a:cubicBezTo>
                  <a:pt x="62089" y="82239"/>
                  <a:pt x="70925" y="72967"/>
                  <a:pt x="79880" y="63292"/>
                </a:cubicBezTo>
                <a:cubicBezTo>
                  <a:pt x="88835" y="53617"/>
                  <a:pt x="96119" y="44076"/>
                  <a:pt x="102805" y="33594"/>
                </a:cubicBezTo>
                <a:cubicBezTo>
                  <a:pt x="109492" y="23113"/>
                  <a:pt x="116417" y="6987"/>
                  <a:pt x="120000" y="0"/>
                </a:cubicBezTo>
              </a:path>
            </a:pathLst>
          </a:custGeom>
          <a:noFill/>
          <a:ln cap="flat" cmpd="sng" w="28575">
            <a:solidFill>
              <a:schemeClr val="dk1"/>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71" name="Shape 171"/>
          <p:cNvSpPr/>
          <p:nvPr/>
        </p:nvSpPr>
        <p:spPr>
          <a:xfrm>
            <a:off x="7040561" y="2193925"/>
            <a:ext cx="1616074" cy="1311275"/>
          </a:xfrm>
          <a:custGeom>
            <a:pathLst>
              <a:path extrusionOk="0" h="120000" w="120000">
                <a:moveTo>
                  <a:pt x="0" y="0"/>
                </a:moveTo>
                <a:cubicBezTo>
                  <a:pt x="2711" y="6101"/>
                  <a:pt x="8605" y="23244"/>
                  <a:pt x="15913" y="36319"/>
                </a:cubicBezTo>
                <a:cubicBezTo>
                  <a:pt x="23222" y="49394"/>
                  <a:pt x="34184" y="66537"/>
                  <a:pt x="44204" y="78159"/>
                </a:cubicBezTo>
                <a:cubicBezTo>
                  <a:pt x="54223" y="89782"/>
                  <a:pt x="63182" y="99079"/>
                  <a:pt x="75795" y="106053"/>
                </a:cubicBezTo>
                <a:cubicBezTo>
                  <a:pt x="88408" y="113026"/>
                  <a:pt x="110805" y="117094"/>
                  <a:pt x="120000" y="120000"/>
                </a:cubicBezTo>
              </a:path>
            </a:pathLst>
          </a:custGeom>
          <a:noFill/>
          <a:ln cap="flat" cmpd="sng" w="28575">
            <a:solidFill>
              <a:srgbClr val="000080"/>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72" name="Shape 172"/>
          <p:cNvSpPr txBox="1"/>
          <p:nvPr/>
        </p:nvSpPr>
        <p:spPr>
          <a:xfrm>
            <a:off x="8229600" y="2454275"/>
            <a:ext cx="457200" cy="365125"/>
          </a:xfrm>
          <a:prstGeom prst="rect">
            <a:avLst/>
          </a:prstGeom>
          <a:noFill/>
          <a:ln>
            <a:noFill/>
          </a:ln>
        </p:spPr>
        <p:txBody>
          <a:bodyPr anchorCtr="0" anchor="ctr" bIns="76175" lIns="25200" rIns="91425" tIns="76175">
            <a:noAutofit/>
          </a:bodyPr>
          <a:lstStyle/>
          <a:p>
            <a:pPr indent="-342900" lvl="0" marL="34290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LM´</a:t>
            </a:r>
          </a:p>
        </p:txBody>
      </p:sp>
      <p:cxnSp>
        <p:nvCxnSpPr>
          <p:cNvPr id="173" name="Shape 173"/>
          <p:cNvCxnSpPr/>
          <p:nvPr/>
        </p:nvCxnSpPr>
        <p:spPr>
          <a:xfrm rot="10800000">
            <a:off x="4114800" y="3276600"/>
            <a:ext cx="3809999" cy="0"/>
          </a:xfrm>
          <a:prstGeom prst="straightConnector1">
            <a:avLst/>
          </a:prstGeom>
          <a:noFill/>
          <a:ln cap="flat" cmpd="sng" w="12700">
            <a:solidFill>
              <a:schemeClr val="dk1"/>
            </a:solidFill>
            <a:prstDash val="solid"/>
            <a:miter/>
            <a:headEnd len="med" w="med" type="none"/>
            <a:tailEnd len="med" w="med" type="none"/>
          </a:ln>
        </p:spPr>
      </p:cxnSp>
      <p:sp>
        <p:nvSpPr>
          <p:cNvPr id="174" name="Shape 174"/>
          <p:cNvSpPr/>
          <p:nvPr/>
        </p:nvSpPr>
        <p:spPr>
          <a:xfrm>
            <a:off x="7239000" y="2239961"/>
            <a:ext cx="1595436" cy="1417636"/>
          </a:xfrm>
          <a:custGeom>
            <a:pathLst>
              <a:path extrusionOk="0" h="120000" w="120000">
                <a:moveTo>
                  <a:pt x="0" y="120000"/>
                </a:moveTo>
                <a:cubicBezTo>
                  <a:pt x="8119" y="115296"/>
                  <a:pt x="35582" y="101052"/>
                  <a:pt x="48835" y="91646"/>
                </a:cubicBezTo>
                <a:cubicBezTo>
                  <a:pt x="62089" y="82239"/>
                  <a:pt x="70925" y="72967"/>
                  <a:pt x="79880" y="63292"/>
                </a:cubicBezTo>
                <a:cubicBezTo>
                  <a:pt x="88835" y="53617"/>
                  <a:pt x="96119" y="44076"/>
                  <a:pt x="102805" y="33594"/>
                </a:cubicBezTo>
                <a:cubicBezTo>
                  <a:pt x="109492" y="23113"/>
                  <a:pt x="116417" y="6987"/>
                  <a:pt x="120000" y="0"/>
                </a:cubicBezTo>
              </a:path>
            </a:pathLst>
          </a:custGeom>
          <a:noFill/>
          <a:ln cap="flat" cmpd="sng" w="28575">
            <a:solidFill>
              <a:schemeClr val="dk1"/>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75" name="Shape 175"/>
          <p:cNvSpPr txBox="1"/>
          <p:nvPr/>
        </p:nvSpPr>
        <p:spPr>
          <a:xfrm>
            <a:off x="7162800" y="2057400"/>
            <a:ext cx="457200" cy="365125"/>
          </a:xfrm>
          <a:prstGeom prst="rect">
            <a:avLst/>
          </a:prstGeom>
          <a:noFill/>
          <a:ln>
            <a:noFill/>
          </a:ln>
        </p:spPr>
        <p:txBody>
          <a:bodyPr anchorCtr="0" anchor="ctr" bIns="76175" lIns="25200" rIns="91425" tIns="76175">
            <a:noAutofit/>
          </a:bodyPr>
          <a:lstStyle/>
          <a:p>
            <a:pPr indent="-342900" lvl="0" marL="34290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IS</a:t>
            </a:r>
          </a:p>
        </p:txBody>
      </p:sp>
      <p:cxnSp>
        <p:nvCxnSpPr>
          <p:cNvPr id="176" name="Shape 176"/>
          <p:cNvCxnSpPr/>
          <p:nvPr/>
        </p:nvCxnSpPr>
        <p:spPr>
          <a:xfrm rot="10800000">
            <a:off x="7620000" y="3047999"/>
            <a:ext cx="0" cy="762000"/>
          </a:xfrm>
          <a:prstGeom prst="straightConnector1">
            <a:avLst/>
          </a:prstGeom>
          <a:noFill/>
          <a:ln cap="flat" cmpd="sng" w="15875">
            <a:solidFill>
              <a:srgbClr val="FF0066"/>
            </a:solidFill>
            <a:prstDash val="solid"/>
            <a:miter/>
            <a:headEnd len="med" w="med" type="none"/>
            <a:tailEnd len="med" w="med" type="none"/>
          </a:ln>
        </p:spPr>
      </p:cxnSp>
      <p:cxnSp>
        <p:nvCxnSpPr>
          <p:cNvPr id="177" name="Shape 177"/>
          <p:cNvCxnSpPr/>
          <p:nvPr/>
        </p:nvCxnSpPr>
        <p:spPr>
          <a:xfrm rot="10800000">
            <a:off x="7924800" y="3276600"/>
            <a:ext cx="0" cy="533399"/>
          </a:xfrm>
          <a:prstGeom prst="straightConnector1">
            <a:avLst/>
          </a:prstGeom>
          <a:noFill/>
          <a:ln cap="flat" cmpd="sng" w="15875">
            <a:solidFill>
              <a:srgbClr val="FF0066"/>
            </a:solidFill>
            <a:prstDash val="solid"/>
            <a:miter/>
            <a:headEnd len="med" w="med" type="none"/>
            <a:tailEnd len="med" w="med" type="none"/>
          </a:ln>
        </p:spPr>
      </p:cxnSp>
      <p:sp>
        <p:nvSpPr>
          <p:cNvPr id="178" name="Shape 178"/>
          <p:cNvSpPr txBox="1"/>
          <p:nvPr/>
        </p:nvSpPr>
        <p:spPr>
          <a:xfrm>
            <a:off x="8691561" y="3817937"/>
            <a:ext cx="300036" cy="365125"/>
          </a:xfrm>
          <a:prstGeom prst="rect">
            <a:avLst/>
          </a:prstGeom>
          <a:noFill/>
          <a:ln>
            <a:noFill/>
          </a:ln>
        </p:spPr>
        <p:txBody>
          <a:bodyPr anchorCtr="0" anchor="ctr" bIns="76175" lIns="25200" rIns="91425" tIns="76175">
            <a:noAutofit/>
          </a:bodyPr>
          <a:lstStyle/>
          <a:p>
            <a:pPr indent="-342900" lvl="0" marL="34290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Y</a:t>
            </a:r>
          </a:p>
        </p:txBody>
      </p:sp>
      <p:sp>
        <p:nvSpPr>
          <p:cNvPr id="179" name="Shape 179"/>
          <p:cNvSpPr txBox="1"/>
          <p:nvPr/>
        </p:nvSpPr>
        <p:spPr>
          <a:xfrm>
            <a:off x="7543800" y="3749675"/>
            <a:ext cx="762000" cy="365125"/>
          </a:xfrm>
          <a:prstGeom prst="rect">
            <a:avLst/>
          </a:prstGeom>
          <a:noFill/>
          <a:ln>
            <a:noFill/>
          </a:ln>
        </p:spPr>
        <p:txBody>
          <a:bodyPr anchorCtr="0" anchor="ctr" bIns="76175" lIns="25200" rIns="91425" tIns="76175">
            <a:noAutofit/>
          </a:bodyPr>
          <a:lstStyle/>
          <a:p>
            <a:pPr indent="-342900" lvl="0" marL="342900" marR="0" rtl="0" algn="l">
              <a:lnSpc>
                <a:spcPct val="100000"/>
              </a:lnSpc>
              <a:spcBef>
                <a:spcPts val="0"/>
              </a:spcBef>
              <a:spcAft>
                <a:spcPts val="0"/>
              </a:spcAft>
              <a:buClr>
                <a:srgbClr val="FF0000"/>
              </a:buClr>
              <a:buSzPct val="25000"/>
              <a:buFont typeface="Arial"/>
              <a:buNone/>
            </a:pPr>
            <a:r>
              <a:rPr b="1" i="0" lang="en-US" sz="1400" u="none">
                <a:solidFill>
                  <a:srgbClr val="FF0000"/>
                </a:solidFill>
                <a:latin typeface="Arial"/>
                <a:ea typeface="Arial"/>
                <a:cs typeface="Arial"/>
                <a:sym typeface="Arial"/>
              </a:rPr>
              <a:t>Y    Y´</a:t>
            </a:r>
          </a:p>
        </p:txBody>
      </p:sp>
      <p:sp>
        <p:nvSpPr>
          <p:cNvPr id="180" name="Shape 180"/>
          <p:cNvSpPr/>
          <p:nvPr/>
        </p:nvSpPr>
        <p:spPr>
          <a:xfrm>
            <a:off x="7620000" y="3324225"/>
            <a:ext cx="304799" cy="485775"/>
          </a:xfrm>
          <a:prstGeom prst="stripedRightArrow">
            <a:avLst>
              <a:gd fmla="val 50000" name="adj1"/>
              <a:gd fmla="val 50000" name="adj2"/>
            </a:avLst>
          </a:prstGeom>
          <a:solidFill>
            <a:srgbClr val="FFFF00"/>
          </a:solidFill>
          <a:ln cap="flat" cmpd="sng" w="15875">
            <a:solidFill>
              <a:schemeClr val="dk1"/>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81" name="Shape 181"/>
          <p:cNvSpPr txBox="1"/>
          <p:nvPr/>
        </p:nvSpPr>
        <p:spPr>
          <a:xfrm>
            <a:off x="263525" y="4876800"/>
            <a:ext cx="8570911" cy="1676399"/>
          </a:xfrm>
          <a:prstGeom prst="rect">
            <a:avLst/>
          </a:prstGeom>
          <a:solidFill>
            <a:srgbClr val="FFFF00">
              <a:alpha val="60784"/>
            </a:srgbClr>
          </a:solidFill>
          <a:ln>
            <a:noFill/>
          </a:ln>
        </p:spPr>
        <p:txBody>
          <a:bodyPr anchorCtr="0" anchor="ctr" bIns="76175" lIns="25200" rIns="91425" tIns="76175">
            <a:noAutofit/>
          </a:bodyPr>
          <a:lstStyle/>
          <a:p>
            <a:pPr indent="0" lvl="0" marL="0" marR="0" rtl="0" algn="l">
              <a:lnSpc>
                <a:spcPct val="100000"/>
              </a:lnSpc>
              <a:spcBef>
                <a:spcPts val="0"/>
              </a:spcBef>
              <a:spcAft>
                <a:spcPts val="0"/>
              </a:spcAft>
              <a:buClr>
                <a:schemeClr val="dk1"/>
              </a:buClr>
              <a:buSzPct val="25000"/>
              <a:buFont typeface="Arial"/>
              <a:buNone/>
            </a:pPr>
            <a:r>
              <a:rPr b="1" i="1" lang="en-US" sz="2000" u="none">
                <a:solidFill>
                  <a:schemeClr val="dk1"/>
                </a:solidFill>
                <a:latin typeface="Arial"/>
                <a:ea typeface="Arial"/>
                <a:cs typeface="Arial"/>
                <a:sym typeface="Arial"/>
              </a:rPr>
              <a:t>El banco central utiliza este tipo de políticas de incentivos para aumentar la demanda agregada y en consecuencia considera que los productores aumentarán la producción para atender ese aumento.</a:t>
            </a:r>
          </a:p>
          <a:p>
            <a:pPr indent="0" lvl="0" marL="0" marR="0" rtl="0" algn="l">
              <a:lnSpc>
                <a:spcPct val="100000"/>
              </a:lnSpc>
              <a:spcBef>
                <a:spcPts val="0"/>
              </a:spcBef>
              <a:spcAft>
                <a:spcPts val="0"/>
              </a:spcAft>
              <a:buClr>
                <a:schemeClr val="dk1"/>
              </a:buClr>
              <a:buSzPct val="25000"/>
              <a:buFont typeface="Arial"/>
              <a:buNone/>
            </a:pPr>
            <a:r>
              <a:rPr b="1" i="1" lang="en-US" sz="2000" u="none">
                <a:solidFill>
                  <a:schemeClr val="dk1"/>
                </a:solidFill>
                <a:latin typeface="Arial"/>
                <a:ea typeface="Arial"/>
                <a:cs typeface="Arial"/>
                <a:sym typeface="Arial"/>
              </a:rPr>
              <a:t>En la medida que la economía no se encuentre en un proceso inflacionario estas políticas resultan efectivas.</a:t>
            </a:r>
          </a:p>
        </p:txBody>
      </p:sp>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85" name="Shape 185"/>
        <p:cNvGrpSpPr/>
        <p:nvPr/>
      </p:nvGrpSpPr>
      <p:grpSpPr>
        <a:xfrm>
          <a:off x="0" y="0"/>
          <a:ext cx="0" cy="0"/>
          <a:chOff x="0" y="0"/>
          <a:chExt cx="0" cy="0"/>
        </a:xfrm>
      </p:grpSpPr>
      <p:pic>
        <p:nvPicPr>
          <p:cNvPr id="186" name="Shape 186"/>
          <p:cNvPicPr preferRelativeResize="0"/>
          <p:nvPr/>
        </p:nvPicPr>
        <p:blipFill rotWithShape="1">
          <a:blip r:embed="rId3">
            <a:alphaModFix/>
          </a:blip>
          <a:srcRect b="0" l="0" r="0" t="0"/>
          <a:stretch/>
        </p:blipFill>
        <p:spPr>
          <a:xfrm>
            <a:off x="228600" y="1423987"/>
            <a:ext cx="8645524" cy="5129211"/>
          </a:xfrm>
          <a:prstGeom prst="rect">
            <a:avLst/>
          </a:prstGeom>
          <a:noFill/>
          <a:ln>
            <a:noFill/>
          </a:ln>
        </p:spPr>
      </p:pic>
      <p:sp>
        <p:nvSpPr>
          <p:cNvPr id="187" name="Shape 187"/>
          <p:cNvSpPr txBox="1"/>
          <p:nvPr/>
        </p:nvSpPr>
        <p:spPr>
          <a:xfrm>
            <a:off x="381000" y="2362200"/>
            <a:ext cx="3352799" cy="1281111"/>
          </a:xfrm>
          <a:prstGeom prst="rect">
            <a:avLst/>
          </a:prstGeom>
          <a:noFill/>
          <a:ln>
            <a:noFill/>
          </a:ln>
        </p:spPr>
        <p:txBody>
          <a:bodyPr anchorCtr="0" anchor="ctr" bIns="76175" lIns="25200" rIns="91425" tIns="76175">
            <a:noAutofit/>
          </a:bodyPr>
          <a:lstStyle/>
          <a:p>
            <a:pPr indent="0" lvl="0" marL="0" marR="0" rtl="0" algn="l">
              <a:lnSpc>
                <a:spcPct val="100000"/>
              </a:lnSpc>
              <a:spcBef>
                <a:spcPts val="0"/>
              </a:spcBef>
              <a:spcAft>
                <a:spcPts val="0"/>
              </a:spcAft>
              <a:buClr>
                <a:schemeClr val="dk1"/>
              </a:buClr>
              <a:buSzPct val="25000"/>
              <a:buFont typeface="Arial"/>
              <a:buNone/>
            </a:pPr>
            <a:r>
              <a:rPr b="1" i="1" lang="en-US" sz="2000" u="none">
                <a:solidFill>
                  <a:schemeClr val="dk1"/>
                </a:solidFill>
                <a:latin typeface="Arial"/>
                <a:ea typeface="Arial"/>
                <a:cs typeface="Arial"/>
                <a:sym typeface="Arial"/>
              </a:rPr>
              <a:t>POLÍTICAS MONETARIAS</a:t>
            </a:r>
          </a:p>
          <a:p>
            <a:pPr indent="0" lvl="0" marL="0" marR="0" rtl="0" algn="l">
              <a:lnSpc>
                <a:spcPct val="100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CONTRACTIVAS:</a:t>
            </a:r>
          </a:p>
          <a:p>
            <a:pPr indent="0" lvl="0" marL="0" marR="0" rtl="0" algn="l">
              <a:lnSpc>
                <a:spcPct val="100000"/>
              </a:lnSpc>
              <a:spcBef>
                <a:spcPts val="0"/>
              </a:spcBef>
              <a:spcAft>
                <a:spcPts val="0"/>
              </a:spcAft>
              <a:buClr>
                <a:srgbClr val="008000"/>
              </a:buClr>
              <a:buSzPct val="25000"/>
              <a:buFont typeface="Arial"/>
              <a:buNone/>
            </a:pPr>
            <a:r>
              <a:rPr b="1" i="1" lang="en-US" sz="1800" u="none">
                <a:solidFill>
                  <a:srgbClr val="008000"/>
                </a:solidFill>
                <a:latin typeface="Arial"/>
                <a:ea typeface="Arial"/>
                <a:cs typeface="Arial"/>
                <a:sym typeface="Arial"/>
              </a:rPr>
              <a:t>REDUCEN LA OFERTA</a:t>
            </a:r>
          </a:p>
          <a:p>
            <a:pPr indent="0" lvl="0" marL="0" marR="0" rtl="0" algn="l">
              <a:lnSpc>
                <a:spcPct val="100000"/>
              </a:lnSpc>
              <a:spcBef>
                <a:spcPts val="0"/>
              </a:spcBef>
              <a:spcAft>
                <a:spcPts val="0"/>
              </a:spcAft>
              <a:buClr>
                <a:srgbClr val="008000"/>
              </a:buClr>
              <a:buSzPct val="25000"/>
              <a:buFont typeface="Arial"/>
              <a:buNone/>
            </a:pPr>
            <a:r>
              <a:rPr b="1" i="1" lang="en-US" sz="1800" u="none">
                <a:solidFill>
                  <a:srgbClr val="008000"/>
                </a:solidFill>
                <a:latin typeface="Arial"/>
                <a:ea typeface="Arial"/>
                <a:cs typeface="Arial"/>
                <a:sym typeface="Arial"/>
              </a:rPr>
              <a:t>MONETARIA REAL </a:t>
            </a:r>
          </a:p>
        </p:txBody>
      </p:sp>
      <p:pic>
        <p:nvPicPr>
          <p:cNvPr id="188" name="Shape 188"/>
          <p:cNvPicPr preferRelativeResize="0"/>
          <p:nvPr/>
        </p:nvPicPr>
        <p:blipFill rotWithShape="1">
          <a:blip r:embed="rId4">
            <a:alphaModFix/>
          </a:blip>
          <a:srcRect b="0" l="0" r="0" t="0"/>
          <a:stretch/>
        </p:blipFill>
        <p:spPr>
          <a:xfrm>
            <a:off x="263525" y="1085850"/>
            <a:ext cx="8610599" cy="209549"/>
          </a:xfrm>
          <a:prstGeom prst="rect">
            <a:avLst/>
          </a:prstGeom>
          <a:noFill/>
          <a:ln>
            <a:noFill/>
          </a:ln>
        </p:spPr>
      </p:pic>
      <p:pic>
        <p:nvPicPr>
          <p:cNvPr id="189" name="Shape 189"/>
          <p:cNvPicPr preferRelativeResize="0"/>
          <p:nvPr/>
        </p:nvPicPr>
        <p:blipFill rotWithShape="1">
          <a:blip r:embed="rId5">
            <a:alphaModFix/>
          </a:blip>
          <a:srcRect b="0" l="0" r="0" t="0"/>
          <a:stretch/>
        </p:blipFill>
        <p:spPr>
          <a:xfrm>
            <a:off x="255587" y="306387"/>
            <a:ext cx="3013074" cy="608011"/>
          </a:xfrm>
          <a:prstGeom prst="rect">
            <a:avLst/>
          </a:prstGeom>
          <a:noFill/>
          <a:ln>
            <a:noFill/>
          </a:ln>
        </p:spPr>
      </p:pic>
      <p:sp>
        <p:nvSpPr>
          <p:cNvPr id="190" name="Shape 190"/>
          <p:cNvSpPr txBox="1"/>
          <p:nvPr/>
        </p:nvSpPr>
        <p:spPr>
          <a:xfrm>
            <a:off x="4114800" y="304800"/>
            <a:ext cx="4114800"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a:solidFill>
                  <a:srgbClr val="BB4F59"/>
                </a:solidFill>
                <a:latin typeface="Arial"/>
                <a:ea typeface="Arial"/>
                <a:cs typeface="Arial"/>
                <a:sym typeface="Arial"/>
              </a:rPr>
              <a:t>POLÍTICAS MONETARIAS CONTRACTIVAS</a:t>
            </a:r>
          </a:p>
        </p:txBody>
      </p:sp>
      <p:cxnSp>
        <p:nvCxnSpPr>
          <p:cNvPr id="191" name="Shape 191"/>
          <p:cNvCxnSpPr/>
          <p:nvPr/>
        </p:nvCxnSpPr>
        <p:spPr>
          <a:xfrm rot="10800000">
            <a:off x="3268661" y="1981199"/>
            <a:ext cx="0" cy="1828800"/>
          </a:xfrm>
          <a:prstGeom prst="straightConnector1">
            <a:avLst/>
          </a:prstGeom>
          <a:noFill/>
          <a:ln>
            <a:noFill/>
          </a:ln>
        </p:spPr>
      </p:cxnSp>
      <p:cxnSp>
        <p:nvCxnSpPr>
          <p:cNvPr id="192" name="Shape 192"/>
          <p:cNvCxnSpPr/>
          <p:nvPr/>
        </p:nvCxnSpPr>
        <p:spPr>
          <a:xfrm rot="10800000">
            <a:off x="4114800" y="1981199"/>
            <a:ext cx="0" cy="1828800"/>
          </a:xfrm>
          <a:prstGeom prst="straightConnector1">
            <a:avLst/>
          </a:prstGeom>
          <a:noFill/>
          <a:ln cap="flat" cmpd="sng" w="12700">
            <a:solidFill>
              <a:schemeClr val="dk1"/>
            </a:solidFill>
            <a:prstDash val="solid"/>
            <a:miter/>
            <a:headEnd len="med" w="med" type="none"/>
            <a:tailEnd len="lg" w="lg" type="triangle"/>
          </a:ln>
        </p:spPr>
      </p:cxnSp>
      <p:cxnSp>
        <p:nvCxnSpPr>
          <p:cNvPr id="193" name="Shape 193"/>
          <p:cNvCxnSpPr/>
          <p:nvPr/>
        </p:nvCxnSpPr>
        <p:spPr>
          <a:xfrm>
            <a:off x="4114800" y="3817937"/>
            <a:ext cx="4759324" cy="0"/>
          </a:xfrm>
          <a:prstGeom prst="straightConnector1">
            <a:avLst/>
          </a:prstGeom>
          <a:noFill/>
          <a:ln cap="flat" cmpd="sng" w="19050">
            <a:solidFill>
              <a:schemeClr val="dk1"/>
            </a:solidFill>
            <a:prstDash val="solid"/>
            <a:miter/>
            <a:headEnd len="med" w="med" type="none"/>
            <a:tailEnd len="lg" w="lg" type="triangle"/>
          </a:ln>
        </p:spPr>
      </p:cxnSp>
      <p:cxnSp>
        <p:nvCxnSpPr>
          <p:cNvPr id="194" name="Shape 194"/>
          <p:cNvCxnSpPr/>
          <p:nvPr/>
        </p:nvCxnSpPr>
        <p:spPr>
          <a:xfrm rot="10800000">
            <a:off x="4953000" y="1981199"/>
            <a:ext cx="0" cy="1828800"/>
          </a:xfrm>
          <a:prstGeom prst="straightConnector1">
            <a:avLst/>
          </a:prstGeom>
          <a:noFill/>
          <a:ln cap="flat" cmpd="sng" w="15875">
            <a:solidFill>
              <a:srgbClr val="FF0000"/>
            </a:solidFill>
            <a:prstDash val="solid"/>
            <a:miter/>
            <a:headEnd len="med" w="med" type="none"/>
            <a:tailEnd len="med" w="med" type="none"/>
          </a:ln>
        </p:spPr>
      </p:cxnSp>
      <p:cxnSp>
        <p:nvCxnSpPr>
          <p:cNvPr id="195" name="Shape 195"/>
          <p:cNvCxnSpPr/>
          <p:nvPr/>
        </p:nvCxnSpPr>
        <p:spPr>
          <a:xfrm rot="10800000">
            <a:off x="5410200" y="1981199"/>
            <a:ext cx="0" cy="1828800"/>
          </a:xfrm>
          <a:prstGeom prst="straightConnector1">
            <a:avLst/>
          </a:prstGeom>
          <a:noFill/>
          <a:ln cap="flat" cmpd="sng" w="15875">
            <a:solidFill>
              <a:srgbClr val="FF0066"/>
            </a:solidFill>
            <a:prstDash val="solid"/>
            <a:miter/>
            <a:headEnd len="med" w="med" type="none"/>
            <a:tailEnd len="med" w="med" type="none"/>
          </a:ln>
        </p:spPr>
      </p:cxnSp>
      <p:sp>
        <p:nvSpPr>
          <p:cNvPr id="196" name="Shape 196"/>
          <p:cNvSpPr/>
          <p:nvPr/>
        </p:nvSpPr>
        <p:spPr>
          <a:xfrm>
            <a:off x="4373562" y="2133600"/>
            <a:ext cx="1554162" cy="1219199"/>
          </a:xfrm>
          <a:custGeom>
            <a:pathLst>
              <a:path extrusionOk="0" h="120000" w="120000">
                <a:moveTo>
                  <a:pt x="0" y="0"/>
                </a:moveTo>
                <a:cubicBezTo>
                  <a:pt x="2328" y="7812"/>
                  <a:pt x="6618" y="31562"/>
                  <a:pt x="14096" y="46562"/>
                </a:cubicBezTo>
                <a:cubicBezTo>
                  <a:pt x="21573" y="61562"/>
                  <a:pt x="34565" y="79218"/>
                  <a:pt x="44739" y="90000"/>
                </a:cubicBezTo>
                <a:cubicBezTo>
                  <a:pt x="54913" y="100781"/>
                  <a:pt x="62880" y="105937"/>
                  <a:pt x="75383" y="110937"/>
                </a:cubicBezTo>
                <a:cubicBezTo>
                  <a:pt x="87885" y="115937"/>
                  <a:pt x="110684" y="118125"/>
                  <a:pt x="120000" y="120000"/>
                </a:cubicBezTo>
              </a:path>
            </a:pathLst>
          </a:custGeom>
          <a:noFill/>
          <a:ln cap="flat" cmpd="sng" w="28575">
            <a:solidFill>
              <a:srgbClr val="000080"/>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97" name="Shape 197"/>
          <p:cNvSpPr/>
          <p:nvPr/>
        </p:nvSpPr>
        <p:spPr>
          <a:xfrm rot="10800000">
            <a:off x="4952999" y="2514599"/>
            <a:ext cx="457200" cy="485775"/>
          </a:xfrm>
          <a:prstGeom prst="stripedRightArrow">
            <a:avLst>
              <a:gd fmla="val 50000" name="adj1"/>
              <a:gd fmla="val 50000" name="adj2"/>
            </a:avLst>
          </a:prstGeom>
          <a:solidFill>
            <a:srgbClr val="FFFF00"/>
          </a:solidFill>
          <a:ln cap="flat" cmpd="sng" w="15875">
            <a:solidFill>
              <a:schemeClr val="dk1"/>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98" name="Shape 198"/>
          <p:cNvSpPr txBox="1"/>
          <p:nvPr/>
        </p:nvSpPr>
        <p:spPr>
          <a:xfrm>
            <a:off x="228600" y="1371600"/>
            <a:ext cx="8763000" cy="396874"/>
          </a:xfrm>
          <a:prstGeom prst="rect">
            <a:avLst/>
          </a:prstGeom>
          <a:solidFill>
            <a:srgbClr val="FF99CC">
              <a:alpha val="70980"/>
            </a:srgbClr>
          </a:solidFill>
          <a:ln>
            <a:noFill/>
          </a:ln>
        </p:spPr>
        <p:txBody>
          <a:bodyPr anchorCtr="0" anchor="ctr" bIns="76175" lIns="25200" rIns="91425" tIns="76175">
            <a:noAutofit/>
          </a:bodyPr>
          <a:lstStyle/>
          <a:p>
            <a:pPr indent="-342900" lvl="0" marL="342900" marR="0" rtl="0" algn="l">
              <a:lnSpc>
                <a:spcPct val="100000"/>
              </a:lnSpc>
              <a:spcBef>
                <a:spcPts val="0"/>
              </a:spcBef>
              <a:spcAft>
                <a:spcPts val="0"/>
              </a:spcAft>
              <a:buClr>
                <a:schemeClr val="dk1"/>
              </a:buClr>
              <a:buSzPct val="25000"/>
              <a:buFont typeface="Arial"/>
              <a:buNone/>
            </a:pPr>
            <a:r>
              <a:rPr b="1" i="1" lang="en-US" sz="1600" u="none">
                <a:solidFill>
                  <a:schemeClr val="dk1"/>
                </a:solidFill>
                <a:latin typeface="Arial"/>
                <a:ea typeface="Arial"/>
                <a:cs typeface="Arial"/>
                <a:sym typeface="Arial"/>
              </a:rPr>
              <a:t>OFERTA MONETARIA REAL (Ms) = OFERTA MONETARIA NOMINAL / NIVEL DE PRECIOS</a:t>
            </a:r>
          </a:p>
        </p:txBody>
      </p:sp>
      <p:sp>
        <p:nvSpPr>
          <p:cNvPr id="199" name="Shape 199"/>
          <p:cNvSpPr txBox="1"/>
          <p:nvPr/>
        </p:nvSpPr>
        <p:spPr>
          <a:xfrm>
            <a:off x="3657600" y="1935161"/>
            <a:ext cx="381000" cy="427037"/>
          </a:xfrm>
          <a:prstGeom prst="rect">
            <a:avLst/>
          </a:prstGeom>
          <a:noFill/>
          <a:ln>
            <a:noFill/>
          </a:ln>
        </p:spPr>
        <p:txBody>
          <a:bodyPr anchorCtr="0" anchor="ctr" bIns="76175" lIns="241200" rIns="91425" tIns="76175">
            <a:noAutofit/>
          </a:bodyPr>
          <a:lstStyle/>
          <a:p>
            <a:pPr indent="-342900" lvl="0" marL="342900" marR="0" rtl="0" algn="l">
              <a:lnSpc>
                <a:spcPct val="100000"/>
              </a:lnSpc>
              <a:spcBef>
                <a:spcPts val="0"/>
              </a:spcBef>
              <a:spcAft>
                <a:spcPts val="0"/>
              </a:spcAft>
              <a:buClr>
                <a:schemeClr val="dk2"/>
              </a:buClr>
              <a:buSzPct val="25000"/>
              <a:buFont typeface="Arial"/>
              <a:buNone/>
            </a:pPr>
            <a:r>
              <a:rPr b="1" i="0" lang="en-US" sz="1800" u="none">
                <a:solidFill>
                  <a:schemeClr val="dk2"/>
                </a:solidFill>
                <a:latin typeface="Arial"/>
                <a:ea typeface="Arial"/>
                <a:cs typeface="Arial"/>
                <a:sym typeface="Arial"/>
              </a:rPr>
              <a:t>i</a:t>
            </a:r>
          </a:p>
        </p:txBody>
      </p:sp>
      <p:sp>
        <p:nvSpPr>
          <p:cNvPr id="200" name="Shape 200"/>
          <p:cNvSpPr txBox="1"/>
          <p:nvPr/>
        </p:nvSpPr>
        <p:spPr>
          <a:xfrm>
            <a:off x="5867400" y="3810000"/>
            <a:ext cx="974725" cy="365125"/>
          </a:xfrm>
          <a:prstGeom prst="rect">
            <a:avLst/>
          </a:prstGeom>
          <a:noFill/>
          <a:ln>
            <a:noFill/>
          </a:ln>
        </p:spPr>
        <p:txBody>
          <a:bodyPr anchorCtr="0" anchor="ctr" bIns="76175" lIns="241200" rIns="91425" tIns="76175">
            <a:noAutofit/>
          </a:bodyPr>
          <a:lstStyle/>
          <a:p>
            <a:pPr indent="-342900" lvl="0" marL="342900" marR="0" rtl="0" algn="l">
              <a:lnSpc>
                <a:spcPct val="100000"/>
              </a:lnSpc>
              <a:spcBef>
                <a:spcPts val="0"/>
              </a:spcBef>
              <a:spcAft>
                <a:spcPts val="0"/>
              </a:spcAft>
              <a:buClr>
                <a:srgbClr val="FF0066"/>
              </a:buClr>
              <a:buSzPct val="25000"/>
              <a:buFont typeface="Arial"/>
              <a:buNone/>
            </a:pPr>
            <a:r>
              <a:rPr b="0" i="0" lang="en-US" sz="1400" u="none">
                <a:solidFill>
                  <a:srgbClr val="FF0066"/>
                </a:solidFill>
                <a:latin typeface="Arial"/>
                <a:ea typeface="Arial"/>
                <a:cs typeface="Arial"/>
                <a:sym typeface="Arial"/>
              </a:rPr>
              <a:t>OM/NP</a:t>
            </a:r>
          </a:p>
        </p:txBody>
      </p:sp>
      <p:sp>
        <p:nvSpPr>
          <p:cNvPr id="201" name="Shape 201"/>
          <p:cNvSpPr txBox="1"/>
          <p:nvPr/>
        </p:nvSpPr>
        <p:spPr>
          <a:xfrm>
            <a:off x="4511675" y="3763962"/>
            <a:ext cx="1279525" cy="427037"/>
          </a:xfrm>
          <a:prstGeom prst="rect">
            <a:avLst/>
          </a:prstGeom>
          <a:noFill/>
          <a:ln>
            <a:noFill/>
          </a:ln>
        </p:spPr>
        <p:txBody>
          <a:bodyPr anchorCtr="0" anchor="ctr" bIns="76175" lIns="241200" rIns="91425" tIns="76175">
            <a:noAutofit/>
          </a:bodyPr>
          <a:lstStyle/>
          <a:p>
            <a:pPr indent="-342900" lvl="0" marL="342900" marR="0" rtl="0" algn="l">
              <a:lnSpc>
                <a:spcPct val="100000"/>
              </a:lnSpc>
              <a:spcBef>
                <a:spcPts val="0"/>
              </a:spcBef>
              <a:spcAft>
                <a:spcPts val="0"/>
              </a:spcAft>
              <a:buClr>
                <a:srgbClr val="FF0000"/>
              </a:buClr>
              <a:buSzPct val="25000"/>
              <a:buFont typeface="Arial"/>
              <a:buNone/>
            </a:pPr>
            <a:r>
              <a:rPr b="1" i="0" lang="en-US" sz="1800" u="none">
                <a:solidFill>
                  <a:srgbClr val="FF0000"/>
                </a:solidFill>
                <a:latin typeface="Arial"/>
                <a:ea typeface="Arial"/>
                <a:cs typeface="Arial"/>
                <a:sym typeface="Arial"/>
              </a:rPr>
              <a:t>M´s  Ms</a:t>
            </a:r>
          </a:p>
        </p:txBody>
      </p:sp>
      <p:cxnSp>
        <p:nvCxnSpPr>
          <p:cNvPr id="202" name="Shape 202"/>
          <p:cNvCxnSpPr/>
          <p:nvPr/>
        </p:nvCxnSpPr>
        <p:spPr>
          <a:xfrm rot="10800000">
            <a:off x="6858000" y="1981199"/>
            <a:ext cx="0" cy="1828800"/>
          </a:xfrm>
          <a:prstGeom prst="straightConnector1">
            <a:avLst/>
          </a:prstGeom>
          <a:noFill/>
          <a:ln cap="flat" cmpd="sng" w="12700">
            <a:solidFill>
              <a:schemeClr val="dk1"/>
            </a:solidFill>
            <a:prstDash val="solid"/>
            <a:miter/>
            <a:headEnd len="med" w="med" type="none"/>
            <a:tailEnd len="lg" w="lg" type="triangle"/>
          </a:ln>
        </p:spPr>
      </p:cxnSp>
      <p:sp>
        <p:nvSpPr>
          <p:cNvPr id="203" name="Shape 203"/>
          <p:cNvSpPr txBox="1"/>
          <p:nvPr/>
        </p:nvSpPr>
        <p:spPr>
          <a:xfrm>
            <a:off x="6400800" y="1905000"/>
            <a:ext cx="381000" cy="427037"/>
          </a:xfrm>
          <a:prstGeom prst="rect">
            <a:avLst/>
          </a:prstGeom>
          <a:noFill/>
          <a:ln>
            <a:noFill/>
          </a:ln>
        </p:spPr>
        <p:txBody>
          <a:bodyPr anchorCtr="0" anchor="ctr" bIns="76175" lIns="241200" rIns="91425" tIns="76175">
            <a:noAutofit/>
          </a:bodyPr>
          <a:lstStyle/>
          <a:p>
            <a:pPr indent="-342900" lvl="0" marL="342900" marR="0" rtl="0" algn="l">
              <a:lnSpc>
                <a:spcPct val="100000"/>
              </a:lnSpc>
              <a:spcBef>
                <a:spcPts val="0"/>
              </a:spcBef>
              <a:spcAft>
                <a:spcPts val="0"/>
              </a:spcAft>
              <a:buClr>
                <a:schemeClr val="dk2"/>
              </a:buClr>
              <a:buSzPct val="25000"/>
              <a:buFont typeface="Arial"/>
              <a:buNone/>
            </a:pPr>
            <a:r>
              <a:rPr b="1" i="0" lang="en-US" sz="1800" u="none">
                <a:solidFill>
                  <a:schemeClr val="dk2"/>
                </a:solidFill>
                <a:latin typeface="Arial"/>
                <a:ea typeface="Arial"/>
                <a:cs typeface="Arial"/>
                <a:sym typeface="Arial"/>
              </a:rPr>
              <a:t>i</a:t>
            </a:r>
          </a:p>
        </p:txBody>
      </p:sp>
      <p:sp>
        <p:nvSpPr>
          <p:cNvPr id="204" name="Shape 204"/>
          <p:cNvSpPr txBox="1"/>
          <p:nvPr/>
        </p:nvSpPr>
        <p:spPr>
          <a:xfrm>
            <a:off x="5486400" y="2984500"/>
            <a:ext cx="762000" cy="368299"/>
          </a:xfrm>
          <a:prstGeom prst="rect">
            <a:avLst/>
          </a:prstGeom>
          <a:noFill/>
          <a:ln>
            <a:noFill/>
          </a:ln>
        </p:spPr>
        <p:txBody>
          <a:bodyPr anchorCtr="0" anchor="ctr" bIns="76175" lIns="36000" rIns="36000" tIns="76175">
            <a:noAutofit/>
          </a:bodyPr>
          <a:lstStyle/>
          <a:p>
            <a:pPr indent="-342900" lvl="0" marL="342900" marR="0" rtl="0" algn="l">
              <a:lnSpc>
                <a:spcPct val="100000"/>
              </a:lnSpc>
              <a:spcBef>
                <a:spcPts val="0"/>
              </a:spcBef>
              <a:spcAft>
                <a:spcPts val="0"/>
              </a:spcAft>
              <a:buClr>
                <a:schemeClr val="dk2"/>
              </a:buClr>
              <a:buSzPct val="25000"/>
              <a:buFont typeface="Arial"/>
              <a:buNone/>
            </a:pPr>
            <a:r>
              <a:rPr b="1" i="0" lang="en-US" sz="1400" u="none">
                <a:solidFill>
                  <a:schemeClr val="dk2"/>
                </a:solidFill>
                <a:latin typeface="Arial"/>
                <a:ea typeface="Arial"/>
                <a:cs typeface="Arial"/>
                <a:sym typeface="Arial"/>
              </a:rPr>
              <a:t>Md(Y,i)</a:t>
            </a:r>
          </a:p>
        </p:txBody>
      </p:sp>
      <p:cxnSp>
        <p:nvCxnSpPr>
          <p:cNvPr id="205" name="Shape 205"/>
          <p:cNvCxnSpPr/>
          <p:nvPr/>
        </p:nvCxnSpPr>
        <p:spPr>
          <a:xfrm rot="10800000">
            <a:off x="4114799" y="3048000"/>
            <a:ext cx="3505200" cy="0"/>
          </a:xfrm>
          <a:prstGeom prst="straightConnector1">
            <a:avLst/>
          </a:prstGeom>
          <a:noFill/>
          <a:ln cap="flat" cmpd="sng" w="12700">
            <a:solidFill>
              <a:srgbClr val="FF0000"/>
            </a:solidFill>
            <a:prstDash val="solid"/>
            <a:miter/>
            <a:headEnd len="med" w="med" type="none"/>
            <a:tailEnd len="med" w="med" type="none"/>
          </a:ln>
        </p:spPr>
      </p:cxnSp>
      <p:sp>
        <p:nvSpPr>
          <p:cNvPr id="206" name="Shape 206"/>
          <p:cNvSpPr txBox="1"/>
          <p:nvPr/>
        </p:nvSpPr>
        <p:spPr>
          <a:xfrm>
            <a:off x="3733800" y="2803525"/>
            <a:ext cx="639762" cy="701674"/>
          </a:xfrm>
          <a:prstGeom prst="rect">
            <a:avLst/>
          </a:prstGeom>
          <a:noFill/>
          <a:ln>
            <a:noFill/>
          </a:ln>
        </p:spPr>
        <p:txBody>
          <a:bodyPr anchorCtr="0" anchor="ctr" bIns="76175" lIns="241200" rIns="91425" tIns="76175">
            <a:noAutofit/>
          </a:bodyPr>
          <a:lstStyle/>
          <a:p>
            <a:pPr indent="-342900" lvl="0" marL="342900" marR="0" rtl="0" algn="l">
              <a:lnSpc>
                <a:spcPct val="100000"/>
              </a:lnSpc>
              <a:spcBef>
                <a:spcPts val="0"/>
              </a:spcBef>
              <a:spcAft>
                <a:spcPts val="0"/>
              </a:spcAft>
              <a:buClr>
                <a:schemeClr val="dk2"/>
              </a:buClr>
              <a:buSzPct val="25000"/>
              <a:buFont typeface="Arial"/>
              <a:buNone/>
            </a:pPr>
            <a:r>
              <a:rPr b="1" i="0" lang="en-US" sz="1800" u="none">
                <a:solidFill>
                  <a:schemeClr val="dk2"/>
                </a:solidFill>
                <a:latin typeface="Arial"/>
                <a:ea typeface="Arial"/>
                <a:cs typeface="Arial"/>
                <a:sym typeface="Arial"/>
              </a:rPr>
              <a:t>i´</a:t>
            </a:r>
          </a:p>
          <a:p>
            <a:pPr indent="-342900" lvl="0" marL="342900" marR="0" rtl="0" algn="l">
              <a:lnSpc>
                <a:spcPct val="100000"/>
              </a:lnSpc>
              <a:spcBef>
                <a:spcPts val="0"/>
              </a:spcBef>
              <a:spcAft>
                <a:spcPts val="0"/>
              </a:spcAft>
              <a:buClr>
                <a:schemeClr val="dk2"/>
              </a:buClr>
              <a:buSzPct val="25000"/>
              <a:buFont typeface="Arial"/>
              <a:buNone/>
            </a:pPr>
            <a:r>
              <a:rPr b="1" i="0" lang="en-US" sz="1800" u="none">
                <a:solidFill>
                  <a:schemeClr val="dk2"/>
                </a:solidFill>
                <a:latin typeface="Arial"/>
                <a:ea typeface="Arial"/>
                <a:cs typeface="Arial"/>
                <a:sym typeface="Arial"/>
              </a:rPr>
              <a:t>i</a:t>
            </a:r>
          </a:p>
        </p:txBody>
      </p:sp>
      <p:sp>
        <p:nvSpPr>
          <p:cNvPr id="207" name="Shape 207"/>
          <p:cNvSpPr/>
          <p:nvPr/>
        </p:nvSpPr>
        <p:spPr>
          <a:xfrm rot="-5400000">
            <a:off x="4471192" y="2921793"/>
            <a:ext cx="223837" cy="479425"/>
          </a:xfrm>
          <a:prstGeom prst="stripedRightArrow">
            <a:avLst>
              <a:gd fmla="val 50000" name="adj1"/>
              <a:gd fmla="val 50000" name="adj2"/>
            </a:avLst>
          </a:prstGeom>
          <a:solidFill>
            <a:srgbClr val="FFFF00"/>
          </a:solidFill>
          <a:ln cap="flat" cmpd="sng" w="15875">
            <a:solidFill>
              <a:schemeClr val="dk1"/>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208" name="Shape 208"/>
          <p:cNvSpPr txBox="1"/>
          <p:nvPr/>
        </p:nvSpPr>
        <p:spPr>
          <a:xfrm>
            <a:off x="8458200" y="2133600"/>
            <a:ext cx="457200" cy="365125"/>
          </a:xfrm>
          <a:prstGeom prst="rect">
            <a:avLst/>
          </a:prstGeom>
          <a:noFill/>
          <a:ln>
            <a:noFill/>
          </a:ln>
        </p:spPr>
        <p:txBody>
          <a:bodyPr anchorCtr="0" anchor="ctr" bIns="76175" lIns="25200" rIns="91425" tIns="76175">
            <a:noAutofit/>
          </a:bodyPr>
          <a:lstStyle/>
          <a:p>
            <a:pPr indent="-342900" lvl="0" marL="34290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LM</a:t>
            </a:r>
          </a:p>
        </p:txBody>
      </p:sp>
      <p:sp>
        <p:nvSpPr>
          <p:cNvPr id="209" name="Shape 209"/>
          <p:cNvSpPr/>
          <p:nvPr/>
        </p:nvSpPr>
        <p:spPr>
          <a:xfrm>
            <a:off x="6954836" y="1965325"/>
            <a:ext cx="1595436" cy="1417636"/>
          </a:xfrm>
          <a:custGeom>
            <a:pathLst>
              <a:path extrusionOk="0" h="120000" w="120000">
                <a:moveTo>
                  <a:pt x="0" y="120000"/>
                </a:moveTo>
                <a:cubicBezTo>
                  <a:pt x="8119" y="115296"/>
                  <a:pt x="35582" y="101052"/>
                  <a:pt x="48835" y="91646"/>
                </a:cubicBezTo>
                <a:cubicBezTo>
                  <a:pt x="62089" y="82239"/>
                  <a:pt x="70925" y="72967"/>
                  <a:pt x="79880" y="63292"/>
                </a:cubicBezTo>
                <a:cubicBezTo>
                  <a:pt x="88835" y="53617"/>
                  <a:pt x="96119" y="44076"/>
                  <a:pt x="102805" y="33594"/>
                </a:cubicBezTo>
                <a:cubicBezTo>
                  <a:pt x="109492" y="23113"/>
                  <a:pt x="116417" y="6987"/>
                  <a:pt x="120000" y="0"/>
                </a:cubicBezTo>
              </a:path>
            </a:pathLst>
          </a:custGeom>
          <a:noFill/>
          <a:ln cap="flat" cmpd="sng" w="28575">
            <a:solidFill>
              <a:schemeClr val="dk1"/>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210" name="Shape 210"/>
          <p:cNvSpPr/>
          <p:nvPr/>
        </p:nvSpPr>
        <p:spPr>
          <a:xfrm>
            <a:off x="7040561" y="2193925"/>
            <a:ext cx="1616074" cy="1311275"/>
          </a:xfrm>
          <a:custGeom>
            <a:pathLst>
              <a:path extrusionOk="0" h="120000" w="120000">
                <a:moveTo>
                  <a:pt x="0" y="0"/>
                </a:moveTo>
                <a:cubicBezTo>
                  <a:pt x="2711" y="6101"/>
                  <a:pt x="8605" y="23244"/>
                  <a:pt x="15913" y="36319"/>
                </a:cubicBezTo>
                <a:cubicBezTo>
                  <a:pt x="23222" y="49394"/>
                  <a:pt x="34184" y="66537"/>
                  <a:pt x="44204" y="78159"/>
                </a:cubicBezTo>
                <a:cubicBezTo>
                  <a:pt x="54223" y="89782"/>
                  <a:pt x="63182" y="99079"/>
                  <a:pt x="75795" y="106053"/>
                </a:cubicBezTo>
                <a:cubicBezTo>
                  <a:pt x="88408" y="113026"/>
                  <a:pt x="110805" y="117094"/>
                  <a:pt x="120000" y="120000"/>
                </a:cubicBezTo>
              </a:path>
            </a:pathLst>
          </a:custGeom>
          <a:noFill/>
          <a:ln cap="flat" cmpd="sng" w="28575">
            <a:solidFill>
              <a:srgbClr val="000080"/>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211" name="Shape 211"/>
          <p:cNvSpPr txBox="1"/>
          <p:nvPr/>
        </p:nvSpPr>
        <p:spPr>
          <a:xfrm>
            <a:off x="7696200" y="2454275"/>
            <a:ext cx="457200" cy="365125"/>
          </a:xfrm>
          <a:prstGeom prst="rect">
            <a:avLst/>
          </a:prstGeom>
          <a:noFill/>
          <a:ln>
            <a:noFill/>
          </a:ln>
        </p:spPr>
        <p:txBody>
          <a:bodyPr anchorCtr="0" anchor="ctr" bIns="76175" lIns="25200" rIns="91425" tIns="76175">
            <a:noAutofit/>
          </a:bodyPr>
          <a:lstStyle/>
          <a:p>
            <a:pPr indent="-342900" lvl="0" marL="34290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LM´</a:t>
            </a:r>
          </a:p>
        </p:txBody>
      </p:sp>
      <p:cxnSp>
        <p:nvCxnSpPr>
          <p:cNvPr id="212" name="Shape 212"/>
          <p:cNvCxnSpPr/>
          <p:nvPr/>
        </p:nvCxnSpPr>
        <p:spPr>
          <a:xfrm rot="10800000">
            <a:off x="4114800" y="3276600"/>
            <a:ext cx="3809999" cy="0"/>
          </a:xfrm>
          <a:prstGeom prst="straightConnector1">
            <a:avLst/>
          </a:prstGeom>
          <a:noFill/>
          <a:ln cap="flat" cmpd="sng" w="12700">
            <a:solidFill>
              <a:srgbClr val="FF0000"/>
            </a:solidFill>
            <a:prstDash val="solid"/>
            <a:miter/>
            <a:headEnd len="med" w="med" type="none"/>
            <a:tailEnd len="med" w="med" type="none"/>
          </a:ln>
        </p:spPr>
      </p:cxnSp>
      <p:sp>
        <p:nvSpPr>
          <p:cNvPr id="213" name="Shape 213"/>
          <p:cNvSpPr/>
          <p:nvPr/>
        </p:nvSpPr>
        <p:spPr>
          <a:xfrm>
            <a:off x="7239000" y="2239961"/>
            <a:ext cx="1595436" cy="1417636"/>
          </a:xfrm>
          <a:custGeom>
            <a:pathLst>
              <a:path extrusionOk="0" h="120000" w="120000">
                <a:moveTo>
                  <a:pt x="0" y="120000"/>
                </a:moveTo>
                <a:cubicBezTo>
                  <a:pt x="8119" y="115296"/>
                  <a:pt x="35582" y="101052"/>
                  <a:pt x="48835" y="91646"/>
                </a:cubicBezTo>
                <a:cubicBezTo>
                  <a:pt x="62089" y="82239"/>
                  <a:pt x="70925" y="72967"/>
                  <a:pt x="79880" y="63292"/>
                </a:cubicBezTo>
                <a:cubicBezTo>
                  <a:pt x="88835" y="53617"/>
                  <a:pt x="96119" y="44076"/>
                  <a:pt x="102805" y="33594"/>
                </a:cubicBezTo>
                <a:cubicBezTo>
                  <a:pt x="109492" y="23113"/>
                  <a:pt x="116417" y="6987"/>
                  <a:pt x="120000" y="0"/>
                </a:cubicBezTo>
              </a:path>
            </a:pathLst>
          </a:custGeom>
          <a:noFill/>
          <a:ln cap="flat" cmpd="sng" w="28575">
            <a:solidFill>
              <a:schemeClr val="dk1"/>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214" name="Shape 214"/>
          <p:cNvSpPr txBox="1"/>
          <p:nvPr/>
        </p:nvSpPr>
        <p:spPr>
          <a:xfrm>
            <a:off x="7162800" y="2057400"/>
            <a:ext cx="457200" cy="365125"/>
          </a:xfrm>
          <a:prstGeom prst="rect">
            <a:avLst/>
          </a:prstGeom>
          <a:noFill/>
          <a:ln>
            <a:noFill/>
          </a:ln>
        </p:spPr>
        <p:txBody>
          <a:bodyPr anchorCtr="0" anchor="ctr" bIns="76175" lIns="25200" rIns="91425" tIns="76175">
            <a:noAutofit/>
          </a:bodyPr>
          <a:lstStyle/>
          <a:p>
            <a:pPr indent="-342900" lvl="0" marL="34290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IS</a:t>
            </a:r>
          </a:p>
        </p:txBody>
      </p:sp>
      <p:cxnSp>
        <p:nvCxnSpPr>
          <p:cNvPr id="215" name="Shape 215"/>
          <p:cNvCxnSpPr/>
          <p:nvPr/>
        </p:nvCxnSpPr>
        <p:spPr>
          <a:xfrm rot="10800000">
            <a:off x="7620000" y="3047999"/>
            <a:ext cx="0" cy="762000"/>
          </a:xfrm>
          <a:prstGeom prst="straightConnector1">
            <a:avLst/>
          </a:prstGeom>
          <a:noFill/>
          <a:ln cap="flat" cmpd="sng" w="15875">
            <a:solidFill>
              <a:srgbClr val="FF0066"/>
            </a:solidFill>
            <a:prstDash val="solid"/>
            <a:miter/>
            <a:headEnd len="med" w="med" type="none"/>
            <a:tailEnd len="med" w="med" type="none"/>
          </a:ln>
        </p:spPr>
      </p:cxnSp>
      <p:cxnSp>
        <p:nvCxnSpPr>
          <p:cNvPr id="216" name="Shape 216"/>
          <p:cNvCxnSpPr/>
          <p:nvPr/>
        </p:nvCxnSpPr>
        <p:spPr>
          <a:xfrm rot="10800000">
            <a:off x="7924800" y="3276600"/>
            <a:ext cx="0" cy="533399"/>
          </a:xfrm>
          <a:prstGeom prst="straightConnector1">
            <a:avLst/>
          </a:prstGeom>
          <a:noFill/>
          <a:ln cap="flat" cmpd="sng" w="15875">
            <a:solidFill>
              <a:srgbClr val="FF0066"/>
            </a:solidFill>
            <a:prstDash val="solid"/>
            <a:miter/>
            <a:headEnd len="med" w="med" type="none"/>
            <a:tailEnd len="med" w="med" type="none"/>
          </a:ln>
        </p:spPr>
      </p:cxnSp>
      <p:sp>
        <p:nvSpPr>
          <p:cNvPr id="217" name="Shape 217"/>
          <p:cNvSpPr txBox="1"/>
          <p:nvPr/>
        </p:nvSpPr>
        <p:spPr>
          <a:xfrm>
            <a:off x="8691561" y="3817937"/>
            <a:ext cx="300036" cy="365125"/>
          </a:xfrm>
          <a:prstGeom prst="rect">
            <a:avLst/>
          </a:prstGeom>
          <a:noFill/>
          <a:ln>
            <a:noFill/>
          </a:ln>
        </p:spPr>
        <p:txBody>
          <a:bodyPr anchorCtr="0" anchor="ctr" bIns="76175" lIns="25200" rIns="91425" tIns="76175">
            <a:noAutofit/>
          </a:bodyPr>
          <a:lstStyle/>
          <a:p>
            <a:pPr indent="-342900" lvl="0" marL="342900" marR="0" rtl="0" algn="l">
              <a:lnSpc>
                <a:spcPct val="100000"/>
              </a:lnSpc>
              <a:spcBef>
                <a:spcPts val="0"/>
              </a:spcBef>
              <a:spcAft>
                <a:spcPts val="0"/>
              </a:spcAft>
              <a:buClr>
                <a:srgbClr val="FF0000"/>
              </a:buClr>
              <a:buSzPct val="25000"/>
              <a:buFont typeface="Arial"/>
              <a:buNone/>
            </a:pPr>
            <a:r>
              <a:rPr b="1" i="0" lang="en-US" sz="1400" u="none">
                <a:solidFill>
                  <a:srgbClr val="FF0000"/>
                </a:solidFill>
                <a:latin typeface="Arial"/>
                <a:ea typeface="Arial"/>
                <a:cs typeface="Arial"/>
                <a:sym typeface="Arial"/>
              </a:rPr>
              <a:t>Y</a:t>
            </a:r>
          </a:p>
        </p:txBody>
      </p:sp>
      <p:sp>
        <p:nvSpPr>
          <p:cNvPr id="218" name="Shape 218"/>
          <p:cNvSpPr txBox="1"/>
          <p:nvPr/>
        </p:nvSpPr>
        <p:spPr>
          <a:xfrm>
            <a:off x="7543800" y="3749675"/>
            <a:ext cx="762000" cy="365125"/>
          </a:xfrm>
          <a:prstGeom prst="rect">
            <a:avLst/>
          </a:prstGeom>
          <a:noFill/>
          <a:ln>
            <a:noFill/>
          </a:ln>
        </p:spPr>
        <p:txBody>
          <a:bodyPr anchorCtr="0" anchor="ctr" bIns="76175" lIns="25200" rIns="91425" tIns="76175">
            <a:noAutofit/>
          </a:bodyPr>
          <a:lstStyle/>
          <a:p>
            <a:pPr indent="-342900" lvl="0" marL="342900" marR="0" rtl="0" algn="l">
              <a:lnSpc>
                <a:spcPct val="100000"/>
              </a:lnSpc>
              <a:spcBef>
                <a:spcPts val="0"/>
              </a:spcBef>
              <a:spcAft>
                <a:spcPts val="0"/>
              </a:spcAft>
              <a:buClr>
                <a:srgbClr val="FF0000"/>
              </a:buClr>
              <a:buSzPct val="25000"/>
              <a:buFont typeface="Arial"/>
              <a:buNone/>
            </a:pPr>
            <a:r>
              <a:rPr b="1" i="0" lang="en-US" sz="1400" u="none">
                <a:solidFill>
                  <a:srgbClr val="FF0000"/>
                </a:solidFill>
                <a:latin typeface="Arial"/>
                <a:ea typeface="Arial"/>
                <a:cs typeface="Arial"/>
                <a:sym typeface="Arial"/>
              </a:rPr>
              <a:t>Y´   Y</a:t>
            </a:r>
          </a:p>
        </p:txBody>
      </p:sp>
      <p:sp>
        <p:nvSpPr>
          <p:cNvPr id="219" name="Shape 219"/>
          <p:cNvSpPr/>
          <p:nvPr/>
        </p:nvSpPr>
        <p:spPr>
          <a:xfrm rot="10800000">
            <a:off x="7620000" y="3324224"/>
            <a:ext cx="304799" cy="485775"/>
          </a:xfrm>
          <a:prstGeom prst="stripedRightArrow">
            <a:avLst>
              <a:gd fmla="val 50000" name="adj1"/>
              <a:gd fmla="val 50000" name="adj2"/>
            </a:avLst>
          </a:prstGeom>
          <a:solidFill>
            <a:srgbClr val="FFFF00"/>
          </a:solidFill>
          <a:ln cap="flat" cmpd="sng" w="15875">
            <a:solidFill>
              <a:schemeClr val="dk1"/>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220" name="Shape 220"/>
          <p:cNvSpPr txBox="1"/>
          <p:nvPr/>
        </p:nvSpPr>
        <p:spPr>
          <a:xfrm>
            <a:off x="381000" y="4876800"/>
            <a:ext cx="8493124" cy="1676399"/>
          </a:xfrm>
          <a:prstGeom prst="rect">
            <a:avLst/>
          </a:prstGeom>
          <a:solidFill>
            <a:srgbClr val="00FF00">
              <a:alpha val="37647"/>
            </a:srgbClr>
          </a:solidFill>
          <a:ln>
            <a:noFill/>
          </a:ln>
        </p:spPr>
        <p:txBody>
          <a:bodyPr anchorCtr="0" anchor="ctr" bIns="76175" lIns="25200" rIns="91425" tIns="76175">
            <a:noAutofit/>
          </a:bodyPr>
          <a:lstStyle/>
          <a:p>
            <a:pPr indent="0" lvl="0" marL="0" marR="0" rtl="0" algn="l">
              <a:lnSpc>
                <a:spcPct val="100000"/>
              </a:lnSpc>
              <a:spcBef>
                <a:spcPts val="0"/>
              </a:spcBef>
              <a:spcAft>
                <a:spcPts val="0"/>
              </a:spcAft>
              <a:buClr>
                <a:schemeClr val="dk1"/>
              </a:buClr>
              <a:buSzPct val="25000"/>
              <a:buFont typeface="Arial"/>
              <a:buNone/>
            </a:pPr>
            <a:r>
              <a:rPr b="1" i="1" lang="en-US" sz="2000" u="none">
                <a:solidFill>
                  <a:schemeClr val="dk1"/>
                </a:solidFill>
                <a:latin typeface="Arial"/>
                <a:ea typeface="Arial"/>
                <a:cs typeface="Arial"/>
                <a:sym typeface="Arial"/>
              </a:rPr>
              <a:t>El banco central utiliza este tipo de políticas para reducir la demanda agregada (“enfriar la economía”) y en consecuencia genera un exceso relativo de producción y un aumento no deseado de existencias impulsando a los productores a bajar el precio de los bienes y servicios.  </a:t>
            </a:r>
          </a:p>
        </p:txBody>
      </p:sp>
      <p:sp>
        <p:nvSpPr>
          <p:cNvPr id="221" name="Shape 221"/>
          <p:cNvSpPr/>
          <p:nvPr/>
        </p:nvSpPr>
        <p:spPr>
          <a:xfrm rot="10800000">
            <a:off x="8153400" y="2514600"/>
            <a:ext cx="304799" cy="469899"/>
          </a:xfrm>
          <a:prstGeom prst="stripedRightArrow">
            <a:avLst>
              <a:gd fmla="val 50000" name="adj1"/>
              <a:gd fmla="val 50000" name="adj2"/>
            </a:avLst>
          </a:prstGeom>
          <a:solidFill>
            <a:srgbClr val="FFFF00"/>
          </a:solidFill>
          <a:ln cap="flat" cmpd="sng" w="9525">
            <a:solidFill>
              <a:schemeClr val="dk1"/>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25" name="Shape 225"/>
        <p:cNvGrpSpPr/>
        <p:nvPr/>
      </p:nvGrpSpPr>
      <p:grpSpPr>
        <a:xfrm>
          <a:off x="0" y="0"/>
          <a:ext cx="0" cy="0"/>
          <a:chOff x="0" y="0"/>
          <a:chExt cx="0" cy="0"/>
        </a:xfrm>
      </p:grpSpPr>
      <p:pic>
        <p:nvPicPr>
          <p:cNvPr id="226" name="Shape 226"/>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227" name="Shape 227"/>
          <p:cNvPicPr preferRelativeResize="0"/>
          <p:nvPr/>
        </p:nvPicPr>
        <p:blipFill rotWithShape="1">
          <a:blip r:embed="rId4">
            <a:alphaModFix/>
          </a:blip>
          <a:srcRect b="0" l="0" r="0" t="0"/>
          <a:stretch/>
        </p:blipFill>
        <p:spPr>
          <a:xfrm>
            <a:off x="228600" y="1423987"/>
            <a:ext cx="8645524" cy="5129211"/>
          </a:xfrm>
          <a:prstGeom prst="rect">
            <a:avLst/>
          </a:prstGeom>
          <a:noFill/>
          <a:ln>
            <a:noFill/>
          </a:ln>
        </p:spPr>
      </p:pic>
      <p:pic>
        <p:nvPicPr>
          <p:cNvPr id="228" name="Shape 228"/>
          <p:cNvPicPr preferRelativeResize="0"/>
          <p:nvPr/>
        </p:nvPicPr>
        <p:blipFill rotWithShape="1">
          <a:blip r:embed="rId5">
            <a:alphaModFix/>
          </a:blip>
          <a:srcRect b="0" l="0" r="0" t="0"/>
          <a:stretch/>
        </p:blipFill>
        <p:spPr>
          <a:xfrm>
            <a:off x="255587" y="306387"/>
            <a:ext cx="3013074" cy="608011"/>
          </a:xfrm>
          <a:prstGeom prst="rect">
            <a:avLst/>
          </a:prstGeom>
          <a:noFill/>
          <a:ln>
            <a:noFill/>
          </a:ln>
        </p:spPr>
      </p:pic>
      <p:sp>
        <p:nvSpPr>
          <p:cNvPr id="229" name="Shape 229"/>
          <p:cNvSpPr txBox="1"/>
          <p:nvPr/>
        </p:nvSpPr>
        <p:spPr>
          <a:xfrm>
            <a:off x="4114800" y="304800"/>
            <a:ext cx="4114800"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0" lang="en-US" sz="2400" u="none">
                <a:solidFill>
                  <a:srgbClr val="BB4F59"/>
                </a:solidFill>
                <a:latin typeface="Arial"/>
                <a:ea typeface="Arial"/>
                <a:cs typeface="Arial"/>
                <a:sym typeface="Arial"/>
              </a:rPr>
              <a:t>POLÍTICAS FISCALES</a:t>
            </a:r>
          </a:p>
        </p:txBody>
      </p:sp>
      <p:sp>
        <p:nvSpPr>
          <p:cNvPr id="230" name="Shape 230"/>
          <p:cNvSpPr txBox="1"/>
          <p:nvPr/>
        </p:nvSpPr>
        <p:spPr>
          <a:xfrm>
            <a:off x="304800" y="1570037"/>
            <a:ext cx="8569325" cy="4851400"/>
          </a:xfrm>
          <a:prstGeom prst="rect">
            <a:avLst/>
          </a:prstGeom>
          <a:noFill/>
          <a:ln>
            <a:noFill/>
          </a:ln>
        </p:spPr>
        <p:txBody>
          <a:bodyPr anchorCtr="0" anchor="ctr" bIns="76175" lIns="241200" rIns="91425" tIns="76175">
            <a:noAutofit/>
          </a:bodyPr>
          <a:lstStyle/>
          <a:p>
            <a:pPr indent="0" lvl="0" marL="0" marR="0" rtl="0" algn="l">
              <a:lnSpc>
                <a:spcPct val="100000"/>
              </a:lnSpc>
              <a:spcBef>
                <a:spcPts val="0"/>
              </a:spcBef>
              <a:spcAft>
                <a:spcPts val="0"/>
              </a:spcAft>
              <a:buClr>
                <a:schemeClr val="dk1"/>
              </a:buClr>
              <a:buSzPct val="25000"/>
              <a:buFont typeface="Arial"/>
              <a:buNone/>
            </a:pPr>
            <a:r>
              <a:rPr b="1" i="1" lang="en-US" sz="2000" u="none">
                <a:solidFill>
                  <a:schemeClr val="dk1"/>
                </a:solidFill>
                <a:latin typeface="Arial"/>
                <a:ea typeface="Arial"/>
                <a:cs typeface="Arial"/>
                <a:sym typeface="Arial"/>
              </a:rPr>
              <a:t>TIPO DE POLÍTICAS FISCALES</a:t>
            </a:r>
          </a:p>
          <a:p>
            <a:pPr indent="0" lvl="0" marL="0" marR="0" rtl="0" algn="l">
              <a:lnSpc>
                <a:spcPct val="100000"/>
              </a:lnSpc>
              <a:spcBef>
                <a:spcPts val="0"/>
              </a:spcBef>
              <a:spcAft>
                <a:spcPts val="0"/>
              </a:spcAft>
              <a:buClr>
                <a:srgbClr val="008000"/>
              </a:buClr>
              <a:buSzPct val="25000"/>
              <a:buFont typeface="Arial"/>
              <a:buNone/>
            </a:pPr>
            <a:r>
              <a:rPr b="1" i="1" lang="en-US" sz="1800" u="none">
                <a:solidFill>
                  <a:srgbClr val="008000"/>
                </a:solidFill>
                <a:latin typeface="Arial"/>
                <a:ea typeface="Arial"/>
                <a:cs typeface="Arial"/>
                <a:sym typeface="Arial"/>
              </a:rPr>
              <a:t>EXPANSIVAS:</a:t>
            </a:r>
          </a:p>
          <a:p>
            <a:pPr indent="0" lvl="0" marL="0" marR="0" rtl="0" algn="l">
              <a:lnSpc>
                <a:spcPct val="100000"/>
              </a:lnSpc>
              <a:spcBef>
                <a:spcPts val="0"/>
              </a:spcBef>
              <a:spcAft>
                <a:spcPts val="0"/>
              </a:spcAft>
              <a:buClr>
                <a:srgbClr val="008000"/>
              </a:buClr>
              <a:buSzPct val="25000"/>
              <a:buFont typeface="Arial"/>
              <a:buNone/>
            </a:pPr>
            <a:r>
              <a:rPr b="1" i="1" lang="en-US" sz="1800" u="none">
                <a:solidFill>
                  <a:srgbClr val="008000"/>
                </a:solidFill>
                <a:latin typeface="Arial"/>
                <a:ea typeface="Arial"/>
                <a:cs typeface="Arial"/>
                <a:sym typeface="Arial"/>
              </a:rPr>
              <a:t>Cuando el gobierno aumenta el gasto público y/o los subsidios y/o reduce los impuestos para reactivar la actividad económica y bajar el desempleo</a:t>
            </a:r>
          </a:p>
          <a:p>
            <a:pPr indent="0" lvl="0" marL="0" marR="0" rtl="0" algn="l">
              <a:lnSpc>
                <a:spcPct val="100000"/>
              </a:lnSpc>
              <a:spcBef>
                <a:spcPts val="0"/>
              </a:spcBef>
              <a:spcAft>
                <a:spcPts val="0"/>
              </a:spcAft>
              <a:buClr>
                <a:schemeClr val="dk1"/>
              </a:buClr>
              <a:buFont typeface="Calibri"/>
              <a:buNone/>
            </a:pPr>
            <a:r>
              <a:t/>
            </a:r>
            <a:endParaRPr b="1" i="1" sz="1800" u="none">
              <a:solidFill>
                <a:srgbClr val="FF0066"/>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Calibri"/>
              <a:buNone/>
            </a:pPr>
            <a:r>
              <a:t/>
            </a:r>
            <a:endParaRPr b="1" i="1" sz="1800" u="none">
              <a:solidFill>
                <a:srgbClr val="FF0066"/>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Calibri"/>
              <a:buNone/>
            </a:pPr>
            <a:r>
              <a:t/>
            </a:r>
            <a:endParaRPr b="1" i="1" sz="1800" u="none">
              <a:solidFill>
                <a:srgbClr val="FF0066"/>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Calibri"/>
              <a:buNone/>
            </a:pPr>
            <a:r>
              <a:t/>
            </a:r>
            <a:endParaRPr b="1" i="1" sz="1800" u="none">
              <a:solidFill>
                <a:srgbClr val="FF0066"/>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Calibri"/>
              <a:buNone/>
            </a:pPr>
            <a:r>
              <a:t/>
            </a:r>
            <a:endParaRPr b="1" i="1" sz="1800" u="none">
              <a:solidFill>
                <a:srgbClr val="FF0066"/>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Calibri"/>
              <a:buNone/>
            </a:pPr>
            <a:r>
              <a:t/>
            </a:r>
            <a:endParaRPr b="1" i="1" sz="1800" u="none">
              <a:solidFill>
                <a:srgbClr val="FF0066"/>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Calibri"/>
              <a:buNone/>
            </a:pPr>
            <a:r>
              <a:t/>
            </a:r>
            <a:endParaRPr b="1" i="1" sz="1800" u="none">
              <a:solidFill>
                <a:srgbClr val="FF0066"/>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Calibri"/>
              <a:buNone/>
            </a:pPr>
            <a:r>
              <a:t/>
            </a:r>
            <a:endParaRPr b="1" i="1" sz="1800" u="none">
              <a:solidFill>
                <a:srgbClr val="FF0066"/>
              </a:solidFill>
              <a:latin typeface="Arial"/>
              <a:ea typeface="Arial"/>
              <a:cs typeface="Arial"/>
              <a:sym typeface="Arial"/>
            </a:endParaRPr>
          </a:p>
          <a:p>
            <a:pPr indent="0" lvl="0" marL="0" marR="0" rtl="0" algn="l">
              <a:lnSpc>
                <a:spcPct val="100000"/>
              </a:lnSpc>
              <a:spcBef>
                <a:spcPts val="0"/>
              </a:spcBef>
              <a:spcAft>
                <a:spcPts val="0"/>
              </a:spcAft>
              <a:buClr>
                <a:srgbClr val="FF0066"/>
              </a:buClr>
              <a:buSzPct val="25000"/>
              <a:buFont typeface="Arial"/>
              <a:buNone/>
            </a:pPr>
            <a:r>
              <a:rPr b="1" i="1" lang="en-US" sz="1800" u="none">
                <a:solidFill>
                  <a:srgbClr val="FF0066"/>
                </a:solidFill>
                <a:latin typeface="Arial"/>
                <a:ea typeface="Arial"/>
                <a:cs typeface="Arial"/>
                <a:sym typeface="Arial"/>
              </a:rPr>
              <a:t>CONTRACTIVAS:</a:t>
            </a:r>
          </a:p>
          <a:p>
            <a:pPr indent="0" lvl="0" marL="0" marR="0" rtl="0" algn="l">
              <a:lnSpc>
                <a:spcPct val="100000"/>
              </a:lnSpc>
              <a:spcBef>
                <a:spcPts val="0"/>
              </a:spcBef>
              <a:spcAft>
                <a:spcPts val="0"/>
              </a:spcAft>
              <a:buClr>
                <a:srgbClr val="FF0066"/>
              </a:buClr>
              <a:buSzPct val="25000"/>
              <a:buFont typeface="Arial"/>
              <a:buNone/>
            </a:pPr>
            <a:r>
              <a:rPr b="1" i="1" lang="en-US" sz="1800" u="none">
                <a:solidFill>
                  <a:srgbClr val="FF0066"/>
                </a:solidFill>
                <a:latin typeface="Arial"/>
                <a:ea typeface="Arial"/>
                <a:cs typeface="Arial"/>
                <a:sym typeface="Arial"/>
              </a:rPr>
              <a:t>Cuando el gobierno considera que el aumento de los precios se sustenta en un exceso de actividad, puede determinar reducciones del gasto público y/o de los subsidios y/o aumentos de los impuestos, para reducir la inflación.</a:t>
            </a:r>
          </a:p>
        </p:txBody>
      </p:sp>
      <p:pic>
        <p:nvPicPr>
          <p:cNvPr id="231" name="Shape 231"/>
          <p:cNvPicPr preferRelativeResize="0"/>
          <p:nvPr/>
        </p:nvPicPr>
        <p:blipFill rotWithShape="1">
          <a:blip r:embed="rId6">
            <a:alphaModFix/>
          </a:blip>
          <a:srcRect b="0" l="0" r="0" t="0"/>
          <a:stretch/>
        </p:blipFill>
        <p:spPr>
          <a:xfrm>
            <a:off x="687387" y="2971800"/>
            <a:ext cx="2970211" cy="1771650"/>
          </a:xfrm>
          <a:prstGeom prst="rect">
            <a:avLst/>
          </a:prstGeom>
          <a:noFill/>
          <a:ln>
            <a:noFill/>
          </a:ln>
        </p:spPr>
      </p:pic>
      <p:pic>
        <p:nvPicPr>
          <p:cNvPr id="232" name="Shape 232"/>
          <p:cNvPicPr preferRelativeResize="0"/>
          <p:nvPr/>
        </p:nvPicPr>
        <p:blipFill rotWithShape="1">
          <a:blip r:embed="rId7">
            <a:alphaModFix/>
          </a:blip>
          <a:srcRect b="0" l="0" r="0" t="0"/>
          <a:stretch/>
        </p:blipFill>
        <p:spPr>
          <a:xfrm>
            <a:off x="4724400" y="2865436"/>
            <a:ext cx="3809999" cy="2130424"/>
          </a:xfrm>
          <a:prstGeom prst="rect">
            <a:avLst/>
          </a:prstGeom>
          <a:noFill/>
          <a:ln>
            <a:noFill/>
          </a:ln>
        </p:spPr>
      </p:pic>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36" name="Shape 236"/>
        <p:cNvGrpSpPr/>
        <p:nvPr/>
      </p:nvGrpSpPr>
      <p:grpSpPr>
        <a:xfrm>
          <a:off x="0" y="0"/>
          <a:ext cx="0" cy="0"/>
          <a:chOff x="0" y="0"/>
          <a:chExt cx="0" cy="0"/>
        </a:xfrm>
      </p:grpSpPr>
      <p:pic>
        <p:nvPicPr>
          <p:cNvPr id="237" name="Shape 237"/>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238" name="Shape 238"/>
          <p:cNvPicPr preferRelativeResize="0"/>
          <p:nvPr/>
        </p:nvPicPr>
        <p:blipFill rotWithShape="1">
          <a:blip r:embed="rId4">
            <a:alphaModFix/>
          </a:blip>
          <a:srcRect b="0" l="0" r="0" t="0"/>
          <a:stretch/>
        </p:blipFill>
        <p:spPr>
          <a:xfrm>
            <a:off x="228600" y="1423987"/>
            <a:ext cx="8645524" cy="5129211"/>
          </a:xfrm>
          <a:prstGeom prst="rect">
            <a:avLst/>
          </a:prstGeom>
          <a:noFill/>
          <a:ln>
            <a:noFill/>
          </a:ln>
        </p:spPr>
      </p:pic>
      <p:pic>
        <p:nvPicPr>
          <p:cNvPr id="239" name="Shape 239"/>
          <p:cNvPicPr preferRelativeResize="0"/>
          <p:nvPr/>
        </p:nvPicPr>
        <p:blipFill rotWithShape="1">
          <a:blip r:embed="rId5">
            <a:alphaModFix/>
          </a:blip>
          <a:srcRect b="0" l="0" r="0" t="0"/>
          <a:stretch/>
        </p:blipFill>
        <p:spPr>
          <a:xfrm>
            <a:off x="255587" y="306387"/>
            <a:ext cx="3013074" cy="608011"/>
          </a:xfrm>
          <a:prstGeom prst="rect">
            <a:avLst/>
          </a:prstGeom>
          <a:noFill/>
          <a:ln>
            <a:noFill/>
          </a:ln>
        </p:spPr>
      </p:pic>
      <p:sp>
        <p:nvSpPr>
          <p:cNvPr id="240" name="Shape 240"/>
          <p:cNvSpPr txBox="1"/>
          <p:nvPr/>
        </p:nvSpPr>
        <p:spPr>
          <a:xfrm>
            <a:off x="4114800" y="304800"/>
            <a:ext cx="4114800"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a:solidFill>
                  <a:srgbClr val="BB4F59"/>
                </a:solidFill>
                <a:latin typeface="Arial"/>
                <a:ea typeface="Arial"/>
                <a:cs typeface="Arial"/>
                <a:sym typeface="Arial"/>
              </a:rPr>
              <a:t>POLÍTICAS FISCALES POSITIVAS</a:t>
            </a:r>
          </a:p>
        </p:txBody>
      </p:sp>
      <p:sp>
        <p:nvSpPr>
          <p:cNvPr id="241" name="Shape 241"/>
          <p:cNvSpPr txBox="1"/>
          <p:nvPr/>
        </p:nvSpPr>
        <p:spPr>
          <a:xfrm>
            <a:off x="304800" y="1430337"/>
            <a:ext cx="8534399" cy="2074861"/>
          </a:xfrm>
          <a:prstGeom prst="rect">
            <a:avLst/>
          </a:prstGeom>
          <a:solidFill>
            <a:srgbClr val="99CCFF">
              <a:alpha val="86666"/>
            </a:srgbClr>
          </a:solidFill>
          <a:ln>
            <a:noFill/>
          </a:ln>
        </p:spPr>
        <p:txBody>
          <a:bodyPr anchorCtr="0" anchor="ctr" bIns="76175" lIns="241200" rIns="91425" tIns="76175">
            <a:noAutofit/>
          </a:bodyPr>
          <a:lstStyle/>
          <a:p>
            <a:pPr indent="-342900" lvl="0" marL="342900" marR="0" rtl="0" algn="l">
              <a:lnSpc>
                <a:spcPct val="100000"/>
              </a:lnSpc>
              <a:spcBef>
                <a:spcPts val="0"/>
              </a:spcBef>
              <a:spcAft>
                <a:spcPts val="0"/>
              </a:spcAft>
              <a:buClr>
                <a:schemeClr val="dk2"/>
              </a:buClr>
              <a:buSzPct val="25000"/>
              <a:buFont typeface="Arial"/>
              <a:buNone/>
            </a:pPr>
            <a:r>
              <a:rPr b="1" i="1" lang="en-US" sz="1800" u="none">
                <a:solidFill>
                  <a:schemeClr val="dk2"/>
                </a:solidFill>
                <a:latin typeface="Arial"/>
                <a:ea typeface="Arial"/>
                <a:cs typeface="Arial"/>
                <a:sym typeface="Arial"/>
              </a:rPr>
              <a:t>POLÍTICA FISCAL POSITIVA (ESTABILIZADORES AUTOMATICOS)</a:t>
            </a:r>
          </a:p>
          <a:p>
            <a:pPr indent="-342900" lvl="0" marL="342900" marR="0" rtl="0" algn="l">
              <a:lnSpc>
                <a:spcPct val="100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 </a:t>
            </a:r>
          </a:p>
          <a:p>
            <a:pPr indent="-342900" lvl="0" marL="342900" marR="0" rtl="0" algn="l">
              <a:lnSpc>
                <a:spcPct val="100000"/>
              </a:lnSpc>
              <a:spcBef>
                <a:spcPts val="0"/>
              </a:spcBef>
              <a:spcAft>
                <a:spcPts val="0"/>
              </a:spcAft>
              <a:buClr>
                <a:schemeClr val="dk2"/>
              </a:buClr>
              <a:buSzPct val="100000"/>
              <a:buFont typeface="Arial"/>
              <a:buAutoNum type="arabicPeriod"/>
            </a:pPr>
            <a:r>
              <a:rPr b="1" i="1" lang="en-US" sz="1800" u="none">
                <a:solidFill>
                  <a:schemeClr val="dk2"/>
                </a:solidFill>
                <a:latin typeface="Arial"/>
                <a:ea typeface="Arial"/>
                <a:cs typeface="Arial"/>
                <a:sym typeface="Arial"/>
              </a:rPr>
              <a:t>Cambios en la recaudación impositiva debido a la existencia de impuestos proporcionales a la renta (impuesto a las ganancias).</a:t>
            </a:r>
          </a:p>
          <a:p>
            <a:pPr indent="-342900" lvl="0" marL="342900" marR="0" rtl="0" algn="l">
              <a:lnSpc>
                <a:spcPct val="100000"/>
              </a:lnSpc>
              <a:spcBef>
                <a:spcPts val="0"/>
              </a:spcBef>
              <a:spcAft>
                <a:spcPts val="0"/>
              </a:spcAft>
              <a:buClr>
                <a:schemeClr val="dk1"/>
              </a:buClr>
              <a:buFont typeface="Calibri"/>
              <a:buNone/>
            </a:pPr>
            <a:r>
              <a:t/>
            </a:r>
            <a:endParaRPr b="1" i="1" sz="1800" u="none">
              <a:solidFill>
                <a:schemeClr val="dk2"/>
              </a:solidFill>
              <a:latin typeface="Arial"/>
              <a:ea typeface="Arial"/>
              <a:cs typeface="Arial"/>
              <a:sym typeface="Arial"/>
            </a:endParaRPr>
          </a:p>
          <a:p>
            <a:pPr indent="-342900" lvl="0" marL="342900" marR="0" rtl="0" algn="l">
              <a:lnSpc>
                <a:spcPct val="100000"/>
              </a:lnSpc>
              <a:spcBef>
                <a:spcPts val="0"/>
              </a:spcBef>
              <a:spcAft>
                <a:spcPts val="0"/>
              </a:spcAft>
              <a:buClr>
                <a:schemeClr val="dk2"/>
              </a:buClr>
              <a:buSzPct val="100000"/>
              <a:buFont typeface="Arial"/>
              <a:buAutoNum type="arabicPeriod"/>
            </a:pPr>
            <a:r>
              <a:rPr b="1" i="1" lang="en-US" sz="1800" u="none">
                <a:solidFill>
                  <a:schemeClr val="dk2"/>
                </a:solidFill>
                <a:latin typeface="Arial"/>
                <a:ea typeface="Arial"/>
                <a:cs typeface="Arial"/>
                <a:sym typeface="Arial"/>
              </a:rPr>
              <a:t>Variaciones en el pago de subsidios o transferencias para asistir a las personas desocupadas (seguro de desempleo).</a:t>
            </a:r>
            <a:r>
              <a:rPr b="1" i="1" lang="en-US" sz="1800" u="none">
                <a:solidFill>
                  <a:schemeClr val="dk1"/>
                </a:solidFill>
                <a:latin typeface="Arial"/>
                <a:ea typeface="Arial"/>
                <a:cs typeface="Arial"/>
                <a:sym typeface="Arial"/>
              </a:rPr>
              <a:t> </a:t>
            </a:r>
          </a:p>
        </p:txBody>
      </p:sp>
      <p:pic>
        <p:nvPicPr>
          <p:cNvPr id="242" name="Shape 242"/>
          <p:cNvPicPr preferRelativeResize="0"/>
          <p:nvPr/>
        </p:nvPicPr>
        <p:blipFill rotWithShape="1">
          <a:blip r:embed="rId6">
            <a:alphaModFix/>
          </a:blip>
          <a:srcRect b="0" l="0" r="0" t="0"/>
          <a:stretch/>
        </p:blipFill>
        <p:spPr>
          <a:xfrm>
            <a:off x="381000" y="3733800"/>
            <a:ext cx="3333750" cy="1704974"/>
          </a:xfrm>
          <a:prstGeom prst="rect">
            <a:avLst/>
          </a:prstGeom>
          <a:noFill/>
          <a:ln>
            <a:noFill/>
          </a:ln>
        </p:spPr>
      </p:pic>
      <p:pic>
        <p:nvPicPr>
          <p:cNvPr id="243" name="Shape 243"/>
          <p:cNvPicPr preferRelativeResize="0"/>
          <p:nvPr/>
        </p:nvPicPr>
        <p:blipFill rotWithShape="1">
          <a:blip r:embed="rId7">
            <a:alphaModFix/>
          </a:blip>
          <a:srcRect b="0" l="0" r="0" t="0"/>
          <a:stretch/>
        </p:blipFill>
        <p:spPr>
          <a:xfrm>
            <a:off x="4267200" y="3962400"/>
            <a:ext cx="4530724" cy="2500311"/>
          </a:xfrm>
          <a:prstGeom prst="rect">
            <a:avLst/>
          </a:prstGeom>
          <a:noFill/>
          <a:ln>
            <a:noFill/>
          </a:ln>
        </p:spPr>
      </p:pic>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47" name="Shape 247"/>
        <p:cNvGrpSpPr/>
        <p:nvPr/>
      </p:nvGrpSpPr>
      <p:grpSpPr>
        <a:xfrm>
          <a:off x="0" y="0"/>
          <a:ext cx="0" cy="0"/>
          <a:chOff x="0" y="0"/>
          <a:chExt cx="0" cy="0"/>
        </a:xfrm>
      </p:grpSpPr>
      <p:pic>
        <p:nvPicPr>
          <p:cNvPr id="248" name="Shape 248"/>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249" name="Shape 249"/>
          <p:cNvPicPr preferRelativeResize="0"/>
          <p:nvPr/>
        </p:nvPicPr>
        <p:blipFill rotWithShape="1">
          <a:blip r:embed="rId4">
            <a:alphaModFix/>
          </a:blip>
          <a:srcRect b="0" l="0" r="0" t="0"/>
          <a:stretch/>
        </p:blipFill>
        <p:spPr>
          <a:xfrm>
            <a:off x="304800" y="1500187"/>
            <a:ext cx="8645524" cy="5129211"/>
          </a:xfrm>
          <a:prstGeom prst="rect">
            <a:avLst/>
          </a:prstGeom>
          <a:noFill/>
          <a:ln>
            <a:noFill/>
          </a:ln>
        </p:spPr>
      </p:pic>
      <p:pic>
        <p:nvPicPr>
          <p:cNvPr id="250" name="Shape 250"/>
          <p:cNvPicPr preferRelativeResize="0"/>
          <p:nvPr/>
        </p:nvPicPr>
        <p:blipFill rotWithShape="1">
          <a:blip r:embed="rId5">
            <a:alphaModFix/>
          </a:blip>
          <a:srcRect b="0" l="0" r="0" t="0"/>
          <a:stretch/>
        </p:blipFill>
        <p:spPr>
          <a:xfrm>
            <a:off x="255587" y="306387"/>
            <a:ext cx="3013074" cy="608011"/>
          </a:xfrm>
          <a:prstGeom prst="rect">
            <a:avLst/>
          </a:prstGeom>
          <a:noFill/>
          <a:ln>
            <a:noFill/>
          </a:ln>
        </p:spPr>
      </p:pic>
      <p:sp>
        <p:nvSpPr>
          <p:cNvPr id="251" name="Shape 251"/>
          <p:cNvSpPr txBox="1"/>
          <p:nvPr/>
        </p:nvSpPr>
        <p:spPr>
          <a:xfrm>
            <a:off x="3276600" y="76200"/>
            <a:ext cx="5638800"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a:solidFill>
                  <a:srgbClr val="BB4F59"/>
                </a:solidFill>
                <a:latin typeface="Arial"/>
                <a:ea typeface="Arial"/>
                <a:cs typeface="Arial"/>
                <a:sym typeface="Arial"/>
              </a:rPr>
              <a:t>ESTABILIZADORES AUTOMÁTICOS</a:t>
            </a:r>
          </a:p>
          <a:p>
            <a:pPr indent="0" lvl="0" marL="0" marR="0" rtl="0" algn="ctr">
              <a:lnSpc>
                <a:spcPct val="100000"/>
              </a:lnSpc>
              <a:spcBef>
                <a:spcPts val="0"/>
              </a:spcBef>
              <a:spcAft>
                <a:spcPts val="0"/>
              </a:spcAft>
              <a:buClr>
                <a:schemeClr val="dk2"/>
              </a:buClr>
              <a:buSzPct val="25000"/>
              <a:buFont typeface="Arial"/>
              <a:buNone/>
            </a:pPr>
            <a:r>
              <a:rPr b="1" i="0" lang="en-US" sz="2400" u="none">
                <a:solidFill>
                  <a:schemeClr val="dk2"/>
                </a:solidFill>
                <a:latin typeface="Arial"/>
                <a:ea typeface="Arial"/>
                <a:cs typeface="Arial"/>
                <a:sym typeface="Arial"/>
              </a:rPr>
              <a:t>IMPUESTO A LAS GANANCIAS</a:t>
            </a:r>
          </a:p>
        </p:txBody>
      </p:sp>
      <p:sp>
        <p:nvSpPr>
          <p:cNvPr id="252" name="Shape 252"/>
          <p:cNvSpPr txBox="1"/>
          <p:nvPr/>
        </p:nvSpPr>
        <p:spPr>
          <a:xfrm>
            <a:off x="304800" y="1524000"/>
            <a:ext cx="8569325" cy="3998911"/>
          </a:xfrm>
          <a:prstGeom prst="rect">
            <a:avLst/>
          </a:prstGeom>
          <a:solidFill>
            <a:srgbClr val="FF6600">
              <a:alpha val="8627"/>
            </a:srgbClr>
          </a:solidFill>
          <a:ln>
            <a:noFill/>
          </a:ln>
        </p:spPr>
        <p:txBody>
          <a:bodyPr anchorCtr="0" anchor="ctr" bIns="76175" lIns="97200" rIns="91425" tIns="76175">
            <a:noAutofit/>
          </a:bodyPr>
          <a:lstStyle/>
          <a:p>
            <a:pPr indent="0" lvl="0" marL="0" marR="0" rtl="0" algn="l">
              <a:lnSpc>
                <a:spcPct val="100000"/>
              </a:lnSpc>
              <a:spcBef>
                <a:spcPts val="0"/>
              </a:spcBef>
              <a:spcAft>
                <a:spcPts val="0"/>
              </a:spcAft>
              <a:buClr>
                <a:schemeClr val="dk2"/>
              </a:buClr>
              <a:buSzPct val="25000"/>
              <a:buFont typeface="Arial"/>
              <a:buNone/>
            </a:pPr>
            <a:r>
              <a:rPr b="1" i="1" lang="en-US" sz="1800" u="none">
                <a:solidFill>
                  <a:schemeClr val="dk2"/>
                </a:solidFill>
                <a:latin typeface="Arial"/>
                <a:ea typeface="Arial"/>
                <a:cs typeface="Arial"/>
                <a:sym typeface="Arial"/>
              </a:rPr>
              <a:t>IMPUESTO A LAS GANANCIAS</a:t>
            </a:r>
          </a:p>
          <a:p>
            <a:pPr indent="0" lvl="0" marL="0" marR="0" rtl="0" algn="l">
              <a:lnSpc>
                <a:spcPct val="100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Cuando crece la actividad económica consideraremos que también crece la renta de los factores productivos por lo tanto en consecuencia aumentará la recaudación impositiva en la medida que el gobierno sostenga un modelo progresivo o proporcional.</a:t>
            </a:r>
          </a:p>
          <a:p>
            <a:pPr indent="0" lvl="0" marL="0" marR="0" rtl="0" algn="l">
              <a:lnSpc>
                <a:spcPct val="100000"/>
              </a:lnSpc>
              <a:spcBef>
                <a:spcPts val="0"/>
              </a:spcBef>
              <a:spcAft>
                <a:spcPts val="0"/>
              </a:spcAft>
              <a:buClr>
                <a:schemeClr val="dk1"/>
              </a:buClr>
              <a:buFont typeface="Calibri"/>
              <a:buNone/>
            </a:pPr>
            <a:r>
              <a:t/>
            </a:r>
            <a:endParaRPr b="1" i="1" sz="18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Si medimos la producción  en modelo de cuatro sectores con impuestos e importaciones proporcionales a la renta tendremos que: </a:t>
            </a:r>
          </a:p>
          <a:p>
            <a:pPr indent="0" lvl="0" marL="0" marR="0" rtl="0" algn="l">
              <a:lnSpc>
                <a:spcPct val="100000"/>
              </a:lnSpc>
              <a:spcBef>
                <a:spcPts val="0"/>
              </a:spcBef>
              <a:spcAft>
                <a:spcPts val="0"/>
              </a:spcAft>
              <a:buClr>
                <a:schemeClr val="dk1"/>
              </a:buClr>
              <a:buFont typeface="Calibri"/>
              <a:buNone/>
            </a:pPr>
            <a:r>
              <a:t/>
            </a:r>
            <a:endParaRPr b="1" i="1" sz="1800" u="none">
              <a:solidFill>
                <a:schemeClr val="dk1"/>
              </a:solidFill>
              <a:latin typeface="Arial"/>
              <a:ea typeface="Arial"/>
              <a:cs typeface="Arial"/>
              <a:sym typeface="Arial"/>
            </a:endParaRPr>
          </a:p>
          <a:p>
            <a:pPr indent="0" lvl="0" marL="0" marR="0" rtl="0" algn="l">
              <a:lnSpc>
                <a:spcPct val="110000"/>
              </a:lnSpc>
              <a:spcBef>
                <a:spcPts val="0"/>
              </a:spcBef>
              <a:spcAft>
                <a:spcPts val="0"/>
              </a:spcAft>
              <a:buClr>
                <a:schemeClr val="dk1"/>
              </a:buClr>
              <a:buSzPct val="25000"/>
              <a:buFont typeface="Arial"/>
              <a:buNone/>
            </a:pPr>
            <a:r>
              <a:rPr b="1" i="0" lang="en-US" sz="1600" u="none">
                <a:solidFill>
                  <a:schemeClr val="dk1"/>
                </a:solidFill>
                <a:latin typeface="Arial"/>
                <a:ea typeface="Arial"/>
                <a:cs typeface="Arial"/>
                <a:sym typeface="Arial"/>
              </a:rPr>
              <a:t>Y =</a:t>
            </a:r>
            <a:r>
              <a:rPr b="1" i="0" lang="en-US" sz="1600" u="none">
                <a:solidFill>
                  <a:srgbClr val="008000"/>
                </a:solidFill>
                <a:latin typeface="Arial"/>
                <a:ea typeface="Arial"/>
                <a:cs typeface="Arial"/>
                <a:sym typeface="Arial"/>
              </a:rPr>
              <a:t> </a:t>
            </a:r>
            <a:r>
              <a:rPr b="1" i="0" lang="en-US" sz="1600" u="none">
                <a:solidFill>
                  <a:srgbClr val="CC0099"/>
                </a:solidFill>
                <a:latin typeface="Arial"/>
                <a:ea typeface="Arial"/>
                <a:cs typeface="Arial"/>
                <a:sym typeface="Arial"/>
              </a:rPr>
              <a:t>(1 / (1 - P</a:t>
            </a:r>
            <a:r>
              <a:rPr b="1" baseline="-25000" i="0" lang="en-US" sz="1600" u="none">
                <a:solidFill>
                  <a:srgbClr val="CC0099"/>
                </a:solidFill>
                <a:latin typeface="Arial"/>
                <a:ea typeface="Arial"/>
                <a:cs typeface="Arial"/>
                <a:sym typeface="Arial"/>
              </a:rPr>
              <a:t>maC</a:t>
            </a:r>
            <a:r>
              <a:rPr b="1" i="0" lang="en-US" sz="1600" u="none">
                <a:solidFill>
                  <a:srgbClr val="CC0099"/>
                </a:solidFill>
                <a:latin typeface="Arial"/>
                <a:ea typeface="Arial"/>
                <a:cs typeface="Arial"/>
                <a:sym typeface="Arial"/>
              </a:rPr>
              <a:t> + P</a:t>
            </a:r>
            <a:r>
              <a:rPr b="1" baseline="-25000" i="0" lang="en-US" sz="1600" u="none">
                <a:solidFill>
                  <a:srgbClr val="CC0099"/>
                </a:solidFill>
                <a:latin typeface="Arial"/>
                <a:ea typeface="Arial"/>
                <a:cs typeface="Arial"/>
                <a:sym typeface="Arial"/>
              </a:rPr>
              <a:t>maC</a:t>
            </a:r>
            <a:r>
              <a:rPr b="1" i="0" lang="en-US" sz="1600" u="none">
                <a:solidFill>
                  <a:srgbClr val="CC0099"/>
                </a:solidFill>
                <a:latin typeface="Arial"/>
                <a:ea typeface="Arial"/>
                <a:cs typeface="Arial"/>
                <a:sym typeface="Arial"/>
              </a:rPr>
              <a:t> * P</a:t>
            </a:r>
            <a:r>
              <a:rPr b="1" baseline="-25000" i="0" lang="en-US" sz="1600" u="none">
                <a:solidFill>
                  <a:srgbClr val="CC0099"/>
                </a:solidFill>
                <a:latin typeface="Arial"/>
                <a:ea typeface="Arial"/>
                <a:cs typeface="Arial"/>
                <a:sym typeface="Arial"/>
              </a:rPr>
              <a:t>maT </a:t>
            </a:r>
            <a:r>
              <a:rPr b="1" i="0" lang="en-US" sz="1600" u="none">
                <a:solidFill>
                  <a:srgbClr val="CC0099"/>
                </a:solidFill>
                <a:latin typeface="Arial"/>
                <a:ea typeface="Arial"/>
                <a:cs typeface="Arial"/>
                <a:sym typeface="Arial"/>
              </a:rPr>
              <a:t>+ P</a:t>
            </a:r>
            <a:r>
              <a:rPr b="1" baseline="-25000" i="0" lang="en-US" sz="1600" u="none">
                <a:solidFill>
                  <a:srgbClr val="CC0099"/>
                </a:solidFill>
                <a:latin typeface="Arial"/>
                <a:ea typeface="Arial"/>
                <a:cs typeface="Arial"/>
                <a:sym typeface="Arial"/>
              </a:rPr>
              <a:t>maM</a:t>
            </a:r>
            <a:r>
              <a:rPr b="1" i="0" lang="en-US" sz="1600" u="none">
                <a:solidFill>
                  <a:srgbClr val="CC0099"/>
                </a:solidFill>
                <a:latin typeface="Arial"/>
                <a:ea typeface="Arial"/>
                <a:cs typeface="Arial"/>
                <a:sym typeface="Arial"/>
              </a:rPr>
              <a:t>))</a:t>
            </a:r>
            <a:r>
              <a:rPr b="1" i="0" lang="en-US" sz="1600" u="none">
                <a:solidFill>
                  <a:srgbClr val="008000"/>
                </a:solidFill>
                <a:latin typeface="Arial"/>
                <a:ea typeface="Arial"/>
                <a:cs typeface="Arial"/>
                <a:sym typeface="Arial"/>
              </a:rPr>
              <a:t> * (GP</a:t>
            </a:r>
            <a:r>
              <a:rPr b="1" baseline="-25000" i="0" lang="en-US" sz="1600" u="none">
                <a:solidFill>
                  <a:srgbClr val="008000"/>
                </a:solidFill>
                <a:latin typeface="Arial"/>
                <a:ea typeface="Arial"/>
                <a:cs typeface="Arial"/>
                <a:sym typeface="Arial"/>
              </a:rPr>
              <a:t>0</a:t>
            </a:r>
            <a:r>
              <a:rPr b="1" i="0" lang="en-US" sz="1600" u="none">
                <a:solidFill>
                  <a:srgbClr val="008000"/>
                </a:solidFill>
                <a:latin typeface="Arial"/>
                <a:ea typeface="Arial"/>
                <a:cs typeface="Arial"/>
                <a:sym typeface="Arial"/>
              </a:rPr>
              <a:t> + I</a:t>
            </a:r>
            <a:r>
              <a:rPr b="1" baseline="-25000" i="0" lang="en-US" sz="1600" u="none">
                <a:solidFill>
                  <a:srgbClr val="008000"/>
                </a:solidFill>
                <a:latin typeface="Arial"/>
                <a:ea typeface="Arial"/>
                <a:cs typeface="Arial"/>
                <a:sym typeface="Arial"/>
              </a:rPr>
              <a:t>0</a:t>
            </a:r>
            <a:r>
              <a:rPr b="1" i="0" lang="en-US" sz="1600" u="none">
                <a:solidFill>
                  <a:srgbClr val="008000"/>
                </a:solidFill>
                <a:latin typeface="Arial"/>
                <a:ea typeface="Arial"/>
                <a:cs typeface="Arial"/>
                <a:sym typeface="Arial"/>
              </a:rPr>
              <a:t> + C</a:t>
            </a:r>
            <a:r>
              <a:rPr b="1" baseline="-25000" i="0" lang="en-US" sz="1600" u="none">
                <a:solidFill>
                  <a:srgbClr val="008000"/>
                </a:solidFill>
                <a:latin typeface="Arial"/>
                <a:ea typeface="Arial"/>
                <a:cs typeface="Arial"/>
                <a:sym typeface="Arial"/>
              </a:rPr>
              <a:t>0</a:t>
            </a:r>
            <a:r>
              <a:rPr b="1" i="0" lang="en-US" sz="1600" u="none">
                <a:solidFill>
                  <a:srgbClr val="008000"/>
                </a:solidFill>
                <a:latin typeface="Arial"/>
                <a:ea typeface="Arial"/>
                <a:cs typeface="Arial"/>
                <a:sym typeface="Arial"/>
              </a:rPr>
              <a:t> + X</a:t>
            </a:r>
            <a:r>
              <a:rPr b="1" baseline="-25000" i="0" lang="en-US" sz="1600" u="none">
                <a:solidFill>
                  <a:srgbClr val="008000"/>
                </a:solidFill>
                <a:latin typeface="Arial"/>
                <a:ea typeface="Arial"/>
                <a:cs typeface="Arial"/>
                <a:sym typeface="Arial"/>
              </a:rPr>
              <a:t>0</a:t>
            </a:r>
            <a:r>
              <a:rPr b="1" i="0" lang="en-US" sz="1600" u="none">
                <a:solidFill>
                  <a:srgbClr val="008000"/>
                </a:solidFill>
                <a:latin typeface="Arial"/>
                <a:ea typeface="Arial"/>
                <a:cs typeface="Arial"/>
                <a:sym typeface="Arial"/>
              </a:rPr>
              <a:t> - M</a:t>
            </a:r>
            <a:r>
              <a:rPr b="1" baseline="-25000" i="0" lang="en-US" sz="1600" u="none">
                <a:solidFill>
                  <a:srgbClr val="008000"/>
                </a:solidFill>
                <a:latin typeface="Arial"/>
                <a:ea typeface="Arial"/>
                <a:cs typeface="Arial"/>
                <a:sym typeface="Arial"/>
              </a:rPr>
              <a:t>0</a:t>
            </a:r>
            <a:r>
              <a:rPr b="1" i="0" lang="en-US" sz="1600" u="none">
                <a:solidFill>
                  <a:srgbClr val="008000"/>
                </a:solidFill>
                <a:latin typeface="Arial"/>
                <a:ea typeface="Arial"/>
                <a:cs typeface="Arial"/>
                <a:sym typeface="Arial"/>
              </a:rPr>
              <a:t> </a:t>
            </a:r>
            <a:r>
              <a:rPr b="1" i="0" lang="en-US" sz="1600" u="none">
                <a:solidFill>
                  <a:srgbClr val="FF0000"/>
                </a:solidFill>
                <a:latin typeface="Arial"/>
                <a:ea typeface="Arial"/>
                <a:cs typeface="Arial"/>
                <a:sym typeface="Arial"/>
              </a:rPr>
              <a:t>– P</a:t>
            </a:r>
            <a:r>
              <a:rPr b="1" baseline="-25000" i="0" lang="en-US" sz="1600" u="none">
                <a:solidFill>
                  <a:srgbClr val="FF0000"/>
                </a:solidFill>
                <a:latin typeface="Arial"/>
                <a:ea typeface="Arial"/>
                <a:cs typeface="Arial"/>
                <a:sym typeface="Arial"/>
              </a:rPr>
              <a:t>maC</a:t>
            </a:r>
            <a:r>
              <a:rPr b="1" i="0" lang="en-US" sz="1600" u="none">
                <a:solidFill>
                  <a:srgbClr val="FF0000"/>
                </a:solidFill>
                <a:latin typeface="Arial"/>
                <a:ea typeface="Arial"/>
                <a:cs typeface="Arial"/>
                <a:sym typeface="Arial"/>
              </a:rPr>
              <a:t>* TX</a:t>
            </a:r>
            <a:r>
              <a:rPr b="1" baseline="-25000" i="0" lang="en-US" sz="1600" u="none">
                <a:solidFill>
                  <a:srgbClr val="FF0000"/>
                </a:solidFill>
                <a:latin typeface="Arial"/>
                <a:ea typeface="Arial"/>
                <a:cs typeface="Arial"/>
                <a:sym typeface="Arial"/>
              </a:rPr>
              <a:t>0</a:t>
            </a:r>
            <a:r>
              <a:rPr b="1" i="0" lang="en-US" sz="1600" u="none">
                <a:solidFill>
                  <a:srgbClr val="008000"/>
                </a:solidFill>
                <a:latin typeface="Arial"/>
                <a:ea typeface="Arial"/>
                <a:cs typeface="Arial"/>
                <a:sym typeface="Arial"/>
              </a:rPr>
              <a:t> + P</a:t>
            </a:r>
            <a:r>
              <a:rPr b="1" baseline="-25000" i="0" lang="en-US" sz="1600" u="none">
                <a:solidFill>
                  <a:srgbClr val="008000"/>
                </a:solidFill>
                <a:latin typeface="Arial"/>
                <a:ea typeface="Arial"/>
                <a:cs typeface="Arial"/>
                <a:sym typeface="Arial"/>
              </a:rPr>
              <a:t>maC</a:t>
            </a:r>
            <a:r>
              <a:rPr b="1" i="0" lang="en-US" sz="1600" u="none">
                <a:solidFill>
                  <a:srgbClr val="008000"/>
                </a:solidFill>
                <a:latin typeface="Arial"/>
                <a:ea typeface="Arial"/>
                <a:cs typeface="Arial"/>
                <a:sym typeface="Arial"/>
              </a:rPr>
              <a:t>* TR</a:t>
            </a:r>
            <a:r>
              <a:rPr b="1" baseline="-25000" i="0" lang="en-US" sz="1600" u="none">
                <a:solidFill>
                  <a:srgbClr val="008000"/>
                </a:solidFill>
                <a:latin typeface="Arial"/>
                <a:ea typeface="Arial"/>
                <a:cs typeface="Arial"/>
                <a:sym typeface="Arial"/>
              </a:rPr>
              <a:t>0</a:t>
            </a:r>
            <a:r>
              <a:rPr b="1" i="0" lang="en-US" sz="1600" u="none">
                <a:solidFill>
                  <a:srgbClr val="008000"/>
                </a:solidFill>
                <a:latin typeface="Arial"/>
                <a:ea typeface="Arial"/>
                <a:cs typeface="Arial"/>
                <a:sym typeface="Arial"/>
              </a:rPr>
              <a:t>)</a:t>
            </a:r>
          </a:p>
          <a:p>
            <a:pPr indent="0" lvl="0" marL="0" marR="0" rtl="0" algn="l">
              <a:lnSpc>
                <a:spcPct val="110000"/>
              </a:lnSpc>
              <a:spcBef>
                <a:spcPts val="0"/>
              </a:spcBef>
              <a:spcAft>
                <a:spcPts val="0"/>
              </a:spcAft>
              <a:buClr>
                <a:schemeClr val="dk1"/>
              </a:buClr>
              <a:buFont typeface="Calibri"/>
              <a:buNone/>
            </a:pPr>
            <a:r>
              <a:t/>
            </a:r>
            <a:endParaRPr b="1" i="0" sz="1600" u="none">
              <a:solidFill>
                <a:srgbClr val="008000"/>
              </a:solidFill>
              <a:latin typeface="Arial"/>
              <a:ea typeface="Arial"/>
              <a:cs typeface="Arial"/>
              <a:sym typeface="Arial"/>
            </a:endParaRPr>
          </a:p>
          <a:p>
            <a:pPr indent="0" lvl="0" marL="0" marR="0" rtl="0" algn="l">
              <a:lnSpc>
                <a:spcPct val="110000"/>
              </a:lnSpc>
              <a:spcBef>
                <a:spcPts val="0"/>
              </a:spcBef>
              <a:spcAft>
                <a:spcPts val="0"/>
              </a:spcAft>
              <a:buClr>
                <a:srgbClr val="008000"/>
              </a:buClr>
              <a:buSzPct val="25000"/>
              <a:buFont typeface="Arial"/>
              <a:buNone/>
            </a:pPr>
            <a:r>
              <a:rPr b="1" i="0" lang="en-US" sz="1600" u="none">
                <a:solidFill>
                  <a:srgbClr val="008000"/>
                </a:solidFill>
                <a:latin typeface="Arial"/>
                <a:ea typeface="Arial"/>
                <a:cs typeface="Arial"/>
                <a:sym typeface="Arial"/>
              </a:rPr>
              <a:t>	</a:t>
            </a:r>
            <a:r>
              <a:rPr b="1" i="0" lang="en-US" sz="3200" u="none">
                <a:solidFill>
                  <a:schemeClr val="dk1"/>
                </a:solidFill>
                <a:latin typeface="Arial"/>
                <a:ea typeface="Arial"/>
                <a:cs typeface="Arial"/>
                <a:sym typeface="Arial"/>
              </a:rPr>
              <a:t>Y</a:t>
            </a:r>
            <a:r>
              <a:rPr b="1" i="0" lang="en-US" sz="3200" u="none">
                <a:solidFill>
                  <a:srgbClr val="008000"/>
                </a:solidFill>
                <a:latin typeface="Arial"/>
                <a:ea typeface="Arial"/>
                <a:cs typeface="Arial"/>
                <a:sym typeface="Arial"/>
              </a:rPr>
              <a:t>				        </a:t>
            </a:r>
            <a:r>
              <a:rPr b="1" i="0" lang="en-US" sz="3200" u="none">
                <a:solidFill>
                  <a:srgbClr val="FF0000"/>
                </a:solidFill>
                <a:latin typeface="Arial"/>
                <a:ea typeface="Arial"/>
                <a:cs typeface="Arial"/>
                <a:sym typeface="Arial"/>
              </a:rPr>
              <a:t>TX</a:t>
            </a:r>
          </a:p>
          <a:p>
            <a:pPr indent="0" lvl="0" marL="0" marR="0" rtl="0" algn="l">
              <a:lnSpc>
                <a:spcPct val="100000"/>
              </a:lnSpc>
              <a:spcBef>
                <a:spcPts val="0"/>
              </a:spcBef>
              <a:spcAft>
                <a:spcPts val="0"/>
              </a:spcAft>
              <a:buNone/>
            </a:pPr>
            <a:r>
              <a:t/>
            </a:r>
            <a:endParaRPr b="1" i="0" sz="3200" u="none">
              <a:solidFill>
                <a:srgbClr val="FF0000"/>
              </a:solidFill>
              <a:latin typeface="Arial"/>
              <a:ea typeface="Arial"/>
              <a:cs typeface="Arial"/>
              <a:sym typeface="Arial"/>
            </a:endParaRPr>
          </a:p>
        </p:txBody>
      </p:sp>
      <p:sp>
        <p:nvSpPr>
          <p:cNvPr id="253" name="Shape 253"/>
          <p:cNvSpPr/>
          <p:nvPr/>
        </p:nvSpPr>
        <p:spPr>
          <a:xfrm rot="-5400000">
            <a:off x="6630193" y="4593431"/>
            <a:ext cx="877887" cy="727074"/>
          </a:xfrm>
          <a:prstGeom prst="stripedRightArrow">
            <a:avLst>
              <a:gd fmla="val 50000" name="adj1"/>
              <a:gd fmla="val 50000" name="adj2"/>
            </a:avLst>
          </a:prstGeom>
          <a:solidFill>
            <a:srgbClr val="FF0000"/>
          </a:solidFill>
          <a:ln cap="flat" cmpd="sng" w="9525">
            <a:solidFill>
              <a:schemeClr val="dk1"/>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254" name="Shape 254"/>
          <p:cNvSpPr/>
          <p:nvPr/>
        </p:nvSpPr>
        <p:spPr>
          <a:xfrm rot="5400000">
            <a:off x="270668" y="4509293"/>
            <a:ext cx="877887" cy="727074"/>
          </a:xfrm>
          <a:prstGeom prst="stripedRightArrow">
            <a:avLst>
              <a:gd fmla="val 50000" name="adj1"/>
              <a:gd fmla="val 50000" name="adj2"/>
            </a:avLst>
          </a:prstGeom>
          <a:solidFill>
            <a:schemeClr val="dk1"/>
          </a:solidFill>
          <a:ln cap="flat" cmpd="sng" w="9525">
            <a:solidFill>
              <a:schemeClr val="dk1"/>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255" name="Shape 255"/>
          <p:cNvSpPr txBox="1"/>
          <p:nvPr/>
        </p:nvSpPr>
        <p:spPr>
          <a:xfrm>
            <a:off x="263525" y="5451475"/>
            <a:ext cx="8610599" cy="1138236"/>
          </a:xfrm>
          <a:prstGeom prst="rect">
            <a:avLst/>
          </a:prstGeom>
          <a:solidFill>
            <a:srgbClr val="C0C0C0">
              <a:alpha val="94901"/>
            </a:srgbClr>
          </a:solidFill>
          <a:ln cap="flat" cmpd="sng" w="9525">
            <a:solidFill>
              <a:schemeClr val="dk1"/>
            </a:solidFill>
            <a:prstDash val="solid"/>
            <a:miter/>
            <a:headEnd len="med" w="med" type="none"/>
            <a:tailEnd len="med" w="med" type="none"/>
          </a:ln>
        </p:spPr>
        <p:txBody>
          <a:bodyPr anchorCtr="0" anchor="ctr" bIns="152350" lIns="79200" rIns="91425" tIns="152350">
            <a:noAutofit/>
          </a:bodyPr>
          <a:lstStyle/>
          <a:p>
            <a:pPr indent="0" lvl="0" marL="0" marR="0" rtl="0" algn="l">
              <a:lnSpc>
                <a:spcPct val="100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Al aumentar la recaudación impositiva amortigua el crecimiento económico, </a:t>
            </a:r>
          </a:p>
          <a:p>
            <a:pPr indent="0" lvl="0" marL="0" marR="0" rtl="0" algn="l">
              <a:lnSpc>
                <a:spcPct val="100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por el contrario, si la actividad se reduce también lo hará la renta haciendo</a:t>
            </a:r>
          </a:p>
          <a:p>
            <a:pPr indent="0" lvl="0" marL="0" marR="0" rtl="0" algn="l">
              <a:lnSpc>
                <a:spcPct val="100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caer la recaudación mejorando en consecuencia el nivel de producción.</a:t>
            </a:r>
          </a:p>
        </p:txBody>
      </p:sp>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59" name="Shape 259"/>
        <p:cNvGrpSpPr/>
        <p:nvPr/>
      </p:nvGrpSpPr>
      <p:grpSpPr>
        <a:xfrm>
          <a:off x="0" y="0"/>
          <a:ext cx="0" cy="0"/>
          <a:chOff x="0" y="0"/>
          <a:chExt cx="0" cy="0"/>
        </a:xfrm>
      </p:grpSpPr>
      <p:pic>
        <p:nvPicPr>
          <p:cNvPr id="260" name="Shape 260"/>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261" name="Shape 261"/>
          <p:cNvPicPr preferRelativeResize="0"/>
          <p:nvPr/>
        </p:nvPicPr>
        <p:blipFill rotWithShape="1">
          <a:blip r:embed="rId4">
            <a:alphaModFix/>
          </a:blip>
          <a:srcRect b="0" l="0" r="0" t="0"/>
          <a:stretch/>
        </p:blipFill>
        <p:spPr>
          <a:xfrm>
            <a:off x="304800" y="1500187"/>
            <a:ext cx="8645524" cy="5129211"/>
          </a:xfrm>
          <a:prstGeom prst="rect">
            <a:avLst/>
          </a:prstGeom>
          <a:noFill/>
          <a:ln>
            <a:noFill/>
          </a:ln>
        </p:spPr>
      </p:pic>
      <p:pic>
        <p:nvPicPr>
          <p:cNvPr id="262" name="Shape 262"/>
          <p:cNvPicPr preferRelativeResize="0"/>
          <p:nvPr/>
        </p:nvPicPr>
        <p:blipFill rotWithShape="1">
          <a:blip r:embed="rId5">
            <a:alphaModFix/>
          </a:blip>
          <a:srcRect b="0" l="0" r="0" t="0"/>
          <a:stretch/>
        </p:blipFill>
        <p:spPr>
          <a:xfrm>
            <a:off x="255587" y="306387"/>
            <a:ext cx="3013074" cy="608011"/>
          </a:xfrm>
          <a:prstGeom prst="rect">
            <a:avLst/>
          </a:prstGeom>
          <a:noFill/>
          <a:ln>
            <a:noFill/>
          </a:ln>
        </p:spPr>
      </p:pic>
      <p:sp>
        <p:nvSpPr>
          <p:cNvPr id="263" name="Shape 263"/>
          <p:cNvSpPr txBox="1"/>
          <p:nvPr/>
        </p:nvSpPr>
        <p:spPr>
          <a:xfrm>
            <a:off x="3276600" y="76200"/>
            <a:ext cx="5638800"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a:solidFill>
                  <a:srgbClr val="BB4F59"/>
                </a:solidFill>
                <a:latin typeface="Arial"/>
                <a:ea typeface="Arial"/>
                <a:cs typeface="Arial"/>
                <a:sym typeface="Arial"/>
              </a:rPr>
              <a:t>ESTABILIZADORES AUTOMÁTICOS</a:t>
            </a:r>
          </a:p>
          <a:p>
            <a:pPr indent="0" lvl="0" marL="0" marR="0" rtl="0" algn="ctr">
              <a:lnSpc>
                <a:spcPct val="100000"/>
              </a:lnSpc>
              <a:spcBef>
                <a:spcPts val="0"/>
              </a:spcBef>
              <a:spcAft>
                <a:spcPts val="0"/>
              </a:spcAft>
              <a:buClr>
                <a:schemeClr val="dk2"/>
              </a:buClr>
              <a:buSzPct val="25000"/>
              <a:buFont typeface="Arial"/>
              <a:buNone/>
            </a:pPr>
            <a:r>
              <a:rPr b="1" i="0" lang="en-US" sz="2400" u="none">
                <a:solidFill>
                  <a:schemeClr val="dk2"/>
                </a:solidFill>
                <a:latin typeface="Arial"/>
                <a:ea typeface="Arial"/>
                <a:cs typeface="Arial"/>
                <a:sym typeface="Arial"/>
              </a:rPr>
              <a:t>SEGURO DE DESEMPLEO</a:t>
            </a:r>
          </a:p>
        </p:txBody>
      </p:sp>
      <p:sp>
        <p:nvSpPr>
          <p:cNvPr id="264" name="Shape 264"/>
          <p:cNvSpPr txBox="1"/>
          <p:nvPr/>
        </p:nvSpPr>
        <p:spPr>
          <a:xfrm>
            <a:off x="304800" y="1524000"/>
            <a:ext cx="8569325" cy="3998911"/>
          </a:xfrm>
          <a:prstGeom prst="rect">
            <a:avLst/>
          </a:prstGeom>
          <a:solidFill>
            <a:srgbClr val="FFFF00">
              <a:alpha val="53725"/>
            </a:srgbClr>
          </a:solidFill>
          <a:ln>
            <a:noFill/>
          </a:ln>
        </p:spPr>
        <p:txBody>
          <a:bodyPr anchorCtr="0" anchor="ctr" bIns="76175" lIns="97200" rIns="91425" tIns="76175">
            <a:noAutofit/>
          </a:bodyPr>
          <a:lstStyle/>
          <a:p>
            <a:pPr indent="0" lvl="0" marL="0" marR="0" rtl="0" algn="l">
              <a:lnSpc>
                <a:spcPct val="100000"/>
              </a:lnSpc>
              <a:spcBef>
                <a:spcPts val="0"/>
              </a:spcBef>
              <a:spcAft>
                <a:spcPts val="0"/>
              </a:spcAft>
              <a:buClr>
                <a:schemeClr val="dk2"/>
              </a:buClr>
              <a:buSzPct val="25000"/>
              <a:buFont typeface="Arial"/>
              <a:buNone/>
            </a:pPr>
            <a:r>
              <a:rPr b="1" i="1" lang="en-US" sz="1800" u="none">
                <a:solidFill>
                  <a:schemeClr val="dk2"/>
                </a:solidFill>
                <a:latin typeface="Arial"/>
                <a:ea typeface="Arial"/>
                <a:cs typeface="Arial"/>
                <a:sym typeface="Arial"/>
              </a:rPr>
              <a:t>SEGURO DE DESEMPLEO</a:t>
            </a:r>
          </a:p>
          <a:p>
            <a:pPr indent="0" lvl="0" marL="0" marR="0" rtl="0" algn="l">
              <a:lnSpc>
                <a:spcPct val="100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Si cae la actividad económica consideraremos que crece el desempleo, por lo tanto en consecuencia disminuirá el consumo acelerando la caída de la producción, para amortiguar el efecto el gobierno dispone de subsidios o transferencias encuadradados dentro del seguro de desempleo .</a:t>
            </a:r>
          </a:p>
          <a:p>
            <a:pPr indent="0" lvl="0" marL="0" marR="0" rtl="0" algn="l">
              <a:lnSpc>
                <a:spcPct val="100000"/>
              </a:lnSpc>
              <a:spcBef>
                <a:spcPts val="0"/>
              </a:spcBef>
              <a:spcAft>
                <a:spcPts val="0"/>
              </a:spcAft>
              <a:buClr>
                <a:schemeClr val="dk1"/>
              </a:buClr>
              <a:buFont typeface="Calibri"/>
              <a:buNone/>
            </a:pPr>
            <a:r>
              <a:t/>
            </a:r>
            <a:endParaRPr b="1" i="1" sz="18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Si medimos la producción  en modelo de cuatro sectores con impuestos e importaciones proporcionales a la renta tendremos que: </a:t>
            </a:r>
          </a:p>
          <a:p>
            <a:pPr indent="0" lvl="0" marL="0" marR="0" rtl="0" algn="l">
              <a:lnSpc>
                <a:spcPct val="100000"/>
              </a:lnSpc>
              <a:spcBef>
                <a:spcPts val="0"/>
              </a:spcBef>
              <a:spcAft>
                <a:spcPts val="0"/>
              </a:spcAft>
              <a:buClr>
                <a:schemeClr val="dk1"/>
              </a:buClr>
              <a:buFont typeface="Calibri"/>
              <a:buNone/>
            </a:pPr>
            <a:r>
              <a:t/>
            </a:r>
            <a:endParaRPr b="1" i="1" sz="1800" u="none">
              <a:solidFill>
                <a:schemeClr val="dk1"/>
              </a:solidFill>
              <a:latin typeface="Arial"/>
              <a:ea typeface="Arial"/>
              <a:cs typeface="Arial"/>
              <a:sym typeface="Arial"/>
            </a:endParaRPr>
          </a:p>
          <a:p>
            <a:pPr indent="0" lvl="0" marL="0" marR="0" rtl="0" algn="l">
              <a:lnSpc>
                <a:spcPct val="110000"/>
              </a:lnSpc>
              <a:spcBef>
                <a:spcPts val="0"/>
              </a:spcBef>
              <a:spcAft>
                <a:spcPts val="0"/>
              </a:spcAft>
              <a:buClr>
                <a:schemeClr val="dk1"/>
              </a:buClr>
              <a:buSzPct val="25000"/>
              <a:buFont typeface="Arial"/>
              <a:buNone/>
            </a:pPr>
            <a:r>
              <a:rPr b="1" i="0" lang="en-US" sz="1600" u="none">
                <a:solidFill>
                  <a:schemeClr val="dk1"/>
                </a:solidFill>
                <a:latin typeface="Arial"/>
                <a:ea typeface="Arial"/>
                <a:cs typeface="Arial"/>
                <a:sym typeface="Arial"/>
              </a:rPr>
              <a:t>Y =</a:t>
            </a:r>
            <a:r>
              <a:rPr b="1" i="0" lang="en-US" sz="1600" u="none">
                <a:solidFill>
                  <a:srgbClr val="008000"/>
                </a:solidFill>
                <a:latin typeface="Arial"/>
                <a:ea typeface="Arial"/>
                <a:cs typeface="Arial"/>
                <a:sym typeface="Arial"/>
              </a:rPr>
              <a:t> </a:t>
            </a:r>
            <a:r>
              <a:rPr b="1" i="0" lang="en-US" sz="1600" u="none">
                <a:solidFill>
                  <a:srgbClr val="CC0099"/>
                </a:solidFill>
                <a:latin typeface="Arial"/>
                <a:ea typeface="Arial"/>
                <a:cs typeface="Arial"/>
                <a:sym typeface="Arial"/>
              </a:rPr>
              <a:t>(1 / (1 - P</a:t>
            </a:r>
            <a:r>
              <a:rPr b="1" baseline="-25000" i="0" lang="en-US" sz="1600" u="none">
                <a:solidFill>
                  <a:srgbClr val="CC0099"/>
                </a:solidFill>
                <a:latin typeface="Arial"/>
                <a:ea typeface="Arial"/>
                <a:cs typeface="Arial"/>
                <a:sym typeface="Arial"/>
              </a:rPr>
              <a:t>maC</a:t>
            </a:r>
            <a:r>
              <a:rPr b="1" i="0" lang="en-US" sz="1600" u="none">
                <a:solidFill>
                  <a:srgbClr val="CC0099"/>
                </a:solidFill>
                <a:latin typeface="Arial"/>
                <a:ea typeface="Arial"/>
                <a:cs typeface="Arial"/>
                <a:sym typeface="Arial"/>
              </a:rPr>
              <a:t> + P</a:t>
            </a:r>
            <a:r>
              <a:rPr b="1" baseline="-25000" i="0" lang="en-US" sz="1600" u="none">
                <a:solidFill>
                  <a:srgbClr val="CC0099"/>
                </a:solidFill>
                <a:latin typeface="Arial"/>
                <a:ea typeface="Arial"/>
                <a:cs typeface="Arial"/>
                <a:sym typeface="Arial"/>
              </a:rPr>
              <a:t>maC</a:t>
            </a:r>
            <a:r>
              <a:rPr b="1" i="0" lang="en-US" sz="1600" u="none">
                <a:solidFill>
                  <a:srgbClr val="CC0099"/>
                </a:solidFill>
                <a:latin typeface="Arial"/>
                <a:ea typeface="Arial"/>
                <a:cs typeface="Arial"/>
                <a:sym typeface="Arial"/>
              </a:rPr>
              <a:t> * P</a:t>
            </a:r>
            <a:r>
              <a:rPr b="1" baseline="-25000" i="0" lang="en-US" sz="1600" u="none">
                <a:solidFill>
                  <a:srgbClr val="CC0099"/>
                </a:solidFill>
                <a:latin typeface="Arial"/>
                <a:ea typeface="Arial"/>
                <a:cs typeface="Arial"/>
                <a:sym typeface="Arial"/>
              </a:rPr>
              <a:t>maT </a:t>
            </a:r>
            <a:r>
              <a:rPr b="1" i="0" lang="en-US" sz="1600" u="none">
                <a:solidFill>
                  <a:srgbClr val="CC0099"/>
                </a:solidFill>
                <a:latin typeface="Arial"/>
                <a:ea typeface="Arial"/>
                <a:cs typeface="Arial"/>
                <a:sym typeface="Arial"/>
              </a:rPr>
              <a:t>+ P</a:t>
            </a:r>
            <a:r>
              <a:rPr b="1" baseline="-25000" i="0" lang="en-US" sz="1600" u="none">
                <a:solidFill>
                  <a:srgbClr val="CC0099"/>
                </a:solidFill>
                <a:latin typeface="Arial"/>
                <a:ea typeface="Arial"/>
                <a:cs typeface="Arial"/>
                <a:sym typeface="Arial"/>
              </a:rPr>
              <a:t>maM</a:t>
            </a:r>
            <a:r>
              <a:rPr b="1" i="0" lang="en-US" sz="1600" u="none">
                <a:solidFill>
                  <a:srgbClr val="CC0099"/>
                </a:solidFill>
                <a:latin typeface="Arial"/>
                <a:ea typeface="Arial"/>
                <a:cs typeface="Arial"/>
                <a:sym typeface="Arial"/>
              </a:rPr>
              <a:t>))</a:t>
            </a:r>
            <a:r>
              <a:rPr b="1" i="0" lang="en-US" sz="1600" u="none">
                <a:solidFill>
                  <a:srgbClr val="008000"/>
                </a:solidFill>
                <a:latin typeface="Arial"/>
                <a:ea typeface="Arial"/>
                <a:cs typeface="Arial"/>
                <a:sym typeface="Arial"/>
              </a:rPr>
              <a:t> * (GP</a:t>
            </a:r>
            <a:r>
              <a:rPr b="1" baseline="-25000" i="0" lang="en-US" sz="1600" u="none">
                <a:solidFill>
                  <a:srgbClr val="008000"/>
                </a:solidFill>
                <a:latin typeface="Arial"/>
                <a:ea typeface="Arial"/>
                <a:cs typeface="Arial"/>
                <a:sym typeface="Arial"/>
              </a:rPr>
              <a:t>0</a:t>
            </a:r>
            <a:r>
              <a:rPr b="1" i="0" lang="en-US" sz="1600" u="none">
                <a:solidFill>
                  <a:srgbClr val="008000"/>
                </a:solidFill>
                <a:latin typeface="Arial"/>
                <a:ea typeface="Arial"/>
                <a:cs typeface="Arial"/>
                <a:sym typeface="Arial"/>
              </a:rPr>
              <a:t> + I</a:t>
            </a:r>
            <a:r>
              <a:rPr b="1" baseline="-25000" i="0" lang="en-US" sz="1600" u="none">
                <a:solidFill>
                  <a:srgbClr val="008000"/>
                </a:solidFill>
                <a:latin typeface="Arial"/>
                <a:ea typeface="Arial"/>
                <a:cs typeface="Arial"/>
                <a:sym typeface="Arial"/>
              </a:rPr>
              <a:t>0</a:t>
            </a:r>
            <a:r>
              <a:rPr b="1" i="0" lang="en-US" sz="1600" u="none">
                <a:solidFill>
                  <a:srgbClr val="008000"/>
                </a:solidFill>
                <a:latin typeface="Arial"/>
                <a:ea typeface="Arial"/>
                <a:cs typeface="Arial"/>
                <a:sym typeface="Arial"/>
              </a:rPr>
              <a:t> + C</a:t>
            </a:r>
            <a:r>
              <a:rPr b="1" baseline="-25000" i="0" lang="en-US" sz="1600" u="none">
                <a:solidFill>
                  <a:srgbClr val="008000"/>
                </a:solidFill>
                <a:latin typeface="Arial"/>
                <a:ea typeface="Arial"/>
                <a:cs typeface="Arial"/>
                <a:sym typeface="Arial"/>
              </a:rPr>
              <a:t>0</a:t>
            </a:r>
            <a:r>
              <a:rPr b="1" i="0" lang="en-US" sz="1600" u="none">
                <a:solidFill>
                  <a:srgbClr val="008000"/>
                </a:solidFill>
                <a:latin typeface="Arial"/>
                <a:ea typeface="Arial"/>
                <a:cs typeface="Arial"/>
                <a:sym typeface="Arial"/>
              </a:rPr>
              <a:t> + X</a:t>
            </a:r>
            <a:r>
              <a:rPr b="1" baseline="-25000" i="0" lang="en-US" sz="1600" u="none">
                <a:solidFill>
                  <a:srgbClr val="008000"/>
                </a:solidFill>
                <a:latin typeface="Arial"/>
                <a:ea typeface="Arial"/>
                <a:cs typeface="Arial"/>
                <a:sym typeface="Arial"/>
              </a:rPr>
              <a:t>0</a:t>
            </a:r>
            <a:r>
              <a:rPr b="0" i="0" lang="en-US" sz="1600" u="none">
                <a:solidFill>
                  <a:srgbClr val="008000"/>
                </a:solidFill>
                <a:latin typeface="Arial"/>
                <a:ea typeface="Arial"/>
                <a:cs typeface="Arial"/>
                <a:sym typeface="Arial"/>
              </a:rPr>
              <a:t> - </a:t>
            </a:r>
            <a:r>
              <a:rPr b="1" i="0" lang="en-US" sz="1600" u="none">
                <a:solidFill>
                  <a:srgbClr val="008000"/>
                </a:solidFill>
                <a:latin typeface="Arial"/>
                <a:ea typeface="Arial"/>
                <a:cs typeface="Arial"/>
                <a:sym typeface="Arial"/>
              </a:rPr>
              <a:t>M</a:t>
            </a:r>
            <a:r>
              <a:rPr b="1" baseline="-25000" i="0" lang="en-US" sz="1600" u="none">
                <a:solidFill>
                  <a:srgbClr val="008000"/>
                </a:solidFill>
                <a:latin typeface="Arial"/>
                <a:ea typeface="Arial"/>
                <a:cs typeface="Arial"/>
                <a:sym typeface="Arial"/>
              </a:rPr>
              <a:t>0</a:t>
            </a:r>
            <a:r>
              <a:rPr b="1" i="0" lang="en-US" sz="1600" u="none">
                <a:solidFill>
                  <a:srgbClr val="008000"/>
                </a:solidFill>
                <a:latin typeface="Arial"/>
                <a:ea typeface="Arial"/>
                <a:cs typeface="Arial"/>
                <a:sym typeface="Arial"/>
              </a:rPr>
              <a:t> – P</a:t>
            </a:r>
            <a:r>
              <a:rPr b="1" baseline="-25000" i="0" lang="en-US" sz="1600" u="none">
                <a:solidFill>
                  <a:srgbClr val="008000"/>
                </a:solidFill>
                <a:latin typeface="Arial"/>
                <a:ea typeface="Arial"/>
                <a:cs typeface="Arial"/>
                <a:sym typeface="Arial"/>
              </a:rPr>
              <a:t>maC</a:t>
            </a:r>
            <a:r>
              <a:rPr b="1" i="0" lang="en-US" sz="1600" u="none">
                <a:solidFill>
                  <a:srgbClr val="008000"/>
                </a:solidFill>
                <a:latin typeface="Arial"/>
                <a:ea typeface="Arial"/>
                <a:cs typeface="Arial"/>
                <a:sym typeface="Arial"/>
              </a:rPr>
              <a:t>* TX</a:t>
            </a:r>
            <a:r>
              <a:rPr b="1" baseline="-25000" i="0" lang="en-US" sz="1600" u="none">
                <a:solidFill>
                  <a:srgbClr val="008000"/>
                </a:solidFill>
                <a:latin typeface="Arial"/>
                <a:ea typeface="Arial"/>
                <a:cs typeface="Arial"/>
                <a:sym typeface="Arial"/>
              </a:rPr>
              <a:t>0</a:t>
            </a:r>
            <a:r>
              <a:rPr b="1" i="0" lang="en-US" sz="1600" u="none">
                <a:solidFill>
                  <a:srgbClr val="008000"/>
                </a:solidFill>
                <a:latin typeface="Arial"/>
                <a:ea typeface="Arial"/>
                <a:cs typeface="Arial"/>
                <a:sym typeface="Arial"/>
              </a:rPr>
              <a:t> </a:t>
            </a:r>
            <a:r>
              <a:rPr b="1" i="0" lang="en-US" sz="1600" u="none">
                <a:solidFill>
                  <a:schemeClr val="dk2"/>
                </a:solidFill>
                <a:latin typeface="Arial"/>
                <a:ea typeface="Arial"/>
                <a:cs typeface="Arial"/>
                <a:sym typeface="Arial"/>
              </a:rPr>
              <a:t>+</a:t>
            </a:r>
            <a:r>
              <a:rPr b="0" i="0" lang="en-US" sz="1600" u="none">
                <a:solidFill>
                  <a:schemeClr val="dk2"/>
                </a:solidFill>
                <a:latin typeface="Arial"/>
                <a:ea typeface="Arial"/>
                <a:cs typeface="Arial"/>
                <a:sym typeface="Arial"/>
              </a:rPr>
              <a:t> </a:t>
            </a:r>
            <a:r>
              <a:rPr b="1" i="0" lang="en-US" sz="1600" u="none">
                <a:solidFill>
                  <a:schemeClr val="dk2"/>
                </a:solidFill>
                <a:latin typeface="Arial"/>
                <a:ea typeface="Arial"/>
                <a:cs typeface="Arial"/>
                <a:sym typeface="Arial"/>
              </a:rPr>
              <a:t>P</a:t>
            </a:r>
            <a:r>
              <a:rPr b="1" baseline="-25000" i="0" lang="en-US" sz="1600" u="none">
                <a:solidFill>
                  <a:schemeClr val="dk2"/>
                </a:solidFill>
                <a:latin typeface="Arial"/>
                <a:ea typeface="Arial"/>
                <a:cs typeface="Arial"/>
                <a:sym typeface="Arial"/>
              </a:rPr>
              <a:t>maC</a:t>
            </a:r>
            <a:r>
              <a:rPr b="1" i="0" lang="en-US" sz="1600" u="none">
                <a:solidFill>
                  <a:schemeClr val="dk2"/>
                </a:solidFill>
                <a:latin typeface="Arial"/>
                <a:ea typeface="Arial"/>
                <a:cs typeface="Arial"/>
                <a:sym typeface="Arial"/>
              </a:rPr>
              <a:t>* TR</a:t>
            </a:r>
            <a:r>
              <a:rPr b="1" baseline="-25000" i="0" lang="en-US" sz="1600" u="none">
                <a:solidFill>
                  <a:schemeClr val="dk2"/>
                </a:solidFill>
                <a:latin typeface="Arial"/>
                <a:ea typeface="Arial"/>
                <a:cs typeface="Arial"/>
                <a:sym typeface="Arial"/>
              </a:rPr>
              <a:t>0</a:t>
            </a:r>
            <a:r>
              <a:rPr b="1" i="0" lang="en-US" sz="1600" u="none">
                <a:solidFill>
                  <a:srgbClr val="008000"/>
                </a:solidFill>
                <a:latin typeface="Arial"/>
                <a:ea typeface="Arial"/>
                <a:cs typeface="Arial"/>
                <a:sym typeface="Arial"/>
              </a:rPr>
              <a:t>)</a:t>
            </a:r>
          </a:p>
          <a:p>
            <a:pPr indent="0" lvl="0" marL="0" marR="0" rtl="0" algn="l">
              <a:lnSpc>
                <a:spcPct val="110000"/>
              </a:lnSpc>
              <a:spcBef>
                <a:spcPts val="0"/>
              </a:spcBef>
              <a:spcAft>
                <a:spcPts val="0"/>
              </a:spcAft>
              <a:buClr>
                <a:schemeClr val="dk1"/>
              </a:buClr>
              <a:buFont typeface="Calibri"/>
              <a:buNone/>
            </a:pPr>
            <a:r>
              <a:t/>
            </a:r>
            <a:endParaRPr b="1" i="0" sz="1600" u="none">
              <a:solidFill>
                <a:srgbClr val="008000"/>
              </a:solidFill>
              <a:latin typeface="Arial"/>
              <a:ea typeface="Arial"/>
              <a:cs typeface="Arial"/>
              <a:sym typeface="Arial"/>
            </a:endParaRPr>
          </a:p>
          <a:p>
            <a:pPr indent="0" lvl="0" marL="0" marR="0" rtl="0" algn="l">
              <a:lnSpc>
                <a:spcPct val="110000"/>
              </a:lnSpc>
              <a:spcBef>
                <a:spcPts val="0"/>
              </a:spcBef>
              <a:spcAft>
                <a:spcPts val="0"/>
              </a:spcAft>
              <a:buClr>
                <a:srgbClr val="008000"/>
              </a:buClr>
              <a:buSzPct val="25000"/>
              <a:buFont typeface="Arial"/>
              <a:buNone/>
            </a:pPr>
            <a:r>
              <a:rPr b="1" i="0" lang="en-US" sz="1600" u="none">
                <a:solidFill>
                  <a:srgbClr val="008000"/>
                </a:solidFill>
                <a:latin typeface="Arial"/>
                <a:ea typeface="Arial"/>
                <a:cs typeface="Arial"/>
                <a:sym typeface="Arial"/>
              </a:rPr>
              <a:t>	</a:t>
            </a:r>
            <a:r>
              <a:rPr b="1" i="0" lang="en-US" sz="3200" u="none">
                <a:solidFill>
                  <a:schemeClr val="dk1"/>
                </a:solidFill>
                <a:latin typeface="Arial"/>
                <a:ea typeface="Arial"/>
                <a:cs typeface="Arial"/>
                <a:sym typeface="Arial"/>
              </a:rPr>
              <a:t>Y</a:t>
            </a:r>
            <a:r>
              <a:rPr b="1" i="0" lang="en-US" sz="3200" u="none">
                <a:solidFill>
                  <a:srgbClr val="008000"/>
                </a:solidFill>
                <a:latin typeface="Arial"/>
                <a:ea typeface="Arial"/>
                <a:cs typeface="Arial"/>
                <a:sym typeface="Arial"/>
              </a:rPr>
              <a:t>				                    </a:t>
            </a:r>
            <a:r>
              <a:rPr b="1" i="0" lang="en-US" sz="3200" u="none">
                <a:solidFill>
                  <a:schemeClr val="dk2"/>
                </a:solidFill>
                <a:latin typeface="Arial"/>
                <a:ea typeface="Arial"/>
                <a:cs typeface="Arial"/>
                <a:sym typeface="Arial"/>
              </a:rPr>
              <a:t>TR</a:t>
            </a:r>
          </a:p>
          <a:p>
            <a:pPr indent="0" lvl="0" marL="0" marR="0" rtl="0" algn="l">
              <a:lnSpc>
                <a:spcPct val="100000"/>
              </a:lnSpc>
              <a:spcBef>
                <a:spcPts val="0"/>
              </a:spcBef>
              <a:spcAft>
                <a:spcPts val="0"/>
              </a:spcAft>
              <a:buNone/>
            </a:pPr>
            <a:r>
              <a:t/>
            </a:r>
            <a:endParaRPr b="1" i="0" sz="3200" u="none">
              <a:solidFill>
                <a:schemeClr val="dk2"/>
              </a:solidFill>
              <a:latin typeface="Arial"/>
              <a:ea typeface="Arial"/>
              <a:cs typeface="Arial"/>
              <a:sym typeface="Arial"/>
            </a:endParaRPr>
          </a:p>
        </p:txBody>
      </p:sp>
      <p:sp>
        <p:nvSpPr>
          <p:cNvPr id="265" name="Shape 265"/>
          <p:cNvSpPr/>
          <p:nvPr/>
        </p:nvSpPr>
        <p:spPr>
          <a:xfrm rot="-5400000">
            <a:off x="7642225" y="4503736"/>
            <a:ext cx="976312" cy="808037"/>
          </a:xfrm>
          <a:prstGeom prst="stripedRightArrow">
            <a:avLst>
              <a:gd fmla="val 50000" name="adj1"/>
              <a:gd fmla="val 50000" name="adj2"/>
            </a:avLst>
          </a:prstGeom>
          <a:solidFill>
            <a:schemeClr val="dk2"/>
          </a:solidFill>
          <a:ln cap="flat" cmpd="sng" w="9525">
            <a:solidFill>
              <a:schemeClr val="dk1"/>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266" name="Shape 266"/>
          <p:cNvSpPr/>
          <p:nvPr/>
        </p:nvSpPr>
        <p:spPr>
          <a:xfrm rot="-5400000">
            <a:off x="220662" y="4503736"/>
            <a:ext cx="976312" cy="808037"/>
          </a:xfrm>
          <a:prstGeom prst="stripedRightArrow">
            <a:avLst>
              <a:gd fmla="val 50000" name="adj1"/>
              <a:gd fmla="val 50000" name="adj2"/>
            </a:avLst>
          </a:prstGeom>
          <a:solidFill>
            <a:schemeClr val="dk1"/>
          </a:solidFill>
          <a:ln cap="flat" cmpd="sng" w="9525">
            <a:solidFill>
              <a:schemeClr val="dk1"/>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267" name="Shape 267"/>
          <p:cNvSpPr txBox="1"/>
          <p:nvPr/>
        </p:nvSpPr>
        <p:spPr>
          <a:xfrm>
            <a:off x="263525" y="5451475"/>
            <a:ext cx="8610599" cy="1138236"/>
          </a:xfrm>
          <a:prstGeom prst="rect">
            <a:avLst/>
          </a:prstGeom>
          <a:solidFill>
            <a:srgbClr val="FF0066">
              <a:alpha val="24705"/>
            </a:srgbClr>
          </a:solidFill>
          <a:ln cap="flat" cmpd="sng" w="9525">
            <a:solidFill>
              <a:schemeClr val="dk1"/>
            </a:solidFill>
            <a:prstDash val="solid"/>
            <a:miter/>
            <a:headEnd len="med" w="med" type="none"/>
            <a:tailEnd len="med" w="med" type="none"/>
          </a:ln>
        </p:spPr>
        <p:txBody>
          <a:bodyPr anchorCtr="0" anchor="ctr" bIns="152350" lIns="79200" rIns="91425" tIns="152350">
            <a:noAutofit/>
          </a:bodyPr>
          <a:lstStyle/>
          <a:p>
            <a:pPr indent="0" lvl="0" marL="0" marR="0" rtl="0" algn="l">
              <a:lnSpc>
                <a:spcPct val="100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Al aumentar los subsidios se amortigua la caída de la actividad económica, al recuperarse la actividad se irán reduciendo las transferencias con lo cual también se ralentiza el crecimiento economico.</a:t>
            </a:r>
          </a:p>
        </p:txBody>
      </p:sp>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71" name="Shape 271"/>
        <p:cNvGrpSpPr/>
        <p:nvPr/>
      </p:nvGrpSpPr>
      <p:grpSpPr>
        <a:xfrm>
          <a:off x="0" y="0"/>
          <a:ext cx="0" cy="0"/>
          <a:chOff x="0" y="0"/>
          <a:chExt cx="0" cy="0"/>
        </a:xfrm>
      </p:grpSpPr>
      <p:pic>
        <p:nvPicPr>
          <p:cNvPr id="272" name="Shape 272"/>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273" name="Shape 273"/>
          <p:cNvPicPr preferRelativeResize="0"/>
          <p:nvPr/>
        </p:nvPicPr>
        <p:blipFill rotWithShape="1">
          <a:blip r:embed="rId4">
            <a:alphaModFix/>
          </a:blip>
          <a:srcRect b="0" l="0" r="0" t="0"/>
          <a:stretch/>
        </p:blipFill>
        <p:spPr>
          <a:xfrm>
            <a:off x="255587" y="1423987"/>
            <a:ext cx="8645524" cy="5129211"/>
          </a:xfrm>
          <a:prstGeom prst="rect">
            <a:avLst/>
          </a:prstGeom>
          <a:noFill/>
          <a:ln>
            <a:noFill/>
          </a:ln>
        </p:spPr>
      </p:pic>
      <p:pic>
        <p:nvPicPr>
          <p:cNvPr id="274" name="Shape 274"/>
          <p:cNvPicPr preferRelativeResize="0"/>
          <p:nvPr/>
        </p:nvPicPr>
        <p:blipFill rotWithShape="1">
          <a:blip r:embed="rId5">
            <a:alphaModFix/>
          </a:blip>
          <a:srcRect b="0" l="0" r="0" t="0"/>
          <a:stretch/>
        </p:blipFill>
        <p:spPr>
          <a:xfrm>
            <a:off x="255587" y="306387"/>
            <a:ext cx="3013074" cy="608011"/>
          </a:xfrm>
          <a:prstGeom prst="rect">
            <a:avLst/>
          </a:prstGeom>
          <a:noFill/>
          <a:ln>
            <a:noFill/>
          </a:ln>
        </p:spPr>
      </p:pic>
      <p:sp>
        <p:nvSpPr>
          <p:cNvPr id="275" name="Shape 275"/>
          <p:cNvSpPr txBox="1"/>
          <p:nvPr/>
        </p:nvSpPr>
        <p:spPr>
          <a:xfrm>
            <a:off x="4114800" y="304800"/>
            <a:ext cx="4114800"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a:solidFill>
                  <a:srgbClr val="BB4F59"/>
                </a:solidFill>
                <a:latin typeface="Arial"/>
                <a:ea typeface="Arial"/>
                <a:cs typeface="Arial"/>
                <a:sym typeface="Arial"/>
              </a:rPr>
              <a:t>POLÍTICAS FISCALES DISCRECIONALES</a:t>
            </a:r>
          </a:p>
        </p:txBody>
      </p:sp>
      <p:sp>
        <p:nvSpPr>
          <p:cNvPr id="276" name="Shape 276"/>
          <p:cNvSpPr txBox="1"/>
          <p:nvPr/>
        </p:nvSpPr>
        <p:spPr>
          <a:xfrm>
            <a:off x="304800" y="1316037"/>
            <a:ext cx="8229600" cy="2624137"/>
          </a:xfrm>
          <a:prstGeom prst="rect">
            <a:avLst/>
          </a:prstGeom>
          <a:solidFill>
            <a:srgbClr val="FFFF99"/>
          </a:solidFill>
          <a:ln>
            <a:noFill/>
          </a:ln>
        </p:spPr>
        <p:txBody>
          <a:bodyPr anchorCtr="0" anchor="ctr" bIns="76175" lIns="241200" rIns="91425" tIns="76175">
            <a:noAutofit/>
          </a:bodyPr>
          <a:lstStyle/>
          <a:p>
            <a:pPr indent="-342900" lvl="0" marL="342900" marR="0" rtl="0" algn="l">
              <a:lnSpc>
                <a:spcPct val="100000"/>
              </a:lnSpc>
              <a:spcBef>
                <a:spcPts val="0"/>
              </a:spcBef>
              <a:spcAft>
                <a:spcPts val="0"/>
              </a:spcAft>
              <a:buClr>
                <a:srgbClr val="CC0099"/>
              </a:buClr>
              <a:buSzPct val="25000"/>
              <a:buFont typeface="Arial"/>
              <a:buNone/>
            </a:pPr>
            <a:r>
              <a:rPr b="1" i="1" lang="en-US" sz="1800" u="none">
                <a:solidFill>
                  <a:srgbClr val="CC0099"/>
                </a:solidFill>
                <a:latin typeface="Arial"/>
                <a:ea typeface="Arial"/>
                <a:cs typeface="Arial"/>
                <a:sym typeface="Arial"/>
              </a:rPr>
              <a:t>POLÍTICA FISCAL DISCRECIONAL</a:t>
            </a:r>
          </a:p>
          <a:p>
            <a:pPr indent="-342900" lvl="0" marL="342900" marR="0" rtl="0" algn="l">
              <a:lnSpc>
                <a:spcPct val="100000"/>
              </a:lnSpc>
              <a:spcBef>
                <a:spcPts val="0"/>
              </a:spcBef>
              <a:spcAft>
                <a:spcPts val="0"/>
              </a:spcAft>
              <a:buClr>
                <a:srgbClr val="CC0099"/>
              </a:buClr>
              <a:buSzPct val="100000"/>
              <a:buFont typeface="Arial"/>
              <a:buAutoNum type="arabicPeriod"/>
            </a:pPr>
            <a:r>
              <a:rPr b="1" i="1" lang="en-US" sz="1800" u="none">
                <a:solidFill>
                  <a:srgbClr val="CC0099"/>
                </a:solidFill>
                <a:latin typeface="Arial"/>
                <a:ea typeface="Arial"/>
                <a:cs typeface="Arial"/>
                <a:sym typeface="Arial"/>
              </a:rPr>
              <a:t>Utiliza la inversión pública para dar trabajo a los desempleados.</a:t>
            </a:r>
          </a:p>
          <a:p>
            <a:pPr indent="-342900" lvl="0" marL="342900" marR="0" rtl="0" algn="l">
              <a:lnSpc>
                <a:spcPct val="100000"/>
              </a:lnSpc>
              <a:spcBef>
                <a:spcPts val="0"/>
              </a:spcBef>
              <a:spcAft>
                <a:spcPts val="0"/>
              </a:spcAft>
              <a:buClr>
                <a:schemeClr val="dk1"/>
              </a:buClr>
              <a:buFont typeface="Calibri"/>
              <a:buNone/>
            </a:pPr>
            <a:r>
              <a:t/>
            </a:r>
            <a:endParaRPr b="1" i="1" sz="1800" u="none">
              <a:solidFill>
                <a:srgbClr val="CC0099"/>
              </a:solidFill>
              <a:latin typeface="Arial"/>
              <a:ea typeface="Arial"/>
              <a:cs typeface="Arial"/>
              <a:sym typeface="Arial"/>
            </a:endParaRPr>
          </a:p>
          <a:p>
            <a:pPr indent="-342900" lvl="0" marL="342900" marR="0" rtl="0" algn="l">
              <a:lnSpc>
                <a:spcPct val="100000"/>
              </a:lnSpc>
              <a:spcBef>
                <a:spcPts val="0"/>
              </a:spcBef>
              <a:spcAft>
                <a:spcPts val="0"/>
              </a:spcAft>
              <a:buClr>
                <a:srgbClr val="CC0099"/>
              </a:buClr>
              <a:buSzPct val="100000"/>
              <a:buFont typeface="Arial"/>
              <a:buAutoNum type="arabicPeriod"/>
            </a:pPr>
            <a:r>
              <a:rPr b="1" i="1" lang="en-US" sz="1800" u="none">
                <a:solidFill>
                  <a:srgbClr val="CC0099"/>
                </a:solidFill>
                <a:latin typeface="Arial"/>
                <a:ea typeface="Arial"/>
                <a:cs typeface="Arial"/>
                <a:sym typeface="Arial"/>
              </a:rPr>
              <a:t>Utiliza programas asistenciales adicionales para atender la satisfacción de necesidades primarias en los sectores de la población mas afectados por las contracciones.</a:t>
            </a:r>
          </a:p>
          <a:p>
            <a:pPr indent="-342900" lvl="0" marL="342900" marR="0" rtl="0" algn="l">
              <a:lnSpc>
                <a:spcPct val="100000"/>
              </a:lnSpc>
              <a:spcBef>
                <a:spcPts val="0"/>
              </a:spcBef>
              <a:spcAft>
                <a:spcPts val="0"/>
              </a:spcAft>
              <a:buClr>
                <a:schemeClr val="dk1"/>
              </a:buClr>
              <a:buFont typeface="Calibri"/>
              <a:buNone/>
            </a:pPr>
            <a:r>
              <a:t/>
            </a:r>
            <a:endParaRPr b="1" i="1" sz="1800" u="none">
              <a:solidFill>
                <a:srgbClr val="CC0099"/>
              </a:solidFill>
              <a:latin typeface="Arial"/>
              <a:ea typeface="Arial"/>
              <a:cs typeface="Arial"/>
              <a:sym typeface="Arial"/>
            </a:endParaRPr>
          </a:p>
          <a:p>
            <a:pPr indent="-342900" lvl="0" marL="342900" marR="0" rtl="0" algn="l">
              <a:lnSpc>
                <a:spcPct val="100000"/>
              </a:lnSpc>
              <a:spcBef>
                <a:spcPts val="0"/>
              </a:spcBef>
              <a:spcAft>
                <a:spcPts val="0"/>
              </a:spcAft>
              <a:buClr>
                <a:srgbClr val="CC0099"/>
              </a:buClr>
              <a:buSzPct val="100000"/>
              <a:buFont typeface="Arial"/>
              <a:buAutoNum type="arabicPeriod"/>
            </a:pPr>
            <a:r>
              <a:rPr b="1" i="1" lang="en-US" sz="1800" u="none">
                <a:solidFill>
                  <a:srgbClr val="CC0099"/>
                </a:solidFill>
                <a:latin typeface="Arial"/>
                <a:ea typeface="Arial"/>
                <a:cs typeface="Arial"/>
                <a:sym typeface="Arial"/>
              </a:rPr>
              <a:t>Reduce transitoriamente las tasas de los impuestos para sostener el consumo. </a:t>
            </a:r>
          </a:p>
        </p:txBody>
      </p:sp>
      <p:pic>
        <p:nvPicPr>
          <p:cNvPr id="277" name="Shape 277"/>
          <p:cNvPicPr preferRelativeResize="0"/>
          <p:nvPr/>
        </p:nvPicPr>
        <p:blipFill rotWithShape="1">
          <a:blip r:embed="rId6">
            <a:alphaModFix/>
          </a:blip>
          <a:srcRect b="0" l="0" r="0" t="0"/>
          <a:stretch/>
        </p:blipFill>
        <p:spPr>
          <a:xfrm>
            <a:off x="304800" y="4191000"/>
            <a:ext cx="2454275" cy="2171700"/>
          </a:xfrm>
          <a:prstGeom prst="rect">
            <a:avLst/>
          </a:prstGeom>
          <a:noFill/>
          <a:ln>
            <a:noFill/>
          </a:ln>
        </p:spPr>
      </p:pic>
      <p:pic>
        <p:nvPicPr>
          <p:cNvPr id="278" name="Shape 278"/>
          <p:cNvPicPr preferRelativeResize="0"/>
          <p:nvPr/>
        </p:nvPicPr>
        <p:blipFill rotWithShape="1">
          <a:blip r:embed="rId7">
            <a:alphaModFix/>
          </a:blip>
          <a:srcRect b="0" l="0" r="0" t="0"/>
          <a:stretch/>
        </p:blipFill>
        <p:spPr>
          <a:xfrm>
            <a:off x="2759075" y="3940175"/>
            <a:ext cx="3028949" cy="1554162"/>
          </a:xfrm>
          <a:prstGeom prst="rect">
            <a:avLst/>
          </a:prstGeom>
          <a:noFill/>
          <a:ln>
            <a:noFill/>
          </a:ln>
        </p:spPr>
      </p:pic>
      <p:pic>
        <p:nvPicPr>
          <p:cNvPr id="279" name="Shape 279"/>
          <p:cNvPicPr preferRelativeResize="0"/>
          <p:nvPr/>
        </p:nvPicPr>
        <p:blipFill rotWithShape="1">
          <a:blip r:embed="rId8">
            <a:alphaModFix/>
          </a:blip>
          <a:srcRect b="0" l="0" r="0" t="0"/>
          <a:stretch/>
        </p:blipFill>
        <p:spPr>
          <a:xfrm>
            <a:off x="5788025" y="4552950"/>
            <a:ext cx="2790825" cy="1809750"/>
          </a:xfrm>
          <a:prstGeom prst="rect">
            <a:avLst/>
          </a:prstGeom>
          <a:noFill/>
          <a:ln>
            <a:noFill/>
          </a:ln>
        </p:spPr>
      </p:pic>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83" name="Shape 283"/>
        <p:cNvGrpSpPr/>
        <p:nvPr/>
      </p:nvGrpSpPr>
      <p:grpSpPr>
        <a:xfrm>
          <a:off x="0" y="0"/>
          <a:ext cx="0" cy="0"/>
          <a:chOff x="0" y="0"/>
          <a:chExt cx="0" cy="0"/>
        </a:xfrm>
      </p:grpSpPr>
      <p:pic>
        <p:nvPicPr>
          <p:cNvPr id="284" name="Shape 284"/>
          <p:cNvPicPr preferRelativeResize="0"/>
          <p:nvPr/>
        </p:nvPicPr>
        <p:blipFill rotWithShape="1">
          <a:blip r:embed="rId3">
            <a:alphaModFix/>
          </a:blip>
          <a:srcRect b="0" l="0" r="0" t="0"/>
          <a:stretch/>
        </p:blipFill>
        <p:spPr>
          <a:xfrm>
            <a:off x="255587" y="1420812"/>
            <a:ext cx="8645524" cy="5129211"/>
          </a:xfrm>
          <a:prstGeom prst="rect">
            <a:avLst/>
          </a:prstGeom>
          <a:noFill/>
          <a:ln>
            <a:noFill/>
          </a:ln>
        </p:spPr>
      </p:pic>
      <p:sp>
        <p:nvSpPr>
          <p:cNvPr id="285" name="Shape 285"/>
          <p:cNvSpPr txBox="1"/>
          <p:nvPr/>
        </p:nvSpPr>
        <p:spPr>
          <a:xfrm>
            <a:off x="228600" y="2317750"/>
            <a:ext cx="3733800" cy="1371599"/>
          </a:xfrm>
          <a:prstGeom prst="rect">
            <a:avLst/>
          </a:prstGeom>
          <a:solidFill>
            <a:srgbClr val="CCFFFF"/>
          </a:solidFill>
          <a:ln>
            <a:noFill/>
          </a:ln>
        </p:spPr>
        <p:txBody>
          <a:bodyPr anchorCtr="0" anchor="ctr" bIns="76175" lIns="25200" rIns="91425" tIns="76175">
            <a:noAutofit/>
          </a:bodyPr>
          <a:lstStyle/>
          <a:p>
            <a:pPr indent="0" lvl="0" marL="0" marR="0" rtl="0" algn="l">
              <a:lnSpc>
                <a:spcPct val="100000"/>
              </a:lnSpc>
              <a:spcBef>
                <a:spcPts val="0"/>
              </a:spcBef>
              <a:spcAft>
                <a:spcPts val="0"/>
              </a:spcAft>
              <a:buClr>
                <a:schemeClr val="dk1"/>
              </a:buClr>
              <a:buSzPct val="25000"/>
              <a:buFont typeface="Arial"/>
              <a:buNone/>
            </a:pPr>
            <a:r>
              <a:rPr b="1" i="1" lang="en-US" sz="2000" u="none">
                <a:solidFill>
                  <a:schemeClr val="dk1"/>
                </a:solidFill>
                <a:latin typeface="Arial"/>
                <a:ea typeface="Arial"/>
                <a:cs typeface="Arial"/>
                <a:sym typeface="Arial"/>
              </a:rPr>
              <a:t>POLÍTICAS FISCALES</a:t>
            </a:r>
          </a:p>
          <a:p>
            <a:pPr indent="0" lvl="0" marL="0" marR="0" rtl="0" algn="l">
              <a:lnSpc>
                <a:spcPct val="100000"/>
              </a:lnSpc>
              <a:spcBef>
                <a:spcPts val="0"/>
              </a:spcBef>
              <a:spcAft>
                <a:spcPts val="0"/>
              </a:spcAft>
              <a:buClr>
                <a:schemeClr val="dk1"/>
              </a:buClr>
              <a:buSzPct val="25000"/>
              <a:buFont typeface="Arial"/>
              <a:buNone/>
            </a:pPr>
            <a:r>
              <a:rPr b="1" i="1" lang="en-US" sz="2000" u="none">
                <a:solidFill>
                  <a:schemeClr val="dk1"/>
                </a:solidFill>
                <a:latin typeface="Arial"/>
                <a:ea typeface="Arial"/>
                <a:cs typeface="Arial"/>
                <a:sym typeface="Arial"/>
              </a:rPr>
              <a:t>EXPANSIVAS:</a:t>
            </a:r>
          </a:p>
          <a:p>
            <a:pPr indent="0" lvl="0" marL="0" marR="0" rtl="0" algn="l">
              <a:lnSpc>
                <a:spcPct val="100000"/>
              </a:lnSpc>
              <a:spcBef>
                <a:spcPts val="0"/>
              </a:spcBef>
              <a:spcAft>
                <a:spcPts val="0"/>
              </a:spcAft>
              <a:buClr>
                <a:srgbClr val="FF0066"/>
              </a:buClr>
              <a:buSzPct val="25000"/>
              <a:buFont typeface="Arial"/>
              <a:buNone/>
            </a:pPr>
            <a:r>
              <a:rPr b="1" i="1" lang="en-US" sz="2000" u="none">
                <a:solidFill>
                  <a:srgbClr val="FF0066"/>
                </a:solidFill>
                <a:latin typeface="Arial"/>
                <a:ea typeface="Arial"/>
                <a:cs typeface="Arial"/>
                <a:sym typeface="Arial"/>
              </a:rPr>
              <a:t>AUMENTAN LA DEMANDA</a:t>
            </a:r>
          </a:p>
          <a:p>
            <a:pPr indent="0" lvl="0" marL="0" marR="0" rtl="0" algn="l">
              <a:lnSpc>
                <a:spcPct val="100000"/>
              </a:lnSpc>
              <a:spcBef>
                <a:spcPts val="0"/>
              </a:spcBef>
              <a:spcAft>
                <a:spcPts val="0"/>
              </a:spcAft>
              <a:buClr>
                <a:srgbClr val="FF0066"/>
              </a:buClr>
              <a:buSzPct val="25000"/>
              <a:buFont typeface="Arial"/>
              <a:buNone/>
            </a:pPr>
            <a:r>
              <a:rPr b="1" i="1" lang="en-US" sz="2000" u="none">
                <a:solidFill>
                  <a:srgbClr val="FF0066"/>
                </a:solidFill>
                <a:latin typeface="Arial"/>
                <a:ea typeface="Arial"/>
                <a:cs typeface="Arial"/>
                <a:sym typeface="Arial"/>
              </a:rPr>
              <a:t>AGREGADA </a:t>
            </a:r>
          </a:p>
        </p:txBody>
      </p:sp>
      <p:pic>
        <p:nvPicPr>
          <p:cNvPr id="286" name="Shape 286"/>
          <p:cNvPicPr preferRelativeResize="0"/>
          <p:nvPr/>
        </p:nvPicPr>
        <p:blipFill rotWithShape="1">
          <a:blip r:embed="rId4">
            <a:alphaModFix/>
          </a:blip>
          <a:srcRect b="0" l="0" r="0" t="0"/>
          <a:stretch/>
        </p:blipFill>
        <p:spPr>
          <a:xfrm>
            <a:off x="263525" y="1085850"/>
            <a:ext cx="8610599" cy="209549"/>
          </a:xfrm>
          <a:prstGeom prst="rect">
            <a:avLst/>
          </a:prstGeom>
          <a:noFill/>
          <a:ln>
            <a:noFill/>
          </a:ln>
        </p:spPr>
      </p:pic>
      <p:pic>
        <p:nvPicPr>
          <p:cNvPr id="287" name="Shape 287"/>
          <p:cNvPicPr preferRelativeResize="0"/>
          <p:nvPr/>
        </p:nvPicPr>
        <p:blipFill rotWithShape="1">
          <a:blip r:embed="rId5">
            <a:alphaModFix/>
          </a:blip>
          <a:srcRect b="0" l="0" r="0" t="0"/>
          <a:stretch/>
        </p:blipFill>
        <p:spPr>
          <a:xfrm>
            <a:off x="255587" y="306387"/>
            <a:ext cx="3013074" cy="608011"/>
          </a:xfrm>
          <a:prstGeom prst="rect">
            <a:avLst/>
          </a:prstGeom>
          <a:noFill/>
          <a:ln>
            <a:noFill/>
          </a:ln>
        </p:spPr>
      </p:pic>
      <p:sp>
        <p:nvSpPr>
          <p:cNvPr id="288" name="Shape 288"/>
          <p:cNvSpPr txBox="1"/>
          <p:nvPr/>
        </p:nvSpPr>
        <p:spPr>
          <a:xfrm>
            <a:off x="4114800" y="304800"/>
            <a:ext cx="4114800"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a:solidFill>
                  <a:srgbClr val="BB4F59"/>
                </a:solidFill>
                <a:latin typeface="Arial"/>
                <a:ea typeface="Arial"/>
                <a:cs typeface="Arial"/>
                <a:sym typeface="Arial"/>
              </a:rPr>
              <a:t>POLÍTICAS FISCALES EXPANSIVAS</a:t>
            </a:r>
          </a:p>
        </p:txBody>
      </p:sp>
      <p:cxnSp>
        <p:nvCxnSpPr>
          <p:cNvPr id="289" name="Shape 289"/>
          <p:cNvCxnSpPr/>
          <p:nvPr/>
        </p:nvCxnSpPr>
        <p:spPr>
          <a:xfrm rot="10800000">
            <a:off x="3268661" y="1981199"/>
            <a:ext cx="0" cy="1828800"/>
          </a:xfrm>
          <a:prstGeom prst="straightConnector1">
            <a:avLst/>
          </a:prstGeom>
          <a:noFill/>
          <a:ln>
            <a:noFill/>
          </a:ln>
        </p:spPr>
      </p:cxnSp>
      <p:cxnSp>
        <p:nvCxnSpPr>
          <p:cNvPr id="290" name="Shape 290"/>
          <p:cNvCxnSpPr/>
          <p:nvPr/>
        </p:nvCxnSpPr>
        <p:spPr>
          <a:xfrm rot="10800000">
            <a:off x="4114800" y="1447799"/>
            <a:ext cx="0" cy="2362200"/>
          </a:xfrm>
          <a:prstGeom prst="straightConnector1">
            <a:avLst/>
          </a:prstGeom>
          <a:noFill/>
          <a:ln cap="flat" cmpd="sng" w="12700">
            <a:solidFill>
              <a:schemeClr val="dk1"/>
            </a:solidFill>
            <a:prstDash val="solid"/>
            <a:miter/>
            <a:headEnd len="med" w="med" type="none"/>
            <a:tailEnd len="lg" w="lg" type="triangle"/>
          </a:ln>
        </p:spPr>
      </p:cxnSp>
      <p:cxnSp>
        <p:nvCxnSpPr>
          <p:cNvPr id="291" name="Shape 291"/>
          <p:cNvCxnSpPr/>
          <p:nvPr/>
        </p:nvCxnSpPr>
        <p:spPr>
          <a:xfrm>
            <a:off x="4114800" y="3817937"/>
            <a:ext cx="4759324" cy="0"/>
          </a:xfrm>
          <a:prstGeom prst="straightConnector1">
            <a:avLst/>
          </a:prstGeom>
          <a:noFill/>
          <a:ln cap="flat" cmpd="sng" w="19050">
            <a:solidFill>
              <a:schemeClr val="dk1"/>
            </a:solidFill>
            <a:prstDash val="solid"/>
            <a:miter/>
            <a:headEnd len="med" w="med" type="none"/>
            <a:tailEnd len="lg" w="lg" type="triangle"/>
          </a:ln>
        </p:spPr>
      </p:cxnSp>
      <p:sp>
        <p:nvSpPr>
          <p:cNvPr id="292" name="Shape 292"/>
          <p:cNvSpPr/>
          <p:nvPr/>
        </p:nvSpPr>
        <p:spPr>
          <a:xfrm>
            <a:off x="4114800" y="2468561"/>
            <a:ext cx="1524000" cy="1036637"/>
          </a:xfrm>
          <a:custGeom>
            <a:pathLst>
              <a:path extrusionOk="0" h="120000" w="120000">
                <a:moveTo>
                  <a:pt x="0" y="119999"/>
                </a:moveTo>
                <a:lnTo>
                  <a:pt x="120000" y="0"/>
                </a:lnTo>
              </a:path>
            </a:pathLst>
          </a:custGeom>
          <a:noFill/>
          <a:ln cap="flat" cmpd="sng" w="15875">
            <a:solidFill>
              <a:srgbClr val="FF0000"/>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293" name="Shape 293"/>
          <p:cNvSpPr/>
          <p:nvPr/>
        </p:nvSpPr>
        <p:spPr>
          <a:xfrm>
            <a:off x="4114800" y="2667000"/>
            <a:ext cx="1371599" cy="930275"/>
          </a:xfrm>
          <a:custGeom>
            <a:pathLst>
              <a:path extrusionOk="0" h="120000" w="120000">
                <a:moveTo>
                  <a:pt x="0" y="120000"/>
                </a:moveTo>
                <a:lnTo>
                  <a:pt x="120000" y="0"/>
                </a:lnTo>
              </a:path>
            </a:pathLst>
          </a:custGeom>
          <a:noFill/>
          <a:ln cap="flat" cmpd="sng" w="15875">
            <a:solidFill>
              <a:srgbClr val="FF0066"/>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294" name="Shape 294"/>
          <p:cNvSpPr txBox="1"/>
          <p:nvPr/>
        </p:nvSpPr>
        <p:spPr>
          <a:xfrm>
            <a:off x="3276600" y="1447800"/>
            <a:ext cx="1219199" cy="365125"/>
          </a:xfrm>
          <a:prstGeom prst="rect">
            <a:avLst/>
          </a:prstGeom>
          <a:noFill/>
          <a:ln>
            <a:noFill/>
          </a:ln>
        </p:spPr>
        <p:txBody>
          <a:bodyPr anchorCtr="0" anchor="ctr" bIns="76175" lIns="241200" rIns="91425" tIns="76175">
            <a:noAutofit/>
          </a:bodyPr>
          <a:lstStyle/>
          <a:p>
            <a:pPr indent="-342900" lvl="0" marL="342900" marR="0" rtl="0" algn="l">
              <a:lnSpc>
                <a:spcPct val="100000"/>
              </a:lnSpc>
              <a:spcBef>
                <a:spcPts val="0"/>
              </a:spcBef>
              <a:spcAft>
                <a:spcPts val="0"/>
              </a:spcAft>
              <a:buClr>
                <a:schemeClr val="dk2"/>
              </a:buClr>
              <a:buSzPct val="25000"/>
              <a:buFont typeface="Arial"/>
              <a:buNone/>
            </a:pPr>
            <a:r>
              <a:rPr b="1" i="0" lang="en-US" sz="1400" u="none">
                <a:solidFill>
                  <a:schemeClr val="dk2"/>
                </a:solidFill>
                <a:latin typeface="Arial"/>
                <a:ea typeface="Arial"/>
                <a:cs typeface="Arial"/>
                <a:sym typeface="Arial"/>
              </a:rPr>
              <a:t>OA/DA</a:t>
            </a:r>
          </a:p>
        </p:txBody>
      </p:sp>
      <p:sp>
        <p:nvSpPr>
          <p:cNvPr id="295" name="Shape 295"/>
          <p:cNvSpPr txBox="1"/>
          <p:nvPr/>
        </p:nvSpPr>
        <p:spPr>
          <a:xfrm>
            <a:off x="4267200" y="3733800"/>
            <a:ext cx="746125" cy="334961"/>
          </a:xfrm>
          <a:prstGeom prst="rect">
            <a:avLst/>
          </a:prstGeom>
          <a:noFill/>
          <a:ln>
            <a:noFill/>
          </a:ln>
        </p:spPr>
        <p:txBody>
          <a:bodyPr anchorCtr="0" anchor="ctr" bIns="76175" lIns="241200" rIns="91425" tIns="76175">
            <a:noAutofit/>
          </a:bodyPr>
          <a:lstStyle/>
          <a:p>
            <a:pPr indent="-342900" lvl="0" marL="342900" marR="0" rtl="0" algn="l">
              <a:lnSpc>
                <a:spcPct val="100000"/>
              </a:lnSpc>
              <a:spcBef>
                <a:spcPts val="0"/>
              </a:spcBef>
              <a:spcAft>
                <a:spcPts val="0"/>
              </a:spcAft>
              <a:buClr>
                <a:srgbClr val="FF0000"/>
              </a:buClr>
              <a:buSzPct val="25000"/>
              <a:buFont typeface="Arial"/>
              <a:buNone/>
            </a:pPr>
            <a:r>
              <a:rPr b="1" i="1" lang="en-US" sz="1200" u="none">
                <a:solidFill>
                  <a:srgbClr val="FF0000"/>
                </a:solidFill>
                <a:latin typeface="Arial"/>
                <a:ea typeface="Arial"/>
                <a:cs typeface="Arial"/>
                <a:sym typeface="Arial"/>
              </a:rPr>
              <a:t>Y1 </a:t>
            </a:r>
          </a:p>
        </p:txBody>
      </p:sp>
      <p:cxnSp>
        <p:nvCxnSpPr>
          <p:cNvPr id="296" name="Shape 296"/>
          <p:cNvCxnSpPr/>
          <p:nvPr/>
        </p:nvCxnSpPr>
        <p:spPr>
          <a:xfrm rot="10800000">
            <a:off x="6858000" y="1447799"/>
            <a:ext cx="0" cy="2362200"/>
          </a:xfrm>
          <a:prstGeom prst="straightConnector1">
            <a:avLst/>
          </a:prstGeom>
          <a:noFill/>
          <a:ln cap="flat" cmpd="sng" w="12700">
            <a:solidFill>
              <a:schemeClr val="dk1"/>
            </a:solidFill>
            <a:prstDash val="solid"/>
            <a:miter/>
            <a:headEnd len="med" w="med" type="none"/>
            <a:tailEnd len="lg" w="lg" type="triangle"/>
          </a:ln>
        </p:spPr>
      </p:cxnSp>
      <p:sp>
        <p:nvSpPr>
          <p:cNvPr id="297" name="Shape 297"/>
          <p:cNvSpPr txBox="1"/>
          <p:nvPr/>
        </p:nvSpPr>
        <p:spPr>
          <a:xfrm>
            <a:off x="6400800" y="1524000"/>
            <a:ext cx="381000" cy="427037"/>
          </a:xfrm>
          <a:prstGeom prst="rect">
            <a:avLst/>
          </a:prstGeom>
          <a:noFill/>
          <a:ln>
            <a:noFill/>
          </a:ln>
        </p:spPr>
        <p:txBody>
          <a:bodyPr anchorCtr="0" anchor="ctr" bIns="76175" lIns="241200" rIns="91425" tIns="76175">
            <a:noAutofit/>
          </a:bodyPr>
          <a:lstStyle/>
          <a:p>
            <a:pPr indent="-342900" lvl="0" marL="342900" marR="0" rtl="0" algn="l">
              <a:lnSpc>
                <a:spcPct val="100000"/>
              </a:lnSpc>
              <a:spcBef>
                <a:spcPts val="0"/>
              </a:spcBef>
              <a:spcAft>
                <a:spcPts val="0"/>
              </a:spcAft>
              <a:buClr>
                <a:schemeClr val="dk2"/>
              </a:buClr>
              <a:buSzPct val="25000"/>
              <a:buFont typeface="Arial"/>
              <a:buNone/>
            </a:pPr>
            <a:r>
              <a:rPr b="1" i="0" lang="en-US" sz="1800" u="none">
                <a:solidFill>
                  <a:schemeClr val="dk2"/>
                </a:solidFill>
                <a:latin typeface="Arial"/>
                <a:ea typeface="Arial"/>
                <a:cs typeface="Arial"/>
                <a:sym typeface="Arial"/>
              </a:rPr>
              <a:t>i</a:t>
            </a:r>
          </a:p>
        </p:txBody>
      </p:sp>
      <p:sp>
        <p:nvSpPr>
          <p:cNvPr id="298" name="Shape 298"/>
          <p:cNvSpPr txBox="1"/>
          <p:nvPr/>
        </p:nvSpPr>
        <p:spPr>
          <a:xfrm>
            <a:off x="5638800" y="2211386"/>
            <a:ext cx="1143000" cy="365125"/>
          </a:xfrm>
          <a:prstGeom prst="rect">
            <a:avLst/>
          </a:prstGeom>
          <a:noFill/>
          <a:ln>
            <a:noFill/>
          </a:ln>
        </p:spPr>
        <p:txBody>
          <a:bodyPr anchorCtr="0" anchor="ctr" bIns="76175" lIns="36000" rIns="36000" tIns="76175">
            <a:noAutofit/>
          </a:bodyPr>
          <a:lstStyle/>
          <a:p>
            <a:pPr indent="-342900" lvl="0" marL="342900" marR="0" rtl="0" algn="l">
              <a:lnSpc>
                <a:spcPct val="100000"/>
              </a:lnSpc>
              <a:spcBef>
                <a:spcPts val="0"/>
              </a:spcBef>
              <a:spcAft>
                <a:spcPts val="0"/>
              </a:spcAft>
              <a:buClr>
                <a:schemeClr val="dk2"/>
              </a:buClr>
              <a:buSzPct val="25000"/>
              <a:buFont typeface="Arial"/>
              <a:buNone/>
            </a:pPr>
            <a:r>
              <a:rPr b="1" i="0" lang="en-US" sz="1400" u="none">
                <a:solidFill>
                  <a:schemeClr val="dk2"/>
                </a:solidFill>
                <a:latin typeface="Arial"/>
                <a:ea typeface="Arial"/>
                <a:cs typeface="Arial"/>
                <a:sym typeface="Arial"/>
              </a:rPr>
              <a:t>DA´ </a:t>
            </a:r>
          </a:p>
        </p:txBody>
      </p:sp>
      <p:cxnSp>
        <p:nvCxnSpPr>
          <p:cNvPr id="299" name="Shape 299"/>
          <p:cNvCxnSpPr/>
          <p:nvPr/>
        </p:nvCxnSpPr>
        <p:spPr>
          <a:xfrm rot="10800000">
            <a:off x="4800600" y="3048000"/>
            <a:ext cx="3352799" cy="0"/>
          </a:xfrm>
          <a:prstGeom prst="straightConnector1">
            <a:avLst/>
          </a:prstGeom>
          <a:noFill/>
          <a:ln cap="flat" cmpd="sng" w="12700">
            <a:solidFill>
              <a:schemeClr val="dk1"/>
            </a:solidFill>
            <a:prstDash val="solid"/>
            <a:miter/>
            <a:headEnd len="med" w="med" type="none"/>
            <a:tailEnd len="med" w="med" type="none"/>
          </a:ln>
        </p:spPr>
      </p:cxnSp>
      <p:sp>
        <p:nvSpPr>
          <p:cNvPr id="300" name="Shape 300"/>
          <p:cNvSpPr txBox="1"/>
          <p:nvPr/>
        </p:nvSpPr>
        <p:spPr>
          <a:xfrm>
            <a:off x="7239000" y="2362200"/>
            <a:ext cx="457200" cy="365125"/>
          </a:xfrm>
          <a:prstGeom prst="rect">
            <a:avLst/>
          </a:prstGeom>
          <a:noFill/>
          <a:ln>
            <a:noFill/>
          </a:ln>
        </p:spPr>
        <p:txBody>
          <a:bodyPr anchorCtr="0" anchor="ctr" bIns="76175" lIns="25200" rIns="91425" tIns="76175">
            <a:noAutofit/>
          </a:bodyPr>
          <a:lstStyle/>
          <a:p>
            <a:pPr indent="-342900" lvl="0" marL="34290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IS</a:t>
            </a:r>
          </a:p>
        </p:txBody>
      </p:sp>
      <p:sp>
        <p:nvSpPr>
          <p:cNvPr id="301" name="Shape 301"/>
          <p:cNvSpPr/>
          <p:nvPr/>
        </p:nvSpPr>
        <p:spPr>
          <a:xfrm rot="3780000">
            <a:off x="7241381" y="2316956"/>
            <a:ext cx="1857374" cy="1033462"/>
          </a:xfrm>
          <a:custGeom>
            <a:pathLst>
              <a:path extrusionOk="0" h="120000" w="120000">
                <a:moveTo>
                  <a:pt x="0" y="120000"/>
                </a:moveTo>
                <a:cubicBezTo>
                  <a:pt x="8119" y="115296"/>
                  <a:pt x="35582" y="101052"/>
                  <a:pt x="48835" y="91646"/>
                </a:cubicBezTo>
                <a:cubicBezTo>
                  <a:pt x="62089" y="82239"/>
                  <a:pt x="70925" y="72967"/>
                  <a:pt x="79880" y="63292"/>
                </a:cubicBezTo>
                <a:cubicBezTo>
                  <a:pt x="88835" y="53617"/>
                  <a:pt x="96119" y="44076"/>
                  <a:pt x="102805" y="33594"/>
                </a:cubicBezTo>
                <a:cubicBezTo>
                  <a:pt x="109492" y="23113"/>
                  <a:pt x="116417" y="6987"/>
                  <a:pt x="120000" y="0"/>
                </a:cubicBezTo>
              </a:path>
            </a:pathLst>
          </a:custGeom>
          <a:noFill/>
          <a:ln cap="flat" cmpd="sng" w="28575">
            <a:solidFill>
              <a:schemeClr val="dk1"/>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02" name="Shape 302"/>
          <p:cNvSpPr/>
          <p:nvPr/>
        </p:nvSpPr>
        <p:spPr>
          <a:xfrm rot="-5400000">
            <a:off x="7146925" y="2193925"/>
            <a:ext cx="1616074" cy="1311275"/>
          </a:xfrm>
          <a:custGeom>
            <a:pathLst>
              <a:path extrusionOk="0" h="120000" w="120000">
                <a:moveTo>
                  <a:pt x="0" y="0"/>
                </a:moveTo>
                <a:cubicBezTo>
                  <a:pt x="2711" y="6101"/>
                  <a:pt x="8605" y="23244"/>
                  <a:pt x="15913" y="36319"/>
                </a:cubicBezTo>
                <a:cubicBezTo>
                  <a:pt x="23222" y="49394"/>
                  <a:pt x="34184" y="66537"/>
                  <a:pt x="44204" y="78159"/>
                </a:cubicBezTo>
                <a:cubicBezTo>
                  <a:pt x="54223" y="89782"/>
                  <a:pt x="63182" y="99079"/>
                  <a:pt x="75795" y="106053"/>
                </a:cubicBezTo>
                <a:cubicBezTo>
                  <a:pt x="88408" y="113026"/>
                  <a:pt x="110805" y="117094"/>
                  <a:pt x="120000" y="120000"/>
                </a:cubicBezTo>
              </a:path>
            </a:pathLst>
          </a:custGeom>
          <a:noFill/>
          <a:ln cap="flat" cmpd="sng" w="28575">
            <a:solidFill>
              <a:srgbClr val="000080"/>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03" name="Shape 303"/>
          <p:cNvSpPr txBox="1"/>
          <p:nvPr/>
        </p:nvSpPr>
        <p:spPr>
          <a:xfrm>
            <a:off x="8382000" y="2835275"/>
            <a:ext cx="457200" cy="365125"/>
          </a:xfrm>
          <a:prstGeom prst="rect">
            <a:avLst/>
          </a:prstGeom>
          <a:noFill/>
          <a:ln>
            <a:noFill/>
          </a:ln>
        </p:spPr>
        <p:txBody>
          <a:bodyPr anchorCtr="0" anchor="ctr" bIns="76175" lIns="25200" rIns="91425" tIns="76175">
            <a:noAutofit/>
          </a:bodyPr>
          <a:lstStyle/>
          <a:p>
            <a:pPr indent="-342900" lvl="0" marL="34290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IS´</a:t>
            </a:r>
          </a:p>
        </p:txBody>
      </p:sp>
      <p:sp>
        <p:nvSpPr>
          <p:cNvPr id="304" name="Shape 304"/>
          <p:cNvSpPr/>
          <p:nvPr/>
        </p:nvSpPr>
        <p:spPr>
          <a:xfrm>
            <a:off x="4602162" y="3276600"/>
            <a:ext cx="3322636" cy="1587"/>
          </a:xfrm>
          <a:custGeom>
            <a:pathLst>
              <a:path extrusionOk="0" h="120000" w="120000">
                <a:moveTo>
                  <a:pt x="120000" y="0"/>
                </a:moveTo>
                <a:lnTo>
                  <a:pt x="0" y="0"/>
                </a:lnTo>
              </a:path>
            </a:pathLst>
          </a:custGeom>
          <a:noFill/>
          <a:ln cap="flat" cmpd="sng" w="12700">
            <a:solidFill>
              <a:schemeClr val="dk1"/>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05" name="Shape 305"/>
          <p:cNvSpPr/>
          <p:nvPr/>
        </p:nvSpPr>
        <p:spPr>
          <a:xfrm rot="4500000">
            <a:off x="7238999" y="2379662"/>
            <a:ext cx="1595436" cy="1417636"/>
          </a:xfrm>
          <a:custGeom>
            <a:pathLst>
              <a:path extrusionOk="0" h="120000" w="120000">
                <a:moveTo>
                  <a:pt x="0" y="120000"/>
                </a:moveTo>
                <a:cubicBezTo>
                  <a:pt x="8119" y="115296"/>
                  <a:pt x="35582" y="101052"/>
                  <a:pt x="48835" y="91646"/>
                </a:cubicBezTo>
                <a:cubicBezTo>
                  <a:pt x="62089" y="82239"/>
                  <a:pt x="70925" y="72967"/>
                  <a:pt x="79880" y="63292"/>
                </a:cubicBezTo>
                <a:cubicBezTo>
                  <a:pt x="88835" y="53617"/>
                  <a:pt x="96119" y="44076"/>
                  <a:pt x="102805" y="33594"/>
                </a:cubicBezTo>
                <a:cubicBezTo>
                  <a:pt x="109492" y="23113"/>
                  <a:pt x="116417" y="6987"/>
                  <a:pt x="120000" y="0"/>
                </a:cubicBezTo>
              </a:path>
            </a:pathLst>
          </a:custGeom>
          <a:noFill/>
          <a:ln cap="flat" cmpd="sng" w="28575">
            <a:solidFill>
              <a:schemeClr val="dk1"/>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06" name="Shape 306"/>
          <p:cNvSpPr txBox="1"/>
          <p:nvPr/>
        </p:nvSpPr>
        <p:spPr>
          <a:xfrm>
            <a:off x="8610600" y="1828800"/>
            <a:ext cx="457200" cy="365125"/>
          </a:xfrm>
          <a:prstGeom prst="rect">
            <a:avLst/>
          </a:prstGeom>
          <a:noFill/>
          <a:ln>
            <a:noFill/>
          </a:ln>
        </p:spPr>
        <p:txBody>
          <a:bodyPr anchorCtr="0" anchor="ctr" bIns="76175" lIns="25200" rIns="91425" tIns="76175">
            <a:noAutofit/>
          </a:bodyPr>
          <a:lstStyle/>
          <a:p>
            <a:pPr indent="-342900" lvl="0" marL="34290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LM</a:t>
            </a:r>
          </a:p>
        </p:txBody>
      </p:sp>
      <p:cxnSp>
        <p:nvCxnSpPr>
          <p:cNvPr id="307" name="Shape 307"/>
          <p:cNvCxnSpPr/>
          <p:nvPr/>
        </p:nvCxnSpPr>
        <p:spPr>
          <a:xfrm rot="10800000">
            <a:off x="8153400" y="3047999"/>
            <a:ext cx="0" cy="762000"/>
          </a:xfrm>
          <a:prstGeom prst="straightConnector1">
            <a:avLst/>
          </a:prstGeom>
          <a:noFill/>
          <a:ln cap="flat" cmpd="sng" w="15875">
            <a:solidFill>
              <a:srgbClr val="FF0066"/>
            </a:solidFill>
            <a:prstDash val="solid"/>
            <a:miter/>
            <a:headEnd len="med" w="med" type="none"/>
            <a:tailEnd len="med" w="med" type="none"/>
          </a:ln>
        </p:spPr>
      </p:cxnSp>
      <p:cxnSp>
        <p:nvCxnSpPr>
          <p:cNvPr id="308" name="Shape 308"/>
          <p:cNvCxnSpPr/>
          <p:nvPr/>
        </p:nvCxnSpPr>
        <p:spPr>
          <a:xfrm rot="10800000">
            <a:off x="7924800" y="3276600"/>
            <a:ext cx="0" cy="533399"/>
          </a:xfrm>
          <a:prstGeom prst="straightConnector1">
            <a:avLst/>
          </a:prstGeom>
          <a:noFill/>
          <a:ln cap="flat" cmpd="sng" w="15875">
            <a:solidFill>
              <a:srgbClr val="FF0066"/>
            </a:solidFill>
            <a:prstDash val="solid"/>
            <a:miter/>
            <a:headEnd len="med" w="med" type="none"/>
            <a:tailEnd len="med" w="med" type="none"/>
          </a:ln>
        </p:spPr>
      </p:cxnSp>
      <p:sp>
        <p:nvSpPr>
          <p:cNvPr id="309" name="Shape 309"/>
          <p:cNvSpPr txBox="1"/>
          <p:nvPr/>
        </p:nvSpPr>
        <p:spPr>
          <a:xfrm>
            <a:off x="8691561" y="3817937"/>
            <a:ext cx="300036" cy="365125"/>
          </a:xfrm>
          <a:prstGeom prst="rect">
            <a:avLst/>
          </a:prstGeom>
          <a:noFill/>
          <a:ln>
            <a:noFill/>
          </a:ln>
        </p:spPr>
        <p:txBody>
          <a:bodyPr anchorCtr="0" anchor="ctr" bIns="76175" lIns="25200" rIns="91425" tIns="76175">
            <a:noAutofit/>
          </a:bodyPr>
          <a:lstStyle/>
          <a:p>
            <a:pPr indent="-342900" lvl="0" marL="34290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Y</a:t>
            </a:r>
          </a:p>
        </p:txBody>
      </p:sp>
      <p:sp>
        <p:nvSpPr>
          <p:cNvPr id="310" name="Shape 310"/>
          <p:cNvSpPr txBox="1"/>
          <p:nvPr/>
        </p:nvSpPr>
        <p:spPr>
          <a:xfrm>
            <a:off x="7848600" y="3748087"/>
            <a:ext cx="381000" cy="334961"/>
          </a:xfrm>
          <a:prstGeom prst="rect">
            <a:avLst/>
          </a:prstGeom>
          <a:noFill/>
          <a:ln>
            <a:noFill/>
          </a:ln>
        </p:spPr>
        <p:txBody>
          <a:bodyPr anchorCtr="0" anchor="ctr" bIns="76175" lIns="25200" rIns="91425" tIns="76175">
            <a:noAutofit/>
          </a:bodyPr>
          <a:lstStyle/>
          <a:p>
            <a:pPr indent="-342900" lvl="0" marL="342900" marR="0" rtl="0" algn="l">
              <a:lnSpc>
                <a:spcPct val="100000"/>
              </a:lnSpc>
              <a:spcBef>
                <a:spcPts val="0"/>
              </a:spcBef>
              <a:spcAft>
                <a:spcPts val="0"/>
              </a:spcAft>
              <a:buClr>
                <a:srgbClr val="FF0000"/>
              </a:buClr>
              <a:buSzPct val="25000"/>
              <a:buFont typeface="Arial"/>
              <a:buNone/>
            </a:pPr>
            <a:r>
              <a:rPr b="1" i="0" lang="en-US" sz="1200" u="none">
                <a:solidFill>
                  <a:srgbClr val="FF0000"/>
                </a:solidFill>
                <a:latin typeface="Arial"/>
                <a:ea typeface="Arial"/>
                <a:cs typeface="Arial"/>
                <a:sym typeface="Arial"/>
              </a:rPr>
              <a:t>Y</a:t>
            </a:r>
            <a:r>
              <a:rPr b="1" baseline="-25000" i="0" lang="en-US" sz="1200" u="none">
                <a:solidFill>
                  <a:srgbClr val="FF0000"/>
                </a:solidFill>
                <a:latin typeface="Arial"/>
                <a:ea typeface="Arial"/>
                <a:cs typeface="Arial"/>
                <a:sym typeface="Arial"/>
              </a:rPr>
              <a:t>1</a:t>
            </a:r>
          </a:p>
        </p:txBody>
      </p:sp>
      <p:sp>
        <p:nvSpPr>
          <p:cNvPr id="311" name="Shape 311"/>
          <p:cNvSpPr txBox="1"/>
          <p:nvPr/>
        </p:nvSpPr>
        <p:spPr>
          <a:xfrm>
            <a:off x="263525" y="4876800"/>
            <a:ext cx="8570911" cy="1676399"/>
          </a:xfrm>
          <a:prstGeom prst="rect">
            <a:avLst/>
          </a:prstGeom>
          <a:solidFill>
            <a:srgbClr val="FFFF00">
              <a:alpha val="60784"/>
            </a:srgbClr>
          </a:solidFill>
          <a:ln>
            <a:noFill/>
          </a:ln>
        </p:spPr>
        <p:txBody>
          <a:bodyPr anchorCtr="0" anchor="ctr" bIns="76175" lIns="25200" rIns="91425" tIns="76175">
            <a:noAutofit/>
          </a:bodyPr>
          <a:lstStyle/>
          <a:p>
            <a:pPr indent="0" lvl="0" marL="0" marR="0" rtl="0" algn="l">
              <a:lnSpc>
                <a:spcPct val="100000"/>
              </a:lnSpc>
              <a:spcBef>
                <a:spcPts val="0"/>
              </a:spcBef>
              <a:spcAft>
                <a:spcPts val="0"/>
              </a:spcAft>
              <a:buClr>
                <a:schemeClr val="dk1"/>
              </a:buClr>
              <a:buSzPct val="25000"/>
              <a:buFont typeface="Arial"/>
              <a:buNone/>
            </a:pPr>
            <a:r>
              <a:rPr b="1" i="1" lang="en-US" sz="2000" u="none">
                <a:solidFill>
                  <a:schemeClr val="dk1"/>
                </a:solidFill>
                <a:latin typeface="Arial"/>
                <a:ea typeface="Arial"/>
                <a:cs typeface="Arial"/>
                <a:sym typeface="Arial"/>
              </a:rPr>
              <a:t>El gobierno aumenta la demanda agregada y en consecuencia considera que los productores aumentarán la producción para atender ese aumento.</a:t>
            </a:r>
          </a:p>
          <a:p>
            <a:pPr indent="0" lvl="0" marL="0" marR="0" rtl="0" algn="l">
              <a:lnSpc>
                <a:spcPct val="100000"/>
              </a:lnSpc>
              <a:spcBef>
                <a:spcPts val="0"/>
              </a:spcBef>
              <a:spcAft>
                <a:spcPts val="0"/>
              </a:spcAft>
              <a:buClr>
                <a:schemeClr val="dk1"/>
              </a:buClr>
              <a:buSzPct val="25000"/>
              <a:buFont typeface="Arial"/>
              <a:buNone/>
            </a:pPr>
            <a:r>
              <a:rPr b="1" i="1" lang="en-US" sz="2000" u="none">
                <a:solidFill>
                  <a:schemeClr val="dk1"/>
                </a:solidFill>
                <a:latin typeface="Arial"/>
                <a:ea typeface="Arial"/>
                <a:cs typeface="Arial"/>
                <a:sym typeface="Arial"/>
              </a:rPr>
              <a:t>En la medida que la economía no se encuentre en un proceso inflacionario estas políticas resultan efectivas.</a:t>
            </a:r>
          </a:p>
        </p:txBody>
      </p:sp>
      <p:cxnSp>
        <p:nvCxnSpPr>
          <p:cNvPr id="312" name="Shape 312"/>
          <p:cNvCxnSpPr/>
          <p:nvPr/>
        </p:nvCxnSpPr>
        <p:spPr>
          <a:xfrm flipH="1" rot="10800000">
            <a:off x="4114800" y="2193925"/>
            <a:ext cx="1447800" cy="1624011"/>
          </a:xfrm>
          <a:prstGeom prst="straightConnector1">
            <a:avLst/>
          </a:prstGeom>
          <a:noFill/>
          <a:ln cap="flat" cmpd="sng" w="9525">
            <a:solidFill>
              <a:schemeClr val="dk1"/>
            </a:solidFill>
            <a:prstDash val="solid"/>
            <a:miter/>
            <a:headEnd len="med" w="med" type="none"/>
            <a:tailEnd len="med" w="med" type="none"/>
          </a:ln>
        </p:spPr>
      </p:cxnSp>
      <p:sp>
        <p:nvSpPr>
          <p:cNvPr id="313" name="Shape 313"/>
          <p:cNvSpPr txBox="1"/>
          <p:nvPr/>
        </p:nvSpPr>
        <p:spPr>
          <a:xfrm>
            <a:off x="5562600" y="2438400"/>
            <a:ext cx="1143000" cy="365125"/>
          </a:xfrm>
          <a:prstGeom prst="rect">
            <a:avLst/>
          </a:prstGeom>
          <a:noFill/>
          <a:ln>
            <a:noFill/>
          </a:ln>
        </p:spPr>
        <p:txBody>
          <a:bodyPr anchorCtr="0" anchor="ctr" bIns="76175" lIns="36000" rIns="36000" tIns="76175">
            <a:noAutofit/>
          </a:bodyPr>
          <a:lstStyle/>
          <a:p>
            <a:pPr indent="-342900" lvl="0" marL="342900" marR="0" rtl="0" algn="l">
              <a:lnSpc>
                <a:spcPct val="100000"/>
              </a:lnSpc>
              <a:spcBef>
                <a:spcPts val="0"/>
              </a:spcBef>
              <a:spcAft>
                <a:spcPts val="0"/>
              </a:spcAft>
              <a:buClr>
                <a:schemeClr val="dk2"/>
              </a:buClr>
              <a:buSzPct val="25000"/>
              <a:buFont typeface="Arial"/>
              <a:buNone/>
            </a:pPr>
            <a:r>
              <a:rPr b="1" i="0" lang="en-US" sz="1400" u="none">
                <a:solidFill>
                  <a:schemeClr val="dk2"/>
                </a:solidFill>
                <a:latin typeface="Arial"/>
                <a:ea typeface="Arial"/>
                <a:cs typeface="Arial"/>
                <a:sym typeface="Arial"/>
              </a:rPr>
              <a:t>DA</a:t>
            </a:r>
          </a:p>
        </p:txBody>
      </p:sp>
      <p:sp>
        <p:nvSpPr>
          <p:cNvPr id="314" name="Shape 314"/>
          <p:cNvSpPr txBox="1"/>
          <p:nvPr/>
        </p:nvSpPr>
        <p:spPr>
          <a:xfrm>
            <a:off x="5486400" y="1676400"/>
            <a:ext cx="1143000" cy="365125"/>
          </a:xfrm>
          <a:prstGeom prst="rect">
            <a:avLst/>
          </a:prstGeom>
          <a:noFill/>
          <a:ln>
            <a:noFill/>
          </a:ln>
        </p:spPr>
        <p:txBody>
          <a:bodyPr anchorCtr="0" anchor="ctr" bIns="76175" lIns="36000" rIns="36000" tIns="76175">
            <a:noAutofit/>
          </a:bodyPr>
          <a:lstStyle/>
          <a:p>
            <a:pPr indent="-342900" lvl="0" marL="342900" marR="0" rtl="0" algn="l">
              <a:lnSpc>
                <a:spcPct val="100000"/>
              </a:lnSpc>
              <a:spcBef>
                <a:spcPts val="0"/>
              </a:spcBef>
              <a:spcAft>
                <a:spcPts val="0"/>
              </a:spcAft>
              <a:buClr>
                <a:schemeClr val="dk2"/>
              </a:buClr>
              <a:buSzPct val="25000"/>
              <a:buFont typeface="Arial"/>
              <a:buNone/>
            </a:pPr>
            <a:r>
              <a:rPr b="1" i="0" lang="en-US" sz="1400" u="none">
                <a:solidFill>
                  <a:schemeClr val="dk2"/>
                </a:solidFill>
                <a:latin typeface="Arial"/>
                <a:ea typeface="Arial"/>
                <a:cs typeface="Arial"/>
                <a:sym typeface="Arial"/>
              </a:rPr>
              <a:t>OA</a:t>
            </a:r>
          </a:p>
        </p:txBody>
      </p:sp>
      <p:cxnSp>
        <p:nvCxnSpPr>
          <p:cNvPr id="315" name="Shape 315"/>
          <p:cNvCxnSpPr/>
          <p:nvPr/>
        </p:nvCxnSpPr>
        <p:spPr>
          <a:xfrm>
            <a:off x="4602162" y="3278187"/>
            <a:ext cx="0" cy="539749"/>
          </a:xfrm>
          <a:prstGeom prst="straightConnector1">
            <a:avLst/>
          </a:prstGeom>
          <a:noFill/>
          <a:ln cap="flat" cmpd="sng" w="9525">
            <a:solidFill>
              <a:schemeClr val="dk1"/>
            </a:solidFill>
            <a:prstDash val="solid"/>
            <a:miter/>
            <a:headEnd len="med" w="med" type="none"/>
            <a:tailEnd len="med" w="med" type="none"/>
          </a:ln>
        </p:spPr>
      </p:cxnSp>
      <p:cxnSp>
        <p:nvCxnSpPr>
          <p:cNvPr id="316" name="Shape 316"/>
          <p:cNvCxnSpPr/>
          <p:nvPr/>
        </p:nvCxnSpPr>
        <p:spPr>
          <a:xfrm>
            <a:off x="4800600" y="3048000"/>
            <a:ext cx="0" cy="762000"/>
          </a:xfrm>
          <a:prstGeom prst="straightConnector1">
            <a:avLst/>
          </a:prstGeom>
          <a:noFill/>
          <a:ln cap="flat" cmpd="sng" w="9525">
            <a:solidFill>
              <a:schemeClr val="dk1"/>
            </a:solidFill>
            <a:prstDash val="solid"/>
            <a:miter/>
            <a:headEnd len="med" w="med" type="none"/>
            <a:tailEnd len="med" w="med" type="none"/>
          </a:ln>
        </p:spPr>
      </p:cxnSp>
      <p:sp>
        <p:nvSpPr>
          <p:cNvPr id="317" name="Shape 317"/>
          <p:cNvSpPr txBox="1"/>
          <p:nvPr/>
        </p:nvSpPr>
        <p:spPr>
          <a:xfrm>
            <a:off x="4511675" y="3733800"/>
            <a:ext cx="746125" cy="334961"/>
          </a:xfrm>
          <a:prstGeom prst="rect">
            <a:avLst/>
          </a:prstGeom>
          <a:noFill/>
          <a:ln>
            <a:noFill/>
          </a:ln>
        </p:spPr>
        <p:txBody>
          <a:bodyPr anchorCtr="0" anchor="ctr" bIns="76175" lIns="241200" rIns="91425" tIns="76175">
            <a:noAutofit/>
          </a:bodyPr>
          <a:lstStyle/>
          <a:p>
            <a:pPr indent="-342900" lvl="0" marL="342900" marR="0" rtl="0" algn="l">
              <a:lnSpc>
                <a:spcPct val="100000"/>
              </a:lnSpc>
              <a:spcBef>
                <a:spcPts val="0"/>
              </a:spcBef>
              <a:spcAft>
                <a:spcPts val="0"/>
              </a:spcAft>
              <a:buClr>
                <a:srgbClr val="FF0000"/>
              </a:buClr>
              <a:buSzPct val="25000"/>
              <a:buFont typeface="Arial"/>
              <a:buNone/>
            </a:pPr>
            <a:r>
              <a:rPr b="1" i="1" lang="en-US" sz="1200" u="none">
                <a:solidFill>
                  <a:srgbClr val="FF0000"/>
                </a:solidFill>
                <a:latin typeface="Arial"/>
                <a:ea typeface="Arial"/>
                <a:cs typeface="Arial"/>
                <a:sym typeface="Arial"/>
              </a:rPr>
              <a:t>Y2 </a:t>
            </a:r>
          </a:p>
        </p:txBody>
      </p:sp>
      <p:sp>
        <p:nvSpPr>
          <p:cNvPr id="318" name="Shape 318"/>
          <p:cNvSpPr txBox="1"/>
          <p:nvPr/>
        </p:nvSpPr>
        <p:spPr>
          <a:xfrm>
            <a:off x="7864475" y="3733800"/>
            <a:ext cx="746125" cy="334961"/>
          </a:xfrm>
          <a:prstGeom prst="rect">
            <a:avLst/>
          </a:prstGeom>
          <a:noFill/>
          <a:ln>
            <a:noFill/>
          </a:ln>
        </p:spPr>
        <p:txBody>
          <a:bodyPr anchorCtr="0" anchor="ctr" bIns="76175" lIns="241200" rIns="91425" tIns="76175">
            <a:noAutofit/>
          </a:bodyPr>
          <a:lstStyle/>
          <a:p>
            <a:pPr indent="-342900" lvl="0" marL="342900" marR="0" rtl="0" algn="l">
              <a:lnSpc>
                <a:spcPct val="100000"/>
              </a:lnSpc>
              <a:spcBef>
                <a:spcPts val="0"/>
              </a:spcBef>
              <a:spcAft>
                <a:spcPts val="0"/>
              </a:spcAft>
              <a:buClr>
                <a:srgbClr val="FF0000"/>
              </a:buClr>
              <a:buSzPct val="25000"/>
              <a:buFont typeface="Arial"/>
              <a:buNone/>
            </a:pPr>
            <a:r>
              <a:rPr b="1" i="1" lang="en-US" sz="1200" u="none">
                <a:solidFill>
                  <a:srgbClr val="FF0000"/>
                </a:solidFill>
                <a:latin typeface="Arial"/>
                <a:ea typeface="Arial"/>
                <a:cs typeface="Arial"/>
                <a:sym typeface="Arial"/>
              </a:rPr>
              <a:t>Y2 </a:t>
            </a:r>
          </a:p>
        </p:txBody>
      </p:sp>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22" name="Shape 322"/>
        <p:cNvGrpSpPr/>
        <p:nvPr/>
      </p:nvGrpSpPr>
      <p:grpSpPr>
        <a:xfrm>
          <a:off x="0" y="0"/>
          <a:ext cx="0" cy="0"/>
          <a:chOff x="0" y="0"/>
          <a:chExt cx="0" cy="0"/>
        </a:xfrm>
      </p:grpSpPr>
      <p:sp>
        <p:nvSpPr>
          <p:cNvPr id="323" name="Shape 323"/>
          <p:cNvSpPr txBox="1"/>
          <p:nvPr/>
        </p:nvSpPr>
        <p:spPr>
          <a:xfrm>
            <a:off x="685800" y="1295400"/>
            <a:ext cx="8153399" cy="5264149"/>
          </a:xfrm>
          <a:prstGeom prst="rect">
            <a:avLst/>
          </a:prstGeom>
          <a:noFill/>
          <a:ln>
            <a:noFill/>
          </a:ln>
        </p:spPr>
        <p:txBody>
          <a:bodyPr anchorCtr="0" anchor="ctr" bIns="152350" lIns="72000" rIns="91425" tIns="15235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a:solidFill>
                  <a:schemeClr val="dk1"/>
                </a:solidFill>
                <a:latin typeface="Arial"/>
                <a:ea typeface="Arial"/>
                <a:cs typeface="Arial"/>
                <a:sym typeface="Arial"/>
              </a:rPr>
              <a:t>El modelo IS LM, </a:t>
            </a:r>
            <a:r>
              <a:rPr b="1" i="0" lang="en-US" sz="1600" u="none">
                <a:solidFill>
                  <a:srgbClr val="E61235"/>
                </a:solidFill>
                <a:latin typeface="Arial"/>
                <a:ea typeface="Arial"/>
                <a:cs typeface="Arial"/>
                <a:sym typeface="Arial"/>
              </a:rPr>
              <a:t>síntesis neoclásica</a:t>
            </a:r>
            <a:r>
              <a:rPr b="0" i="0" lang="en-US" sz="1600" u="none">
                <a:solidFill>
                  <a:schemeClr val="dk1"/>
                </a:solidFill>
                <a:latin typeface="Arial"/>
                <a:ea typeface="Arial"/>
                <a:cs typeface="Arial"/>
                <a:sym typeface="Arial"/>
              </a:rPr>
              <a:t> o también llamado modelo de Hicks - Hansen, está inspirado en las ideas de Keynes.</a:t>
            </a:r>
          </a:p>
          <a:p>
            <a:pPr indent="0" lvl="0" marL="0" marR="0" rtl="0" algn="l">
              <a:lnSpc>
                <a:spcPct val="100000"/>
              </a:lnSpc>
              <a:spcBef>
                <a:spcPts val="0"/>
              </a:spcBef>
              <a:spcAft>
                <a:spcPts val="0"/>
              </a:spcAft>
              <a:buClr>
                <a:schemeClr val="dk1"/>
              </a:buClr>
              <a:buFont typeface="Calibri"/>
              <a:buNone/>
            </a:pPr>
            <a:r>
              <a:t/>
            </a:r>
            <a:endParaRPr b="0" i="0" sz="16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Calibri"/>
              <a:buNone/>
            </a:pPr>
            <a:r>
              <a:t/>
            </a:r>
            <a:endParaRPr b="0" i="0" sz="16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Calibri"/>
              <a:buNone/>
            </a:pPr>
            <a:r>
              <a:t/>
            </a:r>
            <a:endParaRPr b="0" i="0" sz="16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Calibri"/>
              <a:buNone/>
            </a:pPr>
            <a:r>
              <a:t/>
            </a:r>
            <a:endParaRPr b="0" i="0" sz="16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25000"/>
              <a:buFont typeface="Arial"/>
              <a:buNone/>
            </a:pPr>
            <a:r>
              <a:rPr b="0" i="0" lang="en-US" sz="1600" u="none">
                <a:solidFill>
                  <a:schemeClr val="dk1"/>
                </a:solidFill>
                <a:latin typeface="Arial"/>
                <a:ea typeface="Arial"/>
                <a:cs typeface="Arial"/>
                <a:sym typeface="Arial"/>
              </a:rPr>
              <a:t>La originalidad del modelo consiste principalmente en que muestra la interacción entre los mercados de bienes (curva IS) y de dinero (curva LM). </a:t>
            </a:r>
          </a:p>
          <a:p>
            <a:pPr indent="0" lvl="0" marL="0" marR="0" rtl="0" algn="l">
              <a:lnSpc>
                <a:spcPct val="100000"/>
              </a:lnSpc>
              <a:spcBef>
                <a:spcPts val="0"/>
              </a:spcBef>
              <a:spcAft>
                <a:spcPts val="0"/>
              </a:spcAft>
              <a:buClr>
                <a:schemeClr val="dk1"/>
              </a:buClr>
              <a:buFont typeface="Calibri"/>
              <a:buNone/>
            </a:pPr>
            <a:r>
              <a:t/>
            </a:r>
            <a:endParaRPr b="0" i="0" sz="16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25000"/>
              <a:buFont typeface="Arial"/>
              <a:buNone/>
            </a:pPr>
            <a:r>
              <a:rPr b="0" i="0" lang="en-US" sz="1600" u="none">
                <a:solidFill>
                  <a:schemeClr val="dk1"/>
                </a:solidFill>
                <a:latin typeface="Arial"/>
                <a:ea typeface="Arial"/>
                <a:cs typeface="Arial"/>
                <a:sym typeface="Arial"/>
              </a:rPr>
              <a:t>El </a:t>
            </a:r>
            <a:r>
              <a:rPr b="1" i="0" lang="en-US" sz="1600" u="none">
                <a:solidFill>
                  <a:schemeClr val="dk1"/>
                </a:solidFill>
                <a:latin typeface="Arial"/>
                <a:ea typeface="Arial"/>
                <a:cs typeface="Arial"/>
                <a:sym typeface="Arial"/>
              </a:rPr>
              <a:t>precio de los bienes</a:t>
            </a:r>
            <a:r>
              <a:rPr b="0" i="0" lang="en-US" sz="1600" u="none">
                <a:solidFill>
                  <a:schemeClr val="dk1"/>
                </a:solidFill>
                <a:latin typeface="Arial"/>
                <a:ea typeface="Arial"/>
                <a:cs typeface="Arial"/>
                <a:sym typeface="Arial"/>
              </a:rPr>
              <a:t> y el </a:t>
            </a:r>
            <a:r>
              <a:rPr b="1" i="0" lang="en-US" sz="1600" u="none">
                <a:solidFill>
                  <a:schemeClr val="dk1"/>
                </a:solidFill>
                <a:latin typeface="Arial"/>
                <a:ea typeface="Arial"/>
                <a:cs typeface="Arial"/>
                <a:sym typeface="Arial"/>
              </a:rPr>
              <a:t>precio del dinero</a:t>
            </a:r>
            <a:r>
              <a:rPr b="0" i="0" lang="en-US" sz="1600" u="none">
                <a:solidFill>
                  <a:schemeClr val="dk1"/>
                </a:solidFill>
                <a:latin typeface="Arial"/>
                <a:ea typeface="Arial"/>
                <a:cs typeface="Arial"/>
                <a:sym typeface="Arial"/>
              </a:rPr>
              <a:t> son los canales a través de los cuales los acontecimientos en un mercado afectan al otro, es decir, que los precios transmiten la información necesaria de un mercado a otro, permitiendo la coordinación necesaria.</a:t>
            </a:r>
          </a:p>
          <a:p>
            <a:pPr indent="0" lvl="0" marL="0" marR="0" rtl="0" algn="l">
              <a:lnSpc>
                <a:spcPct val="100000"/>
              </a:lnSpc>
              <a:spcBef>
                <a:spcPts val="0"/>
              </a:spcBef>
              <a:spcAft>
                <a:spcPts val="0"/>
              </a:spcAft>
              <a:buClr>
                <a:schemeClr val="dk1"/>
              </a:buClr>
              <a:buFont typeface="Calibri"/>
              <a:buNone/>
            </a:pPr>
            <a:r>
              <a:t/>
            </a:r>
            <a:endParaRPr b="0" i="0" sz="16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25000"/>
              <a:buFont typeface="Arial"/>
              <a:buNone/>
            </a:pPr>
            <a:r>
              <a:rPr b="0" i="0" lang="en-US" sz="1600" u="none">
                <a:solidFill>
                  <a:schemeClr val="dk1"/>
                </a:solidFill>
                <a:latin typeface="Arial"/>
                <a:ea typeface="Arial"/>
                <a:cs typeface="Arial"/>
                <a:sym typeface="Arial"/>
              </a:rPr>
              <a:t>Ambos mercados interactúan y se influyen mutuamente ya que el nivel de renta determinará la demanda de dinero (y por lo tanto la tasa de interés) y la tasa de interés influirá en la demanda de inversión (y por tanto en la renta y la producción real). </a:t>
            </a:r>
          </a:p>
          <a:p>
            <a:pPr indent="0" lvl="0" marL="0" marR="0" rtl="0" algn="l">
              <a:lnSpc>
                <a:spcPct val="100000"/>
              </a:lnSpc>
              <a:spcBef>
                <a:spcPts val="0"/>
              </a:spcBef>
              <a:spcAft>
                <a:spcPts val="0"/>
              </a:spcAft>
              <a:buClr>
                <a:schemeClr val="dk1"/>
              </a:buClr>
              <a:buFont typeface="Calibri"/>
              <a:buNone/>
            </a:pPr>
            <a:r>
              <a:t/>
            </a:r>
            <a:endParaRPr b="0" i="0" sz="18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E61235"/>
              </a:buClr>
              <a:buSzPct val="25000"/>
              <a:buFont typeface="Arial"/>
              <a:buNone/>
            </a:pPr>
            <a:r>
              <a:rPr b="1" i="0" lang="en-US" sz="1800" u="none">
                <a:solidFill>
                  <a:srgbClr val="E61235"/>
                </a:solidFill>
                <a:latin typeface="Arial"/>
                <a:ea typeface="Arial"/>
                <a:cs typeface="Arial"/>
                <a:sym typeface="Arial"/>
              </a:rPr>
              <a:t>El modelo asegura que los mercados se “vacían”, existiendo mecanismos de auto-ajuste, que no son otros que los precios. </a:t>
            </a:r>
          </a:p>
          <a:p>
            <a:pPr indent="0" lvl="0" marL="0" marR="0" rtl="0" algn="l">
              <a:lnSpc>
                <a:spcPct val="100000"/>
              </a:lnSpc>
              <a:spcBef>
                <a:spcPts val="0"/>
              </a:spcBef>
              <a:spcAft>
                <a:spcPts val="0"/>
              </a:spcAft>
              <a:buClr>
                <a:schemeClr val="dk1"/>
              </a:buClr>
              <a:buFont typeface="Calibri"/>
              <a:buNone/>
            </a:pPr>
            <a:r>
              <a:t/>
            </a:r>
            <a:endParaRPr b="1" i="0" sz="1600" u="none">
              <a:solidFill>
                <a:srgbClr val="E61235"/>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600" u="none">
              <a:solidFill>
                <a:srgbClr val="E61235"/>
              </a:solidFill>
              <a:latin typeface="Arial"/>
              <a:ea typeface="Arial"/>
              <a:cs typeface="Arial"/>
              <a:sym typeface="Arial"/>
            </a:endParaRPr>
          </a:p>
        </p:txBody>
      </p:sp>
      <p:pic>
        <p:nvPicPr>
          <p:cNvPr id="324" name="Shape 324"/>
          <p:cNvPicPr preferRelativeResize="0"/>
          <p:nvPr/>
        </p:nvPicPr>
        <p:blipFill rotWithShape="1">
          <a:blip r:embed="rId3">
            <a:alphaModFix/>
          </a:blip>
          <a:srcRect b="0" l="0" r="0" t="0"/>
          <a:stretch/>
        </p:blipFill>
        <p:spPr>
          <a:xfrm>
            <a:off x="263525" y="914400"/>
            <a:ext cx="8610599" cy="209549"/>
          </a:xfrm>
          <a:prstGeom prst="rect">
            <a:avLst/>
          </a:prstGeom>
          <a:noFill/>
          <a:ln>
            <a:noFill/>
          </a:ln>
        </p:spPr>
      </p:pic>
      <p:pic>
        <p:nvPicPr>
          <p:cNvPr id="325" name="Shape 325"/>
          <p:cNvPicPr preferRelativeResize="0"/>
          <p:nvPr/>
        </p:nvPicPr>
        <p:blipFill rotWithShape="1">
          <a:blip r:embed="rId4">
            <a:alphaModFix/>
          </a:blip>
          <a:srcRect b="0" l="0" r="0" t="0"/>
          <a:stretch/>
        </p:blipFill>
        <p:spPr>
          <a:xfrm>
            <a:off x="255587" y="306387"/>
            <a:ext cx="3013074" cy="608011"/>
          </a:xfrm>
          <a:prstGeom prst="rect">
            <a:avLst/>
          </a:prstGeom>
          <a:noFill/>
          <a:ln>
            <a:noFill/>
          </a:ln>
        </p:spPr>
      </p:pic>
      <p:sp>
        <p:nvSpPr>
          <p:cNvPr id="326" name="Shape 326"/>
          <p:cNvSpPr txBox="1"/>
          <p:nvPr/>
        </p:nvSpPr>
        <p:spPr>
          <a:xfrm>
            <a:off x="4724400" y="76200"/>
            <a:ext cx="3352799" cy="94615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a:solidFill>
                  <a:srgbClr val="BB4F59"/>
                </a:solidFill>
                <a:latin typeface="Arial"/>
                <a:ea typeface="Arial"/>
                <a:cs typeface="Arial"/>
                <a:sym typeface="Arial"/>
              </a:rPr>
              <a:t>MODELO IS - LM</a:t>
            </a:r>
          </a:p>
          <a:p>
            <a:pPr indent="0" lvl="0" marL="0" marR="0" rtl="0" algn="l">
              <a:lnSpc>
                <a:spcPct val="100000"/>
              </a:lnSpc>
              <a:spcBef>
                <a:spcPts val="0"/>
              </a:spcBef>
              <a:spcAft>
                <a:spcPts val="0"/>
              </a:spcAft>
              <a:buNone/>
            </a:pPr>
            <a:r>
              <a:t/>
            </a:r>
            <a:endParaRPr b="1" i="0" sz="2800" u="none">
              <a:solidFill>
                <a:srgbClr val="BB4F59"/>
              </a:solidFill>
              <a:latin typeface="Arial"/>
              <a:ea typeface="Arial"/>
              <a:cs typeface="Arial"/>
              <a:sym typeface="Arial"/>
            </a:endParaRPr>
          </a:p>
        </p:txBody>
      </p:sp>
      <p:sp>
        <p:nvSpPr>
          <p:cNvPr id="327" name="Shape 327"/>
          <p:cNvSpPr txBox="1"/>
          <p:nvPr/>
        </p:nvSpPr>
        <p:spPr>
          <a:xfrm>
            <a:off x="304800" y="1524000"/>
            <a:ext cx="8610599" cy="5035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pic>
        <p:nvPicPr>
          <p:cNvPr id="328" name="Shape 328"/>
          <p:cNvPicPr preferRelativeResize="0"/>
          <p:nvPr/>
        </p:nvPicPr>
        <p:blipFill rotWithShape="1">
          <a:blip r:embed="rId5">
            <a:alphaModFix/>
          </a:blip>
          <a:srcRect b="0" l="0" r="0" t="0"/>
          <a:stretch/>
        </p:blipFill>
        <p:spPr>
          <a:xfrm>
            <a:off x="4343400" y="1600200"/>
            <a:ext cx="808037" cy="1143000"/>
          </a:xfrm>
          <a:prstGeom prst="rect">
            <a:avLst/>
          </a:prstGeom>
          <a:noFill/>
          <a:ln>
            <a:noFill/>
          </a:ln>
        </p:spPr>
      </p:pic>
      <p:pic>
        <p:nvPicPr>
          <p:cNvPr id="329" name="Shape 329"/>
          <p:cNvPicPr preferRelativeResize="0"/>
          <p:nvPr/>
        </p:nvPicPr>
        <p:blipFill rotWithShape="1">
          <a:blip r:embed="rId6">
            <a:alphaModFix/>
          </a:blip>
          <a:srcRect b="0" l="0" r="0" t="0"/>
          <a:stretch/>
        </p:blipFill>
        <p:spPr>
          <a:xfrm>
            <a:off x="5943600" y="1600200"/>
            <a:ext cx="909637" cy="1143000"/>
          </a:xfrm>
          <a:prstGeom prst="rect">
            <a:avLst/>
          </a:prstGeom>
          <a:noFill/>
          <a:ln>
            <a:noFill/>
          </a:ln>
        </p:spPr>
      </p:pic>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33" name="Shape 333"/>
        <p:cNvGrpSpPr/>
        <p:nvPr/>
      </p:nvGrpSpPr>
      <p:grpSpPr>
        <a:xfrm>
          <a:off x="0" y="0"/>
          <a:ext cx="0" cy="0"/>
          <a:chOff x="0" y="0"/>
          <a:chExt cx="0" cy="0"/>
        </a:xfrm>
      </p:grpSpPr>
      <p:pic>
        <p:nvPicPr>
          <p:cNvPr id="334" name="Shape 334"/>
          <p:cNvPicPr preferRelativeResize="0"/>
          <p:nvPr/>
        </p:nvPicPr>
        <p:blipFill rotWithShape="1">
          <a:blip r:embed="rId3">
            <a:alphaModFix/>
          </a:blip>
          <a:srcRect b="0" l="0" r="0" t="0"/>
          <a:stretch/>
        </p:blipFill>
        <p:spPr>
          <a:xfrm>
            <a:off x="263525" y="914400"/>
            <a:ext cx="8610599" cy="209549"/>
          </a:xfrm>
          <a:prstGeom prst="rect">
            <a:avLst/>
          </a:prstGeom>
          <a:noFill/>
          <a:ln>
            <a:noFill/>
          </a:ln>
        </p:spPr>
      </p:pic>
      <p:pic>
        <p:nvPicPr>
          <p:cNvPr id="335" name="Shape 335"/>
          <p:cNvPicPr preferRelativeResize="0"/>
          <p:nvPr/>
        </p:nvPicPr>
        <p:blipFill rotWithShape="1">
          <a:blip r:embed="rId4">
            <a:alphaModFix/>
          </a:blip>
          <a:srcRect b="0" l="0" r="0" t="0"/>
          <a:stretch/>
        </p:blipFill>
        <p:spPr>
          <a:xfrm>
            <a:off x="255587" y="228600"/>
            <a:ext cx="3013074" cy="608011"/>
          </a:xfrm>
          <a:prstGeom prst="rect">
            <a:avLst/>
          </a:prstGeom>
          <a:noFill/>
          <a:ln>
            <a:noFill/>
          </a:ln>
        </p:spPr>
      </p:pic>
      <p:sp>
        <p:nvSpPr>
          <p:cNvPr id="336" name="Shape 336"/>
          <p:cNvSpPr txBox="1"/>
          <p:nvPr/>
        </p:nvSpPr>
        <p:spPr>
          <a:xfrm>
            <a:off x="2438400" y="2133600"/>
            <a:ext cx="3352799" cy="1739899"/>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3600" u="none">
                <a:solidFill>
                  <a:srgbClr val="BB4F59"/>
                </a:solidFill>
                <a:latin typeface="Arial"/>
                <a:ea typeface="Arial"/>
                <a:cs typeface="Arial"/>
                <a:sym typeface="Arial"/>
              </a:rPr>
              <a:t>MERCADO MONETARIO</a:t>
            </a:r>
          </a:p>
          <a:p>
            <a:pPr indent="0" lvl="0" marL="0" marR="0" rtl="0" algn="l">
              <a:lnSpc>
                <a:spcPct val="100000"/>
              </a:lnSpc>
              <a:spcBef>
                <a:spcPts val="0"/>
              </a:spcBef>
              <a:spcAft>
                <a:spcPts val="0"/>
              </a:spcAft>
              <a:buNone/>
            </a:pPr>
            <a:r>
              <a:t/>
            </a:r>
            <a:endParaRPr b="1" i="0" sz="3600" u="none">
              <a:solidFill>
                <a:srgbClr val="BB4F59"/>
              </a:solidFill>
              <a:latin typeface="Arial"/>
              <a:ea typeface="Arial"/>
              <a:cs typeface="Arial"/>
              <a:sym typeface="Arial"/>
            </a:endParaRPr>
          </a:p>
        </p:txBody>
      </p:sp>
      <p:sp>
        <p:nvSpPr>
          <p:cNvPr id="337" name="Shape 337"/>
          <p:cNvSpPr txBox="1"/>
          <p:nvPr/>
        </p:nvSpPr>
        <p:spPr>
          <a:xfrm>
            <a:off x="304800" y="1524000"/>
            <a:ext cx="8610599" cy="5035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41" name="Shape 341"/>
        <p:cNvGrpSpPr/>
        <p:nvPr/>
      </p:nvGrpSpPr>
      <p:grpSpPr>
        <a:xfrm>
          <a:off x="0" y="0"/>
          <a:ext cx="0" cy="0"/>
          <a:chOff x="0" y="0"/>
          <a:chExt cx="0" cy="0"/>
        </a:xfrm>
      </p:grpSpPr>
      <p:pic>
        <p:nvPicPr>
          <p:cNvPr id="342" name="Shape 342"/>
          <p:cNvPicPr preferRelativeResize="0"/>
          <p:nvPr/>
        </p:nvPicPr>
        <p:blipFill rotWithShape="1">
          <a:blip r:embed="rId3">
            <a:alphaModFix/>
          </a:blip>
          <a:srcRect b="0" l="0" r="0" t="0"/>
          <a:stretch/>
        </p:blipFill>
        <p:spPr>
          <a:xfrm>
            <a:off x="263525" y="933450"/>
            <a:ext cx="8610599" cy="209549"/>
          </a:xfrm>
          <a:prstGeom prst="rect">
            <a:avLst/>
          </a:prstGeom>
          <a:noFill/>
          <a:ln>
            <a:noFill/>
          </a:ln>
        </p:spPr>
      </p:pic>
      <p:pic>
        <p:nvPicPr>
          <p:cNvPr id="343" name="Shape 343"/>
          <p:cNvPicPr preferRelativeResize="0"/>
          <p:nvPr/>
        </p:nvPicPr>
        <p:blipFill rotWithShape="1">
          <a:blip r:embed="rId4">
            <a:alphaModFix/>
          </a:blip>
          <a:srcRect b="0" l="0" r="0" t="0"/>
          <a:stretch/>
        </p:blipFill>
        <p:spPr>
          <a:xfrm>
            <a:off x="255587" y="306387"/>
            <a:ext cx="3013074" cy="608011"/>
          </a:xfrm>
          <a:prstGeom prst="rect">
            <a:avLst/>
          </a:prstGeom>
          <a:noFill/>
          <a:ln>
            <a:noFill/>
          </a:ln>
        </p:spPr>
      </p:pic>
      <p:sp>
        <p:nvSpPr>
          <p:cNvPr id="344" name="Shape 344"/>
          <p:cNvSpPr txBox="1"/>
          <p:nvPr/>
        </p:nvSpPr>
        <p:spPr>
          <a:xfrm>
            <a:off x="3276600" y="152400"/>
            <a:ext cx="5562600"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a:solidFill>
                  <a:srgbClr val="BB4F59"/>
                </a:solidFill>
                <a:latin typeface="Arial"/>
                <a:ea typeface="Arial"/>
                <a:cs typeface="Arial"/>
                <a:sym typeface="Arial"/>
              </a:rPr>
              <a:t>VARIABLES MACROECONÓMICAS </a:t>
            </a:r>
          </a:p>
          <a:p>
            <a:pPr indent="0" lvl="0" marL="0" marR="0" rtl="0" algn="ctr">
              <a:lnSpc>
                <a:spcPct val="100000"/>
              </a:lnSpc>
              <a:spcBef>
                <a:spcPts val="0"/>
              </a:spcBef>
              <a:spcAft>
                <a:spcPts val="0"/>
              </a:spcAft>
              <a:buClr>
                <a:srgbClr val="BB4F59"/>
              </a:buClr>
              <a:buSzPct val="25000"/>
              <a:buFont typeface="Arial"/>
              <a:buNone/>
            </a:pPr>
            <a:r>
              <a:rPr b="1" i="0" lang="en-US" sz="2400" u="none">
                <a:solidFill>
                  <a:srgbClr val="BB4F59"/>
                </a:solidFill>
                <a:latin typeface="Arial"/>
                <a:ea typeface="Arial"/>
                <a:cs typeface="Arial"/>
                <a:sym typeface="Arial"/>
              </a:rPr>
              <a:t>DEL MERCADO MONETARIO</a:t>
            </a:r>
          </a:p>
        </p:txBody>
      </p:sp>
      <p:sp>
        <p:nvSpPr>
          <p:cNvPr id="345" name="Shape 345"/>
          <p:cNvSpPr txBox="1"/>
          <p:nvPr/>
        </p:nvSpPr>
        <p:spPr>
          <a:xfrm>
            <a:off x="268287" y="1516062"/>
            <a:ext cx="8610599" cy="5035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46" name="Shape 346"/>
          <p:cNvSpPr txBox="1"/>
          <p:nvPr/>
        </p:nvSpPr>
        <p:spPr>
          <a:xfrm>
            <a:off x="4724400" y="1676400"/>
            <a:ext cx="4343400" cy="1155700"/>
          </a:xfrm>
          <a:prstGeom prst="rect">
            <a:avLst/>
          </a:prstGeom>
          <a:solidFill>
            <a:srgbClr val="C0C0C0">
              <a:alpha val="48627"/>
            </a:srgbClr>
          </a:solidFill>
          <a:ln>
            <a:noFill/>
          </a:ln>
        </p:spPr>
        <p:txBody>
          <a:bodyPr anchorCtr="0" anchor="t" bIns="45700" lIns="0"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Demanda para transacciones L</a:t>
            </a:r>
            <a:r>
              <a:rPr b="1" baseline="-25000" i="0" lang="en-US" sz="1400" u="none">
                <a:solidFill>
                  <a:schemeClr val="dk1"/>
                </a:solidFill>
                <a:latin typeface="Arial"/>
                <a:ea typeface="Arial"/>
                <a:cs typeface="Arial"/>
                <a:sym typeface="Arial"/>
              </a:rPr>
              <a:t>t </a:t>
            </a:r>
            <a:r>
              <a:rPr b="1" i="0" lang="en-US" sz="1400" u="none">
                <a:solidFill>
                  <a:schemeClr val="dk1"/>
                </a:solidFill>
                <a:latin typeface="Arial"/>
                <a:ea typeface="Arial"/>
                <a:cs typeface="Arial"/>
                <a:sym typeface="Arial"/>
              </a:rPr>
              <a:t>= k * Y</a:t>
            </a:r>
          </a:p>
          <a:p>
            <a:pPr indent="0" lvl="0" marL="0" marR="0" rtl="0" algn="l">
              <a:lnSpc>
                <a:spcPct val="100000"/>
              </a:lnSpc>
              <a:spcBef>
                <a:spcPts val="0"/>
              </a:spcBef>
              <a:spcAft>
                <a:spcPts val="0"/>
              </a:spcAft>
              <a:buClr>
                <a:schemeClr val="dk1"/>
              </a:buClr>
              <a:buFont typeface="Calibri"/>
              <a:buNone/>
            </a:pPr>
            <a:r>
              <a:t/>
            </a:r>
            <a:endParaRPr b="1" i="0" sz="14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Demanda para especulación L</a:t>
            </a:r>
            <a:r>
              <a:rPr b="1" baseline="-25000" i="0" lang="en-US" sz="1400" u="none">
                <a:solidFill>
                  <a:schemeClr val="dk1"/>
                </a:solidFill>
                <a:latin typeface="Arial"/>
                <a:ea typeface="Arial"/>
                <a:cs typeface="Arial"/>
                <a:sym typeface="Arial"/>
              </a:rPr>
              <a:t>e </a:t>
            </a:r>
            <a:r>
              <a:rPr b="1" i="0" lang="en-US" sz="1400" u="none">
                <a:solidFill>
                  <a:schemeClr val="dk1"/>
                </a:solidFill>
                <a:latin typeface="Arial"/>
                <a:ea typeface="Arial"/>
                <a:cs typeface="Arial"/>
                <a:sym typeface="Arial"/>
              </a:rPr>
              <a:t>= L</a:t>
            </a:r>
            <a:r>
              <a:rPr b="1" baseline="-25000" i="0" lang="en-US" sz="1400" u="none">
                <a:solidFill>
                  <a:schemeClr val="dk1"/>
                </a:solidFill>
                <a:latin typeface="Arial"/>
                <a:ea typeface="Arial"/>
                <a:cs typeface="Arial"/>
                <a:sym typeface="Arial"/>
              </a:rPr>
              <a:t>0</a:t>
            </a:r>
            <a:r>
              <a:rPr b="1" i="0" lang="en-US" sz="1400" u="none">
                <a:solidFill>
                  <a:schemeClr val="dk1"/>
                </a:solidFill>
                <a:latin typeface="Arial"/>
                <a:ea typeface="Arial"/>
                <a:cs typeface="Arial"/>
                <a:sym typeface="Arial"/>
              </a:rPr>
              <a:t> – h * i</a:t>
            </a:r>
          </a:p>
          <a:p>
            <a:pPr indent="0" lvl="0" marL="0" marR="0" rtl="0" algn="r">
              <a:lnSpc>
                <a:spcPct val="100000"/>
              </a:lnSpc>
              <a:spcBef>
                <a:spcPts val="0"/>
              </a:spcBef>
              <a:spcAft>
                <a:spcPts val="0"/>
              </a:spcAft>
              <a:buClr>
                <a:schemeClr val="dk1"/>
              </a:buClr>
              <a:buFont typeface="Calibri"/>
              <a:buNone/>
            </a:pPr>
            <a:r>
              <a:t/>
            </a:r>
            <a:endParaRPr b="1" i="0" sz="14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L (Liquidity preference) =  k * Y + L</a:t>
            </a:r>
            <a:r>
              <a:rPr b="1" baseline="-25000" i="0" lang="en-US" sz="1400" u="none">
                <a:solidFill>
                  <a:schemeClr val="dk1"/>
                </a:solidFill>
                <a:latin typeface="Arial"/>
                <a:ea typeface="Arial"/>
                <a:cs typeface="Arial"/>
                <a:sym typeface="Arial"/>
              </a:rPr>
              <a:t>0 </a:t>
            </a:r>
            <a:r>
              <a:rPr b="1" i="0" lang="en-US" sz="1400" u="none">
                <a:solidFill>
                  <a:schemeClr val="dk1"/>
                </a:solidFill>
                <a:latin typeface="Arial"/>
                <a:ea typeface="Arial"/>
                <a:cs typeface="Arial"/>
                <a:sym typeface="Arial"/>
              </a:rPr>
              <a:t>- h * i = M</a:t>
            </a:r>
            <a:r>
              <a:rPr b="1" baseline="-25000" i="0" lang="en-US" sz="1400" u="none">
                <a:solidFill>
                  <a:schemeClr val="dk1"/>
                </a:solidFill>
                <a:latin typeface="Arial"/>
                <a:ea typeface="Arial"/>
                <a:cs typeface="Arial"/>
                <a:sym typeface="Arial"/>
              </a:rPr>
              <a:t>d</a:t>
            </a:r>
            <a:r>
              <a:rPr b="1" i="0" lang="en-US" sz="1400" u="none">
                <a:solidFill>
                  <a:schemeClr val="dk1"/>
                </a:solidFill>
                <a:latin typeface="Arial"/>
                <a:ea typeface="Arial"/>
                <a:cs typeface="Arial"/>
                <a:sym typeface="Arial"/>
              </a:rPr>
              <a:t> </a:t>
            </a:r>
          </a:p>
        </p:txBody>
      </p:sp>
      <p:sp>
        <p:nvSpPr>
          <p:cNvPr id="347" name="Shape 347"/>
          <p:cNvSpPr txBox="1"/>
          <p:nvPr/>
        </p:nvSpPr>
        <p:spPr>
          <a:xfrm>
            <a:off x="5711825" y="3733800"/>
            <a:ext cx="3432175" cy="1368425"/>
          </a:xfrm>
          <a:prstGeom prst="rect">
            <a:avLst/>
          </a:prstGeom>
          <a:solidFill>
            <a:srgbClr val="00FF00">
              <a:alpha val="41960"/>
            </a:srgbClr>
          </a:solid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El poder adquisitivo de la moneda es la oferta monetaria medida en bienes:</a:t>
            </a:r>
          </a:p>
          <a:p>
            <a:pPr indent="0" lvl="0" marL="0" marR="0" rtl="0" algn="ctr">
              <a:lnSpc>
                <a:spcPct val="100000"/>
              </a:lnSpc>
              <a:spcBef>
                <a:spcPts val="0"/>
              </a:spcBef>
              <a:spcAft>
                <a:spcPts val="0"/>
              </a:spcAft>
              <a:buClr>
                <a:schemeClr val="dk1"/>
              </a:buClr>
              <a:buFont typeface="Calibri"/>
              <a:buNone/>
            </a:pPr>
            <a:r>
              <a:t/>
            </a:r>
            <a:endParaRPr b="1" i="0" sz="14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Ms (Money supply) = OM/NP</a:t>
            </a:r>
          </a:p>
          <a:p>
            <a:pPr indent="0" lvl="0" marL="0" marR="0" rtl="0" algn="ctr">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(Oferta Monetaria Real)</a:t>
            </a:r>
            <a:br>
              <a:rPr b="1" i="0" lang="en-US" sz="1400" u="none">
                <a:solidFill>
                  <a:srgbClr val="FF0000"/>
                </a:solidFill>
                <a:latin typeface="Arial"/>
                <a:ea typeface="Arial"/>
                <a:cs typeface="Arial"/>
                <a:sym typeface="Arial"/>
              </a:rPr>
            </a:br>
          </a:p>
        </p:txBody>
      </p:sp>
      <p:sp>
        <p:nvSpPr>
          <p:cNvPr id="348" name="Shape 348"/>
          <p:cNvSpPr txBox="1"/>
          <p:nvPr/>
        </p:nvSpPr>
        <p:spPr>
          <a:xfrm>
            <a:off x="152400" y="3657600"/>
            <a:ext cx="5449887" cy="1581150"/>
          </a:xfrm>
          <a:prstGeom prst="rect">
            <a:avLst/>
          </a:prstGeom>
          <a:solidFill>
            <a:srgbClr val="FFFF99"/>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0" lang="en-US" sz="1400" u="none">
                <a:solidFill>
                  <a:srgbClr val="BB4F59"/>
                </a:solidFill>
                <a:latin typeface="Arial"/>
                <a:ea typeface="Arial"/>
                <a:cs typeface="Arial"/>
                <a:sym typeface="Arial"/>
              </a:rPr>
              <a:t>La oferta de dinero es independiente de la tasa de interés (i) y resulta absolutamente rígida, el Banco Central decide cada día cuanto dinero ofrecerá.</a:t>
            </a:r>
          </a:p>
          <a:p>
            <a:pPr indent="0" lvl="0" marL="0" marR="0" rtl="0" algn="l">
              <a:lnSpc>
                <a:spcPct val="100000"/>
              </a:lnSpc>
              <a:spcBef>
                <a:spcPts val="0"/>
              </a:spcBef>
              <a:spcAft>
                <a:spcPts val="0"/>
              </a:spcAft>
              <a:buClr>
                <a:schemeClr val="dk1"/>
              </a:buClr>
              <a:buFont typeface="Calibri"/>
              <a:buNone/>
            </a:pPr>
            <a:r>
              <a:t/>
            </a:r>
            <a:endParaRPr b="1" i="0" sz="1400" u="non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ct val="25000"/>
              <a:buFont typeface="Arial"/>
              <a:buNone/>
            </a:pPr>
            <a:r>
              <a:rPr b="1" i="0" lang="en-US" sz="1400" u="none">
                <a:solidFill>
                  <a:srgbClr val="FF0000"/>
                </a:solidFill>
                <a:latin typeface="Arial"/>
                <a:ea typeface="Arial"/>
                <a:cs typeface="Arial"/>
                <a:sym typeface="Arial"/>
              </a:rPr>
              <a:t>OM = Oferta monetaria nominal</a:t>
            </a:r>
            <a:br>
              <a:rPr b="1" i="0" lang="en-US" sz="1400" u="none">
                <a:solidFill>
                  <a:srgbClr val="FF0000"/>
                </a:solidFill>
                <a:latin typeface="Arial"/>
                <a:ea typeface="Arial"/>
                <a:cs typeface="Arial"/>
                <a:sym typeface="Arial"/>
              </a:rPr>
            </a:br>
          </a:p>
          <a:p>
            <a:pPr indent="0" lvl="0" marL="0" marR="0" rtl="0" algn="l">
              <a:lnSpc>
                <a:spcPct val="100000"/>
              </a:lnSpc>
              <a:spcBef>
                <a:spcPts val="0"/>
              </a:spcBef>
              <a:spcAft>
                <a:spcPts val="0"/>
              </a:spcAft>
              <a:buClr>
                <a:srgbClr val="FF0000"/>
              </a:buClr>
              <a:buSzPct val="25000"/>
              <a:buFont typeface="Arial"/>
              <a:buNone/>
            </a:pPr>
            <a:r>
              <a:rPr b="1" i="0" lang="en-US" sz="1400" u="none">
                <a:solidFill>
                  <a:srgbClr val="FF0000"/>
                </a:solidFill>
                <a:latin typeface="Arial"/>
                <a:ea typeface="Arial"/>
                <a:cs typeface="Arial"/>
                <a:sym typeface="Arial"/>
              </a:rPr>
              <a:t>NP = Nivel de precios</a:t>
            </a:r>
            <a:r>
              <a:rPr b="1" i="0" lang="en-US" sz="1400" u="none">
                <a:solidFill>
                  <a:srgbClr val="BB4F59"/>
                </a:solidFill>
                <a:latin typeface="Arial"/>
                <a:ea typeface="Arial"/>
                <a:cs typeface="Arial"/>
                <a:sym typeface="Arial"/>
              </a:rPr>
              <a:t> </a:t>
            </a:r>
          </a:p>
        </p:txBody>
      </p:sp>
      <p:sp>
        <p:nvSpPr>
          <p:cNvPr id="349" name="Shape 349"/>
          <p:cNvSpPr txBox="1"/>
          <p:nvPr/>
        </p:nvSpPr>
        <p:spPr>
          <a:xfrm>
            <a:off x="152400" y="1371600"/>
            <a:ext cx="4343400" cy="1882775"/>
          </a:xfrm>
          <a:prstGeom prst="rect">
            <a:avLst/>
          </a:prstGeom>
          <a:solidFill>
            <a:srgbClr val="00FF00">
              <a:alpha val="30980"/>
            </a:srgbClr>
          </a:solidFill>
          <a:ln>
            <a:noFill/>
          </a:ln>
        </p:spPr>
        <p:txBody>
          <a:bodyPr anchorCtr="0" anchor="t" bIns="45700" lIns="91425" rIns="91425" tIns="45700">
            <a:noAutofit/>
          </a:bodyPr>
          <a:lstStyle/>
          <a:p>
            <a:pPr indent="0" lvl="0" marL="0" marR="0" rtl="0" algn="l">
              <a:lnSpc>
                <a:spcPct val="105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La demanda de dinero será entonces: </a:t>
            </a:r>
          </a:p>
          <a:p>
            <a:pPr indent="0" lvl="0" marL="0" marR="0" rtl="0" algn="l">
              <a:lnSpc>
                <a:spcPct val="105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una </a:t>
            </a:r>
            <a:r>
              <a:rPr b="1" i="0" lang="en-US" sz="1400" u="none">
                <a:solidFill>
                  <a:srgbClr val="FF0000"/>
                </a:solidFill>
                <a:latin typeface="Arial"/>
                <a:ea typeface="Arial"/>
                <a:cs typeface="Arial"/>
                <a:sym typeface="Arial"/>
              </a:rPr>
              <a:t>función inversa</a:t>
            </a:r>
            <a:r>
              <a:rPr b="1" i="0" lang="en-US" sz="1400" u="none">
                <a:solidFill>
                  <a:schemeClr val="dk1"/>
                </a:solidFill>
                <a:latin typeface="Arial"/>
                <a:ea typeface="Arial"/>
                <a:cs typeface="Arial"/>
                <a:sym typeface="Arial"/>
              </a:rPr>
              <a:t> de la tasa o </a:t>
            </a:r>
            <a:r>
              <a:rPr b="1" i="0" lang="en-US" sz="1400" u="none">
                <a:solidFill>
                  <a:srgbClr val="FF0000"/>
                </a:solidFill>
                <a:latin typeface="Arial"/>
                <a:ea typeface="Arial"/>
                <a:cs typeface="Arial"/>
                <a:sym typeface="Arial"/>
              </a:rPr>
              <a:t>tipo de interés (i)</a:t>
            </a:r>
            <a:r>
              <a:rPr b="1" i="0" lang="en-US" sz="1400" u="none">
                <a:solidFill>
                  <a:schemeClr val="dk1"/>
                </a:solidFill>
                <a:latin typeface="Arial"/>
                <a:ea typeface="Arial"/>
                <a:cs typeface="Arial"/>
                <a:sym typeface="Arial"/>
              </a:rPr>
              <a:t> </a:t>
            </a:r>
          </a:p>
          <a:p>
            <a:pPr indent="0" lvl="0" marL="0" marR="0" rtl="0" algn="l">
              <a:lnSpc>
                <a:spcPct val="105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y una </a:t>
            </a:r>
            <a:r>
              <a:rPr b="1" i="0" lang="en-US" sz="1400" u="none">
                <a:solidFill>
                  <a:srgbClr val="FF0000"/>
                </a:solidFill>
                <a:latin typeface="Arial"/>
                <a:ea typeface="Arial"/>
                <a:cs typeface="Arial"/>
                <a:sym typeface="Arial"/>
              </a:rPr>
              <a:t>función directa</a:t>
            </a:r>
            <a:r>
              <a:rPr b="1" i="0" lang="en-US" sz="1400" u="none">
                <a:solidFill>
                  <a:schemeClr val="dk1"/>
                </a:solidFill>
                <a:latin typeface="Arial"/>
                <a:ea typeface="Arial"/>
                <a:cs typeface="Arial"/>
                <a:sym typeface="Arial"/>
              </a:rPr>
              <a:t> de la </a:t>
            </a:r>
            <a:r>
              <a:rPr b="1" i="0" lang="en-US" sz="1400" u="none">
                <a:solidFill>
                  <a:srgbClr val="FF0000"/>
                </a:solidFill>
                <a:latin typeface="Arial"/>
                <a:ea typeface="Arial"/>
                <a:cs typeface="Arial"/>
                <a:sym typeface="Arial"/>
              </a:rPr>
              <a:t>renta monetaria (Y)</a:t>
            </a:r>
            <a:br>
              <a:rPr b="1" i="0" lang="en-US" sz="1400" u="none">
                <a:solidFill>
                  <a:srgbClr val="FF0000"/>
                </a:solidFill>
                <a:latin typeface="Arial"/>
                <a:ea typeface="Arial"/>
                <a:cs typeface="Arial"/>
                <a:sym typeface="Arial"/>
              </a:rPr>
            </a:br>
            <a:r>
              <a:rPr b="1" i="0" lang="en-US" sz="1400" u="none">
                <a:solidFill>
                  <a:srgbClr val="FF0000"/>
                </a:solidFill>
                <a:latin typeface="Arial"/>
                <a:ea typeface="Arial"/>
                <a:cs typeface="Arial"/>
                <a:sym typeface="Arial"/>
              </a:rPr>
              <a:t>k = Sensibilidad de la demanda de dinero al nivel de renta  </a:t>
            </a:r>
          </a:p>
          <a:p>
            <a:pPr indent="0" lvl="0" marL="0" marR="0" rtl="0" algn="l">
              <a:lnSpc>
                <a:spcPct val="105000"/>
              </a:lnSpc>
              <a:spcBef>
                <a:spcPts val="0"/>
              </a:spcBef>
              <a:spcAft>
                <a:spcPts val="0"/>
              </a:spcAft>
              <a:buClr>
                <a:srgbClr val="FF0000"/>
              </a:buClr>
              <a:buSzPct val="25000"/>
              <a:buFont typeface="Arial"/>
              <a:buNone/>
            </a:pPr>
            <a:r>
              <a:rPr b="1" i="0" lang="en-US" sz="1400" u="none">
                <a:solidFill>
                  <a:srgbClr val="FF0000"/>
                </a:solidFill>
                <a:latin typeface="Arial"/>
                <a:ea typeface="Arial"/>
                <a:cs typeface="Arial"/>
                <a:sym typeface="Arial"/>
              </a:rPr>
              <a:t>h = Sensibilidad de la demanda de dinero al tipo de interés.</a:t>
            </a:r>
            <a:r>
              <a:rPr b="0" i="0" lang="en-US" sz="1400" u="none">
                <a:solidFill>
                  <a:srgbClr val="FF0000"/>
                </a:solidFill>
                <a:latin typeface="Arial"/>
                <a:ea typeface="Arial"/>
                <a:cs typeface="Arial"/>
                <a:sym typeface="Arial"/>
              </a:rPr>
              <a:t> </a:t>
            </a:r>
          </a:p>
          <a:p>
            <a:pPr indent="0" lvl="0" marL="0" marR="0" rtl="0" algn="l">
              <a:lnSpc>
                <a:spcPct val="105000"/>
              </a:lnSpc>
              <a:spcBef>
                <a:spcPts val="0"/>
              </a:spcBef>
              <a:spcAft>
                <a:spcPts val="0"/>
              </a:spcAft>
              <a:buClr>
                <a:srgbClr val="FF0000"/>
              </a:buClr>
              <a:buSzPct val="25000"/>
              <a:buFont typeface="Arial"/>
              <a:buNone/>
            </a:pPr>
            <a:r>
              <a:rPr b="1" i="0" lang="en-US" sz="1400" u="none">
                <a:solidFill>
                  <a:srgbClr val="FF0000"/>
                </a:solidFill>
                <a:latin typeface="Arial"/>
                <a:ea typeface="Arial"/>
                <a:cs typeface="Arial"/>
                <a:sym typeface="Arial"/>
              </a:rPr>
              <a:t>L</a:t>
            </a:r>
            <a:r>
              <a:rPr b="1" baseline="-25000" i="0" lang="en-US" sz="1400" u="none">
                <a:solidFill>
                  <a:srgbClr val="FF0000"/>
                </a:solidFill>
                <a:latin typeface="Arial"/>
                <a:ea typeface="Arial"/>
                <a:cs typeface="Arial"/>
                <a:sym typeface="Arial"/>
              </a:rPr>
              <a:t>0 </a:t>
            </a:r>
            <a:r>
              <a:rPr b="1" i="0" lang="en-US" sz="1400" u="none">
                <a:solidFill>
                  <a:srgbClr val="FF0000"/>
                </a:solidFill>
                <a:latin typeface="Arial"/>
                <a:ea typeface="Arial"/>
                <a:cs typeface="Arial"/>
                <a:sym typeface="Arial"/>
              </a:rPr>
              <a:t>= Suma total de fondos especulativos</a:t>
            </a:r>
          </a:p>
        </p:txBody>
      </p:sp>
      <p:cxnSp>
        <p:nvCxnSpPr>
          <p:cNvPr id="350" name="Shape 350"/>
          <p:cNvCxnSpPr/>
          <p:nvPr/>
        </p:nvCxnSpPr>
        <p:spPr>
          <a:xfrm>
            <a:off x="255587" y="3581400"/>
            <a:ext cx="8618536" cy="0"/>
          </a:xfrm>
          <a:prstGeom prst="straightConnector1">
            <a:avLst/>
          </a:prstGeom>
          <a:noFill/>
          <a:ln cap="flat" cmpd="sng" w="25400">
            <a:solidFill>
              <a:schemeClr val="dk1"/>
            </a:solidFill>
            <a:prstDash val="solid"/>
            <a:miter/>
            <a:headEnd len="med" w="med" type="none"/>
            <a:tailEnd len="med" w="med" type="none"/>
          </a:ln>
        </p:spPr>
      </p:cxnSp>
      <p:cxnSp>
        <p:nvCxnSpPr>
          <p:cNvPr id="351" name="Shape 351"/>
          <p:cNvCxnSpPr/>
          <p:nvPr/>
        </p:nvCxnSpPr>
        <p:spPr>
          <a:xfrm>
            <a:off x="5711825" y="3840162"/>
            <a:ext cx="0" cy="1417636"/>
          </a:xfrm>
          <a:prstGeom prst="straightConnector1">
            <a:avLst/>
          </a:prstGeom>
          <a:noFill/>
          <a:ln cap="flat" cmpd="sng" w="25400">
            <a:solidFill>
              <a:schemeClr val="dk1"/>
            </a:solidFill>
            <a:prstDash val="solid"/>
            <a:miter/>
            <a:headEnd len="med" w="med" type="none"/>
            <a:tailEnd len="med" w="med" type="none"/>
          </a:ln>
        </p:spPr>
      </p:cxnSp>
      <p:cxnSp>
        <p:nvCxnSpPr>
          <p:cNvPr id="352" name="Shape 352"/>
          <p:cNvCxnSpPr/>
          <p:nvPr/>
        </p:nvCxnSpPr>
        <p:spPr>
          <a:xfrm>
            <a:off x="228600" y="5257800"/>
            <a:ext cx="8305799" cy="0"/>
          </a:xfrm>
          <a:prstGeom prst="straightConnector1">
            <a:avLst/>
          </a:prstGeom>
          <a:noFill/>
          <a:ln cap="flat" cmpd="sng" w="25400">
            <a:solidFill>
              <a:schemeClr val="dk1"/>
            </a:solidFill>
            <a:prstDash val="solid"/>
            <a:miter/>
            <a:headEnd len="med" w="med" type="none"/>
            <a:tailEnd len="med" w="med" type="none"/>
          </a:ln>
        </p:spPr>
      </p:cxnSp>
      <p:cxnSp>
        <p:nvCxnSpPr>
          <p:cNvPr id="353" name="Shape 353"/>
          <p:cNvCxnSpPr/>
          <p:nvPr/>
        </p:nvCxnSpPr>
        <p:spPr>
          <a:xfrm>
            <a:off x="4572000" y="1219200"/>
            <a:ext cx="0" cy="2362200"/>
          </a:xfrm>
          <a:prstGeom prst="straightConnector1">
            <a:avLst/>
          </a:prstGeom>
          <a:noFill/>
          <a:ln cap="flat" cmpd="sng" w="25400">
            <a:solidFill>
              <a:schemeClr val="dk1"/>
            </a:solidFill>
            <a:prstDash val="solid"/>
            <a:miter/>
            <a:headEnd len="med" w="med" type="none"/>
            <a:tailEnd len="med" w="med" type="none"/>
          </a:ln>
        </p:spPr>
      </p:cxnSp>
      <p:sp>
        <p:nvSpPr>
          <p:cNvPr id="354" name="Shape 354"/>
          <p:cNvSpPr txBox="1"/>
          <p:nvPr/>
        </p:nvSpPr>
        <p:spPr>
          <a:xfrm>
            <a:off x="2743200" y="5257800"/>
            <a:ext cx="5333999" cy="1524000"/>
          </a:xfrm>
          <a:prstGeom prst="rect">
            <a:avLst/>
          </a:prstGeom>
          <a:noFill/>
          <a:ln>
            <a:noFill/>
          </a:ln>
        </p:spPr>
        <p:txBody>
          <a:bodyPr anchorCtr="0" anchor="ctr" bIns="45700" lIns="91425" rIns="91425" tIns="45700">
            <a:noAutofit/>
          </a:bodyPr>
          <a:lstStyle/>
          <a:p>
            <a:pPr indent="0" lvl="0" marL="0" marR="0" rtl="0" algn="ctr">
              <a:lnSpc>
                <a:spcPct val="115000"/>
              </a:lnSpc>
              <a:spcBef>
                <a:spcPts val="0"/>
              </a:spcBef>
              <a:spcAft>
                <a:spcPts val="0"/>
              </a:spcAft>
              <a:buClr>
                <a:schemeClr val="dk1"/>
              </a:buClr>
              <a:buSzPct val="25000"/>
              <a:buFont typeface="Arial"/>
              <a:buNone/>
            </a:pPr>
            <a:r>
              <a:rPr b="1" i="0" lang="en-US" sz="1800" u="none">
                <a:solidFill>
                  <a:schemeClr val="dk1"/>
                </a:solidFill>
                <a:latin typeface="Arial"/>
                <a:ea typeface="Arial"/>
                <a:cs typeface="Arial"/>
                <a:sym typeface="Arial"/>
              </a:rPr>
              <a:t>EQUILIBRIO EN EL MERCADO MONETARIO</a:t>
            </a:r>
          </a:p>
          <a:p>
            <a:pPr indent="0" lvl="0" marL="0" marR="0" rtl="0" algn="ctr">
              <a:lnSpc>
                <a:spcPct val="115000"/>
              </a:lnSpc>
              <a:spcBef>
                <a:spcPts val="0"/>
              </a:spcBef>
              <a:spcAft>
                <a:spcPts val="0"/>
              </a:spcAft>
              <a:buClr>
                <a:schemeClr val="dk1"/>
              </a:buClr>
              <a:buSzPct val="25000"/>
              <a:buFont typeface="Arial"/>
              <a:buNone/>
            </a:pPr>
            <a:r>
              <a:rPr b="1" i="0" lang="en-US" sz="1800" u="none">
                <a:solidFill>
                  <a:schemeClr val="dk1"/>
                </a:solidFill>
                <a:latin typeface="Arial"/>
                <a:ea typeface="Arial"/>
                <a:cs typeface="Arial"/>
                <a:sym typeface="Arial"/>
              </a:rPr>
              <a:t>L (M</a:t>
            </a:r>
            <a:r>
              <a:rPr b="1" baseline="-25000" i="0" lang="en-US" sz="1800" u="none">
                <a:solidFill>
                  <a:schemeClr val="dk1"/>
                </a:solidFill>
                <a:latin typeface="Arial"/>
                <a:ea typeface="Arial"/>
                <a:cs typeface="Arial"/>
                <a:sym typeface="Arial"/>
              </a:rPr>
              <a:t>d</a:t>
            </a:r>
            <a:r>
              <a:rPr b="1" i="0" lang="en-US" sz="1800" u="none">
                <a:solidFill>
                  <a:schemeClr val="dk1"/>
                </a:solidFill>
                <a:latin typeface="Arial"/>
                <a:ea typeface="Arial"/>
                <a:cs typeface="Arial"/>
                <a:sym typeface="Arial"/>
              </a:rPr>
              <a:t>) = M (M</a:t>
            </a:r>
            <a:r>
              <a:rPr b="1" baseline="-25000" i="0" lang="en-US" sz="1800" u="none">
                <a:solidFill>
                  <a:schemeClr val="dk1"/>
                </a:solidFill>
                <a:latin typeface="Arial"/>
                <a:ea typeface="Arial"/>
                <a:cs typeface="Arial"/>
                <a:sym typeface="Arial"/>
              </a:rPr>
              <a:t>s</a:t>
            </a:r>
            <a:r>
              <a:rPr b="1" i="0" lang="en-US" sz="1800" u="none">
                <a:solidFill>
                  <a:schemeClr val="dk1"/>
                </a:solidFill>
                <a:latin typeface="Arial"/>
                <a:ea typeface="Arial"/>
                <a:cs typeface="Arial"/>
                <a:sym typeface="Arial"/>
              </a:rPr>
              <a:t>)</a:t>
            </a:r>
          </a:p>
          <a:p>
            <a:pPr indent="0" lvl="0" marL="0" marR="0" rtl="0" algn="ctr">
              <a:lnSpc>
                <a:spcPct val="115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k </a:t>
            </a:r>
            <a:r>
              <a:rPr b="1" baseline="30000" i="0" lang="en-US" sz="1800" u="none">
                <a:solidFill>
                  <a:schemeClr val="hlink"/>
                </a:solidFill>
                <a:latin typeface="Arial"/>
                <a:ea typeface="Arial"/>
                <a:cs typeface="Arial"/>
                <a:sym typeface="Arial"/>
              </a:rPr>
              <a:t>* </a:t>
            </a:r>
            <a:r>
              <a:rPr b="1" i="0" lang="en-US" sz="1800" u="none">
                <a:solidFill>
                  <a:schemeClr val="hlink"/>
                </a:solidFill>
                <a:latin typeface="Arial"/>
                <a:ea typeface="Arial"/>
                <a:cs typeface="Arial"/>
                <a:sym typeface="Arial"/>
              </a:rPr>
              <a:t>Y + L</a:t>
            </a:r>
            <a:r>
              <a:rPr b="1" baseline="-25000" i="0" lang="en-US" sz="1800" u="none">
                <a:solidFill>
                  <a:schemeClr val="hlink"/>
                </a:solidFill>
                <a:latin typeface="Arial"/>
                <a:ea typeface="Arial"/>
                <a:cs typeface="Arial"/>
                <a:sym typeface="Arial"/>
              </a:rPr>
              <a:t>0</a:t>
            </a:r>
            <a:r>
              <a:rPr b="1" i="0" lang="en-US" sz="1800" u="none">
                <a:solidFill>
                  <a:schemeClr val="hlink"/>
                </a:solidFill>
                <a:latin typeface="Arial"/>
                <a:ea typeface="Arial"/>
                <a:cs typeface="Arial"/>
                <a:sym typeface="Arial"/>
              </a:rPr>
              <a:t>- h </a:t>
            </a:r>
            <a:r>
              <a:rPr b="1" baseline="30000" i="0" lang="en-US" sz="1800" u="none">
                <a:solidFill>
                  <a:schemeClr val="hlink"/>
                </a:solidFill>
                <a:latin typeface="Arial"/>
                <a:ea typeface="Arial"/>
                <a:cs typeface="Arial"/>
                <a:sym typeface="Arial"/>
              </a:rPr>
              <a:t>* </a:t>
            </a:r>
            <a:r>
              <a:rPr b="1" i="0" lang="en-US" sz="1800" u="none">
                <a:solidFill>
                  <a:schemeClr val="hlink"/>
                </a:solidFill>
                <a:latin typeface="Arial"/>
                <a:ea typeface="Arial"/>
                <a:cs typeface="Arial"/>
                <a:sym typeface="Arial"/>
              </a:rPr>
              <a:t>i = OM/NP</a:t>
            </a:r>
          </a:p>
          <a:p>
            <a:pPr indent="0" lvl="0" marL="0" marR="0" rtl="0" algn="ctr">
              <a:lnSpc>
                <a:spcPct val="115000"/>
              </a:lnSpc>
              <a:spcBef>
                <a:spcPts val="0"/>
              </a:spcBef>
              <a:spcAft>
                <a:spcPts val="0"/>
              </a:spcAft>
              <a:buClr>
                <a:schemeClr val="dk1"/>
              </a:buClr>
              <a:buSzPct val="25000"/>
              <a:buFont typeface="Arial"/>
              <a:buNone/>
            </a:pPr>
            <a:r>
              <a:rPr b="1" i="0" lang="en-US" sz="1800" u="none">
                <a:solidFill>
                  <a:schemeClr val="dk1"/>
                </a:solidFill>
                <a:latin typeface="Arial"/>
                <a:ea typeface="Arial"/>
                <a:cs typeface="Arial"/>
                <a:sym typeface="Arial"/>
              </a:rPr>
              <a:t>i = (L</a:t>
            </a:r>
            <a:r>
              <a:rPr b="1" baseline="-25000" i="0" lang="en-US" sz="1800" u="none">
                <a:solidFill>
                  <a:schemeClr val="dk1"/>
                </a:solidFill>
                <a:latin typeface="Arial"/>
                <a:ea typeface="Arial"/>
                <a:cs typeface="Arial"/>
                <a:sym typeface="Arial"/>
              </a:rPr>
              <a:t>0 </a:t>
            </a:r>
            <a:r>
              <a:rPr b="1" i="0" lang="en-US" sz="1800" u="none">
                <a:solidFill>
                  <a:schemeClr val="dk1"/>
                </a:solidFill>
                <a:latin typeface="Arial"/>
                <a:ea typeface="Arial"/>
                <a:cs typeface="Arial"/>
                <a:sym typeface="Arial"/>
              </a:rPr>
              <a:t>– OM/ NP)/h + (k/h) *  Y</a:t>
            </a:r>
            <a:r>
              <a:rPr b="0" i="0" lang="en-US" sz="1800" u="none">
                <a:solidFill>
                  <a:schemeClr val="dk1"/>
                </a:solidFill>
                <a:latin typeface="Arial"/>
                <a:ea typeface="Arial"/>
                <a:cs typeface="Arial"/>
                <a:sym typeface="Arial"/>
              </a:rPr>
              <a:t> </a:t>
            </a:r>
            <a:r>
              <a:rPr b="1" i="0" lang="en-US" sz="1800" u="none">
                <a:solidFill>
                  <a:schemeClr val="dk1"/>
                </a:solidFill>
                <a:latin typeface="Arial"/>
                <a:ea typeface="Arial"/>
                <a:cs typeface="Arial"/>
                <a:sym typeface="Arial"/>
              </a:rPr>
              <a:t> </a:t>
            </a:r>
          </a:p>
        </p:txBody>
      </p:sp>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58" name="Shape 358"/>
        <p:cNvGrpSpPr/>
        <p:nvPr/>
      </p:nvGrpSpPr>
      <p:grpSpPr>
        <a:xfrm>
          <a:off x="0" y="0"/>
          <a:ext cx="0" cy="0"/>
          <a:chOff x="0" y="0"/>
          <a:chExt cx="0" cy="0"/>
        </a:xfrm>
      </p:grpSpPr>
      <p:pic>
        <p:nvPicPr>
          <p:cNvPr id="359" name="Shape 359"/>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360" name="Shape 360"/>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361" name="Shape 361"/>
          <p:cNvSpPr txBox="1"/>
          <p:nvPr/>
        </p:nvSpPr>
        <p:spPr>
          <a:xfrm>
            <a:off x="3276600" y="76200"/>
            <a:ext cx="5597524" cy="1143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a:solidFill>
                  <a:srgbClr val="BB4F59"/>
                </a:solidFill>
                <a:latin typeface="Arial"/>
                <a:ea typeface="Arial"/>
                <a:cs typeface="Arial"/>
                <a:sym typeface="Arial"/>
              </a:rPr>
              <a:t>EQUILIBRIO EN EL MERCADO MONETARIO Y LA CURVA LM</a:t>
            </a:r>
          </a:p>
        </p:txBody>
      </p:sp>
      <p:sp>
        <p:nvSpPr>
          <p:cNvPr id="362" name="Shape 362"/>
          <p:cNvSpPr txBox="1"/>
          <p:nvPr/>
        </p:nvSpPr>
        <p:spPr>
          <a:xfrm>
            <a:off x="339725" y="1600200"/>
            <a:ext cx="8270874" cy="1676399"/>
          </a:xfrm>
          <a:prstGeom prst="rect">
            <a:avLst/>
          </a:prstGeom>
          <a:noFill/>
          <a:ln>
            <a:noFill/>
          </a:ln>
        </p:spPr>
        <p:txBody>
          <a:bodyPr anchorCtr="0" anchor="ctr" bIns="45700" lIns="91425" rIns="91425" tIns="45700">
            <a:noAutofit/>
          </a:bodyPr>
          <a:lstStyle/>
          <a:p>
            <a:pPr indent="0" lvl="0" marL="0" marR="0" rtl="0" algn="l">
              <a:lnSpc>
                <a:spcPct val="110000"/>
              </a:lnSpc>
              <a:spcBef>
                <a:spcPts val="0"/>
              </a:spcBef>
              <a:spcAft>
                <a:spcPts val="0"/>
              </a:spcAft>
              <a:buClr>
                <a:schemeClr val="dk1"/>
              </a:buClr>
              <a:buSzPct val="25000"/>
              <a:buFont typeface="Times New Roman"/>
              <a:buNone/>
            </a:pPr>
            <a:r>
              <a:rPr b="1" i="0" lang="en-US" sz="1400" u="none">
                <a:solidFill>
                  <a:schemeClr val="dk1"/>
                </a:solidFill>
                <a:latin typeface="Times New Roman"/>
                <a:ea typeface="Times New Roman"/>
                <a:cs typeface="Times New Roman"/>
                <a:sym typeface="Times New Roman"/>
              </a:rPr>
              <a:t> Un crecimiento de la producción y por lo tanto un aumento del nivel de renta que reciben los factores productivos determinará una mejora de la demanda monetaria (M</a:t>
            </a:r>
            <a:r>
              <a:rPr b="1" baseline="-25000" i="0" lang="en-US" sz="1400" u="none">
                <a:solidFill>
                  <a:schemeClr val="dk1"/>
                </a:solidFill>
                <a:latin typeface="Times New Roman"/>
                <a:ea typeface="Times New Roman"/>
                <a:cs typeface="Times New Roman"/>
                <a:sym typeface="Times New Roman"/>
              </a:rPr>
              <a:t>d</a:t>
            </a:r>
            <a:r>
              <a:rPr b="1" i="0" lang="en-US" sz="1400" u="none">
                <a:solidFill>
                  <a:schemeClr val="dk1"/>
                </a:solidFill>
                <a:latin typeface="Times New Roman"/>
                <a:ea typeface="Times New Roman"/>
                <a:cs typeface="Times New Roman"/>
                <a:sym typeface="Times New Roman"/>
              </a:rPr>
              <a:t>), si la oferta monetaria real (poder adquisitivo de la oferta nominal) se mantiene constante entonces será necesario aumentar la tasa de interés para sostener el equilibrio en el mercado monetario.</a:t>
            </a:r>
          </a:p>
        </p:txBody>
      </p:sp>
      <p:cxnSp>
        <p:nvCxnSpPr>
          <p:cNvPr id="363" name="Shape 363"/>
          <p:cNvCxnSpPr/>
          <p:nvPr/>
        </p:nvCxnSpPr>
        <p:spPr>
          <a:xfrm rot="10800000">
            <a:off x="838200" y="4038599"/>
            <a:ext cx="0" cy="2362200"/>
          </a:xfrm>
          <a:prstGeom prst="straightConnector1">
            <a:avLst/>
          </a:prstGeom>
          <a:noFill/>
          <a:ln cap="flat" cmpd="sng" w="25400">
            <a:solidFill>
              <a:schemeClr val="dk1"/>
            </a:solidFill>
            <a:prstDash val="solid"/>
            <a:miter/>
            <a:headEnd len="med" w="med" type="none"/>
            <a:tailEnd len="lg" w="lg" type="stealth"/>
          </a:ln>
        </p:spPr>
      </p:cxnSp>
      <p:cxnSp>
        <p:nvCxnSpPr>
          <p:cNvPr id="364" name="Shape 364"/>
          <p:cNvCxnSpPr/>
          <p:nvPr/>
        </p:nvCxnSpPr>
        <p:spPr>
          <a:xfrm>
            <a:off x="533400" y="6400800"/>
            <a:ext cx="5943599" cy="0"/>
          </a:xfrm>
          <a:prstGeom prst="straightConnector1">
            <a:avLst/>
          </a:prstGeom>
          <a:noFill/>
          <a:ln cap="flat" cmpd="sng" w="25400">
            <a:solidFill>
              <a:schemeClr val="dk1"/>
            </a:solidFill>
            <a:prstDash val="solid"/>
            <a:miter/>
            <a:headEnd len="med" w="med" type="none"/>
            <a:tailEnd len="lg" w="lg" type="stealth"/>
          </a:ln>
        </p:spPr>
      </p:cxnSp>
      <p:sp>
        <p:nvSpPr>
          <p:cNvPr id="365" name="Shape 365"/>
          <p:cNvSpPr txBox="1"/>
          <p:nvPr/>
        </p:nvSpPr>
        <p:spPr>
          <a:xfrm>
            <a:off x="533400" y="38862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i</a:t>
            </a:r>
          </a:p>
        </p:txBody>
      </p:sp>
      <p:sp>
        <p:nvSpPr>
          <p:cNvPr id="366" name="Shape 366"/>
          <p:cNvSpPr txBox="1"/>
          <p:nvPr/>
        </p:nvSpPr>
        <p:spPr>
          <a:xfrm>
            <a:off x="3124200" y="6400800"/>
            <a:ext cx="877887"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M</a:t>
            </a:r>
          </a:p>
        </p:txBody>
      </p:sp>
      <p:sp>
        <p:nvSpPr>
          <p:cNvPr id="367" name="Shape 367"/>
          <p:cNvSpPr/>
          <p:nvPr/>
        </p:nvSpPr>
        <p:spPr>
          <a:xfrm>
            <a:off x="1524000" y="4235450"/>
            <a:ext cx="2328861" cy="2012949"/>
          </a:xfrm>
          <a:custGeom>
            <a:pathLst>
              <a:path extrusionOk="0" h="120000" w="120000">
                <a:moveTo>
                  <a:pt x="0" y="0"/>
                </a:moveTo>
                <a:cubicBezTo>
                  <a:pt x="2126" y="6056"/>
                  <a:pt x="7034" y="24700"/>
                  <a:pt x="13742" y="37476"/>
                </a:cubicBezTo>
                <a:cubicBezTo>
                  <a:pt x="20449" y="50252"/>
                  <a:pt x="29366" y="65299"/>
                  <a:pt x="40245" y="76845"/>
                </a:cubicBezTo>
                <a:cubicBezTo>
                  <a:pt x="51124" y="88391"/>
                  <a:pt x="66012" y="99558"/>
                  <a:pt x="79263" y="106750"/>
                </a:cubicBezTo>
                <a:cubicBezTo>
                  <a:pt x="92515" y="113943"/>
                  <a:pt x="113210" y="117823"/>
                  <a:pt x="120000" y="120000"/>
                </a:cubicBezTo>
              </a:path>
            </a:pathLst>
          </a:custGeom>
          <a:noFill/>
          <a:ln cap="flat" cmpd="sng" w="317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68" name="Shape 368"/>
          <p:cNvSpPr txBox="1"/>
          <p:nvPr/>
        </p:nvSpPr>
        <p:spPr>
          <a:xfrm>
            <a:off x="609600" y="52578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i</a:t>
            </a:r>
            <a:r>
              <a:rPr b="1" baseline="-25000" i="0" lang="en-US" sz="1800" u="none">
                <a:solidFill>
                  <a:schemeClr val="hlink"/>
                </a:solidFill>
                <a:latin typeface="Arial"/>
                <a:ea typeface="Arial"/>
                <a:cs typeface="Arial"/>
                <a:sym typeface="Arial"/>
              </a:rPr>
              <a:t>e1</a:t>
            </a:r>
            <a:r>
              <a:rPr b="1" i="0" lang="en-US" sz="1800" u="none">
                <a:solidFill>
                  <a:schemeClr val="hlink"/>
                </a:solidFill>
                <a:latin typeface="Arial"/>
                <a:ea typeface="Arial"/>
                <a:cs typeface="Arial"/>
                <a:sym typeface="Arial"/>
              </a:rPr>
              <a:t> </a:t>
            </a:r>
          </a:p>
        </p:txBody>
      </p:sp>
      <p:cxnSp>
        <p:nvCxnSpPr>
          <p:cNvPr id="369" name="Shape 369"/>
          <p:cNvCxnSpPr/>
          <p:nvPr/>
        </p:nvCxnSpPr>
        <p:spPr>
          <a:xfrm>
            <a:off x="2286000" y="4038600"/>
            <a:ext cx="0" cy="2362200"/>
          </a:xfrm>
          <a:prstGeom prst="straightConnector1">
            <a:avLst/>
          </a:prstGeom>
          <a:noFill/>
          <a:ln cap="flat" cmpd="sng" w="34925">
            <a:solidFill>
              <a:srgbClr val="003300"/>
            </a:solidFill>
            <a:prstDash val="solid"/>
            <a:miter/>
            <a:headEnd len="med" w="med" type="none"/>
            <a:tailEnd len="med" w="med" type="none"/>
          </a:ln>
        </p:spPr>
      </p:cxnSp>
      <p:sp>
        <p:nvSpPr>
          <p:cNvPr id="370" name="Shape 370"/>
          <p:cNvSpPr txBox="1"/>
          <p:nvPr/>
        </p:nvSpPr>
        <p:spPr>
          <a:xfrm>
            <a:off x="2438400" y="39624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OM/NP</a:t>
            </a:r>
          </a:p>
        </p:txBody>
      </p:sp>
      <p:cxnSp>
        <p:nvCxnSpPr>
          <p:cNvPr id="371" name="Shape 371"/>
          <p:cNvCxnSpPr/>
          <p:nvPr/>
        </p:nvCxnSpPr>
        <p:spPr>
          <a:xfrm>
            <a:off x="838200" y="5486400"/>
            <a:ext cx="4876799" cy="76199"/>
          </a:xfrm>
          <a:prstGeom prst="straightConnector1">
            <a:avLst/>
          </a:prstGeom>
          <a:noFill/>
          <a:ln cap="rnd" cmpd="sng" w="9525">
            <a:solidFill>
              <a:schemeClr val="dk1"/>
            </a:solidFill>
            <a:prstDash val="solid"/>
            <a:miter/>
            <a:headEnd len="med" w="med" type="none"/>
            <a:tailEnd len="med" w="med" type="none"/>
          </a:ln>
        </p:spPr>
      </p:cxnSp>
      <p:sp>
        <p:nvSpPr>
          <p:cNvPr id="372" name="Shape 372"/>
          <p:cNvSpPr txBox="1"/>
          <p:nvPr/>
        </p:nvSpPr>
        <p:spPr>
          <a:xfrm>
            <a:off x="2667000" y="54864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M</a:t>
            </a:r>
            <a:r>
              <a:rPr b="1" baseline="-25000" i="0" lang="en-US" sz="1800" u="none">
                <a:solidFill>
                  <a:schemeClr val="hlink"/>
                </a:solidFill>
                <a:latin typeface="Arial"/>
                <a:ea typeface="Arial"/>
                <a:cs typeface="Arial"/>
                <a:sym typeface="Arial"/>
              </a:rPr>
              <a:t>d</a:t>
            </a:r>
            <a:r>
              <a:rPr b="1" i="0" lang="en-US" sz="1800" u="none">
                <a:solidFill>
                  <a:schemeClr val="hlink"/>
                </a:solidFill>
                <a:latin typeface="Arial"/>
                <a:ea typeface="Arial"/>
                <a:cs typeface="Arial"/>
                <a:sym typeface="Arial"/>
              </a:rPr>
              <a:t>(</a:t>
            </a:r>
            <a:r>
              <a:rPr b="1" i="0" lang="en-US" sz="1800" u="none">
                <a:solidFill>
                  <a:srgbClr val="E61235"/>
                </a:solidFill>
                <a:latin typeface="Arial"/>
                <a:ea typeface="Arial"/>
                <a:cs typeface="Arial"/>
                <a:sym typeface="Arial"/>
              </a:rPr>
              <a:t>Y</a:t>
            </a:r>
            <a:r>
              <a:rPr b="1" baseline="-25000" i="0" lang="en-US" sz="1800" u="none">
                <a:solidFill>
                  <a:srgbClr val="E61235"/>
                </a:solidFill>
                <a:latin typeface="Arial"/>
                <a:ea typeface="Arial"/>
                <a:cs typeface="Arial"/>
                <a:sym typeface="Arial"/>
              </a:rPr>
              <a:t>1</a:t>
            </a:r>
            <a:r>
              <a:rPr b="1" i="0" lang="en-US" sz="1800" u="none">
                <a:solidFill>
                  <a:schemeClr val="hlink"/>
                </a:solidFill>
                <a:latin typeface="Arial"/>
                <a:ea typeface="Arial"/>
                <a:cs typeface="Arial"/>
                <a:sym typeface="Arial"/>
              </a:rPr>
              <a:t>)</a:t>
            </a:r>
          </a:p>
        </p:txBody>
      </p:sp>
      <p:sp>
        <p:nvSpPr>
          <p:cNvPr id="373" name="Shape 373"/>
          <p:cNvSpPr txBox="1"/>
          <p:nvPr/>
        </p:nvSpPr>
        <p:spPr>
          <a:xfrm>
            <a:off x="4419600" y="2743200"/>
            <a:ext cx="3429000" cy="1143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a:solidFill>
                  <a:schemeClr val="dk1"/>
                </a:solidFill>
                <a:latin typeface="Arial"/>
                <a:ea typeface="Arial"/>
                <a:cs typeface="Arial"/>
                <a:sym typeface="Arial"/>
              </a:rPr>
              <a:t>L = M</a:t>
            </a:r>
          </a:p>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k </a:t>
            </a:r>
            <a:r>
              <a:rPr b="1" baseline="30000" i="0" lang="en-US" sz="1800" u="none">
                <a:solidFill>
                  <a:schemeClr val="hlink"/>
                </a:solidFill>
                <a:latin typeface="Arial"/>
                <a:ea typeface="Arial"/>
                <a:cs typeface="Arial"/>
                <a:sym typeface="Arial"/>
              </a:rPr>
              <a:t>* </a:t>
            </a:r>
            <a:r>
              <a:rPr b="1" i="0" lang="en-US" sz="1800" u="none">
                <a:solidFill>
                  <a:schemeClr val="hlink"/>
                </a:solidFill>
                <a:latin typeface="Arial"/>
                <a:ea typeface="Arial"/>
                <a:cs typeface="Arial"/>
                <a:sym typeface="Arial"/>
              </a:rPr>
              <a:t>Y + L</a:t>
            </a:r>
            <a:r>
              <a:rPr b="1" baseline="-25000" i="0" lang="en-US" sz="1800" u="none">
                <a:solidFill>
                  <a:schemeClr val="hlink"/>
                </a:solidFill>
                <a:latin typeface="Arial"/>
                <a:ea typeface="Arial"/>
                <a:cs typeface="Arial"/>
                <a:sym typeface="Arial"/>
              </a:rPr>
              <a:t>0</a:t>
            </a:r>
            <a:r>
              <a:rPr b="1" i="0" lang="en-US" sz="1800" u="none">
                <a:solidFill>
                  <a:schemeClr val="hlink"/>
                </a:solidFill>
                <a:latin typeface="Arial"/>
                <a:ea typeface="Arial"/>
                <a:cs typeface="Arial"/>
                <a:sym typeface="Arial"/>
              </a:rPr>
              <a:t> - h </a:t>
            </a:r>
            <a:r>
              <a:rPr b="1" baseline="30000" i="0" lang="en-US" sz="1800" u="none">
                <a:solidFill>
                  <a:schemeClr val="hlink"/>
                </a:solidFill>
                <a:latin typeface="Arial"/>
                <a:ea typeface="Arial"/>
                <a:cs typeface="Arial"/>
                <a:sym typeface="Arial"/>
              </a:rPr>
              <a:t>* </a:t>
            </a:r>
            <a:r>
              <a:rPr b="1" i="0" lang="en-US" sz="1800" u="none">
                <a:solidFill>
                  <a:schemeClr val="hlink"/>
                </a:solidFill>
                <a:latin typeface="Arial"/>
                <a:ea typeface="Arial"/>
                <a:cs typeface="Arial"/>
                <a:sym typeface="Arial"/>
              </a:rPr>
              <a:t>i = OM/NP</a:t>
            </a:r>
          </a:p>
          <a:p>
            <a:pPr indent="0" lvl="0" marL="0" marR="0" rtl="0" algn="ctr">
              <a:lnSpc>
                <a:spcPct val="100000"/>
              </a:lnSpc>
              <a:spcBef>
                <a:spcPts val="0"/>
              </a:spcBef>
              <a:spcAft>
                <a:spcPts val="0"/>
              </a:spcAft>
              <a:buClr>
                <a:schemeClr val="dk1"/>
              </a:buClr>
              <a:buSzPct val="25000"/>
              <a:buFont typeface="Arial"/>
              <a:buNone/>
            </a:pPr>
            <a:r>
              <a:rPr b="1" i="0" lang="en-US" sz="1800" u="none">
                <a:solidFill>
                  <a:schemeClr val="dk1"/>
                </a:solidFill>
                <a:latin typeface="Arial"/>
                <a:ea typeface="Arial"/>
                <a:cs typeface="Arial"/>
                <a:sym typeface="Arial"/>
              </a:rPr>
              <a:t>i = (L</a:t>
            </a:r>
            <a:r>
              <a:rPr b="1" baseline="-25000" i="0" lang="en-US" sz="1800" u="none">
                <a:solidFill>
                  <a:schemeClr val="dk1"/>
                </a:solidFill>
                <a:latin typeface="Arial"/>
                <a:ea typeface="Arial"/>
                <a:cs typeface="Arial"/>
                <a:sym typeface="Arial"/>
              </a:rPr>
              <a:t>0</a:t>
            </a:r>
            <a:r>
              <a:rPr b="1" i="0" lang="en-US" sz="1800" u="none">
                <a:solidFill>
                  <a:schemeClr val="dk1"/>
                </a:solidFill>
                <a:latin typeface="Arial"/>
                <a:ea typeface="Arial"/>
                <a:cs typeface="Arial"/>
                <a:sym typeface="Arial"/>
              </a:rPr>
              <a:t>– (OM/NP))/h +(k/h) * Y</a:t>
            </a:r>
            <a:r>
              <a:rPr b="0" i="0" lang="en-US" sz="1800" u="none">
                <a:solidFill>
                  <a:schemeClr val="dk1"/>
                </a:solidFill>
                <a:latin typeface="Arial"/>
                <a:ea typeface="Arial"/>
                <a:cs typeface="Arial"/>
                <a:sym typeface="Arial"/>
              </a:rPr>
              <a:t> </a:t>
            </a:r>
          </a:p>
          <a:p>
            <a:pPr indent="0" lvl="0" marL="0" marR="0" rtl="0" algn="l">
              <a:lnSpc>
                <a:spcPct val="100000"/>
              </a:lnSpc>
              <a:spcBef>
                <a:spcPts val="0"/>
              </a:spcBef>
              <a:spcAft>
                <a:spcPts val="0"/>
              </a:spcAft>
              <a:buNone/>
            </a:pPr>
            <a:r>
              <a:t/>
            </a:r>
            <a:endParaRPr b="1" i="0" sz="1800" u="none">
              <a:solidFill>
                <a:schemeClr val="dk1"/>
              </a:solidFill>
              <a:latin typeface="Arial"/>
              <a:ea typeface="Arial"/>
              <a:cs typeface="Arial"/>
              <a:sym typeface="Arial"/>
            </a:endParaRPr>
          </a:p>
        </p:txBody>
      </p:sp>
      <p:sp>
        <p:nvSpPr>
          <p:cNvPr id="374" name="Shape 374"/>
          <p:cNvSpPr/>
          <p:nvPr/>
        </p:nvSpPr>
        <p:spPr>
          <a:xfrm>
            <a:off x="152400" y="4876800"/>
            <a:ext cx="381000" cy="533399"/>
          </a:xfrm>
          <a:prstGeom prst="upArrow">
            <a:avLst>
              <a:gd fmla="val 9193" name="adj1"/>
              <a:gd fmla="val 5760" name="adj2"/>
            </a:avLst>
          </a:prstGeom>
          <a:solidFill>
            <a:srgbClr val="FF00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75" name="Shape 375"/>
          <p:cNvSpPr txBox="1"/>
          <p:nvPr/>
        </p:nvSpPr>
        <p:spPr>
          <a:xfrm>
            <a:off x="2057400" y="63246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M</a:t>
            </a:r>
            <a:r>
              <a:rPr b="1" baseline="-25000" i="0" lang="en-US" sz="1800" u="none">
                <a:solidFill>
                  <a:schemeClr val="hlink"/>
                </a:solidFill>
                <a:latin typeface="Arial"/>
                <a:ea typeface="Arial"/>
                <a:cs typeface="Arial"/>
                <a:sym typeface="Arial"/>
              </a:rPr>
              <a:t>s</a:t>
            </a:r>
          </a:p>
        </p:txBody>
      </p:sp>
      <p:sp>
        <p:nvSpPr>
          <p:cNvPr id="376" name="Shape 376"/>
          <p:cNvSpPr/>
          <p:nvPr/>
        </p:nvSpPr>
        <p:spPr>
          <a:xfrm>
            <a:off x="1828800" y="3962400"/>
            <a:ext cx="2328861" cy="2012949"/>
          </a:xfrm>
          <a:custGeom>
            <a:pathLst>
              <a:path extrusionOk="0" h="120000" w="120000">
                <a:moveTo>
                  <a:pt x="0" y="0"/>
                </a:moveTo>
                <a:cubicBezTo>
                  <a:pt x="2126" y="6056"/>
                  <a:pt x="7034" y="24700"/>
                  <a:pt x="13742" y="37476"/>
                </a:cubicBezTo>
                <a:cubicBezTo>
                  <a:pt x="20449" y="50252"/>
                  <a:pt x="29366" y="65299"/>
                  <a:pt x="40245" y="76845"/>
                </a:cubicBezTo>
                <a:cubicBezTo>
                  <a:pt x="51124" y="88391"/>
                  <a:pt x="66012" y="99558"/>
                  <a:pt x="79263" y="106750"/>
                </a:cubicBezTo>
                <a:cubicBezTo>
                  <a:pt x="92515" y="113943"/>
                  <a:pt x="113210" y="117823"/>
                  <a:pt x="120000" y="120000"/>
                </a:cubicBezTo>
              </a:path>
            </a:pathLst>
          </a:custGeom>
          <a:noFill/>
          <a:ln cap="flat" cmpd="sng" w="317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377" name="Shape 377"/>
          <p:cNvCxnSpPr/>
          <p:nvPr/>
        </p:nvCxnSpPr>
        <p:spPr>
          <a:xfrm>
            <a:off x="838200" y="4876800"/>
            <a:ext cx="5289550" cy="1587"/>
          </a:xfrm>
          <a:prstGeom prst="straightConnector1">
            <a:avLst/>
          </a:prstGeom>
          <a:noFill/>
          <a:ln cap="rnd" cmpd="sng" w="9525">
            <a:solidFill>
              <a:schemeClr val="dk1"/>
            </a:solidFill>
            <a:prstDash val="solid"/>
            <a:miter/>
            <a:headEnd len="med" w="med" type="none"/>
            <a:tailEnd len="med" w="med" type="none"/>
          </a:ln>
        </p:spPr>
      </p:cxnSp>
      <p:sp>
        <p:nvSpPr>
          <p:cNvPr id="378" name="Shape 378"/>
          <p:cNvSpPr txBox="1"/>
          <p:nvPr/>
        </p:nvSpPr>
        <p:spPr>
          <a:xfrm>
            <a:off x="2743200" y="49530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M</a:t>
            </a:r>
            <a:r>
              <a:rPr b="1" baseline="-25000" i="0" lang="en-US" sz="1800" u="none">
                <a:solidFill>
                  <a:schemeClr val="hlink"/>
                </a:solidFill>
                <a:latin typeface="Arial"/>
                <a:ea typeface="Arial"/>
                <a:cs typeface="Arial"/>
                <a:sym typeface="Arial"/>
              </a:rPr>
              <a:t>d</a:t>
            </a:r>
            <a:r>
              <a:rPr b="1" i="0" lang="en-US" sz="1800" u="none">
                <a:solidFill>
                  <a:schemeClr val="hlink"/>
                </a:solidFill>
                <a:latin typeface="Arial"/>
                <a:ea typeface="Arial"/>
                <a:cs typeface="Arial"/>
                <a:sym typeface="Arial"/>
              </a:rPr>
              <a:t>(</a:t>
            </a:r>
            <a:r>
              <a:rPr b="1" i="0" lang="en-US" sz="1800" u="none">
                <a:solidFill>
                  <a:srgbClr val="E61235"/>
                </a:solidFill>
                <a:latin typeface="Arial"/>
                <a:ea typeface="Arial"/>
                <a:cs typeface="Arial"/>
                <a:sym typeface="Arial"/>
              </a:rPr>
              <a:t>Y</a:t>
            </a:r>
            <a:r>
              <a:rPr b="1" baseline="-25000" i="0" lang="en-US" sz="1800" u="none">
                <a:solidFill>
                  <a:srgbClr val="E61235"/>
                </a:solidFill>
                <a:latin typeface="Arial"/>
                <a:ea typeface="Arial"/>
                <a:cs typeface="Arial"/>
                <a:sym typeface="Arial"/>
              </a:rPr>
              <a:t>2</a:t>
            </a:r>
            <a:r>
              <a:rPr b="1" i="0" lang="en-US" sz="1800" u="none">
                <a:solidFill>
                  <a:schemeClr val="hlink"/>
                </a:solidFill>
                <a:latin typeface="Arial"/>
                <a:ea typeface="Arial"/>
                <a:cs typeface="Arial"/>
                <a:sym typeface="Arial"/>
              </a:rPr>
              <a:t>)</a:t>
            </a:r>
          </a:p>
        </p:txBody>
      </p:sp>
      <p:cxnSp>
        <p:nvCxnSpPr>
          <p:cNvPr id="379" name="Shape 379"/>
          <p:cNvCxnSpPr/>
          <p:nvPr/>
        </p:nvCxnSpPr>
        <p:spPr>
          <a:xfrm rot="10800000">
            <a:off x="4191000" y="4038599"/>
            <a:ext cx="0" cy="2362200"/>
          </a:xfrm>
          <a:prstGeom prst="straightConnector1">
            <a:avLst/>
          </a:prstGeom>
          <a:noFill/>
          <a:ln cap="flat" cmpd="sng" w="25400">
            <a:solidFill>
              <a:srgbClr val="FF0000"/>
            </a:solidFill>
            <a:prstDash val="solid"/>
            <a:miter/>
            <a:headEnd len="med" w="med" type="none"/>
            <a:tailEnd len="lg" w="lg" type="stealth"/>
          </a:ln>
        </p:spPr>
      </p:cxnSp>
      <p:sp>
        <p:nvSpPr>
          <p:cNvPr id="380" name="Shape 380"/>
          <p:cNvSpPr txBox="1"/>
          <p:nvPr/>
        </p:nvSpPr>
        <p:spPr>
          <a:xfrm>
            <a:off x="3962400" y="39624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i</a:t>
            </a:r>
          </a:p>
        </p:txBody>
      </p:sp>
      <p:sp>
        <p:nvSpPr>
          <p:cNvPr id="381" name="Shape 381"/>
          <p:cNvSpPr txBox="1"/>
          <p:nvPr/>
        </p:nvSpPr>
        <p:spPr>
          <a:xfrm>
            <a:off x="609600" y="46482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i</a:t>
            </a:r>
            <a:r>
              <a:rPr b="1" baseline="-25000" i="0" lang="en-US" sz="1800" u="none">
                <a:solidFill>
                  <a:schemeClr val="hlink"/>
                </a:solidFill>
                <a:latin typeface="Arial"/>
                <a:ea typeface="Arial"/>
                <a:cs typeface="Arial"/>
                <a:sym typeface="Arial"/>
              </a:rPr>
              <a:t>e2</a:t>
            </a:r>
            <a:r>
              <a:rPr b="1" i="0" lang="en-US" sz="1800" u="none">
                <a:solidFill>
                  <a:schemeClr val="hlink"/>
                </a:solidFill>
                <a:latin typeface="Arial"/>
                <a:ea typeface="Arial"/>
                <a:cs typeface="Arial"/>
                <a:sym typeface="Arial"/>
              </a:rPr>
              <a:t> </a:t>
            </a:r>
          </a:p>
        </p:txBody>
      </p:sp>
      <p:sp>
        <p:nvSpPr>
          <p:cNvPr id="382" name="Shape 382"/>
          <p:cNvSpPr/>
          <p:nvPr/>
        </p:nvSpPr>
        <p:spPr>
          <a:xfrm>
            <a:off x="4114800" y="4397375"/>
            <a:ext cx="2097087" cy="2308225"/>
          </a:xfrm>
          <a:custGeom>
            <a:pathLst>
              <a:path extrusionOk="0" h="120000" w="120000">
                <a:moveTo>
                  <a:pt x="0" y="120000"/>
                </a:moveTo>
                <a:cubicBezTo>
                  <a:pt x="5813" y="117854"/>
                  <a:pt x="23709" y="112902"/>
                  <a:pt x="35972" y="106134"/>
                </a:cubicBezTo>
                <a:cubicBezTo>
                  <a:pt x="48236" y="99367"/>
                  <a:pt x="64405" y="86905"/>
                  <a:pt x="73762" y="79394"/>
                </a:cubicBezTo>
                <a:cubicBezTo>
                  <a:pt x="83118" y="71884"/>
                  <a:pt x="87388" y="66602"/>
                  <a:pt x="92293" y="60825"/>
                </a:cubicBezTo>
                <a:cubicBezTo>
                  <a:pt x="97199" y="55048"/>
                  <a:pt x="99651" y="50674"/>
                  <a:pt x="103103" y="44731"/>
                </a:cubicBezTo>
                <a:cubicBezTo>
                  <a:pt x="106555" y="38789"/>
                  <a:pt x="110280" y="32599"/>
                  <a:pt x="113096" y="25171"/>
                </a:cubicBezTo>
                <a:cubicBezTo>
                  <a:pt x="115912" y="17744"/>
                  <a:pt x="118546" y="5281"/>
                  <a:pt x="120000" y="0"/>
                </a:cubicBezTo>
              </a:path>
            </a:pathLst>
          </a:custGeom>
          <a:noFill/>
          <a:ln cap="flat" cmpd="sng" w="3175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383" name="Shape 383"/>
          <p:cNvCxnSpPr/>
          <p:nvPr/>
        </p:nvCxnSpPr>
        <p:spPr>
          <a:xfrm>
            <a:off x="5715000" y="5562600"/>
            <a:ext cx="0" cy="838199"/>
          </a:xfrm>
          <a:prstGeom prst="straightConnector1">
            <a:avLst/>
          </a:prstGeom>
          <a:noFill/>
          <a:ln cap="rnd" cmpd="sng" w="9525">
            <a:solidFill>
              <a:schemeClr val="dk1"/>
            </a:solidFill>
            <a:prstDash val="solid"/>
            <a:miter/>
            <a:headEnd len="med" w="med" type="none"/>
            <a:tailEnd len="med" w="med" type="none"/>
          </a:ln>
        </p:spPr>
      </p:cxnSp>
      <p:cxnSp>
        <p:nvCxnSpPr>
          <p:cNvPr id="384" name="Shape 384"/>
          <p:cNvCxnSpPr/>
          <p:nvPr/>
        </p:nvCxnSpPr>
        <p:spPr>
          <a:xfrm>
            <a:off x="6100762" y="4895850"/>
            <a:ext cx="0" cy="1524000"/>
          </a:xfrm>
          <a:prstGeom prst="straightConnector1">
            <a:avLst/>
          </a:prstGeom>
          <a:noFill/>
          <a:ln cap="rnd" cmpd="sng" w="9525">
            <a:solidFill>
              <a:schemeClr val="dk1"/>
            </a:solidFill>
            <a:prstDash val="solid"/>
            <a:miter/>
            <a:headEnd len="med" w="med" type="none"/>
            <a:tailEnd len="med" w="med" type="none"/>
          </a:ln>
        </p:spPr>
      </p:cxnSp>
      <p:sp>
        <p:nvSpPr>
          <p:cNvPr id="385" name="Shape 385"/>
          <p:cNvSpPr txBox="1"/>
          <p:nvPr/>
        </p:nvSpPr>
        <p:spPr>
          <a:xfrm>
            <a:off x="5486400" y="63246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61235"/>
              </a:buClr>
              <a:buSzPct val="25000"/>
              <a:buFont typeface="Arial"/>
              <a:buNone/>
            </a:pPr>
            <a:r>
              <a:rPr b="1" i="0" lang="en-US" sz="1800" u="none">
                <a:solidFill>
                  <a:srgbClr val="E61235"/>
                </a:solidFill>
                <a:latin typeface="Arial"/>
                <a:ea typeface="Arial"/>
                <a:cs typeface="Arial"/>
                <a:sym typeface="Arial"/>
              </a:rPr>
              <a:t>Y</a:t>
            </a:r>
            <a:r>
              <a:rPr b="1" baseline="-25000" i="0" lang="en-US" sz="1800" u="none">
                <a:solidFill>
                  <a:srgbClr val="E61235"/>
                </a:solidFill>
                <a:latin typeface="Arial"/>
                <a:ea typeface="Arial"/>
                <a:cs typeface="Arial"/>
                <a:sym typeface="Arial"/>
              </a:rPr>
              <a:t>1</a:t>
            </a:r>
          </a:p>
        </p:txBody>
      </p:sp>
      <p:sp>
        <p:nvSpPr>
          <p:cNvPr id="386" name="Shape 386"/>
          <p:cNvSpPr txBox="1"/>
          <p:nvPr/>
        </p:nvSpPr>
        <p:spPr>
          <a:xfrm>
            <a:off x="5867400" y="63246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61235"/>
              </a:buClr>
              <a:buSzPct val="25000"/>
              <a:buFont typeface="Arial"/>
              <a:buNone/>
            </a:pPr>
            <a:r>
              <a:rPr b="1" i="0" lang="en-US" sz="1800" u="none">
                <a:solidFill>
                  <a:srgbClr val="E61235"/>
                </a:solidFill>
                <a:latin typeface="Arial"/>
                <a:ea typeface="Arial"/>
                <a:cs typeface="Arial"/>
                <a:sym typeface="Arial"/>
              </a:rPr>
              <a:t>Y</a:t>
            </a:r>
            <a:r>
              <a:rPr b="1" baseline="-25000" i="0" lang="en-US" sz="1800" u="none">
                <a:solidFill>
                  <a:srgbClr val="E61235"/>
                </a:solidFill>
                <a:latin typeface="Arial"/>
                <a:ea typeface="Arial"/>
                <a:cs typeface="Arial"/>
                <a:sym typeface="Arial"/>
              </a:rPr>
              <a:t>2</a:t>
            </a:r>
          </a:p>
        </p:txBody>
      </p:sp>
      <p:sp>
        <p:nvSpPr>
          <p:cNvPr id="387" name="Shape 387"/>
          <p:cNvSpPr txBox="1"/>
          <p:nvPr/>
        </p:nvSpPr>
        <p:spPr>
          <a:xfrm>
            <a:off x="5638800" y="44196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61235"/>
              </a:buClr>
              <a:buSzPct val="25000"/>
              <a:buFont typeface="Arial"/>
              <a:buNone/>
            </a:pPr>
            <a:r>
              <a:rPr b="1" i="0" lang="en-US" sz="1800" u="none">
                <a:solidFill>
                  <a:srgbClr val="E61235"/>
                </a:solidFill>
                <a:latin typeface="Arial"/>
                <a:ea typeface="Arial"/>
                <a:cs typeface="Arial"/>
                <a:sym typeface="Arial"/>
              </a:rPr>
              <a:t>LM</a:t>
            </a:r>
          </a:p>
        </p:txBody>
      </p:sp>
      <p:sp>
        <p:nvSpPr>
          <p:cNvPr id="388" name="Shape 388"/>
          <p:cNvSpPr txBox="1"/>
          <p:nvPr/>
        </p:nvSpPr>
        <p:spPr>
          <a:xfrm>
            <a:off x="7281861" y="5348287"/>
            <a:ext cx="800099" cy="376236"/>
          </a:xfrm>
          <a:prstGeom prst="rect">
            <a:avLst/>
          </a:prstGeom>
          <a:no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a:solidFill>
                  <a:schemeClr val="dk1"/>
                </a:solidFill>
                <a:latin typeface="Arial"/>
                <a:ea typeface="Arial"/>
                <a:cs typeface="Arial"/>
                <a:sym typeface="Arial"/>
              </a:rPr>
              <a:t>Y</a:t>
            </a:r>
            <a:r>
              <a:rPr b="1" baseline="-25000" i="0" lang="en-US" sz="1800" u="none">
                <a:solidFill>
                  <a:schemeClr val="dk1"/>
                </a:solidFill>
                <a:latin typeface="Arial"/>
                <a:ea typeface="Arial"/>
                <a:cs typeface="Arial"/>
                <a:sym typeface="Arial"/>
              </a:rPr>
              <a:t>2</a:t>
            </a:r>
            <a:r>
              <a:rPr b="1" i="0" lang="en-US" sz="1800" u="none">
                <a:solidFill>
                  <a:schemeClr val="dk1"/>
                </a:solidFill>
                <a:latin typeface="Arial"/>
                <a:ea typeface="Arial"/>
                <a:cs typeface="Arial"/>
                <a:sym typeface="Arial"/>
              </a:rPr>
              <a:t>&gt;Y</a:t>
            </a:r>
            <a:r>
              <a:rPr b="1" baseline="-25000" i="0" lang="en-US" sz="1800" u="none">
                <a:solidFill>
                  <a:schemeClr val="dk1"/>
                </a:solidFill>
                <a:latin typeface="Arial"/>
                <a:ea typeface="Arial"/>
                <a:cs typeface="Arial"/>
                <a:sym typeface="Arial"/>
              </a:rPr>
              <a:t>1</a:t>
            </a:r>
          </a:p>
        </p:txBody>
      </p:sp>
      <p:sp>
        <p:nvSpPr>
          <p:cNvPr id="389" name="Shape 389"/>
          <p:cNvSpPr txBox="1"/>
          <p:nvPr/>
        </p:nvSpPr>
        <p:spPr>
          <a:xfrm>
            <a:off x="6208712" y="6324600"/>
            <a:ext cx="877887"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61235"/>
              </a:buClr>
              <a:buSzPct val="25000"/>
              <a:buFont typeface="Arial"/>
              <a:buNone/>
            </a:pPr>
            <a:r>
              <a:rPr b="1" i="0" lang="en-US" sz="1800" u="none">
                <a:solidFill>
                  <a:srgbClr val="E61235"/>
                </a:solidFill>
                <a:latin typeface="Arial"/>
                <a:ea typeface="Arial"/>
                <a:cs typeface="Arial"/>
                <a:sym typeface="Arial"/>
              </a:rPr>
              <a:t>Y</a:t>
            </a:r>
          </a:p>
        </p:txBody>
      </p:sp>
      <p:sp>
        <p:nvSpPr>
          <p:cNvPr id="390" name="Shape 390"/>
          <p:cNvSpPr/>
          <p:nvPr/>
        </p:nvSpPr>
        <p:spPr>
          <a:xfrm rot="1800000">
            <a:off x="5715000" y="5029199"/>
            <a:ext cx="380999" cy="533399"/>
          </a:xfrm>
          <a:prstGeom prst="upArrow">
            <a:avLst>
              <a:gd fmla="val 9193" name="adj1"/>
              <a:gd fmla="val 5760" name="adj2"/>
            </a:avLst>
          </a:prstGeom>
          <a:solidFill>
            <a:srgbClr val="FF00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94" name="Shape 394"/>
        <p:cNvGrpSpPr/>
        <p:nvPr/>
      </p:nvGrpSpPr>
      <p:grpSpPr>
        <a:xfrm>
          <a:off x="0" y="0"/>
          <a:ext cx="0" cy="0"/>
          <a:chOff x="0" y="0"/>
          <a:chExt cx="0" cy="0"/>
        </a:xfrm>
      </p:grpSpPr>
      <p:pic>
        <p:nvPicPr>
          <p:cNvPr id="395" name="Shape 395"/>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396" name="Shape 396"/>
          <p:cNvPicPr preferRelativeResize="0"/>
          <p:nvPr/>
        </p:nvPicPr>
        <p:blipFill rotWithShape="1">
          <a:blip r:embed="rId4">
            <a:alphaModFix/>
          </a:blip>
          <a:srcRect b="0" l="0" r="0" t="0"/>
          <a:stretch/>
        </p:blipFill>
        <p:spPr>
          <a:xfrm>
            <a:off x="228600" y="1373187"/>
            <a:ext cx="8626474" cy="5114925"/>
          </a:xfrm>
          <a:prstGeom prst="rect">
            <a:avLst/>
          </a:prstGeom>
          <a:noFill/>
          <a:ln>
            <a:noFill/>
          </a:ln>
        </p:spPr>
      </p:pic>
      <p:pic>
        <p:nvPicPr>
          <p:cNvPr id="397" name="Shape 397"/>
          <p:cNvPicPr preferRelativeResize="0"/>
          <p:nvPr/>
        </p:nvPicPr>
        <p:blipFill rotWithShape="1">
          <a:blip r:embed="rId5">
            <a:alphaModFix/>
          </a:blip>
          <a:srcRect b="0" l="0" r="0" t="0"/>
          <a:stretch/>
        </p:blipFill>
        <p:spPr>
          <a:xfrm>
            <a:off x="263525" y="306387"/>
            <a:ext cx="3013074" cy="608011"/>
          </a:xfrm>
          <a:prstGeom prst="rect">
            <a:avLst/>
          </a:prstGeom>
          <a:noFill/>
          <a:ln>
            <a:noFill/>
          </a:ln>
        </p:spPr>
      </p:pic>
      <p:sp>
        <p:nvSpPr>
          <p:cNvPr id="398" name="Shape 398"/>
          <p:cNvSpPr txBox="1"/>
          <p:nvPr/>
        </p:nvSpPr>
        <p:spPr>
          <a:xfrm>
            <a:off x="2286000" y="1447800"/>
            <a:ext cx="4503736" cy="701674"/>
          </a:xfrm>
          <a:prstGeom prst="rect">
            <a:avLst/>
          </a:prstGeom>
          <a:solidFill>
            <a:srgbClr val="FFFFFF"/>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1" lang="en-US" sz="2000" u="none">
                <a:solidFill>
                  <a:schemeClr val="dk1"/>
                </a:solidFill>
                <a:latin typeface="Arial"/>
                <a:ea typeface="Arial"/>
                <a:cs typeface="Arial"/>
                <a:sym typeface="Arial"/>
              </a:rPr>
              <a:t>Curva LM</a:t>
            </a:r>
          </a:p>
          <a:p>
            <a:pPr indent="0" lvl="0" marL="0" marR="0" rtl="0" algn="ctr">
              <a:lnSpc>
                <a:spcPct val="100000"/>
              </a:lnSpc>
              <a:spcBef>
                <a:spcPts val="0"/>
              </a:spcBef>
              <a:spcAft>
                <a:spcPts val="0"/>
              </a:spcAft>
              <a:buClr>
                <a:schemeClr val="dk1"/>
              </a:buClr>
              <a:buSzPct val="25000"/>
              <a:buFont typeface="Arial"/>
              <a:buNone/>
            </a:pPr>
            <a:r>
              <a:rPr b="1" i="1" lang="en-US" sz="2000" u="none">
                <a:solidFill>
                  <a:schemeClr val="dk1"/>
                </a:solidFill>
                <a:latin typeface="Arial"/>
                <a:ea typeface="Arial"/>
                <a:cs typeface="Arial"/>
                <a:sym typeface="Arial"/>
              </a:rPr>
              <a:t>i = (( L</a:t>
            </a:r>
            <a:r>
              <a:rPr b="1" baseline="-25000" i="1" lang="en-US" sz="2000" u="none">
                <a:solidFill>
                  <a:schemeClr val="dk1"/>
                </a:solidFill>
                <a:latin typeface="Arial"/>
                <a:ea typeface="Arial"/>
                <a:cs typeface="Arial"/>
                <a:sym typeface="Arial"/>
              </a:rPr>
              <a:t>0</a:t>
            </a:r>
            <a:r>
              <a:rPr b="1" i="1" lang="en-US" sz="2000" u="none">
                <a:solidFill>
                  <a:schemeClr val="dk1"/>
                </a:solidFill>
                <a:latin typeface="Arial"/>
                <a:ea typeface="Arial"/>
                <a:cs typeface="Arial"/>
                <a:sym typeface="Arial"/>
              </a:rPr>
              <a:t> - OM / NP) / h) +  (k / h) * Y</a:t>
            </a:r>
          </a:p>
        </p:txBody>
      </p:sp>
      <p:sp>
        <p:nvSpPr>
          <p:cNvPr id="399" name="Shape 399"/>
          <p:cNvSpPr txBox="1"/>
          <p:nvPr/>
        </p:nvSpPr>
        <p:spPr>
          <a:xfrm>
            <a:off x="2209800" y="2438400"/>
            <a:ext cx="4579936" cy="366711"/>
          </a:xfrm>
          <a:prstGeom prst="rect">
            <a:avLst/>
          </a:prstGeom>
          <a:solidFill>
            <a:srgbClr val="FFFFFF"/>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Ordenada al origen = ( L</a:t>
            </a:r>
            <a:r>
              <a:rPr b="1" baseline="-25000" i="1" lang="en-US" sz="1800" u="none">
                <a:solidFill>
                  <a:schemeClr val="dk1"/>
                </a:solidFill>
                <a:latin typeface="Arial"/>
                <a:ea typeface="Arial"/>
                <a:cs typeface="Arial"/>
                <a:sym typeface="Arial"/>
              </a:rPr>
              <a:t>0</a:t>
            </a:r>
            <a:r>
              <a:rPr b="1" i="1" lang="en-US" sz="1800" u="none">
                <a:solidFill>
                  <a:schemeClr val="dk1"/>
                </a:solidFill>
                <a:latin typeface="Arial"/>
                <a:ea typeface="Arial"/>
                <a:cs typeface="Arial"/>
                <a:sym typeface="Arial"/>
              </a:rPr>
              <a:t> - OM / NP) / h)</a:t>
            </a:r>
          </a:p>
        </p:txBody>
      </p:sp>
      <p:sp>
        <p:nvSpPr>
          <p:cNvPr id="400" name="Shape 400"/>
          <p:cNvSpPr txBox="1"/>
          <p:nvPr/>
        </p:nvSpPr>
        <p:spPr>
          <a:xfrm>
            <a:off x="263525" y="2849561"/>
            <a:ext cx="8610599" cy="581024"/>
          </a:xfrm>
          <a:prstGeom prst="rect">
            <a:avLst/>
          </a:prstGeom>
          <a:solidFill>
            <a:srgbClr val="FFFFFF"/>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1" lang="en-US" sz="1600" u="none">
                <a:solidFill>
                  <a:schemeClr val="dk1"/>
                </a:solidFill>
                <a:latin typeface="Arial"/>
                <a:ea typeface="Arial"/>
                <a:cs typeface="Arial"/>
                <a:sym typeface="Arial"/>
              </a:rPr>
              <a:t>Esto significa el valor de la tasa de interés que hace cero el ingreso de la Economía. (Y = 0)</a:t>
            </a:r>
          </a:p>
          <a:p>
            <a:pPr indent="0" lvl="0" marL="0" marR="0" rtl="0" algn="l">
              <a:lnSpc>
                <a:spcPct val="100000"/>
              </a:lnSpc>
              <a:spcBef>
                <a:spcPts val="0"/>
              </a:spcBef>
              <a:spcAft>
                <a:spcPts val="0"/>
              </a:spcAft>
              <a:buClr>
                <a:schemeClr val="dk1"/>
              </a:buClr>
              <a:buSzPct val="25000"/>
              <a:buFont typeface="Arial"/>
              <a:buNone/>
            </a:pPr>
            <a:r>
              <a:rPr b="0" i="1" lang="en-US" sz="1600" u="none">
                <a:solidFill>
                  <a:schemeClr val="dk1"/>
                </a:solidFill>
                <a:latin typeface="Arial"/>
                <a:ea typeface="Arial"/>
                <a:cs typeface="Arial"/>
                <a:sym typeface="Arial"/>
              </a:rPr>
              <a:t>El valor habitualmente es negativo ya que OM/NP &gt; L</a:t>
            </a:r>
            <a:r>
              <a:rPr b="0" baseline="-25000" i="1" lang="en-US" sz="1600" u="none">
                <a:solidFill>
                  <a:schemeClr val="dk1"/>
                </a:solidFill>
                <a:latin typeface="Arial"/>
                <a:ea typeface="Arial"/>
                <a:cs typeface="Arial"/>
                <a:sym typeface="Arial"/>
              </a:rPr>
              <a:t>0</a:t>
            </a:r>
          </a:p>
        </p:txBody>
      </p:sp>
      <p:sp>
        <p:nvSpPr>
          <p:cNvPr id="401" name="Shape 401"/>
          <p:cNvSpPr txBox="1"/>
          <p:nvPr/>
        </p:nvSpPr>
        <p:spPr>
          <a:xfrm>
            <a:off x="2209800" y="3930650"/>
            <a:ext cx="4579936" cy="641350"/>
          </a:xfrm>
          <a:prstGeom prst="rect">
            <a:avLst/>
          </a:prstGeom>
          <a:solidFill>
            <a:srgbClr val="FFFFFF"/>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Y = (OM/NP – L</a:t>
            </a:r>
            <a:r>
              <a:rPr b="1" baseline="-25000" i="1" lang="en-US" sz="1800" u="none">
                <a:solidFill>
                  <a:schemeClr val="dk1"/>
                </a:solidFill>
                <a:latin typeface="Arial"/>
                <a:ea typeface="Arial"/>
                <a:cs typeface="Arial"/>
                <a:sym typeface="Arial"/>
              </a:rPr>
              <a:t>0</a:t>
            </a:r>
            <a:r>
              <a:rPr b="1" i="1" lang="en-US" sz="1800" u="none">
                <a:solidFill>
                  <a:schemeClr val="dk1"/>
                </a:solidFill>
                <a:latin typeface="Arial"/>
                <a:ea typeface="Arial"/>
                <a:cs typeface="Arial"/>
                <a:sym typeface="Arial"/>
              </a:rPr>
              <a:t>)/k + h/k * i</a:t>
            </a:r>
          </a:p>
          <a:p>
            <a:pPr indent="0" lvl="0" marL="0" marR="0" rtl="0" algn="l">
              <a:lnSpc>
                <a:spcPct val="100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Abcisa al origen = ((OM / NP) – L</a:t>
            </a:r>
            <a:r>
              <a:rPr b="1" baseline="-25000" i="1" lang="en-US" sz="1800" u="none">
                <a:solidFill>
                  <a:schemeClr val="dk1"/>
                </a:solidFill>
                <a:latin typeface="Arial"/>
                <a:ea typeface="Arial"/>
                <a:cs typeface="Arial"/>
                <a:sym typeface="Arial"/>
              </a:rPr>
              <a:t>0</a:t>
            </a:r>
            <a:r>
              <a:rPr b="1" i="1" lang="en-US" sz="1800" u="none">
                <a:solidFill>
                  <a:schemeClr val="dk1"/>
                </a:solidFill>
                <a:latin typeface="Arial"/>
                <a:ea typeface="Arial"/>
                <a:cs typeface="Arial"/>
                <a:sym typeface="Arial"/>
              </a:rPr>
              <a:t>) / k)</a:t>
            </a:r>
          </a:p>
        </p:txBody>
      </p:sp>
      <p:sp>
        <p:nvSpPr>
          <p:cNvPr id="402" name="Shape 402"/>
          <p:cNvSpPr txBox="1"/>
          <p:nvPr/>
        </p:nvSpPr>
        <p:spPr>
          <a:xfrm>
            <a:off x="263525" y="4616450"/>
            <a:ext cx="8582025" cy="336549"/>
          </a:xfrm>
          <a:prstGeom prst="rect">
            <a:avLst/>
          </a:prstGeom>
          <a:solidFill>
            <a:srgbClr val="FFFFFF"/>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a:solidFill>
                  <a:schemeClr val="dk1"/>
                </a:solidFill>
                <a:latin typeface="Arial"/>
                <a:ea typeface="Arial"/>
                <a:cs typeface="Arial"/>
                <a:sym typeface="Arial"/>
              </a:rPr>
              <a:t>Este valor es el nivel de ingreso (Y) independiente del nivel de la tasa de interés.(i = 0)</a:t>
            </a:r>
          </a:p>
        </p:txBody>
      </p:sp>
      <p:sp>
        <p:nvSpPr>
          <p:cNvPr id="403" name="Shape 403"/>
          <p:cNvSpPr txBox="1"/>
          <p:nvPr/>
        </p:nvSpPr>
        <p:spPr>
          <a:xfrm>
            <a:off x="2133600" y="5348287"/>
            <a:ext cx="4579936" cy="366711"/>
          </a:xfrm>
          <a:prstGeom prst="rect">
            <a:avLst/>
          </a:prstGeom>
          <a:solidFill>
            <a:srgbClr val="FFFFFF"/>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Pendiente de la función = k/ h</a:t>
            </a:r>
          </a:p>
        </p:txBody>
      </p:sp>
      <p:sp>
        <p:nvSpPr>
          <p:cNvPr id="404" name="Shape 404"/>
          <p:cNvSpPr txBox="1"/>
          <p:nvPr/>
        </p:nvSpPr>
        <p:spPr>
          <a:xfrm>
            <a:off x="304800" y="5759450"/>
            <a:ext cx="8439150" cy="641350"/>
          </a:xfrm>
          <a:prstGeom prst="rect">
            <a:avLst/>
          </a:prstGeom>
          <a:solidFill>
            <a:srgbClr val="FFFFFF"/>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Debe interpretarse como el aumento necesario en el ingreso total de la economía</a:t>
            </a:r>
          </a:p>
          <a:p>
            <a:pPr indent="0" lvl="0" marL="0" marR="0" rtl="0" algn="l">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para incrementar en una unidad la tasa de interés de equilibrio. (∂i/∂Y)</a:t>
            </a:r>
          </a:p>
        </p:txBody>
      </p:sp>
      <p:sp>
        <p:nvSpPr>
          <p:cNvPr id="405" name="Shape 405"/>
          <p:cNvSpPr txBox="1"/>
          <p:nvPr/>
        </p:nvSpPr>
        <p:spPr>
          <a:xfrm>
            <a:off x="3910012" y="152400"/>
            <a:ext cx="4548187" cy="94615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a:solidFill>
                  <a:srgbClr val="BB4F59"/>
                </a:solidFill>
                <a:latin typeface="Arial"/>
                <a:ea typeface="Arial"/>
                <a:cs typeface="Arial"/>
                <a:sym typeface="Arial"/>
              </a:rPr>
              <a:t>CURVA LM</a:t>
            </a:r>
          </a:p>
          <a:p>
            <a:pPr indent="0" lvl="0" marL="0" marR="0" rtl="0" algn="l">
              <a:lnSpc>
                <a:spcPct val="100000"/>
              </a:lnSpc>
              <a:spcBef>
                <a:spcPts val="0"/>
              </a:spcBef>
              <a:spcAft>
                <a:spcPts val="0"/>
              </a:spcAft>
              <a:buNone/>
            </a:pPr>
            <a:r>
              <a:t/>
            </a:r>
            <a:endParaRPr b="1" i="0" sz="2800" u="none">
              <a:solidFill>
                <a:srgbClr val="BB4F59"/>
              </a:solidFill>
              <a:latin typeface="Arial"/>
              <a:ea typeface="Arial"/>
              <a:cs typeface="Arial"/>
              <a:sym typeface="Arial"/>
            </a:endParaRPr>
          </a:p>
        </p:txBody>
      </p:sp>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09" name="Shape 409"/>
        <p:cNvGrpSpPr/>
        <p:nvPr/>
      </p:nvGrpSpPr>
      <p:grpSpPr>
        <a:xfrm>
          <a:off x="0" y="0"/>
          <a:ext cx="0" cy="0"/>
          <a:chOff x="0" y="0"/>
          <a:chExt cx="0" cy="0"/>
        </a:xfrm>
      </p:grpSpPr>
      <p:pic>
        <p:nvPicPr>
          <p:cNvPr id="410" name="Shape 410"/>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411" name="Shape 411"/>
          <p:cNvPicPr preferRelativeResize="0"/>
          <p:nvPr/>
        </p:nvPicPr>
        <p:blipFill rotWithShape="1">
          <a:blip r:embed="rId4">
            <a:alphaModFix/>
          </a:blip>
          <a:srcRect b="0" l="0" r="0" t="0"/>
          <a:stretch/>
        </p:blipFill>
        <p:spPr>
          <a:xfrm>
            <a:off x="228600" y="1514475"/>
            <a:ext cx="8626474" cy="5114925"/>
          </a:xfrm>
          <a:prstGeom prst="rect">
            <a:avLst/>
          </a:prstGeom>
          <a:noFill/>
          <a:ln>
            <a:noFill/>
          </a:ln>
        </p:spPr>
      </p:pic>
      <p:pic>
        <p:nvPicPr>
          <p:cNvPr id="412" name="Shape 412"/>
          <p:cNvPicPr preferRelativeResize="0"/>
          <p:nvPr/>
        </p:nvPicPr>
        <p:blipFill rotWithShape="1">
          <a:blip r:embed="rId5">
            <a:alphaModFix/>
          </a:blip>
          <a:srcRect b="0" l="0" r="0" t="0"/>
          <a:stretch/>
        </p:blipFill>
        <p:spPr>
          <a:xfrm>
            <a:off x="263525" y="306387"/>
            <a:ext cx="3013074" cy="608011"/>
          </a:xfrm>
          <a:prstGeom prst="rect">
            <a:avLst/>
          </a:prstGeom>
          <a:noFill/>
          <a:ln>
            <a:noFill/>
          </a:ln>
        </p:spPr>
      </p:pic>
      <p:sp>
        <p:nvSpPr>
          <p:cNvPr id="413" name="Shape 413"/>
          <p:cNvSpPr txBox="1"/>
          <p:nvPr/>
        </p:nvSpPr>
        <p:spPr>
          <a:xfrm>
            <a:off x="2528886" y="1600200"/>
            <a:ext cx="3633787" cy="641350"/>
          </a:xfrm>
          <a:prstGeom prst="rect">
            <a:avLst/>
          </a:prstGeom>
          <a:solidFill>
            <a:srgbClr val="FFFF99">
              <a:alpha val="53725"/>
            </a:srgbClr>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Curva LM</a:t>
            </a:r>
          </a:p>
          <a:p>
            <a:pPr indent="0" lvl="0" marL="0" marR="0" rtl="0" algn="ctr">
              <a:lnSpc>
                <a:spcPct val="100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i = ((L</a:t>
            </a:r>
            <a:r>
              <a:rPr b="1" baseline="-25000" i="1" lang="en-US" sz="1800" u="none">
                <a:solidFill>
                  <a:schemeClr val="dk1"/>
                </a:solidFill>
                <a:latin typeface="Arial"/>
                <a:ea typeface="Arial"/>
                <a:cs typeface="Arial"/>
                <a:sym typeface="Arial"/>
              </a:rPr>
              <a:t>0</a:t>
            </a:r>
            <a:r>
              <a:rPr b="1" i="1" lang="en-US" sz="1800" u="none">
                <a:solidFill>
                  <a:schemeClr val="dk1"/>
                </a:solidFill>
                <a:latin typeface="Arial"/>
                <a:ea typeface="Arial"/>
                <a:cs typeface="Arial"/>
                <a:sym typeface="Arial"/>
              </a:rPr>
              <a:t> - M / NP) / h) +  (k / h) * Y</a:t>
            </a:r>
            <a:r>
              <a:rPr b="0" i="0" lang="en-US" sz="1800" u="none">
                <a:solidFill>
                  <a:schemeClr val="dk1"/>
                </a:solidFill>
                <a:latin typeface="Arial"/>
                <a:ea typeface="Arial"/>
                <a:cs typeface="Arial"/>
                <a:sym typeface="Arial"/>
              </a:rPr>
              <a:t> </a:t>
            </a:r>
          </a:p>
        </p:txBody>
      </p:sp>
      <p:sp>
        <p:nvSpPr>
          <p:cNvPr id="414" name="Shape 414"/>
          <p:cNvSpPr txBox="1"/>
          <p:nvPr/>
        </p:nvSpPr>
        <p:spPr>
          <a:xfrm>
            <a:off x="3910012" y="152400"/>
            <a:ext cx="4548187" cy="94615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a:solidFill>
                  <a:srgbClr val="BB4F59"/>
                </a:solidFill>
                <a:latin typeface="Arial"/>
                <a:ea typeface="Arial"/>
                <a:cs typeface="Arial"/>
                <a:sym typeface="Arial"/>
              </a:rPr>
              <a:t>CURVA LM</a:t>
            </a:r>
          </a:p>
          <a:p>
            <a:pPr indent="0" lvl="0" marL="0" marR="0" rtl="0" algn="l">
              <a:lnSpc>
                <a:spcPct val="100000"/>
              </a:lnSpc>
              <a:spcBef>
                <a:spcPts val="0"/>
              </a:spcBef>
              <a:spcAft>
                <a:spcPts val="0"/>
              </a:spcAft>
              <a:buNone/>
            </a:pPr>
            <a:r>
              <a:t/>
            </a:r>
            <a:endParaRPr b="1" i="0" sz="2800" u="none">
              <a:solidFill>
                <a:srgbClr val="BB4F59"/>
              </a:solidFill>
              <a:latin typeface="Arial"/>
              <a:ea typeface="Arial"/>
              <a:cs typeface="Arial"/>
              <a:sym typeface="Arial"/>
            </a:endParaRPr>
          </a:p>
        </p:txBody>
      </p:sp>
      <p:grpSp>
        <p:nvGrpSpPr>
          <p:cNvPr id="415" name="Shape 415"/>
          <p:cNvGrpSpPr/>
          <p:nvPr/>
        </p:nvGrpSpPr>
        <p:grpSpPr>
          <a:xfrm>
            <a:off x="134911" y="2516126"/>
            <a:ext cx="7965772" cy="3943892"/>
            <a:chOff x="2990850" y="2536825"/>
            <a:chExt cx="12653962" cy="6764337"/>
          </a:xfrm>
        </p:grpSpPr>
        <p:sp>
          <p:nvSpPr>
            <p:cNvPr id="416" name="Shape 416"/>
            <p:cNvSpPr txBox="1"/>
            <p:nvPr/>
          </p:nvSpPr>
          <p:spPr>
            <a:xfrm>
              <a:off x="7424736" y="4651375"/>
              <a:ext cx="4367212" cy="1350961"/>
            </a:xfrm>
            <a:prstGeom prst="rect">
              <a:avLst/>
            </a:prstGeom>
            <a:solidFill>
              <a:srgbClr val="00FF00">
                <a:alpha val="8627"/>
              </a:srgbClr>
            </a:solidFill>
            <a:ln cap="flat" cmpd="sng" w="9525">
              <a:solidFill>
                <a:srgbClr val="000000"/>
              </a:solidFill>
              <a:prstDash val="solid"/>
              <a:miter/>
              <a:headEnd len="med" w="med" type="none"/>
              <a:tailEnd len="med" w="med" type="none"/>
            </a:ln>
          </p:spPr>
          <p:txBody>
            <a:bodyPr anchorCtr="0" anchor="t" bIns="33300" lIns="66600" rIns="66600" tIns="33300">
              <a:noAutofit/>
            </a:bodyPr>
            <a:lstStyle/>
            <a:p>
              <a:pPr indent="0" lvl="0" marL="0" marR="0" rtl="0" algn="l">
                <a:lnSpc>
                  <a:spcPct val="100000"/>
                </a:lnSpc>
                <a:spcBef>
                  <a:spcPts val="0"/>
                </a:spcBef>
                <a:spcAft>
                  <a:spcPts val="0"/>
                </a:spcAft>
                <a:buClr>
                  <a:srgbClr val="000080"/>
                </a:buClr>
                <a:buSzPct val="25000"/>
                <a:buFont typeface="Arial"/>
                <a:buNone/>
              </a:pPr>
              <a:r>
                <a:rPr b="1" i="1" lang="en-US" sz="1800" u="none">
                  <a:solidFill>
                    <a:srgbClr val="000080"/>
                  </a:solidFill>
                  <a:latin typeface="Arial"/>
                  <a:ea typeface="Arial"/>
                  <a:cs typeface="Arial"/>
                  <a:sym typeface="Arial"/>
                </a:rPr>
                <a:t>Abcisa al origen:</a:t>
              </a:r>
            </a:p>
            <a:p>
              <a:pPr indent="0" lvl="0" marL="0" marR="0" rtl="0" algn="l">
                <a:lnSpc>
                  <a:spcPct val="100000"/>
                </a:lnSpc>
                <a:spcBef>
                  <a:spcPts val="0"/>
                </a:spcBef>
                <a:spcAft>
                  <a:spcPts val="0"/>
                </a:spcAft>
                <a:buClr>
                  <a:srgbClr val="000080"/>
                </a:buClr>
                <a:buSzPct val="25000"/>
                <a:buFont typeface="Arial"/>
                <a:buNone/>
              </a:pPr>
              <a:r>
                <a:rPr b="1" i="1" lang="en-US" sz="1800" u="none">
                  <a:solidFill>
                    <a:srgbClr val="000080"/>
                  </a:solidFill>
                  <a:latin typeface="Arial"/>
                  <a:ea typeface="Arial"/>
                  <a:cs typeface="Arial"/>
                  <a:sym typeface="Arial"/>
                </a:rPr>
                <a:t>((OM / NP) – L</a:t>
              </a:r>
              <a:r>
                <a:rPr b="1" baseline="-25000" i="1" lang="en-US" sz="1800" u="none">
                  <a:solidFill>
                    <a:srgbClr val="000080"/>
                  </a:solidFill>
                  <a:latin typeface="Arial"/>
                  <a:ea typeface="Arial"/>
                  <a:cs typeface="Arial"/>
                  <a:sym typeface="Arial"/>
                </a:rPr>
                <a:t>0 </a:t>
              </a:r>
              <a:r>
                <a:rPr b="1" i="1" lang="en-US" sz="1800" u="none">
                  <a:solidFill>
                    <a:srgbClr val="000080"/>
                  </a:solidFill>
                  <a:latin typeface="Arial"/>
                  <a:ea typeface="Arial"/>
                  <a:cs typeface="Arial"/>
                  <a:sym typeface="Arial"/>
                </a:rPr>
                <a:t>) / k </a:t>
              </a:r>
            </a:p>
            <a:p>
              <a:pPr indent="0" lvl="0" marL="0" marR="0" rtl="0" algn="l">
                <a:lnSpc>
                  <a:spcPct val="100000"/>
                </a:lnSpc>
                <a:spcBef>
                  <a:spcPts val="0"/>
                </a:spcBef>
                <a:spcAft>
                  <a:spcPts val="0"/>
                </a:spcAft>
                <a:buNone/>
              </a:pPr>
              <a:r>
                <a:t/>
              </a:r>
              <a:endParaRPr b="1" i="1" sz="1800" u="none">
                <a:solidFill>
                  <a:srgbClr val="000080"/>
                </a:solidFill>
                <a:latin typeface="Arial"/>
                <a:ea typeface="Arial"/>
                <a:cs typeface="Arial"/>
                <a:sym typeface="Arial"/>
              </a:endParaRPr>
            </a:p>
          </p:txBody>
        </p:sp>
        <p:cxnSp>
          <p:nvCxnSpPr>
            <p:cNvPr id="417" name="Shape 417"/>
            <p:cNvCxnSpPr/>
            <p:nvPr/>
          </p:nvCxnSpPr>
          <p:spPr>
            <a:xfrm>
              <a:off x="13234987" y="3779837"/>
              <a:ext cx="1587" cy="2033587"/>
            </a:xfrm>
            <a:prstGeom prst="straightConnector1">
              <a:avLst/>
            </a:prstGeom>
            <a:noFill/>
            <a:ln cap="flat" cmpd="sng" w="9525">
              <a:solidFill>
                <a:srgbClr val="000080"/>
              </a:solidFill>
              <a:prstDash val="solid"/>
              <a:miter/>
              <a:headEnd len="med" w="med" type="none"/>
              <a:tailEnd len="lg" w="lg" type="triangle"/>
            </a:ln>
          </p:spPr>
        </p:cxnSp>
        <p:sp>
          <p:nvSpPr>
            <p:cNvPr id="418" name="Shape 418"/>
            <p:cNvSpPr/>
            <p:nvPr/>
          </p:nvSpPr>
          <p:spPr>
            <a:xfrm rot="-5400000">
              <a:off x="8494711" y="5326062"/>
              <a:ext cx="871536" cy="3011487"/>
            </a:xfrm>
            <a:prstGeom prst="rightBrace">
              <a:avLst>
                <a:gd fmla="val 1285" name="adj1"/>
                <a:gd fmla="val 50000" name="adj2"/>
              </a:avLst>
            </a:prstGeom>
            <a:solidFill>
              <a:srgbClr val="00FF00">
                <a:alpha val="8627"/>
              </a:srgbClr>
            </a:solidFill>
            <a:ln cap="flat" cmpd="sng" w="190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419" name="Shape 419"/>
            <p:cNvSpPr/>
            <p:nvPr/>
          </p:nvSpPr>
          <p:spPr>
            <a:xfrm>
              <a:off x="7134225" y="7267575"/>
              <a:ext cx="290512" cy="1452562"/>
            </a:xfrm>
            <a:prstGeom prst="leftBrace">
              <a:avLst>
                <a:gd fmla="val 3375" name="adj1"/>
                <a:gd fmla="val 11160" name="adj2"/>
              </a:avLst>
            </a:prstGeom>
            <a:solidFill>
              <a:srgbClr val="00FF00">
                <a:alpha val="8627"/>
              </a:srgbClr>
            </a:solidFill>
            <a:ln cap="flat" cmpd="sng" w="2540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420" name="Shape 420"/>
            <p:cNvSpPr txBox="1"/>
            <p:nvPr/>
          </p:nvSpPr>
          <p:spPr>
            <a:xfrm>
              <a:off x="6843711" y="2863850"/>
              <a:ext cx="836612" cy="625475"/>
            </a:xfrm>
            <a:prstGeom prst="rect">
              <a:avLst/>
            </a:prstGeom>
            <a:solidFill>
              <a:srgbClr val="00FF00">
                <a:alpha val="8627"/>
              </a:srgbClr>
            </a:solidFill>
            <a:ln>
              <a:noFill/>
            </a:ln>
          </p:spPr>
          <p:txBody>
            <a:bodyPr anchorCtr="0" anchor="t" bIns="33300" lIns="66600" rIns="66600" tIns="33300">
              <a:noAutofit/>
            </a:bodyPr>
            <a:lstStyle/>
            <a:p>
              <a:pPr indent="0" lvl="0" marL="0" marR="0" rtl="0" algn="l">
                <a:lnSpc>
                  <a:spcPct val="100000"/>
                </a:lnSpc>
                <a:spcBef>
                  <a:spcPts val="0"/>
                </a:spcBef>
                <a:spcAft>
                  <a:spcPts val="0"/>
                </a:spcAft>
                <a:buClr>
                  <a:schemeClr val="dk1"/>
                </a:buClr>
                <a:buSzPct val="25000"/>
                <a:buFont typeface="Arial"/>
                <a:buNone/>
              </a:pPr>
              <a:r>
                <a:rPr b="1" i="0" lang="en-US" sz="1100" u="none">
                  <a:solidFill>
                    <a:schemeClr val="dk1"/>
                  </a:solidFill>
                  <a:latin typeface="Arial"/>
                  <a:ea typeface="Arial"/>
                  <a:cs typeface="Arial"/>
                  <a:sym typeface="Arial"/>
                </a:rPr>
                <a:t>+ i</a:t>
              </a:r>
            </a:p>
          </p:txBody>
        </p:sp>
        <p:sp>
          <p:nvSpPr>
            <p:cNvPr id="421" name="Shape 421"/>
            <p:cNvSpPr txBox="1"/>
            <p:nvPr/>
          </p:nvSpPr>
          <p:spPr>
            <a:xfrm>
              <a:off x="14430375" y="7219950"/>
              <a:ext cx="838199" cy="628649"/>
            </a:xfrm>
            <a:prstGeom prst="rect">
              <a:avLst/>
            </a:prstGeom>
            <a:solidFill>
              <a:srgbClr val="00FF00">
                <a:alpha val="8627"/>
              </a:srgbClr>
            </a:solidFill>
            <a:ln>
              <a:noFill/>
            </a:ln>
          </p:spPr>
          <p:txBody>
            <a:bodyPr anchorCtr="0" anchor="t" bIns="33300" lIns="66600" rIns="66600" tIns="33300">
              <a:noAutofit/>
            </a:bodyPr>
            <a:lstStyle/>
            <a:p>
              <a:pPr indent="0" lvl="0" marL="0" marR="0" rtl="0" algn="l">
                <a:lnSpc>
                  <a:spcPct val="100000"/>
                </a:lnSpc>
                <a:spcBef>
                  <a:spcPts val="0"/>
                </a:spcBef>
                <a:spcAft>
                  <a:spcPts val="0"/>
                </a:spcAft>
                <a:buClr>
                  <a:schemeClr val="dk1"/>
                </a:buClr>
                <a:buSzPct val="25000"/>
                <a:buFont typeface="Arial"/>
                <a:buNone/>
              </a:pPr>
              <a:r>
                <a:rPr b="1" i="0" lang="en-US" sz="1100" u="none">
                  <a:solidFill>
                    <a:schemeClr val="dk1"/>
                  </a:solidFill>
                  <a:latin typeface="Arial"/>
                  <a:ea typeface="Arial"/>
                  <a:cs typeface="Arial"/>
                  <a:sym typeface="Arial"/>
                </a:rPr>
                <a:t>Y</a:t>
              </a:r>
            </a:p>
          </p:txBody>
        </p:sp>
        <p:cxnSp>
          <p:nvCxnSpPr>
            <p:cNvPr id="422" name="Shape 422"/>
            <p:cNvCxnSpPr/>
            <p:nvPr/>
          </p:nvCxnSpPr>
          <p:spPr>
            <a:xfrm flipH="1" rot="10800000">
              <a:off x="7424736" y="4941886"/>
              <a:ext cx="8134350" cy="3778250"/>
            </a:xfrm>
            <a:prstGeom prst="straightConnector1">
              <a:avLst/>
            </a:prstGeom>
            <a:noFill/>
            <a:ln cap="flat" cmpd="sng" w="25400">
              <a:solidFill>
                <a:srgbClr val="FF0000"/>
              </a:solidFill>
              <a:prstDash val="solid"/>
              <a:miter/>
              <a:headEnd len="med" w="med" type="none"/>
              <a:tailEnd len="med" w="med" type="none"/>
            </a:ln>
          </p:spPr>
        </p:cxnSp>
        <p:sp>
          <p:nvSpPr>
            <p:cNvPr id="423" name="Shape 423"/>
            <p:cNvSpPr txBox="1"/>
            <p:nvPr/>
          </p:nvSpPr>
          <p:spPr>
            <a:xfrm>
              <a:off x="2990850" y="7185025"/>
              <a:ext cx="4067175" cy="1244599"/>
            </a:xfrm>
            <a:prstGeom prst="rect">
              <a:avLst/>
            </a:prstGeom>
            <a:solidFill>
              <a:srgbClr val="00FF00">
                <a:alpha val="8627"/>
              </a:srgbClr>
            </a:solidFill>
            <a:ln cap="flat" cmpd="sng" w="12700">
              <a:solidFill>
                <a:srgbClr val="000000"/>
              </a:solidFill>
              <a:prstDash val="solid"/>
              <a:miter/>
              <a:headEnd len="med" w="med" type="none"/>
              <a:tailEnd len="med" w="med" type="none"/>
            </a:ln>
          </p:spPr>
          <p:txBody>
            <a:bodyPr anchorCtr="0" anchor="t" bIns="33300" lIns="66600" rIns="66600" tIns="33300">
              <a:noAutofit/>
            </a:bodyPr>
            <a:lstStyle/>
            <a:p>
              <a:pPr indent="0" lvl="0" marL="0" marR="0" rtl="0" algn="l">
                <a:lnSpc>
                  <a:spcPct val="100000"/>
                </a:lnSpc>
                <a:spcBef>
                  <a:spcPts val="0"/>
                </a:spcBef>
                <a:spcAft>
                  <a:spcPts val="0"/>
                </a:spcAft>
                <a:buClr>
                  <a:srgbClr val="000080"/>
                </a:buClr>
                <a:buSzPct val="25000"/>
                <a:buFont typeface="Arial"/>
                <a:buNone/>
              </a:pPr>
              <a:r>
                <a:rPr b="0" i="1" lang="en-US" sz="1800" u="none">
                  <a:solidFill>
                    <a:srgbClr val="000080"/>
                  </a:solidFill>
                  <a:latin typeface="Arial"/>
                  <a:ea typeface="Arial"/>
                  <a:cs typeface="Arial"/>
                  <a:sym typeface="Arial"/>
                </a:rPr>
                <a:t>Ordenada al origen</a:t>
              </a:r>
            </a:p>
            <a:p>
              <a:pPr indent="0" lvl="0" marL="0" marR="0" rtl="0" algn="l">
                <a:lnSpc>
                  <a:spcPct val="100000"/>
                </a:lnSpc>
                <a:spcBef>
                  <a:spcPts val="0"/>
                </a:spcBef>
                <a:spcAft>
                  <a:spcPts val="0"/>
                </a:spcAft>
                <a:buClr>
                  <a:srgbClr val="000080"/>
                </a:buClr>
                <a:buSzPct val="25000"/>
                <a:buFont typeface="Arial"/>
                <a:buNone/>
              </a:pPr>
              <a:r>
                <a:rPr b="1" i="1" lang="en-US" sz="1800" u="none">
                  <a:solidFill>
                    <a:srgbClr val="000080"/>
                  </a:solidFill>
                  <a:latin typeface="Arial"/>
                  <a:ea typeface="Arial"/>
                  <a:cs typeface="Arial"/>
                  <a:sym typeface="Arial"/>
                </a:rPr>
                <a:t>(L</a:t>
              </a:r>
              <a:r>
                <a:rPr b="1" baseline="-25000" i="1" lang="en-US" sz="1800" u="none">
                  <a:solidFill>
                    <a:srgbClr val="000080"/>
                  </a:solidFill>
                  <a:latin typeface="Arial"/>
                  <a:ea typeface="Arial"/>
                  <a:cs typeface="Arial"/>
                  <a:sym typeface="Arial"/>
                </a:rPr>
                <a:t>0</a:t>
              </a:r>
              <a:r>
                <a:rPr b="1" i="1" lang="en-US" sz="1800" u="none">
                  <a:solidFill>
                    <a:srgbClr val="000080"/>
                  </a:solidFill>
                  <a:latin typeface="Arial"/>
                  <a:ea typeface="Arial"/>
                  <a:cs typeface="Arial"/>
                  <a:sym typeface="Arial"/>
                </a:rPr>
                <a:t> – (OM / NP)) / h</a:t>
              </a:r>
            </a:p>
          </p:txBody>
        </p:sp>
        <p:cxnSp>
          <p:nvCxnSpPr>
            <p:cNvPr id="424" name="Shape 424"/>
            <p:cNvCxnSpPr/>
            <p:nvPr/>
          </p:nvCxnSpPr>
          <p:spPr>
            <a:xfrm flipH="1" rot="10800000">
              <a:off x="7424736" y="2617787"/>
              <a:ext cx="1587" cy="4649787"/>
            </a:xfrm>
            <a:prstGeom prst="straightConnector1">
              <a:avLst/>
            </a:prstGeom>
            <a:noFill/>
            <a:ln cap="flat" cmpd="sng" w="25400">
              <a:solidFill>
                <a:srgbClr val="000000"/>
              </a:solidFill>
              <a:prstDash val="solid"/>
              <a:miter/>
              <a:headEnd len="med" w="med" type="none"/>
              <a:tailEnd len="lg" w="lg" type="triangle"/>
            </a:ln>
          </p:spPr>
        </p:cxnSp>
        <p:cxnSp>
          <p:nvCxnSpPr>
            <p:cNvPr id="425" name="Shape 425"/>
            <p:cNvCxnSpPr/>
            <p:nvPr/>
          </p:nvCxnSpPr>
          <p:spPr>
            <a:xfrm>
              <a:off x="7424736" y="7267575"/>
              <a:ext cx="1587" cy="2033587"/>
            </a:xfrm>
            <a:prstGeom prst="straightConnector1">
              <a:avLst/>
            </a:prstGeom>
            <a:noFill/>
            <a:ln cap="flat" cmpd="sng" w="25400">
              <a:solidFill>
                <a:srgbClr val="000000"/>
              </a:solidFill>
              <a:prstDash val="solid"/>
              <a:miter/>
              <a:headEnd len="med" w="med" type="none"/>
              <a:tailEnd len="lg" w="lg" type="triangle"/>
            </a:ln>
          </p:spPr>
        </p:cxnSp>
        <p:cxnSp>
          <p:nvCxnSpPr>
            <p:cNvPr id="426" name="Shape 426"/>
            <p:cNvCxnSpPr/>
            <p:nvPr/>
          </p:nvCxnSpPr>
          <p:spPr>
            <a:xfrm>
              <a:off x="7424736" y="7267575"/>
              <a:ext cx="6681786" cy="0"/>
            </a:xfrm>
            <a:prstGeom prst="straightConnector1">
              <a:avLst/>
            </a:prstGeom>
            <a:noFill/>
            <a:ln cap="flat" cmpd="sng" w="25400">
              <a:solidFill>
                <a:srgbClr val="000000"/>
              </a:solidFill>
              <a:prstDash val="solid"/>
              <a:miter/>
              <a:headEnd len="med" w="med" type="none"/>
              <a:tailEnd len="lg" w="lg" type="triangle"/>
            </a:ln>
          </p:spPr>
        </p:cxnSp>
        <p:sp>
          <p:nvSpPr>
            <p:cNvPr id="427" name="Shape 427"/>
            <p:cNvSpPr txBox="1"/>
            <p:nvPr/>
          </p:nvSpPr>
          <p:spPr>
            <a:xfrm>
              <a:off x="10833100" y="2746375"/>
              <a:ext cx="4811712" cy="1033462"/>
            </a:xfrm>
            <a:prstGeom prst="rect">
              <a:avLst/>
            </a:prstGeom>
            <a:solidFill>
              <a:srgbClr val="00FF00">
                <a:alpha val="8627"/>
              </a:srgbClr>
            </a:solidFill>
            <a:ln cap="flat" cmpd="sng" w="9525">
              <a:solidFill>
                <a:srgbClr val="000000"/>
              </a:solidFill>
              <a:prstDash val="solid"/>
              <a:miter/>
              <a:headEnd len="med" w="med" type="none"/>
              <a:tailEnd len="med" w="med" type="none"/>
            </a:ln>
          </p:spPr>
          <p:txBody>
            <a:bodyPr anchorCtr="0" anchor="t" bIns="33300" lIns="66600" rIns="66600" tIns="33300">
              <a:noAutofit/>
            </a:bodyPr>
            <a:lstStyle/>
            <a:p>
              <a:pPr indent="0" lvl="0" marL="0" marR="0" rtl="0" algn="l">
                <a:lnSpc>
                  <a:spcPct val="60000"/>
                </a:lnSpc>
                <a:spcBef>
                  <a:spcPts val="0"/>
                </a:spcBef>
                <a:spcAft>
                  <a:spcPts val="0"/>
                </a:spcAft>
                <a:buClr>
                  <a:srgbClr val="000080"/>
                </a:buClr>
                <a:buSzPct val="25000"/>
                <a:buFont typeface="Times New Roman"/>
                <a:buNone/>
              </a:pPr>
              <a:r>
                <a:rPr b="0" i="1" lang="en-US" sz="1800" u="none">
                  <a:solidFill>
                    <a:srgbClr val="000080"/>
                  </a:solidFill>
                  <a:latin typeface="Times New Roman"/>
                  <a:ea typeface="Times New Roman"/>
                  <a:cs typeface="Times New Roman"/>
                  <a:sym typeface="Times New Roman"/>
                </a:rPr>
                <a:t>Pendiente de la recta LM</a:t>
              </a:r>
            </a:p>
            <a:p>
              <a:pPr indent="0" lvl="0" marL="0" marR="0" rtl="0" algn="l">
                <a:lnSpc>
                  <a:spcPct val="60000"/>
                </a:lnSpc>
                <a:spcBef>
                  <a:spcPts val="1300"/>
                </a:spcBef>
                <a:spcAft>
                  <a:spcPts val="0"/>
                </a:spcAft>
                <a:buClr>
                  <a:srgbClr val="000080"/>
                </a:buClr>
                <a:buSzPct val="25000"/>
                <a:buFont typeface="Times New Roman"/>
                <a:buNone/>
              </a:pPr>
              <a:r>
                <a:rPr b="1" i="1" lang="en-US" sz="1800" u="none">
                  <a:solidFill>
                    <a:srgbClr val="000080"/>
                  </a:solidFill>
                  <a:latin typeface="Times New Roman"/>
                  <a:ea typeface="Times New Roman"/>
                  <a:cs typeface="Times New Roman"/>
                  <a:sym typeface="Times New Roman"/>
                </a:rPr>
                <a:t>((k / h)</a:t>
              </a:r>
            </a:p>
          </p:txBody>
        </p:sp>
        <p:sp>
          <p:nvSpPr>
            <p:cNvPr id="428" name="Shape 428"/>
            <p:cNvSpPr txBox="1"/>
            <p:nvPr/>
          </p:nvSpPr>
          <p:spPr>
            <a:xfrm>
              <a:off x="6878636" y="8674100"/>
              <a:ext cx="836612" cy="627061"/>
            </a:xfrm>
            <a:prstGeom prst="rect">
              <a:avLst/>
            </a:prstGeom>
            <a:solidFill>
              <a:srgbClr val="00FF00">
                <a:alpha val="8627"/>
              </a:srgbClr>
            </a:solidFill>
            <a:ln>
              <a:noFill/>
            </a:ln>
          </p:spPr>
          <p:txBody>
            <a:bodyPr anchorCtr="0" anchor="t" bIns="33300" lIns="66600" rIns="66600" tIns="33300">
              <a:noAutofit/>
            </a:bodyPr>
            <a:lstStyle/>
            <a:p>
              <a:pPr indent="0" lvl="0" marL="0" marR="0" rtl="0" algn="l">
                <a:lnSpc>
                  <a:spcPct val="100000"/>
                </a:lnSpc>
                <a:spcBef>
                  <a:spcPts val="0"/>
                </a:spcBef>
                <a:spcAft>
                  <a:spcPts val="0"/>
                </a:spcAft>
                <a:buClr>
                  <a:schemeClr val="dk1"/>
                </a:buClr>
                <a:buSzPct val="25000"/>
                <a:buFont typeface="Arial"/>
                <a:buNone/>
              </a:pPr>
              <a:r>
                <a:rPr b="1" i="0" lang="en-US" sz="1100" u="none">
                  <a:solidFill>
                    <a:schemeClr val="dk1"/>
                  </a:solidFill>
                  <a:latin typeface="Arial"/>
                  <a:ea typeface="Arial"/>
                  <a:cs typeface="Arial"/>
                  <a:sym typeface="Arial"/>
                </a:rPr>
                <a:t>- i</a:t>
              </a:r>
            </a:p>
          </p:txBody>
        </p:sp>
        <p:sp>
          <p:nvSpPr>
            <p:cNvPr id="429" name="Shape 429"/>
            <p:cNvSpPr txBox="1"/>
            <p:nvPr/>
          </p:nvSpPr>
          <p:spPr>
            <a:xfrm>
              <a:off x="3273425" y="2536825"/>
              <a:ext cx="2852737" cy="819150"/>
            </a:xfrm>
            <a:prstGeom prst="rect">
              <a:avLst/>
            </a:prstGeom>
            <a:solidFill>
              <a:srgbClr val="00FF00">
                <a:alpha val="8627"/>
              </a:srgbClr>
            </a:solidFill>
            <a:ln>
              <a:noFill/>
            </a:ln>
          </p:spPr>
          <p:txBody>
            <a:bodyPr anchorCtr="0" anchor="t" bIns="46475" lIns="92950" rIns="92950" tIns="46475">
              <a:noAutofit/>
            </a:bodyPr>
            <a:lstStyle/>
            <a:p>
              <a:pPr indent="0" lvl="0" marL="0" marR="0" rtl="0" algn="l">
                <a:lnSpc>
                  <a:spcPct val="100000"/>
                </a:lnSpc>
                <a:spcBef>
                  <a:spcPts val="0"/>
                </a:spcBef>
                <a:spcAft>
                  <a:spcPts val="0"/>
                </a:spcAft>
                <a:buClr>
                  <a:srgbClr val="FF0000"/>
                </a:buClr>
                <a:buSzPct val="25000"/>
                <a:buFont typeface="Arial"/>
                <a:buNone/>
              </a:pPr>
              <a:r>
                <a:rPr b="1" i="1" lang="en-US" sz="1800" u="none">
                  <a:solidFill>
                    <a:srgbClr val="FF0000"/>
                  </a:solidFill>
                  <a:latin typeface="Arial"/>
                  <a:ea typeface="Arial"/>
                  <a:cs typeface="Arial"/>
                  <a:sym typeface="Arial"/>
                </a:rPr>
                <a:t>Curva LM</a:t>
              </a:r>
            </a:p>
          </p:txBody>
        </p:sp>
      </p:grpSp>
    </p:spTree>
  </p:cSld>
  <p:clrMapOvr>
    <a:masterClrMapping/>
  </p:clrMapOvr>
  <p:transition spd="slow">
    <p:cut/>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33" name="Shape 433"/>
        <p:cNvGrpSpPr/>
        <p:nvPr/>
      </p:nvGrpSpPr>
      <p:grpSpPr>
        <a:xfrm>
          <a:off x="0" y="0"/>
          <a:ext cx="0" cy="0"/>
          <a:chOff x="0" y="0"/>
          <a:chExt cx="0" cy="0"/>
        </a:xfrm>
      </p:grpSpPr>
      <p:sp>
        <p:nvSpPr>
          <p:cNvPr id="434" name="Shape 434"/>
          <p:cNvSpPr/>
          <p:nvPr/>
        </p:nvSpPr>
        <p:spPr>
          <a:xfrm>
            <a:off x="1752600" y="3657600"/>
            <a:ext cx="5275262" cy="2671761"/>
          </a:xfrm>
          <a:custGeom>
            <a:pathLst>
              <a:path extrusionOk="0" h="120000" w="120000">
                <a:moveTo>
                  <a:pt x="0" y="120000"/>
                </a:moveTo>
                <a:lnTo>
                  <a:pt x="101619" y="119572"/>
                </a:lnTo>
                <a:cubicBezTo>
                  <a:pt x="119566" y="107878"/>
                  <a:pt x="119638" y="76934"/>
                  <a:pt x="119819" y="58395"/>
                </a:cubicBezTo>
                <a:cubicBezTo>
                  <a:pt x="120000" y="39857"/>
                  <a:pt x="110538" y="16827"/>
                  <a:pt x="102702" y="8342"/>
                </a:cubicBezTo>
                <a:cubicBezTo>
                  <a:pt x="92952" y="0"/>
                  <a:pt x="68721" y="4064"/>
                  <a:pt x="61318" y="8342"/>
                </a:cubicBezTo>
                <a:cubicBezTo>
                  <a:pt x="58862" y="11479"/>
                  <a:pt x="61173" y="26737"/>
                  <a:pt x="58284" y="34010"/>
                </a:cubicBezTo>
                <a:lnTo>
                  <a:pt x="52001" y="56470"/>
                </a:lnTo>
                <a:lnTo>
                  <a:pt x="44417" y="75080"/>
                </a:lnTo>
                <a:lnTo>
                  <a:pt x="35750" y="88770"/>
                </a:lnTo>
                <a:lnTo>
                  <a:pt x="28817" y="95614"/>
                </a:lnTo>
                <a:lnTo>
                  <a:pt x="16250" y="108449"/>
                </a:lnTo>
                <a:lnTo>
                  <a:pt x="6066" y="115721"/>
                </a:lnTo>
                <a:lnTo>
                  <a:pt x="0" y="120000"/>
                </a:lnTo>
                <a:close/>
              </a:path>
            </a:pathLst>
          </a:custGeom>
          <a:solidFill>
            <a:srgbClr val="FF0000">
              <a:alpha val="26666"/>
            </a:srgbClr>
          </a:solid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435" name="Shape 435"/>
          <p:cNvSpPr/>
          <p:nvPr/>
        </p:nvSpPr>
        <p:spPr>
          <a:xfrm>
            <a:off x="838200" y="3810000"/>
            <a:ext cx="3600450" cy="2514599"/>
          </a:xfrm>
          <a:custGeom>
            <a:pathLst>
              <a:path extrusionOk="0" h="120000" w="120000">
                <a:moveTo>
                  <a:pt x="0" y="119999"/>
                </a:moveTo>
                <a:lnTo>
                  <a:pt x="0" y="0"/>
                </a:lnTo>
                <a:lnTo>
                  <a:pt x="120000" y="454"/>
                </a:lnTo>
                <a:lnTo>
                  <a:pt x="116507" y="24999"/>
                </a:lnTo>
                <a:lnTo>
                  <a:pt x="109523" y="47727"/>
                </a:lnTo>
                <a:lnTo>
                  <a:pt x="100634" y="64999"/>
                </a:lnTo>
                <a:lnTo>
                  <a:pt x="88253" y="81363"/>
                </a:lnTo>
                <a:lnTo>
                  <a:pt x="68571" y="98181"/>
                </a:lnTo>
                <a:lnTo>
                  <a:pt x="48571" y="111363"/>
                </a:lnTo>
                <a:lnTo>
                  <a:pt x="29523" y="119545"/>
                </a:lnTo>
                <a:lnTo>
                  <a:pt x="0" y="119999"/>
                </a:lnTo>
                <a:close/>
              </a:path>
            </a:pathLst>
          </a:custGeom>
          <a:solidFill>
            <a:schemeClr val="accent1">
              <a:alpha val="51764"/>
            </a:schemeClr>
          </a:solid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pic>
        <p:nvPicPr>
          <p:cNvPr id="436" name="Shape 436"/>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437" name="Shape 437"/>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438" name="Shape 438"/>
          <p:cNvSpPr txBox="1"/>
          <p:nvPr/>
        </p:nvSpPr>
        <p:spPr>
          <a:xfrm>
            <a:off x="3733800" y="152400"/>
            <a:ext cx="4724400" cy="1143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a:solidFill>
                  <a:srgbClr val="BB4F59"/>
                </a:solidFill>
                <a:latin typeface="Arial"/>
                <a:ea typeface="Arial"/>
                <a:cs typeface="Arial"/>
                <a:sym typeface="Arial"/>
              </a:rPr>
              <a:t>CURVA LM</a:t>
            </a:r>
          </a:p>
        </p:txBody>
      </p:sp>
      <p:sp>
        <p:nvSpPr>
          <p:cNvPr id="439" name="Shape 439"/>
          <p:cNvSpPr txBox="1"/>
          <p:nvPr/>
        </p:nvSpPr>
        <p:spPr>
          <a:xfrm>
            <a:off x="263525" y="1293812"/>
            <a:ext cx="8610599" cy="2363786"/>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440" name="Shape 440"/>
          <p:cNvCxnSpPr/>
          <p:nvPr/>
        </p:nvCxnSpPr>
        <p:spPr>
          <a:xfrm rot="10800000">
            <a:off x="838200" y="3962399"/>
            <a:ext cx="0" cy="2362200"/>
          </a:xfrm>
          <a:prstGeom prst="straightConnector1">
            <a:avLst/>
          </a:prstGeom>
          <a:noFill/>
          <a:ln cap="flat" cmpd="sng" w="25400">
            <a:solidFill>
              <a:srgbClr val="0000FF"/>
            </a:solidFill>
            <a:prstDash val="solid"/>
            <a:miter/>
            <a:headEnd len="med" w="med" type="none"/>
            <a:tailEnd len="lg" w="lg" type="stealth"/>
          </a:ln>
        </p:spPr>
      </p:cxnSp>
      <p:cxnSp>
        <p:nvCxnSpPr>
          <p:cNvPr id="441" name="Shape 441"/>
          <p:cNvCxnSpPr/>
          <p:nvPr/>
        </p:nvCxnSpPr>
        <p:spPr>
          <a:xfrm>
            <a:off x="533400" y="6324600"/>
            <a:ext cx="5410200" cy="0"/>
          </a:xfrm>
          <a:prstGeom prst="straightConnector1">
            <a:avLst/>
          </a:prstGeom>
          <a:noFill/>
          <a:ln cap="flat" cmpd="sng" w="25400">
            <a:solidFill>
              <a:schemeClr val="hlink"/>
            </a:solidFill>
            <a:prstDash val="solid"/>
            <a:miter/>
            <a:headEnd len="med" w="med" type="none"/>
            <a:tailEnd len="lg" w="lg" type="stealth"/>
          </a:ln>
        </p:spPr>
      </p:cxnSp>
      <p:sp>
        <p:nvSpPr>
          <p:cNvPr id="442" name="Shape 442"/>
          <p:cNvSpPr txBox="1"/>
          <p:nvPr/>
        </p:nvSpPr>
        <p:spPr>
          <a:xfrm>
            <a:off x="533400" y="38100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i</a:t>
            </a:r>
          </a:p>
        </p:txBody>
      </p:sp>
      <p:sp>
        <p:nvSpPr>
          <p:cNvPr id="443" name="Shape 443"/>
          <p:cNvSpPr txBox="1"/>
          <p:nvPr/>
        </p:nvSpPr>
        <p:spPr>
          <a:xfrm>
            <a:off x="5105400" y="6324600"/>
            <a:ext cx="685799" cy="2286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Y</a:t>
            </a:r>
          </a:p>
        </p:txBody>
      </p:sp>
      <p:sp>
        <p:nvSpPr>
          <p:cNvPr id="444" name="Shape 444"/>
          <p:cNvSpPr/>
          <p:nvPr/>
        </p:nvSpPr>
        <p:spPr>
          <a:xfrm>
            <a:off x="1524000" y="3962400"/>
            <a:ext cx="2879724" cy="2409824"/>
          </a:xfrm>
          <a:custGeom>
            <a:pathLst>
              <a:path extrusionOk="0" h="120000" w="120000">
                <a:moveTo>
                  <a:pt x="0" y="120000"/>
                </a:moveTo>
                <a:cubicBezTo>
                  <a:pt x="6284" y="117549"/>
                  <a:pt x="24608" y="111778"/>
                  <a:pt x="37640" y="105138"/>
                </a:cubicBezTo>
                <a:cubicBezTo>
                  <a:pt x="50672" y="98498"/>
                  <a:pt x="67276" y="88695"/>
                  <a:pt x="78059" y="79920"/>
                </a:cubicBezTo>
                <a:cubicBezTo>
                  <a:pt x="88842" y="71146"/>
                  <a:pt x="95920" y="61739"/>
                  <a:pt x="102205" y="52252"/>
                </a:cubicBezTo>
                <a:cubicBezTo>
                  <a:pt x="108489" y="42766"/>
                  <a:pt x="112590" y="31462"/>
                  <a:pt x="115567" y="22766"/>
                </a:cubicBezTo>
                <a:cubicBezTo>
                  <a:pt x="118544" y="14071"/>
                  <a:pt x="119073" y="4743"/>
                  <a:pt x="119999" y="0"/>
                </a:cubicBezTo>
              </a:path>
            </a:pathLst>
          </a:custGeom>
          <a:noFill/>
          <a:ln cap="flat" cmpd="sng" w="317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445" name="Shape 445"/>
          <p:cNvSpPr txBox="1"/>
          <p:nvPr/>
        </p:nvSpPr>
        <p:spPr>
          <a:xfrm>
            <a:off x="609600" y="56388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i</a:t>
            </a:r>
            <a:r>
              <a:rPr b="1" baseline="-25000" i="0" lang="en-US" sz="1800" u="none">
                <a:solidFill>
                  <a:schemeClr val="hlink"/>
                </a:solidFill>
                <a:latin typeface="Arial"/>
                <a:ea typeface="Arial"/>
                <a:cs typeface="Arial"/>
                <a:sym typeface="Arial"/>
              </a:rPr>
              <a:t>B</a:t>
            </a:r>
            <a:r>
              <a:rPr b="1" i="0" lang="en-US" sz="1800" u="none">
                <a:solidFill>
                  <a:schemeClr val="hlink"/>
                </a:solidFill>
                <a:latin typeface="Arial"/>
                <a:ea typeface="Arial"/>
                <a:cs typeface="Arial"/>
                <a:sym typeface="Arial"/>
              </a:rPr>
              <a:t> </a:t>
            </a:r>
          </a:p>
        </p:txBody>
      </p:sp>
      <p:sp>
        <p:nvSpPr>
          <p:cNvPr id="446" name="Shape 446"/>
          <p:cNvSpPr txBox="1"/>
          <p:nvPr/>
        </p:nvSpPr>
        <p:spPr>
          <a:xfrm>
            <a:off x="4419600" y="3962400"/>
            <a:ext cx="14478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CURVA LM</a:t>
            </a:r>
          </a:p>
        </p:txBody>
      </p:sp>
      <p:sp>
        <p:nvSpPr>
          <p:cNvPr id="447" name="Shape 447"/>
          <p:cNvSpPr txBox="1"/>
          <p:nvPr/>
        </p:nvSpPr>
        <p:spPr>
          <a:xfrm>
            <a:off x="263525" y="1592262"/>
            <a:ext cx="8610599" cy="1465261"/>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La </a:t>
            </a:r>
            <a:r>
              <a:rPr b="1" i="0" lang="en-US" sz="1800" u="none">
                <a:solidFill>
                  <a:schemeClr val="hlink"/>
                </a:solidFill>
                <a:latin typeface="Arial"/>
                <a:ea typeface="Arial"/>
                <a:cs typeface="Arial"/>
                <a:sym typeface="Arial"/>
              </a:rPr>
              <a:t>curva LM</a:t>
            </a:r>
            <a:r>
              <a:rPr b="0" i="0" lang="en-US" sz="1800" u="none">
                <a:solidFill>
                  <a:schemeClr val="dk1"/>
                </a:solidFill>
                <a:latin typeface="Arial"/>
                <a:ea typeface="Arial"/>
                <a:cs typeface="Arial"/>
                <a:sym typeface="Arial"/>
              </a:rPr>
              <a:t> muestra todas las combinaciones de </a:t>
            </a:r>
            <a:r>
              <a:rPr b="1" i="0" lang="en-US" sz="1800" u="none">
                <a:solidFill>
                  <a:schemeClr val="hlink"/>
                </a:solidFill>
                <a:latin typeface="Arial"/>
                <a:ea typeface="Arial"/>
                <a:cs typeface="Arial"/>
                <a:sym typeface="Arial"/>
              </a:rPr>
              <a:t>renta (Y)</a:t>
            </a:r>
            <a:r>
              <a:rPr b="0" i="0" lang="en-US" sz="1800" u="none">
                <a:solidFill>
                  <a:schemeClr val="dk1"/>
                </a:solidFill>
                <a:latin typeface="Arial"/>
                <a:ea typeface="Arial"/>
                <a:cs typeface="Arial"/>
                <a:sym typeface="Arial"/>
              </a:rPr>
              <a:t> y </a:t>
            </a:r>
            <a:r>
              <a:rPr b="1" i="0" lang="en-US" sz="1800" u="none">
                <a:solidFill>
                  <a:schemeClr val="hlink"/>
                </a:solidFill>
                <a:latin typeface="Arial"/>
                <a:ea typeface="Arial"/>
                <a:cs typeface="Arial"/>
                <a:sym typeface="Arial"/>
              </a:rPr>
              <a:t>tipos o tasas de interés (i)</a:t>
            </a:r>
            <a:r>
              <a:rPr b="1" i="0" lang="en-US" sz="1800" u="none">
                <a:solidFill>
                  <a:schemeClr val="dk1"/>
                </a:solidFill>
                <a:latin typeface="Arial"/>
                <a:ea typeface="Arial"/>
                <a:cs typeface="Arial"/>
                <a:sym typeface="Arial"/>
              </a:rPr>
              <a:t>,</a:t>
            </a:r>
            <a:r>
              <a:rPr b="0" i="0" lang="en-US" sz="1800" u="none">
                <a:solidFill>
                  <a:schemeClr val="dk1"/>
                </a:solidFill>
                <a:latin typeface="Arial"/>
                <a:ea typeface="Arial"/>
                <a:cs typeface="Arial"/>
                <a:sym typeface="Arial"/>
              </a:rPr>
              <a:t> donde las que la </a:t>
            </a:r>
            <a:r>
              <a:rPr b="1" i="0" lang="en-US" sz="1800" u="none">
                <a:solidFill>
                  <a:srgbClr val="FF0000"/>
                </a:solidFill>
                <a:latin typeface="Arial"/>
                <a:ea typeface="Arial"/>
                <a:cs typeface="Arial"/>
                <a:sym typeface="Arial"/>
              </a:rPr>
              <a:t>demanda de saldos reales</a:t>
            </a:r>
            <a:r>
              <a:rPr b="0" i="0" lang="en-US" sz="1800" u="none">
                <a:solidFill>
                  <a:schemeClr val="dk1"/>
                </a:solidFill>
                <a:latin typeface="Arial"/>
                <a:ea typeface="Arial"/>
                <a:cs typeface="Arial"/>
                <a:sym typeface="Arial"/>
              </a:rPr>
              <a:t> es igual a </a:t>
            </a:r>
            <a:r>
              <a:rPr b="1" i="0" lang="en-US" sz="1800" u="none">
                <a:solidFill>
                  <a:srgbClr val="FF0000"/>
                </a:solidFill>
                <a:latin typeface="Arial"/>
                <a:ea typeface="Arial"/>
                <a:cs typeface="Arial"/>
                <a:sym typeface="Arial"/>
              </a:rPr>
              <a:t>la oferta monetaria</a:t>
            </a:r>
            <a:r>
              <a:rPr b="0" i="0" lang="en-US" sz="1800" u="none">
                <a:solidFill>
                  <a:schemeClr val="dk1"/>
                </a:solidFill>
                <a:latin typeface="Arial"/>
                <a:ea typeface="Arial"/>
                <a:cs typeface="Arial"/>
                <a:sym typeface="Arial"/>
              </a:rPr>
              <a:t>. </a:t>
            </a:r>
          </a:p>
          <a:p>
            <a:pPr indent="0" lvl="0" marL="0" marR="0" rtl="0" algn="l">
              <a:lnSpc>
                <a:spcPct val="100000"/>
              </a:lnSpc>
              <a:spcBef>
                <a:spcPts val="0"/>
              </a:spcBef>
              <a:spcAft>
                <a:spcPts val="0"/>
              </a:spcAft>
              <a:buClr>
                <a:schemeClr val="dk1"/>
              </a:buClr>
              <a:buFont typeface="Calibri"/>
              <a:buNone/>
            </a:pPr>
            <a:r>
              <a:t/>
            </a:r>
            <a:endParaRPr b="0" i="0" sz="18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En </a:t>
            </a:r>
            <a:r>
              <a:rPr b="1" i="0" lang="en-US" sz="1800" u="none">
                <a:solidFill>
                  <a:srgbClr val="FF0000"/>
                </a:solidFill>
                <a:latin typeface="Arial"/>
                <a:ea typeface="Arial"/>
                <a:cs typeface="Arial"/>
                <a:sym typeface="Arial"/>
              </a:rPr>
              <a:t>la curva LM</a:t>
            </a:r>
            <a:r>
              <a:rPr b="0" i="0" lang="en-US" sz="1800" u="none">
                <a:solidFill>
                  <a:schemeClr val="dk1"/>
                </a:solidFill>
                <a:latin typeface="Arial"/>
                <a:ea typeface="Arial"/>
                <a:cs typeface="Arial"/>
                <a:sym typeface="Arial"/>
              </a:rPr>
              <a:t>, el mercado de dinero se encuentra en </a:t>
            </a:r>
            <a:r>
              <a:rPr b="1" i="0" lang="en-US" sz="1800" u="none">
                <a:solidFill>
                  <a:srgbClr val="FF0000"/>
                </a:solidFill>
                <a:latin typeface="Arial"/>
                <a:ea typeface="Arial"/>
                <a:cs typeface="Arial"/>
                <a:sym typeface="Arial"/>
              </a:rPr>
              <a:t>equilibrio.</a:t>
            </a:r>
            <a:r>
              <a:rPr b="0" i="0" lang="en-US" sz="1800" u="none">
                <a:solidFill>
                  <a:schemeClr val="dk1"/>
                </a:solidFill>
                <a:latin typeface="Arial"/>
                <a:ea typeface="Arial"/>
                <a:cs typeface="Arial"/>
                <a:sym typeface="Arial"/>
              </a:rPr>
              <a:t> </a:t>
            </a:r>
          </a:p>
        </p:txBody>
      </p:sp>
      <p:sp>
        <p:nvSpPr>
          <p:cNvPr id="448" name="Shape 448"/>
          <p:cNvSpPr txBox="1"/>
          <p:nvPr/>
        </p:nvSpPr>
        <p:spPr>
          <a:xfrm>
            <a:off x="3733800" y="4419600"/>
            <a:ext cx="533399"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A</a:t>
            </a:r>
          </a:p>
        </p:txBody>
      </p:sp>
      <p:cxnSp>
        <p:nvCxnSpPr>
          <p:cNvPr id="449" name="Shape 449"/>
          <p:cNvCxnSpPr/>
          <p:nvPr/>
        </p:nvCxnSpPr>
        <p:spPr>
          <a:xfrm>
            <a:off x="2743200" y="5943600"/>
            <a:ext cx="0" cy="381000"/>
          </a:xfrm>
          <a:prstGeom prst="straightConnector1">
            <a:avLst/>
          </a:prstGeom>
          <a:noFill/>
          <a:ln cap="rnd" cmpd="sng" w="9525">
            <a:solidFill>
              <a:schemeClr val="dk1"/>
            </a:solidFill>
            <a:prstDash val="solid"/>
            <a:miter/>
            <a:headEnd len="med" w="med" type="oval"/>
            <a:tailEnd len="med" w="med" type="none"/>
          </a:ln>
        </p:spPr>
      </p:cxnSp>
      <p:sp>
        <p:nvSpPr>
          <p:cNvPr id="450" name="Shape 450"/>
          <p:cNvSpPr txBox="1"/>
          <p:nvPr/>
        </p:nvSpPr>
        <p:spPr>
          <a:xfrm>
            <a:off x="2362200" y="5638800"/>
            <a:ext cx="685799" cy="304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B</a:t>
            </a:r>
          </a:p>
        </p:txBody>
      </p:sp>
      <p:sp>
        <p:nvSpPr>
          <p:cNvPr id="451" name="Shape 451"/>
          <p:cNvSpPr txBox="1"/>
          <p:nvPr/>
        </p:nvSpPr>
        <p:spPr>
          <a:xfrm>
            <a:off x="3886200" y="62484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Y</a:t>
            </a:r>
            <a:r>
              <a:rPr b="1" baseline="-25000" i="0" lang="en-US" sz="1800" u="none">
                <a:solidFill>
                  <a:schemeClr val="hlink"/>
                </a:solidFill>
                <a:latin typeface="Arial"/>
                <a:ea typeface="Arial"/>
                <a:cs typeface="Arial"/>
                <a:sym typeface="Arial"/>
              </a:rPr>
              <a:t>A</a:t>
            </a:r>
          </a:p>
        </p:txBody>
      </p:sp>
      <p:sp>
        <p:nvSpPr>
          <p:cNvPr id="452" name="Shape 452"/>
          <p:cNvSpPr txBox="1"/>
          <p:nvPr/>
        </p:nvSpPr>
        <p:spPr>
          <a:xfrm>
            <a:off x="2514600" y="62484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Y</a:t>
            </a:r>
            <a:r>
              <a:rPr b="1" baseline="-25000" i="0" lang="en-US" sz="1800" u="none">
                <a:solidFill>
                  <a:schemeClr val="hlink"/>
                </a:solidFill>
                <a:latin typeface="Arial"/>
                <a:ea typeface="Arial"/>
                <a:cs typeface="Arial"/>
                <a:sym typeface="Arial"/>
              </a:rPr>
              <a:t>B</a:t>
            </a:r>
          </a:p>
        </p:txBody>
      </p:sp>
      <p:sp>
        <p:nvSpPr>
          <p:cNvPr id="453" name="Shape 453"/>
          <p:cNvSpPr txBox="1"/>
          <p:nvPr/>
        </p:nvSpPr>
        <p:spPr>
          <a:xfrm>
            <a:off x="3810000" y="5410200"/>
            <a:ext cx="2971799"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Font typeface="Calibri"/>
              <a:buNone/>
            </a:pPr>
            <a:r>
              <a:t/>
            </a:r>
            <a:endParaRPr b="1" i="0" sz="1400" u="none">
              <a:solidFill>
                <a:schemeClr val="hlink"/>
              </a:solidFill>
              <a:latin typeface="Arial"/>
              <a:ea typeface="Arial"/>
              <a:cs typeface="Arial"/>
              <a:sym typeface="Arial"/>
            </a:endParaRPr>
          </a:p>
          <a:p>
            <a:pPr indent="0" lvl="0" marL="0" marR="0" rtl="0" algn="ctr">
              <a:lnSpc>
                <a:spcPct val="100000"/>
              </a:lnSpc>
              <a:spcBef>
                <a:spcPts val="0"/>
              </a:spcBef>
              <a:spcAft>
                <a:spcPts val="0"/>
              </a:spcAft>
              <a:buClr>
                <a:srgbClr val="E61235"/>
              </a:buClr>
              <a:buSzPct val="25000"/>
              <a:buFont typeface="Arial"/>
              <a:buNone/>
            </a:pPr>
            <a:r>
              <a:rPr b="1" i="0" lang="en-US" sz="1400" u="none">
                <a:solidFill>
                  <a:srgbClr val="E61235"/>
                </a:solidFill>
                <a:latin typeface="Arial"/>
                <a:ea typeface="Arial"/>
                <a:cs typeface="Arial"/>
                <a:sym typeface="Arial"/>
              </a:rPr>
              <a:t>EXCESO DE DEMANDA MONETARIA</a:t>
            </a:r>
          </a:p>
        </p:txBody>
      </p:sp>
      <p:sp>
        <p:nvSpPr>
          <p:cNvPr id="454" name="Shape 454"/>
          <p:cNvSpPr txBox="1"/>
          <p:nvPr/>
        </p:nvSpPr>
        <p:spPr>
          <a:xfrm>
            <a:off x="914400" y="4038600"/>
            <a:ext cx="2971799"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400" u="none">
                <a:solidFill>
                  <a:schemeClr val="hlink"/>
                </a:solidFill>
                <a:latin typeface="Arial"/>
                <a:ea typeface="Arial"/>
                <a:cs typeface="Arial"/>
                <a:sym typeface="Arial"/>
              </a:rPr>
              <a:t>EXCESO DE OFERTA MONETARIA</a:t>
            </a:r>
          </a:p>
        </p:txBody>
      </p:sp>
      <p:cxnSp>
        <p:nvCxnSpPr>
          <p:cNvPr id="455" name="Shape 455"/>
          <p:cNvCxnSpPr/>
          <p:nvPr/>
        </p:nvCxnSpPr>
        <p:spPr>
          <a:xfrm>
            <a:off x="838200" y="4800600"/>
            <a:ext cx="3276600" cy="1587"/>
          </a:xfrm>
          <a:prstGeom prst="straightConnector1">
            <a:avLst/>
          </a:prstGeom>
          <a:noFill/>
          <a:ln cap="rnd" cmpd="sng" w="9525">
            <a:solidFill>
              <a:schemeClr val="dk1"/>
            </a:solidFill>
            <a:prstDash val="solid"/>
            <a:miter/>
            <a:headEnd len="med" w="med" type="none"/>
            <a:tailEnd len="med" w="med" type="oval"/>
          </a:ln>
        </p:spPr>
      </p:cxnSp>
      <p:sp>
        <p:nvSpPr>
          <p:cNvPr id="456" name="Shape 456"/>
          <p:cNvSpPr txBox="1"/>
          <p:nvPr/>
        </p:nvSpPr>
        <p:spPr>
          <a:xfrm>
            <a:off x="685800" y="45720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i</a:t>
            </a:r>
            <a:r>
              <a:rPr b="1" baseline="-25000" i="0" lang="en-US" sz="1800" u="none">
                <a:solidFill>
                  <a:schemeClr val="hlink"/>
                </a:solidFill>
                <a:latin typeface="Arial"/>
                <a:ea typeface="Arial"/>
                <a:cs typeface="Arial"/>
                <a:sym typeface="Arial"/>
              </a:rPr>
              <a:t>A</a:t>
            </a:r>
            <a:r>
              <a:rPr b="1" i="0" lang="en-US" sz="1800" u="none">
                <a:solidFill>
                  <a:schemeClr val="hlink"/>
                </a:solidFill>
                <a:latin typeface="Arial"/>
                <a:ea typeface="Arial"/>
                <a:cs typeface="Arial"/>
                <a:sym typeface="Arial"/>
              </a:rPr>
              <a:t> </a:t>
            </a:r>
          </a:p>
        </p:txBody>
      </p:sp>
      <p:cxnSp>
        <p:nvCxnSpPr>
          <p:cNvPr id="457" name="Shape 457"/>
          <p:cNvCxnSpPr/>
          <p:nvPr/>
        </p:nvCxnSpPr>
        <p:spPr>
          <a:xfrm>
            <a:off x="838200" y="5943600"/>
            <a:ext cx="1904999" cy="1587"/>
          </a:xfrm>
          <a:prstGeom prst="straightConnector1">
            <a:avLst/>
          </a:prstGeom>
          <a:noFill/>
          <a:ln cap="rnd" cmpd="sng" w="9525">
            <a:solidFill>
              <a:schemeClr val="dk1"/>
            </a:solidFill>
            <a:prstDash val="solid"/>
            <a:miter/>
            <a:headEnd len="med" w="med" type="none"/>
            <a:tailEnd len="med" w="med" type="oval"/>
          </a:ln>
        </p:spPr>
      </p:cxnSp>
      <p:cxnSp>
        <p:nvCxnSpPr>
          <p:cNvPr id="458" name="Shape 458"/>
          <p:cNvCxnSpPr/>
          <p:nvPr/>
        </p:nvCxnSpPr>
        <p:spPr>
          <a:xfrm>
            <a:off x="4114800" y="4800600"/>
            <a:ext cx="0" cy="1524000"/>
          </a:xfrm>
          <a:prstGeom prst="straightConnector1">
            <a:avLst/>
          </a:prstGeom>
          <a:noFill/>
          <a:ln cap="rnd" cmpd="sng" w="9525">
            <a:solidFill>
              <a:schemeClr val="dk1"/>
            </a:solidFill>
            <a:prstDash val="solid"/>
            <a:miter/>
            <a:headEnd len="med" w="med" type="oval"/>
            <a:tailEnd len="med" w="med" type="none"/>
          </a:ln>
        </p:spPr>
      </p:cxnSp>
    </p:spTree>
  </p:cSld>
  <p:clrMapOvr>
    <a:masterClrMapping/>
  </p:clrMapOvr>
  <p:transition spd="slow">
    <p:cut/>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62" name="Shape 462"/>
        <p:cNvGrpSpPr/>
        <p:nvPr/>
      </p:nvGrpSpPr>
      <p:grpSpPr>
        <a:xfrm>
          <a:off x="0" y="0"/>
          <a:ext cx="0" cy="0"/>
          <a:chOff x="0" y="0"/>
          <a:chExt cx="0" cy="0"/>
        </a:xfrm>
      </p:grpSpPr>
      <p:sp>
        <p:nvSpPr>
          <p:cNvPr id="463" name="Shape 463"/>
          <p:cNvSpPr/>
          <p:nvPr/>
        </p:nvSpPr>
        <p:spPr>
          <a:xfrm>
            <a:off x="1752600" y="3657600"/>
            <a:ext cx="5275262" cy="2671761"/>
          </a:xfrm>
          <a:custGeom>
            <a:pathLst>
              <a:path extrusionOk="0" h="120000" w="120000">
                <a:moveTo>
                  <a:pt x="0" y="120000"/>
                </a:moveTo>
                <a:lnTo>
                  <a:pt x="101619" y="119572"/>
                </a:lnTo>
                <a:cubicBezTo>
                  <a:pt x="119566" y="107878"/>
                  <a:pt x="119638" y="76934"/>
                  <a:pt x="119819" y="58395"/>
                </a:cubicBezTo>
                <a:cubicBezTo>
                  <a:pt x="120000" y="39857"/>
                  <a:pt x="110538" y="16827"/>
                  <a:pt x="102702" y="8342"/>
                </a:cubicBezTo>
                <a:cubicBezTo>
                  <a:pt x="92952" y="0"/>
                  <a:pt x="68721" y="4064"/>
                  <a:pt x="61318" y="8342"/>
                </a:cubicBezTo>
                <a:cubicBezTo>
                  <a:pt x="58862" y="11479"/>
                  <a:pt x="61173" y="26737"/>
                  <a:pt x="58284" y="34010"/>
                </a:cubicBezTo>
                <a:lnTo>
                  <a:pt x="53084" y="57967"/>
                </a:lnTo>
                <a:lnTo>
                  <a:pt x="44417" y="75080"/>
                </a:lnTo>
                <a:lnTo>
                  <a:pt x="35750" y="88770"/>
                </a:lnTo>
                <a:lnTo>
                  <a:pt x="28817" y="95614"/>
                </a:lnTo>
                <a:lnTo>
                  <a:pt x="16250" y="108449"/>
                </a:lnTo>
                <a:lnTo>
                  <a:pt x="6066" y="115721"/>
                </a:lnTo>
                <a:lnTo>
                  <a:pt x="0" y="120000"/>
                </a:lnTo>
                <a:close/>
              </a:path>
            </a:pathLst>
          </a:custGeom>
          <a:solidFill>
            <a:srgbClr val="FF0000">
              <a:alpha val="26666"/>
            </a:srgbClr>
          </a:solid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pic>
        <p:nvPicPr>
          <p:cNvPr id="464" name="Shape 464"/>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465" name="Shape 465"/>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466" name="Shape 466"/>
          <p:cNvSpPr txBox="1"/>
          <p:nvPr/>
        </p:nvSpPr>
        <p:spPr>
          <a:xfrm>
            <a:off x="3733800" y="76200"/>
            <a:ext cx="4724400" cy="1143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a:solidFill>
                  <a:srgbClr val="BB4F59"/>
                </a:solidFill>
                <a:latin typeface="Arial"/>
                <a:ea typeface="Arial"/>
                <a:cs typeface="Arial"/>
                <a:sym typeface="Arial"/>
              </a:rPr>
              <a:t>EXCESO DE DEMANDA MONETARIA</a:t>
            </a:r>
          </a:p>
        </p:txBody>
      </p:sp>
      <p:sp>
        <p:nvSpPr>
          <p:cNvPr id="467" name="Shape 467"/>
          <p:cNvSpPr txBox="1"/>
          <p:nvPr/>
        </p:nvSpPr>
        <p:spPr>
          <a:xfrm>
            <a:off x="263525" y="1293812"/>
            <a:ext cx="8610599" cy="2363786"/>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468" name="Shape 468"/>
          <p:cNvCxnSpPr/>
          <p:nvPr/>
        </p:nvCxnSpPr>
        <p:spPr>
          <a:xfrm rot="10800000">
            <a:off x="838200" y="3962399"/>
            <a:ext cx="0" cy="2362200"/>
          </a:xfrm>
          <a:prstGeom prst="straightConnector1">
            <a:avLst/>
          </a:prstGeom>
          <a:noFill/>
          <a:ln cap="flat" cmpd="sng" w="25400">
            <a:solidFill>
              <a:srgbClr val="0000FF"/>
            </a:solidFill>
            <a:prstDash val="solid"/>
            <a:miter/>
            <a:headEnd len="med" w="med" type="none"/>
            <a:tailEnd len="lg" w="lg" type="stealth"/>
          </a:ln>
        </p:spPr>
      </p:cxnSp>
      <p:cxnSp>
        <p:nvCxnSpPr>
          <p:cNvPr id="469" name="Shape 469"/>
          <p:cNvCxnSpPr/>
          <p:nvPr/>
        </p:nvCxnSpPr>
        <p:spPr>
          <a:xfrm>
            <a:off x="533400" y="6324600"/>
            <a:ext cx="5410200" cy="0"/>
          </a:xfrm>
          <a:prstGeom prst="straightConnector1">
            <a:avLst/>
          </a:prstGeom>
          <a:noFill/>
          <a:ln cap="flat" cmpd="sng" w="25400">
            <a:solidFill>
              <a:srgbClr val="0000FF"/>
            </a:solidFill>
            <a:prstDash val="solid"/>
            <a:miter/>
            <a:headEnd len="med" w="med" type="none"/>
            <a:tailEnd len="lg" w="lg" type="stealth"/>
          </a:ln>
        </p:spPr>
      </p:cxnSp>
      <p:sp>
        <p:nvSpPr>
          <p:cNvPr id="470" name="Shape 470"/>
          <p:cNvSpPr txBox="1"/>
          <p:nvPr/>
        </p:nvSpPr>
        <p:spPr>
          <a:xfrm>
            <a:off x="533400" y="38100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i</a:t>
            </a:r>
          </a:p>
        </p:txBody>
      </p:sp>
      <p:sp>
        <p:nvSpPr>
          <p:cNvPr id="471" name="Shape 471"/>
          <p:cNvSpPr txBox="1"/>
          <p:nvPr/>
        </p:nvSpPr>
        <p:spPr>
          <a:xfrm>
            <a:off x="4495800" y="6324600"/>
            <a:ext cx="1904999"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Y</a:t>
            </a:r>
          </a:p>
        </p:txBody>
      </p:sp>
      <p:sp>
        <p:nvSpPr>
          <p:cNvPr id="472" name="Shape 472"/>
          <p:cNvSpPr/>
          <p:nvPr/>
        </p:nvSpPr>
        <p:spPr>
          <a:xfrm>
            <a:off x="1530350" y="3979862"/>
            <a:ext cx="2879724" cy="2409824"/>
          </a:xfrm>
          <a:custGeom>
            <a:pathLst>
              <a:path extrusionOk="0" h="120000" w="120000">
                <a:moveTo>
                  <a:pt x="0" y="120000"/>
                </a:moveTo>
                <a:cubicBezTo>
                  <a:pt x="6284" y="117549"/>
                  <a:pt x="24608" y="111778"/>
                  <a:pt x="37640" y="105138"/>
                </a:cubicBezTo>
                <a:cubicBezTo>
                  <a:pt x="50672" y="98498"/>
                  <a:pt x="67276" y="88695"/>
                  <a:pt x="78059" y="79920"/>
                </a:cubicBezTo>
                <a:cubicBezTo>
                  <a:pt x="88842" y="71146"/>
                  <a:pt x="95920" y="61739"/>
                  <a:pt x="102205" y="52252"/>
                </a:cubicBezTo>
                <a:cubicBezTo>
                  <a:pt x="108489" y="42766"/>
                  <a:pt x="112590" y="31462"/>
                  <a:pt x="115567" y="22766"/>
                </a:cubicBezTo>
                <a:cubicBezTo>
                  <a:pt x="118544" y="14071"/>
                  <a:pt x="119073" y="4743"/>
                  <a:pt x="119999" y="0"/>
                </a:cubicBezTo>
              </a:path>
            </a:pathLst>
          </a:custGeom>
          <a:noFill/>
          <a:ln cap="flat" cmpd="sng" w="317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473" name="Shape 473"/>
          <p:cNvSpPr txBox="1"/>
          <p:nvPr/>
        </p:nvSpPr>
        <p:spPr>
          <a:xfrm>
            <a:off x="609600" y="51054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i</a:t>
            </a:r>
            <a:r>
              <a:rPr b="1" baseline="-25000" i="0" lang="en-US" sz="1800" u="none">
                <a:solidFill>
                  <a:schemeClr val="hlink"/>
                </a:solidFill>
                <a:latin typeface="Arial"/>
                <a:ea typeface="Arial"/>
                <a:cs typeface="Arial"/>
                <a:sym typeface="Arial"/>
              </a:rPr>
              <a:t>A</a:t>
            </a:r>
            <a:r>
              <a:rPr b="1" i="0" lang="en-US" sz="1800" u="none">
                <a:solidFill>
                  <a:schemeClr val="hlink"/>
                </a:solidFill>
                <a:latin typeface="Arial"/>
                <a:ea typeface="Arial"/>
                <a:cs typeface="Arial"/>
                <a:sym typeface="Arial"/>
              </a:rPr>
              <a:t> </a:t>
            </a:r>
          </a:p>
        </p:txBody>
      </p:sp>
      <p:sp>
        <p:nvSpPr>
          <p:cNvPr id="474" name="Shape 474"/>
          <p:cNvSpPr txBox="1"/>
          <p:nvPr/>
        </p:nvSpPr>
        <p:spPr>
          <a:xfrm>
            <a:off x="3429000" y="62484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Y</a:t>
            </a:r>
            <a:r>
              <a:rPr b="1" baseline="-25000" i="0" lang="en-US" sz="1800" u="none">
                <a:solidFill>
                  <a:schemeClr val="hlink"/>
                </a:solidFill>
                <a:latin typeface="Arial"/>
                <a:ea typeface="Arial"/>
                <a:cs typeface="Arial"/>
                <a:sym typeface="Arial"/>
              </a:rPr>
              <a:t>A´´</a:t>
            </a:r>
          </a:p>
        </p:txBody>
      </p:sp>
      <p:cxnSp>
        <p:nvCxnSpPr>
          <p:cNvPr id="475" name="Shape 475"/>
          <p:cNvCxnSpPr/>
          <p:nvPr/>
        </p:nvCxnSpPr>
        <p:spPr>
          <a:xfrm>
            <a:off x="838200" y="5334000"/>
            <a:ext cx="2867025" cy="1587"/>
          </a:xfrm>
          <a:prstGeom prst="straightConnector1">
            <a:avLst/>
          </a:prstGeom>
          <a:noFill/>
          <a:ln cap="rnd" cmpd="sng" w="9525">
            <a:solidFill>
              <a:schemeClr val="dk1"/>
            </a:solidFill>
            <a:prstDash val="solid"/>
            <a:miter/>
            <a:headEnd len="med" w="med" type="none"/>
            <a:tailEnd len="med" w="med" type="oval"/>
          </a:ln>
        </p:spPr>
      </p:cxnSp>
      <p:sp>
        <p:nvSpPr>
          <p:cNvPr id="476" name="Shape 476"/>
          <p:cNvSpPr txBox="1"/>
          <p:nvPr/>
        </p:nvSpPr>
        <p:spPr>
          <a:xfrm>
            <a:off x="4267200" y="3200400"/>
            <a:ext cx="1600199" cy="6095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CURVA LM</a:t>
            </a:r>
          </a:p>
        </p:txBody>
      </p:sp>
      <p:sp>
        <p:nvSpPr>
          <p:cNvPr id="477" name="Shape 477"/>
          <p:cNvSpPr txBox="1"/>
          <p:nvPr/>
        </p:nvSpPr>
        <p:spPr>
          <a:xfrm>
            <a:off x="533400" y="1295400"/>
            <a:ext cx="6629400" cy="20574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ECUACIÓN LM (MERCADO DEL DINERO)</a:t>
            </a:r>
          </a:p>
          <a:p>
            <a:pPr indent="0" lvl="0" marL="0" marR="0" rtl="0" algn="l">
              <a:lnSpc>
                <a:spcPct val="100000"/>
              </a:lnSpc>
              <a:spcBef>
                <a:spcPts val="0"/>
              </a:spcBef>
              <a:spcAft>
                <a:spcPts val="0"/>
              </a:spcAft>
              <a:buClr>
                <a:schemeClr val="dk1"/>
              </a:buClr>
              <a:buSzPct val="25000"/>
              <a:buFont typeface="Times New Roman"/>
              <a:buNone/>
            </a:pPr>
            <a:r>
              <a:rPr b="1" i="0" lang="en-US" sz="1600" u="none">
                <a:solidFill>
                  <a:schemeClr val="dk1"/>
                </a:solidFill>
                <a:latin typeface="Times New Roman"/>
                <a:ea typeface="Times New Roman"/>
                <a:cs typeface="Times New Roman"/>
                <a:sym typeface="Times New Roman"/>
              </a:rPr>
              <a:t>i = (L</a:t>
            </a:r>
            <a:r>
              <a:rPr b="1" baseline="-25000" i="0" lang="en-US" sz="1600" u="none">
                <a:solidFill>
                  <a:schemeClr val="dk1"/>
                </a:solidFill>
                <a:latin typeface="Times New Roman"/>
                <a:ea typeface="Times New Roman"/>
                <a:cs typeface="Times New Roman"/>
                <a:sym typeface="Times New Roman"/>
              </a:rPr>
              <a:t>0</a:t>
            </a:r>
            <a:r>
              <a:rPr b="1" i="0" lang="en-US" sz="1600" u="none">
                <a:solidFill>
                  <a:schemeClr val="dk1"/>
                </a:solidFill>
                <a:latin typeface="Times New Roman"/>
                <a:ea typeface="Times New Roman"/>
                <a:cs typeface="Times New Roman"/>
                <a:sym typeface="Times New Roman"/>
              </a:rPr>
              <a:t> – (OM/NP))/h + (k/h) * Y</a:t>
            </a:r>
          </a:p>
          <a:p>
            <a:pPr indent="0" lvl="0" marL="0" marR="0" rtl="0" algn="l">
              <a:lnSpc>
                <a:spcPct val="100000"/>
              </a:lnSpc>
              <a:spcBef>
                <a:spcPts val="0"/>
              </a:spcBef>
              <a:spcAft>
                <a:spcPts val="0"/>
              </a:spcAft>
              <a:buClr>
                <a:srgbClr val="FF0000"/>
              </a:buClr>
              <a:buSzPct val="25000"/>
              <a:buFont typeface="Arial"/>
              <a:buNone/>
            </a:pPr>
            <a:r>
              <a:rPr b="1" i="0" lang="en-US" sz="1800" u="none">
                <a:solidFill>
                  <a:srgbClr val="FF0000"/>
                </a:solidFill>
                <a:latin typeface="Arial"/>
                <a:ea typeface="Arial"/>
                <a:cs typeface="Arial"/>
                <a:sym typeface="Arial"/>
              </a:rPr>
              <a:t>k = Sensibilidad de la demanda de dinero al nivel de renta </a:t>
            </a:r>
            <a:br>
              <a:rPr b="1" i="0" lang="en-US" sz="1800" u="none">
                <a:solidFill>
                  <a:srgbClr val="FF0000"/>
                </a:solidFill>
                <a:latin typeface="Arial"/>
                <a:ea typeface="Arial"/>
                <a:cs typeface="Arial"/>
                <a:sym typeface="Arial"/>
              </a:rPr>
            </a:br>
            <a:r>
              <a:rPr b="1" i="0" lang="en-US" sz="1800" u="none">
                <a:solidFill>
                  <a:srgbClr val="FF0000"/>
                </a:solidFill>
                <a:latin typeface="Arial"/>
                <a:ea typeface="Arial"/>
                <a:cs typeface="Arial"/>
                <a:sym typeface="Arial"/>
              </a:rPr>
              <a:t>h = Sensibilidad de la demanda de dinero al tipo de interés.</a:t>
            </a:r>
            <a:r>
              <a:rPr b="0" i="0" lang="en-US" sz="1800" u="none">
                <a:solidFill>
                  <a:schemeClr val="dk1"/>
                </a:solidFill>
                <a:latin typeface="Arial"/>
                <a:ea typeface="Arial"/>
                <a:cs typeface="Arial"/>
                <a:sym typeface="Arial"/>
              </a:rPr>
              <a:t> </a:t>
            </a:r>
          </a:p>
          <a:p>
            <a:pPr indent="0" lvl="0" marL="0" marR="0" rtl="0" algn="l">
              <a:lnSpc>
                <a:spcPct val="100000"/>
              </a:lnSpc>
              <a:spcBef>
                <a:spcPts val="0"/>
              </a:spcBef>
              <a:spcAft>
                <a:spcPts val="0"/>
              </a:spcAft>
              <a:buClr>
                <a:srgbClr val="FF0000"/>
              </a:buClr>
              <a:buSzPct val="25000"/>
              <a:buFont typeface="Arial"/>
              <a:buNone/>
            </a:pPr>
            <a:r>
              <a:rPr b="1" i="0" lang="en-US" sz="1800" u="none">
                <a:solidFill>
                  <a:srgbClr val="FF0000"/>
                </a:solidFill>
                <a:latin typeface="Arial"/>
                <a:ea typeface="Arial"/>
                <a:cs typeface="Arial"/>
                <a:sym typeface="Arial"/>
              </a:rPr>
              <a:t>OM = Oferta monetaria nominal</a:t>
            </a:r>
            <a:br>
              <a:rPr b="1" i="0" lang="en-US" sz="1800" u="none">
                <a:solidFill>
                  <a:srgbClr val="FF0000"/>
                </a:solidFill>
                <a:latin typeface="Arial"/>
                <a:ea typeface="Arial"/>
                <a:cs typeface="Arial"/>
                <a:sym typeface="Arial"/>
              </a:rPr>
            </a:br>
            <a:r>
              <a:rPr b="1" i="0" lang="en-US" sz="1800" u="none">
                <a:solidFill>
                  <a:srgbClr val="FF0000"/>
                </a:solidFill>
                <a:latin typeface="Arial"/>
                <a:ea typeface="Arial"/>
                <a:cs typeface="Arial"/>
                <a:sym typeface="Arial"/>
              </a:rPr>
              <a:t>NP = Nivel de precios</a:t>
            </a:r>
          </a:p>
          <a:p>
            <a:pPr indent="0" lvl="0" marL="0" marR="0" rtl="0" algn="l">
              <a:lnSpc>
                <a:spcPct val="100000"/>
              </a:lnSpc>
              <a:spcBef>
                <a:spcPts val="0"/>
              </a:spcBef>
              <a:spcAft>
                <a:spcPts val="0"/>
              </a:spcAft>
              <a:buClr>
                <a:srgbClr val="FF0000"/>
              </a:buClr>
              <a:buSzPct val="25000"/>
              <a:buFont typeface="Arial"/>
              <a:buNone/>
            </a:pPr>
            <a:r>
              <a:rPr b="1" i="0" lang="en-US" sz="1800" u="none">
                <a:solidFill>
                  <a:srgbClr val="FF0000"/>
                </a:solidFill>
                <a:latin typeface="Arial"/>
                <a:ea typeface="Arial"/>
                <a:cs typeface="Arial"/>
                <a:sym typeface="Arial"/>
              </a:rPr>
              <a:t>L</a:t>
            </a:r>
            <a:r>
              <a:rPr b="1" baseline="-25000" i="0" lang="en-US" sz="1800" u="none">
                <a:solidFill>
                  <a:srgbClr val="FF0000"/>
                </a:solidFill>
                <a:latin typeface="Arial"/>
                <a:ea typeface="Arial"/>
                <a:cs typeface="Arial"/>
                <a:sym typeface="Arial"/>
              </a:rPr>
              <a:t>0</a:t>
            </a:r>
            <a:r>
              <a:rPr b="1" i="0" lang="en-US" sz="1800" u="none">
                <a:solidFill>
                  <a:srgbClr val="FF0000"/>
                </a:solidFill>
                <a:latin typeface="Arial"/>
                <a:ea typeface="Arial"/>
                <a:cs typeface="Arial"/>
                <a:sym typeface="Arial"/>
              </a:rPr>
              <a:t> = Suma total de fondos especulativos</a:t>
            </a:r>
          </a:p>
        </p:txBody>
      </p:sp>
      <p:cxnSp>
        <p:nvCxnSpPr>
          <p:cNvPr id="478" name="Shape 478"/>
          <p:cNvCxnSpPr/>
          <p:nvPr/>
        </p:nvCxnSpPr>
        <p:spPr>
          <a:xfrm>
            <a:off x="3733800" y="5334000"/>
            <a:ext cx="0" cy="990599"/>
          </a:xfrm>
          <a:prstGeom prst="straightConnector1">
            <a:avLst/>
          </a:prstGeom>
          <a:noFill/>
          <a:ln cap="rnd" cmpd="sng" w="9525">
            <a:solidFill>
              <a:schemeClr val="dk1"/>
            </a:solidFill>
            <a:prstDash val="solid"/>
            <a:miter/>
            <a:headEnd len="med" w="med" type="none"/>
            <a:tailEnd len="med" w="med" type="none"/>
          </a:ln>
        </p:spPr>
      </p:cxnSp>
      <p:cxnSp>
        <p:nvCxnSpPr>
          <p:cNvPr id="479" name="Shape 479"/>
          <p:cNvCxnSpPr/>
          <p:nvPr/>
        </p:nvCxnSpPr>
        <p:spPr>
          <a:xfrm rot="10800000">
            <a:off x="4114800" y="5334000"/>
            <a:ext cx="0" cy="990599"/>
          </a:xfrm>
          <a:prstGeom prst="straightConnector1">
            <a:avLst/>
          </a:prstGeom>
          <a:noFill/>
          <a:ln cap="flat" cmpd="sng" w="19050">
            <a:solidFill>
              <a:schemeClr val="dk1"/>
            </a:solidFill>
            <a:prstDash val="solid"/>
            <a:miter/>
            <a:headEnd len="med" w="med" type="none"/>
            <a:tailEnd len="med" w="med" type="none"/>
          </a:ln>
        </p:spPr>
      </p:cxnSp>
      <p:sp>
        <p:nvSpPr>
          <p:cNvPr id="480" name="Shape 480"/>
          <p:cNvSpPr txBox="1"/>
          <p:nvPr/>
        </p:nvSpPr>
        <p:spPr>
          <a:xfrm>
            <a:off x="4114800" y="5105400"/>
            <a:ext cx="304799" cy="304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A</a:t>
            </a:r>
          </a:p>
        </p:txBody>
      </p:sp>
      <p:cxnSp>
        <p:nvCxnSpPr>
          <p:cNvPr id="481" name="Shape 481"/>
          <p:cNvCxnSpPr/>
          <p:nvPr/>
        </p:nvCxnSpPr>
        <p:spPr>
          <a:xfrm rot="10800000">
            <a:off x="4114800" y="4800600"/>
            <a:ext cx="0" cy="533399"/>
          </a:xfrm>
          <a:prstGeom prst="straightConnector1">
            <a:avLst/>
          </a:prstGeom>
          <a:noFill/>
          <a:ln cap="flat" cmpd="sng" w="25400">
            <a:solidFill>
              <a:schemeClr val="dk1"/>
            </a:solidFill>
            <a:prstDash val="solid"/>
            <a:miter/>
            <a:headEnd len="med" w="med" type="none"/>
            <a:tailEnd len="lg" w="lg" type="stealth"/>
          </a:ln>
        </p:spPr>
      </p:cxnSp>
      <p:sp>
        <p:nvSpPr>
          <p:cNvPr id="482" name="Shape 482"/>
          <p:cNvSpPr txBox="1"/>
          <p:nvPr/>
        </p:nvSpPr>
        <p:spPr>
          <a:xfrm>
            <a:off x="3886200" y="62484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Y</a:t>
            </a:r>
            <a:r>
              <a:rPr b="1" baseline="-25000" i="0" lang="en-US" sz="1800" u="none">
                <a:solidFill>
                  <a:schemeClr val="hlink"/>
                </a:solidFill>
                <a:latin typeface="Arial"/>
                <a:ea typeface="Arial"/>
                <a:cs typeface="Arial"/>
                <a:sym typeface="Arial"/>
              </a:rPr>
              <a:t>A</a:t>
            </a:r>
          </a:p>
        </p:txBody>
      </p:sp>
      <p:sp>
        <p:nvSpPr>
          <p:cNvPr id="483" name="Shape 483"/>
          <p:cNvSpPr txBox="1"/>
          <p:nvPr/>
        </p:nvSpPr>
        <p:spPr>
          <a:xfrm>
            <a:off x="4648200" y="5334000"/>
            <a:ext cx="2971799"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Font typeface="Calibri"/>
              <a:buNone/>
            </a:pPr>
            <a:r>
              <a:t/>
            </a:r>
            <a:endParaRPr b="1" i="0" sz="1400" u="none">
              <a:solidFill>
                <a:schemeClr val="hlink"/>
              </a:solidFill>
              <a:latin typeface="Arial"/>
              <a:ea typeface="Arial"/>
              <a:cs typeface="Arial"/>
              <a:sym typeface="Arial"/>
            </a:endParaRPr>
          </a:p>
          <a:p>
            <a:pPr indent="0" lvl="0" marL="0" marR="0" rtl="0" algn="ctr">
              <a:lnSpc>
                <a:spcPct val="100000"/>
              </a:lnSpc>
              <a:spcBef>
                <a:spcPts val="0"/>
              </a:spcBef>
              <a:spcAft>
                <a:spcPts val="0"/>
              </a:spcAft>
              <a:buClr>
                <a:schemeClr val="hlink"/>
              </a:buClr>
              <a:buSzPct val="25000"/>
              <a:buFont typeface="Arial"/>
              <a:buNone/>
            </a:pPr>
            <a:r>
              <a:rPr b="1" i="0" lang="en-US" sz="1400" u="none">
                <a:solidFill>
                  <a:schemeClr val="hlink"/>
                </a:solidFill>
                <a:latin typeface="Arial"/>
                <a:ea typeface="Arial"/>
                <a:cs typeface="Arial"/>
                <a:sym typeface="Arial"/>
              </a:rPr>
              <a:t>EXCESO DE DEMANDA MONETARIA</a:t>
            </a:r>
          </a:p>
        </p:txBody>
      </p:sp>
      <p:cxnSp>
        <p:nvCxnSpPr>
          <p:cNvPr id="484" name="Shape 484"/>
          <p:cNvCxnSpPr/>
          <p:nvPr/>
        </p:nvCxnSpPr>
        <p:spPr>
          <a:xfrm>
            <a:off x="838200" y="5334000"/>
            <a:ext cx="3276600" cy="1587"/>
          </a:xfrm>
          <a:prstGeom prst="straightConnector1">
            <a:avLst/>
          </a:prstGeom>
          <a:noFill/>
          <a:ln cap="rnd" cmpd="sng" w="9525">
            <a:solidFill>
              <a:schemeClr val="dk1"/>
            </a:solidFill>
            <a:prstDash val="solid"/>
            <a:miter/>
            <a:headEnd len="med" w="med" type="none"/>
            <a:tailEnd len="med" w="med" type="oval"/>
          </a:ln>
        </p:spPr>
      </p:cxnSp>
      <p:cxnSp>
        <p:nvCxnSpPr>
          <p:cNvPr id="485" name="Shape 485"/>
          <p:cNvCxnSpPr/>
          <p:nvPr/>
        </p:nvCxnSpPr>
        <p:spPr>
          <a:xfrm>
            <a:off x="838200" y="4800600"/>
            <a:ext cx="3276600" cy="1587"/>
          </a:xfrm>
          <a:prstGeom prst="straightConnector1">
            <a:avLst/>
          </a:prstGeom>
          <a:noFill/>
          <a:ln cap="rnd" cmpd="sng" w="9525">
            <a:solidFill>
              <a:schemeClr val="dk1"/>
            </a:solidFill>
            <a:prstDash val="solid"/>
            <a:miter/>
            <a:headEnd len="med" w="med" type="none"/>
            <a:tailEnd len="med" w="med" type="oval"/>
          </a:ln>
        </p:spPr>
      </p:cxnSp>
      <p:sp>
        <p:nvSpPr>
          <p:cNvPr id="486" name="Shape 486"/>
          <p:cNvSpPr txBox="1"/>
          <p:nvPr/>
        </p:nvSpPr>
        <p:spPr>
          <a:xfrm>
            <a:off x="609600" y="45720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i</a:t>
            </a:r>
            <a:r>
              <a:rPr b="1" baseline="-25000" i="0" lang="en-US" sz="1800" u="none">
                <a:solidFill>
                  <a:schemeClr val="hlink"/>
                </a:solidFill>
                <a:latin typeface="Arial"/>
                <a:ea typeface="Arial"/>
                <a:cs typeface="Arial"/>
                <a:sym typeface="Arial"/>
              </a:rPr>
              <a:t>A´</a:t>
            </a:r>
            <a:r>
              <a:rPr b="1" i="0" lang="en-US" sz="1800" u="none">
                <a:solidFill>
                  <a:schemeClr val="hlink"/>
                </a:solidFill>
                <a:latin typeface="Arial"/>
                <a:ea typeface="Arial"/>
                <a:cs typeface="Arial"/>
                <a:sym typeface="Arial"/>
              </a:rPr>
              <a:t> </a:t>
            </a:r>
          </a:p>
        </p:txBody>
      </p:sp>
      <p:sp>
        <p:nvSpPr>
          <p:cNvPr id="487" name="Shape 487"/>
          <p:cNvSpPr txBox="1"/>
          <p:nvPr/>
        </p:nvSpPr>
        <p:spPr>
          <a:xfrm>
            <a:off x="3886200" y="4495800"/>
            <a:ext cx="304799" cy="304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A´</a:t>
            </a:r>
          </a:p>
        </p:txBody>
      </p:sp>
      <p:cxnSp>
        <p:nvCxnSpPr>
          <p:cNvPr id="488" name="Shape 488"/>
          <p:cNvCxnSpPr/>
          <p:nvPr/>
        </p:nvCxnSpPr>
        <p:spPr>
          <a:xfrm rot="10800000">
            <a:off x="3733799" y="5334000"/>
            <a:ext cx="381000" cy="0"/>
          </a:xfrm>
          <a:prstGeom prst="straightConnector1">
            <a:avLst/>
          </a:prstGeom>
          <a:noFill/>
          <a:ln cap="flat" cmpd="sng" w="25400">
            <a:solidFill>
              <a:schemeClr val="dk1"/>
            </a:solidFill>
            <a:prstDash val="solid"/>
            <a:miter/>
            <a:headEnd len="med" w="med" type="none"/>
            <a:tailEnd len="lg" w="lg" type="stealth"/>
          </a:ln>
        </p:spPr>
      </p:cxnSp>
      <p:sp>
        <p:nvSpPr>
          <p:cNvPr id="489" name="Shape 489"/>
          <p:cNvSpPr txBox="1"/>
          <p:nvPr/>
        </p:nvSpPr>
        <p:spPr>
          <a:xfrm>
            <a:off x="3505200" y="5029200"/>
            <a:ext cx="304799" cy="304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A´´</a:t>
            </a:r>
          </a:p>
        </p:txBody>
      </p:sp>
    </p:spTree>
  </p:cSld>
  <p:clrMapOvr>
    <a:masterClrMapping/>
  </p:clrMapOvr>
  <p:transition spd="slow">
    <p:cut/>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93" name="Shape 493"/>
        <p:cNvGrpSpPr/>
        <p:nvPr/>
      </p:nvGrpSpPr>
      <p:grpSpPr>
        <a:xfrm>
          <a:off x="0" y="0"/>
          <a:ext cx="0" cy="0"/>
          <a:chOff x="0" y="0"/>
          <a:chExt cx="0" cy="0"/>
        </a:xfrm>
      </p:grpSpPr>
      <p:sp>
        <p:nvSpPr>
          <p:cNvPr id="494" name="Shape 494"/>
          <p:cNvSpPr/>
          <p:nvPr/>
        </p:nvSpPr>
        <p:spPr>
          <a:xfrm>
            <a:off x="838200" y="3810000"/>
            <a:ext cx="3600450" cy="2514599"/>
          </a:xfrm>
          <a:custGeom>
            <a:pathLst>
              <a:path extrusionOk="0" h="120000" w="120000">
                <a:moveTo>
                  <a:pt x="0" y="119999"/>
                </a:moveTo>
                <a:lnTo>
                  <a:pt x="0" y="0"/>
                </a:lnTo>
                <a:lnTo>
                  <a:pt x="120000" y="454"/>
                </a:lnTo>
                <a:lnTo>
                  <a:pt x="116507" y="24999"/>
                </a:lnTo>
                <a:lnTo>
                  <a:pt x="109523" y="47727"/>
                </a:lnTo>
                <a:lnTo>
                  <a:pt x="100634" y="64999"/>
                </a:lnTo>
                <a:lnTo>
                  <a:pt x="88253" y="81363"/>
                </a:lnTo>
                <a:lnTo>
                  <a:pt x="68571" y="98181"/>
                </a:lnTo>
                <a:lnTo>
                  <a:pt x="48571" y="111363"/>
                </a:lnTo>
                <a:lnTo>
                  <a:pt x="29523" y="119545"/>
                </a:lnTo>
                <a:lnTo>
                  <a:pt x="0" y="119999"/>
                </a:lnTo>
                <a:close/>
              </a:path>
            </a:pathLst>
          </a:custGeom>
          <a:solidFill>
            <a:schemeClr val="accent1">
              <a:alpha val="51764"/>
            </a:schemeClr>
          </a:solid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pic>
        <p:nvPicPr>
          <p:cNvPr id="495" name="Shape 495"/>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496" name="Shape 496"/>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497" name="Shape 497"/>
          <p:cNvSpPr txBox="1"/>
          <p:nvPr/>
        </p:nvSpPr>
        <p:spPr>
          <a:xfrm>
            <a:off x="3733800" y="0"/>
            <a:ext cx="4724400" cy="1143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a:solidFill>
                  <a:srgbClr val="BB4F59"/>
                </a:solidFill>
                <a:latin typeface="Arial"/>
                <a:ea typeface="Arial"/>
                <a:cs typeface="Arial"/>
                <a:sym typeface="Arial"/>
              </a:rPr>
              <a:t>EXCESO DE OFERTA MONETARIA</a:t>
            </a:r>
          </a:p>
        </p:txBody>
      </p:sp>
      <p:sp>
        <p:nvSpPr>
          <p:cNvPr id="498" name="Shape 498"/>
          <p:cNvSpPr txBox="1"/>
          <p:nvPr/>
        </p:nvSpPr>
        <p:spPr>
          <a:xfrm>
            <a:off x="263525" y="1293812"/>
            <a:ext cx="8610599" cy="2363786"/>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499" name="Shape 499"/>
          <p:cNvCxnSpPr/>
          <p:nvPr/>
        </p:nvCxnSpPr>
        <p:spPr>
          <a:xfrm rot="10800000">
            <a:off x="838200" y="3962399"/>
            <a:ext cx="0" cy="2362200"/>
          </a:xfrm>
          <a:prstGeom prst="straightConnector1">
            <a:avLst/>
          </a:prstGeom>
          <a:noFill/>
          <a:ln cap="flat" cmpd="sng" w="9525">
            <a:solidFill>
              <a:schemeClr val="dk1"/>
            </a:solidFill>
            <a:prstDash val="solid"/>
            <a:miter/>
            <a:headEnd len="med" w="med" type="none"/>
            <a:tailEnd len="med" w="med" type="none"/>
          </a:ln>
        </p:spPr>
      </p:cxnSp>
      <p:cxnSp>
        <p:nvCxnSpPr>
          <p:cNvPr id="500" name="Shape 500"/>
          <p:cNvCxnSpPr/>
          <p:nvPr/>
        </p:nvCxnSpPr>
        <p:spPr>
          <a:xfrm>
            <a:off x="533400" y="6329362"/>
            <a:ext cx="5410200" cy="0"/>
          </a:xfrm>
          <a:prstGeom prst="straightConnector1">
            <a:avLst/>
          </a:prstGeom>
          <a:noFill/>
          <a:ln cap="flat" cmpd="sng" w="9525">
            <a:solidFill>
              <a:schemeClr val="dk1"/>
            </a:solidFill>
            <a:prstDash val="solid"/>
            <a:miter/>
            <a:headEnd len="med" w="med" type="none"/>
            <a:tailEnd len="med" w="med" type="none"/>
          </a:ln>
        </p:spPr>
      </p:cxnSp>
      <p:sp>
        <p:nvSpPr>
          <p:cNvPr id="501" name="Shape 501"/>
          <p:cNvSpPr txBox="1"/>
          <p:nvPr/>
        </p:nvSpPr>
        <p:spPr>
          <a:xfrm>
            <a:off x="533400" y="38100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i</a:t>
            </a:r>
          </a:p>
        </p:txBody>
      </p:sp>
      <p:sp>
        <p:nvSpPr>
          <p:cNvPr id="502" name="Shape 502"/>
          <p:cNvSpPr txBox="1"/>
          <p:nvPr/>
        </p:nvSpPr>
        <p:spPr>
          <a:xfrm>
            <a:off x="4495800" y="6324600"/>
            <a:ext cx="1904999"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Y</a:t>
            </a:r>
          </a:p>
        </p:txBody>
      </p:sp>
      <p:sp>
        <p:nvSpPr>
          <p:cNvPr id="503" name="Shape 503"/>
          <p:cNvSpPr/>
          <p:nvPr/>
        </p:nvSpPr>
        <p:spPr>
          <a:xfrm>
            <a:off x="1530350" y="3979862"/>
            <a:ext cx="2879724" cy="2409824"/>
          </a:xfrm>
          <a:custGeom>
            <a:pathLst>
              <a:path extrusionOk="0" h="120000" w="120000">
                <a:moveTo>
                  <a:pt x="0" y="120000"/>
                </a:moveTo>
                <a:cubicBezTo>
                  <a:pt x="6284" y="117549"/>
                  <a:pt x="24608" y="111778"/>
                  <a:pt x="37640" y="105138"/>
                </a:cubicBezTo>
                <a:cubicBezTo>
                  <a:pt x="50672" y="98498"/>
                  <a:pt x="67276" y="88695"/>
                  <a:pt x="78059" y="79920"/>
                </a:cubicBezTo>
                <a:cubicBezTo>
                  <a:pt x="88842" y="71146"/>
                  <a:pt x="95920" y="61739"/>
                  <a:pt x="102205" y="52252"/>
                </a:cubicBezTo>
                <a:cubicBezTo>
                  <a:pt x="108489" y="42766"/>
                  <a:pt x="112590" y="31462"/>
                  <a:pt x="115567" y="22766"/>
                </a:cubicBezTo>
                <a:cubicBezTo>
                  <a:pt x="118544" y="14071"/>
                  <a:pt x="119073" y="4743"/>
                  <a:pt x="119999" y="0"/>
                </a:cubicBezTo>
              </a:path>
            </a:pathLst>
          </a:custGeom>
          <a:noFill/>
          <a:ln cap="flat" cmpd="sng" w="317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504" name="Shape 504"/>
          <p:cNvSpPr txBox="1"/>
          <p:nvPr/>
        </p:nvSpPr>
        <p:spPr>
          <a:xfrm>
            <a:off x="609600" y="51054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i</a:t>
            </a:r>
            <a:r>
              <a:rPr b="1" baseline="-25000" i="0" lang="en-US" sz="1800" u="none">
                <a:solidFill>
                  <a:schemeClr val="hlink"/>
                </a:solidFill>
                <a:latin typeface="Arial"/>
                <a:ea typeface="Arial"/>
                <a:cs typeface="Arial"/>
                <a:sym typeface="Arial"/>
              </a:rPr>
              <a:t>B</a:t>
            </a:r>
            <a:r>
              <a:rPr b="1" i="0" lang="en-US" sz="1800" u="none">
                <a:solidFill>
                  <a:schemeClr val="hlink"/>
                </a:solidFill>
                <a:latin typeface="Arial"/>
                <a:ea typeface="Arial"/>
                <a:cs typeface="Arial"/>
                <a:sym typeface="Arial"/>
              </a:rPr>
              <a:t> </a:t>
            </a:r>
          </a:p>
        </p:txBody>
      </p:sp>
      <p:sp>
        <p:nvSpPr>
          <p:cNvPr id="505" name="Shape 505"/>
          <p:cNvSpPr txBox="1"/>
          <p:nvPr/>
        </p:nvSpPr>
        <p:spPr>
          <a:xfrm>
            <a:off x="3429000" y="62484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Y</a:t>
            </a:r>
            <a:r>
              <a:rPr b="1" baseline="-25000" i="0" lang="en-US" sz="1800" u="none">
                <a:solidFill>
                  <a:schemeClr val="hlink"/>
                </a:solidFill>
                <a:latin typeface="Arial"/>
                <a:ea typeface="Arial"/>
                <a:cs typeface="Arial"/>
                <a:sym typeface="Arial"/>
              </a:rPr>
              <a:t>B´´</a:t>
            </a:r>
          </a:p>
        </p:txBody>
      </p:sp>
      <p:sp>
        <p:nvSpPr>
          <p:cNvPr id="506" name="Shape 506"/>
          <p:cNvSpPr txBox="1"/>
          <p:nvPr/>
        </p:nvSpPr>
        <p:spPr>
          <a:xfrm>
            <a:off x="4419600" y="3962400"/>
            <a:ext cx="1524000" cy="304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CURVA LM</a:t>
            </a:r>
          </a:p>
        </p:txBody>
      </p:sp>
      <p:cxnSp>
        <p:nvCxnSpPr>
          <p:cNvPr id="507" name="Shape 507"/>
          <p:cNvCxnSpPr/>
          <p:nvPr/>
        </p:nvCxnSpPr>
        <p:spPr>
          <a:xfrm>
            <a:off x="3733800" y="5334000"/>
            <a:ext cx="0" cy="990599"/>
          </a:xfrm>
          <a:prstGeom prst="straightConnector1">
            <a:avLst/>
          </a:prstGeom>
          <a:noFill/>
          <a:ln cap="rnd" cmpd="sng" w="9525">
            <a:solidFill>
              <a:schemeClr val="dk1"/>
            </a:solidFill>
            <a:prstDash val="solid"/>
            <a:miter/>
            <a:headEnd len="med" w="med" type="none"/>
            <a:tailEnd len="med" w="med" type="none"/>
          </a:ln>
        </p:spPr>
      </p:cxnSp>
      <p:cxnSp>
        <p:nvCxnSpPr>
          <p:cNvPr id="508" name="Shape 508"/>
          <p:cNvCxnSpPr/>
          <p:nvPr/>
        </p:nvCxnSpPr>
        <p:spPr>
          <a:xfrm>
            <a:off x="2819400" y="5334000"/>
            <a:ext cx="0" cy="990599"/>
          </a:xfrm>
          <a:prstGeom prst="straightConnector1">
            <a:avLst/>
          </a:prstGeom>
          <a:noFill/>
          <a:ln cap="rnd" cmpd="sng" w="9525">
            <a:solidFill>
              <a:schemeClr val="dk1"/>
            </a:solidFill>
            <a:prstDash val="solid"/>
            <a:miter/>
            <a:headEnd len="med" w="med" type="oval"/>
            <a:tailEnd len="med" w="med" type="none"/>
          </a:ln>
        </p:spPr>
      </p:cxnSp>
      <p:sp>
        <p:nvSpPr>
          <p:cNvPr id="509" name="Shape 509"/>
          <p:cNvSpPr txBox="1"/>
          <p:nvPr/>
        </p:nvSpPr>
        <p:spPr>
          <a:xfrm>
            <a:off x="2667000" y="4953000"/>
            <a:ext cx="381000" cy="38258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B</a:t>
            </a:r>
          </a:p>
        </p:txBody>
      </p:sp>
      <p:cxnSp>
        <p:nvCxnSpPr>
          <p:cNvPr id="510" name="Shape 510"/>
          <p:cNvCxnSpPr/>
          <p:nvPr/>
        </p:nvCxnSpPr>
        <p:spPr>
          <a:xfrm>
            <a:off x="2819400" y="5334000"/>
            <a:ext cx="0" cy="609599"/>
          </a:xfrm>
          <a:prstGeom prst="straightConnector1">
            <a:avLst/>
          </a:prstGeom>
          <a:noFill/>
          <a:ln cap="flat" cmpd="sng" w="28575">
            <a:solidFill>
              <a:schemeClr val="dk1"/>
            </a:solidFill>
            <a:prstDash val="solid"/>
            <a:miter/>
            <a:headEnd len="med" w="med" type="none"/>
            <a:tailEnd len="lg" w="lg" type="stealth"/>
          </a:ln>
        </p:spPr>
      </p:cxnSp>
      <p:sp>
        <p:nvSpPr>
          <p:cNvPr id="511" name="Shape 511"/>
          <p:cNvSpPr txBox="1"/>
          <p:nvPr/>
        </p:nvSpPr>
        <p:spPr>
          <a:xfrm>
            <a:off x="2514600" y="62484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Y</a:t>
            </a:r>
            <a:r>
              <a:rPr b="1" baseline="-25000" i="0" lang="en-US" sz="1800" u="none">
                <a:solidFill>
                  <a:schemeClr val="hlink"/>
                </a:solidFill>
                <a:latin typeface="Arial"/>
                <a:ea typeface="Arial"/>
                <a:cs typeface="Arial"/>
                <a:sym typeface="Arial"/>
              </a:rPr>
              <a:t>B</a:t>
            </a:r>
          </a:p>
        </p:txBody>
      </p:sp>
      <p:sp>
        <p:nvSpPr>
          <p:cNvPr id="512" name="Shape 512"/>
          <p:cNvSpPr txBox="1"/>
          <p:nvPr/>
        </p:nvSpPr>
        <p:spPr>
          <a:xfrm>
            <a:off x="1066800" y="4267200"/>
            <a:ext cx="2971799"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Font typeface="Calibri"/>
              <a:buNone/>
            </a:pPr>
            <a:r>
              <a:t/>
            </a:r>
            <a:endParaRPr b="1" i="0" sz="1400" u="none">
              <a:solidFill>
                <a:schemeClr val="hlink"/>
              </a:solidFill>
              <a:latin typeface="Arial"/>
              <a:ea typeface="Arial"/>
              <a:cs typeface="Arial"/>
              <a:sym typeface="Arial"/>
            </a:endParaRPr>
          </a:p>
          <a:p>
            <a:pPr indent="0" lvl="0" marL="0" marR="0" rtl="0" algn="ctr">
              <a:lnSpc>
                <a:spcPct val="100000"/>
              </a:lnSpc>
              <a:spcBef>
                <a:spcPts val="0"/>
              </a:spcBef>
              <a:spcAft>
                <a:spcPts val="0"/>
              </a:spcAft>
              <a:buClr>
                <a:schemeClr val="hlink"/>
              </a:buClr>
              <a:buSzPct val="25000"/>
              <a:buFont typeface="Arial"/>
              <a:buNone/>
            </a:pPr>
            <a:r>
              <a:rPr b="1" i="0" lang="en-US" sz="1400" u="none">
                <a:solidFill>
                  <a:schemeClr val="hlink"/>
                </a:solidFill>
                <a:latin typeface="Arial"/>
                <a:ea typeface="Arial"/>
                <a:cs typeface="Arial"/>
                <a:sym typeface="Arial"/>
              </a:rPr>
              <a:t>EXCESO DE OFERTA MONETARIA</a:t>
            </a:r>
          </a:p>
        </p:txBody>
      </p:sp>
      <p:cxnSp>
        <p:nvCxnSpPr>
          <p:cNvPr id="513" name="Shape 513"/>
          <p:cNvCxnSpPr/>
          <p:nvPr/>
        </p:nvCxnSpPr>
        <p:spPr>
          <a:xfrm>
            <a:off x="838200" y="5334000"/>
            <a:ext cx="1981199" cy="1587"/>
          </a:xfrm>
          <a:prstGeom prst="straightConnector1">
            <a:avLst/>
          </a:prstGeom>
          <a:noFill/>
          <a:ln cap="rnd" cmpd="sng" w="9525">
            <a:solidFill>
              <a:schemeClr val="dk1"/>
            </a:solidFill>
            <a:prstDash val="solid"/>
            <a:miter/>
            <a:headEnd len="med" w="med" type="none"/>
            <a:tailEnd len="med" w="med" type="oval"/>
          </a:ln>
        </p:spPr>
      </p:cxnSp>
      <p:sp>
        <p:nvSpPr>
          <p:cNvPr id="514" name="Shape 514"/>
          <p:cNvSpPr txBox="1"/>
          <p:nvPr/>
        </p:nvSpPr>
        <p:spPr>
          <a:xfrm>
            <a:off x="609600" y="56388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i</a:t>
            </a:r>
            <a:r>
              <a:rPr b="1" baseline="-25000" i="0" lang="en-US" sz="1800" u="none">
                <a:solidFill>
                  <a:schemeClr val="hlink"/>
                </a:solidFill>
                <a:latin typeface="Arial"/>
                <a:ea typeface="Arial"/>
                <a:cs typeface="Arial"/>
                <a:sym typeface="Arial"/>
              </a:rPr>
              <a:t>B´</a:t>
            </a:r>
            <a:r>
              <a:rPr b="1" i="0" lang="en-US" sz="1800" u="none">
                <a:solidFill>
                  <a:schemeClr val="hlink"/>
                </a:solidFill>
                <a:latin typeface="Arial"/>
                <a:ea typeface="Arial"/>
                <a:cs typeface="Arial"/>
                <a:sym typeface="Arial"/>
              </a:rPr>
              <a:t> </a:t>
            </a:r>
          </a:p>
        </p:txBody>
      </p:sp>
      <p:cxnSp>
        <p:nvCxnSpPr>
          <p:cNvPr id="515" name="Shape 515"/>
          <p:cNvCxnSpPr/>
          <p:nvPr/>
        </p:nvCxnSpPr>
        <p:spPr>
          <a:xfrm>
            <a:off x="838200" y="5942012"/>
            <a:ext cx="1981199" cy="1587"/>
          </a:xfrm>
          <a:prstGeom prst="straightConnector1">
            <a:avLst/>
          </a:prstGeom>
          <a:noFill/>
          <a:ln cap="rnd" cmpd="sng" w="9525">
            <a:solidFill>
              <a:schemeClr val="dk1"/>
            </a:solidFill>
            <a:prstDash val="solid"/>
            <a:miter/>
            <a:headEnd len="med" w="med" type="none"/>
            <a:tailEnd len="med" w="med" type="oval"/>
          </a:ln>
        </p:spPr>
      </p:cxnSp>
      <p:cxnSp>
        <p:nvCxnSpPr>
          <p:cNvPr id="516" name="Shape 516"/>
          <p:cNvCxnSpPr/>
          <p:nvPr/>
        </p:nvCxnSpPr>
        <p:spPr>
          <a:xfrm>
            <a:off x="2819400" y="5334000"/>
            <a:ext cx="914400" cy="0"/>
          </a:xfrm>
          <a:prstGeom prst="straightConnector1">
            <a:avLst/>
          </a:prstGeom>
          <a:noFill/>
          <a:ln cap="flat" cmpd="sng" w="25400">
            <a:solidFill>
              <a:schemeClr val="dk1"/>
            </a:solidFill>
            <a:prstDash val="solid"/>
            <a:miter/>
            <a:headEnd len="med" w="med" type="none"/>
            <a:tailEnd len="lg" w="lg" type="stealth"/>
          </a:ln>
        </p:spPr>
      </p:cxnSp>
      <p:sp>
        <p:nvSpPr>
          <p:cNvPr id="517" name="Shape 517"/>
          <p:cNvSpPr txBox="1"/>
          <p:nvPr/>
        </p:nvSpPr>
        <p:spPr>
          <a:xfrm>
            <a:off x="3505200" y="4953000"/>
            <a:ext cx="381000" cy="38258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B´´</a:t>
            </a:r>
          </a:p>
        </p:txBody>
      </p:sp>
      <p:sp>
        <p:nvSpPr>
          <p:cNvPr id="518" name="Shape 518"/>
          <p:cNvSpPr txBox="1"/>
          <p:nvPr/>
        </p:nvSpPr>
        <p:spPr>
          <a:xfrm>
            <a:off x="2438400" y="5637212"/>
            <a:ext cx="381000" cy="38258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B´</a:t>
            </a:r>
          </a:p>
        </p:txBody>
      </p:sp>
      <p:sp>
        <p:nvSpPr>
          <p:cNvPr id="519" name="Shape 519"/>
          <p:cNvSpPr txBox="1"/>
          <p:nvPr/>
        </p:nvSpPr>
        <p:spPr>
          <a:xfrm>
            <a:off x="533400" y="1447800"/>
            <a:ext cx="6629400" cy="20574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hlink"/>
              </a:buClr>
              <a:buSzPct val="25000"/>
              <a:buFont typeface="Arial"/>
              <a:buNone/>
            </a:pPr>
            <a:r>
              <a:rPr b="1" i="0" lang="en-US" sz="1800" u="none">
                <a:solidFill>
                  <a:schemeClr val="hlink"/>
                </a:solidFill>
                <a:latin typeface="Arial"/>
                <a:ea typeface="Arial"/>
                <a:cs typeface="Arial"/>
                <a:sym typeface="Arial"/>
              </a:rPr>
              <a:t>ECUACIÓN LM (MERCADO DEL DINERO)</a:t>
            </a:r>
          </a:p>
          <a:p>
            <a:pPr indent="0" lvl="0" marL="0" marR="0" rtl="0" algn="l">
              <a:lnSpc>
                <a:spcPct val="100000"/>
              </a:lnSpc>
              <a:spcBef>
                <a:spcPts val="0"/>
              </a:spcBef>
              <a:spcAft>
                <a:spcPts val="0"/>
              </a:spcAft>
              <a:buClr>
                <a:schemeClr val="dk1"/>
              </a:buClr>
              <a:buSzPct val="25000"/>
              <a:buFont typeface="Arial"/>
              <a:buNone/>
            </a:pPr>
            <a:r>
              <a:rPr b="1" i="0" lang="en-US" sz="2000" u="none">
                <a:solidFill>
                  <a:schemeClr val="dk1"/>
                </a:solidFill>
                <a:latin typeface="Arial"/>
                <a:ea typeface="Arial"/>
                <a:cs typeface="Arial"/>
                <a:sym typeface="Arial"/>
              </a:rPr>
              <a:t>i = (L</a:t>
            </a:r>
            <a:r>
              <a:rPr b="1" baseline="-25000" i="0" lang="en-US" sz="2000" u="none">
                <a:solidFill>
                  <a:schemeClr val="dk1"/>
                </a:solidFill>
                <a:latin typeface="Arial"/>
                <a:ea typeface="Arial"/>
                <a:cs typeface="Arial"/>
                <a:sym typeface="Arial"/>
              </a:rPr>
              <a:t>0</a:t>
            </a:r>
            <a:r>
              <a:rPr b="1" i="0" lang="en-US" sz="2000" u="none">
                <a:solidFill>
                  <a:schemeClr val="dk1"/>
                </a:solidFill>
                <a:latin typeface="Arial"/>
                <a:ea typeface="Arial"/>
                <a:cs typeface="Arial"/>
                <a:sym typeface="Arial"/>
              </a:rPr>
              <a:t> – (OM/NP))/h + </a:t>
            </a:r>
            <a:r>
              <a:rPr b="1" i="0" lang="en-US" sz="1800" u="none">
                <a:solidFill>
                  <a:schemeClr val="dk1"/>
                </a:solidFill>
                <a:latin typeface="Arial"/>
                <a:ea typeface="Arial"/>
                <a:cs typeface="Arial"/>
                <a:sym typeface="Arial"/>
              </a:rPr>
              <a:t>(k/h) * Y</a:t>
            </a:r>
          </a:p>
          <a:p>
            <a:pPr indent="0" lvl="0" marL="0" marR="0" rtl="0" algn="l">
              <a:lnSpc>
                <a:spcPct val="100000"/>
              </a:lnSpc>
              <a:spcBef>
                <a:spcPts val="0"/>
              </a:spcBef>
              <a:spcAft>
                <a:spcPts val="0"/>
              </a:spcAft>
              <a:buClr>
                <a:srgbClr val="FF0000"/>
              </a:buClr>
              <a:buSzPct val="25000"/>
              <a:buFont typeface="Arial"/>
              <a:buNone/>
            </a:pPr>
            <a:r>
              <a:rPr b="1" i="0" lang="en-US" sz="1800" u="none">
                <a:solidFill>
                  <a:srgbClr val="FF0000"/>
                </a:solidFill>
                <a:latin typeface="Arial"/>
                <a:ea typeface="Arial"/>
                <a:cs typeface="Arial"/>
                <a:sym typeface="Arial"/>
              </a:rPr>
              <a:t>k = Sensibilidad de la demanda de dinero al nivel de renta </a:t>
            </a:r>
            <a:br>
              <a:rPr b="1" i="0" lang="en-US" sz="1800" u="none">
                <a:solidFill>
                  <a:srgbClr val="FF0000"/>
                </a:solidFill>
                <a:latin typeface="Arial"/>
                <a:ea typeface="Arial"/>
                <a:cs typeface="Arial"/>
                <a:sym typeface="Arial"/>
              </a:rPr>
            </a:br>
            <a:r>
              <a:rPr b="1" i="0" lang="en-US" sz="1800" u="none">
                <a:solidFill>
                  <a:srgbClr val="FF0000"/>
                </a:solidFill>
                <a:latin typeface="Arial"/>
                <a:ea typeface="Arial"/>
                <a:cs typeface="Arial"/>
                <a:sym typeface="Arial"/>
              </a:rPr>
              <a:t>h = Sensibilidad de la demanda de dinero al tipo de interés.</a:t>
            </a:r>
            <a:r>
              <a:rPr b="0" i="0" lang="en-US" sz="1800" u="none">
                <a:solidFill>
                  <a:schemeClr val="dk1"/>
                </a:solidFill>
                <a:latin typeface="Arial"/>
                <a:ea typeface="Arial"/>
                <a:cs typeface="Arial"/>
                <a:sym typeface="Arial"/>
              </a:rPr>
              <a:t> </a:t>
            </a:r>
          </a:p>
          <a:p>
            <a:pPr indent="0" lvl="0" marL="0" marR="0" rtl="0" algn="l">
              <a:lnSpc>
                <a:spcPct val="100000"/>
              </a:lnSpc>
              <a:spcBef>
                <a:spcPts val="0"/>
              </a:spcBef>
              <a:spcAft>
                <a:spcPts val="0"/>
              </a:spcAft>
              <a:buClr>
                <a:srgbClr val="FF0000"/>
              </a:buClr>
              <a:buSzPct val="25000"/>
              <a:buFont typeface="Arial"/>
              <a:buNone/>
            </a:pPr>
            <a:r>
              <a:rPr b="1" i="0" lang="en-US" sz="1800" u="none">
                <a:solidFill>
                  <a:srgbClr val="FF0000"/>
                </a:solidFill>
                <a:latin typeface="Arial"/>
                <a:ea typeface="Arial"/>
                <a:cs typeface="Arial"/>
                <a:sym typeface="Arial"/>
              </a:rPr>
              <a:t>OM = Oferta monetaria nominal</a:t>
            </a:r>
            <a:br>
              <a:rPr b="1" i="0" lang="en-US" sz="1800" u="none">
                <a:solidFill>
                  <a:srgbClr val="FF0000"/>
                </a:solidFill>
                <a:latin typeface="Arial"/>
                <a:ea typeface="Arial"/>
                <a:cs typeface="Arial"/>
                <a:sym typeface="Arial"/>
              </a:rPr>
            </a:br>
            <a:r>
              <a:rPr b="1" i="0" lang="en-US" sz="1800" u="none">
                <a:solidFill>
                  <a:srgbClr val="FF0000"/>
                </a:solidFill>
                <a:latin typeface="Arial"/>
                <a:ea typeface="Arial"/>
                <a:cs typeface="Arial"/>
                <a:sym typeface="Arial"/>
              </a:rPr>
              <a:t>NP = Nivel de precios</a:t>
            </a:r>
          </a:p>
          <a:p>
            <a:pPr indent="0" lvl="0" marL="0" marR="0" rtl="0" algn="l">
              <a:lnSpc>
                <a:spcPct val="100000"/>
              </a:lnSpc>
              <a:spcBef>
                <a:spcPts val="0"/>
              </a:spcBef>
              <a:spcAft>
                <a:spcPts val="0"/>
              </a:spcAft>
              <a:buClr>
                <a:srgbClr val="FF0000"/>
              </a:buClr>
              <a:buSzPct val="25000"/>
              <a:buFont typeface="Arial"/>
              <a:buNone/>
            </a:pPr>
            <a:r>
              <a:rPr b="1" i="0" lang="en-US" sz="1800" u="none">
                <a:solidFill>
                  <a:srgbClr val="FF0000"/>
                </a:solidFill>
                <a:latin typeface="Arial"/>
                <a:ea typeface="Arial"/>
                <a:cs typeface="Arial"/>
                <a:sym typeface="Arial"/>
              </a:rPr>
              <a:t>L</a:t>
            </a:r>
            <a:r>
              <a:rPr b="1" baseline="-25000" i="0" lang="en-US" sz="1800" u="none">
                <a:solidFill>
                  <a:srgbClr val="FF0000"/>
                </a:solidFill>
                <a:latin typeface="Arial"/>
                <a:ea typeface="Arial"/>
                <a:cs typeface="Arial"/>
                <a:sym typeface="Arial"/>
              </a:rPr>
              <a:t>0</a:t>
            </a:r>
            <a:r>
              <a:rPr b="1" i="0" lang="en-US" sz="1800" u="none">
                <a:solidFill>
                  <a:srgbClr val="FF0000"/>
                </a:solidFill>
                <a:latin typeface="Arial"/>
                <a:ea typeface="Arial"/>
                <a:cs typeface="Arial"/>
                <a:sym typeface="Arial"/>
              </a:rPr>
              <a:t> = Suma total de fondos especulativos</a:t>
            </a:r>
          </a:p>
        </p:txBody>
      </p:sp>
    </p:spTree>
  </p:cSld>
  <p:clrMapOvr>
    <a:masterClrMapping/>
  </p:clrMapOvr>
  <p:transition spd="slow">
    <p:cut/>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23" name="Shape 523"/>
        <p:cNvGrpSpPr/>
        <p:nvPr/>
      </p:nvGrpSpPr>
      <p:grpSpPr>
        <a:xfrm>
          <a:off x="0" y="0"/>
          <a:ext cx="0" cy="0"/>
          <a:chOff x="0" y="0"/>
          <a:chExt cx="0" cy="0"/>
        </a:xfrm>
      </p:grpSpPr>
      <p:pic>
        <p:nvPicPr>
          <p:cNvPr id="524" name="Shape 524"/>
          <p:cNvPicPr preferRelativeResize="0"/>
          <p:nvPr/>
        </p:nvPicPr>
        <p:blipFill rotWithShape="1">
          <a:blip r:embed="rId4">
            <a:alphaModFix/>
          </a:blip>
          <a:srcRect b="0" l="0" r="0" t="0"/>
          <a:stretch/>
        </p:blipFill>
        <p:spPr>
          <a:xfrm>
            <a:off x="263525" y="1085850"/>
            <a:ext cx="8610599" cy="209549"/>
          </a:xfrm>
          <a:prstGeom prst="rect">
            <a:avLst/>
          </a:prstGeom>
          <a:noFill/>
          <a:ln>
            <a:noFill/>
          </a:ln>
        </p:spPr>
      </p:pic>
      <p:pic>
        <p:nvPicPr>
          <p:cNvPr id="525" name="Shape 525"/>
          <p:cNvPicPr preferRelativeResize="0"/>
          <p:nvPr/>
        </p:nvPicPr>
        <p:blipFill rotWithShape="1">
          <a:blip r:embed="rId5">
            <a:alphaModFix/>
          </a:blip>
          <a:srcRect b="0" l="0" r="0" t="0"/>
          <a:stretch/>
        </p:blipFill>
        <p:spPr>
          <a:xfrm>
            <a:off x="415925" y="306387"/>
            <a:ext cx="3013074" cy="608011"/>
          </a:xfrm>
          <a:prstGeom prst="rect">
            <a:avLst/>
          </a:prstGeom>
          <a:noFill/>
          <a:ln>
            <a:noFill/>
          </a:ln>
        </p:spPr>
      </p:pic>
      <p:sp>
        <p:nvSpPr>
          <p:cNvPr id="526" name="Shape 526"/>
          <p:cNvSpPr txBox="1"/>
          <p:nvPr/>
        </p:nvSpPr>
        <p:spPr>
          <a:xfrm>
            <a:off x="1524000" y="2984500"/>
            <a:ext cx="6019799" cy="1739899"/>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3600" u="none">
                <a:solidFill>
                  <a:srgbClr val="BB4F59"/>
                </a:solidFill>
                <a:latin typeface="Arial"/>
                <a:ea typeface="Arial"/>
                <a:cs typeface="Arial"/>
                <a:sym typeface="Arial"/>
              </a:rPr>
              <a:t>MERCADO</a:t>
            </a:r>
          </a:p>
          <a:p>
            <a:pPr indent="0" lvl="0" marL="0" marR="0" rtl="0" algn="ctr">
              <a:lnSpc>
                <a:spcPct val="100000"/>
              </a:lnSpc>
              <a:spcBef>
                <a:spcPts val="0"/>
              </a:spcBef>
              <a:spcAft>
                <a:spcPts val="0"/>
              </a:spcAft>
              <a:buClr>
                <a:srgbClr val="BB4F59"/>
              </a:buClr>
              <a:buSzPct val="25000"/>
              <a:buFont typeface="Arial"/>
              <a:buNone/>
            </a:pPr>
            <a:r>
              <a:rPr b="1" i="0" lang="en-US" sz="3600" u="none">
                <a:solidFill>
                  <a:srgbClr val="BB4F59"/>
                </a:solidFill>
                <a:latin typeface="Arial"/>
                <a:ea typeface="Arial"/>
                <a:cs typeface="Arial"/>
                <a:sym typeface="Arial"/>
              </a:rPr>
              <a:t>BIENES Y SERVICIOS</a:t>
            </a:r>
          </a:p>
          <a:p>
            <a:pPr indent="0" lvl="0" marL="0" marR="0" rtl="0" algn="l">
              <a:lnSpc>
                <a:spcPct val="100000"/>
              </a:lnSpc>
              <a:spcBef>
                <a:spcPts val="0"/>
              </a:spcBef>
              <a:spcAft>
                <a:spcPts val="0"/>
              </a:spcAft>
              <a:buNone/>
            </a:pPr>
            <a:r>
              <a:t/>
            </a:r>
            <a:endParaRPr b="1" i="0" sz="3600" u="none">
              <a:solidFill>
                <a:srgbClr val="BB4F59"/>
              </a:solidFill>
              <a:latin typeface="Arial"/>
              <a:ea typeface="Arial"/>
              <a:cs typeface="Arial"/>
              <a:sym typeface="Arial"/>
            </a:endParaRPr>
          </a:p>
        </p:txBody>
      </p:sp>
      <p:sp>
        <p:nvSpPr>
          <p:cNvPr id="527" name="Shape 527"/>
          <p:cNvSpPr txBox="1"/>
          <p:nvPr/>
        </p:nvSpPr>
        <p:spPr>
          <a:xfrm>
            <a:off x="304800" y="1524000"/>
            <a:ext cx="8610599" cy="5035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Tree>
  </p:cSld>
  <p:clrMapOvr>
    <a:masterClrMapping/>
  </p:clrMapOvr>
  <p:transition spd="slow">
    <p:cut/>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31" name="Shape 531"/>
        <p:cNvGrpSpPr/>
        <p:nvPr/>
      </p:nvGrpSpPr>
      <p:grpSpPr>
        <a:xfrm>
          <a:off x="0" y="0"/>
          <a:ext cx="0" cy="0"/>
          <a:chOff x="0" y="0"/>
          <a:chExt cx="0" cy="0"/>
        </a:xfrm>
      </p:grpSpPr>
      <p:pic>
        <p:nvPicPr>
          <p:cNvPr id="532" name="Shape 532"/>
          <p:cNvPicPr preferRelativeResize="0"/>
          <p:nvPr/>
        </p:nvPicPr>
        <p:blipFill rotWithShape="1">
          <a:blip r:embed="rId3">
            <a:alphaModFix/>
          </a:blip>
          <a:srcRect b="0" l="0" r="0" t="0"/>
          <a:stretch/>
        </p:blipFill>
        <p:spPr>
          <a:xfrm>
            <a:off x="263525" y="933450"/>
            <a:ext cx="8610599" cy="209549"/>
          </a:xfrm>
          <a:prstGeom prst="rect">
            <a:avLst/>
          </a:prstGeom>
          <a:noFill/>
          <a:ln>
            <a:noFill/>
          </a:ln>
        </p:spPr>
      </p:pic>
      <p:pic>
        <p:nvPicPr>
          <p:cNvPr id="533" name="Shape 533"/>
          <p:cNvPicPr preferRelativeResize="0"/>
          <p:nvPr/>
        </p:nvPicPr>
        <p:blipFill rotWithShape="1">
          <a:blip r:embed="rId4">
            <a:alphaModFix/>
          </a:blip>
          <a:srcRect b="0" l="0" r="0" t="0"/>
          <a:stretch/>
        </p:blipFill>
        <p:spPr>
          <a:xfrm>
            <a:off x="255587" y="306387"/>
            <a:ext cx="3013074" cy="608011"/>
          </a:xfrm>
          <a:prstGeom prst="rect">
            <a:avLst/>
          </a:prstGeom>
          <a:noFill/>
          <a:ln>
            <a:noFill/>
          </a:ln>
        </p:spPr>
      </p:pic>
      <p:sp>
        <p:nvSpPr>
          <p:cNvPr id="534" name="Shape 534"/>
          <p:cNvSpPr txBox="1"/>
          <p:nvPr/>
        </p:nvSpPr>
        <p:spPr>
          <a:xfrm>
            <a:off x="2895600" y="76200"/>
            <a:ext cx="6096000"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a:solidFill>
                  <a:srgbClr val="BB4F59"/>
                </a:solidFill>
                <a:latin typeface="Arial"/>
                <a:ea typeface="Arial"/>
                <a:cs typeface="Arial"/>
                <a:sym typeface="Arial"/>
              </a:rPr>
              <a:t>VARIABLES MACROECONÓMICAS DEL MERCADO DE BIENES Y SERVICIOS</a:t>
            </a:r>
          </a:p>
        </p:txBody>
      </p:sp>
      <p:sp>
        <p:nvSpPr>
          <p:cNvPr id="535" name="Shape 535"/>
          <p:cNvSpPr txBox="1"/>
          <p:nvPr/>
        </p:nvSpPr>
        <p:spPr>
          <a:xfrm>
            <a:off x="268287" y="1516062"/>
            <a:ext cx="8610599" cy="5035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536" name="Shape 536"/>
          <p:cNvSpPr txBox="1"/>
          <p:nvPr/>
        </p:nvSpPr>
        <p:spPr>
          <a:xfrm>
            <a:off x="769937" y="2605086"/>
            <a:ext cx="2430462" cy="366711"/>
          </a:xfrm>
          <a:prstGeom prst="rect">
            <a:avLst/>
          </a:prstGeom>
          <a:solidFill>
            <a:srgbClr val="FFFFFF"/>
          </a:solidFill>
          <a:ln>
            <a:noFill/>
          </a:ln>
        </p:spPr>
        <p:txBody>
          <a:bodyPr anchorCtr="0" anchor="t" bIns="45700" lIns="91425" rIns="91425" tIns="45700">
            <a:noAutofit/>
          </a:bodyPr>
          <a:lstStyle/>
          <a:p>
            <a:pPr indent="0" lvl="0" marL="0" marR="0" rtl="0" algn="r">
              <a:lnSpc>
                <a:spcPct val="100000"/>
              </a:lnSpc>
              <a:spcBef>
                <a:spcPts val="0"/>
              </a:spcBef>
              <a:spcAft>
                <a:spcPts val="0"/>
              </a:spcAft>
              <a:buClr>
                <a:srgbClr val="008000"/>
              </a:buClr>
              <a:buSzPct val="25000"/>
              <a:buFont typeface="Arial"/>
              <a:buNone/>
            </a:pPr>
            <a:r>
              <a:rPr b="1" i="0" lang="en-US" sz="1800" u="none">
                <a:solidFill>
                  <a:srgbClr val="008000"/>
                </a:solidFill>
                <a:latin typeface="Arial"/>
                <a:ea typeface="Arial"/>
                <a:cs typeface="Arial"/>
                <a:sym typeface="Arial"/>
              </a:rPr>
              <a:t>C = C</a:t>
            </a:r>
            <a:r>
              <a:rPr b="1" baseline="-25000" i="0" lang="en-US" sz="1800" u="none">
                <a:solidFill>
                  <a:srgbClr val="008000"/>
                </a:solidFill>
                <a:latin typeface="Arial"/>
                <a:ea typeface="Arial"/>
                <a:cs typeface="Arial"/>
                <a:sym typeface="Arial"/>
              </a:rPr>
              <a:t>0</a:t>
            </a:r>
            <a:r>
              <a:rPr b="1" i="0" lang="en-US" sz="1800" u="none">
                <a:solidFill>
                  <a:srgbClr val="008000"/>
                </a:solidFill>
                <a:latin typeface="Arial"/>
                <a:ea typeface="Arial"/>
                <a:cs typeface="Arial"/>
                <a:sym typeface="Arial"/>
              </a:rPr>
              <a:t> + P</a:t>
            </a:r>
            <a:r>
              <a:rPr b="1" baseline="-25000" i="0" lang="en-US" sz="1800" u="none">
                <a:solidFill>
                  <a:srgbClr val="008000"/>
                </a:solidFill>
                <a:latin typeface="Arial"/>
                <a:ea typeface="Arial"/>
                <a:cs typeface="Arial"/>
                <a:sym typeface="Arial"/>
              </a:rPr>
              <a:t>maC</a:t>
            </a:r>
            <a:r>
              <a:rPr b="1" i="0" lang="en-US" sz="1800" u="none">
                <a:solidFill>
                  <a:srgbClr val="008000"/>
                </a:solidFill>
                <a:latin typeface="Arial"/>
                <a:ea typeface="Arial"/>
                <a:cs typeface="Arial"/>
                <a:sym typeface="Arial"/>
              </a:rPr>
              <a:t>* (Y</a:t>
            </a:r>
            <a:r>
              <a:rPr b="1" baseline="-25000" i="0" lang="en-US" sz="1800" u="none">
                <a:solidFill>
                  <a:srgbClr val="008000"/>
                </a:solidFill>
                <a:latin typeface="Arial"/>
                <a:ea typeface="Arial"/>
                <a:cs typeface="Arial"/>
                <a:sym typeface="Arial"/>
              </a:rPr>
              <a:t> </a:t>
            </a:r>
            <a:r>
              <a:rPr b="1" i="0" lang="en-US" sz="1800" u="none">
                <a:solidFill>
                  <a:srgbClr val="008000"/>
                </a:solidFill>
                <a:latin typeface="Arial"/>
                <a:ea typeface="Arial"/>
                <a:cs typeface="Arial"/>
                <a:sym typeface="Arial"/>
              </a:rPr>
              <a:t>– T)</a:t>
            </a:r>
          </a:p>
        </p:txBody>
      </p:sp>
      <p:sp>
        <p:nvSpPr>
          <p:cNvPr id="537" name="Shape 537"/>
          <p:cNvSpPr txBox="1"/>
          <p:nvPr/>
        </p:nvSpPr>
        <p:spPr>
          <a:xfrm>
            <a:off x="3505200" y="4281487"/>
            <a:ext cx="1828800" cy="366711"/>
          </a:xfrm>
          <a:prstGeom prst="rect">
            <a:avLst/>
          </a:prstGeom>
          <a:solidFill>
            <a:srgbClr val="FFFFFF"/>
          </a:solidFill>
          <a:ln>
            <a:noFill/>
          </a:ln>
        </p:spPr>
        <p:txBody>
          <a:bodyPr anchorCtr="0" anchor="t" bIns="45700" lIns="91425" rIns="91425" tIns="45700">
            <a:noAutofit/>
          </a:bodyPr>
          <a:lstStyle/>
          <a:p>
            <a:pPr indent="0" lvl="0" marL="0" marR="0" rtl="0" algn="r">
              <a:lnSpc>
                <a:spcPct val="100000"/>
              </a:lnSpc>
              <a:spcBef>
                <a:spcPts val="0"/>
              </a:spcBef>
              <a:spcAft>
                <a:spcPts val="0"/>
              </a:spcAft>
              <a:buClr>
                <a:schemeClr val="dk1"/>
              </a:buClr>
              <a:buSzPct val="25000"/>
              <a:buFont typeface="Arial"/>
              <a:buNone/>
            </a:pPr>
            <a:r>
              <a:rPr b="1" i="0" lang="en-US" sz="1800" u="none">
                <a:solidFill>
                  <a:schemeClr val="dk1"/>
                </a:solidFill>
                <a:latin typeface="Arial"/>
                <a:ea typeface="Arial"/>
                <a:cs typeface="Arial"/>
                <a:sym typeface="Arial"/>
              </a:rPr>
              <a:t>I = I</a:t>
            </a:r>
            <a:r>
              <a:rPr b="1" baseline="-25000" i="0" lang="en-US" sz="1800" u="none">
                <a:solidFill>
                  <a:schemeClr val="dk1"/>
                </a:solidFill>
                <a:latin typeface="Arial"/>
                <a:ea typeface="Arial"/>
                <a:cs typeface="Arial"/>
                <a:sym typeface="Arial"/>
              </a:rPr>
              <a:t>0</a:t>
            </a:r>
            <a:r>
              <a:rPr b="1" i="0" lang="en-US" sz="1800" u="none">
                <a:solidFill>
                  <a:schemeClr val="dk1"/>
                </a:solidFill>
                <a:latin typeface="Arial"/>
                <a:ea typeface="Arial"/>
                <a:cs typeface="Arial"/>
                <a:sym typeface="Arial"/>
              </a:rPr>
              <a:t> – b * i</a:t>
            </a:r>
          </a:p>
        </p:txBody>
      </p:sp>
      <p:sp>
        <p:nvSpPr>
          <p:cNvPr id="538" name="Shape 538"/>
          <p:cNvSpPr txBox="1"/>
          <p:nvPr/>
        </p:nvSpPr>
        <p:spPr>
          <a:xfrm>
            <a:off x="7040561" y="4056062"/>
            <a:ext cx="1189037" cy="366711"/>
          </a:xfrm>
          <a:prstGeom prst="rect">
            <a:avLst/>
          </a:prstGeom>
          <a:solidFill>
            <a:srgbClr val="FFFFFF"/>
          </a:solidFill>
          <a:ln>
            <a:noFill/>
          </a:ln>
        </p:spPr>
        <p:txBody>
          <a:bodyPr anchorCtr="0" anchor="t" bIns="45700" lIns="91425" rIns="91425" tIns="45700">
            <a:noAutofit/>
          </a:bodyPr>
          <a:lstStyle/>
          <a:p>
            <a:pPr indent="0" lvl="0" marL="0" marR="0" rtl="0" algn="r">
              <a:lnSpc>
                <a:spcPct val="100000"/>
              </a:lnSpc>
              <a:spcBef>
                <a:spcPts val="0"/>
              </a:spcBef>
              <a:spcAft>
                <a:spcPts val="0"/>
              </a:spcAft>
              <a:buClr>
                <a:schemeClr val="dk1"/>
              </a:buClr>
              <a:buSzPct val="25000"/>
              <a:buFont typeface="Arial"/>
              <a:buNone/>
            </a:pPr>
            <a:r>
              <a:rPr b="1" i="0" lang="en-US" sz="1800" u="none">
                <a:solidFill>
                  <a:schemeClr val="dk1"/>
                </a:solidFill>
                <a:latin typeface="Arial"/>
                <a:ea typeface="Arial"/>
                <a:cs typeface="Arial"/>
                <a:sym typeface="Arial"/>
              </a:rPr>
              <a:t>GP = GP</a:t>
            </a:r>
            <a:r>
              <a:rPr b="1" baseline="-25000" i="0" lang="en-US" sz="1800" u="none">
                <a:solidFill>
                  <a:schemeClr val="dk1"/>
                </a:solidFill>
                <a:latin typeface="Arial"/>
                <a:ea typeface="Arial"/>
                <a:cs typeface="Arial"/>
                <a:sym typeface="Arial"/>
              </a:rPr>
              <a:t>0</a:t>
            </a:r>
          </a:p>
        </p:txBody>
      </p:sp>
      <p:sp>
        <p:nvSpPr>
          <p:cNvPr id="539" name="Shape 539"/>
          <p:cNvSpPr txBox="1"/>
          <p:nvPr/>
        </p:nvSpPr>
        <p:spPr>
          <a:xfrm>
            <a:off x="5462587" y="2249486"/>
            <a:ext cx="2105024" cy="366711"/>
          </a:xfrm>
          <a:prstGeom prst="rect">
            <a:avLst/>
          </a:prstGeom>
          <a:solidFill>
            <a:srgbClr val="FFFFFF"/>
          </a:solidFill>
          <a:ln>
            <a:noFill/>
          </a:ln>
        </p:spPr>
        <p:txBody>
          <a:bodyPr anchorCtr="0" anchor="t" bIns="45700" lIns="91425" rIns="91425" tIns="45700">
            <a:noAutofit/>
          </a:bodyPr>
          <a:lstStyle/>
          <a:p>
            <a:pPr indent="0" lvl="0" marL="0" marR="0" rtl="0" algn="r">
              <a:lnSpc>
                <a:spcPct val="100000"/>
              </a:lnSpc>
              <a:spcBef>
                <a:spcPts val="0"/>
              </a:spcBef>
              <a:spcAft>
                <a:spcPts val="0"/>
              </a:spcAft>
              <a:buClr>
                <a:schemeClr val="dk1"/>
              </a:buClr>
              <a:buSzPct val="25000"/>
              <a:buFont typeface="Arial"/>
              <a:buNone/>
            </a:pPr>
            <a:r>
              <a:rPr b="1" i="0" lang="en-US" sz="1800" u="none">
                <a:solidFill>
                  <a:schemeClr val="dk1"/>
                </a:solidFill>
                <a:latin typeface="Arial"/>
                <a:ea typeface="Arial"/>
                <a:cs typeface="Arial"/>
                <a:sym typeface="Arial"/>
              </a:rPr>
              <a:t>T</a:t>
            </a:r>
            <a:r>
              <a:rPr b="1" baseline="-25000" i="0" lang="en-US" sz="1800" u="none">
                <a:solidFill>
                  <a:schemeClr val="dk1"/>
                </a:solidFill>
                <a:latin typeface="Arial"/>
                <a:ea typeface="Arial"/>
                <a:cs typeface="Arial"/>
                <a:sym typeface="Arial"/>
              </a:rPr>
              <a:t>X</a:t>
            </a:r>
            <a:r>
              <a:rPr b="1" i="0" lang="en-US" sz="1800" u="none">
                <a:solidFill>
                  <a:schemeClr val="dk1"/>
                </a:solidFill>
                <a:latin typeface="Arial"/>
                <a:ea typeface="Arial"/>
                <a:cs typeface="Arial"/>
                <a:sym typeface="Arial"/>
              </a:rPr>
              <a:t> = T</a:t>
            </a:r>
            <a:r>
              <a:rPr b="1" baseline="-25000" i="0" lang="en-US" sz="1800" u="none">
                <a:solidFill>
                  <a:schemeClr val="dk1"/>
                </a:solidFill>
                <a:latin typeface="Arial"/>
                <a:ea typeface="Arial"/>
                <a:cs typeface="Arial"/>
                <a:sym typeface="Arial"/>
              </a:rPr>
              <a:t>X0</a:t>
            </a:r>
            <a:r>
              <a:rPr b="1" i="0" lang="en-US" sz="1800" u="none">
                <a:solidFill>
                  <a:schemeClr val="dk1"/>
                </a:solidFill>
                <a:latin typeface="Arial"/>
                <a:ea typeface="Arial"/>
                <a:cs typeface="Arial"/>
                <a:sym typeface="Arial"/>
              </a:rPr>
              <a:t> + P</a:t>
            </a:r>
            <a:r>
              <a:rPr b="1" baseline="-25000" i="0" lang="en-US" sz="1800" u="none">
                <a:solidFill>
                  <a:schemeClr val="dk1"/>
                </a:solidFill>
                <a:latin typeface="Arial"/>
                <a:ea typeface="Arial"/>
                <a:cs typeface="Arial"/>
                <a:sym typeface="Arial"/>
              </a:rPr>
              <a:t>maT</a:t>
            </a:r>
            <a:r>
              <a:rPr b="1" i="0" lang="en-US" sz="1800" u="none">
                <a:solidFill>
                  <a:schemeClr val="dk1"/>
                </a:solidFill>
                <a:latin typeface="Arial"/>
                <a:ea typeface="Arial"/>
                <a:cs typeface="Arial"/>
                <a:sym typeface="Arial"/>
              </a:rPr>
              <a:t> * Y</a:t>
            </a:r>
          </a:p>
        </p:txBody>
      </p:sp>
      <p:sp>
        <p:nvSpPr>
          <p:cNvPr id="540" name="Shape 540"/>
          <p:cNvSpPr txBox="1"/>
          <p:nvPr/>
        </p:nvSpPr>
        <p:spPr>
          <a:xfrm>
            <a:off x="7888286" y="2757486"/>
            <a:ext cx="1027111" cy="366711"/>
          </a:xfrm>
          <a:prstGeom prst="rect">
            <a:avLst/>
          </a:prstGeom>
          <a:solidFill>
            <a:srgbClr val="FFFFFF"/>
          </a:solidFill>
          <a:ln>
            <a:noFill/>
          </a:ln>
        </p:spPr>
        <p:txBody>
          <a:bodyPr anchorCtr="0" anchor="t" bIns="45700" lIns="91425" rIns="91425" tIns="45700">
            <a:noAutofit/>
          </a:bodyPr>
          <a:lstStyle/>
          <a:p>
            <a:pPr indent="0" lvl="0" marL="0" marR="0" rtl="0" algn="r">
              <a:lnSpc>
                <a:spcPct val="100000"/>
              </a:lnSpc>
              <a:spcBef>
                <a:spcPts val="0"/>
              </a:spcBef>
              <a:spcAft>
                <a:spcPts val="0"/>
              </a:spcAft>
              <a:buClr>
                <a:schemeClr val="dk1"/>
              </a:buClr>
              <a:buSzPct val="25000"/>
              <a:buFont typeface="Arial"/>
              <a:buNone/>
            </a:pPr>
            <a:r>
              <a:rPr b="1" i="0" lang="en-US" sz="1800" u="none">
                <a:solidFill>
                  <a:schemeClr val="dk1"/>
                </a:solidFill>
                <a:latin typeface="Arial"/>
                <a:ea typeface="Arial"/>
                <a:cs typeface="Arial"/>
                <a:sym typeface="Arial"/>
              </a:rPr>
              <a:t>T</a:t>
            </a:r>
            <a:r>
              <a:rPr b="1" baseline="-25000" i="0" lang="en-US" sz="1800" u="none">
                <a:solidFill>
                  <a:schemeClr val="dk1"/>
                </a:solidFill>
                <a:latin typeface="Arial"/>
                <a:ea typeface="Arial"/>
                <a:cs typeface="Arial"/>
                <a:sym typeface="Arial"/>
              </a:rPr>
              <a:t>R</a:t>
            </a:r>
            <a:r>
              <a:rPr b="1" i="0" lang="en-US" sz="1800" u="none">
                <a:solidFill>
                  <a:schemeClr val="dk1"/>
                </a:solidFill>
                <a:latin typeface="Arial"/>
                <a:ea typeface="Arial"/>
                <a:cs typeface="Arial"/>
                <a:sym typeface="Arial"/>
              </a:rPr>
              <a:t> = T</a:t>
            </a:r>
            <a:r>
              <a:rPr b="1" baseline="-25000" i="0" lang="en-US" sz="1800" u="none">
                <a:solidFill>
                  <a:schemeClr val="dk1"/>
                </a:solidFill>
                <a:latin typeface="Arial"/>
                <a:ea typeface="Arial"/>
                <a:cs typeface="Arial"/>
                <a:sym typeface="Arial"/>
              </a:rPr>
              <a:t>R0</a:t>
            </a:r>
          </a:p>
        </p:txBody>
      </p:sp>
      <p:sp>
        <p:nvSpPr>
          <p:cNvPr id="541" name="Shape 541"/>
          <p:cNvSpPr txBox="1"/>
          <p:nvPr/>
        </p:nvSpPr>
        <p:spPr>
          <a:xfrm>
            <a:off x="7396161" y="5557837"/>
            <a:ext cx="833436" cy="366711"/>
          </a:xfrm>
          <a:prstGeom prst="rect">
            <a:avLst/>
          </a:prstGeom>
          <a:solidFill>
            <a:srgbClr val="FFFFFF"/>
          </a:solidFill>
          <a:ln>
            <a:noFill/>
          </a:ln>
        </p:spPr>
        <p:txBody>
          <a:bodyPr anchorCtr="0" anchor="t" bIns="45700" lIns="91425" rIns="91425" tIns="45700">
            <a:noAutofit/>
          </a:bodyPr>
          <a:lstStyle/>
          <a:p>
            <a:pPr indent="0" lvl="0" marL="0" marR="0" rtl="0" algn="r">
              <a:lnSpc>
                <a:spcPct val="100000"/>
              </a:lnSpc>
              <a:spcBef>
                <a:spcPts val="0"/>
              </a:spcBef>
              <a:spcAft>
                <a:spcPts val="0"/>
              </a:spcAft>
              <a:buClr>
                <a:schemeClr val="dk1"/>
              </a:buClr>
              <a:buSzPct val="25000"/>
              <a:buFont typeface="Arial"/>
              <a:buNone/>
            </a:pPr>
            <a:r>
              <a:rPr b="1" i="0" lang="en-US" sz="1800" u="none">
                <a:solidFill>
                  <a:schemeClr val="dk1"/>
                </a:solidFill>
                <a:latin typeface="Arial"/>
                <a:ea typeface="Arial"/>
                <a:cs typeface="Arial"/>
                <a:sym typeface="Arial"/>
              </a:rPr>
              <a:t>X = X</a:t>
            </a:r>
            <a:r>
              <a:rPr b="1" baseline="-25000" i="0" lang="en-US" sz="1800" u="none">
                <a:solidFill>
                  <a:schemeClr val="dk1"/>
                </a:solidFill>
                <a:latin typeface="Arial"/>
                <a:ea typeface="Arial"/>
                <a:cs typeface="Arial"/>
                <a:sym typeface="Arial"/>
              </a:rPr>
              <a:t>0</a:t>
            </a:r>
          </a:p>
        </p:txBody>
      </p:sp>
      <p:sp>
        <p:nvSpPr>
          <p:cNvPr id="542" name="Shape 542"/>
          <p:cNvSpPr txBox="1"/>
          <p:nvPr/>
        </p:nvSpPr>
        <p:spPr>
          <a:xfrm>
            <a:off x="3048000" y="6019800"/>
            <a:ext cx="2414586" cy="366711"/>
          </a:xfrm>
          <a:prstGeom prst="rect">
            <a:avLst/>
          </a:prstGeom>
          <a:solidFill>
            <a:srgbClr val="FFFFFF"/>
          </a:solidFill>
          <a:ln>
            <a:noFill/>
          </a:ln>
        </p:spPr>
        <p:txBody>
          <a:bodyPr anchorCtr="0" anchor="t" bIns="45700" lIns="91425" rIns="91425" tIns="45700">
            <a:noAutofit/>
          </a:bodyPr>
          <a:lstStyle/>
          <a:p>
            <a:pPr indent="0" lvl="0" marL="0" marR="0" rtl="0" algn="r">
              <a:lnSpc>
                <a:spcPct val="100000"/>
              </a:lnSpc>
              <a:spcBef>
                <a:spcPts val="0"/>
              </a:spcBef>
              <a:spcAft>
                <a:spcPts val="0"/>
              </a:spcAft>
              <a:buClr>
                <a:schemeClr val="dk1"/>
              </a:buClr>
              <a:buSzPct val="25000"/>
              <a:buFont typeface="Arial"/>
              <a:buNone/>
            </a:pPr>
            <a:r>
              <a:rPr b="1" i="0" lang="en-US" sz="1800" u="none">
                <a:solidFill>
                  <a:schemeClr val="dk1"/>
                </a:solidFill>
                <a:latin typeface="Arial"/>
                <a:ea typeface="Arial"/>
                <a:cs typeface="Arial"/>
                <a:sym typeface="Arial"/>
              </a:rPr>
              <a:t>M = M</a:t>
            </a:r>
            <a:r>
              <a:rPr b="1" baseline="-25000" i="0" lang="en-US" sz="1800" u="none">
                <a:solidFill>
                  <a:schemeClr val="dk1"/>
                </a:solidFill>
                <a:latin typeface="Arial"/>
                <a:ea typeface="Arial"/>
                <a:cs typeface="Arial"/>
                <a:sym typeface="Arial"/>
              </a:rPr>
              <a:t>0</a:t>
            </a:r>
            <a:r>
              <a:rPr b="1" i="0" lang="en-US" sz="1800" u="none">
                <a:solidFill>
                  <a:schemeClr val="dk1"/>
                </a:solidFill>
                <a:latin typeface="Arial"/>
                <a:ea typeface="Arial"/>
                <a:cs typeface="Arial"/>
                <a:sym typeface="Arial"/>
              </a:rPr>
              <a:t> + P</a:t>
            </a:r>
            <a:r>
              <a:rPr b="1" baseline="-25000" i="0" lang="en-US" sz="1800" u="none">
                <a:solidFill>
                  <a:schemeClr val="dk1"/>
                </a:solidFill>
                <a:latin typeface="Arial"/>
                <a:ea typeface="Arial"/>
                <a:cs typeface="Arial"/>
                <a:sym typeface="Arial"/>
              </a:rPr>
              <a:t>maM</a:t>
            </a:r>
            <a:r>
              <a:rPr b="1" i="0" lang="en-US" sz="1800" u="none">
                <a:solidFill>
                  <a:schemeClr val="dk1"/>
                </a:solidFill>
                <a:latin typeface="Arial"/>
                <a:ea typeface="Arial"/>
                <a:cs typeface="Arial"/>
                <a:sym typeface="Arial"/>
              </a:rPr>
              <a:t> * Y</a:t>
            </a:r>
          </a:p>
        </p:txBody>
      </p:sp>
      <p:sp>
        <p:nvSpPr>
          <p:cNvPr id="543" name="Shape 543"/>
          <p:cNvSpPr txBox="1"/>
          <p:nvPr/>
        </p:nvSpPr>
        <p:spPr>
          <a:xfrm>
            <a:off x="263525" y="4854575"/>
            <a:ext cx="5199061" cy="1069975"/>
          </a:xfrm>
          <a:prstGeom prst="rect">
            <a:avLst/>
          </a:prstGeom>
          <a:solidFill>
            <a:srgbClr val="993366">
              <a:alpha val="25882"/>
            </a:srgbClr>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a:solidFill>
                  <a:schemeClr val="dk1"/>
                </a:solidFill>
                <a:latin typeface="Arial"/>
                <a:ea typeface="Arial"/>
                <a:cs typeface="Arial"/>
                <a:sym typeface="Arial"/>
              </a:rPr>
              <a:t>IMPORTACIONES PROPORCIONALES A LA RENTA</a:t>
            </a:r>
          </a:p>
          <a:p>
            <a:pPr indent="0" lvl="0" marL="0" marR="0" rtl="0" algn="l">
              <a:lnSpc>
                <a:spcPct val="100000"/>
              </a:lnSpc>
              <a:spcBef>
                <a:spcPts val="0"/>
              </a:spcBef>
              <a:spcAft>
                <a:spcPts val="0"/>
              </a:spcAft>
              <a:buClr>
                <a:schemeClr val="dk1"/>
              </a:buClr>
              <a:buSzPct val="25000"/>
              <a:buFont typeface="Arial"/>
              <a:buNone/>
            </a:pPr>
            <a:r>
              <a:rPr b="1" i="0" lang="en-US" sz="1600" u="none">
                <a:solidFill>
                  <a:schemeClr val="dk1"/>
                </a:solidFill>
                <a:latin typeface="Arial"/>
                <a:ea typeface="Arial"/>
                <a:cs typeface="Arial"/>
                <a:sym typeface="Arial"/>
              </a:rPr>
              <a:t>M</a:t>
            </a:r>
            <a:r>
              <a:rPr b="1" baseline="-25000" i="0" lang="en-US" sz="1600" u="none">
                <a:solidFill>
                  <a:schemeClr val="dk1"/>
                </a:solidFill>
                <a:latin typeface="Arial"/>
                <a:ea typeface="Arial"/>
                <a:cs typeface="Arial"/>
                <a:sym typeface="Arial"/>
              </a:rPr>
              <a:t>0</a:t>
            </a:r>
            <a:r>
              <a:rPr b="1" i="0" lang="en-US" sz="1600" u="none">
                <a:solidFill>
                  <a:schemeClr val="dk1"/>
                </a:solidFill>
                <a:latin typeface="Arial"/>
                <a:ea typeface="Arial"/>
                <a:cs typeface="Arial"/>
                <a:sym typeface="Arial"/>
              </a:rPr>
              <a:t> = Las importaciones autónomas</a:t>
            </a:r>
          </a:p>
          <a:p>
            <a:pPr indent="0" lvl="0" marL="0" marR="0" rtl="0" algn="l">
              <a:lnSpc>
                <a:spcPct val="100000"/>
              </a:lnSpc>
              <a:spcBef>
                <a:spcPts val="0"/>
              </a:spcBef>
              <a:spcAft>
                <a:spcPts val="0"/>
              </a:spcAft>
              <a:buClr>
                <a:schemeClr val="dk1"/>
              </a:buClr>
              <a:buSzPct val="25000"/>
              <a:buFont typeface="Arial"/>
              <a:buNone/>
            </a:pPr>
            <a:r>
              <a:rPr b="1" i="0" lang="en-US" sz="1600" u="none">
                <a:solidFill>
                  <a:schemeClr val="dk1"/>
                </a:solidFill>
                <a:latin typeface="Arial"/>
                <a:ea typeface="Arial"/>
                <a:cs typeface="Arial"/>
                <a:sym typeface="Arial"/>
              </a:rPr>
              <a:t>P</a:t>
            </a:r>
            <a:r>
              <a:rPr b="1" baseline="-25000" i="0" lang="en-US" sz="1600" u="none">
                <a:solidFill>
                  <a:schemeClr val="dk1"/>
                </a:solidFill>
                <a:latin typeface="Arial"/>
                <a:ea typeface="Arial"/>
                <a:cs typeface="Arial"/>
                <a:sym typeface="Arial"/>
              </a:rPr>
              <a:t>maM</a:t>
            </a:r>
            <a:r>
              <a:rPr b="1" i="0" lang="en-US" sz="1600" u="none">
                <a:solidFill>
                  <a:schemeClr val="dk1"/>
                </a:solidFill>
                <a:latin typeface="Arial"/>
                <a:ea typeface="Arial"/>
                <a:cs typeface="Arial"/>
                <a:sym typeface="Arial"/>
              </a:rPr>
              <a:t> = Propensión marginal a importar B/S</a:t>
            </a:r>
          </a:p>
          <a:p>
            <a:pPr indent="0" lvl="0" marL="0" marR="0" rtl="0" algn="l">
              <a:lnSpc>
                <a:spcPct val="100000"/>
              </a:lnSpc>
              <a:spcBef>
                <a:spcPts val="0"/>
              </a:spcBef>
              <a:spcAft>
                <a:spcPts val="0"/>
              </a:spcAft>
              <a:buClr>
                <a:schemeClr val="dk1"/>
              </a:buClr>
              <a:buSzPct val="25000"/>
              <a:buFont typeface="Arial"/>
              <a:buNone/>
            </a:pPr>
            <a:r>
              <a:rPr b="1" i="0" lang="en-US" sz="1600" u="none">
                <a:solidFill>
                  <a:schemeClr val="dk1"/>
                </a:solidFill>
                <a:latin typeface="Arial"/>
                <a:ea typeface="Arial"/>
                <a:cs typeface="Arial"/>
                <a:sym typeface="Arial"/>
              </a:rPr>
              <a:t>Y = El ingreso</a:t>
            </a:r>
          </a:p>
        </p:txBody>
      </p:sp>
      <p:sp>
        <p:nvSpPr>
          <p:cNvPr id="544" name="Shape 544"/>
          <p:cNvSpPr txBox="1"/>
          <p:nvPr/>
        </p:nvSpPr>
        <p:spPr>
          <a:xfrm>
            <a:off x="6807200" y="4884737"/>
            <a:ext cx="1727199" cy="304799"/>
          </a:xfrm>
          <a:prstGeom prst="rect">
            <a:avLst/>
          </a:prstGeom>
          <a:solidFill>
            <a:srgbClr val="FF6600">
              <a:alpha val="68627"/>
            </a:srgbClr>
          </a:solidFill>
          <a:ln>
            <a:noFill/>
          </a:ln>
        </p:spPr>
        <p:txBody>
          <a:bodyPr anchorCtr="0" anchor="t" bIns="45700" lIns="91425" rIns="91425" tIns="45700">
            <a:noAutofit/>
          </a:bodyPr>
          <a:lstStyle/>
          <a:p>
            <a:pPr indent="0" lvl="0" marL="0" marR="0" rtl="0" algn="r">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EXPORTACIONES</a:t>
            </a:r>
          </a:p>
        </p:txBody>
      </p:sp>
      <p:sp>
        <p:nvSpPr>
          <p:cNvPr id="545" name="Shape 545"/>
          <p:cNvSpPr txBox="1"/>
          <p:nvPr/>
        </p:nvSpPr>
        <p:spPr>
          <a:xfrm>
            <a:off x="6716711" y="3429000"/>
            <a:ext cx="1665287" cy="304799"/>
          </a:xfrm>
          <a:prstGeom prst="rect">
            <a:avLst/>
          </a:prstGeom>
          <a:solidFill>
            <a:srgbClr val="00FF00">
              <a:alpha val="41960"/>
            </a:srgbClr>
          </a:solidFill>
          <a:ln>
            <a:noFill/>
          </a:ln>
        </p:spPr>
        <p:txBody>
          <a:bodyPr anchorCtr="0" anchor="t" bIns="45700" lIns="91425" rIns="91425" tIns="45700">
            <a:noAutofit/>
          </a:bodyPr>
          <a:lstStyle/>
          <a:p>
            <a:pPr indent="0" lvl="0" marL="0" marR="0" rtl="0" algn="r">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GASTO PÚBLICO</a:t>
            </a:r>
          </a:p>
        </p:txBody>
      </p:sp>
      <p:sp>
        <p:nvSpPr>
          <p:cNvPr id="546" name="Shape 546"/>
          <p:cNvSpPr txBox="1"/>
          <p:nvPr/>
        </p:nvSpPr>
        <p:spPr>
          <a:xfrm>
            <a:off x="203200" y="3248025"/>
            <a:ext cx="6083300" cy="942975"/>
          </a:xfrm>
          <a:prstGeom prst="rect">
            <a:avLst/>
          </a:prstGeom>
          <a:solidFill>
            <a:srgbClr val="FFFF99"/>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INVERSIONES</a:t>
            </a:r>
          </a:p>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Io = Es la Inversión Autónoma </a:t>
            </a:r>
          </a:p>
          <a:p>
            <a:pPr indent="0" lvl="0" marL="0" marR="0" rtl="0" algn="l">
              <a:lnSpc>
                <a:spcPct val="100000"/>
              </a:lnSpc>
              <a:spcBef>
                <a:spcPts val="0"/>
              </a:spcBef>
              <a:spcAft>
                <a:spcPts val="0"/>
              </a:spcAft>
              <a:buClr>
                <a:srgbClr val="FF0000"/>
              </a:buClr>
              <a:buSzPct val="25000"/>
              <a:buFont typeface="Arial"/>
              <a:buNone/>
            </a:pPr>
            <a:r>
              <a:rPr b="1" i="0" lang="en-US" sz="1400" u="none">
                <a:solidFill>
                  <a:srgbClr val="FF0000"/>
                </a:solidFill>
                <a:latin typeface="Arial"/>
                <a:ea typeface="Arial"/>
                <a:cs typeface="Arial"/>
                <a:sym typeface="Arial"/>
              </a:rPr>
              <a:t>(que no depende de otras variables del Modelo). </a:t>
            </a:r>
          </a:p>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b = Es la sensibilidad de la demanda de Inversión a la tasa de interés.</a:t>
            </a:r>
            <a:r>
              <a:rPr b="1" i="1" lang="en-US" sz="1400" u="none">
                <a:solidFill>
                  <a:schemeClr val="dk1"/>
                </a:solidFill>
                <a:latin typeface="Arial"/>
                <a:ea typeface="Arial"/>
                <a:cs typeface="Arial"/>
                <a:sym typeface="Arial"/>
              </a:rPr>
              <a:t> </a:t>
            </a:r>
          </a:p>
        </p:txBody>
      </p:sp>
      <p:sp>
        <p:nvSpPr>
          <p:cNvPr id="547" name="Shape 547"/>
          <p:cNvSpPr txBox="1"/>
          <p:nvPr/>
        </p:nvSpPr>
        <p:spPr>
          <a:xfrm>
            <a:off x="4419600" y="1266825"/>
            <a:ext cx="4419599" cy="942975"/>
          </a:xfrm>
          <a:prstGeom prst="rect">
            <a:avLst/>
          </a:prstGeom>
          <a:solidFill>
            <a:schemeClr val="accent1">
              <a:alpha val="16862"/>
            </a:schemeClr>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IMPUESTOS PROPORCIONALES A LA RENTA</a:t>
            </a:r>
          </a:p>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T</a:t>
            </a:r>
            <a:r>
              <a:rPr b="1" baseline="-25000" i="0" lang="en-US" sz="1400" u="none">
                <a:solidFill>
                  <a:schemeClr val="dk1"/>
                </a:solidFill>
                <a:latin typeface="Arial"/>
                <a:ea typeface="Arial"/>
                <a:cs typeface="Arial"/>
                <a:sym typeface="Arial"/>
              </a:rPr>
              <a:t>X0</a:t>
            </a:r>
            <a:r>
              <a:rPr b="1" i="0" lang="en-US" sz="1400" u="none">
                <a:solidFill>
                  <a:schemeClr val="dk1"/>
                </a:solidFill>
                <a:latin typeface="Arial"/>
                <a:ea typeface="Arial"/>
                <a:cs typeface="Arial"/>
                <a:sym typeface="Arial"/>
              </a:rPr>
              <a:t> = Impuestos autónomos</a:t>
            </a:r>
          </a:p>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P</a:t>
            </a:r>
            <a:r>
              <a:rPr b="1" baseline="-25000" i="0" lang="en-US" sz="1400" u="none">
                <a:solidFill>
                  <a:schemeClr val="dk1"/>
                </a:solidFill>
                <a:latin typeface="Arial"/>
                <a:ea typeface="Arial"/>
                <a:cs typeface="Arial"/>
                <a:sym typeface="Arial"/>
              </a:rPr>
              <a:t>maT </a:t>
            </a:r>
            <a:r>
              <a:rPr b="1" i="0" lang="en-US" sz="1400" u="none">
                <a:solidFill>
                  <a:schemeClr val="dk1"/>
                </a:solidFill>
                <a:latin typeface="Arial"/>
                <a:ea typeface="Arial"/>
                <a:cs typeface="Arial"/>
                <a:sym typeface="Arial"/>
              </a:rPr>
              <a:t>= Propensión a pagar impuestos</a:t>
            </a:r>
          </a:p>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Y = El Ingreso</a:t>
            </a:r>
          </a:p>
        </p:txBody>
      </p:sp>
      <p:sp>
        <p:nvSpPr>
          <p:cNvPr id="548" name="Shape 548"/>
          <p:cNvSpPr txBox="1"/>
          <p:nvPr/>
        </p:nvSpPr>
        <p:spPr>
          <a:xfrm>
            <a:off x="4038600" y="2743200"/>
            <a:ext cx="3608386" cy="304799"/>
          </a:xfrm>
          <a:prstGeom prst="rect">
            <a:avLst/>
          </a:prstGeom>
          <a:solidFill>
            <a:srgbClr val="FF0000">
              <a:alpha val="39607"/>
            </a:srgbClr>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TRANSFERENCIAS Y SUBSIDIOS</a:t>
            </a:r>
          </a:p>
        </p:txBody>
      </p:sp>
      <p:sp>
        <p:nvSpPr>
          <p:cNvPr id="549" name="Shape 549"/>
          <p:cNvSpPr txBox="1"/>
          <p:nvPr/>
        </p:nvSpPr>
        <p:spPr>
          <a:xfrm>
            <a:off x="152400" y="1219200"/>
            <a:ext cx="3809999" cy="1155700"/>
          </a:xfrm>
          <a:prstGeom prst="rect">
            <a:avLst/>
          </a:prstGeom>
          <a:solidFill>
            <a:srgbClr val="C0C0C0">
              <a:alpha val="26666"/>
            </a:srgbClr>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CONSUMO</a:t>
            </a:r>
          </a:p>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Co = El Consumo Autónomo.</a:t>
            </a:r>
          </a:p>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P</a:t>
            </a:r>
            <a:r>
              <a:rPr b="1" baseline="-25000" i="0" lang="en-US" sz="1400" u="none">
                <a:solidFill>
                  <a:schemeClr val="dk1"/>
                </a:solidFill>
                <a:latin typeface="Arial"/>
                <a:ea typeface="Arial"/>
                <a:cs typeface="Arial"/>
                <a:sym typeface="Arial"/>
              </a:rPr>
              <a:t>maC</a:t>
            </a:r>
            <a:r>
              <a:rPr b="1" i="0" lang="en-US" sz="1400" u="none">
                <a:solidFill>
                  <a:schemeClr val="dk1"/>
                </a:solidFill>
                <a:latin typeface="Arial"/>
                <a:ea typeface="Arial"/>
                <a:cs typeface="Arial"/>
                <a:sym typeface="Arial"/>
              </a:rPr>
              <a:t> = La propensión marginal a consumir.</a:t>
            </a:r>
          </a:p>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Y = El ingreso</a:t>
            </a:r>
          </a:p>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T = Los Impuestos se suponen (T</a:t>
            </a:r>
            <a:r>
              <a:rPr b="1" baseline="-25000" i="0" lang="en-US" sz="1400" u="none">
                <a:solidFill>
                  <a:schemeClr val="dk1"/>
                </a:solidFill>
                <a:latin typeface="Arial"/>
                <a:ea typeface="Arial"/>
                <a:cs typeface="Arial"/>
                <a:sym typeface="Arial"/>
              </a:rPr>
              <a:t>X</a:t>
            </a:r>
            <a:r>
              <a:rPr b="1" i="0" lang="en-US" sz="1400" u="none">
                <a:solidFill>
                  <a:schemeClr val="dk1"/>
                </a:solidFill>
                <a:latin typeface="Arial"/>
                <a:ea typeface="Arial"/>
                <a:cs typeface="Arial"/>
                <a:sym typeface="Arial"/>
              </a:rPr>
              <a:t> – T</a:t>
            </a:r>
            <a:r>
              <a:rPr b="1" baseline="-25000" i="0" lang="en-US" sz="1400" u="none">
                <a:solidFill>
                  <a:schemeClr val="dk1"/>
                </a:solidFill>
                <a:latin typeface="Arial"/>
                <a:ea typeface="Arial"/>
                <a:cs typeface="Arial"/>
                <a:sym typeface="Arial"/>
              </a:rPr>
              <a:t>R</a:t>
            </a:r>
            <a:r>
              <a:rPr b="1" i="0" lang="en-US" sz="1400" u="none">
                <a:solidFill>
                  <a:schemeClr val="dk1"/>
                </a:solidFill>
                <a:latin typeface="Arial"/>
                <a:ea typeface="Arial"/>
                <a:cs typeface="Arial"/>
                <a:sym typeface="Arial"/>
              </a:rPr>
              <a:t>).</a:t>
            </a:r>
          </a:p>
        </p:txBody>
      </p:sp>
      <p:cxnSp>
        <p:nvCxnSpPr>
          <p:cNvPr id="550" name="Shape 550"/>
          <p:cNvCxnSpPr/>
          <p:nvPr/>
        </p:nvCxnSpPr>
        <p:spPr>
          <a:xfrm>
            <a:off x="255587" y="3200400"/>
            <a:ext cx="8618536" cy="0"/>
          </a:xfrm>
          <a:prstGeom prst="straightConnector1">
            <a:avLst/>
          </a:prstGeom>
          <a:noFill/>
          <a:ln cap="flat" cmpd="sng" w="25400">
            <a:solidFill>
              <a:schemeClr val="dk1"/>
            </a:solidFill>
            <a:prstDash val="solid"/>
            <a:miter/>
            <a:headEnd len="med" w="med" type="none"/>
            <a:tailEnd len="med" w="med" type="none"/>
          </a:ln>
        </p:spPr>
      </p:cxnSp>
      <p:cxnSp>
        <p:nvCxnSpPr>
          <p:cNvPr id="551" name="Shape 551"/>
          <p:cNvCxnSpPr/>
          <p:nvPr/>
        </p:nvCxnSpPr>
        <p:spPr>
          <a:xfrm>
            <a:off x="6477000" y="3200400"/>
            <a:ext cx="0" cy="3351212"/>
          </a:xfrm>
          <a:prstGeom prst="straightConnector1">
            <a:avLst/>
          </a:prstGeom>
          <a:noFill/>
          <a:ln cap="flat" cmpd="sng" w="25400">
            <a:solidFill>
              <a:schemeClr val="dk1"/>
            </a:solidFill>
            <a:prstDash val="solid"/>
            <a:miter/>
            <a:headEnd len="med" w="med" type="none"/>
            <a:tailEnd len="med" w="med" type="none"/>
          </a:ln>
        </p:spPr>
      </p:cxnSp>
      <p:cxnSp>
        <p:nvCxnSpPr>
          <p:cNvPr id="552" name="Shape 552"/>
          <p:cNvCxnSpPr/>
          <p:nvPr/>
        </p:nvCxnSpPr>
        <p:spPr>
          <a:xfrm>
            <a:off x="228600" y="4648200"/>
            <a:ext cx="8305799" cy="0"/>
          </a:xfrm>
          <a:prstGeom prst="straightConnector1">
            <a:avLst/>
          </a:prstGeom>
          <a:noFill/>
          <a:ln cap="flat" cmpd="sng" w="25400">
            <a:solidFill>
              <a:schemeClr val="dk1"/>
            </a:solidFill>
            <a:prstDash val="solid"/>
            <a:miter/>
            <a:headEnd len="med" w="med" type="none"/>
            <a:tailEnd len="med" w="med" type="none"/>
          </a:ln>
        </p:spPr>
      </p:cxnSp>
      <p:cxnSp>
        <p:nvCxnSpPr>
          <p:cNvPr id="553" name="Shape 553"/>
          <p:cNvCxnSpPr/>
          <p:nvPr/>
        </p:nvCxnSpPr>
        <p:spPr>
          <a:xfrm>
            <a:off x="3962400" y="1219200"/>
            <a:ext cx="0" cy="1981199"/>
          </a:xfrm>
          <a:prstGeom prst="straightConnector1">
            <a:avLst/>
          </a:prstGeom>
          <a:noFill/>
          <a:ln cap="flat" cmpd="sng" w="25400">
            <a:solidFill>
              <a:schemeClr val="dk1"/>
            </a:solidFill>
            <a:prstDash val="solid"/>
            <a:miter/>
            <a:headEnd len="med" w="med" type="none"/>
            <a:tailEnd len="med" w="med" type="none"/>
          </a:ln>
        </p:spPr>
      </p:cxnSp>
      <p:cxnSp>
        <p:nvCxnSpPr>
          <p:cNvPr id="554" name="Shape 554"/>
          <p:cNvCxnSpPr/>
          <p:nvPr/>
        </p:nvCxnSpPr>
        <p:spPr>
          <a:xfrm>
            <a:off x="3962400" y="2667000"/>
            <a:ext cx="4911725" cy="0"/>
          </a:xfrm>
          <a:prstGeom prst="straightConnector1">
            <a:avLst/>
          </a:prstGeom>
          <a:noFill/>
          <a:ln cap="flat" cmpd="sng" w="25400">
            <a:solidFill>
              <a:schemeClr val="dk1"/>
            </a:solidFill>
            <a:prstDash val="solid"/>
            <a:miter/>
            <a:headEnd len="med" w="med" type="none"/>
            <a:tailEnd len="med" w="med" type="none"/>
          </a:ln>
        </p:spPr>
      </p:cxnSp>
    </p:spTree>
  </p:cSld>
  <p:clrMapOvr>
    <a:masterClrMapping/>
  </p:clrMapOvr>
  <p:transition spd="slow">
    <p:cut/>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58" name="Shape 558"/>
        <p:cNvGrpSpPr/>
        <p:nvPr/>
      </p:nvGrpSpPr>
      <p:grpSpPr>
        <a:xfrm>
          <a:off x="0" y="0"/>
          <a:ext cx="0" cy="0"/>
          <a:chOff x="0" y="0"/>
          <a:chExt cx="0" cy="0"/>
        </a:xfrm>
      </p:grpSpPr>
      <p:pic>
        <p:nvPicPr>
          <p:cNvPr id="559" name="Shape 559"/>
          <p:cNvPicPr preferRelativeResize="0"/>
          <p:nvPr/>
        </p:nvPicPr>
        <p:blipFill rotWithShape="1">
          <a:blip r:embed="rId3">
            <a:alphaModFix/>
          </a:blip>
          <a:srcRect b="0" l="0" r="0" t="0"/>
          <a:stretch/>
        </p:blipFill>
        <p:spPr>
          <a:xfrm>
            <a:off x="263525" y="933450"/>
            <a:ext cx="8610599" cy="209549"/>
          </a:xfrm>
          <a:prstGeom prst="rect">
            <a:avLst/>
          </a:prstGeom>
          <a:noFill/>
          <a:ln>
            <a:noFill/>
          </a:ln>
        </p:spPr>
      </p:pic>
      <p:pic>
        <p:nvPicPr>
          <p:cNvPr id="560" name="Shape 560"/>
          <p:cNvPicPr preferRelativeResize="0"/>
          <p:nvPr/>
        </p:nvPicPr>
        <p:blipFill rotWithShape="1">
          <a:blip r:embed="rId4">
            <a:alphaModFix/>
          </a:blip>
          <a:srcRect b="0" l="0" r="0" t="0"/>
          <a:stretch/>
        </p:blipFill>
        <p:spPr>
          <a:xfrm>
            <a:off x="255587" y="306387"/>
            <a:ext cx="3013074" cy="608011"/>
          </a:xfrm>
          <a:prstGeom prst="rect">
            <a:avLst/>
          </a:prstGeom>
          <a:noFill/>
          <a:ln>
            <a:noFill/>
          </a:ln>
        </p:spPr>
      </p:pic>
      <p:sp>
        <p:nvSpPr>
          <p:cNvPr id="561" name="Shape 561"/>
          <p:cNvSpPr txBox="1"/>
          <p:nvPr/>
        </p:nvSpPr>
        <p:spPr>
          <a:xfrm>
            <a:off x="4419600" y="76200"/>
            <a:ext cx="4419599"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a:solidFill>
                  <a:srgbClr val="BB4F59"/>
                </a:solidFill>
                <a:latin typeface="Arial"/>
                <a:ea typeface="Arial"/>
                <a:cs typeface="Arial"/>
                <a:sym typeface="Arial"/>
              </a:rPr>
              <a:t>MULTIPLICADORES MACROECONÓMICOS</a:t>
            </a:r>
          </a:p>
        </p:txBody>
      </p:sp>
      <p:sp>
        <p:nvSpPr>
          <p:cNvPr id="562" name="Shape 562"/>
          <p:cNvSpPr txBox="1"/>
          <p:nvPr/>
        </p:nvSpPr>
        <p:spPr>
          <a:xfrm>
            <a:off x="268287" y="1516062"/>
            <a:ext cx="8610599" cy="5035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563" name="Shape 563"/>
          <p:cNvSpPr txBox="1"/>
          <p:nvPr/>
        </p:nvSpPr>
        <p:spPr>
          <a:xfrm>
            <a:off x="152400" y="1143000"/>
            <a:ext cx="8915400" cy="3070224"/>
          </a:xfrm>
          <a:prstGeom prst="rect">
            <a:avLst/>
          </a:prstGeom>
          <a:noFill/>
          <a:ln>
            <a:noFill/>
          </a:ln>
        </p:spPr>
        <p:txBody>
          <a:bodyPr anchorCtr="0" anchor="t" bIns="45700" lIns="91425" rIns="91425" tIns="45700">
            <a:noAutofit/>
          </a:bodyPr>
          <a:lstStyle/>
          <a:p>
            <a:pPr indent="0" lvl="0" marL="0" marR="0" rtl="0" algn="l">
              <a:lnSpc>
                <a:spcPct val="115000"/>
              </a:lnSpc>
              <a:spcBef>
                <a:spcPts val="0"/>
              </a:spcBef>
              <a:spcAft>
                <a:spcPts val="0"/>
              </a:spcAft>
              <a:buClr>
                <a:schemeClr val="accent2"/>
              </a:buClr>
              <a:buSzPct val="25000"/>
              <a:buFont typeface="Arial"/>
              <a:buNone/>
            </a:pPr>
            <a:r>
              <a:rPr b="1" i="0" lang="en-US" sz="1400" u="none">
                <a:solidFill>
                  <a:schemeClr val="accent2"/>
                </a:solidFill>
                <a:latin typeface="Arial"/>
                <a:ea typeface="Arial"/>
                <a:cs typeface="Arial"/>
                <a:sym typeface="Arial"/>
              </a:rPr>
              <a:t>DEMANDA AGREGADA</a:t>
            </a:r>
            <a:r>
              <a:rPr b="1" i="0" lang="en-US" sz="1400" u="none">
                <a:solidFill>
                  <a:srgbClr val="FF0000"/>
                </a:solidFill>
                <a:latin typeface="Arial"/>
                <a:ea typeface="Arial"/>
                <a:cs typeface="Arial"/>
                <a:sym typeface="Arial"/>
              </a:rPr>
              <a:t> = </a:t>
            </a:r>
            <a:r>
              <a:rPr b="1" i="0" lang="en-US" sz="1400" u="none">
                <a:solidFill>
                  <a:srgbClr val="E61235"/>
                </a:solidFill>
                <a:latin typeface="Arial"/>
                <a:ea typeface="Arial"/>
                <a:cs typeface="Arial"/>
                <a:sym typeface="Arial"/>
              </a:rPr>
              <a:t>C</a:t>
            </a:r>
            <a:r>
              <a:rPr b="1" baseline="-25000" i="0" lang="en-US" sz="1400" u="none">
                <a:solidFill>
                  <a:srgbClr val="E61235"/>
                </a:solidFill>
                <a:latin typeface="Arial"/>
                <a:ea typeface="Arial"/>
                <a:cs typeface="Arial"/>
                <a:sym typeface="Arial"/>
              </a:rPr>
              <a:t>0</a:t>
            </a:r>
            <a:r>
              <a:rPr b="1" i="0" lang="en-US" sz="1400" u="none">
                <a:solidFill>
                  <a:srgbClr val="E61235"/>
                </a:solidFill>
                <a:latin typeface="Arial"/>
                <a:ea typeface="Arial"/>
                <a:cs typeface="Arial"/>
                <a:sym typeface="Arial"/>
              </a:rPr>
              <a:t> + P</a:t>
            </a:r>
            <a:r>
              <a:rPr b="1" baseline="-25000" i="0" lang="en-US" sz="1400" u="none">
                <a:solidFill>
                  <a:srgbClr val="E61235"/>
                </a:solidFill>
                <a:latin typeface="Arial"/>
                <a:ea typeface="Arial"/>
                <a:cs typeface="Arial"/>
                <a:sym typeface="Arial"/>
              </a:rPr>
              <a:t>maC</a:t>
            </a:r>
            <a:r>
              <a:rPr b="1" i="0" lang="en-US" sz="1400" u="none">
                <a:solidFill>
                  <a:srgbClr val="E61235"/>
                </a:solidFill>
                <a:latin typeface="Arial"/>
                <a:ea typeface="Arial"/>
                <a:cs typeface="Arial"/>
                <a:sym typeface="Arial"/>
              </a:rPr>
              <a:t> * Y – P</a:t>
            </a:r>
            <a:r>
              <a:rPr b="1" baseline="-25000" i="0" lang="en-US" sz="1400" u="none">
                <a:solidFill>
                  <a:srgbClr val="E61235"/>
                </a:solidFill>
                <a:latin typeface="Arial"/>
                <a:ea typeface="Arial"/>
                <a:cs typeface="Arial"/>
                <a:sym typeface="Arial"/>
              </a:rPr>
              <a:t>maC</a:t>
            </a:r>
            <a:r>
              <a:rPr b="1" i="0" lang="en-US" sz="1400" u="none">
                <a:solidFill>
                  <a:srgbClr val="E61235"/>
                </a:solidFill>
                <a:latin typeface="Arial"/>
                <a:ea typeface="Arial"/>
                <a:cs typeface="Arial"/>
                <a:sym typeface="Arial"/>
              </a:rPr>
              <a:t> * TX</a:t>
            </a:r>
            <a:r>
              <a:rPr b="1" baseline="-25000" i="0" lang="en-US" sz="1400" u="none">
                <a:solidFill>
                  <a:srgbClr val="E61235"/>
                </a:solidFill>
                <a:latin typeface="Arial"/>
                <a:ea typeface="Arial"/>
                <a:cs typeface="Arial"/>
                <a:sym typeface="Arial"/>
              </a:rPr>
              <a:t>0</a:t>
            </a:r>
            <a:r>
              <a:rPr b="1" i="0" lang="en-US" sz="1400" u="none">
                <a:solidFill>
                  <a:srgbClr val="E61235"/>
                </a:solidFill>
                <a:latin typeface="Arial"/>
                <a:ea typeface="Arial"/>
                <a:cs typeface="Arial"/>
                <a:sym typeface="Arial"/>
              </a:rPr>
              <a:t> –  P</a:t>
            </a:r>
            <a:r>
              <a:rPr b="1" baseline="-25000" i="0" lang="en-US" sz="1400" u="none">
                <a:solidFill>
                  <a:srgbClr val="E61235"/>
                </a:solidFill>
                <a:latin typeface="Arial"/>
                <a:ea typeface="Arial"/>
                <a:cs typeface="Arial"/>
                <a:sym typeface="Arial"/>
              </a:rPr>
              <a:t>maC</a:t>
            </a:r>
            <a:r>
              <a:rPr b="1" i="0" lang="en-US" sz="1400" u="none">
                <a:solidFill>
                  <a:srgbClr val="E61235"/>
                </a:solidFill>
                <a:latin typeface="Arial"/>
                <a:ea typeface="Arial"/>
                <a:cs typeface="Arial"/>
                <a:sym typeface="Arial"/>
              </a:rPr>
              <a:t> * P</a:t>
            </a:r>
            <a:r>
              <a:rPr b="1" baseline="-25000" i="0" lang="en-US" sz="1400" u="none">
                <a:solidFill>
                  <a:srgbClr val="E61235"/>
                </a:solidFill>
                <a:latin typeface="Arial"/>
                <a:ea typeface="Arial"/>
                <a:cs typeface="Arial"/>
                <a:sym typeface="Arial"/>
              </a:rPr>
              <a:t>maT</a:t>
            </a:r>
            <a:r>
              <a:rPr b="1" i="0" lang="en-US" sz="1400" u="none">
                <a:solidFill>
                  <a:srgbClr val="E61235"/>
                </a:solidFill>
                <a:latin typeface="Arial"/>
                <a:ea typeface="Arial"/>
                <a:cs typeface="Arial"/>
                <a:sym typeface="Arial"/>
              </a:rPr>
              <a:t> * Y +  P</a:t>
            </a:r>
            <a:r>
              <a:rPr b="1" baseline="-25000" i="0" lang="en-US" sz="1400" u="none">
                <a:solidFill>
                  <a:srgbClr val="E61235"/>
                </a:solidFill>
                <a:latin typeface="Arial"/>
                <a:ea typeface="Arial"/>
                <a:cs typeface="Arial"/>
                <a:sym typeface="Arial"/>
              </a:rPr>
              <a:t>maC</a:t>
            </a:r>
            <a:r>
              <a:rPr b="1" i="0" lang="en-US" sz="1400" u="none">
                <a:solidFill>
                  <a:srgbClr val="E61235"/>
                </a:solidFill>
                <a:latin typeface="Arial"/>
                <a:ea typeface="Arial"/>
                <a:cs typeface="Arial"/>
                <a:sym typeface="Arial"/>
              </a:rPr>
              <a:t> * TR</a:t>
            </a:r>
            <a:r>
              <a:rPr b="1" baseline="-25000" i="0" lang="en-US" sz="1400" u="none">
                <a:solidFill>
                  <a:srgbClr val="E61235"/>
                </a:solidFill>
                <a:latin typeface="Arial"/>
                <a:ea typeface="Arial"/>
                <a:cs typeface="Arial"/>
                <a:sym typeface="Arial"/>
              </a:rPr>
              <a:t>0</a:t>
            </a:r>
            <a:r>
              <a:rPr b="1" i="0" lang="en-US" sz="1400" u="none">
                <a:solidFill>
                  <a:srgbClr val="FF0000"/>
                </a:solidFill>
                <a:latin typeface="Arial"/>
                <a:ea typeface="Arial"/>
                <a:cs typeface="Arial"/>
                <a:sym typeface="Arial"/>
              </a:rPr>
              <a:t> + </a:t>
            </a:r>
            <a:r>
              <a:rPr b="1" i="0" lang="en-US" sz="1400" u="none">
                <a:solidFill>
                  <a:srgbClr val="117A06"/>
                </a:solidFill>
                <a:latin typeface="Arial"/>
                <a:ea typeface="Arial"/>
                <a:cs typeface="Arial"/>
                <a:sym typeface="Arial"/>
              </a:rPr>
              <a:t>I</a:t>
            </a:r>
            <a:r>
              <a:rPr b="1" baseline="-25000" i="0" lang="en-US" sz="1400" u="none">
                <a:solidFill>
                  <a:srgbClr val="117A06"/>
                </a:solidFill>
                <a:latin typeface="Arial"/>
                <a:ea typeface="Arial"/>
                <a:cs typeface="Arial"/>
                <a:sym typeface="Arial"/>
              </a:rPr>
              <a:t>0</a:t>
            </a:r>
            <a:r>
              <a:rPr b="1" i="0" lang="en-US" sz="1400" u="none">
                <a:solidFill>
                  <a:srgbClr val="117A06"/>
                </a:solidFill>
                <a:latin typeface="Arial"/>
                <a:ea typeface="Arial"/>
                <a:cs typeface="Arial"/>
                <a:sym typeface="Arial"/>
              </a:rPr>
              <a:t> – b * i</a:t>
            </a:r>
            <a:r>
              <a:rPr b="1" i="0" lang="en-US" sz="1400" u="none">
                <a:solidFill>
                  <a:srgbClr val="FF0000"/>
                </a:solidFill>
                <a:latin typeface="Arial"/>
                <a:ea typeface="Arial"/>
                <a:cs typeface="Arial"/>
                <a:sym typeface="Arial"/>
              </a:rPr>
              <a:t> + </a:t>
            </a:r>
            <a:r>
              <a:rPr b="1" i="0" lang="en-US" sz="1400" u="none">
                <a:solidFill>
                  <a:schemeClr val="dk1"/>
                </a:solidFill>
                <a:latin typeface="Arial"/>
                <a:ea typeface="Arial"/>
                <a:cs typeface="Arial"/>
                <a:sym typeface="Arial"/>
              </a:rPr>
              <a:t>GP</a:t>
            </a:r>
            <a:r>
              <a:rPr b="1" baseline="-25000" i="0" lang="en-US" sz="1400" u="none">
                <a:solidFill>
                  <a:schemeClr val="dk1"/>
                </a:solidFill>
                <a:latin typeface="Arial"/>
                <a:ea typeface="Arial"/>
                <a:cs typeface="Arial"/>
                <a:sym typeface="Arial"/>
              </a:rPr>
              <a:t>0</a:t>
            </a:r>
            <a:r>
              <a:rPr b="1" i="0" lang="en-US" sz="1400" u="none">
                <a:solidFill>
                  <a:srgbClr val="FF0000"/>
                </a:solidFill>
                <a:latin typeface="Arial"/>
                <a:ea typeface="Arial"/>
                <a:cs typeface="Arial"/>
                <a:sym typeface="Arial"/>
              </a:rPr>
              <a:t> + </a:t>
            </a:r>
            <a:r>
              <a:rPr b="1" i="0" lang="en-US" sz="1400" u="none">
                <a:solidFill>
                  <a:schemeClr val="hlink"/>
                </a:solidFill>
                <a:latin typeface="Arial"/>
                <a:ea typeface="Arial"/>
                <a:cs typeface="Arial"/>
                <a:sym typeface="Arial"/>
              </a:rPr>
              <a:t>X</a:t>
            </a:r>
            <a:r>
              <a:rPr b="1" baseline="-25000" i="0" lang="en-US" sz="1400" u="none">
                <a:solidFill>
                  <a:schemeClr val="hlink"/>
                </a:solidFill>
                <a:latin typeface="Arial"/>
                <a:ea typeface="Arial"/>
                <a:cs typeface="Arial"/>
                <a:sym typeface="Arial"/>
              </a:rPr>
              <a:t>0</a:t>
            </a:r>
          </a:p>
          <a:p>
            <a:pPr indent="0" lvl="0" marL="0" marR="0" rtl="0" algn="l">
              <a:lnSpc>
                <a:spcPct val="115000"/>
              </a:lnSpc>
              <a:spcBef>
                <a:spcPts val="0"/>
              </a:spcBef>
              <a:spcAft>
                <a:spcPts val="0"/>
              </a:spcAft>
              <a:buClr>
                <a:schemeClr val="accent2"/>
              </a:buClr>
              <a:buSzPct val="25000"/>
              <a:buFont typeface="Arial"/>
              <a:buNone/>
            </a:pPr>
            <a:r>
              <a:rPr b="1" i="0" lang="en-US" sz="1400" u="none">
                <a:solidFill>
                  <a:schemeClr val="accent2"/>
                </a:solidFill>
                <a:latin typeface="Arial"/>
                <a:ea typeface="Arial"/>
                <a:cs typeface="Arial"/>
                <a:sym typeface="Arial"/>
              </a:rPr>
              <a:t>OFERTA AGREGADA</a:t>
            </a:r>
            <a:r>
              <a:rPr b="1" i="0" lang="en-US" sz="1400" u="none">
                <a:solidFill>
                  <a:srgbClr val="FF0000"/>
                </a:solidFill>
                <a:latin typeface="Arial"/>
                <a:ea typeface="Arial"/>
                <a:cs typeface="Arial"/>
                <a:sym typeface="Arial"/>
              </a:rPr>
              <a:t> = Y + </a:t>
            </a:r>
            <a:r>
              <a:rPr b="1" i="0" lang="en-US" sz="1400" u="none">
                <a:solidFill>
                  <a:schemeClr val="dk1"/>
                </a:solidFill>
                <a:latin typeface="Arial"/>
                <a:ea typeface="Arial"/>
                <a:cs typeface="Arial"/>
                <a:sym typeface="Arial"/>
              </a:rPr>
              <a:t>M</a:t>
            </a:r>
            <a:r>
              <a:rPr b="1" baseline="-25000" i="0" lang="en-US" sz="1400" u="none">
                <a:solidFill>
                  <a:schemeClr val="dk1"/>
                </a:solidFill>
                <a:latin typeface="Arial"/>
                <a:ea typeface="Arial"/>
                <a:cs typeface="Arial"/>
                <a:sym typeface="Arial"/>
              </a:rPr>
              <a:t>0 </a:t>
            </a:r>
            <a:r>
              <a:rPr b="1" i="0" lang="en-US" sz="1400" u="none">
                <a:solidFill>
                  <a:schemeClr val="dk1"/>
                </a:solidFill>
                <a:latin typeface="Arial"/>
                <a:ea typeface="Arial"/>
                <a:cs typeface="Arial"/>
                <a:sym typeface="Arial"/>
              </a:rPr>
              <a:t>+ P</a:t>
            </a:r>
            <a:r>
              <a:rPr b="1" baseline="-25000" i="0" lang="en-US" sz="1400" u="none">
                <a:solidFill>
                  <a:schemeClr val="dk1"/>
                </a:solidFill>
                <a:latin typeface="Arial"/>
                <a:ea typeface="Arial"/>
                <a:cs typeface="Arial"/>
                <a:sym typeface="Arial"/>
              </a:rPr>
              <a:t>maM</a:t>
            </a:r>
            <a:r>
              <a:rPr b="1" i="0" lang="en-US" sz="1400" u="none">
                <a:solidFill>
                  <a:schemeClr val="dk1"/>
                </a:solidFill>
                <a:latin typeface="Arial"/>
                <a:ea typeface="Arial"/>
                <a:cs typeface="Arial"/>
                <a:sym typeface="Arial"/>
              </a:rPr>
              <a:t> * Y</a:t>
            </a:r>
          </a:p>
          <a:p>
            <a:pPr indent="0" lvl="0" marL="0" marR="0" rtl="0" algn="l">
              <a:lnSpc>
                <a:spcPct val="115000"/>
              </a:lnSpc>
              <a:spcBef>
                <a:spcPts val="0"/>
              </a:spcBef>
              <a:spcAft>
                <a:spcPts val="0"/>
              </a:spcAft>
              <a:buClr>
                <a:schemeClr val="dk1"/>
              </a:buClr>
              <a:buFont typeface="Calibri"/>
              <a:buNone/>
            </a:pPr>
            <a:r>
              <a:t/>
            </a:r>
            <a:endParaRPr b="1" i="0" sz="1400" u="none">
              <a:solidFill>
                <a:srgbClr val="FF0000"/>
              </a:solidFill>
              <a:latin typeface="Arial"/>
              <a:ea typeface="Arial"/>
              <a:cs typeface="Arial"/>
              <a:sym typeface="Arial"/>
            </a:endParaRPr>
          </a:p>
          <a:p>
            <a:pPr indent="0" lvl="0" marL="0" marR="0" rtl="0" algn="l">
              <a:lnSpc>
                <a:spcPct val="115000"/>
              </a:lnSpc>
              <a:spcBef>
                <a:spcPts val="0"/>
              </a:spcBef>
              <a:spcAft>
                <a:spcPts val="0"/>
              </a:spcAft>
              <a:buClr>
                <a:srgbClr val="FF0000"/>
              </a:buClr>
              <a:buSzPct val="25000"/>
              <a:buFont typeface="Arial"/>
              <a:buNone/>
            </a:pPr>
            <a:r>
              <a:rPr b="1" i="0" lang="en-US" sz="1400" u="none">
                <a:solidFill>
                  <a:srgbClr val="FF0000"/>
                </a:solidFill>
                <a:latin typeface="Arial"/>
                <a:ea typeface="Arial"/>
                <a:cs typeface="Arial"/>
                <a:sym typeface="Arial"/>
              </a:rPr>
              <a:t>EN EQUILIBRIO OFERTA AGREGADA = DEMANDA AGREGADA</a:t>
            </a:r>
          </a:p>
          <a:p>
            <a:pPr indent="0" lvl="0" marL="0" marR="0" rtl="0" algn="l">
              <a:lnSpc>
                <a:spcPct val="125000"/>
              </a:lnSpc>
              <a:spcBef>
                <a:spcPts val="0"/>
              </a:spcBef>
              <a:spcAft>
                <a:spcPts val="0"/>
              </a:spcAft>
              <a:buClr>
                <a:schemeClr val="hlink"/>
              </a:buClr>
              <a:buSzPct val="25000"/>
              <a:buFont typeface="Tahoma"/>
              <a:buNone/>
            </a:pPr>
            <a:r>
              <a:rPr b="1" i="0" lang="en-US" sz="1400" u="sng">
                <a:solidFill>
                  <a:schemeClr val="hlink"/>
                </a:solidFill>
                <a:latin typeface="Tahoma"/>
                <a:ea typeface="Tahoma"/>
                <a:cs typeface="Tahoma"/>
                <a:sym typeface="Tahoma"/>
              </a:rPr>
              <a:t>Y</a:t>
            </a:r>
            <a:r>
              <a:rPr b="1" i="0" lang="en-US" sz="1400" u="none">
                <a:solidFill>
                  <a:srgbClr val="FF0000"/>
                </a:solidFill>
                <a:latin typeface="Tahoma"/>
                <a:ea typeface="Tahoma"/>
                <a:cs typeface="Tahoma"/>
                <a:sym typeface="Tahoma"/>
              </a:rPr>
              <a:t> + [</a:t>
            </a:r>
            <a:r>
              <a:rPr b="1" i="0" lang="en-US" sz="1400" u="sng">
                <a:solidFill>
                  <a:schemeClr val="dk1"/>
                </a:solidFill>
                <a:latin typeface="Tahoma"/>
                <a:ea typeface="Tahoma"/>
                <a:cs typeface="Tahoma"/>
                <a:sym typeface="Tahoma"/>
              </a:rPr>
              <a:t>M</a:t>
            </a:r>
            <a:r>
              <a:rPr b="1" baseline="-25000" i="0" lang="en-US" sz="1400" u="sng">
                <a:solidFill>
                  <a:schemeClr val="dk1"/>
                </a:solidFill>
                <a:latin typeface="Tahoma"/>
                <a:ea typeface="Tahoma"/>
                <a:cs typeface="Tahoma"/>
                <a:sym typeface="Tahoma"/>
              </a:rPr>
              <a:t>0 </a:t>
            </a:r>
            <a:r>
              <a:rPr b="1" i="0" lang="en-US" sz="1400" u="sng">
                <a:solidFill>
                  <a:srgbClr val="FF0000"/>
                </a:solidFill>
                <a:latin typeface="Tahoma"/>
                <a:ea typeface="Tahoma"/>
                <a:cs typeface="Tahoma"/>
                <a:sym typeface="Tahoma"/>
              </a:rPr>
              <a:t>+</a:t>
            </a:r>
            <a:r>
              <a:rPr b="1" i="0" lang="en-US" sz="1400" u="sng">
                <a:solidFill>
                  <a:schemeClr val="dk1"/>
                </a:solidFill>
                <a:latin typeface="Tahoma"/>
                <a:ea typeface="Tahoma"/>
                <a:cs typeface="Tahoma"/>
                <a:sym typeface="Tahoma"/>
              </a:rPr>
              <a:t> P</a:t>
            </a:r>
            <a:r>
              <a:rPr b="1" baseline="-25000" i="0" lang="en-US" sz="1400" u="sng">
                <a:solidFill>
                  <a:schemeClr val="dk1"/>
                </a:solidFill>
                <a:latin typeface="Tahoma"/>
                <a:ea typeface="Tahoma"/>
                <a:cs typeface="Tahoma"/>
                <a:sym typeface="Tahoma"/>
              </a:rPr>
              <a:t>maM</a:t>
            </a:r>
            <a:r>
              <a:rPr b="1" i="0" lang="en-US" sz="1400" u="sng">
                <a:solidFill>
                  <a:schemeClr val="dk1"/>
                </a:solidFill>
                <a:latin typeface="Tahoma"/>
                <a:ea typeface="Tahoma"/>
                <a:cs typeface="Tahoma"/>
                <a:sym typeface="Tahoma"/>
              </a:rPr>
              <a:t> * </a:t>
            </a:r>
            <a:r>
              <a:rPr b="1" i="0" lang="en-US" sz="1400" u="sng">
                <a:solidFill>
                  <a:schemeClr val="hlink"/>
                </a:solidFill>
                <a:latin typeface="Tahoma"/>
                <a:ea typeface="Tahoma"/>
                <a:cs typeface="Tahoma"/>
                <a:sym typeface="Tahoma"/>
              </a:rPr>
              <a:t>Y</a:t>
            </a:r>
            <a:r>
              <a:rPr b="1" i="0" lang="en-US" sz="1400" u="none">
                <a:solidFill>
                  <a:srgbClr val="FF0000"/>
                </a:solidFill>
                <a:latin typeface="Tahoma"/>
                <a:ea typeface="Tahoma"/>
                <a:cs typeface="Tahoma"/>
                <a:sym typeface="Tahoma"/>
              </a:rPr>
              <a:t>] =</a:t>
            </a:r>
            <a:r>
              <a:rPr b="1" i="0" lang="en-US" sz="1400" u="none">
                <a:solidFill>
                  <a:schemeClr val="dk1"/>
                </a:solidFill>
                <a:latin typeface="Tahoma"/>
                <a:ea typeface="Tahoma"/>
                <a:cs typeface="Tahoma"/>
                <a:sym typeface="Tahoma"/>
              </a:rPr>
              <a:t> [</a:t>
            </a:r>
            <a:r>
              <a:rPr b="1" i="0" lang="en-US" sz="1400" u="sng">
                <a:solidFill>
                  <a:schemeClr val="dk1"/>
                </a:solidFill>
                <a:latin typeface="Tahoma"/>
                <a:ea typeface="Tahoma"/>
                <a:cs typeface="Tahoma"/>
                <a:sym typeface="Tahoma"/>
              </a:rPr>
              <a:t>C</a:t>
            </a:r>
            <a:r>
              <a:rPr b="1" baseline="-25000" i="0" lang="en-US" sz="1400" u="sng">
                <a:solidFill>
                  <a:schemeClr val="dk1"/>
                </a:solidFill>
                <a:latin typeface="Tahoma"/>
                <a:ea typeface="Tahoma"/>
                <a:cs typeface="Tahoma"/>
                <a:sym typeface="Tahoma"/>
              </a:rPr>
              <a:t>0</a:t>
            </a:r>
            <a:r>
              <a:rPr b="1" i="0" lang="en-US" sz="1400" u="sng">
                <a:solidFill>
                  <a:srgbClr val="FF0000"/>
                </a:solidFill>
                <a:latin typeface="Tahoma"/>
                <a:ea typeface="Tahoma"/>
                <a:cs typeface="Tahoma"/>
                <a:sym typeface="Tahoma"/>
              </a:rPr>
              <a:t> + </a:t>
            </a:r>
            <a:r>
              <a:rPr b="1" i="0" lang="en-US" sz="1400" u="sng">
                <a:solidFill>
                  <a:schemeClr val="dk1"/>
                </a:solidFill>
                <a:latin typeface="Tahoma"/>
                <a:ea typeface="Tahoma"/>
                <a:cs typeface="Tahoma"/>
                <a:sym typeface="Tahoma"/>
              </a:rPr>
              <a:t>P</a:t>
            </a:r>
            <a:r>
              <a:rPr b="1" baseline="-25000" i="0" lang="en-US" sz="1400" u="sng">
                <a:solidFill>
                  <a:schemeClr val="dk1"/>
                </a:solidFill>
                <a:latin typeface="Tahoma"/>
                <a:ea typeface="Tahoma"/>
                <a:cs typeface="Tahoma"/>
                <a:sym typeface="Tahoma"/>
              </a:rPr>
              <a:t>maC</a:t>
            </a:r>
            <a:r>
              <a:rPr b="1" i="0" lang="en-US" sz="1400" u="sng">
                <a:solidFill>
                  <a:srgbClr val="FF0000"/>
                </a:solidFill>
                <a:latin typeface="Tahoma"/>
                <a:ea typeface="Tahoma"/>
                <a:cs typeface="Tahoma"/>
                <a:sym typeface="Tahoma"/>
              </a:rPr>
              <a:t> *</a:t>
            </a:r>
            <a:r>
              <a:rPr b="1" i="0" lang="en-US" sz="1400" u="sng">
                <a:solidFill>
                  <a:schemeClr val="hlink"/>
                </a:solidFill>
                <a:latin typeface="Tahoma"/>
                <a:ea typeface="Tahoma"/>
                <a:cs typeface="Tahoma"/>
                <a:sym typeface="Tahoma"/>
              </a:rPr>
              <a:t> Y</a:t>
            </a:r>
            <a:r>
              <a:rPr b="1" i="0" lang="en-US" sz="1400" u="sng">
                <a:solidFill>
                  <a:srgbClr val="FF0000"/>
                </a:solidFill>
                <a:latin typeface="Tahoma"/>
                <a:ea typeface="Tahoma"/>
                <a:cs typeface="Tahoma"/>
                <a:sym typeface="Tahoma"/>
              </a:rPr>
              <a:t> – </a:t>
            </a:r>
            <a:r>
              <a:rPr b="1" i="0" lang="en-US" sz="1400" u="sng">
                <a:solidFill>
                  <a:schemeClr val="dk1"/>
                </a:solidFill>
                <a:latin typeface="Tahoma"/>
                <a:ea typeface="Tahoma"/>
                <a:cs typeface="Tahoma"/>
                <a:sym typeface="Tahoma"/>
              </a:rPr>
              <a:t>P</a:t>
            </a:r>
            <a:r>
              <a:rPr b="1" baseline="-25000" i="0" lang="en-US" sz="1400" u="sng">
                <a:solidFill>
                  <a:schemeClr val="dk1"/>
                </a:solidFill>
                <a:latin typeface="Tahoma"/>
                <a:ea typeface="Tahoma"/>
                <a:cs typeface="Tahoma"/>
                <a:sym typeface="Tahoma"/>
              </a:rPr>
              <a:t>maC</a:t>
            </a:r>
            <a:r>
              <a:rPr b="1" i="0" lang="en-US" sz="1400" u="sng">
                <a:solidFill>
                  <a:srgbClr val="FF0000"/>
                </a:solidFill>
                <a:latin typeface="Tahoma"/>
                <a:ea typeface="Tahoma"/>
                <a:cs typeface="Tahoma"/>
                <a:sym typeface="Tahoma"/>
              </a:rPr>
              <a:t> * </a:t>
            </a:r>
            <a:r>
              <a:rPr b="1" i="0" lang="en-US" sz="1400" u="sng">
                <a:solidFill>
                  <a:schemeClr val="dk1"/>
                </a:solidFill>
                <a:latin typeface="Tahoma"/>
                <a:ea typeface="Tahoma"/>
                <a:cs typeface="Tahoma"/>
                <a:sym typeface="Tahoma"/>
              </a:rPr>
              <a:t>T</a:t>
            </a:r>
            <a:r>
              <a:rPr b="1" baseline="-25000" i="0" lang="en-US" sz="1400" u="sng">
                <a:solidFill>
                  <a:schemeClr val="dk1"/>
                </a:solidFill>
                <a:latin typeface="Tahoma"/>
                <a:ea typeface="Tahoma"/>
                <a:cs typeface="Tahoma"/>
                <a:sym typeface="Tahoma"/>
              </a:rPr>
              <a:t>X0</a:t>
            </a:r>
            <a:r>
              <a:rPr b="1" i="0" lang="en-US" sz="1400" u="sng">
                <a:solidFill>
                  <a:srgbClr val="FF0000"/>
                </a:solidFill>
                <a:latin typeface="Tahoma"/>
                <a:ea typeface="Tahoma"/>
                <a:cs typeface="Tahoma"/>
                <a:sym typeface="Tahoma"/>
              </a:rPr>
              <a:t> –  </a:t>
            </a:r>
            <a:r>
              <a:rPr b="1" i="0" lang="en-US" sz="1400" u="sng">
                <a:solidFill>
                  <a:schemeClr val="dk1"/>
                </a:solidFill>
                <a:latin typeface="Tahoma"/>
                <a:ea typeface="Tahoma"/>
                <a:cs typeface="Tahoma"/>
                <a:sym typeface="Tahoma"/>
              </a:rPr>
              <a:t>P</a:t>
            </a:r>
            <a:r>
              <a:rPr b="1" baseline="-25000" i="0" lang="en-US" sz="1400" u="sng">
                <a:solidFill>
                  <a:schemeClr val="dk1"/>
                </a:solidFill>
                <a:latin typeface="Tahoma"/>
                <a:ea typeface="Tahoma"/>
                <a:cs typeface="Tahoma"/>
                <a:sym typeface="Tahoma"/>
              </a:rPr>
              <a:t>maC</a:t>
            </a:r>
            <a:r>
              <a:rPr b="1" i="0" lang="en-US" sz="1400" u="sng">
                <a:solidFill>
                  <a:srgbClr val="FF0000"/>
                </a:solidFill>
                <a:latin typeface="Tahoma"/>
                <a:ea typeface="Tahoma"/>
                <a:cs typeface="Tahoma"/>
                <a:sym typeface="Tahoma"/>
              </a:rPr>
              <a:t> * </a:t>
            </a:r>
            <a:r>
              <a:rPr b="1" i="0" lang="en-US" sz="1400" u="sng">
                <a:solidFill>
                  <a:schemeClr val="dk1"/>
                </a:solidFill>
                <a:latin typeface="Tahoma"/>
                <a:ea typeface="Tahoma"/>
                <a:cs typeface="Tahoma"/>
                <a:sym typeface="Tahoma"/>
              </a:rPr>
              <a:t>P</a:t>
            </a:r>
            <a:r>
              <a:rPr b="1" baseline="-25000" i="0" lang="en-US" sz="1400" u="sng">
                <a:solidFill>
                  <a:schemeClr val="dk1"/>
                </a:solidFill>
                <a:latin typeface="Tahoma"/>
                <a:ea typeface="Tahoma"/>
                <a:cs typeface="Tahoma"/>
                <a:sym typeface="Tahoma"/>
              </a:rPr>
              <a:t>maT</a:t>
            </a:r>
            <a:r>
              <a:rPr b="1" i="0" lang="en-US" sz="1400" u="sng">
                <a:solidFill>
                  <a:schemeClr val="dk1"/>
                </a:solidFill>
                <a:latin typeface="Tahoma"/>
                <a:ea typeface="Tahoma"/>
                <a:cs typeface="Tahoma"/>
                <a:sym typeface="Tahoma"/>
              </a:rPr>
              <a:t> </a:t>
            </a:r>
            <a:r>
              <a:rPr b="1" i="0" lang="en-US" sz="1400" u="sng">
                <a:solidFill>
                  <a:srgbClr val="FF0000"/>
                </a:solidFill>
                <a:latin typeface="Tahoma"/>
                <a:ea typeface="Tahoma"/>
                <a:cs typeface="Tahoma"/>
                <a:sym typeface="Tahoma"/>
              </a:rPr>
              <a:t>* </a:t>
            </a:r>
            <a:r>
              <a:rPr b="1" i="0" lang="en-US" sz="1400" u="sng">
                <a:solidFill>
                  <a:schemeClr val="hlink"/>
                </a:solidFill>
                <a:latin typeface="Tahoma"/>
                <a:ea typeface="Tahoma"/>
                <a:cs typeface="Tahoma"/>
                <a:sym typeface="Tahoma"/>
              </a:rPr>
              <a:t>Y</a:t>
            </a:r>
            <a:r>
              <a:rPr b="1" i="0" lang="en-US" sz="1400" u="sng">
                <a:solidFill>
                  <a:schemeClr val="dk1"/>
                </a:solidFill>
                <a:latin typeface="Tahoma"/>
                <a:ea typeface="Tahoma"/>
                <a:cs typeface="Tahoma"/>
                <a:sym typeface="Tahoma"/>
              </a:rPr>
              <a:t> </a:t>
            </a:r>
            <a:r>
              <a:rPr b="1" i="0" lang="en-US" sz="1400" u="sng">
                <a:solidFill>
                  <a:srgbClr val="FF0000"/>
                </a:solidFill>
                <a:latin typeface="Tahoma"/>
                <a:ea typeface="Tahoma"/>
                <a:cs typeface="Tahoma"/>
                <a:sym typeface="Tahoma"/>
              </a:rPr>
              <a:t>+</a:t>
            </a:r>
            <a:r>
              <a:rPr b="1" i="0" lang="en-US" sz="1400" u="sng">
                <a:solidFill>
                  <a:schemeClr val="dk1"/>
                </a:solidFill>
                <a:latin typeface="Tahoma"/>
                <a:ea typeface="Tahoma"/>
                <a:cs typeface="Tahoma"/>
                <a:sym typeface="Tahoma"/>
              </a:rPr>
              <a:t>  P</a:t>
            </a:r>
            <a:r>
              <a:rPr b="1" baseline="-25000" i="0" lang="en-US" sz="1400" u="sng">
                <a:solidFill>
                  <a:schemeClr val="dk1"/>
                </a:solidFill>
                <a:latin typeface="Tahoma"/>
                <a:ea typeface="Tahoma"/>
                <a:cs typeface="Tahoma"/>
                <a:sym typeface="Tahoma"/>
              </a:rPr>
              <a:t>maC</a:t>
            </a:r>
            <a:r>
              <a:rPr b="1" i="0" lang="en-US" sz="1400" u="sng">
                <a:solidFill>
                  <a:srgbClr val="FF0000"/>
                </a:solidFill>
                <a:latin typeface="Tahoma"/>
                <a:ea typeface="Tahoma"/>
                <a:cs typeface="Tahoma"/>
                <a:sym typeface="Tahoma"/>
              </a:rPr>
              <a:t> * </a:t>
            </a:r>
            <a:r>
              <a:rPr b="1" i="0" lang="en-US" sz="1400" u="sng">
                <a:solidFill>
                  <a:schemeClr val="dk1"/>
                </a:solidFill>
                <a:latin typeface="Tahoma"/>
                <a:ea typeface="Tahoma"/>
                <a:cs typeface="Tahoma"/>
                <a:sym typeface="Tahoma"/>
              </a:rPr>
              <a:t>T</a:t>
            </a:r>
            <a:r>
              <a:rPr b="1" baseline="-25000" i="0" lang="en-US" sz="1400" u="sng">
                <a:solidFill>
                  <a:schemeClr val="dk1"/>
                </a:solidFill>
                <a:latin typeface="Tahoma"/>
                <a:ea typeface="Tahoma"/>
                <a:cs typeface="Tahoma"/>
                <a:sym typeface="Tahoma"/>
              </a:rPr>
              <a:t>R0</a:t>
            </a:r>
            <a:r>
              <a:rPr b="1" i="0" lang="en-US" sz="1400" u="none">
                <a:solidFill>
                  <a:schemeClr val="dk1"/>
                </a:solidFill>
                <a:latin typeface="Tahoma"/>
                <a:ea typeface="Tahoma"/>
                <a:cs typeface="Tahoma"/>
                <a:sym typeface="Tahoma"/>
              </a:rPr>
              <a:t>] </a:t>
            </a:r>
            <a:r>
              <a:rPr b="1" i="0" lang="en-US" sz="1400" u="none">
                <a:solidFill>
                  <a:srgbClr val="FF0000"/>
                </a:solidFill>
                <a:latin typeface="Tahoma"/>
                <a:ea typeface="Tahoma"/>
                <a:cs typeface="Tahoma"/>
                <a:sym typeface="Tahoma"/>
              </a:rPr>
              <a:t>+ </a:t>
            </a:r>
            <a:r>
              <a:rPr b="1" i="0" lang="en-US" sz="1400" u="none">
                <a:solidFill>
                  <a:schemeClr val="dk1"/>
                </a:solidFill>
                <a:latin typeface="Tahoma"/>
                <a:ea typeface="Tahoma"/>
                <a:cs typeface="Tahoma"/>
                <a:sym typeface="Tahoma"/>
              </a:rPr>
              <a:t>[</a:t>
            </a:r>
            <a:r>
              <a:rPr b="1" i="0" lang="en-US" sz="1400" u="sng">
                <a:solidFill>
                  <a:schemeClr val="dk1"/>
                </a:solidFill>
                <a:latin typeface="Tahoma"/>
                <a:ea typeface="Tahoma"/>
                <a:cs typeface="Tahoma"/>
                <a:sym typeface="Tahoma"/>
              </a:rPr>
              <a:t>I</a:t>
            </a:r>
            <a:r>
              <a:rPr b="1" baseline="-25000" i="0" lang="en-US" sz="1400" u="sng">
                <a:solidFill>
                  <a:schemeClr val="dk1"/>
                </a:solidFill>
                <a:latin typeface="Tahoma"/>
                <a:ea typeface="Tahoma"/>
                <a:cs typeface="Tahoma"/>
                <a:sym typeface="Tahoma"/>
              </a:rPr>
              <a:t>0</a:t>
            </a:r>
            <a:r>
              <a:rPr b="1" i="0" lang="en-US" sz="1400" u="sng">
                <a:solidFill>
                  <a:srgbClr val="FF0000"/>
                </a:solidFill>
                <a:latin typeface="Tahoma"/>
                <a:ea typeface="Tahoma"/>
                <a:cs typeface="Tahoma"/>
                <a:sym typeface="Tahoma"/>
              </a:rPr>
              <a:t> – </a:t>
            </a:r>
            <a:r>
              <a:rPr b="1" i="0" lang="en-US" sz="1400" u="sng">
                <a:solidFill>
                  <a:schemeClr val="dk1"/>
                </a:solidFill>
                <a:latin typeface="Tahoma"/>
                <a:ea typeface="Tahoma"/>
                <a:cs typeface="Tahoma"/>
                <a:sym typeface="Tahoma"/>
              </a:rPr>
              <a:t>b * i</a:t>
            </a:r>
            <a:r>
              <a:rPr b="1" i="0" lang="en-US" sz="1400" u="none">
                <a:solidFill>
                  <a:schemeClr val="dk1"/>
                </a:solidFill>
                <a:latin typeface="Tahoma"/>
                <a:ea typeface="Tahoma"/>
                <a:cs typeface="Tahoma"/>
                <a:sym typeface="Tahoma"/>
              </a:rPr>
              <a:t>] </a:t>
            </a:r>
            <a:r>
              <a:rPr b="1" i="0" lang="en-US" sz="1400" u="none">
                <a:solidFill>
                  <a:srgbClr val="FF0000"/>
                </a:solidFill>
                <a:latin typeface="Tahoma"/>
                <a:ea typeface="Tahoma"/>
                <a:cs typeface="Tahoma"/>
                <a:sym typeface="Tahoma"/>
              </a:rPr>
              <a:t>+ </a:t>
            </a:r>
            <a:r>
              <a:rPr b="1" i="0" lang="en-US" sz="1400" u="none">
                <a:solidFill>
                  <a:schemeClr val="dk1"/>
                </a:solidFill>
                <a:latin typeface="Tahoma"/>
                <a:ea typeface="Tahoma"/>
                <a:cs typeface="Tahoma"/>
                <a:sym typeface="Tahoma"/>
              </a:rPr>
              <a:t>[</a:t>
            </a:r>
            <a:r>
              <a:rPr b="1" i="0" lang="en-US" sz="1400" u="sng">
                <a:solidFill>
                  <a:schemeClr val="dk1"/>
                </a:solidFill>
                <a:latin typeface="Tahoma"/>
                <a:ea typeface="Tahoma"/>
                <a:cs typeface="Tahoma"/>
                <a:sym typeface="Tahoma"/>
              </a:rPr>
              <a:t>GP</a:t>
            </a:r>
            <a:r>
              <a:rPr b="1" baseline="-25000" i="0" lang="en-US" sz="1400" u="sng">
                <a:solidFill>
                  <a:schemeClr val="dk1"/>
                </a:solidFill>
                <a:latin typeface="Tahoma"/>
                <a:ea typeface="Tahoma"/>
                <a:cs typeface="Tahoma"/>
                <a:sym typeface="Tahoma"/>
              </a:rPr>
              <a:t>0 </a:t>
            </a:r>
            <a:r>
              <a:rPr b="1" i="0" lang="en-US" sz="1400" u="none">
                <a:solidFill>
                  <a:schemeClr val="dk1"/>
                </a:solidFill>
                <a:latin typeface="Tahoma"/>
                <a:ea typeface="Tahoma"/>
                <a:cs typeface="Tahoma"/>
                <a:sym typeface="Tahoma"/>
              </a:rPr>
              <a:t>] </a:t>
            </a:r>
            <a:r>
              <a:rPr b="1" i="0" lang="en-US" sz="1400" u="none">
                <a:solidFill>
                  <a:srgbClr val="FF0000"/>
                </a:solidFill>
                <a:latin typeface="Tahoma"/>
                <a:ea typeface="Tahoma"/>
                <a:cs typeface="Tahoma"/>
                <a:sym typeface="Tahoma"/>
              </a:rPr>
              <a:t>+ </a:t>
            </a:r>
            <a:r>
              <a:rPr b="1" i="0" lang="en-US" sz="1400" u="none">
                <a:solidFill>
                  <a:schemeClr val="dk1"/>
                </a:solidFill>
                <a:latin typeface="Tahoma"/>
                <a:ea typeface="Tahoma"/>
                <a:cs typeface="Tahoma"/>
                <a:sym typeface="Tahoma"/>
              </a:rPr>
              <a:t>[</a:t>
            </a:r>
            <a:r>
              <a:rPr b="1" i="0" lang="en-US" sz="1400" u="none">
                <a:solidFill>
                  <a:srgbClr val="FF0000"/>
                </a:solidFill>
                <a:latin typeface="Tahoma"/>
                <a:ea typeface="Tahoma"/>
                <a:cs typeface="Tahoma"/>
                <a:sym typeface="Tahoma"/>
              </a:rPr>
              <a:t> </a:t>
            </a:r>
            <a:r>
              <a:rPr b="1" i="0" lang="en-US" sz="1400" u="sng">
                <a:solidFill>
                  <a:schemeClr val="dk1"/>
                </a:solidFill>
                <a:latin typeface="Tahoma"/>
                <a:ea typeface="Tahoma"/>
                <a:cs typeface="Tahoma"/>
                <a:sym typeface="Tahoma"/>
              </a:rPr>
              <a:t>X</a:t>
            </a:r>
            <a:r>
              <a:rPr b="1" baseline="-25000" i="0" lang="en-US" sz="1400" u="sng">
                <a:solidFill>
                  <a:schemeClr val="dk1"/>
                </a:solidFill>
                <a:latin typeface="Tahoma"/>
                <a:ea typeface="Tahoma"/>
                <a:cs typeface="Tahoma"/>
                <a:sym typeface="Tahoma"/>
              </a:rPr>
              <a:t>0 </a:t>
            </a:r>
            <a:r>
              <a:rPr b="1" i="0" lang="en-US" sz="1400" u="none">
                <a:solidFill>
                  <a:schemeClr val="dk1"/>
                </a:solidFill>
                <a:latin typeface="Tahoma"/>
                <a:ea typeface="Tahoma"/>
                <a:cs typeface="Tahoma"/>
                <a:sym typeface="Tahoma"/>
              </a:rPr>
              <a:t>]</a:t>
            </a:r>
          </a:p>
          <a:p>
            <a:pPr indent="0" lvl="0" marL="0" marR="0" rtl="0" algn="l">
              <a:lnSpc>
                <a:spcPct val="110000"/>
              </a:lnSpc>
              <a:spcBef>
                <a:spcPts val="0"/>
              </a:spcBef>
              <a:spcAft>
                <a:spcPts val="0"/>
              </a:spcAft>
              <a:buClr>
                <a:schemeClr val="dk1"/>
              </a:buClr>
              <a:buFont typeface="Calibri"/>
              <a:buNone/>
            </a:pPr>
            <a:r>
              <a:t/>
            </a:r>
            <a:endParaRPr b="1" i="1" sz="1400" u="none">
              <a:solidFill>
                <a:srgbClr val="FF0000"/>
              </a:solidFill>
              <a:latin typeface="Tahoma"/>
              <a:ea typeface="Tahoma"/>
              <a:cs typeface="Tahoma"/>
              <a:sym typeface="Tahoma"/>
            </a:endParaRPr>
          </a:p>
          <a:p>
            <a:pPr indent="0" lvl="0" marL="0" marR="0" rtl="0" algn="l">
              <a:lnSpc>
                <a:spcPct val="110000"/>
              </a:lnSpc>
              <a:spcBef>
                <a:spcPts val="0"/>
              </a:spcBef>
              <a:spcAft>
                <a:spcPts val="0"/>
              </a:spcAft>
              <a:buClr>
                <a:schemeClr val="dk1"/>
              </a:buClr>
              <a:buFont typeface="Calibri"/>
              <a:buNone/>
            </a:pPr>
            <a:r>
              <a:t/>
            </a:r>
            <a:endParaRPr b="1" i="1" sz="1400" u="none">
              <a:solidFill>
                <a:srgbClr val="FF0000"/>
              </a:solidFill>
              <a:latin typeface="Tahoma"/>
              <a:ea typeface="Tahoma"/>
              <a:cs typeface="Tahoma"/>
              <a:sym typeface="Tahoma"/>
            </a:endParaRPr>
          </a:p>
          <a:p>
            <a:pPr indent="0" lvl="0" marL="0" marR="0" rtl="0" algn="l">
              <a:lnSpc>
                <a:spcPct val="110000"/>
              </a:lnSpc>
              <a:spcBef>
                <a:spcPts val="0"/>
              </a:spcBef>
              <a:spcAft>
                <a:spcPts val="0"/>
              </a:spcAft>
              <a:buClr>
                <a:srgbClr val="FF0000"/>
              </a:buClr>
              <a:buSzPct val="25000"/>
              <a:buFont typeface="Tahoma"/>
              <a:buNone/>
            </a:pPr>
            <a:r>
              <a:rPr b="1" i="1" lang="en-US" sz="1400" u="none">
                <a:solidFill>
                  <a:srgbClr val="FF0000"/>
                </a:solidFill>
                <a:latin typeface="Tahoma"/>
                <a:ea typeface="Tahoma"/>
                <a:cs typeface="Tahoma"/>
                <a:sym typeface="Tahoma"/>
              </a:rPr>
              <a:t>Y =</a:t>
            </a:r>
            <a:r>
              <a:rPr b="1" i="1" lang="en-US" sz="1400" u="none">
                <a:solidFill>
                  <a:schemeClr val="hlink"/>
                </a:solidFill>
                <a:latin typeface="Tahoma"/>
                <a:ea typeface="Tahoma"/>
                <a:cs typeface="Tahoma"/>
                <a:sym typeface="Tahoma"/>
              </a:rPr>
              <a:t>[1/(1 - P</a:t>
            </a:r>
            <a:r>
              <a:rPr b="1" baseline="-25000" i="1" lang="en-US" sz="1400" u="none">
                <a:solidFill>
                  <a:schemeClr val="hlink"/>
                </a:solidFill>
                <a:latin typeface="Tahoma"/>
                <a:ea typeface="Tahoma"/>
                <a:cs typeface="Tahoma"/>
                <a:sym typeface="Tahoma"/>
              </a:rPr>
              <a:t>maC </a:t>
            </a:r>
            <a:r>
              <a:rPr b="1" i="1" lang="en-US" sz="1400" u="none">
                <a:solidFill>
                  <a:schemeClr val="hlink"/>
                </a:solidFill>
                <a:latin typeface="Tahoma"/>
                <a:ea typeface="Tahoma"/>
                <a:cs typeface="Tahoma"/>
                <a:sym typeface="Tahoma"/>
              </a:rPr>
              <a:t>+  P</a:t>
            </a:r>
            <a:r>
              <a:rPr b="1" baseline="-25000" i="1" lang="en-US" sz="1400" u="none">
                <a:solidFill>
                  <a:schemeClr val="hlink"/>
                </a:solidFill>
                <a:latin typeface="Tahoma"/>
                <a:ea typeface="Tahoma"/>
                <a:cs typeface="Tahoma"/>
                <a:sym typeface="Tahoma"/>
              </a:rPr>
              <a:t>maC</a:t>
            </a:r>
            <a:r>
              <a:rPr b="1" i="1" lang="en-US" sz="1400" u="none">
                <a:solidFill>
                  <a:schemeClr val="hlink"/>
                </a:solidFill>
                <a:latin typeface="Tahoma"/>
                <a:ea typeface="Tahoma"/>
                <a:cs typeface="Tahoma"/>
                <a:sym typeface="Tahoma"/>
              </a:rPr>
              <a:t>*P</a:t>
            </a:r>
            <a:r>
              <a:rPr b="1" baseline="-25000" i="1" lang="en-US" sz="1400" u="none">
                <a:solidFill>
                  <a:schemeClr val="hlink"/>
                </a:solidFill>
                <a:latin typeface="Tahoma"/>
                <a:ea typeface="Tahoma"/>
                <a:cs typeface="Tahoma"/>
                <a:sym typeface="Tahoma"/>
              </a:rPr>
              <a:t>maT</a:t>
            </a:r>
            <a:r>
              <a:rPr b="1" i="1" lang="en-US" sz="1400" u="none">
                <a:solidFill>
                  <a:schemeClr val="hlink"/>
                </a:solidFill>
                <a:latin typeface="Tahoma"/>
                <a:ea typeface="Tahoma"/>
                <a:cs typeface="Tahoma"/>
                <a:sym typeface="Tahoma"/>
              </a:rPr>
              <a:t> + P</a:t>
            </a:r>
            <a:r>
              <a:rPr b="1" baseline="-25000" i="1" lang="en-US" sz="1400" u="none">
                <a:solidFill>
                  <a:schemeClr val="hlink"/>
                </a:solidFill>
                <a:latin typeface="Tahoma"/>
                <a:ea typeface="Tahoma"/>
                <a:cs typeface="Tahoma"/>
                <a:sym typeface="Tahoma"/>
              </a:rPr>
              <a:t>maM</a:t>
            </a:r>
            <a:r>
              <a:rPr b="1" i="1" lang="en-US" sz="1400" u="none">
                <a:solidFill>
                  <a:schemeClr val="hlink"/>
                </a:solidFill>
                <a:latin typeface="Tahoma"/>
                <a:ea typeface="Tahoma"/>
                <a:cs typeface="Tahoma"/>
                <a:sym typeface="Tahoma"/>
              </a:rPr>
              <a:t>)]</a:t>
            </a:r>
            <a:r>
              <a:rPr b="1" i="1" lang="en-US" sz="1400" u="none">
                <a:solidFill>
                  <a:schemeClr val="dk1"/>
                </a:solidFill>
                <a:latin typeface="Tahoma"/>
                <a:ea typeface="Tahoma"/>
                <a:cs typeface="Tahoma"/>
                <a:sym typeface="Tahoma"/>
              </a:rPr>
              <a:t>*{(C</a:t>
            </a:r>
            <a:r>
              <a:rPr b="1" baseline="-25000" i="1" lang="en-US" sz="1400" u="none">
                <a:solidFill>
                  <a:schemeClr val="dk1"/>
                </a:solidFill>
                <a:latin typeface="Tahoma"/>
                <a:ea typeface="Tahoma"/>
                <a:cs typeface="Tahoma"/>
                <a:sym typeface="Tahoma"/>
              </a:rPr>
              <a:t>0</a:t>
            </a:r>
            <a:r>
              <a:rPr b="1" i="1" lang="en-US" sz="1400" u="none">
                <a:solidFill>
                  <a:srgbClr val="FF0000"/>
                </a:solidFill>
                <a:latin typeface="Tahoma"/>
                <a:ea typeface="Tahoma"/>
                <a:cs typeface="Tahoma"/>
                <a:sym typeface="Tahoma"/>
              </a:rPr>
              <a:t> </a:t>
            </a:r>
            <a:r>
              <a:rPr b="1" i="1" lang="en-US" sz="1400" u="none">
                <a:solidFill>
                  <a:schemeClr val="dk1"/>
                </a:solidFill>
                <a:latin typeface="Tahoma"/>
                <a:ea typeface="Tahoma"/>
                <a:cs typeface="Tahoma"/>
                <a:sym typeface="Tahoma"/>
              </a:rPr>
              <a:t>+ I</a:t>
            </a:r>
            <a:r>
              <a:rPr b="1" baseline="-25000" i="1" lang="en-US" sz="1400" u="none">
                <a:solidFill>
                  <a:schemeClr val="dk1"/>
                </a:solidFill>
                <a:latin typeface="Tahoma"/>
                <a:ea typeface="Tahoma"/>
                <a:cs typeface="Tahoma"/>
                <a:sym typeface="Tahoma"/>
              </a:rPr>
              <a:t>0</a:t>
            </a:r>
            <a:r>
              <a:rPr b="1" i="1" lang="en-US" sz="1400" u="none">
                <a:solidFill>
                  <a:schemeClr val="dk1"/>
                </a:solidFill>
                <a:latin typeface="Tahoma"/>
                <a:ea typeface="Tahoma"/>
                <a:cs typeface="Tahoma"/>
                <a:sym typeface="Tahoma"/>
              </a:rPr>
              <a:t> + GP</a:t>
            </a:r>
            <a:r>
              <a:rPr b="1" baseline="-25000" i="1" lang="en-US" sz="1400" u="none">
                <a:solidFill>
                  <a:schemeClr val="dk1"/>
                </a:solidFill>
                <a:latin typeface="Tahoma"/>
                <a:ea typeface="Tahoma"/>
                <a:cs typeface="Tahoma"/>
                <a:sym typeface="Tahoma"/>
              </a:rPr>
              <a:t>0</a:t>
            </a:r>
            <a:r>
              <a:rPr b="1" i="1" lang="en-US" sz="1400" u="none">
                <a:solidFill>
                  <a:schemeClr val="dk1"/>
                </a:solidFill>
                <a:latin typeface="Tahoma"/>
                <a:ea typeface="Tahoma"/>
                <a:cs typeface="Tahoma"/>
                <a:sym typeface="Tahoma"/>
              </a:rPr>
              <a:t> + X</a:t>
            </a:r>
            <a:r>
              <a:rPr b="1" baseline="-25000" i="1" lang="en-US" sz="1400" u="none">
                <a:solidFill>
                  <a:schemeClr val="dk1"/>
                </a:solidFill>
                <a:latin typeface="Tahoma"/>
                <a:ea typeface="Tahoma"/>
                <a:cs typeface="Tahoma"/>
                <a:sym typeface="Tahoma"/>
              </a:rPr>
              <a:t>0</a:t>
            </a:r>
            <a:r>
              <a:rPr b="1" i="1" lang="en-US" sz="1400" u="none">
                <a:solidFill>
                  <a:schemeClr val="dk1"/>
                </a:solidFill>
                <a:latin typeface="Tahoma"/>
                <a:ea typeface="Tahoma"/>
                <a:cs typeface="Tahoma"/>
                <a:sym typeface="Tahoma"/>
              </a:rPr>
              <a:t> – M</a:t>
            </a:r>
            <a:r>
              <a:rPr b="1" baseline="-25000" i="1" lang="en-US" sz="1400" u="none">
                <a:solidFill>
                  <a:schemeClr val="dk1"/>
                </a:solidFill>
                <a:latin typeface="Tahoma"/>
                <a:ea typeface="Tahoma"/>
                <a:cs typeface="Tahoma"/>
                <a:sym typeface="Tahoma"/>
              </a:rPr>
              <a:t>0</a:t>
            </a:r>
            <a:r>
              <a:rPr b="1" i="1" lang="en-US" sz="1400" u="none">
                <a:solidFill>
                  <a:schemeClr val="dk1"/>
                </a:solidFill>
                <a:latin typeface="Tahoma"/>
                <a:ea typeface="Tahoma"/>
                <a:cs typeface="Tahoma"/>
                <a:sym typeface="Tahoma"/>
              </a:rPr>
              <a:t> –</a:t>
            </a:r>
            <a:r>
              <a:rPr b="1" i="1" lang="en-US" sz="1400" u="none">
                <a:solidFill>
                  <a:srgbClr val="FF0000"/>
                </a:solidFill>
                <a:latin typeface="Tahoma"/>
                <a:ea typeface="Tahoma"/>
                <a:cs typeface="Tahoma"/>
                <a:sym typeface="Tahoma"/>
              </a:rPr>
              <a:t> </a:t>
            </a:r>
            <a:r>
              <a:rPr b="1" i="1" lang="en-US" sz="1400" u="none">
                <a:solidFill>
                  <a:schemeClr val="dk1"/>
                </a:solidFill>
                <a:latin typeface="Tahoma"/>
                <a:ea typeface="Tahoma"/>
                <a:cs typeface="Tahoma"/>
                <a:sym typeface="Tahoma"/>
              </a:rPr>
              <a:t>P</a:t>
            </a:r>
            <a:r>
              <a:rPr b="1" baseline="-25000" i="1" lang="en-US" sz="1400" u="none">
                <a:solidFill>
                  <a:schemeClr val="dk1"/>
                </a:solidFill>
                <a:latin typeface="Tahoma"/>
                <a:ea typeface="Tahoma"/>
                <a:cs typeface="Tahoma"/>
                <a:sym typeface="Tahoma"/>
              </a:rPr>
              <a:t>maC</a:t>
            </a:r>
            <a:r>
              <a:rPr b="1" i="1" lang="en-US" sz="1400" u="none">
                <a:solidFill>
                  <a:schemeClr val="dk1"/>
                </a:solidFill>
                <a:latin typeface="Tahoma"/>
                <a:ea typeface="Tahoma"/>
                <a:cs typeface="Tahoma"/>
                <a:sym typeface="Tahoma"/>
              </a:rPr>
              <a:t>*</a:t>
            </a:r>
            <a:r>
              <a:rPr b="1" i="1" lang="en-US" sz="1400" u="none">
                <a:solidFill>
                  <a:srgbClr val="FF0000"/>
                </a:solidFill>
                <a:latin typeface="Tahoma"/>
                <a:ea typeface="Tahoma"/>
                <a:cs typeface="Tahoma"/>
                <a:sym typeface="Tahoma"/>
              </a:rPr>
              <a:t> </a:t>
            </a:r>
            <a:r>
              <a:rPr b="1" i="1" lang="en-US" sz="1400" u="none">
                <a:solidFill>
                  <a:schemeClr val="dk1"/>
                </a:solidFill>
                <a:latin typeface="Tahoma"/>
                <a:ea typeface="Tahoma"/>
                <a:cs typeface="Tahoma"/>
                <a:sym typeface="Tahoma"/>
              </a:rPr>
              <a:t>T</a:t>
            </a:r>
            <a:r>
              <a:rPr b="1" baseline="-25000" i="1" lang="en-US" sz="1400" u="none">
                <a:solidFill>
                  <a:schemeClr val="dk1"/>
                </a:solidFill>
                <a:latin typeface="Tahoma"/>
                <a:ea typeface="Tahoma"/>
                <a:cs typeface="Tahoma"/>
                <a:sym typeface="Tahoma"/>
              </a:rPr>
              <a:t>X0</a:t>
            </a:r>
            <a:r>
              <a:rPr b="1" i="1" lang="en-US" sz="1400" u="none">
                <a:solidFill>
                  <a:schemeClr val="dk1"/>
                </a:solidFill>
                <a:latin typeface="Tahoma"/>
                <a:ea typeface="Tahoma"/>
                <a:cs typeface="Tahoma"/>
                <a:sym typeface="Tahoma"/>
              </a:rPr>
              <a:t>+  P</a:t>
            </a:r>
            <a:r>
              <a:rPr b="1" baseline="-25000" i="1" lang="en-US" sz="1400" u="none">
                <a:solidFill>
                  <a:schemeClr val="dk1"/>
                </a:solidFill>
                <a:latin typeface="Tahoma"/>
                <a:ea typeface="Tahoma"/>
                <a:cs typeface="Tahoma"/>
                <a:sym typeface="Tahoma"/>
              </a:rPr>
              <a:t>maC</a:t>
            </a:r>
            <a:r>
              <a:rPr b="1" i="1" lang="en-US" sz="1400" u="none">
                <a:solidFill>
                  <a:schemeClr val="dk1"/>
                </a:solidFill>
                <a:latin typeface="Tahoma"/>
                <a:ea typeface="Tahoma"/>
                <a:cs typeface="Tahoma"/>
                <a:sym typeface="Tahoma"/>
              </a:rPr>
              <a:t>*</a:t>
            </a:r>
            <a:r>
              <a:rPr b="1" i="1" lang="en-US" sz="1400" u="none">
                <a:solidFill>
                  <a:srgbClr val="FF0000"/>
                </a:solidFill>
                <a:latin typeface="Tahoma"/>
                <a:ea typeface="Tahoma"/>
                <a:cs typeface="Tahoma"/>
                <a:sym typeface="Tahoma"/>
              </a:rPr>
              <a:t> </a:t>
            </a:r>
            <a:r>
              <a:rPr b="1" i="1" lang="en-US" sz="1400" u="none">
                <a:solidFill>
                  <a:schemeClr val="dk1"/>
                </a:solidFill>
                <a:latin typeface="Tahoma"/>
                <a:ea typeface="Tahoma"/>
                <a:cs typeface="Tahoma"/>
                <a:sym typeface="Tahoma"/>
              </a:rPr>
              <a:t>T</a:t>
            </a:r>
            <a:r>
              <a:rPr b="1" baseline="-25000" i="1" lang="en-US" sz="1400" u="none">
                <a:solidFill>
                  <a:schemeClr val="dk1"/>
                </a:solidFill>
                <a:latin typeface="Tahoma"/>
                <a:ea typeface="Tahoma"/>
                <a:cs typeface="Tahoma"/>
                <a:sym typeface="Tahoma"/>
              </a:rPr>
              <a:t>R0</a:t>
            </a:r>
            <a:r>
              <a:rPr b="1" i="1" lang="en-US" sz="1400" u="none">
                <a:solidFill>
                  <a:schemeClr val="dk1"/>
                </a:solidFill>
                <a:latin typeface="Tahoma"/>
                <a:ea typeface="Tahoma"/>
                <a:cs typeface="Tahoma"/>
                <a:sym typeface="Tahoma"/>
              </a:rPr>
              <a:t>)</a:t>
            </a:r>
            <a:r>
              <a:rPr b="1" i="1" lang="en-US" sz="1400" u="none">
                <a:solidFill>
                  <a:srgbClr val="FF0000"/>
                </a:solidFill>
                <a:latin typeface="Tahoma"/>
                <a:ea typeface="Tahoma"/>
                <a:cs typeface="Tahoma"/>
                <a:sym typeface="Tahoma"/>
              </a:rPr>
              <a:t> </a:t>
            </a:r>
            <a:r>
              <a:rPr b="1" i="1" lang="en-US" sz="1400" u="none">
                <a:solidFill>
                  <a:schemeClr val="dk1"/>
                </a:solidFill>
                <a:latin typeface="Tahoma"/>
                <a:ea typeface="Tahoma"/>
                <a:cs typeface="Tahoma"/>
                <a:sym typeface="Tahoma"/>
              </a:rPr>
              <a:t>–</a:t>
            </a:r>
            <a:r>
              <a:rPr b="1" i="1" lang="en-US" sz="1400" u="none">
                <a:solidFill>
                  <a:srgbClr val="FF0000"/>
                </a:solidFill>
                <a:latin typeface="Tahoma"/>
                <a:ea typeface="Tahoma"/>
                <a:cs typeface="Tahoma"/>
                <a:sym typeface="Tahoma"/>
              </a:rPr>
              <a:t> </a:t>
            </a:r>
            <a:r>
              <a:rPr b="1" i="1" lang="en-US" sz="1400" u="none">
                <a:solidFill>
                  <a:schemeClr val="dk1"/>
                </a:solidFill>
                <a:latin typeface="Tahoma"/>
                <a:ea typeface="Tahoma"/>
                <a:cs typeface="Tahoma"/>
                <a:sym typeface="Tahoma"/>
              </a:rPr>
              <a:t>(b * i)}</a:t>
            </a:r>
          </a:p>
          <a:p>
            <a:pPr indent="0" lvl="0" marL="0" marR="0" rtl="0" algn="l">
              <a:lnSpc>
                <a:spcPct val="120000"/>
              </a:lnSpc>
              <a:spcBef>
                <a:spcPts val="0"/>
              </a:spcBef>
              <a:spcAft>
                <a:spcPts val="0"/>
              </a:spcAft>
              <a:buClr>
                <a:schemeClr val="dk1"/>
              </a:buClr>
              <a:buFont typeface="Calibri"/>
              <a:buNone/>
            </a:pPr>
            <a:r>
              <a:t/>
            </a:r>
            <a:endParaRPr b="1" i="1" sz="1400" u="none">
              <a:solidFill>
                <a:schemeClr val="dk1"/>
              </a:solidFill>
              <a:latin typeface="Tahoma"/>
              <a:ea typeface="Tahoma"/>
              <a:cs typeface="Tahoma"/>
              <a:sym typeface="Tahoma"/>
            </a:endParaRPr>
          </a:p>
          <a:p>
            <a:pPr indent="0" lvl="0" marL="0" marR="0" rtl="0" algn="l">
              <a:lnSpc>
                <a:spcPct val="120000"/>
              </a:lnSpc>
              <a:spcBef>
                <a:spcPts val="0"/>
              </a:spcBef>
              <a:spcAft>
                <a:spcPts val="0"/>
              </a:spcAft>
              <a:buClr>
                <a:schemeClr val="dk1"/>
              </a:buClr>
              <a:buFont typeface="Calibri"/>
              <a:buNone/>
            </a:pPr>
            <a:r>
              <a:t/>
            </a:r>
            <a:endParaRPr b="1" i="1" sz="1400" u="none">
              <a:solidFill>
                <a:schemeClr val="dk1"/>
              </a:solidFill>
              <a:latin typeface="Tahoma"/>
              <a:ea typeface="Tahoma"/>
              <a:cs typeface="Tahoma"/>
              <a:sym typeface="Tahoma"/>
            </a:endParaRPr>
          </a:p>
          <a:p>
            <a:pPr indent="0" lvl="0" marL="0" marR="0" rtl="0" algn="l">
              <a:lnSpc>
                <a:spcPct val="100000"/>
              </a:lnSpc>
              <a:spcBef>
                <a:spcPts val="0"/>
              </a:spcBef>
              <a:spcAft>
                <a:spcPts val="0"/>
              </a:spcAft>
              <a:buNone/>
            </a:pPr>
            <a:r>
              <a:t/>
            </a:r>
            <a:endParaRPr b="1" i="1" sz="1400" u="none">
              <a:solidFill>
                <a:schemeClr val="dk1"/>
              </a:solidFill>
              <a:latin typeface="Tahoma"/>
              <a:ea typeface="Tahoma"/>
              <a:cs typeface="Tahoma"/>
              <a:sym typeface="Tahoma"/>
            </a:endParaRPr>
          </a:p>
        </p:txBody>
      </p:sp>
      <p:sp>
        <p:nvSpPr>
          <p:cNvPr id="564" name="Shape 564"/>
          <p:cNvSpPr txBox="1"/>
          <p:nvPr/>
        </p:nvSpPr>
        <p:spPr>
          <a:xfrm>
            <a:off x="228600" y="3608387"/>
            <a:ext cx="7239000" cy="2903537"/>
          </a:xfrm>
          <a:prstGeom prst="rect">
            <a:avLst/>
          </a:prstGeom>
          <a:noFill/>
          <a:ln>
            <a:noFill/>
          </a:ln>
        </p:spPr>
        <p:txBody>
          <a:bodyPr anchorCtr="0" anchor="t" bIns="45700" lIns="91425" rIns="91425" tIns="45700">
            <a:noAutofit/>
          </a:bodyPr>
          <a:lstStyle/>
          <a:p>
            <a:pPr indent="0" lvl="0" marL="0" marR="0" rtl="0" algn="l">
              <a:lnSpc>
                <a:spcPct val="120000"/>
              </a:lnSpc>
              <a:spcBef>
                <a:spcPts val="0"/>
              </a:spcBef>
              <a:spcAft>
                <a:spcPts val="0"/>
              </a:spcAft>
              <a:buClr>
                <a:schemeClr val="dk1"/>
              </a:buClr>
              <a:buSzPct val="25000"/>
              <a:buFont typeface="Times New Roman"/>
              <a:buNone/>
            </a:pPr>
            <a:r>
              <a:rPr b="1" i="1" lang="en-US" sz="1400" u="none">
                <a:solidFill>
                  <a:schemeClr val="dk1"/>
                </a:solidFill>
                <a:latin typeface="Times New Roman"/>
                <a:ea typeface="Times New Roman"/>
                <a:cs typeface="Times New Roman"/>
                <a:sym typeface="Times New Roman"/>
              </a:rPr>
              <a:t>MULTIPLICADOR  DE  C</a:t>
            </a:r>
            <a:r>
              <a:rPr b="1" baseline="-25000" i="1" lang="en-US" sz="1400" u="none">
                <a:solidFill>
                  <a:schemeClr val="dk1"/>
                </a:solidFill>
                <a:latin typeface="Times New Roman"/>
                <a:ea typeface="Times New Roman"/>
                <a:cs typeface="Times New Roman"/>
                <a:sym typeface="Times New Roman"/>
              </a:rPr>
              <a:t>0</a:t>
            </a:r>
            <a:r>
              <a:rPr b="1" i="1" lang="en-US" sz="1400" u="none">
                <a:solidFill>
                  <a:schemeClr val="dk1"/>
                </a:solidFill>
                <a:latin typeface="Times New Roman"/>
                <a:ea typeface="Times New Roman"/>
                <a:cs typeface="Times New Roman"/>
                <a:sym typeface="Times New Roman"/>
              </a:rPr>
              <a:t> , I</a:t>
            </a:r>
            <a:r>
              <a:rPr b="1" baseline="-25000" i="1" lang="en-US" sz="1400" u="none">
                <a:solidFill>
                  <a:schemeClr val="dk1"/>
                </a:solidFill>
                <a:latin typeface="Times New Roman"/>
                <a:ea typeface="Times New Roman"/>
                <a:cs typeface="Times New Roman"/>
                <a:sym typeface="Times New Roman"/>
              </a:rPr>
              <a:t>0 </a:t>
            </a:r>
            <a:r>
              <a:rPr b="1" i="1" lang="en-US" sz="1400" u="none">
                <a:solidFill>
                  <a:schemeClr val="dk1"/>
                </a:solidFill>
                <a:latin typeface="Times New Roman"/>
                <a:ea typeface="Times New Roman"/>
                <a:cs typeface="Times New Roman"/>
                <a:sym typeface="Times New Roman"/>
              </a:rPr>
              <a:t> , X</a:t>
            </a:r>
            <a:r>
              <a:rPr b="1" baseline="-25000" i="1" lang="en-US" sz="1400" u="none">
                <a:solidFill>
                  <a:schemeClr val="dk1"/>
                </a:solidFill>
                <a:latin typeface="Times New Roman"/>
                <a:ea typeface="Times New Roman"/>
                <a:cs typeface="Times New Roman"/>
                <a:sym typeface="Times New Roman"/>
              </a:rPr>
              <a:t>0 </a:t>
            </a:r>
            <a:r>
              <a:rPr b="1" i="1" lang="en-US" sz="1400" u="none">
                <a:solidFill>
                  <a:schemeClr val="dk1"/>
                </a:solidFill>
                <a:latin typeface="Times New Roman"/>
                <a:ea typeface="Times New Roman"/>
                <a:cs typeface="Times New Roman"/>
                <a:sym typeface="Times New Roman"/>
              </a:rPr>
              <a:t>y GP</a:t>
            </a:r>
            <a:r>
              <a:rPr b="1" baseline="-25000" i="1" lang="en-US" sz="1400" u="none">
                <a:solidFill>
                  <a:schemeClr val="dk1"/>
                </a:solidFill>
                <a:latin typeface="Times New Roman"/>
                <a:ea typeface="Times New Roman"/>
                <a:cs typeface="Times New Roman"/>
                <a:sym typeface="Times New Roman"/>
              </a:rPr>
              <a:t>0</a:t>
            </a:r>
          </a:p>
          <a:p>
            <a:pPr indent="0" lvl="0" marL="0" marR="0" rtl="0" algn="l">
              <a:lnSpc>
                <a:spcPct val="120000"/>
              </a:lnSpc>
              <a:spcBef>
                <a:spcPts val="0"/>
              </a:spcBef>
              <a:spcAft>
                <a:spcPts val="0"/>
              </a:spcAft>
              <a:buClr>
                <a:srgbClr val="FF0000"/>
              </a:buClr>
              <a:buSzPct val="25000"/>
              <a:buFont typeface="Times New Roman"/>
              <a:buNone/>
            </a:pPr>
            <a:r>
              <a:rPr b="1" i="1" lang="en-US" sz="1400" u="none">
                <a:solidFill>
                  <a:srgbClr val="FF0000"/>
                </a:solidFill>
                <a:latin typeface="Times New Roman"/>
                <a:ea typeface="Times New Roman"/>
                <a:cs typeface="Times New Roman"/>
                <a:sym typeface="Times New Roman"/>
              </a:rPr>
              <a:t>ΔY / ΔC</a:t>
            </a:r>
            <a:r>
              <a:rPr b="1" baseline="-25000" i="1" lang="en-US" sz="1400" u="none">
                <a:solidFill>
                  <a:srgbClr val="FF0000"/>
                </a:solidFill>
                <a:latin typeface="Times New Roman"/>
                <a:ea typeface="Times New Roman"/>
                <a:cs typeface="Times New Roman"/>
                <a:sym typeface="Times New Roman"/>
              </a:rPr>
              <a:t>0</a:t>
            </a:r>
            <a:r>
              <a:rPr b="1" i="1" lang="en-US" sz="1400" u="none">
                <a:solidFill>
                  <a:srgbClr val="FF0000"/>
                </a:solidFill>
                <a:latin typeface="Times New Roman"/>
                <a:ea typeface="Times New Roman"/>
                <a:cs typeface="Times New Roman"/>
                <a:sym typeface="Times New Roman"/>
              </a:rPr>
              <a:t> = ΔY / ΔI</a:t>
            </a:r>
            <a:r>
              <a:rPr b="1" baseline="-25000" i="1" lang="en-US" sz="1400" u="none">
                <a:solidFill>
                  <a:srgbClr val="FF0000"/>
                </a:solidFill>
                <a:latin typeface="Times New Roman"/>
                <a:ea typeface="Times New Roman"/>
                <a:cs typeface="Times New Roman"/>
                <a:sym typeface="Times New Roman"/>
              </a:rPr>
              <a:t>0</a:t>
            </a:r>
            <a:r>
              <a:rPr b="1" i="1" lang="en-US" sz="1400" u="none">
                <a:solidFill>
                  <a:srgbClr val="FF0000"/>
                </a:solidFill>
                <a:latin typeface="Times New Roman"/>
                <a:ea typeface="Times New Roman"/>
                <a:cs typeface="Times New Roman"/>
                <a:sym typeface="Times New Roman"/>
              </a:rPr>
              <a:t> =</a:t>
            </a:r>
            <a:r>
              <a:rPr b="0" i="0" lang="en-US" sz="1400" u="none">
                <a:solidFill>
                  <a:schemeClr val="dk1"/>
                </a:solidFill>
                <a:latin typeface="Times New Roman"/>
                <a:ea typeface="Times New Roman"/>
                <a:cs typeface="Times New Roman"/>
                <a:sym typeface="Times New Roman"/>
              </a:rPr>
              <a:t> </a:t>
            </a:r>
            <a:r>
              <a:rPr b="1" i="1" lang="en-US" sz="1400" u="none">
                <a:solidFill>
                  <a:srgbClr val="FF0000"/>
                </a:solidFill>
                <a:latin typeface="Times New Roman"/>
                <a:ea typeface="Times New Roman"/>
                <a:cs typeface="Times New Roman"/>
                <a:sym typeface="Times New Roman"/>
              </a:rPr>
              <a:t>ΔY / ΔGP</a:t>
            </a:r>
            <a:r>
              <a:rPr b="1" baseline="-25000" i="1" lang="en-US" sz="1400" u="none">
                <a:solidFill>
                  <a:srgbClr val="FF0000"/>
                </a:solidFill>
                <a:latin typeface="Times New Roman"/>
                <a:ea typeface="Times New Roman"/>
                <a:cs typeface="Times New Roman"/>
                <a:sym typeface="Times New Roman"/>
              </a:rPr>
              <a:t>0</a:t>
            </a:r>
            <a:r>
              <a:rPr b="1" i="1" lang="en-US" sz="1400" u="none">
                <a:solidFill>
                  <a:srgbClr val="FF0000"/>
                </a:solidFill>
                <a:latin typeface="Times New Roman"/>
                <a:ea typeface="Times New Roman"/>
                <a:cs typeface="Times New Roman"/>
                <a:sym typeface="Times New Roman"/>
              </a:rPr>
              <a:t> =</a:t>
            </a:r>
            <a:r>
              <a:rPr b="0" i="0" lang="en-US" sz="1400" u="none">
                <a:solidFill>
                  <a:schemeClr val="dk1"/>
                </a:solidFill>
                <a:latin typeface="Times New Roman"/>
                <a:ea typeface="Times New Roman"/>
                <a:cs typeface="Times New Roman"/>
                <a:sym typeface="Times New Roman"/>
              </a:rPr>
              <a:t> </a:t>
            </a:r>
            <a:r>
              <a:rPr b="1" i="1" lang="en-US" sz="1400" u="none">
                <a:solidFill>
                  <a:schemeClr val="hlink"/>
                </a:solidFill>
                <a:latin typeface="Times New Roman"/>
                <a:ea typeface="Times New Roman"/>
                <a:cs typeface="Times New Roman"/>
                <a:sym typeface="Times New Roman"/>
              </a:rPr>
              <a:t>[1/(1 - P</a:t>
            </a:r>
            <a:r>
              <a:rPr b="1" baseline="-25000" i="1" lang="en-US" sz="1400" u="none">
                <a:solidFill>
                  <a:schemeClr val="hlink"/>
                </a:solidFill>
                <a:latin typeface="Times New Roman"/>
                <a:ea typeface="Times New Roman"/>
                <a:cs typeface="Times New Roman"/>
                <a:sym typeface="Times New Roman"/>
              </a:rPr>
              <a:t>maC</a:t>
            </a:r>
            <a:r>
              <a:rPr b="1" i="1" lang="en-US" sz="1400" u="none">
                <a:solidFill>
                  <a:schemeClr val="hlink"/>
                </a:solidFill>
                <a:latin typeface="Times New Roman"/>
                <a:ea typeface="Times New Roman"/>
                <a:cs typeface="Times New Roman"/>
                <a:sym typeface="Times New Roman"/>
              </a:rPr>
              <a:t> +  P</a:t>
            </a:r>
            <a:r>
              <a:rPr b="1" baseline="-25000" i="1" lang="en-US" sz="1400" u="none">
                <a:solidFill>
                  <a:schemeClr val="hlink"/>
                </a:solidFill>
                <a:latin typeface="Times New Roman"/>
                <a:ea typeface="Times New Roman"/>
                <a:cs typeface="Times New Roman"/>
                <a:sym typeface="Times New Roman"/>
              </a:rPr>
              <a:t>maC</a:t>
            </a:r>
            <a:r>
              <a:rPr b="1" i="1" lang="en-US" sz="1400" u="none">
                <a:solidFill>
                  <a:schemeClr val="hlink"/>
                </a:solidFill>
                <a:latin typeface="Times New Roman"/>
                <a:ea typeface="Times New Roman"/>
                <a:cs typeface="Times New Roman"/>
                <a:sym typeface="Times New Roman"/>
              </a:rPr>
              <a:t> * P</a:t>
            </a:r>
            <a:r>
              <a:rPr b="1" baseline="-25000" i="1" lang="en-US" sz="1400" u="none">
                <a:solidFill>
                  <a:schemeClr val="hlink"/>
                </a:solidFill>
                <a:latin typeface="Times New Roman"/>
                <a:ea typeface="Times New Roman"/>
                <a:cs typeface="Times New Roman"/>
                <a:sym typeface="Times New Roman"/>
              </a:rPr>
              <a:t>maT</a:t>
            </a:r>
            <a:r>
              <a:rPr b="1" i="1" lang="en-US" sz="1400" u="none">
                <a:solidFill>
                  <a:schemeClr val="hlink"/>
                </a:solidFill>
                <a:latin typeface="Times New Roman"/>
                <a:ea typeface="Times New Roman"/>
                <a:cs typeface="Times New Roman"/>
                <a:sym typeface="Times New Roman"/>
              </a:rPr>
              <a:t> + P</a:t>
            </a:r>
            <a:r>
              <a:rPr b="1" baseline="-25000" i="1" lang="en-US" sz="1400" u="none">
                <a:solidFill>
                  <a:schemeClr val="hlink"/>
                </a:solidFill>
                <a:latin typeface="Times New Roman"/>
                <a:ea typeface="Times New Roman"/>
                <a:cs typeface="Times New Roman"/>
                <a:sym typeface="Times New Roman"/>
              </a:rPr>
              <a:t>maM</a:t>
            </a:r>
            <a:r>
              <a:rPr b="1" i="1" lang="en-US" sz="1400" u="none">
                <a:solidFill>
                  <a:schemeClr val="hlink"/>
                </a:solidFill>
                <a:latin typeface="Times New Roman"/>
                <a:ea typeface="Times New Roman"/>
                <a:cs typeface="Times New Roman"/>
                <a:sym typeface="Times New Roman"/>
              </a:rPr>
              <a:t>)]</a:t>
            </a:r>
          </a:p>
          <a:p>
            <a:pPr indent="0" lvl="0" marL="0" marR="0" rtl="0" algn="l">
              <a:lnSpc>
                <a:spcPct val="120000"/>
              </a:lnSpc>
              <a:spcBef>
                <a:spcPts val="0"/>
              </a:spcBef>
              <a:spcAft>
                <a:spcPts val="0"/>
              </a:spcAft>
              <a:buClr>
                <a:schemeClr val="dk1"/>
              </a:buClr>
              <a:buFont typeface="Calibri"/>
              <a:buNone/>
            </a:pPr>
            <a:r>
              <a:t/>
            </a:r>
            <a:endParaRPr b="1" i="1" sz="1400" u="none">
              <a:solidFill>
                <a:schemeClr val="dk1"/>
              </a:solidFill>
              <a:latin typeface="Times New Roman"/>
              <a:ea typeface="Times New Roman"/>
              <a:cs typeface="Times New Roman"/>
              <a:sym typeface="Times New Roman"/>
            </a:endParaRPr>
          </a:p>
          <a:p>
            <a:pPr indent="0" lvl="0" marL="0" marR="0" rtl="0" algn="l">
              <a:lnSpc>
                <a:spcPct val="120000"/>
              </a:lnSpc>
              <a:spcBef>
                <a:spcPts val="0"/>
              </a:spcBef>
              <a:spcAft>
                <a:spcPts val="0"/>
              </a:spcAft>
              <a:buClr>
                <a:schemeClr val="dk1"/>
              </a:buClr>
              <a:buSzPct val="25000"/>
              <a:buFont typeface="Times New Roman"/>
              <a:buNone/>
            </a:pPr>
            <a:r>
              <a:rPr b="1" i="1" lang="en-US" sz="1400" u="none">
                <a:solidFill>
                  <a:schemeClr val="dk1"/>
                </a:solidFill>
                <a:latin typeface="Times New Roman"/>
                <a:ea typeface="Times New Roman"/>
                <a:cs typeface="Times New Roman"/>
                <a:sym typeface="Times New Roman"/>
              </a:rPr>
              <a:t>MULTIPLICADOR  DE  M</a:t>
            </a:r>
            <a:r>
              <a:rPr b="1" baseline="-25000" i="1" lang="en-US" sz="1400" u="none">
                <a:solidFill>
                  <a:schemeClr val="dk1"/>
                </a:solidFill>
                <a:latin typeface="Times New Roman"/>
                <a:ea typeface="Times New Roman"/>
                <a:cs typeface="Times New Roman"/>
                <a:sym typeface="Times New Roman"/>
              </a:rPr>
              <a:t>0</a:t>
            </a:r>
          </a:p>
          <a:p>
            <a:pPr indent="0" lvl="0" marL="0" marR="0" rtl="0" algn="l">
              <a:lnSpc>
                <a:spcPct val="120000"/>
              </a:lnSpc>
              <a:spcBef>
                <a:spcPts val="0"/>
              </a:spcBef>
              <a:spcAft>
                <a:spcPts val="0"/>
              </a:spcAft>
              <a:buClr>
                <a:srgbClr val="FF0000"/>
              </a:buClr>
              <a:buSzPct val="25000"/>
              <a:buFont typeface="Times New Roman"/>
              <a:buNone/>
            </a:pPr>
            <a:r>
              <a:rPr b="1" i="1" lang="en-US" sz="1400" u="none">
                <a:solidFill>
                  <a:srgbClr val="FF0000"/>
                </a:solidFill>
                <a:latin typeface="Times New Roman"/>
                <a:ea typeface="Times New Roman"/>
                <a:cs typeface="Times New Roman"/>
                <a:sym typeface="Times New Roman"/>
              </a:rPr>
              <a:t>ΔY / ΔM</a:t>
            </a:r>
            <a:r>
              <a:rPr b="1" baseline="-25000" i="1" lang="en-US" sz="1400" u="none">
                <a:solidFill>
                  <a:srgbClr val="FF0000"/>
                </a:solidFill>
                <a:latin typeface="Times New Roman"/>
                <a:ea typeface="Times New Roman"/>
                <a:cs typeface="Times New Roman"/>
                <a:sym typeface="Times New Roman"/>
              </a:rPr>
              <a:t>0</a:t>
            </a:r>
            <a:r>
              <a:rPr b="1" i="1" lang="en-US" sz="1400" u="none">
                <a:solidFill>
                  <a:srgbClr val="FF0000"/>
                </a:solidFill>
                <a:latin typeface="Times New Roman"/>
                <a:ea typeface="Times New Roman"/>
                <a:cs typeface="Times New Roman"/>
                <a:sym typeface="Times New Roman"/>
              </a:rPr>
              <a:t>=</a:t>
            </a:r>
            <a:r>
              <a:rPr b="0" i="0" lang="en-US" sz="1400" u="none">
                <a:solidFill>
                  <a:schemeClr val="dk1"/>
                </a:solidFill>
                <a:latin typeface="Times New Roman"/>
                <a:ea typeface="Times New Roman"/>
                <a:cs typeface="Times New Roman"/>
                <a:sym typeface="Times New Roman"/>
              </a:rPr>
              <a:t> </a:t>
            </a:r>
            <a:r>
              <a:rPr b="1" i="1" lang="en-US" sz="1400" u="none">
                <a:solidFill>
                  <a:schemeClr val="hlink"/>
                </a:solidFill>
                <a:latin typeface="Times New Roman"/>
                <a:ea typeface="Times New Roman"/>
                <a:cs typeface="Times New Roman"/>
                <a:sym typeface="Times New Roman"/>
              </a:rPr>
              <a:t>[-1/(1 - P</a:t>
            </a:r>
            <a:r>
              <a:rPr b="1" baseline="-25000" i="1" lang="en-US" sz="1400" u="none">
                <a:solidFill>
                  <a:schemeClr val="hlink"/>
                </a:solidFill>
                <a:latin typeface="Times New Roman"/>
                <a:ea typeface="Times New Roman"/>
                <a:cs typeface="Times New Roman"/>
                <a:sym typeface="Times New Roman"/>
              </a:rPr>
              <a:t>maC</a:t>
            </a:r>
            <a:r>
              <a:rPr b="1" i="1" lang="en-US" sz="1400" u="none">
                <a:solidFill>
                  <a:schemeClr val="hlink"/>
                </a:solidFill>
                <a:latin typeface="Times New Roman"/>
                <a:ea typeface="Times New Roman"/>
                <a:cs typeface="Times New Roman"/>
                <a:sym typeface="Times New Roman"/>
              </a:rPr>
              <a:t> +  P</a:t>
            </a:r>
            <a:r>
              <a:rPr b="1" baseline="-25000" i="1" lang="en-US" sz="1400" u="none">
                <a:solidFill>
                  <a:schemeClr val="hlink"/>
                </a:solidFill>
                <a:latin typeface="Times New Roman"/>
                <a:ea typeface="Times New Roman"/>
                <a:cs typeface="Times New Roman"/>
                <a:sym typeface="Times New Roman"/>
              </a:rPr>
              <a:t>maC</a:t>
            </a:r>
            <a:r>
              <a:rPr b="1" i="1" lang="en-US" sz="1400" u="none">
                <a:solidFill>
                  <a:schemeClr val="hlink"/>
                </a:solidFill>
                <a:latin typeface="Times New Roman"/>
                <a:ea typeface="Times New Roman"/>
                <a:cs typeface="Times New Roman"/>
                <a:sym typeface="Times New Roman"/>
              </a:rPr>
              <a:t> * P</a:t>
            </a:r>
            <a:r>
              <a:rPr b="1" baseline="-25000" i="1" lang="en-US" sz="1400" u="none">
                <a:solidFill>
                  <a:schemeClr val="hlink"/>
                </a:solidFill>
                <a:latin typeface="Times New Roman"/>
                <a:ea typeface="Times New Roman"/>
                <a:cs typeface="Times New Roman"/>
                <a:sym typeface="Times New Roman"/>
              </a:rPr>
              <a:t>maT </a:t>
            </a:r>
            <a:r>
              <a:rPr b="1" i="1" lang="en-US" sz="1400" u="none">
                <a:solidFill>
                  <a:schemeClr val="hlink"/>
                </a:solidFill>
                <a:latin typeface="Times New Roman"/>
                <a:ea typeface="Times New Roman"/>
                <a:cs typeface="Times New Roman"/>
                <a:sym typeface="Times New Roman"/>
              </a:rPr>
              <a:t>+ </a:t>
            </a:r>
            <a:r>
              <a:rPr b="1" baseline="-25000" i="1" lang="en-US" sz="1400" u="none">
                <a:solidFill>
                  <a:schemeClr val="hlink"/>
                </a:solidFill>
                <a:latin typeface="Times New Roman"/>
                <a:ea typeface="Times New Roman"/>
                <a:cs typeface="Times New Roman"/>
                <a:sym typeface="Times New Roman"/>
              </a:rPr>
              <a:t>PmaM</a:t>
            </a:r>
            <a:r>
              <a:rPr b="1" i="1" lang="en-US" sz="1400" u="none">
                <a:solidFill>
                  <a:schemeClr val="hlink"/>
                </a:solidFill>
                <a:latin typeface="Times New Roman"/>
                <a:ea typeface="Times New Roman"/>
                <a:cs typeface="Times New Roman"/>
                <a:sym typeface="Times New Roman"/>
              </a:rPr>
              <a:t>)]</a:t>
            </a:r>
          </a:p>
          <a:p>
            <a:pPr indent="0" lvl="0" marL="0" marR="0" rtl="0" algn="l">
              <a:lnSpc>
                <a:spcPct val="120000"/>
              </a:lnSpc>
              <a:spcBef>
                <a:spcPts val="0"/>
              </a:spcBef>
              <a:spcAft>
                <a:spcPts val="0"/>
              </a:spcAft>
              <a:buClr>
                <a:schemeClr val="dk1"/>
              </a:buClr>
              <a:buFont typeface="Calibri"/>
              <a:buNone/>
            </a:pPr>
            <a:r>
              <a:t/>
            </a:r>
            <a:endParaRPr b="1" i="1" sz="1400" u="none">
              <a:solidFill>
                <a:schemeClr val="dk1"/>
              </a:solidFill>
              <a:latin typeface="Times New Roman"/>
              <a:ea typeface="Times New Roman"/>
              <a:cs typeface="Times New Roman"/>
              <a:sym typeface="Times New Roman"/>
            </a:endParaRPr>
          </a:p>
          <a:p>
            <a:pPr indent="0" lvl="0" marL="0" marR="0" rtl="0" algn="l">
              <a:lnSpc>
                <a:spcPct val="120000"/>
              </a:lnSpc>
              <a:spcBef>
                <a:spcPts val="0"/>
              </a:spcBef>
              <a:spcAft>
                <a:spcPts val="0"/>
              </a:spcAft>
              <a:buClr>
                <a:schemeClr val="dk1"/>
              </a:buClr>
              <a:buSzPct val="25000"/>
              <a:buFont typeface="Times New Roman"/>
              <a:buNone/>
            </a:pPr>
            <a:r>
              <a:rPr b="1" i="1" lang="en-US" sz="1400" u="none">
                <a:solidFill>
                  <a:schemeClr val="dk1"/>
                </a:solidFill>
                <a:latin typeface="Times New Roman"/>
                <a:ea typeface="Times New Roman"/>
                <a:cs typeface="Times New Roman"/>
                <a:sym typeface="Times New Roman"/>
              </a:rPr>
              <a:t>MULTIPLICADOR  DE  TX</a:t>
            </a:r>
            <a:r>
              <a:rPr b="1" baseline="-25000" i="1" lang="en-US" sz="1400" u="none">
                <a:solidFill>
                  <a:schemeClr val="dk1"/>
                </a:solidFill>
                <a:latin typeface="Times New Roman"/>
                <a:ea typeface="Times New Roman"/>
                <a:cs typeface="Times New Roman"/>
                <a:sym typeface="Times New Roman"/>
              </a:rPr>
              <a:t>0 </a:t>
            </a:r>
          </a:p>
          <a:p>
            <a:pPr indent="0" lvl="0" marL="0" marR="0" rtl="0" algn="l">
              <a:lnSpc>
                <a:spcPct val="120000"/>
              </a:lnSpc>
              <a:spcBef>
                <a:spcPts val="0"/>
              </a:spcBef>
              <a:spcAft>
                <a:spcPts val="0"/>
              </a:spcAft>
              <a:buClr>
                <a:srgbClr val="FF0000"/>
              </a:buClr>
              <a:buSzPct val="25000"/>
              <a:buFont typeface="Times New Roman"/>
              <a:buNone/>
            </a:pPr>
            <a:r>
              <a:rPr b="1" i="1" lang="en-US" sz="1400" u="none">
                <a:solidFill>
                  <a:srgbClr val="FF0000"/>
                </a:solidFill>
                <a:latin typeface="Times New Roman"/>
                <a:ea typeface="Times New Roman"/>
                <a:cs typeface="Times New Roman"/>
                <a:sym typeface="Times New Roman"/>
              </a:rPr>
              <a:t>ΔY / ΔTX</a:t>
            </a:r>
            <a:r>
              <a:rPr b="1" baseline="-25000" i="1" lang="en-US" sz="1400" u="none">
                <a:solidFill>
                  <a:srgbClr val="FF0000"/>
                </a:solidFill>
                <a:latin typeface="Times New Roman"/>
                <a:ea typeface="Times New Roman"/>
                <a:cs typeface="Times New Roman"/>
                <a:sym typeface="Times New Roman"/>
              </a:rPr>
              <a:t>0</a:t>
            </a:r>
            <a:r>
              <a:rPr b="1" i="1" lang="en-US" sz="1400" u="none">
                <a:solidFill>
                  <a:srgbClr val="FF0000"/>
                </a:solidFill>
                <a:latin typeface="Times New Roman"/>
                <a:ea typeface="Times New Roman"/>
                <a:cs typeface="Times New Roman"/>
                <a:sym typeface="Times New Roman"/>
              </a:rPr>
              <a:t> =</a:t>
            </a:r>
            <a:r>
              <a:rPr b="0" i="0" lang="en-US" sz="1400" u="none">
                <a:solidFill>
                  <a:schemeClr val="dk1"/>
                </a:solidFill>
                <a:latin typeface="Times New Roman"/>
                <a:ea typeface="Times New Roman"/>
                <a:cs typeface="Times New Roman"/>
                <a:sym typeface="Times New Roman"/>
              </a:rPr>
              <a:t> </a:t>
            </a:r>
            <a:r>
              <a:rPr b="1" i="1" lang="en-US" sz="1400" u="none">
                <a:solidFill>
                  <a:schemeClr val="hlink"/>
                </a:solidFill>
                <a:latin typeface="Times New Roman"/>
                <a:ea typeface="Times New Roman"/>
                <a:cs typeface="Times New Roman"/>
                <a:sym typeface="Times New Roman"/>
              </a:rPr>
              <a:t>[ - P</a:t>
            </a:r>
            <a:r>
              <a:rPr b="1" baseline="-25000" i="1" lang="en-US" sz="1400" u="none">
                <a:solidFill>
                  <a:schemeClr val="hlink"/>
                </a:solidFill>
                <a:latin typeface="Times New Roman"/>
                <a:ea typeface="Times New Roman"/>
                <a:cs typeface="Times New Roman"/>
                <a:sym typeface="Times New Roman"/>
              </a:rPr>
              <a:t>maC</a:t>
            </a:r>
            <a:r>
              <a:rPr b="1" i="1" lang="en-US" sz="1400" u="none">
                <a:solidFill>
                  <a:schemeClr val="hlink"/>
                </a:solidFill>
                <a:latin typeface="Times New Roman"/>
                <a:ea typeface="Times New Roman"/>
                <a:cs typeface="Times New Roman"/>
                <a:sym typeface="Times New Roman"/>
              </a:rPr>
              <a:t> / (1 - P</a:t>
            </a:r>
            <a:r>
              <a:rPr b="1" baseline="-25000" i="1" lang="en-US" sz="1400" u="none">
                <a:solidFill>
                  <a:schemeClr val="hlink"/>
                </a:solidFill>
                <a:latin typeface="Times New Roman"/>
                <a:ea typeface="Times New Roman"/>
                <a:cs typeface="Times New Roman"/>
                <a:sym typeface="Times New Roman"/>
              </a:rPr>
              <a:t>maC</a:t>
            </a:r>
            <a:r>
              <a:rPr b="1" i="1" lang="en-US" sz="1400" u="none">
                <a:solidFill>
                  <a:schemeClr val="hlink"/>
                </a:solidFill>
                <a:latin typeface="Times New Roman"/>
                <a:ea typeface="Times New Roman"/>
                <a:cs typeface="Times New Roman"/>
                <a:sym typeface="Times New Roman"/>
              </a:rPr>
              <a:t> +  P</a:t>
            </a:r>
            <a:r>
              <a:rPr b="1" baseline="-25000" i="1" lang="en-US" sz="1400" u="none">
                <a:solidFill>
                  <a:schemeClr val="hlink"/>
                </a:solidFill>
                <a:latin typeface="Times New Roman"/>
                <a:ea typeface="Times New Roman"/>
                <a:cs typeface="Times New Roman"/>
                <a:sym typeface="Times New Roman"/>
              </a:rPr>
              <a:t>maC</a:t>
            </a:r>
            <a:r>
              <a:rPr b="1" i="1" lang="en-US" sz="1400" u="none">
                <a:solidFill>
                  <a:schemeClr val="hlink"/>
                </a:solidFill>
                <a:latin typeface="Times New Roman"/>
                <a:ea typeface="Times New Roman"/>
                <a:cs typeface="Times New Roman"/>
                <a:sym typeface="Times New Roman"/>
              </a:rPr>
              <a:t> * P</a:t>
            </a:r>
            <a:r>
              <a:rPr b="1" baseline="-25000" i="1" lang="en-US" sz="1400" u="none">
                <a:solidFill>
                  <a:schemeClr val="hlink"/>
                </a:solidFill>
                <a:latin typeface="Times New Roman"/>
                <a:ea typeface="Times New Roman"/>
                <a:cs typeface="Times New Roman"/>
                <a:sym typeface="Times New Roman"/>
              </a:rPr>
              <a:t>maT </a:t>
            </a:r>
            <a:r>
              <a:rPr b="1" i="1" lang="en-US" sz="1400" u="none">
                <a:solidFill>
                  <a:schemeClr val="hlink"/>
                </a:solidFill>
                <a:latin typeface="Times New Roman"/>
                <a:ea typeface="Times New Roman"/>
                <a:cs typeface="Times New Roman"/>
                <a:sym typeface="Times New Roman"/>
              </a:rPr>
              <a:t>+ P</a:t>
            </a:r>
            <a:r>
              <a:rPr b="1" baseline="-25000" i="1" lang="en-US" sz="1400" u="none">
                <a:solidFill>
                  <a:schemeClr val="hlink"/>
                </a:solidFill>
                <a:latin typeface="Times New Roman"/>
                <a:ea typeface="Times New Roman"/>
                <a:cs typeface="Times New Roman"/>
                <a:sym typeface="Times New Roman"/>
              </a:rPr>
              <a:t>maM</a:t>
            </a:r>
            <a:r>
              <a:rPr b="1" i="1" lang="en-US" sz="1400" u="none">
                <a:solidFill>
                  <a:schemeClr val="hlink"/>
                </a:solidFill>
                <a:latin typeface="Times New Roman"/>
                <a:ea typeface="Times New Roman"/>
                <a:cs typeface="Times New Roman"/>
                <a:sym typeface="Times New Roman"/>
              </a:rPr>
              <a:t>)]</a:t>
            </a:r>
          </a:p>
          <a:p>
            <a:pPr indent="0" lvl="0" marL="0" marR="0" rtl="0" algn="l">
              <a:lnSpc>
                <a:spcPct val="120000"/>
              </a:lnSpc>
              <a:spcBef>
                <a:spcPts val="0"/>
              </a:spcBef>
              <a:spcAft>
                <a:spcPts val="0"/>
              </a:spcAft>
              <a:buClr>
                <a:schemeClr val="dk1"/>
              </a:buClr>
              <a:buFont typeface="Calibri"/>
              <a:buNone/>
            </a:pPr>
            <a:r>
              <a:t/>
            </a:r>
            <a:endParaRPr b="1" i="1" sz="1400" u="none">
              <a:solidFill>
                <a:schemeClr val="dk1"/>
              </a:solidFill>
              <a:latin typeface="Times New Roman"/>
              <a:ea typeface="Times New Roman"/>
              <a:cs typeface="Times New Roman"/>
              <a:sym typeface="Times New Roman"/>
            </a:endParaRPr>
          </a:p>
          <a:p>
            <a:pPr indent="0" lvl="0" marL="0" marR="0" rtl="0" algn="l">
              <a:lnSpc>
                <a:spcPct val="120000"/>
              </a:lnSpc>
              <a:spcBef>
                <a:spcPts val="0"/>
              </a:spcBef>
              <a:spcAft>
                <a:spcPts val="0"/>
              </a:spcAft>
              <a:buClr>
                <a:schemeClr val="dk1"/>
              </a:buClr>
              <a:buSzPct val="25000"/>
              <a:buFont typeface="Times New Roman"/>
              <a:buNone/>
            </a:pPr>
            <a:r>
              <a:rPr b="1" i="1" lang="en-US" sz="1400" u="none">
                <a:solidFill>
                  <a:schemeClr val="dk1"/>
                </a:solidFill>
                <a:latin typeface="Times New Roman"/>
                <a:ea typeface="Times New Roman"/>
                <a:cs typeface="Times New Roman"/>
                <a:sym typeface="Times New Roman"/>
              </a:rPr>
              <a:t>MULTIPLICADOR  DE  TR</a:t>
            </a:r>
            <a:r>
              <a:rPr b="1" baseline="-25000" i="1" lang="en-US" sz="1400" u="none">
                <a:solidFill>
                  <a:schemeClr val="dk1"/>
                </a:solidFill>
                <a:latin typeface="Times New Roman"/>
                <a:ea typeface="Times New Roman"/>
                <a:cs typeface="Times New Roman"/>
                <a:sym typeface="Times New Roman"/>
              </a:rPr>
              <a:t>0</a:t>
            </a:r>
            <a:r>
              <a:rPr b="1" i="1" lang="en-US" sz="1400" u="none">
                <a:solidFill>
                  <a:schemeClr val="dk1"/>
                </a:solidFill>
                <a:latin typeface="Times New Roman"/>
                <a:ea typeface="Times New Roman"/>
                <a:cs typeface="Times New Roman"/>
                <a:sym typeface="Times New Roman"/>
              </a:rPr>
              <a:t> </a:t>
            </a:r>
          </a:p>
          <a:p>
            <a:pPr indent="0" lvl="0" marL="0" marR="0" rtl="0" algn="l">
              <a:lnSpc>
                <a:spcPct val="120000"/>
              </a:lnSpc>
              <a:spcBef>
                <a:spcPts val="0"/>
              </a:spcBef>
              <a:spcAft>
                <a:spcPts val="0"/>
              </a:spcAft>
              <a:buClr>
                <a:srgbClr val="FF0000"/>
              </a:buClr>
              <a:buSzPct val="25000"/>
              <a:buFont typeface="Times New Roman"/>
              <a:buNone/>
            </a:pPr>
            <a:r>
              <a:rPr b="1" i="1" lang="en-US" sz="1400" u="none">
                <a:solidFill>
                  <a:srgbClr val="FF0000"/>
                </a:solidFill>
                <a:latin typeface="Times New Roman"/>
                <a:ea typeface="Times New Roman"/>
                <a:cs typeface="Times New Roman"/>
                <a:sym typeface="Times New Roman"/>
              </a:rPr>
              <a:t>ΔY / ΔTX</a:t>
            </a:r>
            <a:r>
              <a:rPr b="1" baseline="-25000" i="1" lang="en-US" sz="1400" u="none">
                <a:solidFill>
                  <a:srgbClr val="FF0000"/>
                </a:solidFill>
                <a:latin typeface="Times New Roman"/>
                <a:ea typeface="Times New Roman"/>
                <a:cs typeface="Times New Roman"/>
                <a:sym typeface="Times New Roman"/>
              </a:rPr>
              <a:t>0</a:t>
            </a:r>
            <a:r>
              <a:rPr b="1" i="1" lang="en-US" sz="1400" u="none">
                <a:solidFill>
                  <a:srgbClr val="FF0000"/>
                </a:solidFill>
                <a:latin typeface="Times New Roman"/>
                <a:ea typeface="Times New Roman"/>
                <a:cs typeface="Times New Roman"/>
                <a:sym typeface="Times New Roman"/>
              </a:rPr>
              <a:t> =</a:t>
            </a:r>
            <a:r>
              <a:rPr b="0" i="0" lang="en-US" sz="1400" u="none">
                <a:solidFill>
                  <a:schemeClr val="dk1"/>
                </a:solidFill>
                <a:latin typeface="Times New Roman"/>
                <a:ea typeface="Times New Roman"/>
                <a:cs typeface="Times New Roman"/>
                <a:sym typeface="Times New Roman"/>
              </a:rPr>
              <a:t> </a:t>
            </a:r>
            <a:r>
              <a:rPr b="1" i="1" lang="en-US" sz="1400" u="none">
                <a:solidFill>
                  <a:schemeClr val="hlink"/>
                </a:solidFill>
                <a:latin typeface="Times New Roman"/>
                <a:ea typeface="Times New Roman"/>
                <a:cs typeface="Times New Roman"/>
                <a:sym typeface="Times New Roman"/>
              </a:rPr>
              <a:t>[ + P</a:t>
            </a:r>
            <a:r>
              <a:rPr b="1" baseline="-25000" i="1" lang="en-US" sz="1400" u="none">
                <a:solidFill>
                  <a:schemeClr val="hlink"/>
                </a:solidFill>
                <a:latin typeface="Times New Roman"/>
                <a:ea typeface="Times New Roman"/>
                <a:cs typeface="Times New Roman"/>
                <a:sym typeface="Times New Roman"/>
              </a:rPr>
              <a:t>maC</a:t>
            </a:r>
            <a:r>
              <a:rPr b="1" i="1" lang="en-US" sz="1400" u="none">
                <a:solidFill>
                  <a:schemeClr val="hlink"/>
                </a:solidFill>
                <a:latin typeface="Times New Roman"/>
                <a:ea typeface="Times New Roman"/>
                <a:cs typeface="Times New Roman"/>
                <a:sym typeface="Times New Roman"/>
              </a:rPr>
              <a:t> / (1 - P</a:t>
            </a:r>
            <a:r>
              <a:rPr b="1" baseline="-25000" i="1" lang="en-US" sz="1400" u="none">
                <a:solidFill>
                  <a:schemeClr val="hlink"/>
                </a:solidFill>
                <a:latin typeface="Times New Roman"/>
                <a:ea typeface="Times New Roman"/>
                <a:cs typeface="Times New Roman"/>
                <a:sym typeface="Times New Roman"/>
              </a:rPr>
              <a:t>maC</a:t>
            </a:r>
            <a:r>
              <a:rPr b="1" i="1" lang="en-US" sz="1400" u="none">
                <a:solidFill>
                  <a:schemeClr val="hlink"/>
                </a:solidFill>
                <a:latin typeface="Times New Roman"/>
                <a:ea typeface="Times New Roman"/>
                <a:cs typeface="Times New Roman"/>
                <a:sym typeface="Times New Roman"/>
              </a:rPr>
              <a:t> +  P</a:t>
            </a:r>
            <a:r>
              <a:rPr b="1" baseline="-25000" i="1" lang="en-US" sz="1400" u="none">
                <a:solidFill>
                  <a:schemeClr val="hlink"/>
                </a:solidFill>
                <a:latin typeface="Times New Roman"/>
                <a:ea typeface="Times New Roman"/>
                <a:cs typeface="Times New Roman"/>
                <a:sym typeface="Times New Roman"/>
              </a:rPr>
              <a:t>maC </a:t>
            </a:r>
            <a:r>
              <a:rPr b="1" i="1" lang="en-US" sz="1400" u="none">
                <a:solidFill>
                  <a:schemeClr val="hlink"/>
                </a:solidFill>
                <a:latin typeface="Times New Roman"/>
                <a:ea typeface="Times New Roman"/>
                <a:cs typeface="Times New Roman"/>
                <a:sym typeface="Times New Roman"/>
              </a:rPr>
              <a:t>* P</a:t>
            </a:r>
            <a:r>
              <a:rPr b="1" baseline="-25000" i="1" lang="en-US" sz="1400" u="none">
                <a:solidFill>
                  <a:schemeClr val="hlink"/>
                </a:solidFill>
                <a:latin typeface="Times New Roman"/>
                <a:ea typeface="Times New Roman"/>
                <a:cs typeface="Times New Roman"/>
                <a:sym typeface="Times New Roman"/>
              </a:rPr>
              <a:t>maT</a:t>
            </a:r>
            <a:r>
              <a:rPr b="1" i="1" lang="en-US" sz="1400" u="none">
                <a:solidFill>
                  <a:schemeClr val="hlink"/>
                </a:solidFill>
                <a:latin typeface="Times New Roman"/>
                <a:ea typeface="Times New Roman"/>
                <a:cs typeface="Times New Roman"/>
                <a:sym typeface="Times New Roman"/>
              </a:rPr>
              <a:t> + P</a:t>
            </a:r>
            <a:r>
              <a:rPr b="1" baseline="-25000" i="1" lang="en-US" sz="1400" u="none">
                <a:solidFill>
                  <a:schemeClr val="hlink"/>
                </a:solidFill>
                <a:latin typeface="Times New Roman"/>
                <a:ea typeface="Times New Roman"/>
                <a:cs typeface="Times New Roman"/>
                <a:sym typeface="Times New Roman"/>
              </a:rPr>
              <a:t>maM</a:t>
            </a:r>
            <a:r>
              <a:rPr b="1" i="1" lang="en-US" sz="1400" u="none">
                <a:solidFill>
                  <a:schemeClr val="hlink"/>
                </a:solidFill>
                <a:latin typeface="Times New Roman"/>
                <a:ea typeface="Times New Roman"/>
                <a:cs typeface="Times New Roman"/>
                <a:sym typeface="Times New Roman"/>
              </a:rPr>
              <a:t>)]</a:t>
            </a:r>
          </a:p>
        </p:txBody>
      </p:sp>
    </p:spTree>
  </p:cSld>
  <p:clrMapOvr>
    <a:masterClrMapping/>
  </p:clrMapOvr>
  <p:transition spd="slow">
    <p:cut/>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68" name="Shape 568"/>
        <p:cNvGrpSpPr/>
        <p:nvPr/>
      </p:nvGrpSpPr>
      <p:grpSpPr>
        <a:xfrm>
          <a:off x="0" y="0"/>
          <a:ext cx="0" cy="0"/>
          <a:chOff x="0" y="0"/>
          <a:chExt cx="0" cy="0"/>
        </a:xfrm>
      </p:grpSpPr>
      <p:pic>
        <p:nvPicPr>
          <p:cNvPr id="569" name="Shape 569"/>
          <p:cNvPicPr preferRelativeResize="0"/>
          <p:nvPr/>
        </p:nvPicPr>
        <p:blipFill rotWithShape="1">
          <a:blip r:embed="rId3">
            <a:alphaModFix/>
          </a:blip>
          <a:srcRect b="0" l="0" r="0" t="0"/>
          <a:stretch/>
        </p:blipFill>
        <p:spPr>
          <a:xfrm>
            <a:off x="263525" y="914400"/>
            <a:ext cx="8610599" cy="209549"/>
          </a:xfrm>
          <a:prstGeom prst="rect">
            <a:avLst/>
          </a:prstGeom>
          <a:noFill/>
          <a:ln>
            <a:noFill/>
          </a:ln>
        </p:spPr>
      </p:pic>
      <p:pic>
        <p:nvPicPr>
          <p:cNvPr id="570" name="Shape 570"/>
          <p:cNvPicPr preferRelativeResize="0"/>
          <p:nvPr/>
        </p:nvPicPr>
        <p:blipFill rotWithShape="1">
          <a:blip r:embed="rId4">
            <a:alphaModFix/>
          </a:blip>
          <a:srcRect b="0" l="0" r="0" t="0"/>
          <a:stretch/>
        </p:blipFill>
        <p:spPr>
          <a:xfrm>
            <a:off x="255587" y="306387"/>
            <a:ext cx="3013074" cy="608011"/>
          </a:xfrm>
          <a:prstGeom prst="rect">
            <a:avLst/>
          </a:prstGeom>
          <a:noFill/>
          <a:ln>
            <a:noFill/>
          </a:ln>
        </p:spPr>
      </p:pic>
      <p:sp>
        <p:nvSpPr>
          <p:cNvPr id="571" name="Shape 571"/>
          <p:cNvSpPr txBox="1"/>
          <p:nvPr/>
        </p:nvSpPr>
        <p:spPr>
          <a:xfrm>
            <a:off x="304800" y="1524000"/>
            <a:ext cx="8610599" cy="5035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572" name="Shape 572"/>
          <p:cNvCxnSpPr/>
          <p:nvPr/>
        </p:nvCxnSpPr>
        <p:spPr>
          <a:xfrm rot="10800000">
            <a:off x="1762125" y="1295399"/>
            <a:ext cx="0" cy="5400675"/>
          </a:xfrm>
          <a:prstGeom prst="straightConnector1">
            <a:avLst/>
          </a:prstGeom>
          <a:noFill/>
          <a:ln cap="flat" cmpd="sng" w="25400">
            <a:solidFill>
              <a:srgbClr val="FF0000"/>
            </a:solidFill>
            <a:prstDash val="solid"/>
            <a:miter/>
            <a:headEnd len="med" w="med" type="none"/>
            <a:tailEnd len="lg" w="lg" type="triangle"/>
          </a:ln>
        </p:spPr>
      </p:cxnSp>
      <p:cxnSp>
        <p:nvCxnSpPr>
          <p:cNvPr id="573" name="Shape 573"/>
          <p:cNvCxnSpPr/>
          <p:nvPr/>
        </p:nvCxnSpPr>
        <p:spPr>
          <a:xfrm>
            <a:off x="1600200" y="4795837"/>
            <a:ext cx="6324600" cy="0"/>
          </a:xfrm>
          <a:prstGeom prst="straightConnector1">
            <a:avLst/>
          </a:prstGeom>
          <a:noFill/>
          <a:ln cap="flat" cmpd="sng" w="25400">
            <a:solidFill>
              <a:srgbClr val="FF0000"/>
            </a:solidFill>
            <a:prstDash val="solid"/>
            <a:miter/>
            <a:headEnd len="med" w="med" type="none"/>
            <a:tailEnd len="lg" w="lg" type="triangle"/>
          </a:ln>
        </p:spPr>
      </p:cxnSp>
      <p:sp>
        <p:nvSpPr>
          <p:cNvPr id="574" name="Shape 574"/>
          <p:cNvSpPr/>
          <p:nvPr/>
        </p:nvSpPr>
        <p:spPr>
          <a:xfrm>
            <a:off x="1752600" y="1981200"/>
            <a:ext cx="3260725" cy="2085975"/>
          </a:xfrm>
          <a:custGeom>
            <a:pathLst>
              <a:path extrusionOk="0" h="120000" w="120000">
                <a:moveTo>
                  <a:pt x="0" y="120000"/>
                </a:moveTo>
                <a:cubicBezTo>
                  <a:pt x="1577" y="115890"/>
                  <a:pt x="5842" y="103744"/>
                  <a:pt x="9464" y="95159"/>
                </a:cubicBezTo>
                <a:cubicBezTo>
                  <a:pt x="13086" y="86575"/>
                  <a:pt x="15890" y="78173"/>
                  <a:pt x="21733" y="68493"/>
                </a:cubicBezTo>
                <a:cubicBezTo>
                  <a:pt x="27575" y="58904"/>
                  <a:pt x="37098" y="45388"/>
                  <a:pt x="44518" y="37168"/>
                </a:cubicBezTo>
                <a:cubicBezTo>
                  <a:pt x="51937" y="28949"/>
                  <a:pt x="58714" y="24292"/>
                  <a:pt x="66251" y="19086"/>
                </a:cubicBezTo>
                <a:cubicBezTo>
                  <a:pt x="73787" y="13881"/>
                  <a:pt x="80798" y="9315"/>
                  <a:pt x="89737" y="6118"/>
                </a:cubicBezTo>
                <a:cubicBezTo>
                  <a:pt x="98675" y="2922"/>
                  <a:pt x="113690" y="1278"/>
                  <a:pt x="120000" y="0"/>
                </a:cubicBezTo>
              </a:path>
            </a:pathLst>
          </a:custGeom>
          <a:noFill/>
          <a:ln cap="flat" cmpd="sng" w="38100">
            <a:solidFill>
              <a:srgbClr val="008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575" name="Shape 575"/>
          <p:cNvCxnSpPr/>
          <p:nvPr/>
        </p:nvCxnSpPr>
        <p:spPr>
          <a:xfrm flipH="1" rot="10800000">
            <a:off x="1752600" y="1219200"/>
            <a:ext cx="3200399" cy="3581399"/>
          </a:xfrm>
          <a:prstGeom prst="straightConnector1">
            <a:avLst/>
          </a:prstGeom>
          <a:noFill/>
          <a:ln cap="flat" cmpd="sng" w="38100">
            <a:solidFill>
              <a:schemeClr val="dk1"/>
            </a:solidFill>
            <a:prstDash val="solid"/>
            <a:miter/>
            <a:headEnd len="med" w="med" type="none"/>
            <a:tailEnd len="med" w="med" type="none"/>
          </a:ln>
        </p:spPr>
      </p:cxnSp>
      <p:sp>
        <p:nvSpPr>
          <p:cNvPr id="576" name="Shape 576"/>
          <p:cNvSpPr txBox="1"/>
          <p:nvPr/>
        </p:nvSpPr>
        <p:spPr>
          <a:xfrm>
            <a:off x="685800" y="1447800"/>
            <a:ext cx="1371599"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400" u="none">
                <a:solidFill>
                  <a:srgbClr val="FF0000"/>
                </a:solidFill>
                <a:latin typeface="Arial"/>
                <a:ea typeface="Arial"/>
                <a:cs typeface="Arial"/>
                <a:sym typeface="Arial"/>
              </a:rPr>
              <a:t>OA / DA</a:t>
            </a:r>
          </a:p>
        </p:txBody>
      </p:sp>
      <p:sp>
        <p:nvSpPr>
          <p:cNvPr id="577" name="Shape 577"/>
          <p:cNvSpPr txBox="1"/>
          <p:nvPr/>
        </p:nvSpPr>
        <p:spPr>
          <a:xfrm>
            <a:off x="6705600" y="4419600"/>
            <a:ext cx="1371599" cy="533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Renta (Y)</a:t>
            </a:r>
          </a:p>
        </p:txBody>
      </p:sp>
      <p:sp>
        <p:nvSpPr>
          <p:cNvPr id="578" name="Shape 578"/>
          <p:cNvSpPr/>
          <p:nvPr/>
        </p:nvSpPr>
        <p:spPr>
          <a:xfrm rot="2040000">
            <a:off x="1904999" y="4495800"/>
            <a:ext cx="304799" cy="300036"/>
          </a:xfrm>
          <a:custGeom>
            <a:pathLst>
              <a:path extrusionOk="0" h="120000" w="120000">
                <a:moveTo>
                  <a:pt x="7382" y="60000"/>
                </a:moveTo>
                <a:lnTo>
                  <a:pt x="7382" y="60000"/>
                </a:lnTo>
                <a:cubicBezTo>
                  <a:pt x="7382" y="41058"/>
                  <a:pt x="17608" y="23585"/>
                  <a:pt x="34142" y="14276"/>
                </a:cubicBezTo>
                <a:cubicBezTo>
                  <a:pt x="50675" y="4968"/>
                  <a:pt x="70952" y="5267"/>
                  <a:pt x="87202" y="15060"/>
                </a:cubicBezTo>
                <a:cubicBezTo>
                  <a:pt x="103452" y="24853"/>
                  <a:pt x="113156" y="42620"/>
                  <a:pt x="112594" y="61554"/>
                </a:cubicBezTo>
                <a:lnTo>
                  <a:pt x="119725" y="62971"/>
                </a:lnTo>
                <a:lnTo>
                  <a:pt x="104358" y="68813"/>
                </a:lnTo>
                <a:lnTo>
                  <a:pt x="90743" y="57212"/>
                </a:lnTo>
                <a:lnTo>
                  <a:pt x="97825" y="58619"/>
                </a:lnTo>
                <a:lnTo>
                  <a:pt x="97825" y="58619"/>
                </a:lnTo>
                <a:cubicBezTo>
                  <a:pt x="97066" y="38192"/>
                  <a:pt x="79933" y="22130"/>
                  <a:pt x="59303" y="22506"/>
                </a:cubicBezTo>
                <a:cubicBezTo>
                  <a:pt x="38673" y="22882"/>
                  <a:pt x="22148" y="39558"/>
                  <a:pt x="22148" y="59999"/>
                </a:cubicBezTo>
                <a:close/>
              </a:path>
            </a:pathLst>
          </a:cu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579" name="Shape 579"/>
          <p:cNvSpPr txBox="1"/>
          <p:nvPr/>
        </p:nvSpPr>
        <p:spPr>
          <a:xfrm>
            <a:off x="1828800" y="4572000"/>
            <a:ext cx="304799" cy="304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000" u="none">
                <a:solidFill>
                  <a:srgbClr val="FF0000"/>
                </a:solidFill>
                <a:latin typeface="Arial"/>
                <a:ea typeface="Arial"/>
                <a:cs typeface="Arial"/>
                <a:sym typeface="Arial"/>
              </a:rPr>
              <a:t>45°</a:t>
            </a:r>
          </a:p>
        </p:txBody>
      </p:sp>
      <p:cxnSp>
        <p:nvCxnSpPr>
          <p:cNvPr id="580" name="Shape 580"/>
          <p:cNvCxnSpPr/>
          <p:nvPr/>
        </p:nvCxnSpPr>
        <p:spPr>
          <a:xfrm>
            <a:off x="4191000" y="2057400"/>
            <a:ext cx="0" cy="4343400"/>
          </a:xfrm>
          <a:prstGeom prst="straightConnector1">
            <a:avLst/>
          </a:prstGeom>
          <a:noFill/>
          <a:ln cap="flat" cmpd="sng" w="25400">
            <a:solidFill>
              <a:srgbClr val="008000"/>
            </a:solidFill>
            <a:prstDash val="solid"/>
            <a:miter/>
            <a:headEnd len="med" w="med" type="none"/>
            <a:tailEnd len="med" w="med" type="none"/>
          </a:ln>
        </p:spPr>
      </p:cxnSp>
      <p:cxnSp>
        <p:nvCxnSpPr>
          <p:cNvPr id="581" name="Shape 581"/>
          <p:cNvCxnSpPr/>
          <p:nvPr/>
        </p:nvCxnSpPr>
        <p:spPr>
          <a:xfrm>
            <a:off x="4648200" y="1524000"/>
            <a:ext cx="0" cy="4876799"/>
          </a:xfrm>
          <a:prstGeom prst="straightConnector1">
            <a:avLst/>
          </a:prstGeom>
          <a:noFill/>
          <a:ln cap="flat" cmpd="sng" w="25400">
            <a:solidFill>
              <a:schemeClr val="dk2"/>
            </a:solidFill>
            <a:prstDash val="solid"/>
            <a:miter/>
            <a:headEnd len="med" w="med" type="none"/>
            <a:tailEnd len="med" w="med" type="none"/>
          </a:ln>
        </p:spPr>
      </p:cxnSp>
      <p:sp>
        <p:nvSpPr>
          <p:cNvPr id="582" name="Shape 582"/>
          <p:cNvSpPr txBox="1"/>
          <p:nvPr/>
        </p:nvSpPr>
        <p:spPr>
          <a:xfrm>
            <a:off x="5181600" y="1392237"/>
            <a:ext cx="892174" cy="274636"/>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Clr>
                <a:schemeClr val="accent1"/>
              </a:buClr>
              <a:buSzPct val="25000"/>
              <a:buFont typeface="Arial"/>
              <a:buNone/>
            </a:pPr>
            <a:r>
              <a:rPr b="1" i="0" lang="en-US" sz="1200" u="none">
                <a:solidFill>
                  <a:schemeClr val="accent1"/>
                </a:solidFill>
                <a:latin typeface="Arial"/>
                <a:ea typeface="Arial"/>
                <a:cs typeface="Arial"/>
                <a:sym typeface="Arial"/>
              </a:rPr>
              <a:t>DA</a:t>
            </a:r>
            <a:r>
              <a:rPr b="1" baseline="-25000" i="0" lang="en-US" sz="1200" u="none">
                <a:solidFill>
                  <a:schemeClr val="accent1"/>
                </a:solidFill>
                <a:latin typeface="Arial"/>
                <a:ea typeface="Arial"/>
                <a:cs typeface="Arial"/>
                <a:sym typeface="Arial"/>
              </a:rPr>
              <a:t>1</a:t>
            </a:r>
            <a:r>
              <a:rPr b="1" i="0" lang="en-US" sz="1200" u="none">
                <a:solidFill>
                  <a:schemeClr val="accent1"/>
                </a:solidFill>
                <a:latin typeface="Arial"/>
                <a:ea typeface="Arial"/>
                <a:cs typeface="Arial"/>
                <a:sym typeface="Arial"/>
              </a:rPr>
              <a:t> (Y, i</a:t>
            </a:r>
            <a:r>
              <a:rPr b="1" baseline="-25000" i="0" lang="en-US" sz="1200" u="none">
                <a:solidFill>
                  <a:schemeClr val="accent1"/>
                </a:solidFill>
                <a:latin typeface="Arial"/>
                <a:ea typeface="Arial"/>
                <a:cs typeface="Arial"/>
                <a:sym typeface="Arial"/>
              </a:rPr>
              <a:t>1</a:t>
            </a:r>
            <a:r>
              <a:rPr b="1" i="0" lang="en-US" sz="1200" u="none">
                <a:solidFill>
                  <a:schemeClr val="accent1"/>
                </a:solidFill>
                <a:latin typeface="Arial"/>
                <a:ea typeface="Arial"/>
                <a:cs typeface="Arial"/>
                <a:sym typeface="Arial"/>
              </a:rPr>
              <a:t>)</a:t>
            </a:r>
          </a:p>
        </p:txBody>
      </p:sp>
      <p:sp>
        <p:nvSpPr>
          <p:cNvPr id="583" name="Shape 583"/>
          <p:cNvSpPr txBox="1"/>
          <p:nvPr/>
        </p:nvSpPr>
        <p:spPr>
          <a:xfrm>
            <a:off x="4572000" y="4724400"/>
            <a:ext cx="449262"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400" u="none">
                <a:solidFill>
                  <a:schemeClr val="dk1"/>
                </a:solidFill>
                <a:latin typeface="Arial"/>
                <a:ea typeface="Arial"/>
                <a:cs typeface="Arial"/>
                <a:sym typeface="Arial"/>
              </a:rPr>
              <a:t> </a:t>
            </a:r>
            <a:r>
              <a:rPr b="1" i="0" lang="en-US" sz="1200" u="none">
                <a:solidFill>
                  <a:schemeClr val="accent1"/>
                </a:solidFill>
                <a:latin typeface="Arial"/>
                <a:ea typeface="Arial"/>
                <a:cs typeface="Arial"/>
                <a:sym typeface="Arial"/>
              </a:rPr>
              <a:t>Y</a:t>
            </a:r>
            <a:r>
              <a:rPr b="1" baseline="-25000" i="0" lang="en-US" sz="1200" u="none">
                <a:solidFill>
                  <a:schemeClr val="accent1"/>
                </a:solidFill>
                <a:latin typeface="Arial"/>
                <a:ea typeface="Arial"/>
                <a:cs typeface="Arial"/>
                <a:sym typeface="Arial"/>
              </a:rPr>
              <a:t>1</a:t>
            </a:r>
          </a:p>
        </p:txBody>
      </p:sp>
      <p:sp>
        <p:nvSpPr>
          <p:cNvPr id="584" name="Shape 584"/>
          <p:cNvSpPr txBox="1"/>
          <p:nvPr/>
        </p:nvSpPr>
        <p:spPr>
          <a:xfrm>
            <a:off x="4419600" y="6324600"/>
            <a:ext cx="449262"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400" u="none">
                <a:solidFill>
                  <a:schemeClr val="dk1"/>
                </a:solidFill>
                <a:latin typeface="Arial"/>
                <a:ea typeface="Arial"/>
                <a:cs typeface="Arial"/>
                <a:sym typeface="Arial"/>
              </a:rPr>
              <a:t> </a:t>
            </a:r>
            <a:r>
              <a:rPr b="1" i="0" lang="en-US" sz="1200" u="none">
                <a:solidFill>
                  <a:schemeClr val="hlink"/>
                </a:solidFill>
                <a:latin typeface="Arial"/>
                <a:ea typeface="Arial"/>
                <a:cs typeface="Arial"/>
                <a:sym typeface="Arial"/>
              </a:rPr>
              <a:t>Y</a:t>
            </a:r>
            <a:r>
              <a:rPr b="1" baseline="-25000" i="0" lang="en-US" sz="1200" u="none">
                <a:solidFill>
                  <a:schemeClr val="hlink"/>
                </a:solidFill>
                <a:latin typeface="Arial"/>
                <a:ea typeface="Arial"/>
                <a:cs typeface="Arial"/>
                <a:sym typeface="Arial"/>
              </a:rPr>
              <a:t>1</a:t>
            </a:r>
          </a:p>
        </p:txBody>
      </p:sp>
      <p:sp>
        <p:nvSpPr>
          <p:cNvPr id="585" name="Shape 585"/>
          <p:cNvSpPr txBox="1"/>
          <p:nvPr/>
        </p:nvSpPr>
        <p:spPr>
          <a:xfrm>
            <a:off x="4114800" y="4724400"/>
            <a:ext cx="449262"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CC00"/>
              </a:buClr>
              <a:buSzPct val="25000"/>
              <a:buFont typeface="Arial"/>
              <a:buNone/>
            </a:pPr>
            <a:r>
              <a:rPr b="1" i="0" lang="en-US" sz="1400" u="none">
                <a:solidFill>
                  <a:srgbClr val="00CC00"/>
                </a:solidFill>
                <a:latin typeface="Arial"/>
                <a:ea typeface="Arial"/>
                <a:cs typeface="Arial"/>
                <a:sym typeface="Arial"/>
              </a:rPr>
              <a:t> </a:t>
            </a:r>
            <a:r>
              <a:rPr b="1" i="0" lang="en-US" sz="1200" u="none">
                <a:solidFill>
                  <a:srgbClr val="00CC00"/>
                </a:solidFill>
                <a:latin typeface="Arial"/>
                <a:ea typeface="Arial"/>
                <a:cs typeface="Arial"/>
                <a:sym typeface="Arial"/>
              </a:rPr>
              <a:t>Y</a:t>
            </a:r>
            <a:r>
              <a:rPr b="1" baseline="-25000" i="0" lang="en-US" sz="1200" u="none">
                <a:solidFill>
                  <a:srgbClr val="00CC00"/>
                </a:solidFill>
                <a:latin typeface="Arial"/>
                <a:ea typeface="Arial"/>
                <a:cs typeface="Arial"/>
                <a:sym typeface="Arial"/>
              </a:rPr>
              <a:t>2</a:t>
            </a:r>
          </a:p>
        </p:txBody>
      </p:sp>
      <p:sp>
        <p:nvSpPr>
          <p:cNvPr id="586" name="Shape 586"/>
          <p:cNvSpPr txBox="1"/>
          <p:nvPr/>
        </p:nvSpPr>
        <p:spPr>
          <a:xfrm>
            <a:off x="1600200" y="4800600"/>
            <a:ext cx="76199" cy="487361"/>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i</a:t>
            </a:r>
          </a:p>
        </p:txBody>
      </p:sp>
      <p:sp>
        <p:nvSpPr>
          <p:cNvPr id="587" name="Shape 587"/>
          <p:cNvSpPr txBox="1"/>
          <p:nvPr/>
        </p:nvSpPr>
        <p:spPr>
          <a:xfrm>
            <a:off x="3970337" y="6354762"/>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a:t>
            </a:r>
            <a:r>
              <a:rPr b="1" i="0" lang="en-US" sz="1200" u="none">
                <a:solidFill>
                  <a:srgbClr val="008000"/>
                </a:solidFill>
                <a:latin typeface="Arial"/>
                <a:ea typeface="Arial"/>
                <a:cs typeface="Arial"/>
                <a:sym typeface="Arial"/>
              </a:rPr>
              <a:t>Y</a:t>
            </a:r>
            <a:r>
              <a:rPr b="1" baseline="-25000" i="0" lang="en-US" sz="1200" u="none">
                <a:solidFill>
                  <a:srgbClr val="008000"/>
                </a:solidFill>
                <a:latin typeface="Arial"/>
                <a:ea typeface="Arial"/>
                <a:cs typeface="Arial"/>
                <a:sym typeface="Arial"/>
              </a:rPr>
              <a:t>2</a:t>
            </a:r>
          </a:p>
        </p:txBody>
      </p:sp>
      <p:sp>
        <p:nvSpPr>
          <p:cNvPr id="588" name="Shape 588"/>
          <p:cNvSpPr/>
          <p:nvPr/>
        </p:nvSpPr>
        <p:spPr>
          <a:xfrm>
            <a:off x="1752600" y="1528762"/>
            <a:ext cx="3352799" cy="1595436"/>
          </a:xfrm>
          <a:custGeom>
            <a:pathLst>
              <a:path extrusionOk="0" h="120000" w="120000">
                <a:moveTo>
                  <a:pt x="0" y="120000"/>
                </a:moveTo>
                <a:cubicBezTo>
                  <a:pt x="1704" y="115223"/>
                  <a:pt x="6534" y="101253"/>
                  <a:pt x="10397" y="91582"/>
                </a:cubicBezTo>
                <a:cubicBezTo>
                  <a:pt x="14261" y="81910"/>
                  <a:pt x="17272" y="72238"/>
                  <a:pt x="23181" y="61850"/>
                </a:cubicBezTo>
                <a:cubicBezTo>
                  <a:pt x="29034" y="51462"/>
                  <a:pt x="38522" y="36895"/>
                  <a:pt x="45738" y="28656"/>
                </a:cubicBezTo>
                <a:cubicBezTo>
                  <a:pt x="52954" y="20417"/>
                  <a:pt x="58693" y="16716"/>
                  <a:pt x="66534" y="12298"/>
                </a:cubicBezTo>
                <a:cubicBezTo>
                  <a:pt x="74375" y="7880"/>
                  <a:pt x="83806" y="3820"/>
                  <a:pt x="92727" y="1910"/>
                </a:cubicBezTo>
                <a:cubicBezTo>
                  <a:pt x="101647" y="0"/>
                  <a:pt x="114318" y="1074"/>
                  <a:pt x="120000" y="835"/>
                </a:cubicBezTo>
              </a:path>
            </a:pathLst>
          </a:custGeom>
          <a:noFill/>
          <a:ln cap="flat" cmpd="sng" w="38100">
            <a:solidFill>
              <a:schemeClr val="dk2"/>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589" name="Shape 589"/>
          <p:cNvSpPr txBox="1"/>
          <p:nvPr/>
        </p:nvSpPr>
        <p:spPr>
          <a:xfrm>
            <a:off x="5094287" y="1905000"/>
            <a:ext cx="849312" cy="274636"/>
          </a:xfrm>
          <a:prstGeom prst="rect">
            <a:avLst/>
          </a:prstGeom>
          <a:solidFill>
            <a:srgbClr val="FFFFFF"/>
          </a:solidFill>
          <a:ln>
            <a:noFill/>
          </a:ln>
        </p:spPr>
        <p:txBody>
          <a:bodyPr anchorCtr="0" anchor="t" bIns="45700" lIns="91425" rIns="91425" tIns="45700">
            <a:noAutofit/>
          </a:bodyPr>
          <a:lstStyle/>
          <a:p>
            <a:pPr indent="0" lvl="0" marL="0" marR="0" rtl="0" algn="r">
              <a:lnSpc>
                <a:spcPct val="100000"/>
              </a:lnSpc>
              <a:spcBef>
                <a:spcPts val="0"/>
              </a:spcBef>
              <a:spcAft>
                <a:spcPts val="0"/>
              </a:spcAft>
              <a:buClr>
                <a:srgbClr val="008000"/>
              </a:buClr>
              <a:buSzPct val="25000"/>
              <a:buFont typeface="Arial"/>
              <a:buNone/>
            </a:pPr>
            <a:r>
              <a:rPr b="1" i="0" lang="en-US" sz="1200" u="none">
                <a:solidFill>
                  <a:srgbClr val="008000"/>
                </a:solidFill>
                <a:latin typeface="Arial"/>
                <a:ea typeface="Arial"/>
                <a:cs typeface="Arial"/>
                <a:sym typeface="Arial"/>
              </a:rPr>
              <a:t>DA</a:t>
            </a:r>
            <a:r>
              <a:rPr b="1" baseline="-25000" i="0" lang="en-US" sz="1200" u="none">
                <a:solidFill>
                  <a:srgbClr val="008000"/>
                </a:solidFill>
                <a:latin typeface="Arial"/>
                <a:ea typeface="Arial"/>
                <a:cs typeface="Arial"/>
                <a:sym typeface="Arial"/>
              </a:rPr>
              <a:t>2</a:t>
            </a:r>
            <a:r>
              <a:rPr b="1" i="0" lang="en-US" sz="1200" u="none">
                <a:solidFill>
                  <a:srgbClr val="008000"/>
                </a:solidFill>
                <a:latin typeface="Arial"/>
                <a:ea typeface="Arial"/>
                <a:cs typeface="Arial"/>
                <a:sym typeface="Arial"/>
              </a:rPr>
              <a:t>(Y, i</a:t>
            </a:r>
            <a:r>
              <a:rPr b="1" baseline="-25000" i="0" lang="en-US" sz="1200" u="none">
                <a:solidFill>
                  <a:srgbClr val="008000"/>
                </a:solidFill>
                <a:latin typeface="Arial"/>
                <a:ea typeface="Arial"/>
                <a:cs typeface="Arial"/>
                <a:sym typeface="Arial"/>
              </a:rPr>
              <a:t>2</a:t>
            </a:r>
            <a:r>
              <a:rPr b="1" i="0" lang="en-US" sz="1200" u="none">
                <a:solidFill>
                  <a:srgbClr val="008000"/>
                </a:solidFill>
                <a:latin typeface="Arial"/>
                <a:ea typeface="Arial"/>
                <a:cs typeface="Arial"/>
                <a:sym typeface="Arial"/>
              </a:rPr>
              <a:t>)</a:t>
            </a:r>
          </a:p>
        </p:txBody>
      </p:sp>
      <p:cxnSp>
        <p:nvCxnSpPr>
          <p:cNvPr id="590" name="Shape 590"/>
          <p:cNvCxnSpPr/>
          <p:nvPr/>
        </p:nvCxnSpPr>
        <p:spPr>
          <a:xfrm>
            <a:off x="1752600" y="6416675"/>
            <a:ext cx="6324600" cy="0"/>
          </a:xfrm>
          <a:prstGeom prst="straightConnector1">
            <a:avLst/>
          </a:prstGeom>
          <a:noFill/>
          <a:ln cap="flat" cmpd="sng" w="25400">
            <a:solidFill>
              <a:srgbClr val="FF0000"/>
            </a:solidFill>
            <a:prstDash val="solid"/>
            <a:miter/>
            <a:headEnd len="med" w="med" type="none"/>
            <a:tailEnd len="lg" w="lg" type="triangle"/>
          </a:ln>
        </p:spPr>
      </p:cxnSp>
      <p:sp>
        <p:nvSpPr>
          <p:cNvPr id="591" name="Shape 591"/>
          <p:cNvSpPr/>
          <p:nvPr/>
        </p:nvSpPr>
        <p:spPr>
          <a:xfrm>
            <a:off x="3886200" y="5181600"/>
            <a:ext cx="2666999" cy="1003300"/>
          </a:xfrm>
          <a:custGeom>
            <a:pathLst>
              <a:path extrusionOk="0" h="120000" w="120000">
                <a:moveTo>
                  <a:pt x="0" y="0"/>
                </a:moveTo>
                <a:cubicBezTo>
                  <a:pt x="5142" y="27341"/>
                  <a:pt x="10285" y="54683"/>
                  <a:pt x="20571" y="72911"/>
                </a:cubicBezTo>
                <a:cubicBezTo>
                  <a:pt x="30857" y="91139"/>
                  <a:pt x="46857" y="101772"/>
                  <a:pt x="61714" y="109367"/>
                </a:cubicBezTo>
                <a:cubicBezTo>
                  <a:pt x="76571" y="116962"/>
                  <a:pt x="100000" y="116962"/>
                  <a:pt x="109714" y="118481"/>
                </a:cubicBezTo>
                <a:cubicBezTo>
                  <a:pt x="119428" y="120000"/>
                  <a:pt x="119714" y="119240"/>
                  <a:pt x="120000" y="118481"/>
                </a:cubicBezTo>
              </a:path>
            </a:pathLst>
          </a:custGeom>
          <a:noFill/>
          <a:ln cap="flat" cmpd="sng" w="25400">
            <a:solidFill>
              <a:schemeClr val="dk1"/>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592" name="Shape 592"/>
          <p:cNvSpPr txBox="1"/>
          <p:nvPr/>
        </p:nvSpPr>
        <p:spPr>
          <a:xfrm>
            <a:off x="7010400" y="5943600"/>
            <a:ext cx="1371599" cy="533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Renta (Y)</a:t>
            </a:r>
          </a:p>
        </p:txBody>
      </p:sp>
      <p:cxnSp>
        <p:nvCxnSpPr>
          <p:cNvPr id="593" name="Shape 593"/>
          <p:cNvCxnSpPr/>
          <p:nvPr/>
        </p:nvCxnSpPr>
        <p:spPr>
          <a:xfrm>
            <a:off x="1752600" y="5638800"/>
            <a:ext cx="2438399" cy="0"/>
          </a:xfrm>
          <a:prstGeom prst="straightConnector1">
            <a:avLst/>
          </a:prstGeom>
          <a:noFill/>
          <a:ln cap="flat" cmpd="sng" w="25400">
            <a:solidFill>
              <a:srgbClr val="008000"/>
            </a:solidFill>
            <a:prstDash val="solid"/>
            <a:miter/>
            <a:headEnd len="med" w="med" type="none"/>
            <a:tailEnd len="med" w="med" type="oval"/>
          </a:ln>
        </p:spPr>
      </p:cxnSp>
      <p:cxnSp>
        <p:nvCxnSpPr>
          <p:cNvPr id="594" name="Shape 594"/>
          <p:cNvCxnSpPr/>
          <p:nvPr/>
        </p:nvCxnSpPr>
        <p:spPr>
          <a:xfrm>
            <a:off x="1752600" y="5943600"/>
            <a:ext cx="2911474" cy="1587"/>
          </a:xfrm>
          <a:prstGeom prst="straightConnector1">
            <a:avLst/>
          </a:prstGeom>
          <a:noFill/>
          <a:ln cap="flat" cmpd="sng" w="25400">
            <a:solidFill>
              <a:schemeClr val="dk2"/>
            </a:solidFill>
            <a:prstDash val="solid"/>
            <a:miter/>
            <a:headEnd len="med" w="med" type="none"/>
            <a:tailEnd len="med" w="med" type="oval"/>
          </a:ln>
        </p:spPr>
      </p:cxnSp>
      <p:sp>
        <p:nvSpPr>
          <p:cNvPr id="595" name="Shape 595"/>
          <p:cNvSpPr txBox="1"/>
          <p:nvPr/>
        </p:nvSpPr>
        <p:spPr>
          <a:xfrm>
            <a:off x="1524000" y="5380037"/>
            <a:ext cx="304799" cy="487361"/>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008000"/>
              </a:buClr>
              <a:buSzPct val="25000"/>
              <a:buFont typeface="Arial"/>
              <a:buNone/>
            </a:pPr>
            <a:r>
              <a:rPr b="1" i="0" lang="en-US" sz="1600" u="none">
                <a:solidFill>
                  <a:srgbClr val="008000"/>
                </a:solidFill>
                <a:latin typeface="Arial"/>
                <a:ea typeface="Arial"/>
                <a:cs typeface="Arial"/>
                <a:sym typeface="Arial"/>
              </a:rPr>
              <a:t>i</a:t>
            </a:r>
            <a:r>
              <a:rPr b="1" baseline="-25000" i="0" lang="en-US" sz="1600" u="none">
                <a:solidFill>
                  <a:srgbClr val="008000"/>
                </a:solidFill>
                <a:latin typeface="Arial"/>
                <a:ea typeface="Arial"/>
                <a:cs typeface="Arial"/>
                <a:sym typeface="Arial"/>
              </a:rPr>
              <a:t>2</a:t>
            </a:r>
          </a:p>
        </p:txBody>
      </p:sp>
      <p:sp>
        <p:nvSpPr>
          <p:cNvPr id="596" name="Shape 596"/>
          <p:cNvSpPr txBox="1"/>
          <p:nvPr/>
        </p:nvSpPr>
        <p:spPr>
          <a:xfrm>
            <a:off x="1524000" y="5684837"/>
            <a:ext cx="304799" cy="487361"/>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accent1"/>
              </a:buClr>
              <a:buSzPct val="25000"/>
              <a:buFont typeface="Arial"/>
              <a:buNone/>
            </a:pPr>
            <a:r>
              <a:rPr b="1" i="0" lang="en-US" sz="1600" u="none">
                <a:solidFill>
                  <a:schemeClr val="accent1"/>
                </a:solidFill>
                <a:latin typeface="Arial"/>
                <a:ea typeface="Arial"/>
                <a:cs typeface="Arial"/>
                <a:sym typeface="Arial"/>
              </a:rPr>
              <a:t>i</a:t>
            </a:r>
            <a:r>
              <a:rPr b="1" baseline="-25000" i="0" lang="en-US" sz="1600" u="none">
                <a:solidFill>
                  <a:schemeClr val="accent1"/>
                </a:solidFill>
                <a:latin typeface="Arial"/>
                <a:ea typeface="Arial"/>
                <a:cs typeface="Arial"/>
                <a:sym typeface="Arial"/>
              </a:rPr>
              <a:t>1</a:t>
            </a:r>
          </a:p>
        </p:txBody>
      </p:sp>
      <p:sp>
        <p:nvSpPr>
          <p:cNvPr id="597" name="Shape 597"/>
          <p:cNvSpPr txBox="1"/>
          <p:nvPr/>
        </p:nvSpPr>
        <p:spPr>
          <a:xfrm>
            <a:off x="5334000" y="5638800"/>
            <a:ext cx="1371599" cy="533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a:solidFill>
                  <a:schemeClr val="dk1"/>
                </a:solidFill>
                <a:latin typeface="Arial"/>
                <a:ea typeface="Arial"/>
                <a:cs typeface="Arial"/>
                <a:sym typeface="Arial"/>
              </a:rPr>
              <a:t>Curva IS</a:t>
            </a:r>
          </a:p>
        </p:txBody>
      </p:sp>
      <p:sp>
        <p:nvSpPr>
          <p:cNvPr id="598" name="Shape 598"/>
          <p:cNvSpPr txBox="1"/>
          <p:nvPr/>
        </p:nvSpPr>
        <p:spPr>
          <a:xfrm>
            <a:off x="6172200" y="1562100"/>
            <a:ext cx="2286000" cy="4952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61235"/>
              </a:buClr>
              <a:buSzPct val="25000"/>
              <a:buFont typeface="Arial"/>
              <a:buNone/>
            </a:pPr>
            <a:r>
              <a:rPr b="1" i="0" lang="en-US" sz="1600" u="none">
                <a:solidFill>
                  <a:srgbClr val="E61235"/>
                </a:solidFill>
                <a:latin typeface="Arial"/>
                <a:ea typeface="Arial"/>
                <a:cs typeface="Arial"/>
                <a:sym typeface="Arial"/>
              </a:rPr>
              <a:t>Sube la tasa de interés</a:t>
            </a:r>
          </a:p>
          <a:p>
            <a:pPr indent="0" lvl="0" marL="0" marR="0" rtl="0" algn="ctr">
              <a:lnSpc>
                <a:spcPct val="100000"/>
              </a:lnSpc>
              <a:spcBef>
                <a:spcPts val="0"/>
              </a:spcBef>
              <a:spcAft>
                <a:spcPts val="0"/>
              </a:spcAft>
              <a:buClr>
                <a:srgbClr val="117A06"/>
              </a:buClr>
              <a:buSzPct val="25000"/>
              <a:buFont typeface="Arial"/>
              <a:buNone/>
            </a:pPr>
            <a:r>
              <a:rPr b="1" i="0" lang="en-US" sz="1600" u="none">
                <a:solidFill>
                  <a:srgbClr val="117A06"/>
                </a:solidFill>
                <a:latin typeface="Arial"/>
                <a:ea typeface="Arial"/>
                <a:cs typeface="Arial"/>
                <a:sym typeface="Arial"/>
              </a:rPr>
              <a:t>i</a:t>
            </a:r>
            <a:r>
              <a:rPr b="1" baseline="-25000" i="0" lang="en-US" sz="1600" u="none">
                <a:solidFill>
                  <a:srgbClr val="117A06"/>
                </a:solidFill>
                <a:latin typeface="Arial"/>
                <a:ea typeface="Arial"/>
                <a:cs typeface="Arial"/>
                <a:sym typeface="Arial"/>
              </a:rPr>
              <a:t>2</a:t>
            </a:r>
            <a:r>
              <a:rPr b="1" i="0" lang="en-US" sz="1600" u="none">
                <a:solidFill>
                  <a:srgbClr val="FF0000"/>
                </a:solidFill>
                <a:latin typeface="Arial"/>
                <a:ea typeface="Arial"/>
                <a:cs typeface="Arial"/>
                <a:sym typeface="Arial"/>
              </a:rPr>
              <a:t> </a:t>
            </a:r>
            <a:r>
              <a:rPr b="1" i="0" lang="en-US" sz="1600" u="none">
                <a:solidFill>
                  <a:schemeClr val="dk1"/>
                </a:solidFill>
                <a:latin typeface="Arial"/>
                <a:ea typeface="Arial"/>
                <a:cs typeface="Arial"/>
                <a:sym typeface="Arial"/>
              </a:rPr>
              <a:t>&gt;</a:t>
            </a:r>
            <a:r>
              <a:rPr b="1" i="0" lang="en-US" sz="1600" u="none">
                <a:solidFill>
                  <a:srgbClr val="FF0000"/>
                </a:solidFill>
                <a:latin typeface="Arial"/>
                <a:ea typeface="Arial"/>
                <a:cs typeface="Arial"/>
                <a:sym typeface="Arial"/>
              </a:rPr>
              <a:t> </a:t>
            </a:r>
            <a:r>
              <a:rPr b="1" i="0" lang="en-US" sz="1600" u="none">
                <a:solidFill>
                  <a:schemeClr val="hlink"/>
                </a:solidFill>
                <a:latin typeface="Arial"/>
                <a:ea typeface="Arial"/>
                <a:cs typeface="Arial"/>
                <a:sym typeface="Arial"/>
              </a:rPr>
              <a:t>i</a:t>
            </a:r>
            <a:r>
              <a:rPr b="1" baseline="-25000" i="0" lang="en-US" sz="1600" u="none">
                <a:solidFill>
                  <a:schemeClr val="hlink"/>
                </a:solidFill>
                <a:latin typeface="Arial"/>
                <a:ea typeface="Arial"/>
                <a:cs typeface="Arial"/>
                <a:sym typeface="Arial"/>
              </a:rPr>
              <a:t>1</a:t>
            </a:r>
          </a:p>
        </p:txBody>
      </p:sp>
      <p:sp>
        <p:nvSpPr>
          <p:cNvPr id="599" name="Shape 599"/>
          <p:cNvSpPr txBox="1"/>
          <p:nvPr/>
        </p:nvSpPr>
        <p:spPr>
          <a:xfrm>
            <a:off x="4648200" y="1066800"/>
            <a:ext cx="1371599"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Y = OA</a:t>
            </a:r>
          </a:p>
        </p:txBody>
      </p:sp>
      <p:sp>
        <p:nvSpPr>
          <p:cNvPr id="600" name="Shape 600"/>
          <p:cNvSpPr txBox="1"/>
          <p:nvPr/>
        </p:nvSpPr>
        <p:spPr>
          <a:xfrm>
            <a:off x="3048000" y="-76200"/>
            <a:ext cx="5597524" cy="1143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a:solidFill>
                  <a:srgbClr val="BB4F59"/>
                </a:solidFill>
                <a:latin typeface="Arial"/>
                <a:ea typeface="Arial"/>
                <a:cs typeface="Arial"/>
                <a:sym typeface="Arial"/>
              </a:rPr>
              <a:t>EQUILIBRIO EN EL MERCADO DE B/S Y LA CURVA IS</a:t>
            </a:r>
          </a:p>
        </p:txBody>
      </p:sp>
      <p:sp>
        <p:nvSpPr>
          <p:cNvPr id="601" name="Shape 601"/>
          <p:cNvSpPr txBox="1"/>
          <p:nvPr/>
        </p:nvSpPr>
        <p:spPr>
          <a:xfrm>
            <a:off x="1019175" y="3305175"/>
            <a:ext cx="7743824" cy="311149"/>
          </a:xfrm>
          <a:prstGeom prst="rect">
            <a:avLst/>
          </a:prstGeom>
          <a:solidFill>
            <a:srgbClr val="FFFF00"/>
          </a:solidFill>
          <a:ln>
            <a:noFill/>
          </a:ln>
        </p:spPr>
        <p:txBody>
          <a:bodyPr anchorCtr="0" anchor="t" bIns="45700" lIns="91425" rIns="91425" tIns="45700">
            <a:noAutofit/>
          </a:bodyPr>
          <a:lstStyle/>
          <a:p>
            <a:pPr indent="0" lvl="0" marL="0" marR="0" rtl="0" algn="l">
              <a:lnSpc>
                <a:spcPct val="120000"/>
              </a:lnSpc>
              <a:spcBef>
                <a:spcPts val="0"/>
              </a:spcBef>
              <a:spcAft>
                <a:spcPts val="0"/>
              </a:spcAft>
              <a:buClr>
                <a:schemeClr val="dk1"/>
              </a:buClr>
              <a:buSzPct val="25000"/>
              <a:buFont typeface="Arial"/>
              <a:buNone/>
            </a:pPr>
            <a:r>
              <a:rPr b="1" i="1" lang="en-US" sz="1200" u="none">
                <a:solidFill>
                  <a:schemeClr val="dk1"/>
                </a:solidFill>
                <a:latin typeface="Arial"/>
                <a:ea typeface="Arial"/>
                <a:cs typeface="Arial"/>
                <a:sym typeface="Arial"/>
              </a:rPr>
              <a:t>i = [(C0 + I0 + GP0 + X0 – M0 – PmaC *TX0 + PmaC* TR0) / </a:t>
            </a:r>
            <a:r>
              <a:rPr b="1" i="1" lang="en-US" sz="1200" u="none">
                <a:solidFill>
                  <a:schemeClr val="hlink"/>
                </a:solidFill>
                <a:latin typeface="Arial"/>
                <a:ea typeface="Arial"/>
                <a:cs typeface="Arial"/>
                <a:sym typeface="Arial"/>
              </a:rPr>
              <a:t>b</a:t>
            </a:r>
            <a:r>
              <a:rPr b="1" i="1" lang="en-US" sz="1200" u="none">
                <a:solidFill>
                  <a:schemeClr val="dk1"/>
                </a:solidFill>
                <a:latin typeface="Arial"/>
                <a:ea typeface="Arial"/>
                <a:cs typeface="Arial"/>
                <a:sym typeface="Arial"/>
              </a:rPr>
              <a:t>] – [</a:t>
            </a:r>
            <a:r>
              <a:rPr b="1" i="1" lang="en-US" sz="1200" u="none">
                <a:solidFill>
                  <a:srgbClr val="E61235"/>
                </a:solidFill>
                <a:latin typeface="Arial"/>
                <a:ea typeface="Arial"/>
                <a:cs typeface="Arial"/>
                <a:sym typeface="Arial"/>
              </a:rPr>
              <a:t>(1 – PmaC + PmaC* PmaT+PmaM )</a:t>
            </a:r>
            <a:r>
              <a:rPr b="1" i="1" lang="en-US" sz="1200" u="none">
                <a:solidFill>
                  <a:schemeClr val="dk1"/>
                </a:solidFill>
                <a:latin typeface="Arial"/>
                <a:ea typeface="Arial"/>
                <a:cs typeface="Arial"/>
                <a:sym typeface="Arial"/>
              </a:rPr>
              <a:t> / </a:t>
            </a:r>
            <a:r>
              <a:rPr b="1" i="1" lang="en-US" sz="1200" u="none">
                <a:solidFill>
                  <a:schemeClr val="hlink"/>
                </a:solidFill>
                <a:latin typeface="Arial"/>
                <a:ea typeface="Arial"/>
                <a:cs typeface="Arial"/>
                <a:sym typeface="Arial"/>
              </a:rPr>
              <a:t>b</a:t>
            </a:r>
            <a:r>
              <a:rPr b="1" i="1" lang="en-US" sz="1200" u="none">
                <a:solidFill>
                  <a:schemeClr val="dk1"/>
                </a:solidFill>
                <a:latin typeface="Arial"/>
                <a:ea typeface="Arial"/>
                <a:cs typeface="Arial"/>
                <a:sym typeface="Arial"/>
              </a:rPr>
              <a:t>] * Y</a:t>
            </a:r>
          </a:p>
        </p:txBody>
      </p:sp>
    </p:spTree>
  </p:cSld>
  <p:clrMapOvr>
    <a:masterClrMapping/>
  </p:clrMapOvr>
  <p:transition spd="slow">
    <p:cut/>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605" name="Shape 605"/>
        <p:cNvGrpSpPr/>
        <p:nvPr/>
      </p:nvGrpSpPr>
      <p:grpSpPr>
        <a:xfrm>
          <a:off x="0" y="0"/>
          <a:ext cx="0" cy="0"/>
          <a:chOff x="0" y="0"/>
          <a:chExt cx="0" cy="0"/>
        </a:xfrm>
      </p:grpSpPr>
      <p:pic>
        <p:nvPicPr>
          <p:cNvPr id="606" name="Shape 606"/>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607" name="Shape 607"/>
          <p:cNvPicPr preferRelativeResize="0"/>
          <p:nvPr/>
        </p:nvPicPr>
        <p:blipFill rotWithShape="1">
          <a:blip r:embed="rId4">
            <a:alphaModFix/>
          </a:blip>
          <a:srcRect b="0" l="0" r="0" t="0"/>
          <a:stretch/>
        </p:blipFill>
        <p:spPr>
          <a:xfrm>
            <a:off x="263525" y="1447800"/>
            <a:ext cx="8626474" cy="5114925"/>
          </a:xfrm>
          <a:prstGeom prst="rect">
            <a:avLst/>
          </a:prstGeom>
          <a:noFill/>
          <a:ln>
            <a:noFill/>
          </a:ln>
        </p:spPr>
      </p:pic>
      <p:pic>
        <p:nvPicPr>
          <p:cNvPr id="608" name="Shape 608"/>
          <p:cNvPicPr preferRelativeResize="0"/>
          <p:nvPr/>
        </p:nvPicPr>
        <p:blipFill rotWithShape="1">
          <a:blip r:embed="rId5">
            <a:alphaModFix/>
          </a:blip>
          <a:srcRect b="0" l="0" r="0" t="0"/>
          <a:stretch/>
        </p:blipFill>
        <p:spPr>
          <a:xfrm>
            <a:off x="263525" y="306387"/>
            <a:ext cx="3013074" cy="608011"/>
          </a:xfrm>
          <a:prstGeom prst="rect">
            <a:avLst/>
          </a:prstGeom>
          <a:noFill/>
          <a:ln>
            <a:noFill/>
          </a:ln>
        </p:spPr>
      </p:pic>
      <p:sp>
        <p:nvSpPr>
          <p:cNvPr id="609" name="Shape 609"/>
          <p:cNvSpPr txBox="1"/>
          <p:nvPr/>
        </p:nvSpPr>
        <p:spPr>
          <a:xfrm>
            <a:off x="0" y="1524000"/>
            <a:ext cx="9144000" cy="641350"/>
          </a:xfrm>
          <a:prstGeom prst="rect">
            <a:avLst/>
          </a:prstGeom>
          <a:solidFill>
            <a:srgbClr val="FFFFFF"/>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Curva IS</a:t>
            </a:r>
          </a:p>
          <a:p>
            <a:pPr indent="0" lvl="0" marL="0" marR="0" rtl="0" algn="ctr">
              <a:lnSpc>
                <a:spcPct val="100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i = [(C</a:t>
            </a:r>
            <a:r>
              <a:rPr b="1" baseline="-25000" i="1" lang="en-US" sz="1800" u="none">
                <a:solidFill>
                  <a:schemeClr val="dk1"/>
                </a:solidFill>
                <a:latin typeface="Arial"/>
                <a:ea typeface="Arial"/>
                <a:cs typeface="Arial"/>
                <a:sym typeface="Arial"/>
              </a:rPr>
              <a:t>0</a:t>
            </a:r>
            <a:r>
              <a:rPr b="1" i="1" lang="en-US" sz="1800" u="none">
                <a:solidFill>
                  <a:schemeClr val="dk1"/>
                </a:solidFill>
                <a:latin typeface="Arial"/>
                <a:ea typeface="Arial"/>
                <a:cs typeface="Arial"/>
                <a:sym typeface="Arial"/>
              </a:rPr>
              <a:t> + I</a:t>
            </a:r>
            <a:r>
              <a:rPr b="1" baseline="-25000" i="1" lang="en-US" sz="1800" u="none">
                <a:solidFill>
                  <a:schemeClr val="dk1"/>
                </a:solidFill>
                <a:latin typeface="Arial"/>
                <a:ea typeface="Arial"/>
                <a:cs typeface="Arial"/>
                <a:sym typeface="Arial"/>
              </a:rPr>
              <a:t>0</a:t>
            </a:r>
            <a:r>
              <a:rPr b="1" i="1" lang="en-US" sz="1800" u="none">
                <a:solidFill>
                  <a:schemeClr val="dk1"/>
                </a:solidFill>
                <a:latin typeface="Arial"/>
                <a:ea typeface="Arial"/>
                <a:cs typeface="Arial"/>
                <a:sym typeface="Arial"/>
              </a:rPr>
              <a:t> + GP</a:t>
            </a:r>
            <a:r>
              <a:rPr b="1" baseline="-25000" i="1" lang="en-US" sz="1800" u="none">
                <a:solidFill>
                  <a:schemeClr val="dk1"/>
                </a:solidFill>
                <a:latin typeface="Arial"/>
                <a:ea typeface="Arial"/>
                <a:cs typeface="Arial"/>
                <a:sym typeface="Arial"/>
              </a:rPr>
              <a:t>0</a:t>
            </a:r>
            <a:r>
              <a:rPr b="1" i="1" lang="en-US" sz="1800" u="none">
                <a:solidFill>
                  <a:schemeClr val="dk1"/>
                </a:solidFill>
                <a:latin typeface="Arial"/>
                <a:ea typeface="Arial"/>
                <a:cs typeface="Arial"/>
                <a:sym typeface="Arial"/>
              </a:rPr>
              <a:t> + X</a:t>
            </a:r>
            <a:r>
              <a:rPr b="1" baseline="-25000" i="1" lang="en-US" sz="1800" u="none">
                <a:solidFill>
                  <a:schemeClr val="dk1"/>
                </a:solidFill>
                <a:latin typeface="Arial"/>
                <a:ea typeface="Arial"/>
                <a:cs typeface="Arial"/>
                <a:sym typeface="Arial"/>
              </a:rPr>
              <a:t>0</a:t>
            </a:r>
            <a:r>
              <a:rPr b="1" i="1" lang="en-US" sz="1800" u="none">
                <a:solidFill>
                  <a:schemeClr val="dk1"/>
                </a:solidFill>
                <a:latin typeface="Arial"/>
                <a:ea typeface="Arial"/>
                <a:cs typeface="Arial"/>
                <a:sym typeface="Arial"/>
              </a:rPr>
              <a:t> - M</a:t>
            </a:r>
            <a:r>
              <a:rPr b="1" baseline="-25000" i="1" lang="en-US" sz="1800" u="none">
                <a:solidFill>
                  <a:schemeClr val="dk1"/>
                </a:solidFill>
                <a:latin typeface="Arial"/>
                <a:ea typeface="Arial"/>
                <a:cs typeface="Arial"/>
                <a:sym typeface="Arial"/>
              </a:rPr>
              <a:t>0</a:t>
            </a:r>
            <a:r>
              <a:rPr b="1" i="1" lang="en-US" sz="1800" u="none">
                <a:solidFill>
                  <a:schemeClr val="dk1"/>
                </a:solidFill>
                <a:latin typeface="Arial"/>
                <a:ea typeface="Arial"/>
                <a:cs typeface="Arial"/>
                <a:sym typeface="Arial"/>
              </a:rPr>
              <a:t> – P</a:t>
            </a:r>
            <a:r>
              <a:rPr b="1" baseline="-25000" i="1" lang="en-US" sz="1800" u="none">
                <a:solidFill>
                  <a:schemeClr val="dk1"/>
                </a:solidFill>
                <a:latin typeface="Arial"/>
                <a:ea typeface="Arial"/>
                <a:cs typeface="Arial"/>
                <a:sym typeface="Arial"/>
              </a:rPr>
              <a:t>MgC</a:t>
            </a:r>
            <a:r>
              <a:rPr b="1" i="1" lang="en-US" sz="1800" u="none">
                <a:solidFill>
                  <a:schemeClr val="dk1"/>
                </a:solidFill>
                <a:latin typeface="Arial"/>
                <a:ea typeface="Arial"/>
                <a:cs typeface="Arial"/>
                <a:sym typeface="Arial"/>
              </a:rPr>
              <a:t> * T) / b] – [(1 – P</a:t>
            </a:r>
            <a:r>
              <a:rPr b="1" baseline="-25000" i="1" lang="en-US" sz="1800" u="none">
                <a:solidFill>
                  <a:schemeClr val="dk1"/>
                </a:solidFill>
                <a:latin typeface="Arial"/>
                <a:ea typeface="Arial"/>
                <a:cs typeface="Arial"/>
                <a:sym typeface="Arial"/>
              </a:rPr>
              <a:t>MgC</a:t>
            </a:r>
            <a:r>
              <a:rPr b="1" i="1" lang="en-US" sz="1800" u="none">
                <a:solidFill>
                  <a:schemeClr val="dk1"/>
                </a:solidFill>
                <a:latin typeface="Arial"/>
                <a:ea typeface="Arial"/>
                <a:cs typeface="Arial"/>
                <a:sym typeface="Arial"/>
              </a:rPr>
              <a:t> + P</a:t>
            </a:r>
            <a:r>
              <a:rPr b="1" baseline="-25000" i="1" lang="en-US" sz="1800" u="none">
                <a:solidFill>
                  <a:schemeClr val="dk1"/>
                </a:solidFill>
                <a:latin typeface="Arial"/>
                <a:ea typeface="Arial"/>
                <a:cs typeface="Arial"/>
                <a:sym typeface="Arial"/>
              </a:rPr>
              <a:t>MgC</a:t>
            </a:r>
            <a:r>
              <a:rPr b="1" i="1" lang="en-US" sz="1800" u="none">
                <a:solidFill>
                  <a:schemeClr val="dk1"/>
                </a:solidFill>
                <a:latin typeface="Arial"/>
                <a:ea typeface="Arial"/>
                <a:cs typeface="Arial"/>
                <a:sym typeface="Arial"/>
              </a:rPr>
              <a:t>*P</a:t>
            </a:r>
            <a:r>
              <a:rPr b="1" baseline="-25000" i="1" lang="en-US" sz="1800" u="none">
                <a:solidFill>
                  <a:schemeClr val="dk1"/>
                </a:solidFill>
                <a:latin typeface="Arial"/>
                <a:ea typeface="Arial"/>
                <a:cs typeface="Arial"/>
                <a:sym typeface="Arial"/>
              </a:rPr>
              <a:t>MgT</a:t>
            </a:r>
            <a:r>
              <a:rPr b="0" i="0" lang="en-US" sz="1800" u="none">
                <a:solidFill>
                  <a:schemeClr val="dk1"/>
                </a:solidFill>
                <a:latin typeface="Arial"/>
                <a:ea typeface="Arial"/>
                <a:cs typeface="Arial"/>
                <a:sym typeface="Arial"/>
              </a:rPr>
              <a:t> + </a:t>
            </a:r>
            <a:r>
              <a:rPr b="1" i="1" lang="en-US" sz="1800" u="none">
                <a:solidFill>
                  <a:schemeClr val="dk1"/>
                </a:solidFill>
                <a:latin typeface="Arial"/>
                <a:ea typeface="Arial"/>
                <a:cs typeface="Arial"/>
                <a:sym typeface="Arial"/>
              </a:rPr>
              <a:t>P</a:t>
            </a:r>
            <a:r>
              <a:rPr b="1" baseline="-25000" i="1" lang="en-US" sz="1800" u="none">
                <a:solidFill>
                  <a:schemeClr val="dk1"/>
                </a:solidFill>
                <a:latin typeface="Arial"/>
                <a:ea typeface="Arial"/>
                <a:cs typeface="Arial"/>
                <a:sym typeface="Arial"/>
              </a:rPr>
              <a:t>MgM</a:t>
            </a:r>
            <a:r>
              <a:rPr b="1" i="1" lang="en-US" sz="1800" u="none">
                <a:solidFill>
                  <a:schemeClr val="dk1"/>
                </a:solidFill>
                <a:latin typeface="Arial"/>
                <a:ea typeface="Arial"/>
                <a:cs typeface="Arial"/>
                <a:sym typeface="Arial"/>
              </a:rPr>
              <a:t>) / b] * Y</a:t>
            </a:r>
          </a:p>
        </p:txBody>
      </p:sp>
      <p:sp>
        <p:nvSpPr>
          <p:cNvPr id="610" name="Shape 610"/>
          <p:cNvSpPr txBox="1"/>
          <p:nvPr/>
        </p:nvSpPr>
        <p:spPr>
          <a:xfrm>
            <a:off x="1447800" y="2514600"/>
            <a:ext cx="6675436" cy="366711"/>
          </a:xfrm>
          <a:prstGeom prst="rect">
            <a:avLst/>
          </a:prstGeom>
          <a:solidFill>
            <a:srgbClr val="CCFFFF"/>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E61235"/>
              </a:buClr>
              <a:buSzPct val="25000"/>
              <a:buFont typeface="Arial"/>
              <a:buNone/>
            </a:pPr>
            <a:r>
              <a:rPr b="1" i="1" lang="en-US" sz="1800" u="none">
                <a:solidFill>
                  <a:srgbClr val="E61235"/>
                </a:solidFill>
                <a:latin typeface="Arial"/>
                <a:ea typeface="Arial"/>
                <a:cs typeface="Arial"/>
                <a:sym typeface="Arial"/>
              </a:rPr>
              <a:t>Ordenada al origen = [(C</a:t>
            </a:r>
            <a:r>
              <a:rPr b="1" baseline="-25000" i="1" lang="en-US" sz="1800" u="none">
                <a:solidFill>
                  <a:srgbClr val="E61235"/>
                </a:solidFill>
                <a:latin typeface="Arial"/>
                <a:ea typeface="Arial"/>
                <a:cs typeface="Arial"/>
                <a:sym typeface="Arial"/>
              </a:rPr>
              <a:t>0</a:t>
            </a:r>
            <a:r>
              <a:rPr b="1" i="1" lang="en-US" sz="1800" u="none">
                <a:solidFill>
                  <a:srgbClr val="E61235"/>
                </a:solidFill>
                <a:latin typeface="Arial"/>
                <a:ea typeface="Arial"/>
                <a:cs typeface="Arial"/>
                <a:sym typeface="Arial"/>
              </a:rPr>
              <a:t> + I</a:t>
            </a:r>
            <a:r>
              <a:rPr b="1" baseline="-25000" i="1" lang="en-US" sz="1800" u="none">
                <a:solidFill>
                  <a:srgbClr val="E61235"/>
                </a:solidFill>
                <a:latin typeface="Arial"/>
                <a:ea typeface="Arial"/>
                <a:cs typeface="Arial"/>
                <a:sym typeface="Arial"/>
              </a:rPr>
              <a:t>0</a:t>
            </a:r>
            <a:r>
              <a:rPr b="1" i="1" lang="en-US" sz="1800" u="none">
                <a:solidFill>
                  <a:srgbClr val="E61235"/>
                </a:solidFill>
                <a:latin typeface="Arial"/>
                <a:ea typeface="Arial"/>
                <a:cs typeface="Arial"/>
                <a:sym typeface="Arial"/>
              </a:rPr>
              <a:t> + GP</a:t>
            </a:r>
            <a:r>
              <a:rPr b="1" baseline="-25000" i="1" lang="en-US" sz="1800" u="none">
                <a:solidFill>
                  <a:srgbClr val="E61235"/>
                </a:solidFill>
                <a:latin typeface="Arial"/>
                <a:ea typeface="Arial"/>
                <a:cs typeface="Arial"/>
                <a:sym typeface="Arial"/>
              </a:rPr>
              <a:t>0</a:t>
            </a:r>
            <a:r>
              <a:rPr b="1" i="1" lang="en-US" sz="1800" u="none">
                <a:solidFill>
                  <a:srgbClr val="E61235"/>
                </a:solidFill>
                <a:latin typeface="Arial"/>
                <a:ea typeface="Arial"/>
                <a:cs typeface="Arial"/>
                <a:sym typeface="Arial"/>
              </a:rPr>
              <a:t> + X</a:t>
            </a:r>
            <a:r>
              <a:rPr b="1" baseline="-25000" i="1" lang="en-US" sz="1800" u="none">
                <a:solidFill>
                  <a:srgbClr val="E61235"/>
                </a:solidFill>
                <a:latin typeface="Arial"/>
                <a:ea typeface="Arial"/>
                <a:cs typeface="Arial"/>
                <a:sym typeface="Arial"/>
              </a:rPr>
              <a:t>0</a:t>
            </a:r>
            <a:r>
              <a:rPr b="1" i="1" lang="en-US" sz="1800" u="none">
                <a:solidFill>
                  <a:srgbClr val="E61235"/>
                </a:solidFill>
                <a:latin typeface="Arial"/>
                <a:ea typeface="Arial"/>
                <a:cs typeface="Arial"/>
                <a:sym typeface="Arial"/>
              </a:rPr>
              <a:t> – M</a:t>
            </a:r>
            <a:r>
              <a:rPr b="1" baseline="-25000" i="1" lang="en-US" sz="1800" u="none">
                <a:solidFill>
                  <a:srgbClr val="E61235"/>
                </a:solidFill>
                <a:latin typeface="Arial"/>
                <a:ea typeface="Arial"/>
                <a:cs typeface="Arial"/>
                <a:sym typeface="Arial"/>
              </a:rPr>
              <a:t>0</a:t>
            </a:r>
            <a:r>
              <a:rPr b="1" i="1" lang="en-US" sz="1800" u="none">
                <a:solidFill>
                  <a:srgbClr val="E61235"/>
                </a:solidFill>
                <a:latin typeface="Arial"/>
                <a:ea typeface="Arial"/>
                <a:cs typeface="Arial"/>
                <a:sym typeface="Arial"/>
              </a:rPr>
              <a:t> – P</a:t>
            </a:r>
            <a:r>
              <a:rPr b="1" baseline="-25000" i="1" lang="en-US" sz="1800" u="none">
                <a:solidFill>
                  <a:srgbClr val="E61235"/>
                </a:solidFill>
                <a:latin typeface="Arial"/>
                <a:ea typeface="Arial"/>
                <a:cs typeface="Arial"/>
                <a:sym typeface="Arial"/>
              </a:rPr>
              <a:t>MgC</a:t>
            </a:r>
            <a:r>
              <a:rPr b="1" i="1" lang="en-US" sz="1800" u="none">
                <a:solidFill>
                  <a:srgbClr val="E61235"/>
                </a:solidFill>
                <a:latin typeface="Arial"/>
                <a:ea typeface="Arial"/>
                <a:cs typeface="Arial"/>
                <a:sym typeface="Arial"/>
              </a:rPr>
              <a:t> * T) / b]</a:t>
            </a:r>
            <a:r>
              <a:rPr b="0" i="0" lang="en-US" sz="1800" u="none">
                <a:solidFill>
                  <a:schemeClr val="dk1"/>
                </a:solidFill>
                <a:latin typeface="Arial"/>
                <a:ea typeface="Arial"/>
                <a:cs typeface="Arial"/>
                <a:sym typeface="Arial"/>
              </a:rPr>
              <a:t> </a:t>
            </a:r>
          </a:p>
        </p:txBody>
      </p:sp>
      <p:sp>
        <p:nvSpPr>
          <p:cNvPr id="611" name="Shape 611"/>
          <p:cNvSpPr txBox="1"/>
          <p:nvPr/>
        </p:nvSpPr>
        <p:spPr>
          <a:xfrm>
            <a:off x="263525" y="2971800"/>
            <a:ext cx="8610599" cy="336549"/>
          </a:xfrm>
          <a:prstGeom prst="rect">
            <a:avLst/>
          </a:prstGeom>
          <a:solidFill>
            <a:srgbClr val="CCFFFF"/>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E61235"/>
              </a:buClr>
              <a:buSzPct val="25000"/>
              <a:buFont typeface="Arial"/>
              <a:buNone/>
            </a:pPr>
            <a:r>
              <a:rPr b="0" i="1" lang="en-US" sz="1600" u="none">
                <a:solidFill>
                  <a:srgbClr val="E61235"/>
                </a:solidFill>
                <a:latin typeface="Arial"/>
                <a:ea typeface="Arial"/>
                <a:cs typeface="Arial"/>
                <a:sym typeface="Arial"/>
              </a:rPr>
              <a:t>Esto significa el valor de la tasa de interés que hace cero el ingreso de la Economía. (Y = 0)</a:t>
            </a:r>
          </a:p>
        </p:txBody>
      </p:sp>
      <p:sp>
        <p:nvSpPr>
          <p:cNvPr id="612" name="Shape 612"/>
          <p:cNvSpPr txBox="1"/>
          <p:nvPr/>
        </p:nvSpPr>
        <p:spPr>
          <a:xfrm>
            <a:off x="39686" y="3595687"/>
            <a:ext cx="9104312" cy="366711"/>
          </a:xfrm>
          <a:prstGeom prst="rect">
            <a:avLst/>
          </a:prstGeom>
          <a:solidFill>
            <a:srgbClr val="FFCC99"/>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Abcisa al origen = [(C</a:t>
            </a:r>
            <a:r>
              <a:rPr b="1" baseline="-25000" i="1" lang="en-US" sz="1800" u="none">
                <a:solidFill>
                  <a:schemeClr val="dk1"/>
                </a:solidFill>
                <a:latin typeface="Arial"/>
                <a:ea typeface="Arial"/>
                <a:cs typeface="Arial"/>
                <a:sym typeface="Arial"/>
              </a:rPr>
              <a:t>0</a:t>
            </a:r>
            <a:r>
              <a:rPr b="1" i="1" lang="en-US" sz="1800" u="none">
                <a:solidFill>
                  <a:schemeClr val="dk1"/>
                </a:solidFill>
                <a:latin typeface="Arial"/>
                <a:ea typeface="Arial"/>
                <a:cs typeface="Arial"/>
                <a:sym typeface="Arial"/>
              </a:rPr>
              <a:t> + I</a:t>
            </a:r>
            <a:r>
              <a:rPr b="1" baseline="-25000" i="1" lang="en-US" sz="1800" u="none">
                <a:solidFill>
                  <a:schemeClr val="dk1"/>
                </a:solidFill>
                <a:latin typeface="Arial"/>
                <a:ea typeface="Arial"/>
                <a:cs typeface="Arial"/>
                <a:sym typeface="Arial"/>
              </a:rPr>
              <a:t>0 </a:t>
            </a:r>
            <a:r>
              <a:rPr b="1" i="1" lang="en-US" sz="1800" u="none">
                <a:solidFill>
                  <a:schemeClr val="dk1"/>
                </a:solidFill>
                <a:latin typeface="Arial"/>
                <a:ea typeface="Arial"/>
                <a:cs typeface="Arial"/>
                <a:sym typeface="Arial"/>
              </a:rPr>
              <a:t>+ GP</a:t>
            </a:r>
            <a:r>
              <a:rPr b="1" baseline="-25000" i="1" lang="en-US" sz="1800" u="none">
                <a:solidFill>
                  <a:schemeClr val="dk1"/>
                </a:solidFill>
                <a:latin typeface="Arial"/>
                <a:ea typeface="Arial"/>
                <a:cs typeface="Arial"/>
                <a:sym typeface="Arial"/>
              </a:rPr>
              <a:t>0</a:t>
            </a:r>
            <a:r>
              <a:rPr b="1" i="1" lang="en-US" sz="1800" u="none">
                <a:solidFill>
                  <a:schemeClr val="dk1"/>
                </a:solidFill>
                <a:latin typeface="Arial"/>
                <a:ea typeface="Arial"/>
                <a:cs typeface="Arial"/>
                <a:sym typeface="Arial"/>
              </a:rPr>
              <a:t> + X</a:t>
            </a:r>
            <a:r>
              <a:rPr b="1" baseline="-25000" i="1" lang="en-US" sz="1800" u="none">
                <a:solidFill>
                  <a:schemeClr val="dk1"/>
                </a:solidFill>
                <a:latin typeface="Arial"/>
                <a:ea typeface="Arial"/>
                <a:cs typeface="Arial"/>
                <a:sym typeface="Arial"/>
              </a:rPr>
              <a:t>0 </a:t>
            </a:r>
            <a:r>
              <a:rPr b="1" i="1" lang="en-US" sz="1800" u="none">
                <a:solidFill>
                  <a:schemeClr val="dk1"/>
                </a:solidFill>
                <a:latin typeface="Arial"/>
                <a:ea typeface="Arial"/>
                <a:cs typeface="Arial"/>
                <a:sym typeface="Arial"/>
              </a:rPr>
              <a:t>–M</a:t>
            </a:r>
            <a:r>
              <a:rPr b="1" baseline="-25000" i="1" lang="en-US" sz="1800" u="none">
                <a:solidFill>
                  <a:schemeClr val="dk1"/>
                </a:solidFill>
                <a:latin typeface="Arial"/>
                <a:ea typeface="Arial"/>
                <a:cs typeface="Arial"/>
                <a:sym typeface="Arial"/>
              </a:rPr>
              <a:t>0</a:t>
            </a:r>
            <a:r>
              <a:rPr b="1" i="1" lang="en-US" sz="1800" u="none">
                <a:solidFill>
                  <a:schemeClr val="dk1"/>
                </a:solidFill>
                <a:latin typeface="Arial"/>
                <a:ea typeface="Arial"/>
                <a:cs typeface="Arial"/>
                <a:sym typeface="Arial"/>
              </a:rPr>
              <a:t> – P</a:t>
            </a:r>
            <a:r>
              <a:rPr b="1" baseline="-25000" i="1" lang="en-US" sz="1800" u="none">
                <a:solidFill>
                  <a:schemeClr val="dk1"/>
                </a:solidFill>
                <a:latin typeface="Arial"/>
                <a:ea typeface="Arial"/>
                <a:cs typeface="Arial"/>
                <a:sym typeface="Arial"/>
              </a:rPr>
              <a:t>MgC </a:t>
            </a:r>
            <a:r>
              <a:rPr b="1" i="1" lang="en-US" sz="1800" u="none">
                <a:solidFill>
                  <a:schemeClr val="dk1"/>
                </a:solidFill>
                <a:latin typeface="Arial"/>
                <a:ea typeface="Arial"/>
                <a:cs typeface="Arial"/>
                <a:sym typeface="Arial"/>
              </a:rPr>
              <a:t>* T) / (1 – P</a:t>
            </a:r>
            <a:r>
              <a:rPr b="1" baseline="-25000" i="1" lang="en-US" sz="1800" u="none">
                <a:solidFill>
                  <a:schemeClr val="dk1"/>
                </a:solidFill>
                <a:latin typeface="Arial"/>
                <a:ea typeface="Arial"/>
                <a:cs typeface="Arial"/>
                <a:sym typeface="Arial"/>
              </a:rPr>
              <a:t>MgC</a:t>
            </a:r>
            <a:r>
              <a:rPr b="1" i="1" lang="en-US" sz="1800" u="none">
                <a:solidFill>
                  <a:schemeClr val="dk1"/>
                </a:solidFill>
                <a:latin typeface="Arial"/>
                <a:ea typeface="Arial"/>
                <a:cs typeface="Arial"/>
                <a:sym typeface="Arial"/>
              </a:rPr>
              <a:t> + P</a:t>
            </a:r>
            <a:r>
              <a:rPr b="1" baseline="-25000" i="1" lang="en-US" sz="1800" u="none">
                <a:solidFill>
                  <a:schemeClr val="dk1"/>
                </a:solidFill>
                <a:latin typeface="Arial"/>
                <a:ea typeface="Arial"/>
                <a:cs typeface="Arial"/>
                <a:sym typeface="Arial"/>
              </a:rPr>
              <a:t>MgC</a:t>
            </a:r>
            <a:r>
              <a:rPr b="1" i="1" lang="en-US" sz="1800" u="none">
                <a:solidFill>
                  <a:schemeClr val="dk1"/>
                </a:solidFill>
                <a:latin typeface="Arial"/>
                <a:ea typeface="Arial"/>
                <a:cs typeface="Arial"/>
                <a:sym typeface="Arial"/>
              </a:rPr>
              <a:t>*P</a:t>
            </a:r>
            <a:r>
              <a:rPr b="1" baseline="-25000" i="1" lang="en-US" sz="1800" u="none">
                <a:solidFill>
                  <a:schemeClr val="dk1"/>
                </a:solidFill>
                <a:latin typeface="Arial"/>
                <a:ea typeface="Arial"/>
                <a:cs typeface="Arial"/>
                <a:sym typeface="Arial"/>
              </a:rPr>
              <a:t>MgT</a:t>
            </a:r>
            <a:r>
              <a:rPr b="0" i="0" lang="en-US" sz="1800" u="none">
                <a:solidFill>
                  <a:schemeClr val="dk1"/>
                </a:solidFill>
                <a:latin typeface="Arial"/>
                <a:ea typeface="Arial"/>
                <a:cs typeface="Arial"/>
                <a:sym typeface="Arial"/>
              </a:rPr>
              <a:t> + </a:t>
            </a:r>
            <a:r>
              <a:rPr b="1" i="1" lang="en-US" sz="1800" u="none">
                <a:solidFill>
                  <a:schemeClr val="dk1"/>
                </a:solidFill>
                <a:latin typeface="Arial"/>
                <a:ea typeface="Arial"/>
                <a:cs typeface="Arial"/>
                <a:sym typeface="Arial"/>
              </a:rPr>
              <a:t>P</a:t>
            </a:r>
            <a:r>
              <a:rPr b="1" baseline="-25000" i="1" lang="en-US" sz="1800" u="none">
                <a:solidFill>
                  <a:schemeClr val="dk1"/>
                </a:solidFill>
                <a:latin typeface="Arial"/>
                <a:ea typeface="Arial"/>
                <a:cs typeface="Arial"/>
                <a:sym typeface="Arial"/>
              </a:rPr>
              <a:t>MgM</a:t>
            </a:r>
            <a:r>
              <a:rPr b="1" i="1" lang="en-US" sz="1800" u="none">
                <a:solidFill>
                  <a:schemeClr val="dk1"/>
                </a:solidFill>
                <a:latin typeface="Arial"/>
                <a:ea typeface="Arial"/>
                <a:cs typeface="Arial"/>
                <a:sym typeface="Arial"/>
              </a:rPr>
              <a:t>)]</a:t>
            </a:r>
          </a:p>
        </p:txBody>
      </p:sp>
      <p:sp>
        <p:nvSpPr>
          <p:cNvPr id="613" name="Shape 613"/>
          <p:cNvSpPr txBox="1"/>
          <p:nvPr/>
        </p:nvSpPr>
        <p:spPr>
          <a:xfrm>
            <a:off x="263525" y="4143375"/>
            <a:ext cx="8582025" cy="581024"/>
          </a:xfrm>
          <a:prstGeom prst="rect">
            <a:avLst/>
          </a:prstGeom>
          <a:solidFill>
            <a:srgbClr val="FFCC99"/>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a:solidFill>
                  <a:schemeClr val="dk1"/>
                </a:solidFill>
                <a:latin typeface="Arial"/>
                <a:ea typeface="Arial"/>
                <a:cs typeface="Arial"/>
                <a:sym typeface="Arial"/>
              </a:rPr>
              <a:t>Este valor no es otra cosa más que el nivel de ingreso de equilibrio del Modelo Keynesiano Simple donde la inversión no depende del nivel de la tasa de interés.(i = 0)</a:t>
            </a:r>
          </a:p>
        </p:txBody>
      </p:sp>
      <p:sp>
        <p:nvSpPr>
          <p:cNvPr id="614" name="Shape 614"/>
          <p:cNvSpPr txBox="1"/>
          <p:nvPr/>
        </p:nvSpPr>
        <p:spPr>
          <a:xfrm>
            <a:off x="609600" y="5181600"/>
            <a:ext cx="7513637" cy="366711"/>
          </a:xfrm>
          <a:prstGeom prst="rect">
            <a:avLst/>
          </a:prstGeom>
          <a:solidFill>
            <a:srgbClr val="FFFF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Pendiente de la función = [(1 – P</a:t>
            </a:r>
            <a:r>
              <a:rPr b="1" baseline="-25000" i="1" lang="en-US" sz="1800" u="none">
                <a:solidFill>
                  <a:schemeClr val="dk1"/>
                </a:solidFill>
                <a:latin typeface="Arial"/>
                <a:ea typeface="Arial"/>
                <a:cs typeface="Arial"/>
                <a:sym typeface="Arial"/>
              </a:rPr>
              <a:t>MgC</a:t>
            </a:r>
            <a:r>
              <a:rPr b="1" i="1" lang="en-US" sz="1800" u="none">
                <a:solidFill>
                  <a:schemeClr val="dk1"/>
                </a:solidFill>
                <a:latin typeface="Arial"/>
                <a:ea typeface="Arial"/>
                <a:cs typeface="Arial"/>
                <a:sym typeface="Arial"/>
              </a:rPr>
              <a:t> + P</a:t>
            </a:r>
            <a:r>
              <a:rPr b="1" baseline="-25000" i="1" lang="en-US" sz="1800" u="none">
                <a:solidFill>
                  <a:schemeClr val="dk1"/>
                </a:solidFill>
                <a:latin typeface="Arial"/>
                <a:ea typeface="Arial"/>
                <a:cs typeface="Arial"/>
                <a:sym typeface="Arial"/>
              </a:rPr>
              <a:t>MgC</a:t>
            </a:r>
            <a:r>
              <a:rPr b="1" i="1" lang="en-US" sz="1800" u="none">
                <a:solidFill>
                  <a:schemeClr val="dk1"/>
                </a:solidFill>
                <a:latin typeface="Arial"/>
                <a:ea typeface="Arial"/>
                <a:cs typeface="Arial"/>
                <a:sym typeface="Arial"/>
              </a:rPr>
              <a:t>*P</a:t>
            </a:r>
            <a:r>
              <a:rPr b="1" baseline="-25000" i="1" lang="en-US" sz="1800" u="none">
                <a:solidFill>
                  <a:schemeClr val="dk1"/>
                </a:solidFill>
                <a:latin typeface="Arial"/>
                <a:ea typeface="Arial"/>
                <a:cs typeface="Arial"/>
                <a:sym typeface="Arial"/>
              </a:rPr>
              <a:t>MgT</a:t>
            </a:r>
            <a:r>
              <a:rPr b="0" i="0" lang="en-US" sz="1800" u="none">
                <a:solidFill>
                  <a:schemeClr val="dk1"/>
                </a:solidFill>
                <a:latin typeface="Arial"/>
                <a:ea typeface="Arial"/>
                <a:cs typeface="Arial"/>
                <a:sym typeface="Arial"/>
              </a:rPr>
              <a:t> + </a:t>
            </a:r>
            <a:r>
              <a:rPr b="1" i="1" lang="en-US" sz="1800" u="none">
                <a:solidFill>
                  <a:schemeClr val="dk1"/>
                </a:solidFill>
                <a:latin typeface="Arial"/>
                <a:ea typeface="Arial"/>
                <a:cs typeface="Arial"/>
                <a:sym typeface="Arial"/>
              </a:rPr>
              <a:t>P</a:t>
            </a:r>
            <a:r>
              <a:rPr b="1" baseline="-25000" i="1" lang="en-US" sz="1800" u="none">
                <a:solidFill>
                  <a:schemeClr val="dk1"/>
                </a:solidFill>
                <a:latin typeface="Arial"/>
                <a:ea typeface="Arial"/>
                <a:cs typeface="Arial"/>
                <a:sym typeface="Arial"/>
              </a:rPr>
              <a:t>MgM</a:t>
            </a:r>
            <a:r>
              <a:rPr b="1" i="1" lang="en-US" sz="1800" u="none">
                <a:solidFill>
                  <a:schemeClr val="dk1"/>
                </a:solidFill>
                <a:latin typeface="Arial"/>
                <a:ea typeface="Arial"/>
                <a:cs typeface="Arial"/>
                <a:sym typeface="Arial"/>
              </a:rPr>
              <a:t>) / b]</a:t>
            </a:r>
          </a:p>
        </p:txBody>
      </p:sp>
      <p:sp>
        <p:nvSpPr>
          <p:cNvPr id="615" name="Shape 615"/>
          <p:cNvSpPr txBox="1"/>
          <p:nvPr/>
        </p:nvSpPr>
        <p:spPr>
          <a:xfrm>
            <a:off x="533400" y="5759450"/>
            <a:ext cx="7753350" cy="641350"/>
          </a:xfrm>
          <a:prstGeom prst="rect">
            <a:avLst/>
          </a:prstGeom>
          <a:solidFill>
            <a:srgbClr val="FFFF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Debe interpretarse como la reducción necesaria en la tasa de interés para </a:t>
            </a:r>
          </a:p>
          <a:p>
            <a:pPr indent="0" lvl="0" marL="0" marR="0" rtl="0" algn="l">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incrementar en una unidad el ingreso total de la economía. (- ∂i/+∂Y)</a:t>
            </a:r>
          </a:p>
        </p:txBody>
      </p:sp>
      <p:sp>
        <p:nvSpPr>
          <p:cNvPr id="616" name="Shape 616"/>
          <p:cNvSpPr txBox="1"/>
          <p:nvPr/>
        </p:nvSpPr>
        <p:spPr>
          <a:xfrm>
            <a:off x="3910012" y="152400"/>
            <a:ext cx="4548187" cy="94615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a:solidFill>
                  <a:srgbClr val="BB4F59"/>
                </a:solidFill>
                <a:latin typeface="Arial"/>
                <a:ea typeface="Arial"/>
                <a:cs typeface="Arial"/>
                <a:sym typeface="Arial"/>
              </a:rPr>
              <a:t>CURVA IS</a:t>
            </a:r>
          </a:p>
          <a:p>
            <a:pPr indent="0" lvl="0" marL="0" marR="0" rtl="0" algn="l">
              <a:lnSpc>
                <a:spcPct val="100000"/>
              </a:lnSpc>
              <a:spcBef>
                <a:spcPts val="0"/>
              </a:spcBef>
              <a:spcAft>
                <a:spcPts val="0"/>
              </a:spcAft>
              <a:buNone/>
            </a:pPr>
            <a:r>
              <a:t/>
            </a:r>
            <a:endParaRPr b="1" i="0" sz="2800" u="none">
              <a:solidFill>
                <a:srgbClr val="BB4F59"/>
              </a:solidFill>
              <a:latin typeface="Arial"/>
              <a:ea typeface="Arial"/>
              <a:cs typeface="Arial"/>
              <a:sym typeface="Arial"/>
            </a:endParaRPr>
          </a:p>
        </p:txBody>
      </p:sp>
    </p:spTree>
  </p:cSld>
  <p:clrMapOvr>
    <a:masterClrMapping/>
  </p:clrMapOvr>
  <p:transition spd="slow">
    <p:cut/>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620" name="Shape 620"/>
        <p:cNvGrpSpPr/>
        <p:nvPr/>
      </p:nvGrpSpPr>
      <p:grpSpPr>
        <a:xfrm>
          <a:off x="0" y="0"/>
          <a:ext cx="0" cy="0"/>
          <a:chOff x="0" y="0"/>
          <a:chExt cx="0" cy="0"/>
        </a:xfrm>
      </p:grpSpPr>
      <p:pic>
        <p:nvPicPr>
          <p:cNvPr id="621" name="Shape 621"/>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622" name="Shape 622"/>
          <p:cNvPicPr preferRelativeResize="0"/>
          <p:nvPr/>
        </p:nvPicPr>
        <p:blipFill rotWithShape="1">
          <a:blip r:embed="rId4">
            <a:alphaModFix/>
          </a:blip>
          <a:srcRect b="0" l="0" r="0" t="0"/>
          <a:stretch/>
        </p:blipFill>
        <p:spPr>
          <a:xfrm>
            <a:off x="263525" y="1438275"/>
            <a:ext cx="8626474" cy="5114925"/>
          </a:xfrm>
          <a:prstGeom prst="rect">
            <a:avLst/>
          </a:prstGeom>
          <a:noFill/>
          <a:ln>
            <a:noFill/>
          </a:ln>
        </p:spPr>
      </p:pic>
      <p:pic>
        <p:nvPicPr>
          <p:cNvPr id="623" name="Shape 623"/>
          <p:cNvPicPr preferRelativeResize="0"/>
          <p:nvPr/>
        </p:nvPicPr>
        <p:blipFill rotWithShape="1">
          <a:blip r:embed="rId5">
            <a:alphaModFix/>
          </a:blip>
          <a:srcRect b="0" l="0" r="0" t="0"/>
          <a:stretch/>
        </p:blipFill>
        <p:spPr>
          <a:xfrm>
            <a:off x="263525" y="306387"/>
            <a:ext cx="3013074" cy="608011"/>
          </a:xfrm>
          <a:prstGeom prst="rect">
            <a:avLst/>
          </a:prstGeom>
          <a:noFill/>
          <a:ln>
            <a:noFill/>
          </a:ln>
        </p:spPr>
      </p:pic>
      <p:grpSp>
        <p:nvGrpSpPr>
          <p:cNvPr id="624" name="Shape 624"/>
          <p:cNvGrpSpPr/>
          <p:nvPr/>
        </p:nvGrpSpPr>
        <p:grpSpPr>
          <a:xfrm>
            <a:off x="647699" y="2778882"/>
            <a:ext cx="7109954" cy="3625409"/>
            <a:chOff x="2901950" y="14768512"/>
            <a:chExt cx="11429999" cy="7691437"/>
          </a:xfrm>
        </p:grpSpPr>
        <p:cxnSp>
          <p:nvCxnSpPr>
            <p:cNvPr id="625" name="Shape 625"/>
            <p:cNvCxnSpPr/>
            <p:nvPr/>
          </p:nvCxnSpPr>
          <p:spPr>
            <a:xfrm flipH="1" rot="10800000">
              <a:off x="5737225" y="16270286"/>
              <a:ext cx="1587" cy="4170361"/>
            </a:xfrm>
            <a:prstGeom prst="straightConnector1">
              <a:avLst/>
            </a:prstGeom>
            <a:noFill/>
            <a:ln cap="flat" cmpd="sng" w="25400">
              <a:solidFill>
                <a:srgbClr val="000000"/>
              </a:solidFill>
              <a:prstDash val="solid"/>
              <a:miter/>
              <a:headEnd len="med" w="med" type="none"/>
              <a:tailEnd len="lg" w="lg" type="triangle"/>
            </a:ln>
          </p:spPr>
        </p:cxnSp>
        <p:cxnSp>
          <p:nvCxnSpPr>
            <p:cNvPr id="626" name="Shape 626"/>
            <p:cNvCxnSpPr/>
            <p:nvPr/>
          </p:nvCxnSpPr>
          <p:spPr>
            <a:xfrm>
              <a:off x="5738812" y="20439062"/>
              <a:ext cx="4503736" cy="1587"/>
            </a:xfrm>
            <a:prstGeom prst="straightConnector1">
              <a:avLst/>
            </a:prstGeom>
            <a:noFill/>
            <a:ln cap="flat" cmpd="sng" w="25400">
              <a:solidFill>
                <a:srgbClr val="000000"/>
              </a:solidFill>
              <a:prstDash val="solid"/>
              <a:miter/>
              <a:headEnd len="med" w="med" type="none"/>
              <a:tailEnd len="lg" w="lg" type="triangle"/>
            </a:ln>
          </p:spPr>
        </p:cxnSp>
        <p:cxnSp>
          <p:nvCxnSpPr>
            <p:cNvPr id="627" name="Shape 627"/>
            <p:cNvCxnSpPr/>
            <p:nvPr/>
          </p:nvCxnSpPr>
          <p:spPr>
            <a:xfrm>
              <a:off x="5738812" y="16770350"/>
              <a:ext cx="3503611" cy="3670300"/>
            </a:xfrm>
            <a:prstGeom prst="straightConnector1">
              <a:avLst/>
            </a:prstGeom>
            <a:noFill/>
            <a:ln cap="flat" cmpd="sng" w="25400">
              <a:solidFill>
                <a:srgbClr val="FF0000"/>
              </a:solidFill>
              <a:prstDash val="solid"/>
              <a:miter/>
              <a:headEnd len="med" w="med" type="none"/>
              <a:tailEnd len="med" w="med" type="none"/>
            </a:ln>
          </p:spPr>
        </p:cxnSp>
        <p:sp>
          <p:nvSpPr>
            <p:cNvPr id="628" name="Shape 628"/>
            <p:cNvSpPr txBox="1"/>
            <p:nvPr/>
          </p:nvSpPr>
          <p:spPr>
            <a:xfrm>
              <a:off x="9334500" y="17135475"/>
              <a:ext cx="4997449" cy="1419225"/>
            </a:xfrm>
            <a:prstGeom prst="rect">
              <a:avLst/>
            </a:prstGeom>
            <a:solidFill>
              <a:schemeClr val="lt1"/>
            </a:solidFill>
            <a:ln cap="flat" cmpd="sng" w="9525">
              <a:solidFill>
                <a:srgbClr val="000000"/>
              </a:solidFill>
              <a:prstDash val="solid"/>
              <a:miter/>
              <a:headEnd len="med" w="med" type="none"/>
              <a:tailEnd len="med" w="med" type="none"/>
            </a:ln>
          </p:spPr>
          <p:txBody>
            <a:bodyPr anchorCtr="0" anchor="t" bIns="27100" lIns="54225" rIns="54225" tIns="27100">
              <a:noAutofit/>
            </a:bodyPr>
            <a:lstStyle/>
            <a:p>
              <a:pPr indent="0" lvl="0" marL="0" marR="0" rtl="0" algn="ctr">
                <a:lnSpc>
                  <a:spcPct val="105000"/>
                </a:lnSpc>
                <a:spcBef>
                  <a:spcPts val="0"/>
                </a:spcBef>
                <a:spcAft>
                  <a:spcPts val="0"/>
                </a:spcAft>
                <a:buClr>
                  <a:srgbClr val="E61235"/>
                </a:buClr>
                <a:buSzPct val="25000"/>
                <a:buFont typeface="Times New Roman"/>
                <a:buNone/>
              </a:pPr>
              <a:r>
                <a:rPr b="1" i="1" lang="en-US" sz="1200" u="none">
                  <a:solidFill>
                    <a:srgbClr val="E61235"/>
                  </a:solidFill>
                  <a:latin typeface="Times New Roman"/>
                  <a:ea typeface="Times New Roman"/>
                  <a:cs typeface="Times New Roman"/>
                  <a:sym typeface="Times New Roman"/>
                </a:rPr>
                <a:t>Pendiente de la recta IS</a:t>
              </a:r>
            </a:p>
            <a:p>
              <a:pPr indent="0" lvl="0" marL="0" marR="0" rtl="0" algn="ctr">
                <a:lnSpc>
                  <a:spcPct val="105000"/>
                </a:lnSpc>
                <a:spcBef>
                  <a:spcPts val="1100"/>
                </a:spcBef>
                <a:spcAft>
                  <a:spcPts val="0"/>
                </a:spcAft>
                <a:buClr>
                  <a:srgbClr val="E61235"/>
                </a:buClr>
                <a:buSzPct val="25000"/>
                <a:buFont typeface="Tahoma"/>
                <a:buNone/>
              </a:pPr>
              <a:r>
                <a:rPr b="1" i="1" lang="en-US" sz="1200" u="none">
                  <a:solidFill>
                    <a:srgbClr val="E61235"/>
                  </a:solidFill>
                  <a:latin typeface="Tahoma"/>
                  <a:ea typeface="Tahoma"/>
                  <a:cs typeface="Tahoma"/>
                  <a:sym typeface="Tahoma"/>
                </a:rPr>
                <a:t>[(1 – P</a:t>
              </a:r>
              <a:r>
                <a:rPr b="1" baseline="-25000" i="1" lang="en-US" sz="1200" u="none">
                  <a:solidFill>
                    <a:srgbClr val="E61235"/>
                  </a:solidFill>
                  <a:latin typeface="Tahoma"/>
                  <a:ea typeface="Tahoma"/>
                  <a:cs typeface="Tahoma"/>
                  <a:sym typeface="Tahoma"/>
                </a:rPr>
                <a:t>MgC </a:t>
              </a:r>
              <a:r>
                <a:rPr b="1" i="1" lang="en-US" sz="1200" u="none">
                  <a:solidFill>
                    <a:srgbClr val="E61235"/>
                  </a:solidFill>
                  <a:latin typeface="Tahoma"/>
                  <a:ea typeface="Tahoma"/>
                  <a:cs typeface="Tahoma"/>
                  <a:sym typeface="Tahoma"/>
                </a:rPr>
                <a:t>+ P</a:t>
              </a:r>
              <a:r>
                <a:rPr b="1" baseline="-25000" i="1" lang="en-US" sz="1200" u="none">
                  <a:solidFill>
                    <a:srgbClr val="E61235"/>
                  </a:solidFill>
                  <a:latin typeface="Tahoma"/>
                  <a:ea typeface="Tahoma"/>
                  <a:cs typeface="Tahoma"/>
                  <a:sym typeface="Tahoma"/>
                </a:rPr>
                <a:t>MgC</a:t>
              </a:r>
              <a:r>
                <a:rPr b="1" i="1" lang="en-US" sz="1200" u="none">
                  <a:solidFill>
                    <a:srgbClr val="E61235"/>
                  </a:solidFill>
                  <a:latin typeface="Tahoma"/>
                  <a:ea typeface="Tahoma"/>
                  <a:cs typeface="Tahoma"/>
                  <a:sym typeface="Tahoma"/>
                </a:rPr>
                <a:t>*P</a:t>
              </a:r>
              <a:r>
                <a:rPr b="1" baseline="-25000" i="1" lang="en-US" sz="1200" u="none">
                  <a:solidFill>
                    <a:srgbClr val="E61235"/>
                  </a:solidFill>
                  <a:latin typeface="Tahoma"/>
                  <a:ea typeface="Tahoma"/>
                  <a:cs typeface="Tahoma"/>
                  <a:sym typeface="Tahoma"/>
                </a:rPr>
                <a:t>MgT</a:t>
              </a:r>
              <a:r>
                <a:rPr b="1" i="0" lang="en-US" sz="1200" u="none">
                  <a:solidFill>
                    <a:srgbClr val="E61235"/>
                  </a:solidFill>
                  <a:latin typeface="Tahoma"/>
                  <a:ea typeface="Tahoma"/>
                  <a:cs typeface="Tahoma"/>
                  <a:sym typeface="Tahoma"/>
                </a:rPr>
                <a:t> +</a:t>
              </a:r>
              <a:r>
                <a:rPr b="1" i="1" lang="en-US" sz="1200" u="none">
                  <a:solidFill>
                    <a:srgbClr val="E61235"/>
                  </a:solidFill>
                  <a:latin typeface="Tahoma"/>
                  <a:ea typeface="Tahoma"/>
                  <a:cs typeface="Tahoma"/>
                  <a:sym typeface="Tahoma"/>
                </a:rPr>
                <a:t>P</a:t>
              </a:r>
              <a:r>
                <a:rPr b="1" baseline="-25000" i="1" lang="en-US" sz="1200" u="none">
                  <a:solidFill>
                    <a:srgbClr val="E61235"/>
                  </a:solidFill>
                  <a:latin typeface="Tahoma"/>
                  <a:ea typeface="Tahoma"/>
                  <a:cs typeface="Tahoma"/>
                  <a:sym typeface="Tahoma"/>
                </a:rPr>
                <a:t>MgM</a:t>
              </a:r>
              <a:r>
                <a:rPr b="1" i="1" lang="en-US" sz="1200" u="none">
                  <a:solidFill>
                    <a:srgbClr val="E61235"/>
                  </a:solidFill>
                  <a:latin typeface="Tahoma"/>
                  <a:ea typeface="Tahoma"/>
                  <a:cs typeface="Tahoma"/>
                  <a:sym typeface="Tahoma"/>
                </a:rPr>
                <a:t>) / b]</a:t>
              </a:r>
            </a:p>
          </p:txBody>
        </p:sp>
        <p:sp>
          <p:nvSpPr>
            <p:cNvPr id="629" name="Shape 629"/>
            <p:cNvSpPr txBox="1"/>
            <p:nvPr/>
          </p:nvSpPr>
          <p:spPr>
            <a:xfrm>
              <a:off x="3903662" y="21382037"/>
              <a:ext cx="9856786" cy="1077912"/>
            </a:xfrm>
            <a:prstGeom prst="rect">
              <a:avLst/>
            </a:prstGeom>
            <a:solidFill>
              <a:schemeClr val="lt1"/>
            </a:solidFill>
            <a:ln cap="flat" cmpd="sng" w="9525">
              <a:solidFill>
                <a:srgbClr val="000000"/>
              </a:solidFill>
              <a:prstDash val="solid"/>
              <a:miter/>
              <a:headEnd len="med" w="med" type="none"/>
              <a:tailEnd len="med" w="med" type="none"/>
            </a:ln>
          </p:spPr>
          <p:txBody>
            <a:bodyPr anchorCtr="0" anchor="t" bIns="27100" lIns="54225" rIns="54225" tIns="27100">
              <a:noAutofit/>
            </a:bodyPr>
            <a:lstStyle/>
            <a:p>
              <a:pPr indent="0" lvl="0" marL="0" marR="0" rtl="0" algn="ctr">
                <a:lnSpc>
                  <a:spcPct val="125000"/>
                </a:lnSpc>
                <a:spcBef>
                  <a:spcPts val="0"/>
                </a:spcBef>
                <a:spcAft>
                  <a:spcPts val="0"/>
                </a:spcAft>
                <a:buClr>
                  <a:schemeClr val="hlink"/>
                </a:buClr>
                <a:buSzPct val="25000"/>
                <a:buFont typeface="Arial"/>
                <a:buNone/>
              </a:pPr>
              <a:r>
                <a:rPr b="1" i="1" lang="en-US" sz="1200" u="none">
                  <a:solidFill>
                    <a:schemeClr val="hlink"/>
                  </a:solidFill>
                  <a:latin typeface="Arial"/>
                  <a:ea typeface="Arial"/>
                  <a:cs typeface="Arial"/>
                  <a:sym typeface="Arial"/>
                </a:rPr>
                <a:t>Abcisa al origen</a:t>
              </a:r>
            </a:p>
            <a:p>
              <a:pPr indent="0" lvl="0" marL="0" marR="0" rtl="0" algn="ctr">
                <a:lnSpc>
                  <a:spcPct val="125000"/>
                </a:lnSpc>
                <a:spcBef>
                  <a:spcPts val="0"/>
                </a:spcBef>
                <a:spcAft>
                  <a:spcPts val="0"/>
                </a:spcAft>
                <a:buClr>
                  <a:schemeClr val="hlink"/>
                </a:buClr>
                <a:buSzPct val="25000"/>
                <a:buFont typeface="Arial"/>
                <a:buNone/>
              </a:pPr>
              <a:r>
                <a:rPr b="1" i="1" lang="en-US" sz="1200" u="none">
                  <a:solidFill>
                    <a:schemeClr val="hlink"/>
                  </a:solidFill>
                  <a:latin typeface="Arial"/>
                  <a:ea typeface="Arial"/>
                  <a:cs typeface="Arial"/>
                  <a:sym typeface="Arial"/>
                </a:rPr>
                <a:t>[(C</a:t>
              </a:r>
              <a:r>
                <a:rPr b="1" baseline="-25000" i="1" lang="en-US" sz="1200" u="none">
                  <a:solidFill>
                    <a:schemeClr val="hlink"/>
                  </a:solidFill>
                  <a:latin typeface="Arial"/>
                  <a:ea typeface="Arial"/>
                  <a:cs typeface="Arial"/>
                  <a:sym typeface="Arial"/>
                </a:rPr>
                <a:t>0</a:t>
              </a:r>
              <a:r>
                <a:rPr b="1" i="1" lang="en-US" sz="1200" u="none">
                  <a:solidFill>
                    <a:schemeClr val="hlink"/>
                  </a:solidFill>
                  <a:latin typeface="Arial"/>
                  <a:ea typeface="Arial"/>
                  <a:cs typeface="Arial"/>
                  <a:sym typeface="Arial"/>
                </a:rPr>
                <a:t> + I</a:t>
              </a:r>
              <a:r>
                <a:rPr b="1" baseline="-25000" i="1" lang="en-US" sz="1200" u="none">
                  <a:solidFill>
                    <a:schemeClr val="hlink"/>
                  </a:solidFill>
                  <a:latin typeface="Arial"/>
                  <a:ea typeface="Arial"/>
                  <a:cs typeface="Arial"/>
                  <a:sym typeface="Arial"/>
                </a:rPr>
                <a:t>0</a:t>
              </a:r>
              <a:r>
                <a:rPr b="1" i="1" lang="en-US" sz="1200" u="none">
                  <a:solidFill>
                    <a:schemeClr val="hlink"/>
                  </a:solidFill>
                  <a:latin typeface="Arial"/>
                  <a:ea typeface="Arial"/>
                  <a:cs typeface="Arial"/>
                  <a:sym typeface="Arial"/>
                </a:rPr>
                <a:t> + GP</a:t>
              </a:r>
              <a:r>
                <a:rPr b="1" baseline="-25000" i="1" lang="en-US" sz="1200" u="none">
                  <a:solidFill>
                    <a:schemeClr val="hlink"/>
                  </a:solidFill>
                  <a:latin typeface="Arial"/>
                  <a:ea typeface="Arial"/>
                  <a:cs typeface="Arial"/>
                  <a:sym typeface="Arial"/>
                </a:rPr>
                <a:t>0</a:t>
              </a:r>
              <a:r>
                <a:rPr b="1" i="1" lang="en-US" sz="1200" u="none">
                  <a:solidFill>
                    <a:schemeClr val="hlink"/>
                  </a:solidFill>
                  <a:latin typeface="Arial"/>
                  <a:ea typeface="Arial"/>
                  <a:cs typeface="Arial"/>
                  <a:sym typeface="Arial"/>
                </a:rPr>
                <a:t> + X</a:t>
              </a:r>
              <a:r>
                <a:rPr b="1" baseline="-25000" i="1" lang="en-US" sz="1200" u="none">
                  <a:solidFill>
                    <a:schemeClr val="hlink"/>
                  </a:solidFill>
                  <a:latin typeface="Arial"/>
                  <a:ea typeface="Arial"/>
                  <a:cs typeface="Arial"/>
                  <a:sym typeface="Arial"/>
                </a:rPr>
                <a:t>0</a:t>
              </a:r>
              <a:r>
                <a:rPr b="1" i="1" lang="en-US" sz="1200" u="none">
                  <a:solidFill>
                    <a:schemeClr val="hlink"/>
                  </a:solidFill>
                  <a:latin typeface="Arial"/>
                  <a:ea typeface="Arial"/>
                  <a:cs typeface="Arial"/>
                  <a:sym typeface="Arial"/>
                </a:rPr>
                <a:t> – M</a:t>
              </a:r>
              <a:r>
                <a:rPr b="1" baseline="-25000" i="1" lang="en-US" sz="1200" u="none">
                  <a:solidFill>
                    <a:schemeClr val="hlink"/>
                  </a:solidFill>
                  <a:latin typeface="Arial"/>
                  <a:ea typeface="Arial"/>
                  <a:cs typeface="Arial"/>
                  <a:sym typeface="Arial"/>
                </a:rPr>
                <a:t>0</a:t>
              </a:r>
              <a:r>
                <a:rPr b="1" i="1" lang="en-US" sz="1200" u="none">
                  <a:solidFill>
                    <a:schemeClr val="hlink"/>
                  </a:solidFill>
                  <a:latin typeface="Arial"/>
                  <a:ea typeface="Arial"/>
                  <a:cs typeface="Arial"/>
                  <a:sym typeface="Arial"/>
                </a:rPr>
                <a:t> – P</a:t>
              </a:r>
              <a:r>
                <a:rPr b="1" baseline="-25000" i="1" lang="en-US" sz="1200" u="none">
                  <a:solidFill>
                    <a:schemeClr val="hlink"/>
                  </a:solidFill>
                  <a:latin typeface="Arial"/>
                  <a:ea typeface="Arial"/>
                  <a:cs typeface="Arial"/>
                  <a:sym typeface="Arial"/>
                </a:rPr>
                <a:t>MgC</a:t>
              </a:r>
              <a:r>
                <a:rPr b="1" i="1" lang="en-US" sz="1200" u="none">
                  <a:solidFill>
                    <a:schemeClr val="hlink"/>
                  </a:solidFill>
                  <a:latin typeface="Arial"/>
                  <a:ea typeface="Arial"/>
                  <a:cs typeface="Arial"/>
                  <a:sym typeface="Arial"/>
                </a:rPr>
                <a:t> * T) / (1 – P</a:t>
              </a:r>
              <a:r>
                <a:rPr b="1" baseline="-25000" i="1" lang="en-US" sz="1200" u="none">
                  <a:solidFill>
                    <a:schemeClr val="hlink"/>
                  </a:solidFill>
                  <a:latin typeface="Arial"/>
                  <a:ea typeface="Arial"/>
                  <a:cs typeface="Arial"/>
                  <a:sym typeface="Arial"/>
                </a:rPr>
                <a:t>MgC</a:t>
              </a:r>
              <a:r>
                <a:rPr b="1" i="1" lang="en-US" sz="1200" u="none">
                  <a:solidFill>
                    <a:schemeClr val="hlink"/>
                  </a:solidFill>
                  <a:latin typeface="Arial"/>
                  <a:ea typeface="Arial"/>
                  <a:cs typeface="Arial"/>
                  <a:sym typeface="Arial"/>
                </a:rPr>
                <a:t> + P</a:t>
              </a:r>
              <a:r>
                <a:rPr b="1" baseline="-25000" i="1" lang="en-US" sz="1200" u="none">
                  <a:solidFill>
                    <a:schemeClr val="hlink"/>
                  </a:solidFill>
                  <a:latin typeface="Arial"/>
                  <a:ea typeface="Arial"/>
                  <a:cs typeface="Arial"/>
                  <a:sym typeface="Arial"/>
                </a:rPr>
                <a:t>MgC</a:t>
              </a:r>
              <a:r>
                <a:rPr b="1" i="1" lang="en-US" sz="1200" u="none">
                  <a:solidFill>
                    <a:schemeClr val="hlink"/>
                  </a:solidFill>
                  <a:latin typeface="Arial"/>
                  <a:ea typeface="Arial"/>
                  <a:cs typeface="Arial"/>
                  <a:sym typeface="Arial"/>
                </a:rPr>
                <a:t>*P</a:t>
              </a:r>
              <a:r>
                <a:rPr b="1" baseline="-25000" i="1" lang="en-US" sz="1200" u="none">
                  <a:solidFill>
                    <a:schemeClr val="hlink"/>
                  </a:solidFill>
                  <a:latin typeface="Arial"/>
                  <a:ea typeface="Arial"/>
                  <a:cs typeface="Arial"/>
                  <a:sym typeface="Arial"/>
                </a:rPr>
                <a:t>MgT</a:t>
              </a:r>
              <a:r>
                <a:rPr b="1" i="0" lang="en-US" sz="1200" u="none">
                  <a:solidFill>
                    <a:schemeClr val="hlink"/>
                  </a:solidFill>
                  <a:latin typeface="Arial"/>
                  <a:ea typeface="Arial"/>
                  <a:cs typeface="Arial"/>
                  <a:sym typeface="Arial"/>
                </a:rPr>
                <a:t> +</a:t>
              </a:r>
              <a:r>
                <a:rPr b="1" i="1" lang="en-US" sz="1200" u="none">
                  <a:solidFill>
                    <a:schemeClr val="hlink"/>
                  </a:solidFill>
                  <a:latin typeface="Arial"/>
                  <a:ea typeface="Arial"/>
                  <a:cs typeface="Arial"/>
                  <a:sym typeface="Arial"/>
                </a:rPr>
                <a:t>P</a:t>
              </a:r>
              <a:r>
                <a:rPr b="1" baseline="-25000" i="1" lang="en-US" sz="1200" u="none">
                  <a:solidFill>
                    <a:schemeClr val="hlink"/>
                  </a:solidFill>
                  <a:latin typeface="Arial"/>
                  <a:ea typeface="Arial"/>
                  <a:cs typeface="Arial"/>
                  <a:sym typeface="Arial"/>
                </a:rPr>
                <a:t>MgM</a:t>
              </a:r>
              <a:r>
                <a:rPr b="1" i="1" lang="en-US" sz="1200" u="none">
                  <a:solidFill>
                    <a:schemeClr val="hlink"/>
                  </a:solidFill>
                  <a:latin typeface="Arial"/>
                  <a:ea typeface="Arial"/>
                  <a:cs typeface="Arial"/>
                  <a:sym typeface="Arial"/>
                </a:rPr>
                <a:t>)]</a:t>
              </a:r>
            </a:p>
          </p:txBody>
        </p:sp>
        <p:sp>
          <p:nvSpPr>
            <p:cNvPr id="630" name="Shape 630"/>
            <p:cNvSpPr txBox="1"/>
            <p:nvPr/>
          </p:nvSpPr>
          <p:spPr>
            <a:xfrm>
              <a:off x="2901950" y="14768512"/>
              <a:ext cx="6286499" cy="1500187"/>
            </a:xfrm>
            <a:prstGeom prst="rect">
              <a:avLst/>
            </a:prstGeom>
            <a:solidFill>
              <a:schemeClr val="lt1"/>
            </a:solidFill>
            <a:ln cap="flat" cmpd="sng" w="12700">
              <a:solidFill>
                <a:srgbClr val="000000"/>
              </a:solidFill>
              <a:prstDash val="solid"/>
              <a:miter/>
              <a:headEnd len="med" w="med" type="none"/>
              <a:tailEnd len="med" w="med" type="none"/>
            </a:ln>
          </p:spPr>
          <p:txBody>
            <a:bodyPr anchorCtr="0" anchor="t" bIns="27100" lIns="54225" rIns="54225" tIns="27100">
              <a:noAutofit/>
            </a:bodyPr>
            <a:lstStyle/>
            <a:p>
              <a:pPr indent="0" lvl="0" marL="0" marR="0" rtl="0" algn="l">
                <a:lnSpc>
                  <a:spcPct val="100000"/>
                </a:lnSpc>
                <a:spcBef>
                  <a:spcPts val="0"/>
                </a:spcBef>
                <a:spcAft>
                  <a:spcPts val="0"/>
                </a:spcAft>
                <a:buClr>
                  <a:srgbClr val="000080"/>
                </a:buClr>
                <a:buSzPct val="25000"/>
                <a:buFont typeface="Arial"/>
                <a:buNone/>
              </a:pPr>
              <a:r>
                <a:rPr b="1" i="1" lang="en-US" sz="1000" u="none">
                  <a:solidFill>
                    <a:srgbClr val="000080"/>
                  </a:solidFill>
                  <a:latin typeface="Arial"/>
                  <a:ea typeface="Arial"/>
                  <a:cs typeface="Arial"/>
                  <a:sym typeface="Arial"/>
                </a:rPr>
                <a:t>Ordenada al origen</a:t>
              </a:r>
            </a:p>
            <a:p>
              <a:pPr indent="0" lvl="0" marL="0" marR="0" rtl="0" algn="l">
                <a:lnSpc>
                  <a:spcPct val="100000"/>
                </a:lnSpc>
                <a:spcBef>
                  <a:spcPts val="0"/>
                </a:spcBef>
                <a:spcAft>
                  <a:spcPts val="0"/>
                </a:spcAft>
                <a:buClr>
                  <a:schemeClr val="dk1"/>
                </a:buClr>
                <a:buFont typeface="Calibri"/>
                <a:buNone/>
              </a:pPr>
              <a:r>
                <a:t/>
              </a:r>
              <a:endParaRPr b="1" i="1" sz="1000" u="none">
                <a:solidFill>
                  <a:srgbClr val="000080"/>
                </a:solidFill>
                <a:latin typeface="Arial"/>
                <a:ea typeface="Arial"/>
                <a:cs typeface="Arial"/>
                <a:sym typeface="Arial"/>
              </a:endParaRPr>
            </a:p>
            <a:p>
              <a:pPr indent="0" lvl="0" marL="0" marR="0" rtl="0" algn="l">
                <a:lnSpc>
                  <a:spcPct val="100000"/>
                </a:lnSpc>
                <a:spcBef>
                  <a:spcPts val="0"/>
                </a:spcBef>
                <a:spcAft>
                  <a:spcPts val="0"/>
                </a:spcAft>
                <a:buClr>
                  <a:srgbClr val="000080"/>
                </a:buClr>
                <a:buSzPct val="25000"/>
                <a:buFont typeface="Arial"/>
                <a:buNone/>
              </a:pPr>
              <a:r>
                <a:rPr b="1" i="1" lang="en-US" sz="1000" u="none">
                  <a:solidFill>
                    <a:srgbClr val="000080"/>
                  </a:solidFill>
                  <a:latin typeface="Arial"/>
                  <a:ea typeface="Arial"/>
                  <a:cs typeface="Arial"/>
                  <a:sym typeface="Arial"/>
                </a:rPr>
                <a:t>[(C</a:t>
              </a:r>
              <a:r>
                <a:rPr b="1" baseline="-25000" i="1" lang="en-US" sz="1000" u="none">
                  <a:solidFill>
                    <a:srgbClr val="000080"/>
                  </a:solidFill>
                  <a:latin typeface="Arial"/>
                  <a:ea typeface="Arial"/>
                  <a:cs typeface="Arial"/>
                  <a:sym typeface="Arial"/>
                </a:rPr>
                <a:t>0 </a:t>
              </a:r>
              <a:r>
                <a:rPr b="1" i="1" lang="en-US" sz="1000" u="none">
                  <a:solidFill>
                    <a:srgbClr val="000080"/>
                  </a:solidFill>
                  <a:latin typeface="Arial"/>
                  <a:ea typeface="Arial"/>
                  <a:cs typeface="Arial"/>
                  <a:sym typeface="Arial"/>
                </a:rPr>
                <a:t>+ I</a:t>
              </a:r>
              <a:r>
                <a:rPr b="1" baseline="-25000" i="1" lang="en-US" sz="1000" u="none">
                  <a:solidFill>
                    <a:srgbClr val="000080"/>
                  </a:solidFill>
                  <a:latin typeface="Arial"/>
                  <a:ea typeface="Arial"/>
                  <a:cs typeface="Arial"/>
                  <a:sym typeface="Arial"/>
                </a:rPr>
                <a:t>0 </a:t>
              </a:r>
              <a:r>
                <a:rPr b="1" i="1" lang="en-US" sz="1000" u="none">
                  <a:solidFill>
                    <a:srgbClr val="000080"/>
                  </a:solidFill>
                  <a:latin typeface="Arial"/>
                  <a:ea typeface="Arial"/>
                  <a:cs typeface="Arial"/>
                  <a:sym typeface="Arial"/>
                </a:rPr>
                <a:t>+ GP</a:t>
              </a:r>
              <a:r>
                <a:rPr b="1" baseline="-25000" i="1" lang="en-US" sz="1000" u="none">
                  <a:solidFill>
                    <a:srgbClr val="000080"/>
                  </a:solidFill>
                  <a:latin typeface="Arial"/>
                  <a:ea typeface="Arial"/>
                  <a:cs typeface="Arial"/>
                  <a:sym typeface="Arial"/>
                </a:rPr>
                <a:t>0</a:t>
              </a:r>
              <a:r>
                <a:rPr b="1" i="1" lang="en-US" sz="1000" u="none">
                  <a:solidFill>
                    <a:srgbClr val="000080"/>
                  </a:solidFill>
                  <a:latin typeface="Arial"/>
                  <a:ea typeface="Arial"/>
                  <a:cs typeface="Arial"/>
                  <a:sym typeface="Arial"/>
                </a:rPr>
                <a:t> + X</a:t>
              </a:r>
              <a:r>
                <a:rPr b="1" baseline="-25000" i="1" lang="en-US" sz="1000" u="none">
                  <a:solidFill>
                    <a:srgbClr val="000080"/>
                  </a:solidFill>
                  <a:latin typeface="Arial"/>
                  <a:ea typeface="Arial"/>
                  <a:cs typeface="Arial"/>
                  <a:sym typeface="Arial"/>
                </a:rPr>
                <a:t>0</a:t>
              </a:r>
              <a:r>
                <a:rPr b="1" i="1" lang="en-US" sz="1000" u="none">
                  <a:solidFill>
                    <a:srgbClr val="000080"/>
                  </a:solidFill>
                  <a:latin typeface="Arial"/>
                  <a:ea typeface="Arial"/>
                  <a:cs typeface="Arial"/>
                  <a:sym typeface="Arial"/>
                </a:rPr>
                <a:t> – M</a:t>
              </a:r>
              <a:r>
                <a:rPr b="1" baseline="-25000" i="1" lang="en-US" sz="1000" u="none">
                  <a:solidFill>
                    <a:srgbClr val="000080"/>
                  </a:solidFill>
                  <a:latin typeface="Arial"/>
                  <a:ea typeface="Arial"/>
                  <a:cs typeface="Arial"/>
                  <a:sym typeface="Arial"/>
                </a:rPr>
                <a:t>0</a:t>
              </a:r>
              <a:r>
                <a:rPr b="1" i="1" lang="en-US" sz="1000" u="none">
                  <a:solidFill>
                    <a:srgbClr val="000080"/>
                  </a:solidFill>
                  <a:latin typeface="Arial"/>
                  <a:ea typeface="Arial"/>
                  <a:cs typeface="Arial"/>
                  <a:sym typeface="Arial"/>
                </a:rPr>
                <a:t> – P</a:t>
              </a:r>
              <a:r>
                <a:rPr b="1" baseline="-25000" i="1" lang="en-US" sz="1000" u="none">
                  <a:solidFill>
                    <a:srgbClr val="000080"/>
                  </a:solidFill>
                  <a:latin typeface="Arial"/>
                  <a:ea typeface="Arial"/>
                  <a:cs typeface="Arial"/>
                  <a:sym typeface="Arial"/>
                </a:rPr>
                <a:t>MgC</a:t>
              </a:r>
              <a:r>
                <a:rPr b="1" i="1" lang="en-US" sz="1000" u="none">
                  <a:solidFill>
                    <a:srgbClr val="000080"/>
                  </a:solidFill>
                  <a:latin typeface="Arial"/>
                  <a:ea typeface="Arial"/>
                  <a:cs typeface="Arial"/>
                  <a:sym typeface="Arial"/>
                </a:rPr>
                <a:t> * T) / b]</a:t>
              </a:r>
            </a:p>
          </p:txBody>
        </p:sp>
        <p:cxnSp>
          <p:nvCxnSpPr>
            <p:cNvPr id="631" name="Shape 631"/>
            <p:cNvCxnSpPr/>
            <p:nvPr/>
          </p:nvCxnSpPr>
          <p:spPr>
            <a:xfrm flipH="1">
              <a:off x="7573962" y="17411700"/>
              <a:ext cx="1614487" cy="1193800"/>
            </a:xfrm>
            <a:prstGeom prst="straightConnector1">
              <a:avLst/>
            </a:prstGeom>
            <a:noFill/>
            <a:ln cap="flat" cmpd="sng" w="9525">
              <a:solidFill>
                <a:srgbClr val="000080"/>
              </a:solidFill>
              <a:prstDash val="solid"/>
              <a:miter/>
              <a:headEnd len="med" w="med" type="none"/>
              <a:tailEnd len="lg" w="lg" type="triangle"/>
            </a:ln>
          </p:spPr>
        </p:cxnSp>
        <p:sp>
          <p:nvSpPr>
            <p:cNvPr id="632" name="Shape 632"/>
            <p:cNvSpPr/>
            <p:nvPr/>
          </p:nvSpPr>
          <p:spPr>
            <a:xfrm rot="5400000">
              <a:off x="6989762" y="19189700"/>
              <a:ext cx="1001711" cy="3503611"/>
            </a:xfrm>
            <a:prstGeom prst="rightBrace">
              <a:avLst>
                <a:gd fmla="val 1285" name="adj1"/>
                <a:gd fmla="val 50000" name="adj2"/>
              </a:avLst>
            </a:prstGeom>
            <a:solidFill>
              <a:schemeClr val="lt1"/>
            </a:solidFill>
            <a:ln cap="flat" cmpd="sng" w="9525">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633" name="Shape 633"/>
            <p:cNvSpPr/>
            <p:nvPr/>
          </p:nvSpPr>
          <p:spPr>
            <a:xfrm>
              <a:off x="5237162" y="16770350"/>
              <a:ext cx="501650" cy="3670300"/>
            </a:xfrm>
            <a:prstGeom prst="leftBrace">
              <a:avLst>
                <a:gd fmla="val 8333" name="adj1"/>
                <a:gd fmla="val 50000" name="adj2"/>
              </a:avLst>
            </a:prstGeom>
            <a:solidFill>
              <a:schemeClr val="lt1"/>
            </a:solidFill>
            <a:ln cap="flat" cmpd="sng" w="9525">
              <a:solidFill>
                <a:srgbClr val="0033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634" name="Shape 634"/>
            <p:cNvCxnSpPr/>
            <p:nvPr/>
          </p:nvCxnSpPr>
          <p:spPr>
            <a:xfrm>
              <a:off x="3187700" y="16268700"/>
              <a:ext cx="1882775" cy="2170112"/>
            </a:xfrm>
            <a:prstGeom prst="straightConnector1">
              <a:avLst/>
            </a:prstGeom>
            <a:noFill/>
            <a:ln cap="flat" cmpd="sng" w="9525">
              <a:solidFill>
                <a:srgbClr val="000000"/>
              </a:solidFill>
              <a:prstDash val="solid"/>
              <a:miter/>
              <a:headEnd len="med" w="med" type="none"/>
              <a:tailEnd len="lg" w="lg" type="triangle"/>
            </a:ln>
          </p:spPr>
        </p:cxnSp>
        <p:sp>
          <p:nvSpPr>
            <p:cNvPr id="635" name="Shape 635"/>
            <p:cNvSpPr txBox="1"/>
            <p:nvPr/>
          </p:nvSpPr>
          <p:spPr>
            <a:xfrm>
              <a:off x="5405437" y="16270287"/>
              <a:ext cx="666749" cy="500062"/>
            </a:xfrm>
            <a:prstGeom prst="rect">
              <a:avLst/>
            </a:prstGeom>
            <a:solidFill>
              <a:schemeClr val="lt1"/>
            </a:solidFill>
            <a:ln>
              <a:noFill/>
            </a:ln>
          </p:spPr>
          <p:txBody>
            <a:bodyPr anchorCtr="0" anchor="t" bIns="27100" lIns="54225" rIns="54225" tIns="27100">
              <a:noAutofit/>
            </a:bodyPr>
            <a:lstStyle/>
            <a:p>
              <a:pPr indent="0" lvl="0" marL="0" marR="0" rtl="0" algn="l">
                <a:lnSpc>
                  <a:spcPct val="100000"/>
                </a:lnSpc>
                <a:spcBef>
                  <a:spcPts val="0"/>
                </a:spcBef>
                <a:spcAft>
                  <a:spcPts val="0"/>
                </a:spcAft>
                <a:buClr>
                  <a:schemeClr val="dk1"/>
                </a:buClr>
                <a:buSzPct val="25000"/>
                <a:buFont typeface="Arial"/>
                <a:buNone/>
              </a:pPr>
              <a:r>
                <a:rPr b="1" i="0" lang="en-US" sz="800" u="none">
                  <a:solidFill>
                    <a:schemeClr val="dk1"/>
                  </a:solidFill>
                  <a:latin typeface="Arial"/>
                  <a:ea typeface="Arial"/>
                  <a:cs typeface="Arial"/>
                  <a:sym typeface="Arial"/>
                </a:rPr>
                <a:t>i</a:t>
              </a:r>
            </a:p>
          </p:txBody>
        </p:sp>
        <p:sp>
          <p:nvSpPr>
            <p:cNvPr id="636" name="Shape 636"/>
            <p:cNvSpPr txBox="1"/>
            <p:nvPr/>
          </p:nvSpPr>
          <p:spPr>
            <a:xfrm>
              <a:off x="10077450" y="20440650"/>
              <a:ext cx="666749" cy="500062"/>
            </a:xfrm>
            <a:prstGeom prst="rect">
              <a:avLst/>
            </a:prstGeom>
            <a:solidFill>
              <a:schemeClr val="lt1"/>
            </a:solidFill>
            <a:ln>
              <a:noFill/>
            </a:ln>
          </p:spPr>
          <p:txBody>
            <a:bodyPr anchorCtr="0" anchor="t" bIns="27100" lIns="54225" rIns="54225" tIns="27100">
              <a:noAutofit/>
            </a:bodyPr>
            <a:lstStyle/>
            <a:p>
              <a:pPr indent="0" lvl="0" marL="0" marR="0" rtl="0" algn="l">
                <a:lnSpc>
                  <a:spcPct val="100000"/>
                </a:lnSpc>
                <a:spcBef>
                  <a:spcPts val="0"/>
                </a:spcBef>
                <a:spcAft>
                  <a:spcPts val="0"/>
                </a:spcAft>
                <a:buClr>
                  <a:schemeClr val="dk1"/>
                </a:buClr>
                <a:buSzPct val="25000"/>
                <a:buFont typeface="Arial"/>
                <a:buNone/>
              </a:pPr>
              <a:r>
                <a:rPr b="1" i="0" lang="en-US" sz="800" u="none">
                  <a:solidFill>
                    <a:schemeClr val="dk1"/>
                  </a:solidFill>
                  <a:latin typeface="Arial"/>
                  <a:ea typeface="Arial"/>
                  <a:cs typeface="Arial"/>
                  <a:sym typeface="Arial"/>
                </a:rPr>
                <a:t>Y</a:t>
              </a:r>
            </a:p>
          </p:txBody>
        </p:sp>
      </p:grpSp>
      <p:sp>
        <p:nvSpPr>
          <p:cNvPr id="637" name="Shape 637"/>
          <p:cNvSpPr txBox="1"/>
          <p:nvPr/>
        </p:nvSpPr>
        <p:spPr>
          <a:xfrm>
            <a:off x="269875" y="1719261"/>
            <a:ext cx="8645524" cy="709612"/>
          </a:xfrm>
          <a:prstGeom prst="rect">
            <a:avLst/>
          </a:prstGeom>
          <a:solidFill>
            <a:srgbClr val="FFFF99">
              <a:alpha val="53725"/>
            </a:srgbClr>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Curva IS</a:t>
            </a:r>
          </a:p>
          <a:p>
            <a:pPr indent="0" lvl="0" marL="0" marR="0" rtl="0" algn="ctr">
              <a:lnSpc>
                <a:spcPct val="125000"/>
              </a:lnSpc>
              <a:spcBef>
                <a:spcPts val="0"/>
              </a:spcBef>
              <a:spcAft>
                <a:spcPts val="0"/>
              </a:spcAft>
              <a:buClr>
                <a:schemeClr val="dk1"/>
              </a:buClr>
              <a:buSzPct val="25000"/>
              <a:buFont typeface="Arial"/>
              <a:buNone/>
            </a:pPr>
            <a:r>
              <a:rPr b="1" i="1" lang="en-US" sz="1800" u="none">
                <a:solidFill>
                  <a:schemeClr val="dk1"/>
                </a:solidFill>
                <a:latin typeface="Arial"/>
                <a:ea typeface="Arial"/>
                <a:cs typeface="Arial"/>
                <a:sym typeface="Arial"/>
              </a:rPr>
              <a:t>i = [(C</a:t>
            </a:r>
            <a:r>
              <a:rPr b="1" baseline="-25000" i="1" lang="en-US" sz="1800" u="none">
                <a:solidFill>
                  <a:schemeClr val="dk1"/>
                </a:solidFill>
                <a:latin typeface="Arial"/>
                <a:ea typeface="Arial"/>
                <a:cs typeface="Arial"/>
                <a:sym typeface="Arial"/>
              </a:rPr>
              <a:t>0</a:t>
            </a:r>
            <a:r>
              <a:rPr b="1" i="1" lang="en-US" sz="1800" u="none">
                <a:solidFill>
                  <a:schemeClr val="dk1"/>
                </a:solidFill>
                <a:latin typeface="Arial"/>
                <a:ea typeface="Arial"/>
                <a:cs typeface="Arial"/>
                <a:sym typeface="Arial"/>
              </a:rPr>
              <a:t> + I</a:t>
            </a:r>
            <a:r>
              <a:rPr b="1" baseline="-25000" i="1" lang="en-US" sz="1800" u="none">
                <a:solidFill>
                  <a:schemeClr val="dk1"/>
                </a:solidFill>
                <a:latin typeface="Arial"/>
                <a:ea typeface="Arial"/>
                <a:cs typeface="Arial"/>
                <a:sym typeface="Arial"/>
              </a:rPr>
              <a:t>0</a:t>
            </a:r>
            <a:r>
              <a:rPr b="1" i="1" lang="en-US" sz="1800" u="none">
                <a:solidFill>
                  <a:schemeClr val="dk1"/>
                </a:solidFill>
                <a:latin typeface="Arial"/>
                <a:ea typeface="Arial"/>
                <a:cs typeface="Arial"/>
                <a:sym typeface="Arial"/>
              </a:rPr>
              <a:t> + GP</a:t>
            </a:r>
            <a:r>
              <a:rPr b="1" baseline="-25000" i="1" lang="en-US" sz="1800" u="none">
                <a:solidFill>
                  <a:schemeClr val="dk1"/>
                </a:solidFill>
                <a:latin typeface="Arial"/>
                <a:ea typeface="Arial"/>
                <a:cs typeface="Arial"/>
                <a:sym typeface="Arial"/>
              </a:rPr>
              <a:t>0</a:t>
            </a:r>
            <a:r>
              <a:rPr b="1" i="1" lang="en-US" sz="1800" u="none">
                <a:solidFill>
                  <a:schemeClr val="dk1"/>
                </a:solidFill>
                <a:latin typeface="Arial"/>
                <a:ea typeface="Arial"/>
                <a:cs typeface="Arial"/>
                <a:sym typeface="Arial"/>
              </a:rPr>
              <a:t> + X</a:t>
            </a:r>
            <a:r>
              <a:rPr b="1" baseline="-25000" i="1" lang="en-US" sz="1800" u="none">
                <a:solidFill>
                  <a:schemeClr val="dk1"/>
                </a:solidFill>
                <a:latin typeface="Arial"/>
                <a:ea typeface="Arial"/>
                <a:cs typeface="Arial"/>
                <a:sym typeface="Arial"/>
              </a:rPr>
              <a:t>0</a:t>
            </a:r>
            <a:r>
              <a:rPr b="1" i="1" lang="en-US" sz="1800" u="none">
                <a:solidFill>
                  <a:schemeClr val="dk1"/>
                </a:solidFill>
                <a:latin typeface="Arial"/>
                <a:ea typeface="Arial"/>
                <a:cs typeface="Arial"/>
                <a:sym typeface="Arial"/>
              </a:rPr>
              <a:t> – M</a:t>
            </a:r>
            <a:r>
              <a:rPr b="1" baseline="-25000" i="1" lang="en-US" sz="1800" u="none">
                <a:solidFill>
                  <a:schemeClr val="dk1"/>
                </a:solidFill>
                <a:latin typeface="Arial"/>
                <a:ea typeface="Arial"/>
                <a:cs typeface="Arial"/>
                <a:sym typeface="Arial"/>
              </a:rPr>
              <a:t>0</a:t>
            </a:r>
            <a:r>
              <a:rPr b="1" i="1" lang="en-US" sz="1800" u="none">
                <a:solidFill>
                  <a:schemeClr val="dk1"/>
                </a:solidFill>
                <a:latin typeface="Arial"/>
                <a:ea typeface="Arial"/>
                <a:cs typeface="Arial"/>
                <a:sym typeface="Arial"/>
              </a:rPr>
              <a:t>– P</a:t>
            </a:r>
            <a:r>
              <a:rPr b="1" baseline="-25000" i="1" lang="en-US" sz="1800" u="none">
                <a:solidFill>
                  <a:schemeClr val="dk1"/>
                </a:solidFill>
                <a:latin typeface="Arial"/>
                <a:ea typeface="Arial"/>
                <a:cs typeface="Arial"/>
                <a:sym typeface="Arial"/>
              </a:rPr>
              <a:t>MgC</a:t>
            </a:r>
            <a:r>
              <a:rPr b="1" i="1" lang="en-US" sz="1800" u="none">
                <a:solidFill>
                  <a:schemeClr val="dk1"/>
                </a:solidFill>
                <a:latin typeface="Arial"/>
                <a:ea typeface="Arial"/>
                <a:cs typeface="Arial"/>
                <a:sym typeface="Arial"/>
              </a:rPr>
              <a:t> * T) / b] – [(1 – P</a:t>
            </a:r>
            <a:r>
              <a:rPr b="1" baseline="-25000" i="1" lang="en-US" sz="1800" u="none">
                <a:solidFill>
                  <a:schemeClr val="dk1"/>
                </a:solidFill>
                <a:latin typeface="Arial"/>
                <a:ea typeface="Arial"/>
                <a:cs typeface="Arial"/>
                <a:sym typeface="Arial"/>
              </a:rPr>
              <a:t>MgC</a:t>
            </a:r>
            <a:r>
              <a:rPr b="1" i="1" lang="en-US" sz="1800" u="none">
                <a:solidFill>
                  <a:schemeClr val="dk1"/>
                </a:solidFill>
                <a:latin typeface="Arial"/>
                <a:ea typeface="Arial"/>
                <a:cs typeface="Arial"/>
                <a:sym typeface="Arial"/>
              </a:rPr>
              <a:t> + P</a:t>
            </a:r>
            <a:r>
              <a:rPr b="1" baseline="-25000" i="1" lang="en-US" sz="1800" u="none">
                <a:solidFill>
                  <a:schemeClr val="dk1"/>
                </a:solidFill>
                <a:latin typeface="Arial"/>
                <a:ea typeface="Arial"/>
                <a:cs typeface="Arial"/>
                <a:sym typeface="Arial"/>
              </a:rPr>
              <a:t>MgC</a:t>
            </a:r>
            <a:r>
              <a:rPr b="1" i="1" lang="en-US" sz="1800" u="none">
                <a:solidFill>
                  <a:schemeClr val="dk1"/>
                </a:solidFill>
                <a:latin typeface="Arial"/>
                <a:ea typeface="Arial"/>
                <a:cs typeface="Arial"/>
                <a:sym typeface="Arial"/>
              </a:rPr>
              <a:t>*P</a:t>
            </a:r>
            <a:r>
              <a:rPr b="1" baseline="-25000" i="1" lang="en-US" sz="1800" u="none">
                <a:solidFill>
                  <a:schemeClr val="dk1"/>
                </a:solidFill>
                <a:latin typeface="Arial"/>
                <a:ea typeface="Arial"/>
                <a:cs typeface="Arial"/>
                <a:sym typeface="Arial"/>
              </a:rPr>
              <a:t>MgT</a:t>
            </a:r>
            <a:r>
              <a:rPr b="0" i="0" lang="en-US" sz="1800" u="none">
                <a:solidFill>
                  <a:schemeClr val="dk1"/>
                </a:solidFill>
                <a:latin typeface="Arial"/>
                <a:ea typeface="Arial"/>
                <a:cs typeface="Arial"/>
                <a:sym typeface="Arial"/>
              </a:rPr>
              <a:t> +</a:t>
            </a:r>
            <a:r>
              <a:rPr b="1" i="1" lang="en-US" sz="1800" u="none">
                <a:solidFill>
                  <a:schemeClr val="dk1"/>
                </a:solidFill>
                <a:latin typeface="Arial"/>
                <a:ea typeface="Arial"/>
                <a:cs typeface="Arial"/>
                <a:sym typeface="Arial"/>
              </a:rPr>
              <a:t>P</a:t>
            </a:r>
            <a:r>
              <a:rPr b="1" baseline="-25000" i="1" lang="en-US" sz="1800" u="none">
                <a:solidFill>
                  <a:schemeClr val="dk1"/>
                </a:solidFill>
                <a:latin typeface="Arial"/>
                <a:ea typeface="Arial"/>
                <a:cs typeface="Arial"/>
                <a:sym typeface="Arial"/>
              </a:rPr>
              <a:t>MgM</a:t>
            </a:r>
            <a:r>
              <a:rPr b="1" i="1" lang="en-US" sz="1800" u="none">
                <a:solidFill>
                  <a:schemeClr val="dk1"/>
                </a:solidFill>
                <a:latin typeface="Arial"/>
                <a:ea typeface="Arial"/>
                <a:cs typeface="Arial"/>
                <a:sym typeface="Arial"/>
              </a:rPr>
              <a:t>) / b] * Y</a:t>
            </a:r>
          </a:p>
        </p:txBody>
      </p:sp>
      <p:sp>
        <p:nvSpPr>
          <p:cNvPr id="638" name="Shape 638"/>
          <p:cNvSpPr txBox="1"/>
          <p:nvPr/>
        </p:nvSpPr>
        <p:spPr>
          <a:xfrm>
            <a:off x="3910012" y="152400"/>
            <a:ext cx="4548187" cy="94615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a:solidFill>
                  <a:srgbClr val="BB4F59"/>
                </a:solidFill>
                <a:latin typeface="Arial"/>
                <a:ea typeface="Arial"/>
                <a:cs typeface="Arial"/>
                <a:sym typeface="Arial"/>
              </a:rPr>
              <a:t>CURVA IS</a:t>
            </a:r>
          </a:p>
          <a:p>
            <a:pPr indent="0" lvl="0" marL="0" marR="0" rtl="0" algn="l">
              <a:lnSpc>
                <a:spcPct val="100000"/>
              </a:lnSpc>
              <a:spcBef>
                <a:spcPts val="0"/>
              </a:spcBef>
              <a:spcAft>
                <a:spcPts val="0"/>
              </a:spcAft>
              <a:buNone/>
            </a:pPr>
            <a:r>
              <a:t/>
            </a:r>
            <a:endParaRPr b="1" i="0" sz="2800" u="none">
              <a:solidFill>
                <a:srgbClr val="BB4F59"/>
              </a:solidFill>
              <a:latin typeface="Arial"/>
              <a:ea typeface="Arial"/>
              <a:cs typeface="Arial"/>
              <a:sym typeface="Arial"/>
            </a:endParaRPr>
          </a:p>
        </p:txBody>
      </p:sp>
    </p:spTree>
  </p:cSld>
  <p:clrMapOvr>
    <a:masterClrMapping/>
  </p:clrMapOvr>
  <p:transition spd="slow">
    <p:cut/>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642" name="Shape 642"/>
        <p:cNvGrpSpPr/>
        <p:nvPr/>
      </p:nvGrpSpPr>
      <p:grpSpPr>
        <a:xfrm>
          <a:off x="0" y="0"/>
          <a:ext cx="0" cy="0"/>
          <a:chOff x="0" y="0"/>
          <a:chExt cx="0" cy="0"/>
        </a:xfrm>
      </p:grpSpPr>
      <p:pic>
        <p:nvPicPr>
          <p:cNvPr id="643" name="Shape 643"/>
          <p:cNvPicPr preferRelativeResize="0"/>
          <p:nvPr/>
        </p:nvPicPr>
        <p:blipFill rotWithShape="1">
          <a:blip r:embed="rId3">
            <a:alphaModFix/>
          </a:blip>
          <a:srcRect b="0" l="0" r="0" t="0"/>
          <a:stretch/>
        </p:blipFill>
        <p:spPr>
          <a:xfrm>
            <a:off x="263525" y="914400"/>
            <a:ext cx="8610599" cy="209549"/>
          </a:xfrm>
          <a:prstGeom prst="rect">
            <a:avLst/>
          </a:prstGeom>
          <a:noFill/>
          <a:ln>
            <a:noFill/>
          </a:ln>
        </p:spPr>
      </p:pic>
      <p:pic>
        <p:nvPicPr>
          <p:cNvPr id="644" name="Shape 644"/>
          <p:cNvPicPr preferRelativeResize="0"/>
          <p:nvPr/>
        </p:nvPicPr>
        <p:blipFill rotWithShape="1">
          <a:blip r:embed="rId4">
            <a:alphaModFix/>
          </a:blip>
          <a:srcRect b="0" l="0" r="0" t="0"/>
          <a:stretch/>
        </p:blipFill>
        <p:spPr>
          <a:xfrm>
            <a:off x="255587" y="306387"/>
            <a:ext cx="3013074" cy="608011"/>
          </a:xfrm>
          <a:prstGeom prst="rect">
            <a:avLst/>
          </a:prstGeom>
          <a:noFill/>
          <a:ln>
            <a:noFill/>
          </a:ln>
        </p:spPr>
      </p:pic>
      <p:sp>
        <p:nvSpPr>
          <p:cNvPr id="645" name="Shape 645"/>
          <p:cNvSpPr txBox="1"/>
          <p:nvPr/>
        </p:nvSpPr>
        <p:spPr>
          <a:xfrm>
            <a:off x="3910012" y="152400"/>
            <a:ext cx="4548187" cy="94615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a:solidFill>
                  <a:srgbClr val="BB4F59"/>
                </a:solidFill>
                <a:latin typeface="Arial"/>
                <a:ea typeface="Arial"/>
                <a:cs typeface="Arial"/>
                <a:sym typeface="Arial"/>
              </a:rPr>
              <a:t>CURVA IS</a:t>
            </a:r>
          </a:p>
          <a:p>
            <a:pPr indent="0" lvl="0" marL="0" marR="0" rtl="0" algn="l">
              <a:lnSpc>
                <a:spcPct val="100000"/>
              </a:lnSpc>
              <a:spcBef>
                <a:spcPts val="0"/>
              </a:spcBef>
              <a:spcAft>
                <a:spcPts val="0"/>
              </a:spcAft>
              <a:buNone/>
            </a:pPr>
            <a:r>
              <a:t/>
            </a:r>
            <a:endParaRPr b="1" i="0" sz="2800" u="none">
              <a:solidFill>
                <a:srgbClr val="BB4F59"/>
              </a:solidFill>
              <a:latin typeface="Arial"/>
              <a:ea typeface="Arial"/>
              <a:cs typeface="Arial"/>
              <a:sym typeface="Arial"/>
            </a:endParaRPr>
          </a:p>
        </p:txBody>
      </p:sp>
      <p:sp>
        <p:nvSpPr>
          <p:cNvPr id="646" name="Shape 646"/>
          <p:cNvSpPr txBox="1"/>
          <p:nvPr/>
        </p:nvSpPr>
        <p:spPr>
          <a:xfrm>
            <a:off x="304800" y="1524000"/>
            <a:ext cx="8610599" cy="5035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647" name="Shape 647"/>
          <p:cNvCxnSpPr/>
          <p:nvPr/>
        </p:nvCxnSpPr>
        <p:spPr>
          <a:xfrm rot="10800000">
            <a:off x="3505200" y="3810000"/>
            <a:ext cx="0" cy="2886074"/>
          </a:xfrm>
          <a:prstGeom prst="straightConnector1">
            <a:avLst/>
          </a:prstGeom>
          <a:noFill/>
          <a:ln cap="flat" cmpd="sng" w="25400">
            <a:solidFill>
              <a:srgbClr val="FF0000"/>
            </a:solidFill>
            <a:prstDash val="solid"/>
            <a:miter/>
            <a:headEnd len="med" w="med" type="none"/>
            <a:tailEnd len="lg" w="lg" type="triangle"/>
          </a:ln>
        </p:spPr>
      </p:cxnSp>
      <p:sp>
        <p:nvSpPr>
          <p:cNvPr id="648" name="Shape 648"/>
          <p:cNvSpPr txBox="1"/>
          <p:nvPr/>
        </p:nvSpPr>
        <p:spPr>
          <a:xfrm>
            <a:off x="339725" y="1949450"/>
            <a:ext cx="8534399" cy="1519236"/>
          </a:xfrm>
          <a:prstGeom prst="rect">
            <a:avLst/>
          </a:prstGeom>
          <a:solidFill>
            <a:schemeClr val="lt1"/>
          </a:solidFill>
          <a:ln>
            <a:noFill/>
          </a:ln>
        </p:spPr>
        <p:txBody>
          <a:bodyPr anchorCtr="0" anchor="t" bIns="45700" lIns="91425" rIns="91425" tIns="45700">
            <a:noAutofit/>
          </a:bodyPr>
          <a:lstStyle/>
          <a:p>
            <a:pPr indent="0" lvl="0" marL="0" marR="0" rtl="0" algn="l">
              <a:lnSpc>
                <a:spcPct val="120000"/>
              </a:lnSpc>
              <a:spcBef>
                <a:spcPts val="0"/>
              </a:spcBef>
              <a:spcAft>
                <a:spcPts val="0"/>
              </a:spcAft>
              <a:buClr>
                <a:schemeClr val="dk1"/>
              </a:buClr>
              <a:buSzPct val="25000"/>
              <a:buFont typeface="Arial"/>
              <a:buNone/>
            </a:pPr>
            <a:r>
              <a:rPr b="1" i="1" lang="en-US" sz="1400" u="none">
                <a:solidFill>
                  <a:schemeClr val="dk1"/>
                </a:solidFill>
                <a:latin typeface="Arial"/>
                <a:ea typeface="Arial"/>
                <a:cs typeface="Arial"/>
                <a:sym typeface="Arial"/>
              </a:rPr>
              <a:t>ECUACIÓN  DE LA CURVA IS (MERCADO DE BIENES)</a:t>
            </a:r>
          </a:p>
          <a:p>
            <a:pPr indent="0" lvl="0" marL="0" marR="0" rtl="0" algn="l">
              <a:lnSpc>
                <a:spcPct val="120000"/>
              </a:lnSpc>
              <a:spcBef>
                <a:spcPts val="0"/>
              </a:spcBef>
              <a:spcAft>
                <a:spcPts val="0"/>
              </a:spcAft>
              <a:buClr>
                <a:schemeClr val="dk1"/>
              </a:buClr>
              <a:buSzPct val="25000"/>
              <a:buFont typeface="Arial"/>
              <a:buNone/>
            </a:pPr>
            <a:r>
              <a:rPr b="1" i="1" lang="en-US" sz="1400" u="none">
                <a:solidFill>
                  <a:schemeClr val="dk1"/>
                </a:solidFill>
                <a:latin typeface="Arial"/>
                <a:ea typeface="Arial"/>
                <a:cs typeface="Arial"/>
                <a:sym typeface="Arial"/>
              </a:rPr>
              <a:t> </a:t>
            </a:r>
            <a:r>
              <a:rPr b="1" i="1" lang="en-US" sz="1200" u="none">
                <a:solidFill>
                  <a:schemeClr val="dk1"/>
                </a:solidFill>
                <a:latin typeface="Arial"/>
                <a:ea typeface="Arial"/>
                <a:cs typeface="Arial"/>
                <a:sym typeface="Arial"/>
              </a:rPr>
              <a:t>i = [(C0 + I0 + GP0 + X0 – M0– PMgC * T) / b] – [(1 – PMgC + PMgC*PMgT</a:t>
            </a:r>
            <a:r>
              <a:rPr b="0" i="0" lang="en-US" sz="1200" u="none">
                <a:solidFill>
                  <a:schemeClr val="dk1"/>
                </a:solidFill>
                <a:latin typeface="Arial"/>
                <a:ea typeface="Arial"/>
                <a:cs typeface="Arial"/>
                <a:sym typeface="Arial"/>
              </a:rPr>
              <a:t> +</a:t>
            </a:r>
            <a:r>
              <a:rPr b="1" i="1" lang="en-US" sz="1200" u="none">
                <a:solidFill>
                  <a:schemeClr val="dk1"/>
                </a:solidFill>
                <a:latin typeface="Arial"/>
                <a:ea typeface="Arial"/>
                <a:cs typeface="Arial"/>
                <a:sym typeface="Arial"/>
              </a:rPr>
              <a:t>PMgM) / b] * Y</a:t>
            </a:r>
          </a:p>
          <a:p>
            <a:pPr indent="0" lvl="0" marL="0" marR="0" rtl="0" algn="l">
              <a:lnSpc>
                <a:spcPct val="120000"/>
              </a:lnSpc>
              <a:spcBef>
                <a:spcPts val="0"/>
              </a:spcBef>
              <a:spcAft>
                <a:spcPts val="0"/>
              </a:spcAft>
              <a:buClr>
                <a:srgbClr val="E61235"/>
              </a:buClr>
              <a:buSzPct val="25000"/>
              <a:buFont typeface="Arial"/>
              <a:buNone/>
            </a:pPr>
            <a:r>
              <a:rPr b="0" i="1" lang="en-US" sz="1800" u="none">
                <a:solidFill>
                  <a:srgbClr val="E61235"/>
                </a:solidFill>
                <a:latin typeface="Arial"/>
                <a:ea typeface="Arial"/>
                <a:cs typeface="Arial"/>
                <a:sym typeface="Arial"/>
              </a:rPr>
              <a:t>Muestra los valores que toma la renta nacional debido a la manipulación de la tasa de interés considerando solo el mercado de bienes y servicios.</a:t>
            </a:r>
          </a:p>
          <a:p>
            <a:pPr indent="0" lvl="0" marL="0" marR="0" rtl="0" algn="l">
              <a:lnSpc>
                <a:spcPct val="100000"/>
              </a:lnSpc>
              <a:spcBef>
                <a:spcPts val="0"/>
              </a:spcBef>
              <a:spcAft>
                <a:spcPts val="0"/>
              </a:spcAft>
              <a:buNone/>
            </a:pPr>
            <a:r>
              <a:t/>
            </a:r>
            <a:endParaRPr b="1" i="1" sz="1200" u="none">
              <a:solidFill>
                <a:schemeClr val="dk1"/>
              </a:solidFill>
              <a:latin typeface="Arial"/>
              <a:ea typeface="Arial"/>
              <a:cs typeface="Arial"/>
              <a:sym typeface="Arial"/>
            </a:endParaRPr>
          </a:p>
        </p:txBody>
      </p:sp>
      <p:sp>
        <p:nvSpPr>
          <p:cNvPr id="649" name="Shape 649"/>
          <p:cNvSpPr txBox="1"/>
          <p:nvPr/>
        </p:nvSpPr>
        <p:spPr>
          <a:xfrm>
            <a:off x="3352800" y="3779837"/>
            <a:ext cx="76199" cy="487361"/>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i</a:t>
            </a:r>
          </a:p>
        </p:txBody>
      </p:sp>
      <p:cxnSp>
        <p:nvCxnSpPr>
          <p:cNvPr id="650" name="Shape 650"/>
          <p:cNvCxnSpPr/>
          <p:nvPr/>
        </p:nvCxnSpPr>
        <p:spPr>
          <a:xfrm>
            <a:off x="1752600" y="6400800"/>
            <a:ext cx="6324600" cy="0"/>
          </a:xfrm>
          <a:prstGeom prst="straightConnector1">
            <a:avLst/>
          </a:prstGeom>
          <a:noFill/>
          <a:ln cap="flat" cmpd="sng" w="25400">
            <a:solidFill>
              <a:srgbClr val="FF0000"/>
            </a:solidFill>
            <a:prstDash val="solid"/>
            <a:miter/>
            <a:headEnd len="med" w="med" type="none"/>
            <a:tailEnd len="lg" w="lg" type="triangle"/>
          </a:ln>
        </p:spPr>
      </p:cxnSp>
      <p:sp>
        <p:nvSpPr>
          <p:cNvPr id="651" name="Shape 651"/>
          <p:cNvSpPr/>
          <p:nvPr/>
        </p:nvSpPr>
        <p:spPr>
          <a:xfrm>
            <a:off x="3521075" y="4343400"/>
            <a:ext cx="4632325" cy="1466850"/>
          </a:xfrm>
          <a:custGeom>
            <a:pathLst>
              <a:path extrusionOk="0" h="120000" w="120000">
                <a:moveTo>
                  <a:pt x="0" y="0"/>
                </a:moveTo>
                <a:cubicBezTo>
                  <a:pt x="2673" y="7662"/>
                  <a:pt x="8307" y="31818"/>
                  <a:pt x="16038" y="45714"/>
                </a:cubicBezTo>
                <a:cubicBezTo>
                  <a:pt x="23769" y="59610"/>
                  <a:pt x="36970" y="74285"/>
                  <a:pt x="46470" y="83636"/>
                </a:cubicBezTo>
                <a:cubicBezTo>
                  <a:pt x="55969" y="92987"/>
                  <a:pt x="64441" y="96883"/>
                  <a:pt x="73118" y="101818"/>
                </a:cubicBezTo>
                <a:cubicBezTo>
                  <a:pt x="81795" y="106753"/>
                  <a:pt x="90637" y="110259"/>
                  <a:pt x="98450" y="113246"/>
                </a:cubicBezTo>
                <a:cubicBezTo>
                  <a:pt x="106264" y="116233"/>
                  <a:pt x="116422" y="118831"/>
                  <a:pt x="120000" y="119999"/>
                </a:cubicBezTo>
              </a:path>
            </a:pathLst>
          </a:custGeom>
          <a:noFill/>
          <a:ln cap="flat" cmpd="sng" w="25400">
            <a:solidFill>
              <a:schemeClr val="dk1"/>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652" name="Shape 652"/>
          <p:cNvSpPr txBox="1"/>
          <p:nvPr/>
        </p:nvSpPr>
        <p:spPr>
          <a:xfrm>
            <a:off x="7010400" y="5943600"/>
            <a:ext cx="1371599" cy="533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Renta (Y)</a:t>
            </a:r>
          </a:p>
        </p:txBody>
      </p:sp>
      <p:sp>
        <p:nvSpPr>
          <p:cNvPr id="653" name="Shape 653"/>
          <p:cNvSpPr txBox="1"/>
          <p:nvPr/>
        </p:nvSpPr>
        <p:spPr>
          <a:xfrm>
            <a:off x="0" y="4876800"/>
            <a:ext cx="3200399" cy="9144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61235"/>
              </a:buClr>
              <a:buSzPct val="25000"/>
              <a:buFont typeface="Arial"/>
              <a:buNone/>
            </a:pPr>
            <a:r>
              <a:rPr b="1" i="1" lang="en-US" sz="1000" u="none">
                <a:solidFill>
                  <a:srgbClr val="E61235"/>
                </a:solidFill>
                <a:latin typeface="Arial"/>
                <a:ea typeface="Arial"/>
                <a:cs typeface="Arial"/>
                <a:sym typeface="Arial"/>
              </a:rPr>
              <a:t>[(C</a:t>
            </a:r>
            <a:r>
              <a:rPr b="1" baseline="-25000" i="1" lang="en-US" sz="1000" u="none">
                <a:solidFill>
                  <a:srgbClr val="E61235"/>
                </a:solidFill>
                <a:latin typeface="Arial"/>
                <a:ea typeface="Arial"/>
                <a:cs typeface="Arial"/>
                <a:sym typeface="Arial"/>
              </a:rPr>
              <a:t>0</a:t>
            </a:r>
            <a:r>
              <a:rPr b="1" i="1" lang="en-US" sz="1000" u="none">
                <a:solidFill>
                  <a:srgbClr val="E61235"/>
                </a:solidFill>
                <a:latin typeface="Arial"/>
                <a:ea typeface="Arial"/>
                <a:cs typeface="Arial"/>
                <a:sym typeface="Arial"/>
              </a:rPr>
              <a:t> + I</a:t>
            </a:r>
            <a:r>
              <a:rPr b="1" baseline="-25000" i="1" lang="en-US" sz="1000" u="none">
                <a:solidFill>
                  <a:srgbClr val="E61235"/>
                </a:solidFill>
                <a:latin typeface="Arial"/>
                <a:ea typeface="Arial"/>
                <a:cs typeface="Arial"/>
                <a:sym typeface="Arial"/>
              </a:rPr>
              <a:t>0 </a:t>
            </a:r>
            <a:r>
              <a:rPr b="1" i="1" lang="en-US" sz="1000" u="none">
                <a:solidFill>
                  <a:srgbClr val="E61235"/>
                </a:solidFill>
                <a:latin typeface="Arial"/>
                <a:ea typeface="Arial"/>
                <a:cs typeface="Arial"/>
                <a:sym typeface="Arial"/>
              </a:rPr>
              <a:t>+ GP</a:t>
            </a:r>
            <a:r>
              <a:rPr b="1" baseline="-25000" i="1" lang="en-US" sz="1000" u="none">
                <a:solidFill>
                  <a:srgbClr val="E61235"/>
                </a:solidFill>
                <a:latin typeface="Arial"/>
                <a:ea typeface="Arial"/>
                <a:cs typeface="Arial"/>
                <a:sym typeface="Arial"/>
              </a:rPr>
              <a:t>0</a:t>
            </a:r>
            <a:r>
              <a:rPr b="1" i="1" lang="en-US" sz="1000" u="none">
                <a:solidFill>
                  <a:srgbClr val="E61235"/>
                </a:solidFill>
                <a:latin typeface="Arial"/>
                <a:ea typeface="Arial"/>
                <a:cs typeface="Arial"/>
                <a:sym typeface="Arial"/>
              </a:rPr>
              <a:t> + X</a:t>
            </a:r>
            <a:r>
              <a:rPr b="1" baseline="-25000" i="1" lang="en-US" sz="1000" u="none">
                <a:solidFill>
                  <a:srgbClr val="E61235"/>
                </a:solidFill>
                <a:latin typeface="Arial"/>
                <a:ea typeface="Arial"/>
                <a:cs typeface="Arial"/>
                <a:sym typeface="Arial"/>
              </a:rPr>
              <a:t>0</a:t>
            </a:r>
            <a:r>
              <a:rPr b="1" i="1" lang="en-US" sz="1000" u="none">
                <a:solidFill>
                  <a:srgbClr val="E61235"/>
                </a:solidFill>
                <a:latin typeface="Arial"/>
                <a:ea typeface="Arial"/>
                <a:cs typeface="Arial"/>
                <a:sym typeface="Arial"/>
              </a:rPr>
              <a:t> – M</a:t>
            </a:r>
            <a:r>
              <a:rPr b="1" baseline="-25000" i="1" lang="en-US" sz="1000" u="none">
                <a:solidFill>
                  <a:srgbClr val="E61235"/>
                </a:solidFill>
                <a:latin typeface="Arial"/>
                <a:ea typeface="Arial"/>
                <a:cs typeface="Arial"/>
                <a:sym typeface="Arial"/>
              </a:rPr>
              <a:t>0</a:t>
            </a:r>
            <a:r>
              <a:rPr b="1" i="1" lang="en-US" sz="1000" u="none">
                <a:solidFill>
                  <a:srgbClr val="E61235"/>
                </a:solidFill>
                <a:latin typeface="Arial"/>
                <a:ea typeface="Arial"/>
                <a:cs typeface="Arial"/>
                <a:sym typeface="Arial"/>
              </a:rPr>
              <a:t> - P</a:t>
            </a:r>
            <a:r>
              <a:rPr b="1" baseline="-25000" i="1" lang="en-US" sz="1000" u="none">
                <a:solidFill>
                  <a:srgbClr val="E61235"/>
                </a:solidFill>
                <a:latin typeface="Arial"/>
                <a:ea typeface="Arial"/>
                <a:cs typeface="Arial"/>
                <a:sym typeface="Arial"/>
              </a:rPr>
              <a:t>maC </a:t>
            </a:r>
            <a:r>
              <a:rPr b="1" i="1" lang="en-US" sz="1000" u="none">
                <a:solidFill>
                  <a:srgbClr val="E61235"/>
                </a:solidFill>
                <a:latin typeface="Arial"/>
                <a:ea typeface="Arial"/>
                <a:cs typeface="Arial"/>
                <a:sym typeface="Arial"/>
              </a:rPr>
              <a:t>* T</a:t>
            </a:r>
            <a:r>
              <a:rPr b="1" baseline="-25000" i="1" lang="en-US" sz="1000" u="none">
                <a:solidFill>
                  <a:srgbClr val="E61235"/>
                </a:solidFill>
                <a:latin typeface="Arial"/>
                <a:ea typeface="Arial"/>
                <a:cs typeface="Arial"/>
                <a:sym typeface="Arial"/>
              </a:rPr>
              <a:t>X0 </a:t>
            </a:r>
            <a:r>
              <a:rPr b="1" i="1" lang="en-US" sz="1000" u="none">
                <a:solidFill>
                  <a:srgbClr val="E61235"/>
                </a:solidFill>
                <a:latin typeface="Arial"/>
                <a:ea typeface="Arial"/>
                <a:cs typeface="Arial"/>
                <a:sym typeface="Arial"/>
              </a:rPr>
              <a:t>+ P</a:t>
            </a:r>
            <a:r>
              <a:rPr b="1" baseline="-25000" i="1" lang="en-US" sz="1000" u="none">
                <a:solidFill>
                  <a:srgbClr val="E61235"/>
                </a:solidFill>
                <a:latin typeface="Arial"/>
                <a:ea typeface="Arial"/>
                <a:cs typeface="Arial"/>
                <a:sym typeface="Arial"/>
              </a:rPr>
              <a:t>maC</a:t>
            </a:r>
            <a:r>
              <a:rPr b="1" i="1" lang="en-US" sz="1000" u="none">
                <a:solidFill>
                  <a:srgbClr val="E61235"/>
                </a:solidFill>
                <a:latin typeface="Arial"/>
                <a:ea typeface="Arial"/>
                <a:cs typeface="Arial"/>
                <a:sym typeface="Arial"/>
              </a:rPr>
              <a:t> * T</a:t>
            </a:r>
            <a:r>
              <a:rPr b="1" baseline="-25000" i="1" lang="en-US" sz="1000" u="none">
                <a:solidFill>
                  <a:srgbClr val="E61235"/>
                </a:solidFill>
                <a:latin typeface="Arial"/>
                <a:ea typeface="Arial"/>
                <a:cs typeface="Arial"/>
                <a:sym typeface="Arial"/>
              </a:rPr>
              <a:t>R0</a:t>
            </a:r>
            <a:r>
              <a:rPr b="1" i="1" lang="en-US" sz="1000" u="none">
                <a:solidFill>
                  <a:srgbClr val="E61235"/>
                </a:solidFill>
                <a:latin typeface="Arial"/>
                <a:ea typeface="Arial"/>
                <a:cs typeface="Arial"/>
                <a:sym typeface="Arial"/>
              </a:rPr>
              <a:t>) / b]</a:t>
            </a:r>
          </a:p>
        </p:txBody>
      </p:sp>
      <p:sp>
        <p:nvSpPr>
          <p:cNvPr id="654" name="Shape 654"/>
          <p:cNvSpPr txBox="1"/>
          <p:nvPr/>
        </p:nvSpPr>
        <p:spPr>
          <a:xfrm>
            <a:off x="6049962" y="4724400"/>
            <a:ext cx="2332036" cy="9064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2400" u="none">
                <a:solidFill>
                  <a:schemeClr val="dk1"/>
                </a:solidFill>
                <a:latin typeface="Arial"/>
                <a:ea typeface="Arial"/>
                <a:cs typeface="Arial"/>
                <a:sym typeface="Arial"/>
              </a:rPr>
              <a:t>Curva IS</a:t>
            </a:r>
          </a:p>
        </p:txBody>
      </p:sp>
      <p:sp>
        <p:nvSpPr>
          <p:cNvPr id="655" name="Shape 655"/>
          <p:cNvSpPr txBox="1"/>
          <p:nvPr/>
        </p:nvSpPr>
        <p:spPr>
          <a:xfrm>
            <a:off x="152400" y="1050925"/>
            <a:ext cx="8686800" cy="854074"/>
          </a:xfrm>
          <a:prstGeom prst="rect">
            <a:avLst/>
          </a:prstGeom>
          <a:noFill/>
          <a:ln>
            <a:noFill/>
          </a:ln>
        </p:spPr>
        <p:txBody>
          <a:bodyPr anchorCtr="0" anchor="ctr" bIns="152350" lIns="545925" rIns="91425" tIns="152350">
            <a:noAutofit/>
          </a:bodyPr>
          <a:lstStyle/>
          <a:p>
            <a:pPr indent="0" lvl="0" marL="0" marR="0" rtl="0" algn="l">
              <a:lnSpc>
                <a:spcPct val="100000"/>
              </a:lnSpc>
              <a:spcBef>
                <a:spcPts val="0"/>
              </a:spcBef>
              <a:spcAft>
                <a:spcPts val="0"/>
              </a:spcAft>
              <a:buClr>
                <a:srgbClr val="E61235"/>
              </a:buClr>
              <a:buSzPct val="25000"/>
              <a:buFont typeface="Arial"/>
              <a:buNone/>
            </a:pPr>
            <a:r>
              <a:rPr b="0" i="0" lang="en-US" sz="1800" u="none">
                <a:solidFill>
                  <a:srgbClr val="E61235"/>
                </a:solidFill>
                <a:latin typeface="Arial"/>
                <a:ea typeface="Arial"/>
                <a:cs typeface="Arial"/>
                <a:sym typeface="Arial"/>
              </a:rPr>
              <a:t>Representa las distintas combinaciones de ingreso (Y) y tasa de interés (i) que mantienen en equilibrio el Mercado de Bienes.</a:t>
            </a:r>
          </a:p>
        </p:txBody>
      </p:sp>
      <p:sp>
        <p:nvSpPr>
          <p:cNvPr id="656" name="Shape 656"/>
          <p:cNvSpPr/>
          <p:nvPr/>
        </p:nvSpPr>
        <p:spPr>
          <a:xfrm flipH="1">
            <a:off x="3200400" y="4343400"/>
            <a:ext cx="304799" cy="2057400"/>
          </a:xfrm>
          <a:prstGeom prst="rightBrace">
            <a:avLst>
              <a:gd fmla="val 8333" name="adj1"/>
              <a:gd fmla="val 10560" name="adj2"/>
            </a:avLst>
          </a:prstGeom>
          <a:noFill/>
          <a:ln cap="flat" cmpd="sng" w="28575">
            <a:solidFill>
              <a:srgbClr val="FF0000"/>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657" name="Shape 657"/>
          <p:cNvSpPr txBox="1"/>
          <p:nvPr/>
        </p:nvSpPr>
        <p:spPr>
          <a:xfrm>
            <a:off x="4495800" y="4876800"/>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a:t>
            </a:r>
            <a:r>
              <a:rPr b="1" i="0" lang="en-US" sz="1200" u="none">
                <a:solidFill>
                  <a:schemeClr val="hlink"/>
                </a:solidFill>
                <a:latin typeface="Arial"/>
                <a:ea typeface="Arial"/>
                <a:cs typeface="Arial"/>
                <a:sym typeface="Arial"/>
              </a:rPr>
              <a:t>A</a:t>
            </a:r>
          </a:p>
        </p:txBody>
      </p:sp>
      <p:sp>
        <p:nvSpPr>
          <p:cNvPr id="658" name="Shape 658"/>
          <p:cNvSpPr txBox="1"/>
          <p:nvPr/>
        </p:nvSpPr>
        <p:spPr>
          <a:xfrm>
            <a:off x="6019800" y="5257800"/>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a:t>
            </a:r>
            <a:r>
              <a:rPr b="1" i="0" lang="en-US" sz="1200" u="none">
                <a:solidFill>
                  <a:srgbClr val="008000"/>
                </a:solidFill>
                <a:latin typeface="Arial"/>
                <a:ea typeface="Arial"/>
                <a:cs typeface="Arial"/>
                <a:sym typeface="Arial"/>
              </a:rPr>
              <a:t>B</a:t>
            </a:r>
          </a:p>
        </p:txBody>
      </p:sp>
      <p:cxnSp>
        <p:nvCxnSpPr>
          <p:cNvPr id="659" name="Shape 659"/>
          <p:cNvCxnSpPr/>
          <p:nvPr/>
        </p:nvCxnSpPr>
        <p:spPr>
          <a:xfrm rot="10800000">
            <a:off x="3505200" y="5105400"/>
            <a:ext cx="1066799" cy="0"/>
          </a:xfrm>
          <a:prstGeom prst="straightConnector1">
            <a:avLst/>
          </a:prstGeom>
          <a:noFill/>
          <a:ln cap="flat" cmpd="sng" w="9525">
            <a:solidFill>
              <a:schemeClr val="dk1"/>
            </a:solidFill>
            <a:prstDash val="solid"/>
            <a:miter/>
            <a:headEnd len="med" w="med" type="oval"/>
            <a:tailEnd len="med" w="med" type="none"/>
          </a:ln>
        </p:spPr>
      </p:cxnSp>
      <p:cxnSp>
        <p:nvCxnSpPr>
          <p:cNvPr id="660" name="Shape 660"/>
          <p:cNvCxnSpPr/>
          <p:nvPr/>
        </p:nvCxnSpPr>
        <p:spPr>
          <a:xfrm>
            <a:off x="4572000" y="5105400"/>
            <a:ext cx="0" cy="1295400"/>
          </a:xfrm>
          <a:prstGeom prst="straightConnector1">
            <a:avLst/>
          </a:prstGeom>
          <a:noFill/>
          <a:ln cap="flat" cmpd="sng" w="9525">
            <a:solidFill>
              <a:schemeClr val="dk1"/>
            </a:solidFill>
            <a:prstDash val="solid"/>
            <a:miter/>
            <a:headEnd len="med" w="med" type="oval"/>
            <a:tailEnd len="med" w="med" type="none"/>
          </a:ln>
        </p:spPr>
      </p:cxnSp>
      <p:sp>
        <p:nvSpPr>
          <p:cNvPr id="661" name="Shape 661"/>
          <p:cNvSpPr txBox="1"/>
          <p:nvPr/>
        </p:nvSpPr>
        <p:spPr>
          <a:xfrm>
            <a:off x="3436937" y="4876800"/>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a:t>
            </a:r>
            <a:r>
              <a:rPr b="1" i="0" lang="en-US" sz="1200" u="none">
                <a:solidFill>
                  <a:schemeClr val="hlink"/>
                </a:solidFill>
                <a:latin typeface="Arial"/>
                <a:ea typeface="Arial"/>
                <a:cs typeface="Arial"/>
                <a:sym typeface="Arial"/>
              </a:rPr>
              <a:t>i</a:t>
            </a:r>
            <a:r>
              <a:rPr b="1" baseline="-25000" i="0" lang="en-US" sz="1200" u="none">
                <a:solidFill>
                  <a:schemeClr val="hlink"/>
                </a:solidFill>
                <a:latin typeface="Arial"/>
                <a:ea typeface="Arial"/>
                <a:cs typeface="Arial"/>
                <a:sym typeface="Arial"/>
              </a:rPr>
              <a:t>A</a:t>
            </a:r>
          </a:p>
        </p:txBody>
      </p:sp>
      <p:sp>
        <p:nvSpPr>
          <p:cNvPr id="662" name="Shape 662"/>
          <p:cNvSpPr txBox="1"/>
          <p:nvPr/>
        </p:nvSpPr>
        <p:spPr>
          <a:xfrm>
            <a:off x="4343400" y="6324600"/>
            <a:ext cx="449262"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hlink"/>
              </a:buClr>
              <a:buSzPct val="25000"/>
              <a:buFont typeface="Arial"/>
              <a:buNone/>
            </a:pPr>
            <a:r>
              <a:rPr b="0" i="0" lang="en-US" sz="1400" u="none">
                <a:solidFill>
                  <a:schemeClr val="hlink"/>
                </a:solidFill>
                <a:latin typeface="Arial"/>
                <a:ea typeface="Arial"/>
                <a:cs typeface="Arial"/>
                <a:sym typeface="Arial"/>
              </a:rPr>
              <a:t> </a:t>
            </a:r>
            <a:r>
              <a:rPr b="1" i="0" lang="en-US" sz="1200" u="none">
                <a:solidFill>
                  <a:schemeClr val="hlink"/>
                </a:solidFill>
                <a:latin typeface="Arial"/>
                <a:ea typeface="Arial"/>
                <a:cs typeface="Arial"/>
                <a:sym typeface="Arial"/>
              </a:rPr>
              <a:t>Y</a:t>
            </a:r>
            <a:r>
              <a:rPr b="1" baseline="-25000" i="0" lang="en-US" sz="1200" u="none">
                <a:solidFill>
                  <a:schemeClr val="hlink"/>
                </a:solidFill>
                <a:latin typeface="Arial"/>
                <a:ea typeface="Arial"/>
                <a:cs typeface="Arial"/>
                <a:sym typeface="Arial"/>
              </a:rPr>
              <a:t>A</a:t>
            </a:r>
          </a:p>
        </p:txBody>
      </p:sp>
      <p:cxnSp>
        <p:nvCxnSpPr>
          <p:cNvPr id="663" name="Shape 663"/>
          <p:cNvCxnSpPr/>
          <p:nvPr/>
        </p:nvCxnSpPr>
        <p:spPr>
          <a:xfrm rot="10800000">
            <a:off x="3505200" y="5562600"/>
            <a:ext cx="2666999" cy="0"/>
          </a:xfrm>
          <a:prstGeom prst="straightConnector1">
            <a:avLst/>
          </a:prstGeom>
          <a:noFill/>
          <a:ln cap="flat" cmpd="sng" w="9525">
            <a:solidFill>
              <a:schemeClr val="dk1"/>
            </a:solidFill>
            <a:prstDash val="solid"/>
            <a:miter/>
            <a:headEnd len="med" w="med" type="oval"/>
            <a:tailEnd len="med" w="med" type="none"/>
          </a:ln>
        </p:spPr>
      </p:cxnSp>
      <p:cxnSp>
        <p:nvCxnSpPr>
          <p:cNvPr id="664" name="Shape 664"/>
          <p:cNvCxnSpPr/>
          <p:nvPr/>
        </p:nvCxnSpPr>
        <p:spPr>
          <a:xfrm>
            <a:off x="6172200" y="5562600"/>
            <a:ext cx="0" cy="838199"/>
          </a:xfrm>
          <a:prstGeom prst="straightConnector1">
            <a:avLst/>
          </a:prstGeom>
          <a:noFill/>
          <a:ln cap="flat" cmpd="sng" w="9525">
            <a:solidFill>
              <a:schemeClr val="dk1"/>
            </a:solidFill>
            <a:prstDash val="solid"/>
            <a:miter/>
            <a:headEnd len="med" w="med" type="oval"/>
            <a:tailEnd len="med" w="med" type="none"/>
          </a:ln>
        </p:spPr>
      </p:cxnSp>
      <p:sp>
        <p:nvSpPr>
          <p:cNvPr id="665" name="Shape 665"/>
          <p:cNvSpPr txBox="1"/>
          <p:nvPr/>
        </p:nvSpPr>
        <p:spPr>
          <a:xfrm>
            <a:off x="6019800" y="6354762"/>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117A06"/>
              </a:buClr>
              <a:buSzPct val="25000"/>
              <a:buFont typeface="Arial"/>
              <a:buNone/>
            </a:pPr>
            <a:r>
              <a:rPr b="1" i="0" lang="en-US" sz="1200" u="none">
                <a:solidFill>
                  <a:srgbClr val="117A06"/>
                </a:solidFill>
                <a:latin typeface="Arial"/>
                <a:ea typeface="Arial"/>
                <a:cs typeface="Arial"/>
                <a:sym typeface="Arial"/>
              </a:rPr>
              <a:t>Y</a:t>
            </a:r>
            <a:r>
              <a:rPr b="1" baseline="-25000" i="0" lang="en-US" sz="1200" u="none">
                <a:solidFill>
                  <a:srgbClr val="117A06"/>
                </a:solidFill>
                <a:latin typeface="Arial"/>
                <a:ea typeface="Arial"/>
                <a:cs typeface="Arial"/>
                <a:sym typeface="Arial"/>
              </a:rPr>
              <a:t>B</a:t>
            </a:r>
          </a:p>
        </p:txBody>
      </p:sp>
      <p:sp>
        <p:nvSpPr>
          <p:cNvPr id="666" name="Shape 666"/>
          <p:cNvSpPr txBox="1"/>
          <p:nvPr/>
        </p:nvSpPr>
        <p:spPr>
          <a:xfrm>
            <a:off x="3436937" y="5334000"/>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a:t>
            </a:r>
            <a:r>
              <a:rPr b="1" i="0" lang="en-US" sz="1200" u="none">
                <a:solidFill>
                  <a:srgbClr val="008000"/>
                </a:solidFill>
                <a:latin typeface="Arial"/>
                <a:ea typeface="Arial"/>
                <a:cs typeface="Arial"/>
                <a:sym typeface="Arial"/>
              </a:rPr>
              <a:t>i</a:t>
            </a:r>
            <a:r>
              <a:rPr b="1" baseline="-25000" i="0" lang="en-US" sz="1200" u="none">
                <a:solidFill>
                  <a:srgbClr val="008000"/>
                </a:solidFill>
                <a:latin typeface="Arial"/>
                <a:ea typeface="Arial"/>
                <a:cs typeface="Arial"/>
                <a:sym typeface="Arial"/>
              </a:rPr>
              <a:t>B</a:t>
            </a:r>
          </a:p>
        </p:txBody>
      </p:sp>
      <p:sp>
        <p:nvSpPr>
          <p:cNvPr id="667" name="Shape 667"/>
          <p:cNvSpPr/>
          <p:nvPr/>
        </p:nvSpPr>
        <p:spPr>
          <a:xfrm>
            <a:off x="3505200" y="3733800"/>
            <a:ext cx="5105399" cy="2087562"/>
          </a:xfrm>
          <a:custGeom>
            <a:pathLst>
              <a:path extrusionOk="0" h="120000" w="120000">
                <a:moveTo>
                  <a:pt x="0" y="35589"/>
                </a:moveTo>
                <a:lnTo>
                  <a:pt x="0" y="17520"/>
                </a:lnTo>
                <a:lnTo>
                  <a:pt x="0" y="1095"/>
                </a:lnTo>
                <a:lnTo>
                  <a:pt x="120000" y="0"/>
                </a:lnTo>
                <a:lnTo>
                  <a:pt x="120000" y="120000"/>
                </a:lnTo>
                <a:lnTo>
                  <a:pt x="113768" y="120000"/>
                </a:lnTo>
                <a:lnTo>
                  <a:pt x="93395" y="116349"/>
                </a:lnTo>
                <a:lnTo>
                  <a:pt x="73432" y="109505"/>
                </a:lnTo>
                <a:lnTo>
                  <a:pt x="57985" y="104030"/>
                </a:lnTo>
                <a:lnTo>
                  <a:pt x="44104" y="95269"/>
                </a:lnTo>
                <a:lnTo>
                  <a:pt x="32238" y="86509"/>
                </a:lnTo>
                <a:lnTo>
                  <a:pt x="21716" y="76106"/>
                </a:lnTo>
                <a:lnTo>
                  <a:pt x="12537" y="62965"/>
                </a:lnTo>
                <a:lnTo>
                  <a:pt x="8059" y="55300"/>
                </a:lnTo>
                <a:lnTo>
                  <a:pt x="4477" y="46539"/>
                </a:lnTo>
                <a:lnTo>
                  <a:pt x="0" y="35589"/>
                </a:lnTo>
                <a:close/>
              </a:path>
            </a:pathLst>
          </a:custGeom>
          <a:solidFill>
            <a:schemeClr val="accent1">
              <a:alpha val="53725"/>
            </a:schemeClr>
          </a:solid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668" name="Shape 668"/>
          <p:cNvSpPr/>
          <p:nvPr/>
        </p:nvSpPr>
        <p:spPr>
          <a:xfrm>
            <a:off x="3359150" y="4308475"/>
            <a:ext cx="5327649" cy="2092324"/>
          </a:xfrm>
          <a:custGeom>
            <a:pathLst>
              <a:path extrusionOk="0" h="120000" w="120000">
                <a:moveTo>
                  <a:pt x="10333" y="119453"/>
                </a:moveTo>
                <a:cubicBezTo>
                  <a:pt x="0" y="118907"/>
                  <a:pt x="5113" y="118270"/>
                  <a:pt x="3969" y="116084"/>
                </a:cubicBezTo>
                <a:cubicBezTo>
                  <a:pt x="2860" y="113990"/>
                  <a:pt x="3718" y="112078"/>
                  <a:pt x="3575" y="106707"/>
                </a:cubicBezTo>
                <a:cubicBezTo>
                  <a:pt x="3432" y="101244"/>
                  <a:pt x="3182" y="93960"/>
                  <a:pt x="3146" y="83490"/>
                </a:cubicBezTo>
                <a:cubicBezTo>
                  <a:pt x="3110" y="73110"/>
                  <a:pt x="3361" y="54537"/>
                  <a:pt x="3396" y="43975"/>
                </a:cubicBezTo>
                <a:cubicBezTo>
                  <a:pt x="3396" y="33414"/>
                  <a:pt x="3396" y="27314"/>
                  <a:pt x="3396" y="20212"/>
                </a:cubicBezTo>
                <a:cubicBezTo>
                  <a:pt x="3396" y="13110"/>
                  <a:pt x="2824" y="2913"/>
                  <a:pt x="3432" y="1456"/>
                </a:cubicBezTo>
                <a:cubicBezTo>
                  <a:pt x="4040" y="0"/>
                  <a:pt x="5613" y="7465"/>
                  <a:pt x="7079" y="11289"/>
                </a:cubicBezTo>
                <a:cubicBezTo>
                  <a:pt x="8545" y="15113"/>
                  <a:pt x="10119" y="20212"/>
                  <a:pt x="12228" y="24400"/>
                </a:cubicBezTo>
                <a:cubicBezTo>
                  <a:pt x="14338" y="28588"/>
                  <a:pt x="16662" y="32594"/>
                  <a:pt x="19737" y="36418"/>
                </a:cubicBezTo>
                <a:cubicBezTo>
                  <a:pt x="22812" y="40242"/>
                  <a:pt x="27818" y="44522"/>
                  <a:pt x="30679" y="47344"/>
                </a:cubicBezTo>
                <a:cubicBezTo>
                  <a:pt x="33539" y="50166"/>
                  <a:pt x="34112" y="50804"/>
                  <a:pt x="36901" y="53353"/>
                </a:cubicBezTo>
                <a:cubicBezTo>
                  <a:pt x="39690" y="55902"/>
                  <a:pt x="44052" y="60091"/>
                  <a:pt x="47413" y="62640"/>
                </a:cubicBezTo>
                <a:cubicBezTo>
                  <a:pt x="50774" y="65189"/>
                  <a:pt x="52526" y="66373"/>
                  <a:pt x="57067" y="68649"/>
                </a:cubicBezTo>
                <a:cubicBezTo>
                  <a:pt x="61609" y="70925"/>
                  <a:pt x="67079" y="73474"/>
                  <a:pt x="74660" y="76297"/>
                </a:cubicBezTo>
                <a:cubicBezTo>
                  <a:pt x="82240" y="79119"/>
                  <a:pt x="95399" y="83672"/>
                  <a:pt x="102550" y="85584"/>
                </a:cubicBezTo>
                <a:cubicBezTo>
                  <a:pt x="109702" y="87496"/>
                  <a:pt x="115137" y="84582"/>
                  <a:pt x="117568" y="87769"/>
                </a:cubicBezTo>
                <a:cubicBezTo>
                  <a:pt x="120000" y="90955"/>
                  <a:pt x="117783" y="99969"/>
                  <a:pt x="117139" y="104704"/>
                </a:cubicBezTo>
                <a:cubicBezTo>
                  <a:pt x="116495" y="109438"/>
                  <a:pt x="115065" y="113717"/>
                  <a:pt x="113706" y="116176"/>
                </a:cubicBezTo>
                <a:cubicBezTo>
                  <a:pt x="112348" y="118634"/>
                  <a:pt x="113420" y="118998"/>
                  <a:pt x="108915" y="119453"/>
                </a:cubicBezTo>
                <a:cubicBezTo>
                  <a:pt x="104410" y="119908"/>
                  <a:pt x="93825" y="119089"/>
                  <a:pt x="86674" y="119089"/>
                </a:cubicBezTo>
                <a:cubicBezTo>
                  <a:pt x="79523" y="119089"/>
                  <a:pt x="78700" y="119453"/>
                  <a:pt x="66007" y="119453"/>
                </a:cubicBezTo>
                <a:cubicBezTo>
                  <a:pt x="53277" y="119544"/>
                  <a:pt x="20524" y="120000"/>
                  <a:pt x="10333" y="119453"/>
                </a:cubicBezTo>
                <a:close/>
              </a:path>
            </a:pathLst>
          </a:custGeom>
          <a:solidFill>
            <a:srgbClr val="FF0000">
              <a:alpha val="31764"/>
            </a:srgbClr>
          </a:solid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669" name="Shape 669"/>
          <p:cNvSpPr txBox="1"/>
          <p:nvPr/>
        </p:nvSpPr>
        <p:spPr>
          <a:xfrm>
            <a:off x="6553200" y="3962400"/>
            <a:ext cx="1752600" cy="4190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600" u="none">
                <a:solidFill>
                  <a:schemeClr val="hlink"/>
                </a:solidFill>
                <a:latin typeface="Arial"/>
                <a:ea typeface="Arial"/>
                <a:cs typeface="Arial"/>
                <a:sym typeface="Arial"/>
              </a:rPr>
              <a:t>Exceso de oferta</a:t>
            </a:r>
          </a:p>
        </p:txBody>
      </p:sp>
      <p:sp>
        <p:nvSpPr>
          <p:cNvPr id="670" name="Shape 670"/>
          <p:cNvSpPr txBox="1"/>
          <p:nvPr/>
        </p:nvSpPr>
        <p:spPr>
          <a:xfrm>
            <a:off x="4449762" y="5810250"/>
            <a:ext cx="2332036" cy="36195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61235"/>
              </a:buClr>
              <a:buSzPct val="25000"/>
              <a:buFont typeface="Arial"/>
              <a:buNone/>
            </a:pPr>
            <a:r>
              <a:rPr b="1" i="0" lang="en-US" sz="1600" u="none">
                <a:solidFill>
                  <a:srgbClr val="E61235"/>
                </a:solidFill>
                <a:latin typeface="Arial"/>
                <a:ea typeface="Arial"/>
                <a:cs typeface="Arial"/>
                <a:sym typeface="Arial"/>
              </a:rPr>
              <a:t>Exceso de demanda</a:t>
            </a:r>
          </a:p>
        </p:txBody>
      </p:sp>
    </p:spTree>
  </p:cSld>
  <p:clrMapOvr>
    <a:masterClrMapping/>
  </p:clrMapOvr>
  <p:transition spd="slow">
    <p:cut/>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674" name="Shape 674"/>
        <p:cNvGrpSpPr/>
        <p:nvPr/>
      </p:nvGrpSpPr>
      <p:grpSpPr>
        <a:xfrm>
          <a:off x="0" y="0"/>
          <a:ext cx="0" cy="0"/>
          <a:chOff x="0" y="0"/>
          <a:chExt cx="0" cy="0"/>
        </a:xfrm>
      </p:grpSpPr>
      <p:sp>
        <p:nvSpPr>
          <p:cNvPr id="675" name="Shape 675"/>
          <p:cNvSpPr/>
          <p:nvPr/>
        </p:nvSpPr>
        <p:spPr>
          <a:xfrm>
            <a:off x="1752600" y="1447800"/>
            <a:ext cx="5867400" cy="4038599"/>
          </a:xfrm>
          <a:custGeom>
            <a:pathLst>
              <a:path extrusionOk="0" h="120000" w="120000">
                <a:moveTo>
                  <a:pt x="0" y="45283"/>
                </a:moveTo>
                <a:lnTo>
                  <a:pt x="0" y="18113"/>
                </a:lnTo>
                <a:lnTo>
                  <a:pt x="0" y="0"/>
                </a:lnTo>
                <a:lnTo>
                  <a:pt x="119999" y="0"/>
                </a:lnTo>
                <a:lnTo>
                  <a:pt x="119999" y="120000"/>
                </a:lnTo>
                <a:lnTo>
                  <a:pt x="113766" y="120000"/>
                </a:lnTo>
                <a:lnTo>
                  <a:pt x="93311" y="116320"/>
                </a:lnTo>
                <a:lnTo>
                  <a:pt x="73636" y="111509"/>
                </a:lnTo>
                <a:lnTo>
                  <a:pt x="57662" y="105283"/>
                </a:lnTo>
                <a:lnTo>
                  <a:pt x="43636" y="97358"/>
                </a:lnTo>
                <a:lnTo>
                  <a:pt x="31558" y="88584"/>
                </a:lnTo>
                <a:lnTo>
                  <a:pt x="18701" y="76981"/>
                </a:lnTo>
                <a:lnTo>
                  <a:pt x="10129" y="65660"/>
                </a:lnTo>
                <a:lnTo>
                  <a:pt x="5454" y="58584"/>
                </a:lnTo>
                <a:lnTo>
                  <a:pt x="2532" y="52358"/>
                </a:lnTo>
                <a:lnTo>
                  <a:pt x="0" y="45283"/>
                </a:lnTo>
                <a:close/>
              </a:path>
            </a:pathLst>
          </a:custGeom>
          <a:solidFill>
            <a:schemeClr val="accent1">
              <a:alpha val="53725"/>
            </a:schemeClr>
          </a:solid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pic>
        <p:nvPicPr>
          <p:cNvPr id="676" name="Shape 676"/>
          <p:cNvPicPr preferRelativeResize="0"/>
          <p:nvPr/>
        </p:nvPicPr>
        <p:blipFill rotWithShape="1">
          <a:blip r:embed="rId3">
            <a:alphaModFix/>
          </a:blip>
          <a:srcRect b="0" l="0" r="0" t="0"/>
          <a:stretch/>
        </p:blipFill>
        <p:spPr>
          <a:xfrm>
            <a:off x="263525" y="914400"/>
            <a:ext cx="8610599" cy="209549"/>
          </a:xfrm>
          <a:prstGeom prst="rect">
            <a:avLst/>
          </a:prstGeom>
          <a:noFill/>
          <a:ln>
            <a:noFill/>
          </a:ln>
        </p:spPr>
      </p:pic>
      <p:pic>
        <p:nvPicPr>
          <p:cNvPr id="677" name="Shape 677"/>
          <p:cNvPicPr preferRelativeResize="0"/>
          <p:nvPr/>
        </p:nvPicPr>
        <p:blipFill rotWithShape="1">
          <a:blip r:embed="rId4">
            <a:alphaModFix/>
          </a:blip>
          <a:srcRect b="0" l="0" r="0" t="0"/>
          <a:stretch/>
        </p:blipFill>
        <p:spPr>
          <a:xfrm>
            <a:off x="0" y="230187"/>
            <a:ext cx="3013074" cy="608011"/>
          </a:xfrm>
          <a:prstGeom prst="rect">
            <a:avLst/>
          </a:prstGeom>
          <a:noFill/>
          <a:ln>
            <a:noFill/>
          </a:ln>
        </p:spPr>
      </p:pic>
      <p:sp>
        <p:nvSpPr>
          <p:cNvPr id="678" name="Shape 678"/>
          <p:cNvSpPr txBox="1"/>
          <p:nvPr/>
        </p:nvSpPr>
        <p:spPr>
          <a:xfrm>
            <a:off x="2590800" y="0"/>
            <a:ext cx="6469061" cy="94615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a:solidFill>
                  <a:srgbClr val="BB4F59"/>
                </a:solidFill>
                <a:latin typeface="Arial"/>
                <a:ea typeface="Arial"/>
                <a:cs typeface="Arial"/>
                <a:sym typeface="Arial"/>
              </a:rPr>
              <a:t>EXCESO DE OFERTA AGREGADA</a:t>
            </a:r>
          </a:p>
          <a:p>
            <a:pPr indent="0" lvl="0" marL="0" marR="0" rtl="0" algn="l">
              <a:lnSpc>
                <a:spcPct val="100000"/>
              </a:lnSpc>
              <a:spcBef>
                <a:spcPts val="0"/>
              </a:spcBef>
              <a:spcAft>
                <a:spcPts val="0"/>
              </a:spcAft>
              <a:buNone/>
            </a:pPr>
            <a:r>
              <a:t/>
            </a:r>
            <a:endParaRPr b="1" i="0" sz="2800" u="none">
              <a:solidFill>
                <a:srgbClr val="BB4F59"/>
              </a:solidFill>
              <a:latin typeface="Arial"/>
              <a:ea typeface="Arial"/>
              <a:cs typeface="Arial"/>
              <a:sym typeface="Arial"/>
            </a:endParaRPr>
          </a:p>
        </p:txBody>
      </p:sp>
      <p:sp>
        <p:nvSpPr>
          <p:cNvPr id="679" name="Shape 679"/>
          <p:cNvSpPr txBox="1"/>
          <p:nvPr/>
        </p:nvSpPr>
        <p:spPr>
          <a:xfrm>
            <a:off x="304800" y="1524000"/>
            <a:ext cx="8610599" cy="5035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680" name="Shape 680"/>
          <p:cNvCxnSpPr/>
          <p:nvPr/>
        </p:nvCxnSpPr>
        <p:spPr>
          <a:xfrm rot="10800000">
            <a:off x="1752600" y="1262061"/>
            <a:ext cx="0" cy="5400675"/>
          </a:xfrm>
          <a:prstGeom prst="straightConnector1">
            <a:avLst/>
          </a:prstGeom>
          <a:noFill/>
          <a:ln cap="flat" cmpd="sng" w="9525">
            <a:solidFill>
              <a:srgbClr val="FF0000"/>
            </a:solidFill>
            <a:prstDash val="solid"/>
            <a:miter/>
            <a:headEnd len="med" w="med" type="none"/>
            <a:tailEnd len="lg" w="lg" type="triangle"/>
          </a:ln>
        </p:spPr>
      </p:cxnSp>
      <p:sp>
        <p:nvSpPr>
          <p:cNvPr id="681" name="Shape 681"/>
          <p:cNvSpPr txBox="1"/>
          <p:nvPr/>
        </p:nvSpPr>
        <p:spPr>
          <a:xfrm>
            <a:off x="5037137" y="6324600"/>
            <a:ext cx="449262"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hlink"/>
              </a:buClr>
              <a:buSzPct val="25000"/>
              <a:buFont typeface="Arial"/>
              <a:buNone/>
            </a:pPr>
            <a:r>
              <a:rPr b="0" i="0" lang="en-US" sz="1400" u="none">
                <a:solidFill>
                  <a:schemeClr val="hlink"/>
                </a:solidFill>
                <a:latin typeface="Arial"/>
                <a:ea typeface="Arial"/>
                <a:cs typeface="Arial"/>
                <a:sym typeface="Arial"/>
              </a:rPr>
              <a:t> </a:t>
            </a:r>
            <a:r>
              <a:rPr b="1" i="0" lang="en-US" sz="1200" u="none">
                <a:solidFill>
                  <a:schemeClr val="hlink"/>
                </a:solidFill>
                <a:latin typeface="Arial"/>
                <a:ea typeface="Arial"/>
                <a:cs typeface="Arial"/>
                <a:sym typeface="Arial"/>
              </a:rPr>
              <a:t>Y</a:t>
            </a:r>
            <a:r>
              <a:rPr b="1" baseline="-25000" i="0" lang="en-US" sz="1200" u="none">
                <a:solidFill>
                  <a:schemeClr val="hlink"/>
                </a:solidFill>
                <a:latin typeface="Arial"/>
                <a:ea typeface="Arial"/>
                <a:cs typeface="Arial"/>
                <a:sym typeface="Arial"/>
              </a:rPr>
              <a:t>A</a:t>
            </a:r>
          </a:p>
        </p:txBody>
      </p:sp>
      <p:sp>
        <p:nvSpPr>
          <p:cNvPr id="682" name="Shape 682"/>
          <p:cNvSpPr txBox="1"/>
          <p:nvPr/>
        </p:nvSpPr>
        <p:spPr>
          <a:xfrm>
            <a:off x="1828800" y="1295400"/>
            <a:ext cx="76199" cy="487361"/>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i</a:t>
            </a:r>
          </a:p>
        </p:txBody>
      </p:sp>
      <p:sp>
        <p:nvSpPr>
          <p:cNvPr id="683" name="Shape 683"/>
          <p:cNvSpPr txBox="1"/>
          <p:nvPr/>
        </p:nvSpPr>
        <p:spPr>
          <a:xfrm>
            <a:off x="1447800" y="3962400"/>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a:t>
            </a:r>
            <a:r>
              <a:rPr b="1" i="0" lang="en-US" sz="1200" u="none">
                <a:solidFill>
                  <a:schemeClr val="hlink"/>
                </a:solidFill>
                <a:latin typeface="Arial"/>
                <a:ea typeface="Arial"/>
                <a:cs typeface="Arial"/>
                <a:sym typeface="Arial"/>
              </a:rPr>
              <a:t>i</a:t>
            </a:r>
            <a:r>
              <a:rPr b="1" baseline="-25000" i="0" lang="en-US" sz="1200" u="none">
                <a:solidFill>
                  <a:schemeClr val="hlink"/>
                </a:solidFill>
                <a:latin typeface="Arial"/>
                <a:ea typeface="Arial"/>
                <a:cs typeface="Arial"/>
                <a:sym typeface="Arial"/>
              </a:rPr>
              <a:t>A</a:t>
            </a:r>
          </a:p>
        </p:txBody>
      </p:sp>
      <p:cxnSp>
        <p:nvCxnSpPr>
          <p:cNvPr id="684" name="Shape 684"/>
          <p:cNvCxnSpPr/>
          <p:nvPr/>
        </p:nvCxnSpPr>
        <p:spPr>
          <a:xfrm>
            <a:off x="1752600" y="6400800"/>
            <a:ext cx="6324600" cy="0"/>
          </a:xfrm>
          <a:prstGeom prst="straightConnector1">
            <a:avLst/>
          </a:prstGeom>
          <a:noFill/>
          <a:ln cap="flat" cmpd="sng" w="9525">
            <a:solidFill>
              <a:srgbClr val="FF0000"/>
            </a:solidFill>
            <a:prstDash val="solid"/>
            <a:miter/>
            <a:headEnd len="med" w="med" type="none"/>
            <a:tailEnd len="lg" w="lg" type="triangle"/>
          </a:ln>
        </p:spPr>
      </p:cxnSp>
      <p:sp>
        <p:nvSpPr>
          <p:cNvPr id="685" name="Shape 685"/>
          <p:cNvSpPr/>
          <p:nvPr/>
        </p:nvSpPr>
        <p:spPr>
          <a:xfrm>
            <a:off x="1752600" y="2971800"/>
            <a:ext cx="5676900" cy="2533650"/>
          </a:xfrm>
          <a:custGeom>
            <a:pathLst>
              <a:path extrusionOk="0" h="120000" w="120000">
                <a:moveTo>
                  <a:pt x="0" y="0"/>
                </a:moveTo>
                <a:cubicBezTo>
                  <a:pt x="838" y="3082"/>
                  <a:pt x="2214" y="11052"/>
                  <a:pt x="5033" y="18496"/>
                </a:cubicBezTo>
                <a:cubicBezTo>
                  <a:pt x="7852" y="25939"/>
                  <a:pt x="11442" y="35112"/>
                  <a:pt x="16912" y="44511"/>
                </a:cubicBezTo>
                <a:cubicBezTo>
                  <a:pt x="22382" y="53909"/>
                  <a:pt x="30637" y="66390"/>
                  <a:pt x="37852" y="74887"/>
                </a:cubicBezTo>
                <a:cubicBezTo>
                  <a:pt x="45067" y="83383"/>
                  <a:pt x="53087" y="90300"/>
                  <a:pt x="60201" y="95639"/>
                </a:cubicBezTo>
                <a:cubicBezTo>
                  <a:pt x="67315" y="100977"/>
                  <a:pt x="74093" y="103909"/>
                  <a:pt x="80536" y="106917"/>
                </a:cubicBezTo>
                <a:cubicBezTo>
                  <a:pt x="86979" y="109924"/>
                  <a:pt x="92281" y="111503"/>
                  <a:pt x="98859" y="113684"/>
                </a:cubicBezTo>
                <a:cubicBezTo>
                  <a:pt x="105436" y="115864"/>
                  <a:pt x="115604" y="118721"/>
                  <a:pt x="120000" y="119999"/>
                </a:cubicBezTo>
              </a:path>
            </a:pathLst>
          </a:custGeom>
          <a:noFill/>
          <a:ln cap="flat" cmpd="sng" w="25400">
            <a:solidFill>
              <a:srgbClr val="FF0000"/>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686" name="Shape 686"/>
          <p:cNvSpPr txBox="1"/>
          <p:nvPr/>
        </p:nvSpPr>
        <p:spPr>
          <a:xfrm>
            <a:off x="7010400" y="5943600"/>
            <a:ext cx="1371599" cy="533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Renta (Y)</a:t>
            </a:r>
          </a:p>
        </p:txBody>
      </p:sp>
      <p:sp>
        <p:nvSpPr>
          <p:cNvPr id="687" name="Shape 687"/>
          <p:cNvSpPr txBox="1"/>
          <p:nvPr/>
        </p:nvSpPr>
        <p:spPr>
          <a:xfrm>
            <a:off x="3306762" y="1447800"/>
            <a:ext cx="2332036" cy="9064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61235"/>
              </a:buClr>
              <a:buSzPct val="25000"/>
              <a:buFont typeface="Arial"/>
              <a:buNone/>
            </a:pPr>
            <a:r>
              <a:rPr b="1" i="0" lang="en-US" sz="2400" u="none">
                <a:solidFill>
                  <a:srgbClr val="E61235"/>
                </a:solidFill>
                <a:latin typeface="Arial"/>
                <a:ea typeface="Arial"/>
                <a:cs typeface="Arial"/>
                <a:sym typeface="Arial"/>
              </a:rPr>
              <a:t>Curva IS</a:t>
            </a:r>
          </a:p>
        </p:txBody>
      </p:sp>
      <p:cxnSp>
        <p:nvCxnSpPr>
          <p:cNvPr id="688" name="Shape 688"/>
          <p:cNvCxnSpPr/>
          <p:nvPr/>
        </p:nvCxnSpPr>
        <p:spPr>
          <a:xfrm>
            <a:off x="1752600" y="4106862"/>
            <a:ext cx="3505200" cy="0"/>
          </a:xfrm>
          <a:prstGeom prst="straightConnector1">
            <a:avLst/>
          </a:prstGeom>
          <a:noFill/>
          <a:ln cap="flat" cmpd="sng" w="9525">
            <a:solidFill>
              <a:schemeClr val="dk1"/>
            </a:solidFill>
            <a:prstDash val="solid"/>
            <a:miter/>
            <a:headEnd len="med" w="med" type="none"/>
            <a:tailEnd len="med" w="med" type="none"/>
          </a:ln>
        </p:spPr>
      </p:cxnSp>
      <p:cxnSp>
        <p:nvCxnSpPr>
          <p:cNvPr id="689" name="Shape 689"/>
          <p:cNvCxnSpPr/>
          <p:nvPr/>
        </p:nvCxnSpPr>
        <p:spPr>
          <a:xfrm>
            <a:off x="5257800" y="4106862"/>
            <a:ext cx="0" cy="2293937"/>
          </a:xfrm>
          <a:prstGeom prst="straightConnector1">
            <a:avLst/>
          </a:prstGeom>
          <a:noFill/>
          <a:ln cap="flat" cmpd="sng" w="9525">
            <a:solidFill>
              <a:schemeClr val="dk1"/>
            </a:solidFill>
            <a:prstDash val="solid"/>
            <a:miter/>
            <a:headEnd len="med" w="med" type="oval"/>
            <a:tailEnd len="med" w="med" type="none"/>
          </a:ln>
        </p:spPr>
      </p:cxnSp>
      <p:sp>
        <p:nvSpPr>
          <p:cNvPr id="690" name="Shape 690"/>
          <p:cNvSpPr txBox="1"/>
          <p:nvPr/>
        </p:nvSpPr>
        <p:spPr>
          <a:xfrm>
            <a:off x="5189537" y="3962400"/>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a:t>
            </a:r>
            <a:r>
              <a:rPr b="1" i="0" lang="en-US" sz="1200" u="none">
                <a:solidFill>
                  <a:schemeClr val="hlink"/>
                </a:solidFill>
                <a:latin typeface="Arial"/>
                <a:ea typeface="Arial"/>
                <a:cs typeface="Arial"/>
                <a:sym typeface="Arial"/>
              </a:rPr>
              <a:t>A</a:t>
            </a:r>
          </a:p>
        </p:txBody>
      </p:sp>
      <p:sp>
        <p:nvSpPr>
          <p:cNvPr id="691" name="Shape 691"/>
          <p:cNvSpPr/>
          <p:nvPr/>
        </p:nvSpPr>
        <p:spPr>
          <a:xfrm>
            <a:off x="3657600" y="3857625"/>
            <a:ext cx="976312" cy="485775"/>
          </a:xfrm>
          <a:prstGeom prst="leftArrow">
            <a:avLst>
              <a:gd fmla="val 50000" name="adj1"/>
              <a:gd fmla="val 50000"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692" name="Shape 692"/>
          <p:cNvCxnSpPr/>
          <p:nvPr/>
        </p:nvCxnSpPr>
        <p:spPr>
          <a:xfrm>
            <a:off x="2819400" y="4106862"/>
            <a:ext cx="0" cy="2293937"/>
          </a:xfrm>
          <a:prstGeom prst="straightConnector1">
            <a:avLst/>
          </a:prstGeom>
          <a:noFill/>
          <a:ln cap="flat" cmpd="sng" w="9525">
            <a:solidFill>
              <a:schemeClr val="dk1"/>
            </a:solidFill>
            <a:prstDash val="solid"/>
            <a:miter/>
            <a:headEnd len="med" w="med" type="oval"/>
            <a:tailEnd len="med" w="med" type="none"/>
          </a:ln>
        </p:spPr>
      </p:cxnSp>
      <p:sp>
        <p:nvSpPr>
          <p:cNvPr id="693" name="Shape 693"/>
          <p:cNvSpPr txBox="1"/>
          <p:nvPr/>
        </p:nvSpPr>
        <p:spPr>
          <a:xfrm>
            <a:off x="2674936" y="6354762"/>
            <a:ext cx="5254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hlink"/>
              </a:buClr>
              <a:buSzPct val="25000"/>
              <a:buFont typeface="Arial"/>
              <a:buNone/>
            </a:pPr>
            <a:r>
              <a:rPr b="1" i="0" lang="en-US" sz="1200" u="none">
                <a:solidFill>
                  <a:schemeClr val="hlink"/>
                </a:solidFill>
                <a:latin typeface="Arial"/>
                <a:ea typeface="Arial"/>
                <a:cs typeface="Arial"/>
                <a:sym typeface="Arial"/>
              </a:rPr>
              <a:t>Y´´</a:t>
            </a:r>
            <a:r>
              <a:rPr b="1" baseline="-25000" i="0" lang="en-US" sz="1200" u="none">
                <a:solidFill>
                  <a:schemeClr val="hlink"/>
                </a:solidFill>
                <a:latin typeface="Arial"/>
                <a:ea typeface="Arial"/>
                <a:cs typeface="Arial"/>
                <a:sym typeface="Arial"/>
              </a:rPr>
              <a:t>A</a:t>
            </a:r>
          </a:p>
        </p:txBody>
      </p:sp>
      <p:sp>
        <p:nvSpPr>
          <p:cNvPr id="694" name="Shape 694"/>
          <p:cNvSpPr txBox="1"/>
          <p:nvPr/>
        </p:nvSpPr>
        <p:spPr>
          <a:xfrm>
            <a:off x="2667000" y="3810000"/>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hlink"/>
              </a:buClr>
              <a:buSzPct val="25000"/>
              <a:buFont typeface="Arial"/>
              <a:buNone/>
            </a:pPr>
            <a:r>
              <a:rPr b="1" i="0" lang="en-US" sz="1200" u="none">
                <a:solidFill>
                  <a:schemeClr val="hlink"/>
                </a:solidFill>
                <a:latin typeface="Arial"/>
                <a:ea typeface="Arial"/>
                <a:cs typeface="Arial"/>
                <a:sym typeface="Arial"/>
              </a:rPr>
              <a:t> A´´</a:t>
            </a:r>
          </a:p>
        </p:txBody>
      </p:sp>
      <p:sp>
        <p:nvSpPr>
          <p:cNvPr id="695" name="Shape 695"/>
          <p:cNvSpPr/>
          <p:nvPr/>
        </p:nvSpPr>
        <p:spPr>
          <a:xfrm>
            <a:off x="5029200" y="4343400"/>
            <a:ext cx="485775" cy="609599"/>
          </a:xfrm>
          <a:prstGeom prst="downArrow">
            <a:avLst>
              <a:gd fmla="val 50000" name="adj1"/>
              <a:gd fmla="val 50000"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696" name="Shape 696"/>
          <p:cNvCxnSpPr/>
          <p:nvPr/>
        </p:nvCxnSpPr>
        <p:spPr>
          <a:xfrm>
            <a:off x="1752600" y="5181600"/>
            <a:ext cx="3505200" cy="0"/>
          </a:xfrm>
          <a:prstGeom prst="straightConnector1">
            <a:avLst/>
          </a:prstGeom>
          <a:noFill/>
          <a:ln cap="flat" cmpd="sng" w="9525">
            <a:solidFill>
              <a:schemeClr val="dk1"/>
            </a:solidFill>
            <a:prstDash val="solid"/>
            <a:miter/>
            <a:headEnd len="med" w="med" type="none"/>
            <a:tailEnd len="med" w="med" type="none"/>
          </a:ln>
        </p:spPr>
      </p:cxnSp>
      <p:sp>
        <p:nvSpPr>
          <p:cNvPr id="697" name="Shape 697"/>
          <p:cNvSpPr txBox="1"/>
          <p:nvPr/>
        </p:nvSpPr>
        <p:spPr>
          <a:xfrm>
            <a:off x="1379537" y="5029200"/>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hlink"/>
              </a:buClr>
              <a:buSzPct val="25000"/>
              <a:buFont typeface="Arial"/>
              <a:buNone/>
            </a:pPr>
            <a:r>
              <a:rPr b="1" i="0" lang="en-US" sz="1200" u="none">
                <a:solidFill>
                  <a:schemeClr val="hlink"/>
                </a:solidFill>
                <a:latin typeface="Arial"/>
                <a:ea typeface="Arial"/>
                <a:cs typeface="Arial"/>
                <a:sym typeface="Arial"/>
              </a:rPr>
              <a:t> i´</a:t>
            </a:r>
            <a:r>
              <a:rPr b="1" baseline="-25000" i="0" lang="en-US" sz="1200" u="none">
                <a:solidFill>
                  <a:schemeClr val="hlink"/>
                </a:solidFill>
                <a:latin typeface="Arial"/>
                <a:ea typeface="Arial"/>
                <a:cs typeface="Arial"/>
                <a:sym typeface="Arial"/>
              </a:rPr>
              <a:t>A</a:t>
            </a:r>
          </a:p>
        </p:txBody>
      </p:sp>
      <p:sp>
        <p:nvSpPr>
          <p:cNvPr id="698" name="Shape 698"/>
          <p:cNvSpPr txBox="1"/>
          <p:nvPr/>
        </p:nvSpPr>
        <p:spPr>
          <a:xfrm>
            <a:off x="3429000" y="2514600"/>
            <a:ext cx="4052886" cy="14985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2400" u="none">
                <a:solidFill>
                  <a:schemeClr val="hlink"/>
                </a:solidFill>
                <a:latin typeface="Arial"/>
                <a:ea typeface="Arial"/>
                <a:cs typeface="Arial"/>
                <a:sym typeface="Arial"/>
              </a:rPr>
              <a:t>Exceso de oferta agregada</a:t>
            </a:r>
          </a:p>
        </p:txBody>
      </p:sp>
      <p:sp>
        <p:nvSpPr>
          <p:cNvPr id="699" name="Shape 699"/>
          <p:cNvSpPr txBox="1"/>
          <p:nvPr/>
        </p:nvSpPr>
        <p:spPr>
          <a:xfrm>
            <a:off x="5265737" y="4983162"/>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a:t>
            </a:r>
            <a:r>
              <a:rPr b="1" i="0" lang="en-US" sz="1200" u="none">
                <a:solidFill>
                  <a:schemeClr val="hlink"/>
                </a:solidFill>
                <a:latin typeface="Arial"/>
                <a:ea typeface="Arial"/>
                <a:cs typeface="Arial"/>
                <a:sym typeface="Arial"/>
              </a:rPr>
              <a:t>A´</a:t>
            </a:r>
          </a:p>
        </p:txBody>
      </p:sp>
    </p:spTree>
  </p:cSld>
  <p:clrMapOvr>
    <a:masterClrMapping/>
  </p:clrMapOvr>
  <p:transition spd="slow">
    <p:cut/>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703" name="Shape 703"/>
        <p:cNvGrpSpPr/>
        <p:nvPr/>
      </p:nvGrpSpPr>
      <p:grpSpPr>
        <a:xfrm>
          <a:off x="0" y="0"/>
          <a:ext cx="0" cy="0"/>
          <a:chOff x="0" y="0"/>
          <a:chExt cx="0" cy="0"/>
        </a:xfrm>
      </p:grpSpPr>
      <p:sp>
        <p:nvSpPr>
          <p:cNvPr id="704" name="Shape 704"/>
          <p:cNvSpPr/>
          <p:nvPr/>
        </p:nvSpPr>
        <p:spPr>
          <a:xfrm>
            <a:off x="1590675" y="2898775"/>
            <a:ext cx="6003925" cy="3524249"/>
          </a:xfrm>
          <a:custGeom>
            <a:pathLst>
              <a:path extrusionOk="0" h="120000" w="120000">
                <a:moveTo>
                  <a:pt x="9899" y="119567"/>
                </a:moveTo>
                <a:cubicBezTo>
                  <a:pt x="0" y="119081"/>
                  <a:pt x="4886" y="118486"/>
                  <a:pt x="3807" y="116648"/>
                </a:cubicBezTo>
                <a:cubicBezTo>
                  <a:pt x="2728" y="114810"/>
                  <a:pt x="3553" y="113189"/>
                  <a:pt x="3426" y="108540"/>
                </a:cubicBezTo>
                <a:cubicBezTo>
                  <a:pt x="3299" y="103891"/>
                  <a:pt x="3046" y="97621"/>
                  <a:pt x="3014" y="88648"/>
                </a:cubicBezTo>
                <a:cubicBezTo>
                  <a:pt x="2982" y="79675"/>
                  <a:pt x="3204" y="63783"/>
                  <a:pt x="3236" y="54702"/>
                </a:cubicBezTo>
                <a:cubicBezTo>
                  <a:pt x="3268" y="45621"/>
                  <a:pt x="3204" y="42756"/>
                  <a:pt x="3236" y="34270"/>
                </a:cubicBezTo>
                <a:cubicBezTo>
                  <a:pt x="3268" y="25783"/>
                  <a:pt x="2919" y="7351"/>
                  <a:pt x="3426" y="3675"/>
                </a:cubicBezTo>
                <a:cubicBezTo>
                  <a:pt x="3934" y="0"/>
                  <a:pt x="4918" y="9189"/>
                  <a:pt x="6282" y="12216"/>
                </a:cubicBezTo>
                <a:cubicBezTo>
                  <a:pt x="7646" y="15243"/>
                  <a:pt x="9391" y="18054"/>
                  <a:pt x="11612" y="21837"/>
                </a:cubicBezTo>
                <a:cubicBezTo>
                  <a:pt x="13833" y="25621"/>
                  <a:pt x="16943" y="31297"/>
                  <a:pt x="19608" y="34918"/>
                </a:cubicBezTo>
                <a:cubicBezTo>
                  <a:pt x="22273" y="38540"/>
                  <a:pt x="25224" y="40918"/>
                  <a:pt x="27604" y="43567"/>
                </a:cubicBezTo>
                <a:cubicBezTo>
                  <a:pt x="29984" y="46216"/>
                  <a:pt x="31665" y="48378"/>
                  <a:pt x="33886" y="50702"/>
                </a:cubicBezTo>
                <a:cubicBezTo>
                  <a:pt x="36107" y="53027"/>
                  <a:pt x="37916" y="55027"/>
                  <a:pt x="40930" y="57621"/>
                </a:cubicBezTo>
                <a:cubicBezTo>
                  <a:pt x="43945" y="60216"/>
                  <a:pt x="47086" y="63351"/>
                  <a:pt x="51972" y="66378"/>
                </a:cubicBezTo>
                <a:cubicBezTo>
                  <a:pt x="56858" y="69405"/>
                  <a:pt x="62570" y="72540"/>
                  <a:pt x="70248" y="75675"/>
                </a:cubicBezTo>
                <a:cubicBezTo>
                  <a:pt x="77927" y="78810"/>
                  <a:pt x="90269" y="82810"/>
                  <a:pt x="98043" y="85189"/>
                </a:cubicBezTo>
                <a:cubicBezTo>
                  <a:pt x="105817" y="87567"/>
                  <a:pt x="113781" y="86864"/>
                  <a:pt x="116890" y="90054"/>
                </a:cubicBezTo>
                <a:cubicBezTo>
                  <a:pt x="120000" y="93243"/>
                  <a:pt x="117176" y="99675"/>
                  <a:pt x="116668" y="104216"/>
                </a:cubicBezTo>
                <a:cubicBezTo>
                  <a:pt x="116160" y="108756"/>
                  <a:pt x="115906" y="114756"/>
                  <a:pt x="113844" y="117297"/>
                </a:cubicBezTo>
                <a:cubicBezTo>
                  <a:pt x="111782" y="119837"/>
                  <a:pt x="109465" y="119243"/>
                  <a:pt x="104325" y="119567"/>
                </a:cubicBezTo>
                <a:cubicBezTo>
                  <a:pt x="99185" y="119891"/>
                  <a:pt x="89857" y="119243"/>
                  <a:pt x="83003" y="119243"/>
                </a:cubicBezTo>
                <a:cubicBezTo>
                  <a:pt x="76150" y="119243"/>
                  <a:pt x="75388" y="119513"/>
                  <a:pt x="63204" y="119567"/>
                </a:cubicBezTo>
                <a:cubicBezTo>
                  <a:pt x="51020" y="119621"/>
                  <a:pt x="19672" y="120000"/>
                  <a:pt x="9899" y="119567"/>
                </a:cubicBezTo>
                <a:close/>
              </a:path>
            </a:pathLst>
          </a:custGeom>
          <a:solidFill>
            <a:srgbClr val="FF0000">
              <a:alpha val="31764"/>
            </a:srgbClr>
          </a:solid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pic>
        <p:nvPicPr>
          <p:cNvPr id="705" name="Shape 705"/>
          <p:cNvPicPr preferRelativeResize="0"/>
          <p:nvPr/>
        </p:nvPicPr>
        <p:blipFill rotWithShape="1">
          <a:blip r:embed="rId3">
            <a:alphaModFix/>
          </a:blip>
          <a:srcRect b="0" l="0" r="0" t="0"/>
          <a:stretch/>
        </p:blipFill>
        <p:spPr>
          <a:xfrm>
            <a:off x="263525" y="914400"/>
            <a:ext cx="8610599" cy="209549"/>
          </a:xfrm>
          <a:prstGeom prst="rect">
            <a:avLst/>
          </a:prstGeom>
          <a:noFill/>
          <a:ln>
            <a:noFill/>
          </a:ln>
        </p:spPr>
      </p:pic>
      <p:pic>
        <p:nvPicPr>
          <p:cNvPr id="706" name="Shape 706"/>
          <p:cNvPicPr preferRelativeResize="0"/>
          <p:nvPr/>
        </p:nvPicPr>
        <p:blipFill rotWithShape="1">
          <a:blip r:embed="rId4">
            <a:alphaModFix/>
          </a:blip>
          <a:srcRect b="0" l="0" r="0" t="0"/>
          <a:stretch/>
        </p:blipFill>
        <p:spPr>
          <a:xfrm>
            <a:off x="0" y="106361"/>
            <a:ext cx="2497136" cy="503236"/>
          </a:xfrm>
          <a:prstGeom prst="rect">
            <a:avLst/>
          </a:prstGeom>
          <a:noFill/>
          <a:ln>
            <a:noFill/>
          </a:ln>
        </p:spPr>
      </p:pic>
      <p:sp>
        <p:nvSpPr>
          <p:cNvPr id="707" name="Shape 707"/>
          <p:cNvSpPr txBox="1"/>
          <p:nvPr/>
        </p:nvSpPr>
        <p:spPr>
          <a:xfrm>
            <a:off x="2438400" y="44450"/>
            <a:ext cx="6621462" cy="94615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a:solidFill>
                  <a:srgbClr val="BB4F59"/>
                </a:solidFill>
                <a:latin typeface="Arial"/>
                <a:ea typeface="Arial"/>
                <a:cs typeface="Arial"/>
                <a:sym typeface="Arial"/>
              </a:rPr>
              <a:t>EXCESO DE DEMANDA AGREGADA</a:t>
            </a:r>
          </a:p>
          <a:p>
            <a:pPr indent="0" lvl="0" marL="0" marR="0" rtl="0" algn="l">
              <a:lnSpc>
                <a:spcPct val="100000"/>
              </a:lnSpc>
              <a:spcBef>
                <a:spcPts val="0"/>
              </a:spcBef>
              <a:spcAft>
                <a:spcPts val="0"/>
              </a:spcAft>
              <a:buNone/>
            </a:pPr>
            <a:r>
              <a:t/>
            </a:r>
            <a:endParaRPr b="1" i="0" sz="2800" u="none">
              <a:solidFill>
                <a:srgbClr val="BB4F59"/>
              </a:solidFill>
              <a:latin typeface="Arial"/>
              <a:ea typeface="Arial"/>
              <a:cs typeface="Arial"/>
              <a:sym typeface="Arial"/>
            </a:endParaRPr>
          </a:p>
        </p:txBody>
      </p:sp>
      <p:sp>
        <p:nvSpPr>
          <p:cNvPr id="708" name="Shape 708"/>
          <p:cNvSpPr txBox="1"/>
          <p:nvPr/>
        </p:nvSpPr>
        <p:spPr>
          <a:xfrm>
            <a:off x="304800" y="1524000"/>
            <a:ext cx="8610599" cy="5035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709" name="Shape 709"/>
          <p:cNvCxnSpPr/>
          <p:nvPr/>
        </p:nvCxnSpPr>
        <p:spPr>
          <a:xfrm rot="10800000">
            <a:off x="1752600" y="1262061"/>
            <a:ext cx="0" cy="5400675"/>
          </a:xfrm>
          <a:prstGeom prst="straightConnector1">
            <a:avLst/>
          </a:prstGeom>
          <a:noFill/>
          <a:ln cap="flat" cmpd="sng" w="9525">
            <a:solidFill>
              <a:srgbClr val="FF0000"/>
            </a:solidFill>
            <a:prstDash val="solid"/>
            <a:miter/>
            <a:headEnd len="med" w="med" type="none"/>
            <a:tailEnd len="lg" w="lg" type="triangle"/>
          </a:ln>
        </p:spPr>
      </p:cxnSp>
      <p:sp>
        <p:nvSpPr>
          <p:cNvPr id="710" name="Shape 710"/>
          <p:cNvSpPr txBox="1"/>
          <p:nvPr/>
        </p:nvSpPr>
        <p:spPr>
          <a:xfrm>
            <a:off x="4419600" y="6324600"/>
            <a:ext cx="677861"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400" u="none">
                <a:solidFill>
                  <a:schemeClr val="dk1"/>
                </a:solidFill>
                <a:latin typeface="Arial"/>
                <a:ea typeface="Arial"/>
                <a:cs typeface="Arial"/>
                <a:sym typeface="Arial"/>
              </a:rPr>
              <a:t> </a:t>
            </a:r>
            <a:r>
              <a:rPr b="1" i="0" lang="en-US" sz="1200" u="none">
                <a:solidFill>
                  <a:srgbClr val="117A06"/>
                </a:solidFill>
                <a:latin typeface="Arial"/>
                <a:ea typeface="Arial"/>
                <a:cs typeface="Arial"/>
                <a:sym typeface="Arial"/>
              </a:rPr>
              <a:t>Y´´</a:t>
            </a:r>
            <a:r>
              <a:rPr b="1" baseline="-25000" i="0" lang="en-US" sz="1200" u="none">
                <a:solidFill>
                  <a:srgbClr val="117A06"/>
                </a:solidFill>
                <a:latin typeface="Arial"/>
                <a:ea typeface="Arial"/>
                <a:cs typeface="Arial"/>
                <a:sym typeface="Arial"/>
              </a:rPr>
              <a:t>B</a:t>
            </a:r>
          </a:p>
        </p:txBody>
      </p:sp>
      <p:sp>
        <p:nvSpPr>
          <p:cNvPr id="711" name="Shape 711"/>
          <p:cNvSpPr txBox="1"/>
          <p:nvPr/>
        </p:nvSpPr>
        <p:spPr>
          <a:xfrm>
            <a:off x="1828800" y="1295400"/>
            <a:ext cx="76199" cy="487361"/>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i</a:t>
            </a:r>
          </a:p>
        </p:txBody>
      </p:sp>
      <p:sp>
        <p:nvSpPr>
          <p:cNvPr id="712" name="Shape 712"/>
          <p:cNvSpPr txBox="1"/>
          <p:nvPr/>
        </p:nvSpPr>
        <p:spPr>
          <a:xfrm>
            <a:off x="1455737" y="4906962"/>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a:t>
            </a:r>
            <a:r>
              <a:rPr b="1" i="0" lang="en-US" sz="1200" u="none">
                <a:solidFill>
                  <a:srgbClr val="008000"/>
                </a:solidFill>
                <a:latin typeface="Arial"/>
                <a:ea typeface="Arial"/>
                <a:cs typeface="Arial"/>
                <a:sym typeface="Arial"/>
              </a:rPr>
              <a:t>i</a:t>
            </a:r>
            <a:r>
              <a:rPr b="1" baseline="-25000" i="0" lang="en-US" sz="1200" u="none">
                <a:solidFill>
                  <a:srgbClr val="008000"/>
                </a:solidFill>
                <a:latin typeface="Arial"/>
                <a:ea typeface="Arial"/>
                <a:cs typeface="Arial"/>
                <a:sym typeface="Arial"/>
              </a:rPr>
              <a:t>B</a:t>
            </a:r>
          </a:p>
        </p:txBody>
      </p:sp>
      <p:cxnSp>
        <p:nvCxnSpPr>
          <p:cNvPr id="713" name="Shape 713"/>
          <p:cNvCxnSpPr/>
          <p:nvPr/>
        </p:nvCxnSpPr>
        <p:spPr>
          <a:xfrm>
            <a:off x="1752600" y="6400800"/>
            <a:ext cx="6324600" cy="0"/>
          </a:xfrm>
          <a:prstGeom prst="straightConnector1">
            <a:avLst/>
          </a:prstGeom>
          <a:noFill/>
          <a:ln cap="flat" cmpd="sng" w="9525">
            <a:solidFill>
              <a:srgbClr val="FF0000"/>
            </a:solidFill>
            <a:prstDash val="solid"/>
            <a:miter/>
            <a:headEnd len="med" w="med" type="none"/>
            <a:tailEnd len="lg" w="lg" type="triangle"/>
          </a:ln>
        </p:spPr>
      </p:cxnSp>
      <p:sp>
        <p:nvSpPr>
          <p:cNvPr id="714" name="Shape 714"/>
          <p:cNvSpPr/>
          <p:nvPr/>
        </p:nvSpPr>
        <p:spPr>
          <a:xfrm>
            <a:off x="1752600" y="2971800"/>
            <a:ext cx="5676900" cy="2533650"/>
          </a:xfrm>
          <a:custGeom>
            <a:pathLst>
              <a:path extrusionOk="0" h="120000" w="120000">
                <a:moveTo>
                  <a:pt x="0" y="0"/>
                </a:moveTo>
                <a:cubicBezTo>
                  <a:pt x="838" y="3082"/>
                  <a:pt x="2214" y="11052"/>
                  <a:pt x="5033" y="18496"/>
                </a:cubicBezTo>
                <a:cubicBezTo>
                  <a:pt x="7852" y="25939"/>
                  <a:pt x="11442" y="35112"/>
                  <a:pt x="16912" y="44511"/>
                </a:cubicBezTo>
                <a:cubicBezTo>
                  <a:pt x="22382" y="53909"/>
                  <a:pt x="30637" y="66390"/>
                  <a:pt x="37852" y="74887"/>
                </a:cubicBezTo>
                <a:cubicBezTo>
                  <a:pt x="45067" y="83383"/>
                  <a:pt x="53087" y="90300"/>
                  <a:pt x="60201" y="95639"/>
                </a:cubicBezTo>
                <a:cubicBezTo>
                  <a:pt x="67315" y="100977"/>
                  <a:pt x="74093" y="103909"/>
                  <a:pt x="80536" y="106917"/>
                </a:cubicBezTo>
                <a:cubicBezTo>
                  <a:pt x="86979" y="109924"/>
                  <a:pt x="92281" y="111503"/>
                  <a:pt x="98859" y="113684"/>
                </a:cubicBezTo>
                <a:cubicBezTo>
                  <a:pt x="105436" y="115864"/>
                  <a:pt x="115604" y="118721"/>
                  <a:pt x="120000" y="119999"/>
                </a:cubicBezTo>
              </a:path>
            </a:pathLst>
          </a:custGeom>
          <a:noFill/>
          <a:ln cap="flat" cmpd="sng" w="25400">
            <a:solidFill>
              <a:srgbClr val="FF0000"/>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715" name="Shape 715"/>
          <p:cNvSpPr txBox="1"/>
          <p:nvPr/>
        </p:nvSpPr>
        <p:spPr>
          <a:xfrm>
            <a:off x="7010400" y="5943600"/>
            <a:ext cx="1371599" cy="533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Renta (Y)</a:t>
            </a:r>
          </a:p>
        </p:txBody>
      </p:sp>
      <p:sp>
        <p:nvSpPr>
          <p:cNvPr id="716" name="Shape 716"/>
          <p:cNvSpPr txBox="1"/>
          <p:nvPr/>
        </p:nvSpPr>
        <p:spPr>
          <a:xfrm>
            <a:off x="3306762" y="1447800"/>
            <a:ext cx="2332036" cy="9064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61235"/>
              </a:buClr>
              <a:buSzPct val="25000"/>
              <a:buFont typeface="Arial"/>
              <a:buNone/>
            </a:pPr>
            <a:r>
              <a:rPr b="1" i="0" lang="en-US" sz="2400" u="none">
                <a:solidFill>
                  <a:srgbClr val="E61235"/>
                </a:solidFill>
                <a:latin typeface="Arial"/>
                <a:ea typeface="Arial"/>
                <a:cs typeface="Arial"/>
                <a:sym typeface="Arial"/>
              </a:rPr>
              <a:t>Curva IS</a:t>
            </a:r>
          </a:p>
        </p:txBody>
      </p:sp>
      <p:cxnSp>
        <p:nvCxnSpPr>
          <p:cNvPr id="717" name="Shape 717"/>
          <p:cNvCxnSpPr/>
          <p:nvPr/>
        </p:nvCxnSpPr>
        <p:spPr>
          <a:xfrm>
            <a:off x="1752600" y="5029200"/>
            <a:ext cx="1066799" cy="0"/>
          </a:xfrm>
          <a:prstGeom prst="straightConnector1">
            <a:avLst/>
          </a:prstGeom>
          <a:noFill/>
          <a:ln cap="flat" cmpd="sng" w="9525">
            <a:solidFill>
              <a:srgbClr val="008000"/>
            </a:solidFill>
            <a:prstDash val="solid"/>
            <a:miter/>
            <a:headEnd len="med" w="med" type="none"/>
            <a:tailEnd len="med" w="med" type="oval"/>
          </a:ln>
        </p:spPr>
      </p:cxnSp>
      <p:cxnSp>
        <p:nvCxnSpPr>
          <p:cNvPr id="718" name="Shape 718"/>
          <p:cNvCxnSpPr/>
          <p:nvPr/>
        </p:nvCxnSpPr>
        <p:spPr>
          <a:xfrm>
            <a:off x="2819400" y="4106862"/>
            <a:ext cx="0" cy="922337"/>
          </a:xfrm>
          <a:prstGeom prst="straightConnector1">
            <a:avLst/>
          </a:prstGeom>
          <a:noFill/>
          <a:ln cap="flat" cmpd="sng" w="9525">
            <a:solidFill>
              <a:schemeClr val="dk1"/>
            </a:solidFill>
            <a:prstDash val="solid"/>
            <a:miter/>
            <a:headEnd len="med" w="med" type="none"/>
            <a:tailEnd len="med" w="med" type="none"/>
          </a:ln>
        </p:spPr>
      </p:cxnSp>
      <p:sp>
        <p:nvSpPr>
          <p:cNvPr id="719" name="Shape 719"/>
          <p:cNvSpPr txBox="1"/>
          <p:nvPr/>
        </p:nvSpPr>
        <p:spPr>
          <a:xfrm>
            <a:off x="2522536" y="4983162"/>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a:t>
            </a:r>
            <a:r>
              <a:rPr b="1" i="0" lang="en-US" sz="1200" u="none">
                <a:solidFill>
                  <a:srgbClr val="008000"/>
                </a:solidFill>
                <a:latin typeface="Arial"/>
                <a:ea typeface="Arial"/>
                <a:cs typeface="Arial"/>
                <a:sym typeface="Arial"/>
              </a:rPr>
              <a:t>B</a:t>
            </a:r>
          </a:p>
        </p:txBody>
      </p:sp>
      <p:sp>
        <p:nvSpPr>
          <p:cNvPr id="720" name="Shape 720"/>
          <p:cNvSpPr/>
          <p:nvPr/>
        </p:nvSpPr>
        <p:spPr>
          <a:xfrm rot="10800000">
            <a:off x="3124200" y="4772024"/>
            <a:ext cx="976312" cy="485775"/>
          </a:xfrm>
          <a:prstGeom prst="leftArrow">
            <a:avLst>
              <a:gd fmla="val 50000" name="adj1"/>
              <a:gd fmla="val 50000" name="adj2"/>
            </a:avLst>
          </a:prstGeom>
          <a:solidFill>
            <a:srgbClr val="0080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721" name="Shape 721"/>
          <p:cNvCxnSpPr/>
          <p:nvPr/>
        </p:nvCxnSpPr>
        <p:spPr>
          <a:xfrm>
            <a:off x="2819400" y="5029200"/>
            <a:ext cx="0" cy="1371599"/>
          </a:xfrm>
          <a:prstGeom prst="straightConnector1">
            <a:avLst/>
          </a:prstGeom>
          <a:noFill/>
          <a:ln cap="flat" cmpd="sng" w="9525">
            <a:solidFill>
              <a:srgbClr val="008000"/>
            </a:solidFill>
            <a:prstDash val="solid"/>
            <a:miter/>
            <a:headEnd len="med" w="med" type="none"/>
            <a:tailEnd len="med" w="med" type="none"/>
          </a:ln>
        </p:spPr>
      </p:cxnSp>
      <p:sp>
        <p:nvSpPr>
          <p:cNvPr id="722" name="Shape 722"/>
          <p:cNvSpPr txBox="1"/>
          <p:nvPr/>
        </p:nvSpPr>
        <p:spPr>
          <a:xfrm>
            <a:off x="2674936" y="6354762"/>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117A06"/>
              </a:buClr>
              <a:buSzPct val="25000"/>
              <a:buFont typeface="Arial"/>
              <a:buNone/>
            </a:pPr>
            <a:r>
              <a:rPr b="1" i="0" lang="en-US" sz="1200" u="none">
                <a:solidFill>
                  <a:srgbClr val="117A06"/>
                </a:solidFill>
                <a:latin typeface="Arial"/>
                <a:ea typeface="Arial"/>
                <a:cs typeface="Arial"/>
                <a:sym typeface="Arial"/>
              </a:rPr>
              <a:t>Y</a:t>
            </a:r>
            <a:r>
              <a:rPr b="1" baseline="-25000" i="0" lang="en-US" sz="1200" u="none">
                <a:solidFill>
                  <a:srgbClr val="117A06"/>
                </a:solidFill>
                <a:latin typeface="Arial"/>
                <a:ea typeface="Arial"/>
                <a:cs typeface="Arial"/>
                <a:sym typeface="Arial"/>
              </a:rPr>
              <a:t>B</a:t>
            </a:r>
          </a:p>
        </p:txBody>
      </p:sp>
      <p:sp>
        <p:nvSpPr>
          <p:cNvPr id="723" name="Shape 723"/>
          <p:cNvSpPr txBox="1"/>
          <p:nvPr/>
        </p:nvSpPr>
        <p:spPr>
          <a:xfrm>
            <a:off x="2667000" y="3810000"/>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a:t>
            </a:r>
            <a:r>
              <a:rPr b="1" i="0" lang="en-US" sz="1200" u="none">
                <a:solidFill>
                  <a:srgbClr val="008000"/>
                </a:solidFill>
                <a:latin typeface="Arial"/>
                <a:ea typeface="Arial"/>
                <a:cs typeface="Arial"/>
                <a:sym typeface="Arial"/>
              </a:rPr>
              <a:t>B´</a:t>
            </a:r>
          </a:p>
        </p:txBody>
      </p:sp>
      <p:sp>
        <p:nvSpPr>
          <p:cNvPr id="724" name="Shape 724"/>
          <p:cNvSpPr/>
          <p:nvPr/>
        </p:nvSpPr>
        <p:spPr>
          <a:xfrm rot="10800000">
            <a:off x="2562224" y="4267200"/>
            <a:ext cx="485775" cy="609599"/>
          </a:xfrm>
          <a:prstGeom prst="downArrow">
            <a:avLst>
              <a:gd fmla="val 50000" name="adj1"/>
              <a:gd fmla="val 50000" name="adj2"/>
            </a:avLst>
          </a:prstGeom>
          <a:solidFill>
            <a:srgbClr val="0080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725" name="Shape 725"/>
          <p:cNvCxnSpPr/>
          <p:nvPr/>
        </p:nvCxnSpPr>
        <p:spPr>
          <a:xfrm>
            <a:off x="1752600" y="4114800"/>
            <a:ext cx="1066799" cy="0"/>
          </a:xfrm>
          <a:prstGeom prst="straightConnector1">
            <a:avLst/>
          </a:prstGeom>
          <a:noFill/>
          <a:ln cap="flat" cmpd="sng" w="9525">
            <a:solidFill>
              <a:srgbClr val="008000"/>
            </a:solidFill>
            <a:prstDash val="solid"/>
            <a:miter/>
            <a:headEnd len="med" w="med" type="none"/>
            <a:tailEnd len="med" w="med" type="none"/>
          </a:ln>
        </p:spPr>
      </p:cxnSp>
      <p:sp>
        <p:nvSpPr>
          <p:cNvPr id="726" name="Shape 726"/>
          <p:cNvSpPr txBox="1"/>
          <p:nvPr/>
        </p:nvSpPr>
        <p:spPr>
          <a:xfrm>
            <a:off x="1447800" y="3810000"/>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a:t>
            </a:r>
            <a:r>
              <a:rPr b="1" i="0" lang="en-US" sz="1200" u="none">
                <a:solidFill>
                  <a:srgbClr val="008000"/>
                </a:solidFill>
                <a:latin typeface="Arial"/>
                <a:ea typeface="Arial"/>
                <a:cs typeface="Arial"/>
                <a:sym typeface="Arial"/>
              </a:rPr>
              <a:t>i´</a:t>
            </a:r>
            <a:r>
              <a:rPr b="1" baseline="-25000" i="0" lang="en-US" sz="1200" u="none">
                <a:solidFill>
                  <a:srgbClr val="008000"/>
                </a:solidFill>
                <a:latin typeface="Arial"/>
                <a:ea typeface="Arial"/>
                <a:cs typeface="Arial"/>
                <a:sym typeface="Arial"/>
              </a:rPr>
              <a:t>B</a:t>
            </a:r>
          </a:p>
        </p:txBody>
      </p:sp>
      <p:sp>
        <p:nvSpPr>
          <p:cNvPr id="727" name="Shape 727"/>
          <p:cNvSpPr txBox="1"/>
          <p:nvPr/>
        </p:nvSpPr>
        <p:spPr>
          <a:xfrm>
            <a:off x="2562225" y="5322887"/>
            <a:ext cx="4448175" cy="690561"/>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117A06"/>
              </a:buClr>
              <a:buSzPct val="25000"/>
              <a:buFont typeface="Arial"/>
              <a:buNone/>
            </a:pPr>
            <a:r>
              <a:rPr b="1" i="0" lang="en-US" sz="2400" u="none">
                <a:solidFill>
                  <a:srgbClr val="117A06"/>
                </a:solidFill>
                <a:latin typeface="Arial"/>
                <a:ea typeface="Arial"/>
                <a:cs typeface="Arial"/>
                <a:sym typeface="Arial"/>
              </a:rPr>
              <a:t>Exceso de demanda agregada</a:t>
            </a:r>
          </a:p>
        </p:txBody>
      </p:sp>
      <p:cxnSp>
        <p:nvCxnSpPr>
          <p:cNvPr id="728" name="Shape 728"/>
          <p:cNvCxnSpPr/>
          <p:nvPr/>
        </p:nvCxnSpPr>
        <p:spPr>
          <a:xfrm>
            <a:off x="2819400" y="5029200"/>
            <a:ext cx="1849436" cy="1587"/>
          </a:xfrm>
          <a:prstGeom prst="straightConnector1">
            <a:avLst/>
          </a:prstGeom>
          <a:noFill/>
          <a:ln cap="flat" cmpd="sng" w="9525">
            <a:solidFill>
              <a:srgbClr val="008000"/>
            </a:solidFill>
            <a:prstDash val="solid"/>
            <a:miter/>
            <a:headEnd len="med" w="med" type="none"/>
            <a:tailEnd len="med" w="med" type="oval"/>
          </a:ln>
        </p:spPr>
      </p:cxnSp>
      <p:sp>
        <p:nvSpPr>
          <p:cNvPr id="729" name="Shape 729"/>
          <p:cNvSpPr txBox="1"/>
          <p:nvPr/>
        </p:nvSpPr>
        <p:spPr>
          <a:xfrm>
            <a:off x="4648200" y="4800600"/>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a:t>
            </a:r>
            <a:r>
              <a:rPr b="1" i="0" lang="en-US" sz="1200" u="none">
                <a:solidFill>
                  <a:srgbClr val="008000"/>
                </a:solidFill>
                <a:latin typeface="Arial"/>
                <a:ea typeface="Arial"/>
                <a:cs typeface="Arial"/>
                <a:sym typeface="Arial"/>
              </a:rPr>
              <a:t>B´´</a:t>
            </a:r>
          </a:p>
        </p:txBody>
      </p:sp>
      <p:cxnSp>
        <p:nvCxnSpPr>
          <p:cNvPr id="730" name="Shape 730"/>
          <p:cNvCxnSpPr/>
          <p:nvPr/>
        </p:nvCxnSpPr>
        <p:spPr>
          <a:xfrm>
            <a:off x="4668837" y="5029200"/>
            <a:ext cx="0" cy="1371599"/>
          </a:xfrm>
          <a:prstGeom prst="straightConnector1">
            <a:avLst/>
          </a:prstGeom>
          <a:noFill/>
          <a:ln cap="flat" cmpd="sng" w="9525">
            <a:solidFill>
              <a:srgbClr val="008000"/>
            </a:solidFill>
            <a:prstDash val="solid"/>
            <a:miter/>
            <a:headEnd len="med" w="med" type="none"/>
            <a:tailEnd len="med" w="med" type="none"/>
          </a:ln>
        </p:spPr>
      </p:cxnSp>
    </p:spTree>
  </p:cSld>
  <p:clrMapOvr>
    <a:masterClrMapping/>
  </p:clrMapOvr>
  <p:transition spd="slow">
    <p:cut/>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734" name="Shape 734"/>
        <p:cNvGrpSpPr/>
        <p:nvPr/>
      </p:nvGrpSpPr>
      <p:grpSpPr>
        <a:xfrm>
          <a:off x="0" y="0"/>
          <a:ext cx="0" cy="0"/>
          <a:chOff x="0" y="0"/>
          <a:chExt cx="0" cy="0"/>
        </a:xfrm>
      </p:grpSpPr>
      <p:pic>
        <p:nvPicPr>
          <p:cNvPr id="735" name="Shape 735"/>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736" name="Shape 736"/>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737" name="Shape 737"/>
          <p:cNvSpPr txBox="1"/>
          <p:nvPr/>
        </p:nvSpPr>
        <p:spPr>
          <a:xfrm>
            <a:off x="3640137" y="107950"/>
            <a:ext cx="4775200" cy="960436"/>
          </a:xfrm>
          <a:prstGeom prst="rect">
            <a:avLst/>
          </a:prstGeom>
          <a:noFill/>
          <a:ln>
            <a:noFill/>
          </a:ln>
        </p:spPr>
        <p:txBody>
          <a:bodyPr anchorCtr="0" anchor="ctr" bIns="0" lIns="365000"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1" lang="en-US" sz="2000" u="none">
                <a:solidFill>
                  <a:srgbClr val="BB4F59"/>
                </a:solidFill>
                <a:latin typeface="Arial"/>
                <a:ea typeface="Arial"/>
                <a:cs typeface="Arial"/>
                <a:sym typeface="Arial"/>
              </a:rPr>
              <a:t>EQUILIBRIO SIMULTÁNEO EN LOS </a:t>
            </a:r>
          </a:p>
          <a:p>
            <a:pPr indent="0" lvl="0" marL="0" marR="0" rtl="0" algn="l">
              <a:lnSpc>
                <a:spcPct val="100000"/>
              </a:lnSpc>
              <a:spcBef>
                <a:spcPts val="0"/>
              </a:spcBef>
              <a:spcAft>
                <a:spcPts val="0"/>
              </a:spcAft>
              <a:buClr>
                <a:srgbClr val="BB4F59"/>
              </a:buClr>
              <a:buSzPct val="25000"/>
              <a:buFont typeface="Arial"/>
              <a:buNone/>
            </a:pPr>
            <a:r>
              <a:rPr b="1" i="1" lang="en-US" sz="2000" u="none">
                <a:solidFill>
                  <a:srgbClr val="BB4F59"/>
                </a:solidFill>
                <a:latin typeface="Arial"/>
                <a:ea typeface="Arial"/>
                <a:cs typeface="Arial"/>
                <a:sym typeface="Arial"/>
              </a:rPr>
              <a:t>MERCADOS DE B/S Y DEL DINERO</a:t>
            </a:r>
          </a:p>
          <a:p>
            <a:pPr indent="0" lvl="0" marL="0" marR="0" rtl="0" algn="l">
              <a:lnSpc>
                <a:spcPct val="100000"/>
              </a:lnSpc>
              <a:spcBef>
                <a:spcPts val="0"/>
              </a:spcBef>
              <a:spcAft>
                <a:spcPts val="0"/>
              </a:spcAft>
              <a:buNone/>
            </a:pPr>
            <a:r>
              <a:t/>
            </a:r>
            <a:endParaRPr b="1" i="1" sz="2000" u="none">
              <a:solidFill>
                <a:srgbClr val="BB4F59"/>
              </a:solidFill>
              <a:latin typeface="Arial"/>
              <a:ea typeface="Arial"/>
              <a:cs typeface="Arial"/>
              <a:sym typeface="Arial"/>
            </a:endParaRPr>
          </a:p>
        </p:txBody>
      </p:sp>
      <p:cxnSp>
        <p:nvCxnSpPr>
          <p:cNvPr id="738" name="Shape 738"/>
          <p:cNvCxnSpPr/>
          <p:nvPr/>
        </p:nvCxnSpPr>
        <p:spPr>
          <a:xfrm rot="10800000">
            <a:off x="1752600" y="2057400"/>
            <a:ext cx="0" cy="3581399"/>
          </a:xfrm>
          <a:prstGeom prst="straightConnector1">
            <a:avLst/>
          </a:prstGeom>
          <a:noFill/>
          <a:ln cap="flat" cmpd="sng" w="25400">
            <a:solidFill>
              <a:schemeClr val="dk1"/>
            </a:solidFill>
            <a:prstDash val="solid"/>
            <a:miter/>
            <a:headEnd len="med" w="med" type="none"/>
            <a:tailEnd len="lg" w="lg" type="triangle"/>
          </a:ln>
        </p:spPr>
      </p:cxnSp>
      <p:cxnSp>
        <p:nvCxnSpPr>
          <p:cNvPr id="739" name="Shape 739"/>
          <p:cNvCxnSpPr/>
          <p:nvPr/>
        </p:nvCxnSpPr>
        <p:spPr>
          <a:xfrm>
            <a:off x="1752600" y="5638800"/>
            <a:ext cx="5867400" cy="0"/>
          </a:xfrm>
          <a:prstGeom prst="straightConnector1">
            <a:avLst/>
          </a:prstGeom>
          <a:noFill/>
          <a:ln cap="flat" cmpd="sng" w="25400">
            <a:solidFill>
              <a:schemeClr val="dk1"/>
            </a:solidFill>
            <a:prstDash val="solid"/>
            <a:miter/>
            <a:headEnd len="med" w="med" type="none"/>
            <a:tailEnd len="lg" w="lg" type="triangle"/>
          </a:ln>
        </p:spPr>
      </p:cxnSp>
      <p:sp>
        <p:nvSpPr>
          <p:cNvPr id="740" name="Shape 740"/>
          <p:cNvSpPr/>
          <p:nvPr/>
        </p:nvSpPr>
        <p:spPr>
          <a:xfrm>
            <a:off x="1752600" y="2971800"/>
            <a:ext cx="5676900" cy="2533650"/>
          </a:xfrm>
          <a:custGeom>
            <a:pathLst>
              <a:path extrusionOk="0" h="120000" w="120000">
                <a:moveTo>
                  <a:pt x="0" y="0"/>
                </a:moveTo>
                <a:cubicBezTo>
                  <a:pt x="838" y="3082"/>
                  <a:pt x="2214" y="11052"/>
                  <a:pt x="5033" y="18496"/>
                </a:cubicBezTo>
                <a:cubicBezTo>
                  <a:pt x="7852" y="25939"/>
                  <a:pt x="11442" y="35112"/>
                  <a:pt x="16912" y="44511"/>
                </a:cubicBezTo>
                <a:cubicBezTo>
                  <a:pt x="22382" y="53909"/>
                  <a:pt x="30704" y="66240"/>
                  <a:pt x="37852" y="74887"/>
                </a:cubicBezTo>
                <a:cubicBezTo>
                  <a:pt x="45000" y="83533"/>
                  <a:pt x="52751" y="90676"/>
                  <a:pt x="59798" y="96541"/>
                </a:cubicBezTo>
                <a:cubicBezTo>
                  <a:pt x="66845" y="102406"/>
                  <a:pt x="73624" y="106691"/>
                  <a:pt x="80134" y="110075"/>
                </a:cubicBezTo>
                <a:cubicBezTo>
                  <a:pt x="86644" y="113458"/>
                  <a:pt x="92214" y="115187"/>
                  <a:pt x="98859" y="116842"/>
                </a:cubicBezTo>
                <a:cubicBezTo>
                  <a:pt x="105503" y="118496"/>
                  <a:pt x="115604" y="119323"/>
                  <a:pt x="120000" y="119999"/>
                </a:cubicBezTo>
              </a:path>
            </a:pathLst>
          </a:custGeom>
          <a:noFill/>
          <a:ln cap="flat" cmpd="sng" w="25400">
            <a:solidFill>
              <a:srgbClr val="FF0000"/>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741" name="Shape 741"/>
          <p:cNvSpPr/>
          <p:nvPr/>
        </p:nvSpPr>
        <p:spPr>
          <a:xfrm>
            <a:off x="2225675" y="2876550"/>
            <a:ext cx="3403599" cy="3143249"/>
          </a:xfrm>
          <a:custGeom>
            <a:pathLst>
              <a:path extrusionOk="0" h="120000" w="120000">
                <a:moveTo>
                  <a:pt x="0" y="120000"/>
                </a:moveTo>
                <a:cubicBezTo>
                  <a:pt x="5317" y="118121"/>
                  <a:pt x="20820" y="113696"/>
                  <a:pt x="31847" y="108606"/>
                </a:cubicBezTo>
                <a:cubicBezTo>
                  <a:pt x="42873" y="103515"/>
                  <a:pt x="56921" y="96000"/>
                  <a:pt x="66044" y="89272"/>
                </a:cubicBezTo>
                <a:cubicBezTo>
                  <a:pt x="75167" y="82545"/>
                  <a:pt x="80764" y="75151"/>
                  <a:pt x="86473" y="68060"/>
                </a:cubicBezTo>
                <a:cubicBezTo>
                  <a:pt x="92182" y="60969"/>
                  <a:pt x="95988" y="53878"/>
                  <a:pt x="100186" y="46545"/>
                </a:cubicBezTo>
                <a:cubicBezTo>
                  <a:pt x="104384" y="39212"/>
                  <a:pt x="108302" y="31757"/>
                  <a:pt x="111604" y="24000"/>
                </a:cubicBezTo>
                <a:cubicBezTo>
                  <a:pt x="114906" y="16242"/>
                  <a:pt x="118264" y="4969"/>
                  <a:pt x="120000" y="0"/>
                </a:cubicBezTo>
              </a:path>
            </a:pathLst>
          </a:custGeom>
          <a:noFill/>
          <a:ln cap="flat" cmpd="sng" w="317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742" name="Shape 742"/>
          <p:cNvSpPr txBox="1"/>
          <p:nvPr/>
        </p:nvSpPr>
        <p:spPr>
          <a:xfrm>
            <a:off x="2743200" y="2517775"/>
            <a:ext cx="1493836" cy="57943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61235"/>
              </a:buClr>
              <a:buSzPct val="25000"/>
              <a:buFont typeface="Arial"/>
              <a:buNone/>
            </a:pPr>
            <a:r>
              <a:rPr b="1" i="0" lang="en-US" sz="2400" u="none">
                <a:solidFill>
                  <a:srgbClr val="E61235"/>
                </a:solidFill>
                <a:latin typeface="Arial"/>
                <a:ea typeface="Arial"/>
                <a:cs typeface="Arial"/>
                <a:sym typeface="Arial"/>
              </a:rPr>
              <a:t>Curva IS</a:t>
            </a:r>
          </a:p>
        </p:txBody>
      </p:sp>
      <p:sp>
        <p:nvSpPr>
          <p:cNvPr id="743" name="Shape 743"/>
          <p:cNvSpPr txBox="1"/>
          <p:nvPr/>
        </p:nvSpPr>
        <p:spPr>
          <a:xfrm>
            <a:off x="5791200" y="2876550"/>
            <a:ext cx="1828800" cy="304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2400" u="none">
                <a:solidFill>
                  <a:schemeClr val="hlink"/>
                </a:solidFill>
                <a:latin typeface="Arial"/>
                <a:ea typeface="Arial"/>
                <a:cs typeface="Arial"/>
                <a:sym typeface="Arial"/>
              </a:rPr>
              <a:t>Curva LM</a:t>
            </a:r>
          </a:p>
        </p:txBody>
      </p:sp>
      <p:cxnSp>
        <p:nvCxnSpPr>
          <p:cNvPr id="744" name="Shape 744"/>
          <p:cNvCxnSpPr/>
          <p:nvPr/>
        </p:nvCxnSpPr>
        <p:spPr>
          <a:xfrm rot="10800000">
            <a:off x="1752600" y="4953000"/>
            <a:ext cx="2666999" cy="0"/>
          </a:xfrm>
          <a:prstGeom prst="straightConnector1">
            <a:avLst/>
          </a:prstGeom>
          <a:noFill/>
          <a:ln cap="flat" cmpd="sng" w="9525">
            <a:solidFill>
              <a:schemeClr val="dk1"/>
            </a:solidFill>
            <a:prstDash val="solid"/>
            <a:miter/>
            <a:headEnd len="med" w="med" type="oval"/>
            <a:tailEnd len="med" w="med" type="none"/>
          </a:ln>
        </p:spPr>
      </p:cxnSp>
      <p:cxnSp>
        <p:nvCxnSpPr>
          <p:cNvPr id="745" name="Shape 745"/>
          <p:cNvCxnSpPr/>
          <p:nvPr/>
        </p:nvCxnSpPr>
        <p:spPr>
          <a:xfrm>
            <a:off x="4419600" y="4953000"/>
            <a:ext cx="0" cy="685799"/>
          </a:xfrm>
          <a:prstGeom prst="straightConnector1">
            <a:avLst/>
          </a:prstGeom>
          <a:noFill/>
          <a:ln cap="flat" cmpd="sng" w="9525">
            <a:solidFill>
              <a:schemeClr val="dk1"/>
            </a:solidFill>
            <a:prstDash val="solid"/>
            <a:miter/>
            <a:headEnd len="med" w="med" type="none"/>
            <a:tailEnd len="med" w="med" type="none"/>
          </a:ln>
        </p:spPr>
      </p:cxnSp>
      <p:sp>
        <p:nvSpPr>
          <p:cNvPr id="746" name="Shape 746"/>
          <p:cNvSpPr txBox="1"/>
          <p:nvPr/>
        </p:nvSpPr>
        <p:spPr>
          <a:xfrm>
            <a:off x="1600200" y="1951036"/>
            <a:ext cx="76199" cy="487361"/>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i</a:t>
            </a:r>
          </a:p>
        </p:txBody>
      </p:sp>
      <p:sp>
        <p:nvSpPr>
          <p:cNvPr id="747" name="Shape 747"/>
          <p:cNvSpPr txBox="1"/>
          <p:nvPr/>
        </p:nvSpPr>
        <p:spPr>
          <a:xfrm>
            <a:off x="7010400" y="5486400"/>
            <a:ext cx="1371599" cy="533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Renta (Y)</a:t>
            </a:r>
          </a:p>
        </p:txBody>
      </p:sp>
      <p:sp>
        <p:nvSpPr>
          <p:cNvPr id="748" name="Shape 748"/>
          <p:cNvSpPr txBox="1"/>
          <p:nvPr/>
        </p:nvSpPr>
        <p:spPr>
          <a:xfrm>
            <a:off x="4191000" y="5562600"/>
            <a:ext cx="609599"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Y</a:t>
            </a:r>
            <a:r>
              <a:rPr b="1" baseline="-25000" i="0" lang="en-US" sz="1200" u="none">
                <a:solidFill>
                  <a:schemeClr val="dk1"/>
                </a:solidFill>
                <a:latin typeface="Arial"/>
                <a:ea typeface="Arial"/>
                <a:cs typeface="Arial"/>
                <a:sym typeface="Arial"/>
              </a:rPr>
              <a:t>eq</a:t>
            </a:r>
          </a:p>
        </p:txBody>
      </p:sp>
      <p:sp>
        <p:nvSpPr>
          <p:cNvPr id="749" name="Shape 749"/>
          <p:cNvSpPr txBox="1"/>
          <p:nvPr/>
        </p:nvSpPr>
        <p:spPr>
          <a:xfrm>
            <a:off x="1371600" y="4724400"/>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i</a:t>
            </a:r>
            <a:r>
              <a:rPr b="1" baseline="-25000" i="0" lang="en-US" sz="1200" u="none">
                <a:solidFill>
                  <a:schemeClr val="dk1"/>
                </a:solidFill>
                <a:latin typeface="Arial"/>
                <a:ea typeface="Arial"/>
                <a:cs typeface="Arial"/>
                <a:sym typeface="Arial"/>
              </a:rPr>
              <a:t>eq</a:t>
            </a:r>
          </a:p>
        </p:txBody>
      </p:sp>
      <p:sp>
        <p:nvSpPr>
          <p:cNvPr id="750" name="Shape 750"/>
          <p:cNvSpPr txBox="1"/>
          <p:nvPr/>
        </p:nvSpPr>
        <p:spPr>
          <a:xfrm>
            <a:off x="381000" y="5943600"/>
            <a:ext cx="7924799" cy="825499"/>
          </a:xfrm>
          <a:prstGeom prst="rect">
            <a:avLst/>
          </a:prstGeom>
          <a:solidFill>
            <a:srgbClr val="FFFF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a:solidFill>
                  <a:schemeClr val="dk1"/>
                </a:solidFill>
                <a:latin typeface="Arial"/>
                <a:ea typeface="Arial"/>
                <a:cs typeface="Arial"/>
                <a:sym typeface="Arial"/>
              </a:rPr>
              <a:t>Si representamos ambas curvas el punto de corte determina la renta y la tasa de interés para los cuales tanto el mercado de bienes y servicios como el de dinero están en equilibrio.</a:t>
            </a:r>
          </a:p>
        </p:txBody>
      </p:sp>
    </p:spTree>
  </p:cSld>
  <p:clrMapOvr>
    <a:masterClrMapping/>
  </p:clrMapOvr>
  <p:transition spd="slow">
    <p:cut/>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754" name="Shape 754"/>
        <p:cNvGrpSpPr/>
        <p:nvPr/>
      </p:nvGrpSpPr>
      <p:grpSpPr>
        <a:xfrm>
          <a:off x="0" y="0"/>
          <a:ext cx="0" cy="0"/>
          <a:chOff x="0" y="0"/>
          <a:chExt cx="0" cy="0"/>
        </a:xfrm>
      </p:grpSpPr>
      <p:pic>
        <p:nvPicPr>
          <p:cNvPr id="755" name="Shape 755"/>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756" name="Shape 756"/>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grpSp>
        <p:nvGrpSpPr>
          <p:cNvPr id="757" name="Shape 757"/>
          <p:cNvGrpSpPr/>
          <p:nvPr/>
        </p:nvGrpSpPr>
        <p:grpSpPr>
          <a:xfrm>
            <a:off x="604917" y="1779104"/>
            <a:ext cx="4234425" cy="5078895"/>
            <a:chOff x="4414837" y="1392237"/>
            <a:chExt cx="12001500" cy="12001499"/>
          </a:xfrm>
        </p:grpSpPr>
        <p:sp>
          <p:nvSpPr>
            <p:cNvPr id="758" name="Shape 758"/>
            <p:cNvSpPr/>
            <p:nvPr/>
          </p:nvSpPr>
          <p:spPr>
            <a:xfrm>
              <a:off x="5272087" y="1963736"/>
              <a:ext cx="10572750" cy="9715500"/>
            </a:xfrm>
            <a:prstGeom prst="rect">
              <a:avLst/>
            </a:prstGeom>
            <a:solidFill>
              <a:srgbClr val="FFFF00">
                <a:alpha val="33725"/>
              </a:srgbClr>
            </a:solid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759" name="Shape 759"/>
            <p:cNvCxnSpPr/>
            <p:nvPr/>
          </p:nvCxnSpPr>
          <p:spPr>
            <a:xfrm>
              <a:off x="5272087" y="8534400"/>
              <a:ext cx="4000500" cy="1587"/>
            </a:xfrm>
            <a:prstGeom prst="straightConnector1">
              <a:avLst/>
            </a:prstGeom>
            <a:noFill/>
            <a:ln cap="rnd" cmpd="sng" w="15875">
              <a:solidFill>
                <a:srgbClr val="000000"/>
              </a:solidFill>
              <a:prstDash val="solid"/>
              <a:miter/>
              <a:headEnd len="med" w="med" type="none"/>
              <a:tailEnd len="med" w="med" type="none"/>
            </a:ln>
          </p:spPr>
        </p:cxnSp>
        <p:cxnSp>
          <p:nvCxnSpPr>
            <p:cNvPr id="760" name="Shape 760"/>
            <p:cNvCxnSpPr/>
            <p:nvPr/>
          </p:nvCxnSpPr>
          <p:spPr>
            <a:xfrm>
              <a:off x="9272586" y="8535986"/>
              <a:ext cx="1587" cy="3143249"/>
            </a:xfrm>
            <a:prstGeom prst="straightConnector1">
              <a:avLst/>
            </a:prstGeom>
            <a:noFill/>
            <a:ln cap="rnd" cmpd="sng" w="15875">
              <a:solidFill>
                <a:srgbClr val="000000"/>
              </a:solidFill>
              <a:prstDash val="solid"/>
              <a:miter/>
              <a:headEnd len="med" w="med" type="none"/>
              <a:tailEnd len="med" w="med" type="none"/>
            </a:ln>
          </p:spPr>
        </p:cxnSp>
        <p:cxnSp>
          <p:nvCxnSpPr>
            <p:cNvPr id="761" name="Shape 761"/>
            <p:cNvCxnSpPr/>
            <p:nvPr/>
          </p:nvCxnSpPr>
          <p:spPr>
            <a:xfrm flipH="1" rot="10800000">
              <a:off x="5272087" y="1392237"/>
              <a:ext cx="1587" cy="10286999"/>
            </a:xfrm>
            <a:prstGeom prst="straightConnector1">
              <a:avLst/>
            </a:prstGeom>
            <a:noFill/>
            <a:ln cap="flat" cmpd="sng" w="38100">
              <a:solidFill>
                <a:srgbClr val="000000"/>
              </a:solidFill>
              <a:prstDash val="solid"/>
              <a:miter/>
              <a:headEnd len="med" w="med" type="none"/>
              <a:tailEnd len="lg" w="lg" type="triangle"/>
            </a:ln>
          </p:spPr>
        </p:cxnSp>
        <p:cxnSp>
          <p:nvCxnSpPr>
            <p:cNvPr id="762" name="Shape 762"/>
            <p:cNvCxnSpPr/>
            <p:nvPr/>
          </p:nvCxnSpPr>
          <p:spPr>
            <a:xfrm>
              <a:off x="5272087" y="11679236"/>
              <a:ext cx="10858499" cy="1587"/>
            </a:xfrm>
            <a:prstGeom prst="straightConnector1">
              <a:avLst/>
            </a:prstGeom>
            <a:noFill/>
            <a:ln cap="flat" cmpd="sng" w="38100">
              <a:solidFill>
                <a:srgbClr val="000000"/>
              </a:solidFill>
              <a:prstDash val="solid"/>
              <a:miter/>
              <a:headEnd len="med" w="med" type="none"/>
              <a:tailEnd len="lg" w="lg" type="triangle"/>
            </a:ln>
          </p:spPr>
        </p:cxnSp>
        <p:sp>
          <p:nvSpPr>
            <p:cNvPr id="763" name="Shape 763"/>
            <p:cNvSpPr txBox="1"/>
            <p:nvPr/>
          </p:nvSpPr>
          <p:spPr>
            <a:xfrm>
              <a:off x="8701086" y="3392487"/>
              <a:ext cx="2000250" cy="1428749"/>
            </a:xfrm>
            <a:prstGeom prst="rect">
              <a:avLst/>
            </a:prstGeom>
            <a:noFill/>
            <a:ln>
              <a:noFill/>
            </a:ln>
          </p:spPr>
          <p:txBody>
            <a:bodyPr anchorCtr="0" anchor="t" bIns="37025" lIns="74050" rIns="74050" tIns="37025">
              <a:noAutofit/>
            </a:bodyPr>
            <a:lstStyle/>
            <a:p>
              <a:pPr indent="0" lvl="0" marL="0" marR="0" rtl="0" algn="ctr">
                <a:lnSpc>
                  <a:spcPct val="100000"/>
                </a:lnSpc>
                <a:spcBef>
                  <a:spcPts val="0"/>
                </a:spcBef>
                <a:spcAft>
                  <a:spcPts val="0"/>
                </a:spcAft>
                <a:buClr>
                  <a:schemeClr val="dk1"/>
                </a:buClr>
                <a:buSzPct val="25000"/>
                <a:buFont typeface="Arial"/>
                <a:buNone/>
              </a:pPr>
              <a:r>
                <a:rPr b="1" i="0" lang="en-US" sz="1100" u="none">
                  <a:solidFill>
                    <a:schemeClr val="dk1"/>
                  </a:solidFill>
                  <a:latin typeface="Arial"/>
                  <a:ea typeface="Arial"/>
                  <a:cs typeface="Arial"/>
                  <a:sym typeface="Arial"/>
                </a:rPr>
                <a:t>REGIÓN I</a:t>
              </a:r>
            </a:p>
          </p:txBody>
        </p:sp>
        <p:sp>
          <p:nvSpPr>
            <p:cNvPr id="764" name="Shape 764"/>
            <p:cNvSpPr txBox="1"/>
            <p:nvPr/>
          </p:nvSpPr>
          <p:spPr>
            <a:xfrm>
              <a:off x="12130086" y="7678736"/>
              <a:ext cx="2000250" cy="1428749"/>
            </a:xfrm>
            <a:prstGeom prst="rect">
              <a:avLst/>
            </a:prstGeom>
            <a:noFill/>
            <a:ln>
              <a:noFill/>
            </a:ln>
          </p:spPr>
          <p:txBody>
            <a:bodyPr anchorCtr="0" anchor="t" bIns="37025" lIns="74050" rIns="74050" tIns="37025">
              <a:noAutofit/>
            </a:bodyPr>
            <a:lstStyle/>
            <a:p>
              <a:pPr indent="0" lvl="0" marL="0" marR="0" rtl="0" algn="ctr">
                <a:lnSpc>
                  <a:spcPct val="100000"/>
                </a:lnSpc>
                <a:spcBef>
                  <a:spcPts val="0"/>
                </a:spcBef>
                <a:spcAft>
                  <a:spcPts val="0"/>
                </a:spcAft>
                <a:buClr>
                  <a:schemeClr val="dk1"/>
                </a:buClr>
                <a:buSzPct val="25000"/>
                <a:buFont typeface="Arial"/>
                <a:buNone/>
              </a:pPr>
              <a:r>
                <a:rPr b="1" i="0" lang="en-US" sz="1100" u="none">
                  <a:solidFill>
                    <a:schemeClr val="dk1"/>
                  </a:solidFill>
                  <a:latin typeface="Arial"/>
                  <a:ea typeface="Arial"/>
                  <a:cs typeface="Arial"/>
                  <a:sym typeface="Arial"/>
                </a:rPr>
                <a:t>REGIÓNII</a:t>
              </a:r>
            </a:p>
          </p:txBody>
        </p:sp>
        <p:sp>
          <p:nvSpPr>
            <p:cNvPr id="765" name="Shape 765"/>
            <p:cNvSpPr txBox="1"/>
            <p:nvPr/>
          </p:nvSpPr>
          <p:spPr>
            <a:xfrm>
              <a:off x="8415336" y="9678986"/>
              <a:ext cx="2000250" cy="1428749"/>
            </a:xfrm>
            <a:prstGeom prst="rect">
              <a:avLst/>
            </a:prstGeom>
            <a:noFill/>
            <a:ln>
              <a:noFill/>
            </a:ln>
          </p:spPr>
          <p:txBody>
            <a:bodyPr anchorCtr="0" anchor="t" bIns="37025" lIns="74050" rIns="74050" tIns="37025">
              <a:noAutofit/>
            </a:bodyPr>
            <a:lstStyle/>
            <a:p>
              <a:pPr indent="0" lvl="0" marL="0" marR="0" rtl="0" algn="ctr">
                <a:lnSpc>
                  <a:spcPct val="100000"/>
                </a:lnSpc>
                <a:spcBef>
                  <a:spcPts val="0"/>
                </a:spcBef>
                <a:spcAft>
                  <a:spcPts val="0"/>
                </a:spcAft>
                <a:buClr>
                  <a:schemeClr val="dk1"/>
                </a:buClr>
                <a:buSzPct val="25000"/>
                <a:buFont typeface="Arial"/>
                <a:buNone/>
              </a:pPr>
              <a:r>
                <a:rPr b="1" i="0" lang="en-US" sz="1100" u="none">
                  <a:solidFill>
                    <a:schemeClr val="dk1"/>
                  </a:solidFill>
                  <a:latin typeface="Arial"/>
                  <a:ea typeface="Arial"/>
                  <a:cs typeface="Arial"/>
                  <a:sym typeface="Arial"/>
                </a:rPr>
                <a:t>REGIÓNIII</a:t>
              </a:r>
            </a:p>
          </p:txBody>
        </p:sp>
        <p:sp>
          <p:nvSpPr>
            <p:cNvPr id="766" name="Shape 766"/>
            <p:cNvSpPr txBox="1"/>
            <p:nvPr/>
          </p:nvSpPr>
          <p:spPr>
            <a:xfrm>
              <a:off x="6415087" y="7678736"/>
              <a:ext cx="2000250" cy="1428749"/>
            </a:xfrm>
            <a:prstGeom prst="rect">
              <a:avLst/>
            </a:prstGeom>
            <a:noFill/>
            <a:ln>
              <a:noFill/>
            </a:ln>
          </p:spPr>
          <p:txBody>
            <a:bodyPr anchorCtr="0" anchor="t" bIns="37025" lIns="74050" rIns="74050" tIns="37025">
              <a:noAutofit/>
            </a:bodyPr>
            <a:lstStyle/>
            <a:p>
              <a:pPr indent="0" lvl="0" marL="0" marR="0" rtl="0" algn="ctr">
                <a:lnSpc>
                  <a:spcPct val="100000"/>
                </a:lnSpc>
                <a:spcBef>
                  <a:spcPts val="0"/>
                </a:spcBef>
                <a:spcAft>
                  <a:spcPts val="0"/>
                </a:spcAft>
                <a:buClr>
                  <a:schemeClr val="dk1"/>
                </a:buClr>
                <a:buSzPct val="25000"/>
                <a:buFont typeface="Arial"/>
                <a:buNone/>
              </a:pPr>
              <a:r>
                <a:rPr b="1" i="0" lang="en-US" sz="1100" u="none">
                  <a:solidFill>
                    <a:schemeClr val="dk1"/>
                  </a:solidFill>
                  <a:latin typeface="Arial"/>
                  <a:ea typeface="Arial"/>
                  <a:cs typeface="Arial"/>
                  <a:sym typeface="Arial"/>
                </a:rPr>
                <a:t>REGIÓNIV</a:t>
              </a:r>
            </a:p>
            <a:p>
              <a:pPr indent="0" lvl="0" marL="0" marR="0" rtl="0" algn="l">
                <a:lnSpc>
                  <a:spcPct val="100000"/>
                </a:lnSpc>
                <a:spcBef>
                  <a:spcPts val="0"/>
                </a:spcBef>
                <a:spcAft>
                  <a:spcPts val="0"/>
                </a:spcAft>
                <a:buNone/>
              </a:pPr>
              <a:r>
                <a:t/>
              </a:r>
              <a:endParaRPr b="1" i="0" sz="1100" u="none">
                <a:solidFill>
                  <a:schemeClr val="dk1"/>
                </a:solidFill>
                <a:latin typeface="Arial"/>
                <a:ea typeface="Arial"/>
                <a:cs typeface="Arial"/>
                <a:sym typeface="Arial"/>
              </a:endParaRPr>
            </a:p>
          </p:txBody>
        </p:sp>
        <p:sp>
          <p:nvSpPr>
            <p:cNvPr id="767" name="Shape 767"/>
            <p:cNvSpPr txBox="1"/>
            <p:nvPr/>
          </p:nvSpPr>
          <p:spPr>
            <a:xfrm>
              <a:off x="9082086" y="7678736"/>
              <a:ext cx="2000250" cy="1428749"/>
            </a:xfrm>
            <a:prstGeom prst="rect">
              <a:avLst/>
            </a:prstGeom>
            <a:noFill/>
            <a:ln>
              <a:noFill/>
            </a:ln>
          </p:spPr>
          <p:txBody>
            <a:bodyPr anchorCtr="0" anchor="t" bIns="37025" lIns="74050" rIns="74050" tIns="37025">
              <a:noAutofit/>
            </a:bodyPr>
            <a:lstStyle/>
            <a:p>
              <a:pPr indent="0" lvl="0" marL="0" marR="0" rtl="0" algn="l">
                <a:lnSpc>
                  <a:spcPct val="100000"/>
                </a:lnSpc>
                <a:spcBef>
                  <a:spcPts val="0"/>
                </a:spcBef>
                <a:spcAft>
                  <a:spcPts val="0"/>
                </a:spcAft>
                <a:buClr>
                  <a:schemeClr val="dk1"/>
                </a:buClr>
                <a:buSzPct val="25000"/>
                <a:buFont typeface="Arial"/>
                <a:buNone/>
              </a:pPr>
              <a:r>
                <a:rPr b="1" i="0" lang="en-US" sz="1100" u="none">
                  <a:solidFill>
                    <a:schemeClr val="dk1"/>
                  </a:solidFill>
                  <a:latin typeface="Arial"/>
                  <a:ea typeface="Arial"/>
                  <a:cs typeface="Arial"/>
                  <a:sym typeface="Arial"/>
                </a:rPr>
                <a:t>E</a:t>
              </a:r>
            </a:p>
          </p:txBody>
        </p:sp>
        <p:sp>
          <p:nvSpPr>
            <p:cNvPr id="768" name="Shape 768"/>
            <p:cNvSpPr txBox="1"/>
            <p:nvPr/>
          </p:nvSpPr>
          <p:spPr>
            <a:xfrm>
              <a:off x="9082086" y="11679236"/>
              <a:ext cx="2000250" cy="1428749"/>
            </a:xfrm>
            <a:prstGeom prst="rect">
              <a:avLst/>
            </a:prstGeom>
            <a:noFill/>
            <a:ln>
              <a:noFill/>
            </a:ln>
          </p:spPr>
          <p:txBody>
            <a:bodyPr anchorCtr="0" anchor="t" bIns="37025" lIns="74050" rIns="74050" tIns="37025">
              <a:noAutofit/>
            </a:bodyPr>
            <a:lstStyle/>
            <a:p>
              <a:pPr indent="0" lvl="0" marL="0" marR="0" rtl="0" algn="l">
                <a:lnSpc>
                  <a:spcPct val="100000"/>
                </a:lnSpc>
                <a:spcBef>
                  <a:spcPts val="0"/>
                </a:spcBef>
                <a:spcAft>
                  <a:spcPts val="0"/>
                </a:spcAft>
                <a:buClr>
                  <a:schemeClr val="dk1"/>
                </a:buClr>
                <a:buSzPct val="25000"/>
                <a:buFont typeface="Arial"/>
                <a:buNone/>
              </a:pPr>
              <a:r>
                <a:rPr b="1" i="0" lang="en-US" sz="1100" u="none">
                  <a:solidFill>
                    <a:schemeClr val="dk1"/>
                  </a:solidFill>
                  <a:latin typeface="Arial"/>
                  <a:ea typeface="Arial"/>
                  <a:cs typeface="Arial"/>
                  <a:sym typeface="Arial"/>
                </a:rPr>
                <a:t>Y</a:t>
              </a:r>
              <a:r>
                <a:rPr b="1" baseline="-25000" i="0" lang="en-US" sz="1100" u="none">
                  <a:solidFill>
                    <a:schemeClr val="dk1"/>
                  </a:solidFill>
                  <a:latin typeface="Arial"/>
                  <a:ea typeface="Arial"/>
                  <a:cs typeface="Arial"/>
                  <a:sym typeface="Arial"/>
                </a:rPr>
                <a:t>0</a:t>
              </a:r>
            </a:p>
          </p:txBody>
        </p:sp>
        <p:sp>
          <p:nvSpPr>
            <p:cNvPr id="769" name="Shape 769"/>
            <p:cNvSpPr txBox="1"/>
            <p:nvPr/>
          </p:nvSpPr>
          <p:spPr>
            <a:xfrm>
              <a:off x="4414837" y="7964486"/>
              <a:ext cx="2000250" cy="1428749"/>
            </a:xfrm>
            <a:prstGeom prst="rect">
              <a:avLst/>
            </a:prstGeom>
            <a:noFill/>
            <a:ln>
              <a:noFill/>
            </a:ln>
          </p:spPr>
          <p:txBody>
            <a:bodyPr anchorCtr="0" anchor="t" bIns="37025" lIns="74050" rIns="74050" tIns="37025">
              <a:noAutofit/>
            </a:bodyPr>
            <a:lstStyle/>
            <a:p>
              <a:pPr indent="0" lvl="0" marL="0" marR="0" rtl="0" algn="l">
                <a:lnSpc>
                  <a:spcPct val="100000"/>
                </a:lnSpc>
                <a:spcBef>
                  <a:spcPts val="0"/>
                </a:spcBef>
                <a:spcAft>
                  <a:spcPts val="0"/>
                </a:spcAft>
                <a:buClr>
                  <a:schemeClr val="dk1"/>
                </a:buClr>
                <a:buSzPct val="25000"/>
                <a:buFont typeface="Arial"/>
                <a:buNone/>
              </a:pPr>
              <a:r>
                <a:rPr b="1" i="0" lang="en-US" sz="1100" u="none">
                  <a:solidFill>
                    <a:schemeClr val="dk1"/>
                  </a:solidFill>
                  <a:latin typeface="Arial"/>
                  <a:ea typeface="Arial"/>
                  <a:cs typeface="Arial"/>
                  <a:sym typeface="Arial"/>
                </a:rPr>
                <a:t>i</a:t>
              </a:r>
              <a:r>
                <a:rPr b="1" baseline="-25000" i="0" lang="en-US" sz="1100" u="none">
                  <a:solidFill>
                    <a:schemeClr val="dk1"/>
                  </a:solidFill>
                  <a:latin typeface="Arial"/>
                  <a:ea typeface="Arial"/>
                  <a:cs typeface="Arial"/>
                  <a:sym typeface="Arial"/>
                </a:rPr>
                <a:t>0</a:t>
              </a:r>
            </a:p>
          </p:txBody>
        </p:sp>
        <p:sp>
          <p:nvSpPr>
            <p:cNvPr id="770" name="Shape 770"/>
            <p:cNvSpPr txBox="1"/>
            <p:nvPr/>
          </p:nvSpPr>
          <p:spPr>
            <a:xfrm>
              <a:off x="4414837" y="1392237"/>
              <a:ext cx="2000250" cy="1428749"/>
            </a:xfrm>
            <a:prstGeom prst="rect">
              <a:avLst/>
            </a:prstGeom>
            <a:noFill/>
            <a:ln>
              <a:noFill/>
            </a:ln>
          </p:spPr>
          <p:txBody>
            <a:bodyPr anchorCtr="0" anchor="t" bIns="37025" lIns="74050" rIns="74050" tIns="37025">
              <a:noAutofit/>
            </a:bodyPr>
            <a:lstStyle/>
            <a:p>
              <a:pPr indent="0" lvl="0" marL="0" marR="0" rtl="0" algn="l">
                <a:lnSpc>
                  <a:spcPct val="100000"/>
                </a:lnSpc>
                <a:spcBef>
                  <a:spcPts val="0"/>
                </a:spcBef>
                <a:spcAft>
                  <a:spcPts val="0"/>
                </a:spcAft>
                <a:buClr>
                  <a:schemeClr val="dk1"/>
                </a:buClr>
                <a:buSzPct val="25000"/>
                <a:buFont typeface="Arial"/>
                <a:buNone/>
              </a:pPr>
              <a:r>
                <a:rPr b="1" i="0" lang="en-US" sz="1100" u="none">
                  <a:solidFill>
                    <a:schemeClr val="dk1"/>
                  </a:solidFill>
                  <a:latin typeface="Arial"/>
                  <a:ea typeface="Arial"/>
                  <a:cs typeface="Arial"/>
                  <a:sym typeface="Arial"/>
                </a:rPr>
                <a:t>i</a:t>
              </a:r>
            </a:p>
          </p:txBody>
        </p:sp>
        <p:sp>
          <p:nvSpPr>
            <p:cNvPr id="771" name="Shape 771"/>
            <p:cNvSpPr txBox="1"/>
            <p:nvPr/>
          </p:nvSpPr>
          <p:spPr>
            <a:xfrm>
              <a:off x="14416087" y="11964986"/>
              <a:ext cx="2000250" cy="1428749"/>
            </a:xfrm>
            <a:prstGeom prst="rect">
              <a:avLst/>
            </a:prstGeom>
            <a:noFill/>
            <a:ln>
              <a:noFill/>
            </a:ln>
          </p:spPr>
          <p:txBody>
            <a:bodyPr anchorCtr="0" anchor="t" bIns="37025" lIns="74050" rIns="74050" tIns="37025">
              <a:noAutofit/>
            </a:bodyPr>
            <a:lstStyle/>
            <a:p>
              <a:pPr indent="0" lvl="0" marL="0" marR="0" rtl="0" algn="l">
                <a:lnSpc>
                  <a:spcPct val="100000"/>
                </a:lnSpc>
                <a:spcBef>
                  <a:spcPts val="0"/>
                </a:spcBef>
                <a:spcAft>
                  <a:spcPts val="0"/>
                </a:spcAft>
                <a:buClr>
                  <a:schemeClr val="dk1"/>
                </a:buClr>
                <a:buSzPct val="25000"/>
                <a:buFont typeface="Arial"/>
                <a:buNone/>
              </a:pPr>
              <a:r>
                <a:rPr b="1" i="0" lang="en-US" sz="1100" u="none">
                  <a:solidFill>
                    <a:schemeClr val="dk1"/>
                  </a:solidFill>
                  <a:latin typeface="Arial"/>
                  <a:ea typeface="Arial"/>
                  <a:cs typeface="Arial"/>
                  <a:sym typeface="Arial"/>
                </a:rPr>
                <a:t>Y</a:t>
              </a:r>
            </a:p>
          </p:txBody>
        </p:sp>
        <p:sp>
          <p:nvSpPr>
            <p:cNvPr id="772" name="Shape 772"/>
            <p:cNvSpPr txBox="1"/>
            <p:nvPr/>
          </p:nvSpPr>
          <p:spPr>
            <a:xfrm>
              <a:off x="12415836" y="2249486"/>
              <a:ext cx="2571749" cy="1428749"/>
            </a:xfrm>
            <a:prstGeom prst="rect">
              <a:avLst/>
            </a:prstGeom>
            <a:noFill/>
            <a:ln>
              <a:noFill/>
            </a:ln>
          </p:spPr>
          <p:txBody>
            <a:bodyPr anchorCtr="0" anchor="t" bIns="37025" lIns="74050" rIns="74050" tIns="37025">
              <a:noAutofit/>
            </a:bodyPr>
            <a:lstStyle/>
            <a:p>
              <a:pPr indent="0" lvl="0" marL="0" marR="0" rtl="0" algn="l">
                <a:lnSpc>
                  <a:spcPct val="100000"/>
                </a:lnSpc>
                <a:spcBef>
                  <a:spcPts val="0"/>
                </a:spcBef>
                <a:spcAft>
                  <a:spcPts val="0"/>
                </a:spcAft>
                <a:buClr>
                  <a:schemeClr val="dk1"/>
                </a:buClr>
                <a:buSzPct val="25000"/>
                <a:buFont typeface="Arial"/>
                <a:buNone/>
              </a:pPr>
              <a:r>
                <a:rPr b="1" i="0" lang="en-US" sz="1100" u="none">
                  <a:solidFill>
                    <a:schemeClr val="dk1"/>
                  </a:solidFill>
                  <a:latin typeface="Arial"/>
                  <a:ea typeface="Arial"/>
                  <a:cs typeface="Arial"/>
                  <a:sym typeface="Arial"/>
                </a:rPr>
                <a:t>Curva LM</a:t>
              </a:r>
            </a:p>
          </p:txBody>
        </p:sp>
        <p:sp>
          <p:nvSpPr>
            <p:cNvPr id="773" name="Shape 773"/>
            <p:cNvSpPr txBox="1"/>
            <p:nvPr/>
          </p:nvSpPr>
          <p:spPr>
            <a:xfrm>
              <a:off x="5557837" y="1963736"/>
              <a:ext cx="2571749" cy="1428749"/>
            </a:xfrm>
            <a:prstGeom prst="rect">
              <a:avLst/>
            </a:prstGeom>
            <a:noFill/>
            <a:ln>
              <a:noFill/>
            </a:ln>
          </p:spPr>
          <p:txBody>
            <a:bodyPr anchorCtr="0" anchor="t" bIns="37025" lIns="74050" rIns="74050" tIns="37025">
              <a:noAutofit/>
            </a:bodyPr>
            <a:lstStyle/>
            <a:p>
              <a:pPr indent="0" lvl="0" marL="0" marR="0" rtl="0" algn="l">
                <a:lnSpc>
                  <a:spcPct val="100000"/>
                </a:lnSpc>
                <a:spcBef>
                  <a:spcPts val="0"/>
                </a:spcBef>
                <a:spcAft>
                  <a:spcPts val="0"/>
                </a:spcAft>
                <a:buClr>
                  <a:schemeClr val="dk1"/>
                </a:buClr>
                <a:buSzPct val="25000"/>
                <a:buFont typeface="Arial"/>
                <a:buNone/>
              </a:pPr>
              <a:r>
                <a:rPr b="1" i="0" lang="en-US" sz="1100" u="none">
                  <a:solidFill>
                    <a:schemeClr val="dk1"/>
                  </a:solidFill>
                  <a:latin typeface="Arial"/>
                  <a:ea typeface="Arial"/>
                  <a:cs typeface="Arial"/>
                  <a:sym typeface="Arial"/>
                </a:rPr>
                <a:t>Curva IS</a:t>
              </a:r>
            </a:p>
          </p:txBody>
        </p:sp>
        <p:cxnSp>
          <p:nvCxnSpPr>
            <p:cNvPr id="774" name="Shape 774"/>
            <p:cNvCxnSpPr/>
            <p:nvPr/>
          </p:nvCxnSpPr>
          <p:spPr>
            <a:xfrm>
              <a:off x="5272087" y="1963736"/>
              <a:ext cx="6000750" cy="9715500"/>
            </a:xfrm>
            <a:prstGeom prst="straightConnector1">
              <a:avLst/>
            </a:prstGeom>
            <a:noFill/>
            <a:ln cap="flat" cmpd="sng" w="38100">
              <a:solidFill>
                <a:srgbClr val="000080"/>
              </a:solidFill>
              <a:prstDash val="solid"/>
              <a:miter/>
              <a:headEnd len="med" w="med" type="none"/>
              <a:tailEnd len="med" w="med" type="none"/>
            </a:ln>
          </p:spPr>
        </p:cxnSp>
        <p:cxnSp>
          <p:nvCxnSpPr>
            <p:cNvPr id="775" name="Shape 775"/>
            <p:cNvCxnSpPr/>
            <p:nvPr/>
          </p:nvCxnSpPr>
          <p:spPr>
            <a:xfrm flipH="1" rot="10800000">
              <a:off x="6129337" y="1963736"/>
              <a:ext cx="9715500" cy="9715500"/>
            </a:xfrm>
            <a:prstGeom prst="straightConnector1">
              <a:avLst/>
            </a:prstGeom>
            <a:noFill/>
            <a:ln cap="flat" cmpd="sng" w="38100">
              <a:solidFill>
                <a:srgbClr val="FF0000"/>
              </a:solidFill>
              <a:prstDash val="solid"/>
              <a:miter/>
              <a:headEnd len="med" w="med" type="none"/>
              <a:tailEnd len="med" w="med" type="none"/>
            </a:ln>
          </p:spPr>
        </p:cxnSp>
        <p:cxnSp>
          <p:nvCxnSpPr>
            <p:cNvPr id="776" name="Shape 776"/>
            <p:cNvCxnSpPr/>
            <p:nvPr/>
          </p:nvCxnSpPr>
          <p:spPr>
            <a:xfrm>
              <a:off x="10987086" y="4535487"/>
              <a:ext cx="0" cy="2286000"/>
            </a:xfrm>
            <a:prstGeom prst="straightConnector1">
              <a:avLst/>
            </a:prstGeom>
            <a:noFill/>
            <a:ln cap="flat" cmpd="sng" w="12700">
              <a:solidFill>
                <a:srgbClr val="000000"/>
              </a:solidFill>
              <a:prstDash val="solid"/>
              <a:miter/>
              <a:headEnd len="med" w="med" type="none"/>
              <a:tailEnd len="lg" w="lg" type="triangle"/>
            </a:ln>
          </p:spPr>
        </p:cxnSp>
        <p:cxnSp>
          <p:nvCxnSpPr>
            <p:cNvPr id="777" name="Shape 777"/>
            <p:cNvCxnSpPr/>
            <p:nvPr/>
          </p:nvCxnSpPr>
          <p:spPr>
            <a:xfrm flipH="1">
              <a:off x="6986586" y="4535487"/>
              <a:ext cx="4000500" cy="1587"/>
            </a:xfrm>
            <a:prstGeom prst="straightConnector1">
              <a:avLst/>
            </a:prstGeom>
            <a:noFill/>
            <a:ln cap="flat" cmpd="sng" w="12700">
              <a:solidFill>
                <a:srgbClr val="000000"/>
              </a:solidFill>
              <a:prstDash val="solid"/>
              <a:miter/>
              <a:headEnd len="med" w="med" type="oval"/>
              <a:tailEnd len="lg" w="lg" type="triangle"/>
            </a:ln>
          </p:spPr>
        </p:cxnSp>
        <p:cxnSp>
          <p:nvCxnSpPr>
            <p:cNvPr id="778" name="Shape 778"/>
            <p:cNvCxnSpPr/>
            <p:nvPr/>
          </p:nvCxnSpPr>
          <p:spPr>
            <a:xfrm rot="10800000">
              <a:off x="13273087" y="4535486"/>
              <a:ext cx="0" cy="5143499"/>
            </a:xfrm>
            <a:prstGeom prst="straightConnector1">
              <a:avLst/>
            </a:prstGeom>
            <a:noFill/>
            <a:ln cap="flat" cmpd="sng" w="12700">
              <a:solidFill>
                <a:srgbClr val="000000"/>
              </a:solidFill>
              <a:prstDash val="solid"/>
              <a:miter/>
              <a:headEnd len="med" w="med" type="oval"/>
              <a:tailEnd len="lg" w="lg" type="triangle"/>
            </a:ln>
          </p:spPr>
        </p:cxnSp>
        <p:cxnSp>
          <p:nvCxnSpPr>
            <p:cNvPr id="779" name="Shape 779"/>
            <p:cNvCxnSpPr/>
            <p:nvPr/>
          </p:nvCxnSpPr>
          <p:spPr>
            <a:xfrm rot="10800000">
              <a:off x="10129837" y="9678986"/>
              <a:ext cx="3143249" cy="0"/>
            </a:xfrm>
            <a:prstGeom prst="straightConnector1">
              <a:avLst/>
            </a:prstGeom>
            <a:noFill/>
            <a:ln cap="flat" cmpd="sng" w="12700">
              <a:solidFill>
                <a:srgbClr val="000000"/>
              </a:solidFill>
              <a:prstDash val="solid"/>
              <a:miter/>
              <a:headEnd len="med" w="med" type="none"/>
              <a:tailEnd len="lg" w="lg" type="triangle"/>
            </a:ln>
          </p:spPr>
        </p:cxnSp>
        <p:cxnSp>
          <p:nvCxnSpPr>
            <p:cNvPr id="780" name="Shape 780"/>
            <p:cNvCxnSpPr/>
            <p:nvPr/>
          </p:nvCxnSpPr>
          <p:spPr>
            <a:xfrm>
              <a:off x="8129586" y="10821986"/>
              <a:ext cx="2571749" cy="1587"/>
            </a:xfrm>
            <a:prstGeom prst="straightConnector1">
              <a:avLst/>
            </a:prstGeom>
            <a:noFill/>
            <a:ln cap="flat" cmpd="sng" w="12700">
              <a:solidFill>
                <a:srgbClr val="000000"/>
              </a:solidFill>
              <a:prstDash val="solid"/>
              <a:miter/>
              <a:headEnd len="med" w="med" type="none"/>
              <a:tailEnd len="lg" w="lg" type="triangle"/>
            </a:ln>
          </p:spPr>
        </p:cxnSp>
        <p:cxnSp>
          <p:nvCxnSpPr>
            <p:cNvPr id="781" name="Shape 781"/>
            <p:cNvCxnSpPr/>
            <p:nvPr/>
          </p:nvCxnSpPr>
          <p:spPr>
            <a:xfrm rot="10800000">
              <a:off x="8129586" y="9678986"/>
              <a:ext cx="0" cy="1143000"/>
            </a:xfrm>
            <a:prstGeom prst="straightConnector1">
              <a:avLst/>
            </a:prstGeom>
            <a:noFill/>
            <a:ln cap="flat" cmpd="sng" w="12700">
              <a:solidFill>
                <a:srgbClr val="000000"/>
              </a:solidFill>
              <a:prstDash val="solid"/>
              <a:miter/>
              <a:headEnd len="med" w="med" type="oval"/>
              <a:tailEnd len="lg" w="lg" type="triangle"/>
            </a:ln>
          </p:spPr>
        </p:cxnSp>
        <p:cxnSp>
          <p:nvCxnSpPr>
            <p:cNvPr id="782" name="Shape 782"/>
            <p:cNvCxnSpPr/>
            <p:nvPr/>
          </p:nvCxnSpPr>
          <p:spPr>
            <a:xfrm>
              <a:off x="7270750" y="7107236"/>
              <a:ext cx="1587" cy="3429000"/>
            </a:xfrm>
            <a:prstGeom prst="straightConnector1">
              <a:avLst/>
            </a:prstGeom>
            <a:noFill/>
            <a:ln cap="flat" cmpd="sng" w="12700">
              <a:solidFill>
                <a:srgbClr val="000000"/>
              </a:solidFill>
              <a:prstDash val="solid"/>
              <a:miter/>
              <a:headEnd len="med" w="med" type="oval"/>
              <a:tailEnd len="lg" w="lg" type="triangle"/>
            </a:ln>
          </p:spPr>
        </p:cxnSp>
        <p:cxnSp>
          <p:nvCxnSpPr>
            <p:cNvPr id="783" name="Shape 783"/>
            <p:cNvCxnSpPr/>
            <p:nvPr/>
          </p:nvCxnSpPr>
          <p:spPr>
            <a:xfrm>
              <a:off x="7272336" y="7107236"/>
              <a:ext cx="1143000" cy="0"/>
            </a:xfrm>
            <a:prstGeom prst="straightConnector1">
              <a:avLst/>
            </a:prstGeom>
            <a:noFill/>
            <a:ln cap="flat" cmpd="sng" w="12700">
              <a:solidFill>
                <a:srgbClr val="000000"/>
              </a:solidFill>
              <a:prstDash val="solid"/>
              <a:miter/>
              <a:headEnd len="med" w="med" type="none"/>
              <a:tailEnd len="lg" w="lg" type="triangle"/>
            </a:ln>
          </p:spPr>
        </p:cxnSp>
        <p:sp>
          <p:nvSpPr>
            <p:cNvPr id="784" name="Shape 784"/>
            <p:cNvSpPr txBox="1"/>
            <p:nvPr/>
          </p:nvSpPr>
          <p:spPr>
            <a:xfrm>
              <a:off x="7558086" y="10821986"/>
              <a:ext cx="2000250" cy="1428749"/>
            </a:xfrm>
            <a:prstGeom prst="rect">
              <a:avLst/>
            </a:prstGeom>
            <a:noFill/>
            <a:ln>
              <a:noFill/>
            </a:ln>
          </p:spPr>
          <p:txBody>
            <a:bodyPr anchorCtr="0" anchor="t" bIns="37025" lIns="74050" rIns="74050" tIns="37025">
              <a:noAutofit/>
            </a:bodyPr>
            <a:lstStyle/>
            <a:p>
              <a:pPr indent="0" lvl="0" marL="0" marR="0" rtl="0" algn="l">
                <a:lnSpc>
                  <a:spcPct val="100000"/>
                </a:lnSpc>
                <a:spcBef>
                  <a:spcPts val="0"/>
                </a:spcBef>
                <a:spcAft>
                  <a:spcPts val="0"/>
                </a:spcAft>
                <a:buClr>
                  <a:schemeClr val="dk1"/>
                </a:buClr>
                <a:buSzPct val="25000"/>
                <a:buFont typeface="Arial"/>
                <a:buNone/>
              </a:pPr>
              <a:r>
                <a:rPr b="1" i="0" lang="en-US" sz="1100" u="none">
                  <a:solidFill>
                    <a:schemeClr val="dk1"/>
                  </a:solidFill>
                  <a:latin typeface="Arial"/>
                  <a:ea typeface="Arial"/>
                  <a:cs typeface="Arial"/>
                  <a:sym typeface="Arial"/>
                </a:rPr>
                <a:t>A</a:t>
              </a:r>
            </a:p>
          </p:txBody>
        </p:sp>
        <p:sp>
          <p:nvSpPr>
            <p:cNvPr id="785" name="Shape 785"/>
            <p:cNvSpPr txBox="1"/>
            <p:nvPr/>
          </p:nvSpPr>
          <p:spPr>
            <a:xfrm>
              <a:off x="6700836" y="6535737"/>
              <a:ext cx="2000250" cy="1428749"/>
            </a:xfrm>
            <a:prstGeom prst="rect">
              <a:avLst/>
            </a:prstGeom>
            <a:noFill/>
            <a:ln>
              <a:noFill/>
            </a:ln>
          </p:spPr>
          <p:txBody>
            <a:bodyPr anchorCtr="0" anchor="t" bIns="37025" lIns="74050" rIns="74050" tIns="37025">
              <a:noAutofit/>
            </a:bodyPr>
            <a:lstStyle/>
            <a:p>
              <a:pPr indent="0" lvl="0" marL="0" marR="0" rtl="0" algn="l">
                <a:lnSpc>
                  <a:spcPct val="100000"/>
                </a:lnSpc>
                <a:spcBef>
                  <a:spcPts val="0"/>
                </a:spcBef>
                <a:spcAft>
                  <a:spcPts val="0"/>
                </a:spcAft>
                <a:buClr>
                  <a:schemeClr val="dk1"/>
                </a:buClr>
                <a:buSzPct val="25000"/>
                <a:buFont typeface="Arial"/>
                <a:buNone/>
              </a:pPr>
              <a:r>
                <a:rPr b="1" i="0" lang="en-US" sz="1100" u="none">
                  <a:solidFill>
                    <a:schemeClr val="dk1"/>
                  </a:solidFill>
                  <a:latin typeface="Arial"/>
                  <a:ea typeface="Arial"/>
                  <a:cs typeface="Arial"/>
                  <a:sym typeface="Arial"/>
                </a:rPr>
                <a:t>B</a:t>
              </a:r>
            </a:p>
          </p:txBody>
        </p:sp>
        <p:sp>
          <p:nvSpPr>
            <p:cNvPr id="786" name="Shape 786"/>
            <p:cNvSpPr txBox="1"/>
            <p:nvPr/>
          </p:nvSpPr>
          <p:spPr>
            <a:xfrm>
              <a:off x="10987086" y="3963987"/>
              <a:ext cx="2000250" cy="1428749"/>
            </a:xfrm>
            <a:prstGeom prst="rect">
              <a:avLst/>
            </a:prstGeom>
            <a:noFill/>
            <a:ln>
              <a:noFill/>
            </a:ln>
          </p:spPr>
          <p:txBody>
            <a:bodyPr anchorCtr="0" anchor="t" bIns="37025" lIns="74050" rIns="74050" tIns="37025">
              <a:noAutofit/>
            </a:bodyPr>
            <a:lstStyle/>
            <a:p>
              <a:pPr indent="0" lvl="0" marL="0" marR="0" rtl="0" algn="l">
                <a:lnSpc>
                  <a:spcPct val="100000"/>
                </a:lnSpc>
                <a:spcBef>
                  <a:spcPts val="0"/>
                </a:spcBef>
                <a:spcAft>
                  <a:spcPts val="0"/>
                </a:spcAft>
                <a:buClr>
                  <a:schemeClr val="dk1"/>
                </a:buClr>
                <a:buSzPct val="25000"/>
                <a:buFont typeface="Arial"/>
                <a:buNone/>
              </a:pPr>
              <a:r>
                <a:rPr b="1" i="0" lang="en-US" sz="1100" u="none">
                  <a:solidFill>
                    <a:schemeClr val="dk1"/>
                  </a:solidFill>
                  <a:latin typeface="Arial"/>
                  <a:ea typeface="Arial"/>
                  <a:cs typeface="Arial"/>
                  <a:sym typeface="Arial"/>
                </a:rPr>
                <a:t>C</a:t>
              </a:r>
            </a:p>
          </p:txBody>
        </p:sp>
        <p:sp>
          <p:nvSpPr>
            <p:cNvPr id="787" name="Shape 787"/>
            <p:cNvSpPr txBox="1"/>
            <p:nvPr/>
          </p:nvSpPr>
          <p:spPr>
            <a:xfrm>
              <a:off x="13273087" y="9393236"/>
              <a:ext cx="2000250" cy="1428749"/>
            </a:xfrm>
            <a:prstGeom prst="rect">
              <a:avLst/>
            </a:prstGeom>
            <a:noFill/>
            <a:ln>
              <a:noFill/>
            </a:ln>
          </p:spPr>
          <p:txBody>
            <a:bodyPr anchorCtr="0" anchor="t" bIns="37025" lIns="74050" rIns="74050" tIns="37025">
              <a:noAutofit/>
            </a:bodyPr>
            <a:lstStyle/>
            <a:p>
              <a:pPr indent="0" lvl="0" marL="0" marR="0" rtl="0" algn="l">
                <a:lnSpc>
                  <a:spcPct val="100000"/>
                </a:lnSpc>
                <a:spcBef>
                  <a:spcPts val="0"/>
                </a:spcBef>
                <a:spcAft>
                  <a:spcPts val="0"/>
                </a:spcAft>
                <a:buClr>
                  <a:schemeClr val="dk1"/>
                </a:buClr>
                <a:buSzPct val="25000"/>
                <a:buFont typeface="Arial"/>
                <a:buNone/>
              </a:pPr>
              <a:r>
                <a:rPr b="1" i="0" lang="en-US" sz="1100" u="none">
                  <a:solidFill>
                    <a:schemeClr val="dk1"/>
                  </a:solidFill>
                  <a:latin typeface="Arial"/>
                  <a:ea typeface="Arial"/>
                  <a:cs typeface="Arial"/>
                  <a:sym typeface="Arial"/>
                </a:rPr>
                <a:t>D</a:t>
              </a:r>
            </a:p>
          </p:txBody>
        </p:sp>
      </p:grpSp>
      <p:sp>
        <p:nvSpPr>
          <p:cNvPr id="788" name="Shape 788"/>
          <p:cNvSpPr txBox="1"/>
          <p:nvPr/>
        </p:nvSpPr>
        <p:spPr>
          <a:xfrm>
            <a:off x="3640137" y="107950"/>
            <a:ext cx="4775200" cy="960436"/>
          </a:xfrm>
          <a:prstGeom prst="rect">
            <a:avLst/>
          </a:prstGeom>
          <a:noFill/>
          <a:ln>
            <a:noFill/>
          </a:ln>
        </p:spPr>
        <p:txBody>
          <a:bodyPr anchorCtr="0" anchor="ctr" bIns="0" lIns="365000"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1" lang="en-US" sz="2000" u="none">
                <a:solidFill>
                  <a:srgbClr val="BB4F59"/>
                </a:solidFill>
                <a:latin typeface="Arial"/>
                <a:ea typeface="Arial"/>
                <a:cs typeface="Arial"/>
                <a:sym typeface="Arial"/>
              </a:rPr>
              <a:t>EQUILIBRIO SIMULTÁNEO EN LOS </a:t>
            </a:r>
          </a:p>
          <a:p>
            <a:pPr indent="0" lvl="0" marL="0" marR="0" rtl="0" algn="l">
              <a:lnSpc>
                <a:spcPct val="100000"/>
              </a:lnSpc>
              <a:spcBef>
                <a:spcPts val="0"/>
              </a:spcBef>
              <a:spcAft>
                <a:spcPts val="0"/>
              </a:spcAft>
              <a:buClr>
                <a:srgbClr val="BB4F59"/>
              </a:buClr>
              <a:buSzPct val="25000"/>
              <a:buFont typeface="Arial"/>
              <a:buNone/>
            </a:pPr>
            <a:r>
              <a:rPr b="1" i="1" lang="en-US" sz="2000" u="none">
                <a:solidFill>
                  <a:srgbClr val="BB4F59"/>
                </a:solidFill>
                <a:latin typeface="Arial"/>
                <a:ea typeface="Arial"/>
                <a:cs typeface="Arial"/>
                <a:sym typeface="Arial"/>
              </a:rPr>
              <a:t>MERCADOS DE B/S Y DEL DINERO</a:t>
            </a:r>
          </a:p>
          <a:p>
            <a:pPr indent="0" lvl="0" marL="0" marR="0" rtl="0" algn="l">
              <a:lnSpc>
                <a:spcPct val="100000"/>
              </a:lnSpc>
              <a:spcBef>
                <a:spcPts val="0"/>
              </a:spcBef>
              <a:spcAft>
                <a:spcPts val="0"/>
              </a:spcAft>
              <a:buNone/>
            </a:pPr>
            <a:r>
              <a:t/>
            </a:r>
            <a:endParaRPr b="1" i="1" sz="2000" u="none">
              <a:solidFill>
                <a:srgbClr val="BB4F59"/>
              </a:solidFill>
              <a:latin typeface="Arial"/>
              <a:ea typeface="Arial"/>
              <a:cs typeface="Arial"/>
              <a:sym typeface="Arial"/>
            </a:endParaRPr>
          </a:p>
        </p:txBody>
      </p:sp>
      <p:sp>
        <p:nvSpPr>
          <p:cNvPr id="789" name="Shape 789"/>
          <p:cNvSpPr txBox="1"/>
          <p:nvPr/>
        </p:nvSpPr>
        <p:spPr>
          <a:xfrm>
            <a:off x="5464175" y="1295400"/>
            <a:ext cx="3679824" cy="5462586"/>
          </a:xfrm>
          <a:prstGeom prst="rect">
            <a:avLst/>
          </a:prstGeom>
          <a:solidFill>
            <a:srgbClr val="FFFFFF"/>
          </a:solidFill>
          <a:ln>
            <a:noFill/>
          </a:ln>
        </p:spPr>
        <p:txBody>
          <a:bodyPr anchorCtr="0" anchor="ctr" bIns="45700" lIns="0" rIns="0" tIns="0">
            <a:noAutofit/>
          </a:bodyPr>
          <a:lstStyle/>
          <a:p>
            <a:pPr indent="0" lvl="0" marL="0" marR="0" rtl="0" algn="l">
              <a:lnSpc>
                <a:spcPct val="100000"/>
              </a:lnSpc>
              <a:spcBef>
                <a:spcPts val="0"/>
              </a:spcBef>
              <a:spcAft>
                <a:spcPts val="0"/>
              </a:spcAft>
              <a:buClr>
                <a:schemeClr val="dk1"/>
              </a:buClr>
              <a:buSzPct val="25000"/>
              <a:buFont typeface="Arial"/>
              <a:buNone/>
            </a:pPr>
            <a:r>
              <a:rPr b="1" i="0" lang="en-US" sz="1300" u="none">
                <a:solidFill>
                  <a:schemeClr val="dk1"/>
                </a:solidFill>
                <a:latin typeface="Arial"/>
                <a:ea typeface="Arial"/>
                <a:cs typeface="Arial"/>
                <a:sym typeface="Arial"/>
              </a:rPr>
              <a:t>Los cuatro cuadrantes en los que se divide </a:t>
            </a:r>
          </a:p>
          <a:p>
            <a:pPr indent="0" lvl="0" marL="0" marR="0" rtl="0" algn="l">
              <a:lnSpc>
                <a:spcPct val="100000"/>
              </a:lnSpc>
              <a:spcBef>
                <a:spcPts val="650"/>
              </a:spcBef>
              <a:spcAft>
                <a:spcPts val="0"/>
              </a:spcAft>
              <a:buClr>
                <a:schemeClr val="dk1"/>
              </a:buClr>
              <a:buSzPct val="25000"/>
              <a:buFont typeface="Arial"/>
              <a:buNone/>
            </a:pPr>
            <a:r>
              <a:rPr b="1" i="0" lang="en-US" sz="1300" u="none">
                <a:solidFill>
                  <a:schemeClr val="dk1"/>
                </a:solidFill>
                <a:latin typeface="Arial"/>
                <a:ea typeface="Arial"/>
                <a:cs typeface="Arial"/>
                <a:sym typeface="Arial"/>
              </a:rPr>
              <a:t>el espacio representan situaciones de </a:t>
            </a:r>
          </a:p>
          <a:p>
            <a:pPr indent="0" lvl="0" marL="0" marR="0" rtl="0" algn="l">
              <a:lnSpc>
                <a:spcPct val="100000"/>
              </a:lnSpc>
              <a:spcBef>
                <a:spcPts val="650"/>
              </a:spcBef>
              <a:spcAft>
                <a:spcPts val="0"/>
              </a:spcAft>
              <a:buClr>
                <a:schemeClr val="dk1"/>
              </a:buClr>
              <a:buSzPct val="25000"/>
              <a:buFont typeface="Arial"/>
              <a:buNone/>
            </a:pPr>
            <a:r>
              <a:rPr b="1" i="0" lang="en-US" sz="1300" u="none">
                <a:solidFill>
                  <a:schemeClr val="dk1"/>
                </a:solidFill>
                <a:latin typeface="Arial"/>
                <a:ea typeface="Arial"/>
                <a:cs typeface="Arial"/>
                <a:sym typeface="Arial"/>
              </a:rPr>
              <a:t>desequilibrio con las siguientes </a:t>
            </a:r>
          </a:p>
          <a:p>
            <a:pPr indent="0" lvl="0" marL="0" marR="0" rtl="0" algn="l">
              <a:lnSpc>
                <a:spcPct val="100000"/>
              </a:lnSpc>
              <a:spcBef>
                <a:spcPts val="650"/>
              </a:spcBef>
              <a:spcAft>
                <a:spcPts val="0"/>
              </a:spcAft>
              <a:buClr>
                <a:schemeClr val="dk1"/>
              </a:buClr>
              <a:buSzPct val="25000"/>
              <a:buFont typeface="Arial"/>
              <a:buNone/>
            </a:pPr>
            <a:r>
              <a:rPr b="1" i="0" lang="en-US" sz="1300" u="none">
                <a:solidFill>
                  <a:schemeClr val="dk1"/>
                </a:solidFill>
                <a:latin typeface="Arial"/>
                <a:ea typeface="Arial"/>
                <a:cs typeface="Arial"/>
                <a:sym typeface="Arial"/>
              </a:rPr>
              <a:t>características</a:t>
            </a:r>
            <a:r>
              <a:rPr b="0" i="0" lang="en-US" sz="1300" u="none">
                <a:solidFill>
                  <a:schemeClr val="dk1"/>
                </a:solidFill>
                <a:latin typeface="Arial"/>
                <a:ea typeface="Arial"/>
                <a:cs typeface="Arial"/>
                <a:sym typeface="Arial"/>
              </a:rPr>
              <a:t>: </a:t>
            </a:r>
          </a:p>
          <a:p>
            <a:pPr indent="0" lvl="0" marL="0" marR="0" rtl="0" algn="l">
              <a:lnSpc>
                <a:spcPct val="100000"/>
              </a:lnSpc>
              <a:spcBef>
                <a:spcPts val="650"/>
              </a:spcBef>
              <a:spcAft>
                <a:spcPts val="0"/>
              </a:spcAft>
              <a:buClr>
                <a:schemeClr val="dk1"/>
              </a:buClr>
              <a:buFont typeface="Calibri"/>
              <a:buNone/>
            </a:pPr>
            <a:r>
              <a:t/>
            </a:r>
            <a:endParaRPr b="0" i="0" sz="1300" u="none">
              <a:solidFill>
                <a:schemeClr val="dk1"/>
              </a:solidFill>
              <a:latin typeface="Arial"/>
              <a:ea typeface="Arial"/>
              <a:cs typeface="Arial"/>
              <a:sym typeface="Arial"/>
            </a:endParaRPr>
          </a:p>
          <a:p>
            <a:pPr indent="0" lvl="0" marL="0" marR="0" rtl="0" algn="l">
              <a:lnSpc>
                <a:spcPct val="100000"/>
              </a:lnSpc>
              <a:spcBef>
                <a:spcPts val="650"/>
              </a:spcBef>
              <a:spcAft>
                <a:spcPts val="0"/>
              </a:spcAft>
              <a:buClr>
                <a:srgbClr val="BB4F59"/>
              </a:buClr>
              <a:buSzPct val="25000"/>
              <a:buFont typeface="Arial"/>
              <a:buNone/>
            </a:pPr>
            <a:r>
              <a:rPr b="1" i="0" lang="en-US" sz="1300" u="none">
                <a:solidFill>
                  <a:srgbClr val="BB4F59"/>
                </a:solidFill>
                <a:latin typeface="Arial"/>
                <a:ea typeface="Arial"/>
                <a:cs typeface="Arial"/>
                <a:sym typeface="Arial"/>
              </a:rPr>
              <a:t>Región I</a:t>
            </a:r>
            <a:r>
              <a:rPr b="1" i="0" lang="en-US" sz="1300" u="none">
                <a:solidFill>
                  <a:schemeClr val="dk1"/>
                </a:solidFill>
                <a:latin typeface="Arial"/>
                <a:ea typeface="Arial"/>
                <a:cs typeface="Arial"/>
                <a:sym typeface="Arial"/>
              </a:rPr>
              <a:t>: </a:t>
            </a:r>
            <a:r>
              <a:rPr b="1" i="0" lang="en-US" sz="1300" u="none">
                <a:solidFill>
                  <a:srgbClr val="FF0000"/>
                </a:solidFill>
                <a:latin typeface="Arial"/>
                <a:ea typeface="Arial"/>
                <a:cs typeface="Arial"/>
                <a:sym typeface="Arial"/>
              </a:rPr>
              <a:t>Exceso de oferta de bienes</a:t>
            </a:r>
            <a:r>
              <a:rPr b="1" i="0" lang="en-US" sz="1300" u="none">
                <a:solidFill>
                  <a:schemeClr val="dk1"/>
                </a:solidFill>
                <a:latin typeface="Arial"/>
                <a:ea typeface="Arial"/>
                <a:cs typeface="Arial"/>
                <a:sym typeface="Arial"/>
              </a:rPr>
              <a:t> y </a:t>
            </a:r>
          </a:p>
          <a:p>
            <a:pPr indent="0" lvl="0" marL="0" marR="0" rtl="0" algn="l">
              <a:lnSpc>
                <a:spcPct val="100000"/>
              </a:lnSpc>
              <a:spcBef>
                <a:spcPts val="650"/>
              </a:spcBef>
              <a:spcAft>
                <a:spcPts val="0"/>
              </a:spcAft>
              <a:buClr>
                <a:schemeClr val="dk1"/>
              </a:buClr>
              <a:buSzPct val="25000"/>
              <a:buFont typeface="Arial"/>
              <a:buNone/>
            </a:pPr>
            <a:r>
              <a:rPr b="1" i="0" lang="en-US" sz="1300" u="none">
                <a:solidFill>
                  <a:schemeClr val="dk1"/>
                </a:solidFill>
                <a:latin typeface="Arial"/>
                <a:ea typeface="Arial"/>
                <a:cs typeface="Arial"/>
                <a:sym typeface="Arial"/>
              </a:rPr>
              <a:t>exceso de oferta de dinero, punto C.</a:t>
            </a:r>
          </a:p>
          <a:p>
            <a:pPr indent="0" lvl="0" marL="0" marR="0" rtl="0" algn="l">
              <a:lnSpc>
                <a:spcPct val="100000"/>
              </a:lnSpc>
              <a:spcBef>
                <a:spcPts val="650"/>
              </a:spcBef>
              <a:spcAft>
                <a:spcPts val="0"/>
              </a:spcAft>
              <a:buClr>
                <a:schemeClr val="dk1"/>
              </a:buClr>
              <a:buFont typeface="Calibri"/>
              <a:buNone/>
            </a:pPr>
            <a:r>
              <a:t/>
            </a:r>
            <a:endParaRPr b="0" i="0" sz="1300" u="none">
              <a:solidFill>
                <a:schemeClr val="dk1"/>
              </a:solidFill>
              <a:latin typeface="Arial"/>
              <a:ea typeface="Arial"/>
              <a:cs typeface="Arial"/>
              <a:sym typeface="Arial"/>
            </a:endParaRPr>
          </a:p>
          <a:p>
            <a:pPr indent="0" lvl="0" marL="0" marR="0" rtl="0" algn="l">
              <a:lnSpc>
                <a:spcPct val="100000"/>
              </a:lnSpc>
              <a:spcBef>
                <a:spcPts val="650"/>
              </a:spcBef>
              <a:spcAft>
                <a:spcPts val="0"/>
              </a:spcAft>
              <a:buClr>
                <a:srgbClr val="BB4F59"/>
              </a:buClr>
              <a:buSzPct val="25000"/>
              <a:buFont typeface="Arial"/>
              <a:buNone/>
            </a:pPr>
            <a:r>
              <a:rPr b="1" i="0" lang="en-US" sz="1300" u="none">
                <a:solidFill>
                  <a:srgbClr val="BB4F59"/>
                </a:solidFill>
                <a:latin typeface="Arial"/>
                <a:ea typeface="Arial"/>
                <a:cs typeface="Arial"/>
                <a:sym typeface="Arial"/>
              </a:rPr>
              <a:t>Región II</a:t>
            </a:r>
            <a:r>
              <a:rPr b="1" i="0" lang="en-US" sz="1300" u="none">
                <a:solidFill>
                  <a:schemeClr val="dk1"/>
                </a:solidFill>
                <a:latin typeface="Arial"/>
                <a:ea typeface="Arial"/>
                <a:cs typeface="Arial"/>
                <a:sym typeface="Arial"/>
              </a:rPr>
              <a:t>: </a:t>
            </a:r>
            <a:r>
              <a:rPr b="1" i="0" lang="en-US" sz="1300" u="none">
                <a:solidFill>
                  <a:srgbClr val="FF0000"/>
                </a:solidFill>
                <a:latin typeface="Arial"/>
                <a:ea typeface="Arial"/>
                <a:cs typeface="Arial"/>
                <a:sym typeface="Arial"/>
              </a:rPr>
              <a:t>Exceso de oferta de bienes</a:t>
            </a:r>
            <a:r>
              <a:rPr b="1" i="0" lang="en-US" sz="1300" u="none">
                <a:solidFill>
                  <a:schemeClr val="dk1"/>
                </a:solidFill>
                <a:latin typeface="Arial"/>
                <a:ea typeface="Arial"/>
                <a:cs typeface="Arial"/>
                <a:sym typeface="Arial"/>
              </a:rPr>
              <a:t> y</a:t>
            </a:r>
          </a:p>
          <a:p>
            <a:pPr indent="0" lvl="0" marL="0" marR="0" rtl="0" algn="l">
              <a:lnSpc>
                <a:spcPct val="100000"/>
              </a:lnSpc>
              <a:spcBef>
                <a:spcPts val="650"/>
              </a:spcBef>
              <a:spcAft>
                <a:spcPts val="0"/>
              </a:spcAft>
              <a:buClr>
                <a:schemeClr val="dk1"/>
              </a:buClr>
              <a:buSzPct val="25000"/>
              <a:buFont typeface="Arial"/>
              <a:buNone/>
            </a:pPr>
            <a:r>
              <a:rPr b="1" i="0" lang="en-US" sz="1300" u="none">
                <a:solidFill>
                  <a:schemeClr val="dk1"/>
                </a:solidFill>
                <a:latin typeface="Arial"/>
                <a:ea typeface="Arial"/>
                <a:cs typeface="Arial"/>
                <a:sym typeface="Arial"/>
              </a:rPr>
              <a:t>exceso de demanda de dinero, punto D.</a:t>
            </a:r>
          </a:p>
          <a:p>
            <a:pPr indent="0" lvl="0" marL="0" marR="0" rtl="0" algn="l">
              <a:lnSpc>
                <a:spcPct val="100000"/>
              </a:lnSpc>
              <a:spcBef>
                <a:spcPts val="650"/>
              </a:spcBef>
              <a:spcAft>
                <a:spcPts val="0"/>
              </a:spcAft>
              <a:buClr>
                <a:schemeClr val="dk1"/>
              </a:buClr>
              <a:buFont typeface="Calibri"/>
              <a:buNone/>
            </a:pPr>
            <a:r>
              <a:t/>
            </a:r>
            <a:endParaRPr b="0" i="0" sz="1300" u="none">
              <a:solidFill>
                <a:schemeClr val="dk1"/>
              </a:solidFill>
              <a:latin typeface="Arial"/>
              <a:ea typeface="Arial"/>
              <a:cs typeface="Arial"/>
              <a:sym typeface="Arial"/>
            </a:endParaRPr>
          </a:p>
          <a:p>
            <a:pPr indent="0" lvl="0" marL="0" marR="0" rtl="0" algn="l">
              <a:lnSpc>
                <a:spcPct val="100000"/>
              </a:lnSpc>
              <a:spcBef>
                <a:spcPts val="650"/>
              </a:spcBef>
              <a:spcAft>
                <a:spcPts val="0"/>
              </a:spcAft>
              <a:buClr>
                <a:srgbClr val="BB4F59"/>
              </a:buClr>
              <a:buSzPct val="25000"/>
              <a:buFont typeface="Arial"/>
              <a:buNone/>
            </a:pPr>
            <a:r>
              <a:rPr b="1" i="0" lang="en-US" sz="1300" u="none">
                <a:solidFill>
                  <a:srgbClr val="BB4F59"/>
                </a:solidFill>
                <a:latin typeface="Arial"/>
                <a:ea typeface="Arial"/>
                <a:cs typeface="Arial"/>
                <a:sym typeface="Arial"/>
              </a:rPr>
              <a:t>Región III</a:t>
            </a:r>
            <a:r>
              <a:rPr b="1" i="0" lang="en-US" sz="1300" u="none">
                <a:solidFill>
                  <a:schemeClr val="dk1"/>
                </a:solidFill>
                <a:latin typeface="Arial"/>
                <a:ea typeface="Arial"/>
                <a:cs typeface="Arial"/>
                <a:sym typeface="Arial"/>
              </a:rPr>
              <a:t>: </a:t>
            </a:r>
            <a:r>
              <a:rPr b="1" i="0" lang="en-US" sz="1300" u="none">
                <a:solidFill>
                  <a:schemeClr val="dk2"/>
                </a:solidFill>
                <a:latin typeface="Arial"/>
                <a:ea typeface="Arial"/>
                <a:cs typeface="Arial"/>
                <a:sym typeface="Arial"/>
              </a:rPr>
              <a:t>Exceso de demanda de bienes</a:t>
            </a:r>
          </a:p>
          <a:p>
            <a:pPr indent="0" lvl="0" marL="0" marR="0" rtl="0" algn="l">
              <a:lnSpc>
                <a:spcPct val="100000"/>
              </a:lnSpc>
              <a:spcBef>
                <a:spcPts val="650"/>
              </a:spcBef>
              <a:spcAft>
                <a:spcPts val="0"/>
              </a:spcAft>
              <a:buClr>
                <a:schemeClr val="dk1"/>
              </a:buClr>
              <a:buSzPct val="25000"/>
              <a:buFont typeface="Arial"/>
              <a:buNone/>
            </a:pPr>
            <a:r>
              <a:rPr b="1" i="0" lang="en-US" sz="1300" u="none">
                <a:solidFill>
                  <a:schemeClr val="dk1"/>
                </a:solidFill>
                <a:latin typeface="Arial"/>
                <a:ea typeface="Arial"/>
                <a:cs typeface="Arial"/>
                <a:sym typeface="Arial"/>
              </a:rPr>
              <a:t>y exceso de demanda de dinero, punto A.</a:t>
            </a:r>
          </a:p>
          <a:p>
            <a:pPr indent="0" lvl="0" marL="0" marR="0" rtl="0" algn="l">
              <a:lnSpc>
                <a:spcPct val="100000"/>
              </a:lnSpc>
              <a:spcBef>
                <a:spcPts val="650"/>
              </a:spcBef>
              <a:spcAft>
                <a:spcPts val="0"/>
              </a:spcAft>
              <a:buClr>
                <a:schemeClr val="dk1"/>
              </a:buClr>
              <a:buFont typeface="Calibri"/>
              <a:buNone/>
            </a:pPr>
            <a:r>
              <a:t/>
            </a:r>
            <a:endParaRPr b="0" i="0" sz="1300" u="none">
              <a:solidFill>
                <a:schemeClr val="dk1"/>
              </a:solidFill>
              <a:latin typeface="Arial"/>
              <a:ea typeface="Arial"/>
              <a:cs typeface="Arial"/>
              <a:sym typeface="Arial"/>
            </a:endParaRPr>
          </a:p>
          <a:p>
            <a:pPr indent="0" lvl="0" marL="0" marR="0" rtl="0" algn="l">
              <a:lnSpc>
                <a:spcPct val="100000"/>
              </a:lnSpc>
              <a:spcBef>
                <a:spcPts val="650"/>
              </a:spcBef>
              <a:spcAft>
                <a:spcPts val="0"/>
              </a:spcAft>
              <a:buClr>
                <a:srgbClr val="BB4F59"/>
              </a:buClr>
              <a:buSzPct val="25000"/>
              <a:buFont typeface="Arial"/>
              <a:buNone/>
            </a:pPr>
            <a:r>
              <a:rPr b="1" i="0" lang="en-US" sz="1300" u="none">
                <a:solidFill>
                  <a:srgbClr val="BB4F59"/>
                </a:solidFill>
                <a:latin typeface="Arial"/>
                <a:ea typeface="Arial"/>
                <a:cs typeface="Arial"/>
                <a:sym typeface="Arial"/>
              </a:rPr>
              <a:t>Región IV</a:t>
            </a:r>
            <a:r>
              <a:rPr b="1" i="0" lang="en-US" sz="1300" u="none">
                <a:solidFill>
                  <a:schemeClr val="dk1"/>
                </a:solidFill>
                <a:latin typeface="Arial"/>
                <a:ea typeface="Arial"/>
                <a:cs typeface="Arial"/>
                <a:sym typeface="Arial"/>
              </a:rPr>
              <a:t>: </a:t>
            </a:r>
            <a:r>
              <a:rPr b="1" i="0" lang="en-US" sz="1300" u="none">
                <a:solidFill>
                  <a:schemeClr val="dk2"/>
                </a:solidFill>
                <a:latin typeface="Arial"/>
                <a:ea typeface="Arial"/>
                <a:cs typeface="Arial"/>
                <a:sym typeface="Arial"/>
              </a:rPr>
              <a:t>Exceso de demanda de bienes</a:t>
            </a:r>
          </a:p>
          <a:p>
            <a:pPr indent="0" lvl="0" marL="0" marR="0" rtl="0" algn="l">
              <a:lnSpc>
                <a:spcPct val="100000"/>
              </a:lnSpc>
              <a:spcBef>
                <a:spcPts val="650"/>
              </a:spcBef>
              <a:spcAft>
                <a:spcPts val="0"/>
              </a:spcAft>
              <a:buClr>
                <a:schemeClr val="dk1"/>
              </a:buClr>
              <a:buSzPct val="25000"/>
              <a:buFont typeface="Arial"/>
              <a:buNone/>
            </a:pPr>
            <a:r>
              <a:rPr b="1" i="0" lang="en-US" sz="1300" u="none">
                <a:solidFill>
                  <a:schemeClr val="dk1"/>
                </a:solidFill>
                <a:latin typeface="Arial"/>
                <a:ea typeface="Arial"/>
                <a:cs typeface="Arial"/>
                <a:sym typeface="Arial"/>
              </a:rPr>
              <a:t>y exceso de oferta de dinero, punto B. </a:t>
            </a:r>
          </a:p>
        </p:txBody>
      </p:sp>
    </p:spTree>
  </p:cSld>
  <p:clrMapOvr>
    <a:masterClrMapping/>
  </p:clrMapOvr>
  <p:transition spd="slow">
    <p:cut/>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793" name="Shape 793"/>
        <p:cNvGrpSpPr/>
        <p:nvPr/>
      </p:nvGrpSpPr>
      <p:grpSpPr>
        <a:xfrm>
          <a:off x="0" y="0"/>
          <a:ext cx="0" cy="0"/>
          <a:chOff x="0" y="0"/>
          <a:chExt cx="0" cy="0"/>
        </a:xfrm>
      </p:grpSpPr>
      <p:pic>
        <p:nvPicPr>
          <p:cNvPr id="794" name="Shape 794"/>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795" name="Shape 795"/>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796" name="Shape 796"/>
          <p:cNvSpPr txBox="1"/>
          <p:nvPr/>
        </p:nvSpPr>
        <p:spPr>
          <a:xfrm>
            <a:off x="3640137" y="260350"/>
            <a:ext cx="4852986" cy="655636"/>
          </a:xfrm>
          <a:prstGeom prst="rect">
            <a:avLst/>
          </a:prstGeom>
          <a:noFill/>
          <a:ln>
            <a:noFill/>
          </a:ln>
        </p:spPr>
        <p:txBody>
          <a:bodyPr anchorCtr="0" anchor="ctr" bIns="0" lIns="365000"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1" lang="en-US" sz="2000" u="none">
                <a:solidFill>
                  <a:srgbClr val="BB4F59"/>
                </a:solidFill>
                <a:latin typeface="Arial"/>
                <a:ea typeface="Arial"/>
                <a:cs typeface="Arial"/>
                <a:sym typeface="Arial"/>
              </a:rPr>
              <a:t>POLÍTICAS FISCALES EXPANSIVAS</a:t>
            </a:r>
          </a:p>
          <a:p>
            <a:pPr indent="0" lvl="0" marL="0" marR="0" rtl="0" algn="l">
              <a:lnSpc>
                <a:spcPct val="100000"/>
              </a:lnSpc>
              <a:spcBef>
                <a:spcPts val="0"/>
              </a:spcBef>
              <a:spcAft>
                <a:spcPts val="0"/>
              </a:spcAft>
              <a:buNone/>
            </a:pPr>
            <a:r>
              <a:t/>
            </a:r>
            <a:endParaRPr b="1" i="1" sz="2000" u="none">
              <a:solidFill>
                <a:srgbClr val="BB4F59"/>
              </a:solidFill>
              <a:latin typeface="Arial"/>
              <a:ea typeface="Arial"/>
              <a:cs typeface="Arial"/>
              <a:sym typeface="Arial"/>
            </a:endParaRPr>
          </a:p>
        </p:txBody>
      </p:sp>
      <p:cxnSp>
        <p:nvCxnSpPr>
          <p:cNvPr id="797" name="Shape 797"/>
          <p:cNvCxnSpPr/>
          <p:nvPr/>
        </p:nvCxnSpPr>
        <p:spPr>
          <a:xfrm rot="10800000">
            <a:off x="1752600" y="2057400"/>
            <a:ext cx="0" cy="3581399"/>
          </a:xfrm>
          <a:prstGeom prst="straightConnector1">
            <a:avLst/>
          </a:prstGeom>
          <a:noFill/>
          <a:ln cap="flat" cmpd="sng" w="25400">
            <a:solidFill>
              <a:schemeClr val="dk1"/>
            </a:solidFill>
            <a:prstDash val="solid"/>
            <a:miter/>
            <a:headEnd len="med" w="med" type="none"/>
            <a:tailEnd len="lg" w="lg" type="triangle"/>
          </a:ln>
        </p:spPr>
      </p:cxnSp>
      <p:cxnSp>
        <p:nvCxnSpPr>
          <p:cNvPr id="798" name="Shape 798"/>
          <p:cNvCxnSpPr/>
          <p:nvPr/>
        </p:nvCxnSpPr>
        <p:spPr>
          <a:xfrm>
            <a:off x="1752600" y="5638800"/>
            <a:ext cx="5867400" cy="0"/>
          </a:xfrm>
          <a:prstGeom prst="straightConnector1">
            <a:avLst/>
          </a:prstGeom>
          <a:noFill/>
          <a:ln cap="flat" cmpd="sng" w="25400">
            <a:solidFill>
              <a:schemeClr val="dk1"/>
            </a:solidFill>
            <a:prstDash val="solid"/>
            <a:miter/>
            <a:headEnd len="med" w="med" type="none"/>
            <a:tailEnd len="lg" w="lg" type="triangle"/>
          </a:ln>
        </p:spPr>
      </p:cxnSp>
      <p:sp>
        <p:nvSpPr>
          <p:cNvPr id="799" name="Shape 799"/>
          <p:cNvSpPr/>
          <p:nvPr/>
        </p:nvSpPr>
        <p:spPr>
          <a:xfrm>
            <a:off x="1752600" y="2971800"/>
            <a:ext cx="5676900" cy="2533650"/>
          </a:xfrm>
          <a:custGeom>
            <a:pathLst>
              <a:path extrusionOk="0" h="120000" w="120000">
                <a:moveTo>
                  <a:pt x="0" y="0"/>
                </a:moveTo>
                <a:cubicBezTo>
                  <a:pt x="838" y="3082"/>
                  <a:pt x="2214" y="11052"/>
                  <a:pt x="5033" y="18496"/>
                </a:cubicBezTo>
                <a:cubicBezTo>
                  <a:pt x="7852" y="25939"/>
                  <a:pt x="11442" y="35112"/>
                  <a:pt x="16912" y="44511"/>
                </a:cubicBezTo>
                <a:cubicBezTo>
                  <a:pt x="22382" y="53909"/>
                  <a:pt x="30704" y="66240"/>
                  <a:pt x="37852" y="74887"/>
                </a:cubicBezTo>
                <a:cubicBezTo>
                  <a:pt x="45000" y="83533"/>
                  <a:pt x="52751" y="90676"/>
                  <a:pt x="59798" y="96541"/>
                </a:cubicBezTo>
                <a:cubicBezTo>
                  <a:pt x="66845" y="102406"/>
                  <a:pt x="73624" y="106691"/>
                  <a:pt x="80134" y="110075"/>
                </a:cubicBezTo>
                <a:cubicBezTo>
                  <a:pt x="86644" y="113458"/>
                  <a:pt x="92214" y="115187"/>
                  <a:pt x="98859" y="116842"/>
                </a:cubicBezTo>
                <a:cubicBezTo>
                  <a:pt x="105503" y="118496"/>
                  <a:pt x="115604" y="119323"/>
                  <a:pt x="120000" y="119999"/>
                </a:cubicBezTo>
              </a:path>
            </a:pathLst>
          </a:custGeom>
          <a:noFill/>
          <a:ln cap="flat" cmpd="sng" w="25400">
            <a:solidFill>
              <a:srgbClr val="FF0000"/>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800" name="Shape 800"/>
          <p:cNvSpPr/>
          <p:nvPr/>
        </p:nvSpPr>
        <p:spPr>
          <a:xfrm>
            <a:off x="2225675" y="2867025"/>
            <a:ext cx="3441700" cy="3152775"/>
          </a:xfrm>
          <a:custGeom>
            <a:pathLst>
              <a:path extrusionOk="0" h="120000" w="120000">
                <a:moveTo>
                  <a:pt x="0" y="120000"/>
                </a:moveTo>
                <a:cubicBezTo>
                  <a:pt x="5258" y="118126"/>
                  <a:pt x="20590" y="113716"/>
                  <a:pt x="31494" y="108640"/>
                </a:cubicBezTo>
                <a:cubicBezTo>
                  <a:pt x="42398" y="103564"/>
                  <a:pt x="56070" y="96072"/>
                  <a:pt x="65313" y="89365"/>
                </a:cubicBezTo>
                <a:cubicBezTo>
                  <a:pt x="74557" y="82658"/>
                  <a:pt x="81254" y="75589"/>
                  <a:pt x="87121" y="68519"/>
                </a:cubicBezTo>
                <a:cubicBezTo>
                  <a:pt x="92988" y="61450"/>
                  <a:pt x="96309" y="54199"/>
                  <a:pt x="100405" y="46767"/>
                </a:cubicBezTo>
                <a:cubicBezTo>
                  <a:pt x="104501" y="39335"/>
                  <a:pt x="108431" y="31722"/>
                  <a:pt x="111697" y="23927"/>
                </a:cubicBezTo>
                <a:cubicBezTo>
                  <a:pt x="114963" y="16132"/>
                  <a:pt x="118284" y="4954"/>
                  <a:pt x="120000" y="0"/>
                </a:cubicBezTo>
              </a:path>
            </a:pathLst>
          </a:custGeom>
          <a:noFill/>
          <a:ln cap="flat" cmpd="sng" w="317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801" name="Shape 801"/>
          <p:cNvSpPr txBox="1"/>
          <p:nvPr/>
        </p:nvSpPr>
        <p:spPr>
          <a:xfrm>
            <a:off x="5486400" y="5105400"/>
            <a:ext cx="1143000" cy="152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61235"/>
              </a:buClr>
              <a:buSzPct val="25000"/>
              <a:buFont typeface="Arial"/>
              <a:buNone/>
            </a:pPr>
            <a:r>
              <a:rPr b="1" i="0" lang="en-US" sz="1400" u="none">
                <a:solidFill>
                  <a:srgbClr val="E61235"/>
                </a:solidFill>
                <a:latin typeface="Arial"/>
                <a:ea typeface="Arial"/>
                <a:cs typeface="Arial"/>
                <a:sym typeface="Arial"/>
              </a:rPr>
              <a:t>Curva IS</a:t>
            </a:r>
          </a:p>
        </p:txBody>
      </p:sp>
      <p:sp>
        <p:nvSpPr>
          <p:cNvPr id="802" name="Shape 802"/>
          <p:cNvSpPr txBox="1"/>
          <p:nvPr/>
        </p:nvSpPr>
        <p:spPr>
          <a:xfrm>
            <a:off x="5791200" y="2876550"/>
            <a:ext cx="1828800" cy="304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400" u="none">
                <a:solidFill>
                  <a:schemeClr val="hlink"/>
                </a:solidFill>
                <a:latin typeface="Arial"/>
                <a:ea typeface="Arial"/>
                <a:cs typeface="Arial"/>
                <a:sym typeface="Arial"/>
              </a:rPr>
              <a:t>Curva LM</a:t>
            </a:r>
          </a:p>
        </p:txBody>
      </p:sp>
      <p:cxnSp>
        <p:nvCxnSpPr>
          <p:cNvPr id="803" name="Shape 803"/>
          <p:cNvCxnSpPr/>
          <p:nvPr/>
        </p:nvCxnSpPr>
        <p:spPr>
          <a:xfrm rot="10800000">
            <a:off x="1752600" y="4953000"/>
            <a:ext cx="2666999" cy="0"/>
          </a:xfrm>
          <a:prstGeom prst="straightConnector1">
            <a:avLst/>
          </a:prstGeom>
          <a:noFill/>
          <a:ln cap="flat" cmpd="sng" w="9525">
            <a:solidFill>
              <a:schemeClr val="dk1"/>
            </a:solidFill>
            <a:prstDash val="solid"/>
            <a:miter/>
            <a:headEnd len="med" w="med" type="oval"/>
            <a:tailEnd len="med" w="med" type="none"/>
          </a:ln>
        </p:spPr>
      </p:cxnSp>
      <p:cxnSp>
        <p:nvCxnSpPr>
          <p:cNvPr id="804" name="Shape 804"/>
          <p:cNvCxnSpPr/>
          <p:nvPr/>
        </p:nvCxnSpPr>
        <p:spPr>
          <a:xfrm>
            <a:off x="4419600" y="4953000"/>
            <a:ext cx="0" cy="685799"/>
          </a:xfrm>
          <a:prstGeom prst="straightConnector1">
            <a:avLst/>
          </a:prstGeom>
          <a:noFill/>
          <a:ln cap="flat" cmpd="sng" w="9525">
            <a:solidFill>
              <a:schemeClr val="dk1"/>
            </a:solidFill>
            <a:prstDash val="solid"/>
            <a:miter/>
            <a:headEnd len="med" w="med" type="none"/>
            <a:tailEnd len="med" w="med" type="none"/>
          </a:ln>
        </p:spPr>
      </p:cxnSp>
      <p:sp>
        <p:nvSpPr>
          <p:cNvPr id="805" name="Shape 805"/>
          <p:cNvSpPr txBox="1"/>
          <p:nvPr/>
        </p:nvSpPr>
        <p:spPr>
          <a:xfrm>
            <a:off x="1600200" y="1951036"/>
            <a:ext cx="76199" cy="487361"/>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i</a:t>
            </a:r>
          </a:p>
        </p:txBody>
      </p:sp>
      <p:sp>
        <p:nvSpPr>
          <p:cNvPr id="806" name="Shape 806"/>
          <p:cNvSpPr txBox="1"/>
          <p:nvPr/>
        </p:nvSpPr>
        <p:spPr>
          <a:xfrm>
            <a:off x="7010400" y="5486400"/>
            <a:ext cx="1371599" cy="533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Renta (Y)</a:t>
            </a:r>
          </a:p>
        </p:txBody>
      </p:sp>
      <p:sp>
        <p:nvSpPr>
          <p:cNvPr id="807" name="Shape 807"/>
          <p:cNvSpPr txBox="1"/>
          <p:nvPr/>
        </p:nvSpPr>
        <p:spPr>
          <a:xfrm>
            <a:off x="4191000" y="5562600"/>
            <a:ext cx="609599"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Y</a:t>
            </a:r>
            <a:r>
              <a:rPr b="1" baseline="-25000" i="0" lang="en-US" sz="1200" u="none">
                <a:solidFill>
                  <a:schemeClr val="dk1"/>
                </a:solidFill>
                <a:latin typeface="Arial"/>
                <a:ea typeface="Arial"/>
                <a:cs typeface="Arial"/>
                <a:sym typeface="Arial"/>
              </a:rPr>
              <a:t>eq</a:t>
            </a:r>
          </a:p>
        </p:txBody>
      </p:sp>
      <p:sp>
        <p:nvSpPr>
          <p:cNvPr id="808" name="Shape 808"/>
          <p:cNvSpPr txBox="1"/>
          <p:nvPr/>
        </p:nvSpPr>
        <p:spPr>
          <a:xfrm>
            <a:off x="1371600" y="4724400"/>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i</a:t>
            </a:r>
            <a:r>
              <a:rPr b="1" baseline="-25000" i="0" lang="en-US" sz="1200" u="none">
                <a:solidFill>
                  <a:schemeClr val="dk1"/>
                </a:solidFill>
                <a:latin typeface="Arial"/>
                <a:ea typeface="Arial"/>
                <a:cs typeface="Arial"/>
                <a:sym typeface="Arial"/>
              </a:rPr>
              <a:t>eq</a:t>
            </a:r>
          </a:p>
        </p:txBody>
      </p:sp>
      <p:sp>
        <p:nvSpPr>
          <p:cNvPr id="809" name="Shape 809"/>
          <p:cNvSpPr txBox="1"/>
          <p:nvPr/>
        </p:nvSpPr>
        <p:spPr>
          <a:xfrm>
            <a:off x="381000" y="6065837"/>
            <a:ext cx="7924799" cy="581024"/>
          </a:xfrm>
          <a:prstGeom prst="rect">
            <a:avLst/>
          </a:prstGeom>
          <a:solidFill>
            <a:srgbClr val="FFFF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a:solidFill>
                  <a:schemeClr val="dk1"/>
                </a:solidFill>
                <a:latin typeface="Arial"/>
                <a:ea typeface="Arial"/>
                <a:cs typeface="Arial"/>
                <a:sym typeface="Arial"/>
              </a:rPr>
              <a:t>Si el gobierno aplica  políticas fiscales expansivas está aumentando el gasto público y/o los subsidios y/o está reduciendo los impuestos (aumenta la demanda agregada)</a:t>
            </a:r>
          </a:p>
        </p:txBody>
      </p:sp>
      <p:sp>
        <p:nvSpPr>
          <p:cNvPr id="810" name="Shape 810"/>
          <p:cNvSpPr/>
          <p:nvPr/>
        </p:nvSpPr>
        <p:spPr>
          <a:xfrm rot="240000">
            <a:off x="1714500" y="2419350"/>
            <a:ext cx="5676899" cy="2533649"/>
          </a:xfrm>
          <a:custGeom>
            <a:pathLst>
              <a:path extrusionOk="0" h="120000" w="120000">
                <a:moveTo>
                  <a:pt x="0" y="0"/>
                </a:moveTo>
                <a:cubicBezTo>
                  <a:pt x="838" y="3082"/>
                  <a:pt x="2214" y="11052"/>
                  <a:pt x="5033" y="18496"/>
                </a:cubicBezTo>
                <a:cubicBezTo>
                  <a:pt x="7852" y="25939"/>
                  <a:pt x="11442" y="35112"/>
                  <a:pt x="16912" y="44511"/>
                </a:cubicBezTo>
                <a:cubicBezTo>
                  <a:pt x="22382" y="53909"/>
                  <a:pt x="30704" y="66240"/>
                  <a:pt x="37852" y="74887"/>
                </a:cubicBezTo>
                <a:cubicBezTo>
                  <a:pt x="45000" y="83533"/>
                  <a:pt x="52751" y="90676"/>
                  <a:pt x="59798" y="96541"/>
                </a:cubicBezTo>
                <a:cubicBezTo>
                  <a:pt x="66845" y="102406"/>
                  <a:pt x="73624" y="106691"/>
                  <a:pt x="80134" y="110075"/>
                </a:cubicBezTo>
                <a:cubicBezTo>
                  <a:pt x="86644" y="113458"/>
                  <a:pt x="92214" y="115187"/>
                  <a:pt x="98859" y="116842"/>
                </a:cubicBezTo>
                <a:cubicBezTo>
                  <a:pt x="105503" y="118496"/>
                  <a:pt x="115604" y="119323"/>
                  <a:pt x="120000" y="119999"/>
                </a:cubicBezTo>
              </a:path>
            </a:pathLst>
          </a:custGeom>
          <a:noFill/>
          <a:ln cap="flat" cmpd="sng" w="25400">
            <a:solidFill>
              <a:srgbClr val="993300"/>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811" name="Shape 811"/>
          <p:cNvSpPr txBox="1"/>
          <p:nvPr/>
        </p:nvSpPr>
        <p:spPr>
          <a:xfrm>
            <a:off x="6134100" y="4619625"/>
            <a:ext cx="1295400" cy="37941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accent2"/>
              </a:buClr>
              <a:buSzPct val="25000"/>
              <a:buFont typeface="Arial"/>
              <a:buNone/>
            </a:pPr>
            <a:r>
              <a:rPr b="1" i="0" lang="en-US" sz="1400" u="none">
                <a:solidFill>
                  <a:schemeClr val="accent2"/>
                </a:solidFill>
                <a:latin typeface="Arial"/>
                <a:ea typeface="Arial"/>
                <a:cs typeface="Arial"/>
                <a:sym typeface="Arial"/>
              </a:rPr>
              <a:t>Curva IS</a:t>
            </a:r>
            <a:r>
              <a:rPr b="1" baseline="-25000" i="0" lang="en-US" sz="1400" u="none">
                <a:solidFill>
                  <a:schemeClr val="accent2"/>
                </a:solidFill>
                <a:latin typeface="Arial"/>
                <a:ea typeface="Arial"/>
                <a:cs typeface="Arial"/>
                <a:sym typeface="Arial"/>
              </a:rPr>
              <a:t>1</a:t>
            </a:r>
          </a:p>
        </p:txBody>
      </p:sp>
      <p:cxnSp>
        <p:nvCxnSpPr>
          <p:cNvPr id="812" name="Shape 812"/>
          <p:cNvCxnSpPr/>
          <p:nvPr/>
        </p:nvCxnSpPr>
        <p:spPr>
          <a:xfrm rot="10800000">
            <a:off x="1752599" y="4572000"/>
            <a:ext cx="3048000" cy="0"/>
          </a:xfrm>
          <a:prstGeom prst="straightConnector1">
            <a:avLst/>
          </a:prstGeom>
          <a:noFill/>
          <a:ln cap="flat" cmpd="sng" w="9525">
            <a:solidFill>
              <a:schemeClr val="dk1"/>
            </a:solidFill>
            <a:prstDash val="solid"/>
            <a:miter/>
            <a:headEnd len="med" w="med" type="none"/>
            <a:tailEnd len="med" w="med" type="none"/>
          </a:ln>
        </p:spPr>
      </p:cxnSp>
      <p:cxnSp>
        <p:nvCxnSpPr>
          <p:cNvPr id="813" name="Shape 813"/>
          <p:cNvCxnSpPr/>
          <p:nvPr/>
        </p:nvCxnSpPr>
        <p:spPr>
          <a:xfrm>
            <a:off x="4800600" y="4572000"/>
            <a:ext cx="0" cy="1066799"/>
          </a:xfrm>
          <a:prstGeom prst="straightConnector1">
            <a:avLst/>
          </a:prstGeom>
          <a:noFill/>
          <a:ln cap="flat" cmpd="sng" w="9525">
            <a:solidFill>
              <a:schemeClr val="dk1"/>
            </a:solidFill>
            <a:prstDash val="solid"/>
            <a:miter/>
            <a:headEnd len="med" w="med" type="none"/>
            <a:tailEnd len="med" w="med" type="none"/>
          </a:ln>
        </p:spPr>
      </p:cxnSp>
      <p:sp>
        <p:nvSpPr>
          <p:cNvPr id="814" name="Shape 814"/>
          <p:cNvSpPr/>
          <p:nvPr/>
        </p:nvSpPr>
        <p:spPr>
          <a:xfrm>
            <a:off x="4419600" y="5181600"/>
            <a:ext cx="381000" cy="304799"/>
          </a:xfrm>
          <a:prstGeom prst="rightArrow">
            <a:avLst>
              <a:gd fmla="val 50000" name="adj1"/>
              <a:gd fmla="val 50000"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815" name="Shape 815"/>
          <p:cNvSpPr/>
          <p:nvPr/>
        </p:nvSpPr>
        <p:spPr>
          <a:xfrm>
            <a:off x="2819400" y="4572000"/>
            <a:ext cx="381000" cy="304799"/>
          </a:xfrm>
          <a:prstGeom prst="upArrow">
            <a:avLst>
              <a:gd fmla="val 11700" name="adj1"/>
              <a:gd fmla="val 5940"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816" name="Shape 816"/>
          <p:cNvSpPr/>
          <p:nvPr/>
        </p:nvSpPr>
        <p:spPr>
          <a:xfrm rot="1800000">
            <a:off x="2928936" y="3770312"/>
            <a:ext cx="485774" cy="496886"/>
          </a:xfrm>
          <a:prstGeom prst="upArrow">
            <a:avLst>
              <a:gd fmla="val 11566" name="adj1"/>
              <a:gd fmla="val 4034" name="adj2"/>
            </a:avLst>
          </a:prstGeom>
          <a:solidFill>
            <a:srgbClr val="FF00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817" name="Shape 817"/>
          <p:cNvSpPr txBox="1"/>
          <p:nvPr/>
        </p:nvSpPr>
        <p:spPr>
          <a:xfrm>
            <a:off x="2819400" y="2057400"/>
            <a:ext cx="5486399" cy="685799"/>
          </a:xfrm>
          <a:prstGeom prst="rect">
            <a:avLst/>
          </a:prstGeom>
          <a:solidFill>
            <a:srgbClr val="FFFF00">
              <a:alpha val="52941"/>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Desplazamiento de la curva IS a la derecha</a:t>
            </a:r>
          </a:p>
          <a:p>
            <a:pPr indent="0" lvl="0" marL="0" marR="0" rtl="0" algn="ctr">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Aumento de la renta y aumento de la tasa de interés </a:t>
            </a:r>
          </a:p>
        </p:txBody>
      </p:sp>
      <p:sp>
        <p:nvSpPr>
          <p:cNvPr id="818" name="Shape 818"/>
          <p:cNvSpPr txBox="1"/>
          <p:nvPr/>
        </p:nvSpPr>
        <p:spPr>
          <a:xfrm>
            <a:off x="1371600" y="4343400"/>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i</a:t>
            </a:r>
            <a:r>
              <a:rPr b="1" baseline="-25000" i="0" lang="en-US" sz="1200" u="none">
                <a:solidFill>
                  <a:schemeClr val="dk1"/>
                </a:solidFill>
                <a:latin typeface="Arial"/>
                <a:ea typeface="Arial"/>
                <a:cs typeface="Arial"/>
                <a:sym typeface="Arial"/>
              </a:rPr>
              <a:t>eq1</a:t>
            </a:r>
          </a:p>
        </p:txBody>
      </p:sp>
      <p:sp>
        <p:nvSpPr>
          <p:cNvPr id="819" name="Shape 819"/>
          <p:cNvSpPr txBox="1"/>
          <p:nvPr/>
        </p:nvSpPr>
        <p:spPr>
          <a:xfrm>
            <a:off x="4648200" y="5638800"/>
            <a:ext cx="609599"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Y</a:t>
            </a:r>
            <a:r>
              <a:rPr b="1" baseline="-25000" i="0" lang="en-US" sz="1200" u="none">
                <a:solidFill>
                  <a:schemeClr val="dk1"/>
                </a:solidFill>
                <a:latin typeface="Arial"/>
                <a:ea typeface="Arial"/>
                <a:cs typeface="Arial"/>
                <a:sym typeface="Arial"/>
              </a:rPr>
              <a:t>eq1</a:t>
            </a:r>
          </a:p>
        </p:txBody>
      </p:sp>
    </p:spTree>
  </p:cSld>
  <p:clrMapOvr>
    <a:masterClrMapping/>
  </p:clrMapOvr>
  <p:transition spd="slow">
    <p:cut/>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823" name="Shape 823"/>
        <p:cNvGrpSpPr/>
        <p:nvPr/>
      </p:nvGrpSpPr>
      <p:grpSpPr>
        <a:xfrm>
          <a:off x="0" y="0"/>
          <a:ext cx="0" cy="0"/>
          <a:chOff x="0" y="0"/>
          <a:chExt cx="0" cy="0"/>
        </a:xfrm>
      </p:grpSpPr>
      <p:pic>
        <p:nvPicPr>
          <p:cNvPr id="824" name="Shape 824"/>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825" name="Shape 825"/>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826" name="Shape 826"/>
          <p:cNvSpPr txBox="1"/>
          <p:nvPr/>
        </p:nvSpPr>
        <p:spPr>
          <a:xfrm>
            <a:off x="3640137" y="107950"/>
            <a:ext cx="4683125" cy="960436"/>
          </a:xfrm>
          <a:prstGeom prst="rect">
            <a:avLst/>
          </a:prstGeom>
          <a:noFill/>
          <a:ln>
            <a:noFill/>
          </a:ln>
        </p:spPr>
        <p:txBody>
          <a:bodyPr anchorCtr="0" anchor="ctr" bIns="0" lIns="365000"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1" lang="en-US" sz="2000" u="none">
                <a:solidFill>
                  <a:srgbClr val="BB4F59"/>
                </a:solidFill>
                <a:latin typeface="Arial"/>
                <a:ea typeface="Arial"/>
                <a:cs typeface="Arial"/>
                <a:sym typeface="Arial"/>
              </a:rPr>
              <a:t>POLÍTICAS FISCALES </a:t>
            </a:r>
          </a:p>
          <a:p>
            <a:pPr indent="0" lvl="0" marL="0" marR="0" rtl="0" algn="ctr">
              <a:lnSpc>
                <a:spcPct val="100000"/>
              </a:lnSpc>
              <a:spcBef>
                <a:spcPts val="0"/>
              </a:spcBef>
              <a:spcAft>
                <a:spcPts val="0"/>
              </a:spcAft>
              <a:buClr>
                <a:srgbClr val="BB4F59"/>
              </a:buClr>
              <a:buSzPct val="25000"/>
              <a:buFont typeface="Arial"/>
              <a:buNone/>
            </a:pPr>
            <a:r>
              <a:rPr b="1" i="1" lang="en-US" sz="2000" u="none">
                <a:solidFill>
                  <a:srgbClr val="BB4F59"/>
                </a:solidFill>
                <a:latin typeface="Arial"/>
                <a:ea typeface="Arial"/>
                <a:cs typeface="Arial"/>
                <a:sym typeface="Arial"/>
              </a:rPr>
              <a:t>RESTRICTIVAS O CONTRACTIVAS</a:t>
            </a:r>
          </a:p>
          <a:p>
            <a:pPr indent="0" lvl="0" marL="0" marR="0" rtl="0" algn="l">
              <a:lnSpc>
                <a:spcPct val="100000"/>
              </a:lnSpc>
              <a:spcBef>
                <a:spcPts val="0"/>
              </a:spcBef>
              <a:spcAft>
                <a:spcPts val="0"/>
              </a:spcAft>
              <a:buNone/>
            </a:pPr>
            <a:r>
              <a:t/>
            </a:r>
            <a:endParaRPr b="1" i="1" sz="2000" u="none">
              <a:solidFill>
                <a:srgbClr val="BB4F59"/>
              </a:solidFill>
              <a:latin typeface="Arial"/>
              <a:ea typeface="Arial"/>
              <a:cs typeface="Arial"/>
              <a:sym typeface="Arial"/>
            </a:endParaRPr>
          </a:p>
        </p:txBody>
      </p:sp>
      <p:cxnSp>
        <p:nvCxnSpPr>
          <p:cNvPr id="827" name="Shape 827"/>
          <p:cNvCxnSpPr/>
          <p:nvPr/>
        </p:nvCxnSpPr>
        <p:spPr>
          <a:xfrm rot="10800000">
            <a:off x="1752600" y="2057400"/>
            <a:ext cx="0" cy="3581399"/>
          </a:xfrm>
          <a:prstGeom prst="straightConnector1">
            <a:avLst/>
          </a:prstGeom>
          <a:noFill/>
          <a:ln cap="flat" cmpd="sng" w="25400">
            <a:solidFill>
              <a:schemeClr val="dk1"/>
            </a:solidFill>
            <a:prstDash val="solid"/>
            <a:miter/>
            <a:headEnd len="med" w="med" type="none"/>
            <a:tailEnd len="lg" w="lg" type="triangle"/>
          </a:ln>
        </p:spPr>
      </p:cxnSp>
      <p:cxnSp>
        <p:nvCxnSpPr>
          <p:cNvPr id="828" name="Shape 828"/>
          <p:cNvCxnSpPr/>
          <p:nvPr/>
        </p:nvCxnSpPr>
        <p:spPr>
          <a:xfrm>
            <a:off x="1752600" y="5638800"/>
            <a:ext cx="5867400" cy="0"/>
          </a:xfrm>
          <a:prstGeom prst="straightConnector1">
            <a:avLst/>
          </a:prstGeom>
          <a:noFill/>
          <a:ln cap="flat" cmpd="sng" w="25400">
            <a:solidFill>
              <a:schemeClr val="dk1"/>
            </a:solidFill>
            <a:prstDash val="solid"/>
            <a:miter/>
            <a:headEnd len="med" w="med" type="none"/>
            <a:tailEnd len="lg" w="lg" type="triangle"/>
          </a:ln>
        </p:spPr>
      </p:cxnSp>
      <p:sp>
        <p:nvSpPr>
          <p:cNvPr id="829" name="Shape 829"/>
          <p:cNvSpPr/>
          <p:nvPr/>
        </p:nvSpPr>
        <p:spPr>
          <a:xfrm>
            <a:off x="1752600" y="2971800"/>
            <a:ext cx="5676900" cy="2533650"/>
          </a:xfrm>
          <a:custGeom>
            <a:pathLst>
              <a:path extrusionOk="0" h="120000" w="120000">
                <a:moveTo>
                  <a:pt x="0" y="0"/>
                </a:moveTo>
                <a:cubicBezTo>
                  <a:pt x="838" y="3082"/>
                  <a:pt x="2214" y="11052"/>
                  <a:pt x="5033" y="18496"/>
                </a:cubicBezTo>
                <a:cubicBezTo>
                  <a:pt x="7852" y="25939"/>
                  <a:pt x="11442" y="35112"/>
                  <a:pt x="16912" y="44511"/>
                </a:cubicBezTo>
                <a:cubicBezTo>
                  <a:pt x="22382" y="53909"/>
                  <a:pt x="30704" y="66240"/>
                  <a:pt x="37852" y="74887"/>
                </a:cubicBezTo>
                <a:cubicBezTo>
                  <a:pt x="45000" y="83533"/>
                  <a:pt x="52751" y="90676"/>
                  <a:pt x="59798" y="96541"/>
                </a:cubicBezTo>
                <a:cubicBezTo>
                  <a:pt x="66845" y="102406"/>
                  <a:pt x="73624" y="106691"/>
                  <a:pt x="80134" y="110075"/>
                </a:cubicBezTo>
                <a:cubicBezTo>
                  <a:pt x="86644" y="113458"/>
                  <a:pt x="92214" y="115187"/>
                  <a:pt x="98859" y="116842"/>
                </a:cubicBezTo>
                <a:cubicBezTo>
                  <a:pt x="105503" y="118496"/>
                  <a:pt x="115604" y="119323"/>
                  <a:pt x="120000" y="119999"/>
                </a:cubicBezTo>
              </a:path>
            </a:pathLst>
          </a:custGeom>
          <a:noFill/>
          <a:ln cap="flat" cmpd="sng" w="25400">
            <a:solidFill>
              <a:srgbClr val="FF0000"/>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830" name="Shape 830"/>
          <p:cNvSpPr/>
          <p:nvPr/>
        </p:nvSpPr>
        <p:spPr>
          <a:xfrm>
            <a:off x="2225675" y="2867025"/>
            <a:ext cx="3441700" cy="3152775"/>
          </a:xfrm>
          <a:custGeom>
            <a:pathLst>
              <a:path extrusionOk="0" h="120000" w="120000">
                <a:moveTo>
                  <a:pt x="0" y="120000"/>
                </a:moveTo>
                <a:cubicBezTo>
                  <a:pt x="5258" y="118126"/>
                  <a:pt x="20590" y="113716"/>
                  <a:pt x="31494" y="108640"/>
                </a:cubicBezTo>
                <a:cubicBezTo>
                  <a:pt x="42398" y="103564"/>
                  <a:pt x="56070" y="96072"/>
                  <a:pt x="65313" y="89365"/>
                </a:cubicBezTo>
                <a:cubicBezTo>
                  <a:pt x="74557" y="82658"/>
                  <a:pt x="81254" y="75589"/>
                  <a:pt x="87121" y="68519"/>
                </a:cubicBezTo>
                <a:cubicBezTo>
                  <a:pt x="92988" y="61450"/>
                  <a:pt x="96309" y="54199"/>
                  <a:pt x="100405" y="46767"/>
                </a:cubicBezTo>
                <a:cubicBezTo>
                  <a:pt x="104501" y="39335"/>
                  <a:pt x="108431" y="31722"/>
                  <a:pt x="111697" y="23927"/>
                </a:cubicBezTo>
                <a:cubicBezTo>
                  <a:pt x="114963" y="16132"/>
                  <a:pt x="118284" y="4954"/>
                  <a:pt x="120000" y="0"/>
                </a:cubicBezTo>
              </a:path>
            </a:pathLst>
          </a:custGeom>
          <a:noFill/>
          <a:ln cap="flat" cmpd="sng" w="317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831" name="Shape 831"/>
          <p:cNvSpPr txBox="1"/>
          <p:nvPr/>
        </p:nvSpPr>
        <p:spPr>
          <a:xfrm>
            <a:off x="5486400" y="5105400"/>
            <a:ext cx="1143000" cy="152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61235"/>
              </a:buClr>
              <a:buSzPct val="25000"/>
              <a:buFont typeface="Arial"/>
              <a:buNone/>
            </a:pPr>
            <a:r>
              <a:rPr b="1" i="0" lang="en-US" sz="1400" u="none">
                <a:solidFill>
                  <a:srgbClr val="E61235"/>
                </a:solidFill>
                <a:latin typeface="Arial"/>
                <a:ea typeface="Arial"/>
                <a:cs typeface="Arial"/>
                <a:sym typeface="Arial"/>
              </a:rPr>
              <a:t>Curva IS</a:t>
            </a:r>
            <a:r>
              <a:rPr b="1" baseline="-25000" i="0" lang="en-US" sz="1400" u="none">
                <a:solidFill>
                  <a:srgbClr val="E61235"/>
                </a:solidFill>
                <a:latin typeface="Arial"/>
                <a:ea typeface="Arial"/>
                <a:cs typeface="Arial"/>
                <a:sym typeface="Arial"/>
              </a:rPr>
              <a:t>1</a:t>
            </a:r>
          </a:p>
        </p:txBody>
      </p:sp>
      <p:sp>
        <p:nvSpPr>
          <p:cNvPr id="832" name="Shape 832"/>
          <p:cNvSpPr txBox="1"/>
          <p:nvPr/>
        </p:nvSpPr>
        <p:spPr>
          <a:xfrm>
            <a:off x="5791200" y="2876550"/>
            <a:ext cx="1828800" cy="304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400" u="none">
                <a:solidFill>
                  <a:schemeClr val="hlink"/>
                </a:solidFill>
                <a:latin typeface="Arial"/>
                <a:ea typeface="Arial"/>
                <a:cs typeface="Arial"/>
                <a:sym typeface="Arial"/>
              </a:rPr>
              <a:t>Curva LM</a:t>
            </a:r>
          </a:p>
        </p:txBody>
      </p:sp>
      <p:cxnSp>
        <p:nvCxnSpPr>
          <p:cNvPr id="833" name="Shape 833"/>
          <p:cNvCxnSpPr/>
          <p:nvPr/>
        </p:nvCxnSpPr>
        <p:spPr>
          <a:xfrm rot="10800000">
            <a:off x="1752600" y="4953000"/>
            <a:ext cx="2666999" cy="0"/>
          </a:xfrm>
          <a:prstGeom prst="straightConnector1">
            <a:avLst/>
          </a:prstGeom>
          <a:noFill/>
          <a:ln cap="flat" cmpd="sng" w="9525">
            <a:solidFill>
              <a:schemeClr val="dk1"/>
            </a:solidFill>
            <a:prstDash val="solid"/>
            <a:miter/>
            <a:headEnd len="med" w="med" type="oval"/>
            <a:tailEnd len="med" w="med" type="none"/>
          </a:ln>
        </p:spPr>
      </p:cxnSp>
      <p:cxnSp>
        <p:nvCxnSpPr>
          <p:cNvPr id="834" name="Shape 834"/>
          <p:cNvCxnSpPr/>
          <p:nvPr/>
        </p:nvCxnSpPr>
        <p:spPr>
          <a:xfrm>
            <a:off x="4419600" y="4953000"/>
            <a:ext cx="0" cy="685799"/>
          </a:xfrm>
          <a:prstGeom prst="straightConnector1">
            <a:avLst/>
          </a:prstGeom>
          <a:noFill/>
          <a:ln cap="flat" cmpd="sng" w="9525">
            <a:solidFill>
              <a:schemeClr val="dk1"/>
            </a:solidFill>
            <a:prstDash val="solid"/>
            <a:miter/>
            <a:headEnd len="med" w="med" type="none"/>
            <a:tailEnd len="med" w="med" type="none"/>
          </a:ln>
        </p:spPr>
      </p:cxnSp>
      <p:sp>
        <p:nvSpPr>
          <p:cNvPr id="835" name="Shape 835"/>
          <p:cNvSpPr txBox="1"/>
          <p:nvPr/>
        </p:nvSpPr>
        <p:spPr>
          <a:xfrm>
            <a:off x="1600200" y="1951036"/>
            <a:ext cx="76199" cy="487361"/>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i</a:t>
            </a:r>
          </a:p>
        </p:txBody>
      </p:sp>
      <p:sp>
        <p:nvSpPr>
          <p:cNvPr id="836" name="Shape 836"/>
          <p:cNvSpPr txBox="1"/>
          <p:nvPr/>
        </p:nvSpPr>
        <p:spPr>
          <a:xfrm>
            <a:off x="7010400" y="5486400"/>
            <a:ext cx="1371599" cy="533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Renta (Y)</a:t>
            </a:r>
          </a:p>
        </p:txBody>
      </p:sp>
      <p:sp>
        <p:nvSpPr>
          <p:cNvPr id="837" name="Shape 837"/>
          <p:cNvSpPr txBox="1"/>
          <p:nvPr/>
        </p:nvSpPr>
        <p:spPr>
          <a:xfrm>
            <a:off x="4648200" y="5715000"/>
            <a:ext cx="609599"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Y</a:t>
            </a:r>
            <a:r>
              <a:rPr b="1" baseline="-25000" i="0" lang="en-US" sz="1200" u="none">
                <a:solidFill>
                  <a:schemeClr val="dk1"/>
                </a:solidFill>
                <a:latin typeface="Arial"/>
                <a:ea typeface="Arial"/>
                <a:cs typeface="Arial"/>
                <a:sym typeface="Arial"/>
              </a:rPr>
              <a:t>eq</a:t>
            </a:r>
          </a:p>
        </p:txBody>
      </p:sp>
      <p:sp>
        <p:nvSpPr>
          <p:cNvPr id="838" name="Shape 838"/>
          <p:cNvSpPr txBox="1"/>
          <p:nvPr/>
        </p:nvSpPr>
        <p:spPr>
          <a:xfrm>
            <a:off x="1227137" y="4433887"/>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i</a:t>
            </a:r>
            <a:r>
              <a:rPr b="1" baseline="-25000" i="0" lang="en-US" sz="1200" u="none">
                <a:solidFill>
                  <a:schemeClr val="dk1"/>
                </a:solidFill>
                <a:latin typeface="Arial"/>
                <a:ea typeface="Arial"/>
                <a:cs typeface="Arial"/>
                <a:sym typeface="Arial"/>
              </a:rPr>
              <a:t>eq</a:t>
            </a:r>
          </a:p>
        </p:txBody>
      </p:sp>
      <p:sp>
        <p:nvSpPr>
          <p:cNvPr id="839" name="Shape 839"/>
          <p:cNvSpPr txBox="1"/>
          <p:nvPr/>
        </p:nvSpPr>
        <p:spPr>
          <a:xfrm>
            <a:off x="381000" y="5943600"/>
            <a:ext cx="7924799" cy="825499"/>
          </a:xfrm>
          <a:prstGeom prst="rect">
            <a:avLst/>
          </a:prstGeom>
          <a:solidFill>
            <a:srgbClr val="FFFF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a:solidFill>
                  <a:schemeClr val="dk1"/>
                </a:solidFill>
                <a:latin typeface="Arial"/>
                <a:ea typeface="Arial"/>
                <a:cs typeface="Arial"/>
                <a:sym typeface="Arial"/>
              </a:rPr>
              <a:t>Si el gobierno aplica  políticas fiscales restricitvas o contractivas está reduciendo el gasto público y/o los subsidios y/o está aumentando los impuestos (reduce la demanda agregada)</a:t>
            </a:r>
          </a:p>
        </p:txBody>
      </p:sp>
      <p:sp>
        <p:nvSpPr>
          <p:cNvPr id="840" name="Shape 840"/>
          <p:cNvSpPr/>
          <p:nvPr/>
        </p:nvSpPr>
        <p:spPr>
          <a:xfrm rot="240000">
            <a:off x="1714500" y="2419350"/>
            <a:ext cx="5676899" cy="2533649"/>
          </a:xfrm>
          <a:custGeom>
            <a:pathLst>
              <a:path extrusionOk="0" h="120000" w="120000">
                <a:moveTo>
                  <a:pt x="0" y="0"/>
                </a:moveTo>
                <a:cubicBezTo>
                  <a:pt x="838" y="3082"/>
                  <a:pt x="2214" y="11052"/>
                  <a:pt x="5033" y="18496"/>
                </a:cubicBezTo>
                <a:cubicBezTo>
                  <a:pt x="7852" y="25939"/>
                  <a:pt x="11442" y="35112"/>
                  <a:pt x="16912" y="44511"/>
                </a:cubicBezTo>
                <a:cubicBezTo>
                  <a:pt x="22382" y="53909"/>
                  <a:pt x="30704" y="66240"/>
                  <a:pt x="37852" y="74887"/>
                </a:cubicBezTo>
                <a:cubicBezTo>
                  <a:pt x="45000" y="83533"/>
                  <a:pt x="52751" y="90676"/>
                  <a:pt x="59798" y="96541"/>
                </a:cubicBezTo>
                <a:cubicBezTo>
                  <a:pt x="66845" y="102406"/>
                  <a:pt x="73624" y="106691"/>
                  <a:pt x="80134" y="110075"/>
                </a:cubicBezTo>
                <a:cubicBezTo>
                  <a:pt x="86644" y="113458"/>
                  <a:pt x="92214" y="115187"/>
                  <a:pt x="98859" y="116842"/>
                </a:cubicBezTo>
                <a:cubicBezTo>
                  <a:pt x="105503" y="118496"/>
                  <a:pt x="115604" y="119323"/>
                  <a:pt x="120000" y="119999"/>
                </a:cubicBezTo>
              </a:path>
            </a:pathLst>
          </a:custGeom>
          <a:noFill/>
          <a:ln cap="flat" cmpd="sng" w="25400">
            <a:solidFill>
              <a:srgbClr val="993300"/>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841" name="Shape 841"/>
          <p:cNvSpPr txBox="1"/>
          <p:nvPr/>
        </p:nvSpPr>
        <p:spPr>
          <a:xfrm>
            <a:off x="6134100" y="4619625"/>
            <a:ext cx="1295400" cy="37941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accent2"/>
              </a:buClr>
              <a:buSzPct val="25000"/>
              <a:buFont typeface="Arial"/>
              <a:buNone/>
            </a:pPr>
            <a:r>
              <a:rPr b="1" i="0" lang="en-US" sz="1400" u="none">
                <a:solidFill>
                  <a:schemeClr val="accent2"/>
                </a:solidFill>
                <a:latin typeface="Arial"/>
                <a:ea typeface="Arial"/>
                <a:cs typeface="Arial"/>
                <a:sym typeface="Arial"/>
              </a:rPr>
              <a:t>Curva IS</a:t>
            </a:r>
          </a:p>
        </p:txBody>
      </p:sp>
      <p:cxnSp>
        <p:nvCxnSpPr>
          <p:cNvPr id="842" name="Shape 842"/>
          <p:cNvCxnSpPr/>
          <p:nvPr/>
        </p:nvCxnSpPr>
        <p:spPr>
          <a:xfrm rot="10800000">
            <a:off x="1752599" y="4572000"/>
            <a:ext cx="3048000" cy="0"/>
          </a:xfrm>
          <a:prstGeom prst="straightConnector1">
            <a:avLst/>
          </a:prstGeom>
          <a:noFill/>
          <a:ln cap="flat" cmpd="sng" w="9525">
            <a:solidFill>
              <a:schemeClr val="dk1"/>
            </a:solidFill>
            <a:prstDash val="solid"/>
            <a:miter/>
            <a:headEnd len="med" w="med" type="none"/>
            <a:tailEnd len="med" w="med" type="none"/>
          </a:ln>
        </p:spPr>
      </p:cxnSp>
      <p:cxnSp>
        <p:nvCxnSpPr>
          <p:cNvPr id="843" name="Shape 843"/>
          <p:cNvCxnSpPr/>
          <p:nvPr/>
        </p:nvCxnSpPr>
        <p:spPr>
          <a:xfrm>
            <a:off x="4800600" y="4572000"/>
            <a:ext cx="0" cy="1066799"/>
          </a:xfrm>
          <a:prstGeom prst="straightConnector1">
            <a:avLst/>
          </a:prstGeom>
          <a:noFill/>
          <a:ln cap="flat" cmpd="sng" w="9525">
            <a:solidFill>
              <a:schemeClr val="dk1"/>
            </a:solidFill>
            <a:prstDash val="solid"/>
            <a:miter/>
            <a:headEnd len="med" w="med" type="none"/>
            <a:tailEnd len="med" w="med" type="none"/>
          </a:ln>
        </p:spPr>
      </p:cxnSp>
      <p:sp>
        <p:nvSpPr>
          <p:cNvPr id="844" name="Shape 844"/>
          <p:cNvSpPr/>
          <p:nvPr/>
        </p:nvSpPr>
        <p:spPr>
          <a:xfrm rot="10800000">
            <a:off x="4419599" y="5181600"/>
            <a:ext cx="381000" cy="304799"/>
          </a:xfrm>
          <a:prstGeom prst="rightArrow">
            <a:avLst>
              <a:gd fmla="val 50000" name="adj1"/>
              <a:gd fmla="val 50000"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845" name="Shape 845"/>
          <p:cNvSpPr/>
          <p:nvPr/>
        </p:nvSpPr>
        <p:spPr>
          <a:xfrm rot="10560000">
            <a:off x="2819399" y="4572000"/>
            <a:ext cx="381000" cy="304799"/>
          </a:xfrm>
          <a:prstGeom prst="upArrow">
            <a:avLst>
              <a:gd fmla="val 11700" name="adj1"/>
              <a:gd fmla="val 5940"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846" name="Shape 846"/>
          <p:cNvSpPr/>
          <p:nvPr/>
        </p:nvSpPr>
        <p:spPr>
          <a:xfrm rot="-8460000">
            <a:off x="2928937" y="3770311"/>
            <a:ext cx="485774" cy="496887"/>
          </a:xfrm>
          <a:prstGeom prst="upArrow">
            <a:avLst>
              <a:gd fmla="val 11566" name="adj1"/>
              <a:gd fmla="val 4034" name="adj2"/>
            </a:avLst>
          </a:prstGeom>
          <a:solidFill>
            <a:srgbClr val="FF00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847" name="Shape 847"/>
          <p:cNvSpPr txBox="1"/>
          <p:nvPr/>
        </p:nvSpPr>
        <p:spPr>
          <a:xfrm>
            <a:off x="2819400" y="2057400"/>
            <a:ext cx="5714999" cy="685799"/>
          </a:xfrm>
          <a:prstGeom prst="rect">
            <a:avLst/>
          </a:prstGeom>
          <a:solidFill>
            <a:srgbClr val="FFFF00">
              <a:alpha val="52941"/>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Desplazamiento de la curva IS a la izquierda</a:t>
            </a:r>
          </a:p>
          <a:p>
            <a:pPr indent="0" lvl="0" marL="0" marR="0" rtl="0" algn="ctr">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Reducción de la renta y reducción de la tasa de interés </a:t>
            </a:r>
          </a:p>
        </p:txBody>
      </p:sp>
      <p:sp>
        <p:nvSpPr>
          <p:cNvPr id="848" name="Shape 848"/>
          <p:cNvSpPr txBox="1"/>
          <p:nvPr/>
        </p:nvSpPr>
        <p:spPr>
          <a:xfrm>
            <a:off x="1303337" y="4814887"/>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i</a:t>
            </a:r>
            <a:r>
              <a:rPr b="1" baseline="-25000" i="0" lang="en-US" sz="1200" u="none">
                <a:solidFill>
                  <a:schemeClr val="dk1"/>
                </a:solidFill>
                <a:latin typeface="Arial"/>
                <a:ea typeface="Arial"/>
                <a:cs typeface="Arial"/>
                <a:sym typeface="Arial"/>
              </a:rPr>
              <a:t>eq1</a:t>
            </a:r>
          </a:p>
        </p:txBody>
      </p:sp>
      <p:sp>
        <p:nvSpPr>
          <p:cNvPr id="849" name="Shape 849"/>
          <p:cNvSpPr txBox="1"/>
          <p:nvPr/>
        </p:nvSpPr>
        <p:spPr>
          <a:xfrm>
            <a:off x="4038600" y="5638800"/>
            <a:ext cx="609599"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Y</a:t>
            </a:r>
            <a:r>
              <a:rPr b="1" baseline="-25000" i="0" lang="en-US" sz="1200" u="none">
                <a:solidFill>
                  <a:schemeClr val="dk1"/>
                </a:solidFill>
                <a:latin typeface="Arial"/>
                <a:ea typeface="Arial"/>
                <a:cs typeface="Arial"/>
                <a:sym typeface="Arial"/>
              </a:rPr>
              <a:t>eq1</a:t>
            </a:r>
          </a:p>
        </p:txBody>
      </p:sp>
    </p:spTree>
  </p:cSld>
  <p:clrMapOvr>
    <a:masterClrMapping/>
  </p:clrMapOvr>
  <p:transition spd="slow">
    <p:cut/>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853" name="Shape 853"/>
        <p:cNvGrpSpPr/>
        <p:nvPr/>
      </p:nvGrpSpPr>
      <p:grpSpPr>
        <a:xfrm>
          <a:off x="0" y="0"/>
          <a:ext cx="0" cy="0"/>
          <a:chOff x="0" y="0"/>
          <a:chExt cx="0" cy="0"/>
        </a:xfrm>
      </p:grpSpPr>
      <p:pic>
        <p:nvPicPr>
          <p:cNvPr id="854" name="Shape 854"/>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855" name="Shape 855"/>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856" name="Shape 856"/>
          <p:cNvSpPr txBox="1"/>
          <p:nvPr/>
        </p:nvSpPr>
        <p:spPr>
          <a:xfrm>
            <a:off x="3640137" y="260350"/>
            <a:ext cx="5303836" cy="655636"/>
          </a:xfrm>
          <a:prstGeom prst="rect">
            <a:avLst/>
          </a:prstGeom>
          <a:noFill/>
          <a:ln>
            <a:noFill/>
          </a:ln>
        </p:spPr>
        <p:txBody>
          <a:bodyPr anchorCtr="0" anchor="ctr" bIns="0" lIns="365000"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1" lang="en-US" sz="2000" u="none">
                <a:solidFill>
                  <a:srgbClr val="BB4F59"/>
                </a:solidFill>
                <a:latin typeface="Arial"/>
                <a:ea typeface="Arial"/>
                <a:cs typeface="Arial"/>
                <a:sym typeface="Arial"/>
              </a:rPr>
              <a:t>POLÍTICAS MONETARIAS EXPANSIVAS</a:t>
            </a:r>
          </a:p>
          <a:p>
            <a:pPr indent="0" lvl="0" marL="0" marR="0" rtl="0" algn="l">
              <a:lnSpc>
                <a:spcPct val="100000"/>
              </a:lnSpc>
              <a:spcBef>
                <a:spcPts val="0"/>
              </a:spcBef>
              <a:spcAft>
                <a:spcPts val="0"/>
              </a:spcAft>
              <a:buNone/>
            </a:pPr>
            <a:r>
              <a:t/>
            </a:r>
            <a:endParaRPr b="1" i="1" sz="2000" u="none">
              <a:solidFill>
                <a:srgbClr val="BB4F59"/>
              </a:solidFill>
              <a:latin typeface="Arial"/>
              <a:ea typeface="Arial"/>
              <a:cs typeface="Arial"/>
              <a:sym typeface="Arial"/>
            </a:endParaRPr>
          </a:p>
        </p:txBody>
      </p:sp>
      <p:cxnSp>
        <p:nvCxnSpPr>
          <p:cNvPr id="857" name="Shape 857"/>
          <p:cNvCxnSpPr/>
          <p:nvPr/>
        </p:nvCxnSpPr>
        <p:spPr>
          <a:xfrm rot="10800000">
            <a:off x="1752600" y="2057400"/>
            <a:ext cx="0" cy="3581399"/>
          </a:xfrm>
          <a:prstGeom prst="straightConnector1">
            <a:avLst/>
          </a:prstGeom>
          <a:noFill/>
          <a:ln cap="flat" cmpd="sng" w="25400">
            <a:solidFill>
              <a:schemeClr val="dk1"/>
            </a:solidFill>
            <a:prstDash val="solid"/>
            <a:miter/>
            <a:headEnd len="med" w="med" type="none"/>
            <a:tailEnd len="lg" w="lg" type="triangle"/>
          </a:ln>
        </p:spPr>
      </p:cxnSp>
      <p:cxnSp>
        <p:nvCxnSpPr>
          <p:cNvPr id="858" name="Shape 858"/>
          <p:cNvCxnSpPr/>
          <p:nvPr/>
        </p:nvCxnSpPr>
        <p:spPr>
          <a:xfrm>
            <a:off x="1752600" y="5638800"/>
            <a:ext cx="5867400" cy="0"/>
          </a:xfrm>
          <a:prstGeom prst="straightConnector1">
            <a:avLst/>
          </a:prstGeom>
          <a:noFill/>
          <a:ln cap="flat" cmpd="sng" w="25400">
            <a:solidFill>
              <a:schemeClr val="dk1"/>
            </a:solidFill>
            <a:prstDash val="solid"/>
            <a:miter/>
            <a:headEnd len="med" w="med" type="none"/>
            <a:tailEnd len="lg" w="lg" type="triangle"/>
          </a:ln>
        </p:spPr>
      </p:cxnSp>
      <p:sp>
        <p:nvSpPr>
          <p:cNvPr id="859" name="Shape 859"/>
          <p:cNvSpPr/>
          <p:nvPr/>
        </p:nvSpPr>
        <p:spPr>
          <a:xfrm>
            <a:off x="1752600" y="2971800"/>
            <a:ext cx="5676900" cy="2533650"/>
          </a:xfrm>
          <a:custGeom>
            <a:pathLst>
              <a:path extrusionOk="0" h="120000" w="120000">
                <a:moveTo>
                  <a:pt x="0" y="0"/>
                </a:moveTo>
                <a:cubicBezTo>
                  <a:pt x="838" y="3082"/>
                  <a:pt x="2214" y="11052"/>
                  <a:pt x="5033" y="18496"/>
                </a:cubicBezTo>
                <a:cubicBezTo>
                  <a:pt x="7852" y="25939"/>
                  <a:pt x="11442" y="35112"/>
                  <a:pt x="16912" y="44511"/>
                </a:cubicBezTo>
                <a:cubicBezTo>
                  <a:pt x="22382" y="53909"/>
                  <a:pt x="31241" y="66691"/>
                  <a:pt x="37852" y="74887"/>
                </a:cubicBezTo>
                <a:cubicBezTo>
                  <a:pt x="44463" y="83082"/>
                  <a:pt x="51342" y="89022"/>
                  <a:pt x="56577" y="93834"/>
                </a:cubicBezTo>
                <a:cubicBezTo>
                  <a:pt x="61812" y="98646"/>
                  <a:pt x="65100" y="100827"/>
                  <a:pt x="69261" y="103759"/>
                </a:cubicBezTo>
                <a:cubicBezTo>
                  <a:pt x="73422" y="106691"/>
                  <a:pt x="76610" y="109172"/>
                  <a:pt x="81543" y="111428"/>
                </a:cubicBezTo>
                <a:cubicBezTo>
                  <a:pt x="86476" y="113684"/>
                  <a:pt x="92449" y="115864"/>
                  <a:pt x="98859" y="117293"/>
                </a:cubicBezTo>
                <a:cubicBezTo>
                  <a:pt x="105268" y="118721"/>
                  <a:pt x="115604" y="119473"/>
                  <a:pt x="120000" y="119999"/>
                </a:cubicBezTo>
              </a:path>
            </a:pathLst>
          </a:custGeom>
          <a:noFill/>
          <a:ln cap="flat" cmpd="sng" w="25400">
            <a:solidFill>
              <a:srgbClr val="FF0000"/>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860" name="Shape 860"/>
          <p:cNvSpPr/>
          <p:nvPr/>
        </p:nvSpPr>
        <p:spPr>
          <a:xfrm>
            <a:off x="2225675" y="2867025"/>
            <a:ext cx="3441700" cy="3152775"/>
          </a:xfrm>
          <a:custGeom>
            <a:pathLst>
              <a:path extrusionOk="0" h="120000" w="120000">
                <a:moveTo>
                  <a:pt x="0" y="120000"/>
                </a:moveTo>
                <a:cubicBezTo>
                  <a:pt x="5258" y="118126"/>
                  <a:pt x="20590" y="113716"/>
                  <a:pt x="31494" y="108640"/>
                </a:cubicBezTo>
                <a:cubicBezTo>
                  <a:pt x="42398" y="103564"/>
                  <a:pt x="56070" y="96072"/>
                  <a:pt x="65313" y="89365"/>
                </a:cubicBezTo>
                <a:cubicBezTo>
                  <a:pt x="74557" y="82658"/>
                  <a:pt x="81254" y="75589"/>
                  <a:pt x="87121" y="68519"/>
                </a:cubicBezTo>
                <a:cubicBezTo>
                  <a:pt x="92988" y="61450"/>
                  <a:pt x="96309" y="54199"/>
                  <a:pt x="100405" y="46767"/>
                </a:cubicBezTo>
                <a:cubicBezTo>
                  <a:pt x="104501" y="39335"/>
                  <a:pt x="108431" y="31722"/>
                  <a:pt x="111697" y="23927"/>
                </a:cubicBezTo>
                <a:cubicBezTo>
                  <a:pt x="114963" y="16132"/>
                  <a:pt x="118284" y="4954"/>
                  <a:pt x="120000" y="0"/>
                </a:cubicBezTo>
              </a:path>
            </a:pathLst>
          </a:custGeom>
          <a:noFill/>
          <a:ln cap="flat" cmpd="sng" w="317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861" name="Shape 861"/>
          <p:cNvSpPr txBox="1"/>
          <p:nvPr/>
        </p:nvSpPr>
        <p:spPr>
          <a:xfrm>
            <a:off x="5486400" y="5105400"/>
            <a:ext cx="1143000" cy="152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61235"/>
              </a:buClr>
              <a:buSzPct val="25000"/>
              <a:buFont typeface="Arial"/>
              <a:buNone/>
            </a:pPr>
            <a:r>
              <a:rPr b="1" i="0" lang="en-US" sz="1400" u="none">
                <a:solidFill>
                  <a:srgbClr val="E61235"/>
                </a:solidFill>
                <a:latin typeface="Arial"/>
                <a:ea typeface="Arial"/>
                <a:cs typeface="Arial"/>
                <a:sym typeface="Arial"/>
              </a:rPr>
              <a:t>Curva IS</a:t>
            </a:r>
          </a:p>
        </p:txBody>
      </p:sp>
      <p:sp>
        <p:nvSpPr>
          <p:cNvPr id="862" name="Shape 862"/>
          <p:cNvSpPr txBox="1"/>
          <p:nvPr/>
        </p:nvSpPr>
        <p:spPr>
          <a:xfrm>
            <a:off x="3733800" y="2867025"/>
            <a:ext cx="1828800" cy="304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400" u="none">
                <a:solidFill>
                  <a:schemeClr val="hlink"/>
                </a:solidFill>
                <a:latin typeface="Arial"/>
                <a:ea typeface="Arial"/>
                <a:cs typeface="Arial"/>
                <a:sym typeface="Arial"/>
              </a:rPr>
              <a:t>Curva LM</a:t>
            </a:r>
          </a:p>
        </p:txBody>
      </p:sp>
      <p:cxnSp>
        <p:nvCxnSpPr>
          <p:cNvPr id="863" name="Shape 863"/>
          <p:cNvCxnSpPr/>
          <p:nvPr/>
        </p:nvCxnSpPr>
        <p:spPr>
          <a:xfrm rot="10800000">
            <a:off x="1752600" y="4953000"/>
            <a:ext cx="2666999" cy="0"/>
          </a:xfrm>
          <a:prstGeom prst="straightConnector1">
            <a:avLst/>
          </a:prstGeom>
          <a:noFill/>
          <a:ln cap="flat" cmpd="sng" w="9525">
            <a:solidFill>
              <a:schemeClr val="dk1"/>
            </a:solidFill>
            <a:prstDash val="solid"/>
            <a:miter/>
            <a:headEnd len="med" w="med" type="oval"/>
            <a:tailEnd len="med" w="med" type="none"/>
          </a:ln>
        </p:spPr>
      </p:cxnSp>
      <p:cxnSp>
        <p:nvCxnSpPr>
          <p:cNvPr id="864" name="Shape 864"/>
          <p:cNvCxnSpPr/>
          <p:nvPr/>
        </p:nvCxnSpPr>
        <p:spPr>
          <a:xfrm>
            <a:off x="4419600" y="4953000"/>
            <a:ext cx="0" cy="685799"/>
          </a:xfrm>
          <a:prstGeom prst="straightConnector1">
            <a:avLst/>
          </a:prstGeom>
          <a:noFill/>
          <a:ln cap="flat" cmpd="sng" w="9525">
            <a:solidFill>
              <a:schemeClr val="dk1"/>
            </a:solidFill>
            <a:prstDash val="solid"/>
            <a:miter/>
            <a:headEnd len="med" w="med" type="none"/>
            <a:tailEnd len="med" w="med" type="none"/>
          </a:ln>
        </p:spPr>
      </p:cxnSp>
      <p:sp>
        <p:nvSpPr>
          <p:cNvPr id="865" name="Shape 865"/>
          <p:cNvSpPr txBox="1"/>
          <p:nvPr/>
        </p:nvSpPr>
        <p:spPr>
          <a:xfrm>
            <a:off x="1600200" y="1951036"/>
            <a:ext cx="76199" cy="487361"/>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i</a:t>
            </a:r>
          </a:p>
        </p:txBody>
      </p:sp>
      <p:sp>
        <p:nvSpPr>
          <p:cNvPr id="866" name="Shape 866"/>
          <p:cNvSpPr txBox="1"/>
          <p:nvPr/>
        </p:nvSpPr>
        <p:spPr>
          <a:xfrm>
            <a:off x="7010400" y="5486400"/>
            <a:ext cx="1371599" cy="533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Renta (Y)</a:t>
            </a:r>
          </a:p>
        </p:txBody>
      </p:sp>
      <p:sp>
        <p:nvSpPr>
          <p:cNvPr id="867" name="Shape 867"/>
          <p:cNvSpPr txBox="1"/>
          <p:nvPr/>
        </p:nvSpPr>
        <p:spPr>
          <a:xfrm>
            <a:off x="4191000" y="5562600"/>
            <a:ext cx="609599"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Y</a:t>
            </a:r>
            <a:r>
              <a:rPr b="1" baseline="-25000" i="0" lang="en-US" sz="1200" u="none">
                <a:solidFill>
                  <a:schemeClr val="dk1"/>
                </a:solidFill>
                <a:latin typeface="Arial"/>
                <a:ea typeface="Arial"/>
                <a:cs typeface="Arial"/>
                <a:sym typeface="Arial"/>
              </a:rPr>
              <a:t>eq</a:t>
            </a:r>
          </a:p>
        </p:txBody>
      </p:sp>
      <p:sp>
        <p:nvSpPr>
          <p:cNvPr id="868" name="Shape 868"/>
          <p:cNvSpPr txBox="1"/>
          <p:nvPr/>
        </p:nvSpPr>
        <p:spPr>
          <a:xfrm>
            <a:off x="1371600" y="4724400"/>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i</a:t>
            </a:r>
            <a:r>
              <a:rPr b="1" baseline="-25000" i="0" lang="en-US" sz="1200" u="none">
                <a:solidFill>
                  <a:schemeClr val="dk1"/>
                </a:solidFill>
                <a:latin typeface="Arial"/>
                <a:ea typeface="Arial"/>
                <a:cs typeface="Arial"/>
                <a:sym typeface="Arial"/>
              </a:rPr>
              <a:t>eq</a:t>
            </a:r>
          </a:p>
        </p:txBody>
      </p:sp>
      <p:sp>
        <p:nvSpPr>
          <p:cNvPr id="869" name="Shape 869"/>
          <p:cNvSpPr txBox="1"/>
          <p:nvPr/>
        </p:nvSpPr>
        <p:spPr>
          <a:xfrm>
            <a:off x="381000" y="6065837"/>
            <a:ext cx="7924799" cy="581024"/>
          </a:xfrm>
          <a:prstGeom prst="rect">
            <a:avLst/>
          </a:prstGeom>
          <a:solidFill>
            <a:srgbClr val="FFFF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a:solidFill>
                  <a:schemeClr val="dk1"/>
                </a:solidFill>
                <a:latin typeface="Arial"/>
                <a:ea typeface="Arial"/>
                <a:cs typeface="Arial"/>
                <a:sym typeface="Arial"/>
              </a:rPr>
              <a:t>Si el gobierno aplica  políticas monetarias expansivas está aumentando la oferta monetaria.</a:t>
            </a:r>
          </a:p>
        </p:txBody>
      </p:sp>
      <p:cxnSp>
        <p:nvCxnSpPr>
          <p:cNvPr id="870" name="Shape 870"/>
          <p:cNvCxnSpPr/>
          <p:nvPr/>
        </p:nvCxnSpPr>
        <p:spPr>
          <a:xfrm rot="10800000">
            <a:off x="1752599" y="5181600"/>
            <a:ext cx="3276600" cy="0"/>
          </a:xfrm>
          <a:prstGeom prst="straightConnector1">
            <a:avLst/>
          </a:prstGeom>
          <a:noFill/>
          <a:ln cap="flat" cmpd="sng" w="9525">
            <a:solidFill>
              <a:schemeClr val="dk1"/>
            </a:solidFill>
            <a:prstDash val="solid"/>
            <a:miter/>
            <a:headEnd len="med" w="med" type="none"/>
            <a:tailEnd len="med" w="med" type="none"/>
          </a:ln>
        </p:spPr>
      </p:cxnSp>
      <p:cxnSp>
        <p:nvCxnSpPr>
          <p:cNvPr id="871" name="Shape 871"/>
          <p:cNvCxnSpPr/>
          <p:nvPr/>
        </p:nvCxnSpPr>
        <p:spPr>
          <a:xfrm>
            <a:off x="5029200" y="5181600"/>
            <a:ext cx="0" cy="457200"/>
          </a:xfrm>
          <a:prstGeom prst="straightConnector1">
            <a:avLst/>
          </a:prstGeom>
          <a:noFill/>
          <a:ln cap="flat" cmpd="sng" w="9525">
            <a:solidFill>
              <a:schemeClr val="dk1"/>
            </a:solidFill>
            <a:prstDash val="solid"/>
            <a:miter/>
            <a:headEnd len="med" w="med" type="none"/>
            <a:tailEnd len="med" w="med" type="none"/>
          </a:ln>
        </p:spPr>
      </p:cxnSp>
      <p:sp>
        <p:nvSpPr>
          <p:cNvPr id="872" name="Shape 872"/>
          <p:cNvSpPr/>
          <p:nvPr/>
        </p:nvSpPr>
        <p:spPr>
          <a:xfrm>
            <a:off x="4419600" y="5181600"/>
            <a:ext cx="609599" cy="304799"/>
          </a:xfrm>
          <a:prstGeom prst="rightArrow">
            <a:avLst>
              <a:gd fmla="val 50000" name="adj1"/>
              <a:gd fmla="val 50000"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873" name="Shape 873"/>
          <p:cNvSpPr/>
          <p:nvPr/>
        </p:nvSpPr>
        <p:spPr>
          <a:xfrm rot="10800000">
            <a:off x="2819399" y="4952999"/>
            <a:ext cx="381000" cy="228600"/>
          </a:xfrm>
          <a:prstGeom prst="upArrow">
            <a:avLst>
              <a:gd fmla="val 11700" name="adj1"/>
              <a:gd fmla="val 5940"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874" name="Shape 874"/>
          <p:cNvSpPr/>
          <p:nvPr/>
        </p:nvSpPr>
        <p:spPr>
          <a:xfrm rot="6720000">
            <a:off x="5452268" y="3521867"/>
            <a:ext cx="485775" cy="496887"/>
          </a:xfrm>
          <a:prstGeom prst="upArrow">
            <a:avLst>
              <a:gd fmla="val 11566" name="adj1"/>
              <a:gd fmla="val 4034" name="adj2"/>
            </a:avLst>
          </a:prstGeom>
          <a:solidFill>
            <a:srgbClr val="FF00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875" name="Shape 875"/>
          <p:cNvSpPr txBox="1"/>
          <p:nvPr/>
        </p:nvSpPr>
        <p:spPr>
          <a:xfrm>
            <a:off x="2819400" y="2057400"/>
            <a:ext cx="5486399" cy="685799"/>
          </a:xfrm>
          <a:prstGeom prst="rect">
            <a:avLst/>
          </a:prstGeom>
          <a:solidFill>
            <a:srgbClr val="FFFF00">
              <a:alpha val="52941"/>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Desplazamiento de la curva LM a la derecha</a:t>
            </a:r>
          </a:p>
          <a:p>
            <a:pPr indent="0" lvl="0" marL="0" marR="0" rtl="0" algn="ctr">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Aumento de la renta y reducción de la tasa de interés </a:t>
            </a:r>
          </a:p>
        </p:txBody>
      </p:sp>
      <p:sp>
        <p:nvSpPr>
          <p:cNvPr id="876" name="Shape 876"/>
          <p:cNvSpPr txBox="1"/>
          <p:nvPr/>
        </p:nvSpPr>
        <p:spPr>
          <a:xfrm>
            <a:off x="1371600" y="4983162"/>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i</a:t>
            </a:r>
            <a:r>
              <a:rPr b="1" baseline="-25000" i="0" lang="en-US" sz="1200" u="none">
                <a:solidFill>
                  <a:schemeClr val="dk1"/>
                </a:solidFill>
                <a:latin typeface="Arial"/>
                <a:ea typeface="Arial"/>
                <a:cs typeface="Arial"/>
                <a:sym typeface="Arial"/>
              </a:rPr>
              <a:t>eq1</a:t>
            </a:r>
          </a:p>
        </p:txBody>
      </p:sp>
      <p:sp>
        <p:nvSpPr>
          <p:cNvPr id="877" name="Shape 877"/>
          <p:cNvSpPr txBox="1"/>
          <p:nvPr/>
        </p:nvSpPr>
        <p:spPr>
          <a:xfrm>
            <a:off x="4800600" y="5562600"/>
            <a:ext cx="609599"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Y</a:t>
            </a:r>
            <a:r>
              <a:rPr b="1" baseline="-25000" i="0" lang="en-US" sz="1200" u="none">
                <a:solidFill>
                  <a:schemeClr val="dk1"/>
                </a:solidFill>
                <a:latin typeface="Arial"/>
                <a:ea typeface="Arial"/>
                <a:cs typeface="Arial"/>
                <a:sym typeface="Arial"/>
              </a:rPr>
              <a:t>eq1</a:t>
            </a:r>
          </a:p>
        </p:txBody>
      </p:sp>
      <p:sp>
        <p:nvSpPr>
          <p:cNvPr id="878" name="Shape 878"/>
          <p:cNvSpPr/>
          <p:nvPr/>
        </p:nvSpPr>
        <p:spPr>
          <a:xfrm>
            <a:off x="2882900" y="3019425"/>
            <a:ext cx="3441700" cy="3152775"/>
          </a:xfrm>
          <a:custGeom>
            <a:pathLst>
              <a:path extrusionOk="0" h="120000" w="120000">
                <a:moveTo>
                  <a:pt x="0" y="120000"/>
                </a:moveTo>
                <a:cubicBezTo>
                  <a:pt x="5258" y="118126"/>
                  <a:pt x="20590" y="113716"/>
                  <a:pt x="31494" y="108640"/>
                </a:cubicBezTo>
                <a:cubicBezTo>
                  <a:pt x="42398" y="103564"/>
                  <a:pt x="56070" y="96072"/>
                  <a:pt x="65313" y="89365"/>
                </a:cubicBezTo>
                <a:cubicBezTo>
                  <a:pt x="74557" y="82658"/>
                  <a:pt x="81254" y="75589"/>
                  <a:pt x="87121" y="68519"/>
                </a:cubicBezTo>
                <a:cubicBezTo>
                  <a:pt x="92988" y="61450"/>
                  <a:pt x="96309" y="54199"/>
                  <a:pt x="100405" y="46767"/>
                </a:cubicBezTo>
                <a:cubicBezTo>
                  <a:pt x="104501" y="39335"/>
                  <a:pt x="108431" y="31722"/>
                  <a:pt x="111697" y="23927"/>
                </a:cubicBezTo>
                <a:cubicBezTo>
                  <a:pt x="114963" y="16132"/>
                  <a:pt x="118284" y="4954"/>
                  <a:pt x="120000" y="0"/>
                </a:cubicBezTo>
              </a:path>
            </a:pathLst>
          </a:custGeom>
          <a:noFill/>
          <a:ln cap="flat" cmpd="sng" w="31750">
            <a:solidFill>
              <a:srgbClr val="008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879" name="Shape 879"/>
          <p:cNvSpPr txBox="1"/>
          <p:nvPr/>
        </p:nvSpPr>
        <p:spPr>
          <a:xfrm>
            <a:off x="6400800" y="3019425"/>
            <a:ext cx="1828800" cy="304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117A06"/>
              </a:buClr>
              <a:buSzPct val="25000"/>
              <a:buFont typeface="Arial"/>
              <a:buNone/>
            </a:pPr>
            <a:r>
              <a:rPr b="1" i="0" lang="en-US" sz="1400" u="none">
                <a:solidFill>
                  <a:srgbClr val="117A06"/>
                </a:solidFill>
                <a:latin typeface="Arial"/>
                <a:ea typeface="Arial"/>
                <a:cs typeface="Arial"/>
                <a:sym typeface="Arial"/>
              </a:rPr>
              <a:t>Curva LM</a:t>
            </a:r>
            <a:r>
              <a:rPr b="1" baseline="-25000" i="0" lang="en-US" sz="1400" u="none">
                <a:solidFill>
                  <a:srgbClr val="117A06"/>
                </a:solidFill>
                <a:latin typeface="Arial"/>
                <a:ea typeface="Arial"/>
                <a:cs typeface="Arial"/>
                <a:sym typeface="Arial"/>
              </a:rPr>
              <a:t>1</a:t>
            </a:r>
          </a:p>
        </p:txBody>
      </p:sp>
    </p:spTree>
  </p:cSld>
  <p:clrMapOvr>
    <a:masterClrMapping/>
  </p:clrMapOvr>
  <p:transition spd="slow">
    <p:cut/>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883" name="Shape 883"/>
        <p:cNvGrpSpPr/>
        <p:nvPr/>
      </p:nvGrpSpPr>
      <p:grpSpPr>
        <a:xfrm>
          <a:off x="0" y="0"/>
          <a:ext cx="0" cy="0"/>
          <a:chOff x="0" y="0"/>
          <a:chExt cx="0" cy="0"/>
        </a:xfrm>
      </p:grpSpPr>
      <p:pic>
        <p:nvPicPr>
          <p:cNvPr id="884" name="Shape 884"/>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885" name="Shape 885"/>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886" name="Shape 886"/>
          <p:cNvSpPr txBox="1"/>
          <p:nvPr/>
        </p:nvSpPr>
        <p:spPr>
          <a:xfrm>
            <a:off x="3640137" y="107950"/>
            <a:ext cx="4683125" cy="960436"/>
          </a:xfrm>
          <a:prstGeom prst="rect">
            <a:avLst/>
          </a:prstGeom>
          <a:noFill/>
          <a:ln>
            <a:noFill/>
          </a:ln>
        </p:spPr>
        <p:txBody>
          <a:bodyPr anchorCtr="0" anchor="ctr" bIns="0" lIns="365000"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1" lang="en-US" sz="2000" u="none">
                <a:solidFill>
                  <a:srgbClr val="BB4F59"/>
                </a:solidFill>
                <a:latin typeface="Arial"/>
                <a:ea typeface="Arial"/>
                <a:cs typeface="Arial"/>
                <a:sym typeface="Arial"/>
              </a:rPr>
              <a:t>POLÍTICAS MONETARIAS </a:t>
            </a:r>
          </a:p>
          <a:p>
            <a:pPr indent="0" lvl="0" marL="0" marR="0" rtl="0" algn="ctr">
              <a:lnSpc>
                <a:spcPct val="100000"/>
              </a:lnSpc>
              <a:spcBef>
                <a:spcPts val="0"/>
              </a:spcBef>
              <a:spcAft>
                <a:spcPts val="0"/>
              </a:spcAft>
              <a:buClr>
                <a:srgbClr val="BB4F59"/>
              </a:buClr>
              <a:buSzPct val="25000"/>
              <a:buFont typeface="Arial"/>
              <a:buNone/>
            </a:pPr>
            <a:r>
              <a:rPr b="1" i="1" lang="en-US" sz="2000" u="none">
                <a:solidFill>
                  <a:srgbClr val="BB4F59"/>
                </a:solidFill>
                <a:latin typeface="Arial"/>
                <a:ea typeface="Arial"/>
                <a:cs typeface="Arial"/>
                <a:sym typeface="Arial"/>
              </a:rPr>
              <a:t>RESTRICTIVAS O CONTRACTIVAS</a:t>
            </a:r>
          </a:p>
          <a:p>
            <a:pPr indent="0" lvl="0" marL="0" marR="0" rtl="0" algn="l">
              <a:lnSpc>
                <a:spcPct val="100000"/>
              </a:lnSpc>
              <a:spcBef>
                <a:spcPts val="0"/>
              </a:spcBef>
              <a:spcAft>
                <a:spcPts val="0"/>
              </a:spcAft>
              <a:buNone/>
            </a:pPr>
            <a:r>
              <a:t/>
            </a:r>
            <a:endParaRPr b="1" i="1" sz="2000" u="none">
              <a:solidFill>
                <a:srgbClr val="BB4F59"/>
              </a:solidFill>
              <a:latin typeface="Arial"/>
              <a:ea typeface="Arial"/>
              <a:cs typeface="Arial"/>
              <a:sym typeface="Arial"/>
            </a:endParaRPr>
          </a:p>
        </p:txBody>
      </p:sp>
      <p:cxnSp>
        <p:nvCxnSpPr>
          <p:cNvPr id="887" name="Shape 887"/>
          <p:cNvCxnSpPr/>
          <p:nvPr/>
        </p:nvCxnSpPr>
        <p:spPr>
          <a:xfrm rot="10800000">
            <a:off x="1752600" y="2057400"/>
            <a:ext cx="0" cy="3581399"/>
          </a:xfrm>
          <a:prstGeom prst="straightConnector1">
            <a:avLst/>
          </a:prstGeom>
          <a:noFill/>
          <a:ln cap="flat" cmpd="sng" w="25400">
            <a:solidFill>
              <a:schemeClr val="dk1"/>
            </a:solidFill>
            <a:prstDash val="solid"/>
            <a:miter/>
            <a:headEnd len="med" w="med" type="none"/>
            <a:tailEnd len="lg" w="lg" type="triangle"/>
          </a:ln>
        </p:spPr>
      </p:cxnSp>
      <p:cxnSp>
        <p:nvCxnSpPr>
          <p:cNvPr id="888" name="Shape 888"/>
          <p:cNvCxnSpPr/>
          <p:nvPr/>
        </p:nvCxnSpPr>
        <p:spPr>
          <a:xfrm>
            <a:off x="1752600" y="5257800"/>
            <a:ext cx="5867400" cy="0"/>
          </a:xfrm>
          <a:prstGeom prst="straightConnector1">
            <a:avLst/>
          </a:prstGeom>
          <a:noFill/>
          <a:ln cap="flat" cmpd="sng" w="25400">
            <a:solidFill>
              <a:schemeClr val="dk1"/>
            </a:solidFill>
            <a:prstDash val="solid"/>
            <a:miter/>
            <a:headEnd len="med" w="med" type="none"/>
            <a:tailEnd len="lg" w="lg" type="triangle"/>
          </a:ln>
        </p:spPr>
      </p:cxnSp>
      <p:sp>
        <p:nvSpPr>
          <p:cNvPr id="889" name="Shape 889"/>
          <p:cNvSpPr/>
          <p:nvPr/>
        </p:nvSpPr>
        <p:spPr>
          <a:xfrm>
            <a:off x="2225675" y="2867025"/>
            <a:ext cx="3441700" cy="3152775"/>
          </a:xfrm>
          <a:custGeom>
            <a:pathLst>
              <a:path extrusionOk="0" h="120000" w="120000">
                <a:moveTo>
                  <a:pt x="0" y="120000"/>
                </a:moveTo>
                <a:cubicBezTo>
                  <a:pt x="5258" y="118126"/>
                  <a:pt x="20590" y="113716"/>
                  <a:pt x="31494" y="108640"/>
                </a:cubicBezTo>
                <a:cubicBezTo>
                  <a:pt x="42398" y="103564"/>
                  <a:pt x="56070" y="96072"/>
                  <a:pt x="65313" y="89365"/>
                </a:cubicBezTo>
                <a:cubicBezTo>
                  <a:pt x="74557" y="82658"/>
                  <a:pt x="81254" y="75589"/>
                  <a:pt x="87121" y="68519"/>
                </a:cubicBezTo>
                <a:cubicBezTo>
                  <a:pt x="92988" y="61450"/>
                  <a:pt x="96309" y="54199"/>
                  <a:pt x="100405" y="46767"/>
                </a:cubicBezTo>
                <a:cubicBezTo>
                  <a:pt x="104501" y="39335"/>
                  <a:pt x="108431" y="31722"/>
                  <a:pt x="111697" y="23927"/>
                </a:cubicBezTo>
                <a:cubicBezTo>
                  <a:pt x="114963" y="16132"/>
                  <a:pt x="118284" y="4954"/>
                  <a:pt x="120000" y="0"/>
                </a:cubicBezTo>
              </a:path>
            </a:pathLst>
          </a:custGeom>
          <a:noFill/>
          <a:ln cap="flat" cmpd="sng" w="317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890" name="Shape 890"/>
          <p:cNvSpPr txBox="1"/>
          <p:nvPr/>
        </p:nvSpPr>
        <p:spPr>
          <a:xfrm>
            <a:off x="5334000" y="2876550"/>
            <a:ext cx="1828800" cy="304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400" u="none">
                <a:solidFill>
                  <a:schemeClr val="hlink"/>
                </a:solidFill>
                <a:latin typeface="Arial"/>
                <a:ea typeface="Arial"/>
                <a:cs typeface="Arial"/>
                <a:sym typeface="Arial"/>
              </a:rPr>
              <a:t>Curva LM</a:t>
            </a:r>
          </a:p>
        </p:txBody>
      </p:sp>
      <p:cxnSp>
        <p:nvCxnSpPr>
          <p:cNvPr id="891" name="Shape 891"/>
          <p:cNvCxnSpPr/>
          <p:nvPr/>
        </p:nvCxnSpPr>
        <p:spPr>
          <a:xfrm rot="10800000">
            <a:off x="1752600" y="4191000"/>
            <a:ext cx="2209799" cy="0"/>
          </a:xfrm>
          <a:prstGeom prst="straightConnector1">
            <a:avLst/>
          </a:prstGeom>
          <a:noFill/>
          <a:ln cap="flat" cmpd="sng" w="9525">
            <a:solidFill>
              <a:schemeClr val="dk1"/>
            </a:solidFill>
            <a:prstDash val="solid"/>
            <a:miter/>
            <a:headEnd len="med" w="med" type="oval"/>
            <a:tailEnd len="med" w="med" type="none"/>
          </a:ln>
        </p:spPr>
      </p:cxnSp>
      <p:cxnSp>
        <p:nvCxnSpPr>
          <p:cNvPr id="892" name="Shape 892"/>
          <p:cNvCxnSpPr/>
          <p:nvPr/>
        </p:nvCxnSpPr>
        <p:spPr>
          <a:xfrm>
            <a:off x="3962400" y="4191000"/>
            <a:ext cx="0" cy="1066799"/>
          </a:xfrm>
          <a:prstGeom prst="straightConnector1">
            <a:avLst/>
          </a:prstGeom>
          <a:noFill/>
          <a:ln cap="flat" cmpd="sng" w="9525">
            <a:solidFill>
              <a:schemeClr val="dk1"/>
            </a:solidFill>
            <a:prstDash val="solid"/>
            <a:miter/>
            <a:headEnd len="med" w="med" type="none"/>
            <a:tailEnd len="med" w="med" type="none"/>
          </a:ln>
        </p:spPr>
      </p:cxnSp>
      <p:sp>
        <p:nvSpPr>
          <p:cNvPr id="893" name="Shape 893"/>
          <p:cNvSpPr txBox="1"/>
          <p:nvPr/>
        </p:nvSpPr>
        <p:spPr>
          <a:xfrm>
            <a:off x="1600200" y="1951036"/>
            <a:ext cx="76199" cy="487361"/>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i</a:t>
            </a:r>
          </a:p>
        </p:txBody>
      </p:sp>
      <p:sp>
        <p:nvSpPr>
          <p:cNvPr id="894" name="Shape 894"/>
          <p:cNvSpPr txBox="1"/>
          <p:nvPr/>
        </p:nvSpPr>
        <p:spPr>
          <a:xfrm>
            <a:off x="7010400" y="5181600"/>
            <a:ext cx="1371599" cy="533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Renta (Y)</a:t>
            </a:r>
          </a:p>
        </p:txBody>
      </p:sp>
      <p:sp>
        <p:nvSpPr>
          <p:cNvPr id="895" name="Shape 895"/>
          <p:cNvSpPr txBox="1"/>
          <p:nvPr/>
        </p:nvSpPr>
        <p:spPr>
          <a:xfrm>
            <a:off x="4648200" y="5257800"/>
            <a:ext cx="609599"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Y</a:t>
            </a:r>
            <a:r>
              <a:rPr b="1" baseline="-25000" i="0" lang="en-US" sz="1200" u="none">
                <a:solidFill>
                  <a:schemeClr val="dk1"/>
                </a:solidFill>
                <a:latin typeface="Arial"/>
                <a:ea typeface="Arial"/>
                <a:cs typeface="Arial"/>
                <a:sym typeface="Arial"/>
              </a:rPr>
              <a:t>eq</a:t>
            </a:r>
          </a:p>
        </p:txBody>
      </p:sp>
      <p:sp>
        <p:nvSpPr>
          <p:cNvPr id="896" name="Shape 896"/>
          <p:cNvSpPr txBox="1"/>
          <p:nvPr/>
        </p:nvSpPr>
        <p:spPr>
          <a:xfrm>
            <a:off x="1371600" y="4419600"/>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i</a:t>
            </a:r>
            <a:r>
              <a:rPr b="1" baseline="-25000" i="0" lang="en-US" sz="1200" u="none">
                <a:solidFill>
                  <a:schemeClr val="dk1"/>
                </a:solidFill>
                <a:latin typeface="Arial"/>
                <a:ea typeface="Arial"/>
                <a:cs typeface="Arial"/>
                <a:sym typeface="Arial"/>
              </a:rPr>
              <a:t>eq</a:t>
            </a:r>
          </a:p>
        </p:txBody>
      </p:sp>
      <p:sp>
        <p:nvSpPr>
          <p:cNvPr id="897" name="Shape 897"/>
          <p:cNvSpPr txBox="1"/>
          <p:nvPr/>
        </p:nvSpPr>
        <p:spPr>
          <a:xfrm>
            <a:off x="381000" y="6065837"/>
            <a:ext cx="7924799" cy="581024"/>
          </a:xfrm>
          <a:prstGeom prst="rect">
            <a:avLst/>
          </a:prstGeom>
          <a:solidFill>
            <a:srgbClr val="FFFF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a:solidFill>
                  <a:schemeClr val="dk1"/>
                </a:solidFill>
                <a:latin typeface="Arial"/>
                <a:ea typeface="Arial"/>
                <a:cs typeface="Arial"/>
                <a:sym typeface="Arial"/>
              </a:rPr>
              <a:t>Si el gobierno aplica  políticas monetarias restricitvas o contractivas está reduciendo la oferta monetaria</a:t>
            </a:r>
          </a:p>
        </p:txBody>
      </p:sp>
      <p:sp>
        <p:nvSpPr>
          <p:cNvPr id="898" name="Shape 898"/>
          <p:cNvSpPr/>
          <p:nvPr/>
        </p:nvSpPr>
        <p:spPr>
          <a:xfrm rot="240000">
            <a:off x="1714500" y="2419350"/>
            <a:ext cx="5676899" cy="2533649"/>
          </a:xfrm>
          <a:custGeom>
            <a:pathLst>
              <a:path extrusionOk="0" h="120000" w="120000">
                <a:moveTo>
                  <a:pt x="0" y="0"/>
                </a:moveTo>
                <a:cubicBezTo>
                  <a:pt x="838" y="3082"/>
                  <a:pt x="2214" y="11052"/>
                  <a:pt x="5033" y="18496"/>
                </a:cubicBezTo>
                <a:cubicBezTo>
                  <a:pt x="7852" y="25939"/>
                  <a:pt x="11442" y="35112"/>
                  <a:pt x="16912" y="44511"/>
                </a:cubicBezTo>
                <a:cubicBezTo>
                  <a:pt x="22382" y="53909"/>
                  <a:pt x="30704" y="66240"/>
                  <a:pt x="37852" y="74887"/>
                </a:cubicBezTo>
                <a:cubicBezTo>
                  <a:pt x="45000" y="83533"/>
                  <a:pt x="52751" y="90676"/>
                  <a:pt x="59798" y="96541"/>
                </a:cubicBezTo>
                <a:cubicBezTo>
                  <a:pt x="66845" y="102406"/>
                  <a:pt x="73624" y="106691"/>
                  <a:pt x="80134" y="110075"/>
                </a:cubicBezTo>
                <a:cubicBezTo>
                  <a:pt x="86644" y="113458"/>
                  <a:pt x="92214" y="115187"/>
                  <a:pt x="98859" y="116842"/>
                </a:cubicBezTo>
                <a:cubicBezTo>
                  <a:pt x="105503" y="118496"/>
                  <a:pt x="115604" y="119323"/>
                  <a:pt x="120000" y="119999"/>
                </a:cubicBezTo>
              </a:path>
            </a:pathLst>
          </a:custGeom>
          <a:noFill/>
          <a:ln cap="flat" cmpd="sng" w="25400">
            <a:solidFill>
              <a:srgbClr val="993300"/>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899" name="Shape 899"/>
          <p:cNvSpPr txBox="1"/>
          <p:nvPr/>
        </p:nvSpPr>
        <p:spPr>
          <a:xfrm>
            <a:off x="6134100" y="4619625"/>
            <a:ext cx="1295400" cy="37941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accent2"/>
              </a:buClr>
              <a:buSzPct val="25000"/>
              <a:buFont typeface="Arial"/>
              <a:buNone/>
            </a:pPr>
            <a:r>
              <a:rPr b="1" i="0" lang="en-US" sz="1400" u="none">
                <a:solidFill>
                  <a:schemeClr val="accent2"/>
                </a:solidFill>
                <a:latin typeface="Arial"/>
                <a:ea typeface="Arial"/>
                <a:cs typeface="Arial"/>
                <a:sym typeface="Arial"/>
              </a:rPr>
              <a:t>Curva IS</a:t>
            </a:r>
          </a:p>
        </p:txBody>
      </p:sp>
      <p:cxnSp>
        <p:nvCxnSpPr>
          <p:cNvPr id="900" name="Shape 900"/>
          <p:cNvCxnSpPr/>
          <p:nvPr/>
        </p:nvCxnSpPr>
        <p:spPr>
          <a:xfrm rot="10800000">
            <a:off x="1752599" y="4572000"/>
            <a:ext cx="3048000" cy="0"/>
          </a:xfrm>
          <a:prstGeom prst="straightConnector1">
            <a:avLst/>
          </a:prstGeom>
          <a:noFill/>
          <a:ln cap="flat" cmpd="sng" w="9525">
            <a:solidFill>
              <a:schemeClr val="dk1"/>
            </a:solidFill>
            <a:prstDash val="solid"/>
            <a:miter/>
            <a:headEnd len="med" w="med" type="none"/>
            <a:tailEnd len="med" w="med" type="none"/>
          </a:ln>
        </p:spPr>
      </p:cxnSp>
      <p:cxnSp>
        <p:nvCxnSpPr>
          <p:cNvPr id="901" name="Shape 901"/>
          <p:cNvCxnSpPr/>
          <p:nvPr/>
        </p:nvCxnSpPr>
        <p:spPr>
          <a:xfrm>
            <a:off x="4800600" y="4572000"/>
            <a:ext cx="0" cy="685799"/>
          </a:xfrm>
          <a:prstGeom prst="straightConnector1">
            <a:avLst/>
          </a:prstGeom>
          <a:noFill/>
          <a:ln cap="flat" cmpd="sng" w="9525">
            <a:solidFill>
              <a:schemeClr val="dk1"/>
            </a:solidFill>
            <a:prstDash val="solid"/>
            <a:miter/>
            <a:headEnd len="med" w="med" type="none"/>
            <a:tailEnd len="med" w="med" type="none"/>
          </a:ln>
        </p:spPr>
      </p:cxnSp>
      <p:sp>
        <p:nvSpPr>
          <p:cNvPr id="902" name="Shape 902"/>
          <p:cNvSpPr/>
          <p:nvPr/>
        </p:nvSpPr>
        <p:spPr>
          <a:xfrm rot="10800000">
            <a:off x="3962399" y="4572000"/>
            <a:ext cx="762000" cy="487361"/>
          </a:xfrm>
          <a:prstGeom prst="rightArrow">
            <a:avLst>
              <a:gd fmla="val 50000" name="adj1"/>
              <a:gd fmla="val 50000"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03" name="Shape 903"/>
          <p:cNvSpPr/>
          <p:nvPr/>
        </p:nvSpPr>
        <p:spPr>
          <a:xfrm>
            <a:off x="2819400" y="4191000"/>
            <a:ext cx="381000" cy="381000"/>
          </a:xfrm>
          <a:prstGeom prst="upArrow">
            <a:avLst>
              <a:gd fmla="val 11700" name="adj1"/>
              <a:gd fmla="val 5940"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04" name="Shape 904"/>
          <p:cNvSpPr/>
          <p:nvPr/>
        </p:nvSpPr>
        <p:spPr>
          <a:xfrm rot="-3420000">
            <a:off x="4577556" y="3771106"/>
            <a:ext cx="485775" cy="496886"/>
          </a:xfrm>
          <a:prstGeom prst="upArrow">
            <a:avLst>
              <a:gd fmla="val 11566" name="adj1"/>
              <a:gd fmla="val 4034" name="adj2"/>
            </a:avLst>
          </a:prstGeom>
          <a:solidFill>
            <a:srgbClr val="FF00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05" name="Shape 905"/>
          <p:cNvSpPr txBox="1"/>
          <p:nvPr/>
        </p:nvSpPr>
        <p:spPr>
          <a:xfrm>
            <a:off x="2819400" y="2057400"/>
            <a:ext cx="5714999" cy="685799"/>
          </a:xfrm>
          <a:prstGeom prst="rect">
            <a:avLst/>
          </a:prstGeom>
          <a:solidFill>
            <a:srgbClr val="FFFF00">
              <a:alpha val="52941"/>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Desplazamiento de la curva LM a la izquierda</a:t>
            </a:r>
          </a:p>
          <a:p>
            <a:pPr indent="0" lvl="0" marL="0" marR="0" rtl="0" algn="ctr">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Reducción de la renta y aumento de la tasa de interés </a:t>
            </a:r>
          </a:p>
        </p:txBody>
      </p:sp>
      <p:sp>
        <p:nvSpPr>
          <p:cNvPr id="906" name="Shape 906"/>
          <p:cNvSpPr txBox="1"/>
          <p:nvPr/>
        </p:nvSpPr>
        <p:spPr>
          <a:xfrm>
            <a:off x="1379537" y="4038600"/>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i</a:t>
            </a:r>
            <a:r>
              <a:rPr b="1" baseline="-25000" i="0" lang="en-US" sz="1200" u="none">
                <a:solidFill>
                  <a:schemeClr val="dk1"/>
                </a:solidFill>
                <a:latin typeface="Arial"/>
                <a:ea typeface="Arial"/>
                <a:cs typeface="Arial"/>
                <a:sym typeface="Arial"/>
              </a:rPr>
              <a:t>eq1</a:t>
            </a:r>
          </a:p>
        </p:txBody>
      </p:sp>
      <p:sp>
        <p:nvSpPr>
          <p:cNvPr id="907" name="Shape 907"/>
          <p:cNvSpPr txBox="1"/>
          <p:nvPr/>
        </p:nvSpPr>
        <p:spPr>
          <a:xfrm>
            <a:off x="3733800" y="5257800"/>
            <a:ext cx="609599"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Y</a:t>
            </a:r>
            <a:r>
              <a:rPr b="1" baseline="-25000" i="0" lang="en-US" sz="1200" u="none">
                <a:solidFill>
                  <a:schemeClr val="dk1"/>
                </a:solidFill>
                <a:latin typeface="Arial"/>
                <a:ea typeface="Arial"/>
                <a:cs typeface="Arial"/>
                <a:sym typeface="Arial"/>
              </a:rPr>
              <a:t>eq1</a:t>
            </a:r>
          </a:p>
        </p:txBody>
      </p:sp>
      <p:sp>
        <p:nvSpPr>
          <p:cNvPr id="908" name="Shape 908"/>
          <p:cNvSpPr/>
          <p:nvPr/>
        </p:nvSpPr>
        <p:spPr>
          <a:xfrm>
            <a:off x="1587500" y="2914650"/>
            <a:ext cx="3203575" cy="2524124"/>
          </a:xfrm>
          <a:custGeom>
            <a:pathLst>
              <a:path extrusionOk="0" h="120000" w="120000">
                <a:moveTo>
                  <a:pt x="0" y="120000"/>
                </a:moveTo>
                <a:cubicBezTo>
                  <a:pt x="5649" y="117660"/>
                  <a:pt x="22120" y="112150"/>
                  <a:pt x="33835" y="105811"/>
                </a:cubicBezTo>
                <a:cubicBezTo>
                  <a:pt x="45550" y="99471"/>
                  <a:pt x="60237" y="90113"/>
                  <a:pt x="70168" y="81735"/>
                </a:cubicBezTo>
                <a:cubicBezTo>
                  <a:pt x="80099" y="73358"/>
                  <a:pt x="87294" y="64528"/>
                  <a:pt x="93597" y="55698"/>
                </a:cubicBezTo>
                <a:cubicBezTo>
                  <a:pt x="99900" y="46867"/>
                  <a:pt x="103468" y="37811"/>
                  <a:pt x="107869" y="28528"/>
                </a:cubicBezTo>
                <a:cubicBezTo>
                  <a:pt x="112269" y="19245"/>
                  <a:pt x="117978" y="4754"/>
                  <a:pt x="120000" y="0"/>
                </a:cubicBezTo>
              </a:path>
            </a:pathLst>
          </a:custGeom>
          <a:noFill/>
          <a:ln cap="flat" cmpd="sng" w="317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09" name="Shape 909"/>
          <p:cNvSpPr txBox="1"/>
          <p:nvPr/>
        </p:nvSpPr>
        <p:spPr>
          <a:xfrm>
            <a:off x="3276600" y="2819400"/>
            <a:ext cx="1828800" cy="304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400" u="none">
                <a:solidFill>
                  <a:schemeClr val="hlink"/>
                </a:solidFill>
                <a:latin typeface="Arial"/>
                <a:ea typeface="Arial"/>
                <a:cs typeface="Arial"/>
                <a:sym typeface="Arial"/>
              </a:rPr>
              <a:t>Curva LM</a:t>
            </a:r>
            <a:r>
              <a:rPr b="1" baseline="-25000" i="0" lang="en-US" sz="1400" u="none">
                <a:solidFill>
                  <a:schemeClr val="hlink"/>
                </a:solidFill>
                <a:latin typeface="Arial"/>
                <a:ea typeface="Arial"/>
                <a:cs typeface="Arial"/>
                <a:sym typeface="Arial"/>
              </a:rPr>
              <a:t>1</a:t>
            </a:r>
          </a:p>
        </p:txBody>
      </p:sp>
    </p:spTree>
  </p:cSld>
  <p:clrMapOvr>
    <a:masterClrMapping/>
  </p:clrMapOvr>
  <p:transition spd="slow">
    <p:cut/>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913" name="Shape 913"/>
        <p:cNvGrpSpPr/>
        <p:nvPr/>
      </p:nvGrpSpPr>
      <p:grpSpPr>
        <a:xfrm>
          <a:off x="0" y="0"/>
          <a:ext cx="0" cy="0"/>
          <a:chOff x="0" y="0"/>
          <a:chExt cx="0" cy="0"/>
        </a:xfrm>
      </p:grpSpPr>
      <p:pic>
        <p:nvPicPr>
          <p:cNvPr id="914" name="Shape 914"/>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915" name="Shape 915"/>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916" name="Shape 916"/>
          <p:cNvSpPr txBox="1"/>
          <p:nvPr/>
        </p:nvSpPr>
        <p:spPr>
          <a:xfrm>
            <a:off x="3124200" y="182561"/>
            <a:ext cx="5446712" cy="960436"/>
          </a:xfrm>
          <a:prstGeom prst="rect">
            <a:avLst/>
          </a:prstGeom>
          <a:noFill/>
          <a:ln>
            <a:noFill/>
          </a:ln>
        </p:spPr>
        <p:txBody>
          <a:bodyPr anchorCtr="0" anchor="ctr" bIns="0" lIns="365000"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1" lang="en-US" sz="2000" u="none">
                <a:solidFill>
                  <a:srgbClr val="BB4F59"/>
                </a:solidFill>
                <a:latin typeface="Arial"/>
                <a:ea typeface="Arial"/>
                <a:cs typeface="Arial"/>
                <a:sym typeface="Arial"/>
              </a:rPr>
              <a:t>POLÍTICAS COMBINADAS</a:t>
            </a:r>
          </a:p>
          <a:p>
            <a:pPr indent="0" lvl="0" marL="0" marR="0" rtl="0" algn="ctr">
              <a:lnSpc>
                <a:spcPct val="100000"/>
              </a:lnSpc>
              <a:spcBef>
                <a:spcPts val="0"/>
              </a:spcBef>
              <a:spcAft>
                <a:spcPts val="0"/>
              </a:spcAft>
              <a:buClr>
                <a:srgbClr val="BB4F59"/>
              </a:buClr>
              <a:buSzPct val="25000"/>
              <a:buFont typeface="Arial"/>
              <a:buNone/>
            </a:pPr>
            <a:r>
              <a:rPr b="1" i="1" lang="en-US" sz="2000" u="none">
                <a:solidFill>
                  <a:srgbClr val="BB4F59"/>
                </a:solidFill>
                <a:latin typeface="Arial"/>
                <a:ea typeface="Arial"/>
                <a:cs typeface="Arial"/>
                <a:sym typeface="Arial"/>
              </a:rPr>
              <a:t>EXPANSIVAS FISCALES Y MONETARIAS</a:t>
            </a:r>
          </a:p>
          <a:p>
            <a:pPr indent="0" lvl="0" marL="0" marR="0" rtl="0" algn="l">
              <a:lnSpc>
                <a:spcPct val="100000"/>
              </a:lnSpc>
              <a:spcBef>
                <a:spcPts val="0"/>
              </a:spcBef>
              <a:spcAft>
                <a:spcPts val="0"/>
              </a:spcAft>
              <a:buNone/>
            </a:pPr>
            <a:r>
              <a:t/>
            </a:r>
            <a:endParaRPr b="1" i="1" sz="2000" u="none">
              <a:solidFill>
                <a:srgbClr val="BB4F59"/>
              </a:solidFill>
              <a:latin typeface="Arial"/>
              <a:ea typeface="Arial"/>
              <a:cs typeface="Arial"/>
              <a:sym typeface="Arial"/>
            </a:endParaRPr>
          </a:p>
        </p:txBody>
      </p:sp>
      <p:cxnSp>
        <p:nvCxnSpPr>
          <p:cNvPr id="917" name="Shape 917"/>
          <p:cNvCxnSpPr/>
          <p:nvPr/>
        </p:nvCxnSpPr>
        <p:spPr>
          <a:xfrm rot="10800000">
            <a:off x="1752600" y="2057400"/>
            <a:ext cx="0" cy="3581399"/>
          </a:xfrm>
          <a:prstGeom prst="straightConnector1">
            <a:avLst/>
          </a:prstGeom>
          <a:noFill/>
          <a:ln cap="flat" cmpd="sng" w="25400">
            <a:solidFill>
              <a:schemeClr val="dk1"/>
            </a:solidFill>
            <a:prstDash val="solid"/>
            <a:miter/>
            <a:headEnd len="med" w="med" type="none"/>
            <a:tailEnd len="lg" w="lg" type="triangle"/>
          </a:ln>
        </p:spPr>
      </p:cxnSp>
      <p:cxnSp>
        <p:nvCxnSpPr>
          <p:cNvPr id="918" name="Shape 918"/>
          <p:cNvCxnSpPr/>
          <p:nvPr/>
        </p:nvCxnSpPr>
        <p:spPr>
          <a:xfrm>
            <a:off x="1752600" y="5638800"/>
            <a:ext cx="5867400" cy="0"/>
          </a:xfrm>
          <a:prstGeom prst="straightConnector1">
            <a:avLst/>
          </a:prstGeom>
          <a:noFill/>
          <a:ln cap="flat" cmpd="sng" w="25400">
            <a:solidFill>
              <a:schemeClr val="dk1"/>
            </a:solidFill>
            <a:prstDash val="solid"/>
            <a:miter/>
            <a:headEnd len="med" w="med" type="none"/>
            <a:tailEnd len="lg" w="lg" type="triangle"/>
          </a:ln>
        </p:spPr>
      </p:cxnSp>
      <p:sp>
        <p:nvSpPr>
          <p:cNvPr id="919" name="Shape 919"/>
          <p:cNvSpPr/>
          <p:nvPr/>
        </p:nvSpPr>
        <p:spPr>
          <a:xfrm>
            <a:off x="1752600" y="2971800"/>
            <a:ext cx="5676900" cy="2533650"/>
          </a:xfrm>
          <a:custGeom>
            <a:pathLst>
              <a:path extrusionOk="0" h="120000" w="120000">
                <a:moveTo>
                  <a:pt x="0" y="0"/>
                </a:moveTo>
                <a:cubicBezTo>
                  <a:pt x="838" y="3082"/>
                  <a:pt x="2214" y="11052"/>
                  <a:pt x="5033" y="18496"/>
                </a:cubicBezTo>
                <a:cubicBezTo>
                  <a:pt x="7852" y="25939"/>
                  <a:pt x="11442" y="35112"/>
                  <a:pt x="16912" y="44511"/>
                </a:cubicBezTo>
                <a:cubicBezTo>
                  <a:pt x="22382" y="53909"/>
                  <a:pt x="31241" y="66691"/>
                  <a:pt x="37852" y="74887"/>
                </a:cubicBezTo>
                <a:cubicBezTo>
                  <a:pt x="44463" y="83082"/>
                  <a:pt x="51342" y="89022"/>
                  <a:pt x="56577" y="93834"/>
                </a:cubicBezTo>
                <a:cubicBezTo>
                  <a:pt x="61812" y="98646"/>
                  <a:pt x="65100" y="100827"/>
                  <a:pt x="69261" y="103759"/>
                </a:cubicBezTo>
                <a:cubicBezTo>
                  <a:pt x="73422" y="106691"/>
                  <a:pt x="76610" y="109172"/>
                  <a:pt x="81543" y="111428"/>
                </a:cubicBezTo>
                <a:cubicBezTo>
                  <a:pt x="86476" y="113684"/>
                  <a:pt x="92449" y="115864"/>
                  <a:pt x="98859" y="117293"/>
                </a:cubicBezTo>
                <a:cubicBezTo>
                  <a:pt x="105268" y="118721"/>
                  <a:pt x="115604" y="119473"/>
                  <a:pt x="120000" y="119999"/>
                </a:cubicBezTo>
              </a:path>
            </a:pathLst>
          </a:custGeom>
          <a:noFill/>
          <a:ln cap="flat" cmpd="sng" w="25400">
            <a:solidFill>
              <a:srgbClr val="FF0000"/>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20" name="Shape 920"/>
          <p:cNvSpPr/>
          <p:nvPr/>
        </p:nvSpPr>
        <p:spPr>
          <a:xfrm>
            <a:off x="2225675" y="2867025"/>
            <a:ext cx="3441700" cy="3152775"/>
          </a:xfrm>
          <a:custGeom>
            <a:pathLst>
              <a:path extrusionOk="0" h="120000" w="120000">
                <a:moveTo>
                  <a:pt x="0" y="120000"/>
                </a:moveTo>
                <a:cubicBezTo>
                  <a:pt x="5258" y="118126"/>
                  <a:pt x="20590" y="113716"/>
                  <a:pt x="31494" y="108640"/>
                </a:cubicBezTo>
                <a:cubicBezTo>
                  <a:pt x="42398" y="103564"/>
                  <a:pt x="56070" y="96072"/>
                  <a:pt x="65313" y="89365"/>
                </a:cubicBezTo>
                <a:cubicBezTo>
                  <a:pt x="74557" y="82658"/>
                  <a:pt x="81254" y="75589"/>
                  <a:pt x="87121" y="68519"/>
                </a:cubicBezTo>
                <a:cubicBezTo>
                  <a:pt x="92988" y="61450"/>
                  <a:pt x="96309" y="54199"/>
                  <a:pt x="100405" y="46767"/>
                </a:cubicBezTo>
                <a:cubicBezTo>
                  <a:pt x="104501" y="39335"/>
                  <a:pt x="108431" y="31722"/>
                  <a:pt x="111697" y="23927"/>
                </a:cubicBezTo>
                <a:cubicBezTo>
                  <a:pt x="114963" y="16132"/>
                  <a:pt x="118284" y="4954"/>
                  <a:pt x="120000" y="0"/>
                </a:cubicBezTo>
              </a:path>
            </a:pathLst>
          </a:custGeom>
          <a:noFill/>
          <a:ln cap="flat" cmpd="sng" w="317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21" name="Shape 921"/>
          <p:cNvSpPr txBox="1"/>
          <p:nvPr/>
        </p:nvSpPr>
        <p:spPr>
          <a:xfrm>
            <a:off x="5486400" y="5105400"/>
            <a:ext cx="1143000" cy="152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61235"/>
              </a:buClr>
              <a:buSzPct val="25000"/>
              <a:buFont typeface="Arial"/>
              <a:buNone/>
            </a:pPr>
            <a:r>
              <a:rPr b="1" i="0" lang="en-US" sz="1400" u="none">
                <a:solidFill>
                  <a:srgbClr val="E61235"/>
                </a:solidFill>
                <a:latin typeface="Arial"/>
                <a:ea typeface="Arial"/>
                <a:cs typeface="Arial"/>
                <a:sym typeface="Arial"/>
              </a:rPr>
              <a:t>Curva IS</a:t>
            </a:r>
          </a:p>
        </p:txBody>
      </p:sp>
      <p:sp>
        <p:nvSpPr>
          <p:cNvPr id="922" name="Shape 922"/>
          <p:cNvSpPr txBox="1"/>
          <p:nvPr/>
        </p:nvSpPr>
        <p:spPr>
          <a:xfrm>
            <a:off x="3733800" y="2867025"/>
            <a:ext cx="1828800" cy="304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400" u="none">
                <a:solidFill>
                  <a:schemeClr val="hlink"/>
                </a:solidFill>
                <a:latin typeface="Arial"/>
                <a:ea typeface="Arial"/>
                <a:cs typeface="Arial"/>
                <a:sym typeface="Arial"/>
              </a:rPr>
              <a:t>Curva LM</a:t>
            </a:r>
          </a:p>
        </p:txBody>
      </p:sp>
      <p:cxnSp>
        <p:nvCxnSpPr>
          <p:cNvPr id="923" name="Shape 923"/>
          <p:cNvCxnSpPr/>
          <p:nvPr/>
        </p:nvCxnSpPr>
        <p:spPr>
          <a:xfrm rot="10800000">
            <a:off x="1752600" y="4953000"/>
            <a:ext cx="2666999" cy="0"/>
          </a:xfrm>
          <a:prstGeom prst="straightConnector1">
            <a:avLst/>
          </a:prstGeom>
          <a:noFill/>
          <a:ln cap="flat" cmpd="sng" w="9525">
            <a:solidFill>
              <a:schemeClr val="dk1"/>
            </a:solidFill>
            <a:prstDash val="solid"/>
            <a:miter/>
            <a:headEnd len="med" w="med" type="oval"/>
            <a:tailEnd len="med" w="med" type="none"/>
          </a:ln>
        </p:spPr>
      </p:cxnSp>
      <p:cxnSp>
        <p:nvCxnSpPr>
          <p:cNvPr id="924" name="Shape 924"/>
          <p:cNvCxnSpPr/>
          <p:nvPr/>
        </p:nvCxnSpPr>
        <p:spPr>
          <a:xfrm>
            <a:off x="4419600" y="4953000"/>
            <a:ext cx="0" cy="685799"/>
          </a:xfrm>
          <a:prstGeom prst="straightConnector1">
            <a:avLst/>
          </a:prstGeom>
          <a:noFill/>
          <a:ln cap="flat" cmpd="sng" w="9525">
            <a:solidFill>
              <a:schemeClr val="dk1"/>
            </a:solidFill>
            <a:prstDash val="solid"/>
            <a:miter/>
            <a:headEnd len="med" w="med" type="none"/>
            <a:tailEnd len="med" w="med" type="none"/>
          </a:ln>
        </p:spPr>
      </p:cxnSp>
      <p:sp>
        <p:nvSpPr>
          <p:cNvPr id="925" name="Shape 925"/>
          <p:cNvSpPr txBox="1"/>
          <p:nvPr/>
        </p:nvSpPr>
        <p:spPr>
          <a:xfrm>
            <a:off x="1600200" y="1951036"/>
            <a:ext cx="76199" cy="487361"/>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i</a:t>
            </a:r>
          </a:p>
        </p:txBody>
      </p:sp>
      <p:sp>
        <p:nvSpPr>
          <p:cNvPr id="926" name="Shape 926"/>
          <p:cNvSpPr txBox="1"/>
          <p:nvPr/>
        </p:nvSpPr>
        <p:spPr>
          <a:xfrm>
            <a:off x="7010400" y="5486400"/>
            <a:ext cx="1371599" cy="533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Renta (Y)</a:t>
            </a:r>
          </a:p>
        </p:txBody>
      </p:sp>
      <p:sp>
        <p:nvSpPr>
          <p:cNvPr id="927" name="Shape 927"/>
          <p:cNvSpPr txBox="1"/>
          <p:nvPr/>
        </p:nvSpPr>
        <p:spPr>
          <a:xfrm>
            <a:off x="4191000" y="5562600"/>
            <a:ext cx="609599"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Y</a:t>
            </a:r>
            <a:r>
              <a:rPr b="1" baseline="-25000" i="0" lang="en-US" sz="1200" u="none">
                <a:solidFill>
                  <a:schemeClr val="dk1"/>
                </a:solidFill>
                <a:latin typeface="Arial"/>
                <a:ea typeface="Arial"/>
                <a:cs typeface="Arial"/>
                <a:sym typeface="Arial"/>
              </a:rPr>
              <a:t>eq</a:t>
            </a:r>
          </a:p>
        </p:txBody>
      </p:sp>
      <p:sp>
        <p:nvSpPr>
          <p:cNvPr id="928" name="Shape 928"/>
          <p:cNvSpPr txBox="1"/>
          <p:nvPr/>
        </p:nvSpPr>
        <p:spPr>
          <a:xfrm>
            <a:off x="1371600" y="4724400"/>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i</a:t>
            </a:r>
            <a:r>
              <a:rPr b="1" baseline="-25000" i="0" lang="en-US" sz="1200" u="none">
                <a:solidFill>
                  <a:schemeClr val="dk1"/>
                </a:solidFill>
                <a:latin typeface="Arial"/>
                <a:ea typeface="Arial"/>
                <a:cs typeface="Arial"/>
                <a:sym typeface="Arial"/>
              </a:rPr>
              <a:t>eq</a:t>
            </a:r>
          </a:p>
        </p:txBody>
      </p:sp>
      <p:sp>
        <p:nvSpPr>
          <p:cNvPr id="929" name="Shape 929"/>
          <p:cNvSpPr txBox="1"/>
          <p:nvPr/>
        </p:nvSpPr>
        <p:spPr>
          <a:xfrm>
            <a:off x="381000" y="6065837"/>
            <a:ext cx="7924799" cy="581024"/>
          </a:xfrm>
          <a:prstGeom prst="rect">
            <a:avLst/>
          </a:prstGeom>
          <a:solidFill>
            <a:srgbClr val="FFFF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a:solidFill>
                  <a:schemeClr val="dk1"/>
                </a:solidFill>
                <a:latin typeface="Arial"/>
                <a:ea typeface="Arial"/>
                <a:cs typeface="Arial"/>
                <a:sym typeface="Arial"/>
              </a:rPr>
              <a:t>Si el gobierno aplica  políticas combinadas monetarias y fiscales expansivas está aumentando la renta de equilibrio.</a:t>
            </a:r>
          </a:p>
        </p:txBody>
      </p:sp>
      <p:cxnSp>
        <p:nvCxnSpPr>
          <p:cNvPr id="930" name="Shape 930"/>
          <p:cNvCxnSpPr/>
          <p:nvPr/>
        </p:nvCxnSpPr>
        <p:spPr>
          <a:xfrm rot="10800000">
            <a:off x="1752600" y="4876800"/>
            <a:ext cx="3581399" cy="0"/>
          </a:xfrm>
          <a:prstGeom prst="straightConnector1">
            <a:avLst/>
          </a:prstGeom>
          <a:noFill/>
          <a:ln cap="flat" cmpd="sng" w="9525">
            <a:solidFill>
              <a:schemeClr val="dk1"/>
            </a:solidFill>
            <a:prstDash val="solid"/>
            <a:miter/>
            <a:headEnd len="med" w="med" type="none"/>
            <a:tailEnd len="med" w="med" type="none"/>
          </a:ln>
        </p:spPr>
      </p:cxnSp>
      <p:cxnSp>
        <p:nvCxnSpPr>
          <p:cNvPr id="931" name="Shape 931"/>
          <p:cNvCxnSpPr/>
          <p:nvPr/>
        </p:nvCxnSpPr>
        <p:spPr>
          <a:xfrm>
            <a:off x="5334000" y="4876800"/>
            <a:ext cx="0" cy="762000"/>
          </a:xfrm>
          <a:prstGeom prst="straightConnector1">
            <a:avLst/>
          </a:prstGeom>
          <a:noFill/>
          <a:ln cap="flat" cmpd="sng" w="9525">
            <a:solidFill>
              <a:schemeClr val="dk1"/>
            </a:solidFill>
            <a:prstDash val="solid"/>
            <a:miter/>
            <a:headEnd len="med" w="med" type="none"/>
            <a:tailEnd len="med" w="med" type="none"/>
          </a:ln>
        </p:spPr>
      </p:cxnSp>
      <p:sp>
        <p:nvSpPr>
          <p:cNvPr id="932" name="Shape 932"/>
          <p:cNvSpPr/>
          <p:nvPr/>
        </p:nvSpPr>
        <p:spPr>
          <a:xfrm rot="2280000">
            <a:off x="3154362" y="4022725"/>
            <a:ext cx="381000" cy="330199"/>
          </a:xfrm>
          <a:prstGeom prst="upArrow">
            <a:avLst>
              <a:gd fmla="val 11700" name="adj1"/>
              <a:gd fmla="val 5940"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33" name="Shape 933"/>
          <p:cNvSpPr/>
          <p:nvPr/>
        </p:nvSpPr>
        <p:spPr>
          <a:xfrm rot="6720000">
            <a:off x="5452268" y="3521867"/>
            <a:ext cx="485775" cy="496887"/>
          </a:xfrm>
          <a:prstGeom prst="upArrow">
            <a:avLst>
              <a:gd fmla="val 11566" name="adj1"/>
              <a:gd fmla="val 4034" name="adj2"/>
            </a:avLst>
          </a:prstGeom>
          <a:solidFill>
            <a:srgbClr val="FF00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34" name="Shape 934"/>
          <p:cNvSpPr txBox="1"/>
          <p:nvPr/>
        </p:nvSpPr>
        <p:spPr>
          <a:xfrm>
            <a:off x="2286000" y="1676400"/>
            <a:ext cx="6345236" cy="809624"/>
          </a:xfrm>
          <a:prstGeom prst="rect">
            <a:avLst/>
          </a:prstGeom>
          <a:solidFill>
            <a:srgbClr val="FFFF00">
              <a:alpha val="52941"/>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Desplazamiento de las curvas IS y LM a la derecha</a:t>
            </a:r>
          </a:p>
          <a:p>
            <a:pPr indent="0" lvl="0" marL="0" marR="0" rtl="0" algn="ctr">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Aumento de la renta e indeterminación de la tasa de interés </a:t>
            </a:r>
          </a:p>
        </p:txBody>
      </p:sp>
      <p:sp>
        <p:nvSpPr>
          <p:cNvPr id="935" name="Shape 935"/>
          <p:cNvSpPr txBox="1"/>
          <p:nvPr/>
        </p:nvSpPr>
        <p:spPr>
          <a:xfrm>
            <a:off x="1371600" y="4648200"/>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i</a:t>
            </a:r>
            <a:r>
              <a:rPr b="1" baseline="-25000" i="0" lang="en-US" sz="1200" u="none">
                <a:solidFill>
                  <a:schemeClr val="dk1"/>
                </a:solidFill>
                <a:latin typeface="Arial"/>
                <a:ea typeface="Arial"/>
                <a:cs typeface="Arial"/>
                <a:sym typeface="Arial"/>
              </a:rPr>
              <a:t>eq1</a:t>
            </a:r>
          </a:p>
        </p:txBody>
      </p:sp>
      <p:sp>
        <p:nvSpPr>
          <p:cNvPr id="936" name="Shape 936"/>
          <p:cNvSpPr txBox="1"/>
          <p:nvPr/>
        </p:nvSpPr>
        <p:spPr>
          <a:xfrm>
            <a:off x="5105400" y="5562600"/>
            <a:ext cx="609599"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Y</a:t>
            </a:r>
            <a:r>
              <a:rPr b="1" baseline="-25000" i="0" lang="en-US" sz="1200" u="none">
                <a:solidFill>
                  <a:schemeClr val="dk1"/>
                </a:solidFill>
                <a:latin typeface="Arial"/>
                <a:ea typeface="Arial"/>
                <a:cs typeface="Arial"/>
                <a:sym typeface="Arial"/>
              </a:rPr>
              <a:t>eq1</a:t>
            </a:r>
          </a:p>
        </p:txBody>
      </p:sp>
      <p:sp>
        <p:nvSpPr>
          <p:cNvPr id="937" name="Shape 937"/>
          <p:cNvSpPr/>
          <p:nvPr/>
        </p:nvSpPr>
        <p:spPr>
          <a:xfrm>
            <a:off x="2882900" y="3019425"/>
            <a:ext cx="3441700" cy="3152775"/>
          </a:xfrm>
          <a:custGeom>
            <a:pathLst>
              <a:path extrusionOk="0" h="120000" w="120000">
                <a:moveTo>
                  <a:pt x="0" y="120000"/>
                </a:moveTo>
                <a:cubicBezTo>
                  <a:pt x="5258" y="118126"/>
                  <a:pt x="20590" y="113716"/>
                  <a:pt x="31494" y="108640"/>
                </a:cubicBezTo>
                <a:cubicBezTo>
                  <a:pt x="42398" y="103564"/>
                  <a:pt x="56070" y="96072"/>
                  <a:pt x="65313" y="89365"/>
                </a:cubicBezTo>
                <a:cubicBezTo>
                  <a:pt x="74557" y="82658"/>
                  <a:pt x="81254" y="75589"/>
                  <a:pt x="87121" y="68519"/>
                </a:cubicBezTo>
                <a:cubicBezTo>
                  <a:pt x="92988" y="61450"/>
                  <a:pt x="96309" y="54199"/>
                  <a:pt x="100405" y="46767"/>
                </a:cubicBezTo>
                <a:cubicBezTo>
                  <a:pt x="104501" y="39335"/>
                  <a:pt x="108431" y="31722"/>
                  <a:pt x="111697" y="23927"/>
                </a:cubicBezTo>
                <a:cubicBezTo>
                  <a:pt x="114963" y="16132"/>
                  <a:pt x="118284" y="4954"/>
                  <a:pt x="120000" y="0"/>
                </a:cubicBezTo>
              </a:path>
            </a:pathLst>
          </a:custGeom>
          <a:noFill/>
          <a:ln cap="flat" cmpd="sng" w="31750">
            <a:solidFill>
              <a:srgbClr val="008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38" name="Shape 938"/>
          <p:cNvSpPr txBox="1"/>
          <p:nvPr/>
        </p:nvSpPr>
        <p:spPr>
          <a:xfrm>
            <a:off x="6400800" y="3019425"/>
            <a:ext cx="1828800" cy="304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117A06"/>
              </a:buClr>
              <a:buSzPct val="25000"/>
              <a:buFont typeface="Arial"/>
              <a:buNone/>
            </a:pPr>
            <a:r>
              <a:rPr b="1" i="0" lang="en-US" sz="1400" u="none">
                <a:solidFill>
                  <a:srgbClr val="117A06"/>
                </a:solidFill>
                <a:latin typeface="Arial"/>
                <a:ea typeface="Arial"/>
                <a:cs typeface="Arial"/>
                <a:sym typeface="Arial"/>
              </a:rPr>
              <a:t>Curva LM</a:t>
            </a:r>
            <a:r>
              <a:rPr b="1" baseline="-25000" i="0" lang="en-US" sz="1400" u="none">
                <a:solidFill>
                  <a:srgbClr val="117A06"/>
                </a:solidFill>
                <a:latin typeface="Arial"/>
                <a:ea typeface="Arial"/>
                <a:cs typeface="Arial"/>
                <a:sym typeface="Arial"/>
              </a:rPr>
              <a:t>1</a:t>
            </a:r>
          </a:p>
        </p:txBody>
      </p:sp>
      <p:sp>
        <p:nvSpPr>
          <p:cNvPr id="939" name="Shape 939"/>
          <p:cNvSpPr/>
          <p:nvPr/>
        </p:nvSpPr>
        <p:spPr>
          <a:xfrm>
            <a:off x="4419600" y="5181600"/>
            <a:ext cx="914400" cy="304799"/>
          </a:xfrm>
          <a:prstGeom prst="rightArrow">
            <a:avLst>
              <a:gd fmla="val 50000" name="adj1"/>
              <a:gd fmla="val 50000"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40" name="Shape 940"/>
          <p:cNvSpPr/>
          <p:nvPr/>
        </p:nvSpPr>
        <p:spPr>
          <a:xfrm rot="180000">
            <a:off x="1676399" y="2514600"/>
            <a:ext cx="5676899" cy="2533649"/>
          </a:xfrm>
          <a:custGeom>
            <a:pathLst>
              <a:path extrusionOk="0" h="120000" w="120000">
                <a:moveTo>
                  <a:pt x="0" y="0"/>
                </a:moveTo>
                <a:cubicBezTo>
                  <a:pt x="838" y="3082"/>
                  <a:pt x="2214" y="11052"/>
                  <a:pt x="5033" y="18496"/>
                </a:cubicBezTo>
                <a:cubicBezTo>
                  <a:pt x="7852" y="25939"/>
                  <a:pt x="11442" y="35112"/>
                  <a:pt x="16912" y="44511"/>
                </a:cubicBezTo>
                <a:cubicBezTo>
                  <a:pt x="22382" y="53909"/>
                  <a:pt x="31241" y="66691"/>
                  <a:pt x="37852" y="74887"/>
                </a:cubicBezTo>
                <a:cubicBezTo>
                  <a:pt x="44463" y="83082"/>
                  <a:pt x="51342" y="89022"/>
                  <a:pt x="56577" y="93834"/>
                </a:cubicBezTo>
                <a:cubicBezTo>
                  <a:pt x="61812" y="98646"/>
                  <a:pt x="65100" y="100827"/>
                  <a:pt x="69261" y="103759"/>
                </a:cubicBezTo>
                <a:cubicBezTo>
                  <a:pt x="73422" y="106691"/>
                  <a:pt x="76610" y="109172"/>
                  <a:pt x="81543" y="111428"/>
                </a:cubicBezTo>
                <a:cubicBezTo>
                  <a:pt x="86476" y="113684"/>
                  <a:pt x="92449" y="115864"/>
                  <a:pt x="98859" y="117293"/>
                </a:cubicBezTo>
                <a:cubicBezTo>
                  <a:pt x="105268" y="118721"/>
                  <a:pt x="115604" y="119473"/>
                  <a:pt x="120000" y="119999"/>
                </a:cubicBezTo>
              </a:path>
            </a:pathLst>
          </a:custGeom>
          <a:noFill/>
          <a:ln cap="flat" cmpd="sng" w="25400">
            <a:solidFill>
              <a:srgbClr val="FF0000"/>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41" name="Shape 941"/>
          <p:cNvSpPr txBox="1"/>
          <p:nvPr/>
        </p:nvSpPr>
        <p:spPr>
          <a:xfrm>
            <a:off x="6324600" y="4876800"/>
            <a:ext cx="1143000" cy="152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61235"/>
              </a:buClr>
              <a:buSzPct val="25000"/>
              <a:buFont typeface="Arial"/>
              <a:buNone/>
            </a:pPr>
            <a:r>
              <a:rPr b="1" i="0" lang="en-US" sz="1400" u="none">
                <a:solidFill>
                  <a:srgbClr val="E61235"/>
                </a:solidFill>
                <a:latin typeface="Arial"/>
                <a:ea typeface="Arial"/>
                <a:cs typeface="Arial"/>
                <a:sym typeface="Arial"/>
              </a:rPr>
              <a:t>Curva IS</a:t>
            </a:r>
            <a:r>
              <a:rPr b="1" baseline="-25000" i="0" lang="en-US" sz="1400" u="none">
                <a:solidFill>
                  <a:srgbClr val="E61235"/>
                </a:solidFill>
                <a:latin typeface="Arial"/>
                <a:ea typeface="Arial"/>
                <a:cs typeface="Arial"/>
                <a:sym typeface="Arial"/>
              </a:rPr>
              <a:t>1</a:t>
            </a:r>
          </a:p>
        </p:txBody>
      </p:sp>
    </p:spTree>
  </p:cSld>
  <p:clrMapOvr>
    <a:masterClrMapping/>
  </p:clrMapOvr>
  <p:transition spd="slow">
    <p:cut/>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945" name="Shape 945"/>
        <p:cNvGrpSpPr/>
        <p:nvPr/>
      </p:nvGrpSpPr>
      <p:grpSpPr>
        <a:xfrm>
          <a:off x="0" y="0"/>
          <a:ext cx="0" cy="0"/>
          <a:chOff x="0" y="0"/>
          <a:chExt cx="0" cy="0"/>
        </a:xfrm>
      </p:grpSpPr>
      <p:pic>
        <p:nvPicPr>
          <p:cNvPr id="946" name="Shape 946"/>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947" name="Shape 947"/>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948" name="Shape 948"/>
          <p:cNvSpPr txBox="1"/>
          <p:nvPr/>
        </p:nvSpPr>
        <p:spPr>
          <a:xfrm>
            <a:off x="3149600" y="107950"/>
            <a:ext cx="5672137" cy="960436"/>
          </a:xfrm>
          <a:prstGeom prst="rect">
            <a:avLst/>
          </a:prstGeom>
          <a:noFill/>
          <a:ln>
            <a:noFill/>
          </a:ln>
        </p:spPr>
        <p:txBody>
          <a:bodyPr anchorCtr="0" anchor="ctr" bIns="0" lIns="365000"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1" lang="en-US" sz="2000" u="none">
                <a:solidFill>
                  <a:srgbClr val="BB4F59"/>
                </a:solidFill>
                <a:latin typeface="Arial"/>
                <a:ea typeface="Arial"/>
                <a:cs typeface="Arial"/>
                <a:sym typeface="Arial"/>
              </a:rPr>
              <a:t>POLÍTICAS COMBINADAS</a:t>
            </a:r>
          </a:p>
          <a:p>
            <a:pPr indent="0" lvl="0" marL="0" marR="0" rtl="0" algn="ctr">
              <a:lnSpc>
                <a:spcPct val="100000"/>
              </a:lnSpc>
              <a:spcBef>
                <a:spcPts val="0"/>
              </a:spcBef>
              <a:spcAft>
                <a:spcPts val="0"/>
              </a:spcAft>
              <a:buClr>
                <a:srgbClr val="BB4F59"/>
              </a:buClr>
              <a:buSzPct val="25000"/>
              <a:buFont typeface="Arial"/>
              <a:buNone/>
            </a:pPr>
            <a:r>
              <a:rPr b="1" i="1" lang="en-US" sz="2000" u="none">
                <a:solidFill>
                  <a:srgbClr val="BB4F59"/>
                </a:solidFill>
                <a:latin typeface="Arial"/>
                <a:ea typeface="Arial"/>
                <a:cs typeface="Arial"/>
                <a:sym typeface="Arial"/>
              </a:rPr>
              <a:t>RESTRICTIVAS FISCALES Y MONETARIAS</a:t>
            </a:r>
          </a:p>
          <a:p>
            <a:pPr indent="0" lvl="0" marL="0" marR="0" rtl="0" algn="l">
              <a:lnSpc>
                <a:spcPct val="100000"/>
              </a:lnSpc>
              <a:spcBef>
                <a:spcPts val="0"/>
              </a:spcBef>
              <a:spcAft>
                <a:spcPts val="0"/>
              </a:spcAft>
              <a:buNone/>
            </a:pPr>
            <a:r>
              <a:t/>
            </a:r>
            <a:endParaRPr b="1" i="1" sz="2000" u="none">
              <a:solidFill>
                <a:srgbClr val="BB4F59"/>
              </a:solidFill>
              <a:latin typeface="Arial"/>
              <a:ea typeface="Arial"/>
              <a:cs typeface="Arial"/>
              <a:sym typeface="Arial"/>
            </a:endParaRPr>
          </a:p>
        </p:txBody>
      </p:sp>
      <p:cxnSp>
        <p:nvCxnSpPr>
          <p:cNvPr id="949" name="Shape 949"/>
          <p:cNvCxnSpPr/>
          <p:nvPr/>
        </p:nvCxnSpPr>
        <p:spPr>
          <a:xfrm rot="10800000">
            <a:off x="1752600" y="2057400"/>
            <a:ext cx="0" cy="3581399"/>
          </a:xfrm>
          <a:prstGeom prst="straightConnector1">
            <a:avLst/>
          </a:prstGeom>
          <a:noFill/>
          <a:ln cap="flat" cmpd="sng" w="25400">
            <a:solidFill>
              <a:schemeClr val="dk1"/>
            </a:solidFill>
            <a:prstDash val="solid"/>
            <a:miter/>
            <a:headEnd len="med" w="med" type="none"/>
            <a:tailEnd len="lg" w="lg" type="triangle"/>
          </a:ln>
        </p:spPr>
      </p:cxnSp>
      <p:cxnSp>
        <p:nvCxnSpPr>
          <p:cNvPr id="950" name="Shape 950"/>
          <p:cNvCxnSpPr/>
          <p:nvPr/>
        </p:nvCxnSpPr>
        <p:spPr>
          <a:xfrm>
            <a:off x="1752600" y="5257800"/>
            <a:ext cx="5867400" cy="0"/>
          </a:xfrm>
          <a:prstGeom prst="straightConnector1">
            <a:avLst/>
          </a:prstGeom>
          <a:noFill/>
          <a:ln cap="flat" cmpd="sng" w="25400">
            <a:solidFill>
              <a:schemeClr val="dk1"/>
            </a:solidFill>
            <a:prstDash val="solid"/>
            <a:miter/>
            <a:headEnd len="med" w="med" type="none"/>
            <a:tailEnd len="lg" w="lg" type="triangle"/>
          </a:ln>
        </p:spPr>
      </p:cxnSp>
      <p:sp>
        <p:nvSpPr>
          <p:cNvPr id="951" name="Shape 951"/>
          <p:cNvSpPr/>
          <p:nvPr/>
        </p:nvSpPr>
        <p:spPr>
          <a:xfrm>
            <a:off x="2225675" y="2867025"/>
            <a:ext cx="3441700" cy="3152775"/>
          </a:xfrm>
          <a:custGeom>
            <a:pathLst>
              <a:path extrusionOk="0" h="120000" w="120000">
                <a:moveTo>
                  <a:pt x="0" y="120000"/>
                </a:moveTo>
                <a:cubicBezTo>
                  <a:pt x="5258" y="118126"/>
                  <a:pt x="20590" y="113716"/>
                  <a:pt x="31494" y="108640"/>
                </a:cubicBezTo>
                <a:cubicBezTo>
                  <a:pt x="42398" y="103564"/>
                  <a:pt x="56070" y="96072"/>
                  <a:pt x="65313" y="89365"/>
                </a:cubicBezTo>
                <a:cubicBezTo>
                  <a:pt x="74557" y="82658"/>
                  <a:pt x="81254" y="75589"/>
                  <a:pt x="87121" y="68519"/>
                </a:cubicBezTo>
                <a:cubicBezTo>
                  <a:pt x="92988" y="61450"/>
                  <a:pt x="96309" y="54199"/>
                  <a:pt x="100405" y="46767"/>
                </a:cubicBezTo>
                <a:cubicBezTo>
                  <a:pt x="104501" y="39335"/>
                  <a:pt x="108431" y="31722"/>
                  <a:pt x="111697" y="23927"/>
                </a:cubicBezTo>
                <a:cubicBezTo>
                  <a:pt x="114963" y="16132"/>
                  <a:pt x="118284" y="4954"/>
                  <a:pt x="120000" y="0"/>
                </a:cubicBezTo>
              </a:path>
            </a:pathLst>
          </a:custGeom>
          <a:noFill/>
          <a:ln cap="flat" cmpd="sng" w="317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52" name="Shape 952"/>
          <p:cNvSpPr txBox="1"/>
          <p:nvPr/>
        </p:nvSpPr>
        <p:spPr>
          <a:xfrm>
            <a:off x="5334000" y="2876550"/>
            <a:ext cx="1828800" cy="304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400" u="none">
                <a:solidFill>
                  <a:schemeClr val="hlink"/>
                </a:solidFill>
                <a:latin typeface="Arial"/>
                <a:ea typeface="Arial"/>
                <a:cs typeface="Arial"/>
                <a:sym typeface="Arial"/>
              </a:rPr>
              <a:t>Curva LM</a:t>
            </a:r>
          </a:p>
        </p:txBody>
      </p:sp>
      <p:cxnSp>
        <p:nvCxnSpPr>
          <p:cNvPr id="953" name="Shape 953"/>
          <p:cNvCxnSpPr/>
          <p:nvPr/>
        </p:nvCxnSpPr>
        <p:spPr>
          <a:xfrm rot="10800000">
            <a:off x="1752600" y="4495800"/>
            <a:ext cx="1904999" cy="0"/>
          </a:xfrm>
          <a:prstGeom prst="straightConnector1">
            <a:avLst/>
          </a:prstGeom>
          <a:noFill/>
          <a:ln cap="flat" cmpd="sng" w="9525">
            <a:solidFill>
              <a:schemeClr val="dk1"/>
            </a:solidFill>
            <a:prstDash val="solid"/>
            <a:miter/>
            <a:headEnd len="med" w="med" type="oval"/>
            <a:tailEnd len="med" w="med" type="none"/>
          </a:ln>
        </p:spPr>
      </p:cxnSp>
      <p:cxnSp>
        <p:nvCxnSpPr>
          <p:cNvPr id="954" name="Shape 954"/>
          <p:cNvCxnSpPr/>
          <p:nvPr/>
        </p:nvCxnSpPr>
        <p:spPr>
          <a:xfrm>
            <a:off x="3657600" y="4495800"/>
            <a:ext cx="0" cy="762000"/>
          </a:xfrm>
          <a:prstGeom prst="straightConnector1">
            <a:avLst/>
          </a:prstGeom>
          <a:noFill/>
          <a:ln cap="flat" cmpd="sng" w="9525">
            <a:solidFill>
              <a:schemeClr val="dk1"/>
            </a:solidFill>
            <a:prstDash val="solid"/>
            <a:miter/>
            <a:headEnd len="med" w="med" type="none"/>
            <a:tailEnd len="med" w="med" type="none"/>
          </a:ln>
        </p:spPr>
      </p:cxnSp>
      <p:sp>
        <p:nvSpPr>
          <p:cNvPr id="955" name="Shape 955"/>
          <p:cNvSpPr txBox="1"/>
          <p:nvPr/>
        </p:nvSpPr>
        <p:spPr>
          <a:xfrm>
            <a:off x="1600200" y="1951036"/>
            <a:ext cx="76199" cy="487361"/>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i</a:t>
            </a:r>
          </a:p>
        </p:txBody>
      </p:sp>
      <p:sp>
        <p:nvSpPr>
          <p:cNvPr id="956" name="Shape 956"/>
          <p:cNvSpPr txBox="1"/>
          <p:nvPr/>
        </p:nvSpPr>
        <p:spPr>
          <a:xfrm>
            <a:off x="7010400" y="5105400"/>
            <a:ext cx="1371599" cy="533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Renta (Y)</a:t>
            </a:r>
          </a:p>
        </p:txBody>
      </p:sp>
      <p:sp>
        <p:nvSpPr>
          <p:cNvPr id="957" name="Shape 957"/>
          <p:cNvSpPr txBox="1"/>
          <p:nvPr/>
        </p:nvSpPr>
        <p:spPr>
          <a:xfrm>
            <a:off x="4572000" y="5257800"/>
            <a:ext cx="609599"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Y</a:t>
            </a:r>
            <a:r>
              <a:rPr b="1" baseline="-25000" i="0" lang="en-US" sz="1200" u="none">
                <a:solidFill>
                  <a:schemeClr val="dk1"/>
                </a:solidFill>
                <a:latin typeface="Arial"/>
                <a:ea typeface="Arial"/>
                <a:cs typeface="Arial"/>
                <a:sym typeface="Arial"/>
              </a:rPr>
              <a:t>eq</a:t>
            </a:r>
          </a:p>
        </p:txBody>
      </p:sp>
      <p:sp>
        <p:nvSpPr>
          <p:cNvPr id="958" name="Shape 958"/>
          <p:cNvSpPr txBox="1"/>
          <p:nvPr/>
        </p:nvSpPr>
        <p:spPr>
          <a:xfrm>
            <a:off x="1227137" y="4433887"/>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i</a:t>
            </a:r>
            <a:r>
              <a:rPr b="1" baseline="-25000" i="0" lang="en-US" sz="1200" u="none">
                <a:solidFill>
                  <a:schemeClr val="dk1"/>
                </a:solidFill>
                <a:latin typeface="Arial"/>
                <a:ea typeface="Arial"/>
                <a:cs typeface="Arial"/>
                <a:sym typeface="Arial"/>
              </a:rPr>
              <a:t>eq</a:t>
            </a:r>
          </a:p>
        </p:txBody>
      </p:sp>
      <p:sp>
        <p:nvSpPr>
          <p:cNvPr id="959" name="Shape 959"/>
          <p:cNvSpPr txBox="1"/>
          <p:nvPr/>
        </p:nvSpPr>
        <p:spPr>
          <a:xfrm>
            <a:off x="381000" y="6065837"/>
            <a:ext cx="7924799" cy="581024"/>
          </a:xfrm>
          <a:prstGeom prst="rect">
            <a:avLst/>
          </a:prstGeom>
          <a:solidFill>
            <a:srgbClr val="FFFF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a:solidFill>
                  <a:schemeClr val="dk1"/>
                </a:solidFill>
                <a:latin typeface="Arial"/>
                <a:ea typeface="Arial"/>
                <a:cs typeface="Arial"/>
                <a:sym typeface="Arial"/>
              </a:rPr>
              <a:t>Si el gobierno aplica  políticas monetarias restrictivas o contractivas combinadas con políticas fiscales restrictivas reduce la renta de equilibrio.</a:t>
            </a:r>
          </a:p>
        </p:txBody>
      </p:sp>
      <p:sp>
        <p:nvSpPr>
          <p:cNvPr id="960" name="Shape 960"/>
          <p:cNvSpPr/>
          <p:nvPr/>
        </p:nvSpPr>
        <p:spPr>
          <a:xfrm rot="240000">
            <a:off x="1714500" y="2419350"/>
            <a:ext cx="5676899" cy="2533649"/>
          </a:xfrm>
          <a:custGeom>
            <a:pathLst>
              <a:path extrusionOk="0" h="120000" w="120000">
                <a:moveTo>
                  <a:pt x="0" y="0"/>
                </a:moveTo>
                <a:cubicBezTo>
                  <a:pt x="838" y="3082"/>
                  <a:pt x="2214" y="11052"/>
                  <a:pt x="5033" y="18496"/>
                </a:cubicBezTo>
                <a:cubicBezTo>
                  <a:pt x="7852" y="25939"/>
                  <a:pt x="11442" y="35112"/>
                  <a:pt x="16912" y="44511"/>
                </a:cubicBezTo>
                <a:cubicBezTo>
                  <a:pt x="22382" y="53909"/>
                  <a:pt x="30704" y="66240"/>
                  <a:pt x="37852" y="74887"/>
                </a:cubicBezTo>
                <a:cubicBezTo>
                  <a:pt x="45000" y="83533"/>
                  <a:pt x="52751" y="90676"/>
                  <a:pt x="59798" y="96541"/>
                </a:cubicBezTo>
                <a:cubicBezTo>
                  <a:pt x="66845" y="102406"/>
                  <a:pt x="73624" y="106691"/>
                  <a:pt x="80134" y="110075"/>
                </a:cubicBezTo>
                <a:cubicBezTo>
                  <a:pt x="86644" y="113458"/>
                  <a:pt x="92214" y="115187"/>
                  <a:pt x="98859" y="116842"/>
                </a:cubicBezTo>
                <a:cubicBezTo>
                  <a:pt x="105503" y="118496"/>
                  <a:pt x="115604" y="119323"/>
                  <a:pt x="120000" y="119999"/>
                </a:cubicBezTo>
              </a:path>
            </a:pathLst>
          </a:custGeom>
          <a:noFill/>
          <a:ln cap="flat" cmpd="sng" w="25400">
            <a:solidFill>
              <a:srgbClr val="993300"/>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61" name="Shape 961"/>
          <p:cNvSpPr txBox="1"/>
          <p:nvPr/>
        </p:nvSpPr>
        <p:spPr>
          <a:xfrm>
            <a:off x="6134100" y="4619625"/>
            <a:ext cx="1295400" cy="37941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accent2"/>
              </a:buClr>
              <a:buSzPct val="25000"/>
              <a:buFont typeface="Arial"/>
              <a:buNone/>
            </a:pPr>
            <a:r>
              <a:rPr b="1" i="0" lang="en-US" sz="1400" u="none">
                <a:solidFill>
                  <a:schemeClr val="accent2"/>
                </a:solidFill>
                <a:latin typeface="Arial"/>
                <a:ea typeface="Arial"/>
                <a:cs typeface="Arial"/>
                <a:sym typeface="Arial"/>
              </a:rPr>
              <a:t>Curva IS</a:t>
            </a:r>
          </a:p>
        </p:txBody>
      </p:sp>
      <p:cxnSp>
        <p:nvCxnSpPr>
          <p:cNvPr id="962" name="Shape 962"/>
          <p:cNvCxnSpPr/>
          <p:nvPr/>
        </p:nvCxnSpPr>
        <p:spPr>
          <a:xfrm rot="10800000">
            <a:off x="1752599" y="4572000"/>
            <a:ext cx="3048000" cy="0"/>
          </a:xfrm>
          <a:prstGeom prst="straightConnector1">
            <a:avLst/>
          </a:prstGeom>
          <a:noFill/>
          <a:ln cap="flat" cmpd="sng" w="9525">
            <a:solidFill>
              <a:schemeClr val="dk1"/>
            </a:solidFill>
            <a:prstDash val="solid"/>
            <a:miter/>
            <a:headEnd len="med" w="med" type="none"/>
            <a:tailEnd len="med" w="med" type="none"/>
          </a:ln>
        </p:spPr>
      </p:cxnSp>
      <p:cxnSp>
        <p:nvCxnSpPr>
          <p:cNvPr id="963" name="Shape 963"/>
          <p:cNvCxnSpPr/>
          <p:nvPr/>
        </p:nvCxnSpPr>
        <p:spPr>
          <a:xfrm>
            <a:off x="4800600" y="4572000"/>
            <a:ext cx="0" cy="685799"/>
          </a:xfrm>
          <a:prstGeom prst="straightConnector1">
            <a:avLst/>
          </a:prstGeom>
          <a:noFill/>
          <a:ln cap="flat" cmpd="sng" w="9525">
            <a:solidFill>
              <a:schemeClr val="dk1"/>
            </a:solidFill>
            <a:prstDash val="solid"/>
            <a:miter/>
            <a:headEnd len="med" w="med" type="none"/>
            <a:tailEnd len="med" w="med" type="none"/>
          </a:ln>
        </p:spPr>
      </p:cxnSp>
      <p:sp>
        <p:nvSpPr>
          <p:cNvPr id="964" name="Shape 964"/>
          <p:cNvSpPr/>
          <p:nvPr/>
        </p:nvSpPr>
        <p:spPr>
          <a:xfrm rot="10800000">
            <a:off x="3657599" y="4648200"/>
            <a:ext cx="1143000" cy="487361"/>
          </a:xfrm>
          <a:prstGeom prst="rightArrow">
            <a:avLst>
              <a:gd fmla="val 50000" name="adj1"/>
              <a:gd fmla="val 50000"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65" name="Shape 965"/>
          <p:cNvSpPr/>
          <p:nvPr/>
        </p:nvSpPr>
        <p:spPr>
          <a:xfrm rot="-8460000">
            <a:off x="3038474" y="3808412"/>
            <a:ext cx="380999" cy="446086"/>
          </a:xfrm>
          <a:prstGeom prst="upArrow">
            <a:avLst>
              <a:gd fmla="val 11700" name="adj1"/>
              <a:gd fmla="val 5940" name="adj2"/>
            </a:avLst>
          </a:prstGeom>
          <a:solidFill>
            <a:srgbClr val="FF00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66" name="Shape 966"/>
          <p:cNvSpPr/>
          <p:nvPr/>
        </p:nvSpPr>
        <p:spPr>
          <a:xfrm rot="-3420000">
            <a:off x="4448967" y="3534568"/>
            <a:ext cx="485775" cy="801687"/>
          </a:xfrm>
          <a:prstGeom prst="upArrow">
            <a:avLst>
              <a:gd fmla="val 11566" name="adj1"/>
              <a:gd fmla="val 4034" name="adj2"/>
            </a:avLst>
          </a:prstGeom>
          <a:solidFill>
            <a:srgbClr val="FF00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67" name="Shape 967"/>
          <p:cNvSpPr txBox="1"/>
          <p:nvPr/>
        </p:nvSpPr>
        <p:spPr>
          <a:xfrm>
            <a:off x="2819400" y="1828800"/>
            <a:ext cx="5714999" cy="809624"/>
          </a:xfrm>
          <a:prstGeom prst="rect">
            <a:avLst/>
          </a:prstGeom>
          <a:solidFill>
            <a:srgbClr val="FFFF00">
              <a:alpha val="52941"/>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Desplazamiento de las curvas IS y LM a la izquierda</a:t>
            </a:r>
          </a:p>
          <a:p>
            <a:pPr indent="0" lvl="0" marL="0" marR="0" rtl="0" algn="ctr">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Reducción de la renta e indeterminación de la tasa </a:t>
            </a:r>
          </a:p>
          <a:p>
            <a:pPr indent="0" lvl="0" marL="0" marR="0" rtl="0" algn="ctr">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de interés </a:t>
            </a:r>
          </a:p>
        </p:txBody>
      </p:sp>
      <p:sp>
        <p:nvSpPr>
          <p:cNvPr id="968" name="Shape 968"/>
          <p:cNvSpPr txBox="1"/>
          <p:nvPr/>
        </p:nvSpPr>
        <p:spPr>
          <a:xfrm>
            <a:off x="1371600" y="4297362"/>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i</a:t>
            </a:r>
            <a:r>
              <a:rPr b="1" baseline="-25000" i="0" lang="en-US" sz="1200" u="none">
                <a:solidFill>
                  <a:schemeClr val="dk1"/>
                </a:solidFill>
                <a:latin typeface="Arial"/>
                <a:ea typeface="Arial"/>
                <a:cs typeface="Arial"/>
                <a:sym typeface="Arial"/>
              </a:rPr>
              <a:t>eq1</a:t>
            </a:r>
          </a:p>
        </p:txBody>
      </p:sp>
      <p:sp>
        <p:nvSpPr>
          <p:cNvPr id="969" name="Shape 969"/>
          <p:cNvSpPr txBox="1"/>
          <p:nvPr/>
        </p:nvSpPr>
        <p:spPr>
          <a:xfrm>
            <a:off x="3429000" y="5257800"/>
            <a:ext cx="609599"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Y</a:t>
            </a:r>
            <a:r>
              <a:rPr b="1" baseline="-25000" i="0" lang="en-US" sz="1200" u="none">
                <a:solidFill>
                  <a:schemeClr val="dk1"/>
                </a:solidFill>
                <a:latin typeface="Arial"/>
                <a:ea typeface="Arial"/>
                <a:cs typeface="Arial"/>
                <a:sym typeface="Arial"/>
              </a:rPr>
              <a:t>eq1</a:t>
            </a:r>
          </a:p>
        </p:txBody>
      </p:sp>
      <p:sp>
        <p:nvSpPr>
          <p:cNvPr id="970" name="Shape 970"/>
          <p:cNvSpPr/>
          <p:nvPr/>
        </p:nvSpPr>
        <p:spPr>
          <a:xfrm>
            <a:off x="1587500" y="2914650"/>
            <a:ext cx="3203575" cy="2524124"/>
          </a:xfrm>
          <a:custGeom>
            <a:pathLst>
              <a:path extrusionOk="0" h="120000" w="120000">
                <a:moveTo>
                  <a:pt x="0" y="120000"/>
                </a:moveTo>
                <a:cubicBezTo>
                  <a:pt x="5649" y="117660"/>
                  <a:pt x="22120" y="112150"/>
                  <a:pt x="33835" y="105811"/>
                </a:cubicBezTo>
                <a:cubicBezTo>
                  <a:pt x="45550" y="99471"/>
                  <a:pt x="60237" y="90113"/>
                  <a:pt x="70168" y="81735"/>
                </a:cubicBezTo>
                <a:cubicBezTo>
                  <a:pt x="80099" y="73358"/>
                  <a:pt x="87294" y="64528"/>
                  <a:pt x="93597" y="55698"/>
                </a:cubicBezTo>
                <a:cubicBezTo>
                  <a:pt x="99900" y="46867"/>
                  <a:pt x="103468" y="37811"/>
                  <a:pt x="107869" y="28528"/>
                </a:cubicBezTo>
                <a:cubicBezTo>
                  <a:pt x="112269" y="19245"/>
                  <a:pt x="117978" y="4754"/>
                  <a:pt x="120000" y="0"/>
                </a:cubicBezTo>
              </a:path>
            </a:pathLst>
          </a:custGeom>
          <a:noFill/>
          <a:ln cap="flat" cmpd="sng" w="317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71" name="Shape 971"/>
          <p:cNvSpPr txBox="1"/>
          <p:nvPr/>
        </p:nvSpPr>
        <p:spPr>
          <a:xfrm>
            <a:off x="3276600" y="2819400"/>
            <a:ext cx="1828800" cy="304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400" u="none">
                <a:solidFill>
                  <a:schemeClr val="hlink"/>
                </a:solidFill>
                <a:latin typeface="Arial"/>
                <a:ea typeface="Arial"/>
                <a:cs typeface="Arial"/>
                <a:sym typeface="Arial"/>
              </a:rPr>
              <a:t>Curva LM</a:t>
            </a:r>
            <a:r>
              <a:rPr b="1" baseline="-25000" i="0" lang="en-US" sz="1400" u="none">
                <a:solidFill>
                  <a:schemeClr val="hlink"/>
                </a:solidFill>
                <a:latin typeface="Arial"/>
                <a:ea typeface="Arial"/>
                <a:cs typeface="Arial"/>
                <a:sym typeface="Arial"/>
              </a:rPr>
              <a:t>1</a:t>
            </a:r>
          </a:p>
        </p:txBody>
      </p:sp>
      <p:sp>
        <p:nvSpPr>
          <p:cNvPr id="972" name="Shape 972"/>
          <p:cNvSpPr/>
          <p:nvPr/>
        </p:nvSpPr>
        <p:spPr>
          <a:xfrm>
            <a:off x="1752600" y="2876550"/>
            <a:ext cx="3790949" cy="2324099"/>
          </a:xfrm>
          <a:custGeom>
            <a:pathLst>
              <a:path extrusionOk="0" h="120000" w="120000">
                <a:moveTo>
                  <a:pt x="0" y="0"/>
                </a:moveTo>
                <a:cubicBezTo>
                  <a:pt x="1256" y="3360"/>
                  <a:pt x="3316" y="12049"/>
                  <a:pt x="7537" y="20163"/>
                </a:cubicBezTo>
                <a:cubicBezTo>
                  <a:pt x="11758" y="28278"/>
                  <a:pt x="17135" y="38278"/>
                  <a:pt x="25326" y="48524"/>
                </a:cubicBezTo>
                <a:cubicBezTo>
                  <a:pt x="33517" y="58770"/>
                  <a:pt x="45979" y="72213"/>
                  <a:pt x="56683" y="81639"/>
                </a:cubicBezTo>
                <a:cubicBezTo>
                  <a:pt x="67386" y="91065"/>
                  <a:pt x="78994" y="98852"/>
                  <a:pt x="89547" y="105245"/>
                </a:cubicBezTo>
                <a:cubicBezTo>
                  <a:pt x="100100" y="111639"/>
                  <a:pt x="114924" y="117540"/>
                  <a:pt x="120000" y="120000"/>
                </a:cubicBezTo>
              </a:path>
            </a:pathLst>
          </a:custGeom>
          <a:noFill/>
          <a:ln cap="flat" cmpd="sng" w="25400">
            <a:solidFill>
              <a:srgbClr val="993300"/>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73" name="Shape 973"/>
          <p:cNvSpPr txBox="1"/>
          <p:nvPr/>
        </p:nvSpPr>
        <p:spPr>
          <a:xfrm>
            <a:off x="1676400" y="3811587"/>
            <a:ext cx="1295400" cy="37941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accent2"/>
              </a:buClr>
              <a:buSzPct val="25000"/>
              <a:buFont typeface="Arial"/>
              <a:buNone/>
            </a:pPr>
            <a:r>
              <a:rPr b="1" i="0" lang="en-US" sz="1400" u="none">
                <a:solidFill>
                  <a:schemeClr val="accent2"/>
                </a:solidFill>
                <a:latin typeface="Arial"/>
                <a:ea typeface="Arial"/>
                <a:cs typeface="Arial"/>
                <a:sym typeface="Arial"/>
              </a:rPr>
              <a:t>Curva IS</a:t>
            </a:r>
            <a:r>
              <a:rPr b="1" baseline="-25000" i="0" lang="en-US" sz="1400" u="none">
                <a:solidFill>
                  <a:schemeClr val="accent2"/>
                </a:solidFill>
                <a:latin typeface="Arial"/>
                <a:ea typeface="Arial"/>
                <a:cs typeface="Arial"/>
                <a:sym typeface="Arial"/>
              </a:rPr>
              <a:t>1</a:t>
            </a:r>
          </a:p>
        </p:txBody>
      </p:sp>
    </p:spTree>
  </p:cSld>
  <p:clrMapOvr>
    <a:masterClrMapping/>
  </p:clrMapOvr>
  <p:transition spd="slow">
    <p:cut/>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977" name="Shape 977"/>
        <p:cNvGrpSpPr/>
        <p:nvPr/>
      </p:nvGrpSpPr>
      <p:grpSpPr>
        <a:xfrm>
          <a:off x="0" y="0"/>
          <a:ext cx="0" cy="0"/>
          <a:chOff x="0" y="0"/>
          <a:chExt cx="0" cy="0"/>
        </a:xfrm>
      </p:grpSpPr>
      <p:pic>
        <p:nvPicPr>
          <p:cNvPr id="978" name="Shape 978"/>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979" name="Shape 979"/>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980" name="Shape 980"/>
          <p:cNvSpPr txBox="1"/>
          <p:nvPr/>
        </p:nvSpPr>
        <p:spPr>
          <a:xfrm>
            <a:off x="4098925" y="-44450"/>
            <a:ext cx="3763962" cy="1265236"/>
          </a:xfrm>
          <a:prstGeom prst="rect">
            <a:avLst/>
          </a:prstGeom>
          <a:noFill/>
          <a:ln>
            <a:noFill/>
          </a:ln>
        </p:spPr>
        <p:txBody>
          <a:bodyPr anchorCtr="0" anchor="ctr" bIns="0" lIns="365000"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1" lang="en-US" sz="2000" u="none">
                <a:solidFill>
                  <a:srgbClr val="BB4F59"/>
                </a:solidFill>
                <a:latin typeface="Arial"/>
                <a:ea typeface="Arial"/>
                <a:cs typeface="Arial"/>
                <a:sym typeface="Arial"/>
              </a:rPr>
              <a:t>POLÍTICA COMBINADA</a:t>
            </a:r>
          </a:p>
          <a:p>
            <a:pPr indent="0" lvl="0" marL="0" marR="0" rtl="0" algn="ctr">
              <a:lnSpc>
                <a:spcPct val="100000"/>
              </a:lnSpc>
              <a:spcBef>
                <a:spcPts val="0"/>
              </a:spcBef>
              <a:spcAft>
                <a:spcPts val="0"/>
              </a:spcAft>
              <a:buClr>
                <a:srgbClr val="BB4F59"/>
              </a:buClr>
              <a:buSzPct val="25000"/>
              <a:buFont typeface="Arial"/>
              <a:buNone/>
            </a:pPr>
            <a:r>
              <a:rPr b="1" i="1" lang="en-US" sz="2000" u="none">
                <a:solidFill>
                  <a:srgbClr val="BB4F59"/>
                </a:solidFill>
                <a:latin typeface="Arial"/>
                <a:ea typeface="Arial"/>
                <a:cs typeface="Arial"/>
                <a:sym typeface="Arial"/>
              </a:rPr>
              <a:t>RESTRICTIVA MONETARIA</a:t>
            </a:r>
          </a:p>
          <a:p>
            <a:pPr indent="0" lvl="0" marL="0" marR="0" rtl="0" algn="ctr">
              <a:lnSpc>
                <a:spcPct val="100000"/>
              </a:lnSpc>
              <a:spcBef>
                <a:spcPts val="0"/>
              </a:spcBef>
              <a:spcAft>
                <a:spcPts val="0"/>
              </a:spcAft>
              <a:buClr>
                <a:srgbClr val="BB4F59"/>
              </a:buClr>
              <a:buSzPct val="25000"/>
              <a:buFont typeface="Arial"/>
              <a:buNone/>
            </a:pPr>
            <a:r>
              <a:rPr b="1" i="1" lang="en-US" sz="2000" u="none">
                <a:solidFill>
                  <a:srgbClr val="BB4F59"/>
                </a:solidFill>
                <a:latin typeface="Arial"/>
                <a:ea typeface="Arial"/>
                <a:cs typeface="Arial"/>
                <a:sym typeface="Arial"/>
              </a:rPr>
              <a:t>CON EXPANSIVA FISCAL</a:t>
            </a:r>
          </a:p>
          <a:p>
            <a:pPr indent="0" lvl="0" marL="0" marR="0" rtl="0" algn="l">
              <a:lnSpc>
                <a:spcPct val="100000"/>
              </a:lnSpc>
              <a:spcBef>
                <a:spcPts val="0"/>
              </a:spcBef>
              <a:spcAft>
                <a:spcPts val="0"/>
              </a:spcAft>
              <a:buNone/>
            </a:pPr>
            <a:r>
              <a:t/>
            </a:r>
            <a:endParaRPr b="1" i="1" sz="2000" u="none">
              <a:solidFill>
                <a:srgbClr val="BB4F59"/>
              </a:solidFill>
              <a:latin typeface="Arial"/>
              <a:ea typeface="Arial"/>
              <a:cs typeface="Arial"/>
              <a:sym typeface="Arial"/>
            </a:endParaRPr>
          </a:p>
        </p:txBody>
      </p:sp>
      <p:cxnSp>
        <p:nvCxnSpPr>
          <p:cNvPr id="981" name="Shape 981"/>
          <p:cNvCxnSpPr/>
          <p:nvPr/>
        </p:nvCxnSpPr>
        <p:spPr>
          <a:xfrm rot="10800000">
            <a:off x="1752600" y="2057400"/>
            <a:ext cx="0" cy="3581399"/>
          </a:xfrm>
          <a:prstGeom prst="straightConnector1">
            <a:avLst/>
          </a:prstGeom>
          <a:noFill/>
          <a:ln cap="flat" cmpd="sng" w="25400">
            <a:solidFill>
              <a:schemeClr val="dk1"/>
            </a:solidFill>
            <a:prstDash val="solid"/>
            <a:miter/>
            <a:headEnd len="med" w="med" type="none"/>
            <a:tailEnd len="lg" w="lg" type="triangle"/>
          </a:ln>
        </p:spPr>
      </p:cxnSp>
      <p:cxnSp>
        <p:nvCxnSpPr>
          <p:cNvPr id="982" name="Shape 982"/>
          <p:cNvCxnSpPr/>
          <p:nvPr/>
        </p:nvCxnSpPr>
        <p:spPr>
          <a:xfrm>
            <a:off x="1752600" y="5257800"/>
            <a:ext cx="5867400" cy="0"/>
          </a:xfrm>
          <a:prstGeom prst="straightConnector1">
            <a:avLst/>
          </a:prstGeom>
          <a:noFill/>
          <a:ln cap="flat" cmpd="sng" w="25400">
            <a:solidFill>
              <a:schemeClr val="dk1"/>
            </a:solidFill>
            <a:prstDash val="solid"/>
            <a:miter/>
            <a:headEnd len="med" w="med" type="none"/>
            <a:tailEnd len="lg" w="lg" type="triangle"/>
          </a:ln>
        </p:spPr>
      </p:cxnSp>
      <p:sp>
        <p:nvSpPr>
          <p:cNvPr id="983" name="Shape 983"/>
          <p:cNvSpPr/>
          <p:nvPr/>
        </p:nvSpPr>
        <p:spPr>
          <a:xfrm>
            <a:off x="2225675" y="2867025"/>
            <a:ext cx="3441700" cy="3152775"/>
          </a:xfrm>
          <a:custGeom>
            <a:pathLst>
              <a:path extrusionOk="0" h="120000" w="120000">
                <a:moveTo>
                  <a:pt x="0" y="120000"/>
                </a:moveTo>
                <a:cubicBezTo>
                  <a:pt x="5258" y="118126"/>
                  <a:pt x="20590" y="113716"/>
                  <a:pt x="31494" y="108640"/>
                </a:cubicBezTo>
                <a:cubicBezTo>
                  <a:pt x="42398" y="103564"/>
                  <a:pt x="56070" y="96072"/>
                  <a:pt x="65313" y="89365"/>
                </a:cubicBezTo>
                <a:cubicBezTo>
                  <a:pt x="74557" y="82658"/>
                  <a:pt x="81254" y="75589"/>
                  <a:pt x="87121" y="68519"/>
                </a:cubicBezTo>
                <a:cubicBezTo>
                  <a:pt x="92988" y="61450"/>
                  <a:pt x="96309" y="54199"/>
                  <a:pt x="100405" y="46767"/>
                </a:cubicBezTo>
                <a:cubicBezTo>
                  <a:pt x="104501" y="39335"/>
                  <a:pt x="108431" y="31722"/>
                  <a:pt x="111697" y="23927"/>
                </a:cubicBezTo>
                <a:cubicBezTo>
                  <a:pt x="114963" y="16132"/>
                  <a:pt x="118284" y="4954"/>
                  <a:pt x="120000" y="0"/>
                </a:cubicBezTo>
              </a:path>
            </a:pathLst>
          </a:custGeom>
          <a:noFill/>
          <a:ln cap="flat" cmpd="sng" w="317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84" name="Shape 984"/>
          <p:cNvSpPr txBox="1"/>
          <p:nvPr/>
        </p:nvSpPr>
        <p:spPr>
          <a:xfrm>
            <a:off x="5334000" y="2876550"/>
            <a:ext cx="1828800" cy="304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400" u="none">
                <a:solidFill>
                  <a:schemeClr val="hlink"/>
                </a:solidFill>
                <a:latin typeface="Arial"/>
                <a:ea typeface="Arial"/>
                <a:cs typeface="Arial"/>
                <a:sym typeface="Arial"/>
              </a:rPr>
              <a:t>Curva LM</a:t>
            </a:r>
          </a:p>
        </p:txBody>
      </p:sp>
      <p:cxnSp>
        <p:nvCxnSpPr>
          <p:cNvPr id="985" name="Shape 985"/>
          <p:cNvCxnSpPr/>
          <p:nvPr/>
        </p:nvCxnSpPr>
        <p:spPr>
          <a:xfrm rot="10800000">
            <a:off x="1752600" y="3810000"/>
            <a:ext cx="2514599" cy="0"/>
          </a:xfrm>
          <a:prstGeom prst="straightConnector1">
            <a:avLst/>
          </a:prstGeom>
          <a:noFill/>
          <a:ln cap="flat" cmpd="sng" w="9525">
            <a:solidFill>
              <a:schemeClr val="dk1"/>
            </a:solidFill>
            <a:prstDash val="solid"/>
            <a:miter/>
            <a:headEnd len="med" w="med" type="oval"/>
            <a:tailEnd len="med" w="med" type="none"/>
          </a:ln>
        </p:spPr>
      </p:cxnSp>
      <p:cxnSp>
        <p:nvCxnSpPr>
          <p:cNvPr id="986" name="Shape 986"/>
          <p:cNvCxnSpPr/>
          <p:nvPr/>
        </p:nvCxnSpPr>
        <p:spPr>
          <a:xfrm>
            <a:off x="4267200" y="3810000"/>
            <a:ext cx="0" cy="1447800"/>
          </a:xfrm>
          <a:prstGeom prst="straightConnector1">
            <a:avLst/>
          </a:prstGeom>
          <a:noFill/>
          <a:ln cap="flat" cmpd="sng" w="9525">
            <a:solidFill>
              <a:schemeClr val="dk1"/>
            </a:solidFill>
            <a:prstDash val="solid"/>
            <a:miter/>
            <a:headEnd len="med" w="med" type="none"/>
            <a:tailEnd len="med" w="med" type="none"/>
          </a:ln>
        </p:spPr>
      </p:cxnSp>
      <p:sp>
        <p:nvSpPr>
          <p:cNvPr id="987" name="Shape 987"/>
          <p:cNvSpPr txBox="1"/>
          <p:nvPr/>
        </p:nvSpPr>
        <p:spPr>
          <a:xfrm>
            <a:off x="1600200" y="1951036"/>
            <a:ext cx="76199" cy="487361"/>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i</a:t>
            </a:r>
          </a:p>
        </p:txBody>
      </p:sp>
      <p:sp>
        <p:nvSpPr>
          <p:cNvPr id="988" name="Shape 988"/>
          <p:cNvSpPr txBox="1"/>
          <p:nvPr/>
        </p:nvSpPr>
        <p:spPr>
          <a:xfrm>
            <a:off x="7010400" y="5105400"/>
            <a:ext cx="1371599" cy="533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Renta (Y)</a:t>
            </a:r>
          </a:p>
        </p:txBody>
      </p:sp>
      <p:sp>
        <p:nvSpPr>
          <p:cNvPr id="989" name="Shape 989"/>
          <p:cNvSpPr txBox="1"/>
          <p:nvPr/>
        </p:nvSpPr>
        <p:spPr>
          <a:xfrm>
            <a:off x="4572000" y="5257800"/>
            <a:ext cx="609599"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Y</a:t>
            </a:r>
            <a:r>
              <a:rPr b="1" baseline="-25000" i="0" lang="en-US" sz="1200" u="none">
                <a:solidFill>
                  <a:schemeClr val="dk1"/>
                </a:solidFill>
                <a:latin typeface="Arial"/>
                <a:ea typeface="Arial"/>
                <a:cs typeface="Arial"/>
                <a:sym typeface="Arial"/>
              </a:rPr>
              <a:t>eq</a:t>
            </a:r>
          </a:p>
        </p:txBody>
      </p:sp>
      <p:sp>
        <p:nvSpPr>
          <p:cNvPr id="990" name="Shape 990"/>
          <p:cNvSpPr txBox="1"/>
          <p:nvPr/>
        </p:nvSpPr>
        <p:spPr>
          <a:xfrm>
            <a:off x="1379537" y="4373562"/>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i</a:t>
            </a:r>
            <a:r>
              <a:rPr b="1" baseline="-25000" i="0" lang="en-US" sz="1200" u="none">
                <a:solidFill>
                  <a:schemeClr val="dk1"/>
                </a:solidFill>
                <a:latin typeface="Arial"/>
                <a:ea typeface="Arial"/>
                <a:cs typeface="Arial"/>
                <a:sym typeface="Arial"/>
              </a:rPr>
              <a:t>eq</a:t>
            </a:r>
          </a:p>
        </p:txBody>
      </p:sp>
      <p:sp>
        <p:nvSpPr>
          <p:cNvPr id="991" name="Shape 991"/>
          <p:cNvSpPr txBox="1"/>
          <p:nvPr/>
        </p:nvSpPr>
        <p:spPr>
          <a:xfrm>
            <a:off x="381000" y="6065837"/>
            <a:ext cx="7924799" cy="581024"/>
          </a:xfrm>
          <a:prstGeom prst="rect">
            <a:avLst/>
          </a:prstGeom>
          <a:solidFill>
            <a:srgbClr val="FFFF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a:solidFill>
                  <a:schemeClr val="dk1"/>
                </a:solidFill>
                <a:latin typeface="Arial"/>
                <a:ea typeface="Arial"/>
                <a:cs typeface="Arial"/>
                <a:sym typeface="Arial"/>
              </a:rPr>
              <a:t>Si el gobierno aplica  políticas monetarias restrictivas o contractivas combinadas con políticas fiscales expansivas aumentará la tasa de interés.</a:t>
            </a:r>
          </a:p>
        </p:txBody>
      </p:sp>
      <p:sp>
        <p:nvSpPr>
          <p:cNvPr id="992" name="Shape 992"/>
          <p:cNvSpPr/>
          <p:nvPr/>
        </p:nvSpPr>
        <p:spPr>
          <a:xfrm rot="240000">
            <a:off x="1714500" y="2419350"/>
            <a:ext cx="5676899" cy="2533649"/>
          </a:xfrm>
          <a:custGeom>
            <a:pathLst>
              <a:path extrusionOk="0" h="120000" w="120000">
                <a:moveTo>
                  <a:pt x="0" y="0"/>
                </a:moveTo>
                <a:cubicBezTo>
                  <a:pt x="838" y="3082"/>
                  <a:pt x="2214" y="11052"/>
                  <a:pt x="5033" y="18496"/>
                </a:cubicBezTo>
                <a:cubicBezTo>
                  <a:pt x="7852" y="25939"/>
                  <a:pt x="11442" y="35112"/>
                  <a:pt x="16912" y="44511"/>
                </a:cubicBezTo>
                <a:cubicBezTo>
                  <a:pt x="22382" y="53909"/>
                  <a:pt x="30704" y="66240"/>
                  <a:pt x="37852" y="74887"/>
                </a:cubicBezTo>
                <a:cubicBezTo>
                  <a:pt x="45000" y="83533"/>
                  <a:pt x="52751" y="90676"/>
                  <a:pt x="59798" y="96541"/>
                </a:cubicBezTo>
                <a:cubicBezTo>
                  <a:pt x="66845" y="102406"/>
                  <a:pt x="73624" y="106691"/>
                  <a:pt x="80134" y="110075"/>
                </a:cubicBezTo>
                <a:cubicBezTo>
                  <a:pt x="86644" y="113458"/>
                  <a:pt x="92214" y="115187"/>
                  <a:pt x="98859" y="116842"/>
                </a:cubicBezTo>
                <a:cubicBezTo>
                  <a:pt x="105503" y="118496"/>
                  <a:pt x="115604" y="119323"/>
                  <a:pt x="120000" y="119999"/>
                </a:cubicBezTo>
              </a:path>
            </a:pathLst>
          </a:custGeom>
          <a:noFill/>
          <a:ln cap="flat" cmpd="sng" w="25400">
            <a:solidFill>
              <a:srgbClr val="993300"/>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93" name="Shape 993"/>
          <p:cNvSpPr txBox="1"/>
          <p:nvPr/>
        </p:nvSpPr>
        <p:spPr>
          <a:xfrm>
            <a:off x="6134100" y="4619625"/>
            <a:ext cx="1295400" cy="37941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accent2"/>
              </a:buClr>
              <a:buSzPct val="25000"/>
              <a:buFont typeface="Arial"/>
              <a:buNone/>
            </a:pPr>
            <a:r>
              <a:rPr b="1" i="0" lang="en-US" sz="1400" u="none">
                <a:solidFill>
                  <a:schemeClr val="accent2"/>
                </a:solidFill>
                <a:latin typeface="Arial"/>
                <a:ea typeface="Arial"/>
                <a:cs typeface="Arial"/>
                <a:sym typeface="Arial"/>
              </a:rPr>
              <a:t>Curva IS</a:t>
            </a:r>
          </a:p>
        </p:txBody>
      </p:sp>
      <p:cxnSp>
        <p:nvCxnSpPr>
          <p:cNvPr id="994" name="Shape 994"/>
          <p:cNvCxnSpPr/>
          <p:nvPr/>
        </p:nvCxnSpPr>
        <p:spPr>
          <a:xfrm rot="10800000">
            <a:off x="1752599" y="4572000"/>
            <a:ext cx="3048000" cy="0"/>
          </a:xfrm>
          <a:prstGeom prst="straightConnector1">
            <a:avLst/>
          </a:prstGeom>
          <a:noFill/>
          <a:ln cap="flat" cmpd="sng" w="9525">
            <a:solidFill>
              <a:schemeClr val="dk1"/>
            </a:solidFill>
            <a:prstDash val="solid"/>
            <a:miter/>
            <a:headEnd len="med" w="med" type="none"/>
            <a:tailEnd len="med" w="med" type="none"/>
          </a:ln>
        </p:spPr>
      </p:cxnSp>
      <p:cxnSp>
        <p:nvCxnSpPr>
          <p:cNvPr id="995" name="Shape 995"/>
          <p:cNvCxnSpPr/>
          <p:nvPr/>
        </p:nvCxnSpPr>
        <p:spPr>
          <a:xfrm>
            <a:off x="4800600" y="4572000"/>
            <a:ext cx="0" cy="685799"/>
          </a:xfrm>
          <a:prstGeom prst="straightConnector1">
            <a:avLst/>
          </a:prstGeom>
          <a:noFill/>
          <a:ln cap="flat" cmpd="sng" w="9525">
            <a:solidFill>
              <a:schemeClr val="dk1"/>
            </a:solidFill>
            <a:prstDash val="solid"/>
            <a:miter/>
            <a:headEnd len="med" w="med" type="none"/>
            <a:tailEnd len="med" w="med" type="none"/>
          </a:ln>
        </p:spPr>
      </p:cxnSp>
      <p:sp>
        <p:nvSpPr>
          <p:cNvPr id="996" name="Shape 996"/>
          <p:cNvSpPr/>
          <p:nvPr/>
        </p:nvSpPr>
        <p:spPr>
          <a:xfrm rot="-5400000">
            <a:off x="2605880" y="3947317"/>
            <a:ext cx="762000" cy="487361"/>
          </a:xfrm>
          <a:prstGeom prst="rightArrow">
            <a:avLst>
              <a:gd fmla="val 50000" name="adj1"/>
              <a:gd fmla="val 50000"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97" name="Shape 997"/>
          <p:cNvSpPr/>
          <p:nvPr/>
        </p:nvSpPr>
        <p:spPr>
          <a:xfrm rot="1140000">
            <a:off x="5500686" y="4378324"/>
            <a:ext cx="425449" cy="469899"/>
          </a:xfrm>
          <a:prstGeom prst="upArrow">
            <a:avLst>
              <a:gd fmla="val 11700" name="adj1"/>
              <a:gd fmla="val 5940" name="adj2"/>
            </a:avLst>
          </a:prstGeom>
          <a:solidFill>
            <a:srgbClr val="FF00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98" name="Shape 998"/>
          <p:cNvSpPr/>
          <p:nvPr/>
        </p:nvSpPr>
        <p:spPr>
          <a:xfrm rot="-3420000">
            <a:off x="4664868" y="3145630"/>
            <a:ext cx="485775" cy="852487"/>
          </a:xfrm>
          <a:prstGeom prst="upArrow">
            <a:avLst>
              <a:gd fmla="val 11566" name="adj1"/>
              <a:gd fmla="val 4034" name="adj2"/>
            </a:avLst>
          </a:prstGeom>
          <a:solidFill>
            <a:srgbClr val="FF00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999" name="Shape 999"/>
          <p:cNvSpPr txBox="1"/>
          <p:nvPr/>
        </p:nvSpPr>
        <p:spPr>
          <a:xfrm>
            <a:off x="3200400" y="1447800"/>
            <a:ext cx="5486399" cy="990599"/>
          </a:xfrm>
          <a:prstGeom prst="rect">
            <a:avLst/>
          </a:prstGeom>
          <a:solidFill>
            <a:srgbClr val="FFFF00">
              <a:alpha val="52941"/>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Desplazamiento de las curvas IS a la derecha y LM </a:t>
            </a:r>
          </a:p>
          <a:p>
            <a:pPr indent="0" lvl="0" marL="0" marR="0" rtl="0" algn="ctr">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a la izquierda. Aumento de la tasa de interés e </a:t>
            </a:r>
          </a:p>
          <a:p>
            <a:pPr indent="0" lvl="0" marL="0" marR="0" rtl="0" algn="ctr">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indeterminación de la renta de equilibrio</a:t>
            </a:r>
          </a:p>
        </p:txBody>
      </p:sp>
      <p:sp>
        <p:nvSpPr>
          <p:cNvPr id="1000" name="Shape 1000"/>
          <p:cNvSpPr txBox="1"/>
          <p:nvPr/>
        </p:nvSpPr>
        <p:spPr>
          <a:xfrm>
            <a:off x="1371600" y="3657600"/>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i</a:t>
            </a:r>
            <a:r>
              <a:rPr b="1" baseline="-25000" i="0" lang="en-US" sz="1200" u="none">
                <a:solidFill>
                  <a:schemeClr val="dk1"/>
                </a:solidFill>
                <a:latin typeface="Arial"/>
                <a:ea typeface="Arial"/>
                <a:cs typeface="Arial"/>
                <a:sym typeface="Arial"/>
              </a:rPr>
              <a:t>eq1</a:t>
            </a:r>
          </a:p>
        </p:txBody>
      </p:sp>
      <p:sp>
        <p:nvSpPr>
          <p:cNvPr id="1001" name="Shape 1001"/>
          <p:cNvSpPr txBox="1"/>
          <p:nvPr/>
        </p:nvSpPr>
        <p:spPr>
          <a:xfrm>
            <a:off x="4038600" y="5257800"/>
            <a:ext cx="609599"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Y</a:t>
            </a:r>
            <a:r>
              <a:rPr b="1" baseline="-25000" i="0" lang="en-US" sz="1200" u="none">
                <a:solidFill>
                  <a:schemeClr val="dk1"/>
                </a:solidFill>
                <a:latin typeface="Arial"/>
                <a:ea typeface="Arial"/>
                <a:cs typeface="Arial"/>
                <a:sym typeface="Arial"/>
              </a:rPr>
              <a:t>eq1</a:t>
            </a:r>
          </a:p>
        </p:txBody>
      </p:sp>
      <p:sp>
        <p:nvSpPr>
          <p:cNvPr id="1002" name="Shape 1002"/>
          <p:cNvSpPr/>
          <p:nvPr/>
        </p:nvSpPr>
        <p:spPr>
          <a:xfrm>
            <a:off x="1587500" y="2914650"/>
            <a:ext cx="3203575" cy="2524124"/>
          </a:xfrm>
          <a:custGeom>
            <a:pathLst>
              <a:path extrusionOk="0" h="120000" w="120000">
                <a:moveTo>
                  <a:pt x="0" y="120000"/>
                </a:moveTo>
                <a:cubicBezTo>
                  <a:pt x="5649" y="117660"/>
                  <a:pt x="22120" y="112150"/>
                  <a:pt x="33835" y="105811"/>
                </a:cubicBezTo>
                <a:cubicBezTo>
                  <a:pt x="45550" y="99471"/>
                  <a:pt x="60237" y="90113"/>
                  <a:pt x="70168" y="81735"/>
                </a:cubicBezTo>
                <a:cubicBezTo>
                  <a:pt x="80099" y="73358"/>
                  <a:pt x="87294" y="64528"/>
                  <a:pt x="93597" y="55698"/>
                </a:cubicBezTo>
                <a:cubicBezTo>
                  <a:pt x="99900" y="46867"/>
                  <a:pt x="103468" y="37811"/>
                  <a:pt x="107869" y="28528"/>
                </a:cubicBezTo>
                <a:cubicBezTo>
                  <a:pt x="112269" y="19245"/>
                  <a:pt x="117978" y="4754"/>
                  <a:pt x="120000" y="0"/>
                </a:cubicBezTo>
              </a:path>
            </a:pathLst>
          </a:custGeom>
          <a:noFill/>
          <a:ln cap="flat" cmpd="sng" w="317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003" name="Shape 1003"/>
          <p:cNvSpPr txBox="1"/>
          <p:nvPr/>
        </p:nvSpPr>
        <p:spPr>
          <a:xfrm>
            <a:off x="3276600" y="2819400"/>
            <a:ext cx="1828800" cy="304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400" u="none">
                <a:solidFill>
                  <a:schemeClr val="hlink"/>
                </a:solidFill>
                <a:latin typeface="Arial"/>
                <a:ea typeface="Arial"/>
                <a:cs typeface="Arial"/>
                <a:sym typeface="Arial"/>
              </a:rPr>
              <a:t>Curva LM</a:t>
            </a:r>
            <a:r>
              <a:rPr b="1" baseline="-25000" i="0" lang="en-US" sz="1400" u="none">
                <a:solidFill>
                  <a:schemeClr val="hlink"/>
                </a:solidFill>
                <a:latin typeface="Arial"/>
                <a:ea typeface="Arial"/>
                <a:cs typeface="Arial"/>
                <a:sym typeface="Arial"/>
              </a:rPr>
              <a:t>1</a:t>
            </a:r>
          </a:p>
        </p:txBody>
      </p:sp>
      <p:sp>
        <p:nvSpPr>
          <p:cNvPr id="1004" name="Shape 1004"/>
          <p:cNvSpPr/>
          <p:nvPr/>
        </p:nvSpPr>
        <p:spPr>
          <a:xfrm rot="300000">
            <a:off x="1600200" y="1828799"/>
            <a:ext cx="5676899" cy="2533650"/>
          </a:xfrm>
          <a:custGeom>
            <a:pathLst>
              <a:path extrusionOk="0" h="120000" w="120000">
                <a:moveTo>
                  <a:pt x="0" y="0"/>
                </a:moveTo>
                <a:cubicBezTo>
                  <a:pt x="838" y="3082"/>
                  <a:pt x="2214" y="11052"/>
                  <a:pt x="5033" y="18496"/>
                </a:cubicBezTo>
                <a:cubicBezTo>
                  <a:pt x="7852" y="25939"/>
                  <a:pt x="11442" y="35112"/>
                  <a:pt x="16912" y="44511"/>
                </a:cubicBezTo>
                <a:cubicBezTo>
                  <a:pt x="22382" y="53909"/>
                  <a:pt x="30704" y="66240"/>
                  <a:pt x="37852" y="74887"/>
                </a:cubicBezTo>
                <a:cubicBezTo>
                  <a:pt x="45000" y="83533"/>
                  <a:pt x="52751" y="90676"/>
                  <a:pt x="59798" y="96541"/>
                </a:cubicBezTo>
                <a:cubicBezTo>
                  <a:pt x="66845" y="102406"/>
                  <a:pt x="73624" y="106691"/>
                  <a:pt x="80134" y="110075"/>
                </a:cubicBezTo>
                <a:cubicBezTo>
                  <a:pt x="86644" y="113458"/>
                  <a:pt x="92214" y="115187"/>
                  <a:pt x="98859" y="116842"/>
                </a:cubicBezTo>
                <a:cubicBezTo>
                  <a:pt x="105503" y="118496"/>
                  <a:pt x="115604" y="119323"/>
                  <a:pt x="120000" y="119999"/>
                </a:cubicBezTo>
              </a:path>
            </a:pathLst>
          </a:custGeom>
          <a:noFill/>
          <a:ln cap="flat" cmpd="sng" w="25400">
            <a:solidFill>
              <a:srgbClr val="993300"/>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005" name="Shape 1005"/>
          <p:cNvSpPr txBox="1"/>
          <p:nvPr/>
        </p:nvSpPr>
        <p:spPr>
          <a:xfrm>
            <a:off x="6096000" y="4191000"/>
            <a:ext cx="1295400" cy="37941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accent2"/>
              </a:buClr>
              <a:buSzPct val="25000"/>
              <a:buFont typeface="Arial"/>
              <a:buNone/>
            </a:pPr>
            <a:r>
              <a:rPr b="1" i="0" lang="en-US" sz="1400" u="none">
                <a:solidFill>
                  <a:schemeClr val="accent2"/>
                </a:solidFill>
                <a:latin typeface="Arial"/>
                <a:ea typeface="Arial"/>
                <a:cs typeface="Arial"/>
                <a:sym typeface="Arial"/>
              </a:rPr>
              <a:t>Curva IS</a:t>
            </a:r>
            <a:r>
              <a:rPr b="1" baseline="-25000" i="0" lang="en-US" sz="1400" u="none">
                <a:solidFill>
                  <a:schemeClr val="accent2"/>
                </a:solidFill>
                <a:latin typeface="Arial"/>
                <a:ea typeface="Arial"/>
                <a:cs typeface="Arial"/>
                <a:sym typeface="Arial"/>
              </a:rPr>
              <a:t>1</a:t>
            </a:r>
          </a:p>
        </p:txBody>
      </p:sp>
    </p:spTree>
  </p:cSld>
  <p:clrMapOvr>
    <a:masterClrMapping/>
  </p:clrMapOvr>
  <p:transition spd="slow">
    <p:cut/>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009" name="Shape 1009"/>
        <p:cNvGrpSpPr/>
        <p:nvPr/>
      </p:nvGrpSpPr>
      <p:grpSpPr>
        <a:xfrm>
          <a:off x="0" y="0"/>
          <a:ext cx="0" cy="0"/>
          <a:chOff x="0" y="0"/>
          <a:chExt cx="0" cy="0"/>
        </a:xfrm>
      </p:grpSpPr>
      <p:pic>
        <p:nvPicPr>
          <p:cNvPr id="1010" name="Shape 1010"/>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1011" name="Shape 1011"/>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1012" name="Shape 1012"/>
          <p:cNvSpPr txBox="1"/>
          <p:nvPr/>
        </p:nvSpPr>
        <p:spPr>
          <a:xfrm>
            <a:off x="3954462" y="30161"/>
            <a:ext cx="3778250" cy="1265236"/>
          </a:xfrm>
          <a:prstGeom prst="rect">
            <a:avLst/>
          </a:prstGeom>
          <a:noFill/>
          <a:ln>
            <a:noFill/>
          </a:ln>
        </p:spPr>
        <p:txBody>
          <a:bodyPr anchorCtr="0" anchor="ctr" bIns="0" lIns="365000"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1" lang="en-US" sz="2000" u="none">
                <a:solidFill>
                  <a:srgbClr val="BB4F59"/>
                </a:solidFill>
                <a:latin typeface="Arial"/>
                <a:ea typeface="Arial"/>
                <a:cs typeface="Arial"/>
                <a:sym typeface="Arial"/>
              </a:rPr>
              <a:t>POLÍTICA COMBINADA</a:t>
            </a:r>
          </a:p>
          <a:p>
            <a:pPr indent="0" lvl="0" marL="0" marR="0" rtl="0" algn="ctr">
              <a:lnSpc>
                <a:spcPct val="100000"/>
              </a:lnSpc>
              <a:spcBef>
                <a:spcPts val="0"/>
              </a:spcBef>
              <a:spcAft>
                <a:spcPts val="0"/>
              </a:spcAft>
              <a:buClr>
                <a:srgbClr val="BB4F59"/>
              </a:buClr>
              <a:buSzPct val="25000"/>
              <a:buFont typeface="Arial"/>
              <a:buNone/>
            </a:pPr>
            <a:r>
              <a:rPr b="1" i="1" lang="en-US" sz="2000" u="none">
                <a:solidFill>
                  <a:srgbClr val="BB4F59"/>
                </a:solidFill>
                <a:latin typeface="Arial"/>
                <a:ea typeface="Arial"/>
                <a:cs typeface="Arial"/>
                <a:sym typeface="Arial"/>
              </a:rPr>
              <a:t>EXPANSIVA MONETARIA</a:t>
            </a:r>
          </a:p>
          <a:p>
            <a:pPr indent="0" lvl="0" marL="0" marR="0" rtl="0" algn="ctr">
              <a:lnSpc>
                <a:spcPct val="100000"/>
              </a:lnSpc>
              <a:spcBef>
                <a:spcPts val="0"/>
              </a:spcBef>
              <a:spcAft>
                <a:spcPts val="0"/>
              </a:spcAft>
              <a:buClr>
                <a:srgbClr val="BB4F59"/>
              </a:buClr>
              <a:buSzPct val="25000"/>
              <a:buFont typeface="Arial"/>
              <a:buNone/>
            </a:pPr>
            <a:r>
              <a:rPr b="1" i="1" lang="en-US" sz="2000" u="none">
                <a:solidFill>
                  <a:srgbClr val="BB4F59"/>
                </a:solidFill>
                <a:latin typeface="Arial"/>
                <a:ea typeface="Arial"/>
                <a:cs typeface="Arial"/>
                <a:sym typeface="Arial"/>
              </a:rPr>
              <a:t>CON RESTRICTIVA FISCAL</a:t>
            </a:r>
          </a:p>
          <a:p>
            <a:pPr indent="0" lvl="0" marL="0" marR="0" rtl="0" algn="l">
              <a:lnSpc>
                <a:spcPct val="100000"/>
              </a:lnSpc>
              <a:spcBef>
                <a:spcPts val="0"/>
              </a:spcBef>
              <a:spcAft>
                <a:spcPts val="0"/>
              </a:spcAft>
              <a:buNone/>
            </a:pPr>
            <a:r>
              <a:t/>
            </a:r>
            <a:endParaRPr b="1" i="1" sz="2000" u="none">
              <a:solidFill>
                <a:srgbClr val="BB4F59"/>
              </a:solidFill>
              <a:latin typeface="Arial"/>
              <a:ea typeface="Arial"/>
              <a:cs typeface="Arial"/>
              <a:sym typeface="Arial"/>
            </a:endParaRPr>
          </a:p>
        </p:txBody>
      </p:sp>
      <p:cxnSp>
        <p:nvCxnSpPr>
          <p:cNvPr id="1013" name="Shape 1013"/>
          <p:cNvCxnSpPr/>
          <p:nvPr/>
        </p:nvCxnSpPr>
        <p:spPr>
          <a:xfrm rot="10800000">
            <a:off x="1752600" y="2057400"/>
            <a:ext cx="0" cy="3581399"/>
          </a:xfrm>
          <a:prstGeom prst="straightConnector1">
            <a:avLst/>
          </a:prstGeom>
          <a:noFill/>
          <a:ln cap="flat" cmpd="sng" w="25400">
            <a:solidFill>
              <a:schemeClr val="dk1"/>
            </a:solidFill>
            <a:prstDash val="solid"/>
            <a:miter/>
            <a:headEnd len="med" w="med" type="none"/>
            <a:tailEnd len="lg" w="lg" type="triangle"/>
          </a:ln>
        </p:spPr>
      </p:cxnSp>
      <p:cxnSp>
        <p:nvCxnSpPr>
          <p:cNvPr id="1014" name="Shape 1014"/>
          <p:cNvCxnSpPr/>
          <p:nvPr/>
        </p:nvCxnSpPr>
        <p:spPr>
          <a:xfrm>
            <a:off x="1752600" y="5638800"/>
            <a:ext cx="5867400" cy="0"/>
          </a:xfrm>
          <a:prstGeom prst="straightConnector1">
            <a:avLst/>
          </a:prstGeom>
          <a:noFill/>
          <a:ln cap="flat" cmpd="sng" w="25400">
            <a:solidFill>
              <a:schemeClr val="dk1"/>
            </a:solidFill>
            <a:prstDash val="solid"/>
            <a:miter/>
            <a:headEnd len="med" w="med" type="none"/>
            <a:tailEnd len="lg" w="lg" type="triangle"/>
          </a:ln>
        </p:spPr>
      </p:cxnSp>
      <p:sp>
        <p:nvSpPr>
          <p:cNvPr id="1015" name="Shape 1015"/>
          <p:cNvSpPr/>
          <p:nvPr/>
        </p:nvSpPr>
        <p:spPr>
          <a:xfrm>
            <a:off x="1752600" y="2971800"/>
            <a:ext cx="3876675" cy="2295524"/>
          </a:xfrm>
          <a:custGeom>
            <a:pathLst>
              <a:path extrusionOk="0" h="120000" w="120000">
                <a:moveTo>
                  <a:pt x="0" y="0"/>
                </a:moveTo>
                <a:cubicBezTo>
                  <a:pt x="1228" y="3402"/>
                  <a:pt x="3243" y="12199"/>
                  <a:pt x="7371" y="20414"/>
                </a:cubicBezTo>
                <a:cubicBezTo>
                  <a:pt x="11498" y="28630"/>
                  <a:pt x="16756" y="38755"/>
                  <a:pt x="24766" y="49128"/>
                </a:cubicBezTo>
                <a:cubicBezTo>
                  <a:pt x="32776" y="59502"/>
                  <a:pt x="45749" y="73609"/>
                  <a:pt x="55429" y="82655"/>
                </a:cubicBezTo>
                <a:cubicBezTo>
                  <a:pt x="65110" y="91701"/>
                  <a:pt x="75184" y="98257"/>
                  <a:pt x="82850" y="103568"/>
                </a:cubicBezTo>
                <a:cubicBezTo>
                  <a:pt x="90515" y="108879"/>
                  <a:pt x="95233" y="111784"/>
                  <a:pt x="101425" y="114522"/>
                </a:cubicBezTo>
                <a:cubicBezTo>
                  <a:pt x="107616" y="117261"/>
                  <a:pt x="116117" y="118838"/>
                  <a:pt x="120000" y="120000"/>
                </a:cubicBezTo>
              </a:path>
            </a:pathLst>
          </a:custGeom>
          <a:noFill/>
          <a:ln cap="flat" cmpd="sng" w="25400">
            <a:solidFill>
              <a:srgbClr val="FF0000"/>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016" name="Shape 1016"/>
          <p:cNvSpPr/>
          <p:nvPr/>
        </p:nvSpPr>
        <p:spPr>
          <a:xfrm>
            <a:off x="2225675" y="2867025"/>
            <a:ext cx="3441700" cy="3152775"/>
          </a:xfrm>
          <a:custGeom>
            <a:pathLst>
              <a:path extrusionOk="0" h="120000" w="120000">
                <a:moveTo>
                  <a:pt x="0" y="120000"/>
                </a:moveTo>
                <a:cubicBezTo>
                  <a:pt x="5258" y="118126"/>
                  <a:pt x="20590" y="113716"/>
                  <a:pt x="31494" y="108640"/>
                </a:cubicBezTo>
                <a:cubicBezTo>
                  <a:pt x="42398" y="103564"/>
                  <a:pt x="56070" y="96072"/>
                  <a:pt x="65313" y="89365"/>
                </a:cubicBezTo>
                <a:cubicBezTo>
                  <a:pt x="74557" y="82658"/>
                  <a:pt x="81254" y="75589"/>
                  <a:pt x="87121" y="68519"/>
                </a:cubicBezTo>
                <a:cubicBezTo>
                  <a:pt x="92988" y="61450"/>
                  <a:pt x="96309" y="54199"/>
                  <a:pt x="100405" y="46767"/>
                </a:cubicBezTo>
                <a:cubicBezTo>
                  <a:pt x="104501" y="39335"/>
                  <a:pt x="108431" y="31722"/>
                  <a:pt x="111697" y="23927"/>
                </a:cubicBezTo>
                <a:cubicBezTo>
                  <a:pt x="114963" y="16132"/>
                  <a:pt x="118284" y="4954"/>
                  <a:pt x="120000" y="0"/>
                </a:cubicBezTo>
              </a:path>
            </a:pathLst>
          </a:custGeom>
          <a:noFill/>
          <a:ln cap="flat" cmpd="sng" w="317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017" name="Shape 1017"/>
          <p:cNvSpPr txBox="1"/>
          <p:nvPr/>
        </p:nvSpPr>
        <p:spPr>
          <a:xfrm>
            <a:off x="5486400" y="5105400"/>
            <a:ext cx="1143000" cy="152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61235"/>
              </a:buClr>
              <a:buSzPct val="25000"/>
              <a:buFont typeface="Arial"/>
              <a:buNone/>
            </a:pPr>
            <a:r>
              <a:rPr b="1" i="0" lang="en-US" sz="1400" u="none">
                <a:solidFill>
                  <a:srgbClr val="E61235"/>
                </a:solidFill>
                <a:latin typeface="Arial"/>
                <a:ea typeface="Arial"/>
                <a:cs typeface="Arial"/>
                <a:sym typeface="Arial"/>
              </a:rPr>
              <a:t>Curva IS</a:t>
            </a:r>
          </a:p>
        </p:txBody>
      </p:sp>
      <p:sp>
        <p:nvSpPr>
          <p:cNvPr id="1018" name="Shape 1018"/>
          <p:cNvSpPr txBox="1"/>
          <p:nvPr/>
        </p:nvSpPr>
        <p:spPr>
          <a:xfrm>
            <a:off x="4610100" y="2867025"/>
            <a:ext cx="1028700" cy="304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n-US" sz="1400" u="none">
                <a:solidFill>
                  <a:schemeClr val="hlink"/>
                </a:solidFill>
                <a:latin typeface="Arial"/>
                <a:ea typeface="Arial"/>
                <a:cs typeface="Arial"/>
                <a:sym typeface="Arial"/>
              </a:rPr>
              <a:t>Curva LM</a:t>
            </a:r>
          </a:p>
        </p:txBody>
      </p:sp>
      <p:cxnSp>
        <p:nvCxnSpPr>
          <p:cNvPr id="1019" name="Shape 1019"/>
          <p:cNvCxnSpPr/>
          <p:nvPr/>
        </p:nvCxnSpPr>
        <p:spPr>
          <a:xfrm rot="10800000">
            <a:off x="1752600" y="4953000"/>
            <a:ext cx="2666999" cy="0"/>
          </a:xfrm>
          <a:prstGeom prst="straightConnector1">
            <a:avLst/>
          </a:prstGeom>
          <a:noFill/>
          <a:ln cap="flat" cmpd="sng" w="9525">
            <a:solidFill>
              <a:schemeClr val="dk1"/>
            </a:solidFill>
            <a:prstDash val="solid"/>
            <a:miter/>
            <a:headEnd len="med" w="med" type="oval"/>
            <a:tailEnd len="med" w="med" type="none"/>
          </a:ln>
        </p:spPr>
      </p:cxnSp>
      <p:cxnSp>
        <p:nvCxnSpPr>
          <p:cNvPr id="1020" name="Shape 1020"/>
          <p:cNvCxnSpPr/>
          <p:nvPr/>
        </p:nvCxnSpPr>
        <p:spPr>
          <a:xfrm>
            <a:off x="4419600" y="4953000"/>
            <a:ext cx="0" cy="685799"/>
          </a:xfrm>
          <a:prstGeom prst="straightConnector1">
            <a:avLst/>
          </a:prstGeom>
          <a:noFill/>
          <a:ln cap="flat" cmpd="sng" w="9525">
            <a:solidFill>
              <a:schemeClr val="dk1"/>
            </a:solidFill>
            <a:prstDash val="solid"/>
            <a:miter/>
            <a:headEnd len="med" w="med" type="none"/>
            <a:tailEnd len="med" w="med" type="none"/>
          </a:ln>
        </p:spPr>
      </p:cxnSp>
      <p:sp>
        <p:nvSpPr>
          <p:cNvPr id="1021" name="Shape 1021"/>
          <p:cNvSpPr txBox="1"/>
          <p:nvPr/>
        </p:nvSpPr>
        <p:spPr>
          <a:xfrm>
            <a:off x="1600200" y="1951036"/>
            <a:ext cx="76199" cy="487361"/>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i</a:t>
            </a:r>
          </a:p>
        </p:txBody>
      </p:sp>
      <p:sp>
        <p:nvSpPr>
          <p:cNvPr id="1022" name="Shape 1022"/>
          <p:cNvSpPr txBox="1"/>
          <p:nvPr/>
        </p:nvSpPr>
        <p:spPr>
          <a:xfrm>
            <a:off x="7010400" y="5486400"/>
            <a:ext cx="1371599" cy="533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a:solidFill>
                  <a:srgbClr val="FF0000"/>
                </a:solidFill>
                <a:latin typeface="Arial"/>
                <a:ea typeface="Arial"/>
                <a:cs typeface="Arial"/>
                <a:sym typeface="Arial"/>
              </a:rPr>
              <a:t>Renta (Y)</a:t>
            </a:r>
          </a:p>
        </p:txBody>
      </p:sp>
      <p:sp>
        <p:nvSpPr>
          <p:cNvPr id="1023" name="Shape 1023"/>
          <p:cNvSpPr txBox="1"/>
          <p:nvPr/>
        </p:nvSpPr>
        <p:spPr>
          <a:xfrm>
            <a:off x="4191000" y="5562600"/>
            <a:ext cx="609599"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Y</a:t>
            </a:r>
            <a:r>
              <a:rPr b="1" baseline="-25000" i="0" lang="en-US" sz="1200" u="none">
                <a:solidFill>
                  <a:schemeClr val="dk1"/>
                </a:solidFill>
                <a:latin typeface="Arial"/>
                <a:ea typeface="Arial"/>
                <a:cs typeface="Arial"/>
                <a:sym typeface="Arial"/>
              </a:rPr>
              <a:t>eq</a:t>
            </a:r>
          </a:p>
        </p:txBody>
      </p:sp>
      <p:sp>
        <p:nvSpPr>
          <p:cNvPr id="1024" name="Shape 1024"/>
          <p:cNvSpPr txBox="1"/>
          <p:nvPr/>
        </p:nvSpPr>
        <p:spPr>
          <a:xfrm>
            <a:off x="1371600" y="4724400"/>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i</a:t>
            </a:r>
            <a:r>
              <a:rPr b="1" baseline="-25000" i="0" lang="en-US" sz="1200" u="none">
                <a:solidFill>
                  <a:schemeClr val="dk1"/>
                </a:solidFill>
                <a:latin typeface="Arial"/>
                <a:ea typeface="Arial"/>
                <a:cs typeface="Arial"/>
                <a:sym typeface="Arial"/>
              </a:rPr>
              <a:t>eq</a:t>
            </a:r>
          </a:p>
        </p:txBody>
      </p:sp>
      <p:sp>
        <p:nvSpPr>
          <p:cNvPr id="1025" name="Shape 1025"/>
          <p:cNvSpPr txBox="1"/>
          <p:nvPr/>
        </p:nvSpPr>
        <p:spPr>
          <a:xfrm>
            <a:off x="381000" y="6065837"/>
            <a:ext cx="7924799" cy="581024"/>
          </a:xfrm>
          <a:prstGeom prst="rect">
            <a:avLst/>
          </a:prstGeom>
          <a:solidFill>
            <a:srgbClr val="FFFF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a:solidFill>
                  <a:schemeClr val="dk1"/>
                </a:solidFill>
                <a:latin typeface="Arial"/>
                <a:ea typeface="Arial"/>
                <a:cs typeface="Arial"/>
                <a:sym typeface="Arial"/>
              </a:rPr>
              <a:t>Si el gobierno aplica  políticas combinadas monetarias expansivas con fiscales contractivas está reduciendo la tasa de interés.</a:t>
            </a:r>
          </a:p>
        </p:txBody>
      </p:sp>
      <p:cxnSp>
        <p:nvCxnSpPr>
          <p:cNvPr id="1026" name="Shape 1026"/>
          <p:cNvCxnSpPr/>
          <p:nvPr/>
        </p:nvCxnSpPr>
        <p:spPr>
          <a:xfrm>
            <a:off x="4648200" y="5410200"/>
            <a:ext cx="0" cy="228600"/>
          </a:xfrm>
          <a:prstGeom prst="straightConnector1">
            <a:avLst/>
          </a:prstGeom>
          <a:noFill/>
          <a:ln cap="flat" cmpd="sng" w="9525">
            <a:solidFill>
              <a:schemeClr val="dk1"/>
            </a:solidFill>
            <a:prstDash val="solid"/>
            <a:miter/>
            <a:headEnd len="med" w="med" type="none"/>
            <a:tailEnd len="med" w="med" type="none"/>
          </a:ln>
        </p:spPr>
      </p:cxnSp>
      <p:sp>
        <p:nvSpPr>
          <p:cNvPr id="1027" name="Shape 1027"/>
          <p:cNvSpPr/>
          <p:nvPr/>
        </p:nvSpPr>
        <p:spPr>
          <a:xfrm rot="-8760000">
            <a:off x="3059111" y="4419599"/>
            <a:ext cx="381000" cy="457199"/>
          </a:xfrm>
          <a:prstGeom prst="upArrow">
            <a:avLst>
              <a:gd fmla="val 11700" name="adj1"/>
              <a:gd fmla="val 5940" name="adj2"/>
            </a:avLst>
          </a:prstGeom>
          <a:solidFill>
            <a:srgbClr val="FF00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028" name="Shape 1028"/>
          <p:cNvSpPr/>
          <p:nvPr/>
        </p:nvSpPr>
        <p:spPr>
          <a:xfrm rot="6720000">
            <a:off x="5460205" y="3380581"/>
            <a:ext cx="449262" cy="669924"/>
          </a:xfrm>
          <a:prstGeom prst="upArrow">
            <a:avLst>
              <a:gd fmla="val 11566" name="adj1"/>
              <a:gd fmla="val 4034"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029" name="Shape 1029"/>
          <p:cNvSpPr txBox="1"/>
          <p:nvPr/>
        </p:nvSpPr>
        <p:spPr>
          <a:xfrm>
            <a:off x="2895600" y="1371600"/>
            <a:ext cx="5486399" cy="990599"/>
          </a:xfrm>
          <a:prstGeom prst="rect">
            <a:avLst/>
          </a:prstGeom>
          <a:solidFill>
            <a:srgbClr val="FFFF00">
              <a:alpha val="52941"/>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Desplazamiento de las curvas IS a la izquierda y </a:t>
            </a:r>
          </a:p>
          <a:p>
            <a:pPr indent="0" lvl="0" marL="0" marR="0" rtl="0" algn="ctr">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LM a la derecha. Reducción de la tasa de interés e</a:t>
            </a:r>
          </a:p>
          <a:p>
            <a:pPr indent="0" lvl="0" marL="0" marR="0" rtl="0" algn="ctr">
              <a:lnSpc>
                <a:spcPct val="100000"/>
              </a:lnSpc>
              <a:spcBef>
                <a:spcPts val="0"/>
              </a:spcBef>
              <a:spcAft>
                <a:spcPts val="0"/>
              </a:spcAft>
              <a:buClr>
                <a:schemeClr val="dk1"/>
              </a:buClr>
              <a:buSzPct val="25000"/>
              <a:buFont typeface="Arial"/>
              <a:buNone/>
            </a:pPr>
            <a:r>
              <a:rPr b="0" i="0" lang="en-US" sz="1800" u="none">
                <a:solidFill>
                  <a:schemeClr val="dk1"/>
                </a:solidFill>
                <a:latin typeface="Arial"/>
                <a:ea typeface="Arial"/>
                <a:cs typeface="Arial"/>
                <a:sym typeface="Arial"/>
              </a:rPr>
              <a:t>Indeterminación de la renta de equilibrio </a:t>
            </a:r>
          </a:p>
        </p:txBody>
      </p:sp>
      <p:sp>
        <p:nvSpPr>
          <p:cNvPr id="1030" name="Shape 1030"/>
          <p:cNvSpPr txBox="1"/>
          <p:nvPr/>
        </p:nvSpPr>
        <p:spPr>
          <a:xfrm>
            <a:off x="1379537" y="5211762"/>
            <a:ext cx="4492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a:solidFill>
                  <a:schemeClr val="dk1"/>
                </a:solidFill>
                <a:latin typeface="Arial"/>
                <a:ea typeface="Arial"/>
                <a:cs typeface="Arial"/>
                <a:sym typeface="Arial"/>
              </a:rPr>
              <a:t> i</a:t>
            </a:r>
            <a:r>
              <a:rPr b="1" baseline="-25000" i="0" lang="en-US" sz="1200" u="none">
                <a:solidFill>
                  <a:schemeClr val="dk1"/>
                </a:solidFill>
                <a:latin typeface="Arial"/>
                <a:ea typeface="Arial"/>
                <a:cs typeface="Arial"/>
                <a:sym typeface="Arial"/>
              </a:rPr>
              <a:t>eq1</a:t>
            </a:r>
          </a:p>
        </p:txBody>
      </p:sp>
      <p:sp>
        <p:nvSpPr>
          <p:cNvPr id="1031" name="Shape 1031"/>
          <p:cNvSpPr txBox="1"/>
          <p:nvPr/>
        </p:nvSpPr>
        <p:spPr>
          <a:xfrm>
            <a:off x="4495800" y="5562600"/>
            <a:ext cx="609599"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a:solidFill>
                  <a:schemeClr val="dk1"/>
                </a:solidFill>
                <a:latin typeface="Arial"/>
                <a:ea typeface="Arial"/>
                <a:cs typeface="Arial"/>
                <a:sym typeface="Arial"/>
              </a:rPr>
              <a:t>Y</a:t>
            </a:r>
            <a:r>
              <a:rPr b="1" baseline="-25000" i="0" lang="en-US" sz="1200" u="none">
                <a:solidFill>
                  <a:schemeClr val="dk1"/>
                </a:solidFill>
                <a:latin typeface="Arial"/>
                <a:ea typeface="Arial"/>
                <a:cs typeface="Arial"/>
                <a:sym typeface="Arial"/>
              </a:rPr>
              <a:t>eq1</a:t>
            </a:r>
          </a:p>
        </p:txBody>
      </p:sp>
      <p:sp>
        <p:nvSpPr>
          <p:cNvPr id="1032" name="Shape 1032"/>
          <p:cNvSpPr/>
          <p:nvPr/>
        </p:nvSpPr>
        <p:spPr>
          <a:xfrm>
            <a:off x="2882900" y="3019425"/>
            <a:ext cx="3441700" cy="3152775"/>
          </a:xfrm>
          <a:custGeom>
            <a:pathLst>
              <a:path extrusionOk="0" h="120000" w="120000">
                <a:moveTo>
                  <a:pt x="0" y="120000"/>
                </a:moveTo>
                <a:cubicBezTo>
                  <a:pt x="5258" y="118126"/>
                  <a:pt x="20590" y="113716"/>
                  <a:pt x="31494" y="108640"/>
                </a:cubicBezTo>
                <a:cubicBezTo>
                  <a:pt x="42398" y="103564"/>
                  <a:pt x="56070" y="96072"/>
                  <a:pt x="65313" y="89365"/>
                </a:cubicBezTo>
                <a:cubicBezTo>
                  <a:pt x="74557" y="82658"/>
                  <a:pt x="81254" y="75589"/>
                  <a:pt x="87121" y="68519"/>
                </a:cubicBezTo>
                <a:cubicBezTo>
                  <a:pt x="92988" y="61450"/>
                  <a:pt x="96309" y="54199"/>
                  <a:pt x="100405" y="46767"/>
                </a:cubicBezTo>
                <a:cubicBezTo>
                  <a:pt x="104501" y="39335"/>
                  <a:pt x="108431" y="31722"/>
                  <a:pt x="111697" y="23927"/>
                </a:cubicBezTo>
                <a:cubicBezTo>
                  <a:pt x="114963" y="16132"/>
                  <a:pt x="118284" y="4954"/>
                  <a:pt x="120000" y="0"/>
                </a:cubicBezTo>
              </a:path>
            </a:pathLst>
          </a:custGeom>
          <a:noFill/>
          <a:ln cap="flat" cmpd="sng" w="31750">
            <a:solidFill>
              <a:srgbClr val="008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033" name="Shape 1033"/>
          <p:cNvSpPr txBox="1"/>
          <p:nvPr/>
        </p:nvSpPr>
        <p:spPr>
          <a:xfrm>
            <a:off x="6172200" y="3019425"/>
            <a:ext cx="1219199" cy="304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117A06"/>
              </a:buClr>
              <a:buSzPct val="25000"/>
              <a:buFont typeface="Arial"/>
              <a:buNone/>
            </a:pPr>
            <a:r>
              <a:rPr b="1" i="0" lang="en-US" sz="1400" u="none">
                <a:solidFill>
                  <a:srgbClr val="117A06"/>
                </a:solidFill>
                <a:latin typeface="Arial"/>
                <a:ea typeface="Arial"/>
                <a:cs typeface="Arial"/>
                <a:sym typeface="Arial"/>
              </a:rPr>
              <a:t>Curva LM</a:t>
            </a:r>
            <a:r>
              <a:rPr b="1" baseline="-25000" i="0" lang="en-US" sz="1400" u="none">
                <a:solidFill>
                  <a:srgbClr val="117A06"/>
                </a:solidFill>
                <a:latin typeface="Arial"/>
                <a:ea typeface="Arial"/>
                <a:cs typeface="Arial"/>
                <a:sym typeface="Arial"/>
              </a:rPr>
              <a:t>1</a:t>
            </a:r>
          </a:p>
        </p:txBody>
      </p:sp>
      <p:sp>
        <p:nvSpPr>
          <p:cNvPr id="1034" name="Shape 1034"/>
          <p:cNvSpPr/>
          <p:nvPr/>
        </p:nvSpPr>
        <p:spPr>
          <a:xfrm rot="5400000">
            <a:off x="3428999" y="5029200"/>
            <a:ext cx="457200" cy="304799"/>
          </a:xfrm>
          <a:prstGeom prst="rightArrow">
            <a:avLst>
              <a:gd fmla="val 50000" name="adj1"/>
              <a:gd fmla="val 50000"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035" name="Shape 1035"/>
          <p:cNvSpPr/>
          <p:nvPr/>
        </p:nvSpPr>
        <p:spPr>
          <a:xfrm>
            <a:off x="1743075" y="3667125"/>
            <a:ext cx="3476624" cy="1828800"/>
          </a:xfrm>
          <a:custGeom>
            <a:pathLst>
              <a:path extrusionOk="0" h="120000" w="120000">
                <a:moveTo>
                  <a:pt x="0" y="0"/>
                </a:moveTo>
                <a:cubicBezTo>
                  <a:pt x="2410" y="5208"/>
                  <a:pt x="8602" y="21145"/>
                  <a:pt x="14465" y="31250"/>
                </a:cubicBezTo>
                <a:cubicBezTo>
                  <a:pt x="20328" y="41354"/>
                  <a:pt x="28547" y="52083"/>
                  <a:pt x="35178" y="60625"/>
                </a:cubicBezTo>
                <a:cubicBezTo>
                  <a:pt x="41808" y="69166"/>
                  <a:pt x="46958" y="75312"/>
                  <a:pt x="54246" y="82500"/>
                </a:cubicBezTo>
                <a:cubicBezTo>
                  <a:pt x="61534" y="89687"/>
                  <a:pt x="71123" y="98229"/>
                  <a:pt x="78904" y="103750"/>
                </a:cubicBezTo>
                <a:cubicBezTo>
                  <a:pt x="86684" y="109270"/>
                  <a:pt x="94082" y="112916"/>
                  <a:pt x="100931" y="115625"/>
                </a:cubicBezTo>
                <a:cubicBezTo>
                  <a:pt x="107780" y="118333"/>
                  <a:pt x="116054" y="119062"/>
                  <a:pt x="120000" y="120000"/>
                </a:cubicBezTo>
              </a:path>
            </a:pathLst>
          </a:custGeom>
          <a:noFill/>
          <a:ln cap="flat" cmpd="sng" w="25400">
            <a:solidFill>
              <a:srgbClr val="FF0000"/>
            </a:solidFill>
            <a:prstDash val="solid"/>
            <a:miter/>
            <a:headEnd len="med" w="med" type="none"/>
            <a:tailEnd len="med" w="med" type="none"/>
          </a:ln>
        </p:spPr>
        <p:txBody>
          <a:bodyPr anchorCtr="0" anchor="ctr" bIns="152350" lIns="545925" rIns="91425" tIns="15235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036" name="Shape 1036"/>
          <p:cNvSpPr txBox="1"/>
          <p:nvPr/>
        </p:nvSpPr>
        <p:spPr>
          <a:xfrm>
            <a:off x="1752600" y="4572000"/>
            <a:ext cx="1143000" cy="1523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E61235"/>
              </a:buClr>
              <a:buSzPct val="25000"/>
              <a:buFont typeface="Arial"/>
              <a:buNone/>
            </a:pPr>
            <a:r>
              <a:rPr b="1" i="0" lang="en-US" sz="1400" u="none">
                <a:solidFill>
                  <a:srgbClr val="E61235"/>
                </a:solidFill>
                <a:latin typeface="Arial"/>
                <a:ea typeface="Arial"/>
                <a:cs typeface="Arial"/>
                <a:sym typeface="Arial"/>
              </a:rPr>
              <a:t>Curva IS</a:t>
            </a:r>
            <a:r>
              <a:rPr b="1" baseline="-25000" i="0" lang="en-US" sz="1400" u="none">
                <a:solidFill>
                  <a:srgbClr val="E61235"/>
                </a:solidFill>
                <a:latin typeface="Arial"/>
                <a:ea typeface="Arial"/>
                <a:cs typeface="Arial"/>
                <a:sym typeface="Arial"/>
              </a:rPr>
              <a:t>1</a:t>
            </a:r>
          </a:p>
        </p:txBody>
      </p:sp>
      <p:cxnSp>
        <p:nvCxnSpPr>
          <p:cNvPr id="1037" name="Shape 1037"/>
          <p:cNvCxnSpPr/>
          <p:nvPr/>
        </p:nvCxnSpPr>
        <p:spPr>
          <a:xfrm rot="10800000">
            <a:off x="1752599" y="5410200"/>
            <a:ext cx="2895600" cy="0"/>
          </a:xfrm>
          <a:prstGeom prst="straightConnector1">
            <a:avLst/>
          </a:prstGeom>
          <a:noFill/>
          <a:ln cap="flat" cmpd="sng" w="9525">
            <a:solidFill>
              <a:schemeClr val="dk1"/>
            </a:solidFill>
            <a:prstDash val="solid"/>
            <a:miter/>
            <a:headEnd len="med" w="med" type="oval"/>
            <a:tailEnd len="med" w="med" type="none"/>
          </a:ln>
        </p:spPr>
      </p:cxnSp>
    </p:spTree>
  </p:cSld>
  <p:clrMapOvr>
    <a:masterClrMapping/>
  </p:clrMapOvr>
  <p:transition spd="slow">
    <p:cut/>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