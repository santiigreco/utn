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themeOverride+xml" PartName="/ppt/theme/themeOverride1.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strictFirstAndLastChars="0" saveSubsetFonts="1">
  <p:sldMasterIdLst>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399"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4" name="Shape 94"/>
        <p:cNvGrpSpPr/>
        <p:nvPr/>
      </p:nvGrpSpPr>
      <p:grpSpPr>
        <a:xfrm>
          <a:off x="0" y="0"/>
          <a:ext cx="0" cy="0"/>
          <a:chOff x="0" y="0"/>
          <a:chExt cx="0" cy="0"/>
        </a:xfrm>
      </p:grpSpPr>
      <p:sp>
        <p:nvSpPr>
          <p:cNvPr id="95" name="Shape 9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96" name="Shape 9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1" name="Shape 101"/>
        <p:cNvGrpSpPr/>
        <p:nvPr/>
      </p:nvGrpSpPr>
      <p:grpSpPr>
        <a:xfrm>
          <a:off x="0" y="0"/>
          <a:ext cx="0" cy="0"/>
          <a:chOff x="0" y="0"/>
          <a:chExt cx="0" cy="0"/>
        </a:xfrm>
      </p:grpSpPr>
      <p:sp>
        <p:nvSpPr>
          <p:cNvPr id="102" name="Shape 10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03" name="Shape 10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8" name="Shape 108"/>
        <p:cNvGrpSpPr/>
        <p:nvPr/>
      </p:nvGrpSpPr>
      <p:grpSpPr>
        <a:xfrm>
          <a:off x="0" y="0"/>
          <a:ext cx="0" cy="0"/>
          <a:chOff x="0" y="0"/>
          <a:chExt cx="0" cy="0"/>
        </a:xfrm>
      </p:grpSpPr>
      <p:sp>
        <p:nvSpPr>
          <p:cNvPr id="109" name="Shape 10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10" name="Shape 11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5" name="Shape 145"/>
        <p:cNvGrpSpPr/>
        <p:nvPr/>
      </p:nvGrpSpPr>
      <p:grpSpPr>
        <a:xfrm>
          <a:off x="0" y="0"/>
          <a:ext cx="0" cy="0"/>
          <a:chOff x="0" y="0"/>
          <a:chExt cx="0" cy="0"/>
        </a:xfrm>
      </p:grpSpPr>
      <p:sp>
        <p:nvSpPr>
          <p:cNvPr id="146" name="Shape 14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47" name="Shape 14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53" name="Shape 153"/>
        <p:cNvGrpSpPr/>
        <p:nvPr/>
      </p:nvGrpSpPr>
      <p:grpSpPr>
        <a:xfrm>
          <a:off x="0" y="0"/>
          <a:ext cx="0" cy="0"/>
          <a:chOff x="0" y="0"/>
          <a:chExt cx="0" cy="0"/>
        </a:xfrm>
      </p:grpSpPr>
      <p:sp>
        <p:nvSpPr>
          <p:cNvPr id="154" name="Shape 15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55" name="Shape 15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3" name="Shape 173"/>
        <p:cNvGrpSpPr/>
        <p:nvPr/>
      </p:nvGrpSpPr>
      <p:grpSpPr>
        <a:xfrm>
          <a:off x="0" y="0"/>
          <a:ext cx="0" cy="0"/>
          <a:chOff x="0" y="0"/>
          <a:chExt cx="0" cy="0"/>
        </a:xfrm>
      </p:grpSpPr>
      <p:sp>
        <p:nvSpPr>
          <p:cNvPr id="174" name="Shape 17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75" name="Shape 17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6" name="Shape 196"/>
        <p:cNvGrpSpPr/>
        <p:nvPr/>
      </p:nvGrpSpPr>
      <p:grpSpPr>
        <a:xfrm>
          <a:off x="0" y="0"/>
          <a:ext cx="0" cy="0"/>
          <a:chOff x="0" y="0"/>
          <a:chExt cx="0" cy="0"/>
        </a:xfrm>
      </p:grpSpPr>
      <p:sp>
        <p:nvSpPr>
          <p:cNvPr id="197" name="Shape 19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98" name="Shape 19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04" name="Shape 204"/>
        <p:cNvGrpSpPr/>
        <p:nvPr/>
      </p:nvGrpSpPr>
      <p:grpSpPr>
        <a:xfrm>
          <a:off x="0" y="0"/>
          <a:ext cx="0" cy="0"/>
          <a:chOff x="0" y="0"/>
          <a:chExt cx="0" cy="0"/>
        </a:xfrm>
      </p:grpSpPr>
      <p:sp>
        <p:nvSpPr>
          <p:cNvPr id="205" name="Shape 20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06" name="Shape 20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1" name="Shape 211"/>
        <p:cNvGrpSpPr/>
        <p:nvPr/>
      </p:nvGrpSpPr>
      <p:grpSpPr>
        <a:xfrm>
          <a:off x="0" y="0"/>
          <a:ext cx="0" cy="0"/>
          <a:chOff x="0" y="0"/>
          <a:chExt cx="0" cy="0"/>
        </a:xfrm>
      </p:grpSpPr>
      <p:sp>
        <p:nvSpPr>
          <p:cNvPr id="212" name="Shape 21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13" name="Shape 21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8" name="Shape 218"/>
        <p:cNvGrpSpPr/>
        <p:nvPr/>
      </p:nvGrpSpPr>
      <p:grpSpPr>
        <a:xfrm>
          <a:off x="0" y="0"/>
          <a:ext cx="0" cy="0"/>
          <a:chOff x="0" y="0"/>
          <a:chExt cx="0" cy="0"/>
        </a:xfrm>
      </p:grpSpPr>
      <p:sp>
        <p:nvSpPr>
          <p:cNvPr id="219" name="Shape 21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20" name="Shape 22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25" name="Shape 225"/>
        <p:cNvGrpSpPr/>
        <p:nvPr/>
      </p:nvGrpSpPr>
      <p:grpSpPr>
        <a:xfrm>
          <a:off x="0" y="0"/>
          <a:ext cx="0" cy="0"/>
          <a:chOff x="0" y="0"/>
          <a:chExt cx="0" cy="0"/>
        </a:xfrm>
      </p:grpSpPr>
      <p:sp>
        <p:nvSpPr>
          <p:cNvPr id="226" name="Shape 22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27" name="Shape 22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63" name="Shape 263"/>
        <p:cNvGrpSpPr/>
        <p:nvPr/>
      </p:nvGrpSpPr>
      <p:grpSpPr>
        <a:xfrm>
          <a:off x="0" y="0"/>
          <a:ext cx="0" cy="0"/>
          <a:chOff x="0" y="0"/>
          <a:chExt cx="0" cy="0"/>
        </a:xfrm>
      </p:grpSpPr>
      <p:sp>
        <p:nvSpPr>
          <p:cNvPr id="264" name="Shape 26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65" name="Shape 26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99" name="Shape 299"/>
        <p:cNvGrpSpPr/>
        <p:nvPr/>
      </p:nvGrpSpPr>
      <p:grpSpPr>
        <a:xfrm>
          <a:off x="0" y="0"/>
          <a:ext cx="0" cy="0"/>
          <a:chOff x="0" y="0"/>
          <a:chExt cx="0" cy="0"/>
        </a:xfrm>
      </p:grpSpPr>
      <p:sp>
        <p:nvSpPr>
          <p:cNvPr id="300" name="Shape 30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01" name="Shape 30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34" name="Shape 334"/>
        <p:cNvGrpSpPr/>
        <p:nvPr/>
      </p:nvGrpSpPr>
      <p:grpSpPr>
        <a:xfrm>
          <a:off x="0" y="0"/>
          <a:ext cx="0" cy="0"/>
          <a:chOff x="0" y="0"/>
          <a:chExt cx="0" cy="0"/>
        </a:xfrm>
      </p:grpSpPr>
      <p:sp>
        <p:nvSpPr>
          <p:cNvPr id="335" name="Shape 33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36" name="Shape 33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71" name="Shape 371"/>
        <p:cNvGrpSpPr/>
        <p:nvPr/>
      </p:nvGrpSpPr>
      <p:grpSpPr>
        <a:xfrm>
          <a:off x="0" y="0"/>
          <a:ext cx="0" cy="0"/>
          <a:chOff x="0" y="0"/>
          <a:chExt cx="0" cy="0"/>
        </a:xfrm>
      </p:grpSpPr>
      <p:sp>
        <p:nvSpPr>
          <p:cNvPr id="372" name="Shape 37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73" name="Shape 37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78" name="Shape 378"/>
        <p:cNvGrpSpPr/>
        <p:nvPr/>
      </p:nvGrpSpPr>
      <p:grpSpPr>
        <a:xfrm>
          <a:off x="0" y="0"/>
          <a:ext cx="0" cy="0"/>
          <a:chOff x="0" y="0"/>
          <a:chExt cx="0" cy="0"/>
        </a:xfrm>
      </p:grpSpPr>
      <p:sp>
        <p:nvSpPr>
          <p:cNvPr id="379" name="Shape 37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80" name="Shape 38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13" name="Shape 413"/>
        <p:cNvGrpSpPr/>
        <p:nvPr/>
      </p:nvGrpSpPr>
      <p:grpSpPr>
        <a:xfrm>
          <a:off x="0" y="0"/>
          <a:ext cx="0" cy="0"/>
          <a:chOff x="0" y="0"/>
          <a:chExt cx="0" cy="0"/>
        </a:xfrm>
      </p:grpSpPr>
      <p:sp>
        <p:nvSpPr>
          <p:cNvPr id="414" name="Shape 41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15" name="Shape 41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46" name="Shape 446"/>
        <p:cNvGrpSpPr/>
        <p:nvPr/>
      </p:nvGrpSpPr>
      <p:grpSpPr>
        <a:xfrm>
          <a:off x="0" y="0"/>
          <a:ext cx="0" cy="0"/>
          <a:chOff x="0" y="0"/>
          <a:chExt cx="0" cy="0"/>
        </a:xfrm>
      </p:grpSpPr>
      <p:sp>
        <p:nvSpPr>
          <p:cNvPr id="447" name="Shape 44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48" name="Shape 44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78" name="Shape 478"/>
        <p:cNvGrpSpPr/>
        <p:nvPr/>
      </p:nvGrpSpPr>
      <p:grpSpPr>
        <a:xfrm>
          <a:off x="0" y="0"/>
          <a:ext cx="0" cy="0"/>
          <a:chOff x="0" y="0"/>
          <a:chExt cx="0" cy="0"/>
        </a:xfrm>
      </p:grpSpPr>
      <p:sp>
        <p:nvSpPr>
          <p:cNvPr id="479" name="Shape 47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80" name="Shape 48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14" name="Shape 514"/>
        <p:cNvGrpSpPr/>
        <p:nvPr/>
      </p:nvGrpSpPr>
      <p:grpSpPr>
        <a:xfrm>
          <a:off x="0" y="0"/>
          <a:ext cx="0" cy="0"/>
          <a:chOff x="0" y="0"/>
          <a:chExt cx="0" cy="0"/>
        </a:xfrm>
      </p:grpSpPr>
      <p:sp>
        <p:nvSpPr>
          <p:cNvPr id="515" name="Shape 51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16" name="Shape 51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21" name="Shape 521"/>
        <p:cNvGrpSpPr/>
        <p:nvPr/>
      </p:nvGrpSpPr>
      <p:grpSpPr>
        <a:xfrm>
          <a:off x="0" y="0"/>
          <a:ext cx="0" cy="0"/>
          <a:chOff x="0" y="0"/>
          <a:chExt cx="0" cy="0"/>
        </a:xfrm>
      </p:grpSpPr>
      <p:sp>
        <p:nvSpPr>
          <p:cNvPr id="522" name="Shape 52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23" name="Shape 52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28" name="Shape 528"/>
        <p:cNvGrpSpPr/>
        <p:nvPr/>
      </p:nvGrpSpPr>
      <p:grpSpPr>
        <a:xfrm>
          <a:off x="0" y="0"/>
          <a:ext cx="0" cy="0"/>
          <a:chOff x="0" y="0"/>
          <a:chExt cx="0" cy="0"/>
        </a:xfrm>
      </p:grpSpPr>
      <p:sp>
        <p:nvSpPr>
          <p:cNvPr id="529" name="Shape 52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30" name="Shape 53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65" name="Shape 565"/>
        <p:cNvGrpSpPr/>
        <p:nvPr/>
      </p:nvGrpSpPr>
      <p:grpSpPr>
        <a:xfrm>
          <a:off x="0" y="0"/>
          <a:ext cx="0" cy="0"/>
          <a:chOff x="0" y="0"/>
          <a:chExt cx="0" cy="0"/>
        </a:xfrm>
      </p:grpSpPr>
      <p:sp>
        <p:nvSpPr>
          <p:cNvPr id="566" name="Shape 56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67" name="Shape 56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99" name="Shape 599"/>
        <p:cNvGrpSpPr/>
        <p:nvPr/>
      </p:nvGrpSpPr>
      <p:grpSpPr>
        <a:xfrm>
          <a:off x="0" y="0"/>
          <a:ext cx="0" cy="0"/>
          <a:chOff x="0" y="0"/>
          <a:chExt cx="0" cy="0"/>
        </a:xfrm>
      </p:grpSpPr>
      <p:sp>
        <p:nvSpPr>
          <p:cNvPr id="600" name="Shape 60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601" name="Shape 60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32" name="Shape 632"/>
        <p:cNvGrpSpPr/>
        <p:nvPr/>
      </p:nvGrpSpPr>
      <p:grpSpPr>
        <a:xfrm>
          <a:off x="0" y="0"/>
          <a:ext cx="0" cy="0"/>
          <a:chOff x="0" y="0"/>
          <a:chExt cx="0" cy="0"/>
        </a:xfrm>
      </p:grpSpPr>
      <p:sp>
        <p:nvSpPr>
          <p:cNvPr id="633" name="Shape 633"/>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634" name="Shape 63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71" name="Shape 671"/>
        <p:cNvGrpSpPr/>
        <p:nvPr/>
      </p:nvGrpSpPr>
      <p:grpSpPr>
        <a:xfrm>
          <a:off x="0" y="0"/>
          <a:ext cx="0" cy="0"/>
          <a:chOff x="0" y="0"/>
          <a:chExt cx="0" cy="0"/>
        </a:xfrm>
      </p:grpSpPr>
      <p:sp>
        <p:nvSpPr>
          <p:cNvPr id="672" name="Shape 67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673" name="Shape 67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78" name="Shape 678"/>
        <p:cNvGrpSpPr/>
        <p:nvPr/>
      </p:nvGrpSpPr>
      <p:grpSpPr>
        <a:xfrm>
          <a:off x="0" y="0"/>
          <a:ext cx="0" cy="0"/>
          <a:chOff x="0" y="0"/>
          <a:chExt cx="0" cy="0"/>
        </a:xfrm>
      </p:grpSpPr>
      <p:sp>
        <p:nvSpPr>
          <p:cNvPr id="679" name="Shape 67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680" name="Shape 68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16" name="Shape 716"/>
        <p:cNvGrpSpPr/>
        <p:nvPr/>
      </p:nvGrpSpPr>
      <p:grpSpPr>
        <a:xfrm>
          <a:off x="0" y="0"/>
          <a:ext cx="0" cy="0"/>
          <a:chOff x="0" y="0"/>
          <a:chExt cx="0" cy="0"/>
        </a:xfrm>
      </p:grpSpPr>
      <p:sp>
        <p:nvSpPr>
          <p:cNvPr id="717" name="Shape 71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718" name="Shape 71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49" name="Shape 749"/>
        <p:cNvGrpSpPr/>
        <p:nvPr/>
      </p:nvGrpSpPr>
      <p:grpSpPr>
        <a:xfrm>
          <a:off x="0" y="0"/>
          <a:ext cx="0" cy="0"/>
          <a:chOff x="0" y="0"/>
          <a:chExt cx="0" cy="0"/>
        </a:xfrm>
      </p:grpSpPr>
      <p:sp>
        <p:nvSpPr>
          <p:cNvPr id="750" name="Shape 75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751" name="Shape 75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83" name="Shape 783"/>
        <p:cNvGrpSpPr/>
        <p:nvPr/>
      </p:nvGrpSpPr>
      <p:grpSpPr>
        <a:xfrm>
          <a:off x="0" y="0"/>
          <a:ext cx="0" cy="0"/>
          <a:chOff x="0" y="0"/>
          <a:chExt cx="0" cy="0"/>
        </a:xfrm>
      </p:grpSpPr>
      <p:sp>
        <p:nvSpPr>
          <p:cNvPr id="784" name="Shape 78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785" name="Shape 78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bg>
      <p:bgPr>
        <a:solidFill>
          <a:schemeClr val="lt1"/>
        </a:solidFill>
      </p:bgPr>
    </p:bg>
    <p:spTree>
      <p:nvGrpSpPr>
        <p:cNvPr id="44" name="Shape 44"/>
        <p:cNvGrpSpPr/>
        <p:nvPr/>
      </p:nvGrpSpPr>
      <p:grpSpPr>
        <a:xfrm>
          <a:off x="0" y="0"/>
          <a:ext cx="0" cy="0"/>
          <a:chOff x="0" y="0"/>
          <a:chExt cx="0" cy="0"/>
        </a:xfrm>
      </p:grpSpPr>
      <p:cxnSp>
        <p:nvCxnSpPr>
          <p:cNvPr id="45" name="Shape 45"/>
          <p:cNvCxnSpPr/>
          <p:nvPr/>
        </p:nvCxnSpPr>
        <p:spPr>
          <a:xfrm>
            <a:off x="7315200" y="1066800"/>
            <a:ext cx="0" cy="4495800"/>
          </a:xfrm>
          <a:prstGeom prst="straightConnector1">
            <a:avLst/>
          </a:prstGeom>
          <a:noFill/>
          <a:ln cap="flat" cmpd="sng" w="9525">
            <a:solidFill>
              <a:schemeClr val="dk1"/>
            </a:solidFill>
            <a:prstDash val="solid"/>
            <a:miter/>
            <a:headEnd len="med" w="med" type="none"/>
            <a:tailEnd len="med" w="med" type="none"/>
          </a:ln>
        </p:spPr>
      </p:cxnSp>
      <p:sp>
        <p:nvSpPr>
          <p:cNvPr id="46" name="Shape 46"/>
          <p:cNvSpPr txBox="1"/>
          <p:nvPr>
            <p:ph type="ctrTitle"/>
          </p:nvPr>
        </p:nvSpPr>
        <p:spPr>
          <a:xfrm>
            <a:off x="315912" y="466725"/>
            <a:ext cx="6781800" cy="2133599"/>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defRPr/>
            </a:lvl1pPr>
            <a:lvl2pPr indent="0" lvl="1" marL="0" marR="0" rtl="0" algn="l">
              <a:lnSpc>
                <a:spcPct val="100000"/>
              </a:lnSpc>
              <a:spcBef>
                <a:spcPts val="0"/>
              </a:spcBef>
              <a:spcAft>
                <a:spcPts val="0"/>
              </a:spcAft>
              <a:defRPr/>
            </a:lvl2pPr>
            <a:lvl3pPr indent="0" lvl="2" marL="0" marR="0" rtl="0" algn="l">
              <a:lnSpc>
                <a:spcPct val="100000"/>
              </a:lnSpc>
              <a:spcBef>
                <a:spcPts val="0"/>
              </a:spcBef>
              <a:spcAft>
                <a:spcPts val="0"/>
              </a:spcAft>
              <a:defRPr/>
            </a:lvl3pPr>
            <a:lvl4pPr indent="0" lvl="3" marL="0" marR="0" rtl="0" algn="l">
              <a:lnSpc>
                <a:spcPct val="100000"/>
              </a:lnSpc>
              <a:spcBef>
                <a:spcPts val="0"/>
              </a:spcBef>
              <a:spcAft>
                <a:spcPts val="0"/>
              </a:spcAft>
              <a:defRPr/>
            </a:lvl4pPr>
            <a:lvl5pPr indent="0" lvl="4" marL="0" marR="0" rtl="0" algn="l">
              <a:lnSpc>
                <a:spcPct val="100000"/>
              </a:lnSpc>
              <a:spcBef>
                <a:spcPts val="0"/>
              </a:spcBef>
              <a:spcAft>
                <a:spcPts val="0"/>
              </a:spcAft>
              <a:defRPr/>
            </a:lvl5pPr>
            <a:lvl6pPr indent="0" lvl="5" marL="0" marR="0" rtl="0" algn="l">
              <a:lnSpc>
                <a:spcPct val="100000"/>
              </a:lnSpc>
              <a:spcBef>
                <a:spcPts val="0"/>
              </a:spcBef>
              <a:spcAft>
                <a:spcPts val="0"/>
              </a:spcAft>
              <a:defRPr/>
            </a:lvl6pPr>
            <a:lvl7pPr indent="0" lvl="6" marL="0" marR="0" rtl="0" algn="l">
              <a:lnSpc>
                <a:spcPct val="100000"/>
              </a:lnSpc>
              <a:spcBef>
                <a:spcPts val="0"/>
              </a:spcBef>
              <a:spcAft>
                <a:spcPts val="0"/>
              </a:spcAft>
              <a:defRPr/>
            </a:lvl7pPr>
            <a:lvl8pPr indent="0" lvl="7" marL="0" marR="0" rtl="0" algn="l">
              <a:lnSpc>
                <a:spcPct val="100000"/>
              </a:lnSpc>
              <a:spcBef>
                <a:spcPts val="0"/>
              </a:spcBef>
              <a:spcAft>
                <a:spcPts val="0"/>
              </a:spcAft>
              <a:defRPr/>
            </a:lvl8pPr>
            <a:lvl9pPr indent="0" lvl="8" marL="0" marR="0" rtl="0" algn="l">
              <a:lnSpc>
                <a:spcPct val="100000"/>
              </a:lnSpc>
              <a:spcBef>
                <a:spcPts val="0"/>
              </a:spcBef>
              <a:spcAft>
                <a:spcPts val="0"/>
              </a:spcAft>
              <a:defRPr/>
            </a:lvl9pPr>
          </a:lstStyle>
          <a:p/>
        </p:txBody>
      </p:sp>
      <p:sp>
        <p:nvSpPr>
          <p:cNvPr id="47" name="Shape 47"/>
          <p:cNvSpPr txBox="1"/>
          <p:nvPr>
            <p:ph idx="1" type="subTitle"/>
          </p:nvPr>
        </p:nvSpPr>
        <p:spPr>
          <a:xfrm>
            <a:off x="849312" y="3049586"/>
            <a:ext cx="6248399" cy="2362200"/>
          </a:xfrm>
          <a:prstGeom prst="rect">
            <a:avLst/>
          </a:prstGeom>
          <a:noFill/>
          <a:ln>
            <a:noFill/>
          </a:ln>
        </p:spPr>
        <p:txBody>
          <a:bodyPr anchorCtr="0" anchor="t" bIns="91425" lIns="91425" rIns="91425" tIns="91425"/>
          <a:lstStyle>
            <a:lvl1pPr indent="-209550" lvl="0" marL="342900" marR="0" rtl="0" algn="l">
              <a:lnSpc>
                <a:spcPct val="100000"/>
              </a:lnSpc>
              <a:spcBef>
                <a:spcPts val="600"/>
              </a:spcBef>
              <a:spcAft>
                <a:spcPts val="0"/>
              </a:spcAft>
              <a:buClr>
                <a:schemeClr val="dk2"/>
              </a:buClr>
              <a:buFont typeface="Noto Symbol"/>
              <a:buChar char="●"/>
              <a:defRPr/>
            </a:lvl1pPr>
            <a:lvl2pPr indent="-233680" lvl="1" marL="692150" marR="0" rtl="0" algn="l">
              <a:lnSpc>
                <a:spcPct val="100000"/>
              </a:lnSpc>
              <a:spcBef>
                <a:spcPts val="520"/>
              </a:spcBef>
              <a:spcAft>
                <a:spcPts val="0"/>
              </a:spcAft>
              <a:buClr>
                <a:schemeClr val="accent2"/>
              </a:buClr>
              <a:buFont typeface="Noto Symbol"/>
              <a:buChar char="●"/>
              <a:defRPr/>
            </a:lvl2pPr>
            <a:lvl3pPr indent="-199390" lvl="2" marL="987425" marR="0" rtl="0" algn="l">
              <a:lnSpc>
                <a:spcPct val="100000"/>
              </a:lnSpc>
              <a:spcBef>
                <a:spcPts val="460"/>
              </a:spcBef>
              <a:spcAft>
                <a:spcPts val="0"/>
              </a:spcAft>
              <a:buClr>
                <a:schemeClr val="accent1"/>
              </a:buClr>
              <a:buFont typeface="Noto Symbol"/>
              <a:buChar char="●"/>
              <a:defRPr/>
            </a:lvl3pPr>
            <a:lvl4pPr indent="-207962" lvl="3" marL="1281112" marR="0" rtl="0" algn="l">
              <a:lnSpc>
                <a:spcPct val="100000"/>
              </a:lnSpc>
              <a:spcBef>
                <a:spcPts val="400"/>
              </a:spcBef>
              <a:spcAft>
                <a:spcPts val="0"/>
              </a:spcAft>
              <a:buClr>
                <a:schemeClr val="dk2"/>
              </a:buClr>
              <a:buFont typeface="Noto Symbol"/>
              <a:buChar char="▪"/>
              <a:defRPr/>
            </a:lvl4pPr>
            <a:lvl5pPr indent="-214312" lvl="4" marL="1598612" marR="0" rtl="0" algn="l">
              <a:lnSpc>
                <a:spcPct val="100000"/>
              </a:lnSpc>
              <a:spcBef>
                <a:spcPts val="400"/>
              </a:spcBef>
              <a:spcAft>
                <a:spcPts val="0"/>
              </a:spcAft>
              <a:buClr>
                <a:schemeClr val="folHlink"/>
              </a:buClr>
              <a:buFont typeface="Noto Symbol"/>
              <a:buChar char="▪"/>
              <a:defRPr/>
            </a:lvl5pPr>
            <a:lvl6pPr indent="-239711" lvl="5" marL="1916111" marR="0" rtl="0" algn="l">
              <a:lnSpc>
                <a:spcPct val="100000"/>
              </a:lnSpc>
              <a:spcBef>
                <a:spcPts val="400"/>
              </a:spcBef>
              <a:spcAft>
                <a:spcPts val="0"/>
              </a:spcAft>
              <a:buClr>
                <a:schemeClr val="folHlink"/>
              </a:buClr>
              <a:buFont typeface="Noto Symbol"/>
              <a:buChar char="▪"/>
              <a:defRPr/>
            </a:lvl6pPr>
            <a:lvl7pPr indent="-290511" lvl="6" marL="2551112" marR="0" rtl="0" algn="l">
              <a:lnSpc>
                <a:spcPct val="100000"/>
              </a:lnSpc>
              <a:spcBef>
                <a:spcPts val="400"/>
              </a:spcBef>
              <a:spcAft>
                <a:spcPts val="0"/>
              </a:spcAft>
              <a:buClr>
                <a:schemeClr val="folHlink"/>
              </a:buClr>
              <a:buFont typeface="Noto Symbol"/>
              <a:buChar char="▪"/>
              <a:defRPr/>
            </a:lvl7pPr>
            <a:lvl8pPr indent="-366712" lvl="7" marL="3503612" marR="0" rtl="0" algn="l">
              <a:lnSpc>
                <a:spcPct val="100000"/>
              </a:lnSpc>
              <a:spcBef>
                <a:spcPts val="400"/>
              </a:spcBef>
              <a:spcAft>
                <a:spcPts val="0"/>
              </a:spcAft>
              <a:buClr>
                <a:schemeClr val="folHlink"/>
              </a:buClr>
              <a:buFont typeface="Noto Symbol"/>
              <a:buChar char="▪"/>
              <a:defRPr/>
            </a:lvl8pPr>
            <a:lvl9pPr indent="-455612" lvl="8" marL="4773612" marR="0" rtl="0" algn="l">
              <a:lnSpc>
                <a:spcPct val="100000"/>
              </a:lnSpc>
              <a:spcBef>
                <a:spcPts val="400"/>
              </a:spcBef>
              <a:spcAft>
                <a:spcPts val="0"/>
              </a:spcAft>
              <a:buClr>
                <a:schemeClr val="folHlink"/>
              </a:buClr>
              <a:buFont typeface="Noto Symbol"/>
              <a:buChar char="▪"/>
              <a:defRPr/>
            </a:lvl9pPr>
          </a:lstStyle>
          <a:p/>
        </p:txBody>
      </p:sp>
      <p:sp>
        <p:nvSpPr>
          <p:cNvPr id="48" name="Shape 48"/>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49" name="Shape 49"/>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50" name="Shape 50"/>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fld id="{00000000-1234-1234-1234-123412341234}" type="slidenum">
              <a:rPr b="0" i="0" lang="en-US" sz="1000" u="none" cap="none" strike="noStrike">
                <a:solidFill>
                  <a:schemeClr val="dk1"/>
                </a:solidFill>
                <a:latin typeface="Arial"/>
                <a:ea typeface="Arial"/>
                <a:cs typeface="Arial"/>
                <a:sym typeface="Arial"/>
              </a:rPr>
              <a:t>‹#›</a:t>
            </a:fld>
          </a:p>
        </p:txBody>
      </p:sp>
      <p:grpSp>
        <p:nvGrpSpPr>
          <p:cNvPr id="51" name="Shape 51"/>
          <p:cNvGrpSpPr/>
          <p:nvPr/>
        </p:nvGrpSpPr>
        <p:grpSpPr>
          <a:xfrm>
            <a:off x="7493000" y="2992436"/>
            <a:ext cx="1338261" cy="2189162"/>
            <a:chOff x="7467600" y="2992436"/>
            <a:chExt cx="1338261" cy="2189162"/>
          </a:xfrm>
        </p:grpSpPr>
        <p:sp>
          <p:nvSpPr>
            <p:cNvPr id="52" name="Shape 52"/>
            <p:cNvSpPr/>
            <p:nvPr/>
          </p:nvSpPr>
          <p:spPr>
            <a:xfrm>
              <a:off x="7467600" y="2992436"/>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3" name="Shape 53"/>
            <p:cNvSpPr/>
            <p:nvPr/>
          </p:nvSpPr>
          <p:spPr>
            <a:xfrm>
              <a:off x="7751761" y="2992436"/>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4" name="Shape 54"/>
            <p:cNvSpPr/>
            <p:nvPr/>
          </p:nvSpPr>
          <p:spPr>
            <a:xfrm>
              <a:off x="8035925" y="2992436"/>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5" name="Shape 55"/>
            <p:cNvSpPr/>
            <p:nvPr/>
          </p:nvSpPr>
          <p:spPr>
            <a:xfrm>
              <a:off x="7467600" y="3276600"/>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6" name="Shape 56"/>
            <p:cNvSpPr/>
            <p:nvPr/>
          </p:nvSpPr>
          <p:spPr>
            <a:xfrm>
              <a:off x="7751761" y="3276600"/>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7" name="Shape 57"/>
            <p:cNvSpPr/>
            <p:nvPr/>
          </p:nvSpPr>
          <p:spPr>
            <a:xfrm>
              <a:off x="8035925" y="3276600"/>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8" name="Shape 58"/>
            <p:cNvSpPr/>
            <p:nvPr/>
          </p:nvSpPr>
          <p:spPr>
            <a:xfrm>
              <a:off x="8320086" y="3276600"/>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9" name="Shape 59"/>
            <p:cNvSpPr/>
            <p:nvPr/>
          </p:nvSpPr>
          <p:spPr>
            <a:xfrm>
              <a:off x="7467600" y="3560762"/>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0" name="Shape 60"/>
            <p:cNvSpPr/>
            <p:nvPr/>
          </p:nvSpPr>
          <p:spPr>
            <a:xfrm>
              <a:off x="7751761" y="3560762"/>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1" name="Shape 61"/>
            <p:cNvSpPr/>
            <p:nvPr/>
          </p:nvSpPr>
          <p:spPr>
            <a:xfrm>
              <a:off x="8035925" y="3560762"/>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2" name="Shape 62"/>
            <p:cNvSpPr/>
            <p:nvPr/>
          </p:nvSpPr>
          <p:spPr>
            <a:xfrm>
              <a:off x="8320086" y="3560762"/>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3" name="Shape 63"/>
            <p:cNvSpPr/>
            <p:nvPr/>
          </p:nvSpPr>
          <p:spPr>
            <a:xfrm>
              <a:off x="8604250" y="3560762"/>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4" name="Shape 64"/>
            <p:cNvSpPr/>
            <p:nvPr/>
          </p:nvSpPr>
          <p:spPr>
            <a:xfrm>
              <a:off x="7467600" y="3843337"/>
              <a:ext cx="201611" cy="203199"/>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5" name="Shape 65"/>
            <p:cNvSpPr/>
            <p:nvPr/>
          </p:nvSpPr>
          <p:spPr>
            <a:xfrm>
              <a:off x="7751761" y="3843337"/>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6" name="Shape 66"/>
            <p:cNvSpPr/>
            <p:nvPr/>
          </p:nvSpPr>
          <p:spPr>
            <a:xfrm>
              <a:off x="8035925" y="3843337"/>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7" name="Shape 67"/>
            <p:cNvSpPr/>
            <p:nvPr/>
          </p:nvSpPr>
          <p:spPr>
            <a:xfrm>
              <a:off x="8320086" y="3843337"/>
              <a:ext cx="201611" cy="203199"/>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8" name="Shape 68"/>
            <p:cNvSpPr/>
            <p:nvPr/>
          </p:nvSpPr>
          <p:spPr>
            <a:xfrm>
              <a:off x="7467600" y="4127500"/>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9" name="Shape 69"/>
            <p:cNvSpPr/>
            <p:nvPr/>
          </p:nvSpPr>
          <p:spPr>
            <a:xfrm>
              <a:off x="7751761" y="4127500"/>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0" name="Shape 70"/>
            <p:cNvSpPr/>
            <p:nvPr/>
          </p:nvSpPr>
          <p:spPr>
            <a:xfrm>
              <a:off x="8035925" y="4127500"/>
              <a:ext cx="201611" cy="203199"/>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1" name="Shape 71"/>
            <p:cNvSpPr/>
            <p:nvPr/>
          </p:nvSpPr>
          <p:spPr>
            <a:xfrm>
              <a:off x="8320086" y="4127500"/>
              <a:ext cx="201611" cy="203199"/>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 name="Shape 72"/>
            <p:cNvSpPr/>
            <p:nvPr/>
          </p:nvSpPr>
          <p:spPr>
            <a:xfrm>
              <a:off x="8604250" y="4127500"/>
              <a:ext cx="201611" cy="203199"/>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 name="Shape 73"/>
            <p:cNvSpPr/>
            <p:nvPr/>
          </p:nvSpPr>
          <p:spPr>
            <a:xfrm>
              <a:off x="7467600" y="4411662"/>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4" name="Shape 74"/>
            <p:cNvSpPr/>
            <p:nvPr/>
          </p:nvSpPr>
          <p:spPr>
            <a:xfrm>
              <a:off x="7751761" y="4411662"/>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5" name="Shape 75"/>
            <p:cNvSpPr/>
            <p:nvPr/>
          </p:nvSpPr>
          <p:spPr>
            <a:xfrm>
              <a:off x="8035925" y="4411662"/>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6" name="Shape 76"/>
            <p:cNvSpPr/>
            <p:nvPr/>
          </p:nvSpPr>
          <p:spPr>
            <a:xfrm>
              <a:off x="8320086" y="4411662"/>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7" name="Shape 77"/>
            <p:cNvSpPr/>
            <p:nvPr/>
          </p:nvSpPr>
          <p:spPr>
            <a:xfrm>
              <a:off x="7467600" y="4695825"/>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8" name="Shape 78"/>
            <p:cNvSpPr/>
            <p:nvPr/>
          </p:nvSpPr>
          <p:spPr>
            <a:xfrm>
              <a:off x="7751761" y="4695825"/>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9" name="Shape 79"/>
            <p:cNvSpPr/>
            <p:nvPr/>
          </p:nvSpPr>
          <p:spPr>
            <a:xfrm>
              <a:off x="8035925" y="4695825"/>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0" name="Shape 80"/>
            <p:cNvSpPr/>
            <p:nvPr/>
          </p:nvSpPr>
          <p:spPr>
            <a:xfrm>
              <a:off x="8320086" y="4695825"/>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1" name="Shape 81"/>
            <p:cNvSpPr/>
            <p:nvPr/>
          </p:nvSpPr>
          <p:spPr>
            <a:xfrm>
              <a:off x="7751761" y="4979987"/>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2" name="Shape 82"/>
            <p:cNvSpPr/>
            <p:nvPr/>
          </p:nvSpPr>
          <p:spPr>
            <a:xfrm>
              <a:off x="8320086" y="4979987"/>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cxnSp>
        <p:nvCxnSpPr>
          <p:cNvPr id="83" name="Shape 83"/>
          <p:cNvCxnSpPr/>
          <p:nvPr/>
        </p:nvCxnSpPr>
        <p:spPr>
          <a:xfrm>
            <a:off x="304800" y="2819400"/>
            <a:ext cx="8229600" cy="0"/>
          </a:xfrm>
          <a:prstGeom prst="straightConnector1">
            <a:avLst/>
          </a:prstGeom>
          <a:noFill/>
          <a:ln cap="flat" cmpd="sng" w="9525">
            <a:solidFill>
              <a:schemeClr val="dk1"/>
            </a:solidFill>
            <a:prstDash val="solid"/>
            <a:miter/>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text on left, text on right">
    <p:spTree>
      <p:nvGrpSpPr>
        <p:cNvPr id="84" name="Shape 84"/>
        <p:cNvGrpSpPr/>
        <p:nvPr/>
      </p:nvGrpSpPr>
      <p:grpSpPr>
        <a:xfrm>
          <a:off x="0" y="0"/>
          <a:ext cx="0" cy="0"/>
          <a:chOff x="0" y="0"/>
          <a:chExt cx="0" cy="0"/>
        </a:xfrm>
      </p:grpSpPr>
      <p:sp>
        <p:nvSpPr>
          <p:cNvPr id="85" name="Shape 85"/>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86" name="Shape 86"/>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87" name="Shape 87"/>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000" u="none" cap="none" strike="noStrike">
                <a:solidFill>
                  <a:schemeClr val="dk1"/>
                </a:solidFill>
                <a:latin typeface="Arial"/>
                <a:ea typeface="Arial"/>
                <a:cs typeface="Arial"/>
                <a:sym typeface="Arial"/>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text">
    <p:spTree>
      <p:nvGrpSpPr>
        <p:cNvPr id="88" name="Shape 88"/>
        <p:cNvGrpSpPr/>
        <p:nvPr/>
      </p:nvGrpSpPr>
      <p:grpSpPr>
        <a:xfrm>
          <a:off x="0" y="0"/>
          <a:ext cx="0" cy="0"/>
          <a:chOff x="0" y="0"/>
          <a:chExt cx="0" cy="0"/>
        </a:xfrm>
      </p:grpSpPr>
      <p:sp>
        <p:nvSpPr>
          <p:cNvPr id="89" name="Shape 89"/>
          <p:cNvSpPr txBox="1"/>
          <p:nvPr>
            <p:ph type="title"/>
          </p:nvPr>
        </p:nvSpPr>
        <p:spPr>
          <a:xfrm>
            <a:off x="457200" y="122236"/>
            <a:ext cx="7543800" cy="1295400"/>
          </a:xfrm>
          <a:prstGeom prst="rect">
            <a:avLst/>
          </a:prstGeom>
          <a:noFill/>
          <a:ln>
            <a:noFill/>
          </a:ln>
        </p:spPr>
        <p:txBody>
          <a:bodyPr anchorCtr="0" anchor="b" bIns="91425" lIns="91425" rIns="91425" tIns="91425"/>
          <a:lstStyle>
            <a:lvl1pPr indent="0" lvl="0" marL="0" rtl="0" algn="l">
              <a:lnSpc>
                <a:spcPct val="100000"/>
              </a:lnSpc>
              <a:spcBef>
                <a:spcPts val="0"/>
              </a:spcBef>
              <a:spcAft>
                <a:spcPts val="0"/>
              </a:spcAft>
              <a:defRPr/>
            </a:lvl1pPr>
            <a:lvl2pPr indent="0" lvl="1" marL="0" rtl="0" algn="l">
              <a:lnSpc>
                <a:spcPct val="100000"/>
              </a:lnSpc>
              <a:spcBef>
                <a:spcPts val="0"/>
              </a:spcBef>
              <a:spcAft>
                <a:spcPts val="0"/>
              </a:spcAft>
              <a:defRPr/>
            </a:lvl2pPr>
            <a:lvl3pPr indent="0" lvl="2" marL="0" rtl="0" algn="l">
              <a:lnSpc>
                <a:spcPct val="100000"/>
              </a:lnSpc>
              <a:spcBef>
                <a:spcPts val="0"/>
              </a:spcBef>
              <a:spcAft>
                <a:spcPts val="0"/>
              </a:spcAft>
              <a:defRPr/>
            </a:lvl3pPr>
            <a:lvl4pPr indent="0" lvl="3" marL="0" rtl="0" algn="l">
              <a:lnSpc>
                <a:spcPct val="100000"/>
              </a:lnSpc>
              <a:spcBef>
                <a:spcPts val="0"/>
              </a:spcBef>
              <a:spcAft>
                <a:spcPts val="0"/>
              </a:spcAft>
              <a:defRPr/>
            </a:lvl4pPr>
            <a:lvl5pPr indent="0" lvl="4" marL="0" rtl="0" algn="l">
              <a:lnSpc>
                <a:spcPct val="100000"/>
              </a:lnSpc>
              <a:spcBef>
                <a:spcPts val="0"/>
              </a:spcBef>
              <a:spcAft>
                <a:spcPts val="0"/>
              </a:spcAft>
              <a:defRPr/>
            </a:lvl5pPr>
            <a:lvl6pPr indent="0" lvl="5" marL="0" rtl="0" algn="l">
              <a:lnSpc>
                <a:spcPct val="100000"/>
              </a:lnSpc>
              <a:spcBef>
                <a:spcPts val="0"/>
              </a:spcBef>
              <a:spcAft>
                <a:spcPts val="0"/>
              </a:spcAft>
              <a:defRPr/>
            </a:lvl6pPr>
            <a:lvl7pPr indent="0" lvl="6" marL="0" rtl="0" algn="l">
              <a:lnSpc>
                <a:spcPct val="100000"/>
              </a:lnSpc>
              <a:spcBef>
                <a:spcPts val="0"/>
              </a:spcBef>
              <a:spcAft>
                <a:spcPts val="0"/>
              </a:spcAft>
              <a:defRPr/>
            </a:lvl7pPr>
            <a:lvl8pPr indent="0" lvl="7" marL="0" rtl="0" algn="l">
              <a:lnSpc>
                <a:spcPct val="100000"/>
              </a:lnSpc>
              <a:spcBef>
                <a:spcPts val="0"/>
              </a:spcBef>
              <a:spcAft>
                <a:spcPts val="0"/>
              </a:spcAft>
              <a:defRPr/>
            </a:lvl8pPr>
            <a:lvl9pPr indent="0" lvl="8" marL="0" rtl="0" algn="l">
              <a:lnSpc>
                <a:spcPct val="100000"/>
              </a:lnSpc>
              <a:spcBef>
                <a:spcPts val="0"/>
              </a:spcBef>
              <a:spcAft>
                <a:spcPts val="0"/>
              </a:spcAft>
              <a:defRPr/>
            </a:lvl9pPr>
          </a:lstStyle>
          <a:p/>
        </p:txBody>
      </p:sp>
      <p:sp>
        <p:nvSpPr>
          <p:cNvPr id="90" name="Shape 90"/>
          <p:cNvSpPr txBox="1"/>
          <p:nvPr>
            <p:ph idx="1" type="body"/>
          </p:nvPr>
        </p:nvSpPr>
        <p:spPr>
          <a:xfrm>
            <a:off x="457200" y="1719261"/>
            <a:ext cx="8229600" cy="4411661"/>
          </a:xfrm>
          <a:prstGeom prst="rect">
            <a:avLst/>
          </a:prstGeom>
          <a:noFill/>
          <a:ln>
            <a:noFill/>
          </a:ln>
        </p:spPr>
        <p:txBody>
          <a:bodyPr anchorCtr="0" anchor="t" bIns="91425" lIns="91425" rIns="91425" tIns="91425"/>
          <a:lstStyle>
            <a:lvl1pPr indent="-209550" lvl="0" marL="342900" rtl="0" algn="l">
              <a:lnSpc>
                <a:spcPct val="100000"/>
              </a:lnSpc>
              <a:spcBef>
                <a:spcPts val="600"/>
              </a:spcBef>
              <a:spcAft>
                <a:spcPts val="0"/>
              </a:spcAft>
              <a:buClr>
                <a:schemeClr val="dk2"/>
              </a:buClr>
              <a:buFont typeface="Noto Symbol"/>
              <a:buChar char="●"/>
              <a:defRPr/>
            </a:lvl1pPr>
            <a:lvl2pPr indent="-233680" lvl="1" marL="692150" rtl="0" algn="l">
              <a:lnSpc>
                <a:spcPct val="100000"/>
              </a:lnSpc>
              <a:spcBef>
                <a:spcPts val="520"/>
              </a:spcBef>
              <a:spcAft>
                <a:spcPts val="0"/>
              </a:spcAft>
              <a:buClr>
                <a:schemeClr val="accent2"/>
              </a:buClr>
              <a:buFont typeface="Noto Symbol"/>
              <a:buChar char="●"/>
              <a:defRPr/>
            </a:lvl2pPr>
            <a:lvl3pPr indent="-199390" lvl="2" marL="987425" rtl="0" algn="l">
              <a:lnSpc>
                <a:spcPct val="100000"/>
              </a:lnSpc>
              <a:spcBef>
                <a:spcPts val="460"/>
              </a:spcBef>
              <a:spcAft>
                <a:spcPts val="0"/>
              </a:spcAft>
              <a:buClr>
                <a:schemeClr val="accent1"/>
              </a:buClr>
              <a:buFont typeface="Noto Symbol"/>
              <a:buChar char="●"/>
              <a:defRPr/>
            </a:lvl3pPr>
            <a:lvl4pPr indent="-207962" lvl="3" marL="1281112" rtl="0" algn="l">
              <a:lnSpc>
                <a:spcPct val="100000"/>
              </a:lnSpc>
              <a:spcBef>
                <a:spcPts val="400"/>
              </a:spcBef>
              <a:spcAft>
                <a:spcPts val="0"/>
              </a:spcAft>
              <a:buClr>
                <a:schemeClr val="dk2"/>
              </a:buClr>
              <a:buFont typeface="Noto Symbol"/>
              <a:buChar char="▪"/>
              <a:defRPr/>
            </a:lvl4pPr>
            <a:lvl5pPr indent="-214312" lvl="4" marL="1598612" rtl="0" algn="l">
              <a:lnSpc>
                <a:spcPct val="100000"/>
              </a:lnSpc>
              <a:spcBef>
                <a:spcPts val="400"/>
              </a:spcBef>
              <a:spcAft>
                <a:spcPts val="0"/>
              </a:spcAft>
              <a:buClr>
                <a:schemeClr val="folHlink"/>
              </a:buClr>
              <a:buFont typeface="Noto Symbol"/>
              <a:buChar char="▪"/>
              <a:defRPr/>
            </a:lvl5pPr>
            <a:lvl6pPr indent="-239711" lvl="5" marL="1916111" rtl="0" algn="l">
              <a:lnSpc>
                <a:spcPct val="100000"/>
              </a:lnSpc>
              <a:spcBef>
                <a:spcPts val="400"/>
              </a:spcBef>
              <a:spcAft>
                <a:spcPts val="0"/>
              </a:spcAft>
              <a:buClr>
                <a:schemeClr val="folHlink"/>
              </a:buClr>
              <a:buFont typeface="Noto Symbol"/>
              <a:buChar char="▪"/>
              <a:defRPr/>
            </a:lvl6pPr>
            <a:lvl7pPr indent="-290511" lvl="6" marL="2551112" rtl="0" algn="l">
              <a:lnSpc>
                <a:spcPct val="100000"/>
              </a:lnSpc>
              <a:spcBef>
                <a:spcPts val="400"/>
              </a:spcBef>
              <a:spcAft>
                <a:spcPts val="0"/>
              </a:spcAft>
              <a:buClr>
                <a:schemeClr val="folHlink"/>
              </a:buClr>
              <a:buFont typeface="Noto Symbol"/>
              <a:buChar char="▪"/>
              <a:defRPr/>
            </a:lvl7pPr>
            <a:lvl8pPr indent="-366712" lvl="7" marL="3503612" rtl="0" algn="l">
              <a:lnSpc>
                <a:spcPct val="100000"/>
              </a:lnSpc>
              <a:spcBef>
                <a:spcPts val="400"/>
              </a:spcBef>
              <a:spcAft>
                <a:spcPts val="0"/>
              </a:spcAft>
              <a:buClr>
                <a:schemeClr val="folHlink"/>
              </a:buClr>
              <a:buFont typeface="Noto Symbol"/>
              <a:buChar char="▪"/>
              <a:defRPr/>
            </a:lvl8pPr>
            <a:lvl9pPr indent="-455612" lvl="8" marL="4773612" rtl="0" algn="l">
              <a:lnSpc>
                <a:spcPct val="100000"/>
              </a:lnSpc>
              <a:spcBef>
                <a:spcPts val="400"/>
              </a:spcBef>
              <a:spcAft>
                <a:spcPts val="0"/>
              </a:spcAft>
              <a:buClr>
                <a:schemeClr val="folHlink"/>
              </a:buClr>
              <a:buFont typeface="Noto Symbol"/>
              <a:buChar char="▪"/>
              <a:defRPr/>
            </a:lvl9pPr>
          </a:lstStyle>
          <a:p/>
        </p:txBody>
      </p:sp>
      <p:sp>
        <p:nvSpPr>
          <p:cNvPr id="91" name="Shape 91"/>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92" name="Shape 92"/>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93" name="Shape 93"/>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000" u="none" cap="none" strike="noStrike">
                <a:solidFill>
                  <a:schemeClr val="dk1"/>
                </a:solidFill>
                <a:latin typeface="Arial"/>
                <a:ea typeface="Arial"/>
                <a:cs typeface="Arial"/>
                <a:sym typeface="Arial"/>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cxnSp>
        <p:nvCxnSpPr>
          <p:cNvPr id="6" name="Shape 6"/>
          <p:cNvCxnSpPr/>
          <p:nvPr/>
        </p:nvCxnSpPr>
        <p:spPr>
          <a:xfrm>
            <a:off x="7962900" y="152400"/>
            <a:ext cx="0" cy="1524000"/>
          </a:xfrm>
          <a:prstGeom prst="straightConnector1">
            <a:avLst/>
          </a:prstGeom>
          <a:noFill/>
          <a:ln cap="flat" cmpd="sng" w="9525">
            <a:solidFill>
              <a:schemeClr val="dk1"/>
            </a:solidFill>
            <a:prstDash val="solid"/>
            <a:miter/>
            <a:headEnd len="med" w="med" type="none"/>
            <a:tailEnd len="med" w="med" type="none"/>
          </a:ln>
        </p:spPr>
      </p:cxnSp>
      <p:sp>
        <p:nvSpPr>
          <p:cNvPr id="7" name="Shape 7"/>
          <p:cNvSpPr txBox="1"/>
          <p:nvPr>
            <p:ph type="title"/>
          </p:nvPr>
        </p:nvSpPr>
        <p:spPr>
          <a:xfrm>
            <a:off x="457200" y="122236"/>
            <a:ext cx="7543800" cy="1295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defRPr/>
            </a:lvl1pPr>
            <a:lvl2pPr indent="0" lvl="1" marL="0" marR="0" rtl="0" algn="l">
              <a:lnSpc>
                <a:spcPct val="100000"/>
              </a:lnSpc>
              <a:spcBef>
                <a:spcPts val="0"/>
              </a:spcBef>
              <a:spcAft>
                <a:spcPts val="0"/>
              </a:spcAft>
              <a:defRPr/>
            </a:lvl2pPr>
            <a:lvl3pPr indent="0" lvl="2" marL="0" marR="0" rtl="0" algn="l">
              <a:lnSpc>
                <a:spcPct val="100000"/>
              </a:lnSpc>
              <a:spcBef>
                <a:spcPts val="0"/>
              </a:spcBef>
              <a:spcAft>
                <a:spcPts val="0"/>
              </a:spcAft>
              <a:defRPr/>
            </a:lvl3pPr>
            <a:lvl4pPr indent="0" lvl="3" marL="0" marR="0" rtl="0" algn="l">
              <a:lnSpc>
                <a:spcPct val="100000"/>
              </a:lnSpc>
              <a:spcBef>
                <a:spcPts val="0"/>
              </a:spcBef>
              <a:spcAft>
                <a:spcPts val="0"/>
              </a:spcAft>
              <a:defRPr/>
            </a:lvl4pPr>
            <a:lvl5pPr indent="0" lvl="4" marL="0" marR="0" rtl="0" algn="l">
              <a:lnSpc>
                <a:spcPct val="100000"/>
              </a:lnSpc>
              <a:spcBef>
                <a:spcPts val="0"/>
              </a:spcBef>
              <a:spcAft>
                <a:spcPts val="0"/>
              </a:spcAft>
              <a:defRPr/>
            </a:lvl5pPr>
            <a:lvl6pPr indent="0" lvl="5" marL="0" marR="0" rtl="0" algn="l">
              <a:lnSpc>
                <a:spcPct val="100000"/>
              </a:lnSpc>
              <a:spcBef>
                <a:spcPts val="0"/>
              </a:spcBef>
              <a:spcAft>
                <a:spcPts val="0"/>
              </a:spcAft>
              <a:defRPr/>
            </a:lvl6pPr>
            <a:lvl7pPr indent="0" lvl="6" marL="0" marR="0" rtl="0" algn="l">
              <a:lnSpc>
                <a:spcPct val="100000"/>
              </a:lnSpc>
              <a:spcBef>
                <a:spcPts val="0"/>
              </a:spcBef>
              <a:spcAft>
                <a:spcPts val="0"/>
              </a:spcAft>
              <a:defRPr/>
            </a:lvl7pPr>
            <a:lvl8pPr indent="0" lvl="7" marL="0" marR="0" rtl="0" algn="l">
              <a:lnSpc>
                <a:spcPct val="100000"/>
              </a:lnSpc>
              <a:spcBef>
                <a:spcPts val="0"/>
              </a:spcBef>
              <a:spcAft>
                <a:spcPts val="0"/>
              </a:spcAft>
              <a:defRPr/>
            </a:lvl8pPr>
            <a:lvl9pPr indent="0" lvl="8" marL="0" marR="0" rtl="0" algn="l">
              <a:lnSpc>
                <a:spcPct val="100000"/>
              </a:lnSpc>
              <a:spcBef>
                <a:spcPts val="0"/>
              </a:spcBef>
              <a:spcAft>
                <a:spcPts val="0"/>
              </a:spcAft>
              <a:defRPr/>
            </a:lvl9pPr>
          </a:lstStyle>
          <a:p/>
        </p:txBody>
      </p:sp>
      <p:sp>
        <p:nvSpPr>
          <p:cNvPr id="8" name="Shape 8"/>
          <p:cNvSpPr txBox="1"/>
          <p:nvPr>
            <p:ph idx="1" type="body"/>
          </p:nvPr>
        </p:nvSpPr>
        <p:spPr>
          <a:xfrm>
            <a:off x="457200" y="1719261"/>
            <a:ext cx="8229600" cy="4411661"/>
          </a:xfrm>
          <a:prstGeom prst="rect">
            <a:avLst/>
          </a:prstGeom>
          <a:noFill/>
          <a:ln>
            <a:noFill/>
          </a:ln>
        </p:spPr>
        <p:txBody>
          <a:bodyPr anchorCtr="0" anchor="t" bIns="91425" lIns="91425" rIns="91425" tIns="91425"/>
          <a:lstStyle>
            <a:lvl1pPr indent="-209550" lvl="0" marL="342900" marR="0" rtl="0" algn="l">
              <a:lnSpc>
                <a:spcPct val="100000"/>
              </a:lnSpc>
              <a:spcBef>
                <a:spcPts val="600"/>
              </a:spcBef>
              <a:spcAft>
                <a:spcPts val="0"/>
              </a:spcAft>
              <a:buClr>
                <a:schemeClr val="dk2"/>
              </a:buClr>
              <a:buFont typeface="Noto Symbol"/>
              <a:buChar char="●"/>
              <a:defRPr/>
            </a:lvl1pPr>
            <a:lvl2pPr indent="-233680" lvl="1" marL="692150" marR="0" rtl="0" algn="l">
              <a:lnSpc>
                <a:spcPct val="100000"/>
              </a:lnSpc>
              <a:spcBef>
                <a:spcPts val="520"/>
              </a:spcBef>
              <a:spcAft>
                <a:spcPts val="0"/>
              </a:spcAft>
              <a:buClr>
                <a:schemeClr val="accent2"/>
              </a:buClr>
              <a:buFont typeface="Noto Symbol"/>
              <a:buChar char="●"/>
              <a:defRPr/>
            </a:lvl2pPr>
            <a:lvl3pPr indent="-199390" lvl="2" marL="987425" marR="0" rtl="0" algn="l">
              <a:lnSpc>
                <a:spcPct val="100000"/>
              </a:lnSpc>
              <a:spcBef>
                <a:spcPts val="460"/>
              </a:spcBef>
              <a:spcAft>
                <a:spcPts val="0"/>
              </a:spcAft>
              <a:buClr>
                <a:schemeClr val="accent1"/>
              </a:buClr>
              <a:buFont typeface="Noto Symbol"/>
              <a:buChar char="●"/>
              <a:defRPr/>
            </a:lvl3pPr>
            <a:lvl4pPr indent="-207962" lvl="3" marL="1281112" marR="0" rtl="0" algn="l">
              <a:lnSpc>
                <a:spcPct val="100000"/>
              </a:lnSpc>
              <a:spcBef>
                <a:spcPts val="400"/>
              </a:spcBef>
              <a:spcAft>
                <a:spcPts val="0"/>
              </a:spcAft>
              <a:buClr>
                <a:schemeClr val="dk2"/>
              </a:buClr>
              <a:buFont typeface="Noto Symbol"/>
              <a:buChar char="▪"/>
              <a:defRPr/>
            </a:lvl4pPr>
            <a:lvl5pPr indent="-214312" lvl="4" marL="1598612" marR="0" rtl="0" algn="l">
              <a:lnSpc>
                <a:spcPct val="100000"/>
              </a:lnSpc>
              <a:spcBef>
                <a:spcPts val="400"/>
              </a:spcBef>
              <a:spcAft>
                <a:spcPts val="0"/>
              </a:spcAft>
              <a:buClr>
                <a:schemeClr val="folHlink"/>
              </a:buClr>
              <a:buFont typeface="Noto Symbol"/>
              <a:buChar char="▪"/>
              <a:defRPr/>
            </a:lvl5pPr>
            <a:lvl6pPr indent="-239711" lvl="5" marL="1916111" marR="0" rtl="0" algn="l">
              <a:lnSpc>
                <a:spcPct val="100000"/>
              </a:lnSpc>
              <a:spcBef>
                <a:spcPts val="400"/>
              </a:spcBef>
              <a:spcAft>
                <a:spcPts val="0"/>
              </a:spcAft>
              <a:buClr>
                <a:schemeClr val="folHlink"/>
              </a:buClr>
              <a:buFont typeface="Noto Symbol"/>
              <a:buChar char="▪"/>
              <a:defRPr/>
            </a:lvl6pPr>
            <a:lvl7pPr indent="-290511" lvl="6" marL="2551112" marR="0" rtl="0" algn="l">
              <a:lnSpc>
                <a:spcPct val="100000"/>
              </a:lnSpc>
              <a:spcBef>
                <a:spcPts val="400"/>
              </a:spcBef>
              <a:spcAft>
                <a:spcPts val="0"/>
              </a:spcAft>
              <a:buClr>
                <a:schemeClr val="folHlink"/>
              </a:buClr>
              <a:buFont typeface="Noto Symbol"/>
              <a:buChar char="▪"/>
              <a:defRPr/>
            </a:lvl7pPr>
            <a:lvl8pPr indent="-366712" lvl="7" marL="3503612" marR="0" rtl="0" algn="l">
              <a:lnSpc>
                <a:spcPct val="100000"/>
              </a:lnSpc>
              <a:spcBef>
                <a:spcPts val="400"/>
              </a:spcBef>
              <a:spcAft>
                <a:spcPts val="0"/>
              </a:spcAft>
              <a:buClr>
                <a:schemeClr val="folHlink"/>
              </a:buClr>
              <a:buFont typeface="Noto Symbol"/>
              <a:buChar char="▪"/>
              <a:defRPr/>
            </a:lvl8pPr>
            <a:lvl9pPr indent="-455612" lvl="8" marL="4773612" marR="0" rtl="0" algn="l">
              <a:lnSpc>
                <a:spcPct val="100000"/>
              </a:lnSpc>
              <a:spcBef>
                <a:spcPts val="400"/>
              </a:spcBef>
              <a:spcAft>
                <a:spcPts val="0"/>
              </a:spcAft>
              <a:buClr>
                <a:schemeClr val="folHlink"/>
              </a:buClr>
              <a:buFont typeface="Noto Symbol"/>
              <a:buChar char="▪"/>
              <a:defRPr/>
            </a:lvl9pPr>
          </a:lstStyle>
          <a:p/>
        </p:txBody>
      </p:sp>
      <p:sp>
        <p:nvSpPr>
          <p:cNvPr id="9" name="Shape 9"/>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10" name="Shape 10"/>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11" name="Shape 11"/>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fld id="{00000000-1234-1234-1234-123412341234}" type="slidenum">
              <a:rPr b="0" i="0" lang="en-US" sz="1000" u="none" cap="none" strike="noStrike">
                <a:solidFill>
                  <a:schemeClr val="dk1"/>
                </a:solidFill>
                <a:latin typeface="Arial"/>
                <a:ea typeface="Arial"/>
                <a:cs typeface="Arial"/>
                <a:sym typeface="Arial"/>
              </a:rPr>
              <a:t>‹#›</a:t>
            </a:fld>
          </a:p>
        </p:txBody>
      </p:sp>
      <p:grpSp>
        <p:nvGrpSpPr>
          <p:cNvPr id="12" name="Shape 12"/>
          <p:cNvGrpSpPr/>
          <p:nvPr/>
        </p:nvGrpSpPr>
        <p:grpSpPr>
          <a:xfrm>
            <a:off x="8153399" y="152399"/>
            <a:ext cx="792161" cy="1295399"/>
            <a:chOff x="8153400" y="1524000"/>
            <a:chExt cx="838200" cy="1371600"/>
          </a:xfrm>
        </p:grpSpPr>
        <p:sp>
          <p:nvSpPr>
            <p:cNvPr id="13" name="Shape 13"/>
            <p:cNvSpPr/>
            <p:nvPr/>
          </p:nvSpPr>
          <p:spPr>
            <a:xfrm>
              <a:off x="8153400" y="15240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 name="Shape 14"/>
            <p:cNvSpPr/>
            <p:nvPr/>
          </p:nvSpPr>
          <p:spPr>
            <a:xfrm>
              <a:off x="8331200" y="15240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 name="Shape 15"/>
            <p:cNvSpPr/>
            <p:nvPr/>
          </p:nvSpPr>
          <p:spPr>
            <a:xfrm>
              <a:off x="8509000" y="15240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 name="Shape 16"/>
            <p:cNvSpPr/>
            <p:nvPr/>
          </p:nvSpPr>
          <p:spPr>
            <a:xfrm>
              <a:off x="8153400" y="17018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 name="Shape 17"/>
            <p:cNvSpPr/>
            <p:nvPr/>
          </p:nvSpPr>
          <p:spPr>
            <a:xfrm>
              <a:off x="8331200" y="17018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 name="Shape 18"/>
            <p:cNvSpPr/>
            <p:nvPr/>
          </p:nvSpPr>
          <p:spPr>
            <a:xfrm>
              <a:off x="8509000" y="17018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 name="Shape 19"/>
            <p:cNvSpPr/>
            <p:nvPr/>
          </p:nvSpPr>
          <p:spPr>
            <a:xfrm>
              <a:off x="8686800" y="17018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 name="Shape 20"/>
            <p:cNvSpPr/>
            <p:nvPr/>
          </p:nvSpPr>
          <p:spPr>
            <a:xfrm>
              <a:off x="8153400" y="18796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 name="Shape 21"/>
            <p:cNvSpPr/>
            <p:nvPr/>
          </p:nvSpPr>
          <p:spPr>
            <a:xfrm>
              <a:off x="8331200" y="18796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 name="Shape 22"/>
            <p:cNvSpPr/>
            <p:nvPr/>
          </p:nvSpPr>
          <p:spPr>
            <a:xfrm>
              <a:off x="8509000" y="18796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 name="Shape 23"/>
            <p:cNvSpPr/>
            <p:nvPr/>
          </p:nvSpPr>
          <p:spPr>
            <a:xfrm>
              <a:off x="8686800" y="18796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 name="Shape 24"/>
            <p:cNvSpPr/>
            <p:nvPr/>
          </p:nvSpPr>
          <p:spPr>
            <a:xfrm>
              <a:off x="8864600" y="18796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 name="Shape 25"/>
            <p:cNvSpPr/>
            <p:nvPr/>
          </p:nvSpPr>
          <p:spPr>
            <a:xfrm>
              <a:off x="8153400" y="20574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 name="Shape 26"/>
            <p:cNvSpPr/>
            <p:nvPr/>
          </p:nvSpPr>
          <p:spPr>
            <a:xfrm>
              <a:off x="8331200" y="20574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 name="Shape 27"/>
            <p:cNvSpPr/>
            <p:nvPr/>
          </p:nvSpPr>
          <p:spPr>
            <a:xfrm>
              <a:off x="8509000" y="20574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8" name="Shape 28"/>
            <p:cNvSpPr/>
            <p:nvPr/>
          </p:nvSpPr>
          <p:spPr>
            <a:xfrm>
              <a:off x="8686800" y="20574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9" name="Shape 29"/>
            <p:cNvSpPr/>
            <p:nvPr/>
          </p:nvSpPr>
          <p:spPr>
            <a:xfrm>
              <a:off x="8153400" y="22352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0" name="Shape 30"/>
            <p:cNvSpPr/>
            <p:nvPr/>
          </p:nvSpPr>
          <p:spPr>
            <a:xfrm>
              <a:off x="8331200" y="22352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1" name="Shape 31"/>
            <p:cNvSpPr/>
            <p:nvPr/>
          </p:nvSpPr>
          <p:spPr>
            <a:xfrm>
              <a:off x="8509000" y="22352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2" name="Shape 32"/>
            <p:cNvSpPr/>
            <p:nvPr/>
          </p:nvSpPr>
          <p:spPr>
            <a:xfrm>
              <a:off x="8686800" y="22352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3" name="Shape 33"/>
            <p:cNvSpPr/>
            <p:nvPr/>
          </p:nvSpPr>
          <p:spPr>
            <a:xfrm>
              <a:off x="8864600" y="22352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4" name="Shape 34"/>
            <p:cNvSpPr/>
            <p:nvPr/>
          </p:nvSpPr>
          <p:spPr>
            <a:xfrm>
              <a:off x="8153400" y="24130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5" name="Shape 35"/>
            <p:cNvSpPr/>
            <p:nvPr/>
          </p:nvSpPr>
          <p:spPr>
            <a:xfrm>
              <a:off x="8331200" y="24130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 name="Shape 36"/>
            <p:cNvSpPr/>
            <p:nvPr/>
          </p:nvSpPr>
          <p:spPr>
            <a:xfrm>
              <a:off x="8509000" y="24130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7" name="Shape 37"/>
            <p:cNvSpPr/>
            <p:nvPr/>
          </p:nvSpPr>
          <p:spPr>
            <a:xfrm>
              <a:off x="8686800" y="24130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 name="Shape 38"/>
            <p:cNvSpPr/>
            <p:nvPr/>
          </p:nvSpPr>
          <p:spPr>
            <a:xfrm>
              <a:off x="8153400" y="25908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9" name="Shape 39"/>
            <p:cNvSpPr/>
            <p:nvPr/>
          </p:nvSpPr>
          <p:spPr>
            <a:xfrm>
              <a:off x="8331200" y="25908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0" name="Shape 40"/>
            <p:cNvSpPr/>
            <p:nvPr/>
          </p:nvSpPr>
          <p:spPr>
            <a:xfrm>
              <a:off x="8509000" y="25908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1" name="Shape 41"/>
            <p:cNvSpPr/>
            <p:nvPr/>
          </p:nvSpPr>
          <p:spPr>
            <a:xfrm>
              <a:off x="8686800" y="25908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2" name="Shape 42"/>
            <p:cNvSpPr/>
            <p:nvPr/>
          </p:nvSpPr>
          <p:spPr>
            <a:xfrm>
              <a:off x="8331200" y="27686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3" name="Shape 43"/>
            <p:cNvSpPr/>
            <p:nvPr/>
          </p:nvSpPr>
          <p:spPr>
            <a:xfrm>
              <a:off x="8686800" y="27686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0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0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0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0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0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0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0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0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0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0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0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0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0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0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0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0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0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0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0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0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0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0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0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0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0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0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0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0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0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0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7" name="Shape 97"/>
        <p:cNvGrpSpPr/>
        <p:nvPr/>
      </p:nvGrpSpPr>
      <p:grpSpPr>
        <a:xfrm>
          <a:off x="0" y="0"/>
          <a:ext cx="0" cy="0"/>
          <a:chOff x="0" y="0"/>
          <a:chExt cx="0" cy="0"/>
        </a:xfrm>
      </p:grpSpPr>
      <p:sp>
        <p:nvSpPr>
          <p:cNvPr id="98" name="Shape 98"/>
          <p:cNvSpPr txBox="1"/>
          <p:nvPr>
            <p:ph type="ctrTitle"/>
          </p:nvPr>
        </p:nvSpPr>
        <p:spPr>
          <a:xfrm>
            <a:off x="382587" y="1089025"/>
            <a:ext cx="6781800" cy="1547811"/>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br>
              <a:rPr b="1" i="0" lang="en-US" sz="4400" u="none" cap="none" strike="noStrike">
                <a:solidFill>
                  <a:srgbClr val="EC1914"/>
                </a:solidFill>
                <a:latin typeface="Arial"/>
                <a:ea typeface="Arial"/>
                <a:cs typeface="Arial"/>
                <a:sym typeface="Arial"/>
              </a:rPr>
            </a:br>
            <a:r>
              <a:rPr b="1" i="0" lang="en-US" sz="4400" u="none" cap="none" strike="noStrike">
                <a:solidFill>
                  <a:schemeClr val="dk1"/>
                </a:solidFill>
                <a:latin typeface="Arial"/>
                <a:ea typeface="Arial"/>
                <a:cs typeface="Arial"/>
                <a:sym typeface="Arial"/>
              </a:rPr>
              <a:t>MERCADOS </a:t>
            </a:r>
            <a:br>
              <a:rPr b="1" i="0" lang="en-US" sz="4400" u="none" cap="none" strike="noStrike">
                <a:solidFill>
                  <a:schemeClr val="dk1"/>
                </a:solidFill>
                <a:latin typeface="Arial"/>
                <a:ea typeface="Arial"/>
                <a:cs typeface="Arial"/>
                <a:sym typeface="Arial"/>
              </a:rPr>
            </a:br>
            <a:r>
              <a:rPr b="1" i="0" lang="en-US" sz="4400" u="none" cap="none" strike="noStrike">
                <a:solidFill>
                  <a:schemeClr val="dk1"/>
                </a:solidFill>
                <a:latin typeface="Arial"/>
                <a:ea typeface="Arial"/>
                <a:cs typeface="Arial"/>
                <a:sym typeface="Arial"/>
              </a:rPr>
              <a:t>CLASE N° 8</a:t>
            </a:r>
            <a:r>
              <a:rPr b="1" i="0" lang="en-US" sz="4800" u="none" cap="none" strike="noStrike">
                <a:solidFill>
                  <a:schemeClr val="dk2"/>
                </a:solidFill>
                <a:latin typeface="Arial"/>
                <a:ea typeface="Arial"/>
                <a:cs typeface="Arial"/>
                <a:sym typeface="Arial"/>
              </a:rPr>
              <a:t> </a:t>
            </a:r>
          </a:p>
        </p:txBody>
      </p:sp>
      <p:sp>
        <p:nvSpPr>
          <p:cNvPr id="99" name="Shape 99"/>
          <p:cNvSpPr txBox="1"/>
          <p:nvPr>
            <p:ph idx="1" type="subTitle"/>
          </p:nvPr>
        </p:nvSpPr>
        <p:spPr>
          <a:xfrm>
            <a:off x="323850" y="2852736"/>
            <a:ext cx="6985000" cy="3816349"/>
          </a:xfrm>
          <a:prstGeom prst="rect">
            <a:avLst/>
          </a:prstGeom>
          <a:solidFill>
            <a:schemeClr val="accent1">
              <a:alpha val="65882"/>
            </a:schemeClr>
          </a:solidFill>
          <a:ln>
            <a:noFill/>
          </a:ln>
        </p:spPr>
        <p:txBody>
          <a:bodyPr anchorCtr="0" anchor="t" bIns="45700" lIns="162000" rIns="91425" tIns="45700">
            <a:noAutofit/>
          </a:bodyPr>
          <a:lstStyle/>
          <a:p>
            <a:pPr indent="0" lvl="0" marL="0" marR="0" rtl="0" algn="l">
              <a:lnSpc>
                <a:spcPct val="95000"/>
              </a:lnSpc>
              <a:spcBef>
                <a:spcPts val="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DEFINICIÓN DE MERCADO</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LEY DE OFERTA Y DEMANDA</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ADAM SMITH Y LA MANO INVISIBLE</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EQUILIBRIO EN EL MERCADO</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CRITICAS AL MERCADO</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DISTORSIÓN DE PRECIOS</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FUENTES DE DISTORSIÓN</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LOS IMPUESTOS</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LOS IMPUESTOS PAGADOS POR EL PRODUCTOR</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REDUCCIÓN DE EXCEDENTES</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RECAUDACIÓN IMPOSITIVA</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LOS IMPUESTOS PAGADOS POR EL CONSUMIDOR</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REDUCCIÓN DE EXCEDENTES </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RECAUDACIÓN IMPOSITIVA</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LOS SUBSIDIOS</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LOS SUBSIDIOS PAGADOS AL PRODUCTOR</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AUMENTO DEL EXCEDENTE</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LOS SUBSIDIOS PAGADOS AL CONSUMIDOR</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AUMENTO DEL EXCEDENTE </a:t>
            </a:r>
          </a:p>
          <a:p>
            <a:pPr indent="0" lvl="0" marL="0" marR="0" rtl="0" algn="l">
              <a:lnSpc>
                <a:spcPct val="95000"/>
              </a:lnSpc>
              <a:spcBef>
                <a:spcPts val="120"/>
              </a:spcBef>
              <a:spcAft>
                <a:spcPts val="0"/>
              </a:spcAft>
              <a:buClr>
                <a:schemeClr val="dk2"/>
              </a:buClr>
              <a:buSzPct val="80000"/>
              <a:buFont typeface="Noto Symbol"/>
              <a:buChar char="✓"/>
            </a:pPr>
            <a:r>
              <a:rPr b="1" i="1" lang="en-US" sz="1200" u="none" cap="none" strike="noStrike">
                <a:solidFill>
                  <a:schemeClr val="dk1"/>
                </a:solidFill>
                <a:latin typeface="Cambria"/>
                <a:ea typeface="Cambria"/>
                <a:cs typeface="Cambria"/>
                <a:sym typeface="Cambria"/>
              </a:rPr>
              <a:t>SUBSIDIO Y COSTO FISCAL</a:t>
            </a:r>
          </a:p>
        </p:txBody>
      </p:sp>
      <p:pic>
        <p:nvPicPr>
          <p:cNvPr id="100" name="Shape 100"/>
          <p:cNvPicPr preferRelativeResize="0"/>
          <p:nvPr/>
        </p:nvPicPr>
        <p:blipFill rotWithShape="1">
          <a:blip r:embed="rId3">
            <a:alphaModFix/>
          </a:blip>
          <a:srcRect b="0" l="0" r="0" t="0"/>
          <a:stretch/>
        </p:blipFill>
        <p:spPr>
          <a:xfrm>
            <a:off x="5940425" y="260350"/>
            <a:ext cx="3013074" cy="608011"/>
          </a:xfrm>
          <a:prstGeom prst="rect">
            <a:avLst/>
          </a:prstGeom>
          <a:noFill/>
          <a:ln>
            <a:noFill/>
          </a:ln>
        </p:spPr>
      </p:pic>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04" name="Shape 104"/>
        <p:cNvGrpSpPr/>
        <p:nvPr/>
      </p:nvGrpSpPr>
      <p:grpSpPr>
        <a:xfrm>
          <a:off x="0" y="0"/>
          <a:ext cx="0" cy="0"/>
          <a:chOff x="0" y="0"/>
          <a:chExt cx="0" cy="0"/>
        </a:xfrm>
      </p:grpSpPr>
      <p:sp>
        <p:nvSpPr>
          <p:cNvPr id="105" name="Shape 105"/>
          <p:cNvSpPr txBox="1"/>
          <p:nvPr>
            <p:ph type="ctrTitle"/>
          </p:nvPr>
        </p:nvSpPr>
        <p:spPr>
          <a:xfrm>
            <a:off x="315912" y="1196975"/>
            <a:ext cx="6781800" cy="1403349"/>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4800" u="none" cap="none" strike="noStrike">
                <a:solidFill>
                  <a:schemeClr val="dk2"/>
                </a:solidFill>
                <a:latin typeface="Arial"/>
                <a:ea typeface="Arial"/>
                <a:cs typeface="Arial"/>
                <a:sym typeface="Arial"/>
              </a:rPr>
              <a:t>MERCADO</a:t>
            </a:r>
            <a:br>
              <a:rPr b="1" i="0" lang="en-US" sz="4800" u="none" cap="none" strike="noStrike">
                <a:solidFill>
                  <a:schemeClr val="dk2"/>
                </a:solidFill>
                <a:latin typeface="Arial"/>
                <a:ea typeface="Arial"/>
                <a:cs typeface="Arial"/>
                <a:sym typeface="Arial"/>
              </a:rPr>
            </a:br>
            <a:r>
              <a:rPr b="1" i="0" lang="en-US" sz="2400" u="none" cap="none" strike="noStrike">
                <a:solidFill>
                  <a:schemeClr val="dk2"/>
                </a:solidFill>
                <a:latin typeface="Arial"/>
                <a:ea typeface="Arial"/>
                <a:cs typeface="Arial"/>
                <a:sym typeface="Arial"/>
              </a:rPr>
              <a:t>DEFINICIÓN</a:t>
            </a:r>
          </a:p>
        </p:txBody>
      </p:sp>
      <p:sp>
        <p:nvSpPr>
          <p:cNvPr id="106" name="Shape 106"/>
          <p:cNvSpPr txBox="1"/>
          <p:nvPr>
            <p:ph idx="1" type="subTitle"/>
          </p:nvPr>
        </p:nvSpPr>
        <p:spPr>
          <a:xfrm>
            <a:off x="846137" y="3051175"/>
            <a:ext cx="6256336" cy="2330449"/>
          </a:xfrm>
          <a:prstGeom prst="rect">
            <a:avLst/>
          </a:prstGeom>
          <a:no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2"/>
              </a:buClr>
              <a:buSzPct val="25000"/>
              <a:buFont typeface="Noto Symbol"/>
              <a:buNone/>
            </a:pPr>
            <a:r>
              <a:rPr b="0" i="0" lang="en-US" sz="2800" u="none" cap="none" strike="noStrike">
                <a:solidFill>
                  <a:schemeClr val="dk1"/>
                </a:solidFill>
                <a:latin typeface="Arial"/>
                <a:ea typeface="Arial"/>
                <a:cs typeface="Arial"/>
                <a:sym typeface="Arial"/>
              </a:rPr>
              <a:t>Es el conjunto de transacciones o acuerdos de negocios entre compradores y vendedores, implica el comercio formal y regulado, donde existe cierta competencia entre los participantes.</a:t>
            </a:r>
          </a:p>
        </p:txBody>
      </p:sp>
      <p:pic>
        <p:nvPicPr>
          <p:cNvPr id="107" name="Shape 107"/>
          <p:cNvPicPr preferRelativeResize="0"/>
          <p:nvPr/>
        </p:nvPicPr>
        <p:blipFill rotWithShape="1">
          <a:blip r:embed="rId3">
            <a:alphaModFix/>
          </a:blip>
          <a:srcRect b="0" l="0" r="0" t="0"/>
          <a:stretch/>
        </p:blipFill>
        <p:spPr>
          <a:xfrm>
            <a:off x="6130925" y="188911"/>
            <a:ext cx="3013074" cy="608011"/>
          </a:xfrm>
          <a:prstGeom prst="rect">
            <a:avLst/>
          </a:prstGeom>
          <a:noFill/>
          <a:ln>
            <a:noFill/>
          </a:ln>
        </p:spPr>
      </p:pic>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11" name="Shape 111"/>
        <p:cNvGrpSpPr/>
        <p:nvPr/>
      </p:nvGrpSpPr>
      <p:grpSpPr>
        <a:xfrm>
          <a:off x="0" y="0"/>
          <a:ext cx="0" cy="0"/>
          <a:chOff x="0" y="0"/>
          <a:chExt cx="0" cy="0"/>
        </a:xfrm>
      </p:grpSpPr>
      <p:sp>
        <p:nvSpPr>
          <p:cNvPr id="112" name="Shape 112"/>
          <p:cNvSpPr txBox="1"/>
          <p:nvPr>
            <p:ph idx="4294967295" type="title"/>
          </p:nvPr>
        </p:nvSpPr>
        <p:spPr>
          <a:xfrm>
            <a:off x="36511" y="0"/>
            <a:ext cx="3671886" cy="162877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OFERTA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Y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DEMANDA</a:t>
            </a:r>
          </a:p>
        </p:txBody>
      </p:sp>
      <p:sp>
        <p:nvSpPr>
          <p:cNvPr id="113" name="Shape 113"/>
          <p:cNvSpPr txBox="1"/>
          <p:nvPr>
            <p:ph idx="4294967295" type="body"/>
          </p:nvPr>
        </p:nvSpPr>
        <p:spPr>
          <a:xfrm>
            <a:off x="4997450" y="2546350"/>
            <a:ext cx="4038599" cy="2322511"/>
          </a:xfrm>
          <a:prstGeom prst="rect">
            <a:avLst/>
          </a:prstGeom>
          <a:solidFill>
            <a:srgbClr val="CCFFFF">
              <a:alpha val="52941"/>
            </a:srgbClr>
          </a:solid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ymbol"/>
              <a:buNone/>
            </a:pPr>
            <a:r>
              <a:rPr b="0" i="0" lang="en-US" sz="2600" u="none" cap="none" strike="noStrike">
                <a:solidFill>
                  <a:schemeClr val="dk1"/>
                </a:solidFill>
                <a:latin typeface="Arial"/>
                <a:ea typeface="Arial"/>
                <a:cs typeface="Arial"/>
                <a:sym typeface="Arial"/>
              </a:rPr>
              <a:t>La </a:t>
            </a:r>
            <a:r>
              <a:rPr b="1" i="0" lang="en-US" sz="2600" u="none" cap="none" strike="noStrike">
                <a:solidFill>
                  <a:srgbClr val="EC1914"/>
                </a:solidFill>
                <a:latin typeface="Arial"/>
                <a:ea typeface="Arial"/>
                <a:cs typeface="Arial"/>
                <a:sym typeface="Arial"/>
              </a:rPr>
              <a:t>ley de la oferta y demanda</a:t>
            </a:r>
            <a:r>
              <a:rPr b="0" i="0" lang="en-US" sz="2600" u="none" cap="none" strike="noStrike">
                <a:solidFill>
                  <a:schemeClr val="dk1"/>
                </a:solidFill>
                <a:latin typeface="Arial"/>
                <a:ea typeface="Arial"/>
                <a:cs typeface="Arial"/>
                <a:sym typeface="Arial"/>
              </a:rPr>
              <a:t> es el modelo económico básico de la formación de precios de mercado de los bienes y servicios útiles.  </a:t>
            </a:r>
          </a:p>
        </p:txBody>
      </p:sp>
      <p:sp>
        <p:nvSpPr>
          <p:cNvPr id="114" name="Shape 114"/>
          <p:cNvSpPr/>
          <p:nvPr/>
        </p:nvSpPr>
        <p:spPr>
          <a:xfrm>
            <a:off x="971550" y="1628775"/>
            <a:ext cx="1586" cy="4330700"/>
          </a:xfrm>
          <a:custGeom>
            <a:pathLst>
              <a:path extrusionOk="0" h="2728" w="1">
                <a:moveTo>
                  <a:pt x="1" y="0"/>
                </a:moveTo>
                <a:lnTo>
                  <a:pt x="0" y="2728"/>
                </a:lnTo>
              </a:path>
            </a:pathLst>
          </a:custGeom>
          <a:no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115" name="Shape 115"/>
          <p:cNvCxnSpPr/>
          <p:nvPr/>
        </p:nvCxnSpPr>
        <p:spPr>
          <a:xfrm>
            <a:off x="827087" y="5734050"/>
            <a:ext cx="4032249" cy="0"/>
          </a:xfrm>
          <a:prstGeom prst="straightConnector1">
            <a:avLst/>
          </a:prstGeom>
          <a:noFill/>
          <a:ln cap="flat" cmpd="sng" w="9525">
            <a:solidFill>
              <a:schemeClr val="dk1"/>
            </a:solidFill>
            <a:prstDash val="solid"/>
            <a:miter/>
            <a:headEnd len="med" w="med" type="none"/>
            <a:tailEnd len="med" w="med" type="none"/>
          </a:ln>
        </p:spPr>
      </p:cxnSp>
      <p:sp>
        <p:nvSpPr>
          <p:cNvPr id="116" name="Shape 116"/>
          <p:cNvSpPr/>
          <p:nvPr/>
        </p:nvSpPr>
        <p:spPr>
          <a:xfrm>
            <a:off x="1116012" y="2060575"/>
            <a:ext cx="3635375" cy="3133725"/>
          </a:xfrm>
          <a:custGeom>
            <a:pathLst>
              <a:path extrusionOk="0" h="1974" w="2290">
                <a:moveTo>
                  <a:pt x="0" y="1974"/>
                </a:moveTo>
                <a:cubicBezTo>
                  <a:pt x="170" y="1958"/>
                  <a:pt x="334" y="1939"/>
                  <a:pt x="544" y="1883"/>
                </a:cubicBezTo>
                <a:cubicBezTo>
                  <a:pt x="754" y="1827"/>
                  <a:pt x="1057" y="1760"/>
                  <a:pt x="1261" y="1639"/>
                </a:cubicBezTo>
                <a:cubicBezTo>
                  <a:pt x="1465" y="1518"/>
                  <a:pt x="1619" y="1356"/>
                  <a:pt x="1769" y="1157"/>
                </a:cubicBezTo>
                <a:cubicBezTo>
                  <a:pt x="1919" y="958"/>
                  <a:pt x="2071" y="637"/>
                  <a:pt x="2158" y="444"/>
                </a:cubicBezTo>
                <a:cubicBezTo>
                  <a:pt x="2245" y="251"/>
                  <a:pt x="2263" y="92"/>
                  <a:pt x="2290" y="0"/>
                </a:cubicBezTo>
              </a:path>
            </a:pathLst>
          </a:custGeom>
          <a:noFill/>
          <a:ln cap="flat" cmpd="sng" w="2857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7" name="Shape 117"/>
          <p:cNvSpPr/>
          <p:nvPr/>
        </p:nvSpPr>
        <p:spPr>
          <a:xfrm>
            <a:off x="1331912" y="1844675"/>
            <a:ext cx="3549650" cy="3492500"/>
          </a:xfrm>
          <a:custGeom>
            <a:pathLst>
              <a:path extrusionOk="0" h="2200" w="2236">
                <a:moveTo>
                  <a:pt x="0" y="0"/>
                </a:moveTo>
                <a:cubicBezTo>
                  <a:pt x="17" y="69"/>
                  <a:pt x="57" y="277"/>
                  <a:pt x="104" y="416"/>
                </a:cubicBezTo>
                <a:cubicBezTo>
                  <a:pt x="151" y="555"/>
                  <a:pt x="194" y="675"/>
                  <a:pt x="284" y="831"/>
                </a:cubicBezTo>
                <a:cubicBezTo>
                  <a:pt x="374" y="987"/>
                  <a:pt x="496" y="1193"/>
                  <a:pt x="643" y="1350"/>
                </a:cubicBezTo>
                <a:cubicBezTo>
                  <a:pt x="790" y="1507"/>
                  <a:pt x="989" y="1657"/>
                  <a:pt x="1169" y="1775"/>
                </a:cubicBezTo>
                <a:cubicBezTo>
                  <a:pt x="1349" y="1893"/>
                  <a:pt x="1548" y="1987"/>
                  <a:pt x="1726" y="2058"/>
                </a:cubicBezTo>
                <a:cubicBezTo>
                  <a:pt x="1904" y="2129"/>
                  <a:pt x="2130" y="2171"/>
                  <a:pt x="2236" y="2200"/>
                </a:cubicBezTo>
              </a:path>
            </a:pathLst>
          </a:custGeom>
          <a:noFill/>
          <a:ln cap="flat" cmpd="sng" w="28575">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118" name="Shape 118"/>
          <p:cNvCxnSpPr/>
          <p:nvPr/>
        </p:nvCxnSpPr>
        <p:spPr>
          <a:xfrm>
            <a:off x="971550" y="4652962"/>
            <a:ext cx="2160586" cy="0"/>
          </a:xfrm>
          <a:prstGeom prst="straightConnector1">
            <a:avLst/>
          </a:prstGeom>
          <a:noFill/>
          <a:ln cap="flat" cmpd="sng" w="9525">
            <a:solidFill>
              <a:schemeClr val="dk1"/>
            </a:solidFill>
            <a:prstDash val="solid"/>
            <a:miter/>
            <a:headEnd len="med" w="med" type="none"/>
            <a:tailEnd len="med" w="med" type="none"/>
          </a:ln>
        </p:spPr>
      </p:cxnSp>
      <p:cxnSp>
        <p:nvCxnSpPr>
          <p:cNvPr id="119" name="Shape 119"/>
          <p:cNvCxnSpPr/>
          <p:nvPr/>
        </p:nvCxnSpPr>
        <p:spPr>
          <a:xfrm>
            <a:off x="3132136" y="4652962"/>
            <a:ext cx="0" cy="1081086"/>
          </a:xfrm>
          <a:prstGeom prst="straightConnector1">
            <a:avLst/>
          </a:prstGeom>
          <a:noFill/>
          <a:ln cap="flat" cmpd="sng" w="9525">
            <a:solidFill>
              <a:schemeClr val="dk1"/>
            </a:solidFill>
            <a:prstDash val="solid"/>
            <a:miter/>
            <a:headEnd len="med" w="med" type="none"/>
            <a:tailEnd len="med" w="med" type="none"/>
          </a:ln>
        </p:spPr>
      </p:cxnSp>
      <p:cxnSp>
        <p:nvCxnSpPr>
          <p:cNvPr id="120" name="Shape 120"/>
          <p:cNvCxnSpPr/>
          <p:nvPr/>
        </p:nvCxnSpPr>
        <p:spPr>
          <a:xfrm>
            <a:off x="971550" y="3716337"/>
            <a:ext cx="3095625" cy="0"/>
          </a:xfrm>
          <a:prstGeom prst="straightConnector1">
            <a:avLst/>
          </a:prstGeom>
          <a:noFill/>
          <a:ln cap="flat" cmpd="sng" w="9525">
            <a:solidFill>
              <a:schemeClr val="dk1"/>
            </a:solidFill>
            <a:prstDash val="solid"/>
            <a:miter/>
            <a:headEnd len="med" w="med" type="none"/>
            <a:tailEnd len="med" w="med" type="none"/>
          </a:ln>
        </p:spPr>
      </p:cxnSp>
      <p:cxnSp>
        <p:nvCxnSpPr>
          <p:cNvPr id="121" name="Shape 121"/>
          <p:cNvCxnSpPr/>
          <p:nvPr/>
        </p:nvCxnSpPr>
        <p:spPr>
          <a:xfrm>
            <a:off x="971550" y="4941887"/>
            <a:ext cx="2663824" cy="0"/>
          </a:xfrm>
          <a:prstGeom prst="straightConnector1">
            <a:avLst/>
          </a:prstGeom>
          <a:noFill/>
          <a:ln cap="flat" cmpd="sng" w="9525">
            <a:solidFill>
              <a:schemeClr val="dk1"/>
            </a:solidFill>
            <a:prstDash val="solid"/>
            <a:miter/>
            <a:headEnd len="med" w="med" type="none"/>
            <a:tailEnd len="med" w="med" type="none"/>
          </a:ln>
        </p:spPr>
      </p:cxnSp>
      <p:sp>
        <p:nvSpPr>
          <p:cNvPr id="122" name="Shape 122"/>
          <p:cNvSpPr txBox="1"/>
          <p:nvPr/>
        </p:nvSpPr>
        <p:spPr>
          <a:xfrm>
            <a:off x="0" y="141287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123" name="Shape 123"/>
          <p:cNvSpPr txBox="1"/>
          <p:nvPr/>
        </p:nvSpPr>
        <p:spPr>
          <a:xfrm>
            <a:off x="4572000" y="5661025"/>
            <a:ext cx="1274762" cy="5540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cxnSp>
        <p:nvCxnSpPr>
          <p:cNvPr id="124" name="Shape 124"/>
          <p:cNvCxnSpPr/>
          <p:nvPr/>
        </p:nvCxnSpPr>
        <p:spPr>
          <a:xfrm>
            <a:off x="2124075" y="3716337"/>
            <a:ext cx="1943100" cy="0"/>
          </a:xfrm>
          <a:prstGeom prst="straightConnector1">
            <a:avLst/>
          </a:prstGeom>
          <a:noFill/>
          <a:ln cap="flat" cmpd="sng" w="31750">
            <a:solidFill>
              <a:srgbClr val="FFCC00"/>
            </a:solidFill>
            <a:prstDash val="solid"/>
            <a:miter/>
            <a:headEnd len="med" w="med" type="none"/>
            <a:tailEnd len="med" w="med" type="none"/>
          </a:ln>
        </p:spPr>
      </p:cxnSp>
      <p:sp>
        <p:nvSpPr>
          <p:cNvPr id="125" name="Shape 125"/>
          <p:cNvSpPr txBox="1"/>
          <p:nvPr/>
        </p:nvSpPr>
        <p:spPr>
          <a:xfrm>
            <a:off x="3873500" y="1700211"/>
            <a:ext cx="914400"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OFERTA</a:t>
            </a:r>
          </a:p>
        </p:txBody>
      </p:sp>
      <p:sp>
        <p:nvSpPr>
          <p:cNvPr id="126" name="Shape 126"/>
          <p:cNvSpPr txBox="1"/>
          <p:nvPr/>
        </p:nvSpPr>
        <p:spPr>
          <a:xfrm>
            <a:off x="1476375" y="1628775"/>
            <a:ext cx="1223961"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DEMANDA</a:t>
            </a:r>
          </a:p>
        </p:txBody>
      </p:sp>
      <p:cxnSp>
        <p:nvCxnSpPr>
          <p:cNvPr id="127" name="Shape 127"/>
          <p:cNvCxnSpPr/>
          <p:nvPr/>
        </p:nvCxnSpPr>
        <p:spPr>
          <a:xfrm>
            <a:off x="2411411" y="4941887"/>
            <a:ext cx="1223961" cy="0"/>
          </a:xfrm>
          <a:prstGeom prst="straightConnector1">
            <a:avLst/>
          </a:prstGeom>
          <a:noFill/>
          <a:ln cap="flat" cmpd="sng" w="28575">
            <a:solidFill>
              <a:srgbClr val="FF0000"/>
            </a:solidFill>
            <a:prstDash val="solid"/>
            <a:miter/>
            <a:headEnd len="med" w="med" type="none"/>
            <a:tailEnd len="med" w="med" type="none"/>
          </a:ln>
        </p:spPr>
      </p:cxnSp>
      <p:sp>
        <p:nvSpPr>
          <p:cNvPr id="128" name="Shape 128"/>
          <p:cNvSpPr txBox="1"/>
          <p:nvPr/>
        </p:nvSpPr>
        <p:spPr>
          <a:xfrm>
            <a:off x="468312" y="4365625"/>
            <a:ext cx="75564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a:t>
            </a:r>
          </a:p>
        </p:txBody>
      </p:sp>
      <p:sp>
        <p:nvSpPr>
          <p:cNvPr id="129" name="Shape 129"/>
          <p:cNvSpPr txBox="1"/>
          <p:nvPr/>
        </p:nvSpPr>
        <p:spPr>
          <a:xfrm>
            <a:off x="2627311" y="566102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p>
        </p:txBody>
      </p:sp>
      <p:sp>
        <p:nvSpPr>
          <p:cNvPr id="130" name="Shape 130"/>
          <p:cNvSpPr txBox="1"/>
          <p:nvPr/>
        </p:nvSpPr>
        <p:spPr>
          <a:xfrm>
            <a:off x="2124075" y="3213100"/>
            <a:ext cx="1800225"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 no vendida</a:t>
            </a:r>
          </a:p>
        </p:txBody>
      </p:sp>
      <p:sp>
        <p:nvSpPr>
          <p:cNvPr id="131" name="Shape 131"/>
          <p:cNvSpPr txBox="1"/>
          <p:nvPr/>
        </p:nvSpPr>
        <p:spPr>
          <a:xfrm>
            <a:off x="2484436" y="4508500"/>
            <a:ext cx="2376487"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Demanda insatisfecha</a:t>
            </a:r>
          </a:p>
        </p:txBody>
      </p:sp>
      <p:sp>
        <p:nvSpPr>
          <p:cNvPr id="132" name="Shape 132"/>
          <p:cNvSpPr txBox="1"/>
          <p:nvPr/>
        </p:nvSpPr>
        <p:spPr>
          <a:xfrm>
            <a:off x="466725" y="4725987"/>
            <a:ext cx="649286" cy="35877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Pi</a:t>
            </a:r>
          </a:p>
        </p:txBody>
      </p:sp>
      <p:sp>
        <p:nvSpPr>
          <p:cNvPr id="133" name="Shape 133"/>
          <p:cNvSpPr txBox="1"/>
          <p:nvPr/>
        </p:nvSpPr>
        <p:spPr>
          <a:xfrm>
            <a:off x="466725" y="3429000"/>
            <a:ext cx="649286"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Ps</a:t>
            </a:r>
          </a:p>
        </p:txBody>
      </p:sp>
      <p:cxnSp>
        <p:nvCxnSpPr>
          <p:cNvPr id="134" name="Shape 134"/>
          <p:cNvCxnSpPr/>
          <p:nvPr/>
        </p:nvCxnSpPr>
        <p:spPr>
          <a:xfrm>
            <a:off x="2124075" y="3716337"/>
            <a:ext cx="0" cy="2017711"/>
          </a:xfrm>
          <a:prstGeom prst="straightConnector1">
            <a:avLst/>
          </a:prstGeom>
          <a:noFill/>
          <a:ln cap="flat" cmpd="sng" w="9525">
            <a:solidFill>
              <a:schemeClr val="dk1"/>
            </a:solidFill>
            <a:prstDash val="solid"/>
            <a:miter/>
            <a:headEnd len="med" w="med" type="none"/>
            <a:tailEnd len="med" w="med" type="none"/>
          </a:ln>
        </p:spPr>
      </p:cxnSp>
      <p:cxnSp>
        <p:nvCxnSpPr>
          <p:cNvPr id="135" name="Shape 135"/>
          <p:cNvCxnSpPr/>
          <p:nvPr/>
        </p:nvCxnSpPr>
        <p:spPr>
          <a:xfrm>
            <a:off x="2411411" y="4941887"/>
            <a:ext cx="0" cy="792162"/>
          </a:xfrm>
          <a:prstGeom prst="straightConnector1">
            <a:avLst/>
          </a:prstGeom>
          <a:noFill/>
          <a:ln cap="flat" cmpd="sng" w="9525">
            <a:solidFill>
              <a:schemeClr val="dk1"/>
            </a:solidFill>
            <a:prstDash val="solid"/>
            <a:miter/>
            <a:headEnd len="med" w="med" type="none"/>
            <a:tailEnd len="med" w="med" type="none"/>
          </a:ln>
        </p:spPr>
      </p:cxnSp>
      <p:sp>
        <p:nvSpPr>
          <p:cNvPr id="136" name="Shape 136"/>
          <p:cNvSpPr txBox="1"/>
          <p:nvPr/>
        </p:nvSpPr>
        <p:spPr>
          <a:xfrm>
            <a:off x="1497012" y="5589587"/>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Qds</a:t>
            </a:r>
          </a:p>
        </p:txBody>
      </p:sp>
      <p:sp>
        <p:nvSpPr>
          <p:cNvPr id="137" name="Shape 137"/>
          <p:cNvSpPr txBox="1"/>
          <p:nvPr/>
        </p:nvSpPr>
        <p:spPr>
          <a:xfrm>
            <a:off x="1979611" y="566102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Qoi</a:t>
            </a:r>
          </a:p>
        </p:txBody>
      </p:sp>
      <p:pic>
        <p:nvPicPr>
          <p:cNvPr id="138" name="Shape 138"/>
          <p:cNvPicPr preferRelativeResize="0"/>
          <p:nvPr>
            <p:ph idx="4294967295" type="body"/>
          </p:nvPr>
        </p:nvPicPr>
        <p:blipFill rotWithShape="1">
          <a:blip r:embed="rId3">
            <a:alphaModFix/>
          </a:blip>
          <a:srcRect b="0" l="0" r="0" t="0"/>
          <a:stretch/>
        </p:blipFill>
        <p:spPr>
          <a:xfrm>
            <a:off x="4932362" y="549275"/>
            <a:ext cx="3009899" cy="609599"/>
          </a:xfrm>
          <a:prstGeom prst="rect">
            <a:avLst/>
          </a:prstGeom>
          <a:noFill/>
          <a:ln>
            <a:noFill/>
          </a:ln>
        </p:spPr>
      </p:pic>
      <p:cxnSp>
        <p:nvCxnSpPr>
          <p:cNvPr id="139" name="Shape 139"/>
          <p:cNvCxnSpPr/>
          <p:nvPr/>
        </p:nvCxnSpPr>
        <p:spPr>
          <a:xfrm>
            <a:off x="4067175" y="3716337"/>
            <a:ext cx="0" cy="2017711"/>
          </a:xfrm>
          <a:prstGeom prst="straightConnector1">
            <a:avLst/>
          </a:prstGeom>
          <a:noFill/>
          <a:ln cap="flat" cmpd="sng" w="9525">
            <a:solidFill>
              <a:schemeClr val="dk1"/>
            </a:solidFill>
            <a:prstDash val="solid"/>
            <a:miter/>
            <a:headEnd len="med" w="med" type="none"/>
            <a:tailEnd len="med" w="med" type="none"/>
          </a:ln>
        </p:spPr>
      </p:cxnSp>
      <p:cxnSp>
        <p:nvCxnSpPr>
          <p:cNvPr id="140" name="Shape 140"/>
          <p:cNvCxnSpPr/>
          <p:nvPr/>
        </p:nvCxnSpPr>
        <p:spPr>
          <a:xfrm>
            <a:off x="3635375" y="4941887"/>
            <a:ext cx="0" cy="792162"/>
          </a:xfrm>
          <a:prstGeom prst="straightConnector1">
            <a:avLst/>
          </a:prstGeom>
          <a:noFill/>
          <a:ln cap="flat" cmpd="sng" w="9525">
            <a:solidFill>
              <a:schemeClr val="dk1"/>
            </a:solidFill>
            <a:prstDash val="solid"/>
            <a:miter/>
            <a:headEnd len="med" w="med" type="none"/>
            <a:tailEnd len="med" w="med" type="none"/>
          </a:ln>
        </p:spPr>
      </p:cxnSp>
      <p:sp>
        <p:nvSpPr>
          <p:cNvPr id="141" name="Shape 141"/>
          <p:cNvSpPr txBox="1"/>
          <p:nvPr/>
        </p:nvSpPr>
        <p:spPr>
          <a:xfrm>
            <a:off x="3132136" y="566102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Qdi</a:t>
            </a:r>
          </a:p>
        </p:txBody>
      </p:sp>
      <p:sp>
        <p:nvSpPr>
          <p:cNvPr id="142" name="Shape 142"/>
          <p:cNvSpPr txBox="1"/>
          <p:nvPr/>
        </p:nvSpPr>
        <p:spPr>
          <a:xfrm>
            <a:off x="3708400" y="5589587"/>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Qos</a:t>
            </a:r>
          </a:p>
        </p:txBody>
      </p:sp>
      <p:sp>
        <p:nvSpPr>
          <p:cNvPr id="143" name="Shape 143"/>
          <p:cNvSpPr/>
          <p:nvPr/>
        </p:nvSpPr>
        <p:spPr>
          <a:xfrm>
            <a:off x="1979611" y="3573462"/>
            <a:ext cx="301624" cy="301624"/>
          </a:xfrm>
          <a:prstGeom prst="sun">
            <a:avLst>
              <a:gd fmla="val 25000" name="adj"/>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4" name="Shape 144"/>
          <p:cNvSpPr/>
          <p:nvPr/>
        </p:nvSpPr>
        <p:spPr>
          <a:xfrm>
            <a:off x="2268536" y="4797425"/>
            <a:ext cx="280987" cy="280987"/>
          </a:xfrm>
          <a:prstGeom prst="sun">
            <a:avLst>
              <a:gd fmla="val 25000" name="adj"/>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48" name="Shape 148"/>
        <p:cNvGrpSpPr/>
        <p:nvPr/>
      </p:nvGrpSpPr>
      <p:grpSpPr>
        <a:xfrm>
          <a:off x="0" y="0"/>
          <a:ext cx="0" cy="0"/>
          <a:chOff x="0" y="0"/>
          <a:chExt cx="0" cy="0"/>
        </a:xfrm>
      </p:grpSpPr>
      <p:sp>
        <p:nvSpPr>
          <p:cNvPr id="149" name="Shape 149"/>
          <p:cNvSpPr txBox="1"/>
          <p:nvPr>
            <p:ph idx="4294967295" type="title"/>
          </p:nvPr>
        </p:nvSpPr>
        <p:spPr>
          <a:xfrm>
            <a:off x="0" y="404812"/>
            <a:ext cx="5095874" cy="1150936"/>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“LA MANO INVISIBLE”</a:t>
            </a:r>
            <a:br>
              <a:rPr b="1" i="0" lang="en-US" sz="3500" u="none" cap="none" strike="noStrike">
                <a:solidFill>
                  <a:schemeClr val="dk2"/>
                </a:solidFill>
                <a:latin typeface="Arial"/>
                <a:ea typeface="Arial"/>
                <a:cs typeface="Arial"/>
                <a:sym typeface="Arial"/>
              </a:rPr>
            </a:br>
            <a:r>
              <a:rPr b="1" i="0" lang="en-US" sz="1800" u="none" cap="none" strike="noStrike">
                <a:solidFill>
                  <a:schemeClr val="dk2"/>
                </a:solidFill>
                <a:latin typeface="Arial"/>
                <a:ea typeface="Arial"/>
                <a:cs typeface="Arial"/>
                <a:sym typeface="Arial"/>
              </a:rPr>
              <a:t> ADAM SMITH</a:t>
            </a:r>
          </a:p>
        </p:txBody>
      </p:sp>
      <p:sp>
        <p:nvSpPr>
          <p:cNvPr id="150" name="Shape 150"/>
          <p:cNvSpPr txBox="1"/>
          <p:nvPr>
            <p:ph idx="4294967295" type="body"/>
          </p:nvPr>
        </p:nvSpPr>
        <p:spPr>
          <a:xfrm>
            <a:off x="684212" y="1916111"/>
            <a:ext cx="7272336" cy="1422400"/>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ymbol"/>
              <a:buNone/>
            </a:pPr>
            <a:r>
              <a:rPr b="0" i="0" lang="en-US" sz="2200" u="none" cap="none" strike="noStrike">
                <a:solidFill>
                  <a:schemeClr val="dk1"/>
                </a:solidFill>
                <a:latin typeface="Arial"/>
                <a:ea typeface="Arial"/>
                <a:cs typeface="Arial"/>
                <a:sym typeface="Arial"/>
              </a:rPr>
              <a:t>Lo que encontramos es que en las </a:t>
            </a:r>
            <a:r>
              <a:rPr b="1" i="0" lang="en-US" sz="2200" u="none" cap="none" strike="noStrike">
                <a:solidFill>
                  <a:srgbClr val="EC1914"/>
                </a:solidFill>
                <a:latin typeface="Arial"/>
                <a:ea typeface="Arial"/>
                <a:cs typeface="Arial"/>
                <a:sym typeface="Arial"/>
              </a:rPr>
              <a:t>posiciones de desequilibrio,</a:t>
            </a:r>
            <a:r>
              <a:rPr b="0" i="0" lang="en-US" sz="2200" u="none" cap="none" strike="noStrike">
                <a:solidFill>
                  <a:schemeClr val="dk1"/>
                </a:solidFill>
                <a:latin typeface="Arial"/>
                <a:ea typeface="Arial"/>
                <a:cs typeface="Arial"/>
                <a:sym typeface="Arial"/>
              </a:rPr>
              <a:t> los productores o los consumidores no tienen incentivos para asignar de una manera optima los recursos tanto a la producción como al consumo.</a:t>
            </a:r>
          </a:p>
        </p:txBody>
      </p:sp>
      <p:sp>
        <p:nvSpPr>
          <p:cNvPr id="151" name="Shape 151"/>
          <p:cNvSpPr txBox="1"/>
          <p:nvPr/>
        </p:nvSpPr>
        <p:spPr>
          <a:xfrm>
            <a:off x="684212" y="4364037"/>
            <a:ext cx="7056437" cy="1944687"/>
          </a:xfrm>
          <a:prstGeom prst="rect">
            <a:avLst/>
          </a:prstGeom>
          <a:noFill/>
          <a:ln>
            <a:noFill/>
          </a:ln>
        </p:spPr>
        <p:txBody>
          <a:bodyPr anchorCtr="0" anchor="ctr" bIns="45700" lIns="91425" rIns="91425" tIns="45700">
            <a:noAutofit/>
          </a:bodyPr>
          <a:lstStyle/>
          <a:p>
            <a:pPr indent="0" lvl="1" marL="457200" marR="0" rtl="0" algn="l">
              <a:lnSpc>
                <a:spcPct val="100000"/>
              </a:lnSpc>
              <a:spcBef>
                <a:spcPts val="0"/>
              </a:spcBef>
              <a:spcAft>
                <a:spcPts val="0"/>
              </a:spcAft>
              <a:buClr>
                <a:srgbClr val="EC1914"/>
              </a:buClr>
              <a:buSzPct val="25000"/>
              <a:buFont typeface="Arial"/>
              <a:buNone/>
            </a:pPr>
            <a:r>
              <a:rPr b="1" i="0" lang="en-US" sz="3200" u="none" cap="none" strike="noStrike">
                <a:solidFill>
                  <a:srgbClr val="EC1914"/>
                </a:solidFill>
                <a:latin typeface="Arial"/>
                <a:ea typeface="Arial"/>
                <a:cs typeface="Arial"/>
                <a:sym typeface="Arial"/>
              </a:rPr>
              <a:t> “La Mano Invisible”conduce los </a:t>
            </a:r>
          </a:p>
          <a:p>
            <a:pPr indent="0" lvl="1" marL="457200" marR="0" rtl="0" algn="l">
              <a:lnSpc>
                <a:spcPct val="100000"/>
              </a:lnSpc>
              <a:spcBef>
                <a:spcPts val="0"/>
              </a:spcBef>
              <a:spcAft>
                <a:spcPts val="0"/>
              </a:spcAft>
              <a:buClr>
                <a:srgbClr val="EC1914"/>
              </a:buClr>
              <a:buSzPct val="25000"/>
              <a:buFont typeface="Arial"/>
              <a:buNone/>
            </a:pPr>
            <a:r>
              <a:rPr b="1" i="0" lang="en-US" sz="3200" u="none" cap="none" strike="noStrike">
                <a:solidFill>
                  <a:srgbClr val="EC1914"/>
                </a:solidFill>
                <a:latin typeface="Arial"/>
                <a:ea typeface="Arial"/>
                <a:cs typeface="Arial"/>
                <a:sym typeface="Arial"/>
              </a:rPr>
              <a:t>egoísmos, a la eficiencia social.</a:t>
            </a:r>
          </a:p>
        </p:txBody>
      </p:sp>
      <p:pic>
        <p:nvPicPr>
          <p:cNvPr id="152" name="Shape 152"/>
          <p:cNvPicPr preferRelativeResize="0"/>
          <p:nvPr>
            <p:ph idx="4294967295" type="body"/>
          </p:nvPr>
        </p:nvPicPr>
        <p:blipFill rotWithShape="1">
          <a:blip r:embed="rId3">
            <a:alphaModFix/>
          </a:blip>
          <a:srcRect b="0" l="0" r="0" t="0"/>
          <a:stretch/>
        </p:blipFill>
        <p:spPr>
          <a:xfrm>
            <a:off x="4932362" y="188911"/>
            <a:ext cx="3009899" cy="609599"/>
          </a:xfrm>
          <a:prstGeom prst="rect">
            <a:avLst/>
          </a:prstGeom>
          <a:noFill/>
          <a:ln>
            <a:noFill/>
          </a:ln>
        </p:spPr>
      </p:pic>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56" name="Shape 156"/>
        <p:cNvGrpSpPr/>
        <p:nvPr/>
      </p:nvGrpSpPr>
      <p:grpSpPr>
        <a:xfrm>
          <a:off x="0" y="0"/>
          <a:ext cx="0" cy="0"/>
          <a:chOff x="0" y="0"/>
          <a:chExt cx="0" cy="0"/>
        </a:xfrm>
      </p:grpSpPr>
      <p:sp>
        <p:nvSpPr>
          <p:cNvPr id="157" name="Shape 157"/>
          <p:cNvSpPr txBox="1"/>
          <p:nvPr>
            <p:ph idx="4294967295" type="title"/>
          </p:nvPr>
        </p:nvSpPr>
        <p:spPr>
          <a:xfrm>
            <a:off x="34925" y="44450"/>
            <a:ext cx="3168650" cy="158432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EQUILIBRIO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DEL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MERCADO</a:t>
            </a:r>
          </a:p>
        </p:txBody>
      </p:sp>
      <p:sp>
        <p:nvSpPr>
          <p:cNvPr id="158" name="Shape 158"/>
          <p:cNvSpPr txBox="1"/>
          <p:nvPr>
            <p:ph idx="4294967295" type="body"/>
          </p:nvPr>
        </p:nvSpPr>
        <p:spPr>
          <a:xfrm>
            <a:off x="457200" y="1719261"/>
            <a:ext cx="4038599" cy="44116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ymbol"/>
              <a:buNone/>
            </a:pPr>
            <a:r>
              <a:rPr b="0" i="0" lang="en-US" sz="2600" u="none" cap="none" strike="noStrike">
                <a:solidFill>
                  <a:schemeClr val="dk1"/>
                </a:solidFill>
                <a:latin typeface="Arial"/>
                <a:ea typeface="Arial"/>
                <a:cs typeface="Arial"/>
                <a:sym typeface="Arial"/>
              </a:rPr>
              <a:t>  </a:t>
            </a:r>
          </a:p>
        </p:txBody>
      </p:sp>
      <p:sp>
        <p:nvSpPr>
          <p:cNvPr id="159" name="Shape 159"/>
          <p:cNvSpPr/>
          <p:nvPr/>
        </p:nvSpPr>
        <p:spPr>
          <a:xfrm>
            <a:off x="971550" y="1628775"/>
            <a:ext cx="1586" cy="4330700"/>
          </a:xfrm>
          <a:custGeom>
            <a:pathLst>
              <a:path extrusionOk="0" h="2728" w="1">
                <a:moveTo>
                  <a:pt x="1" y="0"/>
                </a:moveTo>
                <a:lnTo>
                  <a:pt x="0" y="2728"/>
                </a:lnTo>
              </a:path>
            </a:pathLst>
          </a:custGeom>
          <a:no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160" name="Shape 160"/>
          <p:cNvCxnSpPr/>
          <p:nvPr/>
        </p:nvCxnSpPr>
        <p:spPr>
          <a:xfrm>
            <a:off x="827087" y="5734050"/>
            <a:ext cx="4032249" cy="0"/>
          </a:xfrm>
          <a:prstGeom prst="straightConnector1">
            <a:avLst/>
          </a:prstGeom>
          <a:noFill/>
          <a:ln cap="flat" cmpd="sng" w="9525">
            <a:solidFill>
              <a:schemeClr val="dk1"/>
            </a:solidFill>
            <a:prstDash val="solid"/>
            <a:miter/>
            <a:headEnd len="med" w="med" type="none"/>
            <a:tailEnd len="med" w="med" type="none"/>
          </a:ln>
        </p:spPr>
      </p:cxnSp>
      <p:sp>
        <p:nvSpPr>
          <p:cNvPr id="161" name="Shape 161"/>
          <p:cNvSpPr/>
          <p:nvPr/>
        </p:nvSpPr>
        <p:spPr>
          <a:xfrm>
            <a:off x="1116012" y="2060575"/>
            <a:ext cx="3635375" cy="3133725"/>
          </a:xfrm>
          <a:custGeom>
            <a:pathLst>
              <a:path extrusionOk="0" h="1974" w="2290">
                <a:moveTo>
                  <a:pt x="0" y="1974"/>
                </a:moveTo>
                <a:cubicBezTo>
                  <a:pt x="170" y="1958"/>
                  <a:pt x="334" y="1939"/>
                  <a:pt x="544" y="1883"/>
                </a:cubicBezTo>
                <a:cubicBezTo>
                  <a:pt x="754" y="1827"/>
                  <a:pt x="1057" y="1760"/>
                  <a:pt x="1261" y="1639"/>
                </a:cubicBezTo>
                <a:cubicBezTo>
                  <a:pt x="1465" y="1518"/>
                  <a:pt x="1619" y="1356"/>
                  <a:pt x="1769" y="1157"/>
                </a:cubicBezTo>
                <a:cubicBezTo>
                  <a:pt x="1919" y="958"/>
                  <a:pt x="2071" y="637"/>
                  <a:pt x="2158" y="444"/>
                </a:cubicBezTo>
                <a:cubicBezTo>
                  <a:pt x="2245" y="251"/>
                  <a:pt x="2263" y="92"/>
                  <a:pt x="2290" y="0"/>
                </a:cubicBezTo>
              </a:path>
            </a:pathLst>
          </a:custGeom>
          <a:noFill/>
          <a:ln cap="flat" cmpd="sng" w="2857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2" name="Shape 162"/>
          <p:cNvSpPr/>
          <p:nvPr/>
        </p:nvSpPr>
        <p:spPr>
          <a:xfrm>
            <a:off x="1331912" y="1844675"/>
            <a:ext cx="3549650" cy="3492500"/>
          </a:xfrm>
          <a:custGeom>
            <a:pathLst>
              <a:path extrusionOk="0" h="2200" w="2236">
                <a:moveTo>
                  <a:pt x="0" y="0"/>
                </a:moveTo>
                <a:cubicBezTo>
                  <a:pt x="17" y="69"/>
                  <a:pt x="57" y="277"/>
                  <a:pt x="104" y="416"/>
                </a:cubicBezTo>
                <a:cubicBezTo>
                  <a:pt x="151" y="555"/>
                  <a:pt x="194" y="675"/>
                  <a:pt x="284" y="831"/>
                </a:cubicBezTo>
                <a:cubicBezTo>
                  <a:pt x="374" y="987"/>
                  <a:pt x="496" y="1193"/>
                  <a:pt x="643" y="1350"/>
                </a:cubicBezTo>
                <a:cubicBezTo>
                  <a:pt x="790" y="1507"/>
                  <a:pt x="989" y="1657"/>
                  <a:pt x="1169" y="1775"/>
                </a:cubicBezTo>
                <a:cubicBezTo>
                  <a:pt x="1349" y="1893"/>
                  <a:pt x="1548" y="1987"/>
                  <a:pt x="1726" y="2058"/>
                </a:cubicBezTo>
                <a:cubicBezTo>
                  <a:pt x="1904" y="2129"/>
                  <a:pt x="2130" y="2171"/>
                  <a:pt x="2236" y="2200"/>
                </a:cubicBezTo>
              </a:path>
            </a:pathLst>
          </a:custGeom>
          <a:noFill/>
          <a:ln cap="flat" cmpd="sng" w="28575">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163" name="Shape 163"/>
          <p:cNvCxnSpPr/>
          <p:nvPr/>
        </p:nvCxnSpPr>
        <p:spPr>
          <a:xfrm>
            <a:off x="971550" y="4652962"/>
            <a:ext cx="2160586" cy="0"/>
          </a:xfrm>
          <a:prstGeom prst="straightConnector1">
            <a:avLst/>
          </a:prstGeom>
          <a:noFill/>
          <a:ln cap="flat" cmpd="sng" w="9525">
            <a:solidFill>
              <a:schemeClr val="dk1"/>
            </a:solidFill>
            <a:prstDash val="solid"/>
            <a:miter/>
            <a:headEnd len="med" w="med" type="none"/>
            <a:tailEnd len="med" w="med" type="stealth"/>
          </a:ln>
        </p:spPr>
      </p:cxnSp>
      <p:cxnSp>
        <p:nvCxnSpPr>
          <p:cNvPr id="164" name="Shape 164"/>
          <p:cNvCxnSpPr/>
          <p:nvPr/>
        </p:nvCxnSpPr>
        <p:spPr>
          <a:xfrm>
            <a:off x="3132136" y="4652962"/>
            <a:ext cx="0" cy="1081086"/>
          </a:xfrm>
          <a:prstGeom prst="straightConnector1">
            <a:avLst/>
          </a:prstGeom>
          <a:noFill/>
          <a:ln cap="flat" cmpd="sng" w="9525">
            <a:solidFill>
              <a:schemeClr val="dk1"/>
            </a:solidFill>
            <a:prstDash val="solid"/>
            <a:miter/>
            <a:headEnd len="med" w="med" type="none"/>
            <a:tailEnd len="med" w="med" type="stealth"/>
          </a:ln>
        </p:spPr>
      </p:cxnSp>
      <p:sp>
        <p:nvSpPr>
          <p:cNvPr id="165" name="Shape 165"/>
          <p:cNvSpPr txBox="1"/>
          <p:nvPr/>
        </p:nvSpPr>
        <p:spPr>
          <a:xfrm>
            <a:off x="0" y="141287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166" name="Shape 166"/>
          <p:cNvSpPr txBox="1"/>
          <p:nvPr/>
        </p:nvSpPr>
        <p:spPr>
          <a:xfrm>
            <a:off x="4572000" y="5661025"/>
            <a:ext cx="1274762" cy="5540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167" name="Shape 167"/>
          <p:cNvSpPr txBox="1"/>
          <p:nvPr/>
        </p:nvSpPr>
        <p:spPr>
          <a:xfrm>
            <a:off x="3873500" y="1700211"/>
            <a:ext cx="914400"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OFERTA</a:t>
            </a:r>
          </a:p>
        </p:txBody>
      </p:sp>
      <p:sp>
        <p:nvSpPr>
          <p:cNvPr id="168" name="Shape 168"/>
          <p:cNvSpPr txBox="1"/>
          <p:nvPr/>
        </p:nvSpPr>
        <p:spPr>
          <a:xfrm>
            <a:off x="1476375" y="1628775"/>
            <a:ext cx="1223961"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DEMANDA</a:t>
            </a:r>
          </a:p>
        </p:txBody>
      </p:sp>
      <p:sp>
        <p:nvSpPr>
          <p:cNvPr id="169" name="Shape 169"/>
          <p:cNvSpPr txBox="1"/>
          <p:nvPr/>
        </p:nvSpPr>
        <p:spPr>
          <a:xfrm>
            <a:off x="360362" y="4365625"/>
            <a:ext cx="75564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Peq.</a:t>
            </a:r>
          </a:p>
        </p:txBody>
      </p:sp>
      <p:sp>
        <p:nvSpPr>
          <p:cNvPr id="170" name="Shape 170"/>
          <p:cNvSpPr txBox="1"/>
          <p:nvPr/>
        </p:nvSpPr>
        <p:spPr>
          <a:xfrm>
            <a:off x="2700336" y="587692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Qeq.</a:t>
            </a:r>
          </a:p>
        </p:txBody>
      </p:sp>
      <p:sp>
        <p:nvSpPr>
          <p:cNvPr id="171" name="Shape 171"/>
          <p:cNvSpPr txBox="1"/>
          <p:nvPr/>
        </p:nvSpPr>
        <p:spPr>
          <a:xfrm>
            <a:off x="4464050" y="3068636"/>
            <a:ext cx="4284661" cy="1871662"/>
          </a:xfrm>
          <a:prstGeom prst="rect">
            <a:avLst/>
          </a:prstGeom>
          <a:solidFill>
            <a:srgbClr val="CCFFFF">
              <a:alpha val="19607"/>
            </a:srgbClr>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2400" u="none" cap="none" strike="noStrike">
                <a:solidFill>
                  <a:schemeClr val="dk1"/>
                </a:solidFill>
                <a:latin typeface="Arial"/>
                <a:ea typeface="Arial"/>
                <a:cs typeface="Arial"/>
                <a:sym typeface="Arial"/>
              </a:rPr>
              <a:t>El precio que determina el </a:t>
            </a:r>
          </a:p>
          <a:p>
            <a:pPr indent="0" lvl="0" marL="0" marR="0" rtl="0" algn="l">
              <a:lnSpc>
                <a:spcPct val="100000"/>
              </a:lnSpc>
              <a:spcBef>
                <a:spcPts val="0"/>
              </a:spcBef>
              <a:spcAft>
                <a:spcPts val="0"/>
              </a:spcAft>
              <a:buClr>
                <a:schemeClr val="dk1"/>
              </a:buClr>
              <a:buSzPct val="25000"/>
              <a:buFont typeface="Arial"/>
              <a:buNone/>
            </a:pPr>
            <a:r>
              <a:rPr b="1" i="0" lang="en-US" sz="2400" u="none" cap="none" strike="noStrike">
                <a:solidFill>
                  <a:schemeClr val="dk1"/>
                </a:solidFill>
                <a:latin typeface="Arial"/>
                <a:ea typeface="Arial"/>
                <a:cs typeface="Arial"/>
                <a:sym typeface="Arial"/>
              </a:rPr>
              <a:t>mercado es aquel cuya </a:t>
            </a:r>
          </a:p>
          <a:p>
            <a:pPr indent="0" lvl="0" marL="0" marR="0" rtl="0" algn="l">
              <a:lnSpc>
                <a:spcPct val="100000"/>
              </a:lnSpc>
              <a:spcBef>
                <a:spcPts val="0"/>
              </a:spcBef>
              <a:spcAft>
                <a:spcPts val="0"/>
              </a:spcAft>
              <a:buClr>
                <a:schemeClr val="dk1"/>
              </a:buClr>
              <a:buSzPct val="25000"/>
              <a:buFont typeface="Arial"/>
              <a:buNone/>
            </a:pPr>
            <a:r>
              <a:rPr b="1" i="0" lang="en-US" sz="2400" u="none" cap="none" strike="noStrike">
                <a:solidFill>
                  <a:schemeClr val="dk1"/>
                </a:solidFill>
                <a:latin typeface="Arial"/>
                <a:ea typeface="Arial"/>
                <a:cs typeface="Arial"/>
                <a:sym typeface="Arial"/>
              </a:rPr>
              <a:t>Demanda agota o vacía la</a:t>
            </a:r>
          </a:p>
          <a:p>
            <a:pPr indent="0" lvl="0" marL="0" marR="0" rtl="0" algn="l">
              <a:lnSpc>
                <a:spcPct val="100000"/>
              </a:lnSpc>
              <a:spcBef>
                <a:spcPts val="0"/>
              </a:spcBef>
              <a:spcAft>
                <a:spcPts val="0"/>
              </a:spcAft>
              <a:buClr>
                <a:schemeClr val="dk1"/>
              </a:buClr>
              <a:buSzPct val="25000"/>
              <a:buFont typeface="Arial"/>
              <a:buNone/>
            </a:pPr>
            <a:r>
              <a:rPr b="1" i="0" lang="en-US" sz="2400" u="none" cap="none" strike="noStrike">
                <a:solidFill>
                  <a:schemeClr val="dk1"/>
                </a:solidFill>
                <a:latin typeface="Arial"/>
                <a:ea typeface="Arial"/>
                <a:cs typeface="Arial"/>
                <a:sym typeface="Arial"/>
              </a:rPr>
              <a:t>oferta</a:t>
            </a:r>
          </a:p>
        </p:txBody>
      </p:sp>
      <p:pic>
        <p:nvPicPr>
          <p:cNvPr id="172" name="Shape 172"/>
          <p:cNvPicPr preferRelativeResize="0"/>
          <p:nvPr>
            <p:ph idx="4294967295" type="body"/>
          </p:nvPr>
        </p:nvPicPr>
        <p:blipFill rotWithShape="1">
          <a:blip r:embed="rId3">
            <a:alphaModFix/>
          </a:blip>
          <a:srcRect b="0" l="0" r="0" t="0"/>
          <a:stretch/>
        </p:blipFill>
        <p:spPr>
          <a:xfrm>
            <a:off x="4932362" y="404812"/>
            <a:ext cx="3009899" cy="609599"/>
          </a:xfrm>
          <a:prstGeom prst="rect">
            <a:avLst/>
          </a:prstGeom>
          <a:noFill/>
          <a:ln>
            <a:noFill/>
          </a:ln>
        </p:spPr>
      </p:pic>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76" name="Shape 176"/>
        <p:cNvGrpSpPr/>
        <p:nvPr/>
      </p:nvGrpSpPr>
      <p:grpSpPr>
        <a:xfrm>
          <a:off x="0" y="0"/>
          <a:ext cx="0" cy="0"/>
          <a:chOff x="0" y="0"/>
          <a:chExt cx="0" cy="0"/>
        </a:xfrm>
      </p:grpSpPr>
      <p:sp>
        <p:nvSpPr>
          <p:cNvPr id="177" name="Shape 177"/>
          <p:cNvSpPr txBox="1"/>
          <p:nvPr>
            <p:ph idx="4294967295" type="title"/>
          </p:nvPr>
        </p:nvSpPr>
        <p:spPr>
          <a:xfrm>
            <a:off x="169861" y="44450"/>
            <a:ext cx="2746374" cy="158432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CRITICAS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AL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MERCADO</a:t>
            </a:r>
          </a:p>
        </p:txBody>
      </p:sp>
      <p:sp>
        <p:nvSpPr>
          <p:cNvPr id="178" name="Shape 178"/>
          <p:cNvSpPr txBox="1"/>
          <p:nvPr>
            <p:ph idx="4294967295" type="body"/>
          </p:nvPr>
        </p:nvSpPr>
        <p:spPr>
          <a:xfrm>
            <a:off x="5070475" y="1719261"/>
            <a:ext cx="3749674" cy="4411661"/>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ymbol"/>
              <a:buNone/>
            </a:pPr>
            <a:r>
              <a:rPr b="0" i="1" lang="en-US" sz="2600" u="none" cap="none" strike="noStrike">
                <a:solidFill>
                  <a:srgbClr val="EC1914"/>
                </a:solidFill>
                <a:latin typeface="Arial"/>
                <a:ea typeface="Arial"/>
                <a:cs typeface="Arial"/>
                <a:sym typeface="Arial"/>
              </a:rPr>
              <a:t>El mercado premia con una renta adicional (excedentes) a los productores eficientes</a:t>
            </a:r>
          </a:p>
          <a:p>
            <a:pPr indent="-342900" lvl="0" marL="342900" marR="0" rtl="0" algn="l">
              <a:lnSpc>
                <a:spcPct val="90000"/>
              </a:lnSpc>
              <a:spcBef>
                <a:spcPts val="520"/>
              </a:spcBef>
              <a:spcAft>
                <a:spcPts val="0"/>
              </a:spcAft>
              <a:buClr>
                <a:schemeClr val="dk2"/>
              </a:buClr>
              <a:buSzPct val="25000"/>
              <a:buFont typeface="Noto Symbol"/>
              <a:buNone/>
            </a:pPr>
            <a:r>
              <a:rPr b="0" i="1" lang="en-US" sz="2600" u="none" cap="none" strike="noStrike">
                <a:solidFill>
                  <a:srgbClr val="EC1914"/>
                </a:solidFill>
                <a:latin typeface="Arial"/>
                <a:ea typeface="Arial"/>
                <a:cs typeface="Arial"/>
                <a:sym typeface="Arial"/>
              </a:rPr>
              <a:t>y a los consumidores de altos ingresos</a:t>
            </a:r>
            <a:r>
              <a:rPr b="0" i="0" lang="en-US" sz="2600" u="none" cap="none" strike="noStrike">
                <a:solidFill>
                  <a:schemeClr val="dk1"/>
                </a:solidFill>
                <a:latin typeface="Arial"/>
                <a:ea typeface="Arial"/>
                <a:cs typeface="Arial"/>
                <a:sym typeface="Arial"/>
              </a:rPr>
              <a:t> </a:t>
            </a:r>
          </a:p>
          <a:p>
            <a:pPr indent="-342900" lvl="0" marL="342900" marR="0" rtl="0" algn="l">
              <a:lnSpc>
                <a:spcPct val="90000"/>
              </a:lnSpc>
              <a:spcBef>
                <a:spcPts val="520"/>
              </a:spcBef>
              <a:spcAft>
                <a:spcPts val="0"/>
              </a:spcAft>
              <a:buClr>
                <a:schemeClr val="dk2"/>
              </a:buClr>
              <a:buSzPct val="25000"/>
              <a:buFont typeface="Noto Symbol"/>
              <a:buNone/>
            </a:pPr>
            <a:r>
              <a:rPr b="0" i="1" lang="en-US" sz="2600" u="none" cap="none" strike="noStrike">
                <a:solidFill>
                  <a:srgbClr val="4A23DB"/>
                </a:solidFill>
                <a:latin typeface="Arial"/>
                <a:ea typeface="Arial"/>
                <a:cs typeface="Arial"/>
                <a:sym typeface="Arial"/>
              </a:rPr>
              <a:t>El mercado expulsa a los consumidores de bajos ingresos y a los productores ineficientes.</a:t>
            </a:r>
          </a:p>
        </p:txBody>
      </p:sp>
      <p:cxnSp>
        <p:nvCxnSpPr>
          <p:cNvPr id="179" name="Shape 179"/>
          <p:cNvCxnSpPr/>
          <p:nvPr/>
        </p:nvCxnSpPr>
        <p:spPr>
          <a:xfrm>
            <a:off x="827087" y="6237287"/>
            <a:ext cx="4032249" cy="0"/>
          </a:xfrm>
          <a:prstGeom prst="straightConnector1">
            <a:avLst/>
          </a:prstGeom>
          <a:noFill/>
          <a:ln cap="flat" cmpd="sng" w="9525">
            <a:solidFill>
              <a:schemeClr val="dk1"/>
            </a:solidFill>
            <a:prstDash val="solid"/>
            <a:miter/>
            <a:headEnd len="med" w="med" type="none"/>
            <a:tailEnd len="med" w="med" type="none"/>
          </a:ln>
        </p:spPr>
      </p:cxnSp>
      <p:cxnSp>
        <p:nvCxnSpPr>
          <p:cNvPr id="180" name="Shape 180"/>
          <p:cNvCxnSpPr/>
          <p:nvPr/>
        </p:nvCxnSpPr>
        <p:spPr>
          <a:xfrm>
            <a:off x="3132136" y="4652962"/>
            <a:ext cx="0" cy="1584325"/>
          </a:xfrm>
          <a:prstGeom prst="straightConnector1">
            <a:avLst/>
          </a:prstGeom>
          <a:noFill/>
          <a:ln cap="flat" cmpd="sng" w="25400">
            <a:solidFill>
              <a:srgbClr val="000000"/>
            </a:solidFill>
            <a:prstDash val="solid"/>
            <a:miter/>
            <a:headEnd len="med" w="med" type="none"/>
            <a:tailEnd len="med" w="med" type="none"/>
          </a:ln>
        </p:spPr>
      </p:cxnSp>
      <p:sp>
        <p:nvSpPr>
          <p:cNvPr id="181" name="Shape 181"/>
          <p:cNvSpPr txBox="1"/>
          <p:nvPr/>
        </p:nvSpPr>
        <p:spPr>
          <a:xfrm>
            <a:off x="0" y="141287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182" name="Shape 182"/>
          <p:cNvSpPr txBox="1"/>
          <p:nvPr/>
        </p:nvSpPr>
        <p:spPr>
          <a:xfrm>
            <a:off x="4572000" y="6115050"/>
            <a:ext cx="1274762" cy="5540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183" name="Shape 183"/>
          <p:cNvSpPr txBox="1"/>
          <p:nvPr/>
        </p:nvSpPr>
        <p:spPr>
          <a:xfrm>
            <a:off x="3873500" y="1700211"/>
            <a:ext cx="914400"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OFERTA</a:t>
            </a:r>
          </a:p>
        </p:txBody>
      </p:sp>
      <p:sp>
        <p:nvSpPr>
          <p:cNvPr id="184" name="Shape 184"/>
          <p:cNvSpPr txBox="1"/>
          <p:nvPr/>
        </p:nvSpPr>
        <p:spPr>
          <a:xfrm>
            <a:off x="1476375" y="1628775"/>
            <a:ext cx="1223961"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DEMANDA</a:t>
            </a:r>
          </a:p>
        </p:txBody>
      </p:sp>
      <p:sp>
        <p:nvSpPr>
          <p:cNvPr id="185" name="Shape 185"/>
          <p:cNvSpPr txBox="1"/>
          <p:nvPr/>
        </p:nvSpPr>
        <p:spPr>
          <a:xfrm>
            <a:off x="360362" y="4365625"/>
            <a:ext cx="755649"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Peq.</a:t>
            </a:r>
          </a:p>
        </p:txBody>
      </p:sp>
      <p:sp>
        <p:nvSpPr>
          <p:cNvPr id="186" name="Shape 186"/>
          <p:cNvSpPr txBox="1"/>
          <p:nvPr/>
        </p:nvSpPr>
        <p:spPr>
          <a:xfrm>
            <a:off x="2700336" y="6165850"/>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Qeq.</a:t>
            </a:r>
          </a:p>
        </p:txBody>
      </p:sp>
      <p:sp>
        <p:nvSpPr>
          <p:cNvPr id="187" name="Shape 187"/>
          <p:cNvSpPr txBox="1"/>
          <p:nvPr/>
        </p:nvSpPr>
        <p:spPr>
          <a:xfrm>
            <a:off x="1692275" y="2708275"/>
            <a:ext cx="2447925" cy="576262"/>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EXCEDENTE DE LOS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CONSUMIDORES</a:t>
            </a:r>
          </a:p>
        </p:txBody>
      </p:sp>
      <p:sp>
        <p:nvSpPr>
          <p:cNvPr id="188" name="Shape 188"/>
          <p:cNvSpPr txBox="1"/>
          <p:nvPr/>
        </p:nvSpPr>
        <p:spPr>
          <a:xfrm>
            <a:off x="1260475" y="5157787"/>
            <a:ext cx="2447925" cy="574674"/>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EXCEDENTE DE LOS</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PRODUCTORES</a:t>
            </a:r>
          </a:p>
        </p:txBody>
      </p:sp>
      <p:sp>
        <p:nvSpPr>
          <p:cNvPr id="189" name="Shape 189"/>
          <p:cNvSpPr/>
          <p:nvPr/>
        </p:nvSpPr>
        <p:spPr>
          <a:xfrm>
            <a:off x="941387" y="1773236"/>
            <a:ext cx="2190750" cy="2897186"/>
          </a:xfrm>
          <a:custGeom>
            <a:pathLst>
              <a:path extrusionOk="0" h="1825" w="1380">
                <a:moveTo>
                  <a:pt x="19" y="396"/>
                </a:moveTo>
                <a:lnTo>
                  <a:pt x="9" y="1095"/>
                </a:lnTo>
                <a:lnTo>
                  <a:pt x="11" y="1463"/>
                </a:lnTo>
                <a:lnTo>
                  <a:pt x="0" y="1822"/>
                </a:lnTo>
                <a:lnTo>
                  <a:pt x="408" y="1820"/>
                </a:lnTo>
                <a:lnTo>
                  <a:pt x="878" y="1822"/>
                </a:lnTo>
                <a:lnTo>
                  <a:pt x="1380" y="1825"/>
                </a:lnTo>
                <a:lnTo>
                  <a:pt x="1258" y="1735"/>
                </a:lnTo>
                <a:lnTo>
                  <a:pt x="1126" y="1631"/>
                </a:lnTo>
                <a:lnTo>
                  <a:pt x="935" y="1463"/>
                </a:lnTo>
                <a:lnTo>
                  <a:pt x="692" y="1215"/>
                </a:lnTo>
                <a:lnTo>
                  <a:pt x="500" y="963"/>
                </a:lnTo>
                <a:lnTo>
                  <a:pt x="340" y="736"/>
                </a:lnTo>
                <a:lnTo>
                  <a:pt x="170" y="434"/>
                </a:lnTo>
                <a:lnTo>
                  <a:pt x="28" y="0"/>
                </a:lnTo>
                <a:lnTo>
                  <a:pt x="19" y="396"/>
                </a:lnTo>
                <a:close/>
              </a:path>
            </a:pathLst>
          </a:custGeom>
          <a:solidFill>
            <a:srgbClr val="CCFFFF"/>
          </a:solidFill>
          <a:ln cap="flat" cmpd="sng" w="28575">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0" name="Shape 190"/>
          <p:cNvSpPr/>
          <p:nvPr/>
        </p:nvSpPr>
        <p:spPr>
          <a:xfrm>
            <a:off x="900112" y="4652962"/>
            <a:ext cx="2260600" cy="623887"/>
          </a:xfrm>
          <a:custGeom>
            <a:pathLst>
              <a:path extrusionOk="0" h="393" w="1424">
                <a:moveTo>
                  <a:pt x="0" y="6"/>
                </a:moveTo>
                <a:lnTo>
                  <a:pt x="9" y="176"/>
                </a:lnTo>
                <a:lnTo>
                  <a:pt x="0" y="393"/>
                </a:lnTo>
                <a:lnTo>
                  <a:pt x="330" y="336"/>
                </a:lnTo>
                <a:lnTo>
                  <a:pt x="727" y="251"/>
                </a:lnTo>
                <a:lnTo>
                  <a:pt x="1067" y="157"/>
                </a:lnTo>
                <a:lnTo>
                  <a:pt x="1284" y="62"/>
                </a:lnTo>
                <a:lnTo>
                  <a:pt x="1424" y="0"/>
                </a:lnTo>
                <a:lnTo>
                  <a:pt x="1114" y="6"/>
                </a:lnTo>
                <a:lnTo>
                  <a:pt x="652" y="6"/>
                </a:lnTo>
                <a:lnTo>
                  <a:pt x="330" y="6"/>
                </a:lnTo>
                <a:lnTo>
                  <a:pt x="0" y="6"/>
                </a:lnTo>
                <a:close/>
              </a:path>
            </a:pathLst>
          </a:custGeom>
          <a:solidFill>
            <a:srgbClr val="FF0000"/>
          </a:solidFill>
          <a:ln cap="flat" cmpd="sng" w="15875">
            <a:solidFill>
              <a:schemeClr val="lt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1" name="Shape 191"/>
          <p:cNvSpPr/>
          <p:nvPr/>
        </p:nvSpPr>
        <p:spPr>
          <a:xfrm>
            <a:off x="971550" y="1773236"/>
            <a:ext cx="3805237" cy="3552825"/>
          </a:xfrm>
          <a:custGeom>
            <a:pathLst>
              <a:path extrusionOk="0" h="2238" w="2442">
                <a:moveTo>
                  <a:pt x="0" y="0"/>
                </a:moveTo>
                <a:cubicBezTo>
                  <a:pt x="29" y="78"/>
                  <a:pt x="93" y="313"/>
                  <a:pt x="172" y="469"/>
                </a:cubicBezTo>
                <a:cubicBezTo>
                  <a:pt x="251" y="625"/>
                  <a:pt x="359" y="781"/>
                  <a:pt x="472" y="934"/>
                </a:cubicBezTo>
                <a:cubicBezTo>
                  <a:pt x="585" y="1087"/>
                  <a:pt x="699" y="1242"/>
                  <a:pt x="849" y="1388"/>
                </a:cubicBezTo>
                <a:cubicBezTo>
                  <a:pt x="999" y="1534"/>
                  <a:pt x="1195" y="1695"/>
                  <a:pt x="1375" y="1813"/>
                </a:cubicBezTo>
                <a:cubicBezTo>
                  <a:pt x="1555" y="1931"/>
                  <a:pt x="1754" y="2025"/>
                  <a:pt x="1932" y="2096"/>
                </a:cubicBezTo>
                <a:cubicBezTo>
                  <a:pt x="2110" y="2167"/>
                  <a:pt x="2336" y="2209"/>
                  <a:pt x="2442" y="2238"/>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2" name="Shape 192"/>
          <p:cNvSpPr/>
          <p:nvPr/>
        </p:nvSpPr>
        <p:spPr>
          <a:xfrm>
            <a:off x="971550" y="2060575"/>
            <a:ext cx="3792537" cy="3186111"/>
          </a:xfrm>
          <a:custGeom>
            <a:pathLst>
              <a:path extrusionOk="0" h="2007" w="2389">
                <a:moveTo>
                  <a:pt x="0" y="2007"/>
                </a:moveTo>
                <a:cubicBezTo>
                  <a:pt x="107" y="1986"/>
                  <a:pt x="416" y="1944"/>
                  <a:pt x="643" y="1883"/>
                </a:cubicBezTo>
                <a:cubicBezTo>
                  <a:pt x="870" y="1822"/>
                  <a:pt x="1156" y="1760"/>
                  <a:pt x="1360" y="1639"/>
                </a:cubicBezTo>
                <a:cubicBezTo>
                  <a:pt x="1564" y="1518"/>
                  <a:pt x="1718" y="1356"/>
                  <a:pt x="1868" y="1157"/>
                </a:cubicBezTo>
                <a:cubicBezTo>
                  <a:pt x="2018" y="958"/>
                  <a:pt x="2170" y="637"/>
                  <a:pt x="2257" y="444"/>
                </a:cubicBezTo>
                <a:cubicBezTo>
                  <a:pt x="2344" y="251"/>
                  <a:pt x="2362" y="92"/>
                  <a:pt x="2389" y="0"/>
                </a:cubicBezTo>
              </a:path>
            </a:pathLst>
          </a:custGeom>
          <a:noFill/>
          <a:ln cap="flat" cmpd="sng" w="28575">
            <a:solidFill>
              <a:srgbClr val="00FF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3" name="Shape 193"/>
          <p:cNvSpPr/>
          <p:nvPr/>
        </p:nvSpPr>
        <p:spPr>
          <a:xfrm>
            <a:off x="900112" y="1557337"/>
            <a:ext cx="73025" cy="4762499"/>
          </a:xfrm>
          <a:custGeom>
            <a:pathLst>
              <a:path extrusionOk="0" h="2728" w="1">
                <a:moveTo>
                  <a:pt x="1" y="0"/>
                </a:moveTo>
                <a:lnTo>
                  <a:pt x="0" y="2728"/>
                </a:lnTo>
              </a:path>
            </a:pathLst>
          </a:custGeom>
          <a:noFill/>
          <a:ln cap="flat" cmpd="sng" w="2540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194" name="Shape 194"/>
          <p:cNvCxnSpPr/>
          <p:nvPr/>
        </p:nvCxnSpPr>
        <p:spPr>
          <a:xfrm>
            <a:off x="971550" y="4652962"/>
            <a:ext cx="2160586" cy="0"/>
          </a:xfrm>
          <a:prstGeom prst="straightConnector1">
            <a:avLst/>
          </a:prstGeom>
          <a:noFill/>
          <a:ln cap="flat" cmpd="sng" w="34925">
            <a:solidFill>
              <a:srgbClr val="000000"/>
            </a:solidFill>
            <a:prstDash val="solid"/>
            <a:miter/>
            <a:headEnd len="med" w="med" type="none"/>
            <a:tailEnd len="med" w="med" type="none"/>
          </a:ln>
        </p:spPr>
      </p:cxnSp>
      <p:pic>
        <p:nvPicPr>
          <p:cNvPr id="195" name="Shape 195"/>
          <p:cNvPicPr preferRelativeResize="0"/>
          <p:nvPr>
            <p:ph idx="4294967295" type="body"/>
          </p:nvPr>
        </p:nvPicPr>
        <p:blipFill rotWithShape="1">
          <a:blip r:embed="rId3">
            <a:alphaModFix/>
          </a:blip>
          <a:srcRect b="0" l="0" r="0" t="0"/>
          <a:stretch/>
        </p:blipFill>
        <p:spPr>
          <a:xfrm>
            <a:off x="4932362" y="620712"/>
            <a:ext cx="3009899" cy="609599"/>
          </a:xfrm>
          <a:prstGeom prst="rect">
            <a:avLst/>
          </a:prstGeom>
          <a:noFill/>
          <a:ln>
            <a:noFill/>
          </a:ln>
        </p:spPr>
      </p:pic>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99" name="Shape 199"/>
        <p:cNvGrpSpPr/>
        <p:nvPr/>
      </p:nvGrpSpPr>
      <p:grpSpPr>
        <a:xfrm>
          <a:off x="0" y="0"/>
          <a:ext cx="0" cy="0"/>
          <a:chOff x="0" y="0"/>
          <a:chExt cx="0" cy="0"/>
        </a:xfrm>
      </p:grpSpPr>
      <p:sp>
        <p:nvSpPr>
          <p:cNvPr id="200" name="Shape 200"/>
          <p:cNvSpPr txBox="1"/>
          <p:nvPr>
            <p:ph idx="4294967295" type="title"/>
          </p:nvPr>
        </p:nvSpPr>
        <p:spPr>
          <a:xfrm>
            <a:off x="107950" y="115886"/>
            <a:ext cx="3816349" cy="1728787"/>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DISTORSIONES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DE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PRECIOS</a:t>
            </a:r>
          </a:p>
        </p:txBody>
      </p:sp>
      <p:sp>
        <p:nvSpPr>
          <p:cNvPr id="201" name="Shape 201"/>
          <p:cNvSpPr txBox="1"/>
          <p:nvPr>
            <p:ph idx="4294967295" type="body"/>
          </p:nvPr>
        </p:nvSpPr>
        <p:spPr>
          <a:xfrm>
            <a:off x="539750" y="2295525"/>
            <a:ext cx="7993062" cy="2212974"/>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0" i="0" lang="en-US" sz="2800" u="none" cap="none" strike="noStrike">
                <a:solidFill>
                  <a:schemeClr val="dk1"/>
                </a:solidFill>
                <a:latin typeface="Arial"/>
                <a:ea typeface="Arial"/>
                <a:cs typeface="Arial"/>
                <a:sym typeface="Arial"/>
              </a:rPr>
              <a:t>En competencia perfecta, </a:t>
            </a:r>
            <a:r>
              <a:rPr b="1" i="0" lang="en-US" sz="2800" u="none" cap="none" strike="noStrike">
                <a:solidFill>
                  <a:srgbClr val="EC1914"/>
                </a:solidFill>
                <a:latin typeface="Arial"/>
                <a:ea typeface="Arial"/>
                <a:cs typeface="Arial"/>
                <a:sym typeface="Arial"/>
              </a:rPr>
              <a:t>el precio</a:t>
            </a:r>
            <a:r>
              <a:rPr b="0" i="0" lang="en-US" sz="2800" u="none" cap="none" strike="noStrike">
                <a:solidFill>
                  <a:schemeClr val="dk1"/>
                </a:solidFill>
                <a:latin typeface="Arial"/>
                <a:ea typeface="Arial"/>
                <a:cs typeface="Arial"/>
                <a:sym typeface="Arial"/>
              </a:rPr>
              <a:t> reflejará las utilidades marginales privada y social del bien, y los costos marginales privado y social del mismo.</a:t>
            </a:r>
          </a:p>
          <a:p>
            <a:pPr indent="-342900" lvl="0" marL="342900" marR="0" rtl="0" algn="l">
              <a:lnSpc>
                <a:spcPct val="80000"/>
              </a:lnSpc>
              <a:spcBef>
                <a:spcPts val="560"/>
              </a:spcBef>
              <a:spcAft>
                <a:spcPts val="0"/>
              </a:spcAft>
              <a:buClr>
                <a:schemeClr val="dk2"/>
              </a:buClr>
              <a:buSzPct val="25000"/>
              <a:buFont typeface="Noto Symbol"/>
              <a:buNone/>
            </a:pPr>
            <a:r>
              <a:t/>
            </a:r>
            <a:endParaRPr b="0" i="0" sz="2800" u="none" cap="none" strike="noStrike">
              <a:solidFill>
                <a:schemeClr val="dk1"/>
              </a:solidFill>
              <a:latin typeface="Arial"/>
              <a:ea typeface="Arial"/>
              <a:cs typeface="Arial"/>
              <a:sym typeface="Arial"/>
            </a:endParaRPr>
          </a:p>
          <a:p>
            <a:pPr indent="-342900" lvl="0" marL="342900" marR="0" rtl="0" algn="l">
              <a:lnSpc>
                <a:spcPct val="80000"/>
              </a:lnSpc>
              <a:spcBef>
                <a:spcPts val="400"/>
              </a:spcBef>
              <a:spcAft>
                <a:spcPts val="0"/>
              </a:spcAft>
              <a:buClr>
                <a:schemeClr val="dk2"/>
              </a:buClr>
              <a:buSzPct val="25000"/>
              <a:buFont typeface="Noto Symbol"/>
              <a:buNone/>
            </a:pPr>
            <a:r>
              <a:rPr b="1" i="1" lang="en-US" sz="2000" u="none" cap="none" strike="noStrike">
                <a:solidFill>
                  <a:srgbClr val="4A23DB"/>
                </a:solidFill>
                <a:latin typeface="Arial"/>
                <a:ea typeface="Arial"/>
                <a:cs typeface="Arial"/>
                <a:sym typeface="Arial"/>
              </a:rPr>
              <a:t>LOS PRECIOS SON SEÑALES QUE GUÍAN LAS ACCIONES DE PRODUCTORES Y CONSUMIDORES</a:t>
            </a:r>
          </a:p>
        </p:txBody>
      </p:sp>
      <p:sp>
        <p:nvSpPr>
          <p:cNvPr id="202" name="Shape 202"/>
          <p:cNvSpPr txBox="1"/>
          <p:nvPr/>
        </p:nvSpPr>
        <p:spPr>
          <a:xfrm>
            <a:off x="395287" y="5157787"/>
            <a:ext cx="8424862" cy="1223961"/>
          </a:xfrm>
          <a:prstGeom prst="rect">
            <a:avLst/>
          </a:prstGeom>
          <a:no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1"/>
              </a:buClr>
              <a:buSzPct val="25000"/>
              <a:buFont typeface="Arial"/>
              <a:buNone/>
            </a:pPr>
            <a:r>
              <a:rPr b="0" i="0" lang="en-US" sz="3200" u="none" cap="none" strike="noStrike">
                <a:solidFill>
                  <a:schemeClr val="dk1"/>
                </a:solidFill>
                <a:latin typeface="Arial"/>
                <a:ea typeface="Arial"/>
                <a:cs typeface="Arial"/>
                <a:sym typeface="Arial"/>
              </a:rPr>
              <a:t>La realidad nos ofrece un amplio abanico de </a:t>
            </a:r>
            <a:r>
              <a:rPr b="1" i="0" lang="en-US" sz="3200" u="none" cap="none" strike="noStrike">
                <a:solidFill>
                  <a:srgbClr val="EC1914"/>
                </a:solidFill>
                <a:latin typeface="Arial"/>
                <a:ea typeface="Arial"/>
                <a:cs typeface="Arial"/>
                <a:sym typeface="Arial"/>
              </a:rPr>
              <a:t>fuentes de distorsión</a:t>
            </a:r>
            <a:r>
              <a:rPr b="0" i="0" lang="en-US" sz="3200" u="none" cap="none" strike="noStrike">
                <a:solidFill>
                  <a:schemeClr val="dk1"/>
                </a:solidFill>
                <a:latin typeface="Arial"/>
                <a:ea typeface="Arial"/>
                <a:cs typeface="Arial"/>
                <a:sym typeface="Arial"/>
              </a:rPr>
              <a:t> de las señales del mercado </a:t>
            </a:r>
          </a:p>
        </p:txBody>
      </p:sp>
      <p:pic>
        <p:nvPicPr>
          <p:cNvPr id="203" name="Shape 203"/>
          <p:cNvPicPr preferRelativeResize="0"/>
          <p:nvPr>
            <p:ph idx="4294967295" type="body"/>
          </p:nvPr>
        </p:nvPicPr>
        <p:blipFill rotWithShape="1">
          <a:blip r:embed="rId3">
            <a:alphaModFix/>
          </a:blip>
          <a:srcRect b="0" l="0" r="0" t="0"/>
          <a:stretch/>
        </p:blipFill>
        <p:spPr>
          <a:xfrm>
            <a:off x="4932362" y="476250"/>
            <a:ext cx="3009899" cy="609599"/>
          </a:xfrm>
          <a:prstGeom prst="rect">
            <a:avLst/>
          </a:prstGeom>
          <a:noFill/>
          <a:ln>
            <a:noFill/>
          </a:ln>
        </p:spPr>
      </p:pic>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07" name="Shape 207"/>
        <p:cNvGrpSpPr/>
        <p:nvPr/>
      </p:nvGrpSpPr>
      <p:grpSpPr>
        <a:xfrm>
          <a:off x="0" y="0"/>
          <a:ext cx="0" cy="0"/>
          <a:chOff x="0" y="0"/>
          <a:chExt cx="0" cy="0"/>
        </a:xfrm>
      </p:grpSpPr>
      <p:sp>
        <p:nvSpPr>
          <p:cNvPr id="208" name="Shape 208"/>
          <p:cNvSpPr txBox="1"/>
          <p:nvPr>
            <p:ph idx="4294967295" type="title"/>
          </p:nvPr>
        </p:nvSpPr>
        <p:spPr>
          <a:xfrm>
            <a:off x="34925" y="115886"/>
            <a:ext cx="3249612" cy="158432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FUENTES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DE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DISTORSIÓN</a:t>
            </a:r>
          </a:p>
        </p:txBody>
      </p:sp>
      <p:sp>
        <p:nvSpPr>
          <p:cNvPr id="209" name="Shape 209"/>
          <p:cNvSpPr txBox="1"/>
          <p:nvPr>
            <p:ph idx="4294967295" type="body"/>
          </p:nvPr>
        </p:nvSpPr>
        <p:spPr>
          <a:xfrm>
            <a:off x="395287" y="1862136"/>
            <a:ext cx="8497886" cy="4662487"/>
          </a:xfrm>
          <a:prstGeom prst="rect">
            <a:avLst/>
          </a:prstGeom>
          <a:noFill/>
          <a:ln>
            <a:noFill/>
          </a:ln>
        </p:spPr>
        <p:txBody>
          <a:bodyPr anchorCtr="0" anchor="t" bIns="45700" lIns="91425" rIns="91425" tIns="45700">
            <a:noAutofit/>
          </a:bodyPr>
          <a:lstStyle/>
          <a:p>
            <a:pPr indent="-342900" lvl="0" marL="342900" marR="0" rtl="0" algn="l">
              <a:lnSpc>
                <a:spcPct val="110000"/>
              </a:lnSpc>
              <a:spcBef>
                <a:spcPts val="0"/>
              </a:spcBef>
              <a:spcAft>
                <a:spcPts val="0"/>
              </a:spcAft>
              <a:buClr>
                <a:schemeClr val="dk2"/>
              </a:buClr>
              <a:buSzPct val="25000"/>
              <a:buFont typeface="Noto Symbol"/>
              <a:buNone/>
            </a:pPr>
            <a:r>
              <a:rPr b="1" i="0" lang="en-US" sz="1800" u="none" cap="none" strike="noStrike">
                <a:solidFill>
                  <a:schemeClr val="dk1"/>
                </a:solidFill>
                <a:latin typeface="Arial"/>
                <a:ea typeface="Arial"/>
                <a:cs typeface="Arial"/>
                <a:sym typeface="Arial"/>
              </a:rPr>
              <a:t>Las principales fuentes de distorsión de precios se producen con las políticas de intervención que a menudo utiliza el estado en su afán recaudatorio o de redistribución de la riqueza y que podemos sintetizar en: </a:t>
            </a:r>
          </a:p>
          <a:p>
            <a:pPr indent="-342900" lvl="0" marL="342900" marR="0" rtl="0" algn="l">
              <a:lnSpc>
                <a:spcPct val="110000"/>
              </a:lnSpc>
              <a:spcBef>
                <a:spcPts val="360"/>
              </a:spcBef>
              <a:spcAft>
                <a:spcPts val="0"/>
              </a:spcAft>
              <a:buClr>
                <a:schemeClr val="dk2"/>
              </a:buClr>
              <a:buSzPct val="70000"/>
              <a:buFont typeface="Noto Symbol"/>
              <a:buChar char="●"/>
            </a:pPr>
            <a:r>
              <a:rPr b="1" i="0" lang="en-US" sz="1800" u="none" cap="none" strike="noStrike">
                <a:solidFill>
                  <a:schemeClr val="dk1"/>
                </a:solidFill>
                <a:latin typeface="Arial"/>
                <a:ea typeface="Arial"/>
                <a:cs typeface="Arial"/>
                <a:sym typeface="Arial"/>
              </a:rPr>
              <a:t>    Los impuestos al consumo</a:t>
            </a:r>
          </a:p>
          <a:p>
            <a:pPr indent="-342900" lvl="0" marL="342900" marR="0" rtl="0" algn="l">
              <a:lnSpc>
                <a:spcPct val="110000"/>
              </a:lnSpc>
              <a:spcBef>
                <a:spcPts val="320"/>
              </a:spcBef>
              <a:spcAft>
                <a:spcPts val="0"/>
              </a:spcAft>
              <a:buClr>
                <a:schemeClr val="dk2"/>
              </a:buClr>
              <a:buSzPct val="25000"/>
              <a:buFont typeface="Noto Symbol"/>
              <a:buNone/>
            </a:pPr>
            <a:r>
              <a:rPr b="1" i="0" lang="en-US" sz="1600" u="none" cap="none" strike="noStrike">
                <a:solidFill>
                  <a:srgbClr val="EC1914"/>
                </a:solidFill>
                <a:latin typeface="Arial"/>
                <a:ea typeface="Arial"/>
                <a:cs typeface="Arial"/>
                <a:sym typeface="Arial"/>
              </a:rPr>
              <a:t>Este tipo de impuesto, aumenta el precio final del bien gravado, produce un efecto regresivo, ya que la mayor parte de la carga del impuesto recae sobre el sector de la población de menos recursos.</a:t>
            </a:r>
            <a:r>
              <a:rPr b="0" i="0" lang="en-US" sz="1600" u="none" cap="none" strike="noStrike">
                <a:solidFill>
                  <a:srgbClr val="EC1914"/>
                </a:solidFill>
                <a:latin typeface="Arial"/>
                <a:ea typeface="Arial"/>
                <a:cs typeface="Arial"/>
                <a:sym typeface="Arial"/>
              </a:rPr>
              <a:t> </a:t>
            </a:r>
          </a:p>
          <a:p>
            <a:pPr indent="-342900" lvl="0" marL="342900" marR="0" rtl="0" algn="l">
              <a:lnSpc>
                <a:spcPct val="100000"/>
              </a:lnSpc>
              <a:spcBef>
                <a:spcPts val="360"/>
              </a:spcBef>
              <a:spcAft>
                <a:spcPts val="0"/>
              </a:spcAft>
              <a:buClr>
                <a:schemeClr val="dk2"/>
              </a:buClr>
              <a:buSzPct val="70000"/>
              <a:buFont typeface="Noto Symbol"/>
              <a:buChar char="●"/>
            </a:pPr>
            <a:r>
              <a:rPr b="1" i="0" lang="en-US" sz="1800" u="none" cap="none" strike="noStrike">
                <a:solidFill>
                  <a:schemeClr val="dk1"/>
                </a:solidFill>
                <a:latin typeface="Arial"/>
                <a:ea typeface="Arial"/>
                <a:cs typeface="Arial"/>
                <a:sym typeface="Arial"/>
              </a:rPr>
              <a:t>    Los subsidios. </a:t>
            </a:r>
            <a:br>
              <a:rPr b="0" i="0" lang="en-US" sz="1100" u="none" cap="none" strike="noStrike">
                <a:solidFill>
                  <a:schemeClr val="dk1"/>
                </a:solidFill>
                <a:latin typeface="Arial"/>
                <a:ea typeface="Arial"/>
                <a:cs typeface="Arial"/>
                <a:sym typeface="Arial"/>
              </a:rPr>
            </a:br>
            <a:r>
              <a:rPr b="1" i="0" lang="en-US" sz="1600" u="none" cap="none" strike="noStrike">
                <a:solidFill>
                  <a:schemeClr val="dk2"/>
                </a:solidFill>
                <a:latin typeface="Arial"/>
                <a:ea typeface="Arial"/>
                <a:cs typeface="Arial"/>
                <a:sym typeface="Arial"/>
              </a:rPr>
              <a:t>Los subsidios se aplican para estimular artificialmente el consumo o la producción de un bien o servicio, generalmente la aplicación de subsidios específicos al consumo o a la producción de un bien cualquiera tiene su origen en la intención del estado de alcanzar metas sociales, o bien para favorecer a determinadas personas, actividades o zonas de un país, también suele otorgarse desde el estado a las empresas privadas, con el fin de evitar que posibles aumentos de precios lleguen a los consumidores finales de los productos o servicios que ellas proveen.</a:t>
            </a:r>
          </a:p>
        </p:txBody>
      </p:sp>
      <p:pic>
        <p:nvPicPr>
          <p:cNvPr id="210" name="Shape 210"/>
          <p:cNvPicPr preferRelativeResize="0"/>
          <p:nvPr>
            <p:ph idx="4294967295" type="body"/>
          </p:nvPr>
        </p:nvPicPr>
        <p:blipFill rotWithShape="1">
          <a:blip r:embed="rId3">
            <a:alphaModFix/>
          </a:blip>
          <a:srcRect b="0" l="0" r="0" t="0"/>
          <a:stretch/>
        </p:blipFill>
        <p:spPr>
          <a:xfrm>
            <a:off x="4932362" y="404812"/>
            <a:ext cx="3009899" cy="609599"/>
          </a:xfrm>
          <a:prstGeom prst="rect">
            <a:avLst/>
          </a:prstGeom>
          <a:noFill/>
          <a:ln>
            <a:noFill/>
          </a:ln>
        </p:spPr>
      </p:pic>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14" name="Shape 214"/>
        <p:cNvGrpSpPr/>
        <p:nvPr/>
      </p:nvGrpSpPr>
      <p:grpSpPr>
        <a:xfrm>
          <a:off x="0" y="0"/>
          <a:ext cx="0" cy="0"/>
          <a:chOff x="0" y="0"/>
          <a:chExt cx="0" cy="0"/>
        </a:xfrm>
      </p:grpSpPr>
      <p:sp>
        <p:nvSpPr>
          <p:cNvPr id="215" name="Shape 215"/>
          <p:cNvSpPr txBox="1"/>
          <p:nvPr>
            <p:ph idx="4294967295" type="title"/>
          </p:nvPr>
        </p:nvSpPr>
        <p:spPr>
          <a:xfrm>
            <a:off x="34925" y="44450"/>
            <a:ext cx="8281986" cy="720724"/>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LOS IMPUESTOS AL CONSUMO</a:t>
            </a:r>
          </a:p>
        </p:txBody>
      </p:sp>
      <p:sp>
        <p:nvSpPr>
          <p:cNvPr id="216" name="Shape 216"/>
          <p:cNvSpPr txBox="1"/>
          <p:nvPr>
            <p:ph idx="4294967295" type="body"/>
          </p:nvPr>
        </p:nvSpPr>
        <p:spPr>
          <a:xfrm>
            <a:off x="179386" y="1719261"/>
            <a:ext cx="8496299" cy="4411661"/>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ymbol"/>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90000"/>
              </a:lnSpc>
              <a:spcBef>
                <a:spcPts val="520"/>
              </a:spcBef>
              <a:spcAft>
                <a:spcPts val="0"/>
              </a:spcAft>
              <a:buClr>
                <a:schemeClr val="dk2"/>
              </a:buClr>
              <a:buSzPct val="25000"/>
              <a:buFont typeface="Noto Symbol"/>
              <a:buNone/>
            </a:pPr>
            <a:r>
              <a:rPr b="0" i="0" lang="en-US" sz="2600" u="none" cap="none" strike="noStrike">
                <a:solidFill>
                  <a:schemeClr val="dk1"/>
                </a:solidFill>
                <a:latin typeface="Arial"/>
                <a:ea typeface="Arial"/>
                <a:cs typeface="Arial"/>
                <a:sym typeface="Arial"/>
              </a:rPr>
              <a:t>Un impuesto al consumo es </a:t>
            </a:r>
            <a:r>
              <a:rPr b="1" i="0" lang="en-US" sz="2600" u="none" cap="none" strike="noStrike">
                <a:solidFill>
                  <a:srgbClr val="EC1914"/>
                </a:solidFill>
                <a:latin typeface="Arial"/>
                <a:ea typeface="Arial"/>
                <a:cs typeface="Arial"/>
                <a:sym typeface="Arial"/>
              </a:rPr>
              <a:t>la diferencia</a:t>
            </a:r>
            <a:r>
              <a:rPr b="0" i="0" lang="en-US" sz="2600" u="none" cap="none" strike="noStrike">
                <a:solidFill>
                  <a:schemeClr val="dk1"/>
                </a:solidFill>
                <a:latin typeface="Arial"/>
                <a:ea typeface="Arial"/>
                <a:cs typeface="Arial"/>
                <a:sym typeface="Arial"/>
              </a:rPr>
              <a:t> entre lo que paga el consumidor y lo que recibe el productor.</a:t>
            </a:r>
          </a:p>
          <a:p>
            <a:pPr indent="-342900" lvl="0" marL="342900" marR="0" rtl="0" algn="l">
              <a:lnSpc>
                <a:spcPct val="90000"/>
              </a:lnSpc>
              <a:spcBef>
                <a:spcPts val="520"/>
              </a:spcBef>
              <a:spcAft>
                <a:spcPts val="0"/>
              </a:spcAft>
              <a:buClr>
                <a:schemeClr val="dk2"/>
              </a:buClr>
              <a:buSzPct val="25000"/>
              <a:buFont typeface="Noto Symbol"/>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90000"/>
              </a:lnSpc>
              <a:spcBef>
                <a:spcPts val="520"/>
              </a:spcBef>
              <a:spcAft>
                <a:spcPts val="0"/>
              </a:spcAft>
              <a:buClr>
                <a:schemeClr val="dk2"/>
              </a:buClr>
              <a:buSzPct val="25000"/>
              <a:buFont typeface="Noto Symbol"/>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90000"/>
              </a:lnSpc>
              <a:spcBef>
                <a:spcPts val="520"/>
              </a:spcBef>
              <a:spcAft>
                <a:spcPts val="0"/>
              </a:spcAft>
              <a:buClr>
                <a:schemeClr val="dk2"/>
              </a:buClr>
              <a:buSzPct val="25000"/>
              <a:buFont typeface="Noto Symbol"/>
              <a:buNone/>
            </a:pPr>
            <a:r>
              <a:rPr b="1" i="0" lang="en-US" sz="2600" u="none" cap="none" strike="noStrike">
                <a:solidFill>
                  <a:srgbClr val="EC1914"/>
                </a:solidFill>
                <a:latin typeface="Arial"/>
                <a:ea typeface="Arial"/>
                <a:cs typeface="Arial"/>
                <a:sym typeface="Arial"/>
              </a:rPr>
              <a:t>El consumidor tendrá que pagar un precio mayor que disminuye la cantidad demandada del bien y por lo tanto no se asignan eficientemente los recursos.</a:t>
            </a:r>
          </a:p>
        </p:txBody>
      </p:sp>
      <p:pic>
        <p:nvPicPr>
          <p:cNvPr id="217" name="Shape 217"/>
          <p:cNvPicPr preferRelativeResize="0"/>
          <p:nvPr>
            <p:ph idx="4294967295" type="body"/>
          </p:nvPr>
        </p:nvPicPr>
        <p:blipFill rotWithShape="1">
          <a:blip r:embed="rId3">
            <a:alphaModFix/>
          </a:blip>
          <a:srcRect b="0" l="0" r="0" t="0"/>
          <a:stretch/>
        </p:blipFill>
        <p:spPr>
          <a:xfrm>
            <a:off x="4787900" y="947737"/>
            <a:ext cx="3009899" cy="609599"/>
          </a:xfrm>
          <a:prstGeom prst="rect">
            <a:avLst/>
          </a:prstGeom>
          <a:noFill/>
          <a:ln>
            <a:noFill/>
          </a:ln>
        </p:spPr>
      </p:pic>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21" name="Shape 221"/>
        <p:cNvGrpSpPr/>
        <p:nvPr/>
      </p:nvGrpSpPr>
      <p:grpSpPr>
        <a:xfrm>
          <a:off x="0" y="0"/>
          <a:ext cx="0" cy="0"/>
          <a:chOff x="0" y="0"/>
          <a:chExt cx="0" cy="0"/>
        </a:xfrm>
      </p:grpSpPr>
      <p:sp>
        <p:nvSpPr>
          <p:cNvPr id="222" name="Shape 222"/>
          <p:cNvSpPr txBox="1"/>
          <p:nvPr>
            <p:ph idx="4294967295" type="title"/>
          </p:nvPr>
        </p:nvSpPr>
        <p:spPr>
          <a:xfrm>
            <a:off x="107950" y="115886"/>
            <a:ext cx="4752974" cy="2087562"/>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200" u="none" cap="none" strike="noStrike">
                <a:solidFill>
                  <a:schemeClr val="dk2"/>
                </a:solidFill>
                <a:latin typeface="Arial"/>
                <a:ea typeface="Arial"/>
                <a:cs typeface="Arial"/>
                <a:sym typeface="Arial"/>
              </a:rPr>
              <a:t>LOS IMPUESTOS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PAGADOS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POR </a:t>
            </a:r>
            <a:br>
              <a:rPr b="1" i="0" lang="en-US" sz="3200" u="none" cap="none" strike="noStrike">
                <a:solidFill>
                  <a:schemeClr val="dk2"/>
                </a:solidFill>
                <a:latin typeface="Arial"/>
                <a:ea typeface="Arial"/>
                <a:cs typeface="Arial"/>
                <a:sym typeface="Arial"/>
              </a:rPr>
            </a:br>
            <a:r>
              <a:rPr b="1" i="0" lang="en-US" sz="3200" u="none" cap="none" strike="noStrike">
                <a:solidFill>
                  <a:srgbClr val="EC1914"/>
                </a:solidFill>
                <a:latin typeface="Arial"/>
                <a:ea typeface="Arial"/>
                <a:cs typeface="Arial"/>
                <a:sym typeface="Arial"/>
              </a:rPr>
              <a:t>EL PRODUCTOR</a:t>
            </a:r>
          </a:p>
        </p:txBody>
      </p:sp>
      <p:sp>
        <p:nvSpPr>
          <p:cNvPr id="223" name="Shape 223"/>
          <p:cNvSpPr txBox="1"/>
          <p:nvPr>
            <p:ph idx="4294967295" type="body"/>
          </p:nvPr>
        </p:nvSpPr>
        <p:spPr>
          <a:xfrm>
            <a:off x="468312" y="2781300"/>
            <a:ext cx="7427912" cy="2755900"/>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70000"/>
              <a:buFont typeface="Noto Symbol"/>
              <a:buChar char="✓"/>
            </a:pPr>
            <a:r>
              <a:rPr b="0" i="0" lang="en-US" sz="2600" u="none" cap="none" strike="noStrike">
                <a:solidFill>
                  <a:schemeClr val="dk1"/>
                </a:solidFill>
                <a:latin typeface="Arial"/>
                <a:ea typeface="Arial"/>
                <a:cs typeface="Arial"/>
                <a:sym typeface="Arial"/>
              </a:rPr>
              <a:t>Aumentan el precio de equilibrio.</a:t>
            </a:r>
          </a:p>
          <a:p>
            <a:pPr indent="-342900" lvl="0" marL="342900" marR="0" rtl="0" algn="l">
              <a:lnSpc>
                <a:spcPct val="100000"/>
              </a:lnSpc>
              <a:spcBef>
                <a:spcPts val="520"/>
              </a:spcBef>
              <a:spcAft>
                <a:spcPts val="0"/>
              </a:spcAft>
              <a:buClr>
                <a:schemeClr val="dk2"/>
              </a:buClr>
              <a:buSzPct val="70000"/>
              <a:buFont typeface="Noto Symbol"/>
              <a:buChar char="✓"/>
            </a:pPr>
            <a:r>
              <a:rPr b="0" i="0" lang="en-US" sz="2600" u="none" cap="none" strike="noStrike">
                <a:solidFill>
                  <a:schemeClr val="dk1"/>
                </a:solidFill>
                <a:latin typeface="Arial"/>
                <a:ea typeface="Arial"/>
                <a:cs typeface="Arial"/>
                <a:sym typeface="Arial"/>
              </a:rPr>
              <a:t>Reducen el nivel de producción.</a:t>
            </a:r>
          </a:p>
          <a:p>
            <a:pPr indent="-342900" lvl="0" marL="342900" marR="0" rtl="0" algn="l">
              <a:lnSpc>
                <a:spcPct val="100000"/>
              </a:lnSpc>
              <a:spcBef>
                <a:spcPts val="520"/>
              </a:spcBef>
              <a:spcAft>
                <a:spcPts val="0"/>
              </a:spcAft>
              <a:buClr>
                <a:srgbClr val="EC1914"/>
              </a:buClr>
              <a:buSzPct val="115000"/>
              <a:buFont typeface="Noto Symbol"/>
              <a:buChar char="✓"/>
            </a:pPr>
            <a:r>
              <a:rPr b="1" i="0" lang="en-US" sz="2600" u="none" cap="none" strike="noStrike">
                <a:solidFill>
                  <a:srgbClr val="EC1914"/>
                </a:solidFill>
                <a:latin typeface="Arial"/>
                <a:ea typeface="Arial"/>
                <a:cs typeface="Arial"/>
                <a:sym typeface="Arial"/>
              </a:rPr>
              <a:t> Reducen el beneficio social de manera tal que el mercado (productores y consumidores) deben pagar un costo social.</a:t>
            </a:r>
          </a:p>
        </p:txBody>
      </p:sp>
      <p:pic>
        <p:nvPicPr>
          <p:cNvPr id="224" name="Shape 224"/>
          <p:cNvPicPr preferRelativeResize="0"/>
          <p:nvPr>
            <p:ph idx="4294967295" type="body"/>
          </p:nvPr>
        </p:nvPicPr>
        <p:blipFill rotWithShape="1">
          <a:blip r:embed="rId3">
            <a:alphaModFix/>
          </a:blip>
          <a:srcRect b="0" l="0" r="0" t="0"/>
          <a:stretch/>
        </p:blipFill>
        <p:spPr>
          <a:xfrm>
            <a:off x="4932362" y="476250"/>
            <a:ext cx="3009899" cy="609599"/>
          </a:xfrm>
          <a:prstGeom prst="rect">
            <a:avLst/>
          </a:prstGeom>
          <a:noFill/>
          <a:ln>
            <a:noFill/>
          </a:ln>
        </p:spPr>
      </p:pic>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28" name="Shape 228"/>
        <p:cNvGrpSpPr/>
        <p:nvPr/>
      </p:nvGrpSpPr>
      <p:grpSpPr>
        <a:xfrm>
          <a:off x="0" y="0"/>
          <a:ext cx="0" cy="0"/>
          <a:chOff x="0" y="0"/>
          <a:chExt cx="0" cy="0"/>
        </a:xfrm>
      </p:grpSpPr>
      <p:sp>
        <p:nvSpPr>
          <p:cNvPr id="229" name="Shape 229"/>
          <p:cNvSpPr txBox="1"/>
          <p:nvPr/>
        </p:nvSpPr>
        <p:spPr>
          <a:xfrm rot="5400000">
            <a:off x="-416718" y="4637881"/>
            <a:ext cx="12001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Impuesto</a:t>
            </a:r>
          </a:p>
        </p:txBody>
      </p:sp>
      <p:sp>
        <p:nvSpPr>
          <p:cNvPr id="230" name="Shape 230"/>
          <p:cNvSpPr txBox="1"/>
          <p:nvPr/>
        </p:nvSpPr>
        <p:spPr>
          <a:xfrm>
            <a:off x="2916236" y="616585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Q1</a:t>
            </a:r>
          </a:p>
        </p:txBody>
      </p:sp>
      <p:sp>
        <p:nvSpPr>
          <p:cNvPr id="231" name="Shape 231"/>
          <p:cNvSpPr/>
          <p:nvPr/>
        </p:nvSpPr>
        <p:spPr>
          <a:xfrm>
            <a:off x="2484436" y="4508500"/>
            <a:ext cx="647700" cy="288925"/>
          </a:xfrm>
          <a:prstGeom prst="triangle">
            <a:avLst>
              <a:gd fmla="val 21547" name="adj"/>
            </a:avLst>
          </a:prstGeom>
          <a:solidFill>
            <a:srgbClr val="000080">
              <a:alpha val="22745"/>
            </a:srgbClr>
          </a:solidFill>
          <a:ln cap="flat" cmpd="sng" w="2857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2" name="Shape 232"/>
          <p:cNvSpPr txBox="1"/>
          <p:nvPr>
            <p:ph idx="4294967295" type="title"/>
          </p:nvPr>
        </p:nvSpPr>
        <p:spPr>
          <a:xfrm>
            <a:off x="0" y="0"/>
            <a:ext cx="4537074" cy="1439862"/>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200" u="none" cap="none" strike="noStrike">
                <a:solidFill>
                  <a:schemeClr val="dk2"/>
                </a:solidFill>
                <a:latin typeface="Arial"/>
                <a:ea typeface="Arial"/>
                <a:cs typeface="Arial"/>
                <a:sym typeface="Arial"/>
              </a:rPr>
              <a:t>EMPEORA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LA OFERTA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POR EL IMPUESTO </a:t>
            </a:r>
          </a:p>
        </p:txBody>
      </p:sp>
      <p:sp>
        <p:nvSpPr>
          <p:cNvPr id="233" name="Shape 233"/>
          <p:cNvSpPr txBox="1"/>
          <p:nvPr>
            <p:ph idx="4294967295" type="body"/>
          </p:nvPr>
        </p:nvSpPr>
        <p:spPr>
          <a:xfrm>
            <a:off x="5148262" y="1719261"/>
            <a:ext cx="4038599" cy="2357436"/>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0" i="0" lang="en-US" sz="1900" u="none" cap="none" strike="noStrike">
                <a:solidFill>
                  <a:schemeClr val="dk1"/>
                </a:solidFill>
                <a:latin typeface="Arial"/>
                <a:ea typeface="Arial"/>
                <a:cs typeface="Arial"/>
                <a:sym typeface="Arial"/>
              </a:rPr>
              <a:t>Al </a:t>
            </a:r>
            <a:r>
              <a:rPr b="1" i="0" lang="en-US" sz="1900" u="none" cap="none" strike="noStrike">
                <a:solidFill>
                  <a:srgbClr val="EC1914"/>
                </a:solidFill>
                <a:latin typeface="Arial"/>
                <a:ea typeface="Arial"/>
                <a:cs typeface="Arial"/>
                <a:sym typeface="Arial"/>
              </a:rPr>
              <a:t>empeorar</a:t>
            </a:r>
            <a:r>
              <a:rPr b="0" i="0" lang="en-US" sz="1900" u="none" cap="none" strike="noStrike">
                <a:solidFill>
                  <a:schemeClr val="dk1"/>
                </a:solidFill>
                <a:latin typeface="Arial"/>
                <a:ea typeface="Arial"/>
                <a:cs typeface="Arial"/>
                <a:sym typeface="Arial"/>
              </a:rPr>
              <a:t> la oferta, los productores ofrecerán solo la cantidad Q´, pero los consumidores seguirán demandando Q, el exceso de demanda empujara la suba del precio de mercado y en consecuencia la disposición de los vendedores para recuperar una parte de la cantidad perdida.  </a:t>
            </a:r>
          </a:p>
        </p:txBody>
      </p:sp>
      <p:cxnSp>
        <p:nvCxnSpPr>
          <p:cNvPr id="234" name="Shape 234"/>
          <p:cNvCxnSpPr/>
          <p:nvPr/>
        </p:nvCxnSpPr>
        <p:spPr>
          <a:xfrm>
            <a:off x="755650" y="1773236"/>
            <a:ext cx="0" cy="4535487"/>
          </a:xfrm>
          <a:prstGeom prst="straightConnector1">
            <a:avLst/>
          </a:prstGeom>
          <a:noFill/>
          <a:ln cap="flat" cmpd="sng" w="9525">
            <a:solidFill>
              <a:schemeClr val="dk1"/>
            </a:solidFill>
            <a:prstDash val="solid"/>
            <a:miter/>
            <a:headEnd len="med" w="med" type="none"/>
            <a:tailEnd len="med" w="med" type="none"/>
          </a:ln>
        </p:spPr>
      </p:cxnSp>
      <p:cxnSp>
        <p:nvCxnSpPr>
          <p:cNvPr id="235" name="Shape 235"/>
          <p:cNvCxnSpPr/>
          <p:nvPr/>
        </p:nvCxnSpPr>
        <p:spPr>
          <a:xfrm>
            <a:off x="539750" y="6021387"/>
            <a:ext cx="5184775" cy="0"/>
          </a:xfrm>
          <a:prstGeom prst="straightConnector1">
            <a:avLst/>
          </a:prstGeom>
          <a:noFill/>
          <a:ln cap="flat" cmpd="sng" w="9525">
            <a:solidFill>
              <a:schemeClr val="dk1"/>
            </a:solidFill>
            <a:prstDash val="solid"/>
            <a:miter/>
            <a:headEnd len="med" w="med" type="none"/>
            <a:tailEnd len="med" w="med" type="none"/>
          </a:ln>
        </p:spPr>
      </p:cxnSp>
      <p:sp>
        <p:nvSpPr>
          <p:cNvPr id="236" name="Shape 236"/>
          <p:cNvSpPr/>
          <p:nvPr/>
        </p:nvSpPr>
        <p:spPr>
          <a:xfrm>
            <a:off x="1258887" y="1844675"/>
            <a:ext cx="3805237" cy="3552825"/>
          </a:xfrm>
          <a:custGeom>
            <a:pathLst>
              <a:path extrusionOk="0" h="2238" w="2442">
                <a:moveTo>
                  <a:pt x="0" y="0"/>
                </a:moveTo>
                <a:cubicBezTo>
                  <a:pt x="29" y="78"/>
                  <a:pt x="93" y="313"/>
                  <a:pt x="172" y="469"/>
                </a:cubicBezTo>
                <a:cubicBezTo>
                  <a:pt x="251" y="625"/>
                  <a:pt x="359" y="781"/>
                  <a:pt x="472" y="934"/>
                </a:cubicBezTo>
                <a:cubicBezTo>
                  <a:pt x="585" y="1087"/>
                  <a:pt x="699" y="1242"/>
                  <a:pt x="849" y="1388"/>
                </a:cubicBezTo>
                <a:cubicBezTo>
                  <a:pt x="999" y="1534"/>
                  <a:pt x="1195" y="1695"/>
                  <a:pt x="1375" y="1813"/>
                </a:cubicBezTo>
                <a:cubicBezTo>
                  <a:pt x="1555" y="1931"/>
                  <a:pt x="1754" y="2025"/>
                  <a:pt x="1932" y="2096"/>
                </a:cubicBezTo>
                <a:cubicBezTo>
                  <a:pt x="2110" y="2167"/>
                  <a:pt x="2336" y="2209"/>
                  <a:pt x="2442" y="2238"/>
                </a:cubicBezTo>
              </a:path>
            </a:pathLst>
          </a:custGeom>
          <a:noFill/>
          <a:ln cap="flat" cmpd="sng" w="3810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7" name="Shape 237"/>
          <p:cNvSpPr/>
          <p:nvPr/>
        </p:nvSpPr>
        <p:spPr>
          <a:xfrm rot="300000">
            <a:off x="971549" y="2060575"/>
            <a:ext cx="3795711" cy="3208337"/>
          </a:xfrm>
          <a:custGeom>
            <a:pathLst>
              <a:path extrusionOk="0" h="2021" w="2391">
                <a:moveTo>
                  <a:pt x="0" y="2021"/>
                </a:moveTo>
                <a:cubicBezTo>
                  <a:pt x="107" y="2000"/>
                  <a:pt x="411" y="1976"/>
                  <a:pt x="643" y="1897"/>
                </a:cubicBezTo>
                <a:cubicBezTo>
                  <a:pt x="875" y="1818"/>
                  <a:pt x="1192" y="1680"/>
                  <a:pt x="1390" y="1549"/>
                </a:cubicBezTo>
                <a:cubicBezTo>
                  <a:pt x="1588" y="1418"/>
                  <a:pt x="1694" y="1303"/>
                  <a:pt x="1834" y="1114"/>
                </a:cubicBezTo>
                <a:cubicBezTo>
                  <a:pt x="1974" y="925"/>
                  <a:pt x="2137" y="602"/>
                  <a:pt x="2230" y="416"/>
                </a:cubicBezTo>
                <a:cubicBezTo>
                  <a:pt x="2323" y="230"/>
                  <a:pt x="2358" y="87"/>
                  <a:pt x="2391" y="0"/>
                </a:cubicBezTo>
              </a:path>
            </a:pathLst>
          </a:custGeom>
          <a:noFill/>
          <a:ln cap="flat" cmpd="sng" w="28575">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238" name="Shape 238"/>
          <p:cNvCxnSpPr/>
          <p:nvPr/>
        </p:nvCxnSpPr>
        <p:spPr>
          <a:xfrm>
            <a:off x="755650" y="4797425"/>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239" name="Shape 239"/>
          <p:cNvCxnSpPr/>
          <p:nvPr/>
        </p:nvCxnSpPr>
        <p:spPr>
          <a:xfrm>
            <a:off x="3492500" y="4797425"/>
            <a:ext cx="0" cy="1223961"/>
          </a:xfrm>
          <a:prstGeom prst="straightConnector1">
            <a:avLst/>
          </a:prstGeom>
          <a:noFill/>
          <a:ln cap="flat" cmpd="sng" w="9525">
            <a:solidFill>
              <a:schemeClr val="dk1"/>
            </a:solidFill>
            <a:prstDash val="solid"/>
            <a:miter/>
            <a:headEnd len="med" w="med" type="none"/>
            <a:tailEnd len="med" w="med" type="none"/>
          </a:ln>
        </p:spPr>
      </p:cxnSp>
      <p:cxnSp>
        <p:nvCxnSpPr>
          <p:cNvPr id="240" name="Shape 240"/>
          <p:cNvCxnSpPr/>
          <p:nvPr/>
        </p:nvCxnSpPr>
        <p:spPr>
          <a:xfrm>
            <a:off x="755650" y="4508500"/>
            <a:ext cx="2376487" cy="0"/>
          </a:xfrm>
          <a:prstGeom prst="straightConnector1">
            <a:avLst/>
          </a:prstGeom>
          <a:noFill/>
          <a:ln cap="flat" cmpd="sng" w="9525">
            <a:solidFill>
              <a:schemeClr val="dk1"/>
            </a:solidFill>
            <a:prstDash val="solid"/>
            <a:miter/>
            <a:headEnd len="med" w="med" type="none"/>
            <a:tailEnd len="med" w="med" type="none"/>
          </a:ln>
        </p:spPr>
      </p:cxnSp>
      <p:cxnSp>
        <p:nvCxnSpPr>
          <p:cNvPr id="241" name="Shape 241"/>
          <p:cNvCxnSpPr/>
          <p:nvPr/>
        </p:nvCxnSpPr>
        <p:spPr>
          <a:xfrm>
            <a:off x="3132136" y="4508500"/>
            <a:ext cx="0" cy="1512886"/>
          </a:xfrm>
          <a:prstGeom prst="straightConnector1">
            <a:avLst/>
          </a:prstGeom>
          <a:noFill/>
          <a:ln cap="flat" cmpd="sng" w="9525">
            <a:solidFill>
              <a:schemeClr val="dk1"/>
            </a:solidFill>
            <a:prstDash val="solid"/>
            <a:miter/>
            <a:headEnd len="med" w="med" type="none"/>
            <a:tailEnd len="med" w="med" type="none"/>
          </a:ln>
        </p:spPr>
      </p:cxnSp>
      <p:sp>
        <p:nvSpPr>
          <p:cNvPr id="242" name="Shape 242"/>
          <p:cNvSpPr txBox="1"/>
          <p:nvPr/>
        </p:nvSpPr>
        <p:spPr>
          <a:xfrm>
            <a:off x="0" y="141287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243" name="Shape 243"/>
          <p:cNvSpPr txBox="1"/>
          <p:nvPr/>
        </p:nvSpPr>
        <p:spPr>
          <a:xfrm>
            <a:off x="5076825" y="5876925"/>
            <a:ext cx="1274762" cy="5540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244" name="Shape 244"/>
          <p:cNvSpPr txBox="1"/>
          <p:nvPr/>
        </p:nvSpPr>
        <p:spPr>
          <a:xfrm>
            <a:off x="4211637" y="4364037"/>
            <a:ext cx="865187" cy="43338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INICIAL</a:t>
            </a:r>
          </a:p>
        </p:txBody>
      </p:sp>
      <p:sp>
        <p:nvSpPr>
          <p:cNvPr id="245" name="Shape 245"/>
          <p:cNvSpPr txBox="1"/>
          <p:nvPr/>
        </p:nvSpPr>
        <p:spPr>
          <a:xfrm>
            <a:off x="1476375" y="1628775"/>
            <a:ext cx="1223961"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DEMANDA</a:t>
            </a:r>
          </a:p>
        </p:txBody>
      </p:sp>
      <p:cxnSp>
        <p:nvCxnSpPr>
          <p:cNvPr id="246" name="Shape 246"/>
          <p:cNvCxnSpPr/>
          <p:nvPr/>
        </p:nvCxnSpPr>
        <p:spPr>
          <a:xfrm rot="10800000">
            <a:off x="1042987" y="4508499"/>
            <a:ext cx="0" cy="288925"/>
          </a:xfrm>
          <a:prstGeom prst="straightConnector1">
            <a:avLst/>
          </a:prstGeom>
          <a:noFill/>
          <a:ln cap="flat" cmpd="sng" w="9525">
            <a:solidFill>
              <a:schemeClr val="dk1"/>
            </a:solidFill>
            <a:prstDash val="solid"/>
            <a:miter/>
            <a:headEnd len="med" w="med" type="none"/>
            <a:tailEnd len="lg" w="lg" type="triangle"/>
          </a:ln>
        </p:spPr>
      </p:cxnSp>
      <p:cxnSp>
        <p:nvCxnSpPr>
          <p:cNvPr id="247" name="Shape 247"/>
          <p:cNvCxnSpPr/>
          <p:nvPr/>
        </p:nvCxnSpPr>
        <p:spPr>
          <a:xfrm>
            <a:off x="2627311" y="6092825"/>
            <a:ext cx="649286" cy="0"/>
          </a:xfrm>
          <a:prstGeom prst="straightConnector1">
            <a:avLst/>
          </a:prstGeom>
          <a:noFill/>
          <a:ln cap="flat" cmpd="sng" w="9525">
            <a:solidFill>
              <a:schemeClr val="dk1"/>
            </a:solidFill>
            <a:prstDash val="solid"/>
            <a:miter/>
            <a:headEnd len="med" w="med" type="stealth"/>
            <a:tailEnd len="med" w="med" type="none"/>
          </a:ln>
        </p:spPr>
      </p:cxnSp>
      <p:cxnSp>
        <p:nvCxnSpPr>
          <p:cNvPr id="248" name="Shape 248"/>
          <p:cNvCxnSpPr/>
          <p:nvPr/>
        </p:nvCxnSpPr>
        <p:spPr>
          <a:xfrm>
            <a:off x="2484436" y="4797425"/>
            <a:ext cx="1008062" cy="0"/>
          </a:xfrm>
          <a:prstGeom prst="straightConnector1">
            <a:avLst/>
          </a:prstGeom>
          <a:noFill/>
          <a:ln cap="rnd" cmpd="sng" w="9525">
            <a:solidFill>
              <a:schemeClr val="dk1"/>
            </a:solidFill>
            <a:prstDash val="solid"/>
            <a:miter/>
            <a:headEnd len="med" w="med" type="none"/>
            <a:tailEnd len="med" w="med" type="none"/>
          </a:ln>
        </p:spPr>
      </p:cxnSp>
      <p:cxnSp>
        <p:nvCxnSpPr>
          <p:cNvPr id="249" name="Shape 249"/>
          <p:cNvCxnSpPr/>
          <p:nvPr/>
        </p:nvCxnSpPr>
        <p:spPr>
          <a:xfrm>
            <a:off x="2484436" y="4797425"/>
            <a:ext cx="0" cy="1223961"/>
          </a:xfrm>
          <a:prstGeom prst="straightConnector1">
            <a:avLst/>
          </a:prstGeom>
          <a:noFill/>
          <a:ln cap="flat" cmpd="sng" w="9525">
            <a:solidFill>
              <a:schemeClr val="dk1"/>
            </a:solidFill>
            <a:prstDash val="solid"/>
            <a:miter/>
            <a:headEnd len="med" w="med" type="none"/>
            <a:tailEnd len="med" w="med" type="none"/>
          </a:ln>
        </p:spPr>
      </p:cxnSp>
      <p:cxnSp>
        <p:nvCxnSpPr>
          <p:cNvPr id="250" name="Shape 250"/>
          <p:cNvCxnSpPr/>
          <p:nvPr/>
        </p:nvCxnSpPr>
        <p:spPr>
          <a:xfrm rot="10800000">
            <a:off x="2700336" y="6237287"/>
            <a:ext cx="431799" cy="0"/>
          </a:xfrm>
          <a:prstGeom prst="straightConnector1">
            <a:avLst/>
          </a:prstGeom>
          <a:noFill/>
          <a:ln cap="flat" cmpd="sng" w="9525">
            <a:solidFill>
              <a:schemeClr val="dk1"/>
            </a:solidFill>
            <a:prstDash val="solid"/>
            <a:miter/>
            <a:headEnd len="lg" w="lg" type="triangle"/>
            <a:tailEnd len="med" w="med" type="none"/>
          </a:ln>
        </p:spPr>
      </p:cxnSp>
      <p:sp>
        <p:nvSpPr>
          <p:cNvPr id="251" name="Shape 251"/>
          <p:cNvSpPr txBox="1"/>
          <p:nvPr/>
        </p:nvSpPr>
        <p:spPr>
          <a:xfrm>
            <a:off x="468312" y="45815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a:t>
            </a:r>
          </a:p>
        </p:txBody>
      </p:sp>
      <p:sp>
        <p:nvSpPr>
          <p:cNvPr id="252" name="Shape 252"/>
          <p:cNvSpPr txBox="1"/>
          <p:nvPr/>
        </p:nvSpPr>
        <p:spPr>
          <a:xfrm>
            <a:off x="431800" y="429260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sp>
        <p:nvSpPr>
          <p:cNvPr id="253" name="Shape 253"/>
          <p:cNvSpPr txBox="1"/>
          <p:nvPr/>
        </p:nvSpPr>
        <p:spPr>
          <a:xfrm>
            <a:off x="3276600" y="594995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sp>
        <p:nvSpPr>
          <p:cNvPr id="254" name="Shape 254"/>
          <p:cNvSpPr txBox="1"/>
          <p:nvPr/>
        </p:nvSpPr>
        <p:spPr>
          <a:xfrm>
            <a:off x="2268536" y="594995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sp>
        <p:nvSpPr>
          <p:cNvPr id="255" name="Shape 255"/>
          <p:cNvSpPr/>
          <p:nvPr/>
        </p:nvSpPr>
        <p:spPr>
          <a:xfrm rot="300000">
            <a:off x="1187449" y="2420936"/>
            <a:ext cx="3795711" cy="3208337"/>
          </a:xfrm>
          <a:custGeom>
            <a:pathLst>
              <a:path extrusionOk="0" h="2021" w="2391">
                <a:moveTo>
                  <a:pt x="0" y="2021"/>
                </a:moveTo>
                <a:cubicBezTo>
                  <a:pt x="107" y="2000"/>
                  <a:pt x="411" y="1976"/>
                  <a:pt x="643" y="1897"/>
                </a:cubicBezTo>
                <a:cubicBezTo>
                  <a:pt x="875" y="1818"/>
                  <a:pt x="1192" y="1680"/>
                  <a:pt x="1390" y="1549"/>
                </a:cubicBezTo>
                <a:cubicBezTo>
                  <a:pt x="1588" y="1418"/>
                  <a:pt x="1694" y="1303"/>
                  <a:pt x="1834" y="1114"/>
                </a:cubicBezTo>
                <a:cubicBezTo>
                  <a:pt x="1974" y="925"/>
                  <a:pt x="2137" y="602"/>
                  <a:pt x="2230" y="416"/>
                </a:cubicBezTo>
                <a:cubicBezTo>
                  <a:pt x="2323" y="230"/>
                  <a:pt x="2358" y="87"/>
                  <a:pt x="2391" y="0"/>
                </a:cubicBezTo>
              </a:path>
            </a:pathLst>
          </a:custGeom>
          <a:noFill/>
          <a:ln cap="flat" cmpd="sng" w="2857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6" name="Shape 256"/>
          <p:cNvSpPr txBox="1"/>
          <p:nvPr/>
        </p:nvSpPr>
        <p:spPr>
          <a:xfrm>
            <a:off x="3708400" y="2347911"/>
            <a:ext cx="914400"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OFERTA</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FINAL</a:t>
            </a:r>
          </a:p>
        </p:txBody>
      </p:sp>
      <p:sp>
        <p:nvSpPr>
          <p:cNvPr id="257" name="Shape 257"/>
          <p:cNvSpPr txBox="1"/>
          <p:nvPr/>
        </p:nvSpPr>
        <p:spPr>
          <a:xfrm>
            <a:off x="5402262" y="4365625"/>
            <a:ext cx="3490911" cy="151288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Los productores recibirán el</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precio P1 en el mercado pero,</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deberán pagar el impuesto, </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por lo que solo recaudarán P´1</a:t>
            </a:r>
          </a:p>
          <a:p>
            <a:pPr indent="0" lvl="0" marL="0" marR="0" rtl="0" algn="l">
              <a:lnSpc>
                <a:spcPct val="100000"/>
              </a:lnSpc>
              <a:spcBef>
                <a:spcPts val="0"/>
              </a:spcBef>
              <a:spcAft>
                <a:spcPts val="0"/>
              </a:spcAft>
              <a:buNone/>
            </a:pPr>
            <a:r>
              <a:t/>
            </a:r>
            <a:endParaRPr b="1" i="0" sz="1800" u="none" cap="none" strike="noStrike">
              <a:solidFill>
                <a:srgbClr val="EC1914"/>
              </a:solidFill>
              <a:latin typeface="Arial"/>
              <a:ea typeface="Arial"/>
              <a:cs typeface="Arial"/>
              <a:sym typeface="Arial"/>
            </a:endParaRPr>
          </a:p>
        </p:txBody>
      </p:sp>
      <p:sp>
        <p:nvSpPr>
          <p:cNvPr id="258" name="Shape 258"/>
          <p:cNvSpPr/>
          <p:nvPr/>
        </p:nvSpPr>
        <p:spPr>
          <a:xfrm>
            <a:off x="3132136" y="4508500"/>
            <a:ext cx="431799" cy="288925"/>
          </a:xfrm>
          <a:prstGeom prst="rtTriangle">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259" name="Shape 259"/>
          <p:cNvCxnSpPr/>
          <p:nvPr/>
        </p:nvCxnSpPr>
        <p:spPr>
          <a:xfrm rot="10800000">
            <a:off x="755649" y="5013325"/>
            <a:ext cx="2376487" cy="0"/>
          </a:xfrm>
          <a:prstGeom prst="straightConnector1">
            <a:avLst/>
          </a:prstGeom>
          <a:noFill/>
          <a:ln cap="flat" cmpd="sng" w="9525">
            <a:solidFill>
              <a:schemeClr val="dk1"/>
            </a:solidFill>
            <a:prstDash val="solid"/>
            <a:miter/>
            <a:headEnd len="med" w="med" type="none"/>
            <a:tailEnd len="med" w="med" type="none"/>
          </a:ln>
        </p:spPr>
      </p:cxnSp>
      <p:sp>
        <p:nvSpPr>
          <p:cNvPr id="260" name="Shape 260"/>
          <p:cNvSpPr txBox="1"/>
          <p:nvPr/>
        </p:nvSpPr>
        <p:spPr>
          <a:xfrm>
            <a:off x="395287" y="47974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pic>
        <p:nvPicPr>
          <p:cNvPr id="261" name="Shape 261"/>
          <p:cNvPicPr preferRelativeResize="0"/>
          <p:nvPr>
            <p:ph idx="4294967295" type="body"/>
          </p:nvPr>
        </p:nvPicPr>
        <p:blipFill rotWithShape="1">
          <a:blip r:embed="rId3">
            <a:alphaModFix/>
          </a:blip>
          <a:srcRect b="0" l="0" r="0" t="0"/>
          <a:stretch/>
        </p:blipFill>
        <p:spPr>
          <a:xfrm>
            <a:off x="4932362" y="620712"/>
            <a:ext cx="3009899" cy="682625"/>
          </a:xfrm>
          <a:prstGeom prst="rect">
            <a:avLst/>
          </a:prstGeom>
          <a:noFill/>
          <a:ln>
            <a:noFill/>
          </a:ln>
        </p:spPr>
      </p:pic>
      <p:sp>
        <p:nvSpPr>
          <p:cNvPr id="262" name="Shape 262"/>
          <p:cNvSpPr/>
          <p:nvPr/>
        </p:nvSpPr>
        <p:spPr>
          <a:xfrm>
            <a:off x="323850" y="4508500"/>
            <a:ext cx="71436" cy="504824"/>
          </a:xfrm>
          <a:prstGeom prst="leftBrace">
            <a:avLst>
              <a:gd fmla="val 8333" name="adj1"/>
              <a:gd fmla="val 50000" name="adj2"/>
            </a:avLst>
          </a:prstGeom>
          <a:noFill/>
          <a:ln cap="flat" cmpd="sng" w="25400">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66" name="Shape 266"/>
        <p:cNvGrpSpPr/>
        <p:nvPr/>
      </p:nvGrpSpPr>
      <p:grpSpPr>
        <a:xfrm>
          <a:off x="0" y="0"/>
          <a:ext cx="0" cy="0"/>
          <a:chOff x="0" y="0"/>
          <a:chExt cx="0" cy="0"/>
        </a:xfrm>
      </p:grpSpPr>
      <p:sp>
        <p:nvSpPr>
          <p:cNvPr id="267" name="Shape 267"/>
          <p:cNvSpPr/>
          <p:nvPr/>
        </p:nvSpPr>
        <p:spPr>
          <a:xfrm>
            <a:off x="755650" y="1754186"/>
            <a:ext cx="2706687" cy="3043236"/>
          </a:xfrm>
          <a:custGeom>
            <a:pathLst>
              <a:path extrusionOk="0" h="1917" w="1705">
                <a:moveTo>
                  <a:pt x="0" y="491"/>
                </a:moveTo>
                <a:lnTo>
                  <a:pt x="19" y="1161"/>
                </a:lnTo>
                <a:lnTo>
                  <a:pt x="10" y="1586"/>
                </a:lnTo>
                <a:lnTo>
                  <a:pt x="17" y="1917"/>
                </a:lnTo>
                <a:lnTo>
                  <a:pt x="425" y="1915"/>
                </a:lnTo>
                <a:lnTo>
                  <a:pt x="895" y="1917"/>
                </a:lnTo>
                <a:lnTo>
                  <a:pt x="1705" y="1895"/>
                </a:lnTo>
                <a:lnTo>
                  <a:pt x="1356" y="1650"/>
                </a:lnTo>
                <a:lnTo>
                  <a:pt x="1171" y="1501"/>
                </a:lnTo>
                <a:lnTo>
                  <a:pt x="973" y="1331"/>
                </a:lnTo>
                <a:lnTo>
                  <a:pt x="774" y="1133"/>
                </a:lnTo>
                <a:lnTo>
                  <a:pt x="563" y="885"/>
                </a:lnTo>
                <a:lnTo>
                  <a:pt x="402" y="715"/>
                </a:lnTo>
                <a:lnTo>
                  <a:pt x="298" y="526"/>
                </a:lnTo>
                <a:lnTo>
                  <a:pt x="204" y="422"/>
                </a:lnTo>
                <a:lnTo>
                  <a:pt x="128" y="252"/>
                </a:lnTo>
                <a:lnTo>
                  <a:pt x="0" y="0"/>
                </a:lnTo>
                <a:lnTo>
                  <a:pt x="0" y="491"/>
                </a:lnTo>
                <a:close/>
              </a:path>
            </a:pathLst>
          </a:custGeom>
          <a:solidFill>
            <a:srgbClr val="FF00FF">
              <a:alpha val="31764"/>
            </a:srgbClr>
          </a:solidFill>
          <a:ln cap="flat" cmpd="sng" w="28575">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8" name="Shape 268"/>
          <p:cNvSpPr txBox="1"/>
          <p:nvPr/>
        </p:nvSpPr>
        <p:spPr>
          <a:xfrm>
            <a:off x="755650" y="4508500"/>
            <a:ext cx="2303461" cy="288925"/>
          </a:xfrm>
          <a:prstGeom prst="rect">
            <a:avLst/>
          </a:prstGeom>
          <a:solidFill>
            <a:schemeClr val="accent1"/>
          </a:solidFill>
          <a:ln cap="flat" cmpd="sng" w="2857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REDUCCIÓN </a:t>
            </a:r>
          </a:p>
        </p:txBody>
      </p:sp>
      <p:sp>
        <p:nvSpPr>
          <p:cNvPr id="269" name="Shape 269"/>
          <p:cNvSpPr/>
          <p:nvPr/>
        </p:nvSpPr>
        <p:spPr>
          <a:xfrm>
            <a:off x="755650" y="1700211"/>
            <a:ext cx="2303461" cy="2808286"/>
          </a:xfrm>
          <a:custGeom>
            <a:pathLst>
              <a:path extrusionOk="0" h="1769" w="1451">
                <a:moveTo>
                  <a:pt x="0" y="318"/>
                </a:moveTo>
                <a:lnTo>
                  <a:pt x="0" y="1039"/>
                </a:lnTo>
                <a:lnTo>
                  <a:pt x="10" y="1409"/>
                </a:lnTo>
                <a:lnTo>
                  <a:pt x="16" y="1769"/>
                </a:lnTo>
                <a:lnTo>
                  <a:pt x="412" y="1767"/>
                </a:lnTo>
                <a:lnTo>
                  <a:pt x="868" y="1769"/>
                </a:lnTo>
                <a:lnTo>
                  <a:pt x="1451" y="1765"/>
                </a:lnTo>
                <a:lnTo>
                  <a:pt x="1328" y="1667"/>
                </a:lnTo>
                <a:lnTo>
                  <a:pt x="1129" y="1497"/>
                </a:lnTo>
                <a:lnTo>
                  <a:pt x="959" y="1356"/>
                </a:lnTo>
                <a:lnTo>
                  <a:pt x="695" y="1072"/>
                </a:lnTo>
                <a:lnTo>
                  <a:pt x="497" y="836"/>
                </a:lnTo>
                <a:lnTo>
                  <a:pt x="364" y="676"/>
                </a:lnTo>
                <a:lnTo>
                  <a:pt x="229" y="480"/>
                </a:lnTo>
                <a:lnTo>
                  <a:pt x="119" y="309"/>
                </a:lnTo>
                <a:lnTo>
                  <a:pt x="64" y="186"/>
                </a:lnTo>
                <a:lnTo>
                  <a:pt x="4" y="0"/>
                </a:lnTo>
                <a:lnTo>
                  <a:pt x="0" y="318"/>
                </a:lnTo>
                <a:close/>
              </a:path>
            </a:pathLst>
          </a:custGeom>
          <a:solidFill>
            <a:srgbClr val="FF0000"/>
          </a:solidFill>
          <a:ln cap="flat" cmpd="sng" w="381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0" name="Shape 270"/>
          <p:cNvSpPr txBox="1"/>
          <p:nvPr/>
        </p:nvSpPr>
        <p:spPr>
          <a:xfrm>
            <a:off x="2843211" y="594995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Q1</a:t>
            </a:r>
          </a:p>
        </p:txBody>
      </p:sp>
      <p:sp>
        <p:nvSpPr>
          <p:cNvPr id="271" name="Shape 271"/>
          <p:cNvSpPr txBox="1"/>
          <p:nvPr>
            <p:ph idx="4294967295" type="title"/>
          </p:nvPr>
        </p:nvSpPr>
        <p:spPr>
          <a:xfrm>
            <a:off x="107950" y="122236"/>
            <a:ext cx="4437062" cy="14351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200" u="none" cap="none" strike="noStrike">
                <a:solidFill>
                  <a:schemeClr val="dk2"/>
                </a:solidFill>
                <a:latin typeface="Arial"/>
                <a:ea typeface="Arial"/>
                <a:cs typeface="Arial"/>
                <a:sym typeface="Arial"/>
              </a:rPr>
              <a:t>REDUCCIÓN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EXCEDENTE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DEL CONSUMIDOR</a:t>
            </a:r>
          </a:p>
        </p:txBody>
      </p:sp>
      <p:sp>
        <p:nvSpPr>
          <p:cNvPr id="272" name="Shape 272"/>
          <p:cNvSpPr txBox="1"/>
          <p:nvPr>
            <p:ph idx="4294967295" type="body"/>
          </p:nvPr>
        </p:nvSpPr>
        <p:spPr>
          <a:xfrm>
            <a:off x="5003800" y="4294187"/>
            <a:ext cx="4038599" cy="935037"/>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0" i="0" lang="en-US" sz="1900" u="none" cap="none" strike="noStrike">
                <a:solidFill>
                  <a:schemeClr val="dk1"/>
                </a:solidFill>
                <a:latin typeface="Arial"/>
                <a:ea typeface="Arial"/>
                <a:cs typeface="Arial"/>
                <a:sym typeface="Arial"/>
              </a:rPr>
              <a:t>Al aplicar el impuesto </a:t>
            </a:r>
            <a:r>
              <a:rPr b="1" i="0" lang="en-US" sz="1900" u="none" cap="none" strike="noStrike">
                <a:solidFill>
                  <a:srgbClr val="EC1914"/>
                </a:solidFill>
                <a:latin typeface="Arial"/>
                <a:ea typeface="Arial"/>
                <a:cs typeface="Arial"/>
                <a:sym typeface="Arial"/>
              </a:rPr>
              <a:t>empeora</a:t>
            </a:r>
            <a:r>
              <a:rPr b="0" i="0" lang="en-US" sz="1900" u="none" cap="none" strike="noStrike">
                <a:solidFill>
                  <a:schemeClr val="dk1"/>
                </a:solidFill>
                <a:latin typeface="Arial"/>
                <a:ea typeface="Arial"/>
                <a:cs typeface="Arial"/>
                <a:sym typeface="Arial"/>
              </a:rPr>
              <a:t> la oferta, se reduce el excedente de los consumidores hipersatisfechos </a:t>
            </a:r>
          </a:p>
        </p:txBody>
      </p:sp>
      <p:cxnSp>
        <p:nvCxnSpPr>
          <p:cNvPr id="273" name="Shape 273"/>
          <p:cNvCxnSpPr/>
          <p:nvPr/>
        </p:nvCxnSpPr>
        <p:spPr>
          <a:xfrm>
            <a:off x="755650" y="1773236"/>
            <a:ext cx="0" cy="4535487"/>
          </a:xfrm>
          <a:prstGeom prst="straightConnector1">
            <a:avLst/>
          </a:prstGeom>
          <a:noFill/>
          <a:ln cap="flat" cmpd="sng" w="9525">
            <a:solidFill>
              <a:schemeClr val="dk1"/>
            </a:solidFill>
            <a:prstDash val="solid"/>
            <a:miter/>
            <a:headEnd len="med" w="med" type="none"/>
            <a:tailEnd len="med" w="med" type="none"/>
          </a:ln>
        </p:spPr>
      </p:cxnSp>
      <p:cxnSp>
        <p:nvCxnSpPr>
          <p:cNvPr id="274" name="Shape 274"/>
          <p:cNvCxnSpPr/>
          <p:nvPr/>
        </p:nvCxnSpPr>
        <p:spPr>
          <a:xfrm>
            <a:off x="539750" y="6021387"/>
            <a:ext cx="5184775" cy="0"/>
          </a:xfrm>
          <a:prstGeom prst="straightConnector1">
            <a:avLst/>
          </a:prstGeom>
          <a:noFill/>
          <a:ln cap="flat" cmpd="sng" w="9525">
            <a:solidFill>
              <a:schemeClr val="dk1"/>
            </a:solidFill>
            <a:prstDash val="solid"/>
            <a:miter/>
            <a:headEnd len="med" w="med" type="none"/>
            <a:tailEnd len="med" w="med" type="none"/>
          </a:ln>
        </p:spPr>
      </p:cxnSp>
      <p:cxnSp>
        <p:nvCxnSpPr>
          <p:cNvPr id="275" name="Shape 275"/>
          <p:cNvCxnSpPr/>
          <p:nvPr/>
        </p:nvCxnSpPr>
        <p:spPr>
          <a:xfrm>
            <a:off x="755650" y="4797425"/>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276" name="Shape 276"/>
          <p:cNvCxnSpPr/>
          <p:nvPr/>
        </p:nvCxnSpPr>
        <p:spPr>
          <a:xfrm>
            <a:off x="3492500" y="4797425"/>
            <a:ext cx="0" cy="1223961"/>
          </a:xfrm>
          <a:prstGeom prst="straightConnector1">
            <a:avLst/>
          </a:prstGeom>
          <a:noFill/>
          <a:ln cap="flat" cmpd="sng" w="9525">
            <a:solidFill>
              <a:schemeClr val="dk1"/>
            </a:solidFill>
            <a:prstDash val="solid"/>
            <a:miter/>
            <a:headEnd len="med" w="med" type="none"/>
            <a:tailEnd len="med" w="med" type="none"/>
          </a:ln>
        </p:spPr>
      </p:cxnSp>
      <p:cxnSp>
        <p:nvCxnSpPr>
          <p:cNvPr id="277" name="Shape 277"/>
          <p:cNvCxnSpPr/>
          <p:nvPr/>
        </p:nvCxnSpPr>
        <p:spPr>
          <a:xfrm>
            <a:off x="755650" y="4508500"/>
            <a:ext cx="2376487" cy="0"/>
          </a:xfrm>
          <a:prstGeom prst="straightConnector1">
            <a:avLst/>
          </a:prstGeom>
          <a:noFill/>
          <a:ln cap="flat" cmpd="sng" w="9525">
            <a:solidFill>
              <a:schemeClr val="dk1"/>
            </a:solidFill>
            <a:prstDash val="solid"/>
            <a:miter/>
            <a:headEnd len="med" w="med" type="none"/>
            <a:tailEnd len="med" w="med" type="none"/>
          </a:ln>
        </p:spPr>
      </p:cxnSp>
      <p:cxnSp>
        <p:nvCxnSpPr>
          <p:cNvPr id="278" name="Shape 278"/>
          <p:cNvCxnSpPr/>
          <p:nvPr/>
        </p:nvCxnSpPr>
        <p:spPr>
          <a:xfrm>
            <a:off x="3059111" y="4508500"/>
            <a:ext cx="0" cy="1512886"/>
          </a:xfrm>
          <a:prstGeom prst="straightConnector1">
            <a:avLst/>
          </a:prstGeom>
          <a:noFill/>
          <a:ln cap="flat" cmpd="sng" w="9525">
            <a:solidFill>
              <a:schemeClr val="dk1"/>
            </a:solidFill>
            <a:prstDash val="solid"/>
            <a:miter/>
            <a:headEnd len="med" w="med" type="none"/>
            <a:tailEnd len="med" w="med" type="none"/>
          </a:ln>
        </p:spPr>
      </p:cxnSp>
      <p:sp>
        <p:nvSpPr>
          <p:cNvPr id="279" name="Shape 279"/>
          <p:cNvSpPr txBox="1"/>
          <p:nvPr/>
        </p:nvSpPr>
        <p:spPr>
          <a:xfrm>
            <a:off x="0" y="141287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280" name="Shape 280"/>
          <p:cNvSpPr txBox="1"/>
          <p:nvPr/>
        </p:nvSpPr>
        <p:spPr>
          <a:xfrm>
            <a:off x="5076825" y="5876925"/>
            <a:ext cx="1274762" cy="5540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281" name="Shape 281"/>
          <p:cNvSpPr txBox="1"/>
          <p:nvPr/>
        </p:nvSpPr>
        <p:spPr>
          <a:xfrm>
            <a:off x="5580062" y="3213100"/>
            <a:ext cx="185102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 INICIAL</a:t>
            </a:r>
          </a:p>
        </p:txBody>
      </p:sp>
      <p:sp>
        <p:nvSpPr>
          <p:cNvPr id="282" name="Shape 282"/>
          <p:cNvSpPr txBox="1"/>
          <p:nvPr/>
        </p:nvSpPr>
        <p:spPr>
          <a:xfrm>
            <a:off x="1042987" y="1989136"/>
            <a:ext cx="1223961"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DEMANDA</a:t>
            </a:r>
          </a:p>
        </p:txBody>
      </p:sp>
      <p:cxnSp>
        <p:nvCxnSpPr>
          <p:cNvPr id="283" name="Shape 283"/>
          <p:cNvCxnSpPr/>
          <p:nvPr/>
        </p:nvCxnSpPr>
        <p:spPr>
          <a:xfrm>
            <a:off x="2484436" y="4797425"/>
            <a:ext cx="1008062" cy="0"/>
          </a:xfrm>
          <a:prstGeom prst="straightConnector1">
            <a:avLst/>
          </a:prstGeom>
          <a:noFill/>
          <a:ln cap="rnd" cmpd="sng" w="9525">
            <a:solidFill>
              <a:schemeClr val="dk1"/>
            </a:solidFill>
            <a:prstDash val="solid"/>
            <a:miter/>
            <a:headEnd len="med" w="med" type="none"/>
            <a:tailEnd len="med" w="med" type="none"/>
          </a:ln>
        </p:spPr>
      </p:cxnSp>
      <p:sp>
        <p:nvSpPr>
          <p:cNvPr id="284" name="Shape 284"/>
          <p:cNvSpPr txBox="1"/>
          <p:nvPr/>
        </p:nvSpPr>
        <p:spPr>
          <a:xfrm>
            <a:off x="431800" y="45815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a:t>
            </a:r>
          </a:p>
        </p:txBody>
      </p:sp>
      <p:sp>
        <p:nvSpPr>
          <p:cNvPr id="285" name="Shape 285"/>
          <p:cNvSpPr txBox="1"/>
          <p:nvPr/>
        </p:nvSpPr>
        <p:spPr>
          <a:xfrm>
            <a:off x="431800" y="429260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sp>
        <p:nvSpPr>
          <p:cNvPr id="286" name="Shape 286"/>
          <p:cNvSpPr txBox="1"/>
          <p:nvPr/>
        </p:nvSpPr>
        <p:spPr>
          <a:xfrm>
            <a:off x="3276600" y="594995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sp>
        <p:nvSpPr>
          <p:cNvPr id="287" name="Shape 287"/>
          <p:cNvSpPr/>
          <p:nvPr/>
        </p:nvSpPr>
        <p:spPr>
          <a:xfrm>
            <a:off x="1042987" y="2530475"/>
            <a:ext cx="4322761" cy="2843211"/>
          </a:xfrm>
          <a:custGeom>
            <a:pathLst>
              <a:path extrusionOk="0" h="1791" w="2723">
                <a:moveTo>
                  <a:pt x="0" y="1791"/>
                </a:moveTo>
                <a:cubicBezTo>
                  <a:pt x="109" y="1781"/>
                  <a:pt x="414" y="1789"/>
                  <a:pt x="653" y="1734"/>
                </a:cubicBezTo>
                <a:cubicBezTo>
                  <a:pt x="892" y="1680"/>
                  <a:pt x="1210" y="1577"/>
                  <a:pt x="1432" y="1466"/>
                </a:cubicBezTo>
                <a:cubicBezTo>
                  <a:pt x="1654" y="1355"/>
                  <a:pt x="1835" y="1201"/>
                  <a:pt x="1987" y="1067"/>
                </a:cubicBezTo>
                <a:cubicBezTo>
                  <a:pt x="2139" y="933"/>
                  <a:pt x="2247" y="792"/>
                  <a:pt x="2346" y="661"/>
                </a:cubicBezTo>
                <a:cubicBezTo>
                  <a:pt x="2445" y="530"/>
                  <a:pt x="2519" y="393"/>
                  <a:pt x="2582" y="283"/>
                </a:cubicBezTo>
                <a:cubicBezTo>
                  <a:pt x="2645" y="173"/>
                  <a:pt x="2694" y="59"/>
                  <a:pt x="2723" y="0"/>
                </a:cubicBezTo>
              </a:path>
            </a:pathLst>
          </a:custGeom>
          <a:noFill/>
          <a:ln cap="flat" cmpd="sng" w="5080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88" name="Shape 288"/>
          <p:cNvSpPr txBox="1"/>
          <p:nvPr/>
        </p:nvSpPr>
        <p:spPr>
          <a:xfrm>
            <a:off x="2987675" y="2347911"/>
            <a:ext cx="1635125"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OFERTA FINAL</a:t>
            </a:r>
          </a:p>
        </p:txBody>
      </p:sp>
      <p:sp>
        <p:nvSpPr>
          <p:cNvPr id="289" name="Shape 289"/>
          <p:cNvSpPr/>
          <p:nvPr/>
        </p:nvSpPr>
        <p:spPr>
          <a:xfrm>
            <a:off x="3059111" y="4508500"/>
            <a:ext cx="433386" cy="288925"/>
          </a:xfrm>
          <a:prstGeom prst="rtTriangle">
            <a:avLst/>
          </a:prstGeom>
          <a:solidFill>
            <a:schemeClr val="accent1"/>
          </a:solidFill>
          <a:ln cap="flat" cmpd="sng" w="31750">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90" name="Shape 290"/>
          <p:cNvSpPr/>
          <p:nvPr/>
        </p:nvSpPr>
        <p:spPr>
          <a:xfrm rot="-3600000">
            <a:off x="3221037" y="4264024"/>
            <a:ext cx="307974" cy="498475"/>
          </a:xfrm>
          <a:prstGeom prst="rightBrace">
            <a:avLst>
              <a:gd fmla="val 8333" name="adj1"/>
              <a:gd fmla="val 50000" name="adj2"/>
            </a:avLst>
          </a:prstGeom>
          <a:noFill/>
          <a:ln cap="flat" cmpd="sng" w="349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91" name="Shape 291"/>
          <p:cNvSpPr txBox="1"/>
          <p:nvPr/>
        </p:nvSpPr>
        <p:spPr>
          <a:xfrm>
            <a:off x="2627311" y="4005262"/>
            <a:ext cx="185102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IMPUESTO</a:t>
            </a:r>
          </a:p>
        </p:txBody>
      </p:sp>
      <p:sp>
        <p:nvSpPr>
          <p:cNvPr id="292" name="Shape 292"/>
          <p:cNvSpPr/>
          <p:nvPr/>
        </p:nvSpPr>
        <p:spPr>
          <a:xfrm>
            <a:off x="827087" y="1916111"/>
            <a:ext cx="4270375" cy="3508375"/>
          </a:xfrm>
          <a:custGeom>
            <a:pathLst>
              <a:path extrusionOk="0" h="2210" w="2690">
                <a:moveTo>
                  <a:pt x="0" y="0"/>
                </a:moveTo>
                <a:cubicBezTo>
                  <a:pt x="49" y="85"/>
                  <a:pt x="181" y="348"/>
                  <a:pt x="293" y="510"/>
                </a:cubicBezTo>
                <a:cubicBezTo>
                  <a:pt x="405" y="672"/>
                  <a:pt x="540" y="829"/>
                  <a:pt x="671" y="972"/>
                </a:cubicBezTo>
                <a:cubicBezTo>
                  <a:pt x="802" y="1115"/>
                  <a:pt x="950" y="1257"/>
                  <a:pt x="1077" y="1369"/>
                </a:cubicBezTo>
                <a:cubicBezTo>
                  <a:pt x="1204" y="1481"/>
                  <a:pt x="1340" y="1576"/>
                  <a:pt x="1434" y="1645"/>
                </a:cubicBezTo>
                <a:cubicBezTo>
                  <a:pt x="1528" y="1714"/>
                  <a:pt x="1517" y="1715"/>
                  <a:pt x="1643" y="1785"/>
                </a:cubicBezTo>
                <a:cubicBezTo>
                  <a:pt x="1769" y="1855"/>
                  <a:pt x="2015" y="1997"/>
                  <a:pt x="2189" y="2068"/>
                </a:cubicBezTo>
                <a:cubicBezTo>
                  <a:pt x="2364" y="2139"/>
                  <a:pt x="2586" y="2181"/>
                  <a:pt x="2690" y="2210"/>
                </a:cubicBezTo>
              </a:path>
            </a:pathLst>
          </a:custGeom>
          <a:noFill/>
          <a:ln cap="flat" cmpd="sng" w="3810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93" name="Shape 293"/>
          <p:cNvSpPr/>
          <p:nvPr/>
        </p:nvSpPr>
        <p:spPr>
          <a:xfrm>
            <a:off x="1042987" y="2636836"/>
            <a:ext cx="4286250" cy="2760662"/>
          </a:xfrm>
          <a:custGeom>
            <a:pathLst>
              <a:path extrusionOk="0" h="1739" w="2700">
                <a:moveTo>
                  <a:pt x="0" y="1739"/>
                </a:moveTo>
                <a:cubicBezTo>
                  <a:pt x="109" y="1729"/>
                  <a:pt x="414" y="1737"/>
                  <a:pt x="653" y="1682"/>
                </a:cubicBezTo>
                <a:cubicBezTo>
                  <a:pt x="892" y="1628"/>
                  <a:pt x="1217" y="1519"/>
                  <a:pt x="1432" y="1414"/>
                </a:cubicBezTo>
                <a:cubicBezTo>
                  <a:pt x="1647" y="1309"/>
                  <a:pt x="1800" y="1173"/>
                  <a:pt x="1944" y="1049"/>
                </a:cubicBezTo>
                <a:cubicBezTo>
                  <a:pt x="2088" y="925"/>
                  <a:pt x="2198" y="784"/>
                  <a:pt x="2294" y="671"/>
                </a:cubicBezTo>
                <a:cubicBezTo>
                  <a:pt x="2390" y="558"/>
                  <a:pt x="2452" y="481"/>
                  <a:pt x="2520" y="369"/>
                </a:cubicBezTo>
                <a:cubicBezTo>
                  <a:pt x="2588" y="257"/>
                  <a:pt x="2663" y="77"/>
                  <a:pt x="2700" y="0"/>
                </a:cubicBezTo>
              </a:path>
            </a:pathLst>
          </a:custGeom>
          <a:noFill/>
          <a:ln cap="flat" cmpd="sng" w="2857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294" name="Shape 294"/>
          <p:cNvPicPr preferRelativeResize="0"/>
          <p:nvPr>
            <p:ph idx="4294967295" type="body"/>
          </p:nvPr>
        </p:nvPicPr>
        <p:blipFill rotWithShape="1">
          <a:blip r:embed="rId3">
            <a:alphaModFix/>
          </a:blip>
          <a:srcRect b="0" l="0" r="0" t="0"/>
          <a:stretch/>
        </p:blipFill>
        <p:spPr>
          <a:xfrm>
            <a:off x="5076825" y="404812"/>
            <a:ext cx="2879724" cy="731837"/>
          </a:xfrm>
          <a:prstGeom prst="rect">
            <a:avLst/>
          </a:prstGeom>
          <a:noFill/>
          <a:ln>
            <a:noFill/>
          </a:ln>
        </p:spPr>
      </p:pic>
      <p:sp>
        <p:nvSpPr>
          <p:cNvPr id="295" name="Shape 295"/>
          <p:cNvSpPr/>
          <p:nvPr/>
        </p:nvSpPr>
        <p:spPr>
          <a:xfrm>
            <a:off x="395287" y="4508500"/>
            <a:ext cx="71436" cy="504824"/>
          </a:xfrm>
          <a:prstGeom prst="leftBrace">
            <a:avLst>
              <a:gd fmla="val 8333" name="adj1"/>
              <a:gd fmla="val 50000" name="adj2"/>
            </a:avLst>
          </a:prstGeom>
          <a:noFill/>
          <a:ln cap="flat" cmpd="sng" w="25400">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96" name="Shape 296"/>
          <p:cNvSpPr txBox="1"/>
          <p:nvPr/>
        </p:nvSpPr>
        <p:spPr>
          <a:xfrm rot="5400000">
            <a:off x="-315118" y="4566442"/>
            <a:ext cx="12001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Impuesto</a:t>
            </a:r>
          </a:p>
        </p:txBody>
      </p:sp>
      <p:cxnSp>
        <p:nvCxnSpPr>
          <p:cNvPr id="297" name="Shape 297"/>
          <p:cNvCxnSpPr/>
          <p:nvPr/>
        </p:nvCxnSpPr>
        <p:spPr>
          <a:xfrm>
            <a:off x="755650" y="5013325"/>
            <a:ext cx="2303461" cy="0"/>
          </a:xfrm>
          <a:prstGeom prst="straightConnector1">
            <a:avLst/>
          </a:prstGeom>
          <a:noFill/>
          <a:ln cap="flat" cmpd="sng" w="9525">
            <a:solidFill>
              <a:schemeClr val="dk1"/>
            </a:solidFill>
            <a:prstDash val="solid"/>
            <a:miter/>
            <a:headEnd len="med" w="med" type="none"/>
            <a:tailEnd len="med" w="med" type="none"/>
          </a:ln>
        </p:spPr>
      </p:cxnSp>
      <p:sp>
        <p:nvSpPr>
          <p:cNvPr id="298" name="Shape 298"/>
          <p:cNvSpPr txBox="1"/>
          <p:nvPr/>
        </p:nvSpPr>
        <p:spPr>
          <a:xfrm>
            <a:off x="431800" y="47974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02" name="Shape 302"/>
        <p:cNvGrpSpPr/>
        <p:nvPr/>
      </p:nvGrpSpPr>
      <p:grpSpPr>
        <a:xfrm>
          <a:off x="0" y="0"/>
          <a:ext cx="0" cy="0"/>
          <a:chOff x="0" y="0"/>
          <a:chExt cx="0" cy="0"/>
        </a:xfrm>
      </p:grpSpPr>
      <p:sp>
        <p:nvSpPr>
          <p:cNvPr id="303" name="Shape 303"/>
          <p:cNvSpPr txBox="1"/>
          <p:nvPr/>
        </p:nvSpPr>
        <p:spPr>
          <a:xfrm rot="5400000">
            <a:off x="-315118" y="4566442"/>
            <a:ext cx="12001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Impuesto</a:t>
            </a:r>
          </a:p>
        </p:txBody>
      </p:sp>
      <p:sp>
        <p:nvSpPr>
          <p:cNvPr id="304" name="Shape 304"/>
          <p:cNvSpPr/>
          <p:nvPr/>
        </p:nvSpPr>
        <p:spPr>
          <a:xfrm>
            <a:off x="755650" y="4508500"/>
            <a:ext cx="2301875" cy="492125"/>
          </a:xfrm>
          <a:custGeom>
            <a:pathLst>
              <a:path extrusionOk="0" h="310" w="1450">
                <a:moveTo>
                  <a:pt x="5" y="0"/>
                </a:moveTo>
                <a:lnTo>
                  <a:pt x="0" y="197"/>
                </a:lnTo>
                <a:lnTo>
                  <a:pt x="2" y="310"/>
                </a:lnTo>
                <a:lnTo>
                  <a:pt x="270" y="286"/>
                </a:lnTo>
                <a:lnTo>
                  <a:pt x="515" y="267"/>
                </a:lnTo>
                <a:lnTo>
                  <a:pt x="770" y="219"/>
                </a:lnTo>
                <a:lnTo>
                  <a:pt x="1006" y="163"/>
                </a:lnTo>
                <a:lnTo>
                  <a:pt x="1252" y="87"/>
                </a:lnTo>
                <a:lnTo>
                  <a:pt x="1450" y="7"/>
                </a:lnTo>
                <a:lnTo>
                  <a:pt x="1090" y="9"/>
                </a:lnTo>
                <a:lnTo>
                  <a:pt x="656" y="0"/>
                </a:lnTo>
                <a:lnTo>
                  <a:pt x="326" y="0"/>
                </a:lnTo>
                <a:lnTo>
                  <a:pt x="5" y="0"/>
                </a:lnTo>
                <a:close/>
              </a:path>
            </a:pathLst>
          </a:custGeom>
          <a:solidFill>
            <a:srgbClr val="FF0000">
              <a:alpha val="44705"/>
            </a:srgbClr>
          </a:solidFill>
          <a:ln cap="flat" cmpd="sng" w="190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05" name="Shape 305"/>
          <p:cNvSpPr txBox="1"/>
          <p:nvPr/>
        </p:nvSpPr>
        <p:spPr>
          <a:xfrm>
            <a:off x="2843211" y="594995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Q1</a:t>
            </a:r>
          </a:p>
        </p:txBody>
      </p:sp>
      <p:sp>
        <p:nvSpPr>
          <p:cNvPr id="306" name="Shape 306"/>
          <p:cNvSpPr txBox="1"/>
          <p:nvPr>
            <p:ph idx="4294967295" type="title"/>
          </p:nvPr>
        </p:nvSpPr>
        <p:spPr>
          <a:xfrm>
            <a:off x="34925" y="0"/>
            <a:ext cx="4465636" cy="1628775"/>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200" u="none" cap="none" strike="noStrike">
                <a:solidFill>
                  <a:schemeClr val="dk2"/>
                </a:solidFill>
                <a:latin typeface="Arial"/>
                <a:ea typeface="Arial"/>
                <a:cs typeface="Arial"/>
                <a:sym typeface="Arial"/>
              </a:rPr>
              <a:t>REDUCCIÓN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EXCEDENTE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DEL PRODUCTOR</a:t>
            </a:r>
          </a:p>
        </p:txBody>
      </p:sp>
      <p:sp>
        <p:nvSpPr>
          <p:cNvPr id="307" name="Shape 307"/>
          <p:cNvSpPr txBox="1"/>
          <p:nvPr>
            <p:ph idx="4294967295" type="body"/>
          </p:nvPr>
        </p:nvSpPr>
        <p:spPr>
          <a:xfrm>
            <a:off x="5141912" y="3862387"/>
            <a:ext cx="4038599" cy="1871662"/>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0" i="0" lang="en-US" sz="1900" u="none" cap="none" strike="noStrike">
                <a:solidFill>
                  <a:schemeClr val="dk1"/>
                </a:solidFill>
                <a:latin typeface="Arial"/>
                <a:ea typeface="Arial"/>
                <a:cs typeface="Arial"/>
                <a:sym typeface="Arial"/>
              </a:rPr>
              <a:t>Al aplicar el impuesto </a:t>
            </a:r>
            <a:r>
              <a:rPr b="1" i="0" lang="en-US" sz="1900" u="none" cap="none" strike="noStrike">
                <a:solidFill>
                  <a:srgbClr val="EC1914"/>
                </a:solidFill>
                <a:latin typeface="Arial"/>
                <a:ea typeface="Arial"/>
                <a:cs typeface="Arial"/>
                <a:sym typeface="Arial"/>
              </a:rPr>
              <a:t>empeora</a:t>
            </a:r>
            <a:r>
              <a:rPr b="0" i="0" lang="en-US" sz="1900" u="none" cap="none" strike="noStrike">
                <a:solidFill>
                  <a:schemeClr val="dk1"/>
                </a:solidFill>
                <a:latin typeface="Arial"/>
                <a:ea typeface="Arial"/>
                <a:cs typeface="Arial"/>
                <a:sym typeface="Arial"/>
              </a:rPr>
              <a:t> la oferta y se reduce el excedente de los productores eficientes.</a:t>
            </a:r>
          </a:p>
          <a:p>
            <a:pPr indent="-342900" lvl="0" marL="342900" marR="0" rtl="0" algn="l">
              <a:lnSpc>
                <a:spcPct val="80000"/>
              </a:lnSpc>
              <a:spcBef>
                <a:spcPts val="380"/>
              </a:spcBef>
              <a:spcAft>
                <a:spcPts val="0"/>
              </a:spcAft>
              <a:buClr>
                <a:schemeClr val="dk2"/>
              </a:buClr>
              <a:buSzPct val="25000"/>
              <a:buFont typeface="Noto Symbol"/>
              <a:buNone/>
            </a:pPr>
            <a:r>
              <a:t/>
            </a:r>
            <a:endParaRPr b="0" i="0" sz="1900" u="none" cap="none" strike="noStrike">
              <a:solidFill>
                <a:schemeClr val="dk1"/>
              </a:solidFill>
              <a:latin typeface="Arial"/>
              <a:ea typeface="Arial"/>
              <a:cs typeface="Arial"/>
              <a:sym typeface="Arial"/>
            </a:endParaRPr>
          </a:p>
          <a:p>
            <a:pPr indent="-342900" lvl="0" marL="342900" marR="0" rtl="0" algn="l">
              <a:lnSpc>
                <a:spcPct val="80000"/>
              </a:lnSpc>
              <a:spcBef>
                <a:spcPts val="380"/>
              </a:spcBef>
              <a:spcAft>
                <a:spcPts val="0"/>
              </a:spcAft>
              <a:buClr>
                <a:schemeClr val="dk2"/>
              </a:buClr>
              <a:buSzPct val="25000"/>
              <a:buFont typeface="Noto Symbol"/>
              <a:buNone/>
            </a:pPr>
            <a:r>
              <a:rPr b="0" i="0" lang="en-US" sz="1900" u="none" cap="none" strike="noStrike">
                <a:solidFill>
                  <a:schemeClr val="dk1"/>
                </a:solidFill>
                <a:latin typeface="Arial"/>
                <a:ea typeface="Arial"/>
                <a:cs typeface="Arial"/>
                <a:sym typeface="Arial"/>
              </a:rPr>
              <a:t>El productor cobra P1 pero debe pagar el impuesto (P1- P´1), así que finalmente recibe P´1. </a:t>
            </a:r>
          </a:p>
        </p:txBody>
      </p:sp>
      <p:cxnSp>
        <p:nvCxnSpPr>
          <p:cNvPr id="308" name="Shape 308"/>
          <p:cNvCxnSpPr/>
          <p:nvPr/>
        </p:nvCxnSpPr>
        <p:spPr>
          <a:xfrm>
            <a:off x="755650" y="1773236"/>
            <a:ext cx="0" cy="4535487"/>
          </a:xfrm>
          <a:prstGeom prst="straightConnector1">
            <a:avLst/>
          </a:prstGeom>
          <a:noFill/>
          <a:ln cap="flat" cmpd="sng" w="9525">
            <a:solidFill>
              <a:schemeClr val="dk1"/>
            </a:solidFill>
            <a:prstDash val="solid"/>
            <a:miter/>
            <a:headEnd len="med" w="med" type="none"/>
            <a:tailEnd len="med" w="med" type="none"/>
          </a:ln>
        </p:spPr>
      </p:cxnSp>
      <p:cxnSp>
        <p:nvCxnSpPr>
          <p:cNvPr id="309" name="Shape 309"/>
          <p:cNvCxnSpPr/>
          <p:nvPr/>
        </p:nvCxnSpPr>
        <p:spPr>
          <a:xfrm>
            <a:off x="539750" y="6021387"/>
            <a:ext cx="5184775" cy="0"/>
          </a:xfrm>
          <a:prstGeom prst="straightConnector1">
            <a:avLst/>
          </a:prstGeom>
          <a:noFill/>
          <a:ln cap="flat" cmpd="sng" w="9525">
            <a:solidFill>
              <a:schemeClr val="dk1"/>
            </a:solidFill>
            <a:prstDash val="solid"/>
            <a:miter/>
            <a:headEnd len="med" w="med" type="none"/>
            <a:tailEnd len="med" w="med" type="none"/>
          </a:ln>
        </p:spPr>
      </p:cxnSp>
      <p:cxnSp>
        <p:nvCxnSpPr>
          <p:cNvPr id="310" name="Shape 310"/>
          <p:cNvCxnSpPr/>
          <p:nvPr/>
        </p:nvCxnSpPr>
        <p:spPr>
          <a:xfrm>
            <a:off x="755650" y="4797425"/>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311" name="Shape 311"/>
          <p:cNvCxnSpPr/>
          <p:nvPr/>
        </p:nvCxnSpPr>
        <p:spPr>
          <a:xfrm>
            <a:off x="3492500" y="4797425"/>
            <a:ext cx="0" cy="1223961"/>
          </a:xfrm>
          <a:prstGeom prst="straightConnector1">
            <a:avLst/>
          </a:prstGeom>
          <a:noFill/>
          <a:ln cap="flat" cmpd="sng" w="9525">
            <a:solidFill>
              <a:schemeClr val="dk1"/>
            </a:solidFill>
            <a:prstDash val="solid"/>
            <a:miter/>
            <a:headEnd len="med" w="med" type="none"/>
            <a:tailEnd len="med" w="med" type="none"/>
          </a:ln>
        </p:spPr>
      </p:cxnSp>
      <p:cxnSp>
        <p:nvCxnSpPr>
          <p:cNvPr id="312" name="Shape 312"/>
          <p:cNvCxnSpPr/>
          <p:nvPr/>
        </p:nvCxnSpPr>
        <p:spPr>
          <a:xfrm>
            <a:off x="755650" y="4508500"/>
            <a:ext cx="2303461" cy="0"/>
          </a:xfrm>
          <a:prstGeom prst="straightConnector1">
            <a:avLst/>
          </a:prstGeom>
          <a:noFill/>
          <a:ln cap="flat" cmpd="sng" w="9525">
            <a:solidFill>
              <a:schemeClr val="dk1"/>
            </a:solidFill>
            <a:prstDash val="solid"/>
            <a:miter/>
            <a:headEnd len="med" w="med" type="none"/>
            <a:tailEnd len="med" w="med" type="none"/>
          </a:ln>
        </p:spPr>
      </p:cxnSp>
      <p:cxnSp>
        <p:nvCxnSpPr>
          <p:cNvPr id="313" name="Shape 313"/>
          <p:cNvCxnSpPr/>
          <p:nvPr/>
        </p:nvCxnSpPr>
        <p:spPr>
          <a:xfrm>
            <a:off x="3059111" y="4508500"/>
            <a:ext cx="0" cy="1512886"/>
          </a:xfrm>
          <a:prstGeom prst="straightConnector1">
            <a:avLst/>
          </a:prstGeom>
          <a:noFill/>
          <a:ln cap="flat" cmpd="sng" w="9525">
            <a:solidFill>
              <a:schemeClr val="dk1"/>
            </a:solidFill>
            <a:prstDash val="solid"/>
            <a:miter/>
            <a:headEnd len="med" w="med" type="none"/>
            <a:tailEnd len="med" w="med" type="none"/>
          </a:ln>
        </p:spPr>
      </p:cxnSp>
      <p:sp>
        <p:nvSpPr>
          <p:cNvPr id="314" name="Shape 314"/>
          <p:cNvSpPr txBox="1"/>
          <p:nvPr/>
        </p:nvSpPr>
        <p:spPr>
          <a:xfrm>
            <a:off x="0" y="141287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315" name="Shape 315"/>
          <p:cNvSpPr txBox="1"/>
          <p:nvPr/>
        </p:nvSpPr>
        <p:spPr>
          <a:xfrm>
            <a:off x="5076825" y="5876925"/>
            <a:ext cx="1274762" cy="5540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316" name="Shape 316"/>
          <p:cNvSpPr txBox="1"/>
          <p:nvPr/>
        </p:nvSpPr>
        <p:spPr>
          <a:xfrm>
            <a:off x="5457825" y="2709861"/>
            <a:ext cx="185102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 INICIAL</a:t>
            </a:r>
          </a:p>
        </p:txBody>
      </p:sp>
      <p:sp>
        <p:nvSpPr>
          <p:cNvPr id="317" name="Shape 317"/>
          <p:cNvSpPr txBox="1"/>
          <p:nvPr/>
        </p:nvSpPr>
        <p:spPr>
          <a:xfrm>
            <a:off x="1042987" y="2062161"/>
            <a:ext cx="1223961"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p:txBody>
      </p:sp>
      <p:cxnSp>
        <p:nvCxnSpPr>
          <p:cNvPr id="318" name="Shape 318"/>
          <p:cNvCxnSpPr/>
          <p:nvPr/>
        </p:nvCxnSpPr>
        <p:spPr>
          <a:xfrm>
            <a:off x="2484436" y="4797425"/>
            <a:ext cx="1008062" cy="0"/>
          </a:xfrm>
          <a:prstGeom prst="straightConnector1">
            <a:avLst/>
          </a:prstGeom>
          <a:noFill/>
          <a:ln cap="rnd" cmpd="sng" w="9525">
            <a:solidFill>
              <a:schemeClr val="dk1"/>
            </a:solidFill>
            <a:prstDash val="solid"/>
            <a:miter/>
            <a:headEnd len="med" w="med" type="none"/>
            <a:tailEnd len="med" w="med" type="none"/>
          </a:ln>
        </p:spPr>
      </p:cxnSp>
      <p:sp>
        <p:nvSpPr>
          <p:cNvPr id="319" name="Shape 319"/>
          <p:cNvSpPr txBox="1"/>
          <p:nvPr/>
        </p:nvSpPr>
        <p:spPr>
          <a:xfrm>
            <a:off x="431800" y="45815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a:t>
            </a:r>
          </a:p>
        </p:txBody>
      </p:sp>
      <p:sp>
        <p:nvSpPr>
          <p:cNvPr id="320" name="Shape 320"/>
          <p:cNvSpPr txBox="1"/>
          <p:nvPr/>
        </p:nvSpPr>
        <p:spPr>
          <a:xfrm>
            <a:off x="431800" y="429260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sp>
        <p:nvSpPr>
          <p:cNvPr id="321" name="Shape 321"/>
          <p:cNvSpPr txBox="1"/>
          <p:nvPr/>
        </p:nvSpPr>
        <p:spPr>
          <a:xfrm>
            <a:off x="3276600" y="594995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sp>
        <p:nvSpPr>
          <p:cNvPr id="322" name="Shape 322"/>
          <p:cNvSpPr/>
          <p:nvPr/>
        </p:nvSpPr>
        <p:spPr>
          <a:xfrm>
            <a:off x="749300" y="2565400"/>
            <a:ext cx="4595811" cy="2890836"/>
          </a:xfrm>
          <a:custGeom>
            <a:pathLst>
              <a:path extrusionOk="0" h="1821" w="2895">
                <a:moveTo>
                  <a:pt x="0" y="1821"/>
                </a:moveTo>
                <a:cubicBezTo>
                  <a:pt x="52" y="1818"/>
                  <a:pt x="171" y="1816"/>
                  <a:pt x="312" y="1802"/>
                </a:cubicBezTo>
                <a:cubicBezTo>
                  <a:pt x="453" y="1788"/>
                  <a:pt x="634" y="1791"/>
                  <a:pt x="846" y="1739"/>
                </a:cubicBezTo>
                <a:cubicBezTo>
                  <a:pt x="1058" y="1687"/>
                  <a:pt x="1367" y="1603"/>
                  <a:pt x="1586" y="1491"/>
                </a:cubicBezTo>
                <a:cubicBezTo>
                  <a:pt x="1805" y="1379"/>
                  <a:pt x="2004" y="1205"/>
                  <a:pt x="2159" y="1067"/>
                </a:cubicBezTo>
                <a:cubicBezTo>
                  <a:pt x="2314" y="929"/>
                  <a:pt x="2419" y="792"/>
                  <a:pt x="2518" y="661"/>
                </a:cubicBezTo>
                <a:cubicBezTo>
                  <a:pt x="2617" y="530"/>
                  <a:pt x="2691" y="393"/>
                  <a:pt x="2754" y="283"/>
                </a:cubicBezTo>
                <a:cubicBezTo>
                  <a:pt x="2817" y="173"/>
                  <a:pt x="2866" y="59"/>
                  <a:pt x="2895" y="0"/>
                </a:cubicBezTo>
              </a:path>
            </a:pathLst>
          </a:custGeom>
          <a:noFill/>
          <a:ln cap="flat" cmpd="sng" w="5080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23" name="Shape 323"/>
          <p:cNvSpPr txBox="1"/>
          <p:nvPr/>
        </p:nvSpPr>
        <p:spPr>
          <a:xfrm>
            <a:off x="2987675" y="2347911"/>
            <a:ext cx="1635125"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OFERTA FINAL</a:t>
            </a:r>
          </a:p>
        </p:txBody>
      </p:sp>
      <p:sp>
        <p:nvSpPr>
          <p:cNvPr id="324" name="Shape 324"/>
          <p:cNvSpPr/>
          <p:nvPr/>
        </p:nvSpPr>
        <p:spPr>
          <a:xfrm rot="-3600000">
            <a:off x="3196431" y="4250531"/>
            <a:ext cx="358774" cy="503236"/>
          </a:xfrm>
          <a:prstGeom prst="rightBrace">
            <a:avLst>
              <a:gd fmla="val 8333" name="adj1"/>
              <a:gd fmla="val 50000" name="adj2"/>
            </a:avLst>
          </a:prstGeom>
          <a:noFill/>
          <a:ln cap="flat" cmpd="sng" w="349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25" name="Shape 325"/>
          <p:cNvSpPr txBox="1"/>
          <p:nvPr/>
        </p:nvSpPr>
        <p:spPr>
          <a:xfrm>
            <a:off x="2627311" y="3933825"/>
            <a:ext cx="1851024"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IMPUESTO</a:t>
            </a:r>
          </a:p>
        </p:txBody>
      </p:sp>
      <p:sp>
        <p:nvSpPr>
          <p:cNvPr id="326" name="Shape 326"/>
          <p:cNvSpPr/>
          <p:nvPr/>
        </p:nvSpPr>
        <p:spPr>
          <a:xfrm>
            <a:off x="827087" y="1916111"/>
            <a:ext cx="4270375" cy="3508375"/>
          </a:xfrm>
          <a:custGeom>
            <a:pathLst>
              <a:path extrusionOk="0" h="2210" w="2690">
                <a:moveTo>
                  <a:pt x="0" y="0"/>
                </a:moveTo>
                <a:cubicBezTo>
                  <a:pt x="49" y="85"/>
                  <a:pt x="181" y="348"/>
                  <a:pt x="293" y="510"/>
                </a:cubicBezTo>
                <a:cubicBezTo>
                  <a:pt x="405" y="672"/>
                  <a:pt x="540" y="829"/>
                  <a:pt x="671" y="972"/>
                </a:cubicBezTo>
                <a:cubicBezTo>
                  <a:pt x="802" y="1115"/>
                  <a:pt x="950" y="1257"/>
                  <a:pt x="1077" y="1369"/>
                </a:cubicBezTo>
                <a:cubicBezTo>
                  <a:pt x="1204" y="1481"/>
                  <a:pt x="1340" y="1576"/>
                  <a:pt x="1434" y="1645"/>
                </a:cubicBezTo>
                <a:cubicBezTo>
                  <a:pt x="1528" y="1714"/>
                  <a:pt x="1517" y="1715"/>
                  <a:pt x="1643" y="1785"/>
                </a:cubicBezTo>
                <a:cubicBezTo>
                  <a:pt x="1769" y="1855"/>
                  <a:pt x="2015" y="1997"/>
                  <a:pt x="2189" y="2068"/>
                </a:cubicBezTo>
                <a:cubicBezTo>
                  <a:pt x="2364" y="2139"/>
                  <a:pt x="2586" y="2181"/>
                  <a:pt x="2690" y="2210"/>
                </a:cubicBezTo>
              </a:path>
            </a:pathLst>
          </a:custGeom>
          <a:noFill/>
          <a:ln cap="flat" cmpd="sng" w="3810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27" name="Shape 327"/>
          <p:cNvSpPr/>
          <p:nvPr/>
        </p:nvSpPr>
        <p:spPr>
          <a:xfrm>
            <a:off x="755650" y="2636836"/>
            <a:ext cx="4579936" cy="2798761"/>
          </a:xfrm>
          <a:custGeom>
            <a:pathLst>
              <a:path extrusionOk="0" h="1763" w="2885">
                <a:moveTo>
                  <a:pt x="0" y="1763"/>
                </a:moveTo>
                <a:cubicBezTo>
                  <a:pt x="55" y="1760"/>
                  <a:pt x="193" y="1758"/>
                  <a:pt x="331" y="1744"/>
                </a:cubicBezTo>
                <a:cubicBezTo>
                  <a:pt x="469" y="1730"/>
                  <a:pt x="617" y="1733"/>
                  <a:pt x="831" y="1678"/>
                </a:cubicBezTo>
                <a:cubicBezTo>
                  <a:pt x="1045" y="1623"/>
                  <a:pt x="1401" y="1519"/>
                  <a:pt x="1617" y="1414"/>
                </a:cubicBezTo>
                <a:cubicBezTo>
                  <a:pt x="1833" y="1309"/>
                  <a:pt x="1985" y="1173"/>
                  <a:pt x="2129" y="1049"/>
                </a:cubicBezTo>
                <a:cubicBezTo>
                  <a:pt x="2273" y="925"/>
                  <a:pt x="2383" y="784"/>
                  <a:pt x="2479" y="671"/>
                </a:cubicBezTo>
                <a:cubicBezTo>
                  <a:pt x="2575" y="558"/>
                  <a:pt x="2637" y="481"/>
                  <a:pt x="2705" y="369"/>
                </a:cubicBezTo>
                <a:cubicBezTo>
                  <a:pt x="2773" y="257"/>
                  <a:pt x="2848" y="77"/>
                  <a:pt x="2885" y="0"/>
                </a:cubicBezTo>
              </a:path>
            </a:pathLst>
          </a:custGeom>
          <a:noFill/>
          <a:ln cap="flat" cmpd="sng" w="2857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328" name="Shape 328"/>
          <p:cNvCxnSpPr/>
          <p:nvPr/>
        </p:nvCxnSpPr>
        <p:spPr>
          <a:xfrm rot="10800000">
            <a:off x="755649" y="5013325"/>
            <a:ext cx="2303461" cy="0"/>
          </a:xfrm>
          <a:prstGeom prst="straightConnector1">
            <a:avLst/>
          </a:prstGeom>
          <a:noFill/>
          <a:ln cap="flat" cmpd="sng" w="9525">
            <a:solidFill>
              <a:schemeClr val="dk1"/>
            </a:solidFill>
            <a:prstDash val="solid"/>
            <a:miter/>
            <a:headEnd len="med" w="med" type="none"/>
            <a:tailEnd len="med" w="med" type="none"/>
          </a:ln>
        </p:spPr>
      </p:cxnSp>
      <p:sp>
        <p:nvSpPr>
          <p:cNvPr id="329" name="Shape 329"/>
          <p:cNvSpPr txBox="1"/>
          <p:nvPr/>
        </p:nvSpPr>
        <p:spPr>
          <a:xfrm>
            <a:off x="395287" y="47974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sp>
        <p:nvSpPr>
          <p:cNvPr id="330" name="Shape 330"/>
          <p:cNvSpPr txBox="1"/>
          <p:nvPr/>
        </p:nvSpPr>
        <p:spPr>
          <a:xfrm>
            <a:off x="755650" y="4797425"/>
            <a:ext cx="2303461" cy="215899"/>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REDUCCION</a:t>
            </a:r>
          </a:p>
        </p:txBody>
      </p:sp>
      <p:sp>
        <p:nvSpPr>
          <p:cNvPr id="331" name="Shape 331"/>
          <p:cNvSpPr/>
          <p:nvPr/>
        </p:nvSpPr>
        <p:spPr>
          <a:xfrm rot="5400000">
            <a:off x="3167856" y="4688681"/>
            <a:ext cx="215899" cy="433386"/>
          </a:xfrm>
          <a:prstGeom prst="rtTriangle">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332" name="Shape 332"/>
          <p:cNvPicPr preferRelativeResize="0"/>
          <p:nvPr>
            <p:ph idx="4294967295" type="body"/>
          </p:nvPr>
        </p:nvPicPr>
        <p:blipFill rotWithShape="1">
          <a:blip r:embed="rId3">
            <a:alphaModFix/>
          </a:blip>
          <a:srcRect b="0" l="0" r="0" t="0"/>
          <a:stretch/>
        </p:blipFill>
        <p:spPr>
          <a:xfrm>
            <a:off x="4932362" y="620712"/>
            <a:ext cx="3009899" cy="609599"/>
          </a:xfrm>
          <a:prstGeom prst="rect">
            <a:avLst/>
          </a:prstGeom>
          <a:noFill/>
          <a:ln>
            <a:noFill/>
          </a:ln>
        </p:spPr>
      </p:pic>
      <p:sp>
        <p:nvSpPr>
          <p:cNvPr id="333" name="Shape 333"/>
          <p:cNvSpPr/>
          <p:nvPr/>
        </p:nvSpPr>
        <p:spPr>
          <a:xfrm>
            <a:off x="396875" y="4508500"/>
            <a:ext cx="71436" cy="504824"/>
          </a:xfrm>
          <a:prstGeom prst="leftBrace">
            <a:avLst>
              <a:gd fmla="val 8333" name="adj1"/>
              <a:gd fmla="val 50000" name="adj2"/>
            </a:avLst>
          </a:prstGeom>
          <a:noFill/>
          <a:ln cap="flat" cmpd="sng" w="25400">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37" name="Shape 337"/>
        <p:cNvGrpSpPr/>
        <p:nvPr/>
      </p:nvGrpSpPr>
      <p:grpSpPr>
        <a:xfrm>
          <a:off x="0" y="0"/>
          <a:ext cx="0" cy="0"/>
          <a:chOff x="0" y="0"/>
          <a:chExt cx="0" cy="0"/>
        </a:xfrm>
      </p:grpSpPr>
      <p:sp>
        <p:nvSpPr>
          <p:cNvPr id="338" name="Shape 338"/>
          <p:cNvSpPr txBox="1"/>
          <p:nvPr/>
        </p:nvSpPr>
        <p:spPr>
          <a:xfrm rot="5400000">
            <a:off x="-315118" y="4637881"/>
            <a:ext cx="12001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Impuesto</a:t>
            </a:r>
          </a:p>
        </p:txBody>
      </p:sp>
      <p:sp>
        <p:nvSpPr>
          <p:cNvPr id="339" name="Shape 339"/>
          <p:cNvSpPr/>
          <p:nvPr/>
        </p:nvSpPr>
        <p:spPr>
          <a:xfrm>
            <a:off x="755650" y="2276475"/>
            <a:ext cx="3937000" cy="2770187"/>
          </a:xfrm>
          <a:custGeom>
            <a:pathLst>
              <a:path extrusionOk="0" h="1745" w="2480">
                <a:moveTo>
                  <a:pt x="0" y="1745"/>
                </a:moveTo>
                <a:cubicBezTo>
                  <a:pt x="114" y="1735"/>
                  <a:pt x="440" y="1740"/>
                  <a:pt x="684" y="1685"/>
                </a:cubicBezTo>
                <a:cubicBezTo>
                  <a:pt x="928" y="1630"/>
                  <a:pt x="1258" y="1531"/>
                  <a:pt x="1463" y="1417"/>
                </a:cubicBezTo>
                <a:cubicBezTo>
                  <a:pt x="1668" y="1303"/>
                  <a:pt x="1786" y="1146"/>
                  <a:pt x="1913" y="1001"/>
                </a:cubicBezTo>
                <a:cubicBezTo>
                  <a:pt x="2040" y="856"/>
                  <a:pt x="2130" y="715"/>
                  <a:pt x="2225" y="548"/>
                </a:cubicBezTo>
                <a:cubicBezTo>
                  <a:pt x="2320" y="381"/>
                  <a:pt x="2427" y="114"/>
                  <a:pt x="2480" y="0"/>
                </a:cubicBezTo>
              </a:path>
            </a:pathLst>
          </a:custGeom>
          <a:noFill/>
          <a:ln cap="flat" cmpd="sng" w="41275">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40" name="Shape 340"/>
          <p:cNvSpPr/>
          <p:nvPr/>
        </p:nvSpPr>
        <p:spPr>
          <a:xfrm>
            <a:off x="755650" y="1916111"/>
            <a:ext cx="4284661" cy="3494087"/>
          </a:xfrm>
          <a:custGeom>
            <a:pathLst>
              <a:path extrusionOk="0" h="2201" w="2699">
                <a:moveTo>
                  <a:pt x="0" y="0"/>
                </a:moveTo>
                <a:cubicBezTo>
                  <a:pt x="54" y="88"/>
                  <a:pt x="213" y="366"/>
                  <a:pt x="327" y="530"/>
                </a:cubicBezTo>
                <a:cubicBezTo>
                  <a:pt x="441" y="694"/>
                  <a:pt x="593" y="877"/>
                  <a:pt x="685" y="984"/>
                </a:cubicBezTo>
                <a:cubicBezTo>
                  <a:pt x="777" y="1091"/>
                  <a:pt x="808" y="1105"/>
                  <a:pt x="878" y="1171"/>
                </a:cubicBezTo>
                <a:cubicBezTo>
                  <a:pt x="948" y="1237"/>
                  <a:pt x="1036" y="1318"/>
                  <a:pt x="1105" y="1379"/>
                </a:cubicBezTo>
                <a:cubicBezTo>
                  <a:pt x="1174" y="1440"/>
                  <a:pt x="1203" y="1473"/>
                  <a:pt x="1294" y="1539"/>
                </a:cubicBezTo>
                <a:cubicBezTo>
                  <a:pt x="1385" y="1605"/>
                  <a:pt x="1501" y="1689"/>
                  <a:pt x="1652" y="1776"/>
                </a:cubicBezTo>
                <a:cubicBezTo>
                  <a:pt x="1803" y="1863"/>
                  <a:pt x="2024" y="1988"/>
                  <a:pt x="2198" y="2059"/>
                </a:cubicBezTo>
                <a:cubicBezTo>
                  <a:pt x="2373" y="2130"/>
                  <a:pt x="2595" y="2172"/>
                  <a:pt x="2699" y="2201"/>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41" name="Shape 341"/>
          <p:cNvSpPr txBox="1"/>
          <p:nvPr/>
        </p:nvSpPr>
        <p:spPr>
          <a:xfrm>
            <a:off x="777875" y="4797425"/>
            <a:ext cx="2354261" cy="215899"/>
          </a:xfrm>
          <a:prstGeom prst="rect">
            <a:avLst/>
          </a:prstGeom>
          <a:solidFill>
            <a:srgbClr val="993300">
              <a:alpha val="10980"/>
            </a:srgbClr>
          </a:solidFill>
          <a:ln cap="flat" cmpd="sng" w="4127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Aporte del Productor</a:t>
            </a:r>
          </a:p>
        </p:txBody>
      </p:sp>
      <p:sp>
        <p:nvSpPr>
          <p:cNvPr id="342" name="Shape 342"/>
          <p:cNvSpPr txBox="1"/>
          <p:nvPr/>
        </p:nvSpPr>
        <p:spPr>
          <a:xfrm>
            <a:off x="2881311" y="638175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Q1</a:t>
            </a:r>
          </a:p>
        </p:txBody>
      </p:sp>
      <p:sp>
        <p:nvSpPr>
          <p:cNvPr id="343" name="Shape 343"/>
          <p:cNvSpPr txBox="1"/>
          <p:nvPr>
            <p:ph idx="4294967295" type="title"/>
          </p:nvPr>
        </p:nvSpPr>
        <p:spPr>
          <a:xfrm>
            <a:off x="179386" y="188911"/>
            <a:ext cx="3609975" cy="1295400"/>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RECAUDACIÓN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IMPOSITIVA</a:t>
            </a:r>
          </a:p>
        </p:txBody>
      </p:sp>
      <p:sp>
        <p:nvSpPr>
          <p:cNvPr id="344" name="Shape 344"/>
          <p:cNvSpPr txBox="1"/>
          <p:nvPr>
            <p:ph idx="4294967295" type="body"/>
          </p:nvPr>
        </p:nvSpPr>
        <p:spPr>
          <a:xfrm>
            <a:off x="5141912" y="1719261"/>
            <a:ext cx="3751262" cy="1277936"/>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0" i="0" lang="en-US" sz="1900" u="none" cap="none" strike="noStrike">
                <a:solidFill>
                  <a:schemeClr val="dk1"/>
                </a:solidFill>
                <a:latin typeface="Arial"/>
                <a:ea typeface="Arial"/>
                <a:cs typeface="Arial"/>
                <a:sym typeface="Arial"/>
              </a:rPr>
              <a:t>Al empeorar la oferta el nivel de transacciones se reduce, el beneficio social debe repartirse entre la oferta, la demanda y el estado.</a:t>
            </a:r>
          </a:p>
        </p:txBody>
      </p:sp>
      <p:cxnSp>
        <p:nvCxnSpPr>
          <p:cNvPr id="345" name="Shape 345"/>
          <p:cNvCxnSpPr/>
          <p:nvPr/>
        </p:nvCxnSpPr>
        <p:spPr>
          <a:xfrm>
            <a:off x="539750" y="6381750"/>
            <a:ext cx="4537074" cy="0"/>
          </a:xfrm>
          <a:prstGeom prst="straightConnector1">
            <a:avLst/>
          </a:prstGeom>
          <a:noFill/>
          <a:ln cap="flat" cmpd="sng" w="9525">
            <a:solidFill>
              <a:schemeClr val="dk1"/>
            </a:solidFill>
            <a:prstDash val="solid"/>
            <a:miter/>
            <a:headEnd len="med" w="med" type="none"/>
            <a:tailEnd len="med" w="med" type="none"/>
          </a:ln>
        </p:spPr>
      </p:cxnSp>
      <p:cxnSp>
        <p:nvCxnSpPr>
          <p:cNvPr id="346" name="Shape 346"/>
          <p:cNvCxnSpPr/>
          <p:nvPr/>
        </p:nvCxnSpPr>
        <p:spPr>
          <a:xfrm>
            <a:off x="755650" y="4797425"/>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347" name="Shape 347"/>
          <p:cNvCxnSpPr/>
          <p:nvPr/>
        </p:nvCxnSpPr>
        <p:spPr>
          <a:xfrm>
            <a:off x="3492500" y="4797425"/>
            <a:ext cx="0" cy="1584325"/>
          </a:xfrm>
          <a:prstGeom prst="straightConnector1">
            <a:avLst/>
          </a:prstGeom>
          <a:noFill/>
          <a:ln cap="flat" cmpd="sng" w="9525">
            <a:solidFill>
              <a:schemeClr val="dk1"/>
            </a:solidFill>
            <a:prstDash val="solid"/>
            <a:miter/>
            <a:headEnd len="med" w="med" type="none"/>
            <a:tailEnd len="med" w="med" type="none"/>
          </a:ln>
        </p:spPr>
      </p:cxnSp>
      <p:cxnSp>
        <p:nvCxnSpPr>
          <p:cNvPr id="348" name="Shape 348"/>
          <p:cNvCxnSpPr/>
          <p:nvPr/>
        </p:nvCxnSpPr>
        <p:spPr>
          <a:xfrm>
            <a:off x="755650" y="4508500"/>
            <a:ext cx="2376487" cy="0"/>
          </a:xfrm>
          <a:prstGeom prst="straightConnector1">
            <a:avLst/>
          </a:prstGeom>
          <a:noFill/>
          <a:ln cap="flat" cmpd="sng" w="9525">
            <a:solidFill>
              <a:schemeClr val="dk1"/>
            </a:solidFill>
            <a:prstDash val="solid"/>
            <a:miter/>
            <a:headEnd len="med" w="med" type="none"/>
            <a:tailEnd len="med" w="med" type="none"/>
          </a:ln>
        </p:spPr>
      </p:cxnSp>
      <p:cxnSp>
        <p:nvCxnSpPr>
          <p:cNvPr id="349" name="Shape 349"/>
          <p:cNvCxnSpPr/>
          <p:nvPr/>
        </p:nvCxnSpPr>
        <p:spPr>
          <a:xfrm>
            <a:off x="3132136" y="4508500"/>
            <a:ext cx="0" cy="1873249"/>
          </a:xfrm>
          <a:prstGeom prst="straightConnector1">
            <a:avLst/>
          </a:prstGeom>
          <a:noFill/>
          <a:ln cap="flat" cmpd="sng" w="9525">
            <a:solidFill>
              <a:schemeClr val="dk1"/>
            </a:solidFill>
            <a:prstDash val="solid"/>
            <a:miter/>
            <a:headEnd len="med" w="med" type="none"/>
            <a:tailEnd len="med" w="med" type="none"/>
          </a:ln>
        </p:spPr>
      </p:cxnSp>
      <p:sp>
        <p:nvSpPr>
          <p:cNvPr id="350" name="Shape 350"/>
          <p:cNvSpPr txBox="1"/>
          <p:nvPr/>
        </p:nvSpPr>
        <p:spPr>
          <a:xfrm>
            <a:off x="0" y="141287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351" name="Shape 351"/>
          <p:cNvSpPr txBox="1"/>
          <p:nvPr/>
        </p:nvSpPr>
        <p:spPr>
          <a:xfrm>
            <a:off x="3924300" y="6259512"/>
            <a:ext cx="1274762" cy="5540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352" name="Shape 352"/>
          <p:cNvSpPr txBox="1"/>
          <p:nvPr/>
        </p:nvSpPr>
        <p:spPr>
          <a:xfrm>
            <a:off x="4162425" y="4364037"/>
            <a:ext cx="985836"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INICIAL</a:t>
            </a:r>
          </a:p>
        </p:txBody>
      </p:sp>
      <p:sp>
        <p:nvSpPr>
          <p:cNvPr id="353" name="Shape 353"/>
          <p:cNvSpPr txBox="1"/>
          <p:nvPr/>
        </p:nvSpPr>
        <p:spPr>
          <a:xfrm>
            <a:off x="1044575" y="2133600"/>
            <a:ext cx="1223961"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DEMANDA</a:t>
            </a:r>
          </a:p>
        </p:txBody>
      </p:sp>
      <p:cxnSp>
        <p:nvCxnSpPr>
          <p:cNvPr id="354" name="Shape 354"/>
          <p:cNvCxnSpPr/>
          <p:nvPr/>
        </p:nvCxnSpPr>
        <p:spPr>
          <a:xfrm>
            <a:off x="2484436" y="4797425"/>
            <a:ext cx="1008062" cy="0"/>
          </a:xfrm>
          <a:prstGeom prst="straightConnector1">
            <a:avLst/>
          </a:prstGeom>
          <a:noFill/>
          <a:ln cap="rnd" cmpd="sng" w="9525">
            <a:solidFill>
              <a:schemeClr val="dk1"/>
            </a:solidFill>
            <a:prstDash val="solid"/>
            <a:miter/>
            <a:headEnd len="med" w="med" type="none"/>
            <a:tailEnd len="med" w="med" type="none"/>
          </a:ln>
        </p:spPr>
      </p:cxnSp>
      <p:sp>
        <p:nvSpPr>
          <p:cNvPr id="355" name="Shape 355"/>
          <p:cNvSpPr txBox="1"/>
          <p:nvPr/>
        </p:nvSpPr>
        <p:spPr>
          <a:xfrm>
            <a:off x="431800" y="45815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a:t>
            </a:r>
          </a:p>
        </p:txBody>
      </p:sp>
      <p:sp>
        <p:nvSpPr>
          <p:cNvPr id="356" name="Shape 356"/>
          <p:cNvSpPr txBox="1"/>
          <p:nvPr/>
        </p:nvSpPr>
        <p:spPr>
          <a:xfrm>
            <a:off x="431800" y="429260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sp>
        <p:nvSpPr>
          <p:cNvPr id="357" name="Shape 357"/>
          <p:cNvSpPr txBox="1"/>
          <p:nvPr/>
        </p:nvSpPr>
        <p:spPr>
          <a:xfrm>
            <a:off x="3276600" y="638175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sp>
        <p:nvSpPr>
          <p:cNvPr id="358" name="Shape 358"/>
          <p:cNvSpPr txBox="1"/>
          <p:nvPr/>
        </p:nvSpPr>
        <p:spPr>
          <a:xfrm>
            <a:off x="3563937" y="1989136"/>
            <a:ext cx="1008062" cy="6477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OFERTA</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FINAL</a:t>
            </a:r>
          </a:p>
        </p:txBody>
      </p:sp>
      <p:sp>
        <p:nvSpPr>
          <p:cNvPr id="359" name="Shape 359"/>
          <p:cNvSpPr txBox="1"/>
          <p:nvPr/>
        </p:nvSpPr>
        <p:spPr>
          <a:xfrm>
            <a:off x="5219700" y="3140075"/>
            <a:ext cx="3671886" cy="316865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EC1914"/>
              </a:buClr>
              <a:buSzPct val="100000"/>
              <a:buFont typeface="Arial"/>
              <a:buChar char="•"/>
            </a:pPr>
            <a:r>
              <a:rPr b="1" i="0" lang="en-US" sz="1800" u="none" cap="none" strike="noStrike">
                <a:solidFill>
                  <a:srgbClr val="EC1914"/>
                </a:solidFill>
                <a:latin typeface="Arial"/>
                <a:ea typeface="Arial"/>
                <a:cs typeface="Arial"/>
                <a:sym typeface="Arial"/>
              </a:rPr>
              <a:t>  Se reduce el excedente del</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 consumidor</a:t>
            </a:r>
          </a:p>
          <a:p>
            <a:pPr indent="0" lvl="0" marL="0" marR="0" rtl="0" algn="l">
              <a:lnSpc>
                <a:spcPct val="100000"/>
              </a:lnSpc>
              <a:spcBef>
                <a:spcPts val="0"/>
              </a:spcBef>
              <a:spcAft>
                <a:spcPts val="0"/>
              </a:spcAft>
              <a:buClr>
                <a:srgbClr val="EC1914"/>
              </a:buClr>
              <a:buSzPct val="100000"/>
              <a:buFont typeface="Arial"/>
              <a:buChar char="•"/>
            </a:pPr>
            <a:r>
              <a:rPr b="1" i="0" lang="en-US" sz="1800" u="none" cap="none" strike="noStrike">
                <a:solidFill>
                  <a:srgbClr val="EC1914"/>
                </a:solidFill>
                <a:latin typeface="Arial"/>
                <a:ea typeface="Arial"/>
                <a:cs typeface="Arial"/>
                <a:sym typeface="Arial"/>
              </a:rPr>
              <a:t>  Reduce el excedente del </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productor.</a:t>
            </a:r>
          </a:p>
          <a:p>
            <a:pPr indent="0" lvl="0" marL="0" marR="0" rtl="0" algn="l">
              <a:lnSpc>
                <a:spcPct val="100000"/>
              </a:lnSpc>
              <a:spcBef>
                <a:spcPts val="0"/>
              </a:spcBef>
              <a:spcAft>
                <a:spcPts val="0"/>
              </a:spcAft>
              <a:buClr>
                <a:srgbClr val="EC1914"/>
              </a:buClr>
              <a:buSzPct val="100000"/>
              <a:buFont typeface="Arial"/>
              <a:buChar char="•"/>
            </a:pPr>
            <a:r>
              <a:rPr b="1" i="0" lang="en-US" sz="1800" u="none" cap="none" strike="noStrike">
                <a:solidFill>
                  <a:srgbClr val="EC1914"/>
                </a:solidFill>
                <a:latin typeface="Arial"/>
                <a:ea typeface="Arial"/>
                <a:cs typeface="Arial"/>
                <a:sym typeface="Arial"/>
              </a:rPr>
              <a:t>  La recaudación fiscal surge del</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producto </a:t>
            </a:r>
            <a:r>
              <a:rPr b="1" i="0" lang="en-US" sz="1800" u="none" cap="none" strike="noStrike">
                <a:solidFill>
                  <a:schemeClr val="dk1"/>
                </a:solidFill>
                <a:latin typeface="Arial"/>
                <a:ea typeface="Arial"/>
                <a:cs typeface="Arial"/>
                <a:sym typeface="Arial"/>
              </a:rPr>
              <a:t>RF = Q1 *(P1 - P´1)</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Los consumidores aportan </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RFC = Q1*(P1 - P)</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Los productores aportan</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RFP = Q1*(P- P´1)</a:t>
            </a:r>
          </a:p>
          <a:p>
            <a:pPr indent="0" lvl="0" marL="0" marR="0" rtl="0" algn="l">
              <a:lnSpc>
                <a:spcPct val="100000"/>
              </a:lnSpc>
              <a:spcBef>
                <a:spcPts val="0"/>
              </a:spcBef>
              <a:spcAft>
                <a:spcPts val="0"/>
              </a:spcAft>
              <a:buClr>
                <a:srgbClr val="EC1914"/>
              </a:buClr>
              <a:buSzPct val="100000"/>
              <a:buFont typeface="Arial"/>
              <a:buChar char="•"/>
            </a:pPr>
            <a:r>
              <a:rPr b="1" i="0" lang="en-US" sz="1800" u="none" cap="none" strike="noStrike">
                <a:solidFill>
                  <a:srgbClr val="EC1914"/>
                </a:solidFill>
                <a:latin typeface="Arial"/>
                <a:ea typeface="Arial"/>
                <a:cs typeface="Arial"/>
                <a:sym typeface="Arial"/>
              </a:rPr>
              <a:t>  El triangulo azul representa el </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costo social del impuesto</a:t>
            </a:r>
          </a:p>
        </p:txBody>
      </p:sp>
      <p:cxnSp>
        <p:nvCxnSpPr>
          <p:cNvPr id="360" name="Shape 360"/>
          <p:cNvCxnSpPr/>
          <p:nvPr/>
        </p:nvCxnSpPr>
        <p:spPr>
          <a:xfrm rot="10800000">
            <a:off x="755650" y="5013325"/>
            <a:ext cx="2374899" cy="0"/>
          </a:xfrm>
          <a:prstGeom prst="straightConnector1">
            <a:avLst/>
          </a:prstGeom>
          <a:noFill/>
          <a:ln cap="flat" cmpd="sng" w="9525">
            <a:solidFill>
              <a:schemeClr val="dk1"/>
            </a:solidFill>
            <a:prstDash val="solid"/>
            <a:miter/>
            <a:headEnd len="med" w="med" type="none"/>
            <a:tailEnd len="med" w="med" type="none"/>
          </a:ln>
        </p:spPr>
      </p:cxnSp>
      <p:cxnSp>
        <p:nvCxnSpPr>
          <p:cNvPr id="361" name="Shape 361"/>
          <p:cNvCxnSpPr/>
          <p:nvPr/>
        </p:nvCxnSpPr>
        <p:spPr>
          <a:xfrm>
            <a:off x="755650" y="1773236"/>
            <a:ext cx="0" cy="4608512"/>
          </a:xfrm>
          <a:prstGeom prst="straightConnector1">
            <a:avLst/>
          </a:prstGeom>
          <a:noFill/>
          <a:ln cap="flat" cmpd="sng" w="9525">
            <a:solidFill>
              <a:schemeClr val="dk1"/>
            </a:solidFill>
            <a:prstDash val="solid"/>
            <a:miter/>
            <a:headEnd len="med" w="med" type="none"/>
            <a:tailEnd len="med" w="med" type="none"/>
          </a:ln>
        </p:spPr>
      </p:cxnSp>
      <p:sp>
        <p:nvSpPr>
          <p:cNvPr id="362" name="Shape 362"/>
          <p:cNvSpPr txBox="1"/>
          <p:nvPr/>
        </p:nvSpPr>
        <p:spPr>
          <a:xfrm>
            <a:off x="777875" y="4508500"/>
            <a:ext cx="2354261" cy="287337"/>
          </a:xfrm>
          <a:prstGeom prst="rect">
            <a:avLst/>
          </a:prstGeom>
          <a:solidFill>
            <a:srgbClr val="993300">
              <a:alpha val="12941"/>
            </a:srgbClr>
          </a:solidFill>
          <a:ln cap="flat" cmpd="sng" w="349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Aporte Consumidor</a:t>
            </a:r>
          </a:p>
        </p:txBody>
      </p:sp>
      <p:sp>
        <p:nvSpPr>
          <p:cNvPr id="363" name="Shape 363"/>
          <p:cNvSpPr/>
          <p:nvPr/>
        </p:nvSpPr>
        <p:spPr>
          <a:xfrm>
            <a:off x="755650" y="2636836"/>
            <a:ext cx="4340225" cy="2851150"/>
          </a:xfrm>
          <a:custGeom>
            <a:pathLst>
              <a:path extrusionOk="0" h="1796" w="2734">
                <a:moveTo>
                  <a:pt x="0" y="1795"/>
                </a:moveTo>
                <a:cubicBezTo>
                  <a:pt x="146" y="1785"/>
                  <a:pt x="607" y="1796"/>
                  <a:pt x="878" y="1738"/>
                </a:cubicBezTo>
                <a:cubicBezTo>
                  <a:pt x="1149" y="1680"/>
                  <a:pt x="1424" y="1558"/>
                  <a:pt x="1628" y="1445"/>
                </a:cubicBezTo>
                <a:cubicBezTo>
                  <a:pt x="1832" y="1332"/>
                  <a:pt x="1949" y="1232"/>
                  <a:pt x="2102" y="1059"/>
                </a:cubicBezTo>
                <a:cubicBezTo>
                  <a:pt x="2255" y="886"/>
                  <a:pt x="2441" y="582"/>
                  <a:pt x="2546" y="406"/>
                </a:cubicBezTo>
                <a:cubicBezTo>
                  <a:pt x="2651" y="230"/>
                  <a:pt x="2695" y="85"/>
                  <a:pt x="2734"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4" name="Shape 364"/>
          <p:cNvSpPr txBox="1"/>
          <p:nvPr/>
        </p:nvSpPr>
        <p:spPr>
          <a:xfrm>
            <a:off x="395287" y="47974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sp>
        <p:nvSpPr>
          <p:cNvPr id="365" name="Shape 365"/>
          <p:cNvSpPr/>
          <p:nvPr/>
        </p:nvSpPr>
        <p:spPr>
          <a:xfrm>
            <a:off x="755650" y="1916111"/>
            <a:ext cx="2362200" cy="2595562"/>
          </a:xfrm>
          <a:custGeom>
            <a:pathLst>
              <a:path extrusionOk="0" h="1635" w="1488">
                <a:moveTo>
                  <a:pt x="189" y="321"/>
                </a:moveTo>
                <a:lnTo>
                  <a:pt x="0" y="0"/>
                </a:lnTo>
                <a:lnTo>
                  <a:pt x="4" y="159"/>
                </a:lnTo>
                <a:lnTo>
                  <a:pt x="4" y="880"/>
                </a:lnTo>
                <a:lnTo>
                  <a:pt x="14" y="1250"/>
                </a:lnTo>
                <a:lnTo>
                  <a:pt x="20" y="1610"/>
                </a:lnTo>
                <a:lnTo>
                  <a:pt x="402" y="1616"/>
                </a:lnTo>
                <a:lnTo>
                  <a:pt x="855" y="1616"/>
                </a:lnTo>
                <a:lnTo>
                  <a:pt x="1488" y="1635"/>
                </a:lnTo>
                <a:lnTo>
                  <a:pt x="1286" y="1515"/>
                </a:lnTo>
                <a:lnTo>
                  <a:pt x="1113" y="1363"/>
                </a:lnTo>
                <a:lnTo>
                  <a:pt x="935" y="1206"/>
                </a:lnTo>
                <a:lnTo>
                  <a:pt x="652" y="932"/>
                </a:lnTo>
                <a:lnTo>
                  <a:pt x="378" y="604"/>
                </a:lnTo>
                <a:lnTo>
                  <a:pt x="189" y="321"/>
                </a:lnTo>
              </a:path>
            </a:pathLst>
          </a:custGeom>
          <a:solidFill>
            <a:srgbClr val="FF0000"/>
          </a:solidFill>
          <a:ln cap="flat" cmpd="sng" w="381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6" name="Shape 366"/>
          <p:cNvSpPr/>
          <p:nvPr/>
        </p:nvSpPr>
        <p:spPr>
          <a:xfrm>
            <a:off x="755650" y="5013325"/>
            <a:ext cx="2354261" cy="458787"/>
          </a:xfrm>
          <a:custGeom>
            <a:pathLst>
              <a:path extrusionOk="0" h="289" w="1483">
                <a:moveTo>
                  <a:pt x="8" y="0"/>
                </a:moveTo>
                <a:lnTo>
                  <a:pt x="0" y="137"/>
                </a:lnTo>
                <a:lnTo>
                  <a:pt x="6" y="286"/>
                </a:lnTo>
                <a:lnTo>
                  <a:pt x="397" y="289"/>
                </a:lnTo>
                <a:lnTo>
                  <a:pt x="756" y="260"/>
                </a:lnTo>
                <a:lnTo>
                  <a:pt x="1029" y="194"/>
                </a:lnTo>
                <a:lnTo>
                  <a:pt x="1303" y="109"/>
                </a:lnTo>
                <a:lnTo>
                  <a:pt x="1483" y="5"/>
                </a:lnTo>
                <a:lnTo>
                  <a:pt x="1122" y="0"/>
                </a:lnTo>
                <a:lnTo>
                  <a:pt x="660" y="0"/>
                </a:lnTo>
                <a:lnTo>
                  <a:pt x="338" y="0"/>
                </a:lnTo>
                <a:lnTo>
                  <a:pt x="8" y="0"/>
                </a:lnTo>
                <a:close/>
              </a:path>
            </a:pathLst>
          </a:custGeom>
          <a:solidFill>
            <a:srgbClr val="FF0000">
              <a:alpha val="66666"/>
            </a:srgbClr>
          </a:solidFill>
          <a:ln cap="flat" cmpd="sng" w="349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7" name="Shape 367"/>
          <p:cNvSpPr txBox="1"/>
          <p:nvPr/>
        </p:nvSpPr>
        <p:spPr>
          <a:xfrm>
            <a:off x="792162" y="4508500"/>
            <a:ext cx="2339975" cy="504824"/>
          </a:xfrm>
          <a:prstGeom prst="rect">
            <a:avLst/>
          </a:prstGeom>
          <a:solidFill>
            <a:schemeClr val="accent1">
              <a:alpha val="98823"/>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RECAUDACIÓN </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IMPOSITIVA</a:t>
            </a:r>
          </a:p>
        </p:txBody>
      </p:sp>
      <p:sp>
        <p:nvSpPr>
          <p:cNvPr id="368" name="Shape 368"/>
          <p:cNvSpPr/>
          <p:nvPr/>
        </p:nvSpPr>
        <p:spPr>
          <a:xfrm>
            <a:off x="3132136" y="4508500"/>
            <a:ext cx="390525" cy="504825"/>
          </a:xfrm>
          <a:custGeom>
            <a:pathLst>
              <a:path extrusionOk="0" h="318" w="246">
                <a:moveTo>
                  <a:pt x="246" y="191"/>
                </a:moveTo>
                <a:lnTo>
                  <a:pt x="76" y="78"/>
                </a:lnTo>
                <a:lnTo>
                  <a:pt x="1" y="0"/>
                </a:lnTo>
                <a:lnTo>
                  <a:pt x="0" y="183"/>
                </a:lnTo>
                <a:lnTo>
                  <a:pt x="0" y="318"/>
                </a:lnTo>
                <a:lnTo>
                  <a:pt x="246" y="191"/>
                </a:lnTo>
                <a:close/>
              </a:path>
            </a:pathLst>
          </a:custGeom>
          <a:solidFill>
            <a:srgbClr val="0000FF"/>
          </a:solid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369" name="Shape 369"/>
          <p:cNvPicPr preferRelativeResize="0"/>
          <p:nvPr>
            <p:ph idx="4294967295" type="body"/>
          </p:nvPr>
        </p:nvPicPr>
        <p:blipFill rotWithShape="1">
          <a:blip r:embed="rId3">
            <a:alphaModFix/>
          </a:blip>
          <a:srcRect b="0" l="0" r="0" t="0"/>
          <a:stretch/>
        </p:blipFill>
        <p:spPr>
          <a:xfrm>
            <a:off x="4932362" y="620712"/>
            <a:ext cx="3009899" cy="609599"/>
          </a:xfrm>
          <a:prstGeom prst="rect">
            <a:avLst/>
          </a:prstGeom>
          <a:noFill/>
          <a:ln>
            <a:noFill/>
          </a:ln>
        </p:spPr>
      </p:pic>
      <p:sp>
        <p:nvSpPr>
          <p:cNvPr id="370" name="Shape 370"/>
          <p:cNvSpPr/>
          <p:nvPr/>
        </p:nvSpPr>
        <p:spPr>
          <a:xfrm>
            <a:off x="395287" y="4508500"/>
            <a:ext cx="71436" cy="504824"/>
          </a:xfrm>
          <a:prstGeom prst="leftBrace">
            <a:avLst>
              <a:gd fmla="val 8333" name="adj1"/>
              <a:gd fmla="val 50000" name="adj2"/>
            </a:avLst>
          </a:prstGeom>
          <a:noFill/>
          <a:ln cap="flat" cmpd="sng" w="25400">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74" name="Shape 374"/>
        <p:cNvGrpSpPr/>
        <p:nvPr/>
      </p:nvGrpSpPr>
      <p:grpSpPr>
        <a:xfrm>
          <a:off x="0" y="0"/>
          <a:ext cx="0" cy="0"/>
          <a:chOff x="0" y="0"/>
          <a:chExt cx="0" cy="0"/>
        </a:xfrm>
      </p:grpSpPr>
      <p:sp>
        <p:nvSpPr>
          <p:cNvPr id="375" name="Shape 375"/>
          <p:cNvSpPr txBox="1"/>
          <p:nvPr>
            <p:ph idx="4294967295" type="title"/>
          </p:nvPr>
        </p:nvSpPr>
        <p:spPr>
          <a:xfrm>
            <a:off x="0" y="0"/>
            <a:ext cx="7524749" cy="1484312"/>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600" u="none" cap="none" strike="noStrike">
                <a:solidFill>
                  <a:schemeClr val="dk2"/>
                </a:solidFill>
                <a:latin typeface="Arial"/>
                <a:ea typeface="Arial"/>
                <a:cs typeface="Arial"/>
                <a:sym typeface="Arial"/>
              </a:rPr>
              <a:t>LOS IMPUESTOS PAGADOS POR</a:t>
            </a:r>
            <a:r>
              <a:rPr b="1" i="0" lang="en-US" sz="3900" u="none" cap="none" strike="noStrike">
                <a:solidFill>
                  <a:schemeClr val="dk2"/>
                </a:solidFill>
                <a:latin typeface="Arial"/>
                <a:ea typeface="Arial"/>
                <a:cs typeface="Arial"/>
                <a:sym typeface="Arial"/>
              </a:rPr>
              <a:t> </a:t>
            </a:r>
            <a:r>
              <a:rPr b="1" i="0" lang="en-US" sz="3900" u="none" cap="none" strike="noStrike">
                <a:solidFill>
                  <a:srgbClr val="EC1914"/>
                </a:solidFill>
                <a:latin typeface="Arial"/>
                <a:ea typeface="Arial"/>
                <a:cs typeface="Arial"/>
                <a:sym typeface="Arial"/>
              </a:rPr>
              <a:t>EL CONSUMIDOR</a:t>
            </a:r>
          </a:p>
        </p:txBody>
      </p:sp>
      <p:sp>
        <p:nvSpPr>
          <p:cNvPr id="376" name="Shape 376"/>
          <p:cNvSpPr txBox="1"/>
          <p:nvPr>
            <p:ph idx="4294967295" type="body"/>
          </p:nvPr>
        </p:nvSpPr>
        <p:spPr>
          <a:xfrm>
            <a:off x="468312" y="2636836"/>
            <a:ext cx="6059487" cy="37258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70000"/>
              <a:buFont typeface="Noto Symbol"/>
              <a:buChar char="✓"/>
            </a:pPr>
            <a:r>
              <a:rPr b="0" i="0" lang="en-US" sz="2600" u="none" cap="none" strike="noStrike">
                <a:solidFill>
                  <a:schemeClr val="dk1"/>
                </a:solidFill>
                <a:latin typeface="Arial"/>
                <a:ea typeface="Arial"/>
                <a:cs typeface="Arial"/>
                <a:sym typeface="Arial"/>
              </a:rPr>
              <a:t>Reducen el precio de equilibrio.</a:t>
            </a:r>
          </a:p>
          <a:p>
            <a:pPr indent="-342900" lvl="0" marL="342900" marR="0" rtl="0" algn="l">
              <a:lnSpc>
                <a:spcPct val="100000"/>
              </a:lnSpc>
              <a:spcBef>
                <a:spcPts val="520"/>
              </a:spcBef>
              <a:spcAft>
                <a:spcPts val="0"/>
              </a:spcAft>
              <a:buClr>
                <a:schemeClr val="dk2"/>
              </a:buClr>
              <a:buSzPct val="70000"/>
              <a:buFont typeface="Noto Symbol"/>
              <a:buChar char="✓"/>
            </a:pPr>
            <a:r>
              <a:rPr b="0" i="0" lang="en-US" sz="2600" u="none" cap="none" strike="noStrike">
                <a:solidFill>
                  <a:schemeClr val="dk1"/>
                </a:solidFill>
                <a:latin typeface="Arial"/>
                <a:ea typeface="Arial"/>
                <a:cs typeface="Arial"/>
                <a:sym typeface="Arial"/>
              </a:rPr>
              <a:t>Reducen el nivel de producción.</a:t>
            </a:r>
          </a:p>
          <a:p>
            <a:pPr indent="-342900" lvl="0" marL="342900" marR="0" rtl="0" algn="l">
              <a:lnSpc>
                <a:spcPct val="100000"/>
              </a:lnSpc>
              <a:spcBef>
                <a:spcPts val="520"/>
              </a:spcBef>
              <a:spcAft>
                <a:spcPts val="0"/>
              </a:spcAft>
              <a:buClr>
                <a:schemeClr val="dk2"/>
              </a:buClr>
              <a:buSzPct val="25000"/>
              <a:buFont typeface="Noto Symbol"/>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70000"/>
              <a:buFont typeface="Noto Symbol"/>
              <a:buChar char="✓"/>
            </a:pPr>
            <a:r>
              <a:rPr b="1" i="0" lang="en-US" sz="2600" u="none" cap="none" strike="noStrike">
                <a:solidFill>
                  <a:srgbClr val="EC1914"/>
                </a:solidFill>
                <a:latin typeface="Arial"/>
                <a:ea typeface="Arial"/>
                <a:cs typeface="Arial"/>
                <a:sym typeface="Arial"/>
              </a:rPr>
              <a:t>Reducen el beneficio social de manera tal que el mercado (productores y consumidores) deben pagar un costo social.</a:t>
            </a:r>
          </a:p>
        </p:txBody>
      </p:sp>
      <p:pic>
        <p:nvPicPr>
          <p:cNvPr id="377" name="Shape 377"/>
          <p:cNvPicPr preferRelativeResize="0"/>
          <p:nvPr>
            <p:ph idx="4294967295" type="body"/>
          </p:nvPr>
        </p:nvPicPr>
        <p:blipFill rotWithShape="1">
          <a:blip r:embed="rId3">
            <a:alphaModFix/>
          </a:blip>
          <a:srcRect b="0" l="0" r="0" t="0"/>
          <a:stretch/>
        </p:blipFill>
        <p:spPr>
          <a:xfrm>
            <a:off x="6011862" y="1524000"/>
            <a:ext cx="1930399" cy="609599"/>
          </a:xfrm>
          <a:prstGeom prst="rect">
            <a:avLst/>
          </a:prstGeom>
          <a:noFill/>
          <a:ln>
            <a:noFill/>
          </a:ln>
        </p:spPr>
      </p:pic>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81" name="Shape 381"/>
        <p:cNvGrpSpPr/>
        <p:nvPr/>
      </p:nvGrpSpPr>
      <p:grpSpPr>
        <a:xfrm>
          <a:off x="0" y="0"/>
          <a:ext cx="0" cy="0"/>
          <a:chOff x="0" y="0"/>
          <a:chExt cx="0" cy="0"/>
        </a:xfrm>
      </p:grpSpPr>
      <p:sp>
        <p:nvSpPr>
          <p:cNvPr id="382" name="Shape 382"/>
          <p:cNvSpPr txBox="1"/>
          <p:nvPr>
            <p:ph type="title"/>
          </p:nvPr>
        </p:nvSpPr>
        <p:spPr>
          <a:xfrm>
            <a:off x="34925" y="44450"/>
            <a:ext cx="5761036" cy="1650999"/>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IMPUESTOS PAGADOS POR EL CONSUMIDOR</a:t>
            </a:r>
            <a:br>
              <a:rPr b="1" i="0" lang="en-US" sz="3500" u="none" cap="none" strike="noStrike">
                <a:solidFill>
                  <a:schemeClr val="dk2"/>
                </a:solidFill>
                <a:latin typeface="Arial"/>
                <a:ea typeface="Arial"/>
                <a:cs typeface="Arial"/>
                <a:sym typeface="Arial"/>
              </a:rPr>
            </a:br>
            <a:r>
              <a:rPr b="1" i="0" lang="en-US" sz="3500" u="none" cap="none" strike="noStrike">
                <a:solidFill>
                  <a:srgbClr val="EC1914"/>
                </a:solidFill>
                <a:latin typeface="Arial"/>
                <a:ea typeface="Arial"/>
                <a:cs typeface="Arial"/>
                <a:sym typeface="Arial"/>
              </a:rPr>
              <a:t>EMPEORA LA DEMANDA</a:t>
            </a:r>
          </a:p>
        </p:txBody>
      </p:sp>
      <p:cxnSp>
        <p:nvCxnSpPr>
          <p:cNvPr id="383" name="Shape 383"/>
          <p:cNvCxnSpPr/>
          <p:nvPr/>
        </p:nvCxnSpPr>
        <p:spPr>
          <a:xfrm>
            <a:off x="827087" y="1844675"/>
            <a:ext cx="0" cy="4321174"/>
          </a:xfrm>
          <a:prstGeom prst="straightConnector1">
            <a:avLst/>
          </a:prstGeom>
          <a:noFill/>
          <a:ln cap="flat" cmpd="sng" w="9525">
            <a:solidFill>
              <a:schemeClr val="dk1"/>
            </a:solidFill>
            <a:prstDash val="solid"/>
            <a:miter/>
            <a:headEnd len="med" w="med" type="none"/>
            <a:tailEnd len="med" w="med" type="none"/>
          </a:ln>
        </p:spPr>
      </p:cxnSp>
      <p:cxnSp>
        <p:nvCxnSpPr>
          <p:cNvPr id="384" name="Shape 384"/>
          <p:cNvCxnSpPr/>
          <p:nvPr/>
        </p:nvCxnSpPr>
        <p:spPr>
          <a:xfrm>
            <a:off x="539750" y="6092825"/>
            <a:ext cx="5472111" cy="0"/>
          </a:xfrm>
          <a:prstGeom prst="straightConnector1">
            <a:avLst/>
          </a:prstGeom>
          <a:noFill/>
          <a:ln cap="flat" cmpd="sng" w="9525">
            <a:solidFill>
              <a:schemeClr val="dk1"/>
            </a:solidFill>
            <a:prstDash val="solid"/>
            <a:miter/>
            <a:headEnd len="med" w="med" type="none"/>
            <a:tailEnd len="med" w="med" type="none"/>
          </a:ln>
        </p:spPr>
      </p:cxnSp>
      <p:sp>
        <p:nvSpPr>
          <p:cNvPr id="385" name="Shape 385"/>
          <p:cNvSpPr/>
          <p:nvPr/>
        </p:nvSpPr>
        <p:spPr>
          <a:xfrm>
            <a:off x="827087" y="1916111"/>
            <a:ext cx="4270375" cy="3508375"/>
          </a:xfrm>
          <a:custGeom>
            <a:pathLst>
              <a:path extrusionOk="0" h="2210" w="2690">
                <a:moveTo>
                  <a:pt x="0" y="0"/>
                </a:moveTo>
                <a:cubicBezTo>
                  <a:pt x="49" y="85"/>
                  <a:pt x="181" y="348"/>
                  <a:pt x="293" y="510"/>
                </a:cubicBezTo>
                <a:cubicBezTo>
                  <a:pt x="405" y="672"/>
                  <a:pt x="540" y="829"/>
                  <a:pt x="671" y="972"/>
                </a:cubicBezTo>
                <a:cubicBezTo>
                  <a:pt x="802" y="1115"/>
                  <a:pt x="950" y="1257"/>
                  <a:pt x="1077" y="1369"/>
                </a:cubicBezTo>
                <a:cubicBezTo>
                  <a:pt x="1204" y="1481"/>
                  <a:pt x="1340" y="1576"/>
                  <a:pt x="1434" y="1645"/>
                </a:cubicBezTo>
                <a:cubicBezTo>
                  <a:pt x="1528" y="1714"/>
                  <a:pt x="1517" y="1715"/>
                  <a:pt x="1643" y="1785"/>
                </a:cubicBezTo>
                <a:cubicBezTo>
                  <a:pt x="1769" y="1855"/>
                  <a:pt x="2015" y="1997"/>
                  <a:pt x="2189" y="2068"/>
                </a:cubicBezTo>
                <a:cubicBezTo>
                  <a:pt x="2364" y="2139"/>
                  <a:pt x="2586" y="2181"/>
                  <a:pt x="2690" y="2210"/>
                </a:cubicBezTo>
              </a:path>
            </a:pathLst>
          </a:custGeom>
          <a:noFill/>
          <a:ln cap="flat" cmpd="sng" w="3810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6" name="Shape 386"/>
          <p:cNvSpPr/>
          <p:nvPr/>
        </p:nvSpPr>
        <p:spPr>
          <a:xfrm rot="-300000">
            <a:off x="971549" y="2565400"/>
            <a:ext cx="4270374" cy="3508374"/>
          </a:xfrm>
          <a:custGeom>
            <a:pathLst>
              <a:path extrusionOk="0" h="2210" w="2690">
                <a:moveTo>
                  <a:pt x="0" y="0"/>
                </a:moveTo>
                <a:cubicBezTo>
                  <a:pt x="49" y="85"/>
                  <a:pt x="181" y="348"/>
                  <a:pt x="293" y="510"/>
                </a:cubicBezTo>
                <a:cubicBezTo>
                  <a:pt x="405" y="672"/>
                  <a:pt x="540" y="829"/>
                  <a:pt x="671" y="972"/>
                </a:cubicBezTo>
                <a:cubicBezTo>
                  <a:pt x="802" y="1115"/>
                  <a:pt x="950" y="1257"/>
                  <a:pt x="1077" y="1369"/>
                </a:cubicBezTo>
                <a:cubicBezTo>
                  <a:pt x="1204" y="1481"/>
                  <a:pt x="1340" y="1576"/>
                  <a:pt x="1434" y="1645"/>
                </a:cubicBezTo>
                <a:cubicBezTo>
                  <a:pt x="1528" y="1714"/>
                  <a:pt x="1517" y="1715"/>
                  <a:pt x="1643" y="1785"/>
                </a:cubicBezTo>
                <a:cubicBezTo>
                  <a:pt x="1769" y="1855"/>
                  <a:pt x="2015" y="1997"/>
                  <a:pt x="2189" y="2068"/>
                </a:cubicBezTo>
                <a:cubicBezTo>
                  <a:pt x="2364" y="2139"/>
                  <a:pt x="2586" y="2181"/>
                  <a:pt x="2690" y="2210"/>
                </a:cubicBezTo>
              </a:path>
            </a:pathLst>
          </a:custGeom>
          <a:noFill/>
          <a:ln cap="flat" cmpd="sng" w="3810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7" name="Shape 387"/>
          <p:cNvSpPr/>
          <p:nvPr/>
        </p:nvSpPr>
        <p:spPr>
          <a:xfrm>
            <a:off x="827087" y="2636836"/>
            <a:ext cx="4579936" cy="2798761"/>
          </a:xfrm>
          <a:custGeom>
            <a:pathLst>
              <a:path extrusionOk="0" h="1763" w="2885">
                <a:moveTo>
                  <a:pt x="0" y="1763"/>
                </a:moveTo>
                <a:cubicBezTo>
                  <a:pt x="55" y="1760"/>
                  <a:pt x="193" y="1758"/>
                  <a:pt x="331" y="1744"/>
                </a:cubicBezTo>
                <a:cubicBezTo>
                  <a:pt x="469" y="1730"/>
                  <a:pt x="617" y="1733"/>
                  <a:pt x="831" y="1678"/>
                </a:cubicBezTo>
                <a:cubicBezTo>
                  <a:pt x="1045" y="1623"/>
                  <a:pt x="1401" y="1519"/>
                  <a:pt x="1617" y="1414"/>
                </a:cubicBezTo>
                <a:cubicBezTo>
                  <a:pt x="1833" y="1309"/>
                  <a:pt x="1985" y="1173"/>
                  <a:pt x="2129" y="1049"/>
                </a:cubicBezTo>
                <a:cubicBezTo>
                  <a:pt x="2273" y="925"/>
                  <a:pt x="2383" y="784"/>
                  <a:pt x="2479" y="671"/>
                </a:cubicBezTo>
                <a:cubicBezTo>
                  <a:pt x="2575" y="558"/>
                  <a:pt x="2637" y="481"/>
                  <a:pt x="2705" y="369"/>
                </a:cubicBezTo>
                <a:cubicBezTo>
                  <a:pt x="2773" y="257"/>
                  <a:pt x="2848" y="77"/>
                  <a:pt x="2885" y="0"/>
                </a:cubicBezTo>
              </a:path>
            </a:pathLst>
          </a:custGeom>
          <a:noFill/>
          <a:ln cap="flat" cmpd="sng" w="2857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388" name="Shape 388"/>
          <p:cNvCxnSpPr/>
          <p:nvPr/>
        </p:nvCxnSpPr>
        <p:spPr>
          <a:xfrm rot="10800000">
            <a:off x="827087" y="4797425"/>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389" name="Shape 389"/>
          <p:cNvCxnSpPr/>
          <p:nvPr/>
        </p:nvCxnSpPr>
        <p:spPr>
          <a:xfrm>
            <a:off x="3563937" y="4797425"/>
            <a:ext cx="0" cy="1295400"/>
          </a:xfrm>
          <a:prstGeom prst="straightConnector1">
            <a:avLst/>
          </a:prstGeom>
          <a:noFill/>
          <a:ln cap="flat" cmpd="sng" w="9525">
            <a:solidFill>
              <a:schemeClr val="dk1"/>
            </a:solidFill>
            <a:prstDash val="solid"/>
            <a:miter/>
            <a:headEnd len="med" w="med" type="none"/>
            <a:tailEnd len="med" w="med" type="none"/>
          </a:ln>
        </p:spPr>
      </p:cxnSp>
      <p:cxnSp>
        <p:nvCxnSpPr>
          <p:cNvPr id="390" name="Shape 390"/>
          <p:cNvCxnSpPr/>
          <p:nvPr/>
        </p:nvCxnSpPr>
        <p:spPr>
          <a:xfrm rot="10800000">
            <a:off x="827086" y="5013325"/>
            <a:ext cx="2233612" cy="0"/>
          </a:xfrm>
          <a:prstGeom prst="straightConnector1">
            <a:avLst/>
          </a:prstGeom>
          <a:noFill/>
          <a:ln cap="flat" cmpd="sng" w="9525">
            <a:solidFill>
              <a:schemeClr val="dk1"/>
            </a:solidFill>
            <a:prstDash val="solid"/>
            <a:miter/>
            <a:headEnd len="med" w="med" type="none"/>
            <a:tailEnd len="med" w="med" type="none"/>
          </a:ln>
        </p:spPr>
      </p:cxnSp>
      <p:sp>
        <p:nvSpPr>
          <p:cNvPr id="391" name="Shape 391"/>
          <p:cNvSpPr txBox="1"/>
          <p:nvPr/>
        </p:nvSpPr>
        <p:spPr>
          <a:xfrm>
            <a:off x="5364162" y="1700211"/>
            <a:ext cx="3744912" cy="3168650"/>
          </a:xfrm>
          <a:prstGeom prst="rect">
            <a:avLst/>
          </a:prstGeom>
          <a:no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1"/>
              </a:buClr>
              <a:buSzPct val="25000"/>
              <a:buFont typeface="Arial"/>
              <a:buNone/>
            </a:pPr>
            <a:r>
              <a:rPr b="0" i="0" lang="en-US" sz="2100" u="none" cap="none" strike="noStrike">
                <a:solidFill>
                  <a:schemeClr val="dk1"/>
                </a:solidFill>
                <a:latin typeface="Arial"/>
                <a:ea typeface="Arial"/>
                <a:cs typeface="Arial"/>
                <a:sym typeface="Arial"/>
              </a:rPr>
              <a:t>Al </a:t>
            </a:r>
            <a:r>
              <a:rPr b="1" i="0" lang="en-US" sz="2100" u="none" cap="none" strike="noStrike">
                <a:solidFill>
                  <a:srgbClr val="EC1914"/>
                </a:solidFill>
                <a:latin typeface="Arial"/>
                <a:ea typeface="Arial"/>
                <a:cs typeface="Arial"/>
                <a:sym typeface="Arial"/>
              </a:rPr>
              <a:t>empeorar</a:t>
            </a:r>
            <a:r>
              <a:rPr b="0" i="0" lang="en-US" sz="2100" u="none" cap="none" strike="noStrike">
                <a:solidFill>
                  <a:schemeClr val="dk1"/>
                </a:solidFill>
                <a:latin typeface="Arial"/>
                <a:ea typeface="Arial"/>
                <a:cs typeface="Arial"/>
                <a:sym typeface="Arial"/>
              </a:rPr>
              <a:t> la demanda, los consumidores podrán adquirir solo la cantidad </a:t>
            </a:r>
            <a:r>
              <a:rPr b="1" i="0" lang="en-US" sz="2100" u="none" cap="none" strike="noStrike">
                <a:solidFill>
                  <a:srgbClr val="EC1914"/>
                </a:solidFill>
                <a:latin typeface="Arial"/>
                <a:ea typeface="Arial"/>
                <a:cs typeface="Arial"/>
                <a:sym typeface="Arial"/>
              </a:rPr>
              <a:t>Q´</a:t>
            </a:r>
            <a:r>
              <a:rPr b="0" i="0" lang="en-US" sz="2100" u="none" cap="none" strike="noStrike">
                <a:solidFill>
                  <a:schemeClr val="dk1"/>
                </a:solidFill>
                <a:latin typeface="Arial"/>
                <a:ea typeface="Arial"/>
                <a:cs typeface="Arial"/>
                <a:sym typeface="Arial"/>
              </a:rPr>
              <a:t>, pero los productores seguirán ofreciendo </a:t>
            </a:r>
            <a:r>
              <a:rPr b="1" i="0" lang="en-US" sz="2100" u="none" cap="none" strike="noStrike">
                <a:solidFill>
                  <a:srgbClr val="EC1914"/>
                </a:solidFill>
                <a:latin typeface="Arial"/>
                <a:ea typeface="Arial"/>
                <a:cs typeface="Arial"/>
                <a:sym typeface="Arial"/>
              </a:rPr>
              <a:t>Q</a:t>
            </a:r>
            <a:r>
              <a:rPr b="0" i="0" lang="en-US" sz="2100" u="none" cap="none" strike="noStrike">
                <a:solidFill>
                  <a:schemeClr val="dk1"/>
                </a:solidFill>
                <a:latin typeface="Arial"/>
                <a:ea typeface="Arial"/>
                <a:cs typeface="Arial"/>
                <a:sym typeface="Arial"/>
              </a:rPr>
              <a:t>, el exceso de oferta empujará la baja del precio de mercado y en consecuencia la disposición de los compradores para recuperar una parte de la cantidad perdida.  </a:t>
            </a:r>
          </a:p>
        </p:txBody>
      </p:sp>
      <p:cxnSp>
        <p:nvCxnSpPr>
          <p:cNvPr id="392" name="Shape 392"/>
          <p:cNvCxnSpPr/>
          <p:nvPr/>
        </p:nvCxnSpPr>
        <p:spPr>
          <a:xfrm>
            <a:off x="3059111" y="4508500"/>
            <a:ext cx="0" cy="1584325"/>
          </a:xfrm>
          <a:prstGeom prst="straightConnector1">
            <a:avLst/>
          </a:prstGeom>
          <a:noFill/>
          <a:ln cap="flat" cmpd="sng" w="9525">
            <a:solidFill>
              <a:schemeClr val="dk1"/>
            </a:solidFill>
            <a:prstDash val="solid"/>
            <a:miter/>
            <a:headEnd len="med" w="med" type="none"/>
            <a:tailEnd len="med" w="med" type="none"/>
          </a:ln>
        </p:spPr>
      </p:cxnSp>
      <p:sp>
        <p:nvSpPr>
          <p:cNvPr id="393" name="Shape 393"/>
          <p:cNvSpPr/>
          <p:nvPr/>
        </p:nvSpPr>
        <p:spPr>
          <a:xfrm rot="10800000">
            <a:off x="2700336" y="4797425"/>
            <a:ext cx="365125" cy="234949"/>
          </a:xfrm>
          <a:prstGeom prst="rtTriangle">
            <a:avLst/>
          </a:prstGeom>
          <a:solidFill>
            <a:schemeClr val="accent1"/>
          </a:solidFill>
          <a:ln cap="flat" cmpd="sng" w="19050">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394" name="Shape 394"/>
          <p:cNvCxnSpPr/>
          <p:nvPr/>
        </p:nvCxnSpPr>
        <p:spPr>
          <a:xfrm>
            <a:off x="2700336" y="4797425"/>
            <a:ext cx="0" cy="1295400"/>
          </a:xfrm>
          <a:prstGeom prst="straightConnector1">
            <a:avLst/>
          </a:prstGeom>
          <a:noFill/>
          <a:ln cap="flat" cmpd="sng" w="9525">
            <a:solidFill>
              <a:schemeClr val="dk1"/>
            </a:solidFill>
            <a:prstDash val="solid"/>
            <a:miter/>
            <a:headEnd len="med" w="med" type="none"/>
            <a:tailEnd len="med" w="med" type="none"/>
          </a:ln>
        </p:spPr>
      </p:cxnSp>
      <p:sp>
        <p:nvSpPr>
          <p:cNvPr id="395" name="Shape 395"/>
          <p:cNvSpPr txBox="1"/>
          <p:nvPr/>
        </p:nvSpPr>
        <p:spPr>
          <a:xfrm>
            <a:off x="2520950" y="6021387"/>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sp>
        <p:nvSpPr>
          <p:cNvPr id="396" name="Shape 396"/>
          <p:cNvSpPr txBox="1"/>
          <p:nvPr/>
        </p:nvSpPr>
        <p:spPr>
          <a:xfrm>
            <a:off x="3384550" y="6021387"/>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sp>
        <p:nvSpPr>
          <p:cNvPr id="397" name="Shape 397"/>
          <p:cNvSpPr txBox="1"/>
          <p:nvPr/>
        </p:nvSpPr>
        <p:spPr>
          <a:xfrm>
            <a:off x="2881311" y="6021387"/>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Q1</a:t>
            </a:r>
          </a:p>
        </p:txBody>
      </p:sp>
      <p:sp>
        <p:nvSpPr>
          <p:cNvPr id="398" name="Shape 398"/>
          <p:cNvSpPr txBox="1"/>
          <p:nvPr/>
        </p:nvSpPr>
        <p:spPr>
          <a:xfrm>
            <a:off x="468312" y="45815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a:t>
            </a:r>
          </a:p>
        </p:txBody>
      </p:sp>
      <p:sp>
        <p:nvSpPr>
          <p:cNvPr id="399" name="Shape 399"/>
          <p:cNvSpPr txBox="1"/>
          <p:nvPr/>
        </p:nvSpPr>
        <p:spPr>
          <a:xfrm>
            <a:off x="468312" y="47974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sp>
        <p:nvSpPr>
          <p:cNvPr id="400" name="Shape 400"/>
          <p:cNvSpPr txBox="1"/>
          <p:nvPr/>
        </p:nvSpPr>
        <p:spPr>
          <a:xfrm>
            <a:off x="900112" y="162877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401" name="Shape 401"/>
          <p:cNvSpPr txBox="1"/>
          <p:nvPr/>
        </p:nvSpPr>
        <p:spPr>
          <a:xfrm>
            <a:off x="4160837" y="5949950"/>
            <a:ext cx="1274762" cy="5540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402" name="Shape 402"/>
          <p:cNvSpPr txBox="1"/>
          <p:nvPr/>
        </p:nvSpPr>
        <p:spPr>
          <a:xfrm>
            <a:off x="1547812" y="2492375"/>
            <a:ext cx="1008062" cy="6477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INICIAL</a:t>
            </a:r>
          </a:p>
        </p:txBody>
      </p:sp>
      <p:sp>
        <p:nvSpPr>
          <p:cNvPr id="403" name="Shape 403"/>
          <p:cNvSpPr txBox="1"/>
          <p:nvPr/>
        </p:nvSpPr>
        <p:spPr>
          <a:xfrm>
            <a:off x="323850" y="3502025"/>
            <a:ext cx="1008062" cy="6477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FINAL</a:t>
            </a:r>
          </a:p>
        </p:txBody>
      </p:sp>
      <p:sp>
        <p:nvSpPr>
          <p:cNvPr id="404" name="Shape 404"/>
          <p:cNvSpPr txBox="1"/>
          <p:nvPr/>
        </p:nvSpPr>
        <p:spPr>
          <a:xfrm>
            <a:off x="4284662" y="2349500"/>
            <a:ext cx="1008062" cy="6477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OFERTA</a:t>
            </a:r>
          </a:p>
        </p:txBody>
      </p:sp>
      <p:sp>
        <p:nvSpPr>
          <p:cNvPr id="405" name="Shape 405"/>
          <p:cNvSpPr/>
          <p:nvPr/>
        </p:nvSpPr>
        <p:spPr>
          <a:xfrm rot="5400000">
            <a:off x="3192462" y="4664075"/>
            <a:ext cx="215899" cy="482599"/>
          </a:xfrm>
          <a:prstGeom prst="rtTriangle">
            <a:avLst/>
          </a:prstGeom>
          <a:solidFill>
            <a:srgbClr val="00FF00">
              <a:alpha val="84705"/>
            </a:srgbClr>
          </a:solidFill>
          <a:ln cap="flat" cmpd="sng" w="19050">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06" name="Shape 406"/>
          <p:cNvSpPr txBox="1"/>
          <p:nvPr/>
        </p:nvSpPr>
        <p:spPr>
          <a:xfrm>
            <a:off x="4787900" y="4724400"/>
            <a:ext cx="4356099" cy="1368425"/>
          </a:xfrm>
          <a:prstGeom prst="rect">
            <a:avLst/>
          </a:prstGeom>
          <a:solidFill>
            <a:srgbClr val="00FFFF"/>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El consumidor pagará el precio P1 a</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los productores, pero además </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deberá pagar al estado el impuesto, </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en definitiva deberá pagar P´1.</a:t>
            </a:r>
          </a:p>
        </p:txBody>
      </p:sp>
      <p:cxnSp>
        <p:nvCxnSpPr>
          <p:cNvPr id="407" name="Shape 407"/>
          <p:cNvCxnSpPr/>
          <p:nvPr/>
        </p:nvCxnSpPr>
        <p:spPr>
          <a:xfrm rot="10800000">
            <a:off x="827086" y="4508500"/>
            <a:ext cx="2232025" cy="0"/>
          </a:xfrm>
          <a:prstGeom prst="straightConnector1">
            <a:avLst/>
          </a:prstGeom>
          <a:noFill/>
          <a:ln cap="flat" cmpd="sng" w="9525">
            <a:solidFill>
              <a:schemeClr val="dk1"/>
            </a:solidFill>
            <a:prstDash val="solid"/>
            <a:miter/>
            <a:headEnd len="med" w="med" type="none"/>
            <a:tailEnd len="med" w="med" type="none"/>
          </a:ln>
        </p:spPr>
      </p:cxnSp>
      <p:sp>
        <p:nvSpPr>
          <p:cNvPr id="408" name="Shape 408"/>
          <p:cNvSpPr txBox="1"/>
          <p:nvPr/>
        </p:nvSpPr>
        <p:spPr>
          <a:xfrm>
            <a:off x="468312" y="429260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pic>
        <p:nvPicPr>
          <p:cNvPr id="409" name="Shape 409"/>
          <p:cNvPicPr preferRelativeResize="0"/>
          <p:nvPr>
            <p:ph idx="1" type="body"/>
          </p:nvPr>
        </p:nvPicPr>
        <p:blipFill rotWithShape="1">
          <a:blip r:embed="rId3">
            <a:alphaModFix/>
          </a:blip>
          <a:srcRect b="0" l="0" r="0" t="0"/>
          <a:stretch/>
        </p:blipFill>
        <p:spPr>
          <a:xfrm>
            <a:off x="5795962" y="476250"/>
            <a:ext cx="2146300" cy="720724"/>
          </a:xfrm>
          <a:prstGeom prst="rect">
            <a:avLst/>
          </a:prstGeom>
          <a:noFill/>
          <a:ln>
            <a:noFill/>
          </a:ln>
        </p:spPr>
      </p:pic>
      <p:sp>
        <p:nvSpPr>
          <p:cNvPr id="410" name="Shape 410"/>
          <p:cNvSpPr txBox="1"/>
          <p:nvPr/>
        </p:nvSpPr>
        <p:spPr>
          <a:xfrm rot="5400000">
            <a:off x="-315118" y="4637881"/>
            <a:ext cx="12001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Impuesto</a:t>
            </a:r>
          </a:p>
        </p:txBody>
      </p:sp>
      <p:sp>
        <p:nvSpPr>
          <p:cNvPr id="411" name="Shape 411"/>
          <p:cNvSpPr/>
          <p:nvPr/>
        </p:nvSpPr>
        <p:spPr>
          <a:xfrm>
            <a:off x="395287" y="4508500"/>
            <a:ext cx="71436" cy="504824"/>
          </a:xfrm>
          <a:prstGeom prst="leftBrace">
            <a:avLst>
              <a:gd fmla="val 8333" name="adj1"/>
              <a:gd fmla="val 50000" name="adj2"/>
            </a:avLst>
          </a:prstGeom>
          <a:noFill/>
          <a:ln cap="flat" cmpd="sng" w="25400">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412" name="Shape 412"/>
          <p:cNvCxnSpPr/>
          <p:nvPr/>
        </p:nvCxnSpPr>
        <p:spPr>
          <a:xfrm>
            <a:off x="1547812" y="4797425"/>
            <a:ext cx="0" cy="215899"/>
          </a:xfrm>
          <a:prstGeom prst="straightConnector1">
            <a:avLst/>
          </a:prstGeom>
          <a:noFill/>
          <a:ln cap="flat" cmpd="sng" w="38100">
            <a:solidFill>
              <a:schemeClr val="dk1"/>
            </a:solidFill>
            <a:prstDash val="solid"/>
            <a:miter/>
            <a:headEnd len="med" w="med" type="none"/>
            <a:tailEnd len="lg" w="lg" type="triangle"/>
          </a:ln>
        </p:spPr>
      </p:cxn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16" name="Shape 416"/>
        <p:cNvGrpSpPr/>
        <p:nvPr/>
      </p:nvGrpSpPr>
      <p:grpSpPr>
        <a:xfrm>
          <a:off x="0" y="0"/>
          <a:ext cx="0" cy="0"/>
          <a:chOff x="0" y="0"/>
          <a:chExt cx="0" cy="0"/>
        </a:xfrm>
      </p:grpSpPr>
      <p:sp>
        <p:nvSpPr>
          <p:cNvPr id="417" name="Shape 417"/>
          <p:cNvSpPr/>
          <p:nvPr/>
        </p:nvSpPr>
        <p:spPr>
          <a:xfrm>
            <a:off x="827087" y="4797425"/>
            <a:ext cx="2743200" cy="628650"/>
          </a:xfrm>
          <a:custGeom>
            <a:pathLst>
              <a:path extrusionOk="0" h="396" w="1728">
                <a:moveTo>
                  <a:pt x="14" y="2"/>
                </a:moveTo>
                <a:lnTo>
                  <a:pt x="0" y="132"/>
                </a:lnTo>
                <a:lnTo>
                  <a:pt x="19" y="396"/>
                </a:lnTo>
                <a:lnTo>
                  <a:pt x="340" y="377"/>
                </a:lnTo>
                <a:lnTo>
                  <a:pt x="718" y="340"/>
                </a:lnTo>
                <a:lnTo>
                  <a:pt x="1030" y="292"/>
                </a:lnTo>
                <a:lnTo>
                  <a:pt x="1351" y="179"/>
                </a:lnTo>
                <a:lnTo>
                  <a:pt x="1728" y="0"/>
                </a:lnTo>
                <a:lnTo>
                  <a:pt x="1069" y="0"/>
                </a:lnTo>
                <a:lnTo>
                  <a:pt x="578" y="10"/>
                </a:lnTo>
                <a:lnTo>
                  <a:pt x="278" y="12"/>
                </a:lnTo>
                <a:lnTo>
                  <a:pt x="14" y="2"/>
                </a:lnTo>
                <a:close/>
              </a:path>
            </a:pathLst>
          </a:custGeom>
          <a:solidFill>
            <a:srgbClr val="FF0000">
              <a:alpha val="66666"/>
            </a:srgbClr>
          </a:solidFill>
          <a:ln cap="flat" cmpd="sng" w="349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418" name="Shape 418"/>
          <p:cNvCxnSpPr/>
          <p:nvPr/>
        </p:nvCxnSpPr>
        <p:spPr>
          <a:xfrm>
            <a:off x="827087" y="1844675"/>
            <a:ext cx="0" cy="4321174"/>
          </a:xfrm>
          <a:prstGeom prst="straightConnector1">
            <a:avLst/>
          </a:prstGeom>
          <a:noFill/>
          <a:ln cap="flat" cmpd="sng" w="9525">
            <a:solidFill>
              <a:schemeClr val="dk1"/>
            </a:solidFill>
            <a:prstDash val="solid"/>
            <a:miter/>
            <a:headEnd len="med" w="med" type="none"/>
            <a:tailEnd len="med" w="med" type="none"/>
          </a:ln>
        </p:spPr>
      </p:cxnSp>
      <p:cxnSp>
        <p:nvCxnSpPr>
          <p:cNvPr id="419" name="Shape 419"/>
          <p:cNvCxnSpPr/>
          <p:nvPr/>
        </p:nvCxnSpPr>
        <p:spPr>
          <a:xfrm>
            <a:off x="539750" y="6092825"/>
            <a:ext cx="4824412" cy="0"/>
          </a:xfrm>
          <a:prstGeom prst="straightConnector1">
            <a:avLst/>
          </a:prstGeom>
          <a:noFill/>
          <a:ln cap="flat" cmpd="sng" w="9525">
            <a:solidFill>
              <a:schemeClr val="dk1"/>
            </a:solidFill>
            <a:prstDash val="solid"/>
            <a:miter/>
            <a:headEnd len="med" w="med" type="none"/>
            <a:tailEnd len="med" w="med" type="none"/>
          </a:ln>
        </p:spPr>
      </p:cxnSp>
      <p:sp>
        <p:nvSpPr>
          <p:cNvPr id="420" name="Shape 420"/>
          <p:cNvSpPr/>
          <p:nvPr/>
        </p:nvSpPr>
        <p:spPr>
          <a:xfrm>
            <a:off x="827087" y="1916111"/>
            <a:ext cx="3940175" cy="3435350"/>
          </a:xfrm>
          <a:custGeom>
            <a:pathLst>
              <a:path extrusionOk="0" h="2164" w="2482">
                <a:moveTo>
                  <a:pt x="0" y="0"/>
                </a:moveTo>
                <a:cubicBezTo>
                  <a:pt x="49" y="85"/>
                  <a:pt x="181" y="348"/>
                  <a:pt x="293" y="510"/>
                </a:cubicBezTo>
                <a:cubicBezTo>
                  <a:pt x="405" y="672"/>
                  <a:pt x="540" y="829"/>
                  <a:pt x="671" y="972"/>
                </a:cubicBezTo>
                <a:cubicBezTo>
                  <a:pt x="802" y="1115"/>
                  <a:pt x="950" y="1257"/>
                  <a:pt x="1077" y="1369"/>
                </a:cubicBezTo>
                <a:cubicBezTo>
                  <a:pt x="1204" y="1481"/>
                  <a:pt x="1340" y="1576"/>
                  <a:pt x="1434" y="1645"/>
                </a:cubicBezTo>
                <a:cubicBezTo>
                  <a:pt x="1528" y="1714"/>
                  <a:pt x="1517" y="1715"/>
                  <a:pt x="1643" y="1785"/>
                </a:cubicBezTo>
                <a:cubicBezTo>
                  <a:pt x="1769" y="1855"/>
                  <a:pt x="2049" y="2005"/>
                  <a:pt x="2189" y="2068"/>
                </a:cubicBezTo>
                <a:cubicBezTo>
                  <a:pt x="2329" y="2131"/>
                  <a:pt x="2421" y="2144"/>
                  <a:pt x="2482" y="2164"/>
                </a:cubicBezTo>
              </a:path>
            </a:pathLst>
          </a:custGeom>
          <a:noFill/>
          <a:ln cap="flat" cmpd="sng" w="3810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21" name="Shape 421"/>
          <p:cNvSpPr/>
          <p:nvPr/>
        </p:nvSpPr>
        <p:spPr>
          <a:xfrm>
            <a:off x="849312" y="2724150"/>
            <a:ext cx="3932237" cy="3098800"/>
          </a:xfrm>
          <a:custGeom>
            <a:pathLst>
              <a:path extrusionOk="0" h="1952" w="2477">
                <a:moveTo>
                  <a:pt x="0" y="0"/>
                </a:moveTo>
                <a:cubicBezTo>
                  <a:pt x="55" y="81"/>
                  <a:pt x="206" y="334"/>
                  <a:pt x="329" y="487"/>
                </a:cubicBezTo>
                <a:cubicBezTo>
                  <a:pt x="453" y="641"/>
                  <a:pt x="599" y="787"/>
                  <a:pt x="740" y="921"/>
                </a:cubicBezTo>
                <a:cubicBezTo>
                  <a:pt x="881" y="1054"/>
                  <a:pt x="1039" y="1185"/>
                  <a:pt x="1173" y="1287"/>
                </a:cubicBezTo>
                <a:cubicBezTo>
                  <a:pt x="1308" y="1390"/>
                  <a:pt x="1451" y="1475"/>
                  <a:pt x="1549" y="1537"/>
                </a:cubicBezTo>
                <a:cubicBezTo>
                  <a:pt x="1648" y="1599"/>
                  <a:pt x="1637" y="1600"/>
                  <a:pt x="1768" y="1661"/>
                </a:cubicBezTo>
                <a:cubicBezTo>
                  <a:pt x="1899" y="1722"/>
                  <a:pt x="2215" y="1856"/>
                  <a:pt x="2333" y="1904"/>
                </a:cubicBezTo>
                <a:cubicBezTo>
                  <a:pt x="2451" y="1952"/>
                  <a:pt x="2447" y="1939"/>
                  <a:pt x="2477" y="1948"/>
                </a:cubicBezTo>
              </a:path>
            </a:pathLst>
          </a:custGeom>
          <a:noFill/>
          <a:ln cap="flat" cmpd="sng" w="3810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22" name="Shape 422"/>
          <p:cNvSpPr/>
          <p:nvPr/>
        </p:nvSpPr>
        <p:spPr>
          <a:xfrm>
            <a:off x="827087" y="2636836"/>
            <a:ext cx="4579936" cy="2798761"/>
          </a:xfrm>
          <a:custGeom>
            <a:pathLst>
              <a:path extrusionOk="0" h="1763" w="2885">
                <a:moveTo>
                  <a:pt x="0" y="1763"/>
                </a:moveTo>
                <a:cubicBezTo>
                  <a:pt x="55" y="1760"/>
                  <a:pt x="193" y="1758"/>
                  <a:pt x="331" y="1744"/>
                </a:cubicBezTo>
                <a:cubicBezTo>
                  <a:pt x="469" y="1730"/>
                  <a:pt x="617" y="1733"/>
                  <a:pt x="831" y="1678"/>
                </a:cubicBezTo>
                <a:cubicBezTo>
                  <a:pt x="1045" y="1623"/>
                  <a:pt x="1401" y="1519"/>
                  <a:pt x="1617" y="1414"/>
                </a:cubicBezTo>
                <a:cubicBezTo>
                  <a:pt x="1833" y="1309"/>
                  <a:pt x="1985" y="1173"/>
                  <a:pt x="2129" y="1049"/>
                </a:cubicBezTo>
                <a:cubicBezTo>
                  <a:pt x="2273" y="925"/>
                  <a:pt x="2383" y="784"/>
                  <a:pt x="2479" y="671"/>
                </a:cubicBezTo>
                <a:cubicBezTo>
                  <a:pt x="2575" y="558"/>
                  <a:pt x="2637" y="481"/>
                  <a:pt x="2705" y="369"/>
                </a:cubicBezTo>
                <a:cubicBezTo>
                  <a:pt x="2773" y="257"/>
                  <a:pt x="2848" y="77"/>
                  <a:pt x="2885" y="0"/>
                </a:cubicBezTo>
              </a:path>
            </a:pathLst>
          </a:custGeom>
          <a:noFill/>
          <a:ln cap="flat" cmpd="sng" w="2857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423" name="Shape 423"/>
          <p:cNvCxnSpPr/>
          <p:nvPr/>
        </p:nvCxnSpPr>
        <p:spPr>
          <a:xfrm rot="10800000">
            <a:off x="827087" y="4797425"/>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424" name="Shape 424"/>
          <p:cNvCxnSpPr/>
          <p:nvPr/>
        </p:nvCxnSpPr>
        <p:spPr>
          <a:xfrm>
            <a:off x="3563937" y="4797425"/>
            <a:ext cx="0" cy="1295400"/>
          </a:xfrm>
          <a:prstGeom prst="straightConnector1">
            <a:avLst/>
          </a:prstGeom>
          <a:noFill/>
          <a:ln cap="flat" cmpd="sng" w="9525">
            <a:solidFill>
              <a:schemeClr val="dk1"/>
            </a:solidFill>
            <a:prstDash val="solid"/>
            <a:miter/>
            <a:headEnd len="med" w="med" type="none"/>
            <a:tailEnd len="med" w="med" type="none"/>
          </a:ln>
        </p:spPr>
      </p:cxnSp>
      <p:cxnSp>
        <p:nvCxnSpPr>
          <p:cNvPr id="425" name="Shape 425"/>
          <p:cNvCxnSpPr/>
          <p:nvPr/>
        </p:nvCxnSpPr>
        <p:spPr>
          <a:xfrm rot="10800000">
            <a:off x="827086" y="5013325"/>
            <a:ext cx="2233612" cy="0"/>
          </a:xfrm>
          <a:prstGeom prst="straightConnector1">
            <a:avLst/>
          </a:prstGeom>
          <a:noFill/>
          <a:ln cap="flat" cmpd="sng" w="9525">
            <a:solidFill>
              <a:schemeClr val="dk1"/>
            </a:solidFill>
            <a:prstDash val="solid"/>
            <a:miter/>
            <a:headEnd len="med" w="med" type="none"/>
            <a:tailEnd len="med" w="med" type="none"/>
          </a:ln>
        </p:spPr>
      </p:cxnSp>
      <p:sp>
        <p:nvSpPr>
          <p:cNvPr id="426" name="Shape 426"/>
          <p:cNvSpPr txBox="1"/>
          <p:nvPr/>
        </p:nvSpPr>
        <p:spPr>
          <a:xfrm>
            <a:off x="4968875" y="2060575"/>
            <a:ext cx="4211637" cy="2592387"/>
          </a:xfrm>
          <a:prstGeom prst="rect">
            <a:avLst/>
          </a:prstGeom>
          <a:solidFill>
            <a:schemeClr val="lt1"/>
          </a:solid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1"/>
              </a:buClr>
              <a:buSzPct val="25000"/>
              <a:buFont typeface="Arial"/>
              <a:buNone/>
            </a:pPr>
            <a:r>
              <a:rPr b="0" i="0" lang="en-US" sz="2100" u="none" cap="none" strike="noStrike">
                <a:solidFill>
                  <a:schemeClr val="dk1"/>
                </a:solidFill>
                <a:latin typeface="Arial"/>
                <a:ea typeface="Arial"/>
                <a:cs typeface="Arial"/>
                <a:sym typeface="Arial"/>
              </a:rPr>
              <a:t>El estado al aplicar un impuesto al consumidor  </a:t>
            </a:r>
            <a:r>
              <a:rPr b="1" i="0" lang="en-US" sz="2100" u="none" cap="none" strike="noStrike">
                <a:solidFill>
                  <a:srgbClr val="EC1914"/>
                </a:solidFill>
                <a:latin typeface="Arial"/>
                <a:ea typeface="Arial"/>
                <a:cs typeface="Arial"/>
                <a:sym typeface="Arial"/>
              </a:rPr>
              <a:t>empeora</a:t>
            </a:r>
            <a:r>
              <a:rPr b="0" i="0" lang="en-US" sz="2100" u="none" cap="none" strike="noStrike">
                <a:solidFill>
                  <a:schemeClr val="dk1"/>
                </a:solidFill>
                <a:latin typeface="Arial"/>
                <a:ea typeface="Arial"/>
                <a:cs typeface="Arial"/>
                <a:sym typeface="Arial"/>
              </a:rPr>
              <a:t> la demanda, el precio y la cantidad de equilibrio se reducen.</a:t>
            </a:r>
          </a:p>
          <a:p>
            <a:pPr indent="0" lvl="0" marL="0" marR="0" rtl="0" algn="l">
              <a:lnSpc>
                <a:spcPct val="80000"/>
              </a:lnSpc>
              <a:spcBef>
                <a:spcPts val="420"/>
              </a:spcBef>
              <a:spcAft>
                <a:spcPts val="0"/>
              </a:spcAft>
              <a:buClr>
                <a:schemeClr val="dk1"/>
              </a:buClr>
              <a:buSzPct val="25000"/>
              <a:buFont typeface="Arial"/>
              <a:buNone/>
            </a:pPr>
            <a:r>
              <a:rPr b="0" i="0" lang="en-US" sz="2100" u="none" cap="none" strike="noStrike">
                <a:solidFill>
                  <a:schemeClr val="dk1"/>
                </a:solidFill>
                <a:latin typeface="Arial"/>
                <a:ea typeface="Arial"/>
                <a:cs typeface="Arial"/>
                <a:sym typeface="Arial"/>
              </a:rPr>
              <a:t>El excedente del productor tal como se muestra en el gráfico, se reduce constituyendo el aporte de este sector al pago del impuesto</a:t>
            </a:r>
          </a:p>
        </p:txBody>
      </p:sp>
      <p:cxnSp>
        <p:nvCxnSpPr>
          <p:cNvPr id="427" name="Shape 427"/>
          <p:cNvCxnSpPr/>
          <p:nvPr/>
        </p:nvCxnSpPr>
        <p:spPr>
          <a:xfrm>
            <a:off x="3059111" y="4508500"/>
            <a:ext cx="0" cy="1584325"/>
          </a:xfrm>
          <a:prstGeom prst="straightConnector1">
            <a:avLst/>
          </a:prstGeom>
          <a:noFill/>
          <a:ln cap="flat" cmpd="sng" w="9525">
            <a:solidFill>
              <a:schemeClr val="dk1"/>
            </a:solidFill>
            <a:prstDash val="solid"/>
            <a:miter/>
            <a:headEnd len="med" w="med" type="none"/>
            <a:tailEnd len="med" w="med" type="none"/>
          </a:ln>
        </p:spPr>
      </p:cxnSp>
      <p:sp>
        <p:nvSpPr>
          <p:cNvPr id="428" name="Shape 428"/>
          <p:cNvSpPr txBox="1"/>
          <p:nvPr/>
        </p:nvSpPr>
        <p:spPr>
          <a:xfrm>
            <a:off x="3384550" y="6021387"/>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sp>
        <p:nvSpPr>
          <p:cNvPr id="429" name="Shape 429"/>
          <p:cNvSpPr txBox="1"/>
          <p:nvPr/>
        </p:nvSpPr>
        <p:spPr>
          <a:xfrm>
            <a:off x="2881311" y="6021387"/>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Q1</a:t>
            </a:r>
          </a:p>
        </p:txBody>
      </p:sp>
      <p:sp>
        <p:nvSpPr>
          <p:cNvPr id="430" name="Shape 430"/>
          <p:cNvSpPr txBox="1"/>
          <p:nvPr/>
        </p:nvSpPr>
        <p:spPr>
          <a:xfrm>
            <a:off x="468312" y="45815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P</a:t>
            </a:r>
          </a:p>
        </p:txBody>
      </p:sp>
      <p:sp>
        <p:nvSpPr>
          <p:cNvPr id="431" name="Shape 431"/>
          <p:cNvSpPr txBox="1"/>
          <p:nvPr/>
        </p:nvSpPr>
        <p:spPr>
          <a:xfrm>
            <a:off x="468312" y="4797425"/>
            <a:ext cx="431799"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sp>
        <p:nvSpPr>
          <p:cNvPr id="432" name="Shape 432"/>
          <p:cNvSpPr/>
          <p:nvPr/>
        </p:nvSpPr>
        <p:spPr>
          <a:xfrm>
            <a:off x="827087" y="5013325"/>
            <a:ext cx="2266950" cy="420686"/>
          </a:xfrm>
          <a:custGeom>
            <a:pathLst>
              <a:path extrusionOk="0" h="265" w="1428">
                <a:moveTo>
                  <a:pt x="12" y="2"/>
                </a:moveTo>
                <a:lnTo>
                  <a:pt x="0" y="123"/>
                </a:lnTo>
                <a:lnTo>
                  <a:pt x="0" y="265"/>
                </a:lnTo>
                <a:lnTo>
                  <a:pt x="356" y="260"/>
                </a:lnTo>
                <a:lnTo>
                  <a:pt x="697" y="213"/>
                </a:lnTo>
                <a:lnTo>
                  <a:pt x="988" y="165"/>
                </a:lnTo>
                <a:lnTo>
                  <a:pt x="1262" y="80"/>
                </a:lnTo>
                <a:lnTo>
                  <a:pt x="1428" y="2"/>
                </a:lnTo>
                <a:lnTo>
                  <a:pt x="1067" y="0"/>
                </a:lnTo>
                <a:lnTo>
                  <a:pt x="576" y="10"/>
                </a:lnTo>
                <a:lnTo>
                  <a:pt x="276" y="12"/>
                </a:lnTo>
                <a:lnTo>
                  <a:pt x="12" y="2"/>
                </a:lnTo>
                <a:close/>
              </a:path>
            </a:pathLst>
          </a:custGeom>
          <a:solidFill>
            <a:schemeClr val="accent2">
              <a:alpha val="66666"/>
            </a:schemeClr>
          </a:solidFill>
          <a:ln cap="flat" cmpd="sng" w="349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33" name="Shape 433"/>
          <p:cNvSpPr txBox="1"/>
          <p:nvPr/>
        </p:nvSpPr>
        <p:spPr>
          <a:xfrm>
            <a:off x="827087" y="4797425"/>
            <a:ext cx="2232025" cy="215899"/>
          </a:xfrm>
          <a:prstGeom prst="rect">
            <a:avLst/>
          </a:prstGeom>
          <a:solidFill>
            <a:schemeClr val="accent1"/>
          </a:solidFill>
          <a:ln cap="flat" cmpd="sng" w="38100">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REDUCCIÓN</a:t>
            </a:r>
          </a:p>
        </p:txBody>
      </p:sp>
      <p:sp>
        <p:nvSpPr>
          <p:cNvPr id="434" name="Shape 434"/>
          <p:cNvSpPr/>
          <p:nvPr/>
        </p:nvSpPr>
        <p:spPr>
          <a:xfrm rot="5220000">
            <a:off x="3211511" y="4645025"/>
            <a:ext cx="200025" cy="504825"/>
          </a:xfrm>
          <a:prstGeom prst="rtTriangle">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35" name="Shape 435"/>
          <p:cNvSpPr txBox="1"/>
          <p:nvPr/>
        </p:nvSpPr>
        <p:spPr>
          <a:xfrm>
            <a:off x="1116012" y="184467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436" name="Shape 436"/>
          <p:cNvSpPr txBox="1"/>
          <p:nvPr/>
        </p:nvSpPr>
        <p:spPr>
          <a:xfrm>
            <a:off x="4160837" y="5949950"/>
            <a:ext cx="1274762" cy="5540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437" name="Shape 437"/>
          <p:cNvSpPr txBox="1"/>
          <p:nvPr/>
        </p:nvSpPr>
        <p:spPr>
          <a:xfrm>
            <a:off x="3635375" y="3286125"/>
            <a:ext cx="1008062" cy="6477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OFERTA</a:t>
            </a:r>
          </a:p>
        </p:txBody>
      </p:sp>
      <p:sp>
        <p:nvSpPr>
          <p:cNvPr id="438" name="Shape 438"/>
          <p:cNvSpPr txBox="1"/>
          <p:nvPr/>
        </p:nvSpPr>
        <p:spPr>
          <a:xfrm>
            <a:off x="323850" y="3502025"/>
            <a:ext cx="1008062" cy="6477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FINAL</a:t>
            </a:r>
          </a:p>
        </p:txBody>
      </p:sp>
      <p:sp>
        <p:nvSpPr>
          <p:cNvPr id="439" name="Shape 439"/>
          <p:cNvSpPr txBox="1"/>
          <p:nvPr/>
        </p:nvSpPr>
        <p:spPr>
          <a:xfrm>
            <a:off x="1835150" y="2708275"/>
            <a:ext cx="1008062" cy="6477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INICIAL</a:t>
            </a:r>
          </a:p>
        </p:txBody>
      </p:sp>
      <p:cxnSp>
        <p:nvCxnSpPr>
          <p:cNvPr id="440" name="Shape 440"/>
          <p:cNvCxnSpPr/>
          <p:nvPr/>
        </p:nvCxnSpPr>
        <p:spPr>
          <a:xfrm rot="10800000">
            <a:off x="827086" y="4508500"/>
            <a:ext cx="2232025" cy="0"/>
          </a:xfrm>
          <a:prstGeom prst="straightConnector1">
            <a:avLst/>
          </a:prstGeom>
          <a:noFill/>
          <a:ln cap="flat" cmpd="sng" w="9525">
            <a:solidFill>
              <a:schemeClr val="dk1"/>
            </a:solidFill>
            <a:prstDash val="solid"/>
            <a:miter/>
            <a:headEnd len="med" w="med" type="none"/>
            <a:tailEnd len="med" w="med" type="none"/>
          </a:ln>
        </p:spPr>
      </p:cxnSp>
      <p:sp>
        <p:nvSpPr>
          <p:cNvPr id="441" name="Shape 441"/>
          <p:cNvSpPr txBox="1"/>
          <p:nvPr/>
        </p:nvSpPr>
        <p:spPr>
          <a:xfrm>
            <a:off x="468312" y="429260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pic>
        <p:nvPicPr>
          <p:cNvPr id="442" name="Shape 442"/>
          <p:cNvPicPr preferRelativeResize="0"/>
          <p:nvPr>
            <p:ph idx="1" type="body"/>
          </p:nvPr>
        </p:nvPicPr>
        <p:blipFill rotWithShape="1">
          <a:blip r:embed="rId3">
            <a:alphaModFix/>
          </a:blip>
          <a:srcRect b="0" l="0" r="0" t="0"/>
          <a:stretch/>
        </p:blipFill>
        <p:spPr>
          <a:xfrm>
            <a:off x="5651500" y="188911"/>
            <a:ext cx="2290762" cy="719136"/>
          </a:xfrm>
          <a:prstGeom prst="rect">
            <a:avLst/>
          </a:prstGeom>
          <a:noFill/>
          <a:ln>
            <a:noFill/>
          </a:ln>
        </p:spPr>
      </p:pic>
      <p:sp>
        <p:nvSpPr>
          <p:cNvPr id="443" name="Shape 443"/>
          <p:cNvSpPr txBox="1"/>
          <p:nvPr/>
        </p:nvSpPr>
        <p:spPr>
          <a:xfrm rot="5400000">
            <a:off x="-442118" y="4699792"/>
            <a:ext cx="14668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 Impuesto</a:t>
            </a:r>
          </a:p>
        </p:txBody>
      </p:sp>
      <p:sp>
        <p:nvSpPr>
          <p:cNvPr id="444" name="Shape 444"/>
          <p:cNvSpPr/>
          <p:nvPr/>
        </p:nvSpPr>
        <p:spPr>
          <a:xfrm>
            <a:off x="466725" y="4724400"/>
            <a:ext cx="144462" cy="360362"/>
          </a:xfrm>
          <a:prstGeom prst="leftBrace">
            <a:avLst>
              <a:gd fmla="val 8333" name="adj1"/>
              <a:gd fmla="val 50000" name="adj2"/>
            </a:avLst>
          </a:prstGeom>
          <a:noFill/>
          <a:ln cap="flat" cmpd="sng" w="25400">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45" name="Shape 445"/>
          <p:cNvSpPr txBox="1"/>
          <p:nvPr/>
        </p:nvSpPr>
        <p:spPr>
          <a:xfrm>
            <a:off x="34925" y="44450"/>
            <a:ext cx="5761036" cy="1650999"/>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IMPUESTOS PAGADOS POR EL CONSUMIDOR</a:t>
            </a:r>
            <a:br>
              <a:rPr b="1" i="0" lang="en-US" sz="3500" u="none" cap="none" strike="noStrike">
                <a:solidFill>
                  <a:schemeClr val="dk2"/>
                </a:solidFill>
                <a:latin typeface="Arial"/>
                <a:ea typeface="Arial"/>
                <a:cs typeface="Arial"/>
                <a:sym typeface="Arial"/>
              </a:rPr>
            </a:br>
            <a:r>
              <a:rPr b="1" i="0" lang="en-US" sz="2800" u="none" cap="none" strike="noStrike">
                <a:solidFill>
                  <a:srgbClr val="EC1914"/>
                </a:solidFill>
                <a:latin typeface="Arial"/>
                <a:ea typeface="Arial"/>
                <a:cs typeface="Arial"/>
                <a:sym typeface="Arial"/>
              </a:rPr>
              <a:t>REDUCCIÓN EXC. PRODUCTOR</a:t>
            </a: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49" name="Shape 449"/>
        <p:cNvGrpSpPr/>
        <p:nvPr/>
      </p:nvGrpSpPr>
      <p:grpSpPr>
        <a:xfrm>
          <a:off x="0" y="0"/>
          <a:ext cx="0" cy="0"/>
          <a:chOff x="0" y="0"/>
          <a:chExt cx="0" cy="0"/>
        </a:xfrm>
      </p:grpSpPr>
      <p:cxnSp>
        <p:nvCxnSpPr>
          <p:cNvPr id="450" name="Shape 450"/>
          <p:cNvCxnSpPr/>
          <p:nvPr/>
        </p:nvCxnSpPr>
        <p:spPr>
          <a:xfrm rot="10800000">
            <a:off x="827086" y="4508500"/>
            <a:ext cx="2232025" cy="0"/>
          </a:xfrm>
          <a:prstGeom prst="straightConnector1">
            <a:avLst/>
          </a:prstGeom>
          <a:noFill/>
          <a:ln cap="flat" cmpd="sng" w="9525">
            <a:solidFill>
              <a:schemeClr val="dk1"/>
            </a:solidFill>
            <a:prstDash val="solid"/>
            <a:miter/>
            <a:headEnd len="med" w="med" type="none"/>
            <a:tailEnd len="med" w="med" type="none"/>
          </a:ln>
        </p:spPr>
      </p:cxnSp>
      <p:cxnSp>
        <p:nvCxnSpPr>
          <p:cNvPr id="451" name="Shape 451"/>
          <p:cNvCxnSpPr/>
          <p:nvPr/>
        </p:nvCxnSpPr>
        <p:spPr>
          <a:xfrm>
            <a:off x="827087" y="1844675"/>
            <a:ext cx="0" cy="4321174"/>
          </a:xfrm>
          <a:prstGeom prst="straightConnector1">
            <a:avLst/>
          </a:prstGeom>
          <a:noFill/>
          <a:ln cap="flat" cmpd="sng" w="9525">
            <a:solidFill>
              <a:schemeClr val="dk1"/>
            </a:solidFill>
            <a:prstDash val="solid"/>
            <a:miter/>
            <a:headEnd len="med" w="med" type="none"/>
            <a:tailEnd len="med" w="med" type="none"/>
          </a:ln>
        </p:spPr>
      </p:cxnSp>
      <p:cxnSp>
        <p:nvCxnSpPr>
          <p:cNvPr id="452" name="Shape 452"/>
          <p:cNvCxnSpPr/>
          <p:nvPr/>
        </p:nvCxnSpPr>
        <p:spPr>
          <a:xfrm>
            <a:off x="539750" y="6092825"/>
            <a:ext cx="4824412" cy="0"/>
          </a:xfrm>
          <a:prstGeom prst="straightConnector1">
            <a:avLst/>
          </a:prstGeom>
          <a:noFill/>
          <a:ln cap="flat" cmpd="sng" w="9525">
            <a:solidFill>
              <a:schemeClr val="dk1"/>
            </a:solidFill>
            <a:prstDash val="solid"/>
            <a:miter/>
            <a:headEnd len="med" w="med" type="none"/>
            <a:tailEnd len="med" w="med" type="none"/>
          </a:ln>
        </p:spPr>
      </p:cxnSp>
      <p:sp>
        <p:nvSpPr>
          <p:cNvPr id="453" name="Shape 453"/>
          <p:cNvSpPr/>
          <p:nvPr/>
        </p:nvSpPr>
        <p:spPr>
          <a:xfrm>
            <a:off x="827087" y="1916111"/>
            <a:ext cx="4270375" cy="3508375"/>
          </a:xfrm>
          <a:custGeom>
            <a:pathLst>
              <a:path extrusionOk="0" h="2210" w="2690">
                <a:moveTo>
                  <a:pt x="0" y="0"/>
                </a:moveTo>
                <a:cubicBezTo>
                  <a:pt x="49" y="85"/>
                  <a:pt x="181" y="348"/>
                  <a:pt x="293" y="510"/>
                </a:cubicBezTo>
                <a:cubicBezTo>
                  <a:pt x="405" y="672"/>
                  <a:pt x="540" y="829"/>
                  <a:pt x="671" y="972"/>
                </a:cubicBezTo>
                <a:cubicBezTo>
                  <a:pt x="802" y="1115"/>
                  <a:pt x="950" y="1257"/>
                  <a:pt x="1077" y="1369"/>
                </a:cubicBezTo>
                <a:cubicBezTo>
                  <a:pt x="1204" y="1481"/>
                  <a:pt x="1340" y="1576"/>
                  <a:pt x="1434" y="1645"/>
                </a:cubicBezTo>
                <a:cubicBezTo>
                  <a:pt x="1528" y="1714"/>
                  <a:pt x="1517" y="1715"/>
                  <a:pt x="1643" y="1785"/>
                </a:cubicBezTo>
                <a:cubicBezTo>
                  <a:pt x="1769" y="1855"/>
                  <a:pt x="2015" y="1997"/>
                  <a:pt x="2189" y="2068"/>
                </a:cubicBezTo>
                <a:cubicBezTo>
                  <a:pt x="2364" y="2139"/>
                  <a:pt x="2586" y="2181"/>
                  <a:pt x="2690" y="2210"/>
                </a:cubicBezTo>
              </a:path>
            </a:pathLst>
          </a:custGeom>
          <a:noFill/>
          <a:ln cap="flat" cmpd="sng" w="3810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54" name="Shape 454"/>
          <p:cNvSpPr/>
          <p:nvPr/>
        </p:nvSpPr>
        <p:spPr>
          <a:xfrm>
            <a:off x="827087" y="2492375"/>
            <a:ext cx="4538661" cy="3454400"/>
          </a:xfrm>
          <a:custGeom>
            <a:pathLst>
              <a:path extrusionOk="0" h="2176" w="2859">
                <a:moveTo>
                  <a:pt x="0" y="0"/>
                </a:moveTo>
                <a:cubicBezTo>
                  <a:pt x="66" y="101"/>
                  <a:pt x="266" y="425"/>
                  <a:pt x="397" y="604"/>
                </a:cubicBezTo>
                <a:cubicBezTo>
                  <a:pt x="528" y="783"/>
                  <a:pt x="652" y="934"/>
                  <a:pt x="784" y="1076"/>
                </a:cubicBezTo>
                <a:cubicBezTo>
                  <a:pt x="916" y="1218"/>
                  <a:pt x="1059" y="1349"/>
                  <a:pt x="1189" y="1454"/>
                </a:cubicBezTo>
                <a:cubicBezTo>
                  <a:pt x="1319" y="1559"/>
                  <a:pt x="1467" y="1642"/>
                  <a:pt x="1565" y="1704"/>
                </a:cubicBezTo>
                <a:cubicBezTo>
                  <a:pt x="1664" y="1766"/>
                  <a:pt x="1653" y="1767"/>
                  <a:pt x="1784" y="1828"/>
                </a:cubicBezTo>
                <a:cubicBezTo>
                  <a:pt x="1915" y="1889"/>
                  <a:pt x="2170" y="2013"/>
                  <a:pt x="2349" y="2071"/>
                </a:cubicBezTo>
                <a:cubicBezTo>
                  <a:pt x="2529" y="2129"/>
                  <a:pt x="2753" y="2155"/>
                  <a:pt x="2859" y="2176"/>
                </a:cubicBezTo>
              </a:path>
            </a:pathLst>
          </a:custGeom>
          <a:noFill/>
          <a:ln cap="flat" cmpd="sng" w="3810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55" name="Shape 455"/>
          <p:cNvSpPr/>
          <p:nvPr/>
        </p:nvSpPr>
        <p:spPr>
          <a:xfrm>
            <a:off x="827087" y="2636836"/>
            <a:ext cx="4579936" cy="2798761"/>
          </a:xfrm>
          <a:custGeom>
            <a:pathLst>
              <a:path extrusionOk="0" h="1763" w="2885">
                <a:moveTo>
                  <a:pt x="0" y="1763"/>
                </a:moveTo>
                <a:cubicBezTo>
                  <a:pt x="55" y="1760"/>
                  <a:pt x="193" y="1758"/>
                  <a:pt x="331" y="1744"/>
                </a:cubicBezTo>
                <a:cubicBezTo>
                  <a:pt x="469" y="1730"/>
                  <a:pt x="617" y="1733"/>
                  <a:pt x="831" y="1678"/>
                </a:cubicBezTo>
                <a:cubicBezTo>
                  <a:pt x="1045" y="1623"/>
                  <a:pt x="1401" y="1519"/>
                  <a:pt x="1617" y="1414"/>
                </a:cubicBezTo>
                <a:cubicBezTo>
                  <a:pt x="1833" y="1309"/>
                  <a:pt x="1985" y="1173"/>
                  <a:pt x="2129" y="1049"/>
                </a:cubicBezTo>
                <a:cubicBezTo>
                  <a:pt x="2273" y="925"/>
                  <a:pt x="2383" y="784"/>
                  <a:pt x="2479" y="671"/>
                </a:cubicBezTo>
                <a:cubicBezTo>
                  <a:pt x="2575" y="558"/>
                  <a:pt x="2637" y="481"/>
                  <a:pt x="2705" y="369"/>
                </a:cubicBezTo>
                <a:cubicBezTo>
                  <a:pt x="2773" y="257"/>
                  <a:pt x="2848" y="77"/>
                  <a:pt x="2885" y="0"/>
                </a:cubicBezTo>
              </a:path>
            </a:pathLst>
          </a:custGeom>
          <a:noFill/>
          <a:ln cap="flat" cmpd="sng" w="2857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456" name="Shape 456"/>
          <p:cNvCxnSpPr/>
          <p:nvPr/>
        </p:nvCxnSpPr>
        <p:spPr>
          <a:xfrm rot="10800000">
            <a:off x="827087" y="4797425"/>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457" name="Shape 457"/>
          <p:cNvCxnSpPr/>
          <p:nvPr/>
        </p:nvCxnSpPr>
        <p:spPr>
          <a:xfrm>
            <a:off x="3563937" y="4797425"/>
            <a:ext cx="0" cy="1295400"/>
          </a:xfrm>
          <a:prstGeom prst="straightConnector1">
            <a:avLst/>
          </a:prstGeom>
          <a:noFill/>
          <a:ln cap="flat" cmpd="sng" w="9525">
            <a:solidFill>
              <a:schemeClr val="dk1"/>
            </a:solidFill>
            <a:prstDash val="solid"/>
            <a:miter/>
            <a:headEnd len="med" w="med" type="none"/>
            <a:tailEnd len="med" w="med" type="none"/>
          </a:ln>
        </p:spPr>
      </p:cxnSp>
      <p:cxnSp>
        <p:nvCxnSpPr>
          <p:cNvPr id="458" name="Shape 458"/>
          <p:cNvCxnSpPr/>
          <p:nvPr/>
        </p:nvCxnSpPr>
        <p:spPr>
          <a:xfrm rot="10800000">
            <a:off x="827086" y="5013325"/>
            <a:ext cx="2233612" cy="0"/>
          </a:xfrm>
          <a:prstGeom prst="straightConnector1">
            <a:avLst/>
          </a:prstGeom>
          <a:noFill/>
          <a:ln cap="flat" cmpd="sng" w="9525">
            <a:solidFill>
              <a:schemeClr val="dk1"/>
            </a:solidFill>
            <a:prstDash val="solid"/>
            <a:miter/>
            <a:headEnd len="med" w="med" type="none"/>
            <a:tailEnd len="med" w="med" type="none"/>
          </a:ln>
        </p:spPr>
      </p:cxnSp>
      <p:sp>
        <p:nvSpPr>
          <p:cNvPr id="459" name="Shape 459"/>
          <p:cNvSpPr txBox="1"/>
          <p:nvPr/>
        </p:nvSpPr>
        <p:spPr>
          <a:xfrm>
            <a:off x="4932362" y="3429000"/>
            <a:ext cx="4032249" cy="1943100"/>
          </a:xfrm>
          <a:prstGeom prst="rect">
            <a:avLst/>
          </a:prstGeom>
          <a:no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1"/>
              </a:buClr>
              <a:buSzPct val="25000"/>
              <a:buFont typeface="Arial"/>
              <a:buNone/>
            </a:pPr>
            <a:r>
              <a:rPr b="0" i="0" lang="en-US" sz="2100" u="none" cap="none" strike="noStrike">
                <a:solidFill>
                  <a:schemeClr val="dk1"/>
                </a:solidFill>
                <a:latin typeface="Arial"/>
                <a:ea typeface="Arial"/>
                <a:cs typeface="Arial"/>
                <a:sym typeface="Arial"/>
              </a:rPr>
              <a:t>El estado al aplicar un impuesto al consumidor </a:t>
            </a:r>
            <a:r>
              <a:rPr b="1" i="0" lang="en-US" sz="2100" u="none" cap="none" strike="noStrike">
                <a:solidFill>
                  <a:srgbClr val="EC1914"/>
                </a:solidFill>
                <a:latin typeface="Arial"/>
                <a:ea typeface="Arial"/>
                <a:cs typeface="Arial"/>
                <a:sym typeface="Arial"/>
              </a:rPr>
              <a:t>empeora</a:t>
            </a:r>
            <a:r>
              <a:rPr b="0" i="0" lang="en-US" sz="2100" u="none" cap="none" strike="noStrike">
                <a:solidFill>
                  <a:schemeClr val="dk1"/>
                </a:solidFill>
                <a:latin typeface="Arial"/>
                <a:ea typeface="Arial"/>
                <a:cs typeface="Arial"/>
                <a:sym typeface="Arial"/>
              </a:rPr>
              <a:t> la demanda, el precio y la cantidad de equilibrio se reducen.</a:t>
            </a:r>
          </a:p>
          <a:p>
            <a:pPr indent="0" lvl="0" marL="0" marR="0" rtl="0" algn="l">
              <a:lnSpc>
                <a:spcPct val="80000"/>
              </a:lnSpc>
              <a:spcBef>
                <a:spcPts val="420"/>
              </a:spcBef>
              <a:spcAft>
                <a:spcPts val="0"/>
              </a:spcAft>
              <a:buClr>
                <a:schemeClr val="dk1"/>
              </a:buClr>
              <a:buSzPct val="25000"/>
              <a:buFont typeface="Arial"/>
              <a:buNone/>
            </a:pPr>
            <a:r>
              <a:rPr b="0" i="0" lang="en-US" sz="2100" u="none" cap="none" strike="noStrike">
                <a:solidFill>
                  <a:schemeClr val="dk1"/>
                </a:solidFill>
                <a:latin typeface="Arial"/>
                <a:ea typeface="Arial"/>
                <a:cs typeface="Arial"/>
                <a:sym typeface="Arial"/>
              </a:rPr>
              <a:t>Esto reduce el excedente del consumidor tal como se muestra en el gráfico.</a:t>
            </a:r>
          </a:p>
        </p:txBody>
      </p:sp>
      <p:cxnSp>
        <p:nvCxnSpPr>
          <p:cNvPr id="460" name="Shape 460"/>
          <p:cNvCxnSpPr/>
          <p:nvPr/>
        </p:nvCxnSpPr>
        <p:spPr>
          <a:xfrm>
            <a:off x="3059111" y="4508500"/>
            <a:ext cx="0" cy="1584325"/>
          </a:xfrm>
          <a:prstGeom prst="straightConnector1">
            <a:avLst/>
          </a:prstGeom>
          <a:noFill/>
          <a:ln cap="flat" cmpd="sng" w="9525">
            <a:solidFill>
              <a:schemeClr val="dk1"/>
            </a:solidFill>
            <a:prstDash val="solid"/>
            <a:miter/>
            <a:headEnd len="med" w="med" type="none"/>
            <a:tailEnd len="med" w="med" type="none"/>
          </a:ln>
        </p:spPr>
      </p:cxnSp>
      <p:sp>
        <p:nvSpPr>
          <p:cNvPr id="461" name="Shape 461"/>
          <p:cNvSpPr txBox="1"/>
          <p:nvPr/>
        </p:nvSpPr>
        <p:spPr>
          <a:xfrm>
            <a:off x="3384550" y="6021387"/>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sp>
        <p:nvSpPr>
          <p:cNvPr id="462" name="Shape 462"/>
          <p:cNvSpPr txBox="1"/>
          <p:nvPr/>
        </p:nvSpPr>
        <p:spPr>
          <a:xfrm>
            <a:off x="2881311" y="6021387"/>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Q1</a:t>
            </a:r>
          </a:p>
        </p:txBody>
      </p:sp>
      <p:sp>
        <p:nvSpPr>
          <p:cNvPr id="463" name="Shape 463"/>
          <p:cNvSpPr txBox="1"/>
          <p:nvPr/>
        </p:nvSpPr>
        <p:spPr>
          <a:xfrm>
            <a:off x="468312" y="45815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a:t>
            </a:r>
          </a:p>
        </p:txBody>
      </p:sp>
      <p:sp>
        <p:nvSpPr>
          <p:cNvPr id="464" name="Shape 464"/>
          <p:cNvSpPr txBox="1"/>
          <p:nvPr/>
        </p:nvSpPr>
        <p:spPr>
          <a:xfrm>
            <a:off x="468312" y="47974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sp>
        <p:nvSpPr>
          <p:cNvPr id="465" name="Shape 465"/>
          <p:cNvSpPr txBox="1"/>
          <p:nvPr/>
        </p:nvSpPr>
        <p:spPr>
          <a:xfrm>
            <a:off x="1187450" y="1916111"/>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466" name="Shape 466"/>
          <p:cNvSpPr txBox="1"/>
          <p:nvPr/>
        </p:nvSpPr>
        <p:spPr>
          <a:xfrm>
            <a:off x="4160837" y="5949950"/>
            <a:ext cx="1274762" cy="5540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467" name="Shape 467"/>
          <p:cNvSpPr txBox="1"/>
          <p:nvPr/>
        </p:nvSpPr>
        <p:spPr>
          <a:xfrm>
            <a:off x="4284662" y="2349500"/>
            <a:ext cx="1008062" cy="6477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OFERTA</a:t>
            </a:r>
          </a:p>
        </p:txBody>
      </p:sp>
      <p:sp>
        <p:nvSpPr>
          <p:cNvPr id="468" name="Shape 468"/>
          <p:cNvSpPr txBox="1"/>
          <p:nvPr/>
        </p:nvSpPr>
        <p:spPr>
          <a:xfrm>
            <a:off x="5580062" y="5805487"/>
            <a:ext cx="1008062" cy="6477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FINAL</a:t>
            </a:r>
          </a:p>
        </p:txBody>
      </p:sp>
      <p:sp>
        <p:nvSpPr>
          <p:cNvPr id="469" name="Shape 469"/>
          <p:cNvSpPr txBox="1"/>
          <p:nvPr/>
        </p:nvSpPr>
        <p:spPr>
          <a:xfrm>
            <a:off x="2051050" y="2924175"/>
            <a:ext cx="1008062" cy="6477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INICIAL</a:t>
            </a:r>
          </a:p>
        </p:txBody>
      </p:sp>
      <p:sp>
        <p:nvSpPr>
          <p:cNvPr id="470" name="Shape 470"/>
          <p:cNvSpPr/>
          <p:nvPr/>
        </p:nvSpPr>
        <p:spPr>
          <a:xfrm>
            <a:off x="827087" y="2420936"/>
            <a:ext cx="2249486" cy="2592387"/>
          </a:xfrm>
          <a:custGeom>
            <a:pathLst>
              <a:path extrusionOk="0" h="1633" w="1417">
                <a:moveTo>
                  <a:pt x="11" y="294"/>
                </a:moveTo>
                <a:lnTo>
                  <a:pt x="11" y="959"/>
                </a:lnTo>
                <a:lnTo>
                  <a:pt x="0" y="1308"/>
                </a:lnTo>
                <a:lnTo>
                  <a:pt x="0" y="1629"/>
                </a:lnTo>
                <a:lnTo>
                  <a:pt x="410" y="1631"/>
                </a:lnTo>
                <a:lnTo>
                  <a:pt x="852" y="1633"/>
                </a:lnTo>
                <a:lnTo>
                  <a:pt x="1417" y="1630"/>
                </a:lnTo>
                <a:lnTo>
                  <a:pt x="1298" y="1539"/>
                </a:lnTo>
                <a:lnTo>
                  <a:pt x="1105" y="1382"/>
                </a:lnTo>
                <a:lnTo>
                  <a:pt x="941" y="1252"/>
                </a:lnTo>
                <a:lnTo>
                  <a:pt x="689" y="981"/>
                </a:lnTo>
                <a:lnTo>
                  <a:pt x="510" y="758"/>
                </a:lnTo>
                <a:lnTo>
                  <a:pt x="378" y="598"/>
                </a:lnTo>
                <a:lnTo>
                  <a:pt x="245" y="407"/>
                </a:lnTo>
                <a:lnTo>
                  <a:pt x="94" y="163"/>
                </a:lnTo>
                <a:lnTo>
                  <a:pt x="15" y="0"/>
                </a:lnTo>
                <a:lnTo>
                  <a:pt x="11" y="294"/>
                </a:lnTo>
                <a:close/>
              </a:path>
            </a:pathLst>
          </a:custGeom>
          <a:solidFill>
            <a:srgbClr val="FF0000"/>
          </a:solidFill>
          <a:ln cap="flat" cmpd="sng" w="381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71" name="Shape 471"/>
          <p:cNvSpPr txBox="1"/>
          <p:nvPr/>
        </p:nvSpPr>
        <p:spPr>
          <a:xfrm>
            <a:off x="827087" y="4508500"/>
            <a:ext cx="2232025" cy="301624"/>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REDUCCIÓN</a:t>
            </a:r>
          </a:p>
        </p:txBody>
      </p:sp>
      <p:sp>
        <p:nvSpPr>
          <p:cNvPr id="472" name="Shape 472"/>
          <p:cNvSpPr/>
          <p:nvPr/>
        </p:nvSpPr>
        <p:spPr>
          <a:xfrm>
            <a:off x="3059111" y="4508500"/>
            <a:ext cx="433386" cy="288925"/>
          </a:xfrm>
          <a:prstGeom prst="rtTriangle">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73" name="Shape 473"/>
          <p:cNvSpPr txBox="1"/>
          <p:nvPr/>
        </p:nvSpPr>
        <p:spPr>
          <a:xfrm>
            <a:off x="468312" y="429260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pic>
        <p:nvPicPr>
          <p:cNvPr id="474" name="Shape 474"/>
          <p:cNvPicPr preferRelativeResize="0"/>
          <p:nvPr>
            <p:ph idx="1" type="body"/>
          </p:nvPr>
        </p:nvPicPr>
        <p:blipFill rotWithShape="1">
          <a:blip r:embed="rId3">
            <a:alphaModFix/>
          </a:blip>
          <a:srcRect b="0" l="0" r="0" t="0"/>
          <a:stretch/>
        </p:blipFill>
        <p:spPr>
          <a:xfrm>
            <a:off x="5580062" y="404812"/>
            <a:ext cx="2290762" cy="720724"/>
          </a:xfrm>
          <a:prstGeom prst="rect">
            <a:avLst/>
          </a:prstGeom>
          <a:noFill/>
          <a:ln>
            <a:noFill/>
          </a:ln>
        </p:spPr>
      </p:pic>
      <p:sp>
        <p:nvSpPr>
          <p:cNvPr id="475" name="Shape 475"/>
          <p:cNvSpPr txBox="1"/>
          <p:nvPr/>
        </p:nvSpPr>
        <p:spPr>
          <a:xfrm rot="5400000">
            <a:off x="-515143" y="4410867"/>
            <a:ext cx="14668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 Impuesto</a:t>
            </a:r>
          </a:p>
        </p:txBody>
      </p:sp>
      <p:sp>
        <p:nvSpPr>
          <p:cNvPr id="476" name="Shape 476"/>
          <p:cNvSpPr/>
          <p:nvPr/>
        </p:nvSpPr>
        <p:spPr>
          <a:xfrm>
            <a:off x="323850" y="4508500"/>
            <a:ext cx="144462" cy="288925"/>
          </a:xfrm>
          <a:prstGeom prst="leftBrace">
            <a:avLst>
              <a:gd fmla="val 8333" name="adj1"/>
              <a:gd fmla="val 50000" name="adj2"/>
            </a:avLst>
          </a:prstGeom>
          <a:noFill/>
          <a:ln cap="flat" cmpd="sng" w="25400">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77" name="Shape 477"/>
          <p:cNvSpPr txBox="1"/>
          <p:nvPr>
            <p:ph type="title"/>
          </p:nvPr>
        </p:nvSpPr>
        <p:spPr>
          <a:xfrm>
            <a:off x="0" y="115886"/>
            <a:ext cx="7488236" cy="1655761"/>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IMPUESTOS PAGADOS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POR EL CONSUMIDOR</a:t>
            </a:r>
            <a:br>
              <a:rPr b="1" i="0" lang="en-US" sz="3500" u="none" cap="none" strike="noStrike">
                <a:solidFill>
                  <a:schemeClr val="dk2"/>
                </a:solidFill>
                <a:latin typeface="Arial"/>
                <a:ea typeface="Arial"/>
                <a:cs typeface="Arial"/>
                <a:sym typeface="Arial"/>
              </a:rPr>
            </a:br>
            <a:r>
              <a:rPr b="1" i="0" lang="en-US" sz="3200" u="none" cap="none" strike="noStrike">
                <a:solidFill>
                  <a:srgbClr val="EC1914"/>
                </a:solidFill>
                <a:latin typeface="Arial"/>
                <a:ea typeface="Arial"/>
                <a:cs typeface="Arial"/>
                <a:sym typeface="Arial"/>
              </a:rPr>
              <a:t>REDUCCIÓN EXC. CONSUMIDOR</a:t>
            </a:r>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81" name="Shape 481"/>
        <p:cNvGrpSpPr/>
        <p:nvPr/>
      </p:nvGrpSpPr>
      <p:grpSpPr>
        <a:xfrm>
          <a:off x="0" y="0"/>
          <a:ext cx="0" cy="0"/>
          <a:chOff x="0" y="0"/>
          <a:chExt cx="0" cy="0"/>
        </a:xfrm>
      </p:grpSpPr>
      <p:sp>
        <p:nvSpPr>
          <p:cNvPr id="482" name="Shape 482"/>
          <p:cNvSpPr/>
          <p:nvPr/>
        </p:nvSpPr>
        <p:spPr>
          <a:xfrm>
            <a:off x="755650" y="1916111"/>
            <a:ext cx="4284661" cy="3494087"/>
          </a:xfrm>
          <a:custGeom>
            <a:pathLst>
              <a:path extrusionOk="0" h="2201" w="2699">
                <a:moveTo>
                  <a:pt x="0" y="0"/>
                </a:moveTo>
                <a:cubicBezTo>
                  <a:pt x="59" y="91"/>
                  <a:pt x="238" y="391"/>
                  <a:pt x="355" y="549"/>
                </a:cubicBezTo>
                <a:cubicBezTo>
                  <a:pt x="472" y="707"/>
                  <a:pt x="616" y="847"/>
                  <a:pt x="704" y="946"/>
                </a:cubicBezTo>
                <a:cubicBezTo>
                  <a:pt x="792" y="1045"/>
                  <a:pt x="815" y="1075"/>
                  <a:pt x="884" y="1144"/>
                </a:cubicBezTo>
                <a:cubicBezTo>
                  <a:pt x="953" y="1213"/>
                  <a:pt x="1046" y="1301"/>
                  <a:pt x="1120" y="1361"/>
                </a:cubicBezTo>
                <a:cubicBezTo>
                  <a:pt x="1194" y="1421"/>
                  <a:pt x="1243" y="1440"/>
                  <a:pt x="1328" y="1503"/>
                </a:cubicBezTo>
                <a:cubicBezTo>
                  <a:pt x="1413" y="1566"/>
                  <a:pt x="1485" y="1646"/>
                  <a:pt x="1630" y="1739"/>
                </a:cubicBezTo>
                <a:cubicBezTo>
                  <a:pt x="1775" y="1832"/>
                  <a:pt x="2020" y="1982"/>
                  <a:pt x="2198" y="2059"/>
                </a:cubicBezTo>
                <a:cubicBezTo>
                  <a:pt x="2376" y="2136"/>
                  <a:pt x="2595" y="2172"/>
                  <a:pt x="2699" y="2201"/>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83" name="Shape 483"/>
          <p:cNvSpPr/>
          <p:nvPr/>
        </p:nvSpPr>
        <p:spPr>
          <a:xfrm>
            <a:off x="3132136" y="4508500"/>
            <a:ext cx="420686" cy="506412"/>
          </a:xfrm>
          <a:custGeom>
            <a:pathLst>
              <a:path extrusionOk="0" h="319" w="265">
                <a:moveTo>
                  <a:pt x="265" y="172"/>
                </a:moveTo>
                <a:lnTo>
                  <a:pt x="161" y="125"/>
                </a:lnTo>
                <a:lnTo>
                  <a:pt x="0" y="0"/>
                </a:lnTo>
                <a:lnTo>
                  <a:pt x="0" y="189"/>
                </a:lnTo>
                <a:lnTo>
                  <a:pt x="0" y="319"/>
                </a:lnTo>
                <a:lnTo>
                  <a:pt x="265" y="172"/>
                </a:lnTo>
                <a:close/>
              </a:path>
            </a:pathLst>
          </a:custGeom>
          <a:solidFill>
            <a:srgbClr val="0000FF"/>
          </a:solid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84" name="Shape 484"/>
          <p:cNvSpPr/>
          <p:nvPr/>
        </p:nvSpPr>
        <p:spPr>
          <a:xfrm>
            <a:off x="755650" y="2781300"/>
            <a:ext cx="4256086" cy="2982911"/>
          </a:xfrm>
          <a:custGeom>
            <a:pathLst>
              <a:path extrusionOk="0" h="1879" w="2681">
                <a:moveTo>
                  <a:pt x="0" y="0"/>
                </a:moveTo>
                <a:cubicBezTo>
                  <a:pt x="50" y="68"/>
                  <a:pt x="175" y="256"/>
                  <a:pt x="302" y="406"/>
                </a:cubicBezTo>
                <a:cubicBezTo>
                  <a:pt x="429" y="556"/>
                  <a:pt x="608" y="760"/>
                  <a:pt x="762" y="902"/>
                </a:cubicBezTo>
                <a:cubicBezTo>
                  <a:pt x="916" y="1044"/>
                  <a:pt x="1064" y="1147"/>
                  <a:pt x="1227" y="1256"/>
                </a:cubicBezTo>
                <a:cubicBezTo>
                  <a:pt x="1390" y="1365"/>
                  <a:pt x="1567" y="1473"/>
                  <a:pt x="1737" y="1558"/>
                </a:cubicBezTo>
                <a:cubicBezTo>
                  <a:pt x="1907" y="1643"/>
                  <a:pt x="2090" y="1713"/>
                  <a:pt x="2247" y="1766"/>
                </a:cubicBezTo>
                <a:cubicBezTo>
                  <a:pt x="2404" y="1819"/>
                  <a:pt x="2591" y="1855"/>
                  <a:pt x="2681" y="1879"/>
                </a:cubicBezTo>
              </a:path>
            </a:pathLst>
          </a:custGeom>
          <a:noFill/>
          <a:ln cap="flat" cmpd="sng" w="41275">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85" name="Shape 485"/>
          <p:cNvSpPr txBox="1"/>
          <p:nvPr/>
        </p:nvSpPr>
        <p:spPr>
          <a:xfrm>
            <a:off x="755650" y="4797425"/>
            <a:ext cx="2354261" cy="215899"/>
          </a:xfrm>
          <a:prstGeom prst="rect">
            <a:avLst/>
          </a:prstGeom>
          <a:solidFill>
            <a:srgbClr val="993300">
              <a:alpha val="10980"/>
            </a:srgbClr>
          </a:solidFill>
          <a:ln cap="flat" cmpd="sng" w="4127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Aporte del Productor</a:t>
            </a:r>
          </a:p>
        </p:txBody>
      </p:sp>
      <p:sp>
        <p:nvSpPr>
          <p:cNvPr id="486" name="Shape 486"/>
          <p:cNvSpPr txBox="1"/>
          <p:nvPr/>
        </p:nvSpPr>
        <p:spPr>
          <a:xfrm>
            <a:off x="2881311" y="638175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Q1</a:t>
            </a:r>
          </a:p>
        </p:txBody>
      </p:sp>
      <p:sp>
        <p:nvSpPr>
          <p:cNvPr id="487" name="Shape 487"/>
          <p:cNvSpPr txBox="1"/>
          <p:nvPr>
            <p:ph idx="4294967295" type="body"/>
          </p:nvPr>
        </p:nvSpPr>
        <p:spPr>
          <a:xfrm>
            <a:off x="5076825" y="1719261"/>
            <a:ext cx="4038599" cy="1277936"/>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0" i="0" lang="en-US" sz="1900" u="none" cap="none" strike="noStrike">
                <a:solidFill>
                  <a:schemeClr val="dk1"/>
                </a:solidFill>
                <a:latin typeface="Arial"/>
                <a:ea typeface="Arial"/>
                <a:cs typeface="Arial"/>
                <a:sym typeface="Arial"/>
              </a:rPr>
              <a:t>Al empeorar la demanda el nivel de transacciones se reduce, el beneficio social debe repartirse entre la oferta, la demanda y el estado.</a:t>
            </a:r>
          </a:p>
        </p:txBody>
      </p:sp>
      <p:cxnSp>
        <p:nvCxnSpPr>
          <p:cNvPr id="488" name="Shape 488"/>
          <p:cNvCxnSpPr/>
          <p:nvPr/>
        </p:nvCxnSpPr>
        <p:spPr>
          <a:xfrm>
            <a:off x="539750" y="6381750"/>
            <a:ext cx="4537074" cy="0"/>
          </a:xfrm>
          <a:prstGeom prst="straightConnector1">
            <a:avLst/>
          </a:prstGeom>
          <a:noFill/>
          <a:ln cap="flat" cmpd="sng" w="9525">
            <a:solidFill>
              <a:schemeClr val="dk1"/>
            </a:solidFill>
            <a:prstDash val="solid"/>
            <a:miter/>
            <a:headEnd len="med" w="med" type="none"/>
            <a:tailEnd len="med" w="med" type="none"/>
          </a:ln>
        </p:spPr>
      </p:cxnSp>
      <p:cxnSp>
        <p:nvCxnSpPr>
          <p:cNvPr id="489" name="Shape 489"/>
          <p:cNvCxnSpPr/>
          <p:nvPr/>
        </p:nvCxnSpPr>
        <p:spPr>
          <a:xfrm>
            <a:off x="755650" y="4797425"/>
            <a:ext cx="2808286" cy="0"/>
          </a:xfrm>
          <a:prstGeom prst="straightConnector1">
            <a:avLst/>
          </a:prstGeom>
          <a:noFill/>
          <a:ln cap="flat" cmpd="sng" w="9525">
            <a:solidFill>
              <a:schemeClr val="dk1"/>
            </a:solidFill>
            <a:prstDash val="solid"/>
            <a:miter/>
            <a:headEnd len="med" w="med" type="none"/>
            <a:tailEnd len="med" w="med" type="none"/>
          </a:ln>
        </p:spPr>
      </p:cxnSp>
      <p:cxnSp>
        <p:nvCxnSpPr>
          <p:cNvPr id="490" name="Shape 490"/>
          <p:cNvCxnSpPr/>
          <p:nvPr/>
        </p:nvCxnSpPr>
        <p:spPr>
          <a:xfrm>
            <a:off x="3563937" y="4797425"/>
            <a:ext cx="0" cy="1584325"/>
          </a:xfrm>
          <a:prstGeom prst="straightConnector1">
            <a:avLst/>
          </a:prstGeom>
          <a:noFill/>
          <a:ln cap="flat" cmpd="sng" w="9525">
            <a:solidFill>
              <a:schemeClr val="dk1"/>
            </a:solidFill>
            <a:prstDash val="solid"/>
            <a:miter/>
            <a:headEnd len="med" w="med" type="none"/>
            <a:tailEnd len="med" w="med" type="none"/>
          </a:ln>
        </p:spPr>
      </p:cxnSp>
      <p:cxnSp>
        <p:nvCxnSpPr>
          <p:cNvPr id="491" name="Shape 491"/>
          <p:cNvCxnSpPr/>
          <p:nvPr/>
        </p:nvCxnSpPr>
        <p:spPr>
          <a:xfrm>
            <a:off x="755650" y="4508500"/>
            <a:ext cx="2376487" cy="0"/>
          </a:xfrm>
          <a:prstGeom prst="straightConnector1">
            <a:avLst/>
          </a:prstGeom>
          <a:noFill/>
          <a:ln cap="flat" cmpd="sng" w="9525">
            <a:solidFill>
              <a:schemeClr val="dk1"/>
            </a:solidFill>
            <a:prstDash val="solid"/>
            <a:miter/>
            <a:headEnd len="med" w="med" type="none"/>
            <a:tailEnd len="med" w="med" type="none"/>
          </a:ln>
        </p:spPr>
      </p:cxnSp>
      <p:cxnSp>
        <p:nvCxnSpPr>
          <p:cNvPr id="492" name="Shape 492"/>
          <p:cNvCxnSpPr/>
          <p:nvPr/>
        </p:nvCxnSpPr>
        <p:spPr>
          <a:xfrm>
            <a:off x="3132136" y="4508500"/>
            <a:ext cx="0" cy="1873249"/>
          </a:xfrm>
          <a:prstGeom prst="straightConnector1">
            <a:avLst/>
          </a:prstGeom>
          <a:noFill/>
          <a:ln cap="flat" cmpd="sng" w="9525">
            <a:solidFill>
              <a:schemeClr val="dk1"/>
            </a:solidFill>
            <a:prstDash val="solid"/>
            <a:miter/>
            <a:headEnd len="med" w="med" type="none"/>
            <a:tailEnd len="med" w="med" type="none"/>
          </a:ln>
        </p:spPr>
      </p:cxnSp>
      <p:sp>
        <p:nvSpPr>
          <p:cNvPr id="493" name="Shape 493"/>
          <p:cNvSpPr txBox="1"/>
          <p:nvPr/>
        </p:nvSpPr>
        <p:spPr>
          <a:xfrm>
            <a:off x="0" y="141287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494" name="Shape 494"/>
          <p:cNvSpPr txBox="1"/>
          <p:nvPr/>
        </p:nvSpPr>
        <p:spPr>
          <a:xfrm>
            <a:off x="3924300" y="6259512"/>
            <a:ext cx="1274762" cy="5540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495" name="Shape 495"/>
          <p:cNvSpPr txBox="1"/>
          <p:nvPr/>
        </p:nvSpPr>
        <p:spPr>
          <a:xfrm>
            <a:off x="4162425" y="4364037"/>
            <a:ext cx="985836"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a:t>
            </a:r>
          </a:p>
        </p:txBody>
      </p:sp>
      <p:sp>
        <p:nvSpPr>
          <p:cNvPr id="496" name="Shape 496"/>
          <p:cNvSpPr txBox="1"/>
          <p:nvPr/>
        </p:nvSpPr>
        <p:spPr>
          <a:xfrm>
            <a:off x="1044575" y="2133600"/>
            <a:ext cx="1223961"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DEMANDA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INICIAL</a:t>
            </a:r>
          </a:p>
        </p:txBody>
      </p:sp>
      <p:sp>
        <p:nvSpPr>
          <p:cNvPr id="497" name="Shape 497"/>
          <p:cNvSpPr txBox="1"/>
          <p:nvPr/>
        </p:nvSpPr>
        <p:spPr>
          <a:xfrm>
            <a:off x="468312" y="45815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a:t>
            </a:r>
          </a:p>
        </p:txBody>
      </p:sp>
      <p:sp>
        <p:nvSpPr>
          <p:cNvPr id="498" name="Shape 498"/>
          <p:cNvSpPr txBox="1"/>
          <p:nvPr/>
        </p:nvSpPr>
        <p:spPr>
          <a:xfrm>
            <a:off x="395287" y="47974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sp>
        <p:nvSpPr>
          <p:cNvPr id="499" name="Shape 499"/>
          <p:cNvSpPr txBox="1"/>
          <p:nvPr/>
        </p:nvSpPr>
        <p:spPr>
          <a:xfrm>
            <a:off x="3276600" y="638175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sp>
        <p:nvSpPr>
          <p:cNvPr id="500" name="Shape 500"/>
          <p:cNvSpPr txBox="1"/>
          <p:nvPr/>
        </p:nvSpPr>
        <p:spPr>
          <a:xfrm>
            <a:off x="3708400" y="5661025"/>
            <a:ext cx="1008062" cy="6477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DEMANDA</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FINAL</a:t>
            </a:r>
          </a:p>
        </p:txBody>
      </p:sp>
      <p:sp>
        <p:nvSpPr>
          <p:cNvPr id="501" name="Shape 501"/>
          <p:cNvSpPr txBox="1"/>
          <p:nvPr/>
        </p:nvSpPr>
        <p:spPr>
          <a:xfrm>
            <a:off x="5437187" y="3140075"/>
            <a:ext cx="3671886" cy="316865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EC1914"/>
              </a:buClr>
              <a:buSzPct val="100000"/>
              <a:buFont typeface="Arial"/>
              <a:buChar char="•"/>
            </a:pPr>
            <a:r>
              <a:rPr b="1" i="0" lang="en-US" sz="1800" u="none" cap="none" strike="noStrike">
                <a:solidFill>
                  <a:srgbClr val="EC1914"/>
                </a:solidFill>
                <a:latin typeface="Arial"/>
                <a:ea typeface="Arial"/>
                <a:cs typeface="Arial"/>
                <a:sym typeface="Arial"/>
              </a:rPr>
              <a:t>  Se reduce el excedente del</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 consumidor</a:t>
            </a:r>
          </a:p>
          <a:p>
            <a:pPr indent="0" lvl="0" marL="0" marR="0" rtl="0" algn="l">
              <a:lnSpc>
                <a:spcPct val="100000"/>
              </a:lnSpc>
              <a:spcBef>
                <a:spcPts val="0"/>
              </a:spcBef>
              <a:spcAft>
                <a:spcPts val="0"/>
              </a:spcAft>
              <a:buClr>
                <a:srgbClr val="EC1914"/>
              </a:buClr>
              <a:buSzPct val="100000"/>
              <a:buFont typeface="Arial"/>
              <a:buChar char="•"/>
            </a:pPr>
            <a:r>
              <a:rPr b="1" i="0" lang="en-US" sz="1800" u="none" cap="none" strike="noStrike">
                <a:solidFill>
                  <a:srgbClr val="EC1914"/>
                </a:solidFill>
                <a:latin typeface="Arial"/>
                <a:ea typeface="Arial"/>
                <a:cs typeface="Arial"/>
                <a:sym typeface="Arial"/>
              </a:rPr>
              <a:t>  Reduce el excedente del </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productor.</a:t>
            </a:r>
          </a:p>
          <a:p>
            <a:pPr indent="0" lvl="0" marL="0" marR="0" rtl="0" algn="l">
              <a:lnSpc>
                <a:spcPct val="100000"/>
              </a:lnSpc>
              <a:spcBef>
                <a:spcPts val="0"/>
              </a:spcBef>
              <a:spcAft>
                <a:spcPts val="0"/>
              </a:spcAft>
              <a:buClr>
                <a:srgbClr val="EC1914"/>
              </a:buClr>
              <a:buSzPct val="100000"/>
              <a:buFont typeface="Arial"/>
              <a:buChar char="•"/>
            </a:pPr>
            <a:r>
              <a:rPr b="1" i="0" lang="en-US" sz="1800" u="none" cap="none" strike="noStrike">
                <a:solidFill>
                  <a:srgbClr val="EC1914"/>
                </a:solidFill>
                <a:latin typeface="Arial"/>
                <a:ea typeface="Arial"/>
                <a:cs typeface="Arial"/>
                <a:sym typeface="Arial"/>
              </a:rPr>
              <a:t>  La recaudación fiscal surge del</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producto </a:t>
            </a:r>
            <a:r>
              <a:rPr b="1" i="0" lang="en-US" sz="1800" u="none" cap="none" strike="noStrike">
                <a:solidFill>
                  <a:schemeClr val="dk1"/>
                </a:solidFill>
                <a:latin typeface="Arial"/>
                <a:ea typeface="Arial"/>
                <a:cs typeface="Arial"/>
                <a:sym typeface="Arial"/>
              </a:rPr>
              <a:t>RF = Q1 *(P´1 - P1)</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Los consumidores aportan </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RFC = Q1*(P´1 - P)</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Los productores aportan</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RFP = Q1*(P- P1)</a:t>
            </a:r>
          </a:p>
          <a:p>
            <a:pPr indent="0" lvl="0" marL="0" marR="0" rtl="0" algn="l">
              <a:lnSpc>
                <a:spcPct val="100000"/>
              </a:lnSpc>
              <a:spcBef>
                <a:spcPts val="0"/>
              </a:spcBef>
              <a:spcAft>
                <a:spcPts val="0"/>
              </a:spcAft>
              <a:buClr>
                <a:srgbClr val="EC1914"/>
              </a:buClr>
              <a:buSzPct val="100000"/>
              <a:buFont typeface="Arial"/>
              <a:buChar char="•"/>
            </a:pPr>
            <a:r>
              <a:rPr b="1" i="0" lang="en-US" sz="1800" u="none" cap="none" strike="noStrike">
                <a:solidFill>
                  <a:srgbClr val="EC1914"/>
                </a:solidFill>
                <a:latin typeface="Arial"/>
                <a:ea typeface="Arial"/>
                <a:cs typeface="Arial"/>
                <a:sym typeface="Arial"/>
              </a:rPr>
              <a:t>  </a:t>
            </a:r>
            <a:r>
              <a:rPr b="1" i="0" lang="en-US" sz="1800" u="none" cap="none" strike="noStrike">
                <a:solidFill>
                  <a:srgbClr val="4A23DB"/>
                </a:solidFill>
                <a:latin typeface="Arial"/>
                <a:ea typeface="Arial"/>
                <a:cs typeface="Arial"/>
                <a:sym typeface="Arial"/>
              </a:rPr>
              <a:t>El triangulo azul representa el </a:t>
            </a:r>
          </a:p>
          <a:p>
            <a:pPr indent="0" lvl="0" marL="0" marR="0" rtl="0" algn="l">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costo social del impuesto</a:t>
            </a:r>
          </a:p>
        </p:txBody>
      </p:sp>
      <p:cxnSp>
        <p:nvCxnSpPr>
          <p:cNvPr id="502" name="Shape 502"/>
          <p:cNvCxnSpPr/>
          <p:nvPr/>
        </p:nvCxnSpPr>
        <p:spPr>
          <a:xfrm rot="10800000">
            <a:off x="755650" y="5013325"/>
            <a:ext cx="2374899" cy="0"/>
          </a:xfrm>
          <a:prstGeom prst="straightConnector1">
            <a:avLst/>
          </a:prstGeom>
          <a:noFill/>
          <a:ln cap="flat" cmpd="sng" w="9525">
            <a:solidFill>
              <a:schemeClr val="dk1"/>
            </a:solidFill>
            <a:prstDash val="solid"/>
            <a:miter/>
            <a:headEnd len="med" w="med" type="none"/>
            <a:tailEnd len="med" w="med" type="none"/>
          </a:ln>
        </p:spPr>
      </p:cxnSp>
      <p:sp>
        <p:nvSpPr>
          <p:cNvPr id="503" name="Shape 503"/>
          <p:cNvSpPr txBox="1"/>
          <p:nvPr/>
        </p:nvSpPr>
        <p:spPr>
          <a:xfrm>
            <a:off x="777875" y="4508500"/>
            <a:ext cx="2354261" cy="287337"/>
          </a:xfrm>
          <a:prstGeom prst="rect">
            <a:avLst/>
          </a:prstGeom>
          <a:solidFill>
            <a:srgbClr val="993300">
              <a:alpha val="12941"/>
            </a:srgbClr>
          </a:solidFill>
          <a:ln cap="flat" cmpd="sng" w="349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Aporte Consumidor</a:t>
            </a:r>
          </a:p>
        </p:txBody>
      </p:sp>
      <p:sp>
        <p:nvSpPr>
          <p:cNvPr id="504" name="Shape 504"/>
          <p:cNvSpPr/>
          <p:nvPr/>
        </p:nvSpPr>
        <p:spPr>
          <a:xfrm>
            <a:off x="755650" y="2636836"/>
            <a:ext cx="4340225" cy="2851150"/>
          </a:xfrm>
          <a:custGeom>
            <a:pathLst>
              <a:path extrusionOk="0" h="1796" w="2734">
                <a:moveTo>
                  <a:pt x="0" y="1795"/>
                </a:moveTo>
                <a:cubicBezTo>
                  <a:pt x="146" y="1785"/>
                  <a:pt x="607" y="1796"/>
                  <a:pt x="878" y="1738"/>
                </a:cubicBezTo>
                <a:cubicBezTo>
                  <a:pt x="1149" y="1680"/>
                  <a:pt x="1424" y="1558"/>
                  <a:pt x="1628" y="1445"/>
                </a:cubicBezTo>
                <a:cubicBezTo>
                  <a:pt x="1832" y="1332"/>
                  <a:pt x="1949" y="1232"/>
                  <a:pt x="2102" y="1059"/>
                </a:cubicBezTo>
                <a:cubicBezTo>
                  <a:pt x="2255" y="886"/>
                  <a:pt x="2441" y="582"/>
                  <a:pt x="2546" y="406"/>
                </a:cubicBezTo>
                <a:cubicBezTo>
                  <a:pt x="2651" y="230"/>
                  <a:pt x="2695" y="85"/>
                  <a:pt x="2734"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05" name="Shape 505"/>
          <p:cNvSpPr txBox="1"/>
          <p:nvPr/>
        </p:nvSpPr>
        <p:spPr>
          <a:xfrm>
            <a:off x="395287" y="429260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sp>
        <p:nvSpPr>
          <p:cNvPr id="506" name="Shape 506"/>
          <p:cNvSpPr/>
          <p:nvPr/>
        </p:nvSpPr>
        <p:spPr>
          <a:xfrm>
            <a:off x="755650" y="1916111"/>
            <a:ext cx="2362200" cy="2595562"/>
          </a:xfrm>
          <a:custGeom>
            <a:pathLst>
              <a:path extrusionOk="0" h="1635" w="1488">
                <a:moveTo>
                  <a:pt x="189" y="321"/>
                </a:moveTo>
                <a:lnTo>
                  <a:pt x="0" y="0"/>
                </a:lnTo>
                <a:lnTo>
                  <a:pt x="4" y="159"/>
                </a:lnTo>
                <a:lnTo>
                  <a:pt x="4" y="880"/>
                </a:lnTo>
                <a:lnTo>
                  <a:pt x="14" y="1250"/>
                </a:lnTo>
                <a:lnTo>
                  <a:pt x="20" y="1610"/>
                </a:lnTo>
                <a:lnTo>
                  <a:pt x="402" y="1616"/>
                </a:lnTo>
                <a:lnTo>
                  <a:pt x="855" y="1616"/>
                </a:lnTo>
                <a:lnTo>
                  <a:pt x="1488" y="1635"/>
                </a:lnTo>
                <a:lnTo>
                  <a:pt x="1309" y="1494"/>
                </a:lnTo>
                <a:lnTo>
                  <a:pt x="1120" y="1324"/>
                </a:lnTo>
                <a:lnTo>
                  <a:pt x="931" y="1163"/>
                </a:lnTo>
                <a:lnTo>
                  <a:pt x="695" y="918"/>
                </a:lnTo>
                <a:lnTo>
                  <a:pt x="393" y="606"/>
                </a:lnTo>
                <a:lnTo>
                  <a:pt x="189" y="321"/>
                </a:lnTo>
              </a:path>
            </a:pathLst>
          </a:custGeom>
          <a:solidFill>
            <a:srgbClr val="FF0000"/>
          </a:solidFill>
          <a:ln cap="flat" cmpd="sng" w="381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07" name="Shape 507"/>
          <p:cNvSpPr/>
          <p:nvPr/>
        </p:nvSpPr>
        <p:spPr>
          <a:xfrm>
            <a:off x="755650" y="5013325"/>
            <a:ext cx="2354261" cy="458787"/>
          </a:xfrm>
          <a:custGeom>
            <a:pathLst>
              <a:path extrusionOk="0" h="289" w="1483">
                <a:moveTo>
                  <a:pt x="8" y="0"/>
                </a:moveTo>
                <a:lnTo>
                  <a:pt x="0" y="137"/>
                </a:lnTo>
                <a:lnTo>
                  <a:pt x="6" y="286"/>
                </a:lnTo>
                <a:lnTo>
                  <a:pt x="397" y="289"/>
                </a:lnTo>
                <a:lnTo>
                  <a:pt x="756" y="260"/>
                </a:lnTo>
                <a:lnTo>
                  <a:pt x="1029" y="194"/>
                </a:lnTo>
                <a:lnTo>
                  <a:pt x="1303" y="109"/>
                </a:lnTo>
                <a:lnTo>
                  <a:pt x="1483" y="5"/>
                </a:lnTo>
                <a:lnTo>
                  <a:pt x="1122" y="0"/>
                </a:lnTo>
                <a:lnTo>
                  <a:pt x="660" y="0"/>
                </a:lnTo>
                <a:lnTo>
                  <a:pt x="338" y="0"/>
                </a:lnTo>
                <a:lnTo>
                  <a:pt x="8" y="0"/>
                </a:lnTo>
                <a:close/>
              </a:path>
            </a:pathLst>
          </a:custGeom>
          <a:solidFill>
            <a:srgbClr val="FF0000">
              <a:alpha val="66666"/>
            </a:srgbClr>
          </a:solidFill>
          <a:ln cap="flat" cmpd="sng" w="349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08" name="Shape 508"/>
          <p:cNvSpPr txBox="1"/>
          <p:nvPr/>
        </p:nvSpPr>
        <p:spPr>
          <a:xfrm>
            <a:off x="755650" y="4508500"/>
            <a:ext cx="2376487" cy="504824"/>
          </a:xfrm>
          <a:prstGeom prst="rect">
            <a:avLst/>
          </a:prstGeom>
          <a:solidFill>
            <a:schemeClr val="accent1">
              <a:alpha val="98823"/>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RECAUDACIÓN </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IMPOSITIVA</a:t>
            </a:r>
          </a:p>
        </p:txBody>
      </p:sp>
      <p:cxnSp>
        <p:nvCxnSpPr>
          <p:cNvPr id="509" name="Shape 509"/>
          <p:cNvCxnSpPr/>
          <p:nvPr/>
        </p:nvCxnSpPr>
        <p:spPr>
          <a:xfrm>
            <a:off x="755650" y="1773236"/>
            <a:ext cx="0" cy="4608512"/>
          </a:xfrm>
          <a:prstGeom prst="straightConnector1">
            <a:avLst/>
          </a:prstGeom>
          <a:noFill/>
          <a:ln cap="flat" cmpd="sng" w="28575">
            <a:solidFill>
              <a:schemeClr val="dk1"/>
            </a:solidFill>
            <a:prstDash val="solid"/>
            <a:miter/>
            <a:headEnd len="med" w="med" type="none"/>
            <a:tailEnd len="med" w="med" type="none"/>
          </a:ln>
        </p:spPr>
      </p:cxnSp>
      <p:pic>
        <p:nvPicPr>
          <p:cNvPr id="510" name="Shape 510"/>
          <p:cNvPicPr preferRelativeResize="0"/>
          <p:nvPr>
            <p:ph idx="4294967295" type="body"/>
          </p:nvPr>
        </p:nvPicPr>
        <p:blipFill rotWithShape="1">
          <a:blip r:embed="rId3">
            <a:alphaModFix/>
          </a:blip>
          <a:srcRect b="0" l="0" r="0" t="0"/>
          <a:stretch/>
        </p:blipFill>
        <p:spPr>
          <a:xfrm>
            <a:off x="5364162" y="0"/>
            <a:ext cx="2433637" cy="792162"/>
          </a:xfrm>
          <a:prstGeom prst="rect">
            <a:avLst/>
          </a:prstGeom>
          <a:noFill/>
          <a:ln>
            <a:noFill/>
          </a:ln>
        </p:spPr>
      </p:pic>
      <p:sp>
        <p:nvSpPr>
          <p:cNvPr id="511" name="Shape 511"/>
          <p:cNvSpPr txBox="1"/>
          <p:nvPr/>
        </p:nvSpPr>
        <p:spPr>
          <a:xfrm rot="5400000">
            <a:off x="-315118" y="4637881"/>
            <a:ext cx="12001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Impuesto</a:t>
            </a:r>
          </a:p>
        </p:txBody>
      </p:sp>
      <p:sp>
        <p:nvSpPr>
          <p:cNvPr id="512" name="Shape 512"/>
          <p:cNvSpPr/>
          <p:nvPr/>
        </p:nvSpPr>
        <p:spPr>
          <a:xfrm>
            <a:off x="395287" y="4508500"/>
            <a:ext cx="71436" cy="504824"/>
          </a:xfrm>
          <a:prstGeom prst="leftBrace">
            <a:avLst>
              <a:gd fmla="val 8333" name="adj1"/>
              <a:gd fmla="val 50000" name="adj2"/>
            </a:avLst>
          </a:prstGeom>
          <a:noFill/>
          <a:ln cap="flat" cmpd="sng" w="25400">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13" name="Shape 513"/>
          <p:cNvSpPr txBox="1"/>
          <p:nvPr>
            <p:ph idx="4294967295" type="title"/>
          </p:nvPr>
        </p:nvSpPr>
        <p:spPr>
          <a:xfrm>
            <a:off x="0" y="0"/>
            <a:ext cx="7596186" cy="1628775"/>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IMPUESTOS PAGADOS </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POR EL CONSUMIDOR</a:t>
            </a:r>
            <a:br>
              <a:rPr b="1" i="0" lang="en-US" sz="3500" u="none" cap="none" strike="noStrike">
                <a:solidFill>
                  <a:schemeClr val="dk2"/>
                </a:solidFill>
                <a:latin typeface="Arial"/>
                <a:ea typeface="Arial"/>
                <a:cs typeface="Arial"/>
                <a:sym typeface="Arial"/>
              </a:rPr>
            </a:br>
            <a:r>
              <a:rPr b="1" i="0" lang="en-US" sz="3200" u="none" cap="none" strike="noStrike">
                <a:solidFill>
                  <a:srgbClr val="EC1914"/>
                </a:solidFill>
                <a:latin typeface="Arial"/>
                <a:ea typeface="Arial"/>
                <a:cs typeface="Arial"/>
                <a:sym typeface="Arial"/>
              </a:rPr>
              <a:t>RECAUDACIÓN IMPOSITIVA</a:t>
            </a:r>
          </a:p>
        </p:txBody>
      </p:sp>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17" name="Shape 517"/>
        <p:cNvGrpSpPr/>
        <p:nvPr/>
      </p:nvGrpSpPr>
      <p:grpSpPr>
        <a:xfrm>
          <a:off x="0" y="0"/>
          <a:ext cx="0" cy="0"/>
          <a:chOff x="0" y="0"/>
          <a:chExt cx="0" cy="0"/>
        </a:xfrm>
      </p:grpSpPr>
      <p:sp>
        <p:nvSpPr>
          <p:cNvPr id="518" name="Shape 518"/>
          <p:cNvSpPr txBox="1"/>
          <p:nvPr>
            <p:ph idx="4294967295" type="title"/>
          </p:nvPr>
        </p:nvSpPr>
        <p:spPr>
          <a:xfrm>
            <a:off x="34925" y="44450"/>
            <a:ext cx="3644899"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LOS SUBSIDIOS</a:t>
            </a:r>
          </a:p>
        </p:txBody>
      </p:sp>
      <p:sp>
        <p:nvSpPr>
          <p:cNvPr id="519" name="Shape 519"/>
          <p:cNvSpPr txBox="1"/>
          <p:nvPr>
            <p:ph idx="4294967295" type="body"/>
          </p:nvPr>
        </p:nvSpPr>
        <p:spPr>
          <a:xfrm>
            <a:off x="457200" y="1719261"/>
            <a:ext cx="8291512" cy="44116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ymbol"/>
              <a:buNone/>
            </a:pPr>
            <a:r>
              <a:rPr b="0" i="0" lang="en-US" sz="2200" u="none" cap="none" strike="noStrike">
                <a:solidFill>
                  <a:schemeClr val="dk1"/>
                </a:solidFill>
                <a:latin typeface="Arial"/>
                <a:ea typeface="Arial"/>
                <a:cs typeface="Arial"/>
                <a:sym typeface="Arial"/>
              </a:rPr>
              <a:t>                       </a:t>
            </a:r>
            <a:r>
              <a:rPr b="0" i="0" lang="en-US" sz="2800" u="none" cap="none" strike="noStrike">
                <a:solidFill>
                  <a:srgbClr val="EC1914"/>
                </a:solidFill>
                <a:latin typeface="Arial"/>
                <a:ea typeface="Arial"/>
                <a:cs typeface="Arial"/>
                <a:sym typeface="Arial"/>
              </a:rPr>
              <a:t>Es un impuesto negativo</a:t>
            </a:r>
            <a:r>
              <a:rPr b="0" i="0" lang="en-US" sz="2200" u="none" cap="none" strike="noStrike">
                <a:solidFill>
                  <a:schemeClr val="dk1"/>
                </a:solidFill>
                <a:latin typeface="Arial"/>
                <a:ea typeface="Arial"/>
                <a:cs typeface="Arial"/>
                <a:sym typeface="Arial"/>
              </a:rPr>
              <a:t>. </a:t>
            </a:r>
          </a:p>
          <a:p>
            <a:pPr indent="-342900" lvl="0" marL="342900" marR="0" rtl="0" algn="l">
              <a:lnSpc>
                <a:spcPct val="100000"/>
              </a:lnSpc>
              <a:spcBef>
                <a:spcPts val="560"/>
              </a:spcBef>
              <a:spcAft>
                <a:spcPts val="0"/>
              </a:spcAft>
              <a:buClr>
                <a:schemeClr val="dk2"/>
              </a:buClr>
              <a:buSzPct val="25000"/>
              <a:buFont typeface="Noto Symbol"/>
              <a:buNone/>
            </a:pPr>
            <a:r>
              <a:rPr b="0" i="0" lang="en-US" sz="2800" u="none" cap="none" strike="noStrike">
                <a:solidFill>
                  <a:schemeClr val="dk1"/>
                </a:solidFill>
                <a:latin typeface="Arial"/>
                <a:ea typeface="Arial"/>
                <a:cs typeface="Arial"/>
                <a:sym typeface="Arial"/>
              </a:rPr>
              <a:t>Los consumidores asociaran un precio menor pero los productores continuaran con su percepción normal con lo que se puede dar una demanda superior que los productores cubrirán, pero sin el margen de equilibrio, con lo cual, los costos por producir esa unidad de mas serán mayores que el beneficio por consumirla.</a:t>
            </a:r>
            <a:br>
              <a:rPr b="0" i="0" lang="en-US" sz="2800" u="none" cap="none" strike="noStrike">
                <a:solidFill>
                  <a:schemeClr val="dk1"/>
                </a:solidFill>
                <a:latin typeface="Arial"/>
                <a:ea typeface="Arial"/>
                <a:cs typeface="Arial"/>
                <a:sym typeface="Arial"/>
              </a:rPr>
            </a:br>
          </a:p>
        </p:txBody>
      </p:sp>
      <p:pic>
        <p:nvPicPr>
          <p:cNvPr id="520" name="Shape 520"/>
          <p:cNvPicPr preferRelativeResize="0"/>
          <p:nvPr>
            <p:ph idx="4294967295" type="body"/>
          </p:nvPr>
        </p:nvPicPr>
        <p:blipFill rotWithShape="1">
          <a:blip r:embed="rId3">
            <a:alphaModFix/>
          </a:blip>
          <a:srcRect b="0" l="0" r="0" t="0"/>
          <a:stretch/>
        </p:blipFill>
        <p:spPr>
          <a:xfrm>
            <a:off x="4932362" y="476250"/>
            <a:ext cx="3009899" cy="609599"/>
          </a:xfrm>
          <a:prstGeom prst="rect">
            <a:avLst/>
          </a:prstGeom>
          <a:noFill/>
          <a:ln>
            <a:noFill/>
          </a:ln>
        </p:spPr>
      </p:pic>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24" name="Shape 524"/>
        <p:cNvGrpSpPr/>
        <p:nvPr/>
      </p:nvGrpSpPr>
      <p:grpSpPr>
        <a:xfrm>
          <a:off x="0" y="0"/>
          <a:ext cx="0" cy="0"/>
          <a:chOff x="0" y="0"/>
          <a:chExt cx="0" cy="0"/>
        </a:xfrm>
      </p:grpSpPr>
      <p:sp>
        <p:nvSpPr>
          <p:cNvPr id="525" name="Shape 525"/>
          <p:cNvSpPr txBox="1"/>
          <p:nvPr>
            <p:ph type="title"/>
          </p:nvPr>
        </p:nvSpPr>
        <p:spPr>
          <a:xfrm>
            <a:off x="34925" y="115886"/>
            <a:ext cx="9047161" cy="503236"/>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200" u="none" cap="none" strike="noStrike">
                <a:solidFill>
                  <a:schemeClr val="dk2"/>
                </a:solidFill>
                <a:latin typeface="Arial"/>
                <a:ea typeface="Arial"/>
                <a:cs typeface="Arial"/>
                <a:sym typeface="Arial"/>
              </a:rPr>
              <a:t>SUBSIDIOS PAGADOS AL PRODUCTOR</a:t>
            </a:r>
          </a:p>
        </p:txBody>
      </p:sp>
      <p:sp>
        <p:nvSpPr>
          <p:cNvPr id="526" name="Shape 526"/>
          <p:cNvSpPr txBox="1"/>
          <p:nvPr/>
        </p:nvSpPr>
        <p:spPr>
          <a:xfrm>
            <a:off x="385762" y="2078036"/>
            <a:ext cx="8362950" cy="3438525"/>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2"/>
              </a:buClr>
              <a:buSzPct val="70000"/>
              <a:buFont typeface="Noto Symbol"/>
              <a:buChar char="✓"/>
            </a:pPr>
            <a:r>
              <a:rPr b="0" i="0" lang="en-US" sz="3000" u="none" cap="none" strike="noStrike">
                <a:solidFill>
                  <a:schemeClr val="dk1"/>
                </a:solidFill>
                <a:latin typeface="Arial"/>
                <a:ea typeface="Arial"/>
                <a:cs typeface="Arial"/>
                <a:sym typeface="Arial"/>
              </a:rPr>
              <a:t>Reducen el precio de equilibrio.</a:t>
            </a:r>
          </a:p>
          <a:p>
            <a:pPr indent="0" lvl="0" marL="0" marR="0" rtl="0" algn="l">
              <a:lnSpc>
                <a:spcPct val="100000"/>
              </a:lnSpc>
              <a:spcBef>
                <a:spcPts val="600"/>
              </a:spcBef>
              <a:spcAft>
                <a:spcPts val="0"/>
              </a:spcAft>
              <a:buClr>
                <a:schemeClr val="dk2"/>
              </a:buClr>
              <a:buSzPct val="70000"/>
              <a:buFont typeface="Noto Symbol"/>
              <a:buChar char="✓"/>
            </a:pPr>
            <a:r>
              <a:rPr b="0" i="0" lang="en-US" sz="3000" u="none" cap="none" strike="noStrike">
                <a:solidFill>
                  <a:schemeClr val="dk1"/>
                </a:solidFill>
                <a:latin typeface="Arial"/>
                <a:ea typeface="Arial"/>
                <a:cs typeface="Arial"/>
                <a:sym typeface="Arial"/>
              </a:rPr>
              <a:t>Aumentan el nivel de producción.</a:t>
            </a:r>
          </a:p>
          <a:p>
            <a:pPr indent="0" lvl="0" marL="0" marR="0" rtl="0" algn="l">
              <a:lnSpc>
                <a:spcPct val="100000"/>
              </a:lnSpc>
              <a:spcBef>
                <a:spcPts val="600"/>
              </a:spcBef>
              <a:spcAft>
                <a:spcPts val="0"/>
              </a:spcAft>
              <a:buClr>
                <a:schemeClr val="dk1"/>
              </a:buClr>
              <a:buFont typeface="Arial"/>
              <a:buNone/>
            </a:pPr>
            <a:r>
              <a:t/>
            </a:r>
            <a:endParaRPr b="0" i="0" sz="30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ct val="70000"/>
              <a:buFont typeface="Noto Symbol"/>
              <a:buChar char="✓"/>
            </a:pPr>
            <a:r>
              <a:rPr b="1" i="0" lang="en-US" sz="3000" u="none" cap="none" strike="noStrike">
                <a:solidFill>
                  <a:srgbClr val="EC1914"/>
                </a:solidFill>
                <a:latin typeface="Arial"/>
                <a:ea typeface="Arial"/>
                <a:cs typeface="Arial"/>
                <a:sym typeface="Arial"/>
              </a:rPr>
              <a:t>No aumentan el beneficio social de manera tal que al otorgarlos el estado debe pagar un costo social.</a:t>
            </a:r>
          </a:p>
        </p:txBody>
      </p:sp>
      <p:pic>
        <p:nvPicPr>
          <p:cNvPr id="527" name="Shape 527"/>
          <p:cNvPicPr preferRelativeResize="0"/>
          <p:nvPr>
            <p:ph idx="1" type="body"/>
          </p:nvPr>
        </p:nvPicPr>
        <p:blipFill rotWithShape="1">
          <a:blip r:embed="rId3">
            <a:alphaModFix/>
          </a:blip>
          <a:srcRect b="0" l="0" r="0" t="0"/>
          <a:stretch/>
        </p:blipFill>
        <p:spPr>
          <a:xfrm>
            <a:off x="4932362" y="765175"/>
            <a:ext cx="3009899" cy="609599"/>
          </a:xfrm>
          <a:prstGeom prst="rect">
            <a:avLst/>
          </a:prstGeom>
          <a:noFill/>
          <a:ln>
            <a:noFill/>
          </a:ln>
        </p:spPr>
      </p:pic>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31" name="Shape 531"/>
        <p:cNvGrpSpPr/>
        <p:nvPr/>
      </p:nvGrpSpPr>
      <p:grpSpPr>
        <a:xfrm>
          <a:off x="0" y="0"/>
          <a:ext cx="0" cy="0"/>
          <a:chOff x="0" y="0"/>
          <a:chExt cx="0" cy="0"/>
        </a:xfrm>
      </p:grpSpPr>
      <p:sp>
        <p:nvSpPr>
          <p:cNvPr id="532" name="Shape 532"/>
          <p:cNvSpPr txBox="1"/>
          <p:nvPr>
            <p:ph idx="4294967295" type="title"/>
          </p:nvPr>
        </p:nvSpPr>
        <p:spPr>
          <a:xfrm>
            <a:off x="179386" y="692150"/>
            <a:ext cx="4897436" cy="569912"/>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200" u="none" cap="none" strike="noStrike">
                <a:solidFill>
                  <a:srgbClr val="EC1914"/>
                </a:solidFill>
                <a:latin typeface="Arial"/>
                <a:ea typeface="Arial"/>
                <a:cs typeface="Arial"/>
                <a:sym typeface="Arial"/>
              </a:rPr>
              <a:t>MEJORA LA OFERTA</a:t>
            </a:r>
          </a:p>
        </p:txBody>
      </p:sp>
      <p:sp>
        <p:nvSpPr>
          <p:cNvPr id="533" name="Shape 533"/>
          <p:cNvSpPr txBox="1"/>
          <p:nvPr>
            <p:ph idx="4294967295" type="body"/>
          </p:nvPr>
        </p:nvSpPr>
        <p:spPr>
          <a:xfrm>
            <a:off x="5219700" y="3644900"/>
            <a:ext cx="4038599" cy="1944687"/>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0" i="0" lang="en-US" sz="1800" u="none" cap="none" strike="noStrike">
                <a:solidFill>
                  <a:schemeClr val="dk1"/>
                </a:solidFill>
                <a:latin typeface="Arial"/>
                <a:ea typeface="Arial"/>
                <a:cs typeface="Arial"/>
                <a:sym typeface="Arial"/>
              </a:rPr>
              <a:t>Al </a:t>
            </a:r>
            <a:r>
              <a:rPr b="1" i="0" lang="en-US" sz="1800" u="none" cap="none" strike="noStrike">
                <a:solidFill>
                  <a:srgbClr val="EC1914"/>
                </a:solidFill>
                <a:latin typeface="Arial"/>
                <a:ea typeface="Arial"/>
                <a:cs typeface="Arial"/>
                <a:sym typeface="Arial"/>
              </a:rPr>
              <a:t>mejorar la oferta</a:t>
            </a:r>
            <a:r>
              <a:rPr b="0" i="0" lang="en-US" sz="1800" u="none" cap="none" strike="noStrike">
                <a:solidFill>
                  <a:schemeClr val="dk1"/>
                </a:solidFill>
                <a:latin typeface="Arial"/>
                <a:ea typeface="Arial"/>
                <a:cs typeface="Arial"/>
                <a:sym typeface="Arial"/>
              </a:rPr>
              <a:t>, los productores ofrecerán la cantidad Q´, pero los consumidores seguirán demandando Q, el exceso de oferta empujará la baja del precio de mercado y en consecuencia la disposición de los compradores para aumentar la cantidad consumida.</a:t>
            </a:r>
            <a:r>
              <a:rPr b="0" i="0" lang="en-US" sz="2000" u="none" cap="none" strike="noStrike">
                <a:solidFill>
                  <a:schemeClr val="dk1"/>
                </a:solidFill>
                <a:latin typeface="Arial"/>
                <a:ea typeface="Arial"/>
                <a:cs typeface="Arial"/>
                <a:sym typeface="Arial"/>
              </a:rPr>
              <a:t>  </a:t>
            </a:r>
          </a:p>
        </p:txBody>
      </p:sp>
      <p:cxnSp>
        <p:nvCxnSpPr>
          <p:cNvPr id="534" name="Shape 534"/>
          <p:cNvCxnSpPr/>
          <p:nvPr/>
        </p:nvCxnSpPr>
        <p:spPr>
          <a:xfrm>
            <a:off x="827087" y="2205036"/>
            <a:ext cx="0" cy="4176711"/>
          </a:xfrm>
          <a:prstGeom prst="straightConnector1">
            <a:avLst/>
          </a:prstGeom>
          <a:noFill/>
          <a:ln cap="flat" cmpd="sng" w="9525">
            <a:solidFill>
              <a:schemeClr val="dk1"/>
            </a:solidFill>
            <a:prstDash val="solid"/>
            <a:miter/>
            <a:headEnd len="med" w="med" type="none"/>
            <a:tailEnd len="med" w="med" type="none"/>
          </a:ln>
        </p:spPr>
      </p:cxnSp>
      <p:cxnSp>
        <p:nvCxnSpPr>
          <p:cNvPr id="535" name="Shape 535"/>
          <p:cNvCxnSpPr/>
          <p:nvPr/>
        </p:nvCxnSpPr>
        <p:spPr>
          <a:xfrm>
            <a:off x="468312" y="5949950"/>
            <a:ext cx="5903911" cy="0"/>
          </a:xfrm>
          <a:prstGeom prst="straightConnector1">
            <a:avLst/>
          </a:prstGeom>
          <a:noFill/>
          <a:ln cap="flat" cmpd="sng" w="9525">
            <a:solidFill>
              <a:schemeClr val="dk1"/>
            </a:solidFill>
            <a:prstDash val="solid"/>
            <a:miter/>
            <a:headEnd len="med" w="med" type="none"/>
            <a:tailEnd len="med" w="med" type="none"/>
          </a:ln>
        </p:spPr>
      </p:cxnSp>
      <p:sp>
        <p:nvSpPr>
          <p:cNvPr id="536" name="Shape 536"/>
          <p:cNvSpPr/>
          <p:nvPr/>
        </p:nvSpPr>
        <p:spPr>
          <a:xfrm>
            <a:off x="827087" y="2205036"/>
            <a:ext cx="4465637" cy="3384550"/>
          </a:xfrm>
          <a:custGeom>
            <a:pathLst>
              <a:path extrusionOk="0" h="2201" w="2699">
                <a:moveTo>
                  <a:pt x="0" y="0"/>
                </a:moveTo>
                <a:cubicBezTo>
                  <a:pt x="54" y="88"/>
                  <a:pt x="213" y="366"/>
                  <a:pt x="327" y="530"/>
                </a:cubicBezTo>
                <a:cubicBezTo>
                  <a:pt x="441" y="694"/>
                  <a:pt x="593" y="877"/>
                  <a:pt x="685" y="984"/>
                </a:cubicBezTo>
                <a:cubicBezTo>
                  <a:pt x="777" y="1091"/>
                  <a:pt x="808" y="1105"/>
                  <a:pt x="878" y="1171"/>
                </a:cubicBezTo>
                <a:cubicBezTo>
                  <a:pt x="948" y="1237"/>
                  <a:pt x="1036" y="1318"/>
                  <a:pt x="1105" y="1379"/>
                </a:cubicBezTo>
                <a:cubicBezTo>
                  <a:pt x="1174" y="1440"/>
                  <a:pt x="1203" y="1473"/>
                  <a:pt x="1294" y="1539"/>
                </a:cubicBezTo>
                <a:cubicBezTo>
                  <a:pt x="1385" y="1605"/>
                  <a:pt x="1501" y="1689"/>
                  <a:pt x="1652" y="1776"/>
                </a:cubicBezTo>
                <a:cubicBezTo>
                  <a:pt x="1803" y="1863"/>
                  <a:pt x="2024" y="1988"/>
                  <a:pt x="2198" y="2059"/>
                </a:cubicBezTo>
                <a:cubicBezTo>
                  <a:pt x="2373" y="2130"/>
                  <a:pt x="2595" y="2172"/>
                  <a:pt x="2699" y="2201"/>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37" name="Shape 537"/>
          <p:cNvSpPr/>
          <p:nvPr/>
        </p:nvSpPr>
        <p:spPr>
          <a:xfrm>
            <a:off x="827087" y="2133600"/>
            <a:ext cx="4224336" cy="2952750"/>
          </a:xfrm>
          <a:custGeom>
            <a:pathLst>
              <a:path extrusionOk="0" h="1860" w="2661">
                <a:moveTo>
                  <a:pt x="0" y="1860"/>
                </a:moveTo>
                <a:cubicBezTo>
                  <a:pt x="147" y="1845"/>
                  <a:pt x="608" y="1831"/>
                  <a:pt x="880" y="1767"/>
                </a:cubicBezTo>
                <a:cubicBezTo>
                  <a:pt x="1152" y="1703"/>
                  <a:pt x="1421" y="1594"/>
                  <a:pt x="1630" y="1474"/>
                </a:cubicBezTo>
                <a:cubicBezTo>
                  <a:pt x="1839" y="1354"/>
                  <a:pt x="1987" y="1222"/>
                  <a:pt x="2132" y="1045"/>
                </a:cubicBezTo>
                <a:cubicBezTo>
                  <a:pt x="2277" y="868"/>
                  <a:pt x="2413" y="589"/>
                  <a:pt x="2501" y="415"/>
                </a:cubicBezTo>
                <a:cubicBezTo>
                  <a:pt x="2589" y="241"/>
                  <a:pt x="2628" y="87"/>
                  <a:pt x="2661"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38" name="Shape 538"/>
          <p:cNvSpPr/>
          <p:nvPr/>
        </p:nvSpPr>
        <p:spPr>
          <a:xfrm>
            <a:off x="827087" y="2852736"/>
            <a:ext cx="4511675" cy="2698750"/>
          </a:xfrm>
          <a:custGeom>
            <a:pathLst>
              <a:path extrusionOk="0" h="1700" w="2842">
                <a:moveTo>
                  <a:pt x="0" y="1697"/>
                </a:moveTo>
                <a:cubicBezTo>
                  <a:pt x="78" y="1694"/>
                  <a:pt x="289" y="1700"/>
                  <a:pt x="470" y="1678"/>
                </a:cubicBezTo>
                <a:cubicBezTo>
                  <a:pt x="651" y="1656"/>
                  <a:pt x="894" y="1615"/>
                  <a:pt x="1084" y="1565"/>
                </a:cubicBezTo>
                <a:cubicBezTo>
                  <a:pt x="1274" y="1515"/>
                  <a:pt x="1426" y="1475"/>
                  <a:pt x="1613" y="1376"/>
                </a:cubicBezTo>
                <a:cubicBezTo>
                  <a:pt x="1800" y="1277"/>
                  <a:pt x="2039" y="1134"/>
                  <a:pt x="2208" y="970"/>
                </a:cubicBezTo>
                <a:cubicBezTo>
                  <a:pt x="2377" y="806"/>
                  <a:pt x="2520" y="553"/>
                  <a:pt x="2626" y="391"/>
                </a:cubicBezTo>
                <a:cubicBezTo>
                  <a:pt x="2732" y="229"/>
                  <a:pt x="2797" y="82"/>
                  <a:pt x="2842" y="0"/>
                </a:cubicBezTo>
              </a:path>
            </a:pathLst>
          </a:custGeom>
          <a:noFill/>
          <a:ln cap="flat" cmpd="sng" w="444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539" name="Shape 539"/>
          <p:cNvCxnSpPr/>
          <p:nvPr/>
        </p:nvCxnSpPr>
        <p:spPr>
          <a:xfrm>
            <a:off x="827087" y="4652962"/>
            <a:ext cx="3167061" cy="0"/>
          </a:xfrm>
          <a:prstGeom prst="straightConnector1">
            <a:avLst/>
          </a:prstGeom>
          <a:noFill/>
          <a:ln cap="flat" cmpd="sng" w="9525">
            <a:solidFill>
              <a:schemeClr val="dk1"/>
            </a:solidFill>
            <a:prstDash val="solid"/>
            <a:miter/>
            <a:headEnd len="med" w="med" type="none"/>
            <a:tailEnd len="med" w="med" type="none"/>
          </a:ln>
        </p:spPr>
      </p:cxnSp>
      <p:cxnSp>
        <p:nvCxnSpPr>
          <p:cNvPr id="540" name="Shape 540"/>
          <p:cNvCxnSpPr/>
          <p:nvPr/>
        </p:nvCxnSpPr>
        <p:spPr>
          <a:xfrm>
            <a:off x="827087" y="4941887"/>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541" name="Shape 541"/>
          <p:cNvCxnSpPr/>
          <p:nvPr/>
        </p:nvCxnSpPr>
        <p:spPr>
          <a:xfrm>
            <a:off x="3563937" y="4365625"/>
            <a:ext cx="0" cy="1584325"/>
          </a:xfrm>
          <a:prstGeom prst="straightConnector1">
            <a:avLst/>
          </a:prstGeom>
          <a:noFill/>
          <a:ln cap="flat" cmpd="sng" w="9525">
            <a:solidFill>
              <a:schemeClr val="dk1"/>
            </a:solidFill>
            <a:prstDash val="solid"/>
            <a:miter/>
            <a:headEnd len="med" w="med" type="none"/>
            <a:tailEnd len="med" w="med" type="none"/>
          </a:ln>
        </p:spPr>
      </p:cxnSp>
      <p:cxnSp>
        <p:nvCxnSpPr>
          <p:cNvPr id="542" name="Shape 542"/>
          <p:cNvCxnSpPr/>
          <p:nvPr/>
        </p:nvCxnSpPr>
        <p:spPr>
          <a:xfrm>
            <a:off x="3059111" y="4365625"/>
            <a:ext cx="0" cy="1584325"/>
          </a:xfrm>
          <a:prstGeom prst="straightConnector1">
            <a:avLst/>
          </a:prstGeom>
          <a:noFill/>
          <a:ln cap="flat" cmpd="sng" w="9525">
            <a:solidFill>
              <a:schemeClr val="dk1"/>
            </a:solidFill>
            <a:prstDash val="solid"/>
            <a:miter/>
            <a:headEnd len="med" w="med" type="none"/>
            <a:tailEnd len="med" w="med" type="none"/>
          </a:ln>
        </p:spPr>
      </p:cxnSp>
      <p:sp>
        <p:nvSpPr>
          <p:cNvPr id="543" name="Shape 543"/>
          <p:cNvSpPr txBox="1"/>
          <p:nvPr/>
        </p:nvSpPr>
        <p:spPr>
          <a:xfrm>
            <a:off x="504825" y="4437062"/>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a:t>
            </a:r>
          </a:p>
        </p:txBody>
      </p:sp>
      <p:sp>
        <p:nvSpPr>
          <p:cNvPr id="544" name="Shape 544"/>
          <p:cNvSpPr txBox="1"/>
          <p:nvPr/>
        </p:nvSpPr>
        <p:spPr>
          <a:xfrm>
            <a:off x="2843211" y="58769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sp>
        <p:nvSpPr>
          <p:cNvPr id="545" name="Shape 545"/>
          <p:cNvSpPr txBox="1"/>
          <p:nvPr/>
        </p:nvSpPr>
        <p:spPr>
          <a:xfrm>
            <a:off x="468312" y="472440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P1</a:t>
            </a:r>
          </a:p>
        </p:txBody>
      </p:sp>
      <p:sp>
        <p:nvSpPr>
          <p:cNvPr id="546" name="Shape 546"/>
          <p:cNvSpPr txBox="1"/>
          <p:nvPr/>
        </p:nvSpPr>
        <p:spPr>
          <a:xfrm>
            <a:off x="3384550" y="58769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Q1</a:t>
            </a:r>
          </a:p>
        </p:txBody>
      </p:sp>
      <p:cxnSp>
        <p:nvCxnSpPr>
          <p:cNvPr id="547" name="Shape 547"/>
          <p:cNvCxnSpPr/>
          <p:nvPr/>
        </p:nvCxnSpPr>
        <p:spPr>
          <a:xfrm>
            <a:off x="3995737" y="4652962"/>
            <a:ext cx="0" cy="1296986"/>
          </a:xfrm>
          <a:prstGeom prst="straightConnector1">
            <a:avLst/>
          </a:prstGeom>
          <a:noFill/>
          <a:ln cap="flat" cmpd="sng" w="9525">
            <a:solidFill>
              <a:schemeClr val="dk1"/>
            </a:solidFill>
            <a:prstDash val="solid"/>
            <a:miter/>
            <a:headEnd len="med" w="med" type="none"/>
            <a:tailEnd len="med" w="med" type="none"/>
          </a:ln>
        </p:spPr>
      </p:cxnSp>
      <p:sp>
        <p:nvSpPr>
          <p:cNvPr id="548" name="Shape 548"/>
          <p:cNvSpPr txBox="1"/>
          <p:nvPr/>
        </p:nvSpPr>
        <p:spPr>
          <a:xfrm>
            <a:off x="3816350" y="58769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 Q´</a:t>
            </a:r>
          </a:p>
        </p:txBody>
      </p:sp>
      <p:sp>
        <p:nvSpPr>
          <p:cNvPr id="549" name="Shape 549"/>
          <p:cNvSpPr/>
          <p:nvPr/>
        </p:nvSpPr>
        <p:spPr>
          <a:xfrm>
            <a:off x="3059111" y="4652962"/>
            <a:ext cx="504825" cy="288925"/>
          </a:xfrm>
          <a:custGeom>
            <a:pathLst>
              <a:path extrusionOk="0" h="182" w="318">
                <a:moveTo>
                  <a:pt x="0" y="0"/>
                </a:moveTo>
                <a:lnTo>
                  <a:pt x="182" y="91"/>
                </a:lnTo>
                <a:lnTo>
                  <a:pt x="318" y="182"/>
                </a:lnTo>
                <a:lnTo>
                  <a:pt x="318" y="0"/>
                </a:lnTo>
                <a:lnTo>
                  <a:pt x="182" y="0"/>
                </a:lnTo>
                <a:lnTo>
                  <a:pt x="0" y="0"/>
                </a:lnTo>
                <a:close/>
              </a:path>
            </a:pathLst>
          </a:custGeom>
          <a:solidFill>
            <a:srgbClr val="EC1914"/>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50" name="Shape 550"/>
          <p:cNvSpPr txBox="1"/>
          <p:nvPr/>
        </p:nvSpPr>
        <p:spPr>
          <a:xfrm>
            <a:off x="57150" y="184467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551" name="Shape 551"/>
          <p:cNvSpPr txBox="1"/>
          <p:nvPr/>
        </p:nvSpPr>
        <p:spPr>
          <a:xfrm>
            <a:off x="5313362" y="5805487"/>
            <a:ext cx="1274762" cy="5540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552" name="Shape 552"/>
          <p:cNvSpPr txBox="1"/>
          <p:nvPr/>
        </p:nvSpPr>
        <p:spPr>
          <a:xfrm>
            <a:off x="3779837" y="2203450"/>
            <a:ext cx="1223961"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 INICIAL</a:t>
            </a:r>
          </a:p>
        </p:txBody>
      </p:sp>
      <p:sp>
        <p:nvSpPr>
          <p:cNvPr id="553" name="Shape 553"/>
          <p:cNvSpPr txBox="1"/>
          <p:nvPr/>
        </p:nvSpPr>
        <p:spPr>
          <a:xfrm>
            <a:off x="4284662" y="4292600"/>
            <a:ext cx="1008062" cy="6477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OFERTA</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FINAL</a:t>
            </a:r>
          </a:p>
        </p:txBody>
      </p:sp>
      <p:sp>
        <p:nvSpPr>
          <p:cNvPr id="554" name="Shape 554"/>
          <p:cNvSpPr txBox="1"/>
          <p:nvPr/>
        </p:nvSpPr>
        <p:spPr>
          <a:xfrm>
            <a:off x="1044575" y="2133600"/>
            <a:ext cx="1223961"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DEMANDA</a:t>
            </a:r>
          </a:p>
        </p:txBody>
      </p:sp>
      <p:sp>
        <p:nvSpPr>
          <p:cNvPr id="555" name="Shape 555"/>
          <p:cNvSpPr txBox="1"/>
          <p:nvPr/>
        </p:nvSpPr>
        <p:spPr>
          <a:xfrm>
            <a:off x="5618162" y="2349500"/>
            <a:ext cx="3130549" cy="151288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EC1914"/>
              </a:buClr>
              <a:buSzPct val="100000"/>
              <a:buFont typeface="Arial"/>
              <a:buChar char="•"/>
            </a:pPr>
            <a:r>
              <a:rPr b="1" i="0" lang="en-US" sz="1800" u="none" cap="none" strike="noStrike">
                <a:solidFill>
                  <a:srgbClr val="EC1914"/>
                </a:solidFill>
                <a:latin typeface="Arial"/>
                <a:ea typeface="Arial"/>
                <a:cs typeface="Arial"/>
                <a:sym typeface="Arial"/>
              </a:rPr>
              <a:t> Reduce el precio</a:t>
            </a:r>
          </a:p>
          <a:p>
            <a:pPr indent="0" lvl="0" marL="0" marR="0" rtl="0" algn="l">
              <a:lnSpc>
                <a:spcPct val="100000"/>
              </a:lnSpc>
              <a:spcBef>
                <a:spcPts val="0"/>
              </a:spcBef>
              <a:spcAft>
                <a:spcPts val="0"/>
              </a:spcAft>
              <a:buClr>
                <a:schemeClr val="dk1"/>
              </a:buClr>
              <a:buFont typeface="Arial"/>
              <a:buNone/>
            </a:pPr>
            <a:r>
              <a:t/>
            </a:r>
            <a:endParaRPr b="1" i="0" sz="1800" u="none" cap="none" strike="noStrike">
              <a:solidFill>
                <a:srgbClr val="EC1914"/>
              </a:solidFill>
              <a:latin typeface="Arial"/>
              <a:ea typeface="Arial"/>
              <a:cs typeface="Arial"/>
              <a:sym typeface="Arial"/>
            </a:endParaRPr>
          </a:p>
          <a:p>
            <a:pPr indent="0" lvl="0" marL="0" marR="0" rtl="0" algn="l">
              <a:lnSpc>
                <a:spcPct val="100000"/>
              </a:lnSpc>
              <a:spcBef>
                <a:spcPts val="0"/>
              </a:spcBef>
              <a:spcAft>
                <a:spcPts val="0"/>
              </a:spcAft>
              <a:buClr>
                <a:srgbClr val="EC1914"/>
              </a:buClr>
              <a:buSzPct val="100000"/>
              <a:buFont typeface="Arial"/>
              <a:buChar char="•"/>
            </a:pPr>
            <a:r>
              <a:rPr b="1" i="0" lang="en-US" sz="1800" u="none" cap="none" strike="noStrike">
                <a:solidFill>
                  <a:srgbClr val="EC1914"/>
                </a:solidFill>
                <a:latin typeface="Arial"/>
                <a:ea typeface="Arial"/>
                <a:cs typeface="Arial"/>
                <a:sym typeface="Arial"/>
              </a:rPr>
              <a:t> Aumenta la cantidad de</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 transacciones.</a:t>
            </a:r>
          </a:p>
          <a:p>
            <a:pPr indent="0" lvl="0" marL="0" marR="0" rtl="0" algn="l">
              <a:lnSpc>
                <a:spcPct val="100000"/>
              </a:lnSpc>
              <a:spcBef>
                <a:spcPts val="0"/>
              </a:spcBef>
              <a:spcAft>
                <a:spcPts val="0"/>
              </a:spcAft>
              <a:buNone/>
            </a:pPr>
            <a:r>
              <a:t/>
            </a:r>
            <a:endParaRPr b="1" i="0" sz="1800" u="none" cap="none" strike="noStrike">
              <a:solidFill>
                <a:srgbClr val="EC1914"/>
              </a:solidFill>
              <a:latin typeface="Arial"/>
              <a:ea typeface="Arial"/>
              <a:cs typeface="Arial"/>
              <a:sym typeface="Arial"/>
            </a:endParaRPr>
          </a:p>
        </p:txBody>
      </p:sp>
      <p:sp>
        <p:nvSpPr>
          <p:cNvPr id="556" name="Shape 556"/>
          <p:cNvSpPr/>
          <p:nvPr/>
        </p:nvSpPr>
        <p:spPr>
          <a:xfrm rot="5400000">
            <a:off x="3635375" y="4581525"/>
            <a:ext cx="288925" cy="431799"/>
          </a:xfrm>
          <a:prstGeom prst="rtTriangle">
            <a:avLst/>
          </a:prstGeom>
          <a:solidFill>
            <a:srgbClr val="00FFFF"/>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557" name="Shape 557"/>
          <p:cNvCxnSpPr/>
          <p:nvPr/>
        </p:nvCxnSpPr>
        <p:spPr>
          <a:xfrm>
            <a:off x="827087" y="4365625"/>
            <a:ext cx="2736850" cy="0"/>
          </a:xfrm>
          <a:prstGeom prst="straightConnector1">
            <a:avLst/>
          </a:prstGeom>
          <a:noFill/>
          <a:ln cap="flat" cmpd="sng" w="9525">
            <a:solidFill>
              <a:schemeClr val="dk1"/>
            </a:solidFill>
            <a:prstDash val="solid"/>
            <a:miter/>
            <a:headEnd len="med" w="med" type="none"/>
            <a:tailEnd len="med" w="med" type="none"/>
          </a:ln>
        </p:spPr>
      </p:cxnSp>
      <p:sp>
        <p:nvSpPr>
          <p:cNvPr id="558" name="Shape 558"/>
          <p:cNvSpPr txBox="1"/>
          <p:nvPr/>
        </p:nvSpPr>
        <p:spPr>
          <a:xfrm>
            <a:off x="468312" y="41497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P´1</a:t>
            </a:r>
          </a:p>
        </p:txBody>
      </p:sp>
      <p:pic>
        <p:nvPicPr>
          <p:cNvPr id="559" name="Shape 559"/>
          <p:cNvPicPr preferRelativeResize="0"/>
          <p:nvPr>
            <p:ph idx="4294967295" type="body"/>
          </p:nvPr>
        </p:nvPicPr>
        <p:blipFill rotWithShape="1">
          <a:blip r:embed="rId3">
            <a:alphaModFix/>
          </a:blip>
          <a:srcRect b="0" l="0" r="0" t="0"/>
          <a:stretch/>
        </p:blipFill>
        <p:spPr>
          <a:xfrm>
            <a:off x="5364162" y="692150"/>
            <a:ext cx="2578099" cy="668337"/>
          </a:xfrm>
          <a:prstGeom prst="rect">
            <a:avLst/>
          </a:prstGeom>
          <a:noFill/>
          <a:ln>
            <a:noFill/>
          </a:ln>
        </p:spPr>
      </p:pic>
      <p:sp>
        <p:nvSpPr>
          <p:cNvPr id="560" name="Shape 560"/>
          <p:cNvSpPr txBox="1"/>
          <p:nvPr/>
        </p:nvSpPr>
        <p:spPr>
          <a:xfrm>
            <a:off x="34925" y="115886"/>
            <a:ext cx="9047161" cy="503236"/>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200" u="none" cap="none" strike="noStrike">
                <a:solidFill>
                  <a:schemeClr val="dk2"/>
                </a:solidFill>
                <a:latin typeface="Arial"/>
                <a:ea typeface="Arial"/>
                <a:cs typeface="Arial"/>
                <a:sym typeface="Arial"/>
              </a:rPr>
              <a:t>SUBSIDIOS PAGADOS AL PRODUCTOR</a:t>
            </a:r>
          </a:p>
        </p:txBody>
      </p:sp>
      <p:sp>
        <p:nvSpPr>
          <p:cNvPr id="561" name="Shape 561"/>
          <p:cNvSpPr/>
          <p:nvPr/>
        </p:nvSpPr>
        <p:spPr>
          <a:xfrm>
            <a:off x="3059111" y="6165850"/>
            <a:ext cx="576262" cy="485775"/>
          </a:xfrm>
          <a:prstGeom prst="rightArrow">
            <a:avLst>
              <a:gd fmla="val 50000" name="adj1"/>
              <a:gd fmla="val 50000" name="adj2"/>
            </a:avLst>
          </a:prstGeom>
          <a:solidFill>
            <a:srgbClr val="00008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62" name="Shape 562"/>
          <p:cNvSpPr/>
          <p:nvPr/>
        </p:nvSpPr>
        <p:spPr>
          <a:xfrm rot="5400000">
            <a:off x="1862136" y="4554537"/>
            <a:ext cx="288925" cy="485775"/>
          </a:xfrm>
          <a:prstGeom prst="rightArrow">
            <a:avLst>
              <a:gd fmla="val 16140" name="adj1"/>
              <a:gd fmla="val 3388" name="adj2"/>
            </a:avLst>
          </a:prstGeom>
          <a:solidFill>
            <a:srgbClr val="00008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63" name="Shape 563"/>
          <p:cNvSpPr txBox="1"/>
          <p:nvPr/>
        </p:nvSpPr>
        <p:spPr>
          <a:xfrm rot="5400000">
            <a:off x="-362743" y="4471192"/>
            <a:ext cx="11493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Subsidio</a:t>
            </a:r>
          </a:p>
        </p:txBody>
      </p:sp>
      <p:sp>
        <p:nvSpPr>
          <p:cNvPr id="564" name="Shape 564"/>
          <p:cNvSpPr/>
          <p:nvPr/>
        </p:nvSpPr>
        <p:spPr>
          <a:xfrm>
            <a:off x="395287" y="4365625"/>
            <a:ext cx="73025" cy="574674"/>
          </a:xfrm>
          <a:prstGeom prst="leftBrace">
            <a:avLst>
              <a:gd fmla="val 8333" name="adj1"/>
              <a:gd fmla="val 50000" name="adj2"/>
            </a:avLst>
          </a:prstGeom>
          <a:solidFill>
            <a:srgbClr val="00008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68" name="Shape 568"/>
        <p:cNvGrpSpPr/>
        <p:nvPr/>
      </p:nvGrpSpPr>
      <p:grpSpPr>
        <a:xfrm>
          <a:off x="0" y="0"/>
          <a:ext cx="0" cy="0"/>
          <a:chOff x="0" y="0"/>
          <a:chExt cx="0" cy="0"/>
        </a:xfrm>
      </p:grpSpPr>
      <p:sp>
        <p:nvSpPr>
          <p:cNvPr id="569" name="Shape 569"/>
          <p:cNvSpPr/>
          <p:nvPr/>
        </p:nvSpPr>
        <p:spPr>
          <a:xfrm>
            <a:off x="827087" y="2205036"/>
            <a:ext cx="4465637" cy="3384550"/>
          </a:xfrm>
          <a:custGeom>
            <a:pathLst>
              <a:path extrusionOk="0" h="2201" w="2699">
                <a:moveTo>
                  <a:pt x="0" y="0"/>
                </a:moveTo>
                <a:cubicBezTo>
                  <a:pt x="54" y="88"/>
                  <a:pt x="213" y="366"/>
                  <a:pt x="327" y="530"/>
                </a:cubicBezTo>
                <a:cubicBezTo>
                  <a:pt x="441" y="694"/>
                  <a:pt x="593" y="877"/>
                  <a:pt x="685" y="984"/>
                </a:cubicBezTo>
                <a:cubicBezTo>
                  <a:pt x="777" y="1091"/>
                  <a:pt x="808" y="1105"/>
                  <a:pt x="878" y="1171"/>
                </a:cubicBezTo>
                <a:cubicBezTo>
                  <a:pt x="948" y="1237"/>
                  <a:pt x="1036" y="1318"/>
                  <a:pt x="1105" y="1379"/>
                </a:cubicBezTo>
                <a:cubicBezTo>
                  <a:pt x="1174" y="1440"/>
                  <a:pt x="1203" y="1473"/>
                  <a:pt x="1294" y="1539"/>
                </a:cubicBezTo>
                <a:cubicBezTo>
                  <a:pt x="1385" y="1605"/>
                  <a:pt x="1501" y="1689"/>
                  <a:pt x="1652" y="1776"/>
                </a:cubicBezTo>
                <a:cubicBezTo>
                  <a:pt x="1803" y="1863"/>
                  <a:pt x="2024" y="1988"/>
                  <a:pt x="2198" y="2059"/>
                </a:cubicBezTo>
                <a:cubicBezTo>
                  <a:pt x="2373" y="2130"/>
                  <a:pt x="2595" y="2172"/>
                  <a:pt x="2699" y="2201"/>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570" name="Shape 570"/>
          <p:cNvCxnSpPr/>
          <p:nvPr/>
        </p:nvCxnSpPr>
        <p:spPr>
          <a:xfrm>
            <a:off x="827087" y="4365625"/>
            <a:ext cx="2736850" cy="0"/>
          </a:xfrm>
          <a:prstGeom prst="straightConnector1">
            <a:avLst/>
          </a:prstGeom>
          <a:noFill/>
          <a:ln cap="flat" cmpd="sng" w="9525">
            <a:solidFill>
              <a:schemeClr val="dk1"/>
            </a:solidFill>
            <a:prstDash val="solid"/>
            <a:miter/>
            <a:headEnd len="med" w="med" type="none"/>
            <a:tailEnd len="med" w="med" type="none"/>
          </a:ln>
        </p:spPr>
      </p:cxnSp>
      <p:sp>
        <p:nvSpPr>
          <p:cNvPr id="571" name="Shape 571"/>
          <p:cNvSpPr/>
          <p:nvPr/>
        </p:nvSpPr>
        <p:spPr>
          <a:xfrm>
            <a:off x="827087" y="2133600"/>
            <a:ext cx="2736850" cy="2808286"/>
          </a:xfrm>
          <a:custGeom>
            <a:pathLst>
              <a:path extrusionOk="0" h="1769" w="1724">
                <a:moveTo>
                  <a:pt x="0" y="318"/>
                </a:moveTo>
                <a:lnTo>
                  <a:pt x="0" y="1039"/>
                </a:lnTo>
                <a:lnTo>
                  <a:pt x="12" y="1409"/>
                </a:lnTo>
                <a:lnTo>
                  <a:pt x="20" y="1769"/>
                </a:lnTo>
                <a:lnTo>
                  <a:pt x="489" y="1767"/>
                </a:lnTo>
                <a:lnTo>
                  <a:pt x="1031" y="1769"/>
                </a:lnTo>
                <a:lnTo>
                  <a:pt x="1724" y="1765"/>
                </a:lnTo>
                <a:lnTo>
                  <a:pt x="1578" y="1666"/>
                </a:lnTo>
                <a:lnTo>
                  <a:pt x="1273" y="1498"/>
                </a:lnTo>
                <a:lnTo>
                  <a:pt x="1122" y="1366"/>
                </a:lnTo>
                <a:lnTo>
                  <a:pt x="848" y="1121"/>
                </a:lnTo>
                <a:lnTo>
                  <a:pt x="584" y="847"/>
                </a:lnTo>
                <a:lnTo>
                  <a:pt x="433" y="696"/>
                </a:lnTo>
                <a:lnTo>
                  <a:pt x="291" y="460"/>
                </a:lnTo>
                <a:lnTo>
                  <a:pt x="172" y="302"/>
                </a:lnTo>
                <a:lnTo>
                  <a:pt x="91" y="165"/>
                </a:lnTo>
                <a:lnTo>
                  <a:pt x="5" y="0"/>
                </a:lnTo>
                <a:lnTo>
                  <a:pt x="0" y="318"/>
                </a:lnTo>
                <a:close/>
              </a:path>
            </a:pathLst>
          </a:custGeom>
          <a:solidFill>
            <a:srgbClr val="FF0000"/>
          </a:solidFill>
          <a:ln cap="flat" cmpd="sng" w="381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72" name="Shape 572"/>
          <p:cNvSpPr txBox="1"/>
          <p:nvPr>
            <p:ph idx="4294967295" type="title"/>
          </p:nvPr>
        </p:nvSpPr>
        <p:spPr>
          <a:xfrm>
            <a:off x="179386" y="692150"/>
            <a:ext cx="5832474" cy="1074737"/>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rgbClr val="EC1914"/>
              </a:buClr>
              <a:buSzPct val="25000"/>
              <a:buFont typeface="Arial"/>
              <a:buNone/>
            </a:pPr>
            <a:r>
              <a:rPr b="1" i="0" lang="en-US" sz="3200" u="none" cap="none" strike="noStrike">
                <a:solidFill>
                  <a:srgbClr val="EC1914"/>
                </a:solidFill>
                <a:latin typeface="Arial"/>
                <a:ea typeface="Arial"/>
                <a:cs typeface="Arial"/>
                <a:sym typeface="Arial"/>
              </a:rPr>
              <a:t>AUMENTA EL EXCEDENTE</a:t>
            </a:r>
            <a:br>
              <a:rPr b="1" i="0" lang="en-US" sz="3200" u="none" cap="none" strike="noStrike">
                <a:solidFill>
                  <a:srgbClr val="EC1914"/>
                </a:solidFill>
                <a:latin typeface="Arial"/>
                <a:ea typeface="Arial"/>
                <a:cs typeface="Arial"/>
                <a:sym typeface="Arial"/>
              </a:rPr>
            </a:br>
            <a:r>
              <a:rPr b="1" i="0" lang="en-US" sz="3200" u="none" cap="none" strike="noStrike">
                <a:solidFill>
                  <a:srgbClr val="EC1914"/>
                </a:solidFill>
                <a:latin typeface="Arial"/>
                <a:ea typeface="Arial"/>
                <a:cs typeface="Arial"/>
                <a:sym typeface="Arial"/>
              </a:rPr>
              <a:t>DEL CONSUMIDOR</a:t>
            </a:r>
          </a:p>
        </p:txBody>
      </p:sp>
      <p:sp>
        <p:nvSpPr>
          <p:cNvPr id="573" name="Shape 573"/>
          <p:cNvSpPr txBox="1"/>
          <p:nvPr>
            <p:ph idx="4294967295" type="body"/>
          </p:nvPr>
        </p:nvSpPr>
        <p:spPr>
          <a:xfrm>
            <a:off x="5105400" y="3573462"/>
            <a:ext cx="4038599" cy="1638300"/>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0" i="0" lang="en-US" sz="2400" u="none" cap="none" strike="noStrike">
                <a:solidFill>
                  <a:schemeClr val="dk1"/>
                </a:solidFill>
                <a:latin typeface="Arial"/>
                <a:ea typeface="Arial"/>
                <a:cs typeface="Arial"/>
                <a:sym typeface="Arial"/>
              </a:rPr>
              <a:t>El estado al pagar un subsidio </a:t>
            </a:r>
            <a:r>
              <a:rPr b="1" i="0" lang="en-US" sz="2400" u="none" cap="none" strike="noStrike">
                <a:solidFill>
                  <a:schemeClr val="dk1"/>
                </a:solidFill>
                <a:latin typeface="Arial"/>
                <a:ea typeface="Arial"/>
                <a:cs typeface="Arial"/>
                <a:sym typeface="Arial"/>
              </a:rPr>
              <a:t>mejora</a:t>
            </a:r>
            <a:r>
              <a:rPr b="0" i="0" lang="en-US" sz="2400" u="none" cap="none" strike="noStrike">
                <a:solidFill>
                  <a:schemeClr val="dk1"/>
                </a:solidFill>
                <a:latin typeface="Arial"/>
                <a:ea typeface="Arial"/>
                <a:cs typeface="Arial"/>
                <a:sym typeface="Arial"/>
              </a:rPr>
              <a:t> la oferta y aumenta el excedente de los consumidores hipersatisfechos </a:t>
            </a:r>
          </a:p>
        </p:txBody>
      </p:sp>
      <p:cxnSp>
        <p:nvCxnSpPr>
          <p:cNvPr id="574" name="Shape 574"/>
          <p:cNvCxnSpPr/>
          <p:nvPr/>
        </p:nvCxnSpPr>
        <p:spPr>
          <a:xfrm>
            <a:off x="827087" y="2205036"/>
            <a:ext cx="0" cy="4176711"/>
          </a:xfrm>
          <a:prstGeom prst="straightConnector1">
            <a:avLst/>
          </a:prstGeom>
          <a:noFill/>
          <a:ln cap="flat" cmpd="sng" w="9525">
            <a:solidFill>
              <a:schemeClr val="dk1"/>
            </a:solidFill>
            <a:prstDash val="solid"/>
            <a:miter/>
            <a:headEnd len="med" w="med" type="none"/>
            <a:tailEnd len="med" w="med" type="none"/>
          </a:ln>
        </p:spPr>
      </p:cxnSp>
      <p:cxnSp>
        <p:nvCxnSpPr>
          <p:cNvPr id="575" name="Shape 575"/>
          <p:cNvCxnSpPr/>
          <p:nvPr/>
        </p:nvCxnSpPr>
        <p:spPr>
          <a:xfrm>
            <a:off x="468312" y="5949950"/>
            <a:ext cx="5903911" cy="0"/>
          </a:xfrm>
          <a:prstGeom prst="straightConnector1">
            <a:avLst/>
          </a:prstGeom>
          <a:noFill/>
          <a:ln cap="flat" cmpd="sng" w="9525">
            <a:solidFill>
              <a:schemeClr val="dk1"/>
            </a:solidFill>
            <a:prstDash val="solid"/>
            <a:miter/>
            <a:headEnd len="med" w="med" type="none"/>
            <a:tailEnd len="med" w="med" type="none"/>
          </a:ln>
        </p:spPr>
      </p:cxnSp>
      <p:sp>
        <p:nvSpPr>
          <p:cNvPr id="576" name="Shape 576"/>
          <p:cNvSpPr/>
          <p:nvPr/>
        </p:nvSpPr>
        <p:spPr>
          <a:xfrm rot="-180000">
            <a:off x="755650" y="2205036"/>
            <a:ext cx="4343399" cy="2906711"/>
          </a:xfrm>
          <a:custGeom>
            <a:pathLst>
              <a:path extrusionOk="0" h="1831" w="2736">
                <a:moveTo>
                  <a:pt x="0" y="1831"/>
                </a:moveTo>
                <a:cubicBezTo>
                  <a:pt x="147" y="1816"/>
                  <a:pt x="608" y="1802"/>
                  <a:pt x="880" y="1738"/>
                </a:cubicBezTo>
                <a:cubicBezTo>
                  <a:pt x="1152" y="1674"/>
                  <a:pt x="1426" y="1558"/>
                  <a:pt x="1630" y="1445"/>
                </a:cubicBezTo>
                <a:cubicBezTo>
                  <a:pt x="1834" y="1332"/>
                  <a:pt x="1951" y="1232"/>
                  <a:pt x="2104" y="1059"/>
                </a:cubicBezTo>
                <a:cubicBezTo>
                  <a:pt x="2257" y="886"/>
                  <a:pt x="2443" y="582"/>
                  <a:pt x="2548" y="406"/>
                </a:cubicBezTo>
                <a:cubicBezTo>
                  <a:pt x="2653" y="230"/>
                  <a:pt x="2697" y="85"/>
                  <a:pt x="2736"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77" name="Shape 577"/>
          <p:cNvSpPr/>
          <p:nvPr/>
        </p:nvSpPr>
        <p:spPr>
          <a:xfrm>
            <a:off x="827087" y="2852736"/>
            <a:ext cx="4511675" cy="2693987"/>
          </a:xfrm>
          <a:custGeom>
            <a:pathLst>
              <a:path extrusionOk="0" h="1697" w="2842">
                <a:moveTo>
                  <a:pt x="0" y="1697"/>
                </a:moveTo>
                <a:cubicBezTo>
                  <a:pt x="144" y="1681"/>
                  <a:pt x="594" y="1656"/>
                  <a:pt x="867" y="1600"/>
                </a:cubicBezTo>
                <a:cubicBezTo>
                  <a:pt x="1140" y="1544"/>
                  <a:pt x="1424" y="1460"/>
                  <a:pt x="1636" y="1362"/>
                </a:cubicBezTo>
                <a:cubicBezTo>
                  <a:pt x="1847" y="1264"/>
                  <a:pt x="1971" y="1172"/>
                  <a:pt x="2136" y="1011"/>
                </a:cubicBezTo>
                <a:cubicBezTo>
                  <a:pt x="2301" y="849"/>
                  <a:pt x="2508" y="559"/>
                  <a:pt x="2626" y="391"/>
                </a:cubicBezTo>
                <a:cubicBezTo>
                  <a:pt x="2743" y="223"/>
                  <a:pt x="2797" y="82"/>
                  <a:pt x="2842" y="0"/>
                </a:cubicBezTo>
              </a:path>
            </a:pathLst>
          </a:custGeom>
          <a:noFill/>
          <a:ln cap="flat" cmpd="sng" w="444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578" name="Shape 578"/>
          <p:cNvCxnSpPr/>
          <p:nvPr/>
        </p:nvCxnSpPr>
        <p:spPr>
          <a:xfrm>
            <a:off x="827087" y="4652962"/>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579" name="Shape 579"/>
          <p:cNvCxnSpPr/>
          <p:nvPr/>
        </p:nvCxnSpPr>
        <p:spPr>
          <a:xfrm>
            <a:off x="827087" y="4941887"/>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580" name="Shape 580"/>
          <p:cNvCxnSpPr/>
          <p:nvPr/>
        </p:nvCxnSpPr>
        <p:spPr>
          <a:xfrm>
            <a:off x="3563937" y="4365625"/>
            <a:ext cx="0" cy="1582737"/>
          </a:xfrm>
          <a:prstGeom prst="straightConnector1">
            <a:avLst/>
          </a:prstGeom>
          <a:noFill/>
          <a:ln cap="flat" cmpd="sng" w="9525">
            <a:solidFill>
              <a:schemeClr val="dk1"/>
            </a:solidFill>
            <a:prstDash val="solid"/>
            <a:miter/>
            <a:headEnd len="med" w="med" type="none"/>
            <a:tailEnd len="med" w="med" type="none"/>
          </a:ln>
        </p:spPr>
      </p:cxnSp>
      <p:cxnSp>
        <p:nvCxnSpPr>
          <p:cNvPr id="581" name="Shape 581"/>
          <p:cNvCxnSpPr/>
          <p:nvPr/>
        </p:nvCxnSpPr>
        <p:spPr>
          <a:xfrm>
            <a:off x="3059111" y="4365625"/>
            <a:ext cx="0" cy="1584325"/>
          </a:xfrm>
          <a:prstGeom prst="straightConnector1">
            <a:avLst/>
          </a:prstGeom>
          <a:noFill/>
          <a:ln cap="flat" cmpd="sng" w="9525">
            <a:solidFill>
              <a:schemeClr val="dk1"/>
            </a:solidFill>
            <a:prstDash val="solid"/>
            <a:miter/>
            <a:headEnd len="med" w="med" type="none"/>
            <a:tailEnd len="med" w="med" type="none"/>
          </a:ln>
        </p:spPr>
      </p:cxnSp>
      <p:sp>
        <p:nvSpPr>
          <p:cNvPr id="582" name="Shape 582"/>
          <p:cNvSpPr txBox="1"/>
          <p:nvPr/>
        </p:nvSpPr>
        <p:spPr>
          <a:xfrm>
            <a:off x="539750" y="4437062"/>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a:t>
            </a:r>
          </a:p>
        </p:txBody>
      </p:sp>
      <p:sp>
        <p:nvSpPr>
          <p:cNvPr id="583" name="Shape 583"/>
          <p:cNvSpPr txBox="1"/>
          <p:nvPr/>
        </p:nvSpPr>
        <p:spPr>
          <a:xfrm>
            <a:off x="2843211" y="58769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sp>
        <p:nvSpPr>
          <p:cNvPr id="584" name="Shape 584"/>
          <p:cNvSpPr txBox="1"/>
          <p:nvPr/>
        </p:nvSpPr>
        <p:spPr>
          <a:xfrm>
            <a:off x="468312" y="4652962"/>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sp>
        <p:nvSpPr>
          <p:cNvPr id="585" name="Shape 585"/>
          <p:cNvSpPr txBox="1"/>
          <p:nvPr/>
        </p:nvSpPr>
        <p:spPr>
          <a:xfrm>
            <a:off x="3384550" y="58769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Q1</a:t>
            </a:r>
          </a:p>
        </p:txBody>
      </p:sp>
      <p:sp>
        <p:nvSpPr>
          <p:cNvPr id="586" name="Shape 586"/>
          <p:cNvSpPr/>
          <p:nvPr/>
        </p:nvSpPr>
        <p:spPr>
          <a:xfrm>
            <a:off x="827087" y="2133600"/>
            <a:ext cx="2232025" cy="2519362"/>
          </a:xfrm>
          <a:custGeom>
            <a:pathLst>
              <a:path extrusionOk="0" h="1587" w="1406">
                <a:moveTo>
                  <a:pt x="0" y="285"/>
                </a:moveTo>
                <a:lnTo>
                  <a:pt x="0" y="932"/>
                </a:lnTo>
                <a:lnTo>
                  <a:pt x="10" y="1264"/>
                </a:lnTo>
                <a:lnTo>
                  <a:pt x="16" y="1587"/>
                </a:lnTo>
                <a:lnTo>
                  <a:pt x="399" y="1585"/>
                </a:lnTo>
                <a:lnTo>
                  <a:pt x="841" y="1587"/>
                </a:lnTo>
                <a:lnTo>
                  <a:pt x="1406" y="1583"/>
                </a:lnTo>
                <a:lnTo>
                  <a:pt x="1287" y="1495"/>
                </a:lnTo>
                <a:lnTo>
                  <a:pt x="1065" y="1309"/>
                </a:lnTo>
                <a:lnTo>
                  <a:pt x="952" y="1206"/>
                </a:lnTo>
                <a:lnTo>
                  <a:pt x="673" y="962"/>
                </a:lnTo>
                <a:lnTo>
                  <a:pt x="482" y="750"/>
                </a:lnTo>
                <a:lnTo>
                  <a:pt x="376" y="611"/>
                </a:lnTo>
                <a:lnTo>
                  <a:pt x="253" y="422"/>
                </a:lnTo>
                <a:lnTo>
                  <a:pt x="140" y="271"/>
                </a:lnTo>
                <a:lnTo>
                  <a:pt x="74" y="148"/>
                </a:lnTo>
                <a:lnTo>
                  <a:pt x="4" y="0"/>
                </a:lnTo>
                <a:lnTo>
                  <a:pt x="0" y="285"/>
                </a:lnTo>
                <a:close/>
              </a:path>
            </a:pathLst>
          </a:custGeom>
          <a:solidFill>
            <a:srgbClr val="FF0000">
              <a:alpha val="15686"/>
            </a:srgbClr>
          </a:solidFill>
          <a:ln cap="flat" cmpd="sng" w="381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87" name="Shape 587"/>
          <p:cNvSpPr txBox="1"/>
          <p:nvPr/>
        </p:nvSpPr>
        <p:spPr>
          <a:xfrm>
            <a:off x="1065212" y="206057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588" name="Shape 588"/>
          <p:cNvSpPr txBox="1"/>
          <p:nvPr/>
        </p:nvSpPr>
        <p:spPr>
          <a:xfrm>
            <a:off x="1979611" y="3213100"/>
            <a:ext cx="1223961"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DEMANDA</a:t>
            </a:r>
          </a:p>
        </p:txBody>
      </p:sp>
      <p:sp>
        <p:nvSpPr>
          <p:cNvPr id="589" name="Shape 589"/>
          <p:cNvSpPr txBox="1"/>
          <p:nvPr/>
        </p:nvSpPr>
        <p:spPr>
          <a:xfrm>
            <a:off x="3708400" y="2347911"/>
            <a:ext cx="1223961"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 INICIAL</a:t>
            </a:r>
          </a:p>
        </p:txBody>
      </p:sp>
      <p:sp>
        <p:nvSpPr>
          <p:cNvPr id="590" name="Shape 590"/>
          <p:cNvSpPr txBox="1"/>
          <p:nvPr/>
        </p:nvSpPr>
        <p:spPr>
          <a:xfrm>
            <a:off x="5292725" y="2565400"/>
            <a:ext cx="1008062" cy="6477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OFERTA</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FINAL</a:t>
            </a:r>
          </a:p>
        </p:txBody>
      </p:sp>
      <p:sp>
        <p:nvSpPr>
          <p:cNvPr id="591" name="Shape 591"/>
          <p:cNvSpPr/>
          <p:nvPr/>
        </p:nvSpPr>
        <p:spPr>
          <a:xfrm>
            <a:off x="827087" y="4652962"/>
            <a:ext cx="2736850" cy="288925"/>
          </a:xfrm>
          <a:custGeom>
            <a:pathLst>
              <a:path extrusionOk="0" h="182" w="1724">
                <a:moveTo>
                  <a:pt x="0" y="0"/>
                </a:moveTo>
                <a:lnTo>
                  <a:pt x="318" y="0"/>
                </a:lnTo>
                <a:lnTo>
                  <a:pt x="590" y="0"/>
                </a:lnTo>
                <a:lnTo>
                  <a:pt x="1044" y="0"/>
                </a:lnTo>
                <a:lnTo>
                  <a:pt x="1406" y="0"/>
                </a:lnTo>
                <a:lnTo>
                  <a:pt x="1537" y="62"/>
                </a:lnTo>
                <a:lnTo>
                  <a:pt x="1724" y="182"/>
                </a:lnTo>
                <a:lnTo>
                  <a:pt x="1588" y="182"/>
                </a:lnTo>
                <a:lnTo>
                  <a:pt x="1180" y="182"/>
                </a:lnTo>
                <a:lnTo>
                  <a:pt x="681" y="182"/>
                </a:lnTo>
                <a:lnTo>
                  <a:pt x="363" y="182"/>
                </a:lnTo>
                <a:lnTo>
                  <a:pt x="0" y="182"/>
                </a:lnTo>
                <a:lnTo>
                  <a:pt x="0" y="0"/>
                </a:lnTo>
                <a:close/>
              </a:path>
            </a:pathLst>
          </a:custGeom>
          <a:solidFill>
            <a:schemeClr val="accent1"/>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92" name="Shape 592"/>
          <p:cNvSpPr txBox="1"/>
          <p:nvPr/>
        </p:nvSpPr>
        <p:spPr>
          <a:xfrm>
            <a:off x="1258887" y="4581525"/>
            <a:ext cx="1419225"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AUMENTO</a:t>
            </a:r>
          </a:p>
        </p:txBody>
      </p:sp>
      <p:sp>
        <p:nvSpPr>
          <p:cNvPr id="593" name="Shape 593"/>
          <p:cNvSpPr txBox="1"/>
          <p:nvPr/>
        </p:nvSpPr>
        <p:spPr>
          <a:xfrm>
            <a:off x="5745162" y="587692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pic>
        <p:nvPicPr>
          <p:cNvPr id="594" name="Shape 594"/>
          <p:cNvPicPr preferRelativeResize="0"/>
          <p:nvPr>
            <p:ph idx="4294967295" type="body"/>
          </p:nvPr>
        </p:nvPicPr>
        <p:blipFill rotWithShape="1">
          <a:blip r:embed="rId3">
            <a:alphaModFix/>
          </a:blip>
          <a:srcRect b="0" l="0" r="0" t="0"/>
          <a:stretch/>
        </p:blipFill>
        <p:spPr>
          <a:xfrm>
            <a:off x="5651500" y="692150"/>
            <a:ext cx="2290762" cy="720724"/>
          </a:xfrm>
          <a:prstGeom prst="rect">
            <a:avLst/>
          </a:prstGeom>
          <a:noFill/>
          <a:ln>
            <a:noFill/>
          </a:ln>
        </p:spPr>
      </p:pic>
      <p:sp>
        <p:nvSpPr>
          <p:cNvPr id="595" name="Shape 595"/>
          <p:cNvSpPr txBox="1"/>
          <p:nvPr/>
        </p:nvSpPr>
        <p:spPr>
          <a:xfrm>
            <a:off x="34925" y="115886"/>
            <a:ext cx="9047161" cy="503236"/>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200" u="none" cap="none" strike="noStrike">
                <a:solidFill>
                  <a:schemeClr val="dk2"/>
                </a:solidFill>
                <a:latin typeface="Arial"/>
                <a:ea typeface="Arial"/>
                <a:cs typeface="Arial"/>
                <a:sym typeface="Arial"/>
              </a:rPr>
              <a:t>SUBSIDIOS PAGADOS AL PRODUCTOR</a:t>
            </a:r>
          </a:p>
        </p:txBody>
      </p:sp>
      <p:sp>
        <p:nvSpPr>
          <p:cNvPr id="596" name="Shape 596"/>
          <p:cNvSpPr txBox="1"/>
          <p:nvPr/>
        </p:nvSpPr>
        <p:spPr>
          <a:xfrm rot="5400000">
            <a:off x="-423068" y="4625181"/>
            <a:ext cx="14160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 Subsidio</a:t>
            </a:r>
          </a:p>
        </p:txBody>
      </p:sp>
      <p:sp>
        <p:nvSpPr>
          <p:cNvPr id="597" name="Shape 597"/>
          <p:cNvSpPr/>
          <p:nvPr/>
        </p:nvSpPr>
        <p:spPr>
          <a:xfrm>
            <a:off x="395287" y="4652962"/>
            <a:ext cx="144462" cy="287337"/>
          </a:xfrm>
          <a:prstGeom prst="leftBrace">
            <a:avLst>
              <a:gd fmla="val 8333" name="adj1"/>
              <a:gd fmla="val 50000" name="adj2"/>
            </a:avLst>
          </a:prstGeom>
          <a:solidFill>
            <a:srgbClr val="00008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98" name="Shape 598"/>
          <p:cNvSpPr txBox="1"/>
          <p:nvPr/>
        </p:nvSpPr>
        <p:spPr>
          <a:xfrm>
            <a:off x="468312" y="41497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02" name="Shape 602"/>
        <p:cNvGrpSpPr/>
        <p:nvPr/>
      </p:nvGrpSpPr>
      <p:grpSpPr>
        <a:xfrm>
          <a:off x="0" y="0"/>
          <a:ext cx="0" cy="0"/>
          <a:chOff x="0" y="0"/>
          <a:chExt cx="0" cy="0"/>
        </a:xfrm>
      </p:grpSpPr>
      <p:sp>
        <p:nvSpPr>
          <p:cNvPr id="603" name="Shape 603"/>
          <p:cNvSpPr txBox="1"/>
          <p:nvPr>
            <p:ph type="title"/>
          </p:nvPr>
        </p:nvSpPr>
        <p:spPr>
          <a:xfrm>
            <a:off x="71436" y="404812"/>
            <a:ext cx="6084887" cy="1152525"/>
          </a:xfrm>
          <a:prstGeom prst="rect">
            <a:avLst/>
          </a:prstGeom>
          <a:noFill/>
          <a:ln>
            <a:noFill/>
          </a:ln>
        </p:spPr>
        <p:txBody>
          <a:bodyPr anchorCtr="0" anchor="b" bIns="45700" lIns="0"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200" u="none" cap="none" strike="noStrike">
                <a:solidFill>
                  <a:srgbClr val="EC1914"/>
                </a:solidFill>
                <a:latin typeface="Arial"/>
                <a:ea typeface="Arial"/>
                <a:cs typeface="Arial"/>
                <a:sym typeface="Arial"/>
              </a:rPr>
              <a:t>AUMENTA EL EXCEDENTE</a:t>
            </a:r>
            <a:br>
              <a:rPr b="1" i="0" lang="en-US" sz="3200" u="none" cap="none" strike="noStrike">
                <a:solidFill>
                  <a:srgbClr val="EC1914"/>
                </a:solidFill>
                <a:latin typeface="Arial"/>
                <a:ea typeface="Arial"/>
                <a:cs typeface="Arial"/>
                <a:sym typeface="Arial"/>
              </a:rPr>
            </a:br>
            <a:r>
              <a:rPr b="1" i="0" lang="en-US" sz="3200" u="none" cap="none" strike="noStrike">
                <a:solidFill>
                  <a:srgbClr val="EC1914"/>
                </a:solidFill>
                <a:latin typeface="Arial"/>
                <a:ea typeface="Arial"/>
                <a:cs typeface="Arial"/>
                <a:sym typeface="Arial"/>
              </a:rPr>
              <a:t>DEL PRODUCTOR.</a:t>
            </a:r>
          </a:p>
        </p:txBody>
      </p:sp>
      <p:cxnSp>
        <p:nvCxnSpPr>
          <p:cNvPr id="604" name="Shape 604"/>
          <p:cNvCxnSpPr/>
          <p:nvPr/>
        </p:nvCxnSpPr>
        <p:spPr>
          <a:xfrm>
            <a:off x="827087" y="2205036"/>
            <a:ext cx="0" cy="4176711"/>
          </a:xfrm>
          <a:prstGeom prst="straightConnector1">
            <a:avLst/>
          </a:prstGeom>
          <a:noFill/>
          <a:ln cap="flat" cmpd="sng" w="9525">
            <a:solidFill>
              <a:schemeClr val="dk1"/>
            </a:solidFill>
            <a:prstDash val="solid"/>
            <a:miter/>
            <a:headEnd len="med" w="med" type="none"/>
            <a:tailEnd len="med" w="med" type="none"/>
          </a:ln>
        </p:spPr>
      </p:cxnSp>
      <p:cxnSp>
        <p:nvCxnSpPr>
          <p:cNvPr id="605" name="Shape 605"/>
          <p:cNvCxnSpPr/>
          <p:nvPr/>
        </p:nvCxnSpPr>
        <p:spPr>
          <a:xfrm>
            <a:off x="468312" y="5949950"/>
            <a:ext cx="5903911" cy="0"/>
          </a:xfrm>
          <a:prstGeom prst="straightConnector1">
            <a:avLst/>
          </a:prstGeom>
          <a:noFill/>
          <a:ln cap="flat" cmpd="sng" w="9525">
            <a:solidFill>
              <a:schemeClr val="dk1"/>
            </a:solidFill>
            <a:prstDash val="solid"/>
            <a:miter/>
            <a:headEnd len="med" w="med" type="none"/>
            <a:tailEnd len="med" w="med" type="none"/>
          </a:ln>
        </p:spPr>
      </p:cxnSp>
      <p:sp>
        <p:nvSpPr>
          <p:cNvPr id="606" name="Shape 606"/>
          <p:cNvSpPr/>
          <p:nvPr/>
        </p:nvSpPr>
        <p:spPr>
          <a:xfrm>
            <a:off x="827087" y="2205036"/>
            <a:ext cx="4465637" cy="3384550"/>
          </a:xfrm>
          <a:custGeom>
            <a:pathLst>
              <a:path extrusionOk="0" h="2201" w="2699">
                <a:moveTo>
                  <a:pt x="0" y="0"/>
                </a:moveTo>
                <a:cubicBezTo>
                  <a:pt x="54" y="88"/>
                  <a:pt x="213" y="366"/>
                  <a:pt x="327" y="530"/>
                </a:cubicBezTo>
                <a:cubicBezTo>
                  <a:pt x="441" y="694"/>
                  <a:pt x="593" y="877"/>
                  <a:pt x="685" y="984"/>
                </a:cubicBezTo>
                <a:cubicBezTo>
                  <a:pt x="777" y="1091"/>
                  <a:pt x="808" y="1105"/>
                  <a:pt x="878" y="1171"/>
                </a:cubicBezTo>
                <a:cubicBezTo>
                  <a:pt x="948" y="1237"/>
                  <a:pt x="1036" y="1318"/>
                  <a:pt x="1105" y="1379"/>
                </a:cubicBezTo>
                <a:cubicBezTo>
                  <a:pt x="1174" y="1440"/>
                  <a:pt x="1203" y="1473"/>
                  <a:pt x="1294" y="1539"/>
                </a:cubicBezTo>
                <a:cubicBezTo>
                  <a:pt x="1385" y="1605"/>
                  <a:pt x="1501" y="1689"/>
                  <a:pt x="1652" y="1776"/>
                </a:cubicBezTo>
                <a:cubicBezTo>
                  <a:pt x="1803" y="1863"/>
                  <a:pt x="2024" y="1988"/>
                  <a:pt x="2198" y="2059"/>
                </a:cubicBezTo>
                <a:cubicBezTo>
                  <a:pt x="2373" y="2130"/>
                  <a:pt x="2595" y="2172"/>
                  <a:pt x="2699" y="2201"/>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07" name="Shape 607"/>
          <p:cNvSpPr/>
          <p:nvPr/>
        </p:nvSpPr>
        <p:spPr>
          <a:xfrm>
            <a:off x="823912" y="2205036"/>
            <a:ext cx="4343400" cy="2906711"/>
          </a:xfrm>
          <a:custGeom>
            <a:pathLst>
              <a:path extrusionOk="0" h="1831" w="2736">
                <a:moveTo>
                  <a:pt x="0" y="1831"/>
                </a:moveTo>
                <a:cubicBezTo>
                  <a:pt x="147" y="1816"/>
                  <a:pt x="608" y="1802"/>
                  <a:pt x="880" y="1738"/>
                </a:cubicBezTo>
                <a:cubicBezTo>
                  <a:pt x="1152" y="1674"/>
                  <a:pt x="1426" y="1558"/>
                  <a:pt x="1630" y="1445"/>
                </a:cubicBezTo>
                <a:cubicBezTo>
                  <a:pt x="1834" y="1332"/>
                  <a:pt x="1951" y="1232"/>
                  <a:pt x="2104" y="1059"/>
                </a:cubicBezTo>
                <a:cubicBezTo>
                  <a:pt x="2257" y="886"/>
                  <a:pt x="2443" y="582"/>
                  <a:pt x="2548" y="406"/>
                </a:cubicBezTo>
                <a:cubicBezTo>
                  <a:pt x="2653" y="230"/>
                  <a:pt x="2697" y="85"/>
                  <a:pt x="2736"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08" name="Shape 608"/>
          <p:cNvSpPr/>
          <p:nvPr/>
        </p:nvSpPr>
        <p:spPr>
          <a:xfrm>
            <a:off x="827087" y="2852736"/>
            <a:ext cx="4484686" cy="2738437"/>
          </a:xfrm>
          <a:custGeom>
            <a:pathLst>
              <a:path extrusionOk="0" h="1725" w="2825">
                <a:moveTo>
                  <a:pt x="0" y="1725"/>
                </a:moveTo>
                <a:cubicBezTo>
                  <a:pt x="72" y="1720"/>
                  <a:pt x="286" y="1716"/>
                  <a:pt x="435" y="1697"/>
                </a:cubicBezTo>
                <a:cubicBezTo>
                  <a:pt x="584" y="1678"/>
                  <a:pt x="700" y="1668"/>
                  <a:pt x="897" y="1612"/>
                </a:cubicBezTo>
                <a:cubicBezTo>
                  <a:pt x="1094" y="1556"/>
                  <a:pt x="1415" y="1462"/>
                  <a:pt x="1619" y="1362"/>
                </a:cubicBezTo>
                <a:cubicBezTo>
                  <a:pt x="1823" y="1262"/>
                  <a:pt x="1954" y="1172"/>
                  <a:pt x="2119" y="1011"/>
                </a:cubicBezTo>
                <a:cubicBezTo>
                  <a:pt x="2284" y="849"/>
                  <a:pt x="2491" y="559"/>
                  <a:pt x="2609" y="391"/>
                </a:cubicBezTo>
                <a:cubicBezTo>
                  <a:pt x="2726" y="223"/>
                  <a:pt x="2780" y="82"/>
                  <a:pt x="2825"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609" name="Shape 609"/>
          <p:cNvCxnSpPr/>
          <p:nvPr/>
        </p:nvCxnSpPr>
        <p:spPr>
          <a:xfrm>
            <a:off x="827087" y="4652962"/>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610" name="Shape 610"/>
          <p:cNvCxnSpPr/>
          <p:nvPr/>
        </p:nvCxnSpPr>
        <p:spPr>
          <a:xfrm>
            <a:off x="827087" y="4941887"/>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611" name="Shape 611"/>
          <p:cNvCxnSpPr/>
          <p:nvPr/>
        </p:nvCxnSpPr>
        <p:spPr>
          <a:xfrm>
            <a:off x="3563937" y="4437062"/>
            <a:ext cx="0" cy="1512886"/>
          </a:xfrm>
          <a:prstGeom prst="straightConnector1">
            <a:avLst/>
          </a:prstGeom>
          <a:noFill/>
          <a:ln cap="flat" cmpd="sng" w="9525">
            <a:solidFill>
              <a:schemeClr val="dk1"/>
            </a:solidFill>
            <a:prstDash val="solid"/>
            <a:miter/>
            <a:headEnd len="med" w="med" type="none"/>
            <a:tailEnd len="med" w="med" type="none"/>
          </a:ln>
        </p:spPr>
      </p:cxnSp>
      <p:cxnSp>
        <p:nvCxnSpPr>
          <p:cNvPr id="612" name="Shape 612"/>
          <p:cNvCxnSpPr/>
          <p:nvPr/>
        </p:nvCxnSpPr>
        <p:spPr>
          <a:xfrm>
            <a:off x="3059111" y="4437062"/>
            <a:ext cx="0" cy="1512886"/>
          </a:xfrm>
          <a:prstGeom prst="straightConnector1">
            <a:avLst/>
          </a:prstGeom>
          <a:noFill/>
          <a:ln cap="flat" cmpd="sng" w="9525">
            <a:solidFill>
              <a:schemeClr val="dk1"/>
            </a:solidFill>
            <a:prstDash val="solid"/>
            <a:miter/>
            <a:headEnd len="med" w="med" type="none"/>
            <a:tailEnd len="med" w="med" type="none"/>
          </a:ln>
        </p:spPr>
      </p:cxnSp>
      <p:cxnSp>
        <p:nvCxnSpPr>
          <p:cNvPr id="613" name="Shape 613"/>
          <p:cNvCxnSpPr/>
          <p:nvPr/>
        </p:nvCxnSpPr>
        <p:spPr>
          <a:xfrm>
            <a:off x="827087" y="4437062"/>
            <a:ext cx="2736850" cy="0"/>
          </a:xfrm>
          <a:prstGeom prst="straightConnector1">
            <a:avLst/>
          </a:prstGeom>
          <a:noFill/>
          <a:ln cap="flat" cmpd="sng" w="9525">
            <a:solidFill>
              <a:schemeClr val="dk1"/>
            </a:solidFill>
            <a:prstDash val="solid"/>
            <a:miter/>
            <a:headEnd len="med" w="med" type="none"/>
            <a:tailEnd len="med" w="med" type="none"/>
          </a:ln>
        </p:spPr>
      </p:cxnSp>
      <p:sp>
        <p:nvSpPr>
          <p:cNvPr id="614" name="Shape 614"/>
          <p:cNvSpPr txBox="1"/>
          <p:nvPr/>
        </p:nvSpPr>
        <p:spPr>
          <a:xfrm>
            <a:off x="504825" y="4437062"/>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a:t>
            </a:r>
          </a:p>
        </p:txBody>
      </p:sp>
      <p:sp>
        <p:nvSpPr>
          <p:cNvPr id="615" name="Shape 615"/>
          <p:cNvSpPr txBox="1"/>
          <p:nvPr/>
        </p:nvSpPr>
        <p:spPr>
          <a:xfrm>
            <a:off x="2843211" y="58769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sp>
        <p:nvSpPr>
          <p:cNvPr id="616" name="Shape 616"/>
          <p:cNvSpPr txBox="1"/>
          <p:nvPr/>
        </p:nvSpPr>
        <p:spPr>
          <a:xfrm>
            <a:off x="468312" y="4725987"/>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P1</a:t>
            </a:r>
          </a:p>
        </p:txBody>
      </p:sp>
      <p:sp>
        <p:nvSpPr>
          <p:cNvPr id="617" name="Shape 617"/>
          <p:cNvSpPr txBox="1"/>
          <p:nvPr/>
        </p:nvSpPr>
        <p:spPr>
          <a:xfrm>
            <a:off x="3384550" y="58769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Q1</a:t>
            </a:r>
          </a:p>
        </p:txBody>
      </p:sp>
      <p:sp>
        <p:nvSpPr>
          <p:cNvPr id="618" name="Shape 618"/>
          <p:cNvSpPr txBox="1"/>
          <p:nvPr/>
        </p:nvSpPr>
        <p:spPr>
          <a:xfrm>
            <a:off x="5580062" y="3284537"/>
            <a:ext cx="3529012" cy="2376487"/>
          </a:xfrm>
          <a:prstGeom prst="rect">
            <a:avLst/>
          </a:prstGeom>
          <a:noFill/>
          <a:ln>
            <a:noFill/>
          </a:ln>
        </p:spPr>
        <p:txBody>
          <a:bodyPr anchorCtr="0" anchor="t" bIns="45700" lIns="91425" rIns="91425" tIns="45700">
            <a:noAutofit/>
          </a:bodyPr>
          <a:lstStyle/>
          <a:p>
            <a:pPr indent="0" lvl="0" marL="0" marR="0" rtl="0" algn="l">
              <a:lnSpc>
                <a:spcPct val="80000"/>
              </a:lnSpc>
              <a:spcBef>
                <a:spcPts val="0"/>
              </a:spcBef>
              <a:spcAft>
                <a:spcPts val="0"/>
              </a:spcAft>
              <a:buClr>
                <a:schemeClr val="dk1"/>
              </a:buClr>
              <a:buSzPct val="25000"/>
              <a:buFont typeface="Arial"/>
              <a:buNone/>
            </a:pPr>
            <a:r>
              <a:rPr b="0" i="0" lang="en-US" sz="2100" u="none" cap="none" strike="noStrike">
                <a:solidFill>
                  <a:schemeClr val="dk1"/>
                </a:solidFill>
                <a:latin typeface="Arial"/>
                <a:ea typeface="Arial"/>
                <a:cs typeface="Arial"/>
                <a:sym typeface="Arial"/>
              </a:rPr>
              <a:t>El estado al entregar el subsidio </a:t>
            </a:r>
            <a:r>
              <a:rPr b="1" i="0" lang="en-US" sz="2100" u="none" cap="none" strike="noStrike">
                <a:solidFill>
                  <a:srgbClr val="EC1914"/>
                </a:solidFill>
                <a:latin typeface="Arial"/>
                <a:ea typeface="Arial"/>
                <a:cs typeface="Arial"/>
                <a:sym typeface="Arial"/>
              </a:rPr>
              <a:t>mejora</a:t>
            </a:r>
            <a:r>
              <a:rPr b="0" i="0" lang="en-US" sz="2100" u="none" cap="none" strike="noStrike">
                <a:solidFill>
                  <a:schemeClr val="dk1"/>
                </a:solidFill>
                <a:latin typeface="Arial"/>
                <a:ea typeface="Arial"/>
                <a:cs typeface="Arial"/>
                <a:sym typeface="Arial"/>
              </a:rPr>
              <a:t> la oferta y aumenta el excedente de los productores eficientes.</a:t>
            </a:r>
          </a:p>
          <a:p>
            <a:pPr indent="0" lvl="0" marL="0" marR="0" rtl="0" algn="l">
              <a:lnSpc>
                <a:spcPct val="80000"/>
              </a:lnSpc>
              <a:spcBef>
                <a:spcPts val="420"/>
              </a:spcBef>
              <a:spcAft>
                <a:spcPts val="0"/>
              </a:spcAft>
              <a:buClr>
                <a:schemeClr val="dk1"/>
              </a:buClr>
              <a:buSzPct val="25000"/>
              <a:buFont typeface="Arial"/>
              <a:buNone/>
            </a:pPr>
            <a:r>
              <a:rPr b="0" i="0" lang="en-US" sz="2100" u="none" cap="none" strike="noStrike">
                <a:solidFill>
                  <a:schemeClr val="dk1"/>
                </a:solidFill>
                <a:latin typeface="Arial"/>
                <a:ea typeface="Arial"/>
                <a:cs typeface="Arial"/>
                <a:sym typeface="Arial"/>
              </a:rPr>
              <a:t>Se incorporan nuevos productores.</a:t>
            </a:r>
          </a:p>
          <a:p>
            <a:pPr indent="0" lvl="0" marL="0" marR="0" rtl="0" algn="l">
              <a:lnSpc>
                <a:spcPct val="80000"/>
              </a:lnSpc>
              <a:spcBef>
                <a:spcPts val="420"/>
              </a:spcBef>
              <a:spcAft>
                <a:spcPts val="0"/>
              </a:spcAft>
              <a:buClr>
                <a:schemeClr val="dk1"/>
              </a:buClr>
              <a:buSzPct val="25000"/>
              <a:buFont typeface="Arial"/>
              <a:buNone/>
            </a:pPr>
            <a:r>
              <a:rPr b="0" i="0" lang="en-US" sz="2100" u="none" cap="none" strike="noStrike">
                <a:solidFill>
                  <a:schemeClr val="dk1"/>
                </a:solidFill>
                <a:latin typeface="Arial"/>
                <a:ea typeface="Arial"/>
                <a:cs typeface="Arial"/>
                <a:sym typeface="Arial"/>
              </a:rPr>
              <a:t>El nivel de transacciones aumenta</a:t>
            </a:r>
          </a:p>
        </p:txBody>
      </p:sp>
      <p:sp>
        <p:nvSpPr>
          <p:cNvPr id="619" name="Shape 619"/>
          <p:cNvSpPr/>
          <p:nvPr/>
        </p:nvSpPr>
        <p:spPr>
          <a:xfrm>
            <a:off x="827087" y="4652962"/>
            <a:ext cx="2235200" cy="454025"/>
          </a:xfrm>
          <a:custGeom>
            <a:pathLst>
              <a:path extrusionOk="0" h="286" w="1408">
                <a:moveTo>
                  <a:pt x="10" y="0"/>
                </a:moveTo>
                <a:lnTo>
                  <a:pt x="0" y="176"/>
                </a:lnTo>
                <a:lnTo>
                  <a:pt x="8" y="286"/>
                </a:lnTo>
                <a:lnTo>
                  <a:pt x="387" y="270"/>
                </a:lnTo>
                <a:lnTo>
                  <a:pt x="680" y="232"/>
                </a:lnTo>
                <a:lnTo>
                  <a:pt x="963" y="166"/>
                </a:lnTo>
                <a:lnTo>
                  <a:pt x="1237" y="81"/>
                </a:lnTo>
                <a:lnTo>
                  <a:pt x="1408" y="5"/>
                </a:lnTo>
                <a:lnTo>
                  <a:pt x="1066" y="0"/>
                </a:lnTo>
                <a:lnTo>
                  <a:pt x="628" y="0"/>
                </a:lnTo>
                <a:lnTo>
                  <a:pt x="322" y="0"/>
                </a:lnTo>
                <a:lnTo>
                  <a:pt x="10" y="0"/>
                </a:lnTo>
                <a:close/>
              </a:path>
            </a:pathLst>
          </a:custGeom>
          <a:solidFill>
            <a:srgbClr val="FF0000">
              <a:alpha val="66666"/>
            </a:srgbClr>
          </a:solidFill>
          <a:ln cap="flat" cmpd="sng" w="349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20" name="Shape 620"/>
          <p:cNvSpPr/>
          <p:nvPr/>
        </p:nvSpPr>
        <p:spPr>
          <a:xfrm>
            <a:off x="827087" y="4437062"/>
            <a:ext cx="2736850" cy="215900"/>
          </a:xfrm>
          <a:custGeom>
            <a:pathLst>
              <a:path extrusionOk="0" h="136" w="1724">
                <a:moveTo>
                  <a:pt x="0" y="136"/>
                </a:moveTo>
                <a:lnTo>
                  <a:pt x="454" y="136"/>
                </a:lnTo>
                <a:lnTo>
                  <a:pt x="908" y="136"/>
                </a:lnTo>
                <a:lnTo>
                  <a:pt x="1270" y="136"/>
                </a:lnTo>
                <a:lnTo>
                  <a:pt x="1406" y="136"/>
                </a:lnTo>
                <a:lnTo>
                  <a:pt x="1556" y="79"/>
                </a:lnTo>
                <a:lnTo>
                  <a:pt x="1724" y="0"/>
                </a:lnTo>
                <a:lnTo>
                  <a:pt x="1225" y="0"/>
                </a:lnTo>
                <a:lnTo>
                  <a:pt x="817" y="0"/>
                </a:lnTo>
                <a:lnTo>
                  <a:pt x="363" y="0"/>
                </a:lnTo>
                <a:lnTo>
                  <a:pt x="0" y="0"/>
                </a:lnTo>
                <a:lnTo>
                  <a:pt x="0" y="136"/>
                </a:lnTo>
                <a:close/>
              </a:path>
            </a:pathLst>
          </a:custGeom>
          <a:solidFill>
            <a:schemeClr val="accent1"/>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21" name="Shape 621"/>
          <p:cNvSpPr txBox="1"/>
          <p:nvPr/>
        </p:nvSpPr>
        <p:spPr>
          <a:xfrm>
            <a:off x="0" y="2060575"/>
            <a:ext cx="900111"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PRECIO</a:t>
            </a:r>
          </a:p>
        </p:txBody>
      </p:sp>
      <p:sp>
        <p:nvSpPr>
          <p:cNvPr id="622" name="Shape 622"/>
          <p:cNvSpPr txBox="1"/>
          <p:nvPr/>
        </p:nvSpPr>
        <p:spPr>
          <a:xfrm>
            <a:off x="1260475" y="2565400"/>
            <a:ext cx="1223961"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DEMANDA</a:t>
            </a:r>
          </a:p>
        </p:txBody>
      </p:sp>
      <p:sp>
        <p:nvSpPr>
          <p:cNvPr id="623" name="Shape 623"/>
          <p:cNvSpPr txBox="1"/>
          <p:nvPr/>
        </p:nvSpPr>
        <p:spPr>
          <a:xfrm>
            <a:off x="3708400" y="2419350"/>
            <a:ext cx="1223961"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 INICIAL</a:t>
            </a:r>
          </a:p>
        </p:txBody>
      </p:sp>
      <p:sp>
        <p:nvSpPr>
          <p:cNvPr id="624" name="Shape 624"/>
          <p:cNvSpPr txBox="1"/>
          <p:nvPr/>
        </p:nvSpPr>
        <p:spPr>
          <a:xfrm>
            <a:off x="5292725" y="2565400"/>
            <a:ext cx="1008062" cy="6477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OFERTA</a:t>
            </a:r>
          </a:p>
          <a:p>
            <a:pPr indent="0" lvl="0" marL="0" marR="0" rtl="0" algn="ctr">
              <a:lnSpc>
                <a:spcPct val="100000"/>
              </a:lnSpc>
              <a:spcBef>
                <a:spcPts val="0"/>
              </a:spcBef>
              <a:spcAft>
                <a:spcPts val="0"/>
              </a:spcAft>
              <a:buClr>
                <a:schemeClr val="dk2"/>
              </a:buClr>
              <a:buSzPct val="25000"/>
              <a:buFont typeface="Arial"/>
              <a:buNone/>
            </a:pPr>
            <a:r>
              <a:rPr b="1" i="0" lang="en-US" sz="1800" u="none" cap="none" strike="noStrike">
                <a:solidFill>
                  <a:schemeClr val="dk2"/>
                </a:solidFill>
                <a:latin typeface="Arial"/>
                <a:ea typeface="Arial"/>
                <a:cs typeface="Arial"/>
                <a:sym typeface="Arial"/>
              </a:rPr>
              <a:t>FINAL</a:t>
            </a:r>
          </a:p>
        </p:txBody>
      </p:sp>
      <p:sp>
        <p:nvSpPr>
          <p:cNvPr id="625" name="Shape 625"/>
          <p:cNvSpPr txBox="1"/>
          <p:nvPr/>
        </p:nvSpPr>
        <p:spPr>
          <a:xfrm>
            <a:off x="5745162" y="587692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626" name="Shape 626"/>
          <p:cNvSpPr txBox="1"/>
          <p:nvPr/>
        </p:nvSpPr>
        <p:spPr>
          <a:xfrm>
            <a:off x="1331912" y="4365625"/>
            <a:ext cx="1419225"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AUMENTO</a:t>
            </a:r>
          </a:p>
        </p:txBody>
      </p:sp>
      <p:pic>
        <p:nvPicPr>
          <p:cNvPr id="627" name="Shape 627"/>
          <p:cNvPicPr preferRelativeResize="0"/>
          <p:nvPr>
            <p:ph idx="1" type="body"/>
          </p:nvPr>
        </p:nvPicPr>
        <p:blipFill rotWithShape="1">
          <a:blip r:embed="rId3">
            <a:alphaModFix/>
          </a:blip>
          <a:srcRect b="0" l="0" r="0" t="0"/>
          <a:stretch/>
        </p:blipFill>
        <p:spPr>
          <a:xfrm>
            <a:off x="6011862" y="587375"/>
            <a:ext cx="1930399" cy="609599"/>
          </a:xfrm>
          <a:prstGeom prst="rect">
            <a:avLst/>
          </a:prstGeom>
          <a:noFill/>
          <a:ln>
            <a:noFill/>
          </a:ln>
        </p:spPr>
      </p:pic>
      <p:sp>
        <p:nvSpPr>
          <p:cNvPr id="628" name="Shape 628"/>
          <p:cNvSpPr txBox="1"/>
          <p:nvPr/>
        </p:nvSpPr>
        <p:spPr>
          <a:xfrm>
            <a:off x="34925" y="115886"/>
            <a:ext cx="9047161" cy="503236"/>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200" u="none" cap="none" strike="noStrike">
                <a:solidFill>
                  <a:schemeClr val="dk2"/>
                </a:solidFill>
                <a:latin typeface="Arial"/>
                <a:ea typeface="Arial"/>
                <a:cs typeface="Arial"/>
                <a:sym typeface="Arial"/>
              </a:rPr>
              <a:t>SUBSIDIOS PAGADOS AL PRODUCTOR</a:t>
            </a:r>
          </a:p>
        </p:txBody>
      </p:sp>
      <p:sp>
        <p:nvSpPr>
          <p:cNvPr id="629" name="Shape 629"/>
          <p:cNvSpPr txBox="1"/>
          <p:nvPr/>
        </p:nvSpPr>
        <p:spPr>
          <a:xfrm rot="5400000">
            <a:off x="-423068" y="4385467"/>
            <a:ext cx="14160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 Subsidio</a:t>
            </a:r>
          </a:p>
        </p:txBody>
      </p:sp>
      <p:sp>
        <p:nvSpPr>
          <p:cNvPr id="630" name="Shape 630"/>
          <p:cNvSpPr txBox="1"/>
          <p:nvPr/>
        </p:nvSpPr>
        <p:spPr>
          <a:xfrm>
            <a:off x="468312" y="4221162"/>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P´1</a:t>
            </a:r>
          </a:p>
        </p:txBody>
      </p:sp>
      <p:sp>
        <p:nvSpPr>
          <p:cNvPr id="631" name="Shape 631"/>
          <p:cNvSpPr/>
          <p:nvPr/>
        </p:nvSpPr>
        <p:spPr>
          <a:xfrm>
            <a:off x="395287" y="4365625"/>
            <a:ext cx="144462" cy="287337"/>
          </a:xfrm>
          <a:prstGeom prst="leftBrace">
            <a:avLst>
              <a:gd fmla="val 8333" name="adj1"/>
              <a:gd fmla="val 50000" name="adj2"/>
            </a:avLst>
          </a:prstGeom>
          <a:solidFill>
            <a:srgbClr val="00008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35" name="Shape 635"/>
        <p:cNvGrpSpPr/>
        <p:nvPr/>
      </p:nvGrpSpPr>
      <p:grpSpPr>
        <a:xfrm>
          <a:off x="0" y="0"/>
          <a:ext cx="0" cy="0"/>
          <a:chOff x="0" y="0"/>
          <a:chExt cx="0" cy="0"/>
        </a:xfrm>
      </p:grpSpPr>
      <p:sp>
        <p:nvSpPr>
          <p:cNvPr id="636" name="Shape 636"/>
          <p:cNvSpPr/>
          <p:nvPr/>
        </p:nvSpPr>
        <p:spPr>
          <a:xfrm>
            <a:off x="827087" y="4652962"/>
            <a:ext cx="2222500" cy="454025"/>
          </a:xfrm>
          <a:custGeom>
            <a:pathLst>
              <a:path extrusionOk="0" h="286" w="1400">
                <a:moveTo>
                  <a:pt x="2" y="0"/>
                </a:moveTo>
                <a:lnTo>
                  <a:pt x="0" y="150"/>
                </a:lnTo>
                <a:lnTo>
                  <a:pt x="0" y="286"/>
                </a:lnTo>
                <a:lnTo>
                  <a:pt x="379" y="270"/>
                </a:lnTo>
                <a:lnTo>
                  <a:pt x="672" y="232"/>
                </a:lnTo>
                <a:lnTo>
                  <a:pt x="955" y="166"/>
                </a:lnTo>
                <a:lnTo>
                  <a:pt x="1229" y="81"/>
                </a:lnTo>
                <a:lnTo>
                  <a:pt x="1400" y="5"/>
                </a:lnTo>
                <a:lnTo>
                  <a:pt x="1058" y="0"/>
                </a:lnTo>
                <a:lnTo>
                  <a:pt x="620" y="0"/>
                </a:lnTo>
                <a:lnTo>
                  <a:pt x="314" y="0"/>
                </a:lnTo>
                <a:lnTo>
                  <a:pt x="2" y="0"/>
                </a:lnTo>
                <a:close/>
              </a:path>
            </a:pathLst>
          </a:custGeom>
          <a:solidFill>
            <a:srgbClr val="FF0000">
              <a:alpha val="66666"/>
            </a:srgbClr>
          </a:solidFill>
          <a:ln cap="flat" cmpd="sng" w="349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37" name="Shape 637"/>
          <p:cNvSpPr/>
          <p:nvPr/>
        </p:nvSpPr>
        <p:spPr>
          <a:xfrm>
            <a:off x="827087" y="2205036"/>
            <a:ext cx="4465637" cy="3384550"/>
          </a:xfrm>
          <a:custGeom>
            <a:pathLst>
              <a:path extrusionOk="0" h="2201" w="2699">
                <a:moveTo>
                  <a:pt x="0" y="0"/>
                </a:moveTo>
                <a:cubicBezTo>
                  <a:pt x="54" y="88"/>
                  <a:pt x="213" y="366"/>
                  <a:pt x="327" y="530"/>
                </a:cubicBezTo>
                <a:cubicBezTo>
                  <a:pt x="441" y="694"/>
                  <a:pt x="593" y="877"/>
                  <a:pt x="685" y="984"/>
                </a:cubicBezTo>
                <a:cubicBezTo>
                  <a:pt x="777" y="1091"/>
                  <a:pt x="808" y="1105"/>
                  <a:pt x="878" y="1171"/>
                </a:cubicBezTo>
                <a:cubicBezTo>
                  <a:pt x="948" y="1237"/>
                  <a:pt x="1036" y="1318"/>
                  <a:pt x="1105" y="1379"/>
                </a:cubicBezTo>
                <a:cubicBezTo>
                  <a:pt x="1174" y="1440"/>
                  <a:pt x="1203" y="1473"/>
                  <a:pt x="1294" y="1539"/>
                </a:cubicBezTo>
                <a:cubicBezTo>
                  <a:pt x="1385" y="1605"/>
                  <a:pt x="1501" y="1689"/>
                  <a:pt x="1652" y="1776"/>
                </a:cubicBezTo>
                <a:cubicBezTo>
                  <a:pt x="1803" y="1863"/>
                  <a:pt x="2024" y="1988"/>
                  <a:pt x="2198" y="2059"/>
                </a:cubicBezTo>
                <a:cubicBezTo>
                  <a:pt x="2373" y="2130"/>
                  <a:pt x="2595" y="2172"/>
                  <a:pt x="2699" y="2201"/>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638" name="Shape 638"/>
          <p:cNvCxnSpPr/>
          <p:nvPr/>
        </p:nvCxnSpPr>
        <p:spPr>
          <a:xfrm>
            <a:off x="3059111" y="4652962"/>
            <a:ext cx="0" cy="1296986"/>
          </a:xfrm>
          <a:prstGeom prst="straightConnector1">
            <a:avLst/>
          </a:prstGeom>
          <a:noFill/>
          <a:ln cap="flat" cmpd="sng" w="9525">
            <a:solidFill>
              <a:schemeClr val="dk1"/>
            </a:solidFill>
            <a:prstDash val="solid"/>
            <a:miter/>
            <a:headEnd len="med" w="med" type="none"/>
            <a:tailEnd len="med" w="med" type="none"/>
          </a:ln>
        </p:spPr>
      </p:cxnSp>
      <p:sp>
        <p:nvSpPr>
          <p:cNvPr id="639" name="Shape 639"/>
          <p:cNvSpPr/>
          <p:nvPr/>
        </p:nvSpPr>
        <p:spPr>
          <a:xfrm>
            <a:off x="827087" y="2205036"/>
            <a:ext cx="4343400" cy="2906711"/>
          </a:xfrm>
          <a:custGeom>
            <a:pathLst>
              <a:path extrusionOk="0" h="1831" w="2736">
                <a:moveTo>
                  <a:pt x="0" y="1831"/>
                </a:moveTo>
                <a:cubicBezTo>
                  <a:pt x="147" y="1816"/>
                  <a:pt x="643" y="1791"/>
                  <a:pt x="880" y="1738"/>
                </a:cubicBezTo>
                <a:cubicBezTo>
                  <a:pt x="1117" y="1685"/>
                  <a:pt x="1258" y="1600"/>
                  <a:pt x="1424" y="1510"/>
                </a:cubicBezTo>
                <a:cubicBezTo>
                  <a:pt x="1590" y="1420"/>
                  <a:pt x="1745" y="1310"/>
                  <a:pt x="1877" y="1198"/>
                </a:cubicBezTo>
                <a:cubicBezTo>
                  <a:pt x="2009" y="1086"/>
                  <a:pt x="2113" y="966"/>
                  <a:pt x="2217" y="839"/>
                </a:cubicBezTo>
                <a:cubicBezTo>
                  <a:pt x="2321" y="712"/>
                  <a:pt x="2415" y="573"/>
                  <a:pt x="2501" y="433"/>
                </a:cubicBezTo>
                <a:cubicBezTo>
                  <a:pt x="2587" y="293"/>
                  <a:pt x="2687" y="90"/>
                  <a:pt x="2736"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40" name="Shape 640"/>
          <p:cNvSpPr/>
          <p:nvPr/>
        </p:nvSpPr>
        <p:spPr>
          <a:xfrm>
            <a:off x="827087" y="4646612"/>
            <a:ext cx="2724150" cy="295275"/>
          </a:xfrm>
          <a:custGeom>
            <a:pathLst>
              <a:path extrusionOk="0" h="186" w="1716">
                <a:moveTo>
                  <a:pt x="9" y="0"/>
                </a:moveTo>
                <a:lnTo>
                  <a:pt x="310" y="4"/>
                </a:lnTo>
                <a:lnTo>
                  <a:pt x="582" y="4"/>
                </a:lnTo>
                <a:lnTo>
                  <a:pt x="1036" y="4"/>
                </a:lnTo>
                <a:lnTo>
                  <a:pt x="1398" y="4"/>
                </a:lnTo>
                <a:lnTo>
                  <a:pt x="1529" y="66"/>
                </a:lnTo>
                <a:lnTo>
                  <a:pt x="1716" y="186"/>
                </a:lnTo>
                <a:lnTo>
                  <a:pt x="1580" y="186"/>
                </a:lnTo>
                <a:lnTo>
                  <a:pt x="1172" y="186"/>
                </a:lnTo>
                <a:lnTo>
                  <a:pt x="673" y="186"/>
                </a:lnTo>
                <a:lnTo>
                  <a:pt x="355" y="186"/>
                </a:lnTo>
                <a:lnTo>
                  <a:pt x="0" y="170"/>
                </a:lnTo>
                <a:lnTo>
                  <a:pt x="9" y="0"/>
                </a:lnTo>
                <a:close/>
              </a:path>
            </a:pathLst>
          </a:custGeom>
          <a:solidFill>
            <a:srgbClr val="00FF00"/>
          </a:solidFill>
          <a:ln cap="flat" cmpd="sng" w="2857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41" name="Shape 641"/>
          <p:cNvSpPr txBox="1"/>
          <p:nvPr>
            <p:ph idx="4294967295" type="title"/>
          </p:nvPr>
        </p:nvSpPr>
        <p:spPr>
          <a:xfrm>
            <a:off x="395287" y="404812"/>
            <a:ext cx="3600450" cy="112395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200" u="none" cap="none" strike="noStrike">
                <a:solidFill>
                  <a:srgbClr val="EC1914"/>
                </a:solidFill>
                <a:latin typeface="Arial"/>
                <a:ea typeface="Arial"/>
                <a:cs typeface="Arial"/>
                <a:sym typeface="Arial"/>
              </a:rPr>
              <a:t>SUBSIDIO </a:t>
            </a:r>
            <a:br>
              <a:rPr b="1" i="0" lang="en-US" sz="3200" u="none" cap="none" strike="noStrike">
                <a:solidFill>
                  <a:srgbClr val="EC1914"/>
                </a:solidFill>
                <a:latin typeface="Arial"/>
                <a:ea typeface="Arial"/>
                <a:cs typeface="Arial"/>
                <a:sym typeface="Arial"/>
              </a:rPr>
            </a:br>
            <a:r>
              <a:rPr b="1" i="0" lang="en-US" sz="3200" u="none" cap="none" strike="noStrike">
                <a:solidFill>
                  <a:srgbClr val="EC1914"/>
                </a:solidFill>
                <a:latin typeface="Arial"/>
                <a:ea typeface="Arial"/>
                <a:cs typeface="Arial"/>
                <a:sym typeface="Arial"/>
              </a:rPr>
              <a:t>COSTO FISCAL</a:t>
            </a:r>
          </a:p>
        </p:txBody>
      </p:sp>
      <p:sp>
        <p:nvSpPr>
          <p:cNvPr id="642" name="Shape 642"/>
          <p:cNvSpPr txBox="1"/>
          <p:nvPr>
            <p:ph idx="4294967295" type="body"/>
          </p:nvPr>
        </p:nvSpPr>
        <p:spPr>
          <a:xfrm>
            <a:off x="5364162" y="1754186"/>
            <a:ext cx="3744912" cy="2106611"/>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ymbol"/>
              <a:buNone/>
            </a:pPr>
            <a:r>
              <a:rPr b="0" i="0" lang="en-US" sz="2000" u="none" cap="none" strike="noStrike">
                <a:solidFill>
                  <a:schemeClr val="dk1"/>
                </a:solidFill>
                <a:latin typeface="Arial"/>
                <a:ea typeface="Arial"/>
                <a:cs typeface="Arial"/>
                <a:sym typeface="Arial"/>
              </a:rPr>
              <a:t>El estado al subsidiar consigue aumentar el beneficio social de este mercado, pero tendrá un costo fiscal mayor que el beneficio apropiado en parte por los consumidores y en parte por los productores.</a:t>
            </a:r>
          </a:p>
        </p:txBody>
      </p:sp>
      <p:cxnSp>
        <p:nvCxnSpPr>
          <p:cNvPr id="643" name="Shape 643"/>
          <p:cNvCxnSpPr/>
          <p:nvPr/>
        </p:nvCxnSpPr>
        <p:spPr>
          <a:xfrm>
            <a:off x="827087" y="1557337"/>
            <a:ext cx="0" cy="4824412"/>
          </a:xfrm>
          <a:prstGeom prst="straightConnector1">
            <a:avLst/>
          </a:prstGeom>
          <a:noFill/>
          <a:ln cap="flat" cmpd="sng" w="9525">
            <a:solidFill>
              <a:schemeClr val="dk1"/>
            </a:solidFill>
            <a:prstDash val="solid"/>
            <a:miter/>
            <a:headEnd len="med" w="med" type="none"/>
            <a:tailEnd len="med" w="med" type="none"/>
          </a:ln>
        </p:spPr>
      </p:cxnSp>
      <p:cxnSp>
        <p:nvCxnSpPr>
          <p:cNvPr id="644" name="Shape 644"/>
          <p:cNvCxnSpPr/>
          <p:nvPr/>
        </p:nvCxnSpPr>
        <p:spPr>
          <a:xfrm>
            <a:off x="468312" y="5949950"/>
            <a:ext cx="5903911" cy="0"/>
          </a:xfrm>
          <a:prstGeom prst="straightConnector1">
            <a:avLst/>
          </a:prstGeom>
          <a:noFill/>
          <a:ln cap="flat" cmpd="sng" w="9525">
            <a:solidFill>
              <a:schemeClr val="dk1"/>
            </a:solidFill>
            <a:prstDash val="solid"/>
            <a:miter/>
            <a:headEnd len="med" w="med" type="none"/>
            <a:tailEnd len="med" w="med" type="none"/>
          </a:ln>
        </p:spPr>
      </p:cxnSp>
      <p:cxnSp>
        <p:nvCxnSpPr>
          <p:cNvPr id="645" name="Shape 645"/>
          <p:cNvCxnSpPr/>
          <p:nvPr/>
        </p:nvCxnSpPr>
        <p:spPr>
          <a:xfrm>
            <a:off x="827087" y="4652962"/>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646" name="Shape 646"/>
          <p:cNvCxnSpPr/>
          <p:nvPr/>
        </p:nvCxnSpPr>
        <p:spPr>
          <a:xfrm>
            <a:off x="827087" y="4941887"/>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647" name="Shape 647"/>
          <p:cNvCxnSpPr/>
          <p:nvPr/>
        </p:nvCxnSpPr>
        <p:spPr>
          <a:xfrm>
            <a:off x="3563937" y="4292600"/>
            <a:ext cx="0" cy="1657350"/>
          </a:xfrm>
          <a:prstGeom prst="straightConnector1">
            <a:avLst/>
          </a:prstGeom>
          <a:noFill/>
          <a:ln cap="flat" cmpd="sng" w="9525">
            <a:solidFill>
              <a:schemeClr val="dk1"/>
            </a:solidFill>
            <a:prstDash val="solid"/>
            <a:miter/>
            <a:headEnd len="med" w="med" type="none"/>
            <a:tailEnd len="med" w="med" type="none"/>
          </a:ln>
        </p:spPr>
      </p:cxnSp>
      <p:cxnSp>
        <p:nvCxnSpPr>
          <p:cNvPr id="648" name="Shape 648"/>
          <p:cNvCxnSpPr/>
          <p:nvPr/>
        </p:nvCxnSpPr>
        <p:spPr>
          <a:xfrm>
            <a:off x="827087" y="4292600"/>
            <a:ext cx="2736850" cy="0"/>
          </a:xfrm>
          <a:prstGeom prst="straightConnector1">
            <a:avLst/>
          </a:prstGeom>
          <a:noFill/>
          <a:ln cap="flat" cmpd="sng" w="9525">
            <a:solidFill>
              <a:schemeClr val="dk1"/>
            </a:solidFill>
            <a:prstDash val="solid"/>
            <a:miter/>
            <a:headEnd len="med" w="med" type="none"/>
            <a:tailEnd len="med" w="med" type="none"/>
          </a:ln>
        </p:spPr>
      </p:cxnSp>
      <p:sp>
        <p:nvSpPr>
          <p:cNvPr id="649" name="Shape 649"/>
          <p:cNvSpPr txBox="1"/>
          <p:nvPr/>
        </p:nvSpPr>
        <p:spPr>
          <a:xfrm>
            <a:off x="504825" y="4437062"/>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a:t>
            </a:r>
          </a:p>
        </p:txBody>
      </p:sp>
      <p:sp>
        <p:nvSpPr>
          <p:cNvPr id="650" name="Shape 650"/>
          <p:cNvSpPr txBox="1"/>
          <p:nvPr/>
        </p:nvSpPr>
        <p:spPr>
          <a:xfrm>
            <a:off x="2843211" y="58769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sp>
        <p:nvSpPr>
          <p:cNvPr id="651" name="Shape 651"/>
          <p:cNvSpPr txBox="1"/>
          <p:nvPr/>
        </p:nvSpPr>
        <p:spPr>
          <a:xfrm>
            <a:off x="468312" y="4725987"/>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P1</a:t>
            </a:r>
          </a:p>
        </p:txBody>
      </p:sp>
      <p:sp>
        <p:nvSpPr>
          <p:cNvPr id="652" name="Shape 652"/>
          <p:cNvSpPr txBox="1"/>
          <p:nvPr/>
        </p:nvSpPr>
        <p:spPr>
          <a:xfrm>
            <a:off x="3384550" y="58769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Q1</a:t>
            </a:r>
          </a:p>
        </p:txBody>
      </p:sp>
      <p:sp>
        <p:nvSpPr>
          <p:cNvPr id="653" name="Shape 653"/>
          <p:cNvSpPr txBox="1"/>
          <p:nvPr/>
        </p:nvSpPr>
        <p:spPr>
          <a:xfrm>
            <a:off x="468312" y="407670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 P1´</a:t>
            </a:r>
          </a:p>
        </p:txBody>
      </p:sp>
      <p:sp>
        <p:nvSpPr>
          <p:cNvPr id="654" name="Shape 654"/>
          <p:cNvSpPr/>
          <p:nvPr/>
        </p:nvSpPr>
        <p:spPr>
          <a:xfrm>
            <a:off x="827087" y="2133600"/>
            <a:ext cx="2232025" cy="2519362"/>
          </a:xfrm>
          <a:custGeom>
            <a:pathLst>
              <a:path extrusionOk="0" h="1581" w="1406">
                <a:moveTo>
                  <a:pt x="0" y="279"/>
                </a:moveTo>
                <a:lnTo>
                  <a:pt x="0" y="926"/>
                </a:lnTo>
                <a:lnTo>
                  <a:pt x="10" y="1258"/>
                </a:lnTo>
                <a:lnTo>
                  <a:pt x="16" y="1581"/>
                </a:lnTo>
                <a:lnTo>
                  <a:pt x="399" y="1579"/>
                </a:lnTo>
                <a:lnTo>
                  <a:pt x="841" y="1581"/>
                </a:lnTo>
                <a:lnTo>
                  <a:pt x="1406" y="1577"/>
                </a:lnTo>
                <a:lnTo>
                  <a:pt x="1287" y="1489"/>
                </a:lnTo>
                <a:lnTo>
                  <a:pt x="1065" y="1303"/>
                </a:lnTo>
                <a:lnTo>
                  <a:pt x="943" y="1209"/>
                </a:lnTo>
                <a:lnTo>
                  <a:pt x="669" y="945"/>
                </a:lnTo>
                <a:lnTo>
                  <a:pt x="482" y="744"/>
                </a:lnTo>
                <a:lnTo>
                  <a:pt x="376" y="605"/>
                </a:lnTo>
                <a:lnTo>
                  <a:pt x="253" y="425"/>
                </a:lnTo>
                <a:lnTo>
                  <a:pt x="140" y="265"/>
                </a:lnTo>
                <a:lnTo>
                  <a:pt x="74" y="132"/>
                </a:lnTo>
                <a:lnTo>
                  <a:pt x="8" y="0"/>
                </a:lnTo>
                <a:lnTo>
                  <a:pt x="0" y="279"/>
                </a:lnTo>
                <a:close/>
              </a:path>
            </a:pathLst>
          </a:custGeom>
          <a:solidFill>
            <a:srgbClr val="FF0000">
              <a:alpha val="15686"/>
            </a:srgbClr>
          </a:solidFill>
          <a:ln cap="flat" cmpd="sng" w="381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55" name="Shape 655"/>
          <p:cNvSpPr/>
          <p:nvPr/>
        </p:nvSpPr>
        <p:spPr>
          <a:xfrm>
            <a:off x="827087" y="4292600"/>
            <a:ext cx="2736849" cy="360361"/>
          </a:xfrm>
          <a:custGeom>
            <a:pathLst>
              <a:path extrusionOk="0" h="142" w="1716">
                <a:moveTo>
                  <a:pt x="0" y="132"/>
                </a:moveTo>
                <a:lnTo>
                  <a:pt x="446" y="142"/>
                </a:lnTo>
                <a:lnTo>
                  <a:pt x="900" y="142"/>
                </a:lnTo>
                <a:lnTo>
                  <a:pt x="1262" y="142"/>
                </a:lnTo>
                <a:lnTo>
                  <a:pt x="1398" y="142"/>
                </a:lnTo>
                <a:lnTo>
                  <a:pt x="1548" y="85"/>
                </a:lnTo>
                <a:lnTo>
                  <a:pt x="1716" y="6"/>
                </a:lnTo>
                <a:lnTo>
                  <a:pt x="1217" y="6"/>
                </a:lnTo>
                <a:lnTo>
                  <a:pt x="809" y="6"/>
                </a:lnTo>
                <a:lnTo>
                  <a:pt x="348" y="0"/>
                </a:lnTo>
                <a:lnTo>
                  <a:pt x="8" y="0"/>
                </a:lnTo>
                <a:lnTo>
                  <a:pt x="0" y="132"/>
                </a:lnTo>
                <a:close/>
              </a:path>
            </a:pathLst>
          </a:custGeom>
          <a:solidFill>
            <a:srgbClr val="FFFF00"/>
          </a:solidFill>
          <a:ln cap="flat" cmpd="sng" w="317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56" name="Shape 656"/>
          <p:cNvSpPr/>
          <p:nvPr/>
        </p:nvSpPr>
        <p:spPr>
          <a:xfrm>
            <a:off x="827087" y="2852736"/>
            <a:ext cx="4514850" cy="2768600"/>
          </a:xfrm>
          <a:custGeom>
            <a:pathLst>
              <a:path extrusionOk="0" h="1744" w="2844">
                <a:moveTo>
                  <a:pt x="0" y="1744"/>
                </a:moveTo>
                <a:cubicBezTo>
                  <a:pt x="143" y="1728"/>
                  <a:pt x="587" y="1714"/>
                  <a:pt x="860" y="1650"/>
                </a:cubicBezTo>
                <a:cubicBezTo>
                  <a:pt x="1133" y="1586"/>
                  <a:pt x="1421" y="1479"/>
                  <a:pt x="1638" y="1362"/>
                </a:cubicBezTo>
                <a:cubicBezTo>
                  <a:pt x="1855" y="1245"/>
                  <a:pt x="1996" y="1113"/>
                  <a:pt x="2161" y="951"/>
                </a:cubicBezTo>
                <a:cubicBezTo>
                  <a:pt x="2326" y="789"/>
                  <a:pt x="2514" y="549"/>
                  <a:pt x="2628" y="391"/>
                </a:cubicBezTo>
                <a:cubicBezTo>
                  <a:pt x="2742" y="233"/>
                  <a:pt x="2799" y="82"/>
                  <a:pt x="2844" y="0"/>
                </a:cubicBezTo>
              </a:path>
            </a:pathLst>
          </a:custGeom>
          <a:noFill/>
          <a:ln cap="flat" cmpd="sng" w="44450">
            <a:solidFill>
              <a:srgbClr val="00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57" name="Shape 657"/>
          <p:cNvSpPr txBox="1"/>
          <p:nvPr/>
        </p:nvSpPr>
        <p:spPr>
          <a:xfrm>
            <a:off x="827087" y="4581525"/>
            <a:ext cx="2303461"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APROPIADO POR CONSUMIDORES</a:t>
            </a:r>
          </a:p>
        </p:txBody>
      </p:sp>
      <p:sp>
        <p:nvSpPr>
          <p:cNvPr id="658" name="Shape 658"/>
          <p:cNvSpPr txBox="1"/>
          <p:nvPr/>
        </p:nvSpPr>
        <p:spPr>
          <a:xfrm>
            <a:off x="827087" y="4292600"/>
            <a:ext cx="2303461"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APROPIADO POR PRODUCTORES</a:t>
            </a:r>
          </a:p>
        </p:txBody>
      </p:sp>
      <p:sp>
        <p:nvSpPr>
          <p:cNvPr id="659" name="Shape 659"/>
          <p:cNvSpPr txBox="1"/>
          <p:nvPr/>
        </p:nvSpPr>
        <p:spPr>
          <a:xfrm>
            <a:off x="34925" y="1557337"/>
            <a:ext cx="842961"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PRECIO</a:t>
            </a:r>
          </a:p>
        </p:txBody>
      </p:sp>
      <p:sp>
        <p:nvSpPr>
          <p:cNvPr id="660" name="Shape 660"/>
          <p:cNvSpPr txBox="1"/>
          <p:nvPr/>
        </p:nvSpPr>
        <p:spPr>
          <a:xfrm>
            <a:off x="5076825" y="587692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661" name="Shape 661"/>
          <p:cNvSpPr txBox="1"/>
          <p:nvPr/>
        </p:nvSpPr>
        <p:spPr>
          <a:xfrm>
            <a:off x="1044575" y="2133600"/>
            <a:ext cx="1223961" cy="287337"/>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DEMANDA</a:t>
            </a:r>
          </a:p>
        </p:txBody>
      </p:sp>
      <p:sp>
        <p:nvSpPr>
          <p:cNvPr id="662" name="Shape 662"/>
          <p:cNvSpPr txBox="1"/>
          <p:nvPr/>
        </p:nvSpPr>
        <p:spPr>
          <a:xfrm>
            <a:off x="3924300" y="2060575"/>
            <a:ext cx="1223961"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 INICIAL</a:t>
            </a:r>
          </a:p>
        </p:txBody>
      </p:sp>
      <p:sp>
        <p:nvSpPr>
          <p:cNvPr id="663" name="Shape 663"/>
          <p:cNvSpPr txBox="1"/>
          <p:nvPr/>
        </p:nvSpPr>
        <p:spPr>
          <a:xfrm>
            <a:off x="4211637" y="4365625"/>
            <a:ext cx="1008062" cy="6477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OFERTA</a:t>
            </a:r>
          </a:p>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FINAL</a:t>
            </a:r>
          </a:p>
        </p:txBody>
      </p:sp>
      <p:sp>
        <p:nvSpPr>
          <p:cNvPr id="664" name="Shape 664"/>
          <p:cNvSpPr txBox="1"/>
          <p:nvPr/>
        </p:nvSpPr>
        <p:spPr>
          <a:xfrm>
            <a:off x="5435600" y="4221162"/>
            <a:ext cx="3529012" cy="12954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Las forma triangular que se</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encuentra en el extremo derecho</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(color negro) representa el costo</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social del Subsidio, ya que nadie</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lo aprovecha</a:t>
            </a:r>
          </a:p>
        </p:txBody>
      </p:sp>
      <p:pic>
        <p:nvPicPr>
          <p:cNvPr id="665" name="Shape 665"/>
          <p:cNvPicPr preferRelativeResize="0"/>
          <p:nvPr>
            <p:ph idx="4294967295" type="body"/>
          </p:nvPr>
        </p:nvPicPr>
        <p:blipFill rotWithShape="1">
          <a:blip r:embed="rId3">
            <a:alphaModFix/>
          </a:blip>
          <a:srcRect b="0" l="0" r="0" t="0"/>
          <a:stretch/>
        </p:blipFill>
        <p:spPr>
          <a:xfrm>
            <a:off x="4932362" y="731837"/>
            <a:ext cx="3009899" cy="609599"/>
          </a:xfrm>
          <a:prstGeom prst="rect">
            <a:avLst/>
          </a:prstGeom>
          <a:noFill/>
          <a:ln>
            <a:noFill/>
          </a:ln>
        </p:spPr>
      </p:pic>
      <p:sp>
        <p:nvSpPr>
          <p:cNvPr id="666" name="Shape 666"/>
          <p:cNvSpPr txBox="1"/>
          <p:nvPr/>
        </p:nvSpPr>
        <p:spPr>
          <a:xfrm>
            <a:off x="34925" y="115886"/>
            <a:ext cx="9047161" cy="503236"/>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200" u="none" cap="none" strike="noStrike">
                <a:solidFill>
                  <a:schemeClr val="dk2"/>
                </a:solidFill>
                <a:latin typeface="Arial"/>
                <a:ea typeface="Arial"/>
                <a:cs typeface="Arial"/>
                <a:sym typeface="Arial"/>
              </a:rPr>
              <a:t>SUBSIDIOS PAGADOS AL PRODUCTOR</a:t>
            </a:r>
          </a:p>
        </p:txBody>
      </p:sp>
      <p:sp>
        <p:nvSpPr>
          <p:cNvPr id="667" name="Shape 667"/>
          <p:cNvSpPr/>
          <p:nvPr/>
        </p:nvSpPr>
        <p:spPr>
          <a:xfrm>
            <a:off x="395287" y="4292600"/>
            <a:ext cx="144462" cy="647700"/>
          </a:xfrm>
          <a:prstGeom prst="leftBrace">
            <a:avLst>
              <a:gd fmla="val 8333" name="adj1"/>
              <a:gd fmla="val 50000" name="adj2"/>
            </a:avLst>
          </a:prstGeom>
          <a:solidFill>
            <a:srgbClr val="00008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68" name="Shape 668"/>
          <p:cNvSpPr txBox="1"/>
          <p:nvPr/>
        </p:nvSpPr>
        <p:spPr>
          <a:xfrm rot="5400000">
            <a:off x="-283368" y="4468017"/>
            <a:ext cx="11493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Subsidio</a:t>
            </a:r>
          </a:p>
        </p:txBody>
      </p:sp>
      <p:sp>
        <p:nvSpPr>
          <p:cNvPr id="669" name="Shape 669"/>
          <p:cNvSpPr/>
          <p:nvPr/>
        </p:nvSpPr>
        <p:spPr>
          <a:xfrm>
            <a:off x="3059111" y="4292600"/>
            <a:ext cx="508000" cy="690562"/>
          </a:xfrm>
          <a:custGeom>
            <a:pathLst>
              <a:path extrusionOk="0" h="435" w="320">
                <a:moveTo>
                  <a:pt x="317" y="415"/>
                </a:moveTo>
                <a:cubicBezTo>
                  <a:pt x="293" y="435"/>
                  <a:pt x="218" y="346"/>
                  <a:pt x="165" y="316"/>
                </a:cubicBezTo>
                <a:cubicBezTo>
                  <a:pt x="112" y="286"/>
                  <a:pt x="0" y="264"/>
                  <a:pt x="1" y="232"/>
                </a:cubicBezTo>
                <a:cubicBezTo>
                  <a:pt x="2" y="200"/>
                  <a:pt x="125" y="161"/>
                  <a:pt x="174" y="124"/>
                </a:cubicBezTo>
                <a:cubicBezTo>
                  <a:pt x="223" y="87"/>
                  <a:pt x="276" y="0"/>
                  <a:pt x="298" y="12"/>
                </a:cubicBezTo>
                <a:cubicBezTo>
                  <a:pt x="320" y="24"/>
                  <a:pt x="305" y="127"/>
                  <a:pt x="308" y="194"/>
                </a:cubicBezTo>
                <a:cubicBezTo>
                  <a:pt x="311" y="261"/>
                  <a:pt x="315" y="369"/>
                  <a:pt x="317" y="415"/>
                </a:cubicBezTo>
                <a:close/>
              </a:path>
            </a:pathLst>
          </a:custGeom>
          <a:solidFill>
            <a:schemeClr val="dk1"/>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70" name="Shape 670"/>
          <p:cNvSpPr txBox="1"/>
          <p:nvPr/>
        </p:nvSpPr>
        <p:spPr>
          <a:xfrm>
            <a:off x="827087" y="4292600"/>
            <a:ext cx="2736850" cy="649286"/>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COSTO FISCAL SUBSIDIO</a:t>
            </a:r>
          </a:p>
        </p:txBody>
      </p: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74" name="Shape 674"/>
        <p:cNvGrpSpPr/>
        <p:nvPr/>
      </p:nvGrpSpPr>
      <p:grpSpPr>
        <a:xfrm>
          <a:off x="0" y="0"/>
          <a:ext cx="0" cy="0"/>
          <a:chOff x="0" y="0"/>
          <a:chExt cx="0" cy="0"/>
        </a:xfrm>
      </p:grpSpPr>
      <p:sp>
        <p:nvSpPr>
          <p:cNvPr id="675" name="Shape 675"/>
          <p:cNvSpPr txBox="1"/>
          <p:nvPr>
            <p:ph idx="4294967295" type="title"/>
          </p:nvPr>
        </p:nvSpPr>
        <p:spPr>
          <a:xfrm>
            <a:off x="0" y="0"/>
            <a:ext cx="9144000" cy="620711"/>
          </a:xfrm>
          <a:prstGeom prst="rect">
            <a:avLst/>
          </a:prstGeom>
          <a:solidFill>
            <a:schemeClr val="accent1"/>
          </a:solid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SUBSIDIOS  PAGADOS AL CONSUMIDOR</a:t>
            </a:r>
          </a:p>
        </p:txBody>
      </p:sp>
      <p:sp>
        <p:nvSpPr>
          <p:cNvPr id="676" name="Shape 676"/>
          <p:cNvSpPr txBox="1"/>
          <p:nvPr>
            <p:ph idx="4294967295" type="body"/>
          </p:nvPr>
        </p:nvSpPr>
        <p:spPr>
          <a:xfrm>
            <a:off x="457200" y="2295525"/>
            <a:ext cx="7138986" cy="2789237"/>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70000"/>
              <a:buFont typeface="Noto Symbol"/>
              <a:buChar char="➢"/>
            </a:pPr>
            <a:r>
              <a:rPr b="0" i="0" lang="en-US" sz="2600" u="none" cap="none" strike="noStrike">
                <a:solidFill>
                  <a:schemeClr val="dk1"/>
                </a:solidFill>
                <a:latin typeface="Arial"/>
                <a:ea typeface="Arial"/>
                <a:cs typeface="Arial"/>
                <a:sym typeface="Arial"/>
              </a:rPr>
              <a:t>Aumentan el precio de equilibrio.</a:t>
            </a:r>
          </a:p>
          <a:p>
            <a:pPr indent="-342900" lvl="0" marL="342900" marR="0" rtl="0" algn="l">
              <a:lnSpc>
                <a:spcPct val="100000"/>
              </a:lnSpc>
              <a:spcBef>
                <a:spcPts val="520"/>
              </a:spcBef>
              <a:spcAft>
                <a:spcPts val="0"/>
              </a:spcAft>
              <a:buClr>
                <a:schemeClr val="dk2"/>
              </a:buClr>
              <a:buSzPct val="70000"/>
              <a:buFont typeface="Noto Symbol"/>
              <a:buChar char="➢"/>
            </a:pPr>
            <a:r>
              <a:rPr b="0" i="0" lang="en-US" sz="2600" u="none" cap="none" strike="noStrike">
                <a:solidFill>
                  <a:schemeClr val="dk1"/>
                </a:solidFill>
                <a:latin typeface="Arial"/>
                <a:ea typeface="Arial"/>
                <a:cs typeface="Arial"/>
                <a:sym typeface="Arial"/>
              </a:rPr>
              <a:t>Aumentan el nivel de producción.</a:t>
            </a:r>
          </a:p>
          <a:p>
            <a:pPr indent="-342900" lvl="0" marL="342900" marR="0" rtl="0" algn="l">
              <a:lnSpc>
                <a:spcPct val="100000"/>
              </a:lnSpc>
              <a:spcBef>
                <a:spcPts val="520"/>
              </a:spcBef>
              <a:spcAft>
                <a:spcPts val="0"/>
              </a:spcAft>
              <a:buClr>
                <a:schemeClr val="dk2"/>
              </a:buClr>
              <a:buSzPct val="70000"/>
              <a:buFont typeface="Noto Symbol"/>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70000"/>
              <a:buFont typeface="Noto Symbol"/>
              <a:buChar char="➢"/>
            </a:pPr>
            <a:r>
              <a:rPr b="1" i="0" lang="en-US" sz="2600" u="none" cap="none" strike="noStrike">
                <a:solidFill>
                  <a:schemeClr val="dk1"/>
                </a:solidFill>
                <a:latin typeface="Arial"/>
                <a:ea typeface="Arial"/>
                <a:cs typeface="Arial"/>
                <a:sym typeface="Arial"/>
              </a:rPr>
              <a:t>No aumentan el beneficio social de manera tal que al otorgarlos el estado debe pagar un costo social.</a:t>
            </a:r>
          </a:p>
        </p:txBody>
      </p:sp>
      <p:pic>
        <p:nvPicPr>
          <p:cNvPr id="677" name="Shape 677"/>
          <p:cNvPicPr preferRelativeResize="0"/>
          <p:nvPr>
            <p:ph idx="4294967295" type="body"/>
          </p:nvPr>
        </p:nvPicPr>
        <p:blipFill rotWithShape="1">
          <a:blip r:embed="rId3">
            <a:alphaModFix/>
          </a:blip>
          <a:srcRect b="0" l="0" r="0" t="0"/>
          <a:stretch/>
        </p:blipFill>
        <p:spPr>
          <a:xfrm>
            <a:off x="4932362" y="765175"/>
            <a:ext cx="3009899" cy="609599"/>
          </a:xfrm>
          <a:prstGeom prst="rect">
            <a:avLst/>
          </a:prstGeom>
          <a:noFill/>
          <a:ln>
            <a:noFill/>
          </a:ln>
        </p:spPr>
      </p:pic>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81" name="Shape 681"/>
        <p:cNvGrpSpPr/>
        <p:nvPr/>
      </p:nvGrpSpPr>
      <p:grpSpPr>
        <a:xfrm>
          <a:off x="0" y="0"/>
          <a:ext cx="0" cy="0"/>
          <a:chOff x="0" y="0"/>
          <a:chExt cx="0" cy="0"/>
        </a:xfrm>
      </p:grpSpPr>
      <p:sp>
        <p:nvSpPr>
          <p:cNvPr id="682" name="Shape 682"/>
          <p:cNvSpPr txBox="1"/>
          <p:nvPr>
            <p:ph idx="4294967295" type="title"/>
          </p:nvPr>
        </p:nvSpPr>
        <p:spPr>
          <a:xfrm>
            <a:off x="107950" y="692150"/>
            <a:ext cx="5184775" cy="576262"/>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rgbClr val="EC1914"/>
              </a:buClr>
              <a:buSzPct val="25000"/>
              <a:buFont typeface="Arial"/>
              <a:buNone/>
            </a:pPr>
            <a:r>
              <a:rPr b="1" i="0" lang="en-US" sz="3200" u="none" cap="none" strike="noStrike">
                <a:solidFill>
                  <a:srgbClr val="EC1914"/>
                </a:solidFill>
                <a:latin typeface="Arial"/>
                <a:ea typeface="Arial"/>
                <a:cs typeface="Arial"/>
                <a:sym typeface="Arial"/>
              </a:rPr>
              <a:t>MEJORAN LA DEMANDA</a:t>
            </a:r>
          </a:p>
        </p:txBody>
      </p:sp>
      <p:sp>
        <p:nvSpPr>
          <p:cNvPr id="683" name="Shape 683"/>
          <p:cNvSpPr txBox="1"/>
          <p:nvPr>
            <p:ph idx="4294967295" type="body"/>
          </p:nvPr>
        </p:nvSpPr>
        <p:spPr>
          <a:xfrm>
            <a:off x="5070475" y="2727325"/>
            <a:ext cx="4038599" cy="2141537"/>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0" i="0" lang="en-US" sz="1900" u="none" cap="none" strike="noStrike">
                <a:solidFill>
                  <a:schemeClr val="dk1"/>
                </a:solidFill>
                <a:latin typeface="Arial"/>
                <a:ea typeface="Arial"/>
                <a:cs typeface="Arial"/>
                <a:sym typeface="Arial"/>
              </a:rPr>
              <a:t>Al </a:t>
            </a:r>
            <a:r>
              <a:rPr b="1" i="0" lang="en-US" sz="1900" u="none" cap="none" strike="noStrike">
                <a:solidFill>
                  <a:srgbClr val="EC1914"/>
                </a:solidFill>
                <a:latin typeface="Arial"/>
                <a:ea typeface="Arial"/>
                <a:cs typeface="Arial"/>
                <a:sym typeface="Arial"/>
              </a:rPr>
              <a:t>mejorar la demanda</a:t>
            </a:r>
            <a:r>
              <a:rPr b="0" i="0" lang="en-US" sz="1900" u="none" cap="none" strike="noStrike">
                <a:solidFill>
                  <a:schemeClr val="dk1"/>
                </a:solidFill>
                <a:latin typeface="Arial"/>
                <a:ea typeface="Arial"/>
                <a:cs typeface="Arial"/>
                <a:sym typeface="Arial"/>
              </a:rPr>
              <a:t>, los consumidores intentarán comprar la cantidad Q´, pero los consumidores seguirán ofreciendo Q, el exceso de demanda empujará la suba del precio de mercado y en consecuencia la disposición de los productores para aumentar la cantidad ofrecida.  </a:t>
            </a:r>
          </a:p>
        </p:txBody>
      </p:sp>
      <p:cxnSp>
        <p:nvCxnSpPr>
          <p:cNvPr id="684" name="Shape 684"/>
          <p:cNvCxnSpPr/>
          <p:nvPr/>
        </p:nvCxnSpPr>
        <p:spPr>
          <a:xfrm>
            <a:off x="900112" y="1628775"/>
            <a:ext cx="0" cy="4608512"/>
          </a:xfrm>
          <a:prstGeom prst="straightConnector1">
            <a:avLst/>
          </a:prstGeom>
          <a:noFill/>
          <a:ln cap="flat" cmpd="sng" w="9525">
            <a:solidFill>
              <a:schemeClr val="dk1"/>
            </a:solidFill>
            <a:prstDash val="solid"/>
            <a:miter/>
            <a:headEnd len="med" w="med" type="none"/>
            <a:tailEnd len="med" w="med" type="none"/>
          </a:ln>
        </p:spPr>
      </p:cxnSp>
      <p:cxnSp>
        <p:nvCxnSpPr>
          <p:cNvPr id="685" name="Shape 685"/>
          <p:cNvCxnSpPr/>
          <p:nvPr/>
        </p:nvCxnSpPr>
        <p:spPr>
          <a:xfrm>
            <a:off x="611187" y="6165850"/>
            <a:ext cx="5761036" cy="0"/>
          </a:xfrm>
          <a:prstGeom prst="straightConnector1">
            <a:avLst/>
          </a:prstGeom>
          <a:noFill/>
          <a:ln cap="flat" cmpd="sng" w="9525">
            <a:solidFill>
              <a:schemeClr val="dk1"/>
            </a:solidFill>
            <a:prstDash val="solid"/>
            <a:miter/>
            <a:headEnd len="med" w="med" type="none"/>
            <a:tailEnd len="med" w="med" type="none"/>
          </a:ln>
        </p:spPr>
      </p:cxnSp>
      <p:sp>
        <p:nvSpPr>
          <p:cNvPr id="686" name="Shape 686"/>
          <p:cNvSpPr txBox="1"/>
          <p:nvPr/>
        </p:nvSpPr>
        <p:spPr>
          <a:xfrm>
            <a:off x="34925" y="1484312"/>
            <a:ext cx="914400" cy="9144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687" name="Shape 687"/>
          <p:cNvSpPr txBox="1"/>
          <p:nvPr/>
        </p:nvSpPr>
        <p:spPr>
          <a:xfrm>
            <a:off x="4859337" y="5876925"/>
            <a:ext cx="2017711" cy="9144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688" name="Shape 688"/>
          <p:cNvSpPr/>
          <p:nvPr/>
        </p:nvSpPr>
        <p:spPr>
          <a:xfrm>
            <a:off x="971550" y="2708275"/>
            <a:ext cx="4456111" cy="2927350"/>
          </a:xfrm>
          <a:custGeom>
            <a:pathLst>
              <a:path extrusionOk="0" h="1844" w="2807">
                <a:moveTo>
                  <a:pt x="0" y="0"/>
                </a:moveTo>
                <a:cubicBezTo>
                  <a:pt x="62" y="81"/>
                  <a:pt x="244" y="340"/>
                  <a:pt x="373" y="491"/>
                </a:cubicBezTo>
                <a:cubicBezTo>
                  <a:pt x="502" y="642"/>
                  <a:pt x="670" y="810"/>
                  <a:pt x="773" y="906"/>
                </a:cubicBezTo>
                <a:cubicBezTo>
                  <a:pt x="875" y="1004"/>
                  <a:pt x="908" y="1015"/>
                  <a:pt x="985" y="1074"/>
                </a:cubicBezTo>
                <a:cubicBezTo>
                  <a:pt x="1062" y="1134"/>
                  <a:pt x="1158" y="1207"/>
                  <a:pt x="1234" y="1261"/>
                </a:cubicBezTo>
                <a:cubicBezTo>
                  <a:pt x="1310" y="1315"/>
                  <a:pt x="1341" y="1345"/>
                  <a:pt x="1440" y="1403"/>
                </a:cubicBezTo>
                <a:cubicBezTo>
                  <a:pt x="1538" y="1461"/>
                  <a:pt x="1659" y="1542"/>
                  <a:pt x="1827" y="1608"/>
                </a:cubicBezTo>
                <a:cubicBezTo>
                  <a:pt x="1995" y="1674"/>
                  <a:pt x="2286" y="1758"/>
                  <a:pt x="2449" y="1797"/>
                </a:cubicBezTo>
                <a:cubicBezTo>
                  <a:pt x="2612" y="1836"/>
                  <a:pt x="2732" y="1834"/>
                  <a:pt x="2807" y="1844"/>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89" name="Shape 689"/>
          <p:cNvSpPr txBox="1"/>
          <p:nvPr/>
        </p:nvSpPr>
        <p:spPr>
          <a:xfrm>
            <a:off x="107950" y="2997200"/>
            <a:ext cx="1223961"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DEMANDA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INICIAL</a:t>
            </a:r>
          </a:p>
        </p:txBody>
      </p:sp>
      <p:sp>
        <p:nvSpPr>
          <p:cNvPr id="690" name="Shape 690"/>
          <p:cNvSpPr/>
          <p:nvPr/>
        </p:nvSpPr>
        <p:spPr>
          <a:xfrm>
            <a:off x="900112" y="1700211"/>
            <a:ext cx="4630736" cy="3232150"/>
          </a:xfrm>
          <a:custGeom>
            <a:pathLst>
              <a:path extrusionOk="0" h="2036" w="2917">
                <a:moveTo>
                  <a:pt x="0" y="0"/>
                </a:moveTo>
                <a:cubicBezTo>
                  <a:pt x="56" y="85"/>
                  <a:pt x="222" y="355"/>
                  <a:pt x="341" y="513"/>
                </a:cubicBezTo>
                <a:cubicBezTo>
                  <a:pt x="460" y="672"/>
                  <a:pt x="618" y="850"/>
                  <a:pt x="714" y="953"/>
                </a:cubicBezTo>
                <a:cubicBezTo>
                  <a:pt x="810" y="1057"/>
                  <a:pt x="842" y="1070"/>
                  <a:pt x="915" y="1134"/>
                </a:cubicBezTo>
                <a:cubicBezTo>
                  <a:pt x="988" y="1198"/>
                  <a:pt x="1080" y="1277"/>
                  <a:pt x="1152" y="1336"/>
                </a:cubicBezTo>
                <a:cubicBezTo>
                  <a:pt x="1224" y="1395"/>
                  <a:pt x="1254" y="1427"/>
                  <a:pt x="1349" y="1491"/>
                </a:cubicBezTo>
                <a:cubicBezTo>
                  <a:pt x="1443" y="1555"/>
                  <a:pt x="1590" y="1651"/>
                  <a:pt x="1722" y="1720"/>
                </a:cubicBezTo>
                <a:cubicBezTo>
                  <a:pt x="1854" y="1789"/>
                  <a:pt x="2008" y="1858"/>
                  <a:pt x="2143" y="1903"/>
                </a:cubicBezTo>
                <a:cubicBezTo>
                  <a:pt x="2278" y="1948"/>
                  <a:pt x="2401" y="1966"/>
                  <a:pt x="2530" y="1988"/>
                </a:cubicBezTo>
                <a:cubicBezTo>
                  <a:pt x="2659" y="2010"/>
                  <a:pt x="2837" y="2026"/>
                  <a:pt x="2917" y="2036"/>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91" name="Shape 691"/>
          <p:cNvSpPr txBox="1"/>
          <p:nvPr/>
        </p:nvSpPr>
        <p:spPr>
          <a:xfrm>
            <a:off x="1403350" y="2060575"/>
            <a:ext cx="1223961"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DEMANDA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FINAL</a:t>
            </a:r>
          </a:p>
        </p:txBody>
      </p:sp>
      <p:sp>
        <p:nvSpPr>
          <p:cNvPr id="692" name="Shape 692"/>
          <p:cNvSpPr/>
          <p:nvPr/>
        </p:nvSpPr>
        <p:spPr>
          <a:xfrm>
            <a:off x="900112" y="2205036"/>
            <a:ext cx="4270375" cy="2879724"/>
          </a:xfrm>
          <a:custGeom>
            <a:pathLst>
              <a:path extrusionOk="0" h="1831" w="2736">
                <a:moveTo>
                  <a:pt x="0" y="1831"/>
                </a:moveTo>
                <a:cubicBezTo>
                  <a:pt x="147" y="1816"/>
                  <a:pt x="638" y="1790"/>
                  <a:pt x="880" y="1738"/>
                </a:cubicBezTo>
                <a:cubicBezTo>
                  <a:pt x="1122" y="1686"/>
                  <a:pt x="1287" y="1609"/>
                  <a:pt x="1453" y="1519"/>
                </a:cubicBezTo>
                <a:cubicBezTo>
                  <a:pt x="1619" y="1429"/>
                  <a:pt x="1750" y="1311"/>
                  <a:pt x="1877" y="1198"/>
                </a:cubicBezTo>
                <a:cubicBezTo>
                  <a:pt x="2004" y="1085"/>
                  <a:pt x="2113" y="966"/>
                  <a:pt x="2217" y="839"/>
                </a:cubicBezTo>
                <a:cubicBezTo>
                  <a:pt x="2321" y="712"/>
                  <a:pt x="2415" y="573"/>
                  <a:pt x="2501" y="433"/>
                </a:cubicBezTo>
                <a:cubicBezTo>
                  <a:pt x="2587" y="293"/>
                  <a:pt x="2687" y="90"/>
                  <a:pt x="2736"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93" name="Shape 693"/>
          <p:cNvSpPr txBox="1"/>
          <p:nvPr/>
        </p:nvSpPr>
        <p:spPr>
          <a:xfrm>
            <a:off x="3924300" y="2060575"/>
            <a:ext cx="1223961"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a:t>
            </a:r>
          </a:p>
        </p:txBody>
      </p:sp>
      <p:cxnSp>
        <p:nvCxnSpPr>
          <p:cNvPr id="694" name="Shape 694"/>
          <p:cNvCxnSpPr/>
          <p:nvPr/>
        </p:nvCxnSpPr>
        <p:spPr>
          <a:xfrm rot="10800000">
            <a:off x="2916236" y="4724400"/>
            <a:ext cx="0" cy="1441449"/>
          </a:xfrm>
          <a:prstGeom prst="straightConnector1">
            <a:avLst/>
          </a:prstGeom>
          <a:noFill/>
          <a:ln cap="flat" cmpd="sng" w="9525">
            <a:solidFill>
              <a:schemeClr val="dk1"/>
            </a:solidFill>
            <a:prstDash val="solid"/>
            <a:miter/>
            <a:headEnd len="med" w="med" type="none"/>
            <a:tailEnd len="med" w="med" type="none"/>
          </a:ln>
        </p:spPr>
      </p:cxnSp>
      <p:sp>
        <p:nvSpPr>
          <p:cNvPr id="695" name="Shape 695"/>
          <p:cNvSpPr txBox="1"/>
          <p:nvPr/>
        </p:nvSpPr>
        <p:spPr>
          <a:xfrm>
            <a:off x="2627311" y="6092825"/>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p>
        </p:txBody>
      </p:sp>
      <p:sp>
        <p:nvSpPr>
          <p:cNvPr id="696" name="Shape 696"/>
          <p:cNvSpPr txBox="1"/>
          <p:nvPr/>
        </p:nvSpPr>
        <p:spPr>
          <a:xfrm>
            <a:off x="539750" y="4581525"/>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a:t>
            </a:r>
          </a:p>
        </p:txBody>
      </p:sp>
      <p:cxnSp>
        <p:nvCxnSpPr>
          <p:cNvPr id="697" name="Shape 697"/>
          <p:cNvCxnSpPr/>
          <p:nvPr/>
        </p:nvCxnSpPr>
        <p:spPr>
          <a:xfrm rot="10800000">
            <a:off x="900111" y="4724400"/>
            <a:ext cx="2016124" cy="0"/>
          </a:xfrm>
          <a:prstGeom prst="straightConnector1">
            <a:avLst/>
          </a:prstGeom>
          <a:noFill/>
          <a:ln cap="flat" cmpd="sng" w="9525">
            <a:solidFill>
              <a:schemeClr val="dk1"/>
            </a:solidFill>
            <a:prstDash val="solid"/>
            <a:miter/>
            <a:headEnd len="med" w="med" type="none"/>
            <a:tailEnd len="med" w="med" type="none"/>
          </a:ln>
        </p:spPr>
      </p:cxnSp>
      <p:sp>
        <p:nvSpPr>
          <p:cNvPr id="698" name="Shape 698"/>
          <p:cNvSpPr txBox="1"/>
          <p:nvPr/>
        </p:nvSpPr>
        <p:spPr>
          <a:xfrm>
            <a:off x="3203575" y="6092825"/>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Q1</a:t>
            </a:r>
          </a:p>
        </p:txBody>
      </p:sp>
      <p:cxnSp>
        <p:nvCxnSpPr>
          <p:cNvPr id="699" name="Shape 699"/>
          <p:cNvCxnSpPr/>
          <p:nvPr/>
        </p:nvCxnSpPr>
        <p:spPr>
          <a:xfrm rot="10800000">
            <a:off x="3492500" y="4365624"/>
            <a:ext cx="0" cy="1800225"/>
          </a:xfrm>
          <a:prstGeom prst="straightConnector1">
            <a:avLst/>
          </a:prstGeom>
          <a:noFill/>
          <a:ln cap="flat" cmpd="sng" w="9525">
            <a:solidFill>
              <a:schemeClr val="dk1"/>
            </a:solidFill>
            <a:prstDash val="solid"/>
            <a:miter/>
            <a:headEnd len="med" w="med" type="none"/>
            <a:tailEnd len="med" w="med" type="none"/>
          </a:ln>
        </p:spPr>
      </p:cxnSp>
      <p:cxnSp>
        <p:nvCxnSpPr>
          <p:cNvPr id="700" name="Shape 700"/>
          <p:cNvCxnSpPr/>
          <p:nvPr/>
        </p:nvCxnSpPr>
        <p:spPr>
          <a:xfrm rot="10800000">
            <a:off x="900111" y="4365625"/>
            <a:ext cx="2592387" cy="0"/>
          </a:xfrm>
          <a:prstGeom prst="straightConnector1">
            <a:avLst/>
          </a:prstGeom>
          <a:noFill/>
          <a:ln cap="flat" cmpd="sng" w="9525">
            <a:solidFill>
              <a:schemeClr val="dk1"/>
            </a:solidFill>
            <a:prstDash val="solid"/>
            <a:miter/>
            <a:headEnd len="med" w="med" type="none"/>
            <a:tailEnd len="med" w="med" type="none"/>
          </a:ln>
        </p:spPr>
      </p:cxnSp>
      <p:sp>
        <p:nvSpPr>
          <p:cNvPr id="701" name="Shape 701"/>
          <p:cNvSpPr txBox="1"/>
          <p:nvPr/>
        </p:nvSpPr>
        <p:spPr>
          <a:xfrm>
            <a:off x="468312" y="4149725"/>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P1</a:t>
            </a:r>
          </a:p>
        </p:txBody>
      </p:sp>
      <p:cxnSp>
        <p:nvCxnSpPr>
          <p:cNvPr id="702" name="Shape 702"/>
          <p:cNvCxnSpPr/>
          <p:nvPr/>
        </p:nvCxnSpPr>
        <p:spPr>
          <a:xfrm>
            <a:off x="4284662" y="4724400"/>
            <a:ext cx="0" cy="1441449"/>
          </a:xfrm>
          <a:prstGeom prst="straightConnector1">
            <a:avLst/>
          </a:prstGeom>
          <a:noFill/>
          <a:ln cap="flat" cmpd="sng" w="9525">
            <a:solidFill>
              <a:schemeClr val="dk1"/>
            </a:solidFill>
            <a:prstDash val="solid"/>
            <a:miter/>
            <a:headEnd len="med" w="med" type="none"/>
            <a:tailEnd len="med" w="med" type="none"/>
          </a:ln>
        </p:spPr>
      </p:cxnSp>
      <p:sp>
        <p:nvSpPr>
          <p:cNvPr id="703" name="Shape 703"/>
          <p:cNvSpPr txBox="1"/>
          <p:nvPr/>
        </p:nvSpPr>
        <p:spPr>
          <a:xfrm>
            <a:off x="3995737" y="6092825"/>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 Q´</a:t>
            </a:r>
          </a:p>
        </p:txBody>
      </p:sp>
      <p:cxnSp>
        <p:nvCxnSpPr>
          <p:cNvPr id="704" name="Shape 704"/>
          <p:cNvCxnSpPr/>
          <p:nvPr/>
        </p:nvCxnSpPr>
        <p:spPr>
          <a:xfrm>
            <a:off x="2916236" y="4724400"/>
            <a:ext cx="1368425" cy="0"/>
          </a:xfrm>
          <a:prstGeom prst="straightConnector1">
            <a:avLst/>
          </a:prstGeom>
          <a:noFill/>
          <a:ln cap="flat" cmpd="sng" w="9525">
            <a:solidFill>
              <a:schemeClr val="dk1"/>
            </a:solidFill>
            <a:prstDash val="solid"/>
            <a:miter/>
            <a:headEnd len="med" w="med" type="none"/>
            <a:tailEnd len="med" w="med" type="none"/>
          </a:ln>
        </p:spPr>
      </p:cxnSp>
      <p:sp>
        <p:nvSpPr>
          <p:cNvPr id="705" name="Shape 705"/>
          <p:cNvSpPr/>
          <p:nvPr/>
        </p:nvSpPr>
        <p:spPr>
          <a:xfrm rot="10800000">
            <a:off x="3492500" y="4365625"/>
            <a:ext cx="863599" cy="358774"/>
          </a:xfrm>
          <a:custGeom>
            <a:pathLst>
              <a:path extrusionOk="0" h="182" w="318">
                <a:moveTo>
                  <a:pt x="0" y="0"/>
                </a:moveTo>
                <a:lnTo>
                  <a:pt x="182" y="91"/>
                </a:lnTo>
                <a:lnTo>
                  <a:pt x="318" y="182"/>
                </a:lnTo>
                <a:lnTo>
                  <a:pt x="318" y="0"/>
                </a:lnTo>
                <a:lnTo>
                  <a:pt x="182" y="0"/>
                </a:lnTo>
                <a:lnTo>
                  <a:pt x="0" y="0"/>
                </a:lnTo>
                <a:close/>
              </a:path>
            </a:pathLst>
          </a:custGeom>
          <a:solidFill>
            <a:srgbClr val="EC1914"/>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06" name="Shape 706"/>
          <p:cNvSpPr/>
          <p:nvPr/>
        </p:nvSpPr>
        <p:spPr>
          <a:xfrm rot="-5400000">
            <a:off x="3024980" y="4256881"/>
            <a:ext cx="360362" cy="577850"/>
          </a:xfrm>
          <a:prstGeom prst="rtTriangle">
            <a:avLst/>
          </a:prstGeom>
          <a:solidFill>
            <a:srgbClr val="00FFFF"/>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07" name="Shape 707"/>
          <p:cNvSpPr txBox="1"/>
          <p:nvPr/>
        </p:nvSpPr>
        <p:spPr>
          <a:xfrm>
            <a:off x="5651500" y="4941887"/>
            <a:ext cx="3492500" cy="1273174"/>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111111"/>
              <a:buFont typeface="Arial"/>
              <a:buChar char="•"/>
            </a:pPr>
            <a:r>
              <a:rPr b="0" i="0" lang="en-US" sz="1800" u="none" cap="none" strike="noStrike">
                <a:solidFill>
                  <a:schemeClr val="dk1"/>
                </a:solidFill>
                <a:latin typeface="Arial"/>
                <a:ea typeface="Arial"/>
                <a:cs typeface="Arial"/>
                <a:sym typeface="Arial"/>
              </a:rPr>
              <a:t>  </a:t>
            </a:r>
            <a:r>
              <a:rPr b="1" i="0" lang="en-US" sz="2000" u="none" cap="none" strike="noStrike">
                <a:solidFill>
                  <a:srgbClr val="EC1914"/>
                </a:solidFill>
                <a:latin typeface="Arial"/>
                <a:ea typeface="Arial"/>
                <a:cs typeface="Arial"/>
                <a:sym typeface="Arial"/>
              </a:rPr>
              <a:t>AUMENTA</a:t>
            </a:r>
            <a:r>
              <a:rPr b="1" i="0" lang="en-US" sz="1800" u="none" cap="none" strike="noStrike">
                <a:solidFill>
                  <a:srgbClr val="EC1914"/>
                </a:solidFill>
                <a:latin typeface="Arial"/>
                <a:ea typeface="Arial"/>
                <a:cs typeface="Arial"/>
                <a:sym typeface="Arial"/>
              </a:rPr>
              <a:t> EL PRECIO</a:t>
            </a:r>
          </a:p>
          <a:p>
            <a:pPr indent="0" lvl="0" marL="0" marR="0" rtl="0" algn="l">
              <a:lnSpc>
                <a:spcPct val="100000"/>
              </a:lnSpc>
              <a:spcBef>
                <a:spcPts val="0"/>
              </a:spcBef>
              <a:spcAft>
                <a:spcPts val="0"/>
              </a:spcAft>
              <a:buClr>
                <a:srgbClr val="EC1914"/>
              </a:buClr>
              <a:buSzPct val="111111"/>
              <a:buFont typeface="Arial"/>
              <a:buChar char="•"/>
            </a:pPr>
            <a:r>
              <a:rPr b="1" i="0" lang="en-US" sz="1800" u="none" cap="none" strike="noStrike">
                <a:solidFill>
                  <a:srgbClr val="EC1914"/>
                </a:solidFill>
                <a:latin typeface="Arial"/>
                <a:ea typeface="Arial"/>
                <a:cs typeface="Arial"/>
                <a:sym typeface="Arial"/>
              </a:rPr>
              <a:t>  </a:t>
            </a:r>
            <a:r>
              <a:rPr b="1" i="0" lang="en-US" sz="2000" u="none" cap="none" strike="noStrike">
                <a:solidFill>
                  <a:srgbClr val="EC1914"/>
                </a:solidFill>
                <a:latin typeface="Arial"/>
                <a:ea typeface="Arial"/>
                <a:cs typeface="Arial"/>
                <a:sym typeface="Arial"/>
              </a:rPr>
              <a:t>AUMENTA</a:t>
            </a:r>
            <a:r>
              <a:rPr b="1" i="0" lang="en-US" sz="1800" u="none" cap="none" strike="noStrike">
                <a:solidFill>
                  <a:srgbClr val="EC1914"/>
                </a:solidFill>
                <a:latin typeface="Arial"/>
                <a:ea typeface="Arial"/>
                <a:cs typeface="Arial"/>
                <a:sym typeface="Arial"/>
              </a:rPr>
              <a:t> LA CANTIDAD</a:t>
            </a:r>
          </a:p>
        </p:txBody>
      </p:sp>
      <p:pic>
        <p:nvPicPr>
          <p:cNvPr id="708" name="Shape 708"/>
          <p:cNvPicPr preferRelativeResize="0"/>
          <p:nvPr>
            <p:ph idx="4294967295" type="body"/>
          </p:nvPr>
        </p:nvPicPr>
        <p:blipFill rotWithShape="1">
          <a:blip r:embed="rId3">
            <a:alphaModFix/>
          </a:blip>
          <a:srcRect b="0" l="0" r="0" t="0"/>
          <a:stretch/>
        </p:blipFill>
        <p:spPr>
          <a:xfrm>
            <a:off x="5651500" y="692150"/>
            <a:ext cx="2290762" cy="609599"/>
          </a:xfrm>
          <a:prstGeom prst="rect">
            <a:avLst/>
          </a:prstGeom>
          <a:noFill/>
          <a:ln>
            <a:noFill/>
          </a:ln>
        </p:spPr>
      </p:pic>
      <p:sp>
        <p:nvSpPr>
          <p:cNvPr id="709" name="Shape 709"/>
          <p:cNvSpPr txBox="1"/>
          <p:nvPr/>
        </p:nvSpPr>
        <p:spPr>
          <a:xfrm>
            <a:off x="0" y="0"/>
            <a:ext cx="9144000" cy="620711"/>
          </a:xfrm>
          <a:prstGeom prst="rect">
            <a:avLst/>
          </a:prstGeom>
          <a:solidFill>
            <a:schemeClr val="accent1"/>
          </a:solid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SUBSIDIOS  PAGADOS AL CONSUMIDOR</a:t>
            </a:r>
          </a:p>
        </p:txBody>
      </p:sp>
      <p:sp>
        <p:nvSpPr>
          <p:cNvPr id="710" name="Shape 710"/>
          <p:cNvSpPr txBox="1"/>
          <p:nvPr/>
        </p:nvSpPr>
        <p:spPr>
          <a:xfrm rot="5400000">
            <a:off x="-356393" y="4541042"/>
            <a:ext cx="11493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Subsidio</a:t>
            </a:r>
          </a:p>
        </p:txBody>
      </p:sp>
      <p:cxnSp>
        <p:nvCxnSpPr>
          <p:cNvPr id="711" name="Shape 711"/>
          <p:cNvCxnSpPr/>
          <p:nvPr/>
        </p:nvCxnSpPr>
        <p:spPr>
          <a:xfrm rot="10800000">
            <a:off x="900111" y="5084762"/>
            <a:ext cx="2592387" cy="0"/>
          </a:xfrm>
          <a:prstGeom prst="straightConnector1">
            <a:avLst/>
          </a:prstGeom>
          <a:noFill/>
          <a:ln cap="flat" cmpd="sng" w="9525">
            <a:solidFill>
              <a:schemeClr val="dk1"/>
            </a:solidFill>
            <a:prstDash val="solid"/>
            <a:miter/>
            <a:headEnd len="med" w="med" type="none"/>
            <a:tailEnd len="med" w="med" type="none"/>
          </a:ln>
        </p:spPr>
      </p:cxnSp>
      <p:sp>
        <p:nvSpPr>
          <p:cNvPr id="712" name="Shape 712"/>
          <p:cNvSpPr txBox="1"/>
          <p:nvPr/>
        </p:nvSpPr>
        <p:spPr>
          <a:xfrm>
            <a:off x="468312" y="4940300"/>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P´1</a:t>
            </a:r>
          </a:p>
        </p:txBody>
      </p:sp>
      <p:sp>
        <p:nvSpPr>
          <p:cNvPr id="713" name="Shape 713"/>
          <p:cNvSpPr/>
          <p:nvPr/>
        </p:nvSpPr>
        <p:spPr>
          <a:xfrm>
            <a:off x="315912" y="4365625"/>
            <a:ext cx="223837" cy="698500"/>
          </a:xfrm>
          <a:prstGeom prst="leftBrace">
            <a:avLst>
              <a:gd fmla="val 8333" name="adj1"/>
              <a:gd fmla="val 50000" name="adj2"/>
            </a:avLst>
          </a:prstGeom>
          <a:noFill/>
          <a:ln cap="flat" cmpd="sng" w="15875">
            <a:solidFill>
              <a:srgbClr val="00008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14" name="Shape 714"/>
          <p:cNvSpPr/>
          <p:nvPr/>
        </p:nvSpPr>
        <p:spPr>
          <a:xfrm>
            <a:off x="2916236" y="6372225"/>
            <a:ext cx="576262" cy="485775"/>
          </a:xfrm>
          <a:prstGeom prst="rightArrow">
            <a:avLst>
              <a:gd fmla="val 50000" name="adj1"/>
              <a:gd fmla="val 50000" name="adj2"/>
            </a:avLst>
          </a:prstGeom>
          <a:solidFill>
            <a:srgbClr val="00008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15" name="Shape 715"/>
          <p:cNvSpPr/>
          <p:nvPr/>
        </p:nvSpPr>
        <p:spPr>
          <a:xfrm rot="-5400000">
            <a:off x="1611312" y="4302124"/>
            <a:ext cx="358775" cy="485775"/>
          </a:xfrm>
          <a:prstGeom prst="rightArrow">
            <a:avLst>
              <a:gd fmla="val 50000" name="adj1"/>
              <a:gd fmla="val 50000" name="adj2"/>
            </a:avLst>
          </a:prstGeom>
          <a:solidFill>
            <a:srgbClr val="00008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19" name="Shape 719"/>
        <p:cNvGrpSpPr/>
        <p:nvPr/>
      </p:nvGrpSpPr>
      <p:grpSpPr>
        <a:xfrm>
          <a:off x="0" y="0"/>
          <a:ext cx="0" cy="0"/>
          <a:chOff x="0" y="0"/>
          <a:chExt cx="0" cy="0"/>
        </a:xfrm>
      </p:grpSpPr>
      <p:sp>
        <p:nvSpPr>
          <p:cNvPr id="720" name="Shape 720"/>
          <p:cNvSpPr/>
          <p:nvPr/>
        </p:nvSpPr>
        <p:spPr>
          <a:xfrm>
            <a:off x="900112" y="2636836"/>
            <a:ext cx="2016125" cy="2087561"/>
          </a:xfrm>
          <a:custGeom>
            <a:pathLst>
              <a:path extrusionOk="0" h="1315" w="1270">
                <a:moveTo>
                  <a:pt x="1270" y="1315"/>
                </a:moveTo>
                <a:lnTo>
                  <a:pt x="811" y="979"/>
                </a:lnTo>
                <a:lnTo>
                  <a:pt x="489" y="653"/>
                </a:lnTo>
                <a:lnTo>
                  <a:pt x="300" y="414"/>
                </a:lnTo>
                <a:lnTo>
                  <a:pt x="0" y="0"/>
                </a:lnTo>
                <a:lnTo>
                  <a:pt x="0" y="1315"/>
                </a:lnTo>
                <a:lnTo>
                  <a:pt x="543" y="1315"/>
                </a:lnTo>
                <a:lnTo>
                  <a:pt x="1270" y="1315"/>
                </a:lnTo>
                <a:close/>
              </a:path>
            </a:pathLst>
          </a:custGeom>
          <a:solidFill>
            <a:srgbClr val="EC1914">
              <a:alpha val="29803"/>
            </a:srgbClr>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1" name="Shape 721"/>
          <p:cNvSpPr txBox="1"/>
          <p:nvPr>
            <p:ph idx="4294967295" type="title"/>
          </p:nvPr>
        </p:nvSpPr>
        <p:spPr>
          <a:xfrm>
            <a:off x="468312" y="404812"/>
            <a:ext cx="5832474" cy="1295400"/>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rgbClr val="EC1914"/>
              </a:buClr>
              <a:buSzPct val="25000"/>
              <a:buFont typeface="Arial"/>
              <a:buNone/>
            </a:pPr>
            <a:r>
              <a:rPr b="1" i="0" lang="en-US" sz="3200" u="none" cap="none" strike="noStrike">
                <a:solidFill>
                  <a:srgbClr val="EC1914"/>
                </a:solidFill>
                <a:latin typeface="Arial"/>
                <a:ea typeface="Arial"/>
                <a:cs typeface="Arial"/>
                <a:sym typeface="Arial"/>
              </a:rPr>
              <a:t>AUMENTAN EL EXCEDENTE </a:t>
            </a:r>
            <a:br>
              <a:rPr b="1" i="0" lang="en-US" sz="3200" u="none" cap="none" strike="noStrike">
                <a:solidFill>
                  <a:srgbClr val="EC1914"/>
                </a:solidFill>
                <a:latin typeface="Arial"/>
                <a:ea typeface="Arial"/>
                <a:cs typeface="Arial"/>
                <a:sym typeface="Arial"/>
              </a:rPr>
            </a:br>
            <a:r>
              <a:rPr b="1" i="0" lang="en-US" sz="3200" u="none" cap="none" strike="noStrike">
                <a:solidFill>
                  <a:srgbClr val="EC1914"/>
                </a:solidFill>
                <a:latin typeface="Arial"/>
                <a:ea typeface="Arial"/>
                <a:cs typeface="Arial"/>
                <a:sym typeface="Arial"/>
              </a:rPr>
              <a:t>DE LOS CONSUMIDORES</a:t>
            </a:r>
          </a:p>
        </p:txBody>
      </p:sp>
      <p:sp>
        <p:nvSpPr>
          <p:cNvPr id="722" name="Shape 722"/>
          <p:cNvSpPr txBox="1"/>
          <p:nvPr>
            <p:ph idx="4294967295" type="body"/>
          </p:nvPr>
        </p:nvSpPr>
        <p:spPr>
          <a:xfrm>
            <a:off x="5141912" y="2546350"/>
            <a:ext cx="3751262" cy="2395537"/>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0" i="0" lang="en-US" sz="2600" u="none" cap="none" strike="noStrike">
                <a:solidFill>
                  <a:schemeClr val="dk1"/>
                </a:solidFill>
                <a:latin typeface="Arial"/>
                <a:ea typeface="Arial"/>
                <a:cs typeface="Arial"/>
                <a:sym typeface="Arial"/>
              </a:rPr>
              <a:t>El estado al subsidiar de esta forma mejora la demanda y aumenta el excedente de los consumidores, como se ve en el gráfico.</a:t>
            </a:r>
          </a:p>
        </p:txBody>
      </p:sp>
      <p:cxnSp>
        <p:nvCxnSpPr>
          <p:cNvPr id="723" name="Shape 723"/>
          <p:cNvCxnSpPr/>
          <p:nvPr/>
        </p:nvCxnSpPr>
        <p:spPr>
          <a:xfrm>
            <a:off x="900112" y="1628775"/>
            <a:ext cx="0" cy="4608512"/>
          </a:xfrm>
          <a:prstGeom prst="straightConnector1">
            <a:avLst/>
          </a:prstGeom>
          <a:noFill/>
          <a:ln cap="flat" cmpd="sng" w="9525">
            <a:solidFill>
              <a:schemeClr val="dk1"/>
            </a:solidFill>
            <a:prstDash val="solid"/>
            <a:miter/>
            <a:headEnd len="med" w="med" type="none"/>
            <a:tailEnd len="med" w="med" type="none"/>
          </a:ln>
        </p:spPr>
      </p:cxnSp>
      <p:cxnSp>
        <p:nvCxnSpPr>
          <p:cNvPr id="724" name="Shape 724"/>
          <p:cNvCxnSpPr/>
          <p:nvPr/>
        </p:nvCxnSpPr>
        <p:spPr>
          <a:xfrm>
            <a:off x="611187" y="6165850"/>
            <a:ext cx="5761036" cy="0"/>
          </a:xfrm>
          <a:prstGeom prst="straightConnector1">
            <a:avLst/>
          </a:prstGeom>
          <a:noFill/>
          <a:ln cap="flat" cmpd="sng" w="9525">
            <a:solidFill>
              <a:schemeClr val="dk1"/>
            </a:solidFill>
            <a:prstDash val="solid"/>
            <a:miter/>
            <a:headEnd len="med" w="med" type="none"/>
            <a:tailEnd len="med" w="med" type="none"/>
          </a:ln>
        </p:spPr>
      </p:cxnSp>
      <p:sp>
        <p:nvSpPr>
          <p:cNvPr id="725" name="Shape 725"/>
          <p:cNvSpPr txBox="1"/>
          <p:nvPr/>
        </p:nvSpPr>
        <p:spPr>
          <a:xfrm>
            <a:off x="0" y="1844675"/>
            <a:ext cx="914400" cy="9144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PRECIO</a:t>
            </a:r>
          </a:p>
        </p:txBody>
      </p:sp>
      <p:sp>
        <p:nvSpPr>
          <p:cNvPr id="726" name="Shape 726"/>
          <p:cNvSpPr txBox="1"/>
          <p:nvPr/>
        </p:nvSpPr>
        <p:spPr>
          <a:xfrm>
            <a:off x="4859337" y="5876925"/>
            <a:ext cx="2017711" cy="9144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727" name="Shape 727"/>
          <p:cNvSpPr/>
          <p:nvPr/>
        </p:nvSpPr>
        <p:spPr>
          <a:xfrm>
            <a:off x="900112" y="2636836"/>
            <a:ext cx="4527549" cy="2998786"/>
          </a:xfrm>
          <a:custGeom>
            <a:pathLst>
              <a:path extrusionOk="0" h="1844" w="2807">
                <a:moveTo>
                  <a:pt x="0" y="0"/>
                </a:moveTo>
                <a:cubicBezTo>
                  <a:pt x="62" y="81"/>
                  <a:pt x="244" y="340"/>
                  <a:pt x="373" y="491"/>
                </a:cubicBezTo>
                <a:cubicBezTo>
                  <a:pt x="502" y="642"/>
                  <a:pt x="670" y="810"/>
                  <a:pt x="773" y="906"/>
                </a:cubicBezTo>
                <a:cubicBezTo>
                  <a:pt x="875" y="1004"/>
                  <a:pt x="908" y="1015"/>
                  <a:pt x="985" y="1074"/>
                </a:cubicBezTo>
                <a:cubicBezTo>
                  <a:pt x="1062" y="1134"/>
                  <a:pt x="1158" y="1207"/>
                  <a:pt x="1234" y="1261"/>
                </a:cubicBezTo>
                <a:cubicBezTo>
                  <a:pt x="1310" y="1315"/>
                  <a:pt x="1341" y="1345"/>
                  <a:pt x="1440" y="1403"/>
                </a:cubicBezTo>
                <a:cubicBezTo>
                  <a:pt x="1538" y="1461"/>
                  <a:pt x="1659" y="1542"/>
                  <a:pt x="1827" y="1608"/>
                </a:cubicBezTo>
                <a:cubicBezTo>
                  <a:pt x="1995" y="1674"/>
                  <a:pt x="2286" y="1758"/>
                  <a:pt x="2449" y="1797"/>
                </a:cubicBezTo>
                <a:cubicBezTo>
                  <a:pt x="2612" y="1836"/>
                  <a:pt x="2732" y="1834"/>
                  <a:pt x="2807" y="1844"/>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8" name="Shape 728"/>
          <p:cNvSpPr txBox="1"/>
          <p:nvPr/>
        </p:nvSpPr>
        <p:spPr>
          <a:xfrm>
            <a:off x="107950" y="2997200"/>
            <a:ext cx="1223961"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DEMANDA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INICIAL</a:t>
            </a:r>
          </a:p>
        </p:txBody>
      </p:sp>
      <p:sp>
        <p:nvSpPr>
          <p:cNvPr id="729" name="Shape 729"/>
          <p:cNvSpPr/>
          <p:nvPr/>
        </p:nvSpPr>
        <p:spPr>
          <a:xfrm>
            <a:off x="900112" y="1700211"/>
            <a:ext cx="4630736" cy="3232150"/>
          </a:xfrm>
          <a:custGeom>
            <a:pathLst>
              <a:path extrusionOk="0" h="2036" w="2917">
                <a:moveTo>
                  <a:pt x="0" y="0"/>
                </a:moveTo>
                <a:cubicBezTo>
                  <a:pt x="56" y="85"/>
                  <a:pt x="222" y="355"/>
                  <a:pt x="341" y="513"/>
                </a:cubicBezTo>
                <a:cubicBezTo>
                  <a:pt x="460" y="672"/>
                  <a:pt x="618" y="850"/>
                  <a:pt x="714" y="953"/>
                </a:cubicBezTo>
                <a:cubicBezTo>
                  <a:pt x="810" y="1057"/>
                  <a:pt x="842" y="1073"/>
                  <a:pt x="915" y="1134"/>
                </a:cubicBezTo>
                <a:cubicBezTo>
                  <a:pt x="988" y="1195"/>
                  <a:pt x="1076" y="1259"/>
                  <a:pt x="1152" y="1318"/>
                </a:cubicBezTo>
                <a:cubicBezTo>
                  <a:pt x="1228" y="1377"/>
                  <a:pt x="1274" y="1421"/>
                  <a:pt x="1369" y="1488"/>
                </a:cubicBezTo>
                <a:cubicBezTo>
                  <a:pt x="1464" y="1555"/>
                  <a:pt x="1593" y="1651"/>
                  <a:pt x="1722" y="1720"/>
                </a:cubicBezTo>
                <a:cubicBezTo>
                  <a:pt x="1851" y="1789"/>
                  <a:pt x="2008" y="1858"/>
                  <a:pt x="2143" y="1903"/>
                </a:cubicBezTo>
                <a:cubicBezTo>
                  <a:pt x="2278" y="1948"/>
                  <a:pt x="2401" y="1966"/>
                  <a:pt x="2530" y="1988"/>
                </a:cubicBezTo>
                <a:cubicBezTo>
                  <a:pt x="2659" y="2010"/>
                  <a:pt x="2837" y="2026"/>
                  <a:pt x="2917" y="2036"/>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0" name="Shape 730"/>
          <p:cNvSpPr txBox="1"/>
          <p:nvPr/>
        </p:nvSpPr>
        <p:spPr>
          <a:xfrm>
            <a:off x="1692275" y="2349500"/>
            <a:ext cx="1223961"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DEMANDA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FINAL</a:t>
            </a:r>
          </a:p>
        </p:txBody>
      </p:sp>
      <p:sp>
        <p:nvSpPr>
          <p:cNvPr id="731" name="Shape 731"/>
          <p:cNvSpPr/>
          <p:nvPr/>
        </p:nvSpPr>
        <p:spPr>
          <a:xfrm>
            <a:off x="900112" y="2205036"/>
            <a:ext cx="4270375" cy="2890836"/>
          </a:xfrm>
          <a:custGeom>
            <a:pathLst>
              <a:path extrusionOk="0" h="1821" w="2690">
                <a:moveTo>
                  <a:pt x="0" y="1821"/>
                </a:moveTo>
                <a:cubicBezTo>
                  <a:pt x="139" y="1807"/>
                  <a:pt x="600" y="1788"/>
                  <a:pt x="834" y="1738"/>
                </a:cubicBezTo>
                <a:cubicBezTo>
                  <a:pt x="1068" y="1688"/>
                  <a:pt x="1241" y="1609"/>
                  <a:pt x="1407" y="1519"/>
                </a:cubicBezTo>
                <a:cubicBezTo>
                  <a:pt x="1573" y="1429"/>
                  <a:pt x="1704" y="1311"/>
                  <a:pt x="1831" y="1198"/>
                </a:cubicBezTo>
                <a:cubicBezTo>
                  <a:pt x="1958" y="1085"/>
                  <a:pt x="2067" y="966"/>
                  <a:pt x="2171" y="839"/>
                </a:cubicBezTo>
                <a:cubicBezTo>
                  <a:pt x="2275" y="712"/>
                  <a:pt x="2369" y="573"/>
                  <a:pt x="2455" y="433"/>
                </a:cubicBezTo>
                <a:cubicBezTo>
                  <a:pt x="2541" y="293"/>
                  <a:pt x="2641" y="90"/>
                  <a:pt x="2690"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2" name="Shape 732"/>
          <p:cNvSpPr txBox="1"/>
          <p:nvPr/>
        </p:nvSpPr>
        <p:spPr>
          <a:xfrm>
            <a:off x="3924300" y="2060575"/>
            <a:ext cx="1223961"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a:t>
            </a:r>
          </a:p>
        </p:txBody>
      </p:sp>
      <p:cxnSp>
        <p:nvCxnSpPr>
          <p:cNvPr id="733" name="Shape 733"/>
          <p:cNvCxnSpPr/>
          <p:nvPr/>
        </p:nvCxnSpPr>
        <p:spPr>
          <a:xfrm rot="10800000">
            <a:off x="2916236" y="4724400"/>
            <a:ext cx="0" cy="1441449"/>
          </a:xfrm>
          <a:prstGeom prst="straightConnector1">
            <a:avLst/>
          </a:prstGeom>
          <a:noFill/>
          <a:ln cap="flat" cmpd="sng" w="9525">
            <a:solidFill>
              <a:schemeClr val="dk1"/>
            </a:solidFill>
            <a:prstDash val="solid"/>
            <a:miter/>
            <a:headEnd len="med" w="med" type="none"/>
            <a:tailEnd len="med" w="med" type="none"/>
          </a:ln>
        </p:spPr>
      </p:cxnSp>
      <p:sp>
        <p:nvSpPr>
          <p:cNvPr id="734" name="Shape 734"/>
          <p:cNvSpPr txBox="1"/>
          <p:nvPr/>
        </p:nvSpPr>
        <p:spPr>
          <a:xfrm>
            <a:off x="2627311" y="6092825"/>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p>
        </p:txBody>
      </p:sp>
      <p:sp>
        <p:nvSpPr>
          <p:cNvPr id="735" name="Shape 735"/>
          <p:cNvSpPr txBox="1"/>
          <p:nvPr/>
        </p:nvSpPr>
        <p:spPr>
          <a:xfrm>
            <a:off x="538162" y="4508500"/>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P</a:t>
            </a:r>
          </a:p>
        </p:txBody>
      </p:sp>
      <p:cxnSp>
        <p:nvCxnSpPr>
          <p:cNvPr id="736" name="Shape 736"/>
          <p:cNvCxnSpPr/>
          <p:nvPr/>
        </p:nvCxnSpPr>
        <p:spPr>
          <a:xfrm rot="10800000">
            <a:off x="900111" y="4724400"/>
            <a:ext cx="2592387" cy="0"/>
          </a:xfrm>
          <a:prstGeom prst="straightConnector1">
            <a:avLst/>
          </a:prstGeom>
          <a:noFill/>
          <a:ln cap="flat" cmpd="sng" w="9525">
            <a:solidFill>
              <a:schemeClr val="dk1"/>
            </a:solidFill>
            <a:prstDash val="solid"/>
            <a:miter/>
            <a:headEnd len="med" w="med" type="none"/>
            <a:tailEnd len="med" w="med" type="none"/>
          </a:ln>
        </p:spPr>
      </p:cxnSp>
      <p:sp>
        <p:nvSpPr>
          <p:cNvPr id="737" name="Shape 737"/>
          <p:cNvSpPr txBox="1"/>
          <p:nvPr/>
        </p:nvSpPr>
        <p:spPr>
          <a:xfrm>
            <a:off x="3203575" y="6092825"/>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Q1</a:t>
            </a:r>
          </a:p>
        </p:txBody>
      </p:sp>
      <p:cxnSp>
        <p:nvCxnSpPr>
          <p:cNvPr id="738" name="Shape 738"/>
          <p:cNvCxnSpPr/>
          <p:nvPr/>
        </p:nvCxnSpPr>
        <p:spPr>
          <a:xfrm rot="10800000">
            <a:off x="3492500" y="4365624"/>
            <a:ext cx="0" cy="1800225"/>
          </a:xfrm>
          <a:prstGeom prst="straightConnector1">
            <a:avLst/>
          </a:prstGeom>
          <a:noFill/>
          <a:ln cap="flat" cmpd="sng" w="9525">
            <a:solidFill>
              <a:schemeClr val="dk1"/>
            </a:solidFill>
            <a:prstDash val="solid"/>
            <a:miter/>
            <a:headEnd len="med" w="med" type="none"/>
            <a:tailEnd len="med" w="med" type="none"/>
          </a:ln>
        </p:spPr>
      </p:cxnSp>
      <p:cxnSp>
        <p:nvCxnSpPr>
          <p:cNvPr id="739" name="Shape 739"/>
          <p:cNvCxnSpPr/>
          <p:nvPr/>
        </p:nvCxnSpPr>
        <p:spPr>
          <a:xfrm rot="10800000">
            <a:off x="900111" y="4365625"/>
            <a:ext cx="2592387" cy="0"/>
          </a:xfrm>
          <a:prstGeom prst="straightConnector1">
            <a:avLst/>
          </a:prstGeom>
          <a:noFill/>
          <a:ln cap="flat" cmpd="sng" w="9525">
            <a:solidFill>
              <a:schemeClr val="dk1"/>
            </a:solidFill>
            <a:prstDash val="solid"/>
            <a:miter/>
            <a:headEnd len="med" w="med" type="none"/>
            <a:tailEnd len="med" w="med" type="none"/>
          </a:ln>
        </p:spPr>
      </p:cxnSp>
      <p:sp>
        <p:nvSpPr>
          <p:cNvPr id="740" name="Shape 740"/>
          <p:cNvSpPr txBox="1"/>
          <p:nvPr/>
        </p:nvSpPr>
        <p:spPr>
          <a:xfrm>
            <a:off x="468312" y="4149725"/>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P1</a:t>
            </a:r>
          </a:p>
        </p:txBody>
      </p:sp>
      <p:cxnSp>
        <p:nvCxnSpPr>
          <p:cNvPr id="741" name="Shape 741"/>
          <p:cNvCxnSpPr/>
          <p:nvPr/>
        </p:nvCxnSpPr>
        <p:spPr>
          <a:xfrm rot="10800000">
            <a:off x="900111" y="5084762"/>
            <a:ext cx="2592387" cy="0"/>
          </a:xfrm>
          <a:prstGeom prst="straightConnector1">
            <a:avLst/>
          </a:prstGeom>
          <a:noFill/>
          <a:ln cap="flat" cmpd="sng" w="9525">
            <a:solidFill>
              <a:schemeClr val="dk1"/>
            </a:solidFill>
            <a:prstDash val="solid"/>
            <a:miter/>
            <a:headEnd len="med" w="med" type="none"/>
            <a:tailEnd len="med" w="med" type="none"/>
          </a:ln>
        </p:spPr>
      </p:cxnSp>
      <p:sp>
        <p:nvSpPr>
          <p:cNvPr id="742" name="Shape 742"/>
          <p:cNvSpPr txBox="1"/>
          <p:nvPr/>
        </p:nvSpPr>
        <p:spPr>
          <a:xfrm>
            <a:off x="468312" y="4868862"/>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 P´1</a:t>
            </a:r>
          </a:p>
        </p:txBody>
      </p:sp>
      <p:sp>
        <p:nvSpPr>
          <p:cNvPr id="743" name="Shape 743"/>
          <p:cNvSpPr txBox="1"/>
          <p:nvPr/>
        </p:nvSpPr>
        <p:spPr>
          <a:xfrm>
            <a:off x="900112" y="4725987"/>
            <a:ext cx="2016124" cy="358775"/>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AUMENTO</a:t>
            </a:r>
          </a:p>
        </p:txBody>
      </p:sp>
      <p:sp>
        <p:nvSpPr>
          <p:cNvPr id="744" name="Shape 744"/>
          <p:cNvSpPr/>
          <p:nvPr/>
        </p:nvSpPr>
        <p:spPr>
          <a:xfrm>
            <a:off x="2916236" y="4725987"/>
            <a:ext cx="576262" cy="358774"/>
          </a:xfrm>
          <a:custGeom>
            <a:pathLst>
              <a:path extrusionOk="0" h="272" w="363">
                <a:moveTo>
                  <a:pt x="363" y="272"/>
                </a:moveTo>
                <a:lnTo>
                  <a:pt x="184" y="119"/>
                </a:lnTo>
                <a:lnTo>
                  <a:pt x="0" y="0"/>
                </a:lnTo>
                <a:lnTo>
                  <a:pt x="0" y="272"/>
                </a:lnTo>
                <a:lnTo>
                  <a:pt x="155" y="272"/>
                </a:lnTo>
                <a:lnTo>
                  <a:pt x="363" y="272"/>
                </a:lnTo>
                <a:close/>
              </a:path>
            </a:pathLst>
          </a:custGeom>
          <a:solidFill>
            <a:schemeClr val="accent1"/>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745" name="Shape 745"/>
          <p:cNvPicPr preferRelativeResize="0"/>
          <p:nvPr>
            <p:ph idx="4294967295" type="body"/>
          </p:nvPr>
        </p:nvPicPr>
        <p:blipFill rotWithShape="1">
          <a:blip r:embed="rId3">
            <a:alphaModFix/>
          </a:blip>
          <a:srcRect b="0" l="0" r="0" t="0"/>
          <a:stretch/>
        </p:blipFill>
        <p:spPr>
          <a:xfrm>
            <a:off x="5954712" y="1700211"/>
            <a:ext cx="3009899" cy="719136"/>
          </a:xfrm>
          <a:prstGeom prst="rect">
            <a:avLst/>
          </a:prstGeom>
          <a:noFill/>
          <a:ln>
            <a:noFill/>
          </a:ln>
        </p:spPr>
      </p:pic>
      <p:sp>
        <p:nvSpPr>
          <p:cNvPr id="746" name="Shape 746"/>
          <p:cNvSpPr txBox="1"/>
          <p:nvPr/>
        </p:nvSpPr>
        <p:spPr>
          <a:xfrm>
            <a:off x="0" y="0"/>
            <a:ext cx="9144000" cy="620711"/>
          </a:xfrm>
          <a:prstGeom prst="rect">
            <a:avLst/>
          </a:prstGeom>
          <a:solidFill>
            <a:schemeClr val="accent1"/>
          </a:solid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SUBSIDIOS  PAGADOS AL CONSUMIDOR</a:t>
            </a:r>
          </a:p>
        </p:txBody>
      </p:sp>
      <p:sp>
        <p:nvSpPr>
          <p:cNvPr id="747" name="Shape 747"/>
          <p:cNvSpPr txBox="1"/>
          <p:nvPr/>
        </p:nvSpPr>
        <p:spPr>
          <a:xfrm rot="5400000">
            <a:off x="-356393" y="4542631"/>
            <a:ext cx="11493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Subsidio</a:t>
            </a:r>
          </a:p>
        </p:txBody>
      </p:sp>
      <p:sp>
        <p:nvSpPr>
          <p:cNvPr id="748" name="Shape 748"/>
          <p:cNvSpPr/>
          <p:nvPr/>
        </p:nvSpPr>
        <p:spPr>
          <a:xfrm>
            <a:off x="395287" y="4365625"/>
            <a:ext cx="144462" cy="719136"/>
          </a:xfrm>
          <a:prstGeom prst="leftBrace">
            <a:avLst>
              <a:gd fmla="val 8333" name="adj1"/>
              <a:gd fmla="val 50000" name="adj2"/>
            </a:avLst>
          </a:prstGeom>
          <a:no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52" name="Shape 752"/>
        <p:cNvGrpSpPr/>
        <p:nvPr/>
      </p:nvGrpSpPr>
      <p:grpSpPr>
        <a:xfrm>
          <a:off x="0" y="0"/>
          <a:ext cx="0" cy="0"/>
          <a:chOff x="0" y="0"/>
          <a:chExt cx="0" cy="0"/>
        </a:xfrm>
      </p:grpSpPr>
      <p:sp>
        <p:nvSpPr>
          <p:cNvPr id="753" name="Shape 753"/>
          <p:cNvSpPr/>
          <p:nvPr/>
        </p:nvSpPr>
        <p:spPr>
          <a:xfrm>
            <a:off x="900112" y="4365625"/>
            <a:ext cx="2592387" cy="719136"/>
          </a:xfrm>
          <a:custGeom>
            <a:pathLst>
              <a:path extrusionOk="0" h="453" w="1633">
                <a:moveTo>
                  <a:pt x="0" y="0"/>
                </a:moveTo>
                <a:lnTo>
                  <a:pt x="0" y="453"/>
                </a:lnTo>
                <a:lnTo>
                  <a:pt x="404" y="435"/>
                </a:lnTo>
                <a:lnTo>
                  <a:pt x="802" y="385"/>
                </a:lnTo>
                <a:lnTo>
                  <a:pt x="1112" y="302"/>
                </a:lnTo>
                <a:lnTo>
                  <a:pt x="1434" y="155"/>
                </a:lnTo>
                <a:lnTo>
                  <a:pt x="1633" y="10"/>
                </a:lnTo>
                <a:lnTo>
                  <a:pt x="1234" y="0"/>
                </a:lnTo>
                <a:lnTo>
                  <a:pt x="721" y="0"/>
                </a:lnTo>
                <a:lnTo>
                  <a:pt x="364" y="0"/>
                </a:lnTo>
                <a:lnTo>
                  <a:pt x="0" y="0"/>
                </a:lnTo>
                <a:close/>
              </a:path>
            </a:pathLst>
          </a:custGeom>
          <a:solidFill>
            <a:srgbClr val="FF0000">
              <a:alpha val="66666"/>
            </a:srgbClr>
          </a:solidFill>
          <a:ln cap="flat" cmpd="sng" w="349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54" name="Shape 754"/>
          <p:cNvSpPr txBox="1"/>
          <p:nvPr>
            <p:ph idx="4294967295" type="title"/>
          </p:nvPr>
        </p:nvSpPr>
        <p:spPr>
          <a:xfrm>
            <a:off x="34925" y="620712"/>
            <a:ext cx="5903911" cy="1079499"/>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200" u="none" cap="none" strike="noStrike">
                <a:solidFill>
                  <a:srgbClr val="EC1914"/>
                </a:solidFill>
                <a:latin typeface="Arial"/>
                <a:ea typeface="Arial"/>
                <a:cs typeface="Arial"/>
                <a:sym typeface="Arial"/>
              </a:rPr>
              <a:t>AUMENTAN EXCEDENTE DE LOS PRODUCTORES</a:t>
            </a:r>
          </a:p>
        </p:txBody>
      </p:sp>
      <p:sp>
        <p:nvSpPr>
          <p:cNvPr id="755" name="Shape 755"/>
          <p:cNvSpPr txBox="1"/>
          <p:nvPr>
            <p:ph idx="4294967295" type="body"/>
          </p:nvPr>
        </p:nvSpPr>
        <p:spPr>
          <a:xfrm>
            <a:off x="5213350" y="2662236"/>
            <a:ext cx="3895725" cy="1990724"/>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0" i="0" lang="en-US" sz="2600" u="none" cap="none" strike="noStrike">
                <a:solidFill>
                  <a:schemeClr val="dk1"/>
                </a:solidFill>
                <a:latin typeface="Arial"/>
                <a:ea typeface="Arial"/>
                <a:cs typeface="Arial"/>
                <a:sym typeface="Arial"/>
              </a:rPr>
              <a:t>El estado al subsidiar de esta forma mejora la demanda y aumenta el excedente de los productores, como se ve en el gráfico.</a:t>
            </a:r>
          </a:p>
        </p:txBody>
      </p:sp>
      <p:cxnSp>
        <p:nvCxnSpPr>
          <p:cNvPr id="756" name="Shape 756"/>
          <p:cNvCxnSpPr/>
          <p:nvPr/>
        </p:nvCxnSpPr>
        <p:spPr>
          <a:xfrm>
            <a:off x="900112" y="1628775"/>
            <a:ext cx="0" cy="4608512"/>
          </a:xfrm>
          <a:prstGeom prst="straightConnector1">
            <a:avLst/>
          </a:prstGeom>
          <a:noFill/>
          <a:ln cap="flat" cmpd="sng" w="9525">
            <a:solidFill>
              <a:schemeClr val="dk1"/>
            </a:solidFill>
            <a:prstDash val="solid"/>
            <a:miter/>
            <a:headEnd len="med" w="med" type="none"/>
            <a:tailEnd len="med" w="med" type="none"/>
          </a:ln>
        </p:spPr>
      </p:cxnSp>
      <p:cxnSp>
        <p:nvCxnSpPr>
          <p:cNvPr id="757" name="Shape 757"/>
          <p:cNvCxnSpPr/>
          <p:nvPr/>
        </p:nvCxnSpPr>
        <p:spPr>
          <a:xfrm>
            <a:off x="611187" y="6165850"/>
            <a:ext cx="5761036" cy="0"/>
          </a:xfrm>
          <a:prstGeom prst="straightConnector1">
            <a:avLst/>
          </a:prstGeom>
          <a:noFill/>
          <a:ln cap="flat" cmpd="sng" w="9525">
            <a:solidFill>
              <a:schemeClr val="dk1"/>
            </a:solidFill>
            <a:prstDash val="solid"/>
            <a:miter/>
            <a:headEnd len="med" w="med" type="none"/>
            <a:tailEnd len="med" w="med" type="none"/>
          </a:ln>
        </p:spPr>
      </p:cxnSp>
      <p:sp>
        <p:nvSpPr>
          <p:cNvPr id="758" name="Shape 758"/>
          <p:cNvSpPr txBox="1"/>
          <p:nvPr/>
        </p:nvSpPr>
        <p:spPr>
          <a:xfrm>
            <a:off x="34925" y="1484312"/>
            <a:ext cx="914400" cy="9144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759" name="Shape 759"/>
          <p:cNvSpPr txBox="1"/>
          <p:nvPr/>
        </p:nvSpPr>
        <p:spPr>
          <a:xfrm>
            <a:off x="4859337" y="5876925"/>
            <a:ext cx="2017711" cy="9144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760" name="Shape 760"/>
          <p:cNvSpPr/>
          <p:nvPr/>
        </p:nvSpPr>
        <p:spPr>
          <a:xfrm>
            <a:off x="900112" y="2636836"/>
            <a:ext cx="4527549" cy="2998786"/>
          </a:xfrm>
          <a:custGeom>
            <a:pathLst>
              <a:path extrusionOk="0" h="1844" w="2807">
                <a:moveTo>
                  <a:pt x="0" y="0"/>
                </a:moveTo>
                <a:cubicBezTo>
                  <a:pt x="62" y="81"/>
                  <a:pt x="244" y="340"/>
                  <a:pt x="373" y="491"/>
                </a:cubicBezTo>
                <a:cubicBezTo>
                  <a:pt x="502" y="642"/>
                  <a:pt x="670" y="810"/>
                  <a:pt x="773" y="906"/>
                </a:cubicBezTo>
                <a:cubicBezTo>
                  <a:pt x="875" y="1004"/>
                  <a:pt x="908" y="1015"/>
                  <a:pt x="985" y="1074"/>
                </a:cubicBezTo>
                <a:cubicBezTo>
                  <a:pt x="1062" y="1134"/>
                  <a:pt x="1158" y="1207"/>
                  <a:pt x="1234" y="1261"/>
                </a:cubicBezTo>
                <a:cubicBezTo>
                  <a:pt x="1310" y="1315"/>
                  <a:pt x="1341" y="1345"/>
                  <a:pt x="1440" y="1403"/>
                </a:cubicBezTo>
                <a:cubicBezTo>
                  <a:pt x="1538" y="1461"/>
                  <a:pt x="1659" y="1542"/>
                  <a:pt x="1827" y="1608"/>
                </a:cubicBezTo>
                <a:cubicBezTo>
                  <a:pt x="1995" y="1674"/>
                  <a:pt x="2286" y="1758"/>
                  <a:pt x="2449" y="1797"/>
                </a:cubicBezTo>
                <a:cubicBezTo>
                  <a:pt x="2612" y="1836"/>
                  <a:pt x="2732" y="1834"/>
                  <a:pt x="2807" y="1844"/>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61" name="Shape 761"/>
          <p:cNvSpPr txBox="1"/>
          <p:nvPr/>
        </p:nvSpPr>
        <p:spPr>
          <a:xfrm>
            <a:off x="107950" y="2997200"/>
            <a:ext cx="1223961"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DEMANDA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INICIAL</a:t>
            </a:r>
          </a:p>
        </p:txBody>
      </p:sp>
      <p:sp>
        <p:nvSpPr>
          <p:cNvPr id="762" name="Shape 762"/>
          <p:cNvSpPr/>
          <p:nvPr/>
        </p:nvSpPr>
        <p:spPr>
          <a:xfrm>
            <a:off x="900112" y="1700211"/>
            <a:ext cx="4630736" cy="3232150"/>
          </a:xfrm>
          <a:custGeom>
            <a:pathLst>
              <a:path extrusionOk="0" h="2036" w="2917">
                <a:moveTo>
                  <a:pt x="0" y="0"/>
                </a:moveTo>
                <a:cubicBezTo>
                  <a:pt x="56" y="85"/>
                  <a:pt x="222" y="355"/>
                  <a:pt x="341" y="513"/>
                </a:cubicBezTo>
                <a:cubicBezTo>
                  <a:pt x="460" y="672"/>
                  <a:pt x="618" y="850"/>
                  <a:pt x="714" y="953"/>
                </a:cubicBezTo>
                <a:cubicBezTo>
                  <a:pt x="810" y="1057"/>
                  <a:pt x="842" y="1073"/>
                  <a:pt x="915" y="1134"/>
                </a:cubicBezTo>
                <a:cubicBezTo>
                  <a:pt x="988" y="1195"/>
                  <a:pt x="1076" y="1259"/>
                  <a:pt x="1152" y="1318"/>
                </a:cubicBezTo>
                <a:cubicBezTo>
                  <a:pt x="1228" y="1377"/>
                  <a:pt x="1274" y="1421"/>
                  <a:pt x="1369" y="1488"/>
                </a:cubicBezTo>
                <a:cubicBezTo>
                  <a:pt x="1464" y="1555"/>
                  <a:pt x="1593" y="1651"/>
                  <a:pt x="1722" y="1720"/>
                </a:cubicBezTo>
                <a:cubicBezTo>
                  <a:pt x="1851" y="1789"/>
                  <a:pt x="2008" y="1858"/>
                  <a:pt x="2143" y="1903"/>
                </a:cubicBezTo>
                <a:cubicBezTo>
                  <a:pt x="2278" y="1948"/>
                  <a:pt x="2401" y="1966"/>
                  <a:pt x="2530" y="1988"/>
                </a:cubicBezTo>
                <a:cubicBezTo>
                  <a:pt x="2659" y="2010"/>
                  <a:pt x="2837" y="2026"/>
                  <a:pt x="2917" y="2036"/>
                </a:cubicBezTo>
              </a:path>
            </a:pathLst>
          </a:custGeom>
          <a:noFill/>
          <a:ln cap="flat" cmpd="sng" w="38100">
            <a:solidFill>
              <a:srgbClr val="FF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63" name="Shape 763"/>
          <p:cNvSpPr txBox="1"/>
          <p:nvPr/>
        </p:nvSpPr>
        <p:spPr>
          <a:xfrm>
            <a:off x="1403350" y="2060575"/>
            <a:ext cx="1223961"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DEMANDA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FINAL</a:t>
            </a:r>
          </a:p>
        </p:txBody>
      </p:sp>
      <p:sp>
        <p:nvSpPr>
          <p:cNvPr id="764" name="Shape 764"/>
          <p:cNvSpPr/>
          <p:nvPr/>
        </p:nvSpPr>
        <p:spPr>
          <a:xfrm>
            <a:off x="900112" y="2205036"/>
            <a:ext cx="4270375" cy="2890836"/>
          </a:xfrm>
          <a:custGeom>
            <a:pathLst>
              <a:path extrusionOk="0" h="1821" w="2690">
                <a:moveTo>
                  <a:pt x="0" y="1821"/>
                </a:moveTo>
                <a:cubicBezTo>
                  <a:pt x="139" y="1807"/>
                  <a:pt x="600" y="1788"/>
                  <a:pt x="834" y="1738"/>
                </a:cubicBezTo>
                <a:cubicBezTo>
                  <a:pt x="1068" y="1688"/>
                  <a:pt x="1241" y="1609"/>
                  <a:pt x="1407" y="1519"/>
                </a:cubicBezTo>
                <a:cubicBezTo>
                  <a:pt x="1573" y="1429"/>
                  <a:pt x="1704" y="1311"/>
                  <a:pt x="1831" y="1198"/>
                </a:cubicBezTo>
                <a:cubicBezTo>
                  <a:pt x="1958" y="1085"/>
                  <a:pt x="2067" y="966"/>
                  <a:pt x="2171" y="839"/>
                </a:cubicBezTo>
                <a:cubicBezTo>
                  <a:pt x="2275" y="712"/>
                  <a:pt x="2369" y="573"/>
                  <a:pt x="2455" y="433"/>
                </a:cubicBezTo>
                <a:cubicBezTo>
                  <a:pt x="2541" y="293"/>
                  <a:pt x="2641" y="90"/>
                  <a:pt x="2690"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65" name="Shape 765"/>
          <p:cNvSpPr txBox="1"/>
          <p:nvPr/>
        </p:nvSpPr>
        <p:spPr>
          <a:xfrm>
            <a:off x="3924300" y="2060575"/>
            <a:ext cx="1223961"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a:t>
            </a:r>
          </a:p>
        </p:txBody>
      </p:sp>
      <p:cxnSp>
        <p:nvCxnSpPr>
          <p:cNvPr id="766" name="Shape 766"/>
          <p:cNvCxnSpPr/>
          <p:nvPr/>
        </p:nvCxnSpPr>
        <p:spPr>
          <a:xfrm rot="10800000">
            <a:off x="2916236" y="4724400"/>
            <a:ext cx="0" cy="1441449"/>
          </a:xfrm>
          <a:prstGeom prst="straightConnector1">
            <a:avLst/>
          </a:prstGeom>
          <a:noFill/>
          <a:ln cap="flat" cmpd="sng" w="9525">
            <a:solidFill>
              <a:schemeClr val="dk1"/>
            </a:solidFill>
            <a:prstDash val="solid"/>
            <a:miter/>
            <a:headEnd len="med" w="med" type="none"/>
            <a:tailEnd len="med" w="med" type="none"/>
          </a:ln>
        </p:spPr>
      </p:cxnSp>
      <p:sp>
        <p:nvSpPr>
          <p:cNvPr id="767" name="Shape 767"/>
          <p:cNvSpPr txBox="1"/>
          <p:nvPr/>
        </p:nvSpPr>
        <p:spPr>
          <a:xfrm>
            <a:off x="2627311" y="6092825"/>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a:t>
            </a:r>
          </a:p>
        </p:txBody>
      </p:sp>
      <p:sp>
        <p:nvSpPr>
          <p:cNvPr id="768" name="Shape 768"/>
          <p:cNvSpPr txBox="1"/>
          <p:nvPr/>
        </p:nvSpPr>
        <p:spPr>
          <a:xfrm>
            <a:off x="395287" y="4508500"/>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a:t>
            </a:r>
          </a:p>
        </p:txBody>
      </p:sp>
      <p:cxnSp>
        <p:nvCxnSpPr>
          <p:cNvPr id="769" name="Shape 769"/>
          <p:cNvCxnSpPr/>
          <p:nvPr/>
        </p:nvCxnSpPr>
        <p:spPr>
          <a:xfrm rot="10800000">
            <a:off x="900111" y="4724400"/>
            <a:ext cx="2592387" cy="0"/>
          </a:xfrm>
          <a:prstGeom prst="straightConnector1">
            <a:avLst/>
          </a:prstGeom>
          <a:noFill/>
          <a:ln cap="flat" cmpd="sng" w="9525">
            <a:solidFill>
              <a:schemeClr val="dk1"/>
            </a:solidFill>
            <a:prstDash val="solid"/>
            <a:miter/>
            <a:headEnd len="med" w="med" type="none"/>
            <a:tailEnd len="med" w="med" type="none"/>
          </a:ln>
        </p:spPr>
      </p:cxnSp>
      <p:sp>
        <p:nvSpPr>
          <p:cNvPr id="770" name="Shape 770"/>
          <p:cNvSpPr txBox="1"/>
          <p:nvPr/>
        </p:nvSpPr>
        <p:spPr>
          <a:xfrm>
            <a:off x="3203575" y="6092825"/>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Q1</a:t>
            </a:r>
          </a:p>
        </p:txBody>
      </p:sp>
      <p:cxnSp>
        <p:nvCxnSpPr>
          <p:cNvPr id="771" name="Shape 771"/>
          <p:cNvCxnSpPr/>
          <p:nvPr/>
        </p:nvCxnSpPr>
        <p:spPr>
          <a:xfrm rot="10800000">
            <a:off x="3492500" y="4365624"/>
            <a:ext cx="0" cy="1800225"/>
          </a:xfrm>
          <a:prstGeom prst="straightConnector1">
            <a:avLst/>
          </a:prstGeom>
          <a:noFill/>
          <a:ln cap="flat" cmpd="sng" w="9525">
            <a:solidFill>
              <a:schemeClr val="dk1"/>
            </a:solidFill>
            <a:prstDash val="solid"/>
            <a:miter/>
            <a:headEnd len="med" w="med" type="none"/>
            <a:tailEnd len="med" w="med" type="none"/>
          </a:ln>
        </p:spPr>
      </p:cxnSp>
      <p:cxnSp>
        <p:nvCxnSpPr>
          <p:cNvPr id="772" name="Shape 772"/>
          <p:cNvCxnSpPr/>
          <p:nvPr/>
        </p:nvCxnSpPr>
        <p:spPr>
          <a:xfrm rot="10800000">
            <a:off x="900111" y="4365625"/>
            <a:ext cx="2592387" cy="0"/>
          </a:xfrm>
          <a:prstGeom prst="straightConnector1">
            <a:avLst/>
          </a:prstGeom>
          <a:noFill/>
          <a:ln cap="flat" cmpd="sng" w="9525">
            <a:solidFill>
              <a:schemeClr val="dk1"/>
            </a:solidFill>
            <a:prstDash val="solid"/>
            <a:miter/>
            <a:headEnd len="med" w="med" type="none"/>
            <a:tailEnd len="med" w="med" type="none"/>
          </a:ln>
        </p:spPr>
      </p:cxnSp>
      <p:sp>
        <p:nvSpPr>
          <p:cNvPr id="773" name="Shape 773"/>
          <p:cNvSpPr txBox="1"/>
          <p:nvPr/>
        </p:nvSpPr>
        <p:spPr>
          <a:xfrm>
            <a:off x="468312" y="4149725"/>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P1</a:t>
            </a:r>
          </a:p>
        </p:txBody>
      </p:sp>
      <p:sp>
        <p:nvSpPr>
          <p:cNvPr id="774" name="Shape 774"/>
          <p:cNvSpPr txBox="1"/>
          <p:nvPr/>
        </p:nvSpPr>
        <p:spPr>
          <a:xfrm>
            <a:off x="900112" y="4365625"/>
            <a:ext cx="2016124" cy="358775"/>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AUMENTO</a:t>
            </a:r>
          </a:p>
        </p:txBody>
      </p:sp>
      <p:sp>
        <p:nvSpPr>
          <p:cNvPr id="775" name="Shape 775"/>
          <p:cNvSpPr/>
          <p:nvPr/>
        </p:nvSpPr>
        <p:spPr>
          <a:xfrm rot="5400000">
            <a:off x="3024981" y="4256880"/>
            <a:ext cx="360362" cy="577850"/>
          </a:xfrm>
          <a:prstGeom prst="rtTriangle">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76" name="Shape 776"/>
          <p:cNvSpPr/>
          <p:nvPr/>
        </p:nvSpPr>
        <p:spPr>
          <a:xfrm>
            <a:off x="900112" y="4724400"/>
            <a:ext cx="2001837" cy="357187"/>
          </a:xfrm>
          <a:custGeom>
            <a:pathLst>
              <a:path extrusionOk="0" h="225" w="1261">
                <a:moveTo>
                  <a:pt x="0" y="0"/>
                </a:moveTo>
                <a:lnTo>
                  <a:pt x="0" y="225"/>
                </a:lnTo>
                <a:lnTo>
                  <a:pt x="312" y="216"/>
                </a:lnTo>
                <a:lnTo>
                  <a:pt x="614" y="178"/>
                </a:lnTo>
                <a:lnTo>
                  <a:pt x="859" y="150"/>
                </a:lnTo>
                <a:lnTo>
                  <a:pt x="1107" y="77"/>
                </a:lnTo>
                <a:lnTo>
                  <a:pt x="1261" y="5"/>
                </a:lnTo>
                <a:lnTo>
                  <a:pt x="953" y="0"/>
                </a:lnTo>
                <a:lnTo>
                  <a:pt x="557" y="0"/>
                </a:lnTo>
                <a:lnTo>
                  <a:pt x="281" y="0"/>
                </a:lnTo>
                <a:lnTo>
                  <a:pt x="0" y="0"/>
                </a:lnTo>
                <a:close/>
              </a:path>
            </a:pathLst>
          </a:custGeom>
          <a:solidFill>
            <a:srgbClr val="FFFF00">
              <a:alpha val="66666"/>
            </a:srgbClr>
          </a:solidFill>
          <a:ln cap="flat" cmpd="sng" w="349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777" name="Shape 777"/>
          <p:cNvPicPr preferRelativeResize="0"/>
          <p:nvPr>
            <p:ph idx="4294967295" type="body"/>
          </p:nvPr>
        </p:nvPicPr>
        <p:blipFill rotWithShape="1">
          <a:blip r:embed="rId3">
            <a:alphaModFix/>
          </a:blip>
          <a:srcRect b="0" l="0" r="0" t="0"/>
          <a:stretch/>
        </p:blipFill>
        <p:spPr>
          <a:xfrm>
            <a:off x="5954712" y="1844675"/>
            <a:ext cx="3009899" cy="609599"/>
          </a:xfrm>
          <a:prstGeom prst="rect">
            <a:avLst/>
          </a:prstGeom>
          <a:noFill/>
          <a:ln>
            <a:noFill/>
          </a:ln>
        </p:spPr>
      </p:pic>
      <p:sp>
        <p:nvSpPr>
          <p:cNvPr id="778" name="Shape 778"/>
          <p:cNvSpPr txBox="1"/>
          <p:nvPr/>
        </p:nvSpPr>
        <p:spPr>
          <a:xfrm>
            <a:off x="0" y="0"/>
            <a:ext cx="9144000" cy="620711"/>
          </a:xfrm>
          <a:prstGeom prst="rect">
            <a:avLst/>
          </a:prstGeom>
          <a:solidFill>
            <a:schemeClr val="accent1"/>
          </a:solid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SUBSIDIOS  PAGADOS AL CONSUMIDOR</a:t>
            </a:r>
          </a:p>
        </p:txBody>
      </p:sp>
      <p:sp>
        <p:nvSpPr>
          <p:cNvPr id="779" name="Shape 779"/>
          <p:cNvSpPr txBox="1"/>
          <p:nvPr/>
        </p:nvSpPr>
        <p:spPr>
          <a:xfrm rot="5400000">
            <a:off x="-423068" y="4385467"/>
            <a:ext cx="14160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 Subsidio</a:t>
            </a:r>
          </a:p>
        </p:txBody>
      </p:sp>
      <p:cxnSp>
        <p:nvCxnSpPr>
          <p:cNvPr id="780" name="Shape 780"/>
          <p:cNvCxnSpPr/>
          <p:nvPr/>
        </p:nvCxnSpPr>
        <p:spPr>
          <a:xfrm rot="10800000">
            <a:off x="900111" y="5084762"/>
            <a:ext cx="2592387" cy="0"/>
          </a:xfrm>
          <a:prstGeom prst="straightConnector1">
            <a:avLst/>
          </a:prstGeom>
          <a:noFill/>
          <a:ln cap="flat" cmpd="sng" w="9525">
            <a:solidFill>
              <a:schemeClr val="dk1"/>
            </a:solidFill>
            <a:prstDash val="solid"/>
            <a:miter/>
            <a:headEnd len="med" w="med" type="none"/>
            <a:tailEnd len="med" w="med" type="none"/>
          </a:ln>
        </p:spPr>
      </p:cxnSp>
      <p:sp>
        <p:nvSpPr>
          <p:cNvPr id="781" name="Shape 781"/>
          <p:cNvSpPr txBox="1"/>
          <p:nvPr/>
        </p:nvSpPr>
        <p:spPr>
          <a:xfrm>
            <a:off x="468312" y="4868862"/>
            <a:ext cx="504824"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P´1</a:t>
            </a:r>
          </a:p>
        </p:txBody>
      </p:sp>
      <p:sp>
        <p:nvSpPr>
          <p:cNvPr id="782" name="Shape 782"/>
          <p:cNvSpPr/>
          <p:nvPr/>
        </p:nvSpPr>
        <p:spPr>
          <a:xfrm>
            <a:off x="395287" y="4365625"/>
            <a:ext cx="73025" cy="358775"/>
          </a:xfrm>
          <a:prstGeom prst="leftBrace">
            <a:avLst>
              <a:gd fmla="val 8333" name="adj1"/>
              <a:gd fmla="val 50000" name="adj2"/>
            </a:avLst>
          </a:prstGeom>
          <a:no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86" name="Shape 786"/>
        <p:cNvGrpSpPr/>
        <p:nvPr/>
      </p:nvGrpSpPr>
      <p:grpSpPr>
        <a:xfrm>
          <a:off x="0" y="0"/>
          <a:ext cx="0" cy="0"/>
          <a:chOff x="0" y="0"/>
          <a:chExt cx="0" cy="0"/>
        </a:xfrm>
      </p:grpSpPr>
      <p:sp>
        <p:nvSpPr>
          <p:cNvPr id="787" name="Shape 787"/>
          <p:cNvSpPr/>
          <p:nvPr/>
        </p:nvSpPr>
        <p:spPr>
          <a:xfrm>
            <a:off x="827087" y="3141661"/>
            <a:ext cx="3100386" cy="2570162"/>
          </a:xfrm>
          <a:custGeom>
            <a:pathLst>
              <a:path extrusionOk="0" h="1619" w="1953">
                <a:moveTo>
                  <a:pt x="0" y="0"/>
                </a:moveTo>
                <a:cubicBezTo>
                  <a:pt x="36" y="41"/>
                  <a:pt x="137" y="159"/>
                  <a:pt x="216" y="249"/>
                </a:cubicBezTo>
                <a:cubicBezTo>
                  <a:pt x="295" y="339"/>
                  <a:pt x="405" y="463"/>
                  <a:pt x="474" y="540"/>
                </a:cubicBezTo>
                <a:cubicBezTo>
                  <a:pt x="543" y="617"/>
                  <a:pt x="529" y="620"/>
                  <a:pt x="631" y="712"/>
                </a:cubicBezTo>
                <a:cubicBezTo>
                  <a:pt x="733" y="804"/>
                  <a:pt x="946" y="983"/>
                  <a:pt x="1084" y="1090"/>
                </a:cubicBezTo>
                <a:cubicBezTo>
                  <a:pt x="1222" y="1197"/>
                  <a:pt x="1317" y="1266"/>
                  <a:pt x="1462" y="1354"/>
                </a:cubicBezTo>
                <a:cubicBezTo>
                  <a:pt x="1607" y="1442"/>
                  <a:pt x="1851" y="1564"/>
                  <a:pt x="1953" y="1619"/>
                </a:cubicBezTo>
              </a:path>
            </a:pathLst>
          </a:custGeom>
          <a:noFill/>
          <a:ln cap="flat" cmpd="sng" w="38100">
            <a:solidFill>
              <a:srgbClr val="0000FF"/>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88" name="Shape 788"/>
          <p:cNvSpPr/>
          <p:nvPr/>
        </p:nvSpPr>
        <p:spPr>
          <a:xfrm>
            <a:off x="827087" y="3108325"/>
            <a:ext cx="1679575" cy="1760536"/>
          </a:xfrm>
          <a:custGeom>
            <a:pathLst>
              <a:path extrusionOk="0" h="1109" w="1103">
                <a:moveTo>
                  <a:pt x="508" y="552"/>
                </a:moveTo>
                <a:lnTo>
                  <a:pt x="340" y="387"/>
                </a:lnTo>
                <a:lnTo>
                  <a:pt x="142" y="161"/>
                </a:lnTo>
                <a:lnTo>
                  <a:pt x="0" y="0"/>
                </a:lnTo>
                <a:lnTo>
                  <a:pt x="9" y="161"/>
                </a:lnTo>
                <a:lnTo>
                  <a:pt x="11" y="633"/>
                </a:lnTo>
                <a:lnTo>
                  <a:pt x="19" y="871"/>
                </a:lnTo>
                <a:lnTo>
                  <a:pt x="8" y="1090"/>
                </a:lnTo>
                <a:lnTo>
                  <a:pt x="376" y="1099"/>
                </a:lnTo>
                <a:lnTo>
                  <a:pt x="725" y="1109"/>
                </a:lnTo>
                <a:lnTo>
                  <a:pt x="1103" y="1099"/>
                </a:lnTo>
                <a:lnTo>
                  <a:pt x="980" y="1000"/>
                </a:lnTo>
                <a:lnTo>
                  <a:pt x="493" y="545"/>
                </a:lnTo>
              </a:path>
            </a:pathLst>
          </a:custGeom>
          <a:solidFill>
            <a:srgbClr val="FF0000">
              <a:alpha val="60784"/>
            </a:srgbClr>
          </a:solidFill>
          <a:ln cap="flat" cmpd="sng" w="3810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789" name="Shape 789"/>
          <p:cNvCxnSpPr/>
          <p:nvPr/>
        </p:nvCxnSpPr>
        <p:spPr>
          <a:xfrm>
            <a:off x="2555875" y="4868862"/>
            <a:ext cx="0" cy="1081086"/>
          </a:xfrm>
          <a:prstGeom prst="straightConnector1">
            <a:avLst/>
          </a:prstGeom>
          <a:noFill/>
          <a:ln cap="flat" cmpd="sng" w="9525">
            <a:solidFill>
              <a:schemeClr val="dk1"/>
            </a:solidFill>
            <a:prstDash val="solid"/>
            <a:miter/>
            <a:headEnd len="med" w="med" type="none"/>
            <a:tailEnd len="med" w="med" type="none"/>
          </a:ln>
        </p:spPr>
      </p:cxnSp>
      <p:sp>
        <p:nvSpPr>
          <p:cNvPr id="790" name="Shape 790"/>
          <p:cNvSpPr/>
          <p:nvPr/>
        </p:nvSpPr>
        <p:spPr>
          <a:xfrm>
            <a:off x="827087" y="2205036"/>
            <a:ext cx="4360861" cy="3160711"/>
          </a:xfrm>
          <a:custGeom>
            <a:pathLst>
              <a:path extrusionOk="0" h="1991" w="2747">
                <a:moveTo>
                  <a:pt x="0" y="1991"/>
                </a:moveTo>
                <a:cubicBezTo>
                  <a:pt x="61" y="1980"/>
                  <a:pt x="222" y="1961"/>
                  <a:pt x="368" y="1925"/>
                </a:cubicBezTo>
                <a:cubicBezTo>
                  <a:pt x="514" y="1889"/>
                  <a:pt x="700" y="1843"/>
                  <a:pt x="878" y="1774"/>
                </a:cubicBezTo>
                <a:cubicBezTo>
                  <a:pt x="1056" y="1705"/>
                  <a:pt x="1267" y="1606"/>
                  <a:pt x="1435" y="1510"/>
                </a:cubicBezTo>
                <a:cubicBezTo>
                  <a:pt x="1603" y="1414"/>
                  <a:pt x="1756" y="1310"/>
                  <a:pt x="1888" y="1198"/>
                </a:cubicBezTo>
                <a:cubicBezTo>
                  <a:pt x="2020" y="1086"/>
                  <a:pt x="2124" y="966"/>
                  <a:pt x="2228" y="839"/>
                </a:cubicBezTo>
                <a:cubicBezTo>
                  <a:pt x="2332" y="712"/>
                  <a:pt x="2426" y="573"/>
                  <a:pt x="2512" y="433"/>
                </a:cubicBezTo>
                <a:cubicBezTo>
                  <a:pt x="2598" y="293"/>
                  <a:pt x="2698" y="90"/>
                  <a:pt x="2747" y="0"/>
                </a:cubicBezTo>
              </a:path>
            </a:pathLst>
          </a:custGeom>
          <a:noFill/>
          <a:ln cap="flat" cmpd="sng" w="44450">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91" name="Shape 791"/>
          <p:cNvSpPr txBox="1"/>
          <p:nvPr>
            <p:ph idx="4294967295" type="title"/>
          </p:nvPr>
        </p:nvSpPr>
        <p:spPr>
          <a:xfrm>
            <a:off x="817562" y="692150"/>
            <a:ext cx="3898900" cy="574674"/>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rgbClr val="EC1914"/>
              </a:buClr>
              <a:buSzPct val="25000"/>
              <a:buFont typeface="Arial"/>
              <a:buNone/>
            </a:pPr>
            <a:r>
              <a:rPr b="1" i="0" lang="en-US" sz="3200" u="none" cap="none" strike="noStrike">
                <a:solidFill>
                  <a:srgbClr val="EC1914"/>
                </a:solidFill>
                <a:latin typeface="Arial"/>
                <a:ea typeface="Arial"/>
                <a:cs typeface="Arial"/>
                <a:sym typeface="Arial"/>
              </a:rPr>
              <a:t>COSTO FISCAL</a:t>
            </a:r>
          </a:p>
        </p:txBody>
      </p:sp>
      <p:sp>
        <p:nvSpPr>
          <p:cNvPr id="792" name="Shape 792"/>
          <p:cNvSpPr txBox="1"/>
          <p:nvPr>
            <p:ph idx="4294967295" type="body"/>
          </p:nvPr>
        </p:nvSpPr>
        <p:spPr>
          <a:xfrm>
            <a:off x="5076825" y="1700211"/>
            <a:ext cx="4032249" cy="2016124"/>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ymbol"/>
              <a:buNone/>
            </a:pPr>
            <a:r>
              <a:rPr b="0" i="0" lang="en-US" sz="2000" u="none" cap="none" strike="noStrike">
                <a:solidFill>
                  <a:schemeClr val="dk1"/>
                </a:solidFill>
                <a:latin typeface="Arial"/>
                <a:ea typeface="Arial"/>
                <a:cs typeface="Arial"/>
                <a:sym typeface="Arial"/>
              </a:rPr>
              <a:t>El estado al subsidiar consigue aumentar el beneficio social de este mercado, pero tendrá un costo fiscal (Subsidio * Q1)mayor que el beneficio apropiado en parte por los consumidores y en parte por los productores.</a:t>
            </a:r>
          </a:p>
        </p:txBody>
      </p:sp>
      <p:cxnSp>
        <p:nvCxnSpPr>
          <p:cNvPr id="793" name="Shape 793"/>
          <p:cNvCxnSpPr/>
          <p:nvPr/>
        </p:nvCxnSpPr>
        <p:spPr>
          <a:xfrm>
            <a:off x="827087" y="1341437"/>
            <a:ext cx="0" cy="5040312"/>
          </a:xfrm>
          <a:prstGeom prst="straightConnector1">
            <a:avLst/>
          </a:prstGeom>
          <a:noFill/>
          <a:ln cap="flat" cmpd="sng" w="9525">
            <a:solidFill>
              <a:schemeClr val="dk1"/>
            </a:solidFill>
            <a:prstDash val="solid"/>
            <a:miter/>
            <a:headEnd len="med" w="med" type="none"/>
            <a:tailEnd len="med" w="med" type="none"/>
          </a:ln>
        </p:spPr>
      </p:cxnSp>
      <p:cxnSp>
        <p:nvCxnSpPr>
          <p:cNvPr id="794" name="Shape 794"/>
          <p:cNvCxnSpPr/>
          <p:nvPr/>
        </p:nvCxnSpPr>
        <p:spPr>
          <a:xfrm>
            <a:off x="468312" y="5949950"/>
            <a:ext cx="5903911" cy="0"/>
          </a:xfrm>
          <a:prstGeom prst="straightConnector1">
            <a:avLst/>
          </a:prstGeom>
          <a:noFill/>
          <a:ln cap="flat" cmpd="sng" w="9525">
            <a:solidFill>
              <a:schemeClr val="dk1"/>
            </a:solidFill>
            <a:prstDash val="solid"/>
            <a:miter/>
            <a:headEnd len="med" w="med" type="none"/>
            <a:tailEnd len="med" w="med" type="none"/>
          </a:ln>
        </p:spPr>
      </p:cxnSp>
      <p:cxnSp>
        <p:nvCxnSpPr>
          <p:cNvPr id="795" name="Shape 795"/>
          <p:cNvCxnSpPr/>
          <p:nvPr/>
        </p:nvCxnSpPr>
        <p:spPr>
          <a:xfrm>
            <a:off x="827087" y="4508500"/>
            <a:ext cx="2449512" cy="0"/>
          </a:xfrm>
          <a:prstGeom prst="straightConnector1">
            <a:avLst/>
          </a:prstGeom>
          <a:noFill/>
          <a:ln cap="flat" cmpd="sng" w="9525">
            <a:solidFill>
              <a:schemeClr val="dk1"/>
            </a:solidFill>
            <a:prstDash val="solid"/>
            <a:miter/>
            <a:headEnd len="med" w="med" type="none"/>
            <a:tailEnd len="med" w="med" type="none"/>
          </a:ln>
        </p:spPr>
      </p:cxnSp>
      <p:cxnSp>
        <p:nvCxnSpPr>
          <p:cNvPr id="796" name="Shape 796"/>
          <p:cNvCxnSpPr/>
          <p:nvPr/>
        </p:nvCxnSpPr>
        <p:spPr>
          <a:xfrm>
            <a:off x="827087" y="4868862"/>
            <a:ext cx="2449512" cy="0"/>
          </a:xfrm>
          <a:prstGeom prst="straightConnector1">
            <a:avLst/>
          </a:prstGeom>
          <a:noFill/>
          <a:ln cap="flat" cmpd="sng" w="9525">
            <a:solidFill>
              <a:schemeClr val="dk1"/>
            </a:solidFill>
            <a:prstDash val="solid"/>
            <a:miter/>
            <a:headEnd len="med" w="med" type="none"/>
            <a:tailEnd len="med" w="med" type="none"/>
          </a:ln>
        </p:spPr>
      </p:cxnSp>
      <p:sp>
        <p:nvSpPr>
          <p:cNvPr id="797" name="Shape 797"/>
          <p:cNvSpPr/>
          <p:nvPr/>
        </p:nvSpPr>
        <p:spPr>
          <a:xfrm>
            <a:off x="3276600" y="4508500"/>
            <a:ext cx="11111" cy="1438275"/>
          </a:xfrm>
          <a:custGeom>
            <a:pathLst>
              <a:path extrusionOk="0" h="906" w="7">
                <a:moveTo>
                  <a:pt x="0" y="0"/>
                </a:moveTo>
                <a:lnTo>
                  <a:pt x="7" y="906"/>
                </a:lnTo>
              </a:path>
            </a:pathLst>
          </a:custGeom>
          <a:no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798" name="Shape 798"/>
          <p:cNvCxnSpPr/>
          <p:nvPr/>
        </p:nvCxnSpPr>
        <p:spPr>
          <a:xfrm>
            <a:off x="827087" y="5373687"/>
            <a:ext cx="2449512" cy="0"/>
          </a:xfrm>
          <a:prstGeom prst="straightConnector1">
            <a:avLst/>
          </a:prstGeom>
          <a:noFill/>
          <a:ln cap="flat" cmpd="sng" w="9525">
            <a:solidFill>
              <a:schemeClr val="dk1"/>
            </a:solidFill>
            <a:prstDash val="solid"/>
            <a:miter/>
            <a:headEnd len="med" w="med" type="none"/>
            <a:tailEnd len="med" w="med" type="none"/>
          </a:ln>
        </p:spPr>
      </p:cxnSp>
      <p:sp>
        <p:nvSpPr>
          <p:cNvPr id="799" name="Shape 799"/>
          <p:cNvSpPr txBox="1"/>
          <p:nvPr/>
        </p:nvSpPr>
        <p:spPr>
          <a:xfrm>
            <a:off x="468312" y="4292600"/>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P1</a:t>
            </a:r>
          </a:p>
        </p:txBody>
      </p:sp>
      <p:sp>
        <p:nvSpPr>
          <p:cNvPr id="800" name="Shape 800"/>
          <p:cNvSpPr txBox="1"/>
          <p:nvPr/>
        </p:nvSpPr>
        <p:spPr>
          <a:xfrm>
            <a:off x="2411411" y="58769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a:t>
            </a:r>
          </a:p>
        </p:txBody>
      </p:sp>
      <p:sp>
        <p:nvSpPr>
          <p:cNvPr id="801" name="Shape 801"/>
          <p:cNvSpPr txBox="1"/>
          <p:nvPr/>
        </p:nvSpPr>
        <p:spPr>
          <a:xfrm>
            <a:off x="539750" y="4652962"/>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a:t>
            </a:r>
          </a:p>
        </p:txBody>
      </p:sp>
      <p:sp>
        <p:nvSpPr>
          <p:cNvPr id="802" name="Shape 802"/>
          <p:cNvSpPr txBox="1"/>
          <p:nvPr/>
        </p:nvSpPr>
        <p:spPr>
          <a:xfrm>
            <a:off x="3097211" y="5876925"/>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Q1</a:t>
            </a:r>
          </a:p>
        </p:txBody>
      </p:sp>
      <p:sp>
        <p:nvSpPr>
          <p:cNvPr id="803" name="Shape 803"/>
          <p:cNvSpPr txBox="1"/>
          <p:nvPr/>
        </p:nvSpPr>
        <p:spPr>
          <a:xfrm>
            <a:off x="431800" y="5157787"/>
            <a:ext cx="395287"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  P´1</a:t>
            </a:r>
          </a:p>
        </p:txBody>
      </p:sp>
      <p:sp>
        <p:nvSpPr>
          <p:cNvPr id="804" name="Shape 804"/>
          <p:cNvSpPr txBox="1"/>
          <p:nvPr/>
        </p:nvSpPr>
        <p:spPr>
          <a:xfrm>
            <a:off x="-36511" y="141287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400" u="none" cap="none" strike="noStrike">
                <a:solidFill>
                  <a:schemeClr val="dk1"/>
                </a:solidFill>
                <a:latin typeface="Arial"/>
                <a:ea typeface="Arial"/>
                <a:cs typeface="Arial"/>
                <a:sym typeface="Arial"/>
              </a:rPr>
              <a:t>PRECIO</a:t>
            </a:r>
          </a:p>
        </p:txBody>
      </p:sp>
      <p:sp>
        <p:nvSpPr>
          <p:cNvPr id="805" name="Shape 805"/>
          <p:cNvSpPr txBox="1"/>
          <p:nvPr/>
        </p:nvSpPr>
        <p:spPr>
          <a:xfrm>
            <a:off x="5076825" y="5876925"/>
            <a:ext cx="914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sp>
        <p:nvSpPr>
          <p:cNvPr id="806" name="Shape 806"/>
          <p:cNvSpPr txBox="1"/>
          <p:nvPr/>
        </p:nvSpPr>
        <p:spPr>
          <a:xfrm>
            <a:off x="3995737" y="5446712"/>
            <a:ext cx="1223961"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DEMANDA</a:t>
            </a:r>
          </a:p>
          <a:p>
            <a:pPr indent="0" lvl="0" marL="0" marR="0" rtl="0" algn="ctr">
              <a:lnSpc>
                <a:spcPct val="100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INICIAL</a:t>
            </a:r>
          </a:p>
        </p:txBody>
      </p:sp>
      <p:sp>
        <p:nvSpPr>
          <p:cNvPr id="807" name="Shape 807"/>
          <p:cNvSpPr txBox="1"/>
          <p:nvPr/>
        </p:nvSpPr>
        <p:spPr>
          <a:xfrm>
            <a:off x="3276600" y="2852736"/>
            <a:ext cx="1223961" cy="504824"/>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a:t>
            </a:r>
          </a:p>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 </a:t>
            </a:r>
          </a:p>
        </p:txBody>
      </p:sp>
      <p:sp>
        <p:nvSpPr>
          <p:cNvPr id="808" name="Shape 808"/>
          <p:cNvSpPr txBox="1"/>
          <p:nvPr/>
        </p:nvSpPr>
        <p:spPr>
          <a:xfrm>
            <a:off x="4356100" y="3933825"/>
            <a:ext cx="4643437" cy="12954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La forma triangular de color azul que se </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encuentra en el extremo derecho del </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rectángulo representa el costo social </a:t>
            </a:r>
          </a:p>
          <a:p>
            <a:pPr indent="0" lvl="0" marL="0" marR="0" rtl="0" algn="l">
              <a:lnSpc>
                <a:spcPct val="100000"/>
              </a:lnSpc>
              <a:spcBef>
                <a:spcPts val="0"/>
              </a:spcBef>
              <a:spcAft>
                <a:spcPts val="0"/>
              </a:spcAft>
              <a:buClr>
                <a:srgbClr val="EC1914"/>
              </a:buClr>
              <a:buSzPct val="25000"/>
              <a:buFont typeface="Arial"/>
              <a:buNone/>
            </a:pPr>
            <a:r>
              <a:rPr b="1" i="0" lang="en-US" sz="1800" u="none" cap="none" strike="noStrike">
                <a:solidFill>
                  <a:srgbClr val="EC1914"/>
                </a:solidFill>
                <a:latin typeface="Arial"/>
                <a:ea typeface="Arial"/>
                <a:cs typeface="Arial"/>
                <a:sym typeface="Arial"/>
              </a:rPr>
              <a:t>del subsidio.</a:t>
            </a:r>
          </a:p>
        </p:txBody>
      </p:sp>
      <p:sp>
        <p:nvSpPr>
          <p:cNvPr id="809" name="Shape 809"/>
          <p:cNvSpPr txBox="1"/>
          <p:nvPr/>
        </p:nvSpPr>
        <p:spPr>
          <a:xfrm>
            <a:off x="971550" y="2133600"/>
            <a:ext cx="1223961" cy="5032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008000"/>
              </a:buClr>
              <a:buSzPct val="25000"/>
              <a:buFont typeface="Arial"/>
              <a:buNone/>
            </a:pPr>
            <a:r>
              <a:rPr b="1" i="0" lang="en-US" sz="1800" u="none" cap="none" strike="noStrike">
                <a:solidFill>
                  <a:srgbClr val="008000"/>
                </a:solidFill>
                <a:latin typeface="Arial"/>
                <a:ea typeface="Arial"/>
                <a:cs typeface="Arial"/>
                <a:sym typeface="Arial"/>
              </a:rPr>
              <a:t>DEMANDA</a:t>
            </a:r>
          </a:p>
          <a:p>
            <a:pPr indent="0" lvl="0" marL="0" marR="0" rtl="0" algn="ctr">
              <a:lnSpc>
                <a:spcPct val="100000"/>
              </a:lnSpc>
              <a:spcBef>
                <a:spcPts val="0"/>
              </a:spcBef>
              <a:spcAft>
                <a:spcPts val="0"/>
              </a:spcAft>
              <a:buClr>
                <a:srgbClr val="008000"/>
              </a:buClr>
              <a:buSzPct val="25000"/>
              <a:buFont typeface="Arial"/>
              <a:buNone/>
            </a:pPr>
            <a:r>
              <a:rPr b="1" i="0" lang="en-US" sz="1800" u="none" cap="none" strike="noStrike">
                <a:solidFill>
                  <a:srgbClr val="008000"/>
                </a:solidFill>
                <a:latin typeface="Arial"/>
                <a:ea typeface="Arial"/>
                <a:cs typeface="Arial"/>
                <a:sym typeface="Arial"/>
              </a:rPr>
              <a:t>FINAL</a:t>
            </a:r>
          </a:p>
        </p:txBody>
      </p:sp>
      <p:sp>
        <p:nvSpPr>
          <p:cNvPr id="810" name="Shape 810"/>
          <p:cNvSpPr/>
          <p:nvPr/>
        </p:nvSpPr>
        <p:spPr>
          <a:xfrm>
            <a:off x="827087" y="2133600"/>
            <a:ext cx="3865562" cy="3082925"/>
          </a:xfrm>
          <a:custGeom>
            <a:pathLst>
              <a:path extrusionOk="0" h="1942" w="2435">
                <a:moveTo>
                  <a:pt x="0" y="0"/>
                </a:moveTo>
                <a:cubicBezTo>
                  <a:pt x="33" y="44"/>
                  <a:pt x="98" y="147"/>
                  <a:pt x="197" y="261"/>
                </a:cubicBezTo>
                <a:cubicBezTo>
                  <a:pt x="296" y="375"/>
                  <a:pt x="485" y="577"/>
                  <a:pt x="593" y="686"/>
                </a:cubicBezTo>
                <a:cubicBezTo>
                  <a:pt x="701" y="795"/>
                  <a:pt x="757" y="831"/>
                  <a:pt x="848" y="913"/>
                </a:cubicBezTo>
                <a:cubicBezTo>
                  <a:pt x="939" y="995"/>
                  <a:pt x="1054" y="1102"/>
                  <a:pt x="1141" y="1177"/>
                </a:cubicBezTo>
                <a:cubicBezTo>
                  <a:pt x="1228" y="1252"/>
                  <a:pt x="1278" y="1300"/>
                  <a:pt x="1368" y="1366"/>
                </a:cubicBezTo>
                <a:cubicBezTo>
                  <a:pt x="1458" y="1432"/>
                  <a:pt x="1567" y="1508"/>
                  <a:pt x="1679" y="1574"/>
                </a:cubicBezTo>
                <a:cubicBezTo>
                  <a:pt x="1791" y="1640"/>
                  <a:pt x="1912" y="1702"/>
                  <a:pt x="2038" y="1763"/>
                </a:cubicBezTo>
                <a:cubicBezTo>
                  <a:pt x="2164" y="1824"/>
                  <a:pt x="2352" y="1905"/>
                  <a:pt x="2435" y="1942"/>
                </a:cubicBezTo>
              </a:path>
            </a:pathLst>
          </a:custGeom>
          <a:noFill/>
          <a:ln cap="flat" cmpd="sng" w="47625">
            <a:solidFill>
              <a:srgbClr val="008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11" name="Shape 811"/>
          <p:cNvSpPr/>
          <p:nvPr/>
        </p:nvSpPr>
        <p:spPr>
          <a:xfrm>
            <a:off x="2555875" y="4508500"/>
            <a:ext cx="735012" cy="360362"/>
          </a:xfrm>
          <a:custGeom>
            <a:pathLst>
              <a:path extrusionOk="0" h="255" w="463">
                <a:moveTo>
                  <a:pt x="463" y="0"/>
                </a:moveTo>
                <a:lnTo>
                  <a:pt x="311" y="92"/>
                </a:lnTo>
                <a:lnTo>
                  <a:pt x="138" y="192"/>
                </a:lnTo>
                <a:lnTo>
                  <a:pt x="0" y="255"/>
                </a:lnTo>
                <a:lnTo>
                  <a:pt x="5" y="7"/>
                </a:lnTo>
                <a:lnTo>
                  <a:pt x="214" y="8"/>
                </a:lnTo>
                <a:lnTo>
                  <a:pt x="463" y="0"/>
                </a:lnTo>
                <a:close/>
              </a:path>
            </a:pathLst>
          </a:custGeom>
          <a:solidFill>
            <a:schemeClr val="accent1"/>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12" name="Shape 812"/>
          <p:cNvSpPr/>
          <p:nvPr/>
        </p:nvSpPr>
        <p:spPr>
          <a:xfrm>
            <a:off x="827087" y="4508500"/>
            <a:ext cx="1728787" cy="360362"/>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13" name="Shape 813"/>
          <p:cNvSpPr txBox="1"/>
          <p:nvPr/>
        </p:nvSpPr>
        <p:spPr>
          <a:xfrm>
            <a:off x="755650" y="4508500"/>
            <a:ext cx="2303461"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APROPIADO POR PRODUCTORES</a:t>
            </a:r>
          </a:p>
        </p:txBody>
      </p:sp>
      <p:sp>
        <p:nvSpPr>
          <p:cNvPr id="814" name="Shape 814"/>
          <p:cNvSpPr/>
          <p:nvPr/>
        </p:nvSpPr>
        <p:spPr>
          <a:xfrm>
            <a:off x="827087" y="4868862"/>
            <a:ext cx="1773236" cy="482600"/>
          </a:xfrm>
          <a:custGeom>
            <a:pathLst>
              <a:path extrusionOk="0" h="304" w="1117">
                <a:moveTo>
                  <a:pt x="0" y="2"/>
                </a:moveTo>
                <a:lnTo>
                  <a:pt x="0" y="304"/>
                </a:lnTo>
                <a:lnTo>
                  <a:pt x="270" y="261"/>
                </a:lnTo>
                <a:lnTo>
                  <a:pt x="538" y="200"/>
                </a:lnTo>
                <a:lnTo>
                  <a:pt x="774" y="134"/>
                </a:lnTo>
                <a:lnTo>
                  <a:pt x="963" y="68"/>
                </a:lnTo>
                <a:lnTo>
                  <a:pt x="1117" y="6"/>
                </a:lnTo>
                <a:lnTo>
                  <a:pt x="842" y="0"/>
                </a:lnTo>
                <a:lnTo>
                  <a:pt x="489" y="0"/>
                </a:lnTo>
                <a:lnTo>
                  <a:pt x="243" y="0"/>
                </a:lnTo>
                <a:lnTo>
                  <a:pt x="0" y="2"/>
                </a:lnTo>
                <a:close/>
              </a:path>
            </a:pathLst>
          </a:custGeom>
          <a:solidFill>
            <a:srgbClr val="FFFF00">
              <a:alpha val="66666"/>
            </a:srgbClr>
          </a:solidFill>
          <a:ln cap="flat" cmpd="sng" w="349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15" name="Shape 815"/>
          <p:cNvSpPr/>
          <p:nvPr/>
        </p:nvSpPr>
        <p:spPr>
          <a:xfrm>
            <a:off x="827087" y="4868862"/>
            <a:ext cx="1728787" cy="504824"/>
          </a:xfrm>
          <a:prstGeom prst="rect">
            <a:avLst/>
          </a:prstGeom>
          <a:solidFill>
            <a:srgbClr val="00FF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16" name="Shape 816"/>
          <p:cNvSpPr/>
          <p:nvPr/>
        </p:nvSpPr>
        <p:spPr>
          <a:xfrm>
            <a:off x="2555875" y="4868862"/>
            <a:ext cx="674687" cy="492124"/>
          </a:xfrm>
          <a:custGeom>
            <a:pathLst>
              <a:path extrusionOk="0" h="355" w="425">
                <a:moveTo>
                  <a:pt x="425" y="345"/>
                </a:moveTo>
                <a:lnTo>
                  <a:pt x="237" y="189"/>
                </a:lnTo>
                <a:lnTo>
                  <a:pt x="1" y="0"/>
                </a:lnTo>
                <a:lnTo>
                  <a:pt x="0" y="355"/>
                </a:lnTo>
                <a:lnTo>
                  <a:pt x="217" y="355"/>
                </a:lnTo>
                <a:lnTo>
                  <a:pt x="425" y="345"/>
                </a:lnTo>
                <a:close/>
              </a:path>
            </a:pathLst>
          </a:custGeom>
          <a:solidFill>
            <a:srgbClr val="00FF00"/>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17" name="Shape 817"/>
          <p:cNvSpPr txBox="1"/>
          <p:nvPr/>
        </p:nvSpPr>
        <p:spPr>
          <a:xfrm>
            <a:off x="827087" y="4941887"/>
            <a:ext cx="2303461"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APROPIADO POR CONSUMIDORES</a:t>
            </a:r>
          </a:p>
        </p:txBody>
      </p:sp>
      <p:pic>
        <p:nvPicPr>
          <p:cNvPr id="818" name="Shape 818"/>
          <p:cNvPicPr preferRelativeResize="0"/>
          <p:nvPr>
            <p:ph idx="4294967295" type="body"/>
          </p:nvPr>
        </p:nvPicPr>
        <p:blipFill rotWithShape="1">
          <a:blip r:embed="rId3">
            <a:alphaModFix/>
          </a:blip>
          <a:srcRect b="0" l="0" r="0" t="0"/>
          <a:stretch/>
        </p:blipFill>
        <p:spPr>
          <a:xfrm>
            <a:off x="4932362" y="836612"/>
            <a:ext cx="3009899" cy="609599"/>
          </a:xfrm>
          <a:prstGeom prst="rect">
            <a:avLst/>
          </a:prstGeom>
          <a:noFill/>
          <a:ln>
            <a:noFill/>
          </a:ln>
        </p:spPr>
      </p:pic>
      <p:sp>
        <p:nvSpPr>
          <p:cNvPr id="819" name="Shape 819"/>
          <p:cNvSpPr txBox="1"/>
          <p:nvPr/>
        </p:nvSpPr>
        <p:spPr>
          <a:xfrm>
            <a:off x="0" y="0"/>
            <a:ext cx="9144000" cy="620711"/>
          </a:xfrm>
          <a:prstGeom prst="rect">
            <a:avLst/>
          </a:prstGeom>
          <a:solidFill>
            <a:schemeClr val="accent1"/>
          </a:solid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SUBSIDIOS  PAGADOS AL CONSUMIDOR</a:t>
            </a:r>
          </a:p>
        </p:txBody>
      </p:sp>
      <p:sp>
        <p:nvSpPr>
          <p:cNvPr id="820" name="Shape 820"/>
          <p:cNvSpPr txBox="1"/>
          <p:nvPr/>
        </p:nvSpPr>
        <p:spPr>
          <a:xfrm flipH="1" rot="5400000">
            <a:off x="-564356" y="4822031"/>
            <a:ext cx="1303337" cy="390524"/>
          </a:xfrm>
          <a:prstGeom prst="rect">
            <a:avLst/>
          </a:prstGeom>
          <a:noFill/>
          <a:ln>
            <a:noFill/>
          </a:ln>
        </p:spPr>
        <p:txBody>
          <a:bodyPr anchorCtr="0" anchor="t" bIns="45700" lIns="91425" rIns="91425" tIns="45700">
            <a:noAutofit/>
          </a:bodyPr>
          <a:lstStyle/>
          <a:p>
            <a:pPr indent="0" lvl="0" marL="0" marR="0" rtl="0" algn="ctr">
              <a:lnSpc>
                <a:spcPct val="75000"/>
              </a:lnSpc>
              <a:spcBef>
                <a:spcPts val="0"/>
              </a:spcBef>
              <a:spcAft>
                <a:spcPts val="0"/>
              </a:spcAft>
              <a:buClr>
                <a:srgbClr val="4A23DB"/>
              </a:buClr>
              <a:buSzPct val="25000"/>
              <a:buFont typeface="Arial"/>
              <a:buNone/>
            </a:pPr>
            <a:r>
              <a:rPr b="1" i="0" lang="en-US" sz="1800" u="none" cap="none" strike="noStrike">
                <a:solidFill>
                  <a:srgbClr val="4A23DB"/>
                </a:solidFill>
                <a:latin typeface="Arial"/>
                <a:ea typeface="Arial"/>
                <a:cs typeface="Arial"/>
                <a:sym typeface="Arial"/>
              </a:rPr>
              <a:t>Subsidio</a:t>
            </a:r>
          </a:p>
          <a:p>
            <a:pPr indent="0" lvl="0" marL="0" marR="0" rtl="0" algn="l">
              <a:lnSpc>
                <a:spcPct val="100000"/>
              </a:lnSpc>
              <a:spcBef>
                <a:spcPts val="0"/>
              </a:spcBef>
              <a:spcAft>
                <a:spcPts val="0"/>
              </a:spcAft>
              <a:buNone/>
            </a:pPr>
            <a:r>
              <a:t/>
            </a:r>
            <a:endParaRPr b="1" i="0" sz="1800" u="none" cap="none" strike="noStrike">
              <a:solidFill>
                <a:srgbClr val="4A23DB"/>
              </a:solidFill>
              <a:latin typeface="Arial"/>
              <a:ea typeface="Arial"/>
              <a:cs typeface="Arial"/>
              <a:sym typeface="Arial"/>
            </a:endParaRPr>
          </a:p>
        </p:txBody>
      </p:sp>
      <p:sp>
        <p:nvSpPr>
          <p:cNvPr id="821" name="Shape 821"/>
          <p:cNvSpPr/>
          <p:nvPr/>
        </p:nvSpPr>
        <p:spPr>
          <a:xfrm>
            <a:off x="323850" y="4508500"/>
            <a:ext cx="152399" cy="936624"/>
          </a:xfrm>
          <a:prstGeom prst="leftBrace">
            <a:avLst>
              <a:gd fmla="val 8333" name="adj1"/>
              <a:gd fmla="val 50000" name="adj2"/>
            </a:avLst>
          </a:prstGeom>
          <a:solidFill>
            <a:srgbClr val="00008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22" name="Shape 822"/>
          <p:cNvSpPr/>
          <p:nvPr/>
        </p:nvSpPr>
        <p:spPr>
          <a:xfrm>
            <a:off x="2555875" y="4508500"/>
            <a:ext cx="731837" cy="865186"/>
          </a:xfrm>
          <a:custGeom>
            <a:pathLst>
              <a:path extrusionOk="0" h="545" w="461">
                <a:moveTo>
                  <a:pt x="0" y="232"/>
                </a:moveTo>
                <a:lnTo>
                  <a:pt x="461" y="0"/>
                </a:lnTo>
                <a:lnTo>
                  <a:pt x="461" y="545"/>
                </a:lnTo>
                <a:lnTo>
                  <a:pt x="0" y="232"/>
                </a:lnTo>
                <a:close/>
              </a:path>
            </a:pathLst>
          </a:custGeom>
          <a:solidFill>
            <a:srgbClr val="0000FF"/>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23" name="Shape 823"/>
          <p:cNvSpPr txBox="1"/>
          <p:nvPr/>
        </p:nvSpPr>
        <p:spPr>
          <a:xfrm>
            <a:off x="827087" y="4508500"/>
            <a:ext cx="2449512" cy="865187"/>
          </a:xfrm>
          <a:prstGeom prst="rect">
            <a:avLst/>
          </a:prstGeom>
          <a:solidFill>
            <a:srgbClr val="00FFFF"/>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Costo fiscal</a:t>
            </a:r>
          </a:p>
        </p:txBody>
      </p:sp>
    </p:spTree>
  </p:cSld>
  <p:clrMapOvr>
    <a:masterClrMapping/>
  </p:clrMapOvr>
  <p:transition spd="slow">
    <p:cut/>
  </p:transition>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d">
  <a:themeElements>
    <a:clrScheme name="Red">
      <a:dk1>
        <a:srgbClr val="000000"/>
      </a:dk1>
      <a:lt1>
        <a:srgbClr val="FFFFFF"/>
      </a:lt1>
      <a:dk2>
        <a:srgbClr val="330066"/>
      </a:dk2>
      <a:lt2>
        <a:srgbClr val="808080"/>
      </a:lt2>
      <a:accent1>
        <a:srgbClr val="CCCC00"/>
      </a:accent1>
      <a:accent2>
        <a:srgbClr val="669999"/>
      </a:accent2>
      <a:accent3>
        <a:srgbClr val="FFFFFF"/>
      </a:accent3>
      <a:accent4>
        <a:srgbClr val="CCCC00"/>
      </a:accent4>
      <a:accent5>
        <a:srgbClr val="669999"/>
      </a:accent5>
      <a:accent6>
        <a:srgbClr val="FFFFFF"/>
      </a:accent6>
      <a:hlink>
        <a:srgbClr val="7E9CE8"/>
      </a:hlink>
      <a:folHlink>
        <a:srgbClr val="D8D8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default">
    <a:dk1>
      <a:srgbClr val="000000"/>
    </a:dk1>
    <a:lt1>
      <a:srgbClr val="FFFFFF"/>
    </a:lt1>
    <a:dk2>
      <a:srgbClr val="330066"/>
    </a:dk2>
    <a:lt2>
      <a:srgbClr val="808080"/>
    </a:lt2>
    <a:accent1>
      <a:srgbClr val="CCCC00"/>
    </a:accent1>
    <a:accent2>
      <a:srgbClr val="669999"/>
    </a:accent2>
    <a:accent3>
      <a:srgbClr val="FFFFFF"/>
    </a:accent3>
    <a:accent4>
      <a:srgbClr val="CCCC00"/>
    </a:accent4>
    <a:accent5>
      <a:srgbClr val="669999"/>
    </a:accent5>
    <a:accent6>
      <a:srgbClr val="FFFFFF"/>
    </a:accent6>
    <a:hlink>
      <a:srgbClr val="7E9CE8"/>
    </a:hlink>
    <a:folHlink>
      <a:srgbClr val="D8D8EC"/>
    </a:folHlink>
  </a:clrScheme>
</a:themeOverride>
</file>