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8" name="Shape 98"/>
        <p:cNvGrpSpPr/>
        <p:nvPr/>
      </p:nvGrpSpPr>
      <p:grpSpPr>
        <a:xfrm>
          <a:off x="0" y="0"/>
          <a:ext cx="0" cy="0"/>
          <a:chOff x="0" y="0"/>
          <a:chExt cx="0" cy="0"/>
        </a:xfrm>
      </p:grpSpPr>
      <p:sp>
        <p:nvSpPr>
          <p:cNvPr id="99" name="Shape 9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0" name="Shape 10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5" name="Shape 105"/>
        <p:cNvGrpSpPr/>
        <p:nvPr/>
      </p:nvGrpSpPr>
      <p:grpSpPr>
        <a:xfrm>
          <a:off x="0" y="0"/>
          <a:ext cx="0" cy="0"/>
          <a:chOff x="0" y="0"/>
          <a:chExt cx="0" cy="0"/>
        </a:xfrm>
      </p:grpSpPr>
      <p:sp>
        <p:nvSpPr>
          <p:cNvPr id="106" name="Shape 10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7" name="Shape 10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2" name="Shape 112"/>
        <p:cNvGrpSpPr/>
        <p:nvPr/>
      </p:nvGrpSpPr>
      <p:grpSpPr>
        <a:xfrm>
          <a:off x="0" y="0"/>
          <a:ext cx="0" cy="0"/>
          <a:chOff x="0" y="0"/>
          <a:chExt cx="0" cy="0"/>
        </a:xfrm>
      </p:grpSpPr>
      <p:sp>
        <p:nvSpPr>
          <p:cNvPr id="113" name="Shape 11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14" name="Shape 11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5" name="Shape 145"/>
        <p:cNvGrpSpPr/>
        <p:nvPr/>
      </p:nvGrpSpPr>
      <p:grpSpPr>
        <a:xfrm>
          <a:off x="0" y="0"/>
          <a:ext cx="0" cy="0"/>
          <a:chOff x="0" y="0"/>
          <a:chExt cx="0" cy="0"/>
        </a:xfrm>
      </p:grpSpPr>
      <p:sp>
        <p:nvSpPr>
          <p:cNvPr id="146" name="Shape 14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47" name="Shape 14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2" name="Shape 152"/>
        <p:cNvGrpSpPr/>
        <p:nvPr/>
      </p:nvGrpSpPr>
      <p:grpSpPr>
        <a:xfrm>
          <a:off x="0" y="0"/>
          <a:ext cx="0" cy="0"/>
          <a:chOff x="0" y="0"/>
          <a:chExt cx="0" cy="0"/>
        </a:xfrm>
      </p:grpSpPr>
      <p:sp>
        <p:nvSpPr>
          <p:cNvPr id="153" name="Shape 15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54" name="Shape 15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4" name="Shape 184"/>
        <p:cNvGrpSpPr/>
        <p:nvPr/>
      </p:nvGrpSpPr>
      <p:grpSpPr>
        <a:xfrm>
          <a:off x="0" y="0"/>
          <a:ext cx="0" cy="0"/>
          <a:chOff x="0" y="0"/>
          <a:chExt cx="0" cy="0"/>
        </a:xfrm>
      </p:grpSpPr>
      <p:sp>
        <p:nvSpPr>
          <p:cNvPr id="185" name="Shape 18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86" name="Shape 18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9" name="Shape 219"/>
        <p:cNvGrpSpPr/>
        <p:nvPr/>
      </p:nvGrpSpPr>
      <p:grpSpPr>
        <a:xfrm>
          <a:off x="0" y="0"/>
          <a:ext cx="0" cy="0"/>
          <a:chOff x="0" y="0"/>
          <a:chExt cx="0" cy="0"/>
        </a:xfrm>
      </p:grpSpPr>
      <p:sp>
        <p:nvSpPr>
          <p:cNvPr id="220" name="Shape 22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21" name="Shape 22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6" name="Shape 226"/>
        <p:cNvGrpSpPr/>
        <p:nvPr/>
      </p:nvGrpSpPr>
      <p:grpSpPr>
        <a:xfrm>
          <a:off x="0" y="0"/>
          <a:ext cx="0" cy="0"/>
          <a:chOff x="0" y="0"/>
          <a:chExt cx="0" cy="0"/>
        </a:xfrm>
      </p:grpSpPr>
      <p:sp>
        <p:nvSpPr>
          <p:cNvPr id="227" name="Shape 22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28" name="Shape 22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76" name="Shape 276"/>
        <p:cNvGrpSpPr/>
        <p:nvPr/>
      </p:nvGrpSpPr>
      <p:grpSpPr>
        <a:xfrm>
          <a:off x="0" y="0"/>
          <a:ext cx="0" cy="0"/>
          <a:chOff x="0" y="0"/>
          <a:chExt cx="0" cy="0"/>
        </a:xfrm>
      </p:grpSpPr>
      <p:sp>
        <p:nvSpPr>
          <p:cNvPr id="277" name="Shape 27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78" name="Shape 27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3" name="Shape 283"/>
        <p:cNvGrpSpPr/>
        <p:nvPr/>
      </p:nvGrpSpPr>
      <p:grpSpPr>
        <a:xfrm>
          <a:off x="0" y="0"/>
          <a:ext cx="0" cy="0"/>
          <a:chOff x="0" y="0"/>
          <a:chExt cx="0" cy="0"/>
        </a:xfrm>
      </p:grpSpPr>
      <p:sp>
        <p:nvSpPr>
          <p:cNvPr id="284" name="Shape 28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85" name="Shape 28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0" name="Shape 290"/>
        <p:cNvGrpSpPr/>
        <p:nvPr/>
      </p:nvGrpSpPr>
      <p:grpSpPr>
        <a:xfrm>
          <a:off x="0" y="0"/>
          <a:ext cx="0" cy="0"/>
          <a:chOff x="0" y="0"/>
          <a:chExt cx="0" cy="0"/>
        </a:xfrm>
      </p:grpSpPr>
      <p:sp>
        <p:nvSpPr>
          <p:cNvPr id="291" name="Shape 29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92" name="Shape 29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7" name="Shape 297"/>
        <p:cNvGrpSpPr/>
        <p:nvPr/>
      </p:nvGrpSpPr>
      <p:grpSpPr>
        <a:xfrm>
          <a:off x="0" y="0"/>
          <a:ext cx="0" cy="0"/>
          <a:chOff x="0" y="0"/>
          <a:chExt cx="0" cy="0"/>
        </a:xfrm>
      </p:grpSpPr>
      <p:sp>
        <p:nvSpPr>
          <p:cNvPr id="298" name="Shape 29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99" name="Shape 29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29" name="Shape 329"/>
        <p:cNvGrpSpPr/>
        <p:nvPr/>
      </p:nvGrpSpPr>
      <p:grpSpPr>
        <a:xfrm>
          <a:off x="0" y="0"/>
          <a:ext cx="0" cy="0"/>
          <a:chOff x="0" y="0"/>
          <a:chExt cx="0" cy="0"/>
        </a:xfrm>
      </p:grpSpPr>
      <p:sp>
        <p:nvSpPr>
          <p:cNvPr id="330" name="Shape 33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31" name="Shape 33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0" name="Shape 340"/>
        <p:cNvGrpSpPr/>
        <p:nvPr/>
      </p:nvGrpSpPr>
      <p:grpSpPr>
        <a:xfrm>
          <a:off x="0" y="0"/>
          <a:ext cx="0" cy="0"/>
          <a:chOff x="0" y="0"/>
          <a:chExt cx="0" cy="0"/>
        </a:xfrm>
      </p:grpSpPr>
      <p:sp>
        <p:nvSpPr>
          <p:cNvPr id="341" name="Shape 34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42" name="Shape 34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0" name="Shape 350"/>
        <p:cNvGrpSpPr/>
        <p:nvPr/>
      </p:nvGrpSpPr>
      <p:grpSpPr>
        <a:xfrm>
          <a:off x="0" y="0"/>
          <a:ext cx="0" cy="0"/>
          <a:chOff x="0" y="0"/>
          <a:chExt cx="0" cy="0"/>
        </a:xfrm>
      </p:grpSpPr>
      <p:sp>
        <p:nvSpPr>
          <p:cNvPr id="351" name="Shape 35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52" name="Shape 35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80" name="Shape 380"/>
        <p:cNvGrpSpPr/>
        <p:nvPr/>
      </p:nvGrpSpPr>
      <p:grpSpPr>
        <a:xfrm>
          <a:off x="0" y="0"/>
          <a:ext cx="0" cy="0"/>
          <a:chOff x="0" y="0"/>
          <a:chExt cx="0" cy="0"/>
        </a:xfrm>
      </p:grpSpPr>
      <p:sp>
        <p:nvSpPr>
          <p:cNvPr id="381" name="Shape 38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82" name="Shape 38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9" name="Shape 409"/>
        <p:cNvGrpSpPr/>
        <p:nvPr/>
      </p:nvGrpSpPr>
      <p:grpSpPr>
        <a:xfrm>
          <a:off x="0" y="0"/>
          <a:ext cx="0" cy="0"/>
          <a:chOff x="0" y="0"/>
          <a:chExt cx="0" cy="0"/>
        </a:xfrm>
      </p:grpSpPr>
      <p:sp>
        <p:nvSpPr>
          <p:cNvPr id="410" name="Shape 41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11" name="Shape 41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6" name="Shape 416"/>
        <p:cNvGrpSpPr/>
        <p:nvPr/>
      </p:nvGrpSpPr>
      <p:grpSpPr>
        <a:xfrm>
          <a:off x="0" y="0"/>
          <a:ext cx="0" cy="0"/>
          <a:chOff x="0" y="0"/>
          <a:chExt cx="0" cy="0"/>
        </a:xfrm>
      </p:grpSpPr>
      <p:sp>
        <p:nvSpPr>
          <p:cNvPr id="417" name="Shape 41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18" name="Shape 41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37" name="Shape 437"/>
        <p:cNvGrpSpPr/>
        <p:nvPr/>
      </p:nvGrpSpPr>
      <p:grpSpPr>
        <a:xfrm>
          <a:off x="0" y="0"/>
          <a:ext cx="0" cy="0"/>
          <a:chOff x="0" y="0"/>
          <a:chExt cx="0" cy="0"/>
        </a:xfrm>
      </p:grpSpPr>
      <p:sp>
        <p:nvSpPr>
          <p:cNvPr id="438" name="Shape 43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39" name="Shape 43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60" name="Shape 460"/>
        <p:cNvGrpSpPr/>
        <p:nvPr/>
      </p:nvGrpSpPr>
      <p:grpSpPr>
        <a:xfrm>
          <a:off x="0" y="0"/>
          <a:ext cx="0" cy="0"/>
          <a:chOff x="0" y="0"/>
          <a:chExt cx="0" cy="0"/>
        </a:xfrm>
      </p:grpSpPr>
      <p:sp>
        <p:nvSpPr>
          <p:cNvPr id="461" name="Shape 46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62" name="Shape 46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94" name="Shape 494"/>
        <p:cNvGrpSpPr/>
        <p:nvPr/>
      </p:nvGrpSpPr>
      <p:grpSpPr>
        <a:xfrm>
          <a:off x="0" y="0"/>
          <a:ext cx="0" cy="0"/>
          <a:chOff x="0" y="0"/>
          <a:chExt cx="0" cy="0"/>
        </a:xfrm>
      </p:grpSpPr>
      <p:sp>
        <p:nvSpPr>
          <p:cNvPr id="495" name="Shape 49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96" name="Shape 49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14" name="Shape 514"/>
        <p:cNvGrpSpPr/>
        <p:nvPr/>
      </p:nvGrpSpPr>
      <p:grpSpPr>
        <a:xfrm>
          <a:off x="0" y="0"/>
          <a:ext cx="0" cy="0"/>
          <a:chOff x="0" y="0"/>
          <a:chExt cx="0" cy="0"/>
        </a:xfrm>
      </p:grpSpPr>
      <p:sp>
        <p:nvSpPr>
          <p:cNvPr id="515" name="Shape 51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16" name="Shape 51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34" name="Shape 534"/>
        <p:cNvGrpSpPr/>
        <p:nvPr/>
      </p:nvGrpSpPr>
      <p:grpSpPr>
        <a:xfrm>
          <a:off x="0" y="0"/>
          <a:ext cx="0" cy="0"/>
          <a:chOff x="0" y="0"/>
          <a:chExt cx="0" cy="0"/>
        </a:xfrm>
      </p:grpSpPr>
      <p:sp>
        <p:nvSpPr>
          <p:cNvPr id="535" name="Shape 53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36" name="Shape 53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42" name="Shape 542"/>
        <p:cNvGrpSpPr/>
        <p:nvPr/>
      </p:nvGrpSpPr>
      <p:grpSpPr>
        <a:xfrm>
          <a:off x="0" y="0"/>
          <a:ext cx="0" cy="0"/>
          <a:chOff x="0" y="0"/>
          <a:chExt cx="0" cy="0"/>
        </a:xfrm>
      </p:grpSpPr>
      <p:sp>
        <p:nvSpPr>
          <p:cNvPr id="543" name="Shape 54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44" name="Shape 54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49" name="Shape 549"/>
        <p:cNvGrpSpPr/>
        <p:nvPr/>
      </p:nvGrpSpPr>
      <p:grpSpPr>
        <a:xfrm>
          <a:off x="0" y="0"/>
          <a:ext cx="0" cy="0"/>
          <a:chOff x="0" y="0"/>
          <a:chExt cx="0" cy="0"/>
        </a:xfrm>
      </p:grpSpPr>
      <p:sp>
        <p:nvSpPr>
          <p:cNvPr id="550" name="Shape 55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51" name="Shape 55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71" name="Shape 571"/>
        <p:cNvGrpSpPr/>
        <p:nvPr/>
      </p:nvGrpSpPr>
      <p:grpSpPr>
        <a:xfrm>
          <a:off x="0" y="0"/>
          <a:ext cx="0" cy="0"/>
          <a:chOff x="0" y="0"/>
          <a:chExt cx="0" cy="0"/>
        </a:xfrm>
      </p:grpSpPr>
      <p:sp>
        <p:nvSpPr>
          <p:cNvPr id="572" name="Shape 57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73" name="Shape 57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95" name="Shape 595"/>
        <p:cNvGrpSpPr/>
        <p:nvPr/>
      </p:nvGrpSpPr>
      <p:grpSpPr>
        <a:xfrm>
          <a:off x="0" y="0"/>
          <a:ext cx="0" cy="0"/>
          <a:chOff x="0" y="0"/>
          <a:chExt cx="0" cy="0"/>
        </a:xfrm>
      </p:grpSpPr>
      <p:sp>
        <p:nvSpPr>
          <p:cNvPr id="596" name="Shape 59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97" name="Shape 59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20" name="Shape 620"/>
        <p:cNvGrpSpPr/>
        <p:nvPr/>
      </p:nvGrpSpPr>
      <p:grpSpPr>
        <a:xfrm>
          <a:off x="0" y="0"/>
          <a:ext cx="0" cy="0"/>
          <a:chOff x="0" y="0"/>
          <a:chExt cx="0" cy="0"/>
        </a:xfrm>
      </p:grpSpPr>
      <p:sp>
        <p:nvSpPr>
          <p:cNvPr id="621" name="Shape 62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22" name="Shape 62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42" name="Shape 642"/>
        <p:cNvGrpSpPr/>
        <p:nvPr/>
      </p:nvGrpSpPr>
      <p:grpSpPr>
        <a:xfrm>
          <a:off x="0" y="0"/>
          <a:ext cx="0" cy="0"/>
          <a:chOff x="0" y="0"/>
          <a:chExt cx="0" cy="0"/>
        </a:xfrm>
      </p:grpSpPr>
      <p:sp>
        <p:nvSpPr>
          <p:cNvPr id="643" name="Shape 64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44" name="Shape 64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69" name="Shape 669"/>
        <p:cNvGrpSpPr/>
        <p:nvPr/>
      </p:nvGrpSpPr>
      <p:grpSpPr>
        <a:xfrm>
          <a:off x="0" y="0"/>
          <a:ext cx="0" cy="0"/>
          <a:chOff x="0" y="0"/>
          <a:chExt cx="0" cy="0"/>
        </a:xfrm>
      </p:grpSpPr>
      <p:sp>
        <p:nvSpPr>
          <p:cNvPr id="670" name="Shape 67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71" name="Shape 67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93" name="Shape 693"/>
        <p:cNvGrpSpPr/>
        <p:nvPr/>
      </p:nvGrpSpPr>
      <p:grpSpPr>
        <a:xfrm>
          <a:off x="0" y="0"/>
          <a:ext cx="0" cy="0"/>
          <a:chOff x="0" y="0"/>
          <a:chExt cx="0" cy="0"/>
        </a:xfrm>
      </p:grpSpPr>
      <p:sp>
        <p:nvSpPr>
          <p:cNvPr id="694" name="Shape 69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95" name="Shape 69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0" name="Shape 700"/>
        <p:cNvGrpSpPr/>
        <p:nvPr/>
      </p:nvGrpSpPr>
      <p:grpSpPr>
        <a:xfrm>
          <a:off x="0" y="0"/>
          <a:ext cx="0" cy="0"/>
          <a:chOff x="0" y="0"/>
          <a:chExt cx="0" cy="0"/>
        </a:xfrm>
      </p:grpSpPr>
      <p:sp>
        <p:nvSpPr>
          <p:cNvPr id="701" name="Shape 70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02" name="Shape 70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8" name="Shape 708"/>
        <p:cNvGrpSpPr/>
        <p:nvPr/>
      </p:nvGrpSpPr>
      <p:grpSpPr>
        <a:xfrm>
          <a:off x="0" y="0"/>
          <a:ext cx="0" cy="0"/>
          <a:chOff x="0" y="0"/>
          <a:chExt cx="0" cy="0"/>
        </a:xfrm>
      </p:grpSpPr>
      <p:sp>
        <p:nvSpPr>
          <p:cNvPr id="709" name="Shape 70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10" name="Shape 71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60" name="Shape 760"/>
        <p:cNvGrpSpPr/>
        <p:nvPr/>
      </p:nvGrpSpPr>
      <p:grpSpPr>
        <a:xfrm>
          <a:off x="0" y="0"/>
          <a:ext cx="0" cy="0"/>
          <a:chOff x="0" y="0"/>
          <a:chExt cx="0" cy="0"/>
        </a:xfrm>
      </p:grpSpPr>
      <p:sp>
        <p:nvSpPr>
          <p:cNvPr id="761" name="Shape 76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62" name="Shape 76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99" name="Shape 799"/>
        <p:cNvGrpSpPr/>
        <p:nvPr/>
      </p:nvGrpSpPr>
      <p:grpSpPr>
        <a:xfrm>
          <a:off x="0" y="0"/>
          <a:ext cx="0" cy="0"/>
          <a:chOff x="0" y="0"/>
          <a:chExt cx="0" cy="0"/>
        </a:xfrm>
      </p:grpSpPr>
      <p:sp>
        <p:nvSpPr>
          <p:cNvPr id="800" name="Shape 80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801" name="Shape 80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06" name="Shape 806"/>
        <p:cNvGrpSpPr/>
        <p:nvPr/>
      </p:nvGrpSpPr>
      <p:grpSpPr>
        <a:xfrm>
          <a:off x="0" y="0"/>
          <a:ext cx="0" cy="0"/>
          <a:chOff x="0" y="0"/>
          <a:chExt cx="0" cy="0"/>
        </a:xfrm>
      </p:grpSpPr>
      <p:sp>
        <p:nvSpPr>
          <p:cNvPr id="807" name="Shape 80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808" name="Shape 80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44" name="Shape 844"/>
        <p:cNvGrpSpPr/>
        <p:nvPr/>
      </p:nvGrpSpPr>
      <p:grpSpPr>
        <a:xfrm>
          <a:off x="0" y="0"/>
          <a:ext cx="0" cy="0"/>
          <a:chOff x="0" y="0"/>
          <a:chExt cx="0" cy="0"/>
        </a:xfrm>
      </p:grpSpPr>
      <p:sp>
        <p:nvSpPr>
          <p:cNvPr id="845" name="Shape 84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846" name="Shape 84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76" name="Shape 876"/>
        <p:cNvGrpSpPr/>
        <p:nvPr/>
      </p:nvGrpSpPr>
      <p:grpSpPr>
        <a:xfrm>
          <a:off x="0" y="0"/>
          <a:ext cx="0" cy="0"/>
          <a:chOff x="0" y="0"/>
          <a:chExt cx="0" cy="0"/>
        </a:xfrm>
      </p:grpSpPr>
      <p:sp>
        <p:nvSpPr>
          <p:cNvPr id="877" name="Shape 87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878" name="Shape 87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04" name="Shape 904"/>
        <p:cNvGrpSpPr/>
        <p:nvPr/>
      </p:nvGrpSpPr>
      <p:grpSpPr>
        <a:xfrm>
          <a:off x="0" y="0"/>
          <a:ext cx="0" cy="0"/>
          <a:chOff x="0" y="0"/>
          <a:chExt cx="0" cy="0"/>
        </a:xfrm>
      </p:grpSpPr>
      <p:sp>
        <p:nvSpPr>
          <p:cNvPr id="905" name="Shape 90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906" name="Shape 90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bg>
      <p:bgPr>
        <a:solidFill>
          <a:schemeClr val="lt1"/>
        </a:solidFill>
      </p:bgPr>
    </p:bg>
    <p:spTree>
      <p:nvGrpSpPr>
        <p:cNvPr id="44" name="Shape 44"/>
        <p:cNvGrpSpPr/>
        <p:nvPr/>
      </p:nvGrpSpPr>
      <p:grpSpPr>
        <a:xfrm>
          <a:off x="0" y="0"/>
          <a:ext cx="0" cy="0"/>
          <a:chOff x="0" y="0"/>
          <a:chExt cx="0" cy="0"/>
        </a:xfrm>
      </p:grpSpPr>
      <p:cxnSp>
        <p:nvCxnSpPr>
          <p:cNvPr id="45" name="Shape 45"/>
          <p:cNvCxnSpPr/>
          <p:nvPr/>
        </p:nvCxnSpPr>
        <p:spPr>
          <a:xfrm>
            <a:off x="7315200" y="1066800"/>
            <a:ext cx="0" cy="4495800"/>
          </a:xfrm>
          <a:prstGeom prst="straightConnector1">
            <a:avLst/>
          </a:prstGeom>
          <a:noFill/>
          <a:ln cap="flat" cmpd="sng" w="9525">
            <a:solidFill>
              <a:schemeClr val="dk1"/>
            </a:solidFill>
            <a:prstDash val="solid"/>
            <a:miter/>
            <a:headEnd len="med" w="med" type="none"/>
            <a:tailEnd len="med" w="med" type="none"/>
          </a:ln>
        </p:spPr>
      </p:cxnSp>
      <p:sp>
        <p:nvSpPr>
          <p:cNvPr id="46" name="Shape 46"/>
          <p:cNvSpPr txBox="1"/>
          <p:nvPr>
            <p:ph type="ctrTitle"/>
          </p:nvPr>
        </p:nvSpPr>
        <p:spPr>
          <a:xfrm>
            <a:off x="315912" y="466725"/>
            <a:ext cx="6781800" cy="213359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1pPr>
            <a:lvl2pPr indent="0" lvl="1"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2pPr>
            <a:lvl3pPr indent="0" lvl="2"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3pPr>
            <a:lvl4pPr indent="0" lvl="3"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4pPr>
            <a:lvl5pPr indent="0" lvl="4"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5pPr>
            <a:lvl6pPr indent="0" lvl="5"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6pPr>
            <a:lvl7pPr indent="0" lvl="6"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7pPr>
            <a:lvl8pPr indent="0" lvl="7"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8pPr>
            <a:lvl9pPr indent="0" lvl="8"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9pPr>
          </a:lstStyle>
          <a:p/>
        </p:txBody>
      </p:sp>
      <p:sp>
        <p:nvSpPr>
          <p:cNvPr id="47" name="Shape 47"/>
          <p:cNvSpPr txBox="1"/>
          <p:nvPr>
            <p:ph idx="1" type="subTitle"/>
          </p:nvPr>
        </p:nvSpPr>
        <p:spPr>
          <a:xfrm>
            <a:off x="849312" y="3049586"/>
            <a:ext cx="6248399" cy="2362200"/>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ans Symbols"/>
              <a:buChar char="●"/>
              <a:defRPr b="0" i="0" sz="3000" u="none" cap="none" strike="noStrike">
                <a:solidFill>
                  <a:schemeClr val="dk1"/>
                </a:solidFill>
                <a:latin typeface="Arial"/>
                <a:ea typeface="Arial"/>
                <a:cs typeface="Arial"/>
                <a:sym typeface="Arial"/>
              </a:defRPr>
            </a:lvl1pPr>
            <a:lvl2pPr indent="-233680" lvl="1" marL="692150" marR="0" rtl="0" algn="l">
              <a:lnSpc>
                <a:spcPct val="100000"/>
              </a:lnSpc>
              <a:spcBef>
                <a:spcPts val="520"/>
              </a:spcBef>
              <a:spcAft>
                <a:spcPts val="0"/>
              </a:spcAft>
              <a:buClr>
                <a:schemeClr val="accent2"/>
              </a:buClr>
              <a:buFont typeface="Noto Sans Symbols"/>
              <a:buChar char="●"/>
              <a:defRPr b="0" i="0" sz="2600" u="none" cap="none" strike="noStrike">
                <a:solidFill>
                  <a:schemeClr val="dk1"/>
                </a:solidFill>
                <a:latin typeface="Arial"/>
                <a:ea typeface="Arial"/>
                <a:cs typeface="Arial"/>
                <a:sym typeface="Arial"/>
              </a:defRPr>
            </a:lvl2pPr>
            <a:lvl3pPr indent="-199390" lvl="2" marL="987425" marR="0" rtl="0" algn="l">
              <a:lnSpc>
                <a:spcPct val="100000"/>
              </a:lnSpc>
              <a:spcBef>
                <a:spcPts val="460"/>
              </a:spcBef>
              <a:spcAft>
                <a:spcPts val="0"/>
              </a:spcAft>
              <a:buClr>
                <a:schemeClr val="accent1"/>
              </a:buClr>
              <a:buFont typeface="Noto Sans Symbols"/>
              <a:buChar char="●"/>
              <a:defRPr b="0" i="0" sz="2300" u="none" cap="none" strike="noStrike">
                <a:solidFill>
                  <a:schemeClr val="dk1"/>
                </a:solidFill>
                <a:latin typeface="Arial"/>
                <a:ea typeface="Arial"/>
                <a:cs typeface="Arial"/>
                <a:sym typeface="Arial"/>
              </a:defRPr>
            </a:lvl3pPr>
            <a:lvl4pPr indent="-207962" lvl="3" marL="1281112" marR="0" rtl="0" algn="l">
              <a:lnSpc>
                <a:spcPct val="100000"/>
              </a:lnSpc>
              <a:spcBef>
                <a:spcPts val="400"/>
              </a:spcBef>
              <a:spcAft>
                <a:spcPts val="0"/>
              </a:spcAft>
              <a:buClr>
                <a:schemeClr val="dk2"/>
              </a:buClr>
              <a:buFont typeface="Noto Sans Symbols"/>
              <a:buChar char="▪"/>
              <a:defRPr b="0" i="0" sz="2000" u="none" cap="none" strike="noStrike">
                <a:solidFill>
                  <a:schemeClr val="dk1"/>
                </a:solidFill>
                <a:latin typeface="Arial"/>
                <a:ea typeface="Arial"/>
                <a:cs typeface="Arial"/>
                <a:sym typeface="Arial"/>
              </a:defRPr>
            </a:lvl4pPr>
            <a:lvl5pPr indent="-214312" lvl="4" marL="1598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5pPr>
            <a:lvl6pPr indent="-239711" lvl="5" marL="1916111"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6pPr>
            <a:lvl7pPr indent="-290511" lvl="6" marL="25511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7pPr>
            <a:lvl8pPr indent="-366712" lvl="7" marL="350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8pPr>
            <a:lvl9pPr indent="-455612" lvl="8" marL="477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9pPr>
          </a:lstStyle>
          <a:p/>
        </p:txBody>
      </p:sp>
      <p:sp>
        <p:nvSpPr>
          <p:cNvPr id="48" name="Shape 48"/>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49" name="Shape 49"/>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50" name="Shape 50"/>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51" name="Shape 51"/>
          <p:cNvGrpSpPr/>
          <p:nvPr/>
        </p:nvGrpSpPr>
        <p:grpSpPr>
          <a:xfrm>
            <a:off x="7493000" y="2992436"/>
            <a:ext cx="1338261" cy="2189162"/>
            <a:chOff x="7467600" y="2992436"/>
            <a:chExt cx="1338261" cy="2189162"/>
          </a:xfrm>
        </p:grpSpPr>
        <p:sp>
          <p:nvSpPr>
            <p:cNvPr id="52" name="Shape 52"/>
            <p:cNvSpPr/>
            <p:nvPr/>
          </p:nvSpPr>
          <p:spPr>
            <a:xfrm>
              <a:off x="7467600"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Shape 53"/>
            <p:cNvSpPr/>
            <p:nvPr/>
          </p:nvSpPr>
          <p:spPr>
            <a:xfrm>
              <a:off x="7751761"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Shape 54"/>
            <p:cNvSpPr/>
            <p:nvPr/>
          </p:nvSpPr>
          <p:spPr>
            <a:xfrm>
              <a:off x="8035925"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 name="Shape 55"/>
            <p:cNvSpPr/>
            <p:nvPr/>
          </p:nvSpPr>
          <p:spPr>
            <a:xfrm>
              <a:off x="7467600"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 name="Shape 56"/>
            <p:cNvSpPr/>
            <p:nvPr/>
          </p:nvSpPr>
          <p:spPr>
            <a:xfrm>
              <a:off x="7751761"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 name="Shape 57"/>
            <p:cNvSpPr/>
            <p:nvPr/>
          </p:nvSpPr>
          <p:spPr>
            <a:xfrm>
              <a:off x="8035925"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 name="Shape 58"/>
            <p:cNvSpPr/>
            <p:nvPr/>
          </p:nvSpPr>
          <p:spPr>
            <a:xfrm>
              <a:off x="8320086" y="3276600"/>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Shape 59"/>
            <p:cNvSpPr/>
            <p:nvPr/>
          </p:nvSpPr>
          <p:spPr>
            <a:xfrm>
              <a:off x="7467600"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Shape 60"/>
            <p:cNvSpPr/>
            <p:nvPr/>
          </p:nvSpPr>
          <p:spPr>
            <a:xfrm>
              <a:off x="7751761"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Shape 61"/>
            <p:cNvSpPr/>
            <p:nvPr/>
          </p:nvSpPr>
          <p:spPr>
            <a:xfrm>
              <a:off x="8035925"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Shape 62"/>
            <p:cNvSpPr/>
            <p:nvPr/>
          </p:nvSpPr>
          <p:spPr>
            <a:xfrm>
              <a:off x="8320086"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Shape 63"/>
            <p:cNvSpPr/>
            <p:nvPr/>
          </p:nvSpPr>
          <p:spPr>
            <a:xfrm>
              <a:off x="8604250" y="35607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Shape 64"/>
            <p:cNvSpPr/>
            <p:nvPr/>
          </p:nvSpPr>
          <p:spPr>
            <a:xfrm>
              <a:off x="7467600" y="3843337"/>
              <a:ext cx="201611" cy="203199"/>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Shape 65"/>
            <p:cNvSpPr/>
            <p:nvPr/>
          </p:nvSpPr>
          <p:spPr>
            <a:xfrm>
              <a:off x="7751761"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Shape 66"/>
            <p:cNvSpPr/>
            <p:nvPr/>
          </p:nvSpPr>
          <p:spPr>
            <a:xfrm>
              <a:off x="8035925"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Shape 67"/>
            <p:cNvSpPr/>
            <p:nvPr/>
          </p:nvSpPr>
          <p:spPr>
            <a:xfrm>
              <a:off x="8320086" y="3843337"/>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Shape 68"/>
            <p:cNvSpPr/>
            <p:nvPr/>
          </p:nvSpPr>
          <p:spPr>
            <a:xfrm>
              <a:off x="7467600"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Shape 69"/>
            <p:cNvSpPr/>
            <p:nvPr/>
          </p:nvSpPr>
          <p:spPr>
            <a:xfrm>
              <a:off x="7751761"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 name="Shape 70"/>
            <p:cNvSpPr/>
            <p:nvPr/>
          </p:nvSpPr>
          <p:spPr>
            <a:xfrm>
              <a:off x="8035925"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 name="Shape 71"/>
            <p:cNvSpPr/>
            <p:nvPr/>
          </p:nvSpPr>
          <p:spPr>
            <a:xfrm>
              <a:off x="8320086"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 name="Shape 72"/>
            <p:cNvSpPr/>
            <p:nvPr/>
          </p:nvSpPr>
          <p:spPr>
            <a:xfrm>
              <a:off x="8604250" y="4127500"/>
              <a:ext cx="201611" cy="203199"/>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 name="Shape 73"/>
            <p:cNvSpPr/>
            <p:nvPr/>
          </p:nvSpPr>
          <p:spPr>
            <a:xfrm>
              <a:off x="7467600" y="44116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 name="Shape 74"/>
            <p:cNvSpPr/>
            <p:nvPr/>
          </p:nvSpPr>
          <p:spPr>
            <a:xfrm>
              <a:off x="7751761"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Shape 75"/>
            <p:cNvSpPr/>
            <p:nvPr/>
          </p:nvSpPr>
          <p:spPr>
            <a:xfrm>
              <a:off x="8035925"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Shape 76"/>
            <p:cNvSpPr/>
            <p:nvPr/>
          </p:nvSpPr>
          <p:spPr>
            <a:xfrm>
              <a:off x="8320086" y="4411662"/>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Shape 77"/>
            <p:cNvSpPr/>
            <p:nvPr/>
          </p:nvSpPr>
          <p:spPr>
            <a:xfrm>
              <a:off x="7467600"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Shape 78"/>
            <p:cNvSpPr/>
            <p:nvPr/>
          </p:nvSpPr>
          <p:spPr>
            <a:xfrm>
              <a:off x="7751761"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Shape 79"/>
            <p:cNvSpPr/>
            <p:nvPr/>
          </p:nvSpPr>
          <p:spPr>
            <a:xfrm>
              <a:off x="8035925"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Shape 80"/>
            <p:cNvSpPr/>
            <p:nvPr/>
          </p:nvSpPr>
          <p:spPr>
            <a:xfrm>
              <a:off x="8320086"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Shape 81"/>
            <p:cNvSpPr/>
            <p:nvPr/>
          </p:nvSpPr>
          <p:spPr>
            <a:xfrm>
              <a:off x="7751761"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Shape 82"/>
            <p:cNvSpPr/>
            <p:nvPr/>
          </p:nvSpPr>
          <p:spPr>
            <a:xfrm>
              <a:off x="8320086"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83" name="Shape 83"/>
          <p:cNvCxnSpPr/>
          <p:nvPr/>
        </p:nvCxnSpPr>
        <p:spPr>
          <a:xfrm>
            <a:off x="304800" y="2819400"/>
            <a:ext cx="8229600" cy="0"/>
          </a:xfrm>
          <a:prstGeom prst="straightConnector1">
            <a:avLst/>
          </a:prstGeom>
          <a:noFill/>
          <a:ln cap="flat" cmpd="sng" w="9525">
            <a:solidFill>
              <a:schemeClr val="dk1"/>
            </a:solidFill>
            <a:prstDash val="solid"/>
            <a:miter/>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text on left, text on right">
    <p:spTree>
      <p:nvGrpSpPr>
        <p:cNvPr id="84" name="Shape 84"/>
        <p:cNvGrpSpPr/>
        <p:nvPr/>
      </p:nvGrpSpPr>
      <p:grpSpPr>
        <a:xfrm>
          <a:off x="0" y="0"/>
          <a:ext cx="0" cy="0"/>
          <a:chOff x="0" y="0"/>
          <a:chExt cx="0" cy="0"/>
        </a:xfrm>
      </p:grpSpPr>
      <p:sp>
        <p:nvSpPr>
          <p:cNvPr id="85" name="Shape 85"/>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86" name="Shape 86"/>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87" name="Shape 87"/>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AndTwoObj">
  <p:cSld name="Title, text on left, two objects on right">
    <p:spTree>
      <p:nvGrpSpPr>
        <p:cNvPr id="88" name="Shape 88"/>
        <p:cNvGrpSpPr/>
        <p:nvPr/>
      </p:nvGrpSpPr>
      <p:grpSpPr>
        <a:xfrm>
          <a:off x="0" y="0"/>
          <a:ext cx="0" cy="0"/>
          <a:chOff x="0" y="0"/>
          <a:chExt cx="0" cy="0"/>
        </a:xfrm>
      </p:grpSpPr>
      <p:sp>
        <p:nvSpPr>
          <p:cNvPr id="89" name="Shape 89"/>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0" name="Shape 90"/>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1" name="Shape 91"/>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text">
    <p:spTree>
      <p:nvGrpSpPr>
        <p:cNvPr id="92" name="Shape 92"/>
        <p:cNvGrpSpPr/>
        <p:nvPr/>
      </p:nvGrpSpPr>
      <p:grpSpPr>
        <a:xfrm>
          <a:off x="0" y="0"/>
          <a:ext cx="0" cy="0"/>
          <a:chOff x="0" y="0"/>
          <a:chExt cx="0" cy="0"/>
        </a:xfrm>
      </p:grpSpPr>
      <p:sp>
        <p:nvSpPr>
          <p:cNvPr id="93" name="Shape 93"/>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rtl="0" algn="l">
              <a:lnSpc>
                <a:spcPct val="100000"/>
              </a:lnSpc>
              <a:spcBef>
                <a:spcPts val="0"/>
              </a:spcBef>
              <a:spcAft>
                <a:spcPts val="0"/>
              </a:spcAft>
              <a:defRPr b="1" i="0" sz="3900" u="none">
                <a:solidFill>
                  <a:schemeClr val="dk2"/>
                </a:solidFill>
                <a:latin typeface="Arial"/>
                <a:ea typeface="Arial"/>
                <a:cs typeface="Arial"/>
                <a:sym typeface="Arial"/>
              </a:defRPr>
            </a:lvl1pPr>
            <a:lvl2pPr indent="0" lvl="1" marL="0" rtl="0" algn="l">
              <a:lnSpc>
                <a:spcPct val="100000"/>
              </a:lnSpc>
              <a:spcBef>
                <a:spcPts val="0"/>
              </a:spcBef>
              <a:spcAft>
                <a:spcPts val="0"/>
              </a:spcAft>
              <a:defRPr b="1" i="0" sz="3900" u="none">
                <a:solidFill>
                  <a:schemeClr val="dk2"/>
                </a:solidFill>
                <a:latin typeface="Arial"/>
                <a:ea typeface="Arial"/>
                <a:cs typeface="Arial"/>
                <a:sym typeface="Arial"/>
              </a:defRPr>
            </a:lvl2pPr>
            <a:lvl3pPr indent="0" lvl="2" marL="0" rtl="0" algn="l">
              <a:lnSpc>
                <a:spcPct val="100000"/>
              </a:lnSpc>
              <a:spcBef>
                <a:spcPts val="0"/>
              </a:spcBef>
              <a:spcAft>
                <a:spcPts val="0"/>
              </a:spcAft>
              <a:defRPr b="1" i="0" sz="3900" u="none">
                <a:solidFill>
                  <a:schemeClr val="dk2"/>
                </a:solidFill>
                <a:latin typeface="Arial"/>
                <a:ea typeface="Arial"/>
                <a:cs typeface="Arial"/>
                <a:sym typeface="Arial"/>
              </a:defRPr>
            </a:lvl3pPr>
            <a:lvl4pPr indent="0" lvl="3" marL="0" rtl="0" algn="l">
              <a:lnSpc>
                <a:spcPct val="100000"/>
              </a:lnSpc>
              <a:spcBef>
                <a:spcPts val="0"/>
              </a:spcBef>
              <a:spcAft>
                <a:spcPts val="0"/>
              </a:spcAft>
              <a:defRPr b="1" i="0" sz="3900" u="none">
                <a:solidFill>
                  <a:schemeClr val="dk2"/>
                </a:solidFill>
                <a:latin typeface="Arial"/>
                <a:ea typeface="Arial"/>
                <a:cs typeface="Arial"/>
                <a:sym typeface="Arial"/>
              </a:defRPr>
            </a:lvl4pPr>
            <a:lvl5pPr indent="0" lvl="4" marL="0" rtl="0" algn="l">
              <a:lnSpc>
                <a:spcPct val="100000"/>
              </a:lnSpc>
              <a:spcBef>
                <a:spcPts val="0"/>
              </a:spcBef>
              <a:spcAft>
                <a:spcPts val="0"/>
              </a:spcAft>
              <a:defRPr b="1" i="0" sz="3900" u="none">
                <a:solidFill>
                  <a:schemeClr val="dk2"/>
                </a:solidFill>
                <a:latin typeface="Arial"/>
                <a:ea typeface="Arial"/>
                <a:cs typeface="Arial"/>
                <a:sym typeface="Arial"/>
              </a:defRPr>
            </a:lvl5pPr>
            <a:lvl6pPr indent="0" lvl="5" marL="0" rtl="0" algn="l">
              <a:lnSpc>
                <a:spcPct val="100000"/>
              </a:lnSpc>
              <a:spcBef>
                <a:spcPts val="0"/>
              </a:spcBef>
              <a:spcAft>
                <a:spcPts val="0"/>
              </a:spcAft>
              <a:defRPr b="1" i="0" sz="3900" u="none">
                <a:solidFill>
                  <a:schemeClr val="dk2"/>
                </a:solidFill>
                <a:latin typeface="Arial"/>
                <a:ea typeface="Arial"/>
                <a:cs typeface="Arial"/>
                <a:sym typeface="Arial"/>
              </a:defRPr>
            </a:lvl6pPr>
            <a:lvl7pPr indent="0" lvl="6" marL="0" rtl="0" algn="l">
              <a:lnSpc>
                <a:spcPct val="100000"/>
              </a:lnSpc>
              <a:spcBef>
                <a:spcPts val="0"/>
              </a:spcBef>
              <a:spcAft>
                <a:spcPts val="0"/>
              </a:spcAft>
              <a:defRPr b="1" i="0" sz="3900" u="none">
                <a:solidFill>
                  <a:schemeClr val="dk2"/>
                </a:solidFill>
                <a:latin typeface="Arial"/>
                <a:ea typeface="Arial"/>
                <a:cs typeface="Arial"/>
                <a:sym typeface="Arial"/>
              </a:defRPr>
            </a:lvl7pPr>
            <a:lvl8pPr indent="0" lvl="7" marL="0" rtl="0" algn="l">
              <a:lnSpc>
                <a:spcPct val="100000"/>
              </a:lnSpc>
              <a:spcBef>
                <a:spcPts val="0"/>
              </a:spcBef>
              <a:spcAft>
                <a:spcPts val="0"/>
              </a:spcAft>
              <a:defRPr b="1" i="0" sz="3900" u="none">
                <a:solidFill>
                  <a:schemeClr val="dk2"/>
                </a:solidFill>
                <a:latin typeface="Arial"/>
                <a:ea typeface="Arial"/>
                <a:cs typeface="Arial"/>
                <a:sym typeface="Arial"/>
              </a:defRPr>
            </a:lvl8pPr>
            <a:lvl9pPr indent="0" lvl="8" marL="0" rtl="0" algn="l">
              <a:lnSpc>
                <a:spcPct val="100000"/>
              </a:lnSpc>
              <a:spcBef>
                <a:spcPts val="0"/>
              </a:spcBef>
              <a:spcAft>
                <a:spcPts val="0"/>
              </a:spcAft>
              <a:defRPr b="1" i="0" sz="3900" u="none">
                <a:solidFill>
                  <a:schemeClr val="dk2"/>
                </a:solidFill>
                <a:latin typeface="Arial"/>
                <a:ea typeface="Arial"/>
                <a:cs typeface="Arial"/>
                <a:sym typeface="Arial"/>
              </a:defRPr>
            </a:lvl9pPr>
          </a:lstStyle>
          <a:p/>
        </p:txBody>
      </p:sp>
      <p:sp>
        <p:nvSpPr>
          <p:cNvPr id="94" name="Shape 94"/>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rtl="0" algn="l">
              <a:lnSpc>
                <a:spcPct val="100000"/>
              </a:lnSpc>
              <a:spcBef>
                <a:spcPts val="600"/>
              </a:spcBef>
              <a:spcAft>
                <a:spcPts val="0"/>
              </a:spcAft>
              <a:buClr>
                <a:schemeClr val="dk2"/>
              </a:buClr>
              <a:buFont typeface="Noto Sans Symbols"/>
              <a:buChar char="●"/>
              <a:defRPr b="0" i="0" sz="3000" u="none">
                <a:solidFill>
                  <a:schemeClr val="dk1"/>
                </a:solidFill>
                <a:latin typeface="Arial"/>
                <a:ea typeface="Arial"/>
                <a:cs typeface="Arial"/>
                <a:sym typeface="Arial"/>
              </a:defRPr>
            </a:lvl1pPr>
            <a:lvl2pPr indent="-233680" lvl="1" marL="692150" rtl="0" algn="l">
              <a:lnSpc>
                <a:spcPct val="100000"/>
              </a:lnSpc>
              <a:spcBef>
                <a:spcPts val="520"/>
              </a:spcBef>
              <a:spcAft>
                <a:spcPts val="0"/>
              </a:spcAft>
              <a:buClr>
                <a:schemeClr val="accent2"/>
              </a:buClr>
              <a:buFont typeface="Noto Sans Symbols"/>
              <a:buChar char="●"/>
              <a:defRPr b="0" i="0" sz="2600" u="none">
                <a:solidFill>
                  <a:schemeClr val="dk1"/>
                </a:solidFill>
                <a:latin typeface="Arial"/>
                <a:ea typeface="Arial"/>
                <a:cs typeface="Arial"/>
                <a:sym typeface="Arial"/>
              </a:defRPr>
            </a:lvl2pPr>
            <a:lvl3pPr indent="-199390" lvl="2" marL="987425" rtl="0" algn="l">
              <a:lnSpc>
                <a:spcPct val="100000"/>
              </a:lnSpc>
              <a:spcBef>
                <a:spcPts val="460"/>
              </a:spcBef>
              <a:spcAft>
                <a:spcPts val="0"/>
              </a:spcAft>
              <a:buClr>
                <a:schemeClr val="accent1"/>
              </a:buClr>
              <a:buFont typeface="Noto Sans Symbols"/>
              <a:buChar char="●"/>
              <a:defRPr b="0" i="0" sz="2300" u="none">
                <a:solidFill>
                  <a:schemeClr val="dk1"/>
                </a:solidFill>
                <a:latin typeface="Arial"/>
                <a:ea typeface="Arial"/>
                <a:cs typeface="Arial"/>
                <a:sym typeface="Arial"/>
              </a:defRPr>
            </a:lvl3pPr>
            <a:lvl4pPr indent="-207962" lvl="3" marL="1281112" rtl="0" algn="l">
              <a:lnSpc>
                <a:spcPct val="100000"/>
              </a:lnSpc>
              <a:spcBef>
                <a:spcPts val="400"/>
              </a:spcBef>
              <a:spcAft>
                <a:spcPts val="0"/>
              </a:spcAft>
              <a:buClr>
                <a:schemeClr val="dk2"/>
              </a:buClr>
              <a:buFont typeface="Noto Sans Symbols"/>
              <a:buChar char="▪"/>
              <a:defRPr b="0" i="0" sz="2000" u="none">
                <a:solidFill>
                  <a:schemeClr val="dk1"/>
                </a:solidFill>
                <a:latin typeface="Arial"/>
                <a:ea typeface="Arial"/>
                <a:cs typeface="Arial"/>
                <a:sym typeface="Arial"/>
              </a:defRPr>
            </a:lvl4pPr>
            <a:lvl5pPr indent="-214312" lvl="4" marL="15986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5pPr>
            <a:lvl6pPr indent="-239711" lvl="5" marL="1916111"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6pPr>
            <a:lvl7pPr indent="-290511" lvl="6" marL="25511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7pPr>
            <a:lvl8pPr indent="-366712" lvl="7" marL="35036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8pPr>
            <a:lvl9pPr indent="-455612" lvl="8" marL="47736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9pPr>
          </a:lstStyle>
          <a:p/>
        </p:txBody>
      </p:sp>
      <p:sp>
        <p:nvSpPr>
          <p:cNvPr id="95" name="Shape 95"/>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6" name="Shape 96"/>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7" name="Shape 97"/>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cxnSp>
        <p:nvCxnSpPr>
          <p:cNvPr id="6" name="Shape 6"/>
          <p:cNvCxnSpPr/>
          <p:nvPr/>
        </p:nvCxnSpPr>
        <p:spPr>
          <a:xfrm>
            <a:off x="7962900" y="152400"/>
            <a:ext cx="0" cy="1524000"/>
          </a:xfrm>
          <a:prstGeom prst="straightConnector1">
            <a:avLst/>
          </a:prstGeom>
          <a:noFill/>
          <a:ln cap="flat" cmpd="sng" w="9525">
            <a:solidFill>
              <a:schemeClr val="dk1"/>
            </a:solidFill>
            <a:prstDash val="solid"/>
            <a:miter/>
            <a:headEnd len="med" w="med" type="none"/>
            <a:tailEnd len="med" w="med" type="none"/>
          </a:ln>
        </p:spPr>
      </p:cxnSp>
      <p:sp>
        <p:nvSpPr>
          <p:cNvPr id="7" name="Shape 7"/>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1pPr>
            <a:lvl2pPr indent="0" lvl="1"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2pPr>
            <a:lvl3pPr indent="0" lvl="2"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3pPr>
            <a:lvl4pPr indent="0" lvl="3"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4pPr>
            <a:lvl5pPr indent="0" lvl="4"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5pPr>
            <a:lvl6pPr indent="0" lvl="5"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6pPr>
            <a:lvl7pPr indent="0" lvl="6"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7pPr>
            <a:lvl8pPr indent="0" lvl="7"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8pPr>
            <a:lvl9pPr indent="0" lvl="8"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9pPr>
          </a:lstStyle>
          <a:p/>
        </p:txBody>
      </p:sp>
      <p:sp>
        <p:nvSpPr>
          <p:cNvPr id="8" name="Shape 8"/>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ans Symbols"/>
              <a:buChar char="●"/>
              <a:defRPr b="0" i="0" sz="3000" u="none" cap="none" strike="noStrike">
                <a:solidFill>
                  <a:schemeClr val="dk1"/>
                </a:solidFill>
                <a:latin typeface="Arial"/>
                <a:ea typeface="Arial"/>
                <a:cs typeface="Arial"/>
                <a:sym typeface="Arial"/>
              </a:defRPr>
            </a:lvl1pPr>
            <a:lvl2pPr indent="-233680" lvl="1" marL="692150" marR="0" rtl="0" algn="l">
              <a:lnSpc>
                <a:spcPct val="100000"/>
              </a:lnSpc>
              <a:spcBef>
                <a:spcPts val="520"/>
              </a:spcBef>
              <a:spcAft>
                <a:spcPts val="0"/>
              </a:spcAft>
              <a:buClr>
                <a:schemeClr val="accent2"/>
              </a:buClr>
              <a:buFont typeface="Noto Sans Symbols"/>
              <a:buChar char="●"/>
              <a:defRPr b="0" i="0" sz="2600" u="none" cap="none" strike="noStrike">
                <a:solidFill>
                  <a:schemeClr val="dk1"/>
                </a:solidFill>
                <a:latin typeface="Arial"/>
                <a:ea typeface="Arial"/>
                <a:cs typeface="Arial"/>
                <a:sym typeface="Arial"/>
              </a:defRPr>
            </a:lvl2pPr>
            <a:lvl3pPr indent="-199390" lvl="2" marL="987425" marR="0" rtl="0" algn="l">
              <a:lnSpc>
                <a:spcPct val="100000"/>
              </a:lnSpc>
              <a:spcBef>
                <a:spcPts val="460"/>
              </a:spcBef>
              <a:spcAft>
                <a:spcPts val="0"/>
              </a:spcAft>
              <a:buClr>
                <a:schemeClr val="accent1"/>
              </a:buClr>
              <a:buFont typeface="Noto Sans Symbols"/>
              <a:buChar char="●"/>
              <a:defRPr b="0" i="0" sz="2300" u="none" cap="none" strike="noStrike">
                <a:solidFill>
                  <a:schemeClr val="dk1"/>
                </a:solidFill>
                <a:latin typeface="Arial"/>
                <a:ea typeface="Arial"/>
                <a:cs typeface="Arial"/>
                <a:sym typeface="Arial"/>
              </a:defRPr>
            </a:lvl3pPr>
            <a:lvl4pPr indent="-207962" lvl="3" marL="1281112" marR="0" rtl="0" algn="l">
              <a:lnSpc>
                <a:spcPct val="100000"/>
              </a:lnSpc>
              <a:spcBef>
                <a:spcPts val="400"/>
              </a:spcBef>
              <a:spcAft>
                <a:spcPts val="0"/>
              </a:spcAft>
              <a:buClr>
                <a:schemeClr val="dk2"/>
              </a:buClr>
              <a:buFont typeface="Noto Sans Symbols"/>
              <a:buChar char="▪"/>
              <a:defRPr b="0" i="0" sz="2000" u="none" cap="none" strike="noStrike">
                <a:solidFill>
                  <a:schemeClr val="dk1"/>
                </a:solidFill>
                <a:latin typeface="Arial"/>
                <a:ea typeface="Arial"/>
                <a:cs typeface="Arial"/>
                <a:sym typeface="Arial"/>
              </a:defRPr>
            </a:lvl4pPr>
            <a:lvl5pPr indent="-214312" lvl="4" marL="1598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5pPr>
            <a:lvl6pPr indent="-239711" lvl="5" marL="1916111"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6pPr>
            <a:lvl7pPr indent="-290511" lvl="6" marL="25511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7pPr>
            <a:lvl8pPr indent="-366712" lvl="7" marL="350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8pPr>
            <a:lvl9pPr indent="-455612" lvl="8" marL="477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9pPr>
          </a:lstStyle>
          <a:p/>
        </p:txBody>
      </p:sp>
      <p:sp>
        <p:nvSpPr>
          <p:cNvPr id="9" name="Shape 9"/>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0" name="Shape 10"/>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1" name="Shape 11"/>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12" name="Shape 12"/>
          <p:cNvGrpSpPr/>
          <p:nvPr/>
        </p:nvGrpSpPr>
        <p:grpSpPr>
          <a:xfrm>
            <a:off x="8153399" y="152399"/>
            <a:ext cx="792161" cy="1295399"/>
            <a:chOff x="8153400" y="1524000"/>
            <a:chExt cx="838200" cy="1371600"/>
          </a:xfrm>
        </p:grpSpPr>
        <p:sp>
          <p:nvSpPr>
            <p:cNvPr id="13" name="Shape 13"/>
            <p:cNvSpPr/>
            <p:nvPr/>
          </p:nvSpPr>
          <p:spPr>
            <a:xfrm>
              <a:off x="81534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 name="Shape 14"/>
            <p:cNvSpPr/>
            <p:nvPr/>
          </p:nvSpPr>
          <p:spPr>
            <a:xfrm>
              <a:off x="83312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Shape 15"/>
            <p:cNvSpPr/>
            <p:nvPr/>
          </p:nvSpPr>
          <p:spPr>
            <a:xfrm>
              <a:off x="85090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Shape 16"/>
            <p:cNvSpPr/>
            <p:nvPr/>
          </p:nvSpPr>
          <p:spPr>
            <a:xfrm>
              <a:off x="81534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Shape 17"/>
            <p:cNvSpPr/>
            <p:nvPr/>
          </p:nvSpPr>
          <p:spPr>
            <a:xfrm>
              <a:off x="83312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Shape 18"/>
            <p:cNvSpPr/>
            <p:nvPr/>
          </p:nvSpPr>
          <p:spPr>
            <a:xfrm>
              <a:off x="85090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Shape 19"/>
            <p:cNvSpPr/>
            <p:nvPr/>
          </p:nvSpPr>
          <p:spPr>
            <a:xfrm>
              <a:off x="8686800" y="17018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Shape 20"/>
            <p:cNvSpPr/>
            <p:nvPr/>
          </p:nvSpPr>
          <p:spPr>
            <a:xfrm>
              <a:off x="81534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Shape 21"/>
            <p:cNvSpPr/>
            <p:nvPr/>
          </p:nvSpPr>
          <p:spPr>
            <a:xfrm>
              <a:off x="83312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Shape 22"/>
            <p:cNvSpPr/>
            <p:nvPr/>
          </p:nvSpPr>
          <p:spPr>
            <a:xfrm>
              <a:off x="85090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Shape 23"/>
            <p:cNvSpPr/>
            <p:nvPr/>
          </p:nvSpPr>
          <p:spPr>
            <a:xfrm>
              <a:off x="86868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Shape 24"/>
            <p:cNvSpPr/>
            <p:nvPr/>
          </p:nvSpPr>
          <p:spPr>
            <a:xfrm>
              <a:off x="8864600" y="18796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Shape 25"/>
            <p:cNvSpPr/>
            <p:nvPr/>
          </p:nvSpPr>
          <p:spPr>
            <a:xfrm>
              <a:off x="8153400" y="20574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Shape 26"/>
            <p:cNvSpPr/>
            <p:nvPr/>
          </p:nvSpPr>
          <p:spPr>
            <a:xfrm>
              <a:off x="83312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 name="Shape 27"/>
            <p:cNvSpPr/>
            <p:nvPr/>
          </p:nvSpPr>
          <p:spPr>
            <a:xfrm>
              <a:off x="85090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 name="Shape 28"/>
            <p:cNvSpPr/>
            <p:nvPr/>
          </p:nvSpPr>
          <p:spPr>
            <a:xfrm>
              <a:off x="8686800" y="20574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 name="Shape 29"/>
            <p:cNvSpPr/>
            <p:nvPr/>
          </p:nvSpPr>
          <p:spPr>
            <a:xfrm>
              <a:off x="81534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 name="Shape 30"/>
            <p:cNvSpPr/>
            <p:nvPr/>
          </p:nvSpPr>
          <p:spPr>
            <a:xfrm>
              <a:off x="83312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Shape 31"/>
            <p:cNvSpPr/>
            <p:nvPr/>
          </p:nvSpPr>
          <p:spPr>
            <a:xfrm>
              <a:off x="85090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Shape 32"/>
            <p:cNvSpPr/>
            <p:nvPr/>
          </p:nvSpPr>
          <p:spPr>
            <a:xfrm>
              <a:off x="86868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Shape 33"/>
            <p:cNvSpPr/>
            <p:nvPr/>
          </p:nvSpPr>
          <p:spPr>
            <a:xfrm>
              <a:off x="8864600" y="22352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Shape 34"/>
            <p:cNvSpPr/>
            <p:nvPr/>
          </p:nvSpPr>
          <p:spPr>
            <a:xfrm>
              <a:off x="8153400" y="24130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Shape 35"/>
            <p:cNvSpPr/>
            <p:nvPr/>
          </p:nvSpPr>
          <p:spPr>
            <a:xfrm>
              <a:off x="83312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Shape 36"/>
            <p:cNvSpPr/>
            <p:nvPr/>
          </p:nvSpPr>
          <p:spPr>
            <a:xfrm>
              <a:off x="85090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Shape 37"/>
            <p:cNvSpPr/>
            <p:nvPr/>
          </p:nvSpPr>
          <p:spPr>
            <a:xfrm>
              <a:off x="8686800" y="24130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Shape 38"/>
            <p:cNvSpPr/>
            <p:nvPr/>
          </p:nvSpPr>
          <p:spPr>
            <a:xfrm>
              <a:off x="81534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Shape 39"/>
            <p:cNvSpPr/>
            <p:nvPr/>
          </p:nvSpPr>
          <p:spPr>
            <a:xfrm>
              <a:off x="83312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Shape 40"/>
            <p:cNvSpPr/>
            <p:nvPr/>
          </p:nvSpPr>
          <p:spPr>
            <a:xfrm>
              <a:off x="85090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1" name="Shape 41"/>
            <p:cNvSpPr/>
            <p:nvPr/>
          </p:nvSpPr>
          <p:spPr>
            <a:xfrm>
              <a:off x="86868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 name="Shape 42"/>
            <p:cNvSpPr/>
            <p:nvPr/>
          </p:nvSpPr>
          <p:spPr>
            <a:xfrm>
              <a:off x="83312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 name="Shape 43"/>
            <p:cNvSpPr/>
            <p:nvPr/>
          </p:nvSpPr>
          <p:spPr>
            <a:xfrm>
              <a:off x="86868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0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0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0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0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0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04.jpg"/><Relationship Id="rId4" Type="http://schemas.openxmlformats.org/officeDocument/2006/relationships/image" Target="../media/image02.jpg"/><Relationship Id="rId5" Type="http://schemas.openxmlformats.org/officeDocument/2006/relationships/image" Target="../media/image06.jpg"/><Relationship Id="rId6" Type="http://schemas.openxmlformats.org/officeDocument/2006/relationships/image" Target="../media/image03.png"/><Relationship Id="rId7" Type="http://schemas.openxmlformats.org/officeDocument/2006/relationships/image" Target="../media/image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06.jpg"/><Relationship Id="rId4" Type="http://schemas.openxmlformats.org/officeDocument/2006/relationships/image" Target="../media/image00.png"/><Relationship Id="rId5" Type="http://schemas.openxmlformats.org/officeDocument/2006/relationships/image" Target="../media/image01.jpg"/><Relationship Id="rId6" Type="http://schemas.openxmlformats.org/officeDocument/2006/relationships/image" Target="../media/image0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00.png"/><Relationship Id="rId4" Type="http://schemas.openxmlformats.org/officeDocument/2006/relationships/image" Target="../media/image0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0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0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0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04.jpg"/><Relationship Id="rId4" Type="http://schemas.openxmlformats.org/officeDocument/2006/relationships/image" Target="../media/image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0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0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0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0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0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0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0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0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0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0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0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1" name="Shape 101"/>
        <p:cNvGrpSpPr/>
        <p:nvPr/>
      </p:nvGrpSpPr>
      <p:grpSpPr>
        <a:xfrm>
          <a:off x="0" y="0"/>
          <a:ext cx="0" cy="0"/>
          <a:chOff x="0" y="0"/>
          <a:chExt cx="0" cy="0"/>
        </a:xfrm>
      </p:grpSpPr>
      <p:sp>
        <p:nvSpPr>
          <p:cNvPr id="102" name="Shape 102"/>
          <p:cNvSpPr txBox="1"/>
          <p:nvPr>
            <p:ph type="ctrTitle"/>
          </p:nvPr>
        </p:nvSpPr>
        <p:spPr>
          <a:xfrm>
            <a:off x="382587" y="115886"/>
            <a:ext cx="8761412" cy="8635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4400" u="none" cap="none" strike="noStrike">
                <a:solidFill>
                  <a:srgbClr val="EC1914"/>
                </a:solidFill>
                <a:latin typeface="Arial"/>
                <a:ea typeface="Arial"/>
                <a:cs typeface="Arial"/>
                <a:sym typeface="Arial"/>
              </a:rPr>
              <a:t>MERCADO CLASE N° 9</a:t>
            </a:r>
            <a:r>
              <a:rPr b="1" i="0" lang="en-US" sz="4800" u="none" cap="none" strike="noStrike">
                <a:solidFill>
                  <a:schemeClr val="dk2"/>
                </a:solidFill>
                <a:latin typeface="Arial"/>
                <a:ea typeface="Arial"/>
                <a:cs typeface="Arial"/>
                <a:sym typeface="Arial"/>
              </a:rPr>
              <a:t> </a:t>
            </a:r>
          </a:p>
        </p:txBody>
      </p:sp>
      <p:sp>
        <p:nvSpPr>
          <p:cNvPr id="103" name="Shape 103"/>
          <p:cNvSpPr txBox="1"/>
          <p:nvPr>
            <p:ph idx="1" type="subTitle"/>
          </p:nvPr>
        </p:nvSpPr>
        <p:spPr>
          <a:xfrm>
            <a:off x="0" y="1052512"/>
            <a:ext cx="9144000" cy="5805486"/>
          </a:xfrm>
          <a:prstGeom prst="rect">
            <a:avLst/>
          </a:prstGeom>
          <a:solidFill>
            <a:schemeClr val="accent1"/>
          </a:solidFill>
          <a:ln>
            <a:noFill/>
          </a:ln>
        </p:spPr>
        <p:txBody>
          <a:bodyPr anchorCtr="0" anchor="t" bIns="45700" lIns="162000" rIns="91425" tIns="45700">
            <a:noAutofit/>
          </a:bodyPr>
          <a:lstStyle/>
          <a:p>
            <a:pPr indent="0" lvl="0" marL="0" marR="0" rtl="0" algn="l">
              <a:lnSpc>
                <a:spcPct val="95000"/>
              </a:lnSpc>
              <a:spcBef>
                <a:spcPts val="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EL CONTROL DE PRECIOS POR PARTE DEL ESTADO</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PRECIOS MÁXIMOS - PRECIOS MÍNIMOS</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EL RACIONAMIENTO DE LA OFERTA - POLÍTICA DE RACIONAMIENTO</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ARANCELES DE IMPORTACIÓN – DEFINICIÓN - INFLUENCIA SOBRE LA OFERTA</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EXTERNALIDADES EN LA PRODUCCIÓN</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EXTERNALIDADES EN EL CONSUMO</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BIENES PÚBLICOS</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MEJORA LA DEMANDA</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TIPOS  DE MERCADO</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COMPETENCIA PERFECTA</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DEMANDA DIRIGIDA AL PRODUCTOR</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INGRESO TOTAL DEL PRODUCTOR</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INGRESO MEDIO Y MARGINAL DEL PRODUCTOR</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BENEFICIO TOTAL DEL PRODUCTOR</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BENEFICIO MEDIO DEL PRODUCTOR</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COMPORTAMIENTO DEL PRODUCTOR - OFERTA INDIVIDUAL DEL PRODUCTOR</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LARGO PLAZO EN EL MERCADO DE COMPETENCIA PERFECTA</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MONOPOLIO – DEFINICIÓN. – GENERACIÓN.-</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MONOPOLIO – PRECIOS UNIFORMES</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INGRESO MARGINAL</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INGRESO TOTAL</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EQUILIBRIO ECONÓMICO EN EL MERCADO MONOPOLICO</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BENEFICIO EN EL MERCADO MONOPOLICO</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MONOPOLIO Y BENEFICIO SOCIAL</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MONOPOLIO Y PRECIOS NO UNIFORMES</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DISCRIMINACIÓN DE PRECIOS.</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MONOPOLIO – DISCRIMINACIÓN DE 1° GRADO</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MONOPOLIO DISCRIMINADOR</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CONTROL DEL ESTADO PARA LOS MONOPOLIOS</a:t>
            </a:r>
          </a:p>
          <a:p>
            <a:pPr indent="0" lvl="0" marL="0" marR="0" rtl="0" algn="l">
              <a:lnSpc>
                <a:spcPct val="95000"/>
              </a:lnSpc>
              <a:spcBef>
                <a:spcPts val="120"/>
              </a:spcBef>
              <a:spcAft>
                <a:spcPts val="0"/>
              </a:spcAft>
              <a:buClr>
                <a:schemeClr val="dk2"/>
              </a:buClr>
              <a:buSzPct val="25000"/>
              <a:buFont typeface="Noto Sans Symbols"/>
              <a:buNone/>
            </a:pPr>
            <a:r>
              <a:rPr b="1" i="1" lang="en-US" sz="1200" u="none" cap="none" strike="noStrike">
                <a:solidFill>
                  <a:schemeClr val="dk1"/>
                </a:solidFill>
                <a:latin typeface="Calibri"/>
                <a:ea typeface="Calibri"/>
                <a:cs typeface="Calibri"/>
                <a:sym typeface="Calibri"/>
              </a:rPr>
              <a:t>INVERSIONES OBLIGATORIAS. PAGO DE UN CANON. PAGO DE UN IMPUESTO DIRECTO. PRECIOS MÁXIMOS</a:t>
            </a:r>
          </a:p>
          <a:p>
            <a:pPr indent="-342900" lvl="0" marL="342900" marR="0" rtl="0" algn="l">
              <a:lnSpc>
                <a:spcPct val="100000"/>
              </a:lnSpc>
              <a:spcBef>
                <a:spcPts val="240"/>
              </a:spcBef>
              <a:spcAft>
                <a:spcPts val="0"/>
              </a:spcAft>
              <a:buClr>
                <a:schemeClr val="dk2"/>
              </a:buClr>
              <a:buSzPct val="70000"/>
              <a:buFont typeface="Noto Sans Symbols"/>
              <a:buNone/>
            </a:pPr>
            <a:r>
              <a:t/>
            </a:r>
            <a:endParaRPr b="1" i="1" sz="1200" u="none" cap="none" strike="noStrike">
              <a:solidFill>
                <a:schemeClr val="dk1"/>
              </a:solidFill>
              <a:latin typeface="Calibri"/>
              <a:ea typeface="Calibri"/>
              <a:cs typeface="Calibri"/>
              <a:sym typeface="Calibri"/>
            </a:endParaRPr>
          </a:p>
        </p:txBody>
      </p:sp>
      <p:pic>
        <p:nvPicPr>
          <p:cNvPr id="104" name="Shape 104"/>
          <p:cNvPicPr preferRelativeResize="0"/>
          <p:nvPr/>
        </p:nvPicPr>
        <p:blipFill rotWithShape="1">
          <a:blip r:embed="rId3">
            <a:alphaModFix/>
          </a:blip>
          <a:srcRect b="0" l="0" r="0" t="0"/>
          <a:stretch/>
        </p:blipFill>
        <p:spPr>
          <a:xfrm>
            <a:off x="5940425" y="3325812"/>
            <a:ext cx="3013074" cy="608011"/>
          </a:xfrm>
          <a:prstGeom prst="rect">
            <a:avLst/>
          </a:prstGeom>
          <a:noFill/>
          <a:ln>
            <a:noFill/>
          </a:ln>
        </p:spPr>
      </p:pic>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8" name="Shape 108"/>
        <p:cNvGrpSpPr/>
        <p:nvPr/>
      </p:nvGrpSpPr>
      <p:grpSpPr>
        <a:xfrm>
          <a:off x="0" y="0"/>
          <a:ext cx="0" cy="0"/>
          <a:chOff x="0" y="0"/>
          <a:chExt cx="0" cy="0"/>
        </a:xfrm>
      </p:grpSpPr>
      <p:sp>
        <p:nvSpPr>
          <p:cNvPr id="109" name="Shape 109"/>
          <p:cNvSpPr txBox="1"/>
          <p:nvPr>
            <p:ph idx="4294967295" type="title"/>
          </p:nvPr>
        </p:nvSpPr>
        <p:spPr>
          <a:xfrm>
            <a:off x="323850" y="333375"/>
            <a:ext cx="3168650" cy="1722437"/>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EL CONTROL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PRECIOS</a:t>
            </a:r>
          </a:p>
        </p:txBody>
      </p:sp>
      <p:sp>
        <p:nvSpPr>
          <p:cNvPr id="110" name="Shape 110"/>
          <p:cNvSpPr txBox="1"/>
          <p:nvPr>
            <p:ph idx="4294967295" type="body"/>
          </p:nvPr>
        </p:nvSpPr>
        <p:spPr>
          <a:xfrm>
            <a:off x="395287" y="2060575"/>
            <a:ext cx="8218487"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Las políticas de intervención del estado en el control de precios, son fuentes de distorsiones que abiertamente cambian la percepción de la oferta y la demanda para asignar los recursos de manera eficiente.</a:t>
            </a: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1" i="0" lang="en-US" sz="2600" u="none" cap="none" strike="noStrike">
                <a:solidFill>
                  <a:srgbClr val="EC1914"/>
                </a:solidFill>
                <a:latin typeface="Arial"/>
                <a:ea typeface="Arial"/>
                <a:cs typeface="Arial"/>
                <a:sym typeface="Arial"/>
              </a:rPr>
              <a:t>Muchas veces se determinan costos sociales mayores a los que genera el mercado sin intervención</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 </a:t>
            </a:r>
          </a:p>
        </p:txBody>
      </p:sp>
      <p:pic>
        <p:nvPicPr>
          <p:cNvPr id="111" name="Shape 111"/>
          <p:cNvPicPr preferRelativeResize="0"/>
          <p:nvPr>
            <p:ph idx="4294967295" type="body"/>
          </p:nvPr>
        </p:nvPicPr>
        <p:blipFill rotWithShape="1">
          <a:blip r:embed="rId3">
            <a:alphaModFix/>
          </a:blip>
          <a:srcRect b="0" l="0" r="0" t="0"/>
          <a:stretch/>
        </p:blipFill>
        <p:spPr>
          <a:xfrm>
            <a:off x="4932362" y="620712"/>
            <a:ext cx="3009899" cy="647700"/>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5" name="Shape 115"/>
        <p:cNvGrpSpPr/>
        <p:nvPr/>
      </p:nvGrpSpPr>
      <p:grpSpPr>
        <a:xfrm>
          <a:off x="0" y="0"/>
          <a:ext cx="0" cy="0"/>
          <a:chOff x="0" y="0"/>
          <a:chExt cx="0" cy="0"/>
        </a:xfrm>
      </p:grpSpPr>
      <p:cxnSp>
        <p:nvCxnSpPr>
          <p:cNvPr id="116" name="Shape 116"/>
          <p:cNvCxnSpPr/>
          <p:nvPr/>
        </p:nvCxnSpPr>
        <p:spPr>
          <a:xfrm rot="10800000">
            <a:off x="2268536" y="4221161"/>
            <a:ext cx="0" cy="1944687"/>
          </a:xfrm>
          <a:prstGeom prst="straightConnector1">
            <a:avLst/>
          </a:prstGeom>
          <a:noFill/>
          <a:ln cap="flat" cmpd="sng" w="9525">
            <a:solidFill>
              <a:schemeClr val="dk1"/>
            </a:solidFill>
            <a:prstDash val="solid"/>
            <a:miter/>
            <a:headEnd len="med" w="med" type="none"/>
            <a:tailEnd len="med" w="med" type="none"/>
          </a:ln>
        </p:spPr>
      </p:cxnSp>
      <p:sp>
        <p:nvSpPr>
          <p:cNvPr id="117" name="Shape 117"/>
          <p:cNvSpPr txBox="1"/>
          <p:nvPr>
            <p:ph idx="4294967295" type="title"/>
          </p:nvPr>
        </p:nvSpPr>
        <p:spPr>
          <a:xfrm>
            <a:off x="395287" y="115886"/>
            <a:ext cx="2530475" cy="1223961"/>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PRECIOS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MÁXIMOS</a:t>
            </a:r>
          </a:p>
        </p:txBody>
      </p:sp>
      <p:sp>
        <p:nvSpPr>
          <p:cNvPr id="118" name="Shape 118"/>
          <p:cNvSpPr txBox="1"/>
          <p:nvPr>
            <p:ph idx="4294967295" type="body"/>
          </p:nvPr>
        </p:nvSpPr>
        <p:spPr>
          <a:xfrm>
            <a:off x="5435600" y="1700211"/>
            <a:ext cx="3457574" cy="1368425"/>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El gobierno fija un precio por debajo del precio de mercado para proteger a los consumidores (P</a:t>
            </a:r>
            <a:r>
              <a:rPr b="0" baseline="-25000" i="0" lang="en-US" sz="2000" u="none" cap="none" strike="noStrike">
                <a:solidFill>
                  <a:schemeClr val="dk1"/>
                </a:solidFill>
                <a:latin typeface="Arial"/>
                <a:ea typeface="Arial"/>
                <a:cs typeface="Arial"/>
                <a:sym typeface="Arial"/>
              </a:rPr>
              <a:t>máx</a:t>
            </a:r>
            <a:r>
              <a:rPr b="0" i="0" lang="en-US" sz="2000" u="none" cap="none" strike="noStrike">
                <a:solidFill>
                  <a:schemeClr val="dk1"/>
                </a:solidFill>
                <a:latin typeface="Arial"/>
                <a:ea typeface="Arial"/>
                <a:cs typeface="Arial"/>
                <a:sym typeface="Arial"/>
              </a:rPr>
              <a:t>)</a:t>
            </a:r>
          </a:p>
        </p:txBody>
      </p:sp>
      <p:cxnSp>
        <p:nvCxnSpPr>
          <p:cNvPr id="119" name="Shape 119"/>
          <p:cNvCxnSpPr/>
          <p:nvPr/>
        </p:nvCxnSpPr>
        <p:spPr>
          <a:xfrm>
            <a:off x="900112" y="1916111"/>
            <a:ext cx="0" cy="4465636"/>
          </a:xfrm>
          <a:prstGeom prst="straightConnector1">
            <a:avLst/>
          </a:prstGeom>
          <a:noFill/>
          <a:ln cap="flat" cmpd="sng" w="9525">
            <a:solidFill>
              <a:schemeClr val="dk1"/>
            </a:solidFill>
            <a:prstDash val="solid"/>
            <a:miter/>
            <a:headEnd len="med" w="med" type="none"/>
            <a:tailEnd len="med" w="med" type="none"/>
          </a:ln>
        </p:spPr>
      </p:cxnSp>
      <p:cxnSp>
        <p:nvCxnSpPr>
          <p:cNvPr id="120" name="Shape 120"/>
          <p:cNvCxnSpPr/>
          <p:nvPr/>
        </p:nvCxnSpPr>
        <p:spPr>
          <a:xfrm>
            <a:off x="468312" y="6165850"/>
            <a:ext cx="5688011" cy="0"/>
          </a:xfrm>
          <a:prstGeom prst="straightConnector1">
            <a:avLst/>
          </a:prstGeom>
          <a:noFill/>
          <a:ln cap="flat" cmpd="sng" w="9525">
            <a:solidFill>
              <a:schemeClr val="dk1"/>
            </a:solidFill>
            <a:prstDash val="solid"/>
            <a:miter/>
            <a:headEnd len="med" w="med" type="none"/>
            <a:tailEnd len="med" w="med" type="none"/>
          </a:ln>
        </p:spPr>
      </p:cxnSp>
      <p:sp>
        <p:nvSpPr>
          <p:cNvPr id="121" name="Shape 121"/>
          <p:cNvSpPr txBox="1"/>
          <p:nvPr/>
        </p:nvSpPr>
        <p:spPr>
          <a:xfrm>
            <a:off x="57150" y="1341437"/>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22" name="Shape 122"/>
          <p:cNvSpPr txBox="1"/>
          <p:nvPr/>
        </p:nvSpPr>
        <p:spPr>
          <a:xfrm>
            <a:off x="5003800" y="6165850"/>
            <a:ext cx="1081086"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123" name="Shape 123"/>
          <p:cNvSpPr/>
          <p:nvPr/>
        </p:nvSpPr>
        <p:spPr>
          <a:xfrm>
            <a:off x="900112" y="2636836"/>
            <a:ext cx="4608512" cy="3024187"/>
          </a:xfrm>
          <a:custGeom>
            <a:pathLst>
              <a:path extrusionOk="0" h="120000" w="120000">
                <a:moveTo>
                  <a:pt x="0" y="0"/>
                </a:moveTo>
                <a:cubicBezTo>
                  <a:pt x="2650" y="5271"/>
                  <a:pt x="10431" y="22125"/>
                  <a:pt x="15945" y="31952"/>
                </a:cubicBezTo>
                <a:cubicBezTo>
                  <a:pt x="21460" y="41778"/>
                  <a:pt x="28642" y="52711"/>
                  <a:pt x="33045" y="58958"/>
                </a:cubicBezTo>
                <a:cubicBezTo>
                  <a:pt x="37406" y="65336"/>
                  <a:pt x="38817" y="66052"/>
                  <a:pt x="42109" y="69891"/>
                </a:cubicBezTo>
                <a:cubicBezTo>
                  <a:pt x="45400" y="73796"/>
                  <a:pt x="49504" y="78546"/>
                  <a:pt x="52753" y="82060"/>
                </a:cubicBezTo>
                <a:cubicBezTo>
                  <a:pt x="56002" y="85574"/>
                  <a:pt x="57328" y="87527"/>
                  <a:pt x="61560" y="91301"/>
                </a:cubicBezTo>
                <a:cubicBezTo>
                  <a:pt x="65749" y="95075"/>
                  <a:pt x="70922" y="100347"/>
                  <a:pt x="78104" y="104642"/>
                </a:cubicBezTo>
                <a:cubicBezTo>
                  <a:pt x="85286" y="108937"/>
                  <a:pt x="97727" y="114403"/>
                  <a:pt x="104695" y="116941"/>
                </a:cubicBezTo>
                <a:cubicBezTo>
                  <a:pt x="111663" y="119479"/>
                  <a:pt x="116793" y="119349"/>
                  <a:pt x="120000" y="119999"/>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4" name="Shape 124"/>
          <p:cNvSpPr/>
          <p:nvPr/>
        </p:nvSpPr>
        <p:spPr>
          <a:xfrm>
            <a:off x="900112" y="1989136"/>
            <a:ext cx="4176711" cy="3384550"/>
          </a:xfrm>
          <a:custGeom>
            <a:pathLst>
              <a:path extrusionOk="0" h="120000" w="120000">
                <a:moveTo>
                  <a:pt x="0" y="120000"/>
                </a:moveTo>
                <a:cubicBezTo>
                  <a:pt x="2664" y="119337"/>
                  <a:pt x="9697" y="118191"/>
                  <a:pt x="16075" y="116022"/>
                </a:cubicBezTo>
                <a:cubicBezTo>
                  <a:pt x="22453" y="113852"/>
                  <a:pt x="30578" y="111079"/>
                  <a:pt x="38354" y="106921"/>
                </a:cubicBezTo>
                <a:cubicBezTo>
                  <a:pt x="46130" y="102762"/>
                  <a:pt x="55347" y="96795"/>
                  <a:pt x="62686" y="91009"/>
                </a:cubicBezTo>
                <a:cubicBezTo>
                  <a:pt x="70025" y="85223"/>
                  <a:pt x="76709" y="78955"/>
                  <a:pt x="82475" y="72204"/>
                </a:cubicBezTo>
                <a:cubicBezTo>
                  <a:pt x="88241" y="65454"/>
                  <a:pt x="92784" y="58221"/>
                  <a:pt x="97327" y="50567"/>
                </a:cubicBezTo>
                <a:cubicBezTo>
                  <a:pt x="101871" y="42913"/>
                  <a:pt x="105977" y="34535"/>
                  <a:pt x="109734" y="26097"/>
                </a:cubicBezTo>
                <a:cubicBezTo>
                  <a:pt x="113491" y="17659"/>
                  <a:pt x="117859" y="5424"/>
                  <a:pt x="119999"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5" name="Shape 125"/>
          <p:cNvSpPr txBox="1"/>
          <p:nvPr/>
        </p:nvSpPr>
        <p:spPr>
          <a:xfrm>
            <a:off x="2663825" y="61658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cxnSp>
        <p:nvCxnSpPr>
          <p:cNvPr id="126" name="Shape 126"/>
          <p:cNvCxnSpPr/>
          <p:nvPr/>
        </p:nvCxnSpPr>
        <p:spPr>
          <a:xfrm rot="10800000">
            <a:off x="2916236" y="4724400"/>
            <a:ext cx="0" cy="1441449"/>
          </a:xfrm>
          <a:prstGeom prst="straightConnector1">
            <a:avLst/>
          </a:prstGeom>
          <a:noFill/>
          <a:ln cap="flat" cmpd="sng" w="9525">
            <a:solidFill>
              <a:schemeClr val="dk1"/>
            </a:solidFill>
            <a:prstDash val="solid"/>
            <a:miter/>
            <a:headEnd len="med" w="med" type="none"/>
            <a:tailEnd len="med" w="med" type="none"/>
          </a:ln>
        </p:spPr>
      </p:cxnSp>
      <p:cxnSp>
        <p:nvCxnSpPr>
          <p:cNvPr id="127" name="Shape 127"/>
          <p:cNvCxnSpPr/>
          <p:nvPr/>
        </p:nvCxnSpPr>
        <p:spPr>
          <a:xfrm rot="10800000">
            <a:off x="900111" y="4652962"/>
            <a:ext cx="2016124" cy="0"/>
          </a:xfrm>
          <a:prstGeom prst="straightConnector1">
            <a:avLst/>
          </a:prstGeom>
          <a:noFill/>
          <a:ln cap="flat" cmpd="sng" w="9525">
            <a:solidFill>
              <a:schemeClr val="dk1"/>
            </a:solidFill>
            <a:prstDash val="solid"/>
            <a:miter/>
            <a:headEnd len="med" w="med" type="none"/>
            <a:tailEnd len="med" w="med" type="none"/>
          </a:ln>
        </p:spPr>
      </p:cxnSp>
      <p:sp>
        <p:nvSpPr>
          <p:cNvPr id="128" name="Shape 128"/>
          <p:cNvSpPr txBox="1"/>
          <p:nvPr/>
        </p:nvSpPr>
        <p:spPr>
          <a:xfrm>
            <a:off x="611187" y="4508500"/>
            <a:ext cx="360362"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p>
        </p:txBody>
      </p:sp>
      <p:sp>
        <p:nvSpPr>
          <p:cNvPr id="129" name="Shape 129"/>
          <p:cNvSpPr txBox="1"/>
          <p:nvPr/>
        </p:nvSpPr>
        <p:spPr>
          <a:xfrm>
            <a:off x="323850" y="4795837"/>
            <a:ext cx="360362"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r>
              <a:rPr b="1" baseline="-25000" i="0" lang="en-US" sz="1800" u="none" cap="none" strike="noStrike">
                <a:solidFill>
                  <a:schemeClr val="dk1"/>
                </a:solidFill>
                <a:latin typeface="Arial"/>
                <a:ea typeface="Arial"/>
                <a:cs typeface="Arial"/>
                <a:sym typeface="Arial"/>
              </a:rPr>
              <a:t>MÁX</a:t>
            </a:r>
          </a:p>
        </p:txBody>
      </p:sp>
      <p:cxnSp>
        <p:nvCxnSpPr>
          <p:cNvPr id="130" name="Shape 130"/>
          <p:cNvCxnSpPr/>
          <p:nvPr/>
        </p:nvCxnSpPr>
        <p:spPr>
          <a:xfrm rot="10800000">
            <a:off x="900112" y="5013325"/>
            <a:ext cx="2447925" cy="0"/>
          </a:xfrm>
          <a:prstGeom prst="straightConnector1">
            <a:avLst/>
          </a:prstGeom>
          <a:noFill/>
          <a:ln cap="flat" cmpd="sng" w="9525">
            <a:solidFill>
              <a:schemeClr val="dk1"/>
            </a:solidFill>
            <a:prstDash val="solid"/>
            <a:miter/>
            <a:headEnd len="med" w="med" type="none"/>
            <a:tailEnd len="med" w="med" type="none"/>
          </a:ln>
        </p:spPr>
      </p:cxnSp>
      <p:cxnSp>
        <p:nvCxnSpPr>
          <p:cNvPr id="131" name="Shape 131"/>
          <p:cNvCxnSpPr/>
          <p:nvPr/>
        </p:nvCxnSpPr>
        <p:spPr>
          <a:xfrm rot="10800000">
            <a:off x="3348037" y="5013325"/>
            <a:ext cx="0" cy="1154111"/>
          </a:xfrm>
          <a:prstGeom prst="straightConnector1">
            <a:avLst/>
          </a:prstGeom>
          <a:noFill/>
          <a:ln cap="flat" cmpd="sng" w="9525">
            <a:solidFill>
              <a:schemeClr val="dk1"/>
            </a:solidFill>
            <a:prstDash val="solid"/>
            <a:miter/>
            <a:headEnd len="med" w="med" type="none"/>
            <a:tailEnd len="med" w="med" type="none"/>
          </a:ln>
        </p:spPr>
      </p:cxnSp>
      <p:sp>
        <p:nvSpPr>
          <p:cNvPr id="132" name="Shape 132"/>
          <p:cNvSpPr txBox="1"/>
          <p:nvPr/>
        </p:nvSpPr>
        <p:spPr>
          <a:xfrm>
            <a:off x="3203575" y="60928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d</a:t>
            </a:r>
          </a:p>
        </p:txBody>
      </p:sp>
      <p:sp>
        <p:nvSpPr>
          <p:cNvPr id="133" name="Shape 133"/>
          <p:cNvSpPr txBox="1"/>
          <p:nvPr/>
        </p:nvSpPr>
        <p:spPr>
          <a:xfrm>
            <a:off x="2051050" y="60928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O</a:t>
            </a:r>
          </a:p>
        </p:txBody>
      </p:sp>
      <p:cxnSp>
        <p:nvCxnSpPr>
          <p:cNvPr id="134" name="Shape 134"/>
          <p:cNvCxnSpPr/>
          <p:nvPr/>
        </p:nvCxnSpPr>
        <p:spPr>
          <a:xfrm>
            <a:off x="2268536" y="5013325"/>
            <a:ext cx="1079499" cy="0"/>
          </a:xfrm>
          <a:prstGeom prst="straightConnector1">
            <a:avLst/>
          </a:prstGeom>
          <a:noFill/>
          <a:ln cap="flat" cmpd="sng" w="38100">
            <a:solidFill>
              <a:srgbClr val="FF0000"/>
            </a:solidFill>
            <a:prstDash val="solid"/>
            <a:miter/>
            <a:headEnd len="med" w="med" type="none"/>
            <a:tailEnd len="med" w="med" type="none"/>
          </a:ln>
        </p:spPr>
      </p:cxnSp>
      <p:sp>
        <p:nvSpPr>
          <p:cNvPr id="135" name="Shape 135"/>
          <p:cNvSpPr txBox="1"/>
          <p:nvPr/>
        </p:nvSpPr>
        <p:spPr>
          <a:xfrm>
            <a:off x="1116012"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DEMANDA</a:t>
            </a:r>
          </a:p>
        </p:txBody>
      </p:sp>
      <p:sp>
        <p:nvSpPr>
          <p:cNvPr id="136" name="Shape 136"/>
          <p:cNvSpPr txBox="1"/>
          <p:nvPr/>
        </p:nvSpPr>
        <p:spPr>
          <a:xfrm>
            <a:off x="3635375" y="20605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a:t>
            </a:r>
          </a:p>
        </p:txBody>
      </p:sp>
      <p:sp>
        <p:nvSpPr>
          <p:cNvPr id="137" name="Shape 137"/>
          <p:cNvSpPr/>
          <p:nvPr/>
        </p:nvSpPr>
        <p:spPr>
          <a:xfrm>
            <a:off x="2268536" y="4149725"/>
            <a:ext cx="647700" cy="863599"/>
          </a:xfrm>
          <a:custGeom>
            <a:pathLst>
              <a:path extrusionOk="0" h="120000" w="120000">
                <a:moveTo>
                  <a:pt x="0" y="0"/>
                </a:moveTo>
                <a:lnTo>
                  <a:pt x="0" y="76232"/>
                </a:lnTo>
                <a:lnTo>
                  <a:pt x="0" y="120000"/>
                </a:lnTo>
                <a:lnTo>
                  <a:pt x="67295" y="98116"/>
                </a:lnTo>
                <a:lnTo>
                  <a:pt x="120000" y="71422"/>
                </a:lnTo>
                <a:lnTo>
                  <a:pt x="80694" y="46412"/>
                </a:lnTo>
                <a:lnTo>
                  <a:pt x="44069" y="23567"/>
                </a:lnTo>
                <a:lnTo>
                  <a:pt x="0" y="0"/>
                </a:lnTo>
                <a:close/>
              </a:path>
            </a:pathLst>
          </a:custGeom>
          <a:solidFill>
            <a:srgbClr val="FF0000"/>
          </a:solidFill>
          <a:ln cap="flat"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8" name="Shape 138"/>
          <p:cNvSpPr txBox="1"/>
          <p:nvPr/>
        </p:nvSpPr>
        <p:spPr>
          <a:xfrm>
            <a:off x="5435600" y="3087686"/>
            <a:ext cx="3708400" cy="3078162"/>
          </a:xfrm>
          <a:prstGeom prst="rect">
            <a:avLst/>
          </a:prstGeom>
          <a:noFill/>
          <a:ln>
            <a:noFill/>
          </a:ln>
        </p:spPr>
        <p:txBody>
          <a:bodyPr anchorCtr="0" anchor="t" bIns="45700" lIns="91425" rIns="91425" tIns="45700">
            <a:noAutofit/>
          </a:bodyPr>
          <a:lstStyle/>
          <a:p>
            <a:pPr indent="-269875" lvl="0" marL="269875" marR="0" rtl="0" algn="l">
              <a:lnSpc>
                <a:spcPct val="105000"/>
              </a:lnSpc>
              <a:spcBef>
                <a:spcPts val="0"/>
              </a:spcBef>
              <a:spcAft>
                <a:spcPts val="0"/>
              </a:spcAft>
              <a:buClr>
                <a:srgbClr val="EC1914"/>
              </a:buClr>
              <a:buSzPct val="70000"/>
              <a:buFont typeface="Noto Sans Symbols"/>
              <a:buChar char="•"/>
            </a:pPr>
            <a:r>
              <a:rPr b="0" i="0" lang="en-US" sz="2400" u="none" cap="none" strike="noStrike">
                <a:solidFill>
                  <a:srgbClr val="EC1914"/>
                </a:solidFill>
                <a:latin typeface="Arial"/>
                <a:ea typeface="Arial"/>
                <a:cs typeface="Arial"/>
                <a:sym typeface="Arial"/>
              </a:rPr>
              <a:t>Desabastecimiento</a:t>
            </a:r>
          </a:p>
          <a:p>
            <a:pPr indent="-269875" lvl="0" marL="269875" marR="0" rtl="0" algn="l">
              <a:lnSpc>
                <a:spcPct val="105000"/>
              </a:lnSpc>
              <a:spcBef>
                <a:spcPts val="480"/>
              </a:spcBef>
              <a:spcAft>
                <a:spcPts val="0"/>
              </a:spcAft>
              <a:buClr>
                <a:srgbClr val="EC1914"/>
              </a:buClr>
              <a:buSzPct val="25000"/>
              <a:buFont typeface="Arial"/>
              <a:buNone/>
            </a:pPr>
            <a:r>
              <a:rPr b="0" i="0" lang="en-US" sz="2400" u="none" cap="none" strike="noStrike">
                <a:solidFill>
                  <a:srgbClr val="EC1914"/>
                </a:solidFill>
                <a:latin typeface="Arial"/>
                <a:ea typeface="Arial"/>
                <a:cs typeface="Arial"/>
                <a:sym typeface="Arial"/>
              </a:rPr>
              <a:t>         Q</a:t>
            </a:r>
            <a:r>
              <a:rPr b="0" baseline="-25000" i="0" lang="en-US" sz="2400" u="none" cap="none" strike="noStrike">
                <a:solidFill>
                  <a:srgbClr val="EC1914"/>
                </a:solidFill>
                <a:latin typeface="Arial"/>
                <a:ea typeface="Arial"/>
                <a:cs typeface="Arial"/>
                <a:sym typeface="Arial"/>
              </a:rPr>
              <a:t>o </a:t>
            </a:r>
            <a:r>
              <a:rPr b="0" i="0" lang="en-US" sz="2400" u="none" cap="none" strike="noStrike">
                <a:solidFill>
                  <a:srgbClr val="EC1914"/>
                </a:solidFill>
                <a:latin typeface="Arial"/>
                <a:ea typeface="Arial"/>
                <a:cs typeface="Arial"/>
                <a:sym typeface="Arial"/>
              </a:rPr>
              <a:t>&lt; Q</a:t>
            </a:r>
            <a:r>
              <a:rPr b="0" baseline="-25000" i="0" lang="en-US" sz="2400" u="none" cap="none" strike="noStrike">
                <a:solidFill>
                  <a:srgbClr val="EC1914"/>
                </a:solidFill>
                <a:latin typeface="Arial"/>
                <a:ea typeface="Arial"/>
                <a:cs typeface="Arial"/>
                <a:sym typeface="Arial"/>
              </a:rPr>
              <a:t>d</a:t>
            </a:r>
          </a:p>
          <a:p>
            <a:pPr indent="-269875" lvl="0" marL="269875" marR="0" rtl="0" algn="l">
              <a:lnSpc>
                <a:spcPct val="105000"/>
              </a:lnSpc>
              <a:spcBef>
                <a:spcPts val="480"/>
              </a:spcBef>
              <a:spcAft>
                <a:spcPts val="0"/>
              </a:spcAft>
              <a:buClr>
                <a:srgbClr val="EC1914"/>
              </a:buClr>
              <a:buSzPct val="70000"/>
              <a:buFont typeface="Noto Sans Symbols"/>
              <a:buChar char="•"/>
            </a:pPr>
            <a:r>
              <a:rPr b="0" i="0" lang="en-US" sz="2400" u="none" cap="none" strike="noStrike">
                <a:solidFill>
                  <a:srgbClr val="EC1914"/>
                </a:solidFill>
                <a:latin typeface="Arial"/>
                <a:ea typeface="Arial"/>
                <a:cs typeface="Arial"/>
                <a:sym typeface="Arial"/>
              </a:rPr>
              <a:t>Acaparamiento</a:t>
            </a:r>
          </a:p>
          <a:p>
            <a:pPr indent="-269875" lvl="0" marL="269875" marR="0" rtl="0" algn="l">
              <a:lnSpc>
                <a:spcPct val="105000"/>
              </a:lnSpc>
              <a:spcBef>
                <a:spcPts val="480"/>
              </a:spcBef>
              <a:spcAft>
                <a:spcPts val="0"/>
              </a:spcAft>
              <a:buClr>
                <a:srgbClr val="EC1914"/>
              </a:buClr>
              <a:buSzPct val="70000"/>
              <a:buFont typeface="Noto Sans Symbols"/>
              <a:buChar char="•"/>
            </a:pPr>
            <a:r>
              <a:rPr b="0" i="0" lang="en-US" sz="2400" u="none" cap="none" strike="noStrike">
                <a:solidFill>
                  <a:srgbClr val="EC1914"/>
                </a:solidFill>
                <a:latin typeface="Arial"/>
                <a:ea typeface="Arial"/>
                <a:cs typeface="Arial"/>
                <a:sym typeface="Arial"/>
              </a:rPr>
              <a:t>Mercado informal</a:t>
            </a:r>
          </a:p>
          <a:p>
            <a:pPr indent="-269875" lvl="0" marL="269875" marR="0" rtl="0" algn="l">
              <a:lnSpc>
                <a:spcPct val="105000"/>
              </a:lnSpc>
              <a:spcBef>
                <a:spcPts val="480"/>
              </a:spcBef>
              <a:spcAft>
                <a:spcPts val="0"/>
              </a:spcAft>
              <a:buClr>
                <a:srgbClr val="EC1914"/>
              </a:buClr>
              <a:buSzPct val="100000"/>
              <a:buFont typeface="Noto Sans Symbols"/>
              <a:buChar char="•"/>
            </a:pPr>
            <a:r>
              <a:rPr b="0" i="0" lang="en-US" sz="2400" u="none" cap="none" strike="noStrike">
                <a:solidFill>
                  <a:srgbClr val="EC1914"/>
                </a:solidFill>
                <a:latin typeface="Arial"/>
                <a:ea typeface="Arial"/>
                <a:cs typeface="Arial"/>
                <a:sym typeface="Arial"/>
              </a:rPr>
              <a:t>El precio sube (</a:t>
            </a:r>
            <a:r>
              <a:rPr b="1" i="0" lang="en-US" sz="1400" u="none" cap="none" strike="noStrike">
                <a:solidFill>
                  <a:srgbClr val="EC1914"/>
                </a:solidFill>
                <a:latin typeface="Arial"/>
                <a:ea typeface="Arial"/>
                <a:cs typeface="Arial"/>
                <a:sym typeface="Arial"/>
              </a:rPr>
              <a:t>P</a:t>
            </a:r>
            <a:r>
              <a:rPr b="1" baseline="-25000" i="0" lang="en-US" sz="1400" u="none" cap="none" strike="noStrike">
                <a:solidFill>
                  <a:srgbClr val="EC1914"/>
                </a:solidFill>
                <a:latin typeface="Arial"/>
                <a:ea typeface="Arial"/>
                <a:cs typeface="Arial"/>
                <a:sym typeface="Arial"/>
              </a:rPr>
              <a:t>informal</a:t>
            </a:r>
            <a:r>
              <a:rPr b="0" i="0" lang="en-US" sz="2400" u="none" cap="none" strike="noStrike">
                <a:solidFill>
                  <a:srgbClr val="EC1914"/>
                </a:solidFill>
                <a:latin typeface="Arial"/>
                <a:ea typeface="Arial"/>
                <a:cs typeface="Arial"/>
                <a:sym typeface="Arial"/>
              </a:rPr>
              <a:t>)</a:t>
            </a:r>
          </a:p>
          <a:p>
            <a:pPr indent="-269875" lvl="0" marL="269875" marR="0" rtl="0" algn="l">
              <a:lnSpc>
                <a:spcPct val="105000"/>
              </a:lnSpc>
              <a:spcBef>
                <a:spcPts val="480"/>
              </a:spcBef>
              <a:spcAft>
                <a:spcPts val="0"/>
              </a:spcAft>
              <a:buClr>
                <a:srgbClr val="EC1914"/>
              </a:buClr>
              <a:buSzPct val="100000"/>
              <a:buFont typeface="Noto Sans Symbols"/>
              <a:buChar char="•"/>
            </a:pPr>
            <a:r>
              <a:rPr b="0" i="0" lang="en-US" sz="2400" u="none" cap="none" strike="noStrike">
                <a:solidFill>
                  <a:srgbClr val="EC1914"/>
                </a:solidFill>
                <a:latin typeface="Arial"/>
                <a:ea typeface="Arial"/>
                <a:cs typeface="Arial"/>
                <a:sym typeface="Arial"/>
              </a:rPr>
              <a:t>El triángulo rojo es la pérdida social</a:t>
            </a:r>
          </a:p>
        </p:txBody>
      </p:sp>
      <p:cxnSp>
        <p:nvCxnSpPr>
          <p:cNvPr id="139" name="Shape 139"/>
          <p:cNvCxnSpPr/>
          <p:nvPr/>
        </p:nvCxnSpPr>
        <p:spPr>
          <a:xfrm rot="10800000">
            <a:off x="900112" y="4221162"/>
            <a:ext cx="1366836" cy="0"/>
          </a:xfrm>
          <a:prstGeom prst="straightConnector1">
            <a:avLst/>
          </a:prstGeom>
          <a:noFill/>
          <a:ln cap="flat" cmpd="sng" w="9525">
            <a:solidFill>
              <a:schemeClr val="dk1"/>
            </a:solidFill>
            <a:prstDash val="solid"/>
            <a:miter/>
            <a:headEnd len="med" w="med" type="none"/>
            <a:tailEnd len="med" w="med" type="none"/>
          </a:ln>
        </p:spPr>
      </p:cxnSp>
      <p:sp>
        <p:nvSpPr>
          <p:cNvPr id="140" name="Shape 140"/>
          <p:cNvSpPr txBox="1"/>
          <p:nvPr/>
        </p:nvSpPr>
        <p:spPr>
          <a:xfrm>
            <a:off x="106361" y="3933825"/>
            <a:ext cx="720724"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r>
              <a:rPr b="1" baseline="-25000" i="0" lang="en-US" sz="1800" u="none" cap="none" strike="noStrike">
                <a:solidFill>
                  <a:schemeClr val="dk1"/>
                </a:solidFill>
                <a:latin typeface="Arial"/>
                <a:ea typeface="Arial"/>
                <a:cs typeface="Arial"/>
                <a:sym typeface="Arial"/>
              </a:rPr>
              <a:t>informal</a:t>
            </a:r>
          </a:p>
        </p:txBody>
      </p:sp>
      <p:sp>
        <p:nvSpPr>
          <p:cNvPr id="141" name="Shape 141"/>
          <p:cNvSpPr/>
          <p:nvPr/>
        </p:nvSpPr>
        <p:spPr>
          <a:xfrm rot="-5400000">
            <a:off x="2663824" y="4618037"/>
            <a:ext cx="288925" cy="1079499"/>
          </a:xfrm>
          <a:prstGeom prst="leftBrace">
            <a:avLst>
              <a:gd fmla="val 8333" name="adj1"/>
              <a:gd fmla="val 50000" name="adj2"/>
            </a:avLst>
          </a:prstGeom>
          <a:noFill/>
          <a:ln cap="flat" cmpd="sng" w="381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2" name="Shape 142"/>
          <p:cNvSpPr txBox="1"/>
          <p:nvPr/>
        </p:nvSpPr>
        <p:spPr>
          <a:xfrm>
            <a:off x="2195511" y="5300662"/>
            <a:ext cx="1296986"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Demanda </a:t>
            </a:r>
          </a:p>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insatisfecha</a:t>
            </a:r>
          </a:p>
        </p:txBody>
      </p:sp>
      <p:cxnSp>
        <p:nvCxnSpPr>
          <p:cNvPr id="143" name="Shape 143"/>
          <p:cNvCxnSpPr/>
          <p:nvPr/>
        </p:nvCxnSpPr>
        <p:spPr>
          <a:xfrm rot="10800000">
            <a:off x="2268536" y="4221161"/>
            <a:ext cx="0" cy="792162"/>
          </a:xfrm>
          <a:prstGeom prst="straightConnector1">
            <a:avLst/>
          </a:prstGeom>
          <a:noFill/>
          <a:ln cap="flat" cmpd="sng" w="38100">
            <a:solidFill>
              <a:schemeClr val="dk1"/>
            </a:solidFill>
            <a:prstDash val="solid"/>
            <a:miter/>
            <a:headEnd len="med" w="med" type="none"/>
            <a:tailEnd len="lg" w="lg" type="triangle"/>
          </a:ln>
        </p:spPr>
      </p:cxnSp>
      <p:pic>
        <p:nvPicPr>
          <p:cNvPr id="144" name="Shape 144"/>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48" name="Shape 148"/>
        <p:cNvGrpSpPr/>
        <p:nvPr/>
      </p:nvGrpSpPr>
      <p:grpSpPr>
        <a:xfrm>
          <a:off x="0" y="0"/>
          <a:ext cx="0" cy="0"/>
          <a:chOff x="0" y="0"/>
          <a:chExt cx="0" cy="0"/>
        </a:xfrm>
      </p:grpSpPr>
      <p:sp>
        <p:nvSpPr>
          <p:cNvPr id="149" name="Shape 149"/>
          <p:cNvSpPr txBox="1"/>
          <p:nvPr>
            <p:ph idx="4294967295" type="title"/>
          </p:nvPr>
        </p:nvSpPr>
        <p:spPr>
          <a:xfrm>
            <a:off x="250825" y="188911"/>
            <a:ext cx="4102100" cy="1722437"/>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EL RACIONAMIENTO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 LA OFERTA</a:t>
            </a:r>
          </a:p>
        </p:txBody>
      </p:sp>
      <p:sp>
        <p:nvSpPr>
          <p:cNvPr id="150" name="Shape 150"/>
          <p:cNvSpPr txBox="1"/>
          <p:nvPr>
            <p:ph idx="4294967295" type="body"/>
          </p:nvPr>
        </p:nvSpPr>
        <p:spPr>
          <a:xfrm>
            <a:off x="457200" y="1989136"/>
            <a:ext cx="8075612" cy="414178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Al fijar el precio máximo el estado debe racionar la oferta, mediante la fijación de una cuota de consumo.</a:t>
            </a: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1" i="0" lang="en-US" sz="2600" u="none" cap="none" strike="noStrike">
                <a:solidFill>
                  <a:schemeClr val="dk2"/>
                </a:solidFill>
                <a:latin typeface="Arial"/>
                <a:ea typeface="Arial"/>
                <a:cs typeface="Arial"/>
                <a:sym typeface="Arial"/>
              </a:rPr>
              <a:t>SOLO HAY EQUILIBRIO SI LA CANTIDAD OFRECIDA ES MÁXIMA.</a:t>
            </a:r>
          </a:p>
          <a:p>
            <a:pPr indent="-342900" lvl="0" marL="342900" marR="0" rtl="0" algn="l">
              <a:lnSpc>
                <a:spcPct val="100000"/>
              </a:lnSpc>
              <a:spcBef>
                <a:spcPts val="520"/>
              </a:spcBef>
              <a:spcAft>
                <a:spcPts val="0"/>
              </a:spcAft>
              <a:buClr>
                <a:schemeClr val="dk2"/>
              </a:buClr>
              <a:buSzPct val="25000"/>
              <a:buFont typeface="Noto Sans Symbols"/>
              <a:buNone/>
            </a:pPr>
            <a:r>
              <a:t/>
            </a:r>
            <a:endParaRPr b="1" i="0" sz="2600" u="none" cap="none" strike="noStrike">
              <a:solidFill>
                <a:schemeClr val="dk2"/>
              </a:solidFill>
              <a:latin typeface="Arial"/>
              <a:ea typeface="Arial"/>
              <a:cs typeface="Arial"/>
              <a:sym typeface="Arial"/>
            </a:endParaRPr>
          </a:p>
          <a:p>
            <a:pPr indent="-342900" lvl="0" marL="342900" marR="0" rtl="0" algn="l">
              <a:lnSpc>
                <a:spcPct val="100000"/>
              </a:lnSpc>
              <a:spcBef>
                <a:spcPts val="480"/>
              </a:spcBef>
              <a:spcAft>
                <a:spcPts val="0"/>
              </a:spcAft>
              <a:buClr>
                <a:schemeClr val="dk2"/>
              </a:buClr>
              <a:buSzPct val="25000"/>
              <a:buFont typeface="Noto Sans Symbols"/>
              <a:buNone/>
            </a:pPr>
            <a:r>
              <a:rPr b="1" i="0" lang="en-US" sz="2400" u="none" cap="none" strike="noStrike">
                <a:solidFill>
                  <a:srgbClr val="EC1914"/>
                </a:solidFill>
                <a:latin typeface="Arial"/>
                <a:ea typeface="Arial"/>
                <a:cs typeface="Arial"/>
                <a:sym typeface="Arial"/>
              </a:rPr>
              <a:t>SIEMPRE SUBVALORA LA UTILIDAD MARGINAL APRECIADA ASIGNANDO MAL LOS RECURSOS</a:t>
            </a:r>
          </a:p>
        </p:txBody>
      </p:sp>
      <p:pic>
        <p:nvPicPr>
          <p:cNvPr id="151" name="Shape 151"/>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5" name="Shape 155"/>
        <p:cNvGrpSpPr/>
        <p:nvPr/>
      </p:nvGrpSpPr>
      <p:grpSpPr>
        <a:xfrm>
          <a:off x="0" y="0"/>
          <a:ext cx="0" cy="0"/>
          <a:chOff x="0" y="0"/>
          <a:chExt cx="0" cy="0"/>
        </a:xfrm>
      </p:grpSpPr>
      <p:cxnSp>
        <p:nvCxnSpPr>
          <p:cNvPr id="156" name="Shape 156"/>
          <p:cNvCxnSpPr/>
          <p:nvPr/>
        </p:nvCxnSpPr>
        <p:spPr>
          <a:xfrm rot="10800000">
            <a:off x="2268536" y="5013324"/>
            <a:ext cx="0" cy="1152525"/>
          </a:xfrm>
          <a:prstGeom prst="straightConnector1">
            <a:avLst/>
          </a:prstGeom>
          <a:noFill/>
          <a:ln cap="flat" cmpd="sng" w="9525">
            <a:solidFill>
              <a:schemeClr val="dk1"/>
            </a:solidFill>
            <a:prstDash val="solid"/>
            <a:miter/>
            <a:headEnd len="med" w="med" type="none"/>
            <a:tailEnd len="med" w="med" type="none"/>
          </a:ln>
        </p:spPr>
      </p:cxnSp>
      <p:sp>
        <p:nvSpPr>
          <p:cNvPr id="157" name="Shape 157"/>
          <p:cNvSpPr txBox="1"/>
          <p:nvPr>
            <p:ph idx="4294967295" type="title"/>
          </p:nvPr>
        </p:nvSpPr>
        <p:spPr>
          <a:xfrm>
            <a:off x="250825" y="188911"/>
            <a:ext cx="4465636"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POLÍTICA DE </a:t>
            </a:r>
            <a:br>
              <a:rPr b="1" i="0" lang="en-US" sz="3900" u="none" cap="none" strike="noStrike">
                <a:solidFill>
                  <a:schemeClr val="dk2"/>
                </a:solidFill>
                <a:latin typeface="Arial"/>
                <a:ea typeface="Arial"/>
                <a:cs typeface="Arial"/>
                <a:sym typeface="Arial"/>
              </a:rPr>
            </a:br>
            <a:r>
              <a:rPr b="1" i="0" lang="en-US" sz="3900" u="none" cap="none" strike="noStrike">
                <a:solidFill>
                  <a:schemeClr val="dk2"/>
                </a:solidFill>
                <a:latin typeface="Arial"/>
                <a:ea typeface="Arial"/>
                <a:cs typeface="Arial"/>
                <a:sym typeface="Arial"/>
              </a:rPr>
              <a:t>RACIONAMIENTO</a:t>
            </a:r>
          </a:p>
        </p:txBody>
      </p:sp>
      <p:sp>
        <p:nvSpPr>
          <p:cNvPr id="158" name="Shape 158"/>
          <p:cNvSpPr txBox="1"/>
          <p:nvPr>
            <p:ph idx="4294967295" type="body"/>
          </p:nvPr>
        </p:nvSpPr>
        <p:spPr>
          <a:xfrm>
            <a:off x="5435600" y="1773236"/>
            <a:ext cx="3529012" cy="441166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El gobierno fija un P</a:t>
            </a:r>
            <a:r>
              <a:rPr b="0" baseline="-25000" i="0" lang="en-US" sz="2000" u="none" cap="none" strike="noStrike">
                <a:solidFill>
                  <a:schemeClr val="dk1"/>
                </a:solidFill>
                <a:latin typeface="Arial"/>
                <a:ea typeface="Arial"/>
                <a:cs typeface="Arial"/>
                <a:sym typeface="Arial"/>
              </a:rPr>
              <a:t>máx</a:t>
            </a:r>
            <a:r>
              <a:rPr b="0" i="0" lang="en-US" sz="2000" u="none" cap="none" strike="noStrike">
                <a:solidFill>
                  <a:schemeClr val="dk1"/>
                </a:solidFill>
                <a:latin typeface="Arial"/>
                <a:ea typeface="Arial"/>
                <a:cs typeface="Arial"/>
                <a:sym typeface="Arial"/>
              </a:rPr>
              <a:t>, para evitar el desabastecimiento el gobierno implementa una política de racionamiento (vales de consumo) </a:t>
            </a:r>
          </a:p>
          <a:p>
            <a:pPr indent="-342900" lvl="0" marL="342900" marR="0" rtl="0" algn="l">
              <a:lnSpc>
                <a:spcPct val="80000"/>
              </a:lnSpc>
              <a:spcBef>
                <a:spcPts val="400"/>
              </a:spcBef>
              <a:spcAft>
                <a:spcPts val="0"/>
              </a:spcAft>
              <a:buClr>
                <a:srgbClr val="EC1914"/>
              </a:buClr>
              <a:buSzPct val="70000"/>
              <a:buFont typeface="Noto Sans Symbols"/>
              <a:buChar char="●"/>
            </a:pPr>
            <a:r>
              <a:rPr b="0" i="0" lang="en-US" sz="2000" u="none" cap="none" strike="noStrike">
                <a:solidFill>
                  <a:schemeClr val="dk1"/>
                </a:solidFill>
                <a:latin typeface="Arial"/>
                <a:ea typeface="Arial"/>
                <a:cs typeface="Arial"/>
                <a:sym typeface="Arial"/>
              </a:rPr>
              <a:t> </a:t>
            </a:r>
            <a:r>
              <a:rPr b="0" i="0" lang="en-US" sz="2000" u="none" cap="none" strike="noStrike">
                <a:solidFill>
                  <a:srgbClr val="EC1914"/>
                </a:solidFill>
                <a:latin typeface="Arial"/>
                <a:ea typeface="Arial"/>
                <a:cs typeface="Arial"/>
                <a:sym typeface="Arial"/>
              </a:rPr>
              <a:t>Compra la producción al P</a:t>
            </a:r>
            <a:r>
              <a:rPr b="0" baseline="-25000" i="0" lang="en-US" sz="2000" u="none" cap="none" strike="noStrike">
                <a:solidFill>
                  <a:srgbClr val="EC1914"/>
                </a:solidFill>
                <a:latin typeface="Arial"/>
                <a:ea typeface="Arial"/>
                <a:cs typeface="Arial"/>
                <a:sym typeface="Arial"/>
              </a:rPr>
              <a:t>máx  </a:t>
            </a:r>
            <a:r>
              <a:rPr b="0" i="0" lang="en-US" sz="2000" u="none" cap="none" strike="noStrike">
                <a:solidFill>
                  <a:srgbClr val="EC1914"/>
                </a:solidFill>
                <a:latin typeface="Arial"/>
                <a:ea typeface="Arial"/>
                <a:cs typeface="Arial"/>
                <a:sym typeface="Arial"/>
              </a:rPr>
              <a:t>- </a:t>
            </a:r>
            <a:r>
              <a:rPr b="1" i="0" lang="en-US" sz="2000" u="none" cap="none" strike="noStrike">
                <a:solidFill>
                  <a:srgbClr val="EC1914"/>
                </a:solidFill>
                <a:latin typeface="Arial"/>
                <a:ea typeface="Arial"/>
                <a:cs typeface="Arial"/>
                <a:sym typeface="Arial"/>
              </a:rPr>
              <a:t>CG = Qo * P</a:t>
            </a:r>
            <a:r>
              <a:rPr b="1" baseline="-25000" i="0" lang="en-US" sz="2000" u="none" cap="none" strike="noStrike">
                <a:solidFill>
                  <a:srgbClr val="EC1914"/>
                </a:solidFill>
                <a:latin typeface="Arial"/>
                <a:ea typeface="Arial"/>
                <a:cs typeface="Arial"/>
                <a:sym typeface="Arial"/>
              </a:rPr>
              <a:t>máx</a:t>
            </a:r>
          </a:p>
          <a:p>
            <a:pPr indent="-342900" lvl="0" marL="342900" marR="0" rtl="0" algn="l">
              <a:lnSpc>
                <a:spcPct val="80000"/>
              </a:lnSpc>
              <a:spcBef>
                <a:spcPts val="400"/>
              </a:spcBef>
              <a:spcAft>
                <a:spcPts val="0"/>
              </a:spcAft>
              <a:buClr>
                <a:schemeClr val="dk2"/>
              </a:buClr>
              <a:buSzPct val="25000"/>
              <a:buFont typeface="Noto Sans Symbols"/>
              <a:buNone/>
            </a:pPr>
            <a:r>
              <a:t/>
            </a:r>
            <a:endParaRPr b="1" baseline="-25000" i="0" sz="2000" u="none" cap="none" strike="noStrike">
              <a:solidFill>
                <a:srgbClr val="EC1914"/>
              </a:solidFill>
              <a:latin typeface="Arial"/>
              <a:ea typeface="Arial"/>
              <a:cs typeface="Arial"/>
              <a:sym typeface="Arial"/>
            </a:endParaRPr>
          </a:p>
          <a:p>
            <a:pPr indent="-342900" lvl="0" marL="342900" marR="0" rtl="0" algn="l">
              <a:lnSpc>
                <a:spcPct val="80000"/>
              </a:lnSpc>
              <a:spcBef>
                <a:spcPts val="400"/>
              </a:spcBef>
              <a:spcAft>
                <a:spcPts val="0"/>
              </a:spcAft>
              <a:buClr>
                <a:srgbClr val="EC1914"/>
              </a:buClr>
              <a:buSzPct val="70000"/>
              <a:buFont typeface="Noto Sans Symbols"/>
              <a:buChar char="●"/>
            </a:pPr>
            <a:r>
              <a:rPr b="0" i="0" lang="en-US" sz="2000" u="none" cap="none" strike="noStrike">
                <a:solidFill>
                  <a:srgbClr val="EC1914"/>
                </a:solidFill>
                <a:latin typeface="Arial"/>
                <a:ea typeface="Arial"/>
                <a:cs typeface="Arial"/>
                <a:sym typeface="Arial"/>
              </a:rPr>
              <a:t> Raciona el consumo mediante  </a:t>
            </a:r>
            <a:r>
              <a:rPr b="1" i="0" lang="en-US" sz="2000" u="none" cap="none" strike="noStrike">
                <a:solidFill>
                  <a:srgbClr val="EC1914"/>
                </a:solidFill>
                <a:latin typeface="Arial"/>
                <a:ea typeface="Arial"/>
                <a:cs typeface="Arial"/>
                <a:sym typeface="Arial"/>
              </a:rPr>
              <a:t>Cuota = Qo /Qd</a:t>
            </a:r>
          </a:p>
          <a:p>
            <a:pPr indent="-342900" lvl="0" marL="342900" marR="0" rtl="0" algn="l">
              <a:lnSpc>
                <a:spcPct val="80000"/>
              </a:lnSpc>
              <a:spcBef>
                <a:spcPts val="400"/>
              </a:spcBef>
              <a:spcAft>
                <a:spcPts val="0"/>
              </a:spcAft>
              <a:buClr>
                <a:schemeClr val="dk2"/>
              </a:buClr>
              <a:buSzPct val="25000"/>
              <a:buFont typeface="Noto Sans Symbols"/>
              <a:buNone/>
            </a:pPr>
            <a:r>
              <a:rPr b="1" i="0" lang="en-US" sz="2000" u="none" cap="none" strike="noStrike">
                <a:solidFill>
                  <a:srgbClr val="EC1914"/>
                </a:solidFill>
                <a:latin typeface="Arial"/>
                <a:ea typeface="Arial"/>
                <a:cs typeface="Arial"/>
                <a:sym typeface="Arial"/>
              </a:rPr>
              <a:t>Recuperando el gasto</a:t>
            </a:r>
          </a:p>
          <a:p>
            <a:pPr indent="-342900" lvl="0" marL="342900" marR="0" rtl="0" algn="l">
              <a:lnSpc>
                <a:spcPct val="80000"/>
              </a:lnSpc>
              <a:spcBef>
                <a:spcPts val="400"/>
              </a:spcBef>
              <a:spcAft>
                <a:spcPts val="0"/>
              </a:spcAft>
              <a:buClr>
                <a:schemeClr val="dk2"/>
              </a:buClr>
              <a:buSzPct val="25000"/>
              <a:buFont typeface="Noto Sans Symbols"/>
              <a:buNone/>
            </a:pPr>
            <a:r>
              <a:t/>
            </a:r>
            <a:endParaRPr b="1" i="0" sz="2000" u="none" cap="none" strike="noStrike">
              <a:solidFill>
                <a:srgbClr val="EC1914"/>
              </a:solidFill>
              <a:latin typeface="Arial"/>
              <a:ea typeface="Arial"/>
              <a:cs typeface="Arial"/>
              <a:sym typeface="Arial"/>
            </a:endParaRPr>
          </a:p>
          <a:p>
            <a:pPr indent="-342900" lvl="0" marL="342900" marR="0" rtl="0" algn="l">
              <a:lnSpc>
                <a:spcPct val="80000"/>
              </a:lnSpc>
              <a:spcBef>
                <a:spcPts val="400"/>
              </a:spcBef>
              <a:spcAft>
                <a:spcPts val="0"/>
              </a:spcAft>
              <a:buClr>
                <a:srgbClr val="EC1914"/>
              </a:buClr>
              <a:buSzPct val="70000"/>
              <a:buFont typeface="Noto Sans Symbols"/>
              <a:buChar char="●"/>
            </a:pPr>
            <a:r>
              <a:rPr b="0" i="0" lang="en-US" sz="2000" u="none" cap="none" strike="noStrike">
                <a:solidFill>
                  <a:srgbClr val="EC1914"/>
                </a:solidFill>
                <a:latin typeface="Arial"/>
                <a:ea typeface="Arial"/>
                <a:cs typeface="Arial"/>
                <a:sym typeface="Arial"/>
              </a:rPr>
              <a:t> La forma libre en color rojo representa el costo social de la medida</a:t>
            </a:r>
          </a:p>
        </p:txBody>
      </p:sp>
      <p:cxnSp>
        <p:nvCxnSpPr>
          <p:cNvPr id="159" name="Shape 159"/>
          <p:cNvCxnSpPr/>
          <p:nvPr/>
        </p:nvCxnSpPr>
        <p:spPr>
          <a:xfrm>
            <a:off x="900112" y="1916111"/>
            <a:ext cx="0" cy="4465636"/>
          </a:xfrm>
          <a:prstGeom prst="straightConnector1">
            <a:avLst/>
          </a:prstGeom>
          <a:noFill/>
          <a:ln cap="flat" cmpd="sng" w="9525">
            <a:solidFill>
              <a:schemeClr val="dk1"/>
            </a:solidFill>
            <a:prstDash val="solid"/>
            <a:miter/>
            <a:headEnd len="med" w="med" type="none"/>
            <a:tailEnd len="med" w="med" type="none"/>
          </a:ln>
        </p:spPr>
      </p:cxnSp>
      <p:cxnSp>
        <p:nvCxnSpPr>
          <p:cNvPr id="160" name="Shape 160"/>
          <p:cNvCxnSpPr/>
          <p:nvPr/>
        </p:nvCxnSpPr>
        <p:spPr>
          <a:xfrm>
            <a:off x="468312" y="6165850"/>
            <a:ext cx="5688011" cy="0"/>
          </a:xfrm>
          <a:prstGeom prst="straightConnector1">
            <a:avLst/>
          </a:prstGeom>
          <a:noFill/>
          <a:ln cap="flat" cmpd="sng" w="9525">
            <a:solidFill>
              <a:schemeClr val="dk1"/>
            </a:solidFill>
            <a:prstDash val="solid"/>
            <a:miter/>
            <a:headEnd len="med" w="med" type="none"/>
            <a:tailEnd len="med" w="med" type="none"/>
          </a:ln>
        </p:spPr>
      </p:cxnSp>
      <p:sp>
        <p:nvSpPr>
          <p:cNvPr id="161" name="Shape 161"/>
          <p:cNvSpPr txBox="1"/>
          <p:nvPr/>
        </p:nvSpPr>
        <p:spPr>
          <a:xfrm>
            <a:off x="57150" y="1341437"/>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62" name="Shape 162"/>
          <p:cNvSpPr txBox="1"/>
          <p:nvPr/>
        </p:nvSpPr>
        <p:spPr>
          <a:xfrm>
            <a:off x="5076825" y="6165850"/>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163" name="Shape 163"/>
          <p:cNvSpPr/>
          <p:nvPr/>
        </p:nvSpPr>
        <p:spPr>
          <a:xfrm>
            <a:off x="900112" y="2636836"/>
            <a:ext cx="4527549" cy="2998786"/>
          </a:xfrm>
          <a:custGeom>
            <a:pathLst>
              <a:path extrusionOk="0" h="120000" w="120000">
                <a:moveTo>
                  <a:pt x="0" y="0"/>
                </a:moveTo>
                <a:cubicBezTo>
                  <a:pt x="2650" y="5271"/>
                  <a:pt x="10431" y="22125"/>
                  <a:pt x="15945" y="31952"/>
                </a:cubicBezTo>
                <a:cubicBezTo>
                  <a:pt x="21460" y="41778"/>
                  <a:pt x="28642" y="52711"/>
                  <a:pt x="33045" y="58958"/>
                </a:cubicBezTo>
                <a:cubicBezTo>
                  <a:pt x="37406" y="65336"/>
                  <a:pt x="38817" y="66052"/>
                  <a:pt x="42109" y="69891"/>
                </a:cubicBezTo>
                <a:cubicBezTo>
                  <a:pt x="45400" y="73796"/>
                  <a:pt x="49504" y="78546"/>
                  <a:pt x="52753" y="82060"/>
                </a:cubicBezTo>
                <a:cubicBezTo>
                  <a:pt x="56002" y="85574"/>
                  <a:pt x="57328" y="87527"/>
                  <a:pt x="61560" y="91301"/>
                </a:cubicBezTo>
                <a:cubicBezTo>
                  <a:pt x="65749" y="95075"/>
                  <a:pt x="70922" y="100347"/>
                  <a:pt x="78104" y="104642"/>
                </a:cubicBezTo>
                <a:cubicBezTo>
                  <a:pt x="85286" y="108937"/>
                  <a:pt x="97727" y="114403"/>
                  <a:pt x="104695" y="116941"/>
                </a:cubicBezTo>
                <a:cubicBezTo>
                  <a:pt x="111663" y="119479"/>
                  <a:pt x="116793" y="119349"/>
                  <a:pt x="120000" y="119999"/>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4" name="Shape 164"/>
          <p:cNvSpPr/>
          <p:nvPr/>
        </p:nvSpPr>
        <p:spPr>
          <a:xfrm>
            <a:off x="900112" y="2205036"/>
            <a:ext cx="4287836" cy="3146425"/>
          </a:xfrm>
          <a:custGeom>
            <a:pathLst>
              <a:path extrusionOk="0" h="120000" w="120000">
                <a:moveTo>
                  <a:pt x="0" y="120000"/>
                </a:moveTo>
                <a:cubicBezTo>
                  <a:pt x="2399" y="119455"/>
                  <a:pt x="8130" y="118668"/>
                  <a:pt x="14305" y="116548"/>
                </a:cubicBezTo>
                <a:cubicBezTo>
                  <a:pt x="20481" y="114429"/>
                  <a:pt x="29055" y="111584"/>
                  <a:pt x="36964" y="107406"/>
                </a:cubicBezTo>
                <a:cubicBezTo>
                  <a:pt x="44872" y="103229"/>
                  <a:pt x="54246" y="97235"/>
                  <a:pt x="61710" y="91422"/>
                </a:cubicBezTo>
                <a:cubicBezTo>
                  <a:pt x="69174" y="85610"/>
                  <a:pt x="75971" y="79313"/>
                  <a:pt x="81836" y="72532"/>
                </a:cubicBezTo>
                <a:cubicBezTo>
                  <a:pt x="87700" y="65751"/>
                  <a:pt x="92321" y="58486"/>
                  <a:pt x="96941" y="50797"/>
                </a:cubicBezTo>
                <a:cubicBezTo>
                  <a:pt x="101562" y="43107"/>
                  <a:pt x="105738" y="34692"/>
                  <a:pt x="109559" y="26215"/>
                </a:cubicBezTo>
                <a:cubicBezTo>
                  <a:pt x="113380" y="17739"/>
                  <a:pt x="117823" y="5449"/>
                  <a:pt x="120000"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5" name="Shape 165"/>
          <p:cNvSpPr txBox="1"/>
          <p:nvPr/>
        </p:nvSpPr>
        <p:spPr>
          <a:xfrm>
            <a:off x="2663825" y="61658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cxnSp>
        <p:nvCxnSpPr>
          <p:cNvPr id="166" name="Shape 166"/>
          <p:cNvCxnSpPr/>
          <p:nvPr/>
        </p:nvCxnSpPr>
        <p:spPr>
          <a:xfrm rot="10800000">
            <a:off x="2916236" y="4724400"/>
            <a:ext cx="0" cy="1441449"/>
          </a:xfrm>
          <a:prstGeom prst="straightConnector1">
            <a:avLst/>
          </a:prstGeom>
          <a:noFill/>
          <a:ln cap="flat" cmpd="sng" w="9525">
            <a:solidFill>
              <a:schemeClr val="dk1"/>
            </a:solidFill>
            <a:prstDash val="solid"/>
            <a:miter/>
            <a:headEnd len="med" w="med" type="none"/>
            <a:tailEnd len="med" w="med" type="none"/>
          </a:ln>
        </p:spPr>
      </p:cxnSp>
      <p:cxnSp>
        <p:nvCxnSpPr>
          <p:cNvPr id="167" name="Shape 167"/>
          <p:cNvCxnSpPr/>
          <p:nvPr/>
        </p:nvCxnSpPr>
        <p:spPr>
          <a:xfrm rot="10800000">
            <a:off x="900111" y="4724400"/>
            <a:ext cx="2016124" cy="0"/>
          </a:xfrm>
          <a:prstGeom prst="straightConnector1">
            <a:avLst/>
          </a:prstGeom>
          <a:noFill/>
          <a:ln cap="flat" cmpd="sng" w="9525">
            <a:solidFill>
              <a:schemeClr val="dk1"/>
            </a:solidFill>
            <a:prstDash val="solid"/>
            <a:miter/>
            <a:headEnd len="med" w="med" type="none"/>
            <a:tailEnd len="med" w="med" type="none"/>
          </a:ln>
        </p:spPr>
      </p:cxnSp>
      <p:sp>
        <p:nvSpPr>
          <p:cNvPr id="168" name="Shape 168"/>
          <p:cNvSpPr txBox="1"/>
          <p:nvPr/>
        </p:nvSpPr>
        <p:spPr>
          <a:xfrm>
            <a:off x="611187" y="4508500"/>
            <a:ext cx="360362"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p>
        </p:txBody>
      </p:sp>
      <p:sp>
        <p:nvSpPr>
          <p:cNvPr id="169" name="Shape 169"/>
          <p:cNvSpPr txBox="1"/>
          <p:nvPr/>
        </p:nvSpPr>
        <p:spPr>
          <a:xfrm>
            <a:off x="395287" y="4652962"/>
            <a:ext cx="360362"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r>
              <a:rPr b="1" baseline="-25000" i="0" lang="en-US" sz="1800" u="none" cap="none" strike="noStrike">
                <a:solidFill>
                  <a:schemeClr val="dk1"/>
                </a:solidFill>
                <a:latin typeface="Arial"/>
                <a:ea typeface="Arial"/>
                <a:cs typeface="Arial"/>
                <a:sym typeface="Arial"/>
              </a:rPr>
              <a:t>MÁX</a:t>
            </a:r>
          </a:p>
        </p:txBody>
      </p:sp>
      <p:cxnSp>
        <p:nvCxnSpPr>
          <p:cNvPr id="170" name="Shape 170"/>
          <p:cNvCxnSpPr/>
          <p:nvPr/>
        </p:nvCxnSpPr>
        <p:spPr>
          <a:xfrm rot="10800000">
            <a:off x="900112" y="5013325"/>
            <a:ext cx="2447925" cy="0"/>
          </a:xfrm>
          <a:prstGeom prst="straightConnector1">
            <a:avLst/>
          </a:prstGeom>
          <a:noFill/>
          <a:ln cap="flat" cmpd="sng" w="9525">
            <a:solidFill>
              <a:schemeClr val="dk1"/>
            </a:solidFill>
            <a:prstDash val="solid"/>
            <a:miter/>
            <a:headEnd len="med" w="med" type="none"/>
            <a:tailEnd len="med" w="med" type="none"/>
          </a:ln>
        </p:spPr>
      </p:cxnSp>
      <p:cxnSp>
        <p:nvCxnSpPr>
          <p:cNvPr id="171" name="Shape 171"/>
          <p:cNvCxnSpPr/>
          <p:nvPr/>
        </p:nvCxnSpPr>
        <p:spPr>
          <a:xfrm rot="10800000">
            <a:off x="3348037" y="5013325"/>
            <a:ext cx="0" cy="1154111"/>
          </a:xfrm>
          <a:prstGeom prst="straightConnector1">
            <a:avLst/>
          </a:prstGeom>
          <a:noFill/>
          <a:ln cap="flat" cmpd="sng" w="9525">
            <a:solidFill>
              <a:schemeClr val="dk1"/>
            </a:solidFill>
            <a:prstDash val="solid"/>
            <a:miter/>
            <a:headEnd len="med" w="med" type="none"/>
            <a:tailEnd len="med" w="med" type="none"/>
          </a:ln>
        </p:spPr>
      </p:cxnSp>
      <p:sp>
        <p:nvSpPr>
          <p:cNvPr id="172" name="Shape 172"/>
          <p:cNvSpPr txBox="1"/>
          <p:nvPr/>
        </p:nvSpPr>
        <p:spPr>
          <a:xfrm>
            <a:off x="3203575" y="60928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d</a:t>
            </a:r>
          </a:p>
        </p:txBody>
      </p:sp>
      <p:sp>
        <p:nvSpPr>
          <p:cNvPr id="173" name="Shape 173"/>
          <p:cNvSpPr txBox="1"/>
          <p:nvPr/>
        </p:nvSpPr>
        <p:spPr>
          <a:xfrm>
            <a:off x="2051050" y="60928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O</a:t>
            </a:r>
          </a:p>
        </p:txBody>
      </p:sp>
      <p:sp>
        <p:nvSpPr>
          <p:cNvPr id="174" name="Shape 174"/>
          <p:cNvSpPr txBox="1"/>
          <p:nvPr/>
        </p:nvSpPr>
        <p:spPr>
          <a:xfrm>
            <a:off x="1116012"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DEMANDA</a:t>
            </a:r>
          </a:p>
        </p:txBody>
      </p:sp>
      <p:sp>
        <p:nvSpPr>
          <p:cNvPr id="175" name="Shape 175"/>
          <p:cNvSpPr txBox="1"/>
          <p:nvPr/>
        </p:nvSpPr>
        <p:spPr>
          <a:xfrm>
            <a:off x="3924300" y="20605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a:t>
            </a:r>
          </a:p>
        </p:txBody>
      </p:sp>
      <p:sp>
        <p:nvSpPr>
          <p:cNvPr id="176" name="Shape 176"/>
          <p:cNvSpPr/>
          <p:nvPr/>
        </p:nvSpPr>
        <p:spPr>
          <a:xfrm rot="5400000">
            <a:off x="2483642" y="4006055"/>
            <a:ext cx="649286" cy="1079499"/>
          </a:xfrm>
          <a:prstGeom prst="leftBrace">
            <a:avLst>
              <a:gd fmla="val 8333" name="adj1"/>
              <a:gd fmla="val 50000" name="adj2"/>
            </a:avLst>
          </a:prstGeom>
          <a:noFill/>
          <a:ln cap="flat" cmpd="sng" w="381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7" name="Shape 177"/>
          <p:cNvSpPr txBox="1"/>
          <p:nvPr/>
        </p:nvSpPr>
        <p:spPr>
          <a:xfrm>
            <a:off x="2338386" y="3644900"/>
            <a:ext cx="1296986"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Demanda </a:t>
            </a:r>
          </a:p>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insatisfecha</a:t>
            </a:r>
          </a:p>
        </p:txBody>
      </p:sp>
      <p:sp>
        <p:nvSpPr>
          <p:cNvPr id="178" name="Shape 178"/>
          <p:cNvSpPr txBox="1"/>
          <p:nvPr/>
        </p:nvSpPr>
        <p:spPr>
          <a:xfrm>
            <a:off x="900112" y="5013325"/>
            <a:ext cx="1368425" cy="1152525"/>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CG</a:t>
            </a:r>
          </a:p>
        </p:txBody>
      </p:sp>
      <p:sp>
        <p:nvSpPr>
          <p:cNvPr id="179" name="Shape 179"/>
          <p:cNvSpPr/>
          <p:nvPr/>
        </p:nvSpPr>
        <p:spPr>
          <a:xfrm>
            <a:off x="900112" y="4724400"/>
            <a:ext cx="2016124" cy="288925"/>
          </a:xfrm>
          <a:custGeom>
            <a:pathLst>
              <a:path extrusionOk="0" h="120000" w="120000">
                <a:moveTo>
                  <a:pt x="0" y="0"/>
                </a:moveTo>
                <a:lnTo>
                  <a:pt x="21354" y="0"/>
                </a:lnTo>
                <a:lnTo>
                  <a:pt x="55653" y="0"/>
                </a:lnTo>
                <a:lnTo>
                  <a:pt x="81448" y="0"/>
                </a:lnTo>
                <a:lnTo>
                  <a:pt x="120000" y="0"/>
                </a:lnTo>
                <a:lnTo>
                  <a:pt x="102519" y="61318"/>
                </a:lnTo>
                <a:lnTo>
                  <a:pt x="81448" y="120000"/>
                </a:lnTo>
                <a:lnTo>
                  <a:pt x="51401" y="120000"/>
                </a:lnTo>
                <a:lnTo>
                  <a:pt x="25700" y="120000"/>
                </a:lnTo>
                <a:lnTo>
                  <a:pt x="0" y="120000"/>
                </a:lnTo>
                <a:lnTo>
                  <a:pt x="0" y="60000"/>
                </a:lnTo>
                <a:lnTo>
                  <a:pt x="0" y="0"/>
                </a:lnTo>
                <a:close/>
              </a:path>
            </a:pathLst>
          </a:custGeom>
          <a:solidFill>
            <a:srgbClr val="FF0000">
              <a:alpha val="55686"/>
            </a:srgbClr>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0" name="Shape 180"/>
          <p:cNvSpPr txBox="1"/>
          <p:nvPr/>
        </p:nvSpPr>
        <p:spPr>
          <a:xfrm>
            <a:off x="900112" y="4652962"/>
            <a:ext cx="19446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COSTO </a:t>
            </a:r>
          </a:p>
        </p:txBody>
      </p:sp>
      <p:sp>
        <p:nvSpPr>
          <p:cNvPr id="181" name="Shape 181"/>
          <p:cNvSpPr/>
          <p:nvPr/>
        </p:nvSpPr>
        <p:spPr>
          <a:xfrm>
            <a:off x="2268536" y="4724400"/>
            <a:ext cx="647700" cy="1444624"/>
          </a:xfrm>
          <a:custGeom>
            <a:pathLst>
              <a:path extrusionOk="0" h="120000" w="120000">
                <a:moveTo>
                  <a:pt x="0" y="119999"/>
                </a:moveTo>
                <a:lnTo>
                  <a:pt x="0" y="90065"/>
                </a:lnTo>
                <a:lnTo>
                  <a:pt x="0" y="54197"/>
                </a:lnTo>
                <a:lnTo>
                  <a:pt x="0" y="24263"/>
                </a:lnTo>
                <a:lnTo>
                  <a:pt x="53235" y="12263"/>
                </a:lnTo>
                <a:lnTo>
                  <a:pt x="118529" y="0"/>
                </a:lnTo>
                <a:lnTo>
                  <a:pt x="120000" y="30197"/>
                </a:lnTo>
                <a:lnTo>
                  <a:pt x="120000" y="66065"/>
                </a:lnTo>
                <a:lnTo>
                  <a:pt x="120000" y="95999"/>
                </a:lnTo>
                <a:lnTo>
                  <a:pt x="118529" y="119604"/>
                </a:lnTo>
                <a:lnTo>
                  <a:pt x="60294" y="119604"/>
                </a:lnTo>
                <a:lnTo>
                  <a:pt x="0" y="119999"/>
                </a:lnTo>
                <a:close/>
              </a:path>
            </a:pathLst>
          </a:custGeom>
          <a:solidFill>
            <a:srgbClr val="FF0000">
              <a:alpha val="55686"/>
            </a:srgbClr>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2" name="Shape 182"/>
          <p:cNvSpPr txBox="1"/>
          <p:nvPr/>
        </p:nvSpPr>
        <p:spPr>
          <a:xfrm rot="5400000">
            <a:off x="1512093" y="5120481"/>
            <a:ext cx="19446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   </a:t>
            </a:r>
            <a:r>
              <a:rPr b="1" i="0" lang="en-US" sz="1600" u="none" cap="none" strike="noStrike">
                <a:solidFill>
                  <a:schemeClr val="dk1"/>
                </a:solidFill>
                <a:latin typeface="Arial"/>
                <a:ea typeface="Arial"/>
                <a:cs typeface="Arial"/>
                <a:sym typeface="Arial"/>
              </a:rPr>
              <a:t>SOCIAL</a:t>
            </a:r>
          </a:p>
        </p:txBody>
      </p:sp>
      <p:pic>
        <p:nvPicPr>
          <p:cNvPr id="183" name="Shape 183"/>
          <p:cNvPicPr preferRelativeResize="0"/>
          <p:nvPr>
            <p:ph idx="4294967295" type="body"/>
          </p:nvPr>
        </p:nvPicPr>
        <p:blipFill rotWithShape="1">
          <a:blip r:embed="rId3">
            <a:alphaModFix/>
          </a:blip>
          <a:srcRect b="0" l="0" r="0" t="0"/>
          <a:stretch/>
        </p:blipFill>
        <p:spPr>
          <a:xfrm>
            <a:off x="4932362" y="333375"/>
            <a:ext cx="3009899" cy="609599"/>
          </a:xfrm>
          <a:prstGeom prst="rect">
            <a:avLst/>
          </a:prstGeom>
          <a:noFill/>
          <a:ln>
            <a:noFill/>
          </a:ln>
        </p:spPr>
      </p:pic>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87" name="Shape 187"/>
        <p:cNvGrpSpPr/>
        <p:nvPr/>
      </p:nvGrpSpPr>
      <p:grpSpPr>
        <a:xfrm>
          <a:off x="0" y="0"/>
          <a:ext cx="0" cy="0"/>
          <a:chOff x="0" y="0"/>
          <a:chExt cx="0" cy="0"/>
        </a:xfrm>
      </p:grpSpPr>
      <p:sp>
        <p:nvSpPr>
          <p:cNvPr id="188" name="Shape 188"/>
          <p:cNvSpPr txBox="1"/>
          <p:nvPr/>
        </p:nvSpPr>
        <p:spPr>
          <a:xfrm>
            <a:off x="4716462" y="3087686"/>
            <a:ext cx="4427537" cy="3509961"/>
          </a:xfrm>
          <a:prstGeom prst="rect">
            <a:avLst/>
          </a:prstGeom>
          <a:solidFill>
            <a:schemeClr val="lt1"/>
          </a:solidFill>
          <a:ln>
            <a:noFill/>
          </a:ln>
        </p:spPr>
        <p:txBody>
          <a:bodyPr anchorCtr="0" anchor="t" bIns="45700" lIns="91425" rIns="91425" tIns="45700">
            <a:noAutofit/>
          </a:bodyPr>
          <a:lstStyle/>
          <a:p>
            <a:pPr indent="-269875" lvl="0" marL="269875" marR="0" rtl="0" algn="l">
              <a:lnSpc>
                <a:spcPct val="105000"/>
              </a:lnSpc>
              <a:spcBef>
                <a:spcPts val="0"/>
              </a:spcBef>
              <a:spcAft>
                <a:spcPts val="0"/>
              </a:spcAft>
              <a:buClr>
                <a:srgbClr val="EC1914"/>
              </a:buClr>
              <a:buSzPct val="70000"/>
              <a:buFont typeface="Noto Sans Symbols"/>
              <a:buChar char="•"/>
            </a:pPr>
            <a:r>
              <a:rPr b="1" i="0" lang="en-US" sz="2000" u="none" cap="none" strike="noStrike">
                <a:solidFill>
                  <a:srgbClr val="EC1914"/>
                </a:solidFill>
                <a:latin typeface="Arial"/>
                <a:ea typeface="Arial"/>
                <a:cs typeface="Arial"/>
                <a:sym typeface="Arial"/>
              </a:rPr>
              <a:t>Producción sobrante  Q</a:t>
            </a:r>
            <a:r>
              <a:rPr b="1" baseline="-25000" i="0" lang="en-US" sz="2000" u="none" cap="none" strike="noStrike">
                <a:solidFill>
                  <a:srgbClr val="EC1914"/>
                </a:solidFill>
                <a:latin typeface="Arial"/>
                <a:ea typeface="Arial"/>
                <a:cs typeface="Arial"/>
                <a:sym typeface="Arial"/>
              </a:rPr>
              <a:t>o </a:t>
            </a:r>
            <a:r>
              <a:rPr b="1" i="0" lang="en-US" sz="2000" u="none" cap="none" strike="noStrike">
                <a:solidFill>
                  <a:srgbClr val="EC1914"/>
                </a:solidFill>
                <a:latin typeface="Arial"/>
                <a:ea typeface="Arial"/>
                <a:cs typeface="Arial"/>
                <a:sym typeface="Arial"/>
              </a:rPr>
              <a:t>&gt; Q</a:t>
            </a:r>
            <a:r>
              <a:rPr b="1" baseline="-25000" i="0" lang="en-US" sz="2000" u="none" cap="none" strike="noStrike">
                <a:solidFill>
                  <a:srgbClr val="EC1914"/>
                </a:solidFill>
                <a:latin typeface="Arial"/>
                <a:ea typeface="Arial"/>
                <a:cs typeface="Arial"/>
                <a:sym typeface="Arial"/>
              </a:rPr>
              <a:t>d</a:t>
            </a:r>
          </a:p>
          <a:p>
            <a:pPr indent="-269875" lvl="0" marL="269875" marR="0" rtl="0" algn="l">
              <a:lnSpc>
                <a:spcPct val="105000"/>
              </a:lnSpc>
              <a:spcBef>
                <a:spcPts val="400"/>
              </a:spcBef>
              <a:spcAft>
                <a:spcPts val="0"/>
              </a:spcAft>
              <a:buClr>
                <a:srgbClr val="EC1914"/>
              </a:buClr>
              <a:buSzPct val="70000"/>
              <a:buFont typeface="Noto Sans Symbols"/>
              <a:buChar char="•"/>
            </a:pPr>
            <a:r>
              <a:rPr b="1" i="0" lang="en-US" sz="2000" u="none" cap="none" strike="noStrike">
                <a:solidFill>
                  <a:srgbClr val="EC1914"/>
                </a:solidFill>
                <a:latin typeface="Arial"/>
                <a:ea typeface="Arial"/>
                <a:cs typeface="Arial"/>
                <a:sym typeface="Arial"/>
              </a:rPr>
              <a:t>Compras de los consumidores</a:t>
            </a:r>
          </a:p>
          <a:p>
            <a:pPr indent="-269875" lvl="0" marL="269875" marR="0" rtl="0" algn="l">
              <a:lnSpc>
                <a:spcPct val="105000"/>
              </a:lnSpc>
              <a:spcBef>
                <a:spcPts val="480"/>
              </a:spcBef>
              <a:spcAft>
                <a:spcPts val="0"/>
              </a:spcAft>
              <a:buClr>
                <a:srgbClr val="EC1914"/>
              </a:buClr>
              <a:buSzPct val="25000"/>
              <a:buFont typeface="Arial"/>
              <a:buNone/>
            </a:pPr>
            <a:r>
              <a:rPr b="0" i="0" lang="en-US" sz="2400" u="none" cap="none" strike="noStrike">
                <a:solidFill>
                  <a:srgbClr val="EC1914"/>
                </a:solidFill>
                <a:latin typeface="Arial"/>
                <a:ea typeface="Arial"/>
                <a:cs typeface="Arial"/>
                <a:sym typeface="Arial"/>
              </a:rPr>
              <a:t>        </a:t>
            </a:r>
            <a:r>
              <a:rPr b="1" i="0" lang="en-US" sz="1800" u="none" cap="none" strike="noStrike">
                <a:solidFill>
                  <a:srgbClr val="EC1914"/>
                </a:solidFill>
                <a:latin typeface="Arial"/>
                <a:ea typeface="Arial"/>
                <a:cs typeface="Arial"/>
                <a:sym typeface="Arial"/>
              </a:rPr>
              <a:t>CC = Q</a:t>
            </a:r>
            <a:r>
              <a:rPr b="1" baseline="-25000" i="0" lang="en-US" sz="1800" u="none" cap="none" strike="noStrike">
                <a:solidFill>
                  <a:srgbClr val="EC1914"/>
                </a:solidFill>
                <a:latin typeface="Arial"/>
                <a:ea typeface="Arial"/>
                <a:cs typeface="Arial"/>
                <a:sym typeface="Arial"/>
              </a:rPr>
              <a:t>d</a:t>
            </a:r>
            <a:r>
              <a:rPr b="1" i="0" lang="en-US" sz="1800" u="none" cap="none" strike="noStrike">
                <a:solidFill>
                  <a:srgbClr val="EC1914"/>
                </a:solidFill>
                <a:latin typeface="Arial"/>
                <a:ea typeface="Arial"/>
                <a:cs typeface="Arial"/>
                <a:sym typeface="Arial"/>
              </a:rPr>
              <a:t>* P</a:t>
            </a:r>
            <a:r>
              <a:rPr b="1" baseline="-25000" i="0" lang="en-US" sz="1800" u="none" cap="none" strike="noStrike">
                <a:solidFill>
                  <a:srgbClr val="EC1914"/>
                </a:solidFill>
                <a:latin typeface="Arial"/>
                <a:ea typeface="Arial"/>
                <a:cs typeface="Arial"/>
                <a:sym typeface="Arial"/>
              </a:rPr>
              <a:t>mín</a:t>
            </a:r>
          </a:p>
          <a:p>
            <a:pPr indent="-269875" lvl="0" marL="269875" marR="0" rtl="0" algn="l">
              <a:lnSpc>
                <a:spcPct val="105000"/>
              </a:lnSpc>
              <a:spcBef>
                <a:spcPts val="400"/>
              </a:spcBef>
              <a:spcAft>
                <a:spcPts val="0"/>
              </a:spcAft>
              <a:buClr>
                <a:srgbClr val="EC1914"/>
              </a:buClr>
              <a:buSzPct val="70000"/>
              <a:buFont typeface="Noto Sans Symbols"/>
              <a:buChar char="•"/>
            </a:pPr>
            <a:r>
              <a:rPr b="1" i="0" lang="en-US" sz="2000" u="none" cap="none" strike="noStrike">
                <a:solidFill>
                  <a:srgbClr val="EC1914"/>
                </a:solidFill>
                <a:latin typeface="Arial"/>
                <a:ea typeface="Arial"/>
                <a:cs typeface="Arial"/>
                <a:sym typeface="Arial"/>
              </a:rPr>
              <a:t>Compras del gobierno</a:t>
            </a:r>
            <a:r>
              <a:rPr b="0" i="0" lang="en-US" sz="1600" u="none" cap="none" strike="noStrike">
                <a:solidFill>
                  <a:srgbClr val="EC1914"/>
                </a:solidFill>
                <a:latin typeface="Arial"/>
                <a:ea typeface="Arial"/>
                <a:cs typeface="Arial"/>
                <a:sym typeface="Arial"/>
              </a:rPr>
              <a:t> </a:t>
            </a:r>
          </a:p>
          <a:p>
            <a:pPr indent="-269875" lvl="0" marL="269875" marR="0" rtl="0" algn="l">
              <a:lnSpc>
                <a:spcPct val="105000"/>
              </a:lnSpc>
              <a:spcBef>
                <a:spcPts val="360"/>
              </a:spcBef>
              <a:spcAft>
                <a:spcPts val="0"/>
              </a:spcAft>
              <a:buClr>
                <a:srgbClr val="EC1914"/>
              </a:buClr>
              <a:buSzPct val="25000"/>
              <a:buFont typeface="Arial"/>
              <a:buNone/>
            </a:pPr>
            <a:r>
              <a:rPr b="0" i="0" lang="en-US" sz="1600" u="none" cap="none" strike="noStrike">
                <a:solidFill>
                  <a:srgbClr val="EC1914"/>
                </a:solidFill>
                <a:latin typeface="Arial"/>
                <a:ea typeface="Arial"/>
                <a:cs typeface="Arial"/>
                <a:sym typeface="Arial"/>
              </a:rPr>
              <a:t>           </a:t>
            </a:r>
            <a:r>
              <a:rPr b="1" i="0" lang="en-US" sz="1800" u="none" cap="none" strike="noStrike">
                <a:solidFill>
                  <a:srgbClr val="EC1914"/>
                </a:solidFill>
                <a:latin typeface="Arial"/>
                <a:ea typeface="Arial"/>
                <a:cs typeface="Arial"/>
                <a:sym typeface="Arial"/>
              </a:rPr>
              <a:t>CG = (Q</a:t>
            </a:r>
            <a:r>
              <a:rPr b="1" baseline="-25000" i="0" lang="en-US" sz="1800" u="none" cap="none" strike="noStrike">
                <a:solidFill>
                  <a:srgbClr val="EC1914"/>
                </a:solidFill>
                <a:latin typeface="Arial"/>
                <a:ea typeface="Arial"/>
                <a:cs typeface="Arial"/>
                <a:sym typeface="Arial"/>
              </a:rPr>
              <a:t>o </a:t>
            </a:r>
            <a:r>
              <a:rPr b="1" i="0" lang="en-US" sz="1800" u="none" cap="none" strike="noStrike">
                <a:solidFill>
                  <a:srgbClr val="EC1914"/>
                </a:solidFill>
                <a:latin typeface="Arial"/>
                <a:ea typeface="Arial"/>
                <a:cs typeface="Arial"/>
                <a:sym typeface="Arial"/>
              </a:rPr>
              <a:t>– Q</a:t>
            </a:r>
            <a:r>
              <a:rPr b="1" baseline="-25000" i="0" lang="en-US" sz="1800" u="none" cap="none" strike="noStrike">
                <a:solidFill>
                  <a:srgbClr val="EC1914"/>
                </a:solidFill>
                <a:latin typeface="Arial"/>
                <a:ea typeface="Arial"/>
                <a:cs typeface="Arial"/>
                <a:sym typeface="Arial"/>
              </a:rPr>
              <a:t>d</a:t>
            </a:r>
            <a:r>
              <a:rPr b="1" i="0" lang="en-US" sz="1800" u="none" cap="none" strike="noStrike">
                <a:solidFill>
                  <a:srgbClr val="EC1914"/>
                </a:solidFill>
                <a:latin typeface="Arial"/>
                <a:ea typeface="Arial"/>
                <a:cs typeface="Arial"/>
                <a:sym typeface="Arial"/>
              </a:rPr>
              <a:t>)* P</a:t>
            </a:r>
            <a:r>
              <a:rPr b="1" baseline="-25000" i="0" lang="en-US" sz="1800" u="none" cap="none" strike="noStrike">
                <a:solidFill>
                  <a:srgbClr val="EC1914"/>
                </a:solidFill>
                <a:latin typeface="Arial"/>
                <a:ea typeface="Arial"/>
                <a:cs typeface="Arial"/>
                <a:sym typeface="Arial"/>
              </a:rPr>
              <a:t>mín</a:t>
            </a:r>
          </a:p>
          <a:p>
            <a:pPr indent="-269875" lvl="0" marL="269875" marR="0" rtl="0" algn="l">
              <a:lnSpc>
                <a:spcPct val="105000"/>
              </a:lnSpc>
              <a:spcBef>
                <a:spcPts val="400"/>
              </a:spcBef>
              <a:spcAft>
                <a:spcPts val="0"/>
              </a:spcAft>
              <a:buClr>
                <a:srgbClr val="EC1914"/>
              </a:buClr>
              <a:buSzPct val="70000"/>
              <a:buFont typeface="Noto Sans Symbols"/>
              <a:buChar char="•"/>
            </a:pPr>
            <a:r>
              <a:rPr b="1" i="0" lang="en-US" sz="2000" u="none" cap="none" strike="noStrike">
                <a:solidFill>
                  <a:srgbClr val="EC1914"/>
                </a:solidFill>
                <a:latin typeface="Arial"/>
                <a:ea typeface="Arial"/>
                <a:cs typeface="Arial"/>
                <a:sym typeface="Arial"/>
              </a:rPr>
              <a:t>Ventas del gobierno</a:t>
            </a:r>
            <a:r>
              <a:rPr b="0" i="0" lang="en-US" sz="1600" u="none" cap="none" strike="noStrike">
                <a:solidFill>
                  <a:srgbClr val="EC1914"/>
                </a:solidFill>
                <a:latin typeface="Arial"/>
                <a:ea typeface="Arial"/>
                <a:cs typeface="Arial"/>
                <a:sym typeface="Arial"/>
              </a:rPr>
              <a:t> </a:t>
            </a:r>
            <a:r>
              <a:rPr b="1" i="0" lang="en-US" sz="1600" u="none" cap="none" strike="noStrike">
                <a:solidFill>
                  <a:srgbClr val="EC1914"/>
                </a:solidFill>
                <a:latin typeface="Arial"/>
                <a:ea typeface="Arial"/>
                <a:cs typeface="Arial"/>
                <a:sym typeface="Arial"/>
              </a:rPr>
              <a:t>al exterior</a:t>
            </a:r>
          </a:p>
          <a:p>
            <a:pPr indent="-269875" lvl="0" marL="269875" marR="0" rtl="0" algn="l">
              <a:lnSpc>
                <a:spcPct val="105000"/>
              </a:lnSpc>
              <a:spcBef>
                <a:spcPts val="360"/>
              </a:spcBef>
              <a:spcAft>
                <a:spcPts val="0"/>
              </a:spcAft>
              <a:buClr>
                <a:srgbClr val="EC1914"/>
              </a:buClr>
              <a:buSzPct val="25000"/>
              <a:buFont typeface="Arial"/>
              <a:buNone/>
            </a:pPr>
            <a:r>
              <a:rPr b="0" i="0" lang="en-US" sz="1600" u="none" cap="none" strike="noStrike">
                <a:solidFill>
                  <a:srgbClr val="EC1914"/>
                </a:solidFill>
                <a:latin typeface="Arial"/>
                <a:ea typeface="Arial"/>
                <a:cs typeface="Arial"/>
                <a:sym typeface="Arial"/>
              </a:rPr>
              <a:t>           </a:t>
            </a:r>
            <a:r>
              <a:rPr b="1" i="0" lang="en-US" sz="1800" u="none" cap="none" strike="noStrike">
                <a:solidFill>
                  <a:srgbClr val="EC1914"/>
                </a:solidFill>
                <a:latin typeface="Arial"/>
                <a:ea typeface="Arial"/>
                <a:cs typeface="Arial"/>
                <a:sym typeface="Arial"/>
              </a:rPr>
              <a:t>VG = (Q</a:t>
            </a:r>
            <a:r>
              <a:rPr b="1" baseline="-25000" i="0" lang="en-US" sz="1800" u="none" cap="none" strike="noStrike">
                <a:solidFill>
                  <a:srgbClr val="EC1914"/>
                </a:solidFill>
                <a:latin typeface="Arial"/>
                <a:ea typeface="Arial"/>
                <a:cs typeface="Arial"/>
                <a:sym typeface="Arial"/>
              </a:rPr>
              <a:t>o </a:t>
            </a:r>
            <a:r>
              <a:rPr b="1" i="0" lang="en-US" sz="1800" u="none" cap="none" strike="noStrike">
                <a:solidFill>
                  <a:srgbClr val="EC1914"/>
                </a:solidFill>
                <a:latin typeface="Arial"/>
                <a:ea typeface="Arial"/>
                <a:cs typeface="Arial"/>
                <a:sym typeface="Arial"/>
              </a:rPr>
              <a:t>– Q</a:t>
            </a:r>
            <a:r>
              <a:rPr b="1" baseline="-25000" i="0" lang="en-US" sz="1800" u="none" cap="none" strike="noStrike">
                <a:solidFill>
                  <a:srgbClr val="EC1914"/>
                </a:solidFill>
                <a:latin typeface="Arial"/>
                <a:ea typeface="Arial"/>
                <a:cs typeface="Arial"/>
                <a:sym typeface="Arial"/>
              </a:rPr>
              <a:t>d</a:t>
            </a:r>
            <a:r>
              <a:rPr b="1" i="0" lang="en-US" sz="1800" u="none" cap="none" strike="noStrike">
                <a:solidFill>
                  <a:srgbClr val="EC1914"/>
                </a:solidFill>
                <a:latin typeface="Arial"/>
                <a:ea typeface="Arial"/>
                <a:cs typeface="Arial"/>
                <a:sym typeface="Arial"/>
              </a:rPr>
              <a:t>)* P</a:t>
            </a:r>
            <a:r>
              <a:rPr b="1" baseline="-25000" i="0" lang="en-US" sz="1800" u="none" cap="none" strike="noStrike">
                <a:solidFill>
                  <a:srgbClr val="EC1914"/>
                </a:solidFill>
                <a:latin typeface="Arial"/>
                <a:ea typeface="Arial"/>
                <a:cs typeface="Arial"/>
                <a:sym typeface="Arial"/>
              </a:rPr>
              <a:t>ext.</a:t>
            </a:r>
          </a:p>
          <a:p>
            <a:pPr indent="-269875" lvl="0" marL="269875" marR="0" rtl="0" algn="l">
              <a:lnSpc>
                <a:spcPct val="105000"/>
              </a:lnSpc>
              <a:spcBef>
                <a:spcPts val="480"/>
              </a:spcBef>
              <a:spcAft>
                <a:spcPts val="0"/>
              </a:spcAft>
              <a:buClr>
                <a:srgbClr val="EC1914"/>
              </a:buClr>
              <a:buSzPct val="100000"/>
              <a:buFont typeface="Noto Sans Symbols"/>
              <a:buChar char="•"/>
            </a:pPr>
            <a:r>
              <a:rPr b="0" i="0" lang="en-US" sz="2400" u="none" cap="none" strike="noStrike">
                <a:solidFill>
                  <a:srgbClr val="EC1914"/>
                </a:solidFill>
                <a:latin typeface="Arial"/>
                <a:ea typeface="Arial"/>
                <a:cs typeface="Arial"/>
                <a:sym typeface="Arial"/>
              </a:rPr>
              <a:t>El rectángulo rojo es el costo social de la medida</a:t>
            </a:r>
          </a:p>
        </p:txBody>
      </p:sp>
      <p:cxnSp>
        <p:nvCxnSpPr>
          <p:cNvPr id="189" name="Shape 189"/>
          <p:cNvCxnSpPr/>
          <p:nvPr/>
        </p:nvCxnSpPr>
        <p:spPr>
          <a:xfrm rot="10800000">
            <a:off x="2555875" y="4437061"/>
            <a:ext cx="0" cy="1728787"/>
          </a:xfrm>
          <a:prstGeom prst="straightConnector1">
            <a:avLst/>
          </a:prstGeom>
          <a:noFill/>
          <a:ln cap="flat" cmpd="sng" w="9525">
            <a:solidFill>
              <a:schemeClr val="dk1"/>
            </a:solidFill>
            <a:prstDash val="solid"/>
            <a:miter/>
            <a:headEnd len="med" w="med" type="none"/>
            <a:tailEnd len="med" w="med" type="none"/>
          </a:ln>
        </p:spPr>
      </p:cxnSp>
      <p:sp>
        <p:nvSpPr>
          <p:cNvPr id="190" name="Shape 190"/>
          <p:cNvSpPr txBox="1"/>
          <p:nvPr>
            <p:ph idx="4294967295" type="title"/>
          </p:nvPr>
        </p:nvSpPr>
        <p:spPr>
          <a:xfrm>
            <a:off x="395287" y="115886"/>
            <a:ext cx="2601912"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PRECIOS </a:t>
            </a:r>
            <a:br>
              <a:rPr b="1" i="0" lang="en-US" sz="3900" u="none" cap="none" strike="noStrike">
                <a:solidFill>
                  <a:schemeClr val="dk2"/>
                </a:solidFill>
                <a:latin typeface="Arial"/>
                <a:ea typeface="Arial"/>
                <a:cs typeface="Arial"/>
                <a:sym typeface="Arial"/>
              </a:rPr>
            </a:br>
            <a:r>
              <a:rPr b="1" i="0" lang="en-US" sz="3900" u="none" cap="none" strike="noStrike">
                <a:solidFill>
                  <a:schemeClr val="dk2"/>
                </a:solidFill>
                <a:latin typeface="Arial"/>
                <a:ea typeface="Arial"/>
                <a:cs typeface="Arial"/>
                <a:sym typeface="Arial"/>
              </a:rPr>
              <a:t>MÍNIMOS</a:t>
            </a:r>
          </a:p>
        </p:txBody>
      </p:sp>
      <p:sp>
        <p:nvSpPr>
          <p:cNvPr id="191" name="Shape 191"/>
          <p:cNvSpPr txBox="1"/>
          <p:nvPr>
            <p:ph idx="4294967295" type="body"/>
          </p:nvPr>
        </p:nvSpPr>
        <p:spPr>
          <a:xfrm>
            <a:off x="5364162" y="1557337"/>
            <a:ext cx="3529012" cy="1439862"/>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400" u="none" cap="none" strike="noStrike">
                <a:solidFill>
                  <a:schemeClr val="dk1"/>
                </a:solidFill>
                <a:latin typeface="Arial"/>
                <a:ea typeface="Arial"/>
                <a:cs typeface="Arial"/>
                <a:sym typeface="Arial"/>
              </a:rPr>
              <a:t>El gobierno fija un precio sobre el precio de mercado para proteger a los productores (P</a:t>
            </a:r>
            <a:r>
              <a:rPr b="0" baseline="-25000" i="0" lang="en-US" sz="2400" u="none" cap="none" strike="noStrike">
                <a:solidFill>
                  <a:schemeClr val="dk1"/>
                </a:solidFill>
                <a:latin typeface="Arial"/>
                <a:ea typeface="Arial"/>
                <a:cs typeface="Arial"/>
                <a:sym typeface="Arial"/>
              </a:rPr>
              <a:t>mín</a:t>
            </a:r>
            <a:r>
              <a:rPr b="0" i="0" lang="en-US" sz="2400" u="none" cap="none" strike="noStrike">
                <a:solidFill>
                  <a:schemeClr val="dk1"/>
                </a:solidFill>
                <a:latin typeface="Arial"/>
                <a:ea typeface="Arial"/>
                <a:cs typeface="Arial"/>
                <a:sym typeface="Arial"/>
              </a:rPr>
              <a:t>)</a:t>
            </a:r>
          </a:p>
        </p:txBody>
      </p:sp>
      <p:cxnSp>
        <p:nvCxnSpPr>
          <p:cNvPr id="192" name="Shape 192"/>
          <p:cNvCxnSpPr/>
          <p:nvPr/>
        </p:nvCxnSpPr>
        <p:spPr>
          <a:xfrm>
            <a:off x="900112" y="1916111"/>
            <a:ext cx="0" cy="4465636"/>
          </a:xfrm>
          <a:prstGeom prst="straightConnector1">
            <a:avLst/>
          </a:prstGeom>
          <a:noFill/>
          <a:ln cap="flat" cmpd="sng" w="9525">
            <a:solidFill>
              <a:schemeClr val="dk1"/>
            </a:solidFill>
            <a:prstDash val="solid"/>
            <a:miter/>
            <a:headEnd len="med" w="med" type="none"/>
            <a:tailEnd len="med" w="med" type="none"/>
          </a:ln>
        </p:spPr>
      </p:cxnSp>
      <p:cxnSp>
        <p:nvCxnSpPr>
          <p:cNvPr id="193" name="Shape 193"/>
          <p:cNvCxnSpPr/>
          <p:nvPr/>
        </p:nvCxnSpPr>
        <p:spPr>
          <a:xfrm>
            <a:off x="468312" y="6165850"/>
            <a:ext cx="4103687" cy="0"/>
          </a:xfrm>
          <a:prstGeom prst="straightConnector1">
            <a:avLst/>
          </a:prstGeom>
          <a:noFill/>
          <a:ln cap="flat" cmpd="sng" w="9525">
            <a:solidFill>
              <a:schemeClr val="dk1"/>
            </a:solidFill>
            <a:prstDash val="solid"/>
            <a:miter/>
            <a:headEnd len="med" w="med" type="none"/>
            <a:tailEnd len="med" w="med" type="none"/>
          </a:ln>
        </p:spPr>
      </p:cxnSp>
      <p:sp>
        <p:nvSpPr>
          <p:cNvPr id="194" name="Shape 194"/>
          <p:cNvSpPr txBox="1"/>
          <p:nvPr/>
        </p:nvSpPr>
        <p:spPr>
          <a:xfrm>
            <a:off x="57150" y="1341437"/>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95" name="Shape 195"/>
          <p:cNvSpPr txBox="1"/>
          <p:nvPr/>
        </p:nvSpPr>
        <p:spPr>
          <a:xfrm>
            <a:off x="3657600" y="60928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196" name="Shape 196"/>
          <p:cNvSpPr/>
          <p:nvPr/>
        </p:nvSpPr>
        <p:spPr>
          <a:xfrm>
            <a:off x="900112" y="2636836"/>
            <a:ext cx="4527549" cy="2998786"/>
          </a:xfrm>
          <a:custGeom>
            <a:pathLst>
              <a:path extrusionOk="0" h="120000" w="120000">
                <a:moveTo>
                  <a:pt x="0" y="0"/>
                </a:moveTo>
                <a:cubicBezTo>
                  <a:pt x="2650" y="5271"/>
                  <a:pt x="10431" y="22125"/>
                  <a:pt x="15945" y="31952"/>
                </a:cubicBezTo>
                <a:cubicBezTo>
                  <a:pt x="21460" y="41778"/>
                  <a:pt x="28642" y="52711"/>
                  <a:pt x="33045" y="58958"/>
                </a:cubicBezTo>
                <a:cubicBezTo>
                  <a:pt x="37406" y="65336"/>
                  <a:pt x="38817" y="66052"/>
                  <a:pt x="42109" y="69891"/>
                </a:cubicBezTo>
                <a:cubicBezTo>
                  <a:pt x="45400" y="73796"/>
                  <a:pt x="49504" y="78546"/>
                  <a:pt x="52753" y="82060"/>
                </a:cubicBezTo>
                <a:cubicBezTo>
                  <a:pt x="56002" y="85574"/>
                  <a:pt x="57328" y="87527"/>
                  <a:pt x="61560" y="91301"/>
                </a:cubicBezTo>
                <a:cubicBezTo>
                  <a:pt x="65749" y="95075"/>
                  <a:pt x="70922" y="100347"/>
                  <a:pt x="78104" y="104642"/>
                </a:cubicBezTo>
                <a:cubicBezTo>
                  <a:pt x="85286" y="108937"/>
                  <a:pt x="97727" y="114403"/>
                  <a:pt x="104695" y="116941"/>
                </a:cubicBezTo>
                <a:cubicBezTo>
                  <a:pt x="111663" y="119479"/>
                  <a:pt x="116793" y="119349"/>
                  <a:pt x="120000" y="119999"/>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7" name="Shape 197"/>
          <p:cNvSpPr/>
          <p:nvPr/>
        </p:nvSpPr>
        <p:spPr>
          <a:xfrm rot="-180000">
            <a:off x="827087" y="2205037"/>
            <a:ext cx="4360862" cy="3160711"/>
          </a:xfrm>
          <a:custGeom>
            <a:pathLst>
              <a:path extrusionOk="0" h="120000" w="120000">
                <a:moveTo>
                  <a:pt x="0" y="120000"/>
                </a:moveTo>
                <a:cubicBezTo>
                  <a:pt x="2664" y="119337"/>
                  <a:pt x="9697" y="118191"/>
                  <a:pt x="16075" y="116022"/>
                </a:cubicBezTo>
                <a:cubicBezTo>
                  <a:pt x="22453" y="113852"/>
                  <a:pt x="30578" y="111079"/>
                  <a:pt x="38354" y="106921"/>
                </a:cubicBezTo>
                <a:cubicBezTo>
                  <a:pt x="46130" y="102762"/>
                  <a:pt x="55347" y="96795"/>
                  <a:pt x="62686" y="91009"/>
                </a:cubicBezTo>
                <a:cubicBezTo>
                  <a:pt x="70025" y="85223"/>
                  <a:pt x="76709" y="78955"/>
                  <a:pt x="82475" y="72204"/>
                </a:cubicBezTo>
                <a:cubicBezTo>
                  <a:pt x="88241" y="65454"/>
                  <a:pt x="92784" y="58221"/>
                  <a:pt x="97327" y="50567"/>
                </a:cubicBezTo>
                <a:cubicBezTo>
                  <a:pt x="101871" y="42913"/>
                  <a:pt x="105977" y="34535"/>
                  <a:pt x="109734" y="26097"/>
                </a:cubicBezTo>
                <a:cubicBezTo>
                  <a:pt x="113491" y="17659"/>
                  <a:pt x="117859" y="5424"/>
                  <a:pt x="119999"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8" name="Shape 198"/>
          <p:cNvSpPr txBox="1"/>
          <p:nvPr/>
        </p:nvSpPr>
        <p:spPr>
          <a:xfrm>
            <a:off x="2736850" y="60928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cxnSp>
        <p:nvCxnSpPr>
          <p:cNvPr id="199" name="Shape 199"/>
          <p:cNvCxnSpPr/>
          <p:nvPr/>
        </p:nvCxnSpPr>
        <p:spPr>
          <a:xfrm rot="10800000">
            <a:off x="2916236" y="4724400"/>
            <a:ext cx="0" cy="1441449"/>
          </a:xfrm>
          <a:prstGeom prst="straightConnector1">
            <a:avLst/>
          </a:prstGeom>
          <a:noFill/>
          <a:ln cap="flat" cmpd="sng" w="9525">
            <a:solidFill>
              <a:schemeClr val="dk1"/>
            </a:solidFill>
            <a:prstDash val="solid"/>
            <a:miter/>
            <a:headEnd len="med" w="med" type="none"/>
            <a:tailEnd len="med" w="med" type="none"/>
          </a:ln>
        </p:spPr>
      </p:cxnSp>
      <p:cxnSp>
        <p:nvCxnSpPr>
          <p:cNvPr id="200" name="Shape 200"/>
          <p:cNvCxnSpPr/>
          <p:nvPr/>
        </p:nvCxnSpPr>
        <p:spPr>
          <a:xfrm rot="10800000">
            <a:off x="900111" y="4724400"/>
            <a:ext cx="2016124" cy="0"/>
          </a:xfrm>
          <a:prstGeom prst="straightConnector1">
            <a:avLst/>
          </a:prstGeom>
          <a:noFill/>
          <a:ln cap="flat" cmpd="sng" w="9525">
            <a:solidFill>
              <a:schemeClr val="dk1"/>
            </a:solidFill>
            <a:prstDash val="solid"/>
            <a:miter/>
            <a:headEnd len="med" w="med" type="none"/>
            <a:tailEnd len="med" w="med" type="none"/>
          </a:ln>
        </p:spPr>
      </p:cxnSp>
      <p:sp>
        <p:nvSpPr>
          <p:cNvPr id="201" name="Shape 201"/>
          <p:cNvSpPr txBox="1"/>
          <p:nvPr/>
        </p:nvSpPr>
        <p:spPr>
          <a:xfrm>
            <a:off x="611187" y="4508500"/>
            <a:ext cx="360362"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p>
        </p:txBody>
      </p:sp>
      <p:sp>
        <p:nvSpPr>
          <p:cNvPr id="202" name="Shape 202"/>
          <p:cNvSpPr txBox="1"/>
          <p:nvPr/>
        </p:nvSpPr>
        <p:spPr>
          <a:xfrm>
            <a:off x="395287" y="4075112"/>
            <a:ext cx="360362"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r>
              <a:rPr b="1" baseline="-25000" i="0" lang="en-US" sz="1800" u="none" cap="none" strike="noStrike">
                <a:solidFill>
                  <a:schemeClr val="dk1"/>
                </a:solidFill>
                <a:latin typeface="Arial"/>
                <a:ea typeface="Arial"/>
                <a:cs typeface="Arial"/>
                <a:sym typeface="Arial"/>
              </a:rPr>
              <a:t>Mín</a:t>
            </a:r>
          </a:p>
        </p:txBody>
      </p:sp>
      <p:cxnSp>
        <p:nvCxnSpPr>
          <p:cNvPr id="203" name="Shape 203"/>
          <p:cNvCxnSpPr/>
          <p:nvPr/>
        </p:nvCxnSpPr>
        <p:spPr>
          <a:xfrm rot="10800000">
            <a:off x="900112" y="4437062"/>
            <a:ext cx="2447925" cy="0"/>
          </a:xfrm>
          <a:prstGeom prst="straightConnector1">
            <a:avLst/>
          </a:prstGeom>
          <a:noFill/>
          <a:ln cap="flat" cmpd="sng" w="9525">
            <a:solidFill>
              <a:schemeClr val="dk1"/>
            </a:solidFill>
            <a:prstDash val="solid"/>
            <a:miter/>
            <a:headEnd len="med" w="med" type="none"/>
            <a:tailEnd len="med" w="med" type="none"/>
          </a:ln>
        </p:spPr>
      </p:cxnSp>
      <p:cxnSp>
        <p:nvCxnSpPr>
          <p:cNvPr id="204" name="Shape 204"/>
          <p:cNvCxnSpPr/>
          <p:nvPr/>
        </p:nvCxnSpPr>
        <p:spPr>
          <a:xfrm rot="10800000">
            <a:off x="3348037" y="4437062"/>
            <a:ext cx="0" cy="1730374"/>
          </a:xfrm>
          <a:prstGeom prst="straightConnector1">
            <a:avLst/>
          </a:prstGeom>
          <a:noFill/>
          <a:ln cap="flat" cmpd="sng" w="9525">
            <a:solidFill>
              <a:schemeClr val="dk1"/>
            </a:solidFill>
            <a:prstDash val="solid"/>
            <a:miter/>
            <a:headEnd len="med" w="med" type="none"/>
            <a:tailEnd len="med" w="med" type="none"/>
          </a:ln>
        </p:spPr>
      </p:cxnSp>
      <p:sp>
        <p:nvSpPr>
          <p:cNvPr id="205" name="Shape 205"/>
          <p:cNvSpPr txBox="1"/>
          <p:nvPr/>
        </p:nvSpPr>
        <p:spPr>
          <a:xfrm>
            <a:off x="2376486" y="60928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d</a:t>
            </a:r>
          </a:p>
        </p:txBody>
      </p:sp>
      <p:sp>
        <p:nvSpPr>
          <p:cNvPr id="206" name="Shape 206"/>
          <p:cNvSpPr txBox="1"/>
          <p:nvPr/>
        </p:nvSpPr>
        <p:spPr>
          <a:xfrm>
            <a:off x="3132136" y="60928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r>
              <a:rPr b="1" baseline="-25000" i="0" lang="en-US" sz="1400" u="none" cap="none" strike="noStrike">
                <a:solidFill>
                  <a:schemeClr val="dk1"/>
                </a:solidFill>
                <a:latin typeface="Arial"/>
                <a:ea typeface="Arial"/>
                <a:cs typeface="Arial"/>
                <a:sym typeface="Arial"/>
              </a:rPr>
              <a:t>O</a:t>
            </a:r>
          </a:p>
        </p:txBody>
      </p:sp>
      <p:cxnSp>
        <p:nvCxnSpPr>
          <p:cNvPr id="207" name="Shape 207"/>
          <p:cNvCxnSpPr/>
          <p:nvPr/>
        </p:nvCxnSpPr>
        <p:spPr>
          <a:xfrm>
            <a:off x="2555875" y="4437062"/>
            <a:ext cx="792162" cy="0"/>
          </a:xfrm>
          <a:prstGeom prst="straightConnector1">
            <a:avLst/>
          </a:prstGeom>
          <a:noFill/>
          <a:ln cap="flat" cmpd="sng" w="38100">
            <a:solidFill>
              <a:srgbClr val="FF0000"/>
            </a:solidFill>
            <a:prstDash val="solid"/>
            <a:miter/>
            <a:headEnd len="med" w="med" type="none"/>
            <a:tailEnd len="med" w="med" type="none"/>
          </a:ln>
        </p:spPr>
      </p:cxnSp>
      <p:sp>
        <p:nvSpPr>
          <p:cNvPr id="208" name="Shape 208"/>
          <p:cNvSpPr txBox="1"/>
          <p:nvPr/>
        </p:nvSpPr>
        <p:spPr>
          <a:xfrm>
            <a:off x="1116012"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DEMANDA</a:t>
            </a:r>
          </a:p>
        </p:txBody>
      </p:sp>
      <p:sp>
        <p:nvSpPr>
          <p:cNvPr id="209" name="Shape 209"/>
          <p:cNvSpPr txBox="1"/>
          <p:nvPr/>
        </p:nvSpPr>
        <p:spPr>
          <a:xfrm>
            <a:off x="3924300" y="20605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a:t>
            </a:r>
          </a:p>
        </p:txBody>
      </p:sp>
      <p:sp>
        <p:nvSpPr>
          <p:cNvPr id="210" name="Shape 210"/>
          <p:cNvSpPr/>
          <p:nvPr/>
        </p:nvSpPr>
        <p:spPr>
          <a:xfrm rot="5400000">
            <a:off x="2771775" y="3717924"/>
            <a:ext cx="360362" cy="792162"/>
          </a:xfrm>
          <a:prstGeom prst="leftBrace">
            <a:avLst>
              <a:gd fmla="val 8333" name="adj1"/>
              <a:gd fmla="val 50000" name="adj2"/>
            </a:avLst>
          </a:prstGeom>
          <a:noFill/>
          <a:ln cap="flat" cmpd="sng" w="381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1" name="Shape 211"/>
          <p:cNvSpPr txBox="1"/>
          <p:nvPr/>
        </p:nvSpPr>
        <p:spPr>
          <a:xfrm>
            <a:off x="2338386" y="3213100"/>
            <a:ext cx="1296986"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Producción</a:t>
            </a:r>
          </a:p>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sobrante</a:t>
            </a:r>
          </a:p>
        </p:txBody>
      </p:sp>
      <p:sp>
        <p:nvSpPr>
          <p:cNvPr id="212" name="Shape 212"/>
          <p:cNvSpPr txBox="1"/>
          <p:nvPr/>
        </p:nvSpPr>
        <p:spPr>
          <a:xfrm>
            <a:off x="395287" y="4724400"/>
            <a:ext cx="360362"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r>
              <a:rPr b="1" baseline="-25000" i="0" lang="en-US" sz="1800" u="none" cap="none" strike="noStrike">
                <a:solidFill>
                  <a:schemeClr val="dk1"/>
                </a:solidFill>
                <a:latin typeface="Arial"/>
                <a:ea typeface="Arial"/>
                <a:cs typeface="Arial"/>
                <a:sym typeface="Arial"/>
              </a:rPr>
              <a:t>Ext.</a:t>
            </a:r>
          </a:p>
        </p:txBody>
      </p:sp>
      <p:cxnSp>
        <p:nvCxnSpPr>
          <p:cNvPr id="213" name="Shape 213"/>
          <p:cNvCxnSpPr/>
          <p:nvPr/>
        </p:nvCxnSpPr>
        <p:spPr>
          <a:xfrm rot="10800000">
            <a:off x="900112" y="5013325"/>
            <a:ext cx="2447925" cy="0"/>
          </a:xfrm>
          <a:prstGeom prst="straightConnector1">
            <a:avLst/>
          </a:prstGeom>
          <a:noFill/>
          <a:ln cap="flat" cmpd="sng" w="9525">
            <a:solidFill>
              <a:schemeClr val="dk1"/>
            </a:solidFill>
            <a:prstDash val="solid"/>
            <a:miter/>
            <a:headEnd len="med" w="med" type="none"/>
            <a:tailEnd len="med" w="med" type="none"/>
          </a:ln>
        </p:spPr>
      </p:cxnSp>
      <p:sp>
        <p:nvSpPr>
          <p:cNvPr id="214" name="Shape 214"/>
          <p:cNvSpPr txBox="1"/>
          <p:nvPr/>
        </p:nvSpPr>
        <p:spPr>
          <a:xfrm>
            <a:off x="900112" y="4437062"/>
            <a:ext cx="1655761" cy="1728787"/>
          </a:xfrm>
          <a:prstGeom prst="rect">
            <a:avLst/>
          </a:prstGeom>
          <a:solidFill>
            <a:schemeClr val="accent1">
              <a:alpha val="6862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CC</a:t>
            </a:r>
          </a:p>
        </p:txBody>
      </p:sp>
      <p:sp>
        <p:nvSpPr>
          <p:cNvPr id="215" name="Shape 215"/>
          <p:cNvSpPr txBox="1"/>
          <p:nvPr/>
        </p:nvSpPr>
        <p:spPr>
          <a:xfrm>
            <a:off x="2555875" y="4437062"/>
            <a:ext cx="792162" cy="1728787"/>
          </a:xfrm>
          <a:prstGeom prst="rect">
            <a:avLst/>
          </a:prstGeom>
          <a:solidFill>
            <a:srgbClr val="993300">
              <a:alpha val="66666"/>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CG</a:t>
            </a:r>
          </a:p>
        </p:txBody>
      </p:sp>
      <p:sp>
        <p:nvSpPr>
          <p:cNvPr id="216" name="Shape 216"/>
          <p:cNvSpPr txBox="1"/>
          <p:nvPr/>
        </p:nvSpPr>
        <p:spPr>
          <a:xfrm>
            <a:off x="2555875" y="5013325"/>
            <a:ext cx="792162" cy="1152525"/>
          </a:xfrm>
          <a:prstGeom prst="rect">
            <a:avLst/>
          </a:prstGeom>
          <a:solidFill>
            <a:srgbClr val="00FF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VG</a:t>
            </a:r>
          </a:p>
        </p:txBody>
      </p:sp>
      <p:sp>
        <p:nvSpPr>
          <p:cNvPr id="217" name="Shape 217"/>
          <p:cNvSpPr txBox="1"/>
          <p:nvPr/>
        </p:nvSpPr>
        <p:spPr>
          <a:xfrm>
            <a:off x="2555875" y="4437062"/>
            <a:ext cx="792162" cy="576262"/>
          </a:xfrm>
          <a:prstGeom prst="rect">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COSTO </a:t>
            </a:r>
          </a:p>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SOCIAL</a:t>
            </a:r>
          </a:p>
        </p:txBody>
      </p:sp>
      <p:pic>
        <p:nvPicPr>
          <p:cNvPr id="218" name="Shape 218"/>
          <p:cNvPicPr preferRelativeResize="0"/>
          <p:nvPr>
            <p:ph idx="4294967295" type="body"/>
          </p:nvPr>
        </p:nvPicPr>
        <p:blipFill rotWithShape="1">
          <a:blip r:embed="rId3">
            <a:alphaModFix/>
          </a:blip>
          <a:srcRect b="0" l="0" r="0" t="0"/>
          <a:stretch/>
        </p:blipFill>
        <p:spPr>
          <a:xfrm>
            <a:off x="4500562" y="476250"/>
            <a:ext cx="3457574" cy="700086"/>
          </a:xfrm>
          <a:prstGeom prst="rect">
            <a:avLst/>
          </a:prstGeom>
          <a:noFill/>
          <a:ln>
            <a:noFill/>
          </a:ln>
        </p:spPr>
      </p:pic>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2" name="Shape 222"/>
        <p:cNvGrpSpPr/>
        <p:nvPr/>
      </p:nvGrpSpPr>
      <p:grpSpPr>
        <a:xfrm>
          <a:off x="0" y="0"/>
          <a:ext cx="0" cy="0"/>
          <a:chOff x="0" y="0"/>
          <a:chExt cx="0" cy="0"/>
        </a:xfrm>
      </p:grpSpPr>
      <p:sp>
        <p:nvSpPr>
          <p:cNvPr id="223" name="Shape 223"/>
          <p:cNvSpPr txBox="1"/>
          <p:nvPr>
            <p:ph idx="4294967295" type="title"/>
          </p:nvPr>
        </p:nvSpPr>
        <p:spPr>
          <a:xfrm>
            <a:off x="250825" y="260350"/>
            <a:ext cx="4114800" cy="11525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ARANCELES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 IMPORTACIÓN</a:t>
            </a:r>
          </a:p>
        </p:txBody>
      </p:sp>
      <p:sp>
        <p:nvSpPr>
          <p:cNvPr id="224" name="Shape 224"/>
          <p:cNvSpPr txBox="1"/>
          <p:nvPr>
            <p:ph idx="4294967295" type="body"/>
          </p:nvPr>
        </p:nvSpPr>
        <p:spPr>
          <a:xfrm>
            <a:off x="457200" y="1719261"/>
            <a:ext cx="8147049" cy="2789237"/>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El estado obliga a pagar un impuesto al importar un bien.</a:t>
            </a:r>
          </a:p>
          <a:p>
            <a:pPr indent="-342900" lvl="0" marL="342900" marR="0" rtl="0" algn="l">
              <a:lnSpc>
                <a:spcPct val="8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Cuando introducimos el arancel los productores locales podrán incrementar el precio hasta que sea igual al precio de importación más el arancel. </a:t>
            </a:r>
          </a:p>
          <a:p>
            <a:pPr indent="-342900" lvl="0" marL="342900" marR="0" rtl="0" algn="l">
              <a:lnSpc>
                <a:spcPct val="8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25000"/>
              <a:buFont typeface="Noto Sans Symbols"/>
              <a:buNone/>
            </a:pPr>
            <a:r>
              <a:rPr b="1" i="0" lang="en-US" sz="2200" u="none" cap="none" strike="noStrike">
                <a:solidFill>
                  <a:srgbClr val="EC1914"/>
                </a:solidFill>
                <a:latin typeface="Arial"/>
                <a:ea typeface="Arial"/>
                <a:cs typeface="Arial"/>
                <a:sym typeface="Arial"/>
              </a:rPr>
              <a:t>Se genera una ineficiencia social asociada a la competitividad de las empresas locales protegidas.</a:t>
            </a:r>
            <a:br>
              <a:rPr b="1" i="0" lang="en-US" sz="2200" u="none" cap="none" strike="noStrike">
                <a:solidFill>
                  <a:srgbClr val="EC1914"/>
                </a:solidFill>
                <a:latin typeface="Arial"/>
                <a:ea typeface="Arial"/>
                <a:cs typeface="Arial"/>
                <a:sym typeface="Arial"/>
              </a:rPr>
            </a:br>
            <a:r>
              <a:rPr b="0" i="0" lang="en-US" sz="2200" u="none" cap="none" strike="noStrike">
                <a:solidFill>
                  <a:schemeClr val="dk1"/>
                </a:solidFill>
                <a:latin typeface="Arial"/>
                <a:ea typeface="Arial"/>
                <a:cs typeface="Arial"/>
                <a:sym typeface="Arial"/>
              </a:rPr>
              <a:t> </a:t>
            </a:r>
          </a:p>
        </p:txBody>
      </p:sp>
      <p:pic>
        <p:nvPicPr>
          <p:cNvPr id="225" name="Shape 225"/>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9" name="Shape 229"/>
        <p:cNvGrpSpPr/>
        <p:nvPr/>
      </p:nvGrpSpPr>
      <p:grpSpPr>
        <a:xfrm>
          <a:off x="0" y="0"/>
          <a:ext cx="0" cy="0"/>
          <a:chOff x="0" y="0"/>
          <a:chExt cx="0" cy="0"/>
        </a:xfrm>
      </p:grpSpPr>
      <p:sp>
        <p:nvSpPr>
          <p:cNvPr id="230" name="Shape 230"/>
          <p:cNvSpPr/>
          <p:nvPr/>
        </p:nvSpPr>
        <p:spPr>
          <a:xfrm>
            <a:off x="1042987" y="1989136"/>
            <a:ext cx="2205037" cy="1844674"/>
          </a:xfrm>
          <a:custGeom>
            <a:pathLst>
              <a:path extrusionOk="0" h="120000" w="120000">
                <a:moveTo>
                  <a:pt x="27041" y="38106"/>
                </a:moveTo>
                <a:lnTo>
                  <a:pt x="11490" y="19001"/>
                </a:lnTo>
                <a:lnTo>
                  <a:pt x="86" y="0"/>
                </a:lnTo>
                <a:lnTo>
                  <a:pt x="86" y="32633"/>
                </a:lnTo>
                <a:lnTo>
                  <a:pt x="0" y="77246"/>
                </a:lnTo>
                <a:lnTo>
                  <a:pt x="691" y="98416"/>
                </a:lnTo>
                <a:lnTo>
                  <a:pt x="0" y="119173"/>
                </a:lnTo>
                <a:lnTo>
                  <a:pt x="24449" y="119896"/>
                </a:lnTo>
                <a:lnTo>
                  <a:pt x="51317" y="120000"/>
                </a:lnTo>
                <a:lnTo>
                  <a:pt x="120000" y="120000"/>
                </a:lnTo>
                <a:lnTo>
                  <a:pt x="100388" y="109259"/>
                </a:lnTo>
                <a:lnTo>
                  <a:pt x="85701" y="98519"/>
                </a:lnTo>
                <a:lnTo>
                  <a:pt x="71879" y="84888"/>
                </a:lnTo>
                <a:lnTo>
                  <a:pt x="26177" y="39036"/>
                </a:lnTo>
              </a:path>
            </a:pathLst>
          </a:custGeom>
          <a:solidFill>
            <a:srgbClr val="FFCC00">
              <a:alpha val="18823"/>
            </a:srgbClr>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1" name="Shape 231"/>
          <p:cNvSpPr txBox="1"/>
          <p:nvPr>
            <p:ph idx="4294967295" type="title"/>
          </p:nvPr>
        </p:nvSpPr>
        <p:spPr>
          <a:xfrm>
            <a:off x="0" y="0"/>
            <a:ext cx="4897436" cy="155257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EL ARANCEL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A LA IMPORTACION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EMPEORA LA OFERTA</a:t>
            </a:r>
          </a:p>
        </p:txBody>
      </p:sp>
      <p:sp>
        <p:nvSpPr>
          <p:cNvPr id="232" name="Shape 232"/>
          <p:cNvSpPr txBox="1"/>
          <p:nvPr>
            <p:ph idx="4294967295" type="body"/>
          </p:nvPr>
        </p:nvSpPr>
        <p:spPr>
          <a:xfrm>
            <a:off x="5651500" y="3284537"/>
            <a:ext cx="3492500" cy="1800225"/>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El estado cuando aplica aranceles de importación solo empeora la oferta extranjera, sube el precio de mercado y reduce la cantidad de equilibrio, mejora el excedente de los productores nacionales </a:t>
            </a:r>
          </a:p>
        </p:txBody>
      </p:sp>
      <p:cxnSp>
        <p:nvCxnSpPr>
          <p:cNvPr id="233" name="Shape 233"/>
          <p:cNvCxnSpPr/>
          <p:nvPr/>
        </p:nvCxnSpPr>
        <p:spPr>
          <a:xfrm>
            <a:off x="1042987" y="1557337"/>
            <a:ext cx="0" cy="4751387"/>
          </a:xfrm>
          <a:prstGeom prst="straightConnector1">
            <a:avLst/>
          </a:prstGeom>
          <a:noFill/>
          <a:ln cap="flat" cmpd="sng" w="9525">
            <a:solidFill>
              <a:schemeClr val="dk1"/>
            </a:solidFill>
            <a:prstDash val="solid"/>
            <a:miter/>
            <a:headEnd len="med" w="med" type="none"/>
            <a:tailEnd len="med" w="med" type="none"/>
          </a:ln>
        </p:spPr>
      </p:cxnSp>
      <p:cxnSp>
        <p:nvCxnSpPr>
          <p:cNvPr id="234" name="Shape 234"/>
          <p:cNvCxnSpPr/>
          <p:nvPr/>
        </p:nvCxnSpPr>
        <p:spPr>
          <a:xfrm>
            <a:off x="755650" y="5300662"/>
            <a:ext cx="5761036" cy="0"/>
          </a:xfrm>
          <a:prstGeom prst="straightConnector1">
            <a:avLst/>
          </a:prstGeom>
          <a:noFill/>
          <a:ln cap="flat" cmpd="sng" w="9525">
            <a:solidFill>
              <a:schemeClr val="dk1"/>
            </a:solidFill>
            <a:prstDash val="solid"/>
            <a:miter/>
            <a:headEnd len="med" w="med" type="none"/>
            <a:tailEnd len="med" w="med" type="none"/>
          </a:ln>
        </p:spPr>
      </p:cxnSp>
      <p:sp>
        <p:nvSpPr>
          <p:cNvPr id="235" name="Shape 235"/>
          <p:cNvSpPr/>
          <p:nvPr/>
        </p:nvSpPr>
        <p:spPr>
          <a:xfrm>
            <a:off x="1042987" y="1989136"/>
            <a:ext cx="4456111" cy="2568575"/>
          </a:xfrm>
          <a:custGeom>
            <a:pathLst>
              <a:path extrusionOk="0" h="120000" w="120000">
                <a:moveTo>
                  <a:pt x="0" y="0"/>
                </a:moveTo>
                <a:cubicBezTo>
                  <a:pt x="2949" y="5562"/>
                  <a:pt x="11799" y="23362"/>
                  <a:pt x="17869" y="33522"/>
                </a:cubicBezTo>
                <a:cubicBezTo>
                  <a:pt x="23982" y="43757"/>
                  <a:pt x="32062" y="54882"/>
                  <a:pt x="36636" y="61334"/>
                </a:cubicBezTo>
                <a:cubicBezTo>
                  <a:pt x="41211" y="67787"/>
                  <a:pt x="41980" y="68677"/>
                  <a:pt x="45315" y="72385"/>
                </a:cubicBezTo>
                <a:cubicBezTo>
                  <a:pt x="48649" y="76093"/>
                  <a:pt x="52882" y="80173"/>
                  <a:pt x="56644" y="83584"/>
                </a:cubicBezTo>
                <a:cubicBezTo>
                  <a:pt x="60406" y="86996"/>
                  <a:pt x="63313" y="89147"/>
                  <a:pt x="67930" y="92781"/>
                </a:cubicBezTo>
                <a:cubicBezTo>
                  <a:pt x="72547" y="96415"/>
                  <a:pt x="78403" y="101755"/>
                  <a:pt x="84389" y="105611"/>
                </a:cubicBezTo>
                <a:cubicBezTo>
                  <a:pt x="90374" y="109468"/>
                  <a:pt x="97898" y="113473"/>
                  <a:pt x="103840" y="115846"/>
                </a:cubicBezTo>
                <a:cubicBezTo>
                  <a:pt x="109782" y="118220"/>
                  <a:pt x="116622" y="119110"/>
                  <a:pt x="120000" y="120000"/>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6" name="Shape 236"/>
          <p:cNvSpPr/>
          <p:nvPr/>
        </p:nvSpPr>
        <p:spPr>
          <a:xfrm rot="540000">
            <a:off x="1258887" y="2349500"/>
            <a:ext cx="2024062" cy="2690811"/>
          </a:xfrm>
          <a:custGeom>
            <a:pathLst>
              <a:path extrusionOk="0" h="120000" w="120000">
                <a:moveTo>
                  <a:pt x="0" y="120000"/>
                </a:moveTo>
                <a:cubicBezTo>
                  <a:pt x="4988" y="117663"/>
                  <a:pt x="19294" y="111787"/>
                  <a:pt x="29741" y="105982"/>
                </a:cubicBezTo>
                <a:cubicBezTo>
                  <a:pt x="40188" y="100176"/>
                  <a:pt x="52423" y="93380"/>
                  <a:pt x="62588" y="85238"/>
                </a:cubicBezTo>
                <a:cubicBezTo>
                  <a:pt x="72752" y="77097"/>
                  <a:pt x="83294" y="66619"/>
                  <a:pt x="91011" y="57132"/>
                </a:cubicBezTo>
                <a:cubicBezTo>
                  <a:pt x="98729" y="47646"/>
                  <a:pt x="104000" y="37876"/>
                  <a:pt x="108800" y="28389"/>
                </a:cubicBezTo>
                <a:cubicBezTo>
                  <a:pt x="113600" y="18902"/>
                  <a:pt x="117647" y="5946"/>
                  <a:pt x="120000"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7" name="Shape 237"/>
          <p:cNvSpPr/>
          <p:nvPr/>
        </p:nvSpPr>
        <p:spPr>
          <a:xfrm>
            <a:off x="1042987" y="1700211"/>
            <a:ext cx="2251075" cy="2524124"/>
          </a:xfrm>
          <a:custGeom>
            <a:pathLst>
              <a:path extrusionOk="0" h="120000" w="120000">
                <a:moveTo>
                  <a:pt x="0" y="120000"/>
                </a:moveTo>
                <a:cubicBezTo>
                  <a:pt x="5923" y="117056"/>
                  <a:pt x="25303" y="108000"/>
                  <a:pt x="35458" y="102188"/>
                </a:cubicBezTo>
                <a:cubicBezTo>
                  <a:pt x="45613" y="96377"/>
                  <a:pt x="52722" y="92150"/>
                  <a:pt x="61100" y="85056"/>
                </a:cubicBezTo>
                <a:cubicBezTo>
                  <a:pt x="69478" y="77962"/>
                  <a:pt x="78363" y="68452"/>
                  <a:pt x="85811" y="59471"/>
                </a:cubicBezTo>
                <a:cubicBezTo>
                  <a:pt x="93258" y="50490"/>
                  <a:pt x="100112" y="40830"/>
                  <a:pt x="105782" y="30943"/>
                </a:cubicBezTo>
                <a:cubicBezTo>
                  <a:pt x="111452" y="21056"/>
                  <a:pt x="117038" y="6415"/>
                  <a:pt x="120000" y="0"/>
                </a:cubicBez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8" name="Shape 238"/>
          <p:cNvSpPr txBox="1"/>
          <p:nvPr/>
        </p:nvSpPr>
        <p:spPr>
          <a:xfrm>
            <a:off x="4933950" y="52292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239" name="Shape 239"/>
          <p:cNvSpPr txBox="1"/>
          <p:nvPr/>
        </p:nvSpPr>
        <p:spPr>
          <a:xfrm>
            <a:off x="34925" y="1341437"/>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40" name="Shape 240"/>
          <p:cNvSpPr txBox="1"/>
          <p:nvPr/>
        </p:nvSpPr>
        <p:spPr>
          <a:xfrm>
            <a:off x="3130550" y="52292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241" name="Shape 241"/>
          <p:cNvSpPr txBox="1"/>
          <p:nvPr/>
        </p:nvSpPr>
        <p:spPr>
          <a:xfrm>
            <a:off x="4211637" y="4005262"/>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DEMANDA</a:t>
            </a:r>
          </a:p>
        </p:txBody>
      </p:sp>
      <p:sp>
        <p:nvSpPr>
          <p:cNvPr id="242" name="Shape 242"/>
          <p:cNvSpPr txBox="1"/>
          <p:nvPr/>
        </p:nvSpPr>
        <p:spPr>
          <a:xfrm>
            <a:off x="3563937" y="1844675"/>
            <a:ext cx="1223961" cy="7207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OF. EXT.</a:t>
            </a:r>
          </a:p>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INICIAL</a:t>
            </a:r>
            <a:r>
              <a:rPr b="1" i="0" lang="en-US" sz="1800" u="none" cap="none" strike="noStrike">
                <a:solidFill>
                  <a:schemeClr val="dk1"/>
                </a:solidFill>
                <a:latin typeface="Arial"/>
                <a:ea typeface="Arial"/>
                <a:cs typeface="Arial"/>
                <a:sym typeface="Arial"/>
              </a:rPr>
              <a:t> </a:t>
            </a:r>
          </a:p>
        </p:txBody>
      </p:sp>
      <p:sp>
        <p:nvSpPr>
          <p:cNvPr id="243" name="Shape 243"/>
          <p:cNvSpPr txBox="1"/>
          <p:nvPr/>
        </p:nvSpPr>
        <p:spPr>
          <a:xfrm>
            <a:off x="3348037" y="14128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OF. NAC.</a:t>
            </a:r>
            <a:r>
              <a:rPr b="1" i="0" lang="en-US" sz="1800" u="none" cap="none" strike="noStrike">
                <a:solidFill>
                  <a:schemeClr val="dk1"/>
                </a:solidFill>
                <a:latin typeface="Arial"/>
                <a:ea typeface="Arial"/>
                <a:cs typeface="Arial"/>
                <a:sym typeface="Arial"/>
              </a:rPr>
              <a:t> </a:t>
            </a:r>
          </a:p>
        </p:txBody>
      </p:sp>
      <p:cxnSp>
        <p:nvCxnSpPr>
          <p:cNvPr id="244" name="Shape 244"/>
          <p:cNvCxnSpPr/>
          <p:nvPr/>
        </p:nvCxnSpPr>
        <p:spPr>
          <a:xfrm rot="10800000">
            <a:off x="3276600" y="3860799"/>
            <a:ext cx="0" cy="2447925"/>
          </a:xfrm>
          <a:prstGeom prst="straightConnector1">
            <a:avLst/>
          </a:prstGeom>
          <a:noFill/>
          <a:ln cap="flat" cmpd="sng" w="9525">
            <a:solidFill>
              <a:schemeClr val="dk1"/>
            </a:solidFill>
            <a:prstDash val="solid"/>
            <a:miter/>
            <a:headEnd len="med" w="med" type="none"/>
            <a:tailEnd len="med" w="med" type="none"/>
          </a:ln>
        </p:spPr>
      </p:cxnSp>
      <p:cxnSp>
        <p:nvCxnSpPr>
          <p:cNvPr id="245" name="Shape 245"/>
          <p:cNvCxnSpPr/>
          <p:nvPr/>
        </p:nvCxnSpPr>
        <p:spPr>
          <a:xfrm rot="10800000">
            <a:off x="1042986" y="3860800"/>
            <a:ext cx="2233612" cy="0"/>
          </a:xfrm>
          <a:prstGeom prst="straightConnector1">
            <a:avLst/>
          </a:prstGeom>
          <a:noFill/>
          <a:ln cap="flat" cmpd="sng" w="9525">
            <a:solidFill>
              <a:schemeClr val="dk1"/>
            </a:solidFill>
            <a:prstDash val="solid"/>
            <a:miter/>
            <a:headEnd len="med" w="med" type="none"/>
            <a:tailEnd len="med" w="med" type="none"/>
          </a:ln>
        </p:spPr>
      </p:cxnSp>
      <p:cxnSp>
        <p:nvCxnSpPr>
          <p:cNvPr id="246" name="Shape 246"/>
          <p:cNvCxnSpPr/>
          <p:nvPr/>
        </p:nvCxnSpPr>
        <p:spPr>
          <a:xfrm rot="10800000">
            <a:off x="1763711" y="3860800"/>
            <a:ext cx="0" cy="1439862"/>
          </a:xfrm>
          <a:prstGeom prst="straightConnector1">
            <a:avLst/>
          </a:prstGeom>
          <a:noFill/>
          <a:ln cap="flat" cmpd="sng" w="9525">
            <a:solidFill>
              <a:schemeClr val="dk1"/>
            </a:solidFill>
            <a:prstDash val="solid"/>
            <a:miter/>
            <a:headEnd len="med" w="med" type="none"/>
            <a:tailEnd len="med" w="med" type="none"/>
          </a:ln>
        </p:spPr>
      </p:cxnSp>
      <p:sp>
        <p:nvSpPr>
          <p:cNvPr id="247" name="Shape 247"/>
          <p:cNvSpPr txBox="1"/>
          <p:nvPr/>
        </p:nvSpPr>
        <p:spPr>
          <a:xfrm>
            <a:off x="2554286" y="52292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a:t>
            </a:r>
          </a:p>
        </p:txBody>
      </p:sp>
      <p:cxnSp>
        <p:nvCxnSpPr>
          <p:cNvPr id="248" name="Shape 248"/>
          <p:cNvCxnSpPr/>
          <p:nvPr/>
        </p:nvCxnSpPr>
        <p:spPr>
          <a:xfrm rot="10800000">
            <a:off x="2700336" y="3573462"/>
            <a:ext cx="0" cy="1727199"/>
          </a:xfrm>
          <a:prstGeom prst="straightConnector1">
            <a:avLst/>
          </a:prstGeom>
          <a:noFill/>
          <a:ln cap="flat" cmpd="sng" w="9525">
            <a:solidFill>
              <a:schemeClr val="dk1"/>
            </a:solidFill>
            <a:prstDash val="solid"/>
            <a:miter/>
            <a:headEnd len="med" w="med" type="none"/>
            <a:tailEnd len="med" w="med" type="none"/>
          </a:ln>
        </p:spPr>
      </p:cxnSp>
      <p:cxnSp>
        <p:nvCxnSpPr>
          <p:cNvPr id="249" name="Shape 249"/>
          <p:cNvCxnSpPr/>
          <p:nvPr/>
        </p:nvCxnSpPr>
        <p:spPr>
          <a:xfrm rot="10800000">
            <a:off x="1042986" y="3573462"/>
            <a:ext cx="1657350" cy="0"/>
          </a:xfrm>
          <a:prstGeom prst="straightConnector1">
            <a:avLst/>
          </a:prstGeom>
          <a:noFill/>
          <a:ln cap="flat" cmpd="sng" w="9525">
            <a:solidFill>
              <a:schemeClr val="dk1"/>
            </a:solidFill>
            <a:prstDash val="solid"/>
            <a:miter/>
            <a:headEnd len="med" w="med" type="none"/>
            <a:tailEnd len="med" w="med" type="none"/>
          </a:ln>
        </p:spPr>
      </p:cxnSp>
      <p:sp>
        <p:nvSpPr>
          <p:cNvPr id="250" name="Shape 250"/>
          <p:cNvSpPr txBox="1"/>
          <p:nvPr/>
        </p:nvSpPr>
        <p:spPr>
          <a:xfrm>
            <a:off x="611187" y="3644900"/>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sp>
        <p:nvSpPr>
          <p:cNvPr id="251" name="Shape 251"/>
          <p:cNvSpPr txBox="1"/>
          <p:nvPr/>
        </p:nvSpPr>
        <p:spPr>
          <a:xfrm>
            <a:off x="682625" y="3357562"/>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P1</a:t>
            </a:r>
          </a:p>
        </p:txBody>
      </p:sp>
      <p:sp>
        <p:nvSpPr>
          <p:cNvPr id="252" name="Shape 252"/>
          <p:cNvSpPr/>
          <p:nvPr/>
        </p:nvSpPr>
        <p:spPr>
          <a:xfrm flipH="1" rot="5520000">
            <a:off x="1797842" y="5195093"/>
            <a:ext cx="73025" cy="1582737"/>
          </a:xfrm>
          <a:prstGeom prst="leftBrace">
            <a:avLst>
              <a:gd fmla="val 1526" name="adj1"/>
              <a:gd fmla="val 11237"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3" name="Shape 253"/>
          <p:cNvSpPr txBox="1"/>
          <p:nvPr/>
        </p:nvSpPr>
        <p:spPr>
          <a:xfrm>
            <a:off x="1117600" y="5949950"/>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OFERTA IMPORTADA</a:t>
            </a:r>
          </a:p>
        </p:txBody>
      </p:sp>
      <p:sp>
        <p:nvSpPr>
          <p:cNvPr id="254" name="Shape 254"/>
          <p:cNvSpPr txBox="1"/>
          <p:nvPr/>
        </p:nvSpPr>
        <p:spPr>
          <a:xfrm>
            <a:off x="1046162" y="5518150"/>
            <a:ext cx="1654174"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OFERTA NACIONAL</a:t>
            </a:r>
          </a:p>
        </p:txBody>
      </p:sp>
      <p:sp>
        <p:nvSpPr>
          <p:cNvPr id="255" name="Shape 255"/>
          <p:cNvSpPr/>
          <p:nvPr/>
        </p:nvSpPr>
        <p:spPr>
          <a:xfrm flipH="1" rot="5520000">
            <a:off x="1260474" y="5083175"/>
            <a:ext cx="285750" cy="720724"/>
          </a:xfrm>
          <a:prstGeom prst="leftBrace">
            <a:avLst>
              <a:gd fmla="val 1526" name="adj1"/>
              <a:gd fmla="val 11237"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6" name="Shape 256"/>
          <p:cNvSpPr/>
          <p:nvPr/>
        </p:nvSpPr>
        <p:spPr>
          <a:xfrm>
            <a:off x="1042987" y="1930400"/>
            <a:ext cx="1722437" cy="1858961"/>
          </a:xfrm>
          <a:custGeom>
            <a:pathLst>
              <a:path extrusionOk="0" h="120000" w="120000">
                <a:moveTo>
                  <a:pt x="0" y="120000"/>
                </a:moveTo>
                <a:cubicBezTo>
                  <a:pt x="3539" y="118360"/>
                  <a:pt x="13161" y="115593"/>
                  <a:pt x="21345" y="110469"/>
                </a:cubicBezTo>
                <a:cubicBezTo>
                  <a:pt x="29529" y="105345"/>
                  <a:pt x="38267" y="98684"/>
                  <a:pt x="49437" y="89154"/>
                </a:cubicBezTo>
                <a:cubicBezTo>
                  <a:pt x="60608" y="79624"/>
                  <a:pt x="76423" y="68146"/>
                  <a:pt x="88147" y="53287"/>
                </a:cubicBezTo>
                <a:cubicBezTo>
                  <a:pt x="99870" y="38428"/>
                  <a:pt x="113364" y="11067"/>
                  <a:pt x="120000"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7" name="Shape 257"/>
          <p:cNvSpPr/>
          <p:nvPr/>
        </p:nvSpPr>
        <p:spPr>
          <a:xfrm>
            <a:off x="1116012" y="2276475"/>
            <a:ext cx="4727575" cy="2522536"/>
          </a:xfrm>
          <a:custGeom>
            <a:pathLst>
              <a:path extrusionOk="0" h="120000" w="120000">
                <a:moveTo>
                  <a:pt x="0" y="120000"/>
                </a:moveTo>
                <a:cubicBezTo>
                  <a:pt x="1450" y="118716"/>
                  <a:pt x="6004" y="114713"/>
                  <a:pt x="8784" y="112221"/>
                </a:cubicBezTo>
                <a:cubicBezTo>
                  <a:pt x="11564" y="109729"/>
                  <a:pt x="14063" y="107690"/>
                  <a:pt x="16762" y="105122"/>
                </a:cubicBezTo>
                <a:cubicBezTo>
                  <a:pt x="19462" y="102555"/>
                  <a:pt x="22444" y="99081"/>
                  <a:pt x="25063" y="96815"/>
                </a:cubicBezTo>
                <a:cubicBezTo>
                  <a:pt x="27683" y="94550"/>
                  <a:pt x="30020" y="92964"/>
                  <a:pt x="32357" y="91529"/>
                </a:cubicBezTo>
                <a:cubicBezTo>
                  <a:pt x="34694" y="90094"/>
                  <a:pt x="36749" y="89339"/>
                  <a:pt x="39207" y="87979"/>
                </a:cubicBezTo>
                <a:cubicBezTo>
                  <a:pt x="41665" y="86620"/>
                  <a:pt x="42632" y="86469"/>
                  <a:pt x="47024" y="83146"/>
                </a:cubicBezTo>
                <a:cubicBezTo>
                  <a:pt x="51417" y="79823"/>
                  <a:pt x="59717" y="73102"/>
                  <a:pt x="65480" y="68042"/>
                </a:cubicBezTo>
                <a:cubicBezTo>
                  <a:pt x="71242" y="62983"/>
                  <a:pt x="76319" y="58225"/>
                  <a:pt x="81598" y="52787"/>
                </a:cubicBezTo>
                <a:cubicBezTo>
                  <a:pt x="86877" y="47350"/>
                  <a:pt x="92196" y="41686"/>
                  <a:pt x="97192" y="35645"/>
                </a:cubicBezTo>
                <a:cubicBezTo>
                  <a:pt x="102189" y="29603"/>
                  <a:pt x="107871" y="22353"/>
                  <a:pt x="111658" y="16387"/>
                </a:cubicBezTo>
                <a:cubicBezTo>
                  <a:pt x="115446" y="10421"/>
                  <a:pt x="118267" y="3398"/>
                  <a:pt x="120000" y="0"/>
                </a:cubicBezTo>
              </a:path>
            </a:pathLst>
          </a:custGeom>
          <a:noFill/>
          <a:ln cap="flat" cmpd="sng" w="41275">
            <a:solidFill>
              <a:srgbClr val="00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8" name="Shape 258"/>
          <p:cNvSpPr txBox="1"/>
          <p:nvPr/>
        </p:nvSpPr>
        <p:spPr>
          <a:xfrm>
            <a:off x="1908175" y="1341437"/>
            <a:ext cx="1223961"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 EXT.</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FINAL </a:t>
            </a:r>
          </a:p>
        </p:txBody>
      </p:sp>
      <p:sp>
        <p:nvSpPr>
          <p:cNvPr id="259" name="Shape 259"/>
          <p:cNvSpPr/>
          <p:nvPr/>
        </p:nvSpPr>
        <p:spPr>
          <a:xfrm>
            <a:off x="1042987" y="1844675"/>
            <a:ext cx="4046537" cy="2352674"/>
          </a:xfrm>
          <a:custGeom>
            <a:pathLst>
              <a:path extrusionOk="0" h="120000" w="120000">
                <a:moveTo>
                  <a:pt x="0" y="120000"/>
                </a:moveTo>
                <a:cubicBezTo>
                  <a:pt x="800" y="119352"/>
                  <a:pt x="2965" y="117732"/>
                  <a:pt x="4896" y="116194"/>
                </a:cubicBezTo>
                <a:cubicBezTo>
                  <a:pt x="6826" y="114655"/>
                  <a:pt x="8991" y="113279"/>
                  <a:pt x="11533" y="110850"/>
                </a:cubicBezTo>
                <a:cubicBezTo>
                  <a:pt x="14076" y="108421"/>
                  <a:pt x="15865" y="104291"/>
                  <a:pt x="20196" y="101619"/>
                </a:cubicBezTo>
                <a:cubicBezTo>
                  <a:pt x="24527" y="98947"/>
                  <a:pt x="32436" y="96923"/>
                  <a:pt x="37520" y="94736"/>
                </a:cubicBezTo>
                <a:cubicBezTo>
                  <a:pt x="42604" y="92550"/>
                  <a:pt x="46276" y="91740"/>
                  <a:pt x="50843" y="88663"/>
                </a:cubicBezTo>
                <a:cubicBezTo>
                  <a:pt x="55409" y="85587"/>
                  <a:pt x="59929" y="80809"/>
                  <a:pt x="64872" y="76356"/>
                </a:cubicBezTo>
                <a:cubicBezTo>
                  <a:pt x="69815" y="71902"/>
                  <a:pt x="75041" y="67935"/>
                  <a:pt x="80455" y="61862"/>
                </a:cubicBezTo>
                <a:cubicBezTo>
                  <a:pt x="85868" y="55789"/>
                  <a:pt x="92459" y="46558"/>
                  <a:pt x="97355" y="39676"/>
                </a:cubicBezTo>
                <a:cubicBezTo>
                  <a:pt x="102251" y="32793"/>
                  <a:pt x="106018" y="27287"/>
                  <a:pt x="109784" y="20647"/>
                </a:cubicBezTo>
                <a:cubicBezTo>
                  <a:pt x="113550" y="14008"/>
                  <a:pt x="117881" y="4291"/>
                  <a:pt x="120000" y="0"/>
                </a:cubicBezTo>
              </a:path>
            </a:pathLst>
          </a:custGeom>
          <a:noFill/>
          <a:ln cap="flat" cmpd="sng" w="41275">
            <a:solidFill>
              <a:srgbClr val="00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60" name="Shape 260"/>
          <p:cNvCxnSpPr/>
          <p:nvPr/>
        </p:nvCxnSpPr>
        <p:spPr>
          <a:xfrm>
            <a:off x="2627311" y="3860800"/>
            <a:ext cx="0" cy="2016124"/>
          </a:xfrm>
          <a:prstGeom prst="straightConnector1">
            <a:avLst/>
          </a:prstGeom>
          <a:noFill/>
          <a:ln cap="flat" cmpd="sng" w="9525">
            <a:solidFill>
              <a:schemeClr val="dk1"/>
            </a:solidFill>
            <a:prstDash val="solid"/>
            <a:miter/>
            <a:headEnd len="med" w="med" type="none"/>
            <a:tailEnd len="med" w="med" type="none"/>
          </a:ln>
        </p:spPr>
      </p:cxnSp>
      <p:sp>
        <p:nvSpPr>
          <p:cNvPr id="261" name="Shape 261"/>
          <p:cNvSpPr/>
          <p:nvPr/>
        </p:nvSpPr>
        <p:spPr>
          <a:xfrm flipH="1" rot="5520000">
            <a:off x="2123281" y="5228430"/>
            <a:ext cx="73025" cy="2233611"/>
          </a:xfrm>
          <a:prstGeom prst="leftBrace">
            <a:avLst>
              <a:gd fmla="val 1526" name="adj1"/>
              <a:gd fmla="val 11237"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2" name="Shape 262"/>
          <p:cNvSpPr txBox="1"/>
          <p:nvPr/>
        </p:nvSpPr>
        <p:spPr>
          <a:xfrm>
            <a:off x="900112" y="6310312"/>
            <a:ext cx="1654174" cy="35877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OFERTA TOTAL</a:t>
            </a:r>
          </a:p>
        </p:txBody>
      </p:sp>
      <p:sp>
        <p:nvSpPr>
          <p:cNvPr id="263" name="Shape 263"/>
          <p:cNvSpPr txBox="1"/>
          <p:nvPr/>
        </p:nvSpPr>
        <p:spPr>
          <a:xfrm>
            <a:off x="5868987" y="2205036"/>
            <a:ext cx="1223961" cy="7207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600" u="none" cap="none" strike="noStrike">
                <a:solidFill>
                  <a:srgbClr val="4A23DB"/>
                </a:solidFill>
                <a:latin typeface="Arial"/>
                <a:ea typeface="Arial"/>
                <a:cs typeface="Arial"/>
                <a:sym typeface="Arial"/>
              </a:rPr>
              <a:t>OFERTA</a:t>
            </a:r>
          </a:p>
          <a:p>
            <a:pPr indent="0" lvl="0" marL="0" marR="0" rtl="0" algn="l">
              <a:lnSpc>
                <a:spcPct val="100000"/>
              </a:lnSpc>
              <a:spcBef>
                <a:spcPts val="0"/>
              </a:spcBef>
              <a:spcAft>
                <a:spcPts val="0"/>
              </a:spcAft>
              <a:buClr>
                <a:srgbClr val="4A23DB"/>
              </a:buClr>
              <a:buSzPct val="25000"/>
              <a:buFont typeface="Arial"/>
              <a:buNone/>
            </a:pPr>
            <a:r>
              <a:rPr b="1" i="0" lang="en-US" sz="1600" u="none" cap="none" strike="noStrike">
                <a:solidFill>
                  <a:srgbClr val="4A23DB"/>
                </a:solidFill>
                <a:latin typeface="Arial"/>
                <a:ea typeface="Arial"/>
                <a:cs typeface="Arial"/>
                <a:sym typeface="Arial"/>
              </a:rPr>
              <a:t>INICIAL</a:t>
            </a:r>
            <a:r>
              <a:rPr b="1" i="0" lang="en-US" sz="1800" u="none" cap="none" strike="noStrike">
                <a:solidFill>
                  <a:srgbClr val="4A23DB"/>
                </a:solidFill>
                <a:latin typeface="Arial"/>
                <a:ea typeface="Arial"/>
                <a:cs typeface="Arial"/>
                <a:sym typeface="Arial"/>
              </a:rPr>
              <a:t> </a:t>
            </a:r>
          </a:p>
        </p:txBody>
      </p:sp>
      <p:sp>
        <p:nvSpPr>
          <p:cNvPr id="264" name="Shape 264"/>
          <p:cNvSpPr txBox="1"/>
          <p:nvPr/>
        </p:nvSpPr>
        <p:spPr>
          <a:xfrm>
            <a:off x="5148262" y="1484312"/>
            <a:ext cx="1223961"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OFERTA</a:t>
            </a:r>
          </a:p>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FINAL</a:t>
            </a:r>
            <a:r>
              <a:rPr b="1" i="0" lang="en-US" sz="1800" u="none" cap="none" strike="noStrike">
                <a:solidFill>
                  <a:schemeClr val="dk1"/>
                </a:solidFill>
                <a:latin typeface="Arial"/>
                <a:ea typeface="Arial"/>
                <a:cs typeface="Arial"/>
                <a:sym typeface="Arial"/>
              </a:rPr>
              <a:t> </a:t>
            </a:r>
          </a:p>
        </p:txBody>
      </p:sp>
      <p:sp>
        <p:nvSpPr>
          <p:cNvPr id="265" name="Shape 265"/>
          <p:cNvSpPr/>
          <p:nvPr/>
        </p:nvSpPr>
        <p:spPr>
          <a:xfrm>
            <a:off x="1042987" y="1989136"/>
            <a:ext cx="1657350" cy="1584325"/>
          </a:xfrm>
          <a:custGeom>
            <a:pathLst>
              <a:path extrusionOk="0" h="120000" w="120000">
                <a:moveTo>
                  <a:pt x="459" y="37875"/>
                </a:moveTo>
                <a:lnTo>
                  <a:pt x="344" y="88016"/>
                </a:lnTo>
                <a:lnTo>
                  <a:pt x="1264" y="111703"/>
                </a:lnTo>
                <a:lnTo>
                  <a:pt x="344" y="118557"/>
                </a:lnTo>
                <a:lnTo>
                  <a:pt x="33793" y="119278"/>
                </a:lnTo>
                <a:lnTo>
                  <a:pt x="66436" y="119278"/>
                </a:lnTo>
                <a:lnTo>
                  <a:pt x="120000" y="120000"/>
                </a:lnTo>
                <a:lnTo>
                  <a:pt x="91609" y="97995"/>
                </a:lnTo>
                <a:lnTo>
                  <a:pt x="75402" y="84408"/>
                </a:lnTo>
                <a:lnTo>
                  <a:pt x="61264" y="70701"/>
                </a:lnTo>
                <a:lnTo>
                  <a:pt x="44942" y="56032"/>
                </a:lnTo>
                <a:lnTo>
                  <a:pt x="34137" y="42324"/>
                </a:lnTo>
                <a:lnTo>
                  <a:pt x="23218" y="29819"/>
                </a:lnTo>
                <a:lnTo>
                  <a:pt x="7011" y="9138"/>
                </a:lnTo>
                <a:lnTo>
                  <a:pt x="0" y="0"/>
                </a:lnTo>
                <a:lnTo>
                  <a:pt x="459" y="37875"/>
                </a:lnTo>
                <a:close/>
              </a:path>
            </a:pathLst>
          </a:custGeom>
          <a:solidFill>
            <a:srgbClr val="FF0000">
              <a:alpha val="23921"/>
            </a:srgbClr>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6" name="Shape 266"/>
          <p:cNvSpPr/>
          <p:nvPr/>
        </p:nvSpPr>
        <p:spPr>
          <a:xfrm>
            <a:off x="2593975" y="2428875"/>
            <a:ext cx="755649" cy="352425"/>
          </a:xfrm>
          <a:custGeom>
            <a:pathLst>
              <a:path extrusionOk="0" h="120000" w="120000">
                <a:moveTo>
                  <a:pt x="120000" y="120000"/>
                </a:moveTo>
                <a:lnTo>
                  <a:pt x="0" y="0"/>
                </a:lnTo>
              </a:path>
            </a:pathLst>
          </a:custGeom>
          <a:noFill/>
          <a:ln cap="flat" cmpd="sng" w="28575">
            <a:solidFill>
              <a:schemeClr val="dk1"/>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7" name="Shape 267"/>
          <p:cNvSpPr/>
          <p:nvPr/>
        </p:nvSpPr>
        <p:spPr>
          <a:xfrm>
            <a:off x="2487611" y="2757486"/>
            <a:ext cx="644524" cy="385762"/>
          </a:xfrm>
          <a:custGeom>
            <a:pathLst>
              <a:path extrusionOk="0" h="120000" w="120000">
                <a:moveTo>
                  <a:pt x="120000" y="120000"/>
                </a:moveTo>
                <a:lnTo>
                  <a:pt x="0" y="0"/>
                </a:lnTo>
              </a:path>
            </a:pathLst>
          </a:custGeom>
          <a:noFill/>
          <a:ln cap="flat" cmpd="sng" w="28575">
            <a:solidFill>
              <a:schemeClr val="dk1"/>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8" name="Shape 268"/>
          <p:cNvSpPr/>
          <p:nvPr/>
        </p:nvSpPr>
        <p:spPr>
          <a:xfrm>
            <a:off x="1123950" y="3883025"/>
            <a:ext cx="352425" cy="700086"/>
          </a:xfrm>
          <a:custGeom>
            <a:pathLst>
              <a:path extrusionOk="0" h="120000" w="120000">
                <a:moveTo>
                  <a:pt x="120000" y="119999"/>
                </a:moveTo>
                <a:lnTo>
                  <a:pt x="0" y="0"/>
                </a:lnTo>
              </a:path>
            </a:pathLst>
          </a:custGeom>
          <a:noFill/>
          <a:ln cap="flat" cmpd="sng" w="28575">
            <a:solidFill>
              <a:schemeClr val="dk1"/>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9" name="Shape 269"/>
          <p:cNvSpPr/>
          <p:nvPr/>
        </p:nvSpPr>
        <p:spPr>
          <a:xfrm>
            <a:off x="1409700" y="3687762"/>
            <a:ext cx="427037" cy="750887"/>
          </a:xfrm>
          <a:custGeom>
            <a:pathLst>
              <a:path extrusionOk="0" h="120000" w="120000">
                <a:moveTo>
                  <a:pt x="120000" y="120000"/>
                </a:moveTo>
                <a:lnTo>
                  <a:pt x="0" y="0"/>
                </a:lnTo>
              </a:path>
            </a:pathLst>
          </a:custGeom>
          <a:noFill/>
          <a:ln cap="flat" cmpd="sng" w="28575">
            <a:solidFill>
              <a:schemeClr val="dk1"/>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0" name="Shape 270"/>
          <p:cNvSpPr/>
          <p:nvPr/>
        </p:nvSpPr>
        <p:spPr>
          <a:xfrm>
            <a:off x="1042987" y="3860800"/>
            <a:ext cx="2305050" cy="1008062"/>
          </a:xfrm>
          <a:custGeom>
            <a:pathLst>
              <a:path extrusionOk="0" h="120000" w="120000">
                <a:moveTo>
                  <a:pt x="0" y="0"/>
                </a:moveTo>
                <a:lnTo>
                  <a:pt x="37520" y="0"/>
                </a:lnTo>
                <a:lnTo>
                  <a:pt x="63801" y="0"/>
                </a:lnTo>
                <a:lnTo>
                  <a:pt x="90000" y="0"/>
                </a:lnTo>
                <a:lnTo>
                  <a:pt x="120000" y="0"/>
                </a:lnTo>
                <a:lnTo>
                  <a:pt x="101239" y="17196"/>
                </a:lnTo>
                <a:lnTo>
                  <a:pt x="86198" y="31181"/>
                </a:lnTo>
                <a:lnTo>
                  <a:pt x="65123" y="41763"/>
                </a:lnTo>
                <a:lnTo>
                  <a:pt x="56528" y="56125"/>
                </a:lnTo>
                <a:lnTo>
                  <a:pt x="41652" y="72188"/>
                </a:lnTo>
                <a:lnTo>
                  <a:pt x="32314" y="84661"/>
                </a:lnTo>
                <a:lnTo>
                  <a:pt x="19834" y="99023"/>
                </a:lnTo>
                <a:lnTo>
                  <a:pt x="7520" y="111496"/>
                </a:lnTo>
                <a:lnTo>
                  <a:pt x="0" y="120000"/>
                </a:lnTo>
                <a:lnTo>
                  <a:pt x="0" y="77102"/>
                </a:lnTo>
                <a:lnTo>
                  <a:pt x="0" y="51401"/>
                </a:lnTo>
                <a:lnTo>
                  <a:pt x="0" y="25700"/>
                </a:lnTo>
                <a:cubicBezTo>
                  <a:pt x="0" y="17196"/>
                  <a:pt x="0" y="8503"/>
                  <a:pt x="0" y="0"/>
                </a:cubicBezTo>
                <a:close/>
              </a:path>
            </a:pathLst>
          </a:custGeom>
          <a:solidFill>
            <a:srgbClr val="00FFFF">
              <a:alpha val="9803"/>
            </a:srgbClr>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1" name="Shape 271"/>
          <p:cNvSpPr txBox="1"/>
          <p:nvPr/>
        </p:nvSpPr>
        <p:spPr>
          <a:xfrm>
            <a:off x="3563937" y="5732462"/>
            <a:ext cx="5580061" cy="112553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Reduce: </a:t>
            </a:r>
          </a:p>
          <a:p>
            <a:pPr indent="0" lvl="0" marL="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  El excedente de los productores extranjeros</a:t>
            </a:r>
          </a:p>
          <a:p>
            <a:pPr indent="0" lvl="0" marL="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  El excedente de los consumidores</a:t>
            </a:r>
          </a:p>
        </p:txBody>
      </p:sp>
      <p:sp>
        <p:nvSpPr>
          <p:cNvPr id="272" name="Shape 272"/>
          <p:cNvSpPr/>
          <p:nvPr/>
        </p:nvSpPr>
        <p:spPr>
          <a:xfrm>
            <a:off x="1042987" y="3573462"/>
            <a:ext cx="360362" cy="1006474"/>
          </a:xfrm>
          <a:prstGeom prst="rect">
            <a:avLst/>
          </a:prstGeom>
          <a:solidFill>
            <a:schemeClr val="accent1">
              <a:alpha val="44705"/>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3" name="Shape 273"/>
          <p:cNvSpPr/>
          <p:nvPr/>
        </p:nvSpPr>
        <p:spPr>
          <a:xfrm>
            <a:off x="1042987" y="3573462"/>
            <a:ext cx="1081086" cy="263525"/>
          </a:xfrm>
          <a:custGeom>
            <a:pathLst>
              <a:path extrusionOk="0" h="120000" w="120000">
                <a:moveTo>
                  <a:pt x="0" y="0"/>
                </a:moveTo>
                <a:lnTo>
                  <a:pt x="32070" y="0"/>
                </a:lnTo>
                <a:lnTo>
                  <a:pt x="87929" y="0"/>
                </a:lnTo>
                <a:lnTo>
                  <a:pt x="120000" y="0"/>
                </a:lnTo>
                <a:lnTo>
                  <a:pt x="95506" y="72289"/>
                </a:lnTo>
                <a:lnTo>
                  <a:pt x="80528" y="113493"/>
                </a:lnTo>
                <a:lnTo>
                  <a:pt x="704" y="119999"/>
                </a:lnTo>
                <a:lnTo>
                  <a:pt x="0" y="0"/>
                </a:lnTo>
                <a:close/>
              </a:path>
            </a:pathLst>
          </a:custGeom>
          <a:solidFill>
            <a:schemeClr val="accent1">
              <a:alpha val="51764"/>
            </a:schemeClr>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4" name="Shape 274"/>
          <p:cNvSpPr/>
          <p:nvPr/>
        </p:nvSpPr>
        <p:spPr>
          <a:xfrm>
            <a:off x="1042987" y="4581525"/>
            <a:ext cx="411161" cy="287337"/>
          </a:xfrm>
          <a:custGeom>
            <a:pathLst>
              <a:path extrusionOk="0" h="120000" w="120000">
                <a:moveTo>
                  <a:pt x="0" y="0"/>
                </a:moveTo>
                <a:lnTo>
                  <a:pt x="73204" y="0"/>
                </a:lnTo>
                <a:lnTo>
                  <a:pt x="120000" y="8618"/>
                </a:lnTo>
                <a:lnTo>
                  <a:pt x="84787" y="58342"/>
                </a:lnTo>
                <a:lnTo>
                  <a:pt x="0" y="120000"/>
                </a:lnTo>
                <a:lnTo>
                  <a:pt x="0" y="59668"/>
                </a:lnTo>
                <a:lnTo>
                  <a:pt x="0" y="0"/>
                </a:lnTo>
                <a:close/>
              </a:path>
            </a:pathLst>
          </a:custGeom>
          <a:solidFill>
            <a:schemeClr val="accent1">
              <a:alpha val="46666"/>
            </a:schemeClr>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275" name="Shape 275"/>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79" name="Shape 279"/>
        <p:cNvGrpSpPr/>
        <p:nvPr/>
      </p:nvGrpSpPr>
      <p:grpSpPr>
        <a:xfrm>
          <a:off x="0" y="0"/>
          <a:ext cx="0" cy="0"/>
          <a:chOff x="0" y="0"/>
          <a:chExt cx="0" cy="0"/>
        </a:xfrm>
      </p:grpSpPr>
      <p:sp>
        <p:nvSpPr>
          <p:cNvPr id="280" name="Shape 280"/>
          <p:cNvSpPr txBox="1"/>
          <p:nvPr>
            <p:ph idx="4294967295" type="title"/>
          </p:nvPr>
        </p:nvSpPr>
        <p:spPr>
          <a:xfrm>
            <a:off x="179386" y="188911"/>
            <a:ext cx="4535487" cy="170021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EXTERNALIDADES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EN LA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PRODUCCIÓN</a:t>
            </a:r>
          </a:p>
        </p:txBody>
      </p:sp>
      <p:sp>
        <p:nvSpPr>
          <p:cNvPr id="281" name="Shape 281"/>
          <p:cNvSpPr txBox="1"/>
          <p:nvPr>
            <p:ph idx="4294967295" type="body"/>
          </p:nvPr>
        </p:nvSpPr>
        <p:spPr>
          <a:xfrm>
            <a:off x="395287" y="1916111"/>
            <a:ext cx="8435975" cy="4249737"/>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Son los efectos causados por la producción, que afectan a otros para mejorar o para empeorar, sin que éstos paguen por ellas o en todo caso sean compensados. </a:t>
            </a:r>
          </a:p>
          <a:p>
            <a:pPr indent="-342900" lvl="0" marL="342900" marR="0" rtl="0" algn="l">
              <a:lnSpc>
                <a:spcPct val="80000"/>
              </a:lnSpc>
              <a:spcBef>
                <a:spcPts val="400"/>
              </a:spcBef>
              <a:spcAft>
                <a:spcPts val="0"/>
              </a:spcAft>
              <a:buClr>
                <a:schemeClr val="dk2"/>
              </a:buClr>
              <a:buSzPct val="25000"/>
              <a:buFont typeface="Noto Sans Symbols"/>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Pueden ser positivas o negativas. </a:t>
            </a:r>
          </a:p>
          <a:p>
            <a:pPr indent="-342900" lvl="0" marL="342900" marR="0" rtl="0" algn="l">
              <a:lnSpc>
                <a:spcPct val="80000"/>
              </a:lnSpc>
              <a:spcBef>
                <a:spcPts val="400"/>
              </a:spcBef>
              <a:spcAft>
                <a:spcPts val="0"/>
              </a:spcAft>
              <a:buClr>
                <a:schemeClr val="dk2"/>
              </a:buClr>
              <a:buSzPct val="25000"/>
              <a:buFont typeface="Noto Sans Symbols"/>
              <a:buNone/>
            </a:pPr>
            <a:r>
              <a:rPr b="0" i="1" lang="en-US" sz="2000" u="none" cap="none" strike="noStrike">
                <a:solidFill>
                  <a:srgbClr val="EC1914"/>
                </a:solidFill>
                <a:latin typeface="Arial"/>
                <a:ea typeface="Arial"/>
                <a:cs typeface="Arial"/>
                <a:sym typeface="Arial"/>
              </a:rPr>
              <a:t>Supongamos que existe un cultivo de árboles frutales en un lugar determinado, vecino a éste se encuentra una empresa que extrae miel de abejas, las abejas para producir miel, necesitan del néctar de las flores, a su vez, para que los árboles den frutas, es necesario que exista una polinización, la cual se facilita por el movimiento de insectos de flor en flor, por otro lado en las cercanías se encuentra un criadero de truchas que necesita mantener el agua libre de contaminación, sin embargo el viento y las demás condiciones climáticas  transportan restos de productos químicos utilizados para combatir plagas en los frutales contaminando esta agua.</a:t>
            </a:r>
          </a:p>
        </p:txBody>
      </p:sp>
      <p:pic>
        <p:nvPicPr>
          <p:cNvPr id="282" name="Shape 282"/>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86" name="Shape 286"/>
        <p:cNvGrpSpPr/>
        <p:nvPr/>
      </p:nvGrpSpPr>
      <p:grpSpPr>
        <a:xfrm>
          <a:off x="0" y="0"/>
          <a:ext cx="0" cy="0"/>
          <a:chOff x="0" y="0"/>
          <a:chExt cx="0" cy="0"/>
        </a:xfrm>
      </p:grpSpPr>
      <p:sp>
        <p:nvSpPr>
          <p:cNvPr id="287" name="Shape 287"/>
          <p:cNvSpPr txBox="1"/>
          <p:nvPr>
            <p:ph idx="4294967295" type="title"/>
          </p:nvPr>
        </p:nvSpPr>
        <p:spPr>
          <a:xfrm>
            <a:off x="179386" y="188911"/>
            <a:ext cx="4437062" cy="1793874"/>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EXTERNALIDADES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EN EL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CONSUMO</a:t>
            </a:r>
          </a:p>
        </p:txBody>
      </p:sp>
      <p:sp>
        <p:nvSpPr>
          <p:cNvPr id="288" name="Shape 288"/>
          <p:cNvSpPr txBox="1"/>
          <p:nvPr>
            <p:ph idx="4294967295" type="body"/>
          </p:nvPr>
        </p:nvSpPr>
        <p:spPr>
          <a:xfrm>
            <a:off x="468312" y="1916111"/>
            <a:ext cx="8496299" cy="4465636"/>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De manera análoga a la anterior pero esta vez generada a partir de un acto de consumo. </a:t>
            </a: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Pueden ser positivas o negativas.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rgbClr val="EC1914"/>
                </a:solidFill>
                <a:latin typeface="Arial"/>
                <a:ea typeface="Arial"/>
                <a:cs typeface="Arial"/>
                <a:sym typeface="Arial"/>
              </a:rPr>
              <a:t>Es negativa si, por ejemplo, nuestro vecino escucha música durante la noche afectando nuestro sueño y nuestro derecho a dormir, es positiva en el caso en que disfrutemos la música porque nos gusta. </a:t>
            </a:r>
          </a:p>
        </p:txBody>
      </p:sp>
      <p:pic>
        <p:nvPicPr>
          <p:cNvPr id="289" name="Shape 289"/>
          <p:cNvPicPr preferRelativeResize="0"/>
          <p:nvPr>
            <p:ph idx="4294967295" type="body"/>
          </p:nvPr>
        </p:nvPicPr>
        <p:blipFill rotWithShape="1">
          <a:blip r:embed="rId3">
            <a:alphaModFix/>
          </a:blip>
          <a:srcRect b="0" l="0" r="0" t="0"/>
          <a:stretch/>
        </p:blipFill>
        <p:spPr>
          <a:xfrm>
            <a:off x="4932362" y="692150"/>
            <a:ext cx="3009899" cy="609599"/>
          </a:xfrm>
          <a:prstGeom prst="rect">
            <a:avLst/>
          </a:prstGeom>
          <a:noFill/>
          <a:ln>
            <a:no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93" name="Shape 293"/>
        <p:cNvGrpSpPr/>
        <p:nvPr/>
      </p:nvGrpSpPr>
      <p:grpSpPr>
        <a:xfrm>
          <a:off x="0" y="0"/>
          <a:ext cx="0" cy="0"/>
          <a:chOff x="0" y="0"/>
          <a:chExt cx="0" cy="0"/>
        </a:xfrm>
      </p:grpSpPr>
      <p:sp>
        <p:nvSpPr>
          <p:cNvPr id="294" name="Shape 294"/>
          <p:cNvSpPr txBox="1"/>
          <p:nvPr>
            <p:ph idx="4294967295" type="title"/>
          </p:nvPr>
        </p:nvSpPr>
        <p:spPr>
          <a:xfrm>
            <a:off x="63500" y="44450"/>
            <a:ext cx="4868862" cy="8635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BIENES PÚBLICOS</a:t>
            </a:r>
          </a:p>
        </p:txBody>
      </p:sp>
      <p:sp>
        <p:nvSpPr>
          <p:cNvPr id="295" name="Shape 295"/>
          <p:cNvSpPr txBox="1"/>
          <p:nvPr>
            <p:ph idx="4294967295" type="body"/>
          </p:nvPr>
        </p:nvSpPr>
        <p:spPr>
          <a:xfrm>
            <a:off x="179386" y="1412875"/>
            <a:ext cx="8785225" cy="525621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El problema fundamental está en que los bienes públicos no gozan de derechos de propiedad y no se puede excluir del consumo del mismo a nadie y no presentan rivalidad en el consumo. </a:t>
            </a:r>
          </a:p>
          <a:p>
            <a:pPr indent="-342900" lvl="0" marL="342900" marR="0" rtl="0" algn="l">
              <a:lnSpc>
                <a:spcPct val="9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No habrá un precio de mercado, pero esto no quiere decir que no tienen valor.</a:t>
            </a:r>
            <a:br>
              <a:rPr b="0" i="0" lang="en-US" sz="2600" u="none" cap="none" strike="noStrike">
                <a:solidFill>
                  <a:schemeClr val="dk1"/>
                </a:solidFill>
                <a:latin typeface="Arial"/>
                <a:ea typeface="Arial"/>
                <a:cs typeface="Arial"/>
                <a:sym typeface="Arial"/>
              </a:rPr>
            </a:br>
            <a:r>
              <a:rPr b="0" i="0" lang="en-US" sz="2600" u="none" cap="none" strike="noStrike">
                <a:solidFill>
                  <a:srgbClr val="EC1914"/>
                </a:solidFill>
                <a:latin typeface="Arial"/>
                <a:ea typeface="Arial"/>
                <a:cs typeface="Arial"/>
                <a:sym typeface="Arial"/>
              </a:rPr>
              <a:t>Al establecerse una fuerza policial o un servicio de alumbrado público, por ejemplo, no es posible suministrar el bien a quienes paguen por él y excluir de su disfrute a quienes así no lo hagan. </a:t>
            </a:r>
          </a:p>
          <a:p>
            <a:pPr indent="-342900" lvl="0" marL="342900" marR="0" rtl="0" algn="l">
              <a:lnSpc>
                <a:spcPct val="90000"/>
              </a:lnSpc>
              <a:spcBef>
                <a:spcPts val="520"/>
              </a:spcBef>
              <a:spcAft>
                <a:spcPts val="0"/>
              </a:spcAft>
              <a:buClr>
                <a:schemeClr val="dk2"/>
              </a:buClr>
              <a:buSzPct val="25000"/>
              <a:buFont typeface="Noto Sans Symbols"/>
              <a:buNone/>
            </a:pPr>
            <a:r>
              <a:t/>
            </a:r>
            <a:endParaRPr b="0" i="0" sz="2600" u="none" cap="none" strike="noStrike">
              <a:solidFill>
                <a:srgbClr val="EC1914"/>
              </a:solidFill>
              <a:latin typeface="Arial"/>
              <a:ea typeface="Arial"/>
              <a:cs typeface="Arial"/>
              <a:sym typeface="Arial"/>
            </a:endParaRPr>
          </a:p>
          <a:p>
            <a:pPr indent="-342900" lvl="0" marL="342900" marR="0" rtl="0" algn="l">
              <a:lnSpc>
                <a:spcPct val="90000"/>
              </a:lnSpc>
              <a:spcBef>
                <a:spcPts val="520"/>
              </a:spcBef>
              <a:spcAft>
                <a:spcPts val="0"/>
              </a:spcAft>
              <a:buClr>
                <a:schemeClr val="dk2"/>
              </a:buClr>
              <a:buSzPct val="25000"/>
              <a:buFont typeface="Noto Sans Symbols"/>
              <a:buNone/>
            </a:pPr>
            <a:r>
              <a:rPr b="0" i="0" lang="en-US" sz="2600" u="none" cap="none" strike="noStrike">
                <a:solidFill>
                  <a:srgbClr val="4A23DB"/>
                </a:solidFill>
                <a:latin typeface="Arial"/>
                <a:ea typeface="Arial"/>
                <a:cs typeface="Arial"/>
                <a:sym typeface="Arial"/>
              </a:rPr>
              <a:t>El Consumo que una persona haga de tales bienes no disminuye el consumo de las restantes personas, a diferencia de lo que ocurre con los bienes privados.</a:t>
            </a:r>
            <a:r>
              <a:rPr b="0" i="0" lang="en-US" sz="2600" u="none" cap="none" strike="noStrike">
                <a:solidFill>
                  <a:schemeClr val="dk1"/>
                </a:solidFill>
                <a:latin typeface="Arial"/>
                <a:ea typeface="Arial"/>
                <a:cs typeface="Arial"/>
                <a:sym typeface="Arial"/>
              </a:rPr>
              <a:t> </a:t>
            </a:r>
          </a:p>
        </p:txBody>
      </p:sp>
      <p:pic>
        <p:nvPicPr>
          <p:cNvPr id="296" name="Shape 296"/>
          <p:cNvPicPr preferRelativeResize="0"/>
          <p:nvPr>
            <p:ph idx="4294967295" type="body"/>
          </p:nvPr>
        </p:nvPicPr>
        <p:blipFill rotWithShape="1">
          <a:blip r:embed="rId3">
            <a:alphaModFix/>
          </a:blip>
          <a:srcRect b="0" l="0" r="0" t="0"/>
          <a:stretch/>
        </p:blipFill>
        <p:spPr>
          <a:xfrm>
            <a:off x="4932362" y="371475"/>
            <a:ext cx="3009899" cy="609599"/>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0" name="Shape 300"/>
        <p:cNvGrpSpPr/>
        <p:nvPr/>
      </p:nvGrpSpPr>
      <p:grpSpPr>
        <a:xfrm>
          <a:off x="0" y="0"/>
          <a:ext cx="0" cy="0"/>
          <a:chOff x="0" y="0"/>
          <a:chExt cx="0" cy="0"/>
        </a:xfrm>
      </p:grpSpPr>
      <p:sp>
        <p:nvSpPr>
          <p:cNvPr id="301" name="Shape 301"/>
          <p:cNvSpPr txBox="1"/>
          <p:nvPr/>
        </p:nvSpPr>
        <p:spPr>
          <a:xfrm>
            <a:off x="2987675" y="62372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Q2</a:t>
            </a:r>
          </a:p>
        </p:txBody>
      </p:sp>
      <p:sp>
        <p:nvSpPr>
          <p:cNvPr id="302" name="Shape 302"/>
          <p:cNvSpPr txBox="1"/>
          <p:nvPr>
            <p:ph idx="4294967295" type="title"/>
          </p:nvPr>
        </p:nvSpPr>
        <p:spPr>
          <a:xfrm>
            <a:off x="73025" y="161925"/>
            <a:ext cx="3059111" cy="1179511"/>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MEJORA LA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DEMANDA</a:t>
            </a:r>
          </a:p>
        </p:txBody>
      </p:sp>
      <p:sp>
        <p:nvSpPr>
          <p:cNvPr id="303" name="Shape 303"/>
          <p:cNvSpPr txBox="1"/>
          <p:nvPr>
            <p:ph idx="4294967295" type="body"/>
          </p:nvPr>
        </p:nvSpPr>
        <p:spPr>
          <a:xfrm>
            <a:off x="4926012" y="1825625"/>
            <a:ext cx="4038599" cy="2682874"/>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2400" u="none" cap="none" strike="noStrike">
                <a:solidFill>
                  <a:schemeClr val="dk1"/>
                </a:solidFill>
                <a:latin typeface="Arial"/>
                <a:ea typeface="Arial"/>
                <a:cs typeface="Arial"/>
                <a:sym typeface="Arial"/>
              </a:rPr>
              <a:t>Al </a:t>
            </a:r>
            <a:r>
              <a:rPr b="1" i="0" lang="en-US" sz="2400" u="none" cap="none" strike="noStrike">
                <a:solidFill>
                  <a:srgbClr val="EC1914"/>
                </a:solidFill>
                <a:latin typeface="Arial"/>
                <a:ea typeface="Arial"/>
                <a:cs typeface="Arial"/>
                <a:sym typeface="Arial"/>
              </a:rPr>
              <a:t>mejorar</a:t>
            </a:r>
            <a:r>
              <a:rPr b="0" i="0" lang="en-US" sz="2400" u="none" cap="none" strike="noStrike">
                <a:solidFill>
                  <a:schemeClr val="dk1"/>
                </a:solidFill>
                <a:latin typeface="Arial"/>
                <a:ea typeface="Arial"/>
                <a:cs typeface="Arial"/>
                <a:sym typeface="Arial"/>
              </a:rPr>
              <a:t> la demanda, los consumidores intentarán comprar la cantidad Q´2, pero los vendedores solo entregarán Q1, el exceso empujara la suba del precio de mercado y en consecuencia la disposición de los vendedores para subir la cantidad entregada.  </a:t>
            </a:r>
          </a:p>
        </p:txBody>
      </p:sp>
      <p:cxnSp>
        <p:nvCxnSpPr>
          <p:cNvPr id="304" name="Shape 304"/>
          <p:cNvCxnSpPr/>
          <p:nvPr/>
        </p:nvCxnSpPr>
        <p:spPr>
          <a:xfrm>
            <a:off x="755650" y="1773236"/>
            <a:ext cx="0" cy="4535487"/>
          </a:xfrm>
          <a:prstGeom prst="straightConnector1">
            <a:avLst/>
          </a:prstGeom>
          <a:noFill/>
          <a:ln cap="flat" cmpd="sng" w="9525">
            <a:solidFill>
              <a:schemeClr val="dk1"/>
            </a:solidFill>
            <a:prstDash val="solid"/>
            <a:miter/>
            <a:headEnd len="med" w="med" type="none"/>
            <a:tailEnd len="med" w="med" type="none"/>
          </a:ln>
        </p:spPr>
      </p:cxnSp>
      <p:cxnSp>
        <p:nvCxnSpPr>
          <p:cNvPr id="305" name="Shape 305"/>
          <p:cNvCxnSpPr/>
          <p:nvPr/>
        </p:nvCxnSpPr>
        <p:spPr>
          <a:xfrm>
            <a:off x="539750" y="6021387"/>
            <a:ext cx="5184775" cy="0"/>
          </a:xfrm>
          <a:prstGeom prst="straightConnector1">
            <a:avLst/>
          </a:prstGeom>
          <a:noFill/>
          <a:ln cap="flat" cmpd="sng" w="9525">
            <a:solidFill>
              <a:schemeClr val="dk1"/>
            </a:solidFill>
            <a:prstDash val="solid"/>
            <a:miter/>
            <a:headEnd len="med" w="med" type="none"/>
            <a:tailEnd len="med" w="med" type="none"/>
          </a:ln>
        </p:spPr>
      </p:cxnSp>
      <p:sp>
        <p:nvSpPr>
          <p:cNvPr id="306" name="Shape 306"/>
          <p:cNvSpPr/>
          <p:nvPr/>
        </p:nvSpPr>
        <p:spPr>
          <a:xfrm>
            <a:off x="1258887" y="1844675"/>
            <a:ext cx="3805237" cy="3552825"/>
          </a:xfrm>
          <a:custGeom>
            <a:pathLst>
              <a:path extrusionOk="0" h="120000" w="120000">
                <a:moveTo>
                  <a:pt x="0" y="0"/>
                </a:moveTo>
                <a:cubicBezTo>
                  <a:pt x="1425" y="4182"/>
                  <a:pt x="4570" y="16782"/>
                  <a:pt x="8452" y="25147"/>
                </a:cubicBezTo>
                <a:cubicBezTo>
                  <a:pt x="12334" y="33512"/>
                  <a:pt x="17641" y="41876"/>
                  <a:pt x="23194" y="50080"/>
                </a:cubicBezTo>
                <a:cubicBezTo>
                  <a:pt x="28746" y="58284"/>
                  <a:pt x="34348" y="66595"/>
                  <a:pt x="41719" y="74423"/>
                </a:cubicBezTo>
                <a:cubicBezTo>
                  <a:pt x="49090" y="82252"/>
                  <a:pt x="58722" y="90884"/>
                  <a:pt x="67567" y="97211"/>
                </a:cubicBezTo>
                <a:cubicBezTo>
                  <a:pt x="76412" y="103538"/>
                  <a:pt x="86191" y="108579"/>
                  <a:pt x="94938" y="112386"/>
                </a:cubicBezTo>
                <a:cubicBezTo>
                  <a:pt x="103685" y="116193"/>
                  <a:pt x="114791" y="118445"/>
                  <a:pt x="120000" y="120000"/>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7" name="Shape 307"/>
          <p:cNvSpPr/>
          <p:nvPr/>
        </p:nvSpPr>
        <p:spPr>
          <a:xfrm>
            <a:off x="755650" y="2276475"/>
            <a:ext cx="3805237" cy="3552825"/>
          </a:xfrm>
          <a:custGeom>
            <a:pathLst>
              <a:path extrusionOk="0" h="120000" w="120000">
                <a:moveTo>
                  <a:pt x="0" y="0"/>
                </a:moveTo>
                <a:cubicBezTo>
                  <a:pt x="1425" y="4182"/>
                  <a:pt x="4570" y="16782"/>
                  <a:pt x="8452" y="25147"/>
                </a:cubicBezTo>
                <a:cubicBezTo>
                  <a:pt x="12334" y="33512"/>
                  <a:pt x="17641" y="41876"/>
                  <a:pt x="23194" y="50080"/>
                </a:cubicBezTo>
                <a:cubicBezTo>
                  <a:pt x="28746" y="58284"/>
                  <a:pt x="34348" y="66595"/>
                  <a:pt x="41719" y="74423"/>
                </a:cubicBezTo>
                <a:cubicBezTo>
                  <a:pt x="49090" y="82252"/>
                  <a:pt x="58722" y="90884"/>
                  <a:pt x="67567" y="97211"/>
                </a:cubicBezTo>
                <a:cubicBezTo>
                  <a:pt x="76412" y="103538"/>
                  <a:pt x="86191" y="108579"/>
                  <a:pt x="94938" y="112386"/>
                </a:cubicBezTo>
                <a:cubicBezTo>
                  <a:pt x="103685" y="116193"/>
                  <a:pt x="114791" y="118445"/>
                  <a:pt x="120000" y="120000"/>
                </a:cubicBezTo>
              </a:path>
            </a:pathLst>
          </a:custGeom>
          <a:noFill/>
          <a:ln cap="flat" cmpd="sng" w="38100">
            <a:solidFill>
              <a:srgbClr val="FF99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8" name="Shape 308"/>
          <p:cNvSpPr/>
          <p:nvPr/>
        </p:nvSpPr>
        <p:spPr>
          <a:xfrm rot="300000">
            <a:off x="971549" y="2060575"/>
            <a:ext cx="3795711" cy="3208337"/>
          </a:xfrm>
          <a:custGeom>
            <a:pathLst>
              <a:path extrusionOk="0" h="120000" w="120000">
                <a:moveTo>
                  <a:pt x="0" y="120000"/>
                </a:moveTo>
                <a:cubicBezTo>
                  <a:pt x="5370" y="118753"/>
                  <a:pt x="20627" y="117328"/>
                  <a:pt x="32271" y="112637"/>
                </a:cubicBezTo>
                <a:cubicBezTo>
                  <a:pt x="43914" y="107946"/>
                  <a:pt x="59824" y="99752"/>
                  <a:pt x="69761" y="91974"/>
                </a:cubicBezTo>
                <a:cubicBezTo>
                  <a:pt x="79698" y="84195"/>
                  <a:pt x="85018" y="77367"/>
                  <a:pt x="92045" y="66145"/>
                </a:cubicBezTo>
                <a:cubicBezTo>
                  <a:pt x="99071" y="54923"/>
                  <a:pt x="107252" y="35744"/>
                  <a:pt x="111919" y="24700"/>
                </a:cubicBezTo>
                <a:cubicBezTo>
                  <a:pt x="116587" y="13656"/>
                  <a:pt x="118343" y="5165"/>
                  <a:pt x="120000" y="0"/>
                </a:cubicBezTo>
              </a:path>
            </a:pathLst>
          </a:custGeom>
          <a:no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09" name="Shape 309"/>
          <p:cNvCxnSpPr/>
          <p:nvPr/>
        </p:nvCxnSpPr>
        <p:spPr>
          <a:xfrm>
            <a:off x="755650" y="4797425"/>
            <a:ext cx="1657350" cy="0"/>
          </a:xfrm>
          <a:prstGeom prst="straightConnector1">
            <a:avLst/>
          </a:prstGeom>
          <a:noFill/>
          <a:ln cap="flat" cmpd="sng" w="9525">
            <a:solidFill>
              <a:schemeClr val="dk1"/>
            </a:solidFill>
            <a:prstDash val="solid"/>
            <a:miter/>
            <a:headEnd len="med" w="med" type="none"/>
            <a:tailEnd len="med" w="med" type="none"/>
          </a:ln>
        </p:spPr>
      </p:cxnSp>
      <p:cxnSp>
        <p:nvCxnSpPr>
          <p:cNvPr id="310" name="Shape 310"/>
          <p:cNvCxnSpPr/>
          <p:nvPr/>
        </p:nvCxnSpPr>
        <p:spPr>
          <a:xfrm>
            <a:off x="2411411" y="4797425"/>
            <a:ext cx="0" cy="1223961"/>
          </a:xfrm>
          <a:prstGeom prst="straightConnector1">
            <a:avLst/>
          </a:prstGeom>
          <a:noFill/>
          <a:ln cap="flat" cmpd="sng" w="9525">
            <a:solidFill>
              <a:schemeClr val="dk1"/>
            </a:solidFill>
            <a:prstDash val="solid"/>
            <a:miter/>
            <a:headEnd len="med" w="med" type="none"/>
            <a:tailEnd len="med" w="med" type="none"/>
          </a:ln>
        </p:spPr>
      </p:cxnSp>
      <p:cxnSp>
        <p:nvCxnSpPr>
          <p:cNvPr id="311" name="Shape 311"/>
          <p:cNvCxnSpPr/>
          <p:nvPr/>
        </p:nvCxnSpPr>
        <p:spPr>
          <a:xfrm>
            <a:off x="755650" y="4508500"/>
            <a:ext cx="2376487" cy="0"/>
          </a:xfrm>
          <a:prstGeom prst="straightConnector1">
            <a:avLst/>
          </a:prstGeom>
          <a:noFill/>
          <a:ln cap="flat" cmpd="sng" w="9525">
            <a:solidFill>
              <a:schemeClr val="dk1"/>
            </a:solidFill>
            <a:prstDash val="solid"/>
            <a:miter/>
            <a:headEnd len="med" w="med" type="none"/>
            <a:tailEnd len="med" w="med" type="none"/>
          </a:ln>
        </p:spPr>
      </p:cxnSp>
      <p:cxnSp>
        <p:nvCxnSpPr>
          <p:cNvPr id="312" name="Shape 312"/>
          <p:cNvCxnSpPr/>
          <p:nvPr/>
        </p:nvCxnSpPr>
        <p:spPr>
          <a:xfrm>
            <a:off x="3132136" y="4508500"/>
            <a:ext cx="0" cy="1512886"/>
          </a:xfrm>
          <a:prstGeom prst="straightConnector1">
            <a:avLst/>
          </a:prstGeom>
          <a:noFill/>
          <a:ln cap="flat" cmpd="sng" w="9525">
            <a:solidFill>
              <a:schemeClr val="dk1"/>
            </a:solidFill>
            <a:prstDash val="solid"/>
            <a:miter/>
            <a:headEnd len="med" w="med" type="none"/>
            <a:tailEnd len="med" w="med" type="none"/>
          </a:ln>
        </p:spPr>
      </p:cxnSp>
      <p:sp>
        <p:nvSpPr>
          <p:cNvPr id="313" name="Shape 313"/>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314" name="Shape 314"/>
          <p:cNvSpPr txBox="1"/>
          <p:nvPr/>
        </p:nvSpPr>
        <p:spPr>
          <a:xfrm>
            <a:off x="5076825" y="5876925"/>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315" name="Shape 315"/>
          <p:cNvSpPr txBox="1"/>
          <p:nvPr/>
        </p:nvSpPr>
        <p:spPr>
          <a:xfrm>
            <a:off x="3924300" y="1987550"/>
            <a:ext cx="914400"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OFERTA</a:t>
            </a:r>
          </a:p>
        </p:txBody>
      </p:sp>
      <p:sp>
        <p:nvSpPr>
          <p:cNvPr id="316" name="Shape 316"/>
          <p:cNvSpPr txBox="1"/>
          <p:nvPr/>
        </p:nvSpPr>
        <p:spPr>
          <a:xfrm>
            <a:off x="1476375" y="1628775"/>
            <a:ext cx="1223961" cy="287337"/>
          </a:xfrm>
          <a:prstGeom prst="rect">
            <a:avLst/>
          </a:prstGeom>
          <a:solidFill>
            <a:srgbClr val="FF00FF"/>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DEMANDA</a:t>
            </a:r>
          </a:p>
        </p:txBody>
      </p:sp>
      <p:sp>
        <p:nvSpPr>
          <p:cNvPr id="317" name="Shape 317"/>
          <p:cNvSpPr txBox="1"/>
          <p:nvPr/>
        </p:nvSpPr>
        <p:spPr>
          <a:xfrm>
            <a:off x="1044575" y="2781300"/>
            <a:ext cx="1223961" cy="287337"/>
          </a:xfrm>
          <a:prstGeom prst="rect">
            <a:avLst/>
          </a:prstGeom>
          <a:solidFill>
            <a:srgbClr val="FFCC00"/>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DEMANDA</a:t>
            </a:r>
          </a:p>
        </p:txBody>
      </p:sp>
      <p:cxnSp>
        <p:nvCxnSpPr>
          <p:cNvPr id="318" name="Shape 318"/>
          <p:cNvCxnSpPr/>
          <p:nvPr/>
        </p:nvCxnSpPr>
        <p:spPr>
          <a:xfrm rot="10800000">
            <a:off x="611187" y="4437062"/>
            <a:ext cx="0" cy="431799"/>
          </a:xfrm>
          <a:prstGeom prst="straightConnector1">
            <a:avLst/>
          </a:prstGeom>
          <a:noFill/>
          <a:ln cap="flat" cmpd="sng" w="9525">
            <a:solidFill>
              <a:schemeClr val="dk1"/>
            </a:solidFill>
            <a:prstDash val="solid"/>
            <a:miter/>
            <a:headEnd len="med" w="med" type="none"/>
            <a:tailEnd len="lg" w="lg" type="triangle"/>
          </a:ln>
        </p:spPr>
      </p:cxnSp>
      <p:cxnSp>
        <p:nvCxnSpPr>
          <p:cNvPr id="319" name="Shape 319"/>
          <p:cNvCxnSpPr/>
          <p:nvPr/>
        </p:nvCxnSpPr>
        <p:spPr>
          <a:xfrm>
            <a:off x="2484436" y="6092825"/>
            <a:ext cx="1079499" cy="0"/>
          </a:xfrm>
          <a:prstGeom prst="straightConnector1">
            <a:avLst/>
          </a:prstGeom>
          <a:noFill/>
          <a:ln cap="flat" cmpd="sng" w="9525">
            <a:solidFill>
              <a:schemeClr val="dk1"/>
            </a:solidFill>
            <a:prstDash val="solid"/>
            <a:miter/>
            <a:headEnd len="med" w="med" type="none"/>
            <a:tailEnd len="lg" w="lg" type="triangle"/>
          </a:ln>
        </p:spPr>
      </p:cxnSp>
      <p:cxnSp>
        <p:nvCxnSpPr>
          <p:cNvPr id="320" name="Shape 320"/>
          <p:cNvCxnSpPr/>
          <p:nvPr/>
        </p:nvCxnSpPr>
        <p:spPr>
          <a:xfrm>
            <a:off x="2484436" y="4797425"/>
            <a:ext cx="1008062" cy="0"/>
          </a:xfrm>
          <a:prstGeom prst="straightConnector1">
            <a:avLst/>
          </a:prstGeom>
          <a:noFill/>
          <a:ln cap="rnd" cmpd="sng" w="9525">
            <a:solidFill>
              <a:schemeClr val="dk1"/>
            </a:solidFill>
            <a:prstDash val="solid"/>
            <a:miter/>
            <a:headEnd len="med" w="med" type="none"/>
            <a:tailEnd len="med" w="med" type="none"/>
          </a:ln>
        </p:spPr>
      </p:cxnSp>
      <p:cxnSp>
        <p:nvCxnSpPr>
          <p:cNvPr id="321" name="Shape 321"/>
          <p:cNvCxnSpPr/>
          <p:nvPr/>
        </p:nvCxnSpPr>
        <p:spPr>
          <a:xfrm>
            <a:off x="3563937" y="4797425"/>
            <a:ext cx="0" cy="1223961"/>
          </a:xfrm>
          <a:prstGeom prst="straightConnector1">
            <a:avLst/>
          </a:prstGeom>
          <a:noFill/>
          <a:ln cap="flat" cmpd="sng" w="9525">
            <a:solidFill>
              <a:schemeClr val="dk1"/>
            </a:solidFill>
            <a:prstDash val="solid"/>
            <a:miter/>
            <a:headEnd len="med" w="med" type="none"/>
            <a:tailEnd len="med" w="med" type="none"/>
          </a:ln>
        </p:spPr>
      </p:cxnSp>
      <p:cxnSp>
        <p:nvCxnSpPr>
          <p:cNvPr id="322" name="Shape 322"/>
          <p:cNvCxnSpPr/>
          <p:nvPr/>
        </p:nvCxnSpPr>
        <p:spPr>
          <a:xfrm rot="10800000">
            <a:off x="2411411" y="6237287"/>
            <a:ext cx="720724" cy="0"/>
          </a:xfrm>
          <a:prstGeom prst="straightConnector1">
            <a:avLst/>
          </a:prstGeom>
          <a:noFill/>
          <a:ln cap="flat" cmpd="sng" w="9525">
            <a:solidFill>
              <a:schemeClr val="dk1"/>
            </a:solidFill>
            <a:prstDash val="solid"/>
            <a:miter/>
            <a:headEnd len="lg" w="lg" type="triangle"/>
            <a:tailEnd len="med" w="med" type="none"/>
          </a:ln>
        </p:spPr>
      </p:cxnSp>
      <p:sp>
        <p:nvSpPr>
          <p:cNvPr id="323" name="Shape 323"/>
          <p:cNvSpPr txBox="1"/>
          <p:nvPr/>
        </p:nvSpPr>
        <p:spPr>
          <a:xfrm>
            <a:off x="179386" y="46529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sp>
        <p:nvSpPr>
          <p:cNvPr id="324" name="Shape 324"/>
          <p:cNvSpPr txBox="1"/>
          <p:nvPr/>
        </p:nvSpPr>
        <p:spPr>
          <a:xfrm>
            <a:off x="179386"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P2</a:t>
            </a:r>
          </a:p>
        </p:txBody>
      </p:sp>
      <p:sp>
        <p:nvSpPr>
          <p:cNvPr id="325" name="Shape 325"/>
          <p:cNvSpPr txBox="1"/>
          <p:nvPr/>
        </p:nvSpPr>
        <p:spPr>
          <a:xfrm>
            <a:off x="2124075"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326" name="Shape 326"/>
          <p:cNvSpPr txBox="1"/>
          <p:nvPr/>
        </p:nvSpPr>
        <p:spPr>
          <a:xfrm>
            <a:off x="3492500"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Q´2</a:t>
            </a:r>
          </a:p>
        </p:txBody>
      </p:sp>
      <p:sp>
        <p:nvSpPr>
          <p:cNvPr id="327" name="Shape 327"/>
          <p:cNvSpPr txBox="1"/>
          <p:nvPr/>
        </p:nvSpPr>
        <p:spPr>
          <a:xfrm>
            <a:off x="5435600" y="4940300"/>
            <a:ext cx="3455986" cy="1368425"/>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Aumenta el precio.</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Aumenta la cantidad de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transacciones.</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Aumenta el beneficio social.</a:t>
            </a:r>
          </a:p>
          <a:p>
            <a:pPr indent="0" lvl="0" marL="0" marR="0" rtl="0" algn="l">
              <a:lnSpc>
                <a:spcPct val="100000"/>
              </a:lnSpc>
              <a:spcBef>
                <a:spcPts val="0"/>
              </a:spcBef>
              <a:spcAft>
                <a:spcPts val="0"/>
              </a:spcAft>
              <a:buNone/>
            </a:pPr>
            <a:r>
              <a:t/>
            </a:r>
            <a:endParaRPr b="1" i="0" sz="1800" u="none" cap="none" strike="noStrike">
              <a:solidFill>
                <a:srgbClr val="EC1914"/>
              </a:solidFill>
              <a:latin typeface="Arial"/>
              <a:ea typeface="Arial"/>
              <a:cs typeface="Arial"/>
              <a:sym typeface="Arial"/>
            </a:endParaRPr>
          </a:p>
        </p:txBody>
      </p:sp>
      <p:pic>
        <p:nvPicPr>
          <p:cNvPr id="328" name="Shape 328"/>
          <p:cNvPicPr preferRelativeResize="0"/>
          <p:nvPr>
            <p:ph idx="4294967295" type="body"/>
          </p:nvPr>
        </p:nvPicPr>
        <p:blipFill rotWithShape="1">
          <a:blip r:embed="rId3">
            <a:alphaModFix/>
          </a:blip>
          <a:srcRect b="0" l="0" r="0" t="0"/>
          <a:stretch/>
        </p:blipFill>
        <p:spPr>
          <a:xfrm>
            <a:off x="4932362" y="333375"/>
            <a:ext cx="3009899" cy="609599"/>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2" name="Shape 332"/>
        <p:cNvGrpSpPr/>
        <p:nvPr/>
      </p:nvGrpSpPr>
      <p:grpSpPr>
        <a:xfrm>
          <a:off x="0" y="0"/>
          <a:ext cx="0" cy="0"/>
          <a:chOff x="0" y="0"/>
          <a:chExt cx="0" cy="0"/>
        </a:xfrm>
      </p:grpSpPr>
      <p:sp>
        <p:nvSpPr>
          <p:cNvPr id="333" name="Shape 333"/>
          <p:cNvSpPr txBox="1"/>
          <p:nvPr>
            <p:ph idx="4294967295" type="title"/>
          </p:nvPr>
        </p:nvSpPr>
        <p:spPr>
          <a:xfrm>
            <a:off x="179386" y="188911"/>
            <a:ext cx="3600450"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TIPOS DE </a:t>
            </a:r>
            <a:br>
              <a:rPr b="1" i="0" lang="en-US" sz="3900" u="none" cap="none" strike="noStrike">
                <a:solidFill>
                  <a:schemeClr val="dk2"/>
                </a:solidFill>
                <a:latin typeface="Arial"/>
                <a:ea typeface="Arial"/>
                <a:cs typeface="Arial"/>
                <a:sym typeface="Arial"/>
              </a:rPr>
            </a:br>
            <a:r>
              <a:rPr b="1" i="0" lang="en-US" sz="3900" u="none" cap="none" strike="noStrike">
                <a:solidFill>
                  <a:schemeClr val="dk2"/>
                </a:solidFill>
                <a:latin typeface="Arial"/>
                <a:ea typeface="Arial"/>
                <a:cs typeface="Arial"/>
                <a:sym typeface="Arial"/>
              </a:rPr>
              <a:t>MERCADOS</a:t>
            </a:r>
          </a:p>
        </p:txBody>
      </p:sp>
      <p:sp>
        <p:nvSpPr>
          <p:cNvPr id="334" name="Shape 334"/>
          <p:cNvSpPr txBox="1"/>
          <p:nvPr>
            <p:ph idx="4294967295" type="body"/>
          </p:nvPr>
        </p:nvSpPr>
        <p:spPr>
          <a:xfrm>
            <a:off x="457200" y="1719261"/>
            <a:ext cx="4032249"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70000"/>
              <a:buFont typeface="Noto Sans Symbols"/>
              <a:buChar char="●"/>
            </a:pPr>
            <a:r>
              <a:rPr b="1" i="0" lang="en-US" sz="2600" u="none" cap="none" strike="noStrike">
                <a:solidFill>
                  <a:srgbClr val="621A04"/>
                </a:solidFill>
                <a:latin typeface="Arial"/>
                <a:ea typeface="Arial"/>
                <a:cs typeface="Arial"/>
                <a:sym typeface="Arial"/>
              </a:rPr>
              <a:t>COMPETENCIA PERFECTA</a:t>
            </a:r>
          </a:p>
          <a:p>
            <a:pPr indent="-342900" lvl="0" marL="342900" marR="0" rtl="0" algn="l">
              <a:lnSpc>
                <a:spcPct val="100000"/>
              </a:lnSpc>
              <a:spcBef>
                <a:spcPts val="520"/>
              </a:spcBef>
              <a:spcAft>
                <a:spcPts val="0"/>
              </a:spcAft>
              <a:buClr>
                <a:schemeClr val="dk2"/>
              </a:buClr>
              <a:buSzPct val="70000"/>
              <a:buFont typeface="Noto Sans Symbols"/>
              <a:buChar char="●"/>
            </a:pPr>
            <a:r>
              <a:rPr b="1" i="0" lang="en-US" sz="2600" u="none" cap="none" strike="noStrike">
                <a:solidFill>
                  <a:srgbClr val="4A23DB"/>
                </a:solidFill>
                <a:latin typeface="Arial"/>
                <a:ea typeface="Arial"/>
                <a:cs typeface="Arial"/>
                <a:sym typeface="Arial"/>
              </a:rPr>
              <a:t>MONOPOLIO</a:t>
            </a:r>
          </a:p>
          <a:p>
            <a:pPr indent="-342900" lvl="0" marL="342900" marR="0" rtl="0" algn="l">
              <a:lnSpc>
                <a:spcPct val="100000"/>
              </a:lnSpc>
              <a:spcBef>
                <a:spcPts val="520"/>
              </a:spcBef>
              <a:spcAft>
                <a:spcPts val="0"/>
              </a:spcAft>
              <a:buClr>
                <a:schemeClr val="dk2"/>
              </a:buClr>
              <a:buSzPct val="70000"/>
              <a:buFont typeface="Noto Sans Symbols"/>
              <a:buChar char="●"/>
            </a:pPr>
            <a:r>
              <a:rPr b="0" i="0" lang="en-US" sz="2600" u="none" cap="none" strike="noStrike">
                <a:solidFill>
                  <a:schemeClr val="dk1"/>
                </a:solidFill>
                <a:latin typeface="Arial"/>
                <a:ea typeface="Arial"/>
                <a:cs typeface="Arial"/>
                <a:sym typeface="Arial"/>
              </a:rPr>
              <a:t>OLIGOPOLIO</a:t>
            </a:r>
          </a:p>
          <a:p>
            <a:pPr indent="-342900" lvl="0" marL="342900" marR="0" rtl="0" algn="l">
              <a:lnSpc>
                <a:spcPct val="100000"/>
              </a:lnSpc>
              <a:spcBef>
                <a:spcPts val="520"/>
              </a:spcBef>
              <a:spcAft>
                <a:spcPts val="0"/>
              </a:spcAft>
              <a:buClr>
                <a:schemeClr val="dk2"/>
              </a:buClr>
              <a:buSzPct val="70000"/>
              <a:buFont typeface="Noto Sans Symbols"/>
              <a:buChar char="●"/>
            </a:pPr>
            <a:r>
              <a:rPr b="0" i="0" lang="en-US" sz="2600" u="none" cap="none" strike="noStrike">
                <a:solidFill>
                  <a:schemeClr val="dk1"/>
                </a:solidFill>
                <a:latin typeface="Arial"/>
                <a:ea typeface="Arial"/>
                <a:cs typeface="Arial"/>
                <a:sym typeface="Arial"/>
              </a:rPr>
              <a:t>COMPETENCIA MONOPOLICA</a:t>
            </a:r>
          </a:p>
        </p:txBody>
      </p:sp>
      <p:pic>
        <p:nvPicPr>
          <p:cNvPr id="335" name="Shape 335"/>
          <p:cNvPicPr preferRelativeResize="0"/>
          <p:nvPr>
            <p:ph idx="4294967295" type="body"/>
          </p:nvPr>
        </p:nvPicPr>
        <p:blipFill rotWithShape="1">
          <a:blip r:embed="rId3">
            <a:alphaModFix/>
          </a:blip>
          <a:srcRect b="0" l="0" r="0" t="0"/>
          <a:stretch/>
        </p:blipFill>
        <p:spPr>
          <a:xfrm>
            <a:off x="6372225" y="4051300"/>
            <a:ext cx="2638424" cy="2114550"/>
          </a:xfrm>
          <a:prstGeom prst="rect">
            <a:avLst/>
          </a:prstGeom>
          <a:noFill/>
          <a:ln>
            <a:noFill/>
          </a:ln>
        </p:spPr>
      </p:pic>
      <p:pic>
        <p:nvPicPr>
          <p:cNvPr id="336" name="Shape 336"/>
          <p:cNvPicPr preferRelativeResize="0"/>
          <p:nvPr/>
        </p:nvPicPr>
        <p:blipFill rotWithShape="1">
          <a:blip r:embed="rId4">
            <a:alphaModFix/>
          </a:blip>
          <a:srcRect b="0" l="0" r="0" t="0"/>
          <a:stretch/>
        </p:blipFill>
        <p:spPr>
          <a:xfrm>
            <a:off x="3851275" y="1557337"/>
            <a:ext cx="2228850" cy="2552699"/>
          </a:xfrm>
          <a:prstGeom prst="rect">
            <a:avLst/>
          </a:prstGeom>
          <a:noFill/>
          <a:ln>
            <a:noFill/>
          </a:ln>
        </p:spPr>
      </p:pic>
      <p:pic>
        <p:nvPicPr>
          <p:cNvPr id="337" name="Shape 337"/>
          <p:cNvPicPr preferRelativeResize="0"/>
          <p:nvPr/>
        </p:nvPicPr>
        <p:blipFill rotWithShape="1">
          <a:blip r:embed="rId5">
            <a:alphaModFix/>
          </a:blip>
          <a:srcRect b="0" l="0" r="0" t="0"/>
          <a:stretch/>
        </p:blipFill>
        <p:spPr>
          <a:xfrm>
            <a:off x="6300787" y="1514475"/>
            <a:ext cx="2411411" cy="2562225"/>
          </a:xfrm>
          <a:prstGeom prst="rect">
            <a:avLst/>
          </a:prstGeom>
          <a:noFill/>
          <a:ln>
            <a:noFill/>
          </a:ln>
        </p:spPr>
      </p:pic>
      <p:pic>
        <p:nvPicPr>
          <p:cNvPr id="338" name="Shape 338"/>
          <p:cNvPicPr preferRelativeResize="0"/>
          <p:nvPr>
            <p:ph idx="4294967295" type="body"/>
          </p:nvPr>
        </p:nvPicPr>
        <p:blipFill rotWithShape="1">
          <a:blip r:embed="rId6">
            <a:alphaModFix/>
          </a:blip>
          <a:srcRect b="0" l="0" r="0" t="0"/>
          <a:stretch/>
        </p:blipFill>
        <p:spPr>
          <a:xfrm>
            <a:off x="3419475" y="4292600"/>
            <a:ext cx="2447925" cy="2303461"/>
          </a:xfrm>
          <a:prstGeom prst="rect">
            <a:avLst/>
          </a:prstGeom>
          <a:noFill/>
          <a:ln>
            <a:noFill/>
          </a:ln>
        </p:spPr>
      </p:pic>
      <p:pic>
        <p:nvPicPr>
          <p:cNvPr id="339" name="Shape 339"/>
          <p:cNvPicPr preferRelativeResize="0"/>
          <p:nvPr/>
        </p:nvPicPr>
        <p:blipFill rotWithShape="1">
          <a:blip r:embed="rId7">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43" name="Shape 343"/>
        <p:cNvGrpSpPr/>
        <p:nvPr/>
      </p:nvGrpSpPr>
      <p:grpSpPr>
        <a:xfrm>
          <a:off x="0" y="0"/>
          <a:ext cx="0" cy="0"/>
          <a:chOff x="0" y="0"/>
          <a:chExt cx="0" cy="0"/>
        </a:xfrm>
      </p:grpSpPr>
      <p:sp>
        <p:nvSpPr>
          <p:cNvPr id="344" name="Shape 344"/>
          <p:cNvSpPr txBox="1"/>
          <p:nvPr>
            <p:ph idx="4294967295" type="title"/>
          </p:nvPr>
        </p:nvSpPr>
        <p:spPr>
          <a:xfrm>
            <a:off x="250825" y="260350"/>
            <a:ext cx="3716336"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COMPETENCIA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PERFECTA</a:t>
            </a:r>
          </a:p>
        </p:txBody>
      </p:sp>
      <p:sp>
        <p:nvSpPr>
          <p:cNvPr id="345" name="Shape 345"/>
          <p:cNvSpPr txBox="1"/>
          <p:nvPr>
            <p:ph idx="4294967295" type="body"/>
          </p:nvPr>
        </p:nvSpPr>
        <p:spPr>
          <a:xfrm>
            <a:off x="323850" y="1700211"/>
            <a:ext cx="4968875" cy="4824412"/>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El mercado de competencia perfecta tiene la </a:t>
            </a:r>
            <a:r>
              <a:rPr b="1" i="1" lang="en-US" sz="1800" u="sng" cap="none" strike="noStrike">
                <a:solidFill>
                  <a:schemeClr val="dk1"/>
                </a:solidFill>
                <a:latin typeface="Arial"/>
                <a:ea typeface="Arial"/>
                <a:cs typeface="Arial"/>
                <a:sym typeface="Arial"/>
              </a:rPr>
              <a:t>condición ideal</a:t>
            </a:r>
            <a:r>
              <a:rPr b="0" i="0" lang="en-US" sz="1800" u="none" cap="none" strike="noStrike">
                <a:solidFill>
                  <a:schemeClr val="dk1"/>
                </a:solidFill>
                <a:latin typeface="Arial"/>
                <a:ea typeface="Arial"/>
                <a:cs typeface="Arial"/>
                <a:sym typeface="Arial"/>
              </a:rPr>
              <a:t> y se lo considera de </a:t>
            </a:r>
            <a:r>
              <a:rPr b="1" i="1" lang="en-US" sz="1800" u="sng" cap="none" strike="noStrike">
                <a:solidFill>
                  <a:schemeClr val="dk1"/>
                </a:solidFill>
                <a:latin typeface="Arial"/>
                <a:ea typeface="Arial"/>
                <a:cs typeface="Arial"/>
                <a:sym typeface="Arial"/>
              </a:rPr>
              <a:t>laboratorio</a:t>
            </a:r>
            <a:r>
              <a:rPr b="0" i="0" lang="en-US" sz="1800" u="none" cap="none" strike="noStrike">
                <a:solidFill>
                  <a:schemeClr val="dk1"/>
                </a:solidFill>
                <a:latin typeface="Arial"/>
                <a:ea typeface="Arial"/>
                <a:cs typeface="Arial"/>
                <a:sym typeface="Arial"/>
              </a:rPr>
              <a:t>, sus características principales son:</a:t>
            </a:r>
          </a:p>
          <a:p>
            <a:pPr indent="-342900" lvl="0" marL="342900" marR="0" rtl="0" algn="l">
              <a:lnSpc>
                <a:spcPct val="80000"/>
              </a:lnSpc>
              <a:spcBef>
                <a:spcPts val="360"/>
              </a:spcBef>
              <a:spcAft>
                <a:spcPts val="0"/>
              </a:spcAft>
              <a:buClr>
                <a:schemeClr val="dk2"/>
              </a:buClr>
              <a:buSzPct val="25000"/>
              <a:buFont typeface="Noto Sans Symbols"/>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80000"/>
              </a:lnSpc>
              <a:spcBef>
                <a:spcPts val="320"/>
              </a:spcBef>
              <a:spcAft>
                <a:spcPts val="0"/>
              </a:spcAft>
              <a:buClr>
                <a:schemeClr val="dk2"/>
              </a:buClr>
              <a:buSzPct val="70000"/>
              <a:buFont typeface="Noto Sans Symbols"/>
              <a:buAutoNum type="arabicPeriod"/>
            </a:pPr>
            <a:r>
              <a:rPr b="1" i="0" lang="en-US" sz="1600" u="none" cap="none" strike="noStrike">
                <a:solidFill>
                  <a:schemeClr val="dk1"/>
                </a:solidFill>
                <a:latin typeface="Arial"/>
                <a:ea typeface="Arial"/>
                <a:cs typeface="Arial"/>
                <a:sym typeface="Arial"/>
              </a:rPr>
              <a:t>Atomización, eso significa que hay muchos compradores y vendedores y ninguno tiene tamaño comparable con el mercado.</a:t>
            </a:r>
          </a:p>
          <a:p>
            <a:pPr indent="-342900" lvl="0" marL="342900" marR="0" rtl="0" algn="l">
              <a:lnSpc>
                <a:spcPct val="80000"/>
              </a:lnSpc>
              <a:spcBef>
                <a:spcPts val="320"/>
              </a:spcBef>
              <a:spcAft>
                <a:spcPts val="0"/>
              </a:spcAft>
              <a:buClr>
                <a:schemeClr val="dk2"/>
              </a:buClr>
              <a:buSzPct val="25000"/>
              <a:buFont typeface="Noto Sans Symbols"/>
              <a:buNone/>
            </a:pPr>
            <a:r>
              <a:t/>
            </a:r>
            <a:endParaRPr b="1" i="0" sz="1600" u="none" cap="none" strike="noStrike">
              <a:solidFill>
                <a:srgbClr val="33CC33"/>
              </a:solidFill>
              <a:latin typeface="Arial"/>
              <a:ea typeface="Arial"/>
              <a:cs typeface="Arial"/>
              <a:sym typeface="Arial"/>
            </a:endParaRPr>
          </a:p>
          <a:p>
            <a:pPr indent="-342900" lvl="0" marL="342900" marR="0" rtl="0" algn="l">
              <a:lnSpc>
                <a:spcPct val="80000"/>
              </a:lnSpc>
              <a:spcBef>
                <a:spcPts val="320"/>
              </a:spcBef>
              <a:spcAft>
                <a:spcPts val="0"/>
              </a:spcAft>
              <a:buClr>
                <a:schemeClr val="dk2"/>
              </a:buClr>
              <a:buSzPct val="70000"/>
              <a:buFont typeface="Noto Sans Symbols"/>
              <a:buAutoNum type="arabicPeriod"/>
            </a:pPr>
            <a:r>
              <a:rPr b="1" i="0" lang="en-US" sz="1600" u="none" cap="none" strike="noStrike">
                <a:solidFill>
                  <a:schemeClr val="dk1"/>
                </a:solidFill>
                <a:latin typeface="Arial"/>
                <a:ea typeface="Arial"/>
                <a:cs typeface="Arial"/>
                <a:sym typeface="Arial"/>
              </a:rPr>
              <a:t>Producto homogéneo, los consumidores no pueden identificar que productor fabricó el producto</a:t>
            </a:r>
            <a:r>
              <a:rPr b="1" i="0" lang="en-US" sz="1600" u="none" cap="none" strike="noStrike">
                <a:solidFill>
                  <a:srgbClr val="CE5332"/>
                </a:solidFill>
                <a:latin typeface="Arial"/>
                <a:ea typeface="Arial"/>
                <a:cs typeface="Arial"/>
                <a:sym typeface="Arial"/>
              </a:rPr>
              <a:t>.</a:t>
            </a:r>
          </a:p>
          <a:p>
            <a:pPr indent="-342900" lvl="0" marL="342900" marR="0" rtl="0" algn="l">
              <a:lnSpc>
                <a:spcPct val="80000"/>
              </a:lnSpc>
              <a:spcBef>
                <a:spcPts val="320"/>
              </a:spcBef>
              <a:spcAft>
                <a:spcPts val="0"/>
              </a:spcAft>
              <a:buClr>
                <a:schemeClr val="dk2"/>
              </a:buClr>
              <a:buSzPct val="25000"/>
              <a:buFont typeface="Noto Sans Symbols"/>
              <a:buNone/>
            </a:pPr>
            <a:r>
              <a:t/>
            </a:r>
            <a:endParaRPr b="1" i="0" sz="1600" u="none" cap="none" strike="noStrike">
              <a:solidFill>
                <a:srgbClr val="CE5332"/>
              </a:solidFill>
              <a:latin typeface="Arial"/>
              <a:ea typeface="Arial"/>
              <a:cs typeface="Arial"/>
              <a:sym typeface="Arial"/>
            </a:endParaRPr>
          </a:p>
          <a:p>
            <a:pPr indent="-342900" lvl="0" marL="342900" marR="0" rtl="0" algn="l">
              <a:lnSpc>
                <a:spcPct val="80000"/>
              </a:lnSpc>
              <a:spcBef>
                <a:spcPts val="320"/>
              </a:spcBef>
              <a:spcAft>
                <a:spcPts val="0"/>
              </a:spcAft>
              <a:buClr>
                <a:schemeClr val="dk2"/>
              </a:buClr>
              <a:buSzPct val="70000"/>
              <a:buFont typeface="Noto Sans Symbols"/>
              <a:buAutoNum type="arabicPeriod"/>
            </a:pPr>
            <a:r>
              <a:rPr b="1" i="0" lang="en-US" sz="1600" u="none" cap="none" strike="noStrike">
                <a:solidFill>
                  <a:schemeClr val="dk1"/>
                </a:solidFill>
                <a:latin typeface="Arial"/>
                <a:ea typeface="Arial"/>
                <a:cs typeface="Arial"/>
                <a:sym typeface="Arial"/>
              </a:rPr>
              <a:t>No hay barreras de entrada ni de salida al mercado.</a:t>
            </a:r>
          </a:p>
          <a:p>
            <a:pPr indent="-342900" lvl="0" marL="342900" marR="0" rtl="0" algn="l">
              <a:lnSpc>
                <a:spcPct val="80000"/>
              </a:lnSpc>
              <a:spcBef>
                <a:spcPts val="320"/>
              </a:spcBef>
              <a:spcAft>
                <a:spcPts val="0"/>
              </a:spcAft>
              <a:buClr>
                <a:schemeClr val="dk2"/>
              </a:buClr>
              <a:buSzPct val="25000"/>
              <a:buFont typeface="Noto Sans Symbols"/>
              <a:buNone/>
            </a:pPr>
            <a:r>
              <a:t/>
            </a:r>
            <a:endParaRPr b="1" i="0" sz="1600" u="none" cap="none" strike="noStrike">
              <a:solidFill>
                <a:schemeClr val="dk1"/>
              </a:solidFill>
              <a:latin typeface="Arial"/>
              <a:ea typeface="Arial"/>
              <a:cs typeface="Arial"/>
              <a:sym typeface="Arial"/>
            </a:endParaRPr>
          </a:p>
          <a:p>
            <a:pPr indent="-342900" lvl="0" marL="342900" marR="0" rtl="0" algn="l">
              <a:lnSpc>
                <a:spcPct val="80000"/>
              </a:lnSpc>
              <a:spcBef>
                <a:spcPts val="320"/>
              </a:spcBef>
              <a:spcAft>
                <a:spcPts val="0"/>
              </a:spcAft>
              <a:buClr>
                <a:schemeClr val="dk2"/>
              </a:buClr>
              <a:buSzPct val="70000"/>
              <a:buFont typeface="Noto Sans Symbols"/>
              <a:buAutoNum type="arabicPeriod"/>
            </a:pPr>
            <a:r>
              <a:rPr b="1" i="0" lang="en-US" sz="1600" u="none" cap="none" strike="noStrike">
                <a:solidFill>
                  <a:schemeClr val="dk1"/>
                </a:solidFill>
                <a:latin typeface="Arial"/>
                <a:ea typeface="Arial"/>
                <a:cs typeface="Arial"/>
                <a:sym typeface="Arial"/>
              </a:rPr>
              <a:t>Transparencia, se conocen instantáneamente todas las condiciones  de las operaciones realizadas</a:t>
            </a:r>
            <a:r>
              <a:rPr b="0" i="0" lang="en-US" sz="1600" u="none" cap="none" strike="noStrike">
                <a:solidFill>
                  <a:schemeClr val="dk1"/>
                </a:solidFill>
                <a:latin typeface="Arial"/>
                <a:ea typeface="Arial"/>
                <a:cs typeface="Arial"/>
                <a:sym typeface="Arial"/>
              </a:rPr>
              <a:t>.</a:t>
            </a:r>
          </a:p>
        </p:txBody>
      </p:sp>
      <p:pic>
        <p:nvPicPr>
          <p:cNvPr id="346" name="Shape 346"/>
          <p:cNvPicPr preferRelativeResize="0"/>
          <p:nvPr>
            <p:ph idx="4294967295" type="body"/>
          </p:nvPr>
        </p:nvPicPr>
        <p:blipFill rotWithShape="1">
          <a:blip r:embed="rId3">
            <a:alphaModFix/>
          </a:blip>
          <a:srcRect b="0" l="0" r="0" t="0"/>
          <a:stretch/>
        </p:blipFill>
        <p:spPr>
          <a:xfrm>
            <a:off x="5292725" y="1628775"/>
            <a:ext cx="2014536" cy="1355724"/>
          </a:xfrm>
          <a:prstGeom prst="rect">
            <a:avLst/>
          </a:prstGeom>
          <a:noFill/>
          <a:ln>
            <a:noFill/>
          </a:ln>
        </p:spPr>
      </p:pic>
      <p:pic>
        <p:nvPicPr>
          <p:cNvPr id="347" name="Shape 347"/>
          <p:cNvPicPr preferRelativeResize="0"/>
          <p:nvPr>
            <p:ph idx="4294967295" type="body"/>
          </p:nvPr>
        </p:nvPicPr>
        <p:blipFill rotWithShape="1">
          <a:blip r:embed="rId4">
            <a:alphaModFix/>
          </a:blip>
          <a:srcRect b="0" l="0" r="0" t="0"/>
          <a:stretch/>
        </p:blipFill>
        <p:spPr>
          <a:xfrm>
            <a:off x="4932362" y="333375"/>
            <a:ext cx="3009899" cy="609599"/>
          </a:xfrm>
          <a:prstGeom prst="rect">
            <a:avLst/>
          </a:prstGeom>
          <a:noFill/>
          <a:ln>
            <a:noFill/>
          </a:ln>
        </p:spPr>
      </p:pic>
      <p:pic>
        <p:nvPicPr>
          <p:cNvPr id="348" name="Shape 348"/>
          <p:cNvPicPr preferRelativeResize="0"/>
          <p:nvPr/>
        </p:nvPicPr>
        <p:blipFill rotWithShape="1">
          <a:blip r:embed="rId5">
            <a:alphaModFix/>
          </a:blip>
          <a:srcRect b="0" l="0" r="0" t="0"/>
          <a:stretch/>
        </p:blipFill>
        <p:spPr>
          <a:xfrm>
            <a:off x="6804025" y="2997200"/>
            <a:ext cx="2039937" cy="1809750"/>
          </a:xfrm>
          <a:prstGeom prst="rect">
            <a:avLst/>
          </a:prstGeom>
          <a:noFill/>
          <a:ln>
            <a:noFill/>
          </a:ln>
        </p:spPr>
      </p:pic>
      <p:pic>
        <p:nvPicPr>
          <p:cNvPr id="349" name="Shape 349"/>
          <p:cNvPicPr preferRelativeResize="0"/>
          <p:nvPr/>
        </p:nvPicPr>
        <p:blipFill rotWithShape="1">
          <a:blip r:embed="rId6">
            <a:alphaModFix/>
          </a:blip>
          <a:srcRect b="0" l="0" r="0" t="0"/>
          <a:stretch/>
        </p:blipFill>
        <p:spPr>
          <a:xfrm>
            <a:off x="5724525" y="4868862"/>
            <a:ext cx="1684336" cy="1684336"/>
          </a:xfrm>
          <a:prstGeom prst="rect">
            <a:avLst/>
          </a:prstGeom>
          <a:noFill/>
          <a:ln>
            <a:noFill/>
          </a:ln>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53" name="Shape 353"/>
        <p:cNvGrpSpPr/>
        <p:nvPr/>
      </p:nvGrpSpPr>
      <p:grpSpPr>
        <a:xfrm>
          <a:off x="0" y="0"/>
          <a:ext cx="0" cy="0"/>
          <a:chOff x="0" y="0"/>
          <a:chExt cx="0" cy="0"/>
        </a:xfrm>
      </p:grpSpPr>
      <p:sp>
        <p:nvSpPr>
          <p:cNvPr id="354" name="Shape 354"/>
          <p:cNvSpPr txBox="1"/>
          <p:nvPr>
            <p:ph idx="4294967295" type="title"/>
          </p:nvPr>
        </p:nvSpPr>
        <p:spPr>
          <a:xfrm>
            <a:off x="179386" y="188911"/>
            <a:ext cx="4221161" cy="157797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DEMANDA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DIRIGIDA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AL PRODUCTOR</a:t>
            </a:r>
          </a:p>
        </p:txBody>
      </p:sp>
      <p:sp>
        <p:nvSpPr>
          <p:cNvPr id="355" name="Shape 355"/>
          <p:cNvSpPr txBox="1"/>
          <p:nvPr>
            <p:ph idx="4294967295" type="body"/>
          </p:nvPr>
        </p:nvSpPr>
        <p:spPr>
          <a:xfrm>
            <a:off x="4427537" y="2133600"/>
            <a:ext cx="4465636" cy="1295400"/>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El productor es </a:t>
            </a:r>
            <a:r>
              <a:rPr b="0" i="0" lang="en-US" sz="1800" u="none" cap="none" strike="noStrike">
                <a:solidFill>
                  <a:srgbClr val="FF3300"/>
                </a:solidFill>
                <a:latin typeface="Arial"/>
                <a:ea typeface="Arial"/>
                <a:cs typeface="Arial"/>
                <a:sym typeface="Arial"/>
              </a:rPr>
              <a:t>precio - aceptante</a:t>
            </a:r>
            <a:r>
              <a:rPr b="0" i="0" lang="en-US" sz="1800" u="none" cap="none" strike="noStrike">
                <a:solidFill>
                  <a:schemeClr val="dk1"/>
                </a:solidFill>
                <a:latin typeface="Arial"/>
                <a:ea typeface="Arial"/>
                <a:cs typeface="Arial"/>
                <a:sym typeface="Arial"/>
              </a:rPr>
              <a:t>, </a:t>
            </a:r>
            <a:r>
              <a:rPr b="1" i="0" lang="en-US" sz="1800" u="none" cap="none" strike="noStrike">
                <a:solidFill>
                  <a:schemeClr val="lt2"/>
                </a:solidFill>
                <a:latin typeface="Arial"/>
                <a:ea typeface="Arial"/>
                <a:cs typeface="Arial"/>
                <a:sym typeface="Arial"/>
              </a:rPr>
              <a:t>la demanda dirigida a cada productor</a:t>
            </a:r>
            <a:r>
              <a:rPr b="0" i="0" lang="en-US" sz="1800" u="none" cap="none" strike="noStrike">
                <a:solidFill>
                  <a:schemeClr val="dk1"/>
                </a:solidFill>
                <a:latin typeface="Arial"/>
                <a:ea typeface="Arial"/>
                <a:cs typeface="Arial"/>
                <a:sym typeface="Arial"/>
              </a:rPr>
              <a:t> es una función lineal (de pendiente  ∞), a ese precio el productor puede entregar lo que quiera</a:t>
            </a:r>
          </a:p>
        </p:txBody>
      </p:sp>
      <p:pic>
        <p:nvPicPr>
          <p:cNvPr id="356" name="Shape 356"/>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
        <p:nvSpPr>
          <p:cNvPr id="357" name="Shape 357"/>
          <p:cNvSpPr/>
          <p:nvPr/>
        </p:nvSpPr>
        <p:spPr>
          <a:xfrm>
            <a:off x="1116012" y="1773236"/>
            <a:ext cx="9524" cy="4668836"/>
          </a:xfrm>
          <a:custGeom>
            <a:pathLst>
              <a:path extrusionOk="0" h="120000" w="120000">
                <a:moveTo>
                  <a:pt x="120000" y="0"/>
                </a:moveTo>
                <a:lnTo>
                  <a:pt x="0" y="120000"/>
                </a:ln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58" name="Shape 358"/>
          <p:cNvCxnSpPr/>
          <p:nvPr/>
        </p:nvCxnSpPr>
        <p:spPr>
          <a:xfrm>
            <a:off x="900112" y="6021387"/>
            <a:ext cx="7559675" cy="0"/>
          </a:xfrm>
          <a:prstGeom prst="straightConnector1">
            <a:avLst/>
          </a:prstGeom>
          <a:noFill/>
          <a:ln cap="flat" cmpd="sng" w="44450">
            <a:solidFill>
              <a:schemeClr val="dk1"/>
            </a:solidFill>
            <a:prstDash val="solid"/>
            <a:miter/>
            <a:headEnd len="med" w="med" type="none"/>
            <a:tailEnd len="med" w="med" type="none"/>
          </a:ln>
        </p:spPr>
      </p:cxnSp>
      <p:sp>
        <p:nvSpPr>
          <p:cNvPr id="359" name="Shape 359"/>
          <p:cNvSpPr/>
          <p:nvPr/>
        </p:nvSpPr>
        <p:spPr>
          <a:xfrm>
            <a:off x="4438650" y="2060575"/>
            <a:ext cx="61912" cy="3970337"/>
          </a:xfrm>
          <a:custGeom>
            <a:pathLst>
              <a:path extrusionOk="0" h="120000" w="120000">
                <a:moveTo>
                  <a:pt x="120000" y="0"/>
                </a:moveTo>
                <a:lnTo>
                  <a:pt x="0" y="120000"/>
                </a:lnTo>
              </a:path>
            </a:pathLst>
          </a:custGeom>
          <a:noFill/>
          <a:ln cap="flat" cmpd="sng" w="508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0" name="Shape 360"/>
          <p:cNvSpPr/>
          <p:nvPr/>
        </p:nvSpPr>
        <p:spPr>
          <a:xfrm>
            <a:off x="1763711" y="2565400"/>
            <a:ext cx="2473325" cy="2684462"/>
          </a:xfrm>
          <a:custGeom>
            <a:pathLst>
              <a:path extrusionOk="0" h="120000" w="120000">
                <a:moveTo>
                  <a:pt x="0" y="0"/>
                </a:moveTo>
                <a:cubicBezTo>
                  <a:pt x="2310" y="7593"/>
                  <a:pt x="8857" y="33069"/>
                  <a:pt x="13786" y="45558"/>
                </a:cubicBezTo>
                <a:cubicBezTo>
                  <a:pt x="18716" y="58048"/>
                  <a:pt x="23106" y="66138"/>
                  <a:pt x="29807" y="75079"/>
                </a:cubicBezTo>
                <a:cubicBezTo>
                  <a:pt x="36508" y="84021"/>
                  <a:pt x="44056" y="92607"/>
                  <a:pt x="53838" y="99207"/>
                </a:cubicBezTo>
                <a:cubicBezTo>
                  <a:pt x="63620" y="105807"/>
                  <a:pt x="77715" y="111129"/>
                  <a:pt x="88729" y="114606"/>
                </a:cubicBezTo>
                <a:cubicBezTo>
                  <a:pt x="99743" y="118083"/>
                  <a:pt x="113530" y="118864"/>
                  <a:pt x="120000" y="120000"/>
                </a:cubicBezTo>
              </a:path>
            </a:pathLst>
          </a:custGeom>
          <a:noFill/>
          <a:ln cap="flat" cmpd="sng" w="44450">
            <a:solidFill>
              <a:srgbClr val="FF66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1" name="Shape 361"/>
          <p:cNvSpPr/>
          <p:nvPr/>
        </p:nvSpPr>
        <p:spPr>
          <a:xfrm>
            <a:off x="1403350" y="2060575"/>
            <a:ext cx="2412999" cy="2803524"/>
          </a:xfrm>
          <a:custGeom>
            <a:pathLst>
              <a:path extrusionOk="0" h="120000" w="120000">
                <a:moveTo>
                  <a:pt x="0" y="120000"/>
                </a:moveTo>
                <a:cubicBezTo>
                  <a:pt x="5052" y="118912"/>
                  <a:pt x="22026" y="115651"/>
                  <a:pt x="30552" y="113612"/>
                </a:cubicBezTo>
                <a:cubicBezTo>
                  <a:pt x="39078" y="111574"/>
                  <a:pt x="44210" y="111370"/>
                  <a:pt x="51394" y="107836"/>
                </a:cubicBezTo>
                <a:cubicBezTo>
                  <a:pt x="58578" y="104303"/>
                  <a:pt x="66394" y="100226"/>
                  <a:pt x="73815" y="92412"/>
                </a:cubicBezTo>
                <a:cubicBezTo>
                  <a:pt x="81236" y="84597"/>
                  <a:pt x="90078" y="71687"/>
                  <a:pt x="96157" y="61019"/>
                </a:cubicBezTo>
                <a:cubicBezTo>
                  <a:pt x="102236" y="50351"/>
                  <a:pt x="106342" y="38459"/>
                  <a:pt x="110289" y="28267"/>
                </a:cubicBezTo>
                <a:cubicBezTo>
                  <a:pt x="114236" y="18074"/>
                  <a:pt x="118026" y="5911"/>
                  <a:pt x="120000" y="0"/>
                </a:cubicBez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2" name="Shape 362"/>
          <p:cNvSpPr txBox="1"/>
          <p:nvPr/>
        </p:nvSpPr>
        <p:spPr>
          <a:xfrm>
            <a:off x="2916236" y="6092825"/>
            <a:ext cx="10794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CANTIDAD</a:t>
            </a:r>
          </a:p>
        </p:txBody>
      </p:sp>
      <p:sp>
        <p:nvSpPr>
          <p:cNvPr id="363" name="Shape 363"/>
          <p:cNvSpPr txBox="1"/>
          <p:nvPr/>
        </p:nvSpPr>
        <p:spPr>
          <a:xfrm>
            <a:off x="8027986" y="6094412"/>
            <a:ext cx="936624"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CANTIDAD</a:t>
            </a:r>
          </a:p>
        </p:txBody>
      </p:sp>
      <p:cxnSp>
        <p:nvCxnSpPr>
          <p:cNvPr id="364" name="Shape 364"/>
          <p:cNvCxnSpPr/>
          <p:nvPr/>
        </p:nvCxnSpPr>
        <p:spPr>
          <a:xfrm>
            <a:off x="1116012" y="4508500"/>
            <a:ext cx="7777162" cy="0"/>
          </a:xfrm>
          <a:prstGeom prst="straightConnector1">
            <a:avLst/>
          </a:prstGeom>
          <a:noFill/>
          <a:ln cap="rnd" cmpd="sng" w="9525">
            <a:solidFill>
              <a:schemeClr val="dk1"/>
            </a:solidFill>
            <a:prstDash val="solid"/>
            <a:miter/>
            <a:headEnd len="med" w="med" type="none"/>
            <a:tailEnd len="med" w="med" type="none"/>
          </a:ln>
        </p:spPr>
      </p:cxnSp>
      <p:cxnSp>
        <p:nvCxnSpPr>
          <p:cNvPr id="365" name="Shape 365"/>
          <p:cNvCxnSpPr/>
          <p:nvPr/>
        </p:nvCxnSpPr>
        <p:spPr>
          <a:xfrm>
            <a:off x="2555875" y="4508500"/>
            <a:ext cx="0" cy="1512886"/>
          </a:xfrm>
          <a:prstGeom prst="straightConnector1">
            <a:avLst/>
          </a:prstGeom>
          <a:noFill/>
          <a:ln cap="flat" cmpd="sng" w="9525">
            <a:solidFill>
              <a:schemeClr val="dk1"/>
            </a:solidFill>
            <a:prstDash val="solid"/>
            <a:miter/>
            <a:headEnd len="med" w="med" type="none"/>
            <a:tailEnd len="med" w="med" type="none"/>
          </a:ln>
        </p:spPr>
      </p:cxnSp>
      <p:sp>
        <p:nvSpPr>
          <p:cNvPr id="366" name="Shape 366"/>
          <p:cNvSpPr txBox="1"/>
          <p:nvPr/>
        </p:nvSpPr>
        <p:spPr>
          <a:xfrm>
            <a:off x="250825" y="1844675"/>
            <a:ext cx="7207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a:t>
            </a:r>
          </a:p>
        </p:txBody>
      </p:sp>
      <p:sp>
        <p:nvSpPr>
          <p:cNvPr id="367" name="Shape 367"/>
          <p:cNvSpPr txBox="1"/>
          <p:nvPr/>
        </p:nvSpPr>
        <p:spPr>
          <a:xfrm>
            <a:off x="3419475" y="1771650"/>
            <a:ext cx="792162"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a:t>
            </a:r>
          </a:p>
        </p:txBody>
      </p:sp>
      <p:sp>
        <p:nvSpPr>
          <p:cNvPr id="368" name="Shape 368"/>
          <p:cNvSpPr txBox="1"/>
          <p:nvPr/>
        </p:nvSpPr>
        <p:spPr>
          <a:xfrm>
            <a:off x="1262062" y="5084762"/>
            <a:ext cx="1654174"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3300"/>
              </a:buClr>
              <a:buSzPct val="25000"/>
              <a:buFont typeface="Arial"/>
              <a:buNone/>
            </a:pPr>
            <a:r>
              <a:rPr b="0" i="0" lang="en-US" sz="1400" u="none" cap="none" strike="noStrike">
                <a:solidFill>
                  <a:srgbClr val="FF3300"/>
                </a:solidFill>
                <a:latin typeface="Arial"/>
                <a:ea typeface="Arial"/>
                <a:cs typeface="Arial"/>
                <a:sym typeface="Arial"/>
              </a:rPr>
              <a:t>OFERTA MERCADO</a:t>
            </a:r>
          </a:p>
        </p:txBody>
      </p:sp>
      <p:sp>
        <p:nvSpPr>
          <p:cNvPr id="369" name="Shape 369"/>
          <p:cNvSpPr txBox="1"/>
          <p:nvPr/>
        </p:nvSpPr>
        <p:spPr>
          <a:xfrm>
            <a:off x="1404937" y="2205036"/>
            <a:ext cx="1871662"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DEMANDA MERCADO</a:t>
            </a:r>
          </a:p>
        </p:txBody>
      </p:sp>
      <p:sp>
        <p:nvSpPr>
          <p:cNvPr id="370" name="Shape 370"/>
          <p:cNvSpPr txBox="1"/>
          <p:nvPr/>
        </p:nvSpPr>
        <p:spPr>
          <a:xfrm>
            <a:off x="-36511" y="4292600"/>
            <a:ext cx="1512886"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 de </a:t>
            </a:r>
          </a:p>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Mercado</a:t>
            </a:r>
          </a:p>
        </p:txBody>
      </p:sp>
      <p:sp>
        <p:nvSpPr>
          <p:cNvPr id="371" name="Shape 371"/>
          <p:cNvSpPr txBox="1"/>
          <p:nvPr/>
        </p:nvSpPr>
        <p:spPr>
          <a:xfrm>
            <a:off x="2195511" y="6021387"/>
            <a:ext cx="7207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000" u="none" cap="none" strike="noStrike">
                <a:solidFill>
                  <a:schemeClr val="dk1"/>
                </a:solidFill>
                <a:latin typeface="Arial"/>
                <a:ea typeface="Arial"/>
                <a:cs typeface="Arial"/>
                <a:sym typeface="Arial"/>
              </a:rPr>
              <a:t>Q</a:t>
            </a:r>
          </a:p>
        </p:txBody>
      </p:sp>
      <p:sp>
        <p:nvSpPr>
          <p:cNvPr id="372" name="Shape 372"/>
          <p:cNvSpPr txBox="1"/>
          <p:nvPr/>
        </p:nvSpPr>
        <p:spPr>
          <a:xfrm>
            <a:off x="3995737" y="3860800"/>
            <a:ext cx="4824412"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5050"/>
              </a:buClr>
              <a:buSzPct val="25000"/>
              <a:buFont typeface="Arial"/>
              <a:buNone/>
            </a:pPr>
            <a:r>
              <a:rPr b="1" i="0" lang="en-US" sz="1400" u="none" cap="none" strike="noStrike">
                <a:solidFill>
                  <a:srgbClr val="FF5050"/>
                </a:solidFill>
                <a:latin typeface="Arial"/>
                <a:ea typeface="Arial"/>
                <a:cs typeface="Arial"/>
                <a:sym typeface="Arial"/>
              </a:rPr>
              <a:t>DEMANDA DIRIGIDA A UN PRODUCTOR</a:t>
            </a:r>
            <a:r>
              <a:rPr b="1" i="0" lang="en-US" sz="1400" u="none" cap="none" strike="noStrike">
                <a:solidFill>
                  <a:schemeClr val="lt2"/>
                </a:solidFill>
                <a:latin typeface="Arial"/>
                <a:ea typeface="Arial"/>
                <a:cs typeface="Arial"/>
                <a:sym typeface="Arial"/>
              </a:rPr>
              <a:t> </a:t>
            </a:r>
          </a:p>
        </p:txBody>
      </p:sp>
      <p:sp>
        <p:nvSpPr>
          <p:cNvPr id="373" name="Shape 373"/>
          <p:cNvSpPr txBox="1"/>
          <p:nvPr/>
        </p:nvSpPr>
        <p:spPr>
          <a:xfrm>
            <a:off x="4427537" y="4652962"/>
            <a:ext cx="4716462" cy="1081086"/>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000" u="none" cap="none" strike="noStrike">
                <a:solidFill>
                  <a:schemeClr val="dk1"/>
                </a:solidFill>
                <a:latin typeface="Arial"/>
                <a:ea typeface="Arial"/>
                <a:cs typeface="Arial"/>
                <a:sym typeface="Arial"/>
              </a:rPr>
              <a:t>El productor entrega una cantidad tan pequeña que no es comparable con la cantidad de mercado.</a:t>
            </a:r>
          </a:p>
          <a:p>
            <a:pPr indent="0" lvl="0" marL="0" marR="0" rtl="0" algn="l">
              <a:lnSpc>
                <a:spcPct val="80000"/>
              </a:lnSpc>
              <a:spcBef>
                <a:spcPts val="400"/>
              </a:spcBef>
              <a:spcAft>
                <a:spcPts val="0"/>
              </a:spcAft>
              <a:buClr>
                <a:schemeClr val="dk1"/>
              </a:buClr>
              <a:buSzPct val="25000"/>
              <a:buFont typeface="Arial"/>
              <a:buNone/>
            </a:pPr>
            <a:r>
              <a:rPr b="0" i="0" lang="en-US" sz="2000" u="none" cap="none" strike="noStrike">
                <a:solidFill>
                  <a:schemeClr val="dk1"/>
                </a:solidFill>
                <a:latin typeface="Arial"/>
                <a:ea typeface="Arial"/>
                <a:cs typeface="Arial"/>
                <a:sym typeface="Arial"/>
              </a:rPr>
              <a:t>                         </a:t>
            </a:r>
            <a:r>
              <a:rPr b="1" i="0" lang="en-US" sz="2000" u="none" cap="none" strike="noStrike">
                <a:solidFill>
                  <a:schemeClr val="lt2"/>
                </a:solidFill>
                <a:latin typeface="Arial"/>
                <a:ea typeface="Arial"/>
                <a:cs typeface="Arial"/>
                <a:sym typeface="Arial"/>
              </a:rPr>
              <a:t>Q &gt; &gt; &gt; &gt; &gt; &gt; &gt; q</a:t>
            </a:r>
          </a:p>
        </p:txBody>
      </p:sp>
      <p:cxnSp>
        <p:nvCxnSpPr>
          <p:cNvPr id="374" name="Shape 374"/>
          <p:cNvCxnSpPr/>
          <p:nvPr/>
        </p:nvCxnSpPr>
        <p:spPr>
          <a:xfrm>
            <a:off x="4427537" y="4508500"/>
            <a:ext cx="4465636" cy="0"/>
          </a:xfrm>
          <a:prstGeom prst="straightConnector1">
            <a:avLst/>
          </a:prstGeom>
          <a:noFill/>
          <a:ln cap="flat" cmpd="sng" w="44450">
            <a:solidFill>
              <a:srgbClr val="FF0000"/>
            </a:solidFill>
            <a:prstDash val="solid"/>
            <a:miter/>
            <a:headEnd len="med" w="med" type="none"/>
            <a:tailEnd len="med" w="med" type="none"/>
          </a:ln>
        </p:spPr>
      </p:cxnSp>
      <p:sp>
        <p:nvSpPr>
          <p:cNvPr id="375" name="Shape 375"/>
          <p:cNvSpPr txBox="1"/>
          <p:nvPr/>
        </p:nvSpPr>
        <p:spPr>
          <a:xfrm>
            <a:off x="4643437" y="6021387"/>
            <a:ext cx="504824" cy="287337"/>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p>
        </p:txBody>
      </p:sp>
      <p:sp>
        <p:nvSpPr>
          <p:cNvPr id="376" name="Shape 376"/>
          <p:cNvSpPr txBox="1"/>
          <p:nvPr/>
        </p:nvSpPr>
        <p:spPr>
          <a:xfrm>
            <a:off x="5219700" y="6021387"/>
            <a:ext cx="504824" cy="503236"/>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a:t>
            </a:r>
          </a:p>
        </p:txBody>
      </p:sp>
      <p:sp>
        <p:nvSpPr>
          <p:cNvPr id="377" name="Shape 377"/>
          <p:cNvSpPr txBox="1"/>
          <p:nvPr/>
        </p:nvSpPr>
        <p:spPr>
          <a:xfrm>
            <a:off x="7019925" y="6021387"/>
            <a:ext cx="504824" cy="431799"/>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n</a:t>
            </a:r>
          </a:p>
        </p:txBody>
      </p:sp>
      <p:sp>
        <p:nvSpPr>
          <p:cNvPr id="378" name="Shape 378"/>
          <p:cNvSpPr txBox="1"/>
          <p:nvPr/>
        </p:nvSpPr>
        <p:spPr>
          <a:xfrm>
            <a:off x="6011862" y="6021387"/>
            <a:ext cx="504824" cy="287337"/>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a:t>
            </a:r>
          </a:p>
        </p:txBody>
      </p:sp>
      <p:pic>
        <p:nvPicPr>
          <p:cNvPr id="379" name="Shape 379"/>
          <p:cNvPicPr preferRelativeResize="0"/>
          <p:nvPr>
            <p:ph idx="4294967295" type="body"/>
          </p:nvPr>
        </p:nvPicPr>
        <p:blipFill rotWithShape="1">
          <a:blip r:embed="rId4">
            <a:alphaModFix/>
          </a:blip>
          <a:srcRect b="0" l="0" r="0" t="0"/>
          <a:stretch/>
        </p:blipFill>
        <p:spPr>
          <a:xfrm rot="2640000">
            <a:off x="3159124" y="3933824"/>
            <a:ext cx="1125536" cy="1125536"/>
          </a:xfrm>
          <a:prstGeom prst="rect">
            <a:avLst/>
          </a:prstGeom>
          <a:noFill/>
          <a:ln>
            <a:noFill/>
          </a:ln>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83" name="Shape 383"/>
        <p:cNvGrpSpPr/>
        <p:nvPr/>
      </p:nvGrpSpPr>
      <p:grpSpPr>
        <a:xfrm>
          <a:off x="0" y="0"/>
          <a:ext cx="0" cy="0"/>
          <a:chOff x="0" y="0"/>
          <a:chExt cx="0" cy="0"/>
        </a:xfrm>
      </p:grpSpPr>
      <p:sp>
        <p:nvSpPr>
          <p:cNvPr id="384" name="Shape 384"/>
          <p:cNvSpPr txBox="1"/>
          <p:nvPr>
            <p:ph type="title"/>
          </p:nvPr>
        </p:nvSpPr>
        <p:spPr>
          <a:xfrm>
            <a:off x="250825" y="188911"/>
            <a:ext cx="3860799" cy="16509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INGRESO TOTAL DEL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PRODUCTOR</a:t>
            </a:r>
          </a:p>
        </p:txBody>
      </p:sp>
      <p:sp>
        <p:nvSpPr>
          <p:cNvPr id="385" name="Shape 385"/>
          <p:cNvSpPr/>
          <p:nvPr/>
        </p:nvSpPr>
        <p:spPr>
          <a:xfrm>
            <a:off x="1547812" y="1773236"/>
            <a:ext cx="9524" cy="4668836"/>
          </a:xfrm>
          <a:custGeom>
            <a:pathLst>
              <a:path extrusionOk="0" h="120000" w="120000">
                <a:moveTo>
                  <a:pt x="120000" y="0"/>
                </a:moveTo>
                <a:lnTo>
                  <a:pt x="0" y="120000"/>
                </a:ln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86" name="Shape 386"/>
          <p:cNvCxnSpPr/>
          <p:nvPr/>
        </p:nvCxnSpPr>
        <p:spPr>
          <a:xfrm>
            <a:off x="900112" y="6021387"/>
            <a:ext cx="7559675" cy="0"/>
          </a:xfrm>
          <a:prstGeom prst="straightConnector1">
            <a:avLst/>
          </a:prstGeom>
          <a:noFill/>
          <a:ln cap="flat" cmpd="sng" w="44450">
            <a:solidFill>
              <a:schemeClr val="dk1"/>
            </a:solidFill>
            <a:prstDash val="solid"/>
            <a:miter/>
            <a:headEnd len="med" w="med" type="none"/>
            <a:tailEnd len="med" w="med" type="none"/>
          </a:ln>
        </p:spPr>
      </p:cxnSp>
      <p:sp>
        <p:nvSpPr>
          <p:cNvPr id="387" name="Shape 387"/>
          <p:cNvSpPr/>
          <p:nvPr/>
        </p:nvSpPr>
        <p:spPr>
          <a:xfrm flipH="1">
            <a:off x="4356100" y="1773236"/>
            <a:ext cx="71436" cy="4679950"/>
          </a:xfrm>
          <a:custGeom>
            <a:pathLst>
              <a:path extrusionOk="0" h="120000" w="120000">
                <a:moveTo>
                  <a:pt x="120000" y="0"/>
                </a:moveTo>
                <a:lnTo>
                  <a:pt x="0" y="120000"/>
                </a:lnTo>
              </a:path>
            </a:pathLst>
          </a:custGeom>
          <a:noFill/>
          <a:ln cap="flat" cmpd="sng" w="508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8" name="Shape 388"/>
          <p:cNvSpPr/>
          <p:nvPr/>
        </p:nvSpPr>
        <p:spPr>
          <a:xfrm>
            <a:off x="1763711" y="2565400"/>
            <a:ext cx="2473325" cy="2684462"/>
          </a:xfrm>
          <a:custGeom>
            <a:pathLst>
              <a:path extrusionOk="0" h="120000" w="120000">
                <a:moveTo>
                  <a:pt x="0" y="0"/>
                </a:moveTo>
                <a:cubicBezTo>
                  <a:pt x="2310" y="7593"/>
                  <a:pt x="8857" y="33069"/>
                  <a:pt x="13786" y="45558"/>
                </a:cubicBezTo>
                <a:cubicBezTo>
                  <a:pt x="18716" y="58048"/>
                  <a:pt x="23106" y="66138"/>
                  <a:pt x="29807" y="75079"/>
                </a:cubicBezTo>
                <a:cubicBezTo>
                  <a:pt x="36508" y="84021"/>
                  <a:pt x="44056" y="92607"/>
                  <a:pt x="53838" y="99207"/>
                </a:cubicBezTo>
                <a:cubicBezTo>
                  <a:pt x="63620" y="105807"/>
                  <a:pt x="77715" y="111129"/>
                  <a:pt x="88729" y="114606"/>
                </a:cubicBezTo>
                <a:cubicBezTo>
                  <a:pt x="99743" y="118083"/>
                  <a:pt x="113530" y="118864"/>
                  <a:pt x="120000" y="120000"/>
                </a:cubicBezTo>
              </a:path>
            </a:pathLst>
          </a:custGeom>
          <a:noFill/>
          <a:ln cap="flat" cmpd="sng" w="44450">
            <a:solidFill>
              <a:srgbClr val="FF66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9" name="Shape 389"/>
          <p:cNvSpPr/>
          <p:nvPr/>
        </p:nvSpPr>
        <p:spPr>
          <a:xfrm>
            <a:off x="1558925" y="2060575"/>
            <a:ext cx="2257425" cy="2781300"/>
          </a:xfrm>
          <a:custGeom>
            <a:pathLst>
              <a:path extrusionOk="0" h="120000" w="120000">
                <a:moveTo>
                  <a:pt x="0" y="120000"/>
                </a:moveTo>
                <a:cubicBezTo>
                  <a:pt x="4050" y="119109"/>
                  <a:pt x="16624" y="116369"/>
                  <a:pt x="24388" y="114520"/>
                </a:cubicBezTo>
                <a:cubicBezTo>
                  <a:pt x="32151" y="112671"/>
                  <a:pt x="38987" y="112260"/>
                  <a:pt x="46666" y="108698"/>
                </a:cubicBezTo>
                <a:cubicBezTo>
                  <a:pt x="54345" y="105136"/>
                  <a:pt x="62700" y="101027"/>
                  <a:pt x="70632" y="93150"/>
                </a:cubicBezTo>
                <a:cubicBezTo>
                  <a:pt x="78565" y="85273"/>
                  <a:pt x="88016" y="72260"/>
                  <a:pt x="94514" y="61506"/>
                </a:cubicBezTo>
                <a:cubicBezTo>
                  <a:pt x="101012" y="50753"/>
                  <a:pt x="105400" y="38767"/>
                  <a:pt x="109620" y="28493"/>
                </a:cubicBezTo>
                <a:cubicBezTo>
                  <a:pt x="113839" y="18219"/>
                  <a:pt x="117890" y="5958"/>
                  <a:pt x="120000" y="0"/>
                </a:cubicBez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0" name="Shape 390"/>
          <p:cNvSpPr txBox="1"/>
          <p:nvPr/>
        </p:nvSpPr>
        <p:spPr>
          <a:xfrm>
            <a:off x="2916236" y="6092825"/>
            <a:ext cx="10794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CANTIDAD</a:t>
            </a:r>
          </a:p>
        </p:txBody>
      </p:sp>
      <p:sp>
        <p:nvSpPr>
          <p:cNvPr id="391" name="Shape 391"/>
          <p:cNvSpPr txBox="1"/>
          <p:nvPr/>
        </p:nvSpPr>
        <p:spPr>
          <a:xfrm>
            <a:off x="8027986" y="6094412"/>
            <a:ext cx="936624"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CANTIDAD</a:t>
            </a:r>
          </a:p>
        </p:txBody>
      </p:sp>
      <p:cxnSp>
        <p:nvCxnSpPr>
          <p:cNvPr id="392" name="Shape 392"/>
          <p:cNvCxnSpPr/>
          <p:nvPr/>
        </p:nvCxnSpPr>
        <p:spPr>
          <a:xfrm>
            <a:off x="1547812" y="4508500"/>
            <a:ext cx="1042986" cy="0"/>
          </a:xfrm>
          <a:prstGeom prst="straightConnector1">
            <a:avLst/>
          </a:prstGeom>
          <a:noFill/>
          <a:ln cap="rnd" cmpd="sng" w="9525">
            <a:solidFill>
              <a:schemeClr val="dk1"/>
            </a:solidFill>
            <a:prstDash val="solid"/>
            <a:miter/>
            <a:headEnd len="med" w="med" type="none"/>
            <a:tailEnd len="med" w="med" type="none"/>
          </a:ln>
        </p:spPr>
      </p:cxnSp>
      <p:cxnSp>
        <p:nvCxnSpPr>
          <p:cNvPr id="393" name="Shape 393"/>
          <p:cNvCxnSpPr/>
          <p:nvPr/>
        </p:nvCxnSpPr>
        <p:spPr>
          <a:xfrm>
            <a:off x="2555875" y="4508500"/>
            <a:ext cx="0" cy="1512886"/>
          </a:xfrm>
          <a:prstGeom prst="straightConnector1">
            <a:avLst/>
          </a:prstGeom>
          <a:noFill/>
          <a:ln cap="flat" cmpd="sng" w="9525">
            <a:solidFill>
              <a:schemeClr val="dk1"/>
            </a:solidFill>
            <a:prstDash val="solid"/>
            <a:miter/>
            <a:headEnd len="med" w="med" type="none"/>
            <a:tailEnd len="med" w="med" type="none"/>
          </a:ln>
        </p:spPr>
      </p:cxnSp>
      <p:sp>
        <p:nvSpPr>
          <p:cNvPr id="394" name="Shape 394"/>
          <p:cNvSpPr txBox="1"/>
          <p:nvPr/>
        </p:nvSpPr>
        <p:spPr>
          <a:xfrm>
            <a:off x="611187" y="1773236"/>
            <a:ext cx="7207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a:t>
            </a:r>
          </a:p>
        </p:txBody>
      </p:sp>
      <p:sp>
        <p:nvSpPr>
          <p:cNvPr id="395" name="Shape 395"/>
          <p:cNvSpPr txBox="1"/>
          <p:nvPr/>
        </p:nvSpPr>
        <p:spPr>
          <a:xfrm>
            <a:off x="2843211" y="1628775"/>
            <a:ext cx="158432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INGRESO TOTAL</a:t>
            </a:r>
          </a:p>
        </p:txBody>
      </p:sp>
      <p:sp>
        <p:nvSpPr>
          <p:cNvPr id="396" name="Shape 396"/>
          <p:cNvSpPr txBox="1"/>
          <p:nvPr/>
        </p:nvSpPr>
        <p:spPr>
          <a:xfrm>
            <a:off x="2773361" y="4221162"/>
            <a:ext cx="1654174"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3300"/>
              </a:buClr>
              <a:buSzPct val="25000"/>
              <a:buFont typeface="Arial"/>
              <a:buNone/>
            </a:pPr>
            <a:r>
              <a:rPr b="1" i="0" lang="en-US" sz="1200" u="none" cap="none" strike="noStrike">
                <a:solidFill>
                  <a:srgbClr val="FF3300"/>
                </a:solidFill>
                <a:latin typeface="Arial"/>
                <a:ea typeface="Arial"/>
                <a:cs typeface="Arial"/>
                <a:sym typeface="Arial"/>
              </a:rPr>
              <a:t>OFERTA MERCADO</a:t>
            </a:r>
          </a:p>
        </p:txBody>
      </p:sp>
      <p:sp>
        <p:nvSpPr>
          <p:cNvPr id="397" name="Shape 397"/>
          <p:cNvSpPr txBox="1"/>
          <p:nvPr/>
        </p:nvSpPr>
        <p:spPr>
          <a:xfrm>
            <a:off x="1547812" y="2349500"/>
            <a:ext cx="1871662"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DEMANDA MERCADO</a:t>
            </a:r>
          </a:p>
        </p:txBody>
      </p:sp>
      <p:sp>
        <p:nvSpPr>
          <p:cNvPr id="398" name="Shape 398"/>
          <p:cNvSpPr txBox="1"/>
          <p:nvPr/>
        </p:nvSpPr>
        <p:spPr>
          <a:xfrm>
            <a:off x="611187" y="4292600"/>
            <a:ext cx="1008062"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Precio de </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Mercado</a:t>
            </a:r>
          </a:p>
        </p:txBody>
      </p:sp>
      <p:sp>
        <p:nvSpPr>
          <p:cNvPr id="399" name="Shape 399"/>
          <p:cNvSpPr txBox="1"/>
          <p:nvPr/>
        </p:nvSpPr>
        <p:spPr>
          <a:xfrm>
            <a:off x="2195511" y="6021387"/>
            <a:ext cx="7207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000" u="none" cap="none" strike="noStrike">
                <a:solidFill>
                  <a:schemeClr val="dk1"/>
                </a:solidFill>
                <a:latin typeface="Arial"/>
                <a:ea typeface="Arial"/>
                <a:cs typeface="Arial"/>
                <a:sym typeface="Arial"/>
              </a:rPr>
              <a:t>Q</a:t>
            </a:r>
          </a:p>
        </p:txBody>
      </p:sp>
      <p:cxnSp>
        <p:nvCxnSpPr>
          <p:cNvPr id="400" name="Shape 400"/>
          <p:cNvCxnSpPr/>
          <p:nvPr/>
        </p:nvCxnSpPr>
        <p:spPr>
          <a:xfrm flipH="1" rot="10800000">
            <a:off x="4427537" y="2852736"/>
            <a:ext cx="2665411" cy="3168650"/>
          </a:xfrm>
          <a:prstGeom prst="straightConnector1">
            <a:avLst/>
          </a:prstGeom>
          <a:noFill/>
          <a:ln cap="flat" cmpd="sng" w="44450">
            <a:solidFill>
              <a:srgbClr val="000000"/>
            </a:solidFill>
            <a:prstDash val="solid"/>
            <a:miter/>
            <a:headEnd len="med" w="med" type="none"/>
            <a:tailEnd len="med" w="med" type="none"/>
          </a:ln>
        </p:spPr>
      </p:cxnSp>
      <p:sp>
        <p:nvSpPr>
          <p:cNvPr id="401" name="Shape 401"/>
          <p:cNvSpPr txBox="1"/>
          <p:nvPr/>
        </p:nvSpPr>
        <p:spPr>
          <a:xfrm>
            <a:off x="4643437" y="6021387"/>
            <a:ext cx="504824" cy="287337"/>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p>
        </p:txBody>
      </p:sp>
      <p:sp>
        <p:nvSpPr>
          <p:cNvPr id="402" name="Shape 402"/>
          <p:cNvSpPr txBox="1"/>
          <p:nvPr/>
        </p:nvSpPr>
        <p:spPr>
          <a:xfrm>
            <a:off x="5219700" y="6021387"/>
            <a:ext cx="504824" cy="503236"/>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a:t>
            </a:r>
          </a:p>
        </p:txBody>
      </p:sp>
      <p:sp>
        <p:nvSpPr>
          <p:cNvPr id="403" name="Shape 403"/>
          <p:cNvSpPr txBox="1"/>
          <p:nvPr/>
        </p:nvSpPr>
        <p:spPr>
          <a:xfrm>
            <a:off x="7019925" y="6021387"/>
            <a:ext cx="504824" cy="431799"/>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n</a:t>
            </a:r>
          </a:p>
        </p:txBody>
      </p:sp>
      <p:sp>
        <p:nvSpPr>
          <p:cNvPr id="404" name="Shape 404"/>
          <p:cNvSpPr txBox="1"/>
          <p:nvPr/>
        </p:nvSpPr>
        <p:spPr>
          <a:xfrm>
            <a:off x="6011862" y="6021387"/>
            <a:ext cx="504824" cy="287337"/>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a:t>
            </a:r>
          </a:p>
        </p:txBody>
      </p:sp>
      <p:sp>
        <p:nvSpPr>
          <p:cNvPr id="405" name="Shape 405"/>
          <p:cNvSpPr/>
          <p:nvPr/>
        </p:nvSpPr>
        <p:spPr>
          <a:xfrm>
            <a:off x="5003800" y="5300662"/>
            <a:ext cx="504824" cy="720724"/>
          </a:xfrm>
          <a:custGeom>
            <a:pathLst>
              <a:path extrusionOk="0" h="120000" w="120000">
                <a:moveTo>
                  <a:pt x="0" y="0"/>
                </a:moveTo>
                <a:cubicBezTo>
                  <a:pt x="25660" y="6872"/>
                  <a:pt x="51698" y="14008"/>
                  <a:pt x="68679" y="24052"/>
                </a:cubicBezTo>
                <a:cubicBezTo>
                  <a:pt x="85660" y="34096"/>
                  <a:pt x="93962" y="44140"/>
                  <a:pt x="102641" y="60000"/>
                </a:cubicBezTo>
                <a:cubicBezTo>
                  <a:pt x="111320" y="75859"/>
                  <a:pt x="115471" y="97797"/>
                  <a:pt x="120000" y="120000"/>
                </a:cubicBezTo>
              </a:path>
            </a:pathLst>
          </a:custGeom>
          <a:noFill/>
          <a:ln cap="flat" cmpd="sng" w="44450">
            <a:solidFill>
              <a:schemeClr val="lt2"/>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6" name="Shape 406"/>
          <p:cNvSpPr txBox="1"/>
          <p:nvPr/>
        </p:nvSpPr>
        <p:spPr>
          <a:xfrm>
            <a:off x="4643437" y="1773236"/>
            <a:ext cx="4319587" cy="1728787"/>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a:t>
            </a:r>
            <a:r>
              <a:rPr b="1" i="0" lang="en-US" sz="1800" u="none" cap="none" strike="noStrike">
                <a:solidFill>
                  <a:schemeClr val="lt2"/>
                </a:solidFill>
                <a:latin typeface="Arial"/>
                <a:ea typeface="Arial"/>
                <a:cs typeface="Arial"/>
                <a:sym typeface="Arial"/>
              </a:rPr>
              <a:t>ingreso total del productor</a:t>
            </a:r>
            <a:r>
              <a:rPr b="0" i="0" lang="en-US" sz="1800" u="none" cap="none" strike="noStrike">
                <a:solidFill>
                  <a:schemeClr val="dk1"/>
                </a:solidFill>
                <a:latin typeface="Arial"/>
                <a:ea typeface="Arial"/>
                <a:cs typeface="Arial"/>
                <a:sym typeface="Arial"/>
              </a:rPr>
              <a:t> es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una función lineal de pendiente igual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al precio de mercado.</a:t>
            </a:r>
          </a:p>
          <a:p>
            <a:pPr indent="0" lvl="0" marL="0" marR="0" rtl="0" algn="l">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ITotal = P * Q</a:t>
            </a:r>
          </a:p>
        </p:txBody>
      </p:sp>
      <p:sp>
        <p:nvSpPr>
          <p:cNvPr id="407" name="Shape 407"/>
          <p:cNvSpPr txBox="1"/>
          <p:nvPr/>
        </p:nvSpPr>
        <p:spPr>
          <a:xfrm>
            <a:off x="4859337" y="5516562"/>
            <a:ext cx="504824" cy="287337"/>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400" u="none" cap="none" strike="noStrike">
                <a:solidFill>
                  <a:schemeClr val="dk1"/>
                </a:solidFill>
                <a:latin typeface="Arial"/>
                <a:ea typeface="Arial"/>
                <a:cs typeface="Arial"/>
                <a:sym typeface="Arial"/>
              </a:rPr>
              <a:t>P</a:t>
            </a:r>
          </a:p>
        </p:txBody>
      </p:sp>
      <p:pic>
        <p:nvPicPr>
          <p:cNvPr id="408" name="Shape 408"/>
          <p:cNvPicPr preferRelativeResize="0"/>
          <p:nvPr>
            <p:ph idx="1"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2" name="Shape 412"/>
        <p:cNvGrpSpPr/>
        <p:nvPr/>
      </p:nvGrpSpPr>
      <p:grpSpPr>
        <a:xfrm>
          <a:off x="0" y="0"/>
          <a:ext cx="0" cy="0"/>
          <a:chOff x="0" y="0"/>
          <a:chExt cx="0" cy="0"/>
        </a:xfrm>
      </p:grpSpPr>
      <p:sp>
        <p:nvSpPr>
          <p:cNvPr id="413" name="Shape 413"/>
          <p:cNvSpPr txBox="1"/>
          <p:nvPr>
            <p:ph idx="4294967295" type="title"/>
          </p:nvPr>
        </p:nvSpPr>
        <p:spPr>
          <a:xfrm>
            <a:off x="107950" y="115886"/>
            <a:ext cx="4752974" cy="18002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INGRESO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MEDIO Y MARGINAL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DEL PRODUCTOR</a:t>
            </a:r>
          </a:p>
        </p:txBody>
      </p:sp>
      <p:sp>
        <p:nvSpPr>
          <p:cNvPr id="414" name="Shape 414"/>
          <p:cNvSpPr txBox="1"/>
          <p:nvPr>
            <p:ph idx="4294967295" type="body"/>
          </p:nvPr>
        </p:nvSpPr>
        <p:spPr>
          <a:xfrm>
            <a:off x="457200" y="1897061"/>
            <a:ext cx="8075612"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El </a:t>
            </a:r>
            <a:r>
              <a:rPr b="1" i="0" lang="en-US" sz="1900" u="none" cap="none" strike="noStrike">
                <a:solidFill>
                  <a:schemeClr val="lt2"/>
                </a:solidFill>
                <a:latin typeface="Arial"/>
                <a:ea typeface="Arial"/>
                <a:cs typeface="Arial"/>
                <a:sym typeface="Arial"/>
              </a:rPr>
              <a:t>Ingreso Medio</a:t>
            </a:r>
            <a:r>
              <a:rPr b="0" i="0" lang="en-US" sz="1900" u="none" cap="none" strike="noStrike">
                <a:solidFill>
                  <a:schemeClr val="dk1"/>
                </a:solidFill>
                <a:latin typeface="Arial"/>
                <a:ea typeface="Arial"/>
                <a:cs typeface="Arial"/>
                <a:sym typeface="Arial"/>
              </a:rPr>
              <a:t> del productor surge de:</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Ime = Itotal / Q = P * Q / Q = P</a:t>
            </a:r>
          </a:p>
          <a:p>
            <a:pPr indent="-342900" lvl="0" marL="342900" marR="0" rtl="0" algn="l">
              <a:lnSpc>
                <a:spcPct val="90000"/>
              </a:lnSpc>
              <a:spcBef>
                <a:spcPts val="380"/>
              </a:spcBef>
              <a:spcAft>
                <a:spcPts val="0"/>
              </a:spcAft>
              <a:buClr>
                <a:schemeClr val="dk2"/>
              </a:buClr>
              <a:buSzPct val="25000"/>
              <a:buFont typeface="Noto Sans Symbols"/>
              <a:buNone/>
            </a:pPr>
            <a:r>
              <a:t/>
            </a:r>
            <a:endParaRPr b="0" i="0" sz="1900" u="none" cap="none" strike="noStrike">
              <a:solidFill>
                <a:schemeClr val="dk1"/>
              </a:solidFill>
              <a:latin typeface="Arial"/>
              <a:ea typeface="Arial"/>
              <a:cs typeface="Arial"/>
              <a:sym typeface="Arial"/>
            </a:endParaRP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El </a:t>
            </a:r>
            <a:r>
              <a:rPr b="1" i="0" lang="en-US" sz="1900" u="none" cap="none" strike="noStrike">
                <a:solidFill>
                  <a:srgbClr val="F7094D"/>
                </a:solidFill>
                <a:latin typeface="Arial"/>
                <a:ea typeface="Arial"/>
                <a:cs typeface="Arial"/>
                <a:sym typeface="Arial"/>
              </a:rPr>
              <a:t>Ingreso Marginal</a:t>
            </a:r>
            <a:r>
              <a:rPr b="0" i="0" lang="en-US" sz="1900" u="none" cap="none" strike="noStrike">
                <a:solidFill>
                  <a:schemeClr val="dk1"/>
                </a:solidFill>
                <a:latin typeface="Arial"/>
                <a:ea typeface="Arial"/>
                <a:cs typeface="Arial"/>
                <a:sym typeface="Arial"/>
              </a:rPr>
              <a:t> del productor se determina con:</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Ima = ∂Itotal / ∂Q = P * ∂Q / ∂Q = P </a:t>
            </a:r>
          </a:p>
          <a:p>
            <a:pPr indent="-342900" lvl="0" marL="342900" marR="0" rtl="0" algn="l">
              <a:lnSpc>
                <a:spcPct val="90000"/>
              </a:lnSpc>
              <a:spcBef>
                <a:spcPts val="380"/>
              </a:spcBef>
              <a:spcAft>
                <a:spcPts val="0"/>
              </a:spcAft>
              <a:buClr>
                <a:schemeClr val="dk2"/>
              </a:buClr>
              <a:buSzPct val="25000"/>
              <a:buFont typeface="Noto Sans Symbols"/>
              <a:buNone/>
            </a:pPr>
            <a:r>
              <a:t/>
            </a:r>
            <a:endParaRPr b="0" i="0" sz="1900" u="none" cap="none" strike="noStrike">
              <a:solidFill>
                <a:schemeClr val="dk1"/>
              </a:solidFill>
              <a:latin typeface="Arial"/>
              <a:ea typeface="Arial"/>
              <a:cs typeface="Arial"/>
              <a:sym typeface="Arial"/>
            </a:endParaRP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Concluimos que en el mercado de competencia perfecta, como el productor es </a:t>
            </a:r>
            <a:r>
              <a:rPr b="1" i="0" lang="en-US" sz="1900" u="none" cap="none" strike="noStrike">
                <a:solidFill>
                  <a:schemeClr val="dk1"/>
                </a:solidFill>
                <a:latin typeface="Arial"/>
                <a:ea typeface="Arial"/>
                <a:cs typeface="Arial"/>
                <a:sym typeface="Arial"/>
              </a:rPr>
              <a:t>precio aceptante</a:t>
            </a:r>
            <a:r>
              <a:rPr b="0" i="0" lang="en-US" sz="1900" u="none" cap="none" strike="noStrike">
                <a:solidFill>
                  <a:schemeClr val="dk1"/>
                </a:solidFill>
                <a:latin typeface="Arial"/>
                <a:ea typeface="Arial"/>
                <a:cs typeface="Arial"/>
                <a:sym typeface="Arial"/>
              </a:rPr>
              <a:t>, el </a:t>
            </a:r>
            <a:r>
              <a:rPr b="1" i="0" lang="en-US" sz="1900" u="none" cap="none" strike="noStrike">
                <a:solidFill>
                  <a:schemeClr val="dk1"/>
                </a:solidFill>
                <a:latin typeface="Arial"/>
                <a:ea typeface="Arial"/>
                <a:cs typeface="Arial"/>
                <a:sym typeface="Arial"/>
              </a:rPr>
              <a:t>Ingreso Medio</a:t>
            </a:r>
            <a:r>
              <a:rPr b="0" i="0" lang="en-US" sz="1900" u="none" cap="none" strike="noStrike">
                <a:solidFill>
                  <a:schemeClr val="dk1"/>
                </a:solidFill>
                <a:latin typeface="Arial"/>
                <a:ea typeface="Arial"/>
                <a:cs typeface="Arial"/>
                <a:sym typeface="Arial"/>
              </a:rPr>
              <a:t> que recibe es igual al </a:t>
            </a:r>
            <a:r>
              <a:rPr b="1" i="0" lang="en-US" sz="1900" u="none" cap="none" strike="noStrike">
                <a:solidFill>
                  <a:schemeClr val="dk1"/>
                </a:solidFill>
                <a:latin typeface="Arial"/>
                <a:ea typeface="Arial"/>
                <a:cs typeface="Arial"/>
                <a:sym typeface="Arial"/>
              </a:rPr>
              <a:t>Ingreso Marginal</a:t>
            </a:r>
            <a:r>
              <a:rPr b="0" i="0" lang="en-US" sz="1900" u="none" cap="none" strike="noStrike">
                <a:solidFill>
                  <a:schemeClr val="dk1"/>
                </a:solidFill>
                <a:latin typeface="Arial"/>
                <a:ea typeface="Arial"/>
                <a:cs typeface="Arial"/>
                <a:sym typeface="Arial"/>
              </a:rPr>
              <a:t> e igual al </a:t>
            </a:r>
            <a:r>
              <a:rPr b="1" i="0" lang="en-US" sz="1900" u="none" cap="none" strike="noStrike">
                <a:solidFill>
                  <a:schemeClr val="dk1"/>
                </a:solidFill>
                <a:latin typeface="Arial"/>
                <a:ea typeface="Arial"/>
                <a:cs typeface="Arial"/>
                <a:sym typeface="Arial"/>
              </a:rPr>
              <a:t>Precio</a:t>
            </a:r>
            <a:r>
              <a:rPr b="0" i="0" lang="en-US" sz="1900" u="none" cap="none" strike="noStrike">
                <a:solidFill>
                  <a:schemeClr val="dk1"/>
                </a:solidFill>
                <a:latin typeface="Arial"/>
                <a:ea typeface="Arial"/>
                <a:cs typeface="Arial"/>
                <a:sym typeface="Arial"/>
              </a:rPr>
              <a:t> que le ha fijado el mercado.</a:t>
            </a:r>
          </a:p>
          <a:p>
            <a:pPr indent="-342900" lvl="0" marL="342900" marR="0" rtl="0" algn="l">
              <a:lnSpc>
                <a:spcPct val="90000"/>
              </a:lnSpc>
              <a:spcBef>
                <a:spcPts val="480"/>
              </a:spcBef>
              <a:spcAft>
                <a:spcPts val="0"/>
              </a:spcAft>
              <a:buClr>
                <a:schemeClr val="dk2"/>
              </a:buClr>
              <a:buSzPct val="25000"/>
              <a:buFont typeface="Noto Sans Symbols"/>
              <a:buNone/>
            </a:pPr>
            <a:r>
              <a:rPr b="1" i="0" lang="en-US" sz="2000" u="none" cap="none" strike="noStrike">
                <a:solidFill>
                  <a:schemeClr val="accent1"/>
                </a:solidFill>
                <a:latin typeface="Arial"/>
                <a:ea typeface="Arial"/>
                <a:cs typeface="Arial"/>
                <a:sym typeface="Arial"/>
              </a:rPr>
              <a:t>                         </a:t>
            </a:r>
            <a:r>
              <a:rPr b="1" i="0" lang="en-US" sz="2400" u="none" cap="none" strike="noStrike">
                <a:solidFill>
                  <a:schemeClr val="dk1"/>
                </a:solidFill>
                <a:latin typeface="Arial"/>
                <a:ea typeface="Arial"/>
                <a:cs typeface="Arial"/>
                <a:sym typeface="Arial"/>
              </a:rPr>
              <a:t>Ima = Ime = P</a:t>
            </a:r>
          </a:p>
        </p:txBody>
      </p:sp>
      <p:pic>
        <p:nvPicPr>
          <p:cNvPr id="415" name="Shape 415"/>
          <p:cNvPicPr preferRelativeResize="0"/>
          <p:nvPr>
            <p:ph idx="4294967295" type="body"/>
          </p:nvPr>
        </p:nvPicPr>
        <p:blipFill rotWithShape="1">
          <a:blip r:embed="rId3">
            <a:alphaModFix/>
          </a:blip>
          <a:srcRect b="0" l="0" r="0" t="0"/>
          <a:stretch/>
        </p:blipFill>
        <p:spPr>
          <a:xfrm>
            <a:off x="4946650" y="620712"/>
            <a:ext cx="3009899" cy="609599"/>
          </a:xfrm>
          <a:prstGeom prst="rect">
            <a:avLst/>
          </a:prstGeom>
          <a:noFill/>
          <a:ln>
            <a:noFill/>
          </a:ln>
        </p:spPr>
      </p:pic>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9" name="Shape 419"/>
        <p:cNvGrpSpPr/>
        <p:nvPr/>
      </p:nvGrpSpPr>
      <p:grpSpPr>
        <a:xfrm>
          <a:off x="0" y="0"/>
          <a:ext cx="0" cy="0"/>
          <a:chOff x="0" y="0"/>
          <a:chExt cx="0" cy="0"/>
        </a:xfrm>
      </p:grpSpPr>
      <p:sp>
        <p:nvSpPr>
          <p:cNvPr id="420" name="Shape 420"/>
          <p:cNvSpPr txBox="1"/>
          <p:nvPr>
            <p:ph idx="4294967295" type="title"/>
          </p:nvPr>
        </p:nvSpPr>
        <p:spPr>
          <a:xfrm>
            <a:off x="179386" y="115886"/>
            <a:ext cx="4321174" cy="157797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BENEFICIO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TOTAL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DEL PRODUCTOR</a:t>
            </a:r>
          </a:p>
        </p:txBody>
      </p:sp>
      <p:sp>
        <p:nvSpPr>
          <p:cNvPr id="421" name="Shape 421"/>
          <p:cNvSpPr txBox="1"/>
          <p:nvPr>
            <p:ph idx="4294967295" type="body"/>
          </p:nvPr>
        </p:nvSpPr>
        <p:spPr>
          <a:xfrm>
            <a:off x="5940425" y="3644900"/>
            <a:ext cx="3024187" cy="2016124"/>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700" u="none" cap="none" strike="noStrike">
                <a:solidFill>
                  <a:schemeClr val="dk1"/>
                </a:solidFill>
                <a:latin typeface="Arial"/>
                <a:ea typeface="Arial"/>
                <a:cs typeface="Arial"/>
                <a:sym typeface="Arial"/>
              </a:rPr>
              <a:t>Igualando </a:t>
            </a:r>
            <a:r>
              <a:rPr b="1" i="0" lang="en-US" sz="1700" u="none" cap="none" strike="noStrike">
                <a:solidFill>
                  <a:schemeClr val="dk1"/>
                </a:solidFill>
                <a:latin typeface="Arial"/>
                <a:ea typeface="Arial"/>
                <a:cs typeface="Arial"/>
                <a:sym typeface="Arial"/>
              </a:rPr>
              <a:t>la pendiente de la función Ingreso Total (P)</a:t>
            </a:r>
            <a:r>
              <a:rPr b="0" i="0" lang="en-US" sz="1700" u="none" cap="none" strike="noStrike">
                <a:solidFill>
                  <a:schemeClr val="dk1"/>
                </a:solidFill>
                <a:latin typeface="Arial"/>
                <a:ea typeface="Arial"/>
                <a:cs typeface="Arial"/>
                <a:sym typeface="Arial"/>
              </a:rPr>
              <a:t> con </a:t>
            </a:r>
            <a:r>
              <a:rPr b="1" i="0" lang="en-US" sz="1700" u="none" cap="none" strike="noStrike">
                <a:solidFill>
                  <a:schemeClr val="dk1"/>
                </a:solidFill>
                <a:latin typeface="Arial"/>
                <a:ea typeface="Arial"/>
                <a:cs typeface="Arial"/>
                <a:sym typeface="Arial"/>
              </a:rPr>
              <a:t>la pendiente en algún punto de la curva de costos totales (Cma)</a:t>
            </a:r>
            <a:r>
              <a:rPr b="0" i="0" lang="en-US" sz="1700" u="none" cap="none" strike="noStrike">
                <a:solidFill>
                  <a:schemeClr val="dk1"/>
                </a:solidFill>
                <a:latin typeface="Arial"/>
                <a:ea typeface="Arial"/>
                <a:cs typeface="Arial"/>
                <a:sym typeface="Arial"/>
              </a:rPr>
              <a:t> aparece la máxima distancia entre Ingresos totales y costos totales por lo tanto el </a:t>
            </a:r>
            <a:r>
              <a:rPr b="1" i="0" lang="en-US" sz="1700" u="none" cap="none" strike="noStrike">
                <a:solidFill>
                  <a:schemeClr val="dk1"/>
                </a:solidFill>
                <a:latin typeface="Arial"/>
                <a:ea typeface="Arial"/>
                <a:cs typeface="Arial"/>
                <a:sym typeface="Arial"/>
              </a:rPr>
              <a:t>beneficio total se maximiza</a:t>
            </a:r>
          </a:p>
        </p:txBody>
      </p:sp>
      <p:cxnSp>
        <p:nvCxnSpPr>
          <p:cNvPr id="422" name="Shape 422"/>
          <p:cNvCxnSpPr/>
          <p:nvPr/>
        </p:nvCxnSpPr>
        <p:spPr>
          <a:xfrm>
            <a:off x="1692275" y="1700211"/>
            <a:ext cx="0" cy="4681536"/>
          </a:xfrm>
          <a:prstGeom prst="straightConnector1">
            <a:avLst/>
          </a:prstGeom>
          <a:noFill/>
          <a:ln cap="flat" cmpd="sng" w="9525">
            <a:solidFill>
              <a:schemeClr val="dk1"/>
            </a:solidFill>
            <a:prstDash val="solid"/>
            <a:miter/>
            <a:headEnd len="med" w="med" type="none"/>
            <a:tailEnd len="med" w="med" type="none"/>
          </a:ln>
        </p:spPr>
      </p:cxnSp>
      <p:cxnSp>
        <p:nvCxnSpPr>
          <p:cNvPr id="423" name="Shape 423"/>
          <p:cNvCxnSpPr/>
          <p:nvPr/>
        </p:nvCxnSpPr>
        <p:spPr>
          <a:xfrm>
            <a:off x="1619250" y="6308725"/>
            <a:ext cx="7273924" cy="0"/>
          </a:xfrm>
          <a:prstGeom prst="straightConnector1">
            <a:avLst/>
          </a:prstGeom>
          <a:noFill/>
          <a:ln cap="flat" cmpd="sng" w="9525">
            <a:solidFill>
              <a:schemeClr val="dk1"/>
            </a:solidFill>
            <a:prstDash val="solid"/>
            <a:miter/>
            <a:headEnd len="med" w="med" type="none"/>
            <a:tailEnd len="med" w="med" type="none"/>
          </a:ln>
        </p:spPr>
      </p:cxnSp>
      <p:sp>
        <p:nvSpPr>
          <p:cNvPr id="424" name="Shape 424"/>
          <p:cNvSpPr txBox="1"/>
          <p:nvPr/>
        </p:nvSpPr>
        <p:spPr>
          <a:xfrm>
            <a:off x="34925" y="1628775"/>
            <a:ext cx="1584325"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INGRESOS Y</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COSTOS</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TOTALES</a:t>
            </a:r>
          </a:p>
        </p:txBody>
      </p:sp>
      <p:sp>
        <p:nvSpPr>
          <p:cNvPr id="425" name="Shape 425"/>
          <p:cNvSpPr txBox="1"/>
          <p:nvPr/>
        </p:nvSpPr>
        <p:spPr>
          <a:xfrm>
            <a:off x="7885111" y="6308725"/>
            <a:ext cx="1223961"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426" name="Shape 426"/>
          <p:cNvSpPr/>
          <p:nvPr/>
        </p:nvSpPr>
        <p:spPr>
          <a:xfrm>
            <a:off x="1692275" y="1700211"/>
            <a:ext cx="4483099" cy="4600574"/>
          </a:xfrm>
          <a:custGeom>
            <a:pathLst>
              <a:path extrusionOk="0" h="120000" w="120000">
                <a:moveTo>
                  <a:pt x="0" y="120000"/>
                </a:moveTo>
                <a:lnTo>
                  <a:pt x="120000" y="0"/>
                </a:ln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7" name="Shape 427"/>
          <p:cNvSpPr/>
          <p:nvPr/>
        </p:nvSpPr>
        <p:spPr>
          <a:xfrm>
            <a:off x="1692275" y="1989136"/>
            <a:ext cx="4895850" cy="3095625"/>
          </a:xfrm>
          <a:custGeom>
            <a:pathLst>
              <a:path extrusionOk="0" h="120000" w="120000">
                <a:moveTo>
                  <a:pt x="0" y="120000"/>
                </a:moveTo>
                <a:cubicBezTo>
                  <a:pt x="2373" y="116184"/>
                  <a:pt x="9105" y="103138"/>
                  <a:pt x="14357" y="97230"/>
                </a:cubicBezTo>
                <a:cubicBezTo>
                  <a:pt x="19610" y="91323"/>
                  <a:pt x="26108" y="87138"/>
                  <a:pt x="31634" y="84430"/>
                </a:cubicBezTo>
                <a:cubicBezTo>
                  <a:pt x="37159" y="81723"/>
                  <a:pt x="42529" y="81292"/>
                  <a:pt x="47626" y="80923"/>
                </a:cubicBezTo>
                <a:cubicBezTo>
                  <a:pt x="52723" y="80553"/>
                  <a:pt x="57782" y="81907"/>
                  <a:pt x="62140" y="82092"/>
                </a:cubicBezTo>
                <a:cubicBezTo>
                  <a:pt x="66498" y="82276"/>
                  <a:pt x="69961" y="82584"/>
                  <a:pt x="73891" y="82092"/>
                </a:cubicBezTo>
                <a:cubicBezTo>
                  <a:pt x="77821" y="81600"/>
                  <a:pt x="81478" y="81600"/>
                  <a:pt x="85642" y="79200"/>
                </a:cubicBezTo>
                <a:cubicBezTo>
                  <a:pt x="89805" y="76800"/>
                  <a:pt x="95175" y="72307"/>
                  <a:pt x="98871" y="67569"/>
                </a:cubicBezTo>
                <a:cubicBezTo>
                  <a:pt x="102568" y="62830"/>
                  <a:pt x="105252" y="56800"/>
                  <a:pt x="107704" y="50707"/>
                </a:cubicBezTo>
                <a:cubicBezTo>
                  <a:pt x="110155" y="44615"/>
                  <a:pt x="111517" y="39384"/>
                  <a:pt x="113579" y="30953"/>
                </a:cubicBezTo>
                <a:cubicBezTo>
                  <a:pt x="115642" y="22523"/>
                  <a:pt x="118677" y="6461"/>
                  <a:pt x="119999" y="0"/>
                </a:cubicBezTo>
              </a:path>
            </a:pathLst>
          </a:custGeom>
          <a:noFill/>
          <a:ln cap="flat" cmpd="sng" w="38100">
            <a:solidFill>
              <a:schemeClr val="lt2"/>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8" name="Shape 428"/>
          <p:cNvSpPr txBox="1"/>
          <p:nvPr/>
        </p:nvSpPr>
        <p:spPr>
          <a:xfrm>
            <a:off x="2051050" y="3500437"/>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COSTOS</a:t>
            </a:r>
          </a:p>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TOTALES</a:t>
            </a:r>
          </a:p>
        </p:txBody>
      </p:sp>
      <p:sp>
        <p:nvSpPr>
          <p:cNvPr id="429" name="Shape 429"/>
          <p:cNvSpPr txBox="1"/>
          <p:nvPr/>
        </p:nvSpPr>
        <p:spPr>
          <a:xfrm>
            <a:off x="2700336" y="5013325"/>
            <a:ext cx="1584325"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INGRESOS</a:t>
            </a:r>
          </a:p>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TOTALES</a:t>
            </a:r>
          </a:p>
        </p:txBody>
      </p:sp>
      <p:cxnSp>
        <p:nvCxnSpPr>
          <p:cNvPr id="430" name="Shape 430"/>
          <p:cNvCxnSpPr/>
          <p:nvPr/>
        </p:nvCxnSpPr>
        <p:spPr>
          <a:xfrm flipH="1" rot="10800000">
            <a:off x="4932362" y="1700212"/>
            <a:ext cx="1223961" cy="1296986"/>
          </a:xfrm>
          <a:prstGeom prst="straightConnector1">
            <a:avLst/>
          </a:prstGeom>
          <a:noFill/>
          <a:ln cap="flat" cmpd="sng" w="9525">
            <a:solidFill>
              <a:schemeClr val="dk1"/>
            </a:solidFill>
            <a:prstDash val="solid"/>
            <a:miter/>
            <a:headEnd len="med" w="med" type="none"/>
            <a:tailEnd len="med" w="med" type="none"/>
          </a:ln>
        </p:spPr>
      </p:cxnSp>
      <p:cxnSp>
        <p:nvCxnSpPr>
          <p:cNvPr id="431" name="Shape 431"/>
          <p:cNvCxnSpPr/>
          <p:nvPr/>
        </p:nvCxnSpPr>
        <p:spPr>
          <a:xfrm>
            <a:off x="5867400" y="1989136"/>
            <a:ext cx="0" cy="4319587"/>
          </a:xfrm>
          <a:prstGeom prst="straightConnector1">
            <a:avLst/>
          </a:prstGeom>
          <a:noFill/>
          <a:ln cap="flat" cmpd="sng" w="9525">
            <a:solidFill>
              <a:schemeClr val="dk1"/>
            </a:solidFill>
            <a:prstDash val="solid"/>
            <a:miter/>
            <a:headEnd len="med" w="med" type="none"/>
            <a:tailEnd len="med" w="med" type="none"/>
          </a:ln>
        </p:spPr>
      </p:cxnSp>
      <p:sp>
        <p:nvSpPr>
          <p:cNvPr id="432" name="Shape 432"/>
          <p:cNvSpPr txBox="1"/>
          <p:nvPr/>
        </p:nvSpPr>
        <p:spPr>
          <a:xfrm>
            <a:off x="5651500" y="6192837"/>
            <a:ext cx="360362" cy="47624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Q</a:t>
            </a:r>
          </a:p>
        </p:txBody>
      </p:sp>
      <p:sp>
        <p:nvSpPr>
          <p:cNvPr id="433" name="Shape 433"/>
          <p:cNvSpPr/>
          <p:nvPr/>
        </p:nvSpPr>
        <p:spPr>
          <a:xfrm>
            <a:off x="5580062" y="1989136"/>
            <a:ext cx="215899" cy="1655761"/>
          </a:xfrm>
          <a:prstGeom prst="leftBrace">
            <a:avLst>
              <a:gd fmla="val 8333" name="adj1"/>
              <a:gd fmla="val 50000" name="adj2"/>
            </a:avLst>
          </a:prstGeom>
          <a:noFill/>
          <a:ln cap="flat" cmpd="sng" w="4445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4" name="Shape 434"/>
          <p:cNvSpPr txBox="1"/>
          <p:nvPr/>
        </p:nvSpPr>
        <p:spPr>
          <a:xfrm>
            <a:off x="4067175" y="2492375"/>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BENEFICIO </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TOTAL</a:t>
            </a:r>
          </a:p>
        </p:txBody>
      </p:sp>
      <p:sp>
        <p:nvSpPr>
          <p:cNvPr id="435" name="Shape 435"/>
          <p:cNvSpPr txBox="1"/>
          <p:nvPr/>
        </p:nvSpPr>
        <p:spPr>
          <a:xfrm>
            <a:off x="900112" y="6381750"/>
            <a:ext cx="4319587" cy="260350"/>
          </a:xfrm>
          <a:prstGeom prst="rect">
            <a:avLst/>
          </a:prstGeom>
          <a:solidFill>
            <a:srgbClr val="FFFF99"/>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productor elige producir la cantidad </a:t>
            </a:r>
            <a:r>
              <a:rPr b="1" i="0" lang="en-US" sz="1800" u="none" cap="none" strike="noStrike">
                <a:solidFill>
                  <a:schemeClr val="dk1"/>
                </a:solidFill>
                <a:latin typeface="Arial"/>
                <a:ea typeface="Arial"/>
                <a:cs typeface="Arial"/>
                <a:sym typeface="Arial"/>
              </a:rPr>
              <a:t>Q</a:t>
            </a:r>
          </a:p>
        </p:txBody>
      </p:sp>
      <p:pic>
        <p:nvPicPr>
          <p:cNvPr id="436" name="Shape 436"/>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40" name="Shape 440"/>
        <p:cNvGrpSpPr/>
        <p:nvPr/>
      </p:nvGrpSpPr>
      <p:grpSpPr>
        <a:xfrm>
          <a:off x="0" y="0"/>
          <a:ext cx="0" cy="0"/>
          <a:chOff x="0" y="0"/>
          <a:chExt cx="0" cy="0"/>
        </a:xfrm>
      </p:grpSpPr>
      <p:sp>
        <p:nvSpPr>
          <p:cNvPr id="441" name="Shape 441"/>
          <p:cNvSpPr txBox="1"/>
          <p:nvPr>
            <p:ph idx="4294967295" type="title"/>
          </p:nvPr>
        </p:nvSpPr>
        <p:spPr>
          <a:xfrm>
            <a:off x="107950" y="76200"/>
            <a:ext cx="4321174" cy="1624011"/>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BENEFICIO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MEDIO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DEL PRODUCTOR</a:t>
            </a:r>
          </a:p>
        </p:txBody>
      </p:sp>
      <p:sp>
        <p:nvSpPr>
          <p:cNvPr id="442" name="Shape 442"/>
          <p:cNvSpPr txBox="1"/>
          <p:nvPr>
            <p:ph idx="4294967295" type="body"/>
          </p:nvPr>
        </p:nvSpPr>
        <p:spPr>
          <a:xfrm>
            <a:off x="5795962" y="2636836"/>
            <a:ext cx="3317875" cy="1944687"/>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700" u="none" cap="none" strike="noStrike">
                <a:solidFill>
                  <a:schemeClr val="dk1"/>
                </a:solidFill>
                <a:latin typeface="Arial"/>
                <a:ea typeface="Arial"/>
                <a:cs typeface="Arial"/>
                <a:sym typeface="Arial"/>
              </a:rPr>
              <a:t>El productor estará dispuesto a fabricar una unidad adicional si el ingreso que recibe por esta (Ima) es mayor o igual al costo de producción de esa unidad (Cma), el </a:t>
            </a:r>
            <a:r>
              <a:rPr b="1" i="0" lang="en-US" sz="1700" u="none" cap="none" strike="noStrike">
                <a:solidFill>
                  <a:schemeClr val="dk1"/>
                </a:solidFill>
                <a:latin typeface="Arial"/>
                <a:ea typeface="Arial"/>
                <a:cs typeface="Arial"/>
                <a:sym typeface="Arial"/>
              </a:rPr>
              <a:t>beneficio total se maximiza </a:t>
            </a:r>
            <a:r>
              <a:rPr b="0" i="0" lang="en-US" sz="1700" u="none" cap="none" strike="noStrike">
                <a:solidFill>
                  <a:schemeClr val="dk1"/>
                </a:solidFill>
                <a:latin typeface="Arial"/>
                <a:ea typeface="Arial"/>
                <a:cs typeface="Arial"/>
                <a:sym typeface="Arial"/>
              </a:rPr>
              <a:t>cuando </a:t>
            </a:r>
          </a:p>
          <a:p>
            <a:pPr indent="-342900" lvl="0" marL="342900" marR="0" rtl="0" algn="l">
              <a:lnSpc>
                <a:spcPct val="80000"/>
              </a:lnSpc>
              <a:spcBef>
                <a:spcPts val="400"/>
              </a:spcBef>
              <a:spcAft>
                <a:spcPts val="0"/>
              </a:spcAft>
              <a:buClr>
                <a:schemeClr val="dk2"/>
              </a:buClr>
              <a:buSzPct val="25000"/>
              <a:buFont typeface="Noto Sans Symbols"/>
              <a:buNone/>
            </a:pPr>
            <a:r>
              <a:rPr b="0" i="0" lang="en-US" sz="1700" u="none" cap="none" strike="noStrike">
                <a:solidFill>
                  <a:schemeClr val="dk1"/>
                </a:solidFill>
                <a:latin typeface="Arial"/>
                <a:ea typeface="Arial"/>
                <a:cs typeface="Arial"/>
                <a:sym typeface="Arial"/>
              </a:rPr>
              <a:t>         </a:t>
            </a:r>
            <a:r>
              <a:rPr b="1" i="0" lang="en-US" sz="2000" u="none" cap="none" strike="noStrike">
                <a:solidFill>
                  <a:schemeClr val="dk1"/>
                </a:solidFill>
                <a:latin typeface="Arial"/>
                <a:ea typeface="Arial"/>
                <a:cs typeface="Arial"/>
                <a:sym typeface="Arial"/>
              </a:rPr>
              <a:t>Ima = Cma</a:t>
            </a:r>
          </a:p>
        </p:txBody>
      </p:sp>
      <p:cxnSp>
        <p:nvCxnSpPr>
          <p:cNvPr id="443" name="Shape 443"/>
          <p:cNvCxnSpPr/>
          <p:nvPr/>
        </p:nvCxnSpPr>
        <p:spPr>
          <a:xfrm>
            <a:off x="1692275" y="1700211"/>
            <a:ext cx="0" cy="4681536"/>
          </a:xfrm>
          <a:prstGeom prst="straightConnector1">
            <a:avLst/>
          </a:prstGeom>
          <a:noFill/>
          <a:ln cap="flat" cmpd="sng" w="9525">
            <a:solidFill>
              <a:schemeClr val="dk1"/>
            </a:solidFill>
            <a:prstDash val="solid"/>
            <a:miter/>
            <a:headEnd len="med" w="med" type="none"/>
            <a:tailEnd len="med" w="med" type="none"/>
          </a:ln>
        </p:spPr>
      </p:cxnSp>
      <p:cxnSp>
        <p:nvCxnSpPr>
          <p:cNvPr id="444" name="Shape 444"/>
          <p:cNvCxnSpPr/>
          <p:nvPr/>
        </p:nvCxnSpPr>
        <p:spPr>
          <a:xfrm>
            <a:off x="1619250" y="6308725"/>
            <a:ext cx="7273924" cy="0"/>
          </a:xfrm>
          <a:prstGeom prst="straightConnector1">
            <a:avLst/>
          </a:prstGeom>
          <a:noFill/>
          <a:ln cap="flat" cmpd="sng" w="9525">
            <a:solidFill>
              <a:schemeClr val="dk1"/>
            </a:solidFill>
            <a:prstDash val="solid"/>
            <a:miter/>
            <a:headEnd len="med" w="med" type="none"/>
            <a:tailEnd len="med" w="med" type="none"/>
          </a:ln>
        </p:spPr>
      </p:cxnSp>
      <p:sp>
        <p:nvSpPr>
          <p:cNvPr id="445" name="Shape 445"/>
          <p:cNvSpPr txBox="1"/>
          <p:nvPr/>
        </p:nvSpPr>
        <p:spPr>
          <a:xfrm>
            <a:off x="34925" y="1628775"/>
            <a:ext cx="1584325"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INGRESOS Y</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COSTOS</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MEDIOS</a:t>
            </a:r>
          </a:p>
        </p:txBody>
      </p:sp>
      <p:sp>
        <p:nvSpPr>
          <p:cNvPr id="446" name="Shape 446"/>
          <p:cNvSpPr txBox="1"/>
          <p:nvPr/>
        </p:nvSpPr>
        <p:spPr>
          <a:xfrm>
            <a:off x="7885111" y="6308725"/>
            <a:ext cx="1223961"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447" name="Shape 447"/>
          <p:cNvSpPr/>
          <p:nvPr/>
        </p:nvSpPr>
        <p:spPr>
          <a:xfrm>
            <a:off x="1692275" y="3789362"/>
            <a:ext cx="4005261" cy="7937"/>
          </a:xfrm>
          <a:custGeom>
            <a:pathLst>
              <a:path extrusionOk="0" h="120000" w="120000">
                <a:moveTo>
                  <a:pt x="0" y="120000"/>
                </a:moveTo>
                <a:lnTo>
                  <a:pt x="119999" y="0"/>
                </a:ln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48" name="Shape 448"/>
          <p:cNvSpPr/>
          <p:nvPr/>
        </p:nvSpPr>
        <p:spPr>
          <a:xfrm>
            <a:off x="1763711" y="1700211"/>
            <a:ext cx="4154487" cy="3178174"/>
          </a:xfrm>
          <a:custGeom>
            <a:pathLst>
              <a:path extrusionOk="0" h="120000" w="120000">
                <a:moveTo>
                  <a:pt x="0" y="95424"/>
                </a:moveTo>
                <a:cubicBezTo>
                  <a:pt x="3530" y="99140"/>
                  <a:pt x="13847" y="115444"/>
                  <a:pt x="21276" y="117722"/>
                </a:cubicBezTo>
                <a:cubicBezTo>
                  <a:pt x="28704" y="120000"/>
                  <a:pt x="37233" y="115504"/>
                  <a:pt x="44661" y="109270"/>
                </a:cubicBezTo>
                <a:cubicBezTo>
                  <a:pt x="52090" y="103036"/>
                  <a:pt x="59885" y="88831"/>
                  <a:pt x="65892" y="80379"/>
                </a:cubicBezTo>
                <a:cubicBezTo>
                  <a:pt x="71899" y="71928"/>
                  <a:pt x="76209" y="65034"/>
                  <a:pt x="80703" y="58621"/>
                </a:cubicBezTo>
                <a:cubicBezTo>
                  <a:pt x="85196" y="52207"/>
                  <a:pt x="87672" y="49390"/>
                  <a:pt x="92716" y="41898"/>
                </a:cubicBezTo>
                <a:cubicBezTo>
                  <a:pt x="97760" y="34405"/>
                  <a:pt x="106381" y="20559"/>
                  <a:pt x="110920" y="13606"/>
                </a:cubicBezTo>
                <a:cubicBezTo>
                  <a:pt x="115460" y="6653"/>
                  <a:pt x="118119" y="2817"/>
                  <a:pt x="120000" y="0"/>
                </a:cubicBezTo>
              </a:path>
            </a:pathLst>
          </a:custGeom>
          <a:no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49" name="Shape 449"/>
          <p:cNvSpPr txBox="1"/>
          <p:nvPr/>
        </p:nvSpPr>
        <p:spPr>
          <a:xfrm>
            <a:off x="5795962" y="1700211"/>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COSTO</a:t>
            </a:r>
          </a:p>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MARGINAL</a:t>
            </a:r>
          </a:p>
        </p:txBody>
      </p:sp>
      <p:sp>
        <p:nvSpPr>
          <p:cNvPr id="450" name="Shape 450"/>
          <p:cNvSpPr txBox="1"/>
          <p:nvPr/>
        </p:nvSpPr>
        <p:spPr>
          <a:xfrm>
            <a:off x="323850" y="3357562"/>
            <a:ext cx="1295400" cy="865187"/>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Precio</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 Medio</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 Marginal</a:t>
            </a:r>
          </a:p>
        </p:txBody>
      </p:sp>
      <p:cxnSp>
        <p:nvCxnSpPr>
          <p:cNvPr id="451" name="Shape 451"/>
          <p:cNvCxnSpPr/>
          <p:nvPr/>
        </p:nvCxnSpPr>
        <p:spPr>
          <a:xfrm>
            <a:off x="4067175" y="3789362"/>
            <a:ext cx="0" cy="2519361"/>
          </a:xfrm>
          <a:prstGeom prst="straightConnector1">
            <a:avLst/>
          </a:prstGeom>
          <a:noFill/>
          <a:ln cap="flat" cmpd="sng" w="9525">
            <a:solidFill>
              <a:schemeClr val="dk1"/>
            </a:solidFill>
            <a:prstDash val="solid"/>
            <a:miter/>
            <a:headEnd len="med" w="med" type="none"/>
            <a:tailEnd len="med" w="med" type="none"/>
          </a:ln>
        </p:spPr>
      </p:cxnSp>
      <p:sp>
        <p:nvSpPr>
          <p:cNvPr id="452" name="Shape 452"/>
          <p:cNvSpPr txBox="1"/>
          <p:nvPr/>
        </p:nvSpPr>
        <p:spPr>
          <a:xfrm>
            <a:off x="3851275" y="6192837"/>
            <a:ext cx="360362" cy="47624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Q</a:t>
            </a:r>
          </a:p>
        </p:txBody>
      </p:sp>
      <p:sp>
        <p:nvSpPr>
          <p:cNvPr id="453" name="Shape 453"/>
          <p:cNvSpPr txBox="1"/>
          <p:nvPr/>
        </p:nvSpPr>
        <p:spPr>
          <a:xfrm>
            <a:off x="2482850" y="3789362"/>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BENEFICIO </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MEDIO</a:t>
            </a:r>
          </a:p>
        </p:txBody>
      </p:sp>
      <p:sp>
        <p:nvSpPr>
          <p:cNvPr id="454" name="Shape 454"/>
          <p:cNvSpPr txBox="1"/>
          <p:nvPr/>
        </p:nvSpPr>
        <p:spPr>
          <a:xfrm>
            <a:off x="4356100" y="5876925"/>
            <a:ext cx="4319587" cy="260350"/>
          </a:xfrm>
          <a:prstGeom prst="rect">
            <a:avLst/>
          </a:prstGeom>
          <a:solidFill>
            <a:srgbClr val="FFFF99"/>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productor elige producir la cantidad </a:t>
            </a:r>
            <a:r>
              <a:rPr b="1" i="0" lang="en-US" sz="1800" u="none" cap="none" strike="noStrike">
                <a:solidFill>
                  <a:schemeClr val="dk1"/>
                </a:solidFill>
                <a:latin typeface="Arial"/>
                <a:ea typeface="Arial"/>
                <a:cs typeface="Arial"/>
                <a:sym typeface="Arial"/>
              </a:rPr>
              <a:t>Q</a:t>
            </a:r>
          </a:p>
        </p:txBody>
      </p:sp>
      <p:sp>
        <p:nvSpPr>
          <p:cNvPr id="455" name="Shape 455"/>
          <p:cNvSpPr/>
          <p:nvPr/>
        </p:nvSpPr>
        <p:spPr>
          <a:xfrm>
            <a:off x="2268536" y="3860800"/>
            <a:ext cx="2847975" cy="758825"/>
          </a:xfrm>
          <a:custGeom>
            <a:pathLst>
              <a:path extrusionOk="0" h="120000" w="120000">
                <a:moveTo>
                  <a:pt x="0" y="9539"/>
                </a:moveTo>
                <a:cubicBezTo>
                  <a:pt x="2408" y="18326"/>
                  <a:pt x="7491" y="43682"/>
                  <a:pt x="14515" y="61506"/>
                </a:cubicBezTo>
                <a:cubicBezTo>
                  <a:pt x="21538" y="79330"/>
                  <a:pt x="31973" y="111966"/>
                  <a:pt x="42274" y="115983"/>
                </a:cubicBezTo>
                <a:cubicBezTo>
                  <a:pt x="52575" y="120000"/>
                  <a:pt x="66822" y="97656"/>
                  <a:pt x="76387" y="85355"/>
                </a:cubicBezTo>
                <a:cubicBezTo>
                  <a:pt x="85953" y="73054"/>
                  <a:pt x="92508" y="56987"/>
                  <a:pt x="99799" y="42677"/>
                </a:cubicBezTo>
                <a:cubicBezTo>
                  <a:pt x="107090" y="28368"/>
                  <a:pt x="115785" y="8786"/>
                  <a:pt x="120000" y="0"/>
                </a:cubicBezTo>
              </a:path>
            </a:pathLst>
          </a:custGeom>
          <a:noFill/>
          <a:ln cap="flat" cmpd="sng" w="4445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6" name="Shape 456"/>
          <p:cNvSpPr txBox="1"/>
          <p:nvPr/>
        </p:nvSpPr>
        <p:spPr>
          <a:xfrm>
            <a:off x="4500562" y="4149725"/>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MEDIO</a:t>
            </a:r>
          </a:p>
        </p:txBody>
      </p:sp>
      <p:sp>
        <p:nvSpPr>
          <p:cNvPr id="457" name="Shape 457"/>
          <p:cNvSpPr/>
          <p:nvPr/>
        </p:nvSpPr>
        <p:spPr>
          <a:xfrm>
            <a:off x="3851275" y="3789362"/>
            <a:ext cx="144462" cy="647700"/>
          </a:xfrm>
          <a:prstGeom prst="leftBrace">
            <a:avLst>
              <a:gd fmla="val 8333" name="adj1"/>
              <a:gd fmla="val 50000" name="adj2"/>
            </a:avLst>
          </a:prstGeom>
          <a:noFill/>
          <a:ln cap="flat" cmpd="sng" w="4445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8" name="Shape 458"/>
          <p:cNvSpPr/>
          <p:nvPr/>
        </p:nvSpPr>
        <p:spPr>
          <a:xfrm>
            <a:off x="1476375" y="3357562"/>
            <a:ext cx="152399" cy="914400"/>
          </a:xfrm>
          <a:prstGeom prst="rightBrace">
            <a:avLst>
              <a:gd fmla="val 8333" name="adj1"/>
              <a:gd fmla="val 50000" name="adj2"/>
            </a:avLst>
          </a:prstGeom>
          <a:noFill/>
          <a:ln cap="flat" cmpd="sng" w="41275">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459" name="Shape 459"/>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3" name="Shape 463"/>
        <p:cNvGrpSpPr/>
        <p:nvPr/>
      </p:nvGrpSpPr>
      <p:grpSpPr>
        <a:xfrm>
          <a:off x="0" y="0"/>
          <a:ext cx="0" cy="0"/>
          <a:chOff x="0" y="0"/>
          <a:chExt cx="0" cy="0"/>
        </a:xfrm>
      </p:grpSpPr>
      <p:sp>
        <p:nvSpPr>
          <p:cNvPr id="464" name="Shape 464"/>
          <p:cNvSpPr/>
          <p:nvPr/>
        </p:nvSpPr>
        <p:spPr>
          <a:xfrm>
            <a:off x="1116012" y="1773236"/>
            <a:ext cx="4319587" cy="2519361"/>
          </a:xfrm>
          <a:prstGeom prst="rect">
            <a:avLst/>
          </a:prstGeom>
          <a:solidFill>
            <a:srgbClr val="FFFF00">
              <a:alpha val="47843"/>
            </a:srgbClr>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5" name="Shape 465"/>
          <p:cNvSpPr/>
          <p:nvPr/>
        </p:nvSpPr>
        <p:spPr>
          <a:xfrm>
            <a:off x="1116012" y="4292600"/>
            <a:ext cx="4319587" cy="576262"/>
          </a:xfrm>
          <a:prstGeom prst="rect">
            <a:avLst/>
          </a:prstGeom>
          <a:solidFill>
            <a:srgbClr val="0000FF">
              <a:alpha val="29803"/>
            </a:srgbClr>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6" name="Shape 466"/>
          <p:cNvSpPr/>
          <p:nvPr/>
        </p:nvSpPr>
        <p:spPr>
          <a:xfrm>
            <a:off x="1116012" y="4868862"/>
            <a:ext cx="4319587" cy="1511299"/>
          </a:xfrm>
          <a:prstGeom prst="rect">
            <a:avLst/>
          </a:prstGeom>
          <a:solidFill>
            <a:srgbClr val="FF0000">
              <a:alpha val="32941"/>
            </a:srgbClr>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7" name="Shape 467"/>
          <p:cNvSpPr txBox="1"/>
          <p:nvPr>
            <p:ph idx="4294967295" type="title"/>
          </p:nvPr>
        </p:nvSpPr>
        <p:spPr>
          <a:xfrm>
            <a:off x="34925" y="44450"/>
            <a:ext cx="4825999" cy="18002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COMPORTAMIENTO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DEL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PRODUCTOR</a:t>
            </a:r>
            <a:r>
              <a:rPr b="1" i="0" lang="en-US" sz="3500" u="none" cap="none" strike="noStrike">
                <a:solidFill>
                  <a:schemeClr val="dk2"/>
                </a:solidFill>
                <a:latin typeface="Arial"/>
                <a:ea typeface="Arial"/>
                <a:cs typeface="Arial"/>
                <a:sym typeface="Arial"/>
              </a:rPr>
              <a:t> </a:t>
            </a:r>
          </a:p>
        </p:txBody>
      </p:sp>
      <p:sp>
        <p:nvSpPr>
          <p:cNvPr id="468" name="Shape 468"/>
          <p:cNvSpPr txBox="1"/>
          <p:nvPr>
            <p:ph idx="4294967295" type="body"/>
          </p:nvPr>
        </p:nvSpPr>
        <p:spPr>
          <a:xfrm>
            <a:off x="5500687" y="1844675"/>
            <a:ext cx="3535362" cy="1316037"/>
          </a:xfrm>
          <a:prstGeom prst="rect">
            <a:avLst/>
          </a:prstGeom>
          <a:solidFill>
            <a:srgbClr val="FFFF99">
              <a:alpha val="26666"/>
            </a:srgbClr>
          </a:solid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Si el precio supera al punto de nivelación (P</a:t>
            </a:r>
            <a:r>
              <a:rPr b="0" baseline="-25000" i="0" lang="en-US" sz="1800" u="none" cap="none" strike="noStrike">
                <a:solidFill>
                  <a:schemeClr val="dk1"/>
                </a:solidFill>
                <a:latin typeface="Arial"/>
                <a:ea typeface="Arial"/>
                <a:cs typeface="Arial"/>
                <a:sym typeface="Arial"/>
              </a:rPr>
              <a:t>1</a:t>
            </a:r>
            <a:r>
              <a:rPr b="0" i="0" lang="en-US" sz="1800" u="none" cap="none" strike="noStrike">
                <a:solidFill>
                  <a:schemeClr val="dk1"/>
                </a:solidFill>
                <a:latin typeface="Arial"/>
                <a:ea typeface="Arial"/>
                <a:cs typeface="Arial"/>
                <a:sym typeface="Arial"/>
              </a:rPr>
              <a:t>)</a:t>
            </a:r>
            <a:r>
              <a:rPr b="0" baseline="-25000" i="0"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el productor entregara producción y obtendrá beneficios extraordinarios.</a:t>
            </a:r>
          </a:p>
        </p:txBody>
      </p:sp>
      <p:cxnSp>
        <p:nvCxnSpPr>
          <p:cNvPr id="469" name="Shape 469"/>
          <p:cNvCxnSpPr/>
          <p:nvPr/>
        </p:nvCxnSpPr>
        <p:spPr>
          <a:xfrm>
            <a:off x="1116012" y="1916111"/>
            <a:ext cx="0" cy="4681536"/>
          </a:xfrm>
          <a:prstGeom prst="straightConnector1">
            <a:avLst/>
          </a:prstGeom>
          <a:noFill/>
          <a:ln cap="flat" cmpd="sng" w="9525">
            <a:solidFill>
              <a:schemeClr val="dk1"/>
            </a:solidFill>
            <a:prstDash val="solid"/>
            <a:miter/>
            <a:headEnd len="med" w="med" type="none"/>
            <a:tailEnd len="med" w="med" type="none"/>
          </a:ln>
        </p:spPr>
      </p:cxnSp>
      <p:cxnSp>
        <p:nvCxnSpPr>
          <p:cNvPr id="470" name="Shape 470"/>
          <p:cNvCxnSpPr/>
          <p:nvPr/>
        </p:nvCxnSpPr>
        <p:spPr>
          <a:xfrm>
            <a:off x="900112" y="6381750"/>
            <a:ext cx="4535487" cy="0"/>
          </a:xfrm>
          <a:prstGeom prst="straightConnector1">
            <a:avLst/>
          </a:prstGeom>
          <a:noFill/>
          <a:ln cap="flat" cmpd="sng" w="9525">
            <a:solidFill>
              <a:schemeClr val="dk1"/>
            </a:solidFill>
            <a:prstDash val="solid"/>
            <a:miter/>
            <a:headEnd len="med" w="med" type="none"/>
            <a:tailEnd len="med" w="med" type="none"/>
          </a:ln>
        </p:spPr>
      </p:cxnSp>
      <p:sp>
        <p:nvSpPr>
          <p:cNvPr id="471" name="Shape 471"/>
          <p:cNvSpPr/>
          <p:nvPr/>
        </p:nvSpPr>
        <p:spPr>
          <a:xfrm>
            <a:off x="1187450" y="2060575"/>
            <a:ext cx="4154487" cy="3178174"/>
          </a:xfrm>
          <a:custGeom>
            <a:pathLst>
              <a:path extrusionOk="0" h="120000" w="120000">
                <a:moveTo>
                  <a:pt x="0" y="95424"/>
                </a:moveTo>
                <a:cubicBezTo>
                  <a:pt x="3530" y="99140"/>
                  <a:pt x="13847" y="115444"/>
                  <a:pt x="21276" y="117722"/>
                </a:cubicBezTo>
                <a:cubicBezTo>
                  <a:pt x="28704" y="120000"/>
                  <a:pt x="37233" y="115504"/>
                  <a:pt x="44661" y="109270"/>
                </a:cubicBezTo>
                <a:cubicBezTo>
                  <a:pt x="52090" y="103036"/>
                  <a:pt x="59885" y="88831"/>
                  <a:pt x="65892" y="80379"/>
                </a:cubicBezTo>
                <a:cubicBezTo>
                  <a:pt x="71899" y="71928"/>
                  <a:pt x="76209" y="65034"/>
                  <a:pt x="80703" y="58621"/>
                </a:cubicBezTo>
                <a:cubicBezTo>
                  <a:pt x="85196" y="52207"/>
                  <a:pt x="87672" y="49390"/>
                  <a:pt x="92716" y="41898"/>
                </a:cubicBezTo>
                <a:cubicBezTo>
                  <a:pt x="97760" y="34405"/>
                  <a:pt x="106381" y="20559"/>
                  <a:pt x="110920" y="13606"/>
                </a:cubicBezTo>
                <a:cubicBezTo>
                  <a:pt x="115460" y="6653"/>
                  <a:pt x="118119" y="2817"/>
                  <a:pt x="120000" y="0"/>
                </a:cubicBezTo>
              </a:path>
            </a:pathLst>
          </a:custGeom>
          <a:noFill/>
          <a:ln cap="flat" cmpd="sng" w="38100">
            <a:solidFill>
              <a:schemeClr val="lt2"/>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2" name="Shape 472"/>
          <p:cNvSpPr/>
          <p:nvPr/>
        </p:nvSpPr>
        <p:spPr>
          <a:xfrm>
            <a:off x="1692275" y="2924175"/>
            <a:ext cx="3749674" cy="1357312"/>
          </a:xfrm>
          <a:custGeom>
            <a:pathLst>
              <a:path extrusionOk="0" h="120000" w="120000">
                <a:moveTo>
                  <a:pt x="0" y="0"/>
                </a:moveTo>
                <a:cubicBezTo>
                  <a:pt x="4775" y="15157"/>
                  <a:pt x="20270" y="71719"/>
                  <a:pt x="28755" y="91368"/>
                </a:cubicBezTo>
                <a:cubicBezTo>
                  <a:pt x="37239" y="111017"/>
                  <a:pt x="42878" y="116631"/>
                  <a:pt x="50855" y="118315"/>
                </a:cubicBezTo>
                <a:cubicBezTo>
                  <a:pt x="58831" y="120000"/>
                  <a:pt x="69500" y="108070"/>
                  <a:pt x="76765" y="101192"/>
                </a:cubicBezTo>
                <a:cubicBezTo>
                  <a:pt x="84030" y="94315"/>
                  <a:pt x="87332" y="89122"/>
                  <a:pt x="94546" y="77333"/>
                </a:cubicBezTo>
                <a:cubicBezTo>
                  <a:pt x="101761" y="65543"/>
                  <a:pt x="114716" y="40140"/>
                  <a:pt x="120000" y="30315"/>
                </a:cubicBezTo>
              </a:path>
            </a:pathLst>
          </a:custGeom>
          <a:noFill/>
          <a:ln cap="flat" cmpd="sng" w="4445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3" name="Shape 473"/>
          <p:cNvSpPr/>
          <p:nvPr/>
        </p:nvSpPr>
        <p:spPr>
          <a:xfrm>
            <a:off x="1619250" y="3508375"/>
            <a:ext cx="3822700" cy="1395411"/>
          </a:xfrm>
          <a:custGeom>
            <a:pathLst>
              <a:path extrusionOk="0" h="120000" w="120000">
                <a:moveTo>
                  <a:pt x="0" y="61023"/>
                </a:moveTo>
                <a:cubicBezTo>
                  <a:pt x="2292" y="67030"/>
                  <a:pt x="7126" y="87781"/>
                  <a:pt x="13654" y="97201"/>
                </a:cubicBezTo>
                <a:cubicBezTo>
                  <a:pt x="20182" y="106621"/>
                  <a:pt x="28903" y="120000"/>
                  <a:pt x="39069" y="117815"/>
                </a:cubicBezTo>
                <a:cubicBezTo>
                  <a:pt x="49235" y="115631"/>
                  <a:pt x="64235" y="96928"/>
                  <a:pt x="74800" y="83686"/>
                </a:cubicBezTo>
                <a:cubicBezTo>
                  <a:pt x="85365" y="70443"/>
                  <a:pt x="95033" y="52559"/>
                  <a:pt x="102558" y="38634"/>
                </a:cubicBezTo>
                <a:cubicBezTo>
                  <a:pt x="110083" y="24709"/>
                  <a:pt x="116362" y="8054"/>
                  <a:pt x="120000" y="0"/>
                </a:cubicBez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474" name="Shape 474"/>
          <p:cNvCxnSpPr/>
          <p:nvPr/>
        </p:nvCxnSpPr>
        <p:spPr>
          <a:xfrm>
            <a:off x="1116012" y="4292600"/>
            <a:ext cx="4319587" cy="0"/>
          </a:xfrm>
          <a:prstGeom prst="straightConnector1">
            <a:avLst/>
          </a:prstGeom>
          <a:noFill/>
          <a:ln cap="flat" cmpd="sng" w="41275">
            <a:solidFill>
              <a:srgbClr val="000000"/>
            </a:solidFill>
            <a:prstDash val="solid"/>
            <a:miter/>
            <a:headEnd len="med" w="med" type="none"/>
            <a:tailEnd len="med" w="med" type="none"/>
          </a:ln>
        </p:spPr>
      </p:cxnSp>
      <p:cxnSp>
        <p:nvCxnSpPr>
          <p:cNvPr id="475" name="Shape 475"/>
          <p:cNvCxnSpPr/>
          <p:nvPr/>
        </p:nvCxnSpPr>
        <p:spPr>
          <a:xfrm>
            <a:off x="1116012" y="4868862"/>
            <a:ext cx="4317999" cy="0"/>
          </a:xfrm>
          <a:prstGeom prst="straightConnector1">
            <a:avLst/>
          </a:prstGeom>
          <a:noFill/>
          <a:ln cap="flat" cmpd="sng" w="41275">
            <a:solidFill>
              <a:schemeClr val="dk1"/>
            </a:solidFill>
            <a:prstDash val="solid"/>
            <a:miter/>
            <a:headEnd len="med" w="med" type="none"/>
            <a:tailEnd len="med" w="med" type="none"/>
          </a:ln>
        </p:spPr>
      </p:cxnSp>
      <p:sp>
        <p:nvSpPr>
          <p:cNvPr id="476" name="Shape 476"/>
          <p:cNvSpPr txBox="1"/>
          <p:nvPr/>
        </p:nvSpPr>
        <p:spPr>
          <a:xfrm>
            <a:off x="107950" y="1844675"/>
            <a:ext cx="9366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PRECIO</a:t>
            </a:r>
          </a:p>
        </p:txBody>
      </p:sp>
      <p:sp>
        <p:nvSpPr>
          <p:cNvPr id="477" name="Shape 477"/>
          <p:cNvSpPr txBox="1"/>
          <p:nvPr/>
        </p:nvSpPr>
        <p:spPr>
          <a:xfrm>
            <a:off x="4140200" y="6454775"/>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CANTIDAD</a:t>
            </a:r>
          </a:p>
        </p:txBody>
      </p:sp>
      <p:sp>
        <p:nvSpPr>
          <p:cNvPr id="478" name="Shape 478"/>
          <p:cNvSpPr txBox="1"/>
          <p:nvPr/>
        </p:nvSpPr>
        <p:spPr>
          <a:xfrm>
            <a:off x="468312" y="4005262"/>
            <a:ext cx="9366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r>
              <a:rPr b="0" baseline="-25000" i="0" lang="en-US" sz="1800" u="none" cap="none" strike="noStrike">
                <a:solidFill>
                  <a:schemeClr val="dk1"/>
                </a:solidFill>
                <a:latin typeface="Arial"/>
                <a:ea typeface="Arial"/>
                <a:cs typeface="Arial"/>
                <a:sym typeface="Arial"/>
              </a:rPr>
              <a:t>1</a:t>
            </a:r>
          </a:p>
        </p:txBody>
      </p:sp>
      <p:sp>
        <p:nvSpPr>
          <p:cNvPr id="479" name="Shape 479"/>
          <p:cNvSpPr txBox="1"/>
          <p:nvPr/>
        </p:nvSpPr>
        <p:spPr>
          <a:xfrm>
            <a:off x="468312" y="4581525"/>
            <a:ext cx="9366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r>
              <a:rPr b="0" baseline="-25000" i="0" lang="en-US" sz="1800" u="none" cap="none" strike="noStrike">
                <a:solidFill>
                  <a:schemeClr val="dk1"/>
                </a:solidFill>
                <a:latin typeface="Arial"/>
                <a:ea typeface="Arial"/>
                <a:cs typeface="Arial"/>
                <a:sym typeface="Arial"/>
              </a:rPr>
              <a:t>2</a:t>
            </a:r>
          </a:p>
        </p:txBody>
      </p:sp>
      <p:sp>
        <p:nvSpPr>
          <p:cNvPr id="480" name="Shape 480"/>
          <p:cNvSpPr txBox="1"/>
          <p:nvPr/>
        </p:nvSpPr>
        <p:spPr>
          <a:xfrm>
            <a:off x="3706812" y="1916111"/>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COSTO</a:t>
            </a:r>
          </a:p>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MARGINAL</a:t>
            </a:r>
          </a:p>
        </p:txBody>
      </p:sp>
      <p:sp>
        <p:nvSpPr>
          <p:cNvPr id="481" name="Shape 481"/>
          <p:cNvSpPr txBox="1"/>
          <p:nvPr/>
        </p:nvSpPr>
        <p:spPr>
          <a:xfrm>
            <a:off x="1116012" y="2420936"/>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COSTO</a:t>
            </a:r>
          </a:p>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MEDIO</a:t>
            </a:r>
          </a:p>
        </p:txBody>
      </p:sp>
      <p:sp>
        <p:nvSpPr>
          <p:cNvPr id="482" name="Shape 482"/>
          <p:cNvSpPr txBox="1"/>
          <p:nvPr/>
        </p:nvSpPr>
        <p:spPr>
          <a:xfrm>
            <a:off x="4067175" y="4365625"/>
            <a:ext cx="1368425"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4220C"/>
              </a:buClr>
              <a:buSzPct val="25000"/>
              <a:buFont typeface="Arial"/>
              <a:buNone/>
            </a:pPr>
            <a:r>
              <a:rPr b="1" i="0" lang="en-US" sz="1800" u="none" cap="none" strike="noStrike">
                <a:solidFill>
                  <a:srgbClr val="F4220C"/>
                </a:solidFill>
                <a:latin typeface="Arial"/>
                <a:ea typeface="Arial"/>
                <a:cs typeface="Arial"/>
                <a:sym typeface="Arial"/>
              </a:rPr>
              <a:t>COSTO</a:t>
            </a:r>
          </a:p>
          <a:p>
            <a:pPr indent="0" lvl="0" marL="0" marR="0" rtl="0" algn="ctr">
              <a:lnSpc>
                <a:spcPct val="100000"/>
              </a:lnSpc>
              <a:spcBef>
                <a:spcPts val="0"/>
              </a:spcBef>
              <a:spcAft>
                <a:spcPts val="0"/>
              </a:spcAft>
              <a:buClr>
                <a:srgbClr val="F4220C"/>
              </a:buClr>
              <a:buSzPct val="25000"/>
              <a:buFont typeface="Arial"/>
              <a:buNone/>
            </a:pPr>
            <a:r>
              <a:rPr b="1" i="0" lang="en-US" sz="1800" u="none" cap="none" strike="noStrike">
                <a:solidFill>
                  <a:srgbClr val="F4220C"/>
                </a:solidFill>
                <a:latin typeface="Arial"/>
                <a:ea typeface="Arial"/>
                <a:cs typeface="Arial"/>
                <a:sym typeface="Arial"/>
              </a:rPr>
              <a:t>VARIABLE</a:t>
            </a:r>
          </a:p>
          <a:p>
            <a:pPr indent="0" lvl="0" marL="0" marR="0" rtl="0" algn="ctr">
              <a:lnSpc>
                <a:spcPct val="100000"/>
              </a:lnSpc>
              <a:spcBef>
                <a:spcPts val="0"/>
              </a:spcBef>
              <a:spcAft>
                <a:spcPts val="0"/>
              </a:spcAft>
              <a:buClr>
                <a:srgbClr val="F4220C"/>
              </a:buClr>
              <a:buSzPct val="25000"/>
              <a:buFont typeface="Arial"/>
              <a:buNone/>
            </a:pPr>
            <a:r>
              <a:rPr b="1" i="0" lang="en-US" sz="1800" u="none" cap="none" strike="noStrike">
                <a:solidFill>
                  <a:srgbClr val="F4220C"/>
                </a:solidFill>
                <a:latin typeface="Arial"/>
                <a:ea typeface="Arial"/>
                <a:cs typeface="Arial"/>
                <a:sym typeface="Arial"/>
              </a:rPr>
              <a:t>MEDIO</a:t>
            </a:r>
          </a:p>
        </p:txBody>
      </p:sp>
      <p:sp>
        <p:nvSpPr>
          <p:cNvPr id="483" name="Shape 483"/>
          <p:cNvSpPr txBox="1"/>
          <p:nvPr/>
        </p:nvSpPr>
        <p:spPr>
          <a:xfrm>
            <a:off x="2555875" y="3284537"/>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PUNTO DE </a:t>
            </a:r>
          </a:p>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NIVELACIÓN</a:t>
            </a:r>
          </a:p>
        </p:txBody>
      </p:sp>
      <p:sp>
        <p:nvSpPr>
          <p:cNvPr id="484" name="Shape 484"/>
          <p:cNvSpPr txBox="1"/>
          <p:nvPr/>
        </p:nvSpPr>
        <p:spPr>
          <a:xfrm>
            <a:off x="1331912" y="5229225"/>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PUNTO DE </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SALIDA</a:t>
            </a:r>
          </a:p>
        </p:txBody>
      </p:sp>
      <p:cxnSp>
        <p:nvCxnSpPr>
          <p:cNvPr id="485" name="Shape 485"/>
          <p:cNvCxnSpPr/>
          <p:nvPr/>
        </p:nvCxnSpPr>
        <p:spPr>
          <a:xfrm>
            <a:off x="2843211" y="4868862"/>
            <a:ext cx="0" cy="1512886"/>
          </a:xfrm>
          <a:prstGeom prst="straightConnector1">
            <a:avLst/>
          </a:prstGeom>
          <a:noFill/>
          <a:ln cap="flat" cmpd="sng" w="9525">
            <a:solidFill>
              <a:schemeClr val="dk1"/>
            </a:solidFill>
            <a:prstDash val="solid"/>
            <a:miter/>
            <a:headEnd len="med" w="med" type="oval"/>
            <a:tailEnd len="med" w="med" type="none"/>
          </a:ln>
        </p:spPr>
      </p:cxnSp>
      <p:cxnSp>
        <p:nvCxnSpPr>
          <p:cNvPr id="486" name="Shape 486"/>
          <p:cNvCxnSpPr/>
          <p:nvPr/>
        </p:nvCxnSpPr>
        <p:spPr>
          <a:xfrm>
            <a:off x="3348037" y="4292600"/>
            <a:ext cx="0" cy="2089150"/>
          </a:xfrm>
          <a:prstGeom prst="straightConnector1">
            <a:avLst/>
          </a:prstGeom>
          <a:noFill/>
          <a:ln cap="flat" cmpd="sng" w="41275">
            <a:solidFill>
              <a:srgbClr val="008000"/>
            </a:solidFill>
            <a:prstDash val="solid"/>
            <a:miter/>
            <a:headEnd len="med" w="med" type="oval"/>
            <a:tailEnd len="med" w="med" type="none"/>
          </a:ln>
        </p:spPr>
      </p:cxnSp>
      <p:sp>
        <p:nvSpPr>
          <p:cNvPr id="487" name="Shape 487"/>
          <p:cNvSpPr txBox="1"/>
          <p:nvPr/>
        </p:nvSpPr>
        <p:spPr>
          <a:xfrm>
            <a:off x="2411411" y="6310312"/>
            <a:ext cx="9366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r>
              <a:rPr b="0" baseline="-25000" i="0" lang="en-US" sz="1800" u="none" cap="none" strike="noStrike">
                <a:solidFill>
                  <a:schemeClr val="dk1"/>
                </a:solidFill>
                <a:latin typeface="Arial"/>
                <a:ea typeface="Arial"/>
                <a:cs typeface="Arial"/>
                <a:sym typeface="Arial"/>
              </a:rPr>
              <a:t>2</a:t>
            </a:r>
          </a:p>
        </p:txBody>
      </p:sp>
      <p:sp>
        <p:nvSpPr>
          <p:cNvPr id="488" name="Shape 488"/>
          <p:cNvSpPr txBox="1"/>
          <p:nvPr/>
        </p:nvSpPr>
        <p:spPr>
          <a:xfrm>
            <a:off x="2914650" y="6310312"/>
            <a:ext cx="9366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r>
              <a:rPr b="0" baseline="-25000" i="0" lang="en-US" sz="1800" u="none" cap="none" strike="noStrike">
                <a:solidFill>
                  <a:schemeClr val="dk1"/>
                </a:solidFill>
                <a:latin typeface="Arial"/>
                <a:ea typeface="Arial"/>
                <a:cs typeface="Arial"/>
                <a:sym typeface="Arial"/>
              </a:rPr>
              <a:t>1</a:t>
            </a:r>
          </a:p>
        </p:txBody>
      </p:sp>
      <p:sp>
        <p:nvSpPr>
          <p:cNvPr id="489" name="Shape 489"/>
          <p:cNvSpPr txBox="1"/>
          <p:nvPr/>
        </p:nvSpPr>
        <p:spPr>
          <a:xfrm>
            <a:off x="2843211" y="3789362"/>
            <a:ext cx="9366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6600"/>
              </a:buClr>
              <a:buSzPct val="25000"/>
              <a:buFont typeface="Arial"/>
              <a:buNone/>
            </a:pPr>
            <a:r>
              <a:rPr b="1" i="0" lang="en-US" sz="1800" u="none" cap="none" strike="noStrike">
                <a:solidFill>
                  <a:srgbClr val="006600"/>
                </a:solidFill>
                <a:latin typeface="Arial"/>
                <a:ea typeface="Arial"/>
                <a:cs typeface="Arial"/>
                <a:sym typeface="Arial"/>
              </a:rPr>
              <a:t>1</a:t>
            </a:r>
          </a:p>
        </p:txBody>
      </p:sp>
      <p:sp>
        <p:nvSpPr>
          <p:cNvPr id="490" name="Shape 490"/>
          <p:cNvSpPr txBox="1"/>
          <p:nvPr/>
        </p:nvSpPr>
        <p:spPr>
          <a:xfrm>
            <a:off x="2339975" y="4437062"/>
            <a:ext cx="9366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2</a:t>
            </a:r>
          </a:p>
        </p:txBody>
      </p:sp>
      <p:sp>
        <p:nvSpPr>
          <p:cNvPr id="491" name="Shape 491"/>
          <p:cNvSpPr txBox="1"/>
          <p:nvPr/>
        </p:nvSpPr>
        <p:spPr>
          <a:xfrm>
            <a:off x="5472112" y="4868862"/>
            <a:ext cx="3708400" cy="1512886"/>
          </a:xfrm>
          <a:prstGeom prst="rect">
            <a:avLst/>
          </a:prstGeom>
          <a:solidFill>
            <a:srgbClr val="FF0000">
              <a:alpha val="27843"/>
            </a:srgbClr>
          </a:solidFill>
          <a:ln>
            <a:noFill/>
          </a:ln>
        </p:spPr>
        <p:txBody>
          <a:bodyPr anchorCtr="0" anchor="t" bIns="45700" lIns="91425" rIns="91425" tIns="45700">
            <a:noAutofit/>
          </a:bodyPr>
          <a:lstStyle/>
          <a:p>
            <a:pPr indent="0" lvl="0" marL="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Si el precio es </a:t>
            </a:r>
            <a:r>
              <a:rPr b="1" i="0" lang="en-US" sz="1800" u="none" cap="none" strike="noStrike">
                <a:solidFill>
                  <a:schemeClr val="dk1"/>
                </a:solidFill>
                <a:latin typeface="Arial"/>
                <a:ea typeface="Arial"/>
                <a:cs typeface="Arial"/>
                <a:sym typeface="Arial"/>
              </a:rPr>
              <a:t>inferior</a:t>
            </a:r>
            <a:r>
              <a:rPr b="0" i="0" lang="en-US" sz="1800" u="none" cap="none" strike="noStrike">
                <a:solidFill>
                  <a:schemeClr val="dk1"/>
                </a:solidFill>
                <a:latin typeface="Arial"/>
                <a:ea typeface="Arial"/>
                <a:cs typeface="Arial"/>
                <a:sym typeface="Arial"/>
              </a:rPr>
              <a:t> al punto de salida (P</a:t>
            </a:r>
            <a:r>
              <a:rPr b="0" baseline="-25000" i="0" lang="en-US" sz="1800" u="none" cap="none" strike="noStrike">
                <a:solidFill>
                  <a:schemeClr val="dk1"/>
                </a:solidFill>
                <a:latin typeface="Arial"/>
                <a:ea typeface="Arial"/>
                <a:cs typeface="Arial"/>
                <a:sym typeface="Arial"/>
              </a:rPr>
              <a:t>2</a:t>
            </a:r>
            <a:r>
              <a:rPr b="0" i="0" lang="en-US" sz="1800" u="none" cap="none" strike="noStrike">
                <a:solidFill>
                  <a:schemeClr val="dk1"/>
                </a:solidFill>
                <a:latin typeface="Arial"/>
                <a:ea typeface="Arial"/>
                <a:cs typeface="Arial"/>
                <a:sym typeface="Arial"/>
              </a:rPr>
              <a:t>) el productor </a:t>
            </a:r>
            <a:r>
              <a:rPr b="1" i="0" lang="en-US" sz="1800" u="none" cap="none" strike="noStrike">
                <a:solidFill>
                  <a:schemeClr val="dk1"/>
                </a:solidFill>
                <a:latin typeface="Arial"/>
                <a:ea typeface="Arial"/>
                <a:cs typeface="Arial"/>
                <a:sym typeface="Arial"/>
              </a:rPr>
              <a:t>no ofrecerá producción</a:t>
            </a:r>
            <a:r>
              <a:rPr b="0" i="0" lang="en-US" sz="1800" u="none" cap="none" strike="noStrike">
                <a:solidFill>
                  <a:schemeClr val="dk1"/>
                </a:solidFill>
                <a:latin typeface="Arial"/>
                <a:ea typeface="Arial"/>
                <a:cs typeface="Arial"/>
                <a:sym typeface="Arial"/>
              </a:rPr>
              <a:t> porque no tiene manera de revertir las pérdidas.</a:t>
            </a: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2" name="Shape 492"/>
          <p:cNvSpPr txBox="1"/>
          <p:nvPr/>
        </p:nvSpPr>
        <p:spPr>
          <a:xfrm>
            <a:off x="5470525" y="3213100"/>
            <a:ext cx="3673475" cy="1584325"/>
          </a:xfrm>
          <a:prstGeom prst="rect">
            <a:avLst/>
          </a:prstGeom>
          <a:noFill/>
          <a:ln>
            <a:noFill/>
          </a:ln>
        </p:spPr>
        <p:txBody>
          <a:bodyPr anchorCtr="0" anchor="t" bIns="45700" lIns="91425" rIns="91425" tIns="45700">
            <a:noAutofit/>
          </a:bodyPr>
          <a:lstStyle/>
          <a:p>
            <a:pPr indent="0" lvl="0" marL="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Si el precio está </a:t>
            </a:r>
            <a:r>
              <a:rPr b="1" i="0" lang="en-US" sz="1800" u="none" cap="none" strike="noStrike">
                <a:solidFill>
                  <a:schemeClr val="dk1"/>
                </a:solidFill>
                <a:latin typeface="Arial"/>
                <a:ea typeface="Arial"/>
                <a:cs typeface="Arial"/>
                <a:sym typeface="Arial"/>
              </a:rPr>
              <a:t>entre P</a:t>
            </a:r>
            <a:r>
              <a:rPr b="1" baseline="-25000" i="0" lang="en-US" sz="1800" u="none" cap="none" strike="noStrike">
                <a:solidFill>
                  <a:schemeClr val="dk1"/>
                </a:solidFill>
                <a:latin typeface="Arial"/>
                <a:ea typeface="Arial"/>
                <a:cs typeface="Arial"/>
                <a:sym typeface="Arial"/>
              </a:rPr>
              <a:t>1</a:t>
            </a:r>
            <a:r>
              <a:rPr b="1" i="0" lang="en-US" sz="1800" u="none" cap="none" strike="noStrike">
                <a:solidFill>
                  <a:schemeClr val="dk1"/>
                </a:solidFill>
                <a:latin typeface="Arial"/>
                <a:ea typeface="Arial"/>
                <a:cs typeface="Arial"/>
                <a:sym typeface="Arial"/>
              </a:rPr>
              <a:t> y P</a:t>
            </a:r>
            <a:r>
              <a:rPr b="1" baseline="-25000" i="0" lang="en-US" sz="1800" u="none" cap="none" strike="noStrike">
                <a:solidFill>
                  <a:schemeClr val="dk1"/>
                </a:solidFill>
                <a:latin typeface="Arial"/>
                <a:ea typeface="Arial"/>
                <a:cs typeface="Arial"/>
                <a:sym typeface="Arial"/>
              </a:rPr>
              <a:t>2</a:t>
            </a:r>
            <a:r>
              <a:rPr b="1" i="0" lang="en-US" sz="1800" u="none" cap="none" strike="noStrike">
                <a:solidFill>
                  <a:schemeClr val="dk1"/>
                </a:solidFill>
                <a:latin typeface="Arial"/>
                <a:ea typeface="Arial"/>
                <a:cs typeface="Arial"/>
                <a:sym typeface="Arial"/>
              </a:rPr>
              <a:t> el productor deberá entregar producción</a:t>
            </a:r>
            <a:r>
              <a:rPr b="0" i="0" lang="en-US" sz="1800" u="none" cap="none" strike="noStrike">
                <a:solidFill>
                  <a:schemeClr val="dk1"/>
                </a:solidFill>
                <a:latin typeface="Arial"/>
                <a:ea typeface="Arial"/>
                <a:cs typeface="Arial"/>
                <a:sym typeface="Arial"/>
              </a:rPr>
              <a:t> porque de lo contrario si cierra deberá soportar como pérdida el total de los costos fijos</a:t>
            </a:r>
          </a:p>
        </p:txBody>
      </p:sp>
      <p:pic>
        <p:nvPicPr>
          <p:cNvPr id="493" name="Shape 493"/>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97" name="Shape 497"/>
        <p:cNvGrpSpPr/>
        <p:nvPr/>
      </p:nvGrpSpPr>
      <p:grpSpPr>
        <a:xfrm>
          <a:off x="0" y="0"/>
          <a:ext cx="0" cy="0"/>
          <a:chOff x="0" y="0"/>
          <a:chExt cx="0" cy="0"/>
        </a:xfrm>
      </p:grpSpPr>
      <p:sp>
        <p:nvSpPr>
          <p:cNvPr id="498" name="Shape 498"/>
          <p:cNvSpPr txBox="1"/>
          <p:nvPr>
            <p:ph idx="4294967295" type="title"/>
          </p:nvPr>
        </p:nvSpPr>
        <p:spPr>
          <a:xfrm>
            <a:off x="107950" y="115886"/>
            <a:ext cx="3311524" cy="1512886"/>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621A04"/>
              </a:buClr>
              <a:buSzPct val="25000"/>
              <a:buFont typeface="Arial"/>
              <a:buNone/>
            </a:pPr>
            <a:r>
              <a:rPr b="1" i="0" lang="en-US" sz="3500" u="none" cap="none" strike="noStrike">
                <a:solidFill>
                  <a:srgbClr val="621A04"/>
                </a:solidFill>
                <a:latin typeface="Arial"/>
                <a:ea typeface="Arial"/>
                <a:cs typeface="Arial"/>
                <a:sym typeface="Arial"/>
              </a:rPr>
              <a:t>OFERTA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DEL </a:t>
            </a:r>
            <a:br>
              <a:rPr b="1" i="0" lang="en-US" sz="3500" u="none" cap="none" strike="noStrike">
                <a:solidFill>
                  <a:srgbClr val="621A04"/>
                </a:solidFill>
                <a:latin typeface="Arial"/>
                <a:ea typeface="Arial"/>
                <a:cs typeface="Arial"/>
                <a:sym typeface="Arial"/>
              </a:rPr>
            </a:br>
            <a:r>
              <a:rPr b="1" i="0" lang="en-US" sz="3500" u="none" cap="none" strike="noStrike">
                <a:solidFill>
                  <a:srgbClr val="621A04"/>
                </a:solidFill>
                <a:latin typeface="Arial"/>
                <a:ea typeface="Arial"/>
                <a:cs typeface="Arial"/>
                <a:sym typeface="Arial"/>
              </a:rPr>
              <a:t>PRODUCTOR</a:t>
            </a:r>
            <a:r>
              <a:rPr b="1" i="0" lang="en-US" sz="3500" u="none" cap="none" strike="noStrike">
                <a:solidFill>
                  <a:schemeClr val="dk2"/>
                </a:solidFill>
                <a:latin typeface="Arial"/>
                <a:ea typeface="Arial"/>
                <a:cs typeface="Arial"/>
                <a:sym typeface="Arial"/>
              </a:rPr>
              <a:t> </a:t>
            </a:r>
          </a:p>
        </p:txBody>
      </p:sp>
      <p:sp>
        <p:nvSpPr>
          <p:cNvPr id="499" name="Shape 499"/>
          <p:cNvSpPr txBox="1"/>
          <p:nvPr>
            <p:ph idx="4294967295" type="body"/>
          </p:nvPr>
        </p:nvSpPr>
        <p:spPr>
          <a:xfrm>
            <a:off x="5435600" y="1719261"/>
            <a:ext cx="3606800" cy="3078162"/>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2400" u="none" cap="none" strike="noStrike">
                <a:solidFill>
                  <a:schemeClr val="dk1"/>
                </a:solidFill>
                <a:latin typeface="Arial"/>
                <a:ea typeface="Arial"/>
                <a:cs typeface="Arial"/>
                <a:sym typeface="Arial"/>
              </a:rPr>
              <a:t>El productor en competencia perfecta ofrecerá producción si los precios obtenidos superan al </a:t>
            </a:r>
            <a:r>
              <a:rPr b="1" i="0" lang="en-US" sz="2400" u="none" cap="none" strike="noStrike">
                <a:solidFill>
                  <a:schemeClr val="dk1"/>
                </a:solidFill>
                <a:latin typeface="Arial"/>
                <a:ea typeface="Arial"/>
                <a:cs typeface="Arial"/>
                <a:sym typeface="Arial"/>
              </a:rPr>
              <a:t>costo variable medio mínimo</a:t>
            </a:r>
            <a:r>
              <a:rPr b="0" i="0" lang="en-US" sz="2400" u="none" cap="none" strike="noStrike">
                <a:solidFill>
                  <a:schemeClr val="dk1"/>
                </a:solidFill>
                <a:latin typeface="Arial"/>
                <a:ea typeface="Arial"/>
                <a:cs typeface="Arial"/>
                <a:sym typeface="Arial"/>
              </a:rPr>
              <a:t> utilizando la </a:t>
            </a:r>
            <a:r>
              <a:rPr b="1" i="0" lang="en-US" sz="2400" u="none" cap="none" strike="noStrike">
                <a:solidFill>
                  <a:schemeClr val="dk1"/>
                </a:solidFill>
                <a:latin typeface="Arial"/>
                <a:ea typeface="Arial"/>
                <a:cs typeface="Arial"/>
                <a:sym typeface="Arial"/>
              </a:rPr>
              <a:t>curva de costo marginal</a:t>
            </a:r>
            <a:r>
              <a:rPr b="0" i="0" lang="en-US" sz="2400" u="none" cap="none" strike="noStrike">
                <a:solidFill>
                  <a:schemeClr val="dk1"/>
                </a:solidFill>
                <a:latin typeface="Arial"/>
                <a:ea typeface="Arial"/>
                <a:cs typeface="Arial"/>
                <a:sym typeface="Arial"/>
              </a:rPr>
              <a:t> para determinar la cantidad ofrecida. </a:t>
            </a:r>
          </a:p>
        </p:txBody>
      </p:sp>
      <p:cxnSp>
        <p:nvCxnSpPr>
          <p:cNvPr id="500" name="Shape 500"/>
          <p:cNvCxnSpPr/>
          <p:nvPr/>
        </p:nvCxnSpPr>
        <p:spPr>
          <a:xfrm>
            <a:off x="1258887" y="2565400"/>
            <a:ext cx="0" cy="3527424"/>
          </a:xfrm>
          <a:prstGeom prst="straightConnector1">
            <a:avLst/>
          </a:prstGeom>
          <a:noFill/>
          <a:ln cap="flat" cmpd="sng" w="9525">
            <a:solidFill>
              <a:schemeClr val="dk1"/>
            </a:solidFill>
            <a:prstDash val="solid"/>
            <a:miter/>
            <a:headEnd len="med" w="med" type="none"/>
            <a:tailEnd len="med" w="med" type="none"/>
          </a:ln>
        </p:spPr>
      </p:cxnSp>
      <p:cxnSp>
        <p:nvCxnSpPr>
          <p:cNvPr id="501" name="Shape 501"/>
          <p:cNvCxnSpPr/>
          <p:nvPr/>
        </p:nvCxnSpPr>
        <p:spPr>
          <a:xfrm>
            <a:off x="611187" y="5805487"/>
            <a:ext cx="4032249" cy="0"/>
          </a:xfrm>
          <a:prstGeom prst="straightConnector1">
            <a:avLst/>
          </a:prstGeom>
          <a:noFill/>
          <a:ln cap="flat" cmpd="sng" w="9525">
            <a:solidFill>
              <a:schemeClr val="dk1"/>
            </a:solidFill>
            <a:prstDash val="solid"/>
            <a:miter/>
            <a:headEnd len="med" w="med" type="none"/>
            <a:tailEnd len="med" w="med" type="none"/>
          </a:ln>
        </p:spPr>
      </p:cxnSp>
      <p:sp>
        <p:nvSpPr>
          <p:cNvPr id="502" name="Shape 502"/>
          <p:cNvSpPr/>
          <p:nvPr/>
        </p:nvSpPr>
        <p:spPr>
          <a:xfrm>
            <a:off x="1619250" y="2060575"/>
            <a:ext cx="3476624" cy="3068637"/>
          </a:xfrm>
          <a:custGeom>
            <a:pathLst>
              <a:path extrusionOk="0" h="120000" w="120000">
                <a:moveTo>
                  <a:pt x="0" y="112302"/>
                </a:moveTo>
                <a:cubicBezTo>
                  <a:pt x="2739" y="113543"/>
                  <a:pt x="11561" y="119751"/>
                  <a:pt x="16547" y="119875"/>
                </a:cubicBezTo>
                <a:cubicBezTo>
                  <a:pt x="21534" y="120000"/>
                  <a:pt x="23506" y="119255"/>
                  <a:pt x="29972" y="113171"/>
                </a:cubicBezTo>
                <a:cubicBezTo>
                  <a:pt x="36438" y="107087"/>
                  <a:pt x="48164" y="92002"/>
                  <a:pt x="55342" y="83248"/>
                </a:cubicBezTo>
                <a:cubicBezTo>
                  <a:pt x="62520" y="74495"/>
                  <a:pt x="67671" y="67356"/>
                  <a:pt x="73041" y="60713"/>
                </a:cubicBezTo>
                <a:cubicBezTo>
                  <a:pt x="78410" y="54071"/>
                  <a:pt x="81369" y="51153"/>
                  <a:pt x="87397" y="43393"/>
                </a:cubicBezTo>
                <a:cubicBezTo>
                  <a:pt x="93424" y="35633"/>
                  <a:pt x="103726" y="21293"/>
                  <a:pt x="109150" y="14092"/>
                </a:cubicBezTo>
                <a:cubicBezTo>
                  <a:pt x="114575" y="6890"/>
                  <a:pt x="117753" y="2917"/>
                  <a:pt x="120000" y="0"/>
                </a:cubicBezTo>
              </a:path>
            </a:pathLst>
          </a:custGeom>
          <a:noFill/>
          <a:ln cap="flat" cmpd="sng" w="38100">
            <a:solidFill>
              <a:schemeClr val="lt2"/>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3" name="Shape 503"/>
          <p:cNvSpPr/>
          <p:nvPr/>
        </p:nvSpPr>
        <p:spPr>
          <a:xfrm>
            <a:off x="1258887" y="3860800"/>
            <a:ext cx="3792536" cy="1031875"/>
          </a:xfrm>
          <a:custGeom>
            <a:pathLst>
              <a:path extrusionOk="0" h="120000" w="120000">
                <a:moveTo>
                  <a:pt x="0" y="41538"/>
                </a:moveTo>
                <a:cubicBezTo>
                  <a:pt x="2310" y="49661"/>
                  <a:pt x="7182" y="77723"/>
                  <a:pt x="13763" y="90461"/>
                </a:cubicBezTo>
                <a:cubicBezTo>
                  <a:pt x="20343" y="103200"/>
                  <a:pt x="28932" y="120000"/>
                  <a:pt x="39380" y="118338"/>
                </a:cubicBezTo>
                <a:cubicBezTo>
                  <a:pt x="49828" y="116676"/>
                  <a:pt x="65500" y="94523"/>
                  <a:pt x="76349" y="79938"/>
                </a:cubicBezTo>
                <a:cubicBezTo>
                  <a:pt x="87199" y="65353"/>
                  <a:pt x="97095" y="44492"/>
                  <a:pt x="104378" y="31200"/>
                </a:cubicBezTo>
                <a:cubicBezTo>
                  <a:pt x="111661" y="17907"/>
                  <a:pt x="116735" y="6461"/>
                  <a:pt x="120000" y="0"/>
                </a:cubicBez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4" name="Shape 504"/>
          <p:cNvSpPr txBox="1"/>
          <p:nvPr/>
        </p:nvSpPr>
        <p:spPr>
          <a:xfrm>
            <a:off x="3419475" y="1916111"/>
            <a:ext cx="1296986"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COSTO</a:t>
            </a:r>
          </a:p>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MARGINAL</a:t>
            </a:r>
          </a:p>
        </p:txBody>
      </p:sp>
      <p:sp>
        <p:nvSpPr>
          <p:cNvPr id="505" name="Shape 505"/>
          <p:cNvSpPr txBox="1"/>
          <p:nvPr/>
        </p:nvSpPr>
        <p:spPr>
          <a:xfrm>
            <a:off x="1258887" y="3787775"/>
            <a:ext cx="1368425"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4220C"/>
              </a:buClr>
              <a:buSzPct val="25000"/>
              <a:buFont typeface="Arial"/>
              <a:buNone/>
            </a:pPr>
            <a:r>
              <a:rPr b="1" i="0" lang="en-US" sz="1800" u="none" cap="none" strike="noStrike">
                <a:solidFill>
                  <a:srgbClr val="F4220C"/>
                </a:solidFill>
                <a:latin typeface="Arial"/>
                <a:ea typeface="Arial"/>
                <a:cs typeface="Arial"/>
                <a:sym typeface="Arial"/>
              </a:rPr>
              <a:t>COSTO</a:t>
            </a:r>
          </a:p>
          <a:p>
            <a:pPr indent="0" lvl="0" marL="0" marR="0" rtl="0" algn="ctr">
              <a:lnSpc>
                <a:spcPct val="100000"/>
              </a:lnSpc>
              <a:spcBef>
                <a:spcPts val="0"/>
              </a:spcBef>
              <a:spcAft>
                <a:spcPts val="0"/>
              </a:spcAft>
              <a:buClr>
                <a:srgbClr val="F4220C"/>
              </a:buClr>
              <a:buSzPct val="25000"/>
              <a:buFont typeface="Arial"/>
              <a:buNone/>
            </a:pPr>
            <a:r>
              <a:rPr b="1" i="0" lang="en-US" sz="1800" u="none" cap="none" strike="noStrike">
                <a:solidFill>
                  <a:srgbClr val="F4220C"/>
                </a:solidFill>
                <a:latin typeface="Arial"/>
                <a:ea typeface="Arial"/>
                <a:cs typeface="Arial"/>
                <a:sym typeface="Arial"/>
              </a:rPr>
              <a:t>VARIABLE</a:t>
            </a:r>
          </a:p>
          <a:p>
            <a:pPr indent="0" lvl="0" marL="0" marR="0" rtl="0" algn="ctr">
              <a:lnSpc>
                <a:spcPct val="100000"/>
              </a:lnSpc>
              <a:spcBef>
                <a:spcPts val="0"/>
              </a:spcBef>
              <a:spcAft>
                <a:spcPts val="0"/>
              </a:spcAft>
              <a:buClr>
                <a:srgbClr val="F4220C"/>
              </a:buClr>
              <a:buSzPct val="25000"/>
              <a:buFont typeface="Arial"/>
              <a:buNone/>
            </a:pPr>
            <a:r>
              <a:rPr b="1" i="0" lang="en-US" sz="1800" u="none" cap="none" strike="noStrike">
                <a:solidFill>
                  <a:srgbClr val="F4220C"/>
                </a:solidFill>
                <a:latin typeface="Arial"/>
                <a:ea typeface="Arial"/>
                <a:cs typeface="Arial"/>
                <a:sym typeface="Arial"/>
              </a:rPr>
              <a:t>MEDIO</a:t>
            </a:r>
          </a:p>
        </p:txBody>
      </p:sp>
      <p:sp>
        <p:nvSpPr>
          <p:cNvPr id="506" name="Shape 506"/>
          <p:cNvSpPr txBox="1"/>
          <p:nvPr/>
        </p:nvSpPr>
        <p:spPr>
          <a:xfrm>
            <a:off x="34925" y="1628775"/>
            <a:ext cx="1584325"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INGRESOS Y</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COSTOS</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MEDIOS</a:t>
            </a:r>
          </a:p>
        </p:txBody>
      </p:sp>
      <p:sp>
        <p:nvSpPr>
          <p:cNvPr id="507" name="Shape 507"/>
          <p:cNvSpPr txBox="1"/>
          <p:nvPr/>
        </p:nvSpPr>
        <p:spPr>
          <a:xfrm>
            <a:off x="4067175" y="5949950"/>
            <a:ext cx="1223961"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508" name="Shape 508"/>
          <p:cNvCxnSpPr/>
          <p:nvPr/>
        </p:nvCxnSpPr>
        <p:spPr>
          <a:xfrm rot="10800000">
            <a:off x="1258887" y="4868862"/>
            <a:ext cx="1296986" cy="0"/>
          </a:xfrm>
          <a:prstGeom prst="straightConnector1">
            <a:avLst/>
          </a:prstGeom>
          <a:noFill/>
          <a:ln cap="flat" cmpd="sng" w="9525">
            <a:solidFill>
              <a:schemeClr val="dk1"/>
            </a:solidFill>
            <a:prstDash val="solid"/>
            <a:miter/>
            <a:headEnd len="med" w="med" type="none"/>
            <a:tailEnd len="med" w="med" type="none"/>
          </a:ln>
        </p:spPr>
      </p:cxnSp>
      <p:cxnSp>
        <p:nvCxnSpPr>
          <p:cNvPr id="509" name="Shape 509"/>
          <p:cNvCxnSpPr/>
          <p:nvPr/>
        </p:nvCxnSpPr>
        <p:spPr>
          <a:xfrm>
            <a:off x="2555875" y="4868862"/>
            <a:ext cx="0" cy="936624"/>
          </a:xfrm>
          <a:prstGeom prst="straightConnector1">
            <a:avLst/>
          </a:prstGeom>
          <a:noFill/>
          <a:ln cap="flat" cmpd="sng" w="9525">
            <a:solidFill>
              <a:schemeClr val="dk1"/>
            </a:solidFill>
            <a:prstDash val="solid"/>
            <a:miter/>
            <a:headEnd len="med" w="med" type="oval"/>
            <a:tailEnd len="med" w="med" type="none"/>
          </a:ln>
        </p:spPr>
      </p:cxnSp>
      <p:sp>
        <p:nvSpPr>
          <p:cNvPr id="510" name="Shape 510"/>
          <p:cNvSpPr txBox="1"/>
          <p:nvPr/>
        </p:nvSpPr>
        <p:spPr>
          <a:xfrm>
            <a:off x="-107950" y="4437062"/>
            <a:ext cx="1368425" cy="7207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CVMEDIO </a:t>
            </a:r>
            <a:r>
              <a:rPr b="1" baseline="-25000" i="0" lang="en-US" sz="1400" u="none" cap="none" strike="noStrike">
                <a:solidFill>
                  <a:schemeClr val="dk1"/>
                </a:solidFill>
                <a:latin typeface="Arial"/>
                <a:ea typeface="Arial"/>
                <a:cs typeface="Arial"/>
                <a:sym typeface="Arial"/>
              </a:rPr>
              <a:t>min</a:t>
            </a:r>
          </a:p>
        </p:txBody>
      </p:sp>
      <p:sp>
        <p:nvSpPr>
          <p:cNvPr id="511" name="Shape 511"/>
          <p:cNvSpPr txBox="1"/>
          <p:nvPr/>
        </p:nvSpPr>
        <p:spPr>
          <a:xfrm>
            <a:off x="2268536" y="5734050"/>
            <a:ext cx="647700"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512" name="Shape 512"/>
          <p:cNvSpPr/>
          <p:nvPr/>
        </p:nvSpPr>
        <p:spPr>
          <a:xfrm>
            <a:off x="2608261" y="2060575"/>
            <a:ext cx="2487612" cy="2781300"/>
          </a:xfrm>
          <a:custGeom>
            <a:pathLst>
              <a:path extrusionOk="0" h="120000" w="120000">
                <a:moveTo>
                  <a:pt x="0" y="120000"/>
                </a:moveTo>
                <a:cubicBezTo>
                  <a:pt x="3752" y="116506"/>
                  <a:pt x="15698" y="105410"/>
                  <a:pt x="22437" y="98972"/>
                </a:cubicBezTo>
                <a:cubicBezTo>
                  <a:pt x="29176" y="92534"/>
                  <a:pt x="35303" y="86369"/>
                  <a:pt x="40510" y="81164"/>
                </a:cubicBezTo>
                <a:cubicBezTo>
                  <a:pt x="45717" y="75958"/>
                  <a:pt x="48474" y="72671"/>
                  <a:pt x="53529" y="67602"/>
                </a:cubicBezTo>
                <a:cubicBezTo>
                  <a:pt x="58583" y="62534"/>
                  <a:pt x="65781" y="55890"/>
                  <a:pt x="70835" y="50821"/>
                </a:cubicBezTo>
                <a:cubicBezTo>
                  <a:pt x="75890" y="45753"/>
                  <a:pt x="78800" y="42328"/>
                  <a:pt x="83854" y="37191"/>
                </a:cubicBezTo>
                <a:cubicBezTo>
                  <a:pt x="88908" y="32054"/>
                  <a:pt x="95188" y="26232"/>
                  <a:pt x="101238" y="20068"/>
                </a:cubicBezTo>
                <a:cubicBezTo>
                  <a:pt x="107287" y="13904"/>
                  <a:pt x="116094" y="4178"/>
                  <a:pt x="120000" y="0"/>
                </a:cubicBezTo>
              </a:path>
            </a:pathLst>
          </a:custGeom>
          <a:noFill/>
          <a:ln cap="flat" cmpd="sng" w="381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513" name="Shape 513"/>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17" name="Shape 517"/>
        <p:cNvGrpSpPr/>
        <p:nvPr/>
      </p:nvGrpSpPr>
      <p:grpSpPr>
        <a:xfrm>
          <a:off x="0" y="0"/>
          <a:ext cx="0" cy="0"/>
          <a:chOff x="0" y="0"/>
          <a:chExt cx="0" cy="0"/>
        </a:xfrm>
      </p:grpSpPr>
      <p:sp>
        <p:nvSpPr>
          <p:cNvPr id="518" name="Shape 518"/>
          <p:cNvSpPr txBox="1"/>
          <p:nvPr>
            <p:ph idx="4294967295" type="title"/>
          </p:nvPr>
        </p:nvSpPr>
        <p:spPr>
          <a:xfrm>
            <a:off x="107950" y="44450"/>
            <a:ext cx="3887786" cy="1722437"/>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745D08"/>
              </a:buClr>
              <a:buSzPct val="25000"/>
              <a:buFont typeface="Arial"/>
              <a:buNone/>
            </a:pPr>
            <a:r>
              <a:rPr b="1" i="0" lang="en-US" sz="3500" u="none" cap="none" strike="noStrike">
                <a:solidFill>
                  <a:srgbClr val="745D08"/>
                </a:solidFill>
                <a:latin typeface="Arial"/>
                <a:ea typeface="Arial"/>
                <a:cs typeface="Arial"/>
                <a:sym typeface="Arial"/>
              </a:rPr>
              <a:t>MERCADO </a:t>
            </a:r>
            <a:br>
              <a:rPr b="1" i="0" lang="en-US" sz="3500" u="none" cap="none" strike="noStrike">
                <a:solidFill>
                  <a:srgbClr val="745D08"/>
                </a:solidFill>
                <a:latin typeface="Arial"/>
                <a:ea typeface="Arial"/>
                <a:cs typeface="Arial"/>
                <a:sym typeface="Arial"/>
              </a:rPr>
            </a:br>
            <a:r>
              <a:rPr b="1" i="0" lang="en-US" sz="2400" u="none" cap="none" strike="noStrike">
                <a:solidFill>
                  <a:srgbClr val="745D08"/>
                </a:solidFill>
                <a:latin typeface="Arial"/>
                <a:ea typeface="Arial"/>
                <a:cs typeface="Arial"/>
                <a:sym typeface="Arial"/>
              </a:rPr>
              <a:t>DE COMPETENCIA PERFECTA</a:t>
            </a:r>
            <a:br>
              <a:rPr b="1" i="0" lang="en-US" sz="3500" u="none" cap="none" strike="noStrike">
                <a:solidFill>
                  <a:srgbClr val="745D08"/>
                </a:solidFill>
                <a:latin typeface="Arial"/>
                <a:ea typeface="Arial"/>
                <a:cs typeface="Arial"/>
                <a:sym typeface="Arial"/>
              </a:rPr>
            </a:br>
            <a:r>
              <a:rPr b="1" i="0" lang="en-US" sz="2000" u="none" cap="none" strike="noStrike">
                <a:solidFill>
                  <a:srgbClr val="745D08"/>
                </a:solidFill>
                <a:latin typeface="Arial"/>
                <a:ea typeface="Arial"/>
                <a:cs typeface="Arial"/>
                <a:sym typeface="Arial"/>
              </a:rPr>
              <a:t>LARGO PLAZO</a:t>
            </a:r>
          </a:p>
        </p:txBody>
      </p:sp>
      <p:sp>
        <p:nvSpPr>
          <p:cNvPr id="519" name="Shape 519"/>
          <p:cNvSpPr txBox="1"/>
          <p:nvPr>
            <p:ph idx="4294967295" type="body"/>
          </p:nvPr>
        </p:nvSpPr>
        <p:spPr>
          <a:xfrm>
            <a:off x="4932362" y="1989136"/>
            <a:ext cx="4038599" cy="441166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600" u="none" cap="none" strike="noStrike">
                <a:solidFill>
                  <a:schemeClr val="dk1"/>
                </a:solidFill>
                <a:latin typeface="Arial"/>
                <a:ea typeface="Arial"/>
                <a:cs typeface="Arial"/>
                <a:sym typeface="Arial"/>
              </a:rPr>
              <a:t>A largo plazo, si las empresas obtienen beneficio extraordinario otras acudirán a este negocio desplazando la curva de oferta hacia la derecha lo que hará caer el precio eliminando el citado beneficio.</a:t>
            </a:r>
          </a:p>
          <a:p>
            <a:pPr indent="-342900" lvl="0" marL="342900" marR="0" rtl="0" algn="l">
              <a:lnSpc>
                <a:spcPct val="80000"/>
              </a:lnSpc>
              <a:spcBef>
                <a:spcPts val="320"/>
              </a:spcBef>
              <a:spcAft>
                <a:spcPts val="0"/>
              </a:spcAft>
              <a:buClr>
                <a:schemeClr val="dk2"/>
              </a:buClr>
              <a:buSzPct val="25000"/>
              <a:buFont typeface="Noto Sans Symbols"/>
              <a:buNone/>
            </a:pPr>
            <a:r>
              <a:t/>
            </a:r>
            <a:endParaRPr b="0" i="0" sz="1600" u="none" cap="none" strike="noStrike">
              <a:solidFill>
                <a:schemeClr val="dk1"/>
              </a:solidFill>
              <a:latin typeface="Arial"/>
              <a:ea typeface="Arial"/>
              <a:cs typeface="Arial"/>
              <a:sym typeface="Arial"/>
            </a:endParaRPr>
          </a:p>
          <a:p>
            <a:pPr indent="-342900" lvl="0" marL="342900" marR="0" rtl="0" algn="l">
              <a:lnSpc>
                <a:spcPct val="80000"/>
              </a:lnSpc>
              <a:spcBef>
                <a:spcPts val="320"/>
              </a:spcBef>
              <a:spcAft>
                <a:spcPts val="0"/>
              </a:spcAft>
              <a:buClr>
                <a:schemeClr val="dk2"/>
              </a:buClr>
              <a:buSzPct val="25000"/>
              <a:buFont typeface="Noto Sans Symbols"/>
              <a:buNone/>
            </a:pPr>
            <a:r>
              <a:t/>
            </a:r>
            <a:endParaRPr b="0" i="0" sz="1600" u="none" cap="none" strike="noStrike">
              <a:solidFill>
                <a:schemeClr val="dk1"/>
              </a:solidFill>
              <a:latin typeface="Arial"/>
              <a:ea typeface="Arial"/>
              <a:cs typeface="Arial"/>
              <a:sym typeface="Arial"/>
            </a:endParaRPr>
          </a:p>
          <a:p>
            <a:pPr indent="-342900" lvl="0" marL="342900" marR="0" rtl="0" algn="l">
              <a:lnSpc>
                <a:spcPct val="80000"/>
              </a:lnSpc>
              <a:spcBef>
                <a:spcPts val="280"/>
              </a:spcBef>
              <a:spcAft>
                <a:spcPts val="0"/>
              </a:spcAft>
              <a:buClr>
                <a:schemeClr val="dk2"/>
              </a:buClr>
              <a:buSzPct val="25000"/>
              <a:buFont typeface="Noto Sans Symbols"/>
              <a:buNone/>
            </a:pPr>
            <a:r>
              <a:t/>
            </a:r>
            <a:endParaRPr b="0" i="0" sz="1400" u="none" cap="none" strike="noStrike">
              <a:solidFill>
                <a:schemeClr val="dk1"/>
              </a:solidFill>
              <a:latin typeface="Arial"/>
              <a:ea typeface="Arial"/>
              <a:cs typeface="Arial"/>
              <a:sym typeface="Arial"/>
            </a:endParaRPr>
          </a:p>
          <a:p>
            <a:pPr indent="-342900" lvl="0" marL="342900" marR="0" rtl="0" algn="l">
              <a:lnSpc>
                <a:spcPct val="80000"/>
              </a:lnSpc>
              <a:spcBef>
                <a:spcPts val="280"/>
              </a:spcBef>
              <a:spcAft>
                <a:spcPts val="0"/>
              </a:spcAft>
              <a:buClr>
                <a:schemeClr val="dk2"/>
              </a:buClr>
              <a:buSzPct val="25000"/>
              <a:buFont typeface="Noto Sans Symbols"/>
              <a:buNone/>
            </a:pPr>
            <a:r>
              <a:t/>
            </a:r>
            <a:endParaRPr b="0" i="0" sz="1400" u="none" cap="none" strike="noStrike">
              <a:solidFill>
                <a:schemeClr val="dk1"/>
              </a:solidFill>
              <a:latin typeface="Arial"/>
              <a:ea typeface="Arial"/>
              <a:cs typeface="Arial"/>
              <a:sym typeface="Arial"/>
            </a:endParaRPr>
          </a:p>
          <a:p>
            <a:pPr indent="-342900" lvl="0" marL="342900" marR="0" rtl="0" algn="l">
              <a:lnSpc>
                <a:spcPct val="80000"/>
              </a:lnSpc>
              <a:spcBef>
                <a:spcPts val="280"/>
              </a:spcBef>
              <a:spcAft>
                <a:spcPts val="0"/>
              </a:spcAft>
              <a:buClr>
                <a:schemeClr val="dk2"/>
              </a:buClr>
              <a:buSzPct val="25000"/>
              <a:buFont typeface="Noto Sans Symbols"/>
              <a:buNone/>
            </a:pPr>
            <a:r>
              <a:t/>
            </a:r>
            <a:endParaRPr b="0" i="0" sz="1400" u="none" cap="none" strike="noStrike">
              <a:solidFill>
                <a:schemeClr val="dk1"/>
              </a:solidFill>
              <a:latin typeface="Arial"/>
              <a:ea typeface="Arial"/>
              <a:cs typeface="Arial"/>
              <a:sym typeface="Arial"/>
            </a:endParaRPr>
          </a:p>
          <a:p>
            <a:pPr indent="-342900" lvl="0" marL="342900" marR="0" rtl="0" algn="l">
              <a:lnSpc>
                <a:spcPct val="80000"/>
              </a:lnSpc>
              <a:spcBef>
                <a:spcPts val="280"/>
              </a:spcBef>
              <a:spcAft>
                <a:spcPts val="0"/>
              </a:spcAft>
              <a:buClr>
                <a:schemeClr val="dk2"/>
              </a:buClr>
              <a:buSzPct val="25000"/>
              <a:buFont typeface="Noto Sans Symbols"/>
              <a:buNone/>
            </a:pPr>
            <a:r>
              <a:t/>
            </a:r>
            <a:endParaRPr b="0" i="0" sz="1400" u="none" cap="none" strike="noStrike">
              <a:solidFill>
                <a:schemeClr val="dk1"/>
              </a:solidFill>
              <a:latin typeface="Arial"/>
              <a:ea typeface="Arial"/>
              <a:cs typeface="Arial"/>
              <a:sym typeface="Arial"/>
            </a:endParaRPr>
          </a:p>
          <a:p>
            <a:pPr indent="-342900" lvl="0" marL="342900" marR="0" rtl="0" algn="l">
              <a:lnSpc>
                <a:spcPct val="80000"/>
              </a:lnSpc>
              <a:spcBef>
                <a:spcPts val="280"/>
              </a:spcBef>
              <a:spcAft>
                <a:spcPts val="0"/>
              </a:spcAft>
              <a:buClr>
                <a:schemeClr val="dk2"/>
              </a:buClr>
              <a:buSzPct val="25000"/>
              <a:buFont typeface="Noto Sans Symbols"/>
              <a:buNone/>
            </a:pPr>
            <a:r>
              <a:rPr b="0" i="0" lang="en-US" sz="1400" u="none" cap="none" strike="noStrike">
                <a:solidFill>
                  <a:schemeClr val="dk1"/>
                </a:solidFill>
                <a:latin typeface="Arial"/>
                <a:ea typeface="Arial"/>
                <a:cs typeface="Arial"/>
                <a:sym typeface="Arial"/>
              </a:rPr>
              <a:t> </a:t>
            </a:r>
          </a:p>
          <a:p>
            <a:pPr indent="-342900" lvl="0" marL="342900" marR="0" rtl="0" algn="l">
              <a:lnSpc>
                <a:spcPct val="80000"/>
              </a:lnSpc>
              <a:spcBef>
                <a:spcPts val="320"/>
              </a:spcBef>
              <a:spcAft>
                <a:spcPts val="0"/>
              </a:spcAft>
              <a:buClr>
                <a:schemeClr val="dk2"/>
              </a:buClr>
              <a:buSzPct val="25000"/>
              <a:buFont typeface="Noto Sans Symbols"/>
              <a:buNone/>
            </a:pPr>
            <a:r>
              <a:rPr b="0" i="0" lang="en-US" sz="1600" u="none" cap="none" strike="noStrike">
                <a:solidFill>
                  <a:schemeClr val="dk1"/>
                </a:solidFill>
                <a:latin typeface="Arial"/>
                <a:ea typeface="Arial"/>
                <a:cs typeface="Arial"/>
                <a:sym typeface="Arial"/>
              </a:rPr>
              <a:t>Para que el beneficio sea nulo el precio debe ser igual al costo total medio, condición que sólo se cumple en el punto en el que la curva de demanda dirigida al productor es tangente a la curva del costo total medio, es decir donde el costo medio es mínimo.</a:t>
            </a:r>
          </a:p>
          <a:p>
            <a:pPr indent="-342900" lvl="0" marL="342900" marR="0" rtl="0" algn="l">
              <a:lnSpc>
                <a:spcPct val="80000"/>
              </a:lnSpc>
              <a:spcBef>
                <a:spcPts val="320"/>
              </a:spcBef>
              <a:spcAft>
                <a:spcPts val="0"/>
              </a:spcAft>
              <a:buClr>
                <a:schemeClr val="dk2"/>
              </a:buClr>
              <a:buSzPct val="25000"/>
              <a:buFont typeface="Noto Sans Symbols"/>
              <a:buNone/>
            </a:pPr>
            <a:r>
              <a:t/>
            </a:r>
            <a:endParaRPr b="0" i="0" sz="1600" u="none" cap="none" strike="noStrike">
              <a:solidFill>
                <a:schemeClr val="dk1"/>
              </a:solidFill>
              <a:latin typeface="Arial"/>
              <a:ea typeface="Arial"/>
              <a:cs typeface="Arial"/>
              <a:sym typeface="Arial"/>
            </a:endParaRPr>
          </a:p>
          <a:p>
            <a:pPr indent="-342900" lvl="0" marL="342900" marR="0" rtl="0" algn="l">
              <a:lnSpc>
                <a:spcPct val="100000"/>
              </a:lnSpc>
              <a:spcBef>
                <a:spcPts val="320"/>
              </a:spcBef>
              <a:spcAft>
                <a:spcPts val="0"/>
              </a:spcAft>
              <a:buClr>
                <a:schemeClr val="dk2"/>
              </a:buClr>
              <a:buSzPct val="70000"/>
              <a:buFont typeface="Noto Sans Symbols"/>
              <a:buNone/>
            </a:pPr>
            <a:r>
              <a:t/>
            </a:r>
            <a:endParaRPr b="0" i="0" sz="1600" u="none" cap="none" strike="noStrike">
              <a:solidFill>
                <a:schemeClr val="dk1"/>
              </a:solidFill>
              <a:latin typeface="Arial"/>
              <a:ea typeface="Arial"/>
              <a:cs typeface="Arial"/>
              <a:sym typeface="Arial"/>
            </a:endParaRPr>
          </a:p>
        </p:txBody>
      </p:sp>
      <p:cxnSp>
        <p:nvCxnSpPr>
          <p:cNvPr id="520" name="Shape 520"/>
          <p:cNvCxnSpPr/>
          <p:nvPr/>
        </p:nvCxnSpPr>
        <p:spPr>
          <a:xfrm>
            <a:off x="1547812"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521" name="Shape 521"/>
          <p:cNvCxnSpPr/>
          <p:nvPr/>
        </p:nvCxnSpPr>
        <p:spPr>
          <a:xfrm>
            <a:off x="1042987" y="6021387"/>
            <a:ext cx="4392611" cy="0"/>
          </a:xfrm>
          <a:prstGeom prst="straightConnector1">
            <a:avLst/>
          </a:prstGeom>
          <a:noFill/>
          <a:ln cap="flat" cmpd="sng" w="9525">
            <a:solidFill>
              <a:schemeClr val="dk1"/>
            </a:solidFill>
            <a:prstDash val="solid"/>
            <a:miter/>
            <a:headEnd len="med" w="med" type="none"/>
            <a:tailEnd len="med" w="med" type="none"/>
          </a:ln>
        </p:spPr>
      </p:cxnSp>
      <p:sp>
        <p:nvSpPr>
          <p:cNvPr id="522" name="Shape 522"/>
          <p:cNvSpPr/>
          <p:nvPr/>
        </p:nvSpPr>
        <p:spPr>
          <a:xfrm rot="-2160000">
            <a:off x="1619250" y="3789362"/>
            <a:ext cx="3311524" cy="1231899"/>
          </a:xfrm>
          <a:custGeom>
            <a:pathLst>
              <a:path extrusionOk="0" h="120000" w="120000">
                <a:moveTo>
                  <a:pt x="0" y="86294"/>
                </a:moveTo>
                <a:cubicBezTo>
                  <a:pt x="1563" y="91235"/>
                  <a:pt x="4629" y="111875"/>
                  <a:pt x="9498" y="115937"/>
                </a:cubicBezTo>
                <a:cubicBezTo>
                  <a:pt x="14368" y="120000"/>
                  <a:pt x="21883" y="116596"/>
                  <a:pt x="29398" y="110777"/>
                </a:cubicBezTo>
                <a:cubicBezTo>
                  <a:pt x="36913" y="104958"/>
                  <a:pt x="44909" y="92881"/>
                  <a:pt x="54529" y="81354"/>
                </a:cubicBezTo>
                <a:cubicBezTo>
                  <a:pt x="64148" y="69826"/>
                  <a:pt x="77254" y="53906"/>
                  <a:pt x="87234" y="41500"/>
                </a:cubicBezTo>
                <a:cubicBezTo>
                  <a:pt x="97214" y="29094"/>
                  <a:pt x="109058" y="13174"/>
                  <a:pt x="114529" y="6587"/>
                </a:cubicBezTo>
                <a:cubicBezTo>
                  <a:pt x="120000" y="0"/>
                  <a:pt x="120000" y="768"/>
                  <a:pt x="120000" y="1646"/>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23" name="Shape 523"/>
          <p:cNvSpPr txBox="1"/>
          <p:nvPr/>
        </p:nvSpPr>
        <p:spPr>
          <a:xfrm>
            <a:off x="539750"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524" name="Shape 524"/>
          <p:cNvSpPr txBox="1"/>
          <p:nvPr/>
        </p:nvSpPr>
        <p:spPr>
          <a:xfrm>
            <a:off x="4213225" y="6021387"/>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525" name="Shape 525"/>
          <p:cNvSpPr txBox="1"/>
          <p:nvPr/>
        </p:nvSpPr>
        <p:spPr>
          <a:xfrm>
            <a:off x="3203575" y="2565400"/>
            <a:ext cx="1584325"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COSTO </a:t>
            </a:r>
          </a:p>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MARGINAL</a:t>
            </a:r>
          </a:p>
        </p:txBody>
      </p:sp>
      <p:sp>
        <p:nvSpPr>
          <p:cNvPr id="526" name="Shape 526"/>
          <p:cNvSpPr txBox="1"/>
          <p:nvPr/>
        </p:nvSpPr>
        <p:spPr>
          <a:xfrm>
            <a:off x="4787900" y="3500437"/>
            <a:ext cx="1512886" cy="863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 </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DIRIGIDA A </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LA EMPRESA</a:t>
            </a:r>
          </a:p>
        </p:txBody>
      </p:sp>
      <p:sp>
        <p:nvSpPr>
          <p:cNvPr id="527" name="Shape 527"/>
          <p:cNvSpPr txBox="1"/>
          <p:nvPr/>
        </p:nvSpPr>
        <p:spPr>
          <a:xfrm>
            <a:off x="3421062" y="5949950"/>
            <a:ext cx="71436"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528" name="Shape 528"/>
          <p:cNvSpPr/>
          <p:nvPr/>
        </p:nvSpPr>
        <p:spPr>
          <a:xfrm>
            <a:off x="1692275" y="3213100"/>
            <a:ext cx="3165475" cy="1243012"/>
          </a:xfrm>
          <a:custGeom>
            <a:pathLst>
              <a:path extrusionOk="0" h="120000" w="120000">
                <a:moveTo>
                  <a:pt x="0" y="0"/>
                </a:moveTo>
                <a:cubicBezTo>
                  <a:pt x="2647" y="10114"/>
                  <a:pt x="10050" y="44137"/>
                  <a:pt x="16008" y="60842"/>
                </a:cubicBezTo>
                <a:cubicBezTo>
                  <a:pt x="21965" y="77547"/>
                  <a:pt x="28645" y="90268"/>
                  <a:pt x="35927" y="99923"/>
                </a:cubicBezTo>
                <a:cubicBezTo>
                  <a:pt x="43209" y="109578"/>
                  <a:pt x="51514" y="116934"/>
                  <a:pt x="59578" y="118467"/>
                </a:cubicBezTo>
                <a:cubicBezTo>
                  <a:pt x="67642" y="120000"/>
                  <a:pt x="76429" y="116934"/>
                  <a:pt x="84252" y="108965"/>
                </a:cubicBezTo>
                <a:cubicBezTo>
                  <a:pt x="92076" y="100996"/>
                  <a:pt x="100381" y="84444"/>
                  <a:pt x="106339" y="70957"/>
                </a:cubicBezTo>
                <a:cubicBezTo>
                  <a:pt x="112296" y="57471"/>
                  <a:pt x="117171" y="36628"/>
                  <a:pt x="120000" y="27586"/>
                </a:cubicBezTo>
              </a:path>
            </a:pathLst>
          </a:custGeom>
          <a:noFill/>
          <a:ln cap="flat" cmpd="sng" w="3492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29" name="Shape 529"/>
          <p:cNvSpPr txBox="1"/>
          <p:nvPr/>
        </p:nvSpPr>
        <p:spPr>
          <a:xfrm>
            <a:off x="1763711" y="3068636"/>
            <a:ext cx="863599"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MEDIO</a:t>
            </a:r>
          </a:p>
        </p:txBody>
      </p:sp>
      <p:sp>
        <p:nvSpPr>
          <p:cNvPr id="530" name="Shape 530"/>
          <p:cNvSpPr txBox="1"/>
          <p:nvPr/>
        </p:nvSpPr>
        <p:spPr>
          <a:xfrm>
            <a:off x="0" y="4221162"/>
            <a:ext cx="1547811"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 = Ime = Ima</a:t>
            </a:r>
          </a:p>
        </p:txBody>
      </p:sp>
      <p:cxnSp>
        <p:nvCxnSpPr>
          <p:cNvPr id="531" name="Shape 531"/>
          <p:cNvCxnSpPr/>
          <p:nvPr/>
        </p:nvCxnSpPr>
        <p:spPr>
          <a:xfrm rot="10800000">
            <a:off x="1547811" y="4437062"/>
            <a:ext cx="4679950" cy="0"/>
          </a:xfrm>
          <a:prstGeom prst="straightConnector1">
            <a:avLst/>
          </a:prstGeom>
          <a:noFill/>
          <a:ln cap="flat" cmpd="sng" w="41275">
            <a:solidFill>
              <a:srgbClr val="000080"/>
            </a:solidFill>
            <a:prstDash val="solid"/>
            <a:miter/>
            <a:headEnd len="med" w="med" type="none"/>
            <a:tailEnd len="med" w="med" type="none"/>
          </a:ln>
        </p:spPr>
      </p:cxnSp>
      <p:cxnSp>
        <p:nvCxnSpPr>
          <p:cNvPr id="532" name="Shape 532"/>
          <p:cNvCxnSpPr/>
          <p:nvPr/>
        </p:nvCxnSpPr>
        <p:spPr>
          <a:xfrm>
            <a:off x="3419475" y="4437062"/>
            <a:ext cx="0" cy="1514474"/>
          </a:xfrm>
          <a:prstGeom prst="straightConnector1">
            <a:avLst/>
          </a:prstGeom>
          <a:noFill/>
          <a:ln cap="flat" cmpd="sng" w="9525">
            <a:solidFill>
              <a:schemeClr val="dk1"/>
            </a:solidFill>
            <a:prstDash val="solid"/>
            <a:miter/>
            <a:headEnd len="med" w="med" type="none"/>
            <a:tailEnd len="med" w="med" type="none"/>
          </a:ln>
        </p:spPr>
      </p:cxnSp>
      <p:pic>
        <p:nvPicPr>
          <p:cNvPr id="533" name="Shape 533"/>
          <p:cNvPicPr preferRelativeResize="0"/>
          <p:nvPr>
            <p:ph idx="4294967295" type="body"/>
          </p:nvPr>
        </p:nvPicPr>
        <p:blipFill rotWithShape="1">
          <a:blip r:embed="rId3">
            <a:alphaModFix/>
          </a:blip>
          <a:srcRect b="0" l="0" r="0" t="0"/>
          <a:stretch/>
        </p:blipFill>
        <p:spPr>
          <a:xfrm>
            <a:off x="4859337" y="620712"/>
            <a:ext cx="3009899" cy="609599"/>
          </a:xfrm>
          <a:prstGeom prst="rect">
            <a:avLst/>
          </a:prstGeom>
          <a:noFill/>
          <a:ln>
            <a:noFill/>
          </a:ln>
        </p:spPr>
      </p:pic>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37" name="Shape 537"/>
        <p:cNvGrpSpPr/>
        <p:nvPr/>
      </p:nvGrpSpPr>
      <p:grpSpPr>
        <a:xfrm>
          <a:off x="0" y="0"/>
          <a:ext cx="0" cy="0"/>
          <a:chOff x="0" y="0"/>
          <a:chExt cx="0" cy="0"/>
        </a:xfrm>
      </p:grpSpPr>
      <p:sp>
        <p:nvSpPr>
          <p:cNvPr id="538" name="Shape 538"/>
          <p:cNvSpPr txBox="1"/>
          <p:nvPr>
            <p:ph idx="4294967295" type="title"/>
          </p:nvPr>
        </p:nvSpPr>
        <p:spPr>
          <a:xfrm>
            <a:off x="179386" y="188911"/>
            <a:ext cx="3322636"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MONOPOLIO</a:t>
            </a:r>
            <a:br>
              <a:rPr b="1" i="0" lang="en-US" sz="39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DEFINICIÓN</a:t>
            </a:r>
          </a:p>
        </p:txBody>
      </p:sp>
      <p:pic>
        <p:nvPicPr>
          <p:cNvPr id="539" name="Shape 539"/>
          <p:cNvPicPr preferRelativeResize="0"/>
          <p:nvPr>
            <p:ph idx="4294967295" type="body"/>
          </p:nvPr>
        </p:nvPicPr>
        <p:blipFill rotWithShape="1">
          <a:blip r:embed="rId3">
            <a:alphaModFix/>
          </a:blip>
          <a:srcRect b="0" l="0" r="0" t="0"/>
          <a:stretch/>
        </p:blipFill>
        <p:spPr>
          <a:xfrm>
            <a:off x="571500" y="2543175"/>
            <a:ext cx="3809999" cy="2762250"/>
          </a:xfrm>
          <a:prstGeom prst="rect">
            <a:avLst/>
          </a:prstGeom>
          <a:noFill/>
          <a:ln>
            <a:noFill/>
          </a:ln>
        </p:spPr>
      </p:pic>
      <p:sp>
        <p:nvSpPr>
          <p:cNvPr id="540" name="Shape 540"/>
          <p:cNvSpPr txBox="1"/>
          <p:nvPr/>
        </p:nvSpPr>
        <p:spPr>
          <a:xfrm>
            <a:off x="4211637" y="1773236"/>
            <a:ext cx="4932362" cy="2735262"/>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Se trata del mercado que mantiene la oferta</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concentrada en un solo productor que</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actúa con el poder suficiente para imponer</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 precio  </a:t>
            </a:r>
          </a:p>
        </p:txBody>
      </p:sp>
      <p:pic>
        <p:nvPicPr>
          <p:cNvPr id="541" name="Shape 541"/>
          <p:cNvPicPr preferRelativeResize="0"/>
          <p:nvPr>
            <p:ph idx="4294967295" type="body"/>
          </p:nvPr>
        </p:nvPicPr>
        <p:blipFill rotWithShape="1">
          <a:blip r:embed="rId4">
            <a:alphaModFix/>
          </a:blip>
          <a:srcRect b="0" l="0" r="0" t="0"/>
          <a:stretch/>
        </p:blipFill>
        <p:spPr>
          <a:xfrm>
            <a:off x="4932362" y="692150"/>
            <a:ext cx="3009899" cy="609599"/>
          </a:xfrm>
          <a:prstGeom prst="rect">
            <a:avLst/>
          </a:prstGeom>
          <a:noFill/>
          <a:ln>
            <a:noFill/>
          </a:ln>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45" name="Shape 545"/>
        <p:cNvGrpSpPr/>
        <p:nvPr/>
      </p:nvGrpSpPr>
      <p:grpSpPr>
        <a:xfrm>
          <a:off x="0" y="0"/>
          <a:ext cx="0" cy="0"/>
          <a:chOff x="0" y="0"/>
          <a:chExt cx="0" cy="0"/>
        </a:xfrm>
      </p:grpSpPr>
      <p:sp>
        <p:nvSpPr>
          <p:cNvPr id="546" name="Shape 546"/>
          <p:cNvSpPr txBox="1"/>
          <p:nvPr>
            <p:ph idx="4294967295" type="title"/>
          </p:nvPr>
        </p:nvSpPr>
        <p:spPr>
          <a:xfrm>
            <a:off x="179386" y="188911"/>
            <a:ext cx="3141662"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1800" u="none" cap="none" strike="noStrike">
                <a:solidFill>
                  <a:schemeClr val="dk2"/>
                </a:solidFill>
                <a:latin typeface="Arial"/>
                <a:ea typeface="Arial"/>
                <a:cs typeface="Arial"/>
                <a:sym typeface="Arial"/>
              </a:rPr>
              <a:t>GENERACIÓN</a:t>
            </a:r>
          </a:p>
        </p:txBody>
      </p:sp>
      <p:sp>
        <p:nvSpPr>
          <p:cNvPr id="547" name="Shape 547"/>
          <p:cNvSpPr txBox="1"/>
          <p:nvPr>
            <p:ph idx="4294967295" type="body"/>
          </p:nvPr>
        </p:nvSpPr>
        <p:spPr>
          <a:xfrm>
            <a:off x="457200" y="1719261"/>
            <a:ext cx="8002587" cy="4411661"/>
          </a:xfrm>
          <a:prstGeom prst="rect">
            <a:avLst/>
          </a:prstGeom>
          <a:noFill/>
          <a:ln>
            <a:noFill/>
          </a:ln>
        </p:spPr>
        <p:txBody>
          <a:bodyPr anchorCtr="0" anchor="t" bIns="45700" lIns="91425" rIns="91425" tIns="45700">
            <a:noAutofit/>
          </a:bodyPr>
          <a:lstStyle/>
          <a:p>
            <a:pPr indent="-303212" lvl="3" marL="1281112" marR="0" rtl="0" algn="l">
              <a:lnSpc>
                <a:spcPct val="100000"/>
              </a:lnSpc>
              <a:spcBef>
                <a:spcPts val="0"/>
              </a:spcBef>
              <a:spcAft>
                <a:spcPts val="0"/>
              </a:spcAft>
              <a:buClr>
                <a:schemeClr val="dk2"/>
              </a:buClr>
              <a:buSzPct val="25000"/>
              <a:buFont typeface="Noto Sans Symbols"/>
              <a:buNone/>
            </a:pPr>
            <a:r>
              <a:rPr b="1" i="1" lang="en-US" sz="2000" u="none" cap="none" strike="noStrike">
                <a:solidFill>
                  <a:srgbClr val="F7094D"/>
                </a:solidFill>
                <a:latin typeface="Arial"/>
                <a:ea typeface="Arial"/>
                <a:cs typeface="Arial"/>
                <a:sym typeface="Arial"/>
              </a:rPr>
              <a:t>El MONOPOLIO SE GENERA CUANDO:</a:t>
            </a:r>
          </a:p>
          <a:p>
            <a:pPr indent="-303212" lvl="3" marL="1281112" marR="0" rtl="0" algn="l">
              <a:lnSpc>
                <a:spcPct val="100000"/>
              </a:lnSpc>
              <a:spcBef>
                <a:spcPts val="400"/>
              </a:spcBef>
              <a:spcAft>
                <a:spcPts val="0"/>
              </a:spcAft>
              <a:buClr>
                <a:schemeClr val="dk2"/>
              </a:buClr>
              <a:buSzPct val="25000"/>
              <a:buFont typeface="Noto Sans Symbols"/>
              <a:buNone/>
            </a:pPr>
            <a:r>
              <a:t/>
            </a:r>
            <a:endParaRPr b="1" i="1" sz="2000" u="none" cap="none" strike="noStrike">
              <a:solidFill>
                <a:srgbClr val="F7094D"/>
              </a:solidFill>
              <a:latin typeface="Arial"/>
              <a:ea typeface="Arial"/>
              <a:cs typeface="Arial"/>
              <a:sym typeface="Arial"/>
            </a:endParaRPr>
          </a:p>
          <a:p>
            <a:pPr indent="-303212" lvl="3" marL="1281112" marR="0" rtl="0" algn="l">
              <a:lnSpc>
                <a:spcPct val="100000"/>
              </a:lnSpc>
              <a:spcBef>
                <a:spcPts val="360"/>
              </a:spcBef>
              <a:spcAft>
                <a:spcPts val="0"/>
              </a:spcAft>
              <a:buClr>
                <a:schemeClr val="dk2"/>
              </a:buClr>
              <a:buSzPct val="75000"/>
              <a:buFont typeface="Noto Sans Symbols"/>
              <a:buAutoNum type="arabicPeriod"/>
            </a:pPr>
            <a:r>
              <a:rPr b="1" i="1" lang="en-US" sz="1800" u="none" cap="none" strike="noStrike">
                <a:solidFill>
                  <a:schemeClr val="dk1"/>
                </a:solidFill>
                <a:latin typeface="Arial"/>
                <a:ea typeface="Arial"/>
                <a:cs typeface="Arial"/>
                <a:sym typeface="Arial"/>
              </a:rPr>
              <a:t>EXISTE UN RECURSO CLAVE EN LA FABRICACIÓN DEL PRODUCTO QUE SÓLO POSEE ESA EMPRESA.</a:t>
            </a:r>
          </a:p>
          <a:p>
            <a:pPr indent="-303212" lvl="3" marL="1281112" marR="0" rtl="0" algn="l">
              <a:lnSpc>
                <a:spcPct val="100000"/>
              </a:lnSpc>
              <a:spcBef>
                <a:spcPts val="360"/>
              </a:spcBef>
              <a:spcAft>
                <a:spcPts val="0"/>
              </a:spcAft>
              <a:buClr>
                <a:schemeClr val="dk2"/>
              </a:buClr>
              <a:buSzPct val="75000"/>
              <a:buFont typeface="Noto Sans Symbols"/>
              <a:buNone/>
            </a:pPr>
            <a:r>
              <a:t/>
            </a:r>
            <a:endParaRPr b="1" i="1" sz="1800" u="none" cap="none" strike="noStrike">
              <a:solidFill>
                <a:schemeClr val="dk1"/>
              </a:solidFill>
              <a:latin typeface="Arial"/>
              <a:ea typeface="Arial"/>
              <a:cs typeface="Arial"/>
              <a:sym typeface="Arial"/>
            </a:endParaRPr>
          </a:p>
          <a:p>
            <a:pPr indent="-303212" lvl="3" marL="1281112" marR="0" rtl="0" algn="l">
              <a:lnSpc>
                <a:spcPct val="100000"/>
              </a:lnSpc>
              <a:spcBef>
                <a:spcPts val="360"/>
              </a:spcBef>
              <a:spcAft>
                <a:spcPts val="0"/>
              </a:spcAft>
              <a:buClr>
                <a:schemeClr val="dk2"/>
              </a:buClr>
              <a:buSzPct val="75000"/>
              <a:buFont typeface="Noto Sans Symbols"/>
              <a:buAutoNum type="arabicPeriod"/>
            </a:pPr>
            <a:r>
              <a:rPr b="1" i="0" lang="en-US" sz="1800" u="none" cap="none" strike="noStrike">
                <a:solidFill>
                  <a:schemeClr val="dk1"/>
                </a:solidFill>
                <a:latin typeface="Arial"/>
                <a:ea typeface="Arial"/>
                <a:cs typeface="Arial"/>
                <a:sym typeface="Arial"/>
              </a:rPr>
              <a:t>LA EMPRESA POSEE LA ÚNICA CONCESIÓN OTORGADA POR EL ESTADO PARA PRODUCIR UN BIEN DETERMINADO.</a:t>
            </a:r>
          </a:p>
          <a:p>
            <a:pPr indent="-303212" lvl="3" marL="1281112" marR="0" rtl="0" algn="l">
              <a:lnSpc>
                <a:spcPct val="100000"/>
              </a:lnSpc>
              <a:spcBef>
                <a:spcPts val="360"/>
              </a:spcBef>
              <a:spcAft>
                <a:spcPts val="0"/>
              </a:spcAft>
              <a:buClr>
                <a:schemeClr val="dk2"/>
              </a:buClr>
              <a:buSzPct val="25000"/>
              <a:buFont typeface="Noto Sans Symbols"/>
              <a:buNone/>
            </a:pPr>
            <a:r>
              <a:t/>
            </a:r>
            <a:endParaRPr b="1" i="0" sz="1800" u="none" cap="none" strike="noStrike">
              <a:solidFill>
                <a:schemeClr val="dk1"/>
              </a:solidFill>
              <a:latin typeface="Arial"/>
              <a:ea typeface="Arial"/>
              <a:cs typeface="Arial"/>
              <a:sym typeface="Arial"/>
            </a:endParaRPr>
          </a:p>
          <a:p>
            <a:pPr indent="-303212" lvl="3" marL="1281112" marR="0" rtl="0" algn="l">
              <a:lnSpc>
                <a:spcPct val="100000"/>
              </a:lnSpc>
              <a:spcBef>
                <a:spcPts val="360"/>
              </a:spcBef>
              <a:spcAft>
                <a:spcPts val="0"/>
              </a:spcAft>
              <a:buClr>
                <a:schemeClr val="dk2"/>
              </a:buClr>
              <a:buSzPct val="75000"/>
              <a:buFont typeface="Noto Sans Symbols"/>
              <a:buAutoNum type="arabicPeriod"/>
            </a:pPr>
            <a:r>
              <a:rPr b="1" i="1" lang="en-US" sz="1800" u="none" cap="none" strike="noStrike">
                <a:solidFill>
                  <a:schemeClr val="dk1"/>
                </a:solidFill>
                <a:latin typeface="Arial"/>
                <a:ea typeface="Arial"/>
                <a:cs typeface="Arial"/>
                <a:sym typeface="Arial"/>
              </a:rPr>
              <a:t>LA ESTRUCTURA DE COSTOS DE UNA DETERMINADA INDUSTRIA HACE QUE UN ÚNICO PRODUCTOR DE GRAN TAMAÑO SEA MÁS EFICIENTE QUE UN CONJUNTO DE EMPRESAS MENORES. </a:t>
            </a:r>
          </a:p>
          <a:p>
            <a:pPr indent="-342900" lvl="0" marL="342900" marR="0" rtl="0" algn="l">
              <a:lnSpc>
                <a:spcPct val="100000"/>
              </a:lnSpc>
              <a:spcBef>
                <a:spcPts val="360"/>
              </a:spcBef>
              <a:spcAft>
                <a:spcPts val="0"/>
              </a:spcAft>
              <a:buClr>
                <a:schemeClr val="dk2"/>
              </a:buClr>
              <a:buSzPct val="70000"/>
              <a:buFont typeface="Noto Sans Symbols"/>
              <a:buNone/>
            </a:pPr>
            <a:r>
              <a:t/>
            </a:r>
            <a:endParaRPr b="1" i="1" sz="1800" u="none" cap="none" strike="noStrike">
              <a:solidFill>
                <a:schemeClr val="dk1"/>
              </a:solidFill>
              <a:latin typeface="Arial"/>
              <a:ea typeface="Arial"/>
              <a:cs typeface="Arial"/>
              <a:sym typeface="Arial"/>
            </a:endParaRPr>
          </a:p>
        </p:txBody>
      </p:sp>
      <p:pic>
        <p:nvPicPr>
          <p:cNvPr id="548" name="Shape 548"/>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52" name="Shape 552"/>
        <p:cNvGrpSpPr/>
        <p:nvPr/>
      </p:nvGrpSpPr>
      <p:grpSpPr>
        <a:xfrm>
          <a:off x="0" y="0"/>
          <a:ext cx="0" cy="0"/>
          <a:chOff x="0" y="0"/>
          <a:chExt cx="0" cy="0"/>
        </a:xfrm>
      </p:grpSpPr>
      <p:sp>
        <p:nvSpPr>
          <p:cNvPr id="553" name="Shape 553"/>
          <p:cNvSpPr txBox="1"/>
          <p:nvPr>
            <p:ph idx="4294967295" type="title"/>
          </p:nvPr>
        </p:nvSpPr>
        <p:spPr>
          <a:xfrm>
            <a:off x="179386" y="260350"/>
            <a:ext cx="3141662"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1800" u="none" cap="none" strike="noStrike">
                <a:solidFill>
                  <a:schemeClr val="dk2"/>
                </a:solidFill>
                <a:latin typeface="Arial"/>
                <a:ea typeface="Arial"/>
                <a:cs typeface="Arial"/>
                <a:sym typeface="Arial"/>
              </a:rPr>
              <a:t>PRECIOS UNIFORMES</a:t>
            </a:r>
          </a:p>
        </p:txBody>
      </p:sp>
      <p:sp>
        <p:nvSpPr>
          <p:cNvPr id="554" name="Shape 554"/>
          <p:cNvSpPr txBox="1"/>
          <p:nvPr>
            <p:ph idx="4294967295" type="body"/>
          </p:nvPr>
        </p:nvSpPr>
        <p:spPr>
          <a:xfrm>
            <a:off x="4356100" y="1700211"/>
            <a:ext cx="4787900" cy="295275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El monopolio se enfrenta a la curva de demanda del mercado que tiene </a:t>
            </a:r>
            <a:r>
              <a:rPr b="0" i="0" lang="en-US" sz="2600" u="none" cap="none" strike="noStrike">
                <a:solidFill>
                  <a:schemeClr val="lt2"/>
                </a:solidFill>
                <a:latin typeface="Arial"/>
                <a:ea typeface="Arial"/>
                <a:cs typeface="Arial"/>
                <a:sym typeface="Arial"/>
              </a:rPr>
              <a:t>pendiente negativa</a:t>
            </a:r>
            <a:r>
              <a:rPr b="0" i="0" lang="en-US" sz="2600" u="none" cap="none" strike="noStrike">
                <a:solidFill>
                  <a:schemeClr val="dk1"/>
                </a:solidFill>
                <a:latin typeface="Arial"/>
                <a:ea typeface="Arial"/>
                <a:cs typeface="Arial"/>
                <a:sym typeface="Arial"/>
              </a:rPr>
              <a:t>, en función del precio que fije, los compradores demandarán más cantidad o menos. </a:t>
            </a:r>
          </a:p>
        </p:txBody>
      </p:sp>
      <p:cxnSp>
        <p:nvCxnSpPr>
          <p:cNvPr id="555" name="Shape 555"/>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556" name="Shape 556"/>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557" name="Shape 557"/>
          <p:cNvCxnSpPr/>
          <p:nvPr/>
        </p:nvCxnSpPr>
        <p:spPr>
          <a:xfrm>
            <a:off x="1187450" y="2420936"/>
            <a:ext cx="3529012" cy="3529012"/>
          </a:xfrm>
          <a:prstGeom prst="straightConnector1">
            <a:avLst/>
          </a:prstGeom>
          <a:noFill/>
          <a:ln cap="flat" cmpd="sng" w="28575">
            <a:solidFill>
              <a:srgbClr val="FF9900"/>
            </a:solidFill>
            <a:prstDash val="solid"/>
            <a:miter/>
            <a:headEnd len="med" w="med" type="none"/>
            <a:tailEnd len="med" w="med" type="none"/>
          </a:ln>
        </p:spPr>
      </p:cxnSp>
      <p:sp>
        <p:nvSpPr>
          <p:cNvPr id="558" name="Shape 558"/>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559" name="Shape 559"/>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560" name="Shape 560"/>
          <p:cNvSpPr txBox="1"/>
          <p:nvPr/>
        </p:nvSpPr>
        <p:spPr>
          <a:xfrm>
            <a:off x="1763711" y="2636836"/>
            <a:ext cx="2592387" cy="5762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2"/>
              </a:buClr>
              <a:buSzPct val="25000"/>
              <a:buFont typeface="Arial"/>
              <a:buNone/>
            </a:pPr>
            <a:r>
              <a:rPr b="1" i="0" lang="en-US" sz="1800" u="none" cap="none" strike="noStrike">
                <a:solidFill>
                  <a:schemeClr val="lt2"/>
                </a:solidFill>
                <a:latin typeface="Arial"/>
                <a:ea typeface="Arial"/>
                <a:cs typeface="Arial"/>
                <a:sym typeface="Arial"/>
              </a:rPr>
              <a:t>DEMANDA </a:t>
            </a:r>
          </a:p>
        </p:txBody>
      </p:sp>
      <p:cxnSp>
        <p:nvCxnSpPr>
          <p:cNvPr id="561" name="Shape 561"/>
          <p:cNvCxnSpPr/>
          <p:nvPr/>
        </p:nvCxnSpPr>
        <p:spPr>
          <a:xfrm>
            <a:off x="1187450" y="3500437"/>
            <a:ext cx="1081086" cy="0"/>
          </a:xfrm>
          <a:prstGeom prst="straightConnector1">
            <a:avLst/>
          </a:prstGeom>
          <a:noFill/>
          <a:ln cap="flat" cmpd="sng" w="9525">
            <a:solidFill>
              <a:schemeClr val="dk1"/>
            </a:solidFill>
            <a:prstDash val="solid"/>
            <a:miter/>
            <a:headEnd len="med" w="med" type="none"/>
            <a:tailEnd len="med" w="med" type="stealth"/>
          </a:ln>
        </p:spPr>
      </p:cxnSp>
      <p:cxnSp>
        <p:nvCxnSpPr>
          <p:cNvPr id="562" name="Shape 562"/>
          <p:cNvCxnSpPr/>
          <p:nvPr/>
        </p:nvCxnSpPr>
        <p:spPr>
          <a:xfrm>
            <a:off x="1187450" y="5084762"/>
            <a:ext cx="2663824" cy="0"/>
          </a:xfrm>
          <a:prstGeom prst="straightConnector1">
            <a:avLst/>
          </a:prstGeom>
          <a:noFill/>
          <a:ln cap="flat" cmpd="sng" w="9525">
            <a:solidFill>
              <a:schemeClr val="dk1"/>
            </a:solidFill>
            <a:prstDash val="solid"/>
            <a:miter/>
            <a:headEnd len="med" w="med" type="none"/>
            <a:tailEnd len="med" w="med" type="stealth"/>
          </a:ln>
        </p:spPr>
      </p:cxnSp>
      <p:cxnSp>
        <p:nvCxnSpPr>
          <p:cNvPr id="563" name="Shape 563"/>
          <p:cNvCxnSpPr/>
          <p:nvPr/>
        </p:nvCxnSpPr>
        <p:spPr>
          <a:xfrm>
            <a:off x="2268536" y="3500437"/>
            <a:ext cx="0" cy="2449512"/>
          </a:xfrm>
          <a:prstGeom prst="straightConnector1">
            <a:avLst/>
          </a:prstGeom>
          <a:noFill/>
          <a:ln cap="flat" cmpd="sng" w="9525">
            <a:solidFill>
              <a:schemeClr val="dk1"/>
            </a:solidFill>
            <a:prstDash val="solid"/>
            <a:miter/>
            <a:headEnd len="med" w="med" type="none"/>
            <a:tailEnd len="med" w="med" type="stealth"/>
          </a:ln>
        </p:spPr>
      </p:cxnSp>
      <p:cxnSp>
        <p:nvCxnSpPr>
          <p:cNvPr id="564" name="Shape 564"/>
          <p:cNvCxnSpPr/>
          <p:nvPr/>
        </p:nvCxnSpPr>
        <p:spPr>
          <a:xfrm>
            <a:off x="3851275" y="5084762"/>
            <a:ext cx="0" cy="865187"/>
          </a:xfrm>
          <a:prstGeom prst="straightConnector1">
            <a:avLst/>
          </a:prstGeom>
          <a:noFill/>
          <a:ln cap="flat" cmpd="sng" w="9525">
            <a:solidFill>
              <a:schemeClr val="dk1"/>
            </a:solidFill>
            <a:prstDash val="solid"/>
            <a:miter/>
            <a:headEnd len="med" w="med" type="none"/>
            <a:tailEnd len="med" w="med" type="stealth"/>
          </a:ln>
        </p:spPr>
      </p:cxnSp>
      <p:sp>
        <p:nvSpPr>
          <p:cNvPr id="565" name="Shape 565"/>
          <p:cNvSpPr txBox="1"/>
          <p:nvPr/>
        </p:nvSpPr>
        <p:spPr>
          <a:xfrm>
            <a:off x="107950" y="3284537"/>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P1</a:t>
            </a:r>
          </a:p>
        </p:txBody>
      </p:sp>
      <p:sp>
        <p:nvSpPr>
          <p:cNvPr id="566" name="Shape 566"/>
          <p:cNvSpPr txBox="1"/>
          <p:nvPr/>
        </p:nvSpPr>
        <p:spPr>
          <a:xfrm>
            <a:off x="34925" y="47974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P2</a:t>
            </a:r>
          </a:p>
        </p:txBody>
      </p:sp>
      <p:sp>
        <p:nvSpPr>
          <p:cNvPr id="567" name="Shape 567"/>
          <p:cNvSpPr txBox="1"/>
          <p:nvPr/>
        </p:nvSpPr>
        <p:spPr>
          <a:xfrm>
            <a:off x="1763711"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a:t>
            </a:r>
          </a:p>
        </p:txBody>
      </p:sp>
      <p:sp>
        <p:nvSpPr>
          <p:cNvPr id="568" name="Shape 568"/>
          <p:cNvSpPr txBox="1"/>
          <p:nvPr/>
        </p:nvSpPr>
        <p:spPr>
          <a:xfrm>
            <a:off x="3348037"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Q2</a:t>
            </a:r>
          </a:p>
        </p:txBody>
      </p:sp>
      <p:cxnSp>
        <p:nvCxnSpPr>
          <p:cNvPr id="569" name="Shape 569"/>
          <p:cNvCxnSpPr/>
          <p:nvPr/>
        </p:nvCxnSpPr>
        <p:spPr>
          <a:xfrm>
            <a:off x="611187" y="3716337"/>
            <a:ext cx="0" cy="1081086"/>
          </a:xfrm>
          <a:prstGeom prst="straightConnector1">
            <a:avLst/>
          </a:prstGeom>
          <a:noFill/>
          <a:ln cap="flat" cmpd="sng" w="9525">
            <a:solidFill>
              <a:schemeClr val="dk1"/>
            </a:solidFill>
            <a:prstDash val="solid"/>
            <a:miter/>
            <a:headEnd len="med" w="med" type="none"/>
            <a:tailEnd len="lg" w="lg" type="triangle"/>
          </a:ln>
        </p:spPr>
      </p:cxnSp>
      <p:pic>
        <p:nvPicPr>
          <p:cNvPr id="570" name="Shape 570"/>
          <p:cNvPicPr preferRelativeResize="0"/>
          <p:nvPr>
            <p:ph idx="4294967295" type="body"/>
          </p:nvPr>
        </p:nvPicPr>
        <p:blipFill rotWithShape="1">
          <a:blip r:embed="rId3">
            <a:alphaModFix/>
          </a:blip>
          <a:srcRect b="0" l="0" r="0" t="0"/>
          <a:stretch/>
        </p:blipFill>
        <p:spPr>
          <a:xfrm>
            <a:off x="4932362" y="692150"/>
            <a:ext cx="3009899" cy="609599"/>
          </a:xfrm>
          <a:prstGeom prst="rect">
            <a:avLst/>
          </a:prstGeom>
          <a:noFill/>
          <a:ln>
            <a:noFill/>
          </a:ln>
        </p:spPr>
      </p:pic>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74" name="Shape 574"/>
        <p:cNvGrpSpPr/>
        <p:nvPr/>
      </p:nvGrpSpPr>
      <p:grpSpPr>
        <a:xfrm>
          <a:off x="0" y="0"/>
          <a:ext cx="0" cy="0"/>
          <a:chOff x="0" y="0"/>
          <a:chExt cx="0" cy="0"/>
        </a:xfrm>
      </p:grpSpPr>
      <p:sp>
        <p:nvSpPr>
          <p:cNvPr id="575" name="Shape 575"/>
          <p:cNvSpPr txBox="1"/>
          <p:nvPr>
            <p:ph idx="4294967295" type="title"/>
          </p:nvPr>
        </p:nvSpPr>
        <p:spPr>
          <a:xfrm>
            <a:off x="250825" y="188911"/>
            <a:ext cx="3357562"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INGRESO MARGINAL</a:t>
            </a:r>
          </a:p>
        </p:txBody>
      </p:sp>
      <p:sp>
        <p:nvSpPr>
          <p:cNvPr id="576" name="Shape 576"/>
          <p:cNvSpPr txBox="1"/>
          <p:nvPr>
            <p:ph idx="4294967295" type="body"/>
          </p:nvPr>
        </p:nvSpPr>
        <p:spPr>
          <a:xfrm>
            <a:off x="4500562" y="1700211"/>
            <a:ext cx="4038599" cy="2952750"/>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El monopolio si quiere incrementar sus ventas tiene que bajar el precio. </a:t>
            </a:r>
          </a:p>
          <a:p>
            <a:pPr indent="-342900" lvl="0" marL="342900" marR="0" rtl="0" algn="l">
              <a:lnSpc>
                <a:spcPct val="80000"/>
              </a:lnSpc>
              <a:spcBef>
                <a:spcPts val="400"/>
              </a:spcBef>
              <a:spcAft>
                <a:spcPts val="0"/>
              </a:spcAft>
              <a:buClr>
                <a:schemeClr val="dk2"/>
              </a:buClr>
              <a:buSzPct val="25000"/>
              <a:buFont typeface="Noto Sans Symbols"/>
              <a:buNone/>
            </a:pPr>
            <a:r>
              <a:rPr b="0" i="0" lang="en-US" sz="2000" u="none" cap="none" strike="noStrike">
                <a:solidFill>
                  <a:schemeClr val="dk2"/>
                </a:solidFill>
                <a:latin typeface="Arial"/>
                <a:ea typeface="Arial"/>
                <a:cs typeface="Arial"/>
                <a:sym typeface="Arial"/>
              </a:rPr>
              <a:t>Esta disminución del precio no sólo afecta a la última unidad sino que afecta a la totalidad de sus ventas (ya que todas las ventas se realizan al mismo precio).</a:t>
            </a:r>
          </a:p>
          <a:p>
            <a:pPr indent="-342900" lvl="0" marL="342900" marR="0" rtl="0" algn="l">
              <a:lnSpc>
                <a:spcPct val="80000"/>
              </a:lnSpc>
              <a:spcBef>
                <a:spcPts val="40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La función ingreso marginal tendrá menor pendiente que la función demanda. </a:t>
            </a:r>
          </a:p>
        </p:txBody>
      </p:sp>
      <p:cxnSp>
        <p:nvCxnSpPr>
          <p:cNvPr id="577" name="Shape 577"/>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578" name="Shape 578"/>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579" name="Shape 579"/>
          <p:cNvCxnSpPr/>
          <p:nvPr/>
        </p:nvCxnSpPr>
        <p:spPr>
          <a:xfrm>
            <a:off x="1187450" y="2420936"/>
            <a:ext cx="3529012" cy="3529012"/>
          </a:xfrm>
          <a:prstGeom prst="straightConnector1">
            <a:avLst/>
          </a:prstGeom>
          <a:noFill/>
          <a:ln cap="flat" cmpd="sng" w="38100">
            <a:solidFill>
              <a:srgbClr val="FFCC00"/>
            </a:solidFill>
            <a:prstDash val="solid"/>
            <a:miter/>
            <a:headEnd len="med" w="med" type="none"/>
            <a:tailEnd len="med" w="med" type="none"/>
          </a:ln>
        </p:spPr>
      </p:cxnSp>
      <p:cxnSp>
        <p:nvCxnSpPr>
          <p:cNvPr id="580" name="Shape 580"/>
          <p:cNvCxnSpPr/>
          <p:nvPr/>
        </p:nvCxnSpPr>
        <p:spPr>
          <a:xfrm>
            <a:off x="1187450" y="2420936"/>
            <a:ext cx="2447925" cy="4437062"/>
          </a:xfrm>
          <a:prstGeom prst="straightConnector1">
            <a:avLst/>
          </a:prstGeom>
          <a:noFill/>
          <a:ln cap="flat" cmpd="sng" w="38100">
            <a:solidFill>
              <a:srgbClr val="000080"/>
            </a:solidFill>
            <a:prstDash val="solid"/>
            <a:miter/>
            <a:headEnd len="med" w="med" type="none"/>
            <a:tailEnd len="med" w="med" type="none"/>
          </a:ln>
        </p:spPr>
      </p:cxnSp>
      <p:sp>
        <p:nvSpPr>
          <p:cNvPr id="581" name="Shape 581"/>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582" name="Shape 582"/>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583" name="Shape 583"/>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DEMANDA</a:t>
            </a:r>
          </a:p>
        </p:txBody>
      </p:sp>
      <p:sp>
        <p:nvSpPr>
          <p:cNvPr id="584" name="Shape 584"/>
          <p:cNvSpPr txBox="1"/>
          <p:nvPr/>
        </p:nvSpPr>
        <p:spPr>
          <a:xfrm>
            <a:off x="3563937" y="6381750"/>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a:t>
            </a:r>
          </a:p>
        </p:txBody>
      </p:sp>
      <p:cxnSp>
        <p:nvCxnSpPr>
          <p:cNvPr id="585" name="Shape 585"/>
          <p:cNvCxnSpPr/>
          <p:nvPr/>
        </p:nvCxnSpPr>
        <p:spPr>
          <a:xfrm rot="10800000">
            <a:off x="2051050" y="3284536"/>
            <a:ext cx="0" cy="2665411"/>
          </a:xfrm>
          <a:prstGeom prst="straightConnector1">
            <a:avLst/>
          </a:prstGeom>
          <a:noFill/>
          <a:ln cap="flat" cmpd="sng" w="9525">
            <a:solidFill>
              <a:schemeClr val="dk1"/>
            </a:solidFill>
            <a:prstDash val="solid"/>
            <a:miter/>
            <a:headEnd len="med" w="med" type="none"/>
            <a:tailEnd len="med" w="med" type="stealth"/>
          </a:ln>
        </p:spPr>
      </p:cxnSp>
      <p:cxnSp>
        <p:nvCxnSpPr>
          <p:cNvPr id="586" name="Shape 586"/>
          <p:cNvCxnSpPr/>
          <p:nvPr/>
        </p:nvCxnSpPr>
        <p:spPr>
          <a:xfrm rot="10800000">
            <a:off x="1187450" y="3284537"/>
            <a:ext cx="863599" cy="0"/>
          </a:xfrm>
          <a:prstGeom prst="straightConnector1">
            <a:avLst/>
          </a:prstGeom>
          <a:noFill/>
          <a:ln cap="flat" cmpd="sng" w="9525">
            <a:solidFill>
              <a:schemeClr val="dk1"/>
            </a:solidFill>
            <a:prstDash val="solid"/>
            <a:miter/>
            <a:headEnd len="med" w="med" type="none"/>
            <a:tailEnd len="med" w="med" type="stealth"/>
          </a:ln>
        </p:spPr>
      </p:cxnSp>
      <p:cxnSp>
        <p:nvCxnSpPr>
          <p:cNvPr id="587" name="Shape 587"/>
          <p:cNvCxnSpPr/>
          <p:nvPr/>
        </p:nvCxnSpPr>
        <p:spPr>
          <a:xfrm rot="10800000">
            <a:off x="1187449" y="4005262"/>
            <a:ext cx="1584325" cy="0"/>
          </a:xfrm>
          <a:prstGeom prst="straightConnector1">
            <a:avLst/>
          </a:prstGeom>
          <a:noFill/>
          <a:ln cap="flat" cmpd="sng" w="9525">
            <a:solidFill>
              <a:srgbClr val="FF9900"/>
            </a:solidFill>
            <a:prstDash val="solid"/>
            <a:miter/>
            <a:headEnd len="med" w="med" type="stealth"/>
            <a:tailEnd len="med" w="med" type="none"/>
          </a:ln>
        </p:spPr>
      </p:cxnSp>
      <p:sp>
        <p:nvSpPr>
          <p:cNvPr id="588" name="Shape 588"/>
          <p:cNvSpPr txBox="1"/>
          <p:nvPr/>
        </p:nvSpPr>
        <p:spPr>
          <a:xfrm>
            <a:off x="107950" y="3068636"/>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589" name="Shape 589"/>
          <p:cNvSpPr txBox="1"/>
          <p:nvPr/>
        </p:nvSpPr>
        <p:spPr>
          <a:xfrm>
            <a:off x="34925" y="3789362"/>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INGRESO</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MARGINAL</a:t>
            </a:r>
          </a:p>
        </p:txBody>
      </p:sp>
      <p:sp>
        <p:nvSpPr>
          <p:cNvPr id="590" name="Shape 590"/>
          <p:cNvSpPr txBox="1"/>
          <p:nvPr/>
        </p:nvSpPr>
        <p:spPr>
          <a:xfrm>
            <a:off x="1476375"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a:t>
            </a:r>
          </a:p>
        </p:txBody>
      </p:sp>
      <p:cxnSp>
        <p:nvCxnSpPr>
          <p:cNvPr id="591" name="Shape 591"/>
          <p:cNvCxnSpPr/>
          <p:nvPr/>
        </p:nvCxnSpPr>
        <p:spPr>
          <a:xfrm>
            <a:off x="1187450" y="3284537"/>
            <a:ext cx="0" cy="720724"/>
          </a:xfrm>
          <a:prstGeom prst="straightConnector1">
            <a:avLst/>
          </a:prstGeom>
          <a:noFill/>
          <a:ln cap="flat" cmpd="sng" w="9525">
            <a:solidFill>
              <a:srgbClr val="FF9900"/>
            </a:solidFill>
            <a:prstDash val="solid"/>
            <a:miter/>
            <a:headEnd len="med" w="med" type="none"/>
            <a:tailEnd len="lg" w="lg" type="triangle"/>
          </a:ln>
        </p:spPr>
      </p:cxnSp>
      <p:cxnSp>
        <p:nvCxnSpPr>
          <p:cNvPr id="592" name="Shape 592"/>
          <p:cNvCxnSpPr/>
          <p:nvPr/>
        </p:nvCxnSpPr>
        <p:spPr>
          <a:xfrm>
            <a:off x="2771775" y="4005262"/>
            <a:ext cx="0" cy="1944687"/>
          </a:xfrm>
          <a:prstGeom prst="straightConnector1">
            <a:avLst/>
          </a:prstGeom>
          <a:noFill/>
          <a:ln cap="flat" cmpd="sng" w="9525">
            <a:solidFill>
              <a:srgbClr val="FF9900"/>
            </a:solidFill>
            <a:prstDash val="solid"/>
            <a:miter/>
            <a:headEnd len="med" w="med" type="none"/>
            <a:tailEnd len="lg" w="lg" type="triangle"/>
          </a:ln>
        </p:spPr>
      </p:cxnSp>
      <p:sp>
        <p:nvSpPr>
          <p:cNvPr id="593" name="Shape 593"/>
          <p:cNvSpPr txBox="1"/>
          <p:nvPr/>
        </p:nvSpPr>
        <p:spPr>
          <a:xfrm>
            <a:off x="2195511"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2"/>
              </a:buClr>
              <a:buSzPct val="25000"/>
              <a:buFont typeface="Arial"/>
              <a:buNone/>
            </a:pPr>
            <a:r>
              <a:rPr b="0" i="0" lang="en-US" sz="1800" u="none" cap="none" strike="noStrike">
                <a:solidFill>
                  <a:schemeClr val="lt2"/>
                </a:solidFill>
                <a:latin typeface="Arial"/>
                <a:ea typeface="Arial"/>
                <a:cs typeface="Arial"/>
                <a:sym typeface="Arial"/>
              </a:rPr>
              <a:t>Q2</a:t>
            </a:r>
          </a:p>
        </p:txBody>
      </p:sp>
      <p:pic>
        <p:nvPicPr>
          <p:cNvPr id="594" name="Shape 594"/>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98" name="Shape 598"/>
        <p:cNvGrpSpPr/>
        <p:nvPr/>
      </p:nvGrpSpPr>
      <p:grpSpPr>
        <a:xfrm>
          <a:off x="0" y="0"/>
          <a:ext cx="0" cy="0"/>
          <a:chOff x="0" y="0"/>
          <a:chExt cx="0" cy="0"/>
        </a:xfrm>
      </p:grpSpPr>
      <p:sp>
        <p:nvSpPr>
          <p:cNvPr id="599" name="Shape 599"/>
          <p:cNvSpPr txBox="1"/>
          <p:nvPr>
            <p:ph idx="4294967295" type="title"/>
          </p:nvPr>
        </p:nvSpPr>
        <p:spPr>
          <a:xfrm>
            <a:off x="134936" y="115886"/>
            <a:ext cx="2997199"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INGRESO TOTAL</a:t>
            </a:r>
          </a:p>
        </p:txBody>
      </p:sp>
      <p:sp>
        <p:nvSpPr>
          <p:cNvPr id="600" name="Shape 600"/>
          <p:cNvSpPr txBox="1"/>
          <p:nvPr>
            <p:ph idx="4294967295" type="body"/>
          </p:nvPr>
        </p:nvSpPr>
        <p:spPr>
          <a:xfrm>
            <a:off x="3635375" y="1700211"/>
            <a:ext cx="5191125" cy="2665411"/>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El monopolista si quiere vender la cantidad Q tiene que bajar el precio a 0 (cero), por lo tanto el ingreso total es también 0 (cero). </a:t>
            </a:r>
          </a:p>
          <a:p>
            <a:pPr indent="-342900" lvl="0" marL="342900" marR="0" rtl="0" algn="l">
              <a:lnSpc>
                <a:spcPct val="80000"/>
              </a:lnSpc>
              <a:spcBef>
                <a:spcPts val="380"/>
              </a:spcBef>
              <a:spcAft>
                <a:spcPts val="0"/>
              </a:spcAft>
              <a:buClr>
                <a:schemeClr val="dk2"/>
              </a:buClr>
              <a:buSzPct val="25000"/>
              <a:buFont typeface="Noto Sans Symbols"/>
              <a:buNone/>
            </a:pPr>
            <a:r>
              <a:rPr b="0" i="0" lang="en-US" sz="1900" u="none" cap="none" strike="noStrike">
                <a:solidFill>
                  <a:schemeClr val="dk2"/>
                </a:solidFill>
                <a:latin typeface="Arial"/>
                <a:ea typeface="Arial"/>
                <a:cs typeface="Arial"/>
                <a:sym typeface="Arial"/>
              </a:rPr>
              <a:t>El monopolista si quiere cobrar el precio P no venderá nada, por lo tanto el ingreso total es 0 (cero).</a:t>
            </a:r>
          </a:p>
          <a:p>
            <a:pPr indent="-342900" lvl="0" marL="342900" marR="0" rtl="0" algn="l">
              <a:lnSpc>
                <a:spcPct val="8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El monopolista normalmente tiene costos marginales mayores a 0 (cero) por lo tanto decidirá producir cuando el ingreso marginal es mayor a 0 (cero). </a:t>
            </a:r>
          </a:p>
        </p:txBody>
      </p:sp>
      <p:cxnSp>
        <p:nvCxnSpPr>
          <p:cNvPr id="601" name="Shape 601"/>
          <p:cNvCxnSpPr/>
          <p:nvPr/>
        </p:nvCxnSpPr>
        <p:spPr>
          <a:xfrm>
            <a:off x="1187450" y="1916111"/>
            <a:ext cx="0" cy="4681536"/>
          </a:xfrm>
          <a:prstGeom prst="straightConnector1">
            <a:avLst/>
          </a:prstGeom>
          <a:noFill/>
          <a:ln cap="flat" cmpd="sng" w="9525">
            <a:solidFill>
              <a:schemeClr val="dk1"/>
            </a:solidFill>
            <a:prstDash val="solid"/>
            <a:miter/>
            <a:headEnd len="med" w="med" type="none"/>
            <a:tailEnd len="med" w="med" type="none"/>
          </a:ln>
        </p:spPr>
      </p:cxnSp>
      <p:cxnSp>
        <p:nvCxnSpPr>
          <p:cNvPr id="602" name="Shape 602"/>
          <p:cNvCxnSpPr/>
          <p:nvPr/>
        </p:nvCxnSpPr>
        <p:spPr>
          <a:xfrm>
            <a:off x="1042987" y="450850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603" name="Shape 603"/>
          <p:cNvCxnSpPr/>
          <p:nvPr/>
        </p:nvCxnSpPr>
        <p:spPr>
          <a:xfrm>
            <a:off x="1187450" y="2420936"/>
            <a:ext cx="2089150" cy="2087562"/>
          </a:xfrm>
          <a:prstGeom prst="straightConnector1">
            <a:avLst/>
          </a:prstGeom>
          <a:noFill/>
          <a:ln cap="flat" cmpd="sng" w="38100">
            <a:solidFill>
              <a:srgbClr val="FFCC00"/>
            </a:solidFill>
            <a:prstDash val="solid"/>
            <a:miter/>
            <a:headEnd len="med" w="med" type="none"/>
            <a:tailEnd len="med" w="med" type="none"/>
          </a:ln>
        </p:spPr>
      </p:cxnSp>
      <p:cxnSp>
        <p:nvCxnSpPr>
          <p:cNvPr id="604" name="Shape 604"/>
          <p:cNvCxnSpPr/>
          <p:nvPr/>
        </p:nvCxnSpPr>
        <p:spPr>
          <a:xfrm>
            <a:off x="1187450" y="2420936"/>
            <a:ext cx="1152525" cy="2087562"/>
          </a:xfrm>
          <a:prstGeom prst="straightConnector1">
            <a:avLst/>
          </a:prstGeom>
          <a:noFill/>
          <a:ln cap="flat" cmpd="sng" w="38100">
            <a:solidFill>
              <a:srgbClr val="003366"/>
            </a:solidFill>
            <a:prstDash val="solid"/>
            <a:miter/>
            <a:headEnd len="med" w="med" type="none"/>
            <a:tailEnd len="med" w="med" type="none"/>
          </a:ln>
        </p:spPr>
      </p:cxnSp>
      <p:sp>
        <p:nvSpPr>
          <p:cNvPr id="605" name="Shape 605"/>
          <p:cNvSpPr txBox="1"/>
          <p:nvPr/>
        </p:nvSpPr>
        <p:spPr>
          <a:xfrm>
            <a:off x="107950"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606" name="Shape 606"/>
          <p:cNvSpPr txBox="1"/>
          <p:nvPr/>
        </p:nvSpPr>
        <p:spPr>
          <a:xfrm>
            <a:off x="4070350" y="4437062"/>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07" name="Shape 607"/>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DEMANDA</a:t>
            </a:r>
          </a:p>
        </p:txBody>
      </p:sp>
      <p:sp>
        <p:nvSpPr>
          <p:cNvPr id="608" name="Shape 608"/>
          <p:cNvSpPr txBox="1"/>
          <p:nvPr/>
        </p:nvSpPr>
        <p:spPr>
          <a:xfrm>
            <a:off x="539750" y="3643312"/>
            <a:ext cx="1512886" cy="6492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a:t>
            </a:r>
          </a:p>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MARGINAL</a:t>
            </a:r>
          </a:p>
        </p:txBody>
      </p:sp>
      <p:sp>
        <p:nvSpPr>
          <p:cNvPr id="609" name="Shape 609"/>
          <p:cNvSpPr txBox="1"/>
          <p:nvPr/>
        </p:nvSpPr>
        <p:spPr>
          <a:xfrm>
            <a:off x="468312" y="2205036"/>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cxnSp>
        <p:nvCxnSpPr>
          <p:cNvPr id="610" name="Shape 610"/>
          <p:cNvCxnSpPr/>
          <p:nvPr/>
        </p:nvCxnSpPr>
        <p:spPr>
          <a:xfrm>
            <a:off x="1187450" y="4508500"/>
            <a:ext cx="0" cy="1800225"/>
          </a:xfrm>
          <a:prstGeom prst="straightConnector1">
            <a:avLst/>
          </a:prstGeom>
          <a:noFill/>
          <a:ln cap="flat" cmpd="sng" w="47625">
            <a:solidFill>
              <a:srgbClr val="FF9900"/>
            </a:solidFill>
            <a:prstDash val="solid"/>
            <a:miter/>
            <a:headEnd len="med" w="med" type="none"/>
            <a:tailEnd len="lg" w="lg" type="triangle"/>
          </a:ln>
        </p:spPr>
      </p:cxnSp>
      <p:cxnSp>
        <p:nvCxnSpPr>
          <p:cNvPr id="611" name="Shape 611"/>
          <p:cNvCxnSpPr/>
          <p:nvPr/>
        </p:nvCxnSpPr>
        <p:spPr>
          <a:xfrm>
            <a:off x="3276600" y="4508500"/>
            <a:ext cx="0" cy="1798636"/>
          </a:xfrm>
          <a:prstGeom prst="straightConnector1">
            <a:avLst/>
          </a:prstGeom>
          <a:noFill/>
          <a:ln cap="flat" cmpd="sng" w="50800">
            <a:solidFill>
              <a:srgbClr val="FF9900"/>
            </a:solidFill>
            <a:prstDash val="solid"/>
            <a:miter/>
            <a:headEnd len="med" w="med" type="none"/>
            <a:tailEnd len="lg" w="lg" type="triangle"/>
          </a:ln>
        </p:spPr>
      </p:cxnSp>
      <p:sp>
        <p:nvSpPr>
          <p:cNvPr id="612" name="Shape 612"/>
          <p:cNvSpPr txBox="1"/>
          <p:nvPr/>
        </p:nvSpPr>
        <p:spPr>
          <a:xfrm>
            <a:off x="2916236" y="4437062"/>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2"/>
              </a:buClr>
              <a:buSzPct val="25000"/>
              <a:buFont typeface="Arial"/>
              <a:buNone/>
            </a:pPr>
            <a:r>
              <a:rPr b="0" i="0" lang="en-US" sz="1800" u="none" cap="none" strike="noStrike">
                <a:solidFill>
                  <a:schemeClr val="lt2"/>
                </a:solidFill>
                <a:latin typeface="Arial"/>
                <a:ea typeface="Arial"/>
                <a:cs typeface="Arial"/>
                <a:sym typeface="Arial"/>
              </a:rPr>
              <a:t>Q</a:t>
            </a:r>
          </a:p>
        </p:txBody>
      </p:sp>
      <p:cxnSp>
        <p:nvCxnSpPr>
          <p:cNvPr id="613" name="Shape 613"/>
          <p:cNvCxnSpPr/>
          <p:nvPr/>
        </p:nvCxnSpPr>
        <p:spPr>
          <a:xfrm>
            <a:off x="900112" y="6308725"/>
            <a:ext cx="4824412" cy="0"/>
          </a:xfrm>
          <a:prstGeom prst="straightConnector1">
            <a:avLst/>
          </a:prstGeom>
          <a:noFill/>
          <a:ln cap="flat" cmpd="sng" w="9525">
            <a:solidFill>
              <a:schemeClr val="dk1"/>
            </a:solidFill>
            <a:prstDash val="solid"/>
            <a:miter/>
            <a:headEnd len="med" w="med" type="none"/>
            <a:tailEnd len="med" w="med" type="none"/>
          </a:ln>
        </p:spPr>
      </p:cxnSp>
      <p:sp>
        <p:nvSpPr>
          <p:cNvPr id="614" name="Shape 614"/>
          <p:cNvSpPr txBox="1"/>
          <p:nvPr/>
        </p:nvSpPr>
        <p:spPr>
          <a:xfrm>
            <a:off x="4284662" y="6237287"/>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15" name="Shape 615"/>
          <p:cNvSpPr/>
          <p:nvPr/>
        </p:nvSpPr>
        <p:spPr>
          <a:xfrm>
            <a:off x="1187450" y="4868862"/>
            <a:ext cx="2097087" cy="1427162"/>
          </a:xfrm>
          <a:custGeom>
            <a:pathLst>
              <a:path extrusionOk="0" h="120000" w="120000">
                <a:moveTo>
                  <a:pt x="0" y="120000"/>
                </a:moveTo>
                <a:cubicBezTo>
                  <a:pt x="2271" y="110789"/>
                  <a:pt x="6903" y="81824"/>
                  <a:pt x="13353" y="64471"/>
                </a:cubicBezTo>
                <a:cubicBezTo>
                  <a:pt x="19803" y="47119"/>
                  <a:pt x="29704" y="26562"/>
                  <a:pt x="38516" y="16017"/>
                </a:cubicBezTo>
                <a:cubicBezTo>
                  <a:pt x="47327" y="5472"/>
                  <a:pt x="57501" y="0"/>
                  <a:pt x="66040" y="800"/>
                </a:cubicBezTo>
                <a:cubicBezTo>
                  <a:pt x="74579" y="1601"/>
                  <a:pt x="82846" y="10011"/>
                  <a:pt x="90022" y="20956"/>
                </a:cubicBezTo>
                <a:cubicBezTo>
                  <a:pt x="97199" y="31902"/>
                  <a:pt x="103921" y="49788"/>
                  <a:pt x="108917" y="66340"/>
                </a:cubicBezTo>
                <a:cubicBezTo>
                  <a:pt x="113913" y="82892"/>
                  <a:pt x="117728" y="108787"/>
                  <a:pt x="120000" y="120000"/>
                </a:cubicBezTo>
              </a:path>
            </a:pathLst>
          </a:custGeom>
          <a:noFill/>
          <a:ln cap="flat" cmpd="sng" w="444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16" name="Shape 616"/>
          <p:cNvCxnSpPr/>
          <p:nvPr/>
        </p:nvCxnSpPr>
        <p:spPr>
          <a:xfrm>
            <a:off x="2339975" y="4149725"/>
            <a:ext cx="0" cy="2303461"/>
          </a:xfrm>
          <a:prstGeom prst="straightConnector1">
            <a:avLst/>
          </a:prstGeom>
          <a:noFill/>
          <a:ln cap="flat" cmpd="sng" w="9525">
            <a:solidFill>
              <a:schemeClr val="dk1"/>
            </a:solidFill>
            <a:prstDash val="solid"/>
            <a:miter/>
            <a:headEnd len="med" w="med" type="none"/>
            <a:tailEnd len="med" w="med" type="none"/>
          </a:ln>
        </p:spPr>
      </p:cxnSp>
      <p:sp>
        <p:nvSpPr>
          <p:cNvPr id="617" name="Shape 617"/>
          <p:cNvSpPr txBox="1"/>
          <p:nvPr/>
        </p:nvSpPr>
        <p:spPr>
          <a:xfrm>
            <a:off x="34925" y="4508500"/>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INGRESO </a:t>
            </a:r>
          </a:p>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TOTAL</a:t>
            </a:r>
          </a:p>
        </p:txBody>
      </p:sp>
      <p:sp>
        <p:nvSpPr>
          <p:cNvPr id="618" name="Shape 618"/>
          <p:cNvSpPr/>
          <p:nvPr/>
        </p:nvSpPr>
        <p:spPr>
          <a:xfrm>
            <a:off x="1187450" y="4868862"/>
            <a:ext cx="1152525" cy="1439862"/>
          </a:xfrm>
          <a:custGeom>
            <a:pathLst>
              <a:path extrusionOk="0" h="120000" w="120000">
                <a:moveTo>
                  <a:pt x="120000" y="0"/>
                </a:moveTo>
                <a:cubicBezTo>
                  <a:pt x="112892" y="1719"/>
                  <a:pt x="90247" y="4233"/>
                  <a:pt x="77685" y="10187"/>
                </a:cubicBezTo>
                <a:cubicBezTo>
                  <a:pt x="65123" y="16141"/>
                  <a:pt x="54876" y="24873"/>
                  <a:pt x="44958" y="35986"/>
                </a:cubicBezTo>
                <a:cubicBezTo>
                  <a:pt x="35041" y="47100"/>
                  <a:pt x="25785" y="62447"/>
                  <a:pt x="18347" y="76471"/>
                </a:cubicBezTo>
                <a:cubicBezTo>
                  <a:pt x="10909" y="90496"/>
                  <a:pt x="3801" y="111003"/>
                  <a:pt x="0" y="119999"/>
                </a:cubicBezTo>
              </a:path>
            </a:pathLst>
          </a:custGeom>
          <a:noFill/>
          <a:ln cap="flat" cmpd="sng" w="762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619" name="Shape 619"/>
          <p:cNvPicPr preferRelativeResize="0"/>
          <p:nvPr>
            <p:ph idx="4294967295" type="body"/>
          </p:nvPr>
        </p:nvPicPr>
        <p:blipFill rotWithShape="1">
          <a:blip r:embed="rId3">
            <a:alphaModFix/>
          </a:blip>
          <a:srcRect b="0" l="0" r="0" t="0"/>
          <a:stretch/>
        </p:blipFill>
        <p:spPr>
          <a:xfrm>
            <a:off x="4946650" y="587375"/>
            <a:ext cx="3009899" cy="609599"/>
          </a:xfrm>
          <a:prstGeom prst="rect">
            <a:avLst/>
          </a:prstGeom>
          <a:noFill/>
          <a:ln>
            <a:noFill/>
          </a:ln>
        </p:spPr>
      </p:pic>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23" name="Shape 623"/>
        <p:cNvGrpSpPr/>
        <p:nvPr/>
      </p:nvGrpSpPr>
      <p:grpSpPr>
        <a:xfrm>
          <a:off x="0" y="0"/>
          <a:ext cx="0" cy="0"/>
          <a:chOff x="0" y="0"/>
          <a:chExt cx="0" cy="0"/>
        </a:xfrm>
      </p:grpSpPr>
      <p:sp>
        <p:nvSpPr>
          <p:cNvPr id="624" name="Shape 624"/>
          <p:cNvSpPr txBox="1"/>
          <p:nvPr>
            <p:ph idx="4294967295" type="title"/>
          </p:nvPr>
        </p:nvSpPr>
        <p:spPr>
          <a:xfrm>
            <a:off x="179386" y="188911"/>
            <a:ext cx="3429000"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EQUILIBRIO</a:t>
            </a:r>
          </a:p>
        </p:txBody>
      </p:sp>
      <p:sp>
        <p:nvSpPr>
          <p:cNvPr id="625" name="Shape 625"/>
          <p:cNvSpPr txBox="1"/>
          <p:nvPr>
            <p:ph idx="4294967295" type="body"/>
          </p:nvPr>
        </p:nvSpPr>
        <p:spPr>
          <a:xfrm>
            <a:off x="6300787" y="1719261"/>
            <a:ext cx="2741612" cy="35099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El productor monopólico al       </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rgbClr val="4A23DB"/>
                </a:solidFill>
                <a:latin typeface="Arial"/>
                <a:ea typeface="Arial"/>
                <a:cs typeface="Arial"/>
                <a:sym typeface="Arial"/>
              </a:rPr>
              <a:t>maximizar el beneficio </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decide producir una cantidad determinada por la condición </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       </a:t>
            </a:r>
            <a:r>
              <a:rPr b="0" i="0" lang="en-US" sz="1900" u="none" cap="none" strike="noStrike">
                <a:solidFill>
                  <a:srgbClr val="4A23DB"/>
                </a:solidFill>
                <a:latin typeface="Arial"/>
                <a:ea typeface="Arial"/>
                <a:cs typeface="Arial"/>
                <a:sym typeface="Arial"/>
              </a:rPr>
              <a:t>Ima = Cma</a:t>
            </a:r>
            <a:r>
              <a:rPr b="0" i="0" lang="en-US" sz="1900" u="none" cap="none" strike="noStrike">
                <a:solidFill>
                  <a:schemeClr val="lt2"/>
                </a:solidFill>
                <a:latin typeface="Arial"/>
                <a:ea typeface="Arial"/>
                <a:cs typeface="Arial"/>
                <a:sym typeface="Arial"/>
              </a:rPr>
              <a:t> </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con esa cantidad </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lt2"/>
                </a:solidFill>
                <a:latin typeface="Arial"/>
                <a:ea typeface="Arial"/>
                <a:cs typeface="Arial"/>
                <a:sym typeface="Arial"/>
              </a:rPr>
              <a:t>      </a:t>
            </a:r>
            <a:r>
              <a:rPr b="0" i="0" lang="en-US" sz="1900" u="none" cap="none" strike="noStrike">
                <a:solidFill>
                  <a:srgbClr val="4A23DB"/>
                </a:solidFill>
                <a:latin typeface="Arial"/>
                <a:ea typeface="Arial"/>
                <a:cs typeface="Arial"/>
                <a:sym typeface="Arial"/>
              </a:rPr>
              <a:t>fijará el precio </a:t>
            </a:r>
          </a:p>
          <a:p>
            <a:pPr indent="-342900" lvl="0" marL="342900" marR="0" rtl="0" algn="l">
              <a:lnSpc>
                <a:spcPct val="90000"/>
              </a:lnSpc>
              <a:spcBef>
                <a:spcPts val="380"/>
              </a:spcBef>
              <a:spcAft>
                <a:spcPts val="0"/>
              </a:spcAft>
              <a:buClr>
                <a:schemeClr val="dk2"/>
              </a:buClr>
              <a:buSzPct val="25000"/>
              <a:buFont typeface="Noto Sans Symbols"/>
              <a:buNone/>
            </a:pPr>
            <a:r>
              <a:rPr b="0" i="0" lang="en-US" sz="1900" u="none" cap="none" strike="noStrike">
                <a:solidFill>
                  <a:schemeClr val="dk1"/>
                </a:solidFill>
                <a:latin typeface="Arial"/>
                <a:ea typeface="Arial"/>
                <a:cs typeface="Arial"/>
                <a:sym typeface="Arial"/>
              </a:rPr>
              <a:t>utilizando la función demanda</a:t>
            </a:r>
          </a:p>
        </p:txBody>
      </p:sp>
      <p:cxnSp>
        <p:nvCxnSpPr>
          <p:cNvPr id="626" name="Shape 626"/>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627" name="Shape 627"/>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628" name="Shape 628"/>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sp>
        <p:nvSpPr>
          <p:cNvPr id="629" name="Shape 629"/>
          <p:cNvSpPr/>
          <p:nvPr/>
        </p:nvSpPr>
        <p:spPr>
          <a:xfrm>
            <a:off x="1547812" y="3644900"/>
            <a:ext cx="3168650" cy="1735136"/>
          </a:xfrm>
          <a:custGeom>
            <a:pathLst>
              <a:path extrusionOk="0" h="120000" w="120000">
                <a:moveTo>
                  <a:pt x="0" y="86294"/>
                </a:moveTo>
                <a:cubicBezTo>
                  <a:pt x="1563" y="91235"/>
                  <a:pt x="4629" y="111875"/>
                  <a:pt x="9498" y="115937"/>
                </a:cubicBezTo>
                <a:cubicBezTo>
                  <a:pt x="14368" y="120000"/>
                  <a:pt x="21883" y="116596"/>
                  <a:pt x="29398" y="110777"/>
                </a:cubicBezTo>
                <a:cubicBezTo>
                  <a:pt x="36913" y="104958"/>
                  <a:pt x="44909" y="92881"/>
                  <a:pt x="54529" y="81354"/>
                </a:cubicBezTo>
                <a:cubicBezTo>
                  <a:pt x="64148" y="69826"/>
                  <a:pt x="77254" y="53906"/>
                  <a:pt x="87234" y="41500"/>
                </a:cubicBezTo>
                <a:cubicBezTo>
                  <a:pt x="97214" y="29094"/>
                  <a:pt x="109058" y="13174"/>
                  <a:pt x="114529" y="6587"/>
                </a:cubicBezTo>
                <a:cubicBezTo>
                  <a:pt x="120000" y="0"/>
                  <a:pt x="120000" y="768"/>
                  <a:pt x="120000" y="1646"/>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30" name="Shape 630"/>
          <p:cNvCxnSpPr/>
          <p:nvPr/>
        </p:nvCxnSpPr>
        <p:spPr>
          <a:xfrm>
            <a:off x="1187450" y="2420936"/>
            <a:ext cx="2089150" cy="4437062"/>
          </a:xfrm>
          <a:prstGeom prst="straightConnector1">
            <a:avLst/>
          </a:prstGeom>
          <a:noFill/>
          <a:ln cap="flat" cmpd="sng" w="38100">
            <a:solidFill>
              <a:srgbClr val="000080"/>
            </a:solidFill>
            <a:prstDash val="solid"/>
            <a:miter/>
            <a:headEnd len="med" w="med" type="none"/>
            <a:tailEnd len="med" w="med" type="none"/>
          </a:ln>
        </p:spPr>
      </p:cxnSp>
      <p:sp>
        <p:nvSpPr>
          <p:cNvPr id="631" name="Shape 631"/>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632" name="Shape 632"/>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33" name="Shape 633"/>
          <p:cNvSpPr txBox="1"/>
          <p:nvPr/>
        </p:nvSpPr>
        <p:spPr>
          <a:xfrm>
            <a:off x="2843211" y="3357562"/>
            <a:ext cx="2087562"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MARGINAL</a:t>
            </a:r>
          </a:p>
        </p:txBody>
      </p:sp>
      <p:sp>
        <p:nvSpPr>
          <p:cNvPr id="634" name="Shape 634"/>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sp>
        <p:nvSpPr>
          <p:cNvPr id="635" name="Shape 635"/>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a:t>
            </a:r>
          </a:p>
        </p:txBody>
      </p:sp>
      <p:cxnSp>
        <p:nvCxnSpPr>
          <p:cNvPr id="636" name="Shape 636"/>
          <p:cNvCxnSpPr/>
          <p:nvPr/>
        </p:nvCxnSpPr>
        <p:spPr>
          <a:xfrm>
            <a:off x="2484436" y="3716337"/>
            <a:ext cx="0" cy="2233612"/>
          </a:xfrm>
          <a:prstGeom prst="straightConnector1">
            <a:avLst/>
          </a:prstGeom>
          <a:noFill/>
          <a:ln cap="flat" cmpd="sng" w="9525">
            <a:solidFill>
              <a:schemeClr val="dk1"/>
            </a:solidFill>
            <a:prstDash val="solid"/>
            <a:miter/>
            <a:headEnd len="med" w="med" type="stealth"/>
            <a:tailEnd len="med" w="med" type="none"/>
          </a:ln>
        </p:spPr>
      </p:cxnSp>
      <p:cxnSp>
        <p:nvCxnSpPr>
          <p:cNvPr id="637" name="Shape 637"/>
          <p:cNvCxnSpPr/>
          <p:nvPr/>
        </p:nvCxnSpPr>
        <p:spPr>
          <a:xfrm>
            <a:off x="2484436" y="5157787"/>
            <a:ext cx="0" cy="792162"/>
          </a:xfrm>
          <a:prstGeom prst="straightConnector1">
            <a:avLst/>
          </a:prstGeom>
          <a:noFill/>
          <a:ln cap="flat" cmpd="sng" w="9525">
            <a:solidFill>
              <a:schemeClr val="dk1"/>
            </a:solidFill>
            <a:prstDash val="solid"/>
            <a:miter/>
            <a:headEnd len="med" w="med" type="none"/>
            <a:tailEnd len="lg" w="lg" type="triangle"/>
          </a:ln>
        </p:spPr>
      </p:cxnSp>
      <p:sp>
        <p:nvSpPr>
          <p:cNvPr id="638" name="Shape 638"/>
          <p:cNvSpPr txBox="1"/>
          <p:nvPr/>
        </p:nvSpPr>
        <p:spPr>
          <a:xfrm>
            <a:off x="1979611" y="594995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639" name="Shape 639"/>
          <p:cNvSpPr txBox="1"/>
          <p:nvPr/>
        </p:nvSpPr>
        <p:spPr>
          <a:xfrm>
            <a:off x="395287" y="3500437"/>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cxnSp>
        <p:nvCxnSpPr>
          <p:cNvPr id="640" name="Shape 640"/>
          <p:cNvCxnSpPr/>
          <p:nvPr/>
        </p:nvCxnSpPr>
        <p:spPr>
          <a:xfrm rot="10800000">
            <a:off x="1187449" y="3716337"/>
            <a:ext cx="1296986" cy="0"/>
          </a:xfrm>
          <a:prstGeom prst="straightConnector1">
            <a:avLst/>
          </a:prstGeom>
          <a:noFill/>
          <a:ln cap="flat" cmpd="sng" w="9525">
            <a:solidFill>
              <a:schemeClr val="dk1"/>
            </a:solidFill>
            <a:prstDash val="solid"/>
            <a:miter/>
            <a:headEnd len="med" w="med" type="none"/>
            <a:tailEnd len="med" w="med" type="stealth"/>
          </a:ln>
        </p:spPr>
      </p:cxnSp>
      <p:pic>
        <p:nvPicPr>
          <p:cNvPr id="641" name="Shape 641"/>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45" name="Shape 645"/>
        <p:cNvGrpSpPr/>
        <p:nvPr/>
      </p:nvGrpSpPr>
      <p:grpSpPr>
        <a:xfrm>
          <a:off x="0" y="0"/>
          <a:ext cx="0" cy="0"/>
          <a:chOff x="0" y="0"/>
          <a:chExt cx="0" cy="0"/>
        </a:xfrm>
      </p:grpSpPr>
      <p:sp>
        <p:nvSpPr>
          <p:cNvPr id="646" name="Shape 646"/>
          <p:cNvSpPr txBox="1"/>
          <p:nvPr>
            <p:ph idx="4294967295" type="title"/>
          </p:nvPr>
        </p:nvSpPr>
        <p:spPr>
          <a:xfrm>
            <a:off x="250825" y="260350"/>
            <a:ext cx="3357562"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BENEFICIO</a:t>
            </a:r>
          </a:p>
        </p:txBody>
      </p:sp>
      <p:sp>
        <p:nvSpPr>
          <p:cNvPr id="647" name="Shape 647"/>
          <p:cNvSpPr txBox="1"/>
          <p:nvPr>
            <p:ph idx="4294967295" type="body"/>
          </p:nvPr>
        </p:nvSpPr>
        <p:spPr>
          <a:xfrm>
            <a:off x="5148262" y="1700211"/>
            <a:ext cx="3749674" cy="2592387"/>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500" u="none" cap="none" strike="noStrike">
                <a:solidFill>
                  <a:schemeClr val="dk1"/>
                </a:solidFill>
                <a:latin typeface="Arial"/>
                <a:ea typeface="Arial"/>
                <a:cs typeface="Arial"/>
                <a:sym typeface="Arial"/>
              </a:rPr>
              <a:t> En este caso la función costo medio se encuentra por debajo de la función demanda por lo tanto el monopolista obtendrá beneficios extraordinarios</a:t>
            </a:r>
          </a:p>
        </p:txBody>
      </p:sp>
      <p:cxnSp>
        <p:nvCxnSpPr>
          <p:cNvPr id="648" name="Shape 648"/>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649" name="Shape 649"/>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650" name="Shape 650"/>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sp>
        <p:nvSpPr>
          <p:cNvPr id="651" name="Shape 651"/>
          <p:cNvSpPr/>
          <p:nvPr/>
        </p:nvSpPr>
        <p:spPr>
          <a:xfrm>
            <a:off x="1547812" y="3644900"/>
            <a:ext cx="3168650" cy="1735136"/>
          </a:xfrm>
          <a:custGeom>
            <a:pathLst>
              <a:path extrusionOk="0" h="120000" w="120000">
                <a:moveTo>
                  <a:pt x="0" y="86294"/>
                </a:moveTo>
                <a:cubicBezTo>
                  <a:pt x="1563" y="91235"/>
                  <a:pt x="4629" y="111875"/>
                  <a:pt x="9498" y="115937"/>
                </a:cubicBezTo>
                <a:cubicBezTo>
                  <a:pt x="14368" y="120000"/>
                  <a:pt x="21883" y="116596"/>
                  <a:pt x="29398" y="110777"/>
                </a:cubicBezTo>
                <a:cubicBezTo>
                  <a:pt x="36913" y="104958"/>
                  <a:pt x="44909" y="92881"/>
                  <a:pt x="54529" y="81354"/>
                </a:cubicBezTo>
                <a:cubicBezTo>
                  <a:pt x="64148" y="69826"/>
                  <a:pt x="77254" y="53906"/>
                  <a:pt x="87234" y="41500"/>
                </a:cubicBezTo>
                <a:cubicBezTo>
                  <a:pt x="97214" y="29094"/>
                  <a:pt x="109058" y="13174"/>
                  <a:pt x="114529" y="6587"/>
                </a:cubicBezTo>
                <a:cubicBezTo>
                  <a:pt x="120000" y="0"/>
                  <a:pt x="120000" y="768"/>
                  <a:pt x="120000" y="1646"/>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52" name="Shape 652"/>
          <p:cNvCxnSpPr/>
          <p:nvPr/>
        </p:nvCxnSpPr>
        <p:spPr>
          <a:xfrm>
            <a:off x="1187450" y="2420936"/>
            <a:ext cx="2089150" cy="4437062"/>
          </a:xfrm>
          <a:prstGeom prst="straightConnector1">
            <a:avLst/>
          </a:prstGeom>
          <a:noFill/>
          <a:ln cap="flat" cmpd="sng" w="38100">
            <a:solidFill>
              <a:srgbClr val="000080"/>
            </a:solidFill>
            <a:prstDash val="solid"/>
            <a:miter/>
            <a:headEnd len="med" w="med" type="none"/>
            <a:tailEnd len="med" w="med" type="none"/>
          </a:ln>
        </p:spPr>
      </p:cxnSp>
      <p:sp>
        <p:nvSpPr>
          <p:cNvPr id="653" name="Shape 653"/>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654" name="Shape 654"/>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55" name="Shape 655"/>
          <p:cNvSpPr txBox="1"/>
          <p:nvPr/>
        </p:nvSpPr>
        <p:spPr>
          <a:xfrm>
            <a:off x="2843211" y="3357562"/>
            <a:ext cx="2087562"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MARGINAL</a:t>
            </a:r>
          </a:p>
        </p:txBody>
      </p:sp>
      <p:sp>
        <p:nvSpPr>
          <p:cNvPr id="656" name="Shape 656"/>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sp>
        <p:nvSpPr>
          <p:cNvPr id="657" name="Shape 657"/>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a:t>
            </a:r>
          </a:p>
        </p:txBody>
      </p:sp>
      <p:cxnSp>
        <p:nvCxnSpPr>
          <p:cNvPr id="658" name="Shape 658"/>
          <p:cNvCxnSpPr/>
          <p:nvPr/>
        </p:nvCxnSpPr>
        <p:spPr>
          <a:xfrm>
            <a:off x="2484436" y="3716337"/>
            <a:ext cx="0" cy="2233612"/>
          </a:xfrm>
          <a:prstGeom prst="straightConnector1">
            <a:avLst/>
          </a:prstGeom>
          <a:noFill/>
          <a:ln cap="flat" cmpd="sng" w="9525">
            <a:solidFill>
              <a:schemeClr val="dk1"/>
            </a:solidFill>
            <a:prstDash val="solid"/>
            <a:miter/>
            <a:headEnd len="med" w="med" type="stealth"/>
            <a:tailEnd len="med" w="med" type="none"/>
          </a:ln>
        </p:spPr>
      </p:cxnSp>
      <p:cxnSp>
        <p:nvCxnSpPr>
          <p:cNvPr id="659" name="Shape 659"/>
          <p:cNvCxnSpPr/>
          <p:nvPr/>
        </p:nvCxnSpPr>
        <p:spPr>
          <a:xfrm>
            <a:off x="2484436" y="5157787"/>
            <a:ext cx="0" cy="792162"/>
          </a:xfrm>
          <a:prstGeom prst="straightConnector1">
            <a:avLst/>
          </a:prstGeom>
          <a:noFill/>
          <a:ln cap="flat" cmpd="sng" w="9525">
            <a:solidFill>
              <a:schemeClr val="dk1"/>
            </a:solidFill>
            <a:prstDash val="solid"/>
            <a:miter/>
            <a:headEnd len="med" w="med" type="none"/>
            <a:tailEnd len="lg" w="lg" type="triangle"/>
          </a:ln>
        </p:spPr>
      </p:cxnSp>
      <p:sp>
        <p:nvSpPr>
          <p:cNvPr id="660" name="Shape 660"/>
          <p:cNvSpPr txBox="1"/>
          <p:nvPr/>
        </p:nvSpPr>
        <p:spPr>
          <a:xfrm>
            <a:off x="1979611" y="594995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661" name="Shape 661"/>
          <p:cNvSpPr txBox="1"/>
          <p:nvPr/>
        </p:nvSpPr>
        <p:spPr>
          <a:xfrm>
            <a:off x="395287" y="3500437"/>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cxnSp>
        <p:nvCxnSpPr>
          <p:cNvPr id="662" name="Shape 662"/>
          <p:cNvCxnSpPr/>
          <p:nvPr/>
        </p:nvCxnSpPr>
        <p:spPr>
          <a:xfrm rot="10800000">
            <a:off x="1187449" y="3716337"/>
            <a:ext cx="1296986" cy="0"/>
          </a:xfrm>
          <a:prstGeom prst="straightConnector1">
            <a:avLst/>
          </a:prstGeom>
          <a:noFill/>
          <a:ln cap="flat" cmpd="sng" w="9525">
            <a:solidFill>
              <a:schemeClr val="dk1"/>
            </a:solidFill>
            <a:prstDash val="solid"/>
            <a:miter/>
            <a:headEnd len="med" w="med" type="none"/>
            <a:tailEnd len="med" w="med" type="stealth"/>
          </a:ln>
        </p:spPr>
      </p:cxnSp>
      <p:sp>
        <p:nvSpPr>
          <p:cNvPr id="663" name="Shape 663"/>
          <p:cNvSpPr/>
          <p:nvPr/>
        </p:nvSpPr>
        <p:spPr>
          <a:xfrm>
            <a:off x="1258887" y="4149725"/>
            <a:ext cx="3240087" cy="754062"/>
          </a:xfrm>
          <a:custGeom>
            <a:pathLst>
              <a:path extrusionOk="0" h="120000" w="120000">
                <a:moveTo>
                  <a:pt x="0" y="0"/>
                </a:moveTo>
                <a:cubicBezTo>
                  <a:pt x="4644" y="25768"/>
                  <a:pt x="8995" y="50021"/>
                  <a:pt x="15992" y="68715"/>
                </a:cubicBezTo>
                <a:cubicBezTo>
                  <a:pt x="22988" y="87410"/>
                  <a:pt x="33512" y="104842"/>
                  <a:pt x="41920" y="112421"/>
                </a:cubicBezTo>
                <a:cubicBezTo>
                  <a:pt x="50328" y="120000"/>
                  <a:pt x="58559" y="117473"/>
                  <a:pt x="66673" y="114442"/>
                </a:cubicBezTo>
                <a:cubicBezTo>
                  <a:pt x="74786" y="111410"/>
                  <a:pt x="83900" y="102568"/>
                  <a:pt x="90779" y="93473"/>
                </a:cubicBezTo>
                <a:cubicBezTo>
                  <a:pt x="97658" y="84378"/>
                  <a:pt x="103125" y="72000"/>
                  <a:pt x="108005" y="60126"/>
                </a:cubicBezTo>
                <a:cubicBezTo>
                  <a:pt x="112885" y="48252"/>
                  <a:pt x="117530" y="30568"/>
                  <a:pt x="120000" y="22736"/>
                </a:cubicBezTo>
              </a:path>
            </a:pathLst>
          </a:custGeom>
          <a:noFill/>
          <a:ln cap="flat" cmpd="sng" w="9525">
            <a:solidFill>
              <a:srgbClr val="CC99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64" name="Shape 664"/>
          <p:cNvCxnSpPr/>
          <p:nvPr/>
        </p:nvCxnSpPr>
        <p:spPr>
          <a:xfrm>
            <a:off x="1187450" y="4868862"/>
            <a:ext cx="1298575" cy="0"/>
          </a:xfrm>
          <a:prstGeom prst="straightConnector1">
            <a:avLst/>
          </a:prstGeom>
          <a:noFill/>
          <a:ln cap="flat" cmpd="sng" w="9525">
            <a:solidFill>
              <a:schemeClr val="dk1"/>
            </a:solidFill>
            <a:prstDash val="solid"/>
            <a:miter/>
            <a:headEnd len="med" w="med" type="stealth"/>
            <a:tailEnd len="med" w="med" type="none"/>
          </a:ln>
        </p:spPr>
      </p:cxnSp>
      <p:sp>
        <p:nvSpPr>
          <p:cNvPr id="665" name="Shape 665"/>
          <p:cNvSpPr txBox="1"/>
          <p:nvPr/>
        </p:nvSpPr>
        <p:spPr>
          <a:xfrm>
            <a:off x="4068762" y="4724400"/>
            <a:ext cx="863599"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COSTO</a:t>
            </a:r>
          </a:p>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 MEDIO</a:t>
            </a:r>
          </a:p>
        </p:txBody>
      </p:sp>
      <p:sp>
        <p:nvSpPr>
          <p:cNvPr id="666" name="Shape 666"/>
          <p:cNvSpPr txBox="1"/>
          <p:nvPr/>
        </p:nvSpPr>
        <p:spPr>
          <a:xfrm>
            <a:off x="1187450" y="3716337"/>
            <a:ext cx="1295400" cy="1152525"/>
          </a:xfrm>
          <a:prstGeom prst="rect">
            <a:avLst/>
          </a:prstGeom>
          <a:solidFill>
            <a:srgbClr val="FF0000">
              <a:alpha val="31764"/>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Beneficio </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extraordinario</a:t>
            </a:r>
          </a:p>
        </p:txBody>
      </p:sp>
      <p:sp>
        <p:nvSpPr>
          <p:cNvPr id="667" name="Shape 667"/>
          <p:cNvSpPr txBox="1"/>
          <p:nvPr/>
        </p:nvSpPr>
        <p:spPr>
          <a:xfrm>
            <a:off x="395287" y="4724400"/>
            <a:ext cx="863599"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AC5473"/>
              </a:buClr>
              <a:buSzPct val="25000"/>
              <a:buFont typeface="Arial"/>
              <a:buNone/>
            </a:pPr>
            <a:r>
              <a:rPr b="1" i="0" lang="en-US" sz="1800" u="none" cap="none" strike="noStrike">
                <a:solidFill>
                  <a:srgbClr val="AC5473"/>
                </a:solidFill>
                <a:latin typeface="Arial"/>
                <a:ea typeface="Arial"/>
                <a:cs typeface="Arial"/>
                <a:sym typeface="Arial"/>
              </a:rPr>
              <a:t>Cme</a:t>
            </a:r>
          </a:p>
        </p:txBody>
      </p:sp>
      <p:pic>
        <p:nvPicPr>
          <p:cNvPr id="668" name="Shape 668"/>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72" name="Shape 672"/>
        <p:cNvGrpSpPr/>
        <p:nvPr/>
      </p:nvGrpSpPr>
      <p:grpSpPr>
        <a:xfrm>
          <a:off x="0" y="0"/>
          <a:ext cx="0" cy="0"/>
          <a:chOff x="0" y="0"/>
          <a:chExt cx="0" cy="0"/>
        </a:xfrm>
      </p:grpSpPr>
      <p:sp>
        <p:nvSpPr>
          <p:cNvPr id="673" name="Shape 673"/>
          <p:cNvSpPr/>
          <p:nvPr/>
        </p:nvSpPr>
        <p:spPr>
          <a:xfrm>
            <a:off x="1187450" y="3716337"/>
            <a:ext cx="1296986" cy="865187"/>
          </a:xfrm>
          <a:prstGeom prst="rect">
            <a:avLst/>
          </a:prstGeom>
          <a:solidFill>
            <a:schemeClr val="accent1">
              <a:alpha val="30980"/>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4" name="Shape 674"/>
          <p:cNvSpPr txBox="1"/>
          <p:nvPr>
            <p:ph idx="4294967295" type="title"/>
          </p:nvPr>
        </p:nvSpPr>
        <p:spPr>
          <a:xfrm>
            <a:off x="250825" y="260350"/>
            <a:ext cx="3068637"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BENEFICIO SOCIAL</a:t>
            </a:r>
          </a:p>
        </p:txBody>
      </p:sp>
      <p:sp>
        <p:nvSpPr>
          <p:cNvPr id="675" name="Shape 675"/>
          <p:cNvSpPr txBox="1"/>
          <p:nvPr>
            <p:ph idx="4294967295" type="body"/>
          </p:nvPr>
        </p:nvSpPr>
        <p:spPr>
          <a:xfrm>
            <a:off x="5105400" y="1628775"/>
            <a:ext cx="4038599" cy="3313112"/>
          </a:xfrm>
          <a:prstGeom prst="rect">
            <a:avLst/>
          </a:prstGeom>
          <a:noFill/>
          <a:ln>
            <a:noFill/>
          </a:ln>
        </p:spPr>
        <p:txBody>
          <a:bodyPr anchorCtr="0" anchor="t" bIns="45700" lIns="91425" rIns="91425" tIns="45700">
            <a:noAutofit/>
          </a:bodyPr>
          <a:lstStyle/>
          <a:p>
            <a:pPr indent="-342900" lvl="0" marL="342900" marR="0" rtl="0" algn="l">
              <a:lnSpc>
                <a:spcPct val="75000"/>
              </a:lnSpc>
              <a:spcBef>
                <a:spcPts val="0"/>
              </a:spcBef>
              <a:spcAft>
                <a:spcPts val="0"/>
              </a:spcAft>
              <a:buClr>
                <a:schemeClr val="dk2"/>
              </a:buClr>
              <a:buSzPct val="25000"/>
              <a:buFont typeface="Noto Sans Symbols"/>
              <a:buNone/>
            </a:pPr>
            <a:r>
              <a:rPr b="0" i="0" lang="en-US" sz="1600" u="none" cap="none" strike="noStrike">
                <a:solidFill>
                  <a:schemeClr val="dk1"/>
                </a:solidFill>
                <a:latin typeface="Arial"/>
                <a:ea typeface="Arial"/>
                <a:cs typeface="Arial"/>
                <a:sym typeface="Arial"/>
              </a:rPr>
              <a:t>En el mercado de competencia perfecta       P = Ima = Ime e igual al costo marginal cuando maximiza el beneficio.</a:t>
            </a:r>
          </a:p>
          <a:p>
            <a:pPr indent="-342900" lvl="0" marL="342900" marR="0" rtl="0" algn="l">
              <a:lnSpc>
                <a:spcPct val="80000"/>
              </a:lnSpc>
              <a:spcBef>
                <a:spcPts val="320"/>
              </a:spcBef>
              <a:spcAft>
                <a:spcPts val="0"/>
              </a:spcAft>
              <a:buClr>
                <a:schemeClr val="dk2"/>
              </a:buClr>
              <a:buSzPct val="25000"/>
              <a:buFont typeface="Noto Sans Symbols"/>
              <a:buNone/>
            </a:pPr>
            <a:r>
              <a:rPr b="0" i="0" lang="en-US" sz="1600" u="none" cap="none" strike="noStrike">
                <a:solidFill>
                  <a:schemeClr val="dk1"/>
                </a:solidFill>
                <a:latin typeface="Arial"/>
                <a:ea typeface="Arial"/>
                <a:cs typeface="Arial"/>
                <a:sym typeface="Arial"/>
              </a:rPr>
              <a:t>En el equilibrio el mercado monopólico </a:t>
            </a:r>
            <a:r>
              <a:rPr b="1" i="0" lang="en-US" sz="1600" u="none" cap="none" strike="noStrike">
                <a:solidFill>
                  <a:schemeClr val="dk1"/>
                </a:solidFill>
                <a:latin typeface="Arial"/>
                <a:ea typeface="Arial"/>
                <a:cs typeface="Arial"/>
                <a:sym typeface="Arial"/>
              </a:rPr>
              <a:t>el valor apreciado por los consumidores (precio)</a:t>
            </a:r>
            <a:r>
              <a:rPr b="0" i="0" lang="en-US" sz="1600" u="none" cap="none" strike="noStrike">
                <a:solidFill>
                  <a:schemeClr val="dk1"/>
                </a:solidFill>
                <a:latin typeface="Arial"/>
                <a:ea typeface="Arial"/>
                <a:cs typeface="Arial"/>
                <a:sym typeface="Arial"/>
              </a:rPr>
              <a:t> es mayor que </a:t>
            </a:r>
            <a:r>
              <a:rPr b="1" i="0" lang="en-US" sz="1600" u="none" cap="none" strike="noStrike">
                <a:solidFill>
                  <a:schemeClr val="dk1"/>
                </a:solidFill>
                <a:latin typeface="Arial"/>
                <a:ea typeface="Arial"/>
                <a:cs typeface="Arial"/>
                <a:sym typeface="Arial"/>
              </a:rPr>
              <a:t>el valor apreciado por el monopolista (Cma).</a:t>
            </a:r>
          </a:p>
          <a:p>
            <a:pPr indent="-342900" lvl="0" marL="342900" marR="0" rtl="0" algn="l">
              <a:lnSpc>
                <a:spcPct val="80000"/>
              </a:lnSpc>
              <a:spcBef>
                <a:spcPts val="320"/>
              </a:spcBef>
              <a:spcAft>
                <a:spcPts val="0"/>
              </a:spcAft>
              <a:buClr>
                <a:schemeClr val="dk2"/>
              </a:buClr>
              <a:buSzPct val="25000"/>
              <a:buFont typeface="Noto Sans Symbols"/>
              <a:buNone/>
            </a:pPr>
            <a:r>
              <a:rPr b="1" i="0" lang="en-US" sz="1600" u="none" cap="none" strike="noStrike">
                <a:solidFill>
                  <a:schemeClr val="dk1"/>
                </a:solidFill>
                <a:latin typeface="Arial"/>
                <a:ea typeface="Arial"/>
                <a:cs typeface="Arial"/>
                <a:sym typeface="Arial"/>
              </a:rPr>
              <a:t>Socialmente</a:t>
            </a:r>
            <a:r>
              <a:rPr b="0" i="0" lang="en-US" sz="1600" u="none" cap="none" strike="noStrike">
                <a:solidFill>
                  <a:schemeClr val="dk1"/>
                </a:solidFill>
                <a:latin typeface="Arial"/>
                <a:ea typeface="Arial"/>
                <a:cs typeface="Arial"/>
                <a:sym typeface="Arial"/>
              </a:rPr>
              <a:t> sería conveniente aumentar la producción, pero al monopolista no le interesa porque reduce su beneficio particular.</a:t>
            </a:r>
          </a:p>
          <a:p>
            <a:pPr indent="-342900" lvl="0" marL="342900" marR="0" rtl="0" algn="l">
              <a:lnSpc>
                <a:spcPct val="80000"/>
              </a:lnSpc>
              <a:spcBef>
                <a:spcPts val="320"/>
              </a:spcBef>
              <a:spcAft>
                <a:spcPts val="0"/>
              </a:spcAft>
              <a:buClr>
                <a:schemeClr val="dk2"/>
              </a:buClr>
              <a:buSzPct val="25000"/>
              <a:buFont typeface="Noto Sans Symbols"/>
              <a:buNone/>
            </a:pPr>
            <a:r>
              <a:rPr b="0" i="0" lang="en-US" sz="1600" u="none" cap="none" strike="noStrike">
                <a:solidFill>
                  <a:schemeClr val="dk1"/>
                </a:solidFill>
                <a:latin typeface="Arial"/>
                <a:ea typeface="Arial"/>
                <a:cs typeface="Arial"/>
                <a:sym typeface="Arial"/>
              </a:rPr>
              <a:t>El beneficio máximo que consigue el monopolista ocurre porque se apropia de parte de los excedentes de los consumidores   </a:t>
            </a:r>
          </a:p>
        </p:txBody>
      </p:sp>
      <p:cxnSp>
        <p:nvCxnSpPr>
          <p:cNvPr id="676" name="Shape 676"/>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677" name="Shape 677"/>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678" name="Shape 678"/>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sp>
        <p:nvSpPr>
          <p:cNvPr id="679" name="Shape 679"/>
          <p:cNvSpPr/>
          <p:nvPr/>
        </p:nvSpPr>
        <p:spPr>
          <a:xfrm>
            <a:off x="1258887" y="3644900"/>
            <a:ext cx="3471862" cy="1708149"/>
          </a:xfrm>
          <a:custGeom>
            <a:pathLst>
              <a:path extrusionOk="0" h="120000" w="120000">
                <a:moveTo>
                  <a:pt x="0" y="98810"/>
                </a:moveTo>
                <a:cubicBezTo>
                  <a:pt x="3182" y="101933"/>
                  <a:pt x="12949" y="115539"/>
                  <a:pt x="19149" y="117769"/>
                </a:cubicBezTo>
                <a:cubicBezTo>
                  <a:pt x="25349" y="120000"/>
                  <a:pt x="30452" y="118438"/>
                  <a:pt x="37311" y="112527"/>
                </a:cubicBezTo>
                <a:cubicBezTo>
                  <a:pt x="44170" y="106617"/>
                  <a:pt x="51467" y="94349"/>
                  <a:pt x="60246" y="82639"/>
                </a:cubicBezTo>
                <a:cubicBezTo>
                  <a:pt x="69026" y="70929"/>
                  <a:pt x="80987" y="54758"/>
                  <a:pt x="90096" y="42156"/>
                </a:cubicBezTo>
                <a:cubicBezTo>
                  <a:pt x="99204" y="29553"/>
                  <a:pt x="110013" y="13382"/>
                  <a:pt x="115006" y="6691"/>
                </a:cubicBezTo>
                <a:cubicBezTo>
                  <a:pt x="119999" y="0"/>
                  <a:pt x="119999" y="780"/>
                  <a:pt x="119999" y="1672"/>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80" name="Shape 680"/>
          <p:cNvCxnSpPr/>
          <p:nvPr/>
        </p:nvCxnSpPr>
        <p:spPr>
          <a:xfrm>
            <a:off x="1187450" y="2420936"/>
            <a:ext cx="2089150" cy="4437062"/>
          </a:xfrm>
          <a:prstGeom prst="straightConnector1">
            <a:avLst/>
          </a:prstGeom>
          <a:noFill/>
          <a:ln cap="flat" cmpd="sng" w="38100">
            <a:solidFill>
              <a:srgbClr val="000080"/>
            </a:solidFill>
            <a:prstDash val="solid"/>
            <a:miter/>
            <a:headEnd len="med" w="med" type="none"/>
            <a:tailEnd len="med" w="med" type="none"/>
          </a:ln>
        </p:spPr>
      </p:cxnSp>
      <p:sp>
        <p:nvSpPr>
          <p:cNvPr id="681" name="Shape 681"/>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682" name="Shape 682"/>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83" name="Shape 683"/>
          <p:cNvSpPr txBox="1"/>
          <p:nvPr/>
        </p:nvSpPr>
        <p:spPr>
          <a:xfrm>
            <a:off x="395287" y="5373687"/>
            <a:ext cx="2087562"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MARGINAL</a:t>
            </a:r>
          </a:p>
        </p:txBody>
      </p:sp>
      <p:sp>
        <p:nvSpPr>
          <p:cNvPr id="684" name="Shape 684"/>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sp>
        <p:nvSpPr>
          <p:cNvPr id="685" name="Shape 685"/>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a:t>
            </a:r>
          </a:p>
        </p:txBody>
      </p:sp>
      <p:cxnSp>
        <p:nvCxnSpPr>
          <p:cNvPr id="686" name="Shape 686"/>
          <p:cNvCxnSpPr/>
          <p:nvPr/>
        </p:nvCxnSpPr>
        <p:spPr>
          <a:xfrm>
            <a:off x="2484436" y="3716337"/>
            <a:ext cx="0" cy="1441449"/>
          </a:xfrm>
          <a:prstGeom prst="straightConnector1">
            <a:avLst/>
          </a:prstGeom>
          <a:noFill/>
          <a:ln cap="flat" cmpd="sng" w="9525">
            <a:solidFill>
              <a:schemeClr val="dk1"/>
            </a:solidFill>
            <a:prstDash val="solid"/>
            <a:miter/>
            <a:headEnd len="med" w="med" type="none"/>
            <a:tailEnd len="med" w="med" type="none"/>
          </a:ln>
        </p:spPr>
      </p:cxnSp>
      <p:sp>
        <p:nvSpPr>
          <p:cNvPr id="687" name="Shape 687"/>
          <p:cNvSpPr txBox="1"/>
          <p:nvPr/>
        </p:nvSpPr>
        <p:spPr>
          <a:xfrm>
            <a:off x="3132136" y="450850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Ima  = Cma</a:t>
            </a:r>
          </a:p>
        </p:txBody>
      </p:sp>
      <p:sp>
        <p:nvSpPr>
          <p:cNvPr id="688" name="Shape 688"/>
          <p:cNvSpPr txBox="1"/>
          <p:nvPr/>
        </p:nvSpPr>
        <p:spPr>
          <a:xfrm>
            <a:off x="2844800" y="41497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cxnSp>
        <p:nvCxnSpPr>
          <p:cNvPr id="689" name="Shape 689"/>
          <p:cNvCxnSpPr/>
          <p:nvPr/>
        </p:nvCxnSpPr>
        <p:spPr>
          <a:xfrm rot="10800000">
            <a:off x="1187450" y="4581525"/>
            <a:ext cx="2160586" cy="0"/>
          </a:xfrm>
          <a:prstGeom prst="straightConnector1">
            <a:avLst/>
          </a:prstGeom>
          <a:noFill/>
          <a:ln cap="flat" cmpd="sng" w="9525">
            <a:solidFill>
              <a:schemeClr val="dk1"/>
            </a:solidFill>
            <a:prstDash val="solid"/>
            <a:miter/>
            <a:headEnd len="med" w="med" type="none"/>
            <a:tailEnd len="med" w="med" type="none"/>
          </a:ln>
        </p:spPr>
      </p:cxnSp>
      <p:sp>
        <p:nvSpPr>
          <p:cNvPr id="690" name="Shape 690"/>
          <p:cNvSpPr/>
          <p:nvPr/>
        </p:nvSpPr>
        <p:spPr>
          <a:xfrm>
            <a:off x="2484436" y="3716337"/>
            <a:ext cx="863599" cy="1441449"/>
          </a:xfrm>
          <a:custGeom>
            <a:pathLst>
              <a:path extrusionOk="0" h="120000" w="120000">
                <a:moveTo>
                  <a:pt x="0" y="0"/>
                </a:moveTo>
                <a:lnTo>
                  <a:pt x="65073" y="38722"/>
                </a:lnTo>
                <a:lnTo>
                  <a:pt x="120000" y="72026"/>
                </a:lnTo>
                <a:lnTo>
                  <a:pt x="67279" y="92511"/>
                </a:lnTo>
                <a:lnTo>
                  <a:pt x="42132" y="103744"/>
                </a:lnTo>
                <a:lnTo>
                  <a:pt x="0" y="120000"/>
                </a:lnTo>
              </a:path>
            </a:pathLst>
          </a:custGeom>
          <a:solidFill>
            <a:srgbClr val="FF0000">
              <a:alpha val="42745"/>
            </a:srgbClr>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1" name="Shape 691"/>
          <p:cNvSpPr txBox="1"/>
          <p:nvPr/>
        </p:nvSpPr>
        <p:spPr>
          <a:xfrm>
            <a:off x="5580062" y="5156200"/>
            <a:ext cx="3384550" cy="936624"/>
          </a:xfrm>
          <a:prstGeom prst="rect">
            <a:avLst/>
          </a:prstGeom>
          <a:solidFill>
            <a:srgbClr val="CC99FF">
              <a:alpha val="16862"/>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 triangulo rojo es el COSTO </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SOCIAL del monopolio</a:t>
            </a:r>
          </a:p>
        </p:txBody>
      </p:sp>
      <p:pic>
        <p:nvPicPr>
          <p:cNvPr id="692" name="Shape 692"/>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96" name="Shape 696"/>
        <p:cNvGrpSpPr/>
        <p:nvPr/>
      </p:nvGrpSpPr>
      <p:grpSpPr>
        <a:xfrm>
          <a:off x="0" y="0"/>
          <a:ext cx="0" cy="0"/>
          <a:chOff x="0" y="0"/>
          <a:chExt cx="0" cy="0"/>
        </a:xfrm>
      </p:grpSpPr>
      <p:sp>
        <p:nvSpPr>
          <p:cNvPr id="697" name="Shape 697"/>
          <p:cNvSpPr txBox="1"/>
          <p:nvPr>
            <p:ph idx="4294967295" type="title"/>
          </p:nvPr>
        </p:nvSpPr>
        <p:spPr>
          <a:xfrm>
            <a:off x="179386" y="260350"/>
            <a:ext cx="3429000" cy="941386"/>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1600" u="none" cap="none" strike="noStrike">
                <a:solidFill>
                  <a:schemeClr val="dk2"/>
                </a:solidFill>
                <a:latin typeface="Arial"/>
                <a:ea typeface="Arial"/>
                <a:cs typeface="Arial"/>
                <a:sym typeface="Arial"/>
              </a:rPr>
              <a:t>PRECIOS NO UNIFORMES</a:t>
            </a:r>
          </a:p>
        </p:txBody>
      </p:sp>
      <p:sp>
        <p:nvSpPr>
          <p:cNvPr id="698" name="Shape 698"/>
          <p:cNvSpPr txBox="1"/>
          <p:nvPr>
            <p:ph idx="4294967295" type="body"/>
          </p:nvPr>
        </p:nvSpPr>
        <p:spPr>
          <a:xfrm>
            <a:off x="468312" y="1341437"/>
            <a:ext cx="7499349"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70000"/>
              <a:buFont typeface="Noto Sans Symbols"/>
              <a:buAutoNum type="arabicPeriod"/>
            </a:pPr>
            <a:r>
              <a:rPr b="0" i="0" lang="en-US" sz="2200" u="none" cap="none" strike="noStrike">
                <a:solidFill>
                  <a:schemeClr val="dk1"/>
                </a:solidFill>
                <a:latin typeface="Arial"/>
                <a:ea typeface="Arial"/>
                <a:cs typeface="Arial"/>
                <a:sym typeface="Arial"/>
              </a:rPr>
              <a:t> Si el monopolista puede distinguir la </a:t>
            </a:r>
            <a:r>
              <a:rPr b="1" i="0" lang="en-US" sz="2200" u="none" cap="none" strike="noStrike">
                <a:solidFill>
                  <a:srgbClr val="EC1914"/>
                </a:solidFill>
                <a:latin typeface="Arial"/>
                <a:ea typeface="Arial"/>
                <a:cs typeface="Arial"/>
                <a:sym typeface="Arial"/>
              </a:rPr>
              <a:t>disposición marginal de compra</a:t>
            </a:r>
            <a:r>
              <a:rPr b="0" i="0" lang="en-US" sz="2200" u="none" cap="none" strike="noStrike">
                <a:solidFill>
                  <a:schemeClr val="dk1"/>
                </a:solidFill>
                <a:latin typeface="Arial"/>
                <a:ea typeface="Arial"/>
                <a:cs typeface="Arial"/>
                <a:sym typeface="Arial"/>
              </a:rPr>
              <a:t> de sus clientes podrá maximizar el beneficio, y abandonará la fijación de un solo precio y adoptando un precio distinto para cada decisión de compra por el mismo bien.</a:t>
            </a:r>
          </a:p>
          <a:p>
            <a:pPr indent="-342900" lvl="0" marL="342900" marR="0" rtl="0" algn="l">
              <a:lnSpc>
                <a:spcPct val="10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10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100000"/>
              </a:lnSpc>
              <a:spcBef>
                <a:spcPts val="440"/>
              </a:spcBef>
              <a:spcAft>
                <a:spcPts val="0"/>
              </a:spcAft>
              <a:buClr>
                <a:schemeClr val="dk2"/>
              </a:buClr>
              <a:buSzPct val="70000"/>
              <a:buFont typeface="Noto Sans Symbols"/>
              <a:buAutoNum type="arabicPeriod"/>
            </a:pPr>
            <a:r>
              <a:rPr b="0" i="0" lang="en-US" sz="2200" u="none" cap="none" strike="noStrike">
                <a:solidFill>
                  <a:schemeClr val="dk1"/>
                </a:solidFill>
                <a:latin typeface="Arial"/>
                <a:ea typeface="Arial"/>
                <a:cs typeface="Arial"/>
                <a:sym typeface="Arial"/>
              </a:rPr>
              <a:t> A la posibilidad de vender bienes idénticos a diferentes precios se le denomina </a:t>
            </a:r>
            <a:r>
              <a:rPr b="1" i="0" lang="en-US" sz="2200" u="none" cap="none" strike="noStrike">
                <a:solidFill>
                  <a:srgbClr val="EC1914"/>
                </a:solidFill>
                <a:latin typeface="Arial"/>
                <a:ea typeface="Arial"/>
                <a:cs typeface="Arial"/>
                <a:sym typeface="Arial"/>
              </a:rPr>
              <a:t>discriminación de precios</a:t>
            </a:r>
          </a:p>
          <a:p>
            <a:pPr indent="-342900" lvl="0" marL="342900" marR="0" rtl="0" algn="l">
              <a:lnSpc>
                <a:spcPct val="100000"/>
              </a:lnSpc>
              <a:spcBef>
                <a:spcPts val="44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 </a:t>
            </a:r>
          </a:p>
        </p:txBody>
      </p:sp>
      <p:pic>
        <p:nvPicPr>
          <p:cNvPr id="699" name="Shape 699"/>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03" name="Shape 703"/>
        <p:cNvGrpSpPr/>
        <p:nvPr/>
      </p:nvGrpSpPr>
      <p:grpSpPr>
        <a:xfrm>
          <a:off x="0" y="0"/>
          <a:ext cx="0" cy="0"/>
          <a:chOff x="0" y="0"/>
          <a:chExt cx="0" cy="0"/>
        </a:xfrm>
      </p:grpSpPr>
      <p:sp>
        <p:nvSpPr>
          <p:cNvPr id="704" name="Shape 704"/>
          <p:cNvSpPr txBox="1"/>
          <p:nvPr>
            <p:ph idx="4294967295" type="title"/>
          </p:nvPr>
        </p:nvSpPr>
        <p:spPr>
          <a:xfrm>
            <a:off x="250825" y="260350"/>
            <a:ext cx="4581524"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600" u="none" cap="none" strike="noStrike">
                <a:solidFill>
                  <a:schemeClr val="dk2"/>
                </a:solidFill>
                <a:latin typeface="Arial"/>
                <a:ea typeface="Arial"/>
                <a:cs typeface="Arial"/>
                <a:sym typeface="Arial"/>
              </a:rPr>
              <a:t>DISCRIMINACIÓN DE PRECIOS</a:t>
            </a:r>
          </a:p>
        </p:txBody>
      </p:sp>
      <p:sp>
        <p:nvSpPr>
          <p:cNvPr id="705" name="Shape 705"/>
          <p:cNvSpPr txBox="1"/>
          <p:nvPr>
            <p:ph idx="4294967295" type="body"/>
          </p:nvPr>
        </p:nvSpPr>
        <p:spPr>
          <a:xfrm>
            <a:off x="457200" y="1719261"/>
            <a:ext cx="8362950" cy="1493836"/>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Existe discriminación de precios cuando una empresa monopolística es capaz de vender unidades idénticas del bien a precios diferentes</a:t>
            </a:r>
          </a:p>
        </p:txBody>
      </p:sp>
      <p:sp>
        <p:nvSpPr>
          <p:cNvPr id="706" name="Shape 706"/>
          <p:cNvSpPr txBox="1"/>
          <p:nvPr/>
        </p:nvSpPr>
        <p:spPr>
          <a:xfrm>
            <a:off x="250825" y="3284537"/>
            <a:ext cx="8424862" cy="3113086"/>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rgbClr val="EC1914"/>
              </a:buClr>
              <a:buSzPct val="100000"/>
              <a:buFont typeface="Arial"/>
              <a:buAutoNum type="arabicPeriod"/>
            </a:pPr>
            <a:r>
              <a:rPr b="1" i="0" lang="en-US" sz="1800" u="none" cap="none" strike="noStrike">
                <a:solidFill>
                  <a:srgbClr val="EC1914"/>
                </a:solidFill>
                <a:latin typeface="Arial"/>
                <a:ea typeface="Arial"/>
                <a:cs typeface="Arial"/>
                <a:sym typeface="Arial"/>
              </a:rPr>
              <a:t>Discriminación de Primer Grado</a:t>
            </a:r>
            <a:r>
              <a:rPr b="0" i="0" lang="en-US" sz="1800" u="none" cap="none" strike="noStrike">
                <a:solidFill>
                  <a:schemeClr val="dk1"/>
                </a:solidFill>
                <a:latin typeface="Arial"/>
                <a:ea typeface="Arial"/>
                <a:cs typeface="Arial"/>
                <a:sym typeface="Arial"/>
              </a:rPr>
              <a:t>: Es cuando la empresa monopolística se apropia íntegramente del excedente del consumidor.</a:t>
            </a:r>
          </a:p>
          <a:p>
            <a:pPr indent="-342900" lvl="0" marL="342900" marR="0" rtl="0" algn="l">
              <a:lnSpc>
                <a:spcPct val="100000"/>
              </a:lnSpc>
              <a:spcBef>
                <a:spcPts val="0"/>
              </a:spcBef>
              <a:spcAft>
                <a:spcPts val="0"/>
              </a:spcAft>
              <a:buClr>
                <a:srgbClr val="EC1914"/>
              </a:buClr>
              <a:buSzPct val="100000"/>
              <a:buFont typeface="Arial"/>
              <a:buAutoNum type="arabicPeriod"/>
            </a:pPr>
            <a:r>
              <a:rPr b="1" i="0" lang="en-US" sz="1800" u="none" cap="none" strike="noStrike">
                <a:solidFill>
                  <a:srgbClr val="EC1914"/>
                </a:solidFill>
                <a:latin typeface="Arial"/>
                <a:ea typeface="Arial"/>
                <a:cs typeface="Arial"/>
                <a:sym typeface="Arial"/>
              </a:rPr>
              <a:t>Discriminación de Segundo Grado</a:t>
            </a:r>
            <a:r>
              <a:rPr b="0" i="0" lang="en-US" sz="1800" u="none" cap="none" strike="noStrike">
                <a:solidFill>
                  <a:schemeClr val="dk1"/>
                </a:solidFill>
                <a:latin typeface="Arial"/>
                <a:ea typeface="Arial"/>
                <a:cs typeface="Arial"/>
                <a:sym typeface="Arial"/>
              </a:rPr>
              <a:t>: Cuando se extrae parte del excedente del consumidor en base a vender por “bloques” bienes en cantidad y/o calidad distinta, de forma tal que los precios asociados a las distintas unidades que pueda comprar el consumidor difieran.</a:t>
            </a:r>
          </a:p>
          <a:p>
            <a:pPr indent="-342900" lvl="0" marL="342900" marR="0" rtl="0" algn="l">
              <a:lnSpc>
                <a:spcPct val="100000"/>
              </a:lnSpc>
              <a:spcBef>
                <a:spcPts val="0"/>
              </a:spcBef>
              <a:spcAft>
                <a:spcPts val="0"/>
              </a:spcAft>
              <a:buClr>
                <a:srgbClr val="EC1914"/>
              </a:buClr>
              <a:buSzPct val="100000"/>
              <a:buFont typeface="Arial"/>
              <a:buAutoNum type="arabicPeriod"/>
            </a:pPr>
            <a:r>
              <a:rPr b="1" i="0" lang="en-US" sz="1800" u="none" cap="none" strike="noStrike">
                <a:solidFill>
                  <a:srgbClr val="EC1914"/>
                </a:solidFill>
                <a:latin typeface="Arial"/>
                <a:ea typeface="Arial"/>
                <a:cs typeface="Arial"/>
                <a:sym typeface="Arial"/>
              </a:rPr>
              <a:t>Discriminación de Tercer Grado</a:t>
            </a:r>
            <a:r>
              <a:rPr b="0" i="0" lang="en-US" sz="1800" u="none" cap="none" strike="noStrike">
                <a:solidFill>
                  <a:schemeClr val="dk1"/>
                </a:solidFill>
                <a:latin typeface="Arial"/>
                <a:ea typeface="Arial"/>
                <a:cs typeface="Arial"/>
                <a:sym typeface="Arial"/>
              </a:rPr>
              <a:t>: Es cuando se vende a precios diferentes a consumidores diferenciados por alguna característica observable, segmentando de forma efectiva el Mercado (grupos de consumidores con iguales características pagan iguales precios por las misma unidades, pero grupos diferentes pagan diferentes preciso por las mismas unidades).</a:t>
            </a:r>
          </a:p>
        </p:txBody>
      </p:sp>
      <p:pic>
        <p:nvPicPr>
          <p:cNvPr id="707" name="Shape 707"/>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11" name="Shape 711"/>
        <p:cNvGrpSpPr/>
        <p:nvPr/>
      </p:nvGrpSpPr>
      <p:grpSpPr>
        <a:xfrm>
          <a:off x="0" y="0"/>
          <a:ext cx="0" cy="0"/>
          <a:chOff x="0" y="0"/>
          <a:chExt cx="0" cy="0"/>
        </a:xfrm>
      </p:grpSpPr>
      <p:sp>
        <p:nvSpPr>
          <p:cNvPr id="712" name="Shape 712"/>
          <p:cNvSpPr txBox="1"/>
          <p:nvPr>
            <p:ph idx="4294967295" type="title"/>
          </p:nvPr>
        </p:nvSpPr>
        <p:spPr>
          <a:xfrm>
            <a:off x="179386" y="260350"/>
            <a:ext cx="4392611" cy="100806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600" u="none" cap="none" strike="noStrike">
                <a:solidFill>
                  <a:schemeClr val="dk2"/>
                </a:solidFill>
                <a:latin typeface="Arial"/>
                <a:ea typeface="Arial"/>
                <a:cs typeface="Arial"/>
                <a:sym typeface="Arial"/>
              </a:rPr>
              <a:t>MONOPOLIO </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DISCRIMINACIÓN DE 1° GRADO</a:t>
            </a:r>
          </a:p>
        </p:txBody>
      </p:sp>
      <p:sp>
        <p:nvSpPr>
          <p:cNvPr id="713" name="Shape 713"/>
          <p:cNvSpPr txBox="1"/>
          <p:nvPr>
            <p:ph idx="4294967295" type="body"/>
          </p:nvPr>
        </p:nvSpPr>
        <p:spPr>
          <a:xfrm>
            <a:off x="3059111" y="1700211"/>
            <a:ext cx="6084887" cy="2449512"/>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1" i="0" lang="en-US" sz="1400" u="none" cap="none" strike="noStrike">
                <a:solidFill>
                  <a:srgbClr val="EC1914"/>
                </a:solidFill>
                <a:latin typeface="Arial"/>
                <a:ea typeface="Arial"/>
                <a:cs typeface="Arial"/>
                <a:sym typeface="Arial"/>
              </a:rPr>
              <a:t>Discriminación perfecta:</a:t>
            </a:r>
            <a:r>
              <a:rPr b="0" i="0" lang="en-US" sz="1400" u="none" cap="none" strike="noStrike">
                <a:solidFill>
                  <a:schemeClr val="dk1"/>
                </a:solidFill>
                <a:latin typeface="Arial"/>
                <a:ea typeface="Arial"/>
                <a:cs typeface="Arial"/>
                <a:sym typeface="Arial"/>
              </a:rPr>
              <a:t> Consistirá en cobrar a cada uno de los consumidores el precio máximo que está dispuesto a pagar por cada unidad.</a:t>
            </a:r>
          </a:p>
          <a:p>
            <a:pPr indent="-342900" lvl="0" marL="342900" marR="0" rtl="0" algn="l">
              <a:lnSpc>
                <a:spcPct val="80000"/>
              </a:lnSpc>
              <a:spcBef>
                <a:spcPts val="280"/>
              </a:spcBef>
              <a:spcAft>
                <a:spcPts val="0"/>
              </a:spcAft>
              <a:buClr>
                <a:schemeClr val="dk2"/>
              </a:buClr>
              <a:buSzPct val="25000"/>
              <a:buFont typeface="Noto Sans Symbols"/>
              <a:buNone/>
            </a:pPr>
            <a:r>
              <a:rPr b="0" i="0" lang="en-US" sz="1400" u="none" cap="none" strike="noStrike">
                <a:solidFill>
                  <a:schemeClr val="dk1"/>
                </a:solidFill>
                <a:latin typeface="Arial"/>
                <a:ea typeface="Arial"/>
                <a:cs typeface="Arial"/>
                <a:sym typeface="Arial"/>
              </a:rPr>
              <a:t>La curva de demanda expresa el precio máximo que el consumidor esta dispuesto a pagar por Qi, por lo que </a:t>
            </a:r>
            <a:r>
              <a:rPr b="1" i="0" lang="en-US" sz="1400" u="none" cap="none" strike="noStrike">
                <a:solidFill>
                  <a:srgbClr val="EC1914"/>
                </a:solidFill>
                <a:latin typeface="Arial"/>
                <a:ea typeface="Arial"/>
                <a:cs typeface="Arial"/>
                <a:sym typeface="Arial"/>
              </a:rPr>
              <a:t>el precio iguala la altura de la curva de demanda</a:t>
            </a:r>
            <a:r>
              <a:rPr b="0" i="0" lang="en-US" sz="1400" u="none" cap="none" strike="noStrike">
                <a:solidFill>
                  <a:schemeClr val="dk1"/>
                </a:solidFill>
                <a:latin typeface="Arial"/>
                <a:ea typeface="Arial"/>
                <a:cs typeface="Arial"/>
                <a:sym typeface="Arial"/>
              </a:rPr>
              <a:t>.</a:t>
            </a:r>
          </a:p>
          <a:p>
            <a:pPr indent="-342900" lvl="0" marL="342900" marR="0" rtl="0" algn="l">
              <a:lnSpc>
                <a:spcPct val="80000"/>
              </a:lnSpc>
              <a:spcBef>
                <a:spcPts val="280"/>
              </a:spcBef>
              <a:spcAft>
                <a:spcPts val="0"/>
              </a:spcAft>
              <a:buClr>
                <a:schemeClr val="dk2"/>
              </a:buClr>
              <a:buSzPct val="25000"/>
              <a:buFont typeface="Noto Sans Symbols"/>
              <a:buNone/>
            </a:pPr>
            <a:r>
              <a:rPr b="0" i="0" lang="en-US" sz="1400" u="none" cap="none" strike="noStrike">
                <a:solidFill>
                  <a:schemeClr val="dk1"/>
                </a:solidFill>
                <a:latin typeface="Arial"/>
                <a:ea typeface="Arial"/>
                <a:cs typeface="Arial"/>
                <a:sym typeface="Arial"/>
              </a:rPr>
              <a:t>En este caso la </a:t>
            </a:r>
            <a:r>
              <a:rPr b="1" i="0" lang="en-US" sz="1400" u="none" cap="none" strike="noStrike">
                <a:solidFill>
                  <a:srgbClr val="EC1914"/>
                </a:solidFill>
                <a:latin typeface="Arial"/>
                <a:ea typeface="Arial"/>
                <a:cs typeface="Arial"/>
                <a:sym typeface="Arial"/>
              </a:rPr>
              <a:t>curva de Ingreso Marginal</a:t>
            </a:r>
            <a:r>
              <a:rPr b="0" i="0" lang="en-US" sz="1400" u="none" cap="none" strike="noStrike">
                <a:solidFill>
                  <a:schemeClr val="dk1"/>
                </a:solidFill>
                <a:latin typeface="Arial"/>
                <a:ea typeface="Arial"/>
                <a:cs typeface="Arial"/>
                <a:sym typeface="Arial"/>
              </a:rPr>
              <a:t> reproduce a la </a:t>
            </a:r>
            <a:r>
              <a:rPr b="1" i="0" lang="en-US" sz="1400" u="none" cap="none" strike="noStrike">
                <a:solidFill>
                  <a:srgbClr val="EC1914"/>
                </a:solidFill>
                <a:latin typeface="Arial"/>
                <a:ea typeface="Arial"/>
                <a:cs typeface="Arial"/>
                <a:sym typeface="Arial"/>
              </a:rPr>
              <a:t>curva de Demanda del Bien</a:t>
            </a:r>
            <a:r>
              <a:rPr b="0" i="0" lang="en-US" sz="1400" u="none" cap="none" strike="noStrike">
                <a:solidFill>
                  <a:schemeClr val="dk1"/>
                </a:solidFill>
                <a:latin typeface="Arial"/>
                <a:ea typeface="Arial"/>
                <a:cs typeface="Arial"/>
                <a:sym typeface="Arial"/>
              </a:rPr>
              <a:t> ya que cada unidad será vendida al precio máximo dado por la curva de demanda (asumiendo efectos-rentas nulos) y los ingresos del monopolista es el precio de esta última unidad vendida.</a:t>
            </a:r>
          </a:p>
          <a:p>
            <a:pPr indent="-342900" lvl="0" marL="342900" marR="0" rtl="0" algn="l">
              <a:lnSpc>
                <a:spcPct val="80000"/>
              </a:lnSpc>
              <a:spcBef>
                <a:spcPts val="280"/>
              </a:spcBef>
              <a:spcAft>
                <a:spcPts val="0"/>
              </a:spcAft>
              <a:buClr>
                <a:schemeClr val="dk2"/>
              </a:buClr>
              <a:buSzPct val="25000"/>
              <a:buFont typeface="Noto Sans Symbols"/>
              <a:buNone/>
            </a:pPr>
            <a:r>
              <a:rPr b="0" i="0" lang="en-US" sz="1400" u="none" cap="none" strike="noStrike">
                <a:solidFill>
                  <a:schemeClr val="dk1"/>
                </a:solidFill>
                <a:latin typeface="Arial"/>
                <a:ea typeface="Arial"/>
                <a:cs typeface="Arial"/>
                <a:sym typeface="Arial"/>
              </a:rPr>
              <a:t>El monopolista perfectamente discriminador igualará </a:t>
            </a:r>
            <a:r>
              <a:rPr b="1" i="0" lang="en-US" sz="1400" u="none" cap="none" strike="noStrike">
                <a:solidFill>
                  <a:srgbClr val="EC1914"/>
                </a:solidFill>
                <a:latin typeface="Arial"/>
                <a:ea typeface="Arial"/>
                <a:cs typeface="Arial"/>
                <a:sym typeface="Arial"/>
              </a:rPr>
              <a:t>IMa = CMa</a:t>
            </a:r>
            <a:r>
              <a:rPr b="0" i="0" lang="en-US" sz="1400" u="none" cap="none" strike="noStrike">
                <a:solidFill>
                  <a:schemeClr val="dk1"/>
                </a:solidFill>
                <a:latin typeface="Arial"/>
                <a:ea typeface="Arial"/>
                <a:cs typeface="Arial"/>
                <a:sym typeface="Arial"/>
              </a:rPr>
              <a:t> y como </a:t>
            </a:r>
            <a:r>
              <a:rPr b="1" i="0" lang="en-US" sz="1400" u="none" cap="none" strike="noStrike">
                <a:solidFill>
                  <a:srgbClr val="EC1914"/>
                </a:solidFill>
                <a:latin typeface="Arial"/>
                <a:ea typeface="Arial"/>
                <a:cs typeface="Arial"/>
                <a:sym typeface="Arial"/>
              </a:rPr>
              <a:t>IMa = D</a:t>
            </a:r>
            <a:r>
              <a:rPr b="0" i="0" lang="en-US" sz="1400" u="none" cap="none" strike="noStrike">
                <a:solidFill>
                  <a:schemeClr val="dk1"/>
                </a:solidFill>
                <a:latin typeface="Arial"/>
                <a:ea typeface="Arial"/>
                <a:cs typeface="Arial"/>
                <a:sym typeface="Arial"/>
              </a:rPr>
              <a:t>, entonces venderá hasta la intersección de la curva de demanda con el costo marginal a un precio distinto para cada consumidor</a:t>
            </a:r>
          </a:p>
        </p:txBody>
      </p:sp>
      <p:cxnSp>
        <p:nvCxnSpPr>
          <p:cNvPr id="714" name="Shape 714"/>
          <p:cNvCxnSpPr/>
          <p:nvPr/>
        </p:nvCxnSpPr>
        <p:spPr>
          <a:xfrm>
            <a:off x="755650" y="1989136"/>
            <a:ext cx="0" cy="4319587"/>
          </a:xfrm>
          <a:prstGeom prst="straightConnector1">
            <a:avLst/>
          </a:prstGeom>
          <a:noFill/>
          <a:ln cap="flat" cmpd="sng" w="9525">
            <a:solidFill>
              <a:schemeClr val="dk1"/>
            </a:solidFill>
            <a:prstDash val="solid"/>
            <a:miter/>
            <a:headEnd len="med" w="med" type="none"/>
            <a:tailEnd len="med" w="med" type="none"/>
          </a:ln>
        </p:spPr>
      </p:cxnSp>
      <p:cxnSp>
        <p:nvCxnSpPr>
          <p:cNvPr id="715" name="Shape 715"/>
          <p:cNvCxnSpPr/>
          <p:nvPr/>
        </p:nvCxnSpPr>
        <p:spPr>
          <a:xfrm>
            <a:off x="611187" y="6092825"/>
            <a:ext cx="4105275" cy="0"/>
          </a:xfrm>
          <a:prstGeom prst="straightConnector1">
            <a:avLst/>
          </a:prstGeom>
          <a:noFill/>
          <a:ln cap="flat" cmpd="sng" w="9525">
            <a:solidFill>
              <a:schemeClr val="dk1"/>
            </a:solidFill>
            <a:prstDash val="solid"/>
            <a:miter/>
            <a:headEnd len="med" w="med" type="none"/>
            <a:tailEnd len="med" w="med" type="none"/>
          </a:ln>
        </p:spPr>
      </p:cxnSp>
      <p:sp>
        <p:nvSpPr>
          <p:cNvPr id="716" name="Shape 716"/>
          <p:cNvSpPr/>
          <p:nvPr/>
        </p:nvSpPr>
        <p:spPr>
          <a:xfrm>
            <a:off x="827087" y="4008437"/>
            <a:ext cx="2846387" cy="1273174"/>
          </a:xfrm>
          <a:custGeom>
            <a:pathLst>
              <a:path extrusionOk="0" h="120000" w="120000">
                <a:moveTo>
                  <a:pt x="0" y="91571"/>
                </a:moveTo>
                <a:cubicBezTo>
                  <a:pt x="3881" y="95760"/>
                  <a:pt x="15794" y="114014"/>
                  <a:pt x="23357" y="117007"/>
                </a:cubicBezTo>
                <a:cubicBezTo>
                  <a:pt x="30920" y="120000"/>
                  <a:pt x="37144" y="117905"/>
                  <a:pt x="45510" y="109975"/>
                </a:cubicBezTo>
                <a:cubicBezTo>
                  <a:pt x="53876" y="102044"/>
                  <a:pt x="62777" y="85586"/>
                  <a:pt x="73485" y="69875"/>
                </a:cubicBezTo>
                <a:cubicBezTo>
                  <a:pt x="84194" y="54164"/>
                  <a:pt x="102130" y="27231"/>
                  <a:pt x="109894" y="15561"/>
                </a:cubicBezTo>
                <a:cubicBezTo>
                  <a:pt x="117657" y="3890"/>
                  <a:pt x="118326" y="2543"/>
                  <a:pt x="120000" y="0"/>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7" name="Shape 717"/>
          <p:cNvSpPr/>
          <p:nvPr/>
        </p:nvSpPr>
        <p:spPr>
          <a:xfrm>
            <a:off x="755650" y="2205036"/>
            <a:ext cx="71436" cy="3887786"/>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8" name="Shape 718"/>
          <p:cNvSpPr/>
          <p:nvPr/>
        </p:nvSpPr>
        <p:spPr>
          <a:xfrm>
            <a:off x="827087" y="2276475"/>
            <a:ext cx="71436" cy="3814762"/>
          </a:xfrm>
          <a:prstGeom prst="rect">
            <a:avLst/>
          </a:prstGeom>
          <a:solidFill>
            <a:schemeClr val="accent1">
              <a:alpha val="40784"/>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9" name="Shape 719"/>
          <p:cNvSpPr/>
          <p:nvPr/>
        </p:nvSpPr>
        <p:spPr>
          <a:xfrm>
            <a:off x="900112" y="2349500"/>
            <a:ext cx="71436" cy="3743324"/>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0" name="Shape 720"/>
          <p:cNvSpPr/>
          <p:nvPr/>
        </p:nvSpPr>
        <p:spPr>
          <a:xfrm>
            <a:off x="971550" y="2420936"/>
            <a:ext cx="71436" cy="3671886"/>
          </a:xfrm>
          <a:prstGeom prst="rect">
            <a:avLst/>
          </a:prstGeom>
          <a:solidFill>
            <a:schemeClr val="accent1">
              <a:alpha val="41960"/>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1" name="Shape 721"/>
          <p:cNvSpPr/>
          <p:nvPr/>
        </p:nvSpPr>
        <p:spPr>
          <a:xfrm>
            <a:off x="1042987" y="2492375"/>
            <a:ext cx="73025" cy="3600450"/>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2" name="Shape 722"/>
          <p:cNvSpPr/>
          <p:nvPr/>
        </p:nvSpPr>
        <p:spPr>
          <a:xfrm>
            <a:off x="1116012" y="2565400"/>
            <a:ext cx="71436" cy="3527424"/>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3" name="Shape 723"/>
          <p:cNvSpPr/>
          <p:nvPr/>
        </p:nvSpPr>
        <p:spPr>
          <a:xfrm>
            <a:off x="1187450" y="2636836"/>
            <a:ext cx="71436" cy="3455986"/>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4" name="Shape 724"/>
          <p:cNvSpPr/>
          <p:nvPr/>
        </p:nvSpPr>
        <p:spPr>
          <a:xfrm>
            <a:off x="1258887" y="2708275"/>
            <a:ext cx="73025" cy="3384550"/>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5" name="Shape 725"/>
          <p:cNvSpPr/>
          <p:nvPr/>
        </p:nvSpPr>
        <p:spPr>
          <a:xfrm>
            <a:off x="1331912" y="2781300"/>
            <a:ext cx="71436" cy="3311524"/>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6" name="Shape 726"/>
          <p:cNvSpPr/>
          <p:nvPr/>
        </p:nvSpPr>
        <p:spPr>
          <a:xfrm>
            <a:off x="1403350" y="2852736"/>
            <a:ext cx="73025" cy="3240087"/>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7" name="Shape 727"/>
          <p:cNvSpPr/>
          <p:nvPr/>
        </p:nvSpPr>
        <p:spPr>
          <a:xfrm flipH="1">
            <a:off x="1476374" y="2924175"/>
            <a:ext cx="73025" cy="3168650"/>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8" name="Shape 728"/>
          <p:cNvSpPr/>
          <p:nvPr/>
        </p:nvSpPr>
        <p:spPr>
          <a:xfrm>
            <a:off x="1547812" y="2997200"/>
            <a:ext cx="71436" cy="3095625"/>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9" name="Shape 729"/>
          <p:cNvSpPr/>
          <p:nvPr/>
        </p:nvSpPr>
        <p:spPr>
          <a:xfrm>
            <a:off x="1619250" y="3068636"/>
            <a:ext cx="73025" cy="3024187"/>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0" name="Shape 730"/>
          <p:cNvSpPr/>
          <p:nvPr/>
        </p:nvSpPr>
        <p:spPr>
          <a:xfrm flipH="1">
            <a:off x="2051049" y="3500437"/>
            <a:ext cx="73025" cy="2592387"/>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1" name="Shape 731"/>
          <p:cNvSpPr/>
          <p:nvPr/>
        </p:nvSpPr>
        <p:spPr>
          <a:xfrm>
            <a:off x="1692275" y="3141661"/>
            <a:ext cx="71436" cy="2951161"/>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2" name="Shape 732"/>
          <p:cNvSpPr/>
          <p:nvPr/>
        </p:nvSpPr>
        <p:spPr>
          <a:xfrm flipH="1">
            <a:off x="1763711" y="3213100"/>
            <a:ext cx="73025" cy="2879724"/>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3" name="Shape 733"/>
          <p:cNvSpPr/>
          <p:nvPr/>
        </p:nvSpPr>
        <p:spPr>
          <a:xfrm>
            <a:off x="1835150" y="3284537"/>
            <a:ext cx="71436" cy="2808286"/>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4" name="Shape 734"/>
          <p:cNvSpPr/>
          <p:nvPr/>
        </p:nvSpPr>
        <p:spPr>
          <a:xfrm>
            <a:off x="1908175" y="3357562"/>
            <a:ext cx="71436" cy="2735262"/>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5" name="Shape 735"/>
          <p:cNvSpPr/>
          <p:nvPr/>
        </p:nvSpPr>
        <p:spPr>
          <a:xfrm flipH="1">
            <a:off x="1979611" y="3429000"/>
            <a:ext cx="73025" cy="2663824"/>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6" name="Shape 736"/>
          <p:cNvSpPr/>
          <p:nvPr/>
        </p:nvSpPr>
        <p:spPr>
          <a:xfrm flipH="1">
            <a:off x="2124074" y="3573462"/>
            <a:ext cx="73025" cy="2519361"/>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7" name="Shape 737"/>
          <p:cNvSpPr/>
          <p:nvPr/>
        </p:nvSpPr>
        <p:spPr>
          <a:xfrm>
            <a:off x="2195511" y="3644900"/>
            <a:ext cx="71436" cy="2447925"/>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8" name="Shape 738"/>
          <p:cNvSpPr/>
          <p:nvPr/>
        </p:nvSpPr>
        <p:spPr>
          <a:xfrm>
            <a:off x="2268536" y="3716337"/>
            <a:ext cx="71436" cy="2376487"/>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9" name="Shape 739"/>
          <p:cNvSpPr/>
          <p:nvPr/>
        </p:nvSpPr>
        <p:spPr>
          <a:xfrm>
            <a:off x="2339975" y="3789362"/>
            <a:ext cx="71436" cy="2303461"/>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0" name="Shape 740"/>
          <p:cNvSpPr/>
          <p:nvPr/>
        </p:nvSpPr>
        <p:spPr>
          <a:xfrm>
            <a:off x="2484436" y="3933825"/>
            <a:ext cx="71436" cy="2158999"/>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1" name="Shape 741"/>
          <p:cNvSpPr/>
          <p:nvPr/>
        </p:nvSpPr>
        <p:spPr>
          <a:xfrm>
            <a:off x="2411411" y="3860800"/>
            <a:ext cx="73025" cy="2232025"/>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2" name="Shape 742"/>
          <p:cNvSpPr/>
          <p:nvPr/>
        </p:nvSpPr>
        <p:spPr>
          <a:xfrm>
            <a:off x="2555875" y="4005262"/>
            <a:ext cx="71436" cy="2087562"/>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3" name="Shape 743"/>
          <p:cNvSpPr/>
          <p:nvPr/>
        </p:nvSpPr>
        <p:spPr>
          <a:xfrm>
            <a:off x="2627311" y="4076700"/>
            <a:ext cx="73025" cy="2016124"/>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4" name="Shape 744"/>
          <p:cNvSpPr/>
          <p:nvPr/>
        </p:nvSpPr>
        <p:spPr>
          <a:xfrm>
            <a:off x="2700336" y="4149725"/>
            <a:ext cx="71436" cy="1943100"/>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5" name="Shape 745"/>
          <p:cNvSpPr/>
          <p:nvPr/>
        </p:nvSpPr>
        <p:spPr>
          <a:xfrm>
            <a:off x="2771775" y="4221162"/>
            <a:ext cx="71436" cy="1871662"/>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6" name="Shape 746"/>
          <p:cNvSpPr/>
          <p:nvPr/>
        </p:nvSpPr>
        <p:spPr>
          <a:xfrm>
            <a:off x="2843211" y="4292600"/>
            <a:ext cx="71436" cy="1800225"/>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7" name="Shape 747"/>
          <p:cNvSpPr/>
          <p:nvPr/>
        </p:nvSpPr>
        <p:spPr>
          <a:xfrm>
            <a:off x="2916236" y="4365625"/>
            <a:ext cx="71436" cy="1727199"/>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8" name="Shape 748"/>
          <p:cNvSpPr/>
          <p:nvPr/>
        </p:nvSpPr>
        <p:spPr>
          <a:xfrm flipH="1">
            <a:off x="2987674" y="4437062"/>
            <a:ext cx="73025" cy="1655761"/>
          </a:xfrm>
          <a:prstGeom prst="rect">
            <a:avLst/>
          </a:prstGeom>
          <a:solidFill>
            <a:schemeClr val="accent1">
              <a:alpha val="39607"/>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9" name="Shape 749"/>
          <p:cNvSpPr txBox="1"/>
          <p:nvPr/>
        </p:nvSpPr>
        <p:spPr>
          <a:xfrm>
            <a:off x="107950" y="1557337"/>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750" name="Shape 750"/>
          <p:cNvSpPr txBox="1"/>
          <p:nvPr/>
        </p:nvSpPr>
        <p:spPr>
          <a:xfrm>
            <a:off x="3203575" y="6021387"/>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751" name="Shape 751"/>
          <p:cNvSpPr txBox="1"/>
          <p:nvPr/>
        </p:nvSpPr>
        <p:spPr>
          <a:xfrm>
            <a:off x="1187450" y="22050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cxnSp>
        <p:nvCxnSpPr>
          <p:cNvPr id="752" name="Shape 752"/>
          <p:cNvCxnSpPr/>
          <p:nvPr/>
        </p:nvCxnSpPr>
        <p:spPr>
          <a:xfrm>
            <a:off x="755650" y="2205036"/>
            <a:ext cx="4032249" cy="3887786"/>
          </a:xfrm>
          <a:prstGeom prst="straightConnector1">
            <a:avLst/>
          </a:prstGeom>
          <a:noFill/>
          <a:ln cap="flat" cmpd="sng" w="41275">
            <a:solidFill>
              <a:srgbClr val="FF9900"/>
            </a:solidFill>
            <a:prstDash val="solid"/>
            <a:miter/>
            <a:headEnd len="med" w="med" type="none"/>
            <a:tailEnd len="med" w="med" type="none"/>
          </a:ln>
        </p:spPr>
      </p:cxnSp>
      <p:sp>
        <p:nvSpPr>
          <p:cNvPr id="753" name="Shape 753"/>
          <p:cNvSpPr txBox="1"/>
          <p:nvPr/>
        </p:nvSpPr>
        <p:spPr>
          <a:xfrm>
            <a:off x="4824412" y="4679950"/>
            <a:ext cx="4284661" cy="1773236"/>
          </a:xfrm>
          <a:prstGeom prst="rect">
            <a:avLst/>
          </a:prstGeom>
          <a:solidFill>
            <a:srgbClr val="CCFF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Esta una situación extrema conocida</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como </a:t>
            </a:r>
            <a:r>
              <a:rPr b="1" i="0" lang="en-US" sz="1800" u="none" cap="none" strike="noStrike">
                <a:solidFill>
                  <a:srgbClr val="EC1914"/>
                </a:solidFill>
                <a:latin typeface="Arial"/>
                <a:ea typeface="Arial"/>
                <a:cs typeface="Arial"/>
                <a:sym typeface="Arial"/>
              </a:rPr>
              <a:t>Monopolio Absoluto</a:t>
            </a:r>
            <a:r>
              <a:rPr b="0" i="0" lang="en-US" sz="1800" u="none" cap="none" strike="noStrike">
                <a:solidFill>
                  <a:schemeClr val="dk1"/>
                </a:solidFill>
                <a:latin typeface="Arial"/>
                <a:ea typeface="Arial"/>
                <a:cs typeface="Arial"/>
                <a:sym typeface="Arial"/>
              </a:rPr>
              <a:t> donde el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monopolista contrata todos los factores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de la  producción y produce todos los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bienes, por lo cuál se apropia de todo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beneficio social</a:t>
            </a:r>
          </a:p>
        </p:txBody>
      </p:sp>
      <p:sp>
        <p:nvSpPr>
          <p:cNvPr id="754" name="Shape 754"/>
          <p:cNvSpPr txBox="1"/>
          <p:nvPr/>
        </p:nvSpPr>
        <p:spPr>
          <a:xfrm>
            <a:off x="2844800" y="6165850"/>
            <a:ext cx="4317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cxnSp>
        <p:nvCxnSpPr>
          <p:cNvPr id="755" name="Shape 755"/>
          <p:cNvCxnSpPr/>
          <p:nvPr/>
        </p:nvCxnSpPr>
        <p:spPr>
          <a:xfrm rot="10800000">
            <a:off x="3059111" y="4437061"/>
            <a:ext cx="0" cy="1655761"/>
          </a:xfrm>
          <a:prstGeom prst="straightConnector1">
            <a:avLst/>
          </a:prstGeom>
          <a:noFill/>
          <a:ln cap="flat" cmpd="sng" w="28575">
            <a:solidFill>
              <a:schemeClr val="dk1"/>
            </a:solidFill>
            <a:prstDash val="solid"/>
            <a:miter/>
            <a:headEnd len="med" w="med" type="none"/>
            <a:tailEnd len="med" w="med" type="none"/>
          </a:ln>
        </p:spPr>
      </p:cxnSp>
      <p:cxnSp>
        <p:nvCxnSpPr>
          <p:cNvPr id="756" name="Shape 756"/>
          <p:cNvCxnSpPr/>
          <p:nvPr/>
        </p:nvCxnSpPr>
        <p:spPr>
          <a:xfrm rot="10800000">
            <a:off x="755649" y="4437062"/>
            <a:ext cx="2303461" cy="0"/>
          </a:xfrm>
          <a:prstGeom prst="straightConnector1">
            <a:avLst/>
          </a:prstGeom>
          <a:noFill/>
          <a:ln cap="flat" cmpd="sng" w="28575">
            <a:solidFill>
              <a:schemeClr val="dk1"/>
            </a:solidFill>
            <a:prstDash val="solid"/>
            <a:miter/>
            <a:headEnd len="med" w="med" type="none"/>
            <a:tailEnd len="med" w="med" type="none"/>
          </a:ln>
        </p:spPr>
      </p:cxnSp>
      <p:sp>
        <p:nvSpPr>
          <p:cNvPr id="757" name="Shape 757"/>
          <p:cNvSpPr txBox="1"/>
          <p:nvPr/>
        </p:nvSpPr>
        <p:spPr>
          <a:xfrm>
            <a:off x="0" y="4221162"/>
            <a:ext cx="827086"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400" u="none" cap="none" strike="noStrike">
                <a:solidFill>
                  <a:srgbClr val="EC1914"/>
                </a:solidFill>
                <a:latin typeface="Arial"/>
                <a:ea typeface="Arial"/>
                <a:cs typeface="Arial"/>
                <a:sym typeface="Arial"/>
              </a:rPr>
              <a:t>C = Cma</a:t>
            </a:r>
          </a:p>
        </p:txBody>
      </p:sp>
      <p:pic>
        <p:nvPicPr>
          <p:cNvPr id="758" name="Shape 758"/>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
        <p:nvSpPr>
          <p:cNvPr id="759" name="Shape 759"/>
          <p:cNvSpPr txBox="1"/>
          <p:nvPr/>
        </p:nvSpPr>
        <p:spPr>
          <a:xfrm>
            <a:off x="611187" y="5445125"/>
            <a:ext cx="2087562" cy="360362"/>
          </a:xfrm>
          <a:prstGeom prst="rect">
            <a:avLst/>
          </a:prstGeom>
          <a:solidFill>
            <a:srgbClr val="FFFF99">
              <a:alpha val="85882"/>
            </a:srgbClr>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MARGINAL</a:t>
            </a:r>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63" name="Shape 763"/>
        <p:cNvGrpSpPr/>
        <p:nvPr/>
      </p:nvGrpSpPr>
      <p:grpSpPr>
        <a:xfrm>
          <a:off x="0" y="0"/>
          <a:ext cx="0" cy="0"/>
          <a:chOff x="0" y="0"/>
          <a:chExt cx="0" cy="0"/>
        </a:xfrm>
      </p:grpSpPr>
      <p:sp>
        <p:nvSpPr>
          <p:cNvPr id="764" name="Shape 764"/>
          <p:cNvSpPr txBox="1"/>
          <p:nvPr>
            <p:ph type="title"/>
          </p:nvPr>
        </p:nvSpPr>
        <p:spPr>
          <a:xfrm>
            <a:off x="179386" y="188911"/>
            <a:ext cx="3716336" cy="10128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MONOPOLIO </a:t>
            </a:r>
            <a:br>
              <a:rPr b="1" i="0" lang="en-US" sz="39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DISCRIMINADOR</a:t>
            </a:r>
          </a:p>
        </p:txBody>
      </p:sp>
      <p:cxnSp>
        <p:nvCxnSpPr>
          <p:cNvPr id="765" name="Shape 765"/>
          <p:cNvCxnSpPr/>
          <p:nvPr/>
        </p:nvCxnSpPr>
        <p:spPr>
          <a:xfrm>
            <a:off x="1187450" y="1484312"/>
            <a:ext cx="0" cy="4537074"/>
          </a:xfrm>
          <a:prstGeom prst="straightConnector1">
            <a:avLst/>
          </a:prstGeom>
          <a:noFill/>
          <a:ln cap="flat" cmpd="sng" w="9525">
            <a:solidFill>
              <a:schemeClr val="dk1"/>
            </a:solidFill>
            <a:prstDash val="solid"/>
            <a:miter/>
            <a:headEnd len="med" w="med" type="none"/>
            <a:tailEnd len="med" w="med" type="none"/>
          </a:ln>
        </p:spPr>
      </p:cxnSp>
      <p:sp>
        <p:nvSpPr>
          <p:cNvPr id="766" name="Shape 766"/>
          <p:cNvSpPr txBox="1"/>
          <p:nvPr/>
        </p:nvSpPr>
        <p:spPr>
          <a:xfrm>
            <a:off x="34925" y="14128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cxnSp>
        <p:nvCxnSpPr>
          <p:cNvPr id="767" name="Shape 767"/>
          <p:cNvCxnSpPr/>
          <p:nvPr/>
        </p:nvCxnSpPr>
        <p:spPr>
          <a:xfrm>
            <a:off x="1042987" y="5949950"/>
            <a:ext cx="5257799" cy="0"/>
          </a:xfrm>
          <a:prstGeom prst="straightConnector1">
            <a:avLst/>
          </a:prstGeom>
          <a:noFill/>
          <a:ln cap="flat" cmpd="sng" w="9525">
            <a:solidFill>
              <a:schemeClr val="dk1"/>
            </a:solidFill>
            <a:prstDash val="solid"/>
            <a:miter/>
            <a:headEnd len="med" w="med" type="none"/>
            <a:tailEnd len="med" w="med" type="none"/>
          </a:ln>
        </p:spPr>
      </p:cxnSp>
      <p:sp>
        <p:nvSpPr>
          <p:cNvPr id="768" name="Shape 768"/>
          <p:cNvSpPr txBox="1"/>
          <p:nvPr/>
        </p:nvSpPr>
        <p:spPr>
          <a:xfrm>
            <a:off x="5005387"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769" name="Shape 769"/>
          <p:cNvCxnSpPr/>
          <p:nvPr/>
        </p:nvCxnSpPr>
        <p:spPr>
          <a:xfrm>
            <a:off x="1187450" y="2420936"/>
            <a:ext cx="5040312" cy="3529012"/>
          </a:xfrm>
          <a:prstGeom prst="straightConnector1">
            <a:avLst/>
          </a:prstGeom>
          <a:noFill/>
          <a:ln cap="flat" cmpd="sng" w="41275">
            <a:solidFill>
              <a:srgbClr val="993300"/>
            </a:solidFill>
            <a:prstDash val="solid"/>
            <a:miter/>
            <a:headEnd len="med" w="med" type="none"/>
            <a:tailEnd len="med" w="med" type="none"/>
          </a:ln>
        </p:spPr>
      </p:cxnSp>
      <p:sp>
        <p:nvSpPr>
          <p:cNvPr id="770" name="Shape 770"/>
          <p:cNvSpPr txBox="1"/>
          <p:nvPr/>
        </p:nvSpPr>
        <p:spPr>
          <a:xfrm>
            <a:off x="1619250" y="1628775"/>
            <a:ext cx="1296986"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1C1502"/>
              </a:buClr>
              <a:buSzPct val="25000"/>
              <a:buFont typeface="Arial"/>
              <a:buNone/>
            </a:pPr>
            <a:r>
              <a:rPr b="1" i="0" lang="en-US" sz="1800" u="none" cap="none" strike="noStrike">
                <a:solidFill>
                  <a:srgbClr val="1C1502"/>
                </a:solidFill>
                <a:latin typeface="Arial"/>
                <a:ea typeface="Arial"/>
                <a:cs typeface="Arial"/>
                <a:sym typeface="Arial"/>
              </a:rPr>
              <a:t>DEMANDA 2</a:t>
            </a:r>
          </a:p>
        </p:txBody>
      </p:sp>
      <p:cxnSp>
        <p:nvCxnSpPr>
          <p:cNvPr id="771" name="Shape 771"/>
          <p:cNvCxnSpPr/>
          <p:nvPr/>
        </p:nvCxnSpPr>
        <p:spPr>
          <a:xfrm>
            <a:off x="1187450" y="2420936"/>
            <a:ext cx="4176711" cy="4437062"/>
          </a:xfrm>
          <a:prstGeom prst="straightConnector1">
            <a:avLst/>
          </a:prstGeom>
          <a:noFill/>
          <a:ln cap="flat" cmpd="sng" w="38100">
            <a:solidFill>
              <a:srgbClr val="000080"/>
            </a:solidFill>
            <a:prstDash val="solid"/>
            <a:miter/>
            <a:headEnd len="med" w="med" type="none"/>
            <a:tailEnd len="med" w="med" type="none"/>
          </a:ln>
        </p:spPr>
      </p:cxnSp>
      <p:sp>
        <p:nvSpPr>
          <p:cNvPr id="772" name="Shape 772"/>
          <p:cNvSpPr txBox="1"/>
          <p:nvPr/>
        </p:nvSpPr>
        <p:spPr>
          <a:xfrm>
            <a:off x="250825" y="6453187"/>
            <a:ext cx="2520949" cy="1444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 2</a:t>
            </a:r>
          </a:p>
        </p:txBody>
      </p:sp>
      <p:sp>
        <p:nvSpPr>
          <p:cNvPr id="773" name="Shape 773"/>
          <p:cNvSpPr/>
          <p:nvPr/>
        </p:nvSpPr>
        <p:spPr>
          <a:xfrm>
            <a:off x="1258887" y="3702050"/>
            <a:ext cx="3538537" cy="1668462"/>
          </a:xfrm>
          <a:custGeom>
            <a:pathLst>
              <a:path extrusionOk="0" h="120000" w="120000">
                <a:moveTo>
                  <a:pt x="0" y="98306"/>
                </a:moveTo>
                <a:cubicBezTo>
                  <a:pt x="3122" y="101503"/>
                  <a:pt x="12705" y="115432"/>
                  <a:pt x="18788" y="117716"/>
                </a:cubicBezTo>
                <a:cubicBezTo>
                  <a:pt x="24872" y="120000"/>
                  <a:pt x="29878" y="118401"/>
                  <a:pt x="36608" y="112350"/>
                </a:cubicBezTo>
                <a:cubicBezTo>
                  <a:pt x="43337" y="106298"/>
                  <a:pt x="50551" y="93282"/>
                  <a:pt x="59111" y="81750"/>
                </a:cubicBezTo>
                <a:cubicBezTo>
                  <a:pt x="67671" y="70218"/>
                  <a:pt x="80215" y="53777"/>
                  <a:pt x="87967" y="43387"/>
                </a:cubicBezTo>
                <a:cubicBezTo>
                  <a:pt x="95720" y="32997"/>
                  <a:pt x="100403" y="26603"/>
                  <a:pt x="105733" y="19410"/>
                </a:cubicBezTo>
                <a:cubicBezTo>
                  <a:pt x="111063" y="12216"/>
                  <a:pt x="117039" y="4110"/>
                  <a:pt x="120000" y="0"/>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4" name="Shape 774"/>
          <p:cNvSpPr txBox="1"/>
          <p:nvPr/>
        </p:nvSpPr>
        <p:spPr>
          <a:xfrm>
            <a:off x="3636962" y="3068636"/>
            <a:ext cx="2087562"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MARGINAL</a:t>
            </a:r>
          </a:p>
        </p:txBody>
      </p:sp>
      <p:sp>
        <p:nvSpPr>
          <p:cNvPr id="775" name="Shape 775"/>
          <p:cNvSpPr txBox="1"/>
          <p:nvPr/>
        </p:nvSpPr>
        <p:spPr>
          <a:xfrm>
            <a:off x="2268536" y="5949950"/>
            <a:ext cx="4317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Q2</a:t>
            </a:r>
          </a:p>
        </p:txBody>
      </p:sp>
      <p:sp>
        <p:nvSpPr>
          <p:cNvPr id="776" name="Shape 776"/>
          <p:cNvSpPr txBox="1"/>
          <p:nvPr/>
        </p:nvSpPr>
        <p:spPr>
          <a:xfrm>
            <a:off x="827087" y="3213100"/>
            <a:ext cx="4317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P2</a:t>
            </a:r>
          </a:p>
        </p:txBody>
      </p:sp>
      <p:cxnSp>
        <p:nvCxnSpPr>
          <p:cNvPr id="777" name="Shape 777"/>
          <p:cNvCxnSpPr/>
          <p:nvPr/>
        </p:nvCxnSpPr>
        <p:spPr>
          <a:xfrm>
            <a:off x="1187450" y="1484312"/>
            <a:ext cx="3168650" cy="4465636"/>
          </a:xfrm>
          <a:prstGeom prst="straightConnector1">
            <a:avLst/>
          </a:prstGeom>
          <a:noFill/>
          <a:ln cap="flat" cmpd="sng" w="41275">
            <a:solidFill>
              <a:srgbClr val="993300"/>
            </a:solidFill>
            <a:prstDash val="solid"/>
            <a:miter/>
            <a:headEnd len="med" w="med" type="none"/>
            <a:tailEnd len="med" w="med" type="none"/>
          </a:ln>
        </p:spPr>
      </p:cxnSp>
      <p:cxnSp>
        <p:nvCxnSpPr>
          <p:cNvPr id="778" name="Shape 778"/>
          <p:cNvCxnSpPr/>
          <p:nvPr/>
        </p:nvCxnSpPr>
        <p:spPr>
          <a:xfrm>
            <a:off x="1187450" y="1484312"/>
            <a:ext cx="1871662" cy="5373687"/>
          </a:xfrm>
          <a:prstGeom prst="straightConnector1">
            <a:avLst/>
          </a:prstGeom>
          <a:noFill/>
          <a:ln cap="flat" cmpd="sng" w="38100">
            <a:solidFill>
              <a:srgbClr val="000080"/>
            </a:solidFill>
            <a:prstDash val="solid"/>
            <a:miter/>
            <a:headEnd len="med" w="med" type="none"/>
            <a:tailEnd len="med" w="med" type="none"/>
          </a:ln>
        </p:spPr>
      </p:cxnSp>
      <p:cxnSp>
        <p:nvCxnSpPr>
          <p:cNvPr id="779" name="Shape 779"/>
          <p:cNvCxnSpPr/>
          <p:nvPr/>
        </p:nvCxnSpPr>
        <p:spPr>
          <a:xfrm>
            <a:off x="3276600" y="3860800"/>
            <a:ext cx="0" cy="2089150"/>
          </a:xfrm>
          <a:prstGeom prst="straightConnector1">
            <a:avLst/>
          </a:prstGeom>
          <a:noFill/>
          <a:ln cap="flat" cmpd="sng" w="9525">
            <a:solidFill>
              <a:schemeClr val="dk1"/>
            </a:solidFill>
            <a:prstDash val="solid"/>
            <a:miter/>
            <a:headEnd len="med" w="med" type="none"/>
            <a:tailEnd len="med" w="med" type="none"/>
          </a:ln>
        </p:spPr>
      </p:cxnSp>
      <p:sp>
        <p:nvSpPr>
          <p:cNvPr id="780" name="Shape 780"/>
          <p:cNvSpPr txBox="1"/>
          <p:nvPr/>
        </p:nvSpPr>
        <p:spPr>
          <a:xfrm>
            <a:off x="3060700" y="5949950"/>
            <a:ext cx="4317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a:t>
            </a:r>
          </a:p>
        </p:txBody>
      </p:sp>
      <p:cxnSp>
        <p:nvCxnSpPr>
          <p:cNvPr id="781" name="Shape 781"/>
          <p:cNvCxnSpPr/>
          <p:nvPr/>
        </p:nvCxnSpPr>
        <p:spPr>
          <a:xfrm>
            <a:off x="1187450" y="3860800"/>
            <a:ext cx="2089150" cy="0"/>
          </a:xfrm>
          <a:prstGeom prst="straightConnector1">
            <a:avLst/>
          </a:prstGeom>
          <a:noFill/>
          <a:ln cap="flat" cmpd="sng" w="9525">
            <a:solidFill>
              <a:schemeClr val="dk1"/>
            </a:solidFill>
            <a:prstDash val="solid"/>
            <a:miter/>
            <a:headEnd len="med" w="med" type="none"/>
            <a:tailEnd len="med" w="med" type="none"/>
          </a:ln>
        </p:spPr>
      </p:cxnSp>
      <p:sp>
        <p:nvSpPr>
          <p:cNvPr id="782" name="Shape 782"/>
          <p:cNvSpPr txBox="1"/>
          <p:nvPr/>
        </p:nvSpPr>
        <p:spPr>
          <a:xfrm>
            <a:off x="827087" y="3716337"/>
            <a:ext cx="4317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P1</a:t>
            </a:r>
          </a:p>
        </p:txBody>
      </p:sp>
      <p:cxnSp>
        <p:nvCxnSpPr>
          <p:cNvPr id="783" name="Shape 783"/>
          <p:cNvCxnSpPr/>
          <p:nvPr/>
        </p:nvCxnSpPr>
        <p:spPr>
          <a:xfrm>
            <a:off x="1187450" y="3357562"/>
            <a:ext cx="1296986" cy="0"/>
          </a:xfrm>
          <a:prstGeom prst="straightConnector1">
            <a:avLst/>
          </a:prstGeom>
          <a:noFill/>
          <a:ln cap="flat" cmpd="sng" w="9525">
            <a:solidFill>
              <a:schemeClr val="dk1"/>
            </a:solidFill>
            <a:prstDash val="solid"/>
            <a:miter/>
            <a:headEnd len="med" w="med" type="none"/>
            <a:tailEnd len="med" w="med" type="none"/>
          </a:ln>
        </p:spPr>
      </p:cxnSp>
      <p:cxnSp>
        <p:nvCxnSpPr>
          <p:cNvPr id="784" name="Shape 784"/>
          <p:cNvCxnSpPr/>
          <p:nvPr/>
        </p:nvCxnSpPr>
        <p:spPr>
          <a:xfrm>
            <a:off x="2484436" y="3357562"/>
            <a:ext cx="0" cy="2592387"/>
          </a:xfrm>
          <a:prstGeom prst="straightConnector1">
            <a:avLst/>
          </a:prstGeom>
          <a:noFill/>
          <a:ln cap="flat" cmpd="sng" w="9525">
            <a:solidFill>
              <a:schemeClr val="dk1"/>
            </a:solidFill>
            <a:prstDash val="solid"/>
            <a:miter/>
            <a:headEnd len="med" w="med" type="none"/>
            <a:tailEnd len="med" w="med" type="none"/>
          </a:ln>
        </p:spPr>
      </p:cxnSp>
      <p:cxnSp>
        <p:nvCxnSpPr>
          <p:cNvPr id="785" name="Shape 785"/>
          <p:cNvCxnSpPr/>
          <p:nvPr/>
        </p:nvCxnSpPr>
        <p:spPr>
          <a:xfrm>
            <a:off x="1187450" y="5949950"/>
            <a:ext cx="1296986" cy="0"/>
          </a:xfrm>
          <a:prstGeom prst="straightConnector1">
            <a:avLst/>
          </a:prstGeom>
          <a:noFill/>
          <a:ln cap="flat" cmpd="sng" w="28575">
            <a:solidFill>
              <a:srgbClr val="FF6600"/>
            </a:solidFill>
            <a:prstDash val="solid"/>
            <a:miter/>
            <a:headEnd len="med" w="med" type="none"/>
            <a:tailEnd len="med" w="med" type="oval"/>
          </a:ln>
        </p:spPr>
      </p:cxnSp>
      <p:sp>
        <p:nvSpPr>
          <p:cNvPr id="786" name="Shape 786"/>
          <p:cNvSpPr txBox="1"/>
          <p:nvPr/>
        </p:nvSpPr>
        <p:spPr>
          <a:xfrm>
            <a:off x="3995737" y="6021387"/>
            <a:ext cx="1152525" cy="287337"/>
          </a:xfrm>
          <a:prstGeom prst="rect">
            <a:avLst/>
          </a:prstGeom>
          <a:solidFill>
            <a:schemeClr val="lt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 Q2</a:t>
            </a:r>
          </a:p>
        </p:txBody>
      </p:sp>
      <p:sp>
        <p:nvSpPr>
          <p:cNvPr id="787" name="Shape 787"/>
          <p:cNvSpPr/>
          <p:nvPr/>
        </p:nvSpPr>
        <p:spPr>
          <a:xfrm>
            <a:off x="1403350" y="2924175"/>
            <a:ext cx="4127500" cy="1663700"/>
          </a:xfrm>
          <a:custGeom>
            <a:pathLst>
              <a:path extrusionOk="0" h="120000" w="120000">
                <a:moveTo>
                  <a:pt x="0" y="0"/>
                </a:moveTo>
                <a:cubicBezTo>
                  <a:pt x="2907" y="10076"/>
                  <a:pt x="11630" y="43854"/>
                  <a:pt x="17400" y="60572"/>
                </a:cubicBezTo>
                <a:cubicBezTo>
                  <a:pt x="23169" y="77290"/>
                  <a:pt x="28061" y="90916"/>
                  <a:pt x="34615" y="100419"/>
                </a:cubicBezTo>
                <a:cubicBezTo>
                  <a:pt x="41169" y="109923"/>
                  <a:pt x="50123" y="115648"/>
                  <a:pt x="56815" y="117824"/>
                </a:cubicBezTo>
                <a:cubicBezTo>
                  <a:pt x="63507" y="120000"/>
                  <a:pt x="68723" y="116679"/>
                  <a:pt x="74676" y="113473"/>
                </a:cubicBezTo>
                <a:cubicBezTo>
                  <a:pt x="80630" y="110267"/>
                  <a:pt x="84969" y="106832"/>
                  <a:pt x="92538" y="98358"/>
                </a:cubicBezTo>
                <a:cubicBezTo>
                  <a:pt x="100107" y="89885"/>
                  <a:pt x="114276" y="70076"/>
                  <a:pt x="120000" y="62633"/>
                </a:cubicBezTo>
              </a:path>
            </a:pathLst>
          </a:custGeom>
          <a:noFill/>
          <a:ln cap="flat" cmpd="sng" w="38100">
            <a:solidFill>
              <a:schemeClr val="dk2"/>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8" name="Shape 788"/>
          <p:cNvSpPr txBox="1"/>
          <p:nvPr/>
        </p:nvSpPr>
        <p:spPr>
          <a:xfrm>
            <a:off x="4572000" y="4149725"/>
            <a:ext cx="223043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COSTO MEDIO </a:t>
            </a:r>
          </a:p>
        </p:txBody>
      </p:sp>
      <p:cxnSp>
        <p:nvCxnSpPr>
          <p:cNvPr id="789" name="Shape 789"/>
          <p:cNvCxnSpPr/>
          <p:nvPr/>
        </p:nvCxnSpPr>
        <p:spPr>
          <a:xfrm>
            <a:off x="1187450" y="4292600"/>
            <a:ext cx="3384550" cy="0"/>
          </a:xfrm>
          <a:prstGeom prst="straightConnector1">
            <a:avLst/>
          </a:prstGeom>
          <a:noFill/>
          <a:ln cap="flat" cmpd="sng" w="9525">
            <a:solidFill>
              <a:schemeClr val="dk1"/>
            </a:solidFill>
            <a:prstDash val="solid"/>
            <a:miter/>
            <a:headEnd len="med" w="med" type="none"/>
            <a:tailEnd len="med" w="med" type="oval"/>
          </a:ln>
        </p:spPr>
      </p:cxnSp>
      <p:cxnSp>
        <p:nvCxnSpPr>
          <p:cNvPr id="790" name="Shape 790"/>
          <p:cNvCxnSpPr/>
          <p:nvPr/>
        </p:nvCxnSpPr>
        <p:spPr>
          <a:xfrm rot="10800000">
            <a:off x="4572000" y="4292599"/>
            <a:ext cx="0" cy="1657350"/>
          </a:xfrm>
          <a:prstGeom prst="straightConnector1">
            <a:avLst/>
          </a:prstGeom>
          <a:noFill/>
          <a:ln cap="flat" cmpd="sng" w="9525">
            <a:solidFill>
              <a:schemeClr val="dk1"/>
            </a:solidFill>
            <a:prstDash val="solid"/>
            <a:miter/>
            <a:headEnd len="med" w="med" type="none"/>
            <a:tailEnd len="med" w="med" type="none"/>
          </a:ln>
        </p:spPr>
      </p:cxnSp>
      <p:sp>
        <p:nvSpPr>
          <p:cNvPr id="791" name="Shape 791"/>
          <p:cNvSpPr txBox="1"/>
          <p:nvPr/>
        </p:nvSpPr>
        <p:spPr>
          <a:xfrm>
            <a:off x="684212" y="4149725"/>
            <a:ext cx="431799"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Cme</a:t>
            </a:r>
          </a:p>
        </p:txBody>
      </p:sp>
      <p:sp>
        <p:nvSpPr>
          <p:cNvPr id="792" name="Shape 792"/>
          <p:cNvSpPr txBox="1"/>
          <p:nvPr/>
        </p:nvSpPr>
        <p:spPr>
          <a:xfrm>
            <a:off x="5651500" y="5157787"/>
            <a:ext cx="1296986"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1C1502"/>
              </a:buClr>
              <a:buSzPct val="25000"/>
              <a:buFont typeface="Arial"/>
              <a:buNone/>
            </a:pPr>
            <a:r>
              <a:rPr b="1" i="0" lang="en-US" sz="1800" u="none" cap="none" strike="noStrike">
                <a:solidFill>
                  <a:srgbClr val="1C1502"/>
                </a:solidFill>
                <a:latin typeface="Arial"/>
                <a:ea typeface="Arial"/>
                <a:cs typeface="Arial"/>
                <a:sym typeface="Arial"/>
              </a:rPr>
              <a:t>DEMANDA 1</a:t>
            </a:r>
          </a:p>
        </p:txBody>
      </p:sp>
      <p:sp>
        <p:nvSpPr>
          <p:cNvPr id="793" name="Shape 793"/>
          <p:cNvSpPr txBox="1"/>
          <p:nvPr/>
        </p:nvSpPr>
        <p:spPr>
          <a:xfrm>
            <a:off x="5291137" y="6524625"/>
            <a:ext cx="2520949" cy="1444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INGRESO MARGINAL 1</a:t>
            </a:r>
          </a:p>
        </p:txBody>
      </p:sp>
      <p:sp>
        <p:nvSpPr>
          <p:cNvPr id="794" name="Shape 794"/>
          <p:cNvSpPr/>
          <p:nvPr/>
        </p:nvSpPr>
        <p:spPr>
          <a:xfrm>
            <a:off x="1187450" y="4292600"/>
            <a:ext cx="1296986" cy="1657350"/>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5" name="Shape 795"/>
          <p:cNvSpPr/>
          <p:nvPr/>
        </p:nvSpPr>
        <p:spPr>
          <a:xfrm>
            <a:off x="1187450" y="4292600"/>
            <a:ext cx="2089150" cy="1657350"/>
          </a:xfrm>
          <a:prstGeom prst="rect">
            <a:avLst/>
          </a:prstGeom>
          <a:solidFill>
            <a:srgbClr val="33CCCC">
              <a:alpha val="27843"/>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6" name="Shape 796"/>
          <p:cNvSpPr txBox="1"/>
          <p:nvPr/>
        </p:nvSpPr>
        <p:spPr>
          <a:xfrm>
            <a:off x="1187450" y="3860800"/>
            <a:ext cx="2089150" cy="4317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APROPIADO 1</a:t>
            </a:r>
          </a:p>
        </p:txBody>
      </p:sp>
      <p:sp>
        <p:nvSpPr>
          <p:cNvPr id="797" name="Shape 797"/>
          <p:cNvSpPr txBox="1"/>
          <p:nvPr/>
        </p:nvSpPr>
        <p:spPr>
          <a:xfrm>
            <a:off x="1187450" y="3357562"/>
            <a:ext cx="1296986" cy="503236"/>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APROPIADO 2</a:t>
            </a:r>
          </a:p>
        </p:txBody>
      </p:sp>
      <p:pic>
        <p:nvPicPr>
          <p:cNvPr id="798" name="Shape 798"/>
          <p:cNvPicPr preferRelativeResize="0"/>
          <p:nvPr>
            <p:ph idx="1"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02" name="Shape 802"/>
        <p:cNvGrpSpPr/>
        <p:nvPr/>
      </p:nvGrpSpPr>
      <p:grpSpPr>
        <a:xfrm>
          <a:off x="0" y="0"/>
          <a:ext cx="0" cy="0"/>
          <a:chOff x="0" y="0"/>
          <a:chExt cx="0" cy="0"/>
        </a:xfrm>
      </p:grpSpPr>
      <p:sp>
        <p:nvSpPr>
          <p:cNvPr id="803" name="Shape 803"/>
          <p:cNvSpPr txBox="1"/>
          <p:nvPr>
            <p:ph idx="4294967295" type="title"/>
          </p:nvPr>
        </p:nvSpPr>
        <p:spPr>
          <a:xfrm>
            <a:off x="179386" y="260350"/>
            <a:ext cx="3213100" cy="941386"/>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CONTROL DEL ESTADO</a:t>
            </a:r>
          </a:p>
        </p:txBody>
      </p:sp>
      <p:sp>
        <p:nvSpPr>
          <p:cNvPr id="804" name="Shape 804"/>
          <p:cNvSpPr txBox="1"/>
          <p:nvPr>
            <p:ph idx="4294967295" type="body"/>
          </p:nvPr>
        </p:nvSpPr>
        <p:spPr>
          <a:xfrm>
            <a:off x="457200" y="1719261"/>
            <a:ext cx="8362950" cy="3438525"/>
          </a:xfrm>
          <a:prstGeom prst="rect">
            <a:avLst/>
          </a:prstGeom>
          <a:noFill/>
          <a:ln>
            <a:noFill/>
          </a:ln>
        </p:spPr>
        <p:txBody>
          <a:bodyPr anchorCtr="0" anchor="t" bIns="45700" lIns="91425" rIns="91425" tIns="45700">
            <a:noAutofit/>
          </a:bodyPr>
          <a:lstStyle/>
          <a:p>
            <a:pPr indent="-342900" lvl="0" marL="342900" marR="0" rtl="0" algn="l">
              <a:lnSpc>
                <a:spcPct val="75000"/>
              </a:lnSpc>
              <a:spcBef>
                <a:spcPts val="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El estado puede intervenir en el mercado monopólico</a:t>
            </a:r>
          </a:p>
          <a:p>
            <a:pPr indent="-342900" lvl="0" marL="342900" marR="0" rtl="0" algn="l">
              <a:lnSpc>
                <a:spcPct val="90000"/>
              </a:lnSpc>
              <a:spcBef>
                <a:spcPts val="400"/>
              </a:spcBef>
              <a:spcAft>
                <a:spcPts val="0"/>
              </a:spcAft>
              <a:buClr>
                <a:schemeClr val="dk2"/>
              </a:buClr>
              <a:buSzPct val="70000"/>
              <a:buFont typeface="Noto Sans Symbols"/>
              <a:buAutoNum type="arabicPeriod"/>
            </a:pPr>
            <a:r>
              <a:rPr b="0" i="0" lang="en-US" sz="2000" u="none" cap="none" strike="noStrike">
                <a:solidFill>
                  <a:schemeClr val="dk1"/>
                </a:solidFill>
                <a:latin typeface="Arial"/>
                <a:ea typeface="Arial"/>
                <a:cs typeface="Arial"/>
                <a:sym typeface="Arial"/>
              </a:rPr>
              <a:t>Regulando las condiciones en las que actúa el monopolio.</a:t>
            </a:r>
          </a:p>
          <a:p>
            <a:pPr indent="-301625" lvl="2" marL="987425" marR="0" rtl="0" algn="l">
              <a:lnSpc>
                <a:spcPct val="90000"/>
              </a:lnSpc>
              <a:spcBef>
                <a:spcPts val="340"/>
              </a:spcBef>
              <a:spcAft>
                <a:spcPts val="0"/>
              </a:spcAft>
              <a:buClr>
                <a:schemeClr val="dk1"/>
              </a:buClr>
              <a:buSzPct val="70000"/>
              <a:buFont typeface="Noto Sans Symbols"/>
              <a:buAutoNum type="alphaLcParenR"/>
            </a:pPr>
            <a:r>
              <a:rPr b="0" i="0" lang="en-US" sz="1700" u="none" cap="none" strike="noStrike">
                <a:solidFill>
                  <a:schemeClr val="dk1"/>
                </a:solidFill>
                <a:latin typeface="Arial"/>
                <a:ea typeface="Arial"/>
                <a:cs typeface="Arial"/>
                <a:sym typeface="Arial"/>
              </a:rPr>
              <a:t>Obligando a que realice determinada cantidad de inversiones.</a:t>
            </a:r>
          </a:p>
          <a:p>
            <a:pPr indent="-301625" lvl="2" marL="987425" marR="0" rtl="0" algn="l">
              <a:lnSpc>
                <a:spcPct val="90000"/>
              </a:lnSpc>
              <a:spcBef>
                <a:spcPts val="340"/>
              </a:spcBef>
              <a:spcAft>
                <a:spcPts val="0"/>
              </a:spcAft>
              <a:buClr>
                <a:schemeClr val="dk1"/>
              </a:buClr>
              <a:buSzPct val="70000"/>
              <a:buFont typeface="Noto Sans Symbols"/>
              <a:buAutoNum type="alphaLcParenR"/>
            </a:pPr>
            <a:r>
              <a:rPr b="0" i="0" lang="en-US" sz="1700" u="none" cap="none" strike="noStrike">
                <a:solidFill>
                  <a:schemeClr val="dk1"/>
                </a:solidFill>
                <a:latin typeface="Arial"/>
                <a:ea typeface="Arial"/>
                <a:cs typeface="Arial"/>
                <a:sym typeface="Arial"/>
              </a:rPr>
              <a:t>Haciendo que pague un canon fijo anual.</a:t>
            </a:r>
          </a:p>
          <a:p>
            <a:pPr indent="-301625" lvl="2" marL="987425" marR="0" rtl="0" algn="l">
              <a:lnSpc>
                <a:spcPct val="90000"/>
              </a:lnSpc>
              <a:spcBef>
                <a:spcPts val="340"/>
              </a:spcBef>
              <a:spcAft>
                <a:spcPts val="0"/>
              </a:spcAft>
              <a:buClr>
                <a:schemeClr val="dk1"/>
              </a:buClr>
              <a:buSzPct val="70000"/>
              <a:buFont typeface="Noto Sans Symbols"/>
              <a:buAutoNum type="alphaLcParenR"/>
            </a:pPr>
            <a:r>
              <a:rPr b="0" i="0" lang="en-US" sz="1700" u="none" cap="none" strike="noStrike">
                <a:solidFill>
                  <a:schemeClr val="dk1"/>
                </a:solidFill>
                <a:latin typeface="Arial"/>
                <a:ea typeface="Arial"/>
                <a:cs typeface="Arial"/>
                <a:sym typeface="Arial"/>
              </a:rPr>
              <a:t>Imponiéndole impuestos indirectos, asociados al precio del producto que fabrica.</a:t>
            </a:r>
          </a:p>
          <a:p>
            <a:pPr indent="-301625" lvl="2" marL="987425" marR="0" rtl="0" algn="l">
              <a:lnSpc>
                <a:spcPct val="90000"/>
              </a:lnSpc>
              <a:spcBef>
                <a:spcPts val="340"/>
              </a:spcBef>
              <a:spcAft>
                <a:spcPts val="0"/>
              </a:spcAft>
              <a:buClr>
                <a:schemeClr val="dk1"/>
              </a:buClr>
              <a:buSzPct val="70000"/>
              <a:buFont typeface="Noto Sans Symbols"/>
              <a:buAutoNum type="alphaLcParenR"/>
            </a:pPr>
            <a:r>
              <a:rPr b="0" i="0" lang="en-US" sz="1700" u="none" cap="none" strike="noStrike">
                <a:solidFill>
                  <a:schemeClr val="dk1"/>
                </a:solidFill>
                <a:latin typeface="Arial"/>
                <a:ea typeface="Arial"/>
                <a:cs typeface="Arial"/>
                <a:sym typeface="Arial"/>
              </a:rPr>
              <a:t>Regulando la actividad mediante la técnica de precios máximos.</a:t>
            </a:r>
          </a:p>
          <a:p>
            <a:pPr indent="-301625" lvl="2" marL="987425" marR="0" rtl="0" algn="l">
              <a:lnSpc>
                <a:spcPct val="90000"/>
              </a:lnSpc>
              <a:spcBef>
                <a:spcPts val="340"/>
              </a:spcBef>
              <a:spcAft>
                <a:spcPts val="0"/>
              </a:spcAft>
              <a:buClr>
                <a:schemeClr val="accent1"/>
              </a:buClr>
              <a:buSzPct val="25000"/>
              <a:buFont typeface="Noto Sans Symbols"/>
              <a:buNone/>
            </a:pPr>
            <a:r>
              <a:rPr b="0" i="0" lang="en-US" sz="1700" u="none" cap="none" strike="noStrike">
                <a:solidFill>
                  <a:schemeClr val="dk1"/>
                </a:solidFill>
                <a:latin typeface="Arial"/>
                <a:ea typeface="Arial"/>
                <a:cs typeface="Arial"/>
                <a:sym typeface="Arial"/>
              </a:rPr>
              <a:t>   </a:t>
            </a:r>
          </a:p>
          <a:p>
            <a:pPr indent="-342900" lvl="0" marL="342900" marR="0" rtl="0" algn="l">
              <a:lnSpc>
                <a:spcPct val="90000"/>
              </a:lnSpc>
              <a:spcBef>
                <a:spcPts val="400"/>
              </a:spcBef>
              <a:spcAft>
                <a:spcPts val="0"/>
              </a:spcAft>
              <a:buClr>
                <a:schemeClr val="dk2"/>
              </a:buClr>
              <a:buSzPct val="70000"/>
              <a:buFont typeface="Noto Sans Symbols"/>
              <a:buAutoNum type="arabicPeriod"/>
            </a:pPr>
            <a:r>
              <a:rPr b="0" i="0" lang="en-US" sz="2000" u="none" cap="none" strike="noStrike">
                <a:solidFill>
                  <a:schemeClr val="dk1"/>
                </a:solidFill>
                <a:latin typeface="Arial"/>
                <a:ea typeface="Arial"/>
                <a:cs typeface="Arial"/>
                <a:sym typeface="Arial"/>
              </a:rPr>
              <a:t>Tratando de romper la situación monopólica.</a:t>
            </a:r>
          </a:p>
          <a:p>
            <a:pPr indent="-342900" lvl="0" marL="342900" marR="0" rtl="0" algn="l">
              <a:lnSpc>
                <a:spcPct val="90000"/>
              </a:lnSpc>
              <a:spcBef>
                <a:spcPts val="400"/>
              </a:spcBef>
              <a:spcAft>
                <a:spcPts val="0"/>
              </a:spcAft>
              <a:buClr>
                <a:schemeClr val="dk2"/>
              </a:buClr>
              <a:buSzPct val="25000"/>
              <a:buFont typeface="Noto Sans Symbols"/>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90000"/>
              </a:lnSpc>
              <a:spcBef>
                <a:spcPts val="400"/>
              </a:spcBef>
              <a:spcAft>
                <a:spcPts val="0"/>
              </a:spcAft>
              <a:buClr>
                <a:schemeClr val="dk2"/>
              </a:buClr>
              <a:buSzPct val="70000"/>
              <a:buFont typeface="Noto Sans Symbols"/>
              <a:buAutoNum type="arabicPeriod"/>
            </a:pPr>
            <a:r>
              <a:rPr b="0" i="0" lang="en-US" sz="2000" u="none" cap="none" strike="noStrike">
                <a:solidFill>
                  <a:schemeClr val="dk1"/>
                </a:solidFill>
                <a:latin typeface="Arial"/>
                <a:ea typeface="Arial"/>
                <a:cs typeface="Arial"/>
                <a:sym typeface="Arial"/>
              </a:rPr>
              <a:t>Estatizando los monopolios. </a:t>
            </a:r>
          </a:p>
        </p:txBody>
      </p:sp>
      <p:pic>
        <p:nvPicPr>
          <p:cNvPr id="805" name="Shape 805"/>
          <p:cNvPicPr preferRelativeResize="0"/>
          <p:nvPr>
            <p:ph idx="4294967295" type="body"/>
          </p:nvPr>
        </p:nvPicPr>
        <p:blipFill rotWithShape="1">
          <a:blip r:embed="rId3">
            <a:alphaModFix/>
          </a:blip>
          <a:srcRect b="0" l="0" r="0" t="0"/>
          <a:stretch/>
        </p:blipFill>
        <p:spPr>
          <a:xfrm>
            <a:off x="4932362" y="333375"/>
            <a:ext cx="3009899" cy="609599"/>
          </a:xfrm>
          <a:prstGeom prst="rect">
            <a:avLst/>
          </a:prstGeom>
          <a:noFill/>
          <a:ln>
            <a:noFill/>
          </a:ln>
        </p:spPr>
      </p:pic>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09" name="Shape 809"/>
        <p:cNvGrpSpPr/>
        <p:nvPr/>
      </p:nvGrpSpPr>
      <p:grpSpPr>
        <a:xfrm>
          <a:off x="0" y="0"/>
          <a:ext cx="0" cy="0"/>
          <a:chOff x="0" y="0"/>
          <a:chExt cx="0" cy="0"/>
        </a:xfrm>
      </p:grpSpPr>
      <p:sp>
        <p:nvSpPr>
          <p:cNvPr id="810" name="Shape 810"/>
          <p:cNvSpPr txBox="1"/>
          <p:nvPr>
            <p:ph idx="4294967295" type="title"/>
          </p:nvPr>
        </p:nvSpPr>
        <p:spPr>
          <a:xfrm>
            <a:off x="323850" y="188911"/>
            <a:ext cx="3789361"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600" u="none" cap="none" strike="noStrike">
                <a:solidFill>
                  <a:schemeClr val="dk2"/>
                </a:solidFill>
                <a:latin typeface="Arial"/>
                <a:ea typeface="Arial"/>
                <a:cs typeface="Arial"/>
                <a:sym typeface="Arial"/>
              </a:rPr>
              <a:t>MONOPOLIO</a:t>
            </a:r>
            <a:r>
              <a:rPr b="1" i="0" lang="en-US" sz="3500" u="none" cap="none" strike="noStrike">
                <a:solidFill>
                  <a:schemeClr val="dk2"/>
                </a:solidFill>
                <a:latin typeface="Arial"/>
                <a:ea typeface="Arial"/>
                <a:cs typeface="Arial"/>
                <a:sym typeface="Arial"/>
              </a:rPr>
              <a:t> </a:t>
            </a:r>
            <a:br>
              <a:rPr b="1" i="0" lang="en-US" sz="3500" u="none" cap="none" strike="noStrike">
                <a:solidFill>
                  <a:schemeClr val="dk2"/>
                </a:solidFill>
                <a:latin typeface="Arial"/>
                <a:ea typeface="Arial"/>
                <a:cs typeface="Arial"/>
                <a:sym typeface="Arial"/>
              </a:rPr>
            </a:br>
            <a:r>
              <a:rPr b="1" i="0" lang="en-US" sz="2400" u="none" cap="none" strike="noStrike">
                <a:solidFill>
                  <a:schemeClr val="dk2"/>
                </a:solidFill>
                <a:latin typeface="Arial"/>
                <a:ea typeface="Arial"/>
                <a:cs typeface="Arial"/>
                <a:sym typeface="Arial"/>
              </a:rPr>
              <a:t>CONTROL DEL ESTADO</a:t>
            </a:r>
            <a:br>
              <a:rPr b="1" i="0" lang="en-US" sz="2400" u="none" cap="none" strike="noStrike">
                <a:solidFill>
                  <a:schemeClr val="dk2"/>
                </a:solidFill>
                <a:latin typeface="Arial"/>
                <a:ea typeface="Arial"/>
                <a:cs typeface="Arial"/>
                <a:sym typeface="Arial"/>
              </a:rPr>
            </a:br>
            <a:r>
              <a:rPr b="1" i="0" lang="en-US" sz="1800" u="none" cap="none" strike="noStrike">
                <a:solidFill>
                  <a:schemeClr val="dk2"/>
                </a:solidFill>
                <a:latin typeface="Arial"/>
                <a:ea typeface="Arial"/>
                <a:cs typeface="Arial"/>
                <a:sym typeface="Arial"/>
              </a:rPr>
              <a:t>INVERSIONES OBLIGATORIAS</a:t>
            </a:r>
          </a:p>
        </p:txBody>
      </p:sp>
      <p:sp>
        <p:nvSpPr>
          <p:cNvPr id="811" name="Shape 811"/>
          <p:cNvSpPr txBox="1"/>
          <p:nvPr>
            <p:ph idx="4294967295" type="body"/>
          </p:nvPr>
        </p:nvSpPr>
        <p:spPr>
          <a:xfrm>
            <a:off x="4030662" y="1700211"/>
            <a:ext cx="5113337" cy="1657350"/>
          </a:xfrm>
          <a:prstGeom prst="rect">
            <a:avLst/>
          </a:prstGeom>
          <a:noFill/>
          <a:ln>
            <a:noFill/>
          </a:ln>
        </p:spPr>
        <p:txBody>
          <a:bodyPr anchorCtr="0" anchor="t" bIns="45700" lIns="91425" rIns="91425" tIns="45700">
            <a:noAutofit/>
          </a:bodyPr>
          <a:lstStyle/>
          <a:p>
            <a:pPr indent="-342900" lvl="0" marL="342900" marR="0" rtl="0" algn="l">
              <a:lnSpc>
                <a:spcPct val="75000"/>
              </a:lnSpc>
              <a:spcBef>
                <a:spcPts val="0"/>
              </a:spcBef>
              <a:spcAft>
                <a:spcPts val="0"/>
              </a:spcAft>
              <a:buClr>
                <a:schemeClr val="dk2"/>
              </a:buClr>
              <a:buSzPct val="25000"/>
              <a:buFont typeface="Noto Sans Symbols"/>
              <a:buNone/>
            </a:pPr>
            <a:r>
              <a:rPr b="0" i="0" lang="en-US" sz="2000" u="none" cap="none" strike="noStrike">
                <a:solidFill>
                  <a:schemeClr val="dk2"/>
                </a:solidFill>
                <a:latin typeface="Arial"/>
                <a:ea typeface="Arial"/>
                <a:cs typeface="Arial"/>
                <a:sym typeface="Arial"/>
              </a:rPr>
              <a:t>El estado puede intervenir en el mercado</a:t>
            </a:r>
            <a:r>
              <a:rPr b="0" i="0" lang="en-US" sz="2000" u="none" cap="none" strike="noStrike">
                <a:solidFill>
                  <a:schemeClr val="dk1"/>
                </a:solidFill>
                <a:latin typeface="Arial"/>
                <a:ea typeface="Arial"/>
                <a:cs typeface="Arial"/>
                <a:sym typeface="Arial"/>
              </a:rPr>
              <a:t> </a:t>
            </a:r>
            <a:r>
              <a:rPr b="0" i="0" lang="en-US" sz="2000" u="none" cap="none" strike="noStrike">
                <a:solidFill>
                  <a:schemeClr val="dk2"/>
                </a:solidFill>
                <a:latin typeface="Arial"/>
                <a:ea typeface="Arial"/>
                <a:cs typeface="Arial"/>
                <a:sym typeface="Arial"/>
              </a:rPr>
              <a:t>obligando al monopolista a realizar determinadas inversiones</a:t>
            </a:r>
            <a:r>
              <a:rPr b="0" i="0" lang="en-US" sz="2000" u="none" cap="none" strike="noStrike">
                <a:solidFill>
                  <a:schemeClr val="dk1"/>
                </a:solidFill>
                <a:latin typeface="Arial"/>
                <a:ea typeface="Arial"/>
                <a:cs typeface="Arial"/>
                <a:sym typeface="Arial"/>
              </a:rPr>
              <a:t>.</a:t>
            </a:r>
          </a:p>
          <a:p>
            <a:pPr indent="-342900" lvl="0" marL="342900" marR="0" rtl="0" algn="l">
              <a:lnSpc>
                <a:spcPct val="75000"/>
              </a:lnSpc>
              <a:spcBef>
                <a:spcPts val="40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Esto bajará el Cma obligando al monopolista a aumentar la producción y a bajar el precios</a:t>
            </a:r>
          </a:p>
        </p:txBody>
      </p:sp>
      <p:cxnSp>
        <p:nvCxnSpPr>
          <p:cNvPr id="812" name="Shape 812"/>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813" name="Shape 813"/>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814" name="Shape 814"/>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sp>
        <p:nvSpPr>
          <p:cNvPr id="815" name="Shape 815"/>
          <p:cNvSpPr/>
          <p:nvPr/>
        </p:nvSpPr>
        <p:spPr>
          <a:xfrm>
            <a:off x="1258887" y="3644900"/>
            <a:ext cx="3471862" cy="1708149"/>
          </a:xfrm>
          <a:custGeom>
            <a:pathLst>
              <a:path extrusionOk="0" h="120000" w="120000">
                <a:moveTo>
                  <a:pt x="0" y="98810"/>
                </a:moveTo>
                <a:cubicBezTo>
                  <a:pt x="3182" y="101933"/>
                  <a:pt x="12949" y="115539"/>
                  <a:pt x="19149" y="117769"/>
                </a:cubicBezTo>
                <a:cubicBezTo>
                  <a:pt x="25349" y="120000"/>
                  <a:pt x="30452" y="118438"/>
                  <a:pt x="37311" y="112527"/>
                </a:cubicBezTo>
                <a:cubicBezTo>
                  <a:pt x="44170" y="106617"/>
                  <a:pt x="51467" y="94349"/>
                  <a:pt x="60246" y="82639"/>
                </a:cubicBezTo>
                <a:cubicBezTo>
                  <a:pt x="69026" y="70929"/>
                  <a:pt x="80987" y="54758"/>
                  <a:pt x="90096" y="42156"/>
                </a:cubicBezTo>
                <a:cubicBezTo>
                  <a:pt x="99204" y="29553"/>
                  <a:pt x="110013" y="13382"/>
                  <a:pt x="115006" y="6691"/>
                </a:cubicBezTo>
                <a:cubicBezTo>
                  <a:pt x="119999" y="0"/>
                  <a:pt x="119999" y="780"/>
                  <a:pt x="119999" y="1672"/>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816" name="Shape 816"/>
          <p:cNvCxnSpPr/>
          <p:nvPr/>
        </p:nvCxnSpPr>
        <p:spPr>
          <a:xfrm>
            <a:off x="1187450" y="2420936"/>
            <a:ext cx="2089150" cy="4437062"/>
          </a:xfrm>
          <a:prstGeom prst="straightConnector1">
            <a:avLst/>
          </a:prstGeom>
          <a:noFill/>
          <a:ln cap="flat" cmpd="sng" w="38100">
            <a:solidFill>
              <a:schemeClr val="dk1"/>
            </a:solidFill>
            <a:prstDash val="solid"/>
            <a:miter/>
            <a:headEnd len="med" w="med" type="none"/>
            <a:tailEnd len="med" w="med" type="none"/>
          </a:ln>
        </p:spPr>
      </p:cxnSp>
      <p:sp>
        <p:nvSpPr>
          <p:cNvPr id="817" name="Shape 817"/>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818" name="Shape 818"/>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819" name="Shape 819"/>
          <p:cNvSpPr txBox="1"/>
          <p:nvPr/>
        </p:nvSpPr>
        <p:spPr>
          <a:xfrm>
            <a:off x="2627311" y="3357562"/>
            <a:ext cx="223043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7094D"/>
              </a:buClr>
              <a:buSzPct val="25000"/>
              <a:buFont typeface="Arial"/>
              <a:buNone/>
            </a:pPr>
            <a:r>
              <a:rPr b="1" i="0" lang="en-US" sz="1800" u="none" cap="none" strike="noStrike">
                <a:solidFill>
                  <a:srgbClr val="F7094D"/>
                </a:solidFill>
                <a:latin typeface="Arial"/>
                <a:ea typeface="Arial"/>
                <a:cs typeface="Arial"/>
                <a:sym typeface="Arial"/>
              </a:rPr>
              <a:t>COSTO MARGINAL 1</a:t>
            </a:r>
          </a:p>
        </p:txBody>
      </p:sp>
      <p:sp>
        <p:nvSpPr>
          <p:cNvPr id="820" name="Shape 820"/>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sp>
        <p:nvSpPr>
          <p:cNvPr id="821" name="Shape 821"/>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INGRESO MARGINAL</a:t>
            </a:r>
          </a:p>
        </p:txBody>
      </p:sp>
      <p:cxnSp>
        <p:nvCxnSpPr>
          <p:cNvPr id="822" name="Shape 822"/>
          <p:cNvCxnSpPr/>
          <p:nvPr/>
        </p:nvCxnSpPr>
        <p:spPr>
          <a:xfrm>
            <a:off x="2484436" y="3716337"/>
            <a:ext cx="0" cy="2233612"/>
          </a:xfrm>
          <a:prstGeom prst="straightConnector1">
            <a:avLst/>
          </a:prstGeom>
          <a:noFill/>
          <a:ln cap="flat" cmpd="sng" w="9525">
            <a:solidFill>
              <a:schemeClr val="dk1"/>
            </a:solidFill>
            <a:prstDash val="solid"/>
            <a:miter/>
            <a:headEnd len="med" w="med" type="none"/>
            <a:tailEnd len="med" w="med" type="none"/>
          </a:ln>
        </p:spPr>
      </p:cxnSp>
      <p:sp>
        <p:nvSpPr>
          <p:cNvPr id="823" name="Shape 823"/>
          <p:cNvSpPr txBox="1"/>
          <p:nvPr/>
        </p:nvSpPr>
        <p:spPr>
          <a:xfrm>
            <a:off x="2054225" y="5014912"/>
            <a:ext cx="862011" cy="35877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Ima  = Cma</a:t>
            </a:r>
          </a:p>
        </p:txBody>
      </p:sp>
      <p:sp>
        <p:nvSpPr>
          <p:cNvPr id="824" name="Shape 824"/>
          <p:cNvSpPr txBox="1"/>
          <p:nvPr/>
        </p:nvSpPr>
        <p:spPr>
          <a:xfrm>
            <a:off x="539750" y="342900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p>
        </p:txBody>
      </p:sp>
      <p:cxnSp>
        <p:nvCxnSpPr>
          <p:cNvPr id="825" name="Shape 825"/>
          <p:cNvCxnSpPr/>
          <p:nvPr/>
        </p:nvCxnSpPr>
        <p:spPr>
          <a:xfrm>
            <a:off x="1187450" y="3716337"/>
            <a:ext cx="1296986" cy="0"/>
          </a:xfrm>
          <a:prstGeom prst="straightConnector1">
            <a:avLst/>
          </a:prstGeom>
          <a:noFill/>
          <a:ln cap="flat" cmpd="sng" w="9525">
            <a:solidFill>
              <a:schemeClr val="dk1"/>
            </a:solidFill>
            <a:prstDash val="solid"/>
            <a:miter/>
            <a:headEnd len="med" w="med" type="none"/>
            <a:tailEnd len="med" w="med" type="none"/>
          </a:ln>
        </p:spPr>
      </p:cxnSp>
      <p:sp>
        <p:nvSpPr>
          <p:cNvPr id="826" name="Shape 826"/>
          <p:cNvSpPr txBox="1"/>
          <p:nvPr/>
        </p:nvSpPr>
        <p:spPr>
          <a:xfrm>
            <a:off x="561975" y="3644900"/>
            <a:ext cx="914400" cy="482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P1</a:t>
            </a:r>
          </a:p>
        </p:txBody>
      </p:sp>
      <p:cxnSp>
        <p:nvCxnSpPr>
          <p:cNvPr id="827" name="Shape 827"/>
          <p:cNvCxnSpPr/>
          <p:nvPr/>
        </p:nvCxnSpPr>
        <p:spPr>
          <a:xfrm>
            <a:off x="755650" y="3573462"/>
            <a:ext cx="0" cy="287337"/>
          </a:xfrm>
          <a:prstGeom prst="straightConnector1">
            <a:avLst/>
          </a:prstGeom>
          <a:noFill/>
          <a:ln cap="flat" cmpd="sng" w="31750">
            <a:solidFill>
              <a:schemeClr val="dk1"/>
            </a:solidFill>
            <a:prstDash val="solid"/>
            <a:miter/>
            <a:headEnd len="med" w="med" type="none"/>
            <a:tailEnd len="lg" w="lg" type="triangle"/>
          </a:ln>
        </p:spPr>
      </p:cxnSp>
      <p:sp>
        <p:nvSpPr>
          <p:cNvPr id="828" name="Shape 828"/>
          <p:cNvSpPr txBox="1"/>
          <p:nvPr/>
        </p:nvSpPr>
        <p:spPr>
          <a:xfrm>
            <a:off x="2268536" y="5876925"/>
            <a:ext cx="35877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Q</a:t>
            </a:r>
          </a:p>
        </p:txBody>
      </p:sp>
      <p:sp>
        <p:nvSpPr>
          <p:cNvPr id="829" name="Shape 829"/>
          <p:cNvSpPr txBox="1"/>
          <p:nvPr/>
        </p:nvSpPr>
        <p:spPr>
          <a:xfrm>
            <a:off x="2482850" y="5876925"/>
            <a:ext cx="360362"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Q</a:t>
            </a:r>
            <a:r>
              <a:rPr b="1" i="0" lang="en-US" sz="1400" u="none" cap="none" strike="noStrike">
                <a:solidFill>
                  <a:schemeClr val="dk1"/>
                </a:solidFill>
                <a:latin typeface="Arial"/>
                <a:ea typeface="Arial"/>
                <a:cs typeface="Arial"/>
                <a:sym typeface="Arial"/>
              </a:rPr>
              <a:t>1</a:t>
            </a:r>
          </a:p>
        </p:txBody>
      </p:sp>
      <p:cxnSp>
        <p:nvCxnSpPr>
          <p:cNvPr id="830" name="Shape 830"/>
          <p:cNvCxnSpPr/>
          <p:nvPr/>
        </p:nvCxnSpPr>
        <p:spPr>
          <a:xfrm>
            <a:off x="2339975" y="6237287"/>
            <a:ext cx="360362" cy="0"/>
          </a:xfrm>
          <a:prstGeom prst="straightConnector1">
            <a:avLst/>
          </a:prstGeom>
          <a:noFill/>
          <a:ln cap="flat" cmpd="sng" w="38100">
            <a:solidFill>
              <a:schemeClr val="dk1"/>
            </a:solidFill>
            <a:prstDash val="solid"/>
            <a:miter/>
            <a:headEnd len="med" w="med" type="none"/>
            <a:tailEnd len="lg" w="lg" type="triangle"/>
          </a:ln>
        </p:spPr>
      </p:cxnSp>
      <p:sp>
        <p:nvSpPr>
          <p:cNvPr id="831" name="Shape 831"/>
          <p:cNvSpPr/>
          <p:nvPr/>
        </p:nvSpPr>
        <p:spPr>
          <a:xfrm>
            <a:off x="1258887" y="3860800"/>
            <a:ext cx="3790949" cy="1827211"/>
          </a:xfrm>
          <a:custGeom>
            <a:pathLst>
              <a:path extrusionOk="0" h="120000" w="120000">
                <a:moveTo>
                  <a:pt x="0" y="108740"/>
                </a:moveTo>
                <a:cubicBezTo>
                  <a:pt x="2814" y="110408"/>
                  <a:pt x="11809" y="117080"/>
                  <a:pt x="17085" y="118540"/>
                </a:cubicBezTo>
                <a:cubicBezTo>
                  <a:pt x="22361" y="120000"/>
                  <a:pt x="27386" y="119582"/>
                  <a:pt x="31809" y="117602"/>
                </a:cubicBezTo>
                <a:cubicBezTo>
                  <a:pt x="36231" y="115621"/>
                  <a:pt x="38090" y="113431"/>
                  <a:pt x="43668" y="106759"/>
                </a:cubicBezTo>
                <a:cubicBezTo>
                  <a:pt x="49246" y="100086"/>
                  <a:pt x="57135" y="88514"/>
                  <a:pt x="65276" y="77254"/>
                </a:cubicBezTo>
                <a:cubicBezTo>
                  <a:pt x="73417" y="65994"/>
                  <a:pt x="84271" y="51190"/>
                  <a:pt x="92613" y="39409"/>
                </a:cubicBezTo>
                <a:cubicBezTo>
                  <a:pt x="100954" y="27628"/>
                  <a:pt x="110854" y="12510"/>
                  <a:pt x="115427" y="6255"/>
                </a:cubicBezTo>
                <a:cubicBezTo>
                  <a:pt x="120000" y="0"/>
                  <a:pt x="120000" y="729"/>
                  <a:pt x="120000" y="1563"/>
                </a:cubicBezTo>
              </a:path>
            </a:pathLst>
          </a:custGeom>
          <a:noFill/>
          <a:ln cap="flat" cmpd="sng" w="381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32" name="Shape 832"/>
          <p:cNvSpPr txBox="1"/>
          <p:nvPr/>
        </p:nvSpPr>
        <p:spPr>
          <a:xfrm>
            <a:off x="4427537" y="4221162"/>
            <a:ext cx="259238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 MARGINAL 2</a:t>
            </a:r>
          </a:p>
        </p:txBody>
      </p:sp>
      <p:cxnSp>
        <p:nvCxnSpPr>
          <p:cNvPr id="833" name="Shape 833"/>
          <p:cNvCxnSpPr/>
          <p:nvPr/>
        </p:nvCxnSpPr>
        <p:spPr>
          <a:xfrm>
            <a:off x="2627311" y="3860800"/>
            <a:ext cx="0" cy="2089150"/>
          </a:xfrm>
          <a:prstGeom prst="straightConnector1">
            <a:avLst/>
          </a:prstGeom>
          <a:noFill/>
          <a:ln cap="flat" cmpd="sng" w="9525">
            <a:solidFill>
              <a:schemeClr val="dk1"/>
            </a:solidFill>
            <a:prstDash val="solid"/>
            <a:miter/>
            <a:headEnd len="med" w="med" type="none"/>
            <a:tailEnd len="med" w="med" type="none"/>
          </a:ln>
        </p:spPr>
      </p:cxnSp>
      <p:cxnSp>
        <p:nvCxnSpPr>
          <p:cNvPr id="834" name="Shape 834"/>
          <p:cNvCxnSpPr/>
          <p:nvPr/>
        </p:nvCxnSpPr>
        <p:spPr>
          <a:xfrm>
            <a:off x="1187450" y="3860800"/>
            <a:ext cx="1439862" cy="0"/>
          </a:xfrm>
          <a:prstGeom prst="straightConnector1">
            <a:avLst/>
          </a:prstGeom>
          <a:noFill/>
          <a:ln cap="flat" cmpd="sng" w="9525">
            <a:solidFill>
              <a:schemeClr val="dk1"/>
            </a:solidFill>
            <a:prstDash val="solid"/>
            <a:miter/>
            <a:headEnd len="med" w="med" type="none"/>
            <a:tailEnd len="med" w="med" type="none"/>
          </a:ln>
        </p:spPr>
      </p:cxnSp>
      <p:sp>
        <p:nvSpPr>
          <p:cNvPr id="835" name="Shape 835"/>
          <p:cNvSpPr txBox="1"/>
          <p:nvPr/>
        </p:nvSpPr>
        <p:spPr>
          <a:xfrm>
            <a:off x="2846386" y="5302250"/>
            <a:ext cx="862011" cy="35877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Ima  = Cma</a:t>
            </a:r>
          </a:p>
        </p:txBody>
      </p:sp>
      <p:cxnSp>
        <p:nvCxnSpPr>
          <p:cNvPr id="836" name="Shape 836"/>
          <p:cNvCxnSpPr/>
          <p:nvPr/>
        </p:nvCxnSpPr>
        <p:spPr>
          <a:xfrm>
            <a:off x="4572000" y="3860800"/>
            <a:ext cx="0" cy="215899"/>
          </a:xfrm>
          <a:prstGeom prst="straightConnector1">
            <a:avLst/>
          </a:prstGeom>
          <a:noFill/>
          <a:ln cap="flat" cmpd="sng" w="25400">
            <a:solidFill>
              <a:schemeClr val="dk1"/>
            </a:solidFill>
            <a:prstDash val="solid"/>
            <a:miter/>
            <a:headEnd len="med" w="med" type="none"/>
            <a:tailEnd len="lg" w="lg" type="triangle"/>
          </a:ln>
        </p:spPr>
      </p:cxnSp>
      <p:cxnSp>
        <p:nvCxnSpPr>
          <p:cNvPr id="837" name="Shape 837"/>
          <p:cNvCxnSpPr/>
          <p:nvPr/>
        </p:nvCxnSpPr>
        <p:spPr>
          <a:xfrm>
            <a:off x="4140200" y="4149725"/>
            <a:ext cx="0" cy="215899"/>
          </a:xfrm>
          <a:prstGeom prst="straightConnector1">
            <a:avLst/>
          </a:prstGeom>
          <a:noFill/>
          <a:ln cap="flat" cmpd="sng" w="25400">
            <a:solidFill>
              <a:schemeClr val="dk1"/>
            </a:solidFill>
            <a:prstDash val="solid"/>
            <a:miter/>
            <a:headEnd len="med" w="med" type="none"/>
            <a:tailEnd len="lg" w="lg" type="triangle"/>
          </a:ln>
        </p:spPr>
      </p:cxnSp>
      <p:cxnSp>
        <p:nvCxnSpPr>
          <p:cNvPr id="838" name="Shape 838"/>
          <p:cNvCxnSpPr/>
          <p:nvPr/>
        </p:nvCxnSpPr>
        <p:spPr>
          <a:xfrm>
            <a:off x="3635375" y="4508500"/>
            <a:ext cx="0" cy="215899"/>
          </a:xfrm>
          <a:prstGeom prst="straightConnector1">
            <a:avLst/>
          </a:prstGeom>
          <a:noFill/>
          <a:ln cap="flat" cmpd="sng" w="25400">
            <a:solidFill>
              <a:schemeClr val="dk1"/>
            </a:solidFill>
            <a:prstDash val="solid"/>
            <a:miter/>
            <a:headEnd len="med" w="med" type="none"/>
            <a:tailEnd len="lg" w="lg" type="triangle"/>
          </a:ln>
        </p:spPr>
      </p:cxnSp>
      <p:cxnSp>
        <p:nvCxnSpPr>
          <p:cNvPr id="839" name="Shape 839"/>
          <p:cNvCxnSpPr/>
          <p:nvPr/>
        </p:nvCxnSpPr>
        <p:spPr>
          <a:xfrm>
            <a:off x="1763711" y="5373687"/>
            <a:ext cx="0" cy="215899"/>
          </a:xfrm>
          <a:prstGeom prst="straightConnector1">
            <a:avLst/>
          </a:prstGeom>
          <a:noFill/>
          <a:ln cap="flat" cmpd="sng" w="25400">
            <a:solidFill>
              <a:schemeClr val="dk1"/>
            </a:solidFill>
            <a:prstDash val="solid"/>
            <a:miter/>
            <a:headEnd len="med" w="med" type="none"/>
            <a:tailEnd len="lg" w="lg" type="triangle"/>
          </a:ln>
        </p:spPr>
      </p:cxnSp>
      <p:cxnSp>
        <p:nvCxnSpPr>
          <p:cNvPr id="840" name="Shape 840"/>
          <p:cNvCxnSpPr/>
          <p:nvPr/>
        </p:nvCxnSpPr>
        <p:spPr>
          <a:xfrm>
            <a:off x="1403350" y="5300662"/>
            <a:ext cx="0" cy="215899"/>
          </a:xfrm>
          <a:prstGeom prst="straightConnector1">
            <a:avLst/>
          </a:prstGeom>
          <a:noFill/>
          <a:ln cap="flat" cmpd="sng" w="25400">
            <a:solidFill>
              <a:schemeClr val="dk1"/>
            </a:solidFill>
            <a:prstDash val="solid"/>
            <a:miter/>
            <a:headEnd len="med" w="med" type="none"/>
            <a:tailEnd len="lg" w="lg" type="triangle"/>
          </a:ln>
        </p:spPr>
      </p:cxnSp>
      <p:cxnSp>
        <p:nvCxnSpPr>
          <p:cNvPr id="841" name="Shape 841"/>
          <p:cNvCxnSpPr/>
          <p:nvPr/>
        </p:nvCxnSpPr>
        <p:spPr>
          <a:xfrm>
            <a:off x="3132136" y="4868862"/>
            <a:ext cx="0" cy="215899"/>
          </a:xfrm>
          <a:prstGeom prst="straightConnector1">
            <a:avLst/>
          </a:prstGeom>
          <a:noFill/>
          <a:ln cap="flat" cmpd="sng" w="25400">
            <a:solidFill>
              <a:schemeClr val="dk1"/>
            </a:solidFill>
            <a:prstDash val="solid"/>
            <a:miter/>
            <a:headEnd len="med" w="med" type="none"/>
            <a:tailEnd len="lg" w="lg" type="triangle"/>
          </a:ln>
        </p:spPr>
      </p:cxnSp>
      <p:cxnSp>
        <p:nvCxnSpPr>
          <p:cNvPr id="842" name="Shape 842"/>
          <p:cNvCxnSpPr/>
          <p:nvPr/>
        </p:nvCxnSpPr>
        <p:spPr>
          <a:xfrm>
            <a:off x="2195511" y="5373687"/>
            <a:ext cx="0" cy="215899"/>
          </a:xfrm>
          <a:prstGeom prst="straightConnector1">
            <a:avLst/>
          </a:prstGeom>
          <a:noFill/>
          <a:ln cap="flat" cmpd="sng" w="25400">
            <a:solidFill>
              <a:schemeClr val="dk1"/>
            </a:solidFill>
            <a:prstDash val="solid"/>
            <a:miter/>
            <a:headEnd len="med" w="med" type="none"/>
            <a:tailEnd len="lg" w="lg" type="triangle"/>
          </a:ln>
        </p:spPr>
      </p:cxnSp>
      <p:pic>
        <p:nvPicPr>
          <p:cNvPr id="843" name="Shape 843"/>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47" name="Shape 847"/>
        <p:cNvGrpSpPr/>
        <p:nvPr/>
      </p:nvGrpSpPr>
      <p:grpSpPr>
        <a:xfrm>
          <a:off x="0" y="0"/>
          <a:ext cx="0" cy="0"/>
          <a:chOff x="0" y="0"/>
          <a:chExt cx="0" cy="0"/>
        </a:xfrm>
      </p:grpSpPr>
      <p:sp>
        <p:nvSpPr>
          <p:cNvPr id="848" name="Shape 848"/>
          <p:cNvSpPr txBox="1"/>
          <p:nvPr>
            <p:ph idx="4294967295" type="title"/>
          </p:nvPr>
        </p:nvSpPr>
        <p:spPr>
          <a:xfrm>
            <a:off x="179386" y="188911"/>
            <a:ext cx="4176711" cy="1389061"/>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400" u="none" cap="none" strike="noStrike">
                <a:solidFill>
                  <a:schemeClr val="dk2"/>
                </a:solidFill>
                <a:latin typeface="Arial"/>
                <a:ea typeface="Arial"/>
                <a:cs typeface="Arial"/>
                <a:sym typeface="Arial"/>
              </a:rPr>
              <a:t>CONTROL DEL ESTADO</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PAGO UN CANON</a:t>
            </a:r>
          </a:p>
        </p:txBody>
      </p:sp>
      <p:sp>
        <p:nvSpPr>
          <p:cNvPr id="849" name="Shape 849"/>
          <p:cNvSpPr txBox="1"/>
          <p:nvPr>
            <p:ph idx="4294967295" type="body"/>
          </p:nvPr>
        </p:nvSpPr>
        <p:spPr>
          <a:xfrm>
            <a:off x="4926012" y="1719261"/>
            <a:ext cx="4038599" cy="4411661"/>
          </a:xfrm>
          <a:prstGeom prst="rect">
            <a:avLst/>
          </a:prstGeom>
          <a:noFill/>
          <a:ln>
            <a:noFill/>
          </a:ln>
        </p:spPr>
        <p:txBody>
          <a:bodyPr anchorCtr="0" anchor="t" bIns="45700" lIns="91425" rIns="91425" tIns="45700">
            <a:noAutofit/>
          </a:bodyPr>
          <a:lstStyle/>
          <a:p>
            <a:pPr indent="-342900" lvl="0" marL="342900" marR="0" rtl="0" algn="l">
              <a:lnSpc>
                <a:spcPct val="75000"/>
              </a:lnSpc>
              <a:spcBef>
                <a:spcPts val="0"/>
              </a:spcBef>
              <a:spcAft>
                <a:spcPts val="0"/>
              </a:spcAft>
              <a:buClr>
                <a:schemeClr val="dk2"/>
              </a:buClr>
              <a:buSzPct val="25000"/>
              <a:buFont typeface="Noto Sans Symbols"/>
              <a:buNone/>
            </a:pPr>
            <a:r>
              <a:rPr b="0" i="0" lang="en-US" sz="2000" u="none" cap="none" strike="noStrike">
                <a:solidFill>
                  <a:schemeClr val="dk2"/>
                </a:solidFill>
                <a:latin typeface="Arial"/>
                <a:ea typeface="Arial"/>
                <a:cs typeface="Arial"/>
                <a:sym typeface="Arial"/>
              </a:rPr>
              <a:t>El estado puede intervenir en el mercado</a:t>
            </a:r>
            <a:r>
              <a:rPr b="0" i="0" lang="en-US" sz="2000" u="none" cap="none" strike="noStrike">
                <a:solidFill>
                  <a:schemeClr val="dk1"/>
                </a:solidFill>
                <a:latin typeface="Arial"/>
                <a:ea typeface="Arial"/>
                <a:cs typeface="Arial"/>
                <a:sym typeface="Arial"/>
              </a:rPr>
              <a:t> </a:t>
            </a:r>
            <a:r>
              <a:rPr b="0" i="0" lang="en-US" sz="2000" u="none" cap="none" strike="noStrike">
                <a:solidFill>
                  <a:schemeClr val="dk2"/>
                </a:solidFill>
                <a:latin typeface="Arial"/>
                <a:ea typeface="Arial"/>
                <a:cs typeface="Arial"/>
                <a:sym typeface="Arial"/>
              </a:rPr>
              <a:t>obligando al monopolista a pagar un canon</a:t>
            </a:r>
            <a:r>
              <a:rPr b="0" i="0" lang="en-US" sz="2000" u="none" cap="none" strike="noStrike">
                <a:solidFill>
                  <a:schemeClr val="dk1"/>
                </a:solidFill>
                <a:latin typeface="Arial"/>
                <a:ea typeface="Arial"/>
                <a:cs typeface="Arial"/>
                <a:sym typeface="Arial"/>
              </a:rPr>
              <a:t>.</a:t>
            </a:r>
          </a:p>
          <a:p>
            <a:pPr indent="-342900" lvl="0" marL="342900" marR="0" rtl="0" algn="l">
              <a:lnSpc>
                <a:spcPct val="75000"/>
              </a:lnSpc>
              <a:spcBef>
                <a:spcPts val="40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Esto aumentará el costo fijo, reduciendo el beneficio particular del monopolista.</a:t>
            </a:r>
          </a:p>
          <a:p>
            <a:pPr indent="-342900" lvl="0" marL="342900" marR="0" rtl="0" algn="l">
              <a:lnSpc>
                <a:spcPct val="75000"/>
              </a:lnSpc>
              <a:spcBef>
                <a:spcPts val="400"/>
              </a:spcBef>
              <a:spcAft>
                <a:spcPts val="0"/>
              </a:spcAft>
              <a:buClr>
                <a:schemeClr val="dk2"/>
              </a:buClr>
              <a:buSzPct val="25000"/>
              <a:buFont typeface="Noto Sans Symbols"/>
              <a:buNone/>
            </a:pPr>
            <a:r>
              <a:rPr b="1" i="0" lang="en-US" sz="2000" u="none" cap="none" strike="noStrike">
                <a:solidFill>
                  <a:srgbClr val="FF5050"/>
                </a:solidFill>
                <a:latin typeface="Arial"/>
                <a:ea typeface="Arial"/>
                <a:cs typeface="Arial"/>
                <a:sym typeface="Arial"/>
              </a:rPr>
              <a:t>Dado que no se modifica el Cma el monopolista no variará el nivel de actividad</a:t>
            </a:r>
          </a:p>
          <a:p>
            <a:pPr indent="-342900" lvl="0" marL="342900" marR="0" rtl="0" algn="l">
              <a:lnSpc>
                <a:spcPct val="100000"/>
              </a:lnSpc>
              <a:spcBef>
                <a:spcPts val="400"/>
              </a:spcBef>
              <a:spcAft>
                <a:spcPts val="0"/>
              </a:spcAft>
              <a:buClr>
                <a:schemeClr val="dk2"/>
              </a:buClr>
              <a:buSzPct val="70000"/>
              <a:buFont typeface="Noto Sans Symbols"/>
              <a:buNone/>
            </a:pPr>
            <a:r>
              <a:t/>
            </a:r>
            <a:endParaRPr b="1" i="0" sz="2000" u="none" cap="none" strike="noStrike">
              <a:solidFill>
                <a:srgbClr val="FF5050"/>
              </a:solidFill>
              <a:latin typeface="Arial"/>
              <a:ea typeface="Arial"/>
              <a:cs typeface="Arial"/>
              <a:sym typeface="Arial"/>
            </a:endParaRPr>
          </a:p>
        </p:txBody>
      </p:sp>
      <p:cxnSp>
        <p:nvCxnSpPr>
          <p:cNvPr id="850" name="Shape 850"/>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851" name="Shape 851"/>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852" name="Shape 852"/>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cxnSp>
        <p:nvCxnSpPr>
          <p:cNvPr id="853" name="Shape 853"/>
          <p:cNvCxnSpPr/>
          <p:nvPr/>
        </p:nvCxnSpPr>
        <p:spPr>
          <a:xfrm>
            <a:off x="1187450" y="2420936"/>
            <a:ext cx="2016124" cy="4437062"/>
          </a:xfrm>
          <a:prstGeom prst="straightConnector1">
            <a:avLst/>
          </a:prstGeom>
          <a:noFill/>
          <a:ln cap="flat" cmpd="sng" w="38100">
            <a:solidFill>
              <a:schemeClr val="dk1"/>
            </a:solidFill>
            <a:prstDash val="solid"/>
            <a:miter/>
            <a:headEnd len="med" w="med" type="none"/>
            <a:tailEnd len="med" w="med" type="none"/>
          </a:ln>
        </p:spPr>
      </p:cxnSp>
      <p:sp>
        <p:nvSpPr>
          <p:cNvPr id="854" name="Shape 854"/>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855" name="Shape 855"/>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856" name="Shape 856"/>
          <p:cNvSpPr txBox="1"/>
          <p:nvPr/>
        </p:nvSpPr>
        <p:spPr>
          <a:xfrm>
            <a:off x="2520950" y="4005262"/>
            <a:ext cx="2051050"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COSTO MEDIO 2</a:t>
            </a:r>
          </a:p>
        </p:txBody>
      </p:sp>
      <p:sp>
        <p:nvSpPr>
          <p:cNvPr id="857" name="Shape 857"/>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sp>
        <p:nvSpPr>
          <p:cNvPr id="858" name="Shape 858"/>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INGRESO MARGINAL</a:t>
            </a:r>
          </a:p>
        </p:txBody>
      </p:sp>
      <p:sp>
        <p:nvSpPr>
          <p:cNvPr id="859" name="Shape 859"/>
          <p:cNvSpPr txBox="1"/>
          <p:nvPr/>
        </p:nvSpPr>
        <p:spPr>
          <a:xfrm>
            <a:off x="539750" y="364490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a:t>
            </a:r>
          </a:p>
        </p:txBody>
      </p:sp>
      <p:sp>
        <p:nvSpPr>
          <p:cNvPr id="860" name="Shape 860"/>
          <p:cNvSpPr/>
          <p:nvPr/>
        </p:nvSpPr>
        <p:spPr>
          <a:xfrm>
            <a:off x="1692275" y="4508500"/>
            <a:ext cx="2414586" cy="857250"/>
          </a:xfrm>
          <a:custGeom>
            <a:pathLst>
              <a:path extrusionOk="0" h="120000" w="120000">
                <a:moveTo>
                  <a:pt x="0" y="0"/>
                </a:moveTo>
                <a:cubicBezTo>
                  <a:pt x="1656" y="9333"/>
                  <a:pt x="4497" y="38444"/>
                  <a:pt x="10098" y="56666"/>
                </a:cubicBezTo>
                <a:cubicBezTo>
                  <a:pt x="15700" y="74888"/>
                  <a:pt x="23747" y="99555"/>
                  <a:pt x="33767" y="109777"/>
                </a:cubicBezTo>
                <a:cubicBezTo>
                  <a:pt x="43786" y="120000"/>
                  <a:pt x="59644" y="119333"/>
                  <a:pt x="70295" y="118000"/>
                </a:cubicBezTo>
                <a:cubicBezTo>
                  <a:pt x="80946" y="116666"/>
                  <a:pt x="90966" y="106666"/>
                  <a:pt x="97672" y="101111"/>
                </a:cubicBezTo>
                <a:cubicBezTo>
                  <a:pt x="104378" y="95555"/>
                  <a:pt x="106666" y="90666"/>
                  <a:pt x="110374" y="84444"/>
                </a:cubicBezTo>
                <a:cubicBezTo>
                  <a:pt x="114082" y="78222"/>
                  <a:pt x="118027" y="68000"/>
                  <a:pt x="120000" y="63555"/>
                </a:cubicBezTo>
              </a:path>
            </a:pathLst>
          </a:custGeom>
          <a:no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61" name="Shape 861"/>
          <p:cNvSpPr txBox="1"/>
          <p:nvPr/>
        </p:nvSpPr>
        <p:spPr>
          <a:xfrm>
            <a:off x="2413000" y="5876925"/>
            <a:ext cx="35877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Q</a:t>
            </a:r>
          </a:p>
        </p:txBody>
      </p:sp>
      <p:sp>
        <p:nvSpPr>
          <p:cNvPr id="862" name="Shape 862"/>
          <p:cNvSpPr/>
          <p:nvPr/>
        </p:nvSpPr>
        <p:spPr>
          <a:xfrm>
            <a:off x="1709736" y="4652962"/>
            <a:ext cx="2430462" cy="720724"/>
          </a:xfrm>
          <a:custGeom>
            <a:pathLst>
              <a:path extrusionOk="0" h="120000" w="120000">
                <a:moveTo>
                  <a:pt x="0" y="0"/>
                </a:moveTo>
                <a:cubicBezTo>
                  <a:pt x="2037" y="10308"/>
                  <a:pt x="6113" y="43348"/>
                  <a:pt x="12227" y="62114"/>
                </a:cubicBezTo>
                <a:cubicBezTo>
                  <a:pt x="18340" y="80881"/>
                  <a:pt x="25003" y="104140"/>
                  <a:pt x="36681" y="112070"/>
                </a:cubicBezTo>
                <a:cubicBezTo>
                  <a:pt x="48360" y="120000"/>
                  <a:pt x="72109" y="112334"/>
                  <a:pt x="82534" y="109691"/>
                </a:cubicBezTo>
                <a:cubicBezTo>
                  <a:pt x="92958" y="107048"/>
                  <a:pt x="94526" y="101233"/>
                  <a:pt x="99072" y="95947"/>
                </a:cubicBezTo>
                <a:cubicBezTo>
                  <a:pt x="103618" y="90660"/>
                  <a:pt x="106205" y="86696"/>
                  <a:pt x="109653" y="77973"/>
                </a:cubicBezTo>
                <a:cubicBezTo>
                  <a:pt x="113102" y="69251"/>
                  <a:pt x="117883" y="50220"/>
                  <a:pt x="119999" y="43083"/>
                </a:cubicBezTo>
              </a:path>
            </a:pathLst>
          </a:custGeom>
          <a:noFill/>
          <a:ln cap="flat" cmpd="sng" w="38100">
            <a:solidFill>
              <a:srgbClr val="FF66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63" name="Shape 863"/>
          <p:cNvSpPr/>
          <p:nvPr/>
        </p:nvSpPr>
        <p:spPr>
          <a:xfrm>
            <a:off x="1403350" y="3933825"/>
            <a:ext cx="2527300" cy="1814512"/>
          </a:xfrm>
          <a:custGeom>
            <a:pathLst>
              <a:path extrusionOk="0" h="120000" w="120000">
                <a:moveTo>
                  <a:pt x="0" y="94593"/>
                </a:moveTo>
                <a:cubicBezTo>
                  <a:pt x="3542" y="97532"/>
                  <a:pt x="14095" y="108346"/>
                  <a:pt x="21331" y="112440"/>
                </a:cubicBezTo>
                <a:cubicBezTo>
                  <a:pt x="28567" y="116535"/>
                  <a:pt x="37311" y="119475"/>
                  <a:pt x="43417" y="119370"/>
                </a:cubicBezTo>
                <a:cubicBezTo>
                  <a:pt x="49522" y="119265"/>
                  <a:pt x="51708" y="120000"/>
                  <a:pt x="58190" y="111706"/>
                </a:cubicBezTo>
                <a:cubicBezTo>
                  <a:pt x="64673" y="103412"/>
                  <a:pt x="72286" y="88293"/>
                  <a:pt x="82537" y="69711"/>
                </a:cubicBezTo>
                <a:cubicBezTo>
                  <a:pt x="92864" y="51128"/>
                  <a:pt x="112236" y="14488"/>
                  <a:pt x="120000" y="0"/>
                </a:cubicBezTo>
              </a:path>
            </a:pathLst>
          </a:custGeom>
          <a:noFill/>
          <a:ln cap="flat" cmpd="sng" w="381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64" name="Shape 864"/>
          <p:cNvSpPr txBox="1"/>
          <p:nvPr/>
        </p:nvSpPr>
        <p:spPr>
          <a:xfrm>
            <a:off x="-36511" y="5661025"/>
            <a:ext cx="259238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 MARGINAL</a:t>
            </a:r>
          </a:p>
        </p:txBody>
      </p:sp>
      <p:cxnSp>
        <p:nvCxnSpPr>
          <p:cNvPr id="865" name="Shape 865"/>
          <p:cNvCxnSpPr/>
          <p:nvPr/>
        </p:nvCxnSpPr>
        <p:spPr>
          <a:xfrm>
            <a:off x="2627311" y="3860800"/>
            <a:ext cx="0" cy="2089150"/>
          </a:xfrm>
          <a:prstGeom prst="straightConnector1">
            <a:avLst/>
          </a:prstGeom>
          <a:noFill/>
          <a:ln cap="flat" cmpd="sng" w="9525">
            <a:solidFill>
              <a:schemeClr val="dk1"/>
            </a:solidFill>
            <a:prstDash val="solid"/>
            <a:miter/>
            <a:headEnd len="med" w="med" type="none"/>
            <a:tailEnd len="med" w="med" type="none"/>
          </a:ln>
        </p:spPr>
      </p:cxnSp>
      <p:cxnSp>
        <p:nvCxnSpPr>
          <p:cNvPr id="866" name="Shape 866"/>
          <p:cNvCxnSpPr/>
          <p:nvPr/>
        </p:nvCxnSpPr>
        <p:spPr>
          <a:xfrm>
            <a:off x="1187450" y="3860800"/>
            <a:ext cx="1439862" cy="0"/>
          </a:xfrm>
          <a:prstGeom prst="straightConnector1">
            <a:avLst/>
          </a:prstGeom>
          <a:noFill/>
          <a:ln cap="flat" cmpd="sng" w="9525">
            <a:solidFill>
              <a:schemeClr val="dk1"/>
            </a:solidFill>
            <a:prstDash val="solid"/>
            <a:miter/>
            <a:headEnd len="med" w="med" type="none"/>
            <a:tailEnd len="med" w="med" type="none"/>
          </a:ln>
        </p:spPr>
      </p:cxnSp>
      <p:sp>
        <p:nvSpPr>
          <p:cNvPr id="867" name="Shape 867"/>
          <p:cNvSpPr txBox="1"/>
          <p:nvPr/>
        </p:nvSpPr>
        <p:spPr>
          <a:xfrm>
            <a:off x="2270125" y="5445125"/>
            <a:ext cx="862011" cy="35877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Ima  = Cma</a:t>
            </a:r>
          </a:p>
        </p:txBody>
      </p:sp>
      <p:sp>
        <p:nvSpPr>
          <p:cNvPr id="868" name="Shape 868"/>
          <p:cNvSpPr txBox="1"/>
          <p:nvPr/>
        </p:nvSpPr>
        <p:spPr>
          <a:xfrm>
            <a:off x="3925887" y="5013325"/>
            <a:ext cx="223043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COSTO MEDIO 1</a:t>
            </a:r>
          </a:p>
        </p:txBody>
      </p:sp>
      <p:sp>
        <p:nvSpPr>
          <p:cNvPr id="869" name="Shape 869"/>
          <p:cNvSpPr txBox="1"/>
          <p:nvPr/>
        </p:nvSpPr>
        <p:spPr>
          <a:xfrm>
            <a:off x="1187450" y="3860800"/>
            <a:ext cx="1439862" cy="1512886"/>
          </a:xfrm>
          <a:prstGeom prst="rect">
            <a:avLst/>
          </a:prstGeom>
          <a:solidFill>
            <a:schemeClr val="accent1">
              <a:alpha val="22745"/>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BENEFICIO</a:t>
            </a:r>
          </a:p>
        </p:txBody>
      </p:sp>
      <p:sp>
        <p:nvSpPr>
          <p:cNvPr id="870" name="Shape 870"/>
          <p:cNvSpPr txBox="1"/>
          <p:nvPr/>
        </p:nvSpPr>
        <p:spPr>
          <a:xfrm>
            <a:off x="1187450" y="3860800"/>
            <a:ext cx="1439862" cy="971550"/>
          </a:xfrm>
          <a:prstGeom prst="rect">
            <a:avLst/>
          </a:prstGeom>
          <a:solidFill>
            <a:srgbClr val="00FFFF">
              <a:alpha val="19607"/>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BENEFICIO</a:t>
            </a:r>
          </a:p>
        </p:txBody>
      </p:sp>
      <p:cxnSp>
        <p:nvCxnSpPr>
          <p:cNvPr id="871" name="Shape 871"/>
          <p:cNvCxnSpPr/>
          <p:nvPr/>
        </p:nvCxnSpPr>
        <p:spPr>
          <a:xfrm rot="10800000">
            <a:off x="2124075" y="4652961"/>
            <a:ext cx="0" cy="360362"/>
          </a:xfrm>
          <a:prstGeom prst="straightConnector1">
            <a:avLst/>
          </a:prstGeom>
          <a:noFill/>
          <a:ln cap="flat" cmpd="sng" w="9525">
            <a:solidFill>
              <a:schemeClr val="dk1"/>
            </a:solidFill>
            <a:prstDash val="solid"/>
            <a:miter/>
            <a:headEnd len="med" w="med" type="none"/>
            <a:tailEnd len="lg" w="lg" type="triangle"/>
          </a:ln>
        </p:spPr>
      </p:cxnSp>
      <p:cxnSp>
        <p:nvCxnSpPr>
          <p:cNvPr id="872" name="Shape 872"/>
          <p:cNvCxnSpPr/>
          <p:nvPr/>
        </p:nvCxnSpPr>
        <p:spPr>
          <a:xfrm rot="10800000">
            <a:off x="2339975" y="4868861"/>
            <a:ext cx="0" cy="360362"/>
          </a:xfrm>
          <a:prstGeom prst="straightConnector1">
            <a:avLst/>
          </a:prstGeom>
          <a:noFill/>
          <a:ln cap="flat" cmpd="sng" w="9525">
            <a:solidFill>
              <a:schemeClr val="dk1"/>
            </a:solidFill>
            <a:prstDash val="solid"/>
            <a:miter/>
            <a:headEnd len="med" w="med" type="none"/>
            <a:tailEnd len="lg" w="lg" type="triangle"/>
          </a:ln>
        </p:spPr>
      </p:cxnSp>
      <p:cxnSp>
        <p:nvCxnSpPr>
          <p:cNvPr id="873" name="Shape 873"/>
          <p:cNvCxnSpPr/>
          <p:nvPr/>
        </p:nvCxnSpPr>
        <p:spPr>
          <a:xfrm rot="10800000">
            <a:off x="2843211" y="4941886"/>
            <a:ext cx="0" cy="360362"/>
          </a:xfrm>
          <a:prstGeom prst="straightConnector1">
            <a:avLst/>
          </a:prstGeom>
          <a:noFill/>
          <a:ln cap="flat" cmpd="sng" w="9525">
            <a:solidFill>
              <a:schemeClr val="dk1"/>
            </a:solidFill>
            <a:prstDash val="solid"/>
            <a:miter/>
            <a:headEnd len="med" w="med" type="none"/>
            <a:tailEnd len="lg" w="lg" type="triangle"/>
          </a:ln>
        </p:spPr>
      </p:cxnSp>
      <p:cxnSp>
        <p:nvCxnSpPr>
          <p:cNvPr id="874" name="Shape 874"/>
          <p:cNvCxnSpPr/>
          <p:nvPr/>
        </p:nvCxnSpPr>
        <p:spPr>
          <a:xfrm rot="10800000">
            <a:off x="3419475" y="4868861"/>
            <a:ext cx="0" cy="360362"/>
          </a:xfrm>
          <a:prstGeom prst="straightConnector1">
            <a:avLst/>
          </a:prstGeom>
          <a:noFill/>
          <a:ln cap="flat" cmpd="sng" w="9525">
            <a:solidFill>
              <a:schemeClr val="dk1"/>
            </a:solidFill>
            <a:prstDash val="solid"/>
            <a:miter/>
            <a:headEnd len="med" w="med" type="none"/>
            <a:tailEnd len="lg" w="lg" type="triangle"/>
          </a:ln>
        </p:spPr>
      </p:cxnSp>
      <p:pic>
        <p:nvPicPr>
          <p:cNvPr id="875" name="Shape 875"/>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79" name="Shape 879"/>
        <p:cNvGrpSpPr/>
        <p:nvPr/>
      </p:nvGrpSpPr>
      <p:grpSpPr>
        <a:xfrm>
          <a:off x="0" y="0"/>
          <a:ext cx="0" cy="0"/>
          <a:chOff x="0" y="0"/>
          <a:chExt cx="0" cy="0"/>
        </a:xfrm>
      </p:grpSpPr>
      <p:sp>
        <p:nvSpPr>
          <p:cNvPr id="880" name="Shape 880"/>
          <p:cNvSpPr txBox="1"/>
          <p:nvPr>
            <p:ph idx="4294967295" type="title"/>
          </p:nvPr>
        </p:nvSpPr>
        <p:spPr>
          <a:xfrm>
            <a:off x="250825" y="260350"/>
            <a:ext cx="3851274" cy="1295400"/>
          </a:xfrm>
          <a:prstGeom prst="rect">
            <a:avLst/>
          </a:prstGeom>
          <a:noFill/>
          <a:ln>
            <a:noFill/>
          </a:ln>
        </p:spPr>
        <p:txBody>
          <a:bodyPr anchorCtr="0" anchor="b" bIns="45700" lIns="91425" rIns="91425" tIns="45700">
            <a:noAutofit/>
          </a:bodyPr>
          <a:lstStyle/>
          <a:p>
            <a:pPr indent="0" lvl="0" marL="0" marR="0" rtl="0" algn="ctr">
              <a:lnSpc>
                <a:spcPct val="9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MONOPOLIO</a:t>
            </a:r>
            <a:br>
              <a:rPr b="1" i="0" lang="en-US" sz="3500" u="none" cap="none" strike="noStrike">
                <a:solidFill>
                  <a:schemeClr val="dk2"/>
                </a:solidFill>
                <a:latin typeface="Arial"/>
                <a:ea typeface="Arial"/>
                <a:cs typeface="Arial"/>
                <a:sym typeface="Arial"/>
              </a:rPr>
            </a:br>
            <a:r>
              <a:rPr b="1" i="0" lang="en-US" sz="2400" u="none" cap="none" strike="noStrike">
                <a:solidFill>
                  <a:schemeClr val="dk2"/>
                </a:solidFill>
                <a:latin typeface="Arial"/>
                <a:ea typeface="Arial"/>
                <a:cs typeface="Arial"/>
                <a:sym typeface="Arial"/>
              </a:rPr>
              <a:t>CONTROL DEL ESTADO</a:t>
            </a:r>
            <a:r>
              <a:rPr b="1" i="0" lang="en-US" sz="3500" u="none" cap="none" strike="noStrike">
                <a:solidFill>
                  <a:schemeClr val="dk2"/>
                </a:solidFill>
                <a:latin typeface="Arial"/>
                <a:ea typeface="Arial"/>
                <a:cs typeface="Arial"/>
                <a:sym typeface="Arial"/>
              </a:rPr>
              <a:t> </a:t>
            </a:r>
            <a:br>
              <a:rPr b="1" i="0" lang="en-US" sz="3500" u="none" cap="none" strike="noStrike">
                <a:solidFill>
                  <a:schemeClr val="dk2"/>
                </a:solidFill>
                <a:latin typeface="Arial"/>
                <a:ea typeface="Arial"/>
                <a:cs typeface="Arial"/>
                <a:sym typeface="Arial"/>
              </a:rPr>
            </a:br>
            <a:r>
              <a:rPr b="1" i="0" lang="en-US" sz="2000" u="none" cap="none" strike="noStrike">
                <a:solidFill>
                  <a:schemeClr val="dk2"/>
                </a:solidFill>
                <a:latin typeface="Arial"/>
                <a:ea typeface="Arial"/>
                <a:cs typeface="Arial"/>
                <a:sym typeface="Arial"/>
              </a:rPr>
              <a:t>IMPUESTO INDIRECTO</a:t>
            </a:r>
          </a:p>
        </p:txBody>
      </p:sp>
      <p:sp>
        <p:nvSpPr>
          <p:cNvPr id="881" name="Shape 881"/>
          <p:cNvSpPr txBox="1"/>
          <p:nvPr>
            <p:ph idx="4294967295" type="body"/>
          </p:nvPr>
        </p:nvSpPr>
        <p:spPr>
          <a:xfrm>
            <a:off x="5105400" y="1700211"/>
            <a:ext cx="4038599" cy="4411661"/>
          </a:xfrm>
          <a:prstGeom prst="rect">
            <a:avLst/>
          </a:prstGeom>
          <a:noFill/>
          <a:ln>
            <a:noFill/>
          </a:ln>
        </p:spPr>
        <p:txBody>
          <a:bodyPr anchorCtr="0" anchor="t" bIns="45700" lIns="91425" rIns="91425" tIns="45700">
            <a:noAutofit/>
          </a:bodyPr>
          <a:lstStyle/>
          <a:p>
            <a:pPr indent="-342900" lvl="0" marL="342900" marR="0" rtl="0" algn="l">
              <a:lnSpc>
                <a:spcPct val="75000"/>
              </a:lnSpc>
              <a:spcBef>
                <a:spcPts val="0"/>
              </a:spcBef>
              <a:spcAft>
                <a:spcPts val="0"/>
              </a:spcAft>
              <a:buClr>
                <a:schemeClr val="dk2"/>
              </a:buClr>
              <a:buSzPct val="25000"/>
              <a:buFont typeface="Noto Sans Symbols"/>
              <a:buNone/>
            </a:pPr>
            <a:r>
              <a:rPr b="0" i="0" lang="en-US" sz="2000" u="none" cap="none" strike="noStrike">
                <a:solidFill>
                  <a:schemeClr val="dk2"/>
                </a:solidFill>
                <a:latin typeface="Arial"/>
                <a:ea typeface="Arial"/>
                <a:cs typeface="Arial"/>
                <a:sym typeface="Arial"/>
              </a:rPr>
              <a:t>El estado puede intervenir en el mercado</a:t>
            </a:r>
            <a:r>
              <a:rPr b="0" i="0" lang="en-US" sz="2000" u="none" cap="none" strike="noStrike">
                <a:solidFill>
                  <a:schemeClr val="dk1"/>
                </a:solidFill>
                <a:latin typeface="Arial"/>
                <a:ea typeface="Arial"/>
                <a:cs typeface="Arial"/>
                <a:sym typeface="Arial"/>
              </a:rPr>
              <a:t> </a:t>
            </a:r>
            <a:r>
              <a:rPr b="0" i="0" lang="en-US" sz="2000" u="none" cap="none" strike="noStrike">
                <a:solidFill>
                  <a:schemeClr val="dk2"/>
                </a:solidFill>
                <a:latin typeface="Arial"/>
                <a:ea typeface="Arial"/>
                <a:cs typeface="Arial"/>
                <a:sym typeface="Arial"/>
              </a:rPr>
              <a:t>obligando al monopolista a pagar un impuesto indirecto</a:t>
            </a:r>
          </a:p>
          <a:p>
            <a:pPr indent="-342900" lvl="0" marL="342900" marR="0" rtl="0" algn="l">
              <a:lnSpc>
                <a:spcPct val="75000"/>
              </a:lnSpc>
              <a:spcBef>
                <a:spcPts val="400"/>
              </a:spcBef>
              <a:spcAft>
                <a:spcPts val="0"/>
              </a:spcAft>
              <a:buClr>
                <a:schemeClr val="dk2"/>
              </a:buClr>
              <a:buSzPct val="25000"/>
              <a:buFont typeface="Noto Sans Symbols"/>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75000"/>
              </a:lnSpc>
              <a:spcBef>
                <a:spcPts val="400"/>
              </a:spcBef>
              <a:spcAft>
                <a:spcPts val="0"/>
              </a:spcAft>
              <a:buClr>
                <a:schemeClr val="dk2"/>
              </a:buClr>
              <a:buSzPct val="25000"/>
              <a:buFont typeface="Noto Sans Symbols"/>
              <a:buNone/>
            </a:pPr>
            <a:r>
              <a:rPr b="0" i="0" lang="en-US" sz="2000" u="none" cap="none" strike="noStrike">
                <a:solidFill>
                  <a:schemeClr val="dk1"/>
                </a:solidFill>
                <a:latin typeface="Arial"/>
                <a:ea typeface="Arial"/>
                <a:cs typeface="Arial"/>
                <a:sym typeface="Arial"/>
              </a:rPr>
              <a:t>Esto aumentará el CVme y en consecuencia el Cma, el monopolista reducirá el nivel de actividad, aumentando el precio para que el consumidor sea el que pague el impuesto.</a:t>
            </a:r>
          </a:p>
          <a:p>
            <a:pPr indent="-342900" lvl="0" marL="342900" marR="0" rtl="0" algn="l">
              <a:lnSpc>
                <a:spcPct val="100000"/>
              </a:lnSpc>
              <a:spcBef>
                <a:spcPts val="400"/>
              </a:spcBef>
              <a:spcAft>
                <a:spcPts val="0"/>
              </a:spcAft>
              <a:buClr>
                <a:schemeClr val="dk2"/>
              </a:buClr>
              <a:buSzPct val="70000"/>
              <a:buFont typeface="Noto Sans Symbols"/>
              <a:buNone/>
            </a:pPr>
            <a:r>
              <a:t/>
            </a:r>
            <a:endParaRPr b="0" i="0" sz="2000" u="none" cap="none" strike="noStrike">
              <a:solidFill>
                <a:schemeClr val="dk1"/>
              </a:solidFill>
              <a:latin typeface="Arial"/>
              <a:ea typeface="Arial"/>
              <a:cs typeface="Arial"/>
              <a:sym typeface="Arial"/>
            </a:endParaRPr>
          </a:p>
        </p:txBody>
      </p:sp>
      <p:cxnSp>
        <p:nvCxnSpPr>
          <p:cNvPr id="882" name="Shape 882"/>
          <p:cNvCxnSpPr/>
          <p:nvPr/>
        </p:nvCxnSpPr>
        <p:spPr>
          <a:xfrm>
            <a:off x="1187450" y="17002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883" name="Shape 883"/>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884" name="Shape 884"/>
          <p:cNvCxnSpPr/>
          <p:nvPr/>
        </p:nvCxnSpPr>
        <p:spPr>
          <a:xfrm>
            <a:off x="1187450" y="2420936"/>
            <a:ext cx="3529012" cy="3529012"/>
          </a:xfrm>
          <a:prstGeom prst="straightConnector1">
            <a:avLst/>
          </a:prstGeom>
          <a:noFill/>
          <a:ln cap="flat" cmpd="sng" w="41275">
            <a:solidFill>
              <a:srgbClr val="FF9900"/>
            </a:solidFill>
            <a:prstDash val="solid"/>
            <a:miter/>
            <a:headEnd len="med" w="med" type="none"/>
            <a:tailEnd len="med" w="med" type="none"/>
          </a:ln>
        </p:spPr>
      </p:cxnSp>
      <p:cxnSp>
        <p:nvCxnSpPr>
          <p:cNvPr id="885" name="Shape 885"/>
          <p:cNvCxnSpPr/>
          <p:nvPr/>
        </p:nvCxnSpPr>
        <p:spPr>
          <a:xfrm>
            <a:off x="1187450" y="2420936"/>
            <a:ext cx="2016124" cy="4437062"/>
          </a:xfrm>
          <a:prstGeom prst="straightConnector1">
            <a:avLst/>
          </a:prstGeom>
          <a:noFill/>
          <a:ln cap="flat" cmpd="sng" w="38100">
            <a:solidFill>
              <a:schemeClr val="dk1"/>
            </a:solidFill>
            <a:prstDash val="solid"/>
            <a:miter/>
            <a:headEnd len="med" w="med" type="none"/>
            <a:tailEnd len="med" w="med" type="none"/>
          </a:ln>
        </p:spPr>
      </p:cxnSp>
      <p:sp>
        <p:nvSpPr>
          <p:cNvPr id="886" name="Shape 886"/>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887" name="Shape 887"/>
          <p:cNvSpPr txBox="1"/>
          <p:nvPr/>
        </p:nvSpPr>
        <p:spPr>
          <a:xfrm>
            <a:off x="4213225"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888" name="Shape 888"/>
          <p:cNvSpPr txBox="1"/>
          <p:nvPr/>
        </p:nvSpPr>
        <p:spPr>
          <a:xfrm>
            <a:off x="36511" y="4797425"/>
            <a:ext cx="223202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COSTO MARGINAL 2</a:t>
            </a:r>
          </a:p>
        </p:txBody>
      </p:sp>
      <p:sp>
        <p:nvSpPr>
          <p:cNvPr id="889" name="Shape 889"/>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sp>
        <p:nvSpPr>
          <p:cNvPr id="890" name="Shape 890"/>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INGRESO MARGINAL</a:t>
            </a:r>
          </a:p>
        </p:txBody>
      </p:sp>
      <p:sp>
        <p:nvSpPr>
          <p:cNvPr id="891" name="Shape 891"/>
          <p:cNvSpPr txBox="1"/>
          <p:nvPr/>
        </p:nvSpPr>
        <p:spPr>
          <a:xfrm>
            <a:off x="755650" y="3716337"/>
            <a:ext cx="503236"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sp>
        <p:nvSpPr>
          <p:cNvPr id="892" name="Shape 892"/>
          <p:cNvSpPr txBox="1"/>
          <p:nvPr/>
        </p:nvSpPr>
        <p:spPr>
          <a:xfrm>
            <a:off x="2484436" y="5876925"/>
            <a:ext cx="35877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893" name="Shape 893"/>
          <p:cNvSpPr/>
          <p:nvPr/>
        </p:nvSpPr>
        <p:spPr>
          <a:xfrm>
            <a:off x="1258887" y="4365625"/>
            <a:ext cx="3133724" cy="1414462"/>
          </a:xfrm>
          <a:custGeom>
            <a:pathLst>
              <a:path extrusionOk="0" h="120000" w="120000">
                <a:moveTo>
                  <a:pt x="0" y="105454"/>
                </a:moveTo>
                <a:cubicBezTo>
                  <a:pt x="3404" y="107609"/>
                  <a:pt x="14285" y="116228"/>
                  <a:pt x="20668" y="118114"/>
                </a:cubicBezTo>
                <a:cubicBezTo>
                  <a:pt x="27051" y="119999"/>
                  <a:pt x="33130" y="119461"/>
                  <a:pt x="38480" y="116902"/>
                </a:cubicBezTo>
                <a:cubicBezTo>
                  <a:pt x="43829" y="114343"/>
                  <a:pt x="46079" y="111515"/>
                  <a:pt x="52826" y="102895"/>
                </a:cubicBezTo>
                <a:cubicBezTo>
                  <a:pt x="59574" y="94276"/>
                  <a:pt x="67781" y="81885"/>
                  <a:pt x="78966" y="64781"/>
                </a:cubicBezTo>
                <a:cubicBezTo>
                  <a:pt x="90151" y="47676"/>
                  <a:pt x="111489" y="13468"/>
                  <a:pt x="120000" y="0"/>
                </a:cubicBezTo>
              </a:path>
            </a:pathLst>
          </a:custGeom>
          <a:noFill/>
          <a:ln cap="flat" cmpd="sng" w="38100">
            <a:solidFill>
              <a:srgbClr val="00FF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94" name="Shape 894"/>
          <p:cNvSpPr txBox="1"/>
          <p:nvPr/>
        </p:nvSpPr>
        <p:spPr>
          <a:xfrm>
            <a:off x="-36511" y="5229225"/>
            <a:ext cx="237648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COSTO MARGINAL 1</a:t>
            </a:r>
          </a:p>
        </p:txBody>
      </p:sp>
      <p:cxnSp>
        <p:nvCxnSpPr>
          <p:cNvPr id="895" name="Shape 895"/>
          <p:cNvCxnSpPr/>
          <p:nvPr/>
        </p:nvCxnSpPr>
        <p:spPr>
          <a:xfrm>
            <a:off x="2627311" y="3860800"/>
            <a:ext cx="0" cy="2089150"/>
          </a:xfrm>
          <a:prstGeom prst="straightConnector1">
            <a:avLst/>
          </a:prstGeom>
          <a:noFill/>
          <a:ln cap="flat" cmpd="sng" w="9525">
            <a:solidFill>
              <a:schemeClr val="dk1"/>
            </a:solidFill>
            <a:prstDash val="solid"/>
            <a:miter/>
            <a:headEnd len="med" w="med" type="none"/>
            <a:tailEnd len="med" w="med" type="none"/>
          </a:ln>
        </p:spPr>
      </p:cxnSp>
      <p:cxnSp>
        <p:nvCxnSpPr>
          <p:cNvPr id="896" name="Shape 896"/>
          <p:cNvCxnSpPr/>
          <p:nvPr/>
        </p:nvCxnSpPr>
        <p:spPr>
          <a:xfrm>
            <a:off x="1187450" y="3860800"/>
            <a:ext cx="1439862" cy="0"/>
          </a:xfrm>
          <a:prstGeom prst="straightConnector1">
            <a:avLst/>
          </a:prstGeom>
          <a:noFill/>
          <a:ln cap="flat" cmpd="sng" w="9525">
            <a:solidFill>
              <a:schemeClr val="dk1"/>
            </a:solidFill>
            <a:prstDash val="solid"/>
            <a:miter/>
            <a:headEnd len="med" w="med" type="none"/>
            <a:tailEnd len="med" w="med" type="none"/>
          </a:ln>
        </p:spPr>
      </p:cxnSp>
      <p:sp>
        <p:nvSpPr>
          <p:cNvPr id="897" name="Shape 897"/>
          <p:cNvSpPr txBox="1"/>
          <p:nvPr/>
        </p:nvSpPr>
        <p:spPr>
          <a:xfrm>
            <a:off x="2773361" y="5445125"/>
            <a:ext cx="862011" cy="35877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Ima  = Cma</a:t>
            </a:r>
          </a:p>
        </p:txBody>
      </p:sp>
      <p:sp>
        <p:nvSpPr>
          <p:cNvPr id="898" name="Shape 898"/>
          <p:cNvSpPr/>
          <p:nvPr/>
        </p:nvSpPr>
        <p:spPr>
          <a:xfrm>
            <a:off x="1258887" y="4365625"/>
            <a:ext cx="3133724" cy="1414462"/>
          </a:xfrm>
          <a:custGeom>
            <a:pathLst>
              <a:path extrusionOk="0" h="120000" w="120000">
                <a:moveTo>
                  <a:pt x="0" y="105454"/>
                </a:moveTo>
                <a:cubicBezTo>
                  <a:pt x="3404" y="107609"/>
                  <a:pt x="14285" y="116228"/>
                  <a:pt x="20668" y="118114"/>
                </a:cubicBezTo>
                <a:cubicBezTo>
                  <a:pt x="27051" y="119999"/>
                  <a:pt x="33130" y="119461"/>
                  <a:pt x="38480" y="116902"/>
                </a:cubicBezTo>
                <a:cubicBezTo>
                  <a:pt x="43829" y="114343"/>
                  <a:pt x="46079" y="111515"/>
                  <a:pt x="52826" y="102895"/>
                </a:cubicBezTo>
                <a:cubicBezTo>
                  <a:pt x="59574" y="94276"/>
                  <a:pt x="67781" y="81885"/>
                  <a:pt x="78966" y="64781"/>
                </a:cubicBezTo>
                <a:cubicBezTo>
                  <a:pt x="90151" y="47676"/>
                  <a:pt x="111489" y="13468"/>
                  <a:pt x="120000" y="0"/>
                </a:cubicBezTo>
              </a:path>
            </a:pathLst>
          </a:custGeom>
          <a:noFill/>
          <a:ln cap="flat" cmpd="sng" w="4127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899" name="Shape 899"/>
          <p:cNvCxnSpPr/>
          <p:nvPr/>
        </p:nvCxnSpPr>
        <p:spPr>
          <a:xfrm>
            <a:off x="2411411" y="3644900"/>
            <a:ext cx="0" cy="2305050"/>
          </a:xfrm>
          <a:prstGeom prst="straightConnector1">
            <a:avLst/>
          </a:prstGeom>
          <a:noFill/>
          <a:ln cap="flat" cmpd="sng" w="9525">
            <a:solidFill>
              <a:schemeClr val="dk1"/>
            </a:solidFill>
            <a:prstDash val="solid"/>
            <a:miter/>
            <a:headEnd len="med" w="med" type="none"/>
            <a:tailEnd len="med" w="med" type="none"/>
          </a:ln>
        </p:spPr>
      </p:cxnSp>
      <p:cxnSp>
        <p:nvCxnSpPr>
          <p:cNvPr id="900" name="Shape 900"/>
          <p:cNvCxnSpPr/>
          <p:nvPr/>
        </p:nvCxnSpPr>
        <p:spPr>
          <a:xfrm>
            <a:off x="1187450" y="3644900"/>
            <a:ext cx="1223961" cy="0"/>
          </a:xfrm>
          <a:prstGeom prst="straightConnector1">
            <a:avLst/>
          </a:prstGeom>
          <a:noFill/>
          <a:ln cap="flat" cmpd="sng" w="9525">
            <a:solidFill>
              <a:schemeClr val="dk1"/>
            </a:solidFill>
            <a:prstDash val="solid"/>
            <a:miter/>
            <a:headEnd len="med" w="med" type="none"/>
            <a:tailEnd len="med" w="med" type="none"/>
          </a:ln>
        </p:spPr>
      </p:cxnSp>
      <p:sp>
        <p:nvSpPr>
          <p:cNvPr id="901" name="Shape 901"/>
          <p:cNvSpPr txBox="1"/>
          <p:nvPr/>
        </p:nvSpPr>
        <p:spPr>
          <a:xfrm>
            <a:off x="755650" y="3573462"/>
            <a:ext cx="503236"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P2</a:t>
            </a:r>
          </a:p>
        </p:txBody>
      </p:sp>
      <p:sp>
        <p:nvSpPr>
          <p:cNvPr id="902" name="Shape 902"/>
          <p:cNvSpPr txBox="1"/>
          <p:nvPr/>
        </p:nvSpPr>
        <p:spPr>
          <a:xfrm>
            <a:off x="2197100" y="5876925"/>
            <a:ext cx="358775"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Q2</a:t>
            </a:r>
          </a:p>
        </p:txBody>
      </p:sp>
      <p:pic>
        <p:nvPicPr>
          <p:cNvPr id="903" name="Shape 903"/>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07" name="Shape 907"/>
        <p:cNvGrpSpPr/>
        <p:nvPr/>
      </p:nvGrpSpPr>
      <p:grpSpPr>
        <a:xfrm>
          <a:off x="0" y="0"/>
          <a:ext cx="0" cy="0"/>
          <a:chOff x="0" y="0"/>
          <a:chExt cx="0" cy="0"/>
        </a:xfrm>
      </p:grpSpPr>
      <p:sp>
        <p:nvSpPr>
          <p:cNvPr id="908" name="Shape 908"/>
          <p:cNvSpPr txBox="1"/>
          <p:nvPr>
            <p:ph idx="4294967295" type="title"/>
          </p:nvPr>
        </p:nvSpPr>
        <p:spPr>
          <a:xfrm>
            <a:off x="250825" y="260350"/>
            <a:ext cx="4365624" cy="1512886"/>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MONOPOLIO </a:t>
            </a:r>
            <a:br>
              <a:rPr b="1" i="0" lang="en-US" sz="3900" u="none" cap="none" strike="noStrike">
                <a:solidFill>
                  <a:schemeClr val="dk2"/>
                </a:solidFill>
                <a:latin typeface="Arial"/>
                <a:ea typeface="Arial"/>
                <a:cs typeface="Arial"/>
                <a:sym typeface="Arial"/>
              </a:rPr>
            </a:br>
            <a:r>
              <a:rPr b="1" i="0" lang="en-US" sz="2800" u="none" cap="none" strike="noStrike">
                <a:solidFill>
                  <a:schemeClr val="dk2"/>
                </a:solidFill>
                <a:latin typeface="Arial"/>
                <a:ea typeface="Arial"/>
                <a:cs typeface="Arial"/>
                <a:sym typeface="Arial"/>
              </a:rPr>
              <a:t>CONTROL DEL ESTADO</a:t>
            </a:r>
            <a:br>
              <a:rPr b="1" i="0" lang="en-US" sz="3900" u="none" cap="none" strike="noStrike">
                <a:solidFill>
                  <a:schemeClr val="dk2"/>
                </a:solidFill>
                <a:latin typeface="Arial"/>
                <a:ea typeface="Arial"/>
                <a:cs typeface="Arial"/>
                <a:sym typeface="Arial"/>
              </a:rPr>
            </a:br>
            <a:r>
              <a:rPr b="1" i="0" lang="en-US" sz="2400" u="none" cap="none" strike="noStrike">
                <a:solidFill>
                  <a:schemeClr val="dk2"/>
                </a:solidFill>
                <a:latin typeface="Arial"/>
                <a:ea typeface="Arial"/>
                <a:cs typeface="Arial"/>
                <a:sym typeface="Arial"/>
              </a:rPr>
              <a:t>PRECIOS MAXIMOS</a:t>
            </a:r>
          </a:p>
        </p:txBody>
      </p:sp>
      <p:sp>
        <p:nvSpPr>
          <p:cNvPr id="909" name="Shape 909"/>
          <p:cNvSpPr txBox="1"/>
          <p:nvPr>
            <p:ph idx="4294967295" type="body"/>
          </p:nvPr>
        </p:nvSpPr>
        <p:spPr>
          <a:xfrm>
            <a:off x="4706937" y="1719261"/>
            <a:ext cx="4618036" cy="3222625"/>
          </a:xfrm>
          <a:prstGeom prst="rect">
            <a:avLst/>
          </a:prstGeom>
          <a:noFill/>
          <a:ln>
            <a:noFill/>
          </a:ln>
        </p:spPr>
        <p:txBody>
          <a:bodyPr anchorCtr="0" anchor="t" bIns="45700" lIns="91425" rIns="91425" tIns="45700">
            <a:noAutofit/>
          </a:bodyPr>
          <a:lstStyle/>
          <a:p>
            <a:pPr indent="-342900" lvl="0" marL="342900" marR="0" rtl="0" algn="l">
              <a:lnSpc>
                <a:spcPct val="75000"/>
              </a:lnSpc>
              <a:spcBef>
                <a:spcPts val="0"/>
              </a:spcBef>
              <a:spcAft>
                <a:spcPts val="0"/>
              </a:spcAft>
              <a:buClr>
                <a:schemeClr val="dk2"/>
              </a:buClr>
              <a:buSzPct val="25000"/>
              <a:buFont typeface="Noto Sans Symbols"/>
              <a:buNone/>
            </a:pPr>
            <a:r>
              <a:rPr b="0" i="0" lang="en-US" sz="1800" u="none" cap="none" strike="noStrike">
                <a:solidFill>
                  <a:srgbClr val="F20EC7"/>
                </a:solidFill>
                <a:latin typeface="Arial"/>
                <a:ea typeface="Arial"/>
                <a:cs typeface="Arial"/>
                <a:sym typeface="Arial"/>
              </a:rPr>
              <a:t>El estado puede intervenir en el mercado monopólico regulando tarifas (precios).</a:t>
            </a:r>
          </a:p>
          <a:p>
            <a:pPr indent="-342900" lvl="0" marL="342900" marR="0" rtl="0" algn="l">
              <a:lnSpc>
                <a:spcPct val="80000"/>
              </a:lnSpc>
              <a:spcBef>
                <a:spcPts val="360"/>
              </a:spcBef>
              <a:spcAft>
                <a:spcPts val="0"/>
              </a:spcAft>
              <a:buClr>
                <a:schemeClr val="dk2"/>
              </a:buClr>
              <a:buSzPct val="70000"/>
              <a:buFont typeface="Noto Sans Symbols"/>
              <a:buAutoNum type="arabicPeriod"/>
            </a:pPr>
            <a:r>
              <a:rPr b="0" i="0" lang="en-US" sz="1800" u="none" cap="none" strike="noStrike">
                <a:solidFill>
                  <a:schemeClr val="dk1"/>
                </a:solidFill>
                <a:latin typeface="Arial"/>
                <a:ea typeface="Arial"/>
                <a:cs typeface="Arial"/>
                <a:sym typeface="Arial"/>
              </a:rPr>
              <a:t>Regla del costo marginal </a:t>
            </a:r>
          </a:p>
          <a:p>
            <a:pPr indent="-342900" lvl="0" marL="342900" marR="0" rtl="0" algn="l">
              <a:lnSpc>
                <a:spcPct val="80000"/>
              </a:lnSpc>
              <a:spcBef>
                <a:spcPts val="36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                       P = Cma</a:t>
            </a:r>
          </a:p>
          <a:p>
            <a:pPr indent="-342900" lvl="0" marL="342900" marR="0" rtl="0" algn="l">
              <a:lnSpc>
                <a:spcPct val="80000"/>
              </a:lnSpc>
              <a:spcBef>
                <a:spcPts val="36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El monopolista recibirá beneficios en los términos de un mercado competitivo.</a:t>
            </a:r>
          </a:p>
          <a:p>
            <a:pPr indent="-342900" lvl="0" marL="342900" marR="0" rtl="0" algn="l">
              <a:lnSpc>
                <a:spcPct val="80000"/>
              </a:lnSpc>
              <a:spcBef>
                <a:spcPts val="360"/>
              </a:spcBef>
              <a:spcAft>
                <a:spcPts val="0"/>
              </a:spcAft>
              <a:buClr>
                <a:schemeClr val="dk2"/>
              </a:buClr>
              <a:buSzPct val="25000"/>
              <a:buFont typeface="Noto Sans Symbols"/>
              <a:buNone/>
            </a:pPr>
            <a:r>
              <a:t/>
            </a:r>
            <a:endParaRPr b="0" i="0" sz="1800" u="none" cap="none" strike="noStrike">
              <a:solidFill>
                <a:srgbClr val="07F907"/>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70000"/>
              <a:buFont typeface="Noto Sans Symbols"/>
              <a:buAutoNum type="arabicPeriod" startAt="2"/>
            </a:pPr>
            <a:r>
              <a:rPr b="0" i="0" lang="en-US" sz="1800" u="none" cap="none" strike="noStrike">
                <a:solidFill>
                  <a:schemeClr val="dk1"/>
                </a:solidFill>
                <a:latin typeface="Arial"/>
                <a:ea typeface="Arial"/>
                <a:cs typeface="Arial"/>
                <a:sym typeface="Arial"/>
              </a:rPr>
              <a:t>Regla del costo medio</a:t>
            </a:r>
          </a:p>
          <a:p>
            <a:pPr indent="-342900" lvl="0" marL="342900" marR="0" rtl="0" algn="l">
              <a:lnSpc>
                <a:spcPct val="80000"/>
              </a:lnSpc>
              <a:spcBef>
                <a:spcPts val="36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                      P = Cme</a:t>
            </a:r>
          </a:p>
          <a:p>
            <a:pPr indent="-342900" lvl="0" marL="342900" marR="0" rtl="0" algn="l">
              <a:lnSpc>
                <a:spcPct val="80000"/>
              </a:lnSpc>
              <a:spcBef>
                <a:spcPts val="36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El monopolista recibirá solo beneficios normales</a:t>
            </a:r>
          </a:p>
        </p:txBody>
      </p:sp>
      <p:cxnSp>
        <p:nvCxnSpPr>
          <p:cNvPr id="910" name="Shape 910"/>
          <p:cNvCxnSpPr/>
          <p:nvPr/>
        </p:nvCxnSpPr>
        <p:spPr>
          <a:xfrm>
            <a:off x="1187450" y="1916111"/>
            <a:ext cx="0" cy="4249737"/>
          </a:xfrm>
          <a:prstGeom prst="straightConnector1">
            <a:avLst/>
          </a:prstGeom>
          <a:noFill/>
          <a:ln cap="flat" cmpd="sng" w="9525">
            <a:solidFill>
              <a:schemeClr val="dk1"/>
            </a:solidFill>
            <a:prstDash val="solid"/>
            <a:miter/>
            <a:headEnd len="med" w="med" type="none"/>
            <a:tailEnd len="med" w="med" type="none"/>
          </a:ln>
        </p:spPr>
      </p:cxnSp>
      <p:cxnSp>
        <p:nvCxnSpPr>
          <p:cNvPr id="911" name="Shape 911"/>
          <p:cNvCxnSpPr/>
          <p:nvPr/>
        </p:nvCxnSpPr>
        <p:spPr>
          <a:xfrm>
            <a:off x="1042987" y="5949950"/>
            <a:ext cx="4392611" cy="0"/>
          </a:xfrm>
          <a:prstGeom prst="straightConnector1">
            <a:avLst/>
          </a:prstGeom>
          <a:noFill/>
          <a:ln cap="flat" cmpd="sng" w="9525">
            <a:solidFill>
              <a:schemeClr val="dk1"/>
            </a:solidFill>
            <a:prstDash val="solid"/>
            <a:miter/>
            <a:headEnd len="med" w="med" type="none"/>
            <a:tailEnd len="med" w="med" type="none"/>
          </a:ln>
        </p:spPr>
      </p:cxnSp>
      <p:cxnSp>
        <p:nvCxnSpPr>
          <p:cNvPr id="912" name="Shape 912"/>
          <p:cNvCxnSpPr/>
          <p:nvPr/>
        </p:nvCxnSpPr>
        <p:spPr>
          <a:xfrm>
            <a:off x="1187450" y="2420936"/>
            <a:ext cx="3529012" cy="3529012"/>
          </a:xfrm>
          <a:prstGeom prst="straightConnector1">
            <a:avLst/>
          </a:prstGeom>
          <a:noFill/>
          <a:ln cap="flat" cmpd="sng" w="41275">
            <a:solidFill>
              <a:schemeClr val="dk1"/>
            </a:solidFill>
            <a:prstDash val="solid"/>
            <a:miter/>
            <a:headEnd len="med" w="med" type="none"/>
            <a:tailEnd len="med" w="med" type="none"/>
          </a:ln>
        </p:spPr>
      </p:cxnSp>
      <p:sp>
        <p:nvSpPr>
          <p:cNvPr id="913" name="Shape 913"/>
          <p:cNvSpPr/>
          <p:nvPr/>
        </p:nvSpPr>
        <p:spPr>
          <a:xfrm>
            <a:off x="1187450" y="3716337"/>
            <a:ext cx="3403599" cy="1703387"/>
          </a:xfrm>
          <a:custGeom>
            <a:pathLst>
              <a:path extrusionOk="0" h="120000" w="120000">
                <a:moveTo>
                  <a:pt x="0" y="101099"/>
                </a:moveTo>
                <a:cubicBezTo>
                  <a:pt x="2854" y="103895"/>
                  <a:pt x="11194" y="116197"/>
                  <a:pt x="17126" y="118098"/>
                </a:cubicBezTo>
                <a:cubicBezTo>
                  <a:pt x="23059" y="120000"/>
                  <a:pt x="28656" y="118769"/>
                  <a:pt x="35652" y="112842"/>
                </a:cubicBezTo>
                <a:cubicBezTo>
                  <a:pt x="42649" y="106915"/>
                  <a:pt x="50093" y="94613"/>
                  <a:pt x="59048" y="82870"/>
                </a:cubicBezTo>
                <a:cubicBezTo>
                  <a:pt x="68003" y="71127"/>
                  <a:pt x="80205" y="54911"/>
                  <a:pt x="89496" y="42273"/>
                </a:cubicBezTo>
                <a:cubicBezTo>
                  <a:pt x="98787" y="29636"/>
                  <a:pt x="109813" y="13420"/>
                  <a:pt x="114906" y="6710"/>
                </a:cubicBezTo>
                <a:cubicBezTo>
                  <a:pt x="120000" y="0"/>
                  <a:pt x="120000" y="782"/>
                  <a:pt x="120000" y="1677"/>
                </a:cubicBezTo>
              </a:path>
            </a:pathLst>
          </a:custGeom>
          <a:noFill/>
          <a:ln cap="flat" cmpd="sng" w="38100">
            <a:solidFill>
              <a:srgbClr val="07F907"/>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914" name="Shape 914"/>
          <p:cNvCxnSpPr/>
          <p:nvPr/>
        </p:nvCxnSpPr>
        <p:spPr>
          <a:xfrm>
            <a:off x="1187450" y="2420936"/>
            <a:ext cx="2089150" cy="4437062"/>
          </a:xfrm>
          <a:prstGeom prst="straightConnector1">
            <a:avLst/>
          </a:prstGeom>
          <a:noFill/>
          <a:ln cap="flat" cmpd="sng" w="38100">
            <a:solidFill>
              <a:srgbClr val="FF00FF"/>
            </a:solidFill>
            <a:prstDash val="solid"/>
            <a:miter/>
            <a:headEnd len="med" w="med" type="none"/>
            <a:tailEnd len="med" w="med" type="none"/>
          </a:ln>
        </p:spPr>
      </p:cxnSp>
      <p:sp>
        <p:nvSpPr>
          <p:cNvPr id="915" name="Shape 915"/>
          <p:cNvSpPr txBox="1"/>
          <p:nvPr/>
        </p:nvSpPr>
        <p:spPr>
          <a:xfrm>
            <a:off x="1116012" y="184467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916" name="Shape 916"/>
          <p:cNvSpPr txBox="1"/>
          <p:nvPr/>
        </p:nvSpPr>
        <p:spPr>
          <a:xfrm>
            <a:off x="3709987" y="5876925"/>
            <a:ext cx="165417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917" name="Shape 917"/>
          <p:cNvSpPr txBox="1"/>
          <p:nvPr/>
        </p:nvSpPr>
        <p:spPr>
          <a:xfrm>
            <a:off x="107950" y="5589587"/>
            <a:ext cx="2087562"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7F907"/>
              </a:buClr>
              <a:buSzPct val="25000"/>
              <a:buFont typeface="Arial"/>
              <a:buNone/>
            </a:pPr>
            <a:r>
              <a:rPr b="1" i="0" lang="en-US" sz="1800" u="none" cap="none" strike="noStrike">
                <a:solidFill>
                  <a:srgbClr val="07F907"/>
                </a:solidFill>
                <a:latin typeface="Arial"/>
                <a:ea typeface="Arial"/>
                <a:cs typeface="Arial"/>
                <a:sym typeface="Arial"/>
              </a:rPr>
              <a:t>COSTO MARGINAL</a:t>
            </a:r>
          </a:p>
        </p:txBody>
      </p:sp>
      <p:sp>
        <p:nvSpPr>
          <p:cNvPr id="918" name="Shape 918"/>
          <p:cNvSpPr txBox="1"/>
          <p:nvPr/>
        </p:nvSpPr>
        <p:spPr>
          <a:xfrm>
            <a:off x="1763711" y="2636836"/>
            <a:ext cx="1152525"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sp>
        <p:nvSpPr>
          <p:cNvPr id="919" name="Shape 919"/>
          <p:cNvSpPr txBox="1"/>
          <p:nvPr/>
        </p:nvSpPr>
        <p:spPr>
          <a:xfrm>
            <a:off x="3276600" y="6453187"/>
            <a:ext cx="2303461" cy="2158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20EC7"/>
              </a:buClr>
              <a:buSzPct val="25000"/>
              <a:buFont typeface="Arial"/>
              <a:buNone/>
            </a:pPr>
            <a:r>
              <a:rPr b="1" i="0" lang="en-US" sz="1800" u="none" cap="none" strike="noStrike">
                <a:solidFill>
                  <a:srgbClr val="F20EC7"/>
                </a:solidFill>
                <a:latin typeface="Arial"/>
                <a:ea typeface="Arial"/>
                <a:cs typeface="Arial"/>
                <a:sym typeface="Arial"/>
              </a:rPr>
              <a:t>INGRESO MARGINAL</a:t>
            </a:r>
          </a:p>
        </p:txBody>
      </p:sp>
      <p:cxnSp>
        <p:nvCxnSpPr>
          <p:cNvPr id="920" name="Shape 920"/>
          <p:cNvCxnSpPr/>
          <p:nvPr/>
        </p:nvCxnSpPr>
        <p:spPr>
          <a:xfrm>
            <a:off x="2484436" y="3716337"/>
            <a:ext cx="0" cy="2233612"/>
          </a:xfrm>
          <a:prstGeom prst="straightConnector1">
            <a:avLst/>
          </a:prstGeom>
          <a:noFill/>
          <a:ln cap="flat" cmpd="sng" w="9525">
            <a:solidFill>
              <a:schemeClr val="dk1"/>
            </a:solidFill>
            <a:prstDash val="solid"/>
            <a:miter/>
            <a:headEnd len="med" w="med" type="none"/>
            <a:tailEnd len="med" w="med" type="none"/>
          </a:ln>
        </p:spPr>
      </p:cxnSp>
      <p:sp>
        <p:nvSpPr>
          <p:cNvPr id="921" name="Shape 921"/>
          <p:cNvSpPr txBox="1"/>
          <p:nvPr/>
        </p:nvSpPr>
        <p:spPr>
          <a:xfrm>
            <a:off x="1979611" y="530225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Ima  = Cma</a:t>
            </a:r>
          </a:p>
        </p:txBody>
      </p:sp>
      <p:sp>
        <p:nvSpPr>
          <p:cNvPr id="922" name="Shape 922"/>
          <p:cNvSpPr txBox="1"/>
          <p:nvPr/>
        </p:nvSpPr>
        <p:spPr>
          <a:xfrm>
            <a:off x="395287" y="3429000"/>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cxnSp>
        <p:nvCxnSpPr>
          <p:cNvPr id="923" name="Shape 923"/>
          <p:cNvCxnSpPr/>
          <p:nvPr/>
        </p:nvCxnSpPr>
        <p:spPr>
          <a:xfrm rot="10800000">
            <a:off x="1187450" y="4581525"/>
            <a:ext cx="2160586" cy="0"/>
          </a:xfrm>
          <a:prstGeom prst="straightConnector1">
            <a:avLst/>
          </a:prstGeom>
          <a:noFill/>
          <a:ln cap="flat" cmpd="sng" w="9525">
            <a:solidFill>
              <a:srgbClr val="07F907"/>
            </a:solidFill>
            <a:prstDash val="solid"/>
            <a:miter/>
            <a:headEnd len="med" w="med" type="none"/>
            <a:tailEnd len="med" w="med" type="none"/>
          </a:ln>
        </p:spPr>
      </p:cxnSp>
      <p:cxnSp>
        <p:nvCxnSpPr>
          <p:cNvPr id="924" name="Shape 924"/>
          <p:cNvCxnSpPr/>
          <p:nvPr/>
        </p:nvCxnSpPr>
        <p:spPr>
          <a:xfrm>
            <a:off x="1187450" y="3716337"/>
            <a:ext cx="1296986" cy="0"/>
          </a:xfrm>
          <a:prstGeom prst="straightConnector1">
            <a:avLst/>
          </a:prstGeom>
          <a:noFill/>
          <a:ln cap="flat" cmpd="sng" w="9525">
            <a:solidFill>
              <a:schemeClr val="dk1"/>
            </a:solidFill>
            <a:prstDash val="solid"/>
            <a:miter/>
            <a:headEnd len="med" w="med" type="none"/>
            <a:tailEnd len="med" w="med" type="none"/>
          </a:ln>
        </p:spPr>
      </p:cxnSp>
      <p:sp>
        <p:nvSpPr>
          <p:cNvPr id="925" name="Shape 925"/>
          <p:cNvSpPr/>
          <p:nvPr/>
        </p:nvSpPr>
        <p:spPr>
          <a:xfrm>
            <a:off x="1619250" y="4437062"/>
            <a:ext cx="2428875" cy="700086"/>
          </a:xfrm>
          <a:custGeom>
            <a:pathLst>
              <a:path extrusionOk="0" h="120000" w="120000">
                <a:moveTo>
                  <a:pt x="0" y="0"/>
                </a:moveTo>
                <a:cubicBezTo>
                  <a:pt x="2117" y="10612"/>
                  <a:pt x="6117" y="45714"/>
                  <a:pt x="12549" y="64489"/>
                </a:cubicBezTo>
                <a:cubicBezTo>
                  <a:pt x="18980" y="83265"/>
                  <a:pt x="28156" y="106394"/>
                  <a:pt x="38509" y="113197"/>
                </a:cubicBezTo>
                <a:cubicBezTo>
                  <a:pt x="48862" y="119999"/>
                  <a:pt x="64470" y="111564"/>
                  <a:pt x="74823" y="105578"/>
                </a:cubicBezTo>
                <a:cubicBezTo>
                  <a:pt x="85176" y="99591"/>
                  <a:pt x="93176" y="88707"/>
                  <a:pt x="100705" y="77006"/>
                </a:cubicBezTo>
                <a:cubicBezTo>
                  <a:pt x="108235" y="65306"/>
                  <a:pt x="116000" y="44353"/>
                  <a:pt x="120000" y="35918"/>
                </a:cubicBezTo>
              </a:path>
            </a:pathLst>
          </a:custGeom>
          <a:noFill/>
          <a:ln cap="flat" cmpd="sng" w="38100">
            <a:solidFill>
              <a:schemeClr val="dk2"/>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26" name="Shape 926"/>
          <p:cNvSpPr txBox="1"/>
          <p:nvPr/>
        </p:nvSpPr>
        <p:spPr>
          <a:xfrm>
            <a:off x="323850" y="4581525"/>
            <a:ext cx="914400" cy="482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CC00"/>
              </a:buClr>
              <a:buSzPct val="25000"/>
              <a:buFont typeface="Arial"/>
              <a:buNone/>
            </a:pPr>
            <a:r>
              <a:rPr b="1" i="0" lang="en-US" sz="1800" u="none" cap="none" strike="noStrike">
                <a:solidFill>
                  <a:srgbClr val="FFCC00"/>
                </a:solidFill>
                <a:latin typeface="Arial"/>
                <a:ea typeface="Arial"/>
                <a:cs typeface="Arial"/>
                <a:sym typeface="Arial"/>
              </a:rPr>
              <a:t>P = Cme</a:t>
            </a:r>
          </a:p>
        </p:txBody>
      </p:sp>
      <p:sp>
        <p:nvSpPr>
          <p:cNvPr id="927" name="Shape 927"/>
          <p:cNvSpPr txBox="1"/>
          <p:nvPr/>
        </p:nvSpPr>
        <p:spPr>
          <a:xfrm>
            <a:off x="0" y="4365625"/>
            <a:ext cx="8635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7F907"/>
              </a:buClr>
              <a:buSzPct val="25000"/>
              <a:buFont typeface="Arial"/>
              <a:buNone/>
            </a:pPr>
            <a:r>
              <a:rPr b="1" i="0" lang="en-US" sz="1800" u="none" cap="none" strike="noStrike">
                <a:solidFill>
                  <a:srgbClr val="07F907"/>
                </a:solidFill>
                <a:latin typeface="Arial"/>
                <a:ea typeface="Arial"/>
                <a:cs typeface="Arial"/>
                <a:sym typeface="Arial"/>
              </a:rPr>
              <a:t>P = Cma</a:t>
            </a:r>
          </a:p>
        </p:txBody>
      </p:sp>
      <p:cxnSp>
        <p:nvCxnSpPr>
          <p:cNvPr id="928" name="Shape 928"/>
          <p:cNvCxnSpPr/>
          <p:nvPr/>
        </p:nvCxnSpPr>
        <p:spPr>
          <a:xfrm>
            <a:off x="539750" y="3716337"/>
            <a:ext cx="0" cy="792162"/>
          </a:xfrm>
          <a:prstGeom prst="straightConnector1">
            <a:avLst/>
          </a:prstGeom>
          <a:noFill/>
          <a:ln cap="flat" cmpd="sng" w="28575">
            <a:solidFill>
              <a:srgbClr val="07F907"/>
            </a:solidFill>
            <a:prstDash val="solid"/>
            <a:miter/>
            <a:headEnd len="med" w="med" type="none"/>
            <a:tailEnd len="lg" w="lg" type="triangle"/>
          </a:ln>
        </p:spPr>
      </p:cxnSp>
      <p:cxnSp>
        <p:nvCxnSpPr>
          <p:cNvPr id="929" name="Shape 929"/>
          <p:cNvCxnSpPr/>
          <p:nvPr/>
        </p:nvCxnSpPr>
        <p:spPr>
          <a:xfrm>
            <a:off x="1187450" y="4868862"/>
            <a:ext cx="2447925" cy="0"/>
          </a:xfrm>
          <a:prstGeom prst="straightConnector1">
            <a:avLst/>
          </a:prstGeom>
          <a:noFill/>
          <a:ln cap="flat" cmpd="sng" w="9525">
            <a:solidFill>
              <a:srgbClr val="FFCC00"/>
            </a:solidFill>
            <a:prstDash val="solid"/>
            <a:miter/>
            <a:headEnd len="med" w="med" type="none"/>
            <a:tailEnd len="med" w="med" type="none"/>
          </a:ln>
        </p:spPr>
      </p:cxnSp>
      <p:cxnSp>
        <p:nvCxnSpPr>
          <p:cNvPr id="930" name="Shape 930"/>
          <p:cNvCxnSpPr/>
          <p:nvPr/>
        </p:nvCxnSpPr>
        <p:spPr>
          <a:xfrm>
            <a:off x="1116012" y="3716337"/>
            <a:ext cx="0" cy="1042986"/>
          </a:xfrm>
          <a:prstGeom prst="straightConnector1">
            <a:avLst/>
          </a:prstGeom>
          <a:noFill/>
          <a:ln cap="flat" cmpd="sng" w="31750">
            <a:solidFill>
              <a:srgbClr val="FFCC00"/>
            </a:solidFill>
            <a:prstDash val="solid"/>
            <a:miter/>
            <a:headEnd len="med" w="med" type="none"/>
            <a:tailEnd len="lg" w="lg" type="triangle"/>
          </a:ln>
        </p:spPr>
      </p:cxnSp>
      <p:cxnSp>
        <p:nvCxnSpPr>
          <p:cNvPr id="931" name="Shape 931"/>
          <p:cNvCxnSpPr/>
          <p:nvPr/>
        </p:nvCxnSpPr>
        <p:spPr>
          <a:xfrm>
            <a:off x="3348037" y="4581525"/>
            <a:ext cx="0" cy="1368425"/>
          </a:xfrm>
          <a:prstGeom prst="straightConnector1">
            <a:avLst/>
          </a:prstGeom>
          <a:noFill/>
          <a:ln cap="flat" cmpd="sng" w="9525">
            <a:solidFill>
              <a:srgbClr val="07F907"/>
            </a:solidFill>
            <a:prstDash val="solid"/>
            <a:miter/>
            <a:headEnd len="med" w="med" type="oval"/>
            <a:tailEnd len="med" w="med" type="none"/>
          </a:ln>
        </p:spPr>
      </p:cxnSp>
      <p:cxnSp>
        <p:nvCxnSpPr>
          <p:cNvPr id="932" name="Shape 932"/>
          <p:cNvCxnSpPr/>
          <p:nvPr/>
        </p:nvCxnSpPr>
        <p:spPr>
          <a:xfrm>
            <a:off x="3635375" y="4868862"/>
            <a:ext cx="0" cy="1081086"/>
          </a:xfrm>
          <a:prstGeom prst="straightConnector1">
            <a:avLst/>
          </a:prstGeom>
          <a:noFill/>
          <a:ln cap="flat" cmpd="sng" w="9525">
            <a:solidFill>
              <a:srgbClr val="FFCC00"/>
            </a:solidFill>
            <a:prstDash val="solid"/>
            <a:miter/>
            <a:headEnd len="med" w="med" type="oval"/>
            <a:tailEnd len="med" w="med" type="none"/>
          </a:ln>
        </p:spPr>
      </p:cxnSp>
      <p:sp>
        <p:nvSpPr>
          <p:cNvPr id="933" name="Shape 933"/>
          <p:cNvSpPr txBox="1"/>
          <p:nvPr/>
        </p:nvSpPr>
        <p:spPr>
          <a:xfrm>
            <a:off x="1979611"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934" name="Shape 934"/>
          <p:cNvSpPr txBox="1"/>
          <p:nvPr/>
        </p:nvSpPr>
        <p:spPr>
          <a:xfrm>
            <a:off x="2771775"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7F907"/>
              </a:buClr>
              <a:buSzPct val="25000"/>
              <a:buFont typeface="Arial"/>
              <a:buNone/>
            </a:pPr>
            <a:r>
              <a:rPr b="1" i="0" lang="en-US" sz="1800" u="none" cap="none" strike="noStrike">
                <a:solidFill>
                  <a:srgbClr val="07F907"/>
                </a:solidFill>
                <a:latin typeface="Arial"/>
                <a:ea typeface="Arial"/>
                <a:cs typeface="Arial"/>
                <a:sym typeface="Arial"/>
              </a:rPr>
              <a:t>Q1</a:t>
            </a:r>
          </a:p>
        </p:txBody>
      </p:sp>
      <p:sp>
        <p:nvSpPr>
          <p:cNvPr id="935" name="Shape 935"/>
          <p:cNvSpPr txBox="1"/>
          <p:nvPr/>
        </p:nvSpPr>
        <p:spPr>
          <a:xfrm>
            <a:off x="3203575" y="5876925"/>
            <a:ext cx="107949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CC00"/>
              </a:buClr>
              <a:buSzPct val="25000"/>
              <a:buFont typeface="Arial"/>
              <a:buNone/>
            </a:pPr>
            <a:r>
              <a:rPr b="1" i="0" lang="en-US" sz="1800" u="none" cap="none" strike="noStrike">
                <a:solidFill>
                  <a:srgbClr val="FFCC00"/>
                </a:solidFill>
                <a:latin typeface="Arial"/>
                <a:ea typeface="Arial"/>
                <a:cs typeface="Arial"/>
                <a:sym typeface="Arial"/>
              </a:rPr>
              <a:t>Q2</a:t>
            </a:r>
          </a:p>
        </p:txBody>
      </p:sp>
      <p:cxnSp>
        <p:nvCxnSpPr>
          <p:cNvPr id="936" name="Shape 936"/>
          <p:cNvCxnSpPr/>
          <p:nvPr/>
        </p:nvCxnSpPr>
        <p:spPr>
          <a:xfrm>
            <a:off x="2555875" y="6237287"/>
            <a:ext cx="720724" cy="0"/>
          </a:xfrm>
          <a:prstGeom prst="straightConnector1">
            <a:avLst/>
          </a:prstGeom>
          <a:noFill/>
          <a:ln cap="flat" cmpd="sng" w="28575">
            <a:solidFill>
              <a:srgbClr val="07F907"/>
            </a:solidFill>
            <a:prstDash val="solid"/>
            <a:miter/>
            <a:headEnd len="med" w="med" type="none"/>
            <a:tailEnd len="lg" w="lg" type="triangle"/>
          </a:ln>
        </p:spPr>
      </p:cxnSp>
      <p:cxnSp>
        <p:nvCxnSpPr>
          <p:cNvPr id="937" name="Shape 937"/>
          <p:cNvCxnSpPr/>
          <p:nvPr/>
        </p:nvCxnSpPr>
        <p:spPr>
          <a:xfrm>
            <a:off x="2555875" y="6381750"/>
            <a:ext cx="1079499" cy="0"/>
          </a:xfrm>
          <a:prstGeom prst="straightConnector1">
            <a:avLst/>
          </a:prstGeom>
          <a:noFill/>
          <a:ln cap="flat" cmpd="sng" w="38100">
            <a:solidFill>
              <a:srgbClr val="FFCC00"/>
            </a:solidFill>
            <a:prstDash val="solid"/>
            <a:miter/>
            <a:headEnd len="med" w="med" type="none"/>
            <a:tailEnd len="lg" w="lg" type="triangle"/>
          </a:ln>
        </p:spPr>
      </p:cxnSp>
      <p:sp>
        <p:nvSpPr>
          <p:cNvPr id="938" name="Shape 938"/>
          <p:cNvSpPr txBox="1"/>
          <p:nvPr/>
        </p:nvSpPr>
        <p:spPr>
          <a:xfrm>
            <a:off x="3779837" y="4797425"/>
            <a:ext cx="1800225"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COSTO MEDIO</a:t>
            </a:r>
          </a:p>
        </p:txBody>
      </p:sp>
      <p:pic>
        <p:nvPicPr>
          <p:cNvPr id="939" name="Shape 939"/>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a:themeElements>
    <a:clrScheme name="default">
      <a:dk1>
        <a:srgbClr val="000000"/>
      </a:dk1>
      <a:lt1>
        <a:srgbClr val="FFFFFF"/>
      </a:lt1>
      <a:dk2>
        <a:srgbClr val="330066"/>
      </a:dk2>
      <a:lt2>
        <a:srgbClr val="808080"/>
      </a:lt2>
      <a:accent1>
        <a:srgbClr val="CCCC00"/>
      </a:accent1>
      <a:accent2>
        <a:srgbClr val="669999"/>
      </a:accent2>
      <a:accent3>
        <a:srgbClr val="FFFFFF"/>
      </a:accent3>
      <a:accent4>
        <a:srgbClr val="CCCC00"/>
      </a:accent4>
      <a:accent5>
        <a:srgbClr val="669999"/>
      </a:accent5>
      <a:accent6>
        <a:srgbClr val="FFFFFF"/>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