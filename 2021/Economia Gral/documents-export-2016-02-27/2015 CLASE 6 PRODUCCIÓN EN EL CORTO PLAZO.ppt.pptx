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4" name="Shape 134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0" name="Shape 14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9" name="Shape 14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5" name="Shape 15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1" name="Shape 16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7" name="Shape 16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5" name="Shape 18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3" name="Shape 19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6" name="Shape 22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8" name="Shape 23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0" name="Shape 25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3" name="Shape 27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5" name="Shape 28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97" name="Shape 29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09" name="Shape 30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21" name="Shape 32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37" name="Shape 33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55" name="Shape 35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7" name="Shape 36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5" name="Shape 39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41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9" name="Shape 41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44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42" name="Shape 44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46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68" name="Shape 46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Shape 49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94" name="Shape 494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50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08" name="Shape 50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Shape 53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39" name="Shape 53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Shape 54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50" name="Shape 55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70" name="Shape 57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90" name="Shape 59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96" name="Shape 59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61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15" name="Shape 61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hape 64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45" name="Shape 64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Shape 65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57" name="Shape 65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Shape 67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80" name="Shape 68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hape 70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05" name="Shape 70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Shape 71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20" name="Shape 72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, text on left, text on righ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1" name="Shape 21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AndTwoObj">
  <p:cSld name="Title, Text, and 2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5" name="Shape 25"/>
          <p:cNvSpPr txBox="1"/>
          <p:nvPr>
            <p:ph idx="1" type="body"/>
          </p:nvPr>
        </p:nvSpPr>
        <p:spPr>
          <a:xfrm>
            <a:off x="838200" y="2362200"/>
            <a:ext cx="377031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26" name="Shape 26"/>
          <p:cNvSpPr txBox="1"/>
          <p:nvPr>
            <p:ph idx="2" type="body"/>
          </p:nvPr>
        </p:nvSpPr>
        <p:spPr>
          <a:xfrm>
            <a:off x="4760912" y="2362200"/>
            <a:ext cx="3770311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3" type="body"/>
          </p:nvPr>
        </p:nvSpPr>
        <p:spPr>
          <a:xfrm>
            <a:off x="4760912" y="4300537"/>
            <a:ext cx="3770311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28" name="Shape 28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9" name="Shape 29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3" name="Shape 33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34" name="Shape 34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5" name="Shape 35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6" name="Shape 36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AndObj">
  <p:cSld name="Title, Text, and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" type="body"/>
          </p:nvPr>
        </p:nvSpPr>
        <p:spPr>
          <a:xfrm>
            <a:off x="838200" y="2362200"/>
            <a:ext cx="377031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2" type="body"/>
          </p:nvPr>
        </p:nvSpPr>
        <p:spPr>
          <a:xfrm>
            <a:off x="4760912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41" name="Shape 41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42" name="Shape 42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AndChart">
  <p:cSld name="Title, Text and Char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838200" y="2362200"/>
            <a:ext cx="377031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48" name="Shape 48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49" name="Shape 49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bl">
  <p:cSld name="Title and Tab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52" name="Shape 52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53" name="Shape 53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chart">
  <p:cSld name="Title and Char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57" name="Shape 57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58" name="Shape 58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59" name="Shape 59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2" name="Shape 62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3" name="Shape 63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66" name="Shape 66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67" name="Shape 67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8" name="Shape 68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9" name="Shape 69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AndTwoObj">
  <p:cSld name="Title, Content, and 2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838200" y="2362200"/>
            <a:ext cx="377031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73" name="Shape 73"/>
          <p:cNvSpPr txBox="1"/>
          <p:nvPr>
            <p:ph idx="2" type="body"/>
          </p:nvPr>
        </p:nvSpPr>
        <p:spPr>
          <a:xfrm>
            <a:off x="4760912" y="2362200"/>
            <a:ext cx="3770311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74" name="Shape 74"/>
          <p:cNvSpPr txBox="1"/>
          <p:nvPr>
            <p:ph idx="3" type="body"/>
          </p:nvPr>
        </p:nvSpPr>
        <p:spPr>
          <a:xfrm>
            <a:off x="4760912" y="4300537"/>
            <a:ext cx="3770311" cy="1785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75" name="Shape 75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76" name="Shape 76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/>
          <p:nvPr>
            <p:ph type="title"/>
          </p:nvPr>
        </p:nvSpPr>
        <p:spPr>
          <a:xfrm>
            <a:off x="6705600" y="762000"/>
            <a:ext cx="1981199" cy="5324474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None/>
              <a:defRPr/>
            </a:lvl1pPr>
          </a:lstStyle>
          <a:p/>
        </p:txBody>
      </p:sp>
      <p:sp>
        <p:nvSpPr>
          <p:cNvPr id="80" name="Shape 80"/>
          <p:cNvSpPr txBox="1"/>
          <p:nvPr/>
        </p:nvSpPr>
        <p:spPr>
          <a:xfrm rot="5400000">
            <a:off x="5061119" y="2460794"/>
            <a:ext cx="5270161" cy="1926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</a:p>
        </p:txBody>
      </p:sp>
      <p:sp>
        <p:nvSpPr>
          <p:cNvPr id="81" name="Shape 81"/>
          <p:cNvSpPr txBox="1"/>
          <p:nvPr>
            <p:ph idx="1" type="body"/>
          </p:nvPr>
        </p:nvSpPr>
        <p:spPr>
          <a:xfrm rot="5400000">
            <a:off x="995362" y="528637"/>
            <a:ext cx="5324474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82" name="Shape 82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83" name="Shape 83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84" name="Shape 84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87" name="Shape 87"/>
          <p:cNvSpPr txBox="1"/>
          <p:nvPr>
            <p:ph idx="1" type="body"/>
          </p:nvPr>
        </p:nvSpPr>
        <p:spPr>
          <a:xfrm rot="5400000">
            <a:off x="2822574" y="377824"/>
            <a:ext cx="3724275" cy="76930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Char char="–"/>
              <a:defRPr/>
            </a:lvl4pPr>
            <a:lvl5pPr indent="-154304" lvl="4" marL="2057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88" name="Shape 88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89" name="Shape 89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90" name="Shape 90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type="title"/>
          </p:nvPr>
        </p:nvSpPr>
        <p:spPr>
          <a:xfrm>
            <a:off x="1792288" y="4800600"/>
            <a:ext cx="5486399" cy="566737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93" name="Shape 93"/>
          <p:cNvSpPr/>
          <p:nvPr>
            <p:ph idx="2" type="pic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Shape 94"/>
          <p:cNvSpPr txBox="1"/>
          <p:nvPr>
            <p:ph idx="1" type="body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>
              <a:spcBef>
                <a:spcPts val="0"/>
              </a:spcBef>
              <a:buFont typeface="Arial"/>
              <a:buNone/>
              <a:defRPr/>
            </a:lvl1pPr>
            <a:lvl2pPr indent="0" lvl="1" marL="457200" rtl="0">
              <a:spcBef>
                <a:spcPts val="0"/>
              </a:spcBef>
              <a:buFont typeface="Arial"/>
              <a:buNone/>
              <a:defRPr/>
            </a:lvl2pPr>
            <a:lvl3pPr indent="0" lvl="2" marL="914400" rtl="0">
              <a:spcBef>
                <a:spcPts val="0"/>
              </a:spcBef>
              <a:buFont typeface="Arial"/>
              <a:buNone/>
              <a:defRPr/>
            </a:lvl3pPr>
            <a:lvl4pPr indent="0" lvl="3" marL="1371600" rtl="0">
              <a:spcBef>
                <a:spcPts val="0"/>
              </a:spcBef>
              <a:buFont typeface="Arial"/>
              <a:buNone/>
              <a:defRPr/>
            </a:lvl4pPr>
            <a:lvl5pPr indent="0" lvl="4" marL="1828800" rtl="0">
              <a:spcBef>
                <a:spcPts val="0"/>
              </a:spcBef>
              <a:buFont typeface="Arial"/>
              <a:buNone/>
              <a:defRPr/>
            </a:lvl5pPr>
            <a:lvl6pPr indent="0" lvl="5" marL="2286000" rtl="0">
              <a:spcBef>
                <a:spcPts val="0"/>
              </a:spcBef>
              <a:buFont typeface="Arial"/>
              <a:buNone/>
              <a:defRPr/>
            </a:lvl6pPr>
            <a:lvl7pPr indent="0" lvl="6" marL="2743200" rtl="0">
              <a:spcBef>
                <a:spcPts val="0"/>
              </a:spcBef>
              <a:buFont typeface="Arial"/>
              <a:buNone/>
              <a:defRPr/>
            </a:lvl7pPr>
            <a:lvl8pPr indent="0" lvl="7" marL="3200400" rtl="0">
              <a:spcBef>
                <a:spcPts val="0"/>
              </a:spcBef>
              <a:buFont typeface="Arial"/>
              <a:buNone/>
              <a:defRPr/>
            </a:lvl8pPr>
            <a:lvl9pPr indent="0" lvl="8" marL="3657600" rtl="0">
              <a:spcBef>
                <a:spcPts val="0"/>
              </a:spcBef>
              <a:buFont typeface="Arial"/>
              <a:buNone/>
              <a:defRPr/>
            </a:lvl9pPr>
          </a:lstStyle>
          <a:p/>
        </p:txBody>
      </p:sp>
      <p:sp>
        <p:nvSpPr>
          <p:cNvPr id="95" name="Shape 95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96" name="Shape 96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97" name="Shape 97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type="title"/>
          </p:nvPr>
        </p:nvSpPr>
        <p:spPr>
          <a:xfrm>
            <a:off x="457200" y="273050"/>
            <a:ext cx="3008313" cy="1162049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00" name="Shape 100"/>
          <p:cNvSpPr txBox="1"/>
          <p:nvPr>
            <p:ph idx="1" type="body"/>
          </p:nvPr>
        </p:nvSpPr>
        <p:spPr>
          <a:xfrm>
            <a:off x="3575050" y="273050"/>
            <a:ext cx="5111750" cy="58531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01" name="Shape 10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>
              <a:spcBef>
                <a:spcPts val="0"/>
              </a:spcBef>
              <a:buFont typeface="Arial"/>
              <a:buNone/>
              <a:defRPr/>
            </a:lvl1pPr>
            <a:lvl2pPr indent="0" lvl="1" marL="457200" rtl="0">
              <a:spcBef>
                <a:spcPts val="0"/>
              </a:spcBef>
              <a:buFont typeface="Arial"/>
              <a:buNone/>
              <a:defRPr/>
            </a:lvl2pPr>
            <a:lvl3pPr indent="0" lvl="2" marL="914400" rtl="0">
              <a:spcBef>
                <a:spcPts val="0"/>
              </a:spcBef>
              <a:buFont typeface="Arial"/>
              <a:buNone/>
              <a:defRPr/>
            </a:lvl3pPr>
            <a:lvl4pPr indent="0" lvl="3" marL="1371600" rtl="0">
              <a:spcBef>
                <a:spcPts val="0"/>
              </a:spcBef>
              <a:buFont typeface="Arial"/>
              <a:buNone/>
              <a:defRPr/>
            </a:lvl4pPr>
            <a:lvl5pPr indent="0" lvl="4" marL="1828800" rtl="0">
              <a:spcBef>
                <a:spcPts val="0"/>
              </a:spcBef>
              <a:buFont typeface="Arial"/>
              <a:buNone/>
              <a:defRPr/>
            </a:lvl5pPr>
            <a:lvl6pPr indent="0" lvl="5" marL="2286000" rtl="0">
              <a:spcBef>
                <a:spcPts val="0"/>
              </a:spcBef>
              <a:buFont typeface="Arial"/>
              <a:buNone/>
              <a:defRPr/>
            </a:lvl6pPr>
            <a:lvl7pPr indent="0" lvl="6" marL="2743200" rtl="0">
              <a:spcBef>
                <a:spcPts val="0"/>
              </a:spcBef>
              <a:buFont typeface="Arial"/>
              <a:buNone/>
              <a:defRPr/>
            </a:lvl7pPr>
            <a:lvl8pPr indent="0" lvl="7" marL="3200400" rtl="0">
              <a:spcBef>
                <a:spcPts val="0"/>
              </a:spcBef>
              <a:buFont typeface="Arial"/>
              <a:buNone/>
              <a:defRPr/>
            </a:lvl8pPr>
            <a:lvl9pPr indent="0" lvl="8" marL="3657600" rtl="0">
              <a:spcBef>
                <a:spcPts val="0"/>
              </a:spcBef>
              <a:buFont typeface="Arial"/>
              <a:buNone/>
              <a:defRPr/>
            </a:lvl9pPr>
          </a:lstStyle>
          <a:p/>
        </p:txBody>
      </p:sp>
      <p:sp>
        <p:nvSpPr>
          <p:cNvPr id="102" name="Shape 102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03" name="Shape 103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04" name="Shape 104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07" name="Shape 107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08" name="Shape 108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09" name="Shape 109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type="title"/>
          </p:nvPr>
        </p:nvSpPr>
        <p:spPr>
          <a:xfrm>
            <a:off x="457200" y="274637"/>
            <a:ext cx="8229600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12" name="Shape 112"/>
          <p:cNvSpPr txBox="1"/>
          <p:nvPr>
            <p:ph idx="1" type="body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Arial"/>
              <a:buNone/>
              <a:defRPr/>
            </a:lvl1pPr>
            <a:lvl2pPr indent="0" lvl="1" marL="457200" rtl="0">
              <a:spcBef>
                <a:spcPts val="0"/>
              </a:spcBef>
              <a:buFont typeface="Arial"/>
              <a:buNone/>
              <a:defRPr/>
            </a:lvl2pPr>
            <a:lvl3pPr indent="0" lvl="2" marL="914400" rtl="0">
              <a:spcBef>
                <a:spcPts val="0"/>
              </a:spcBef>
              <a:buFont typeface="Arial"/>
              <a:buNone/>
              <a:defRPr/>
            </a:lvl3pPr>
            <a:lvl4pPr indent="0" lvl="3" marL="1371600" rtl="0">
              <a:spcBef>
                <a:spcPts val="0"/>
              </a:spcBef>
              <a:buFont typeface="Arial"/>
              <a:buNone/>
              <a:defRPr/>
            </a:lvl4pPr>
            <a:lvl5pPr indent="0" lvl="4" marL="1828800" rtl="0">
              <a:spcBef>
                <a:spcPts val="0"/>
              </a:spcBef>
              <a:buFont typeface="Arial"/>
              <a:buNone/>
              <a:defRPr/>
            </a:lvl5pPr>
            <a:lvl6pPr indent="0" lvl="5" marL="2286000" rtl="0">
              <a:spcBef>
                <a:spcPts val="0"/>
              </a:spcBef>
              <a:buFont typeface="Arial"/>
              <a:buNone/>
              <a:defRPr/>
            </a:lvl6pPr>
            <a:lvl7pPr indent="0" lvl="6" marL="2743200" rtl="0">
              <a:spcBef>
                <a:spcPts val="0"/>
              </a:spcBef>
              <a:buFont typeface="Arial"/>
              <a:buNone/>
              <a:defRPr/>
            </a:lvl7pPr>
            <a:lvl8pPr indent="0" lvl="7" marL="3200400" rtl="0">
              <a:spcBef>
                <a:spcPts val="0"/>
              </a:spcBef>
              <a:buFont typeface="Arial"/>
              <a:buNone/>
              <a:defRPr/>
            </a:lvl8pPr>
            <a:lvl9pPr indent="0" lvl="8" marL="3657600" rtl="0">
              <a:spcBef>
                <a:spcPts val="0"/>
              </a:spcBef>
              <a:buFont typeface="Arial"/>
              <a:buNone/>
              <a:defRPr/>
            </a:lvl9pPr>
          </a:lstStyle>
          <a:p/>
        </p:txBody>
      </p:sp>
      <p:sp>
        <p:nvSpPr>
          <p:cNvPr id="113" name="Shape 113"/>
          <p:cNvSpPr txBox="1"/>
          <p:nvPr>
            <p:ph idx="2" type="body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14" name="Shape 114"/>
          <p:cNvSpPr txBox="1"/>
          <p:nvPr>
            <p:ph idx="3" type="body"/>
          </p:nvPr>
        </p:nvSpPr>
        <p:spPr>
          <a:xfrm>
            <a:off x="4645025" y="1535112"/>
            <a:ext cx="4041774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Arial"/>
              <a:buNone/>
              <a:defRPr/>
            </a:lvl1pPr>
            <a:lvl2pPr indent="0" lvl="1" marL="457200" rtl="0">
              <a:spcBef>
                <a:spcPts val="0"/>
              </a:spcBef>
              <a:buFont typeface="Arial"/>
              <a:buNone/>
              <a:defRPr/>
            </a:lvl2pPr>
            <a:lvl3pPr indent="0" lvl="2" marL="914400" rtl="0">
              <a:spcBef>
                <a:spcPts val="0"/>
              </a:spcBef>
              <a:buFont typeface="Arial"/>
              <a:buNone/>
              <a:defRPr/>
            </a:lvl3pPr>
            <a:lvl4pPr indent="0" lvl="3" marL="1371600" rtl="0">
              <a:spcBef>
                <a:spcPts val="0"/>
              </a:spcBef>
              <a:buFont typeface="Arial"/>
              <a:buNone/>
              <a:defRPr/>
            </a:lvl4pPr>
            <a:lvl5pPr indent="0" lvl="4" marL="1828800" rtl="0">
              <a:spcBef>
                <a:spcPts val="0"/>
              </a:spcBef>
              <a:buFont typeface="Arial"/>
              <a:buNone/>
              <a:defRPr/>
            </a:lvl5pPr>
            <a:lvl6pPr indent="0" lvl="5" marL="2286000" rtl="0">
              <a:spcBef>
                <a:spcPts val="0"/>
              </a:spcBef>
              <a:buFont typeface="Arial"/>
              <a:buNone/>
              <a:defRPr/>
            </a:lvl6pPr>
            <a:lvl7pPr indent="0" lvl="6" marL="2743200" rtl="0">
              <a:spcBef>
                <a:spcPts val="0"/>
              </a:spcBef>
              <a:buFont typeface="Arial"/>
              <a:buNone/>
              <a:defRPr/>
            </a:lvl7pPr>
            <a:lvl8pPr indent="0" lvl="7" marL="3200400" rtl="0">
              <a:spcBef>
                <a:spcPts val="0"/>
              </a:spcBef>
              <a:buFont typeface="Arial"/>
              <a:buNone/>
              <a:defRPr/>
            </a:lvl8pPr>
            <a:lvl9pPr indent="0" lvl="8" marL="3657600" rtl="0">
              <a:spcBef>
                <a:spcPts val="0"/>
              </a:spcBef>
              <a:buFont typeface="Arial"/>
              <a:buNone/>
              <a:defRPr/>
            </a:lvl9pPr>
          </a:lstStyle>
          <a:p/>
        </p:txBody>
      </p:sp>
      <p:sp>
        <p:nvSpPr>
          <p:cNvPr id="115" name="Shape 115"/>
          <p:cNvSpPr txBox="1"/>
          <p:nvPr>
            <p:ph idx="4" type="body"/>
          </p:nvPr>
        </p:nvSpPr>
        <p:spPr>
          <a:xfrm>
            <a:off x="4645025" y="2174875"/>
            <a:ext cx="4041774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16" name="Shape 116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17" name="Shape 117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18" name="Shape 118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lvl="5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lvl="6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lvl="7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lvl="8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x="838200" y="2362200"/>
            <a:ext cx="3770312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22" name="Shape 122"/>
          <p:cNvSpPr txBox="1"/>
          <p:nvPr>
            <p:ph idx="2" type="body"/>
          </p:nvPr>
        </p:nvSpPr>
        <p:spPr>
          <a:xfrm>
            <a:off x="4760912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23" name="Shape 123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24" name="Shape 124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25" name="Shape 125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type="title"/>
          </p:nvPr>
        </p:nvSpPr>
        <p:spPr>
          <a:xfrm>
            <a:off x="722312" y="4406900"/>
            <a:ext cx="7772400" cy="1362075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 algn="l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Arial"/>
              <a:buNone/>
              <a:defRPr/>
            </a:lvl1pPr>
            <a:lvl2pPr indent="0" lvl="1" marL="457200" rtl="0">
              <a:spcBef>
                <a:spcPts val="0"/>
              </a:spcBef>
              <a:buFont typeface="Arial"/>
              <a:buNone/>
              <a:defRPr/>
            </a:lvl2pPr>
            <a:lvl3pPr indent="0" lvl="2" marL="914400" rtl="0">
              <a:spcBef>
                <a:spcPts val="0"/>
              </a:spcBef>
              <a:buFont typeface="Arial"/>
              <a:buNone/>
              <a:defRPr/>
            </a:lvl3pPr>
            <a:lvl4pPr indent="0" lvl="3" marL="1371600" rtl="0">
              <a:spcBef>
                <a:spcPts val="0"/>
              </a:spcBef>
              <a:buFont typeface="Arial"/>
              <a:buNone/>
              <a:defRPr/>
            </a:lvl4pPr>
            <a:lvl5pPr indent="0" lvl="4" marL="1828800" rtl="0">
              <a:spcBef>
                <a:spcPts val="0"/>
              </a:spcBef>
              <a:buFont typeface="Arial"/>
              <a:buNone/>
              <a:defRPr/>
            </a:lvl5pPr>
            <a:lvl6pPr indent="0" lvl="5" marL="2286000" rtl="0">
              <a:spcBef>
                <a:spcPts val="0"/>
              </a:spcBef>
              <a:buFont typeface="Arial"/>
              <a:buNone/>
              <a:defRPr/>
            </a:lvl6pPr>
            <a:lvl7pPr indent="0" lvl="6" marL="2743200" rtl="0">
              <a:spcBef>
                <a:spcPts val="0"/>
              </a:spcBef>
              <a:buFont typeface="Arial"/>
              <a:buNone/>
              <a:defRPr/>
            </a:lvl7pPr>
            <a:lvl8pPr indent="0" lvl="7" marL="3200400" rtl="0">
              <a:spcBef>
                <a:spcPts val="0"/>
              </a:spcBef>
              <a:buFont typeface="Arial"/>
              <a:buNone/>
              <a:defRPr/>
            </a:lvl8pPr>
            <a:lvl9pPr indent="0" lvl="8" marL="3657600" rtl="0">
              <a:spcBef>
                <a:spcPts val="0"/>
              </a:spcBef>
              <a:buFont typeface="Arial"/>
              <a:buNone/>
              <a:defRPr/>
            </a:lvl9pPr>
          </a:lstStyle>
          <a:p/>
        </p:txBody>
      </p:sp>
      <p:sp>
        <p:nvSpPr>
          <p:cNvPr id="129" name="Shape 129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30" name="Shape 130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31" name="Shape 131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0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hape 6"/>
          <p:cNvGrpSpPr/>
          <p:nvPr/>
        </p:nvGrpSpPr>
        <p:grpSpPr>
          <a:xfrm>
            <a:off x="0" y="0"/>
            <a:ext cx="7620000" cy="6858000"/>
            <a:chOff x="0" y="0"/>
            <a:chExt cx="7620000" cy="6858000"/>
          </a:xfrm>
        </p:grpSpPr>
        <p:grpSp>
          <p:nvGrpSpPr>
            <p:cNvPr id="7" name="Shape 7"/>
            <p:cNvGrpSpPr/>
            <p:nvPr/>
          </p:nvGrpSpPr>
          <p:grpSpPr>
            <a:xfrm>
              <a:off x="0" y="0"/>
              <a:ext cx="3200400" cy="6858000"/>
              <a:chOff x="0" y="0"/>
              <a:chExt cx="3200400" cy="6858000"/>
            </a:xfrm>
          </p:grpSpPr>
          <p:sp>
            <p:nvSpPr>
              <p:cNvPr id="8" name="Shape 8"/>
              <p:cNvSpPr txBox="1"/>
              <p:nvPr/>
            </p:nvSpPr>
            <p:spPr>
              <a:xfrm>
                <a:off x="0" y="0"/>
                <a:ext cx="762000" cy="68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Shape 9"/>
              <p:cNvSpPr/>
              <p:nvPr/>
            </p:nvSpPr>
            <p:spPr>
              <a:xfrm>
                <a:off x="457200" y="0"/>
                <a:ext cx="2743200" cy="1166812"/>
              </a:xfrm>
              <a:custGeom>
                <a:pathLst>
                  <a:path extrusionOk="0" h="735" w="1728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rIns="91425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Shape 10"/>
            <p:cNvGrpSpPr/>
            <p:nvPr/>
          </p:nvGrpSpPr>
          <p:grpSpPr>
            <a:xfrm>
              <a:off x="228599" y="1981200"/>
              <a:ext cx="7391400" cy="319087"/>
              <a:chOff x="228599" y="1981200"/>
              <a:chExt cx="7391400" cy="319087"/>
            </a:xfrm>
          </p:grpSpPr>
          <p:sp>
            <p:nvSpPr>
              <p:cNvPr id="11" name="Shape 11"/>
              <p:cNvSpPr/>
              <p:nvPr/>
            </p:nvSpPr>
            <p:spPr>
              <a:xfrm>
                <a:off x="609600" y="1981200"/>
                <a:ext cx="7010400" cy="317500"/>
              </a:xfrm>
              <a:prstGeom prst="roundRect">
                <a:avLst>
                  <a:gd fmla="val 0" name="adj"/>
                </a:avLst>
              </a:pr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Shape 12"/>
              <p:cNvSpPr/>
              <p:nvPr/>
            </p:nvSpPr>
            <p:spPr>
              <a:xfrm flipH="1">
                <a:off x="228599" y="1981200"/>
                <a:ext cx="393700" cy="319087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rIns="91425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" name="Shape 13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4" name="Shape 14"/>
          <p:cNvSpPr txBox="1"/>
          <p:nvPr>
            <p:ph idx="1" type="body"/>
          </p:nvPr>
        </p:nvSpPr>
        <p:spPr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1pPr>
            <a:lvl2pPr indent="-1714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indent="-133350" lvl="2" marL="1143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3pPr>
            <a:lvl4pPr indent="-137160" lvl="3" marL="1600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4pPr>
            <a:lvl5pPr indent="-154304" lvl="4" marL="2057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5pPr>
            <a:lvl6pPr indent="-154304" lvl="5" marL="2514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6pPr>
            <a:lvl7pPr indent="-154304" lvl="6" marL="2971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7pPr>
            <a:lvl8pPr indent="-154304" lvl="7" marL="3429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8pPr>
            <a:lvl9pPr indent="-154304" lvl="8" marL="3886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Noto Symbol"/>
              <a:buChar char="●"/>
              <a:defRPr/>
            </a:lvl9pPr>
          </a:lstStyle>
          <a:p/>
        </p:txBody>
      </p:sp>
      <p:sp>
        <p:nvSpPr>
          <p:cNvPr id="15" name="Shape 15"/>
          <p:cNvSpPr txBox="1"/>
          <p:nvPr>
            <p:ph idx="10" type="dt"/>
          </p:nvPr>
        </p:nvSpPr>
        <p:spPr>
          <a:xfrm>
            <a:off x="2438400" y="6248400"/>
            <a:ext cx="2130424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6" name="Shape 16"/>
          <p:cNvSpPr txBox="1"/>
          <p:nvPr>
            <p:ph idx="11" type="ftr"/>
          </p:nvPr>
        </p:nvSpPr>
        <p:spPr>
          <a:xfrm>
            <a:off x="5791200" y="6248400"/>
            <a:ext cx="2897186" cy="4746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7" name="Shape 17"/>
          <p:cNvSpPr txBox="1"/>
          <p:nvPr>
            <p:ph idx="12" type="sldNum"/>
          </p:nvPr>
        </p:nvSpPr>
        <p:spPr>
          <a:xfrm>
            <a:off x="84136" y="6242050"/>
            <a:ext cx="587374" cy="488949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b="1" i="0" lang="en-US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pic>
        <p:nvPicPr>
          <p:cNvPr id="18" name="Shape 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940425" y="188911"/>
            <a:ext cx="3009899" cy="6095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01.jpg"/><Relationship Id="rId4" Type="http://schemas.openxmlformats.org/officeDocument/2006/relationships/image" Target="../media/image02.jpg"/><Relationship Id="rId5" Type="http://schemas.openxmlformats.org/officeDocument/2006/relationships/image" Target="../media/image0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4294967295"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CLASE N° 6</a:t>
            </a:r>
          </a:p>
        </p:txBody>
      </p:sp>
      <p:sp>
        <p:nvSpPr>
          <p:cNvPr id="137" name="Shape 137"/>
          <p:cNvSpPr txBox="1"/>
          <p:nvPr>
            <p:ph idx="4294967295" type="body"/>
          </p:nvPr>
        </p:nvSpPr>
        <p:spPr>
          <a:xfrm>
            <a:off x="684212" y="2246311"/>
            <a:ext cx="711835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Teoría de la producción.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de producción de corto plazo.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Factores de la producción fijos y variables.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Producción. Producto medio  y marginal.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Productividad de los Factores de la Producción.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Ratios de productividad.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Principio de eficiencia y costos de producción.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Etapas de la producción.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fijo total y costo fijo medio.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variable total y costo variable medio.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medio total y costo medio.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marginal.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Relación entre los costos medios y el costo marginal.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Comportamiento racional del productor  y la elección del nivel de producción.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función oferta del productor.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Oferta combinada y Oferta del mercado.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Desplazamiento de la curva de oferta.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Modelo de producción de corto plazo</a:t>
            </a:r>
          </a:p>
        </p:txBody>
      </p:sp>
      <p:sp>
        <p:nvSpPr>
          <p:cNvPr id="143" name="Shape 143"/>
          <p:cNvSpPr txBox="1"/>
          <p:nvPr>
            <p:ph idx="1" type="body"/>
          </p:nvPr>
        </p:nvSpPr>
        <p:spPr>
          <a:xfrm>
            <a:off x="827087" y="2492375"/>
            <a:ext cx="4321174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basa en el supuesto que la empresa  no puede variar todos los factores de la producción al mismo tiempo.</a:t>
            </a:r>
          </a:p>
        </p:txBody>
      </p:sp>
      <p:pic>
        <p:nvPicPr>
          <p:cNvPr id="144" name="Shape 1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5600" y="2492375"/>
            <a:ext cx="3095625" cy="178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Shape 1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" y="4221162"/>
            <a:ext cx="3527424" cy="2351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Shape 146"/>
          <p:cNvPicPr preferRelativeResize="0"/>
          <p:nvPr>
            <p:ph idx="2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5600" y="4508500"/>
            <a:ext cx="3024187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type="title"/>
          </p:nvPr>
        </p:nvSpPr>
        <p:spPr>
          <a:xfrm>
            <a:off x="755650" y="765175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Combinación de Factores de la producción 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(en el corto plazo)</a:t>
            </a:r>
          </a:p>
        </p:txBody>
      </p:sp>
      <p:sp>
        <p:nvSpPr>
          <p:cNvPr id="152" name="Shape 152"/>
          <p:cNvSpPr txBox="1"/>
          <p:nvPr>
            <p:ph idx="1" type="body"/>
          </p:nvPr>
        </p:nvSpPr>
        <p:spPr>
          <a:xfrm>
            <a:off x="827087" y="2349500"/>
            <a:ext cx="7693025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empresa </a:t>
            </a: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puede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variar todos los factores de la producción por lo tanto los clasifica en:</a:t>
            </a: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36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36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Factores de la producción fijos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36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36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Factores de la producción variables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Función producción</a:t>
            </a:r>
          </a:p>
        </p:txBody>
      </p:sp>
      <p:sp>
        <p:nvSpPr>
          <p:cNvPr id="158" name="Shape 158"/>
          <p:cNvSpPr txBox="1"/>
          <p:nvPr>
            <p:ph idx="1" type="body"/>
          </p:nvPr>
        </p:nvSpPr>
        <p:spPr>
          <a:xfrm>
            <a:off x="838200" y="2362200"/>
            <a:ext cx="79105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Relaciona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1" sz="28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1" lang="en-US" sz="28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Producción obtenida de un bien determinado</a:t>
            </a: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1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con	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1" sz="28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1" lang="en-US" sz="28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Cantidad de factores productivos utilizada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type="title"/>
          </p:nvPr>
        </p:nvSpPr>
        <p:spPr>
          <a:xfrm>
            <a:off x="755650" y="765175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b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Producto Medio – Producto Marginal</a:t>
            </a:r>
          </a:p>
        </p:txBody>
      </p:sp>
      <p:sp>
        <p:nvSpPr>
          <p:cNvPr id="164" name="Shape 164"/>
          <p:cNvSpPr txBox="1"/>
          <p:nvPr>
            <p:ph idx="1" type="body"/>
          </p:nvPr>
        </p:nvSpPr>
        <p:spPr>
          <a:xfrm>
            <a:off x="827087" y="2349500"/>
            <a:ext cx="7981950" cy="423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baseline="3000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Producción Total</a:t>
            </a:r>
          </a:p>
          <a:p>
            <a:pPr indent="0" lvl="0" marL="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cantidad de bien producida con una determinada cantidad de factores de la producción.</a:t>
            </a:r>
          </a:p>
          <a:p>
            <a:pPr indent="-236536" lvl="3" marL="1658936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1" baseline="30000" i="1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125" lvl="4" marL="2066925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Noto Symbol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Producción Media o Producto Medio.</a:t>
            </a: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cantidad de unidades producidas por cada unidad de factor de la producción.</a:t>
            </a:r>
            <a:r>
              <a:rPr b="1" i="1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238125" lvl="4" marL="20669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000"/>
              <a:buFont typeface="Noto Symbol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Producción o Producto Marginal</a:t>
            </a: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incremento o disminución de la producción total que resulta de utilizar una unidad adicional de factor de la producción variable.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title"/>
          </p:nvPr>
        </p:nvSpPr>
        <p:spPr>
          <a:xfrm>
            <a:off x="755650" y="762000"/>
            <a:ext cx="5040312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Producción Total</a:t>
            </a: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b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Capacidad Instalada</a:t>
            </a:r>
          </a:p>
        </p:txBody>
      </p:sp>
      <p:sp>
        <p:nvSpPr>
          <p:cNvPr id="170" name="Shape 170"/>
          <p:cNvSpPr txBox="1"/>
          <p:nvPr>
            <p:ph idx="1" type="body"/>
          </p:nvPr>
        </p:nvSpPr>
        <p:spPr>
          <a:xfrm>
            <a:off x="611187" y="2998786"/>
            <a:ext cx="4176711" cy="2735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20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cantidad máxima de producción que puede hacer el productor se conoce como la </a:t>
            </a:r>
            <a:r>
              <a:rPr b="1" i="1" lang="en-US" sz="2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capacidad instalada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la empresa.</a:t>
            </a:r>
          </a:p>
          <a:p>
            <a:pPr indent="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171" name="Shape 171"/>
          <p:cNvCxnSpPr/>
          <p:nvPr/>
        </p:nvCxnSpPr>
        <p:spPr>
          <a:xfrm rot="10800000">
            <a:off x="4859337" y="2276474"/>
            <a:ext cx="0" cy="3600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72" name="Shape 172"/>
          <p:cNvCxnSpPr/>
          <p:nvPr/>
        </p:nvCxnSpPr>
        <p:spPr>
          <a:xfrm>
            <a:off x="4572000" y="5805487"/>
            <a:ext cx="432117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73" name="Shape 173"/>
          <p:cNvSpPr txBox="1"/>
          <p:nvPr/>
        </p:nvSpPr>
        <p:spPr>
          <a:xfrm>
            <a:off x="5435600" y="170021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</a:p>
        </p:txBody>
      </p:sp>
      <p:sp>
        <p:nvSpPr>
          <p:cNvPr id="174" name="Shape 174"/>
          <p:cNvSpPr txBox="1"/>
          <p:nvPr/>
        </p:nvSpPr>
        <p:spPr>
          <a:xfrm>
            <a:off x="7618411" y="5803900"/>
            <a:ext cx="1490661" cy="1009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 Variable</a:t>
            </a:r>
          </a:p>
        </p:txBody>
      </p:sp>
      <p:sp>
        <p:nvSpPr>
          <p:cNvPr id="175" name="Shape 175"/>
          <p:cNvSpPr/>
          <p:nvPr/>
        </p:nvSpPr>
        <p:spPr>
          <a:xfrm>
            <a:off x="4859337" y="2527300"/>
            <a:ext cx="3046411" cy="3278186"/>
          </a:xfrm>
          <a:custGeom>
            <a:pathLst>
              <a:path extrusionOk="0" h="2065" w="1919">
                <a:moveTo>
                  <a:pt x="0" y="2065"/>
                </a:moveTo>
                <a:cubicBezTo>
                  <a:pt x="60" y="2023"/>
                  <a:pt x="263" y="1901"/>
                  <a:pt x="358" y="1812"/>
                </a:cubicBezTo>
                <a:cubicBezTo>
                  <a:pt x="453" y="1723"/>
                  <a:pt x="515" y="1638"/>
                  <a:pt x="572" y="1533"/>
                </a:cubicBezTo>
                <a:cubicBezTo>
                  <a:pt x="629" y="1428"/>
                  <a:pt x="669" y="1303"/>
                  <a:pt x="702" y="1180"/>
                </a:cubicBezTo>
                <a:cubicBezTo>
                  <a:pt x="735" y="1057"/>
                  <a:pt x="737" y="925"/>
                  <a:pt x="772" y="795"/>
                </a:cubicBezTo>
                <a:cubicBezTo>
                  <a:pt x="807" y="665"/>
                  <a:pt x="846" y="510"/>
                  <a:pt x="915" y="398"/>
                </a:cubicBezTo>
                <a:cubicBezTo>
                  <a:pt x="984" y="286"/>
                  <a:pt x="1080" y="185"/>
                  <a:pt x="1185" y="120"/>
                </a:cubicBezTo>
                <a:cubicBezTo>
                  <a:pt x="1290" y="55"/>
                  <a:pt x="1425" y="16"/>
                  <a:pt x="1547" y="8"/>
                </a:cubicBezTo>
                <a:cubicBezTo>
                  <a:pt x="1669" y="0"/>
                  <a:pt x="1842" y="60"/>
                  <a:pt x="1919" y="73"/>
                </a:cubicBezTo>
              </a:path>
            </a:pathLst>
          </a:custGeom>
          <a:noFill/>
          <a:ln cap="flat" cmpd="sng" w="317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Shape 176"/>
          <p:cNvCxnSpPr/>
          <p:nvPr/>
        </p:nvCxnSpPr>
        <p:spPr>
          <a:xfrm rot="10800000">
            <a:off x="6084887" y="2205037"/>
            <a:ext cx="0" cy="3600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77" name="Shape 177"/>
          <p:cNvCxnSpPr/>
          <p:nvPr/>
        </p:nvCxnSpPr>
        <p:spPr>
          <a:xfrm rot="10800000">
            <a:off x="7308850" y="2205037"/>
            <a:ext cx="0" cy="3600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78" name="Shape 178"/>
          <p:cNvSpPr/>
          <p:nvPr/>
        </p:nvSpPr>
        <p:spPr>
          <a:xfrm>
            <a:off x="4859337" y="2565400"/>
            <a:ext cx="3178175" cy="1586"/>
          </a:xfrm>
          <a:custGeom>
            <a:pathLst>
              <a:path extrusionOk="0" h="1" w="2002">
                <a:moveTo>
                  <a:pt x="0" y="0"/>
                </a:moveTo>
                <a:lnTo>
                  <a:pt x="2002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Shape 179"/>
          <p:cNvCxnSpPr/>
          <p:nvPr/>
        </p:nvCxnSpPr>
        <p:spPr>
          <a:xfrm rot="10800000">
            <a:off x="5435600" y="4149725"/>
            <a:ext cx="0" cy="50323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180" name="Shape 180"/>
          <p:cNvCxnSpPr/>
          <p:nvPr/>
        </p:nvCxnSpPr>
        <p:spPr>
          <a:xfrm>
            <a:off x="6659561" y="3141661"/>
            <a:ext cx="0" cy="3587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181" name="Shape 181"/>
          <p:cNvCxnSpPr/>
          <p:nvPr/>
        </p:nvCxnSpPr>
        <p:spPr>
          <a:xfrm>
            <a:off x="8027986" y="2205036"/>
            <a:ext cx="0" cy="3603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182" name="Shape 182"/>
          <p:cNvSpPr txBox="1"/>
          <p:nvPr/>
        </p:nvSpPr>
        <p:spPr>
          <a:xfrm>
            <a:off x="1619250" y="2276475"/>
            <a:ext cx="31686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Producción total máxima o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capacidad instalada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Productividad de los Factores de la Producción</a:t>
            </a:r>
          </a:p>
        </p:txBody>
      </p:sp>
      <p:sp>
        <p:nvSpPr>
          <p:cNvPr id="188" name="Shape 188"/>
          <p:cNvSpPr txBox="1"/>
          <p:nvPr/>
        </p:nvSpPr>
        <p:spPr>
          <a:xfrm>
            <a:off x="684212" y="2409825"/>
            <a:ext cx="8459786" cy="20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técnico de la empresa se encarga de llevar a cabo la transformación necesaria para que los bienes y servicios producidos por la empresa adquieran un valor.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lograr esta transformación se aplican conocimientos y tecnología.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 Lograr la máxima eficiencia técnica – económica – social.</a:t>
            </a:r>
          </a:p>
        </p:txBody>
      </p:sp>
      <p:sp>
        <p:nvSpPr>
          <p:cNvPr id="189" name="Shape 189"/>
          <p:cNvSpPr txBox="1"/>
          <p:nvPr/>
        </p:nvSpPr>
        <p:spPr>
          <a:xfrm>
            <a:off x="792162" y="4292600"/>
            <a:ext cx="8027986" cy="2439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se mide la eficiencia técnico-económica- social?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Mediante diferentes ratios de productividad, rentabilidad y responsabilidad social.</a:t>
            </a:r>
          </a:p>
        </p:txBody>
      </p:sp>
      <p:sp>
        <p:nvSpPr>
          <p:cNvPr id="190" name="Shape 190"/>
          <p:cNvSpPr/>
          <p:nvPr/>
        </p:nvSpPr>
        <p:spPr>
          <a:xfrm>
            <a:off x="3708400" y="4941887"/>
            <a:ext cx="1008062" cy="863599"/>
          </a:xfrm>
          <a:prstGeom prst="downArrow">
            <a:avLst>
              <a:gd fmla="val 8457" name="adj1"/>
              <a:gd fmla="val 415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>
            <p:ph type="title"/>
          </p:nvPr>
        </p:nvSpPr>
        <p:spPr>
          <a:xfrm>
            <a:off x="755650" y="765175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Ratios de Productividad</a:t>
            </a:r>
          </a:p>
        </p:txBody>
      </p:sp>
      <p:grpSp>
        <p:nvGrpSpPr>
          <p:cNvPr id="196" name="Shape 196"/>
          <p:cNvGrpSpPr/>
          <p:nvPr/>
        </p:nvGrpSpPr>
        <p:grpSpPr>
          <a:xfrm>
            <a:off x="611187" y="2292350"/>
            <a:ext cx="8532813" cy="4565650"/>
            <a:chOff x="611187" y="2292350"/>
            <a:chExt cx="8532813" cy="4441825"/>
          </a:xfrm>
        </p:grpSpPr>
        <p:sp>
          <p:nvSpPr>
            <p:cNvPr id="197" name="Shape 197"/>
            <p:cNvSpPr txBox="1"/>
            <p:nvPr/>
          </p:nvSpPr>
          <p:spPr>
            <a:xfrm>
              <a:off x="611187" y="2292350"/>
              <a:ext cx="1873249" cy="439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PRODUCTIVIDAD</a:t>
              </a:r>
            </a:p>
          </p:txBody>
        </p:sp>
        <p:sp>
          <p:nvSpPr>
            <p:cNvPr id="198" name="Shape 198"/>
            <p:cNvSpPr txBox="1"/>
            <p:nvPr/>
          </p:nvSpPr>
          <p:spPr>
            <a:xfrm>
              <a:off x="2484436" y="2292350"/>
              <a:ext cx="3382961" cy="439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RATIOS</a:t>
              </a:r>
            </a:p>
          </p:txBody>
        </p:sp>
        <p:sp>
          <p:nvSpPr>
            <p:cNvPr id="199" name="Shape 199"/>
            <p:cNvSpPr txBox="1"/>
            <p:nvPr/>
          </p:nvSpPr>
          <p:spPr>
            <a:xfrm>
              <a:off x="5867400" y="2292350"/>
              <a:ext cx="3276600" cy="439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UNIDAD DE MEDIDA</a:t>
              </a:r>
            </a:p>
          </p:txBody>
        </p:sp>
        <p:sp>
          <p:nvSpPr>
            <p:cNvPr id="200" name="Shape 200"/>
            <p:cNvSpPr txBox="1"/>
            <p:nvPr/>
          </p:nvSpPr>
          <p:spPr>
            <a:xfrm>
              <a:off x="611187" y="2732086"/>
              <a:ext cx="1873249" cy="1306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08000"/>
                </a:buClr>
                <a:buSzPct val="250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TÉCNICA</a:t>
              </a:r>
            </a:p>
            <a:p>
              <a:pPr indent="0" lvl="0" marL="0" marR="0" rtl="0" algn="ctr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008000"/>
                </a:buClr>
                <a:buSzPct val="250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  <p:sp>
          <p:nvSpPr>
            <p:cNvPr id="201" name="Shape 201"/>
            <p:cNvSpPr txBox="1"/>
            <p:nvPr/>
          </p:nvSpPr>
          <p:spPr>
            <a:xfrm>
              <a:off x="2484436" y="2732086"/>
              <a:ext cx="3382961" cy="592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Cantidad física de producto / 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008000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Cantidad física de factor productivo</a:t>
              </a:r>
            </a:p>
          </p:txBody>
        </p:sp>
        <p:sp>
          <p:nvSpPr>
            <p:cNvPr id="202" name="Shape 202"/>
            <p:cNvSpPr txBox="1"/>
            <p:nvPr/>
          </p:nvSpPr>
          <p:spPr>
            <a:xfrm>
              <a:off x="5867400" y="2732086"/>
              <a:ext cx="3276600" cy="592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Unidades de producto / 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008000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Unidades de factor productivo</a:t>
              </a:r>
            </a:p>
          </p:txBody>
        </p:sp>
        <p:sp>
          <p:nvSpPr>
            <p:cNvPr id="203" name="Shape 203"/>
            <p:cNvSpPr txBox="1"/>
            <p:nvPr/>
          </p:nvSpPr>
          <p:spPr>
            <a:xfrm>
              <a:off x="2484436" y="3324225"/>
              <a:ext cx="3382961" cy="714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Cantidad monetaria de producto obtenido / Cantidad monetaria del factor productivo consumido</a:t>
              </a:r>
            </a:p>
          </p:txBody>
        </p:sp>
        <p:sp>
          <p:nvSpPr>
            <p:cNvPr id="204" name="Shape 204"/>
            <p:cNvSpPr txBox="1"/>
            <p:nvPr/>
          </p:nvSpPr>
          <p:spPr>
            <a:xfrm>
              <a:off x="5867400" y="3324225"/>
              <a:ext cx="3276600" cy="714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Valor monetario del producto obtenido / Valor monetario del factor productivo consumido</a:t>
              </a:r>
            </a:p>
          </p:txBody>
        </p:sp>
        <p:sp>
          <p:nvSpPr>
            <p:cNvPr id="205" name="Shape 205"/>
            <p:cNvSpPr txBox="1"/>
            <p:nvPr/>
          </p:nvSpPr>
          <p:spPr>
            <a:xfrm>
              <a:off x="611187" y="4038600"/>
              <a:ext cx="1873249" cy="1827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ECONÓMICA</a:t>
              </a:r>
            </a:p>
          </p:txBody>
        </p:sp>
        <p:sp>
          <p:nvSpPr>
            <p:cNvPr id="206" name="Shape 206"/>
            <p:cNvSpPr txBox="1"/>
            <p:nvPr/>
          </p:nvSpPr>
          <p:spPr>
            <a:xfrm>
              <a:off x="2484436" y="4038600"/>
              <a:ext cx="3382961" cy="1076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ECONOMICIDAD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Cantidad monetaria de producto obtenido / Cantidad monetaria de todos los factores productivos consumidos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Shape 207"/>
            <p:cNvSpPr txBox="1"/>
            <p:nvPr/>
          </p:nvSpPr>
          <p:spPr>
            <a:xfrm>
              <a:off x="5867400" y="4038600"/>
              <a:ext cx="3276600" cy="1076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Valor monetario del producto obtenido / Valor monetario de los factores productivos consumidos</a:t>
              </a:r>
            </a:p>
          </p:txBody>
        </p:sp>
        <p:sp>
          <p:nvSpPr>
            <p:cNvPr id="208" name="Shape 208"/>
            <p:cNvSpPr txBox="1"/>
            <p:nvPr/>
          </p:nvSpPr>
          <p:spPr>
            <a:xfrm>
              <a:off x="2484436" y="5114925"/>
              <a:ext cx="3382961" cy="75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RENTABILIDAD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Beneficios asociados al producto obtenido / Capital arriesgado al producir el producto</a:t>
              </a:r>
            </a:p>
          </p:txBody>
        </p:sp>
        <p:sp>
          <p:nvSpPr>
            <p:cNvPr id="209" name="Shape 209"/>
            <p:cNvSpPr txBox="1"/>
            <p:nvPr/>
          </p:nvSpPr>
          <p:spPr>
            <a:xfrm>
              <a:off x="5867400" y="5114925"/>
              <a:ext cx="3276600" cy="75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Valor monetario del producto obtenido / Valor monetario del capital utilizado</a:t>
              </a:r>
            </a:p>
          </p:txBody>
        </p:sp>
        <p:sp>
          <p:nvSpPr>
            <p:cNvPr id="210" name="Shape 210"/>
            <p:cNvSpPr txBox="1"/>
            <p:nvPr/>
          </p:nvSpPr>
          <p:spPr>
            <a:xfrm>
              <a:off x="611187" y="5865812"/>
              <a:ext cx="1873249" cy="868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SOCIAL</a:t>
              </a:r>
            </a:p>
          </p:txBody>
        </p:sp>
        <p:sp>
          <p:nvSpPr>
            <p:cNvPr id="211" name="Shape 211"/>
            <p:cNvSpPr txBox="1"/>
            <p:nvPr/>
          </p:nvSpPr>
          <p:spPr>
            <a:xfrm>
              <a:off x="2484436" y="5865812"/>
              <a:ext cx="3382961" cy="868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IRSE 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(Índice de Responsabilidad Social Empresaria)</a:t>
              </a:r>
            </a:p>
          </p:txBody>
        </p:sp>
        <p:sp>
          <p:nvSpPr>
            <p:cNvPr id="212" name="Shape 212"/>
            <p:cNvSpPr txBox="1"/>
            <p:nvPr/>
          </p:nvSpPr>
          <p:spPr>
            <a:xfrm>
              <a:off x="5867400" y="5865812"/>
              <a:ext cx="3276600" cy="868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Valores y Ética / Ambiente de trabajo y empleo / Protección al medio ambiente / Apoyo a la comunidad / Marketing Responsable</a:t>
              </a:r>
            </a:p>
          </p:txBody>
        </p:sp>
        <p:cxnSp>
          <p:nvCxnSpPr>
            <p:cNvPr id="213" name="Shape 213"/>
            <p:cNvCxnSpPr/>
            <p:nvPr/>
          </p:nvCxnSpPr>
          <p:spPr>
            <a:xfrm>
              <a:off x="2484436" y="2292350"/>
              <a:ext cx="0" cy="444182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4" name="Shape 214"/>
            <p:cNvCxnSpPr/>
            <p:nvPr/>
          </p:nvCxnSpPr>
          <p:spPr>
            <a:xfrm>
              <a:off x="5867400" y="2292350"/>
              <a:ext cx="0" cy="444182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5" name="Shape 215"/>
            <p:cNvCxnSpPr/>
            <p:nvPr/>
          </p:nvCxnSpPr>
          <p:spPr>
            <a:xfrm>
              <a:off x="611187" y="2732086"/>
              <a:ext cx="853281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6" name="Shape 216"/>
            <p:cNvCxnSpPr/>
            <p:nvPr/>
          </p:nvCxnSpPr>
          <p:spPr>
            <a:xfrm>
              <a:off x="611187" y="4038600"/>
              <a:ext cx="853281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7" name="Shape 217"/>
            <p:cNvCxnSpPr/>
            <p:nvPr/>
          </p:nvCxnSpPr>
          <p:spPr>
            <a:xfrm>
              <a:off x="611187" y="5865812"/>
              <a:ext cx="853281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8" name="Shape 218"/>
            <p:cNvCxnSpPr/>
            <p:nvPr/>
          </p:nvCxnSpPr>
          <p:spPr>
            <a:xfrm>
              <a:off x="611187" y="2292350"/>
              <a:ext cx="0" cy="444182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19" name="Shape 219"/>
            <p:cNvCxnSpPr/>
            <p:nvPr/>
          </p:nvCxnSpPr>
          <p:spPr>
            <a:xfrm>
              <a:off x="9144000" y="2292350"/>
              <a:ext cx="0" cy="444182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20" name="Shape 220"/>
            <p:cNvCxnSpPr/>
            <p:nvPr/>
          </p:nvCxnSpPr>
          <p:spPr>
            <a:xfrm>
              <a:off x="611187" y="2292350"/>
              <a:ext cx="853281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21" name="Shape 221"/>
            <p:cNvCxnSpPr/>
            <p:nvPr/>
          </p:nvCxnSpPr>
          <p:spPr>
            <a:xfrm>
              <a:off x="611187" y="6734175"/>
              <a:ext cx="853281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22" name="Shape 222"/>
            <p:cNvCxnSpPr/>
            <p:nvPr/>
          </p:nvCxnSpPr>
          <p:spPr>
            <a:xfrm>
              <a:off x="2484436" y="5114925"/>
              <a:ext cx="665956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223" name="Shape 223"/>
            <p:cNvCxnSpPr/>
            <p:nvPr/>
          </p:nvCxnSpPr>
          <p:spPr>
            <a:xfrm>
              <a:off x="2484436" y="3324225"/>
              <a:ext cx="665956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Producto o Producción Media</a:t>
            </a:r>
          </a:p>
        </p:txBody>
      </p:sp>
      <p:sp>
        <p:nvSpPr>
          <p:cNvPr id="229" name="Shape 229"/>
          <p:cNvSpPr txBox="1"/>
          <p:nvPr>
            <p:ph idx="1" type="body"/>
          </p:nvPr>
        </p:nvSpPr>
        <p:spPr>
          <a:xfrm>
            <a:off x="838200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La cantidad de unidades producidas por cada unidad de factor de la producción.</a:t>
            </a:r>
          </a:p>
          <a:p>
            <a:pPr indent="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El cociente entre la producción total y la cantidad de factor variable utilizada</a:t>
            </a: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Shape 230"/>
          <p:cNvCxnSpPr/>
          <p:nvPr/>
        </p:nvCxnSpPr>
        <p:spPr>
          <a:xfrm>
            <a:off x="4716462" y="6092825"/>
            <a:ext cx="41767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31" name="Shape 231"/>
          <p:cNvCxnSpPr/>
          <p:nvPr/>
        </p:nvCxnSpPr>
        <p:spPr>
          <a:xfrm>
            <a:off x="4787900" y="2420936"/>
            <a:ext cx="0" cy="417671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32" name="Shape 232"/>
          <p:cNvSpPr txBox="1"/>
          <p:nvPr/>
        </p:nvSpPr>
        <p:spPr>
          <a:xfrm>
            <a:off x="5435600" y="170021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Producto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7545386" y="6021387"/>
            <a:ext cx="1490661" cy="836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 Variable</a:t>
            </a:r>
          </a:p>
        </p:txBody>
      </p:sp>
      <p:sp>
        <p:nvSpPr>
          <p:cNvPr id="234" name="Shape 234"/>
          <p:cNvSpPr/>
          <p:nvPr/>
        </p:nvSpPr>
        <p:spPr>
          <a:xfrm>
            <a:off x="4787900" y="3644900"/>
            <a:ext cx="3825875" cy="2439987"/>
          </a:xfrm>
          <a:custGeom>
            <a:pathLst>
              <a:path extrusionOk="0" h="1537" w="2410">
                <a:moveTo>
                  <a:pt x="0" y="1537"/>
                </a:moveTo>
                <a:cubicBezTo>
                  <a:pt x="41" y="1444"/>
                  <a:pt x="144" y="1167"/>
                  <a:pt x="245" y="978"/>
                </a:cubicBezTo>
                <a:cubicBezTo>
                  <a:pt x="346" y="789"/>
                  <a:pt x="494" y="552"/>
                  <a:pt x="607" y="402"/>
                </a:cubicBezTo>
                <a:cubicBezTo>
                  <a:pt x="720" y="252"/>
                  <a:pt x="812" y="143"/>
                  <a:pt x="923" y="77"/>
                </a:cubicBezTo>
                <a:cubicBezTo>
                  <a:pt x="1034" y="11"/>
                  <a:pt x="1160" y="0"/>
                  <a:pt x="1276" y="3"/>
                </a:cubicBezTo>
                <a:cubicBezTo>
                  <a:pt x="1392" y="6"/>
                  <a:pt x="1505" y="45"/>
                  <a:pt x="1620" y="96"/>
                </a:cubicBezTo>
                <a:cubicBezTo>
                  <a:pt x="1735" y="147"/>
                  <a:pt x="1832" y="215"/>
                  <a:pt x="1964" y="310"/>
                </a:cubicBezTo>
                <a:cubicBezTo>
                  <a:pt x="2096" y="405"/>
                  <a:pt x="2317" y="590"/>
                  <a:pt x="2410" y="663"/>
                </a:cubicBezTo>
              </a:path>
            </a:pathLst>
          </a:cu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Shape 235"/>
          <p:cNvSpPr txBox="1"/>
          <p:nvPr/>
        </p:nvSpPr>
        <p:spPr>
          <a:xfrm>
            <a:off x="6858000" y="3003550"/>
            <a:ext cx="203517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Producción o Producto medio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Producto o Producción Marginal</a:t>
            </a:r>
          </a:p>
        </p:txBody>
      </p:sp>
      <p:sp>
        <p:nvSpPr>
          <p:cNvPr id="241" name="Shape 241"/>
          <p:cNvSpPr txBox="1"/>
          <p:nvPr>
            <p:ph idx="1" type="body"/>
          </p:nvPr>
        </p:nvSpPr>
        <p:spPr>
          <a:xfrm>
            <a:off x="838200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9525" lvl="0" marL="174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" lvl="0" marL="17462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incremento o disminución</a:t>
            </a:r>
            <a:r>
              <a:rPr b="0" i="0" lang="en-US" sz="2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de la producción total que resulta de utilizar una unidad adicional de factor de la producción variable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</p:txBody>
      </p:sp>
      <p:cxnSp>
        <p:nvCxnSpPr>
          <p:cNvPr id="242" name="Shape 242"/>
          <p:cNvCxnSpPr/>
          <p:nvPr/>
        </p:nvCxnSpPr>
        <p:spPr>
          <a:xfrm>
            <a:off x="4572000" y="2276475"/>
            <a:ext cx="0" cy="381634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43" name="Shape 243"/>
          <p:cNvCxnSpPr/>
          <p:nvPr/>
        </p:nvCxnSpPr>
        <p:spPr>
          <a:xfrm>
            <a:off x="4572000" y="4652962"/>
            <a:ext cx="457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44" name="Shape 244"/>
          <p:cNvSpPr txBox="1"/>
          <p:nvPr/>
        </p:nvSpPr>
        <p:spPr>
          <a:xfrm>
            <a:off x="5435600" y="170021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Producto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Marginal</a:t>
            </a:r>
          </a:p>
        </p:txBody>
      </p:sp>
      <p:sp>
        <p:nvSpPr>
          <p:cNvPr id="245" name="Shape 245"/>
          <p:cNvSpPr txBox="1"/>
          <p:nvPr/>
        </p:nvSpPr>
        <p:spPr>
          <a:xfrm>
            <a:off x="7618411" y="4437062"/>
            <a:ext cx="1490661" cy="1009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 Variable</a:t>
            </a:r>
          </a:p>
        </p:txBody>
      </p:sp>
      <p:sp>
        <p:nvSpPr>
          <p:cNvPr id="246" name="Shape 246"/>
          <p:cNvSpPr/>
          <p:nvPr/>
        </p:nvSpPr>
        <p:spPr>
          <a:xfrm>
            <a:off x="4572000" y="2852736"/>
            <a:ext cx="3805237" cy="2986086"/>
          </a:xfrm>
          <a:custGeom>
            <a:pathLst>
              <a:path extrusionOk="0" h="1881" w="2397">
                <a:moveTo>
                  <a:pt x="0" y="1142"/>
                </a:moveTo>
                <a:cubicBezTo>
                  <a:pt x="36" y="1058"/>
                  <a:pt x="157" y="770"/>
                  <a:pt x="214" y="636"/>
                </a:cubicBezTo>
                <a:cubicBezTo>
                  <a:pt x="271" y="502"/>
                  <a:pt x="298" y="429"/>
                  <a:pt x="344" y="338"/>
                </a:cubicBezTo>
                <a:cubicBezTo>
                  <a:pt x="390" y="247"/>
                  <a:pt x="439" y="143"/>
                  <a:pt x="492" y="88"/>
                </a:cubicBezTo>
                <a:cubicBezTo>
                  <a:pt x="545" y="33"/>
                  <a:pt x="595" y="10"/>
                  <a:pt x="660" y="5"/>
                </a:cubicBezTo>
                <a:cubicBezTo>
                  <a:pt x="725" y="0"/>
                  <a:pt x="818" y="20"/>
                  <a:pt x="883" y="60"/>
                </a:cubicBezTo>
                <a:cubicBezTo>
                  <a:pt x="948" y="100"/>
                  <a:pt x="998" y="181"/>
                  <a:pt x="1050" y="246"/>
                </a:cubicBezTo>
                <a:cubicBezTo>
                  <a:pt x="1102" y="311"/>
                  <a:pt x="1150" y="382"/>
                  <a:pt x="1198" y="450"/>
                </a:cubicBezTo>
                <a:cubicBezTo>
                  <a:pt x="1246" y="518"/>
                  <a:pt x="1278" y="570"/>
                  <a:pt x="1338" y="654"/>
                </a:cubicBezTo>
                <a:cubicBezTo>
                  <a:pt x="1398" y="738"/>
                  <a:pt x="1490" y="861"/>
                  <a:pt x="1561" y="952"/>
                </a:cubicBezTo>
                <a:cubicBezTo>
                  <a:pt x="1632" y="1043"/>
                  <a:pt x="1675" y="1095"/>
                  <a:pt x="1765" y="1202"/>
                </a:cubicBezTo>
                <a:cubicBezTo>
                  <a:pt x="1855" y="1309"/>
                  <a:pt x="1995" y="1480"/>
                  <a:pt x="2100" y="1593"/>
                </a:cubicBezTo>
                <a:cubicBezTo>
                  <a:pt x="2205" y="1706"/>
                  <a:pt x="2335" y="1821"/>
                  <a:pt x="2397" y="1881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Shape 247"/>
          <p:cNvSpPr txBox="1"/>
          <p:nvPr/>
        </p:nvSpPr>
        <p:spPr>
          <a:xfrm>
            <a:off x="7186611" y="265906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Marginal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Etapas de la producción</a:t>
            </a:r>
          </a:p>
        </p:txBody>
      </p:sp>
      <p:sp>
        <p:nvSpPr>
          <p:cNvPr id="253" name="Shape 253"/>
          <p:cNvSpPr txBox="1"/>
          <p:nvPr/>
        </p:nvSpPr>
        <p:spPr>
          <a:xfrm>
            <a:off x="6280150" y="2728911"/>
            <a:ext cx="2540000" cy="338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I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Rendimientos crecientes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Hasta Pma (máx.)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II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Rendimientos decrecientes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0&lt; Pma &lt;Pma (máx.)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III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Rendimientos negativos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Pma &lt; 0</a:t>
            </a:r>
          </a:p>
        </p:txBody>
      </p:sp>
      <p:cxnSp>
        <p:nvCxnSpPr>
          <p:cNvPr id="254" name="Shape 254"/>
          <p:cNvCxnSpPr/>
          <p:nvPr/>
        </p:nvCxnSpPr>
        <p:spPr>
          <a:xfrm>
            <a:off x="1042987" y="2492375"/>
            <a:ext cx="0" cy="35290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55" name="Shape 255"/>
          <p:cNvCxnSpPr/>
          <p:nvPr/>
        </p:nvCxnSpPr>
        <p:spPr>
          <a:xfrm>
            <a:off x="900112" y="5013325"/>
            <a:ext cx="51117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56" name="Shape 256"/>
          <p:cNvSpPr/>
          <p:nvPr/>
        </p:nvSpPr>
        <p:spPr>
          <a:xfrm>
            <a:off x="1042987" y="2997200"/>
            <a:ext cx="4016375" cy="2843211"/>
          </a:xfrm>
          <a:custGeom>
            <a:pathLst>
              <a:path extrusionOk="0" h="1791" w="2530">
                <a:moveTo>
                  <a:pt x="0" y="1279"/>
                </a:moveTo>
                <a:cubicBezTo>
                  <a:pt x="109" y="1022"/>
                  <a:pt x="219" y="765"/>
                  <a:pt x="363" y="553"/>
                </a:cubicBezTo>
                <a:cubicBezTo>
                  <a:pt x="507" y="341"/>
                  <a:pt x="676" y="18"/>
                  <a:pt x="862" y="9"/>
                </a:cubicBezTo>
                <a:cubicBezTo>
                  <a:pt x="1048" y="0"/>
                  <a:pt x="1298" y="329"/>
                  <a:pt x="1480" y="499"/>
                </a:cubicBezTo>
                <a:cubicBezTo>
                  <a:pt x="1662" y="669"/>
                  <a:pt x="1779" y="814"/>
                  <a:pt x="1954" y="1029"/>
                </a:cubicBezTo>
                <a:cubicBezTo>
                  <a:pt x="2129" y="1244"/>
                  <a:pt x="2410" y="1632"/>
                  <a:pt x="2530" y="1791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Shape 257"/>
          <p:cNvSpPr/>
          <p:nvPr/>
        </p:nvSpPr>
        <p:spPr>
          <a:xfrm>
            <a:off x="1042987" y="3573462"/>
            <a:ext cx="4291011" cy="1404936"/>
          </a:xfrm>
          <a:custGeom>
            <a:pathLst>
              <a:path extrusionOk="0" h="885" w="2703">
                <a:moveTo>
                  <a:pt x="0" y="885"/>
                </a:moveTo>
                <a:cubicBezTo>
                  <a:pt x="83" y="798"/>
                  <a:pt x="349" y="495"/>
                  <a:pt x="501" y="365"/>
                </a:cubicBezTo>
                <a:cubicBezTo>
                  <a:pt x="653" y="235"/>
                  <a:pt x="766" y="165"/>
                  <a:pt x="910" y="105"/>
                </a:cubicBezTo>
                <a:cubicBezTo>
                  <a:pt x="1054" y="45"/>
                  <a:pt x="1223" y="0"/>
                  <a:pt x="1365" y="3"/>
                </a:cubicBezTo>
                <a:cubicBezTo>
                  <a:pt x="1507" y="6"/>
                  <a:pt x="1623" y="68"/>
                  <a:pt x="1765" y="124"/>
                </a:cubicBezTo>
                <a:cubicBezTo>
                  <a:pt x="1907" y="180"/>
                  <a:pt x="2064" y="264"/>
                  <a:pt x="2220" y="337"/>
                </a:cubicBezTo>
                <a:cubicBezTo>
                  <a:pt x="2376" y="410"/>
                  <a:pt x="2623" y="523"/>
                  <a:pt x="2703" y="560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Shape 258"/>
          <p:cNvCxnSpPr/>
          <p:nvPr/>
        </p:nvCxnSpPr>
        <p:spPr>
          <a:xfrm>
            <a:off x="2411411" y="2565400"/>
            <a:ext cx="0" cy="24479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59" name="Shape 259"/>
          <p:cNvCxnSpPr/>
          <p:nvPr/>
        </p:nvCxnSpPr>
        <p:spPr>
          <a:xfrm>
            <a:off x="1042987" y="2997200"/>
            <a:ext cx="367188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60" name="Shape 260"/>
          <p:cNvCxnSpPr/>
          <p:nvPr/>
        </p:nvCxnSpPr>
        <p:spPr>
          <a:xfrm>
            <a:off x="1042987" y="3573462"/>
            <a:ext cx="367188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61" name="Shape 261"/>
          <p:cNvCxnSpPr/>
          <p:nvPr/>
        </p:nvCxnSpPr>
        <p:spPr>
          <a:xfrm>
            <a:off x="4427537" y="2565400"/>
            <a:ext cx="0" cy="24479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62" name="Shape 262"/>
          <p:cNvSpPr txBox="1"/>
          <p:nvPr/>
        </p:nvSpPr>
        <p:spPr>
          <a:xfrm>
            <a:off x="4787900" y="4724400"/>
            <a:ext cx="1490661" cy="1009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 Variable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2124075" y="21336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Producto medios y marginales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Shape 264"/>
          <p:cNvSpPr txBox="1"/>
          <p:nvPr/>
        </p:nvSpPr>
        <p:spPr>
          <a:xfrm>
            <a:off x="107950" y="242093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Pma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máx.</a:t>
            </a:r>
          </a:p>
        </p:txBody>
      </p:sp>
      <p:sp>
        <p:nvSpPr>
          <p:cNvPr id="265" name="Shape 265"/>
          <p:cNvSpPr txBox="1"/>
          <p:nvPr/>
        </p:nvSpPr>
        <p:spPr>
          <a:xfrm>
            <a:off x="107950" y="30194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Pme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máx.</a:t>
            </a:r>
          </a:p>
        </p:txBody>
      </p:sp>
      <p:sp>
        <p:nvSpPr>
          <p:cNvPr id="266" name="Shape 266"/>
          <p:cNvSpPr txBox="1"/>
          <p:nvPr/>
        </p:nvSpPr>
        <p:spPr>
          <a:xfrm>
            <a:off x="1258887" y="227647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I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2936875" y="22987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II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x="4521200" y="227647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III</a:t>
            </a:r>
          </a:p>
        </p:txBody>
      </p:sp>
      <p:sp>
        <p:nvSpPr>
          <p:cNvPr id="269" name="Shape 269"/>
          <p:cNvSpPr txBox="1"/>
          <p:nvPr/>
        </p:nvSpPr>
        <p:spPr>
          <a:xfrm>
            <a:off x="3225800" y="263683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Producción marginal</a:t>
            </a:r>
          </a:p>
        </p:txBody>
      </p:sp>
      <p:sp>
        <p:nvSpPr>
          <p:cNvPr id="270" name="Shape 270"/>
          <p:cNvSpPr txBox="1"/>
          <p:nvPr/>
        </p:nvSpPr>
        <p:spPr>
          <a:xfrm>
            <a:off x="4665662" y="34512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Producción media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Costos Fijos Totales</a:t>
            </a:r>
            <a:b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(solo en el corto plazo)</a:t>
            </a:r>
          </a:p>
        </p:txBody>
      </p:sp>
      <p:sp>
        <p:nvSpPr>
          <p:cNvPr id="276" name="Shape 276"/>
          <p:cNvSpPr txBox="1"/>
          <p:nvPr>
            <p:ph idx="1" type="body"/>
          </p:nvPr>
        </p:nvSpPr>
        <p:spPr>
          <a:xfrm>
            <a:off x="838200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0" sz="24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	PERMANECE CONSTANTE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AUNQUE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0" sz="24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	SE MODIFICA LA CANTIDAD PRODUCIDA</a:t>
            </a:r>
          </a:p>
        </p:txBody>
      </p:sp>
      <p:cxnSp>
        <p:nvCxnSpPr>
          <p:cNvPr id="277" name="Shape 277"/>
          <p:cNvCxnSpPr/>
          <p:nvPr/>
        </p:nvCxnSpPr>
        <p:spPr>
          <a:xfrm>
            <a:off x="4356100" y="2276475"/>
            <a:ext cx="0" cy="37449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78" name="Shape 278"/>
          <p:cNvCxnSpPr/>
          <p:nvPr/>
        </p:nvCxnSpPr>
        <p:spPr>
          <a:xfrm>
            <a:off x="3203575" y="5734050"/>
            <a:ext cx="594042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79" name="Shape 279"/>
          <p:cNvCxnSpPr/>
          <p:nvPr/>
        </p:nvCxnSpPr>
        <p:spPr>
          <a:xfrm>
            <a:off x="4356100" y="4581525"/>
            <a:ext cx="4537074" cy="0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80" name="Shape 280"/>
          <p:cNvSpPr txBox="1"/>
          <p:nvPr/>
        </p:nvSpPr>
        <p:spPr>
          <a:xfrm>
            <a:off x="8121650" y="53943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281" name="Shape 281"/>
          <p:cNvSpPr txBox="1"/>
          <p:nvPr/>
        </p:nvSpPr>
        <p:spPr>
          <a:xfrm>
            <a:off x="6948486" y="38608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Fijo</a:t>
            </a:r>
          </a:p>
        </p:txBody>
      </p:sp>
      <p:sp>
        <p:nvSpPr>
          <p:cNvPr id="282" name="Shape 282"/>
          <p:cNvSpPr txBox="1"/>
          <p:nvPr/>
        </p:nvSpPr>
        <p:spPr>
          <a:xfrm>
            <a:off x="3851275" y="162877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Costos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totales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Costos Fijos Medios</a:t>
            </a:r>
          </a:p>
        </p:txBody>
      </p:sp>
      <p:sp>
        <p:nvSpPr>
          <p:cNvPr id="288" name="Shape 288"/>
          <p:cNvSpPr txBox="1"/>
          <p:nvPr>
            <p:ph idx="1" type="body"/>
          </p:nvPr>
        </p:nvSpPr>
        <p:spPr>
          <a:xfrm>
            <a:off x="838200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Resultan del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cociente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COSTOS FIJOS TOTALES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0" sz="20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CANTIDAD DE UNIDADES DE BIEN PRODUCIDAS</a:t>
            </a:r>
          </a:p>
        </p:txBody>
      </p:sp>
      <p:cxnSp>
        <p:nvCxnSpPr>
          <p:cNvPr id="289" name="Shape 289"/>
          <p:cNvCxnSpPr/>
          <p:nvPr/>
        </p:nvCxnSpPr>
        <p:spPr>
          <a:xfrm rot="10800000">
            <a:off x="4932362" y="2276475"/>
            <a:ext cx="0" cy="381634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90" name="Shape 290"/>
          <p:cNvCxnSpPr/>
          <p:nvPr/>
        </p:nvCxnSpPr>
        <p:spPr>
          <a:xfrm>
            <a:off x="4067175" y="5876925"/>
            <a:ext cx="48259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91" name="Shape 291"/>
          <p:cNvSpPr txBox="1"/>
          <p:nvPr/>
        </p:nvSpPr>
        <p:spPr>
          <a:xfrm>
            <a:off x="4500562" y="170021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Costos Medios</a:t>
            </a:r>
          </a:p>
        </p:txBody>
      </p:sp>
      <p:sp>
        <p:nvSpPr>
          <p:cNvPr id="292" name="Shape 292"/>
          <p:cNvSpPr txBox="1"/>
          <p:nvPr/>
        </p:nvSpPr>
        <p:spPr>
          <a:xfrm>
            <a:off x="8172450" y="553878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293" name="Shape 293"/>
          <p:cNvSpPr/>
          <p:nvPr/>
        </p:nvSpPr>
        <p:spPr>
          <a:xfrm>
            <a:off x="5076825" y="2708275"/>
            <a:ext cx="4022725" cy="2940050"/>
          </a:xfrm>
          <a:custGeom>
            <a:pathLst>
              <a:path extrusionOk="0" h="1852" w="2534">
                <a:moveTo>
                  <a:pt x="0" y="0"/>
                </a:moveTo>
                <a:cubicBezTo>
                  <a:pt x="10" y="72"/>
                  <a:pt x="36" y="302"/>
                  <a:pt x="63" y="431"/>
                </a:cubicBezTo>
                <a:cubicBezTo>
                  <a:pt x="90" y="560"/>
                  <a:pt x="125" y="672"/>
                  <a:pt x="165" y="775"/>
                </a:cubicBezTo>
                <a:cubicBezTo>
                  <a:pt x="205" y="878"/>
                  <a:pt x="257" y="967"/>
                  <a:pt x="306" y="1050"/>
                </a:cubicBezTo>
                <a:cubicBezTo>
                  <a:pt x="355" y="1133"/>
                  <a:pt x="398" y="1206"/>
                  <a:pt x="462" y="1276"/>
                </a:cubicBezTo>
                <a:cubicBezTo>
                  <a:pt x="526" y="1346"/>
                  <a:pt x="605" y="1408"/>
                  <a:pt x="687" y="1468"/>
                </a:cubicBezTo>
                <a:cubicBezTo>
                  <a:pt x="769" y="1528"/>
                  <a:pt x="858" y="1594"/>
                  <a:pt x="955" y="1639"/>
                </a:cubicBezTo>
                <a:cubicBezTo>
                  <a:pt x="1052" y="1684"/>
                  <a:pt x="1172" y="1716"/>
                  <a:pt x="1271" y="1741"/>
                </a:cubicBezTo>
                <a:cubicBezTo>
                  <a:pt x="1370" y="1766"/>
                  <a:pt x="1435" y="1775"/>
                  <a:pt x="1549" y="1787"/>
                </a:cubicBezTo>
                <a:cubicBezTo>
                  <a:pt x="1663" y="1799"/>
                  <a:pt x="1794" y="1804"/>
                  <a:pt x="1958" y="1815"/>
                </a:cubicBezTo>
                <a:cubicBezTo>
                  <a:pt x="2122" y="1826"/>
                  <a:pt x="2414" y="1844"/>
                  <a:pt x="2534" y="1852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Shape 294"/>
          <p:cNvSpPr txBox="1"/>
          <p:nvPr/>
        </p:nvSpPr>
        <p:spPr>
          <a:xfrm>
            <a:off x="6970711" y="460216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Fijo Medio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Costos Variables Totales</a:t>
            </a:r>
          </a:p>
        </p:txBody>
      </p:sp>
      <p:sp>
        <p:nvSpPr>
          <p:cNvPr id="300" name="Shape 300"/>
          <p:cNvSpPr txBox="1"/>
          <p:nvPr>
            <p:ph idx="1" type="body"/>
          </p:nvPr>
        </p:nvSpPr>
        <p:spPr>
          <a:xfrm>
            <a:off x="838200" y="2362200"/>
            <a:ext cx="3770311" cy="3803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8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Varían siempre que se modifica la cantidad producida de bien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0" sz="24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cxnSp>
        <p:nvCxnSpPr>
          <p:cNvPr id="301" name="Shape 301"/>
          <p:cNvCxnSpPr/>
          <p:nvPr/>
        </p:nvCxnSpPr>
        <p:spPr>
          <a:xfrm rot="10800000">
            <a:off x="5003800" y="2349500"/>
            <a:ext cx="0" cy="388778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02" name="Shape 302"/>
          <p:cNvCxnSpPr/>
          <p:nvPr/>
        </p:nvCxnSpPr>
        <p:spPr>
          <a:xfrm>
            <a:off x="4716462" y="5949950"/>
            <a:ext cx="44275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03" name="Shape 303"/>
          <p:cNvSpPr txBox="1"/>
          <p:nvPr/>
        </p:nvSpPr>
        <p:spPr>
          <a:xfrm>
            <a:off x="4500562" y="170021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Costos Totales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8121650" y="56102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305" name="Shape 305"/>
          <p:cNvSpPr/>
          <p:nvPr/>
        </p:nvSpPr>
        <p:spPr>
          <a:xfrm>
            <a:off x="5003800" y="3141661"/>
            <a:ext cx="3960812" cy="2808286"/>
          </a:xfrm>
          <a:custGeom>
            <a:pathLst>
              <a:path extrusionOk="0" h="1769" w="2495">
                <a:moveTo>
                  <a:pt x="0" y="1769"/>
                </a:moveTo>
                <a:cubicBezTo>
                  <a:pt x="40" y="1688"/>
                  <a:pt x="136" y="1417"/>
                  <a:pt x="239" y="1282"/>
                </a:cubicBezTo>
                <a:cubicBezTo>
                  <a:pt x="342" y="1147"/>
                  <a:pt x="459" y="1019"/>
                  <a:pt x="620" y="957"/>
                </a:cubicBezTo>
                <a:cubicBezTo>
                  <a:pt x="781" y="895"/>
                  <a:pt x="996" y="924"/>
                  <a:pt x="1205" y="910"/>
                </a:cubicBezTo>
                <a:cubicBezTo>
                  <a:pt x="1414" y="896"/>
                  <a:pt x="1692" y="929"/>
                  <a:pt x="1874" y="873"/>
                </a:cubicBezTo>
                <a:cubicBezTo>
                  <a:pt x="2056" y="817"/>
                  <a:pt x="2198" y="721"/>
                  <a:pt x="2301" y="576"/>
                </a:cubicBezTo>
                <a:cubicBezTo>
                  <a:pt x="2404" y="431"/>
                  <a:pt x="2455" y="120"/>
                  <a:pt x="2495" y="0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Shape 306"/>
          <p:cNvSpPr txBox="1"/>
          <p:nvPr/>
        </p:nvSpPr>
        <p:spPr>
          <a:xfrm>
            <a:off x="6970711" y="330676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Costos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Costo Variable Medio</a:t>
            </a:r>
          </a:p>
        </p:txBody>
      </p:sp>
      <p:sp>
        <p:nvSpPr>
          <p:cNvPr id="312" name="Shape 312"/>
          <p:cNvSpPr txBox="1"/>
          <p:nvPr>
            <p:ph idx="1" type="body"/>
          </p:nvPr>
        </p:nvSpPr>
        <p:spPr>
          <a:xfrm>
            <a:off x="838200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Resultan del </a:t>
            </a: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cociente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COSTO VARIABLE TOTAL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0" sz="20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0" sz="20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LA CANTIDAD DE UNIDADES PRODUCIDAS DE BIEN</a:t>
            </a:r>
          </a:p>
        </p:txBody>
      </p:sp>
      <p:cxnSp>
        <p:nvCxnSpPr>
          <p:cNvPr id="313" name="Shape 313"/>
          <p:cNvCxnSpPr/>
          <p:nvPr/>
        </p:nvCxnSpPr>
        <p:spPr>
          <a:xfrm>
            <a:off x="4643437" y="5805487"/>
            <a:ext cx="41052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14" name="Shape 314"/>
          <p:cNvCxnSpPr/>
          <p:nvPr/>
        </p:nvCxnSpPr>
        <p:spPr>
          <a:xfrm rot="10800000">
            <a:off x="5003800" y="2349499"/>
            <a:ext cx="0" cy="36734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15" name="Shape 315"/>
          <p:cNvSpPr txBox="1"/>
          <p:nvPr/>
        </p:nvSpPr>
        <p:spPr>
          <a:xfrm>
            <a:off x="4643437" y="170021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Costos Medios</a:t>
            </a:r>
          </a:p>
        </p:txBody>
      </p:sp>
      <p:sp>
        <p:nvSpPr>
          <p:cNvPr id="316" name="Shape 316"/>
          <p:cNvSpPr txBox="1"/>
          <p:nvPr/>
        </p:nvSpPr>
        <p:spPr>
          <a:xfrm>
            <a:off x="8121650" y="546735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317" name="Shape 317"/>
          <p:cNvSpPr/>
          <p:nvPr/>
        </p:nvSpPr>
        <p:spPr>
          <a:xfrm>
            <a:off x="5219700" y="2636836"/>
            <a:ext cx="3703637" cy="2286000"/>
          </a:xfrm>
          <a:custGeom>
            <a:pathLst>
              <a:path extrusionOk="0" h="1440" w="2333">
                <a:moveTo>
                  <a:pt x="0" y="128"/>
                </a:moveTo>
                <a:cubicBezTo>
                  <a:pt x="11" y="182"/>
                  <a:pt x="40" y="345"/>
                  <a:pt x="66" y="455"/>
                </a:cubicBezTo>
                <a:cubicBezTo>
                  <a:pt x="92" y="565"/>
                  <a:pt x="106" y="671"/>
                  <a:pt x="159" y="790"/>
                </a:cubicBezTo>
                <a:cubicBezTo>
                  <a:pt x="212" y="909"/>
                  <a:pt x="289" y="1069"/>
                  <a:pt x="382" y="1171"/>
                </a:cubicBezTo>
                <a:cubicBezTo>
                  <a:pt x="475" y="1273"/>
                  <a:pt x="597" y="1366"/>
                  <a:pt x="716" y="1403"/>
                </a:cubicBezTo>
                <a:cubicBezTo>
                  <a:pt x="835" y="1440"/>
                  <a:pt x="976" y="1432"/>
                  <a:pt x="1098" y="1393"/>
                </a:cubicBezTo>
                <a:cubicBezTo>
                  <a:pt x="1220" y="1354"/>
                  <a:pt x="1337" y="1265"/>
                  <a:pt x="1450" y="1171"/>
                </a:cubicBezTo>
                <a:cubicBezTo>
                  <a:pt x="1563" y="1077"/>
                  <a:pt x="1674" y="945"/>
                  <a:pt x="1775" y="827"/>
                </a:cubicBezTo>
                <a:cubicBezTo>
                  <a:pt x="1876" y="709"/>
                  <a:pt x="1961" y="603"/>
                  <a:pt x="2054" y="465"/>
                </a:cubicBezTo>
                <a:cubicBezTo>
                  <a:pt x="2147" y="327"/>
                  <a:pt x="2275" y="97"/>
                  <a:pt x="2333" y="0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Shape 318"/>
          <p:cNvSpPr txBox="1"/>
          <p:nvPr/>
        </p:nvSpPr>
        <p:spPr>
          <a:xfrm>
            <a:off x="7021511" y="2852736"/>
            <a:ext cx="1582737" cy="720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Costo Variable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Costo Total</a:t>
            </a:r>
          </a:p>
        </p:txBody>
      </p:sp>
      <p:sp>
        <p:nvSpPr>
          <p:cNvPr id="324" name="Shape 324"/>
          <p:cNvSpPr txBox="1"/>
          <p:nvPr>
            <p:ph idx="1" type="body"/>
          </p:nvPr>
        </p:nvSpPr>
        <p:spPr>
          <a:xfrm>
            <a:off x="838200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la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suma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COSTO FIJO TOTAL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+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1" i="0" sz="24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COSTO VARIABLE TOTAL</a:t>
            </a:r>
          </a:p>
        </p:txBody>
      </p:sp>
      <p:cxnSp>
        <p:nvCxnSpPr>
          <p:cNvPr id="325" name="Shape 325"/>
          <p:cNvCxnSpPr/>
          <p:nvPr/>
        </p:nvCxnSpPr>
        <p:spPr>
          <a:xfrm rot="10800000">
            <a:off x="4356100" y="2420936"/>
            <a:ext cx="0" cy="396081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26" name="Shape 326"/>
          <p:cNvCxnSpPr/>
          <p:nvPr/>
        </p:nvCxnSpPr>
        <p:spPr>
          <a:xfrm>
            <a:off x="4211637" y="6092825"/>
            <a:ext cx="493236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27" name="Shape 327"/>
          <p:cNvSpPr txBox="1"/>
          <p:nvPr/>
        </p:nvSpPr>
        <p:spPr>
          <a:xfrm>
            <a:off x="4067175" y="172243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Costos Totales</a:t>
            </a:r>
          </a:p>
        </p:txBody>
      </p:sp>
      <p:sp>
        <p:nvSpPr>
          <p:cNvPr id="328" name="Shape 328"/>
          <p:cNvSpPr txBox="1"/>
          <p:nvPr/>
        </p:nvSpPr>
        <p:spPr>
          <a:xfrm>
            <a:off x="7956550" y="5754687"/>
            <a:ext cx="11525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Cantidades</a:t>
            </a:r>
          </a:p>
        </p:txBody>
      </p:sp>
      <p:cxnSp>
        <p:nvCxnSpPr>
          <p:cNvPr id="329" name="Shape 329"/>
          <p:cNvCxnSpPr/>
          <p:nvPr/>
        </p:nvCxnSpPr>
        <p:spPr>
          <a:xfrm>
            <a:off x="4356100" y="4941887"/>
            <a:ext cx="4752974" cy="0"/>
          </a:xfrm>
          <a:prstGeom prst="straightConnector1">
            <a:avLst/>
          </a:prstGeom>
          <a:noFill/>
          <a:ln cap="flat" cmpd="sng" w="31750">
            <a:solidFill>
              <a:srgbClr val="800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30" name="Shape 330"/>
          <p:cNvSpPr txBox="1"/>
          <p:nvPr/>
        </p:nvSpPr>
        <p:spPr>
          <a:xfrm>
            <a:off x="7812086" y="47466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663300"/>
                </a:solidFill>
                <a:latin typeface="Arial"/>
                <a:ea typeface="Arial"/>
                <a:cs typeface="Arial"/>
                <a:sym typeface="Arial"/>
              </a:rPr>
              <a:t>Costo Fijo Total</a:t>
            </a:r>
          </a:p>
        </p:txBody>
      </p:sp>
      <p:sp>
        <p:nvSpPr>
          <p:cNvPr id="331" name="Shape 331"/>
          <p:cNvSpPr/>
          <p:nvPr/>
        </p:nvSpPr>
        <p:spPr>
          <a:xfrm>
            <a:off x="4356100" y="3429000"/>
            <a:ext cx="4625975" cy="2700337"/>
          </a:xfrm>
          <a:custGeom>
            <a:pathLst>
              <a:path extrusionOk="0" h="1701" w="2914">
                <a:moveTo>
                  <a:pt x="0" y="1701"/>
                </a:moveTo>
                <a:cubicBezTo>
                  <a:pt x="43" y="1625"/>
                  <a:pt x="143" y="1358"/>
                  <a:pt x="257" y="1245"/>
                </a:cubicBezTo>
                <a:cubicBezTo>
                  <a:pt x="371" y="1132"/>
                  <a:pt x="543" y="1067"/>
                  <a:pt x="684" y="1022"/>
                </a:cubicBezTo>
                <a:cubicBezTo>
                  <a:pt x="825" y="977"/>
                  <a:pt x="912" y="984"/>
                  <a:pt x="1102" y="975"/>
                </a:cubicBezTo>
                <a:cubicBezTo>
                  <a:pt x="1292" y="966"/>
                  <a:pt x="1626" y="988"/>
                  <a:pt x="1827" y="966"/>
                </a:cubicBezTo>
                <a:cubicBezTo>
                  <a:pt x="2028" y="944"/>
                  <a:pt x="2182" y="912"/>
                  <a:pt x="2310" y="845"/>
                </a:cubicBezTo>
                <a:cubicBezTo>
                  <a:pt x="2438" y="778"/>
                  <a:pt x="2497" y="707"/>
                  <a:pt x="2598" y="566"/>
                </a:cubicBezTo>
                <a:cubicBezTo>
                  <a:pt x="2699" y="425"/>
                  <a:pt x="2848" y="118"/>
                  <a:pt x="2914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Shape 332"/>
          <p:cNvSpPr txBox="1"/>
          <p:nvPr/>
        </p:nvSpPr>
        <p:spPr>
          <a:xfrm>
            <a:off x="7019925" y="36671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</a:p>
        </p:txBody>
      </p:sp>
      <p:sp>
        <p:nvSpPr>
          <p:cNvPr id="333" name="Shape 333"/>
          <p:cNvSpPr/>
          <p:nvPr/>
        </p:nvSpPr>
        <p:spPr>
          <a:xfrm>
            <a:off x="4338637" y="3429000"/>
            <a:ext cx="4625975" cy="2700337"/>
          </a:xfrm>
          <a:custGeom>
            <a:pathLst>
              <a:path extrusionOk="0" h="1701" w="2914">
                <a:moveTo>
                  <a:pt x="0" y="1701"/>
                </a:moveTo>
                <a:cubicBezTo>
                  <a:pt x="43" y="1625"/>
                  <a:pt x="143" y="1358"/>
                  <a:pt x="257" y="1245"/>
                </a:cubicBezTo>
                <a:cubicBezTo>
                  <a:pt x="371" y="1132"/>
                  <a:pt x="543" y="1067"/>
                  <a:pt x="684" y="1022"/>
                </a:cubicBezTo>
                <a:cubicBezTo>
                  <a:pt x="825" y="977"/>
                  <a:pt x="912" y="984"/>
                  <a:pt x="1102" y="975"/>
                </a:cubicBezTo>
                <a:cubicBezTo>
                  <a:pt x="1292" y="966"/>
                  <a:pt x="1626" y="988"/>
                  <a:pt x="1827" y="966"/>
                </a:cubicBezTo>
                <a:cubicBezTo>
                  <a:pt x="2028" y="944"/>
                  <a:pt x="2182" y="912"/>
                  <a:pt x="2310" y="845"/>
                </a:cubicBezTo>
                <a:cubicBezTo>
                  <a:pt x="2438" y="778"/>
                  <a:pt x="2497" y="707"/>
                  <a:pt x="2598" y="566"/>
                </a:cubicBezTo>
                <a:cubicBezTo>
                  <a:pt x="2699" y="425"/>
                  <a:pt x="2848" y="118"/>
                  <a:pt x="2914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Shape 334"/>
          <p:cNvSpPr txBox="1"/>
          <p:nvPr/>
        </p:nvSpPr>
        <p:spPr>
          <a:xfrm>
            <a:off x="6804025" y="23495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Costo Total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/>
          <p:nvPr>
            <p:ph type="title"/>
          </p:nvPr>
        </p:nvSpPr>
        <p:spPr>
          <a:xfrm>
            <a:off x="755650" y="765175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Costo Medio</a:t>
            </a:r>
          </a:p>
        </p:txBody>
      </p:sp>
      <p:sp>
        <p:nvSpPr>
          <p:cNvPr id="340" name="Shape 340"/>
          <p:cNvSpPr txBox="1"/>
          <p:nvPr>
            <p:ph idx="1" type="body"/>
          </p:nvPr>
        </p:nvSpPr>
        <p:spPr>
          <a:xfrm>
            <a:off x="838200" y="23622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la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suma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COSTO FIJO MEDIO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+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VARIABLE MEDIO</a:t>
            </a:r>
          </a:p>
        </p:txBody>
      </p:sp>
      <p:cxnSp>
        <p:nvCxnSpPr>
          <p:cNvPr id="341" name="Shape 341"/>
          <p:cNvCxnSpPr/>
          <p:nvPr/>
        </p:nvCxnSpPr>
        <p:spPr>
          <a:xfrm rot="10800000">
            <a:off x="4643437" y="2349500"/>
            <a:ext cx="0" cy="381634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42" name="Shape 342"/>
          <p:cNvCxnSpPr/>
          <p:nvPr/>
        </p:nvCxnSpPr>
        <p:spPr>
          <a:xfrm>
            <a:off x="4067175" y="5805487"/>
            <a:ext cx="48259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43" name="Shape 343"/>
          <p:cNvSpPr txBox="1"/>
          <p:nvPr/>
        </p:nvSpPr>
        <p:spPr>
          <a:xfrm>
            <a:off x="3924300" y="1917700"/>
            <a:ext cx="1511299" cy="5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Costos Medios</a:t>
            </a:r>
          </a:p>
        </p:txBody>
      </p:sp>
      <p:sp>
        <p:nvSpPr>
          <p:cNvPr id="344" name="Shape 344"/>
          <p:cNvSpPr txBox="1"/>
          <p:nvPr/>
        </p:nvSpPr>
        <p:spPr>
          <a:xfrm>
            <a:off x="8101011" y="5734050"/>
            <a:ext cx="1008062" cy="5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345" name="Shape 345"/>
          <p:cNvSpPr/>
          <p:nvPr/>
        </p:nvSpPr>
        <p:spPr>
          <a:xfrm>
            <a:off x="5003800" y="4365625"/>
            <a:ext cx="3730625" cy="1216025"/>
          </a:xfrm>
          <a:custGeom>
            <a:pathLst>
              <a:path extrusionOk="0" h="766" w="2350">
                <a:moveTo>
                  <a:pt x="0" y="0"/>
                </a:moveTo>
                <a:cubicBezTo>
                  <a:pt x="19" y="31"/>
                  <a:pt x="49" y="107"/>
                  <a:pt x="114" y="186"/>
                </a:cubicBezTo>
                <a:cubicBezTo>
                  <a:pt x="179" y="265"/>
                  <a:pt x="289" y="393"/>
                  <a:pt x="393" y="474"/>
                </a:cubicBezTo>
                <a:cubicBezTo>
                  <a:pt x="497" y="555"/>
                  <a:pt x="601" y="625"/>
                  <a:pt x="737" y="670"/>
                </a:cubicBezTo>
                <a:cubicBezTo>
                  <a:pt x="873" y="715"/>
                  <a:pt x="1046" y="729"/>
                  <a:pt x="1210" y="744"/>
                </a:cubicBezTo>
                <a:cubicBezTo>
                  <a:pt x="1374" y="759"/>
                  <a:pt x="1531" y="758"/>
                  <a:pt x="1721" y="762"/>
                </a:cubicBezTo>
                <a:cubicBezTo>
                  <a:pt x="1911" y="766"/>
                  <a:pt x="2219" y="765"/>
                  <a:pt x="2350" y="766"/>
                </a:cubicBezTo>
              </a:path>
            </a:pathLst>
          </a:custGeom>
          <a:noFill/>
          <a:ln cap="flat" cmpd="sng" w="25400">
            <a:solidFill>
              <a:srgbClr val="9933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Shape 346"/>
          <p:cNvSpPr txBox="1"/>
          <p:nvPr/>
        </p:nvSpPr>
        <p:spPr>
          <a:xfrm>
            <a:off x="6877050" y="5084762"/>
            <a:ext cx="1727199" cy="5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Costo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Fijo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</a:p>
        </p:txBody>
      </p:sp>
      <p:sp>
        <p:nvSpPr>
          <p:cNvPr id="347" name="Shape 347"/>
          <p:cNvSpPr/>
          <p:nvPr/>
        </p:nvSpPr>
        <p:spPr>
          <a:xfrm>
            <a:off x="5076825" y="2060575"/>
            <a:ext cx="3702050" cy="3252786"/>
          </a:xfrm>
          <a:custGeom>
            <a:pathLst>
              <a:path extrusionOk="0" h="2049" w="2332">
                <a:moveTo>
                  <a:pt x="0" y="1173"/>
                </a:moveTo>
                <a:cubicBezTo>
                  <a:pt x="39" y="1236"/>
                  <a:pt x="122" y="1420"/>
                  <a:pt x="233" y="1554"/>
                </a:cubicBezTo>
                <a:cubicBezTo>
                  <a:pt x="344" y="1688"/>
                  <a:pt x="529" y="1909"/>
                  <a:pt x="668" y="1979"/>
                </a:cubicBezTo>
                <a:cubicBezTo>
                  <a:pt x="807" y="2049"/>
                  <a:pt x="946" y="2025"/>
                  <a:pt x="1070" y="1973"/>
                </a:cubicBezTo>
                <a:cubicBezTo>
                  <a:pt x="1194" y="1921"/>
                  <a:pt x="1290" y="1817"/>
                  <a:pt x="1413" y="1666"/>
                </a:cubicBezTo>
                <a:cubicBezTo>
                  <a:pt x="1536" y="1515"/>
                  <a:pt x="1697" y="1252"/>
                  <a:pt x="1810" y="1067"/>
                </a:cubicBezTo>
                <a:cubicBezTo>
                  <a:pt x="1923" y="882"/>
                  <a:pt x="2002" y="734"/>
                  <a:pt x="2089" y="556"/>
                </a:cubicBezTo>
                <a:cubicBezTo>
                  <a:pt x="2176" y="378"/>
                  <a:pt x="2281" y="116"/>
                  <a:pt x="2332" y="0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Shape 348"/>
          <p:cNvSpPr txBox="1"/>
          <p:nvPr/>
        </p:nvSpPr>
        <p:spPr>
          <a:xfrm>
            <a:off x="6588125" y="2278061"/>
            <a:ext cx="1800225" cy="5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Costo Medio</a:t>
            </a:r>
          </a:p>
        </p:txBody>
      </p:sp>
      <p:sp>
        <p:nvSpPr>
          <p:cNvPr id="349" name="Shape 349"/>
          <p:cNvSpPr/>
          <p:nvPr/>
        </p:nvSpPr>
        <p:spPr>
          <a:xfrm>
            <a:off x="4787900" y="2741611"/>
            <a:ext cx="3702050" cy="2559050"/>
          </a:xfrm>
          <a:custGeom>
            <a:pathLst>
              <a:path extrusionOk="0" h="1612" w="2332">
                <a:moveTo>
                  <a:pt x="0" y="390"/>
                </a:moveTo>
                <a:cubicBezTo>
                  <a:pt x="59" y="497"/>
                  <a:pt x="215" y="841"/>
                  <a:pt x="353" y="1031"/>
                </a:cubicBezTo>
                <a:cubicBezTo>
                  <a:pt x="491" y="1221"/>
                  <a:pt x="678" y="1446"/>
                  <a:pt x="826" y="1529"/>
                </a:cubicBezTo>
                <a:cubicBezTo>
                  <a:pt x="974" y="1612"/>
                  <a:pt x="1117" y="1580"/>
                  <a:pt x="1244" y="1529"/>
                </a:cubicBezTo>
                <a:cubicBezTo>
                  <a:pt x="1371" y="1478"/>
                  <a:pt x="1464" y="1373"/>
                  <a:pt x="1587" y="1222"/>
                </a:cubicBezTo>
                <a:cubicBezTo>
                  <a:pt x="1710" y="1071"/>
                  <a:pt x="1860" y="827"/>
                  <a:pt x="1984" y="623"/>
                </a:cubicBezTo>
                <a:cubicBezTo>
                  <a:pt x="2108" y="419"/>
                  <a:pt x="2260" y="130"/>
                  <a:pt x="2332" y="0"/>
                </a:cubicBezTo>
              </a:path>
            </a:pathLst>
          </a:custGeom>
          <a:noFill/>
          <a:ln cap="flat" cmpd="sng" w="412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Shape 350"/>
          <p:cNvSpPr txBox="1"/>
          <p:nvPr/>
        </p:nvSpPr>
        <p:spPr>
          <a:xfrm>
            <a:off x="5724525" y="4292600"/>
            <a:ext cx="2447925" cy="504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</a:p>
        </p:txBody>
      </p:sp>
      <p:cxnSp>
        <p:nvCxnSpPr>
          <p:cNvPr id="351" name="Shape 351"/>
          <p:cNvCxnSpPr/>
          <p:nvPr/>
        </p:nvCxnSpPr>
        <p:spPr>
          <a:xfrm rot="10800000">
            <a:off x="8748711" y="5592762"/>
            <a:ext cx="0" cy="212724"/>
          </a:xfrm>
          <a:prstGeom prst="straightConnector1">
            <a:avLst/>
          </a:prstGeom>
          <a:noFill/>
          <a:ln cap="rnd" cmpd="sng" w="44450">
            <a:solidFill>
              <a:srgbClr val="9933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52" name="Shape 352"/>
          <p:cNvSpPr/>
          <p:nvPr/>
        </p:nvSpPr>
        <p:spPr>
          <a:xfrm>
            <a:off x="5003800" y="4333875"/>
            <a:ext cx="47625" cy="1471611"/>
          </a:xfrm>
          <a:custGeom>
            <a:pathLst>
              <a:path extrusionOk="0" h="927" w="30">
                <a:moveTo>
                  <a:pt x="30" y="927"/>
                </a:moveTo>
                <a:lnTo>
                  <a:pt x="0" y="0"/>
                </a:lnTo>
              </a:path>
            </a:pathLst>
          </a:custGeom>
          <a:noFill/>
          <a:ln cap="rnd" cmpd="sng" w="44450">
            <a:solidFill>
              <a:srgbClr val="9933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Costo Marginal</a:t>
            </a:r>
          </a:p>
        </p:txBody>
      </p:sp>
      <p:sp>
        <p:nvSpPr>
          <p:cNvPr id="358" name="Shape 358"/>
          <p:cNvSpPr txBox="1"/>
          <p:nvPr>
            <p:ph idx="1" type="body"/>
          </p:nvPr>
        </p:nvSpPr>
        <p:spPr>
          <a:xfrm>
            <a:off x="827087" y="2349500"/>
            <a:ext cx="3770311" cy="37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el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cociente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entre: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El aumento del costo total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y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El aumento de la  producción total obtenido</a:t>
            </a:r>
          </a:p>
        </p:txBody>
      </p:sp>
      <p:cxnSp>
        <p:nvCxnSpPr>
          <p:cNvPr id="359" name="Shape 359"/>
          <p:cNvCxnSpPr/>
          <p:nvPr/>
        </p:nvCxnSpPr>
        <p:spPr>
          <a:xfrm rot="10800000">
            <a:off x="4643437" y="2420937"/>
            <a:ext cx="0" cy="3384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60" name="Shape 360"/>
          <p:cNvCxnSpPr/>
          <p:nvPr/>
        </p:nvCxnSpPr>
        <p:spPr>
          <a:xfrm>
            <a:off x="4643437" y="5805487"/>
            <a:ext cx="4032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361" name="Shape 361"/>
          <p:cNvSpPr txBox="1"/>
          <p:nvPr/>
        </p:nvSpPr>
        <p:spPr>
          <a:xfrm>
            <a:off x="3851275" y="1989136"/>
            <a:ext cx="158432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Costos Medios</a:t>
            </a:r>
          </a:p>
        </p:txBody>
      </p:sp>
      <p:sp>
        <p:nvSpPr>
          <p:cNvPr id="362" name="Shape 362"/>
          <p:cNvSpPr txBox="1"/>
          <p:nvPr/>
        </p:nvSpPr>
        <p:spPr>
          <a:xfrm>
            <a:off x="7739061" y="5805487"/>
            <a:ext cx="1296986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363" name="Shape 363"/>
          <p:cNvSpPr/>
          <p:nvPr/>
        </p:nvSpPr>
        <p:spPr>
          <a:xfrm>
            <a:off x="4932362" y="2781300"/>
            <a:ext cx="2989261" cy="2479675"/>
          </a:xfrm>
          <a:custGeom>
            <a:pathLst>
              <a:path extrusionOk="0" h="1562" w="1883">
                <a:moveTo>
                  <a:pt x="0" y="1100"/>
                </a:moveTo>
                <a:cubicBezTo>
                  <a:pt x="34" y="1139"/>
                  <a:pt x="112" y="1258"/>
                  <a:pt x="205" y="1332"/>
                </a:cubicBezTo>
                <a:cubicBezTo>
                  <a:pt x="298" y="1406"/>
                  <a:pt x="445" y="1530"/>
                  <a:pt x="558" y="1546"/>
                </a:cubicBezTo>
                <a:cubicBezTo>
                  <a:pt x="671" y="1562"/>
                  <a:pt x="784" y="1496"/>
                  <a:pt x="883" y="1425"/>
                </a:cubicBezTo>
                <a:cubicBezTo>
                  <a:pt x="982" y="1354"/>
                  <a:pt x="1055" y="1247"/>
                  <a:pt x="1152" y="1119"/>
                </a:cubicBezTo>
                <a:cubicBezTo>
                  <a:pt x="1249" y="991"/>
                  <a:pt x="1346" y="840"/>
                  <a:pt x="1468" y="654"/>
                </a:cubicBezTo>
                <a:cubicBezTo>
                  <a:pt x="1590" y="468"/>
                  <a:pt x="1797" y="136"/>
                  <a:pt x="1883" y="0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Shape 364"/>
          <p:cNvSpPr txBox="1"/>
          <p:nvPr/>
        </p:nvSpPr>
        <p:spPr>
          <a:xfrm>
            <a:off x="5724525" y="3213100"/>
            <a:ext cx="1584325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Costo Marginal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/>
          <p:nvPr>
            <p:ph type="title"/>
          </p:nvPr>
        </p:nvSpPr>
        <p:spPr>
          <a:xfrm>
            <a:off x="755650" y="765175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Relación entre los Costos Medios y el Costo Marginal</a:t>
            </a:r>
          </a:p>
        </p:txBody>
      </p:sp>
      <p:sp>
        <p:nvSpPr>
          <p:cNvPr id="370" name="Shape 370"/>
          <p:cNvSpPr txBox="1"/>
          <p:nvPr/>
        </p:nvSpPr>
        <p:spPr>
          <a:xfrm>
            <a:off x="5940425" y="2420936"/>
            <a:ext cx="2952750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curva de costo Marginal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6600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cruza:</a:t>
            </a: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la curva de Costo Medio en el punto (A)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la curva de Costo Variable Medio en el punto (B) 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6600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Ambos son valores mínimos</a:t>
            </a:r>
          </a:p>
        </p:txBody>
      </p:sp>
      <p:cxnSp>
        <p:nvCxnSpPr>
          <p:cNvPr id="371" name="Shape 371"/>
          <p:cNvCxnSpPr/>
          <p:nvPr/>
        </p:nvCxnSpPr>
        <p:spPr>
          <a:xfrm rot="10800000">
            <a:off x="1403350" y="2492375"/>
            <a:ext cx="0" cy="345757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72" name="Shape 372"/>
          <p:cNvCxnSpPr/>
          <p:nvPr/>
        </p:nvCxnSpPr>
        <p:spPr>
          <a:xfrm>
            <a:off x="1403350" y="5949950"/>
            <a:ext cx="39608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73" name="Shape 373"/>
          <p:cNvSpPr/>
          <p:nvPr/>
        </p:nvSpPr>
        <p:spPr>
          <a:xfrm>
            <a:off x="1763711" y="2852736"/>
            <a:ext cx="2468562" cy="2671762"/>
          </a:xfrm>
          <a:custGeom>
            <a:pathLst>
              <a:path extrusionOk="0" h="1683" w="1555">
                <a:moveTo>
                  <a:pt x="0" y="1150"/>
                </a:moveTo>
                <a:cubicBezTo>
                  <a:pt x="30" y="1214"/>
                  <a:pt x="124" y="1449"/>
                  <a:pt x="180" y="1536"/>
                </a:cubicBezTo>
                <a:cubicBezTo>
                  <a:pt x="236" y="1623"/>
                  <a:pt x="265" y="1667"/>
                  <a:pt x="338" y="1675"/>
                </a:cubicBezTo>
                <a:cubicBezTo>
                  <a:pt x="411" y="1683"/>
                  <a:pt x="510" y="1677"/>
                  <a:pt x="617" y="1582"/>
                </a:cubicBezTo>
                <a:cubicBezTo>
                  <a:pt x="724" y="1487"/>
                  <a:pt x="874" y="1269"/>
                  <a:pt x="979" y="1106"/>
                </a:cubicBezTo>
                <a:cubicBezTo>
                  <a:pt x="1084" y="943"/>
                  <a:pt x="1184" y="729"/>
                  <a:pt x="1249" y="604"/>
                </a:cubicBezTo>
                <a:cubicBezTo>
                  <a:pt x="1314" y="479"/>
                  <a:pt x="1319" y="454"/>
                  <a:pt x="1370" y="353"/>
                </a:cubicBezTo>
                <a:cubicBezTo>
                  <a:pt x="1421" y="252"/>
                  <a:pt x="1517" y="74"/>
                  <a:pt x="1555" y="0"/>
                </a:cubicBezTo>
              </a:path>
            </a:pathLst>
          </a:custGeom>
          <a:noFill/>
          <a:ln cap="flat" cmpd="sng" w="9525">
            <a:solidFill>
              <a:srgbClr val="9933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Shape 374"/>
          <p:cNvSpPr/>
          <p:nvPr/>
        </p:nvSpPr>
        <p:spPr>
          <a:xfrm>
            <a:off x="1619250" y="4292600"/>
            <a:ext cx="3705225" cy="1485900"/>
          </a:xfrm>
          <a:custGeom>
            <a:pathLst>
              <a:path extrusionOk="0" h="936" w="2334">
                <a:moveTo>
                  <a:pt x="0" y="0"/>
                </a:moveTo>
                <a:cubicBezTo>
                  <a:pt x="58" y="90"/>
                  <a:pt x="200" y="400"/>
                  <a:pt x="346" y="538"/>
                </a:cubicBezTo>
                <a:cubicBezTo>
                  <a:pt x="492" y="676"/>
                  <a:pt x="652" y="762"/>
                  <a:pt x="875" y="826"/>
                </a:cubicBezTo>
                <a:cubicBezTo>
                  <a:pt x="1098" y="890"/>
                  <a:pt x="1440" y="902"/>
                  <a:pt x="1683" y="919"/>
                </a:cubicBezTo>
                <a:cubicBezTo>
                  <a:pt x="1926" y="936"/>
                  <a:pt x="2199" y="927"/>
                  <a:pt x="2334" y="929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Shape 375"/>
          <p:cNvSpPr/>
          <p:nvPr/>
        </p:nvSpPr>
        <p:spPr>
          <a:xfrm>
            <a:off x="1692275" y="2997200"/>
            <a:ext cx="4206875" cy="2166936"/>
          </a:xfrm>
          <a:custGeom>
            <a:pathLst>
              <a:path extrusionOk="0" h="1365" w="2650">
                <a:moveTo>
                  <a:pt x="0" y="307"/>
                </a:moveTo>
                <a:cubicBezTo>
                  <a:pt x="36" y="396"/>
                  <a:pt x="134" y="690"/>
                  <a:pt x="216" y="841"/>
                </a:cubicBezTo>
                <a:cubicBezTo>
                  <a:pt x="298" y="992"/>
                  <a:pt x="405" y="1128"/>
                  <a:pt x="495" y="1213"/>
                </a:cubicBezTo>
                <a:cubicBezTo>
                  <a:pt x="585" y="1298"/>
                  <a:pt x="650" y="1343"/>
                  <a:pt x="755" y="1354"/>
                </a:cubicBezTo>
                <a:cubicBezTo>
                  <a:pt x="860" y="1365"/>
                  <a:pt x="972" y="1337"/>
                  <a:pt x="1127" y="1278"/>
                </a:cubicBezTo>
                <a:cubicBezTo>
                  <a:pt x="1282" y="1219"/>
                  <a:pt x="1529" y="1095"/>
                  <a:pt x="1684" y="999"/>
                </a:cubicBezTo>
                <a:cubicBezTo>
                  <a:pt x="1839" y="903"/>
                  <a:pt x="1946" y="800"/>
                  <a:pt x="2056" y="699"/>
                </a:cubicBezTo>
                <a:cubicBezTo>
                  <a:pt x="2166" y="598"/>
                  <a:pt x="2245" y="509"/>
                  <a:pt x="2344" y="393"/>
                </a:cubicBezTo>
                <a:cubicBezTo>
                  <a:pt x="2443" y="277"/>
                  <a:pt x="2586" y="82"/>
                  <a:pt x="2650" y="0"/>
                </a:cubicBezTo>
              </a:path>
            </a:pathLst>
          </a:custGeom>
          <a:noFill/>
          <a:ln cap="flat" cmpd="sng" w="9525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Shape 376"/>
          <p:cNvSpPr/>
          <p:nvPr/>
        </p:nvSpPr>
        <p:spPr>
          <a:xfrm>
            <a:off x="1692275" y="3144836"/>
            <a:ext cx="4070350" cy="2012950"/>
          </a:xfrm>
          <a:custGeom>
            <a:pathLst>
              <a:path extrusionOk="0" h="1268" w="2564">
                <a:moveTo>
                  <a:pt x="0" y="214"/>
                </a:moveTo>
                <a:cubicBezTo>
                  <a:pt x="29" y="290"/>
                  <a:pt x="114" y="541"/>
                  <a:pt x="176" y="669"/>
                </a:cubicBezTo>
                <a:cubicBezTo>
                  <a:pt x="238" y="797"/>
                  <a:pt x="299" y="896"/>
                  <a:pt x="371" y="985"/>
                </a:cubicBezTo>
                <a:cubicBezTo>
                  <a:pt x="443" y="1074"/>
                  <a:pt x="534" y="1159"/>
                  <a:pt x="606" y="1206"/>
                </a:cubicBezTo>
                <a:cubicBezTo>
                  <a:pt x="678" y="1253"/>
                  <a:pt x="721" y="1268"/>
                  <a:pt x="801" y="1267"/>
                </a:cubicBezTo>
                <a:cubicBezTo>
                  <a:pt x="877" y="1264"/>
                  <a:pt x="953" y="1254"/>
                  <a:pt x="1089" y="1202"/>
                </a:cubicBezTo>
                <a:cubicBezTo>
                  <a:pt x="1225" y="1150"/>
                  <a:pt x="1445" y="1069"/>
                  <a:pt x="1616" y="957"/>
                </a:cubicBezTo>
                <a:cubicBezTo>
                  <a:pt x="1787" y="845"/>
                  <a:pt x="1985" y="656"/>
                  <a:pt x="2118" y="529"/>
                </a:cubicBezTo>
                <a:cubicBezTo>
                  <a:pt x="2251" y="402"/>
                  <a:pt x="2341" y="283"/>
                  <a:pt x="2415" y="195"/>
                </a:cubicBezTo>
                <a:cubicBezTo>
                  <a:pt x="2489" y="107"/>
                  <a:pt x="2533" y="41"/>
                  <a:pt x="2564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Shape 377"/>
          <p:cNvSpPr txBox="1"/>
          <p:nvPr/>
        </p:nvSpPr>
        <p:spPr>
          <a:xfrm>
            <a:off x="827087" y="2205036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Costos medios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4572000" y="5878512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3635375" y="2565400"/>
            <a:ext cx="21605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Costo marginal</a:t>
            </a:r>
          </a:p>
        </p:txBody>
      </p:sp>
      <p:sp>
        <p:nvSpPr>
          <p:cNvPr id="380" name="Shape 380"/>
          <p:cNvSpPr txBox="1"/>
          <p:nvPr/>
        </p:nvSpPr>
        <p:spPr>
          <a:xfrm>
            <a:off x="1979611" y="2854325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medio</a:t>
            </a:r>
          </a:p>
        </p:txBody>
      </p:sp>
      <p:sp>
        <p:nvSpPr>
          <p:cNvPr id="381" name="Shape 381"/>
          <p:cNvSpPr txBox="1"/>
          <p:nvPr/>
        </p:nvSpPr>
        <p:spPr>
          <a:xfrm>
            <a:off x="3635375" y="4870450"/>
            <a:ext cx="2305050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Costo variable medio</a:t>
            </a:r>
          </a:p>
        </p:txBody>
      </p:sp>
      <p:sp>
        <p:nvSpPr>
          <p:cNvPr id="382" name="Shape 382"/>
          <p:cNvSpPr txBox="1"/>
          <p:nvPr/>
        </p:nvSpPr>
        <p:spPr>
          <a:xfrm>
            <a:off x="3348037" y="5373687"/>
            <a:ext cx="1655761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Costo fijo medio</a:t>
            </a:r>
          </a:p>
        </p:txBody>
      </p:sp>
      <p:cxnSp>
        <p:nvCxnSpPr>
          <p:cNvPr id="383" name="Shape 383"/>
          <p:cNvCxnSpPr/>
          <p:nvPr/>
        </p:nvCxnSpPr>
        <p:spPr>
          <a:xfrm>
            <a:off x="1403350" y="4868862"/>
            <a:ext cx="17287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oval"/>
          </a:ln>
        </p:spPr>
      </p:cxnSp>
      <p:sp>
        <p:nvSpPr>
          <p:cNvPr id="384" name="Shape 384"/>
          <p:cNvSpPr/>
          <p:nvPr/>
        </p:nvSpPr>
        <p:spPr>
          <a:xfrm flipH="1" rot="10800000">
            <a:off x="1403350" y="5084761"/>
            <a:ext cx="1512886" cy="71436"/>
          </a:xfrm>
          <a:custGeom>
            <a:pathLst>
              <a:path extrusionOk="0" h="1" w="994">
                <a:moveTo>
                  <a:pt x="0" y="0"/>
                </a:moveTo>
                <a:lnTo>
                  <a:pt x="99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Shape 385"/>
          <p:cNvSpPr txBox="1"/>
          <p:nvPr/>
        </p:nvSpPr>
        <p:spPr>
          <a:xfrm>
            <a:off x="468312" y="4583112"/>
            <a:ext cx="865187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Cme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mín</a:t>
            </a:r>
          </a:p>
        </p:txBody>
      </p:sp>
      <p:sp>
        <p:nvSpPr>
          <p:cNvPr id="386" name="Shape 386"/>
          <p:cNvSpPr txBox="1"/>
          <p:nvPr/>
        </p:nvSpPr>
        <p:spPr>
          <a:xfrm>
            <a:off x="468312" y="4868862"/>
            <a:ext cx="865187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CVme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mín</a:t>
            </a:r>
          </a:p>
        </p:txBody>
      </p:sp>
      <p:sp>
        <p:nvSpPr>
          <p:cNvPr id="387" name="Shape 387"/>
          <p:cNvSpPr txBox="1"/>
          <p:nvPr/>
        </p:nvSpPr>
        <p:spPr>
          <a:xfrm>
            <a:off x="2916236" y="4437062"/>
            <a:ext cx="360362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388" name="Shape 388"/>
          <p:cNvSpPr txBox="1"/>
          <p:nvPr/>
        </p:nvSpPr>
        <p:spPr>
          <a:xfrm>
            <a:off x="2843211" y="5013325"/>
            <a:ext cx="360362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cxnSp>
        <p:nvCxnSpPr>
          <p:cNvPr id="389" name="Shape 389"/>
          <p:cNvCxnSpPr/>
          <p:nvPr/>
        </p:nvCxnSpPr>
        <p:spPr>
          <a:xfrm>
            <a:off x="2916236" y="5157787"/>
            <a:ext cx="0" cy="7921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90" name="Shape 390"/>
          <p:cNvCxnSpPr/>
          <p:nvPr/>
        </p:nvCxnSpPr>
        <p:spPr>
          <a:xfrm>
            <a:off x="3132136" y="4868862"/>
            <a:ext cx="0" cy="108108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91" name="Shape 391"/>
          <p:cNvSpPr txBox="1"/>
          <p:nvPr/>
        </p:nvSpPr>
        <p:spPr>
          <a:xfrm>
            <a:off x="3059111" y="5876925"/>
            <a:ext cx="360362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392" name="Shape 392"/>
          <p:cNvSpPr txBox="1"/>
          <p:nvPr/>
        </p:nvSpPr>
        <p:spPr>
          <a:xfrm>
            <a:off x="2627311" y="5876925"/>
            <a:ext cx="360362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397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Determinar el nivel de producción</a:t>
            </a:r>
            <a:b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(máximo beneficio)</a:t>
            </a:r>
          </a:p>
        </p:txBody>
      </p:sp>
      <p:cxnSp>
        <p:nvCxnSpPr>
          <p:cNvPr id="398" name="Shape 398"/>
          <p:cNvCxnSpPr/>
          <p:nvPr/>
        </p:nvCxnSpPr>
        <p:spPr>
          <a:xfrm rot="10800000">
            <a:off x="1403350" y="2492375"/>
            <a:ext cx="0" cy="345757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99" name="Shape 399"/>
          <p:cNvCxnSpPr/>
          <p:nvPr/>
        </p:nvCxnSpPr>
        <p:spPr>
          <a:xfrm>
            <a:off x="1403350" y="5949950"/>
            <a:ext cx="39608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00" name="Shape 400"/>
          <p:cNvSpPr/>
          <p:nvPr/>
        </p:nvSpPr>
        <p:spPr>
          <a:xfrm>
            <a:off x="1763711" y="2852736"/>
            <a:ext cx="2468562" cy="2671762"/>
          </a:xfrm>
          <a:custGeom>
            <a:pathLst>
              <a:path extrusionOk="0" h="1683" w="1555">
                <a:moveTo>
                  <a:pt x="0" y="1150"/>
                </a:moveTo>
                <a:cubicBezTo>
                  <a:pt x="30" y="1214"/>
                  <a:pt x="124" y="1449"/>
                  <a:pt x="180" y="1536"/>
                </a:cubicBezTo>
                <a:cubicBezTo>
                  <a:pt x="236" y="1623"/>
                  <a:pt x="265" y="1667"/>
                  <a:pt x="338" y="1675"/>
                </a:cubicBezTo>
                <a:cubicBezTo>
                  <a:pt x="411" y="1683"/>
                  <a:pt x="510" y="1677"/>
                  <a:pt x="617" y="1582"/>
                </a:cubicBezTo>
                <a:cubicBezTo>
                  <a:pt x="724" y="1487"/>
                  <a:pt x="874" y="1269"/>
                  <a:pt x="979" y="1106"/>
                </a:cubicBezTo>
                <a:cubicBezTo>
                  <a:pt x="1084" y="943"/>
                  <a:pt x="1179" y="735"/>
                  <a:pt x="1249" y="604"/>
                </a:cubicBezTo>
                <a:cubicBezTo>
                  <a:pt x="1319" y="473"/>
                  <a:pt x="1346" y="422"/>
                  <a:pt x="1397" y="321"/>
                </a:cubicBezTo>
                <a:cubicBezTo>
                  <a:pt x="1448" y="220"/>
                  <a:pt x="1522" y="67"/>
                  <a:pt x="1555" y="0"/>
                </a:cubicBezTo>
              </a:path>
            </a:pathLst>
          </a:custGeom>
          <a:noFill/>
          <a:ln cap="flat" cmpd="sng" w="9525">
            <a:solidFill>
              <a:srgbClr val="9933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Shape 401"/>
          <p:cNvSpPr/>
          <p:nvPr/>
        </p:nvSpPr>
        <p:spPr>
          <a:xfrm rot="180000">
            <a:off x="1835150" y="2852737"/>
            <a:ext cx="4206874" cy="2166936"/>
          </a:xfrm>
          <a:custGeom>
            <a:pathLst>
              <a:path extrusionOk="0" h="1365" w="2650">
                <a:moveTo>
                  <a:pt x="0" y="307"/>
                </a:moveTo>
                <a:cubicBezTo>
                  <a:pt x="36" y="396"/>
                  <a:pt x="134" y="690"/>
                  <a:pt x="216" y="841"/>
                </a:cubicBezTo>
                <a:cubicBezTo>
                  <a:pt x="298" y="992"/>
                  <a:pt x="405" y="1128"/>
                  <a:pt x="495" y="1213"/>
                </a:cubicBezTo>
                <a:cubicBezTo>
                  <a:pt x="585" y="1298"/>
                  <a:pt x="650" y="1343"/>
                  <a:pt x="755" y="1354"/>
                </a:cubicBezTo>
                <a:cubicBezTo>
                  <a:pt x="860" y="1365"/>
                  <a:pt x="972" y="1337"/>
                  <a:pt x="1127" y="1278"/>
                </a:cubicBezTo>
                <a:cubicBezTo>
                  <a:pt x="1282" y="1219"/>
                  <a:pt x="1529" y="1095"/>
                  <a:pt x="1684" y="999"/>
                </a:cubicBezTo>
                <a:cubicBezTo>
                  <a:pt x="1839" y="903"/>
                  <a:pt x="1946" y="800"/>
                  <a:pt x="2056" y="699"/>
                </a:cubicBezTo>
                <a:cubicBezTo>
                  <a:pt x="2166" y="598"/>
                  <a:pt x="2245" y="509"/>
                  <a:pt x="2344" y="393"/>
                </a:cubicBezTo>
                <a:cubicBezTo>
                  <a:pt x="2443" y="277"/>
                  <a:pt x="2586" y="82"/>
                  <a:pt x="2650" y="0"/>
                </a:cubicBezTo>
              </a:path>
            </a:pathLst>
          </a:custGeom>
          <a:noFill/>
          <a:ln cap="flat" cmpd="sng" w="9525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Shape 402"/>
          <p:cNvSpPr/>
          <p:nvPr/>
        </p:nvSpPr>
        <p:spPr>
          <a:xfrm>
            <a:off x="2195511" y="2352675"/>
            <a:ext cx="4070350" cy="2012950"/>
          </a:xfrm>
          <a:custGeom>
            <a:pathLst>
              <a:path extrusionOk="0" h="1268" w="2564">
                <a:moveTo>
                  <a:pt x="0" y="214"/>
                </a:moveTo>
                <a:cubicBezTo>
                  <a:pt x="29" y="290"/>
                  <a:pt x="114" y="541"/>
                  <a:pt x="176" y="669"/>
                </a:cubicBezTo>
                <a:cubicBezTo>
                  <a:pt x="238" y="797"/>
                  <a:pt x="299" y="896"/>
                  <a:pt x="371" y="985"/>
                </a:cubicBezTo>
                <a:cubicBezTo>
                  <a:pt x="443" y="1074"/>
                  <a:pt x="534" y="1159"/>
                  <a:pt x="606" y="1206"/>
                </a:cubicBezTo>
                <a:cubicBezTo>
                  <a:pt x="678" y="1253"/>
                  <a:pt x="721" y="1268"/>
                  <a:pt x="801" y="1267"/>
                </a:cubicBezTo>
                <a:cubicBezTo>
                  <a:pt x="877" y="1264"/>
                  <a:pt x="953" y="1254"/>
                  <a:pt x="1089" y="1202"/>
                </a:cubicBezTo>
                <a:cubicBezTo>
                  <a:pt x="1225" y="1150"/>
                  <a:pt x="1445" y="1069"/>
                  <a:pt x="1616" y="957"/>
                </a:cubicBezTo>
                <a:cubicBezTo>
                  <a:pt x="1787" y="845"/>
                  <a:pt x="1985" y="656"/>
                  <a:pt x="2118" y="529"/>
                </a:cubicBezTo>
                <a:cubicBezTo>
                  <a:pt x="2251" y="402"/>
                  <a:pt x="2341" y="283"/>
                  <a:pt x="2415" y="195"/>
                </a:cubicBezTo>
                <a:cubicBezTo>
                  <a:pt x="2489" y="107"/>
                  <a:pt x="2533" y="41"/>
                  <a:pt x="2564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Shape 403"/>
          <p:cNvSpPr txBox="1"/>
          <p:nvPr/>
        </p:nvSpPr>
        <p:spPr>
          <a:xfrm>
            <a:off x="827087" y="2133600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Costos medios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Precios unitarios</a:t>
            </a:r>
          </a:p>
        </p:txBody>
      </p:sp>
      <p:sp>
        <p:nvSpPr>
          <p:cNvPr id="404" name="Shape 404"/>
          <p:cNvSpPr txBox="1"/>
          <p:nvPr/>
        </p:nvSpPr>
        <p:spPr>
          <a:xfrm>
            <a:off x="4572000" y="5878512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405" name="Shape 405"/>
          <p:cNvSpPr txBox="1"/>
          <p:nvPr/>
        </p:nvSpPr>
        <p:spPr>
          <a:xfrm>
            <a:off x="3635375" y="2565400"/>
            <a:ext cx="21605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Costo marginal</a:t>
            </a:r>
          </a:p>
        </p:txBody>
      </p:sp>
      <p:sp>
        <p:nvSpPr>
          <p:cNvPr id="406" name="Shape 406"/>
          <p:cNvSpPr txBox="1"/>
          <p:nvPr/>
        </p:nvSpPr>
        <p:spPr>
          <a:xfrm>
            <a:off x="6227762" y="2420936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medio</a:t>
            </a:r>
          </a:p>
        </p:txBody>
      </p:sp>
      <p:sp>
        <p:nvSpPr>
          <p:cNvPr id="407" name="Shape 407"/>
          <p:cNvSpPr txBox="1"/>
          <p:nvPr/>
        </p:nvSpPr>
        <p:spPr>
          <a:xfrm>
            <a:off x="6011862" y="3068636"/>
            <a:ext cx="2305050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Costo variable medio</a:t>
            </a:r>
          </a:p>
        </p:txBody>
      </p:sp>
      <p:cxnSp>
        <p:nvCxnSpPr>
          <p:cNvPr id="408" name="Shape 408"/>
          <p:cNvCxnSpPr/>
          <p:nvPr/>
        </p:nvCxnSpPr>
        <p:spPr>
          <a:xfrm>
            <a:off x="1403350" y="3357562"/>
            <a:ext cx="25923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oval"/>
          </a:ln>
        </p:spPr>
      </p:cxnSp>
      <p:sp>
        <p:nvSpPr>
          <p:cNvPr id="409" name="Shape 409"/>
          <p:cNvSpPr/>
          <p:nvPr/>
        </p:nvSpPr>
        <p:spPr>
          <a:xfrm flipH="1" rot="10800000">
            <a:off x="1403350" y="4149725"/>
            <a:ext cx="2592387" cy="71436"/>
          </a:xfrm>
          <a:custGeom>
            <a:pathLst>
              <a:path extrusionOk="0" h="1" w="994">
                <a:moveTo>
                  <a:pt x="0" y="0"/>
                </a:moveTo>
                <a:lnTo>
                  <a:pt x="99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Shape 410"/>
          <p:cNvSpPr txBox="1"/>
          <p:nvPr/>
        </p:nvSpPr>
        <p:spPr>
          <a:xfrm>
            <a:off x="3995737" y="3068636"/>
            <a:ext cx="360362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cxnSp>
        <p:nvCxnSpPr>
          <p:cNvPr id="411" name="Shape 411"/>
          <p:cNvCxnSpPr/>
          <p:nvPr/>
        </p:nvCxnSpPr>
        <p:spPr>
          <a:xfrm>
            <a:off x="3995737" y="3357562"/>
            <a:ext cx="0" cy="2592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12" name="Shape 412"/>
          <p:cNvSpPr txBox="1"/>
          <p:nvPr/>
        </p:nvSpPr>
        <p:spPr>
          <a:xfrm>
            <a:off x="1403350" y="3357562"/>
            <a:ext cx="2592387" cy="863599"/>
          </a:xfrm>
          <a:prstGeom prst="rect">
            <a:avLst/>
          </a:prstGeom>
          <a:solidFill>
            <a:schemeClr val="accent1">
              <a:alpha val="48627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Beneficio extraordinario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Máximo</a:t>
            </a:r>
          </a:p>
        </p:txBody>
      </p:sp>
      <p:sp>
        <p:nvSpPr>
          <p:cNvPr id="413" name="Shape 413"/>
          <p:cNvSpPr txBox="1"/>
          <p:nvPr/>
        </p:nvSpPr>
        <p:spPr>
          <a:xfrm>
            <a:off x="755650" y="2924175"/>
            <a:ext cx="57626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</a:p>
        </p:txBody>
      </p:sp>
      <p:sp>
        <p:nvSpPr>
          <p:cNvPr id="414" name="Shape 414"/>
          <p:cNvSpPr txBox="1"/>
          <p:nvPr/>
        </p:nvSpPr>
        <p:spPr>
          <a:xfrm>
            <a:off x="755650" y="3860800"/>
            <a:ext cx="576262" cy="504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Cme</a:t>
            </a:r>
          </a:p>
        </p:txBody>
      </p:sp>
      <p:sp>
        <p:nvSpPr>
          <p:cNvPr id="415" name="Shape 415"/>
          <p:cNvSpPr txBox="1"/>
          <p:nvPr/>
        </p:nvSpPr>
        <p:spPr>
          <a:xfrm>
            <a:off x="3708400" y="5876925"/>
            <a:ext cx="576262" cy="504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416" name="Shape 416"/>
          <p:cNvSpPr txBox="1"/>
          <p:nvPr/>
        </p:nvSpPr>
        <p:spPr>
          <a:xfrm>
            <a:off x="6300787" y="3789362"/>
            <a:ext cx="2843212" cy="1727199"/>
          </a:xfrm>
          <a:prstGeom prst="rect">
            <a:avLst/>
          </a:prstGeom>
          <a:solidFill>
            <a:schemeClr val="accent1">
              <a:alpha val="25490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productor racional elige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nivel de actividad donde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Precio Unitario es igual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Costo Marginal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421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Determinar el nivel de producción</a:t>
            </a:r>
            <a:b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(precio en baja)</a:t>
            </a:r>
          </a:p>
        </p:txBody>
      </p:sp>
      <p:cxnSp>
        <p:nvCxnSpPr>
          <p:cNvPr id="422" name="Shape 422"/>
          <p:cNvCxnSpPr/>
          <p:nvPr/>
        </p:nvCxnSpPr>
        <p:spPr>
          <a:xfrm rot="10800000">
            <a:off x="1403350" y="2492375"/>
            <a:ext cx="0" cy="345757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423" name="Shape 423"/>
          <p:cNvCxnSpPr/>
          <p:nvPr/>
        </p:nvCxnSpPr>
        <p:spPr>
          <a:xfrm>
            <a:off x="1403350" y="5949950"/>
            <a:ext cx="39608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24" name="Shape 424"/>
          <p:cNvSpPr/>
          <p:nvPr/>
        </p:nvSpPr>
        <p:spPr>
          <a:xfrm>
            <a:off x="1763711" y="2852736"/>
            <a:ext cx="2468562" cy="2671762"/>
          </a:xfrm>
          <a:custGeom>
            <a:pathLst>
              <a:path extrusionOk="0" h="1683" w="1555">
                <a:moveTo>
                  <a:pt x="0" y="1150"/>
                </a:moveTo>
                <a:cubicBezTo>
                  <a:pt x="30" y="1214"/>
                  <a:pt x="124" y="1449"/>
                  <a:pt x="180" y="1536"/>
                </a:cubicBezTo>
                <a:cubicBezTo>
                  <a:pt x="236" y="1623"/>
                  <a:pt x="265" y="1667"/>
                  <a:pt x="338" y="1675"/>
                </a:cubicBezTo>
                <a:cubicBezTo>
                  <a:pt x="411" y="1683"/>
                  <a:pt x="510" y="1677"/>
                  <a:pt x="617" y="1582"/>
                </a:cubicBezTo>
                <a:cubicBezTo>
                  <a:pt x="724" y="1487"/>
                  <a:pt x="874" y="1269"/>
                  <a:pt x="979" y="1106"/>
                </a:cubicBezTo>
                <a:cubicBezTo>
                  <a:pt x="1084" y="943"/>
                  <a:pt x="1179" y="735"/>
                  <a:pt x="1249" y="604"/>
                </a:cubicBezTo>
                <a:cubicBezTo>
                  <a:pt x="1319" y="473"/>
                  <a:pt x="1346" y="422"/>
                  <a:pt x="1397" y="321"/>
                </a:cubicBezTo>
                <a:cubicBezTo>
                  <a:pt x="1448" y="220"/>
                  <a:pt x="1522" y="67"/>
                  <a:pt x="1555" y="0"/>
                </a:cubicBezTo>
              </a:path>
            </a:pathLst>
          </a:custGeom>
          <a:noFill/>
          <a:ln cap="flat" cmpd="sng" w="9525">
            <a:solidFill>
              <a:srgbClr val="9933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Shape 425"/>
          <p:cNvSpPr/>
          <p:nvPr/>
        </p:nvSpPr>
        <p:spPr>
          <a:xfrm rot="180000">
            <a:off x="1835150" y="2852737"/>
            <a:ext cx="4206874" cy="2166936"/>
          </a:xfrm>
          <a:custGeom>
            <a:pathLst>
              <a:path extrusionOk="0" h="1365" w="2650">
                <a:moveTo>
                  <a:pt x="0" y="307"/>
                </a:moveTo>
                <a:cubicBezTo>
                  <a:pt x="36" y="396"/>
                  <a:pt x="134" y="690"/>
                  <a:pt x="216" y="841"/>
                </a:cubicBezTo>
                <a:cubicBezTo>
                  <a:pt x="298" y="992"/>
                  <a:pt x="405" y="1128"/>
                  <a:pt x="495" y="1213"/>
                </a:cubicBezTo>
                <a:cubicBezTo>
                  <a:pt x="585" y="1298"/>
                  <a:pt x="650" y="1343"/>
                  <a:pt x="755" y="1354"/>
                </a:cubicBezTo>
                <a:cubicBezTo>
                  <a:pt x="860" y="1365"/>
                  <a:pt x="972" y="1337"/>
                  <a:pt x="1127" y="1278"/>
                </a:cubicBezTo>
                <a:cubicBezTo>
                  <a:pt x="1282" y="1219"/>
                  <a:pt x="1529" y="1095"/>
                  <a:pt x="1684" y="999"/>
                </a:cubicBezTo>
                <a:cubicBezTo>
                  <a:pt x="1839" y="903"/>
                  <a:pt x="1946" y="800"/>
                  <a:pt x="2056" y="699"/>
                </a:cubicBezTo>
                <a:cubicBezTo>
                  <a:pt x="2166" y="598"/>
                  <a:pt x="2245" y="509"/>
                  <a:pt x="2344" y="393"/>
                </a:cubicBezTo>
                <a:cubicBezTo>
                  <a:pt x="2443" y="277"/>
                  <a:pt x="2586" y="82"/>
                  <a:pt x="2650" y="0"/>
                </a:cubicBezTo>
              </a:path>
            </a:pathLst>
          </a:custGeom>
          <a:noFill/>
          <a:ln cap="flat" cmpd="sng" w="9525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Shape 426"/>
          <p:cNvSpPr/>
          <p:nvPr/>
        </p:nvSpPr>
        <p:spPr>
          <a:xfrm>
            <a:off x="2268536" y="2276475"/>
            <a:ext cx="4070350" cy="2012950"/>
          </a:xfrm>
          <a:custGeom>
            <a:pathLst>
              <a:path extrusionOk="0" h="1268" w="2564">
                <a:moveTo>
                  <a:pt x="0" y="214"/>
                </a:moveTo>
                <a:cubicBezTo>
                  <a:pt x="29" y="290"/>
                  <a:pt x="114" y="541"/>
                  <a:pt x="176" y="669"/>
                </a:cubicBezTo>
                <a:cubicBezTo>
                  <a:pt x="238" y="797"/>
                  <a:pt x="299" y="896"/>
                  <a:pt x="371" y="985"/>
                </a:cubicBezTo>
                <a:cubicBezTo>
                  <a:pt x="443" y="1074"/>
                  <a:pt x="534" y="1159"/>
                  <a:pt x="606" y="1206"/>
                </a:cubicBezTo>
                <a:cubicBezTo>
                  <a:pt x="678" y="1253"/>
                  <a:pt x="721" y="1268"/>
                  <a:pt x="801" y="1267"/>
                </a:cubicBezTo>
                <a:cubicBezTo>
                  <a:pt x="877" y="1264"/>
                  <a:pt x="953" y="1254"/>
                  <a:pt x="1089" y="1202"/>
                </a:cubicBezTo>
                <a:cubicBezTo>
                  <a:pt x="1225" y="1150"/>
                  <a:pt x="1445" y="1069"/>
                  <a:pt x="1616" y="957"/>
                </a:cubicBezTo>
                <a:cubicBezTo>
                  <a:pt x="1787" y="845"/>
                  <a:pt x="1985" y="656"/>
                  <a:pt x="2118" y="529"/>
                </a:cubicBezTo>
                <a:cubicBezTo>
                  <a:pt x="2251" y="402"/>
                  <a:pt x="2341" y="283"/>
                  <a:pt x="2415" y="195"/>
                </a:cubicBezTo>
                <a:cubicBezTo>
                  <a:pt x="2489" y="107"/>
                  <a:pt x="2533" y="41"/>
                  <a:pt x="2564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Shape 427"/>
          <p:cNvSpPr txBox="1"/>
          <p:nvPr/>
        </p:nvSpPr>
        <p:spPr>
          <a:xfrm>
            <a:off x="827087" y="2133600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Costos medios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Precios unitarios</a:t>
            </a:r>
          </a:p>
        </p:txBody>
      </p:sp>
      <p:sp>
        <p:nvSpPr>
          <p:cNvPr id="428" name="Shape 428"/>
          <p:cNvSpPr txBox="1"/>
          <p:nvPr/>
        </p:nvSpPr>
        <p:spPr>
          <a:xfrm>
            <a:off x="4572000" y="5878512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429" name="Shape 429"/>
          <p:cNvSpPr txBox="1"/>
          <p:nvPr/>
        </p:nvSpPr>
        <p:spPr>
          <a:xfrm>
            <a:off x="3635375" y="2565400"/>
            <a:ext cx="21605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Costo marginal</a:t>
            </a:r>
          </a:p>
        </p:txBody>
      </p:sp>
      <p:sp>
        <p:nvSpPr>
          <p:cNvPr id="430" name="Shape 430"/>
          <p:cNvSpPr txBox="1"/>
          <p:nvPr/>
        </p:nvSpPr>
        <p:spPr>
          <a:xfrm>
            <a:off x="6227762" y="2420936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medio</a:t>
            </a:r>
          </a:p>
        </p:txBody>
      </p:sp>
      <p:sp>
        <p:nvSpPr>
          <p:cNvPr id="431" name="Shape 431"/>
          <p:cNvSpPr txBox="1"/>
          <p:nvPr/>
        </p:nvSpPr>
        <p:spPr>
          <a:xfrm>
            <a:off x="6011862" y="3068636"/>
            <a:ext cx="2305050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Costo variable medio</a:t>
            </a:r>
          </a:p>
        </p:txBody>
      </p:sp>
      <p:sp>
        <p:nvSpPr>
          <p:cNvPr id="432" name="Shape 432"/>
          <p:cNvSpPr/>
          <p:nvPr/>
        </p:nvSpPr>
        <p:spPr>
          <a:xfrm flipH="1" rot="10800000">
            <a:off x="1619250" y="4149725"/>
            <a:ext cx="1873249" cy="142875"/>
          </a:xfrm>
          <a:custGeom>
            <a:pathLst>
              <a:path extrusionOk="0" h="1" w="994">
                <a:moveTo>
                  <a:pt x="0" y="0"/>
                </a:moveTo>
                <a:lnTo>
                  <a:pt x="99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Shape 433"/>
          <p:cNvSpPr txBox="1"/>
          <p:nvPr/>
        </p:nvSpPr>
        <p:spPr>
          <a:xfrm>
            <a:off x="3490912" y="4149725"/>
            <a:ext cx="360362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cxnSp>
        <p:nvCxnSpPr>
          <p:cNvPr id="434" name="Shape 434"/>
          <p:cNvCxnSpPr/>
          <p:nvPr/>
        </p:nvCxnSpPr>
        <p:spPr>
          <a:xfrm>
            <a:off x="3492500" y="4292600"/>
            <a:ext cx="0" cy="1657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35" name="Shape 435"/>
          <p:cNvSpPr txBox="1"/>
          <p:nvPr/>
        </p:nvSpPr>
        <p:spPr>
          <a:xfrm>
            <a:off x="34925" y="4076700"/>
            <a:ext cx="1512886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Cme</a:t>
            </a:r>
            <a:r>
              <a:rPr b="0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min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Precio</a:t>
            </a:r>
          </a:p>
        </p:txBody>
      </p:sp>
      <p:sp>
        <p:nvSpPr>
          <p:cNvPr id="436" name="Shape 436"/>
          <p:cNvSpPr txBox="1"/>
          <p:nvPr/>
        </p:nvSpPr>
        <p:spPr>
          <a:xfrm>
            <a:off x="3203575" y="5948362"/>
            <a:ext cx="576262" cy="504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437" name="Shape 437"/>
          <p:cNvSpPr txBox="1"/>
          <p:nvPr/>
        </p:nvSpPr>
        <p:spPr>
          <a:xfrm>
            <a:off x="5435600" y="3789362"/>
            <a:ext cx="3708400" cy="1944687"/>
          </a:xfrm>
          <a:prstGeom prst="rect">
            <a:avLst/>
          </a:prstGeom>
          <a:solidFill>
            <a:schemeClr val="accent1">
              <a:alpha val="25490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el precio baja el productor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racional elige entregar menor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cantidad, en caso de igualar el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medio mínimo el productor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racional solo recibe beneficios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normales (Beneficio Extraordinario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 (cero))</a:t>
            </a:r>
          </a:p>
        </p:txBody>
      </p:sp>
      <p:cxnSp>
        <p:nvCxnSpPr>
          <p:cNvPr id="438" name="Shape 438"/>
          <p:cNvCxnSpPr/>
          <p:nvPr/>
        </p:nvCxnSpPr>
        <p:spPr>
          <a:xfrm>
            <a:off x="1116012" y="3213100"/>
            <a:ext cx="0" cy="8651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439" name="Shape 439"/>
          <p:cNvCxnSpPr/>
          <p:nvPr/>
        </p:nvCxnSpPr>
        <p:spPr>
          <a:xfrm rot="10800000">
            <a:off x="3995737" y="6308725"/>
            <a:ext cx="936624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/>
          <p:nvPr>
            <p:ph type="title"/>
          </p:nvPr>
        </p:nvSpPr>
        <p:spPr>
          <a:xfrm>
            <a:off x="755650" y="765175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Determinar el nivel de producción</a:t>
            </a:r>
            <a:b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(precio en baja)</a:t>
            </a:r>
          </a:p>
        </p:txBody>
      </p:sp>
      <p:cxnSp>
        <p:nvCxnSpPr>
          <p:cNvPr id="445" name="Shape 445"/>
          <p:cNvCxnSpPr/>
          <p:nvPr/>
        </p:nvCxnSpPr>
        <p:spPr>
          <a:xfrm rot="10800000">
            <a:off x="1403350" y="2492375"/>
            <a:ext cx="0" cy="345757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446" name="Shape 446"/>
          <p:cNvCxnSpPr/>
          <p:nvPr/>
        </p:nvCxnSpPr>
        <p:spPr>
          <a:xfrm>
            <a:off x="1403350" y="5949950"/>
            <a:ext cx="345598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47" name="Shape 447"/>
          <p:cNvSpPr/>
          <p:nvPr/>
        </p:nvSpPr>
        <p:spPr>
          <a:xfrm>
            <a:off x="1763711" y="2852736"/>
            <a:ext cx="2468562" cy="2671762"/>
          </a:xfrm>
          <a:custGeom>
            <a:pathLst>
              <a:path extrusionOk="0" h="1683" w="1555">
                <a:moveTo>
                  <a:pt x="0" y="1150"/>
                </a:moveTo>
                <a:cubicBezTo>
                  <a:pt x="30" y="1214"/>
                  <a:pt x="124" y="1449"/>
                  <a:pt x="180" y="1536"/>
                </a:cubicBezTo>
                <a:cubicBezTo>
                  <a:pt x="236" y="1623"/>
                  <a:pt x="265" y="1667"/>
                  <a:pt x="338" y="1675"/>
                </a:cubicBezTo>
                <a:cubicBezTo>
                  <a:pt x="411" y="1683"/>
                  <a:pt x="516" y="1674"/>
                  <a:pt x="617" y="1582"/>
                </a:cubicBezTo>
                <a:cubicBezTo>
                  <a:pt x="718" y="1490"/>
                  <a:pt x="841" y="1281"/>
                  <a:pt x="942" y="1120"/>
                </a:cubicBezTo>
                <a:cubicBezTo>
                  <a:pt x="1043" y="959"/>
                  <a:pt x="1147" y="753"/>
                  <a:pt x="1221" y="618"/>
                </a:cubicBezTo>
                <a:cubicBezTo>
                  <a:pt x="1295" y="483"/>
                  <a:pt x="1332" y="415"/>
                  <a:pt x="1388" y="312"/>
                </a:cubicBezTo>
                <a:cubicBezTo>
                  <a:pt x="1444" y="209"/>
                  <a:pt x="1520" y="65"/>
                  <a:pt x="1555" y="0"/>
                </a:cubicBezTo>
              </a:path>
            </a:pathLst>
          </a:custGeom>
          <a:noFill/>
          <a:ln cap="flat" cmpd="sng" w="9525">
            <a:solidFill>
              <a:srgbClr val="9933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Shape 448"/>
          <p:cNvSpPr/>
          <p:nvPr/>
        </p:nvSpPr>
        <p:spPr>
          <a:xfrm rot="180000">
            <a:off x="1835150" y="2852737"/>
            <a:ext cx="4206874" cy="2166936"/>
          </a:xfrm>
          <a:custGeom>
            <a:pathLst>
              <a:path extrusionOk="0" h="1365" w="2650">
                <a:moveTo>
                  <a:pt x="0" y="307"/>
                </a:moveTo>
                <a:cubicBezTo>
                  <a:pt x="36" y="396"/>
                  <a:pt x="134" y="690"/>
                  <a:pt x="216" y="841"/>
                </a:cubicBezTo>
                <a:cubicBezTo>
                  <a:pt x="298" y="992"/>
                  <a:pt x="405" y="1128"/>
                  <a:pt x="495" y="1213"/>
                </a:cubicBezTo>
                <a:cubicBezTo>
                  <a:pt x="585" y="1298"/>
                  <a:pt x="650" y="1343"/>
                  <a:pt x="755" y="1354"/>
                </a:cubicBezTo>
                <a:cubicBezTo>
                  <a:pt x="860" y="1365"/>
                  <a:pt x="972" y="1337"/>
                  <a:pt x="1127" y="1278"/>
                </a:cubicBezTo>
                <a:cubicBezTo>
                  <a:pt x="1282" y="1219"/>
                  <a:pt x="1529" y="1095"/>
                  <a:pt x="1684" y="999"/>
                </a:cubicBezTo>
                <a:cubicBezTo>
                  <a:pt x="1839" y="903"/>
                  <a:pt x="1946" y="800"/>
                  <a:pt x="2056" y="699"/>
                </a:cubicBezTo>
                <a:cubicBezTo>
                  <a:pt x="2166" y="598"/>
                  <a:pt x="2245" y="509"/>
                  <a:pt x="2344" y="393"/>
                </a:cubicBezTo>
                <a:cubicBezTo>
                  <a:pt x="2443" y="277"/>
                  <a:pt x="2586" y="82"/>
                  <a:pt x="2650" y="0"/>
                </a:cubicBezTo>
              </a:path>
            </a:pathLst>
          </a:custGeom>
          <a:noFill/>
          <a:ln cap="flat" cmpd="sng" w="9525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Shape 449"/>
          <p:cNvSpPr/>
          <p:nvPr/>
        </p:nvSpPr>
        <p:spPr>
          <a:xfrm>
            <a:off x="2268536" y="2276475"/>
            <a:ext cx="4070350" cy="2058987"/>
          </a:xfrm>
          <a:custGeom>
            <a:pathLst>
              <a:path extrusionOk="0" h="1297" w="2564">
                <a:moveTo>
                  <a:pt x="0" y="214"/>
                </a:moveTo>
                <a:cubicBezTo>
                  <a:pt x="29" y="290"/>
                  <a:pt x="114" y="541"/>
                  <a:pt x="176" y="669"/>
                </a:cubicBezTo>
                <a:cubicBezTo>
                  <a:pt x="238" y="797"/>
                  <a:pt x="303" y="894"/>
                  <a:pt x="371" y="985"/>
                </a:cubicBezTo>
                <a:cubicBezTo>
                  <a:pt x="439" y="1076"/>
                  <a:pt x="519" y="1162"/>
                  <a:pt x="587" y="1214"/>
                </a:cubicBezTo>
                <a:cubicBezTo>
                  <a:pt x="655" y="1266"/>
                  <a:pt x="702" y="1297"/>
                  <a:pt x="782" y="1297"/>
                </a:cubicBezTo>
                <a:cubicBezTo>
                  <a:pt x="858" y="1294"/>
                  <a:pt x="931" y="1271"/>
                  <a:pt x="1070" y="1214"/>
                </a:cubicBezTo>
                <a:cubicBezTo>
                  <a:pt x="1209" y="1157"/>
                  <a:pt x="1441" y="1071"/>
                  <a:pt x="1616" y="957"/>
                </a:cubicBezTo>
                <a:cubicBezTo>
                  <a:pt x="1791" y="843"/>
                  <a:pt x="1985" y="656"/>
                  <a:pt x="2118" y="529"/>
                </a:cubicBezTo>
                <a:cubicBezTo>
                  <a:pt x="2251" y="402"/>
                  <a:pt x="2341" y="283"/>
                  <a:pt x="2415" y="195"/>
                </a:cubicBezTo>
                <a:cubicBezTo>
                  <a:pt x="2489" y="107"/>
                  <a:pt x="2533" y="41"/>
                  <a:pt x="2564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Shape 450"/>
          <p:cNvSpPr txBox="1"/>
          <p:nvPr/>
        </p:nvSpPr>
        <p:spPr>
          <a:xfrm>
            <a:off x="827087" y="2133600"/>
            <a:ext cx="1657350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Costos medios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Precios unitarios</a:t>
            </a:r>
          </a:p>
        </p:txBody>
      </p:sp>
      <p:sp>
        <p:nvSpPr>
          <p:cNvPr id="451" name="Shape 451"/>
          <p:cNvSpPr txBox="1"/>
          <p:nvPr/>
        </p:nvSpPr>
        <p:spPr>
          <a:xfrm>
            <a:off x="3492500" y="5876925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452" name="Shape 452"/>
          <p:cNvSpPr txBox="1"/>
          <p:nvPr/>
        </p:nvSpPr>
        <p:spPr>
          <a:xfrm>
            <a:off x="3635375" y="2565400"/>
            <a:ext cx="21605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Costo marginal</a:t>
            </a:r>
          </a:p>
        </p:txBody>
      </p:sp>
      <p:sp>
        <p:nvSpPr>
          <p:cNvPr id="453" name="Shape 453"/>
          <p:cNvSpPr txBox="1"/>
          <p:nvPr/>
        </p:nvSpPr>
        <p:spPr>
          <a:xfrm>
            <a:off x="6227762" y="2420936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medio</a:t>
            </a:r>
          </a:p>
        </p:txBody>
      </p:sp>
      <p:sp>
        <p:nvSpPr>
          <p:cNvPr id="454" name="Shape 454"/>
          <p:cNvSpPr txBox="1"/>
          <p:nvPr/>
        </p:nvSpPr>
        <p:spPr>
          <a:xfrm>
            <a:off x="6011862" y="3068636"/>
            <a:ext cx="2305050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Costo variable medio</a:t>
            </a:r>
          </a:p>
        </p:txBody>
      </p:sp>
      <p:sp>
        <p:nvSpPr>
          <p:cNvPr id="455" name="Shape 455"/>
          <p:cNvSpPr/>
          <p:nvPr/>
        </p:nvSpPr>
        <p:spPr>
          <a:xfrm flipH="1" rot="10800000">
            <a:off x="1403350" y="4365625"/>
            <a:ext cx="1946274" cy="142875"/>
          </a:xfrm>
          <a:custGeom>
            <a:pathLst>
              <a:path extrusionOk="0" h="1" w="994">
                <a:moveTo>
                  <a:pt x="0" y="0"/>
                </a:moveTo>
                <a:lnTo>
                  <a:pt x="99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Shape 456"/>
          <p:cNvSpPr txBox="1"/>
          <p:nvPr/>
        </p:nvSpPr>
        <p:spPr>
          <a:xfrm>
            <a:off x="3348037" y="4221162"/>
            <a:ext cx="360362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cxnSp>
        <p:nvCxnSpPr>
          <p:cNvPr id="457" name="Shape 457"/>
          <p:cNvCxnSpPr/>
          <p:nvPr/>
        </p:nvCxnSpPr>
        <p:spPr>
          <a:xfrm>
            <a:off x="3348037" y="4292600"/>
            <a:ext cx="0" cy="1657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58" name="Shape 458"/>
          <p:cNvSpPr txBox="1"/>
          <p:nvPr/>
        </p:nvSpPr>
        <p:spPr>
          <a:xfrm>
            <a:off x="250825" y="4076700"/>
            <a:ext cx="1296986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Cme</a:t>
            </a:r>
          </a:p>
        </p:txBody>
      </p:sp>
      <p:sp>
        <p:nvSpPr>
          <p:cNvPr id="459" name="Shape 459"/>
          <p:cNvSpPr txBox="1"/>
          <p:nvPr/>
        </p:nvSpPr>
        <p:spPr>
          <a:xfrm>
            <a:off x="3132136" y="5876925"/>
            <a:ext cx="576262" cy="504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460" name="Shape 460"/>
          <p:cNvSpPr txBox="1"/>
          <p:nvPr/>
        </p:nvSpPr>
        <p:spPr>
          <a:xfrm>
            <a:off x="5076825" y="4005262"/>
            <a:ext cx="4032249" cy="24479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el precio baja por debajo del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medio mínimo y se mantiene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arriba del Costo variable medio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mínimo, el productor debe mantener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nivel de actividad, aunque obtenga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pérdidas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lo contrario si cierra,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perdería todos los costos fijos y así al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menos recupera algo de ese monto.</a:t>
            </a:r>
          </a:p>
        </p:txBody>
      </p:sp>
      <p:sp>
        <p:nvSpPr>
          <p:cNvPr id="461" name="Shape 461"/>
          <p:cNvSpPr/>
          <p:nvPr/>
        </p:nvSpPr>
        <p:spPr>
          <a:xfrm flipH="1" rot="10800000">
            <a:off x="1403350" y="4149725"/>
            <a:ext cx="1943100" cy="142875"/>
          </a:xfrm>
          <a:custGeom>
            <a:pathLst>
              <a:path extrusionOk="0" h="1" w="994">
                <a:moveTo>
                  <a:pt x="0" y="0"/>
                </a:moveTo>
                <a:lnTo>
                  <a:pt x="99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Shape 462"/>
          <p:cNvSpPr txBox="1"/>
          <p:nvPr/>
        </p:nvSpPr>
        <p:spPr>
          <a:xfrm>
            <a:off x="1403350" y="4292600"/>
            <a:ext cx="1946275" cy="215899"/>
          </a:xfrm>
          <a:prstGeom prst="rect">
            <a:avLst/>
          </a:prstGeom>
          <a:solidFill>
            <a:srgbClr val="FF0000">
              <a:alpha val="72549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Perdidas</a:t>
            </a:r>
          </a:p>
        </p:txBody>
      </p:sp>
      <p:sp>
        <p:nvSpPr>
          <p:cNvPr id="463" name="Shape 463"/>
          <p:cNvSpPr txBox="1"/>
          <p:nvPr/>
        </p:nvSpPr>
        <p:spPr>
          <a:xfrm>
            <a:off x="684212" y="4292600"/>
            <a:ext cx="503236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</a:t>
            </a:r>
          </a:p>
        </p:txBody>
      </p:sp>
      <p:cxnSp>
        <p:nvCxnSpPr>
          <p:cNvPr id="464" name="Shape 464"/>
          <p:cNvCxnSpPr/>
          <p:nvPr/>
        </p:nvCxnSpPr>
        <p:spPr>
          <a:xfrm>
            <a:off x="971550" y="3573462"/>
            <a:ext cx="0" cy="50323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465" name="Shape 465"/>
          <p:cNvCxnSpPr/>
          <p:nvPr/>
        </p:nvCxnSpPr>
        <p:spPr>
          <a:xfrm rot="10800000">
            <a:off x="3779837" y="6308725"/>
            <a:ext cx="431799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Determinar el nivel de producción</a:t>
            </a:r>
            <a:b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(precio en baja)</a:t>
            </a:r>
          </a:p>
        </p:txBody>
      </p:sp>
      <p:cxnSp>
        <p:nvCxnSpPr>
          <p:cNvPr id="471" name="Shape 471"/>
          <p:cNvCxnSpPr/>
          <p:nvPr/>
        </p:nvCxnSpPr>
        <p:spPr>
          <a:xfrm rot="10800000">
            <a:off x="1403350" y="2492375"/>
            <a:ext cx="0" cy="345757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472" name="Shape 472"/>
          <p:cNvCxnSpPr/>
          <p:nvPr/>
        </p:nvCxnSpPr>
        <p:spPr>
          <a:xfrm>
            <a:off x="1403350" y="5949950"/>
            <a:ext cx="345598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73" name="Shape 473"/>
          <p:cNvSpPr/>
          <p:nvPr/>
        </p:nvSpPr>
        <p:spPr>
          <a:xfrm>
            <a:off x="1763711" y="2852736"/>
            <a:ext cx="2468562" cy="2671762"/>
          </a:xfrm>
          <a:custGeom>
            <a:pathLst>
              <a:path extrusionOk="0" h="1683" w="1555">
                <a:moveTo>
                  <a:pt x="0" y="1150"/>
                </a:moveTo>
                <a:cubicBezTo>
                  <a:pt x="30" y="1214"/>
                  <a:pt x="124" y="1449"/>
                  <a:pt x="180" y="1536"/>
                </a:cubicBezTo>
                <a:cubicBezTo>
                  <a:pt x="236" y="1623"/>
                  <a:pt x="265" y="1667"/>
                  <a:pt x="338" y="1675"/>
                </a:cubicBezTo>
                <a:cubicBezTo>
                  <a:pt x="411" y="1683"/>
                  <a:pt x="516" y="1674"/>
                  <a:pt x="617" y="1582"/>
                </a:cubicBezTo>
                <a:cubicBezTo>
                  <a:pt x="718" y="1490"/>
                  <a:pt x="841" y="1281"/>
                  <a:pt x="942" y="1120"/>
                </a:cubicBezTo>
                <a:cubicBezTo>
                  <a:pt x="1043" y="959"/>
                  <a:pt x="1147" y="753"/>
                  <a:pt x="1221" y="618"/>
                </a:cubicBezTo>
                <a:cubicBezTo>
                  <a:pt x="1295" y="483"/>
                  <a:pt x="1332" y="415"/>
                  <a:pt x="1388" y="312"/>
                </a:cubicBezTo>
                <a:cubicBezTo>
                  <a:pt x="1444" y="209"/>
                  <a:pt x="1520" y="65"/>
                  <a:pt x="1555" y="0"/>
                </a:cubicBezTo>
              </a:path>
            </a:pathLst>
          </a:custGeom>
          <a:noFill/>
          <a:ln cap="flat" cmpd="sng" w="9525">
            <a:solidFill>
              <a:srgbClr val="9933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Shape 474"/>
          <p:cNvSpPr/>
          <p:nvPr/>
        </p:nvSpPr>
        <p:spPr>
          <a:xfrm rot="180000">
            <a:off x="1835150" y="2852737"/>
            <a:ext cx="4206874" cy="2166936"/>
          </a:xfrm>
          <a:custGeom>
            <a:pathLst>
              <a:path extrusionOk="0" h="1365" w="2650">
                <a:moveTo>
                  <a:pt x="0" y="307"/>
                </a:moveTo>
                <a:cubicBezTo>
                  <a:pt x="36" y="396"/>
                  <a:pt x="134" y="690"/>
                  <a:pt x="216" y="841"/>
                </a:cubicBezTo>
                <a:cubicBezTo>
                  <a:pt x="298" y="992"/>
                  <a:pt x="405" y="1128"/>
                  <a:pt x="495" y="1213"/>
                </a:cubicBezTo>
                <a:cubicBezTo>
                  <a:pt x="585" y="1298"/>
                  <a:pt x="650" y="1343"/>
                  <a:pt x="755" y="1354"/>
                </a:cubicBezTo>
                <a:cubicBezTo>
                  <a:pt x="860" y="1365"/>
                  <a:pt x="972" y="1337"/>
                  <a:pt x="1127" y="1278"/>
                </a:cubicBezTo>
                <a:cubicBezTo>
                  <a:pt x="1282" y="1219"/>
                  <a:pt x="1529" y="1095"/>
                  <a:pt x="1684" y="999"/>
                </a:cubicBezTo>
                <a:cubicBezTo>
                  <a:pt x="1839" y="903"/>
                  <a:pt x="1946" y="800"/>
                  <a:pt x="2056" y="699"/>
                </a:cubicBezTo>
                <a:cubicBezTo>
                  <a:pt x="2166" y="598"/>
                  <a:pt x="2245" y="509"/>
                  <a:pt x="2344" y="393"/>
                </a:cubicBezTo>
                <a:cubicBezTo>
                  <a:pt x="2443" y="277"/>
                  <a:pt x="2586" y="82"/>
                  <a:pt x="2650" y="0"/>
                </a:cubicBezTo>
              </a:path>
            </a:pathLst>
          </a:custGeom>
          <a:noFill/>
          <a:ln cap="flat" cmpd="sng" w="9525">
            <a:solidFill>
              <a:srgbClr val="008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Shape 475"/>
          <p:cNvSpPr/>
          <p:nvPr/>
        </p:nvSpPr>
        <p:spPr>
          <a:xfrm>
            <a:off x="2268536" y="2276475"/>
            <a:ext cx="4070350" cy="2066925"/>
          </a:xfrm>
          <a:custGeom>
            <a:pathLst>
              <a:path extrusionOk="0" h="1302" w="2564">
                <a:moveTo>
                  <a:pt x="0" y="214"/>
                </a:moveTo>
                <a:cubicBezTo>
                  <a:pt x="29" y="290"/>
                  <a:pt x="117" y="535"/>
                  <a:pt x="176" y="669"/>
                </a:cubicBezTo>
                <a:cubicBezTo>
                  <a:pt x="235" y="803"/>
                  <a:pt x="288" y="924"/>
                  <a:pt x="355" y="1019"/>
                </a:cubicBezTo>
                <a:cubicBezTo>
                  <a:pt x="422" y="1114"/>
                  <a:pt x="507" y="1196"/>
                  <a:pt x="578" y="1242"/>
                </a:cubicBezTo>
                <a:cubicBezTo>
                  <a:pt x="649" y="1288"/>
                  <a:pt x="700" y="1302"/>
                  <a:pt x="782" y="1297"/>
                </a:cubicBezTo>
                <a:cubicBezTo>
                  <a:pt x="858" y="1294"/>
                  <a:pt x="931" y="1271"/>
                  <a:pt x="1070" y="1214"/>
                </a:cubicBezTo>
                <a:cubicBezTo>
                  <a:pt x="1209" y="1157"/>
                  <a:pt x="1441" y="1071"/>
                  <a:pt x="1616" y="957"/>
                </a:cubicBezTo>
                <a:cubicBezTo>
                  <a:pt x="1791" y="843"/>
                  <a:pt x="1985" y="656"/>
                  <a:pt x="2118" y="529"/>
                </a:cubicBezTo>
                <a:cubicBezTo>
                  <a:pt x="2251" y="402"/>
                  <a:pt x="2341" y="283"/>
                  <a:pt x="2415" y="195"/>
                </a:cubicBezTo>
                <a:cubicBezTo>
                  <a:pt x="2489" y="107"/>
                  <a:pt x="2533" y="41"/>
                  <a:pt x="2564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Shape 476"/>
          <p:cNvSpPr txBox="1"/>
          <p:nvPr/>
        </p:nvSpPr>
        <p:spPr>
          <a:xfrm>
            <a:off x="827087" y="2133600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Costos medios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Precios unitarios</a:t>
            </a:r>
          </a:p>
        </p:txBody>
      </p:sp>
      <p:sp>
        <p:nvSpPr>
          <p:cNvPr id="477" name="Shape 477"/>
          <p:cNvSpPr txBox="1"/>
          <p:nvPr/>
        </p:nvSpPr>
        <p:spPr>
          <a:xfrm>
            <a:off x="3492500" y="5876925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3635375" y="2565400"/>
            <a:ext cx="21605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Costo marginal</a:t>
            </a:r>
          </a:p>
        </p:txBody>
      </p:sp>
      <p:sp>
        <p:nvSpPr>
          <p:cNvPr id="479" name="Shape 479"/>
          <p:cNvSpPr txBox="1"/>
          <p:nvPr/>
        </p:nvSpPr>
        <p:spPr>
          <a:xfrm>
            <a:off x="6227762" y="2420936"/>
            <a:ext cx="1512886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medio</a:t>
            </a:r>
          </a:p>
        </p:txBody>
      </p:sp>
      <p:sp>
        <p:nvSpPr>
          <p:cNvPr id="480" name="Shape 480"/>
          <p:cNvSpPr txBox="1"/>
          <p:nvPr/>
        </p:nvSpPr>
        <p:spPr>
          <a:xfrm>
            <a:off x="6011862" y="3068636"/>
            <a:ext cx="2305050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Costo variable medio</a:t>
            </a:r>
          </a:p>
        </p:txBody>
      </p:sp>
      <p:sp>
        <p:nvSpPr>
          <p:cNvPr id="481" name="Shape 481"/>
          <p:cNvSpPr/>
          <p:nvPr/>
        </p:nvSpPr>
        <p:spPr>
          <a:xfrm flipH="1" rot="10800000">
            <a:off x="1403350" y="4941887"/>
            <a:ext cx="1584324" cy="142875"/>
          </a:xfrm>
          <a:custGeom>
            <a:pathLst>
              <a:path extrusionOk="0" h="1" w="994">
                <a:moveTo>
                  <a:pt x="0" y="0"/>
                </a:moveTo>
                <a:lnTo>
                  <a:pt x="99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Shape 482"/>
          <p:cNvSpPr txBox="1"/>
          <p:nvPr/>
        </p:nvSpPr>
        <p:spPr>
          <a:xfrm>
            <a:off x="2916236" y="4868862"/>
            <a:ext cx="360362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483" name="Shape 483"/>
          <p:cNvSpPr txBox="1"/>
          <p:nvPr/>
        </p:nvSpPr>
        <p:spPr>
          <a:xfrm>
            <a:off x="684212" y="3860800"/>
            <a:ext cx="863599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Cme</a:t>
            </a:r>
          </a:p>
        </p:txBody>
      </p:sp>
      <p:sp>
        <p:nvSpPr>
          <p:cNvPr id="484" name="Shape 484"/>
          <p:cNvSpPr txBox="1"/>
          <p:nvPr/>
        </p:nvSpPr>
        <p:spPr>
          <a:xfrm>
            <a:off x="5148262" y="4076700"/>
            <a:ext cx="3781425" cy="23050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el precio baja por debajo del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 variable medio mínimo, el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productor racional debe cerrar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porque no tiene manera de revertir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pérdidas</a:t>
            </a:r>
          </a:p>
        </p:txBody>
      </p:sp>
      <p:sp>
        <p:nvSpPr>
          <p:cNvPr id="485" name="Shape 485"/>
          <p:cNvSpPr/>
          <p:nvPr/>
        </p:nvSpPr>
        <p:spPr>
          <a:xfrm flipH="1" rot="10800000">
            <a:off x="1403350" y="3933825"/>
            <a:ext cx="1582737" cy="142875"/>
          </a:xfrm>
          <a:custGeom>
            <a:pathLst>
              <a:path extrusionOk="0" h="1" w="994">
                <a:moveTo>
                  <a:pt x="0" y="0"/>
                </a:moveTo>
                <a:lnTo>
                  <a:pt x="99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Shape 486"/>
          <p:cNvSpPr txBox="1"/>
          <p:nvPr/>
        </p:nvSpPr>
        <p:spPr>
          <a:xfrm>
            <a:off x="1400175" y="4076700"/>
            <a:ext cx="1587499" cy="1008062"/>
          </a:xfrm>
          <a:prstGeom prst="rect">
            <a:avLst/>
          </a:prstGeom>
          <a:solidFill>
            <a:srgbClr val="FF0000">
              <a:alpha val="72549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Perdidas</a:t>
            </a:r>
          </a:p>
        </p:txBody>
      </p:sp>
      <p:sp>
        <p:nvSpPr>
          <p:cNvPr id="487" name="Shape 487"/>
          <p:cNvSpPr txBox="1"/>
          <p:nvPr/>
        </p:nvSpPr>
        <p:spPr>
          <a:xfrm>
            <a:off x="973137" y="4868862"/>
            <a:ext cx="503236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</a:t>
            </a:r>
          </a:p>
        </p:txBody>
      </p:sp>
      <p:cxnSp>
        <p:nvCxnSpPr>
          <p:cNvPr id="488" name="Shape 488"/>
          <p:cNvCxnSpPr/>
          <p:nvPr/>
        </p:nvCxnSpPr>
        <p:spPr>
          <a:xfrm>
            <a:off x="1116012" y="4292600"/>
            <a:ext cx="0" cy="57626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489" name="Shape 489"/>
          <p:cNvCxnSpPr/>
          <p:nvPr/>
        </p:nvCxnSpPr>
        <p:spPr>
          <a:xfrm rot="10800000">
            <a:off x="3779836" y="6381750"/>
            <a:ext cx="792162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490" name="Shape 490"/>
          <p:cNvCxnSpPr/>
          <p:nvPr/>
        </p:nvCxnSpPr>
        <p:spPr>
          <a:xfrm>
            <a:off x="2987675" y="4076700"/>
            <a:ext cx="0" cy="187324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91" name="Shape 491"/>
          <p:cNvSpPr txBox="1"/>
          <p:nvPr/>
        </p:nvSpPr>
        <p:spPr>
          <a:xfrm>
            <a:off x="2843211" y="5949950"/>
            <a:ext cx="360362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496"/>
          <p:cNvSpPr/>
          <p:nvPr>
            <p:ph type="title"/>
          </p:nvPr>
        </p:nvSpPr>
        <p:spPr>
          <a:xfrm>
            <a:off x="755650" y="836612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CURVA DE OFERTA DEL PRODUCTOR</a:t>
            </a:r>
          </a:p>
        </p:txBody>
      </p:sp>
      <p:sp>
        <p:nvSpPr>
          <p:cNvPr id="497" name="Shape 497"/>
          <p:cNvSpPr txBox="1"/>
          <p:nvPr>
            <p:ph idx="1" type="body"/>
          </p:nvPr>
        </p:nvSpPr>
        <p:spPr>
          <a:xfrm>
            <a:off x="5651500" y="2276475"/>
            <a:ext cx="3384550" cy="3514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curva de oferta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del productor racional sigue la curva de costo marginal partiendo del costo variable medio mínimo en adelante</a:t>
            </a:r>
          </a:p>
        </p:txBody>
      </p:sp>
      <p:cxnSp>
        <p:nvCxnSpPr>
          <p:cNvPr id="498" name="Shape 498"/>
          <p:cNvCxnSpPr/>
          <p:nvPr/>
        </p:nvCxnSpPr>
        <p:spPr>
          <a:xfrm>
            <a:off x="1116012" y="2565400"/>
            <a:ext cx="0" cy="3600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499" name="Shape 499"/>
          <p:cNvCxnSpPr/>
          <p:nvPr/>
        </p:nvCxnSpPr>
        <p:spPr>
          <a:xfrm>
            <a:off x="971550" y="5876925"/>
            <a:ext cx="46799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00" name="Shape 500"/>
          <p:cNvSpPr txBox="1"/>
          <p:nvPr/>
        </p:nvSpPr>
        <p:spPr>
          <a:xfrm>
            <a:off x="71436" y="2133600"/>
            <a:ext cx="11874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</a:p>
        </p:txBody>
      </p:sp>
      <p:sp>
        <p:nvSpPr>
          <p:cNvPr id="501" name="Shape 501"/>
          <p:cNvSpPr txBox="1"/>
          <p:nvPr/>
        </p:nvSpPr>
        <p:spPr>
          <a:xfrm>
            <a:off x="4932362" y="5734050"/>
            <a:ext cx="1439862" cy="65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502" name="Shape 502"/>
          <p:cNvSpPr/>
          <p:nvPr/>
        </p:nvSpPr>
        <p:spPr>
          <a:xfrm>
            <a:off x="1763711" y="2492375"/>
            <a:ext cx="2468562" cy="2679700"/>
          </a:xfrm>
          <a:custGeom>
            <a:pathLst>
              <a:path extrusionOk="0" h="1688" w="1555">
                <a:moveTo>
                  <a:pt x="0" y="1150"/>
                </a:moveTo>
                <a:cubicBezTo>
                  <a:pt x="30" y="1214"/>
                  <a:pt x="119" y="1447"/>
                  <a:pt x="180" y="1536"/>
                </a:cubicBezTo>
                <a:cubicBezTo>
                  <a:pt x="241" y="1625"/>
                  <a:pt x="293" y="1676"/>
                  <a:pt x="364" y="1682"/>
                </a:cubicBezTo>
                <a:cubicBezTo>
                  <a:pt x="435" y="1688"/>
                  <a:pt x="510" y="1664"/>
                  <a:pt x="606" y="1570"/>
                </a:cubicBezTo>
                <a:cubicBezTo>
                  <a:pt x="702" y="1476"/>
                  <a:pt x="839" y="1279"/>
                  <a:pt x="942" y="1120"/>
                </a:cubicBezTo>
                <a:cubicBezTo>
                  <a:pt x="1045" y="961"/>
                  <a:pt x="1147" y="753"/>
                  <a:pt x="1221" y="618"/>
                </a:cubicBezTo>
                <a:cubicBezTo>
                  <a:pt x="1295" y="483"/>
                  <a:pt x="1332" y="415"/>
                  <a:pt x="1388" y="312"/>
                </a:cubicBezTo>
                <a:cubicBezTo>
                  <a:pt x="1444" y="209"/>
                  <a:pt x="1520" y="65"/>
                  <a:pt x="1555" y="0"/>
                </a:cubicBezTo>
              </a:path>
            </a:pathLst>
          </a:custGeom>
          <a:noFill/>
          <a:ln cap="flat" cmpd="sng" w="9525">
            <a:solidFill>
              <a:srgbClr val="9933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Shape 503"/>
          <p:cNvSpPr/>
          <p:nvPr/>
        </p:nvSpPr>
        <p:spPr>
          <a:xfrm>
            <a:off x="2411411" y="2492375"/>
            <a:ext cx="1798636" cy="2690812"/>
          </a:xfrm>
          <a:custGeom>
            <a:pathLst>
              <a:path extrusionOk="0" h="1695" w="1133">
                <a:moveTo>
                  <a:pt x="0" y="1673"/>
                </a:moveTo>
                <a:cubicBezTo>
                  <a:pt x="25" y="1664"/>
                  <a:pt x="69" y="1695"/>
                  <a:pt x="148" y="1617"/>
                </a:cubicBezTo>
                <a:cubicBezTo>
                  <a:pt x="227" y="1539"/>
                  <a:pt x="379" y="1348"/>
                  <a:pt x="473" y="1208"/>
                </a:cubicBezTo>
                <a:cubicBezTo>
                  <a:pt x="567" y="1068"/>
                  <a:pt x="636" y="911"/>
                  <a:pt x="711" y="777"/>
                </a:cubicBezTo>
                <a:cubicBezTo>
                  <a:pt x="786" y="643"/>
                  <a:pt x="854" y="535"/>
                  <a:pt x="924" y="406"/>
                </a:cubicBezTo>
                <a:cubicBezTo>
                  <a:pt x="994" y="277"/>
                  <a:pt x="1090" y="85"/>
                  <a:pt x="1133" y="0"/>
                </a:cubicBezTo>
              </a:path>
            </a:pathLst>
          </a:custGeom>
          <a:noFill/>
          <a:ln cap="flat" cmpd="sng" w="412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Shape 504"/>
          <p:cNvSpPr txBox="1"/>
          <p:nvPr/>
        </p:nvSpPr>
        <p:spPr>
          <a:xfrm>
            <a:off x="2124075" y="2703511"/>
            <a:ext cx="1439862" cy="65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Costo marginal</a:t>
            </a:r>
          </a:p>
        </p:txBody>
      </p:sp>
      <p:sp>
        <p:nvSpPr>
          <p:cNvPr id="505" name="Shape 505"/>
          <p:cNvSpPr txBox="1"/>
          <p:nvPr/>
        </p:nvSpPr>
        <p:spPr>
          <a:xfrm>
            <a:off x="3779837" y="3357562"/>
            <a:ext cx="1439862" cy="65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Curva de oferta</a:t>
            </a: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510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OFERTA COMBINADA</a:t>
            </a:r>
          </a:p>
        </p:txBody>
      </p:sp>
      <p:sp>
        <p:nvSpPr>
          <p:cNvPr id="511" name="Shape 511"/>
          <p:cNvSpPr txBox="1"/>
          <p:nvPr>
            <p:ph idx="1" type="body"/>
          </p:nvPr>
        </p:nvSpPr>
        <p:spPr>
          <a:xfrm>
            <a:off x="755650" y="5445125"/>
            <a:ext cx="8388349" cy="1223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Por ejemplo en los gráficos de la figura anterior la empresa A a 10 $/u no ofrece, mientras que la empresa B si lo hace, si el mercado solo estuviera compuesto por las empresas Ay B tendríamos que sumar sus ofertas individuales tal como aparece en el de la oferta combinada.</a:t>
            </a: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Shape 512"/>
          <p:cNvCxnSpPr/>
          <p:nvPr/>
        </p:nvCxnSpPr>
        <p:spPr>
          <a:xfrm>
            <a:off x="971550" y="2492375"/>
            <a:ext cx="0" cy="2952750"/>
          </a:xfrm>
          <a:prstGeom prst="straightConnector1">
            <a:avLst/>
          </a:prstGeom>
          <a:noFill/>
          <a:ln cap="flat" cmpd="sng" w="19050">
            <a:solidFill>
              <a:srgbClr val="003300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13" name="Shape 513"/>
          <p:cNvCxnSpPr/>
          <p:nvPr/>
        </p:nvCxnSpPr>
        <p:spPr>
          <a:xfrm>
            <a:off x="827087" y="5157787"/>
            <a:ext cx="2016124" cy="0"/>
          </a:xfrm>
          <a:prstGeom prst="straightConnector1">
            <a:avLst/>
          </a:prstGeom>
          <a:noFill/>
          <a:ln cap="flat" cmpd="sng" w="19050">
            <a:solidFill>
              <a:srgbClr val="003300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14" name="Shape 514"/>
          <p:cNvCxnSpPr/>
          <p:nvPr/>
        </p:nvCxnSpPr>
        <p:spPr>
          <a:xfrm>
            <a:off x="3203575" y="2565400"/>
            <a:ext cx="0" cy="2735262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15" name="Shape 515"/>
          <p:cNvCxnSpPr/>
          <p:nvPr/>
        </p:nvCxnSpPr>
        <p:spPr>
          <a:xfrm>
            <a:off x="3059111" y="5157787"/>
            <a:ext cx="2449512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16" name="Shape 516"/>
          <p:cNvCxnSpPr/>
          <p:nvPr/>
        </p:nvCxnSpPr>
        <p:spPr>
          <a:xfrm>
            <a:off x="5724525" y="2349500"/>
            <a:ext cx="0" cy="302418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17" name="Shape 517"/>
          <p:cNvCxnSpPr/>
          <p:nvPr/>
        </p:nvCxnSpPr>
        <p:spPr>
          <a:xfrm>
            <a:off x="5580062" y="5157787"/>
            <a:ext cx="3563936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18" name="Shape 518"/>
          <p:cNvSpPr/>
          <p:nvPr/>
        </p:nvSpPr>
        <p:spPr>
          <a:xfrm>
            <a:off x="1042987" y="2636836"/>
            <a:ext cx="1223961" cy="1800225"/>
          </a:xfrm>
          <a:custGeom>
            <a:pathLst>
              <a:path extrusionOk="0" h="1134" w="771">
                <a:moveTo>
                  <a:pt x="0" y="1134"/>
                </a:moveTo>
                <a:cubicBezTo>
                  <a:pt x="69" y="1117"/>
                  <a:pt x="300" y="1116"/>
                  <a:pt x="412" y="1029"/>
                </a:cubicBezTo>
                <a:cubicBezTo>
                  <a:pt x="524" y="942"/>
                  <a:pt x="612" y="782"/>
                  <a:pt x="672" y="611"/>
                </a:cubicBezTo>
                <a:cubicBezTo>
                  <a:pt x="732" y="440"/>
                  <a:pt x="750" y="127"/>
                  <a:pt x="771" y="0"/>
                </a:cubicBezTo>
              </a:path>
            </a:pathLst>
          </a:custGeom>
          <a:noFill/>
          <a:ln cap="flat" cmpd="sng" w="28575">
            <a:solidFill>
              <a:srgbClr val="0033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Shape 519"/>
          <p:cNvSpPr/>
          <p:nvPr/>
        </p:nvSpPr>
        <p:spPr>
          <a:xfrm>
            <a:off x="3348037" y="2781300"/>
            <a:ext cx="1695450" cy="2119311"/>
          </a:xfrm>
          <a:custGeom>
            <a:pathLst>
              <a:path extrusionOk="0" h="1335" w="1068">
                <a:moveTo>
                  <a:pt x="0" y="1329"/>
                </a:moveTo>
                <a:cubicBezTo>
                  <a:pt x="73" y="1318"/>
                  <a:pt x="304" y="1335"/>
                  <a:pt x="437" y="1264"/>
                </a:cubicBezTo>
                <a:cubicBezTo>
                  <a:pt x="570" y="1193"/>
                  <a:pt x="694" y="1112"/>
                  <a:pt x="799" y="901"/>
                </a:cubicBezTo>
                <a:cubicBezTo>
                  <a:pt x="904" y="690"/>
                  <a:pt x="1012" y="188"/>
                  <a:pt x="1068" y="0"/>
                </a:cubicBez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0" name="Shape 520"/>
          <p:cNvCxnSpPr/>
          <p:nvPr/>
        </p:nvCxnSpPr>
        <p:spPr>
          <a:xfrm>
            <a:off x="971550" y="2781300"/>
            <a:ext cx="129698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521" name="Shape 521"/>
          <p:cNvCxnSpPr/>
          <p:nvPr/>
        </p:nvCxnSpPr>
        <p:spPr>
          <a:xfrm>
            <a:off x="3203575" y="2781300"/>
            <a:ext cx="18002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522" name="Shape 522"/>
          <p:cNvSpPr/>
          <p:nvPr/>
        </p:nvSpPr>
        <p:spPr>
          <a:xfrm>
            <a:off x="5940425" y="4365625"/>
            <a:ext cx="1508125" cy="487362"/>
          </a:xfrm>
          <a:custGeom>
            <a:pathLst>
              <a:path extrusionOk="0" h="307" w="950">
                <a:moveTo>
                  <a:pt x="0" y="307"/>
                </a:moveTo>
                <a:cubicBezTo>
                  <a:pt x="62" y="301"/>
                  <a:pt x="270" y="298"/>
                  <a:pt x="372" y="270"/>
                </a:cubicBezTo>
                <a:cubicBezTo>
                  <a:pt x="474" y="242"/>
                  <a:pt x="545" y="174"/>
                  <a:pt x="613" y="140"/>
                </a:cubicBezTo>
                <a:cubicBezTo>
                  <a:pt x="681" y="106"/>
                  <a:pt x="726" y="88"/>
                  <a:pt x="782" y="65"/>
                </a:cubicBezTo>
                <a:cubicBezTo>
                  <a:pt x="838" y="42"/>
                  <a:pt x="915" y="14"/>
                  <a:pt x="950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Shape 523"/>
          <p:cNvSpPr/>
          <p:nvPr/>
        </p:nvSpPr>
        <p:spPr>
          <a:xfrm>
            <a:off x="7432675" y="2636836"/>
            <a:ext cx="1404936" cy="1728786"/>
          </a:xfrm>
          <a:custGeom>
            <a:pathLst>
              <a:path extrusionOk="0" h="1089" w="885">
                <a:moveTo>
                  <a:pt x="0" y="1089"/>
                </a:moveTo>
                <a:cubicBezTo>
                  <a:pt x="64" y="1066"/>
                  <a:pt x="276" y="1029"/>
                  <a:pt x="386" y="953"/>
                </a:cubicBezTo>
                <a:cubicBezTo>
                  <a:pt x="496" y="877"/>
                  <a:pt x="582" y="764"/>
                  <a:pt x="658" y="635"/>
                </a:cubicBezTo>
                <a:cubicBezTo>
                  <a:pt x="734" y="506"/>
                  <a:pt x="802" y="287"/>
                  <a:pt x="840" y="181"/>
                </a:cubicBezTo>
                <a:cubicBezTo>
                  <a:pt x="878" y="75"/>
                  <a:pt x="878" y="30"/>
                  <a:pt x="885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Shape 524"/>
          <p:cNvSpPr txBox="1"/>
          <p:nvPr/>
        </p:nvSpPr>
        <p:spPr>
          <a:xfrm>
            <a:off x="539750" y="2205036"/>
            <a:ext cx="504824" cy="433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</a:p>
        </p:txBody>
      </p:sp>
      <p:sp>
        <p:nvSpPr>
          <p:cNvPr id="525" name="Shape 525"/>
          <p:cNvSpPr txBox="1"/>
          <p:nvPr/>
        </p:nvSpPr>
        <p:spPr>
          <a:xfrm>
            <a:off x="2843211" y="2205036"/>
            <a:ext cx="504824" cy="433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</a:p>
        </p:txBody>
      </p:sp>
      <p:sp>
        <p:nvSpPr>
          <p:cNvPr id="526" name="Shape 526"/>
          <p:cNvSpPr txBox="1"/>
          <p:nvPr/>
        </p:nvSpPr>
        <p:spPr>
          <a:xfrm>
            <a:off x="5219700" y="2276475"/>
            <a:ext cx="504824" cy="433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</a:p>
        </p:txBody>
      </p:sp>
      <p:sp>
        <p:nvSpPr>
          <p:cNvPr id="527" name="Shape 527"/>
          <p:cNvSpPr txBox="1"/>
          <p:nvPr/>
        </p:nvSpPr>
        <p:spPr>
          <a:xfrm>
            <a:off x="2482850" y="5084762"/>
            <a:ext cx="504824" cy="433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</a:p>
        </p:txBody>
      </p:sp>
      <p:sp>
        <p:nvSpPr>
          <p:cNvPr id="528" name="Shape 528"/>
          <p:cNvSpPr txBox="1"/>
          <p:nvPr/>
        </p:nvSpPr>
        <p:spPr>
          <a:xfrm>
            <a:off x="4859337" y="5083175"/>
            <a:ext cx="504824" cy="433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</a:p>
        </p:txBody>
      </p:sp>
      <p:sp>
        <p:nvSpPr>
          <p:cNvPr id="529" name="Shape 529"/>
          <p:cNvSpPr txBox="1"/>
          <p:nvPr/>
        </p:nvSpPr>
        <p:spPr>
          <a:xfrm>
            <a:off x="8459786" y="5084762"/>
            <a:ext cx="504824" cy="433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</a:p>
        </p:txBody>
      </p:sp>
      <p:sp>
        <p:nvSpPr>
          <p:cNvPr id="530" name="Shape 530"/>
          <p:cNvSpPr txBox="1"/>
          <p:nvPr/>
        </p:nvSpPr>
        <p:spPr>
          <a:xfrm>
            <a:off x="179386" y="1916111"/>
            <a:ext cx="2520949" cy="433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OFERTA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EMPRESA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531" name="Shape 531"/>
          <p:cNvSpPr txBox="1"/>
          <p:nvPr/>
        </p:nvSpPr>
        <p:spPr>
          <a:xfrm>
            <a:off x="2914650" y="1916111"/>
            <a:ext cx="2520949" cy="433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OFERTA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EMPRESA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532" name="Shape 532"/>
          <p:cNvSpPr txBox="1"/>
          <p:nvPr/>
        </p:nvSpPr>
        <p:spPr>
          <a:xfrm>
            <a:off x="5722937" y="2203450"/>
            <a:ext cx="2520949" cy="433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OFERTA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COMBINADA</a:t>
            </a:r>
          </a:p>
        </p:txBody>
      </p:sp>
      <p:sp>
        <p:nvSpPr>
          <p:cNvPr id="533" name="Shape 533"/>
          <p:cNvSpPr txBox="1"/>
          <p:nvPr/>
        </p:nvSpPr>
        <p:spPr>
          <a:xfrm>
            <a:off x="322262" y="4437062"/>
            <a:ext cx="504824" cy="433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10$/u</a:t>
            </a:r>
          </a:p>
        </p:txBody>
      </p:sp>
      <p:cxnSp>
        <p:nvCxnSpPr>
          <p:cNvPr id="534" name="Shape 534"/>
          <p:cNvCxnSpPr/>
          <p:nvPr/>
        </p:nvCxnSpPr>
        <p:spPr>
          <a:xfrm>
            <a:off x="971550" y="4652962"/>
            <a:ext cx="583247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35" name="Shape 535"/>
          <p:cNvCxnSpPr/>
          <p:nvPr/>
        </p:nvCxnSpPr>
        <p:spPr>
          <a:xfrm>
            <a:off x="4284662" y="4652962"/>
            <a:ext cx="0" cy="5048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36" name="Shape 536"/>
          <p:cNvCxnSpPr/>
          <p:nvPr/>
        </p:nvCxnSpPr>
        <p:spPr>
          <a:xfrm>
            <a:off x="6804025" y="4652962"/>
            <a:ext cx="0" cy="5048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FUNCIÓN OFERTA DEL MERCADO</a:t>
            </a:r>
          </a:p>
        </p:txBody>
      </p:sp>
      <p:sp>
        <p:nvSpPr>
          <p:cNvPr id="542" name="Shape 542"/>
          <p:cNvSpPr txBox="1"/>
          <p:nvPr>
            <p:ph idx="1" type="body"/>
          </p:nvPr>
        </p:nvSpPr>
        <p:spPr>
          <a:xfrm>
            <a:off x="4643437" y="2362200"/>
            <a:ext cx="4500561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curva de la oferta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el resultado de la </a:t>
            </a:r>
            <a:r>
              <a:rPr b="1" i="1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decisión de los potenciales productores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Representaría la cantidad ofrecida de ese bien para cada nivel de precio.</a:t>
            </a:r>
          </a:p>
        </p:txBody>
      </p:sp>
      <p:cxnSp>
        <p:nvCxnSpPr>
          <p:cNvPr id="543" name="Shape 543"/>
          <p:cNvCxnSpPr/>
          <p:nvPr/>
        </p:nvCxnSpPr>
        <p:spPr>
          <a:xfrm>
            <a:off x="1042987" y="2565400"/>
            <a:ext cx="0" cy="381634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44" name="Shape 544"/>
          <p:cNvCxnSpPr/>
          <p:nvPr/>
        </p:nvCxnSpPr>
        <p:spPr>
          <a:xfrm>
            <a:off x="611187" y="6165850"/>
            <a:ext cx="446563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45" name="Shape 545"/>
          <p:cNvSpPr/>
          <p:nvPr/>
        </p:nvSpPr>
        <p:spPr>
          <a:xfrm>
            <a:off x="1619250" y="2636836"/>
            <a:ext cx="2805111" cy="3043236"/>
          </a:xfrm>
          <a:custGeom>
            <a:pathLst>
              <a:path extrusionOk="0" h="1917" w="1767">
                <a:moveTo>
                  <a:pt x="0" y="1894"/>
                </a:moveTo>
                <a:cubicBezTo>
                  <a:pt x="84" y="1886"/>
                  <a:pt x="323" y="1917"/>
                  <a:pt x="504" y="1849"/>
                </a:cubicBezTo>
                <a:cubicBezTo>
                  <a:pt x="685" y="1781"/>
                  <a:pt x="931" y="1637"/>
                  <a:pt x="1089" y="1486"/>
                </a:cubicBezTo>
                <a:cubicBezTo>
                  <a:pt x="1247" y="1335"/>
                  <a:pt x="1353" y="1143"/>
                  <a:pt x="1452" y="942"/>
                </a:cubicBezTo>
                <a:cubicBezTo>
                  <a:pt x="1551" y="741"/>
                  <a:pt x="1630" y="436"/>
                  <a:pt x="1683" y="279"/>
                </a:cubicBezTo>
                <a:cubicBezTo>
                  <a:pt x="1736" y="122"/>
                  <a:pt x="1750" y="58"/>
                  <a:pt x="1767" y="0"/>
                </a:cubicBezTo>
              </a:path>
            </a:pathLst>
          </a:custGeom>
          <a:noFill/>
          <a:ln cap="flat" cmpd="sng" w="444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Shape 546"/>
          <p:cNvSpPr txBox="1"/>
          <p:nvPr/>
        </p:nvSpPr>
        <p:spPr>
          <a:xfrm>
            <a:off x="34925" y="220503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</a:p>
        </p:txBody>
      </p:sp>
      <p:sp>
        <p:nvSpPr>
          <p:cNvPr id="547" name="Shape 547"/>
          <p:cNvSpPr txBox="1"/>
          <p:nvPr/>
        </p:nvSpPr>
        <p:spPr>
          <a:xfrm>
            <a:off x="4376737" y="6043612"/>
            <a:ext cx="1274762" cy="625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Shape 552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DESPLAZAMIENTO DE LA OFERTA</a:t>
            </a:r>
            <a:b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(EMPEORA)</a:t>
            </a:r>
          </a:p>
        </p:txBody>
      </p:sp>
      <p:sp>
        <p:nvSpPr>
          <p:cNvPr id="553" name="Shape 553"/>
          <p:cNvSpPr txBox="1"/>
          <p:nvPr>
            <p:ph idx="1" type="body"/>
          </p:nvPr>
        </p:nvSpPr>
        <p:spPr>
          <a:xfrm>
            <a:off x="5219700" y="2362200"/>
            <a:ext cx="3924299" cy="3011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aparecen distorsiones que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aumentan los costos del producto,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oferta empeora (se desplaza a la izquierda), es decir al mismo precio los productores entregarán menos cantidad (Q &gt; Q´).</a:t>
            </a:r>
          </a:p>
        </p:txBody>
      </p:sp>
      <p:cxnSp>
        <p:nvCxnSpPr>
          <p:cNvPr id="554" name="Shape 554"/>
          <p:cNvCxnSpPr/>
          <p:nvPr/>
        </p:nvCxnSpPr>
        <p:spPr>
          <a:xfrm>
            <a:off x="755650" y="2708275"/>
            <a:ext cx="0" cy="3673475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55" name="Shape 555"/>
          <p:cNvCxnSpPr/>
          <p:nvPr/>
        </p:nvCxnSpPr>
        <p:spPr>
          <a:xfrm>
            <a:off x="468312" y="6308725"/>
            <a:ext cx="6408737" cy="0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56" name="Shape 556"/>
          <p:cNvSpPr txBox="1"/>
          <p:nvPr/>
        </p:nvSpPr>
        <p:spPr>
          <a:xfrm>
            <a:off x="323850" y="2349500"/>
            <a:ext cx="93662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</a:p>
        </p:txBody>
      </p:sp>
      <p:sp>
        <p:nvSpPr>
          <p:cNvPr id="557" name="Shape 557"/>
          <p:cNvSpPr txBox="1"/>
          <p:nvPr/>
        </p:nvSpPr>
        <p:spPr>
          <a:xfrm>
            <a:off x="5867400" y="6381750"/>
            <a:ext cx="1152525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558" name="Shape 558"/>
          <p:cNvSpPr/>
          <p:nvPr/>
        </p:nvSpPr>
        <p:spPr>
          <a:xfrm>
            <a:off x="827087" y="2990850"/>
            <a:ext cx="3332162" cy="2743200"/>
          </a:xfrm>
          <a:custGeom>
            <a:pathLst>
              <a:path extrusionOk="0" h="1728" w="2099">
                <a:moveTo>
                  <a:pt x="0" y="1728"/>
                </a:moveTo>
                <a:cubicBezTo>
                  <a:pt x="93" y="1711"/>
                  <a:pt x="368" y="1686"/>
                  <a:pt x="557" y="1626"/>
                </a:cubicBezTo>
                <a:cubicBezTo>
                  <a:pt x="746" y="1566"/>
                  <a:pt x="974" y="1465"/>
                  <a:pt x="1133" y="1366"/>
                </a:cubicBezTo>
                <a:cubicBezTo>
                  <a:pt x="1292" y="1267"/>
                  <a:pt x="1404" y="1150"/>
                  <a:pt x="1514" y="1031"/>
                </a:cubicBezTo>
                <a:cubicBezTo>
                  <a:pt x="1624" y="912"/>
                  <a:pt x="1711" y="775"/>
                  <a:pt x="1793" y="650"/>
                </a:cubicBezTo>
                <a:cubicBezTo>
                  <a:pt x="1875" y="525"/>
                  <a:pt x="1955" y="387"/>
                  <a:pt x="2006" y="279"/>
                </a:cubicBezTo>
                <a:cubicBezTo>
                  <a:pt x="2057" y="171"/>
                  <a:pt x="2080" y="58"/>
                  <a:pt x="2099" y="0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Shape 559"/>
          <p:cNvSpPr/>
          <p:nvPr/>
        </p:nvSpPr>
        <p:spPr>
          <a:xfrm>
            <a:off x="827087" y="2990850"/>
            <a:ext cx="3332162" cy="2743200"/>
          </a:xfrm>
          <a:custGeom>
            <a:pathLst>
              <a:path extrusionOk="0" h="1728" w="2099">
                <a:moveTo>
                  <a:pt x="0" y="1728"/>
                </a:moveTo>
                <a:cubicBezTo>
                  <a:pt x="93" y="1711"/>
                  <a:pt x="368" y="1686"/>
                  <a:pt x="557" y="1626"/>
                </a:cubicBezTo>
                <a:cubicBezTo>
                  <a:pt x="746" y="1566"/>
                  <a:pt x="974" y="1465"/>
                  <a:pt x="1133" y="1366"/>
                </a:cubicBezTo>
                <a:cubicBezTo>
                  <a:pt x="1292" y="1267"/>
                  <a:pt x="1404" y="1150"/>
                  <a:pt x="1514" y="1031"/>
                </a:cubicBezTo>
                <a:cubicBezTo>
                  <a:pt x="1624" y="912"/>
                  <a:pt x="1711" y="775"/>
                  <a:pt x="1793" y="650"/>
                </a:cubicBezTo>
                <a:cubicBezTo>
                  <a:pt x="1875" y="525"/>
                  <a:pt x="1955" y="387"/>
                  <a:pt x="2006" y="279"/>
                </a:cubicBezTo>
                <a:cubicBezTo>
                  <a:pt x="2057" y="171"/>
                  <a:pt x="2080" y="58"/>
                  <a:pt x="2099" y="0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Shape 560"/>
          <p:cNvSpPr txBox="1"/>
          <p:nvPr/>
        </p:nvSpPr>
        <p:spPr>
          <a:xfrm>
            <a:off x="3708400" y="4294187"/>
            <a:ext cx="1152525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OFERTA</a:t>
            </a:r>
          </a:p>
        </p:txBody>
      </p:sp>
      <p:sp>
        <p:nvSpPr>
          <p:cNvPr id="561" name="Shape 561"/>
          <p:cNvSpPr/>
          <p:nvPr/>
        </p:nvSpPr>
        <p:spPr>
          <a:xfrm>
            <a:off x="827087" y="2990850"/>
            <a:ext cx="3332162" cy="2743200"/>
          </a:xfrm>
          <a:custGeom>
            <a:pathLst>
              <a:path extrusionOk="0" h="1728" w="2099">
                <a:moveTo>
                  <a:pt x="0" y="1728"/>
                </a:moveTo>
                <a:cubicBezTo>
                  <a:pt x="93" y="1711"/>
                  <a:pt x="368" y="1686"/>
                  <a:pt x="557" y="1626"/>
                </a:cubicBezTo>
                <a:cubicBezTo>
                  <a:pt x="746" y="1566"/>
                  <a:pt x="974" y="1465"/>
                  <a:pt x="1133" y="1366"/>
                </a:cubicBezTo>
                <a:cubicBezTo>
                  <a:pt x="1292" y="1267"/>
                  <a:pt x="1404" y="1150"/>
                  <a:pt x="1514" y="1031"/>
                </a:cubicBezTo>
                <a:cubicBezTo>
                  <a:pt x="1624" y="912"/>
                  <a:pt x="1711" y="775"/>
                  <a:pt x="1793" y="650"/>
                </a:cubicBezTo>
                <a:cubicBezTo>
                  <a:pt x="1875" y="525"/>
                  <a:pt x="1955" y="387"/>
                  <a:pt x="2006" y="279"/>
                </a:cubicBezTo>
                <a:cubicBezTo>
                  <a:pt x="2057" y="171"/>
                  <a:pt x="2080" y="58"/>
                  <a:pt x="2099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2" name="Shape 562"/>
          <p:cNvCxnSpPr/>
          <p:nvPr/>
        </p:nvCxnSpPr>
        <p:spPr>
          <a:xfrm>
            <a:off x="755650" y="4724400"/>
            <a:ext cx="23764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63" name="Shape 563"/>
          <p:cNvSpPr txBox="1"/>
          <p:nvPr/>
        </p:nvSpPr>
        <p:spPr>
          <a:xfrm>
            <a:off x="468312" y="4581525"/>
            <a:ext cx="287337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</a:p>
        </p:txBody>
      </p:sp>
      <p:cxnSp>
        <p:nvCxnSpPr>
          <p:cNvPr id="564" name="Shape 564"/>
          <p:cNvCxnSpPr/>
          <p:nvPr/>
        </p:nvCxnSpPr>
        <p:spPr>
          <a:xfrm>
            <a:off x="3132136" y="4724400"/>
            <a:ext cx="0" cy="158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65" name="Shape 565"/>
          <p:cNvSpPr txBox="1"/>
          <p:nvPr/>
        </p:nvSpPr>
        <p:spPr>
          <a:xfrm>
            <a:off x="2916236" y="6381750"/>
            <a:ext cx="360362" cy="215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</a:p>
        </p:txBody>
      </p:sp>
      <p:cxnSp>
        <p:nvCxnSpPr>
          <p:cNvPr id="566" name="Shape 566"/>
          <p:cNvCxnSpPr/>
          <p:nvPr/>
        </p:nvCxnSpPr>
        <p:spPr>
          <a:xfrm>
            <a:off x="2411411" y="4724400"/>
            <a:ext cx="0" cy="158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67" name="Shape 567"/>
          <p:cNvSpPr txBox="1"/>
          <p:nvPr/>
        </p:nvSpPr>
        <p:spPr>
          <a:xfrm>
            <a:off x="2195511" y="6381750"/>
            <a:ext cx="360362" cy="215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Q´</a:t>
            </a:r>
          </a:p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572"/>
          <p:cNvSpPr/>
          <p:nvPr>
            <p:ph idx="4294967295"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DESPLAZAMIENTO DE LA OFERTA</a:t>
            </a:r>
            <a:b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(MEJORA)</a:t>
            </a:r>
          </a:p>
        </p:txBody>
      </p:sp>
      <p:sp>
        <p:nvSpPr>
          <p:cNvPr id="573" name="Shape 573"/>
          <p:cNvSpPr txBox="1"/>
          <p:nvPr>
            <p:ph idx="4294967295" type="body"/>
          </p:nvPr>
        </p:nvSpPr>
        <p:spPr>
          <a:xfrm>
            <a:off x="5219700" y="2362200"/>
            <a:ext cx="3924299" cy="3011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aparecen distorsiones que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reducen los costos del producto,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oferta mejora (se desplaza a la derecha), es decir al mismo precio los productores entregarán más cantidad (Q &lt; Q´).</a:t>
            </a:r>
          </a:p>
        </p:txBody>
      </p:sp>
      <p:cxnSp>
        <p:nvCxnSpPr>
          <p:cNvPr id="574" name="Shape 574"/>
          <p:cNvCxnSpPr/>
          <p:nvPr/>
        </p:nvCxnSpPr>
        <p:spPr>
          <a:xfrm>
            <a:off x="755650" y="2708275"/>
            <a:ext cx="0" cy="3673475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75" name="Shape 575"/>
          <p:cNvCxnSpPr/>
          <p:nvPr/>
        </p:nvCxnSpPr>
        <p:spPr>
          <a:xfrm>
            <a:off x="468312" y="6308725"/>
            <a:ext cx="6408737" cy="0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76" name="Shape 576"/>
          <p:cNvSpPr txBox="1"/>
          <p:nvPr/>
        </p:nvSpPr>
        <p:spPr>
          <a:xfrm>
            <a:off x="323850" y="2349500"/>
            <a:ext cx="93662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</a:p>
        </p:txBody>
      </p:sp>
      <p:sp>
        <p:nvSpPr>
          <p:cNvPr id="577" name="Shape 577"/>
          <p:cNvSpPr txBox="1"/>
          <p:nvPr/>
        </p:nvSpPr>
        <p:spPr>
          <a:xfrm>
            <a:off x="5867400" y="6381750"/>
            <a:ext cx="1152525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578" name="Shape 578"/>
          <p:cNvSpPr/>
          <p:nvPr/>
        </p:nvSpPr>
        <p:spPr>
          <a:xfrm>
            <a:off x="827087" y="2990850"/>
            <a:ext cx="3332162" cy="2743200"/>
          </a:xfrm>
          <a:custGeom>
            <a:pathLst>
              <a:path extrusionOk="0" h="1728" w="2099">
                <a:moveTo>
                  <a:pt x="0" y="1728"/>
                </a:moveTo>
                <a:cubicBezTo>
                  <a:pt x="93" y="1711"/>
                  <a:pt x="368" y="1686"/>
                  <a:pt x="557" y="1626"/>
                </a:cubicBezTo>
                <a:cubicBezTo>
                  <a:pt x="746" y="1566"/>
                  <a:pt x="974" y="1465"/>
                  <a:pt x="1133" y="1366"/>
                </a:cubicBezTo>
                <a:cubicBezTo>
                  <a:pt x="1292" y="1267"/>
                  <a:pt x="1404" y="1150"/>
                  <a:pt x="1514" y="1031"/>
                </a:cubicBezTo>
                <a:cubicBezTo>
                  <a:pt x="1624" y="912"/>
                  <a:pt x="1711" y="775"/>
                  <a:pt x="1793" y="650"/>
                </a:cubicBezTo>
                <a:cubicBezTo>
                  <a:pt x="1875" y="525"/>
                  <a:pt x="1955" y="387"/>
                  <a:pt x="2006" y="279"/>
                </a:cubicBezTo>
                <a:cubicBezTo>
                  <a:pt x="2057" y="171"/>
                  <a:pt x="2080" y="58"/>
                  <a:pt x="2099" y="0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Shape 579"/>
          <p:cNvSpPr/>
          <p:nvPr/>
        </p:nvSpPr>
        <p:spPr>
          <a:xfrm>
            <a:off x="827087" y="2990850"/>
            <a:ext cx="3332162" cy="2743200"/>
          </a:xfrm>
          <a:custGeom>
            <a:pathLst>
              <a:path extrusionOk="0" h="1728" w="2099">
                <a:moveTo>
                  <a:pt x="0" y="1728"/>
                </a:moveTo>
                <a:cubicBezTo>
                  <a:pt x="93" y="1711"/>
                  <a:pt x="368" y="1686"/>
                  <a:pt x="557" y="1626"/>
                </a:cubicBezTo>
                <a:cubicBezTo>
                  <a:pt x="746" y="1566"/>
                  <a:pt x="974" y="1465"/>
                  <a:pt x="1133" y="1366"/>
                </a:cubicBezTo>
                <a:cubicBezTo>
                  <a:pt x="1292" y="1267"/>
                  <a:pt x="1404" y="1150"/>
                  <a:pt x="1514" y="1031"/>
                </a:cubicBezTo>
                <a:cubicBezTo>
                  <a:pt x="1624" y="912"/>
                  <a:pt x="1711" y="775"/>
                  <a:pt x="1793" y="650"/>
                </a:cubicBezTo>
                <a:cubicBezTo>
                  <a:pt x="1875" y="525"/>
                  <a:pt x="1955" y="387"/>
                  <a:pt x="2006" y="279"/>
                </a:cubicBezTo>
                <a:cubicBezTo>
                  <a:pt x="2057" y="171"/>
                  <a:pt x="2080" y="58"/>
                  <a:pt x="2099" y="0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Shape 580"/>
          <p:cNvSpPr txBox="1"/>
          <p:nvPr/>
        </p:nvSpPr>
        <p:spPr>
          <a:xfrm>
            <a:off x="2843211" y="3141661"/>
            <a:ext cx="1152525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OFERTA</a:t>
            </a:r>
          </a:p>
        </p:txBody>
      </p:sp>
      <p:sp>
        <p:nvSpPr>
          <p:cNvPr id="581" name="Shape 581"/>
          <p:cNvSpPr/>
          <p:nvPr/>
        </p:nvSpPr>
        <p:spPr>
          <a:xfrm>
            <a:off x="827087" y="2990850"/>
            <a:ext cx="3332162" cy="2743200"/>
          </a:xfrm>
          <a:custGeom>
            <a:pathLst>
              <a:path extrusionOk="0" h="1728" w="2099">
                <a:moveTo>
                  <a:pt x="0" y="1728"/>
                </a:moveTo>
                <a:cubicBezTo>
                  <a:pt x="93" y="1711"/>
                  <a:pt x="368" y="1686"/>
                  <a:pt x="557" y="1626"/>
                </a:cubicBezTo>
                <a:cubicBezTo>
                  <a:pt x="746" y="1566"/>
                  <a:pt x="974" y="1465"/>
                  <a:pt x="1133" y="1366"/>
                </a:cubicBezTo>
                <a:cubicBezTo>
                  <a:pt x="1292" y="1267"/>
                  <a:pt x="1404" y="1150"/>
                  <a:pt x="1514" y="1031"/>
                </a:cubicBezTo>
                <a:cubicBezTo>
                  <a:pt x="1624" y="912"/>
                  <a:pt x="1711" y="775"/>
                  <a:pt x="1793" y="650"/>
                </a:cubicBezTo>
                <a:cubicBezTo>
                  <a:pt x="1875" y="525"/>
                  <a:pt x="1955" y="387"/>
                  <a:pt x="2006" y="279"/>
                </a:cubicBezTo>
                <a:cubicBezTo>
                  <a:pt x="2057" y="171"/>
                  <a:pt x="2080" y="58"/>
                  <a:pt x="2099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2" name="Shape 582"/>
          <p:cNvCxnSpPr/>
          <p:nvPr/>
        </p:nvCxnSpPr>
        <p:spPr>
          <a:xfrm>
            <a:off x="755650" y="4724400"/>
            <a:ext cx="31686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83" name="Shape 583"/>
          <p:cNvSpPr txBox="1"/>
          <p:nvPr/>
        </p:nvSpPr>
        <p:spPr>
          <a:xfrm>
            <a:off x="468312" y="4581525"/>
            <a:ext cx="287337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</a:p>
        </p:txBody>
      </p:sp>
      <p:cxnSp>
        <p:nvCxnSpPr>
          <p:cNvPr id="584" name="Shape 584"/>
          <p:cNvCxnSpPr/>
          <p:nvPr/>
        </p:nvCxnSpPr>
        <p:spPr>
          <a:xfrm>
            <a:off x="3132136" y="4724400"/>
            <a:ext cx="0" cy="158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85" name="Shape 585"/>
          <p:cNvSpPr txBox="1"/>
          <p:nvPr/>
        </p:nvSpPr>
        <p:spPr>
          <a:xfrm>
            <a:off x="2916236" y="6381750"/>
            <a:ext cx="360362" cy="215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</a:p>
        </p:txBody>
      </p:sp>
      <p:cxnSp>
        <p:nvCxnSpPr>
          <p:cNvPr id="586" name="Shape 586"/>
          <p:cNvCxnSpPr/>
          <p:nvPr/>
        </p:nvCxnSpPr>
        <p:spPr>
          <a:xfrm>
            <a:off x="3924300" y="4724400"/>
            <a:ext cx="0" cy="158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87" name="Shape 587"/>
          <p:cNvSpPr txBox="1"/>
          <p:nvPr/>
        </p:nvSpPr>
        <p:spPr>
          <a:xfrm>
            <a:off x="3779837" y="6381750"/>
            <a:ext cx="360362" cy="215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Q´</a:t>
            </a:r>
          </a:p>
        </p:txBody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592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1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BENEFICIO DEL  PRODUCTOR</a:t>
            </a:r>
          </a:p>
        </p:txBody>
      </p:sp>
      <p:sp>
        <p:nvSpPr>
          <p:cNvPr id="593" name="Shape 593"/>
          <p:cNvSpPr txBox="1"/>
          <p:nvPr>
            <p:ph idx="1" type="body"/>
          </p:nvPr>
        </p:nvSpPr>
        <p:spPr>
          <a:xfrm>
            <a:off x="838200" y="2276475"/>
            <a:ext cx="7837486" cy="4321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BT(Q) = IT(Q) – CF – CV(Q)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donde: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 (Q) = beneficio económico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(Q) = ingreso total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 = costo fijo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CV (Q) = costo variable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BT(Q) = (Ime – Cme) * Q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donde: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 (Q) = beneficio económico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Ime = Ingreso medio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Cme = Costo medio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598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MERCADOS COMPETITIVOS</a:t>
            </a:r>
            <a:b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INGRESOS DEL PRODUCTOR</a:t>
            </a:r>
          </a:p>
        </p:txBody>
      </p:sp>
      <p:sp>
        <p:nvSpPr>
          <p:cNvPr id="599" name="Shape 599"/>
          <p:cNvSpPr txBox="1"/>
          <p:nvPr>
            <p:ph idx="1" type="body"/>
          </p:nvPr>
        </p:nvSpPr>
        <p:spPr>
          <a:xfrm>
            <a:off x="838200" y="2362200"/>
            <a:ext cx="7693025" cy="49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Ingreso total = IT = P * Q =&gt; P = constante</a:t>
            </a:r>
          </a:p>
        </p:txBody>
      </p:sp>
      <p:cxnSp>
        <p:nvCxnSpPr>
          <p:cNvPr id="600" name="Shape 600"/>
          <p:cNvCxnSpPr/>
          <p:nvPr/>
        </p:nvCxnSpPr>
        <p:spPr>
          <a:xfrm rot="10800000">
            <a:off x="1403350" y="3644900"/>
            <a:ext cx="0" cy="2628899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601" name="Shape 601"/>
          <p:cNvCxnSpPr/>
          <p:nvPr/>
        </p:nvCxnSpPr>
        <p:spPr>
          <a:xfrm>
            <a:off x="1403350" y="6237287"/>
            <a:ext cx="6192837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602" name="Shape 602"/>
          <p:cNvSpPr txBox="1"/>
          <p:nvPr/>
        </p:nvSpPr>
        <p:spPr>
          <a:xfrm>
            <a:off x="1431925" y="3521075"/>
            <a:ext cx="2708275" cy="339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INGRESO TOTAL</a:t>
            </a:r>
          </a:p>
        </p:txBody>
      </p:sp>
      <p:sp>
        <p:nvSpPr>
          <p:cNvPr id="603" name="Shape 603"/>
          <p:cNvSpPr txBox="1"/>
          <p:nvPr/>
        </p:nvSpPr>
        <p:spPr>
          <a:xfrm>
            <a:off x="3203575" y="6254750"/>
            <a:ext cx="431799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Q </a:t>
            </a:r>
          </a:p>
        </p:txBody>
      </p:sp>
      <p:cxnSp>
        <p:nvCxnSpPr>
          <p:cNvPr id="604" name="Shape 604"/>
          <p:cNvCxnSpPr/>
          <p:nvPr/>
        </p:nvCxnSpPr>
        <p:spPr>
          <a:xfrm>
            <a:off x="3419475" y="4292600"/>
            <a:ext cx="0" cy="1947862"/>
          </a:xfrm>
          <a:prstGeom prst="straightConnector1">
            <a:avLst/>
          </a:prstGeom>
          <a:noFill/>
          <a:ln cap="rnd" cmpd="sng" w="25400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605" name="Shape 605"/>
          <p:cNvSpPr txBox="1"/>
          <p:nvPr/>
        </p:nvSpPr>
        <p:spPr>
          <a:xfrm>
            <a:off x="4794250" y="5805487"/>
            <a:ext cx="2873375" cy="21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PRODUCIDA</a:t>
            </a:r>
          </a:p>
        </p:txBody>
      </p:sp>
      <p:sp>
        <p:nvSpPr>
          <p:cNvPr id="606" name="Shape 606"/>
          <p:cNvSpPr txBox="1"/>
          <p:nvPr/>
        </p:nvSpPr>
        <p:spPr>
          <a:xfrm>
            <a:off x="1763711" y="5876925"/>
            <a:ext cx="288925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Shape 607"/>
          <p:cNvSpPr txBox="1"/>
          <p:nvPr/>
        </p:nvSpPr>
        <p:spPr>
          <a:xfrm>
            <a:off x="1763711" y="5876925"/>
            <a:ext cx="576262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P</a:t>
            </a:r>
          </a:p>
        </p:txBody>
      </p:sp>
      <p:sp>
        <p:nvSpPr>
          <p:cNvPr id="608" name="Shape 608"/>
          <p:cNvSpPr/>
          <p:nvPr/>
        </p:nvSpPr>
        <p:spPr>
          <a:xfrm rot="3060000">
            <a:off x="1862931" y="5561806"/>
            <a:ext cx="633411" cy="688975"/>
          </a:xfrm>
          <a:custGeom>
            <a:pathLst>
              <a:path extrusionOk="0" h="120000" w="120000">
                <a:moveTo>
                  <a:pt x="15000" y="60000"/>
                </a:moveTo>
                <a:lnTo>
                  <a:pt x="15000" y="60000"/>
                </a:lnTo>
                <a:cubicBezTo>
                  <a:pt x="15000" y="37142"/>
                  <a:pt x="31273" y="17719"/>
                  <a:pt x="53283" y="14307"/>
                </a:cubicBezTo>
                <a:cubicBezTo>
                  <a:pt x="75292" y="10896"/>
                  <a:pt x="96424" y="24520"/>
                  <a:pt x="102994" y="46359"/>
                </a:cubicBezTo>
                <a:lnTo>
                  <a:pt x="117994" y="46359"/>
                </a:lnTo>
                <a:lnTo>
                  <a:pt x="105000" y="59999"/>
                </a:lnTo>
                <a:lnTo>
                  <a:pt x="87994" y="46359"/>
                </a:lnTo>
                <a:lnTo>
                  <a:pt x="102994" y="46359"/>
                </a:lnTo>
                <a:lnTo>
                  <a:pt x="102994" y="46359"/>
                </a:lnTo>
                <a:cubicBezTo>
                  <a:pt x="96424" y="24520"/>
                  <a:pt x="75292" y="10896"/>
                  <a:pt x="53283" y="14307"/>
                </a:cubicBezTo>
                <a:cubicBezTo>
                  <a:pt x="31273" y="17719"/>
                  <a:pt x="14999" y="37142"/>
                  <a:pt x="14999" y="60000"/>
                </a:cubicBezTo>
                <a:close/>
              </a:path>
            </a:pathLst>
          </a:cu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Shape 609"/>
          <p:cNvCxnSpPr/>
          <p:nvPr/>
        </p:nvCxnSpPr>
        <p:spPr>
          <a:xfrm flipH="1" rot="10800000">
            <a:off x="1403350" y="3789362"/>
            <a:ext cx="2520949" cy="24479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610" name="Shape 610"/>
          <p:cNvSpPr txBox="1"/>
          <p:nvPr/>
        </p:nvSpPr>
        <p:spPr>
          <a:xfrm>
            <a:off x="1044575" y="4149725"/>
            <a:ext cx="431799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IT </a:t>
            </a:r>
          </a:p>
        </p:txBody>
      </p:sp>
      <p:cxnSp>
        <p:nvCxnSpPr>
          <p:cNvPr id="611" name="Shape 611"/>
          <p:cNvCxnSpPr/>
          <p:nvPr/>
        </p:nvCxnSpPr>
        <p:spPr>
          <a:xfrm rot="10800000">
            <a:off x="1403350" y="4292600"/>
            <a:ext cx="201612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612" name="Shape 612"/>
          <p:cNvSpPr/>
          <p:nvPr/>
        </p:nvSpPr>
        <p:spPr>
          <a:xfrm>
            <a:off x="1403350" y="4292600"/>
            <a:ext cx="2016124" cy="1944687"/>
          </a:xfrm>
          <a:prstGeom prst="rect">
            <a:avLst/>
          </a:prstGeom>
          <a:solidFill>
            <a:schemeClr val="accent1">
              <a:alpha val="9803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617"/>
          <p:cNvSpPr/>
          <p:nvPr>
            <p:ph type="title"/>
          </p:nvPr>
        </p:nvSpPr>
        <p:spPr>
          <a:xfrm>
            <a:off x="762000" y="762000"/>
            <a:ext cx="8381999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MERCADO COMPETITIVO</a:t>
            </a:r>
            <a:b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BENEFICIO MÁXIMO DEL  PRODUCTOR</a:t>
            </a:r>
          </a:p>
        </p:txBody>
      </p:sp>
      <p:grpSp>
        <p:nvGrpSpPr>
          <p:cNvPr id="618" name="Shape 618"/>
          <p:cNvGrpSpPr/>
          <p:nvPr/>
        </p:nvGrpSpPr>
        <p:grpSpPr>
          <a:xfrm>
            <a:off x="823492" y="3605360"/>
            <a:ext cx="8151174" cy="3147714"/>
            <a:chOff x="3189868" y="3413125"/>
            <a:chExt cx="13755106" cy="8572500"/>
          </a:xfrm>
        </p:grpSpPr>
        <p:cxnSp>
          <p:nvCxnSpPr>
            <p:cNvPr id="619" name="Shape 619"/>
            <p:cNvCxnSpPr/>
            <p:nvPr/>
          </p:nvCxnSpPr>
          <p:spPr>
            <a:xfrm rot="10800000">
              <a:off x="3514725" y="3698875"/>
              <a:ext cx="0" cy="771524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cxnSp>
          <p:nvCxnSpPr>
            <p:cNvPr id="620" name="Shape 620"/>
            <p:cNvCxnSpPr/>
            <p:nvPr/>
          </p:nvCxnSpPr>
          <p:spPr>
            <a:xfrm>
              <a:off x="3514725" y="11414125"/>
              <a:ext cx="10858499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cxnSp>
          <p:nvCxnSpPr>
            <p:cNvPr id="621" name="Shape 621"/>
            <p:cNvCxnSpPr/>
            <p:nvPr/>
          </p:nvCxnSpPr>
          <p:spPr>
            <a:xfrm flipH="1" rot="10800000">
              <a:off x="3514725" y="3698875"/>
              <a:ext cx="8001000" cy="7715249"/>
            </a:xfrm>
            <a:prstGeom prst="straightConnector1">
              <a:avLst/>
            </a:prstGeom>
            <a:noFill/>
            <a:ln cap="flat" cmpd="sng" w="12700">
              <a:solidFill>
                <a:srgbClr val="0000FF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622" name="Shape 622"/>
            <p:cNvSpPr txBox="1"/>
            <p:nvPr/>
          </p:nvSpPr>
          <p:spPr>
            <a:xfrm>
              <a:off x="3800475" y="3413125"/>
              <a:ext cx="3714750" cy="14287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Ingreso/costo Total</a:t>
              </a:r>
            </a:p>
          </p:txBody>
        </p:sp>
        <p:sp>
          <p:nvSpPr>
            <p:cNvPr id="623" name="Shape 623"/>
            <p:cNvSpPr txBox="1"/>
            <p:nvPr/>
          </p:nvSpPr>
          <p:spPr>
            <a:xfrm>
              <a:off x="14658975" y="11128375"/>
              <a:ext cx="228600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</a:p>
          </p:txBody>
        </p:sp>
        <p:sp>
          <p:nvSpPr>
            <p:cNvPr id="624" name="Shape 624"/>
            <p:cNvSpPr txBox="1"/>
            <p:nvPr/>
          </p:nvSpPr>
          <p:spPr>
            <a:xfrm>
              <a:off x="8943975" y="4841875"/>
              <a:ext cx="1428749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250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IT1</a:t>
              </a:r>
            </a:p>
          </p:txBody>
        </p:sp>
        <p:cxnSp>
          <p:nvCxnSpPr>
            <p:cNvPr id="625" name="Shape 625"/>
            <p:cNvCxnSpPr/>
            <p:nvPr/>
          </p:nvCxnSpPr>
          <p:spPr>
            <a:xfrm>
              <a:off x="3514725" y="9698036"/>
              <a:ext cx="97155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626" name="Shape 626"/>
            <p:cNvSpPr/>
            <p:nvPr/>
          </p:nvSpPr>
          <p:spPr>
            <a:xfrm>
              <a:off x="3575050" y="3808412"/>
              <a:ext cx="8024812" cy="5903912"/>
            </a:xfrm>
            <a:custGeom>
              <a:pathLst>
                <a:path extrusionOk="0" h="3719" w="5055">
                  <a:moveTo>
                    <a:pt x="0" y="3719"/>
                  </a:moveTo>
                  <a:cubicBezTo>
                    <a:pt x="87" y="3609"/>
                    <a:pt x="290" y="3282"/>
                    <a:pt x="525" y="3060"/>
                  </a:cubicBezTo>
                  <a:cubicBezTo>
                    <a:pt x="760" y="2838"/>
                    <a:pt x="1143" y="2540"/>
                    <a:pt x="1410" y="2385"/>
                  </a:cubicBezTo>
                  <a:cubicBezTo>
                    <a:pt x="1677" y="2230"/>
                    <a:pt x="1898" y="2185"/>
                    <a:pt x="2130" y="2130"/>
                  </a:cubicBezTo>
                  <a:cubicBezTo>
                    <a:pt x="2362" y="2075"/>
                    <a:pt x="2575" y="2079"/>
                    <a:pt x="2805" y="2054"/>
                  </a:cubicBezTo>
                  <a:cubicBezTo>
                    <a:pt x="3035" y="2029"/>
                    <a:pt x="3293" y="2021"/>
                    <a:pt x="3510" y="1979"/>
                  </a:cubicBezTo>
                  <a:cubicBezTo>
                    <a:pt x="3727" y="1937"/>
                    <a:pt x="3927" y="1937"/>
                    <a:pt x="4110" y="1800"/>
                  </a:cubicBezTo>
                  <a:cubicBezTo>
                    <a:pt x="4293" y="1663"/>
                    <a:pt x="4448" y="1455"/>
                    <a:pt x="4605" y="1155"/>
                  </a:cubicBezTo>
                  <a:cubicBezTo>
                    <a:pt x="4762" y="855"/>
                    <a:pt x="4961" y="241"/>
                    <a:pt x="5055" y="0"/>
                  </a:cubicBez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7" name="Shape 627"/>
            <p:cNvCxnSpPr/>
            <p:nvPr/>
          </p:nvCxnSpPr>
          <p:spPr>
            <a:xfrm flipH="1" rot="10680000">
              <a:off x="8943974" y="5413375"/>
              <a:ext cx="2571749" cy="2286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628" name="Shape 628"/>
            <p:cNvCxnSpPr/>
            <p:nvPr/>
          </p:nvCxnSpPr>
          <p:spPr>
            <a:xfrm>
              <a:off x="10086975" y="5127625"/>
              <a:ext cx="1587" cy="628649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oval"/>
              <a:tailEnd len="med" w="med" type="oval"/>
            </a:ln>
          </p:spPr>
        </p:cxnSp>
        <p:sp>
          <p:nvSpPr>
            <p:cNvPr id="629" name="Shape 629"/>
            <p:cNvSpPr txBox="1"/>
            <p:nvPr/>
          </p:nvSpPr>
          <p:spPr>
            <a:xfrm>
              <a:off x="10372725" y="6937375"/>
              <a:ext cx="1428749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CT1</a:t>
              </a:r>
            </a:p>
          </p:txBody>
        </p:sp>
        <p:cxnSp>
          <p:nvCxnSpPr>
            <p:cNvPr id="630" name="Shape 630"/>
            <p:cNvCxnSpPr/>
            <p:nvPr/>
          </p:nvCxnSpPr>
          <p:spPr>
            <a:xfrm>
              <a:off x="10086975" y="5127625"/>
              <a:ext cx="1587" cy="1628775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/>
              <a:headEnd len="lg" w="lg" type="triangle"/>
              <a:tailEnd len="lg" w="lg" type="triangle"/>
            </a:ln>
          </p:spPr>
        </p:cxnSp>
        <p:sp>
          <p:nvSpPr>
            <p:cNvPr id="631" name="Shape 631"/>
            <p:cNvSpPr txBox="1"/>
            <p:nvPr/>
          </p:nvSpPr>
          <p:spPr>
            <a:xfrm>
              <a:off x="10372725" y="10937875"/>
              <a:ext cx="1428749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Q1</a:t>
              </a:r>
            </a:p>
          </p:txBody>
        </p:sp>
        <p:sp>
          <p:nvSpPr>
            <p:cNvPr id="632" name="Shape 632"/>
            <p:cNvSpPr txBox="1"/>
            <p:nvPr/>
          </p:nvSpPr>
          <p:spPr>
            <a:xfrm>
              <a:off x="10944225" y="5413375"/>
              <a:ext cx="1428749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BT1</a:t>
              </a:r>
            </a:p>
          </p:txBody>
        </p:sp>
        <p:cxnSp>
          <p:nvCxnSpPr>
            <p:cNvPr id="633" name="Shape 633"/>
            <p:cNvCxnSpPr/>
            <p:nvPr/>
          </p:nvCxnSpPr>
          <p:spPr>
            <a:xfrm flipH="1" rot="10680000">
              <a:off x="3228974" y="7413625"/>
              <a:ext cx="2571749" cy="2286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634" name="Shape 634"/>
            <p:cNvCxnSpPr/>
            <p:nvPr/>
          </p:nvCxnSpPr>
          <p:spPr>
            <a:xfrm>
              <a:off x="4371975" y="8648700"/>
              <a:ext cx="1587" cy="1908174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/>
              <a:headEnd len="med" w="med" type="oval"/>
              <a:tailEnd len="med" w="med" type="oval"/>
            </a:ln>
          </p:spPr>
        </p:cxnSp>
        <p:sp>
          <p:nvSpPr>
            <p:cNvPr id="635" name="Shape 635"/>
            <p:cNvSpPr txBox="1"/>
            <p:nvPr/>
          </p:nvSpPr>
          <p:spPr>
            <a:xfrm>
              <a:off x="4657725" y="10556875"/>
              <a:ext cx="1428749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250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P = Ima</a:t>
              </a:r>
            </a:p>
          </p:txBody>
        </p:sp>
        <p:sp>
          <p:nvSpPr>
            <p:cNvPr id="636" name="Shape 636"/>
            <p:cNvSpPr txBox="1"/>
            <p:nvPr/>
          </p:nvSpPr>
          <p:spPr>
            <a:xfrm>
              <a:off x="4086225" y="7413625"/>
              <a:ext cx="1428749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CT</a:t>
              </a:r>
            </a:p>
          </p:txBody>
        </p:sp>
        <p:sp>
          <p:nvSpPr>
            <p:cNvPr id="637" name="Shape 637"/>
            <p:cNvSpPr txBox="1"/>
            <p:nvPr/>
          </p:nvSpPr>
          <p:spPr>
            <a:xfrm>
              <a:off x="4657725" y="9223375"/>
              <a:ext cx="1428749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BT2</a:t>
              </a:r>
            </a:p>
          </p:txBody>
        </p:sp>
      </p:grpSp>
      <p:sp>
        <p:nvSpPr>
          <p:cNvPr id="638" name="Shape 638"/>
          <p:cNvSpPr txBox="1"/>
          <p:nvPr/>
        </p:nvSpPr>
        <p:spPr>
          <a:xfrm>
            <a:off x="755650" y="2474911"/>
            <a:ext cx="4852986" cy="1004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∂BT (Q)/∂Q = ∂IT(Q)/∂Q –∂CF/∂Q – ∂CV(Q)/∂Q = 0 (CERO)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∂CF/∂Q = 0 (CERO)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∂IT (Q)/∂Q = ∂CV (Q)/∂Q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 = Cma</a:t>
            </a:r>
          </a:p>
        </p:txBody>
      </p:sp>
      <p:sp>
        <p:nvSpPr>
          <p:cNvPr id="639" name="Shape 639"/>
          <p:cNvSpPr/>
          <p:nvPr/>
        </p:nvSpPr>
        <p:spPr>
          <a:xfrm>
            <a:off x="1042987" y="4221162"/>
            <a:ext cx="3889375" cy="2303461"/>
          </a:xfrm>
          <a:prstGeom prst="rect">
            <a:avLst/>
          </a:prstGeom>
          <a:solidFill>
            <a:schemeClr val="accent1">
              <a:alpha val="7843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Shape 640"/>
          <p:cNvSpPr/>
          <p:nvPr/>
        </p:nvSpPr>
        <p:spPr>
          <a:xfrm>
            <a:off x="1042987" y="4797425"/>
            <a:ext cx="3889375" cy="1727199"/>
          </a:xfrm>
          <a:prstGeom prst="rect">
            <a:avLst/>
          </a:prstGeom>
          <a:solidFill>
            <a:srgbClr val="FF0000">
              <a:alpha val="43921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Shape 641"/>
          <p:cNvSpPr/>
          <p:nvPr/>
        </p:nvSpPr>
        <p:spPr>
          <a:xfrm>
            <a:off x="1006475" y="4221162"/>
            <a:ext cx="3925887" cy="571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Shape 642"/>
          <p:cNvSpPr txBox="1"/>
          <p:nvPr/>
        </p:nvSpPr>
        <p:spPr>
          <a:xfrm>
            <a:off x="1187450" y="4292600"/>
            <a:ext cx="25209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BENEFICIO MÁXIMO</a:t>
            </a:r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hape 647"/>
          <p:cNvSpPr/>
          <p:nvPr>
            <p:ph type="title"/>
          </p:nvPr>
        </p:nvSpPr>
        <p:spPr>
          <a:xfrm>
            <a:off x="746125" y="762000"/>
            <a:ext cx="8218487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MERCADOS COMPETITIVOS</a:t>
            </a:r>
            <a:b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INGRESO MARGINAL - INGRESO MEDIO</a:t>
            </a:r>
          </a:p>
        </p:txBody>
      </p:sp>
      <p:sp>
        <p:nvSpPr>
          <p:cNvPr id="648" name="Shape 648"/>
          <p:cNvSpPr txBox="1"/>
          <p:nvPr>
            <p:ph idx="1" type="body"/>
          </p:nvPr>
        </p:nvSpPr>
        <p:spPr>
          <a:xfrm>
            <a:off x="838200" y="2362200"/>
            <a:ext cx="76930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∂IT/∂Q= Ima = P                         IT/Q = Ime = P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Noto Symbo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9" name="Shape 649"/>
          <p:cNvCxnSpPr/>
          <p:nvPr/>
        </p:nvCxnSpPr>
        <p:spPr>
          <a:xfrm rot="10800000">
            <a:off x="1403350" y="3644900"/>
            <a:ext cx="0" cy="2628899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650" name="Shape 650"/>
          <p:cNvCxnSpPr/>
          <p:nvPr/>
        </p:nvCxnSpPr>
        <p:spPr>
          <a:xfrm>
            <a:off x="1403350" y="6237287"/>
            <a:ext cx="56896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651" name="Shape 651"/>
          <p:cNvCxnSpPr/>
          <p:nvPr/>
        </p:nvCxnSpPr>
        <p:spPr>
          <a:xfrm>
            <a:off x="1403350" y="4941887"/>
            <a:ext cx="5616575" cy="0"/>
          </a:xfrm>
          <a:prstGeom prst="straightConnector1">
            <a:avLst/>
          </a:prstGeom>
          <a:noFill/>
          <a:ln cap="flat" cmpd="sng" w="25400">
            <a:solidFill>
              <a:srgbClr val="008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652" name="Shape 652"/>
          <p:cNvSpPr txBox="1"/>
          <p:nvPr/>
        </p:nvSpPr>
        <p:spPr>
          <a:xfrm>
            <a:off x="1476375" y="4508500"/>
            <a:ext cx="5111750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Precio = Ingreso marginal = Ingreso medio</a:t>
            </a:r>
          </a:p>
        </p:txBody>
      </p:sp>
      <p:sp>
        <p:nvSpPr>
          <p:cNvPr id="653" name="Shape 653"/>
          <p:cNvSpPr txBox="1"/>
          <p:nvPr/>
        </p:nvSpPr>
        <p:spPr>
          <a:xfrm>
            <a:off x="1431925" y="3521075"/>
            <a:ext cx="3571874" cy="48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Precio/Ingresos Unitarios</a:t>
            </a:r>
          </a:p>
        </p:txBody>
      </p:sp>
      <p:sp>
        <p:nvSpPr>
          <p:cNvPr id="654" name="Shape 654"/>
          <p:cNvSpPr txBox="1"/>
          <p:nvPr/>
        </p:nvSpPr>
        <p:spPr>
          <a:xfrm>
            <a:off x="5508625" y="5734050"/>
            <a:ext cx="3384550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producida</a:t>
            </a:r>
          </a:p>
        </p:txBody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Shape 659"/>
          <p:cNvSpPr/>
          <p:nvPr/>
        </p:nvSpPr>
        <p:spPr>
          <a:xfrm>
            <a:off x="1403350" y="4941887"/>
            <a:ext cx="2016124" cy="1295400"/>
          </a:xfrm>
          <a:prstGeom prst="rect">
            <a:avLst/>
          </a:prstGeom>
          <a:solidFill>
            <a:schemeClr val="accent1">
              <a:alpha val="24705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Shape 660"/>
          <p:cNvSpPr/>
          <p:nvPr>
            <p:ph type="title"/>
          </p:nvPr>
        </p:nvSpPr>
        <p:spPr>
          <a:xfrm>
            <a:off x="746125" y="762000"/>
            <a:ext cx="8218487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MERCADOS COMPETITIVOS</a:t>
            </a:r>
            <a:b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BENEFICIO DEL PRODUCTOR</a:t>
            </a:r>
          </a:p>
        </p:txBody>
      </p:sp>
      <p:cxnSp>
        <p:nvCxnSpPr>
          <p:cNvPr id="661" name="Shape 661"/>
          <p:cNvCxnSpPr/>
          <p:nvPr/>
        </p:nvCxnSpPr>
        <p:spPr>
          <a:xfrm rot="10800000">
            <a:off x="1403350" y="3644900"/>
            <a:ext cx="0" cy="2628899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662" name="Shape 662"/>
          <p:cNvCxnSpPr/>
          <p:nvPr/>
        </p:nvCxnSpPr>
        <p:spPr>
          <a:xfrm>
            <a:off x="1403350" y="6237287"/>
            <a:ext cx="56896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663" name="Shape 663"/>
          <p:cNvCxnSpPr/>
          <p:nvPr/>
        </p:nvCxnSpPr>
        <p:spPr>
          <a:xfrm>
            <a:off x="1403350" y="4941887"/>
            <a:ext cx="5616575" cy="0"/>
          </a:xfrm>
          <a:prstGeom prst="straightConnector1">
            <a:avLst/>
          </a:prstGeom>
          <a:noFill/>
          <a:ln cap="flat" cmpd="sng" w="25400">
            <a:solidFill>
              <a:srgbClr val="008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664" name="Shape 664"/>
          <p:cNvSpPr txBox="1"/>
          <p:nvPr/>
        </p:nvSpPr>
        <p:spPr>
          <a:xfrm>
            <a:off x="1042987" y="4741862"/>
            <a:ext cx="360362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</a:p>
        </p:txBody>
      </p:sp>
      <p:sp>
        <p:nvSpPr>
          <p:cNvPr id="665" name="Shape 665"/>
          <p:cNvSpPr txBox="1"/>
          <p:nvPr/>
        </p:nvSpPr>
        <p:spPr>
          <a:xfrm>
            <a:off x="755650" y="3284537"/>
            <a:ext cx="3571874" cy="48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Ingresos/Costos Unitarios</a:t>
            </a:r>
          </a:p>
        </p:txBody>
      </p:sp>
      <p:sp>
        <p:nvSpPr>
          <p:cNvPr id="666" name="Shape 666"/>
          <p:cNvSpPr txBox="1"/>
          <p:nvPr/>
        </p:nvSpPr>
        <p:spPr>
          <a:xfrm>
            <a:off x="5508625" y="5734050"/>
            <a:ext cx="3384550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producida</a:t>
            </a:r>
          </a:p>
        </p:txBody>
      </p:sp>
      <p:sp>
        <p:nvSpPr>
          <p:cNvPr id="667" name="Shape 667"/>
          <p:cNvSpPr/>
          <p:nvPr/>
        </p:nvSpPr>
        <p:spPr>
          <a:xfrm>
            <a:off x="1692275" y="3789362"/>
            <a:ext cx="2349499" cy="2247899"/>
          </a:xfrm>
          <a:custGeom>
            <a:pathLst>
              <a:path extrusionOk="0" h="3539" w="3700">
                <a:moveTo>
                  <a:pt x="0" y="2858"/>
                </a:moveTo>
                <a:cubicBezTo>
                  <a:pt x="20" y="2918"/>
                  <a:pt x="40" y="3113"/>
                  <a:pt x="120" y="3220"/>
                </a:cubicBezTo>
                <a:cubicBezTo>
                  <a:pt x="200" y="3327"/>
                  <a:pt x="330" y="3459"/>
                  <a:pt x="480" y="3499"/>
                </a:cubicBezTo>
                <a:cubicBezTo>
                  <a:pt x="630" y="3539"/>
                  <a:pt x="853" y="3517"/>
                  <a:pt x="1020" y="3460"/>
                </a:cubicBezTo>
                <a:cubicBezTo>
                  <a:pt x="1187" y="3403"/>
                  <a:pt x="1350" y="3259"/>
                  <a:pt x="1480" y="3159"/>
                </a:cubicBezTo>
                <a:cubicBezTo>
                  <a:pt x="1610" y="3059"/>
                  <a:pt x="1717" y="2938"/>
                  <a:pt x="1800" y="2858"/>
                </a:cubicBezTo>
                <a:cubicBezTo>
                  <a:pt x="1883" y="2778"/>
                  <a:pt x="1903" y="2764"/>
                  <a:pt x="1980" y="2678"/>
                </a:cubicBezTo>
                <a:cubicBezTo>
                  <a:pt x="2057" y="2592"/>
                  <a:pt x="2167" y="2455"/>
                  <a:pt x="2260" y="2339"/>
                </a:cubicBezTo>
                <a:cubicBezTo>
                  <a:pt x="2353" y="2223"/>
                  <a:pt x="2467" y="2073"/>
                  <a:pt x="2540" y="1979"/>
                </a:cubicBezTo>
                <a:cubicBezTo>
                  <a:pt x="2613" y="1885"/>
                  <a:pt x="2633" y="1875"/>
                  <a:pt x="2700" y="1778"/>
                </a:cubicBezTo>
                <a:cubicBezTo>
                  <a:pt x="2767" y="1682"/>
                  <a:pt x="2837" y="1583"/>
                  <a:pt x="2940" y="1400"/>
                </a:cubicBezTo>
                <a:cubicBezTo>
                  <a:pt x="3043" y="1217"/>
                  <a:pt x="3227" y="853"/>
                  <a:pt x="3320" y="680"/>
                </a:cubicBezTo>
                <a:cubicBezTo>
                  <a:pt x="3413" y="507"/>
                  <a:pt x="3437" y="473"/>
                  <a:pt x="3500" y="360"/>
                </a:cubicBezTo>
                <a:cubicBezTo>
                  <a:pt x="3563" y="247"/>
                  <a:pt x="3658" y="75"/>
                  <a:pt x="3700" y="0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Shape 668"/>
          <p:cNvSpPr/>
          <p:nvPr/>
        </p:nvSpPr>
        <p:spPr>
          <a:xfrm>
            <a:off x="1692275" y="4437062"/>
            <a:ext cx="2920999" cy="1160462"/>
          </a:xfrm>
          <a:custGeom>
            <a:pathLst>
              <a:path extrusionOk="0" h="1826" w="4600">
                <a:moveTo>
                  <a:pt x="0" y="222"/>
                </a:moveTo>
                <a:cubicBezTo>
                  <a:pt x="20" y="279"/>
                  <a:pt x="23" y="419"/>
                  <a:pt x="100" y="562"/>
                </a:cubicBezTo>
                <a:cubicBezTo>
                  <a:pt x="177" y="705"/>
                  <a:pt x="340" y="935"/>
                  <a:pt x="460" y="1081"/>
                </a:cubicBezTo>
                <a:cubicBezTo>
                  <a:pt x="580" y="1227"/>
                  <a:pt x="671" y="1334"/>
                  <a:pt x="820" y="1441"/>
                </a:cubicBezTo>
                <a:cubicBezTo>
                  <a:pt x="969" y="1548"/>
                  <a:pt x="1209" y="1660"/>
                  <a:pt x="1356" y="1720"/>
                </a:cubicBezTo>
                <a:cubicBezTo>
                  <a:pt x="1503" y="1780"/>
                  <a:pt x="1575" y="1788"/>
                  <a:pt x="1700" y="1803"/>
                </a:cubicBezTo>
                <a:cubicBezTo>
                  <a:pt x="1825" y="1818"/>
                  <a:pt x="1953" y="1826"/>
                  <a:pt x="2106" y="1810"/>
                </a:cubicBezTo>
                <a:cubicBezTo>
                  <a:pt x="2259" y="1794"/>
                  <a:pt x="2454" y="1750"/>
                  <a:pt x="2616" y="1705"/>
                </a:cubicBezTo>
                <a:cubicBezTo>
                  <a:pt x="2778" y="1660"/>
                  <a:pt x="2929" y="1616"/>
                  <a:pt x="3080" y="1542"/>
                </a:cubicBezTo>
                <a:cubicBezTo>
                  <a:pt x="3231" y="1468"/>
                  <a:pt x="3380" y="1361"/>
                  <a:pt x="3520" y="1261"/>
                </a:cubicBezTo>
                <a:cubicBezTo>
                  <a:pt x="3660" y="1161"/>
                  <a:pt x="3817" y="1032"/>
                  <a:pt x="3920" y="942"/>
                </a:cubicBezTo>
                <a:cubicBezTo>
                  <a:pt x="4023" y="852"/>
                  <a:pt x="4060" y="812"/>
                  <a:pt x="4140" y="722"/>
                </a:cubicBezTo>
                <a:cubicBezTo>
                  <a:pt x="4220" y="632"/>
                  <a:pt x="4323" y="522"/>
                  <a:pt x="4400" y="402"/>
                </a:cubicBezTo>
                <a:cubicBezTo>
                  <a:pt x="4477" y="282"/>
                  <a:pt x="4558" y="84"/>
                  <a:pt x="4600" y="0"/>
                </a:cubicBezTo>
              </a:path>
            </a:pathLst>
          </a:custGeom>
          <a:noFill/>
          <a:ln cap="flat" cmpd="sng" w="25400">
            <a:solidFill>
              <a:srgbClr val="0000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Shape 669"/>
          <p:cNvSpPr txBox="1"/>
          <p:nvPr/>
        </p:nvSpPr>
        <p:spPr>
          <a:xfrm>
            <a:off x="4175125" y="3406775"/>
            <a:ext cx="1981199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Costo marginal</a:t>
            </a:r>
          </a:p>
        </p:txBody>
      </p:sp>
      <p:sp>
        <p:nvSpPr>
          <p:cNvPr id="670" name="Shape 670"/>
          <p:cNvSpPr txBox="1"/>
          <p:nvPr/>
        </p:nvSpPr>
        <p:spPr>
          <a:xfrm>
            <a:off x="4627562" y="4149725"/>
            <a:ext cx="1600199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Costo medio</a:t>
            </a:r>
          </a:p>
        </p:txBody>
      </p:sp>
      <p:cxnSp>
        <p:nvCxnSpPr>
          <p:cNvPr id="671" name="Shape 671"/>
          <p:cNvCxnSpPr/>
          <p:nvPr/>
        </p:nvCxnSpPr>
        <p:spPr>
          <a:xfrm>
            <a:off x="3419475" y="4941887"/>
            <a:ext cx="0" cy="1298575"/>
          </a:xfrm>
          <a:prstGeom prst="straightConnector1">
            <a:avLst/>
          </a:prstGeom>
          <a:noFill/>
          <a:ln cap="rnd" cmpd="sng" w="25400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672" name="Shape 672"/>
          <p:cNvSpPr/>
          <p:nvPr/>
        </p:nvSpPr>
        <p:spPr>
          <a:xfrm>
            <a:off x="1403350" y="4941887"/>
            <a:ext cx="2016124" cy="574674"/>
          </a:xfrm>
          <a:prstGeom prst="rect">
            <a:avLst/>
          </a:prstGeom>
          <a:solidFill>
            <a:srgbClr val="FFFF00">
              <a:alpha val="55686"/>
            </a:srgbClr>
          </a:solidFill>
          <a:ln cap="flat" cmpd="sng" w="25400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Shape 673"/>
          <p:cNvSpPr txBox="1"/>
          <p:nvPr/>
        </p:nvSpPr>
        <p:spPr>
          <a:xfrm>
            <a:off x="1692275" y="4941887"/>
            <a:ext cx="1368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BENEFICIO MÁXIMO</a:t>
            </a:r>
          </a:p>
        </p:txBody>
      </p:sp>
      <p:sp>
        <p:nvSpPr>
          <p:cNvPr id="674" name="Shape 674"/>
          <p:cNvSpPr txBox="1"/>
          <p:nvPr>
            <p:ph idx="1" type="body"/>
          </p:nvPr>
        </p:nvSpPr>
        <p:spPr>
          <a:xfrm>
            <a:off x="838200" y="2362200"/>
            <a:ext cx="76930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BT(Q) = P*Q – C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* Q</a:t>
            </a:r>
          </a:p>
        </p:txBody>
      </p:sp>
      <p:sp>
        <p:nvSpPr>
          <p:cNvPr id="675" name="Shape 675"/>
          <p:cNvSpPr txBox="1"/>
          <p:nvPr/>
        </p:nvSpPr>
        <p:spPr>
          <a:xfrm>
            <a:off x="3203575" y="6237287"/>
            <a:ext cx="288925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Q </a:t>
            </a:r>
          </a:p>
        </p:txBody>
      </p:sp>
      <p:sp>
        <p:nvSpPr>
          <p:cNvPr id="676" name="Shape 676"/>
          <p:cNvSpPr txBox="1"/>
          <p:nvPr/>
        </p:nvSpPr>
        <p:spPr>
          <a:xfrm>
            <a:off x="900112" y="5318125"/>
            <a:ext cx="792162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baseline="-25000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me</a:t>
            </a: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677" name="Shape 677"/>
          <p:cNvSpPr/>
          <p:nvPr/>
        </p:nvSpPr>
        <p:spPr>
          <a:xfrm>
            <a:off x="1403350" y="5516562"/>
            <a:ext cx="2016124" cy="720724"/>
          </a:xfrm>
          <a:prstGeom prst="rect">
            <a:avLst/>
          </a:prstGeom>
          <a:solidFill>
            <a:srgbClr val="FF0000">
              <a:alpha val="24705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682"/>
          <p:cNvSpPr/>
          <p:nvPr>
            <p:ph type="title"/>
          </p:nvPr>
        </p:nvSpPr>
        <p:spPr>
          <a:xfrm>
            <a:off x="762000" y="762000"/>
            <a:ext cx="7924799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MERCADOS IMPERFECTOS</a:t>
            </a:r>
          </a:p>
        </p:txBody>
      </p:sp>
      <p:sp>
        <p:nvSpPr>
          <p:cNvPr id="683" name="Shape 683"/>
          <p:cNvSpPr txBox="1"/>
          <p:nvPr>
            <p:ph idx="1" type="body"/>
          </p:nvPr>
        </p:nvSpPr>
        <p:spPr>
          <a:xfrm>
            <a:off x="827087" y="2349500"/>
            <a:ext cx="76930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Ingreso total = IT = P (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* Q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pSp>
        <p:nvGrpSpPr>
          <p:cNvPr id="684" name="Shape 684"/>
          <p:cNvGrpSpPr/>
          <p:nvPr/>
        </p:nvGrpSpPr>
        <p:grpSpPr>
          <a:xfrm>
            <a:off x="1699153" y="3007873"/>
            <a:ext cx="6663235" cy="3766428"/>
            <a:chOff x="3514725" y="3413125"/>
            <a:chExt cx="13100050" cy="12858750"/>
          </a:xfrm>
        </p:grpSpPr>
        <p:cxnSp>
          <p:nvCxnSpPr>
            <p:cNvPr id="685" name="Shape 685"/>
            <p:cNvCxnSpPr/>
            <p:nvPr/>
          </p:nvCxnSpPr>
          <p:spPr>
            <a:xfrm flipH="1" rot="10800000">
              <a:off x="3514725" y="3698874"/>
              <a:ext cx="1587" cy="120015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cxnSp>
          <p:nvCxnSpPr>
            <p:cNvPr id="686" name="Shape 686"/>
            <p:cNvCxnSpPr/>
            <p:nvPr/>
          </p:nvCxnSpPr>
          <p:spPr>
            <a:xfrm>
              <a:off x="3514725" y="9698036"/>
              <a:ext cx="10858499" cy="158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sp>
          <p:nvSpPr>
            <p:cNvPr id="687" name="Shape 687"/>
            <p:cNvSpPr txBox="1"/>
            <p:nvPr/>
          </p:nvSpPr>
          <p:spPr>
            <a:xfrm>
              <a:off x="3800475" y="10842625"/>
              <a:ext cx="2000250" cy="14287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Ingreso Total</a:t>
              </a:r>
            </a:p>
          </p:txBody>
        </p:sp>
        <p:sp>
          <p:nvSpPr>
            <p:cNvPr id="688" name="Shape 688"/>
            <p:cNvSpPr txBox="1"/>
            <p:nvPr/>
          </p:nvSpPr>
          <p:spPr>
            <a:xfrm>
              <a:off x="14944725" y="9413875"/>
              <a:ext cx="114300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</a:p>
          </p:txBody>
        </p:sp>
        <p:sp>
          <p:nvSpPr>
            <p:cNvPr id="689" name="Shape 689"/>
            <p:cNvSpPr txBox="1"/>
            <p:nvPr/>
          </p:nvSpPr>
          <p:spPr>
            <a:xfrm>
              <a:off x="6086475" y="12652375"/>
              <a:ext cx="114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IT</a:t>
              </a:r>
            </a:p>
          </p:txBody>
        </p:sp>
        <p:cxnSp>
          <p:nvCxnSpPr>
            <p:cNvPr id="690" name="Shape 690"/>
            <p:cNvCxnSpPr/>
            <p:nvPr/>
          </p:nvCxnSpPr>
          <p:spPr>
            <a:xfrm>
              <a:off x="3514725" y="4556125"/>
              <a:ext cx="7143749" cy="514349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691" name="Shape 691"/>
            <p:cNvCxnSpPr/>
            <p:nvPr/>
          </p:nvCxnSpPr>
          <p:spPr>
            <a:xfrm>
              <a:off x="3514725" y="15700375"/>
              <a:ext cx="120015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sp>
          <p:nvSpPr>
            <p:cNvPr id="692" name="Shape 692"/>
            <p:cNvSpPr txBox="1"/>
            <p:nvPr/>
          </p:nvSpPr>
          <p:spPr>
            <a:xfrm>
              <a:off x="15757525" y="15414625"/>
              <a:ext cx="85725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</a:p>
          </p:txBody>
        </p:sp>
        <p:cxnSp>
          <p:nvCxnSpPr>
            <p:cNvPr id="693" name="Shape 693"/>
            <p:cNvCxnSpPr/>
            <p:nvPr/>
          </p:nvCxnSpPr>
          <p:spPr>
            <a:xfrm>
              <a:off x="10656886" y="9699625"/>
              <a:ext cx="1587" cy="60007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694" name="Shape 694"/>
            <p:cNvSpPr/>
            <p:nvPr/>
          </p:nvSpPr>
          <p:spPr>
            <a:xfrm>
              <a:off x="3514725" y="11285536"/>
              <a:ext cx="7143750" cy="4402136"/>
            </a:xfrm>
            <a:custGeom>
              <a:pathLst>
                <a:path extrusionOk="0" h="2773" w="4500">
                  <a:moveTo>
                    <a:pt x="0" y="2773"/>
                  </a:moveTo>
                  <a:cubicBezTo>
                    <a:pt x="41" y="2678"/>
                    <a:pt x="169" y="2373"/>
                    <a:pt x="248" y="2203"/>
                  </a:cubicBezTo>
                  <a:cubicBezTo>
                    <a:pt x="327" y="2033"/>
                    <a:pt x="376" y="1943"/>
                    <a:pt x="473" y="1753"/>
                  </a:cubicBezTo>
                  <a:cubicBezTo>
                    <a:pt x="570" y="1563"/>
                    <a:pt x="718" y="1260"/>
                    <a:pt x="833" y="1065"/>
                  </a:cubicBezTo>
                  <a:cubicBezTo>
                    <a:pt x="948" y="870"/>
                    <a:pt x="1038" y="733"/>
                    <a:pt x="1163" y="585"/>
                  </a:cubicBezTo>
                  <a:cubicBezTo>
                    <a:pt x="1288" y="437"/>
                    <a:pt x="1433" y="277"/>
                    <a:pt x="1583" y="180"/>
                  </a:cubicBezTo>
                  <a:cubicBezTo>
                    <a:pt x="1733" y="83"/>
                    <a:pt x="1883" y="0"/>
                    <a:pt x="2063" y="0"/>
                  </a:cubicBezTo>
                  <a:cubicBezTo>
                    <a:pt x="2243" y="0"/>
                    <a:pt x="2493" y="88"/>
                    <a:pt x="2663" y="180"/>
                  </a:cubicBezTo>
                  <a:cubicBezTo>
                    <a:pt x="2833" y="272"/>
                    <a:pt x="2958" y="423"/>
                    <a:pt x="3083" y="555"/>
                  </a:cubicBezTo>
                  <a:cubicBezTo>
                    <a:pt x="3208" y="687"/>
                    <a:pt x="3288" y="797"/>
                    <a:pt x="3413" y="975"/>
                  </a:cubicBezTo>
                  <a:cubicBezTo>
                    <a:pt x="3538" y="1153"/>
                    <a:pt x="3706" y="1413"/>
                    <a:pt x="3833" y="1620"/>
                  </a:cubicBezTo>
                  <a:cubicBezTo>
                    <a:pt x="3960" y="1827"/>
                    <a:pt x="4067" y="2026"/>
                    <a:pt x="4178" y="2218"/>
                  </a:cubicBezTo>
                  <a:cubicBezTo>
                    <a:pt x="4289" y="2410"/>
                    <a:pt x="4433" y="2657"/>
                    <a:pt x="4500" y="2773"/>
                  </a:cubicBez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Shape 695"/>
            <p:cNvSpPr txBox="1"/>
            <p:nvPr/>
          </p:nvSpPr>
          <p:spPr>
            <a:xfrm>
              <a:off x="8086725" y="6842125"/>
              <a:ext cx="200025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Ime = P</a:t>
              </a:r>
            </a:p>
          </p:txBody>
        </p:sp>
        <p:sp>
          <p:nvSpPr>
            <p:cNvPr id="696" name="Shape 696"/>
            <p:cNvSpPr txBox="1"/>
            <p:nvPr/>
          </p:nvSpPr>
          <p:spPr>
            <a:xfrm>
              <a:off x="3800475" y="3413125"/>
              <a:ext cx="1428749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</a:p>
          </p:txBody>
        </p:sp>
      </p:grpSp>
      <p:sp>
        <p:nvSpPr>
          <p:cNvPr id="697" name="Shape 697"/>
          <p:cNvSpPr/>
          <p:nvPr/>
        </p:nvSpPr>
        <p:spPr>
          <a:xfrm>
            <a:off x="1692275" y="4221162"/>
            <a:ext cx="2158999" cy="608011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8" name="Shape 698"/>
          <p:cNvCxnSpPr/>
          <p:nvPr/>
        </p:nvCxnSpPr>
        <p:spPr>
          <a:xfrm>
            <a:off x="3851275" y="4292600"/>
            <a:ext cx="0" cy="2305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699" name="Shape 699"/>
          <p:cNvCxnSpPr/>
          <p:nvPr/>
        </p:nvCxnSpPr>
        <p:spPr>
          <a:xfrm rot="10800000">
            <a:off x="1692275" y="5373687"/>
            <a:ext cx="21589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700" name="Shape 700"/>
          <p:cNvSpPr txBox="1"/>
          <p:nvPr/>
        </p:nvSpPr>
        <p:spPr>
          <a:xfrm>
            <a:off x="3635375" y="6597650"/>
            <a:ext cx="431799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Q </a:t>
            </a:r>
          </a:p>
        </p:txBody>
      </p:sp>
      <p:sp>
        <p:nvSpPr>
          <p:cNvPr id="701" name="Shape 701"/>
          <p:cNvSpPr txBox="1"/>
          <p:nvPr/>
        </p:nvSpPr>
        <p:spPr>
          <a:xfrm>
            <a:off x="1258887" y="4149725"/>
            <a:ext cx="288925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 </a:t>
            </a:r>
          </a:p>
        </p:txBody>
      </p:sp>
      <p:sp>
        <p:nvSpPr>
          <p:cNvPr id="702" name="Shape 702"/>
          <p:cNvSpPr txBox="1"/>
          <p:nvPr/>
        </p:nvSpPr>
        <p:spPr>
          <a:xfrm>
            <a:off x="1258887" y="5246687"/>
            <a:ext cx="433386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IT </a:t>
            </a:r>
          </a:p>
        </p:txBody>
      </p:sp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Shape 707"/>
          <p:cNvSpPr txBox="1"/>
          <p:nvPr>
            <p:ph idx="1" type="body"/>
          </p:nvPr>
        </p:nvSpPr>
        <p:spPr>
          <a:xfrm>
            <a:off x="838200" y="2362200"/>
            <a:ext cx="7693025" cy="106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Noto Symbo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∂IT/∂Q= Ima &lt; Px                                          IT/Q = Ime = (P(Q) * Q) / Q) = P(Q)</a:t>
            </a:r>
          </a:p>
        </p:txBody>
      </p:sp>
      <p:sp>
        <p:nvSpPr>
          <p:cNvPr id="708" name="Shape 708"/>
          <p:cNvSpPr/>
          <p:nvPr>
            <p:ph type="title"/>
          </p:nvPr>
        </p:nvSpPr>
        <p:spPr>
          <a:xfrm>
            <a:off x="673100" y="762000"/>
            <a:ext cx="8291512" cy="1143000"/>
          </a:xfrm>
          <a:prstGeom prst="roundRect">
            <a:avLst>
              <a:gd fmla="val 4680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MERCADOS IMPERFECTOS</a:t>
            </a:r>
            <a:b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INGRESO MARGINAL - INGRESO MEDIO</a:t>
            </a:r>
          </a:p>
        </p:txBody>
      </p:sp>
      <p:grpSp>
        <p:nvGrpSpPr>
          <p:cNvPr id="709" name="Shape 709"/>
          <p:cNvGrpSpPr/>
          <p:nvPr/>
        </p:nvGrpSpPr>
        <p:grpSpPr>
          <a:xfrm>
            <a:off x="1352665" y="3479817"/>
            <a:ext cx="6378114" cy="3219389"/>
            <a:chOff x="2987675" y="14747875"/>
            <a:chExt cx="12211049" cy="7524749"/>
          </a:xfrm>
        </p:grpSpPr>
        <p:cxnSp>
          <p:nvCxnSpPr>
            <p:cNvPr id="710" name="Shape 710"/>
            <p:cNvCxnSpPr/>
            <p:nvPr/>
          </p:nvCxnSpPr>
          <p:spPr>
            <a:xfrm flipH="1" rot="10800000">
              <a:off x="2987675" y="14965362"/>
              <a:ext cx="1587" cy="680402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cxnSp>
          <p:nvCxnSpPr>
            <p:cNvPr id="711" name="Shape 711"/>
            <p:cNvCxnSpPr/>
            <p:nvPr/>
          </p:nvCxnSpPr>
          <p:spPr>
            <a:xfrm>
              <a:off x="2987675" y="18462625"/>
              <a:ext cx="9944099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sp>
          <p:nvSpPr>
            <p:cNvPr id="712" name="Shape 712"/>
            <p:cNvSpPr txBox="1"/>
            <p:nvPr/>
          </p:nvSpPr>
          <p:spPr>
            <a:xfrm>
              <a:off x="3273425" y="14747875"/>
              <a:ext cx="4787900" cy="7556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0375" lIns="80750" rIns="80750" tIns="4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Ingreso Medio/Marginal</a:t>
              </a:r>
            </a:p>
          </p:txBody>
        </p:sp>
        <p:sp>
          <p:nvSpPr>
            <p:cNvPr id="713" name="Shape 713"/>
            <p:cNvSpPr txBox="1"/>
            <p:nvPr/>
          </p:nvSpPr>
          <p:spPr>
            <a:xfrm>
              <a:off x="13184187" y="21516975"/>
              <a:ext cx="2014536" cy="7556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0375" lIns="80750" rIns="80750" tIns="4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</a:p>
          </p:txBody>
        </p:sp>
        <p:cxnSp>
          <p:nvCxnSpPr>
            <p:cNvPr id="714" name="Shape 714"/>
            <p:cNvCxnSpPr/>
            <p:nvPr/>
          </p:nvCxnSpPr>
          <p:spPr>
            <a:xfrm>
              <a:off x="2987675" y="16176625"/>
              <a:ext cx="8001000" cy="22860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715" name="Shape 715"/>
            <p:cNvCxnSpPr/>
            <p:nvPr/>
          </p:nvCxnSpPr>
          <p:spPr>
            <a:xfrm>
              <a:off x="2987675" y="16176625"/>
              <a:ext cx="7715249" cy="514349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716" name="Shape 716"/>
            <p:cNvSpPr txBox="1"/>
            <p:nvPr/>
          </p:nvSpPr>
          <p:spPr>
            <a:xfrm>
              <a:off x="6486525" y="16278225"/>
              <a:ext cx="4787900" cy="7556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0375" lIns="80750" rIns="80750" tIns="4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Ingreso Medio = P(Q)</a:t>
              </a:r>
            </a:p>
          </p:txBody>
        </p:sp>
        <p:sp>
          <p:nvSpPr>
            <p:cNvPr id="717" name="Shape 717"/>
            <p:cNvSpPr txBox="1"/>
            <p:nvPr/>
          </p:nvSpPr>
          <p:spPr>
            <a:xfrm>
              <a:off x="9629775" y="19421475"/>
              <a:ext cx="4787900" cy="7556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0375" lIns="80750" rIns="80750" tIns="4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Ingreso Marginal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Shape 722"/>
          <p:cNvSpPr/>
          <p:nvPr/>
        </p:nvSpPr>
        <p:spPr>
          <a:xfrm>
            <a:off x="1476375" y="3860800"/>
            <a:ext cx="3744911" cy="1136650"/>
          </a:xfrm>
          <a:custGeom>
            <a:pathLst>
              <a:path extrusionOk="0" h="1792" w="4646">
                <a:moveTo>
                  <a:pt x="0" y="186"/>
                </a:moveTo>
                <a:cubicBezTo>
                  <a:pt x="20" y="243"/>
                  <a:pt x="31" y="380"/>
                  <a:pt x="100" y="526"/>
                </a:cubicBezTo>
                <a:cubicBezTo>
                  <a:pt x="169" y="672"/>
                  <a:pt x="308" y="906"/>
                  <a:pt x="416" y="1060"/>
                </a:cubicBezTo>
                <a:cubicBezTo>
                  <a:pt x="524" y="1214"/>
                  <a:pt x="586" y="1335"/>
                  <a:pt x="746" y="1450"/>
                </a:cubicBezTo>
                <a:cubicBezTo>
                  <a:pt x="906" y="1565"/>
                  <a:pt x="1148" y="1708"/>
                  <a:pt x="1376" y="1750"/>
                </a:cubicBezTo>
                <a:cubicBezTo>
                  <a:pt x="1604" y="1792"/>
                  <a:pt x="1911" y="1733"/>
                  <a:pt x="2116" y="1700"/>
                </a:cubicBezTo>
                <a:cubicBezTo>
                  <a:pt x="2321" y="1667"/>
                  <a:pt x="2458" y="1605"/>
                  <a:pt x="2606" y="1550"/>
                </a:cubicBezTo>
                <a:cubicBezTo>
                  <a:pt x="2754" y="1495"/>
                  <a:pt x="2863" y="1445"/>
                  <a:pt x="3006" y="1370"/>
                </a:cubicBezTo>
                <a:cubicBezTo>
                  <a:pt x="3149" y="1295"/>
                  <a:pt x="3314" y="1195"/>
                  <a:pt x="3466" y="1100"/>
                </a:cubicBezTo>
                <a:cubicBezTo>
                  <a:pt x="3618" y="1005"/>
                  <a:pt x="3801" y="885"/>
                  <a:pt x="3916" y="800"/>
                </a:cubicBezTo>
                <a:cubicBezTo>
                  <a:pt x="4031" y="715"/>
                  <a:pt x="4078" y="667"/>
                  <a:pt x="4156" y="590"/>
                </a:cubicBezTo>
                <a:cubicBezTo>
                  <a:pt x="4234" y="513"/>
                  <a:pt x="4304" y="438"/>
                  <a:pt x="4386" y="340"/>
                </a:cubicBezTo>
                <a:cubicBezTo>
                  <a:pt x="4468" y="242"/>
                  <a:pt x="4592" y="71"/>
                  <a:pt x="4646" y="0"/>
                </a:cubicBezTo>
              </a:path>
            </a:pathLst>
          </a:custGeom>
          <a:noFill/>
          <a:ln cap="flat" cmpd="sng" w="25400">
            <a:solidFill>
              <a:srgbClr val="0000FF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Shape 723"/>
          <p:cNvSpPr/>
          <p:nvPr/>
        </p:nvSpPr>
        <p:spPr>
          <a:xfrm>
            <a:off x="1187450" y="3716337"/>
            <a:ext cx="1296986" cy="1225550"/>
          </a:xfrm>
          <a:prstGeom prst="rect">
            <a:avLst/>
          </a:prstGeom>
          <a:solidFill>
            <a:srgbClr val="FFFF00">
              <a:alpha val="55686"/>
            </a:srgbClr>
          </a:solidFill>
          <a:ln cap="flat" cmpd="sng" w="25400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Shape 724"/>
          <p:cNvSpPr txBox="1"/>
          <p:nvPr>
            <p:ph idx="4294967295" type="title"/>
          </p:nvPr>
        </p:nvSpPr>
        <p:spPr>
          <a:xfrm>
            <a:off x="360362" y="549275"/>
            <a:ext cx="8532812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MERCADO IMPERFECTO</a:t>
            </a:r>
            <a:b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BENEFICIO DEL PRODUCTOR</a:t>
            </a:r>
          </a:p>
        </p:txBody>
      </p:sp>
      <p:cxnSp>
        <p:nvCxnSpPr>
          <p:cNvPr id="725" name="Shape 725"/>
          <p:cNvCxnSpPr/>
          <p:nvPr/>
        </p:nvCxnSpPr>
        <p:spPr>
          <a:xfrm>
            <a:off x="1187450" y="2276475"/>
            <a:ext cx="0" cy="3889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726" name="Shape 726"/>
          <p:cNvCxnSpPr/>
          <p:nvPr/>
        </p:nvCxnSpPr>
        <p:spPr>
          <a:xfrm>
            <a:off x="1042987" y="5949950"/>
            <a:ext cx="43926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727" name="Shape 727"/>
          <p:cNvCxnSpPr/>
          <p:nvPr/>
        </p:nvCxnSpPr>
        <p:spPr>
          <a:xfrm>
            <a:off x="1187450" y="2420936"/>
            <a:ext cx="3529012" cy="3529012"/>
          </a:xfrm>
          <a:prstGeom prst="straightConnector1">
            <a:avLst/>
          </a:prstGeom>
          <a:noFill/>
          <a:ln cap="flat" cmpd="sng" w="41275">
            <a:solidFill>
              <a:srgbClr val="FF99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728" name="Shape 728"/>
          <p:cNvSpPr/>
          <p:nvPr/>
        </p:nvSpPr>
        <p:spPr>
          <a:xfrm>
            <a:off x="1547812" y="3644900"/>
            <a:ext cx="3168650" cy="1735136"/>
          </a:xfrm>
          <a:custGeom>
            <a:pathLst>
              <a:path extrusionOk="0" h="1093" w="1996">
                <a:moveTo>
                  <a:pt x="0" y="786"/>
                </a:moveTo>
                <a:cubicBezTo>
                  <a:pt x="26" y="831"/>
                  <a:pt x="77" y="1019"/>
                  <a:pt x="158" y="1056"/>
                </a:cubicBezTo>
                <a:cubicBezTo>
                  <a:pt x="239" y="1093"/>
                  <a:pt x="364" y="1062"/>
                  <a:pt x="489" y="1009"/>
                </a:cubicBezTo>
                <a:cubicBezTo>
                  <a:pt x="614" y="956"/>
                  <a:pt x="747" y="846"/>
                  <a:pt x="907" y="741"/>
                </a:cubicBezTo>
                <a:cubicBezTo>
                  <a:pt x="1067" y="636"/>
                  <a:pt x="1285" y="491"/>
                  <a:pt x="1451" y="378"/>
                </a:cubicBezTo>
                <a:cubicBezTo>
                  <a:pt x="1617" y="265"/>
                  <a:pt x="1814" y="120"/>
                  <a:pt x="1905" y="60"/>
                </a:cubicBezTo>
                <a:cubicBezTo>
                  <a:pt x="1996" y="0"/>
                  <a:pt x="1996" y="7"/>
                  <a:pt x="1996" y="15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9" name="Shape 729"/>
          <p:cNvCxnSpPr/>
          <p:nvPr/>
        </p:nvCxnSpPr>
        <p:spPr>
          <a:xfrm>
            <a:off x="1187450" y="2420936"/>
            <a:ext cx="2016124" cy="4248149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730" name="Shape 730"/>
          <p:cNvSpPr txBox="1"/>
          <p:nvPr/>
        </p:nvSpPr>
        <p:spPr>
          <a:xfrm>
            <a:off x="179386" y="2276475"/>
            <a:ext cx="1079499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PRECIO</a:t>
            </a:r>
          </a:p>
        </p:txBody>
      </p:sp>
      <p:sp>
        <p:nvSpPr>
          <p:cNvPr id="731" name="Shape 731"/>
          <p:cNvSpPr txBox="1"/>
          <p:nvPr/>
        </p:nvSpPr>
        <p:spPr>
          <a:xfrm>
            <a:off x="5149850" y="5734050"/>
            <a:ext cx="1654174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</a:t>
            </a:r>
          </a:p>
        </p:txBody>
      </p:sp>
      <p:sp>
        <p:nvSpPr>
          <p:cNvPr id="732" name="Shape 732"/>
          <p:cNvSpPr txBox="1"/>
          <p:nvPr/>
        </p:nvSpPr>
        <p:spPr>
          <a:xfrm>
            <a:off x="2843211" y="3357562"/>
            <a:ext cx="2087562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094D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7094D"/>
                </a:solidFill>
                <a:latin typeface="Arial"/>
                <a:ea typeface="Arial"/>
                <a:cs typeface="Arial"/>
                <a:sym typeface="Arial"/>
              </a:rPr>
              <a:t>COSTO MARGINAL</a:t>
            </a:r>
          </a:p>
        </p:txBody>
      </p:sp>
      <p:sp>
        <p:nvSpPr>
          <p:cNvPr id="733" name="Shape 733"/>
          <p:cNvSpPr txBox="1"/>
          <p:nvPr/>
        </p:nvSpPr>
        <p:spPr>
          <a:xfrm>
            <a:off x="1619250" y="2636836"/>
            <a:ext cx="4537074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DEMANDA DIRIGIDA AL PRODUCTOR</a:t>
            </a:r>
          </a:p>
        </p:txBody>
      </p:sp>
      <p:sp>
        <p:nvSpPr>
          <p:cNvPr id="734" name="Shape 734"/>
          <p:cNvSpPr txBox="1"/>
          <p:nvPr/>
        </p:nvSpPr>
        <p:spPr>
          <a:xfrm>
            <a:off x="3276600" y="6453187"/>
            <a:ext cx="2303461" cy="215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23DB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4A23DB"/>
                </a:solidFill>
                <a:latin typeface="Arial"/>
                <a:ea typeface="Arial"/>
                <a:cs typeface="Arial"/>
                <a:sym typeface="Arial"/>
              </a:rPr>
              <a:t>INGRESO MARGINAL</a:t>
            </a:r>
          </a:p>
        </p:txBody>
      </p:sp>
      <p:cxnSp>
        <p:nvCxnSpPr>
          <p:cNvPr id="735" name="Shape 735"/>
          <p:cNvCxnSpPr/>
          <p:nvPr/>
        </p:nvCxnSpPr>
        <p:spPr>
          <a:xfrm>
            <a:off x="2484436" y="3716337"/>
            <a:ext cx="0" cy="22336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stealth"/>
            <a:tailEnd len="med" w="med" type="none"/>
          </a:ln>
        </p:spPr>
      </p:cxnSp>
      <p:cxnSp>
        <p:nvCxnSpPr>
          <p:cNvPr id="736" name="Shape 736"/>
          <p:cNvCxnSpPr/>
          <p:nvPr/>
        </p:nvCxnSpPr>
        <p:spPr>
          <a:xfrm>
            <a:off x="2484436" y="5157787"/>
            <a:ext cx="0" cy="7921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737" name="Shape 737"/>
          <p:cNvSpPr txBox="1"/>
          <p:nvPr/>
        </p:nvSpPr>
        <p:spPr>
          <a:xfrm>
            <a:off x="1979611" y="5949950"/>
            <a:ext cx="1079499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</a:p>
        </p:txBody>
      </p:sp>
      <p:sp>
        <p:nvSpPr>
          <p:cNvPr id="738" name="Shape 738"/>
          <p:cNvSpPr txBox="1"/>
          <p:nvPr/>
        </p:nvSpPr>
        <p:spPr>
          <a:xfrm>
            <a:off x="395287" y="3500437"/>
            <a:ext cx="1079499" cy="431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</a:p>
        </p:txBody>
      </p:sp>
      <p:cxnSp>
        <p:nvCxnSpPr>
          <p:cNvPr id="739" name="Shape 739"/>
          <p:cNvCxnSpPr/>
          <p:nvPr/>
        </p:nvCxnSpPr>
        <p:spPr>
          <a:xfrm rot="10800000">
            <a:off x="1187449" y="3716337"/>
            <a:ext cx="129698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stealth"/>
          </a:ln>
        </p:spPr>
      </p:cxnSp>
      <p:sp>
        <p:nvSpPr>
          <p:cNvPr id="740" name="Shape 740"/>
          <p:cNvSpPr txBox="1"/>
          <p:nvPr/>
        </p:nvSpPr>
        <p:spPr>
          <a:xfrm>
            <a:off x="107950" y="4941887"/>
            <a:ext cx="1008062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23DB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4A23DB"/>
                </a:solidFill>
                <a:latin typeface="Arial"/>
                <a:ea typeface="Arial"/>
                <a:cs typeface="Arial"/>
                <a:sym typeface="Arial"/>
              </a:rPr>
              <a:t>Ima =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Cma</a:t>
            </a:r>
          </a:p>
        </p:txBody>
      </p:sp>
      <p:cxnSp>
        <p:nvCxnSpPr>
          <p:cNvPr id="741" name="Shape 741"/>
          <p:cNvCxnSpPr/>
          <p:nvPr/>
        </p:nvCxnSpPr>
        <p:spPr>
          <a:xfrm rot="10800000">
            <a:off x="1187449" y="5157787"/>
            <a:ext cx="129698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lg" w="lg" type="stealth"/>
            <a:tailEnd len="med" w="med" type="none"/>
          </a:ln>
        </p:spPr>
      </p:cxnSp>
      <p:sp>
        <p:nvSpPr>
          <p:cNvPr id="742" name="Shape 742"/>
          <p:cNvSpPr txBox="1"/>
          <p:nvPr/>
        </p:nvSpPr>
        <p:spPr>
          <a:xfrm>
            <a:off x="1187450" y="4005262"/>
            <a:ext cx="1368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BENEFICIO</a:t>
            </a:r>
          </a:p>
        </p:txBody>
      </p:sp>
      <p:sp>
        <p:nvSpPr>
          <p:cNvPr id="743" name="Shape 743"/>
          <p:cNvSpPr txBox="1"/>
          <p:nvPr/>
        </p:nvSpPr>
        <p:spPr>
          <a:xfrm>
            <a:off x="4568825" y="4310062"/>
            <a:ext cx="2090737" cy="342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COSTO MEDIO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ápsulas">
  <a:themeElements>
    <a:clrScheme name="Cápsula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