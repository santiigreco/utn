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3B5EFA3D-1848-4923-BD1F-FD90B0F126BA}">
  <a:tblStyle styleId="{3B5EFA3D-1848-4923-BD1F-FD90B0F126BA}" styleName="Table_0"/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/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/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/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/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/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/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/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/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8" name="Shape 10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5" name="Shape 11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5" name="Shape 12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0" name="Shape 20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7" name="Shape 21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6" name="Shape 2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2" name="Shape 25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3" name="Shape 27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8" name="Shape 28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1" name="Shape 30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7" name="Shape 31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1" name="Shape 33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0" name="Shape 34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9" name="Shape 34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3" name="Shape 36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2" name="Shape 37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1" name="Shape 38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4" name="Shape 39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03" name="Shape 40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6" name="Shape 41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9" name="Shape 42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43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38" name="Shape 43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640"/>
              </a:spcBef>
              <a:buClr>
                <a:srgbClr val="888888"/>
              </a:buClr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buClr>
                <a:srgbClr val="888888"/>
              </a:buClr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360"/>
              </a:spcBef>
              <a:buClr>
                <a:srgbClr val="888888"/>
              </a:buClr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320"/>
              </a:spcBef>
              <a:buClr>
                <a:srgbClr val="888888"/>
              </a:buClr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280"/>
              </a:spcBef>
              <a:buClr>
                <a:srgbClr val="888888"/>
              </a:buClr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65100" lvl="0" marL="34290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33350" lvl="1" marL="74295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65100" lvl="0" marL="34290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33350" lvl="1" marL="74295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1600" lvl="2" marL="1143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14300" lvl="3" marL="16002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14300" lvl="4" marL="20574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14300" lvl="5" marL="25146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14300" lvl="6" marL="29718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14300" lvl="7" marL="34290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14300" lvl="8" marL="38862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36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7000" lvl="5" marL="25146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27000" lvl="6" marL="29718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27000" lvl="7" marL="34290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27000" lvl="8" marL="38862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360"/>
              </a:spcBef>
              <a:buClr>
                <a:schemeClr val="dk1"/>
              </a:buClr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320"/>
              </a:spcBef>
              <a:buClr>
                <a:schemeClr val="dk1"/>
              </a:buClr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90500" lvl="0" marL="3429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58750" lvl="1" marL="74295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14300" lvl="2" marL="1143000" marR="0" rtl="0" algn="l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27000" lvl="3" marL="16002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27000" lvl="4" marL="20574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27000" lvl="5" marL="25146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27000" lvl="6" marL="29718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27000" lvl="7" marL="34290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27000" lvl="8" marL="3886200" marR="0" rtl="0" algn="l">
              <a:spcBef>
                <a:spcPts val="32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Shape 5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Shape 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2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dk1"/>
              </a:buClr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1" name="Shape 71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640"/>
              </a:spcBef>
              <a:buClr>
                <a:schemeClr val="dk1"/>
              </a:buClr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200"/>
              </a:spcBef>
              <a:buClr>
                <a:schemeClr val="dk1"/>
              </a:buClr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180"/>
              </a:spcBef>
              <a:buClr>
                <a:schemeClr val="dk1"/>
              </a:buClr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8" name="Shape 78"/>
          <p:cNvSpPr txBox="1"/>
          <p:nvPr>
            <p:ph idx="1" type="body"/>
          </p:nvPr>
        </p:nvSpPr>
        <p:spPr>
          <a:xfrm rot="5400000">
            <a:off x="2309018" y="-251619"/>
            <a:ext cx="452596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Shape 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4" name="Shape 84"/>
          <p:cNvSpPr txBox="1"/>
          <p:nvPr>
            <p:ph idx="1" type="body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png"/><Relationship Id="rId4" Type="http://schemas.openxmlformats.org/officeDocument/2006/relationships/image" Target="../media/image03.jpg"/><Relationship Id="rId5" Type="http://schemas.openxmlformats.org/officeDocument/2006/relationships/image" Target="../media/image0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0.png"/><Relationship Id="rId4" Type="http://schemas.openxmlformats.org/officeDocument/2006/relationships/image" Target="../media/image0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0.png"/><Relationship Id="rId4" Type="http://schemas.openxmlformats.org/officeDocument/2006/relationships/image" Target="../media/image0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Relationship Id="rId6" Type="http://schemas.openxmlformats.org/officeDocument/2006/relationships/image" Target="../media/image0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Relationship Id="rId6" Type="http://schemas.openxmlformats.org/officeDocument/2006/relationships/image" Target="../media/image0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00.png"/><Relationship Id="rId4" Type="http://schemas.openxmlformats.org/officeDocument/2006/relationships/image" Target="../media/image02.png"/><Relationship Id="rId5" Type="http://schemas.openxmlformats.org/officeDocument/2006/relationships/image" Target="../media/image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Shape 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Shape 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447800"/>
            <a:ext cx="8610599" cy="2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Shape 94"/>
          <p:cNvSpPr txBox="1"/>
          <p:nvPr/>
        </p:nvSpPr>
        <p:spPr>
          <a:xfrm>
            <a:off x="381000" y="4191000"/>
            <a:ext cx="5127625" cy="1462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Mercado de bienes y servicios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Y DEMANDA AGREGADA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Shape 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Shape 96"/>
          <p:cNvSpPr txBox="1"/>
          <p:nvPr/>
        </p:nvSpPr>
        <p:spPr>
          <a:xfrm>
            <a:off x="3733800" y="76200"/>
            <a:ext cx="4724400" cy="1009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32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NACIONAL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Shape 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Shape 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" y="1444625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Shape 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Shape 104"/>
          <p:cNvSpPr txBox="1"/>
          <p:nvPr/>
        </p:nvSpPr>
        <p:spPr>
          <a:xfrm>
            <a:off x="3910012" y="1524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TEMARIO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CLASE N° 3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263525" y="1447800"/>
            <a:ext cx="8610599" cy="519271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Matriz Insumo Producto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Agregado / Producto 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Bruto / Neto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Interior / Nacional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 Interior Bruto a precios corrientes</a:t>
            </a: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del Gasto Final</a:t>
            </a: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del Ingreso de los Factores (Ingreso Nacional)</a:t>
            </a: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del Valor Bruto de la Producción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 Interior Bruto real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Deflactor / Índice de Precios Implícitos 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Crecimiento Económico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idx="4294967295" type="title"/>
          </p:nvPr>
        </p:nvSpPr>
        <p:spPr>
          <a:xfrm>
            <a:off x="3352800" y="304800"/>
            <a:ext cx="5486399" cy="609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28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PRODUCTO INTERIOR BRUTO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111" name="Shape 111"/>
          <p:cNvSpPr txBox="1"/>
          <p:nvPr>
            <p:ph idx="4294967295" type="body"/>
          </p:nvPr>
        </p:nvSpPr>
        <p:spPr>
          <a:xfrm>
            <a:off x="152400" y="1600200"/>
            <a:ext cx="8991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 Producto Interno Bruto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medida macroeconómica que expresa el valor monetario de la producción de bienes y servicios de un país durante un período determinado de tiempo.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PIB es usado como una medida del bienestar material de una sociedad y es objeto de estudio de la macroeconomía.  </a:t>
            </a:r>
          </a:p>
        </p:txBody>
      </p:sp>
      <p:pic>
        <p:nvPicPr>
          <p:cNvPr id="112" name="Shape 11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4637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Shape 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Shape 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Shape 119"/>
          <p:cNvSpPr txBox="1"/>
          <p:nvPr/>
        </p:nvSpPr>
        <p:spPr>
          <a:xfrm>
            <a:off x="4291012" y="152400"/>
            <a:ext cx="4548187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MATRIZ INSUMO PRODUCTO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 txBox="1"/>
          <p:nvPr/>
        </p:nvSpPr>
        <p:spPr>
          <a:xfrm>
            <a:off x="255587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Shape 121"/>
          <p:cNvGraphicFramePr/>
          <p:nvPr/>
        </p:nvGraphicFramePr>
        <p:xfrm>
          <a:off x="3048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2854325"/>
                <a:gridCol w="1001700"/>
                <a:gridCol w="868350"/>
                <a:gridCol w="920750"/>
                <a:gridCol w="1087425"/>
                <a:gridCol w="1573200"/>
              </a:tblGrid>
              <a:tr h="3984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MATRIZ INSUMO - PRODUCTO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I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II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III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IV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Totales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 inicial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empresa anterior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8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8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importación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206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de Insumos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Salarios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5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Intereses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Beneficios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Remuneraciones a los factores productivos 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Amortizaciones del capital fijo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Impuestos Indirectos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55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Subsidios</a:t>
                      </a: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de la Producción Bruta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1590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260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Ventas al mercado interno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8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8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80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540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Exportaciones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 final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952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Producto del Gobierno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(Gasto Público)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Impuestos Directos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Giros del Exterior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Giros al Exterior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</a:tbl>
          </a:graphicData>
        </a:graphic>
      </p:graphicFrame>
      <p:sp>
        <p:nvSpPr>
          <p:cNvPr id="122" name="Shape 122"/>
          <p:cNvSpPr/>
          <p:nvPr/>
        </p:nvSpPr>
        <p:spPr>
          <a:xfrm>
            <a:off x="8001000" y="6149975"/>
            <a:ext cx="609599" cy="48577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95859" y="37500"/>
                </a:moveTo>
                <a:lnTo>
                  <a:pt x="77929" y="15000"/>
                </a:lnTo>
                <a:lnTo>
                  <a:pt x="60000" y="37500"/>
                </a:lnTo>
                <a:lnTo>
                  <a:pt x="68964" y="37500"/>
                </a:lnTo>
                <a:lnTo>
                  <a:pt x="68964" y="71250"/>
                </a:lnTo>
                <a:cubicBezTo>
                  <a:pt x="68964" y="77463"/>
                  <a:pt x="64951" y="82500"/>
                  <a:pt x="59999" y="82500"/>
                </a:cubicBezTo>
                <a:lnTo>
                  <a:pt x="51035" y="82500"/>
                </a:lnTo>
                <a:cubicBezTo>
                  <a:pt x="46084" y="82500"/>
                  <a:pt x="42070" y="77463"/>
                  <a:pt x="42070" y="71250"/>
                </a:cubicBezTo>
                <a:lnTo>
                  <a:pt x="42070" y="37500"/>
                </a:lnTo>
                <a:lnTo>
                  <a:pt x="24140" y="37500"/>
                </a:lnTo>
                <a:lnTo>
                  <a:pt x="24140" y="71250"/>
                </a:lnTo>
                <a:cubicBezTo>
                  <a:pt x="24140" y="89889"/>
                  <a:pt x="36181" y="105000"/>
                  <a:pt x="51035" y="105000"/>
                </a:cubicBezTo>
                <a:lnTo>
                  <a:pt x="60000" y="105000"/>
                </a:lnTo>
                <a:cubicBezTo>
                  <a:pt x="74853" y="105000"/>
                  <a:pt x="86894" y="89889"/>
                  <a:pt x="86894" y="71250"/>
                </a:cubicBezTo>
                <a:lnTo>
                  <a:pt x="86894" y="37500"/>
                </a:lnTo>
                <a:close/>
              </a:path>
              <a:path extrusionOk="0" fill="darken" h="120000" w="120000">
                <a:moveTo>
                  <a:pt x="95859" y="37500"/>
                </a:moveTo>
                <a:lnTo>
                  <a:pt x="77929" y="15000"/>
                </a:lnTo>
                <a:lnTo>
                  <a:pt x="60000" y="37500"/>
                </a:lnTo>
                <a:lnTo>
                  <a:pt x="68964" y="37500"/>
                </a:lnTo>
                <a:lnTo>
                  <a:pt x="68964" y="71250"/>
                </a:lnTo>
                <a:cubicBezTo>
                  <a:pt x="68964" y="77463"/>
                  <a:pt x="64951" y="82500"/>
                  <a:pt x="59999" y="82500"/>
                </a:cubicBezTo>
                <a:lnTo>
                  <a:pt x="51035" y="82500"/>
                </a:lnTo>
                <a:cubicBezTo>
                  <a:pt x="46084" y="82500"/>
                  <a:pt x="42070" y="77463"/>
                  <a:pt x="42070" y="71250"/>
                </a:cubicBezTo>
                <a:lnTo>
                  <a:pt x="42070" y="37500"/>
                </a:lnTo>
                <a:lnTo>
                  <a:pt x="24140" y="37500"/>
                </a:lnTo>
                <a:lnTo>
                  <a:pt x="24140" y="71250"/>
                </a:lnTo>
                <a:cubicBezTo>
                  <a:pt x="24140" y="89889"/>
                  <a:pt x="36181" y="105000"/>
                  <a:pt x="51035" y="105000"/>
                </a:cubicBezTo>
                <a:lnTo>
                  <a:pt x="60000" y="105000"/>
                </a:lnTo>
                <a:cubicBezTo>
                  <a:pt x="74853" y="105000"/>
                  <a:pt x="86894" y="89889"/>
                  <a:pt x="86894" y="71250"/>
                </a:cubicBezTo>
                <a:lnTo>
                  <a:pt x="86894" y="37500"/>
                </a:lnTo>
                <a:close/>
              </a:path>
              <a:path extrusionOk="0" fill="none" h="120000" w="120000">
                <a:moveTo>
                  <a:pt x="95859" y="37500"/>
                </a:moveTo>
                <a:lnTo>
                  <a:pt x="86894" y="37500"/>
                </a:lnTo>
                <a:lnTo>
                  <a:pt x="86894" y="71250"/>
                </a:lnTo>
                <a:lnTo>
                  <a:pt x="86894" y="71250"/>
                </a:lnTo>
                <a:cubicBezTo>
                  <a:pt x="86894" y="89889"/>
                  <a:pt x="74853" y="105000"/>
                  <a:pt x="60000" y="105000"/>
                </a:cubicBezTo>
                <a:lnTo>
                  <a:pt x="51035" y="105000"/>
                </a:lnTo>
                <a:cubicBezTo>
                  <a:pt x="36181" y="105000"/>
                  <a:pt x="24140" y="89889"/>
                  <a:pt x="24140" y="71250"/>
                </a:cubicBezTo>
                <a:lnTo>
                  <a:pt x="24140" y="37500"/>
                </a:lnTo>
                <a:lnTo>
                  <a:pt x="42070" y="37500"/>
                </a:lnTo>
                <a:lnTo>
                  <a:pt x="42070" y="71250"/>
                </a:lnTo>
                <a:cubicBezTo>
                  <a:pt x="42070" y="77463"/>
                  <a:pt x="46084" y="82500"/>
                  <a:pt x="51035" y="82500"/>
                </a:cubicBezTo>
                <a:lnTo>
                  <a:pt x="60000" y="82500"/>
                </a:lnTo>
                <a:cubicBezTo>
                  <a:pt x="64951" y="82500"/>
                  <a:pt x="68964" y="77463"/>
                  <a:pt x="68964" y="71250"/>
                </a:cubicBezTo>
                <a:lnTo>
                  <a:pt x="68964" y="37500"/>
                </a:lnTo>
                <a:lnTo>
                  <a:pt x="60000" y="37500"/>
                </a:lnTo>
                <a:lnTo>
                  <a:pt x="77929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/>
        </p:nvSpPr>
        <p:spPr>
          <a:xfrm>
            <a:off x="2209800" y="1600200"/>
            <a:ext cx="4572000" cy="304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BIENES DE CONSUMO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2209800" y="4800600"/>
            <a:ext cx="4648199" cy="1295400"/>
          </a:xfrm>
          <a:prstGeom prst="rect">
            <a:avLst/>
          </a:prstGeom>
          <a:solidFill>
            <a:srgbClr val="FFFF99">
              <a:alpha val="45882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BIENES DE CAPITAL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Shape 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Shape 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Shape 131"/>
          <p:cNvSpPr txBox="1"/>
          <p:nvPr/>
        </p:nvSpPr>
        <p:spPr>
          <a:xfrm>
            <a:off x="4291012" y="152400"/>
            <a:ext cx="4548187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AGREGADO Y PRODUCTO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Shape 132"/>
          <p:cNvSpPr txBox="1"/>
          <p:nvPr/>
        </p:nvSpPr>
        <p:spPr>
          <a:xfrm>
            <a:off x="228600" y="1295400"/>
            <a:ext cx="8618536" cy="5264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Shape 133"/>
          <p:cNvSpPr txBox="1"/>
          <p:nvPr/>
        </p:nvSpPr>
        <p:spPr>
          <a:xfrm>
            <a:off x="2362200" y="2133600"/>
            <a:ext cx="1600199" cy="5333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PRIMER SECTOR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2362200" y="3048000"/>
            <a:ext cx="1904999" cy="5333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SECTOR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2362200" y="3962400"/>
            <a:ext cx="1600199" cy="533399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TERCER SECTOR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2438400" y="5257800"/>
            <a:ext cx="1600199" cy="533399"/>
          </a:xfrm>
          <a:prstGeom prst="rect">
            <a:avLst/>
          </a:prstGeom>
          <a:solidFill>
            <a:srgbClr val="339966">
              <a:alpha val="80000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CUARTO SECTOR</a:t>
            </a:r>
          </a:p>
        </p:txBody>
      </p:sp>
      <p:sp>
        <p:nvSpPr>
          <p:cNvPr id="137" name="Shape 137"/>
          <p:cNvSpPr/>
          <p:nvPr/>
        </p:nvSpPr>
        <p:spPr>
          <a:xfrm>
            <a:off x="1219200" y="2286000"/>
            <a:ext cx="4500561" cy="990599"/>
          </a:xfrm>
          <a:custGeom>
            <a:pathLst>
              <a:path extrusionOk="0" h="120000" w="120000">
                <a:moveTo>
                  <a:pt x="118391" y="0"/>
                </a:moveTo>
                <a:cubicBezTo>
                  <a:pt x="117544" y="11730"/>
                  <a:pt x="120000" y="58461"/>
                  <a:pt x="113312" y="70384"/>
                </a:cubicBezTo>
                <a:cubicBezTo>
                  <a:pt x="106624" y="82307"/>
                  <a:pt x="87661" y="71153"/>
                  <a:pt x="78264" y="71538"/>
                </a:cubicBezTo>
                <a:cubicBezTo>
                  <a:pt x="68867" y="71923"/>
                  <a:pt x="63280" y="72500"/>
                  <a:pt x="56931" y="72692"/>
                </a:cubicBezTo>
                <a:cubicBezTo>
                  <a:pt x="50582" y="72884"/>
                  <a:pt x="47576" y="72500"/>
                  <a:pt x="40169" y="72692"/>
                </a:cubicBezTo>
                <a:cubicBezTo>
                  <a:pt x="32761" y="72884"/>
                  <a:pt x="18793" y="72692"/>
                  <a:pt x="12486" y="73846"/>
                </a:cubicBezTo>
                <a:cubicBezTo>
                  <a:pt x="6179" y="75000"/>
                  <a:pt x="4021" y="72500"/>
                  <a:pt x="2328" y="79230"/>
                </a:cubicBezTo>
                <a:cubicBezTo>
                  <a:pt x="634" y="85961"/>
                  <a:pt x="0" y="108461"/>
                  <a:pt x="2328" y="114230"/>
                </a:cubicBezTo>
                <a:cubicBezTo>
                  <a:pt x="4656" y="120000"/>
                  <a:pt x="11682" y="115192"/>
                  <a:pt x="16296" y="114230"/>
                </a:cubicBezTo>
                <a:cubicBezTo>
                  <a:pt x="20910" y="113269"/>
                  <a:pt x="27132" y="109615"/>
                  <a:pt x="30010" y="108461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1905000" y="3454400"/>
            <a:ext cx="2654299" cy="738187"/>
          </a:xfrm>
          <a:custGeom>
            <a:pathLst>
              <a:path extrusionOk="0" h="120000" w="120000">
                <a:moveTo>
                  <a:pt x="107224" y="2064"/>
                </a:moveTo>
                <a:cubicBezTo>
                  <a:pt x="109019" y="2838"/>
                  <a:pt x="116339" y="0"/>
                  <a:pt x="117990" y="6709"/>
                </a:cubicBezTo>
                <a:cubicBezTo>
                  <a:pt x="119641" y="13419"/>
                  <a:pt x="119999" y="35096"/>
                  <a:pt x="117129" y="42322"/>
                </a:cubicBezTo>
                <a:cubicBezTo>
                  <a:pt x="114258" y="49548"/>
                  <a:pt x="109019" y="47225"/>
                  <a:pt x="100765" y="50064"/>
                </a:cubicBezTo>
                <a:cubicBezTo>
                  <a:pt x="92511" y="52903"/>
                  <a:pt x="77655" y="57290"/>
                  <a:pt x="67392" y="59096"/>
                </a:cubicBezTo>
                <a:cubicBezTo>
                  <a:pt x="57129" y="60903"/>
                  <a:pt x="48947" y="60129"/>
                  <a:pt x="38971" y="60645"/>
                </a:cubicBezTo>
                <a:cubicBezTo>
                  <a:pt x="28995" y="61161"/>
                  <a:pt x="13636" y="56000"/>
                  <a:pt x="7535" y="62709"/>
                </a:cubicBezTo>
                <a:cubicBezTo>
                  <a:pt x="1435" y="69419"/>
                  <a:pt x="0" y="91870"/>
                  <a:pt x="2224" y="101419"/>
                </a:cubicBezTo>
                <a:cubicBezTo>
                  <a:pt x="4449" y="110967"/>
                  <a:pt x="17009" y="116129"/>
                  <a:pt x="20885" y="1200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Shape 139"/>
          <p:cNvCxnSpPr/>
          <p:nvPr/>
        </p:nvCxnSpPr>
        <p:spPr>
          <a:xfrm>
            <a:off x="3962400" y="4191000"/>
            <a:ext cx="2971799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cxnSp>
        <p:nvCxnSpPr>
          <p:cNvPr id="140" name="Shape 140"/>
          <p:cNvCxnSpPr/>
          <p:nvPr/>
        </p:nvCxnSpPr>
        <p:spPr>
          <a:xfrm>
            <a:off x="4038600" y="5486400"/>
            <a:ext cx="2895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141" name="Shape 141"/>
          <p:cNvSpPr txBox="1"/>
          <p:nvPr/>
        </p:nvSpPr>
        <p:spPr>
          <a:xfrm>
            <a:off x="6934200" y="3962400"/>
            <a:ext cx="914400" cy="457200"/>
          </a:xfrm>
          <a:prstGeom prst="rect">
            <a:avLst/>
          </a:prstGeom>
          <a:solidFill>
            <a:srgbClr val="0000FF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6934200" y="5257800"/>
            <a:ext cx="1066799" cy="457200"/>
          </a:xfrm>
          <a:prstGeom prst="rect">
            <a:avLst/>
          </a:prstGeom>
          <a:solidFill>
            <a:srgbClr val="0000FF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INVERSIÓN</a:t>
            </a:r>
          </a:p>
        </p:txBody>
      </p:sp>
      <p:sp>
        <p:nvSpPr>
          <p:cNvPr id="143" name="Shape 143"/>
          <p:cNvSpPr/>
          <p:nvPr/>
        </p:nvSpPr>
        <p:spPr>
          <a:xfrm>
            <a:off x="3962400" y="2286000"/>
            <a:ext cx="3524249" cy="9524"/>
          </a:xfrm>
          <a:custGeom>
            <a:pathLst>
              <a:path extrusionOk="0" h="120000" w="120000">
                <a:moveTo>
                  <a:pt x="0" y="120000"/>
                </a:moveTo>
                <a:lnTo>
                  <a:pt x="120000" y="0"/>
                </a:ln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4876800" y="2276475"/>
            <a:ext cx="2251075" cy="1914525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4146" y="116915"/>
                  <a:pt x="13794" y="104776"/>
                  <a:pt x="24880" y="100895"/>
                </a:cubicBezTo>
                <a:cubicBezTo>
                  <a:pt x="35966" y="97014"/>
                  <a:pt x="53991" y="99502"/>
                  <a:pt x="66516" y="96716"/>
                </a:cubicBezTo>
                <a:cubicBezTo>
                  <a:pt x="79040" y="93930"/>
                  <a:pt x="91565" y="88855"/>
                  <a:pt x="100028" y="84179"/>
                </a:cubicBezTo>
                <a:cubicBezTo>
                  <a:pt x="108490" y="79502"/>
                  <a:pt x="114583" y="77014"/>
                  <a:pt x="117291" y="68656"/>
                </a:cubicBezTo>
                <a:cubicBezTo>
                  <a:pt x="120000" y="60298"/>
                  <a:pt x="116022" y="45472"/>
                  <a:pt x="116276" y="34029"/>
                </a:cubicBezTo>
                <a:cubicBezTo>
                  <a:pt x="116530" y="22587"/>
                  <a:pt x="118307" y="7064"/>
                  <a:pt x="118815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4267200" y="2286000"/>
            <a:ext cx="2752725" cy="800099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6228" y="119761"/>
                  <a:pt x="25882" y="119761"/>
                  <a:pt x="37370" y="118571"/>
                </a:cubicBezTo>
                <a:cubicBezTo>
                  <a:pt x="48858" y="117380"/>
                  <a:pt x="57993" y="116190"/>
                  <a:pt x="68927" y="112857"/>
                </a:cubicBezTo>
                <a:cubicBezTo>
                  <a:pt x="79861" y="109523"/>
                  <a:pt x="95017" y="107380"/>
                  <a:pt x="102975" y="98571"/>
                </a:cubicBezTo>
                <a:cubicBezTo>
                  <a:pt x="110934" y="89761"/>
                  <a:pt x="113840" y="76428"/>
                  <a:pt x="116678" y="60000"/>
                </a:cubicBezTo>
                <a:cubicBezTo>
                  <a:pt x="119515" y="43571"/>
                  <a:pt x="119307" y="12380"/>
                  <a:pt x="1200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7467600" y="2057400"/>
            <a:ext cx="1447800" cy="457200"/>
          </a:xfrm>
          <a:prstGeom prst="rect">
            <a:avLst/>
          </a:prstGeom>
          <a:solidFill>
            <a:schemeClr val="hlink">
              <a:alpha val="49803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EXPORTACIONES</a:t>
            </a:r>
          </a:p>
        </p:txBody>
      </p:sp>
      <p:sp>
        <p:nvSpPr>
          <p:cNvPr id="147" name="Shape 147"/>
          <p:cNvSpPr/>
          <p:nvPr/>
        </p:nvSpPr>
        <p:spPr>
          <a:xfrm>
            <a:off x="533400" y="1895475"/>
            <a:ext cx="1857375" cy="2606674"/>
          </a:xfrm>
          <a:custGeom>
            <a:pathLst>
              <a:path extrusionOk="0" h="120000" w="120000">
                <a:moveTo>
                  <a:pt x="2461" y="0"/>
                </a:moveTo>
                <a:cubicBezTo>
                  <a:pt x="2461" y="4311"/>
                  <a:pt x="2564" y="11619"/>
                  <a:pt x="2461" y="25870"/>
                </a:cubicBezTo>
                <a:cubicBezTo>
                  <a:pt x="2358" y="40121"/>
                  <a:pt x="0" y="70742"/>
                  <a:pt x="1846" y="85505"/>
                </a:cubicBezTo>
                <a:cubicBezTo>
                  <a:pt x="3692" y="100267"/>
                  <a:pt x="2871" y="108891"/>
                  <a:pt x="13538" y="114445"/>
                </a:cubicBezTo>
                <a:cubicBezTo>
                  <a:pt x="24205" y="120000"/>
                  <a:pt x="48102" y="118099"/>
                  <a:pt x="65846" y="118830"/>
                </a:cubicBezTo>
                <a:cubicBezTo>
                  <a:pt x="83589" y="119561"/>
                  <a:pt x="108717" y="118830"/>
                  <a:pt x="120000" y="11883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685800" y="1905000"/>
            <a:ext cx="1695450" cy="154940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449" y="9467"/>
                  <a:pt x="449" y="38483"/>
                  <a:pt x="2696" y="56803"/>
                </a:cubicBezTo>
                <a:cubicBezTo>
                  <a:pt x="4943" y="75122"/>
                  <a:pt x="4157" y="99836"/>
                  <a:pt x="13483" y="109918"/>
                </a:cubicBezTo>
                <a:cubicBezTo>
                  <a:pt x="22808" y="120000"/>
                  <a:pt x="40898" y="116680"/>
                  <a:pt x="58651" y="117295"/>
                </a:cubicBezTo>
                <a:cubicBezTo>
                  <a:pt x="76404" y="117909"/>
                  <a:pt x="107191" y="114344"/>
                  <a:pt x="120000" y="11360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2133600" y="2286000"/>
            <a:ext cx="269874" cy="19049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9058" y="10000"/>
                  <a:pt x="95294" y="100000"/>
                  <a:pt x="120000" y="1200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228600" y="1371600"/>
            <a:ext cx="1295400" cy="533399"/>
          </a:xfrm>
          <a:prstGeom prst="rect">
            <a:avLst/>
          </a:prstGeom>
          <a:solidFill>
            <a:schemeClr val="hlink">
              <a:alpha val="49803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IMPORTACIONES</a:t>
            </a:r>
          </a:p>
        </p:txBody>
      </p:sp>
      <p:sp>
        <p:nvSpPr>
          <p:cNvPr id="151" name="Shape 151"/>
          <p:cNvSpPr/>
          <p:nvPr/>
        </p:nvSpPr>
        <p:spPr>
          <a:xfrm>
            <a:off x="352425" y="1905000"/>
            <a:ext cx="2127249" cy="3635374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79" y="1991"/>
                  <a:pt x="626" y="7021"/>
                  <a:pt x="1074" y="11947"/>
                </a:cubicBezTo>
                <a:cubicBezTo>
                  <a:pt x="1522" y="16873"/>
                  <a:pt x="2149" y="21117"/>
                  <a:pt x="2686" y="29554"/>
                </a:cubicBezTo>
                <a:cubicBezTo>
                  <a:pt x="3223" y="37991"/>
                  <a:pt x="3492" y="52192"/>
                  <a:pt x="4298" y="62567"/>
                </a:cubicBezTo>
                <a:cubicBezTo>
                  <a:pt x="5104" y="72943"/>
                  <a:pt x="5552" y="84471"/>
                  <a:pt x="7522" y="91807"/>
                </a:cubicBezTo>
                <a:cubicBezTo>
                  <a:pt x="9492" y="99144"/>
                  <a:pt x="11283" y="102497"/>
                  <a:pt x="16119" y="106585"/>
                </a:cubicBezTo>
                <a:cubicBezTo>
                  <a:pt x="20955" y="110672"/>
                  <a:pt x="27402" y="114183"/>
                  <a:pt x="36537" y="116331"/>
                </a:cubicBezTo>
                <a:cubicBezTo>
                  <a:pt x="45671" y="118480"/>
                  <a:pt x="57223" y="118951"/>
                  <a:pt x="71104" y="119475"/>
                </a:cubicBezTo>
                <a:cubicBezTo>
                  <a:pt x="84985" y="120000"/>
                  <a:pt x="109791" y="119475"/>
                  <a:pt x="120000" y="11947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1143000" y="2057400"/>
            <a:ext cx="990599" cy="457200"/>
          </a:xfrm>
          <a:prstGeom prst="rect">
            <a:avLst/>
          </a:prstGeom>
          <a:solidFill>
            <a:srgbClr val="66FF33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INICIALES</a:t>
            </a:r>
          </a:p>
        </p:txBody>
      </p:sp>
      <p:sp>
        <p:nvSpPr>
          <p:cNvPr id="153" name="Shape 153"/>
          <p:cNvSpPr/>
          <p:nvPr/>
        </p:nvSpPr>
        <p:spPr>
          <a:xfrm>
            <a:off x="762000" y="1905000"/>
            <a:ext cx="1609725" cy="709612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591" y="9395"/>
                  <a:pt x="473" y="39463"/>
                  <a:pt x="3550" y="56375"/>
                </a:cubicBezTo>
                <a:cubicBezTo>
                  <a:pt x="6627" y="73288"/>
                  <a:pt x="8402" y="91275"/>
                  <a:pt x="18461" y="101476"/>
                </a:cubicBezTo>
                <a:cubicBezTo>
                  <a:pt x="28520" y="111677"/>
                  <a:pt x="46982" y="115167"/>
                  <a:pt x="63905" y="117583"/>
                </a:cubicBezTo>
                <a:cubicBezTo>
                  <a:pt x="80828" y="120000"/>
                  <a:pt x="108284" y="116241"/>
                  <a:pt x="120000" y="115973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762000" y="3581400"/>
            <a:ext cx="990599" cy="457200"/>
          </a:xfrm>
          <a:prstGeom prst="rect">
            <a:avLst/>
          </a:prstGeom>
          <a:solidFill>
            <a:srgbClr val="66FF33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INICIALES</a:t>
            </a:r>
          </a:p>
        </p:txBody>
      </p:sp>
      <p:sp>
        <p:nvSpPr>
          <p:cNvPr id="155" name="Shape 155"/>
          <p:cNvSpPr/>
          <p:nvPr/>
        </p:nvSpPr>
        <p:spPr>
          <a:xfrm>
            <a:off x="1752600" y="3505200"/>
            <a:ext cx="609599" cy="171449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9375" y="113333"/>
                  <a:pt x="36250" y="100000"/>
                  <a:pt x="56250" y="80000"/>
                </a:cubicBezTo>
                <a:cubicBezTo>
                  <a:pt x="76250" y="60000"/>
                  <a:pt x="106875" y="16666"/>
                  <a:pt x="1200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990600" y="4038600"/>
            <a:ext cx="1371599" cy="276224"/>
          </a:xfrm>
          <a:custGeom>
            <a:pathLst>
              <a:path extrusionOk="0" h="120000" w="120000">
                <a:moveTo>
                  <a:pt x="120000" y="107586"/>
                </a:moveTo>
                <a:cubicBezTo>
                  <a:pt x="111944" y="108965"/>
                  <a:pt x="86111" y="120000"/>
                  <a:pt x="71666" y="115862"/>
                </a:cubicBezTo>
                <a:cubicBezTo>
                  <a:pt x="57222" y="111724"/>
                  <a:pt x="45277" y="102068"/>
                  <a:pt x="33333" y="82758"/>
                </a:cubicBezTo>
                <a:cubicBezTo>
                  <a:pt x="21388" y="63448"/>
                  <a:pt x="6944" y="17241"/>
                  <a:pt x="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838200" y="4724400"/>
            <a:ext cx="990599" cy="457200"/>
          </a:xfrm>
          <a:prstGeom prst="rect">
            <a:avLst/>
          </a:prstGeom>
          <a:solidFill>
            <a:srgbClr val="66FF33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INICIALES</a:t>
            </a:r>
          </a:p>
        </p:txBody>
      </p:sp>
      <p:sp>
        <p:nvSpPr>
          <p:cNvPr id="158" name="Shape 158"/>
          <p:cNvSpPr/>
          <p:nvPr/>
        </p:nvSpPr>
        <p:spPr>
          <a:xfrm>
            <a:off x="1828800" y="5029200"/>
            <a:ext cx="654050" cy="304799"/>
          </a:xfrm>
          <a:custGeom>
            <a:pathLst>
              <a:path extrusionOk="0" h="120000" w="120000">
                <a:moveTo>
                  <a:pt x="0" y="8125"/>
                </a:moveTo>
                <a:cubicBezTo>
                  <a:pt x="5825" y="9375"/>
                  <a:pt x="25339" y="0"/>
                  <a:pt x="34951" y="15625"/>
                </a:cubicBezTo>
                <a:cubicBezTo>
                  <a:pt x="44563" y="31250"/>
                  <a:pt x="43398" y="84375"/>
                  <a:pt x="57669" y="101875"/>
                </a:cubicBezTo>
                <a:cubicBezTo>
                  <a:pt x="71941" y="119375"/>
                  <a:pt x="107184" y="116250"/>
                  <a:pt x="120000" y="1200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Shape 159"/>
          <p:cNvSpPr txBox="1"/>
          <p:nvPr/>
        </p:nvSpPr>
        <p:spPr>
          <a:xfrm>
            <a:off x="5049837" y="2663825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180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5819775" y="2054225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5791200" y="1600200"/>
            <a:ext cx="990599" cy="457200"/>
          </a:xfrm>
          <a:prstGeom prst="rect">
            <a:avLst/>
          </a:prstGeom>
          <a:solidFill>
            <a:srgbClr val="FF0000">
              <a:alpha val="74901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FINALES</a:t>
            </a:r>
          </a:p>
        </p:txBody>
      </p:sp>
      <p:sp>
        <p:nvSpPr>
          <p:cNvPr id="162" name="Shape 162"/>
          <p:cNvSpPr/>
          <p:nvPr/>
        </p:nvSpPr>
        <p:spPr>
          <a:xfrm>
            <a:off x="4940300" y="1981200"/>
            <a:ext cx="850899" cy="285750"/>
          </a:xfrm>
          <a:custGeom>
            <a:pathLst>
              <a:path extrusionOk="0" h="120000" w="120000">
                <a:moveTo>
                  <a:pt x="4477" y="120000"/>
                </a:moveTo>
                <a:cubicBezTo>
                  <a:pt x="6940" y="104000"/>
                  <a:pt x="0" y="44000"/>
                  <a:pt x="19253" y="24000"/>
                </a:cubicBezTo>
                <a:cubicBezTo>
                  <a:pt x="38507" y="4000"/>
                  <a:pt x="98955" y="5333"/>
                  <a:pt x="1200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Shape 163"/>
          <p:cNvSpPr txBox="1"/>
          <p:nvPr/>
        </p:nvSpPr>
        <p:spPr>
          <a:xfrm>
            <a:off x="4913312" y="1782761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5562600" y="3124200"/>
            <a:ext cx="990599" cy="457200"/>
          </a:xfrm>
          <a:prstGeom prst="rect">
            <a:avLst/>
          </a:prstGeom>
          <a:solidFill>
            <a:srgbClr val="FF0000">
              <a:alpha val="6862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FINALES</a:t>
            </a:r>
          </a:p>
        </p:txBody>
      </p:sp>
      <p:sp>
        <p:nvSpPr>
          <p:cNvPr id="165" name="Shape 165"/>
          <p:cNvSpPr/>
          <p:nvPr/>
        </p:nvSpPr>
        <p:spPr>
          <a:xfrm>
            <a:off x="4267200" y="3352800"/>
            <a:ext cx="1295400" cy="39687"/>
          </a:xfrm>
          <a:custGeom>
            <a:pathLst>
              <a:path extrusionOk="0" h="120000" w="120000">
                <a:moveTo>
                  <a:pt x="0" y="91200"/>
                </a:moveTo>
                <a:cubicBezTo>
                  <a:pt x="8970" y="76800"/>
                  <a:pt x="33823" y="0"/>
                  <a:pt x="53823" y="4800"/>
                </a:cubicBezTo>
                <a:cubicBezTo>
                  <a:pt x="73823" y="9600"/>
                  <a:pt x="106176" y="96000"/>
                  <a:pt x="120000" y="12000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3962400" y="3581400"/>
            <a:ext cx="1590674" cy="542925"/>
          </a:xfrm>
          <a:custGeom>
            <a:pathLst>
              <a:path extrusionOk="0" h="120000" w="120000">
                <a:moveTo>
                  <a:pt x="0" y="113684"/>
                </a:moveTo>
                <a:cubicBezTo>
                  <a:pt x="8263" y="112631"/>
                  <a:pt x="36526" y="120000"/>
                  <a:pt x="49580" y="107368"/>
                </a:cubicBezTo>
                <a:cubicBezTo>
                  <a:pt x="62634" y="94736"/>
                  <a:pt x="66586" y="55789"/>
                  <a:pt x="78323" y="37894"/>
                </a:cubicBezTo>
                <a:cubicBezTo>
                  <a:pt x="90059" y="20000"/>
                  <a:pt x="111377" y="7719"/>
                  <a:pt x="1200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Shape 167"/>
          <p:cNvSpPr txBox="1"/>
          <p:nvPr/>
        </p:nvSpPr>
        <p:spPr>
          <a:xfrm>
            <a:off x="3886200" y="3535362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00808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6376987" y="2663825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150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5029200" y="3154361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x="6324600" y="3973512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570</a:t>
            </a:r>
          </a:p>
        </p:txBody>
      </p:sp>
      <p:sp>
        <p:nvSpPr>
          <p:cNvPr id="171" name="Shape 171"/>
          <p:cNvSpPr txBox="1"/>
          <p:nvPr/>
        </p:nvSpPr>
        <p:spPr>
          <a:xfrm>
            <a:off x="5751512" y="3611562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72" name="Shape 172"/>
          <p:cNvSpPr txBox="1"/>
          <p:nvPr/>
        </p:nvSpPr>
        <p:spPr>
          <a:xfrm>
            <a:off x="4343400" y="3810000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6345237" y="5257800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5791200" y="5638800"/>
            <a:ext cx="990599" cy="457200"/>
          </a:xfrm>
          <a:prstGeom prst="rect">
            <a:avLst/>
          </a:prstGeom>
          <a:solidFill>
            <a:srgbClr val="FF0000">
              <a:alpha val="74901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FINALES</a:t>
            </a:r>
          </a:p>
        </p:txBody>
      </p:sp>
      <p:sp>
        <p:nvSpPr>
          <p:cNvPr id="175" name="Shape 175"/>
          <p:cNvSpPr/>
          <p:nvPr/>
        </p:nvSpPr>
        <p:spPr>
          <a:xfrm>
            <a:off x="4048125" y="5605462"/>
            <a:ext cx="1743075" cy="300036"/>
          </a:xfrm>
          <a:custGeom>
            <a:pathLst>
              <a:path extrusionOk="0" h="120000" w="120000">
                <a:moveTo>
                  <a:pt x="0" y="5714"/>
                </a:moveTo>
                <a:cubicBezTo>
                  <a:pt x="6557" y="7619"/>
                  <a:pt x="25573" y="0"/>
                  <a:pt x="39344" y="17142"/>
                </a:cubicBezTo>
                <a:cubicBezTo>
                  <a:pt x="53114" y="34285"/>
                  <a:pt x="69180" y="97142"/>
                  <a:pt x="82622" y="108571"/>
                </a:cubicBezTo>
                <a:cubicBezTo>
                  <a:pt x="96065" y="120000"/>
                  <a:pt x="112240" y="90158"/>
                  <a:pt x="120000" y="8571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5446712" y="5638800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77" name="Shape 177"/>
          <p:cNvSpPr/>
          <p:nvPr/>
        </p:nvSpPr>
        <p:spPr>
          <a:xfrm>
            <a:off x="5943600" y="2276475"/>
            <a:ext cx="2116137" cy="3219450"/>
          </a:xfrm>
          <a:custGeom>
            <a:pathLst>
              <a:path extrusionOk="0" h="120000" w="120000">
                <a:moveTo>
                  <a:pt x="0" y="120000"/>
                </a:moveTo>
                <a:cubicBezTo>
                  <a:pt x="2880" y="118343"/>
                  <a:pt x="5401" y="112603"/>
                  <a:pt x="17284" y="110059"/>
                </a:cubicBezTo>
                <a:cubicBezTo>
                  <a:pt x="29167" y="107514"/>
                  <a:pt x="57704" y="106331"/>
                  <a:pt x="71297" y="104733"/>
                </a:cubicBezTo>
                <a:cubicBezTo>
                  <a:pt x="84891" y="103136"/>
                  <a:pt x="91552" y="103372"/>
                  <a:pt x="98844" y="100473"/>
                </a:cubicBezTo>
                <a:cubicBezTo>
                  <a:pt x="106136" y="97573"/>
                  <a:pt x="112438" y="93964"/>
                  <a:pt x="115048" y="87337"/>
                </a:cubicBezTo>
                <a:cubicBezTo>
                  <a:pt x="117659" y="80710"/>
                  <a:pt x="120000" y="70177"/>
                  <a:pt x="114508" y="60710"/>
                </a:cubicBezTo>
                <a:cubicBezTo>
                  <a:pt x="109017" y="51242"/>
                  <a:pt x="88942" y="40650"/>
                  <a:pt x="82100" y="30532"/>
                </a:cubicBezTo>
                <a:cubicBezTo>
                  <a:pt x="75258" y="20414"/>
                  <a:pt x="75258" y="6331"/>
                  <a:pt x="73458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Shape 178"/>
          <p:cNvSpPr txBox="1"/>
          <p:nvPr/>
        </p:nvSpPr>
        <p:spPr>
          <a:xfrm>
            <a:off x="6629400" y="4876800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79" name="Shape 179"/>
          <p:cNvSpPr txBox="1"/>
          <p:nvPr/>
        </p:nvSpPr>
        <p:spPr>
          <a:xfrm>
            <a:off x="2438400" y="6248400"/>
            <a:ext cx="1600199" cy="381000"/>
          </a:xfrm>
          <a:prstGeom prst="rect">
            <a:avLst/>
          </a:prstGeom>
          <a:solidFill>
            <a:srgbClr val="993366">
              <a:alpha val="60000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6934200" y="6248400"/>
            <a:ext cx="1371599" cy="381000"/>
          </a:xfrm>
          <a:prstGeom prst="rect">
            <a:avLst/>
          </a:prstGeom>
          <a:solidFill>
            <a:srgbClr val="0000FF">
              <a:alpha val="4980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 PUBLICO</a:t>
            </a:r>
          </a:p>
        </p:txBody>
      </p:sp>
      <p:cxnSp>
        <p:nvCxnSpPr>
          <p:cNvPr id="181" name="Shape 181"/>
          <p:cNvCxnSpPr/>
          <p:nvPr/>
        </p:nvCxnSpPr>
        <p:spPr>
          <a:xfrm>
            <a:off x="4038600" y="6400800"/>
            <a:ext cx="2895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stealth"/>
          </a:ln>
        </p:spPr>
      </p:cxnSp>
      <p:sp>
        <p:nvSpPr>
          <p:cNvPr id="182" name="Shape 182"/>
          <p:cNvSpPr/>
          <p:nvPr/>
        </p:nvSpPr>
        <p:spPr>
          <a:xfrm>
            <a:off x="1371600" y="5791200"/>
            <a:ext cx="1066799" cy="609599"/>
          </a:xfrm>
          <a:custGeom>
            <a:pathLst>
              <a:path extrusionOk="0" h="120000" w="120000">
                <a:moveTo>
                  <a:pt x="0" y="3501"/>
                </a:moveTo>
                <a:cubicBezTo>
                  <a:pt x="8980" y="5729"/>
                  <a:pt x="40700" y="0"/>
                  <a:pt x="53885" y="16870"/>
                </a:cubicBezTo>
                <a:cubicBezTo>
                  <a:pt x="67070" y="33740"/>
                  <a:pt x="68025" y="88169"/>
                  <a:pt x="79108" y="104084"/>
                </a:cubicBezTo>
                <a:cubicBezTo>
                  <a:pt x="90191" y="120000"/>
                  <a:pt x="111592" y="111405"/>
                  <a:pt x="120000" y="11331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1371600" y="6284912"/>
            <a:ext cx="1066799" cy="268286"/>
          </a:xfrm>
          <a:custGeom>
            <a:pathLst>
              <a:path extrusionOk="0" h="120000" w="120000">
                <a:moveTo>
                  <a:pt x="120000" y="105798"/>
                </a:moveTo>
                <a:cubicBezTo>
                  <a:pt x="108967" y="105798"/>
                  <a:pt x="66704" y="120000"/>
                  <a:pt x="52786" y="105088"/>
                </a:cubicBezTo>
                <a:cubicBezTo>
                  <a:pt x="38868" y="90177"/>
                  <a:pt x="45487" y="29822"/>
                  <a:pt x="36661" y="14911"/>
                </a:cubicBezTo>
                <a:cubicBezTo>
                  <a:pt x="27666" y="0"/>
                  <a:pt x="7468" y="14911"/>
                  <a:pt x="0" y="14201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152400" y="5715000"/>
            <a:ext cx="1219199" cy="304799"/>
          </a:xfrm>
          <a:prstGeom prst="rect">
            <a:avLst/>
          </a:prstGeom>
          <a:solidFill>
            <a:srgbClr val="C0C0C0">
              <a:alpha val="36862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IMPUESTOS</a:t>
            </a:r>
          </a:p>
        </p:txBody>
      </p:sp>
      <p:sp>
        <p:nvSpPr>
          <p:cNvPr id="185" name="Shape 185"/>
          <p:cNvSpPr txBox="1"/>
          <p:nvPr/>
        </p:nvSpPr>
        <p:spPr>
          <a:xfrm>
            <a:off x="152400" y="6096000"/>
            <a:ext cx="1219199" cy="304799"/>
          </a:xfrm>
          <a:prstGeom prst="rect">
            <a:avLst/>
          </a:prstGeom>
          <a:solidFill>
            <a:srgbClr val="C0C0C0">
              <a:alpha val="45882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SUBSIDIOS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x="6421437" y="6183312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500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2143125" y="1901825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1533525" y="4049712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1762125" y="3382962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1905000" y="4830762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91" name="Shape 191"/>
          <p:cNvSpPr txBox="1"/>
          <p:nvPr/>
        </p:nvSpPr>
        <p:spPr>
          <a:xfrm>
            <a:off x="714375" y="2054225"/>
            <a:ext cx="352425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192" name="Shape 192"/>
          <p:cNvSpPr txBox="1"/>
          <p:nvPr/>
        </p:nvSpPr>
        <p:spPr>
          <a:xfrm>
            <a:off x="846137" y="2968625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646112" y="4144962"/>
            <a:ext cx="268286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94" name="Shape 194"/>
          <p:cNvSpPr txBox="1"/>
          <p:nvPr/>
        </p:nvSpPr>
        <p:spPr>
          <a:xfrm>
            <a:off x="1011237" y="5257800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</a:t>
            </a:r>
          </a:p>
        </p:txBody>
      </p:sp>
      <p:sp>
        <p:nvSpPr>
          <p:cNvPr id="195" name="Shape 195"/>
          <p:cNvSpPr/>
          <p:nvPr/>
        </p:nvSpPr>
        <p:spPr>
          <a:xfrm>
            <a:off x="8382000" y="5562600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Shape 196"/>
          <p:cNvSpPr txBox="1"/>
          <p:nvPr/>
        </p:nvSpPr>
        <p:spPr>
          <a:xfrm>
            <a:off x="1925636" y="6049962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676400" y="6202362"/>
            <a:ext cx="436562" cy="27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Shape 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Shape 2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Shape 2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Shape 205"/>
          <p:cNvSpPr txBox="1"/>
          <p:nvPr/>
        </p:nvSpPr>
        <p:spPr>
          <a:xfrm>
            <a:off x="3733800" y="168275"/>
            <a:ext cx="48006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 A PRECIOS CORRIENTES</a:t>
            </a:r>
          </a:p>
        </p:txBody>
      </p:sp>
      <p:sp>
        <p:nvSpPr>
          <p:cNvPr id="206" name="Shape 206"/>
          <p:cNvSpPr txBox="1"/>
          <p:nvPr/>
        </p:nvSpPr>
        <p:spPr>
          <a:xfrm>
            <a:off x="304800" y="1600200"/>
            <a:ext cx="8569325" cy="1739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PIB es el 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monetario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los 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bienes y servicios finales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producidos por una economía en 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 período determinado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medido 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precios de mercado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Producto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refiere a </a:t>
            </a: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Valor Agregado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Interior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refiere a la producción </a:t>
            </a: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dentro de las fronteras de una economía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Bruto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refiere a que no se contabilizan las </a:t>
            </a: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depreciaciones de capital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81000" y="3352800"/>
            <a:ext cx="5606999" cy="36659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AGREGADA = M + PIB a precios corrientes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81000" y="3810000"/>
            <a:ext cx="4438650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DEMANDA AGREGADA = C + I + GP + X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81000" y="4267200"/>
            <a:ext cx="6762750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EXISTENCIAS INICIALES + OA - DA = EXISTENCIAS FINALES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381000" y="5638800"/>
            <a:ext cx="6870700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+ PIB apc – (C + I + GP + X ) = VARIACIÓN DE EXISTENCIAS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395287" y="4724400"/>
            <a:ext cx="8215312" cy="3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VARIACIÓN DE EXISTENCIAS = EXISTENCIAS FINALES – EXISTENCIAS INICIALES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381000" y="5105400"/>
            <a:ext cx="4508500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OA - DA = VARIACIÓN DE EXISTENCIAS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368300" y="6186487"/>
            <a:ext cx="6730999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C + I + GP + X – M + VARIACIÓN DE EXISTENCIAS</a:t>
            </a:r>
          </a:p>
        </p:txBody>
      </p:sp>
      <p:sp>
        <p:nvSpPr>
          <p:cNvPr id="214" name="Shape 214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Shape 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Shape 2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Shape 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Shape 222"/>
          <p:cNvSpPr txBox="1"/>
          <p:nvPr/>
        </p:nvSpPr>
        <p:spPr>
          <a:xfrm>
            <a:off x="3733800" y="168275"/>
            <a:ext cx="48006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 A PRECIOS CORRIENTES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263525" y="1509712"/>
            <a:ext cx="7453311" cy="3968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C + I + GP + X – M + VARIACIÓN DE EXISTENCIAS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304800" y="1919286"/>
            <a:ext cx="21335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Consumo = $ 570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304800" y="2376486"/>
            <a:ext cx="20954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Inversión = $ 300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304800" y="3138486"/>
            <a:ext cx="26542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Exportaciones = $ 180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292100" y="3519487"/>
            <a:ext cx="26416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Importaciones = $ 160 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317500" y="3914775"/>
            <a:ext cx="7607299" cy="119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Variación de existencias = $ Existencias Finales – $ Existencias Iniciales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          $ 60              - $ 120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Variación de existencias = - $ 60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Shape 229"/>
          <p:cNvSpPr txBox="1"/>
          <p:nvPr/>
        </p:nvSpPr>
        <p:spPr>
          <a:xfrm>
            <a:off x="304800" y="2757486"/>
            <a:ext cx="26162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= $ 500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30" name="Shape 230"/>
          <p:cNvSpPr/>
          <p:nvPr/>
        </p:nvSpPr>
        <p:spPr>
          <a:xfrm>
            <a:off x="2819400" y="3138486"/>
            <a:ext cx="152399" cy="67151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Shape 231"/>
          <p:cNvSpPr txBox="1"/>
          <p:nvPr/>
        </p:nvSpPr>
        <p:spPr>
          <a:xfrm>
            <a:off x="3022600" y="3290887"/>
            <a:ext cx="42544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Saldo de la Balanza Comercial = $ 20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685800" y="5334000"/>
            <a:ext cx="7842249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570 + 300 + 500 + 180 – 160 + (- 60) = $1330</a:t>
            </a:r>
          </a:p>
        </p:txBody>
      </p:sp>
      <p:sp>
        <p:nvSpPr>
          <p:cNvPr id="233" name="Shape 233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Shape 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Shape 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7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Shape 2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 txBox="1"/>
          <p:nvPr/>
        </p:nvSpPr>
        <p:spPr>
          <a:xfrm>
            <a:off x="3733800" y="168275"/>
            <a:ext cx="48006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 A PRECIOS CORRIENTES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263525" y="1571625"/>
            <a:ext cx="8651875" cy="27463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VA (PRIMER SECTOR) 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VA (SEGUNDO SECTOR)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VA (TERCER SECTOR)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 (CUARTO SECTOR)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 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304800" y="1919286"/>
            <a:ext cx="52577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AGREGADO PRIMER SECTOR = $ 150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304800" y="2376486"/>
            <a:ext cx="55245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AGREGADO SEGUNDO SECTOR = $ 280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304800" y="2771775"/>
            <a:ext cx="53085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AGREGADO TERCER SECTOR = $ 250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6" name="Shape 246"/>
          <p:cNvSpPr txBox="1"/>
          <p:nvPr/>
        </p:nvSpPr>
        <p:spPr>
          <a:xfrm>
            <a:off x="330200" y="3152775"/>
            <a:ext cx="53467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AGREGADO CUARTO SECTOR = $ 150 </a:t>
            </a:r>
          </a:p>
        </p:txBody>
      </p:sp>
      <p:sp>
        <p:nvSpPr>
          <p:cNvPr id="247" name="Shape 247"/>
          <p:cNvSpPr txBox="1"/>
          <p:nvPr/>
        </p:nvSpPr>
        <p:spPr>
          <a:xfrm>
            <a:off x="304800" y="3581400"/>
            <a:ext cx="26162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= $ 500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1098550" y="4495800"/>
            <a:ext cx="6691311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150 + 280 + 250 + 150 +500 = $1330</a:t>
            </a:r>
          </a:p>
        </p:txBody>
      </p:sp>
      <p:sp>
        <p:nvSpPr>
          <p:cNvPr id="249" name="Shape 249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Shape 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Shape 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Shape 2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Shape 257"/>
          <p:cNvSpPr txBox="1"/>
          <p:nvPr/>
        </p:nvSpPr>
        <p:spPr>
          <a:xfrm>
            <a:off x="3733800" y="168275"/>
            <a:ext cx="48006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 A PRECIOS CORRIENTES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263525" y="1584325"/>
            <a:ext cx="8753474" cy="24447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REMUNERACIÓN A FACTORES PRODUCTIVOS</a:t>
            </a: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GP + AMORTIZACIONES CAPITAL FIJO + IMPUESTOS INDIRECTOS - SUBSIDIOS 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304800" y="1919286"/>
            <a:ext cx="22605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SALARIOS = $ 195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304800" y="2376486"/>
            <a:ext cx="47244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 LAS EMPRESAS = $ 125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304800" y="2771775"/>
            <a:ext cx="23748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INTERESES = $ 155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330200" y="3152775"/>
            <a:ext cx="20192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RENTAS = $ 155 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304800" y="3581400"/>
            <a:ext cx="26162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Gasto Público = $ 500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1098550" y="5867400"/>
            <a:ext cx="6359524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apc = 630 + 500 + 140 + 80 - 20 = $1330</a:t>
            </a:r>
          </a:p>
        </p:txBody>
      </p:sp>
      <p:sp>
        <p:nvSpPr>
          <p:cNvPr id="265" name="Shape 265"/>
          <p:cNvSpPr/>
          <p:nvPr/>
        </p:nvSpPr>
        <p:spPr>
          <a:xfrm>
            <a:off x="4876800" y="1919286"/>
            <a:ext cx="152399" cy="16001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Shape 266"/>
          <p:cNvSpPr txBox="1"/>
          <p:nvPr/>
        </p:nvSpPr>
        <p:spPr>
          <a:xfrm>
            <a:off x="4953000" y="2392361"/>
            <a:ext cx="4076699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REMUNERACION A LOS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PRODUCTIVOS = $ 630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304800" y="3976687"/>
            <a:ext cx="50038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AMORTIZACIÓN DEL CAPITAL FIJO = $ 140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330200" y="4586287"/>
            <a:ext cx="37719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IMPUESTOS INDIRECTOS = $ 80</a:t>
            </a: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304800" y="5119687"/>
            <a:ext cx="2209799" cy="366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SUBSIDIOS = $ 20</a:t>
            </a:r>
            <a:r>
              <a:rPr b="0" i="0" lang="en-US" sz="1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70" name="Shape 270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Shape 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Shape 2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Shape 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Shape 278"/>
          <p:cNvSpPr txBox="1"/>
          <p:nvPr/>
        </p:nvSpPr>
        <p:spPr>
          <a:xfrm>
            <a:off x="3733800" y="168275"/>
            <a:ext cx="48006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 A COSTO DE FACTORES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1439862" y="1752600"/>
            <a:ext cx="5037137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 precios corrientes  = $ 1330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457200" y="4633912"/>
            <a:ext cx="8401049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 costo de factores = PIB apc – IMPUESTOS INDIRECTOS + SUBSIDIOS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441325" y="3810000"/>
            <a:ext cx="8259761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IMPUESTOS INDIRECTOS – SUBSIDIOS = 80 – 20 = $ 60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1143000" y="5562600"/>
            <a:ext cx="7223125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 costo de factores = 1330 – 80 + 20 = $1270 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441325" y="2635250"/>
            <a:ext cx="4627561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IMPUESTOS INDIRECTOS = 80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457200" y="3200400"/>
            <a:ext cx="2546349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SUBSIDIOS = 20</a:t>
            </a:r>
          </a:p>
        </p:txBody>
      </p:sp>
      <p:sp>
        <p:nvSpPr>
          <p:cNvPr id="285" name="Shape 285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Shape 2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Shape 2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Shape 2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Shape 293"/>
          <p:cNvSpPr txBox="1"/>
          <p:nvPr/>
        </p:nvSpPr>
        <p:spPr>
          <a:xfrm>
            <a:off x="3733800" y="168275"/>
            <a:ext cx="4419599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NETO A PRECIOS CORRIENTES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1439862" y="1752600"/>
            <a:ext cx="5037137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 precios corrientes  = $ 1330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609600" y="3976687"/>
            <a:ext cx="7861299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PIN a precios corrientes = PIB apc – AMORTIZACIONES CAPITAL FIJO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1066800" y="2635250"/>
            <a:ext cx="6675436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AMORTIZACIONES DEL CAPITAL FIJO = 140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1219200" y="5486400"/>
            <a:ext cx="6742112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PIN a precios corrientes = 1330 – 140 = $1190</a:t>
            </a:r>
          </a:p>
        </p:txBody>
      </p:sp>
      <p:sp>
        <p:nvSpPr>
          <p:cNvPr id="298" name="Shape 298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Shape 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Shape 3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Shape 3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Shape 306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NACIONAL BRUTO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A PRECIOS CORRIENTES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1439862" y="1752600"/>
            <a:ext cx="5037137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a precios corrientes  = $ 1330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609600" y="3976687"/>
            <a:ext cx="8248650" cy="3667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PNB a precios corrientes = PIB apc + SALDO DE LA BALANZA DE PAGOS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304800" y="2635250"/>
            <a:ext cx="4016374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GIROS DEL EXTERIOR = 5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342900" y="3276600"/>
            <a:ext cx="3983037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GIROS AL EXTERIOR = 20</a:t>
            </a:r>
          </a:p>
        </p:txBody>
      </p:sp>
      <p:sp>
        <p:nvSpPr>
          <p:cNvPr id="311" name="Shape 311"/>
          <p:cNvSpPr/>
          <p:nvPr/>
        </p:nvSpPr>
        <p:spPr>
          <a:xfrm>
            <a:off x="4648200" y="2576511"/>
            <a:ext cx="152399" cy="123348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4946650" y="2759075"/>
            <a:ext cx="3892550" cy="82232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SALDO DE LA BALANZA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 PAGOS = - $ 15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990600" y="5334000"/>
            <a:ext cx="7189787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PNB a precios corrientes = 1330 + (- 15) = $1315 </a:t>
            </a:r>
          </a:p>
        </p:txBody>
      </p:sp>
      <p:sp>
        <p:nvSpPr>
          <p:cNvPr id="314" name="Shape 314"/>
          <p:cNvSpPr/>
          <p:nvPr/>
        </p:nvSpPr>
        <p:spPr>
          <a:xfrm>
            <a:off x="8077200" y="6186487"/>
            <a:ext cx="533399" cy="442912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Shape 3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Shape 3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Shape 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Shape 322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PRODUCTO INTERIOR BRUTO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A PRECIOS CONSTANTES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342900" y="1524000"/>
            <a:ext cx="8531224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PIB a precios corrientes  = PIB NOMINAL</a:t>
            </a: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mide la producción en términos monetarios.</a:t>
            </a: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inflación puede hacer crecer el PIB nominal.</a:t>
            </a: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medir el crecimiento económico no se usa el PIB nominal, se debe usar el PIB real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381000" y="3659175"/>
            <a:ext cx="5289600" cy="6081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real = PIB a precios constantes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381000" y="4421100"/>
            <a:ext cx="6580199" cy="6081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IPI = Índice de Precios Implícitos = Deflactor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381000" y="5410200"/>
            <a:ext cx="7315200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real = PIB a precios corrientes / Deflactor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5778500" y="3352800"/>
            <a:ext cx="3289299" cy="3968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1993 desactivado en 2014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5791200" y="3875087"/>
            <a:ext cx="1427162" cy="3968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Base 2004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Shape 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Shape 3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Shape 3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" y="1524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Shape 336"/>
          <p:cNvSpPr txBox="1"/>
          <p:nvPr/>
        </p:nvSpPr>
        <p:spPr>
          <a:xfrm>
            <a:off x="3962400" y="76200"/>
            <a:ext cx="4953000" cy="793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2010 – 2014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INFORMACIÓN A PRECIOS CORRIENTES</a:t>
            </a:r>
          </a:p>
        </p:txBody>
      </p:sp>
      <p:graphicFrame>
        <p:nvGraphicFramePr>
          <p:cNvPr id="337" name="Shape 337"/>
          <p:cNvGraphicFramePr/>
          <p:nvPr/>
        </p:nvGraphicFramePr>
        <p:xfrm>
          <a:off x="76200" y="133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990600"/>
                <a:gridCol w="1219200"/>
                <a:gridCol w="990600"/>
                <a:gridCol w="1143000"/>
                <a:gridCol w="1066800"/>
                <a:gridCol w="990600"/>
                <a:gridCol w="1143000"/>
                <a:gridCol w="1524000"/>
              </a:tblGrid>
              <a:tr h="12715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MILLONES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PESOS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OFERTA AGREGADA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 hMerge="1"/>
                <a:tc gridSpan="5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 AGREGADA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  <a:tc hMerge="1"/>
              </a:tr>
              <a:tr h="1244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AÑO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PIB 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i="0" sz="200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Importaciones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Consumo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Privado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Consumo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Público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Inversión Bruta Fija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Exportaciones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existencias</a:t>
                      </a: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Discrepancia estadística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1.810.830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268.813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1.182.328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236.986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325.451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314.498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+ 20.380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1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2.312.008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370.102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1.496.309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323.401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426.852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406.074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+29.474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4397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2.765.575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379.326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1.829.259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417.136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473.530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428.119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-2.749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3.406.265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490.360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2.244.908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530.763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577.993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487.913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+55.048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5937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4.425.694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641.365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2.847.937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698.823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757.232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654.371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+108.696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Shape 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Shape 3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Shape 3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Shape 345"/>
          <p:cNvSpPr txBox="1"/>
          <p:nvPr/>
        </p:nvSpPr>
        <p:spPr>
          <a:xfrm>
            <a:off x="3268661" y="319087"/>
            <a:ext cx="5494337" cy="793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2010 – 2014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INFORMACIÓN A PRECIOS CONSTANTES 2004</a:t>
            </a:r>
          </a:p>
        </p:txBody>
      </p:sp>
      <p:graphicFrame>
        <p:nvGraphicFramePr>
          <p:cNvPr id="346" name="Shape 346"/>
          <p:cNvGraphicFramePr/>
          <p:nvPr/>
        </p:nvGraphicFramePr>
        <p:xfrm>
          <a:off x="0" y="1236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1143000"/>
                <a:gridCol w="1143000"/>
                <a:gridCol w="1066800"/>
                <a:gridCol w="1143000"/>
                <a:gridCol w="1066800"/>
                <a:gridCol w="1143000"/>
                <a:gridCol w="1066800"/>
                <a:gridCol w="1371600"/>
              </a:tblGrid>
              <a:tr h="10747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MILLONES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1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PESOS 2004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 gridSpan="2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OFERTA AGREGADA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 hMerge="1"/>
                <a:tc gridSpan="5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DEMANDA AGREGADA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 hMerge="1"/>
                <a:tc hMerge="1"/>
                <a:tc hMerge="1"/>
                <a:tc hMerge="1"/>
              </a:tr>
              <a:tr h="1300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AÑO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PIB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Importaciones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Consumo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Privado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Consumo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Público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Inversión Bruta Fija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Exportaciones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Existencias + Discrepancia estadística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5746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772.966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158.194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536.597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76.880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159.381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154.095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+4.207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61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837.791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193.896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591.541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83.656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190.306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162.773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+3.411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6921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844.508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182.036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617.256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88.597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177.049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153.589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-9.947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617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868.875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188.528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644.080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92.310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182.561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147.499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-9.047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8239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872.816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164.812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640.818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94.627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172.458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136.369 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-6.644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Shape 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Shape 3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Shape 3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Shape 354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ÍNDICE DE PRECIOS IMPLÍCITOS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304800" y="3276600"/>
            <a:ext cx="6286499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PIB NOMINAL = 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(Q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actual * P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actual)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342900" y="4724400"/>
            <a:ext cx="621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IPI = INDICE DE PRECIOS IMPLICITOS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3124200" y="4038600"/>
            <a:ext cx="5535611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PIB REAL = </a:t>
            </a:r>
            <a:r>
              <a:rPr b="1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(Q</a:t>
            </a:r>
            <a:r>
              <a:rPr b="1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actual * P</a:t>
            </a:r>
            <a:r>
              <a:rPr b="1" baseline="-2500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base)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4000500" y="5334000"/>
            <a:ext cx="4838700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IPI = PIB NOMINAL / PIB REAL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381000" y="6157912"/>
            <a:ext cx="8420099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IPI = (</a:t>
            </a:r>
            <a:r>
              <a:rPr b="1" baseline="-2500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baseline="-2500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actual * P</a:t>
            </a:r>
            <a:r>
              <a:rPr b="1" baseline="-2500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actual)</a:t>
            </a: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baseline="-2500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baseline="-2500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actual * P</a:t>
            </a:r>
            <a:r>
              <a:rPr b="1" baseline="-2500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base)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60" name="Shape 360"/>
          <p:cNvSpPr txBox="1"/>
          <p:nvPr/>
        </p:nvSpPr>
        <p:spPr>
          <a:xfrm>
            <a:off x="228600" y="1506537"/>
            <a:ext cx="8756649" cy="146526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los indicadores que pueden observarse para analizar el comportamiento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los precios, se encuentra el índice de precios implícitos (IPI), que se calcula</a:t>
            </a:r>
            <a:r>
              <a:rPr lang="en-US"/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el cociente entre el producto bruto interno (PIB) a precios corrientes y el</a:t>
            </a:r>
            <a:r>
              <a:rPr lang="en-US"/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PIB a precios constantes; esto es, a los precios vigentes en el período al cual el producto se refiere como base de precios.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Shape 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Shape 3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Shape 3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Shape 368"/>
          <p:cNvSpPr txBox="1"/>
          <p:nvPr/>
        </p:nvSpPr>
        <p:spPr>
          <a:xfrm>
            <a:off x="3192461" y="168275"/>
            <a:ext cx="549433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IPI – INFLACIÓN (Base año 1993)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2014- 2010</a:t>
            </a:r>
          </a:p>
        </p:txBody>
      </p:sp>
      <p:graphicFrame>
        <p:nvGraphicFramePr>
          <p:cNvPr id="369" name="Shape 369"/>
          <p:cNvGraphicFramePr/>
          <p:nvPr/>
        </p:nvGraphicFramePr>
        <p:xfrm>
          <a:off x="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990600"/>
                <a:gridCol w="2201850"/>
                <a:gridCol w="1982775"/>
                <a:gridCol w="2071675"/>
                <a:gridCol w="1897050"/>
              </a:tblGrid>
              <a:tr h="1492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Año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PIB</a:t>
                      </a: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precios de mercado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PIB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precios constantes 1993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IPI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Indice de Precios Implícitos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Variación del nivel de precios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2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1.810.830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422.130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15,38%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7112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2.312.008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459.571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15,69%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7112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2.765.575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468.301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16,22%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31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3.406.265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informa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informa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1138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66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rgbClr val="FF00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4.425.694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desactivó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desactivó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Shape 3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Shape 3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Shape 3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Shape 377"/>
          <p:cNvGraphicFramePr/>
          <p:nvPr/>
        </p:nvGraphicFramePr>
        <p:xfrm>
          <a:off x="0" y="1141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838200"/>
                <a:gridCol w="2057400"/>
                <a:gridCol w="2057400"/>
                <a:gridCol w="2362200"/>
                <a:gridCol w="1752600"/>
              </a:tblGrid>
              <a:tr h="13096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AÑO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PIB                              a precios constantes (2004) pagados por  el 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Comprador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PIB                                 a precios corrientes pagados por el Comprador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IPI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Indice de precios Implícitos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de precios respecto al año anterior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869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772.966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1.810.830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234,27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17,21%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92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837.791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2.312.008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275,96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17,80%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871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844.508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2.765.575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327,48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18,67%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871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868.875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3.406.265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392,03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19,71%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  <a:tr h="871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872.816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1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4.425.694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507,06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29,34%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</a:tr>
            </a:tbl>
          </a:graphicData>
        </a:graphic>
      </p:graphicFrame>
      <p:sp>
        <p:nvSpPr>
          <p:cNvPr id="378" name="Shape 378"/>
          <p:cNvSpPr txBox="1"/>
          <p:nvPr/>
        </p:nvSpPr>
        <p:spPr>
          <a:xfrm>
            <a:off x="3192461" y="168275"/>
            <a:ext cx="549433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IPI – INFLACIÓN (Base año 2004)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2014- 2010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Shape 3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Shape 3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925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Shape 3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Shape 386"/>
          <p:cNvSpPr txBox="1"/>
          <p:nvPr/>
        </p:nvSpPr>
        <p:spPr>
          <a:xfrm>
            <a:off x="3810000" y="0"/>
            <a:ext cx="4953000" cy="118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CRECIMIENTO ECONÓMICO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VARIACIÓN DEL PIB PER CÁPITA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304800" y="1600200"/>
            <a:ext cx="8569325" cy="128111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 PIB POR HABITANTE O PER CÁPITA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define como la razón entre el producto interno bruto (PIB) y la población total del país. Mide la capacidad de producir que en promedio tiene cada persona que habita el país.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304800" y="3581400"/>
            <a:ext cx="8569325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Para sacar conclusiones sobre la actualidad del sistema productivo, </a:t>
            </a: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se utiliza el PIB a precios corrientes 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304800" y="2971800"/>
            <a:ext cx="8569325" cy="5333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5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Para informar la evolución de la productividad a través de los años,</a:t>
            </a: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5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conviene utilizar el PIB real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228600" y="4495800"/>
            <a:ext cx="8659812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Para comparar la información de distintos países, tanto el Banco Mundial como el FMI</a:t>
            </a: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(Fondo Monetario Internacional) utilizan el valor en dólares ponderando el tipo de cambio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0" y="5562600"/>
            <a:ext cx="914400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VARIACIÓN PIB PER CÁPITA = (PIB PER CÁPITA</a:t>
            </a:r>
            <a:r>
              <a:rPr b="1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PIB PER CÁPITA</a:t>
            </a:r>
            <a:r>
              <a:rPr b="1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/ PIB PER CÁPITA</a:t>
            </a:r>
            <a:r>
              <a:rPr b="1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Shape 3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Shape 3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Shape 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Shape 399"/>
          <p:cNvSpPr txBox="1"/>
          <p:nvPr/>
        </p:nvSpPr>
        <p:spPr>
          <a:xfrm>
            <a:off x="3517900" y="152400"/>
            <a:ext cx="5397500" cy="793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2010 – 2014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INFORMACIÓN EN DÓLARES</a:t>
            </a:r>
          </a:p>
        </p:txBody>
      </p:sp>
      <p:graphicFrame>
        <p:nvGraphicFramePr>
          <p:cNvPr id="400" name="Shape 400"/>
          <p:cNvGraphicFramePr/>
          <p:nvPr/>
        </p:nvGraphicFramePr>
        <p:xfrm>
          <a:off x="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1549400"/>
                <a:gridCol w="2193925"/>
                <a:gridCol w="1636700"/>
                <a:gridCol w="2147875"/>
                <a:gridCol w="1616075"/>
              </a:tblGrid>
              <a:tr h="1258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Miles de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dólares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PIB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precios corrientes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cambio nominal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Población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PIB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 capita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462.374.446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3,9124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40.748.444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11,347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71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559.102.931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4,1297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41.209.585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13,567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68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606.842.844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4,5508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41.678.369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14,560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69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621.504.267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5,4758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42.145.171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14,747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871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99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400" u="none">
                          <a:solidFill>
                            <a:srgbClr val="CC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543.394.132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8,1245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42.617.809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0" i="0" lang="en-US" sz="24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12,750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Shape 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Shape 4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Shape 4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Shape 408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CRECIMIENTO ECONÓMICO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VARIACIÓN DE LA RENTA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381000" y="6019800"/>
            <a:ext cx="8474075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TASA DE VARIACIÓN DEL PIB 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(PIB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)/PIB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</a:p>
        </p:txBody>
      </p:sp>
      <p:pic>
        <p:nvPicPr>
          <p:cNvPr id="410" name="Shape 4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644900"/>
            <a:ext cx="2811461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Shape 411"/>
          <p:cNvSpPr txBox="1"/>
          <p:nvPr/>
        </p:nvSpPr>
        <p:spPr>
          <a:xfrm>
            <a:off x="330200" y="1447800"/>
            <a:ext cx="85852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aumento de la renta o valor de bienes y servicios finales producidos</a:t>
            </a: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una economía (generalmente un país o una región) en un determinado</a:t>
            </a: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período.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12" name="Shape 412"/>
          <p:cNvSpPr/>
          <p:nvPr/>
        </p:nvSpPr>
        <p:spPr>
          <a:xfrm>
            <a:off x="5867400" y="3505200"/>
            <a:ext cx="2057400" cy="17526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</a:p>
        </p:txBody>
      </p:sp>
      <p:cxnSp>
        <p:nvCxnSpPr>
          <p:cNvPr id="413" name="Shape 413"/>
          <p:cNvCxnSpPr/>
          <p:nvPr/>
        </p:nvCxnSpPr>
        <p:spPr>
          <a:xfrm flipH="1">
            <a:off x="5181600" y="4953000"/>
            <a:ext cx="1066799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Shape 4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Shape 4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2954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Shape 4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Shape 421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CRECIMIENTO ECONÓMICO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2014-2013</a:t>
            </a:r>
          </a:p>
        </p:txBody>
      </p:sp>
      <p:sp>
        <p:nvSpPr>
          <p:cNvPr id="422" name="Shape 422"/>
          <p:cNvSpPr txBox="1"/>
          <p:nvPr/>
        </p:nvSpPr>
        <p:spPr>
          <a:xfrm>
            <a:off x="457200" y="1676400"/>
            <a:ext cx="8474075" cy="457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TASA DE VARIACIÓN DEL PIB 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(PIB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 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)/PIB</a:t>
            </a:r>
            <a:r>
              <a:rPr b="1" baseline="-2500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</a:p>
        </p:txBody>
      </p:sp>
      <p:pic>
        <p:nvPicPr>
          <p:cNvPr id="423" name="Shape 4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2552700"/>
            <a:ext cx="2286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Shape 424"/>
          <p:cNvSpPr txBox="1"/>
          <p:nvPr/>
        </p:nvSpPr>
        <p:spPr>
          <a:xfrm>
            <a:off x="304800" y="5181600"/>
            <a:ext cx="8626474" cy="15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TASA DE CRECIMIENTO ECONOMICO 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(PIB 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–PIB 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2013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)/PIB 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2013</a:t>
            </a: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TCC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872.816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868.875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868.875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0,0045</a:t>
            </a: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TCC</a:t>
            </a:r>
            <a:r>
              <a:rPr b="1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0,45%</a:t>
            </a:r>
          </a:p>
        </p:txBody>
      </p:sp>
      <p:sp>
        <p:nvSpPr>
          <p:cNvPr id="425" name="Shape 425"/>
          <p:cNvSpPr/>
          <p:nvPr/>
        </p:nvSpPr>
        <p:spPr>
          <a:xfrm>
            <a:off x="4191000" y="2743200"/>
            <a:ext cx="2057400" cy="1752600"/>
          </a:xfrm>
          <a:prstGeom prst="sun">
            <a:avLst>
              <a:gd fmla="val 25000" name="adj"/>
            </a:avLst>
          </a:prstGeom>
          <a:solidFill>
            <a:srgbClr val="FFFF00">
              <a:alpha val="96862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</a:p>
        </p:txBody>
      </p:sp>
      <p:cxnSp>
        <p:nvCxnSpPr>
          <p:cNvPr id="426" name="Shape 426"/>
          <p:cNvCxnSpPr/>
          <p:nvPr/>
        </p:nvCxnSpPr>
        <p:spPr>
          <a:xfrm rot="10800000">
            <a:off x="5181600" y="2133600"/>
            <a:ext cx="0" cy="6095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Shape 4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Shape 4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Shape 4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Shape 434"/>
          <p:cNvSpPr txBox="1"/>
          <p:nvPr/>
        </p:nvSpPr>
        <p:spPr>
          <a:xfrm>
            <a:off x="3733800" y="168275"/>
            <a:ext cx="5197474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CRECIMIENTO ECONÓMICO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2013- 2010</a:t>
            </a:r>
          </a:p>
        </p:txBody>
      </p:sp>
      <p:graphicFrame>
        <p:nvGraphicFramePr>
          <p:cNvPr id="435" name="Shape 435"/>
          <p:cNvGraphicFramePr/>
          <p:nvPr/>
        </p:nvGraphicFramePr>
        <p:xfrm>
          <a:off x="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1858950"/>
                <a:gridCol w="3724275"/>
                <a:gridCol w="3560750"/>
              </a:tblGrid>
              <a:tr h="1185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millones de pesos del año 1993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PIB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precios constantes 1993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CRECIMIENTO ECONÓMICO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461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442.209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9,22%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474.415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7,28%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484.213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2,06%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494.042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2,03%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11858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ha desactivado el año base 1993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400" u="none">
                          <a:solidFill>
                            <a:schemeClr val="fol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Indec informa con año base 2004 a partir del 2014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Shape 4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Shape 4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626474" cy="510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Shape 4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87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Shape 443"/>
          <p:cNvSpPr txBox="1"/>
          <p:nvPr/>
        </p:nvSpPr>
        <p:spPr>
          <a:xfrm>
            <a:off x="3733800" y="168275"/>
            <a:ext cx="4953000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CRECIMIENTO ECONÓMICO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ARGENTINA 2014- 2010</a:t>
            </a:r>
          </a:p>
        </p:txBody>
      </p:sp>
      <p:graphicFrame>
        <p:nvGraphicFramePr>
          <p:cNvPr id="444" name="Shape 444"/>
          <p:cNvGraphicFramePr/>
          <p:nvPr/>
        </p:nvGraphicFramePr>
        <p:xfrm>
          <a:off x="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{3B5EFA3D-1848-4923-BD1F-FD90B0F126BA}</a:tableStyleId>
              </a:tblPr>
              <a:tblGrid>
                <a:gridCol w="1858950"/>
                <a:gridCol w="3724275"/>
                <a:gridCol w="3560750"/>
              </a:tblGrid>
              <a:tr h="11826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millones de pesos del año 2004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PIB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precios constantes 2004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1" lang="en-US" sz="20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CRECIMIENTO ECONÓMICO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7223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2010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772.966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8,92%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2011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837.791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8,39%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2012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844.508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868.875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2,88%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  <a:tr h="11001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i="0" sz="2800" u="none">
                        <a:solidFill>
                          <a:schemeClr val="fol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872.816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4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Calibri"/>
                        <a:buNone/>
                      </a:pPr>
                      <a:r>
                        <a:rPr b="1" i="0" lang="en-US" sz="2800" u="none">
                          <a:solidFill>
                            <a:schemeClr val="fol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0,45%</a:t>
                      </a: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