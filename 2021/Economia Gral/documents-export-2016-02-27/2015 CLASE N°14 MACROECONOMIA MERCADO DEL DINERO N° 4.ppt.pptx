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0" Type="http://schemas.openxmlformats.org/officeDocument/2006/relationships/slide" Target="slides/slide2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rgbClr val="000000"/>
        </a:solidFill>
      </p:bgPr>
    </p:bg>
    <p:spTree>
      <p:nvGrpSpPr>
        <p:cNvPr id="2" name="Shape 2"/>
        <p:cNvGrpSpPr/>
        <p:nvPr/>
      </p:nvGrpSpPr>
      <p:grpSpPr>
        <a:xfrm>
          <a:off x="0" y="0"/>
          <a:ext cx="0" cy="0"/>
          <a:chOff x="0" y="0"/>
          <a:chExt cx="0" cy="0"/>
        </a:xfrm>
      </p:grpSpPr>
      <p:sp>
        <p:nvSpPr>
          <p:cNvPr id="3" name="Shape 3"/>
          <p:cNvSpPr txBox="1"/>
          <p:nvPr>
            <p:ph idx="2" type="hdr"/>
          </p:nvPr>
        </p:nvSpPr>
        <p:spPr>
          <a:xfrm>
            <a:off x="0" y="0"/>
            <a:ext cx="29717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1pPr>
            <a:lvl2pPr indent="0" lvl="1" marL="4572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9pPr>
          </a:lstStyle>
          <a:p/>
        </p:txBody>
      </p:sp>
      <p:sp>
        <p:nvSpPr>
          <p:cNvPr id="4" name="Shape 4"/>
          <p:cNvSpPr txBox="1"/>
          <p:nvPr>
            <p:ph idx="10" type="dt"/>
          </p:nvPr>
        </p:nvSpPr>
        <p:spPr>
          <a:xfrm>
            <a:off x="3884612" y="0"/>
            <a:ext cx="2971799" cy="457200"/>
          </a:xfrm>
          <a:prstGeom prst="rect">
            <a:avLst/>
          </a:prstGeom>
          <a:noFill/>
          <a:ln>
            <a:noFill/>
          </a:ln>
        </p:spPr>
        <p:txBody>
          <a:bodyPr anchorCtr="0" anchor="t" bIns="91425" lIns="91425" rIns="91425" tIns="91425"/>
          <a:lstStyle>
            <a:lvl1pPr indent="0" lvl="0" marL="0" marR="0" rtl="0" algn="r">
              <a:lnSpc>
                <a:spcPct val="100000"/>
              </a:lnSpc>
              <a:spcBef>
                <a:spcPts val="0"/>
              </a:spcBef>
              <a:spcAft>
                <a:spcPts val="0"/>
              </a:spcAft>
              <a:defRPr b="0" i="0" sz="1200" u="none" cap="none" strike="noStrike">
                <a:solidFill>
                  <a:srgbClr val="000000"/>
                </a:solidFill>
                <a:latin typeface="Calibri"/>
                <a:ea typeface="Calibri"/>
                <a:cs typeface="Calibri"/>
                <a:sym typeface="Calibri"/>
              </a:defRPr>
            </a:lvl1pPr>
            <a:lvl2pPr indent="0" lvl="1" marL="4572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9pPr>
          </a:lstStyle>
          <a:p/>
        </p:txBody>
      </p:sp>
      <p:sp>
        <p:nvSpPr>
          <p:cNvPr id="5" name="Shape 5"/>
          <p:cNvSpPr/>
          <p:nvPr>
            <p:ph idx="3"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a:headEnd len="med" w="med" type="none"/>
            <a:tailEnd len="med" w="med" type="none"/>
          </a:ln>
        </p:spPr>
      </p:sp>
      <p:sp>
        <p:nvSpPr>
          <p:cNvPr id="6" name="Shape 6"/>
          <p:cNvSpPr txBox="1"/>
          <p:nvPr>
            <p:ph idx="1" type="body"/>
          </p:nvPr>
        </p:nvSpPr>
        <p:spPr>
          <a:xfrm>
            <a:off x="685800" y="4343400"/>
            <a:ext cx="5486399" cy="4114800"/>
          </a:xfrm>
          <a:prstGeom prst="rect">
            <a:avLst/>
          </a:prstGeom>
          <a:noFill/>
          <a:ln>
            <a:noFill/>
          </a:ln>
        </p:spPr>
        <p:txBody>
          <a:bodyPr anchorCtr="0" anchor="ctr"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7" name="Shape 7"/>
          <p:cNvSpPr txBox="1"/>
          <p:nvPr>
            <p:ph idx="11" type="ftr"/>
          </p:nvPr>
        </p:nvSpPr>
        <p:spPr>
          <a:xfrm>
            <a:off x="0" y="8685211"/>
            <a:ext cx="2971799" cy="457200"/>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1pPr>
            <a:lvl2pPr indent="0" lvl="1" marL="4572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rgbClr val="000000"/>
                </a:solidFill>
                <a:latin typeface="Calibri"/>
                <a:ea typeface="Calibri"/>
                <a:cs typeface="Calibri"/>
                <a:sym typeface="Calibri"/>
              </a:defRPr>
            </a:lvl9pPr>
          </a:lstStyle>
          <a:p/>
        </p:txBody>
      </p:sp>
      <p:sp>
        <p:nvSpPr>
          <p:cNvPr id="8" name="Shape 8"/>
          <p:cNvSpPr txBox="1"/>
          <p:nvPr>
            <p:ph idx="12" type="sldNum"/>
          </p:nvPr>
        </p:nvSpPr>
        <p:spPr>
          <a:xfrm>
            <a:off x="3884612" y="8685211"/>
            <a:ext cx="2971799" cy="457200"/>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Clr>
                <a:srgbClr val="000000"/>
              </a:buClr>
              <a:buSzPct val="25000"/>
              <a:buFont typeface="Calibri"/>
              <a:buNone/>
            </a:pPr>
            <a:fld id="{00000000-1234-1234-1234-123412341234}" type="slidenum">
              <a:rPr b="0" i="0" lang="es-AR" sz="1200" u="none" cap="none" strike="noStrike">
                <a:solidFill>
                  <a:srgbClr val="000000"/>
                </a:solidFill>
                <a:latin typeface="Calibri"/>
                <a:ea typeface="Calibri"/>
                <a:cs typeface="Calibri"/>
                <a:sym typeface="Calibri"/>
              </a:rPr>
              <a:t>‹#›</a:t>
            </a:fld>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8" name="Shape 88"/>
        <p:cNvGrpSpPr/>
        <p:nvPr/>
      </p:nvGrpSpPr>
      <p:grpSpPr>
        <a:xfrm>
          <a:off x="0" y="0"/>
          <a:ext cx="0" cy="0"/>
          <a:chOff x="0" y="0"/>
          <a:chExt cx="0" cy="0"/>
        </a:xfrm>
      </p:grpSpPr>
      <p:sp>
        <p:nvSpPr>
          <p:cNvPr id="89" name="Shape 89"/>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90" name="Shape 90"/>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8" name="Shape 98"/>
        <p:cNvGrpSpPr/>
        <p:nvPr/>
      </p:nvGrpSpPr>
      <p:grpSpPr>
        <a:xfrm>
          <a:off x="0" y="0"/>
          <a:ext cx="0" cy="0"/>
          <a:chOff x="0" y="0"/>
          <a:chExt cx="0" cy="0"/>
        </a:xfrm>
      </p:grpSpPr>
      <p:sp>
        <p:nvSpPr>
          <p:cNvPr id="99" name="Shape 99"/>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00" name="Shape 100"/>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7" name="Shape 107"/>
        <p:cNvGrpSpPr/>
        <p:nvPr/>
      </p:nvGrpSpPr>
      <p:grpSpPr>
        <a:xfrm>
          <a:off x="0" y="0"/>
          <a:ext cx="0" cy="0"/>
          <a:chOff x="0" y="0"/>
          <a:chExt cx="0" cy="0"/>
        </a:xfrm>
      </p:grpSpPr>
      <p:sp>
        <p:nvSpPr>
          <p:cNvPr id="108" name="Shape 108"/>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09" name="Shape 109"/>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5" name="Shape 125"/>
        <p:cNvGrpSpPr/>
        <p:nvPr/>
      </p:nvGrpSpPr>
      <p:grpSpPr>
        <a:xfrm>
          <a:off x="0" y="0"/>
          <a:ext cx="0" cy="0"/>
          <a:chOff x="0" y="0"/>
          <a:chExt cx="0" cy="0"/>
        </a:xfrm>
      </p:grpSpPr>
      <p:sp>
        <p:nvSpPr>
          <p:cNvPr id="126" name="Shape 126"/>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27" name="Shape 127"/>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34" name="Shape 134"/>
        <p:cNvGrpSpPr/>
        <p:nvPr/>
      </p:nvGrpSpPr>
      <p:grpSpPr>
        <a:xfrm>
          <a:off x="0" y="0"/>
          <a:ext cx="0" cy="0"/>
          <a:chOff x="0" y="0"/>
          <a:chExt cx="0" cy="0"/>
        </a:xfrm>
      </p:grpSpPr>
      <p:sp>
        <p:nvSpPr>
          <p:cNvPr id="135" name="Shape 135"/>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36" name="Shape 136"/>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48" name="Shape 148"/>
        <p:cNvGrpSpPr/>
        <p:nvPr/>
      </p:nvGrpSpPr>
      <p:grpSpPr>
        <a:xfrm>
          <a:off x="0" y="0"/>
          <a:ext cx="0" cy="0"/>
          <a:chOff x="0" y="0"/>
          <a:chExt cx="0" cy="0"/>
        </a:xfrm>
      </p:grpSpPr>
      <p:sp>
        <p:nvSpPr>
          <p:cNvPr id="149" name="Shape 149"/>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50" name="Shape 150"/>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79" name="Shape 179"/>
        <p:cNvGrpSpPr/>
        <p:nvPr/>
      </p:nvGrpSpPr>
      <p:grpSpPr>
        <a:xfrm>
          <a:off x="0" y="0"/>
          <a:ext cx="0" cy="0"/>
          <a:chOff x="0" y="0"/>
          <a:chExt cx="0" cy="0"/>
        </a:xfrm>
      </p:grpSpPr>
      <p:sp>
        <p:nvSpPr>
          <p:cNvPr id="180" name="Shape 180"/>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81" name="Shape 181"/>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98" name="Shape 198"/>
        <p:cNvGrpSpPr/>
        <p:nvPr/>
      </p:nvGrpSpPr>
      <p:grpSpPr>
        <a:xfrm>
          <a:off x="0" y="0"/>
          <a:ext cx="0" cy="0"/>
          <a:chOff x="0" y="0"/>
          <a:chExt cx="0" cy="0"/>
        </a:xfrm>
      </p:grpSpPr>
      <p:sp>
        <p:nvSpPr>
          <p:cNvPr id="199" name="Shape 199"/>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200" name="Shape 200"/>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09" name="Shape 209"/>
        <p:cNvGrpSpPr/>
        <p:nvPr/>
      </p:nvGrpSpPr>
      <p:grpSpPr>
        <a:xfrm>
          <a:off x="0" y="0"/>
          <a:ext cx="0" cy="0"/>
          <a:chOff x="0" y="0"/>
          <a:chExt cx="0" cy="0"/>
        </a:xfrm>
      </p:grpSpPr>
      <p:sp>
        <p:nvSpPr>
          <p:cNvPr id="210" name="Shape 210"/>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211" name="Shape 211"/>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43" name="Shape 243"/>
        <p:cNvGrpSpPr/>
        <p:nvPr/>
      </p:nvGrpSpPr>
      <p:grpSpPr>
        <a:xfrm>
          <a:off x="0" y="0"/>
          <a:ext cx="0" cy="0"/>
          <a:chOff x="0" y="0"/>
          <a:chExt cx="0" cy="0"/>
        </a:xfrm>
      </p:grpSpPr>
      <p:sp>
        <p:nvSpPr>
          <p:cNvPr id="244" name="Shape 244"/>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245" name="Shape 245"/>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77" name="Shape 277"/>
        <p:cNvGrpSpPr/>
        <p:nvPr/>
      </p:nvGrpSpPr>
      <p:grpSpPr>
        <a:xfrm>
          <a:off x="0" y="0"/>
          <a:ext cx="0" cy="0"/>
          <a:chOff x="0" y="0"/>
          <a:chExt cx="0" cy="0"/>
        </a:xfrm>
      </p:grpSpPr>
      <p:sp>
        <p:nvSpPr>
          <p:cNvPr id="278" name="Shape 278"/>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279" name="Shape 279"/>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87" name="Shape 287"/>
        <p:cNvGrpSpPr/>
        <p:nvPr/>
      </p:nvGrpSpPr>
      <p:grpSpPr>
        <a:xfrm>
          <a:off x="0" y="0"/>
          <a:ext cx="0" cy="0"/>
          <a:chOff x="0" y="0"/>
          <a:chExt cx="0" cy="0"/>
        </a:xfrm>
      </p:grpSpPr>
      <p:sp>
        <p:nvSpPr>
          <p:cNvPr id="288" name="Shape 288"/>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289" name="Shape 289"/>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98" name="Shape 298"/>
        <p:cNvGrpSpPr/>
        <p:nvPr/>
      </p:nvGrpSpPr>
      <p:grpSpPr>
        <a:xfrm>
          <a:off x="0" y="0"/>
          <a:ext cx="0" cy="0"/>
          <a:chOff x="0" y="0"/>
          <a:chExt cx="0" cy="0"/>
        </a:xfrm>
      </p:grpSpPr>
      <p:sp>
        <p:nvSpPr>
          <p:cNvPr id="299" name="Shape 299"/>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00" name="Shape 300"/>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09" name="Shape 309"/>
        <p:cNvGrpSpPr/>
        <p:nvPr/>
      </p:nvGrpSpPr>
      <p:grpSpPr>
        <a:xfrm>
          <a:off x="0" y="0"/>
          <a:ext cx="0" cy="0"/>
          <a:chOff x="0" y="0"/>
          <a:chExt cx="0" cy="0"/>
        </a:xfrm>
      </p:grpSpPr>
      <p:sp>
        <p:nvSpPr>
          <p:cNvPr id="310" name="Shape 310"/>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11" name="Shape 311"/>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19" name="Shape 319"/>
        <p:cNvGrpSpPr/>
        <p:nvPr/>
      </p:nvGrpSpPr>
      <p:grpSpPr>
        <a:xfrm>
          <a:off x="0" y="0"/>
          <a:ext cx="0" cy="0"/>
          <a:chOff x="0" y="0"/>
          <a:chExt cx="0" cy="0"/>
        </a:xfrm>
      </p:grpSpPr>
      <p:sp>
        <p:nvSpPr>
          <p:cNvPr id="320" name="Shape 320"/>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21" name="Shape 321"/>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32" name="Shape 332"/>
        <p:cNvGrpSpPr/>
        <p:nvPr/>
      </p:nvGrpSpPr>
      <p:grpSpPr>
        <a:xfrm>
          <a:off x="0" y="0"/>
          <a:ext cx="0" cy="0"/>
          <a:chOff x="0" y="0"/>
          <a:chExt cx="0" cy="0"/>
        </a:xfrm>
      </p:grpSpPr>
      <p:sp>
        <p:nvSpPr>
          <p:cNvPr id="333" name="Shape 333"/>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34" name="Shape 334"/>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41" name="Shape 341"/>
        <p:cNvGrpSpPr/>
        <p:nvPr/>
      </p:nvGrpSpPr>
      <p:grpSpPr>
        <a:xfrm>
          <a:off x="0" y="0"/>
          <a:ext cx="0" cy="0"/>
          <a:chOff x="0" y="0"/>
          <a:chExt cx="0" cy="0"/>
        </a:xfrm>
      </p:grpSpPr>
      <p:sp>
        <p:nvSpPr>
          <p:cNvPr id="342" name="Shape 342"/>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43" name="Shape 34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49" name="Shape 349"/>
        <p:cNvGrpSpPr/>
        <p:nvPr/>
      </p:nvGrpSpPr>
      <p:grpSpPr>
        <a:xfrm>
          <a:off x="0" y="0"/>
          <a:ext cx="0" cy="0"/>
          <a:chOff x="0" y="0"/>
          <a:chExt cx="0" cy="0"/>
        </a:xfrm>
      </p:grpSpPr>
      <p:sp>
        <p:nvSpPr>
          <p:cNvPr id="350" name="Shape 350"/>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51" name="Shape 351"/>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61" name="Shape 361"/>
        <p:cNvGrpSpPr/>
        <p:nvPr/>
      </p:nvGrpSpPr>
      <p:grpSpPr>
        <a:xfrm>
          <a:off x="0" y="0"/>
          <a:ext cx="0" cy="0"/>
          <a:chOff x="0" y="0"/>
          <a:chExt cx="0" cy="0"/>
        </a:xfrm>
      </p:grpSpPr>
      <p:sp>
        <p:nvSpPr>
          <p:cNvPr id="362" name="Shape 362"/>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63" name="Shape 36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76" name="Shape 376"/>
        <p:cNvGrpSpPr/>
        <p:nvPr/>
      </p:nvGrpSpPr>
      <p:grpSpPr>
        <a:xfrm>
          <a:off x="0" y="0"/>
          <a:ext cx="0" cy="0"/>
          <a:chOff x="0" y="0"/>
          <a:chExt cx="0" cy="0"/>
        </a:xfrm>
      </p:grpSpPr>
      <p:sp>
        <p:nvSpPr>
          <p:cNvPr id="377" name="Shape 377"/>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78" name="Shape 378"/>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90" name="Shape 390"/>
        <p:cNvGrpSpPr/>
        <p:nvPr/>
      </p:nvGrpSpPr>
      <p:grpSpPr>
        <a:xfrm>
          <a:off x="0" y="0"/>
          <a:ext cx="0" cy="0"/>
          <a:chOff x="0" y="0"/>
          <a:chExt cx="0" cy="0"/>
        </a:xfrm>
      </p:grpSpPr>
      <p:sp>
        <p:nvSpPr>
          <p:cNvPr id="391" name="Shape 391"/>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92" name="Shape 39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03" name="Shape 403"/>
        <p:cNvGrpSpPr/>
        <p:nvPr/>
      </p:nvGrpSpPr>
      <p:grpSpPr>
        <a:xfrm>
          <a:off x="0" y="0"/>
          <a:ext cx="0" cy="0"/>
          <a:chOff x="0" y="0"/>
          <a:chExt cx="0" cy="0"/>
        </a:xfrm>
      </p:grpSpPr>
      <p:sp>
        <p:nvSpPr>
          <p:cNvPr id="404" name="Shape 404"/>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405" name="Shape 405"/>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17" name="Shape 417"/>
        <p:cNvGrpSpPr/>
        <p:nvPr/>
      </p:nvGrpSpPr>
      <p:grpSpPr>
        <a:xfrm>
          <a:off x="0" y="0"/>
          <a:ext cx="0" cy="0"/>
          <a:chOff x="0" y="0"/>
          <a:chExt cx="0" cy="0"/>
        </a:xfrm>
      </p:grpSpPr>
      <p:sp>
        <p:nvSpPr>
          <p:cNvPr id="418" name="Shape 418"/>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419" name="Shape 419"/>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32" name="Shape 432"/>
        <p:cNvGrpSpPr/>
        <p:nvPr/>
      </p:nvGrpSpPr>
      <p:grpSpPr>
        <a:xfrm>
          <a:off x="0" y="0"/>
          <a:ext cx="0" cy="0"/>
          <a:chOff x="0" y="0"/>
          <a:chExt cx="0" cy="0"/>
        </a:xfrm>
      </p:grpSpPr>
      <p:sp>
        <p:nvSpPr>
          <p:cNvPr id="433" name="Shape 433"/>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434" name="Shape 434"/>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46" name="Shape 446"/>
        <p:cNvGrpSpPr/>
        <p:nvPr/>
      </p:nvGrpSpPr>
      <p:grpSpPr>
        <a:xfrm>
          <a:off x="0" y="0"/>
          <a:ext cx="0" cy="0"/>
          <a:chOff x="0" y="0"/>
          <a:chExt cx="0" cy="0"/>
        </a:xfrm>
      </p:grpSpPr>
      <p:sp>
        <p:nvSpPr>
          <p:cNvPr id="447" name="Shape 447"/>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448" name="Shape 448"/>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61" name="Shape 461"/>
        <p:cNvGrpSpPr/>
        <p:nvPr/>
      </p:nvGrpSpPr>
      <p:grpSpPr>
        <a:xfrm>
          <a:off x="0" y="0"/>
          <a:ext cx="0" cy="0"/>
          <a:chOff x="0" y="0"/>
          <a:chExt cx="0" cy="0"/>
        </a:xfrm>
      </p:grpSpPr>
      <p:sp>
        <p:nvSpPr>
          <p:cNvPr id="462" name="Shape 462"/>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463" name="Shape 46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15" name="Shape 15"/>
        <p:cNvGrpSpPr/>
        <p:nvPr/>
      </p:nvGrpSpPr>
      <p:grpSpPr>
        <a:xfrm>
          <a:off x="0" y="0"/>
          <a:ext cx="0" cy="0"/>
          <a:chOff x="0" y="0"/>
          <a:chExt cx="0" cy="0"/>
        </a:xfrm>
      </p:grpSpPr>
      <p:sp>
        <p:nvSpPr>
          <p:cNvPr id="16" name="Shape 16"/>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17" name="Shape 17"/>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9pPr>
          </a:lstStyle>
          <a:p/>
        </p:txBody>
      </p:sp>
      <p:sp>
        <p:nvSpPr>
          <p:cNvPr id="18" name="Shape 18"/>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s-AR"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text on left, text on right">
    <p:spTree>
      <p:nvGrpSpPr>
        <p:cNvPr id="19" name="Shape 19"/>
        <p:cNvGrpSpPr/>
        <p:nvPr/>
      </p:nvGrpSpPr>
      <p:grpSpPr>
        <a:xfrm>
          <a:off x="0" y="0"/>
          <a:ext cx="0" cy="0"/>
          <a:chOff x="0" y="0"/>
          <a:chExt cx="0" cy="0"/>
        </a:xfrm>
      </p:grpSpPr>
      <p:sp>
        <p:nvSpPr>
          <p:cNvPr id="20" name="Shape 20"/>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21" name="Shape 21"/>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9pPr>
          </a:lstStyle>
          <a:p/>
        </p:txBody>
      </p:sp>
      <p:sp>
        <p:nvSpPr>
          <p:cNvPr id="22" name="Shape 22"/>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spcBef>
                <a:spcPts val="0"/>
              </a:spcBef>
              <a:buSzPct val="25000"/>
              <a:buNone/>
            </a:pPr>
            <a:fld id="{00000000-1234-1234-1234-123412341234}" type="slidenum">
              <a:rPr b="0" i="0" lang="es-AR" sz="1200" u="none" cap="none" strike="noStrike">
                <a:solidFill>
                  <a:srgbClr val="898989"/>
                </a:solidFill>
              </a:rPr>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vertTitleAndTx">
  <p:cSld name="Vertical Title and Text">
    <p:spTree>
      <p:nvGrpSpPr>
        <p:cNvPr id="23" name="Shape 23"/>
        <p:cNvGrpSpPr/>
        <p:nvPr/>
      </p:nvGrpSpPr>
      <p:grpSpPr>
        <a:xfrm>
          <a:off x="0" y="0"/>
          <a:ext cx="0" cy="0"/>
          <a:chOff x="0" y="0"/>
          <a:chExt cx="0" cy="0"/>
        </a:xfrm>
      </p:grpSpPr>
      <p:sp>
        <p:nvSpPr>
          <p:cNvPr id="24" name="Shape 24"/>
          <p:cNvSpPr txBox="1"/>
          <p:nvPr>
            <p:ph type="title"/>
          </p:nvPr>
        </p:nvSpPr>
        <p:spPr>
          <a:xfrm rot="5400000">
            <a:off x="4732337" y="2171700"/>
            <a:ext cx="5851525" cy="2057400"/>
          </a:xfrm>
          <a:prstGeom prst="rect">
            <a:avLst/>
          </a:prstGeom>
          <a:noFill/>
          <a:ln>
            <a:noFill/>
          </a:ln>
        </p:spPr>
        <p:txBody>
          <a:bodyPr anchorCtr="0" anchor="ctr" bIns="91425" lIns="91425" rIns="91425" tIns="91425"/>
          <a:lstStyle>
            <a:lvl1pPr lvl="0" rtl="0" algn="ctr">
              <a:spcBef>
                <a:spcPts val="0"/>
              </a:spcBef>
              <a:buClr>
                <a:schemeClr val="dk1"/>
              </a:buClr>
              <a:buFont typeface="Calibri"/>
              <a:buNone/>
              <a:defRPr sz="4400">
                <a:solidFill>
                  <a:schemeClr val="dk1"/>
                </a:solidFill>
                <a:latin typeface="Calibri"/>
                <a:ea typeface="Calibri"/>
                <a:cs typeface="Calibri"/>
                <a:sym typeface="Calibri"/>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25" name="Shape 25"/>
          <p:cNvSpPr txBox="1"/>
          <p:nvPr>
            <p:ph idx="1" type="body"/>
          </p:nvPr>
        </p:nvSpPr>
        <p:spPr>
          <a:xfrm rot="5400000">
            <a:off x="541337" y="190500"/>
            <a:ext cx="5851525" cy="6019799"/>
          </a:xfrm>
          <a:prstGeom prst="rect">
            <a:avLst/>
          </a:prstGeom>
          <a:noFill/>
          <a:ln>
            <a:noFill/>
          </a:ln>
        </p:spPr>
        <p:txBody>
          <a:bodyPr anchorCtr="0" anchor="t" bIns="91425" lIns="91425" rIns="91425" tIns="91425"/>
          <a:lstStyle>
            <a:lvl1pPr indent="-139700" lvl="0" marL="342900" rtl="0" algn="l">
              <a:spcBef>
                <a:spcPts val="640"/>
              </a:spcBef>
              <a:buClr>
                <a:schemeClr val="dk1"/>
              </a:buClr>
              <a:buFont typeface="Arial"/>
              <a:buChar char="•"/>
              <a:defRPr sz="3200">
                <a:solidFill>
                  <a:schemeClr val="dk1"/>
                </a:solidFill>
                <a:latin typeface="Calibri"/>
                <a:ea typeface="Calibri"/>
                <a:cs typeface="Calibri"/>
                <a:sym typeface="Calibri"/>
              </a:defRPr>
            </a:lvl1pPr>
            <a:lvl2pPr indent="-107950" lvl="1" marL="742950" rtl="0" algn="l">
              <a:spcBef>
                <a:spcPts val="560"/>
              </a:spcBef>
              <a:buClr>
                <a:schemeClr val="dk1"/>
              </a:buClr>
              <a:buFont typeface="Arial"/>
              <a:buChar char="–"/>
              <a:defRPr sz="2800">
                <a:solidFill>
                  <a:schemeClr val="dk1"/>
                </a:solidFill>
                <a:latin typeface="Calibri"/>
                <a:ea typeface="Calibri"/>
                <a:cs typeface="Calibri"/>
                <a:sym typeface="Calibri"/>
              </a:defRPr>
            </a:lvl2pPr>
            <a:lvl3pPr indent="-76200" lvl="2" marL="1143000" rtl="0" algn="l">
              <a:spcBef>
                <a:spcPts val="480"/>
              </a:spcBef>
              <a:buClr>
                <a:schemeClr val="dk1"/>
              </a:buClr>
              <a:buFont typeface="Arial"/>
              <a:buChar char="•"/>
              <a:defRPr sz="2400">
                <a:solidFill>
                  <a:schemeClr val="dk1"/>
                </a:solidFill>
                <a:latin typeface="Calibri"/>
                <a:ea typeface="Calibri"/>
                <a:cs typeface="Calibri"/>
                <a:sym typeface="Calibri"/>
              </a:defRPr>
            </a:lvl3pPr>
            <a:lvl4pPr indent="-101600" lvl="3" marL="1600200" rtl="0" algn="l">
              <a:spcBef>
                <a:spcPts val="400"/>
              </a:spcBef>
              <a:buClr>
                <a:schemeClr val="dk1"/>
              </a:buClr>
              <a:buFont typeface="Arial"/>
              <a:buChar char="–"/>
              <a:defRPr sz="2000">
                <a:solidFill>
                  <a:schemeClr val="dk1"/>
                </a:solidFill>
                <a:latin typeface="Calibri"/>
                <a:ea typeface="Calibri"/>
                <a:cs typeface="Calibri"/>
                <a:sym typeface="Calibri"/>
              </a:defRPr>
            </a:lvl4pPr>
            <a:lvl5pPr indent="-101600" lvl="4" marL="2057400" rtl="0" algn="l">
              <a:spcBef>
                <a:spcPts val="400"/>
              </a:spcBef>
              <a:buClr>
                <a:schemeClr val="dk1"/>
              </a:buClr>
              <a:buFont typeface="Arial"/>
              <a:buChar char="»"/>
              <a:defRPr sz="2000">
                <a:solidFill>
                  <a:schemeClr val="dk1"/>
                </a:solidFill>
                <a:latin typeface="Calibri"/>
                <a:ea typeface="Calibri"/>
                <a:cs typeface="Calibri"/>
                <a:sym typeface="Calibri"/>
              </a:defRPr>
            </a:lvl5pPr>
            <a:lvl6pPr indent="-101600" lvl="5" marL="2514600" rtl="0" algn="l">
              <a:spcBef>
                <a:spcPts val="400"/>
              </a:spcBef>
              <a:buClr>
                <a:schemeClr val="dk1"/>
              </a:buClr>
              <a:buFont typeface="Arial"/>
              <a:buChar char="•"/>
              <a:defRPr sz="2000">
                <a:solidFill>
                  <a:schemeClr val="dk1"/>
                </a:solidFill>
                <a:latin typeface="Calibri"/>
                <a:ea typeface="Calibri"/>
                <a:cs typeface="Calibri"/>
                <a:sym typeface="Calibri"/>
              </a:defRPr>
            </a:lvl6pPr>
            <a:lvl7pPr indent="-101600" lvl="6" marL="2971800" rtl="0" algn="l">
              <a:spcBef>
                <a:spcPts val="400"/>
              </a:spcBef>
              <a:buClr>
                <a:schemeClr val="dk1"/>
              </a:buClr>
              <a:buFont typeface="Arial"/>
              <a:buChar char="•"/>
              <a:defRPr sz="2000">
                <a:solidFill>
                  <a:schemeClr val="dk1"/>
                </a:solidFill>
                <a:latin typeface="Calibri"/>
                <a:ea typeface="Calibri"/>
                <a:cs typeface="Calibri"/>
                <a:sym typeface="Calibri"/>
              </a:defRPr>
            </a:lvl7pPr>
            <a:lvl8pPr indent="-101600" lvl="7" marL="3429000" rtl="0" algn="l">
              <a:spcBef>
                <a:spcPts val="400"/>
              </a:spcBef>
              <a:buClr>
                <a:schemeClr val="dk1"/>
              </a:buClr>
              <a:buFont typeface="Arial"/>
              <a:buChar char="•"/>
              <a:defRPr sz="2000">
                <a:solidFill>
                  <a:schemeClr val="dk1"/>
                </a:solidFill>
                <a:latin typeface="Calibri"/>
                <a:ea typeface="Calibri"/>
                <a:cs typeface="Calibri"/>
                <a:sym typeface="Calibri"/>
              </a:defRPr>
            </a:lvl8pPr>
            <a:lvl9pPr indent="-101600" lvl="8" marL="3886200" rtl="0" algn="l">
              <a:spcBef>
                <a:spcPts val="400"/>
              </a:spcBef>
              <a:buClr>
                <a:schemeClr val="dk1"/>
              </a:buClr>
              <a:buFont typeface="Arial"/>
              <a:buChar char="•"/>
              <a:defRPr sz="2000">
                <a:solidFill>
                  <a:schemeClr val="dk1"/>
                </a:solidFill>
                <a:latin typeface="Calibri"/>
                <a:ea typeface="Calibri"/>
                <a:cs typeface="Calibri"/>
                <a:sym typeface="Calibri"/>
              </a:defRPr>
            </a:lvl9pPr>
          </a:lstStyle>
          <a:p/>
        </p:txBody>
      </p:sp>
      <p:sp>
        <p:nvSpPr>
          <p:cNvPr id="26" name="Shape 26"/>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27" name="Shape 27"/>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9pPr>
          </a:lstStyle>
          <a:p/>
        </p:txBody>
      </p:sp>
      <p:sp>
        <p:nvSpPr>
          <p:cNvPr id="28" name="Shape 28"/>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s-AR"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vertTx">
  <p:cSld name="Title and Vertical Text">
    <p:spTree>
      <p:nvGrpSpPr>
        <p:cNvPr id="29" name="Shape 29"/>
        <p:cNvGrpSpPr/>
        <p:nvPr/>
      </p:nvGrpSpPr>
      <p:grpSpPr>
        <a:xfrm>
          <a:off x="0" y="0"/>
          <a:ext cx="0" cy="0"/>
          <a:chOff x="0" y="0"/>
          <a:chExt cx="0" cy="0"/>
        </a:xfrm>
      </p:grpSpPr>
      <p:sp>
        <p:nvSpPr>
          <p:cNvPr id="30" name="Shape 30"/>
          <p:cNvSpPr txBox="1"/>
          <p:nvPr>
            <p:ph type="title"/>
          </p:nvPr>
        </p:nvSpPr>
        <p:spPr>
          <a:xfrm>
            <a:off x="457200" y="274637"/>
            <a:ext cx="8229600" cy="1143000"/>
          </a:xfrm>
          <a:prstGeom prst="rect">
            <a:avLst/>
          </a:prstGeom>
          <a:noFill/>
          <a:ln>
            <a:noFill/>
          </a:ln>
        </p:spPr>
        <p:txBody>
          <a:bodyPr anchorCtr="0" anchor="ctr" bIns="91425" lIns="91425" rIns="91425" tIns="91425"/>
          <a:lstStyle>
            <a:lvl1pPr lvl="0" rtl="0" algn="ctr">
              <a:spcBef>
                <a:spcPts val="0"/>
              </a:spcBef>
              <a:buClr>
                <a:schemeClr val="dk1"/>
              </a:buClr>
              <a:buFont typeface="Calibri"/>
              <a:buNone/>
              <a:defRPr sz="4400">
                <a:solidFill>
                  <a:schemeClr val="dk1"/>
                </a:solidFill>
                <a:latin typeface="Calibri"/>
                <a:ea typeface="Calibri"/>
                <a:cs typeface="Calibri"/>
                <a:sym typeface="Calibri"/>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31" name="Shape 31"/>
          <p:cNvSpPr txBox="1"/>
          <p:nvPr>
            <p:ph idx="1" type="body"/>
          </p:nvPr>
        </p:nvSpPr>
        <p:spPr>
          <a:xfrm rot="5400000">
            <a:off x="2309018" y="-251619"/>
            <a:ext cx="4525961" cy="8229600"/>
          </a:xfrm>
          <a:prstGeom prst="rect">
            <a:avLst/>
          </a:prstGeom>
          <a:noFill/>
          <a:ln>
            <a:noFill/>
          </a:ln>
        </p:spPr>
        <p:txBody>
          <a:bodyPr anchorCtr="0" anchor="t" bIns="91425" lIns="91425" rIns="91425" tIns="91425"/>
          <a:lstStyle>
            <a:lvl1pPr indent="-139700" lvl="0" marL="342900" rtl="0" algn="l">
              <a:spcBef>
                <a:spcPts val="640"/>
              </a:spcBef>
              <a:buClr>
                <a:schemeClr val="dk1"/>
              </a:buClr>
              <a:buFont typeface="Arial"/>
              <a:buChar char="•"/>
              <a:defRPr sz="3200">
                <a:solidFill>
                  <a:schemeClr val="dk1"/>
                </a:solidFill>
                <a:latin typeface="Calibri"/>
                <a:ea typeface="Calibri"/>
                <a:cs typeface="Calibri"/>
                <a:sym typeface="Calibri"/>
              </a:defRPr>
            </a:lvl1pPr>
            <a:lvl2pPr indent="-107950" lvl="1" marL="742950" rtl="0" algn="l">
              <a:spcBef>
                <a:spcPts val="560"/>
              </a:spcBef>
              <a:buClr>
                <a:schemeClr val="dk1"/>
              </a:buClr>
              <a:buFont typeface="Arial"/>
              <a:buChar char="–"/>
              <a:defRPr sz="2800">
                <a:solidFill>
                  <a:schemeClr val="dk1"/>
                </a:solidFill>
                <a:latin typeface="Calibri"/>
                <a:ea typeface="Calibri"/>
                <a:cs typeface="Calibri"/>
                <a:sym typeface="Calibri"/>
              </a:defRPr>
            </a:lvl2pPr>
            <a:lvl3pPr indent="-76200" lvl="2" marL="1143000" rtl="0" algn="l">
              <a:spcBef>
                <a:spcPts val="480"/>
              </a:spcBef>
              <a:buClr>
                <a:schemeClr val="dk1"/>
              </a:buClr>
              <a:buFont typeface="Arial"/>
              <a:buChar char="•"/>
              <a:defRPr sz="2400">
                <a:solidFill>
                  <a:schemeClr val="dk1"/>
                </a:solidFill>
                <a:latin typeface="Calibri"/>
                <a:ea typeface="Calibri"/>
                <a:cs typeface="Calibri"/>
                <a:sym typeface="Calibri"/>
              </a:defRPr>
            </a:lvl3pPr>
            <a:lvl4pPr indent="-101600" lvl="3" marL="1600200" rtl="0" algn="l">
              <a:spcBef>
                <a:spcPts val="400"/>
              </a:spcBef>
              <a:buClr>
                <a:schemeClr val="dk1"/>
              </a:buClr>
              <a:buFont typeface="Arial"/>
              <a:buChar char="–"/>
              <a:defRPr sz="2000">
                <a:solidFill>
                  <a:schemeClr val="dk1"/>
                </a:solidFill>
                <a:latin typeface="Calibri"/>
                <a:ea typeface="Calibri"/>
                <a:cs typeface="Calibri"/>
                <a:sym typeface="Calibri"/>
              </a:defRPr>
            </a:lvl4pPr>
            <a:lvl5pPr indent="-101600" lvl="4" marL="2057400" rtl="0" algn="l">
              <a:spcBef>
                <a:spcPts val="400"/>
              </a:spcBef>
              <a:buClr>
                <a:schemeClr val="dk1"/>
              </a:buClr>
              <a:buFont typeface="Arial"/>
              <a:buChar char="»"/>
              <a:defRPr sz="2000">
                <a:solidFill>
                  <a:schemeClr val="dk1"/>
                </a:solidFill>
                <a:latin typeface="Calibri"/>
                <a:ea typeface="Calibri"/>
                <a:cs typeface="Calibri"/>
                <a:sym typeface="Calibri"/>
              </a:defRPr>
            </a:lvl5pPr>
            <a:lvl6pPr indent="-101600" lvl="5" marL="2514600" rtl="0" algn="l">
              <a:spcBef>
                <a:spcPts val="400"/>
              </a:spcBef>
              <a:buClr>
                <a:schemeClr val="dk1"/>
              </a:buClr>
              <a:buFont typeface="Arial"/>
              <a:buChar char="•"/>
              <a:defRPr sz="2000">
                <a:solidFill>
                  <a:schemeClr val="dk1"/>
                </a:solidFill>
                <a:latin typeface="Calibri"/>
                <a:ea typeface="Calibri"/>
                <a:cs typeface="Calibri"/>
                <a:sym typeface="Calibri"/>
              </a:defRPr>
            </a:lvl6pPr>
            <a:lvl7pPr indent="-101600" lvl="6" marL="2971800" rtl="0" algn="l">
              <a:spcBef>
                <a:spcPts val="400"/>
              </a:spcBef>
              <a:buClr>
                <a:schemeClr val="dk1"/>
              </a:buClr>
              <a:buFont typeface="Arial"/>
              <a:buChar char="•"/>
              <a:defRPr sz="2000">
                <a:solidFill>
                  <a:schemeClr val="dk1"/>
                </a:solidFill>
                <a:latin typeface="Calibri"/>
                <a:ea typeface="Calibri"/>
                <a:cs typeface="Calibri"/>
                <a:sym typeface="Calibri"/>
              </a:defRPr>
            </a:lvl7pPr>
            <a:lvl8pPr indent="-101600" lvl="7" marL="3429000" rtl="0" algn="l">
              <a:spcBef>
                <a:spcPts val="400"/>
              </a:spcBef>
              <a:buClr>
                <a:schemeClr val="dk1"/>
              </a:buClr>
              <a:buFont typeface="Arial"/>
              <a:buChar char="•"/>
              <a:defRPr sz="2000">
                <a:solidFill>
                  <a:schemeClr val="dk1"/>
                </a:solidFill>
                <a:latin typeface="Calibri"/>
                <a:ea typeface="Calibri"/>
                <a:cs typeface="Calibri"/>
                <a:sym typeface="Calibri"/>
              </a:defRPr>
            </a:lvl8pPr>
            <a:lvl9pPr indent="-101600" lvl="8" marL="3886200" rtl="0" algn="l">
              <a:spcBef>
                <a:spcPts val="400"/>
              </a:spcBef>
              <a:buClr>
                <a:schemeClr val="dk1"/>
              </a:buClr>
              <a:buFont typeface="Arial"/>
              <a:buChar char="•"/>
              <a:defRPr sz="2000">
                <a:solidFill>
                  <a:schemeClr val="dk1"/>
                </a:solidFill>
                <a:latin typeface="Calibri"/>
                <a:ea typeface="Calibri"/>
                <a:cs typeface="Calibri"/>
                <a:sym typeface="Calibri"/>
              </a:defRPr>
            </a:lvl9pPr>
          </a:lstStyle>
          <a:p/>
        </p:txBody>
      </p:sp>
      <p:sp>
        <p:nvSpPr>
          <p:cNvPr id="32" name="Shape 32"/>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33" name="Shape 33"/>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9pPr>
          </a:lstStyle>
          <a:p/>
        </p:txBody>
      </p:sp>
      <p:sp>
        <p:nvSpPr>
          <p:cNvPr id="34" name="Shape 34"/>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s-AR"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picTx">
  <p:cSld name="Picture with Caption">
    <p:spTree>
      <p:nvGrpSpPr>
        <p:cNvPr id="35" name="Shape 35"/>
        <p:cNvGrpSpPr/>
        <p:nvPr/>
      </p:nvGrpSpPr>
      <p:grpSpPr>
        <a:xfrm>
          <a:off x="0" y="0"/>
          <a:ext cx="0" cy="0"/>
          <a:chOff x="0" y="0"/>
          <a:chExt cx="0" cy="0"/>
        </a:xfrm>
      </p:grpSpPr>
      <p:sp>
        <p:nvSpPr>
          <p:cNvPr id="36" name="Shape 36"/>
          <p:cNvSpPr txBox="1"/>
          <p:nvPr>
            <p:ph type="title"/>
          </p:nvPr>
        </p:nvSpPr>
        <p:spPr>
          <a:xfrm>
            <a:off x="1792288" y="4800600"/>
            <a:ext cx="5486399" cy="566737"/>
          </a:xfrm>
          <a:prstGeom prst="rect">
            <a:avLst/>
          </a:prstGeom>
          <a:noFill/>
          <a:ln>
            <a:noFill/>
          </a:ln>
        </p:spPr>
        <p:txBody>
          <a:bodyPr anchorCtr="0" anchor="b" bIns="91425" lIns="91425" rIns="91425" tIns="91425"/>
          <a:lstStyle>
            <a:lvl1pPr lvl="0" rtl="0" algn="l">
              <a:spcBef>
                <a:spcPts val="0"/>
              </a:spcBef>
              <a:defRPr b="1" sz="2000"/>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37" name="Shape 37"/>
          <p:cNvSpPr/>
          <p:nvPr>
            <p:ph idx="2" type="pic"/>
          </p:nvPr>
        </p:nvSpPr>
        <p:spPr>
          <a:xfrm>
            <a:off x="1792288" y="612775"/>
            <a:ext cx="5486399" cy="4114800"/>
          </a:xfrm>
          <a:prstGeom prst="rect">
            <a:avLst/>
          </a:prstGeom>
          <a:noFill/>
          <a:ln>
            <a:noFill/>
          </a:ln>
        </p:spPr>
        <p:txBody>
          <a:bodyPr anchorCtr="0" anchor="ctr" bIns="91425" lIns="91425" rIns="91425" tIns="91425"/>
          <a:lstStyle>
            <a:lvl1pPr indent="0" lvl="0" marL="0" marR="0" rtl="0" algn="l">
              <a:spcBef>
                <a:spcPts val="0"/>
              </a:spcBef>
              <a:buClr>
                <a:srgbClr val="898989"/>
              </a:buClr>
              <a:buFont typeface="Arial"/>
              <a:buNone/>
              <a:defRPr b="0" i="0" sz="3200" u="none" cap="none" strike="noStrike">
                <a:solidFill>
                  <a:srgbClr val="898989"/>
                </a:solidFill>
              </a:defRPr>
            </a:lvl1pPr>
            <a:lvl2pPr indent="0" lvl="1" marL="457200" marR="0" rtl="0" algn="l">
              <a:spcBef>
                <a:spcPts val="0"/>
              </a:spcBef>
              <a:buFont typeface="Arial"/>
              <a:buNone/>
              <a:defRPr b="0" i="0" sz="2800" u="none" cap="none" strike="noStrike"/>
            </a:lvl2pPr>
            <a:lvl3pPr indent="0" lvl="2" marL="914400" marR="0" rtl="0" algn="l">
              <a:spcBef>
                <a:spcPts val="0"/>
              </a:spcBef>
              <a:buFont typeface="Arial"/>
              <a:buNone/>
              <a:defRPr b="0" i="0" sz="2400" u="none" cap="none" strike="noStrike"/>
            </a:lvl3pPr>
            <a:lvl4pPr indent="0" lvl="3" marL="1371600" marR="0" rtl="0" algn="l">
              <a:spcBef>
                <a:spcPts val="0"/>
              </a:spcBef>
              <a:buFont typeface="Arial"/>
              <a:buNone/>
              <a:defRPr b="0" i="0" sz="2000" u="none" cap="none" strike="noStrike"/>
            </a:lvl4pPr>
            <a:lvl5pPr indent="0" lvl="4" marL="1828800" marR="0" rtl="0" algn="l">
              <a:spcBef>
                <a:spcPts val="0"/>
              </a:spcBef>
              <a:buFont typeface="Arial"/>
              <a:buNone/>
              <a:defRPr b="0" i="0" sz="2000" u="none" cap="none" strike="noStrike"/>
            </a:lvl5pPr>
            <a:lvl6pPr indent="0" lvl="5" marL="2286000" marR="0" rtl="0" algn="l">
              <a:spcBef>
                <a:spcPts val="0"/>
              </a:spcBef>
              <a:buFont typeface="Arial"/>
              <a:buNone/>
              <a:defRPr b="0" i="0" sz="2000" u="none" cap="none" strike="noStrike"/>
            </a:lvl6pPr>
            <a:lvl7pPr indent="0" lvl="6" marL="2743200" marR="0" rtl="0" algn="l">
              <a:spcBef>
                <a:spcPts val="0"/>
              </a:spcBef>
              <a:buFont typeface="Arial"/>
              <a:buNone/>
              <a:defRPr b="0" i="0" sz="2000" u="none" cap="none" strike="noStrike"/>
            </a:lvl7pPr>
            <a:lvl8pPr indent="0" lvl="7" marL="3200400" marR="0" rtl="0" algn="l">
              <a:spcBef>
                <a:spcPts val="0"/>
              </a:spcBef>
              <a:buFont typeface="Arial"/>
              <a:buNone/>
              <a:defRPr b="0" i="0" sz="2000" u="none" cap="none" strike="noStrike"/>
            </a:lvl8pPr>
            <a:lvl9pPr indent="0" lvl="8" marL="3657600" marR="0" rtl="0" algn="l">
              <a:spcBef>
                <a:spcPts val="0"/>
              </a:spcBef>
              <a:buFont typeface="Arial"/>
              <a:buNone/>
              <a:defRPr b="0" i="0" sz="2000" u="none" cap="none" strike="noStrike"/>
            </a:lvl9pPr>
          </a:lstStyle>
          <a:p/>
        </p:txBody>
      </p:sp>
      <p:sp>
        <p:nvSpPr>
          <p:cNvPr id="38" name="Shape 38"/>
          <p:cNvSpPr txBox="1"/>
          <p:nvPr>
            <p:ph idx="1" type="body"/>
          </p:nvPr>
        </p:nvSpPr>
        <p:spPr>
          <a:xfrm>
            <a:off x="1792288" y="5367337"/>
            <a:ext cx="5486399" cy="804861"/>
          </a:xfrm>
          <a:prstGeom prst="rect">
            <a:avLst/>
          </a:prstGeom>
          <a:noFill/>
          <a:ln>
            <a:noFill/>
          </a:ln>
        </p:spPr>
        <p:txBody>
          <a:bodyPr anchorCtr="0" anchor="t" bIns="91425" lIns="91425" rIns="91425" tIns="91425"/>
          <a:lstStyle>
            <a:lvl1pPr indent="0" lvl="0" marL="0" rtl="0">
              <a:spcBef>
                <a:spcPts val="0"/>
              </a:spcBef>
              <a:buFont typeface="Calibri"/>
              <a:buNone/>
              <a:defRPr sz="1400"/>
            </a:lvl1pPr>
            <a:lvl2pPr indent="0" lvl="1" marL="457200" rtl="0">
              <a:spcBef>
                <a:spcPts val="0"/>
              </a:spcBef>
              <a:buFont typeface="Calibri"/>
              <a:buNone/>
              <a:defRPr sz="1200"/>
            </a:lvl2pPr>
            <a:lvl3pPr indent="0" lvl="2" marL="914400" rtl="0">
              <a:spcBef>
                <a:spcPts val="0"/>
              </a:spcBef>
              <a:buFont typeface="Calibri"/>
              <a:buNone/>
              <a:defRPr sz="1000"/>
            </a:lvl3pPr>
            <a:lvl4pPr indent="0" lvl="3" marL="1371600" rtl="0">
              <a:spcBef>
                <a:spcPts val="0"/>
              </a:spcBef>
              <a:buFont typeface="Calibri"/>
              <a:buNone/>
              <a:defRPr sz="900"/>
            </a:lvl4pPr>
            <a:lvl5pPr indent="0" lvl="4" marL="1828800" rtl="0">
              <a:spcBef>
                <a:spcPts val="0"/>
              </a:spcBef>
              <a:buFont typeface="Calibri"/>
              <a:buNone/>
              <a:defRPr sz="900"/>
            </a:lvl5pPr>
            <a:lvl6pPr indent="0" lvl="5" marL="2286000" rtl="0">
              <a:spcBef>
                <a:spcPts val="0"/>
              </a:spcBef>
              <a:buFont typeface="Calibri"/>
              <a:buNone/>
              <a:defRPr sz="900"/>
            </a:lvl6pPr>
            <a:lvl7pPr indent="0" lvl="6" marL="2743200" rtl="0">
              <a:spcBef>
                <a:spcPts val="0"/>
              </a:spcBef>
              <a:buFont typeface="Calibri"/>
              <a:buNone/>
              <a:defRPr sz="900"/>
            </a:lvl7pPr>
            <a:lvl8pPr indent="0" lvl="7" marL="3200400" rtl="0">
              <a:spcBef>
                <a:spcPts val="0"/>
              </a:spcBef>
              <a:buFont typeface="Calibri"/>
              <a:buNone/>
              <a:defRPr sz="900"/>
            </a:lvl8pPr>
            <a:lvl9pPr indent="0" lvl="8" marL="3657600" rtl="0">
              <a:spcBef>
                <a:spcPts val="0"/>
              </a:spcBef>
              <a:buFont typeface="Calibri"/>
              <a:buNone/>
              <a:defRPr sz="900"/>
            </a:lvl9pPr>
          </a:lstStyle>
          <a:p/>
        </p:txBody>
      </p:sp>
      <p:sp>
        <p:nvSpPr>
          <p:cNvPr id="39" name="Shape 39"/>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40" name="Shape 40"/>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9pPr>
          </a:lstStyle>
          <a:p/>
        </p:txBody>
      </p:sp>
      <p:sp>
        <p:nvSpPr>
          <p:cNvPr id="41" name="Shape 41"/>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s-AR"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Tx">
  <p:cSld name="Content with Caption">
    <p:spTree>
      <p:nvGrpSpPr>
        <p:cNvPr id="42" name="Shape 42"/>
        <p:cNvGrpSpPr/>
        <p:nvPr/>
      </p:nvGrpSpPr>
      <p:grpSpPr>
        <a:xfrm>
          <a:off x="0" y="0"/>
          <a:ext cx="0" cy="0"/>
          <a:chOff x="0" y="0"/>
          <a:chExt cx="0" cy="0"/>
        </a:xfrm>
      </p:grpSpPr>
      <p:sp>
        <p:nvSpPr>
          <p:cNvPr id="43" name="Shape 43"/>
          <p:cNvSpPr txBox="1"/>
          <p:nvPr>
            <p:ph type="title"/>
          </p:nvPr>
        </p:nvSpPr>
        <p:spPr>
          <a:xfrm>
            <a:off x="457200" y="273050"/>
            <a:ext cx="3008313" cy="1162049"/>
          </a:xfrm>
          <a:prstGeom prst="rect">
            <a:avLst/>
          </a:prstGeom>
          <a:noFill/>
          <a:ln>
            <a:noFill/>
          </a:ln>
        </p:spPr>
        <p:txBody>
          <a:bodyPr anchorCtr="0" anchor="b" bIns="91425" lIns="91425" rIns="91425" tIns="91425"/>
          <a:lstStyle>
            <a:lvl1pPr lvl="0" rtl="0" algn="l">
              <a:spcBef>
                <a:spcPts val="0"/>
              </a:spcBef>
              <a:defRPr b="1" sz="2000"/>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44" name="Shape 44"/>
          <p:cNvSpPr txBox="1"/>
          <p:nvPr>
            <p:ph idx="1" type="body"/>
          </p:nvPr>
        </p:nvSpPr>
        <p:spPr>
          <a:xfrm>
            <a:off x="3575050" y="273050"/>
            <a:ext cx="5111750" cy="5853112"/>
          </a:xfrm>
          <a:prstGeom prst="rect">
            <a:avLst/>
          </a:prstGeom>
          <a:noFill/>
          <a:ln>
            <a:noFill/>
          </a:ln>
        </p:spPr>
        <p:txBody>
          <a:bodyPr anchorCtr="0" anchor="t" bIns="91425" lIns="91425" rIns="91425" tIns="91425"/>
          <a:lstStyle>
            <a:lvl1pPr lvl="0" rtl="0">
              <a:spcBef>
                <a:spcPts val="0"/>
              </a:spcBef>
              <a:defRPr sz="3200"/>
            </a:lvl1pPr>
            <a:lvl2pPr lvl="1" rtl="0">
              <a:spcBef>
                <a:spcPts val="0"/>
              </a:spcBef>
              <a:defRPr sz="2800"/>
            </a:lvl2pPr>
            <a:lvl3pPr lvl="2" rtl="0">
              <a:spcBef>
                <a:spcPts val="0"/>
              </a:spcBef>
              <a:defRPr sz="2400"/>
            </a:lvl3pPr>
            <a:lvl4pPr lvl="3" rtl="0">
              <a:spcBef>
                <a:spcPts val="0"/>
              </a:spcBef>
              <a:defRPr sz="2000"/>
            </a:lvl4pPr>
            <a:lvl5pPr lvl="4" rtl="0">
              <a:spcBef>
                <a:spcPts val="0"/>
              </a:spcBef>
              <a:defRPr sz="2000"/>
            </a:lvl5pPr>
            <a:lvl6pPr lvl="5" rtl="0">
              <a:spcBef>
                <a:spcPts val="0"/>
              </a:spcBef>
              <a:defRPr sz="2000"/>
            </a:lvl6pPr>
            <a:lvl7pPr lvl="6" rtl="0">
              <a:spcBef>
                <a:spcPts val="0"/>
              </a:spcBef>
              <a:defRPr sz="2000"/>
            </a:lvl7pPr>
            <a:lvl8pPr lvl="7" rtl="0">
              <a:spcBef>
                <a:spcPts val="0"/>
              </a:spcBef>
              <a:defRPr sz="2000"/>
            </a:lvl8pPr>
            <a:lvl9pPr lvl="8" rtl="0">
              <a:spcBef>
                <a:spcPts val="0"/>
              </a:spcBef>
              <a:defRPr sz="2000"/>
            </a:lvl9pPr>
          </a:lstStyle>
          <a:p/>
        </p:txBody>
      </p:sp>
      <p:sp>
        <p:nvSpPr>
          <p:cNvPr id="45" name="Shape 45"/>
          <p:cNvSpPr txBox="1"/>
          <p:nvPr>
            <p:ph idx="2" type="body"/>
          </p:nvPr>
        </p:nvSpPr>
        <p:spPr>
          <a:xfrm>
            <a:off x="457200" y="1435100"/>
            <a:ext cx="3008313" cy="4691063"/>
          </a:xfrm>
          <a:prstGeom prst="rect">
            <a:avLst/>
          </a:prstGeom>
          <a:noFill/>
          <a:ln>
            <a:noFill/>
          </a:ln>
        </p:spPr>
        <p:txBody>
          <a:bodyPr anchorCtr="0" anchor="t" bIns="91425" lIns="91425" rIns="91425" tIns="91425"/>
          <a:lstStyle>
            <a:lvl1pPr indent="0" lvl="0" marL="0" rtl="0">
              <a:spcBef>
                <a:spcPts val="0"/>
              </a:spcBef>
              <a:buFont typeface="Calibri"/>
              <a:buNone/>
              <a:defRPr sz="1400"/>
            </a:lvl1pPr>
            <a:lvl2pPr indent="0" lvl="1" marL="457200" rtl="0">
              <a:spcBef>
                <a:spcPts val="0"/>
              </a:spcBef>
              <a:buFont typeface="Calibri"/>
              <a:buNone/>
              <a:defRPr sz="1200"/>
            </a:lvl2pPr>
            <a:lvl3pPr indent="0" lvl="2" marL="914400" rtl="0">
              <a:spcBef>
                <a:spcPts val="0"/>
              </a:spcBef>
              <a:buFont typeface="Calibri"/>
              <a:buNone/>
              <a:defRPr sz="1000"/>
            </a:lvl3pPr>
            <a:lvl4pPr indent="0" lvl="3" marL="1371600" rtl="0">
              <a:spcBef>
                <a:spcPts val="0"/>
              </a:spcBef>
              <a:buFont typeface="Calibri"/>
              <a:buNone/>
              <a:defRPr sz="900"/>
            </a:lvl4pPr>
            <a:lvl5pPr indent="0" lvl="4" marL="1828800" rtl="0">
              <a:spcBef>
                <a:spcPts val="0"/>
              </a:spcBef>
              <a:buFont typeface="Calibri"/>
              <a:buNone/>
              <a:defRPr sz="900"/>
            </a:lvl5pPr>
            <a:lvl6pPr indent="0" lvl="5" marL="2286000" rtl="0">
              <a:spcBef>
                <a:spcPts val="0"/>
              </a:spcBef>
              <a:buFont typeface="Calibri"/>
              <a:buNone/>
              <a:defRPr sz="900"/>
            </a:lvl6pPr>
            <a:lvl7pPr indent="0" lvl="6" marL="2743200" rtl="0">
              <a:spcBef>
                <a:spcPts val="0"/>
              </a:spcBef>
              <a:buFont typeface="Calibri"/>
              <a:buNone/>
              <a:defRPr sz="900"/>
            </a:lvl7pPr>
            <a:lvl8pPr indent="0" lvl="7" marL="3200400" rtl="0">
              <a:spcBef>
                <a:spcPts val="0"/>
              </a:spcBef>
              <a:buFont typeface="Calibri"/>
              <a:buNone/>
              <a:defRPr sz="900"/>
            </a:lvl8pPr>
            <a:lvl9pPr indent="0" lvl="8" marL="3657600" rtl="0">
              <a:spcBef>
                <a:spcPts val="0"/>
              </a:spcBef>
              <a:buFont typeface="Calibri"/>
              <a:buNone/>
              <a:defRPr sz="900"/>
            </a:lvl9pPr>
          </a:lstStyle>
          <a:p/>
        </p:txBody>
      </p:sp>
      <p:sp>
        <p:nvSpPr>
          <p:cNvPr id="46" name="Shape 46"/>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47" name="Shape 47"/>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9pPr>
          </a:lstStyle>
          <a:p/>
        </p:txBody>
      </p:sp>
      <p:sp>
        <p:nvSpPr>
          <p:cNvPr id="48" name="Shape 48"/>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s-AR"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49" name="Shape 49"/>
        <p:cNvGrpSpPr/>
        <p:nvPr/>
      </p:nvGrpSpPr>
      <p:grpSpPr>
        <a:xfrm>
          <a:off x="0" y="0"/>
          <a:ext cx="0" cy="0"/>
          <a:chOff x="0" y="0"/>
          <a:chExt cx="0" cy="0"/>
        </a:xfrm>
      </p:grpSpPr>
      <p:sp>
        <p:nvSpPr>
          <p:cNvPr id="50" name="Shape 50"/>
          <p:cNvSpPr txBox="1"/>
          <p:nvPr>
            <p:ph type="title"/>
          </p:nvPr>
        </p:nvSpPr>
        <p:spPr>
          <a:xfrm>
            <a:off x="457200" y="274637"/>
            <a:ext cx="8229600" cy="1143000"/>
          </a:xfrm>
          <a:prstGeom prst="rect">
            <a:avLst/>
          </a:prstGeom>
          <a:noFill/>
          <a:ln>
            <a:noFill/>
          </a:ln>
        </p:spPr>
        <p:txBody>
          <a:bodyPr anchorCtr="0" anchor="ctr" bIns="91425" lIns="91425" rIns="91425" tIns="91425"/>
          <a:lstStyle>
            <a:lvl1pPr lvl="0" rtl="0" algn="ctr">
              <a:spcBef>
                <a:spcPts val="0"/>
              </a:spcBef>
              <a:buClr>
                <a:schemeClr val="dk1"/>
              </a:buClr>
              <a:buFont typeface="Calibri"/>
              <a:buNone/>
              <a:defRPr sz="4400">
                <a:solidFill>
                  <a:schemeClr val="dk1"/>
                </a:solidFill>
                <a:latin typeface="Calibri"/>
                <a:ea typeface="Calibri"/>
                <a:cs typeface="Calibri"/>
                <a:sym typeface="Calibri"/>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51" name="Shape 51"/>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52" name="Shape 52"/>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9pPr>
          </a:lstStyle>
          <a:p/>
        </p:txBody>
      </p:sp>
      <p:sp>
        <p:nvSpPr>
          <p:cNvPr id="53" name="Shape 53"/>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s-AR"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TxTwoObj">
  <p:cSld name="Comparison">
    <p:spTree>
      <p:nvGrpSpPr>
        <p:cNvPr id="54" name="Shape 54"/>
        <p:cNvGrpSpPr/>
        <p:nvPr/>
      </p:nvGrpSpPr>
      <p:grpSpPr>
        <a:xfrm>
          <a:off x="0" y="0"/>
          <a:ext cx="0" cy="0"/>
          <a:chOff x="0" y="0"/>
          <a:chExt cx="0" cy="0"/>
        </a:xfrm>
      </p:grpSpPr>
      <p:sp>
        <p:nvSpPr>
          <p:cNvPr id="55" name="Shape 55"/>
          <p:cNvSpPr txBox="1"/>
          <p:nvPr>
            <p:ph type="title"/>
          </p:nvPr>
        </p:nvSpPr>
        <p:spPr>
          <a:xfrm>
            <a:off x="457200" y="274637"/>
            <a:ext cx="8229600" cy="1143000"/>
          </a:xfrm>
          <a:prstGeom prst="rect">
            <a:avLst/>
          </a:prstGeom>
          <a:noFill/>
          <a:ln>
            <a:noFill/>
          </a:ln>
        </p:spPr>
        <p:txBody>
          <a:bodyPr anchorCtr="0" anchor="ctr" bIns="91425" lIns="91425" rIns="91425" tIns="91425"/>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56" name="Shape 56"/>
          <p:cNvSpPr txBox="1"/>
          <p:nvPr>
            <p:ph idx="1" type="body"/>
          </p:nvPr>
        </p:nvSpPr>
        <p:spPr>
          <a:xfrm>
            <a:off x="457200" y="1535112"/>
            <a:ext cx="4040187" cy="639762"/>
          </a:xfrm>
          <a:prstGeom prst="rect">
            <a:avLst/>
          </a:prstGeom>
          <a:noFill/>
          <a:ln>
            <a:noFill/>
          </a:ln>
        </p:spPr>
        <p:txBody>
          <a:bodyPr anchorCtr="0" anchor="b" bIns="91425" lIns="91425" rIns="91425" tIns="91425"/>
          <a:lstStyle>
            <a:lvl1pPr indent="0" lvl="0" marL="0" rtl="0">
              <a:spcBef>
                <a:spcPts val="0"/>
              </a:spcBef>
              <a:buFont typeface="Calibri"/>
              <a:buNone/>
              <a:defRPr b="1" sz="2400"/>
            </a:lvl1pPr>
            <a:lvl2pPr indent="0" lvl="1" marL="457200" rtl="0">
              <a:spcBef>
                <a:spcPts val="0"/>
              </a:spcBef>
              <a:buFont typeface="Calibri"/>
              <a:buNone/>
              <a:defRPr b="1" sz="2000"/>
            </a:lvl2pPr>
            <a:lvl3pPr indent="0" lvl="2" marL="914400" rtl="0">
              <a:spcBef>
                <a:spcPts val="0"/>
              </a:spcBef>
              <a:buFont typeface="Calibri"/>
              <a:buNone/>
              <a:defRPr b="1" sz="1800"/>
            </a:lvl3pPr>
            <a:lvl4pPr indent="0" lvl="3" marL="1371600" rtl="0">
              <a:spcBef>
                <a:spcPts val="0"/>
              </a:spcBef>
              <a:buFont typeface="Calibri"/>
              <a:buNone/>
              <a:defRPr b="1" sz="1600"/>
            </a:lvl4pPr>
            <a:lvl5pPr indent="0" lvl="4" marL="1828800" rtl="0">
              <a:spcBef>
                <a:spcPts val="0"/>
              </a:spcBef>
              <a:buFont typeface="Calibri"/>
              <a:buNone/>
              <a:defRPr b="1" sz="1600"/>
            </a:lvl5pPr>
            <a:lvl6pPr indent="0" lvl="5" marL="2286000" rtl="0">
              <a:spcBef>
                <a:spcPts val="0"/>
              </a:spcBef>
              <a:buFont typeface="Calibri"/>
              <a:buNone/>
              <a:defRPr b="1" sz="1600"/>
            </a:lvl6pPr>
            <a:lvl7pPr indent="0" lvl="6" marL="2743200" rtl="0">
              <a:spcBef>
                <a:spcPts val="0"/>
              </a:spcBef>
              <a:buFont typeface="Calibri"/>
              <a:buNone/>
              <a:defRPr b="1" sz="1600"/>
            </a:lvl7pPr>
            <a:lvl8pPr indent="0" lvl="7" marL="3200400" rtl="0">
              <a:spcBef>
                <a:spcPts val="0"/>
              </a:spcBef>
              <a:buFont typeface="Calibri"/>
              <a:buNone/>
              <a:defRPr b="1" sz="1600"/>
            </a:lvl8pPr>
            <a:lvl9pPr indent="0" lvl="8" marL="3657600" rtl="0">
              <a:spcBef>
                <a:spcPts val="0"/>
              </a:spcBef>
              <a:buFont typeface="Calibri"/>
              <a:buNone/>
              <a:defRPr b="1" sz="1600"/>
            </a:lvl9pPr>
          </a:lstStyle>
          <a:p/>
        </p:txBody>
      </p:sp>
      <p:sp>
        <p:nvSpPr>
          <p:cNvPr id="57" name="Shape 57"/>
          <p:cNvSpPr txBox="1"/>
          <p:nvPr>
            <p:ph idx="2" type="body"/>
          </p:nvPr>
        </p:nvSpPr>
        <p:spPr>
          <a:xfrm>
            <a:off x="457200" y="2174875"/>
            <a:ext cx="4040187" cy="3951287"/>
          </a:xfrm>
          <a:prstGeom prst="rect">
            <a:avLst/>
          </a:prstGeom>
          <a:noFill/>
          <a:ln>
            <a:noFill/>
          </a:ln>
        </p:spPr>
        <p:txBody>
          <a:bodyPr anchorCtr="0" anchor="t" bIns="91425" lIns="91425" rIns="91425" tIns="91425"/>
          <a:lstStyle>
            <a:lvl1pPr lvl="0" rtl="0">
              <a:spcBef>
                <a:spcPts val="0"/>
              </a:spcBef>
              <a:defRPr sz="2400"/>
            </a:lvl1pPr>
            <a:lvl2pPr lvl="1" rtl="0">
              <a:spcBef>
                <a:spcPts val="0"/>
              </a:spcBef>
              <a:defRPr sz="2000"/>
            </a:lvl2pPr>
            <a:lvl3pPr lvl="2" rtl="0">
              <a:spcBef>
                <a:spcPts val="0"/>
              </a:spcBef>
              <a:defRPr sz="1800"/>
            </a:lvl3pPr>
            <a:lvl4pPr lvl="3" rtl="0">
              <a:spcBef>
                <a:spcPts val="0"/>
              </a:spcBef>
              <a:defRPr sz="1600"/>
            </a:lvl4pPr>
            <a:lvl5pPr lvl="4" rtl="0">
              <a:spcBef>
                <a:spcPts val="0"/>
              </a:spcBef>
              <a:defRPr sz="1600"/>
            </a:lvl5pPr>
            <a:lvl6pPr lvl="5" rtl="0">
              <a:spcBef>
                <a:spcPts val="0"/>
              </a:spcBef>
              <a:defRPr sz="1600"/>
            </a:lvl6pPr>
            <a:lvl7pPr lvl="6" rtl="0">
              <a:spcBef>
                <a:spcPts val="0"/>
              </a:spcBef>
              <a:defRPr sz="1600"/>
            </a:lvl7pPr>
            <a:lvl8pPr lvl="7" rtl="0">
              <a:spcBef>
                <a:spcPts val="0"/>
              </a:spcBef>
              <a:defRPr sz="1600"/>
            </a:lvl8pPr>
            <a:lvl9pPr lvl="8" rtl="0">
              <a:spcBef>
                <a:spcPts val="0"/>
              </a:spcBef>
              <a:defRPr sz="1600"/>
            </a:lvl9pPr>
          </a:lstStyle>
          <a:p/>
        </p:txBody>
      </p:sp>
      <p:sp>
        <p:nvSpPr>
          <p:cNvPr id="58" name="Shape 58"/>
          <p:cNvSpPr txBox="1"/>
          <p:nvPr>
            <p:ph idx="3" type="body"/>
          </p:nvPr>
        </p:nvSpPr>
        <p:spPr>
          <a:xfrm>
            <a:off x="4645025" y="1535112"/>
            <a:ext cx="4041774" cy="639762"/>
          </a:xfrm>
          <a:prstGeom prst="rect">
            <a:avLst/>
          </a:prstGeom>
          <a:noFill/>
          <a:ln>
            <a:noFill/>
          </a:ln>
        </p:spPr>
        <p:txBody>
          <a:bodyPr anchorCtr="0" anchor="b" bIns="91425" lIns="91425" rIns="91425" tIns="91425"/>
          <a:lstStyle>
            <a:lvl1pPr indent="0" lvl="0" marL="0" rtl="0">
              <a:spcBef>
                <a:spcPts val="0"/>
              </a:spcBef>
              <a:buFont typeface="Calibri"/>
              <a:buNone/>
              <a:defRPr b="1" sz="2400"/>
            </a:lvl1pPr>
            <a:lvl2pPr indent="0" lvl="1" marL="457200" rtl="0">
              <a:spcBef>
                <a:spcPts val="0"/>
              </a:spcBef>
              <a:buFont typeface="Calibri"/>
              <a:buNone/>
              <a:defRPr b="1" sz="2000"/>
            </a:lvl2pPr>
            <a:lvl3pPr indent="0" lvl="2" marL="914400" rtl="0">
              <a:spcBef>
                <a:spcPts val="0"/>
              </a:spcBef>
              <a:buFont typeface="Calibri"/>
              <a:buNone/>
              <a:defRPr b="1" sz="1800"/>
            </a:lvl3pPr>
            <a:lvl4pPr indent="0" lvl="3" marL="1371600" rtl="0">
              <a:spcBef>
                <a:spcPts val="0"/>
              </a:spcBef>
              <a:buFont typeface="Calibri"/>
              <a:buNone/>
              <a:defRPr b="1" sz="1600"/>
            </a:lvl4pPr>
            <a:lvl5pPr indent="0" lvl="4" marL="1828800" rtl="0">
              <a:spcBef>
                <a:spcPts val="0"/>
              </a:spcBef>
              <a:buFont typeface="Calibri"/>
              <a:buNone/>
              <a:defRPr b="1" sz="1600"/>
            </a:lvl5pPr>
            <a:lvl6pPr indent="0" lvl="5" marL="2286000" rtl="0">
              <a:spcBef>
                <a:spcPts val="0"/>
              </a:spcBef>
              <a:buFont typeface="Calibri"/>
              <a:buNone/>
              <a:defRPr b="1" sz="1600"/>
            </a:lvl6pPr>
            <a:lvl7pPr indent="0" lvl="6" marL="2743200" rtl="0">
              <a:spcBef>
                <a:spcPts val="0"/>
              </a:spcBef>
              <a:buFont typeface="Calibri"/>
              <a:buNone/>
              <a:defRPr b="1" sz="1600"/>
            </a:lvl7pPr>
            <a:lvl8pPr indent="0" lvl="7" marL="3200400" rtl="0">
              <a:spcBef>
                <a:spcPts val="0"/>
              </a:spcBef>
              <a:buFont typeface="Calibri"/>
              <a:buNone/>
              <a:defRPr b="1" sz="1600"/>
            </a:lvl8pPr>
            <a:lvl9pPr indent="0" lvl="8" marL="3657600" rtl="0">
              <a:spcBef>
                <a:spcPts val="0"/>
              </a:spcBef>
              <a:buFont typeface="Calibri"/>
              <a:buNone/>
              <a:defRPr b="1" sz="1600"/>
            </a:lvl9pPr>
          </a:lstStyle>
          <a:p/>
        </p:txBody>
      </p:sp>
      <p:sp>
        <p:nvSpPr>
          <p:cNvPr id="59" name="Shape 59"/>
          <p:cNvSpPr txBox="1"/>
          <p:nvPr>
            <p:ph idx="4" type="body"/>
          </p:nvPr>
        </p:nvSpPr>
        <p:spPr>
          <a:xfrm>
            <a:off x="4645025" y="2174875"/>
            <a:ext cx="4041774" cy="3951287"/>
          </a:xfrm>
          <a:prstGeom prst="rect">
            <a:avLst/>
          </a:prstGeom>
          <a:noFill/>
          <a:ln>
            <a:noFill/>
          </a:ln>
        </p:spPr>
        <p:txBody>
          <a:bodyPr anchorCtr="0" anchor="t" bIns="91425" lIns="91425" rIns="91425" tIns="91425"/>
          <a:lstStyle>
            <a:lvl1pPr lvl="0" rtl="0">
              <a:spcBef>
                <a:spcPts val="0"/>
              </a:spcBef>
              <a:defRPr sz="2400"/>
            </a:lvl1pPr>
            <a:lvl2pPr lvl="1" rtl="0">
              <a:spcBef>
                <a:spcPts val="0"/>
              </a:spcBef>
              <a:defRPr sz="2000"/>
            </a:lvl2pPr>
            <a:lvl3pPr lvl="2" rtl="0">
              <a:spcBef>
                <a:spcPts val="0"/>
              </a:spcBef>
              <a:defRPr sz="1800"/>
            </a:lvl3pPr>
            <a:lvl4pPr lvl="3" rtl="0">
              <a:spcBef>
                <a:spcPts val="0"/>
              </a:spcBef>
              <a:defRPr sz="1600"/>
            </a:lvl4pPr>
            <a:lvl5pPr lvl="4" rtl="0">
              <a:spcBef>
                <a:spcPts val="0"/>
              </a:spcBef>
              <a:defRPr sz="1600"/>
            </a:lvl5pPr>
            <a:lvl6pPr lvl="5" rtl="0">
              <a:spcBef>
                <a:spcPts val="0"/>
              </a:spcBef>
              <a:defRPr sz="1600"/>
            </a:lvl6pPr>
            <a:lvl7pPr lvl="6" rtl="0">
              <a:spcBef>
                <a:spcPts val="0"/>
              </a:spcBef>
              <a:defRPr sz="1600"/>
            </a:lvl7pPr>
            <a:lvl8pPr lvl="7" rtl="0">
              <a:spcBef>
                <a:spcPts val="0"/>
              </a:spcBef>
              <a:defRPr sz="1600"/>
            </a:lvl8pPr>
            <a:lvl9pPr lvl="8" rtl="0">
              <a:spcBef>
                <a:spcPts val="0"/>
              </a:spcBef>
              <a:defRPr sz="1600"/>
            </a:lvl9pPr>
          </a:lstStyle>
          <a:p/>
        </p:txBody>
      </p:sp>
      <p:sp>
        <p:nvSpPr>
          <p:cNvPr id="60" name="Shape 60"/>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61" name="Shape 61"/>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9pPr>
          </a:lstStyle>
          <a:p/>
        </p:txBody>
      </p:sp>
      <p:sp>
        <p:nvSpPr>
          <p:cNvPr id="62" name="Shape 62"/>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s-AR"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Obj">
  <p:cSld name="Two Content">
    <p:spTree>
      <p:nvGrpSpPr>
        <p:cNvPr id="63" name="Shape 63"/>
        <p:cNvGrpSpPr/>
        <p:nvPr/>
      </p:nvGrpSpPr>
      <p:grpSpPr>
        <a:xfrm>
          <a:off x="0" y="0"/>
          <a:ext cx="0" cy="0"/>
          <a:chOff x="0" y="0"/>
          <a:chExt cx="0" cy="0"/>
        </a:xfrm>
      </p:grpSpPr>
      <p:sp>
        <p:nvSpPr>
          <p:cNvPr id="64" name="Shape 64"/>
          <p:cNvSpPr txBox="1"/>
          <p:nvPr>
            <p:ph type="title"/>
          </p:nvPr>
        </p:nvSpPr>
        <p:spPr>
          <a:xfrm>
            <a:off x="457200" y="274637"/>
            <a:ext cx="8229600" cy="1143000"/>
          </a:xfrm>
          <a:prstGeom prst="rect">
            <a:avLst/>
          </a:prstGeom>
          <a:noFill/>
          <a:ln>
            <a:noFill/>
          </a:ln>
        </p:spPr>
        <p:txBody>
          <a:bodyPr anchorCtr="0" anchor="ctr" bIns="91425" lIns="91425" rIns="91425" tIns="91425"/>
          <a:lstStyle>
            <a:lvl1pPr lvl="0" rtl="0" algn="ctr">
              <a:spcBef>
                <a:spcPts val="0"/>
              </a:spcBef>
              <a:buClr>
                <a:schemeClr val="dk1"/>
              </a:buClr>
              <a:buFont typeface="Calibri"/>
              <a:buNone/>
              <a:defRPr sz="4400">
                <a:solidFill>
                  <a:schemeClr val="dk1"/>
                </a:solidFill>
                <a:latin typeface="Calibri"/>
                <a:ea typeface="Calibri"/>
                <a:cs typeface="Calibri"/>
                <a:sym typeface="Calibri"/>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65" name="Shape 65"/>
          <p:cNvSpPr txBox="1"/>
          <p:nvPr>
            <p:ph idx="1" type="body"/>
          </p:nvPr>
        </p:nvSpPr>
        <p:spPr>
          <a:xfrm>
            <a:off x="457200" y="1600200"/>
            <a:ext cx="4038599" cy="4525963"/>
          </a:xfrm>
          <a:prstGeom prst="rect">
            <a:avLst/>
          </a:prstGeom>
          <a:noFill/>
          <a:ln>
            <a:noFill/>
          </a:ln>
        </p:spPr>
        <p:txBody>
          <a:bodyPr anchorCtr="0" anchor="t" bIns="91425" lIns="91425" rIns="91425" tIns="91425"/>
          <a:lstStyle>
            <a:lvl1pPr lvl="0" rtl="0">
              <a:spcBef>
                <a:spcPts val="0"/>
              </a:spcBef>
              <a:defRPr sz="2800"/>
            </a:lvl1pPr>
            <a:lvl2pPr lvl="1" rtl="0">
              <a:spcBef>
                <a:spcPts val="0"/>
              </a:spcBef>
              <a:defRPr sz="2400"/>
            </a:lvl2pPr>
            <a:lvl3pPr lvl="2" rtl="0">
              <a:spcBef>
                <a:spcPts val="0"/>
              </a:spcBef>
              <a:defRPr sz="2000"/>
            </a:lvl3pPr>
            <a:lvl4pPr lvl="3" rtl="0">
              <a:spcBef>
                <a:spcPts val="0"/>
              </a:spcBef>
              <a:defRPr sz="1800"/>
            </a:lvl4pPr>
            <a:lvl5pPr lvl="4" rtl="0">
              <a:spcBef>
                <a:spcPts val="0"/>
              </a:spcBef>
              <a:defRPr sz="1800"/>
            </a:lvl5pPr>
            <a:lvl6pPr lvl="5" rtl="0">
              <a:spcBef>
                <a:spcPts val="0"/>
              </a:spcBef>
              <a:defRPr sz="1800"/>
            </a:lvl6pPr>
            <a:lvl7pPr lvl="6" rtl="0">
              <a:spcBef>
                <a:spcPts val="0"/>
              </a:spcBef>
              <a:defRPr sz="1800"/>
            </a:lvl7pPr>
            <a:lvl8pPr lvl="7" rtl="0">
              <a:spcBef>
                <a:spcPts val="0"/>
              </a:spcBef>
              <a:defRPr sz="1800"/>
            </a:lvl8pPr>
            <a:lvl9pPr lvl="8" rtl="0">
              <a:spcBef>
                <a:spcPts val="0"/>
              </a:spcBef>
              <a:defRPr sz="1800"/>
            </a:lvl9pPr>
          </a:lstStyle>
          <a:p/>
        </p:txBody>
      </p:sp>
      <p:sp>
        <p:nvSpPr>
          <p:cNvPr id="66" name="Shape 66"/>
          <p:cNvSpPr txBox="1"/>
          <p:nvPr>
            <p:ph idx="2" type="body"/>
          </p:nvPr>
        </p:nvSpPr>
        <p:spPr>
          <a:xfrm>
            <a:off x="4648200" y="1600200"/>
            <a:ext cx="4038599" cy="4525963"/>
          </a:xfrm>
          <a:prstGeom prst="rect">
            <a:avLst/>
          </a:prstGeom>
          <a:noFill/>
          <a:ln>
            <a:noFill/>
          </a:ln>
        </p:spPr>
        <p:txBody>
          <a:bodyPr anchorCtr="0" anchor="t" bIns="91425" lIns="91425" rIns="91425" tIns="91425"/>
          <a:lstStyle>
            <a:lvl1pPr lvl="0" rtl="0">
              <a:spcBef>
                <a:spcPts val="0"/>
              </a:spcBef>
              <a:defRPr sz="2800"/>
            </a:lvl1pPr>
            <a:lvl2pPr lvl="1" rtl="0">
              <a:spcBef>
                <a:spcPts val="0"/>
              </a:spcBef>
              <a:defRPr sz="2400"/>
            </a:lvl2pPr>
            <a:lvl3pPr lvl="2" rtl="0">
              <a:spcBef>
                <a:spcPts val="0"/>
              </a:spcBef>
              <a:defRPr sz="2000"/>
            </a:lvl3pPr>
            <a:lvl4pPr lvl="3" rtl="0">
              <a:spcBef>
                <a:spcPts val="0"/>
              </a:spcBef>
              <a:defRPr sz="1800"/>
            </a:lvl4pPr>
            <a:lvl5pPr lvl="4" rtl="0">
              <a:spcBef>
                <a:spcPts val="0"/>
              </a:spcBef>
              <a:defRPr sz="1800"/>
            </a:lvl5pPr>
            <a:lvl6pPr lvl="5" rtl="0">
              <a:spcBef>
                <a:spcPts val="0"/>
              </a:spcBef>
              <a:defRPr sz="1800"/>
            </a:lvl6pPr>
            <a:lvl7pPr lvl="6" rtl="0">
              <a:spcBef>
                <a:spcPts val="0"/>
              </a:spcBef>
              <a:defRPr sz="1800"/>
            </a:lvl7pPr>
            <a:lvl8pPr lvl="7" rtl="0">
              <a:spcBef>
                <a:spcPts val="0"/>
              </a:spcBef>
              <a:defRPr sz="1800"/>
            </a:lvl8pPr>
            <a:lvl9pPr lvl="8" rtl="0">
              <a:spcBef>
                <a:spcPts val="0"/>
              </a:spcBef>
              <a:defRPr sz="1800"/>
            </a:lvl9pPr>
          </a:lstStyle>
          <a:p/>
        </p:txBody>
      </p:sp>
      <p:sp>
        <p:nvSpPr>
          <p:cNvPr id="67" name="Shape 67"/>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68" name="Shape 68"/>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9pPr>
          </a:lstStyle>
          <a:p/>
        </p:txBody>
      </p:sp>
      <p:sp>
        <p:nvSpPr>
          <p:cNvPr id="69" name="Shape 69"/>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s-AR"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secHead">
  <p:cSld name="Section Header">
    <p:spTree>
      <p:nvGrpSpPr>
        <p:cNvPr id="70" name="Shape 70"/>
        <p:cNvGrpSpPr/>
        <p:nvPr/>
      </p:nvGrpSpPr>
      <p:grpSpPr>
        <a:xfrm>
          <a:off x="0" y="0"/>
          <a:ext cx="0" cy="0"/>
          <a:chOff x="0" y="0"/>
          <a:chExt cx="0" cy="0"/>
        </a:xfrm>
      </p:grpSpPr>
      <p:sp>
        <p:nvSpPr>
          <p:cNvPr id="71" name="Shape 71"/>
          <p:cNvSpPr txBox="1"/>
          <p:nvPr>
            <p:ph type="title"/>
          </p:nvPr>
        </p:nvSpPr>
        <p:spPr>
          <a:xfrm>
            <a:off x="722312" y="4406900"/>
            <a:ext cx="7772400" cy="1362075"/>
          </a:xfrm>
          <a:prstGeom prst="rect">
            <a:avLst/>
          </a:prstGeom>
          <a:noFill/>
          <a:ln>
            <a:noFill/>
          </a:ln>
        </p:spPr>
        <p:txBody>
          <a:bodyPr anchorCtr="0" anchor="t" bIns="91425" lIns="91425" rIns="91425" tIns="91425"/>
          <a:lstStyle>
            <a:lvl1pPr lvl="0" rtl="0" algn="l">
              <a:spcBef>
                <a:spcPts val="0"/>
              </a:spcBef>
              <a:defRPr b="1" sz="4000" cap="none"/>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72" name="Shape 72"/>
          <p:cNvSpPr txBox="1"/>
          <p:nvPr>
            <p:ph idx="1" type="body"/>
          </p:nvPr>
        </p:nvSpPr>
        <p:spPr>
          <a:xfrm>
            <a:off x="722312" y="2906713"/>
            <a:ext cx="7772400" cy="1500187"/>
          </a:xfrm>
          <a:prstGeom prst="rect">
            <a:avLst/>
          </a:prstGeom>
          <a:noFill/>
          <a:ln>
            <a:noFill/>
          </a:ln>
        </p:spPr>
        <p:txBody>
          <a:bodyPr anchorCtr="0" anchor="b" bIns="91425" lIns="91425" rIns="91425" tIns="91425"/>
          <a:lstStyle>
            <a:lvl1pPr indent="0" lvl="0" marL="0" rtl="0">
              <a:spcBef>
                <a:spcPts val="0"/>
              </a:spcBef>
              <a:buClr>
                <a:srgbClr val="888888"/>
              </a:buClr>
              <a:buFont typeface="Calibri"/>
              <a:buNone/>
              <a:defRPr sz="2000">
                <a:solidFill>
                  <a:srgbClr val="888888"/>
                </a:solidFill>
              </a:defRPr>
            </a:lvl1pPr>
            <a:lvl2pPr indent="0" lvl="1" marL="457200" rtl="0">
              <a:spcBef>
                <a:spcPts val="0"/>
              </a:spcBef>
              <a:buClr>
                <a:srgbClr val="888888"/>
              </a:buClr>
              <a:buFont typeface="Calibri"/>
              <a:buNone/>
              <a:defRPr sz="1800">
                <a:solidFill>
                  <a:srgbClr val="888888"/>
                </a:solidFill>
              </a:defRPr>
            </a:lvl2pPr>
            <a:lvl3pPr indent="0" lvl="2" marL="914400" rtl="0">
              <a:spcBef>
                <a:spcPts val="0"/>
              </a:spcBef>
              <a:buClr>
                <a:srgbClr val="888888"/>
              </a:buClr>
              <a:buFont typeface="Calibri"/>
              <a:buNone/>
              <a:defRPr sz="1600">
                <a:solidFill>
                  <a:srgbClr val="888888"/>
                </a:solidFill>
              </a:defRPr>
            </a:lvl3pPr>
            <a:lvl4pPr indent="0" lvl="3" marL="1371600" rtl="0">
              <a:spcBef>
                <a:spcPts val="0"/>
              </a:spcBef>
              <a:buClr>
                <a:srgbClr val="888888"/>
              </a:buClr>
              <a:buFont typeface="Calibri"/>
              <a:buNone/>
              <a:defRPr sz="1400">
                <a:solidFill>
                  <a:srgbClr val="888888"/>
                </a:solidFill>
              </a:defRPr>
            </a:lvl4pPr>
            <a:lvl5pPr indent="0" lvl="4" marL="1828800" rtl="0">
              <a:spcBef>
                <a:spcPts val="0"/>
              </a:spcBef>
              <a:buClr>
                <a:srgbClr val="888888"/>
              </a:buClr>
              <a:buFont typeface="Calibri"/>
              <a:buNone/>
              <a:defRPr sz="1400">
                <a:solidFill>
                  <a:srgbClr val="888888"/>
                </a:solidFill>
              </a:defRPr>
            </a:lvl5pPr>
            <a:lvl6pPr indent="0" lvl="5" marL="2286000" rtl="0">
              <a:spcBef>
                <a:spcPts val="0"/>
              </a:spcBef>
              <a:buClr>
                <a:srgbClr val="888888"/>
              </a:buClr>
              <a:buFont typeface="Calibri"/>
              <a:buNone/>
              <a:defRPr sz="1400">
                <a:solidFill>
                  <a:srgbClr val="888888"/>
                </a:solidFill>
              </a:defRPr>
            </a:lvl6pPr>
            <a:lvl7pPr indent="0" lvl="6" marL="2743200" rtl="0">
              <a:spcBef>
                <a:spcPts val="0"/>
              </a:spcBef>
              <a:buClr>
                <a:srgbClr val="888888"/>
              </a:buClr>
              <a:buFont typeface="Calibri"/>
              <a:buNone/>
              <a:defRPr sz="1400">
                <a:solidFill>
                  <a:srgbClr val="888888"/>
                </a:solidFill>
              </a:defRPr>
            </a:lvl7pPr>
            <a:lvl8pPr indent="0" lvl="7" marL="3200400" rtl="0">
              <a:spcBef>
                <a:spcPts val="0"/>
              </a:spcBef>
              <a:buClr>
                <a:srgbClr val="888888"/>
              </a:buClr>
              <a:buFont typeface="Calibri"/>
              <a:buNone/>
              <a:defRPr sz="1400">
                <a:solidFill>
                  <a:srgbClr val="888888"/>
                </a:solidFill>
              </a:defRPr>
            </a:lvl8pPr>
            <a:lvl9pPr indent="0" lvl="8" marL="3657600" rtl="0">
              <a:spcBef>
                <a:spcPts val="0"/>
              </a:spcBef>
              <a:buClr>
                <a:srgbClr val="888888"/>
              </a:buClr>
              <a:buFont typeface="Calibri"/>
              <a:buNone/>
              <a:defRPr sz="1400">
                <a:solidFill>
                  <a:srgbClr val="888888"/>
                </a:solidFill>
              </a:defRPr>
            </a:lvl9pPr>
          </a:lstStyle>
          <a:p/>
        </p:txBody>
      </p:sp>
      <p:sp>
        <p:nvSpPr>
          <p:cNvPr id="73" name="Shape 73"/>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74" name="Shape 74"/>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9pPr>
          </a:lstStyle>
          <a:p/>
        </p:txBody>
      </p:sp>
      <p:sp>
        <p:nvSpPr>
          <p:cNvPr id="75" name="Shape 75"/>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s-AR"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
  <p:cSld name="Title and Content">
    <p:spTree>
      <p:nvGrpSpPr>
        <p:cNvPr id="76" name="Shape 76"/>
        <p:cNvGrpSpPr/>
        <p:nvPr/>
      </p:nvGrpSpPr>
      <p:grpSpPr>
        <a:xfrm>
          <a:off x="0" y="0"/>
          <a:ext cx="0" cy="0"/>
          <a:chOff x="0" y="0"/>
          <a:chExt cx="0" cy="0"/>
        </a:xfrm>
      </p:grpSpPr>
      <p:sp>
        <p:nvSpPr>
          <p:cNvPr id="77" name="Shape 77"/>
          <p:cNvSpPr txBox="1"/>
          <p:nvPr>
            <p:ph type="title"/>
          </p:nvPr>
        </p:nvSpPr>
        <p:spPr>
          <a:xfrm>
            <a:off x="457200" y="274637"/>
            <a:ext cx="8229600" cy="1143000"/>
          </a:xfrm>
          <a:prstGeom prst="rect">
            <a:avLst/>
          </a:prstGeom>
          <a:noFill/>
          <a:ln>
            <a:noFill/>
          </a:ln>
        </p:spPr>
        <p:txBody>
          <a:bodyPr anchorCtr="0" anchor="ctr" bIns="91425" lIns="91425" rIns="91425" tIns="91425"/>
          <a:lstStyle>
            <a:lvl1pPr lvl="0" rtl="0" algn="ctr">
              <a:spcBef>
                <a:spcPts val="0"/>
              </a:spcBef>
              <a:buClr>
                <a:schemeClr val="dk1"/>
              </a:buClr>
              <a:buFont typeface="Calibri"/>
              <a:buNone/>
              <a:defRPr sz="4400">
                <a:solidFill>
                  <a:schemeClr val="dk1"/>
                </a:solidFill>
                <a:latin typeface="Calibri"/>
                <a:ea typeface="Calibri"/>
                <a:cs typeface="Calibri"/>
                <a:sym typeface="Calibri"/>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78" name="Shape 78"/>
          <p:cNvSpPr txBox="1"/>
          <p:nvPr>
            <p:ph idx="1" type="body"/>
          </p:nvPr>
        </p:nvSpPr>
        <p:spPr>
          <a:xfrm>
            <a:off x="457200" y="1600200"/>
            <a:ext cx="8229600" cy="4525961"/>
          </a:xfrm>
          <a:prstGeom prst="rect">
            <a:avLst/>
          </a:prstGeom>
          <a:noFill/>
          <a:ln>
            <a:noFill/>
          </a:ln>
        </p:spPr>
        <p:txBody>
          <a:bodyPr anchorCtr="0" anchor="t" bIns="91425" lIns="91425" rIns="91425" tIns="91425"/>
          <a:lstStyle>
            <a:lvl1pPr indent="-139700" lvl="0" marL="342900" rtl="0" algn="l">
              <a:spcBef>
                <a:spcPts val="640"/>
              </a:spcBef>
              <a:buClr>
                <a:schemeClr val="dk1"/>
              </a:buClr>
              <a:buFont typeface="Arial"/>
              <a:buChar char="•"/>
              <a:defRPr sz="3200">
                <a:solidFill>
                  <a:schemeClr val="dk1"/>
                </a:solidFill>
                <a:latin typeface="Calibri"/>
                <a:ea typeface="Calibri"/>
                <a:cs typeface="Calibri"/>
                <a:sym typeface="Calibri"/>
              </a:defRPr>
            </a:lvl1pPr>
            <a:lvl2pPr indent="-107950" lvl="1" marL="742950" rtl="0" algn="l">
              <a:spcBef>
                <a:spcPts val="560"/>
              </a:spcBef>
              <a:buClr>
                <a:schemeClr val="dk1"/>
              </a:buClr>
              <a:buFont typeface="Arial"/>
              <a:buChar char="–"/>
              <a:defRPr sz="2800">
                <a:solidFill>
                  <a:schemeClr val="dk1"/>
                </a:solidFill>
                <a:latin typeface="Calibri"/>
                <a:ea typeface="Calibri"/>
                <a:cs typeface="Calibri"/>
                <a:sym typeface="Calibri"/>
              </a:defRPr>
            </a:lvl2pPr>
            <a:lvl3pPr indent="-76200" lvl="2" marL="1143000" rtl="0" algn="l">
              <a:spcBef>
                <a:spcPts val="480"/>
              </a:spcBef>
              <a:buClr>
                <a:schemeClr val="dk1"/>
              </a:buClr>
              <a:buFont typeface="Arial"/>
              <a:buChar char="•"/>
              <a:defRPr sz="2400">
                <a:solidFill>
                  <a:schemeClr val="dk1"/>
                </a:solidFill>
                <a:latin typeface="Calibri"/>
                <a:ea typeface="Calibri"/>
                <a:cs typeface="Calibri"/>
                <a:sym typeface="Calibri"/>
              </a:defRPr>
            </a:lvl3pPr>
            <a:lvl4pPr indent="-101600" lvl="3" marL="1600200" rtl="0" algn="l">
              <a:spcBef>
                <a:spcPts val="400"/>
              </a:spcBef>
              <a:buClr>
                <a:schemeClr val="dk1"/>
              </a:buClr>
              <a:buFont typeface="Arial"/>
              <a:buChar char="–"/>
              <a:defRPr sz="2000">
                <a:solidFill>
                  <a:schemeClr val="dk1"/>
                </a:solidFill>
                <a:latin typeface="Calibri"/>
                <a:ea typeface="Calibri"/>
                <a:cs typeface="Calibri"/>
                <a:sym typeface="Calibri"/>
              </a:defRPr>
            </a:lvl4pPr>
            <a:lvl5pPr indent="-101600" lvl="4" marL="2057400" rtl="0" algn="l">
              <a:spcBef>
                <a:spcPts val="400"/>
              </a:spcBef>
              <a:buClr>
                <a:schemeClr val="dk1"/>
              </a:buClr>
              <a:buFont typeface="Arial"/>
              <a:buChar char="»"/>
              <a:defRPr sz="2000">
                <a:solidFill>
                  <a:schemeClr val="dk1"/>
                </a:solidFill>
                <a:latin typeface="Calibri"/>
                <a:ea typeface="Calibri"/>
                <a:cs typeface="Calibri"/>
                <a:sym typeface="Calibri"/>
              </a:defRPr>
            </a:lvl5pPr>
            <a:lvl6pPr indent="-101600" lvl="5" marL="2514600" rtl="0" algn="l">
              <a:spcBef>
                <a:spcPts val="400"/>
              </a:spcBef>
              <a:buClr>
                <a:schemeClr val="dk1"/>
              </a:buClr>
              <a:buFont typeface="Arial"/>
              <a:buChar char="•"/>
              <a:defRPr sz="2000">
                <a:solidFill>
                  <a:schemeClr val="dk1"/>
                </a:solidFill>
                <a:latin typeface="Calibri"/>
                <a:ea typeface="Calibri"/>
                <a:cs typeface="Calibri"/>
                <a:sym typeface="Calibri"/>
              </a:defRPr>
            </a:lvl6pPr>
            <a:lvl7pPr indent="-101600" lvl="6" marL="2971800" rtl="0" algn="l">
              <a:spcBef>
                <a:spcPts val="400"/>
              </a:spcBef>
              <a:buClr>
                <a:schemeClr val="dk1"/>
              </a:buClr>
              <a:buFont typeface="Arial"/>
              <a:buChar char="•"/>
              <a:defRPr sz="2000">
                <a:solidFill>
                  <a:schemeClr val="dk1"/>
                </a:solidFill>
                <a:latin typeface="Calibri"/>
                <a:ea typeface="Calibri"/>
                <a:cs typeface="Calibri"/>
                <a:sym typeface="Calibri"/>
              </a:defRPr>
            </a:lvl7pPr>
            <a:lvl8pPr indent="-101600" lvl="7" marL="3429000" rtl="0" algn="l">
              <a:spcBef>
                <a:spcPts val="400"/>
              </a:spcBef>
              <a:buClr>
                <a:schemeClr val="dk1"/>
              </a:buClr>
              <a:buFont typeface="Arial"/>
              <a:buChar char="•"/>
              <a:defRPr sz="2000">
                <a:solidFill>
                  <a:schemeClr val="dk1"/>
                </a:solidFill>
                <a:latin typeface="Calibri"/>
                <a:ea typeface="Calibri"/>
                <a:cs typeface="Calibri"/>
                <a:sym typeface="Calibri"/>
              </a:defRPr>
            </a:lvl8pPr>
            <a:lvl9pPr indent="-101600" lvl="8" marL="3886200" rtl="0" algn="l">
              <a:spcBef>
                <a:spcPts val="400"/>
              </a:spcBef>
              <a:buClr>
                <a:schemeClr val="dk1"/>
              </a:buClr>
              <a:buFont typeface="Arial"/>
              <a:buChar char="•"/>
              <a:defRPr sz="2000">
                <a:solidFill>
                  <a:schemeClr val="dk1"/>
                </a:solidFill>
                <a:latin typeface="Calibri"/>
                <a:ea typeface="Calibri"/>
                <a:cs typeface="Calibri"/>
                <a:sym typeface="Calibri"/>
              </a:defRPr>
            </a:lvl9pPr>
          </a:lstStyle>
          <a:p/>
        </p:txBody>
      </p:sp>
      <p:sp>
        <p:nvSpPr>
          <p:cNvPr id="79" name="Shape 79"/>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80" name="Shape 80"/>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9pPr>
          </a:lstStyle>
          <a:p/>
        </p:txBody>
      </p:sp>
      <p:sp>
        <p:nvSpPr>
          <p:cNvPr id="81" name="Shape 81"/>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s-AR"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82" name="Shape 82"/>
        <p:cNvGrpSpPr/>
        <p:nvPr/>
      </p:nvGrpSpPr>
      <p:grpSpPr>
        <a:xfrm>
          <a:off x="0" y="0"/>
          <a:ext cx="0" cy="0"/>
          <a:chOff x="0" y="0"/>
          <a:chExt cx="0" cy="0"/>
        </a:xfrm>
      </p:grpSpPr>
      <p:sp>
        <p:nvSpPr>
          <p:cNvPr id="83" name="Shape 83"/>
          <p:cNvSpPr txBox="1"/>
          <p:nvPr>
            <p:ph type="ctrTitle"/>
          </p:nvPr>
        </p:nvSpPr>
        <p:spPr>
          <a:xfrm>
            <a:off x="685800" y="2130425"/>
            <a:ext cx="7772400" cy="1470024"/>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4400" u="none" cap="none" strike="noStrike">
                <a:solidFill>
                  <a:schemeClr val="dk1"/>
                </a:solidFill>
                <a:latin typeface="Calibri"/>
                <a:ea typeface="Calibri"/>
                <a:cs typeface="Calibri"/>
                <a:sym typeface="Calibri"/>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84" name="Shape 84"/>
          <p:cNvSpPr txBox="1"/>
          <p:nvPr>
            <p:ph idx="1" type="subTitle"/>
          </p:nvPr>
        </p:nvSpPr>
        <p:spPr>
          <a:xfrm>
            <a:off x="1371600" y="3886200"/>
            <a:ext cx="6400799" cy="1752600"/>
          </a:xfrm>
          <a:prstGeom prst="rect">
            <a:avLst/>
          </a:prstGeom>
          <a:noFill/>
          <a:ln>
            <a:noFill/>
          </a:ln>
        </p:spPr>
        <p:txBody>
          <a:bodyPr anchorCtr="0" anchor="t" bIns="91425" lIns="91425" rIns="91425" tIns="91425"/>
          <a:lstStyle>
            <a:lvl1pPr indent="0" lvl="0" marL="0" marR="0" rtl="0" algn="ctr">
              <a:spcBef>
                <a:spcPts val="640"/>
              </a:spcBef>
              <a:buClr>
                <a:srgbClr val="888888"/>
              </a:buClr>
              <a:buFont typeface="Arial"/>
              <a:buNone/>
              <a:defRPr b="0" i="0" sz="3200" u="none" cap="none" strike="noStrike">
                <a:solidFill>
                  <a:srgbClr val="888888"/>
                </a:solidFill>
                <a:latin typeface="Calibri"/>
                <a:ea typeface="Calibri"/>
                <a:cs typeface="Calibri"/>
                <a:sym typeface="Calibri"/>
              </a:defRPr>
            </a:lvl1pPr>
            <a:lvl2pPr indent="0" lvl="1" marL="457200" marR="0" rtl="0" algn="ctr">
              <a:spcBef>
                <a:spcPts val="560"/>
              </a:spcBef>
              <a:buClr>
                <a:srgbClr val="888888"/>
              </a:buClr>
              <a:buFont typeface="Arial"/>
              <a:buNone/>
              <a:defRPr b="0" i="0" sz="2800" u="none" cap="none" strike="noStrike">
                <a:solidFill>
                  <a:srgbClr val="888888"/>
                </a:solidFill>
                <a:latin typeface="Calibri"/>
                <a:ea typeface="Calibri"/>
                <a:cs typeface="Calibri"/>
                <a:sym typeface="Calibri"/>
              </a:defRPr>
            </a:lvl2pPr>
            <a:lvl3pPr indent="0" lvl="2" marL="914400" marR="0" rtl="0" algn="ctr">
              <a:spcBef>
                <a:spcPts val="480"/>
              </a:spcBef>
              <a:buClr>
                <a:srgbClr val="888888"/>
              </a:buClr>
              <a:buFont typeface="Arial"/>
              <a:buNone/>
              <a:defRPr b="0" i="0" sz="2400" u="none" cap="none" strike="noStrike">
                <a:solidFill>
                  <a:srgbClr val="888888"/>
                </a:solidFill>
                <a:latin typeface="Calibri"/>
                <a:ea typeface="Calibri"/>
                <a:cs typeface="Calibri"/>
                <a:sym typeface="Calibri"/>
              </a:defRPr>
            </a:lvl3pPr>
            <a:lvl4pPr indent="0" lvl="3" marL="13716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4pPr>
            <a:lvl5pPr indent="0" lvl="4" marL="18288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5pPr>
            <a:lvl6pPr indent="0" lvl="5" marL="22860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6pPr>
            <a:lvl7pPr indent="0" lvl="6" marL="27432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7pPr>
            <a:lvl8pPr indent="0" lvl="7" marL="32004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8pPr>
            <a:lvl9pPr indent="0" lvl="8" marL="36576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9pPr>
          </a:lstStyle>
          <a:p/>
        </p:txBody>
      </p:sp>
      <p:sp>
        <p:nvSpPr>
          <p:cNvPr id="85" name="Shape 85"/>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86" name="Shape 86"/>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9pPr>
          </a:lstStyle>
          <a:p/>
        </p:txBody>
      </p:sp>
      <p:sp>
        <p:nvSpPr>
          <p:cNvPr id="87" name="Shape 87"/>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s-AR" sz="1200" u="none" cap="none" strike="noStrike">
                <a:solidFill>
                  <a:srgbClr val="898989"/>
                </a:solidFill>
                <a:latin typeface="Calibri"/>
                <a:ea typeface="Calibri"/>
                <a:cs typeface="Calibri"/>
                <a:sym typeface="Calibri"/>
              </a:rPr>
              <a:t>‹#›</a:t>
            </a:fld>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9" name="Shape 9"/>
        <p:cNvGrpSpPr/>
        <p:nvPr/>
      </p:nvGrpSpPr>
      <p:grpSpPr>
        <a:xfrm>
          <a:off x="0" y="0"/>
          <a:ext cx="0" cy="0"/>
          <a:chOff x="0" y="0"/>
          <a:chExt cx="0" cy="0"/>
        </a:xfrm>
      </p:grpSpPr>
      <p:sp>
        <p:nvSpPr>
          <p:cNvPr id="10" name="Shape 10"/>
          <p:cNvSpPr txBox="1"/>
          <p:nvPr>
            <p:ph type="title"/>
          </p:nvPr>
        </p:nvSpPr>
        <p:spPr>
          <a:xfrm>
            <a:off x="457200" y="274637"/>
            <a:ext cx="8229600" cy="1143000"/>
          </a:xfrm>
          <a:prstGeom prst="rect">
            <a:avLst/>
          </a:prstGeom>
          <a:noFill/>
          <a:ln>
            <a:noFill/>
          </a:ln>
        </p:spPr>
        <p:txBody>
          <a:bodyPr anchorCtr="0" anchor="ctr" bIns="91425" lIns="91425" rIns="91425" tIns="91425"/>
          <a:lstStyle>
            <a:lvl1pPr indent="0" lvl="0" marL="0" marR="0" rtl="0" algn="ctr">
              <a:spcBef>
                <a:spcPts val="0"/>
              </a:spcBef>
              <a:buClr>
                <a:schemeClr val="dk1"/>
              </a:buClr>
              <a:buFont typeface="Calibri"/>
              <a:buNone/>
              <a:defRPr b="0" i="0" sz="4400" u="none" cap="none" strike="noStrike">
                <a:solidFill>
                  <a:schemeClr val="dk1"/>
                </a:solidFill>
                <a:latin typeface="Calibri"/>
                <a:ea typeface="Calibri"/>
                <a:cs typeface="Calibri"/>
                <a:sym typeface="Calibri"/>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11" name="Shape 11"/>
          <p:cNvSpPr txBox="1"/>
          <p:nvPr>
            <p:ph idx="1" type="body"/>
          </p:nvPr>
        </p:nvSpPr>
        <p:spPr>
          <a:xfrm>
            <a:off x="457200" y="1600200"/>
            <a:ext cx="8229600" cy="4525961"/>
          </a:xfrm>
          <a:prstGeom prst="rect">
            <a:avLst/>
          </a:prstGeom>
          <a:noFill/>
          <a:ln>
            <a:noFill/>
          </a:ln>
        </p:spPr>
        <p:txBody>
          <a:bodyPr anchorCtr="0" anchor="t" bIns="91425" lIns="91425" rIns="91425" tIns="91425"/>
          <a:lstStyle>
            <a:lvl1pPr indent="-139700" lvl="0" marL="342900" marR="0" rtl="0" algn="l">
              <a:spcBef>
                <a:spcPts val="640"/>
              </a:spcBef>
              <a:buClr>
                <a:schemeClr val="dk1"/>
              </a:buClr>
              <a:buFont typeface="Arial"/>
              <a:buChar char="•"/>
              <a:defRPr b="0" i="0" sz="3200" u="none" cap="none" strike="noStrike">
                <a:solidFill>
                  <a:schemeClr val="dk1"/>
                </a:solidFill>
                <a:latin typeface="Calibri"/>
                <a:ea typeface="Calibri"/>
                <a:cs typeface="Calibri"/>
                <a:sym typeface="Calibri"/>
              </a:defRPr>
            </a:lvl1pPr>
            <a:lvl2pPr indent="-107950" lvl="1" marL="742950" marR="0" rtl="0" algn="l">
              <a:spcBef>
                <a:spcPts val="560"/>
              </a:spcBef>
              <a:buClr>
                <a:schemeClr val="dk1"/>
              </a:buClr>
              <a:buFont typeface="Arial"/>
              <a:buChar char="–"/>
              <a:defRPr b="0" i="0" sz="2800" u="none" cap="none" strike="noStrike">
                <a:solidFill>
                  <a:schemeClr val="dk1"/>
                </a:solidFill>
                <a:latin typeface="Calibri"/>
                <a:ea typeface="Calibri"/>
                <a:cs typeface="Calibri"/>
                <a:sym typeface="Calibri"/>
              </a:defRPr>
            </a:lvl2pPr>
            <a:lvl3pPr indent="-76200" lvl="2" marL="1143000" marR="0" rtl="0" algn="l">
              <a:spcBef>
                <a:spcPts val="480"/>
              </a:spcBef>
              <a:buClr>
                <a:schemeClr val="dk1"/>
              </a:buClr>
              <a:buFont typeface="Arial"/>
              <a:buChar char="•"/>
              <a:defRPr b="0" i="0" sz="2400" u="none" cap="none" strike="noStrike">
                <a:solidFill>
                  <a:schemeClr val="dk1"/>
                </a:solidFill>
                <a:latin typeface="Calibri"/>
                <a:ea typeface="Calibri"/>
                <a:cs typeface="Calibri"/>
                <a:sym typeface="Calibri"/>
              </a:defRPr>
            </a:lvl3pPr>
            <a:lvl4pPr indent="-101600" lvl="3" marL="1600200" marR="0" rtl="0" algn="l">
              <a:spcBef>
                <a:spcPts val="400"/>
              </a:spcBef>
              <a:buClr>
                <a:schemeClr val="dk1"/>
              </a:buClr>
              <a:buFont typeface="Arial"/>
              <a:buChar char="–"/>
              <a:defRPr b="0" i="0" sz="2000" u="none" cap="none" strike="noStrike">
                <a:solidFill>
                  <a:schemeClr val="dk1"/>
                </a:solidFill>
                <a:latin typeface="Calibri"/>
                <a:ea typeface="Calibri"/>
                <a:cs typeface="Calibri"/>
                <a:sym typeface="Calibri"/>
              </a:defRPr>
            </a:lvl4pPr>
            <a:lvl5pPr indent="-101600" lvl="4" marL="2057400" marR="0" rtl="0" algn="l">
              <a:spcBef>
                <a:spcPts val="400"/>
              </a:spcBef>
              <a:buClr>
                <a:schemeClr val="dk1"/>
              </a:buClr>
              <a:buFont typeface="Arial"/>
              <a:buChar char="»"/>
              <a:defRPr b="0" i="0" sz="20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Shape 12"/>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defRPr b="0" i="0" sz="1200" u="none" cap="none" strike="noStrike">
                <a:solidFill>
                  <a:srgbClr val="898989"/>
                </a:solidFill>
                <a:latin typeface="Calibri"/>
                <a:ea typeface="Calibri"/>
                <a:cs typeface="Calibri"/>
                <a:sym typeface="Calibri"/>
              </a:defRPr>
            </a:lvl1pPr>
            <a:lvl2pPr indent="0" lvl="1" marL="4572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9pPr>
          </a:lstStyle>
          <a:p/>
        </p:txBody>
      </p:sp>
      <p:sp>
        <p:nvSpPr>
          <p:cNvPr id="13" name="Shape 13"/>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1pPr>
            <a:lvl2pPr indent="0" lvl="1" marL="4572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6pPr>
            <a:lvl7pPr indent="0" lvl="6" marL="32004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7pPr>
            <a:lvl8pPr indent="0" lvl="7" marL="45720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8pPr>
            <a:lvl9pPr indent="0" lvl="8" marL="6400800" marR="0" rtl="0" algn="l">
              <a:lnSpc>
                <a:spcPct val="100000"/>
              </a:lnSpc>
              <a:spcBef>
                <a:spcPts val="0"/>
              </a:spcBef>
              <a:spcAft>
                <a:spcPts val="0"/>
              </a:spcAft>
              <a:defRPr b="0" i="0" sz="1800" u="none" cap="none" strike="noStrike">
                <a:solidFill>
                  <a:schemeClr val="dk1"/>
                </a:solidFill>
                <a:latin typeface="Calibri"/>
                <a:ea typeface="Calibri"/>
                <a:cs typeface="Calibri"/>
                <a:sym typeface="Calibri"/>
              </a:defRPr>
            </a:lvl9pPr>
          </a:lstStyle>
          <a:p/>
        </p:txBody>
      </p:sp>
      <p:sp>
        <p:nvSpPr>
          <p:cNvPr id="14" name="Shape 14"/>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s-AR" sz="1200" u="none" cap="none" strike="noStrike">
                <a:solidFill>
                  <a:srgbClr val="898989"/>
                </a:solidFill>
                <a:latin typeface="Calibri"/>
                <a:ea typeface="Calibri"/>
                <a:cs typeface="Calibri"/>
                <a:sym typeface="Calibri"/>
              </a:rPr>
              <a:t>‹#›</a:t>
            </a:fld>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00.png"/><Relationship Id="rId4" Type="http://schemas.openxmlformats.org/officeDocument/2006/relationships/image" Target="../media/image02.png"/><Relationship Id="rId5" Type="http://schemas.openxmlformats.org/officeDocument/2006/relationships/image" Target="../media/image03.jpg"/><Relationship Id="rId6" Type="http://schemas.openxmlformats.org/officeDocument/2006/relationships/image" Target="../media/image0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02.png"/><Relationship Id="rId4" Type="http://schemas.openxmlformats.org/officeDocument/2006/relationships/image" Target="../media/image0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02.png"/><Relationship Id="rId4" Type="http://schemas.openxmlformats.org/officeDocument/2006/relationships/image" Target="../media/image0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00.png"/><Relationship Id="rId4" Type="http://schemas.openxmlformats.org/officeDocument/2006/relationships/image" Target="../media/image0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00.png"/><Relationship Id="rId4" Type="http://schemas.openxmlformats.org/officeDocument/2006/relationships/image" Target="../media/image0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2.png"/><Relationship Id="rId6" Type="http://schemas.openxmlformats.org/officeDocument/2006/relationships/image" Target="../media/image0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00.png"/><Relationship Id="rId4" Type="http://schemas.openxmlformats.org/officeDocument/2006/relationships/image" Target="../media/image0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00.png"/><Relationship Id="rId4" Type="http://schemas.openxmlformats.org/officeDocument/2006/relationships/image" Target="../media/image0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00.png"/><Relationship Id="rId4" Type="http://schemas.openxmlformats.org/officeDocument/2006/relationships/image" Target="../media/image02.png"/><Relationship Id="rId5" Type="http://schemas.openxmlformats.org/officeDocument/2006/relationships/image" Target="../media/image0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00.png"/><Relationship Id="rId4" Type="http://schemas.openxmlformats.org/officeDocument/2006/relationships/image" Target="../media/image0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00.png"/><Relationship Id="rId4" Type="http://schemas.openxmlformats.org/officeDocument/2006/relationships/image" Target="../media/image0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2.png"/><Relationship Id="rId6" Type="http://schemas.openxmlformats.org/officeDocument/2006/relationships/image" Target="../media/image08.jpg"/><Relationship Id="rId7" Type="http://schemas.openxmlformats.org/officeDocument/2006/relationships/image" Target="../media/image0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0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02.png"/><Relationship Id="rId4" Type="http://schemas.openxmlformats.org/officeDocument/2006/relationships/image" Target="../media/image1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2.png"/><Relationship Id="rId6" Type="http://schemas.openxmlformats.org/officeDocument/2006/relationships/image" Target="../media/image1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00.png"/><Relationship Id="rId4" Type="http://schemas.openxmlformats.org/officeDocument/2006/relationships/image" Target="../media/image04.png"/><Relationship Id="rId9" Type="http://schemas.openxmlformats.org/officeDocument/2006/relationships/image" Target="../media/image16.jpg"/><Relationship Id="rId5" Type="http://schemas.openxmlformats.org/officeDocument/2006/relationships/image" Target="../media/image02.png"/><Relationship Id="rId6" Type="http://schemas.openxmlformats.org/officeDocument/2006/relationships/image" Target="../media/image09.jpg"/><Relationship Id="rId7" Type="http://schemas.openxmlformats.org/officeDocument/2006/relationships/image" Target="../media/image10.jpg"/><Relationship Id="rId8" Type="http://schemas.openxmlformats.org/officeDocument/2006/relationships/image" Target="../media/image1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2.png"/><Relationship Id="rId6" Type="http://schemas.openxmlformats.org/officeDocument/2006/relationships/image" Target="../media/image15.jpg"/><Relationship Id="rId7" Type="http://schemas.openxmlformats.org/officeDocument/2006/relationships/image" Target="../media/image14.jpg"/><Relationship Id="rId8"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2.png"/><Relationship Id="rId6" Type="http://schemas.openxmlformats.org/officeDocument/2006/relationships/image" Target="../media/image19.jpg"/><Relationship Id="rId7"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2.png"/><Relationship Id="rId6" Type="http://schemas.openxmlformats.org/officeDocument/2006/relationships/image" Target="../media/image18.jpg"/><Relationship Id="rId7" Type="http://schemas.openxmlformats.org/officeDocument/2006/relationships/image" Target="../media/image2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2.png"/><Relationship Id="rId6" Type="http://schemas.openxmlformats.org/officeDocument/2006/relationships/image" Target="../media/image21.jpg"/><Relationship Id="rId7" Type="http://schemas.openxmlformats.org/officeDocument/2006/relationships/image" Target="../media/image20.jpg"/><Relationship Id="rId8"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2.png"/><Relationship Id="rId6" Type="http://schemas.openxmlformats.org/officeDocument/2006/relationships/image" Target="../media/image25.jpg"/><Relationship Id="rId7" Type="http://schemas.openxmlformats.org/officeDocument/2006/relationships/image" Target="../media/image27.jpg"/><Relationship Id="rId8" Type="http://schemas.openxmlformats.org/officeDocument/2006/relationships/image" Target="../media/image2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2.png"/><Relationship Id="rId6" Type="http://schemas.openxmlformats.org/officeDocument/2006/relationships/image" Target="../media/image28.jpg"/><Relationship Id="rId7" Type="http://schemas.openxmlformats.org/officeDocument/2006/relationships/image" Target="../media/image26.jpg"/><Relationship Id="rId8" Type="http://schemas.openxmlformats.org/officeDocument/2006/relationships/image" Target="../media/image3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00.png"/><Relationship Id="rId4" Type="http://schemas.openxmlformats.org/officeDocument/2006/relationships/image" Target="../media/image04.png"/><Relationship Id="rId5" Type="http://schemas.openxmlformats.org/officeDocument/2006/relationships/image" Target="../media/image0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91" name="Shape 91"/>
        <p:cNvGrpSpPr/>
        <p:nvPr/>
      </p:nvGrpSpPr>
      <p:grpSpPr>
        <a:xfrm>
          <a:off x="0" y="0"/>
          <a:ext cx="0" cy="0"/>
          <a:chOff x="0" y="0"/>
          <a:chExt cx="0" cy="0"/>
        </a:xfrm>
      </p:grpSpPr>
      <p:pic>
        <p:nvPicPr>
          <p:cNvPr id="92" name="Shape 92"/>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93" name="Shape 93"/>
          <p:cNvSpPr txBox="1"/>
          <p:nvPr/>
        </p:nvSpPr>
        <p:spPr>
          <a:xfrm>
            <a:off x="4038600" y="304800"/>
            <a:ext cx="4548187"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s-AR"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s-AR" sz="2400" u="none" cap="none" strike="noStrike">
                <a:solidFill>
                  <a:srgbClr val="BB4F59"/>
                </a:solidFill>
                <a:latin typeface="Arial"/>
                <a:ea typeface="Arial"/>
                <a:cs typeface="Arial"/>
                <a:sym typeface="Arial"/>
              </a:rPr>
              <a:t>(Mercado del dinero)</a:t>
            </a:r>
          </a:p>
        </p:txBody>
      </p:sp>
      <p:pic>
        <p:nvPicPr>
          <p:cNvPr id="94" name="Shape 94"/>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pic>
        <p:nvPicPr>
          <p:cNvPr id="95" name="Shape 95"/>
          <p:cNvPicPr preferRelativeResize="0"/>
          <p:nvPr/>
        </p:nvPicPr>
        <p:blipFill rotWithShape="1">
          <a:blip r:embed="rId5">
            <a:alphaModFix/>
          </a:blip>
          <a:srcRect b="0" l="0" r="0" t="0"/>
          <a:stretch/>
        </p:blipFill>
        <p:spPr>
          <a:xfrm>
            <a:off x="1516062" y="1981200"/>
            <a:ext cx="2762250" cy="1657350"/>
          </a:xfrm>
          <a:prstGeom prst="rect">
            <a:avLst/>
          </a:prstGeom>
          <a:noFill/>
          <a:ln>
            <a:noFill/>
          </a:ln>
        </p:spPr>
      </p:pic>
      <p:pic>
        <p:nvPicPr>
          <p:cNvPr id="96" name="Shape 96"/>
          <p:cNvPicPr preferRelativeResize="0"/>
          <p:nvPr/>
        </p:nvPicPr>
        <p:blipFill rotWithShape="1">
          <a:blip r:embed="rId6">
            <a:alphaModFix/>
          </a:blip>
          <a:srcRect b="0" l="0" r="0" t="0"/>
          <a:stretch/>
        </p:blipFill>
        <p:spPr>
          <a:xfrm>
            <a:off x="5311775" y="1981200"/>
            <a:ext cx="2068512" cy="1657350"/>
          </a:xfrm>
          <a:prstGeom prst="rect">
            <a:avLst/>
          </a:prstGeom>
          <a:noFill/>
          <a:ln>
            <a:noFill/>
          </a:ln>
        </p:spPr>
      </p:pic>
      <p:sp>
        <p:nvSpPr>
          <p:cNvPr id="97" name="Shape 97"/>
          <p:cNvSpPr txBox="1"/>
          <p:nvPr/>
        </p:nvSpPr>
        <p:spPr>
          <a:xfrm>
            <a:off x="2819400" y="4435475"/>
            <a:ext cx="4548187" cy="45720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s-AR" sz="2400" u="none" cap="none" strike="noStrike">
                <a:solidFill>
                  <a:srgbClr val="BB4F59"/>
                </a:solidFill>
                <a:latin typeface="Arial"/>
                <a:ea typeface="Arial"/>
                <a:cs typeface="Arial"/>
                <a:sym typeface="Arial"/>
              </a:rPr>
              <a:t>MONEDA - DINERO</a:t>
            </a:r>
          </a:p>
        </p:txBody>
      </p:sp>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01" name="Shape 101"/>
        <p:cNvGrpSpPr/>
        <p:nvPr/>
      </p:nvGrpSpPr>
      <p:grpSpPr>
        <a:xfrm>
          <a:off x="0" y="0"/>
          <a:ext cx="0" cy="0"/>
          <a:chOff x="0" y="0"/>
          <a:chExt cx="0" cy="0"/>
        </a:xfrm>
      </p:grpSpPr>
      <p:pic>
        <p:nvPicPr>
          <p:cNvPr id="102" name="Shape 102"/>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103" name="Shape 103"/>
          <p:cNvPicPr preferRelativeResize="0"/>
          <p:nvPr/>
        </p:nvPicPr>
        <p:blipFill rotWithShape="1">
          <a:blip r:embed="rId4">
            <a:alphaModFix/>
          </a:blip>
          <a:srcRect b="0" l="0" r="0" t="0"/>
          <a:stretch/>
        </p:blipFill>
        <p:spPr>
          <a:xfrm>
            <a:off x="247650" y="1514475"/>
            <a:ext cx="8626474" cy="5114925"/>
          </a:xfrm>
          <a:prstGeom prst="rect">
            <a:avLst/>
          </a:prstGeom>
          <a:noFill/>
          <a:ln>
            <a:noFill/>
          </a:ln>
        </p:spPr>
      </p:pic>
      <p:sp>
        <p:nvSpPr>
          <p:cNvPr id="104" name="Shape 104"/>
          <p:cNvSpPr txBox="1"/>
          <p:nvPr/>
        </p:nvSpPr>
        <p:spPr>
          <a:xfrm>
            <a:off x="263525" y="1295400"/>
            <a:ext cx="8610599" cy="5562600"/>
          </a:xfrm>
          <a:prstGeom prst="rect">
            <a:avLst/>
          </a:prstGeom>
          <a:solidFill>
            <a:srgbClr val="FF6600"/>
          </a:solidFill>
          <a:ln>
            <a:noFill/>
          </a:ln>
        </p:spPr>
        <p:txBody>
          <a:bodyPr anchorCtr="0" anchor="t" bIns="45700" lIns="91425" rIns="91425" tIns="45700">
            <a:noAutofit/>
          </a:bodyPr>
          <a:lstStyle/>
          <a:p>
            <a:pPr indent="0" lvl="0" marL="0" marR="0" rtl="0" algn="l">
              <a:lnSpc>
                <a:spcPct val="150000"/>
              </a:lnSpc>
              <a:spcBef>
                <a:spcPts val="0"/>
              </a:spcBef>
              <a:spcAft>
                <a:spcPts val="0"/>
              </a:spcAft>
              <a:buClr>
                <a:schemeClr val="dk1"/>
              </a:buClr>
              <a:buSzPct val="100000"/>
              <a:buFont typeface="Noto Sans Symbols"/>
              <a:buChar char="✓"/>
            </a:pPr>
            <a:r>
              <a:rPr b="1" i="0" lang="es-AR" sz="1800" u="none" cap="none" strike="noStrike">
                <a:solidFill>
                  <a:schemeClr val="dk1"/>
                </a:solidFill>
                <a:latin typeface="Arial"/>
                <a:ea typeface="Arial"/>
                <a:cs typeface="Arial"/>
                <a:sym typeface="Arial"/>
              </a:rPr>
              <a:t>Riqueza financiera</a:t>
            </a:r>
            <a:r>
              <a:rPr b="0" i="0" lang="es-AR" sz="1800" u="none" cap="none" strike="noStrike">
                <a:solidFill>
                  <a:schemeClr val="dk1"/>
                </a:solidFill>
                <a:latin typeface="Arial"/>
                <a:ea typeface="Arial"/>
                <a:cs typeface="Arial"/>
                <a:sym typeface="Arial"/>
              </a:rPr>
              <a:t> </a:t>
            </a:r>
          </a:p>
          <a:p>
            <a:pPr indent="0" lvl="0" marL="0" marR="0" rtl="0" algn="l">
              <a:lnSpc>
                <a:spcPct val="150000"/>
              </a:lnSpc>
              <a:spcBef>
                <a:spcPts val="0"/>
              </a:spcBef>
              <a:spcAft>
                <a:spcPts val="0"/>
              </a:spcAft>
              <a:buClr>
                <a:schemeClr val="dk1"/>
              </a:buClr>
              <a:buSzPct val="100000"/>
              <a:buFont typeface="Noto Sans Symbols"/>
              <a:buChar char="✓"/>
            </a:pPr>
            <a:r>
              <a:rPr b="1" i="0" lang="es-AR" sz="1800" u="none" cap="none" strike="noStrike">
                <a:solidFill>
                  <a:schemeClr val="dk1"/>
                </a:solidFill>
                <a:latin typeface="Arial"/>
                <a:ea typeface="Arial"/>
                <a:cs typeface="Arial"/>
                <a:sym typeface="Arial"/>
              </a:rPr>
              <a:t>Activos financieros.</a:t>
            </a:r>
          </a:p>
          <a:p>
            <a:pPr indent="0" lvl="0" marL="0" marR="0" rtl="0" algn="l">
              <a:lnSpc>
                <a:spcPct val="150000"/>
              </a:lnSpc>
              <a:spcBef>
                <a:spcPts val="0"/>
              </a:spcBef>
              <a:spcAft>
                <a:spcPts val="0"/>
              </a:spcAft>
              <a:buClr>
                <a:schemeClr val="dk1"/>
              </a:buClr>
              <a:buSzPct val="100000"/>
              <a:buFont typeface="Noto Sans Symbols"/>
              <a:buChar char="✓"/>
            </a:pPr>
            <a:r>
              <a:rPr b="1" i="0" lang="es-AR" sz="1800" u="none" cap="none" strike="noStrike">
                <a:solidFill>
                  <a:schemeClr val="dk1"/>
                </a:solidFill>
                <a:latin typeface="Arial"/>
                <a:ea typeface="Arial"/>
                <a:cs typeface="Arial"/>
                <a:sym typeface="Arial"/>
              </a:rPr>
              <a:t> Equilibrio del mercado monetario.</a:t>
            </a:r>
          </a:p>
          <a:p>
            <a:pPr indent="0" lvl="0" marL="0" marR="0" rtl="0" algn="l">
              <a:lnSpc>
                <a:spcPct val="150000"/>
              </a:lnSpc>
              <a:spcBef>
                <a:spcPts val="0"/>
              </a:spcBef>
              <a:spcAft>
                <a:spcPts val="0"/>
              </a:spcAft>
              <a:buClr>
                <a:schemeClr val="dk1"/>
              </a:buClr>
              <a:buSzPct val="100000"/>
              <a:buFont typeface="Noto Sans Symbols"/>
              <a:buChar char="✓"/>
            </a:pPr>
            <a:r>
              <a:rPr b="1" i="0" lang="es-AR" sz="1800" u="none" cap="none" strike="noStrike">
                <a:solidFill>
                  <a:schemeClr val="dk1"/>
                </a:solidFill>
                <a:latin typeface="Arial"/>
                <a:ea typeface="Arial"/>
                <a:cs typeface="Arial"/>
                <a:sym typeface="Arial"/>
              </a:rPr>
              <a:t> Curva LM</a:t>
            </a:r>
          </a:p>
          <a:p>
            <a:pPr indent="0" lvl="0" marL="0" marR="0" rtl="0" algn="l">
              <a:lnSpc>
                <a:spcPct val="150000"/>
              </a:lnSpc>
              <a:spcBef>
                <a:spcPts val="0"/>
              </a:spcBef>
              <a:spcAft>
                <a:spcPts val="0"/>
              </a:spcAft>
              <a:buClr>
                <a:schemeClr val="dk1"/>
              </a:buClr>
              <a:buSzPct val="100000"/>
              <a:buFont typeface="Noto Sans Symbols"/>
              <a:buChar char="✓"/>
            </a:pPr>
            <a:r>
              <a:rPr b="1" i="0" lang="es-AR" sz="1800" u="none" cap="none" strike="noStrike">
                <a:solidFill>
                  <a:schemeClr val="dk1"/>
                </a:solidFill>
                <a:latin typeface="Arial"/>
                <a:ea typeface="Arial"/>
                <a:cs typeface="Arial"/>
                <a:sym typeface="Arial"/>
              </a:rPr>
              <a:t> Tipo de Cambio Nominal y Real  </a:t>
            </a:r>
          </a:p>
          <a:p>
            <a:pPr indent="0" lvl="0" marL="0" marR="0" rtl="0" algn="l">
              <a:lnSpc>
                <a:spcPct val="150000"/>
              </a:lnSpc>
              <a:spcBef>
                <a:spcPts val="0"/>
              </a:spcBef>
              <a:spcAft>
                <a:spcPts val="0"/>
              </a:spcAft>
              <a:buClr>
                <a:schemeClr val="dk1"/>
              </a:buClr>
              <a:buSzPct val="100000"/>
              <a:buFont typeface="Noto Sans Symbols"/>
              <a:buChar char="✓"/>
            </a:pPr>
            <a:r>
              <a:rPr b="1" i="0" lang="es-AR" sz="1800" u="none" cap="none" strike="noStrike">
                <a:solidFill>
                  <a:schemeClr val="dk1"/>
                </a:solidFill>
                <a:latin typeface="Arial"/>
                <a:ea typeface="Arial"/>
                <a:cs typeface="Arial"/>
                <a:sym typeface="Arial"/>
              </a:rPr>
              <a:t> Paridad del Poder Adquisitivo</a:t>
            </a:r>
          </a:p>
          <a:p>
            <a:pPr indent="0" lvl="0" marL="0" marR="0" rtl="0" algn="l">
              <a:lnSpc>
                <a:spcPct val="150000"/>
              </a:lnSpc>
              <a:spcBef>
                <a:spcPts val="0"/>
              </a:spcBef>
              <a:spcAft>
                <a:spcPts val="0"/>
              </a:spcAft>
              <a:buClr>
                <a:schemeClr val="dk1"/>
              </a:buClr>
              <a:buSzPct val="100000"/>
              <a:buFont typeface="Noto Sans Symbols"/>
              <a:buChar char="✓"/>
            </a:pPr>
            <a:r>
              <a:rPr b="1" i="0" lang="es-AR" sz="1800" u="none" cap="none" strike="noStrike">
                <a:solidFill>
                  <a:schemeClr val="dk1"/>
                </a:solidFill>
                <a:latin typeface="Arial"/>
                <a:ea typeface="Arial"/>
                <a:cs typeface="Arial"/>
                <a:sym typeface="Arial"/>
              </a:rPr>
              <a:t> Índice Big Mac</a:t>
            </a:r>
          </a:p>
          <a:p>
            <a:pPr indent="0" lvl="0" marL="0" marR="0" rtl="0" algn="l">
              <a:lnSpc>
                <a:spcPct val="150000"/>
              </a:lnSpc>
              <a:spcBef>
                <a:spcPts val="0"/>
              </a:spcBef>
              <a:spcAft>
                <a:spcPts val="0"/>
              </a:spcAft>
              <a:buClr>
                <a:schemeClr val="dk1"/>
              </a:buClr>
              <a:buSzPct val="100000"/>
              <a:buFont typeface="Noto Sans Symbols"/>
              <a:buChar char="✓"/>
            </a:pPr>
            <a:r>
              <a:rPr b="1" i="0" lang="es-AR" sz="1800" u="none" cap="none" strike="noStrike">
                <a:solidFill>
                  <a:schemeClr val="dk1"/>
                </a:solidFill>
                <a:latin typeface="Arial"/>
                <a:ea typeface="Arial"/>
                <a:cs typeface="Arial"/>
                <a:sym typeface="Arial"/>
              </a:rPr>
              <a:t> Inflación</a:t>
            </a:r>
          </a:p>
          <a:p>
            <a:pPr indent="0" lvl="0" marL="0" marR="0" rtl="0" algn="l">
              <a:lnSpc>
                <a:spcPct val="150000"/>
              </a:lnSpc>
              <a:spcBef>
                <a:spcPts val="0"/>
              </a:spcBef>
              <a:spcAft>
                <a:spcPts val="0"/>
              </a:spcAft>
              <a:buClr>
                <a:schemeClr val="dk1"/>
              </a:buClr>
              <a:buSzPct val="100000"/>
              <a:buFont typeface="Noto Sans Symbols"/>
              <a:buChar char="✓"/>
            </a:pPr>
            <a:r>
              <a:rPr b="1" i="0" lang="es-AR" sz="1800" u="none" cap="none" strike="noStrike">
                <a:solidFill>
                  <a:schemeClr val="dk1"/>
                </a:solidFill>
                <a:latin typeface="Arial"/>
                <a:ea typeface="Arial"/>
                <a:cs typeface="Arial"/>
                <a:sym typeface="Arial"/>
              </a:rPr>
              <a:t> Laspeyres - IPC</a:t>
            </a:r>
          </a:p>
          <a:p>
            <a:pPr indent="0" lvl="0" marL="0" marR="0" rtl="0" algn="l">
              <a:lnSpc>
                <a:spcPct val="150000"/>
              </a:lnSpc>
              <a:spcBef>
                <a:spcPts val="0"/>
              </a:spcBef>
              <a:spcAft>
                <a:spcPts val="0"/>
              </a:spcAft>
              <a:buClr>
                <a:schemeClr val="dk1"/>
              </a:buClr>
              <a:buSzPct val="100000"/>
              <a:buFont typeface="Noto Sans Symbols"/>
              <a:buChar char="✓"/>
            </a:pPr>
            <a:r>
              <a:rPr b="1" i="0" lang="es-AR" sz="1800" u="none" cap="none" strike="noStrike">
                <a:solidFill>
                  <a:schemeClr val="dk1"/>
                </a:solidFill>
                <a:latin typeface="Arial"/>
                <a:ea typeface="Arial"/>
                <a:cs typeface="Arial"/>
                <a:sym typeface="Arial"/>
              </a:rPr>
              <a:t> Paasche - IPI</a:t>
            </a:r>
          </a:p>
          <a:p>
            <a:pPr indent="0" lvl="0" marL="0" marR="0" rtl="0" algn="l">
              <a:lnSpc>
                <a:spcPct val="150000"/>
              </a:lnSpc>
              <a:spcBef>
                <a:spcPts val="0"/>
              </a:spcBef>
              <a:spcAft>
                <a:spcPts val="0"/>
              </a:spcAft>
              <a:buClr>
                <a:schemeClr val="dk1"/>
              </a:buClr>
              <a:buSzPct val="100000"/>
              <a:buFont typeface="Noto Sans Symbols"/>
              <a:buChar char="✓"/>
            </a:pPr>
            <a:r>
              <a:rPr b="1" i="0" lang="es-AR" sz="1800" u="none" cap="none" strike="noStrike">
                <a:solidFill>
                  <a:schemeClr val="dk1"/>
                </a:solidFill>
                <a:latin typeface="Arial"/>
                <a:ea typeface="Arial"/>
                <a:cs typeface="Arial"/>
                <a:sym typeface="Arial"/>
              </a:rPr>
              <a:t> Tipos de inflación- Causas de la inflación</a:t>
            </a:r>
          </a:p>
          <a:p>
            <a:pPr indent="0" lvl="0" marL="0" marR="0" rtl="0" algn="l">
              <a:lnSpc>
                <a:spcPct val="150000"/>
              </a:lnSpc>
              <a:spcBef>
                <a:spcPts val="0"/>
              </a:spcBef>
              <a:spcAft>
                <a:spcPts val="0"/>
              </a:spcAft>
              <a:buClr>
                <a:schemeClr val="dk1"/>
              </a:buClr>
              <a:buSzPct val="100000"/>
              <a:buFont typeface="Noto Sans Symbols"/>
              <a:buChar char="✓"/>
            </a:pPr>
            <a:r>
              <a:rPr b="1" i="0" lang="es-AR" sz="1800" u="none" cap="none" strike="noStrike">
                <a:solidFill>
                  <a:schemeClr val="dk1"/>
                </a:solidFill>
                <a:latin typeface="Arial"/>
                <a:ea typeface="Arial"/>
                <a:cs typeface="Arial"/>
                <a:sym typeface="Arial"/>
              </a:rPr>
              <a:t> Redistribución de riquezas – Grupos perjudicados</a:t>
            </a:r>
          </a:p>
          <a:p>
            <a:pPr indent="0" lvl="0" marL="0" marR="0" rtl="0" algn="l">
              <a:lnSpc>
                <a:spcPct val="150000"/>
              </a:lnSpc>
              <a:spcBef>
                <a:spcPts val="0"/>
              </a:spcBef>
              <a:spcAft>
                <a:spcPts val="0"/>
              </a:spcAft>
              <a:buClr>
                <a:schemeClr val="dk1"/>
              </a:buClr>
              <a:buSzPct val="100000"/>
              <a:buFont typeface="Noto Sans Symbols"/>
              <a:buChar char="✓"/>
            </a:pPr>
            <a:r>
              <a:rPr b="1" i="0" lang="es-AR" sz="1800" u="none" cap="none" strike="noStrike">
                <a:solidFill>
                  <a:schemeClr val="dk1"/>
                </a:solidFill>
                <a:latin typeface="Arial"/>
                <a:ea typeface="Arial"/>
                <a:cs typeface="Arial"/>
                <a:sym typeface="Arial"/>
              </a:rPr>
              <a:t> Inflación objetivo</a:t>
            </a:r>
          </a:p>
          <a:p>
            <a:pPr indent="0" lvl="0" marL="0" marR="0" rtl="0" algn="l">
              <a:lnSpc>
                <a:spcPct val="100000"/>
              </a:lnSpc>
              <a:spcBef>
                <a:spcPts val="0"/>
              </a:spcBef>
              <a:spcAft>
                <a:spcPts val="0"/>
              </a:spcAft>
              <a:buNone/>
            </a:pPr>
            <a:r>
              <a:t/>
            </a:r>
            <a:endParaRPr b="1" i="0" sz="1800" u="none" cap="none" strike="noStrike">
              <a:solidFill>
                <a:schemeClr val="dk1"/>
              </a:solidFill>
              <a:latin typeface="Arial"/>
              <a:ea typeface="Arial"/>
              <a:cs typeface="Arial"/>
              <a:sym typeface="Arial"/>
            </a:endParaRPr>
          </a:p>
        </p:txBody>
      </p:sp>
      <p:pic>
        <p:nvPicPr>
          <p:cNvPr id="105" name="Shape 105"/>
          <p:cNvPicPr preferRelativeResize="0"/>
          <p:nvPr/>
        </p:nvPicPr>
        <p:blipFill rotWithShape="1">
          <a:blip r:embed="rId5">
            <a:alphaModFix/>
          </a:blip>
          <a:srcRect b="0" l="0" r="0" t="0"/>
          <a:stretch/>
        </p:blipFill>
        <p:spPr>
          <a:xfrm>
            <a:off x="263525" y="306387"/>
            <a:ext cx="3013074" cy="608011"/>
          </a:xfrm>
          <a:prstGeom prst="rect">
            <a:avLst/>
          </a:prstGeom>
          <a:noFill/>
          <a:ln>
            <a:noFill/>
          </a:ln>
        </p:spPr>
      </p:pic>
      <p:sp>
        <p:nvSpPr>
          <p:cNvPr id="106" name="Shape 106"/>
          <p:cNvSpPr txBox="1"/>
          <p:nvPr/>
        </p:nvSpPr>
        <p:spPr>
          <a:xfrm>
            <a:off x="4038600" y="152400"/>
            <a:ext cx="4548187" cy="9461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0" lang="es-AR" sz="2800" u="none" cap="none" strike="noStrike">
                <a:solidFill>
                  <a:srgbClr val="BB4F59"/>
                </a:solidFill>
                <a:latin typeface="Arial"/>
                <a:ea typeface="Arial"/>
                <a:cs typeface="Arial"/>
                <a:sym typeface="Arial"/>
              </a:rPr>
              <a:t>TEMARIO  CLASE N° 14</a:t>
            </a:r>
          </a:p>
          <a:p>
            <a:pPr indent="0" lvl="0" marL="0" marR="0" rtl="0" algn="l">
              <a:lnSpc>
                <a:spcPct val="100000"/>
              </a:lnSpc>
              <a:spcBef>
                <a:spcPts val="0"/>
              </a:spcBef>
              <a:spcAft>
                <a:spcPts val="0"/>
              </a:spcAft>
              <a:buClr>
                <a:srgbClr val="BB4F59"/>
              </a:buClr>
              <a:buSzPct val="25000"/>
              <a:buFont typeface="Arial"/>
              <a:buNone/>
            </a:pPr>
            <a:r>
              <a:rPr b="1" i="0" lang="es-AR" sz="2800" u="none" cap="none" strike="noStrike">
                <a:solidFill>
                  <a:srgbClr val="BB4F59"/>
                </a:solidFill>
                <a:latin typeface="Arial"/>
                <a:ea typeface="Arial"/>
                <a:cs typeface="Arial"/>
                <a:sym typeface="Arial"/>
              </a:rPr>
              <a:t>MACROECONOMIA N° 4</a:t>
            </a:r>
          </a:p>
        </p:txBody>
      </p:sp>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10" name="Shape 110"/>
        <p:cNvGrpSpPr/>
        <p:nvPr/>
      </p:nvGrpSpPr>
      <p:grpSpPr>
        <a:xfrm>
          <a:off x="0" y="0"/>
          <a:ext cx="0" cy="0"/>
          <a:chOff x="0" y="0"/>
          <a:chExt cx="0" cy="0"/>
        </a:xfrm>
      </p:grpSpPr>
      <p:pic>
        <p:nvPicPr>
          <p:cNvPr id="111" name="Shape 111"/>
          <p:cNvPicPr preferRelativeResize="0"/>
          <p:nvPr>
            <p:ph idx="4294967295" type="title"/>
          </p:nvPr>
        </p:nvPicPr>
        <p:blipFill rotWithShape="1">
          <a:blip r:embed="rId3">
            <a:alphaModFix/>
          </a:blip>
          <a:srcRect b="0" l="0" r="0" t="0"/>
          <a:stretch/>
        </p:blipFill>
        <p:spPr>
          <a:xfrm>
            <a:off x="838200" y="457200"/>
            <a:ext cx="3009899" cy="609599"/>
          </a:xfrm>
          <a:prstGeom prst="rect">
            <a:avLst/>
          </a:prstGeom>
          <a:noFill/>
          <a:ln>
            <a:noFill/>
          </a:ln>
        </p:spPr>
      </p:pic>
      <p:sp>
        <p:nvSpPr>
          <p:cNvPr id="112" name="Shape 112"/>
          <p:cNvSpPr txBox="1"/>
          <p:nvPr>
            <p:ph idx="4294967295" type="body"/>
          </p:nvPr>
        </p:nvSpPr>
        <p:spPr>
          <a:xfrm>
            <a:off x="0" y="2514600"/>
            <a:ext cx="4600574" cy="3108325"/>
          </a:xfrm>
          <a:prstGeom prst="rect">
            <a:avLst/>
          </a:prstGeom>
          <a:solidFill>
            <a:schemeClr val="accent2">
              <a:alpha val="40784"/>
            </a:schemeClr>
          </a:solid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1"/>
              </a:buClr>
              <a:buSzPct val="25000"/>
              <a:buFont typeface="Arial"/>
              <a:buNone/>
            </a:pPr>
            <a:r>
              <a:rPr b="0" i="0" lang="es-AR" sz="600" u="none" cap="none" strike="noStrike">
                <a:solidFill>
                  <a:schemeClr val="dk1"/>
                </a:solidFill>
                <a:latin typeface="Calibri"/>
                <a:ea typeface="Calibri"/>
                <a:cs typeface="Calibri"/>
                <a:sym typeface="Calibri"/>
              </a:rPr>
              <a:t>	</a:t>
            </a:r>
          </a:p>
          <a:p>
            <a:pPr indent="-342900" lvl="0" marL="342900" marR="0" rtl="0" algn="l">
              <a:lnSpc>
                <a:spcPct val="80000"/>
              </a:lnSpc>
              <a:spcBef>
                <a:spcPts val="120"/>
              </a:spcBef>
              <a:spcAft>
                <a:spcPts val="0"/>
              </a:spcAft>
              <a:buClr>
                <a:schemeClr val="dk1"/>
              </a:buClr>
              <a:buSzPct val="25000"/>
              <a:buFont typeface="Arial"/>
              <a:buNone/>
            </a:pPr>
            <a:r>
              <a:rPr b="0" i="0" lang="es-AR" sz="600" u="none" cap="none" strike="noStrike">
                <a:solidFill>
                  <a:schemeClr val="dk1"/>
                </a:solidFill>
                <a:latin typeface="Calibri"/>
                <a:ea typeface="Calibri"/>
                <a:cs typeface="Calibri"/>
                <a:sym typeface="Calibri"/>
              </a:rPr>
              <a:t>          </a:t>
            </a:r>
          </a:p>
          <a:p>
            <a:pPr indent="-342900" lvl="0" marL="342900" marR="0" rtl="0" algn="l">
              <a:lnSpc>
                <a:spcPct val="80000"/>
              </a:lnSpc>
              <a:spcBef>
                <a:spcPts val="280"/>
              </a:spcBef>
              <a:spcAft>
                <a:spcPts val="0"/>
              </a:spcAft>
              <a:buClr>
                <a:schemeClr val="dk1"/>
              </a:buClr>
              <a:buSzPct val="25000"/>
              <a:buFont typeface="Arial"/>
              <a:buNone/>
            </a:pPr>
            <a:r>
              <a:t/>
            </a:r>
            <a:endParaRPr b="1" i="0" sz="1400" u="sng" cap="none" strike="noStrike">
              <a:solidFill>
                <a:schemeClr val="dk1"/>
              </a:solidFill>
              <a:latin typeface="Calibri"/>
              <a:ea typeface="Calibri"/>
              <a:cs typeface="Calibri"/>
              <a:sym typeface="Calibri"/>
            </a:endParaRPr>
          </a:p>
          <a:p>
            <a:pPr indent="-342900" lvl="0" marL="342900" marR="0" rtl="0" algn="l">
              <a:lnSpc>
                <a:spcPct val="80000"/>
              </a:lnSpc>
              <a:spcBef>
                <a:spcPts val="280"/>
              </a:spcBef>
              <a:spcAft>
                <a:spcPts val="0"/>
              </a:spcAft>
              <a:buClr>
                <a:schemeClr val="dk1"/>
              </a:buClr>
              <a:buSzPct val="25000"/>
              <a:buFont typeface="Arial"/>
              <a:buNone/>
            </a:pPr>
            <a:r>
              <a:rPr b="1" i="0" lang="es-AR" sz="1400" u="sng" cap="none" strike="noStrike">
                <a:solidFill>
                  <a:schemeClr val="dk1"/>
                </a:solidFill>
                <a:latin typeface="Calibri"/>
                <a:ea typeface="Calibri"/>
                <a:cs typeface="Calibri"/>
                <a:sym typeface="Calibri"/>
              </a:rPr>
              <a:t>ACTIVOS FINANCIEROS</a:t>
            </a:r>
          </a:p>
          <a:p>
            <a:pPr indent="-342900" lvl="0" marL="342900" marR="0" rtl="0" algn="l">
              <a:lnSpc>
                <a:spcPct val="80000"/>
              </a:lnSpc>
              <a:spcBef>
                <a:spcPts val="160"/>
              </a:spcBef>
              <a:spcAft>
                <a:spcPts val="0"/>
              </a:spcAft>
              <a:buClr>
                <a:schemeClr val="dk1"/>
              </a:buClr>
              <a:buSzPct val="25000"/>
              <a:buFont typeface="Arial"/>
              <a:buNone/>
            </a:pPr>
            <a:r>
              <a:t/>
            </a:r>
            <a:endParaRPr b="1" i="0" sz="800" u="none" cap="none" strike="noStrike">
              <a:solidFill>
                <a:schemeClr val="dk1"/>
              </a:solidFill>
              <a:latin typeface="Calibri"/>
              <a:ea typeface="Calibri"/>
              <a:cs typeface="Calibri"/>
              <a:sym typeface="Calibri"/>
            </a:endParaRPr>
          </a:p>
          <a:p>
            <a:pPr indent="-342900" lvl="0" marL="342900" marR="0" rtl="0" algn="l">
              <a:lnSpc>
                <a:spcPct val="80000"/>
              </a:lnSpc>
              <a:spcBef>
                <a:spcPts val="120"/>
              </a:spcBef>
              <a:spcAft>
                <a:spcPts val="0"/>
              </a:spcAft>
              <a:buClr>
                <a:schemeClr val="dk1"/>
              </a:buClr>
              <a:buSzPct val="25000"/>
              <a:buFont typeface="Arial"/>
              <a:buNone/>
            </a:pPr>
            <a:r>
              <a:t/>
            </a:r>
            <a:endParaRPr b="1" i="0" sz="600" u="none" cap="none" strike="noStrike">
              <a:solidFill>
                <a:schemeClr val="dk1"/>
              </a:solidFill>
              <a:latin typeface="Calibri"/>
              <a:ea typeface="Calibri"/>
              <a:cs typeface="Calibri"/>
              <a:sym typeface="Calibri"/>
            </a:endParaRPr>
          </a:p>
          <a:p>
            <a:pPr indent="-342900" lvl="0" marL="342900" marR="0" rtl="0" algn="l">
              <a:lnSpc>
                <a:spcPct val="80000"/>
              </a:lnSpc>
              <a:spcBef>
                <a:spcPts val="120"/>
              </a:spcBef>
              <a:spcAft>
                <a:spcPts val="0"/>
              </a:spcAft>
              <a:buClr>
                <a:schemeClr val="dk1"/>
              </a:buClr>
              <a:buSzPct val="25000"/>
              <a:buFont typeface="Arial"/>
              <a:buNone/>
            </a:pPr>
            <a:r>
              <a:t/>
            </a:r>
            <a:endParaRPr b="1" i="0" sz="600" u="none" cap="none" strike="noStrike">
              <a:solidFill>
                <a:schemeClr val="dk1"/>
              </a:solidFill>
              <a:latin typeface="Calibri"/>
              <a:ea typeface="Calibri"/>
              <a:cs typeface="Calibri"/>
              <a:sym typeface="Calibri"/>
            </a:endParaRPr>
          </a:p>
          <a:p>
            <a:pPr indent="-342900" lvl="0" marL="342900" marR="0" rtl="0" algn="l">
              <a:lnSpc>
                <a:spcPct val="80000"/>
              </a:lnSpc>
              <a:spcBef>
                <a:spcPts val="120"/>
              </a:spcBef>
              <a:spcAft>
                <a:spcPts val="0"/>
              </a:spcAft>
              <a:buClr>
                <a:schemeClr val="dk1"/>
              </a:buClr>
              <a:buSzPct val="25000"/>
              <a:buFont typeface="Arial"/>
              <a:buNone/>
            </a:pPr>
            <a:r>
              <a:t/>
            </a:r>
            <a:endParaRPr b="1" i="0" sz="600" u="none" cap="none" strike="noStrike">
              <a:solidFill>
                <a:schemeClr val="dk1"/>
              </a:solidFill>
              <a:latin typeface="Calibri"/>
              <a:ea typeface="Calibri"/>
              <a:cs typeface="Calibri"/>
              <a:sym typeface="Calibri"/>
            </a:endParaRPr>
          </a:p>
          <a:p>
            <a:pPr indent="-342900" lvl="0" marL="342900" marR="0" rtl="0" algn="l">
              <a:lnSpc>
                <a:spcPct val="80000"/>
              </a:lnSpc>
              <a:spcBef>
                <a:spcPts val="120"/>
              </a:spcBef>
              <a:spcAft>
                <a:spcPts val="0"/>
              </a:spcAft>
              <a:buClr>
                <a:schemeClr val="dk1"/>
              </a:buClr>
              <a:buSzPct val="25000"/>
              <a:buFont typeface="Arial"/>
              <a:buNone/>
            </a:pPr>
            <a:r>
              <a:t/>
            </a:r>
            <a:endParaRPr b="1" i="0" sz="600" u="none" cap="none" strike="noStrike">
              <a:solidFill>
                <a:schemeClr val="dk1"/>
              </a:solidFill>
              <a:latin typeface="Calibri"/>
              <a:ea typeface="Calibri"/>
              <a:cs typeface="Calibri"/>
              <a:sym typeface="Calibri"/>
            </a:endParaRPr>
          </a:p>
          <a:p>
            <a:pPr indent="-342900" lvl="0" marL="342900" marR="0" rtl="0" algn="l">
              <a:lnSpc>
                <a:spcPct val="80000"/>
              </a:lnSpc>
              <a:spcBef>
                <a:spcPts val="120"/>
              </a:spcBef>
              <a:spcAft>
                <a:spcPts val="0"/>
              </a:spcAft>
              <a:buClr>
                <a:schemeClr val="dk1"/>
              </a:buClr>
              <a:buSzPct val="25000"/>
              <a:buFont typeface="Arial"/>
              <a:buNone/>
            </a:pPr>
            <a:r>
              <a:t/>
            </a:r>
            <a:endParaRPr b="1" i="0" sz="600" u="none" cap="none" strike="noStrike">
              <a:solidFill>
                <a:schemeClr val="dk1"/>
              </a:solidFill>
              <a:latin typeface="Calibri"/>
              <a:ea typeface="Calibri"/>
              <a:cs typeface="Calibri"/>
              <a:sym typeface="Calibri"/>
            </a:endParaRPr>
          </a:p>
          <a:p>
            <a:pPr indent="-342900" lvl="0" marL="342900" marR="0" rtl="0" algn="l">
              <a:lnSpc>
                <a:spcPct val="80000"/>
              </a:lnSpc>
              <a:spcBef>
                <a:spcPts val="120"/>
              </a:spcBef>
              <a:spcAft>
                <a:spcPts val="0"/>
              </a:spcAft>
              <a:buClr>
                <a:schemeClr val="dk1"/>
              </a:buClr>
              <a:buSzPct val="25000"/>
              <a:buFont typeface="Arial"/>
              <a:buNone/>
            </a:pPr>
            <a:r>
              <a:t/>
            </a:r>
            <a:endParaRPr b="1" i="0" sz="600" u="none" cap="none" strike="noStrike">
              <a:solidFill>
                <a:schemeClr val="dk1"/>
              </a:solidFill>
              <a:latin typeface="Calibri"/>
              <a:ea typeface="Calibri"/>
              <a:cs typeface="Calibri"/>
              <a:sym typeface="Calibri"/>
            </a:endParaRPr>
          </a:p>
          <a:p>
            <a:pPr indent="-342900" lvl="0" marL="342900" marR="0" rtl="0" algn="l">
              <a:lnSpc>
                <a:spcPct val="80000"/>
              </a:lnSpc>
              <a:spcBef>
                <a:spcPts val="120"/>
              </a:spcBef>
              <a:spcAft>
                <a:spcPts val="0"/>
              </a:spcAft>
              <a:buClr>
                <a:schemeClr val="dk1"/>
              </a:buClr>
              <a:buSzPct val="25000"/>
              <a:buFont typeface="Arial"/>
              <a:buNone/>
            </a:pPr>
            <a:r>
              <a:t/>
            </a:r>
            <a:endParaRPr b="1" i="0" sz="600" u="none" cap="none" strike="noStrike">
              <a:solidFill>
                <a:schemeClr val="dk1"/>
              </a:solidFill>
              <a:latin typeface="Calibri"/>
              <a:ea typeface="Calibri"/>
              <a:cs typeface="Calibri"/>
              <a:sym typeface="Calibri"/>
            </a:endParaRPr>
          </a:p>
          <a:p>
            <a:pPr indent="-342900" lvl="0" marL="342900" marR="0" rtl="0" algn="l">
              <a:lnSpc>
                <a:spcPct val="80000"/>
              </a:lnSpc>
              <a:spcBef>
                <a:spcPts val="120"/>
              </a:spcBef>
              <a:spcAft>
                <a:spcPts val="0"/>
              </a:spcAft>
              <a:buClr>
                <a:schemeClr val="dk1"/>
              </a:buClr>
              <a:buSzPct val="25000"/>
              <a:buFont typeface="Arial"/>
              <a:buNone/>
            </a:pPr>
            <a:r>
              <a:t/>
            </a:r>
            <a:endParaRPr b="0" i="0" sz="600" u="sng" cap="none" strike="noStrike">
              <a:solidFill>
                <a:schemeClr val="dk1"/>
              </a:solidFill>
              <a:latin typeface="Calibri"/>
              <a:ea typeface="Calibri"/>
              <a:cs typeface="Calibri"/>
              <a:sym typeface="Calibri"/>
            </a:endParaRPr>
          </a:p>
          <a:p>
            <a:pPr indent="-342900" lvl="0" marL="342900" marR="0" rtl="0" algn="l">
              <a:lnSpc>
                <a:spcPct val="80000"/>
              </a:lnSpc>
              <a:spcBef>
                <a:spcPts val="320"/>
              </a:spcBef>
              <a:spcAft>
                <a:spcPts val="0"/>
              </a:spcAft>
              <a:buClr>
                <a:schemeClr val="dk1"/>
              </a:buClr>
              <a:buSzPct val="25000"/>
              <a:buFont typeface="Arial"/>
              <a:buNone/>
            </a:pPr>
            <a:r>
              <a:rPr b="1" i="0" lang="es-AR" sz="1600" u="none" cap="none" strike="noStrike">
                <a:solidFill>
                  <a:schemeClr val="dk1"/>
                </a:solidFill>
                <a:latin typeface="Calibri"/>
                <a:ea typeface="Calibri"/>
                <a:cs typeface="Calibri"/>
                <a:sym typeface="Calibri"/>
              </a:rPr>
              <a:t>MENOS</a:t>
            </a:r>
          </a:p>
          <a:p>
            <a:pPr indent="-342900" lvl="0" marL="342900" marR="0" rtl="0" algn="l">
              <a:lnSpc>
                <a:spcPct val="80000"/>
              </a:lnSpc>
              <a:spcBef>
                <a:spcPts val="160"/>
              </a:spcBef>
              <a:spcAft>
                <a:spcPts val="0"/>
              </a:spcAft>
              <a:buClr>
                <a:schemeClr val="dk1"/>
              </a:buClr>
              <a:buSzPct val="25000"/>
              <a:buFont typeface="Arial"/>
              <a:buNone/>
            </a:pPr>
            <a:r>
              <a:t/>
            </a:r>
            <a:endParaRPr b="1" i="0" sz="800" u="sng" cap="none" strike="noStrike">
              <a:solidFill>
                <a:schemeClr val="dk1"/>
              </a:solidFill>
              <a:latin typeface="Calibri"/>
              <a:ea typeface="Calibri"/>
              <a:cs typeface="Calibri"/>
              <a:sym typeface="Calibri"/>
            </a:endParaRPr>
          </a:p>
          <a:p>
            <a:pPr indent="-342900" lvl="0" marL="342900" marR="0" rtl="0" algn="l">
              <a:lnSpc>
                <a:spcPct val="80000"/>
              </a:lnSpc>
              <a:spcBef>
                <a:spcPts val="160"/>
              </a:spcBef>
              <a:spcAft>
                <a:spcPts val="0"/>
              </a:spcAft>
              <a:buClr>
                <a:schemeClr val="dk1"/>
              </a:buClr>
              <a:buSzPct val="25000"/>
              <a:buFont typeface="Arial"/>
              <a:buNone/>
            </a:pPr>
            <a:r>
              <a:t/>
            </a:r>
            <a:endParaRPr b="1" i="0" sz="800" u="sng" cap="none" strike="noStrike">
              <a:solidFill>
                <a:schemeClr val="dk1"/>
              </a:solidFill>
              <a:latin typeface="Calibri"/>
              <a:ea typeface="Calibri"/>
              <a:cs typeface="Calibri"/>
              <a:sym typeface="Calibri"/>
            </a:endParaRPr>
          </a:p>
          <a:p>
            <a:pPr indent="-342900" lvl="0" marL="342900" marR="0" rtl="0" algn="l">
              <a:lnSpc>
                <a:spcPct val="80000"/>
              </a:lnSpc>
              <a:spcBef>
                <a:spcPts val="280"/>
              </a:spcBef>
              <a:spcAft>
                <a:spcPts val="0"/>
              </a:spcAft>
              <a:buClr>
                <a:schemeClr val="dk1"/>
              </a:buClr>
              <a:buSzPct val="25000"/>
              <a:buFont typeface="Arial"/>
              <a:buNone/>
            </a:pPr>
            <a:r>
              <a:t/>
            </a:r>
            <a:endParaRPr b="1" i="0" sz="1400" u="sng" cap="none" strike="noStrike">
              <a:solidFill>
                <a:schemeClr val="dk1"/>
              </a:solidFill>
              <a:latin typeface="Calibri"/>
              <a:ea typeface="Calibri"/>
              <a:cs typeface="Calibri"/>
              <a:sym typeface="Calibri"/>
            </a:endParaRPr>
          </a:p>
          <a:p>
            <a:pPr indent="-342900" lvl="0" marL="342900" marR="0" rtl="0" algn="l">
              <a:lnSpc>
                <a:spcPct val="80000"/>
              </a:lnSpc>
              <a:spcBef>
                <a:spcPts val="280"/>
              </a:spcBef>
              <a:spcAft>
                <a:spcPts val="0"/>
              </a:spcAft>
              <a:buClr>
                <a:schemeClr val="dk1"/>
              </a:buClr>
              <a:buSzPct val="25000"/>
              <a:buFont typeface="Arial"/>
              <a:buNone/>
            </a:pPr>
            <a:r>
              <a:rPr b="1" i="0" lang="es-AR" sz="1400" u="sng" cap="none" strike="noStrike">
                <a:solidFill>
                  <a:schemeClr val="dk1"/>
                </a:solidFill>
                <a:latin typeface="Calibri"/>
                <a:ea typeface="Calibri"/>
                <a:cs typeface="Calibri"/>
                <a:sym typeface="Calibri"/>
              </a:rPr>
              <a:t>PASIVOS FINANCIEROS</a:t>
            </a:r>
            <a:r>
              <a:rPr b="0" i="0" lang="es-AR" sz="1400" u="sng" cap="none" strike="noStrike">
                <a:solidFill>
                  <a:schemeClr val="dk1"/>
                </a:solidFill>
                <a:latin typeface="Calibri"/>
                <a:ea typeface="Calibri"/>
                <a:cs typeface="Calibri"/>
                <a:sym typeface="Calibri"/>
              </a:rPr>
              <a:t> </a:t>
            </a:r>
          </a:p>
          <a:p>
            <a:pPr indent="-342900" lvl="0" marL="342900" marR="0" rtl="0" algn="l">
              <a:lnSpc>
                <a:spcPct val="80000"/>
              </a:lnSpc>
              <a:spcBef>
                <a:spcPts val="320"/>
              </a:spcBef>
              <a:spcAft>
                <a:spcPts val="0"/>
              </a:spcAft>
              <a:buClr>
                <a:schemeClr val="dk1"/>
              </a:buClr>
              <a:buSzPct val="25000"/>
              <a:buFont typeface="Arial"/>
              <a:buNone/>
            </a:pPr>
            <a:r>
              <a:t/>
            </a:r>
            <a:endParaRPr b="1" i="0" sz="1600" u="none" cap="none" strike="noStrike">
              <a:solidFill>
                <a:schemeClr val="dk1"/>
              </a:solidFill>
              <a:latin typeface="Calibri"/>
              <a:ea typeface="Calibri"/>
              <a:cs typeface="Calibri"/>
              <a:sym typeface="Calibri"/>
            </a:endParaRPr>
          </a:p>
          <a:p>
            <a:pPr indent="-342900" lvl="0" marL="342900" marR="0" rtl="0" algn="l">
              <a:lnSpc>
                <a:spcPct val="80000"/>
              </a:lnSpc>
              <a:spcBef>
                <a:spcPts val="320"/>
              </a:spcBef>
              <a:spcAft>
                <a:spcPts val="0"/>
              </a:spcAft>
              <a:buClr>
                <a:schemeClr val="dk1"/>
              </a:buClr>
              <a:buSzPct val="25000"/>
              <a:buFont typeface="Arial"/>
              <a:buNone/>
            </a:pPr>
            <a:r>
              <a:rPr b="1" i="0" lang="es-AR" sz="1600" u="none" cap="none" strike="noStrike">
                <a:solidFill>
                  <a:schemeClr val="dk1"/>
                </a:solidFill>
                <a:latin typeface="Calibri"/>
                <a:ea typeface="Calibri"/>
                <a:cs typeface="Calibri"/>
                <a:sym typeface="Calibri"/>
              </a:rPr>
              <a:t>RIQUEZA FINANCIERA</a:t>
            </a:r>
          </a:p>
        </p:txBody>
      </p:sp>
      <p:sp>
        <p:nvSpPr>
          <p:cNvPr id="113" name="Shape 113"/>
          <p:cNvSpPr txBox="1"/>
          <p:nvPr/>
        </p:nvSpPr>
        <p:spPr>
          <a:xfrm>
            <a:off x="4041775" y="533400"/>
            <a:ext cx="5026025" cy="519112"/>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s-AR" sz="2800" u="none" cap="none" strike="noStrike">
                <a:solidFill>
                  <a:srgbClr val="BB4F59"/>
                </a:solidFill>
                <a:latin typeface="Arial"/>
                <a:ea typeface="Arial"/>
                <a:cs typeface="Arial"/>
                <a:sym typeface="Arial"/>
              </a:rPr>
              <a:t>RIQUEZA FINANCIERA</a:t>
            </a:r>
          </a:p>
        </p:txBody>
      </p:sp>
      <p:sp>
        <p:nvSpPr>
          <p:cNvPr id="114" name="Shape 114"/>
          <p:cNvSpPr txBox="1"/>
          <p:nvPr/>
        </p:nvSpPr>
        <p:spPr>
          <a:xfrm>
            <a:off x="4648200" y="3810000"/>
            <a:ext cx="4495800" cy="396874"/>
          </a:xfrm>
          <a:prstGeom prst="rect">
            <a:avLst/>
          </a:prstGeom>
          <a:solidFill>
            <a:srgbClr val="FF0000">
              <a:alpha val="56862"/>
            </a:srgbClr>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s-AR" sz="2000" u="none" cap="none" strike="noStrike">
                <a:solidFill>
                  <a:schemeClr val="dk1"/>
                </a:solidFill>
                <a:latin typeface="Arial"/>
                <a:ea typeface="Arial"/>
                <a:cs typeface="Arial"/>
                <a:sym typeface="Arial"/>
              </a:rPr>
              <a:t>CONSUMO &lt; RENTA DISPONIBLE </a:t>
            </a:r>
          </a:p>
        </p:txBody>
      </p:sp>
      <p:sp>
        <p:nvSpPr>
          <p:cNvPr id="115" name="Shape 115"/>
          <p:cNvSpPr txBox="1"/>
          <p:nvPr/>
        </p:nvSpPr>
        <p:spPr>
          <a:xfrm>
            <a:off x="4648200" y="1752600"/>
            <a:ext cx="4495800" cy="396874"/>
          </a:xfrm>
          <a:prstGeom prst="rect">
            <a:avLst/>
          </a:prstGeom>
          <a:solidFill>
            <a:schemeClr val="accent1">
              <a:alpha val="51764"/>
            </a:schemeClr>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s-AR" sz="2000" u="none" cap="none" strike="noStrike">
                <a:solidFill>
                  <a:schemeClr val="dk1"/>
                </a:solidFill>
                <a:latin typeface="Arial"/>
                <a:ea typeface="Arial"/>
                <a:cs typeface="Arial"/>
                <a:sym typeface="Arial"/>
              </a:rPr>
              <a:t>RENTA DISPONIBLE &gt; CONSUMO </a:t>
            </a:r>
          </a:p>
        </p:txBody>
      </p:sp>
      <p:sp>
        <p:nvSpPr>
          <p:cNvPr id="116" name="Shape 116"/>
          <p:cNvSpPr txBox="1"/>
          <p:nvPr/>
        </p:nvSpPr>
        <p:spPr>
          <a:xfrm>
            <a:off x="5775325" y="2819400"/>
            <a:ext cx="1997075" cy="519112"/>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s-AR" sz="2800" u="none" cap="none" strike="noStrike">
                <a:solidFill>
                  <a:schemeClr val="dk1"/>
                </a:solidFill>
                <a:latin typeface="Arial"/>
                <a:ea typeface="Arial"/>
                <a:cs typeface="Arial"/>
                <a:sym typeface="Arial"/>
              </a:rPr>
              <a:t>AHORRO</a:t>
            </a:r>
          </a:p>
        </p:txBody>
      </p:sp>
      <p:sp>
        <p:nvSpPr>
          <p:cNvPr id="117" name="Shape 117"/>
          <p:cNvSpPr/>
          <p:nvPr/>
        </p:nvSpPr>
        <p:spPr>
          <a:xfrm rot="10800000">
            <a:off x="7924799" y="2514600"/>
            <a:ext cx="814386" cy="866774"/>
          </a:xfrm>
          <a:prstGeom prst="bentArrow">
            <a:avLst>
              <a:gd fmla="val 25000" name="adj1"/>
              <a:gd fmla="val 25000" name="adj2"/>
              <a:gd fmla="val 25000" name="adj3"/>
              <a:gd fmla="val 43750" name="adj4"/>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8" name="Shape 118"/>
          <p:cNvSpPr txBox="1"/>
          <p:nvPr/>
        </p:nvSpPr>
        <p:spPr>
          <a:xfrm>
            <a:off x="76200" y="5622925"/>
            <a:ext cx="8797925" cy="1006474"/>
          </a:xfrm>
          <a:prstGeom prst="rect">
            <a:avLst/>
          </a:prstGeom>
          <a:solidFill>
            <a:srgbClr val="FFFF99"/>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s-AR" sz="2000" u="none" cap="none" strike="noStrike">
                <a:solidFill>
                  <a:srgbClr val="FF0000"/>
                </a:solidFill>
                <a:latin typeface="Arial"/>
                <a:ea typeface="Arial"/>
                <a:cs typeface="Arial"/>
                <a:sym typeface="Arial"/>
              </a:rPr>
              <a:t>VARIABLE DE STOCK (INVENTARIO) QUE MIDE LA CANTIDAD DE ACTIVOS FINANCIEROS QUE POSEE UNA PERSONA FÍSICA O PRIVADA, UNA REGIÓN O UN PAÍS EN UN MOMENTO DETERMINADO</a:t>
            </a:r>
          </a:p>
        </p:txBody>
      </p:sp>
      <p:pic>
        <p:nvPicPr>
          <p:cNvPr id="119" name="Shape 119"/>
          <p:cNvPicPr preferRelativeResize="0"/>
          <p:nvPr>
            <p:ph idx="4294967295" type="body"/>
          </p:nvPr>
        </p:nvPicPr>
        <p:blipFill rotWithShape="1">
          <a:blip r:embed="rId4">
            <a:alphaModFix/>
          </a:blip>
          <a:srcRect b="0" l="0" r="0" t="0"/>
          <a:stretch/>
        </p:blipFill>
        <p:spPr>
          <a:xfrm>
            <a:off x="457200" y="1295400"/>
            <a:ext cx="8381999" cy="196850"/>
          </a:xfrm>
          <a:prstGeom prst="rect">
            <a:avLst/>
          </a:prstGeom>
          <a:noFill/>
          <a:ln>
            <a:noFill/>
          </a:ln>
        </p:spPr>
      </p:pic>
      <p:sp>
        <p:nvSpPr>
          <p:cNvPr id="120" name="Shape 120"/>
          <p:cNvSpPr txBox="1"/>
          <p:nvPr/>
        </p:nvSpPr>
        <p:spPr>
          <a:xfrm>
            <a:off x="4648200" y="5165725"/>
            <a:ext cx="4495800" cy="396874"/>
          </a:xfrm>
          <a:prstGeom prst="rect">
            <a:avLst/>
          </a:prstGeom>
          <a:solidFill>
            <a:srgbClr val="00FF00">
              <a:alpha val="56862"/>
            </a:srgbClr>
          </a:solid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s-AR" sz="2000" u="none" cap="none" strike="noStrike">
                <a:solidFill>
                  <a:schemeClr val="dk1"/>
                </a:solidFill>
                <a:latin typeface="Arial"/>
                <a:ea typeface="Arial"/>
                <a:cs typeface="Arial"/>
                <a:sym typeface="Arial"/>
              </a:rPr>
              <a:t>DINERO + BONOS</a:t>
            </a:r>
          </a:p>
        </p:txBody>
      </p:sp>
      <p:sp>
        <p:nvSpPr>
          <p:cNvPr id="121" name="Shape 121"/>
          <p:cNvSpPr/>
          <p:nvPr/>
        </p:nvSpPr>
        <p:spPr>
          <a:xfrm rot="10800000">
            <a:off x="7716837" y="4333875"/>
            <a:ext cx="814386" cy="866774"/>
          </a:xfrm>
          <a:prstGeom prst="bentArrow">
            <a:avLst>
              <a:gd fmla="val 25000" name="adj1"/>
              <a:gd fmla="val 25000" name="adj2"/>
              <a:gd fmla="val 25000" name="adj3"/>
              <a:gd fmla="val 43750" name="adj4"/>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 name="Shape 122"/>
          <p:cNvSpPr txBox="1"/>
          <p:nvPr/>
        </p:nvSpPr>
        <p:spPr>
          <a:xfrm>
            <a:off x="5029200" y="4586287"/>
            <a:ext cx="2606674" cy="519112"/>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s-AR" sz="2800" u="none" cap="none" strike="noStrike">
                <a:solidFill>
                  <a:schemeClr val="dk1"/>
                </a:solidFill>
                <a:latin typeface="Arial"/>
                <a:ea typeface="Arial"/>
                <a:cs typeface="Arial"/>
                <a:sym typeface="Arial"/>
              </a:rPr>
              <a:t>PRESTAMOS</a:t>
            </a:r>
          </a:p>
        </p:txBody>
      </p:sp>
      <p:sp>
        <p:nvSpPr>
          <p:cNvPr id="123" name="Shape 123"/>
          <p:cNvSpPr/>
          <p:nvPr/>
        </p:nvSpPr>
        <p:spPr>
          <a:xfrm>
            <a:off x="4114800" y="2867025"/>
            <a:ext cx="976312" cy="485775"/>
          </a:xfrm>
          <a:prstGeom prst="leftArrow">
            <a:avLst>
              <a:gd fmla="val 50000" name="adj1"/>
              <a:gd fmla="val 50000"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Shape 124"/>
          <p:cNvSpPr/>
          <p:nvPr/>
        </p:nvSpPr>
        <p:spPr>
          <a:xfrm>
            <a:off x="4114800" y="4572000"/>
            <a:ext cx="976312" cy="485775"/>
          </a:xfrm>
          <a:prstGeom prst="leftArrow">
            <a:avLst>
              <a:gd fmla="val 50000" name="adj1"/>
              <a:gd fmla="val 50000"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28" name="Shape 128"/>
        <p:cNvGrpSpPr/>
        <p:nvPr/>
      </p:nvGrpSpPr>
      <p:grpSpPr>
        <a:xfrm>
          <a:off x="0" y="0"/>
          <a:ext cx="0" cy="0"/>
          <a:chOff x="0" y="0"/>
          <a:chExt cx="0" cy="0"/>
        </a:xfrm>
      </p:grpSpPr>
      <p:pic>
        <p:nvPicPr>
          <p:cNvPr id="129" name="Shape 129"/>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130" name="Shape 130"/>
          <p:cNvPicPr preferRelativeResize="0"/>
          <p:nvPr/>
        </p:nvPicPr>
        <p:blipFill rotWithShape="1">
          <a:blip r:embed="rId4">
            <a:alphaModFix/>
          </a:blip>
          <a:srcRect b="0" l="0" r="0" t="0"/>
          <a:stretch/>
        </p:blipFill>
        <p:spPr>
          <a:xfrm>
            <a:off x="255587" y="1444625"/>
            <a:ext cx="8626474" cy="5114925"/>
          </a:xfrm>
          <a:prstGeom prst="rect">
            <a:avLst/>
          </a:prstGeom>
          <a:noFill/>
          <a:ln>
            <a:noFill/>
          </a:ln>
        </p:spPr>
      </p:pic>
      <p:pic>
        <p:nvPicPr>
          <p:cNvPr id="131" name="Shape 131"/>
          <p:cNvPicPr preferRelativeResize="0"/>
          <p:nvPr/>
        </p:nvPicPr>
        <p:blipFill rotWithShape="1">
          <a:blip r:embed="rId5">
            <a:alphaModFix/>
          </a:blip>
          <a:srcRect b="0" l="0" r="0" t="0"/>
          <a:stretch/>
        </p:blipFill>
        <p:spPr>
          <a:xfrm>
            <a:off x="263525" y="306387"/>
            <a:ext cx="3013074" cy="608011"/>
          </a:xfrm>
          <a:prstGeom prst="rect">
            <a:avLst/>
          </a:prstGeom>
          <a:noFill/>
          <a:ln>
            <a:noFill/>
          </a:ln>
        </p:spPr>
      </p:pic>
      <p:sp>
        <p:nvSpPr>
          <p:cNvPr id="132" name="Shape 132"/>
          <p:cNvSpPr txBox="1"/>
          <p:nvPr/>
        </p:nvSpPr>
        <p:spPr>
          <a:xfrm>
            <a:off x="438150" y="1474787"/>
            <a:ext cx="8443912" cy="4906961"/>
          </a:xfrm>
          <a:prstGeom prst="rect">
            <a:avLst/>
          </a:prstGeom>
          <a:noFill/>
          <a:ln>
            <a:noFill/>
          </a:ln>
        </p:spPr>
        <p:txBody>
          <a:bodyPr anchorCtr="0" anchor="t" bIns="45700" lIns="91425" rIns="91425" tIns="45700">
            <a:noAutofit/>
          </a:bodyPr>
          <a:lstStyle/>
          <a:p>
            <a:pPr indent="0" lvl="0" marL="0" marR="0" rtl="0" algn="l">
              <a:lnSpc>
                <a:spcPct val="150000"/>
              </a:lnSpc>
              <a:spcBef>
                <a:spcPts val="0"/>
              </a:spcBef>
              <a:spcAft>
                <a:spcPts val="0"/>
              </a:spcAft>
              <a:buClr>
                <a:schemeClr val="dk1"/>
              </a:buClr>
              <a:buSzPct val="25000"/>
              <a:buFont typeface="Arial"/>
              <a:buNone/>
            </a:pPr>
            <a:r>
              <a:rPr b="1" i="0" lang="es-AR" sz="1400" u="none" cap="none" strike="noStrike">
                <a:solidFill>
                  <a:schemeClr val="dk1"/>
                </a:solidFill>
                <a:latin typeface="Arial"/>
                <a:ea typeface="Arial"/>
                <a:cs typeface="Arial"/>
                <a:sym typeface="Arial"/>
              </a:rPr>
              <a:t>Reales: </a:t>
            </a:r>
            <a:r>
              <a:rPr b="0" i="0" lang="es-AR" sz="1400" u="none" cap="none" strike="noStrike">
                <a:solidFill>
                  <a:schemeClr val="dk1"/>
                </a:solidFill>
                <a:latin typeface="Arial"/>
                <a:ea typeface="Arial"/>
                <a:cs typeface="Arial"/>
                <a:sym typeface="Arial"/>
              </a:rPr>
              <a:t>tienen valor por sí mismos (mercaderías, muebles). </a:t>
            </a:r>
          </a:p>
          <a:p>
            <a:pPr indent="0" lvl="0" marL="0" marR="0" rtl="0" algn="l">
              <a:lnSpc>
                <a:spcPct val="150000"/>
              </a:lnSpc>
              <a:spcBef>
                <a:spcPts val="0"/>
              </a:spcBef>
              <a:spcAft>
                <a:spcPts val="0"/>
              </a:spcAft>
              <a:buClr>
                <a:schemeClr val="dk1"/>
              </a:buClr>
              <a:buSzPct val="25000"/>
              <a:buFont typeface="Arial"/>
              <a:buNone/>
            </a:pPr>
            <a:r>
              <a:rPr b="1" i="0" lang="es-AR" sz="1400" u="none" cap="none" strike="noStrike">
                <a:solidFill>
                  <a:schemeClr val="dk1"/>
                </a:solidFill>
                <a:latin typeface="Arial"/>
                <a:ea typeface="Arial"/>
                <a:cs typeface="Arial"/>
                <a:sym typeface="Arial"/>
              </a:rPr>
              <a:t>Financieros: </a:t>
            </a:r>
          </a:p>
          <a:p>
            <a:pPr indent="0" lvl="1" marL="457200" marR="0" rtl="0" algn="l">
              <a:lnSpc>
                <a:spcPct val="150000"/>
              </a:lnSpc>
              <a:spcBef>
                <a:spcPts val="0"/>
              </a:spcBef>
              <a:spcAft>
                <a:spcPts val="0"/>
              </a:spcAft>
              <a:buClr>
                <a:schemeClr val="dk1"/>
              </a:buClr>
              <a:buSzPct val="100000"/>
              <a:buFont typeface="Noto Sans Symbols"/>
              <a:buChar char="❑"/>
            </a:pPr>
            <a:r>
              <a:rPr b="1" i="0" lang="es-AR" sz="1400" u="none" cap="none" strike="noStrike">
                <a:solidFill>
                  <a:schemeClr val="dk1"/>
                </a:solidFill>
                <a:latin typeface="Arial"/>
                <a:ea typeface="Arial"/>
                <a:cs typeface="Arial"/>
                <a:sym typeface="Arial"/>
              </a:rPr>
              <a:t> Monetarios:</a:t>
            </a:r>
            <a:r>
              <a:rPr b="0" i="0" lang="es-AR" sz="1400" u="none" cap="none" strike="noStrike">
                <a:solidFill>
                  <a:schemeClr val="dk1"/>
                </a:solidFill>
                <a:latin typeface="Arial"/>
                <a:ea typeface="Arial"/>
                <a:cs typeface="Arial"/>
                <a:sym typeface="Arial"/>
              </a:rPr>
              <a:t> Tienen valor por lo que representan (billetes, depósitos bancarios). </a:t>
            </a:r>
          </a:p>
          <a:p>
            <a:pPr indent="0" lvl="3" marL="1371600" marR="0" rtl="0" algn="l">
              <a:lnSpc>
                <a:spcPct val="150000"/>
              </a:lnSpc>
              <a:spcBef>
                <a:spcPts val="0"/>
              </a:spcBef>
              <a:spcAft>
                <a:spcPts val="0"/>
              </a:spcAft>
              <a:buClr>
                <a:schemeClr val="dk1"/>
              </a:buClr>
              <a:buSzPct val="100000"/>
              <a:buFont typeface="Noto Sans Symbols"/>
              <a:buChar char="❑"/>
            </a:pPr>
            <a:r>
              <a:rPr b="0" i="0" lang="es-AR" sz="1400" u="none" cap="none" strike="noStrike">
                <a:solidFill>
                  <a:schemeClr val="dk1"/>
                </a:solidFill>
                <a:latin typeface="Arial"/>
                <a:ea typeface="Arial"/>
                <a:cs typeface="Arial"/>
                <a:sym typeface="Arial"/>
              </a:rPr>
              <a:t> </a:t>
            </a:r>
            <a:r>
              <a:rPr b="1" i="0" lang="es-AR" sz="1400" u="none" cap="none" strike="noStrike">
                <a:solidFill>
                  <a:schemeClr val="dk1"/>
                </a:solidFill>
                <a:latin typeface="Arial"/>
                <a:ea typeface="Arial"/>
                <a:cs typeface="Arial"/>
                <a:sym typeface="Arial"/>
              </a:rPr>
              <a:t>Efectivo:</a:t>
            </a:r>
            <a:r>
              <a:rPr b="0" i="0" lang="es-AR" sz="1400" u="none" cap="none" strike="noStrike">
                <a:solidFill>
                  <a:schemeClr val="dk1"/>
                </a:solidFill>
                <a:latin typeface="Arial"/>
                <a:ea typeface="Arial"/>
                <a:cs typeface="Arial"/>
                <a:sym typeface="Arial"/>
              </a:rPr>
              <a:t> activo financiero líquido por excelencia.</a:t>
            </a:r>
          </a:p>
          <a:p>
            <a:pPr indent="0" lvl="3" marL="1371600" marR="0" rtl="0" algn="l">
              <a:lnSpc>
                <a:spcPct val="150000"/>
              </a:lnSpc>
              <a:spcBef>
                <a:spcPts val="0"/>
              </a:spcBef>
              <a:spcAft>
                <a:spcPts val="0"/>
              </a:spcAft>
              <a:buClr>
                <a:schemeClr val="dk1"/>
              </a:buClr>
              <a:buSzPct val="100000"/>
              <a:buFont typeface="Noto Sans Symbols"/>
              <a:buChar char="❑"/>
            </a:pPr>
            <a:r>
              <a:rPr b="0" i="0" lang="es-AR" sz="1400" u="none" cap="none" strike="noStrike">
                <a:solidFill>
                  <a:schemeClr val="dk1"/>
                </a:solidFill>
                <a:latin typeface="Arial"/>
                <a:ea typeface="Arial"/>
                <a:cs typeface="Arial"/>
                <a:sym typeface="Arial"/>
              </a:rPr>
              <a:t> </a:t>
            </a:r>
            <a:r>
              <a:rPr b="1" i="0" lang="es-AR" sz="1400" u="none" cap="none" strike="noStrike">
                <a:solidFill>
                  <a:schemeClr val="dk1"/>
                </a:solidFill>
                <a:latin typeface="Arial"/>
                <a:ea typeface="Arial"/>
                <a:cs typeface="Arial"/>
                <a:sym typeface="Arial"/>
              </a:rPr>
              <a:t>Depósitos bancarios:</a:t>
            </a:r>
            <a:r>
              <a:rPr b="0" i="0" lang="es-AR" sz="1400" u="none" cap="none" strike="noStrike">
                <a:solidFill>
                  <a:schemeClr val="dk1"/>
                </a:solidFill>
                <a:latin typeface="Arial"/>
                <a:ea typeface="Arial"/>
                <a:cs typeface="Arial"/>
                <a:sym typeface="Arial"/>
              </a:rPr>
              <a:t> tienen mayor o menor liquidez según sean a la vista o a término.</a:t>
            </a:r>
          </a:p>
          <a:p>
            <a:pPr indent="0" lvl="1" marL="457200" marR="0" rtl="0" algn="l">
              <a:lnSpc>
                <a:spcPct val="150000"/>
              </a:lnSpc>
              <a:spcBef>
                <a:spcPts val="0"/>
              </a:spcBef>
              <a:spcAft>
                <a:spcPts val="0"/>
              </a:spcAft>
              <a:buClr>
                <a:schemeClr val="dk1"/>
              </a:buClr>
              <a:buSzPct val="100000"/>
              <a:buFont typeface="Noto Sans Symbols"/>
              <a:buChar char="❑"/>
            </a:pPr>
            <a:r>
              <a:rPr b="1" i="0" lang="es-AR" sz="1400" u="none" cap="none" strike="noStrike">
                <a:solidFill>
                  <a:schemeClr val="dk1"/>
                </a:solidFill>
                <a:latin typeface="Arial"/>
                <a:ea typeface="Arial"/>
                <a:cs typeface="Arial"/>
                <a:sym typeface="Arial"/>
              </a:rPr>
              <a:t> Títulos, bonos y valores: </a:t>
            </a:r>
          </a:p>
          <a:p>
            <a:pPr indent="0" lvl="5" marL="2286000" marR="0" rtl="0" algn="l">
              <a:lnSpc>
                <a:spcPct val="150000"/>
              </a:lnSpc>
              <a:spcBef>
                <a:spcPts val="0"/>
              </a:spcBef>
              <a:spcAft>
                <a:spcPts val="0"/>
              </a:spcAft>
              <a:buClr>
                <a:schemeClr val="dk1"/>
              </a:buClr>
              <a:buSzPct val="100000"/>
              <a:buFont typeface="Noto Sans Symbols"/>
              <a:buChar char="❑"/>
            </a:pPr>
            <a:r>
              <a:rPr b="0" i="0" lang="es-AR" sz="1400" u="none" cap="none" strike="noStrike">
                <a:solidFill>
                  <a:schemeClr val="dk1"/>
                </a:solidFill>
                <a:latin typeface="Arial"/>
                <a:ea typeface="Arial"/>
                <a:cs typeface="Arial"/>
                <a:sym typeface="Arial"/>
              </a:rPr>
              <a:t> </a:t>
            </a:r>
            <a:r>
              <a:rPr b="1" i="0" lang="es-AR" sz="1400" u="none" cap="none" strike="noStrike">
                <a:solidFill>
                  <a:schemeClr val="dk1"/>
                </a:solidFill>
                <a:latin typeface="Arial"/>
                <a:ea typeface="Arial"/>
                <a:cs typeface="Arial"/>
                <a:sym typeface="Arial"/>
              </a:rPr>
              <a:t>Acciones:</a:t>
            </a:r>
            <a:r>
              <a:rPr b="0" i="0" lang="es-AR" sz="1400" u="none" cap="none" strike="noStrike">
                <a:solidFill>
                  <a:schemeClr val="dk1"/>
                </a:solidFill>
                <a:latin typeface="Arial"/>
                <a:ea typeface="Arial"/>
                <a:cs typeface="Arial"/>
                <a:sym typeface="Arial"/>
              </a:rPr>
              <a:t> títulos emitidos por las sociedades de capital a favor de sus socios, para acreditar su condición de tales. </a:t>
            </a:r>
          </a:p>
          <a:p>
            <a:pPr indent="0" lvl="5" marL="2286000" marR="0" rtl="0" algn="l">
              <a:lnSpc>
                <a:spcPct val="150000"/>
              </a:lnSpc>
              <a:spcBef>
                <a:spcPts val="0"/>
              </a:spcBef>
              <a:spcAft>
                <a:spcPts val="0"/>
              </a:spcAft>
              <a:buClr>
                <a:schemeClr val="dk1"/>
              </a:buClr>
              <a:buSzPct val="100000"/>
              <a:buFont typeface="Noto Sans Symbols"/>
              <a:buChar char="❑"/>
            </a:pPr>
            <a:r>
              <a:rPr b="0" i="0" lang="es-AR" sz="1400" u="none" cap="none" strike="noStrike">
                <a:solidFill>
                  <a:schemeClr val="dk1"/>
                </a:solidFill>
                <a:latin typeface="Arial"/>
                <a:ea typeface="Arial"/>
                <a:cs typeface="Arial"/>
                <a:sym typeface="Arial"/>
              </a:rPr>
              <a:t> </a:t>
            </a:r>
            <a:r>
              <a:rPr b="1" i="0" lang="es-AR" sz="1400" u="none" cap="none" strike="noStrike">
                <a:solidFill>
                  <a:schemeClr val="dk1"/>
                </a:solidFill>
                <a:latin typeface="Arial"/>
                <a:ea typeface="Arial"/>
                <a:cs typeface="Arial"/>
                <a:sym typeface="Arial"/>
              </a:rPr>
              <a:t>Pagarés:</a:t>
            </a:r>
            <a:r>
              <a:rPr b="0" i="0" lang="es-AR" sz="1400" u="none" cap="none" strike="noStrike">
                <a:solidFill>
                  <a:schemeClr val="dk1"/>
                </a:solidFill>
                <a:latin typeface="Arial"/>
                <a:ea typeface="Arial"/>
                <a:cs typeface="Arial"/>
                <a:sym typeface="Arial"/>
              </a:rPr>
              <a:t> promesas de pago emitidas por una persona (librador) a favor de otra (beneficiario). </a:t>
            </a:r>
          </a:p>
          <a:p>
            <a:pPr indent="0" lvl="5" marL="2286000" marR="0" rtl="0" algn="l">
              <a:lnSpc>
                <a:spcPct val="150000"/>
              </a:lnSpc>
              <a:spcBef>
                <a:spcPts val="0"/>
              </a:spcBef>
              <a:spcAft>
                <a:spcPts val="0"/>
              </a:spcAft>
              <a:buClr>
                <a:schemeClr val="dk1"/>
              </a:buClr>
              <a:buSzPct val="100000"/>
              <a:buFont typeface="Noto Sans Symbols"/>
              <a:buChar char="❑"/>
            </a:pPr>
            <a:r>
              <a:rPr b="0" i="0" lang="es-AR" sz="1400" u="none" cap="none" strike="noStrike">
                <a:solidFill>
                  <a:schemeClr val="dk1"/>
                </a:solidFill>
                <a:latin typeface="Arial"/>
                <a:ea typeface="Arial"/>
                <a:cs typeface="Arial"/>
                <a:sym typeface="Arial"/>
              </a:rPr>
              <a:t> </a:t>
            </a:r>
            <a:r>
              <a:rPr b="1" i="0" lang="es-AR" sz="1400" u="none" cap="none" strike="noStrike">
                <a:solidFill>
                  <a:schemeClr val="dk1"/>
                </a:solidFill>
                <a:latin typeface="Arial"/>
                <a:ea typeface="Arial"/>
                <a:cs typeface="Arial"/>
                <a:sym typeface="Arial"/>
              </a:rPr>
              <a:t>Letras de cambio:</a:t>
            </a:r>
            <a:r>
              <a:rPr b="0" i="0" lang="es-AR" sz="1400" u="none" cap="none" strike="noStrike">
                <a:solidFill>
                  <a:schemeClr val="dk1"/>
                </a:solidFill>
                <a:latin typeface="Arial"/>
                <a:ea typeface="Arial"/>
                <a:cs typeface="Arial"/>
                <a:sym typeface="Arial"/>
              </a:rPr>
              <a:t> órdenes de pago emitidas por un librador a favor de un beneficiario y a cargo de otra persona. </a:t>
            </a:r>
          </a:p>
          <a:p>
            <a:pPr indent="0" lvl="5" marL="2286000" marR="0" rtl="0" algn="l">
              <a:lnSpc>
                <a:spcPct val="150000"/>
              </a:lnSpc>
              <a:spcBef>
                <a:spcPts val="0"/>
              </a:spcBef>
              <a:spcAft>
                <a:spcPts val="0"/>
              </a:spcAft>
              <a:buClr>
                <a:schemeClr val="dk1"/>
              </a:buClr>
              <a:buSzPct val="100000"/>
              <a:buFont typeface="Noto Sans Symbols"/>
              <a:buChar char="❑"/>
            </a:pPr>
            <a:r>
              <a:rPr b="1" i="0" lang="es-AR" sz="1400" u="none" cap="none" strike="noStrike">
                <a:solidFill>
                  <a:schemeClr val="dk1"/>
                </a:solidFill>
                <a:latin typeface="Arial"/>
                <a:ea typeface="Arial"/>
                <a:cs typeface="Arial"/>
                <a:sym typeface="Arial"/>
              </a:rPr>
              <a:t> Títulos de deuda, públicos y privados: </a:t>
            </a:r>
            <a:r>
              <a:rPr b="0" i="0" lang="es-AR" sz="1400" u="none" cap="none" strike="noStrike">
                <a:solidFill>
                  <a:schemeClr val="dk1"/>
                </a:solidFill>
                <a:latin typeface="Arial"/>
                <a:ea typeface="Arial"/>
                <a:cs typeface="Arial"/>
                <a:sym typeface="Arial"/>
              </a:rPr>
              <a:t>sus titulares pasan a ser acreedores del ente emisor de aquellos. Reciben una renta fija.</a:t>
            </a:r>
          </a:p>
        </p:txBody>
      </p:sp>
      <p:sp>
        <p:nvSpPr>
          <p:cNvPr id="133" name="Shape 133"/>
          <p:cNvSpPr txBox="1"/>
          <p:nvPr/>
        </p:nvSpPr>
        <p:spPr>
          <a:xfrm>
            <a:off x="3581400" y="152400"/>
            <a:ext cx="5292725" cy="94615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s-AR" sz="2800" u="none" cap="none" strike="noStrike">
                <a:solidFill>
                  <a:schemeClr val="dk1"/>
                </a:solidFill>
                <a:latin typeface="Arial"/>
                <a:ea typeface="Arial"/>
                <a:cs typeface="Arial"/>
                <a:sym typeface="Arial"/>
              </a:rPr>
              <a:t>ACTIVOS </a:t>
            </a:r>
          </a:p>
          <a:p>
            <a:pPr indent="0" lvl="0" marL="0" marR="0" rtl="0" algn="ctr">
              <a:lnSpc>
                <a:spcPct val="100000"/>
              </a:lnSpc>
              <a:spcBef>
                <a:spcPts val="0"/>
              </a:spcBef>
              <a:spcAft>
                <a:spcPts val="0"/>
              </a:spcAft>
              <a:buClr>
                <a:schemeClr val="dk1"/>
              </a:buClr>
              <a:buSzPct val="25000"/>
              <a:buFont typeface="Arial"/>
              <a:buNone/>
            </a:pPr>
            <a:r>
              <a:rPr b="1" i="0" lang="es-AR" sz="2800" u="none" cap="none" strike="noStrike">
                <a:solidFill>
                  <a:schemeClr val="dk1"/>
                </a:solidFill>
                <a:latin typeface="Arial"/>
                <a:ea typeface="Arial"/>
                <a:cs typeface="Arial"/>
                <a:sym typeface="Arial"/>
              </a:rPr>
              <a:t>REALES Y FINANCIEROS</a:t>
            </a:r>
          </a:p>
        </p:txBody>
      </p:sp>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37" name="Shape 137"/>
        <p:cNvGrpSpPr/>
        <p:nvPr/>
      </p:nvGrpSpPr>
      <p:grpSpPr>
        <a:xfrm>
          <a:off x="0" y="0"/>
          <a:ext cx="0" cy="0"/>
          <a:chOff x="0" y="0"/>
          <a:chExt cx="0" cy="0"/>
        </a:xfrm>
      </p:grpSpPr>
      <p:pic>
        <p:nvPicPr>
          <p:cNvPr id="138" name="Shape 138"/>
          <p:cNvPicPr preferRelativeResize="0"/>
          <p:nvPr>
            <p:ph idx="4294967295" type="title"/>
          </p:nvPr>
        </p:nvPicPr>
        <p:blipFill rotWithShape="1">
          <a:blip r:embed="rId3">
            <a:alphaModFix/>
          </a:blip>
          <a:srcRect b="0" l="0" r="0" t="0"/>
          <a:stretch/>
        </p:blipFill>
        <p:spPr>
          <a:xfrm>
            <a:off x="533400" y="304800"/>
            <a:ext cx="3009899" cy="609599"/>
          </a:xfrm>
          <a:prstGeom prst="rect">
            <a:avLst/>
          </a:prstGeom>
          <a:noFill/>
          <a:ln>
            <a:noFill/>
          </a:ln>
        </p:spPr>
      </p:pic>
      <p:sp>
        <p:nvSpPr>
          <p:cNvPr id="139" name="Shape 139"/>
          <p:cNvSpPr txBox="1"/>
          <p:nvPr>
            <p:ph idx="4294967295" type="body"/>
          </p:nvPr>
        </p:nvSpPr>
        <p:spPr>
          <a:xfrm>
            <a:off x="0" y="1492250"/>
            <a:ext cx="9067799" cy="5365749"/>
          </a:xfrm>
          <a:prstGeom prst="rect">
            <a:avLst/>
          </a:prstGeom>
          <a:solidFill>
            <a:srgbClr val="FFFF99"/>
          </a:solid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1"/>
              </a:buClr>
              <a:buSzPct val="25000"/>
              <a:buFont typeface="Arial"/>
              <a:buNone/>
            </a:pPr>
            <a:r>
              <a:rPr b="0" i="0" lang="es-AR" sz="2800" u="none" cap="none" strike="noStrike">
                <a:solidFill>
                  <a:schemeClr val="dk1"/>
                </a:solidFill>
                <a:latin typeface="Calibri"/>
                <a:ea typeface="Calibri"/>
                <a:cs typeface="Calibri"/>
                <a:sym typeface="Calibri"/>
              </a:rPr>
              <a:t>El </a:t>
            </a:r>
            <a:r>
              <a:rPr b="1" i="0" lang="es-AR" sz="2800" u="none" cap="none" strike="noStrike">
                <a:solidFill>
                  <a:schemeClr val="dk1"/>
                </a:solidFill>
                <a:latin typeface="Calibri"/>
                <a:ea typeface="Calibri"/>
                <a:cs typeface="Calibri"/>
                <a:sym typeface="Calibri"/>
              </a:rPr>
              <a:t>sistema financiero</a:t>
            </a:r>
            <a:r>
              <a:rPr b="0" i="0" lang="es-AR" sz="2800" u="none" cap="none" strike="noStrike">
                <a:solidFill>
                  <a:schemeClr val="dk1"/>
                </a:solidFill>
                <a:latin typeface="Calibri"/>
                <a:ea typeface="Calibri"/>
                <a:cs typeface="Calibri"/>
                <a:sym typeface="Calibri"/>
              </a:rPr>
              <a:t> de un país está formado por el conjunto de instituciones, medios y mercados que canalizan las distintas formas del ahorro, para intermediar en el crédito.</a:t>
            </a:r>
          </a:p>
          <a:p>
            <a:pPr indent="-342900" lvl="0" marL="342900" marR="0" rtl="0" algn="l">
              <a:lnSpc>
                <a:spcPct val="100000"/>
              </a:lnSpc>
              <a:spcBef>
                <a:spcPts val="560"/>
              </a:spcBef>
              <a:spcAft>
                <a:spcPts val="0"/>
              </a:spcAft>
              <a:buClr>
                <a:schemeClr val="hlink"/>
              </a:buClr>
              <a:buSzPct val="25000"/>
              <a:buFont typeface="Arial"/>
              <a:buNone/>
            </a:pPr>
            <a:r>
              <a:rPr b="0" i="0" lang="es-AR" sz="2800" u="none" cap="none" strike="noStrike">
                <a:solidFill>
                  <a:schemeClr val="hlink"/>
                </a:solidFill>
                <a:latin typeface="Calibri"/>
                <a:ea typeface="Calibri"/>
                <a:cs typeface="Calibri"/>
                <a:sym typeface="Calibri"/>
              </a:rPr>
              <a:t>						 RENTA &gt; CONSUMO =  (SUPERÁVIT) </a:t>
            </a:r>
          </a:p>
        </p:txBody>
      </p:sp>
      <p:sp>
        <p:nvSpPr>
          <p:cNvPr id="140" name="Shape 140"/>
          <p:cNvSpPr txBox="1"/>
          <p:nvPr/>
        </p:nvSpPr>
        <p:spPr>
          <a:xfrm>
            <a:off x="3775075" y="304800"/>
            <a:ext cx="5292725" cy="579436"/>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s-AR" sz="3200" u="none" cap="none" strike="noStrike">
                <a:solidFill>
                  <a:schemeClr val="dk1"/>
                </a:solidFill>
                <a:latin typeface="Arial"/>
                <a:ea typeface="Arial"/>
                <a:cs typeface="Arial"/>
                <a:sym typeface="Arial"/>
              </a:rPr>
              <a:t>SISTEMA FINANCIERO</a:t>
            </a:r>
          </a:p>
        </p:txBody>
      </p:sp>
      <p:sp>
        <p:nvSpPr>
          <p:cNvPr id="141" name="Shape 141"/>
          <p:cNvSpPr/>
          <p:nvPr/>
        </p:nvSpPr>
        <p:spPr>
          <a:xfrm rot="7020000">
            <a:off x="5417343" y="5493542"/>
            <a:ext cx="990599" cy="976312"/>
          </a:xfrm>
          <a:prstGeom prst="downArrow">
            <a:avLst>
              <a:gd fmla="val 11450" name="adj1"/>
              <a:gd fmla="val 5677"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Shape 142"/>
          <p:cNvSpPr txBox="1"/>
          <p:nvPr/>
        </p:nvSpPr>
        <p:spPr>
          <a:xfrm>
            <a:off x="457200" y="5668962"/>
            <a:ext cx="6858000" cy="5794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Calibri"/>
              <a:buNone/>
            </a:pPr>
            <a:r>
              <a:rPr b="0" i="0" lang="es-AR" sz="2800" u="none" cap="none" strike="noStrike">
                <a:solidFill>
                  <a:srgbClr val="FF0000"/>
                </a:solidFill>
                <a:latin typeface="Calibri"/>
                <a:ea typeface="Calibri"/>
                <a:cs typeface="Calibri"/>
                <a:sym typeface="Calibri"/>
              </a:rPr>
              <a:t>RENTA &lt; CONSUMO = (DÉFICIT)</a:t>
            </a:r>
            <a:r>
              <a:rPr b="0" i="0" lang="es-AR" sz="3200" u="none" cap="none" strike="noStrike">
                <a:solidFill>
                  <a:srgbClr val="FF0000"/>
                </a:solidFill>
                <a:latin typeface="Calibri"/>
                <a:ea typeface="Calibri"/>
                <a:cs typeface="Calibri"/>
                <a:sym typeface="Calibri"/>
              </a:rPr>
              <a:t> </a:t>
            </a:r>
          </a:p>
        </p:txBody>
      </p:sp>
      <p:sp>
        <p:nvSpPr>
          <p:cNvPr id="143" name="Shape 143"/>
          <p:cNvSpPr txBox="1"/>
          <p:nvPr/>
        </p:nvSpPr>
        <p:spPr>
          <a:xfrm>
            <a:off x="6632575" y="5592762"/>
            <a:ext cx="2054225" cy="579436"/>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 </a:t>
            </a:r>
            <a:r>
              <a:rPr b="1" i="0" lang="es-AR" sz="3200" u="none" cap="none" strike="noStrike">
                <a:solidFill>
                  <a:schemeClr val="hlink"/>
                </a:solidFill>
                <a:latin typeface="Arial"/>
                <a:ea typeface="Arial"/>
                <a:cs typeface="Arial"/>
                <a:sym typeface="Arial"/>
              </a:rPr>
              <a:t>AHORRO</a:t>
            </a:r>
          </a:p>
        </p:txBody>
      </p:sp>
      <p:pic>
        <p:nvPicPr>
          <p:cNvPr id="144" name="Shape 144"/>
          <p:cNvPicPr preferRelativeResize="0"/>
          <p:nvPr>
            <p:ph idx="4294967295" type="body"/>
          </p:nvPr>
        </p:nvPicPr>
        <p:blipFill rotWithShape="1">
          <a:blip r:embed="rId4">
            <a:alphaModFix/>
          </a:blip>
          <a:srcRect b="0" l="0" r="0" t="0"/>
          <a:stretch/>
        </p:blipFill>
        <p:spPr>
          <a:xfrm>
            <a:off x="381000" y="1150937"/>
            <a:ext cx="8305799" cy="341311"/>
          </a:xfrm>
          <a:prstGeom prst="rect">
            <a:avLst/>
          </a:prstGeom>
          <a:noFill/>
          <a:ln>
            <a:noFill/>
          </a:ln>
        </p:spPr>
      </p:pic>
      <p:sp>
        <p:nvSpPr>
          <p:cNvPr id="145" name="Shape 145"/>
          <p:cNvSpPr txBox="1"/>
          <p:nvPr/>
        </p:nvSpPr>
        <p:spPr>
          <a:xfrm>
            <a:off x="3321050" y="5105400"/>
            <a:ext cx="2012949" cy="579436"/>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2F8F0D"/>
              </a:buClr>
              <a:buSzPct val="25000"/>
              <a:buFont typeface="Arial"/>
              <a:buNone/>
            </a:pPr>
            <a:r>
              <a:rPr b="1" i="0" lang="es-AR" sz="3200" u="none" cap="none" strike="noStrike">
                <a:solidFill>
                  <a:srgbClr val="2F8F0D"/>
                </a:solidFill>
                <a:latin typeface="Arial"/>
                <a:ea typeface="Arial"/>
                <a:cs typeface="Arial"/>
                <a:sym typeface="Arial"/>
              </a:rPr>
              <a:t>CRÉDITO</a:t>
            </a:r>
          </a:p>
        </p:txBody>
      </p:sp>
      <p:sp>
        <p:nvSpPr>
          <p:cNvPr id="146" name="Shape 146"/>
          <p:cNvSpPr/>
          <p:nvPr/>
        </p:nvSpPr>
        <p:spPr>
          <a:xfrm rot="7440000">
            <a:off x="2126455" y="4121942"/>
            <a:ext cx="990600" cy="976311"/>
          </a:xfrm>
          <a:prstGeom prst="downArrow">
            <a:avLst>
              <a:gd fmla="val 11450" name="adj1"/>
              <a:gd fmla="val 5677" name="adj2"/>
            </a:avLst>
          </a:prstGeom>
          <a:solidFill>
            <a:srgbClr val="FF00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 name="Shape 147"/>
          <p:cNvSpPr txBox="1"/>
          <p:nvPr/>
        </p:nvSpPr>
        <p:spPr>
          <a:xfrm>
            <a:off x="212725" y="3657600"/>
            <a:ext cx="2759075" cy="579436"/>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s-AR" sz="3200" u="none" cap="none" strike="noStrike">
                <a:solidFill>
                  <a:srgbClr val="FF0000"/>
                </a:solidFill>
                <a:latin typeface="Arial"/>
                <a:ea typeface="Arial"/>
                <a:cs typeface="Arial"/>
                <a:sym typeface="Arial"/>
              </a:rPr>
              <a:t>PRESTAMOS</a:t>
            </a:r>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51" name="Shape 151"/>
        <p:cNvGrpSpPr/>
        <p:nvPr/>
      </p:nvGrpSpPr>
      <p:grpSpPr>
        <a:xfrm>
          <a:off x="0" y="0"/>
          <a:ext cx="0" cy="0"/>
          <a:chOff x="0" y="0"/>
          <a:chExt cx="0" cy="0"/>
        </a:xfrm>
      </p:grpSpPr>
      <p:cxnSp>
        <p:nvCxnSpPr>
          <p:cNvPr id="152" name="Shape 152"/>
          <p:cNvCxnSpPr/>
          <p:nvPr/>
        </p:nvCxnSpPr>
        <p:spPr>
          <a:xfrm>
            <a:off x="838200" y="5334000"/>
            <a:ext cx="2895600" cy="0"/>
          </a:xfrm>
          <a:prstGeom prst="straightConnector1">
            <a:avLst/>
          </a:prstGeom>
          <a:noFill/>
          <a:ln cap="flat" cmpd="sng" w="9525">
            <a:solidFill>
              <a:schemeClr val="dk1"/>
            </a:solidFill>
            <a:prstDash val="solid"/>
            <a:miter/>
            <a:headEnd len="med" w="med" type="none"/>
            <a:tailEnd len="med" w="med" type="none"/>
          </a:ln>
        </p:spPr>
      </p:cxnSp>
      <p:pic>
        <p:nvPicPr>
          <p:cNvPr id="153" name="Shape 153"/>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154" name="Shape 154"/>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155" name="Shape 155"/>
          <p:cNvSpPr txBox="1"/>
          <p:nvPr/>
        </p:nvSpPr>
        <p:spPr>
          <a:xfrm>
            <a:off x="3733800" y="152400"/>
            <a:ext cx="4724400" cy="1143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s-AR" sz="2800" u="none" cap="none" strike="noStrike">
                <a:solidFill>
                  <a:srgbClr val="BB4F59"/>
                </a:solidFill>
                <a:latin typeface="Arial"/>
                <a:ea typeface="Arial"/>
                <a:cs typeface="Arial"/>
                <a:sym typeface="Arial"/>
              </a:rPr>
              <a:t>DEMANDA DE DINERO</a:t>
            </a:r>
          </a:p>
        </p:txBody>
      </p:sp>
      <p:sp>
        <p:nvSpPr>
          <p:cNvPr id="156" name="Shape 156"/>
          <p:cNvSpPr txBox="1"/>
          <p:nvPr/>
        </p:nvSpPr>
        <p:spPr>
          <a:xfrm>
            <a:off x="263525" y="1295400"/>
            <a:ext cx="8610599" cy="14478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0" lang="es-AR" sz="2000" u="none" cap="none" strike="noStrike">
                <a:solidFill>
                  <a:srgbClr val="BB4F59"/>
                </a:solidFill>
                <a:latin typeface="Arial"/>
                <a:ea typeface="Arial"/>
                <a:cs typeface="Arial"/>
                <a:sym typeface="Arial"/>
              </a:rPr>
              <a:t>La demanda de dinero será entonces una función inversa de la tasa o tipo de interés (i) y un función directa de la renta monetaria (Y), con parámetros relacionados como son el período de pago de rentas (d), el costo para entrar y salir del sistema financiero (C), las expectativas buenas o malas sobre la evolución de las rentas y los gastos (Exp.)</a:t>
            </a:r>
          </a:p>
        </p:txBody>
      </p:sp>
      <p:cxnSp>
        <p:nvCxnSpPr>
          <p:cNvPr id="157" name="Shape 157"/>
          <p:cNvCxnSpPr/>
          <p:nvPr/>
        </p:nvCxnSpPr>
        <p:spPr>
          <a:xfrm rot="10800000">
            <a:off x="838200" y="3397249"/>
            <a:ext cx="0" cy="2927350"/>
          </a:xfrm>
          <a:prstGeom prst="straightConnector1">
            <a:avLst/>
          </a:prstGeom>
          <a:noFill/>
          <a:ln cap="flat" cmpd="sng" w="9525">
            <a:solidFill>
              <a:schemeClr val="dk1"/>
            </a:solidFill>
            <a:prstDash val="solid"/>
            <a:miter/>
            <a:headEnd len="med" w="med" type="none"/>
            <a:tailEnd len="med" w="med" type="none"/>
          </a:ln>
        </p:spPr>
      </p:cxnSp>
      <p:cxnSp>
        <p:nvCxnSpPr>
          <p:cNvPr id="158" name="Shape 158"/>
          <p:cNvCxnSpPr/>
          <p:nvPr/>
        </p:nvCxnSpPr>
        <p:spPr>
          <a:xfrm>
            <a:off x="533400" y="6324600"/>
            <a:ext cx="5410200" cy="0"/>
          </a:xfrm>
          <a:prstGeom prst="straightConnector1">
            <a:avLst/>
          </a:prstGeom>
          <a:noFill/>
          <a:ln cap="flat" cmpd="sng" w="9525">
            <a:solidFill>
              <a:schemeClr val="dk1"/>
            </a:solidFill>
            <a:prstDash val="solid"/>
            <a:miter/>
            <a:headEnd len="med" w="med" type="none"/>
            <a:tailEnd len="med" w="med" type="none"/>
          </a:ln>
        </p:spPr>
      </p:cxnSp>
      <p:sp>
        <p:nvSpPr>
          <p:cNvPr id="159" name="Shape 159"/>
          <p:cNvSpPr txBox="1"/>
          <p:nvPr/>
        </p:nvSpPr>
        <p:spPr>
          <a:xfrm>
            <a:off x="533400" y="32766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i</a:t>
            </a:r>
          </a:p>
        </p:txBody>
      </p:sp>
      <p:sp>
        <p:nvSpPr>
          <p:cNvPr id="160" name="Shape 160"/>
          <p:cNvSpPr txBox="1"/>
          <p:nvPr/>
        </p:nvSpPr>
        <p:spPr>
          <a:xfrm>
            <a:off x="4495800" y="6324600"/>
            <a:ext cx="1904999"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M</a:t>
            </a:r>
            <a:r>
              <a:rPr b="1" baseline="-25000" i="0" lang="es-AR" sz="1800" u="none" cap="none" strike="noStrike">
                <a:solidFill>
                  <a:schemeClr val="hlink"/>
                </a:solidFill>
                <a:latin typeface="Arial"/>
                <a:ea typeface="Arial"/>
                <a:cs typeface="Arial"/>
                <a:sym typeface="Arial"/>
              </a:rPr>
              <a:t>d</a:t>
            </a:r>
            <a:r>
              <a:rPr b="1" i="0" lang="es-AR" sz="1800" u="none" cap="none" strike="noStrike">
                <a:solidFill>
                  <a:schemeClr val="hlink"/>
                </a:solidFill>
                <a:latin typeface="Arial"/>
                <a:ea typeface="Arial"/>
                <a:cs typeface="Arial"/>
                <a:sym typeface="Arial"/>
              </a:rPr>
              <a:t> = (M</a:t>
            </a:r>
            <a:r>
              <a:rPr b="1" baseline="-25000" i="0" lang="es-AR" sz="1800" u="none" cap="none" strike="noStrike">
                <a:solidFill>
                  <a:schemeClr val="hlink"/>
                </a:solidFill>
                <a:latin typeface="Arial"/>
                <a:ea typeface="Arial"/>
                <a:cs typeface="Arial"/>
                <a:sym typeface="Arial"/>
              </a:rPr>
              <a:t>dt</a:t>
            </a:r>
            <a:r>
              <a:rPr b="1" i="0" lang="es-AR" sz="1800" u="none" cap="none" strike="noStrike">
                <a:solidFill>
                  <a:schemeClr val="hlink"/>
                </a:solidFill>
                <a:latin typeface="Arial"/>
                <a:ea typeface="Arial"/>
                <a:cs typeface="Arial"/>
                <a:sym typeface="Arial"/>
              </a:rPr>
              <a:t> + M</a:t>
            </a:r>
            <a:r>
              <a:rPr b="1" baseline="-25000" i="0" lang="es-AR" sz="1800" u="none" cap="none" strike="noStrike">
                <a:solidFill>
                  <a:schemeClr val="hlink"/>
                </a:solidFill>
                <a:latin typeface="Arial"/>
                <a:ea typeface="Arial"/>
                <a:cs typeface="Arial"/>
                <a:sym typeface="Arial"/>
              </a:rPr>
              <a:t>dp </a:t>
            </a:r>
            <a:r>
              <a:rPr b="1" i="0" lang="es-AR" sz="1800" u="none" cap="none" strike="noStrike">
                <a:solidFill>
                  <a:schemeClr val="hlink"/>
                </a:solidFill>
                <a:latin typeface="Arial"/>
                <a:ea typeface="Arial"/>
                <a:cs typeface="Arial"/>
                <a:sym typeface="Arial"/>
              </a:rPr>
              <a:t>+ M</a:t>
            </a:r>
            <a:r>
              <a:rPr b="1" baseline="-25000" i="0" lang="es-AR" sz="1800" u="none" cap="none" strike="noStrike">
                <a:solidFill>
                  <a:schemeClr val="hlink"/>
                </a:solidFill>
                <a:latin typeface="Arial"/>
                <a:ea typeface="Arial"/>
                <a:cs typeface="Arial"/>
                <a:sym typeface="Arial"/>
              </a:rPr>
              <a:t>de</a:t>
            </a:r>
            <a:r>
              <a:rPr b="1" i="0" lang="es-AR" sz="1800" u="none" cap="none" strike="noStrike">
                <a:solidFill>
                  <a:schemeClr val="hlink"/>
                </a:solidFill>
                <a:latin typeface="Arial"/>
                <a:ea typeface="Arial"/>
                <a:cs typeface="Arial"/>
                <a:sym typeface="Arial"/>
              </a:rPr>
              <a:t>)</a:t>
            </a:r>
          </a:p>
        </p:txBody>
      </p:sp>
      <p:sp>
        <p:nvSpPr>
          <p:cNvPr id="161" name="Shape 161"/>
          <p:cNvSpPr/>
          <p:nvPr/>
        </p:nvSpPr>
        <p:spPr>
          <a:xfrm>
            <a:off x="1089025" y="3563937"/>
            <a:ext cx="3330575" cy="2303461"/>
          </a:xfrm>
          <a:custGeom>
            <a:pathLst>
              <a:path extrusionOk="0" h="120000" w="120000">
                <a:moveTo>
                  <a:pt x="0" y="0"/>
                </a:moveTo>
                <a:cubicBezTo>
                  <a:pt x="1258" y="5458"/>
                  <a:pt x="3946" y="21833"/>
                  <a:pt x="8236" y="33576"/>
                </a:cubicBezTo>
                <a:cubicBezTo>
                  <a:pt x="12526" y="45320"/>
                  <a:pt x="18474" y="59958"/>
                  <a:pt x="25681" y="70709"/>
                </a:cubicBezTo>
                <a:cubicBezTo>
                  <a:pt x="32888" y="81461"/>
                  <a:pt x="42440" y="91137"/>
                  <a:pt x="51363" y="98084"/>
                </a:cubicBezTo>
                <a:cubicBezTo>
                  <a:pt x="60285" y="105031"/>
                  <a:pt x="67836" y="108587"/>
                  <a:pt x="79275" y="112226"/>
                </a:cubicBezTo>
                <a:cubicBezTo>
                  <a:pt x="90714" y="115864"/>
                  <a:pt x="111534" y="118428"/>
                  <a:pt x="120000" y="120000"/>
                </a:cubicBezTo>
              </a:path>
            </a:pathLst>
          </a:custGeom>
          <a:noFill/>
          <a:ln cap="flat" cmpd="sng" w="317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Shape 162"/>
          <p:cNvSpPr/>
          <p:nvPr/>
        </p:nvSpPr>
        <p:spPr>
          <a:xfrm>
            <a:off x="1600200" y="3603625"/>
            <a:ext cx="3530599" cy="1814512"/>
          </a:xfrm>
          <a:custGeom>
            <a:pathLst>
              <a:path extrusionOk="0" h="120000" w="120000">
                <a:moveTo>
                  <a:pt x="0" y="0"/>
                </a:moveTo>
                <a:cubicBezTo>
                  <a:pt x="1456" y="5459"/>
                  <a:pt x="4154" y="20472"/>
                  <a:pt x="8687" y="32965"/>
                </a:cubicBezTo>
                <a:cubicBezTo>
                  <a:pt x="13219" y="45459"/>
                  <a:pt x="19856" y="63202"/>
                  <a:pt x="27140" y="74960"/>
                </a:cubicBezTo>
                <a:cubicBezTo>
                  <a:pt x="34424" y="86719"/>
                  <a:pt x="43219" y="96797"/>
                  <a:pt x="52284" y="103727"/>
                </a:cubicBezTo>
                <a:cubicBezTo>
                  <a:pt x="61294" y="110656"/>
                  <a:pt x="69982" y="113910"/>
                  <a:pt x="81258" y="116640"/>
                </a:cubicBezTo>
                <a:cubicBezTo>
                  <a:pt x="92535" y="119370"/>
                  <a:pt x="111960" y="119370"/>
                  <a:pt x="120000" y="120000"/>
                </a:cubicBezTo>
              </a:path>
            </a:pathLst>
          </a:custGeom>
          <a:noFill/>
          <a:ln cap="flat" cmpd="sng" w="3175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Shape 163"/>
          <p:cNvSpPr txBox="1"/>
          <p:nvPr/>
        </p:nvSpPr>
        <p:spPr>
          <a:xfrm>
            <a:off x="4546600" y="5729287"/>
            <a:ext cx="3149600" cy="366711"/>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s-AR" sz="1800" u="none" cap="none" strike="noStrike">
                <a:solidFill>
                  <a:schemeClr val="dk1"/>
                </a:solidFill>
                <a:latin typeface="Arial"/>
                <a:ea typeface="Arial"/>
                <a:cs typeface="Arial"/>
                <a:sym typeface="Arial"/>
              </a:rPr>
              <a:t>M</a:t>
            </a:r>
            <a:r>
              <a:rPr b="1" baseline="-25000" i="0" lang="es-AR" sz="1800" u="none" cap="none" strike="noStrike">
                <a:solidFill>
                  <a:schemeClr val="dk1"/>
                </a:solidFill>
                <a:latin typeface="Arial"/>
                <a:ea typeface="Arial"/>
                <a:cs typeface="Arial"/>
                <a:sym typeface="Arial"/>
              </a:rPr>
              <a:t>d</a:t>
            </a:r>
            <a:r>
              <a:rPr b="1" baseline="30000" i="0" lang="es-AR" sz="1800" u="none" cap="none" strike="noStrike">
                <a:solidFill>
                  <a:schemeClr val="dk1"/>
                </a:solidFill>
                <a:latin typeface="Arial"/>
                <a:ea typeface="Arial"/>
                <a:cs typeface="Arial"/>
                <a:sym typeface="Arial"/>
              </a:rPr>
              <a:t>1</a:t>
            </a:r>
            <a:r>
              <a:rPr b="1" i="0" lang="es-AR" sz="1800" u="none" cap="none" strike="noStrike">
                <a:solidFill>
                  <a:schemeClr val="dk1"/>
                </a:solidFill>
                <a:latin typeface="Arial"/>
                <a:ea typeface="Arial"/>
                <a:cs typeface="Arial"/>
                <a:sym typeface="Arial"/>
              </a:rPr>
              <a:t> = F( Y</a:t>
            </a:r>
            <a:r>
              <a:rPr b="1" baseline="-25000" i="0" lang="es-AR" sz="1800" u="none" cap="none" strike="noStrike">
                <a:solidFill>
                  <a:schemeClr val="dk1"/>
                </a:solidFill>
                <a:latin typeface="Arial"/>
                <a:ea typeface="Arial"/>
                <a:cs typeface="Arial"/>
                <a:sym typeface="Arial"/>
              </a:rPr>
              <a:t>1</a:t>
            </a:r>
            <a:r>
              <a:rPr b="1" i="0" lang="es-AR" sz="1800" u="none" cap="none" strike="noStrike">
                <a:solidFill>
                  <a:schemeClr val="dk1"/>
                </a:solidFill>
                <a:latin typeface="Arial"/>
                <a:ea typeface="Arial"/>
                <a:cs typeface="Arial"/>
                <a:sym typeface="Arial"/>
              </a:rPr>
              <a:t>, i, d, C, Exp.)</a:t>
            </a:r>
          </a:p>
        </p:txBody>
      </p:sp>
      <p:sp>
        <p:nvSpPr>
          <p:cNvPr id="164" name="Shape 164"/>
          <p:cNvSpPr txBox="1"/>
          <p:nvPr/>
        </p:nvSpPr>
        <p:spPr>
          <a:xfrm>
            <a:off x="5076825" y="5272087"/>
            <a:ext cx="3000375" cy="366711"/>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s-AR" sz="1800" u="none" cap="none" strike="noStrike">
                <a:solidFill>
                  <a:srgbClr val="FF0000"/>
                </a:solidFill>
                <a:latin typeface="Arial"/>
                <a:ea typeface="Arial"/>
                <a:cs typeface="Arial"/>
                <a:sym typeface="Arial"/>
              </a:rPr>
              <a:t>M</a:t>
            </a:r>
            <a:r>
              <a:rPr b="1" baseline="-25000" i="0" lang="es-AR" sz="1800" u="none" cap="none" strike="noStrike">
                <a:solidFill>
                  <a:srgbClr val="FF0000"/>
                </a:solidFill>
                <a:latin typeface="Arial"/>
                <a:ea typeface="Arial"/>
                <a:cs typeface="Arial"/>
                <a:sym typeface="Arial"/>
              </a:rPr>
              <a:t>d</a:t>
            </a:r>
            <a:r>
              <a:rPr b="1" baseline="30000" i="0" lang="es-AR" sz="1800" u="none" cap="none" strike="noStrike">
                <a:solidFill>
                  <a:srgbClr val="FF0000"/>
                </a:solidFill>
                <a:latin typeface="Arial"/>
                <a:ea typeface="Arial"/>
                <a:cs typeface="Arial"/>
                <a:sym typeface="Arial"/>
              </a:rPr>
              <a:t>2</a:t>
            </a:r>
            <a:r>
              <a:rPr b="1" i="0" lang="es-AR" sz="1800" u="none" cap="none" strike="noStrike">
                <a:solidFill>
                  <a:srgbClr val="FF0000"/>
                </a:solidFill>
                <a:latin typeface="Arial"/>
                <a:ea typeface="Arial"/>
                <a:cs typeface="Arial"/>
                <a:sym typeface="Arial"/>
              </a:rPr>
              <a:t> = F( Y</a:t>
            </a:r>
            <a:r>
              <a:rPr b="1" baseline="-25000" i="0" lang="es-AR" sz="1800" u="none" cap="none" strike="noStrike">
                <a:solidFill>
                  <a:srgbClr val="FF0000"/>
                </a:solidFill>
                <a:latin typeface="Arial"/>
                <a:ea typeface="Arial"/>
                <a:cs typeface="Arial"/>
                <a:sym typeface="Arial"/>
              </a:rPr>
              <a:t>2</a:t>
            </a:r>
            <a:r>
              <a:rPr b="1" i="0" lang="es-AR" sz="1800" u="none" cap="none" strike="noStrike">
                <a:solidFill>
                  <a:srgbClr val="FF0000"/>
                </a:solidFill>
                <a:latin typeface="Arial"/>
                <a:ea typeface="Arial"/>
                <a:cs typeface="Arial"/>
                <a:sym typeface="Arial"/>
              </a:rPr>
              <a:t>, i, d, C, Exp.)</a:t>
            </a:r>
          </a:p>
        </p:txBody>
      </p:sp>
      <p:sp>
        <p:nvSpPr>
          <p:cNvPr id="165" name="Shape 165"/>
          <p:cNvSpPr txBox="1"/>
          <p:nvPr/>
        </p:nvSpPr>
        <p:spPr>
          <a:xfrm>
            <a:off x="2628900" y="4267200"/>
            <a:ext cx="800099" cy="376236"/>
          </a:xfrm>
          <a:prstGeom prst="rect">
            <a:avLst/>
          </a:prstGeom>
          <a:no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s-AR" sz="1800" u="none" cap="none" strike="noStrike">
                <a:solidFill>
                  <a:srgbClr val="FF0000"/>
                </a:solidFill>
                <a:latin typeface="Arial"/>
                <a:ea typeface="Arial"/>
                <a:cs typeface="Arial"/>
                <a:sym typeface="Arial"/>
              </a:rPr>
              <a:t>Y</a:t>
            </a:r>
            <a:r>
              <a:rPr b="1" baseline="-25000" i="0" lang="es-AR" sz="1800" u="none" cap="none" strike="noStrike">
                <a:solidFill>
                  <a:srgbClr val="FF0000"/>
                </a:solidFill>
                <a:latin typeface="Arial"/>
                <a:ea typeface="Arial"/>
                <a:cs typeface="Arial"/>
                <a:sym typeface="Arial"/>
              </a:rPr>
              <a:t>2</a:t>
            </a:r>
            <a:r>
              <a:rPr b="1" i="0" lang="es-AR" sz="1800" u="none" cap="none" strike="noStrike">
                <a:solidFill>
                  <a:srgbClr val="FF0000"/>
                </a:solidFill>
                <a:latin typeface="Arial"/>
                <a:ea typeface="Arial"/>
                <a:cs typeface="Arial"/>
                <a:sym typeface="Arial"/>
              </a:rPr>
              <a:t>&gt;</a:t>
            </a:r>
            <a:r>
              <a:rPr b="1" i="0" lang="es-AR" sz="1800" u="none" cap="none" strike="noStrike">
                <a:solidFill>
                  <a:schemeClr val="dk1"/>
                </a:solidFill>
                <a:latin typeface="Arial"/>
                <a:ea typeface="Arial"/>
                <a:cs typeface="Arial"/>
                <a:sym typeface="Arial"/>
              </a:rPr>
              <a:t>Y</a:t>
            </a:r>
            <a:r>
              <a:rPr b="1" baseline="-25000" i="0" lang="es-AR" sz="1800" u="none" cap="none" strike="noStrike">
                <a:solidFill>
                  <a:schemeClr val="dk1"/>
                </a:solidFill>
                <a:latin typeface="Arial"/>
                <a:ea typeface="Arial"/>
                <a:cs typeface="Arial"/>
                <a:sym typeface="Arial"/>
              </a:rPr>
              <a:t>1</a:t>
            </a:r>
          </a:p>
        </p:txBody>
      </p:sp>
      <p:cxnSp>
        <p:nvCxnSpPr>
          <p:cNvPr id="166" name="Shape 166"/>
          <p:cNvCxnSpPr/>
          <p:nvPr/>
        </p:nvCxnSpPr>
        <p:spPr>
          <a:xfrm>
            <a:off x="838200" y="4191000"/>
            <a:ext cx="457200" cy="0"/>
          </a:xfrm>
          <a:prstGeom prst="straightConnector1">
            <a:avLst/>
          </a:prstGeom>
          <a:noFill/>
          <a:ln cap="flat" cmpd="sng" w="9525">
            <a:solidFill>
              <a:srgbClr val="0000FF"/>
            </a:solidFill>
            <a:prstDash val="solid"/>
            <a:miter/>
            <a:headEnd len="med" w="med" type="none"/>
            <a:tailEnd len="med" w="med" type="none"/>
          </a:ln>
        </p:spPr>
      </p:cxnSp>
      <p:sp>
        <p:nvSpPr>
          <p:cNvPr id="167" name="Shape 167"/>
          <p:cNvSpPr/>
          <p:nvPr/>
        </p:nvSpPr>
        <p:spPr>
          <a:xfrm rot="-5400000">
            <a:off x="59531" y="4512467"/>
            <a:ext cx="976312" cy="485775"/>
          </a:xfrm>
          <a:prstGeom prst="stripedRightArrow">
            <a:avLst>
              <a:gd fmla="val 50000" name="adj1"/>
              <a:gd fmla="val 50000"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Shape 168"/>
          <p:cNvSpPr txBox="1"/>
          <p:nvPr/>
        </p:nvSpPr>
        <p:spPr>
          <a:xfrm>
            <a:off x="685800" y="51054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i </a:t>
            </a:r>
          </a:p>
        </p:txBody>
      </p:sp>
      <p:sp>
        <p:nvSpPr>
          <p:cNvPr id="169" name="Shape 169"/>
          <p:cNvSpPr txBox="1"/>
          <p:nvPr/>
        </p:nvSpPr>
        <p:spPr>
          <a:xfrm>
            <a:off x="685800" y="39624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i´</a:t>
            </a:r>
          </a:p>
        </p:txBody>
      </p:sp>
      <p:sp>
        <p:nvSpPr>
          <p:cNvPr id="170" name="Shape 170"/>
          <p:cNvSpPr/>
          <p:nvPr/>
        </p:nvSpPr>
        <p:spPr>
          <a:xfrm rot="10800000">
            <a:off x="1447799" y="5970586"/>
            <a:ext cx="557211" cy="277811"/>
          </a:xfrm>
          <a:prstGeom prst="stripedRightArrow">
            <a:avLst>
              <a:gd fmla="val 50000" name="adj1"/>
              <a:gd fmla="val 50000"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171" name="Shape 171"/>
          <p:cNvCxnSpPr/>
          <p:nvPr/>
        </p:nvCxnSpPr>
        <p:spPr>
          <a:xfrm>
            <a:off x="1295400" y="4205287"/>
            <a:ext cx="0" cy="2133599"/>
          </a:xfrm>
          <a:prstGeom prst="straightConnector1">
            <a:avLst/>
          </a:prstGeom>
          <a:noFill/>
          <a:ln cap="flat" cmpd="sng" w="9525">
            <a:solidFill>
              <a:srgbClr val="0000FF"/>
            </a:solidFill>
            <a:prstDash val="solid"/>
            <a:miter/>
            <a:headEnd len="med" w="med" type="none"/>
            <a:tailEnd len="med" w="med" type="none"/>
          </a:ln>
        </p:spPr>
      </p:cxnSp>
      <p:cxnSp>
        <p:nvCxnSpPr>
          <p:cNvPr id="172" name="Shape 172"/>
          <p:cNvCxnSpPr/>
          <p:nvPr/>
        </p:nvCxnSpPr>
        <p:spPr>
          <a:xfrm>
            <a:off x="2286000" y="5334000"/>
            <a:ext cx="0" cy="990599"/>
          </a:xfrm>
          <a:prstGeom prst="straightConnector1">
            <a:avLst/>
          </a:prstGeom>
          <a:noFill/>
          <a:ln cap="flat" cmpd="sng" w="9525">
            <a:solidFill>
              <a:srgbClr val="0000FF"/>
            </a:solidFill>
            <a:prstDash val="solid"/>
            <a:miter/>
            <a:headEnd len="med" w="med" type="none"/>
            <a:tailEnd len="med" w="med" type="none"/>
          </a:ln>
        </p:spPr>
      </p:cxnSp>
      <p:sp>
        <p:nvSpPr>
          <p:cNvPr id="173" name="Shape 173"/>
          <p:cNvSpPr txBox="1"/>
          <p:nvPr/>
        </p:nvSpPr>
        <p:spPr>
          <a:xfrm>
            <a:off x="1905000" y="62484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M</a:t>
            </a:r>
            <a:r>
              <a:rPr b="1" baseline="-25000" i="0" lang="es-AR" sz="1800" u="none" cap="none" strike="noStrike">
                <a:solidFill>
                  <a:schemeClr val="hlink"/>
                </a:solidFill>
                <a:latin typeface="Arial"/>
                <a:ea typeface="Arial"/>
                <a:cs typeface="Arial"/>
                <a:sym typeface="Arial"/>
              </a:rPr>
              <a:t>d</a:t>
            </a:r>
          </a:p>
        </p:txBody>
      </p:sp>
      <p:sp>
        <p:nvSpPr>
          <p:cNvPr id="174" name="Shape 174"/>
          <p:cNvSpPr txBox="1"/>
          <p:nvPr/>
        </p:nvSpPr>
        <p:spPr>
          <a:xfrm>
            <a:off x="1066800" y="62484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M´</a:t>
            </a:r>
            <a:r>
              <a:rPr b="1" baseline="-25000" i="0" lang="es-AR" sz="1800" u="none" cap="none" strike="noStrike">
                <a:solidFill>
                  <a:schemeClr val="hlink"/>
                </a:solidFill>
                <a:latin typeface="Arial"/>
                <a:ea typeface="Arial"/>
                <a:cs typeface="Arial"/>
                <a:sym typeface="Arial"/>
              </a:rPr>
              <a:t>d</a:t>
            </a:r>
          </a:p>
        </p:txBody>
      </p:sp>
      <p:cxnSp>
        <p:nvCxnSpPr>
          <p:cNvPr id="175" name="Shape 175"/>
          <p:cNvCxnSpPr/>
          <p:nvPr/>
        </p:nvCxnSpPr>
        <p:spPr>
          <a:xfrm>
            <a:off x="3733800" y="5334000"/>
            <a:ext cx="0" cy="990599"/>
          </a:xfrm>
          <a:prstGeom prst="straightConnector1">
            <a:avLst/>
          </a:prstGeom>
          <a:noFill/>
          <a:ln cap="flat" cmpd="sng" w="9525">
            <a:solidFill>
              <a:schemeClr val="dk1"/>
            </a:solidFill>
            <a:prstDash val="solid"/>
            <a:miter/>
            <a:headEnd len="med" w="med" type="none"/>
            <a:tailEnd len="med" w="med" type="none"/>
          </a:ln>
        </p:spPr>
      </p:cxnSp>
      <p:sp>
        <p:nvSpPr>
          <p:cNvPr id="176" name="Shape 176"/>
          <p:cNvSpPr/>
          <p:nvPr/>
        </p:nvSpPr>
        <p:spPr>
          <a:xfrm>
            <a:off x="2566986" y="5970587"/>
            <a:ext cx="557211" cy="277811"/>
          </a:xfrm>
          <a:prstGeom prst="stripedRightArrow">
            <a:avLst>
              <a:gd fmla="val 50000" name="adj1"/>
              <a:gd fmla="val 50000" name="adj2"/>
            </a:avLst>
          </a:prstGeom>
          <a:solidFill>
            <a:srgbClr val="FF00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Shape 177"/>
          <p:cNvSpPr txBox="1"/>
          <p:nvPr/>
        </p:nvSpPr>
        <p:spPr>
          <a:xfrm>
            <a:off x="3429000" y="62484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M´´</a:t>
            </a:r>
            <a:r>
              <a:rPr b="1" baseline="-25000" i="0" lang="es-AR" sz="1800" u="none" cap="none" strike="noStrike">
                <a:solidFill>
                  <a:schemeClr val="hlink"/>
                </a:solidFill>
                <a:latin typeface="Arial"/>
                <a:ea typeface="Arial"/>
                <a:cs typeface="Arial"/>
                <a:sym typeface="Arial"/>
              </a:rPr>
              <a:t>d</a:t>
            </a:r>
          </a:p>
        </p:txBody>
      </p:sp>
      <p:cxnSp>
        <p:nvCxnSpPr>
          <p:cNvPr id="178" name="Shape 178"/>
          <p:cNvCxnSpPr/>
          <p:nvPr/>
        </p:nvCxnSpPr>
        <p:spPr>
          <a:xfrm>
            <a:off x="838200" y="5334000"/>
            <a:ext cx="1447800" cy="0"/>
          </a:xfrm>
          <a:prstGeom prst="straightConnector1">
            <a:avLst/>
          </a:prstGeom>
          <a:noFill/>
          <a:ln cap="flat" cmpd="sng" w="9525">
            <a:solidFill>
              <a:srgbClr val="0000FF"/>
            </a:solidFill>
            <a:prstDash val="solid"/>
            <a:miter/>
            <a:headEnd len="med" w="med" type="none"/>
            <a:tailEnd len="med" w="med" type="none"/>
          </a:ln>
        </p:spPr>
      </p:cxn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82" name="Shape 182"/>
        <p:cNvGrpSpPr/>
        <p:nvPr/>
      </p:nvGrpSpPr>
      <p:grpSpPr>
        <a:xfrm>
          <a:off x="0" y="0"/>
          <a:ext cx="0" cy="0"/>
          <a:chOff x="0" y="0"/>
          <a:chExt cx="0" cy="0"/>
        </a:xfrm>
      </p:grpSpPr>
      <p:pic>
        <p:nvPicPr>
          <p:cNvPr id="183" name="Shape 183"/>
          <p:cNvPicPr preferRelativeResize="0"/>
          <p:nvPr/>
        </p:nvPicPr>
        <p:blipFill rotWithShape="1">
          <a:blip r:embed="rId3">
            <a:alphaModFix/>
          </a:blip>
          <a:srcRect b="0" l="0" r="0" t="0"/>
          <a:stretch/>
        </p:blipFill>
        <p:spPr>
          <a:xfrm>
            <a:off x="279400" y="1085850"/>
            <a:ext cx="8610599" cy="209549"/>
          </a:xfrm>
          <a:prstGeom prst="rect">
            <a:avLst/>
          </a:prstGeom>
          <a:noFill/>
          <a:ln>
            <a:noFill/>
          </a:ln>
        </p:spPr>
      </p:pic>
      <p:pic>
        <p:nvPicPr>
          <p:cNvPr id="184" name="Shape 184"/>
          <p:cNvPicPr preferRelativeResize="0"/>
          <p:nvPr/>
        </p:nvPicPr>
        <p:blipFill rotWithShape="1">
          <a:blip r:embed="rId4">
            <a:alphaModFix/>
          </a:blip>
          <a:srcRect b="0" l="0" r="0" t="0"/>
          <a:stretch/>
        </p:blipFill>
        <p:spPr>
          <a:xfrm>
            <a:off x="263525" y="306387"/>
            <a:ext cx="3013074" cy="608011"/>
          </a:xfrm>
          <a:prstGeom prst="rect">
            <a:avLst/>
          </a:prstGeom>
          <a:noFill/>
          <a:ln>
            <a:noFill/>
          </a:ln>
        </p:spPr>
      </p:pic>
      <p:sp>
        <p:nvSpPr>
          <p:cNvPr id="185" name="Shape 185"/>
          <p:cNvSpPr txBox="1"/>
          <p:nvPr/>
        </p:nvSpPr>
        <p:spPr>
          <a:xfrm>
            <a:off x="304800" y="1524000"/>
            <a:ext cx="8508999" cy="1006474"/>
          </a:xfrm>
          <a:prstGeom prst="rect">
            <a:avLst/>
          </a:prstGeom>
          <a:solidFill>
            <a:srgbClr val="FFFF99"/>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La </a:t>
            </a:r>
            <a:r>
              <a:rPr b="1" i="0" lang="es-AR" sz="1800" u="none" cap="none" strike="noStrike">
                <a:solidFill>
                  <a:srgbClr val="FF0000"/>
                </a:solidFill>
                <a:latin typeface="Arial"/>
                <a:ea typeface="Arial"/>
                <a:cs typeface="Arial"/>
                <a:sym typeface="Arial"/>
              </a:rPr>
              <a:t>Oferta Monetaria</a:t>
            </a:r>
            <a:r>
              <a:rPr b="0" i="0" lang="es-AR" sz="1800" u="none" cap="none" strike="noStrike">
                <a:solidFill>
                  <a:schemeClr val="dk1"/>
                </a:solidFill>
                <a:latin typeface="Arial"/>
                <a:ea typeface="Arial"/>
                <a:cs typeface="Arial"/>
                <a:sym typeface="Arial"/>
              </a:rPr>
              <a:t> es la suma de:</a:t>
            </a:r>
          </a:p>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Efectivo en manos del público </a:t>
            </a:r>
            <a:r>
              <a:rPr b="1" i="0" lang="es-AR" sz="1800" u="none" cap="none" strike="noStrike">
                <a:solidFill>
                  <a:srgbClr val="FF0000"/>
                </a:solidFill>
                <a:latin typeface="Arial"/>
                <a:ea typeface="Arial"/>
                <a:cs typeface="Arial"/>
                <a:sym typeface="Arial"/>
              </a:rPr>
              <a:t>(EMP)</a:t>
            </a:r>
            <a:r>
              <a:rPr b="0" i="0" lang="es-AR" sz="1800" u="none" cap="none" strike="noStrike">
                <a:solidFill>
                  <a:schemeClr val="dk1"/>
                </a:solidFill>
                <a:latin typeface="Arial"/>
                <a:ea typeface="Arial"/>
                <a:cs typeface="Arial"/>
                <a:sym typeface="Arial"/>
              </a:rPr>
              <a:t> + Depósitos bancarios </a:t>
            </a:r>
            <a:r>
              <a:rPr b="1" i="0" lang="es-AR" sz="1800" u="none" cap="none" strike="noStrike">
                <a:solidFill>
                  <a:srgbClr val="FF0000"/>
                </a:solidFill>
                <a:latin typeface="Arial"/>
                <a:ea typeface="Arial"/>
                <a:cs typeface="Arial"/>
                <a:sym typeface="Arial"/>
              </a:rPr>
              <a:t>(D)</a:t>
            </a:r>
            <a:r>
              <a:rPr b="0" i="0" lang="es-AR" sz="1800" u="none" cap="none" strike="noStrike">
                <a:solidFill>
                  <a:schemeClr val="dk1"/>
                </a:solidFill>
                <a:latin typeface="Arial"/>
                <a:ea typeface="Arial"/>
                <a:cs typeface="Arial"/>
                <a:sym typeface="Arial"/>
              </a:rPr>
              <a:t>.</a:t>
            </a:r>
          </a:p>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                       </a:t>
            </a:r>
            <a:r>
              <a:rPr b="1" i="0" lang="es-AR" sz="2400" u="none" cap="none" strike="noStrike">
                <a:solidFill>
                  <a:srgbClr val="FF0000"/>
                </a:solidFill>
                <a:latin typeface="Arial"/>
                <a:ea typeface="Arial"/>
                <a:cs typeface="Arial"/>
                <a:sym typeface="Arial"/>
              </a:rPr>
              <a:t>OM = EMP + D</a:t>
            </a:r>
          </a:p>
        </p:txBody>
      </p:sp>
      <p:sp>
        <p:nvSpPr>
          <p:cNvPr id="186" name="Shape 186"/>
          <p:cNvSpPr txBox="1"/>
          <p:nvPr/>
        </p:nvSpPr>
        <p:spPr>
          <a:xfrm>
            <a:off x="4495800" y="152400"/>
            <a:ext cx="3733800" cy="9461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0" lang="es-AR" sz="2800" u="none" cap="none" strike="noStrike">
                <a:solidFill>
                  <a:srgbClr val="BB4F59"/>
                </a:solidFill>
                <a:latin typeface="Arial"/>
                <a:ea typeface="Arial"/>
                <a:cs typeface="Arial"/>
                <a:sym typeface="Arial"/>
              </a:rPr>
              <a:t>OFERTA MONETARIA </a:t>
            </a:r>
          </a:p>
        </p:txBody>
      </p:sp>
      <p:cxnSp>
        <p:nvCxnSpPr>
          <p:cNvPr id="187" name="Shape 187"/>
          <p:cNvCxnSpPr/>
          <p:nvPr/>
        </p:nvCxnSpPr>
        <p:spPr>
          <a:xfrm>
            <a:off x="533400" y="2971800"/>
            <a:ext cx="0" cy="3429000"/>
          </a:xfrm>
          <a:prstGeom prst="straightConnector1">
            <a:avLst/>
          </a:prstGeom>
          <a:noFill/>
          <a:ln cap="flat" cmpd="sng" w="9525">
            <a:solidFill>
              <a:schemeClr val="dk1"/>
            </a:solidFill>
            <a:prstDash val="solid"/>
            <a:miter/>
            <a:headEnd len="med" w="med" type="stealth"/>
            <a:tailEnd len="med" w="med" type="none"/>
          </a:ln>
        </p:spPr>
      </p:cxnSp>
      <p:cxnSp>
        <p:nvCxnSpPr>
          <p:cNvPr id="188" name="Shape 188"/>
          <p:cNvCxnSpPr/>
          <p:nvPr/>
        </p:nvCxnSpPr>
        <p:spPr>
          <a:xfrm>
            <a:off x="533400" y="6400800"/>
            <a:ext cx="3063874" cy="0"/>
          </a:xfrm>
          <a:prstGeom prst="straightConnector1">
            <a:avLst/>
          </a:prstGeom>
          <a:noFill/>
          <a:ln cap="flat" cmpd="sng" w="9525">
            <a:solidFill>
              <a:schemeClr val="dk1"/>
            </a:solidFill>
            <a:prstDash val="solid"/>
            <a:miter/>
            <a:headEnd len="med" w="med" type="none"/>
            <a:tailEnd len="med" w="med" type="stealth"/>
          </a:ln>
        </p:spPr>
      </p:cxnSp>
      <p:cxnSp>
        <p:nvCxnSpPr>
          <p:cNvPr id="189" name="Shape 189"/>
          <p:cNvCxnSpPr/>
          <p:nvPr/>
        </p:nvCxnSpPr>
        <p:spPr>
          <a:xfrm>
            <a:off x="2209800" y="2971800"/>
            <a:ext cx="0" cy="3429000"/>
          </a:xfrm>
          <a:prstGeom prst="straightConnector1">
            <a:avLst/>
          </a:prstGeom>
          <a:noFill/>
          <a:ln cap="flat" cmpd="sng" w="50800">
            <a:solidFill>
              <a:srgbClr val="008000"/>
            </a:solidFill>
            <a:prstDash val="solid"/>
            <a:miter/>
            <a:headEnd len="med" w="med" type="none"/>
            <a:tailEnd len="med" w="med" type="none"/>
          </a:ln>
        </p:spPr>
      </p:cxnSp>
      <p:sp>
        <p:nvSpPr>
          <p:cNvPr id="190" name="Shape 190"/>
          <p:cNvSpPr txBox="1"/>
          <p:nvPr/>
        </p:nvSpPr>
        <p:spPr>
          <a:xfrm>
            <a:off x="2133600" y="63246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2F8F0D"/>
              </a:buClr>
              <a:buSzPct val="25000"/>
              <a:buFont typeface="Arial"/>
              <a:buNone/>
            </a:pPr>
            <a:r>
              <a:rPr b="1" i="0" lang="es-AR" sz="1800" u="none" cap="none" strike="noStrike">
                <a:solidFill>
                  <a:srgbClr val="2F8F0D"/>
                </a:solidFill>
                <a:latin typeface="Arial"/>
                <a:ea typeface="Arial"/>
                <a:cs typeface="Arial"/>
                <a:sym typeface="Arial"/>
              </a:rPr>
              <a:t>OM</a:t>
            </a:r>
          </a:p>
        </p:txBody>
      </p:sp>
      <p:sp>
        <p:nvSpPr>
          <p:cNvPr id="191" name="Shape 191"/>
          <p:cNvSpPr txBox="1"/>
          <p:nvPr/>
        </p:nvSpPr>
        <p:spPr>
          <a:xfrm>
            <a:off x="533400" y="27813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i</a:t>
            </a:r>
          </a:p>
        </p:txBody>
      </p:sp>
      <p:sp>
        <p:nvSpPr>
          <p:cNvPr id="192" name="Shape 192"/>
          <p:cNvSpPr txBox="1"/>
          <p:nvPr/>
        </p:nvSpPr>
        <p:spPr>
          <a:xfrm>
            <a:off x="3368675" y="64008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OM</a:t>
            </a:r>
          </a:p>
        </p:txBody>
      </p:sp>
      <p:sp>
        <p:nvSpPr>
          <p:cNvPr id="193" name="Shape 193"/>
          <p:cNvSpPr/>
          <p:nvPr/>
        </p:nvSpPr>
        <p:spPr>
          <a:xfrm rot="10800000">
            <a:off x="1081087" y="4114799"/>
            <a:ext cx="976312" cy="485775"/>
          </a:xfrm>
          <a:prstGeom prst="stripedRightArrow">
            <a:avLst>
              <a:gd fmla="val 50000" name="adj1"/>
              <a:gd fmla="val 50000" name="adj2"/>
            </a:avLst>
          </a:prstGeom>
          <a:solidFill>
            <a:srgbClr val="FF00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Shape 194"/>
          <p:cNvSpPr/>
          <p:nvPr/>
        </p:nvSpPr>
        <p:spPr>
          <a:xfrm>
            <a:off x="2376486" y="4114800"/>
            <a:ext cx="976312" cy="485775"/>
          </a:xfrm>
          <a:prstGeom prst="stripedRightArrow">
            <a:avLst>
              <a:gd fmla="val 50000" name="adj1"/>
              <a:gd fmla="val 50000"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Shape 195"/>
          <p:cNvSpPr txBox="1"/>
          <p:nvPr/>
        </p:nvSpPr>
        <p:spPr>
          <a:xfrm>
            <a:off x="3368675" y="3960812"/>
            <a:ext cx="5318124" cy="11906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1" lang="es-AR" sz="1800" u="none" cap="none" strike="noStrike">
                <a:solidFill>
                  <a:schemeClr val="dk1"/>
                </a:solidFill>
                <a:latin typeface="Arial"/>
                <a:ea typeface="Arial"/>
                <a:cs typeface="Arial"/>
                <a:sym typeface="Arial"/>
              </a:rPr>
              <a:t>El Banco Central de la República Argentina </a:t>
            </a:r>
          </a:p>
          <a:p>
            <a:pPr indent="0" lvl="0" marL="0" marR="0" rtl="0" algn="ctr">
              <a:lnSpc>
                <a:spcPct val="100000"/>
              </a:lnSpc>
              <a:spcBef>
                <a:spcPts val="0"/>
              </a:spcBef>
              <a:spcAft>
                <a:spcPts val="0"/>
              </a:spcAft>
              <a:buClr>
                <a:schemeClr val="dk1"/>
              </a:buClr>
              <a:buSzPct val="25000"/>
              <a:buFont typeface="Arial"/>
              <a:buNone/>
            </a:pPr>
            <a:r>
              <a:rPr b="1" i="1" lang="es-AR" sz="1800" u="none" cap="none" strike="noStrike">
                <a:solidFill>
                  <a:schemeClr val="dk1"/>
                </a:solidFill>
                <a:latin typeface="Arial"/>
                <a:ea typeface="Arial"/>
                <a:cs typeface="Arial"/>
                <a:sym typeface="Arial"/>
              </a:rPr>
              <a:t>BCRA</a:t>
            </a:r>
          </a:p>
          <a:p>
            <a:pPr indent="0" lvl="0" marL="0" marR="0" rtl="0" algn="ctr">
              <a:lnSpc>
                <a:spcPct val="100000"/>
              </a:lnSpc>
              <a:spcBef>
                <a:spcPts val="0"/>
              </a:spcBef>
              <a:spcAft>
                <a:spcPts val="0"/>
              </a:spcAft>
              <a:buClr>
                <a:schemeClr val="dk1"/>
              </a:buClr>
              <a:buSzPct val="25000"/>
              <a:buFont typeface="Arial"/>
              <a:buNone/>
            </a:pPr>
            <a:r>
              <a:rPr b="1" i="1" lang="es-AR" sz="1800" u="none" cap="none" strike="noStrike">
                <a:solidFill>
                  <a:schemeClr val="dk1"/>
                </a:solidFill>
                <a:latin typeface="Arial"/>
                <a:ea typeface="Arial"/>
                <a:cs typeface="Arial"/>
                <a:sym typeface="Arial"/>
              </a:rPr>
              <a:t>es la entidad que decide discrecionalmente </a:t>
            </a:r>
          </a:p>
          <a:p>
            <a:pPr indent="0" lvl="0" marL="0" marR="0" rtl="0" algn="ctr">
              <a:lnSpc>
                <a:spcPct val="100000"/>
              </a:lnSpc>
              <a:spcBef>
                <a:spcPts val="0"/>
              </a:spcBef>
              <a:spcAft>
                <a:spcPts val="0"/>
              </a:spcAft>
              <a:buClr>
                <a:schemeClr val="dk1"/>
              </a:buClr>
              <a:buSzPct val="25000"/>
              <a:buFont typeface="Arial"/>
              <a:buNone/>
            </a:pPr>
            <a:r>
              <a:rPr b="1" i="1" lang="es-AR" sz="1800" u="none" cap="none" strike="noStrike">
                <a:solidFill>
                  <a:schemeClr val="dk1"/>
                </a:solidFill>
                <a:latin typeface="Arial"/>
                <a:ea typeface="Arial"/>
                <a:cs typeface="Arial"/>
                <a:sym typeface="Arial"/>
              </a:rPr>
              <a:t>el tamaño de la oferta monetaria nominal </a:t>
            </a:r>
          </a:p>
        </p:txBody>
      </p:sp>
      <p:sp>
        <p:nvSpPr>
          <p:cNvPr id="196" name="Shape 196"/>
          <p:cNvSpPr txBox="1"/>
          <p:nvPr/>
        </p:nvSpPr>
        <p:spPr>
          <a:xfrm>
            <a:off x="2362200" y="3162300"/>
            <a:ext cx="1143000" cy="381000"/>
          </a:xfrm>
          <a:prstGeom prst="rect">
            <a:avLst/>
          </a:prstGeom>
          <a:solidFill>
            <a:srgbClr val="C0C0C0">
              <a:alpha val="76862"/>
            </a:srgbClr>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Expansión</a:t>
            </a:r>
          </a:p>
        </p:txBody>
      </p:sp>
      <p:sp>
        <p:nvSpPr>
          <p:cNvPr id="197" name="Shape 197"/>
          <p:cNvSpPr txBox="1"/>
          <p:nvPr/>
        </p:nvSpPr>
        <p:spPr>
          <a:xfrm>
            <a:off x="685800" y="3162300"/>
            <a:ext cx="1447800" cy="381000"/>
          </a:xfrm>
          <a:prstGeom prst="rect">
            <a:avLst/>
          </a:prstGeom>
          <a:solidFill>
            <a:srgbClr val="FFFF00"/>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s-AR" sz="1800" u="none" cap="none" strike="noStrike">
                <a:solidFill>
                  <a:srgbClr val="FF0000"/>
                </a:solidFill>
                <a:latin typeface="Arial"/>
                <a:ea typeface="Arial"/>
                <a:cs typeface="Arial"/>
                <a:sym typeface="Arial"/>
              </a:rPr>
              <a:t>Contracción</a:t>
            </a:r>
          </a:p>
        </p:txBody>
      </p:sp>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01" name="Shape 201"/>
        <p:cNvGrpSpPr/>
        <p:nvPr/>
      </p:nvGrpSpPr>
      <p:grpSpPr>
        <a:xfrm>
          <a:off x="0" y="0"/>
          <a:ext cx="0" cy="0"/>
          <a:chOff x="0" y="0"/>
          <a:chExt cx="0" cy="0"/>
        </a:xfrm>
      </p:grpSpPr>
      <p:pic>
        <p:nvPicPr>
          <p:cNvPr id="202" name="Shape 202"/>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203" name="Shape 203"/>
          <p:cNvPicPr preferRelativeResize="0"/>
          <p:nvPr/>
        </p:nvPicPr>
        <p:blipFill rotWithShape="1">
          <a:blip r:embed="rId4">
            <a:alphaModFix/>
          </a:blip>
          <a:srcRect b="0" l="0" r="0" t="0"/>
          <a:stretch/>
        </p:blipFill>
        <p:spPr>
          <a:xfrm>
            <a:off x="255587" y="1444625"/>
            <a:ext cx="8626474" cy="5114925"/>
          </a:xfrm>
          <a:prstGeom prst="rect">
            <a:avLst/>
          </a:prstGeom>
          <a:noFill/>
          <a:ln>
            <a:noFill/>
          </a:ln>
        </p:spPr>
      </p:pic>
      <p:pic>
        <p:nvPicPr>
          <p:cNvPr id="204" name="Shape 204"/>
          <p:cNvPicPr preferRelativeResize="0"/>
          <p:nvPr/>
        </p:nvPicPr>
        <p:blipFill rotWithShape="1">
          <a:blip r:embed="rId5">
            <a:alphaModFix/>
          </a:blip>
          <a:srcRect b="0" l="0" r="0" t="0"/>
          <a:stretch/>
        </p:blipFill>
        <p:spPr>
          <a:xfrm>
            <a:off x="263525" y="306387"/>
            <a:ext cx="3013074" cy="608011"/>
          </a:xfrm>
          <a:prstGeom prst="rect">
            <a:avLst/>
          </a:prstGeom>
          <a:noFill/>
          <a:ln>
            <a:noFill/>
          </a:ln>
        </p:spPr>
      </p:pic>
      <p:sp>
        <p:nvSpPr>
          <p:cNvPr id="205" name="Shape 205"/>
          <p:cNvSpPr txBox="1"/>
          <p:nvPr/>
        </p:nvSpPr>
        <p:spPr>
          <a:xfrm>
            <a:off x="457200" y="1477962"/>
            <a:ext cx="8416924" cy="1357312"/>
          </a:xfrm>
          <a:prstGeom prst="rect">
            <a:avLst/>
          </a:prstGeom>
          <a:noFill/>
          <a:ln>
            <a:noFill/>
          </a:ln>
        </p:spPr>
        <p:txBody>
          <a:bodyPr anchorCtr="0" anchor="t" bIns="45700" lIns="91425" rIns="91425" tIns="45700">
            <a:noAutofit/>
          </a:bodyPr>
          <a:lstStyle/>
          <a:p>
            <a:pPr indent="0" lvl="0" marL="0" marR="0" rtl="0" algn="l">
              <a:lnSpc>
                <a:spcPct val="150000"/>
              </a:lnSpc>
              <a:spcBef>
                <a:spcPts val="0"/>
              </a:spcBef>
              <a:spcAft>
                <a:spcPts val="0"/>
              </a:spcAft>
              <a:buClr>
                <a:schemeClr val="dk1"/>
              </a:buClr>
              <a:buSzPct val="25000"/>
              <a:buFont typeface="Arial"/>
              <a:buNone/>
            </a:pPr>
            <a:r>
              <a:rPr b="1" i="0" lang="es-AR" sz="1600" u="none" cap="none" strike="noStrike">
                <a:solidFill>
                  <a:schemeClr val="dk1"/>
                </a:solidFill>
                <a:latin typeface="Arial"/>
                <a:ea typeface="Arial"/>
                <a:cs typeface="Arial"/>
                <a:sym typeface="Arial"/>
              </a:rPr>
              <a:t>Queda determinado por el punto de encuentro de la demanda monetaria y de la oferta monetaria. Este punto de equilibrio determina el tipo de interés a corto plazo.</a:t>
            </a:r>
          </a:p>
          <a:p>
            <a:pPr indent="0" lvl="0" marL="0" marR="0" rtl="0" algn="l">
              <a:lnSpc>
                <a:spcPct val="150000"/>
              </a:lnSpc>
              <a:spcBef>
                <a:spcPts val="0"/>
              </a:spcBef>
              <a:spcAft>
                <a:spcPts val="0"/>
              </a:spcAft>
              <a:buClr>
                <a:schemeClr val="dk1"/>
              </a:buClr>
              <a:buFont typeface="Calibri"/>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206" name="Shape 206"/>
          <p:cNvSpPr txBox="1"/>
          <p:nvPr/>
        </p:nvSpPr>
        <p:spPr>
          <a:xfrm>
            <a:off x="3505200" y="152400"/>
            <a:ext cx="5486399" cy="94615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s-AR" sz="2800" u="none" cap="none" strike="noStrike">
                <a:solidFill>
                  <a:srgbClr val="BB4F59"/>
                </a:solidFill>
                <a:latin typeface="Arial"/>
                <a:ea typeface="Arial"/>
                <a:cs typeface="Arial"/>
                <a:sym typeface="Arial"/>
              </a:rPr>
              <a:t>EQUILIBRIO DEL MERCADO MONETARIO</a:t>
            </a:r>
          </a:p>
        </p:txBody>
      </p:sp>
      <p:sp>
        <p:nvSpPr>
          <p:cNvPr id="207" name="Shape 207"/>
          <p:cNvSpPr txBox="1"/>
          <p:nvPr/>
        </p:nvSpPr>
        <p:spPr>
          <a:xfrm>
            <a:off x="0" y="0"/>
            <a:ext cx="9144000" cy="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08" name="Shape 208"/>
          <p:cNvPicPr preferRelativeResize="0"/>
          <p:nvPr/>
        </p:nvPicPr>
        <p:blipFill rotWithShape="1">
          <a:blip r:embed="rId6">
            <a:alphaModFix/>
          </a:blip>
          <a:srcRect b="0" l="0" r="5067" t="0"/>
          <a:stretch/>
        </p:blipFill>
        <p:spPr>
          <a:xfrm>
            <a:off x="1143000" y="2438400"/>
            <a:ext cx="6858000" cy="4121150"/>
          </a:xfrm>
          <a:prstGeom prst="rect">
            <a:avLst/>
          </a:prstGeom>
          <a:noFill/>
          <a:ln>
            <a:noFill/>
          </a:ln>
        </p:spPr>
      </p:pic>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12" name="Shape 212"/>
        <p:cNvGrpSpPr/>
        <p:nvPr/>
      </p:nvGrpSpPr>
      <p:grpSpPr>
        <a:xfrm>
          <a:off x="0" y="0"/>
          <a:ext cx="0" cy="0"/>
          <a:chOff x="0" y="0"/>
          <a:chExt cx="0" cy="0"/>
        </a:xfrm>
      </p:grpSpPr>
      <p:pic>
        <p:nvPicPr>
          <p:cNvPr id="213" name="Shape 213"/>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214" name="Shape 214"/>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215" name="Shape 215"/>
          <p:cNvSpPr txBox="1"/>
          <p:nvPr/>
        </p:nvSpPr>
        <p:spPr>
          <a:xfrm>
            <a:off x="3276600" y="76200"/>
            <a:ext cx="5597524" cy="1143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s-AR" sz="2800" u="none" cap="none" strike="noStrike">
                <a:solidFill>
                  <a:srgbClr val="BB4F59"/>
                </a:solidFill>
                <a:latin typeface="Arial"/>
                <a:ea typeface="Arial"/>
                <a:cs typeface="Arial"/>
                <a:sym typeface="Arial"/>
              </a:rPr>
              <a:t>EQUILIBRIO EN EL MERCADO MONETARIO Y LA CURVA LM</a:t>
            </a:r>
          </a:p>
        </p:txBody>
      </p:sp>
      <p:sp>
        <p:nvSpPr>
          <p:cNvPr id="216" name="Shape 216"/>
          <p:cNvSpPr txBox="1"/>
          <p:nvPr/>
        </p:nvSpPr>
        <p:spPr>
          <a:xfrm>
            <a:off x="152400" y="1143000"/>
            <a:ext cx="8880475" cy="2755900"/>
          </a:xfrm>
          <a:prstGeom prst="rect">
            <a:avLst/>
          </a:prstGeom>
          <a:noFill/>
          <a:ln>
            <a:noFill/>
          </a:ln>
        </p:spPr>
        <p:txBody>
          <a:bodyPr anchorCtr="0" anchor="ctr" bIns="45700" lIns="91425" rIns="91425" tIns="45700">
            <a:noAutofit/>
          </a:bodyPr>
          <a:lstStyle/>
          <a:p>
            <a:pPr indent="0" lvl="0" marL="0" marR="0" rtl="0" algn="l">
              <a:lnSpc>
                <a:spcPct val="110000"/>
              </a:lnSpc>
              <a:spcBef>
                <a:spcPts val="0"/>
              </a:spcBef>
              <a:spcAft>
                <a:spcPts val="0"/>
              </a:spcAft>
              <a:buClr>
                <a:srgbClr val="BB4F59"/>
              </a:buClr>
              <a:buSzPct val="25000"/>
              <a:buFont typeface="Arial"/>
              <a:buNone/>
            </a:pPr>
            <a:r>
              <a:rPr b="1" i="0" lang="es-AR" sz="1800" u="none" cap="none" strike="noStrike">
                <a:solidFill>
                  <a:srgbClr val="BB4F59"/>
                </a:solidFill>
                <a:latin typeface="Arial"/>
                <a:ea typeface="Arial"/>
                <a:cs typeface="Arial"/>
                <a:sym typeface="Arial"/>
              </a:rPr>
              <a:t>La demanda de dinero será entonces una función inversa de la tasa o tipo de interés (i) y una función directa de la renta monetaria (Y)</a:t>
            </a:r>
            <a:br>
              <a:rPr b="1" i="0" lang="es-AR" sz="1800" u="none" cap="none" strike="noStrike">
                <a:solidFill>
                  <a:srgbClr val="BB4F59"/>
                </a:solidFill>
                <a:latin typeface="Arial"/>
                <a:ea typeface="Arial"/>
                <a:cs typeface="Arial"/>
                <a:sym typeface="Arial"/>
              </a:rPr>
            </a:br>
            <a:r>
              <a:rPr b="1" i="0" lang="es-AR" sz="2000" u="none" cap="none" strike="noStrike">
                <a:solidFill>
                  <a:schemeClr val="dk1"/>
                </a:solidFill>
                <a:latin typeface="Arial"/>
                <a:ea typeface="Arial"/>
                <a:cs typeface="Arial"/>
                <a:sym typeface="Arial"/>
              </a:rPr>
              <a:t>M</a:t>
            </a:r>
            <a:r>
              <a:rPr b="1" baseline="-25000" i="0" lang="es-AR" sz="2000" u="none" cap="none" strike="noStrike">
                <a:solidFill>
                  <a:schemeClr val="dk1"/>
                </a:solidFill>
                <a:latin typeface="Arial"/>
                <a:ea typeface="Arial"/>
                <a:cs typeface="Arial"/>
                <a:sym typeface="Arial"/>
              </a:rPr>
              <a:t>d</a:t>
            </a:r>
            <a:r>
              <a:rPr b="1" baseline="-25000" i="0" lang="es-AR" sz="1800" u="none" cap="none" strike="noStrike">
                <a:solidFill>
                  <a:srgbClr val="BB4F59"/>
                </a:solidFill>
                <a:latin typeface="Arial"/>
                <a:ea typeface="Arial"/>
                <a:cs typeface="Arial"/>
                <a:sym typeface="Arial"/>
              </a:rPr>
              <a:t>  </a:t>
            </a:r>
            <a:r>
              <a:rPr b="1" i="0" lang="es-AR" sz="1800" u="none" cap="none" strike="noStrike">
                <a:solidFill>
                  <a:srgbClr val="BB4F59"/>
                </a:solidFill>
                <a:latin typeface="Arial"/>
                <a:ea typeface="Arial"/>
                <a:cs typeface="Arial"/>
                <a:sym typeface="Arial"/>
              </a:rPr>
              <a:t>= </a:t>
            </a:r>
            <a:r>
              <a:rPr b="1" i="0" lang="es-AR" sz="2000" u="none" cap="none" strike="noStrike">
                <a:solidFill>
                  <a:schemeClr val="dk1"/>
                </a:solidFill>
                <a:latin typeface="Arial"/>
                <a:ea typeface="Arial"/>
                <a:cs typeface="Arial"/>
                <a:sym typeface="Arial"/>
              </a:rPr>
              <a:t>L (Liquidity preference)= k </a:t>
            </a:r>
            <a:r>
              <a:rPr b="1" baseline="30000" i="0" lang="es-AR" sz="2000" u="none" cap="none" strike="noStrike">
                <a:solidFill>
                  <a:schemeClr val="dk1"/>
                </a:solidFill>
                <a:latin typeface="Arial"/>
                <a:ea typeface="Arial"/>
                <a:cs typeface="Arial"/>
                <a:sym typeface="Arial"/>
              </a:rPr>
              <a:t>*</a:t>
            </a:r>
            <a:r>
              <a:rPr b="1" i="0" lang="es-AR" sz="2000" u="none" cap="none" strike="noStrike">
                <a:solidFill>
                  <a:schemeClr val="dk1"/>
                </a:solidFill>
                <a:latin typeface="Arial"/>
                <a:ea typeface="Arial"/>
                <a:cs typeface="Arial"/>
                <a:sym typeface="Arial"/>
              </a:rPr>
              <a:t> Y- h</a:t>
            </a:r>
            <a:r>
              <a:rPr b="1" baseline="30000" i="0" lang="es-AR" sz="2000" u="none" cap="none" strike="noStrike">
                <a:solidFill>
                  <a:schemeClr val="dk1"/>
                </a:solidFill>
                <a:latin typeface="Arial"/>
                <a:ea typeface="Arial"/>
                <a:cs typeface="Arial"/>
                <a:sym typeface="Arial"/>
              </a:rPr>
              <a:t>* </a:t>
            </a:r>
            <a:r>
              <a:rPr b="1" i="0" lang="es-AR" sz="2000" u="none" cap="none" strike="noStrike">
                <a:solidFill>
                  <a:schemeClr val="dk1"/>
                </a:solidFill>
                <a:latin typeface="Arial"/>
                <a:ea typeface="Arial"/>
                <a:cs typeface="Arial"/>
                <a:sym typeface="Arial"/>
              </a:rPr>
              <a:t>i </a:t>
            </a:r>
            <a:br>
              <a:rPr b="1" i="0" lang="es-AR" sz="2000" u="none" cap="none" strike="noStrike">
                <a:solidFill>
                  <a:schemeClr val="dk1"/>
                </a:solidFill>
                <a:latin typeface="Arial"/>
                <a:ea typeface="Arial"/>
                <a:cs typeface="Arial"/>
                <a:sym typeface="Arial"/>
              </a:rPr>
            </a:br>
            <a:r>
              <a:rPr b="1" i="0" lang="es-AR" sz="1800" u="none" cap="none" strike="noStrike">
                <a:solidFill>
                  <a:srgbClr val="FF0000"/>
                </a:solidFill>
                <a:latin typeface="Arial"/>
                <a:ea typeface="Arial"/>
                <a:cs typeface="Arial"/>
                <a:sym typeface="Arial"/>
              </a:rPr>
              <a:t>k = Sensibilidad de la demanda de dinero al nivel de renta </a:t>
            </a:r>
            <a:br>
              <a:rPr b="1" i="0" lang="es-AR" sz="1800" u="none" cap="none" strike="noStrike">
                <a:solidFill>
                  <a:srgbClr val="FF0000"/>
                </a:solidFill>
                <a:latin typeface="Arial"/>
                <a:ea typeface="Arial"/>
                <a:cs typeface="Arial"/>
                <a:sym typeface="Arial"/>
              </a:rPr>
            </a:br>
            <a:r>
              <a:rPr b="1" i="0" lang="es-AR" sz="1800" u="none" cap="none" strike="noStrike">
                <a:solidFill>
                  <a:srgbClr val="FF0000"/>
                </a:solidFill>
                <a:latin typeface="Arial"/>
                <a:ea typeface="Arial"/>
                <a:cs typeface="Arial"/>
                <a:sym typeface="Arial"/>
              </a:rPr>
              <a:t>h = Sensibilidad de la demanda de dinero al tipo de interés. </a:t>
            </a:r>
            <a:br>
              <a:rPr b="1" i="0" lang="es-AR" sz="1800" u="none" cap="none" strike="noStrike">
                <a:solidFill>
                  <a:srgbClr val="FF0000"/>
                </a:solidFill>
                <a:latin typeface="Arial"/>
                <a:ea typeface="Arial"/>
                <a:cs typeface="Arial"/>
                <a:sym typeface="Arial"/>
              </a:rPr>
            </a:br>
            <a:r>
              <a:rPr b="1" i="0" lang="es-AR" sz="1800" u="none" cap="none" strike="noStrike">
                <a:solidFill>
                  <a:srgbClr val="BB4F59"/>
                </a:solidFill>
                <a:latin typeface="Arial"/>
                <a:ea typeface="Arial"/>
                <a:cs typeface="Arial"/>
                <a:sym typeface="Arial"/>
              </a:rPr>
              <a:t>La oferta de dinero es independiente de i y resulta absolutamente rígida.  </a:t>
            </a:r>
            <a:br>
              <a:rPr b="1" i="0" lang="es-AR" sz="1800" u="none" cap="none" strike="noStrike">
                <a:solidFill>
                  <a:srgbClr val="BB4F59"/>
                </a:solidFill>
                <a:latin typeface="Arial"/>
                <a:ea typeface="Arial"/>
                <a:cs typeface="Arial"/>
                <a:sym typeface="Arial"/>
              </a:rPr>
            </a:br>
            <a:r>
              <a:rPr b="1" i="0" lang="es-AR" sz="2000" u="none" cap="none" strike="noStrike">
                <a:solidFill>
                  <a:schemeClr val="dk1"/>
                </a:solidFill>
                <a:latin typeface="Arial"/>
                <a:ea typeface="Arial"/>
                <a:cs typeface="Arial"/>
                <a:sym typeface="Arial"/>
              </a:rPr>
              <a:t>M</a:t>
            </a:r>
            <a:r>
              <a:rPr b="1" baseline="-25000" i="0" lang="es-AR" sz="2000" u="none" cap="none" strike="noStrike">
                <a:solidFill>
                  <a:schemeClr val="dk1"/>
                </a:solidFill>
                <a:latin typeface="Arial"/>
                <a:ea typeface="Arial"/>
                <a:cs typeface="Arial"/>
                <a:sym typeface="Arial"/>
              </a:rPr>
              <a:t>s</a:t>
            </a:r>
            <a:r>
              <a:rPr b="1" i="0" lang="es-AR" sz="2000" u="none" cap="none" strike="noStrike">
                <a:solidFill>
                  <a:schemeClr val="dk1"/>
                </a:solidFill>
                <a:latin typeface="Arial"/>
                <a:ea typeface="Arial"/>
                <a:cs typeface="Arial"/>
                <a:sym typeface="Arial"/>
              </a:rPr>
              <a:t> (Money supply) = OM/NP</a:t>
            </a:r>
            <a:br>
              <a:rPr b="1" i="0" lang="es-AR" sz="1800" u="none" cap="none" strike="noStrike">
                <a:solidFill>
                  <a:srgbClr val="FF0000"/>
                </a:solidFill>
                <a:latin typeface="Arial"/>
                <a:ea typeface="Arial"/>
                <a:cs typeface="Arial"/>
                <a:sym typeface="Arial"/>
              </a:rPr>
            </a:br>
            <a:r>
              <a:rPr b="1" i="0" lang="es-AR" sz="1800" u="none" cap="none" strike="noStrike">
                <a:solidFill>
                  <a:srgbClr val="FF0000"/>
                </a:solidFill>
                <a:latin typeface="Arial"/>
                <a:ea typeface="Arial"/>
                <a:cs typeface="Arial"/>
                <a:sym typeface="Arial"/>
              </a:rPr>
              <a:t>OM = Oferta monetaria nominal   NP = Nivel de precios</a:t>
            </a:r>
          </a:p>
        </p:txBody>
      </p:sp>
      <p:cxnSp>
        <p:nvCxnSpPr>
          <p:cNvPr id="217" name="Shape 217"/>
          <p:cNvCxnSpPr/>
          <p:nvPr/>
        </p:nvCxnSpPr>
        <p:spPr>
          <a:xfrm rot="10800000">
            <a:off x="838200" y="4038599"/>
            <a:ext cx="0" cy="2362200"/>
          </a:xfrm>
          <a:prstGeom prst="straightConnector1">
            <a:avLst/>
          </a:prstGeom>
          <a:noFill/>
          <a:ln cap="flat" cmpd="sng" w="9525">
            <a:solidFill>
              <a:schemeClr val="dk1"/>
            </a:solidFill>
            <a:prstDash val="solid"/>
            <a:miter/>
            <a:headEnd len="med" w="med" type="none"/>
            <a:tailEnd len="med" w="med" type="none"/>
          </a:ln>
        </p:spPr>
      </p:cxnSp>
      <p:cxnSp>
        <p:nvCxnSpPr>
          <p:cNvPr id="218" name="Shape 218"/>
          <p:cNvCxnSpPr/>
          <p:nvPr/>
        </p:nvCxnSpPr>
        <p:spPr>
          <a:xfrm>
            <a:off x="533400" y="6400800"/>
            <a:ext cx="5943599" cy="0"/>
          </a:xfrm>
          <a:prstGeom prst="straightConnector1">
            <a:avLst/>
          </a:prstGeom>
          <a:noFill/>
          <a:ln cap="flat" cmpd="sng" w="9525">
            <a:solidFill>
              <a:schemeClr val="dk1"/>
            </a:solidFill>
            <a:prstDash val="solid"/>
            <a:miter/>
            <a:headEnd len="med" w="med" type="none"/>
            <a:tailEnd len="med" w="med" type="none"/>
          </a:ln>
        </p:spPr>
      </p:cxnSp>
      <p:sp>
        <p:nvSpPr>
          <p:cNvPr id="219" name="Shape 219"/>
          <p:cNvSpPr txBox="1"/>
          <p:nvPr/>
        </p:nvSpPr>
        <p:spPr>
          <a:xfrm>
            <a:off x="533400" y="38862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i</a:t>
            </a:r>
          </a:p>
        </p:txBody>
      </p:sp>
      <p:sp>
        <p:nvSpPr>
          <p:cNvPr id="220" name="Shape 220"/>
          <p:cNvSpPr txBox="1"/>
          <p:nvPr/>
        </p:nvSpPr>
        <p:spPr>
          <a:xfrm>
            <a:off x="3124200" y="6400800"/>
            <a:ext cx="877887"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M</a:t>
            </a:r>
          </a:p>
        </p:txBody>
      </p:sp>
      <p:sp>
        <p:nvSpPr>
          <p:cNvPr id="221" name="Shape 221"/>
          <p:cNvSpPr/>
          <p:nvPr/>
        </p:nvSpPr>
        <p:spPr>
          <a:xfrm>
            <a:off x="1524000" y="4235450"/>
            <a:ext cx="2328861" cy="2012949"/>
          </a:xfrm>
          <a:custGeom>
            <a:pathLst>
              <a:path extrusionOk="0" h="120000" w="120000">
                <a:moveTo>
                  <a:pt x="0" y="0"/>
                </a:moveTo>
                <a:cubicBezTo>
                  <a:pt x="2126" y="6056"/>
                  <a:pt x="7034" y="24700"/>
                  <a:pt x="13742" y="37476"/>
                </a:cubicBezTo>
                <a:cubicBezTo>
                  <a:pt x="20449" y="50252"/>
                  <a:pt x="29366" y="65299"/>
                  <a:pt x="40245" y="76845"/>
                </a:cubicBezTo>
                <a:cubicBezTo>
                  <a:pt x="51124" y="88391"/>
                  <a:pt x="66012" y="99558"/>
                  <a:pt x="79263" y="106750"/>
                </a:cubicBezTo>
                <a:cubicBezTo>
                  <a:pt x="92515" y="113943"/>
                  <a:pt x="113210" y="117823"/>
                  <a:pt x="120000" y="120000"/>
                </a:cubicBezTo>
              </a:path>
            </a:pathLst>
          </a:custGeom>
          <a:noFill/>
          <a:ln cap="flat" cmpd="sng" w="317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Shape 222"/>
          <p:cNvSpPr txBox="1"/>
          <p:nvPr/>
        </p:nvSpPr>
        <p:spPr>
          <a:xfrm>
            <a:off x="609600" y="52578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i</a:t>
            </a:r>
            <a:r>
              <a:rPr b="1" baseline="-25000" i="0" lang="es-AR" sz="1800" u="none" cap="none" strike="noStrike">
                <a:solidFill>
                  <a:schemeClr val="hlink"/>
                </a:solidFill>
                <a:latin typeface="Arial"/>
                <a:ea typeface="Arial"/>
                <a:cs typeface="Arial"/>
                <a:sym typeface="Arial"/>
              </a:rPr>
              <a:t>e1</a:t>
            </a:r>
            <a:r>
              <a:rPr b="1" i="0" lang="es-AR" sz="1800" u="none" cap="none" strike="noStrike">
                <a:solidFill>
                  <a:schemeClr val="hlink"/>
                </a:solidFill>
                <a:latin typeface="Arial"/>
                <a:ea typeface="Arial"/>
                <a:cs typeface="Arial"/>
                <a:sym typeface="Arial"/>
              </a:rPr>
              <a:t> </a:t>
            </a:r>
          </a:p>
        </p:txBody>
      </p:sp>
      <p:cxnSp>
        <p:nvCxnSpPr>
          <p:cNvPr id="223" name="Shape 223"/>
          <p:cNvCxnSpPr/>
          <p:nvPr/>
        </p:nvCxnSpPr>
        <p:spPr>
          <a:xfrm>
            <a:off x="2286000" y="4038600"/>
            <a:ext cx="0" cy="2362200"/>
          </a:xfrm>
          <a:prstGeom prst="straightConnector1">
            <a:avLst/>
          </a:prstGeom>
          <a:noFill/>
          <a:ln cap="flat" cmpd="sng" w="34925">
            <a:solidFill>
              <a:srgbClr val="003300"/>
            </a:solidFill>
            <a:prstDash val="solid"/>
            <a:miter/>
            <a:headEnd len="med" w="med" type="none"/>
            <a:tailEnd len="med" w="med" type="none"/>
          </a:ln>
        </p:spPr>
      </p:cxnSp>
      <p:sp>
        <p:nvSpPr>
          <p:cNvPr id="224" name="Shape 224"/>
          <p:cNvSpPr txBox="1"/>
          <p:nvPr/>
        </p:nvSpPr>
        <p:spPr>
          <a:xfrm>
            <a:off x="2438400" y="39624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OM/NP</a:t>
            </a:r>
          </a:p>
        </p:txBody>
      </p:sp>
      <p:cxnSp>
        <p:nvCxnSpPr>
          <p:cNvPr id="225" name="Shape 225"/>
          <p:cNvCxnSpPr/>
          <p:nvPr/>
        </p:nvCxnSpPr>
        <p:spPr>
          <a:xfrm>
            <a:off x="838200" y="5486400"/>
            <a:ext cx="4876799" cy="76199"/>
          </a:xfrm>
          <a:prstGeom prst="straightConnector1">
            <a:avLst/>
          </a:prstGeom>
          <a:noFill/>
          <a:ln cap="rnd" cmpd="sng" w="9525">
            <a:solidFill>
              <a:schemeClr val="dk1"/>
            </a:solidFill>
            <a:prstDash val="solid"/>
            <a:miter/>
            <a:headEnd len="med" w="med" type="none"/>
            <a:tailEnd len="med" w="med" type="none"/>
          </a:ln>
        </p:spPr>
      </p:cxnSp>
      <p:sp>
        <p:nvSpPr>
          <p:cNvPr id="226" name="Shape 226"/>
          <p:cNvSpPr txBox="1"/>
          <p:nvPr/>
        </p:nvSpPr>
        <p:spPr>
          <a:xfrm>
            <a:off x="2590800" y="59436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M</a:t>
            </a:r>
            <a:r>
              <a:rPr b="1" baseline="-25000" i="0" lang="es-AR" sz="1800" u="none" cap="none" strike="noStrike">
                <a:solidFill>
                  <a:schemeClr val="hlink"/>
                </a:solidFill>
                <a:latin typeface="Arial"/>
                <a:ea typeface="Arial"/>
                <a:cs typeface="Arial"/>
                <a:sym typeface="Arial"/>
              </a:rPr>
              <a:t>d</a:t>
            </a:r>
            <a:r>
              <a:rPr b="1" i="0" lang="es-AR" sz="1800" u="none" cap="none" strike="noStrike">
                <a:solidFill>
                  <a:schemeClr val="hlink"/>
                </a:solidFill>
                <a:latin typeface="Arial"/>
                <a:ea typeface="Arial"/>
                <a:cs typeface="Arial"/>
                <a:sym typeface="Arial"/>
              </a:rPr>
              <a:t>(Y</a:t>
            </a:r>
            <a:r>
              <a:rPr b="1" baseline="-25000" i="0" lang="es-AR" sz="1800" u="none" cap="none" strike="noStrike">
                <a:solidFill>
                  <a:schemeClr val="hlink"/>
                </a:solidFill>
                <a:latin typeface="Arial"/>
                <a:ea typeface="Arial"/>
                <a:cs typeface="Arial"/>
                <a:sym typeface="Arial"/>
              </a:rPr>
              <a:t>1</a:t>
            </a:r>
            <a:r>
              <a:rPr b="1" i="0" lang="es-AR" sz="1800" u="none" cap="none" strike="noStrike">
                <a:solidFill>
                  <a:schemeClr val="hlink"/>
                </a:solidFill>
                <a:latin typeface="Arial"/>
                <a:ea typeface="Arial"/>
                <a:cs typeface="Arial"/>
                <a:sym typeface="Arial"/>
              </a:rPr>
              <a:t>)</a:t>
            </a:r>
          </a:p>
        </p:txBody>
      </p:sp>
      <p:sp>
        <p:nvSpPr>
          <p:cNvPr id="227" name="Shape 227"/>
          <p:cNvSpPr txBox="1"/>
          <p:nvPr/>
        </p:nvSpPr>
        <p:spPr>
          <a:xfrm>
            <a:off x="6172200" y="4724400"/>
            <a:ext cx="2860674" cy="1066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s-AR" sz="1800" u="none" cap="none" strike="noStrike">
                <a:solidFill>
                  <a:schemeClr val="dk1"/>
                </a:solidFill>
                <a:latin typeface="Arial"/>
                <a:ea typeface="Arial"/>
                <a:cs typeface="Arial"/>
                <a:sym typeface="Arial"/>
              </a:rPr>
              <a:t>L = M</a:t>
            </a:r>
          </a:p>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k </a:t>
            </a:r>
            <a:r>
              <a:rPr b="1" baseline="30000" i="0" lang="es-AR" sz="1800" u="none" cap="none" strike="noStrike">
                <a:solidFill>
                  <a:schemeClr val="hlink"/>
                </a:solidFill>
                <a:latin typeface="Arial"/>
                <a:ea typeface="Arial"/>
                <a:cs typeface="Arial"/>
                <a:sym typeface="Arial"/>
              </a:rPr>
              <a:t>* </a:t>
            </a:r>
            <a:r>
              <a:rPr b="1" i="0" lang="es-AR" sz="1800" u="none" cap="none" strike="noStrike">
                <a:solidFill>
                  <a:schemeClr val="hlink"/>
                </a:solidFill>
                <a:latin typeface="Arial"/>
                <a:ea typeface="Arial"/>
                <a:cs typeface="Arial"/>
                <a:sym typeface="Arial"/>
              </a:rPr>
              <a:t>Y- h </a:t>
            </a:r>
            <a:r>
              <a:rPr b="1" baseline="30000" i="0" lang="es-AR" sz="1800" u="none" cap="none" strike="noStrike">
                <a:solidFill>
                  <a:schemeClr val="hlink"/>
                </a:solidFill>
                <a:latin typeface="Arial"/>
                <a:ea typeface="Arial"/>
                <a:cs typeface="Arial"/>
                <a:sym typeface="Arial"/>
              </a:rPr>
              <a:t>* </a:t>
            </a:r>
            <a:r>
              <a:rPr b="1" i="0" lang="es-AR" sz="1800" u="none" cap="none" strike="noStrike">
                <a:solidFill>
                  <a:schemeClr val="hlink"/>
                </a:solidFill>
                <a:latin typeface="Arial"/>
                <a:ea typeface="Arial"/>
                <a:cs typeface="Arial"/>
                <a:sym typeface="Arial"/>
              </a:rPr>
              <a:t>i = OM/NP</a:t>
            </a:r>
          </a:p>
          <a:p>
            <a:pPr indent="0" lvl="0" marL="0" marR="0" rtl="0" algn="ctr">
              <a:lnSpc>
                <a:spcPct val="100000"/>
              </a:lnSpc>
              <a:spcBef>
                <a:spcPts val="0"/>
              </a:spcBef>
              <a:spcAft>
                <a:spcPts val="0"/>
              </a:spcAft>
              <a:buClr>
                <a:schemeClr val="dk1"/>
              </a:buClr>
              <a:buSzPct val="25000"/>
              <a:buFont typeface="Arial"/>
              <a:buNone/>
            </a:pPr>
            <a:r>
              <a:rPr b="1" i="0" lang="es-AR" sz="1800" u="none" cap="none" strike="noStrike">
                <a:solidFill>
                  <a:schemeClr val="dk1"/>
                </a:solidFill>
                <a:latin typeface="Arial"/>
                <a:ea typeface="Arial"/>
                <a:cs typeface="Arial"/>
                <a:sym typeface="Arial"/>
              </a:rPr>
              <a:t>i = (k/h) </a:t>
            </a:r>
            <a:r>
              <a:rPr b="1" baseline="30000" i="0" lang="es-AR" sz="1800" u="none" cap="none" strike="noStrike">
                <a:solidFill>
                  <a:schemeClr val="dk1"/>
                </a:solidFill>
                <a:latin typeface="Arial"/>
                <a:ea typeface="Arial"/>
                <a:cs typeface="Arial"/>
                <a:sym typeface="Arial"/>
              </a:rPr>
              <a:t>* </a:t>
            </a:r>
            <a:r>
              <a:rPr b="1" i="0" lang="es-AR" sz="1800" u="none" cap="none" strike="noStrike">
                <a:solidFill>
                  <a:schemeClr val="dk1"/>
                </a:solidFill>
                <a:latin typeface="Arial"/>
                <a:ea typeface="Arial"/>
                <a:cs typeface="Arial"/>
                <a:sym typeface="Arial"/>
              </a:rPr>
              <a:t>Y – (OM / (h </a:t>
            </a:r>
            <a:r>
              <a:rPr b="1" baseline="30000" i="0" lang="es-AR" sz="1800" u="none" cap="none" strike="noStrike">
                <a:solidFill>
                  <a:schemeClr val="dk1"/>
                </a:solidFill>
                <a:latin typeface="Arial"/>
                <a:ea typeface="Arial"/>
                <a:cs typeface="Arial"/>
                <a:sym typeface="Arial"/>
              </a:rPr>
              <a:t>* </a:t>
            </a:r>
            <a:r>
              <a:rPr b="1" i="0" lang="es-AR" sz="1800" u="none" cap="none" strike="noStrike">
                <a:solidFill>
                  <a:schemeClr val="dk1"/>
                </a:solidFill>
                <a:latin typeface="Arial"/>
                <a:ea typeface="Arial"/>
                <a:cs typeface="Arial"/>
                <a:sym typeface="Arial"/>
              </a:rPr>
              <a:t>NP))</a:t>
            </a:r>
          </a:p>
          <a:p>
            <a:pPr indent="0" lvl="0" marL="0" marR="0" rtl="0" algn="l">
              <a:lnSpc>
                <a:spcPct val="100000"/>
              </a:lnSpc>
              <a:spcBef>
                <a:spcPts val="0"/>
              </a:spcBef>
              <a:spcAft>
                <a:spcPts val="0"/>
              </a:spcAft>
              <a:buNone/>
            </a:pPr>
            <a:r>
              <a:t/>
            </a:r>
            <a:endParaRPr b="1" i="0" sz="1800" u="none" cap="none" strike="noStrike">
              <a:solidFill>
                <a:schemeClr val="dk1"/>
              </a:solidFill>
              <a:latin typeface="Arial"/>
              <a:ea typeface="Arial"/>
              <a:cs typeface="Arial"/>
              <a:sym typeface="Arial"/>
            </a:endParaRPr>
          </a:p>
        </p:txBody>
      </p:sp>
      <p:sp>
        <p:nvSpPr>
          <p:cNvPr id="228" name="Shape 228"/>
          <p:cNvSpPr/>
          <p:nvPr/>
        </p:nvSpPr>
        <p:spPr>
          <a:xfrm rot="5400000">
            <a:off x="4419599" y="4876800"/>
            <a:ext cx="381000" cy="533399"/>
          </a:xfrm>
          <a:prstGeom prst="upArrow">
            <a:avLst>
              <a:gd fmla="val 9193" name="adj1"/>
              <a:gd fmla="val 5760" name="adj2"/>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Shape 229"/>
          <p:cNvSpPr txBox="1"/>
          <p:nvPr/>
        </p:nvSpPr>
        <p:spPr>
          <a:xfrm>
            <a:off x="2057400" y="63246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M</a:t>
            </a:r>
            <a:r>
              <a:rPr b="1" baseline="-25000" i="0" lang="es-AR" sz="1800" u="none" cap="none" strike="noStrike">
                <a:solidFill>
                  <a:schemeClr val="hlink"/>
                </a:solidFill>
                <a:latin typeface="Arial"/>
                <a:ea typeface="Arial"/>
                <a:cs typeface="Arial"/>
                <a:sym typeface="Arial"/>
              </a:rPr>
              <a:t>s</a:t>
            </a:r>
          </a:p>
        </p:txBody>
      </p:sp>
      <p:sp>
        <p:nvSpPr>
          <p:cNvPr id="230" name="Shape 230"/>
          <p:cNvSpPr/>
          <p:nvPr/>
        </p:nvSpPr>
        <p:spPr>
          <a:xfrm>
            <a:off x="1828800" y="3962400"/>
            <a:ext cx="2328861" cy="2012949"/>
          </a:xfrm>
          <a:custGeom>
            <a:pathLst>
              <a:path extrusionOk="0" h="120000" w="120000">
                <a:moveTo>
                  <a:pt x="0" y="0"/>
                </a:moveTo>
                <a:cubicBezTo>
                  <a:pt x="2126" y="6056"/>
                  <a:pt x="7034" y="24700"/>
                  <a:pt x="13742" y="37476"/>
                </a:cubicBezTo>
                <a:cubicBezTo>
                  <a:pt x="20449" y="50252"/>
                  <a:pt x="29366" y="65299"/>
                  <a:pt x="40245" y="76845"/>
                </a:cubicBezTo>
                <a:cubicBezTo>
                  <a:pt x="51124" y="88391"/>
                  <a:pt x="66012" y="99558"/>
                  <a:pt x="79263" y="106750"/>
                </a:cubicBezTo>
                <a:cubicBezTo>
                  <a:pt x="92515" y="113943"/>
                  <a:pt x="113210" y="117823"/>
                  <a:pt x="120000" y="120000"/>
                </a:cubicBezTo>
              </a:path>
            </a:pathLst>
          </a:custGeom>
          <a:noFill/>
          <a:ln cap="flat" cmpd="sng" w="317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231" name="Shape 231"/>
          <p:cNvCxnSpPr/>
          <p:nvPr/>
        </p:nvCxnSpPr>
        <p:spPr>
          <a:xfrm>
            <a:off x="838200" y="4876800"/>
            <a:ext cx="5289550" cy="1587"/>
          </a:xfrm>
          <a:prstGeom prst="straightConnector1">
            <a:avLst/>
          </a:prstGeom>
          <a:noFill/>
          <a:ln cap="rnd" cmpd="sng" w="9525">
            <a:solidFill>
              <a:schemeClr val="dk1"/>
            </a:solidFill>
            <a:prstDash val="solid"/>
            <a:miter/>
            <a:headEnd len="med" w="med" type="none"/>
            <a:tailEnd len="med" w="med" type="none"/>
          </a:ln>
        </p:spPr>
      </p:cxnSp>
      <p:sp>
        <p:nvSpPr>
          <p:cNvPr id="232" name="Shape 232"/>
          <p:cNvSpPr txBox="1"/>
          <p:nvPr/>
        </p:nvSpPr>
        <p:spPr>
          <a:xfrm>
            <a:off x="2743200" y="49530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M</a:t>
            </a:r>
            <a:r>
              <a:rPr b="1" baseline="-25000" i="0" lang="es-AR" sz="1800" u="none" cap="none" strike="noStrike">
                <a:solidFill>
                  <a:schemeClr val="hlink"/>
                </a:solidFill>
                <a:latin typeface="Arial"/>
                <a:ea typeface="Arial"/>
                <a:cs typeface="Arial"/>
                <a:sym typeface="Arial"/>
              </a:rPr>
              <a:t>d</a:t>
            </a:r>
            <a:r>
              <a:rPr b="1" i="0" lang="es-AR" sz="1800" u="none" cap="none" strike="noStrike">
                <a:solidFill>
                  <a:schemeClr val="hlink"/>
                </a:solidFill>
                <a:latin typeface="Arial"/>
                <a:ea typeface="Arial"/>
                <a:cs typeface="Arial"/>
                <a:sym typeface="Arial"/>
              </a:rPr>
              <a:t>(Y</a:t>
            </a:r>
            <a:r>
              <a:rPr b="1" baseline="-25000" i="0" lang="es-AR" sz="1800" u="none" cap="none" strike="noStrike">
                <a:solidFill>
                  <a:schemeClr val="hlink"/>
                </a:solidFill>
                <a:latin typeface="Arial"/>
                <a:ea typeface="Arial"/>
                <a:cs typeface="Arial"/>
                <a:sym typeface="Arial"/>
              </a:rPr>
              <a:t>2</a:t>
            </a:r>
            <a:r>
              <a:rPr b="1" i="0" lang="es-AR" sz="1800" u="none" cap="none" strike="noStrike">
                <a:solidFill>
                  <a:schemeClr val="hlink"/>
                </a:solidFill>
                <a:latin typeface="Arial"/>
                <a:ea typeface="Arial"/>
                <a:cs typeface="Arial"/>
                <a:sym typeface="Arial"/>
              </a:rPr>
              <a:t>)</a:t>
            </a:r>
          </a:p>
        </p:txBody>
      </p:sp>
      <p:cxnSp>
        <p:nvCxnSpPr>
          <p:cNvPr id="233" name="Shape 233"/>
          <p:cNvCxnSpPr/>
          <p:nvPr/>
        </p:nvCxnSpPr>
        <p:spPr>
          <a:xfrm rot="10800000">
            <a:off x="4191000" y="4038599"/>
            <a:ext cx="0" cy="2362200"/>
          </a:xfrm>
          <a:prstGeom prst="straightConnector1">
            <a:avLst/>
          </a:prstGeom>
          <a:noFill/>
          <a:ln cap="flat" cmpd="sng" w="9525">
            <a:solidFill>
              <a:schemeClr val="dk1"/>
            </a:solidFill>
            <a:prstDash val="solid"/>
            <a:miter/>
            <a:headEnd len="med" w="med" type="none"/>
            <a:tailEnd len="med" w="med" type="none"/>
          </a:ln>
        </p:spPr>
      </p:cxnSp>
      <p:sp>
        <p:nvSpPr>
          <p:cNvPr id="234" name="Shape 234"/>
          <p:cNvSpPr txBox="1"/>
          <p:nvPr/>
        </p:nvSpPr>
        <p:spPr>
          <a:xfrm>
            <a:off x="3962400" y="39624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i</a:t>
            </a:r>
          </a:p>
        </p:txBody>
      </p:sp>
      <p:sp>
        <p:nvSpPr>
          <p:cNvPr id="235" name="Shape 235"/>
          <p:cNvSpPr txBox="1"/>
          <p:nvPr/>
        </p:nvSpPr>
        <p:spPr>
          <a:xfrm>
            <a:off x="609600" y="46482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i</a:t>
            </a:r>
            <a:r>
              <a:rPr b="1" baseline="-25000" i="0" lang="es-AR" sz="1800" u="none" cap="none" strike="noStrike">
                <a:solidFill>
                  <a:schemeClr val="hlink"/>
                </a:solidFill>
                <a:latin typeface="Arial"/>
                <a:ea typeface="Arial"/>
                <a:cs typeface="Arial"/>
                <a:sym typeface="Arial"/>
              </a:rPr>
              <a:t>e2</a:t>
            </a:r>
            <a:r>
              <a:rPr b="1" i="0" lang="es-AR" sz="1800" u="none" cap="none" strike="noStrike">
                <a:solidFill>
                  <a:schemeClr val="hlink"/>
                </a:solidFill>
                <a:latin typeface="Arial"/>
                <a:ea typeface="Arial"/>
                <a:cs typeface="Arial"/>
                <a:sym typeface="Arial"/>
              </a:rPr>
              <a:t> </a:t>
            </a:r>
          </a:p>
        </p:txBody>
      </p:sp>
      <p:sp>
        <p:nvSpPr>
          <p:cNvPr id="236" name="Shape 236"/>
          <p:cNvSpPr/>
          <p:nvPr/>
        </p:nvSpPr>
        <p:spPr>
          <a:xfrm>
            <a:off x="4114800" y="4397375"/>
            <a:ext cx="2097087" cy="2308225"/>
          </a:xfrm>
          <a:custGeom>
            <a:pathLst>
              <a:path extrusionOk="0" h="120000" w="120000">
                <a:moveTo>
                  <a:pt x="0" y="120000"/>
                </a:moveTo>
                <a:cubicBezTo>
                  <a:pt x="5813" y="117854"/>
                  <a:pt x="23709" y="112902"/>
                  <a:pt x="35972" y="106134"/>
                </a:cubicBezTo>
                <a:cubicBezTo>
                  <a:pt x="48236" y="99367"/>
                  <a:pt x="64405" y="86905"/>
                  <a:pt x="73762" y="79394"/>
                </a:cubicBezTo>
                <a:cubicBezTo>
                  <a:pt x="83118" y="71884"/>
                  <a:pt x="87388" y="66602"/>
                  <a:pt x="92293" y="60825"/>
                </a:cubicBezTo>
                <a:cubicBezTo>
                  <a:pt x="97199" y="55048"/>
                  <a:pt x="99651" y="50674"/>
                  <a:pt x="103103" y="44731"/>
                </a:cubicBezTo>
                <a:cubicBezTo>
                  <a:pt x="106555" y="38789"/>
                  <a:pt x="110280" y="32599"/>
                  <a:pt x="113096" y="25171"/>
                </a:cubicBezTo>
                <a:cubicBezTo>
                  <a:pt x="115912" y="17744"/>
                  <a:pt x="118546" y="5281"/>
                  <a:pt x="120000" y="0"/>
                </a:cubicBezTo>
              </a:path>
            </a:pathLst>
          </a:custGeom>
          <a:noFill/>
          <a:ln cap="flat" cmpd="sng" w="3175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237" name="Shape 237"/>
          <p:cNvCxnSpPr/>
          <p:nvPr/>
        </p:nvCxnSpPr>
        <p:spPr>
          <a:xfrm>
            <a:off x="5715000" y="5562600"/>
            <a:ext cx="0" cy="838199"/>
          </a:xfrm>
          <a:prstGeom prst="straightConnector1">
            <a:avLst/>
          </a:prstGeom>
          <a:noFill/>
          <a:ln cap="rnd" cmpd="sng" w="9525">
            <a:solidFill>
              <a:schemeClr val="dk1"/>
            </a:solidFill>
            <a:prstDash val="solid"/>
            <a:miter/>
            <a:headEnd len="med" w="med" type="none"/>
            <a:tailEnd len="med" w="med" type="none"/>
          </a:ln>
        </p:spPr>
      </p:cxnSp>
      <p:cxnSp>
        <p:nvCxnSpPr>
          <p:cNvPr id="238" name="Shape 238"/>
          <p:cNvCxnSpPr/>
          <p:nvPr/>
        </p:nvCxnSpPr>
        <p:spPr>
          <a:xfrm>
            <a:off x="6100762" y="4895850"/>
            <a:ext cx="0" cy="1524000"/>
          </a:xfrm>
          <a:prstGeom prst="straightConnector1">
            <a:avLst/>
          </a:prstGeom>
          <a:noFill/>
          <a:ln cap="rnd" cmpd="sng" w="9525">
            <a:solidFill>
              <a:schemeClr val="dk1"/>
            </a:solidFill>
            <a:prstDash val="solid"/>
            <a:miter/>
            <a:headEnd len="med" w="med" type="none"/>
            <a:tailEnd len="med" w="med" type="none"/>
          </a:ln>
        </p:spPr>
      </p:cxnSp>
      <p:sp>
        <p:nvSpPr>
          <p:cNvPr id="239" name="Shape 239"/>
          <p:cNvSpPr txBox="1"/>
          <p:nvPr/>
        </p:nvSpPr>
        <p:spPr>
          <a:xfrm>
            <a:off x="5486400" y="63246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Y</a:t>
            </a:r>
            <a:r>
              <a:rPr b="1" baseline="-25000" i="0" lang="es-AR" sz="1800" u="none" cap="none" strike="noStrike">
                <a:solidFill>
                  <a:schemeClr val="hlink"/>
                </a:solidFill>
                <a:latin typeface="Arial"/>
                <a:ea typeface="Arial"/>
                <a:cs typeface="Arial"/>
                <a:sym typeface="Arial"/>
              </a:rPr>
              <a:t>1</a:t>
            </a:r>
          </a:p>
        </p:txBody>
      </p:sp>
      <p:sp>
        <p:nvSpPr>
          <p:cNvPr id="240" name="Shape 240"/>
          <p:cNvSpPr txBox="1"/>
          <p:nvPr/>
        </p:nvSpPr>
        <p:spPr>
          <a:xfrm>
            <a:off x="5867400" y="63246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Y</a:t>
            </a:r>
            <a:r>
              <a:rPr b="1" baseline="-25000" i="0" lang="es-AR" sz="1800" u="none" cap="none" strike="noStrike">
                <a:solidFill>
                  <a:schemeClr val="hlink"/>
                </a:solidFill>
                <a:latin typeface="Arial"/>
                <a:ea typeface="Arial"/>
                <a:cs typeface="Arial"/>
                <a:sym typeface="Arial"/>
              </a:rPr>
              <a:t>2</a:t>
            </a:r>
          </a:p>
        </p:txBody>
      </p:sp>
      <p:sp>
        <p:nvSpPr>
          <p:cNvPr id="241" name="Shape 241"/>
          <p:cNvSpPr txBox="1"/>
          <p:nvPr/>
        </p:nvSpPr>
        <p:spPr>
          <a:xfrm>
            <a:off x="5638800" y="44196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LM</a:t>
            </a:r>
          </a:p>
        </p:txBody>
      </p:sp>
      <p:sp>
        <p:nvSpPr>
          <p:cNvPr id="242" name="Shape 242"/>
          <p:cNvSpPr txBox="1"/>
          <p:nvPr/>
        </p:nvSpPr>
        <p:spPr>
          <a:xfrm>
            <a:off x="7281861" y="6024562"/>
            <a:ext cx="800099" cy="376236"/>
          </a:xfrm>
          <a:prstGeom prst="rect">
            <a:avLst/>
          </a:prstGeom>
          <a:no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Y</a:t>
            </a:r>
            <a:r>
              <a:rPr b="1" baseline="-25000" i="0" lang="es-AR" sz="1800" u="none" cap="none" strike="noStrike">
                <a:solidFill>
                  <a:schemeClr val="hlink"/>
                </a:solidFill>
                <a:latin typeface="Arial"/>
                <a:ea typeface="Arial"/>
                <a:cs typeface="Arial"/>
                <a:sym typeface="Arial"/>
              </a:rPr>
              <a:t>2</a:t>
            </a:r>
            <a:r>
              <a:rPr b="1" i="0" lang="es-AR" sz="1800" u="none" cap="none" strike="noStrike">
                <a:solidFill>
                  <a:schemeClr val="hlink"/>
                </a:solidFill>
                <a:latin typeface="Arial"/>
                <a:ea typeface="Arial"/>
                <a:cs typeface="Arial"/>
                <a:sym typeface="Arial"/>
              </a:rPr>
              <a:t>&gt;Y</a:t>
            </a:r>
            <a:r>
              <a:rPr b="1" baseline="-25000" i="0" lang="es-AR" sz="1800" u="none" cap="none" strike="noStrike">
                <a:solidFill>
                  <a:schemeClr val="hlink"/>
                </a:solidFill>
                <a:latin typeface="Arial"/>
                <a:ea typeface="Arial"/>
                <a:cs typeface="Arial"/>
                <a:sym typeface="Arial"/>
              </a:rPr>
              <a:t>1</a:t>
            </a:r>
          </a:p>
        </p:txBody>
      </p:sp>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46" name="Shape 246"/>
        <p:cNvGrpSpPr/>
        <p:nvPr/>
      </p:nvGrpSpPr>
      <p:grpSpPr>
        <a:xfrm>
          <a:off x="0" y="0"/>
          <a:ext cx="0" cy="0"/>
          <a:chOff x="0" y="0"/>
          <a:chExt cx="0" cy="0"/>
        </a:xfrm>
      </p:grpSpPr>
      <p:pic>
        <p:nvPicPr>
          <p:cNvPr id="247" name="Shape 247"/>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248" name="Shape 248"/>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249" name="Shape 249"/>
          <p:cNvSpPr txBox="1"/>
          <p:nvPr/>
        </p:nvSpPr>
        <p:spPr>
          <a:xfrm>
            <a:off x="3733800" y="152400"/>
            <a:ext cx="4724400" cy="1143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s-AR" sz="2800" u="none" cap="none" strike="noStrike">
                <a:solidFill>
                  <a:srgbClr val="BB4F59"/>
                </a:solidFill>
                <a:latin typeface="Arial"/>
                <a:ea typeface="Arial"/>
                <a:cs typeface="Arial"/>
                <a:sym typeface="Arial"/>
              </a:rPr>
              <a:t>CURVA LM</a:t>
            </a:r>
          </a:p>
        </p:txBody>
      </p:sp>
      <p:sp>
        <p:nvSpPr>
          <p:cNvPr id="250" name="Shape 250"/>
          <p:cNvSpPr txBox="1"/>
          <p:nvPr/>
        </p:nvSpPr>
        <p:spPr>
          <a:xfrm>
            <a:off x="263525" y="1293812"/>
            <a:ext cx="8610599" cy="2363786"/>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251" name="Shape 251"/>
          <p:cNvCxnSpPr/>
          <p:nvPr/>
        </p:nvCxnSpPr>
        <p:spPr>
          <a:xfrm rot="10800000">
            <a:off x="838200" y="3962399"/>
            <a:ext cx="0" cy="2362200"/>
          </a:xfrm>
          <a:prstGeom prst="straightConnector1">
            <a:avLst/>
          </a:prstGeom>
          <a:noFill/>
          <a:ln cap="flat" cmpd="sng" w="9525">
            <a:solidFill>
              <a:schemeClr val="dk1"/>
            </a:solidFill>
            <a:prstDash val="solid"/>
            <a:miter/>
            <a:headEnd len="med" w="med" type="none"/>
            <a:tailEnd len="med" w="med" type="none"/>
          </a:ln>
        </p:spPr>
      </p:cxnSp>
      <p:cxnSp>
        <p:nvCxnSpPr>
          <p:cNvPr id="252" name="Shape 252"/>
          <p:cNvCxnSpPr/>
          <p:nvPr/>
        </p:nvCxnSpPr>
        <p:spPr>
          <a:xfrm>
            <a:off x="533400" y="6329362"/>
            <a:ext cx="5410200" cy="0"/>
          </a:xfrm>
          <a:prstGeom prst="straightConnector1">
            <a:avLst/>
          </a:prstGeom>
          <a:noFill/>
          <a:ln cap="flat" cmpd="sng" w="9525">
            <a:solidFill>
              <a:schemeClr val="dk1"/>
            </a:solidFill>
            <a:prstDash val="solid"/>
            <a:miter/>
            <a:headEnd len="med" w="med" type="none"/>
            <a:tailEnd len="med" w="med" type="none"/>
          </a:ln>
        </p:spPr>
      </p:cxnSp>
      <p:sp>
        <p:nvSpPr>
          <p:cNvPr id="253" name="Shape 253"/>
          <p:cNvSpPr txBox="1"/>
          <p:nvPr/>
        </p:nvSpPr>
        <p:spPr>
          <a:xfrm>
            <a:off x="533400" y="38100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i</a:t>
            </a:r>
          </a:p>
        </p:txBody>
      </p:sp>
      <p:sp>
        <p:nvSpPr>
          <p:cNvPr id="254" name="Shape 254"/>
          <p:cNvSpPr txBox="1"/>
          <p:nvPr/>
        </p:nvSpPr>
        <p:spPr>
          <a:xfrm>
            <a:off x="4495800" y="6324600"/>
            <a:ext cx="1904999"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Y</a:t>
            </a:r>
          </a:p>
        </p:txBody>
      </p:sp>
      <p:sp>
        <p:nvSpPr>
          <p:cNvPr id="255" name="Shape 255"/>
          <p:cNvSpPr/>
          <p:nvPr/>
        </p:nvSpPr>
        <p:spPr>
          <a:xfrm>
            <a:off x="1530350" y="3979862"/>
            <a:ext cx="2879724" cy="2409824"/>
          </a:xfrm>
          <a:custGeom>
            <a:pathLst>
              <a:path extrusionOk="0" h="120000" w="120000">
                <a:moveTo>
                  <a:pt x="0" y="120000"/>
                </a:moveTo>
                <a:cubicBezTo>
                  <a:pt x="6284" y="117549"/>
                  <a:pt x="24608" y="111778"/>
                  <a:pt x="37640" y="105138"/>
                </a:cubicBezTo>
                <a:cubicBezTo>
                  <a:pt x="50672" y="98498"/>
                  <a:pt x="67276" y="88695"/>
                  <a:pt x="78059" y="79920"/>
                </a:cubicBezTo>
                <a:cubicBezTo>
                  <a:pt x="88842" y="71146"/>
                  <a:pt x="95920" y="61739"/>
                  <a:pt x="102205" y="52252"/>
                </a:cubicBezTo>
                <a:cubicBezTo>
                  <a:pt x="108489" y="42766"/>
                  <a:pt x="112590" y="31462"/>
                  <a:pt x="115567" y="22766"/>
                </a:cubicBezTo>
                <a:cubicBezTo>
                  <a:pt x="118544" y="14071"/>
                  <a:pt x="119073" y="4743"/>
                  <a:pt x="119999" y="0"/>
                </a:cubicBezTo>
              </a:path>
            </a:pathLst>
          </a:custGeom>
          <a:noFill/>
          <a:ln cap="flat" cmpd="sng" w="31750">
            <a:solidFill>
              <a:srgbClr val="00008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6" name="Shape 256"/>
          <p:cNvSpPr txBox="1"/>
          <p:nvPr/>
        </p:nvSpPr>
        <p:spPr>
          <a:xfrm>
            <a:off x="685800" y="51054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i</a:t>
            </a:r>
            <a:r>
              <a:rPr b="1" baseline="-25000" i="0" lang="es-AR" sz="1800" u="none" cap="none" strike="noStrike">
                <a:solidFill>
                  <a:schemeClr val="hlink"/>
                </a:solidFill>
                <a:latin typeface="Arial"/>
                <a:ea typeface="Arial"/>
                <a:cs typeface="Arial"/>
                <a:sym typeface="Arial"/>
              </a:rPr>
              <a:t>e</a:t>
            </a:r>
            <a:r>
              <a:rPr b="1" i="0" lang="es-AR" sz="1800" u="none" cap="none" strike="noStrike">
                <a:solidFill>
                  <a:schemeClr val="hlink"/>
                </a:solidFill>
                <a:latin typeface="Arial"/>
                <a:ea typeface="Arial"/>
                <a:cs typeface="Arial"/>
                <a:sym typeface="Arial"/>
              </a:rPr>
              <a:t> </a:t>
            </a:r>
          </a:p>
        </p:txBody>
      </p:sp>
      <p:sp>
        <p:nvSpPr>
          <p:cNvPr id="257" name="Shape 257"/>
          <p:cNvSpPr txBox="1"/>
          <p:nvPr/>
        </p:nvSpPr>
        <p:spPr>
          <a:xfrm>
            <a:off x="3429000" y="62484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Y</a:t>
            </a:r>
            <a:r>
              <a:rPr b="1" baseline="-25000" i="0" lang="es-AR" sz="1800" u="none" cap="none" strike="noStrike">
                <a:solidFill>
                  <a:schemeClr val="hlink"/>
                </a:solidFill>
                <a:latin typeface="Arial"/>
                <a:ea typeface="Arial"/>
                <a:cs typeface="Arial"/>
                <a:sym typeface="Arial"/>
              </a:rPr>
              <a:t>e</a:t>
            </a:r>
          </a:p>
        </p:txBody>
      </p:sp>
      <p:cxnSp>
        <p:nvCxnSpPr>
          <p:cNvPr id="258" name="Shape 258"/>
          <p:cNvCxnSpPr/>
          <p:nvPr/>
        </p:nvCxnSpPr>
        <p:spPr>
          <a:xfrm>
            <a:off x="838200" y="5334000"/>
            <a:ext cx="2867025" cy="1587"/>
          </a:xfrm>
          <a:prstGeom prst="straightConnector1">
            <a:avLst/>
          </a:prstGeom>
          <a:noFill/>
          <a:ln cap="rnd" cmpd="sng" w="9525">
            <a:solidFill>
              <a:schemeClr val="dk1"/>
            </a:solidFill>
            <a:prstDash val="solid"/>
            <a:miter/>
            <a:headEnd len="med" w="med" type="none"/>
            <a:tailEnd len="med" w="med" type="oval"/>
          </a:ln>
        </p:spPr>
      </p:cxnSp>
      <p:sp>
        <p:nvSpPr>
          <p:cNvPr id="259" name="Shape 259"/>
          <p:cNvSpPr txBox="1"/>
          <p:nvPr/>
        </p:nvSpPr>
        <p:spPr>
          <a:xfrm>
            <a:off x="4419600" y="39624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LM</a:t>
            </a:r>
          </a:p>
        </p:txBody>
      </p:sp>
      <p:sp>
        <p:nvSpPr>
          <p:cNvPr id="260" name="Shape 260"/>
          <p:cNvSpPr txBox="1"/>
          <p:nvPr/>
        </p:nvSpPr>
        <p:spPr>
          <a:xfrm>
            <a:off x="2819400" y="2667000"/>
            <a:ext cx="3048000" cy="1066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Font typeface="Calibri"/>
              <a:buNone/>
            </a:pPr>
            <a:r>
              <a:t/>
            </a:r>
            <a:endParaRPr b="1" i="0" sz="1800" u="none" cap="none" strike="noStrike">
              <a:solidFill>
                <a:schemeClr val="hlink"/>
              </a:solidFill>
              <a:latin typeface="Arial"/>
              <a:ea typeface="Arial"/>
              <a:cs typeface="Arial"/>
              <a:sym typeface="Arial"/>
            </a:endParaRPr>
          </a:p>
          <a:p>
            <a:pPr indent="0" lvl="0" marL="0" marR="0" rtl="0" algn="ctr">
              <a:lnSpc>
                <a:spcPct val="100000"/>
              </a:lnSpc>
              <a:spcBef>
                <a:spcPts val="0"/>
              </a:spcBef>
              <a:spcAft>
                <a:spcPts val="0"/>
              </a:spcAft>
              <a:buClr>
                <a:schemeClr val="dk1"/>
              </a:buClr>
              <a:buSzPct val="25000"/>
              <a:buFont typeface="Arial"/>
              <a:buNone/>
            </a:pPr>
            <a:r>
              <a:rPr b="1" i="0" lang="es-AR" sz="2000" u="none" cap="none" strike="noStrike">
                <a:solidFill>
                  <a:schemeClr val="dk1"/>
                </a:solidFill>
                <a:latin typeface="Arial"/>
                <a:ea typeface="Arial"/>
                <a:cs typeface="Arial"/>
                <a:sym typeface="Arial"/>
              </a:rPr>
              <a:t>i = (k/h) *</a:t>
            </a:r>
            <a:r>
              <a:rPr b="1" baseline="30000" i="0" lang="es-AR" sz="2000" u="none" cap="none" strike="noStrike">
                <a:solidFill>
                  <a:schemeClr val="dk1"/>
                </a:solidFill>
                <a:latin typeface="Arial"/>
                <a:ea typeface="Arial"/>
                <a:cs typeface="Arial"/>
                <a:sym typeface="Arial"/>
              </a:rPr>
              <a:t> </a:t>
            </a:r>
            <a:r>
              <a:rPr b="1" i="0" lang="es-AR" sz="2000" u="none" cap="none" strike="noStrike">
                <a:solidFill>
                  <a:schemeClr val="dk1"/>
                </a:solidFill>
                <a:latin typeface="Arial"/>
                <a:ea typeface="Arial"/>
                <a:cs typeface="Arial"/>
                <a:sym typeface="Arial"/>
              </a:rPr>
              <a:t>Y) – (OM/(h </a:t>
            </a:r>
            <a:r>
              <a:rPr b="1" baseline="30000" i="0" lang="es-AR" sz="2000" u="none" cap="none" strike="noStrike">
                <a:solidFill>
                  <a:schemeClr val="dk1"/>
                </a:solidFill>
                <a:latin typeface="Arial"/>
                <a:ea typeface="Arial"/>
                <a:cs typeface="Arial"/>
                <a:sym typeface="Arial"/>
              </a:rPr>
              <a:t>* </a:t>
            </a:r>
            <a:r>
              <a:rPr b="1" i="0" lang="es-AR" sz="2000" u="none" cap="none" strike="noStrike">
                <a:solidFill>
                  <a:schemeClr val="dk1"/>
                </a:solidFill>
                <a:latin typeface="Arial"/>
                <a:ea typeface="Arial"/>
                <a:cs typeface="Arial"/>
                <a:sym typeface="Arial"/>
              </a:rPr>
              <a:t>NP))</a:t>
            </a:r>
          </a:p>
        </p:txBody>
      </p:sp>
      <p:sp>
        <p:nvSpPr>
          <p:cNvPr id="261" name="Shape 261"/>
          <p:cNvSpPr txBox="1"/>
          <p:nvPr/>
        </p:nvSpPr>
        <p:spPr>
          <a:xfrm>
            <a:off x="263525" y="1592262"/>
            <a:ext cx="8610599" cy="1465261"/>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La </a:t>
            </a:r>
            <a:r>
              <a:rPr b="1" i="0" lang="es-AR" sz="1800" u="none" cap="none" strike="noStrike">
                <a:solidFill>
                  <a:schemeClr val="hlink"/>
                </a:solidFill>
                <a:latin typeface="Arial"/>
                <a:ea typeface="Arial"/>
                <a:cs typeface="Arial"/>
                <a:sym typeface="Arial"/>
              </a:rPr>
              <a:t>curva LM</a:t>
            </a:r>
            <a:r>
              <a:rPr b="0" i="0" lang="es-AR" sz="1800" u="none" cap="none" strike="noStrike">
                <a:solidFill>
                  <a:schemeClr val="dk1"/>
                </a:solidFill>
                <a:latin typeface="Arial"/>
                <a:ea typeface="Arial"/>
                <a:cs typeface="Arial"/>
                <a:sym typeface="Arial"/>
              </a:rPr>
              <a:t> muestra todas las combinaciones de </a:t>
            </a:r>
            <a:r>
              <a:rPr b="1" i="0" lang="es-AR" sz="1800" u="none" cap="none" strike="noStrike">
                <a:solidFill>
                  <a:schemeClr val="hlink"/>
                </a:solidFill>
                <a:latin typeface="Arial"/>
                <a:ea typeface="Arial"/>
                <a:cs typeface="Arial"/>
                <a:sym typeface="Arial"/>
              </a:rPr>
              <a:t>renta (Y)</a:t>
            </a:r>
            <a:r>
              <a:rPr b="0" i="0" lang="es-AR" sz="1800" u="none" cap="none" strike="noStrike">
                <a:solidFill>
                  <a:schemeClr val="dk1"/>
                </a:solidFill>
                <a:latin typeface="Arial"/>
                <a:ea typeface="Arial"/>
                <a:cs typeface="Arial"/>
                <a:sym typeface="Arial"/>
              </a:rPr>
              <a:t> y </a:t>
            </a:r>
            <a:r>
              <a:rPr b="1" i="0" lang="es-AR" sz="1800" u="none" cap="none" strike="noStrike">
                <a:solidFill>
                  <a:schemeClr val="hlink"/>
                </a:solidFill>
                <a:latin typeface="Arial"/>
                <a:ea typeface="Arial"/>
                <a:cs typeface="Arial"/>
                <a:sym typeface="Arial"/>
              </a:rPr>
              <a:t>tipos o tasas de interés (i)</a:t>
            </a:r>
            <a:r>
              <a:rPr b="1" i="0" lang="es-AR" sz="1800" u="none" cap="none" strike="noStrike">
                <a:solidFill>
                  <a:schemeClr val="dk1"/>
                </a:solidFill>
                <a:latin typeface="Arial"/>
                <a:ea typeface="Arial"/>
                <a:cs typeface="Arial"/>
                <a:sym typeface="Arial"/>
              </a:rPr>
              <a:t>,</a:t>
            </a:r>
            <a:r>
              <a:rPr b="0" i="0" lang="es-AR" sz="1800" u="none" cap="none" strike="noStrike">
                <a:solidFill>
                  <a:schemeClr val="dk1"/>
                </a:solidFill>
                <a:latin typeface="Arial"/>
                <a:ea typeface="Arial"/>
                <a:cs typeface="Arial"/>
                <a:sym typeface="Arial"/>
              </a:rPr>
              <a:t> donde las que la </a:t>
            </a:r>
            <a:r>
              <a:rPr b="1" i="0" lang="es-AR" sz="1800" u="none" cap="none" strike="noStrike">
                <a:solidFill>
                  <a:srgbClr val="FF0000"/>
                </a:solidFill>
                <a:latin typeface="Arial"/>
                <a:ea typeface="Arial"/>
                <a:cs typeface="Arial"/>
                <a:sym typeface="Arial"/>
              </a:rPr>
              <a:t>demanda de saldos reales</a:t>
            </a:r>
            <a:r>
              <a:rPr b="0" i="0" lang="es-AR" sz="1800" u="none" cap="none" strike="noStrike">
                <a:solidFill>
                  <a:schemeClr val="dk1"/>
                </a:solidFill>
                <a:latin typeface="Arial"/>
                <a:ea typeface="Arial"/>
                <a:cs typeface="Arial"/>
                <a:sym typeface="Arial"/>
              </a:rPr>
              <a:t> es igual a </a:t>
            </a:r>
            <a:r>
              <a:rPr b="1" i="0" lang="es-AR" sz="1800" u="none" cap="none" strike="noStrike">
                <a:solidFill>
                  <a:srgbClr val="FF0000"/>
                </a:solidFill>
                <a:latin typeface="Arial"/>
                <a:ea typeface="Arial"/>
                <a:cs typeface="Arial"/>
                <a:sym typeface="Arial"/>
              </a:rPr>
              <a:t>la oferta monetaria</a:t>
            </a:r>
            <a:r>
              <a:rPr b="0" i="0" lang="es-AR" sz="1800" u="none" cap="none" strike="noStrike">
                <a:solidFill>
                  <a:schemeClr val="dk1"/>
                </a:solidFill>
                <a:latin typeface="Arial"/>
                <a:ea typeface="Arial"/>
                <a:cs typeface="Arial"/>
                <a:sym typeface="Arial"/>
              </a:rPr>
              <a:t>. </a:t>
            </a:r>
          </a:p>
          <a:p>
            <a:pPr indent="0" lvl="0" marL="0" marR="0" rtl="0" algn="l">
              <a:lnSpc>
                <a:spcPct val="100000"/>
              </a:lnSpc>
              <a:spcBef>
                <a:spcPts val="0"/>
              </a:spcBef>
              <a:spcAft>
                <a:spcPts val="0"/>
              </a:spcAft>
              <a:buClr>
                <a:schemeClr val="dk1"/>
              </a:buClr>
              <a:buFont typeface="Calibri"/>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En </a:t>
            </a:r>
            <a:r>
              <a:rPr b="1" i="0" lang="es-AR" sz="1800" u="none" cap="none" strike="noStrike">
                <a:solidFill>
                  <a:srgbClr val="FF0000"/>
                </a:solidFill>
                <a:latin typeface="Arial"/>
                <a:ea typeface="Arial"/>
                <a:cs typeface="Arial"/>
                <a:sym typeface="Arial"/>
              </a:rPr>
              <a:t>la curva LM</a:t>
            </a:r>
            <a:r>
              <a:rPr b="0" i="0" lang="es-AR" sz="1800" u="none" cap="none" strike="noStrike">
                <a:solidFill>
                  <a:schemeClr val="dk1"/>
                </a:solidFill>
                <a:latin typeface="Arial"/>
                <a:ea typeface="Arial"/>
                <a:cs typeface="Arial"/>
                <a:sym typeface="Arial"/>
              </a:rPr>
              <a:t>, el mercado de dinero se encuentra en </a:t>
            </a:r>
            <a:r>
              <a:rPr b="1" i="0" lang="es-AR" sz="1800" u="none" cap="none" strike="noStrike">
                <a:solidFill>
                  <a:srgbClr val="FF0000"/>
                </a:solidFill>
                <a:latin typeface="Arial"/>
                <a:ea typeface="Arial"/>
                <a:cs typeface="Arial"/>
                <a:sym typeface="Arial"/>
              </a:rPr>
              <a:t>equilibrio.</a:t>
            </a:r>
            <a:r>
              <a:rPr b="0" i="0" lang="es-AR" sz="1800" u="none" cap="none" strike="noStrike">
                <a:solidFill>
                  <a:schemeClr val="dk1"/>
                </a:solidFill>
                <a:latin typeface="Arial"/>
                <a:ea typeface="Arial"/>
                <a:cs typeface="Arial"/>
                <a:sym typeface="Arial"/>
              </a:rPr>
              <a:t> </a:t>
            </a:r>
          </a:p>
        </p:txBody>
      </p:sp>
      <p:cxnSp>
        <p:nvCxnSpPr>
          <p:cNvPr id="262" name="Shape 262"/>
          <p:cNvCxnSpPr/>
          <p:nvPr/>
        </p:nvCxnSpPr>
        <p:spPr>
          <a:xfrm>
            <a:off x="3733800" y="5334000"/>
            <a:ext cx="0" cy="990599"/>
          </a:xfrm>
          <a:prstGeom prst="straightConnector1">
            <a:avLst/>
          </a:prstGeom>
          <a:noFill/>
          <a:ln cap="rnd" cmpd="sng" w="9525">
            <a:solidFill>
              <a:schemeClr val="dk1"/>
            </a:solidFill>
            <a:prstDash val="solid"/>
            <a:miter/>
            <a:headEnd len="med" w="med" type="none"/>
            <a:tailEnd len="med" w="med" type="none"/>
          </a:ln>
        </p:spPr>
      </p:cxnSp>
      <p:cxnSp>
        <p:nvCxnSpPr>
          <p:cNvPr id="263" name="Shape 263"/>
          <p:cNvCxnSpPr/>
          <p:nvPr/>
        </p:nvCxnSpPr>
        <p:spPr>
          <a:xfrm rot="10800000">
            <a:off x="4114800" y="5334000"/>
            <a:ext cx="0" cy="990599"/>
          </a:xfrm>
          <a:prstGeom prst="straightConnector1">
            <a:avLst/>
          </a:prstGeom>
          <a:noFill/>
          <a:ln cap="flat" cmpd="sng" w="19050">
            <a:solidFill>
              <a:schemeClr val="dk1"/>
            </a:solidFill>
            <a:prstDash val="solid"/>
            <a:miter/>
            <a:headEnd len="med" w="med" type="none"/>
            <a:tailEnd len="med" w="med" type="none"/>
          </a:ln>
        </p:spPr>
      </p:cxnSp>
      <p:sp>
        <p:nvSpPr>
          <p:cNvPr id="264" name="Shape 264"/>
          <p:cNvSpPr txBox="1"/>
          <p:nvPr/>
        </p:nvSpPr>
        <p:spPr>
          <a:xfrm>
            <a:off x="3352800" y="5181600"/>
            <a:ext cx="1904999"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A</a:t>
            </a:r>
          </a:p>
        </p:txBody>
      </p:sp>
      <p:cxnSp>
        <p:nvCxnSpPr>
          <p:cNvPr id="265" name="Shape 265"/>
          <p:cNvCxnSpPr/>
          <p:nvPr/>
        </p:nvCxnSpPr>
        <p:spPr>
          <a:xfrm>
            <a:off x="2819400" y="5334000"/>
            <a:ext cx="0" cy="990599"/>
          </a:xfrm>
          <a:prstGeom prst="straightConnector1">
            <a:avLst/>
          </a:prstGeom>
          <a:noFill/>
          <a:ln cap="rnd" cmpd="sng" w="9525">
            <a:solidFill>
              <a:schemeClr val="dk1"/>
            </a:solidFill>
            <a:prstDash val="solid"/>
            <a:miter/>
            <a:headEnd len="med" w="med" type="oval"/>
            <a:tailEnd len="med" w="med" type="none"/>
          </a:ln>
        </p:spPr>
      </p:cxnSp>
      <p:sp>
        <p:nvSpPr>
          <p:cNvPr id="266" name="Shape 266"/>
          <p:cNvSpPr txBox="1"/>
          <p:nvPr/>
        </p:nvSpPr>
        <p:spPr>
          <a:xfrm>
            <a:off x="1828800" y="4953000"/>
            <a:ext cx="1904999"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B</a:t>
            </a:r>
          </a:p>
        </p:txBody>
      </p:sp>
      <p:cxnSp>
        <p:nvCxnSpPr>
          <p:cNvPr id="267" name="Shape 267"/>
          <p:cNvCxnSpPr/>
          <p:nvPr/>
        </p:nvCxnSpPr>
        <p:spPr>
          <a:xfrm>
            <a:off x="2819400" y="5334000"/>
            <a:ext cx="0" cy="609599"/>
          </a:xfrm>
          <a:prstGeom prst="straightConnector1">
            <a:avLst/>
          </a:prstGeom>
          <a:noFill/>
          <a:ln cap="flat" cmpd="sng" w="28575">
            <a:solidFill>
              <a:schemeClr val="dk1"/>
            </a:solidFill>
            <a:prstDash val="solid"/>
            <a:miter/>
            <a:headEnd len="med" w="med" type="none"/>
            <a:tailEnd len="lg" w="lg" type="stealth"/>
          </a:ln>
        </p:spPr>
      </p:cxnSp>
      <p:cxnSp>
        <p:nvCxnSpPr>
          <p:cNvPr id="268" name="Shape 268"/>
          <p:cNvCxnSpPr/>
          <p:nvPr/>
        </p:nvCxnSpPr>
        <p:spPr>
          <a:xfrm rot="10800000">
            <a:off x="4114800" y="4800600"/>
            <a:ext cx="0" cy="533399"/>
          </a:xfrm>
          <a:prstGeom prst="straightConnector1">
            <a:avLst/>
          </a:prstGeom>
          <a:noFill/>
          <a:ln cap="flat" cmpd="sng" w="25400">
            <a:solidFill>
              <a:schemeClr val="dk1"/>
            </a:solidFill>
            <a:prstDash val="solid"/>
            <a:miter/>
            <a:headEnd len="med" w="med" type="none"/>
            <a:tailEnd len="lg" w="lg" type="stealth"/>
          </a:ln>
        </p:spPr>
      </p:cxnSp>
      <p:sp>
        <p:nvSpPr>
          <p:cNvPr id="269" name="Shape 269"/>
          <p:cNvSpPr txBox="1"/>
          <p:nvPr/>
        </p:nvSpPr>
        <p:spPr>
          <a:xfrm>
            <a:off x="3886200" y="62484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Y</a:t>
            </a:r>
            <a:r>
              <a:rPr b="1" baseline="-25000" i="0" lang="es-AR" sz="1800" u="none" cap="none" strike="noStrike">
                <a:solidFill>
                  <a:schemeClr val="hlink"/>
                </a:solidFill>
                <a:latin typeface="Arial"/>
                <a:ea typeface="Arial"/>
                <a:cs typeface="Arial"/>
                <a:sym typeface="Arial"/>
              </a:rPr>
              <a:t>A</a:t>
            </a:r>
          </a:p>
        </p:txBody>
      </p:sp>
      <p:sp>
        <p:nvSpPr>
          <p:cNvPr id="270" name="Shape 270"/>
          <p:cNvSpPr txBox="1"/>
          <p:nvPr/>
        </p:nvSpPr>
        <p:spPr>
          <a:xfrm>
            <a:off x="2514600" y="6248400"/>
            <a:ext cx="533399" cy="4572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Y</a:t>
            </a:r>
            <a:r>
              <a:rPr b="1" baseline="-25000" i="0" lang="es-AR" sz="1800" u="none" cap="none" strike="noStrike">
                <a:solidFill>
                  <a:schemeClr val="hlink"/>
                </a:solidFill>
                <a:latin typeface="Arial"/>
                <a:ea typeface="Arial"/>
                <a:cs typeface="Arial"/>
                <a:sym typeface="Arial"/>
              </a:rPr>
              <a:t>B</a:t>
            </a:r>
          </a:p>
        </p:txBody>
      </p:sp>
      <p:sp>
        <p:nvSpPr>
          <p:cNvPr id="271" name="Shape 271"/>
          <p:cNvSpPr txBox="1"/>
          <p:nvPr/>
        </p:nvSpPr>
        <p:spPr>
          <a:xfrm>
            <a:off x="4648200" y="5334000"/>
            <a:ext cx="2971799"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Font typeface="Calibri"/>
              <a:buNone/>
            </a:pPr>
            <a:r>
              <a:t/>
            </a:r>
            <a:endParaRPr b="1" i="0" sz="1400" u="none" cap="none" strike="noStrike">
              <a:solidFill>
                <a:schemeClr val="hlink"/>
              </a:solidFill>
              <a:latin typeface="Arial"/>
              <a:ea typeface="Arial"/>
              <a:cs typeface="Arial"/>
              <a:sym typeface="Arial"/>
            </a:endParaRPr>
          </a:p>
          <a:p>
            <a:pPr indent="0" lvl="0" marL="0" marR="0" rtl="0" algn="ctr">
              <a:lnSpc>
                <a:spcPct val="100000"/>
              </a:lnSpc>
              <a:spcBef>
                <a:spcPts val="0"/>
              </a:spcBef>
              <a:spcAft>
                <a:spcPts val="0"/>
              </a:spcAft>
              <a:buClr>
                <a:schemeClr val="hlink"/>
              </a:buClr>
              <a:buSzPct val="25000"/>
              <a:buFont typeface="Arial"/>
              <a:buNone/>
            </a:pPr>
            <a:r>
              <a:rPr b="1" i="0" lang="es-AR" sz="1400" u="none" cap="none" strike="noStrike">
                <a:solidFill>
                  <a:schemeClr val="hlink"/>
                </a:solidFill>
                <a:latin typeface="Arial"/>
                <a:ea typeface="Arial"/>
                <a:cs typeface="Arial"/>
                <a:sym typeface="Arial"/>
              </a:rPr>
              <a:t>EXCESO DE DEMANDA MONETARIA</a:t>
            </a:r>
          </a:p>
        </p:txBody>
      </p:sp>
      <p:sp>
        <p:nvSpPr>
          <p:cNvPr id="272" name="Shape 272"/>
          <p:cNvSpPr txBox="1"/>
          <p:nvPr/>
        </p:nvSpPr>
        <p:spPr>
          <a:xfrm>
            <a:off x="1066800" y="4267200"/>
            <a:ext cx="2971799"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Font typeface="Calibri"/>
              <a:buNone/>
            </a:pPr>
            <a:r>
              <a:t/>
            </a:r>
            <a:endParaRPr b="1" i="0" sz="1400" u="none" cap="none" strike="noStrike">
              <a:solidFill>
                <a:schemeClr val="hlink"/>
              </a:solidFill>
              <a:latin typeface="Arial"/>
              <a:ea typeface="Arial"/>
              <a:cs typeface="Arial"/>
              <a:sym typeface="Arial"/>
            </a:endParaRPr>
          </a:p>
          <a:p>
            <a:pPr indent="0" lvl="0" marL="0" marR="0" rtl="0" algn="ctr">
              <a:lnSpc>
                <a:spcPct val="100000"/>
              </a:lnSpc>
              <a:spcBef>
                <a:spcPts val="0"/>
              </a:spcBef>
              <a:spcAft>
                <a:spcPts val="0"/>
              </a:spcAft>
              <a:buClr>
                <a:schemeClr val="hlink"/>
              </a:buClr>
              <a:buSzPct val="25000"/>
              <a:buFont typeface="Arial"/>
              <a:buNone/>
            </a:pPr>
            <a:r>
              <a:rPr b="1" i="0" lang="es-AR" sz="1400" u="none" cap="none" strike="noStrike">
                <a:solidFill>
                  <a:schemeClr val="hlink"/>
                </a:solidFill>
                <a:latin typeface="Arial"/>
                <a:ea typeface="Arial"/>
                <a:cs typeface="Arial"/>
                <a:sym typeface="Arial"/>
              </a:rPr>
              <a:t>EXCESO DE OFERTA MONETARIA</a:t>
            </a:r>
          </a:p>
        </p:txBody>
      </p:sp>
      <p:cxnSp>
        <p:nvCxnSpPr>
          <p:cNvPr id="273" name="Shape 273"/>
          <p:cNvCxnSpPr/>
          <p:nvPr/>
        </p:nvCxnSpPr>
        <p:spPr>
          <a:xfrm>
            <a:off x="838200" y="5334000"/>
            <a:ext cx="3276600" cy="1587"/>
          </a:xfrm>
          <a:prstGeom prst="straightConnector1">
            <a:avLst/>
          </a:prstGeom>
          <a:noFill/>
          <a:ln cap="rnd" cmpd="sng" w="9525">
            <a:solidFill>
              <a:schemeClr val="dk1"/>
            </a:solidFill>
            <a:prstDash val="solid"/>
            <a:miter/>
            <a:headEnd len="med" w="med" type="none"/>
            <a:tailEnd len="med" w="med" type="oval"/>
          </a:ln>
        </p:spPr>
      </p:cxnSp>
      <p:cxnSp>
        <p:nvCxnSpPr>
          <p:cNvPr id="274" name="Shape 274"/>
          <p:cNvCxnSpPr/>
          <p:nvPr/>
        </p:nvCxnSpPr>
        <p:spPr>
          <a:xfrm>
            <a:off x="838200" y="4800600"/>
            <a:ext cx="3276600" cy="1587"/>
          </a:xfrm>
          <a:prstGeom prst="straightConnector1">
            <a:avLst/>
          </a:prstGeom>
          <a:noFill/>
          <a:ln cap="rnd" cmpd="sng" w="9525">
            <a:solidFill>
              <a:schemeClr val="dk1"/>
            </a:solidFill>
            <a:prstDash val="solid"/>
            <a:miter/>
            <a:headEnd len="med" w="med" type="none"/>
            <a:tailEnd len="med" w="med" type="oval"/>
          </a:ln>
        </p:spPr>
      </p:cxnSp>
      <p:sp>
        <p:nvSpPr>
          <p:cNvPr id="275" name="Shape 275"/>
          <p:cNvSpPr txBox="1"/>
          <p:nvPr/>
        </p:nvSpPr>
        <p:spPr>
          <a:xfrm>
            <a:off x="685800" y="4572000"/>
            <a:ext cx="228600" cy="381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i</a:t>
            </a:r>
            <a:r>
              <a:rPr b="1" baseline="-25000" i="0" lang="es-AR" sz="1800" u="none" cap="none" strike="noStrike">
                <a:solidFill>
                  <a:schemeClr val="hlink"/>
                </a:solidFill>
                <a:latin typeface="Arial"/>
                <a:ea typeface="Arial"/>
                <a:cs typeface="Arial"/>
                <a:sym typeface="Arial"/>
              </a:rPr>
              <a:t>A</a:t>
            </a:r>
            <a:r>
              <a:rPr b="1" i="0" lang="es-AR" sz="1800" u="none" cap="none" strike="noStrike">
                <a:solidFill>
                  <a:schemeClr val="hlink"/>
                </a:solidFill>
                <a:latin typeface="Arial"/>
                <a:ea typeface="Arial"/>
                <a:cs typeface="Arial"/>
                <a:sym typeface="Arial"/>
              </a:rPr>
              <a:t> </a:t>
            </a:r>
          </a:p>
        </p:txBody>
      </p:sp>
      <p:cxnSp>
        <p:nvCxnSpPr>
          <p:cNvPr id="276" name="Shape 276"/>
          <p:cNvCxnSpPr/>
          <p:nvPr/>
        </p:nvCxnSpPr>
        <p:spPr>
          <a:xfrm>
            <a:off x="838200" y="5942012"/>
            <a:ext cx="1981199" cy="1587"/>
          </a:xfrm>
          <a:prstGeom prst="straightConnector1">
            <a:avLst/>
          </a:prstGeom>
          <a:noFill/>
          <a:ln cap="rnd" cmpd="sng" w="9525">
            <a:solidFill>
              <a:schemeClr val="dk1"/>
            </a:solidFill>
            <a:prstDash val="solid"/>
            <a:miter/>
            <a:headEnd len="med" w="med" type="none"/>
            <a:tailEnd len="med" w="med" type="oval"/>
          </a:ln>
        </p:spPr>
      </p:cxnSp>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80" name="Shape 280"/>
        <p:cNvGrpSpPr/>
        <p:nvPr/>
      </p:nvGrpSpPr>
      <p:grpSpPr>
        <a:xfrm>
          <a:off x="0" y="0"/>
          <a:ext cx="0" cy="0"/>
          <a:chOff x="0" y="0"/>
          <a:chExt cx="0" cy="0"/>
        </a:xfrm>
      </p:grpSpPr>
      <p:pic>
        <p:nvPicPr>
          <p:cNvPr id="281" name="Shape 281"/>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282" name="Shape 282"/>
          <p:cNvPicPr preferRelativeResize="0"/>
          <p:nvPr/>
        </p:nvPicPr>
        <p:blipFill rotWithShape="1">
          <a:blip r:embed="rId4">
            <a:alphaModFix/>
          </a:blip>
          <a:srcRect b="0" l="0" r="0" t="0"/>
          <a:stretch/>
        </p:blipFill>
        <p:spPr>
          <a:xfrm>
            <a:off x="263525" y="306387"/>
            <a:ext cx="3013074" cy="608011"/>
          </a:xfrm>
          <a:prstGeom prst="rect">
            <a:avLst/>
          </a:prstGeom>
          <a:noFill/>
          <a:ln>
            <a:noFill/>
          </a:ln>
        </p:spPr>
      </p:pic>
      <p:sp>
        <p:nvSpPr>
          <p:cNvPr id="283" name="Shape 283"/>
          <p:cNvSpPr txBox="1"/>
          <p:nvPr/>
        </p:nvSpPr>
        <p:spPr>
          <a:xfrm>
            <a:off x="4605337" y="306387"/>
            <a:ext cx="4233861" cy="750887"/>
          </a:xfrm>
          <a:prstGeom prst="rect">
            <a:avLst/>
          </a:prstGeom>
          <a:noFill/>
          <a:ln>
            <a:noFill/>
          </a:ln>
        </p:spPr>
        <p:txBody>
          <a:bodyPr anchorCtr="0" anchor="t" bIns="45700" lIns="91425" rIns="91425" tIns="45700">
            <a:noAutofit/>
          </a:bodyPr>
          <a:lstStyle/>
          <a:p>
            <a:pPr indent="0" lvl="0" marL="0" marR="0" rtl="0" algn="just">
              <a:lnSpc>
                <a:spcPct val="120000"/>
              </a:lnSpc>
              <a:spcBef>
                <a:spcPts val="0"/>
              </a:spcBef>
              <a:spcAft>
                <a:spcPts val="720"/>
              </a:spcAft>
              <a:buClr>
                <a:srgbClr val="BB4F59"/>
              </a:buClr>
              <a:buSzPct val="25000"/>
              <a:buFont typeface="Arial"/>
              <a:buNone/>
            </a:pPr>
            <a:r>
              <a:rPr b="1" i="0" lang="es-AR" sz="3600" u="none" cap="none" strike="noStrike">
                <a:solidFill>
                  <a:srgbClr val="BB4F59"/>
                </a:solidFill>
                <a:latin typeface="Arial"/>
                <a:ea typeface="Arial"/>
                <a:cs typeface="Arial"/>
                <a:sym typeface="Arial"/>
              </a:rPr>
              <a:t> TIPO DE CAMBIO</a:t>
            </a:r>
          </a:p>
        </p:txBody>
      </p:sp>
      <p:sp>
        <p:nvSpPr>
          <p:cNvPr id="284" name="Shape 284"/>
          <p:cNvSpPr txBox="1"/>
          <p:nvPr/>
        </p:nvSpPr>
        <p:spPr>
          <a:xfrm>
            <a:off x="304800" y="3716337"/>
            <a:ext cx="4724400" cy="4572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s-AR" sz="2400" u="none" cap="none" strike="noStrike">
                <a:solidFill>
                  <a:srgbClr val="FF0000"/>
                </a:solidFill>
                <a:latin typeface="Arial"/>
                <a:ea typeface="Arial"/>
                <a:cs typeface="Arial"/>
                <a:sym typeface="Arial"/>
              </a:rPr>
              <a:t> </a:t>
            </a:r>
          </a:p>
        </p:txBody>
      </p:sp>
      <p:sp>
        <p:nvSpPr>
          <p:cNvPr id="285" name="Shape 285"/>
          <p:cNvSpPr txBox="1"/>
          <p:nvPr/>
        </p:nvSpPr>
        <p:spPr>
          <a:xfrm>
            <a:off x="304800" y="1550987"/>
            <a:ext cx="8534399" cy="1739899"/>
          </a:xfrm>
          <a:prstGeom prst="rect">
            <a:avLst/>
          </a:prstGeom>
          <a:solidFill>
            <a:srgbClr val="FFFF99"/>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Con </a:t>
            </a:r>
            <a:r>
              <a:rPr b="1" i="0" lang="es-AR" sz="1800" u="none" cap="none" strike="noStrike">
                <a:solidFill>
                  <a:srgbClr val="FF0000"/>
                </a:solidFill>
                <a:latin typeface="Arial"/>
                <a:ea typeface="Arial"/>
                <a:cs typeface="Arial"/>
                <a:sym typeface="Arial"/>
              </a:rPr>
              <a:t>el tipo o tasa de cambio</a:t>
            </a:r>
            <a:r>
              <a:rPr b="0" i="0" lang="es-AR" sz="1800" u="none" cap="none" strike="noStrike">
                <a:solidFill>
                  <a:schemeClr val="dk1"/>
                </a:solidFill>
                <a:latin typeface="Arial"/>
                <a:ea typeface="Arial"/>
                <a:cs typeface="Arial"/>
                <a:sym typeface="Arial"/>
              </a:rPr>
              <a:t> se expresa el valor de una divisa o moneda extranjera expresada en unidades de moneda nacional (convención británica). </a:t>
            </a:r>
          </a:p>
          <a:p>
            <a:pPr indent="0" lvl="0" marL="0" marR="0" rtl="0" algn="l">
              <a:lnSpc>
                <a:spcPct val="100000"/>
              </a:lnSpc>
              <a:spcBef>
                <a:spcPts val="0"/>
              </a:spcBef>
              <a:spcAft>
                <a:spcPts val="0"/>
              </a:spcAft>
              <a:buClr>
                <a:schemeClr val="dk1"/>
              </a:buClr>
              <a:buFont typeface="Calibri"/>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F0000"/>
              </a:buClr>
              <a:buSzPct val="25000"/>
              <a:buFont typeface="Arial"/>
              <a:buNone/>
            </a:pPr>
            <a:r>
              <a:rPr b="1" i="0" lang="es-AR" sz="1800" u="none" cap="none" strike="noStrike">
                <a:solidFill>
                  <a:srgbClr val="FF0000"/>
                </a:solidFill>
                <a:latin typeface="Arial"/>
                <a:ea typeface="Arial"/>
                <a:cs typeface="Arial"/>
                <a:sym typeface="Arial"/>
              </a:rPr>
              <a:t>En la Argentina</a:t>
            </a:r>
            <a:r>
              <a:rPr b="0" i="0" lang="es-AR" sz="1800" u="none" cap="none" strike="noStrike">
                <a:solidFill>
                  <a:schemeClr val="dk1"/>
                </a:solidFill>
                <a:latin typeface="Arial"/>
                <a:ea typeface="Arial"/>
                <a:cs typeface="Arial"/>
                <a:sym typeface="Arial"/>
              </a:rPr>
              <a:t> se expresa, justamente a la inversa de esa convención, como </a:t>
            </a:r>
          </a:p>
          <a:p>
            <a:pPr indent="0" lvl="0" marL="0" marR="0" rtl="0" algn="l">
              <a:lnSpc>
                <a:spcPct val="100000"/>
              </a:lnSpc>
              <a:spcBef>
                <a:spcPts val="0"/>
              </a:spcBef>
              <a:spcAft>
                <a:spcPts val="0"/>
              </a:spcAft>
              <a:buClr>
                <a:srgbClr val="FF0000"/>
              </a:buClr>
              <a:buSzPct val="25000"/>
              <a:buFont typeface="Arial"/>
              <a:buNone/>
            </a:pPr>
            <a:r>
              <a:rPr b="1" i="0" lang="es-AR" sz="1800" u="none" cap="none" strike="noStrike">
                <a:solidFill>
                  <a:srgbClr val="FF0000"/>
                </a:solidFill>
                <a:latin typeface="Arial"/>
                <a:ea typeface="Arial"/>
                <a:cs typeface="Arial"/>
                <a:sym typeface="Arial"/>
              </a:rPr>
              <a:t>la cantidad de moneda nacional (pesos) expresada en unidades de moneda extranjera</a:t>
            </a:r>
            <a:r>
              <a:rPr b="1" i="0" lang="es-AR" sz="1800" u="none" cap="none" strike="noStrike">
                <a:solidFill>
                  <a:schemeClr val="dk1"/>
                </a:solidFill>
                <a:latin typeface="Arial"/>
                <a:ea typeface="Arial"/>
                <a:cs typeface="Arial"/>
                <a:sym typeface="Arial"/>
              </a:rPr>
              <a:t>.</a:t>
            </a:r>
          </a:p>
        </p:txBody>
      </p:sp>
      <p:pic>
        <p:nvPicPr>
          <p:cNvPr id="286" name="Shape 286"/>
          <p:cNvPicPr preferRelativeResize="0"/>
          <p:nvPr/>
        </p:nvPicPr>
        <p:blipFill rotWithShape="1">
          <a:blip r:embed="rId5">
            <a:alphaModFix/>
          </a:blip>
          <a:srcRect b="0" l="0" r="0" t="0"/>
          <a:stretch/>
        </p:blipFill>
        <p:spPr>
          <a:xfrm>
            <a:off x="0" y="3290887"/>
            <a:ext cx="9144000" cy="3567111"/>
          </a:xfrm>
          <a:prstGeom prst="rect">
            <a:avLst/>
          </a:prstGeom>
          <a:noFill/>
          <a:ln>
            <a:noFill/>
          </a:ln>
        </p:spPr>
      </p:pic>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90" name="Shape 290"/>
        <p:cNvGrpSpPr/>
        <p:nvPr/>
      </p:nvGrpSpPr>
      <p:grpSpPr>
        <a:xfrm>
          <a:off x="0" y="0"/>
          <a:ext cx="0" cy="0"/>
          <a:chOff x="0" y="0"/>
          <a:chExt cx="0" cy="0"/>
        </a:xfrm>
      </p:grpSpPr>
      <p:pic>
        <p:nvPicPr>
          <p:cNvPr id="291" name="Shape 291"/>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292" name="Shape 292"/>
          <p:cNvPicPr preferRelativeResize="0"/>
          <p:nvPr/>
        </p:nvPicPr>
        <p:blipFill rotWithShape="1">
          <a:blip r:embed="rId4">
            <a:alphaModFix/>
          </a:blip>
          <a:srcRect b="0" l="0" r="0" t="0"/>
          <a:stretch/>
        </p:blipFill>
        <p:spPr>
          <a:xfrm>
            <a:off x="263525" y="306387"/>
            <a:ext cx="3013074" cy="608011"/>
          </a:xfrm>
          <a:prstGeom prst="rect">
            <a:avLst/>
          </a:prstGeom>
          <a:noFill/>
          <a:ln>
            <a:noFill/>
          </a:ln>
        </p:spPr>
      </p:pic>
      <p:sp>
        <p:nvSpPr>
          <p:cNvPr id="293" name="Shape 293"/>
          <p:cNvSpPr txBox="1"/>
          <p:nvPr/>
        </p:nvSpPr>
        <p:spPr>
          <a:xfrm>
            <a:off x="3048000" y="0"/>
            <a:ext cx="5791200" cy="998536"/>
          </a:xfrm>
          <a:prstGeom prst="rect">
            <a:avLst/>
          </a:prstGeom>
          <a:noFill/>
          <a:ln>
            <a:noFill/>
          </a:ln>
        </p:spPr>
        <p:txBody>
          <a:bodyPr anchorCtr="0" anchor="t" bIns="45700" lIns="91425" rIns="91425" tIns="45700">
            <a:noAutofit/>
          </a:bodyPr>
          <a:lstStyle/>
          <a:p>
            <a:pPr indent="0" lvl="0" marL="0" marR="0" rtl="0" algn="ctr">
              <a:lnSpc>
                <a:spcPct val="75000"/>
              </a:lnSpc>
              <a:spcBef>
                <a:spcPts val="0"/>
              </a:spcBef>
              <a:spcAft>
                <a:spcPts val="0"/>
              </a:spcAft>
              <a:buClr>
                <a:srgbClr val="BB4F59"/>
              </a:buClr>
              <a:buSzPct val="25000"/>
              <a:buFont typeface="Arial"/>
              <a:buNone/>
            </a:pPr>
            <a:r>
              <a:rPr b="1" i="0" lang="es-AR" sz="3600" u="none" cap="none" strike="noStrike">
                <a:solidFill>
                  <a:srgbClr val="BB4F59"/>
                </a:solidFill>
                <a:latin typeface="Arial"/>
                <a:ea typeface="Arial"/>
                <a:cs typeface="Arial"/>
                <a:sym typeface="Arial"/>
              </a:rPr>
              <a:t> </a:t>
            </a:r>
            <a:r>
              <a:rPr b="1" i="0" lang="es-AR" sz="2800" u="none" cap="none" strike="noStrike">
                <a:solidFill>
                  <a:srgbClr val="BB4F59"/>
                </a:solidFill>
                <a:latin typeface="Arial"/>
                <a:ea typeface="Arial"/>
                <a:cs typeface="Arial"/>
                <a:sym typeface="Arial"/>
              </a:rPr>
              <a:t>DEPRECIACIÓN </a:t>
            </a:r>
          </a:p>
          <a:p>
            <a:pPr indent="0" lvl="0" marL="0" marR="0" rtl="0" algn="ctr">
              <a:lnSpc>
                <a:spcPct val="75000"/>
              </a:lnSpc>
              <a:spcBef>
                <a:spcPts val="1140"/>
              </a:spcBef>
              <a:spcAft>
                <a:spcPts val="560"/>
              </a:spcAft>
              <a:buClr>
                <a:srgbClr val="BB4F59"/>
              </a:buClr>
              <a:buSzPct val="25000"/>
              <a:buFont typeface="Arial"/>
              <a:buNone/>
            </a:pPr>
            <a:r>
              <a:rPr b="1" i="0" lang="es-AR" sz="2800" u="none" cap="none" strike="noStrike">
                <a:solidFill>
                  <a:srgbClr val="BB4F59"/>
                </a:solidFill>
                <a:latin typeface="Arial"/>
                <a:ea typeface="Arial"/>
                <a:cs typeface="Arial"/>
                <a:sym typeface="Arial"/>
              </a:rPr>
              <a:t>  </a:t>
            </a:r>
            <a:r>
              <a:rPr b="1" i="0" lang="es-AR" sz="2400" u="none" cap="none" strike="noStrike">
                <a:solidFill>
                  <a:srgbClr val="BB4F59"/>
                </a:solidFill>
                <a:latin typeface="Arial"/>
                <a:ea typeface="Arial"/>
                <a:cs typeface="Arial"/>
                <a:sym typeface="Arial"/>
              </a:rPr>
              <a:t>DE LA MONEDA</a:t>
            </a:r>
            <a:r>
              <a:rPr b="1" i="0" lang="es-AR" sz="2800" u="none" cap="none" strike="noStrike">
                <a:solidFill>
                  <a:srgbClr val="BB4F59"/>
                </a:solidFill>
                <a:latin typeface="Arial"/>
                <a:ea typeface="Arial"/>
                <a:cs typeface="Arial"/>
                <a:sym typeface="Arial"/>
              </a:rPr>
              <a:t> </a:t>
            </a:r>
          </a:p>
        </p:txBody>
      </p:sp>
      <p:sp>
        <p:nvSpPr>
          <p:cNvPr id="294" name="Shape 294"/>
          <p:cNvSpPr txBox="1"/>
          <p:nvPr/>
        </p:nvSpPr>
        <p:spPr>
          <a:xfrm>
            <a:off x="304800" y="3716337"/>
            <a:ext cx="4724400" cy="4572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s-AR" sz="2400" u="none" cap="none" strike="noStrike">
                <a:solidFill>
                  <a:srgbClr val="FF0000"/>
                </a:solidFill>
                <a:latin typeface="Arial"/>
                <a:ea typeface="Arial"/>
                <a:cs typeface="Arial"/>
                <a:sym typeface="Arial"/>
              </a:rPr>
              <a:t> </a:t>
            </a:r>
          </a:p>
        </p:txBody>
      </p:sp>
      <p:sp>
        <p:nvSpPr>
          <p:cNvPr id="295" name="Shape 295"/>
          <p:cNvSpPr txBox="1"/>
          <p:nvPr/>
        </p:nvSpPr>
        <p:spPr>
          <a:xfrm>
            <a:off x="263525" y="1616075"/>
            <a:ext cx="8667750" cy="946150"/>
          </a:xfrm>
          <a:prstGeom prst="rect">
            <a:avLst/>
          </a:prstGeom>
          <a:solidFill>
            <a:srgbClr val="FFFF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Un </a:t>
            </a:r>
            <a:r>
              <a:rPr b="1" i="0" lang="es-AR" sz="2000" u="none" cap="none" strike="noStrike">
                <a:solidFill>
                  <a:schemeClr val="hlink"/>
                </a:solidFill>
                <a:latin typeface="Arial"/>
                <a:ea typeface="Arial"/>
                <a:cs typeface="Arial"/>
                <a:sym typeface="Arial"/>
              </a:rPr>
              <a:t>dólar caro</a:t>
            </a:r>
            <a:r>
              <a:rPr b="0" i="0" lang="es-AR" sz="1800" u="none" cap="none" strike="noStrike">
                <a:solidFill>
                  <a:schemeClr val="dk1"/>
                </a:solidFill>
                <a:latin typeface="Arial"/>
                <a:ea typeface="Arial"/>
                <a:cs typeface="Arial"/>
                <a:sym typeface="Arial"/>
              </a:rPr>
              <a:t> </a:t>
            </a:r>
            <a:r>
              <a:rPr b="1" i="0" lang="es-AR" sz="1800" u="none" cap="none" strike="noStrike">
                <a:solidFill>
                  <a:schemeClr val="hlink"/>
                </a:solidFill>
                <a:latin typeface="Arial"/>
                <a:ea typeface="Arial"/>
                <a:cs typeface="Arial"/>
                <a:sym typeface="Arial"/>
              </a:rPr>
              <a:t>(peso barato)</a:t>
            </a:r>
            <a:r>
              <a:rPr b="0" i="0" lang="es-AR" sz="1800" u="none" cap="none" strike="noStrike">
                <a:solidFill>
                  <a:schemeClr val="dk1"/>
                </a:solidFill>
                <a:latin typeface="Arial"/>
                <a:ea typeface="Arial"/>
                <a:cs typeface="Arial"/>
                <a:sym typeface="Arial"/>
              </a:rPr>
              <a:t> favorecerá las exportaciones de la Argentina (resultarán baratas) y dificultará las importaciones (nos resultarán caras).</a:t>
            </a:r>
          </a:p>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Mejorará la oferta de dólares, al mismo tipo de cambio se ofrecerán mas dólares. </a:t>
            </a:r>
          </a:p>
        </p:txBody>
      </p:sp>
      <p:sp>
        <p:nvSpPr>
          <p:cNvPr id="296" name="Shape 296"/>
          <p:cNvSpPr txBox="1"/>
          <p:nvPr/>
        </p:nvSpPr>
        <p:spPr>
          <a:xfrm>
            <a:off x="1600200" y="5257800"/>
            <a:ext cx="7143749" cy="83661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EN EL MERCADO DE DÓLARES</a:t>
            </a:r>
          </a:p>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EL PRECIO A FUTURO </a:t>
            </a:r>
          </a:p>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TIENDE A BAJAR</a:t>
            </a:r>
          </a:p>
        </p:txBody>
      </p:sp>
      <p:sp>
        <p:nvSpPr>
          <p:cNvPr id="297" name="Shape 297"/>
          <p:cNvSpPr txBox="1"/>
          <p:nvPr/>
        </p:nvSpPr>
        <p:spPr>
          <a:xfrm>
            <a:off x="247650" y="2881311"/>
            <a:ext cx="8667750" cy="1495424"/>
          </a:xfrm>
          <a:prstGeom prst="rect">
            <a:avLst/>
          </a:prstGeom>
          <a:solidFill>
            <a:srgbClr val="FFFF00"/>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s-AR" sz="1800" u="none" cap="none" strike="noStrike">
                <a:solidFill>
                  <a:schemeClr val="dk1"/>
                </a:solidFill>
                <a:latin typeface="Arial"/>
                <a:ea typeface="Arial"/>
                <a:cs typeface="Arial"/>
                <a:sym typeface="Arial"/>
              </a:rPr>
              <a:t>SALDO BALANZA COMERCIAL</a:t>
            </a:r>
            <a:r>
              <a:rPr b="0" i="0" lang="es-AR" sz="1800" u="none" cap="none" strike="noStrike">
                <a:solidFill>
                  <a:schemeClr val="dk1"/>
                </a:solidFill>
                <a:latin typeface="Arial"/>
                <a:ea typeface="Arial"/>
                <a:cs typeface="Arial"/>
                <a:sym typeface="Arial"/>
              </a:rPr>
              <a:t> =&gt; </a:t>
            </a:r>
            <a:r>
              <a:rPr b="1" i="0" lang="es-AR" sz="1800" u="none" cap="none" strike="noStrike">
                <a:solidFill>
                  <a:srgbClr val="FF0000"/>
                </a:solidFill>
                <a:latin typeface="Arial"/>
                <a:ea typeface="Arial"/>
                <a:cs typeface="Arial"/>
                <a:sym typeface="Arial"/>
              </a:rPr>
              <a:t>SUPERÁVIT</a:t>
            </a:r>
          </a:p>
          <a:p>
            <a:pPr indent="0" lvl="0" marL="0" marR="0" rtl="0" algn="ctr">
              <a:lnSpc>
                <a:spcPct val="100000"/>
              </a:lnSpc>
              <a:spcBef>
                <a:spcPts val="0"/>
              </a:spcBef>
              <a:spcAft>
                <a:spcPts val="0"/>
              </a:spcAft>
              <a:buClr>
                <a:schemeClr val="dk1"/>
              </a:buClr>
              <a:buFont typeface="Calibri"/>
              <a:buNone/>
            </a:pPr>
            <a:r>
              <a:t/>
            </a:r>
            <a:endParaRPr b="1" i="0" sz="18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FF0000"/>
              </a:buClr>
              <a:buSzPct val="25000"/>
              <a:buFont typeface="Arial"/>
              <a:buNone/>
            </a:pPr>
            <a:r>
              <a:rPr b="1" i="0" lang="es-AR" sz="1800" u="none" cap="none" strike="noStrike">
                <a:solidFill>
                  <a:srgbClr val="FF0000"/>
                </a:solidFill>
                <a:latin typeface="Arial"/>
                <a:ea typeface="Arial"/>
                <a:cs typeface="Arial"/>
                <a:sym typeface="Arial"/>
              </a:rPr>
              <a:t>CRECERÁ LA ACUMULACIÓN DE DÓLARES</a:t>
            </a:r>
          </a:p>
          <a:p>
            <a:pPr indent="0" lvl="0" marL="0" marR="0" rtl="0" algn="ctr">
              <a:lnSpc>
                <a:spcPct val="100000"/>
              </a:lnSpc>
              <a:spcBef>
                <a:spcPts val="0"/>
              </a:spcBef>
              <a:spcAft>
                <a:spcPts val="0"/>
              </a:spcAft>
              <a:buClr>
                <a:schemeClr val="dk1"/>
              </a:buClr>
              <a:buFont typeface="Calibri"/>
              <a:buNone/>
            </a:pPr>
            <a:r>
              <a:t/>
            </a:r>
            <a:endParaRPr b="1" i="0" sz="18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FF0000"/>
              </a:buClr>
              <a:buSzPct val="25000"/>
              <a:buFont typeface="Arial"/>
              <a:buNone/>
            </a:pPr>
            <a:r>
              <a:rPr b="1" i="0" lang="es-AR" sz="1800" u="none" cap="none" strike="noStrike">
                <a:solidFill>
                  <a:srgbClr val="FF0000"/>
                </a:solidFill>
                <a:latin typeface="Arial"/>
                <a:ea typeface="Arial"/>
                <a:cs typeface="Arial"/>
                <a:sym typeface="Arial"/>
              </a:rPr>
              <a:t> EMPLEO </a:t>
            </a:r>
            <a:r>
              <a:rPr b="1" i="0" lang="es-AR" sz="2000" u="none" cap="none" strike="noStrike">
                <a:solidFill>
                  <a:srgbClr val="FF0000"/>
                </a:solidFill>
                <a:latin typeface="Arial"/>
                <a:ea typeface="Arial"/>
                <a:cs typeface="Arial"/>
                <a:sym typeface="Arial"/>
              </a:rPr>
              <a:t>↑↑           </a:t>
            </a:r>
            <a:r>
              <a:rPr b="0" i="0" lang="es-AR" sz="1800" u="none" cap="none" strike="noStrike">
                <a:solidFill>
                  <a:schemeClr val="dk1"/>
                </a:solidFill>
                <a:latin typeface="Arial"/>
                <a:ea typeface="Arial"/>
                <a:cs typeface="Arial"/>
                <a:sym typeface="Arial"/>
              </a:rPr>
              <a:t> </a:t>
            </a:r>
            <a:r>
              <a:rPr b="1" i="0" lang="es-AR" sz="1800" u="none" cap="none" strike="noStrike">
                <a:solidFill>
                  <a:srgbClr val="2F8F0D"/>
                </a:solidFill>
                <a:latin typeface="Arial"/>
                <a:ea typeface="Arial"/>
                <a:cs typeface="Arial"/>
                <a:sym typeface="Arial"/>
              </a:rPr>
              <a:t>INFLACIÓN</a:t>
            </a:r>
            <a:r>
              <a:rPr b="1" i="0" lang="es-AR" sz="2000" u="none" cap="none" strike="noStrike">
                <a:solidFill>
                  <a:srgbClr val="2F8F0D"/>
                </a:solidFill>
                <a:latin typeface="Arial"/>
                <a:ea typeface="Arial"/>
                <a:cs typeface="Arial"/>
                <a:sym typeface="Arial"/>
              </a:rPr>
              <a:t>↑↑</a:t>
            </a:r>
          </a:p>
        </p:txBody>
      </p:sp>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01" name="Shape 301"/>
        <p:cNvGrpSpPr/>
        <p:nvPr/>
      </p:nvGrpSpPr>
      <p:grpSpPr>
        <a:xfrm>
          <a:off x="0" y="0"/>
          <a:ext cx="0" cy="0"/>
          <a:chOff x="0" y="0"/>
          <a:chExt cx="0" cy="0"/>
        </a:xfrm>
      </p:grpSpPr>
      <p:pic>
        <p:nvPicPr>
          <p:cNvPr id="302" name="Shape 302"/>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303" name="Shape 303"/>
          <p:cNvPicPr preferRelativeResize="0"/>
          <p:nvPr/>
        </p:nvPicPr>
        <p:blipFill rotWithShape="1">
          <a:blip r:embed="rId4">
            <a:alphaModFix/>
          </a:blip>
          <a:srcRect b="0" l="0" r="0" t="0"/>
          <a:stretch/>
        </p:blipFill>
        <p:spPr>
          <a:xfrm>
            <a:off x="152400" y="228600"/>
            <a:ext cx="3013074" cy="608011"/>
          </a:xfrm>
          <a:prstGeom prst="rect">
            <a:avLst/>
          </a:prstGeom>
          <a:noFill/>
          <a:ln>
            <a:noFill/>
          </a:ln>
        </p:spPr>
      </p:pic>
      <p:sp>
        <p:nvSpPr>
          <p:cNvPr id="304" name="Shape 304"/>
          <p:cNvSpPr txBox="1"/>
          <p:nvPr/>
        </p:nvSpPr>
        <p:spPr>
          <a:xfrm>
            <a:off x="304800" y="3716337"/>
            <a:ext cx="4724400" cy="4572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s-AR" sz="2400" u="none" cap="none" strike="noStrike">
                <a:solidFill>
                  <a:srgbClr val="FF0000"/>
                </a:solidFill>
                <a:latin typeface="Arial"/>
                <a:ea typeface="Arial"/>
                <a:cs typeface="Arial"/>
                <a:sym typeface="Arial"/>
              </a:rPr>
              <a:t> </a:t>
            </a:r>
          </a:p>
        </p:txBody>
      </p:sp>
      <p:sp>
        <p:nvSpPr>
          <p:cNvPr id="305" name="Shape 305"/>
          <p:cNvSpPr txBox="1"/>
          <p:nvPr/>
        </p:nvSpPr>
        <p:spPr>
          <a:xfrm>
            <a:off x="263525" y="5030787"/>
            <a:ext cx="8499474" cy="98901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EL MERCADO DE DÓLARES A FUTURO MUESTRA </a:t>
            </a:r>
          </a:p>
          <a:p>
            <a:pPr indent="0" lvl="0" marL="0" marR="0" rtl="0" algn="ctr">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UN TIPO DE CAMBIO QUE TIENDE A SUBIR</a:t>
            </a:r>
          </a:p>
        </p:txBody>
      </p:sp>
      <p:sp>
        <p:nvSpPr>
          <p:cNvPr id="306" name="Shape 306"/>
          <p:cNvSpPr txBox="1"/>
          <p:nvPr/>
        </p:nvSpPr>
        <p:spPr>
          <a:xfrm>
            <a:off x="152400" y="1417637"/>
            <a:ext cx="8991600" cy="1006474"/>
          </a:xfrm>
          <a:prstGeom prst="rect">
            <a:avLst/>
          </a:prstGeom>
          <a:solidFill>
            <a:srgbClr val="FFFF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s-AR" sz="2000" u="none" cap="none" strike="noStrike">
                <a:solidFill>
                  <a:schemeClr val="dk1"/>
                </a:solidFill>
                <a:latin typeface="Arial"/>
                <a:ea typeface="Arial"/>
                <a:cs typeface="Arial"/>
                <a:sym typeface="Arial"/>
              </a:rPr>
              <a:t>Un </a:t>
            </a:r>
            <a:r>
              <a:rPr b="1" i="0" lang="es-AR" sz="2000" u="none" cap="none" strike="noStrike">
                <a:solidFill>
                  <a:schemeClr val="hlink"/>
                </a:solidFill>
                <a:latin typeface="Arial"/>
                <a:ea typeface="Arial"/>
                <a:cs typeface="Arial"/>
                <a:sym typeface="Arial"/>
              </a:rPr>
              <a:t>dólar barato</a:t>
            </a:r>
            <a:r>
              <a:rPr b="0" i="0" lang="es-AR" sz="2000" u="none" cap="none" strike="noStrike">
                <a:solidFill>
                  <a:schemeClr val="dk1"/>
                </a:solidFill>
                <a:latin typeface="Arial"/>
                <a:ea typeface="Arial"/>
                <a:cs typeface="Arial"/>
                <a:sym typeface="Arial"/>
              </a:rPr>
              <a:t> </a:t>
            </a:r>
            <a:r>
              <a:rPr b="1" i="0" lang="es-AR" sz="2000" u="none" cap="none" strike="noStrike">
                <a:solidFill>
                  <a:schemeClr val="hlink"/>
                </a:solidFill>
                <a:latin typeface="Arial"/>
                <a:ea typeface="Arial"/>
                <a:cs typeface="Arial"/>
                <a:sym typeface="Arial"/>
              </a:rPr>
              <a:t>(peso caro)</a:t>
            </a:r>
            <a:r>
              <a:rPr b="0" i="0" lang="es-AR" sz="2000" u="none" cap="none" strike="noStrike">
                <a:solidFill>
                  <a:schemeClr val="dk1"/>
                </a:solidFill>
                <a:latin typeface="Arial"/>
                <a:ea typeface="Arial"/>
                <a:cs typeface="Arial"/>
                <a:sym typeface="Arial"/>
              </a:rPr>
              <a:t> favorecerá las importaciones de la Argentina (nos resultarán baratas) y dificultará las exportaciones (al sector externo le resultarán caras). </a:t>
            </a:r>
          </a:p>
        </p:txBody>
      </p:sp>
      <p:sp>
        <p:nvSpPr>
          <p:cNvPr id="307" name="Shape 307"/>
          <p:cNvSpPr txBox="1"/>
          <p:nvPr/>
        </p:nvSpPr>
        <p:spPr>
          <a:xfrm>
            <a:off x="3048000" y="315912"/>
            <a:ext cx="5791200" cy="750887"/>
          </a:xfrm>
          <a:prstGeom prst="rect">
            <a:avLst/>
          </a:prstGeom>
          <a:noFill/>
          <a:ln>
            <a:noFill/>
          </a:ln>
        </p:spPr>
        <p:txBody>
          <a:bodyPr anchorCtr="0" anchor="t" bIns="45700" lIns="91425" rIns="91425" tIns="45700">
            <a:noAutofit/>
          </a:bodyPr>
          <a:lstStyle/>
          <a:p>
            <a:pPr indent="0" lvl="0" marL="0" marR="0" rtl="0" algn="ctr">
              <a:lnSpc>
                <a:spcPct val="120000"/>
              </a:lnSpc>
              <a:spcBef>
                <a:spcPts val="0"/>
              </a:spcBef>
              <a:spcAft>
                <a:spcPts val="720"/>
              </a:spcAft>
              <a:buClr>
                <a:srgbClr val="BB4F59"/>
              </a:buClr>
              <a:buSzPct val="25000"/>
              <a:buFont typeface="Arial"/>
              <a:buNone/>
            </a:pPr>
            <a:r>
              <a:rPr b="1" i="0" lang="es-AR" sz="3600" u="none" cap="none" strike="noStrike">
                <a:solidFill>
                  <a:srgbClr val="BB4F59"/>
                </a:solidFill>
                <a:latin typeface="Arial"/>
                <a:ea typeface="Arial"/>
                <a:cs typeface="Arial"/>
                <a:sym typeface="Arial"/>
              </a:rPr>
              <a:t> </a:t>
            </a:r>
            <a:r>
              <a:rPr b="1" i="0" lang="es-AR" sz="2800" u="none" cap="none" strike="noStrike">
                <a:solidFill>
                  <a:srgbClr val="BB4F59"/>
                </a:solidFill>
                <a:latin typeface="Arial"/>
                <a:ea typeface="Arial"/>
                <a:cs typeface="Arial"/>
                <a:sym typeface="Arial"/>
              </a:rPr>
              <a:t>APRECIACIÓN DE LA MONEDA</a:t>
            </a:r>
          </a:p>
        </p:txBody>
      </p:sp>
      <p:sp>
        <p:nvSpPr>
          <p:cNvPr id="308" name="Shape 308"/>
          <p:cNvSpPr txBox="1"/>
          <p:nvPr/>
        </p:nvSpPr>
        <p:spPr>
          <a:xfrm>
            <a:off x="152400" y="3059111"/>
            <a:ext cx="8743949" cy="1465261"/>
          </a:xfrm>
          <a:prstGeom prst="rect">
            <a:avLst/>
          </a:prstGeom>
          <a:solidFill>
            <a:srgbClr val="FFFF00"/>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s-AR" sz="1800" u="none" cap="none" strike="noStrike">
                <a:solidFill>
                  <a:schemeClr val="dk1"/>
                </a:solidFill>
                <a:latin typeface="Arial"/>
                <a:ea typeface="Arial"/>
                <a:cs typeface="Arial"/>
                <a:sym typeface="Arial"/>
              </a:rPr>
              <a:t>SALDO BALANZA COMERCIAL</a:t>
            </a:r>
            <a:r>
              <a:rPr b="0" i="0" lang="es-AR" sz="1800" u="none" cap="none" strike="noStrike">
                <a:solidFill>
                  <a:schemeClr val="dk1"/>
                </a:solidFill>
                <a:latin typeface="Arial"/>
                <a:ea typeface="Arial"/>
                <a:cs typeface="Arial"/>
                <a:sym typeface="Arial"/>
              </a:rPr>
              <a:t> =&gt; </a:t>
            </a:r>
            <a:r>
              <a:rPr b="1" i="0" lang="es-AR" sz="1800" u="none" cap="none" strike="noStrike">
                <a:solidFill>
                  <a:srgbClr val="FF0000"/>
                </a:solidFill>
                <a:latin typeface="Arial"/>
                <a:ea typeface="Arial"/>
                <a:cs typeface="Arial"/>
                <a:sym typeface="Arial"/>
              </a:rPr>
              <a:t>DÉFICIT </a:t>
            </a:r>
          </a:p>
          <a:p>
            <a:pPr indent="0" lvl="0" marL="0" marR="0" rtl="0" algn="ctr">
              <a:lnSpc>
                <a:spcPct val="100000"/>
              </a:lnSpc>
              <a:spcBef>
                <a:spcPts val="0"/>
              </a:spcBef>
              <a:spcAft>
                <a:spcPts val="0"/>
              </a:spcAft>
              <a:buClr>
                <a:schemeClr val="dk1"/>
              </a:buClr>
              <a:buFont typeface="Calibri"/>
              <a:buNone/>
            </a:pPr>
            <a:r>
              <a:t/>
            </a:r>
            <a:endParaRPr b="1" i="0" sz="18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FF0000"/>
              </a:buClr>
              <a:buSzPct val="25000"/>
              <a:buFont typeface="Arial"/>
              <a:buNone/>
            </a:pPr>
            <a:r>
              <a:rPr b="1" i="0" lang="es-AR" sz="1800" u="none" cap="none" strike="noStrike">
                <a:solidFill>
                  <a:srgbClr val="FF0000"/>
                </a:solidFill>
                <a:latin typeface="Arial"/>
                <a:ea typeface="Arial"/>
                <a:cs typeface="Arial"/>
                <a:sym typeface="Arial"/>
              </a:rPr>
              <a:t>SE PERDERÁN DÓLARES</a:t>
            </a:r>
          </a:p>
          <a:p>
            <a:pPr indent="0" lvl="0" marL="0" marR="0" rtl="0" algn="ctr">
              <a:lnSpc>
                <a:spcPct val="100000"/>
              </a:lnSpc>
              <a:spcBef>
                <a:spcPts val="0"/>
              </a:spcBef>
              <a:spcAft>
                <a:spcPts val="0"/>
              </a:spcAft>
              <a:buClr>
                <a:srgbClr val="FF0000"/>
              </a:buClr>
              <a:buSzPct val="25000"/>
              <a:buFont typeface="Arial"/>
              <a:buNone/>
            </a:pPr>
            <a:r>
              <a:rPr b="1" i="0" lang="es-AR" sz="1800" u="none" cap="none" strike="noStrike">
                <a:solidFill>
                  <a:srgbClr val="FF0000"/>
                </a:solidFill>
                <a:latin typeface="Arial"/>
                <a:ea typeface="Arial"/>
                <a:cs typeface="Arial"/>
                <a:sym typeface="Arial"/>
              </a:rPr>
              <a:t> 		</a:t>
            </a:r>
          </a:p>
          <a:p>
            <a:pPr indent="0" lvl="0" marL="0" marR="0" rtl="0" algn="ctr">
              <a:lnSpc>
                <a:spcPct val="100000"/>
              </a:lnSpc>
              <a:spcBef>
                <a:spcPts val="0"/>
              </a:spcBef>
              <a:spcAft>
                <a:spcPts val="0"/>
              </a:spcAft>
              <a:buClr>
                <a:srgbClr val="2F8F0D"/>
              </a:buClr>
              <a:buSzPct val="25000"/>
              <a:buFont typeface="Arial"/>
              <a:buNone/>
            </a:pPr>
            <a:r>
              <a:rPr b="1" i="0" lang="es-AR" sz="1800" u="none" cap="none" strike="noStrike">
                <a:solidFill>
                  <a:srgbClr val="2F8F0D"/>
                </a:solidFill>
                <a:latin typeface="Arial"/>
                <a:ea typeface="Arial"/>
                <a:cs typeface="Arial"/>
                <a:sym typeface="Arial"/>
              </a:rPr>
              <a:t>EMPLEO ↓↓ </a:t>
            </a:r>
            <a:r>
              <a:rPr b="0" i="0" lang="es-AR" sz="1800" u="none" cap="none" strike="noStrike">
                <a:solidFill>
                  <a:schemeClr val="dk1"/>
                </a:solidFill>
                <a:latin typeface="Arial"/>
                <a:ea typeface="Arial"/>
                <a:cs typeface="Arial"/>
                <a:sym typeface="Arial"/>
              </a:rPr>
              <a:t> 		 </a:t>
            </a:r>
            <a:r>
              <a:rPr b="1" i="0" lang="es-AR" sz="1800" u="none" cap="none" strike="noStrike">
                <a:solidFill>
                  <a:srgbClr val="FF0000"/>
                </a:solidFill>
                <a:latin typeface="Arial"/>
                <a:ea typeface="Arial"/>
                <a:cs typeface="Arial"/>
                <a:sym typeface="Arial"/>
              </a:rPr>
              <a:t>INFLACIÓN ↓↓ </a:t>
            </a:r>
          </a:p>
        </p:txBody>
      </p:sp>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12" name="Shape 312"/>
        <p:cNvGrpSpPr/>
        <p:nvPr/>
      </p:nvGrpSpPr>
      <p:grpSpPr>
        <a:xfrm>
          <a:off x="0" y="0"/>
          <a:ext cx="0" cy="0"/>
          <a:chOff x="0" y="0"/>
          <a:chExt cx="0" cy="0"/>
        </a:xfrm>
      </p:grpSpPr>
      <p:pic>
        <p:nvPicPr>
          <p:cNvPr id="313" name="Shape 313"/>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314" name="Shape 314"/>
          <p:cNvPicPr preferRelativeResize="0"/>
          <p:nvPr/>
        </p:nvPicPr>
        <p:blipFill rotWithShape="1">
          <a:blip r:embed="rId4">
            <a:alphaModFix/>
          </a:blip>
          <a:srcRect b="0" l="0" r="0" t="0"/>
          <a:stretch/>
        </p:blipFill>
        <p:spPr>
          <a:xfrm>
            <a:off x="247650" y="1085850"/>
            <a:ext cx="8626474" cy="5114925"/>
          </a:xfrm>
          <a:prstGeom prst="rect">
            <a:avLst/>
          </a:prstGeom>
          <a:noFill/>
          <a:ln>
            <a:noFill/>
          </a:ln>
        </p:spPr>
      </p:pic>
      <p:pic>
        <p:nvPicPr>
          <p:cNvPr id="315" name="Shape 315"/>
          <p:cNvPicPr preferRelativeResize="0"/>
          <p:nvPr/>
        </p:nvPicPr>
        <p:blipFill rotWithShape="1">
          <a:blip r:embed="rId5">
            <a:alphaModFix/>
          </a:blip>
          <a:srcRect b="0" l="0" r="0" t="0"/>
          <a:stretch/>
        </p:blipFill>
        <p:spPr>
          <a:xfrm>
            <a:off x="263525" y="306387"/>
            <a:ext cx="3013074" cy="608011"/>
          </a:xfrm>
          <a:prstGeom prst="rect">
            <a:avLst/>
          </a:prstGeom>
          <a:noFill/>
          <a:ln>
            <a:noFill/>
          </a:ln>
        </p:spPr>
      </p:pic>
      <p:sp>
        <p:nvSpPr>
          <p:cNvPr id="316" name="Shape 316"/>
          <p:cNvSpPr txBox="1"/>
          <p:nvPr/>
        </p:nvSpPr>
        <p:spPr>
          <a:xfrm>
            <a:off x="304800" y="3716337"/>
            <a:ext cx="4724400" cy="4572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s-AR" sz="2400" u="none" cap="none" strike="noStrike">
                <a:solidFill>
                  <a:srgbClr val="FF0000"/>
                </a:solidFill>
                <a:latin typeface="Arial"/>
                <a:ea typeface="Arial"/>
                <a:cs typeface="Arial"/>
                <a:sym typeface="Arial"/>
              </a:rPr>
              <a:t> </a:t>
            </a:r>
          </a:p>
        </p:txBody>
      </p:sp>
      <p:sp>
        <p:nvSpPr>
          <p:cNvPr id="317" name="Shape 317"/>
          <p:cNvSpPr txBox="1"/>
          <p:nvPr/>
        </p:nvSpPr>
        <p:spPr>
          <a:xfrm>
            <a:off x="304800" y="1066800"/>
            <a:ext cx="8569325" cy="556895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s-AR" sz="2400" u="none" cap="none" strike="noStrike">
                <a:solidFill>
                  <a:schemeClr val="dk1"/>
                </a:solidFill>
                <a:latin typeface="Arial"/>
                <a:ea typeface="Arial"/>
                <a:cs typeface="Arial"/>
                <a:sym typeface="Arial"/>
              </a:rPr>
              <a:t>La teoría conocida como Paridad del Poder Adquisitivo (PPA) postula que el tipo de cambio entre dos monedas estará determinado por la relación entre los niveles de precios de estas dos economías. </a:t>
            </a:r>
          </a:p>
          <a:p>
            <a:pPr indent="0" lvl="0" marL="0" marR="0" rtl="0" algn="l">
              <a:lnSpc>
                <a:spcPct val="100000"/>
              </a:lnSpc>
              <a:spcBef>
                <a:spcPts val="0"/>
              </a:spcBef>
              <a:spcAft>
                <a:spcPts val="0"/>
              </a:spcAft>
              <a:buClr>
                <a:schemeClr val="dk1"/>
              </a:buClr>
              <a:buFont typeface="Calibri"/>
              <a:buNone/>
            </a:pPr>
            <a:r>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rPr b="0" i="0" lang="es-AR" sz="2400" u="none" cap="none" strike="noStrike">
                <a:solidFill>
                  <a:schemeClr val="dk1"/>
                </a:solidFill>
                <a:latin typeface="Arial"/>
                <a:ea typeface="Arial"/>
                <a:cs typeface="Arial"/>
                <a:sym typeface="Arial"/>
              </a:rPr>
              <a:t>Esto debería cumplirse si los mercados fueran competitivos  en los dos países, no existieran barreras comerciales ni de ninguna otra clase entre  los dos y además el costo de  transporte  fuera  insignificante. </a:t>
            </a:r>
          </a:p>
          <a:p>
            <a:pPr indent="0" lvl="0" marL="0" marR="0" rtl="0" algn="l">
              <a:lnSpc>
                <a:spcPct val="100000"/>
              </a:lnSpc>
              <a:spcBef>
                <a:spcPts val="0"/>
              </a:spcBef>
              <a:spcAft>
                <a:spcPts val="0"/>
              </a:spcAft>
              <a:buClr>
                <a:schemeClr val="dk1"/>
              </a:buClr>
              <a:buFont typeface="Calibri"/>
              <a:buNone/>
            </a:pPr>
            <a:r>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rPr b="0" i="0" lang="es-AR" sz="2400" u="none" cap="none" strike="noStrike">
                <a:solidFill>
                  <a:schemeClr val="dk1"/>
                </a:solidFill>
                <a:latin typeface="Arial"/>
                <a:ea typeface="Arial"/>
                <a:cs typeface="Arial"/>
                <a:sym typeface="Arial"/>
              </a:rPr>
              <a:t>En la práctica la ley del precio único no  puede  cumplirse,  por  las  barreras  arancelarias  y  los  costos  de  transporte. </a:t>
            </a:r>
          </a:p>
          <a:p>
            <a:pPr indent="0" lvl="0" marL="0" marR="0" rtl="0" algn="l">
              <a:lnSpc>
                <a:spcPct val="100000"/>
              </a:lnSpc>
              <a:spcBef>
                <a:spcPts val="0"/>
              </a:spcBef>
              <a:spcAft>
                <a:spcPts val="0"/>
              </a:spcAft>
              <a:buClr>
                <a:schemeClr val="dk1"/>
              </a:buClr>
              <a:buSzPct val="25000"/>
              <a:buFont typeface="Arial"/>
              <a:buNone/>
            </a:pPr>
            <a:r>
              <a:rPr b="0" i="0" lang="es-AR" sz="2400" u="none" cap="none" strike="noStrike">
                <a:solidFill>
                  <a:schemeClr val="dk1"/>
                </a:solidFill>
                <a:latin typeface="Arial"/>
                <a:ea typeface="Arial"/>
                <a:cs typeface="Arial"/>
                <a:sym typeface="Arial"/>
              </a:rPr>
              <a:t>Además, no todos los productos son objeto de comercio internacional  </a:t>
            </a:r>
          </a:p>
          <a:p>
            <a:pPr indent="0" lvl="0" marL="0" marR="0" rtl="0" algn="l">
              <a:lnSpc>
                <a:spcPct val="100000"/>
              </a:lnSpc>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
        <p:nvSpPr>
          <p:cNvPr id="318" name="Shape 318"/>
          <p:cNvSpPr txBox="1"/>
          <p:nvPr/>
        </p:nvSpPr>
        <p:spPr>
          <a:xfrm>
            <a:off x="3962400" y="0"/>
            <a:ext cx="4386262" cy="1066799"/>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s-AR" sz="3200" u="none" cap="none" strike="noStrike">
                <a:solidFill>
                  <a:srgbClr val="BB4F59"/>
                </a:solidFill>
                <a:latin typeface="Arial"/>
                <a:ea typeface="Arial"/>
                <a:cs typeface="Arial"/>
                <a:sym typeface="Arial"/>
              </a:rPr>
              <a:t>PARIDAD DE PODER </a:t>
            </a:r>
          </a:p>
          <a:p>
            <a:pPr indent="0" lvl="0" marL="0" marR="0" rtl="0" algn="ctr">
              <a:lnSpc>
                <a:spcPct val="100000"/>
              </a:lnSpc>
              <a:spcBef>
                <a:spcPts val="0"/>
              </a:spcBef>
              <a:spcAft>
                <a:spcPts val="0"/>
              </a:spcAft>
              <a:buClr>
                <a:srgbClr val="BB4F59"/>
              </a:buClr>
              <a:buSzPct val="25000"/>
              <a:buFont typeface="Arial"/>
              <a:buNone/>
            </a:pPr>
            <a:r>
              <a:rPr b="1" i="0" lang="es-AR" sz="3200" u="none" cap="none" strike="noStrike">
                <a:solidFill>
                  <a:srgbClr val="BB4F59"/>
                </a:solidFill>
                <a:latin typeface="Arial"/>
                <a:ea typeface="Arial"/>
                <a:cs typeface="Arial"/>
                <a:sym typeface="Arial"/>
              </a:rPr>
              <a:t>ADQUISITIVO</a:t>
            </a:r>
          </a:p>
        </p:txBody>
      </p:sp>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22" name="Shape 322"/>
        <p:cNvGrpSpPr/>
        <p:nvPr/>
      </p:nvGrpSpPr>
      <p:grpSpPr>
        <a:xfrm>
          <a:off x="0" y="0"/>
          <a:ext cx="0" cy="0"/>
          <a:chOff x="0" y="0"/>
          <a:chExt cx="0" cy="0"/>
        </a:xfrm>
      </p:grpSpPr>
      <p:pic>
        <p:nvPicPr>
          <p:cNvPr id="323" name="Shape 323"/>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324" name="Shape 324"/>
          <p:cNvPicPr preferRelativeResize="0"/>
          <p:nvPr/>
        </p:nvPicPr>
        <p:blipFill rotWithShape="1">
          <a:blip r:embed="rId4">
            <a:alphaModFix/>
          </a:blip>
          <a:srcRect b="0" l="0" r="0" t="0"/>
          <a:stretch/>
        </p:blipFill>
        <p:spPr>
          <a:xfrm>
            <a:off x="292100" y="1444625"/>
            <a:ext cx="8626474" cy="5114925"/>
          </a:xfrm>
          <a:prstGeom prst="rect">
            <a:avLst/>
          </a:prstGeom>
          <a:noFill/>
          <a:ln>
            <a:noFill/>
          </a:ln>
        </p:spPr>
      </p:pic>
      <p:pic>
        <p:nvPicPr>
          <p:cNvPr id="325" name="Shape 325"/>
          <p:cNvPicPr preferRelativeResize="0"/>
          <p:nvPr/>
        </p:nvPicPr>
        <p:blipFill rotWithShape="1">
          <a:blip r:embed="rId5">
            <a:alphaModFix/>
          </a:blip>
          <a:srcRect b="0" l="0" r="0" t="0"/>
          <a:stretch/>
        </p:blipFill>
        <p:spPr>
          <a:xfrm>
            <a:off x="266700" y="306387"/>
            <a:ext cx="3013074" cy="608011"/>
          </a:xfrm>
          <a:prstGeom prst="rect">
            <a:avLst/>
          </a:prstGeom>
          <a:noFill/>
          <a:ln>
            <a:noFill/>
          </a:ln>
        </p:spPr>
      </p:pic>
      <p:sp>
        <p:nvSpPr>
          <p:cNvPr id="326" name="Shape 326"/>
          <p:cNvSpPr txBox="1"/>
          <p:nvPr/>
        </p:nvSpPr>
        <p:spPr>
          <a:xfrm>
            <a:off x="3402012" y="0"/>
            <a:ext cx="5570536" cy="1077912"/>
          </a:xfrm>
          <a:prstGeom prst="rect">
            <a:avLst/>
          </a:prstGeom>
          <a:noFill/>
          <a:ln>
            <a:noFill/>
          </a:ln>
        </p:spPr>
        <p:txBody>
          <a:bodyPr anchorCtr="0" anchor="t" bIns="45700" lIns="91425" rIns="91425" tIns="45700">
            <a:noAutofit/>
          </a:bodyPr>
          <a:lstStyle/>
          <a:p>
            <a:pPr indent="0" lvl="0" marL="0" marR="0" rtl="0" algn="ctr">
              <a:lnSpc>
                <a:spcPct val="95000"/>
              </a:lnSpc>
              <a:spcBef>
                <a:spcPts val="0"/>
              </a:spcBef>
              <a:spcAft>
                <a:spcPts val="720"/>
              </a:spcAft>
              <a:buClr>
                <a:srgbClr val="BB4F59"/>
              </a:buClr>
              <a:buSzPct val="25000"/>
              <a:buFont typeface="Arial"/>
              <a:buNone/>
            </a:pPr>
            <a:r>
              <a:rPr b="1" i="0" lang="es-AR" sz="3600" u="none" cap="none" strike="noStrike">
                <a:solidFill>
                  <a:srgbClr val="BB4F59"/>
                </a:solidFill>
                <a:latin typeface="Arial"/>
                <a:ea typeface="Arial"/>
                <a:cs typeface="Arial"/>
                <a:sym typeface="Arial"/>
              </a:rPr>
              <a:t> </a:t>
            </a:r>
            <a:r>
              <a:rPr b="1" i="0" lang="es-AR" sz="3200" u="none" cap="none" strike="noStrike">
                <a:solidFill>
                  <a:srgbClr val="BB4F59"/>
                </a:solidFill>
                <a:latin typeface="Arial"/>
                <a:ea typeface="Arial"/>
                <a:cs typeface="Arial"/>
                <a:sym typeface="Arial"/>
              </a:rPr>
              <a:t>PARIDAD DE PODER ADQUISITIVO</a:t>
            </a:r>
          </a:p>
        </p:txBody>
      </p:sp>
      <p:sp>
        <p:nvSpPr>
          <p:cNvPr id="327" name="Shape 327"/>
          <p:cNvSpPr txBox="1"/>
          <p:nvPr/>
        </p:nvSpPr>
        <p:spPr>
          <a:xfrm>
            <a:off x="304800" y="3716337"/>
            <a:ext cx="4724400" cy="4572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s-AR" sz="2400" u="none" cap="none" strike="noStrike">
                <a:solidFill>
                  <a:srgbClr val="FF0000"/>
                </a:solidFill>
                <a:latin typeface="Arial"/>
                <a:ea typeface="Arial"/>
                <a:cs typeface="Arial"/>
                <a:sym typeface="Arial"/>
              </a:rPr>
              <a:t> </a:t>
            </a:r>
          </a:p>
        </p:txBody>
      </p:sp>
      <p:sp>
        <p:nvSpPr>
          <p:cNvPr id="328" name="Shape 328"/>
          <p:cNvSpPr txBox="1"/>
          <p:nvPr/>
        </p:nvSpPr>
        <p:spPr>
          <a:xfrm>
            <a:off x="292100" y="5332412"/>
            <a:ext cx="8550275" cy="915986"/>
          </a:xfrm>
          <a:prstGeom prst="rect">
            <a:avLst/>
          </a:prstGeom>
          <a:solidFill>
            <a:srgbClr val="FFFF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Desde  1986  la  revista  inglesa  </a:t>
            </a:r>
            <a:r>
              <a:rPr b="1" i="0" lang="es-AR" sz="1800" u="none" cap="none" strike="noStrike">
                <a:solidFill>
                  <a:srgbClr val="FF0000"/>
                </a:solidFill>
                <a:latin typeface="Arial"/>
                <a:ea typeface="Arial"/>
                <a:cs typeface="Arial"/>
                <a:sym typeface="Arial"/>
              </a:rPr>
              <a:t>The  Economist</a:t>
            </a:r>
            <a:r>
              <a:rPr b="0" i="0" lang="es-AR" sz="1800" u="none" cap="none" strike="noStrike">
                <a:solidFill>
                  <a:schemeClr val="dk1"/>
                </a:solidFill>
                <a:latin typeface="Arial"/>
                <a:ea typeface="Arial"/>
                <a:cs typeface="Arial"/>
                <a:sym typeface="Arial"/>
              </a:rPr>
              <a:t>  utiliza  la  hamburgesa  </a:t>
            </a:r>
            <a:r>
              <a:rPr b="1" i="0" lang="es-AR" sz="1800" u="none" cap="none" strike="noStrike">
                <a:solidFill>
                  <a:srgbClr val="FF0000"/>
                </a:solidFill>
                <a:latin typeface="Arial"/>
                <a:ea typeface="Arial"/>
                <a:cs typeface="Arial"/>
                <a:sym typeface="Arial"/>
              </a:rPr>
              <a:t>Big  Mac  de McDonald’s</a:t>
            </a:r>
            <a:r>
              <a:rPr b="0" i="0" lang="es-AR" sz="1800" u="none" cap="none" strike="noStrike">
                <a:solidFill>
                  <a:schemeClr val="dk1"/>
                </a:solidFill>
                <a:latin typeface="Arial"/>
                <a:ea typeface="Arial"/>
                <a:cs typeface="Arial"/>
                <a:sym typeface="Arial"/>
              </a:rPr>
              <a:t>  para medir  el  grado  de  fortaleza  o  debilidad  de  una moneda  frente  a otras  divisas.</a:t>
            </a:r>
          </a:p>
        </p:txBody>
      </p:sp>
      <p:pic>
        <p:nvPicPr>
          <p:cNvPr id="329" name="Shape 329"/>
          <p:cNvPicPr preferRelativeResize="0"/>
          <p:nvPr/>
        </p:nvPicPr>
        <p:blipFill rotWithShape="1">
          <a:blip r:embed="rId6">
            <a:alphaModFix/>
          </a:blip>
          <a:srcRect b="0" l="0" r="0" t="0"/>
          <a:stretch/>
        </p:blipFill>
        <p:spPr>
          <a:xfrm>
            <a:off x="263525" y="3387725"/>
            <a:ext cx="2095499" cy="1571624"/>
          </a:xfrm>
          <a:prstGeom prst="rect">
            <a:avLst/>
          </a:prstGeom>
          <a:noFill/>
          <a:ln>
            <a:noFill/>
          </a:ln>
        </p:spPr>
      </p:pic>
      <p:pic>
        <p:nvPicPr>
          <p:cNvPr id="330" name="Shape 330"/>
          <p:cNvPicPr preferRelativeResize="0"/>
          <p:nvPr/>
        </p:nvPicPr>
        <p:blipFill rotWithShape="1">
          <a:blip r:embed="rId7">
            <a:alphaModFix/>
          </a:blip>
          <a:srcRect b="0" l="0" r="0" t="0"/>
          <a:stretch/>
        </p:blipFill>
        <p:spPr>
          <a:xfrm>
            <a:off x="5867400" y="3387725"/>
            <a:ext cx="2762250" cy="1552575"/>
          </a:xfrm>
          <a:prstGeom prst="rect">
            <a:avLst/>
          </a:prstGeom>
          <a:noFill/>
          <a:ln>
            <a:noFill/>
          </a:ln>
        </p:spPr>
      </p:pic>
      <p:sp>
        <p:nvSpPr>
          <p:cNvPr id="331" name="Shape 331"/>
          <p:cNvSpPr txBox="1"/>
          <p:nvPr/>
        </p:nvSpPr>
        <p:spPr>
          <a:xfrm>
            <a:off x="304800" y="1524000"/>
            <a:ext cx="8550275" cy="641350"/>
          </a:xfrm>
          <a:prstGeom prst="rect">
            <a:avLst/>
          </a:prstGeom>
          <a:solidFill>
            <a:srgbClr val="FFFF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 Los productos idénticos deben tener el </a:t>
            </a:r>
            <a:r>
              <a:rPr b="1" i="0" lang="es-AR" sz="1800" u="none" cap="none" strike="noStrike">
                <a:solidFill>
                  <a:schemeClr val="dk1"/>
                </a:solidFill>
                <a:latin typeface="Arial"/>
                <a:ea typeface="Arial"/>
                <a:cs typeface="Arial"/>
                <a:sym typeface="Arial"/>
              </a:rPr>
              <a:t>mismo precio</a:t>
            </a:r>
            <a:r>
              <a:rPr b="0" i="0" lang="es-AR" sz="1800" u="none" cap="none" strike="noStrike">
                <a:solidFill>
                  <a:schemeClr val="dk1"/>
                </a:solidFill>
                <a:latin typeface="Arial"/>
                <a:ea typeface="Arial"/>
                <a:cs typeface="Arial"/>
                <a:sym typeface="Arial"/>
              </a:rPr>
              <a:t>, o un </a:t>
            </a:r>
            <a:r>
              <a:rPr b="1" i="0" lang="es-AR" sz="1800" u="none" cap="none" strike="noStrike">
                <a:solidFill>
                  <a:schemeClr val="dk1"/>
                </a:solidFill>
                <a:latin typeface="Arial"/>
                <a:ea typeface="Arial"/>
                <a:cs typeface="Arial"/>
                <a:sym typeface="Arial"/>
              </a:rPr>
              <a:t>precio único,</a:t>
            </a:r>
            <a:r>
              <a:rPr b="0" i="0" lang="es-AR" sz="1800" u="none" cap="none" strike="noStrike">
                <a:solidFill>
                  <a:schemeClr val="dk1"/>
                </a:solidFill>
                <a:latin typeface="Arial"/>
                <a:ea typeface="Arial"/>
                <a:cs typeface="Arial"/>
                <a:sym typeface="Arial"/>
              </a:rPr>
              <a:t> en diferentes países en  términos de una misma moneda.</a:t>
            </a:r>
          </a:p>
        </p:txBody>
      </p:sp>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35" name="Shape 335"/>
        <p:cNvGrpSpPr/>
        <p:nvPr/>
      </p:nvGrpSpPr>
      <p:grpSpPr>
        <a:xfrm>
          <a:off x="0" y="0"/>
          <a:ext cx="0" cy="0"/>
          <a:chOff x="0" y="0"/>
          <a:chExt cx="0" cy="0"/>
        </a:xfrm>
      </p:grpSpPr>
      <p:sp>
        <p:nvSpPr>
          <p:cNvPr id="336" name="Shape 336"/>
          <p:cNvSpPr txBox="1"/>
          <p:nvPr>
            <p:ph idx="4294967295" type="title"/>
          </p:nvPr>
        </p:nvSpPr>
        <p:spPr>
          <a:xfrm>
            <a:off x="3429000" y="274637"/>
            <a:ext cx="5714999" cy="11430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Calibri"/>
              <a:buNone/>
            </a:pPr>
            <a:r>
              <a:rPr b="0" i="0" lang="es-AR" sz="4400" u="none" cap="none" strike="noStrike">
                <a:solidFill>
                  <a:schemeClr val="dk1"/>
                </a:solidFill>
                <a:latin typeface="Calibri"/>
                <a:ea typeface="Calibri"/>
                <a:cs typeface="Calibri"/>
                <a:sym typeface="Calibri"/>
              </a:rPr>
              <a:t>INDICE BIG MAC</a:t>
            </a:r>
          </a:p>
        </p:txBody>
      </p:sp>
      <p:pic>
        <p:nvPicPr>
          <p:cNvPr id="337" name="Shape 337"/>
          <p:cNvPicPr preferRelativeResize="0"/>
          <p:nvPr>
            <p:ph idx="4294967295" type="body"/>
          </p:nvPr>
        </p:nvPicPr>
        <p:blipFill rotWithShape="1">
          <a:blip r:embed="rId3">
            <a:alphaModFix/>
          </a:blip>
          <a:srcRect b="0" l="0" r="0" t="0"/>
          <a:stretch/>
        </p:blipFill>
        <p:spPr>
          <a:xfrm>
            <a:off x="419100" y="533400"/>
            <a:ext cx="3009899" cy="609599"/>
          </a:xfrm>
          <a:prstGeom prst="rect">
            <a:avLst/>
          </a:prstGeom>
          <a:noFill/>
          <a:ln>
            <a:noFill/>
          </a:ln>
        </p:spPr>
      </p:pic>
      <p:sp>
        <p:nvSpPr>
          <p:cNvPr id="338" name="Shape 338"/>
          <p:cNvSpPr txBox="1"/>
          <p:nvPr/>
        </p:nvSpPr>
        <p:spPr>
          <a:xfrm>
            <a:off x="419100" y="1447800"/>
            <a:ext cx="8267699" cy="1373187"/>
          </a:xfrm>
          <a:prstGeom prst="rect">
            <a:avLst/>
          </a:prstGeom>
          <a:solidFill>
            <a:srgbClr val="FFFFFF"/>
          </a:solidFill>
          <a:ln>
            <a:noFill/>
          </a:ln>
        </p:spPr>
        <p:txBody>
          <a:bodyPr anchorCtr="0" anchor="ctr" bIns="0" lIns="0" rIns="0" tIns="0">
            <a:noAutofit/>
          </a:bodyPr>
          <a:lstStyle/>
          <a:p>
            <a:pPr indent="0" lvl="0" marL="0" marR="0" rtl="0" algn="l">
              <a:lnSpc>
                <a:spcPct val="100000"/>
              </a:lnSpc>
              <a:spcBef>
                <a:spcPts val="0"/>
              </a:spcBef>
              <a:spcAft>
                <a:spcPts val="0"/>
              </a:spcAft>
              <a:buClr>
                <a:srgbClr val="FF0000"/>
              </a:buClr>
              <a:buSzPct val="25000"/>
              <a:buFont typeface="Arial"/>
              <a:buNone/>
            </a:pPr>
            <a:r>
              <a:rPr b="0" i="0" lang="es-AR" sz="1800" u="none" cap="none" strike="noStrike">
                <a:solidFill>
                  <a:srgbClr val="FF0000"/>
                </a:solidFill>
                <a:latin typeface="Arial"/>
                <a:ea typeface="Arial"/>
                <a:cs typeface="Arial"/>
                <a:sym typeface="Arial"/>
              </a:rPr>
              <a:t>El </a:t>
            </a:r>
            <a:r>
              <a:rPr b="1" i="0" lang="es-AR" sz="1800" u="none" cap="none" strike="noStrike">
                <a:solidFill>
                  <a:srgbClr val="FF0000"/>
                </a:solidFill>
                <a:latin typeface="Arial"/>
                <a:ea typeface="Arial"/>
                <a:cs typeface="Arial"/>
                <a:sym typeface="Arial"/>
              </a:rPr>
              <a:t>fundamento teórico </a:t>
            </a:r>
            <a:r>
              <a:rPr b="0" i="0" lang="es-AR" sz="1800" u="none" cap="none" strike="noStrike">
                <a:solidFill>
                  <a:srgbClr val="FF0000"/>
                </a:solidFill>
                <a:latin typeface="Arial"/>
                <a:ea typeface="Arial"/>
                <a:cs typeface="Arial"/>
                <a:sym typeface="Arial"/>
              </a:rPr>
              <a:t>del Big Mac Index es que, al tomar como referente </a:t>
            </a:r>
            <a:r>
              <a:rPr b="1" i="0" lang="es-AR" sz="1800" u="none" cap="none" strike="noStrike">
                <a:solidFill>
                  <a:srgbClr val="FF0000"/>
                </a:solidFill>
                <a:latin typeface="Arial"/>
                <a:ea typeface="Arial"/>
                <a:cs typeface="Arial"/>
                <a:sym typeface="Arial"/>
              </a:rPr>
              <a:t>un artículo estandarizado</a:t>
            </a:r>
            <a:r>
              <a:rPr b="0" i="0" lang="es-AR" sz="1800" u="none" cap="none" strike="noStrike">
                <a:solidFill>
                  <a:srgbClr val="FF0000"/>
                </a:solidFill>
                <a:latin typeface="Arial"/>
                <a:ea typeface="Arial"/>
                <a:cs typeface="Arial"/>
                <a:sym typeface="Arial"/>
              </a:rPr>
              <a:t> -tanto en sus componentes como en su metodología de producción- y por estar presente </a:t>
            </a:r>
            <a:r>
              <a:rPr b="1" i="0" lang="es-AR" sz="1800" u="none" cap="none" strike="noStrike">
                <a:solidFill>
                  <a:srgbClr val="FF0000"/>
                </a:solidFill>
                <a:latin typeface="Arial"/>
                <a:ea typeface="Arial"/>
                <a:cs typeface="Arial"/>
                <a:sym typeface="Arial"/>
              </a:rPr>
              <a:t>en una gran cantidad de países</a:t>
            </a:r>
            <a:r>
              <a:rPr b="0" i="0" lang="es-AR" sz="1800" u="none" cap="none" strike="noStrike">
                <a:solidFill>
                  <a:srgbClr val="FF0000"/>
                </a:solidFill>
                <a:latin typeface="Arial"/>
                <a:ea typeface="Arial"/>
                <a:cs typeface="Arial"/>
                <a:sym typeface="Arial"/>
              </a:rPr>
              <a:t>, el valor de la hamburguesa resulta </a:t>
            </a:r>
            <a:r>
              <a:rPr b="1" i="0" lang="es-AR" sz="1800" u="none" cap="none" strike="noStrike">
                <a:solidFill>
                  <a:srgbClr val="FF0000"/>
                </a:solidFill>
                <a:latin typeface="Arial"/>
                <a:ea typeface="Arial"/>
                <a:cs typeface="Arial"/>
                <a:sym typeface="Arial"/>
              </a:rPr>
              <a:t>un precio confiable para comparar tipos de cambio</a:t>
            </a:r>
            <a:r>
              <a:rPr b="0" i="0" lang="es-AR" sz="1800" u="none" cap="none" strike="noStrike">
                <a:solidFill>
                  <a:srgbClr val="FF0000"/>
                </a:solidFill>
                <a:latin typeface="Arial"/>
                <a:ea typeface="Arial"/>
                <a:cs typeface="Arial"/>
                <a:sym typeface="Arial"/>
              </a:rPr>
              <a:t> y poner de manifiesto las diferencias entre territorios.</a:t>
            </a:r>
            <a:r>
              <a:rPr b="0" i="0" lang="es-AR" sz="1800" u="none" cap="none" strike="noStrike">
                <a:solidFill>
                  <a:schemeClr val="dk1"/>
                </a:solidFill>
                <a:latin typeface="Arial"/>
                <a:ea typeface="Arial"/>
                <a:cs typeface="Arial"/>
                <a:sym typeface="Arial"/>
              </a:rPr>
              <a:t> </a:t>
            </a:r>
          </a:p>
        </p:txBody>
      </p:sp>
      <p:sp>
        <p:nvSpPr>
          <p:cNvPr id="339" name="Shape 339"/>
          <p:cNvSpPr txBox="1"/>
          <p:nvPr/>
        </p:nvSpPr>
        <p:spPr>
          <a:xfrm>
            <a:off x="381000" y="2911475"/>
            <a:ext cx="8381999" cy="2014536"/>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s-AR" sz="1800" u="none" cap="none" strike="noStrike">
                <a:solidFill>
                  <a:schemeClr val="dk2"/>
                </a:solidFill>
                <a:latin typeface="Arial"/>
                <a:ea typeface="Arial"/>
                <a:cs typeface="Arial"/>
                <a:sym typeface="Arial"/>
              </a:rPr>
              <a:t>Para calcular el índice Big Mac, tomamos el precio de la hamburguesa en dos países distintos (cada uno en su divisa correspondiente) y los dividimos entre sí. El valor que conseguiremos lo comparamos con el actual tipo de cambio, si el valor que hemos obtenido es menor al tipo de cambio la moneda comparada estará devaluada,en cambio si el valor obtenido es más alto que el tipo de cambio, la moneda comparada estará sobrevaluada. </a:t>
            </a:r>
          </a:p>
        </p:txBody>
      </p:sp>
      <p:sp>
        <p:nvSpPr>
          <p:cNvPr id="340" name="Shape 340"/>
          <p:cNvSpPr txBox="1"/>
          <p:nvPr/>
        </p:nvSpPr>
        <p:spPr>
          <a:xfrm>
            <a:off x="381000" y="5026025"/>
            <a:ext cx="8763000" cy="1465261"/>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Precio del Big Mac en Argentina = 66 $/u =&gt; 4,79 * 1,5083 = 7,22 USD/u</a:t>
            </a:r>
          </a:p>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Precio del Big Mac en EEUU = 4,79 USD/u                                </a:t>
            </a:r>
            <a:r>
              <a:rPr b="1" i="0" lang="es-AR" sz="1800" u="none" cap="none" strike="noStrike">
                <a:solidFill>
                  <a:srgbClr val="FF0000"/>
                </a:solidFill>
                <a:latin typeface="Arial"/>
                <a:ea typeface="Arial"/>
                <a:cs typeface="Arial"/>
                <a:sym typeface="Arial"/>
              </a:rPr>
              <a:t>31/07/2015</a:t>
            </a:r>
          </a:p>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Tasa de PPA =66 $ / 4,79 USD = 13,7787 $/USD</a:t>
            </a:r>
          </a:p>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Tipo de cambio = 9,14 $/USD =&gt; = 9,14 * 1,5083 = </a:t>
            </a:r>
            <a:r>
              <a:rPr b="1" i="0" lang="es-AR" sz="1800" u="none" cap="none" strike="noStrike">
                <a:solidFill>
                  <a:schemeClr val="hlink"/>
                </a:solidFill>
                <a:latin typeface="Arial"/>
                <a:ea typeface="Arial"/>
                <a:cs typeface="Arial"/>
                <a:sym typeface="Arial"/>
              </a:rPr>
              <a:t>13,7858 $/USD</a:t>
            </a:r>
          </a:p>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Índice Big Mac = (13,7787– 9,14) / 9,14 = 0,5083  la moneda está sobre valuada</a:t>
            </a:r>
          </a:p>
        </p:txBody>
      </p:sp>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44" name="Shape 344"/>
        <p:cNvGrpSpPr/>
        <p:nvPr/>
      </p:nvGrpSpPr>
      <p:grpSpPr>
        <a:xfrm>
          <a:off x="0" y="0"/>
          <a:ext cx="0" cy="0"/>
          <a:chOff x="0" y="0"/>
          <a:chExt cx="0" cy="0"/>
        </a:xfrm>
      </p:grpSpPr>
      <p:pic>
        <p:nvPicPr>
          <p:cNvPr id="345" name="Shape 345"/>
          <p:cNvPicPr preferRelativeResize="0"/>
          <p:nvPr>
            <p:ph idx="4294967295" type="body"/>
          </p:nvPr>
        </p:nvPicPr>
        <p:blipFill rotWithShape="1">
          <a:blip r:embed="rId3">
            <a:alphaModFix/>
          </a:blip>
          <a:srcRect b="0" l="0" r="0" t="0"/>
          <a:stretch/>
        </p:blipFill>
        <p:spPr>
          <a:xfrm>
            <a:off x="457200" y="274637"/>
            <a:ext cx="3009899" cy="609599"/>
          </a:xfrm>
          <a:prstGeom prst="rect">
            <a:avLst/>
          </a:prstGeom>
          <a:noFill/>
          <a:ln>
            <a:noFill/>
          </a:ln>
        </p:spPr>
      </p:pic>
      <p:pic>
        <p:nvPicPr>
          <p:cNvPr id="346" name="Shape 346"/>
          <p:cNvPicPr preferRelativeResize="0"/>
          <p:nvPr>
            <p:ph idx="4294967295" type="body"/>
          </p:nvPr>
        </p:nvPicPr>
        <p:blipFill rotWithShape="1">
          <a:blip r:embed="rId4">
            <a:alphaModFix/>
          </a:blip>
          <a:srcRect b="0" l="0" r="0" t="0"/>
          <a:stretch/>
        </p:blipFill>
        <p:spPr>
          <a:xfrm>
            <a:off x="304800" y="1219200"/>
            <a:ext cx="8610599" cy="5333999"/>
          </a:xfrm>
          <a:prstGeom prst="rect">
            <a:avLst/>
          </a:prstGeom>
          <a:noFill/>
          <a:ln>
            <a:noFill/>
          </a:ln>
        </p:spPr>
      </p:pic>
      <p:sp>
        <p:nvSpPr>
          <p:cNvPr id="347" name="Shape 347"/>
          <p:cNvSpPr txBox="1"/>
          <p:nvPr>
            <p:ph idx="4294967295" type="title"/>
          </p:nvPr>
        </p:nvSpPr>
        <p:spPr>
          <a:xfrm>
            <a:off x="3886200" y="76200"/>
            <a:ext cx="4953000" cy="1173162"/>
          </a:xfrm>
          <a:prstGeom prst="rect">
            <a:avLst/>
          </a:prstGeom>
          <a:solidFill>
            <a:srgbClr val="FFFF00"/>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Calibri"/>
              <a:buNone/>
            </a:pPr>
            <a:r>
              <a:rPr b="0" i="0" lang="es-AR" sz="4000" u="none" cap="none" strike="noStrike">
                <a:solidFill>
                  <a:schemeClr val="dk1"/>
                </a:solidFill>
                <a:latin typeface="Calibri"/>
                <a:ea typeface="Calibri"/>
                <a:cs typeface="Calibri"/>
                <a:sym typeface="Calibri"/>
              </a:rPr>
              <a:t>Indice BIG MAC</a:t>
            </a:r>
            <a:br>
              <a:rPr b="0" i="0" lang="es-AR" sz="4000" u="none" cap="none" strike="noStrike">
                <a:solidFill>
                  <a:schemeClr val="dk1"/>
                </a:solidFill>
                <a:latin typeface="Calibri"/>
                <a:ea typeface="Calibri"/>
                <a:cs typeface="Calibri"/>
                <a:sym typeface="Calibri"/>
              </a:rPr>
            </a:br>
            <a:r>
              <a:rPr b="0" i="0" lang="es-AR" sz="4000" u="none" cap="none" strike="noStrike">
                <a:solidFill>
                  <a:schemeClr val="dk1"/>
                </a:solidFill>
                <a:latin typeface="Calibri"/>
                <a:ea typeface="Calibri"/>
                <a:cs typeface="Calibri"/>
                <a:sym typeface="Calibri"/>
              </a:rPr>
              <a:t> </a:t>
            </a:r>
            <a:r>
              <a:rPr b="0" i="0" lang="es-AR" sz="3200" u="none" cap="none" strike="noStrike">
                <a:solidFill>
                  <a:schemeClr val="dk1"/>
                </a:solidFill>
                <a:latin typeface="Calibri"/>
                <a:ea typeface="Calibri"/>
                <a:cs typeface="Calibri"/>
                <a:sym typeface="Calibri"/>
              </a:rPr>
              <a:t>31</a:t>
            </a:r>
            <a:r>
              <a:rPr b="0" i="0" lang="es-AR" sz="4000" u="none" cap="none" strike="noStrike">
                <a:solidFill>
                  <a:schemeClr val="dk1"/>
                </a:solidFill>
                <a:latin typeface="Calibri"/>
                <a:ea typeface="Calibri"/>
                <a:cs typeface="Calibri"/>
                <a:sym typeface="Calibri"/>
              </a:rPr>
              <a:t> </a:t>
            </a:r>
            <a:r>
              <a:rPr b="0" i="0" lang="es-AR" sz="3200" u="none" cap="none" strike="noStrike">
                <a:solidFill>
                  <a:schemeClr val="dk1"/>
                </a:solidFill>
                <a:latin typeface="Calibri"/>
                <a:ea typeface="Calibri"/>
                <a:cs typeface="Calibri"/>
                <a:sym typeface="Calibri"/>
              </a:rPr>
              <a:t>JULIO 2015</a:t>
            </a:r>
            <a:r>
              <a:rPr b="0" i="0" lang="es-AR" sz="4000" u="none" cap="none" strike="noStrike">
                <a:solidFill>
                  <a:schemeClr val="dk1"/>
                </a:solidFill>
                <a:latin typeface="Calibri"/>
                <a:ea typeface="Calibri"/>
                <a:cs typeface="Calibri"/>
                <a:sym typeface="Calibri"/>
              </a:rPr>
              <a:t> </a:t>
            </a:r>
          </a:p>
        </p:txBody>
      </p:sp>
      <p:sp>
        <p:nvSpPr>
          <p:cNvPr id="348" name="Shape 348"/>
          <p:cNvSpPr txBox="1"/>
          <p:nvPr/>
        </p:nvSpPr>
        <p:spPr>
          <a:xfrm>
            <a:off x="1263650" y="5805487"/>
            <a:ext cx="7067549" cy="366711"/>
          </a:xfrm>
          <a:prstGeom prst="rect">
            <a:avLst/>
          </a:prstGeom>
          <a:solidFill>
            <a:schemeClr val="lt1"/>
          </a:solid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s-AR" sz="1800" u="none" cap="none" strike="noStrike">
                <a:solidFill>
                  <a:srgbClr val="FF0000"/>
                </a:solidFill>
                <a:latin typeface="Arial"/>
                <a:ea typeface="Arial"/>
                <a:cs typeface="Arial"/>
                <a:sym typeface="Arial"/>
              </a:rPr>
              <a:t>La moneda argentina se encuentra sobre valuada en un 50,83%</a:t>
            </a:r>
          </a:p>
        </p:txBody>
      </p:sp>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52" name="Shape 352"/>
        <p:cNvGrpSpPr/>
        <p:nvPr/>
      </p:nvGrpSpPr>
      <p:grpSpPr>
        <a:xfrm>
          <a:off x="0" y="0"/>
          <a:ext cx="0" cy="0"/>
          <a:chOff x="0" y="0"/>
          <a:chExt cx="0" cy="0"/>
        </a:xfrm>
      </p:grpSpPr>
      <p:pic>
        <p:nvPicPr>
          <p:cNvPr id="353" name="Shape 353"/>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354" name="Shape 354"/>
          <p:cNvPicPr preferRelativeResize="0"/>
          <p:nvPr/>
        </p:nvPicPr>
        <p:blipFill rotWithShape="1">
          <a:blip r:embed="rId4">
            <a:alphaModFix/>
          </a:blip>
          <a:srcRect b="0" l="0" r="0" t="0"/>
          <a:stretch/>
        </p:blipFill>
        <p:spPr>
          <a:xfrm>
            <a:off x="292100" y="1444625"/>
            <a:ext cx="8626474" cy="5114925"/>
          </a:xfrm>
          <a:prstGeom prst="rect">
            <a:avLst/>
          </a:prstGeom>
          <a:noFill/>
          <a:ln>
            <a:noFill/>
          </a:ln>
        </p:spPr>
      </p:pic>
      <p:pic>
        <p:nvPicPr>
          <p:cNvPr id="355" name="Shape 355"/>
          <p:cNvPicPr preferRelativeResize="0"/>
          <p:nvPr/>
        </p:nvPicPr>
        <p:blipFill rotWithShape="1">
          <a:blip r:embed="rId5">
            <a:alphaModFix/>
          </a:blip>
          <a:srcRect b="0" l="0" r="0" t="0"/>
          <a:stretch/>
        </p:blipFill>
        <p:spPr>
          <a:xfrm>
            <a:off x="263525" y="306387"/>
            <a:ext cx="3013074" cy="608011"/>
          </a:xfrm>
          <a:prstGeom prst="rect">
            <a:avLst/>
          </a:prstGeom>
          <a:noFill/>
          <a:ln>
            <a:noFill/>
          </a:ln>
        </p:spPr>
      </p:pic>
      <p:sp>
        <p:nvSpPr>
          <p:cNvPr id="356" name="Shape 356"/>
          <p:cNvSpPr txBox="1"/>
          <p:nvPr/>
        </p:nvSpPr>
        <p:spPr>
          <a:xfrm>
            <a:off x="3402012" y="306387"/>
            <a:ext cx="5570536" cy="750887"/>
          </a:xfrm>
          <a:prstGeom prst="rect">
            <a:avLst/>
          </a:prstGeom>
          <a:noFill/>
          <a:ln>
            <a:noFill/>
          </a:ln>
        </p:spPr>
        <p:txBody>
          <a:bodyPr anchorCtr="0" anchor="t" bIns="45700" lIns="91425" rIns="91425" tIns="45700">
            <a:noAutofit/>
          </a:bodyPr>
          <a:lstStyle/>
          <a:p>
            <a:pPr indent="0" lvl="0" marL="0" marR="0" rtl="0" algn="just">
              <a:lnSpc>
                <a:spcPct val="120000"/>
              </a:lnSpc>
              <a:spcBef>
                <a:spcPts val="0"/>
              </a:spcBef>
              <a:spcAft>
                <a:spcPts val="720"/>
              </a:spcAft>
              <a:buClr>
                <a:srgbClr val="BB4F59"/>
              </a:buClr>
              <a:buSzPct val="25000"/>
              <a:buFont typeface="Arial"/>
              <a:buNone/>
            </a:pPr>
            <a:r>
              <a:rPr b="1" i="0" lang="es-AR" sz="3600" u="none" cap="none" strike="noStrike">
                <a:solidFill>
                  <a:srgbClr val="BB4F59"/>
                </a:solidFill>
                <a:latin typeface="Arial"/>
                <a:ea typeface="Arial"/>
                <a:cs typeface="Arial"/>
                <a:sym typeface="Arial"/>
              </a:rPr>
              <a:t> TIPO DE CAMBIO REAL</a:t>
            </a:r>
          </a:p>
        </p:txBody>
      </p:sp>
      <p:sp>
        <p:nvSpPr>
          <p:cNvPr id="357" name="Shape 357"/>
          <p:cNvSpPr txBox="1"/>
          <p:nvPr/>
        </p:nvSpPr>
        <p:spPr>
          <a:xfrm>
            <a:off x="304800" y="3716337"/>
            <a:ext cx="4724400" cy="4572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s-AR" sz="2400" u="none" cap="none" strike="noStrike">
                <a:solidFill>
                  <a:srgbClr val="FF0000"/>
                </a:solidFill>
                <a:latin typeface="Arial"/>
                <a:ea typeface="Arial"/>
                <a:cs typeface="Arial"/>
                <a:sym typeface="Arial"/>
              </a:rPr>
              <a:t> </a:t>
            </a:r>
          </a:p>
        </p:txBody>
      </p:sp>
      <p:sp>
        <p:nvSpPr>
          <p:cNvPr id="358" name="Shape 358"/>
          <p:cNvSpPr txBox="1"/>
          <p:nvPr/>
        </p:nvSpPr>
        <p:spPr>
          <a:xfrm>
            <a:off x="381000" y="5637212"/>
            <a:ext cx="8550275" cy="915986"/>
          </a:xfrm>
          <a:prstGeom prst="rect">
            <a:avLst/>
          </a:prstGeom>
          <a:solidFill>
            <a:srgbClr val="FFFF00"/>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s-AR" sz="1800" u="none" cap="none" strike="noStrike">
                <a:solidFill>
                  <a:schemeClr val="dk1"/>
                </a:solidFill>
                <a:latin typeface="Arial"/>
                <a:ea typeface="Arial"/>
                <a:cs typeface="Arial"/>
                <a:sym typeface="Arial"/>
              </a:rPr>
              <a:t>El </a:t>
            </a:r>
            <a:r>
              <a:rPr b="1" i="0" lang="es-AR" sz="1800" u="none" cap="none" strike="noStrike">
                <a:solidFill>
                  <a:srgbClr val="FF0000"/>
                </a:solidFill>
                <a:latin typeface="Arial"/>
                <a:ea typeface="Arial"/>
                <a:cs typeface="Arial"/>
                <a:sym typeface="Arial"/>
              </a:rPr>
              <a:t>Tipo de Cambio Real</a:t>
            </a:r>
            <a:r>
              <a:rPr b="1" i="0" lang="es-AR" sz="1800" u="none" cap="none" strike="noStrike">
                <a:solidFill>
                  <a:schemeClr val="dk1"/>
                </a:solidFill>
                <a:latin typeface="Arial"/>
                <a:ea typeface="Arial"/>
                <a:cs typeface="Arial"/>
                <a:sym typeface="Arial"/>
              </a:rPr>
              <a:t> de un país (local) respecto de otro (extranjero) es el precio relativo de los bienes del país extranjero expresados en términos de bienes locales.</a:t>
            </a:r>
          </a:p>
        </p:txBody>
      </p:sp>
      <p:pic>
        <p:nvPicPr>
          <p:cNvPr id="359" name="Shape 359"/>
          <p:cNvPicPr preferRelativeResize="0"/>
          <p:nvPr/>
        </p:nvPicPr>
        <p:blipFill rotWithShape="1">
          <a:blip r:embed="rId6">
            <a:alphaModFix/>
          </a:blip>
          <a:srcRect b="0" l="0" r="0" t="0"/>
          <a:stretch/>
        </p:blipFill>
        <p:spPr>
          <a:xfrm>
            <a:off x="2790825" y="3048000"/>
            <a:ext cx="3562350" cy="2533650"/>
          </a:xfrm>
          <a:prstGeom prst="rect">
            <a:avLst/>
          </a:prstGeom>
          <a:noFill/>
          <a:ln>
            <a:noFill/>
          </a:ln>
        </p:spPr>
      </p:pic>
      <p:sp>
        <p:nvSpPr>
          <p:cNvPr id="360" name="Shape 360"/>
          <p:cNvSpPr txBox="1"/>
          <p:nvPr/>
        </p:nvSpPr>
        <p:spPr>
          <a:xfrm>
            <a:off x="0" y="1476375"/>
            <a:ext cx="9144000" cy="1555750"/>
          </a:xfrm>
          <a:prstGeom prst="rect">
            <a:avLst/>
          </a:prstGeom>
          <a:solidFill>
            <a:srgbClr val="FFFF00"/>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s-AR" sz="2400" u="none" cap="none" strike="noStrike">
                <a:solidFill>
                  <a:srgbClr val="FF0000"/>
                </a:solidFill>
                <a:latin typeface="Arial"/>
                <a:ea typeface="Arial"/>
                <a:cs typeface="Arial"/>
                <a:sym typeface="Arial"/>
              </a:rPr>
              <a:t>TCR = TCN x (NP* / NP) </a:t>
            </a:r>
          </a:p>
          <a:p>
            <a:pPr indent="0" lvl="0" marL="0" marR="0" rtl="0" algn="l">
              <a:lnSpc>
                <a:spcPct val="100000"/>
              </a:lnSpc>
              <a:spcBef>
                <a:spcPts val="0"/>
              </a:spcBef>
              <a:spcAft>
                <a:spcPts val="0"/>
              </a:spcAft>
              <a:buClr>
                <a:schemeClr val="dk1"/>
              </a:buClr>
              <a:buSzPct val="25000"/>
              <a:buFont typeface="Arial"/>
              <a:buNone/>
            </a:pPr>
            <a:r>
              <a:rPr b="1" i="0" lang="es-AR" sz="1800" u="none" cap="none" strike="noStrike">
                <a:solidFill>
                  <a:schemeClr val="dk1"/>
                </a:solidFill>
                <a:latin typeface="Arial"/>
                <a:ea typeface="Arial"/>
                <a:cs typeface="Arial"/>
                <a:sym typeface="Arial"/>
              </a:rPr>
              <a:t>TCR: 	Tipo de Cambio Real</a:t>
            </a:r>
            <a:br>
              <a:rPr b="1" i="0" lang="es-AR" sz="1800" u="none" cap="none" strike="noStrike">
                <a:solidFill>
                  <a:schemeClr val="dk1"/>
                </a:solidFill>
                <a:latin typeface="Arial"/>
                <a:ea typeface="Arial"/>
                <a:cs typeface="Arial"/>
                <a:sym typeface="Arial"/>
              </a:rPr>
            </a:br>
            <a:r>
              <a:rPr b="1" i="0" lang="es-AR" sz="1800" u="none" cap="none" strike="noStrike">
                <a:solidFill>
                  <a:schemeClr val="dk1"/>
                </a:solidFill>
                <a:latin typeface="Arial"/>
                <a:ea typeface="Arial"/>
                <a:cs typeface="Arial"/>
                <a:sym typeface="Arial"/>
              </a:rPr>
              <a:t>TCN:	Tipo de Cambio Nominal.</a:t>
            </a:r>
            <a:br>
              <a:rPr b="1" i="0" lang="es-AR" sz="1800" u="none" cap="none" strike="noStrike">
                <a:solidFill>
                  <a:schemeClr val="dk1"/>
                </a:solidFill>
                <a:latin typeface="Arial"/>
                <a:ea typeface="Arial"/>
                <a:cs typeface="Arial"/>
                <a:sym typeface="Arial"/>
              </a:rPr>
            </a:br>
            <a:r>
              <a:rPr b="1" i="0" lang="es-AR" sz="1800" u="none" cap="none" strike="noStrike">
                <a:solidFill>
                  <a:schemeClr val="dk1"/>
                </a:solidFill>
                <a:latin typeface="Arial"/>
                <a:ea typeface="Arial"/>
                <a:cs typeface="Arial"/>
                <a:sym typeface="Arial"/>
              </a:rPr>
              <a:t>NP*:   Deflactor del PBI del país extranjero.</a:t>
            </a:r>
            <a:br>
              <a:rPr b="1" i="0" lang="es-AR" sz="1800" u="none" cap="none" strike="noStrike">
                <a:solidFill>
                  <a:schemeClr val="dk1"/>
                </a:solidFill>
                <a:latin typeface="Arial"/>
                <a:ea typeface="Arial"/>
                <a:cs typeface="Arial"/>
                <a:sym typeface="Arial"/>
              </a:rPr>
            </a:br>
            <a:r>
              <a:rPr b="1" i="0" lang="es-AR" sz="1800" u="none" cap="none" strike="noStrike">
                <a:solidFill>
                  <a:schemeClr val="dk1"/>
                </a:solidFill>
                <a:latin typeface="Arial"/>
                <a:ea typeface="Arial"/>
                <a:cs typeface="Arial"/>
                <a:sym typeface="Arial"/>
              </a:rPr>
              <a:t>NP:	 Deflactor del PBI local (Índice de precios implícitos).</a:t>
            </a:r>
          </a:p>
        </p:txBody>
      </p:sp>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64" name="Shape 364"/>
        <p:cNvGrpSpPr/>
        <p:nvPr/>
      </p:nvGrpSpPr>
      <p:grpSpPr>
        <a:xfrm>
          <a:off x="0" y="0"/>
          <a:ext cx="0" cy="0"/>
          <a:chOff x="0" y="0"/>
          <a:chExt cx="0" cy="0"/>
        </a:xfrm>
      </p:grpSpPr>
      <p:pic>
        <p:nvPicPr>
          <p:cNvPr id="365" name="Shape 365"/>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366" name="Shape 366"/>
          <p:cNvPicPr preferRelativeResize="0"/>
          <p:nvPr/>
        </p:nvPicPr>
        <p:blipFill rotWithShape="1">
          <a:blip r:embed="rId4">
            <a:alphaModFix/>
          </a:blip>
          <a:srcRect b="0" l="0" r="0" t="0"/>
          <a:stretch/>
        </p:blipFill>
        <p:spPr>
          <a:xfrm>
            <a:off x="247650" y="1600200"/>
            <a:ext cx="8626474" cy="4953000"/>
          </a:xfrm>
          <a:prstGeom prst="rect">
            <a:avLst/>
          </a:prstGeom>
          <a:noFill/>
          <a:ln>
            <a:noFill/>
          </a:ln>
        </p:spPr>
      </p:pic>
      <p:pic>
        <p:nvPicPr>
          <p:cNvPr id="367" name="Shape 367"/>
          <p:cNvPicPr preferRelativeResize="0"/>
          <p:nvPr/>
        </p:nvPicPr>
        <p:blipFill rotWithShape="1">
          <a:blip r:embed="rId5">
            <a:alphaModFix/>
          </a:blip>
          <a:srcRect b="0" l="0" r="0" t="0"/>
          <a:stretch/>
        </p:blipFill>
        <p:spPr>
          <a:xfrm>
            <a:off x="263525" y="306387"/>
            <a:ext cx="3013074" cy="608011"/>
          </a:xfrm>
          <a:prstGeom prst="rect">
            <a:avLst/>
          </a:prstGeom>
          <a:noFill/>
          <a:ln>
            <a:noFill/>
          </a:ln>
        </p:spPr>
      </p:pic>
      <p:sp>
        <p:nvSpPr>
          <p:cNvPr id="368" name="Shape 368"/>
          <p:cNvSpPr txBox="1"/>
          <p:nvPr/>
        </p:nvSpPr>
        <p:spPr>
          <a:xfrm>
            <a:off x="3402012" y="300037"/>
            <a:ext cx="5570536" cy="614361"/>
          </a:xfrm>
          <a:prstGeom prst="rect">
            <a:avLst/>
          </a:prstGeom>
          <a:noFill/>
          <a:ln>
            <a:noFill/>
          </a:ln>
        </p:spPr>
        <p:txBody>
          <a:bodyPr anchorCtr="0" anchor="t" bIns="45700" lIns="91425" rIns="91425" tIns="45700">
            <a:noAutofit/>
          </a:bodyPr>
          <a:lstStyle/>
          <a:p>
            <a:pPr indent="0" lvl="0" marL="0" marR="0" rtl="0" algn="ctr">
              <a:lnSpc>
                <a:spcPct val="95000"/>
              </a:lnSpc>
              <a:spcBef>
                <a:spcPts val="0"/>
              </a:spcBef>
              <a:spcAft>
                <a:spcPts val="720"/>
              </a:spcAft>
              <a:buClr>
                <a:srgbClr val="BB4F59"/>
              </a:buClr>
              <a:buSzPct val="25000"/>
              <a:buFont typeface="Arial"/>
              <a:buNone/>
            </a:pPr>
            <a:r>
              <a:rPr b="1" i="0" lang="es-AR" sz="3600" u="none" cap="none" strike="noStrike">
                <a:solidFill>
                  <a:srgbClr val="BB4F59"/>
                </a:solidFill>
                <a:latin typeface="Arial"/>
                <a:ea typeface="Arial"/>
                <a:cs typeface="Arial"/>
                <a:sym typeface="Arial"/>
              </a:rPr>
              <a:t> </a:t>
            </a:r>
            <a:r>
              <a:rPr b="1" i="0" lang="es-AR" sz="3200" u="none" cap="none" strike="noStrike">
                <a:solidFill>
                  <a:srgbClr val="BB4F59"/>
                </a:solidFill>
                <a:latin typeface="Arial"/>
                <a:ea typeface="Arial"/>
                <a:cs typeface="Arial"/>
                <a:sym typeface="Arial"/>
              </a:rPr>
              <a:t>INFLACIÓN</a:t>
            </a:r>
          </a:p>
        </p:txBody>
      </p:sp>
      <p:sp>
        <p:nvSpPr>
          <p:cNvPr id="369" name="Shape 369"/>
          <p:cNvSpPr txBox="1"/>
          <p:nvPr/>
        </p:nvSpPr>
        <p:spPr>
          <a:xfrm>
            <a:off x="304800" y="3716337"/>
            <a:ext cx="4724400" cy="4572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s-AR" sz="2400" u="none" cap="none" strike="noStrike">
                <a:solidFill>
                  <a:srgbClr val="FF0000"/>
                </a:solidFill>
                <a:latin typeface="Arial"/>
                <a:ea typeface="Arial"/>
                <a:cs typeface="Arial"/>
                <a:sym typeface="Arial"/>
              </a:rPr>
              <a:t> </a:t>
            </a:r>
          </a:p>
        </p:txBody>
      </p:sp>
      <p:sp>
        <p:nvSpPr>
          <p:cNvPr id="370" name="Shape 370"/>
          <p:cNvSpPr txBox="1"/>
          <p:nvPr/>
        </p:nvSpPr>
        <p:spPr>
          <a:xfrm>
            <a:off x="2362200" y="1522412"/>
            <a:ext cx="4495800" cy="1465261"/>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Es el </a:t>
            </a:r>
            <a:r>
              <a:rPr b="1" i="1" lang="es-AR" sz="1800" u="none" cap="none" strike="noStrike">
                <a:solidFill>
                  <a:schemeClr val="dk1"/>
                </a:solidFill>
                <a:latin typeface="Arial"/>
                <a:ea typeface="Arial"/>
                <a:cs typeface="Arial"/>
                <a:sym typeface="Arial"/>
              </a:rPr>
              <a:t>aumento sostenido y generalizado del nivel de precios de bienes y servicios</a:t>
            </a:r>
            <a:r>
              <a:rPr b="0" i="0" lang="es-AR" sz="1800" u="none" cap="none" strike="noStrike">
                <a:solidFill>
                  <a:schemeClr val="dk1"/>
                </a:solidFill>
                <a:latin typeface="Arial"/>
                <a:ea typeface="Arial"/>
                <a:cs typeface="Arial"/>
                <a:sym typeface="Arial"/>
              </a:rPr>
              <a:t>, medido frente al poder adquisitivo de la moneda de un país. </a:t>
            </a:r>
          </a:p>
        </p:txBody>
      </p:sp>
      <p:sp>
        <p:nvSpPr>
          <p:cNvPr id="371" name="Shape 371"/>
          <p:cNvSpPr txBox="1"/>
          <p:nvPr/>
        </p:nvSpPr>
        <p:spPr>
          <a:xfrm>
            <a:off x="304800" y="4052887"/>
            <a:ext cx="6019799" cy="1190624"/>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Se define como una </a:t>
            </a:r>
            <a:r>
              <a:rPr b="1" i="0" lang="es-AR" sz="1800" u="none" cap="none" strike="noStrike">
                <a:solidFill>
                  <a:schemeClr val="dk1"/>
                </a:solidFill>
                <a:latin typeface="Arial"/>
                <a:ea typeface="Arial"/>
                <a:cs typeface="Arial"/>
                <a:sym typeface="Arial"/>
              </a:rPr>
              <a:t>subida generalizada</a:t>
            </a:r>
            <a:r>
              <a:rPr b="0" i="0" lang="es-AR" sz="1800" u="none" cap="none" strike="noStrike">
                <a:solidFill>
                  <a:schemeClr val="dk1"/>
                </a:solidFill>
                <a:latin typeface="Arial"/>
                <a:ea typeface="Arial"/>
                <a:cs typeface="Arial"/>
                <a:sym typeface="Arial"/>
              </a:rPr>
              <a:t> (afecta a todos los sectores de la economía) y </a:t>
            </a:r>
            <a:r>
              <a:rPr b="1" i="0" lang="es-AR" sz="1800" u="none" cap="none" strike="noStrike">
                <a:solidFill>
                  <a:schemeClr val="dk1"/>
                </a:solidFill>
                <a:latin typeface="Arial"/>
                <a:ea typeface="Arial"/>
                <a:cs typeface="Arial"/>
                <a:sym typeface="Arial"/>
              </a:rPr>
              <a:t>continua</a:t>
            </a:r>
            <a:r>
              <a:rPr b="0" i="0" lang="es-AR" sz="1800" u="none" cap="none" strike="noStrike">
                <a:solidFill>
                  <a:schemeClr val="dk1"/>
                </a:solidFill>
                <a:latin typeface="Arial"/>
                <a:ea typeface="Arial"/>
                <a:cs typeface="Arial"/>
                <a:sym typeface="Arial"/>
              </a:rPr>
              <a:t> (durante un periodo prolongado en el tiempo) de los </a:t>
            </a:r>
            <a:r>
              <a:rPr b="1" i="0" lang="es-AR" sz="1800" u="none" cap="none" strike="noStrike">
                <a:solidFill>
                  <a:schemeClr val="dk1"/>
                </a:solidFill>
                <a:latin typeface="Arial"/>
                <a:ea typeface="Arial"/>
                <a:cs typeface="Arial"/>
                <a:sym typeface="Arial"/>
              </a:rPr>
              <a:t>precios de los bienes y servicios</a:t>
            </a:r>
            <a:r>
              <a:rPr b="0" i="0" lang="es-AR" sz="1800" u="none" cap="none" strike="noStrike">
                <a:solidFill>
                  <a:schemeClr val="dk1"/>
                </a:solidFill>
                <a:latin typeface="Arial"/>
                <a:ea typeface="Arial"/>
                <a:cs typeface="Arial"/>
                <a:sym typeface="Arial"/>
              </a:rPr>
              <a:t>.</a:t>
            </a:r>
          </a:p>
        </p:txBody>
      </p:sp>
      <p:pic>
        <p:nvPicPr>
          <p:cNvPr id="372" name="Shape 372"/>
          <p:cNvPicPr preferRelativeResize="0"/>
          <p:nvPr/>
        </p:nvPicPr>
        <p:blipFill rotWithShape="1">
          <a:blip r:embed="rId6">
            <a:alphaModFix/>
          </a:blip>
          <a:srcRect b="0" l="0" r="0" t="0"/>
          <a:stretch/>
        </p:blipFill>
        <p:spPr>
          <a:xfrm>
            <a:off x="6777036" y="1614487"/>
            <a:ext cx="2097087" cy="2230437"/>
          </a:xfrm>
          <a:prstGeom prst="rect">
            <a:avLst/>
          </a:prstGeom>
          <a:noFill/>
          <a:ln>
            <a:noFill/>
          </a:ln>
        </p:spPr>
      </p:pic>
      <p:pic>
        <p:nvPicPr>
          <p:cNvPr id="373" name="Shape 373"/>
          <p:cNvPicPr preferRelativeResize="0"/>
          <p:nvPr/>
        </p:nvPicPr>
        <p:blipFill rotWithShape="1">
          <a:blip r:embed="rId7">
            <a:alphaModFix/>
          </a:blip>
          <a:srcRect b="0" l="0" r="0" t="0"/>
          <a:stretch/>
        </p:blipFill>
        <p:spPr>
          <a:xfrm>
            <a:off x="3048000" y="4962525"/>
            <a:ext cx="2867025" cy="1590674"/>
          </a:xfrm>
          <a:prstGeom prst="rect">
            <a:avLst/>
          </a:prstGeom>
          <a:noFill/>
          <a:ln>
            <a:noFill/>
          </a:ln>
        </p:spPr>
      </p:pic>
      <p:pic>
        <p:nvPicPr>
          <p:cNvPr id="374" name="Shape 374"/>
          <p:cNvPicPr preferRelativeResize="0"/>
          <p:nvPr/>
        </p:nvPicPr>
        <p:blipFill rotWithShape="1">
          <a:blip r:embed="rId8">
            <a:alphaModFix/>
          </a:blip>
          <a:srcRect b="0" l="0" r="0" t="0"/>
          <a:stretch/>
        </p:blipFill>
        <p:spPr>
          <a:xfrm>
            <a:off x="6324600" y="4173537"/>
            <a:ext cx="2528886" cy="2376487"/>
          </a:xfrm>
          <a:prstGeom prst="rect">
            <a:avLst/>
          </a:prstGeom>
          <a:noFill/>
          <a:ln>
            <a:noFill/>
          </a:ln>
        </p:spPr>
      </p:pic>
      <p:pic>
        <p:nvPicPr>
          <p:cNvPr id="375" name="Shape 375"/>
          <p:cNvPicPr preferRelativeResize="0"/>
          <p:nvPr/>
        </p:nvPicPr>
        <p:blipFill rotWithShape="1">
          <a:blip r:embed="rId9">
            <a:alphaModFix/>
          </a:blip>
          <a:srcRect b="0" l="0" r="0" t="0"/>
          <a:stretch/>
        </p:blipFill>
        <p:spPr>
          <a:xfrm>
            <a:off x="304800" y="1614487"/>
            <a:ext cx="1895474" cy="2438399"/>
          </a:xfrm>
          <a:prstGeom prst="rect">
            <a:avLst/>
          </a:prstGeom>
          <a:noFill/>
          <a:ln>
            <a:noFill/>
          </a:ln>
        </p:spPr>
      </p:pic>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79" name="Shape 379"/>
        <p:cNvGrpSpPr/>
        <p:nvPr/>
      </p:nvGrpSpPr>
      <p:grpSpPr>
        <a:xfrm>
          <a:off x="0" y="0"/>
          <a:ext cx="0" cy="0"/>
          <a:chOff x="0" y="0"/>
          <a:chExt cx="0" cy="0"/>
        </a:xfrm>
      </p:grpSpPr>
      <p:pic>
        <p:nvPicPr>
          <p:cNvPr id="380" name="Shape 380"/>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381" name="Shape 381"/>
          <p:cNvPicPr preferRelativeResize="0"/>
          <p:nvPr/>
        </p:nvPicPr>
        <p:blipFill rotWithShape="1">
          <a:blip r:embed="rId4">
            <a:alphaModFix/>
          </a:blip>
          <a:srcRect b="0" l="0" r="0" t="0"/>
          <a:stretch/>
        </p:blipFill>
        <p:spPr>
          <a:xfrm>
            <a:off x="304800" y="1371600"/>
            <a:ext cx="8626474" cy="5257799"/>
          </a:xfrm>
          <a:prstGeom prst="rect">
            <a:avLst/>
          </a:prstGeom>
          <a:noFill/>
          <a:ln>
            <a:noFill/>
          </a:ln>
        </p:spPr>
      </p:pic>
      <p:pic>
        <p:nvPicPr>
          <p:cNvPr id="382" name="Shape 382"/>
          <p:cNvPicPr preferRelativeResize="0"/>
          <p:nvPr/>
        </p:nvPicPr>
        <p:blipFill rotWithShape="1">
          <a:blip r:embed="rId5">
            <a:alphaModFix/>
          </a:blip>
          <a:srcRect b="0" l="0" r="0" t="0"/>
          <a:stretch/>
        </p:blipFill>
        <p:spPr>
          <a:xfrm>
            <a:off x="263525" y="306387"/>
            <a:ext cx="3013074" cy="608011"/>
          </a:xfrm>
          <a:prstGeom prst="rect">
            <a:avLst/>
          </a:prstGeom>
          <a:noFill/>
          <a:ln>
            <a:noFill/>
          </a:ln>
        </p:spPr>
      </p:pic>
      <p:sp>
        <p:nvSpPr>
          <p:cNvPr id="383" name="Shape 383"/>
          <p:cNvSpPr txBox="1"/>
          <p:nvPr/>
        </p:nvSpPr>
        <p:spPr>
          <a:xfrm>
            <a:off x="3402012" y="300037"/>
            <a:ext cx="5570536" cy="614361"/>
          </a:xfrm>
          <a:prstGeom prst="rect">
            <a:avLst/>
          </a:prstGeom>
          <a:noFill/>
          <a:ln>
            <a:noFill/>
          </a:ln>
        </p:spPr>
        <p:txBody>
          <a:bodyPr anchorCtr="0" anchor="t" bIns="45700" lIns="91425" rIns="91425" tIns="45700">
            <a:noAutofit/>
          </a:bodyPr>
          <a:lstStyle/>
          <a:p>
            <a:pPr indent="0" lvl="0" marL="0" marR="0" rtl="0" algn="ctr">
              <a:lnSpc>
                <a:spcPct val="95000"/>
              </a:lnSpc>
              <a:spcBef>
                <a:spcPts val="0"/>
              </a:spcBef>
              <a:spcAft>
                <a:spcPts val="720"/>
              </a:spcAft>
              <a:buClr>
                <a:srgbClr val="BB4F59"/>
              </a:buClr>
              <a:buSzPct val="25000"/>
              <a:buFont typeface="Arial"/>
              <a:buNone/>
            </a:pPr>
            <a:r>
              <a:rPr b="1" i="0" lang="es-AR" sz="3600" u="none" cap="none" strike="noStrike">
                <a:solidFill>
                  <a:srgbClr val="BB4F59"/>
                </a:solidFill>
                <a:latin typeface="Arial"/>
                <a:ea typeface="Arial"/>
                <a:cs typeface="Arial"/>
                <a:sym typeface="Arial"/>
              </a:rPr>
              <a:t> </a:t>
            </a:r>
            <a:r>
              <a:rPr b="1" i="0" lang="es-AR" sz="3200" u="none" cap="none" strike="noStrike">
                <a:solidFill>
                  <a:srgbClr val="BB4F59"/>
                </a:solidFill>
                <a:latin typeface="Arial"/>
                <a:ea typeface="Arial"/>
                <a:cs typeface="Arial"/>
                <a:sym typeface="Arial"/>
              </a:rPr>
              <a:t>INFLACIÓN-IPC</a:t>
            </a:r>
          </a:p>
        </p:txBody>
      </p:sp>
      <p:sp>
        <p:nvSpPr>
          <p:cNvPr id="384" name="Shape 384"/>
          <p:cNvSpPr txBox="1"/>
          <p:nvPr/>
        </p:nvSpPr>
        <p:spPr>
          <a:xfrm>
            <a:off x="304800" y="3716337"/>
            <a:ext cx="4724400" cy="4572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s-AR" sz="2400" u="none" cap="none" strike="noStrike">
                <a:solidFill>
                  <a:srgbClr val="FF0000"/>
                </a:solidFill>
                <a:latin typeface="Arial"/>
                <a:ea typeface="Arial"/>
                <a:cs typeface="Arial"/>
                <a:sym typeface="Arial"/>
              </a:rPr>
              <a:t> </a:t>
            </a:r>
          </a:p>
        </p:txBody>
      </p:sp>
      <p:sp>
        <p:nvSpPr>
          <p:cNvPr id="385" name="Shape 385"/>
          <p:cNvSpPr txBox="1"/>
          <p:nvPr/>
        </p:nvSpPr>
        <p:spPr>
          <a:xfrm>
            <a:off x="228600" y="1474787"/>
            <a:ext cx="6096000" cy="1739899"/>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Calcula la cantidad de dinero, a precios del año actual, que precisa un consumidor para comprar una canasta de bienes y servicios elegida en un año base, dividida por el costo de comprar dicha canasta en el año base.  </a:t>
            </a:r>
          </a:p>
          <a:p>
            <a:pPr indent="0" lvl="0" marL="0" marR="0" rtl="0" algn="l">
              <a:lnSpc>
                <a:spcPct val="100000"/>
              </a:lnSpc>
              <a:spcBef>
                <a:spcPts val="0"/>
              </a:spcBef>
              <a:spcAft>
                <a:spcPts val="0"/>
              </a:spcAft>
              <a:buClr>
                <a:schemeClr val="dk1"/>
              </a:buClr>
              <a:buFont typeface="Calibri"/>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Fue desarrollado por </a:t>
            </a:r>
            <a:r>
              <a:rPr b="1" i="0" lang="es-AR" sz="1600" u="none" cap="none" strike="noStrike">
                <a:solidFill>
                  <a:schemeClr val="dk1"/>
                </a:solidFill>
                <a:latin typeface="Arial"/>
                <a:ea typeface="Arial"/>
                <a:cs typeface="Arial"/>
                <a:sym typeface="Arial"/>
              </a:rPr>
              <a:t>LASPEYRES</a:t>
            </a:r>
            <a:r>
              <a:rPr b="0" i="0" lang="es-AR" sz="1600" u="none" cap="none" strike="noStrike">
                <a:solidFill>
                  <a:schemeClr val="dk1"/>
                </a:solidFill>
                <a:latin typeface="Arial"/>
                <a:ea typeface="Arial"/>
                <a:cs typeface="Arial"/>
                <a:sym typeface="Arial"/>
              </a:rPr>
              <a:t>, ETIENNE (1834-1913)</a:t>
            </a:r>
          </a:p>
        </p:txBody>
      </p:sp>
      <p:pic>
        <p:nvPicPr>
          <p:cNvPr id="386" name="Shape 386"/>
          <p:cNvPicPr preferRelativeResize="0"/>
          <p:nvPr/>
        </p:nvPicPr>
        <p:blipFill rotWithShape="1">
          <a:blip r:embed="rId6">
            <a:alphaModFix/>
          </a:blip>
          <a:srcRect b="0" l="0" r="0" t="0"/>
          <a:stretch/>
        </p:blipFill>
        <p:spPr>
          <a:xfrm>
            <a:off x="5535612" y="4191000"/>
            <a:ext cx="3436936" cy="1725612"/>
          </a:xfrm>
          <a:prstGeom prst="rect">
            <a:avLst/>
          </a:prstGeom>
          <a:noFill/>
          <a:ln>
            <a:noFill/>
          </a:ln>
        </p:spPr>
      </p:pic>
      <p:sp>
        <p:nvSpPr>
          <p:cNvPr id="387" name="Shape 387"/>
          <p:cNvSpPr txBox="1"/>
          <p:nvPr/>
        </p:nvSpPr>
        <p:spPr>
          <a:xfrm>
            <a:off x="381000" y="4700587"/>
            <a:ext cx="8312150" cy="1816099"/>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Verdana"/>
              <a:buNone/>
            </a:pPr>
            <a:r>
              <a:rPr b="0" i="0" lang="es-AR" sz="2400" u="none" cap="none" strike="noStrike">
                <a:solidFill>
                  <a:schemeClr val="dk1"/>
                </a:solidFill>
                <a:latin typeface="Verdana"/>
                <a:ea typeface="Verdana"/>
                <a:cs typeface="Verdana"/>
                <a:sym typeface="Verdana"/>
              </a:rPr>
              <a:t>IPC</a:t>
            </a:r>
            <a:r>
              <a:rPr b="0" baseline="-25000" i="0" lang="es-AR" sz="2400" u="none" cap="none" strike="noStrike">
                <a:solidFill>
                  <a:schemeClr val="dk1"/>
                </a:solidFill>
                <a:latin typeface="Verdana"/>
                <a:ea typeface="Verdana"/>
                <a:cs typeface="Verdana"/>
                <a:sym typeface="Verdana"/>
              </a:rPr>
              <a:t>0 </a:t>
            </a:r>
            <a:r>
              <a:rPr b="0" i="0" lang="es-AR" sz="2400" u="none" cap="none" strike="noStrike">
                <a:solidFill>
                  <a:schemeClr val="dk1"/>
                </a:solidFill>
                <a:latin typeface="Verdana"/>
                <a:ea typeface="Verdana"/>
                <a:cs typeface="Verdana"/>
                <a:sym typeface="Verdana"/>
              </a:rPr>
              <a:t>= ΣQ</a:t>
            </a:r>
            <a:r>
              <a:rPr b="0" baseline="-25000" i="0" lang="es-AR" sz="2400" u="none" cap="none" strike="noStrike">
                <a:solidFill>
                  <a:schemeClr val="dk1"/>
                </a:solidFill>
                <a:latin typeface="Verdana"/>
                <a:ea typeface="Verdana"/>
                <a:cs typeface="Verdana"/>
                <a:sym typeface="Verdana"/>
              </a:rPr>
              <a:t>0</a:t>
            </a:r>
            <a:r>
              <a:rPr b="0" i="0" lang="es-AR" sz="2400" u="none" cap="none" strike="noStrike">
                <a:solidFill>
                  <a:schemeClr val="dk1"/>
                </a:solidFill>
                <a:latin typeface="Verdana"/>
                <a:ea typeface="Verdana"/>
                <a:cs typeface="Verdana"/>
                <a:sym typeface="Verdana"/>
              </a:rPr>
              <a:t>* P</a:t>
            </a:r>
            <a:r>
              <a:rPr b="0" baseline="-25000" i="0" lang="es-AR" sz="2400" u="none" cap="none" strike="noStrike">
                <a:solidFill>
                  <a:schemeClr val="dk1"/>
                </a:solidFill>
                <a:latin typeface="Verdana"/>
                <a:ea typeface="Verdana"/>
                <a:cs typeface="Verdana"/>
                <a:sym typeface="Verdana"/>
              </a:rPr>
              <a:t>0</a:t>
            </a:r>
            <a:r>
              <a:rPr b="0" i="0" lang="es-AR" sz="2400" u="none" cap="none" strike="noStrike">
                <a:solidFill>
                  <a:schemeClr val="dk1"/>
                </a:solidFill>
                <a:latin typeface="Verdana"/>
                <a:ea typeface="Verdana"/>
                <a:cs typeface="Verdana"/>
                <a:sym typeface="Verdana"/>
              </a:rPr>
              <a:t> = </a:t>
            </a:r>
            <a:r>
              <a:rPr b="0" i="0" lang="es-AR" sz="2400" u="none" cap="none" strike="noStrike">
                <a:solidFill>
                  <a:srgbClr val="FF0000"/>
                </a:solidFill>
                <a:latin typeface="Verdana"/>
                <a:ea typeface="Verdana"/>
                <a:cs typeface="Verdana"/>
                <a:sym typeface="Verdana"/>
              </a:rPr>
              <a:t>100</a:t>
            </a:r>
          </a:p>
          <a:p>
            <a:pPr indent="0" lvl="0" marL="0" marR="0" rtl="0" algn="l">
              <a:lnSpc>
                <a:spcPct val="100000"/>
              </a:lnSpc>
              <a:spcBef>
                <a:spcPts val="840"/>
              </a:spcBef>
              <a:spcAft>
                <a:spcPts val="0"/>
              </a:spcAft>
              <a:buClr>
                <a:schemeClr val="dk1"/>
              </a:buClr>
              <a:buSzPct val="25000"/>
              <a:buFont typeface="Verdana"/>
              <a:buNone/>
            </a:pPr>
            <a:r>
              <a:rPr b="0" i="0" lang="es-AR" sz="2400" u="none" cap="none" strike="noStrike">
                <a:solidFill>
                  <a:schemeClr val="dk1"/>
                </a:solidFill>
                <a:latin typeface="Verdana"/>
                <a:ea typeface="Verdana"/>
                <a:cs typeface="Verdana"/>
                <a:sym typeface="Verdana"/>
              </a:rPr>
              <a:t>IPC</a:t>
            </a:r>
            <a:r>
              <a:rPr b="0" baseline="-25000" i="0" lang="es-AR" sz="2400" u="none" cap="none" strike="noStrike">
                <a:solidFill>
                  <a:schemeClr val="dk1"/>
                </a:solidFill>
                <a:latin typeface="Verdana"/>
                <a:ea typeface="Verdana"/>
                <a:cs typeface="Verdana"/>
                <a:sym typeface="Verdana"/>
              </a:rPr>
              <a:t>N </a:t>
            </a:r>
            <a:r>
              <a:rPr b="0" i="0" lang="es-AR" sz="2400" u="none" cap="none" strike="noStrike">
                <a:solidFill>
                  <a:schemeClr val="dk1"/>
                </a:solidFill>
                <a:latin typeface="Verdana"/>
                <a:ea typeface="Verdana"/>
                <a:cs typeface="Verdana"/>
                <a:sym typeface="Verdana"/>
              </a:rPr>
              <a:t>= (</a:t>
            </a:r>
            <a:r>
              <a:rPr b="0" i="0" lang="es-AR" sz="2400" u="none" cap="none" strike="noStrike">
                <a:solidFill>
                  <a:schemeClr val="dk1"/>
                </a:solidFill>
                <a:latin typeface="Arial"/>
                <a:ea typeface="Arial"/>
                <a:cs typeface="Arial"/>
                <a:sym typeface="Arial"/>
              </a:rPr>
              <a:t>ΣQ</a:t>
            </a:r>
            <a:r>
              <a:rPr b="0" baseline="-25000" i="0" lang="es-AR" sz="2400" u="none" cap="none" strike="noStrike">
                <a:solidFill>
                  <a:schemeClr val="dk1"/>
                </a:solidFill>
                <a:latin typeface="Arial"/>
                <a:ea typeface="Arial"/>
                <a:cs typeface="Arial"/>
                <a:sym typeface="Arial"/>
              </a:rPr>
              <a:t>0</a:t>
            </a:r>
            <a:r>
              <a:rPr b="0" i="0" lang="es-AR" sz="2400" u="none" cap="none" strike="noStrike">
                <a:solidFill>
                  <a:schemeClr val="dk1"/>
                </a:solidFill>
                <a:latin typeface="Arial"/>
                <a:ea typeface="Arial"/>
                <a:cs typeface="Arial"/>
                <a:sym typeface="Arial"/>
              </a:rPr>
              <a:t>* P</a:t>
            </a:r>
            <a:r>
              <a:rPr b="0" baseline="-25000" i="0" lang="es-AR" sz="2400" u="none" cap="none" strike="noStrike">
                <a:solidFill>
                  <a:schemeClr val="dk1"/>
                </a:solidFill>
                <a:latin typeface="Arial"/>
                <a:ea typeface="Arial"/>
                <a:cs typeface="Arial"/>
                <a:sym typeface="Arial"/>
              </a:rPr>
              <a:t>N</a:t>
            </a:r>
            <a:r>
              <a:rPr b="0" i="0" lang="es-AR" sz="2400" u="none" cap="none" strike="noStrike">
                <a:solidFill>
                  <a:schemeClr val="dk1"/>
                </a:solidFill>
                <a:latin typeface="Arial"/>
                <a:ea typeface="Arial"/>
                <a:cs typeface="Arial"/>
                <a:sym typeface="Arial"/>
              </a:rPr>
              <a:t>/ ΣQ</a:t>
            </a:r>
            <a:r>
              <a:rPr b="0" baseline="-25000" i="0" lang="es-AR" sz="2400" u="none" cap="none" strike="noStrike">
                <a:solidFill>
                  <a:schemeClr val="dk1"/>
                </a:solidFill>
                <a:latin typeface="Arial"/>
                <a:ea typeface="Arial"/>
                <a:cs typeface="Arial"/>
                <a:sym typeface="Arial"/>
              </a:rPr>
              <a:t>0</a:t>
            </a:r>
            <a:r>
              <a:rPr b="0" i="0" lang="es-AR" sz="2400" u="none" cap="none" strike="noStrike">
                <a:solidFill>
                  <a:schemeClr val="dk1"/>
                </a:solidFill>
                <a:latin typeface="Arial"/>
                <a:ea typeface="Arial"/>
                <a:cs typeface="Arial"/>
                <a:sym typeface="Arial"/>
              </a:rPr>
              <a:t>* P</a:t>
            </a:r>
            <a:r>
              <a:rPr b="0" baseline="-25000" i="0" lang="es-AR" sz="2400" u="none" cap="none" strike="noStrike">
                <a:solidFill>
                  <a:schemeClr val="dk1"/>
                </a:solidFill>
                <a:latin typeface="Arial"/>
                <a:ea typeface="Arial"/>
                <a:cs typeface="Arial"/>
                <a:sym typeface="Arial"/>
              </a:rPr>
              <a:t>0</a:t>
            </a:r>
            <a:r>
              <a:rPr b="0" i="0" lang="es-AR" sz="2400" u="none" cap="none" strike="noStrike">
                <a:solidFill>
                  <a:schemeClr val="dk1"/>
                </a:solidFill>
                <a:latin typeface="Arial"/>
                <a:ea typeface="Arial"/>
                <a:cs typeface="Arial"/>
                <a:sym typeface="Arial"/>
              </a:rPr>
              <a:t>)*100 = </a:t>
            </a:r>
            <a:r>
              <a:rPr b="0" i="0" lang="es-AR" sz="2400" u="none" cap="none" strike="noStrike">
                <a:solidFill>
                  <a:srgbClr val="FF0000"/>
                </a:solidFill>
                <a:latin typeface="Arial"/>
                <a:ea typeface="Arial"/>
                <a:cs typeface="Arial"/>
                <a:sym typeface="Arial"/>
              </a:rPr>
              <a:t>¿?</a:t>
            </a:r>
          </a:p>
          <a:p>
            <a:pPr indent="0" lvl="0" marL="0" marR="0" rtl="0" algn="l">
              <a:lnSpc>
                <a:spcPct val="100000"/>
              </a:lnSpc>
              <a:spcBef>
                <a:spcPts val="75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 </a:t>
            </a:r>
          </a:p>
          <a:p>
            <a:pPr indent="0" lvl="0" marL="0" marR="0" rtl="0" algn="l">
              <a:lnSpc>
                <a:spcPct val="100000"/>
              </a:lnSpc>
              <a:spcBef>
                <a:spcPts val="720"/>
              </a:spcBef>
              <a:spcAft>
                <a:spcPts val="480"/>
              </a:spcAft>
              <a:buClr>
                <a:srgbClr val="FF0000"/>
              </a:buClr>
              <a:buSzPct val="25000"/>
              <a:buFont typeface="Arial"/>
              <a:buNone/>
            </a:pPr>
            <a:r>
              <a:rPr b="1" i="0" lang="es-AR" sz="2400" u="none" cap="none" strike="noStrike">
                <a:solidFill>
                  <a:srgbClr val="FF0000"/>
                </a:solidFill>
                <a:latin typeface="Arial"/>
                <a:ea typeface="Arial"/>
                <a:cs typeface="Arial"/>
                <a:sym typeface="Arial"/>
              </a:rPr>
              <a:t>Inflación 2010 = (IPC 2010 - IPC 2009) / IPC 2009</a:t>
            </a:r>
            <a:r>
              <a:rPr b="0" i="0" lang="es-AR" sz="1800" u="none" cap="none" strike="noStrike">
                <a:solidFill>
                  <a:schemeClr val="dk1"/>
                </a:solidFill>
                <a:latin typeface="Arial"/>
                <a:ea typeface="Arial"/>
                <a:cs typeface="Arial"/>
                <a:sym typeface="Arial"/>
              </a:rPr>
              <a:t> </a:t>
            </a:r>
          </a:p>
        </p:txBody>
      </p:sp>
      <p:pic>
        <p:nvPicPr>
          <p:cNvPr id="388" name="Shape 388"/>
          <p:cNvPicPr preferRelativeResize="0"/>
          <p:nvPr/>
        </p:nvPicPr>
        <p:blipFill rotWithShape="1">
          <a:blip r:embed="rId7">
            <a:alphaModFix/>
          </a:blip>
          <a:srcRect b="0" l="0" r="0" t="0"/>
          <a:stretch/>
        </p:blipFill>
        <p:spPr>
          <a:xfrm>
            <a:off x="6746875" y="1295400"/>
            <a:ext cx="2127249" cy="2600324"/>
          </a:xfrm>
          <a:prstGeom prst="rect">
            <a:avLst/>
          </a:prstGeom>
          <a:noFill/>
          <a:ln>
            <a:noFill/>
          </a:ln>
        </p:spPr>
      </p:pic>
      <p:pic>
        <p:nvPicPr>
          <p:cNvPr id="389" name="Shape 389"/>
          <p:cNvPicPr preferRelativeResize="0"/>
          <p:nvPr/>
        </p:nvPicPr>
        <p:blipFill rotWithShape="1">
          <a:blip r:embed="rId8">
            <a:alphaModFix/>
          </a:blip>
          <a:srcRect b="0" l="0" r="0" t="0"/>
          <a:stretch/>
        </p:blipFill>
        <p:spPr>
          <a:xfrm>
            <a:off x="457200" y="3333750"/>
            <a:ext cx="2162174" cy="1085850"/>
          </a:xfrm>
          <a:prstGeom prst="rect">
            <a:avLst/>
          </a:prstGeom>
          <a:noFill/>
          <a:ln>
            <a:noFill/>
          </a:ln>
        </p:spPr>
      </p:pic>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93" name="Shape 393"/>
        <p:cNvGrpSpPr/>
        <p:nvPr/>
      </p:nvGrpSpPr>
      <p:grpSpPr>
        <a:xfrm>
          <a:off x="0" y="0"/>
          <a:ext cx="0" cy="0"/>
          <a:chOff x="0" y="0"/>
          <a:chExt cx="0" cy="0"/>
        </a:xfrm>
      </p:grpSpPr>
      <p:pic>
        <p:nvPicPr>
          <p:cNvPr id="394" name="Shape 394"/>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395" name="Shape 395"/>
          <p:cNvPicPr preferRelativeResize="0"/>
          <p:nvPr/>
        </p:nvPicPr>
        <p:blipFill rotWithShape="1">
          <a:blip r:embed="rId4">
            <a:alphaModFix/>
          </a:blip>
          <a:srcRect b="0" l="0" r="0" t="0"/>
          <a:stretch/>
        </p:blipFill>
        <p:spPr>
          <a:xfrm>
            <a:off x="247650" y="1600200"/>
            <a:ext cx="8626474" cy="4953000"/>
          </a:xfrm>
          <a:prstGeom prst="rect">
            <a:avLst/>
          </a:prstGeom>
          <a:noFill/>
          <a:ln>
            <a:noFill/>
          </a:ln>
        </p:spPr>
      </p:pic>
      <p:pic>
        <p:nvPicPr>
          <p:cNvPr id="396" name="Shape 396"/>
          <p:cNvPicPr preferRelativeResize="0"/>
          <p:nvPr/>
        </p:nvPicPr>
        <p:blipFill rotWithShape="1">
          <a:blip r:embed="rId5">
            <a:alphaModFix/>
          </a:blip>
          <a:srcRect b="0" l="0" r="0" t="0"/>
          <a:stretch/>
        </p:blipFill>
        <p:spPr>
          <a:xfrm>
            <a:off x="263525" y="306387"/>
            <a:ext cx="3013074" cy="608011"/>
          </a:xfrm>
          <a:prstGeom prst="rect">
            <a:avLst/>
          </a:prstGeom>
          <a:noFill/>
          <a:ln>
            <a:noFill/>
          </a:ln>
        </p:spPr>
      </p:pic>
      <p:sp>
        <p:nvSpPr>
          <p:cNvPr id="397" name="Shape 397"/>
          <p:cNvSpPr txBox="1"/>
          <p:nvPr/>
        </p:nvSpPr>
        <p:spPr>
          <a:xfrm>
            <a:off x="3402012" y="300037"/>
            <a:ext cx="5570536" cy="614361"/>
          </a:xfrm>
          <a:prstGeom prst="rect">
            <a:avLst/>
          </a:prstGeom>
          <a:noFill/>
          <a:ln>
            <a:noFill/>
          </a:ln>
        </p:spPr>
        <p:txBody>
          <a:bodyPr anchorCtr="0" anchor="t" bIns="45700" lIns="91425" rIns="91425" tIns="45700">
            <a:noAutofit/>
          </a:bodyPr>
          <a:lstStyle/>
          <a:p>
            <a:pPr indent="0" lvl="0" marL="0" marR="0" rtl="0" algn="ctr">
              <a:lnSpc>
                <a:spcPct val="95000"/>
              </a:lnSpc>
              <a:spcBef>
                <a:spcPts val="0"/>
              </a:spcBef>
              <a:spcAft>
                <a:spcPts val="720"/>
              </a:spcAft>
              <a:buClr>
                <a:srgbClr val="BB4F59"/>
              </a:buClr>
              <a:buSzPct val="25000"/>
              <a:buFont typeface="Arial"/>
              <a:buNone/>
            </a:pPr>
            <a:r>
              <a:rPr b="1" i="0" lang="es-AR" sz="3600" u="none" cap="none" strike="noStrike">
                <a:solidFill>
                  <a:srgbClr val="BB4F59"/>
                </a:solidFill>
                <a:latin typeface="Arial"/>
                <a:ea typeface="Arial"/>
                <a:cs typeface="Arial"/>
                <a:sym typeface="Arial"/>
              </a:rPr>
              <a:t> </a:t>
            </a:r>
            <a:r>
              <a:rPr b="1" i="0" lang="es-AR" sz="3200" u="none" cap="none" strike="noStrike">
                <a:solidFill>
                  <a:srgbClr val="BB4F59"/>
                </a:solidFill>
                <a:latin typeface="Arial"/>
                <a:ea typeface="Arial"/>
                <a:cs typeface="Arial"/>
                <a:sym typeface="Arial"/>
              </a:rPr>
              <a:t>INFLACIÓN-IPI</a:t>
            </a:r>
          </a:p>
        </p:txBody>
      </p:sp>
      <p:sp>
        <p:nvSpPr>
          <p:cNvPr id="398" name="Shape 398"/>
          <p:cNvSpPr txBox="1"/>
          <p:nvPr/>
        </p:nvSpPr>
        <p:spPr>
          <a:xfrm>
            <a:off x="304800" y="3716337"/>
            <a:ext cx="4724400" cy="4572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s-AR" sz="2400" u="none" cap="none" strike="noStrike">
                <a:solidFill>
                  <a:srgbClr val="FF0000"/>
                </a:solidFill>
                <a:latin typeface="Arial"/>
                <a:ea typeface="Arial"/>
                <a:cs typeface="Arial"/>
                <a:sym typeface="Arial"/>
              </a:rPr>
              <a:t> </a:t>
            </a:r>
          </a:p>
        </p:txBody>
      </p:sp>
      <p:sp>
        <p:nvSpPr>
          <p:cNvPr id="399" name="Shape 399"/>
          <p:cNvSpPr txBox="1"/>
          <p:nvPr/>
        </p:nvSpPr>
        <p:spPr>
          <a:xfrm>
            <a:off x="152400" y="1536700"/>
            <a:ext cx="6096000" cy="1739899"/>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Calcula en precios del año actual la cantidad de dinero que precisaría un consumidor para comprar una canasta de bienes elegida en el año actual, dividida por el costo de comprar idéntica canasta en un año base. </a:t>
            </a:r>
          </a:p>
          <a:p>
            <a:pPr indent="0" lvl="0" marL="0" marR="0" rtl="0" algn="l">
              <a:lnSpc>
                <a:spcPct val="100000"/>
              </a:lnSpc>
              <a:spcBef>
                <a:spcPts val="0"/>
              </a:spcBef>
              <a:spcAft>
                <a:spcPts val="0"/>
              </a:spcAft>
              <a:buClr>
                <a:schemeClr val="dk1"/>
              </a:buClr>
              <a:buSzPct val="25000"/>
              <a:buFont typeface="Arial"/>
              <a:buNone/>
            </a:pPr>
            <a:br>
              <a:rPr b="0" i="0" lang="es-AR" sz="1800" u="none" cap="none" strike="noStrike">
                <a:solidFill>
                  <a:schemeClr val="dk1"/>
                </a:solidFill>
                <a:latin typeface="Arial"/>
                <a:ea typeface="Arial"/>
                <a:cs typeface="Arial"/>
                <a:sym typeface="Arial"/>
              </a:rPr>
            </a:br>
            <a:r>
              <a:rPr b="0" i="0" lang="es-AR" sz="1800" u="none" cap="none" strike="noStrike">
                <a:solidFill>
                  <a:schemeClr val="dk1"/>
                </a:solidFill>
                <a:latin typeface="Arial"/>
                <a:ea typeface="Arial"/>
                <a:cs typeface="Arial"/>
                <a:sym typeface="Arial"/>
              </a:rPr>
              <a:t>Fue desarrolado por PAASCHE, Hermann (1851-1925)</a:t>
            </a:r>
          </a:p>
        </p:txBody>
      </p:sp>
      <p:pic>
        <p:nvPicPr>
          <p:cNvPr id="400" name="Shape 400"/>
          <p:cNvPicPr preferRelativeResize="0"/>
          <p:nvPr/>
        </p:nvPicPr>
        <p:blipFill rotWithShape="1">
          <a:blip r:embed="rId6">
            <a:alphaModFix/>
          </a:blip>
          <a:srcRect b="0" l="0" r="0" t="0"/>
          <a:stretch/>
        </p:blipFill>
        <p:spPr>
          <a:xfrm>
            <a:off x="6694486" y="1600200"/>
            <a:ext cx="2144712" cy="2666999"/>
          </a:xfrm>
          <a:prstGeom prst="rect">
            <a:avLst/>
          </a:prstGeom>
          <a:noFill/>
          <a:ln>
            <a:noFill/>
          </a:ln>
        </p:spPr>
      </p:pic>
      <p:pic>
        <p:nvPicPr>
          <p:cNvPr id="401" name="Shape 401"/>
          <p:cNvPicPr preferRelativeResize="0"/>
          <p:nvPr/>
        </p:nvPicPr>
        <p:blipFill rotWithShape="1">
          <a:blip r:embed="rId7">
            <a:alphaModFix/>
          </a:blip>
          <a:srcRect b="0" l="0" r="0" t="0"/>
          <a:stretch/>
        </p:blipFill>
        <p:spPr>
          <a:xfrm>
            <a:off x="609600" y="3289300"/>
            <a:ext cx="2792412" cy="1054100"/>
          </a:xfrm>
          <a:prstGeom prst="rect">
            <a:avLst/>
          </a:prstGeom>
          <a:noFill/>
          <a:ln>
            <a:noFill/>
          </a:ln>
        </p:spPr>
      </p:pic>
      <p:sp>
        <p:nvSpPr>
          <p:cNvPr id="402" name="Shape 402"/>
          <p:cNvSpPr txBox="1"/>
          <p:nvPr/>
        </p:nvSpPr>
        <p:spPr>
          <a:xfrm>
            <a:off x="381000" y="4665662"/>
            <a:ext cx="8312150" cy="1889125"/>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Verdana"/>
              <a:buNone/>
            </a:pPr>
            <a:r>
              <a:rPr b="1" i="0" lang="es-AR" sz="2400" u="none" cap="none" strike="noStrike">
                <a:solidFill>
                  <a:schemeClr val="dk1"/>
                </a:solidFill>
                <a:latin typeface="Verdana"/>
                <a:ea typeface="Verdana"/>
                <a:cs typeface="Verdana"/>
                <a:sym typeface="Verdana"/>
              </a:rPr>
              <a:t>IPI</a:t>
            </a:r>
            <a:r>
              <a:rPr b="1" baseline="-25000" i="0" lang="es-AR" sz="2400" u="none" cap="none" strike="noStrike">
                <a:solidFill>
                  <a:schemeClr val="dk1"/>
                </a:solidFill>
                <a:latin typeface="Verdana"/>
                <a:ea typeface="Verdana"/>
                <a:cs typeface="Verdana"/>
                <a:sym typeface="Verdana"/>
              </a:rPr>
              <a:t>N </a:t>
            </a:r>
            <a:r>
              <a:rPr b="1" i="0" lang="es-AR" sz="2400" u="none" cap="none" strike="noStrike">
                <a:solidFill>
                  <a:schemeClr val="dk1"/>
                </a:solidFill>
                <a:latin typeface="Verdana"/>
                <a:ea typeface="Verdana"/>
                <a:cs typeface="Verdana"/>
                <a:sym typeface="Verdana"/>
              </a:rPr>
              <a:t>= </a:t>
            </a:r>
            <a:r>
              <a:rPr b="1" i="0" lang="es-AR" sz="2400" u="none" cap="none" strike="noStrike">
                <a:solidFill>
                  <a:schemeClr val="dk1"/>
                </a:solidFill>
                <a:latin typeface="Arial"/>
                <a:ea typeface="Arial"/>
                <a:cs typeface="Arial"/>
                <a:sym typeface="Arial"/>
              </a:rPr>
              <a:t>(ΣQ</a:t>
            </a:r>
            <a:r>
              <a:rPr b="1" baseline="-25000" i="0" lang="es-AR" sz="2400" u="none" cap="none" strike="noStrike">
                <a:solidFill>
                  <a:schemeClr val="dk1"/>
                </a:solidFill>
                <a:latin typeface="Arial"/>
                <a:ea typeface="Arial"/>
                <a:cs typeface="Arial"/>
                <a:sym typeface="Arial"/>
              </a:rPr>
              <a:t>N</a:t>
            </a:r>
            <a:r>
              <a:rPr b="1" i="0" lang="es-AR" sz="2400" u="none" cap="none" strike="noStrike">
                <a:solidFill>
                  <a:schemeClr val="dk1"/>
                </a:solidFill>
                <a:latin typeface="Arial"/>
                <a:ea typeface="Arial"/>
                <a:cs typeface="Arial"/>
                <a:sym typeface="Arial"/>
              </a:rPr>
              <a:t>* P</a:t>
            </a:r>
            <a:r>
              <a:rPr b="1" baseline="-25000" i="0" lang="es-AR" sz="2400" u="none" cap="none" strike="noStrike">
                <a:solidFill>
                  <a:schemeClr val="dk1"/>
                </a:solidFill>
                <a:latin typeface="Arial"/>
                <a:ea typeface="Arial"/>
                <a:cs typeface="Arial"/>
                <a:sym typeface="Arial"/>
              </a:rPr>
              <a:t>N </a:t>
            </a:r>
            <a:r>
              <a:rPr b="1" i="0" lang="es-AR" sz="2400" u="none" cap="none" strike="noStrike">
                <a:solidFill>
                  <a:schemeClr val="dk1"/>
                </a:solidFill>
                <a:latin typeface="Arial"/>
                <a:ea typeface="Arial"/>
                <a:cs typeface="Arial"/>
                <a:sym typeface="Arial"/>
              </a:rPr>
              <a:t>/ ΣQ</a:t>
            </a:r>
            <a:r>
              <a:rPr b="1" baseline="-25000" i="0" lang="es-AR" sz="2400" u="none" cap="none" strike="noStrike">
                <a:solidFill>
                  <a:schemeClr val="dk1"/>
                </a:solidFill>
                <a:latin typeface="Arial"/>
                <a:ea typeface="Arial"/>
                <a:cs typeface="Arial"/>
                <a:sym typeface="Arial"/>
              </a:rPr>
              <a:t>N</a:t>
            </a:r>
            <a:r>
              <a:rPr b="1" i="0" lang="es-AR" sz="2400" u="none" cap="none" strike="noStrike">
                <a:solidFill>
                  <a:schemeClr val="dk1"/>
                </a:solidFill>
                <a:latin typeface="Arial"/>
                <a:ea typeface="Arial"/>
                <a:cs typeface="Arial"/>
                <a:sym typeface="Arial"/>
              </a:rPr>
              <a:t>* P</a:t>
            </a:r>
            <a:r>
              <a:rPr b="1" baseline="-25000" i="0" lang="es-AR" sz="2400" u="none" cap="none" strike="noStrike">
                <a:solidFill>
                  <a:schemeClr val="dk1"/>
                </a:solidFill>
                <a:latin typeface="Arial"/>
                <a:ea typeface="Arial"/>
                <a:cs typeface="Arial"/>
                <a:sym typeface="Arial"/>
              </a:rPr>
              <a:t>0</a:t>
            </a:r>
            <a:r>
              <a:rPr b="1" i="0" lang="es-AR" sz="2400" u="none" cap="none" strike="noStrike">
                <a:solidFill>
                  <a:schemeClr val="dk1"/>
                </a:solidFill>
                <a:latin typeface="Arial"/>
                <a:ea typeface="Arial"/>
                <a:cs typeface="Arial"/>
                <a:sym typeface="Arial"/>
              </a:rPr>
              <a:t>)*100</a:t>
            </a:r>
            <a:r>
              <a:rPr b="1" i="0" lang="es-AR" sz="2400" u="none" cap="none" strike="noStrike">
                <a:solidFill>
                  <a:schemeClr val="dk1"/>
                </a:solidFill>
                <a:latin typeface="Verdana"/>
                <a:ea typeface="Verdana"/>
                <a:cs typeface="Verdana"/>
                <a:sym typeface="Verdana"/>
              </a:rPr>
              <a:t> = </a:t>
            </a:r>
            <a:r>
              <a:rPr b="1" i="0" lang="es-AR" sz="2400" u="none" cap="none" strike="noStrike">
                <a:solidFill>
                  <a:srgbClr val="FF0000"/>
                </a:solidFill>
                <a:latin typeface="Verdana"/>
                <a:ea typeface="Verdana"/>
                <a:cs typeface="Verdana"/>
                <a:sym typeface="Verdana"/>
              </a:rPr>
              <a:t>¿?</a:t>
            </a:r>
          </a:p>
          <a:p>
            <a:pPr indent="0" lvl="0" marL="0" marR="0" rtl="0" algn="l">
              <a:lnSpc>
                <a:spcPct val="100000"/>
              </a:lnSpc>
              <a:spcBef>
                <a:spcPts val="840"/>
              </a:spcBef>
              <a:spcAft>
                <a:spcPts val="0"/>
              </a:spcAft>
              <a:buClr>
                <a:schemeClr val="dk1"/>
              </a:buClr>
              <a:buSzPct val="25000"/>
              <a:buFont typeface="Verdana"/>
              <a:buNone/>
            </a:pPr>
            <a:r>
              <a:rPr b="1" i="0" lang="es-AR" sz="2400" u="none" cap="none" strike="noStrike">
                <a:solidFill>
                  <a:schemeClr val="dk1"/>
                </a:solidFill>
                <a:latin typeface="Verdana"/>
                <a:ea typeface="Verdana"/>
                <a:cs typeface="Verdana"/>
                <a:sym typeface="Verdana"/>
              </a:rPr>
              <a:t>IPI</a:t>
            </a:r>
            <a:r>
              <a:rPr b="1" baseline="-25000" i="0" lang="es-AR" sz="2400" u="none" cap="none" strike="noStrike">
                <a:solidFill>
                  <a:schemeClr val="dk1"/>
                </a:solidFill>
                <a:latin typeface="Verdana"/>
                <a:ea typeface="Verdana"/>
                <a:cs typeface="Verdana"/>
                <a:sym typeface="Verdana"/>
              </a:rPr>
              <a:t>0 </a:t>
            </a:r>
            <a:r>
              <a:rPr b="1" i="0" lang="es-AR" sz="2400" u="none" cap="none" strike="noStrike">
                <a:solidFill>
                  <a:schemeClr val="dk1"/>
                </a:solidFill>
                <a:latin typeface="Verdana"/>
                <a:ea typeface="Verdana"/>
                <a:cs typeface="Verdana"/>
                <a:sym typeface="Verdana"/>
              </a:rPr>
              <a:t>= </a:t>
            </a:r>
            <a:r>
              <a:rPr b="1" i="0" lang="es-AR" sz="2400" u="none" cap="none" strike="noStrike">
                <a:solidFill>
                  <a:schemeClr val="dk1"/>
                </a:solidFill>
                <a:latin typeface="Arial"/>
                <a:ea typeface="Arial"/>
                <a:cs typeface="Arial"/>
                <a:sym typeface="Arial"/>
              </a:rPr>
              <a:t>ΣQ</a:t>
            </a:r>
            <a:r>
              <a:rPr b="1" baseline="-25000" i="0" lang="es-AR" sz="2400" u="none" cap="none" strike="noStrike">
                <a:solidFill>
                  <a:schemeClr val="dk1"/>
                </a:solidFill>
                <a:latin typeface="Arial"/>
                <a:ea typeface="Arial"/>
                <a:cs typeface="Arial"/>
                <a:sym typeface="Arial"/>
              </a:rPr>
              <a:t>N</a:t>
            </a:r>
            <a:r>
              <a:rPr b="1" i="0" lang="es-AR" sz="2400" u="none" cap="none" strike="noStrike">
                <a:solidFill>
                  <a:schemeClr val="dk1"/>
                </a:solidFill>
                <a:latin typeface="Arial"/>
                <a:ea typeface="Arial"/>
                <a:cs typeface="Arial"/>
                <a:sym typeface="Arial"/>
              </a:rPr>
              <a:t>* P</a:t>
            </a:r>
            <a:r>
              <a:rPr b="1" baseline="-25000" i="0" lang="es-AR" sz="2400" u="none" cap="none" strike="noStrike">
                <a:solidFill>
                  <a:schemeClr val="dk1"/>
                </a:solidFill>
                <a:latin typeface="Arial"/>
                <a:ea typeface="Arial"/>
                <a:cs typeface="Arial"/>
                <a:sym typeface="Arial"/>
              </a:rPr>
              <a:t>0</a:t>
            </a:r>
            <a:r>
              <a:rPr b="1" i="0" lang="es-AR" sz="2400" u="none" cap="none" strike="noStrike">
                <a:solidFill>
                  <a:schemeClr val="dk1"/>
                </a:solidFill>
                <a:latin typeface="Arial"/>
                <a:ea typeface="Arial"/>
                <a:cs typeface="Arial"/>
                <a:sym typeface="Arial"/>
              </a:rPr>
              <a:t> = </a:t>
            </a:r>
            <a:r>
              <a:rPr b="1" i="0" lang="es-AR" sz="2400" u="none" cap="none" strike="noStrike">
                <a:solidFill>
                  <a:srgbClr val="FF0000"/>
                </a:solidFill>
                <a:latin typeface="Arial"/>
                <a:ea typeface="Arial"/>
                <a:cs typeface="Arial"/>
                <a:sym typeface="Arial"/>
              </a:rPr>
              <a:t>100</a:t>
            </a:r>
          </a:p>
          <a:p>
            <a:pPr indent="0" lvl="0" marL="0" marR="0" rtl="0" algn="l">
              <a:lnSpc>
                <a:spcPct val="100000"/>
              </a:lnSpc>
              <a:spcBef>
                <a:spcPts val="750"/>
              </a:spcBef>
              <a:spcAft>
                <a:spcPts val="360"/>
              </a:spcAft>
              <a:buClr>
                <a:schemeClr val="dk1"/>
              </a:buClr>
              <a:buSzPct val="25000"/>
              <a:buFont typeface="Arial"/>
              <a:buNone/>
            </a:pPr>
            <a:r>
              <a:rPr b="0" i="0" lang="es-AR" sz="1800" u="none" cap="none" strike="noStrike">
                <a:solidFill>
                  <a:schemeClr val="dk1"/>
                </a:solidFill>
                <a:latin typeface="Arial"/>
                <a:ea typeface="Arial"/>
                <a:cs typeface="Arial"/>
                <a:sym typeface="Arial"/>
              </a:rPr>
              <a:t>El deflactor del PIB (IPI), mide el nivel de los precios (%) de todos los bienes y servicios que componen el PIB de una economía. </a:t>
            </a:r>
            <a:br>
              <a:rPr b="0" i="0" lang="es-AR" sz="1800" u="none" cap="none" strike="noStrike">
                <a:solidFill>
                  <a:schemeClr val="dk1"/>
                </a:solidFill>
                <a:latin typeface="Arial"/>
                <a:ea typeface="Arial"/>
                <a:cs typeface="Arial"/>
                <a:sym typeface="Arial"/>
              </a:rPr>
            </a:br>
            <a:r>
              <a:rPr b="0" i="0" lang="es-AR" sz="1800" u="none" cap="none" strike="noStrike">
                <a:solidFill>
                  <a:schemeClr val="dk1"/>
                </a:solidFill>
                <a:latin typeface="Arial"/>
                <a:ea typeface="Arial"/>
                <a:cs typeface="Arial"/>
                <a:sym typeface="Arial"/>
              </a:rPr>
              <a:t>.  </a:t>
            </a:r>
          </a:p>
        </p:txBody>
      </p:sp>
    </p:spTree>
  </p:cSld>
  <p:clrMapOvr>
    <a:masterClrMapping/>
  </p:clrMapOvr>
  <p:transition spd="slow">
    <p:cut/>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06" name="Shape 406"/>
        <p:cNvGrpSpPr/>
        <p:nvPr/>
      </p:nvGrpSpPr>
      <p:grpSpPr>
        <a:xfrm>
          <a:off x="0" y="0"/>
          <a:ext cx="0" cy="0"/>
          <a:chOff x="0" y="0"/>
          <a:chExt cx="0" cy="0"/>
        </a:xfrm>
      </p:grpSpPr>
      <p:pic>
        <p:nvPicPr>
          <p:cNvPr id="407" name="Shape 407"/>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408" name="Shape 408"/>
          <p:cNvPicPr preferRelativeResize="0"/>
          <p:nvPr/>
        </p:nvPicPr>
        <p:blipFill rotWithShape="1">
          <a:blip r:embed="rId4">
            <a:alphaModFix/>
          </a:blip>
          <a:srcRect b="0" l="0" r="0" t="0"/>
          <a:stretch/>
        </p:blipFill>
        <p:spPr>
          <a:xfrm>
            <a:off x="247650" y="1600200"/>
            <a:ext cx="8626474" cy="4953000"/>
          </a:xfrm>
          <a:prstGeom prst="rect">
            <a:avLst/>
          </a:prstGeom>
          <a:noFill/>
          <a:ln>
            <a:noFill/>
          </a:ln>
        </p:spPr>
      </p:pic>
      <p:pic>
        <p:nvPicPr>
          <p:cNvPr id="409" name="Shape 409"/>
          <p:cNvPicPr preferRelativeResize="0"/>
          <p:nvPr/>
        </p:nvPicPr>
        <p:blipFill rotWithShape="1">
          <a:blip r:embed="rId5">
            <a:alphaModFix/>
          </a:blip>
          <a:srcRect b="0" l="0" r="0" t="0"/>
          <a:stretch/>
        </p:blipFill>
        <p:spPr>
          <a:xfrm>
            <a:off x="263525" y="306387"/>
            <a:ext cx="3013074" cy="608011"/>
          </a:xfrm>
          <a:prstGeom prst="rect">
            <a:avLst/>
          </a:prstGeom>
          <a:noFill/>
          <a:ln>
            <a:noFill/>
          </a:ln>
        </p:spPr>
      </p:pic>
      <p:sp>
        <p:nvSpPr>
          <p:cNvPr id="410" name="Shape 410"/>
          <p:cNvSpPr txBox="1"/>
          <p:nvPr/>
        </p:nvSpPr>
        <p:spPr>
          <a:xfrm>
            <a:off x="3402012" y="300037"/>
            <a:ext cx="5570536" cy="498475"/>
          </a:xfrm>
          <a:prstGeom prst="rect">
            <a:avLst/>
          </a:prstGeom>
          <a:noFill/>
          <a:ln>
            <a:noFill/>
          </a:ln>
        </p:spPr>
        <p:txBody>
          <a:bodyPr anchorCtr="0" anchor="t" bIns="45700" lIns="91425" rIns="91425" tIns="45700">
            <a:noAutofit/>
          </a:bodyPr>
          <a:lstStyle/>
          <a:p>
            <a:pPr indent="0" lvl="0" marL="0" marR="0" rtl="0" algn="ctr">
              <a:lnSpc>
                <a:spcPct val="95000"/>
              </a:lnSpc>
              <a:spcBef>
                <a:spcPts val="0"/>
              </a:spcBef>
              <a:spcAft>
                <a:spcPts val="560"/>
              </a:spcAft>
              <a:buClr>
                <a:srgbClr val="BB4F59"/>
              </a:buClr>
              <a:buSzPct val="25000"/>
              <a:buFont typeface="Arial"/>
              <a:buNone/>
            </a:pPr>
            <a:r>
              <a:rPr b="1" i="0" lang="es-AR" sz="2800" u="none" cap="none" strike="noStrike">
                <a:solidFill>
                  <a:srgbClr val="BB4F59"/>
                </a:solidFill>
                <a:latin typeface="Arial"/>
                <a:ea typeface="Arial"/>
                <a:cs typeface="Arial"/>
                <a:sym typeface="Arial"/>
              </a:rPr>
              <a:t>TIPOS DE INFLACIÓN</a:t>
            </a:r>
          </a:p>
        </p:txBody>
      </p:sp>
      <p:sp>
        <p:nvSpPr>
          <p:cNvPr id="411" name="Shape 411"/>
          <p:cNvSpPr txBox="1"/>
          <p:nvPr/>
        </p:nvSpPr>
        <p:spPr>
          <a:xfrm>
            <a:off x="304800" y="3716337"/>
            <a:ext cx="4724400" cy="4572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s-AR" sz="2400" u="none" cap="none" strike="noStrike">
                <a:solidFill>
                  <a:srgbClr val="FF0000"/>
                </a:solidFill>
                <a:latin typeface="Arial"/>
                <a:ea typeface="Arial"/>
                <a:cs typeface="Arial"/>
                <a:sym typeface="Arial"/>
              </a:rPr>
              <a:t> </a:t>
            </a:r>
          </a:p>
        </p:txBody>
      </p:sp>
      <p:sp>
        <p:nvSpPr>
          <p:cNvPr id="412" name="Shape 412"/>
          <p:cNvSpPr txBox="1"/>
          <p:nvPr/>
        </p:nvSpPr>
        <p:spPr>
          <a:xfrm>
            <a:off x="228600" y="1658936"/>
            <a:ext cx="7696199" cy="64135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MODERADA</a:t>
            </a:r>
          </a:p>
          <a:p>
            <a:pPr indent="0" lvl="0" marL="0" marR="0" rtl="0" algn="l">
              <a:lnSpc>
                <a:spcPct val="100000"/>
              </a:lnSpc>
              <a:spcBef>
                <a:spcPts val="0"/>
              </a:spcBef>
              <a:spcAft>
                <a:spcPts val="0"/>
              </a:spcAft>
              <a:buClr>
                <a:schemeClr val="hlink"/>
              </a:buClr>
              <a:buSzPct val="25000"/>
              <a:buFont typeface="Arial"/>
              <a:buNone/>
            </a:pPr>
            <a:r>
              <a:rPr b="0" i="0" lang="es-AR" sz="1800" u="none" cap="none" strike="noStrike">
                <a:solidFill>
                  <a:schemeClr val="hlink"/>
                </a:solidFill>
                <a:latin typeface="Arial"/>
                <a:ea typeface="Arial"/>
                <a:cs typeface="Arial"/>
                <a:sym typeface="Arial"/>
              </a:rPr>
              <a:t>Se refiere al incremento de forma lenta de los precios. </a:t>
            </a:r>
          </a:p>
        </p:txBody>
      </p:sp>
      <p:pic>
        <p:nvPicPr>
          <p:cNvPr id="413" name="Shape 413"/>
          <p:cNvPicPr preferRelativeResize="0"/>
          <p:nvPr/>
        </p:nvPicPr>
        <p:blipFill rotWithShape="1">
          <a:blip r:embed="rId6">
            <a:alphaModFix/>
          </a:blip>
          <a:srcRect b="0" l="0" r="0" t="0"/>
          <a:stretch/>
        </p:blipFill>
        <p:spPr>
          <a:xfrm>
            <a:off x="6477000" y="2819400"/>
            <a:ext cx="1647824" cy="1627186"/>
          </a:xfrm>
          <a:prstGeom prst="rect">
            <a:avLst/>
          </a:prstGeom>
          <a:noFill/>
          <a:ln>
            <a:noFill/>
          </a:ln>
        </p:spPr>
      </p:pic>
      <p:pic>
        <p:nvPicPr>
          <p:cNvPr id="414" name="Shape 414"/>
          <p:cNvPicPr preferRelativeResize="0"/>
          <p:nvPr/>
        </p:nvPicPr>
        <p:blipFill rotWithShape="1">
          <a:blip r:embed="rId7">
            <a:alphaModFix/>
          </a:blip>
          <a:srcRect b="0" l="0" r="0" t="0"/>
          <a:stretch/>
        </p:blipFill>
        <p:spPr>
          <a:xfrm>
            <a:off x="5715000" y="4876800"/>
            <a:ext cx="3159125" cy="1643062"/>
          </a:xfrm>
          <a:prstGeom prst="rect">
            <a:avLst/>
          </a:prstGeom>
          <a:noFill/>
          <a:ln>
            <a:noFill/>
          </a:ln>
        </p:spPr>
      </p:pic>
      <p:sp>
        <p:nvSpPr>
          <p:cNvPr id="415" name="Shape 415"/>
          <p:cNvSpPr txBox="1"/>
          <p:nvPr/>
        </p:nvSpPr>
        <p:spPr>
          <a:xfrm>
            <a:off x="228600" y="4648200"/>
            <a:ext cx="5486399" cy="2014536"/>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 </a:t>
            </a:r>
            <a:r>
              <a:rPr b="1" i="0" lang="es-AR" sz="1800" u="none" cap="none" strike="noStrike">
                <a:solidFill>
                  <a:srgbClr val="E9256B"/>
                </a:solidFill>
                <a:latin typeface="Arial"/>
                <a:ea typeface="Arial"/>
                <a:cs typeface="Arial"/>
                <a:sym typeface="Arial"/>
              </a:rPr>
              <a:t>HIPERINFLACIÓN</a:t>
            </a:r>
          </a:p>
          <a:p>
            <a:pPr indent="0" lvl="0" marL="0" marR="0" rtl="0" algn="l">
              <a:lnSpc>
                <a:spcPct val="100000"/>
              </a:lnSpc>
              <a:spcBef>
                <a:spcPts val="0"/>
              </a:spcBef>
              <a:spcAft>
                <a:spcPts val="0"/>
              </a:spcAft>
              <a:buClr>
                <a:srgbClr val="BB4F59"/>
              </a:buClr>
              <a:buSzPct val="25000"/>
              <a:buFont typeface="Arial"/>
              <a:buNone/>
            </a:pPr>
            <a:r>
              <a:rPr b="0" i="0" lang="es-AR" sz="1800" u="none" cap="none" strike="noStrike">
                <a:solidFill>
                  <a:srgbClr val="BB4F59"/>
                </a:solidFill>
                <a:latin typeface="Arial"/>
                <a:ea typeface="Arial"/>
                <a:cs typeface="Arial"/>
                <a:sym typeface="Arial"/>
              </a:rPr>
              <a:t>Situación de una economía en la que la tasa de inflación crece a un ritmo vertiginoso, alcanzando incluso mas de 1.000 % anual, lo que provoca la caída precipitada del poder adquisitivo y los intentos de deshacerse del efectivo antes de que pierda totalmente su valor.</a:t>
            </a:r>
            <a:r>
              <a:rPr b="0" i="0" lang="es-AR" sz="1800" u="none" cap="none" strike="noStrike">
                <a:solidFill>
                  <a:schemeClr val="dk1"/>
                </a:solidFill>
                <a:latin typeface="Arial"/>
                <a:ea typeface="Arial"/>
                <a:cs typeface="Arial"/>
                <a:sym typeface="Arial"/>
              </a:rPr>
              <a:t> </a:t>
            </a:r>
          </a:p>
        </p:txBody>
      </p:sp>
      <p:sp>
        <p:nvSpPr>
          <p:cNvPr id="416" name="Shape 416"/>
          <p:cNvSpPr txBox="1"/>
          <p:nvPr/>
        </p:nvSpPr>
        <p:spPr>
          <a:xfrm>
            <a:off x="228600" y="2514600"/>
            <a:ext cx="5486399" cy="2289174"/>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s-AR" sz="1800" u="none" cap="none" strike="noStrike">
                <a:solidFill>
                  <a:srgbClr val="FF0000"/>
                </a:solidFill>
                <a:latin typeface="Arial"/>
                <a:ea typeface="Arial"/>
                <a:cs typeface="Arial"/>
                <a:sym typeface="Arial"/>
              </a:rPr>
              <a:t>GALOPANTE</a:t>
            </a:r>
          </a:p>
          <a:p>
            <a:pPr indent="0" lvl="0" marL="0" marR="0" rtl="0" algn="l">
              <a:lnSpc>
                <a:spcPct val="100000"/>
              </a:lnSpc>
              <a:spcBef>
                <a:spcPts val="0"/>
              </a:spcBef>
              <a:spcAft>
                <a:spcPts val="0"/>
              </a:spcAft>
              <a:buClr>
                <a:srgbClr val="FF0000"/>
              </a:buClr>
              <a:buSzPct val="25000"/>
              <a:buFont typeface="Arial"/>
              <a:buNone/>
            </a:pPr>
            <a:r>
              <a:rPr b="0" i="0" lang="es-AR" sz="1800" u="none" cap="none" strike="noStrike">
                <a:solidFill>
                  <a:srgbClr val="FF0000"/>
                </a:solidFill>
                <a:latin typeface="Arial"/>
                <a:ea typeface="Arial"/>
                <a:cs typeface="Arial"/>
                <a:sym typeface="Arial"/>
              </a:rPr>
              <a:t>La condición en la cual una economía tiene un nivel de precios que crece mas del 20% anual, el razonamiento es que ese umbral indica que existe una incapacidad por parte de los ejecutores de la política económica para resolver las contradictorias demandas sociales sobre el ingreso nacional</a:t>
            </a:r>
            <a:r>
              <a:rPr b="0" i="0" lang="es-AR" sz="1800" u="none" cap="none" strike="noStrike">
                <a:solidFill>
                  <a:schemeClr val="dk1"/>
                </a:solidFill>
                <a:latin typeface="Arial"/>
                <a:ea typeface="Arial"/>
                <a:cs typeface="Arial"/>
                <a:sym typeface="Arial"/>
              </a:rPr>
              <a:t>.</a:t>
            </a:r>
          </a:p>
          <a:p>
            <a:pPr indent="0" lvl="0" marL="0" marR="0" rtl="0" algn="l">
              <a:lnSpc>
                <a:spcPct val="100000"/>
              </a:lnSpc>
              <a:spcBef>
                <a:spcPts val="0"/>
              </a:spcBef>
              <a:spcAft>
                <a:spcPts val="0"/>
              </a:spcAft>
              <a:buClr>
                <a:srgbClr val="E9256B"/>
              </a:buClr>
              <a:buSzPct val="25000"/>
              <a:buFont typeface="Arial"/>
              <a:buNone/>
            </a:pPr>
            <a:r>
              <a:rPr b="1" i="0" lang="es-AR" sz="1800" u="none" cap="none" strike="noStrike">
                <a:solidFill>
                  <a:srgbClr val="E9256B"/>
                </a:solidFill>
                <a:latin typeface="Arial"/>
                <a:ea typeface="Arial"/>
                <a:cs typeface="Arial"/>
                <a:sym typeface="Arial"/>
              </a:rPr>
              <a:t> </a:t>
            </a:r>
          </a:p>
        </p:txBody>
      </p:sp>
    </p:spTree>
  </p:cSld>
  <p:clrMapOvr>
    <a:masterClrMapping/>
  </p:clrMapOvr>
  <p:transition spd="slow">
    <p:cut/>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20" name="Shape 420"/>
        <p:cNvGrpSpPr/>
        <p:nvPr/>
      </p:nvGrpSpPr>
      <p:grpSpPr>
        <a:xfrm>
          <a:off x="0" y="0"/>
          <a:ext cx="0" cy="0"/>
          <a:chOff x="0" y="0"/>
          <a:chExt cx="0" cy="0"/>
        </a:xfrm>
      </p:grpSpPr>
      <p:pic>
        <p:nvPicPr>
          <p:cNvPr id="421" name="Shape 421"/>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422" name="Shape 422"/>
          <p:cNvPicPr preferRelativeResize="0"/>
          <p:nvPr/>
        </p:nvPicPr>
        <p:blipFill rotWithShape="1">
          <a:blip r:embed="rId4">
            <a:alphaModFix/>
          </a:blip>
          <a:srcRect b="0" l="0" r="0" t="0"/>
          <a:stretch/>
        </p:blipFill>
        <p:spPr>
          <a:xfrm>
            <a:off x="228600" y="1600200"/>
            <a:ext cx="8626474" cy="4953000"/>
          </a:xfrm>
          <a:prstGeom prst="rect">
            <a:avLst/>
          </a:prstGeom>
          <a:noFill/>
          <a:ln>
            <a:noFill/>
          </a:ln>
        </p:spPr>
      </p:pic>
      <p:pic>
        <p:nvPicPr>
          <p:cNvPr id="423" name="Shape 423"/>
          <p:cNvPicPr preferRelativeResize="0"/>
          <p:nvPr/>
        </p:nvPicPr>
        <p:blipFill rotWithShape="1">
          <a:blip r:embed="rId5">
            <a:alphaModFix/>
          </a:blip>
          <a:srcRect b="0" l="0" r="0" t="0"/>
          <a:stretch/>
        </p:blipFill>
        <p:spPr>
          <a:xfrm>
            <a:off x="263525" y="306387"/>
            <a:ext cx="3013074" cy="608011"/>
          </a:xfrm>
          <a:prstGeom prst="rect">
            <a:avLst/>
          </a:prstGeom>
          <a:noFill/>
          <a:ln>
            <a:noFill/>
          </a:ln>
        </p:spPr>
      </p:pic>
      <p:sp>
        <p:nvSpPr>
          <p:cNvPr id="424" name="Shape 424"/>
          <p:cNvSpPr txBox="1"/>
          <p:nvPr/>
        </p:nvSpPr>
        <p:spPr>
          <a:xfrm>
            <a:off x="3402012" y="300037"/>
            <a:ext cx="5570536" cy="498475"/>
          </a:xfrm>
          <a:prstGeom prst="rect">
            <a:avLst/>
          </a:prstGeom>
          <a:noFill/>
          <a:ln>
            <a:noFill/>
          </a:ln>
        </p:spPr>
        <p:txBody>
          <a:bodyPr anchorCtr="0" anchor="t" bIns="45700" lIns="91425" rIns="91425" tIns="45700">
            <a:noAutofit/>
          </a:bodyPr>
          <a:lstStyle/>
          <a:p>
            <a:pPr indent="0" lvl="0" marL="0" marR="0" rtl="0" algn="ctr">
              <a:lnSpc>
                <a:spcPct val="95000"/>
              </a:lnSpc>
              <a:spcBef>
                <a:spcPts val="0"/>
              </a:spcBef>
              <a:spcAft>
                <a:spcPts val="560"/>
              </a:spcAft>
              <a:buClr>
                <a:srgbClr val="BB4F59"/>
              </a:buClr>
              <a:buSzPct val="25000"/>
              <a:buFont typeface="Arial"/>
              <a:buNone/>
            </a:pPr>
            <a:r>
              <a:rPr b="1" i="0" lang="es-AR" sz="2800" u="none" cap="none" strike="noStrike">
                <a:solidFill>
                  <a:srgbClr val="BB4F59"/>
                </a:solidFill>
                <a:latin typeface="Arial"/>
                <a:ea typeface="Arial"/>
                <a:cs typeface="Arial"/>
                <a:sym typeface="Arial"/>
              </a:rPr>
              <a:t>CAUSAS DE INFLACIÓN</a:t>
            </a:r>
          </a:p>
        </p:txBody>
      </p:sp>
      <p:sp>
        <p:nvSpPr>
          <p:cNvPr id="425" name="Shape 425"/>
          <p:cNvSpPr txBox="1"/>
          <p:nvPr/>
        </p:nvSpPr>
        <p:spPr>
          <a:xfrm>
            <a:off x="304800" y="3716337"/>
            <a:ext cx="4724400" cy="4572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s-AR" sz="2400" u="none" cap="none" strike="noStrike">
                <a:solidFill>
                  <a:srgbClr val="FF0000"/>
                </a:solidFill>
                <a:latin typeface="Arial"/>
                <a:ea typeface="Arial"/>
                <a:cs typeface="Arial"/>
                <a:sym typeface="Arial"/>
              </a:rPr>
              <a:t> </a:t>
            </a:r>
          </a:p>
        </p:txBody>
      </p:sp>
      <p:sp>
        <p:nvSpPr>
          <p:cNvPr id="426" name="Shape 426"/>
          <p:cNvSpPr txBox="1"/>
          <p:nvPr/>
        </p:nvSpPr>
        <p:spPr>
          <a:xfrm>
            <a:off x="228600" y="5181600"/>
            <a:ext cx="5486399" cy="1525587"/>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s-AR" sz="2000" u="none" cap="none" strike="noStrike">
                <a:solidFill>
                  <a:schemeClr val="dk1"/>
                </a:solidFill>
                <a:latin typeface="Arial"/>
                <a:ea typeface="Arial"/>
                <a:cs typeface="Arial"/>
                <a:sym typeface="Arial"/>
              </a:rPr>
              <a:t>Inflación auto construida </a:t>
            </a:r>
          </a:p>
          <a:p>
            <a:pPr indent="0" lvl="0" marL="0" marR="0" rtl="0" algn="l">
              <a:lnSpc>
                <a:spcPct val="100000"/>
              </a:lnSpc>
              <a:spcBef>
                <a:spcPts val="0"/>
              </a:spcBef>
              <a:spcAft>
                <a:spcPts val="0"/>
              </a:spcAft>
              <a:buClr>
                <a:schemeClr val="dk1"/>
              </a:buClr>
              <a:buSzPct val="25000"/>
              <a:buFont typeface="Arial"/>
              <a:buNone/>
            </a:pPr>
            <a:r>
              <a:rPr b="1" i="1" lang="es-AR" sz="2000" u="none" cap="none" strike="noStrike">
                <a:solidFill>
                  <a:schemeClr val="dk1"/>
                </a:solidFill>
                <a:latin typeface="Arial"/>
                <a:ea typeface="Arial"/>
                <a:cs typeface="Arial"/>
                <a:sym typeface="Arial"/>
              </a:rPr>
              <a:t>(Build - in inflation).</a:t>
            </a:r>
          </a:p>
          <a:p>
            <a:pPr indent="0" lvl="0" marL="0" marR="0" rtl="0" algn="l">
              <a:lnSpc>
                <a:spcPct val="100000"/>
              </a:lnSpc>
              <a:spcBef>
                <a:spcPts val="0"/>
              </a:spcBef>
              <a:spcAft>
                <a:spcPts val="0"/>
              </a:spcAft>
              <a:buClr>
                <a:schemeClr val="dk1"/>
              </a:buClr>
              <a:buSzPct val="25000"/>
              <a:buFont typeface="Arial"/>
              <a:buNone/>
            </a:pPr>
            <a:r>
              <a:rPr b="1" i="0" lang="es-AR" sz="1800" u="none" cap="none" strike="noStrike">
                <a:solidFill>
                  <a:schemeClr val="dk1"/>
                </a:solidFill>
                <a:latin typeface="Arial"/>
                <a:ea typeface="Arial"/>
                <a:cs typeface="Arial"/>
                <a:sym typeface="Arial"/>
              </a:rPr>
              <a:t>Está ligada al hecho de que los agentes prevén aumentos futuros de precios y ajustan su conducta actual a esa previsión futura.</a:t>
            </a:r>
          </a:p>
        </p:txBody>
      </p:sp>
      <p:pic>
        <p:nvPicPr>
          <p:cNvPr id="427" name="Shape 427"/>
          <p:cNvPicPr preferRelativeResize="0"/>
          <p:nvPr/>
        </p:nvPicPr>
        <p:blipFill rotWithShape="1">
          <a:blip r:embed="rId6">
            <a:alphaModFix/>
          </a:blip>
          <a:srcRect b="0" l="0" r="0" t="0"/>
          <a:stretch/>
        </p:blipFill>
        <p:spPr>
          <a:xfrm>
            <a:off x="5867400" y="1447800"/>
            <a:ext cx="2447925" cy="1635125"/>
          </a:xfrm>
          <a:prstGeom prst="rect">
            <a:avLst/>
          </a:prstGeom>
          <a:noFill/>
          <a:ln>
            <a:noFill/>
          </a:ln>
        </p:spPr>
      </p:pic>
      <p:pic>
        <p:nvPicPr>
          <p:cNvPr id="428" name="Shape 428"/>
          <p:cNvPicPr preferRelativeResize="0"/>
          <p:nvPr/>
        </p:nvPicPr>
        <p:blipFill rotWithShape="1">
          <a:blip r:embed="rId7">
            <a:alphaModFix/>
          </a:blip>
          <a:srcRect b="0" l="0" r="0" t="0"/>
          <a:stretch/>
        </p:blipFill>
        <p:spPr>
          <a:xfrm>
            <a:off x="6138862" y="3124200"/>
            <a:ext cx="2166936" cy="1625599"/>
          </a:xfrm>
          <a:prstGeom prst="rect">
            <a:avLst/>
          </a:prstGeom>
          <a:noFill/>
          <a:ln>
            <a:noFill/>
          </a:ln>
        </p:spPr>
      </p:pic>
      <p:pic>
        <p:nvPicPr>
          <p:cNvPr id="429" name="Shape 429"/>
          <p:cNvPicPr preferRelativeResize="0"/>
          <p:nvPr/>
        </p:nvPicPr>
        <p:blipFill rotWithShape="1">
          <a:blip r:embed="rId8">
            <a:alphaModFix/>
          </a:blip>
          <a:srcRect b="0" l="0" r="0" t="0"/>
          <a:stretch/>
        </p:blipFill>
        <p:spPr>
          <a:xfrm>
            <a:off x="5715000" y="4800600"/>
            <a:ext cx="3140074" cy="1933574"/>
          </a:xfrm>
          <a:prstGeom prst="rect">
            <a:avLst/>
          </a:prstGeom>
          <a:noFill/>
          <a:ln>
            <a:noFill/>
          </a:ln>
        </p:spPr>
      </p:pic>
      <p:sp>
        <p:nvSpPr>
          <p:cNvPr id="430" name="Shape 430"/>
          <p:cNvSpPr txBox="1"/>
          <p:nvPr/>
        </p:nvSpPr>
        <p:spPr>
          <a:xfrm>
            <a:off x="304800" y="1524000"/>
            <a:ext cx="5486399" cy="2074861"/>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s-AR" sz="2000" u="none" cap="none" strike="noStrike">
                <a:solidFill>
                  <a:srgbClr val="FF0000"/>
                </a:solidFill>
                <a:latin typeface="Arial"/>
                <a:ea typeface="Arial"/>
                <a:cs typeface="Arial"/>
                <a:sym typeface="Arial"/>
              </a:rPr>
              <a:t>Inflación de demanda </a:t>
            </a:r>
          </a:p>
          <a:p>
            <a:pPr indent="0" lvl="0" marL="0" marR="0" rtl="0" algn="l">
              <a:lnSpc>
                <a:spcPct val="100000"/>
              </a:lnSpc>
              <a:spcBef>
                <a:spcPts val="0"/>
              </a:spcBef>
              <a:spcAft>
                <a:spcPts val="0"/>
              </a:spcAft>
              <a:buClr>
                <a:srgbClr val="FF0000"/>
              </a:buClr>
              <a:buSzPct val="25000"/>
              <a:buFont typeface="Arial"/>
              <a:buNone/>
            </a:pPr>
            <a:r>
              <a:rPr b="1" i="1" lang="es-AR" sz="2000" u="none" cap="none" strike="noStrike">
                <a:solidFill>
                  <a:srgbClr val="FF0000"/>
                </a:solidFill>
                <a:latin typeface="Arial"/>
                <a:ea typeface="Arial"/>
                <a:cs typeface="Arial"/>
                <a:sym typeface="Arial"/>
              </a:rPr>
              <a:t>(Demand pull inflation).</a:t>
            </a:r>
          </a:p>
          <a:p>
            <a:pPr indent="0" lvl="0" marL="0" marR="0" rtl="0" algn="l">
              <a:lnSpc>
                <a:spcPct val="100000"/>
              </a:lnSpc>
              <a:spcBef>
                <a:spcPts val="0"/>
              </a:spcBef>
              <a:spcAft>
                <a:spcPts val="0"/>
              </a:spcAft>
              <a:buClr>
                <a:srgbClr val="FF0000"/>
              </a:buClr>
              <a:buSzPct val="25000"/>
              <a:buFont typeface="Arial"/>
              <a:buNone/>
            </a:pPr>
            <a:r>
              <a:rPr b="1" i="0" lang="es-AR" sz="1800" u="none" cap="none" strike="noStrike">
                <a:solidFill>
                  <a:srgbClr val="FF0000"/>
                </a:solidFill>
                <a:latin typeface="Arial"/>
                <a:ea typeface="Arial"/>
                <a:cs typeface="Arial"/>
                <a:sym typeface="Arial"/>
              </a:rPr>
              <a:t>Cuando la demanda general de bienes se incrementa, sin que el sector productivo haya tenido tiempo de adaptar la cantidad de bienes producidos a la demanda existente, también conocido como tirón de la demanda.</a:t>
            </a:r>
          </a:p>
        </p:txBody>
      </p:sp>
      <p:sp>
        <p:nvSpPr>
          <p:cNvPr id="431" name="Shape 431"/>
          <p:cNvSpPr txBox="1"/>
          <p:nvPr/>
        </p:nvSpPr>
        <p:spPr>
          <a:xfrm>
            <a:off x="228600" y="3686175"/>
            <a:ext cx="5486399" cy="1495424"/>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s-AR" sz="2000" u="none" cap="none" strike="noStrike">
                <a:solidFill>
                  <a:srgbClr val="FF0000"/>
                </a:solidFill>
                <a:latin typeface="Arial"/>
                <a:ea typeface="Arial"/>
                <a:cs typeface="Arial"/>
                <a:sym typeface="Arial"/>
              </a:rPr>
              <a:t> </a:t>
            </a:r>
            <a:r>
              <a:rPr b="1" i="1" lang="es-AR" sz="2000" u="none" cap="none" strike="noStrike">
                <a:solidFill>
                  <a:schemeClr val="hlink"/>
                </a:solidFill>
                <a:latin typeface="Arial"/>
                <a:ea typeface="Arial"/>
                <a:cs typeface="Arial"/>
                <a:sym typeface="Arial"/>
              </a:rPr>
              <a:t>Inflación de costos (Cost push inflation).</a:t>
            </a:r>
          </a:p>
          <a:p>
            <a:pPr indent="0" lvl="0" marL="0" marR="0" rtl="0" algn="l">
              <a:lnSpc>
                <a:spcPct val="100000"/>
              </a:lnSpc>
              <a:spcBef>
                <a:spcPts val="0"/>
              </a:spcBef>
              <a:spcAft>
                <a:spcPts val="0"/>
              </a:spcAft>
              <a:buClr>
                <a:schemeClr val="hlink"/>
              </a:buClr>
              <a:buSzPct val="25000"/>
              <a:buFont typeface="Arial"/>
              <a:buNone/>
            </a:pPr>
            <a:r>
              <a:rPr b="1" i="0" lang="es-AR" sz="1800" u="none" cap="none" strike="noStrike">
                <a:solidFill>
                  <a:schemeClr val="hlink"/>
                </a:solidFill>
                <a:latin typeface="Arial"/>
                <a:ea typeface="Arial"/>
                <a:cs typeface="Arial"/>
                <a:sym typeface="Arial"/>
              </a:rPr>
              <a:t>Cuando el costo de la mano de obra o las materias primas se encarece, y en un intento de mantener la tasa de beneficio los productores incrementan los precios.</a:t>
            </a:r>
          </a:p>
        </p:txBody>
      </p:sp>
    </p:spTree>
  </p:cSld>
  <p:clrMapOvr>
    <a:masterClrMapping/>
  </p:clrMapOvr>
  <p:transition spd="slow">
    <p:cut/>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35" name="Shape 435"/>
        <p:cNvGrpSpPr/>
        <p:nvPr/>
      </p:nvGrpSpPr>
      <p:grpSpPr>
        <a:xfrm>
          <a:off x="0" y="0"/>
          <a:ext cx="0" cy="0"/>
          <a:chOff x="0" y="0"/>
          <a:chExt cx="0" cy="0"/>
        </a:xfrm>
      </p:grpSpPr>
      <p:pic>
        <p:nvPicPr>
          <p:cNvPr id="436" name="Shape 436"/>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437" name="Shape 437"/>
          <p:cNvPicPr preferRelativeResize="0"/>
          <p:nvPr/>
        </p:nvPicPr>
        <p:blipFill rotWithShape="1">
          <a:blip r:embed="rId4">
            <a:alphaModFix/>
          </a:blip>
          <a:srcRect b="0" l="0" r="0" t="0"/>
          <a:stretch/>
        </p:blipFill>
        <p:spPr>
          <a:xfrm>
            <a:off x="307975" y="1601787"/>
            <a:ext cx="8226425" cy="4722812"/>
          </a:xfrm>
          <a:prstGeom prst="rect">
            <a:avLst/>
          </a:prstGeom>
          <a:noFill/>
          <a:ln>
            <a:noFill/>
          </a:ln>
        </p:spPr>
      </p:pic>
      <p:pic>
        <p:nvPicPr>
          <p:cNvPr id="438" name="Shape 438"/>
          <p:cNvPicPr preferRelativeResize="0"/>
          <p:nvPr/>
        </p:nvPicPr>
        <p:blipFill rotWithShape="1">
          <a:blip r:embed="rId5">
            <a:alphaModFix/>
          </a:blip>
          <a:srcRect b="0" l="0" r="0" t="0"/>
          <a:stretch/>
        </p:blipFill>
        <p:spPr>
          <a:xfrm>
            <a:off x="263525" y="306387"/>
            <a:ext cx="3013074" cy="608011"/>
          </a:xfrm>
          <a:prstGeom prst="rect">
            <a:avLst/>
          </a:prstGeom>
          <a:noFill/>
          <a:ln>
            <a:noFill/>
          </a:ln>
        </p:spPr>
      </p:pic>
      <p:sp>
        <p:nvSpPr>
          <p:cNvPr id="439" name="Shape 439"/>
          <p:cNvSpPr txBox="1"/>
          <p:nvPr/>
        </p:nvSpPr>
        <p:spPr>
          <a:xfrm>
            <a:off x="3344862" y="247650"/>
            <a:ext cx="5799136" cy="819150"/>
          </a:xfrm>
          <a:prstGeom prst="rect">
            <a:avLst/>
          </a:prstGeom>
          <a:noFill/>
          <a:ln>
            <a:noFill/>
          </a:ln>
        </p:spPr>
        <p:txBody>
          <a:bodyPr anchorCtr="0" anchor="t" bIns="45700" lIns="91425" rIns="91425" tIns="45700">
            <a:noAutofit/>
          </a:bodyPr>
          <a:lstStyle/>
          <a:p>
            <a:pPr indent="0" lvl="0" marL="0" marR="0" rtl="0" algn="ctr">
              <a:lnSpc>
                <a:spcPct val="85000"/>
              </a:lnSpc>
              <a:spcBef>
                <a:spcPts val="0"/>
              </a:spcBef>
              <a:spcAft>
                <a:spcPts val="560"/>
              </a:spcAft>
              <a:buClr>
                <a:srgbClr val="BB4F59"/>
              </a:buClr>
              <a:buSzPct val="25000"/>
              <a:buFont typeface="Arial"/>
              <a:buNone/>
            </a:pPr>
            <a:r>
              <a:rPr b="1" i="0" lang="es-AR" sz="2800" u="none" cap="none" strike="noStrike">
                <a:solidFill>
                  <a:srgbClr val="BB4F59"/>
                </a:solidFill>
                <a:latin typeface="Arial"/>
                <a:ea typeface="Arial"/>
                <a:cs typeface="Arial"/>
                <a:sym typeface="Arial"/>
              </a:rPr>
              <a:t>INFLACIÓN Y REDISTRIBUCIÓN DE RIQUEZAS </a:t>
            </a:r>
          </a:p>
        </p:txBody>
      </p:sp>
      <p:sp>
        <p:nvSpPr>
          <p:cNvPr id="440" name="Shape 440"/>
          <p:cNvSpPr txBox="1"/>
          <p:nvPr/>
        </p:nvSpPr>
        <p:spPr>
          <a:xfrm>
            <a:off x="304800" y="3716337"/>
            <a:ext cx="4724400" cy="4572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s-AR" sz="2400" u="none" cap="none" strike="noStrike">
                <a:solidFill>
                  <a:srgbClr val="FF0000"/>
                </a:solidFill>
                <a:latin typeface="Arial"/>
                <a:ea typeface="Arial"/>
                <a:cs typeface="Arial"/>
                <a:sym typeface="Arial"/>
              </a:rPr>
              <a:t> </a:t>
            </a:r>
          </a:p>
        </p:txBody>
      </p:sp>
      <p:sp>
        <p:nvSpPr>
          <p:cNvPr id="441" name="Shape 441"/>
          <p:cNvSpPr txBox="1"/>
          <p:nvPr/>
        </p:nvSpPr>
        <p:spPr>
          <a:xfrm>
            <a:off x="307975" y="1524000"/>
            <a:ext cx="4114800" cy="1190624"/>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El </a:t>
            </a:r>
            <a:r>
              <a:rPr b="1" i="0" lang="es-AR" sz="1800" u="none" cap="none" strike="noStrike">
                <a:solidFill>
                  <a:srgbClr val="FF0000"/>
                </a:solidFill>
                <a:latin typeface="Arial"/>
                <a:ea typeface="Arial"/>
                <a:cs typeface="Arial"/>
                <a:sym typeface="Arial"/>
              </a:rPr>
              <a:t>costo</a:t>
            </a:r>
            <a:r>
              <a:rPr b="0" i="0" lang="es-AR" sz="1800" u="none" cap="none" strike="noStrike">
                <a:solidFill>
                  <a:schemeClr val="dk1"/>
                </a:solidFill>
                <a:latin typeface="Arial"/>
                <a:ea typeface="Arial"/>
                <a:cs typeface="Arial"/>
                <a:sym typeface="Arial"/>
              </a:rPr>
              <a:t> que tiene una persona porque </a:t>
            </a:r>
            <a:r>
              <a:rPr b="1" i="0" lang="es-AR" sz="1800" u="none" cap="none" strike="noStrike">
                <a:solidFill>
                  <a:srgbClr val="2F8F0D"/>
                </a:solidFill>
                <a:latin typeface="Arial"/>
                <a:ea typeface="Arial"/>
                <a:cs typeface="Arial"/>
                <a:sym typeface="Arial"/>
              </a:rPr>
              <a:t>posee efectivo</a:t>
            </a:r>
            <a:r>
              <a:rPr b="0" i="0" lang="es-AR" sz="1800" u="none" cap="none" strike="noStrike">
                <a:solidFill>
                  <a:schemeClr val="dk1"/>
                </a:solidFill>
                <a:latin typeface="Arial"/>
                <a:ea typeface="Arial"/>
                <a:cs typeface="Arial"/>
                <a:sym typeface="Arial"/>
              </a:rPr>
              <a:t> son </a:t>
            </a:r>
            <a:r>
              <a:rPr b="1" i="0" lang="es-AR" sz="1800" u="none" cap="none" strike="noStrike">
                <a:solidFill>
                  <a:srgbClr val="FF0000"/>
                </a:solidFill>
                <a:latin typeface="Arial"/>
                <a:ea typeface="Arial"/>
                <a:cs typeface="Arial"/>
                <a:sym typeface="Arial"/>
              </a:rPr>
              <a:t>los intereses que pierde</a:t>
            </a:r>
            <a:r>
              <a:rPr b="0" i="0" lang="es-AR" sz="1800" u="none" cap="none" strike="noStrike">
                <a:solidFill>
                  <a:schemeClr val="dk1"/>
                </a:solidFill>
                <a:latin typeface="Arial"/>
                <a:ea typeface="Arial"/>
                <a:cs typeface="Arial"/>
                <a:sym typeface="Arial"/>
              </a:rPr>
              <a:t> por no tener un </a:t>
            </a:r>
            <a:r>
              <a:rPr b="1" i="0" lang="es-AR" sz="1800" u="none" cap="none" strike="noStrike">
                <a:solidFill>
                  <a:schemeClr val="hlink"/>
                </a:solidFill>
                <a:latin typeface="Arial"/>
                <a:ea typeface="Arial"/>
                <a:cs typeface="Arial"/>
                <a:sym typeface="Arial"/>
              </a:rPr>
              <a:t>activo portador de intereses</a:t>
            </a:r>
            <a:r>
              <a:rPr b="0" i="0" lang="es-AR" sz="1800" u="none" cap="none" strike="noStrike">
                <a:solidFill>
                  <a:schemeClr val="dk1"/>
                </a:solidFill>
                <a:latin typeface="Arial"/>
                <a:ea typeface="Arial"/>
                <a:cs typeface="Arial"/>
                <a:sym typeface="Arial"/>
              </a:rPr>
              <a:t>.</a:t>
            </a:r>
          </a:p>
        </p:txBody>
      </p:sp>
      <p:pic>
        <p:nvPicPr>
          <p:cNvPr id="442" name="Shape 442"/>
          <p:cNvPicPr preferRelativeResize="0"/>
          <p:nvPr/>
        </p:nvPicPr>
        <p:blipFill rotWithShape="1">
          <a:blip r:embed="rId6">
            <a:alphaModFix/>
          </a:blip>
          <a:srcRect b="0" l="0" r="0" t="0"/>
          <a:stretch/>
        </p:blipFill>
        <p:spPr>
          <a:xfrm>
            <a:off x="2114550" y="2819400"/>
            <a:ext cx="2609849" cy="1647824"/>
          </a:xfrm>
          <a:prstGeom prst="rect">
            <a:avLst/>
          </a:prstGeom>
          <a:noFill/>
          <a:ln>
            <a:noFill/>
          </a:ln>
        </p:spPr>
      </p:pic>
      <p:pic>
        <p:nvPicPr>
          <p:cNvPr id="443" name="Shape 443"/>
          <p:cNvPicPr preferRelativeResize="0"/>
          <p:nvPr/>
        </p:nvPicPr>
        <p:blipFill rotWithShape="1">
          <a:blip r:embed="rId7">
            <a:alphaModFix/>
          </a:blip>
          <a:srcRect b="0" l="0" r="0" t="0"/>
          <a:stretch/>
        </p:blipFill>
        <p:spPr>
          <a:xfrm>
            <a:off x="5867400" y="1295400"/>
            <a:ext cx="2663824" cy="2568575"/>
          </a:xfrm>
          <a:prstGeom prst="rect">
            <a:avLst/>
          </a:prstGeom>
          <a:noFill/>
          <a:ln>
            <a:noFill/>
          </a:ln>
        </p:spPr>
      </p:pic>
      <p:pic>
        <p:nvPicPr>
          <p:cNvPr id="444" name="Shape 444"/>
          <p:cNvPicPr preferRelativeResize="0"/>
          <p:nvPr/>
        </p:nvPicPr>
        <p:blipFill rotWithShape="1">
          <a:blip r:embed="rId8">
            <a:alphaModFix/>
          </a:blip>
          <a:srcRect b="0" l="0" r="0" t="0"/>
          <a:stretch/>
        </p:blipFill>
        <p:spPr>
          <a:xfrm>
            <a:off x="5181600" y="4173537"/>
            <a:ext cx="2401887" cy="2401887"/>
          </a:xfrm>
          <a:prstGeom prst="rect">
            <a:avLst/>
          </a:prstGeom>
          <a:noFill/>
          <a:ln>
            <a:noFill/>
          </a:ln>
        </p:spPr>
      </p:pic>
      <p:sp>
        <p:nvSpPr>
          <p:cNvPr id="445" name="Shape 445"/>
          <p:cNvSpPr txBox="1"/>
          <p:nvPr/>
        </p:nvSpPr>
        <p:spPr>
          <a:xfrm>
            <a:off x="381000" y="4614862"/>
            <a:ext cx="4114800" cy="20145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Las personas que tienen efectivo en realidad </a:t>
            </a:r>
            <a:r>
              <a:rPr b="1" i="0" lang="es-AR" sz="1800" u="none" cap="none" strike="noStrike">
                <a:solidFill>
                  <a:srgbClr val="FF0000"/>
                </a:solidFill>
                <a:latin typeface="Arial"/>
                <a:ea typeface="Arial"/>
                <a:cs typeface="Arial"/>
                <a:sym typeface="Arial"/>
              </a:rPr>
              <a:t>conceden al estado un préstamo libre de intereses</a:t>
            </a:r>
            <a:r>
              <a:rPr b="0" i="0" lang="es-AR" sz="1800" u="none" cap="none" strike="noStrike">
                <a:solidFill>
                  <a:schemeClr val="dk1"/>
                </a:solidFill>
                <a:latin typeface="Arial"/>
                <a:ea typeface="Arial"/>
                <a:cs typeface="Arial"/>
                <a:sym typeface="Arial"/>
              </a:rPr>
              <a:t>, cuando </a:t>
            </a:r>
            <a:r>
              <a:rPr b="1" i="0" lang="es-AR" sz="1800" u="none" cap="none" strike="noStrike">
                <a:solidFill>
                  <a:srgbClr val="FF0000"/>
                </a:solidFill>
                <a:latin typeface="Arial"/>
                <a:ea typeface="Arial"/>
                <a:cs typeface="Arial"/>
                <a:sym typeface="Arial"/>
              </a:rPr>
              <a:t>sube la tasa de interés</a:t>
            </a:r>
            <a:r>
              <a:rPr b="0" i="0" lang="es-AR" sz="1800" u="none" cap="none" strike="noStrike">
                <a:solidFill>
                  <a:schemeClr val="dk1"/>
                </a:solidFill>
                <a:latin typeface="Arial"/>
                <a:ea typeface="Arial"/>
                <a:cs typeface="Arial"/>
                <a:sym typeface="Arial"/>
              </a:rPr>
              <a:t> el efecto que se produce es </a:t>
            </a:r>
            <a:r>
              <a:rPr b="1" i="0" lang="es-AR" sz="1800" u="none" cap="none" strike="noStrike">
                <a:solidFill>
                  <a:srgbClr val="FF0000"/>
                </a:solidFill>
                <a:latin typeface="Arial"/>
                <a:ea typeface="Arial"/>
                <a:cs typeface="Arial"/>
                <a:sym typeface="Arial"/>
              </a:rPr>
              <a:t>una transferencia de ingresos del sector privado al publico</a:t>
            </a:r>
            <a:r>
              <a:rPr b="0" i="0" lang="es-AR" sz="1800" u="none" cap="none" strike="noStrike">
                <a:solidFill>
                  <a:schemeClr val="dk1"/>
                </a:solidFill>
                <a:latin typeface="Arial"/>
                <a:ea typeface="Arial"/>
                <a:cs typeface="Arial"/>
                <a:sym typeface="Arial"/>
              </a:rPr>
              <a:t>. (Impuesto de la inflación).</a:t>
            </a:r>
          </a:p>
        </p:txBody>
      </p:sp>
    </p:spTree>
  </p:cSld>
  <p:clrMapOvr>
    <a:masterClrMapping/>
  </p:clrMapOvr>
  <p:transition spd="slow">
    <p:cut/>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49" name="Shape 449"/>
        <p:cNvGrpSpPr/>
        <p:nvPr/>
      </p:nvGrpSpPr>
      <p:grpSpPr>
        <a:xfrm>
          <a:off x="0" y="0"/>
          <a:ext cx="0" cy="0"/>
          <a:chOff x="0" y="0"/>
          <a:chExt cx="0" cy="0"/>
        </a:xfrm>
      </p:grpSpPr>
      <p:pic>
        <p:nvPicPr>
          <p:cNvPr id="450" name="Shape 450"/>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451" name="Shape 451"/>
          <p:cNvPicPr preferRelativeResize="0"/>
          <p:nvPr/>
        </p:nvPicPr>
        <p:blipFill rotWithShape="1">
          <a:blip r:embed="rId4">
            <a:alphaModFix/>
          </a:blip>
          <a:srcRect b="0" l="0" r="0" t="0"/>
          <a:stretch/>
        </p:blipFill>
        <p:spPr>
          <a:xfrm>
            <a:off x="263525" y="1697036"/>
            <a:ext cx="8626474" cy="4953000"/>
          </a:xfrm>
          <a:prstGeom prst="rect">
            <a:avLst/>
          </a:prstGeom>
          <a:noFill/>
          <a:ln>
            <a:noFill/>
          </a:ln>
        </p:spPr>
      </p:pic>
      <p:pic>
        <p:nvPicPr>
          <p:cNvPr id="452" name="Shape 452"/>
          <p:cNvPicPr preferRelativeResize="0"/>
          <p:nvPr/>
        </p:nvPicPr>
        <p:blipFill rotWithShape="1">
          <a:blip r:embed="rId5">
            <a:alphaModFix/>
          </a:blip>
          <a:srcRect b="0" l="0" r="0" t="0"/>
          <a:stretch/>
        </p:blipFill>
        <p:spPr>
          <a:xfrm>
            <a:off x="263525" y="306387"/>
            <a:ext cx="3013074" cy="608011"/>
          </a:xfrm>
          <a:prstGeom prst="rect">
            <a:avLst/>
          </a:prstGeom>
          <a:noFill/>
          <a:ln>
            <a:noFill/>
          </a:ln>
        </p:spPr>
      </p:pic>
      <p:sp>
        <p:nvSpPr>
          <p:cNvPr id="453" name="Shape 453"/>
          <p:cNvSpPr txBox="1"/>
          <p:nvPr/>
        </p:nvSpPr>
        <p:spPr>
          <a:xfrm>
            <a:off x="3402012" y="300037"/>
            <a:ext cx="5570536" cy="498475"/>
          </a:xfrm>
          <a:prstGeom prst="rect">
            <a:avLst/>
          </a:prstGeom>
          <a:noFill/>
          <a:ln>
            <a:noFill/>
          </a:ln>
        </p:spPr>
        <p:txBody>
          <a:bodyPr anchorCtr="0" anchor="t" bIns="45700" lIns="91425" rIns="91425" tIns="45700">
            <a:noAutofit/>
          </a:bodyPr>
          <a:lstStyle/>
          <a:p>
            <a:pPr indent="0" lvl="0" marL="0" marR="0" rtl="0" algn="ctr">
              <a:lnSpc>
                <a:spcPct val="95000"/>
              </a:lnSpc>
              <a:spcBef>
                <a:spcPts val="0"/>
              </a:spcBef>
              <a:spcAft>
                <a:spcPts val="560"/>
              </a:spcAft>
              <a:buClr>
                <a:srgbClr val="BB4F59"/>
              </a:buClr>
              <a:buSzPct val="25000"/>
              <a:buFont typeface="Arial"/>
              <a:buNone/>
            </a:pPr>
            <a:r>
              <a:rPr b="1" i="0" lang="es-AR" sz="2800" u="none" cap="none" strike="noStrike">
                <a:solidFill>
                  <a:srgbClr val="BB4F59"/>
                </a:solidFill>
                <a:latin typeface="Arial"/>
                <a:ea typeface="Arial"/>
                <a:cs typeface="Arial"/>
                <a:sym typeface="Arial"/>
              </a:rPr>
              <a:t>GRUPOS PERJUDICADOS </a:t>
            </a:r>
          </a:p>
        </p:txBody>
      </p:sp>
      <p:sp>
        <p:nvSpPr>
          <p:cNvPr id="454" name="Shape 454"/>
          <p:cNvSpPr txBox="1"/>
          <p:nvPr/>
        </p:nvSpPr>
        <p:spPr>
          <a:xfrm>
            <a:off x="304800" y="3716337"/>
            <a:ext cx="4724400" cy="4572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s-AR" sz="2400" u="none" cap="none" strike="noStrike">
                <a:solidFill>
                  <a:srgbClr val="FF0000"/>
                </a:solidFill>
                <a:latin typeface="Arial"/>
                <a:ea typeface="Arial"/>
                <a:cs typeface="Arial"/>
                <a:sym typeface="Arial"/>
              </a:rPr>
              <a:t> </a:t>
            </a:r>
          </a:p>
        </p:txBody>
      </p:sp>
      <p:sp>
        <p:nvSpPr>
          <p:cNvPr id="455" name="Shape 455"/>
          <p:cNvSpPr txBox="1"/>
          <p:nvPr/>
        </p:nvSpPr>
        <p:spPr>
          <a:xfrm>
            <a:off x="304800" y="3352800"/>
            <a:ext cx="4724400" cy="1190624"/>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s-AR" sz="1800" u="none" cap="none" strike="noStrike">
                <a:solidFill>
                  <a:schemeClr val="dk1"/>
                </a:solidFill>
                <a:latin typeface="Arial"/>
                <a:ea typeface="Arial"/>
                <a:cs typeface="Arial"/>
                <a:sym typeface="Arial"/>
              </a:rPr>
              <a:t>Los trabajadores</a:t>
            </a:r>
          </a:p>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No pueden lograr que los aumentos de sus salarios igualen a los aumentos de los precios.</a:t>
            </a:r>
          </a:p>
        </p:txBody>
      </p:sp>
      <p:pic>
        <p:nvPicPr>
          <p:cNvPr id="456" name="Shape 456"/>
          <p:cNvPicPr preferRelativeResize="0"/>
          <p:nvPr/>
        </p:nvPicPr>
        <p:blipFill rotWithShape="1">
          <a:blip r:embed="rId6">
            <a:alphaModFix/>
          </a:blip>
          <a:srcRect b="0" l="0" r="0" t="0"/>
          <a:stretch/>
        </p:blipFill>
        <p:spPr>
          <a:xfrm>
            <a:off x="4918075" y="3505200"/>
            <a:ext cx="3997325" cy="1276349"/>
          </a:xfrm>
          <a:prstGeom prst="rect">
            <a:avLst/>
          </a:prstGeom>
          <a:noFill/>
          <a:ln>
            <a:noFill/>
          </a:ln>
        </p:spPr>
      </p:pic>
      <p:pic>
        <p:nvPicPr>
          <p:cNvPr id="457" name="Shape 457"/>
          <p:cNvPicPr preferRelativeResize="0"/>
          <p:nvPr/>
        </p:nvPicPr>
        <p:blipFill rotWithShape="1">
          <a:blip r:embed="rId7">
            <a:alphaModFix/>
          </a:blip>
          <a:srcRect b="0" l="0" r="0" t="0"/>
          <a:stretch/>
        </p:blipFill>
        <p:spPr>
          <a:xfrm>
            <a:off x="6391275" y="1600200"/>
            <a:ext cx="2371725" cy="1763711"/>
          </a:xfrm>
          <a:prstGeom prst="rect">
            <a:avLst/>
          </a:prstGeom>
          <a:noFill/>
          <a:ln>
            <a:noFill/>
          </a:ln>
        </p:spPr>
      </p:pic>
      <p:pic>
        <p:nvPicPr>
          <p:cNvPr id="458" name="Shape 458"/>
          <p:cNvPicPr preferRelativeResize="0"/>
          <p:nvPr/>
        </p:nvPicPr>
        <p:blipFill rotWithShape="1">
          <a:blip r:embed="rId8">
            <a:alphaModFix/>
          </a:blip>
          <a:srcRect b="0" l="0" r="0" t="0"/>
          <a:stretch/>
        </p:blipFill>
        <p:spPr>
          <a:xfrm>
            <a:off x="5805487" y="4705350"/>
            <a:ext cx="2466974" cy="1847849"/>
          </a:xfrm>
          <a:prstGeom prst="rect">
            <a:avLst/>
          </a:prstGeom>
          <a:noFill/>
          <a:ln>
            <a:noFill/>
          </a:ln>
        </p:spPr>
      </p:pic>
      <p:sp>
        <p:nvSpPr>
          <p:cNvPr id="459" name="Shape 459"/>
          <p:cNvSpPr txBox="1"/>
          <p:nvPr/>
        </p:nvSpPr>
        <p:spPr>
          <a:xfrm>
            <a:off x="1295400" y="1905000"/>
            <a:ext cx="4724400" cy="91598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s-AR" sz="1800" u="none" cap="none" strike="noStrike">
                <a:solidFill>
                  <a:schemeClr val="dk1"/>
                </a:solidFill>
                <a:latin typeface="Arial"/>
                <a:ea typeface="Arial"/>
                <a:cs typeface="Arial"/>
                <a:sym typeface="Arial"/>
              </a:rPr>
              <a:t>Los jubilados</a:t>
            </a:r>
          </a:p>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Sus ingresos suelen crecer menos que los precios.</a:t>
            </a:r>
          </a:p>
        </p:txBody>
      </p:sp>
      <p:sp>
        <p:nvSpPr>
          <p:cNvPr id="460" name="Shape 460"/>
          <p:cNvSpPr txBox="1"/>
          <p:nvPr/>
        </p:nvSpPr>
        <p:spPr>
          <a:xfrm>
            <a:off x="914400" y="5181600"/>
            <a:ext cx="4724400" cy="91598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s-AR" sz="1800" u="none" cap="none" strike="noStrike">
                <a:solidFill>
                  <a:schemeClr val="dk1"/>
                </a:solidFill>
                <a:latin typeface="Arial"/>
                <a:ea typeface="Arial"/>
                <a:cs typeface="Arial"/>
                <a:sym typeface="Arial"/>
              </a:rPr>
              <a:t>Los ahorristas</a:t>
            </a:r>
          </a:p>
          <a:p>
            <a:pPr indent="0" lvl="0" marL="0" marR="0" rtl="0" algn="l">
              <a:lnSpc>
                <a:spcPct val="100000"/>
              </a:lnSpc>
              <a:spcBef>
                <a:spcPts val="0"/>
              </a:spcBef>
              <a:spcAft>
                <a:spcPts val="0"/>
              </a:spcAft>
              <a:buClr>
                <a:schemeClr val="dk1"/>
              </a:buClr>
              <a:buSzPct val="25000"/>
              <a:buFont typeface="Arial"/>
              <a:buNone/>
            </a:pPr>
            <a:r>
              <a:rPr b="0" i="0" lang="es-AR" sz="1800" u="none" cap="none" strike="noStrike">
                <a:solidFill>
                  <a:schemeClr val="dk1"/>
                </a:solidFill>
                <a:latin typeface="Arial"/>
                <a:ea typeface="Arial"/>
                <a:cs typeface="Arial"/>
                <a:sym typeface="Arial"/>
              </a:rPr>
              <a:t>La tasa de interés que reciben por sus ahorros es menor que la tasa de inflación.</a:t>
            </a:r>
          </a:p>
        </p:txBody>
      </p:sp>
    </p:spTree>
  </p:cSld>
  <p:clrMapOvr>
    <a:masterClrMapping/>
  </p:clrMapOvr>
  <p:transition spd="slow">
    <p:cut/>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64" name="Shape 464"/>
        <p:cNvGrpSpPr/>
        <p:nvPr/>
      </p:nvGrpSpPr>
      <p:grpSpPr>
        <a:xfrm>
          <a:off x="0" y="0"/>
          <a:ext cx="0" cy="0"/>
          <a:chOff x="0" y="0"/>
          <a:chExt cx="0" cy="0"/>
        </a:xfrm>
      </p:grpSpPr>
      <p:pic>
        <p:nvPicPr>
          <p:cNvPr id="465" name="Shape 465"/>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466" name="Shape 466"/>
          <p:cNvPicPr preferRelativeResize="0"/>
          <p:nvPr/>
        </p:nvPicPr>
        <p:blipFill rotWithShape="1">
          <a:blip r:embed="rId4">
            <a:alphaModFix/>
          </a:blip>
          <a:srcRect b="0" l="0" r="0" t="0"/>
          <a:stretch/>
        </p:blipFill>
        <p:spPr>
          <a:xfrm>
            <a:off x="228600" y="1600200"/>
            <a:ext cx="8626474" cy="4953000"/>
          </a:xfrm>
          <a:prstGeom prst="rect">
            <a:avLst/>
          </a:prstGeom>
          <a:noFill/>
          <a:ln>
            <a:noFill/>
          </a:ln>
        </p:spPr>
      </p:pic>
      <p:pic>
        <p:nvPicPr>
          <p:cNvPr id="467" name="Shape 467"/>
          <p:cNvPicPr preferRelativeResize="0"/>
          <p:nvPr/>
        </p:nvPicPr>
        <p:blipFill rotWithShape="1">
          <a:blip r:embed="rId5">
            <a:alphaModFix/>
          </a:blip>
          <a:srcRect b="0" l="0" r="0" t="0"/>
          <a:stretch/>
        </p:blipFill>
        <p:spPr>
          <a:xfrm>
            <a:off x="263525" y="306387"/>
            <a:ext cx="3013074" cy="608011"/>
          </a:xfrm>
          <a:prstGeom prst="rect">
            <a:avLst/>
          </a:prstGeom>
          <a:noFill/>
          <a:ln>
            <a:noFill/>
          </a:ln>
        </p:spPr>
      </p:pic>
      <p:sp>
        <p:nvSpPr>
          <p:cNvPr id="468" name="Shape 468"/>
          <p:cNvSpPr txBox="1"/>
          <p:nvPr/>
        </p:nvSpPr>
        <p:spPr>
          <a:xfrm>
            <a:off x="3402012" y="300037"/>
            <a:ext cx="5570536" cy="498475"/>
          </a:xfrm>
          <a:prstGeom prst="rect">
            <a:avLst/>
          </a:prstGeom>
          <a:noFill/>
          <a:ln>
            <a:noFill/>
          </a:ln>
        </p:spPr>
        <p:txBody>
          <a:bodyPr anchorCtr="0" anchor="t" bIns="45700" lIns="91425" rIns="91425" tIns="45700">
            <a:noAutofit/>
          </a:bodyPr>
          <a:lstStyle/>
          <a:p>
            <a:pPr indent="0" lvl="0" marL="0" marR="0" rtl="0" algn="ctr">
              <a:lnSpc>
                <a:spcPct val="95000"/>
              </a:lnSpc>
              <a:spcBef>
                <a:spcPts val="0"/>
              </a:spcBef>
              <a:spcAft>
                <a:spcPts val="560"/>
              </a:spcAft>
              <a:buClr>
                <a:srgbClr val="BB4F59"/>
              </a:buClr>
              <a:buSzPct val="25000"/>
              <a:buFont typeface="Arial"/>
              <a:buNone/>
            </a:pPr>
            <a:r>
              <a:rPr b="1" i="0" lang="es-AR" sz="2800" u="none" cap="none" strike="noStrike">
                <a:solidFill>
                  <a:srgbClr val="BB4F59"/>
                </a:solidFill>
                <a:latin typeface="Arial"/>
                <a:ea typeface="Arial"/>
                <a:cs typeface="Arial"/>
                <a:sym typeface="Arial"/>
              </a:rPr>
              <a:t>INFLACIÓN OBJETIVO</a:t>
            </a:r>
          </a:p>
        </p:txBody>
      </p:sp>
      <p:sp>
        <p:nvSpPr>
          <p:cNvPr id="469" name="Shape 469"/>
          <p:cNvSpPr txBox="1"/>
          <p:nvPr/>
        </p:nvSpPr>
        <p:spPr>
          <a:xfrm>
            <a:off x="304800" y="3716337"/>
            <a:ext cx="4724400" cy="4572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s-AR" sz="2400" u="none" cap="none" strike="noStrike">
                <a:solidFill>
                  <a:srgbClr val="FF0000"/>
                </a:solidFill>
                <a:latin typeface="Arial"/>
                <a:ea typeface="Arial"/>
                <a:cs typeface="Arial"/>
                <a:sym typeface="Arial"/>
              </a:rPr>
              <a:t> </a:t>
            </a:r>
          </a:p>
        </p:txBody>
      </p:sp>
      <p:sp>
        <p:nvSpPr>
          <p:cNvPr id="470" name="Shape 470"/>
          <p:cNvSpPr txBox="1"/>
          <p:nvPr/>
        </p:nvSpPr>
        <p:spPr>
          <a:xfrm>
            <a:off x="228600" y="1524000"/>
            <a:ext cx="8743949" cy="1069975"/>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1" lang="es-AR" sz="1600" u="none" cap="none" strike="noStrike">
                <a:solidFill>
                  <a:schemeClr val="dk1"/>
                </a:solidFill>
                <a:latin typeface="Arial"/>
                <a:ea typeface="Arial"/>
                <a:cs typeface="Arial"/>
                <a:sym typeface="Arial"/>
              </a:rPr>
              <a:t>Se refiere a </a:t>
            </a:r>
            <a:r>
              <a:rPr b="1" i="1" lang="es-AR" sz="1600" u="none" cap="none" strike="noStrike">
                <a:solidFill>
                  <a:srgbClr val="FF0000"/>
                </a:solidFill>
                <a:latin typeface="Arial"/>
                <a:ea typeface="Arial"/>
                <a:cs typeface="Arial"/>
                <a:sym typeface="Arial"/>
              </a:rPr>
              <a:t>una estrategia de política monetaria</a:t>
            </a:r>
            <a:r>
              <a:rPr b="1" i="1" lang="es-AR" sz="1600" u="none" cap="none" strike="noStrike">
                <a:solidFill>
                  <a:schemeClr val="dk1"/>
                </a:solidFill>
                <a:latin typeface="Arial"/>
                <a:ea typeface="Arial"/>
                <a:cs typeface="Arial"/>
                <a:sym typeface="Arial"/>
              </a:rPr>
              <a:t> para controlar la inflación en donde el Banco Central </a:t>
            </a:r>
            <a:r>
              <a:rPr b="1" i="1" lang="es-AR" sz="1600" u="none" cap="none" strike="noStrike">
                <a:solidFill>
                  <a:srgbClr val="FF0000"/>
                </a:solidFill>
                <a:latin typeface="Arial"/>
                <a:ea typeface="Arial"/>
                <a:cs typeface="Arial"/>
                <a:sym typeface="Arial"/>
              </a:rPr>
              <a:t>proyecta y publica</a:t>
            </a:r>
            <a:r>
              <a:rPr b="1" i="1" lang="es-AR" sz="1600" u="none" cap="none" strike="noStrike">
                <a:solidFill>
                  <a:schemeClr val="dk1"/>
                </a:solidFill>
                <a:latin typeface="Arial"/>
                <a:ea typeface="Arial"/>
                <a:cs typeface="Arial"/>
                <a:sym typeface="Arial"/>
              </a:rPr>
              <a:t> una </a:t>
            </a:r>
            <a:r>
              <a:rPr b="1" i="1" lang="es-AR" sz="1600" u="none" cap="none" strike="noStrike">
                <a:solidFill>
                  <a:srgbClr val="FF0000"/>
                </a:solidFill>
                <a:latin typeface="Arial"/>
                <a:ea typeface="Arial"/>
                <a:cs typeface="Arial"/>
                <a:sym typeface="Arial"/>
              </a:rPr>
              <a:t>tasa de inflación proyectada o "target"</a:t>
            </a:r>
            <a:r>
              <a:rPr b="1" i="1" lang="es-AR" sz="1600" u="none" cap="none" strike="noStrike">
                <a:solidFill>
                  <a:schemeClr val="dk1"/>
                </a:solidFill>
                <a:latin typeface="Arial"/>
                <a:ea typeface="Arial"/>
                <a:cs typeface="Arial"/>
                <a:sym typeface="Arial"/>
              </a:rPr>
              <a:t>, y luego intenta </a:t>
            </a:r>
            <a:r>
              <a:rPr b="1" i="1" lang="es-AR" sz="1600" u="none" cap="none" strike="noStrike">
                <a:solidFill>
                  <a:srgbClr val="FF0000"/>
                </a:solidFill>
                <a:latin typeface="Arial"/>
                <a:ea typeface="Arial"/>
                <a:cs typeface="Arial"/>
                <a:sym typeface="Arial"/>
              </a:rPr>
              <a:t>dirigir la inflación real hacia la meta propuesta</a:t>
            </a:r>
            <a:r>
              <a:rPr b="1" i="1" lang="es-AR" sz="1600" u="none" cap="none" strike="noStrike">
                <a:solidFill>
                  <a:schemeClr val="dk1"/>
                </a:solidFill>
                <a:latin typeface="Arial"/>
                <a:ea typeface="Arial"/>
                <a:cs typeface="Arial"/>
                <a:sym typeface="Arial"/>
              </a:rPr>
              <a:t> mediante el uso de </a:t>
            </a:r>
            <a:r>
              <a:rPr b="1" i="1" lang="es-AR" sz="1600" u="none" cap="none" strike="noStrike">
                <a:solidFill>
                  <a:srgbClr val="FF0000"/>
                </a:solidFill>
                <a:latin typeface="Arial"/>
                <a:ea typeface="Arial"/>
                <a:cs typeface="Arial"/>
                <a:sym typeface="Arial"/>
              </a:rPr>
              <a:t>variaciones del tipo de interés y otros instrumentos monetarios.</a:t>
            </a:r>
          </a:p>
        </p:txBody>
      </p:sp>
      <p:sp>
        <p:nvSpPr>
          <p:cNvPr id="471" name="Shape 471"/>
          <p:cNvSpPr txBox="1"/>
          <p:nvPr/>
        </p:nvSpPr>
        <p:spPr>
          <a:xfrm>
            <a:off x="304800" y="2743200"/>
            <a:ext cx="8743949" cy="4003675"/>
          </a:xfrm>
          <a:prstGeom prst="rect">
            <a:avLst/>
          </a:prstGeom>
          <a:noFill/>
          <a:ln>
            <a:noFill/>
          </a:ln>
        </p:spPr>
        <p:txBody>
          <a:bodyPr anchorCtr="0" anchor="ctr" bIns="45700" lIns="91425" rIns="91425" tIns="45700">
            <a:noAutofit/>
          </a:bodyPr>
          <a:lstStyle/>
          <a:p>
            <a:pPr indent="-342900" lvl="0" marL="342900" marR="0" rtl="0" algn="l">
              <a:lnSpc>
                <a:spcPct val="100000"/>
              </a:lnSpc>
              <a:spcBef>
                <a:spcPts val="0"/>
              </a:spcBef>
              <a:spcAft>
                <a:spcPts val="0"/>
              </a:spcAft>
              <a:buClr>
                <a:schemeClr val="dk1"/>
              </a:buClr>
              <a:buSzPct val="25000"/>
              <a:buFont typeface="Arial"/>
              <a:buNone/>
            </a:pPr>
            <a:r>
              <a:rPr b="1" i="1" lang="es-AR" sz="1600" u="none" cap="none" strike="noStrike">
                <a:solidFill>
                  <a:schemeClr val="dk1"/>
                </a:solidFill>
                <a:latin typeface="Arial"/>
                <a:ea typeface="Arial"/>
                <a:cs typeface="Arial"/>
                <a:sym typeface="Arial"/>
              </a:rPr>
              <a:t>Contiene cinco elementos principales:</a:t>
            </a:r>
          </a:p>
          <a:p>
            <a:pPr indent="-342900" lvl="0" marL="342900" marR="0" rtl="0" algn="l">
              <a:lnSpc>
                <a:spcPct val="100000"/>
              </a:lnSpc>
              <a:spcBef>
                <a:spcPts val="0"/>
              </a:spcBef>
              <a:spcAft>
                <a:spcPts val="0"/>
              </a:spcAft>
              <a:buClr>
                <a:schemeClr val="hlink"/>
              </a:buClr>
              <a:buSzPct val="100000"/>
              <a:buFont typeface="Noto Sans Symbols"/>
              <a:buChar char="✓"/>
            </a:pPr>
            <a:r>
              <a:rPr b="1" i="1" lang="es-AR" sz="1600" u="none" cap="none" strike="noStrike">
                <a:solidFill>
                  <a:schemeClr val="hlink"/>
                </a:solidFill>
                <a:latin typeface="Arial"/>
                <a:ea typeface="Arial"/>
                <a:cs typeface="Arial"/>
                <a:sym typeface="Arial"/>
              </a:rPr>
              <a:t>Un anuncio público por parte de las autoridades monetarias, del objetivo de inflación a medio plazo.</a:t>
            </a:r>
          </a:p>
          <a:p>
            <a:pPr indent="-342900" lvl="0" marL="342900" marR="0" rtl="0" algn="l">
              <a:lnSpc>
                <a:spcPct val="100000"/>
              </a:lnSpc>
              <a:spcBef>
                <a:spcPts val="0"/>
              </a:spcBef>
              <a:spcAft>
                <a:spcPts val="0"/>
              </a:spcAft>
              <a:buClr>
                <a:schemeClr val="dk1"/>
              </a:buClr>
              <a:buFont typeface="Noto Sans Symbols"/>
              <a:buNone/>
            </a:pPr>
            <a:r>
              <a:t/>
            </a:r>
            <a:endParaRPr b="1" i="1" sz="1600" u="none" cap="none" strike="noStrike">
              <a:solidFill>
                <a:schemeClr val="hlink"/>
              </a:solidFill>
              <a:latin typeface="Arial"/>
              <a:ea typeface="Arial"/>
              <a:cs typeface="Arial"/>
              <a:sym typeface="Arial"/>
            </a:endParaRPr>
          </a:p>
          <a:p>
            <a:pPr indent="-342900" lvl="0" marL="342900" marR="0" rtl="0" algn="l">
              <a:lnSpc>
                <a:spcPct val="100000"/>
              </a:lnSpc>
              <a:spcBef>
                <a:spcPts val="0"/>
              </a:spcBef>
              <a:spcAft>
                <a:spcPts val="0"/>
              </a:spcAft>
              <a:buClr>
                <a:schemeClr val="hlink"/>
              </a:buClr>
              <a:buSzPct val="100000"/>
              <a:buFont typeface="Noto Sans Symbols"/>
              <a:buChar char="✓"/>
            </a:pPr>
            <a:r>
              <a:rPr b="1" i="1" lang="es-AR" sz="1600" u="none" cap="none" strike="noStrike">
                <a:solidFill>
                  <a:schemeClr val="hlink"/>
                </a:solidFill>
                <a:latin typeface="Arial"/>
                <a:ea typeface="Arial"/>
                <a:cs typeface="Arial"/>
                <a:sym typeface="Arial"/>
              </a:rPr>
              <a:t>Un compromiso institucional con la estabilidad de precios como objetivo principal de la política monetaria.</a:t>
            </a:r>
          </a:p>
          <a:p>
            <a:pPr indent="-342900" lvl="0" marL="342900" marR="0" rtl="0" algn="l">
              <a:lnSpc>
                <a:spcPct val="100000"/>
              </a:lnSpc>
              <a:spcBef>
                <a:spcPts val="0"/>
              </a:spcBef>
              <a:spcAft>
                <a:spcPts val="0"/>
              </a:spcAft>
              <a:buClr>
                <a:schemeClr val="dk1"/>
              </a:buClr>
              <a:buFont typeface="Calibri"/>
              <a:buNone/>
            </a:pPr>
            <a:r>
              <a:t/>
            </a:r>
            <a:endParaRPr b="1" i="1" sz="1600" u="none" cap="none" strike="noStrike">
              <a:solidFill>
                <a:schemeClr val="hlink"/>
              </a:solidFill>
              <a:latin typeface="Arial"/>
              <a:ea typeface="Arial"/>
              <a:cs typeface="Arial"/>
              <a:sym typeface="Arial"/>
            </a:endParaRPr>
          </a:p>
          <a:p>
            <a:pPr indent="-342900" lvl="0" marL="342900" marR="0" rtl="0" algn="l">
              <a:lnSpc>
                <a:spcPct val="100000"/>
              </a:lnSpc>
              <a:spcBef>
                <a:spcPts val="0"/>
              </a:spcBef>
              <a:spcAft>
                <a:spcPts val="0"/>
              </a:spcAft>
              <a:buClr>
                <a:schemeClr val="hlink"/>
              </a:buClr>
              <a:buSzPct val="100000"/>
              <a:buFont typeface="Noto Sans Symbols"/>
              <a:buChar char="✓"/>
            </a:pPr>
            <a:r>
              <a:rPr b="1" i="1" lang="es-AR" sz="1600" u="none" cap="none" strike="noStrike">
                <a:solidFill>
                  <a:schemeClr val="hlink"/>
                </a:solidFill>
                <a:latin typeface="Arial"/>
                <a:ea typeface="Arial"/>
                <a:cs typeface="Arial"/>
                <a:sym typeface="Arial"/>
              </a:rPr>
              <a:t>Una estrategia informativa en la cual se incluyen muchas variables —además de los agregados monetarios y el tipo de cambio— en la determinación de los instrumentos y la postura de la política.</a:t>
            </a:r>
          </a:p>
          <a:p>
            <a:pPr indent="-342900" lvl="0" marL="342900" marR="0" rtl="0" algn="l">
              <a:lnSpc>
                <a:spcPct val="100000"/>
              </a:lnSpc>
              <a:spcBef>
                <a:spcPts val="0"/>
              </a:spcBef>
              <a:spcAft>
                <a:spcPts val="0"/>
              </a:spcAft>
              <a:buClr>
                <a:schemeClr val="dk1"/>
              </a:buClr>
              <a:buFont typeface="Calibri"/>
              <a:buNone/>
            </a:pPr>
            <a:r>
              <a:t/>
            </a:r>
            <a:endParaRPr b="1" i="1" sz="1600" u="none" cap="none" strike="noStrike">
              <a:solidFill>
                <a:schemeClr val="hlink"/>
              </a:solidFill>
              <a:latin typeface="Arial"/>
              <a:ea typeface="Arial"/>
              <a:cs typeface="Arial"/>
              <a:sym typeface="Arial"/>
            </a:endParaRPr>
          </a:p>
          <a:p>
            <a:pPr indent="-342900" lvl="0" marL="342900" marR="0" rtl="0" algn="l">
              <a:lnSpc>
                <a:spcPct val="100000"/>
              </a:lnSpc>
              <a:spcBef>
                <a:spcPts val="0"/>
              </a:spcBef>
              <a:spcAft>
                <a:spcPts val="0"/>
              </a:spcAft>
              <a:buClr>
                <a:schemeClr val="hlink"/>
              </a:buClr>
              <a:buSzPct val="100000"/>
              <a:buFont typeface="Noto Sans Symbols"/>
              <a:buChar char="✓"/>
            </a:pPr>
            <a:r>
              <a:rPr b="1" i="1" lang="es-AR" sz="1600" u="none" cap="none" strike="noStrike">
                <a:solidFill>
                  <a:schemeClr val="hlink"/>
                </a:solidFill>
                <a:latin typeface="Arial"/>
                <a:ea typeface="Arial"/>
                <a:cs typeface="Arial"/>
                <a:sym typeface="Arial"/>
              </a:rPr>
              <a:t>Una mayor transparencia con el público y los mercados en la comunicación de los planes, objetivos y resoluciones de las autoridades monetarias.</a:t>
            </a:r>
          </a:p>
          <a:p>
            <a:pPr indent="-342900" lvl="0" marL="342900" marR="0" rtl="0" algn="l">
              <a:lnSpc>
                <a:spcPct val="100000"/>
              </a:lnSpc>
              <a:spcBef>
                <a:spcPts val="0"/>
              </a:spcBef>
              <a:spcAft>
                <a:spcPts val="0"/>
              </a:spcAft>
              <a:buClr>
                <a:schemeClr val="dk1"/>
              </a:buClr>
              <a:buFont typeface="Calibri"/>
              <a:buNone/>
            </a:pPr>
            <a:r>
              <a:t/>
            </a:r>
            <a:endParaRPr b="1" i="1" sz="1600" u="none" cap="none" strike="noStrike">
              <a:solidFill>
                <a:schemeClr val="hlink"/>
              </a:solidFill>
              <a:latin typeface="Arial"/>
              <a:ea typeface="Arial"/>
              <a:cs typeface="Arial"/>
              <a:sym typeface="Arial"/>
            </a:endParaRPr>
          </a:p>
          <a:p>
            <a:pPr indent="-342900" lvl="0" marL="342900" marR="0" rtl="0" algn="l">
              <a:lnSpc>
                <a:spcPct val="100000"/>
              </a:lnSpc>
              <a:spcBef>
                <a:spcPts val="0"/>
              </a:spcBef>
              <a:spcAft>
                <a:spcPts val="0"/>
              </a:spcAft>
              <a:buClr>
                <a:schemeClr val="hlink"/>
              </a:buClr>
              <a:buSzPct val="100000"/>
              <a:buFont typeface="Noto Sans Symbols"/>
              <a:buChar char="✓"/>
            </a:pPr>
            <a:r>
              <a:rPr b="1" i="1" lang="es-AR" sz="1600" u="none" cap="none" strike="noStrike">
                <a:solidFill>
                  <a:schemeClr val="hlink"/>
                </a:solidFill>
                <a:latin typeface="Arial"/>
                <a:ea typeface="Arial"/>
                <a:cs typeface="Arial"/>
                <a:sym typeface="Arial"/>
              </a:rPr>
              <a:t>Una mayor atribución de responsabilidad al Banco Central, en el cumplimento de sus objetivos de inflación.</a:t>
            </a:r>
          </a:p>
        </p:txBody>
      </p:sp>
    </p:spTree>
  </p:cSld>
  <p:clrMapOvr>
    <a:masterClrMapping/>
  </p:clrMapOvr>
  <p:transition spd="slow">
    <p:cut/>
  </p:transition>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