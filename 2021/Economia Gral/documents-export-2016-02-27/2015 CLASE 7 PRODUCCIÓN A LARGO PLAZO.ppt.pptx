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 name="Shape 2"/>
        <p:cNvGrpSpPr/>
        <p:nvPr/>
      </p:nvGrpSpPr>
      <p:grpSpPr>
        <a:xfrm>
          <a:off x="0" y="0"/>
          <a:ext cx="0" cy="0"/>
          <a:chOff x="0" y="0"/>
          <a:chExt cx="0" cy="0"/>
        </a:xfrm>
      </p:grpSpPr>
      <p:sp>
        <p:nvSpPr>
          <p:cNvPr id="3" name="Shape 3"/>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4" name="Shape 4"/>
          <p:cNvSpPr txBox="1"/>
          <p:nvPr>
            <p:ph idx="1" type="body"/>
          </p:nvPr>
        </p:nvSpPr>
        <p:spPr>
          <a:xfrm>
            <a:off x="685800" y="4343400"/>
            <a:ext cx="5486399" cy="4114800"/>
          </a:xfrm>
          <a:prstGeom prst="rect">
            <a:avLst/>
          </a:prstGeom>
          <a:noFill/>
          <a:ln>
            <a:noFill/>
          </a:ln>
        </p:spPr>
        <p:txBody>
          <a:bodyPr anchorCtr="0" anchor="t" bIns="91425" lIns="91425" rIns="91425" tIns="91425"/>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0" name="Shape 80"/>
        <p:cNvGrpSpPr/>
        <p:nvPr/>
      </p:nvGrpSpPr>
      <p:grpSpPr>
        <a:xfrm>
          <a:off x="0" y="0"/>
          <a:ext cx="0" cy="0"/>
          <a:chOff x="0" y="0"/>
          <a:chExt cx="0" cy="0"/>
        </a:xfrm>
      </p:grpSpPr>
      <p:sp>
        <p:nvSpPr>
          <p:cNvPr id="81" name="Shape 81"/>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82" name="Shape 82"/>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8" name="Shape 88"/>
        <p:cNvGrpSpPr/>
        <p:nvPr/>
      </p:nvGrpSpPr>
      <p:grpSpPr>
        <a:xfrm>
          <a:off x="0" y="0"/>
          <a:ext cx="0" cy="0"/>
          <a:chOff x="0" y="0"/>
          <a:chExt cx="0" cy="0"/>
        </a:xfrm>
      </p:grpSpPr>
      <p:sp>
        <p:nvSpPr>
          <p:cNvPr id="89" name="Shape 89"/>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90" name="Shape 90"/>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7" name="Shape 97"/>
        <p:cNvGrpSpPr/>
        <p:nvPr/>
      </p:nvGrpSpPr>
      <p:grpSpPr>
        <a:xfrm>
          <a:off x="0" y="0"/>
          <a:ext cx="0" cy="0"/>
          <a:chOff x="0" y="0"/>
          <a:chExt cx="0" cy="0"/>
        </a:xfrm>
      </p:grpSpPr>
      <p:sp>
        <p:nvSpPr>
          <p:cNvPr id="98" name="Shape 98"/>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99" name="Shape 99"/>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8" name="Shape 108"/>
        <p:cNvGrpSpPr/>
        <p:nvPr/>
      </p:nvGrpSpPr>
      <p:grpSpPr>
        <a:xfrm>
          <a:off x="0" y="0"/>
          <a:ext cx="0" cy="0"/>
          <a:chOff x="0" y="0"/>
          <a:chExt cx="0" cy="0"/>
        </a:xfrm>
      </p:grpSpPr>
      <p:sp>
        <p:nvSpPr>
          <p:cNvPr id="109" name="Shape 109"/>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10" name="Shape 110"/>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36" name="Shape 136"/>
        <p:cNvGrpSpPr/>
        <p:nvPr/>
      </p:nvGrpSpPr>
      <p:grpSpPr>
        <a:xfrm>
          <a:off x="0" y="0"/>
          <a:ext cx="0" cy="0"/>
          <a:chOff x="0" y="0"/>
          <a:chExt cx="0" cy="0"/>
        </a:xfrm>
      </p:grpSpPr>
      <p:sp>
        <p:nvSpPr>
          <p:cNvPr id="137" name="Shape 137"/>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38" name="Shape 138"/>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47" name="Shape 147"/>
        <p:cNvGrpSpPr/>
        <p:nvPr/>
      </p:nvGrpSpPr>
      <p:grpSpPr>
        <a:xfrm>
          <a:off x="0" y="0"/>
          <a:ext cx="0" cy="0"/>
          <a:chOff x="0" y="0"/>
          <a:chExt cx="0" cy="0"/>
        </a:xfrm>
      </p:grpSpPr>
      <p:sp>
        <p:nvSpPr>
          <p:cNvPr id="148" name="Shape 148"/>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49" name="Shape 149"/>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75" name="Shape 175"/>
        <p:cNvGrpSpPr/>
        <p:nvPr/>
      </p:nvGrpSpPr>
      <p:grpSpPr>
        <a:xfrm>
          <a:off x="0" y="0"/>
          <a:ext cx="0" cy="0"/>
          <a:chOff x="0" y="0"/>
          <a:chExt cx="0" cy="0"/>
        </a:xfrm>
      </p:grpSpPr>
      <p:sp>
        <p:nvSpPr>
          <p:cNvPr id="176" name="Shape 176"/>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77" name="Shape 177"/>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86" name="Shape 186"/>
        <p:cNvGrpSpPr/>
        <p:nvPr/>
      </p:nvGrpSpPr>
      <p:grpSpPr>
        <a:xfrm>
          <a:off x="0" y="0"/>
          <a:ext cx="0" cy="0"/>
          <a:chOff x="0" y="0"/>
          <a:chExt cx="0" cy="0"/>
        </a:xfrm>
      </p:grpSpPr>
      <p:sp>
        <p:nvSpPr>
          <p:cNvPr id="187" name="Shape 187"/>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88" name="Shape 188"/>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13" name="Shape 213"/>
        <p:cNvGrpSpPr/>
        <p:nvPr/>
      </p:nvGrpSpPr>
      <p:grpSpPr>
        <a:xfrm>
          <a:off x="0" y="0"/>
          <a:ext cx="0" cy="0"/>
          <a:chOff x="0" y="0"/>
          <a:chExt cx="0" cy="0"/>
        </a:xfrm>
      </p:grpSpPr>
      <p:sp>
        <p:nvSpPr>
          <p:cNvPr id="214" name="Shape 214"/>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15" name="Shape 215"/>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25" name="Shape 225"/>
        <p:cNvGrpSpPr/>
        <p:nvPr/>
      </p:nvGrpSpPr>
      <p:grpSpPr>
        <a:xfrm>
          <a:off x="0" y="0"/>
          <a:ext cx="0" cy="0"/>
          <a:chOff x="0" y="0"/>
          <a:chExt cx="0" cy="0"/>
        </a:xfrm>
      </p:grpSpPr>
      <p:sp>
        <p:nvSpPr>
          <p:cNvPr id="226" name="Shape 226"/>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27" name="Shape 227"/>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53" name="Shape 253"/>
        <p:cNvGrpSpPr/>
        <p:nvPr/>
      </p:nvGrpSpPr>
      <p:grpSpPr>
        <a:xfrm>
          <a:off x="0" y="0"/>
          <a:ext cx="0" cy="0"/>
          <a:chOff x="0" y="0"/>
          <a:chExt cx="0" cy="0"/>
        </a:xfrm>
      </p:grpSpPr>
      <p:sp>
        <p:nvSpPr>
          <p:cNvPr id="254" name="Shape 254"/>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55" name="Shape 255"/>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74" name="Shape 274"/>
        <p:cNvGrpSpPr/>
        <p:nvPr/>
      </p:nvGrpSpPr>
      <p:grpSpPr>
        <a:xfrm>
          <a:off x="0" y="0"/>
          <a:ext cx="0" cy="0"/>
          <a:chOff x="0" y="0"/>
          <a:chExt cx="0" cy="0"/>
        </a:xfrm>
      </p:grpSpPr>
      <p:sp>
        <p:nvSpPr>
          <p:cNvPr id="275" name="Shape 275"/>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76" name="Shape 276"/>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95" name="Shape 295"/>
        <p:cNvGrpSpPr/>
        <p:nvPr/>
      </p:nvGrpSpPr>
      <p:grpSpPr>
        <a:xfrm>
          <a:off x="0" y="0"/>
          <a:ext cx="0" cy="0"/>
          <a:chOff x="0" y="0"/>
          <a:chExt cx="0" cy="0"/>
        </a:xfrm>
      </p:grpSpPr>
      <p:sp>
        <p:nvSpPr>
          <p:cNvPr id="296" name="Shape 296"/>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97" name="Shape 297"/>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04" name="Shape 304"/>
        <p:cNvGrpSpPr/>
        <p:nvPr/>
      </p:nvGrpSpPr>
      <p:grpSpPr>
        <a:xfrm>
          <a:off x="0" y="0"/>
          <a:ext cx="0" cy="0"/>
          <a:chOff x="0" y="0"/>
          <a:chExt cx="0" cy="0"/>
        </a:xfrm>
      </p:grpSpPr>
      <p:sp>
        <p:nvSpPr>
          <p:cNvPr id="305" name="Shape 305"/>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06" name="Shape 306"/>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13" name="Shape 313"/>
        <p:cNvGrpSpPr/>
        <p:nvPr/>
      </p:nvGrpSpPr>
      <p:grpSpPr>
        <a:xfrm>
          <a:off x="0" y="0"/>
          <a:ext cx="0" cy="0"/>
          <a:chOff x="0" y="0"/>
          <a:chExt cx="0" cy="0"/>
        </a:xfrm>
      </p:grpSpPr>
      <p:sp>
        <p:nvSpPr>
          <p:cNvPr id="314" name="Shape 314"/>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15" name="Shape 315"/>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21" name="Shape 321"/>
        <p:cNvGrpSpPr/>
        <p:nvPr/>
      </p:nvGrpSpPr>
      <p:grpSpPr>
        <a:xfrm>
          <a:off x="0" y="0"/>
          <a:ext cx="0" cy="0"/>
          <a:chOff x="0" y="0"/>
          <a:chExt cx="0" cy="0"/>
        </a:xfrm>
      </p:grpSpPr>
      <p:sp>
        <p:nvSpPr>
          <p:cNvPr id="322" name="Shape 322"/>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23" name="Shape 323"/>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30" name="Shape 330"/>
        <p:cNvGrpSpPr/>
        <p:nvPr/>
      </p:nvGrpSpPr>
      <p:grpSpPr>
        <a:xfrm>
          <a:off x="0" y="0"/>
          <a:ext cx="0" cy="0"/>
          <a:chOff x="0" y="0"/>
          <a:chExt cx="0" cy="0"/>
        </a:xfrm>
      </p:grpSpPr>
      <p:sp>
        <p:nvSpPr>
          <p:cNvPr id="331" name="Shape 331"/>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32" name="Shape 332"/>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39" name="Shape 339"/>
        <p:cNvGrpSpPr/>
        <p:nvPr/>
      </p:nvGrpSpPr>
      <p:grpSpPr>
        <a:xfrm>
          <a:off x="0" y="0"/>
          <a:ext cx="0" cy="0"/>
          <a:chOff x="0" y="0"/>
          <a:chExt cx="0" cy="0"/>
        </a:xfrm>
      </p:grpSpPr>
      <p:sp>
        <p:nvSpPr>
          <p:cNvPr id="340" name="Shape 340"/>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41" name="Shape 341"/>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62" name="Shape 362"/>
        <p:cNvGrpSpPr/>
        <p:nvPr/>
      </p:nvGrpSpPr>
      <p:grpSpPr>
        <a:xfrm>
          <a:off x="0" y="0"/>
          <a:ext cx="0" cy="0"/>
          <a:chOff x="0" y="0"/>
          <a:chExt cx="0" cy="0"/>
        </a:xfrm>
      </p:grpSpPr>
      <p:sp>
        <p:nvSpPr>
          <p:cNvPr id="363" name="Shape 363"/>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64" name="Shape 364"/>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92" name="Shape 392"/>
        <p:cNvGrpSpPr/>
        <p:nvPr/>
      </p:nvGrpSpPr>
      <p:grpSpPr>
        <a:xfrm>
          <a:off x="0" y="0"/>
          <a:ext cx="0" cy="0"/>
          <a:chOff x="0" y="0"/>
          <a:chExt cx="0" cy="0"/>
        </a:xfrm>
      </p:grpSpPr>
      <p:sp>
        <p:nvSpPr>
          <p:cNvPr id="393" name="Shape 393"/>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94" name="Shape 394"/>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02" name="Shape 402"/>
        <p:cNvGrpSpPr/>
        <p:nvPr/>
      </p:nvGrpSpPr>
      <p:grpSpPr>
        <a:xfrm>
          <a:off x="0" y="0"/>
          <a:ext cx="0" cy="0"/>
          <a:chOff x="0" y="0"/>
          <a:chExt cx="0" cy="0"/>
        </a:xfrm>
      </p:grpSpPr>
      <p:sp>
        <p:nvSpPr>
          <p:cNvPr id="403" name="Shape 403"/>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04" name="Shape 404"/>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45" name="Shape 445"/>
        <p:cNvGrpSpPr/>
        <p:nvPr/>
      </p:nvGrpSpPr>
      <p:grpSpPr>
        <a:xfrm>
          <a:off x="0" y="0"/>
          <a:ext cx="0" cy="0"/>
          <a:chOff x="0" y="0"/>
          <a:chExt cx="0" cy="0"/>
        </a:xfrm>
      </p:grpSpPr>
      <p:sp>
        <p:nvSpPr>
          <p:cNvPr id="446" name="Shape 446"/>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47" name="Shape 447"/>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69" name="Shape 469"/>
        <p:cNvGrpSpPr/>
        <p:nvPr/>
      </p:nvGrpSpPr>
      <p:grpSpPr>
        <a:xfrm>
          <a:off x="0" y="0"/>
          <a:ext cx="0" cy="0"/>
          <a:chOff x="0" y="0"/>
          <a:chExt cx="0" cy="0"/>
        </a:xfrm>
      </p:grpSpPr>
      <p:sp>
        <p:nvSpPr>
          <p:cNvPr id="470" name="Shape 470"/>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71" name="Shape 471"/>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00" name="Shape 500"/>
        <p:cNvGrpSpPr/>
        <p:nvPr/>
      </p:nvGrpSpPr>
      <p:grpSpPr>
        <a:xfrm>
          <a:off x="0" y="0"/>
          <a:ext cx="0" cy="0"/>
          <a:chOff x="0" y="0"/>
          <a:chExt cx="0" cy="0"/>
        </a:xfrm>
      </p:grpSpPr>
      <p:sp>
        <p:nvSpPr>
          <p:cNvPr id="501" name="Shape 501"/>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502" name="Shape 502"/>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50" name="Shape 550"/>
        <p:cNvGrpSpPr/>
        <p:nvPr/>
      </p:nvGrpSpPr>
      <p:grpSpPr>
        <a:xfrm>
          <a:off x="0" y="0"/>
          <a:ext cx="0" cy="0"/>
          <a:chOff x="0" y="0"/>
          <a:chExt cx="0" cy="0"/>
        </a:xfrm>
      </p:grpSpPr>
      <p:sp>
        <p:nvSpPr>
          <p:cNvPr id="551" name="Shape 551"/>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552" name="Shape 552"/>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61" name="Shape 561"/>
        <p:cNvGrpSpPr/>
        <p:nvPr/>
      </p:nvGrpSpPr>
      <p:grpSpPr>
        <a:xfrm>
          <a:off x="0" y="0"/>
          <a:ext cx="0" cy="0"/>
          <a:chOff x="0" y="0"/>
          <a:chExt cx="0" cy="0"/>
        </a:xfrm>
      </p:grpSpPr>
      <p:sp>
        <p:nvSpPr>
          <p:cNvPr id="562" name="Shape 562"/>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563" name="Shape 563"/>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95" name="Shape 595"/>
        <p:cNvGrpSpPr/>
        <p:nvPr/>
      </p:nvGrpSpPr>
      <p:grpSpPr>
        <a:xfrm>
          <a:off x="0" y="0"/>
          <a:ext cx="0" cy="0"/>
          <a:chOff x="0" y="0"/>
          <a:chExt cx="0" cy="0"/>
        </a:xfrm>
      </p:grpSpPr>
      <p:sp>
        <p:nvSpPr>
          <p:cNvPr id="596" name="Shape 596"/>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597" name="Shape 597"/>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29" name="Shape 629"/>
        <p:cNvGrpSpPr/>
        <p:nvPr/>
      </p:nvGrpSpPr>
      <p:grpSpPr>
        <a:xfrm>
          <a:off x="0" y="0"/>
          <a:ext cx="0" cy="0"/>
          <a:chOff x="0" y="0"/>
          <a:chExt cx="0" cy="0"/>
        </a:xfrm>
      </p:grpSpPr>
      <p:sp>
        <p:nvSpPr>
          <p:cNvPr id="630" name="Shape 630"/>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631" name="Shape 631"/>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63" name="Shape 663"/>
        <p:cNvGrpSpPr/>
        <p:nvPr/>
      </p:nvGrpSpPr>
      <p:grpSpPr>
        <a:xfrm>
          <a:off x="0" y="0"/>
          <a:ext cx="0" cy="0"/>
          <a:chOff x="0" y="0"/>
          <a:chExt cx="0" cy="0"/>
        </a:xfrm>
      </p:grpSpPr>
      <p:sp>
        <p:nvSpPr>
          <p:cNvPr id="664" name="Shape 664"/>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665" name="Shape 665"/>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97" name="Shape 697"/>
        <p:cNvGrpSpPr/>
        <p:nvPr/>
      </p:nvGrpSpPr>
      <p:grpSpPr>
        <a:xfrm>
          <a:off x="0" y="0"/>
          <a:ext cx="0" cy="0"/>
          <a:chOff x="0" y="0"/>
          <a:chExt cx="0" cy="0"/>
        </a:xfrm>
      </p:grpSpPr>
      <p:sp>
        <p:nvSpPr>
          <p:cNvPr id="698" name="Shape 698"/>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699" name="Shape 699"/>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31" name="Shape 731"/>
        <p:cNvGrpSpPr/>
        <p:nvPr/>
      </p:nvGrpSpPr>
      <p:grpSpPr>
        <a:xfrm>
          <a:off x="0" y="0"/>
          <a:ext cx="0" cy="0"/>
          <a:chOff x="0" y="0"/>
          <a:chExt cx="0" cy="0"/>
        </a:xfrm>
      </p:grpSpPr>
      <p:sp>
        <p:nvSpPr>
          <p:cNvPr id="732" name="Shape 732"/>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733" name="Shape 733"/>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65" name="Shape 765"/>
        <p:cNvGrpSpPr/>
        <p:nvPr/>
      </p:nvGrpSpPr>
      <p:grpSpPr>
        <a:xfrm>
          <a:off x="0" y="0"/>
          <a:ext cx="0" cy="0"/>
          <a:chOff x="0" y="0"/>
          <a:chExt cx="0" cy="0"/>
        </a:xfrm>
      </p:grpSpPr>
      <p:sp>
        <p:nvSpPr>
          <p:cNvPr id="766" name="Shape 766"/>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767" name="Shape 767"/>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81" name="Shape 781"/>
        <p:cNvGrpSpPr/>
        <p:nvPr/>
      </p:nvGrpSpPr>
      <p:grpSpPr>
        <a:xfrm>
          <a:off x="0" y="0"/>
          <a:ext cx="0" cy="0"/>
          <a:chOff x="0" y="0"/>
          <a:chExt cx="0" cy="0"/>
        </a:xfrm>
      </p:grpSpPr>
      <p:sp>
        <p:nvSpPr>
          <p:cNvPr id="782" name="Shape 782"/>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783" name="Shape 783"/>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91" name="Shape 791"/>
        <p:cNvGrpSpPr/>
        <p:nvPr/>
      </p:nvGrpSpPr>
      <p:grpSpPr>
        <a:xfrm>
          <a:off x="0" y="0"/>
          <a:ext cx="0" cy="0"/>
          <a:chOff x="0" y="0"/>
          <a:chExt cx="0" cy="0"/>
        </a:xfrm>
      </p:grpSpPr>
      <p:sp>
        <p:nvSpPr>
          <p:cNvPr id="792" name="Shape 792"/>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793" name="Shape 793"/>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11" name="Shape 11"/>
        <p:cNvGrpSpPr/>
        <p:nvPr/>
      </p:nvGrpSpPr>
      <p:grpSpPr>
        <a:xfrm>
          <a:off x="0" y="0"/>
          <a:ext cx="0" cy="0"/>
          <a:chOff x="0" y="0"/>
          <a:chExt cx="0" cy="0"/>
        </a:xfrm>
      </p:grpSpPr>
      <p:sp>
        <p:nvSpPr>
          <p:cNvPr id="12" name="Shape 12"/>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13" name="Shape 13"/>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spcBef>
                <a:spcPts val="0"/>
              </a:spcBef>
              <a:defRPr/>
            </a:lvl1pPr>
            <a:lvl2pPr indent="0" lvl="1" marL="457200" marR="0" rtl="0" algn="l">
              <a:spcBef>
                <a:spcPts val="0"/>
              </a:spcBef>
              <a:defRPr/>
            </a:lvl2pPr>
            <a:lvl3pPr indent="0" lvl="2" marL="914400" marR="0" rtl="0" algn="l">
              <a:spcBef>
                <a:spcPts val="0"/>
              </a:spcBef>
              <a:defRPr/>
            </a:lvl3pPr>
            <a:lvl4pPr indent="0" lvl="3" marL="1371600" marR="0" rtl="0" algn="l">
              <a:spcBef>
                <a:spcPts val="0"/>
              </a:spcBef>
              <a:defRPr/>
            </a:lvl4pPr>
            <a:lvl5pPr indent="0" lvl="4" marL="1828800" marR="0" rtl="0" algn="l">
              <a:spcBef>
                <a:spcPts val="0"/>
              </a:spcBef>
              <a:defRPr/>
            </a:lvl5pPr>
            <a:lvl6pPr indent="0" lvl="5" marL="2286000" marR="0" rtl="0" algn="l">
              <a:spcBef>
                <a:spcPts val="0"/>
              </a:spcBef>
              <a:defRPr/>
            </a:lvl6pPr>
            <a:lvl7pPr indent="0" lvl="6" marL="2743200" marR="0" rtl="0" algn="l">
              <a:spcBef>
                <a:spcPts val="0"/>
              </a:spcBef>
              <a:defRPr/>
            </a:lvl7pPr>
            <a:lvl8pPr indent="0" lvl="7" marL="3200400" marR="0" rtl="0" algn="l">
              <a:spcBef>
                <a:spcPts val="0"/>
              </a:spcBef>
              <a:defRPr/>
            </a:lvl8pPr>
            <a:lvl9pPr indent="0" lvl="8" marL="3657600" marR="0" rtl="0" algn="l">
              <a:spcBef>
                <a:spcPts val="0"/>
              </a:spcBef>
              <a:defRPr/>
            </a:lvl9pPr>
          </a:lstStyle>
          <a:p/>
        </p:txBody>
      </p:sp>
      <p:sp>
        <p:nvSpPr>
          <p:cNvPr id="14" name="Shape 14"/>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spTree>
      <p:nvGrpSpPr>
        <p:cNvPr id="15" name="Shape 15"/>
        <p:cNvGrpSpPr/>
        <p:nvPr/>
      </p:nvGrpSpPr>
      <p:grpSpPr>
        <a:xfrm>
          <a:off x="0" y="0"/>
          <a:ext cx="0" cy="0"/>
          <a:chOff x="0" y="0"/>
          <a:chExt cx="0" cy="0"/>
        </a:xfrm>
      </p:grpSpPr>
      <p:sp>
        <p:nvSpPr>
          <p:cNvPr id="16" name="Shape 16"/>
          <p:cNvSpPr txBox="1"/>
          <p:nvPr>
            <p:ph type="ctrTitle"/>
          </p:nvPr>
        </p:nvSpPr>
        <p:spPr>
          <a:xfrm>
            <a:off x="685800" y="2130425"/>
            <a:ext cx="7772400" cy="1470024"/>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17" name="Shape 17"/>
          <p:cNvSpPr txBox="1"/>
          <p:nvPr>
            <p:ph idx="1" type="subTitle"/>
          </p:nvPr>
        </p:nvSpPr>
        <p:spPr>
          <a:xfrm>
            <a:off x="1371600" y="3886200"/>
            <a:ext cx="6400799" cy="1752600"/>
          </a:xfrm>
          <a:prstGeom prst="rect">
            <a:avLst/>
          </a:prstGeom>
          <a:noFill/>
          <a:ln>
            <a:noFill/>
          </a:ln>
        </p:spPr>
        <p:txBody>
          <a:bodyPr anchorCtr="0" anchor="t" bIns="91425" lIns="91425" rIns="91425" tIns="91425"/>
          <a:lstStyle>
            <a:lvl1pPr indent="0" lvl="0" marL="0" marR="0" rtl="0" algn="ctr">
              <a:spcBef>
                <a:spcPts val="640"/>
              </a:spcBef>
              <a:buClr>
                <a:srgbClr val="888888"/>
              </a:buClr>
              <a:buFont typeface="Arial"/>
              <a:buNone/>
              <a:defRPr/>
            </a:lvl1pPr>
            <a:lvl2pPr indent="0" lvl="1" marL="457200" marR="0" rtl="0" algn="ctr">
              <a:spcBef>
                <a:spcPts val="560"/>
              </a:spcBef>
              <a:buClr>
                <a:srgbClr val="888888"/>
              </a:buClr>
              <a:buFont typeface="Arial"/>
              <a:buNone/>
              <a:defRPr/>
            </a:lvl2pPr>
            <a:lvl3pPr indent="0" lvl="2" marL="914400" marR="0" rtl="0" algn="ctr">
              <a:spcBef>
                <a:spcPts val="480"/>
              </a:spcBef>
              <a:buClr>
                <a:srgbClr val="888888"/>
              </a:buClr>
              <a:buFont typeface="Arial"/>
              <a:buNone/>
              <a:defRPr/>
            </a:lvl3pPr>
            <a:lvl4pPr indent="0" lvl="3" marL="1371600" marR="0" rtl="0" algn="ctr">
              <a:spcBef>
                <a:spcPts val="400"/>
              </a:spcBef>
              <a:buClr>
                <a:srgbClr val="888888"/>
              </a:buClr>
              <a:buFont typeface="Arial"/>
              <a:buNone/>
              <a:defRPr/>
            </a:lvl4pPr>
            <a:lvl5pPr indent="0" lvl="4" marL="1828800" marR="0" rtl="0" algn="ctr">
              <a:spcBef>
                <a:spcPts val="400"/>
              </a:spcBef>
              <a:buClr>
                <a:srgbClr val="888888"/>
              </a:buClr>
              <a:buFont typeface="Arial"/>
              <a:buNone/>
              <a:defRPr/>
            </a:lvl5pPr>
            <a:lvl6pPr indent="0" lvl="5" marL="2286000" marR="0" rtl="0" algn="ctr">
              <a:spcBef>
                <a:spcPts val="400"/>
              </a:spcBef>
              <a:buClr>
                <a:srgbClr val="888888"/>
              </a:buClr>
              <a:buFont typeface="Arial"/>
              <a:buNone/>
              <a:defRPr/>
            </a:lvl6pPr>
            <a:lvl7pPr indent="0" lvl="6" marL="2743200" marR="0" rtl="0" algn="ctr">
              <a:spcBef>
                <a:spcPts val="400"/>
              </a:spcBef>
              <a:buClr>
                <a:srgbClr val="888888"/>
              </a:buClr>
              <a:buFont typeface="Arial"/>
              <a:buNone/>
              <a:defRPr/>
            </a:lvl7pPr>
            <a:lvl8pPr indent="0" lvl="7" marL="3200400" marR="0" rtl="0" algn="ctr">
              <a:spcBef>
                <a:spcPts val="400"/>
              </a:spcBef>
              <a:buClr>
                <a:srgbClr val="888888"/>
              </a:buClr>
              <a:buFont typeface="Arial"/>
              <a:buNone/>
              <a:defRPr/>
            </a:lvl8pPr>
            <a:lvl9pPr indent="0" lvl="8" marL="3657600" marR="0" rtl="0" algn="ctr">
              <a:spcBef>
                <a:spcPts val="400"/>
              </a:spcBef>
              <a:buClr>
                <a:srgbClr val="888888"/>
              </a:buClr>
              <a:buFont typeface="Arial"/>
              <a:buNone/>
              <a:defRPr/>
            </a:lvl9pPr>
          </a:lstStyle>
          <a:p/>
        </p:txBody>
      </p:sp>
      <p:sp>
        <p:nvSpPr>
          <p:cNvPr id="18" name="Shape 18"/>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19" name="Shape 19"/>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spcBef>
                <a:spcPts val="0"/>
              </a:spcBef>
              <a:defRPr/>
            </a:lvl1pPr>
            <a:lvl2pPr indent="0" lvl="1" marL="457200" marR="0" rtl="0" algn="l">
              <a:spcBef>
                <a:spcPts val="0"/>
              </a:spcBef>
              <a:defRPr/>
            </a:lvl2pPr>
            <a:lvl3pPr indent="0" lvl="2" marL="914400" marR="0" rtl="0" algn="l">
              <a:spcBef>
                <a:spcPts val="0"/>
              </a:spcBef>
              <a:defRPr/>
            </a:lvl3pPr>
            <a:lvl4pPr indent="0" lvl="3" marL="1371600" marR="0" rtl="0" algn="l">
              <a:spcBef>
                <a:spcPts val="0"/>
              </a:spcBef>
              <a:defRPr/>
            </a:lvl4pPr>
            <a:lvl5pPr indent="0" lvl="4" marL="1828800" marR="0" rtl="0" algn="l">
              <a:spcBef>
                <a:spcPts val="0"/>
              </a:spcBef>
              <a:defRPr/>
            </a:lvl5pPr>
            <a:lvl6pPr indent="0" lvl="5" marL="2286000" marR="0" rtl="0" algn="l">
              <a:spcBef>
                <a:spcPts val="0"/>
              </a:spcBef>
              <a:defRPr/>
            </a:lvl6pPr>
            <a:lvl7pPr indent="0" lvl="6" marL="2743200" marR="0" rtl="0" algn="l">
              <a:spcBef>
                <a:spcPts val="0"/>
              </a:spcBef>
              <a:defRPr/>
            </a:lvl7pPr>
            <a:lvl8pPr indent="0" lvl="7" marL="3200400" marR="0" rtl="0" algn="l">
              <a:spcBef>
                <a:spcPts val="0"/>
              </a:spcBef>
              <a:defRPr/>
            </a:lvl8pPr>
            <a:lvl9pPr indent="0" lvl="8" marL="3657600" marR="0" rtl="0" algn="l">
              <a:spcBef>
                <a:spcPts val="0"/>
              </a:spcBef>
              <a:defRPr/>
            </a:lvl9pPr>
          </a:lstStyle>
          <a:p/>
        </p:txBody>
      </p:sp>
      <p:sp>
        <p:nvSpPr>
          <p:cNvPr id="20" name="Shape 20"/>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
  <p:cSld name="Title and Content">
    <p:spTree>
      <p:nvGrpSpPr>
        <p:cNvPr id="21" name="Shape 21"/>
        <p:cNvGrpSpPr/>
        <p:nvPr/>
      </p:nvGrpSpPr>
      <p:grpSpPr>
        <a:xfrm>
          <a:off x="0" y="0"/>
          <a:ext cx="0" cy="0"/>
          <a:chOff x="0" y="0"/>
          <a:chExt cx="0" cy="0"/>
        </a:xfrm>
      </p:grpSpPr>
      <p:sp>
        <p:nvSpPr>
          <p:cNvPr id="22" name="Shape 22"/>
          <p:cNvSpPr txBox="1"/>
          <p:nvPr>
            <p:ph type="title"/>
          </p:nvPr>
        </p:nvSpPr>
        <p:spPr>
          <a:xfrm>
            <a:off x="457200" y="274637"/>
            <a:ext cx="8229600" cy="1143000"/>
          </a:xfrm>
          <a:prstGeom prst="rect">
            <a:avLst/>
          </a:prstGeom>
          <a:noFill/>
          <a:ln>
            <a:noFill/>
          </a:ln>
        </p:spPr>
        <p:txBody>
          <a:bodyPr anchorCtr="0" anchor="ctr" bIns="91425" lIns="91425" rIns="91425" tIns="91425"/>
          <a:lstStyle>
            <a:lvl1pPr lvl="0" rtl="0" algn="ctr">
              <a:spcBef>
                <a:spcPts val="0"/>
              </a:spcBef>
              <a:buClr>
                <a:schemeClr val="dk1"/>
              </a:buClr>
              <a:buFont typeface="Calibri"/>
              <a:buNone/>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p:txBody>
      </p:sp>
      <p:sp>
        <p:nvSpPr>
          <p:cNvPr id="23" name="Shape 23"/>
          <p:cNvSpPr txBox="1"/>
          <p:nvPr>
            <p:ph idx="1" type="body"/>
          </p:nvPr>
        </p:nvSpPr>
        <p:spPr>
          <a:xfrm>
            <a:off x="457200" y="1600200"/>
            <a:ext cx="8229600" cy="4525961"/>
          </a:xfrm>
          <a:prstGeom prst="rect">
            <a:avLst/>
          </a:prstGeom>
          <a:noFill/>
          <a:ln>
            <a:noFill/>
          </a:ln>
        </p:spPr>
        <p:txBody>
          <a:bodyPr anchorCtr="0" anchor="t" bIns="91425" lIns="91425" rIns="91425" tIns="91425"/>
          <a:lstStyle>
            <a:lvl1pPr indent="-139700" lvl="0" marL="342900" rtl="0" algn="l">
              <a:spcBef>
                <a:spcPts val="640"/>
              </a:spcBef>
              <a:buClr>
                <a:schemeClr val="dk1"/>
              </a:buClr>
              <a:buFont typeface="Arial"/>
              <a:buChar char="•"/>
              <a:defRPr/>
            </a:lvl1pPr>
            <a:lvl2pPr indent="-107950" lvl="1" marL="742950" rtl="0" algn="l">
              <a:spcBef>
                <a:spcPts val="560"/>
              </a:spcBef>
              <a:buClr>
                <a:schemeClr val="dk1"/>
              </a:buClr>
              <a:buFont typeface="Arial"/>
              <a:buChar char="–"/>
              <a:defRPr/>
            </a:lvl2pPr>
            <a:lvl3pPr indent="-76200" lvl="2" marL="1143000" rtl="0" algn="l">
              <a:spcBef>
                <a:spcPts val="480"/>
              </a:spcBef>
              <a:buClr>
                <a:schemeClr val="dk1"/>
              </a:buClr>
              <a:buFont typeface="Arial"/>
              <a:buChar char="•"/>
              <a:defRPr/>
            </a:lvl3pPr>
            <a:lvl4pPr indent="-101600" lvl="3" marL="1600200" rtl="0" algn="l">
              <a:spcBef>
                <a:spcPts val="400"/>
              </a:spcBef>
              <a:buClr>
                <a:schemeClr val="dk1"/>
              </a:buClr>
              <a:buFont typeface="Arial"/>
              <a:buChar char="–"/>
              <a:defRPr/>
            </a:lvl4pPr>
            <a:lvl5pPr indent="-101600" lvl="4" marL="2057400" rtl="0" algn="l">
              <a:spcBef>
                <a:spcPts val="400"/>
              </a:spcBef>
              <a:buClr>
                <a:schemeClr val="dk1"/>
              </a:buClr>
              <a:buFont typeface="Arial"/>
              <a:buChar char="»"/>
              <a:defRPr/>
            </a:lvl5pPr>
            <a:lvl6pPr indent="-101600" lvl="5" marL="2514600" rtl="0" algn="l">
              <a:spcBef>
                <a:spcPts val="400"/>
              </a:spcBef>
              <a:buClr>
                <a:schemeClr val="dk1"/>
              </a:buClr>
              <a:buFont typeface="Arial"/>
              <a:buChar char="•"/>
              <a:defRPr/>
            </a:lvl6pPr>
            <a:lvl7pPr indent="-101600" lvl="6" marL="2971800" rtl="0" algn="l">
              <a:spcBef>
                <a:spcPts val="400"/>
              </a:spcBef>
              <a:buClr>
                <a:schemeClr val="dk1"/>
              </a:buClr>
              <a:buFont typeface="Arial"/>
              <a:buChar char="•"/>
              <a:defRPr/>
            </a:lvl7pPr>
            <a:lvl8pPr indent="-101600" lvl="7" marL="3429000" rtl="0" algn="l">
              <a:spcBef>
                <a:spcPts val="400"/>
              </a:spcBef>
              <a:buClr>
                <a:schemeClr val="dk1"/>
              </a:buClr>
              <a:buFont typeface="Arial"/>
              <a:buChar char="•"/>
              <a:defRPr/>
            </a:lvl8pPr>
            <a:lvl9pPr indent="-101600" lvl="8" marL="3886200" rtl="0" algn="l">
              <a:spcBef>
                <a:spcPts val="400"/>
              </a:spcBef>
              <a:buClr>
                <a:schemeClr val="dk1"/>
              </a:buClr>
              <a:buFont typeface="Arial"/>
              <a:buChar char="•"/>
              <a:defRPr/>
            </a:lvl9pPr>
          </a:lstStyle>
          <a:p/>
        </p:txBody>
      </p:sp>
      <p:sp>
        <p:nvSpPr>
          <p:cNvPr id="24" name="Shape 24"/>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25" name="Shape 25"/>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spcBef>
                <a:spcPts val="0"/>
              </a:spcBef>
              <a:defRPr/>
            </a:lvl1pPr>
            <a:lvl2pPr indent="0" lvl="1" marL="457200" marR="0" rtl="0" algn="l">
              <a:spcBef>
                <a:spcPts val="0"/>
              </a:spcBef>
              <a:defRPr/>
            </a:lvl2pPr>
            <a:lvl3pPr indent="0" lvl="2" marL="914400" marR="0" rtl="0" algn="l">
              <a:spcBef>
                <a:spcPts val="0"/>
              </a:spcBef>
              <a:defRPr/>
            </a:lvl3pPr>
            <a:lvl4pPr indent="0" lvl="3" marL="1371600" marR="0" rtl="0" algn="l">
              <a:spcBef>
                <a:spcPts val="0"/>
              </a:spcBef>
              <a:defRPr/>
            </a:lvl4pPr>
            <a:lvl5pPr indent="0" lvl="4" marL="1828800" marR="0" rtl="0" algn="l">
              <a:spcBef>
                <a:spcPts val="0"/>
              </a:spcBef>
              <a:defRPr/>
            </a:lvl5pPr>
            <a:lvl6pPr indent="0" lvl="5" marL="2286000" marR="0" rtl="0" algn="l">
              <a:spcBef>
                <a:spcPts val="0"/>
              </a:spcBef>
              <a:defRPr/>
            </a:lvl6pPr>
            <a:lvl7pPr indent="0" lvl="6" marL="2743200" marR="0" rtl="0" algn="l">
              <a:spcBef>
                <a:spcPts val="0"/>
              </a:spcBef>
              <a:defRPr/>
            </a:lvl7pPr>
            <a:lvl8pPr indent="0" lvl="7" marL="3200400" marR="0" rtl="0" algn="l">
              <a:spcBef>
                <a:spcPts val="0"/>
              </a:spcBef>
              <a:defRPr/>
            </a:lvl8pPr>
            <a:lvl9pPr indent="0" lvl="8" marL="3657600" marR="0" rtl="0" algn="l">
              <a:spcBef>
                <a:spcPts val="0"/>
              </a:spcBef>
              <a:defRPr/>
            </a:lvl9pPr>
          </a:lstStyle>
          <a:p/>
        </p:txBody>
      </p:sp>
      <p:sp>
        <p:nvSpPr>
          <p:cNvPr id="26" name="Shape 26"/>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vertTitleAndTx">
  <p:cSld name="Vertical Title and Text">
    <p:spTree>
      <p:nvGrpSpPr>
        <p:cNvPr id="27" name="Shape 27"/>
        <p:cNvGrpSpPr/>
        <p:nvPr/>
      </p:nvGrpSpPr>
      <p:grpSpPr>
        <a:xfrm>
          <a:off x="0" y="0"/>
          <a:ext cx="0" cy="0"/>
          <a:chOff x="0" y="0"/>
          <a:chExt cx="0" cy="0"/>
        </a:xfrm>
      </p:grpSpPr>
      <p:sp>
        <p:nvSpPr>
          <p:cNvPr id="28" name="Shape 28"/>
          <p:cNvSpPr txBox="1"/>
          <p:nvPr>
            <p:ph type="title"/>
          </p:nvPr>
        </p:nvSpPr>
        <p:spPr>
          <a:xfrm rot="5400000">
            <a:off x="4732337" y="2171700"/>
            <a:ext cx="5851525" cy="2057400"/>
          </a:xfrm>
          <a:prstGeom prst="rect">
            <a:avLst/>
          </a:prstGeom>
          <a:noFill/>
          <a:ln>
            <a:noFill/>
          </a:ln>
        </p:spPr>
        <p:txBody>
          <a:bodyPr anchorCtr="0" anchor="ctr" bIns="91425" lIns="91425" rIns="91425" tIns="91425"/>
          <a:lstStyle>
            <a:lvl1pPr lvl="0" rtl="0" algn="ctr">
              <a:spcBef>
                <a:spcPts val="0"/>
              </a:spcBef>
              <a:buClr>
                <a:schemeClr val="dk1"/>
              </a:buClr>
              <a:buFont typeface="Calibri"/>
              <a:buNone/>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p:txBody>
      </p:sp>
      <p:sp>
        <p:nvSpPr>
          <p:cNvPr id="29" name="Shape 29"/>
          <p:cNvSpPr txBox="1"/>
          <p:nvPr>
            <p:ph idx="1" type="body"/>
          </p:nvPr>
        </p:nvSpPr>
        <p:spPr>
          <a:xfrm rot="5400000">
            <a:off x="541337" y="190500"/>
            <a:ext cx="5851525" cy="6019799"/>
          </a:xfrm>
          <a:prstGeom prst="rect">
            <a:avLst/>
          </a:prstGeom>
          <a:noFill/>
          <a:ln>
            <a:noFill/>
          </a:ln>
        </p:spPr>
        <p:txBody>
          <a:bodyPr anchorCtr="0" anchor="t" bIns="91425" lIns="91425" rIns="91425" tIns="91425"/>
          <a:lstStyle>
            <a:lvl1pPr indent="-139700" lvl="0" marL="342900" rtl="0" algn="l">
              <a:spcBef>
                <a:spcPts val="640"/>
              </a:spcBef>
              <a:buClr>
                <a:schemeClr val="dk1"/>
              </a:buClr>
              <a:buFont typeface="Arial"/>
              <a:buChar char="•"/>
              <a:defRPr/>
            </a:lvl1pPr>
            <a:lvl2pPr indent="-107950" lvl="1" marL="742950" rtl="0" algn="l">
              <a:spcBef>
                <a:spcPts val="560"/>
              </a:spcBef>
              <a:buClr>
                <a:schemeClr val="dk1"/>
              </a:buClr>
              <a:buFont typeface="Arial"/>
              <a:buChar char="–"/>
              <a:defRPr/>
            </a:lvl2pPr>
            <a:lvl3pPr indent="-76200" lvl="2" marL="1143000" rtl="0" algn="l">
              <a:spcBef>
                <a:spcPts val="480"/>
              </a:spcBef>
              <a:buClr>
                <a:schemeClr val="dk1"/>
              </a:buClr>
              <a:buFont typeface="Arial"/>
              <a:buChar char="•"/>
              <a:defRPr/>
            </a:lvl3pPr>
            <a:lvl4pPr indent="-101600" lvl="3" marL="1600200" rtl="0" algn="l">
              <a:spcBef>
                <a:spcPts val="400"/>
              </a:spcBef>
              <a:buClr>
                <a:schemeClr val="dk1"/>
              </a:buClr>
              <a:buFont typeface="Arial"/>
              <a:buChar char="–"/>
              <a:defRPr/>
            </a:lvl4pPr>
            <a:lvl5pPr indent="-101600" lvl="4" marL="2057400" rtl="0" algn="l">
              <a:spcBef>
                <a:spcPts val="400"/>
              </a:spcBef>
              <a:buClr>
                <a:schemeClr val="dk1"/>
              </a:buClr>
              <a:buFont typeface="Arial"/>
              <a:buChar char="»"/>
              <a:defRPr/>
            </a:lvl5pPr>
            <a:lvl6pPr indent="-101600" lvl="5" marL="2514600" rtl="0" algn="l">
              <a:spcBef>
                <a:spcPts val="400"/>
              </a:spcBef>
              <a:buClr>
                <a:schemeClr val="dk1"/>
              </a:buClr>
              <a:buFont typeface="Arial"/>
              <a:buChar char="•"/>
              <a:defRPr/>
            </a:lvl6pPr>
            <a:lvl7pPr indent="-101600" lvl="6" marL="2971800" rtl="0" algn="l">
              <a:spcBef>
                <a:spcPts val="400"/>
              </a:spcBef>
              <a:buClr>
                <a:schemeClr val="dk1"/>
              </a:buClr>
              <a:buFont typeface="Arial"/>
              <a:buChar char="•"/>
              <a:defRPr/>
            </a:lvl7pPr>
            <a:lvl8pPr indent="-101600" lvl="7" marL="3429000" rtl="0" algn="l">
              <a:spcBef>
                <a:spcPts val="400"/>
              </a:spcBef>
              <a:buClr>
                <a:schemeClr val="dk1"/>
              </a:buClr>
              <a:buFont typeface="Arial"/>
              <a:buChar char="•"/>
              <a:defRPr/>
            </a:lvl8pPr>
            <a:lvl9pPr indent="-101600" lvl="8" marL="3886200" rtl="0" algn="l">
              <a:spcBef>
                <a:spcPts val="400"/>
              </a:spcBef>
              <a:buClr>
                <a:schemeClr val="dk1"/>
              </a:buClr>
              <a:buFont typeface="Arial"/>
              <a:buChar char="•"/>
              <a:defRPr/>
            </a:lvl9pPr>
          </a:lstStyle>
          <a:p/>
        </p:txBody>
      </p:sp>
      <p:sp>
        <p:nvSpPr>
          <p:cNvPr id="30" name="Shape 30"/>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31" name="Shape 31"/>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spcBef>
                <a:spcPts val="0"/>
              </a:spcBef>
              <a:defRPr/>
            </a:lvl1pPr>
            <a:lvl2pPr indent="0" lvl="1" marL="457200" marR="0" rtl="0" algn="l">
              <a:spcBef>
                <a:spcPts val="0"/>
              </a:spcBef>
              <a:defRPr/>
            </a:lvl2pPr>
            <a:lvl3pPr indent="0" lvl="2" marL="914400" marR="0" rtl="0" algn="l">
              <a:spcBef>
                <a:spcPts val="0"/>
              </a:spcBef>
              <a:defRPr/>
            </a:lvl3pPr>
            <a:lvl4pPr indent="0" lvl="3" marL="1371600" marR="0" rtl="0" algn="l">
              <a:spcBef>
                <a:spcPts val="0"/>
              </a:spcBef>
              <a:defRPr/>
            </a:lvl4pPr>
            <a:lvl5pPr indent="0" lvl="4" marL="1828800" marR="0" rtl="0" algn="l">
              <a:spcBef>
                <a:spcPts val="0"/>
              </a:spcBef>
              <a:defRPr/>
            </a:lvl5pPr>
            <a:lvl6pPr indent="0" lvl="5" marL="2286000" marR="0" rtl="0" algn="l">
              <a:spcBef>
                <a:spcPts val="0"/>
              </a:spcBef>
              <a:defRPr/>
            </a:lvl6pPr>
            <a:lvl7pPr indent="0" lvl="6" marL="2743200" marR="0" rtl="0" algn="l">
              <a:spcBef>
                <a:spcPts val="0"/>
              </a:spcBef>
              <a:defRPr/>
            </a:lvl7pPr>
            <a:lvl8pPr indent="0" lvl="7" marL="3200400" marR="0" rtl="0" algn="l">
              <a:spcBef>
                <a:spcPts val="0"/>
              </a:spcBef>
              <a:defRPr/>
            </a:lvl8pPr>
            <a:lvl9pPr indent="0" lvl="8" marL="3657600" marR="0" rtl="0" algn="l">
              <a:spcBef>
                <a:spcPts val="0"/>
              </a:spcBef>
              <a:defRPr/>
            </a:lvl9pPr>
          </a:lstStyle>
          <a:p/>
        </p:txBody>
      </p:sp>
      <p:sp>
        <p:nvSpPr>
          <p:cNvPr id="32" name="Shape 32"/>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vertTx">
  <p:cSld name="Title and Vertical Text">
    <p:spTree>
      <p:nvGrpSpPr>
        <p:cNvPr id="33" name="Shape 33"/>
        <p:cNvGrpSpPr/>
        <p:nvPr/>
      </p:nvGrpSpPr>
      <p:grpSpPr>
        <a:xfrm>
          <a:off x="0" y="0"/>
          <a:ext cx="0" cy="0"/>
          <a:chOff x="0" y="0"/>
          <a:chExt cx="0" cy="0"/>
        </a:xfrm>
      </p:grpSpPr>
      <p:sp>
        <p:nvSpPr>
          <p:cNvPr id="34" name="Shape 34"/>
          <p:cNvSpPr txBox="1"/>
          <p:nvPr>
            <p:ph type="title"/>
          </p:nvPr>
        </p:nvSpPr>
        <p:spPr>
          <a:xfrm>
            <a:off x="457200" y="274637"/>
            <a:ext cx="8229600" cy="1143000"/>
          </a:xfrm>
          <a:prstGeom prst="rect">
            <a:avLst/>
          </a:prstGeom>
          <a:noFill/>
          <a:ln>
            <a:noFill/>
          </a:ln>
        </p:spPr>
        <p:txBody>
          <a:bodyPr anchorCtr="0" anchor="ctr" bIns="91425" lIns="91425" rIns="91425" tIns="91425"/>
          <a:lstStyle>
            <a:lvl1pPr lvl="0" rtl="0" algn="ctr">
              <a:spcBef>
                <a:spcPts val="0"/>
              </a:spcBef>
              <a:buClr>
                <a:schemeClr val="dk1"/>
              </a:buClr>
              <a:buFont typeface="Calibri"/>
              <a:buNone/>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p:txBody>
      </p:sp>
      <p:sp>
        <p:nvSpPr>
          <p:cNvPr id="35" name="Shape 35"/>
          <p:cNvSpPr txBox="1"/>
          <p:nvPr>
            <p:ph idx="1" type="body"/>
          </p:nvPr>
        </p:nvSpPr>
        <p:spPr>
          <a:xfrm rot="5400000">
            <a:off x="2309018" y="-251619"/>
            <a:ext cx="4525961" cy="8229600"/>
          </a:xfrm>
          <a:prstGeom prst="rect">
            <a:avLst/>
          </a:prstGeom>
          <a:noFill/>
          <a:ln>
            <a:noFill/>
          </a:ln>
        </p:spPr>
        <p:txBody>
          <a:bodyPr anchorCtr="0" anchor="t" bIns="91425" lIns="91425" rIns="91425" tIns="91425"/>
          <a:lstStyle>
            <a:lvl1pPr indent="-139700" lvl="0" marL="342900" rtl="0" algn="l">
              <a:spcBef>
                <a:spcPts val="640"/>
              </a:spcBef>
              <a:buClr>
                <a:schemeClr val="dk1"/>
              </a:buClr>
              <a:buFont typeface="Arial"/>
              <a:buChar char="•"/>
              <a:defRPr/>
            </a:lvl1pPr>
            <a:lvl2pPr indent="-107950" lvl="1" marL="742950" rtl="0" algn="l">
              <a:spcBef>
                <a:spcPts val="560"/>
              </a:spcBef>
              <a:buClr>
                <a:schemeClr val="dk1"/>
              </a:buClr>
              <a:buFont typeface="Arial"/>
              <a:buChar char="–"/>
              <a:defRPr/>
            </a:lvl2pPr>
            <a:lvl3pPr indent="-76200" lvl="2" marL="1143000" rtl="0" algn="l">
              <a:spcBef>
                <a:spcPts val="480"/>
              </a:spcBef>
              <a:buClr>
                <a:schemeClr val="dk1"/>
              </a:buClr>
              <a:buFont typeface="Arial"/>
              <a:buChar char="•"/>
              <a:defRPr/>
            </a:lvl3pPr>
            <a:lvl4pPr indent="-101600" lvl="3" marL="1600200" rtl="0" algn="l">
              <a:spcBef>
                <a:spcPts val="400"/>
              </a:spcBef>
              <a:buClr>
                <a:schemeClr val="dk1"/>
              </a:buClr>
              <a:buFont typeface="Arial"/>
              <a:buChar char="–"/>
              <a:defRPr/>
            </a:lvl4pPr>
            <a:lvl5pPr indent="-101600" lvl="4" marL="2057400" rtl="0" algn="l">
              <a:spcBef>
                <a:spcPts val="400"/>
              </a:spcBef>
              <a:buClr>
                <a:schemeClr val="dk1"/>
              </a:buClr>
              <a:buFont typeface="Arial"/>
              <a:buChar char="»"/>
              <a:defRPr/>
            </a:lvl5pPr>
            <a:lvl6pPr indent="-101600" lvl="5" marL="2514600" rtl="0" algn="l">
              <a:spcBef>
                <a:spcPts val="400"/>
              </a:spcBef>
              <a:buClr>
                <a:schemeClr val="dk1"/>
              </a:buClr>
              <a:buFont typeface="Arial"/>
              <a:buChar char="•"/>
              <a:defRPr/>
            </a:lvl6pPr>
            <a:lvl7pPr indent="-101600" lvl="6" marL="2971800" rtl="0" algn="l">
              <a:spcBef>
                <a:spcPts val="400"/>
              </a:spcBef>
              <a:buClr>
                <a:schemeClr val="dk1"/>
              </a:buClr>
              <a:buFont typeface="Arial"/>
              <a:buChar char="•"/>
              <a:defRPr/>
            </a:lvl7pPr>
            <a:lvl8pPr indent="-101600" lvl="7" marL="3429000" rtl="0" algn="l">
              <a:spcBef>
                <a:spcPts val="400"/>
              </a:spcBef>
              <a:buClr>
                <a:schemeClr val="dk1"/>
              </a:buClr>
              <a:buFont typeface="Arial"/>
              <a:buChar char="•"/>
              <a:defRPr/>
            </a:lvl8pPr>
            <a:lvl9pPr indent="-101600" lvl="8" marL="3886200" rtl="0" algn="l">
              <a:spcBef>
                <a:spcPts val="400"/>
              </a:spcBef>
              <a:buClr>
                <a:schemeClr val="dk1"/>
              </a:buClr>
              <a:buFont typeface="Arial"/>
              <a:buChar char="•"/>
              <a:defRPr/>
            </a:lvl9pPr>
          </a:lstStyle>
          <a:p/>
        </p:txBody>
      </p:sp>
      <p:sp>
        <p:nvSpPr>
          <p:cNvPr id="36" name="Shape 36"/>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37" name="Shape 37"/>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spcBef>
                <a:spcPts val="0"/>
              </a:spcBef>
              <a:defRPr/>
            </a:lvl1pPr>
            <a:lvl2pPr indent="0" lvl="1" marL="457200" marR="0" rtl="0" algn="l">
              <a:spcBef>
                <a:spcPts val="0"/>
              </a:spcBef>
              <a:defRPr/>
            </a:lvl2pPr>
            <a:lvl3pPr indent="0" lvl="2" marL="914400" marR="0" rtl="0" algn="l">
              <a:spcBef>
                <a:spcPts val="0"/>
              </a:spcBef>
              <a:defRPr/>
            </a:lvl3pPr>
            <a:lvl4pPr indent="0" lvl="3" marL="1371600" marR="0" rtl="0" algn="l">
              <a:spcBef>
                <a:spcPts val="0"/>
              </a:spcBef>
              <a:defRPr/>
            </a:lvl4pPr>
            <a:lvl5pPr indent="0" lvl="4" marL="1828800" marR="0" rtl="0" algn="l">
              <a:spcBef>
                <a:spcPts val="0"/>
              </a:spcBef>
              <a:defRPr/>
            </a:lvl5pPr>
            <a:lvl6pPr indent="0" lvl="5" marL="2286000" marR="0" rtl="0" algn="l">
              <a:spcBef>
                <a:spcPts val="0"/>
              </a:spcBef>
              <a:defRPr/>
            </a:lvl6pPr>
            <a:lvl7pPr indent="0" lvl="6" marL="2743200" marR="0" rtl="0" algn="l">
              <a:spcBef>
                <a:spcPts val="0"/>
              </a:spcBef>
              <a:defRPr/>
            </a:lvl7pPr>
            <a:lvl8pPr indent="0" lvl="7" marL="3200400" marR="0" rtl="0" algn="l">
              <a:spcBef>
                <a:spcPts val="0"/>
              </a:spcBef>
              <a:defRPr/>
            </a:lvl8pPr>
            <a:lvl9pPr indent="0" lvl="8" marL="3657600" marR="0" rtl="0" algn="l">
              <a:spcBef>
                <a:spcPts val="0"/>
              </a:spcBef>
              <a:defRPr/>
            </a:lvl9pPr>
          </a:lstStyle>
          <a:p/>
        </p:txBody>
      </p:sp>
      <p:sp>
        <p:nvSpPr>
          <p:cNvPr id="38" name="Shape 38"/>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picTx">
  <p:cSld name="Picture with Caption">
    <p:spTree>
      <p:nvGrpSpPr>
        <p:cNvPr id="39" name="Shape 39"/>
        <p:cNvGrpSpPr/>
        <p:nvPr/>
      </p:nvGrpSpPr>
      <p:grpSpPr>
        <a:xfrm>
          <a:off x="0" y="0"/>
          <a:ext cx="0" cy="0"/>
          <a:chOff x="0" y="0"/>
          <a:chExt cx="0" cy="0"/>
        </a:xfrm>
      </p:grpSpPr>
      <p:sp>
        <p:nvSpPr>
          <p:cNvPr id="40" name="Shape 40"/>
          <p:cNvSpPr txBox="1"/>
          <p:nvPr>
            <p:ph type="title"/>
          </p:nvPr>
        </p:nvSpPr>
        <p:spPr>
          <a:xfrm>
            <a:off x="1792288" y="4800600"/>
            <a:ext cx="5486399" cy="566737"/>
          </a:xfrm>
          <a:prstGeom prst="rect">
            <a:avLst/>
          </a:prstGeom>
          <a:noFill/>
          <a:ln>
            <a:noFill/>
          </a:ln>
        </p:spPr>
        <p:txBody>
          <a:bodyPr anchorCtr="0" anchor="b" bIns="91425" lIns="91425" rIns="91425" tIns="91425"/>
          <a:lstStyle>
            <a:lvl1pPr lvl="0" rtl="0" algn="l">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p:txBody>
      </p:sp>
      <p:sp>
        <p:nvSpPr>
          <p:cNvPr id="41" name="Shape 41"/>
          <p:cNvSpPr/>
          <p:nvPr>
            <p:ph idx="2" type="pic"/>
          </p:nvPr>
        </p:nvSpPr>
        <p:spPr>
          <a:xfrm>
            <a:off x="1792288" y="612775"/>
            <a:ext cx="5486399" cy="4114800"/>
          </a:xfrm>
          <a:prstGeom prst="rect">
            <a:avLst/>
          </a:prstGeom>
          <a:noFill/>
          <a:ln>
            <a:noFill/>
          </a:ln>
        </p:spPr>
      </p:sp>
      <p:sp>
        <p:nvSpPr>
          <p:cNvPr id="42" name="Shape 42"/>
          <p:cNvSpPr txBox="1"/>
          <p:nvPr>
            <p:ph idx="1" type="body"/>
          </p:nvPr>
        </p:nvSpPr>
        <p:spPr>
          <a:xfrm>
            <a:off x="1792288" y="5367337"/>
            <a:ext cx="5486399" cy="804861"/>
          </a:xfrm>
          <a:prstGeom prst="rect">
            <a:avLst/>
          </a:prstGeom>
          <a:noFill/>
          <a:ln>
            <a:noFill/>
          </a:ln>
        </p:spPr>
        <p:txBody>
          <a:bodyPr anchorCtr="0" anchor="t" bIns="91425" lIns="91425" rIns="91425" tIns="91425"/>
          <a:lstStyle>
            <a:lvl1pPr indent="0" lvl="0" marL="0" rtl="0">
              <a:spcBef>
                <a:spcPts val="0"/>
              </a:spcBef>
              <a:buFont typeface="Calibri"/>
              <a:buNone/>
              <a:defRPr/>
            </a:lvl1pPr>
            <a:lvl2pPr indent="0" lvl="1" marL="457200" rtl="0">
              <a:spcBef>
                <a:spcPts val="0"/>
              </a:spcBef>
              <a:buFont typeface="Calibri"/>
              <a:buNone/>
              <a:defRPr/>
            </a:lvl2pPr>
            <a:lvl3pPr indent="0" lvl="2" marL="914400" rtl="0">
              <a:spcBef>
                <a:spcPts val="0"/>
              </a:spcBef>
              <a:buFont typeface="Calibri"/>
              <a:buNone/>
              <a:defRPr/>
            </a:lvl3pPr>
            <a:lvl4pPr indent="0" lvl="3" marL="1371600" rtl="0">
              <a:spcBef>
                <a:spcPts val="0"/>
              </a:spcBef>
              <a:buFont typeface="Calibri"/>
              <a:buNone/>
              <a:defRPr/>
            </a:lvl4pPr>
            <a:lvl5pPr indent="0" lvl="4" marL="1828800" rtl="0">
              <a:spcBef>
                <a:spcPts val="0"/>
              </a:spcBef>
              <a:buFont typeface="Calibri"/>
              <a:buNone/>
              <a:defRPr/>
            </a:lvl5pPr>
            <a:lvl6pPr indent="0" lvl="5" marL="2286000" rtl="0">
              <a:spcBef>
                <a:spcPts val="0"/>
              </a:spcBef>
              <a:buFont typeface="Calibri"/>
              <a:buNone/>
              <a:defRPr/>
            </a:lvl6pPr>
            <a:lvl7pPr indent="0" lvl="6" marL="2743200" rtl="0">
              <a:spcBef>
                <a:spcPts val="0"/>
              </a:spcBef>
              <a:buFont typeface="Calibri"/>
              <a:buNone/>
              <a:defRPr/>
            </a:lvl7pPr>
            <a:lvl8pPr indent="0" lvl="7" marL="3200400" rtl="0">
              <a:spcBef>
                <a:spcPts val="0"/>
              </a:spcBef>
              <a:buFont typeface="Calibri"/>
              <a:buNone/>
              <a:defRPr/>
            </a:lvl8pPr>
            <a:lvl9pPr indent="0" lvl="8" marL="3657600" rtl="0">
              <a:spcBef>
                <a:spcPts val="0"/>
              </a:spcBef>
              <a:buFont typeface="Calibri"/>
              <a:buNone/>
              <a:defRPr/>
            </a:lvl9pPr>
          </a:lstStyle>
          <a:p/>
        </p:txBody>
      </p:sp>
      <p:sp>
        <p:nvSpPr>
          <p:cNvPr id="43" name="Shape 43"/>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44" name="Shape 44"/>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spcBef>
                <a:spcPts val="0"/>
              </a:spcBef>
              <a:defRPr/>
            </a:lvl1pPr>
            <a:lvl2pPr indent="0" lvl="1" marL="457200" marR="0" rtl="0" algn="l">
              <a:spcBef>
                <a:spcPts val="0"/>
              </a:spcBef>
              <a:defRPr/>
            </a:lvl2pPr>
            <a:lvl3pPr indent="0" lvl="2" marL="914400" marR="0" rtl="0" algn="l">
              <a:spcBef>
                <a:spcPts val="0"/>
              </a:spcBef>
              <a:defRPr/>
            </a:lvl3pPr>
            <a:lvl4pPr indent="0" lvl="3" marL="1371600" marR="0" rtl="0" algn="l">
              <a:spcBef>
                <a:spcPts val="0"/>
              </a:spcBef>
              <a:defRPr/>
            </a:lvl4pPr>
            <a:lvl5pPr indent="0" lvl="4" marL="1828800" marR="0" rtl="0" algn="l">
              <a:spcBef>
                <a:spcPts val="0"/>
              </a:spcBef>
              <a:defRPr/>
            </a:lvl5pPr>
            <a:lvl6pPr indent="0" lvl="5" marL="2286000" marR="0" rtl="0" algn="l">
              <a:spcBef>
                <a:spcPts val="0"/>
              </a:spcBef>
              <a:defRPr/>
            </a:lvl6pPr>
            <a:lvl7pPr indent="0" lvl="6" marL="2743200" marR="0" rtl="0" algn="l">
              <a:spcBef>
                <a:spcPts val="0"/>
              </a:spcBef>
              <a:defRPr/>
            </a:lvl7pPr>
            <a:lvl8pPr indent="0" lvl="7" marL="3200400" marR="0" rtl="0" algn="l">
              <a:spcBef>
                <a:spcPts val="0"/>
              </a:spcBef>
              <a:defRPr/>
            </a:lvl8pPr>
            <a:lvl9pPr indent="0" lvl="8" marL="3657600" marR="0" rtl="0" algn="l">
              <a:spcBef>
                <a:spcPts val="0"/>
              </a:spcBef>
              <a:defRPr/>
            </a:lvl9pPr>
          </a:lstStyle>
          <a:p/>
        </p:txBody>
      </p:sp>
      <p:sp>
        <p:nvSpPr>
          <p:cNvPr id="45" name="Shape 45"/>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Tx">
  <p:cSld name="Content with Caption">
    <p:spTree>
      <p:nvGrpSpPr>
        <p:cNvPr id="46" name="Shape 46"/>
        <p:cNvGrpSpPr/>
        <p:nvPr/>
      </p:nvGrpSpPr>
      <p:grpSpPr>
        <a:xfrm>
          <a:off x="0" y="0"/>
          <a:ext cx="0" cy="0"/>
          <a:chOff x="0" y="0"/>
          <a:chExt cx="0" cy="0"/>
        </a:xfrm>
      </p:grpSpPr>
      <p:sp>
        <p:nvSpPr>
          <p:cNvPr id="47" name="Shape 47"/>
          <p:cNvSpPr txBox="1"/>
          <p:nvPr>
            <p:ph type="title"/>
          </p:nvPr>
        </p:nvSpPr>
        <p:spPr>
          <a:xfrm>
            <a:off x="457200" y="273050"/>
            <a:ext cx="3008313" cy="1162049"/>
          </a:xfrm>
          <a:prstGeom prst="rect">
            <a:avLst/>
          </a:prstGeom>
          <a:noFill/>
          <a:ln>
            <a:noFill/>
          </a:ln>
        </p:spPr>
        <p:txBody>
          <a:bodyPr anchorCtr="0" anchor="b" bIns="91425" lIns="91425" rIns="91425" tIns="91425"/>
          <a:lstStyle>
            <a:lvl1pPr lvl="0" rtl="0" algn="l">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p:txBody>
      </p:sp>
      <p:sp>
        <p:nvSpPr>
          <p:cNvPr id="48" name="Shape 48"/>
          <p:cNvSpPr txBox="1"/>
          <p:nvPr>
            <p:ph idx="1" type="body"/>
          </p:nvPr>
        </p:nvSpPr>
        <p:spPr>
          <a:xfrm>
            <a:off x="3575050" y="273050"/>
            <a:ext cx="5111750" cy="5853112"/>
          </a:xfrm>
          <a:prstGeom prst="rect">
            <a:avLst/>
          </a:prstGeom>
          <a:noFill/>
          <a:ln>
            <a:noFill/>
          </a:ln>
        </p:spPr>
        <p:txBody>
          <a:bodyPr anchorCtr="0" anchor="t" bIns="91425" lIns="91425" rIns="91425" tIns="91425"/>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p:txBody>
      </p:sp>
      <p:sp>
        <p:nvSpPr>
          <p:cNvPr id="49" name="Shape 49"/>
          <p:cNvSpPr txBox="1"/>
          <p:nvPr>
            <p:ph idx="2" type="body"/>
          </p:nvPr>
        </p:nvSpPr>
        <p:spPr>
          <a:xfrm>
            <a:off x="457200" y="1435100"/>
            <a:ext cx="3008313" cy="4691063"/>
          </a:xfrm>
          <a:prstGeom prst="rect">
            <a:avLst/>
          </a:prstGeom>
          <a:noFill/>
          <a:ln>
            <a:noFill/>
          </a:ln>
        </p:spPr>
        <p:txBody>
          <a:bodyPr anchorCtr="0" anchor="t" bIns="91425" lIns="91425" rIns="91425" tIns="91425"/>
          <a:lstStyle>
            <a:lvl1pPr indent="0" lvl="0" marL="0" rtl="0">
              <a:spcBef>
                <a:spcPts val="0"/>
              </a:spcBef>
              <a:buFont typeface="Calibri"/>
              <a:buNone/>
              <a:defRPr/>
            </a:lvl1pPr>
            <a:lvl2pPr indent="0" lvl="1" marL="457200" rtl="0">
              <a:spcBef>
                <a:spcPts val="0"/>
              </a:spcBef>
              <a:buFont typeface="Calibri"/>
              <a:buNone/>
              <a:defRPr/>
            </a:lvl2pPr>
            <a:lvl3pPr indent="0" lvl="2" marL="914400" rtl="0">
              <a:spcBef>
                <a:spcPts val="0"/>
              </a:spcBef>
              <a:buFont typeface="Calibri"/>
              <a:buNone/>
              <a:defRPr/>
            </a:lvl3pPr>
            <a:lvl4pPr indent="0" lvl="3" marL="1371600" rtl="0">
              <a:spcBef>
                <a:spcPts val="0"/>
              </a:spcBef>
              <a:buFont typeface="Calibri"/>
              <a:buNone/>
              <a:defRPr/>
            </a:lvl4pPr>
            <a:lvl5pPr indent="0" lvl="4" marL="1828800" rtl="0">
              <a:spcBef>
                <a:spcPts val="0"/>
              </a:spcBef>
              <a:buFont typeface="Calibri"/>
              <a:buNone/>
              <a:defRPr/>
            </a:lvl5pPr>
            <a:lvl6pPr indent="0" lvl="5" marL="2286000" rtl="0">
              <a:spcBef>
                <a:spcPts val="0"/>
              </a:spcBef>
              <a:buFont typeface="Calibri"/>
              <a:buNone/>
              <a:defRPr/>
            </a:lvl6pPr>
            <a:lvl7pPr indent="0" lvl="6" marL="2743200" rtl="0">
              <a:spcBef>
                <a:spcPts val="0"/>
              </a:spcBef>
              <a:buFont typeface="Calibri"/>
              <a:buNone/>
              <a:defRPr/>
            </a:lvl7pPr>
            <a:lvl8pPr indent="0" lvl="7" marL="3200400" rtl="0">
              <a:spcBef>
                <a:spcPts val="0"/>
              </a:spcBef>
              <a:buFont typeface="Calibri"/>
              <a:buNone/>
              <a:defRPr/>
            </a:lvl8pPr>
            <a:lvl9pPr indent="0" lvl="8" marL="3657600" rtl="0">
              <a:spcBef>
                <a:spcPts val="0"/>
              </a:spcBef>
              <a:buFont typeface="Calibri"/>
              <a:buNone/>
              <a:defRPr/>
            </a:lvl9pPr>
          </a:lstStyle>
          <a:p/>
        </p:txBody>
      </p:sp>
      <p:sp>
        <p:nvSpPr>
          <p:cNvPr id="50" name="Shape 50"/>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51" name="Shape 51"/>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spcBef>
                <a:spcPts val="0"/>
              </a:spcBef>
              <a:defRPr/>
            </a:lvl1pPr>
            <a:lvl2pPr indent="0" lvl="1" marL="457200" marR="0" rtl="0" algn="l">
              <a:spcBef>
                <a:spcPts val="0"/>
              </a:spcBef>
              <a:defRPr/>
            </a:lvl2pPr>
            <a:lvl3pPr indent="0" lvl="2" marL="914400" marR="0" rtl="0" algn="l">
              <a:spcBef>
                <a:spcPts val="0"/>
              </a:spcBef>
              <a:defRPr/>
            </a:lvl3pPr>
            <a:lvl4pPr indent="0" lvl="3" marL="1371600" marR="0" rtl="0" algn="l">
              <a:spcBef>
                <a:spcPts val="0"/>
              </a:spcBef>
              <a:defRPr/>
            </a:lvl4pPr>
            <a:lvl5pPr indent="0" lvl="4" marL="1828800" marR="0" rtl="0" algn="l">
              <a:spcBef>
                <a:spcPts val="0"/>
              </a:spcBef>
              <a:defRPr/>
            </a:lvl5pPr>
            <a:lvl6pPr indent="0" lvl="5" marL="2286000" marR="0" rtl="0" algn="l">
              <a:spcBef>
                <a:spcPts val="0"/>
              </a:spcBef>
              <a:defRPr/>
            </a:lvl6pPr>
            <a:lvl7pPr indent="0" lvl="6" marL="2743200" marR="0" rtl="0" algn="l">
              <a:spcBef>
                <a:spcPts val="0"/>
              </a:spcBef>
              <a:defRPr/>
            </a:lvl7pPr>
            <a:lvl8pPr indent="0" lvl="7" marL="3200400" marR="0" rtl="0" algn="l">
              <a:spcBef>
                <a:spcPts val="0"/>
              </a:spcBef>
              <a:defRPr/>
            </a:lvl8pPr>
            <a:lvl9pPr indent="0" lvl="8" marL="3657600" marR="0" rtl="0" algn="l">
              <a:spcBef>
                <a:spcPts val="0"/>
              </a:spcBef>
              <a:defRPr/>
            </a:lvl9pPr>
          </a:lstStyle>
          <a:p/>
        </p:txBody>
      </p:sp>
      <p:sp>
        <p:nvSpPr>
          <p:cNvPr id="52" name="Shape 52"/>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53" name="Shape 53"/>
        <p:cNvGrpSpPr/>
        <p:nvPr/>
      </p:nvGrpSpPr>
      <p:grpSpPr>
        <a:xfrm>
          <a:off x="0" y="0"/>
          <a:ext cx="0" cy="0"/>
          <a:chOff x="0" y="0"/>
          <a:chExt cx="0" cy="0"/>
        </a:xfrm>
      </p:grpSpPr>
      <p:sp>
        <p:nvSpPr>
          <p:cNvPr id="54" name="Shape 54"/>
          <p:cNvSpPr txBox="1"/>
          <p:nvPr>
            <p:ph type="title"/>
          </p:nvPr>
        </p:nvSpPr>
        <p:spPr>
          <a:xfrm>
            <a:off x="457200" y="274637"/>
            <a:ext cx="8229600" cy="1143000"/>
          </a:xfrm>
          <a:prstGeom prst="rect">
            <a:avLst/>
          </a:prstGeom>
          <a:noFill/>
          <a:ln>
            <a:noFill/>
          </a:ln>
        </p:spPr>
        <p:txBody>
          <a:bodyPr anchorCtr="0" anchor="ctr" bIns="91425" lIns="91425" rIns="91425" tIns="91425"/>
          <a:lstStyle>
            <a:lvl1pPr lvl="0" rtl="0" algn="ctr">
              <a:spcBef>
                <a:spcPts val="0"/>
              </a:spcBef>
              <a:buClr>
                <a:schemeClr val="dk1"/>
              </a:buClr>
              <a:buFont typeface="Calibri"/>
              <a:buNone/>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p:txBody>
      </p:sp>
      <p:sp>
        <p:nvSpPr>
          <p:cNvPr id="55" name="Shape 55"/>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56" name="Shape 56"/>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spcBef>
                <a:spcPts val="0"/>
              </a:spcBef>
              <a:defRPr/>
            </a:lvl1pPr>
            <a:lvl2pPr indent="0" lvl="1" marL="457200" marR="0" rtl="0" algn="l">
              <a:spcBef>
                <a:spcPts val="0"/>
              </a:spcBef>
              <a:defRPr/>
            </a:lvl2pPr>
            <a:lvl3pPr indent="0" lvl="2" marL="914400" marR="0" rtl="0" algn="l">
              <a:spcBef>
                <a:spcPts val="0"/>
              </a:spcBef>
              <a:defRPr/>
            </a:lvl3pPr>
            <a:lvl4pPr indent="0" lvl="3" marL="1371600" marR="0" rtl="0" algn="l">
              <a:spcBef>
                <a:spcPts val="0"/>
              </a:spcBef>
              <a:defRPr/>
            </a:lvl4pPr>
            <a:lvl5pPr indent="0" lvl="4" marL="1828800" marR="0" rtl="0" algn="l">
              <a:spcBef>
                <a:spcPts val="0"/>
              </a:spcBef>
              <a:defRPr/>
            </a:lvl5pPr>
            <a:lvl6pPr indent="0" lvl="5" marL="2286000" marR="0" rtl="0" algn="l">
              <a:spcBef>
                <a:spcPts val="0"/>
              </a:spcBef>
              <a:defRPr/>
            </a:lvl6pPr>
            <a:lvl7pPr indent="0" lvl="6" marL="2743200" marR="0" rtl="0" algn="l">
              <a:spcBef>
                <a:spcPts val="0"/>
              </a:spcBef>
              <a:defRPr/>
            </a:lvl7pPr>
            <a:lvl8pPr indent="0" lvl="7" marL="3200400" marR="0" rtl="0" algn="l">
              <a:spcBef>
                <a:spcPts val="0"/>
              </a:spcBef>
              <a:defRPr/>
            </a:lvl8pPr>
            <a:lvl9pPr indent="0" lvl="8" marL="3657600" marR="0" rtl="0" algn="l">
              <a:spcBef>
                <a:spcPts val="0"/>
              </a:spcBef>
              <a:defRPr/>
            </a:lvl9pPr>
          </a:lstStyle>
          <a:p/>
        </p:txBody>
      </p:sp>
      <p:sp>
        <p:nvSpPr>
          <p:cNvPr id="57" name="Shape 57"/>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TxTwoObj">
  <p:cSld name="Comparison">
    <p:spTree>
      <p:nvGrpSpPr>
        <p:cNvPr id="58" name="Shape 58"/>
        <p:cNvGrpSpPr/>
        <p:nvPr/>
      </p:nvGrpSpPr>
      <p:grpSpPr>
        <a:xfrm>
          <a:off x="0" y="0"/>
          <a:ext cx="0" cy="0"/>
          <a:chOff x="0" y="0"/>
          <a:chExt cx="0" cy="0"/>
        </a:xfrm>
      </p:grpSpPr>
      <p:sp>
        <p:nvSpPr>
          <p:cNvPr id="59" name="Shape 59"/>
          <p:cNvSpPr txBox="1"/>
          <p:nvPr>
            <p:ph type="title"/>
          </p:nvPr>
        </p:nvSpPr>
        <p:spPr>
          <a:xfrm>
            <a:off x="457200" y="274637"/>
            <a:ext cx="8229600" cy="1143000"/>
          </a:xfrm>
          <a:prstGeom prst="rect">
            <a:avLst/>
          </a:prstGeom>
          <a:noFill/>
          <a:ln>
            <a:noFill/>
          </a:ln>
        </p:spPr>
        <p:txBody>
          <a:bodyPr anchorCtr="0" anchor="ctr" bIns="91425" lIns="91425" rIns="91425" tIns="91425"/>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p:txBody>
      </p:sp>
      <p:sp>
        <p:nvSpPr>
          <p:cNvPr id="60" name="Shape 60"/>
          <p:cNvSpPr txBox="1"/>
          <p:nvPr>
            <p:ph idx="1" type="body"/>
          </p:nvPr>
        </p:nvSpPr>
        <p:spPr>
          <a:xfrm>
            <a:off x="457200" y="1535112"/>
            <a:ext cx="4040187" cy="639762"/>
          </a:xfrm>
          <a:prstGeom prst="rect">
            <a:avLst/>
          </a:prstGeom>
          <a:noFill/>
          <a:ln>
            <a:noFill/>
          </a:ln>
        </p:spPr>
        <p:txBody>
          <a:bodyPr anchorCtr="0" anchor="b" bIns="91425" lIns="91425" rIns="91425" tIns="91425"/>
          <a:lstStyle>
            <a:lvl1pPr indent="0" lvl="0" marL="0" rtl="0">
              <a:spcBef>
                <a:spcPts val="0"/>
              </a:spcBef>
              <a:buFont typeface="Calibri"/>
              <a:buNone/>
              <a:defRPr/>
            </a:lvl1pPr>
            <a:lvl2pPr indent="0" lvl="1" marL="457200" rtl="0">
              <a:spcBef>
                <a:spcPts val="0"/>
              </a:spcBef>
              <a:buFont typeface="Calibri"/>
              <a:buNone/>
              <a:defRPr/>
            </a:lvl2pPr>
            <a:lvl3pPr indent="0" lvl="2" marL="914400" rtl="0">
              <a:spcBef>
                <a:spcPts val="0"/>
              </a:spcBef>
              <a:buFont typeface="Calibri"/>
              <a:buNone/>
              <a:defRPr/>
            </a:lvl3pPr>
            <a:lvl4pPr indent="0" lvl="3" marL="1371600" rtl="0">
              <a:spcBef>
                <a:spcPts val="0"/>
              </a:spcBef>
              <a:buFont typeface="Calibri"/>
              <a:buNone/>
              <a:defRPr/>
            </a:lvl4pPr>
            <a:lvl5pPr indent="0" lvl="4" marL="1828800" rtl="0">
              <a:spcBef>
                <a:spcPts val="0"/>
              </a:spcBef>
              <a:buFont typeface="Calibri"/>
              <a:buNone/>
              <a:defRPr/>
            </a:lvl5pPr>
            <a:lvl6pPr indent="0" lvl="5" marL="2286000" rtl="0">
              <a:spcBef>
                <a:spcPts val="0"/>
              </a:spcBef>
              <a:buFont typeface="Calibri"/>
              <a:buNone/>
              <a:defRPr/>
            </a:lvl6pPr>
            <a:lvl7pPr indent="0" lvl="6" marL="2743200" rtl="0">
              <a:spcBef>
                <a:spcPts val="0"/>
              </a:spcBef>
              <a:buFont typeface="Calibri"/>
              <a:buNone/>
              <a:defRPr/>
            </a:lvl7pPr>
            <a:lvl8pPr indent="0" lvl="7" marL="3200400" rtl="0">
              <a:spcBef>
                <a:spcPts val="0"/>
              </a:spcBef>
              <a:buFont typeface="Calibri"/>
              <a:buNone/>
              <a:defRPr/>
            </a:lvl8pPr>
            <a:lvl9pPr indent="0" lvl="8" marL="3657600" rtl="0">
              <a:spcBef>
                <a:spcPts val="0"/>
              </a:spcBef>
              <a:buFont typeface="Calibri"/>
              <a:buNone/>
              <a:defRPr/>
            </a:lvl9pPr>
          </a:lstStyle>
          <a:p/>
        </p:txBody>
      </p:sp>
      <p:sp>
        <p:nvSpPr>
          <p:cNvPr id="61" name="Shape 61"/>
          <p:cNvSpPr txBox="1"/>
          <p:nvPr>
            <p:ph idx="2" type="body"/>
          </p:nvPr>
        </p:nvSpPr>
        <p:spPr>
          <a:xfrm>
            <a:off x="457200" y="2174875"/>
            <a:ext cx="4040187" cy="3951287"/>
          </a:xfrm>
          <a:prstGeom prst="rect">
            <a:avLst/>
          </a:prstGeom>
          <a:noFill/>
          <a:ln>
            <a:noFill/>
          </a:ln>
        </p:spPr>
        <p:txBody>
          <a:bodyPr anchorCtr="0" anchor="t" bIns="91425" lIns="91425" rIns="91425" tIns="91425"/>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p:txBody>
      </p:sp>
      <p:sp>
        <p:nvSpPr>
          <p:cNvPr id="62" name="Shape 62"/>
          <p:cNvSpPr txBox="1"/>
          <p:nvPr>
            <p:ph idx="3" type="body"/>
          </p:nvPr>
        </p:nvSpPr>
        <p:spPr>
          <a:xfrm>
            <a:off x="4645025" y="1535112"/>
            <a:ext cx="4041774" cy="639762"/>
          </a:xfrm>
          <a:prstGeom prst="rect">
            <a:avLst/>
          </a:prstGeom>
          <a:noFill/>
          <a:ln>
            <a:noFill/>
          </a:ln>
        </p:spPr>
        <p:txBody>
          <a:bodyPr anchorCtr="0" anchor="b" bIns="91425" lIns="91425" rIns="91425" tIns="91425"/>
          <a:lstStyle>
            <a:lvl1pPr indent="0" lvl="0" marL="0" rtl="0">
              <a:spcBef>
                <a:spcPts val="0"/>
              </a:spcBef>
              <a:buFont typeface="Calibri"/>
              <a:buNone/>
              <a:defRPr/>
            </a:lvl1pPr>
            <a:lvl2pPr indent="0" lvl="1" marL="457200" rtl="0">
              <a:spcBef>
                <a:spcPts val="0"/>
              </a:spcBef>
              <a:buFont typeface="Calibri"/>
              <a:buNone/>
              <a:defRPr/>
            </a:lvl2pPr>
            <a:lvl3pPr indent="0" lvl="2" marL="914400" rtl="0">
              <a:spcBef>
                <a:spcPts val="0"/>
              </a:spcBef>
              <a:buFont typeface="Calibri"/>
              <a:buNone/>
              <a:defRPr/>
            </a:lvl3pPr>
            <a:lvl4pPr indent="0" lvl="3" marL="1371600" rtl="0">
              <a:spcBef>
                <a:spcPts val="0"/>
              </a:spcBef>
              <a:buFont typeface="Calibri"/>
              <a:buNone/>
              <a:defRPr/>
            </a:lvl4pPr>
            <a:lvl5pPr indent="0" lvl="4" marL="1828800" rtl="0">
              <a:spcBef>
                <a:spcPts val="0"/>
              </a:spcBef>
              <a:buFont typeface="Calibri"/>
              <a:buNone/>
              <a:defRPr/>
            </a:lvl5pPr>
            <a:lvl6pPr indent="0" lvl="5" marL="2286000" rtl="0">
              <a:spcBef>
                <a:spcPts val="0"/>
              </a:spcBef>
              <a:buFont typeface="Calibri"/>
              <a:buNone/>
              <a:defRPr/>
            </a:lvl6pPr>
            <a:lvl7pPr indent="0" lvl="6" marL="2743200" rtl="0">
              <a:spcBef>
                <a:spcPts val="0"/>
              </a:spcBef>
              <a:buFont typeface="Calibri"/>
              <a:buNone/>
              <a:defRPr/>
            </a:lvl7pPr>
            <a:lvl8pPr indent="0" lvl="7" marL="3200400" rtl="0">
              <a:spcBef>
                <a:spcPts val="0"/>
              </a:spcBef>
              <a:buFont typeface="Calibri"/>
              <a:buNone/>
              <a:defRPr/>
            </a:lvl8pPr>
            <a:lvl9pPr indent="0" lvl="8" marL="3657600" rtl="0">
              <a:spcBef>
                <a:spcPts val="0"/>
              </a:spcBef>
              <a:buFont typeface="Calibri"/>
              <a:buNone/>
              <a:defRPr/>
            </a:lvl9pPr>
          </a:lstStyle>
          <a:p/>
        </p:txBody>
      </p:sp>
      <p:sp>
        <p:nvSpPr>
          <p:cNvPr id="63" name="Shape 63"/>
          <p:cNvSpPr txBox="1"/>
          <p:nvPr>
            <p:ph idx="4" type="body"/>
          </p:nvPr>
        </p:nvSpPr>
        <p:spPr>
          <a:xfrm>
            <a:off x="4645025" y="2174875"/>
            <a:ext cx="4041774" cy="3951287"/>
          </a:xfrm>
          <a:prstGeom prst="rect">
            <a:avLst/>
          </a:prstGeom>
          <a:noFill/>
          <a:ln>
            <a:noFill/>
          </a:ln>
        </p:spPr>
        <p:txBody>
          <a:bodyPr anchorCtr="0" anchor="t" bIns="91425" lIns="91425" rIns="91425" tIns="91425"/>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p:txBody>
      </p:sp>
      <p:sp>
        <p:nvSpPr>
          <p:cNvPr id="64" name="Shape 64"/>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65" name="Shape 65"/>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spcBef>
                <a:spcPts val="0"/>
              </a:spcBef>
              <a:defRPr/>
            </a:lvl1pPr>
            <a:lvl2pPr indent="0" lvl="1" marL="457200" marR="0" rtl="0" algn="l">
              <a:spcBef>
                <a:spcPts val="0"/>
              </a:spcBef>
              <a:defRPr/>
            </a:lvl2pPr>
            <a:lvl3pPr indent="0" lvl="2" marL="914400" marR="0" rtl="0" algn="l">
              <a:spcBef>
                <a:spcPts val="0"/>
              </a:spcBef>
              <a:defRPr/>
            </a:lvl3pPr>
            <a:lvl4pPr indent="0" lvl="3" marL="1371600" marR="0" rtl="0" algn="l">
              <a:spcBef>
                <a:spcPts val="0"/>
              </a:spcBef>
              <a:defRPr/>
            </a:lvl4pPr>
            <a:lvl5pPr indent="0" lvl="4" marL="1828800" marR="0" rtl="0" algn="l">
              <a:spcBef>
                <a:spcPts val="0"/>
              </a:spcBef>
              <a:defRPr/>
            </a:lvl5pPr>
            <a:lvl6pPr indent="0" lvl="5" marL="2286000" marR="0" rtl="0" algn="l">
              <a:spcBef>
                <a:spcPts val="0"/>
              </a:spcBef>
              <a:defRPr/>
            </a:lvl6pPr>
            <a:lvl7pPr indent="0" lvl="6" marL="2743200" marR="0" rtl="0" algn="l">
              <a:spcBef>
                <a:spcPts val="0"/>
              </a:spcBef>
              <a:defRPr/>
            </a:lvl7pPr>
            <a:lvl8pPr indent="0" lvl="7" marL="3200400" marR="0" rtl="0" algn="l">
              <a:spcBef>
                <a:spcPts val="0"/>
              </a:spcBef>
              <a:defRPr/>
            </a:lvl8pPr>
            <a:lvl9pPr indent="0" lvl="8" marL="3657600" marR="0" rtl="0" algn="l">
              <a:spcBef>
                <a:spcPts val="0"/>
              </a:spcBef>
              <a:defRPr/>
            </a:lvl9pPr>
          </a:lstStyle>
          <a:p/>
        </p:txBody>
      </p:sp>
      <p:sp>
        <p:nvSpPr>
          <p:cNvPr id="66" name="Shape 66"/>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Obj">
  <p:cSld name="Two Content">
    <p:spTree>
      <p:nvGrpSpPr>
        <p:cNvPr id="67" name="Shape 67"/>
        <p:cNvGrpSpPr/>
        <p:nvPr/>
      </p:nvGrpSpPr>
      <p:grpSpPr>
        <a:xfrm>
          <a:off x="0" y="0"/>
          <a:ext cx="0" cy="0"/>
          <a:chOff x="0" y="0"/>
          <a:chExt cx="0" cy="0"/>
        </a:xfrm>
      </p:grpSpPr>
      <p:sp>
        <p:nvSpPr>
          <p:cNvPr id="68" name="Shape 68"/>
          <p:cNvSpPr txBox="1"/>
          <p:nvPr>
            <p:ph type="title"/>
          </p:nvPr>
        </p:nvSpPr>
        <p:spPr>
          <a:xfrm>
            <a:off x="457200" y="274637"/>
            <a:ext cx="8229600" cy="1143000"/>
          </a:xfrm>
          <a:prstGeom prst="rect">
            <a:avLst/>
          </a:prstGeom>
          <a:noFill/>
          <a:ln>
            <a:noFill/>
          </a:ln>
        </p:spPr>
        <p:txBody>
          <a:bodyPr anchorCtr="0" anchor="ctr" bIns="91425" lIns="91425" rIns="91425" tIns="91425"/>
          <a:lstStyle>
            <a:lvl1pPr lvl="0" rtl="0" algn="ctr">
              <a:spcBef>
                <a:spcPts val="0"/>
              </a:spcBef>
              <a:buClr>
                <a:schemeClr val="dk1"/>
              </a:buClr>
              <a:buFont typeface="Calibri"/>
              <a:buNone/>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p:txBody>
      </p:sp>
      <p:sp>
        <p:nvSpPr>
          <p:cNvPr id="69" name="Shape 69"/>
          <p:cNvSpPr txBox="1"/>
          <p:nvPr>
            <p:ph idx="1" type="body"/>
          </p:nvPr>
        </p:nvSpPr>
        <p:spPr>
          <a:xfrm>
            <a:off x="457200" y="1600200"/>
            <a:ext cx="4038599" cy="4525963"/>
          </a:xfrm>
          <a:prstGeom prst="rect">
            <a:avLst/>
          </a:prstGeom>
          <a:noFill/>
          <a:ln>
            <a:noFill/>
          </a:ln>
        </p:spPr>
        <p:txBody>
          <a:bodyPr anchorCtr="0" anchor="t" bIns="91425" lIns="91425" rIns="91425" tIns="91425"/>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p:txBody>
      </p:sp>
      <p:sp>
        <p:nvSpPr>
          <p:cNvPr id="70" name="Shape 70"/>
          <p:cNvSpPr txBox="1"/>
          <p:nvPr>
            <p:ph idx="2" type="body"/>
          </p:nvPr>
        </p:nvSpPr>
        <p:spPr>
          <a:xfrm>
            <a:off x="4648200" y="1600200"/>
            <a:ext cx="4038599" cy="4525963"/>
          </a:xfrm>
          <a:prstGeom prst="rect">
            <a:avLst/>
          </a:prstGeom>
          <a:noFill/>
          <a:ln>
            <a:noFill/>
          </a:ln>
        </p:spPr>
        <p:txBody>
          <a:bodyPr anchorCtr="0" anchor="t" bIns="91425" lIns="91425" rIns="91425" tIns="91425"/>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p:txBody>
      </p:sp>
      <p:sp>
        <p:nvSpPr>
          <p:cNvPr id="71" name="Shape 71"/>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72" name="Shape 72"/>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spcBef>
                <a:spcPts val="0"/>
              </a:spcBef>
              <a:defRPr/>
            </a:lvl1pPr>
            <a:lvl2pPr indent="0" lvl="1" marL="457200" marR="0" rtl="0" algn="l">
              <a:spcBef>
                <a:spcPts val="0"/>
              </a:spcBef>
              <a:defRPr/>
            </a:lvl2pPr>
            <a:lvl3pPr indent="0" lvl="2" marL="914400" marR="0" rtl="0" algn="l">
              <a:spcBef>
                <a:spcPts val="0"/>
              </a:spcBef>
              <a:defRPr/>
            </a:lvl3pPr>
            <a:lvl4pPr indent="0" lvl="3" marL="1371600" marR="0" rtl="0" algn="l">
              <a:spcBef>
                <a:spcPts val="0"/>
              </a:spcBef>
              <a:defRPr/>
            </a:lvl4pPr>
            <a:lvl5pPr indent="0" lvl="4" marL="1828800" marR="0" rtl="0" algn="l">
              <a:spcBef>
                <a:spcPts val="0"/>
              </a:spcBef>
              <a:defRPr/>
            </a:lvl5pPr>
            <a:lvl6pPr indent="0" lvl="5" marL="2286000" marR="0" rtl="0" algn="l">
              <a:spcBef>
                <a:spcPts val="0"/>
              </a:spcBef>
              <a:defRPr/>
            </a:lvl6pPr>
            <a:lvl7pPr indent="0" lvl="6" marL="2743200" marR="0" rtl="0" algn="l">
              <a:spcBef>
                <a:spcPts val="0"/>
              </a:spcBef>
              <a:defRPr/>
            </a:lvl7pPr>
            <a:lvl8pPr indent="0" lvl="7" marL="3200400" marR="0" rtl="0" algn="l">
              <a:spcBef>
                <a:spcPts val="0"/>
              </a:spcBef>
              <a:defRPr/>
            </a:lvl8pPr>
            <a:lvl9pPr indent="0" lvl="8" marL="3657600" marR="0" rtl="0" algn="l">
              <a:spcBef>
                <a:spcPts val="0"/>
              </a:spcBef>
              <a:defRPr/>
            </a:lvl9pPr>
          </a:lstStyle>
          <a:p/>
        </p:txBody>
      </p:sp>
      <p:sp>
        <p:nvSpPr>
          <p:cNvPr id="73" name="Shape 73"/>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secHead">
  <p:cSld name="Section Header">
    <p:spTree>
      <p:nvGrpSpPr>
        <p:cNvPr id="74" name="Shape 74"/>
        <p:cNvGrpSpPr/>
        <p:nvPr/>
      </p:nvGrpSpPr>
      <p:grpSpPr>
        <a:xfrm>
          <a:off x="0" y="0"/>
          <a:ext cx="0" cy="0"/>
          <a:chOff x="0" y="0"/>
          <a:chExt cx="0" cy="0"/>
        </a:xfrm>
      </p:grpSpPr>
      <p:sp>
        <p:nvSpPr>
          <p:cNvPr id="75" name="Shape 75"/>
          <p:cNvSpPr txBox="1"/>
          <p:nvPr>
            <p:ph type="title"/>
          </p:nvPr>
        </p:nvSpPr>
        <p:spPr>
          <a:xfrm>
            <a:off x="722312" y="4406900"/>
            <a:ext cx="7772400" cy="1362075"/>
          </a:xfrm>
          <a:prstGeom prst="rect">
            <a:avLst/>
          </a:prstGeom>
          <a:noFill/>
          <a:ln>
            <a:noFill/>
          </a:ln>
        </p:spPr>
        <p:txBody>
          <a:bodyPr anchorCtr="0" anchor="t" bIns="91425" lIns="91425" rIns="91425" tIns="91425"/>
          <a:lstStyle>
            <a:lvl1pPr lvl="0" rtl="0" algn="l">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p:txBody>
      </p:sp>
      <p:sp>
        <p:nvSpPr>
          <p:cNvPr id="76" name="Shape 76"/>
          <p:cNvSpPr txBox="1"/>
          <p:nvPr>
            <p:ph idx="1" type="body"/>
          </p:nvPr>
        </p:nvSpPr>
        <p:spPr>
          <a:xfrm>
            <a:off x="722312" y="2906713"/>
            <a:ext cx="7772400" cy="1500187"/>
          </a:xfrm>
          <a:prstGeom prst="rect">
            <a:avLst/>
          </a:prstGeom>
          <a:noFill/>
          <a:ln>
            <a:noFill/>
          </a:ln>
        </p:spPr>
        <p:txBody>
          <a:bodyPr anchorCtr="0" anchor="b" bIns="91425" lIns="91425" rIns="91425" tIns="91425"/>
          <a:lstStyle>
            <a:lvl1pPr indent="0" lvl="0" marL="0" rtl="0">
              <a:spcBef>
                <a:spcPts val="0"/>
              </a:spcBef>
              <a:buClr>
                <a:srgbClr val="888888"/>
              </a:buClr>
              <a:buFont typeface="Calibri"/>
              <a:buNone/>
              <a:defRPr/>
            </a:lvl1pPr>
            <a:lvl2pPr indent="0" lvl="1" marL="457200" rtl="0">
              <a:spcBef>
                <a:spcPts val="0"/>
              </a:spcBef>
              <a:buClr>
                <a:srgbClr val="888888"/>
              </a:buClr>
              <a:buFont typeface="Calibri"/>
              <a:buNone/>
              <a:defRPr/>
            </a:lvl2pPr>
            <a:lvl3pPr indent="0" lvl="2" marL="914400" rtl="0">
              <a:spcBef>
                <a:spcPts val="0"/>
              </a:spcBef>
              <a:buClr>
                <a:srgbClr val="888888"/>
              </a:buClr>
              <a:buFont typeface="Calibri"/>
              <a:buNone/>
              <a:defRPr/>
            </a:lvl3pPr>
            <a:lvl4pPr indent="0" lvl="3" marL="1371600" rtl="0">
              <a:spcBef>
                <a:spcPts val="0"/>
              </a:spcBef>
              <a:buClr>
                <a:srgbClr val="888888"/>
              </a:buClr>
              <a:buFont typeface="Calibri"/>
              <a:buNone/>
              <a:defRPr/>
            </a:lvl4pPr>
            <a:lvl5pPr indent="0" lvl="4" marL="1828800" rtl="0">
              <a:spcBef>
                <a:spcPts val="0"/>
              </a:spcBef>
              <a:buClr>
                <a:srgbClr val="888888"/>
              </a:buClr>
              <a:buFont typeface="Calibri"/>
              <a:buNone/>
              <a:defRPr/>
            </a:lvl5pPr>
            <a:lvl6pPr indent="0" lvl="5" marL="2286000" rtl="0">
              <a:spcBef>
                <a:spcPts val="0"/>
              </a:spcBef>
              <a:buClr>
                <a:srgbClr val="888888"/>
              </a:buClr>
              <a:buFont typeface="Calibri"/>
              <a:buNone/>
              <a:defRPr/>
            </a:lvl6pPr>
            <a:lvl7pPr indent="0" lvl="6" marL="2743200" rtl="0">
              <a:spcBef>
                <a:spcPts val="0"/>
              </a:spcBef>
              <a:buClr>
                <a:srgbClr val="888888"/>
              </a:buClr>
              <a:buFont typeface="Calibri"/>
              <a:buNone/>
              <a:defRPr/>
            </a:lvl7pPr>
            <a:lvl8pPr indent="0" lvl="7" marL="3200400" rtl="0">
              <a:spcBef>
                <a:spcPts val="0"/>
              </a:spcBef>
              <a:buClr>
                <a:srgbClr val="888888"/>
              </a:buClr>
              <a:buFont typeface="Calibri"/>
              <a:buNone/>
              <a:defRPr/>
            </a:lvl8pPr>
            <a:lvl9pPr indent="0" lvl="8" marL="3657600" rtl="0">
              <a:spcBef>
                <a:spcPts val="0"/>
              </a:spcBef>
              <a:buClr>
                <a:srgbClr val="888888"/>
              </a:buClr>
              <a:buFont typeface="Calibri"/>
              <a:buNone/>
              <a:defRPr/>
            </a:lvl9pPr>
          </a:lstStyle>
          <a:p/>
        </p:txBody>
      </p:sp>
      <p:sp>
        <p:nvSpPr>
          <p:cNvPr id="77" name="Shape 77"/>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78" name="Shape 78"/>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spcBef>
                <a:spcPts val="0"/>
              </a:spcBef>
              <a:defRPr/>
            </a:lvl1pPr>
            <a:lvl2pPr indent="0" lvl="1" marL="457200" marR="0" rtl="0" algn="l">
              <a:spcBef>
                <a:spcPts val="0"/>
              </a:spcBef>
              <a:defRPr/>
            </a:lvl2pPr>
            <a:lvl3pPr indent="0" lvl="2" marL="914400" marR="0" rtl="0" algn="l">
              <a:spcBef>
                <a:spcPts val="0"/>
              </a:spcBef>
              <a:defRPr/>
            </a:lvl3pPr>
            <a:lvl4pPr indent="0" lvl="3" marL="1371600" marR="0" rtl="0" algn="l">
              <a:spcBef>
                <a:spcPts val="0"/>
              </a:spcBef>
              <a:defRPr/>
            </a:lvl4pPr>
            <a:lvl5pPr indent="0" lvl="4" marL="1828800" marR="0" rtl="0" algn="l">
              <a:spcBef>
                <a:spcPts val="0"/>
              </a:spcBef>
              <a:defRPr/>
            </a:lvl5pPr>
            <a:lvl6pPr indent="0" lvl="5" marL="2286000" marR="0" rtl="0" algn="l">
              <a:spcBef>
                <a:spcPts val="0"/>
              </a:spcBef>
              <a:defRPr/>
            </a:lvl6pPr>
            <a:lvl7pPr indent="0" lvl="6" marL="2743200" marR="0" rtl="0" algn="l">
              <a:spcBef>
                <a:spcPts val="0"/>
              </a:spcBef>
              <a:defRPr/>
            </a:lvl7pPr>
            <a:lvl8pPr indent="0" lvl="7" marL="3200400" marR="0" rtl="0" algn="l">
              <a:spcBef>
                <a:spcPts val="0"/>
              </a:spcBef>
              <a:defRPr/>
            </a:lvl8pPr>
            <a:lvl9pPr indent="0" lvl="8" marL="3657600" marR="0" rtl="0" algn="l">
              <a:spcBef>
                <a:spcPts val="0"/>
              </a:spcBef>
              <a:defRPr/>
            </a:lvl9pPr>
          </a:lstStyle>
          <a:p/>
        </p:txBody>
      </p:sp>
      <p:sp>
        <p:nvSpPr>
          <p:cNvPr id="79" name="Shape 79"/>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 name="Shape 5"/>
        <p:cNvGrpSpPr/>
        <p:nvPr/>
      </p:nvGrpSpPr>
      <p:grpSpPr>
        <a:xfrm>
          <a:off x="0" y="0"/>
          <a:ext cx="0" cy="0"/>
          <a:chOff x="0" y="0"/>
          <a:chExt cx="0" cy="0"/>
        </a:xfrm>
      </p:grpSpPr>
      <p:sp>
        <p:nvSpPr>
          <p:cNvPr id="6" name="Shape 6"/>
          <p:cNvSpPr txBox="1"/>
          <p:nvPr>
            <p:ph type="title"/>
          </p:nvPr>
        </p:nvSpPr>
        <p:spPr>
          <a:xfrm>
            <a:off x="457200" y="274637"/>
            <a:ext cx="8229600" cy="1143000"/>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7" name="Shape 7"/>
          <p:cNvSpPr txBox="1"/>
          <p:nvPr>
            <p:ph idx="1" type="body"/>
          </p:nvPr>
        </p:nvSpPr>
        <p:spPr>
          <a:xfrm>
            <a:off x="457200" y="1600200"/>
            <a:ext cx="8229600" cy="4525961"/>
          </a:xfrm>
          <a:prstGeom prst="rect">
            <a:avLst/>
          </a:prstGeom>
          <a:noFill/>
          <a:ln>
            <a:noFill/>
          </a:ln>
        </p:spPr>
        <p:txBody>
          <a:bodyPr anchorCtr="0" anchor="t" bIns="91425" lIns="91425" rIns="91425" tIns="91425"/>
          <a:lstStyle>
            <a:lvl1pPr indent="-139700" lvl="0" marL="342900" marR="0" rtl="0" algn="l">
              <a:spcBef>
                <a:spcPts val="640"/>
              </a:spcBef>
              <a:buClr>
                <a:schemeClr val="dk1"/>
              </a:buClr>
              <a:buFont typeface="Arial"/>
              <a:buChar char="•"/>
              <a:defRPr/>
            </a:lvl1pPr>
            <a:lvl2pPr indent="-107950" lvl="1" marL="742950" marR="0" rtl="0" algn="l">
              <a:spcBef>
                <a:spcPts val="560"/>
              </a:spcBef>
              <a:buClr>
                <a:schemeClr val="dk1"/>
              </a:buClr>
              <a:buFont typeface="Arial"/>
              <a:buChar char="–"/>
              <a:defRPr/>
            </a:lvl2pPr>
            <a:lvl3pPr indent="-76200" lvl="2" marL="1143000" marR="0" rtl="0" algn="l">
              <a:spcBef>
                <a:spcPts val="480"/>
              </a:spcBef>
              <a:buClr>
                <a:schemeClr val="dk1"/>
              </a:buClr>
              <a:buFont typeface="Arial"/>
              <a:buChar char="•"/>
              <a:defRPr/>
            </a:lvl3pPr>
            <a:lvl4pPr indent="-101600" lvl="3" marL="1600200" marR="0" rtl="0" algn="l">
              <a:spcBef>
                <a:spcPts val="400"/>
              </a:spcBef>
              <a:buClr>
                <a:schemeClr val="dk1"/>
              </a:buClr>
              <a:buFont typeface="Arial"/>
              <a:buChar char="–"/>
              <a:defRPr/>
            </a:lvl4pPr>
            <a:lvl5pPr indent="-101600" lvl="4" marL="2057400" marR="0" rtl="0" algn="l">
              <a:spcBef>
                <a:spcPts val="400"/>
              </a:spcBef>
              <a:buClr>
                <a:schemeClr val="dk1"/>
              </a:buClr>
              <a:buFont typeface="Arial"/>
              <a:buChar char="»"/>
              <a:defRPr/>
            </a:lvl5pPr>
            <a:lvl6pPr indent="-101600" lvl="5" marL="2514600" marR="0" rtl="0" algn="l">
              <a:spcBef>
                <a:spcPts val="400"/>
              </a:spcBef>
              <a:buClr>
                <a:schemeClr val="dk1"/>
              </a:buClr>
              <a:buFont typeface="Arial"/>
              <a:buChar char="•"/>
              <a:defRPr/>
            </a:lvl6pPr>
            <a:lvl7pPr indent="-101600" lvl="6" marL="2971800" marR="0" rtl="0" algn="l">
              <a:spcBef>
                <a:spcPts val="400"/>
              </a:spcBef>
              <a:buClr>
                <a:schemeClr val="dk1"/>
              </a:buClr>
              <a:buFont typeface="Arial"/>
              <a:buChar char="•"/>
              <a:defRPr/>
            </a:lvl7pPr>
            <a:lvl8pPr indent="-101600" lvl="7" marL="3429000" marR="0" rtl="0" algn="l">
              <a:spcBef>
                <a:spcPts val="400"/>
              </a:spcBef>
              <a:buClr>
                <a:schemeClr val="dk1"/>
              </a:buClr>
              <a:buFont typeface="Arial"/>
              <a:buChar char="•"/>
              <a:defRPr/>
            </a:lvl8pPr>
            <a:lvl9pPr indent="-101600" lvl="8" marL="3886200" marR="0" rtl="0" algn="l">
              <a:spcBef>
                <a:spcPts val="400"/>
              </a:spcBef>
              <a:buClr>
                <a:schemeClr val="dk1"/>
              </a:buClr>
              <a:buFont typeface="Arial"/>
              <a:buChar char="•"/>
              <a:defRPr/>
            </a:lvl9pPr>
          </a:lstStyle>
          <a:p/>
        </p:txBody>
      </p:sp>
      <p:sp>
        <p:nvSpPr>
          <p:cNvPr id="8" name="Shape 8"/>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a:lvl1pPr>
            <a:lvl2pPr indent="0" lvl="1" marL="457200" marR="0" rtl="0" algn="l">
              <a:spcBef>
                <a:spcPts val="0"/>
              </a:spcBef>
              <a:defRPr/>
            </a:lvl2pPr>
            <a:lvl3pPr indent="0" lvl="2" marL="914400" marR="0" rtl="0" algn="l">
              <a:spcBef>
                <a:spcPts val="0"/>
              </a:spcBef>
              <a:defRPr/>
            </a:lvl3pPr>
            <a:lvl4pPr indent="0" lvl="3" marL="1371600" marR="0" rtl="0" algn="l">
              <a:spcBef>
                <a:spcPts val="0"/>
              </a:spcBef>
              <a:defRPr/>
            </a:lvl4pPr>
            <a:lvl5pPr indent="0" lvl="4" marL="1828800" marR="0" rtl="0" algn="l">
              <a:spcBef>
                <a:spcPts val="0"/>
              </a:spcBef>
              <a:defRPr/>
            </a:lvl5pPr>
            <a:lvl6pPr indent="0" lvl="5" marL="2286000" marR="0" rtl="0" algn="l">
              <a:spcBef>
                <a:spcPts val="0"/>
              </a:spcBef>
              <a:defRPr/>
            </a:lvl6pPr>
            <a:lvl7pPr indent="0" lvl="6" marL="2743200" marR="0" rtl="0" algn="l">
              <a:spcBef>
                <a:spcPts val="0"/>
              </a:spcBef>
              <a:defRPr/>
            </a:lvl7pPr>
            <a:lvl8pPr indent="0" lvl="7" marL="3200400" marR="0" rtl="0" algn="l">
              <a:spcBef>
                <a:spcPts val="0"/>
              </a:spcBef>
              <a:defRPr/>
            </a:lvl8pPr>
            <a:lvl9pPr indent="0" lvl="8" marL="3657600" marR="0" rtl="0" algn="l">
              <a:spcBef>
                <a:spcPts val="0"/>
              </a:spcBef>
              <a:defRPr/>
            </a:lvl9pPr>
          </a:lstStyle>
          <a:p/>
        </p:txBody>
      </p:sp>
      <p:sp>
        <p:nvSpPr>
          <p:cNvPr id="9" name="Shape 9"/>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spcBef>
                <a:spcPts val="0"/>
              </a:spcBef>
              <a:defRPr/>
            </a:lvl1pPr>
            <a:lvl2pPr indent="0" lvl="1" marL="457200" marR="0" rtl="0" algn="l">
              <a:spcBef>
                <a:spcPts val="0"/>
              </a:spcBef>
              <a:defRPr/>
            </a:lvl2pPr>
            <a:lvl3pPr indent="0" lvl="2" marL="914400" marR="0" rtl="0" algn="l">
              <a:spcBef>
                <a:spcPts val="0"/>
              </a:spcBef>
              <a:defRPr/>
            </a:lvl3pPr>
            <a:lvl4pPr indent="0" lvl="3" marL="1371600" marR="0" rtl="0" algn="l">
              <a:spcBef>
                <a:spcPts val="0"/>
              </a:spcBef>
              <a:defRPr/>
            </a:lvl4pPr>
            <a:lvl5pPr indent="0" lvl="4" marL="1828800" marR="0" rtl="0" algn="l">
              <a:spcBef>
                <a:spcPts val="0"/>
              </a:spcBef>
              <a:defRPr/>
            </a:lvl5pPr>
            <a:lvl6pPr indent="0" lvl="5" marL="2286000" marR="0" rtl="0" algn="l">
              <a:spcBef>
                <a:spcPts val="0"/>
              </a:spcBef>
              <a:defRPr/>
            </a:lvl6pPr>
            <a:lvl7pPr indent="0" lvl="6" marL="2743200" marR="0" rtl="0" algn="l">
              <a:spcBef>
                <a:spcPts val="0"/>
              </a:spcBef>
              <a:defRPr/>
            </a:lvl7pPr>
            <a:lvl8pPr indent="0" lvl="7" marL="3200400" marR="0" rtl="0" algn="l">
              <a:spcBef>
                <a:spcPts val="0"/>
              </a:spcBef>
              <a:defRPr/>
            </a:lvl8pPr>
            <a:lvl9pPr indent="0" lvl="8" marL="3657600" marR="0" rtl="0" algn="l">
              <a:spcBef>
                <a:spcPts val="0"/>
              </a:spcBef>
              <a:defRPr/>
            </a:lvl9pPr>
          </a:lstStyle>
          <a:p/>
        </p:txBody>
      </p:sp>
      <p:sp>
        <p:nvSpPr>
          <p:cNvPr id="10" name="Shape 10"/>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01.png"/><Relationship Id="rId4" Type="http://schemas.openxmlformats.org/officeDocument/2006/relationships/image" Target="../media/image0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01.png"/><Relationship Id="rId4" Type="http://schemas.openxmlformats.org/officeDocument/2006/relationships/image" Target="../media/image0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01.png"/><Relationship Id="rId4" Type="http://schemas.openxmlformats.org/officeDocument/2006/relationships/image" Target="../media/image0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01.png"/><Relationship Id="rId4" Type="http://schemas.openxmlformats.org/officeDocument/2006/relationships/image" Target="../media/image0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01.png"/><Relationship Id="rId4" Type="http://schemas.openxmlformats.org/officeDocument/2006/relationships/image" Target="../media/image0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01.png"/><Relationship Id="rId4" Type="http://schemas.openxmlformats.org/officeDocument/2006/relationships/image" Target="../media/image0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01.png"/><Relationship Id="rId4" Type="http://schemas.openxmlformats.org/officeDocument/2006/relationships/image" Target="../media/image0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01.png"/><Relationship Id="rId4" Type="http://schemas.openxmlformats.org/officeDocument/2006/relationships/image" Target="../media/image0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01.png"/><Relationship Id="rId4" Type="http://schemas.openxmlformats.org/officeDocument/2006/relationships/image" Target="../media/image0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01.png"/><Relationship Id="rId4" Type="http://schemas.openxmlformats.org/officeDocument/2006/relationships/image" Target="../media/image0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01.png"/><Relationship Id="rId4" Type="http://schemas.openxmlformats.org/officeDocument/2006/relationships/image" Target="../media/image0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01.png"/><Relationship Id="rId4" Type="http://schemas.openxmlformats.org/officeDocument/2006/relationships/image" Target="../media/image0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01.png"/><Relationship Id="rId4" Type="http://schemas.openxmlformats.org/officeDocument/2006/relationships/image" Target="../media/image0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01.png"/><Relationship Id="rId4" Type="http://schemas.openxmlformats.org/officeDocument/2006/relationships/image" Target="../media/image0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01.png"/><Relationship Id="rId4" Type="http://schemas.openxmlformats.org/officeDocument/2006/relationships/image" Target="../media/image0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01.png"/><Relationship Id="rId4" Type="http://schemas.openxmlformats.org/officeDocument/2006/relationships/image" Target="../media/image0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01.png"/><Relationship Id="rId4" Type="http://schemas.openxmlformats.org/officeDocument/2006/relationships/image" Target="../media/image0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01.png"/><Relationship Id="rId4" Type="http://schemas.openxmlformats.org/officeDocument/2006/relationships/image" Target="../media/image02.png"/><Relationship Id="rId5" Type="http://schemas.openxmlformats.org/officeDocument/2006/relationships/image" Target="../media/image0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01.png"/><Relationship Id="rId4" Type="http://schemas.openxmlformats.org/officeDocument/2006/relationships/image" Target="../media/image02.png"/><Relationship Id="rId5" Type="http://schemas.openxmlformats.org/officeDocument/2006/relationships/image" Target="../media/image0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01.png"/><Relationship Id="rId4" Type="http://schemas.openxmlformats.org/officeDocument/2006/relationships/image" Target="../media/image02.png"/><Relationship Id="rId5" Type="http://schemas.openxmlformats.org/officeDocument/2006/relationships/image" Target="../media/image0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01.png"/><Relationship Id="rId4" Type="http://schemas.openxmlformats.org/officeDocument/2006/relationships/image" Target="../media/image02.png"/><Relationship Id="rId5" Type="http://schemas.openxmlformats.org/officeDocument/2006/relationships/image" Target="../media/image0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01.png"/><Relationship Id="rId4" Type="http://schemas.openxmlformats.org/officeDocument/2006/relationships/image" Target="../media/image02.png"/><Relationship Id="rId5" Type="http://schemas.openxmlformats.org/officeDocument/2006/relationships/image" Target="../media/image0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01.png"/><Relationship Id="rId4" Type="http://schemas.openxmlformats.org/officeDocument/2006/relationships/image" Target="../media/image02.png"/><Relationship Id="rId5" Type="http://schemas.openxmlformats.org/officeDocument/2006/relationships/image" Target="../media/image0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0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01.png"/><Relationship Id="rId4" Type="http://schemas.openxmlformats.org/officeDocument/2006/relationships/image" Target="../media/image0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01.png"/><Relationship Id="rId4" Type="http://schemas.openxmlformats.org/officeDocument/2006/relationships/image" Target="../media/image0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01.png"/><Relationship Id="rId4" Type="http://schemas.openxmlformats.org/officeDocument/2006/relationships/image" Target="../media/image0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01.png"/><Relationship Id="rId4" Type="http://schemas.openxmlformats.org/officeDocument/2006/relationships/image" Target="../media/image0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01.png"/><Relationship Id="rId4" Type="http://schemas.openxmlformats.org/officeDocument/2006/relationships/image" Target="../media/image0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01.png"/><Relationship Id="rId4" Type="http://schemas.openxmlformats.org/officeDocument/2006/relationships/image" Target="../media/image0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01.png"/><Relationship Id="rId4" Type="http://schemas.openxmlformats.org/officeDocument/2006/relationships/image" Target="../media/image0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01.png"/><Relationship Id="rId4" Type="http://schemas.openxmlformats.org/officeDocument/2006/relationships/image" Target="../media/image0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01.png"/><Relationship Id="rId4" Type="http://schemas.openxmlformats.org/officeDocument/2006/relationships/image" Target="../media/image0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01.png"/><Relationship Id="rId4" Type="http://schemas.openxmlformats.org/officeDocument/2006/relationships/image" Target="../media/image0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83" name="Shape 83"/>
        <p:cNvGrpSpPr/>
        <p:nvPr/>
      </p:nvGrpSpPr>
      <p:grpSpPr>
        <a:xfrm>
          <a:off x="0" y="0"/>
          <a:ext cx="0" cy="0"/>
          <a:chOff x="0" y="0"/>
          <a:chExt cx="0" cy="0"/>
        </a:xfrm>
      </p:grpSpPr>
      <p:pic>
        <p:nvPicPr>
          <p:cNvPr id="84" name="Shape 84"/>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85" name="Shape 85"/>
          <p:cNvSpPr txBox="1"/>
          <p:nvPr/>
        </p:nvSpPr>
        <p:spPr>
          <a:xfrm>
            <a:off x="3276600" y="152400"/>
            <a:ext cx="5597524" cy="6413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Arial"/>
              <a:buNone/>
            </a:pPr>
            <a:r>
              <a:rPr b="1" i="0" lang="en-US" sz="3600" u="none" cap="none" strike="noStrike">
                <a:solidFill>
                  <a:srgbClr val="000000"/>
                </a:solidFill>
                <a:latin typeface="Arial"/>
                <a:ea typeface="Arial"/>
                <a:cs typeface="Arial"/>
                <a:sym typeface="Arial"/>
              </a:rPr>
              <a:t>CLASE  N° 7</a:t>
            </a:r>
          </a:p>
        </p:txBody>
      </p:sp>
      <p:pic>
        <p:nvPicPr>
          <p:cNvPr id="86" name="Shape 86"/>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87" name="Shape 87"/>
          <p:cNvSpPr txBox="1"/>
          <p:nvPr/>
        </p:nvSpPr>
        <p:spPr>
          <a:xfrm>
            <a:off x="381000" y="1562100"/>
            <a:ext cx="7848599" cy="4760912"/>
          </a:xfrm>
          <a:prstGeom prst="rect">
            <a:avLst/>
          </a:prstGeom>
          <a:solidFill>
            <a:srgbClr val="FFFF99"/>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Elasticidad de la oferta. Definición, distintos tipos.</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Oferta en el corto plazo y en el largo plazo.</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Teoría de la producción con el modelo de largo plazo. </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Isocuanta Definición – Modelo gráfico. </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Tasa marginal de sustitución de factores productivos.</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Contornos de la curva isocuantas.</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Mapas de isocuantas.</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Isocosto. Definición – Modelo gráfico.</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Sustitución de factores en la isocosto.</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Equilibrio del productor. Principio de equimarginalidad.  </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Ruta de expansión de la producción.</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La curva de producción total desde el mapa de isocuantas.</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Rendimientos a escala. Distintos tipos</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Curva de costos medios a largo plazo.</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Relación entre las curvas de costos medios de largo y corto plazo.</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Economías y deseconomías de escala.</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 </a:t>
            </a:r>
          </a:p>
        </p:txBody>
      </p:sp>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91" name="Shape 91"/>
        <p:cNvGrpSpPr/>
        <p:nvPr/>
      </p:nvGrpSpPr>
      <p:grpSpPr>
        <a:xfrm>
          <a:off x="0" y="0"/>
          <a:ext cx="0" cy="0"/>
          <a:chOff x="0" y="0"/>
          <a:chExt cx="0" cy="0"/>
        </a:xfrm>
      </p:grpSpPr>
      <p:pic>
        <p:nvPicPr>
          <p:cNvPr id="92" name="Shape 92"/>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93" name="Shape 93"/>
          <p:cNvSpPr txBox="1"/>
          <p:nvPr/>
        </p:nvSpPr>
        <p:spPr>
          <a:xfrm>
            <a:off x="3487737" y="304800"/>
            <a:ext cx="5046662"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ELASTICIDAD DE LA OFERTA</a:t>
            </a:r>
          </a:p>
        </p:txBody>
      </p:sp>
      <p:pic>
        <p:nvPicPr>
          <p:cNvPr id="94" name="Shape 94"/>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95" name="Shape 95"/>
          <p:cNvSpPr txBox="1"/>
          <p:nvPr/>
        </p:nvSpPr>
        <p:spPr>
          <a:xfrm>
            <a:off x="457200" y="2362200"/>
            <a:ext cx="8229600" cy="1066799"/>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a:t>
            </a:r>
            <a:r>
              <a:rPr b="0" baseline="-25000" i="0" lang="en-US" sz="1800" u="none" cap="none" strike="noStrike">
                <a:solidFill>
                  <a:schemeClr val="dk1"/>
                </a:solidFill>
                <a:latin typeface="Arial"/>
                <a:ea typeface="Arial"/>
                <a:cs typeface="Arial"/>
                <a:sym typeface="Arial"/>
              </a:rPr>
              <a:t>p </a:t>
            </a:r>
            <a:r>
              <a:rPr b="0" i="0" lang="en-US" sz="1800" u="none" cap="none" strike="noStrike">
                <a:solidFill>
                  <a:schemeClr val="dk1"/>
                </a:solidFill>
                <a:latin typeface="Arial"/>
                <a:ea typeface="Arial"/>
                <a:cs typeface="Arial"/>
                <a:sym typeface="Arial"/>
              </a:rPr>
              <a:t>= La </a:t>
            </a:r>
            <a:r>
              <a:rPr b="1" i="0" lang="en-US" sz="1800" u="none" cap="none" strike="noStrike">
                <a:solidFill>
                  <a:schemeClr val="dk1"/>
                </a:solidFill>
                <a:latin typeface="Arial"/>
                <a:ea typeface="Arial"/>
                <a:cs typeface="Arial"/>
                <a:sym typeface="Arial"/>
              </a:rPr>
              <a:t>elasticidad precio de la oferta</a:t>
            </a:r>
            <a:r>
              <a:rPr b="0" i="0" lang="en-US" sz="1800" u="none" cap="none" strike="noStrike">
                <a:solidFill>
                  <a:schemeClr val="dk1"/>
                </a:solidFill>
                <a:latin typeface="Arial"/>
                <a:ea typeface="Arial"/>
                <a:cs typeface="Arial"/>
                <a:sym typeface="Arial"/>
              </a:rPr>
              <a:t> es una medida utilizada en economía para mostrar la respuesta de la cantidad ofrecida de un bien o servicio ante cambios en su precio. </a:t>
            </a:r>
          </a:p>
        </p:txBody>
      </p:sp>
      <p:sp>
        <p:nvSpPr>
          <p:cNvPr id="96" name="Shape 96"/>
          <p:cNvSpPr txBox="1"/>
          <p:nvPr/>
        </p:nvSpPr>
        <p:spPr>
          <a:xfrm>
            <a:off x="263525" y="3962400"/>
            <a:ext cx="8423274" cy="1752600"/>
          </a:xfrm>
          <a:prstGeom prst="rect">
            <a:avLst/>
          </a:prstGeom>
          <a:noFill/>
          <a:ln>
            <a:noFill/>
          </a:ln>
        </p:spPr>
        <p:txBody>
          <a:bodyPr anchorCtr="0" anchor="t" bIns="45700" lIns="91425" rIns="91425" tIns="45700">
            <a:noAutofit/>
          </a:bodyPr>
          <a:lstStyle/>
          <a:p>
            <a:pPr indent="-342900" lvl="0" marL="342900" marR="0" rtl="0" algn="ctr">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E</a:t>
            </a:r>
            <a:r>
              <a:rPr b="1" baseline="-25000" i="1" lang="en-US" sz="2400" u="none" cap="none" strike="noStrike">
                <a:solidFill>
                  <a:schemeClr val="dk1"/>
                </a:solidFill>
                <a:latin typeface="Arial"/>
                <a:ea typeface="Arial"/>
                <a:cs typeface="Arial"/>
                <a:sym typeface="Arial"/>
              </a:rPr>
              <a:t>p </a:t>
            </a:r>
            <a:r>
              <a:rPr b="1" i="1" lang="en-US" sz="2400" u="none" cap="none" strike="noStrike">
                <a:solidFill>
                  <a:schemeClr val="dk1"/>
                </a:solidFill>
                <a:latin typeface="Arial"/>
                <a:ea typeface="Arial"/>
                <a:cs typeface="Arial"/>
                <a:sym typeface="Arial"/>
              </a:rPr>
              <a:t>= (ΔQ/Q)/(ΔP/P)</a:t>
            </a:r>
          </a:p>
          <a:p>
            <a:pPr indent="-342900" lvl="0" marL="342900" marR="0" rtl="0" algn="l">
              <a:lnSpc>
                <a:spcPct val="100000"/>
              </a:lnSpc>
              <a:spcBef>
                <a:spcPts val="1720"/>
              </a:spcBef>
              <a:spcAft>
                <a:spcPts val="0"/>
              </a:spcAft>
              <a:buClr>
                <a:schemeClr val="dk1"/>
              </a:buClr>
              <a:buSzPct val="25000"/>
              <a:buFont typeface="Arial"/>
              <a:buNone/>
            </a:pPr>
            <a:r>
              <a:rPr b="1" i="1" lang="en-US" sz="1400" u="none" cap="none" strike="noStrike">
                <a:solidFill>
                  <a:schemeClr val="dk1"/>
                </a:solidFill>
                <a:latin typeface="Arial"/>
                <a:ea typeface="Arial"/>
                <a:cs typeface="Arial"/>
                <a:sym typeface="Arial"/>
              </a:rPr>
              <a:t>ΔQ = Variación de la cantidad ofrecida</a:t>
            </a:r>
          </a:p>
          <a:p>
            <a:pPr indent="-342900" lvl="0" marL="342900" marR="0" rtl="0" algn="l">
              <a:lnSpc>
                <a:spcPct val="100000"/>
              </a:lnSpc>
              <a:spcBef>
                <a:spcPts val="280"/>
              </a:spcBef>
              <a:spcAft>
                <a:spcPts val="0"/>
              </a:spcAft>
              <a:buClr>
                <a:schemeClr val="dk1"/>
              </a:buClr>
              <a:buSzPct val="25000"/>
              <a:buFont typeface="Arial"/>
              <a:buNone/>
            </a:pPr>
            <a:r>
              <a:rPr b="1" i="1" lang="en-US" sz="1400" u="none" cap="none" strike="noStrike">
                <a:solidFill>
                  <a:schemeClr val="dk1"/>
                </a:solidFill>
                <a:latin typeface="Arial"/>
                <a:ea typeface="Arial"/>
                <a:cs typeface="Arial"/>
                <a:sym typeface="Arial"/>
              </a:rPr>
              <a:t>Q = Cantidad ofrecida antes de la variación de precios</a:t>
            </a:r>
          </a:p>
          <a:p>
            <a:pPr indent="-342900" lvl="0" marL="342900" marR="0" rtl="0" algn="l">
              <a:lnSpc>
                <a:spcPct val="100000"/>
              </a:lnSpc>
              <a:spcBef>
                <a:spcPts val="280"/>
              </a:spcBef>
              <a:spcAft>
                <a:spcPts val="0"/>
              </a:spcAft>
              <a:buClr>
                <a:schemeClr val="dk1"/>
              </a:buClr>
              <a:buSzPct val="25000"/>
              <a:buFont typeface="Arial"/>
              <a:buNone/>
            </a:pPr>
            <a:r>
              <a:rPr b="1" i="1" lang="en-US" sz="1400" u="none" cap="none" strike="noStrike">
                <a:solidFill>
                  <a:schemeClr val="dk1"/>
                </a:solidFill>
                <a:latin typeface="Arial"/>
                <a:ea typeface="Arial"/>
                <a:cs typeface="Arial"/>
                <a:sym typeface="Arial"/>
              </a:rPr>
              <a:t>ΔP = Variación de precios</a:t>
            </a:r>
          </a:p>
          <a:p>
            <a:pPr indent="-342900" lvl="0" marL="342900" marR="0" rtl="0" algn="l">
              <a:lnSpc>
                <a:spcPct val="100000"/>
              </a:lnSpc>
              <a:spcBef>
                <a:spcPts val="280"/>
              </a:spcBef>
              <a:spcAft>
                <a:spcPts val="0"/>
              </a:spcAft>
              <a:buClr>
                <a:schemeClr val="dk1"/>
              </a:buClr>
              <a:buSzPct val="25000"/>
              <a:buFont typeface="Arial"/>
              <a:buNone/>
            </a:pPr>
            <a:r>
              <a:rPr b="1" i="1" lang="en-US" sz="1400" u="none" cap="none" strike="noStrike">
                <a:solidFill>
                  <a:schemeClr val="dk1"/>
                </a:solidFill>
                <a:latin typeface="Arial"/>
                <a:ea typeface="Arial"/>
                <a:cs typeface="Arial"/>
                <a:sym typeface="Arial"/>
              </a:rPr>
              <a:t>P = Precio inicial</a:t>
            </a:r>
          </a:p>
        </p:txBody>
      </p:sp>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00" name="Shape 100"/>
        <p:cNvGrpSpPr/>
        <p:nvPr/>
      </p:nvGrpSpPr>
      <p:grpSpPr>
        <a:xfrm>
          <a:off x="0" y="0"/>
          <a:ext cx="0" cy="0"/>
          <a:chOff x="0" y="0"/>
          <a:chExt cx="0" cy="0"/>
        </a:xfrm>
      </p:grpSpPr>
      <p:pic>
        <p:nvPicPr>
          <p:cNvPr id="101" name="Shape 101"/>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102" name="Shape 102"/>
          <p:cNvSpPr txBox="1"/>
          <p:nvPr/>
        </p:nvSpPr>
        <p:spPr>
          <a:xfrm>
            <a:off x="3487737" y="304800"/>
            <a:ext cx="5046662"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OFERTA ELÁSTICA</a:t>
            </a:r>
          </a:p>
        </p:txBody>
      </p:sp>
      <p:pic>
        <p:nvPicPr>
          <p:cNvPr id="103" name="Shape 103"/>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104" name="Shape 104"/>
          <p:cNvSpPr txBox="1"/>
          <p:nvPr/>
        </p:nvSpPr>
        <p:spPr>
          <a:xfrm>
            <a:off x="1676400" y="1447800"/>
            <a:ext cx="5486399" cy="455612"/>
          </a:xfrm>
          <a:prstGeom prst="rect">
            <a:avLst/>
          </a:prstGeom>
          <a:noFill/>
          <a:ln>
            <a:noFill/>
          </a:ln>
        </p:spPr>
        <p:txBody>
          <a:bodyPr anchorCtr="0" anchor="t" bIns="45700" lIns="91425" rIns="91425" tIns="45700">
            <a:noAutofit/>
          </a:bodyPr>
          <a:lstStyle/>
          <a:p>
            <a:pPr indent="-342900" lvl="0" marL="342900" marR="0" rtl="0" algn="ctr">
              <a:lnSpc>
                <a:spcPct val="100000"/>
              </a:lnSpc>
              <a:spcBef>
                <a:spcPts val="0"/>
              </a:spcBef>
              <a:spcAft>
                <a:spcPts val="0"/>
              </a:spcAft>
              <a:buClr>
                <a:schemeClr val="dk1"/>
              </a:buClr>
              <a:buSzPct val="25000"/>
              <a:buFont typeface="Arial"/>
              <a:buNone/>
            </a:pPr>
            <a:r>
              <a:rPr b="1" i="1" lang="en-US" sz="1600" u="none" cap="none" strike="noStrike">
                <a:solidFill>
                  <a:schemeClr val="dk1"/>
                </a:solidFill>
                <a:latin typeface="Arial"/>
                <a:ea typeface="Arial"/>
                <a:cs typeface="Arial"/>
                <a:sym typeface="Arial"/>
              </a:rPr>
              <a:t>E</a:t>
            </a:r>
            <a:r>
              <a:rPr b="1" baseline="-25000" i="1" lang="en-US" sz="1600" u="none" cap="none" strike="noStrike">
                <a:solidFill>
                  <a:schemeClr val="dk1"/>
                </a:solidFill>
                <a:latin typeface="Arial"/>
                <a:ea typeface="Arial"/>
                <a:cs typeface="Arial"/>
                <a:sym typeface="Arial"/>
              </a:rPr>
              <a:t>p </a:t>
            </a:r>
            <a:r>
              <a:rPr b="1" i="1" lang="en-US" sz="1600" u="none" cap="none" strike="noStrike">
                <a:solidFill>
                  <a:schemeClr val="dk1"/>
                </a:solidFill>
                <a:latin typeface="Arial"/>
                <a:ea typeface="Arial"/>
                <a:cs typeface="Arial"/>
                <a:sym typeface="Arial"/>
              </a:rPr>
              <a:t>= (ΔQ/Q)/(ΔP/P) = (</a:t>
            </a:r>
            <a:r>
              <a:rPr b="1" i="1" lang="en-US" sz="1600" u="none" cap="none" strike="noStrike">
                <a:solidFill>
                  <a:srgbClr val="FF0000"/>
                </a:solidFill>
                <a:latin typeface="Arial"/>
                <a:ea typeface="Arial"/>
                <a:cs typeface="Arial"/>
                <a:sym typeface="Arial"/>
              </a:rPr>
              <a:t>P/Q)</a:t>
            </a:r>
            <a:r>
              <a:rPr b="1" i="1" lang="en-US" sz="1600" u="none" cap="none" strike="noStrike">
                <a:solidFill>
                  <a:schemeClr val="dk1"/>
                </a:solidFill>
                <a:latin typeface="Arial"/>
                <a:ea typeface="Arial"/>
                <a:cs typeface="Arial"/>
                <a:sym typeface="Arial"/>
              </a:rPr>
              <a:t>* </a:t>
            </a:r>
            <a:r>
              <a:rPr b="1" i="1" lang="en-US" sz="1600" u="none" cap="none" strike="noStrike">
                <a:solidFill>
                  <a:schemeClr val="hlink"/>
                </a:solidFill>
                <a:latin typeface="Arial"/>
                <a:ea typeface="Arial"/>
                <a:cs typeface="Arial"/>
                <a:sym typeface="Arial"/>
              </a:rPr>
              <a:t>(ΔQ/ ΔP)</a:t>
            </a:r>
            <a:r>
              <a:rPr b="1" i="1" lang="en-US" sz="1600" u="none" cap="none" strike="noStrike">
                <a:solidFill>
                  <a:schemeClr val="dk1"/>
                </a:solidFill>
                <a:latin typeface="Arial"/>
                <a:ea typeface="Arial"/>
                <a:cs typeface="Arial"/>
                <a:sym typeface="Arial"/>
              </a:rPr>
              <a:t> &gt; 1 (uno)</a:t>
            </a:r>
          </a:p>
          <a:p>
            <a:pPr indent="-342900" lvl="0" marL="342900" marR="0" rtl="0" algn="l">
              <a:lnSpc>
                <a:spcPct val="100000"/>
              </a:lnSpc>
              <a:spcBef>
                <a:spcPts val="1280"/>
              </a:spcBef>
              <a:spcAft>
                <a:spcPts val="0"/>
              </a:spcAft>
              <a:buClr>
                <a:schemeClr val="dk1"/>
              </a:buClr>
              <a:buSzPct val="25000"/>
              <a:buFont typeface="Arial"/>
              <a:buNone/>
            </a:pPr>
            <a:r>
              <a:rPr b="1" i="1" lang="en-US" sz="1600" u="none" cap="none" strike="noStrike">
                <a:solidFill>
                  <a:schemeClr val="dk1"/>
                </a:solidFill>
                <a:latin typeface="Arial"/>
                <a:ea typeface="Arial"/>
                <a:cs typeface="Arial"/>
                <a:sym typeface="Arial"/>
              </a:rPr>
              <a:t>  </a:t>
            </a:r>
          </a:p>
        </p:txBody>
      </p:sp>
      <p:sp>
        <p:nvSpPr>
          <p:cNvPr id="105" name="Shape 105"/>
          <p:cNvSpPr txBox="1"/>
          <p:nvPr/>
        </p:nvSpPr>
        <p:spPr>
          <a:xfrm>
            <a:off x="609600" y="2971800"/>
            <a:ext cx="8153399" cy="915986"/>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Los vendedores ante determinadas variaciones de los precios reaccionan con variaciones relativas de la cantidad ofrecida mucho mayores a las variaciones relativas de los precios      </a:t>
            </a:r>
            <a:r>
              <a:rPr b="1" i="1" lang="en-US" sz="1800" u="none" cap="none" strike="noStrike">
                <a:solidFill>
                  <a:schemeClr val="dk1"/>
                </a:solidFill>
                <a:latin typeface="Arial"/>
                <a:ea typeface="Arial"/>
                <a:cs typeface="Arial"/>
                <a:sym typeface="Arial"/>
              </a:rPr>
              <a:t>ΔQ/Q &gt; ΔP/P</a:t>
            </a:r>
            <a:r>
              <a:rPr b="0" i="0" lang="en-US" sz="1800" u="none" cap="none" strike="noStrike">
                <a:solidFill>
                  <a:schemeClr val="dk1"/>
                </a:solidFill>
                <a:latin typeface="Arial"/>
                <a:ea typeface="Arial"/>
                <a:cs typeface="Arial"/>
                <a:sym typeface="Arial"/>
              </a:rPr>
              <a:t> </a:t>
            </a:r>
          </a:p>
        </p:txBody>
      </p:sp>
      <p:sp>
        <p:nvSpPr>
          <p:cNvPr id="106" name="Shape 106"/>
          <p:cNvSpPr txBox="1"/>
          <p:nvPr/>
        </p:nvSpPr>
        <p:spPr>
          <a:xfrm>
            <a:off x="1355725" y="4608512"/>
            <a:ext cx="5378449" cy="1190624"/>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Razones principales:</a:t>
            </a:r>
          </a:p>
          <a:p>
            <a:pPr indent="-342900" lvl="0" marL="342900" marR="0" rtl="0" algn="l">
              <a:lnSpc>
                <a:spcPct val="100000"/>
              </a:lnSpc>
              <a:spcBef>
                <a:spcPts val="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Los productores trabajan con capacidad ociosa.</a:t>
            </a:r>
          </a:p>
          <a:p>
            <a:pPr indent="-342900" lvl="0" marL="342900" marR="0" rtl="0" algn="l">
              <a:lnSpc>
                <a:spcPct val="100000"/>
              </a:lnSpc>
              <a:spcBef>
                <a:spcPts val="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El producto tiene ciclos de producción cortos.</a:t>
            </a:r>
          </a:p>
          <a:p>
            <a:pPr indent="-342900" lvl="0" marL="342900" marR="0" rtl="0" algn="l">
              <a:lnSpc>
                <a:spcPct val="100000"/>
              </a:lnSpc>
              <a:spcBef>
                <a:spcPts val="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La estructura de producción es muy flexible.</a:t>
            </a:r>
          </a:p>
        </p:txBody>
      </p:sp>
      <p:sp>
        <p:nvSpPr>
          <p:cNvPr id="107" name="Shape 107"/>
          <p:cNvSpPr txBox="1"/>
          <p:nvPr/>
        </p:nvSpPr>
        <p:spPr>
          <a:xfrm>
            <a:off x="533400" y="2133600"/>
            <a:ext cx="7924799" cy="396874"/>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2000" u="none" cap="none" strike="noStrike">
                <a:solidFill>
                  <a:schemeClr val="dk1"/>
                </a:solidFill>
                <a:latin typeface="Arial"/>
                <a:ea typeface="Arial"/>
                <a:cs typeface="Arial"/>
                <a:sym typeface="Arial"/>
              </a:rPr>
              <a:t>La oferta en este caso es muy sensible a la variación de precios</a:t>
            </a:r>
          </a:p>
        </p:txBody>
      </p:sp>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11" name="Shape 111"/>
        <p:cNvGrpSpPr/>
        <p:nvPr/>
      </p:nvGrpSpPr>
      <p:grpSpPr>
        <a:xfrm>
          <a:off x="0" y="0"/>
          <a:ext cx="0" cy="0"/>
          <a:chOff x="0" y="0"/>
          <a:chExt cx="0" cy="0"/>
        </a:xfrm>
      </p:grpSpPr>
      <p:pic>
        <p:nvPicPr>
          <p:cNvPr id="112" name="Shape 112"/>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113" name="Shape 113"/>
          <p:cNvSpPr txBox="1"/>
          <p:nvPr/>
        </p:nvSpPr>
        <p:spPr>
          <a:xfrm>
            <a:off x="3487737" y="304800"/>
            <a:ext cx="5046662"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OFERTA ELÁSTICA</a:t>
            </a:r>
          </a:p>
        </p:txBody>
      </p:sp>
      <p:pic>
        <p:nvPicPr>
          <p:cNvPr id="114" name="Shape 114"/>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115" name="Shape 115"/>
          <p:cNvSpPr txBox="1"/>
          <p:nvPr/>
        </p:nvSpPr>
        <p:spPr>
          <a:xfrm>
            <a:off x="457200" y="1219200"/>
            <a:ext cx="8229600" cy="457200"/>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La oferta es elástica cuando elasticidad precio es mayor a 1(uno)</a:t>
            </a:r>
          </a:p>
        </p:txBody>
      </p:sp>
      <p:sp>
        <p:nvSpPr>
          <p:cNvPr id="116" name="Shape 116"/>
          <p:cNvSpPr txBox="1"/>
          <p:nvPr/>
        </p:nvSpPr>
        <p:spPr>
          <a:xfrm>
            <a:off x="1676400" y="1677986"/>
            <a:ext cx="5486399" cy="455612"/>
          </a:xfrm>
          <a:prstGeom prst="rect">
            <a:avLst/>
          </a:prstGeom>
          <a:noFill/>
          <a:ln>
            <a:noFill/>
          </a:ln>
        </p:spPr>
        <p:txBody>
          <a:bodyPr anchorCtr="0" anchor="t" bIns="45700" lIns="91425" rIns="91425" tIns="45700">
            <a:noAutofit/>
          </a:bodyPr>
          <a:lstStyle/>
          <a:p>
            <a:pPr indent="-342900" lvl="0" marL="342900" marR="0" rtl="0" algn="ctr">
              <a:lnSpc>
                <a:spcPct val="100000"/>
              </a:lnSpc>
              <a:spcBef>
                <a:spcPts val="0"/>
              </a:spcBef>
              <a:spcAft>
                <a:spcPts val="0"/>
              </a:spcAft>
              <a:buClr>
                <a:schemeClr val="dk1"/>
              </a:buClr>
              <a:buSzPct val="25000"/>
              <a:buFont typeface="Arial"/>
              <a:buNone/>
            </a:pPr>
            <a:r>
              <a:rPr b="1" i="1" lang="en-US" sz="1600" u="none" cap="none" strike="noStrike">
                <a:solidFill>
                  <a:schemeClr val="dk1"/>
                </a:solidFill>
                <a:latin typeface="Arial"/>
                <a:ea typeface="Arial"/>
                <a:cs typeface="Arial"/>
                <a:sym typeface="Arial"/>
              </a:rPr>
              <a:t>E</a:t>
            </a:r>
            <a:r>
              <a:rPr b="1" baseline="-25000" i="1" lang="en-US" sz="1600" u="none" cap="none" strike="noStrike">
                <a:solidFill>
                  <a:schemeClr val="dk1"/>
                </a:solidFill>
                <a:latin typeface="Arial"/>
                <a:ea typeface="Arial"/>
                <a:cs typeface="Arial"/>
                <a:sym typeface="Arial"/>
              </a:rPr>
              <a:t>p </a:t>
            </a:r>
            <a:r>
              <a:rPr b="1" i="1" lang="en-US" sz="1600" u="none" cap="none" strike="noStrike">
                <a:solidFill>
                  <a:schemeClr val="dk1"/>
                </a:solidFill>
                <a:latin typeface="Arial"/>
                <a:ea typeface="Arial"/>
                <a:cs typeface="Arial"/>
                <a:sym typeface="Arial"/>
              </a:rPr>
              <a:t>= (ΔQ/Q)/(ΔP/P) = (</a:t>
            </a:r>
            <a:r>
              <a:rPr b="1" i="1" lang="en-US" sz="1600" u="none" cap="none" strike="noStrike">
                <a:solidFill>
                  <a:srgbClr val="FF0000"/>
                </a:solidFill>
                <a:latin typeface="Arial"/>
                <a:ea typeface="Arial"/>
                <a:cs typeface="Arial"/>
                <a:sym typeface="Arial"/>
              </a:rPr>
              <a:t>P/Q)</a:t>
            </a:r>
            <a:r>
              <a:rPr b="1" i="1" lang="en-US" sz="1600" u="none" cap="none" strike="noStrike">
                <a:solidFill>
                  <a:schemeClr val="dk1"/>
                </a:solidFill>
                <a:latin typeface="Arial"/>
                <a:ea typeface="Arial"/>
                <a:cs typeface="Arial"/>
                <a:sym typeface="Arial"/>
              </a:rPr>
              <a:t>* </a:t>
            </a:r>
            <a:r>
              <a:rPr b="1" i="1" lang="en-US" sz="1600" u="none" cap="none" strike="noStrike">
                <a:solidFill>
                  <a:schemeClr val="hlink"/>
                </a:solidFill>
                <a:latin typeface="Arial"/>
                <a:ea typeface="Arial"/>
                <a:cs typeface="Arial"/>
                <a:sym typeface="Arial"/>
              </a:rPr>
              <a:t>(ΔQ/ ΔP)</a:t>
            </a:r>
            <a:r>
              <a:rPr b="1" i="1" lang="en-US" sz="1600" u="none" cap="none" strike="noStrike">
                <a:solidFill>
                  <a:schemeClr val="dk1"/>
                </a:solidFill>
                <a:latin typeface="Arial"/>
                <a:ea typeface="Arial"/>
                <a:cs typeface="Arial"/>
                <a:sym typeface="Arial"/>
              </a:rPr>
              <a:t> &gt; 1 (uno)</a:t>
            </a:r>
          </a:p>
          <a:p>
            <a:pPr indent="-342900" lvl="0" marL="342900" marR="0" rtl="0" algn="l">
              <a:lnSpc>
                <a:spcPct val="100000"/>
              </a:lnSpc>
              <a:spcBef>
                <a:spcPts val="1280"/>
              </a:spcBef>
              <a:spcAft>
                <a:spcPts val="0"/>
              </a:spcAft>
              <a:buClr>
                <a:schemeClr val="dk1"/>
              </a:buClr>
              <a:buSzPct val="25000"/>
              <a:buFont typeface="Arial"/>
              <a:buNone/>
            </a:pPr>
            <a:r>
              <a:rPr b="1" i="1" lang="en-US" sz="1600" u="none" cap="none" strike="noStrike">
                <a:solidFill>
                  <a:schemeClr val="dk1"/>
                </a:solidFill>
                <a:latin typeface="Arial"/>
                <a:ea typeface="Arial"/>
                <a:cs typeface="Arial"/>
                <a:sym typeface="Arial"/>
              </a:rPr>
              <a:t>  </a:t>
            </a:r>
          </a:p>
        </p:txBody>
      </p:sp>
      <p:cxnSp>
        <p:nvCxnSpPr>
          <p:cNvPr id="117" name="Shape 117"/>
          <p:cNvCxnSpPr/>
          <p:nvPr/>
        </p:nvCxnSpPr>
        <p:spPr>
          <a:xfrm rot="10800000">
            <a:off x="1752600" y="3276599"/>
            <a:ext cx="0" cy="3276600"/>
          </a:xfrm>
          <a:prstGeom prst="straightConnector1">
            <a:avLst/>
          </a:prstGeom>
          <a:noFill/>
          <a:ln cap="flat" cmpd="sng" w="9525">
            <a:solidFill>
              <a:schemeClr val="dk1"/>
            </a:solidFill>
            <a:prstDash val="solid"/>
            <a:miter/>
            <a:headEnd len="med" w="med" type="none"/>
            <a:tailEnd len="lg" w="lg" type="triangle"/>
          </a:ln>
        </p:spPr>
      </p:cxnSp>
      <p:cxnSp>
        <p:nvCxnSpPr>
          <p:cNvPr id="118" name="Shape 118"/>
          <p:cNvCxnSpPr/>
          <p:nvPr/>
        </p:nvCxnSpPr>
        <p:spPr>
          <a:xfrm>
            <a:off x="457200" y="5867400"/>
            <a:ext cx="6858000" cy="0"/>
          </a:xfrm>
          <a:prstGeom prst="straightConnector1">
            <a:avLst/>
          </a:prstGeom>
          <a:noFill/>
          <a:ln cap="flat" cmpd="sng" w="9525">
            <a:solidFill>
              <a:schemeClr val="dk1"/>
            </a:solidFill>
            <a:prstDash val="solid"/>
            <a:miter/>
            <a:headEnd len="med" w="med" type="none"/>
            <a:tailEnd len="lg" w="lg" type="triangle"/>
          </a:ln>
        </p:spPr>
      </p:cxnSp>
      <p:cxnSp>
        <p:nvCxnSpPr>
          <p:cNvPr id="119" name="Shape 119"/>
          <p:cNvCxnSpPr/>
          <p:nvPr/>
        </p:nvCxnSpPr>
        <p:spPr>
          <a:xfrm flipH="1" rot="10800000">
            <a:off x="304800" y="3276599"/>
            <a:ext cx="5333999" cy="2819400"/>
          </a:xfrm>
          <a:prstGeom prst="straightConnector1">
            <a:avLst/>
          </a:prstGeom>
          <a:noFill/>
          <a:ln cap="rnd" cmpd="sng" w="25400">
            <a:solidFill>
              <a:srgbClr val="000080"/>
            </a:solidFill>
            <a:prstDash val="solid"/>
            <a:miter/>
            <a:headEnd len="med" w="med" type="none"/>
            <a:tailEnd len="med" w="med" type="none"/>
          </a:ln>
        </p:spPr>
      </p:cxnSp>
      <p:sp>
        <p:nvSpPr>
          <p:cNvPr id="120" name="Shape 120"/>
          <p:cNvSpPr txBox="1"/>
          <p:nvPr/>
        </p:nvSpPr>
        <p:spPr>
          <a:xfrm>
            <a:off x="2133600" y="3290887"/>
            <a:ext cx="23558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CURVA DE OFERTA</a:t>
            </a:r>
          </a:p>
        </p:txBody>
      </p:sp>
      <p:sp>
        <p:nvSpPr>
          <p:cNvPr id="121" name="Shape 121"/>
          <p:cNvSpPr txBox="1"/>
          <p:nvPr/>
        </p:nvSpPr>
        <p:spPr>
          <a:xfrm>
            <a:off x="609600" y="3138486"/>
            <a:ext cx="10604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122" name="Shape 122"/>
          <p:cNvSpPr txBox="1"/>
          <p:nvPr/>
        </p:nvSpPr>
        <p:spPr>
          <a:xfrm>
            <a:off x="7527925" y="5599112"/>
            <a:ext cx="13525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cxnSp>
        <p:nvCxnSpPr>
          <p:cNvPr id="123" name="Shape 123"/>
          <p:cNvCxnSpPr/>
          <p:nvPr/>
        </p:nvCxnSpPr>
        <p:spPr>
          <a:xfrm>
            <a:off x="4572000" y="3848100"/>
            <a:ext cx="0" cy="2019299"/>
          </a:xfrm>
          <a:prstGeom prst="straightConnector1">
            <a:avLst/>
          </a:prstGeom>
          <a:noFill/>
          <a:ln cap="flat" cmpd="sng" w="9525">
            <a:solidFill>
              <a:schemeClr val="dk1"/>
            </a:solidFill>
            <a:prstDash val="solid"/>
            <a:miter/>
            <a:headEnd len="med" w="med" type="none"/>
            <a:tailEnd len="med" w="med" type="none"/>
          </a:ln>
        </p:spPr>
      </p:cxnSp>
      <p:cxnSp>
        <p:nvCxnSpPr>
          <p:cNvPr id="124" name="Shape 124"/>
          <p:cNvCxnSpPr/>
          <p:nvPr/>
        </p:nvCxnSpPr>
        <p:spPr>
          <a:xfrm>
            <a:off x="1752600" y="5334000"/>
            <a:ext cx="2819400" cy="0"/>
          </a:xfrm>
          <a:prstGeom prst="straightConnector1">
            <a:avLst/>
          </a:prstGeom>
          <a:noFill/>
          <a:ln cap="flat" cmpd="sng" w="9525">
            <a:solidFill>
              <a:schemeClr val="dk1"/>
            </a:solidFill>
            <a:prstDash val="solid"/>
            <a:miter/>
            <a:headEnd len="med" w="med" type="none"/>
            <a:tailEnd len="med" w="med" type="none"/>
          </a:ln>
        </p:spPr>
      </p:cxnSp>
      <p:cxnSp>
        <p:nvCxnSpPr>
          <p:cNvPr id="125" name="Shape 125"/>
          <p:cNvCxnSpPr/>
          <p:nvPr/>
        </p:nvCxnSpPr>
        <p:spPr>
          <a:xfrm>
            <a:off x="1754186" y="3810000"/>
            <a:ext cx="2817812" cy="0"/>
          </a:xfrm>
          <a:prstGeom prst="straightConnector1">
            <a:avLst/>
          </a:prstGeom>
          <a:noFill/>
          <a:ln cap="flat" cmpd="sng" w="9525">
            <a:solidFill>
              <a:schemeClr val="dk1"/>
            </a:solidFill>
            <a:prstDash val="solid"/>
            <a:miter/>
            <a:headEnd len="med" w="med" type="none"/>
            <a:tailEnd len="med" w="med" type="none"/>
          </a:ln>
        </p:spPr>
      </p:cxnSp>
      <p:sp>
        <p:nvSpPr>
          <p:cNvPr id="126" name="Shape 126"/>
          <p:cNvSpPr txBox="1"/>
          <p:nvPr/>
        </p:nvSpPr>
        <p:spPr>
          <a:xfrm>
            <a:off x="4343400" y="3505200"/>
            <a:ext cx="3365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B</a:t>
            </a:r>
          </a:p>
        </p:txBody>
      </p:sp>
      <p:sp>
        <p:nvSpPr>
          <p:cNvPr id="127" name="Shape 127"/>
          <p:cNvSpPr txBox="1"/>
          <p:nvPr/>
        </p:nvSpPr>
        <p:spPr>
          <a:xfrm>
            <a:off x="4298950" y="5576887"/>
            <a:ext cx="3492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t>
            </a:r>
          </a:p>
        </p:txBody>
      </p:sp>
      <p:sp>
        <p:nvSpPr>
          <p:cNvPr id="128" name="Shape 128"/>
          <p:cNvSpPr txBox="1"/>
          <p:nvPr/>
        </p:nvSpPr>
        <p:spPr>
          <a:xfrm>
            <a:off x="4311650" y="5043487"/>
            <a:ext cx="3365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a:t>
            </a:r>
          </a:p>
        </p:txBody>
      </p:sp>
      <p:sp>
        <p:nvSpPr>
          <p:cNvPr id="129" name="Shape 129"/>
          <p:cNvSpPr txBox="1"/>
          <p:nvPr/>
        </p:nvSpPr>
        <p:spPr>
          <a:xfrm>
            <a:off x="1492250" y="5043487"/>
            <a:ext cx="3365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A</a:t>
            </a:r>
          </a:p>
        </p:txBody>
      </p:sp>
      <p:sp>
        <p:nvSpPr>
          <p:cNvPr id="130" name="Shape 130"/>
          <p:cNvSpPr txBox="1"/>
          <p:nvPr/>
        </p:nvSpPr>
        <p:spPr>
          <a:xfrm>
            <a:off x="1371600" y="3595687"/>
            <a:ext cx="3365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0" i="0" lang="en-US" sz="1800" u="none" cap="none" strike="noStrike">
                <a:solidFill>
                  <a:srgbClr val="FF0000"/>
                </a:solidFill>
                <a:latin typeface="Arial"/>
                <a:ea typeface="Arial"/>
                <a:cs typeface="Arial"/>
                <a:sym typeface="Arial"/>
              </a:rPr>
              <a:t>P</a:t>
            </a:r>
          </a:p>
        </p:txBody>
      </p:sp>
      <p:sp>
        <p:nvSpPr>
          <p:cNvPr id="131" name="Shape 131"/>
          <p:cNvSpPr txBox="1"/>
          <p:nvPr/>
        </p:nvSpPr>
        <p:spPr>
          <a:xfrm>
            <a:off x="4419600" y="5805487"/>
            <a:ext cx="3619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0" i="0" lang="en-US" sz="1800" u="none" cap="none" strike="noStrike">
                <a:solidFill>
                  <a:srgbClr val="FF0000"/>
                </a:solidFill>
                <a:latin typeface="Arial"/>
                <a:ea typeface="Arial"/>
                <a:cs typeface="Arial"/>
                <a:sym typeface="Arial"/>
              </a:rPr>
              <a:t>Q</a:t>
            </a:r>
          </a:p>
        </p:txBody>
      </p:sp>
      <p:sp>
        <p:nvSpPr>
          <p:cNvPr id="132" name="Shape 132"/>
          <p:cNvSpPr txBox="1"/>
          <p:nvPr/>
        </p:nvSpPr>
        <p:spPr>
          <a:xfrm>
            <a:off x="533400" y="5562600"/>
            <a:ext cx="3492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D</a:t>
            </a:r>
          </a:p>
        </p:txBody>
      </p:sp>
      <p:sp>
        <p:nvSpPr>
          <p:cNvPr id="133" name="Shape 133"/>
          <p:cNvSpPr txBox="1"/>
          <p:nvPr/>
        </p:nvSpPr>
        <p:spPr>
          <a:xfrm>
            <a:off x="1466850" y="5576887"/>
            <a:ext cx="3619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O</a:t>
            </a:r>
          </a:p>
        </p:txBody>
      </p:sp>
      <p:sp>
        <p:nvSpPr>
          <p:cNvPr id="134" name="Shape 134"/>
          <p:cNvSpPr txBox="1"/>
          <p:nvPr/>
        </p:nvSpPr>
        <p:spPr>
          <a:xfrm>
            <a:off x="263525" y="2284411"/>
            <a:ext cx="8616949" cy="8254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1600" u="none" cap="none" strike="noStrike">
                <a:solidFill>
                  <a:schemeClr val="dk1"/>
                </a:solidFill>
                <a:latin typeface="Arial"/>
                <a:ea typeface="Arial"/>
                <a:cs typeface="Arial"/>
                <a:sym typeface="Arial"/>
              </a:rPr>
              <a:t>En el gráfico podemos asociar la relación con los siguientes segmentos identificados como: </a:t>
            </a:r>
            <a:r>
              <a:rPr b="1" i="1" lang="en-US" sz="1600" u="none" cap="none" strike="noStrike">
                <a:solidFill>
                  <a:srgbClr val="FF0000"/>
                </a:solidFill>
                <a:latin typeface="Arial"/>
                <a:ea typeface="Arial"/>
                <a:cs typeface="Arial"/>
                <a:sym typeface="Arial"/>
              </a:rPr>
              <a:t>P/Q  = BC/OC = BC/AE</a:t>
            </a:r>
            <a:r>
              <a:rPr b="1" i="1" lang="en-US" sz="1600" u="none" cap="none" strike="noStrike">
                <a:solidFill>
                  <a:schemeClr val="dk1"/>
                </a:solidFill>
                <a:latin typeface="Arial"/>
                <a:ea typeface="Arial"/>
                <a:cs typeface="Arial"/>
                <a:sym typeface="Arial"/>
              </a:rPr>
              <a:t>      </a:t>
            </a:r>
            <a:r>
              <a:rPr b="1" i="1" lang="en-US" sz="1600" u="none" cap="none" strike="noStrike">
                <a:solidFill>
                  <a:schemeClr val="hlink"/>
                </a:solidFill>
                <a:latin typeface="Arial"/>
                <a:ea typeface="Arial"/>
                <a:cs typeface="Arial"/>
                <a:sym typeface="Arial"/>
              </a:rPr>
              <a:t>ΔQ/ ΔP = AE/BE</a:t>
            </a:r>
          </a:p>
          <a:p>
            <a:pPr indent="0" lvl="0" marL="0" marR="0" rtl="0" algn="l">
              <a:lnSpc>
                <a:spcPct val="100000"/>
              </a:lnSpc>
              <a:spcBef>
                <a:spcPts val="0"/>
              </a:spcBef>
              <a:spcAft>
                <a:spcPts val="0"/>
              </a:spcAft>
              <a:buClr>
                <a:schemeClr val="dk1"/>
              </a:buClr>
              <a:buSzPct val="25000"/>
              <a:buFont typeface="Arial"/>
              <a:buNone/>
            </a:pPr>
            <a:r>
              <a:rPr b="1" i="1" lang="en-US" sz="1600" u="none" cap="none" strike="noStrike">
                <a:solidFill>
                  <a:schemeClr val="dk1"/>
                </a:solidFill>
                <a:latin typeface="Arial"/>
                <a:ea typeface="Arial"/>
                <a:cs typeface="Arial"/>
                <a:sym typeface="Arial"/>
              </a:rPr>
              <a:t>E</a:t>
            </a:r>
            <a:r>
              <a:rPr b="1" baseline="-25000" i="1" lang="en-US" sz="1600" u="none" cap="none" strike="noStrike">
                <a:solidFill>
                  <a:schemeClr val="dk1"/>
                </a:solidFill>
                <a:latin typeface="Arial"/>
                <a:ea typeface="Arial"/>
                <a:cs typeface="Arial"/>
                <a:sym typeface="Arial"/>
              </a:rPr>
              <a:t>p </a:t>
            </a:r>
            <a:r>
              <a:rPr b="1" i="1" lang="en-US" sz="1600" u="none" cap="none" strike="noStrike">
                <a:solidFill>
                  <a:schemeClr val="dk1"/>
                </a:solidFill>
                <a:latin typeface="Arial"/>
                <a:ea typeface="Arial"/>
                <a:cs typeface="Arial"/>
                <a:sym typeface="Arial"/>
              </a:rPr>
              <a:t>= </a:t>
            </a:r>
            <a:r>
              <a:rPr b="1" i="1" lang="en-US" sz="1600" u="none" cap="none" strike="noStrike">
                <a:solidFill>
                  <a:srgbClr val="FF0000"/>
                </a:solidFill>
                <a:latin typeface="Arial"/>
                <a:ea typeface="Arial"/>
                <a:cs typeface="Arial"/>
                <a:sym typeface="Arial"/>
              </a:rPr>
              <a:t>(P/Q) </a:t>
            </a:r>
            <a:r>
              <a:rPr b="1" i="1" lang="en-US" sz="1600" u="none" cap="none" strike="noStrike">
                <a:solidFill>
                  <a:schemeClr val="dk1"/>
                </a:solidFill>
                <a:latin typeface="Arial"/>
                <a:ea typeface="Arial"/>
                <a:cs typeface="Arial"/>
                <a:sym typeface="Arial"/>
              </a:rPr>
              <a:t>* </a:t>
            </a:r>
            <a:r>
              <a:rPr b="1" i="1" lang="en-US" sz="1600" u="none" cap="none" strike="noStrike">
                <a:solidFill>
                  <a:schemeClr val="hlink"/>
                </a:solidFill>
                <a:latin typeface="Arial"/>
                <a:ea typeface="Arial"/>
                <a:cs typeface="Arial"/>
                <a:sym typeface="Arial"/>
              </a:rPr>
              <a:t>(ΔQ/ ΔP) </a:t>
            </a:r>
            <a:r>
              <a:rPr b="1" i="1" lang="en-US" sz="1600" u="none" cap="none" strike="noStrike">
                <a:solidFill>
                  <a:schemeClr val="dk1"/>
                </a:solidFill>
                <a:latin typeface="Arial"/>
                <a:ea typeface="Arial"/>
                <a:cs typeface="Arial"/>
                <a:sym typeface="Arial"/>
              </a:rPr>
              <a:t>= </a:t>
            </a:r>
            <a:r>
              <a:rPr b="1" i="1" lang="en-US" sz="1600" u="none" cap="none" strike="noStrike">
                <a:solidFill>
                  <a:srgbClr val="FF0000"/>
                </a:solidFill>
                <a:latin typeface="Arial"/>
                <a:ea typeface="Arial"/>
                <a:cs typeface="Arial"/>
                <a:sym typeface="Arial"/>
              </a:rPr>
              <a:t>(BC/AE) </a:t>
            </a:r>
            <a:r>
              <a:rPr b="1" i="1" lang="en-US" sz="1600" u="none" cap="none" strike="noStrike">
                <a:solidFill>
                  <a:schemeClr val="dk1"/>
                </a:solidFill>
                <a:latin typeface="Arial"/>
                <a:ea typeface="Arial"/>
                <a:cs typeface="Arial"/>
                <a:sym typeface="Arial"/>
              </a:rPr>
              <a:t>* </a:t>
            </a:r>
            <a:r>
              <a:rPr b="1" i="1" lang="en-US" sz="1600" u="none" cap="none" strike="noStrike">
                <a:solidFill>
                  <a:schemeClr val="hlink"/>
                </a:solidFill>
                <a:latin typeface="Arial"/>
                <a:ea typeface="Arial"/>
                <a:cs typeface="Arial"/>
                <a:sym typeface="Arial"/>
              </a:rPr>
              <a:t>(AE/BE)</a:t>
            </a:r>
            <a:r>
              <a:rPr b="1" i="1" lang="en-US" sz="1600" u="none" cap="none" strike="noStrike">
                <a:solidFill>
                  <a:schemeClr val="dk1"/>
                </a:solidFill>
                <a:latin typeface="Arial"/>
                <a:ea typeface="Arial"/>
                <a:cs typeface="Arial"/>
                <a:sym typeface="Arial"/>
              </a:rPr>
              <a:t> = BC/BE &gt; 1</a:t>
            </a:r>
          </a:p>
        </p:txBody>
      </p:sp>
      <p:sp>
        <p:nvSpPr>
          <p:cNvPr id="135" name="Shape 135"/>
          <p:cNvSpPr/>
          <p:nvPr/>
        </p:nvSpPr>
        <p:spPr>
          <a:xfrm>
            <a:off x="3810000" y="3276600"/>
            <a:ext cx="1333500" cy="787400"/>
          </a:xfrm>
          <a:custGeom>
            <a:pathLst>
              <a:path extrusionOk="0" h="496" w="840">
                <a:moveTo>
                  <a:pt x="0" y="496"/>
                </a:moveTo>
                <a:cubicBezTo>
                  <a:pt x="56" y="483"/>
                  <a:pt x="256" y="440"/>
                  <a:pt x="336" y="416"/>
                </a:cubicBezTo>
                <a:cubicBezTo>
                  <a:pt x="416" y="392"/>
                  <a:pt x="433" y="379"/>
                  <a:pt x="480" y="352"/>
                </a:cubicBezTo>
                <a:cubicBezTo>
                  <a:pt x="527" y="325"/>
                  <a:pt x="569" y="297"/>
                  <a:pt x="616" y="256"/>
                </a:cubicBezTo>
                <a:cubicBezTo>
                  <a:pt x="663" y="215"/>
                  <a:pt x="723" y="147"/>
                  <a:pt x="760" y="104"/>
                </a:cubicBezTo>
                <a:cubicBezTo>
                  <a:pt x="797" y="61"/>
                  <a:pt x="823" y="22"/>
                  <a:pt x="840" y="0"/>
                </a:cubicBezTo>
              </a:path>
            </a:pathLst>
          </a:custGeom>
          <a:noFill/>
          <a:ln cap="flat" cmpd="sng" w="2857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39" name="Shape 139"/>
        <p:cNvGrpSpPr/>
        <p:nvPr/>
      </p:nvGrpSpPr>
      <p:grpSpPr>
        <a:xfrm>
          <a:off x="0" y="0"/>
          <a:ext cx="0" cy="0"/>
          <a:chOff x="0" y="0"/>
          <a:chExt cx="0" cy="0"/>
        </a:xfrm>
      </p:grpSpPr>
      <p:pic>
        <p:nvPicPr>
          <p:cNvPr id="140" name="Shape 140"/>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141" name="Shape 141"/>
          <p:cNvSpPr txBox="1"/>
          <p:nvPr/>
        </p:nvSpPr>
        <p:spPr>
          <a:xfrm>
            <a:off x="3487737" y="304800"/>
            <a:ext cx="5046662"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OFERTA INELÁSTICA</a:t>
            </a:r>
          </a:p>
        </p:txBody>
      </p:sp>
      <p:pic>
        <p:nvPicPr>
          <p:cNvPr id="142" name="Shape 142"/>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143" name="Shape 143"/>
          <p:cNvSpPr txBox="1"/>
          <p:nvPr/>
        </p:nvSpPr>
        <p:spPr>
          <a:xfrm>
            <a:off x="1676400" y="1447800"/>
            <a:ext cx="5486399" cy="455612"/>
          </a:xfrm>
          <a:prstGeom prst="rect">
            <a:avLst/>
          </a:prstGeom>
          <a:noFill/>
          <a:ln>
            <a:noFill/>
          </a:ln>
        </p:spPr>
        <p:txBody>
          <a:bodyPr anchorCtr="0" anchor="t" bIns="45700" lIns="91425" rIns="91425" tIns="45700">
            <a:noAutofit/>
          </a:bodyPr>
          <a:lstStyle/>
          <a:p>
            <a:pPr indent="-342900" lvl="0" marL="342900" marR="0" rtl="0" algn="ctr">
              <a:lnSpc>
                <a:spcPct val="100000"/>
              </a:lnSpc>
              <a:spcBef>
                <a:spcPts val="0"/>
              </a:spcBef>
              <a:spcAft>
                <a:spcPts val="0"/>
              </a:spcAft>
              <a:buClr>
                <a:schemeClr val="dk1"/>
              </a:buClr>
              <a:buSzPct val="25000"/>
              <a:buFont typeface="Arial"/>
              <a:buNone/>
            </a:pPr>
            <a:r>
              <a:rPr b="1" i="1" lang="en-US" sz="1600" u="none" cap="none" strike="noStrike">
                <a:solidFill>
                  <a:schemeClr val="dk1"/>
                </a:solidFill>
                <a:latin typeface="Arial"/>
                <a:ea typeface="Arial"/>
                <a:cs typeface="Arial"/>
                <a:sym typeface="Arial"/>
              </a:rPr>
              <a:t>E</a:t>
            </a:r>
            <a:r>
              <a:rPr b="1" baseline="-25000" i="1" lang="en-US" sz="1600" u="none" cap="none" strike="noStrike">
                <a:solidFill>
                  <a:schemeClr val="dk1"/>
                </a:solidFill>
                <a:latin typeface="Arial"/>
                <a:ea typeface="Arial"/>
                <a:cs typeface="Arial"/>
                <a:sym typeface="Arial"/>
              </a:rPr>
              <a:t>p </a:t>
            </a:r>
            <a:r>
              <a:rPr b="1" i="1" lang="en-US" sz="1600" u="none" cap="none" strike="noStrike">
                <a:solidFill>
                  <a:schemeClr val="dk1"/>
                </a:solidFill>
                <a:latin typeface="Arial"/>
                <a:ea typeface="Arial"/>
                <a:cs typeface="Arial"/>
                <a:sym typeface="Arial"/>
              </a:rPr>
              <a:t>= (ΔQ/Q)/(ΔP/P) = (</a:t>
            </a:r>
            <a:r>
              <a:rPr b="1" i="1" lang="en-US" sz="1600" u="none" cap="none" strike="noStrike">
                <a:solidFill>
                  <a:srgbClr val="FF0000"/>
                </a:solidFill>
                <a:latin typeface="Arial"/>
                <a:ea typeface="Arial"/>
                <a:cs typeface="Arial"/>
                <a:sym typeface="Arial"/>
              </a:rPr>
              <a:t>P/Q)</a:t>
            </a:r>
            <a:r>
              <a:rPr b="1" i="1" lang="en-US" sz="1600" u="none" cap="none" strike="noStrike">
                <a:solidFill>
                  <a:schemeClr val="dk1"/>
                </a:solidFill>
                <a:latin typeface="Arial"/>
                <a:ea typeface="Arial"/>
                <a:cs typeface="Arial"/>
                <a:sym typeface="Arial"/>
              </a:rPr>
              <a:t>* </a:t>
            </a:r>
            <a:r>
              <a:rPr b="1" i="1" lang="en-US" sz="1600" u="none" cap="none" strike="noStrike">
                <a:solidFill>
                  <a:schemeClr val="hlink"/>
                </a:solidFill>
                <a:latin typeface="Arial"/>
                <a:ea typeface="Arial"/>
                <a:cs typeface="Arial"/>
                <a:sym typeface="Arial"/>
              </a:rPr>
              <a:t>(ΔQ/ ΔP)</a:t>
            </a:r>
            <a:r>
              <a:rPr b="1" i="1" lang="en-US" sz="1600" u="none" cap="none" strike="noStrike">
                <a:solidFill>
                  <a:schemeClr val="dk1"/>
                </a:solidFill>
                <a:latin typeface="Arial"/>
                <a:ea typeface="Arial"/>
                <a:cs typeface="Arial"/>
                <a:sym typeface="Arial"/>
              </a:rPr>
              <a:t> &lt; 1 (uno)</a:t>
            </a:r>
          </a:p>
          <a:p>
            <a:pPr indent="-342900" lvl="0" marL="342900" marR="0" rtl="0" algn="l">
              <a:lnSpc>
                <a:spcPct val="100000"/>
              </a:lnSpc>
              <a:spcBef>
                <a:spcPts val="1280"/>
              </a:spcBef>
              <a:spcAft>
                <a:spcPts val="0"/>
              </a:spcAft>
              <a:buClr>
                <a:schemeClr val="dk1"/>
              </a:buClr>
              <a:buSzPct val="25000"/>
              <a:buFont typeface="Arial"/>
              <a:buNone/>
            </a:pPr>
            <a:r>
              <a:rPr b="1" i="1" lang="en-US" sz="1600" u="none" cap="none" strike="noStrike">
                <a:solidFill>
                  <a:schemeClr val="dk1"/>
                </a:solidFill>
                <a:latin typeface="Arial"/>
                <a:ea typeface="Arial"/>
                <a:cs typeface="Arial"/>
                <a:sym typeface="Arial"/>
              </a:rPr>
              <a:t>  </a:t>
            </a:r>
          </a:p>
        </p:txBody>
      </p:sp>
      <p:sp>
        <p:nvSpPr>
          <p:cNvPr id="144" name="Shape 144"/>
          <p:cNvSpPr txBox="1"/>
          <p:nvPr/>
        </p:nvSpPr>
        <p:spPr>
          <a:xfrm>
            <a:off x="609600" y="2971800"/>
            <a:ext cx="8153399" cy="915986"/>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Los vendedores ante determinadas variaciones de los precios reaccionan con variaciones relativas de la cantidad ofrecida mucho menores a las variaciones relativas de los precios      </a:t>
            </a:r>
            <a:r>
              <a:rPr b="1" i="1" lang="en-US" sz="1800" u="none" cap="none" strike="noStrike">
                <a:solidFill>
                  <a:schemeClr val="dk1"/>
                </a:solidFill>
                <a:latin typeface="Arial"/>
                <a:ea typeface="Arial"/>
                <a:cs typeface="Arial"/>
                <a:sym typeface="Arial"/>
              </a:rPr>
              <a:t>ΔQ/Q &lt; ΔP/P</a:t>
            </a:r>
            <a:r>
              <a:rPr b="0" i="0" lang="en-US" sz="1800" u="none" cap="none" strike="noStrike">
                <a:solidFill>
                  <a:schemeClr val="dk1"/>
                </a:solidFill>
                <a:latin typeface="Arial"/>
                <a:ea typeface="Arial"/>
                <a:cs typeface="Arial"/>
                <a:sym typeface="Arial"/>
              </a:rPr>
              <a:t> </a:t>
            </a:r>
          </a:p>
        </p:txBody>
      </p:sp>
      <p:sp>
        <p:nvSpPr>
          <p:cNvPr id="145" name="Shape 145"/>
          <p:cNvSpPr txBox="1"/>
          <p:nvPr/>
        </p:nvSpPr>
        <p:spPr>
          <a:xfrm>
            <a:off x="1355725" y="4608512"/>
            <a:ext cx="7092950" cy="1190624"/>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Razones principales:</a:t>
            </a:r>
          </a:p>
          <a:p>
            <a:pPr indent="-342900" lvl="0" marL="342900" marR="0" rtl="0" algn="l">
              <a:lnSpc>
                <a:spcPct val="100000"/>
              </a:lnSpc>
              <a:spcBef>
                <a:spcPts val="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Los productores utilizan habitualmente toda capacidad instalada.</a:t>
            </a:r>
          </a:p>
          <a:p>
            <a:pPr indent="-342900" lvl="0" marL="342900" marR="0" rtl="0" algn="l">
              <a:lnSpc>
                <a:spcPct val="100000"/>
              </a:lnSpc>
              <a:spcBef>
                <a:spcPts val="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El producto tiene ciclos de producción largos.</a:t>
            </a:r>
          </a:p>
          <a:p>
            <a:pPr indent="-342900" lvl="0" marL="342900" marR="0" rtl="0" algn="l">
              <a:lnSpc>
                <a:spcPct val="100000"/>
              </a:lnSpc>
              <a:spcBef>
                <a:spcPts val="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La estructura de producción es muy rígida.</a:t>
            </a:r>
          </a:p>
        </p:txBody>
      </p:sp>
      <p:sp>
        <p:nvSpPr>
          <p:cNvPr id="146" name="Shape 146"/>
          <p:cNvSpPr txBox="1"/>
          <p:nvPr/>
        </p:nvSpPr>
        <p:spPr>
          <a:xfrm>
            <a:off x="228600" y="2133600"/>
            <a:ext cx="8610599" cy="396874"/>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2000" u="none" cap="none" strike="noStrike">
                <a:solidFill>
                  <a:schemeClr val="dk1"/>
                </a:solidFill>
                <a:latin typeface="Arial"/>
                <a:ea typeface="Arial"/>
                <a:cs typeface="Arial"/>
                <a:sym typeface="Arial"/>
              </a:rPr>
              <a:t>La oferta en este caso es muy poco sensible a la variación de precios</a:t>
            </a:r>
          </a:p>
        </p:txBody>
      </p:sp>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50" name="Shape 150"/>
        <p:cNvGrpSpPr/>
        <p:nvPr/>
      </p:nvGrpSpPr>
      <p:grpSpPr>
        <a:xfrm>
          <a:off x="0" y="0"/>
          <a:ext cx="0" cy="0"/>
          <a:chOff x="0" y="0"/>
          <a:chExt cx="0" cy="0"/>
        </a:xfrm>
      </p:grpSpPr>
      <p:pic>
        <p:nvPicPr>
          <p:cNvPr id="151" name="Shape 151"/>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152" name="Shape 152"/>
          <p:cNvSpPr txBox="1"/>
          <p:nvPr/>
        </p:nvSpPr>
        <p:spPr>
          <a:xfrm>
            <a:off x="3487737" y="304800"/>
            <a:ext cx="5046662"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OFERTA INELÁSTICA</a:t>
            </a:r>
          </a:p>
        </p:txBody>
      </p:sp>
      <p:pic>
        <p:nvPicPr>
          <p:cNvPr id="153" name="Shape 153"/>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154" name="Shape 154"/>
          <p:cNvSpPr txBox="1"/>
          <p:nvPr/>
        </p:nvSpPr>
        <p:spPr>
          <a:xfrm>
            <a:off x="457200" y="1447800"/>
            <a:ext cx="8229600" cy="457200"/>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La oferta es inelástica cuando elasticidad precio es menor a 1(uno)</a:t>
            </a:r>
          </a:p>
        </p:txBody>
      </p:sp>
      <p:sp>
        <p:nvSpPr>
          <p:cNvPr id="155" name="Shape 155"/>
          <p:cNvSpPr txBox="1"/>
          <p:nvPr/>
        </p:nvSpPr>
        <p:spPr>
          <a:xfrm>
            <a:off x="263525" y="1828800"/>
            <a:ext cx="7737474" cy="609599"/>
          </a:xfrm>
          <a:prstGeom prst="rect">
            <a:avLst/>
          </a:prstGeom>
          <a:noFill/>
          <a:ln>
            <a:noFill/>
          </a:ln>
        </p:spPr>
        <p:txBody>
          <a:bodyPr anchorCtr="0" anchor="t" bIns="45700" lIns="91425" rIns="91425" tIns="45700">
            <a:noAutofit/>
          </a:bodyPr>
          <a:lstStyle/>
          <a:p>
            <a:pPr indent="-342900" lvl="0" marL="342900" marR="0" rtl="0" algn="ctr">
              <a:lnSpc>
                <a:spcPct val="100000"/>
              </a:lnSpc>
              <a:spcBef>
                <a:spcPts val="0"/>
              </a:spcBef>
              <a:spcAft>
                <a:spcPts val="0"/>
              </a:spcAft>
              <a:buClr>
                <a:schemeClr val="dk1"/>
              </a:buClr>
              <a:buSzPct val="25000"/>
              <a:buFont typeface="Arial"/>
              <a:buNone/>
            </a:pPr>
            <a:r>
              <a:rPr b="1" i="1" lang="en-US" sz="1600" u="none" cap="none" strike="noStrike">
                <a:solidFill>
                  <a:schemeClr val="dk1"/>
                </a:solidFill>
                <a:latin typeface="Arial"/>
                <a:ea typeface="Arial"/>
                <a:cs typeface="Arial"/>
                <a:sym typeface="Arial"/>
              </a:rPr>
              <a:t>E</a:t>
            </a:r>
            <a:r>
              <a:rPr b="1" baseline="-25000" i="1" lang="en-US" sz="1600" u="none" cap="none" strike="noStrike">
                <a:solidFill>
                  <a:schemeClr val="dk1"/>
                </a:solidFill>
                <a:latin typeface="Arial"/>
                <a:ea typeface="Arial"/>
                <a:cs typeface="Arial"/>
                <a:sym typeface="Arial"/>
              </a:rPr>
              <a:t>p </a:t>
            </a:r>
            <a:r>
              <a:rPr b="1" i="1" lang="en-US" sz="1600" u="none" cap="none" strike="noStrike">
                <a:solidFill>
                  <a:schemeClr val="dk1"/>
                </a:solidFill>
                <a:latin typeface="Arial"/>
                <a:ea typeface="Arial"/>
                <a:cs typeface="Arial"/>
                <a:sym typeface="Arial"/>
              </a:rPr>
              <a:t>= (ΔQ/Q)/(ΔP/P) = </a:t>
            </a:r>
            <a:r>
              <a:rPr b="1" i="1" lang="en-US" sz="1600" u="none" cap="none" strike="noStrike">
                <a:solidFill>
                  <a:srgbClr val="FF0000"/>
                </a:solidFill>
                <a:latin typeface="Arial"/>
                <a:ea typeface="Arial"/>
                <a:cs typeface="Arial"/>
                <a:sym typeface="Arial"/>
              </a:rPr>
              <a:t>(P/Q) </a:t>
            </a:r>
            <a:r>
              <a:rPr b="1" i="1" lang="en-US" sz="1600" u="none" cap="none" strike="noStrike">
                <a:solidFill>
                  <a:schemeClr val="dk1"/>
                </a:solidFill>
                <a:latin typeface="Arial"/>
                <a:ea typeface="Arial"/>
                <a:cs typeface="Arial"/>
                <a:sym typeface="Arial"/>
              </a:rPr>
              <a:t>* </a:t>
            </a:r>
            <a:r>
              <a:rPr b="1" i="1" lang="en-US" sz="1600" u="none" cap="none" strike="noStrike">
                <a:solidFill>
                  <a:schemeClr val="hlink"/>
                </a:solidFill>
                <a:latin typeface="Arial"/>
                <a:ea typeface="Arial"/>
                <a:cs typeface="Arial"/>
                <a:sym typeface="Arial"/>
              </a:rPr>
              <a:t>(ΔQ/ ΔP)</a:t>
            </a:r>
            <a:r>
              <a:rPr b="1" i="1" lang="en-US" sz="1600" u="none" cap="none" strike="noStrike">
                <a:solidFill>
                  <a:schemeClr val="dk1"/>
                </a:solidFill>
                <a:latin typeface="Arial"/>
                <a:ea typeface="Arial"/>
                <a:cs typeface="Arial"/>
                <a:sym typeface="Arial"/>
              </a:rPr>
              <a:t> &lt; 1 (uno)</a:t>
            </a:r>
          </a:p>
          <a:p>
            <a:pPr indent="-342900" lvl="0" marL="342900" marR="0" rtl="0" algn="l">
              <a:lnSpc>
                <a:spcPct val="100000"/>
              </a:lnSpc>
              <a:spcBef>
                <a:spcPts val="1280"/>
              </a:spcBef>
              <a:spcAft>
                <a:spcPts val="0"/>
              </a:spcAft>
              <a:buClr>
                <a:schemeClr val="dk1"/>
              </a:buClr>
              <a:buSzPct val="25000"/>
              <a:buFont typeface="Arial"/>
              <a:buNone/>
            </a:pPr>
            <a:r>
              <a:rPr b="1" i="1" lang="en-US" sz="1600" u="none" cap="none" strike="noStrike">
                <a:solidFill>
                  <a:schemeClr val="dk1"/>
                </a:solidFill>
                <a:latin typeface="Arial"/>
                <a:ea typeface="Arial"/>
                <a:cs typeface="Arial"/>
                <a:sym typeface="Arial"/>
              </a:rPr>
              <a:t>  </a:t>
            </a:r>
          </a:p>
        </p:txBody>
      </p:sp>
      <p:cxnSp>
        <p:nvCxnSpPr>
          <p:cNvPr id="156" name="Shape 156"/>
          <p:cNvCxnSpPr/>
          <p:nvPr/>
        </p:nvCxnSpPr>
        <p:spPr>
          <a:xfrm rot="10800000">
            <a:off x="1752600" y="3276599"/>
            <a:ext cx="0" cy="3276600"/>
          </a:xfrm>
          <a:prstGeom prst="straightConnector1">
            <a:avLst/>
          </a:prstGeom>
          <a:noFill/>
          <a:ln cap="flat" cmpd="sng" w="9525">
            <a:solidFill>
              <a:schemeClr val="dk1"/>
            </a:solidFill>
            <a:prstDash val="solid"/>
            <a:miter/>
            <a:headEnd len="med" w="med" type="none"/>
            <a:tailEnd len="lg" w="lg" type="triangle"/>
          </a:ln>
        </p:spPr>
      </p:cxnSp>
      <p:cxnSp>
        <p:nvCxnSpPr>
          <p:cNvPr id="157" name="Shape 157"/>
          <p:cNvCxnSpPr/>
          <p:nvPr/>
        </p:nvCxnSpPr>
        <p:spPr>
          <a:xfrm>
            <a:off x="457200" y="5867400"/>
            <a:ext cx="6858000" cy="0"/>
          </a:xfrm>
          <a:prstGeom prst="straightConnector1">
            <a:avLst/>
          </a:prstGeom>
          <a:noFill/>
          <a:ln cap="flat" cmpd="sng" w="9525">
            <a:solidFill>
              <a:schemeClr val="dk1"/>
            </a:solidFill>
            <a:prstDash val="solid"/>
            <a:miter/>
            <a:headEnd len="med" w="med" type="none"/>
            <a:tailEnd len="lg" w="lg" type="triangle"/>
          </a:ln>
        </p:spPr>
      </p:cxnSp>
      <p:cxnSp>
        <p:nvCxnSpPr>
          <p:cNvPr id="158" name="Shape 158"/>
          <p:cNvCxnSpPr/>
          <p:nvPr/>
        </p:nvCxnSpPr>
        <p:spPr>
          <a:xfrm flipH="1" rot="10800000">
            <a:off x="1295400" y="3733799"/>
            <a:ext cx="5333999" cy="2819400"/>
          </a:xfrm>
          <a:prstGeom prst="straightConnector1">
            <a:avLst/>
          </a:prstGeom>
          <a:noFill/>
          <a:ln cap="flat" cmpd="sng" w="25400">
            <a:solidFill>
              <a:srgbClr val="FF0000"/>
            </a:solidFill>
            <a:prstDash val="solid"/>
            <a:miter/>
            <a:headEnd len="med" w="med" type="none"/>
            <a:tailEnd len="med" w="med" type="none"/>
          </a:ln>
        </p:spPr>
      </p:cxnSp>
      <p:sp>
        <p:nvSpPr>
          <p:cNvPr id="159" name="Shape 159"/>
          <p:cNvSpPr txBox="1"/>
          <p:nvPr/>
        </p:nvSpPr>
        <p:spPr>
          <a:xfrm>
            <a:off x="5181600" y="4419600"/>
            <a:ext cx="23558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CURVA DE OFERTA</a:t>
            </a:r>
          </a:p>
        </p:txBody>
      </p:sp>
      <p:sp>
        <p:nvSpPr>
          <p:cNvPr id="160" name="Shape 160"/>
          <p:cNvSpPr txBox="1"/>
          <p:nvPr/>
        </p:nvSpPr>
        <p:spPr>
          <a:xfrm>
            <a:off x="609600" y="3138486"/>
            <a:ext cx="10604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161" name="Shape 161"/>
          <p:cNvSpPr txBox="1"/>
          <p:nvPr/>
        </p:nvSpPr>
        <p:spPr>
          <a:xfrm>
            <a:off x="7527925" y="5599112"/>
            <a:ext cx="13525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cxnSp>
        <p:nvCxnSpPr>
          <p:cNvPr id="162" name="Shape 162"/>
          <p:cNvCxnSpPr/>
          <p:nvPr/>
        </p:nvCxnSpPr>
        <p:spPr>
          <a:xfrm>
            <a:off x="4572000" y="4800600"/>
            <a:ext cx="0" cy="1524000"/>
          </a:xfrm>
          <a:prstGeom prst="straightConnector1">
            <a:avLst/>
          </a:prstGeom>
          <a:noFill/>
          <a:ln cap="flat" cmpd="sng" w="9525">
            <a:solidFill>
              <a:schemeClr val="dk1"/>
            </a:solidFill>
            <a:prstDash val="solid"/>
            <a:miter/>
            <a:headEnd len="med" w="med" type="none"/>
            <a:tailEnd len="med" w="med" type="none"/>
          </a:ln>
        </p:spPr>
      </p:cxnSp>
      <p:cxnSp>
        <p:nvCxnSpPr>
          <p:cNvPr id="163" name="Shape 163"/>
          <p:cNvCxnSpPr/>
          <p:nvPr/>
        </p:nvCxnSpPr>
        <p:spPr>
          <a:xfrm>
            <a:off x="1752600" y="6324600"/>
            <a:ext cx="2819400" cy="0"/>
          </a:xfrm>
          <a:prstGeom prst="straightConnector1">
            <a:avLst/>
          </a:prstGeom>
          <a:noFill/>
          <a:ln cap="flat" cmpd="sng" w="9525">
            <a:solidFill>
              <a:schemeClr val="dk1"/>
            </a:solidFill>
            <a:prstDash val="solid"/>
            <a:miter/>
            <a:headEnd len="med" w="med" type="none"/>
            <a:tailEnd len="med" w="med" type="none"/>
          </a:ln>
        </p:spPr>
      </p:cxnSp>
      <p:cxnSp>
        <p:nvCxnSpPr>
          <p:cNvPr id="164" name="Shape 164"/>
          <p:cNvCxnSpPr/>
          <p:nvPr/>
        </p:nvCxnSpPr>
        <p:spPr>
          <a:xfrm>
            <a:off x="1754186" y="4800600"/>
            <a:ext cx="2817812" cy="0"/>
          </a:xfrm>
          <a:prstGeom prst="straightConnector1">
            <a:avLst/>
          </a:prstGeom>
          <a:noFill/>
          <a:ln cap="flat" cmpd="sng" w="9525">
            <a:solidFill>
              <a:schemeClr val="dk1"/>
            </a:solidFill>
            <a:prstDash val="solid"/>
            <a:miter/>
            <a:headEnd len="med" w="med" type="none"/>
            <a:tailEnd len="med" w="med" type="none"/>
          </a:ln>
        </p:spPr>
      </p:cxnSp>
      <p:sp>
        <p:nvSpPr>
          <p:cNvPr id="165" name="Shape 165"/>
          <p:cNvSpPr txBox="1"/>
          <p:nvPr/>
        </p:nvSpPr>
        <p:spPr>
          <a:xfrm>
            <a:off x="4267200" y="4343400"/>
            <a:ext cx="3365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B</a:t>
            </a:r>
          </a:p>
        </p:txBody>
      </p:sp>
      <p:sp>
        <p:nvSpPr>
          <p:cNvPr id="166" name="Shape 166"/>
          <p:cNvSpPr txBox="1"/>
          <p:nvPr/>
        </p:nvSpPr>
        <p:spPr>
          <a:xfrm>
            <a:off x="4298950" y="5576887"/>
            <a:ext cx="3492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t>
            </a:r>
          </a:p>
        </p:txBody>
      </p:sp>
      <p:sp>
        <p:nvSpPr>
          <p:cNvPr id="167" name="Shape 167"/>
          <p:cNvSpPr txBox="1"/>
          <p:nvPr/>
        </p:nvSpPr>
        <p:spPr>
          <a:xfrm>
            <a:off x="4311650" y="6034087"/>
            <a:ext cx="3365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a:t>
            </a:r>
          </a:p>
        </p:txBody>
      </p:sp>
      <p:sp>
        <p:nvSpPr>
          <p:cNvPr id="168" name="Shape 168"/>
          <p:cNvSpPr txBox="1"/>
          <p:nvPr/>
        </p:nvSpPr>
        <p:spPr>
          <a:xfrm>
            <a:off x="1492250" y="6034087"/>
            <a:ext cx="3365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A</a:t>
            </a:r>
          </a:p>
        </p:txBody>
      </p:sp>
      <p:sp>
        <p:nvSpPr>
          <p:cNvPr id="169" name="Shape 169"/>
          <p:cNvSpPr txBox="1"/>
          <p:nvPr/>
        </p:nvSpPr>
        <p:spPr>
          <a:xfrm>
            <a:off x="1492250" y="4586287"/>
            <a:ext cx="3365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0" i="0" lang="en-US" sz="1800" u="none" cap="none" strike="noStrike">
                <a:solidFill>
                  <a:srgbClr val="FF0000"/>
                </a:solidFill>
                <a:latin typeface="Arial"/>
                <a:ea typeface="Arial"/>
                <a:cs typeface="Arial"/>
                <a:sym typeface="Arial"/>
              </a:rPr>
              <a:t>P</a:t>
            </a:r>
          </a:p>
        </p:txBody>
      </p:sp>
      <p:sp>
        <p:nvSpPr>
          <p:cNvPr id="170" name="Shape 170"/>
          <p:cNvSpPr txBox="1"/>
          <p:nvPr/>
        </p:nvSpPr>
        <p:spPr>
          <a:xfrm>
            <a:off x="4514850" y="5805487"/>
            <a:ext cx="3619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0" i="0" lang="en-US" sz="1800" u="none" cap="none" strike="noStrike">
                <a:solidFill>
                  <a:srgbClr val="FF0000"/>
                </a:solidFill>
                <a:latin typeface="Arial"/>
                <a:ea typeface="Arial"/>
                <a:cs typeface="Arial"/>
                <a:sym typeface="Arial"/>
              </a:rPr>
              <a:t>Q</a:t>
            </a:r>
          </a:p>
        </p:txBody>
      </p:sp>
      <p:sp>
        <p:nvSpPr>
          <p:cNvPr id="171" name="Shape 171"/>
          <p:cNvSpPr txBox="1"/>
          <p:nvPr/>
        </p:nvSpPr>
        <p:spPr>
          <a:xfrm>
            <a:off x="2317750" y="5576887"/>
            <a:ext cx="3492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D</a:t>
            </a:r>
          </a:p>
        </p:txBody>
      </p:sp>
      <p:sp>
        <p:nvSpPr>
          <p:cNvPr id="172" name="Shape 172"/>
          <p:cNvSpPr txBox="1"/>
          <p:nvPr/>
        </p:nvSpPr>
        <p:spPr>
          <a:xfrm>
            <a:off x="1447800" y="5562600"/>
            <a:ext cx="3619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O</a:t>
            </a:r>
          </a:p>
        </p:txBody>
      </p:sp>
      <p:sp>
        <p:nvSpPr>
          <p:cNvPr id="173" name="Shape 173"/>
          <p:cNvSpPr txBox="1"/>
          <p:nvPr/>
        </p:nvSpPr>
        <p:spPr>
          <a:xfrm>
            <a:off x="263525" y="2284411"/>
            <a:ext cx="8610599" cy="8254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1600" u="none" cap="none" strike="noStrike">
                <a:solidFill>
                  <a:schemeClr val="dk1"/>
                </a:solidFill>
                <a:latin typeface="Arial"/>
                <a:ea typeface="Arial"/>
                <a:cs typeface="Arial"/>
                <a:sym typeface="Arial"/>
              </a:rPr>
              <a:t>En el gráfico podemos asociar la relación con los segmentos identificados como:</a:t>
            </a:r>
          </a:p>
          <a:p>
            <a:pPr indent="0" lvl="0" marL="0" marR="0" rtl="0" algn="l">
              <a:lnSpc>
                <a:spcPct val="100000"/>
              </a:lnSpc>
              <a:spcBef>
                <a:spcPts val="0"/>
              </a:spcBef>
              <a:spcAft>
                <a:spcPts val="0"/>
              </a:spcAft>
              <a:buClr>
                <a:srgbClr val="FF0000"/>
              </a:buClr>
              <a:buSzPct val="25000"/>
              <a:buFont typeface="Arial"/>
              <a:buNone/>
            </a:pPr>
            <a:r>
              <a:rPr b="1" i="1" lang="en-US" sz="1600" u="none" cap="none" strike="noStrike">
                <a:solidFill>
                  <a:srgbClr val="FF0000"/>
                </a:solidFill>
                <a:latin typeface="Arial"/>
                <a:ea typeface="Arial"/>
                <a:cs typeface="Arial"/>
                <a:sym typeface="Arial"/>
              </a:rPr>
              <a:t>P/Q  = BC/OC = BC/AE</a:t>
            </a:r>
            <a:r>
              <a:rPr b="1" i="1" lang="en-US" sz="1600" u="none" cap="none" strike="noStrike">
                <a:solidFill>
                  <a:schemeClr val="dk1"/>
                </a:solidFill>
                <a:latin typeface="Arial"/>
                <a:ea typeface="Arial"/>
                <a:cs typeface="Arial"/>
                <a:sym typeface="Arial"/>
              </a:rPr>
              <a:t>       </a:t>
            </a:r>
            <a:r>
              <a:rPr b="1" i="1" lang="en-US" sz="1600" u="none" cap="none" strike="noStrike">
                <a:solidFill>
                  <a:schemeClr val="hlink"/>
                </a:solidFill>
                <a:latin typeface="Arial"/>
                <a:ea typeface="Arial"/>
                <a:cs typeface="Arial"/>
                <a:sym typeface="Arial"/>
              </a:rPr>
              <a:t>ΔQ/ ΔP = DC/BC</a:t>
            </a:r>
          </a:p>
          <a:p>
            <a:pPr indent="0" lvl="0" marL="0" marR="0" rtl="0" algn="l">
              <a:lnSpc>
                <a:spcPct val="100000"/>
              </a:lnSpc>
              <a:spcBef>
                <a:spcPts val="0"/>
              </a:spcBef>
              <a:spcAft>
                <a:spcPts val="0"/>
              </a:spcAft>
              <a:buClr>
                <a:schemeClr val="dk1"/>
              </a:buClr>
              <a:buSzPct val="25000"/>
              <a:buFont typeface="Arial"/>
              <a:buNone/>
            </a:pPr>
            <a:r>
              <a:rPr b="1" i="1" lang="en-US" sz="1600" u="none" cap="none" strike="noStrike">
                <a:solidFill>
                  <a:schemeClr val="dk1"/>
                </a:solidFill>
                <a:latin typeface="Arial"/>
                <a:ea typeface="Arial"/>
                <a:cs typeface="Arial"/>
                <a:sym typeface="Arial"/>
              </a:rPr>
              <a:t>E</a:t>
            </a:r>
            <a:r>
              <a:rPr b="1" baseline="-25000" i="1" lang="en-US" sz="1600" u="none" cap="none" strike="noStrike">
                <a:solidFill>
                  <a:schemeClr val="dk1"/>
                </a:solidFill>
                <a:latin typeface="Arial"/>
                <a:ea typeface="Arial"/>
                <a:cs typeface="Arial"/>
                <a:sym typeface="Arial"/>
              </a:rPr>
              <a:t>p </a:t>
            </a:r>
            <a:r>
              <a:rPr b="1" i="1" lang="en-US" sz="1600" u="none" cap="none" strike="noStrike">
                <a:solidFill>
                  <a:schemeClr val="dk1"/>
                </a:solidFill>
                <a:latin typeface="Arial"/>
                <a:ea typeface="Arial"/>
                <a:cs typeface="Arial"/>
                <a:sym typeface="Arial"/>
              </a:rPr>
              <a:t>=(P/Q)* (ΔQ/ ΔP)= </a:t>
            </a:r>
            <a:r>
              <a:rPr b="1" i="1" lang="en-US" sz="1600" u="none" cap="none" strike="noStrike">
                <a:solidFill>
                  <a:srgbClr val="FF0000"/>
                </a:solidFill>
                <a:latin typeface="Arial"/>
                <a:ea typeface="Arial"/>
                <a:cs typeface="Arial"/>
                <a:sym typeface="Arial"/>
              </a:rPr>
              <a:t>(BC/OC) </a:t>
            </a:r>
            <a:r>
              <a:rPr b="1" i="1" lang="en-US" sz="1600" u="none" cap="none" strike="noStrike">
                <a:solidFill>
                  <a:schemeClr val="dk1"/>
                </a:solidFill>
                <a:latin typeface="Arial"/>
                <a:ea typeface="Arial"/>
                <a:cs typeface="Arial"/>
                <a:sym typeface="Arial"/>
              </a:rPr>
              <a:t>* </a:t>
            </a:r>
            <a:r>
              <a:rPr b="1" i="1" lang="en-US" sz="1600" u="none" cap="none" strike="noStrike">
                <a:solidFill>
                  <a:schemeClr val="hlink"/>
                </a:solidFill>
                <a:latin typeface="Arial"/>
                <a:ea typeface="Arial"/>
                <a:cs typeface="Arial"/>
                <a:sym typeface="Arial"/>
              </a:rPr>
              <a:t>(DC/BC)</a:t>
            </a:r>
            <a:r>
              <a:rPr b="1" i="1" lang="en-US" sz="1600" u="none" cap="none" strike="noStrike">
                <a:solidFill>
                  <a:schemeClr val="dk1"/>
                </a:solidFill>
                <a:latin typeface="Arial"/>
                <a:ea typeface="Arial"/>
                <a:cs typeface="Arial"/>
                <a:sym typeface="Arial"/>
              </a:rPr>
              <a:t> = DC/OC &lt; 1</a:t>
            </a:r>
          </a:p>
        </p:txBody>
      </p:sp>
      <p:sp>
        <p:nvSpPr>
          <p:cNvPr id="174" name="Shape 174"/>
          <p:cNvSpPr/>
          <p:nvPr/>
        </p:nvSpPr>
        <p:spPr>
          <a:xfrm>
            <a:off x="3733800" y="3886200"/>
            <a:ext cx="1714500" cy="1181100"/>
          </a:xfrm>
          <a:custGeom>
            <a:pathLst>
              <a:path extrusionOk="0" h="744" w="1080">
                <a:moveTo>
                  <a:pt x="0" y="744"/>
                </a:moveTo>
                <a:cubicBezTo>
                  <a:pt x="53" y="729"/>
                  <a:pt x="229" y="687"/>
                  <a:pt x="320" y="656"/>
                </a:cubicBezTo>
                <a:cubicBezTo>
                  <a:pt x="411" y="625"/>
                  <a:pt x="477" y="597"/>
                  <a:pt x="544" y="560"/>
                </a:cubicBezTo>
                <a:cubicBezTo>
                  <a:pt x="611" y="523"/>
                  <a:pt x="659" y="485"/>
                  <a:pt x="720" y="432"/>
                </a:cubicBezTo>
                <a:cubicBezTo>
                  <a:pt x="781" y="379"/>
                  <a:pt x="852" y="312"/>
                  <a:pt x="912" y="240"/>
                </a:cubicBezTo>
                <a:cubicBezTo>
                  <a:pt x="972" y="168"/>
                  <a:pt x="1045" y="50"/>
                  <a:pt x="1080" y="0"/>
                </a:cubicBezTo>
              </a:path>
            </a:pathLst>
          </a:custGeom>
          <a:noFill/>
          <a:ln cap="flat" cmpd="sng" w="2857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78" name="Shape 178"/>
        <p:cNvGrpSpPr/>
        <p:nvPr/>
      </p:nvGrpSpPr>
      <p:grpSpPr>
        <a:xfrm>
          <a:off x="0" y="0"/>
          <a:ext cx="0" cy="0"/>
          <a:chOff x="0" y="0"/>
          <a:chExt cx="0" cy="0"/>
        </a:xfrm>
      </p:grpSpPr>
      <p:pic>
        <p:nvPicPr>
          <p:cNvPr id="179" name="Shape 179"/>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180" name="Shape 180"/>
          <p:cNvSpPr txBox="1"/>
          <p:nvPr/>
        </p:nvSpPr>
        <p:spPr>
          <a:xfrm>
            <a:off x="3487737" y="304800"/>
            <a:ext cx="5046662"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OFERTA UNITARIA</a:t>
            </a:r>
          </a:p>
        </p:txBody>
      </p:sp>
      <p:pic>
        <p:nvPicPr>
          <p:cNvPr id="181" name="Shape 181"/>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182" name="Shape 182"/>
          <p:cNvSpPr txBox="1"/>
          <p:nvPr/>
        </p:nvSpPr>
        <p:spPr>
          <a:xfrm>
            <a:off x="1676400" y="1447800"/>
            <a:ext cx="5486399" cy="455612"/>
          </a:xfrm>
          <a:prstGeom prst="rect">
            <a:avLst/>
          </a:prstGeom>
          <a:noFill/>
          <a:ln>
            <a:noFill/>
          </a:ln>
        </p:spPr>
        <p:txBody>
          <a:bodyPr anchorCtr="0" anchor="t" bIns="45700" lIns="91425" rIns="91425" tIns="45700">
            <a:noAutofit/>
          </a:bodyPr>
          <a:lstStyle/>
          <a:p>
            <a:pPr indent="-342900" lvl="0" marL="342900" marR="0" rtl="0" algn="ctr">
              <a:lnSpc>
                <a:spcPct val="100000"/>
              </a:lnSpc>
              <a:spcBef>
                <a:spcPts val="0"/>
              </a:spcBef>
              <a:spcAft>
                <a:spcPts val="0"/>
              </a:spcAft>
              <a:buClr>
                <a:schemeClr val="dk1"/>
              </a:buClr>
              <a:buSzPct val="25000"/>
              <a:buFont typeface="Arial"/>
              <a:buNone/>
            </a:pPr>
            <a:r>
              <a:rPr b="1" i="1" lang="en-US" sz="1600" u="none" cap="none" strike="noStrike">
                <a:solidFill>
                  <a:schemeClr val="dk1"/>
                </a:solidFill>
                <a:latin typeface="Arial"/>
                <a:ea typeface="Arial"/>
                <a:cs typeface="Arial"/>
                <a:sym typeface="Arial"/>
              </a:rPr>
              <a:t>E</a:t>
            </a:r>
            <a:r>
              <a:rPr b="1" baseline="-25000" i="1" lang="en-US" sz="1600" u="none" cap="none" strike="noStrike">
                <a:solidFill>
                  <a:schemeClr val="dk1"/>
                </a:solidFill>
                <a:latin typeface="Arial"/>
                <a:ea typeface="Arial"/>
                <a:cs typeface="Arial"/>
                <a:sym typeface="Arial"/>
              </a:rPr>
              <a:t>p </a:t>
            </a:r>
            <a:r>
              <a:rPr b="1" i="1" lang="en-US" sz="1600" u="none" cap="none" strike="noStrike">
                <a:solidFill>
                  <a:schemeClr val="dk1"/>
                </a:solidFill>
                <a:latin typeface="Arial"/>
                <a:ea typeface="Arial"/>
                <a:cs typeface="Arial"/>
                <a:sym typeface="Arial"/>
              </a:rPr>
              <a:t>= (ΔQ/Q)/(ΔP/P) = (</a:t>
            </a:r>
            <a:r>
              <a:rPr b="1" i="1" lang="en-US" sz="1600" u="none" cap="none" strike="noStrike">
                <a:solidFill>
                  <a:srgbClr val="FF0000"/>
                </a:solidFill>
                <a:latin typeface="Arial"/>
                <a:ea typeface="Arial"/>
                <a:cs typeface="Arial"/>
                <a:sym typeface="Arial"/>
              </a:rPr>
              <a:t>P/Q)</a:t>
            </a:r>
            <a:r>
              <a:rPr b="1" i="1" lang="en-US" sz="1600" u="none" cap="none" strike="noStrike">
                <a:solidFill>
                  <a:schemeClr val="dk1"/>
                </a:solidFill>
                <a:latin typeface="Arial"/>
                <a:ea typeface="Arial"/>
                <a:cs typeface="Arial"/>
                <a:sym typeface="Arial"/>
              </a:rPr>
              <a:t>* </a:t>
            </a:r>
            <a:r>
              <a:rPr b="1" i="1" lang="en-US" sz="1600" u="none" cap="none" strike="noStrike">
                <a:solidFill>
                  <a:schemeClr val="hlink"/>
                </a:solidFill>
                <a:latin typeface="Arial"/>
                <a:ea typeface="Arial"/>
                <a:cs typeface="Arial"/>
                <a:sym typeface="Arial"/>
              </a:rPr>
              <a:t>(ΔQ/ ΔP)</a:t>
            </a:r>
            <a:r>
              <a:rPr b="1" i="1" lang="en-US" sz="1600" u="none" cap="none" strike="noStrike">
                <a:solidFill>
                  <a:schemeClr val="dk1"/>
                </a:solidFill>
                <a:latin typeface="Arial"/>
                <a:ea typeface="Arial"/>
                <a:cs typeface="Arial"/>
                <a:sym typeface="Arial"/>
              </a:rPr>
              <a:t> = 1 (uno)</a:t>
            </a:r>
          </a:p>
          <a:p>
            <a:pPr indent="-342900" lvl="0" marL="342900" marR="0" rtl="0" algn="l">
              <a:lnSpc>
                <a:spcPct val="100000"/>
              </a:lnSpc>
              <a:spcBef>
                <a:spcPts val="1280"/>
              </a:spcBef>
              <a:spcAft>
                <a:spcPts val="0"/>
              </a:spcAft>
              <a:buClr>
                <a:schemeClr val="dk1"/>
              </a:buClr>
              <a:buSzPct val="25000"/>
              <a:buFont typeface="Arial"/>
              <a:buNone/>
            </a:pPr>
            <a:r>
              <a:rPr b="1" i="1" lang="en-US" sz="1600" u="none" cap="none" strike="noStrike">
                <a:solidFill>
                  <a:schemeClr val="dk1"/>
                </a:solidFill>
                <a:latin typeface="Arial"/>
                <a:ea typeface="Arial"/>
                <a:cs typeface="Arial"/>
                <a:sym typeface="Arial"/>
              </a:rPr>
              <a:t>  </a:t>
            </a:r>
          </a:p>
        </p:txBody>
      </p:sp>
      <p:sp>
        <p:nvSpPr>
          <p:cNvPr id="183" name="Shape 183"/>
          <p:cNvSpPr txBox="1"/>
          <p:nvPr/>
        </p:nvSpPr>
        <p:spPr>
          <a:xfrm>
            <a:off x="609600" y="2971800"/>
            <a:ext cx="8153399" cy="915986"/>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Los vendedores ante determinadas variaciones de los precios reaccionan con variaciones relativas de la cantidad ofrecida equivalentes a las variaciones relativas de los precios      </a:t>
            </a:r>
            <a:r>
              <a:rPr b="1" i="1" lang="en-US" sz="1800" u="none" cap="none" strike="noStrike">
                <a:solidFill>
                  <a:schemeClr val="dk1"/>
                </a:solidFill>
                <a:latin typeface="Arial"/>
                <a:ea typeface="Arial"/>
                <a:cs typeface="Arial"/>
                <a:sym typeface="Arial"/>
              </a:rPr>
              <a:t>ΔQ/Q = ΔP/P</a:t>
            </a:r>
            <a:r>
              <a:rPr b="0" i="0" lang="en-US" sz="1800" u="none" cap="none" strike="noStrike">
                <a:solidFill>
                  <a:schemeClr val="dk1"/>
                </a:solidFill>
                <a:latin typeface="Arial"/>
                <a:ea typeface="Arial"/>
                <a:cs typeface="Arial"/>
                <a:sym typeface="Arial"/>
              </a:rPr>
              <a:t> </a:t>
            </a:r>
          </a:p>
        </p:txBody>
      </p:sp>
      <p:sp>
        <p:nvSpPr>
          <p:cNvPr id="184" name="Shape 184"/>
          <p:cNvSpPr txBox="1"/>
          <p:nvPr/>
        </p:nvSpPr>
        <p:spPr>
          <a:xfrm>
            <a:off x="1355725" y="4608512"/>
            <a:ext cx="5353050" cy="915986"/>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Razones principales:</a:t>
            </a:r>
          </a:p>
          <a:p>
            <a:pPr indent="-342900" lvl="0" marL="342900" marR="0" rtl="0" algn="l">
              <a:lnSpc>
                <a:spcPct val="100000"/>
              </a:lnSpc>
              <a:spcBef>
                <a:spcPts val="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El producto tiene ciclos de producción estables.</a:t>
            </a:r>
          </a:p>
          <a:p>
            <a:pPr indent="-342900" lvl="0" marL="342900" marR="0" rtl="0" algn="l">
              <a:lnSpc>
                <a:spcPct val="100000"/>
              </a:lnSpc>
              <a:spcBef>
                <a:spcPts val="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Las estructuras de producción son flexibles.</a:t>
            </a:r>
          </a:p>
        </p:txBody>
      </p:sp>
      <p:sp>
        <p:nvSpPr>
          <p:cNvPr id="185" name="Shape 185"/>
          <p:cNvSpPr txBox="1"/>
          <p:nvPr/>
        </p:nvSpPr>
        <p:spPr>
          <a:xfrm>
            <a:off x="304800" y="2133600"/>
            <a:ext cx="876300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La oferta en este caso tiene una sensibilidad media a la variación de precios</a:t>
            </a:r>
          </a:p>
        </p:txBody>
      </p:sp>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89" name="Shape 189"/>
        <p:cNvGrpSpPr/>
        <p:nvPr/>
      </p:nvGrpSpPr>
      <p:grpSpPr>
        <a:xfrm>
          <a:off x="0" y="0"/>
          <a:ext cx="0" cy="0"/>
          <a:chOff x="0" y="0"/>
          <a:chExt cx="0" cy="0"/>
        </a:xfrm>
      </p:grpSpPr>
      <p:pic>
        <p:nvPicPr>
          <p:cNvPr id="190" name="Shape 190"/>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191" name="Shape 191"/>
          <p:cNvSpPr txBox="1"/>
          <p:nvPr/>
        </p:nvSpPr>
        <p:spPr>
          <a:xfrm>
            <a:off x="3487737" y="304800"/>
            <a:ext cx="5046662"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OFERTA UNITARIA</a:t>
            </a:r>
          </a:p>
        </p:txBody>
      </p:sp>
      <p:pic>
        <p:nvPicPr>
          <p:cNvPr id="192" name="Shape 192"/>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193" name="Shape 193"/>
          <p:cNvSpPr txBox="1"/>
          <p:nvPr/>
        </p:nvSpPr>
        <p:spPr>
          <a:xfrm>
            <a:off x="457200" y="1447800"/>
            <a:ext cx="8229600" cy="457200"/>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La oferta es inelástica cuando elasticidad precio es 1(uno)</a:t>
            </a:r>
          </a:p>
        </p:txBody>
      </p:sp>
      <p:sp>
        <p:nvSpPr>
          <p:cNvPr id="194" name="Shape 194"/>
          <p:cNvSpPr txBox="1"/>
          <p:nvPr/>
        </p:nvSpPr>
        <p:spPr>
          <a:xfrm>
            <a:off x="263525" y="1828800"/>
            <a:ext cx="7737474" cy="609599"/>
          </a:xfrm>
          <a:prstGeom prst="rect">
            <a:avLst/>
          </a:prstGeom>
          <a:noFill/>
          <a:ln>
            <a:noFill/>
          </a:ln>
        </p:spPr>
        <p:txBody>
          <a:bodyPr anchorCtr="0" anchor="t" bIns="45700" lIns="91425" rIns="91425" tIns="45700">
            <a:noAutofit/>
          </a:bodyPr>
          <a:lstStyle/>
          <a:p>
            <a:pPr indent="-342900" lvl="0" marL="342900" marR="0" rtl="0" algn="ctr">
              <a:lnSpc>
                <a:spcPct val="100000"/>
              </a:lnSpc>
              <a:spcBef>
                <a:spcPts val="0"/>
              </a:spcBef>
              <a:spcAft>
                <a:spcPts val="0"/>
              </a:spcAft>
              <a:buClr>
                <a:schemeClr val="dk1"/>
              </a:buClr>
              <a:buSzPct val="25000"/>
              <a:buFont typeface="Arial"/>
              <a:buNone/>
            </a:pPr>
            <a:r>
              <a:rPr b="1" i="1" lang="en-US" sz="1600" u="none" cap="none" strike="noStrike">
                <a:solidFill>
                  <a:schemeClr val="dk1"/>
                </a:solidFill>
                <a:latin typeface="Arial"/>
                <a:ea typeface="Arial"/>
                <a:cs typeface="Arial"/>
                <a:sym typeface="Arial"/>
              </a:rPr>
              <a:t>E</a:t>
            </a:r>
            <a:r>
              <a:rPr b="1" baseline="-25000" i="1" lang="en-US" sz="1600" u="none" cap="none" strike="noStrike">
                <a:solidFill>
                  <a:schemeClr val="dk1"/>
                </a:solidFill>
                <a:latin typeface="Arial"/>
                <a:ea typeface="Arial"/>
                <a:cs typeface="Arial"/>
                <a:sym typeface="Arial"/>
              </a:rPr>
              <a:t>p </a:t>
            </a:r>
            <a:r>
              <a:rPr b="1" i="1" lang="en-US" sz="1600" u="none" cap="none" strike="noStrike">
                <a:solidFill>
                  <a:schemeClr val="dk1"/>
                </a:solidFill>
                <a:latin typeface="Arial"/>
                <a:ea typeface="Arial"/>
                <a:cs typeface="Arial"/>
                <a:sym typeface="Arial"/>
              </a:rPr>
              <a:t>= (ΔQ/Q)/(ΔP/P) = </a:t>
            </a:r>
            <a:r>
              <a:rPr b="1" i="1" lang="en-US" sz="1600" u="none" cap="none" strike="noStrike">
                <a:solidFill>
                  <a:srgbClr val="FF0000"/>
                </a:solidFill>
                <a:latin typeface="Arial"/>
                <a:ea typeface="Arial"/>
                <a:cs typeface="Arial"/>
                <a:sym typeface="Arial"/>
              </a:rPr>
              <a:t>(P/Q) </a:t>
            </a:r>
            <a:r>
              <a:rPr b="1" i="1" lang="en-US" sz="1600" u="none" cap="none" strike="noStrike">
                <a:solidFill>
                  <a:schemeClr val="dk1"/>
                </a:solidFill>
                <a:latin typeface="Arial"/>
                <a:ea typeface="Arial"/>
                <a:cs typeface="Arial"/>
                <a:sym typeface="Arial"/>
              </a:rPr>
              <a:t>* </a:t>
            </a:r>
            <a:r>
              <a:rPr b="1" i="1" lang="en-US" sz="1600" u="none" cap="none" strike="noStrike">
                <a:solidFill>
                  <a:schemeClr val="hlink"/>
                </a:solidFill>
                <a:latin typeface="Arial"/>
                <a:ea typeface="Arial"/>
                <a:cs typeface="Arial"/>
                <a:sym typeface="Arial"/>
              </a:rPr>
              <a:t>(ΔQ/ ΔP)</a:t>
            </a:r>
            <a:r>
              <a:rPr b="1" i="1" lang="en-US" sz="1600" u="none" cap="none" strike="noStrike">
                <a:solidFill>
                  <a:schemeClr val="dk1"/>
                </a:solidFill>
                <a:latin typeface="Arial"/>
                <a:ea typeface="Arial"/>
                <a:cs typeface="Arial"/>
                <a:sym typeface="Arial"/>
              </a:rPr>
              <a:t> = 1 (uno)</a:t>
            </a:r>
          </a:p>
          <a:p>
            <a:pPr indent="-342900" lvl="0" marL="342900" marR="0" rtl="0" algn="l">
              <a:lnSpc>
                <a:spcPct val="100000"/>
              </a:lnSpc>
              <a:spcBef>
                <a:spcPts val="1280"/>
              </a:spcBef>
              <a:spcAft>
                <a:spcPts val="0"/>
              </a:spcAft>
              <a:buClr>
                <a:schemeClr val="dk1"/>
              </a:buClr>
              <a:buSzPct val="25000"/>
              <a:buFont typeface="Arial"/>
              <a:buNone/>
            </a:pPr>
            <a:r>
              <a:rPr b="1" i="1" lang="en-US" sz="1600" u="none" cap="none" strike="noStrike">
                <a:solidFill>
                  <a:schemeClr val="dk1"/>
                </a:solidFill>
                <a:latin typeface="Arial"/>
                <a:ea typeface="Arial"/>
                <a:cs typeface="Arial"/>
                <a:sym typeface="Arial"/>
              </a:rPr>
              <a:t>  </a:t>
            </a:r>
          </a:p>
        </p:txBody>
      </p:sp>
      <p:cxnSp>
        <p:nvCxnSpPr>
          <p:cNvPr id="195" name="Shape 195"/>
          <p:cNvCxnSpPr/>
          <p:nvPr/>
        </p:nvCxnSpPr>
        <p:spPr>
          <a:xfrm rot="10800000">
            <a:off x="1752600" y="3276599"/>
            <a:ext cx="0" cy="3276600"/>
          </a:xfrm>
          <a:prstGeom prst="straightConnector1">
            <a:avLst/>
          </a:prstGeom>
          <a:noFill/>
          <a:ln cap="flat" cmpd="sng" w="9525">
            <a:solidFill>
              <a:schemeClr val="dk1"/>
            </a:solidFill>
            <a:prstDash val="solid"/>
            <a:miter/>
            <a:headEnd len="med" w="med" type="none"/>
            <a:tailEnd len="lg" w="lg" type="triangle"/>
          </a:ln>
        </p:spPr>
      </p:cxnSp>
      <p:cxnSp>
        <p:nvCxnSpPr>
          <p:cNvPr id="196" name="Shape 196"/>
          <p:cNvCxnSpPr/>
          <p:nvPr/>
        </p:nvCxnSpPr>
        <p:spPr>
          <a:xfrm>
            <a:off x="457200" y="5867400"/>
            <a:ext cx="6858000" cy="0"/>
          </a:xfrm>
          <a:prstGeom prst="straightConnector1">
            <a:avLst/>
          </a:prstGeom>
          <a:noFill/>
          <a:ln cap="flat" cmpd="sng" w="9525">
            <a:solidFill>
              <a:schemeClr val="dk1"/>
            </a:solidFill>
            <a:prstDash val="solid"/>
            <a:miter/>
            <a:headEnd len="med" w="med" type="none"/>
            <a:tailEnd len="lg" w="lg" type="triangle"/>
          </a:ln>
        </p:spPr>
      </p:cxnSp>
      <p:cxnSp>
        <p:nvCxnSpPr>
          <p:cNvPr id="197" name="Shape 197"/>
          <p:cNvCxnSpPr/>
          <p:nvPr/>
        </p:nvCxnSpPr>
        <p:spPr>
          <a:xfrm flipH="1" rot="10800000">
            <a:off x="1295400" y="3276599"/>
            <a:ext cx="5333999" cy="2819400"/>
          </a:xfrm>
          <a:prstGeom prst="straightConnector1">
            <a:avLst/>
          </a:prstGeom>
          <a:noFill/>
          <a:ln cap="flat" cmpd="sng" w="25400">
            <a:solidFill>
              <a:srgbClr val="800000"/>
            </a:solidFill>
            <a:prstDash val="solid"/>
            <a:miter/>
            <a:headEnd len="med" w="med" type="none"/>
            <a:tailEnd len="med" w="med" type="none"/>
          </a:ln>
        </p:spPr>
      </p:cxnSp>
      <p:sp>
        <p:nvSpPr>
          <p:cNvPr id="198" name="Shape 198"/>
          <p:cNvSpPr txBox="1"/>
          <p:nvPr/>
        </p:nvSpPr>
        <p:spPr>
          <a:xfrm>
            <a:off x="5181600" y="4419600"/>
            <a:ext cx="23558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CURVA DE OFERTA</a:t>
            </a:r>
          </a:p>
        </p:txBody>
      </p:sp>
      <p:sp>
        <p:nvSpPr>
          <p:cNvPr id="199" name="Shape 199"/>
          <p:cNvSpPr txBox="1"/>
          <p:nvPr/>
        </p:nvSpPr>
        <p:spPr>
          <a:xfrm>
            <a:off x="609600" y="3138486"/>
            <a:ext cx="10604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200" name="Shape 200"/>
          <p:cNvSpPr txBox="1"/>
          <p:nvPr/>
        </p:nvSpPr>
        <p:spPr>
          <a:xfrm>
            <a:off x="7527925" y="5599112"/>
            <a:ext cx="13525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cxnSp>
        <p:nvCxnSpPr>
          <p:cNvPr id="201" name="Shape 201"/>
          <p:cNvCxnSpPr/>
          <p:nvPr/>
        </p:nvCxnSpPr>
        <p:spPr>
          <a:xfrm>
            <a:off x="3733800" y="4800600"/>
            <a:ext cx="0" cy="1066799"/>
          </a:xfrm>
          <a:prstGeom prst="straightConnector1">
            <a:avLst/>
          </a:prstGeom>
          <a:noFill/>
          <a:ln cap="flat" cmpd="sng" w="9525">
            <a:solidFill>
              <a:schemeClr val="dk1"/>
            </a:solidFill>
            <a:prstDash val="solid"/>
            <a:miter/>
            <a:headEnd len="med" w="med" type="none"/>
            <a:tailEnd len="med" w="med" type="none"/>
          </a:ln>
        </p:spPr>
      </p:cxnSp>
      <p:cxnSp>
        <p:nvCxnSpPr>
          <p:cNvPr id="202" name="Shape 202"/>
          <p:cNvCxnSpPr/>
          <p:nvPr/>
        </p:nvCxnSpPr>
        <p:spPr>
          <a:xfrm>
            <a:off x="1754186" y="4800600"/>
            <a:ext cx="2016124" cy="0"/>
          </a:xfrm>
          <a:prstGeom prst="straightConnector1">
            <a:avLst/>
          </a:prstGeom>
          <a:noFill/>
          <a:ln cap="flat" cmpd="sng" w="9525">
            <a:solidFill>
              <a:schemeClr val="dk1"/>
            </a:solidFill>
            <a:prstDash val="solid"/>
            <a:miter/>
            <a:headEnd len="med" w="med" type="none"/>
            <a:tailEnd len="med" w="med" type="none"/>
          </a:ln>
        </p:spPr>
      </p:cxnSp>
      <p:sp>
        <p:nvSpPr>
          <p:cNvPr id="203" name="Shape 203"/>
          <p:cNvSpPr txBox="1"/>
          <p:nvPr/>
        </p:nvSpPr>
        <p:spPr>
          <a:xfrm>
            <a:off x="3505200" y="4419600"/>
            <a:ext cx="3365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B</a:t>
            </a:r>
          </a:p>
        </p:txBody>
      </p:sp>
      <p:sp>
        <p:nvSpPr>
          <p:cNvPr id="204" name="Shape 204"/>
          <p:cNvSpPr txBox="1"/>
          <p:nvPr/>
        </p:nvSpPr>
        <p:spPr>
          <a:xfrm>
            <a:off x="3429000" y="5576887"/>
            <a:ext cx="3492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t>
            </a:r>
          </a:p>
        </p:txBody>
      </p:sp>
      <p:sp>
        <p:nvSpPr>
          <p:cNvPr id="205" name="Shape 205"/>
          <p:cNvSpPr txBox="1"/>
          <p:nvPr/>
        </p:nvSpPr>
        <p:spPr>
          <a:xfrm>
            <a:off x="2971800" y="5576887"/>
            <a:ext cx="53339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 =</a:t>
            </a:r>
          </a:p>
        </p:txBody>
      </p:sp>
      <p:sp>
        <p:nvSpPr>
          <p:cNvPr id="206" name="Shape 206"/>
          <p:cNvSpPr txBox="1"/>
          <p:nvPr/>
        </p:nvSpPr>
        <p:spPr>
          <a:xfrm>
            <a:off x="609600" y="5562600"/>
            <a:ext cx="53339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A =</a:t>
            </a:r>
          </a:p>
        </p:txBody>
      </p:sp>
      <p:sp>
        <p:nvSpPr>
          <p:cNvPr id="207" name="Shape 207"/>
          <p:cNvSpPr txBox="1"/>
          <p:nvPr/>
        </p:nvSpPr>
        <p:spPr>
          <a:xfrm>
            <a:off x="1492250" y="4586287"/>
            <a:ext cx="3365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0" i="0" lang="en-US" sz="1800" u="none" cap="none" strike="noStrike">
                <a:solidFill>
                  <a:srgbClr val="FF0000"/>
                </a:solidFill>
                <a:latin typeface="Arial"/>
                <a:ea typeface="Arial"/>
                <a:cs typeface="Arial"/>
                <a:sym typeface="Arial"/>
              </a:rPr>
              <a:t>P</a:t>
            </a:r>
          </a:p>
        </p:txBody>
      </p:sp>
      <p:sp>
        <p:nvSpPr>
          <p:cNvPr id="208" name="Shape 208"/>
          <p:cNvSpPr txBox="1"/>
          <p:nvPr/>
        </p:nvSpPr>
        <p:spPr>
          <a:xfrm>
            <a:off x="3581400" y="5805487"/>
            <a:ext cx="3619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0" i="0" lang="en-US" sz="1800" u="none" cap="none" strike="noStrike">
                <a:solidFill>
                  <a:srgbClr val="FF0000"/>
                </a:solidFill>
                <a:latin typeface="Arial"/>
                <a:ea typeface="Arial"/>
                <a:cs typeface="Arial"/>
                <a:sym typeface="Arial"/>
              </a:rPr>
              <a:t>Q</a:t>
            </a:r>
          </a:p>
        </p:txBody>
      </p:sp>
      <p:sp>
        <p:nvSpPr>
          <p:cNvPr id="209" name="Shape 209"/>
          <p:cNvSpPr txBox="1"/>
          <p:nvPr/>
        </p:nvSpPr>
        <p:spPr>
          <a:xfrm>
            <a:off x="990600" y="5576887"/>
            <a:ext cx="54609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D =</a:t>
            </a:r>
          </a:p>
        </p:txBody>
      </p:sp>
      <p:sp>
        <p:nvSpPr>
          <p:cNvPr id="210" name="Shape 210"/>
          <p:cNvSpPr txBox="1"/>
          <p:nvPr/>
        </p:nvSpPr>
        <p:spPr>
          <a:xfrm>
            <a:off x="1447800" y="5562600"/>
            <a:ext cx="3619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O</a:t>
            </a:r>
          </a:p>
        </p:txBody>
      </p:sp>
      <p:sp>
        <p:nvSpPr>
          <p:cNvPr id="211" name="Shape 211"/>
          <p:cNvSpPr txBox="1"/>
          <p:nvPr/>
        </p:nvSpPr>
        <p:spPr>
          <a:xfrm>
            <a:off x="263525" y="2284411"/>
            <a:ext cx="8610599" cy="8254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1600" u="none" cap="none" strike="noStrike">
                <a:solidFill>
                  <a:schemeClr val="dk1"/>
                </a:solidFill>
                <a:latin typeface="Arial"/>
                <a:ea typeface="Arial"/>
                <a:cs typeface="Arial"/>
                <a:sym typeface="Arial"/>
              </a:rPr>
              <a:t>En el gráfico podemos asociar la relación con los segmentos identificados como:</a:t>
            </a:r>
          </a:p>
          <a:p>
            <a:pPr indent="0" lvl="0" marL="0" marR="0" rtl="0" algn="l">
              <a:lnSpc>
                <a:spcPct val="100000"/>
              </a:lnSpc>
              <a:spcBef>
                <a:spcPts val="0"/>
              </a:spcBef>
              <a:spcAft>
                <a:spcPts val="0"/>
              </a:spcAft>
              <a:buClr>
                <a:srgbClr val="FF0000"/>
              </a:buClr>
              <a:buSzPct val="25000"/>
              <a:buFont typeface="Arial"/>
              <a:buNone/>
            </a:pPr>
            <a:r>
              <a:rPr b="1" i="1" lang="en-US" sz="1600" u="none" cap="none" strike="noStrike">
                <a:solidFill>
                  <a:srgbClr val="FF0000"/>
                </a:solidFill>
                <a:latin typeface="Arial"/>
                <a:ea typeface="Arial"/>
                <a:cs typeface="Arial"/>
                <a:sym typeface="Arial"/>
              </a:rPr>
              <a:t>P/Q  = BC/OC = BC/AE</a:t>
            </a:r>
            <a:r>
              <a:rPr b="1" i="1" lang="en-US" sz="1600" u="none" cap="none" strike="noStrike">
                <a:solidFill>
                  <a:schemeClr val="dk1"/>
                </a:solidFill>
                <a:latin typeface="Arial"/>
                <a:ea typeface="Arial"/>
                <a:cs typeface="Arial"/>
                <a:sym typeface="Arial"/>
              </a:rPr>
              <a:t>       </a:t>
            </a:r>
            <a:r>
              <a:rPr b="1" i="1" lang="en-US" sz="1600" u="none" cap="none" strike="noStrike">
                <a:solidFill>
                  <a:schemeClr val="hlink"/>
                </a:solidFill>
                <a:latin typeface="Arial"/>
                <a:ea typeface="Arial"/>
                <a:cs typeface="Arial"/>
                <a:sym typeface="Arial"/>
              </a:rPr>
              <a:t>ΔQ/ΔP = DC/BC = AE/BE</a:t>
            </a:r>
          </a:p>
          <a:p>
            <a:pPr indent="0" lvl="0" marL="0" marR="0" rtl="0" algn="l">
              <a:lnSpc>
                <a:spcPct val="100000"/>
              </a:lnSpc>
              <a:spcBef>
                <a:spcPts val="0"/>
              </a:spcBef>
              <a:spcAft>
                <a:spcPts val="0"/>
              </a:spcAft>
              <a:buClr>
                <a:schemeClr val="dk1"/>
              </a:buClr>
              <a:buSzPct val="25000"/>
              <a:buFont typeface="Arial"/>
              <a:buNone/>
            </a:pPr>
            <a:r>
              <a:rPr b="1" i="1" lang="en-US" sz="1600" u="none" cap="none" strike="noStrike">
                <a:solidFill>
                  <a:schemeClr val="dk1"/>
                </a:solidFill>
                <a:latin typeface="Arial"/>
                <a:ea typeface="Arial"/>
                <a:cs typeface="Arial"/>
                <a:sym typeface="Arial"/>
              </a:rPr>
              <a:t>E</a:t>
            </a:r>
            <a:r>
              <a:rPr b="1" baseline="-25000" i="1" lang="en-US" sz="1600" u="none" cap="none" strike="noStrike">
                <a:solidFill>
                  <a:schemeClr val="dk1"/>
                </a:solidFill>
                <a:latin typeface="Arial"/>
                <a:ea typeface="Arial"/>
                <a:cs typeface="Arial"/>
                <a:sym typeface="Arial"/>
              </a:rPr>
              <a:t>p </a:t>
            </a:r>
            <a:r>
              <a:rPr b="1" i="1" lang="en-US" sz="1600" u="none" cap="none" strike="noStrike">
                <a:solidFill>
                  <a:schemeClr val="dk1"/>
                </a:solidFill>
                <a:latin typeface="Arial"/>
                <a:ea typeface="Arial"/>
                <a:cs typeface="Arial"/>
                <a:sym typeface="Arial"/>
              </a:rPr>
              <a:t>=(P/Q)* (ΔQ/ ΔP)= </a:t>
            </a:r>
            <a:r>
              <a:rPr b="1" i="1" lang="en-US" sz="1600" u="none" cap="none" strike="noStrike">
                <a:solidFill>
                  <a:srgbClr val="FF0000"/>
                </a:solidFill>
                <a:latin typeface="Arial"/>
                <a:ea typeface="Arial"/>
                <a:cs typeface="Arial"/>
                <a:sym typeface="Arial"/>
              </a:rPr>
              <a:t>(BC/OC) </a:t>
            </a:r>
            <a:r>
              <a:rPr b="1" i="1" lang="en-US" sz="1600" u="none" cap="none" strike="noStrike">
                <a:solidFill>
                  <a:schemeClr val="dk1"/>
                </a:solidFill>
                <a:latin typeface="Arial"/>
                <a:ea typeface="Arial"/>
                <a:cs typeface="Arial"/>
                <a:sym typeface="Arial"/>
              </a:rPr>
              <a:t>* </a:t>
            </a:r>
            <a:r>
              <a:rPr b="1" i="1" lang="en-US" sz="1600" u="none" cap="none" strike="noStrike">
                <a:solidFill>
                  <a:schemeClr val="hlink"/>
                </a:solidFill>
                <a:latin typeface="Arial"/>
                <a:ea typeface="Arial"/>
                <a:cs typeface="Arial"/>
                <a:sym typeface="Arial"/>
              </a:rPr>
              <a:t>(DC/BC)</a:t>
            </a:r>
            <a:r>
              <a:rPr b="1" i="1" lang="en-US" sz="1600" u="none" cap="none" strike="noStrike">
                <a:solidFill>
                  <a:schemeClr val="dk1"/>
                </a:solidFill>
                <a:latin typeface="Arial"/>
                <a:ea typeface="Arial"/>
                <a:cs typeface="Arial"/>
                <a:sym typeface="Arial"/>
              </a:rPr>
              <a:t> = DC/OC = 1</a:t>
            </a:r>
          </a:p>
        </p:txBody>
      </p:sp>
      <p:sp>
        <p:nvSpPr>
          <p:cNvPr id="212" name="Shape 212"/>
          <p:cNvSpPr/>
          <p:nvPr/>
        </p:nvSpPr>
        <p:spPr>
          <a:xfrm>
            <a:off x="2578100" y="3975100"/>
            <a:ext cx="2374900" cy="1257300"/>
          </a:xfrm>
          <a:custGeom>
            <a:pathLst>
              <a:path extrusionOk="0" h="792" w="1496">
                <a:moveTo>
                  <a:pt x="0" y="792"/>
                </a:moveTo>
                <a:cubicBezTo>
                  <a:pt x="39" y="779"/>
                  <a:pt x="145" y="744"/>
                  <a:pt x="232" y="712"/>
                </a:cubicBezTo>
                <a:cubicBezTo>
                  <a:pt x="319" y="680"/>
                  <a:pt x="437" y="635"/>
                  <a:pt x="520" y="600"/>
                </a:cubicBezTo>
                <a:cubicBezTo>
                  <a:pt x="603" y="565"/>
                  <a:pt x="657" y="541"/>
                  <a:pt x="728" y="504"/>
                </a:cubicBezTo>
                <a:cubicBezTo>
                  <a:pt x="799" y="467"/>
                  <a:pt x="865" y="425"/>
                  <a:pt x="944" y="376"/>
                </a:cubicBezTo>
                <a:cubicBezTo>
                  <a:pt x="1023" y="327"/>
                  <a:pt x="1108" y="271"/>
                  <a:pt x="1200" y="208"/>
                </a:cubicBezTo>
                <a:cubicBezTo>
                  <a:pt x="1292" y="145"/>
                  <a:pt x="1434" y="43"/>
                  <a:pt x="1496" y="0"/>
                </a:cubicBezTo>
              </a:path>
            </a:pathLst>
          </a:custGeom>
          <a:noFill/>
          <a:ln cap="flat" cmpd="sng" w="2857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16" name="Shape 216"/>
        <p:cNvGrpSpPr/>
        <p:nvPr/>
      </p:nvGrpSpPr>
      <p:grpSpPr>
        <a:xfrm>
          <a:off x="0" y="0"/>
          <a:ext cx="0" cy="0"/>
          <a:chOff x="0" y="0"/>
          <a:chExt cx="0" cy="0"/>
        </a:xfrm>
      </p:grpSpPr>
      <p:pic>
        <p:nvPicPr>
          <p:cNvPr id="217" name="Shape 217"/>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218" name="Shape 218"/>
          <p:cNvSpPr txBox="1"/>
          <p:nvPr/>
        </p:nvSpPr>
        <p:spPr>
          <a:xfrm>
            <a:off x="3487737" y="304800"/>
            <a:ext cx="5046662"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OFERTA RÍGIDA</a:t>
            </a:r>
          </a:p>
        </p:txBody>
      </p:sp>
      <p:pic>
        <p:nvPicPr>
          <p:cNvPr id="219" name="Shape 219"/>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220" name="Shape 220"/>
          <p:cNvSpPr txBox="1"/>
          <p:nvPr/>
        </p:nvSpPr>
        <p:spPr>
          <a:xfrm>
            <a:off x="1676400" y="1447800"/>
            <a:ext cx="5486399" cy="455612"/>
          </a:xfrm>
          <a:prstGeom prst="rect">
            <a:avLst/>
          </a:prstGeom>
          <a:noFill/>
          <a:ln>
            <a:noFill/>
          </a:ln>
        </p:spPr>
        <p:txBody>
          <a:bodyPr anchorCtr="0" anchor="t" bIns="45700" lIns="91425" rIns="91425" tIns="45700">
            <a:noAutofit/>
          </a:bodyPr>
          <a:lstStyle/>
          <a:p>
            <a:pPr indent="-342900" lvl="0" marL="342900" marR="0" rtl="0" algn="ctr">
              <a:lnSpc>
                <a:spcPct val="100000"/>
              </a:lnSpc>
              <a:spcBef>
                <a:spcPts val="0"/>
              </a:spcBef>
              <a:spcAft>
                <a:spcPts val="0"/>
              </a:spcAft>
              <a:buClr>
                <a:schemeClr val="dk1"/>
              </a:buClr>
              <a:buSzPct val="25000"/>
              <a:buFont typeface="Arial"/>
              <a:buNone/>
            </a:pPr>
            <a:r>
              <a:rPr b="1" i="1" lang="en-US" sz="1600" u="none" cap="none" strike="noStrike">
                <a:solidFill>
                  <a:schemeClr val="dk1"/>
                </a:solidFill>
                <a:latin typeface="Arial"/>
                <a:ea typeface="Arial"/>
                <a:cs typeface="Arial"/>
                <a:sym typeface="Arial"/>
              </a:rPr>
              <a:t>E</a:t>
            </a:r>
            <a:r>
              <a:rPr b="1" baseline="-25000" i="1" lang="en-US" sz="1600" u="none" cap="none" strike="noStrike">
                <a:solidFill>
                  <a:schemeClr val="dk1"/>
                </a:solidFill>
                <a:latin typeface="Arial"/>
                <a:ea typeface="Arial"/>
                <a:cs typeface="Arial"/>
                <a:sym typeface="Arial"/>
              </a:rPr>
              <a:t>p </a:t>
            </a:r>
            <a:r>
              <a:rPr b="1" i="1" lang="en-US" sz="1600" u="none" cap="none" strike="noStrike">
                <a:solidFill>
                  <a:schemeClr val="dk1"/>
                </a:solidFill>
                <a:latin typeface="Arial"/>
                <a:ea typeface="Arial"/>
                <a:cs typeface="Arial"/>
                <a:sym typeface="Arial"/>
              </a:rPr>
              <a:t>= (ΔQ/Q)/(ΔP/P) = (</a:t>
            </a:r>
            <a:r>
              <a:rPr b="1" i="1" lang="en-US" sz="1600" u="none" cap="none" strike="noStrike">
                <a:solidFill>
                  <a:srgbClr val="FF0000"/>
                </a:solidFill>
                <a:latin typeface="Arial"/>
                <a:ea typeface="Arial"/>
                <a:cs typeface="Arial"/>
                <a:sym typeface="Arial"/>
              </a:rPr>
              <a:t>P/Q)</a:t>
            </a:r>
            <a:r>
              <a:rPr b="1" i="1" lang="en-US" sz="1600" u="none" cap="none" strike="noStrike">
                <a:solidFill>
                  <a:schemeClr val="dk1"/>
                </a:solidFill>
                <a:latin typeface="Arial"/>
                <a:ea typeface="Arial"/>
                <a:cs typeface="Arial"/>
                <a:sym typeface="Arial"/>
              </a:rPr>
              <a:t>* </a:t>
            </a:r>
            <a:r>
              <a:rPr b="1" i="1" lang="en-US" sz="1600" u="none" cap="none" strike="noStrike">
                <a:solidFill>
                  <a:schemeClr val="hlink"/>
                </a:solidFill>
                <a:latin typeface="Arial"/>
                <a:ea typeface="Arial"/>
                <a:cs typeface="Arial"/>
                <a:sym typeface="Arial"/>
              </a:rPr>
              <a:t>(ΔQ/ ΔP)</a:t>
            </a:r>
            <a:r>
              <a:rPr b="1" i="1" lang="en-US" sz="1600" u="none" cap="none" strike="noStrike">
                <a:solidFill>
                  <a:schemeClr val="dk1"/>
                </a:solidFill>
                <a:latin typeface="Arial"/>
                <a:ea typeface="Arial"/>
                <a:cs typeface="Arial"/>
                <a:sym typeface="Arial"/>
              </a:rPr>
              <a:t> = 0 (cero)</a:t>
            </a:r>
          </a:p>
          <a:p>
            <a:pPr indent="-342900" lvl="0" marL="342900" marR="0" rtl="0" algn="l">
              <a:lnSpc>
                <a:spcPct val="100000"/>
              </a:lnSpc>
              <a:spcBef>
                <a:spcPts val="1280"/>
              </a:spcBef>
              <a:spcAft>
                <a:spcPts val="0"/>
              </a:spcAft>
              <a:buClr>
                <a:schemeClr val="dk1"/>
              </a:buClr>
              <a:buSzPct val="25000"/>
              <a:buFont typeface="Arial"/>
              <a:buNone/>
            </a:pPr>
            <a:r>
              <a:rPr b="1" i="1" lang="en-US" sz="1600" u="none" cap="none" strike="noStrike">
                <a:solidFill>
                  <a:schemeClr val="dk1"/>
                </a:solidFill>
                <a:latin typeface="Arial"/>
                <a:ea typeface="Arial"/>
                <a:cs typeface="Arial"/>
                <a:sym typeface="Arial"/>
              </a:rPr>
              <a:t>  </a:t>
            </a:r>
          </a:p>
        </p:txBody>
      </p:sp>
      <p:sp>
        <p:nvSpPr>
          <p:cNvPr id="221" name="Shape 221"/>
          <p:cNvSpPr txBox="1"/>
          <p:nvPr/>
        </p:nvSpPr>
        <p:spPr>
          <a:xfrm>
            <a:off x="609600" y="3108325"/>
            <a:ext cx="8153399" cy="64135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Los vendedores ante determinadas variaciones de los precios no reaccionan o no pueden alterar las cantidades ofrecidas.  </a:t>
            </a:r>
            <a:r>
              <a:rPr b="1" i="1" lang="en-US" sz="1800" u="none" cap="none" strike="noStrike">
                <a:solidFill>
                  <a:schemeClr val="dk1"/>
                </a:solidFill>
                <a:latin typeface="Arial"/>
                <a:ea typeface="Arial"/>
                <a:cs typeface="Arial"/>
                <a:sym typeface="Arial"/>
              </a:rPr>
              <a:t>ΔP/P</a:t>
            </a:r>
            <a:r>
              <a:rPr b="0" i="0" lang="en-US" sz="1800" u="none" cap="none" strike="noStrike">
                <a:solidFill>
                  <a:schemeClr val="dk1"/>
                </a:solidFill>
                <a:latin typeface="Arial"/>
                <a:ea typeface="Arial"/>
                <a:cs typeface="Arial"/>
                <a:sym typeface="Arial"/>
              </a:rPr>
              <a:t> ≠ 0           </a:t>
            </a:r>
            <a:r>
              <a:rPr b="1" i="1" lang="en-US" sz="1800" u="none" cap="none" strike="noStrike">
                <a:solidFill>
                  <a:schemeClr val="dk1"/>
                </a:solidFill>
                <a:latin typeface="Arial"/>
                <a:ea typeface="Arial"/>
                <a:cs typeface="Arial"/>
                <a:sym typeface="Arial"/>
              </a:rPr>
              <a:t>ΔQ/Q = 0 </a:t>
            </a:r>
            <a:r>
              <a:rPr b="0" i="0" lang="en-US" sz="1800" u="none" cap="none" strike="noStrike">
                <a:solidFill>
                  <a:schemeClr val="dk1"/>
                </a:solidFill>
                <a:latin typeface="Arial"/>
                <a:ea typeface="Arial"/>
                <a:cs typeface="Arial"/>
                <a:sym typeface="Arial"/>
              </a:rPr>
              <a:t> </a:t>
            </a:r>
          </a:p>
        </p:txBody>
      </p:sp>
      <p:sp>
        <p:nvSpPr>
          <p:cNvPr id="222" name="Shape 222"/>
          <p:cNvSpPr txBox="1"/>
          <p:nvPr/>
        </p:nvSpPr>
        <p:spPr>
          <a:xfrm>
            <a:off x="609600" y="4191000"/>
            <a:ext cx="7966074" cy="1190624"/>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Razones principales:</a:t>
            </a:r>
          </a:p>
          <a:p>
            <a:pPr indent="-342900" lvl="0" marL="342900" marR="0" rtl="0" algn="l">
              <a:lnSpc>
                <a:spcPct val="100000"/>
              </a:lnSpc>
              <a:spcBef>
                <a:spcPts val="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Los productores trabajan en la frontera de posibilidad productivas.</a:t>
            </a:r>
          </a:p>
          <a:p>
            <a:pPr indent="-342900" lvl="0" marL="342900" marR="0" rtl="0" algn="l">
              <a:lnSpc>
                <a:spcPct val="100000"/>
              </a:lnSpc>
              <a:spcBef>
                <a:spcPts val="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El producto tiene ciclos de producción muy largos.</a:t>
            </a:r>
          </a:p>
          <a:p>
            <a:pPr indent="-342900" lvl="0" marL="342900" marR="0" rtl="0" algn="l">
              <a:lnSpc>
                <a:spcPct val="100000"/>
              </a:lnSpc>
              <a:spcBef>
                <a:spcPts val="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La estructura de producción es muy rígida.</a:t>
            </a:r>
          </a:p>
        </p:txBody>
      </p:sp>
      <p:sp>
        <p:nvSpPr>
          <p:cNvPr id="223" name="Shape 223"/>
          <p:cNvSpPr txBox="1"/>
          <p:nvPr/>
        </p:nvSpPr>
        <p:spPr>
          <a:xfrm>
            <a:off x="533400" y="2133600"/>
            <a:ext cx="7924799" cy="396874"/>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2000" u="none" cap="none" strike="noStrike">
                <a:solidFill>
                  <a:schemeClr val="dk1"/>
                </a:solidFill>
                <a:latin typeface="Arial"/>
                <a:ea typeface="Arial"/>
                <a:cs typeface="Arial"/>
                <a:sym typeface="Arial"/>
              </a:rPr>
              <a:t>La oferta en este caso es insensible a la variación de precios</a:t>
            </a:r>
          </a:p>
        </p:txBody>
      </p:sp>
      <p:cxnSp>
        <p:nvCxnSpPr>
          <p:cNvPr id="224" name="Shape 224"/>
          <p:cNvCxnSpPr/>
          <p:nvPr/>
        </p:nvCxnSpPr>
        <p:spPr>
          <a:xfrm>
            <a:off x="6172200" y="3581400"/>
            <a:ext cx="457200" cy="0"/>
          </a:xfrm>
          <a:prstGeom prst="straightConnector1">
            <a:avLst/>
          </a:prstGeom>
          <a:noFill/>
          <a:ln cap="flat" cmpd="sng" w="38100">
            <a:solidFill>
              <a:schemeClr val="dk1"/>
            </a:solidFill>
            <a:prstDash val="solid"/>
            <a:miter/>
            <a:headEnd len="med" w="med" type="none"/>
            <a:tailEnd len="lg" w="lg" type="triangle"/>
          </a:ln>
        </p:spPr>
      </p:cxnSp>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28" name="Shape 228"/>
        <p:cNvGrpSpPr/>
        <p:nvPr/>
      </p:nvGrpSpPr>
      <p:grpSpPr>
        <a:xfrm>
          <a:off x="0" y="0"/>
          <a:ext cx="0" cy="0"/>
          <a:chOff x="0" y="0"/>
          <a:chExt cx="0" cy="0"/>
        </a:xfrm>
      </p:grpSpPr>
      <p:pic>
        <p:nvPicPr>
          <p:cNvPr id="229" name="Shape 229"/>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230" name="Shape 230"/>
          <p:cNvSpPr txBox="1"/>
          <p:nvPr/>
        </p:nvSpPr>
        <p:spPr>
          <a:xfrm>
            <a:off x="3487737" y="304800"/>
            <a:ext cx="5046662"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OFERTA RÍGIDA</a:t>
            </a:r>
          </a:p>
        </p:txBody>
      </p:sp>
      <p:pic>
        <p:nvPicPr>
          <p:cNvPr id="231" name="Shape 231"/>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232" name="Shape 232"/>
          <p:cNvSpPr txBox="1"/>
          <p:nvPr/>
        </p:nvSpPr>
        <p:spPr>
          <a:xfrm>
            <a:off x="457200" y="1447800"/>
            <a:ext cx="8229600" cy="457200"/>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La oferta es inelástica cuando elasticidad precio es 0(cero)</a:t>
            </a:r>
          </a:p>
        </p:txBody>
      </p:sp>
      <p:sp>
        <p:nvSpPr>
          <p:cNvPr id="233" name="Shape 233"/>
          <p:cNvSpPr txBox="1"/>
          <p:nvPr/>
        </p:nvSpPr>
        <p:spPr>
          <a:xfrm>
            <a:off x="263525" y="1828800"/>
            <a:ext cx="7737474" cy="609599"/>
          </a:xfrm>
          <a:prstGeom prst="rect">
            <a:avLst/>
          </a:prstGeom>
          <a:noFill/>
          <a:ln>
            <a:noFill/>
          </a:ln>
        </p:spPr>
        <p:txBody>
          <a:bodyPr anchorCtr="0" anchor="t" bIns="45700" lIns="91425" rIns="91425" tIns="45700">
            <a:noAutofit/>
          </a:bodyPr>
          <a:lstStyle/>
          <a:p>
            <a:pPr indent="-342900" lvl="0" marL="342900" marR="0" rtl="0" algn="ctr">
              <a:lnSpc>
                <a:spcPct val="100000"/>
              </a:lnSpc>
              <a:spcBef>
                <a:spcPts val="0"/>
              </a:spcBef>
              <a:spcAft>
                <a:spcPts val="0"/>
              </a:spcAft>
              <a:buClr>
                <a:schemeClr val="dk1"/>
              </a:buClr>
              <a:buSzPct val="25000"/>
              <a:buFont typeface="Arial"/>
              <a:buNone/>
            </a:pPr>
            <a:r>
              <a:rPr b="1" i="1" lang="en-US" sz="1600" u="none" cap="none" strike="noStrike">
                <a:solidFill>
                  <a:schemeClr val="dk1"/>
                </a:solidFill>
                <a:latin typeface="Arial"/>
                <a:ea typeface="Arial"/>
                <a:cs typeface="Arial"/>
                <a:sym typeface="Arial"/>
              </a:rPr>
              <a:t>E</a:t>
            </a:r>
            <a:r>
              <a:rPr b="1" baseline="-25000" i="1" lang="en-US" sz="1600" u="none" cap="none" strike="noStrike">
                <a:solidFill>
                  <a:schemeClr val="dk1"/>
                </a:solidFill>
                <a:latin typeface="Arial"/>
                <a:ea typeface="Arial"/>
                <a:cs typeface="Arial"/>
                <a:sym typeface="Arial"/>
              </a:rPr>
              <a:t>p </a:t>
            </a:r>
            <a:r>
              <a:rPr b="1" i="1" lang="en-US" sz="1600" u="none" cap="none" strike="noStrike">
                <a:solidFill>
                  <a:schemeClr val="dk1"/>
                </a:solidFill>
                <a:latin typeface="Arial"/>
                <a:ea typeface="Arial"/>
                <a:cs typeface="Arial"/>
                <a:sym typeface="Arial"/>
              </a:rPr>
              <a:t>= (ΔQ/Q)/(ΔP/P) = </a:t>
            </a:r>
            <a:r>
              <a:rPr b="1" i="1" lang="en-US" sz="1600" u="none" cap="none" strike="noStrike">
                <a:solidFill>
                  <a:srgbClr val="FF0000"/>
                </a:solidFill>
                <a:latin typeface="Arial"/>
                <a:ea typeface="Arial"/>
                <a:cs typeface="Arial"/>
                <a:sym typeface="Arial"/>
              </a:rPr>
              <a:t>(P/Q) </a:t>
            </a:r>
            <a:r>
              <a:rPr b="1" i="1" lang="en-US" sz="1600" u="none" cap="none" strike="noStrike">
                <a:solidFill>
                  <a:schemeClr val="dk1"/>
                </a:solidFill>
                <a:latin typeface="Arial"/>
                <a:ea typeface="Arial"/>
                <a:cs typeface="Arial"/>
                <a:sym typeface="Arial"/>
              </a:rPr>
              <a:t>* </a:t>
            </a:r>
            <a:r>
              <a:rPr b="1" i="1" lang="en-US" sz="1600" u="none" cap="none" strike="noStrike">
                <a:solidFill>
                  <a:schemeClr val="hlink"/>
                </a:solidFill>
                <a:latin typeface="Arial"/>
                <a:ea typeface="Arial"/>
                <a:cs typeface="Arial"/>
                <a:sym typeface="Arial"/>
              </a:rPr>
              <a:t>(ΔQ/ ΔP)</a:t>
            </a:r>
            <a:r>
              <a:rPr b="1" i="1" lang="en-US" sz="1600" u="none" cap="none" strike="noStrike">
                <a:solidFill>
                  <a:schemeClr val="dk1"/>
                </a:solidFill>
                <a:latin typeface="Arial"/>
                <a:ea typeface="Arial"/>
                <a:cs typeface="Arial"/>
                <a:sym typeface="Arial"/>
              </a:rPr>
              <a:t> = 0 (cero)</a:t>
            </a:r>
          </a:p>
          <a:p>
            <a:pPr indent="-342900" lvl="0" marL="342900" marR="0" rtl="0" algn="l">
              <a:lnSpc>
                <a:spcPct val="100000"/>
              </a:lnSpc>
              <a:spcBef>
                <a:spcPts val="1280"/>
              </a:spcBef>
              <a:spcAft>
                <a:spcPts val="0"/>
              </a:spcAft>
              <a:buClr>
                <a:schemeClr val="dk1"/>
              </a:buClr>
              <a:buSzPct val="25000"/>
              <a:buFont typeface="Arial"/>
              <a:buNone/>
            </a:pPr>
            <a:r>
              <a:rPr b="1" i="1" lang="en-US" sz="1600" u="none" cap="none" strike="noStrike">
                <a:solidFill>
                  <a:schemeClr val="dk1"/>
                </a:solidFill>
                <a:latin typeface="Arial"/>
                <a:ea typeface="Arial"/>
                <a:cs typeface="Arial"/>
                <a:sym typeface="Arial"/>
              </a:rPr>
              <a:t>  </a:t>
            </a:r>
          </a:p>
        </p:txBody>
      </p:sp>
      <p:cxnSp>
        <p:nvCxnSpPr>
          <p:cNvPr id="234" name="Shape 234"/>
          <p:cNvCxnSpPr/>
          <p:nvPr/>
        </p:nvCxnSpPr>
        <p:spPr>
          <a:xfrm rot="10800000">
            <a:off x="1752600" y="3276599"/>
            <a:ext cx="0" cy="3276600"/>
          </a:xfrm>
          <a:prstGeom prst="straightConnector1">
            <a:avLst/>
          </a:prstGeom>
          <a:noFill/>
          <a:ln cap="flat" cmpd="sng" w="9525">
            <a:solidFill>
              <a:schemeClr val="dk1"/>
            </a:solidFill>
            <a:prstDash val="solid"/>
            <a:miter/>
            <a:headEnd len="med" w="med" type="none"/>
            <a:tailEnd len="lg" w="lg" type="triangle"/>
          </a:ln>
        </p:spPr>
      </p:cxnSp>
      <p:cxnSp>
        <p:nvCxnSpPr>
          <p:cNvPr id="235" name="Shape 235"/>
          <p:cNvCxnSpPr/>
          <p:nvPr/>
        </p:nvCxnSpPr>
        <p:spPr>
          <a:xfrm>
            <a:off x="457200" y="5867400"/>
            <a:ext cx="6858000" cy="0"/>
          </a:xfrm>
          <a:prstGeom prst="straightConnector1">
            <a:avLst/>
          </a:prstGeom>
          <a:noFill/>
          <a:ln cap="flat" cmpd="sng" w="9525">
            <a:solidFill>
              <a:schemeClr val="dk1"/>
            </a:solidFill>
            <a:prstDash val="solid"/>
            <a:miter/>
            <a:headEnd len="med" w="med" type="none"/>
            <a:tailEnd len="lg" w="lg" type="triangle"/>
          </a:ln>
        </p:spPr>
      </p:cxnSp>
      <p:cxnSp>
        <p:nvCxnSpPr>
          <p:cNvPr id="236" name="Shape 236"/>
          <p:cNvCxnSpPr/>
          <p:nvPr/>
        </p:nvCxnSpPr>
        <p:spPr>
          <a:xfrm flipH="1" rot="10800000">
            <a:off x="3733800" y="4800599"/>
            <a:ext cx="1587" cy="1752600"/>
          </a:xfrm>
          <a:prstGeom prst="straightConnector1">
            <a:avLst/>
          </a:prstGeom>
          <a:noFill/>
          <a:ln cap="flat" cmpd="sng" w="25400">
            <a:solidFill>
              <a:srgbClr val="800000"/>
            </a:solidFill>
            <a:prstDash val="solid"/>
            <a:miter/>
            <a:headEnd len="med" w="med" type="none"/>
            <a:tailEnd len="med" w="med" type="none"/>
          </a:ln>
        </p:spPr>
      </p:cxnSp>
      <p:sp>
        <p:nvSpPr>
          <p:cNvPr id="237" name="Shape 237"/>
          <p:cNvSpPr txBox="1"/>
          <p:nvPr/>
        </p:nvSpPr>
        <p:spPr>
          <a:xfrm>
            <a:off x="5181600" y="4419600"/>
            <a:ext cx="23558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CURVA DE OFERTA</a:t>
            </a:r>
          </a:p>
        </p:txBody>
      </p:sp>
      <p:sp>
        <p:nvSpPr>
          <p:cNvPr id="238" name="Shape 238"/>
          <p:cNvSpPr txBox="1"/>
          <p:nvPr/>
        </p:nvSpPr>
        <p:spPr>
          <a:xfrm>
            <a:off x="609600" y="3138486"/>
            <a:ext cx="10604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239" name="Shape 239"/>
          <p:cNvSpPr txBox="1"/>
          <p:nvPr/>
        </p:nvSpPr>
        <p:spPr>
          <a:xfrm>
            <a:off x="7527925" y="5599112"/>
            <a:ext cx="13525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cxnSp>
        <p:nvCxnSpPr>
          <p:cNvPr id="240" name="Shape 240"/>
          <p:cNvCxnSpPr/>
          <p:nvPr/>
        </p:nvCxnSpPr>
        <p:spPr>
          <a:xfrm>
            <a:off x="1752600" y="4800600"/>
            <a:ext cx="2016124" cy="0"/>
          </a:xfrm>
          <a:prstGeom prst="straightConnector1">
            <a:avLst/>
          </a:prstGeom>
          <a:noFill/>
          <a:ln cap="flat" cmpd="sng" w="9525">
            <a:solidFill>
              <a:schemeClr val="dk1"/>
            </a:solidFill>
            <a:prstDash val="solid"/>
            <a:miter/>
            <a:headEnd len="med" w="med" type="none"/>
            <a:tailEnd len="med" w="med" type="none"/>
          </a:ln>
        </p:spPr>
      </p:cxnSp>
      <p:sp>
        <p:nvSpPr>
          <p:cNvPr id="241" name="Shape 241"/>
          <p:cNvSpPr txBox="1"/>
          <p:nvPr/>
        </p:nvSpPr>
        <p:spPr>
          <a:xfrm>
            <a:off x="3473450" y="4510087"/>
            <a:ext cx="3365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B</a:t>
            </a:r>
          </a:p>
        </p:txBody>
      </p:sp>
      <p:sp>
        <p:nvSpPr>
          <p:cNvPr id="242" name="Shape 242"/>
          <p:cNvSpPr txBox="1"/>
          <p:nvPr/>
        </p:nvSpPr>
        <p:spPr>
          <a:xfrm>
            <a:off x="3429000" y="5576887"/>
            <a:ext cx="3492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t>
            </a:r>
          </a:p>
        </p:txBody>
      </p:sp>
      <p:sp>
        <p:nvSpPr>
          <p:cNvPr id="243" name="Shape 243"/>
          <p:cNvSpPr txBox="1"/>
          <p:nvPr/>
        </p:nvSpPr>
        <p:spPr>
          <a:xfrm>
            <a:off x="2255836" y="6262687"/>
            <a:ext cx="1173162"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A = E = ∞</a:t>
            </a:r>
          </a:p>
        </p:txBody>
      </p:sp>
      <p:sp>
        <p:nvSpPr>
          <p:cNvPr id="244" name="Shape 244"/>
          <p:cNvSpPr txBox="1"/>
          <p:nvPr/>
        </p:nvSpPr>
        <p:spPr>
          <a:xfrm>
            <a:off x="1492250" y="4586287"/>
            <a:ext cx="3365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0" i="0" lang="en-US" sz="1800" u="none" cap="none" strike="noStrike">
                <a:solidFill>
                  <a:srgbClr val="FF0000"/>
                </a:solidFill>
                <a:latin typeface="Arial"/>
                <a:ea typeface="Arial"/>
                <a:cs typeface="Arial"/>
                <a:sym typeface="Arial"/>
              </a:rPr>
              <a:t>P</a:t>
            </a:r>
          </a:p>
        </p:txBody>
      </p:sp>
      <p:sp>
        <p:nvSpPr>
          <p:cNvPr id="245" name="Shape 245"/>
          <p:cNvSpPr txBox="1"/>
          <p:nvPr/>
        </p:nvSpPr>
        <p:spPr>
          <a:xfrm>
            <a:off x="3676650" y="5805487"/>
            <a:ext cx="3619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0" i="0" lang="en-US" sz="1800" u="none" cap="none" strike="noStrike">
                <a:solidFill>
                  <a:srgbClr val="FF0000"/>
                </a:solidFill>
                <a:latin typeface="Arial"/>
                <a:ea typeface="Arial"/>
                <a:cs typeface="Arial"/>
                <a:sym typeface="Arial"/>
              </a:rPr>
              <a:t>Q</a:t>
            </a:r>
          </a:p>
        </p:txBody>
      </p:sp>
      <p:sp>
        <p:nvSpPr>
          <p:cNvPr id="246" name="Shape 246"/>
          <p:cNvSpPr txBox="1"/>
          <p:nvPr/>
        </p:nvSpPr>
        <p:spPr>
          <a:xfrm>
            <a:off x="3035300" y="5576887"/>
            <a:ext cx="54609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D =</a:t>
            </a:r>
          </a:p>
        </p:txBody>
      </p:sp>
      <p:sp>
        <p:nvSpPr>
          <p:cNvPr id="247" name="Shape 247"/>
          <p:cNvSpPr txBox="1"/>
          <p:nvPr/>
        </p:nvSpPr>
        <p:spPr>
          <a:xfrm>
            <a:off x="1447800" y="5562600"/>
            <a:ext cx="3619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O</a:t>
            </a:r>
          </a:p>
        </p:txBody>
      </p:sp>
      <p:sp>
        <p:nvSpPr>
          <p:cNvPr id="248" name="Shape 248"/>
          <p:cNvSpPr txBox="1"/>
          <p:nvPr/>
        </p:nvSpPr>
        <p:spPr>
          <a:xfrm>
            <a:off x="263525" y="2284411"/>
            <a:ext cx="8610599" cy="8254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1600" u="none" cap="none" strike="noStrike">
                <a:solidFill>
                  <a:schemeClr val="dk1"/>
                </a:solidFill>
                <a:latin typeface="Arial"/>
                <a:ea typeface="Arial"/>
                <a:cs typeface="Arial"/>
                <a:sym typeface="Arial"/>
              </a:rPr>
              <a:t>En el gráfico podemos asociar la relación con los segmentos identificados como:</a:t>
            </a:r>
          </a:p>
          <a:p>
            <a:pPr indent="0" lvl="0" marL="0" marR="0" rtl="0" algn="l">
              <a:lnSpc>
                <a:spcPct val="100000"/>
              </a:lnSpc>
              <a:spcBef>
                <a:spcPts val="0"/>
              </a:spcBef>
              <a:spcAft>
                <a:spcPts val="0"/>
              </a:spcAft>
              <a:buClr>
                <a:srgbClr val="FF0000"/>
              </a:buClr>
              <a:buSzPct val="25000"/>
              <a:buFont typeface="Arial"/>
              <a:buNone/>
            </a:pPr>
            <a:r>
              <a:rPr b="1" i="1" lang="en-US" sz="1600" u="none" cap="none" strike="noStrike">
                <a:solidFill>
                  <a:srgbClr val="FF0000"/>
                </a:solidFill>
                <a:latin typeface="Arial"/>
                <a:ea typeface="Arial"/>
                <a:cs typeface="Arial"/>
                <a:sym typeface="Arial"/>
              </a:rPr>
              <a:t>P/Q  = BC/OC = BD/OD</a:t>
            </a:r>
            <a:r>
              <a:rPr b="1" i="1" lang="en-US" sz="1600" u="none" cap="none" strike="noStrike">
                <a:solidFill>
                  <a:schemeClr val="dk1"/>
                </a:solidFill>
                <a:latin typeface="Arial"/>
                <a:ea typeface="Arial"/>
                <a:cs typeface="Arial"/>
                <a:sym typeface="Arial"/>
              </a:rPr>
              <a:t>       </a:t>
            </a:r>
            <a:r>
              <a:rPr b="1" i="1" lang="en-US" sz="1600" u="none" cap="none" strike="noStrike">
                <a:solidFill>
                  <a:schemeClr val="hlink"/>
                </a:solidFill>
                <a:latin typeface="Arial"/>
                <a:ea typeface="Arial"/>
                <a:cs typeface="Arial"/>
                <a:sym typeface="Arial"/>
              </a:rPr>
              <a:t>ΔQ/ΔP = DC/BC = AE/BE = 0</a:t>
            </a:r>
          </a:p>
          <a:p>
            <a:pPr indent="0" lvl="0" marL="0" marR="0" rtl="0" algn="l">
              <a:lnSpc>
                <a:spcPct val="100000"/>
              </a:lnSpc>
              <a:spcBef>
                <a:spcPts val="0"/>
              </a:spcBef>
              <a:spcAft>
                <a:spcPts val="0"/>
              </a:spcAft>
              <a:buClr>
                <a:schemeClr val="dk1"/>
              </a:buClr>
              <a:buSzPct val="25000"/>
              <a:buFont typeface="Arial"/>
              <a:buNone/>
            </a:pPr>
            <a:r>
              <a:rPr b="1" i="1" lang="en-US" sz="1600" u="none" cap="none" strike="noStrike">
                <a:solidFill>
                  <a:schemeClr val="dk1"/>
                </a:solidFill>
                <a:latin typeface="Arial"/>
                <a:ea typeface="Arial"/>
                <a:cs typeface="Arial"/>
                <a:sym typeface="Arial"/>
              </a:rPr>
              <a:t>E</a:t>
            </a:r>
            <a:r>
              <a:rPr b="1" baseline="-25000" i="1" lang="en-US" sz="1600" u="none" cap="none" strike="noStrike">
                <a:solidFill>
                  <a:schemeClr val="dk1"/>
                </a:solidFill>
                <a:latin typeface="Arial"/>
                <a:ea typeface="Arial"/>
                <a:cs typeface="Arial"/>
                <a:sym typeface="Arial"/>
              </a:rPr>
              <a:t>p </a:t>
            </a:r>
            <a:r>
              <a:rPr b="1" i="1" lang="en-US" sz="1600" u="none" cap="none" strike="noStrike">
                <a:solidFill>
                  <a:schemeClr val="dk1"/>
                </a:solidFill>
                <a:latin typeface="Arial"/>
                <a:ea typeface="Arial"/>
                <a:cs typeface="Arial"/>
                <a:sym typeface="Arial"/>
              </a:rPr>
              <a:t>=(P/Q)* (ΔQ/ ΔP)= </a:t>
            </a:r>
            <a:r>
              <a:rPr b="1" i="1" lang="en-US" sz="1600" u="none" cap="none" strike="noStrike">
                <a:solidFill>
                  <a:srgbClr val="FF0000"/>
                </a:solidFill>
                <a:latin typeface="Arial"/>
                <a:ea typeface="Arial"/>
                <a:cs typeface="Arial"/>
                <a:sym typeface="Arial"/>
              </a:rPr>
              <a:t>(BC/OC) </a:t>
            </a:r>
            <a:r>
              <a:rPr b="1" i="1" lang="en-US" sz="1600" u="none" cap="none" strike="noStrike">
                <a:solidFill>
                  <a:schemeClr val="dk1"/>
                </a:solidFill>
                <a:latin typeface="Arial"/>
                <a:ea typeface="Arial"/>
                <a:cs typeface="Arial"/>
                <a:sym typeface="Arial"/>
              </a:rPr>
              <a:t>* </a:t>
            </a:r>
            <a:r>
              <a:rPr b="1" i="1" lang="en-US" sz="1600" u="none" cap="none" strike="noStrike">
                <a:solidFill>
                  <a:schemeClr val="hlink"/>
                </a:solidFill>
                <a:latin typeface="Arial"/>
                <a:ea typeface="Arial"/>
                <a:cs typeface="Arial"/>
                <a:sym typeface="Arial"/>
              </a:rPr>
              <a:t>(DC/BC)</a:t>
            </a:r>
            <a:r>
              <a:rPr b="1" i="1" lang="en-US" sz="1600" u="none" cap="none" strike="noStrike">
                <a:solidFill>
                  <a:schemeClr val="dk1"/>
                </a:solidFill>
                <a:latin typeface="Arial"/>
                <a:ea typeface="Arial"/>
                <a:cs typeface="Arial"/>
                <a:sym typeface="Arial"/>
              </a:rPr>
              <a:t> = DC/OC = 0</a:t>
            </a:r>
          </a:p>
        </p:txBody>
      </p:sp>
      <p:cxnSp>
        <p:nvCxnSpPr>
          <p:cNvPr id="249" name="Shape 249"/>
          <p:cNvCxnSpPr/>
          <p:nvPr/>
        </p:nvCxnSpPr>
        <p:spPr>
          <a:xfrm>
            <a:off x="1752600" y="6553200"/>
            <a:ext cx="1979612" cy="0"/>
          </a:xfrm>
          <a:prstGeom prst="straightConnector1">
            <a:avLst/>
          </a:prstGeom>
          <a:noFill/>
          <a:ln cap="flat" cmpd="sng" w="9525">
            <a:solidFill>
              <a:schemeClr val="dk1"/>
            </a:solidFill>
            <a:prstDash val="solid"/>
            <a:miter/>
            <a:headEnd len="med" w="med" type="none"/>
            <a:tailEnd len="med" w="med" type="none"/>
          </a:ln>
        </p:spPr>
      </p:cxnSp>
      <p:cxnSp>
        <p:nvCxnSpPr>
          <p:cNvPr id="250" name="Shape 250"/>
          <p:cNvCxnSpPr/>
          <p:nvPr/>
        </p:nvCxnSpPr>
        <p:spPr>
          <a:xfrm flipH="1" rot="10800000">
            <a:off x="3733800" y="4038599"/>
            <a:ext cx="3174" cy="1828800"/>
          </a:xfrm>
          <a:prstGeom prst="straightConnector1">
            <a:avLst/>
          </a:prstGeom>
          <a:noFill/>
          <a:ln cap="flat" cmpd="sng" w="25400">
            <a:solidFill>
              <a:srgbClr val="008000"/>
            </a:solidFill>
            <a:prstDash val="solid"/>
            <a:miter/>
            <a:headEnd len="med" w="med" type="none"/>
            <a:tailEnd len="med" w="med" type="none"/>
          </a:ln>
        </p:spPr>
      </p:cxnSp>
      <p:cxnSp>
        <p:nvCxnSpPr>
          <p:cNvPr id="251" name="Shape 251"/>
          <p:cNvCxnSpPr/>
          <p:nvPr/>
        </p:nvCxnSpPr>
        <p:spPr>
          <a:xfrm flipH="1" rot="-7860000">
            <a:off x="2763042" y="4342606"/>
            <a:ext cx="1587" cy="2613025"/>
          </a:xfrm>
          <a:prstGeom prst="straightConnector1">
            <a:avLst/>
          </a:prstGeom>
          <a:noFill/>
          <a:ln cap="flat" cmpd="sng" w="25400">
            <a:solidFill>
              <a:srgbClr val="800000"/>
            </a:solidFill>
            <a:prstDash val="solid"/>
            <a:miter/>
            <a:headEnd len="med" w="med" type="none"/>
            <a:tailEnd len="med" w="med" type="none"/>
          </a:ln>
        </p:spPr>
      </p:cxnSp>
      <p:sp>
        <p:nvSpPr>
          <p:cNvPr id="252" name="Shape 252"/>
          <p:cNvSpPr/>
          <p:nvPr/>
        </p:nvSpPr>
        <p:spPr>
          <a:xfrm>
            <a:off x="2514600" y="5943600"/>
            <a:ext cx="914400" cy="274636"/>
          </a:xfrm>
          <a:prstGeom prst="stripedRightArrow">
            <a:avLst>
              <a:gd fmla="val 50000" name="adj1"/>
              <a:gd fmla="val 50000" name="adj2"/>
            </a:avLst>
          </a:prstGeom>
          <a:solidFill>
            <a:srgbClr val="800000"/>
          </a:solidFill>
          <a:ln cap="flat" cmpd="sng" w="9525">
            <a:solidFill>
              <a:srgbClr val="800000"/>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56" name="Shape 256"/>
        <p:cNvGrpSpPr/>
        <p:nvPr/>
      </p:nvGrpSpPr>
      <p:grpSpPr>
        <a:xfrm>
          <a:off x="0" y="0"/>
          <a:ext cx="0" cy="0"/>
          <a:chOff x="0" y="0"/>
          <a:chExt cx="0" cy="0"/>
        </a:xfrm>
      </p:grpSpPr>
      <p:pic>
        <p:nvPicPr>
          <p:cNvPr id="257" name="Shape 257"/>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258" name="Shape 258"/>
          <p:cNvSpPr txBox="1"/>
          <p:nvPr/>
        </p:nvSpPr>
        <p:spPr>
          <a:xfrm>
            <a:off x="3487737" y="304800"/>
            <a:ext cx="5046662"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OFERTA RÍGIDA</a:t>
            </a:r>
          </a:p>
        </p:txBody>
      </p:sp>
      <p:pic>
        <p:nvPicPr>
          <p:cNvPr id="259" name="Shape 259"/>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cxnSp>
        <p:nvCxnSpPr>
          <p:cNvPr id="260" name="Shape 260"/>
          <p:cNvCxnSpPr/>
          <p:nvPr/>
        </p:nvCxnSpPr>
        <p:spPr>
          <a:xfrm rot="10800000">
            <a:off x="1752600" y="3276599"/>
            <a:ext cx="0" cy="3276600"/>
          </a:xfrm>
          <a:prstGeom prst="straightConnector1">
            <a:avLst/>
          </a:prstGeom>
          <a:noFill/>
          <a:ln cap="flat" cmpd="sng" w="9525">
            <a:solidFill>
              <a:schemeClr val="dk1"/>
            </a:solidFill>
            <a:prstDash val="solid"/>
            <a:miter/>
            <a:headEnd len="med" w="med" type="none"/>
            <a:tailEnd len="lg" w="lg" type="triangle"/>
          </a:ln>
        </p:spPr>
      </p:cxnSp>
      <p:cxnSp>
        <p:nvCxnSpPr>
          <p:cNvPr id="261" name="Shape 261"/>
          <p:cNvCxnSpPr/>
          <p:nvPr/>
        </p:nvCxnSpPr>
        <p:spPr>
          <a:xfrm>
            <a:off x="457200" y="5867400"/>
            <a:ext cx="6858000" cy="0"/>
          </a:xfrm>
          <a:prstGeom prst="straightConnector1">
            <a:avLst/>
          </a:prstGeom>
          <a:noFill/>
          <a:ln cap="flat" cmpd="sng" w="9525">
            <a:solidFill>
              <a:schemeClr val="dk1"/>
            </a:solidFill>
            <a:prstDash val="solid"/>
            <a:miter/>
            <a:headEnd len="med" w="med" type="none"/>
            <a:tailEnd len="lg" w="lg" type="triangle"/>
          </a:ln>
        </p:spPr>
      </p:cxnSp>
      <p:sp>
        <p:nvSpPr>
          <p:cNvPr id="262" name="Shape 262"/>
          <p:cNvSpPr txBox="1"/>
          <p:nvPr/>
        </p:nvSpPr>
        <p:spPr>
          <a:xfrm>
            <a:off x="5181600" y="4419600"/>
            <a:ext cx="23558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CURVA DE OFERTA</a:t>
            </a:r>
          </a:p>
        </p:txBody>
      </p:sp>
      <p:sp>
        <p:nvSpPr>
          <p:cNvPr id="263" name="Shape 263"/>
          <p:cNvSpPr txBox="1"/>
          <p:nvPr/>
        </p:nvSpPr>
        <p:spPr>
          <a:xfrm>
            <a:off x="304800" y="3671887"/>
            <a:ext cx="10604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PRECIO</a:t>
            </a:r>
          </a:p>
        </p:txBody>
      </p:sp>
      <p:sp>
        <p:nvSpPr>
          <p:cNvPr id="264" name="Shape 264"/>
          <p:cNvSpPr txBox="1"/>
          <p:nvPr/>
        </p:nvSpPr>
        <p:spPr>
          <a:xfrm>
            <a:off x="7527925" y="5599112"/>
            <a:ext cx="13525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CANTIDAD</a:t>
            </a:r>
          </a:p>
        </p:txBody>
      </p:sp>
      <p:cxnSp>
        <p:nvCxnSpPr>
          <p:cNvPr id="265" name="Shape 265"/>
          <p:cNvCxnSpPr/>
          <p:nvPr/>
        </p:nvCxnSpPr>
        <p:spPr>
          <a:xfrm>
            <a:off x="1752600" y="4800600"/>
            <a:ext cx="2016124" cy="0"/>
          </a:xfrm>
          <a:prstGeom prst="straightConnector1">
            <a:avLst/>
          </a:prstGeom>
          <a:noFill/>
          <a:ln cap="flat" cmpd="sng" w="9525">
            <a:solidFill>
              <a:schemeClr val="dk1"/>
            </a:solidFill>
            <a:prstDash val="solid"/>
            <a:miter/>
            <a:headEnd len="med" w="med" type="none"/>
            <a:tailEnd len="med" w="med" type="none"/>
          </a:ln>
        </p:spPr>
      </p:cxnSp>
      <p:sp>
        <p:nvSpPr>
          <p:cNvPr id="266" name="Shape 266"/>
          <p:cNvSpPr txBox="1"/>
          <p:nvPr/>
        </p:nvSpPr>
        <p:spPr>
          <a:xfrm>
            <a:off x="1365250" y="4586287"/>
            <a:ext cx="4635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0" i="0" lang="en-US" sz="1800" u="none" cap="none" strike="noStrike">
                <a:solidFill>
                  <a:srgbClr val="FF0000"/>
                </a:solidFill>
                <a:latin typeface="Arial"/>
                <a:ea typeface="Arial"/>
                <a:cs typeface="Arial"/>
                <a:sym typeface="Arial"/>
              </a:rPr>
              <a:t>P2</a:t>
            </a:r>
          </a:p>
        </p:txBody>
      </p:sp>
      <p:sp>
        <p:nvSpPr>
          <p:cNvPr id="267" name="Shape 267"/>
          <p:cNvSpPr txBox="1"/>
          <p:nvPr/>
        </p:nvSpPr>
        <p:spPr>
          <a:xfrm>
            <a:off x="3676650" y="5805487"/>
            <a:ext cx="3619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0" i="0" lang="en-US" sz="1800" u="none" cap="none" strike="noStrike">
                <a:solidFill>
                  <a:srgbClr val="FF0000"/>
                </a:solidFill>
                <a:latin typeface="Arial"/>
                <a:ea typeface="Arial"/>
                <a:cs typeface="Arial"/>
                <a:sym typeface="Arial"/>
              </a:rPr>
              <a:t>Q</a:t>
            </a:r>
          </a:p>
        </p:txBody>
      </p:sp>
      <p:sp>
        <p:nvSpPr>
          <p:cNvPr id="268" name="Shape 268"/>
          <p:cNvSpPr txBox="1"/>
          <p:nvPr/>
        </p:nvSpPr>
        <p:spPr>
          <a:xfrm>
            <a:off x="0" y="1295400"/>
            <a:ext cx="8610599" cy="20145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Un agricultor llega al mercado con una carga de productos perecederos, se puede encontrar con precios altos pero el agricultor no tiene mas cantidad de productos para ofrecer, o en el caso contrario, los precios ser muy bajos, caso en el cual igualmente tiene que vender la cantidad de la que dispone pues de lo contrario se el producto se malogra. </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Para este caso la curva de oferta es perfectamente inelástica pues la cantidad no tuvo ninguna variación independiente del precio del producto. </a:t>
            </a:r>
          </a:p>
        </p:txBody>
      </p:sp>
      <p:cxnSp>
        <p:nvCxnSpPr>
          <p:cNvPr id="269" name="Shape 269"/>
          <p:cNvCxnSpPr/>
          <p:nvPr/>
        </p:nvCxnSpPr>
        <p:spPr>
          <a:xfrm flipH="1" rot="10800000">
            <a:off x="3733800" y="4038599"/>
            <a:ext cx="3174" cy="1828800"/>
          </a:xfrm>
          <a:prstGeom prst="straightConnector1">
            <a:avLst/>
          </a:prstGeom>
          <a:noFill/>
          <a:ln cap="flat" cmpd="sng" w="25400">
            <a:solidFill>
              <a:srgbClr val="008000"/>
            </a:solidFill>
            <a:prstDash val="solid"/>
            <a:miter/>
            <a:headEnd len="med" w="med" type="none"/>
            <a:tailEnd len="med" w="med" type="none"/>
          </a:ln>
        </p:spPr>
      </p:cxnSp>
      <p:sp>
        <p:nvSpPr>
          <p:cNvPr id="270" name="Shape 270"/>
          <p:cNvSpPr txBox="1"/>
          <p:nvPr/>
        </p:nvSpPr>
        <p:spPr>
          <a:xfrm>
            <a:off x="1365250" y="5043487"/>
            <a:ext cx="4635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0" i="0" lang="en-US" sz="1800" u="none" cap="none" strike="noStrike">
                <a:solidFill>
                  <a:srgbClr val="FF0000"/>
                </a:solidFill>
                <a:latin typeface="Arial"/>
                <a:ea typeface="Arial"/>
                <a:cs typeface="Arial"/>
                <a:sym typeface="Arial"/>
              </a:rPr>
              <a:t>P1</a:t>
            </a:r>
          </a:p>
        </p:txBody>
      </p:sp>
      <p:cxnSp>
        <p:nvCxnSpPr>
          <p:cNvPr id="271" name="Shape 271"/>
          <p:cNvCxnSpPr/>
          <p:nvPr/>
        </p:nvCxnSpPr>
        <p:spPr>
          <a:xfrm>
            <a:off x="1752600" y="5257800"/>
            <a:ext cx="1981199" cy="0"/>
          </a:xfrm>
          <a:prstGeom prst="straightConnector1">
            <a:avLst/>
          </a:prstGeom>
          <a:noFill/>
          <a:ln cap="flat" cmpd="sng" w="9525">
            <a:solidFill>
              <a:schemeClr val="dk1"/>
            </a:solidFill>
            <a:prstDash val="solid"/>
            <a:miter/>
            <a:headEnd len="med" w="med" type="none"/>
            <a:tailEnd len="med" w="med" type="none"/>
          </a:ln>
        </p:spPr>
      </p:cxnSp>
      <p:sp>
        <p:nvSpPr>
          <p:cNvPr id="272" name="Shape 272"/>
          <p:cNvSpPr/>
          <p:nvPr/>
        </p:nvSpPr>
        <p:spPr>
          <a:xfrm rot="-5400000">
            <a:off x="1002506" y="4849017"/>
            <a:ext cx="493711" cy="244474"/>
          </a:xfrm>
          <a:prstGeom prst="stripedRightArrow">
            <a:avLst>
              <a:gd fmla="val 50000" name="adj1"/>
              <a:gd fmla="val 50000" name="adj2"/>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Shape 273"/>
          <p:cNvSpPr/>
          <p:nvPr/>
        </p:nvSpPr>
        <p:spPr>
          <a:xfrm rot="5400000">
            <a:off x="3745706" y="4925218"/>
            <a:ext cx="493711" cy="244474"/>
          </a:xfrm>
          <a:prstGeom prst="stripedRightArrow">
            <a:avLst>
              <a:gd fmla="val 50000" name="adj1"/>
              <a:gd fmla="val 50000" name="adj2"/>
            </a:avLst>
          </a:prstGeom>
          <a:solidFill>
            <a:srgbClr val="FF00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77" name="Shape 277"/>
        <p:cNvGrpSpPr/>
        <p:nvPr/>
      </p:nvGrpSpPr>
      <p:grpSpPr>
        <a:xfrm>
          <a:off x="0" y="0"/>
          <a:ext cx="0" cy="0"/>
          <a:chOff x="0" y="0"/>
          <a:chExt cx="0" cy="0"/>
        </a:xfrm>
      </p:grpSpPr>
      <p:pic>
        <p:nvPicPr>
          <p:cNvPr id="278" name="Shape 278"/>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279" name="Shape 279"/>
          <p:cNvSpPr txBox="1"/>
          <p:nvPr/>
        </p:nvSpPr>
        <p:spPr>
          <a:xfrm>
            <a:off x="3487737" y="304800"/>
            <a:ext cx="5386387" cy="822324"/>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OFERTA SEGÚN EL NIVEL DE OCUPACIÓN DE LA ESTRUCTURA</a:t>
            </a:r>
          </a:p>
        </p:txBody>
      </p:sp>
      <p:pic>
        <p:nvPicPr>
          <p:cNvPr id="280" name="Shape 280"/>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grpSp>
        <p:nvGrpSpPr>
          <p:cNvPr id="281" name="Shape 281"/>
          <p:cNvGrpSpPr/>
          <p:nvPr/>
        </p:nvGrpSpPr>
        <p:grpSpPr>
          <a:xfrm>
            <a:off x="1711324" y="1978024"/>
            <a:ext cx="3181803" cy="1600200"/>
            <a:chOff x="4011612" y="10004425"/>
            <a:chExt cx="7262812" cy="4000500"/>
          </a:xfrm>
        </p:grpSpPr>
        <p:sp>
          <p:nvSpPr>
            <p:cNvPr id="282" name="Shape 282"/>
            <p:cNvSpPr txBox="1"/>
            <p:nvPr/>
          </p:nvSpPr>
          <p:spPr>
            <a:xfrm>
              <a:off x="4622800" y="11790361"/>
              <a:ext cx="4079874" cy="1357312"/>
            </a:xfrm>
            <a:prstGeom prst="rect">
              <a:avLst/>
            </a:prstGeom>
            <a:noFill/>
            <a:ln>
              <a:noFill/>
            </a:ln>
          </p:spPr>
          <p:txBody>
            <a:bodyPr anchorCtr="0" anchor="t" bIns="26350" lIns="52725" rIns="52725" tIns="26350">
              <a:noAutofit/>
            </a:bodyPr>
            <a:lstStyle/>
            <a:p>
              <a:pPr indent="0" lvl="0" marL="0" marR="0" rtl="0" algn="l">
                <a:lnSpc>
                  <a:spcPct val="100000"/>
                </a:lnSpc>
                <a:spcBef>
                  <a:spcPts val="0"/>
                </a:spcBef>
                <a:spcAft>
                  <a:spcPts val="0"/>
                </a:spcAft>
                <a:buClr>
                  <a:srgbClr val="0000FF"/>
                </a:buClr>
                <a:buSzPct val="25000"/>
                <a:buFont typeface="Arial"/>
                <a:buNone/>
              </a:pPr>
              <a:r>
                <a:rPr b="1" i="1" lang="en-US" sz="900" u="none" cap="none" strike="noStrike">
                  <a:solidFill>
                    <a:srgbClr val="0000FF"/>
                  </a:solidFill>
                  <a:latin typeface="Arial"/>
                  <a:ea typeface="Arial"/>
                  <a:cs typeface="Arial"/>
                  <a:sym typeface="Arial"/>
                </a:rPr>
                <a:t>Oferta  elástica</a:t>
              </a:r>
            </a:p>
          </p:txBody>
        </p:sp>
        <p:sp>
          <p:nvSpPr>
            <p:cNvPr id="283" name="Shape 283"/>
            <p:cNvSpPr txBox="1"/>
            <p:nvPr/>
          </p:nvSpPr>
          <p:spPr>
            <a:xfrm>
              <a:off x="9467850" y="13392150"/>
              <a:ext cx="1806575" cy="612775"/>
            </a:xfrm>
            <a:prstGeom prst="rect">
              <a:avLst/>
            </a:prstGeom>
            <a:noFill/>
            <a:ln>
              <a:noFill/>
            </a:ln>
          </p:spPr>
          <p:txBody>
            <a:bodyPr anchorCtr="0" anchor="t" bIns="26350" lIns="52725" rIns="52725" tIns="26350">
              <a:noAutofit/>
            </a:bodyPr>
            <a:lstStyle/>
            <a:p>
              <a:pPr indent="0" lvl="0" marL="0" marR="0" rtl="0" algn="l">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Cantidad</a:t>
              </a:r>
            </a:p>
          </p:txBody>
        </p:sp>
        <p:sp>
          <p:nvSpPr>
            <p:cNvPr id="284" name="Shape 284"/>
            <p:cNvSpPr txBox="1"/>
            <p:nvPr/>
          </p:nvSpPr>
          <p:spPr>
            <a:xfrm>
              <a:off x="4011612" y="10004425"/>
              <a:ext cx="1503362" cy="642936"/>
            </a:xfrm>
            <a:prstGeom prst="rect">
              <a:avLst/>
            </a:prstGeom>
            <a:noFill/>
            <a:ln>
              <a:noFill/>
            </a:ln>
          </p:spPr>
          <p:txBody>
            <a:bodyPr anchorCtr="0" anchor="t" bIns="26350" lIns="52725" rIns="52725" tIns="26350">
              <a:noAutofit/>
            </a:bodyPr>
            <a:lstStyle/>
            <a:p>
              <a:pPr indent="0" lvl="0" marL="0" marR="0" rtl="0" algn="l">
                <a:lnSpc>
                  <a:spcPct val="100000"/>
                </a:lnSpc>
                <a:spcBef>
                  <a:spcPts val="0"/>
                </a:spcBef>
                <a:spcAft>
                  <a:spcPts val="0"/>
                </a:spcAft>
                <a:buClr>
                  <a:schemeClr val="dk1"/>
                </a:buClr>
                <a:buSzPct val="25000"/>
                <a:buFont typeface="Arial"/>
                <a:buNone/>
              </a:pPr>
              <a:r>
                <a:rPr b="1" i="0" lang="en-US" sz="1100" u="none" cap="none" strike="noStrike">
                  <a:solidFill>
                    <a:schemeClr val="dk1"/>
                  </a:solidFill>
                  <a:latin typeface="Arial"/>
                  <a:ea typeface="Arial"/>
                  <a:cs typeface="Arial"/>
                  <a:sym typeface="Arial"/>
                </a:rPr>
                <a:t>Precio</a:t>
              </a:r>
            </a:p>
          </p:txBody>
        </p:sp>
        <p:cxnSp>
          <p:nvCxnSpPr>
            <p:cNvPr id="285" name="Shape 285"/>
            <p:cNvCxnSpPr/>
            <p:nvPr/>
          </p:nvCxnSpPr>
          <p:spPr>
            <a:xfrm>
              <a:off x="4416425" y="10553700"/>
              <a:ext cx="1587" cy="3171825"/>
            </a:xfrm>
            <a:prstGeom prst="straightConnector1">
              <a:avLst/>
            </a:prstGeom>
            <a:noFill/>
            <a:ln cap="flat" cmpd="sng" w="9525">
              <a:solidFill>
                <a:srgbClr val="000000"/>
              </a:solidFill>
              <a:prstDash val="solid"/>
              <a:miter/>
              <a:headEnd len="med" w="med" type="none"/>
              <a:tailEnd len="med" w="med" type="none"/>
            </a:ln>
          </p:spPr>
        </p:cxnSp>
        <p:cxnSp>
          <p:nvCxnSpPr>
            <p:cNvPr id="286" name="Shape 286"/>
            <p:cNvCxnSpPr/>
            <p:nvPr/>
          </p:nvCxnSpPr>
          <p:spPr>
            <a:xfrm>
              <a:off x="4416425" y="13725525"/>
              <a:ext cx="5008561" cy="1587"/>
            </a:xfrm>
            <a:prstGeom prst="straightConnector1">
              <a:avLst/>
            </a:prstGeom>
            <a:noFill/>
            <a:ln cap="flat" cmpd="sng" w="12700">
              <a:solidFill>
                <a:srgbClr val="000000"/>
              </a:solidFill>
              <a:prstDash val="solid"/>
              <a:miter/>
              <a:headEnd len="med" w="med" type="none"/>
              <a:tailEnd len="med" w="med" type="none"/>
            </a:ln>
          </p:spPr>
        </p:cxnSp>
        <p:sp>
          <p:nvSpPr>
            <p:cNvPr id="287" name="Shape 287"/>
            <p:cNvSpPr/>
            <p:nvPr/>
          </p:nvSpPr>
          <p:spPr>
            <a:xfrm>
              <a:off x="4976812" y="10287000"/>
              <a:ext cx="4868861" cy="2667000"/>
            </a:xfrm>
            <a:custGeom>
              <a:pathLst>
                <a:path extrusionOk="0" h="1680" w="2940">
                  <a:moveTo>
                    <a:pt x="0" y="1680"/>
                  </a:moveTo>
                  <a:cubicBezTo>
                    <a:pt x="50" y="1677"/>
                    <a:pt x="175" y="1672"/>
                    <a:pt x="315" y="1665"/>
                  </a:cubicBezTo>
                  <a:cubicBezTo>
                    <a:pt x="455" y="1658"/>
                    <a:pt x="663" y="1655"/>
                    <a:pt x="840" y="1635"/>
                  </a:cubicBezTo>
                  <a:cubicBezTo>
                    <a:pt x="1017" y="1615"/>
                    <a:pt x="1168" y="1605"/>
                    <a:pt x="1380" y="1545"/>
                  </a:cubicBezTo>
                  <a:cubicBezTo>
                    <a:pt x="1592" y="1485"/>
                    <a:pt x="1918" y="1375"/>
                    <a:pt x="2115" y="1275"/>
                  </a:cubicBezTo>
                  <a:cubicBezTo>
                    <a:pt x="2312" y="1175"/>
                    <a:pt x="2452" y="1065"/>
                    <a:pt x="2565" y="945"/>
                  </a:cubicBezTo>
                  <a:cubicBezTo>
                    <a:pt x="2678" y="825"/>
                    <a:pt x="2728" y="712"/>
                    <a:pt x="2790" y="555"/>
                  </a:cubicBezTo>
                  <a:cubicBezTo>
                    <a:pt x="2852" y="398"/>
                    <a:pt x="2909" y="116"/>
                    <a:pt x="2940" y="0"/>
                  </a:cubicBezTo>
                </a:path>
              </a:pathLst>
            </a:custGeom>
            <a:noFill/>
            <a:ln cap="flat" cmpd="sng" w="25400">
              <a:solidFill>
                <a:srgbClr val="9933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8" name="Shape 288"/>
            <p:cNvSpPr/>
            <p:nvPr/>
          </p:nvSpPr>
          <p:spPr>
            <a:xfrm rot="1260000">
              <a:off x="9075737" y="10282236"/>
              <a:ext cx="198437" cy="1331911"/>
            </a:xfrm>
            <a:prstGeom prst="leftBrace">
              <a:avLst>
                <a:gd fmla="val 8333" name="adj1"/>
                <a:gd fmla="val 50000" name="adj2"/>
              </a:avLst>
            </a:prstGeom>
            <a:noFill/>
            <a:ln cap="flat" cmpd="sng" w="9525">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9" name="Shape 289"/>
            <p:cNvSpPr/>
            <p:nvPr/>
          </p:nvSpPr>
          <p:spPr>
            <a:xfrm rot="4080000">
              <a:off x="7865267" y="11365705"/>
              <a:ext cx="198436" cy="1476375"/>
            </a:xfrm>
            <a:prstGeom prst="leftBrace">
              <a:avLst>
                <a:gd fmla="val 8333" name="adj1"/>
                <a:gd fmla="val 50000" name="adj2"/>
              </a:avLst>
            </a:prstGeom>
            <a:noFill/>
            <a:ln cap="flat" cmpd="sng" w="9525">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0" name="Shape 290"/>
            <p:cNvSpPr/>
            <p:nvPr/>
          </p:nvSpPr>
          <p:spPr>
            <a:xfrm rot="5400000">
              <a:off x="5926137" y="11514136"/>
              <a:ext cx="198436" cy="1925637"/>
            </a:xfrm>
            <a:prstGeom prst="leftBrace">
              <a:avLst>
                <a:gd fmla="val 8333" name="adj1"/>
                <a:gd fmla="val 50000" name="adj2"/>
              </a:avLst>
            </a:prstGeom>
            <a:noFill/>
            <a:ln cap="flat" cmpd="sng" w="9525">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1" name="Shape 291"/>
            <p:cNvSpPr txBox="1"/>
            <p:nvPr/>
          </p:nvSpPr>
          <p:spPr>
            <a:xfrm>
              <a:off x="6337300" y="11504611"/>
              <a:ext cx="3508375" cy="785811"/>
            </a:xfrm>
            <a:prstGeom prst="rect">
              <a:avLst/>
            </a:prstGeom>
            <a:noFill/>
            <a:ln>
              <a:noFill/>
            </a:ln>
          </p:spPr>
          <p:txBody>
            <a:bodyPr anchorCtr="0" anchor="t" bIns="26350" lIns="52725" rIns="52725" tIns="26350">
              <a:noAutofit/>
            </a:bodyPr>
            <a:lstStyle/>
            <a:p>
              <a:pPr indent="0" lvl="0" marL="0" marR="0" rtl="0" algn="l">
                <a:lnSpc>
                  <a:spcPct val="100000"/>
                </a:lnSpc>
                <a:spcBef>
                  <a:spcPts val="0"/>
                </a:spcBef>
                <a:spcAft>
                  <a:spcPts val="0"/>
                </a:spcAft>
                <a:buClr>
                  <a:srgbClr val="FF0000"/>
                </a:buClr>
                <a:buSzPct val="25000"/>
                <a:buFont typeface="Arial"/>
                <a:buNone/>
              </a:pPr>
              <a:r>
                <a:rPr b="1" i="1" lang="en-US" sz="900" u="none" cap="none" strike="noStrike">
                  <a:solidFill>
                    <a:srgbClr val="FF0000"/>
                  </a:solidFill>
                  <a:latin typeface="Arial"/>
                  <a:ea typeface="Arial"/>
                  <a:cs typeface="Arial"/>
                  <a:sym typeface="Arial"/>
                </a:rPr>
                <a:t>Oferta  unitaria</a:t>
              </a:r>
            </a:p>
          </p:txBody>
        </p:sp>
        <p:sp>
          <p:nvSpPr>
            <p:cNvPr id="292" name="Shape 292"/>
            <p:cNvSpPr txBox="1"/>
            <p:nvPr/>
          </p:nvSpPr>
          <p:spPr>
            <a:xfrm>
              <a:off x="6623050" y="10575925"/>
              <a:ext cx="3794124" cy="857250"/>
            </a:xfrm>
            <a:prstGeom prst="rect">
              <a:avLst/>
            </a:prstGeom>
            <a:noFill/>
            <a:ln>
              <a:noFill/>
            </a:ln>
          </p:spPr>
          <p:txBody>
            <a:bodyPr anchorCtr="0" anchor="t" bIns="26350" lIns="52725" rIns="52725" tIns="26350">
              <a:noAutofit/>
            </a:bodyPr>
            <a:lstStyle/>
            <a:p>
              <a:pPr indent="0" lvl="0" marL="0" marR="0" rtl="0" algn="l">
                <a:lnSpc>
                  <a:spcPct val="100000"/>
                </a:lnSpc>
                <a:spcBef>
                  <a:spcPts val="0"/>
                </a:spcBef>
                <a:spcAft>
                  <a:spcPts val="0"/>
                </a:spcAft>
                <a:buClr>
                  <a:srgbClr val="008000"/>
                </a:buClr>
                <a:buSzPct val="25000"/>
                <a:buFont typeface="Arial"/>
                <a:buNone/>
              </a:pPr>
              <a:r>
                <a:rPr b="1" i="1" lang="en-US" sz="900" u="none" cap="none" strike="noStrike">
                  <a:solidFill>
                    <a:srgbClr val="008000"/>
                  </a:solidFill>
                  <a:latin typeface="Arial"/>
                  <a:ea typeface="Arial"/>
                  <a:cs typeface="Arial"/>
                  <a:sym typeface="Arial"/>
                </a:rPr>
                <a:t>Oferta inelástica</a:t>
              </a:r>
            </a:p>
          </p:txBody>
        </p:sp>
      </p:grpSp>
      <p:sp>
        <p:nvSpPr>
          <p:cNvPr id="293" name="Shape 293"/>
          <p:cNvSpPr txBox="1"/>
          <p:nvPr/>
        </p:nvSpPr>
        <p:spPr>
          <a:xfrm>
            <a:off x="111125" y="4129087"/>
            <a:ext cx="8880475" cy="1739899"/>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La elasticidad suele ser:</a:t>
            </a:r>
          </a:p>
          <a:p>
            <a:pPr indent="0" lvl="2" marL="914400" marR="0" rtl="0" algn="l">
              <a:lnSpc>
                <a:spcPct val="100000"/>
              </a:lnSpc>
              <a:spcBef>
                <a:spcPts val="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 Mayor en la zona baja de la curva, cuando la cantidad ofrecida es pequeña (existe capacidad productiva ociosa que se puede utilizar si fuera necesario)</a:t>
            </a:r>
          </a:p>
          <a:p>
            <a:pPr indent="0" lvl="2" marL="914400" marR="0" rtl="0" algn="l">
              <a:lnSpc>
                <a:spcPct val="100000"/>
              </a:lnSpc>
              <a:spcBef>
                <a:spcPts val="0"/>
              </a:spcBef>
              <a:spcAft>
                <a:spcPts val="0"/>
              </a:spcAft>
              <a:buClr>
                <a:schemeClr val="dk1"/>
              </a:buClr>
              <a:buFont typeface="Calibri"/>
              <a:buNone/>
            </a:pPr>
            <a:r>
              <a:t/>
            </a:r>
            <a:endParaRPr b="0" i="0" sz="1800" u="none" cap="none" strike="noStrike">
              <a:solidFill>
                <a:schemeClr val="dk1"/>
              </a:solidFill>
              <a:latin typeface="Arial"/>
              <a:ea typeface="Arial"/>
              <a:cs typeface="Arial"/>
              <a:sym typeface="Arial"/>
            </a:endParaRPr>
          </a:p>
          <a:p>
            <a:pPr indent="0" lvl="2" marL="914400" marR="0" rtl="0" algn="l">
              <a:lnSpc>
                <a:spcPct val="100000"/>
              </a:lnSpc>
              <a:spcBef>
                <a:spcPts val="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 Menor en la zona alta de la curva (la capacidad productiva está utilizada al máximo por lo que es muy difícil aumentar la oferta).</a:t>
            </a:r>
          </a:p>
        </p:txBody>
      </p:sp>
      <p:sp>
        <p:nvSpPr>
          <p:cNvPr id="294" name="Shape 294"/>
          <p:cNvSpPr txBox="1"/>
          <p:nvPr/>
        </p:nvSpPr>
        <p:spPr>
          <a:xfrm>
            <a:off x="234950" y="1422400"/>
            <a:ext cx="8680450"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1400" u="none" cap="none" strike="noStrike">
                <a:solidFill>
                  <a:schemeClr val="dk1"/>
                </a:solidFill>
                <a:latin typeface="Arial"/>
                <a:ea typeface="Arial"/>
                <a:cs typeface="Arial"/>
                <a:sym typeface="Arial"/>
              </a:rPr>
              <a:t>Tal como vimos cuando estudiamos la demanda, también la oferta suele variar a lo largo de su curva</a:t>
            </a:r>
          </a:p>
        </p:txBody>
      </p:sp>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98" name="Shape 298"/>
        <p:cNvGrpSpPr/>
        <p:nvPr/>
      </p:nvGrpSpPr>
      <p:grpSpPr>
        <a:xfrm>
          <a:off x="0" y="0"/>
          <a:ext cx="0" cy="0"/>
          <a:chOff x="0" y="0"/>
          <a:chExt cx="0" cy="0"/>
        </a:xfrm>
      </p:grpSpPr>
      <p:pic>
        <p:nvPicPr>
          <p:cNvPr id="299" name="Shape 299"/>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300" name="Shape 300"/>
          <p:cNvSpPr txBox="1"/>
          <p:nvPr/>
        </p:nvSpPr>
        <p:spPr>
          <a:xfrm>
            <a:off x="3487737" y="304800"/>
            <a:ext cx="5386387"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OFERTA EN EL CORTO PLAZO</a:t>
            </a:r>
          </a:p>
        </p:txBody>
      </p:sp>
      <p:pic>
        <p:nvPicPr>
          <p:cNvPr id="301" name="Shape 301"/>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302" name="Shape 302"/>
          <p:cNvSpPr txBox="1"/>
          <p:nvPr/>
        </p:nvSpPr>
        <p:spPr>
          <a:xfrm>
            <a:off x="263525" y="2208211"/>
            <a:ext cx="8610599" cy="91598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A corto plazo la oferta de un bien puede ser muy rígida, con muy poco margen para variar (la capacidad productiva es la que existe y no se puede aumentar a corto plazo, ni tampoco es fácil cerrar).</a:t>
            </a:r>
            <a:r>
              <a:rPr b="0" i="0" lang="en-US" sz="1800" u="none" cap="none" strike="noStrike">
                <a:solidFill>
                  <a:schemeClr val="dk1"/>
                </a:solidFill>
                <a:latin typeface="Arial"/>
                <a:ea typeface="Arial"/>
                <a:cs typeface="Arial"/>
                <a:sym typeface="Arial"/>
              </a:rPr>
              <a:t> </a:t>
            </a:r>
          </a:p>
        </p:txBody>
      </p:sp>
      <p:sp>
        <p:nvSpPr>
          <p:cNvPr id="303" name="Shape 303"/>
          <p:cNvSpPr txBox="1"/>
          <p:nvPr/>
        </p:nvSpPr>
        <p:spPr>
          <a:xfrm>
            <a:off x="1066800" y="3998912"/>
            <a:ext cx="68516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hlink"/>
              </a:buClr>
              <a:buSzPct val="25000"/>
              <a:buFont typeface="Arial"/>
              <a:buNone/>
            </a:pPr>
            <a:r>
              <a:rPr b="1" i="1" lang="en-US" sz="1800" u="none" cap="none" strike="noStrike">
                <a:solidFill>
                  <a:schemeClr val="hlink"/>
                </a:solidFill>
                <a:latin typeface="Arial"/>
                <a:ea typeface="Arial"/>
                <a:cs typeface="Arial"/>
                <a:sym typeface="Arial"/>
              </a:rPr>
              <a:t>Las curvas de oferta suelan ser muy verticales a corto plazo. </a:t>
            </a:r>
          </a:p>
        </p:txBody>
      </p:sp>
    </p:spTree>
  </p:cSld>
  <p:clrMapOvr>
    <a:masterClrMapping/>
  </p:clrMapOvr>
  <p:transition spd="slow">
    <p:cut/>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07" name="Shape 307"/>
        <p:cNvGrpSpPr/>
        <p:nvPr/>
      </p:nvGrpSpPr>
      <p:grpSpPr>
        <a:xfrm>
          <a:off x="0" y="0"/>
          <a:ext cx="0" cy="0"/>
          <a:chOff x="0" y="0"/>
          <a:chExt cx="0" cy="0"/>
        </a:xfrm>
      </p:grpSpPr>
      <p:pic>
        <p:nvPicPr>
          <p:cNvPr id="308" name="Shape 308"/>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309" name="Shape 309"/>
          <p:cNvSpPr txBox="1"/>
          <p:nvPr/>
        </p:nvSpPr>
        <p:spPr>
          <a:xfrm>
            <a:off x="3487737" y="304800"/>
            <a:ext cx="5386387"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OFERTA EN EL LARGO PLAZO</a:t>
            </a:r>
          </a:p>
        </p:txBody>
      </p:sp>
      <p:pic>
        <p:nvPicPr>
          <p:cNvPr id="310" name="Shape 310"/>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311" name="Shape 311"/>
          <p:cNvSpPr txBox="1"/>
          <p:nvPr/>
        </p:nvSpPr>
        <p:spPr>
          <a:xfrm>
            <a:off x="19050" y="1828800"/>
            <a:ext cx="9124950" cy="1739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A largo plazo la oferta de un bien puede ser más elástica, con mucho margen para variar la producción porque las empresas tienen la posibilidad de:</a:t>
            </a:r>
          </a:p>
          <a:p>
            <a:pPr indent="0" lvl="0" marL="0" marR="0" rtl="0" algn="l">
              <a:lnSpc>
                <a:spcPct val="100000"/>
              </a:lnSpc>
              <a:spcBef>
                <a:spcPts val="0"/>
              </a:spcBef>
              <a:spcAft>
                <a:spcPts val="0"/>
              </a:spcAft>
              <a:buClr>
                <a:schemeClr val="dk1"/>
              </a:buClr>
              <a:buFont typeface="Noto Symbol"/>
              <a:buNone/>
            </a:pPr>
            <a:r>
              <a:t/>
            </a:r>
            <a:endParaRPr b="1" i="1"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Noto Symbol"/>
              <a:buChar char="❑"/>
            </a:pPr>
            <a:r>
              <a:rPr b="1" i="1" lang="en-US" sz="1800" u="none" cap="none" strike="noStrike">
                <a:solidFill>
                  <a:schemeClr val="dk1"/>
                </a:solidFill>
                <a:latin typeface="Arial"/>
                <a:ea typeface="Arial"/>
                <a:cs typeface="Arial"/>
                <a:sym typeface="Arial"/>
              </a:rPr>
              <a:t>Construir nuevas instalaciones.  </a:t>
            </a:r>
          </a:p>
          <a:p>
            <a:pPr indent="0" lvl="0" marL="0" marR="0" rtl="0" algn="l">
              <a:lnSpc>
                <a:spcPct val="100000"/>
              </a:lnSpc>
              <a:spcBef>
                <a:spcPts val="0"/>
              </a:spcBef>
              <a:spcAft>
                <a:spcPts val="0"/>
              </a:spcAft>
              <a:buClr>
                <a:schemeClr val="dk1"/>
              </a:buClr>
              <a:buFont typeface="Calibri"/>
              <a:buNone/>
            </a:pPr>
            <a:r>
              <a:t/>
            </a:r>
            <a:endParaRPr b="1" i="1"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Noto Symbol"/>
              <a:buChar char="❑"/>
            </a:pPr>
            <a:r>
              <a:rPr b="1" i="1" lang="en-US" sz="1800" u="none" cap="none" strike="noStrike">
                <a:solidFill>
                  <a:schemeClr val="dk1"/>
                </a:solidFill>
                <a:latin typeface="Arial"/>
                <a:ea typeface="Arial"/>
                <a:cs typeface="Arial"/>
                <a:sym typeface="Arial"/>
              </a:rPr>
              <a:t>Cerrar y abandonar la industria.</a:t>
            </a:r>
            <a:r>
              <a:rPr b="0" i="0" lang="en-US" sz="1800" u="none" cap="none" strike="noStrike">
                <a:solidFill>
                  <a:schemeClr val="dk1"/>
                </a:solidFill>
                <a:latin typeface="Arial"/>
                <a:ea typeface="Arial"/>
                <a:cs typeface="Arial"/>
                <a:sym typeface="Arial"/>
              </a:rPr>
              <a:t> </a:t>
            </a:r>
          </a:p>
        </p:txBody>
      </p:sp>
      <p:sp>
        <p:nvSpPr>
          <p:cNvPr id="312" name="Shape 312"/>
          <p:cNvSpPr txBox="1"/>
          <p:nvPr/>
        </p:nvSpPr>
        <p:spPr>
          <a:xfrm>
            <a:off x="19050" y="3998912"/>
            <a:ext cx="9124950"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hlink"/>
              </a:buClr>
              <a:buSzPct val="25000"/>
              <a:buFont typeface="Arial"/>
              <a:buNone/>
            </a:pPr>
            <a:r>
              <a:rPr b="1" i="1" lang="en-US" sz="1800" u="none" cap="none" strike="noStrike">
                <a:solidFill>
                  <a:schemeClr val="hlink"/>
                </a:solidFill>
                <a:latin typeface="Arial"/>
                <a:ea typeface="Arial"/>
                <a:cs typeface="Arial"/>
                <a:sym typeface="Arial"/>
              </a:rPr>
              <a:t>Las curvas de oferta suelen aumentar la pendiente (mas inclinadas) a largo plazo. </a:t>
            </a:r>
          </a:p>
        </p:txBody>
      </p:sp>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16" name="Shape 316"/>
        <p:cNvGrpSpPr/>
        <p:nvPr/>
      </p:nvGrpSpPr>
      <p:grpSpPr>
        <a:xfrm>
          <a:off x="0" y="0"/>
          <a:ext cx="0" cy="0"/>
          <a:chOff x="0" y="0"/>
          <a:chExt cx="0" cy="0"/>
        </a:xfrm>
      </p:grpSpPr>
      <p:pic>
        <p:nvPicPr>
          <p:cNvPr id="317" name="Shape 317"/>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318" name="Shape 318"/>
          <p:cNvSpPr txBox="1"/>
          <p:nvPr/>
        </p:nvSpPr>
        <p:spPr>
          <a:xfrm>
            <a:off x="3487737" y="304800"/>
            <a:ext cx="5386387"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ELASTICIDAD DE LA OFERTA </a:t>
            </a:r>
          </a:p>
        </p:txBody>
      </p:sp>
      <p:pic>
        <p:nvPicPr>
          <p:cNvPr id="319" name="Shape 319"/>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320" name="Shape 320"/>
          <p:cNvSpPr txBox="1"/>
          <p:nvPr/>
        </p:nvSpPr>
        <p:spPr>
          <a:xfrm>
            <a:off x="263525" y="1828800"/>
            <a:ext cx="8423274" cy="3387725"/>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1800" u="none" cap="none" strike="noStrike">
                <a:solidFill>
                  <a:schemeClr val="dk1"/>
                </a:solidFill>
                <a:latin typeface="Arial"/>
                <a:ea typeface="Arial"/>
                <a:cs typeface="Arial"/>
                <a:sym typeface="Arial"/>
              </a:rPr>
              <a:t>La experiencia de los países en proceso de desarrollo económico enseña que uno de los obstáculos más importantes al logro de una tasa de crecimiento compatible con el equilibrio global es la </a:t>
            </a:r>
            <a:r>
              <a:rPr b="1" i="1" lang="en-US" sz="1800" u="none" cap="none" strike="noStrike">
                <a:solidFill>
                  <a:srgbClr val="FF0000"/>
                </a:solidFill>
                <a:latin typeface="Arial"/>
                <a:ea typeface="Arial"/>
                <a:cs typeface="Arial"/>
                <a:sym typeface="Arial"/>
              </a:rPr>
              <a:t>reducida elasticidad de la oferta</a:t>
            </a:r>
            <a:r>
              <a:rPr b="1" i="1" lang="en-US" sz="1800" u="none" cap="none" strike="noStrike">
                <a:solidFill>
                  <a:schemeClr val="dk1"/>
                </a:solidFill>
                <a:latin typeface="Arial"/>
                <a:ea typeface="Arial"/>
                <a:cs typeface="Arial"/>
                <a:sym typeface="Arial"/>
              </a:rPr>
              <a:t>. En consecuencia, en un país con un sistema de empresa privada y deficitario en la producción de alimentos, tiene gran importancia hacer un estudio detallado de:</a:t>
            </a:r>
          </a:p>
          <a:p>
            <a:pPr indent="-469900" lvl="2" marL="914400" marR="0" rtl="0" algn="l">
              <a:lnSpc>
                <a:spcPct val="100000"/>
              </a:lnSpc>
              <a:spcBef>
                <a:spcPts val="0"/>
              </a:spcBef>
              <a:spcAft>
                <a:spcPts val="0"/>
              </a:spcAft>
              <a:buClr>
                <a:schemeClr val="dk1"/>
              </a:buClr>
              <a:buSzPct val="100000"/>
              <a:buFont typeface="Noto Symbol"/>
              <a:buChar char="❖"/>
            </a:pPr>
            <a:r>
              <a:rPr b="1" i="1" lang="en-US" sz="1800" u="none" cap="none" strike="noStrike">
                <a:solidFill>
                  <a:schemeClr val="dk1"/>
                </a:solidFill>
                <a:latin typeface="Arial"/>
                <a:ea typeface="Arial"/>
                <a:cs typeface="Arial"/>
                <a:sym typeface="Arial"/>
              </a:rPr>
              <a:t>El comportamiento de la oferta</a:t>
            </a:r>
          </a:p>
          <a:p>
            <a:pPr indent="-469900" lvl="2" marL="914400" marR="0" rtl="0" algn="l">
              <a:lnSpc>
                <a:spcPct val="100000"/>
              </a:lnSpc>
              <a:spcBef>
                <a:spcPts val="0"/>
              </a:spcBef>
              <a:spcAft>
                <a:spcPts val="0"/>
              </a:spcAft>
              <a:buClr>
                <a:schemeClr val="dk1"/>
              </a:buClr>
              <a:buSzPct val="100000"/>
              <a:buFont typeface="Noto Symbol"/>
              <a:buChar char="❖"/>
            </a:pPr>
            <a:r>
              <a:rPr b="1" i="1" lang="en-US" sz="1800" u="none" cap="none" strike="noStrike">
                <a:solidFill>
                  <a:schemeClr val="dk1"/>
                </a:solidFill>
                <a:latin typeface="Arial"/>
                <a:ea typeface="Arial"/>
                <a:cs typeface="Arial"/>
                <a:sym typeface="Arial"/>
              </a:rPr>
              <a:t>Los factores que la determinan</a:t>
            </a:r>
          </a:p>
          <a:p>
            <a:pPr indent="-469900" lvl="2" marL="914400" marR="0" rtl="0" algn="l">
              <a:lnSpc>
                <a:spcPct val="100000"/>
              </a:lnSpc>
              <a:spcBef>
                <a:spcPts val="0"/>
              </a:spcBef>
              <a:spcAft>
                <a:spcPts val="0"/>
              </a:spcAft>
              <a:buClr>
                <a:schemeClr val="dk1"/>
              </a:buClr>
              <a:buSzPct val="100000"/>
              <a:buFont typeface="Noto Symbol"/>
              <a:buChar char="❖"/>
            </a:pPr>
            <a:r>
              <a:rPr b="1" i="1" lang="en-US" sz="1800" u="none" cap="none" strike="noStrike">
                <a:solidFill>
                  <a:schemeClr val="dk1"/>
                </a:solidFill>
                <a:latin typeface="Arial"/>
                <a:ea typeface="Arial"/>
                <a:cs typeface="Arial"/>
                <a:sym typeface="Arial"/>
              </a:rPr>
              <a:t>La relación de causalidad entre la inelasticidad de la oferta y el desequilibrio fundamental del desarrollo económico</a:t>
            </a:r>
          </a:p>
          <a:p>
            <a:pPr indent="-469900" lvl="2" marL="914400" marR="0" rtl="0" algn="l">
              <a:lnSpc>
                <a:spcPct val="100000"/>
              </a:lnSpc>
              <a:spcBef>
                <a:spcPts val="0"/>
              </a:spcBef>
              <a:spcAft>
                <a:spcPts val="0"/>
              </a:spcAft>
              <a:buClr>
                <a:schemeClr val="dk1"/>
              </a:buClr>
              <a:buSzPct val="100000"/>
              <a:buFont typeface="Noto Symbol"/>
              <a:buChar char="❖"/>
            </a:pPr>
            <a:r>
              <a:rPr b="1" i="1" lang="en-US" sz="1800" u="none" cap="none" strike="noStrike">
                <a:solidFill>
                  <a:schemeClr val="dk1"/>
                </a:solidFill>
                <a:latin typeface="Arial"/>
                <a:ea typeface="Arial"/>
                <a:cs typeface="Arial"/>
                <a:sym typeface="Arial"/>
              </a:rPr>
              <a:t>El proceso que sigue para convertirse en un obstáculo al desarrollo.</a:t>
            </a:r>
            <a:r>
              <a:rPr b="0" i="0" lang="en-US" sz="1800" u="none" cap="none" strike="noStrike">
                <a:solidFill>
                  <a:schemeClr val="dk1"/>
                </a:solidFill>
                <a:latin typeface="Arial"/>
                <a:ea typeface="Arial"/>
                <a:cs typeface="Arial"/>
                <a:sym typeface="Arial"/>
              </a:rPr>
              <a:t> </a:t>
            </a:r>
          </a:p>
        </p:txBody>
      </p:sp>
    </p:spTree>
  </p:cSld>
  <p:clrMapOvr>
    <a:masterClrMapping/>
  </p:clrMapOvr>
  <p:transition spd="slow">
    <p:cut/>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24" name="Shape 324"/>
        <p:cNvGrpSpPr/>
        <p:nvPr/>
      </p:nvGrpSpPr>
      <p:grpSpPr>
        <a:xfrm>
          <a:off x="0" y="0"/>
          <a:ext cx="0" cy="0"/>
          <a:chOff x="0" y="0"/>
          <a:chExt cx="0" cy="0"/>
        </a:xfrm>
      </p:grpSpPr>
      <p:pic>
        <p:nvPicPr>
          <p:cNvPr id="325" name="Shape 325"/>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326" name="Shape 326"/>
          <p:cNvSpPr txBox="1"/>
          <p:nvPr/>
        </p:nvSpPr>
        <p:spPr>
          <a:xfrm>
            <a:off x="4043362" y="304800"/>
            <a:ext cx="4206874"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Verdana"/>
              <a:buNone/>
            </a:pPr>
            <a:r>
              <a:rPr b="1" i="1" lang="en-US" sz="2400" u="none" cap="none" strike="noStrike">
                <a:solidFill>
                  <a:schemeClr val="dk1"/>
                </a:solidFill>
                <a:latin typeface="Verdana"/>
                <a:ea typeface="Verdana"/>
                <a:cs typeface="Verdana"/>
                <a:sym typeface="Verdana"/>
              </a:rPr>
              <a:t>Teoría de la Producción</a:t>
            </a:r>
          </a:p>
        </p:txBody>
      </p:sp>
      <p:pic>
        <p:nvPicPr>
          <p:cNvPr id="327" name="Shape 327"/>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328" name="Shape 328"/>
          <p:cNvSpPr txBox="1"/>
          <p:nvPr/>
        </p:nvSpPr>
        <p:spPr>
          <a:xfrm>
            <a:off x="747712" y="1752600"/>
            <a:ext cx="7502524" cy="1524000"/>
          </a:xfrm>
          <a:prstGeom prst="rect">
            <a:avLst/>
          </a:prstGeom>
          <a:solidFill>
            <a:srgbClr val="FFFFFF"/>
          </a:solidFill>
          <a:ln>
            <a:noFill/>
          </a:ln>
        </p:spPr>
        <p:txBody>
          <a:bodyPr anchorCtr="0" anchor="ctr" bIns="45700" lIns="91425" rIns="91425" tIns="45700">
            <a:noAutofit/>
          </a:bodyPr>
          <a:lstStyle/>
          <a:p>
            <a:pPr indent="-342900" lvl="1" marL="800100" marR="0" rtl="0" algn="ctr">
              <a:lnSpc>
                <a:spcPct val="100000"/>
              </a:lnSpc>
              <a:spcBef>
                <a:spcPts val="0"/>
              </a:spcBef>
              <a:spcAft>
                <a:spcPts val="0"/>
              </a:spcAft>
              <a:buClr>
                <a:srgbClr val="FF0000"/>
              </a:buClr>
              <a:buSzPct val="25000"/>
              <a:buFont typeface="Arial"/>
              <a:buNone/>
            </a:pPr>
            <a:r>
              <a:rPr b="0" i="0" lang="en-US" sz="2400" u="none" cap="none" strike="noStrike">
                <a:solidFill>
                  <a:srgbClr val="FF0000"/>
                </a:solidFill>
                <a:latin typeface="Arial"/>
                <a:ea typeface="Arial"/>
                <a:cs typeface="Arial"/>
                <a:sym typeface="Arial"/>
              </a:rPr>
              <a:t>ANALISIS DEL EQUILIBRIO DEL PRODUCTOR </a:t>
            </a:r>
          </a:p>
          <a:p>
            <a:pPr indent="-342900" lvl="1" marL="800100" marR="0" rtl="0" algn="ctr">
              <a:lnSpc>
                <a:spcPct val="100000"/>
              </a:lnSpc>
              <a:spcBef>
                <a:spcPts val="0"/>
              </a:spcBef>
              <a:spcAft>
                <a:spcPts val="0"/>
              </a:spcAft>
              <a:buClr>
                <a:srgbClr val="FF0000"/>
              </a:buClr>
              <a:buSzPct val="25000"/>
              <a:buFont typeface="Arial"/>
              <a:buNone/>
            </a:pPr>
            <a:r>
              <a:rPr b="0" i="0" lang="en-US" sz="2400" u="none" cap="none" strike="noStrike">
                <a:solidFill>
                  <a:srgbClr val="FF0000"/>
                </a:solidFill>
                <a:latin typeface="Arial"/>
                <a:ea typeface="Arial"/>
                <a:cs typeface="Arial"/>
                <a:sym typeface="Arial"/>
              </a:rPr>
              <a:t>A LARGO PLAZO</a:t>
            </a:r>
          </a:p>
        </p:txBody>
      </p:sp>
      <p:sp>
        <p:nvSpPr>
          <p:cNvPr id="329" name="Shape 329"/>
          <p:cNvSpPr txBox="1"/>
          <p:nvPr/>
        </p:nvSpPr>
        <p:spPr>
          <a:xfrm>
            <a:off x="747712" y="4114800"/>
            <a:ext cx="8126411" cy="914400"/>
          </a:xfrm>
          <a:prstGeom prst="rect">
            <a:avLst/>
          </a:prstGeom>
          <a:solidFill>
            <a:srgbClr val="FFFF99"/>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2000" u="none" cap="none" strike="noStrike">
                <a:solidFill>
                  <a:schemeClr val="dk1"/>
                </a:solidFill>
                <a:latin typeface="Arial"/>
                <a:ea typeface="Arial"/>
                <a:cs typeface="Arial"/>
                <a:sym typeface="Arial"/>
              </a:rPr>
              <a:t>TODOS LOS FACTORES DE LA PRODUCCIÓN SON VARIABLES</a:t>
            </a:r>
          </a:p>
        </p:txBody>
      </p:sp>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33" name="Shape 333"/>
        <p:cNvGrpSpPr/>
        <p:nvPr/>
      </p:nvGrpSpPr>
      <p:grpSpPr>
        <a:xfrm>
          <a:off x="0" y="0"/>
          <a:ext cx="0" cy="0"/>
          <a:chOff x="0" y="0"/>
          <a:chExt cx="0" cy="0"/>
        </a:xfrm>
      </p:grpSpPr>
      <p:pic>
        <p:nvPicPr>
          <p:cNvPr id="334" name="Shape 334"/>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335" name="Shape 335"/>
          <p:cNvSpPr txBox="1"/>
          <p:nvPr/>
        </p:nvSpPr>
        <p:spPr>
          <a:xfrm>
            <a:off x="4648200" y="304800"/>
            <a:ext cx="2286000"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Arial"/>
              <a:buNone/>
            </a:pPr>
            <a:r>
              <a:rPr b="1" i="1" lang="en-US" sz="2400" u="none" cap="none" strike="noStrike">
                <a:solidFill>
                  <a:srgbClr val="000000"/>
                </a:solidFill>
                <a:latin typeface="Arial"/>
                <a:ea typeface="Arial"/>
                <a:cs typeface="Arial"/>
                <a:sym typeface="Arial"/>
              </a:rPr>
              <a:t>ISOCUANTA</a:t>
            </a:r>
          </a:p>
        </p:txBody>
      </p:sp>
      <p:pic>
        <p:nvPicPr>
          <p:cNvPr id="336" name="Shape 336"/>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337" name="Shape 337"/>
          <p:cNvSpPr txBox="1"/>
          <p:nvPr/>
        </p:nvSpPr>
        <p:spPr>
          <a:xfrm>
            <a:off x="457200" y="2201861"/>
            <a:ext cx="8416924" cy="1006474"/>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0" lang="en-US" sz="2000" u="none" cap="none" strike="noStrike">
                <a:solidFill>
                  <a:srgbClr val="FF0000"/>
                </a:solidFill>
                <a:latin typeface="Arial"/>
                <a:ea typeface="Arial"/>
                <a:cs typeface="Arial"/>
                <a:sym typeface="Arial"/>
              </a:rPr>
              <a:t>Isocuanta</a:t>
            </a:r>
            <a:r>
              <a:rPr b="0" i="0" lang="en-US" sz="2000" u="none" cap="none" strike="noStrike">
                <a:solidFill>
                  <a:schemeClr val="dk1"/>
                </a:solidFill>
                <a:latin typeface="Arial"/>
                <a:ea typeface="Arial"/>
                <a:cs typeface="Arial"/>
                <a:sym typeface="Arial"/>
              </a:rPr>
              <a:t> (del griego </a:t>
            </a:r>
            <a:r>
              <a:rPr b="0" i="1" lang="en-US" sz="2000" u="none" cap="none" strike="noStrike">
                <a:solidFill>
                  <a:schemeClr val="dk1"/>
                </a:solidFill>
                <a:latin typeface="Arial"/>
                <a:ea typeface="Arial"/>
                <a:cs typeface="Arial"/>
                <a:sym typeface="Arial"/>
              </a:rPr>
              <a:t>isos </a:t>
            </a:r>
            <a:r>
              <a:rPr b="0" i="0" lang="en-US" sz="2000" u="none" cap="none" strike="noStrike">
                <a:solidFill>
                  <a:schemeClr val="dk1"/>
                </a:solidFill>
                <a:latin typeface="Arial"/>
                <a:ea typeface="Arial"/>
                <a:cs typeface="Arial"/>
                <a:sym typeface="Arial"/>
              </a:rPr>
              <a:t>= igual y del latín = </a:t>
            </a:r>
            <a:r>
              <a:rPr b="0" i="1" lang="en-US" sz="2000" u="none" cap="none" strike="noStrike">
                <a:solidFill>
                  <a:schemeClr val="dk1"/>
                </a:solidFill>
                <a:latin typeface="Arial"/>
                <a:ea typeface="Arial"/>
                <a:cs typeface="Arial"/>
                <a:sym typeface="Arial"/>
              </a:rPr>
              <a:t>quanta </a:t>
            </a:r>
            <a:r>
              <a:rPr b="0" i="0" lang="en-US" sz="2000" u="none" cap="none" strike="noStrike">
                <a:solidFill>
                  <a:schemeClr val="dk1"/>
                </a:solidFill>
                <a:latin typeface="Arial"/>
                <a:ea typeface="Arial"/>
                <a:cs typeface="Arial"/>
                <a:sym typeface="Arial"/>
              </a:rPr>
              <a:t>= cantidades) </a:t>
            </a:r>
          </a:p>
          <a:p>
            <a:pPr indent="0" lvl="0" marL="0" marR="0" rtl="0" algn="l">
              <a:lnSpc>
                <a:spcPct val="100000"/>
              </a:lnSpc>
              <a:spcBef>
                <a:spcPts val="0"/>
              </a:spcBef>
              <a:spcAft>
                <a:spcPts val="0"/>
              </a:spcAft>
              <a:buClr>
                <a:schemeClr val="dk1"/>
              </a:buClr>
              <a:buSzPct val="25000"/>
              <a:buFont typeface="Arial"/>
              <a:buNone/>
            </a:pPr>
            <a:r>
              <a:rPr b="0" i="0" lang="en-US" sz="2000" u="none" cap="none" strike="noStrike">
                <a:solidFill>
                  <a:schemeClr val="dk1"/>
                </a:solidFill>
                <a:latin typeface="Arial"/>
                <a:ea typeface="Arial"/>
                <a:cs typeface="Arial"/>
                <a:sym typeface="Arial"/>
              </a:rPr>
              <a:t>representa diferentes combinaciones de factores que proporcionan </a:t>
            </a:r>
          </a:p>
          <a:p>
            <a:pPr indent="0" lvl="0" marL="0" marR="0" rtl="0" algn="l">
              <a:lnSpc>
                <a:spcPct val="100000"/>
              </a:lnSpc>
              <a:spcBef>
                <a:spcPts val="0"/>
              </a:spcBef>
              <a:spcAft>
                <a:spcPts val="0"/>
              </a:spcAft>
              <a:buClr>
                <a:schemeClr val="dk1"/>
              </a:buClr>
              <a:buSzPct val="25000"/>
              <a:buFont typeface="Arial"/>
              <a:buNone/>
            </a:pPr>
            <a:r>
              <a:rPr b="0" i="0" lang="en-US" sz="2000" u="none" cap="none" strike="noStrike">
                <a:solidFill>
                  <a:schemeClr val="dk1"/>
                </a:solidFill>
                <a:latin typeface="Arial"/>
                <a:ea typeface="Arial"/>
                <a:cs typeface="Arial"/>
                <a:sym typeface="Arial"/>
              </a:rPr>
              <a:t>una misma cantidad de producto. </a:t>
            </a:r>
          </a:p>
        </p:txBody>
      </p:sp>
      <p:sp>
        <p:nvSpPr>
          <p:cNvPr id="338" name="Shape 338"/>
          <p:cNvSpPr txBox="1"/>
          <p:nvPr/>
        </p:nvSpPr>
        <p:spPr>
          <a:xfrm>
            <a:off x="457200" y="4343400"/>
            <a:ext cx="7848599" cy="1616074"/>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2000" u="none" cap="none" strike="noStrike">
                <a:solidFill>
                  <a:schemeClr val="dk1"/>
                </a:solidFill>
                <a:latin typeface="Arial"/>
                <a:ea typeface="Arial"/>
                <a:cs typeface="Arial"/>
                <a:sym typeface="Arial"/>
              </a:rPr>
              <a:t>Una </a:t>
            </a:r>
            <a:r>
              <a:rPr b="1" i="0" lang="en-US" sz="2000" u="none" cap="none" strike="noStrike">
                <a:solidFill>
                  <a:srgbClr val="FF0000"/>
                </a:solidFill>
                <a:latin typeface="Arial"/>
                <a:ea typeface="Arial"/>
                <a:cs typeface="Arial"/>
                <a:sym typeface="Arial"/>
              </a:rPr>
              <a:t>isocuanta</a:t>
            </a:r>
            <a:r>
              <a:rPr b="0" i="0" lang="en-US" sz="2000" u="none" cap="none" strike="noStrike">
                <a:solidFill>
                  <a:srgbClr val="FF0000"/>
                </a:solidFill>
                <a:latin typeface="Arial"/>
                <a:ea typeface="Arial"/>
                <a:cs typeface="Arial"/>
                <a:sym typeface="Arial"/>
              </a:rPr>
              <a:t> </a:t>
            </a:r>
            <a:r>
              <a:rPr b="0" i="0" lang="en-US" sz="2000" u="none" cap="none" strike="noStrike">
                <a:solidFill>
                  <a:schemeClr val="dk1"/>
                </a:solidFill>
                <a:latin typeface="Arial"/>
                <a:ea typeface="Arial"/>
                <a:cs typeface="Arial"/>
                <a:sym typeface="Arial"/>
              </a:rPr>
              <a:t>de producción es la curva que representa un espacio de insumos (todos variables) que muestran todas las combinaciones posibles de dos o más insumos o factores de producción que son físicamente capaces de generar un mismo nivel o volumen de producción. </a:t>
            </a:r>
          </a:p>
        </p:txBody>
      </p:sp>
    </p:spTree>
  </p:cSld>
  <p:clrMapOvr>
    <a:masterClrMapping/>
  </p:clrMapOvr>
  <p:transition spd="slow">
    <p:cut/>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42" name="Shape 342"/>
        <p:cNvGrpSpPr/>
        <p:nvPr/>
      </p:nvGrpSpPr>
      <p:grpSpPr>
        <a:xfrm>
          <a:off x="0" y="0"/>
          <a:ext cx="0" cy="0"/>
          <a:chOff x="0" y="0"/>
          <a:chExt cx="0" cy="0"/>
        </a:xfrm>
      </p:grpSpPr>
      <p:pic>
        <p:nvPicPr>
          <p:cNvPr id="343" name="Shape 343"/>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344" name="Shape 344"/>
          <p:cNvPicPr preferRelativeResize="0"/>
          <p:nvPr/>
        </p:nvPicPr>
        <p:blipFill rotWithShape="1">
          <a:blip r:embed="rId4">
            <a:alphaModFix/>
          </a:blip>
          <a:srcRect b="0" l="0" r="0" t="0"/>
          <a:stretch/>
        </p:blipFill>
        <p:spPr>
          <a:xfrm>
            <a:off x="334962" y="1776411"/>
            <a:ext cx="8626474" cy="5114925"/>
          </a:xfrm>
          <a:prstGeom prst="rect">
            <a:avLst/>
          </a:prstGeom>
          <a:noFill/>
          <a:ln>
            <a:noFill/>
          </a:ln>
        </p:spPr>
      </p:pic>
      <p:pic>
        <p:nvPicPr>
          <p:cNvPr id="345" name="Shape 345"/>
          <p:cNvPicPr preferRelativeResize="0"/>
          <p:nvPr/>
        </p:nvPicPr>
        <p:blipFill rotWithShape="1">
          <a:blip r:embed="rId5">
            <a:alphaModFix/>
          </a:blip>
          <a:srcRect b="0" l="0" r="0" t="0"/>
          <a:stretch/>
        </p:blipFill>
        <p:spPr>
          <a:xfrm>
            <a:off x="255587" y="319087"/>
            <a:ext cx="3013074" cy="608011"/>
          </a:xfrm>
          <a:prstGeom prst="rect">
            <a:avLst/>
          </a:prstGeom>
          <a:noFill/>
          <a:ln>
            <a:noFill/>
          </a:ln>
        </p:spPr>
      </p:pic>
      <p:grpSp>
        <p:nvGrpSpPr>
          <p:cNvPr id="346" name="Shape 346"/>
          <p:cNvGrpSpPr/>
          <p:nvPr/>
        </p:nvGrpSpPr>
        <p:grpSpPr>
          <a:xfrm>
            <a:off x="1104900" y="1962582"/>
            <a:ext cx="4089400" cy="4027054"/>
            <a:chOff x="3578224" y="1457325"/>
            <a:chExt cx="13144499" cy="9144000"/>
          </a:xfrm>
        </p:grpSpPr>
        <p:cxnSp>
          <p:nvCxnSpPr>
            <p:cNvPr id="347" name="Shape 347"/>
            <p:cNvCxnSpPr/>
            <p:nvPr/>
          </p:nvCxnSpPr>
          <p:spPr>
            <a:xfrm rot="10800000">
              <a:off x="3578225" y="1457325"/>
              <a:ext cx="1587" cy="8858249"/>
            </a:xfrm>
            <a:prstGeom prst="straightConnector1">
              <a:avLst/>
            </a:prstGeom>
            <a:noFill/>
            <a:ln cap="flat" cmpd="sng" w="25400">
              <a:solidFill>
                <a:srgbClr val="000000"/>
              </a:solidFill>
              <a:prstDash val="solid"/>
              <a:miter/>
              <a:headEnd len="med" w="med" type="none"/>
              <a:tailEnd len="lg" w="lg" type="triangle"/>
            </a:ln>
          </p:spPr>
        </p:cxnSp>
        <p:cxnSp>
          <p:nvCxnSpPr>
            <p:cNvPr id="348" name="Shape 348"/>
            <p:cNvCxnSpPr/>
            <p:nvPr/>
          </p:nvCxnSpPr>
          <p:spPr>
            <a:xfrm>
              <a:off x="3578225" y="10315575"/>
              <a:ext cx="12001500" cy="1587"/>
            </a:xfrm>
            <a:prstGeom prst="straightConnector1">
              <a:avLst/>
            </a:prstGeom>
            <a:noFill/>
            <a:ln cap="flat" cmpd="sng" w="25400">
              <a:solidFill>
                <a:srgbClr val="000000"/>
              </a:solidFill>
              <a:prstDash val="solid"/>
              <a:miter/>
              <a:headEnd len="med" w="med" type="none"/>
              <a:tailEnd len="lg" w="lg" type="triangle"/>
            </a:ln>
          </p:spPr>
        </p:cxnSp>
        <p:sp>
          <p:nvSpPr>
            <p:cNvPr id="349" name="Shape 349"/>
            <p:cNvSpPr/>
            <p:nvPr/>
          </p:nvSpPr>
          <p:spPr>
            <a:xfrm>
              <a:off x="4721225" y="2600325"/>
              <a:ext cx="8185150" cy="7150100"/>
            </a:xfrm>
            <a:custGeom>
              <a:pathLst>
                <a:path extrusionOk="0" h="4504" w="5156">
                  <a:moveTo>
                    <a:pt x="276" y="0"/>
                  </a:moveTo>
                  <a:cubicBezTo>
                    <a:pt x="246" y="90"/>
                    <a:pt x="139" y="343"/>
                    <a:pt x="96" y="540"/>
                  </a:cubicBezTo>
                  <a:cubicBezTo>
                    <a:pt x="53" y="737"/>
                    <a:pt x="24" y="955"/>
                    <a:pt x="17" y="1180"/>
                  </a:cubicBezTo>
                  <a:cubicBezTo>
                    <a:pt x="10" y="1405"/>
                    <a:pt x="0" y="1644"/>
                    <a:pt x="51" y="1890"/>
                  </a:cubicBezTo>
                  <a:cubicBezTo>
                    <a:pt x="102" y="2136"/>
                    <a:pt x="190" y="2388"/>
                    <a:pt x="321" y="2655"/>
                  </a:cubicBezTo>
                  <a:cubicBezTo>
                    <a:pt x="452" y="2922"/>
                    <a:pt x="568" y="3233"/>
                    <a:pt x="836" y="3492"/>
                  </a:cubicBezTo>
                  <a:cubicBezTo>
                    <a:pt x="1104" y="3751"/>
                    <a:pt x="1538" y="4049"/>
                    <a:pt x="1931" y="4212"/>
                  </a:cubicBezTo>
                  <a:cubicBezTo>
                    <a:pt x="2324" y="4375"/>
                    <a:pt x="2766" y="4430"/>
                    <a:pt x="3191" y="4467"/>
                  </a:cubicBezTo>
                  <a:cubicBezTo>
                    <a:pt x="3616" y="4504"/>
                    <a:pt x="4154" y="4474"/>
                    <a:pt x="4481" y="4437"/>
                  </a:cubicBezTo>
                  <a:cubicBezTo>
                    <a:pt x="4808" y="4400"/>
                    <a:pt x="5016" y="4283"/>
                    <a:pt x="5156" y="4242"/>
                  </a:cubicBezTo>
                </a:path>
              </a:pathLst>
            </a:custGeom>
            <a:solidFill>
              <a:srgbClr val="FFFFFF"/>
            </a:solidFill>
            <a:ln cap="flat" cmpd="sng" w="254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350" name="Shape 350"/>
            <p:cNvCxnSpPr/>
            <p:nvPr/>
          </p:nvCxnSpPr>
          <p:spPr>
            <a:xfrm>
              <a:off x="4721225" y="4886325"/>
              <a:ext cx="1587" cy="5429249"/>
            </a:xfrm>
            <a:prstGeom prst="straightConnector1">
              <a:avLst/>
            </a:prstGeom>
            <a:noFill/>
            <a:ln cap="flat" cmpd="sng" w="9525">
              <a:solidFill>
                <a:srgbClr val="0000FF"/>
              </a:solidFill>
              <a:prstDash val="solid"/>
              <a:miter/>
              <a:headEnd len="med" w="med" type="oval"/>
              <a:tailEnd len="med" w="med" type="none"/>
            </a:ln>
          </p:spPr>
        </p:cxnSp>
        <p:cxnSp>
          <p:nvCxnSpPr>
            <p:cNvPr id="351" name="Shape 351"/>
            <p:cNvCxnSpPr/>
            <p:nvPr/>
          </p:nvCxnSpPr>
          <p:spPr>
            <a:xfrm flipH="1">
              <a:off x="3578224" y="9744075"/>
              <a:ext cx="6858000" cy="1587"/>
            </a:xfrm>
            <a:prstGeom prst="straightConnector1">
              <a:avLst/>
            </a:prstGeom>
            <a:noFill/>
            <a:ln cap="flat" cmpd="sng" w="9525">
              <a:solidFill>
                <a:srgbClr val="FF0000"/>
              </a:solidFill>
              <a:prstDash val="solid"/>
              <a:miter/>
              <a:headEnd len="med" w="med" type="oval"/>
              <a:tailEnd len="med" w="med" type="none"/>
            </a:ln>
          </p:spPr>
        </p:cxnSp>
        <p:sp>
          <p:nvSpPr>
            <p:cNvPr id="352" name="Shape 352"/>
            <p:cNvSpPr txBox="1"/>
            <p:nvPr/>
          </p:nvSpPr>
          <p:spPr>
            <a:xfrm>
              <a:off x="12722225" y="9172575"/>
              <a:ext cx="1143000" cy="857250"/>
            </a:xfrm>
            <a:prstGeom prst="rect">
              <a:avLst/>
            </a:prstGeom>
            <a:solidFill>
              <a:srgbClr val="FFFFFF"/>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Q</a:t>
              </a:r>
            </a:p>
          </p:txBody>
        </p:sp>
        <p:sp>
          <p:nvSpPr>
            <p:cNvPr id="353" name="Shape 353"/>
            <p:cNvSpPr txBox="1"/>
            <p:nvPr/>
          </p:nvSpPr>
          <p:spPr>
            <a:xfrm>
              <a:off x="13865225" y="9744075"/>
              <a:ext cx="2857499" cy="857250"/>
            </a:xfrm>
            <a:prstGeom prst="rect">
              <a:avLst/>
            </a:prstGeom>
            <a:solidFill>
              <a:srgbClr val="FFFFFF"/>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000" u="none" cap="none" strike="noStrike">
                  <a:solidFill>
                    <a:schemeClr val="dk1"/>
                  </a:solidFill>
                  <a:latin typeface="Arial"/>
                  <a:ea typeface="Arial"/>
                  <a:cs typeface="Arial"/>
                  <a:sym typeface="Arial"/>
                </a:rPr>
                <a:t>FACTOR X</a:t>
              </a:r>
            </a:p>
          </p:txBody>
        </p:sp>
        <p:sp>
          <p:nvSpPr>
            <p:cNvPr id="354" name="Shape 354"/>
            <p:cNvSpPr txBox="1"/>
            <p:nvPr/>
          </p:nvSpPr>
          <p:spPr>
            <a:xfrm>
              <a:off x="3578225" y="1457325"/>
              <a:ext cx="2857499" cy="857250"/>
            </a:xfrm>
            <a:prstGeom prst="rect">
              <a:avLst/>
            </a:prstGeom>
            <a:solidFill>
              <a:srgbClr val="FFFFFF"/>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000" u="none" cap="none" strike="noStrike">
                  <a:solidFill>
                    <a:schemeClr val="dk1"/>
                  </a:solidFill>
                  <a:latin typeface="Arial"/>
                  <a:ea typeface="Arial"/>
                  <a:cs typeface="Arial"/>
                  <a:sym typeface="Arial"/>
                </a:rPr>
                <a:t>FACTOR Y</a:t>
              </a:r>
            </a:p>
          </p:txBody>
        </p:sp>
        <p:sp>
          <p:nvSpPr>
            <p:cNvPr id="355" name="Shape 355"/>
            <p:cNvSpPr txBox="1"/>
            <p:nvPr/>
          </p:nvSpPr>
          <p:spPr>
            <a:xfrm>
              <a:off x="7578725" y="1838325"/>
              <a:ext cx="8001000" cy="857250"/>
            </a:xfrm>
            <a:prstGeom prst="rect">
              <a:avLst/>
            </a:prstGeom>
            <a:solidFill>
              <a:srgbClr val="FFFFFF"/>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1200" u="none" cap="none" strike="noStrike">
                  <a:solidFill>
                    <a:schemeClr val="dk1"/>
                  </a:solidFill>
                  <a:latin typeface="Arial"/>
                  <a:ea typeface="Arial"/>
                  <a:cs typeface="Arial"/>
                  <a:sym typeface="Arial"/>
                </a:rPr>
                <a:t>CURVA ISOCUANTA</a:t>
              </a:r>
            </a:p>
          </p:txBody>
        </p:sp>
        <p:sp>
          <p:nvSpPr>
            <p:cNvPr id="356" name="Shape 356"/>
            <p:cNvSpPr txBox="1"/>
            <p:nvPr/>
          </p:nvSpPr>
          <p:spPr>
            <a:xfrm>
              <a:off x="7864475" y="3457575"/>
              <a:ext cx="7429500" cy="4572000"/>
            </a:xfrm>
            <a:prstGeom prst="rect">
              <a:avLst/>
            </a:prstGeom>
            <a:solidFill>
              <a:srgbClr val="FFFF99">
                <a:alpha val="74901"/>
              </a:srgbClr>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0" lang="en-US" sz="1200" u="none" cap="none" strike="noStrike">
                  <a:solidFill>
                    <a:srgbClr val="FF0000"/>
                  </a:solidFill>
                  <a:latin typeface="Arial"/>
                  <a:ea typeface="Arial"/>
                  <a:cs typeface="Arial"/>
                  <a:sym typeface="Arial"/>
                </a:rPr>
                <a:t>Q = F (Y; X)</a:t>
              </a:r>
            </a:p>
            <a:p>
              <a:pPr indent="0" lvl="0" marL="0" marR="0" rtl="0" algn="l">
                <a:lnSpc>
                  <a:spcPct val="100000"/>
                </a:lnSpc>
                <a:spcBef>
                  <a:spcPts val="0"/>
                </a:spcBef>
                <a:spcAft>
                  <a:spcPts val="0"/>
                </a:spcAft>
                <a:buClr>
                  <a:srgbClr val="FF0000"/>
                </a:buClr>
                <a:buSzPct val="25000"/>
                <a:buFont typeface="Arial"/>
                <a:buNone/>
              </a:pPr>
              <a:r>
                <a:rPr b="1" i="0" lang="en-US" sz="1200" u="none" cap="none" strike="noStrike">
                  <a:solidFill>
                    <a:srgbClr val="FF0000"/>
                  </a:solidFill>
                  <a:latin typeface="Arial"/>
                  <a:ea typeface="Arial"/>
                  <a:cs typeface="Arial"/>
                  <a:sym typeface="Arial"/>
                </a:rPr>
                <a:t>∂Q/∂F= 0 </a:t>
              </a:r>
            </a:p>
            <a:p>
              <a:pPr indent="0" lvl="0" marL="0" marR="0" rtl="0" algn="l">
                <a:lnSpc>
                  <a:spcPct val="100000"/>
                </a:lnSpc>
                <a:spcBef>
                  <a:spcPts val="0"/>
                </a:spcBef>
                <a:spcAft>
                  <a:spcPts val="0"/>
                </a:spcAft>
                <a:buClr>
                  <a:srgbClr val="FF0000"/>
                </a:buClr>
                <a:buSzPct val="25000"/>
                <a:buFont typeface="Arial"/>
                <a:buNone/>
              </a:pPr>
              <a:r>
                <a:rPr b="1" i="0" lang="en-US" sz="1200" u="none" cap="none" strike="noStrike">
                  <a:solidFill>
                    <a:srgbClr val="FF0000"/>
                  </a:solidFill>
                  <a:latin typeface="Arial"/>
                  <a:ea typeface="Arial"/>
                  <a:cs typeface="Arial"/>
                  <a:sym typeface="Arial"/>
                </a:rPr>
                <a:t>(∂Q/∂Y) * ∂Y + (∂Q/∂X) * ∂X = 0</a:t>
              </a:r>
            </a:p>
            <a:p>
              <a:pPr indent="0" lvl="0" marL="0" marR="0" rtl="0" algn="l">
                <a:lnSpc>
                  <a:spcPct val="100000"/>
                </a:lnSpc>
                <a:spcBef>
                  <a:spcPts val="0"/>
                </a:spcBef>
                <a:spcAft>
                  <a:spcPts val="0"/>
                </a:spcAft>
                <a:buClr>
                  <a:schemeClr val="dk1"/>
                </a:buClr>
                <a:buFont typeface="Calibri"/>
                <a:buNone/>
              </a:pPr>
              <a:r>
                <a:t/>
              </a:r>
              <a:endParaRPr b="1" i="0" sz="12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ct val="25000"/>
                <a:buFont typeface="Arial"/>
                <a:buNone/>
              </a:pPr>
              <a:r>
                <a:rPr b="1" i="0" lang="en-US" sz="1200" u="none" cap="none" strike="noStrike">
                  <a:solidFill>
                    <a:srgbClr val="FF0000"/>
                  </a:solidFill>
                  <a:latin typeface="Arial"/>
                  <a:ea typeface="Arial"/>
                  <a:cs typeface="Arial"/>
                  <a:sym typeface="Arial"/>
                </a:rPr>
                <a:t>(∂Q/∂Y) = PmaY</a:t>
              </a:r>
            </a:p>
            <a:p>
              <a:pPr indent="0" lvl="0" marL="0" marR="0" rtl="0" algn="l">
                <a:lnSpc>
                  <a:spcPct val="100000"/>
                </a:lnSpc>
                <a:spcBef>
                  <a:spcPts val="0"/>
                </a:spcBef>
                <a:spcAft>
                  <a:spcPts val="0"/>
                </a:spcAft>
                <a:buClr>
                  <a:srgbClr val="FF0000"/>
                </a:buClr>
                <a:buSzPct val="25000"/>
                <a:buFont typeface="Arial"/>
                <a:buNone/>
              </a:pPr>
              <a:r>
                <a:rPr b="1" i="0" lang="en-US" sz="1200" u="none" cap="none" strike="noStrike">
                  <a:solidFill>
                    <a:srgbClr val="FF0000"/>
                  </a:solidFill>
                  <a:latin typeface="Arial"/>
                  <a:ea typeface="Arial"/>
                  <a:cs typeface="Arial"/>
                  <a:sym typeface="Arial"/>
                </a:rPr>
                <a:t>(∂Q/∂X) = PmaX</a:t>
              </a:r>
            </a:p>
            <a:p>
              <a:pPr indent="0" lvl="0" marL="0" marR="0" rtl="0" algn="l">
                <a:lnSpc>
                  <a:spcPct val="100000"/>
                </a:lnSpc>
                <a:spcBef>
                  <a:spcPts val="0"/>
                </a:spcBef>
                <a:spcAft>
                  <a:spcPts val="0"/>
                </a:spcAft>
                <a:buClr>
                  <a:schemeClr val="dk1"/>
                </a:buClr>
                <a:buFont typeface="Calibri"/>
                <a:buNone/>
              </a:pPr>
              <a:r>
                <a:t/>
              </a:r>
              <a:endParaRPr b="1" i="0" sz="12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ct val="25000"/>
                <a:buFont typeface="Arial"/>
                <a:buNone/>
              </a:pPr>
              <a:r>
                <a:rPr b="1" i="0" lang="en-US" sz="1200" u="none" cap="none" strike="noStrike">
                  <a:solidFill>
                    <a:srgbClr val="FF0000"/>
                  </a:solidFill>
                  <a:latin typeface="Arial"/>
                  <a:ea typeface="Arial"/>
                  <a:cs typeface="Arial"/>
                  <a:sym typeface="Arial"/>
                </a:rPr>
                <a:t>PmaY * ∂Y + PmaX * ∂X = 0</a:t>
              </a:r>
            </a:p>
            <a:p>
              <a:pPr indent="0" lvl="0" marL="0" marR="0" rtl="0" algn="l">
                <a:lnSpc>
                  <a:spcPct val="100000"/>
                </a:lnSpc>
                <a:spcBef>
                  <a:spcPts val="0"/>
                </a:spcBef>
                <a:spcAft>
                  <a:spcPts val="0"/>
                </a:spcAft>
                <a:buClr>
                  <a:schemeClr val="dk1"/>
                </a:buClr>
                <a:buFont typeface="Calibri"/>
                <a:buNone/>
              </a:pPr>
              <a:r>
                <a:t/>
              </a:r>
              <a:endParaRPr b="1" i="0" sz="12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ct val="25000"/>
                <a:buFont typeface="Arial"/>
                <a:buNone/>
              </a:pPr>
              <a:r>
                <a:rPr b="1" i="0" lang="en-US" sz="1000" u="none" cap="none" strike="noStrike">
                  <a:solidFill>
                    <a:srgbClr val="FF0000"/>
                  </a:solidFill>
                  <a:latin typeface="Arial"/>
                  <a:ea typeface="Arial"/>
                  <a:cs typeface="Arial"/>
                  <a:sym typeface="Arial"/>
                </a:rPr>
                <a:t>PmaY / PmaX</a:t>
              </a:r>
              <a:r>
                <a:rPr b="1" i="0" lang="en-US" sz="1200" u="none" cap="none" strike="noStrike">
                  <a:solidFill>
                    <a:srgbClr val="FF0000"/>
                  </a:solidFill>
                  <a:latin typeface="Arial"/>
                  <a:ea typeface="Arial"/>
                  <a:cs typeface="Arial"/>
                  <a:sym typeface="Arial"/>
                </a:rPr>
                <a:t> </a:t>
              </a:r>
              <a:r>
                <a:rPr b="1" i="0" lang="en-US" sz="1000" u="none" cap="none" strike="noStrike">
                  <a:solidFill>
                    <a:srgbClr val="FF0000"/>
                  </a:solidFill>
                  <a:latin typeface="Arial"/>
                  <a:ea typeface="Arial"/>
                  <a:cs typeface="Arial"/>
                  <a:sym typeface="Arial"/>
                </a:rPr>
                <a:t>= - ∂X/∂Y</a:t>
              </a:r>
              <a:r>
                <a:rPr b="0" i="0" lang="en-US" sz="1200" u="none" cap="none" strike="noStrike">
                  <a:solidFill>
                    <a:schemeClr val="dk1"/>
                  </a:solidFill>
                  <a:latin typeface="Arial"/>
                  <a:ea typeface="Arial"/>
                  <a:cs typeface="Arial"/>
                  <a:sym typeface="Arial"/>
                </a:rPr>
                <a:t> </a:t>
              </a:r>
              <a:r>
                <a:rPr b="1" i="0" lang="en-US" sz="1000" u="none" cap="none" strike="noStrike">
                  <a:solidFill>
                    <a:srgbClr val="FF0000"/>
                  </a:solidFill>
                  <a:latin typeface="Arial"/>
                  <a:ea typeface="Arial"/>
                  <a:cs typeface="Arial"/>
                  <a:sym typeface="Arial"/>
                </a:rPr>
                <a:t>=TMST</a:t>
              </a:r>
              <a:r>
                <a:rPr b="1" baseline="-25000" i="0" lang="en-US" sz="1000" u="none" cap="none" strike="noStrike">
                  <a:solidFill>
                    <a:srgbClr val="FF0000"/>
                  </a:solidFill>
                  <a:latin typeface="Arial"/>
                  <a:ea typeface="Arial"/>
                  <a:cs typeface="Arial"/>
                  <a:sym typeface="Arial"/>
                </a:rPr>
                <a:t>YX</a:t>
              </a:r>
            </a:p>
            <a:p>
              <a:pPr indent="0" lvl="0" marL="0" marR="0" rtl="0" algn="l">
                <a:lnSpc>
                  <a:spcPct val="100000"/>
                </a:lnSpc>
                <a:spcBef>
                  <a:spcPts val="0"/>
                </a:spcBef>
                <a:spcAft>
                  <a:spcPts val="0"/>
                </a:spcAft>
                <a:buNone/>
              </a:pPr>
              <a:r>
                <a:t/>
              </a:r>
              <a:endParaRPr b="1" i="0" sz="1000" u="none" cap="none" strike="noStrike">
                <a:solidFill>
                  <a:srgbClr val="FF0000"/>
                </a:solidFill>
                <a:latin typeface="Arial"/>
                <a:ea typeface="Arial"/>
                <a:cs typeface="Arial"/>
                <a:sym typeface="Arial"/>
              </a:endParaRPr>
            </a:p>
          </p:txBody>
        </p:sp>
        <p:sp>
          <p:nvSpPr>
            <p:cNvPr id="357" name="Shape 357"/>
            <p:cNvSpPr txBox="1"/>
            <p:nvPr/>
          </p:nvSpPr>
          <p:spPr>
            <a:xfrm>
              <a:off x="4721225" y="4600575"/>
              <a:ext cx="3143249" cy="14287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FF"/>
                </a:buClr>
                <a:buSzPct val="25000"/>
                <a:buFont typeface="Arial"/>
                <a:buNone/>
              </a:pPr>
              <a:r>
                <a:rPr b="0" i="0" lang="en-US" sz="1200" u="none" cap="none" strike="noStrike">
                  <a:solidFill>
                    <a:srgbClr val="0000FF"/>
                  </a:solidFill>
                  <a:latin typeface="Arial"/>
                  <a:ea typeface="Arial"/>
                  <a:cs typeface="Arial"/>
                  <a:sym typeface="Arial"/>
                </a:rPr>
                <a:t>TMST</a:t>
              </a:r>
              <a:r>
                <a:rPr b="0" baseline="-25000" i="0" lang="en-US" sz="1200" u="none" cap="none" strike="noStrike">
                  <a:solidFill>
                    <a:srgbClr val="0000FF"/>
                  </a:solidFill>
                  <a:latin typeface="Arial"/>
                  <a:ea typeface="Arial"/>
                  <a:cs typeface="Arial"/>
                  <a:sym typeface="Arial"/>
                </a:rPr>
                <a:t>YX </a:t>
              </a:r>
              <a:r>
                <a:rPr b="0" i="0" lang="en-US" sz="1200" u="none" cap="none" strike="noStrike">
                  <a:solidFill>
                    <a:srgbClr val="0000FF"/>
                  </a:solidFill>
                  <a:latin typeface="Arial"/>
                  <a:ea typeface="Arial"/>
                  <a:cs typeface="Arial"/>
                  <a:sym typeface="Arial"/>
                </a:rPr>
                <a:t>=0</a:t>
              </a:r>
            </a:p>
            <a:p>
              <a:pPr indent="0" lvl="0" marL="0" marR="0" rtl="0" algn="l">
                <a:lnSpc>
                  <a:spcPct val="100000"/>
                </a:lnSpc>
                <a:spcBef>
                  <a:spcPts val="0"/>
                </a:spcBef>
                <a:spcAft>
                  <a:spcPts val="0"/>
                </a:spcAft>
                <a:buClr>
                  <a:srgbClr val="0000FF"/>
                </a:buClr>
                <a:buSzPct val="25000"/>
                <a:buFont typeface="Arial"/>
                <a:buNone/>
              </a:pPr>
              <a:r>
                <a:rPr b="0" i="0" lang="en-US" sz="1200" u="none" cap="none" strike="noStrike">
                  <a:solidFill>
                    <a:srgbClr val="0000FF"/>
                  </a:solidFill>
                  <a:latin typeface="Arial"/>
                  <a:ea typeface="Arial"/>
                  <a:cs typeface="Arial"/>
                  <a:sym typeface="Arial"/>
                </a:rPr>
                <a:t>PmaY = 0</a:t>
              </a:r>
            </a:p>
          </p:txBody>
        </p:sp>
        <p:sp>
          <p:nvSpPr>
            <p:cNvPr id="358" name="Shape 358"/>
            <p:cNvSpPr txBox="1"/>
            <p:nvPr/>
          </p:nvSpPr>
          <p:spPr>
            <a:xfrm>
              <a:off x="9293225" y="8315325"/>
              <a:ext cx="3143249" cy="14287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0" i="0" lang="en-US" sz="1200" u="none" cap="none" strike="noStrike">
                  <a:solidFill>
                    <a:srgbClr val="FF0000"/>
                  </a:solidFill>
                  <a:latin typeface="Arial"/>
                  <a:ea typeface="Arial"/>
                  <a:cs typeface="Arial"/>
                  <a:sym typeface="Arial"/>
                </a:rPr>
                <a:t>TMST</a:t>
              </a:r>
              <a:r>
                <a:rPr b="0" baseline="-25000" i="0" lang="en-US" sz="1200" u="none" cap="none" strike="noStrike">
                  <a:solidFill>
                    <a:srgbClr val="FF0000"/>
                  </a:solidFill>
                  <a:latin typeface="Arial"/>
                  <a:ea typeface="Arial"/>
                  <a:cs typeface="Arial"/>
                  <a:sym typeface="Arial"/>
                </a:rPr>
                <a:t>YX </a:t>
              </a:r>
              <a:r>
                <a:rPr b="0" i="0" lang="en-US" sz="1200" u="none" cap="none" strike="noStrike">
                  <a:solidFill>
                    <a:srgbClr val="FF0000"/>
                  </a:solidFill>
                  <a:latin typeface="Arial"/>
                  <a:ea typeface="Arial"/>
                  <a:cs typeface="Arial"/>
                  <a:sym typeface="Arial"/>
                </a:rPr>
                <a:t>=∞</a:t>
              </a:r>
            </a:p>
            <a:p>
              <a:pPr indent="0" lvl="0" marL="0" marR="0" rtl="0" algn="l">
                <a:lnSpc>
                  <a:spcPct val="100000"/>
                </a:lnSpc>
                <a:spcBef>
                  <a:spcPts val="0"/>
                </a:spcBef>
                <a:spcAft>
                  <a:spcPts val="0"/>
                </a:spcAft>
                <a:buClr>
                  <a:srgbClr val="FF0000"/>
                </a:buClr>
                <a:buSzPct val="25000"/>
                <a:buFont typeface="Arial"/>
                <a:buNone/>
              </a:pPr>
              <a:r>
                <a:rPr b="0" i="0" lang="en-US" sz="1200" u="none" cap="none" strike="noStrike">
                  <a:solidFill>
                    <a:srgbClr val="FF0000"/>
                  </a:solidFill>
                  <a:latin typeface="Arial"/>
                  <a:ea typeface="Arial"/>
                  <a:cs typeface="Arial"/>
                  <a:sym typeface="Arial"/>
                </a:rPr>
                <a:t>PmaX = 0</a:t>
              </a:r>
            </a:p>
          </p:txBody>
        </p:sp>
      </p:grpSp>
      <p:sp>
        <p:nvSpPr>
          <p:cNvPr id="359" name="Shape 359"/>
          <p:cNvSpPr txBox="1"/>
          <p:nvPr/>
        </p:nvSpPr>
        <p:spPr>
          <a:xfrm>
            <a:off x="3614737" y="195261"/>
            <a:ext cx="4244974" cy="822324"/>
          </a:xfrm>
          <a:prstGeom prst="rect">
            <a:avLst/>
          </a:prstGeom>
          <a:noFill/>
          <a:ln>
            <a:noFill/>
          </a:ln>
        </p:spPr>
        <p:txBody>
          <a:bodyPr anchorCtr="0" anchor="ctr" bIns="45700" lIns="365000" rIns="91425" tIns="45700">
            <a:noAutofit/>
          </a:bodyPr>
          <a:lstStyle/>
          <a:p>
            <a:pPr indent="0" lvl="1" marL="457200" marR="0" rtl="0" algn="l">
              <a:lnSpc>
                <a:spcPct val="100000"/>
              </a:lnSpc>
              <a:spcBef>
                <a:spcPts val="0"/>
              </a:spcBef>
              <a:spcAft>
                <a:spcPts val="0"/>
              </a:spcAft>
              <a:buClr>
                <a:srgbClr val="FF0000"/>
              </a:buClr>
              <a:buSzPct val="25000"/>
              <a:buFont typeface="Verdana"/>
              <a:buNone/>
            </a:pPr>
            <a:r>
              <a:rPr b="1" i="1" lang="en-US" sz="2400" u="none" cap="none" strike="noStrike">
                <a:solidFill>
                  <a:schemeClr val="dk1"/>
                </a:solidFill>
                <a:latin typeface="Verdana"/>
                <a:ea typeface="Verdana"/>
                <a:cs typeface="Verdana"/>
                <a:sym typeface="Verdana"/>
              </a:rPr>
              <a:t>CURVA ISOCUANTA</a:t>
            </a:r>
          </a:p>
          <a:p>
            <a:pPr indent="0" lvl="0" marL="0" marR="0" rtl="0" algn="l">
              <a:lnSpc>
                <a:spcPct val="100000"/>
              </a:lnSpc>
              <a:spcBef>
                <a:spcPts val="0"/>
              </a:spcBef>
              <a:spcAft>
                <a:spcPts val="0"/>
              </a:spcAft>
              <a:buNone/>
            </a:pPr>
            <a:r>
              <a:t/>
            </a:r>
            <a:endParaRPr b="1" i="1" sz="2400" u="none" cap="none" strike="noStrike">
              <a:solidFill>
                <a:schemeClr val="dk1"/>
              </a:solidFill>
              <a:latin typeface="Verdana"/>
              <a:ea typeface="Verdana"/>
              <a:cs typeface="Verdana"/>
              <a:sym typeface="Verdana"/>
            </a:endParaRPr>
          </a:p>
        </p:txBody>
      </p:sp>
      <p:sp>
        <p:nvSpPr>
          <p:cNvPr id="360" name="Shape 360"/>
          <p:cNvSpPr txBox="1"/>
          <p:nvPr/>
        </p:nvSpPr>
        <p:spPr>
          <a:xfrm>
            <a:off x="6248400" y="1387475"/>
            <a:ext cx="2625724" cy="2014536"/>
          </a:xfrm>
          <a:prstGeom prst="rect">
            <a:avLst/>
          </a:prstGeom>
          <a:solidFill>
            <a:schemeClr val="lt1"/>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La sustitución de un factor por otro, se la conoce como la </a:t>
            </a:r>
          </a:p>
          <a:p>
            <a:pPr indent="0" lvl="0" marL="0" marR="0" rtl="0" algn="l">
              <a:lnSpc>
                <a:spcPct val="100000"/>
              </a:lnSpc>
              <a:spcBef>
                <a:spcPts val="0"/>
              </a:spcBef>
              <a:spcAft>
                <a:spcPts val="0"/>
              </a:spcAft>
              <a:buClr>
                <a:srgbClr val="FF0000"/>
              </a:buClr>
              <a:buSzPct val="25000"/>
              <a:buFont typeface="Arial"/>
              <a:buNone/>
            </a:pPr>
            <a:r>
              <a:rPr b="1" i="0" lang="en-US" sz="1800" u="none" cap="none" strike="noStrike">
                <a:solidFill>
                  <a:srgbClr val="FF0000"/>
                </a:solidFill>
                <a:latin typeface="Arial"/>
                <a:ea typeface="Arial"/>
                <a:cs typeface="Arial"/>
                <a:sym typeface="Arial"/>
              </a:rPr>
              <a:t>Tasa Marginal de Sustitución Técnica</a:t>
            </a:r>
            <a:r>
              <a:rPr b="0" i="0" lang="en-US" sz="1800" u="none" cap="none" strike="noStrike">
                <a:solidFill>
                  <a:schemeClr val="dk1"/>
                </a:solidFill>
                <a:latin typeface="Arial"/>
                <a:ea typeface="Arial"/>
                <a:cs typeface="Arial"/>
                <a:sym typeface="Arial"/>
              </a:rPr>
              <a:t>           </a:t>
            </a:r>
          </a:p>
          <a:p>
            <a:pPr indent="0" lvl="0" marL="0" marR="0" rtl="0" algn="ctr">
              <a:lnSpc>
                <a:spcPct val="100000"/>
              </a:lnSpc>
              <a:spcBef>
                <a:spcPts val="0"/>
              </a:spcBef>
              <a:spcAft>
                <a:spcPts val="0"/>
              </a:spcAft>
              <a:buClr>
                <a:schemeClr val="dk1"/>
              </a:buClr>
              <a:buFont typeface="Calibri"/>
              <a:buNone/>
            </a:pPr>
            <a:r>
              <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FF0000"/>
              </a:buClr>
              <a:buSzPct val="25000"/>
              <a:buFont typeface="Arial"/>
              <a:buNone/>
            </a:pPr>
            <a:r>
              <a:rPr b="1" i="1" lang="en-US" sz="1800" u="none" cap="none" strike="noStrike">
                <a:solidFill>
                  <a:srgbClr val="FF0000"/>
                </a:solidFill>
                <a:latin typeface="Arial"/>
                <a:ea typeface="Arial"/>
                <a:cs typeface="Arial"/>
                <a:sym typeface="Arial"/>
              </a:rPr>
              <a:t>(TMST</a:t>
            </a:r>
            <a:r>
              <a:rPr b="1" baseline="-25000" i="1" lang="en-US" sz="1800" u="none" cap="none" strike="noStrike">
                <a:solidFill>
                  <a:srgbClr val="FF0000"/>
                </a:solidFill>
                <a:latin typeface="Arial"/>
                <a:ea typeface="Arial"/>
                <a:cs typeface="Arial"/>
                <a:sym typeface="Arial"/>
              </a:rPr>
              <a:t>YX</a:t>
            </a:r>
            <a:r>
              <a:rPr b="1" i="1" lang="en-US" sz="1800" u="none" cap="none" strike="noStrike">
                <a:solidFill>
                  <a:srgbClr val="FF0000"/>
                </a:solidFill>
                <a:latin typeface="Arial"/>
                <a:ea typeface="Arial"/>
                <a:cs typeface="Arial"/>
                <a:sym typeface="Arial"/>
              </a:rPr>
              <a:t>) </a:t>
            </a:r>
          </a:p>
        </p:txBody>
      </p:sp>
      <p:sp>
        <p:nvSpPr>
          <p:cNvPr id="361" name="Shape 361"/>
          <p:cNvSpPr txBox="1"/>
          <p:nvPr/>
        </p:nvSpPr>
        <p:spPr>
          <a:xfrm>
            <a:off x="5451475" y="3913187"/>
            <a:ext cx="3616325" cy="2563812"/>
          </a:xfrm>
          <a:prstGeom prst="rect">
            <a:avLst/>
          </a:prstGeom>
          <a:solidFill>
            <a:srgbClr val="FFFFFF"/>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800" u="none" cap="none" strike="noStrike">
                <a:solidFill>
                  <a:srgbClr val="FF0000"/>
                </a:solidFill>
                <a:latin typeface="Arial"/>
                <a:ea typeface="Arial"/>
                <a:cs typeface="Arial"/>
                <a:sym typeface="Arial"/>
              </a:rPr>
              <a:t>La tasa marginal de sustitución técnica de factor Y por factor X     (TMSTYX)</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es la cantidad de factor Y a la que puede renunciar una empresa cuando se aumenta el factor X en una unidad, </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permaneciendo sobre la misma isocuanta </a:t>
            </a:r>
          </a:p>
        </p:txBody>
      </p:sp>
    </p:spTree>
  </p:cSld>
  <p:clrMapOvr>
    <a:masterClrMapping/>
  </p:clrMapOvr>
  <p:transition spd="slow">
    <p:cut/>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65" name="Shape 365"/>
        <p:cNvGrpSpPr/>
        <p:nvPr/>
      </p:nvGrpSpPr>
      <p:grpSpPr>
        <a:xfrm>
          <a:off x="0" y="0"/>
          <a:ext cx="0" cy="0"/>
          <a:chOff x="0" y="0"/>
          <a:chExt cx="0" cy="0"/>
        </a:xfrm>
      </p:grpSpPr>
      <p:pic>
        <p:nvPicPr>
          <p:cNvPr id="366" name="Shape 366"/>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367" name="Shape 367"/>
          <p:cNvPicPr preferRelativeResize="0"/>
          <p:nvPr/>
        </p:nvPicPr>
        <p:blipFill rotWithShape="1">
          <a:blip r:embed="rId4">
            <a:alphaModFix/>
          </a:blip>
          <a:srcRect b="0" l="0" r="0" t="0"/>
          <a:stretch/>
        </p:blipFill>
        <p:spPr>
          <a:xfrm>
            <a:off x="288925" y="1447800"/>
            <a:ext cx="8626474" cy="5114925"/>
          </a:xfrm>
          <a:prstGeom prst="rect">
            <a:avLst/>
          </a:prstGeom>
          <a:noFill/>
          <a:ln>
            <a:noFill/>
          </a:ln>
        </p:spPr>
      </p:pic>
      <p:sp>
        <p:nvSpPr>
          <p:cNvPr id="368" name="Shape 368"/>
          <p:cNvSpPr txBox="1"/>
          <p:nvPr/>
        </p:nvSpPr>
        <p:spPr>
          <a:xfrm>
            <a:off x="3429000" y="304800"/>
            <a:ext cx="5486399"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Arial"/>
              <a:buNone/>
            </a:pPr>
            <a:r>
              <a:rPr b="1" i="1" lang="en-US" sz="2400" u="none" cap="none" strike="noStrike">
                <a:solidFill>
                  <a:srgbClr val="000000"/>
                </a:solidFill>
                <a:latin typeface="Arial"/>
                <a:ea typeface="Arial"/>
                <a:cs typeface="Arial"/>
                <a:sym typeface="Arial"/>
              </a:rPr>
              <a:t>CONTORNOS DE ISOCUANTAS</a:t>
            </a:r>
          </a:p>
        </p:txBody>
      </p:sp>
      <p:pic>
        <p:nvPicPr>
          <p:cNvPr id="369" name="Shape 369"/>
          <p:cNvPicPr preferRelativeResize="0"/>
          <p:nvPr/>
        </p:nvPicPr>
        <p:blipFill rotWithShape="1">
          <a:blip r:embed="rId5">
            <a:alphaModFix/>
          </a:blip>
          <a:srcRect b="0" l="0" r="0" t="0"/>
          <a:stretch/>
        </p:blipFill>
        <p:spPr>
          <a:xfrm>
            <a:off x="263525" y="304800"/>
            <a:ext cx="3013074" cy="608011"/>
          </a:xfrm>
          <a:prstGeom prst="rect">
            <a:avLst/>
          </a:prstGeom>
          <a:noFill/>
          <a:ln>
            <a:noFill/>
          </a:ln>
        </p:spPr>
      </p:pic>
      <p:grpSp>
        <p:nvGrpSpPr>
          <p:cNvPr id="370" name="Shape 370"/>
          <p:cNvGrpSpPr/>
          <p:nvPr/>
        </p:nvGrpSpPr>
        <p:grpSpPr>
          <a:xfrm>
            <a:off x="875594" y="1579225"/>
            <a:ext cx="4376090" cy="4205624"/>
            <a:chOff x="3578224" y="1457325"/>
            <a:chExt cx="13144499" cy="9144000"/>
          </a:xfrm>
        </p:grpSpPr>
        <p:cxnSp>
          <p:nvCxnSpPr>
            <p:cNvPr id="371" name="Shape 371"/>
            <p:cNvCxnSpPr/>
            <p:nvPr/>
          </p:nvCxnSpPr>
          <p:spPr>
            <a:xfrm rot="10800000">
              <a:off x="3578225" y="1457325"/>
              <a:ext cx="1587" cy="8858249"/>
            </a:xfrm>
            <a:prstGeom prst="straightConnector1">
              <a:avLst/>
            </a:prstGeom>
            <a:noFill/>
            <a:ln cap="flat" cmpd="sng" w="25400">
              <a:solidFill>
                <a:srgbClr val="000000"/>
              </a:solidFill>
              <a:prstDash val="solid"/>
              <a:miter/>
              <a:headEnd len="med" w="med" type="none"/>
              <a:tailEnd len="lg" w="lg" type="triangle"/>
            </a:ln>
          </p:spPr>
        </p:cxnSp>
        <p:cxnSp>
          <p:nvCxnSpPr>
            <p:cNvPr id="372" name="Shape 372"/>
            <p:cNvCxnSpPr/>
            <p:nvPr/>
          </p:nvCxnSpPr>
          <p:spPr>
            <a:xfrm>
              <a:off x="3578225" y="10315575"/>
              <a:ext cx="12001500" cy="1587"/>
            </a:xfrm>
            <a:prstGeom prst="straightConnector1">
              <a:avLst/>
            </a:prstGeom>
            <a:noFill/>
            <a:ln cap="flat" cmpd="sng" w="25400">
              <a:solidFill>
                <a:srgbClr val="000000"/>
              </a:solidFill>
              <a:prstDash val="solid"/>
              <a:miter/>
              <a:headEnd len="med" w="med" type="none"/>
              <a:tailEnd len="lg" w="lg" type="triangle"/>
            </a:ln>
          </p:spPr>
        </p:cxnSp>
        <p:sp>
          <p:nvSpPr>
            <p:cNvPr id="373" name="Shape 373"/>
            <p:cNvSpPr/>
            <p:nvPr/>
          </p:nvSpPr>
          <p:spPr>
            <a:xfrm>
              <a:off x="4721225" y="2600325"/>
              <a:ext cx="8185150" cy="7150100"/>
            </a:xfrm>
            <a:custGeom>
              <a:pathLst>
                <a:path extrusionOk="0" h="4504" w="5156">
                  <a:moveTo>
                    <a:pt x="276" y="0"/>
                  </a:moveTo>
                  <a:cubicBezTo>
                    <a:pt x="246" y="90"/>
                    <a:pt x="139" y="343"/>
                    <a:pt x="96" y="540"/>
                  </a:cubicBezTo>
                  <a:cubicBezTo>
                    <a:pt x="53" y="737"/>
                    <a:pt x="24" y="955"/>
                    <a:pt x="17" y="1180"/>
                  </a:cubicBezTo>
                  <a:cubicBezTo>
                    <a:pt x="10" y="1405"/>
                    <a:pt x="0" y="1644"/>
                    <a:pt x="51" y="1890"/>
                  </a:cubicBezTo>
                  <a:cubicBezTo>
                    <a:pt x="102" y="2136"/>
                    <a:pt x="190" y="2388"/>
                    <a:pt x="321" y="2655"/>
                  </a:cubicBezTo>
                  <a:cubicBezTo>
                    <a:pt x="452" y="2922"/>
                    <a:pt x="568" y="3233"/>
                    <a:pt x="836" y="3492"/>
                  </a:cubicBezTo>
                  <a:cubicBezTo>
                    <a:pt x="1104" y="3751"/>
                    <a:pt x="1538" y="4049"/>
                    <a:pt x="1931" y="4212"/>
                  </a:cubicBezTo>
                  <a:cubicBezTo>
                    <a:pt x="2324" y="4375"/>
                    <a:pt x="2766" y="4430"/>
                    <a:pt x="3191" y="4467"/>
                  </a:cubicBezTo>
                  <a:cubicBezTo>
                    <a:pt x="3616" y="4504"/>
                    <a:pt x="4154" y="4474"/>
                    <a:pt x="4481" y="4437"/>
                  </a:cubicBezTo>
                  <a:cubicBezTo>
                    <a:pt x="4808" y="4400"/>
                    <a:pt x="5016" y="4283"/>
                    <a:pt x="5156" y="4242"/>
                  </a:cubicBezTo>
                </a:path>
              </a:pathLst>
            </a:custGeom>
            <a:solidFill>
              <a:srgbClr val="CCFFFF"/>
            </a:solidFill>
            <a:ln cap="flat" cmpd="sng" w="254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374" name="Shape 374"/>
            <p:cNvCxnSpPr/>
            <p:nvPr/>
          </p:nvCxnSpPr>
          <p:spPr>
            <a:xfrm>
              <a:off x="4721225" y="3171825"/>
              <a:ext cx="1587" cy="7143749"/>
            </a:xfrm>
            <a:prstGeom prst="straightConnector1">
              <a:avLst/>
            </a:prstGeom>
            <a:noFill/>
            <a:ln cap="flat" cmpd="sng" w="9525">
              <a:solidFill>
                <a:srgbClr val="000000"/>
              </a:solidFill>
              <a:prstDash val="solid"/>
              <a:miter/>
              <a:headEnd len="med" w="med" type="none"/>
              <a:tailEnd len="med" w="med" type="none"/>
            </a:ln>
          </p:spPr>
        </p:cxnSp>
        <p:cxnSp>
          <p:nvCxnSpPr>
            <p:cNvPr id="375" name="Shape 375"/>
            <p:cNvCxnSpPr/>
            <p:nvPr/>
          </p:nvCxnSpPr>
          <p:spPr>
            <a:xfrm flipH="1">
              <a:off x="3578225" y="9744075"/>
              <a:ext cx="10286999" cy="1587"/>
            </a:xfrm>
            <a:prstGeom prst="straightConnector1">
              <a:avLst/>
            </a:prstGeom>
            <a:noFill/>
            <a:ln cap="flat" cmpd="sng" w="9525">
              <a:solidFill>
                <a:srgbClr val="000000"/>
              </a:solidFill>
              <a:prstDash val="solid"/>
              <a:miter/>
              <a:headEnd len="med" w="med" type="none"/>
              <a:tailEnd len="med" w="med" type="none"/>
            </a:ln>
          </p:spPr>
        </p:cxnSp>
        <p:cxnSp>
          <p:nvCxnSpPr>
            <p:cNvPr id="376" name="Shape 376"/>
            <p:cNvCxnSpPr/>
            <p:nvPr/>
          </p:nvCxnSpPr>
          <p:spPr>
            <a:xfrm>
              <a:off x="5576887" y="3171825"/>
              <a:ext cx="1587" cy="7143749"/>
            </a:xfrm>
            <a:prstGeom prst="straightConnector1">
              <a:avLst/>
            </a:prstGeom>
            <a:noFill/>
            <a:ln cap="flat" cmpd="sng" w="9525">
              <a:solidFill>
                <a:srgbClr val="000000"/>
              </a:solidFill>
              <a:prstDash val="solid"/>
              <a:miter/>
              <a:headEnd len="med" w="med" type="none"/>
              <a:tailEnd len="med" w="med" type="none"/>
            </a:ln>
          </p:spPr>
        </p:cxnSp>
        <p:cxnSp>
          <p:nvCxnSpPr>
            <p:cNvPr id="377" name="Shape 377"/>
            <p:cNvCxnSpPr/>
            <p:nvPr/>
          </p:nvCxnSpPr>
          <p:spPr>
            <a:xfrm flipH="1">
              <a:off x="3578225" y="8601075"/>
              <a:ext cx="10286999" cy="1587"/>
            </a:xfrm>
            <a:prstGeom prst="straightConnector1">
              <a:avLst/>
            </a:prstGeom>
            <a:noFill/>
            <a:ln cap="flat" cmpd="sng" w="9525">
              <a:solidFill>
                <a:srgbClr val="000000"/>
              </a:solidFill>
              <a:prstDash val="solid"/>
              <a:miter/>
              <a:headEnd len="med" w="med" type="none"/>
              <a:tailEnd len="med" w="med" type="none"/>
            </a:ln>
          </p:spPr>
        </p:cxnSp>
        <p:cxnSp>
          <p:nvCxnSpPr>
            <p:cNvPr id="378" name="Shape 378"/>
            <p:cNvCxnSpPr/>
            <p:nvPr/>
          </p:nvCxnSpPr>
          <p:spPr>
            <a:xfrm flipH="1">
              <a:off x="3578224" y="7458075"/>
              <a:ext cx="10001250" cy="1587"/>
            </a:xfrm>
            <a:prstGeom prst="straightConnector1">
              <a:avLst/>
            </a:prstGeom>
            <a:noFill/>
            <a:ln cap="flat" cmpd="sng" w="9525">
              <a:solidFill>
                <a:srgbClr val="000000"/>
              </a:solidFill>
              <a:prstDash val="solid"/>
              <a:miter/>
              <a:headEnd len="med" w="med" type="none"/>
              <a:tailEnd len="med" w="med" type="none"/>
            </a:ln>
          </p:spPr>
        </p:cxnSp>
        <p:cxnSp>
          <p:nvCxnSpPr>
            <p:cNvPr id="379" name="Shape 379"/>
            <p:cNvCxnSpPr/>
            <p:nvPr/>
          </p:nvCxnSpPr>
          <p:spPr>
            <a:xfrm>
              <a:off x="6435725" y="3552825"/>
              <a:ext cx="1587" cy="6762750"/>
            </a:xfrm>
            <a:prstGeom prst="straightConnector1">
              <a:avLst/>
            </a:prstGeom>
            <a:noFill/>
            <a:ln cap="flat" cmpd="sng" w="9525">
              <a:solidFill>
                <a:srgbClr val="000000"/>
              </a:solidFill>
              <a:prstDash val="solid"/>
              <a:miter/>
              <a:headEnd len="med" w="med" type="none"/>
              <a:tailEnd len="med" w="med" type="none"/>
            </a:ln>
          </p:spPr>
        </p:cxnSp>
        <p:sp>
          <p:nvSpPr>
            <p:cNvPr id="380" name="Shape 380"/>
            <p:cNvSpPr/>
            <p:nvPr/>
          </p:nvSpPr>
          <p:spPr>
            <a:xfrm>
              <a:off x="5578475" y="2717800"/>
              <a:ext cx="7367587" cy="5842000"/>
            </a:xfrm>
            <a:custGeom>
              <a:pathLst>
                <a:path extrusionOk="0" h="3680" w="4641">
                  <a:moveTo>
                    <a:pt x="217" y="0"/>
                  </a:moveTo>
                  <a:cubicBezTo>
                    <a:pt x="192" y="80"/>
                    <a:pt x="99" y="299"/>
                    <a:pt x="67" y="480"/>
                  </a:cubicBezTo>
                  <a:cubicBezTo>
                    <a:pt x="35" y="661"/>
                    <a:pt x="0" y="849"/>
                    <a:pt x="26" y="1085"/>
                  </a:cubicBezTo>
                  <a:cubicBezTo>
                    <a:pt x="52" y="1321"/>
                    <a:pt x="83" y="1599"/>
                    <a:pt x="221" y="1895"/>
                  </a:cubicBezTo>
                  <a:cubicBezTo>
                    <a:pt x="359" y="2191"/>
                    <a:pt x="534" y="2594"/>
                    <a:pt x="851" y="2863"/>
                  </a:cubicBezTo>
                  <a:cubicBezTo>
                    <a:pt x="1168" y="3132"/>
                    <a:pt x="1694" y="3373"/>
                    <a:pt x="2126" y="3508"/>
                  </a:cubicBezTo>
                  <a:cubicBezTo>
                    <a:pt x="2558" y="3643"/>
                    <a:pt x="3027" y="3680"/>
                    <a:pt x="3446" y="3673"/>
                  </a:cubicBezTo>
                  <a:cubicBezTo>
                    <a:pt x="3865" y="3666"/>
                    <a:pt x="4392" y="3509"/>
                    <a:pt x="4641" y="3466"/>
                  </a:cubicBezTo>
                </a:path>
              </a:pathLst>
            </a:custGeom>
            <a:noFill/>
            <a:ln cap="flat" cmpd="sng" w="254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1" name="Shape 381"/>
            <p:cNvSpPr/>
            <p:nvPr/>
          </p:nvSpPr>
          <p:spPr>
            <a:xfrm>
              <a:off x="6426200" y="2833686"/>
              <a:ext cx="6384925" cy="4608511"/>
            </a:xfrm>
            <a:custGeom>
              <a:pathLst>
                <a:path extrusionOk="0" h="2903" w="4022">
                  <a:moveTo>
                    <a:pt x="137" y="0"/>
                  </a:moveTo>
                  <a:cubicBezTo>
                    <a:pt x="115" y="97"/>
                    <a:pt x="4" y="365"/>
                    <a:pt x="2" y="585"/>
                  </a:cubicBezTo>
                  <a:cubicBezTo>
                    <a:pt x="0" y="805"/>
                    <a:pt x="32" y="1083"/>
                    <a:pt x="122" y="1320"/>
                  </a:cubicBezTo>
                  <a:cubicBezTo>
                    <a:pt x="212" y="1557"/>
                    <a:pt x="317" y="1780"/>
                    <a:pt x="542" y="2010"/>
                  </a:cubicBezTo>
                  <a:cubicBezTo>
                    <a:pt x="767" y="2240"/>
                    <a:pt x="1087" y="2553"/>
                    <a:pt x="1472" y="2700"/>
                  </a:cubicBezTo>
                  <a:cubicBezTo>
                    <a:pt x="1857" y="2847"/>
                    <a:pt x="2427" y="2887"/>
                    <a:pt x="2852" y="2895"/>
                  </a:cubicBezTo>
                  <a:cubicBezTo>
                    <a:pt x="3277" y="2903"/>
                    <a:pt x="3827" y="2770"/>
                    <a:pt x="4022" y="2745"/>
                  </a:cubicBezTo>
                </a:path>
              </a:pathLst>
            </a:custGeom>
            <a:noFill/>
            <a:ln cap="flat" cmpd="sng" w="254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2" name="Shape 382"/>
            <p:cNvSpPr/>
            <p:nvPr/>
          </p:nvSpPr>
          <p:spPr>
            <a:xfrm>
              <a:off x="9834561" y="5172075"/>
              <a:ext cx="1744661" cy="4876800"/>
            </a:xfrm>
            <a:custGeom>
              <a:pathLst>
                <a:path extrusionOk="0" h="3072" w="1099">
                  <a:moveTo>
                    <a:pt x="0" y="3072"/>
                  </a:moveTo>
                  <a:cubicBezTo>
                    <a:pt x="60" y="3040"/>
                    <a:pt x="237" y="3029"/>
                    <a:pt x="360" y="2877"/>
                  </a:cubicBezTo>
                  <a:cubicBezTo>
                    <a:pt x="483" y="2725"/>
                    <a:pt x="646" y="2399"/>
                    <a:pt x="739" y="2160"/>
                  </a:cubicBezTo>
                  <a:cubicBezTo>
                    <a:pt x="832" y="1921"/>
                    <a:pt x="870" y="1678"/>
                    <a:pt x="919" y="1440"/>
                  </a:cubicBezTo>
                  <a:cubicBezTo>
                    <a:pt x="968" y="1202"/>
                    <a:pt x="1005" y="972"/>
                    <a:pt x="1035" y="732"/>
                  </a:cubicBezTo>
                  <a:cubicBezTo>
                    <a:pt x="1065" y="492"/>
                    <a:pt x="1086" y="152"/>
                    <a:pt x="1099" y="0"/>
                  </a:cubicBezTo>
                </a:path>
              </a:pathLst>
            </a:custGeom>
            <a:noFill/>
            <a:ln cap="rnd" cmpd="sng" w="9525">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3" name="Shape 383"/>
            <p:cNvSpPr/>
            <p:nvPr/>
          </p:nvSpPr>
          <p:spPr>
            <a:xfrm>
              <a:off x="4095750" y="3476625"/>
              <a:ext cx="4071937" cy="1952625"/>
            </a:xfrm>
            <a:custGeom>
              <a:pathLst>
                <a:path extrusionOk="0" h="1230" w="2565">
                  <a:moveTo>
                    <a:pt x="0" y="1230"/>
                  </a:moveTo>
                  <a:cubicBezTo>
                    <a:pt x="66" y="1143"/>
                    <a:pt x="238" y="855"/>
                    <a:pt x="394" y="708"/>
                  </a:cubicBezTo>
                  <a:cubicBezTo>
                    <a:pt x="550" y="561"/>
                    <a:pt x="750" y="446"/>
                    <a:pt x="934" y="348"/>
                  </a:cubicBezTo>
                  <a:cubicBezTo>
                    <a:pt x="1118" y="250"/>
                    <a:pt x="1346" y="168"/>
                    <a:pt x="1500" y="120"/>
                  </a:cubicBezTo>
                  <a:cubicBezTo>
                    <a:pt x="1654" y="72"/>
                    <a:pt x="1683" y="80"/>
                    <a:pt x="1860" y="60"/>
                  </a:cubicBezTo>
                  <a:cubicBezTo>
                    <a:pt x="2037" y="40"/>
                    <a:pt x="2418" y="12"/>
                    <a:pt x="2565" y="0"/>
                  </a:cubicBezTo>
                </a:path>
              </a:pathLst>
            </a:custGeom>
            <a:noFill/>
            <a:ln cap="rnd" cmpd="sng" w="9525">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4" name="Shape 384"/>
            <p:cNvSpPr txBox="1"/>
            <p:nvPr/>
          </p:nvSpPr>
          <p:spPr>
            <a:xfrm>
              <a:off x="12722225" y="6886575"/>
              <a:ext cx="1143000" cy="857250"/>
            </a:xfrm>
            <a:prstGeom prst="rect">
              <a:avLst/>
            </a:prstGeom>
            <a:solidFill>
              <a:srgbClr val="CCFFFF"/>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000" u="none" cap="none" strike="noStrike">
                  <a:solidFill>
                    <a:schemeClr val="dk1"/>
                  </a:solidFill>
                  <a:latin typeface="Arial"/>
                  <a:ea typeface="Arial"/>
                  <a:cs typeface="Arial"/>
                  <a:sym typeface="Arial"/>
                </a:rPr>
                <a:t>Q3</a:t>
              </a:r>
            </a:p>
          </p:txBody>
        </p:sp>
        <p:sp>
          <p:nvSpPr>
            <p:cNvPr id="385" name="Shape 385"/>
            <p:cNvSpPr txBox="1"/>
            <p:nvPr/>
          </p:nvSpPr>
          <p:spPr>
            <a:xfrm>
              <a:off x="12722225" y="8029575"/>
              <a:ext cx="1143000" cy="857250"/>
            </a:xfrm>
            <a:prstGeom prst="rect">
              <a:avLst/>
            </a:prstGeom>
            <a:solidFill>
              <a:srgbClr val="CCFFFF"/>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000" u="none" cap="none" strike="noStrike">
                  <a:solidFill>
                    <a:schemeClr val="dk1"/>
                  </a:solidFill>
                  <a:latin typeface="Arial"/>
                  <a:ea typeface="Arial"/>
                  <a:cs typeface="Arial"/>
                  <a:sym typeface="Arial"/>
                </a:rPr>
                <a:t>Q2</a:t>
              </a:r>
            </a:p>
          </p:txBody>
        </p:sp>
        <p:sp>
          <p:nvSpPr>
            <p:cNvPr id="386" name="Shape 386"/>
            <p:cNvSpPr txBox="1"/>
            <p:nvPr/>
          </p:nvSpPr>
          <p:spPr>
            <a:xfrm>
              <a:off x="12722225" y="9172575"/>
              <a:ext cx="1143000" cy="857250"/>
            </a:xfrm>
            <a:prstGeom prst="rect">
              <a:avLst/>
            </a:prstGeom>
            <a:solidFill>
              <a:srgbClr val="CCFFFF"/>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000" u="none" cap="none" strike="noStrike">
                  <a:solidFill>
                    <a:schemeClr val="dk1"/>
                  </a:solidFill>
                  <a:latin typeface="Arial"/>
                  <a:ea typeface="Arial"/>
                  <a:cs typeface="Arial"/>
                  <a:sym typeface="Arial"/>
                </a:rPr>
                <a:t>Q1</a:t>
              </a:r>
            </a:p>
          </p:txBody>
        </p:sp>
        <p:sp>
          <p:nvSpPr>
            <p:cNvPr id="387" name="Shape 387"/>
            <p:cNvSpPr txBox="1"/>
            <p:nvPr/>
          </p:nvSpPr>
          <p:spPr>
            <a:xfrm>
              <a:off x="13865225" y="9744075"/>
              <a:ext cx="2857499" cy="857250"/>
            </a:xfrm>
            <a:prstGeom prst="rect">
              <a:avLst/>
            </a:prstGeom>
            <a:solidFill>
              <a:srgbClr val="CCFFFF"/>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FACTOR X</a:t>
              </a:r>
            </a:p>
          </p:txBody>
        </p:sp>
        <p:sp>
          <p:nvSpPr>
            <p:cNvPr id="388" name="Shape 388"/>
            <p:cNvSpPr txBox="1"/>
            <p:nvPr/>
          </p:nvSpPr>
          <p:spPr>
            <a:xfrm>
              <a:off x="3578225" y="1457325"/>
              <a:ext cx="2857499" cy="857250"/>
            </a:xfrm>
            <a:prstGeom prst="rect">
              <a:avLst/>
            </a:prstGeom>
            <a:solidFill>
              <a:srgbClr val="CCFFFF"/>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FACTOR Y</a:t>
              </a:r>
            </a:p>
          </p:txBody>
        </p:sp>
        <p:sp>
          <p:nvSpPr>
            <p:cNvPr id="389" name="Shape 389"/>
            <p:cNvSpPr txBox="1"/>
            <p:nvPr/>
          </p:nvSpPr>
          <p:spPr>
            <a:xfrm>
              <a:off x="7578725" y="1838325"/>
              <a:ext cx="8001000" cy="857250"/>
            </a:xfrm>
            <a:prstGeom prst="rect">
              <a:avLst/>
            </a:prstGeom>
            <a:solidFill>
              <a:srgbClr val="CCFFFF"/>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CURVAS ISOCUANTAS</a:t>
              </a:r>
            </a:p>
          </p:txBody>
        </p:sp>
        <p:sp>
          <p:nvSpPr>
            <p:cNvPr id="390" name="Shape 390"/>
            <p:cNvSpPr txBox="1"/>
            <p:nvPr/>
          </p:nvSpPr>
          <p:spPr>
            <a:xfrm>
              <a:off x="7864475" y="4314825"/>
              <a:ext cx="3429000" cy="857250"/>
            </a:xfrm>
            <a:prstGeom prst="rect">
              <a:avLst/>
            </a:prstGeom>
            <a:solidFill>
              <a:srgbClr val="CCFFFF"/>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000" u="none" cap="none" strike="noStrike">
                  <a:solidFill>
                    <a:schemeClr val="dk1"/>
                  </a:solidFill>
                  <a:latin typeface="Arial"/>
                  <a:ea typeface="Arial"/>
                  <a:cs typeface="Arial"/>
                  <a:sym typeface="Arial"/>
                </a:rPr>
                <a:t>CONTORNOS </a:t>
              </a:r>
            </a:p>
          </p:txBody>
        </p:sp>
      </p:grpSp>
      <p:sp>
        <p:nvSpPr>
          <p:cNvPr id="391" name="Shape 391"/>
          <p:cNvSpPr txBox="1"/>
          <p:nvPr/>
        </p:nvSpPr>
        <p:spPr>
          <a:xfrm>
            <a:off x="5441950" y="2697161"/>
            <a:ext cx="3473449" cy="2289174"/>
          </a:xfrm>
          <a:prstGeom prst="rect">
            <a:avLst/>
          </a:prstGeom>
          <a:solidFill>
            <a:srgbClr val="FFCC00">
              <a:alpha val="41960"/>
            </a:srgbClr>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Las curvas isocuantas debido a la ley de los rendimientos decrecientes, solo deben utilizarse dentro de los </a:t>
            </a:r>
            <a:r>
              <a:rPr b="1" i="0" lang="en-US" sz="1800" u="none" cap="none" strike="noStrike">
                <a:solidFill>
                  <a:srgbClr val="FF0000"/>
                </a:solidFill>
                <a:latin typeface="Arial"/>
                <a:ea typeface="Arial"/>
                <a:cs typeface="Arial"/>
                <a:sym typeface="Arial"/>
              </a:rPr>
              <a:t>puntos de contorno,</a:t>
            </a:r>
            <a:r>
              <a:rPr b="0" i="0" lang="en-US" sz="1800" u="none" cap="none" strike="noStrike">
                <a:solidFill>
                  <a:schemeClr val="dk1"/>
                </a:solidFill>
                <a:latin typeface="Arial"/>
                <a:ea typeface="Arial"/>
                <a:cs typeface="Arial"/>
                <a:sym typeface="Arial"/>
              </a:rPr>
              <a:t> ya que por fuera las combinaciones de los factores están en la etapa III o de rendimientos negativos. </a:t>
            </a:r>
          </a:p>
        </p:txBody>
      </p:sp>
    </p:spTree>
  </p:cSld>
  <p:clrMapOvr>
    <a:masterClrMapping/>
  </p:clrMapOvr>
  <p:transition spd="slow">
    <p:cut/>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95" name="Shape 395"/>
        <p:cNvGrpSpPr/>
        <p:nvPr/>
      </p:nvGrpSpPr>
      <p:grpSpPr>
        <a:xfrm>
          <a:off x="0" y="0"/>
          <a:ext cx="0" cy="0"/>
          <a:chOff x="0" y="0"/>
          <a:chExt cx="0" cy="0"/>
        </a:xfrm>
      </p:grpSpPr>
      <p:pic>
        <p:nvPicPr>
          <p:cNvPr id="396" name="Shape 396"/>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397" name="Shape 397"/>
          <p:cNvPicPr preferRelativeResize="0"/>
          <p:nvPr/>
        </p:nvPicPr>
        <p:blipFill rotWithShape="1">
          <a:blip r:embed="rId4">
            <a:alphaModFix/>
          </a:blip>
          <a:srcRect b="0" l="0" r="0" t="0"/>
          <a:stretch/>
        </p:blipFill>
        <p:spPr>
          <a:xfrm>
            <a:off x="457200" y="1670050"/>
            <a:ext cx="7961312" cy="4949825"/>
          </a:xfrm>
          <a:prstGeom prst="rect">
            <a:avLst/>
          </a:prstGeom>
          <a:noFill/>
          <a:ln>
            <a:noFill/>
          </a:ln>
        </p:spPr>
      </p:pic>
      <p:sp>
        <p:nvSpPr>
          <p:cNvPr id="398" name="Shape 398"/>
          <p:cNvSpPr txBox="1"/>
          <p:nvPr/>
        </p:nvSpPr>
        <p:spPr>
          <a:xfrm>
            <a:off x="4648200" y="304800"/>
            <a:ext cx="2286000"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399" name="Shape 399"/>
          <p:cNvPicPr preferRelativeResize="0"/>
          <p:nvPr/>
        </p:nvPicPr>
        <p:blipFill rotWithShape="1">
          <a:blip r:embed="rId5">
            <a:alphaModFix/>
          </a:blip>
          <a:srcRect b="0" l="0" r="0" t="0"/>
          <a:stretch/>
        </p:blipFill>
        <p:spPr>
          <a:xfrm>
            <a:off x="263525" y="304800"/>
            <a:ext cx="3013074" cy="608011"/>
          </a:xfrm>
          <a:prstGeom prst="rect">
            <a:avLst/>
          </a:prstGeom>
          <a:noFill/>
          <a:ln>
            <a:noFill/>
          </a:ln>
        </p:spPr>
      </p:pic>
      <p:sp>
        <p:nvSpPr>
          <p:cNvPr id="400" name="Shape 400"/>
          <p:cNvSpPr txBox="1"/>
          <p:nvPr/>
        </p:nvSpPr>
        <p:spPr>
          <a:xfrm>
            <a:off x="3868737" y="227012"/>
            <a:ext cx="4025899" cy="776286"/>
          </a:xfrm>
          <a:prstGeom prst="rect">
            <a:avLst/>
          </a:prstGeom>
          <a:noFill/>
          <a:ln>
            <a:noFill/>
          </a:ln>
        </p:spPr>
        <p:txBody>
          <a:bodyPr anchorCtr="0" anchor="ctr" bIns="0" lIns="91425" rIns="91425" tIns="45700">
            <a:noAutofit/>
          </a:bodyPr>
          <a:lstStyle/>
          <a:p>
            <a:pPr indent="0" lvl="4" marL="1828800" marR="0" rtl="0" algn="ctr">
              <a:lnSpc>
                <a:spcPct val="100000"/>
              </a:lnSpc>
              <a:spcBef>
                <a:spcPts val="0"/>
              </a:spcBef>
              <a:spcAft>
                <a:spcPts val="0"/>
              </a:spcAft>
              <a:buClr>
                <a:srgbClr val="0000FF"/>
              </a:buClr>
              <a:buSzPct val="25000"/>
              <a:buFont typeface="Verdana"/>
              <a:buNone/>
            </a:pPr>
            <a:r>
              <a:rPr b="1" i="0" lang="en-US" sz="2400" u="none" cap="none" strike="noStrike">
                <a:solidFill>
                  <a:schemeClr val="dk1"/>
                </a:solidFill>
                <a:latin typeface="Verdana"/>
                <a:ea typeface="Verdana"/>
                <a:cs typeface="Verdana"/>
                <a:sym typeface="Verdana"/>
              </a:rPr>
              <a:t> </a:t>
            </a:r>
            <a:r>
              <a:rPr b="1" i="1" lang="en-US" sz="2400" u="none" cap="none" strike="noStrike">
                <a:solidFill>
                  <a:schemeClr val="dk1"/>
                </a:solidFill>
                <a:latin typeface="Verdana"/>
                <a:ea typeface="Verdana"/>
                <a:cs typeface="Verdana"/>
                <a:sym typeface="Verdana"/>
              </a:rPr>
              <a:t>ISOCOSTO </a:t>
            </a:r>
          </a:p>
          <a:p>
            <a:pPr indent="0" lvl="0" marL="0" marR="0" rtl="0" algn="l">
              <a:lnSpc>
                <a:spcPct val="100000"/>
              </a:lnSpc>
              <a:spcBef>
                <a:spcPts val="0"/>
              </a:spcBef>
              <a:spcAft>
                <a:spcPts val="0"/>
              </a:spcAft>
              <a:buNone/>
            </a:pPr>
            <a:r>
              <a:t/>
            </a:r>
            <a:endParaRPr b="1" i="1" sz="2400" u="none" cap="none" strike="noStrike">
              <a:solidFill>
                <a:schemeClr val="dk1"/>
              </a:solidFill>
              <a:latin typeface="Verdana"/>
              <a:ea typeface="Verdana"/>
              <a:cs typeface="Verdana"/>
              <a:sym typeface="Verdana"/>
            </a:endParaRPr>
          </a:p>
        </p:txBody>
      </p:sp>
      <p:sp>
        <p:nvSpPr>
          <p:cNvPr id="401" name="Shape 401"/>
          <p:cNvSpPr txBox="1"/>
          <p:nvPr/>
        </p:nvSpPr>
        <p:spPr>
          <a:xfrm>
            <a:off x="457200" y="2422525"/>
            <a:ext cx="7961312" cy="2563812"/>
          </a:xfrm>
          <a:prstGeom prst="rect">
            <a:avLst/>
          </a:prstGeom>
          <a:solidFill>
            <a:srgbClr val="99CC00"/>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La función </a:t>
            </a:r>
            <a:r>
              <a:rPr b="1" i="0" lang="en-US" sz="1800" u="none" cap="none" strike="noStrike">
                <a:solidFill>
                  <a:srgbClr val="FF0000"/>
                </a:solidFill>
                <a:latin typeface="Arial"/>
                <a:ea typeface="Arial"/>
                <a:cs typeface="Arial"/>
                <a:sym typeface="Arial"/>
              </a:rPr>
              <a:t>isocosto</a:t>
            </a:r>
            <a:r>
              <a:rPr b="1" i="0" lang="en-US" sz="1800" u="none" cap="none" strike="noStrike">
                <a:solidFill>
                  <a:schemeClr val="dk1"/>
                </a:solidFill>
                <a:latin typeface="Arial"/>
                <a:ea typeface="Arial"/>
                <a:cs typeface="Arial"/>
                <a:sym typeface="Arial"/>
              </a:rPr>
              <a:t> </a:t>
            </a:r>
            <a:r>
              <a:rPr b="0" i="0" lang="en-US" sz="1800" u="none" cap="none" strike="noStrike">
                <a:solidFill>
                  <a:schemeClr val="dk1"/>
                </a:solidFill>
                <a:latin typeface="Arial"/>
                <a:ea typeface="Arial"/>
                <a:cs typeface="Arial"/>
                <a:sym typeface="Arial"/>
              </a:rPr>
              <a:t>expresa las diferentes combinaciones de factor Y</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 y de factor X que una empresa puede adquirir, dados:</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                       El costo total (</a:t>
            </a:r>
            <a:r>
              <a:rPr b="1" i="0" lang="en-US" sz="1800" u="none" cap="none" strike="noStrike">
                <a:solidFill>
                  <a:schemeClr val="dk1"/>
                </a:solidFill>
                <a:latin typeface="Arial"/>
                <a:ea typeface="Arial"/>
                <a:cs typeface="Arial"/>
                <a:sym typeface="Arial"/>
              </a:rPr>
              <a:t>CT</a:t>
            </a:r>
            <a:r>
              <a:rPr b="0" i="0" lang="en-US" sz="1800" u="none" cap="none" strike="noStrike">
                <a:solidFill>
                  <a:schemeClr val="dk1"/>
                </a:solidFill>
                <a:latin typeface="Arial"/>
                <a:ea typeface="Arial"/>
                <a:cs typeface="Arial"/>
                <a:sym typeface="Arial"/>
              </a:rPr>
              <a:t>) de la empresa.</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                       Los precios de los factores (</a:t>
            </a:r>
            <a:r>
              <a:rPr b="1" i="0" lang="en-US" sz="1800" u="none" cap="none" strike="noStrike">
                <a:solidFill>
                  <a:schemeClr val="dk1"/>
                </a:solidFill>
                <a:latin typeface="Arial"/>
                <a:ea typeface="Arial"/>
                <a:cs typeface="Arial"/>
                <a:sym typeface="Arial"/>
              </a:rPr>
              <a:t>PY, PX</a:t>
            </a:r>
            <a:r>
              <a:rPr b="0" i="0" lang="en-US" sz="1800" u="none" cap="none" strike="noStrike">
                <a:solidFill>
                  <a:schemeClr val="dk1"/>
                </a:solidFill>
                <a:latin typeface="Arial"/>
                <a:ea typeface="Arial"/>
                <a:cs typeface="Arial"/>
                <a:sym typeface="Arial"/>
              </a:rPr>
              <a:t>).</a:t>
            </a:r>
          </a:p>
          <a:p>
            <a:pPr indent="0" lvl="0" marL="0" marR="0" rtl="0" algn="l">
              <a:lnSpc>
                <a:spcPct val="100000"/>
              </a:lnSpc>
              <a:spcBef>
                <a:spcPts val="0"/>
              </a:spcBef>
              <a:spcAft>
                <a:spcPts val="0"/>
              </a:spcAft>
              <a:buClr>
                <a:schemeClr val="dk1"/>
              </a:buClr>
              <a:buFont typeface="Calibri"/>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La pendiente de una </a:t>
            </a:r>
            <a:r>
              <a:rPr b="1" i="0" lang="en-US" sz="1800" u="none" cap="none" strike="noStrike">
                <a:solidFill>
                  <a:srgbClr val="FF0000"/>
                </a:solidFill>
                <a:latin typeface="Arial"/>
                <a:ea typeface="Arial"/>
                <a:cs typeface="Arial"/>
                <a:sym typeface="Arial"/>
              </a:rPr>
              <a:t>isocosto</a:t>
            </a:r>
            <a:r>
              <a:rPr b="0" i="0" lang="en-US" sz="1800" u="none" cap="none" strike="noStrike">
                <a:solidFill>
                  <a:schemeClr val="dk1"/>
                </a:solidFill>
                <a:latin typeface="Arial"/>
                <a:ea typeface="Arial"/>
                <a:cs typeface="Arial"/>
                <a:sym typeface="Arial"/>
              </a:rPr>
              <a:t> se obtiene mediante </a:t>
            </a:r>
            <a:r>
              <a:rPr b="1" i="0" lang="en-US" sz="1800" u="none" cap="none" strike="noStrike">
                <a:solidFill>
                  <a:schemeClr val="dk1"/>
                </a:solidFill>
                <a:latin typeface="Arial"/>
                <a:ea typeface="Arial"/>
                <a:cs typeface="Arial"/>
                <a:sym typeface="Arial"/>
              </a:rPr>
              <a:t>PY </a:t>
            </a:r>
            <a:r>
              <a:rPr b="0" i="0" lang="en-US" sz="1800" u="none" cap="none" strike="noStrike">
                <a:solidFill>
                  <a:schemeClr val="dk1"/>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PX</a:t>
            </a:r>
            <a:r>
              <a:rPr b="0" i="0" lang="en-US" sz="1800" u="none" cap="none" strike="noStrike">
                <a:solidFill>
                  <a:schemeClr val="dk1"/>
                </a:solidFill>
                <a:latin typeface="Arial"/>
                <a:ea typeface="Arial"/>
                <a:cs typeface="Arial"/>
                <a:sym typeface="Arial"/>
              </a:rPr>
              <a:t>, </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Donde:</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PY </a:t>
            </a:r>
            <a:r>
              <a:rPr b="0" i="0" lang="en-US" sz="1800" u="none" cap="none" strike="noStrike">
                <a:solidFill>
                  <a:schemeClr val="dk1"/>
                </a:solidFill>
                <a:latin typeface="Arial"/>
                <a:ea typeface="Arial"/>
                <a:cs typeface="Arial"/>
                <a:sym typeface="Arial"/>
              </a:rPr>
              <a:t>es el precio del </a:t>
            </a:r>
            <a:r>
              <a:rPr b="1" i="0" lang="en-US" sz="1800" u="none" cap="none" strike="noStrike">
                <a:solidFill>
                  <a:schemeClr val="dk1"/>
                </a:solidFill>
                <a:latin typeface="Arial"/>
                <a:ea typeface="Arial"/>
                <a:cs typeface="Arial"/>
                <a:sym typeface="Arial"/>
              </a:rPr>
              <a:t>factor Y</a:t>
            </a:r>
            <a:r>
              <a:rPr b="0" i="0" lang="en-US" sz="1800" u="none" cap="none" strike="noStrike">
                <a:solidFill>
                  <a:schemeClr val="dk1"/>
                </a:solidFill>
                <a:latin typeface="Arial"/>
                <a:ea typeface="Arial"/>
                <a:cs typeface="Arial"/>
                <a:sym typeface="Arial"/>
              </a:rPr>
              <a:t>.</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PX </a:t>
            </a:r>
            <a:r>
              <a:rPr b="0" i="0" lang="en-US" sz="1800" u="none" cap="none" strike="noStrike">
                <a:solidFill>
                  <a:schemeClr val="dk1"/>
                </a:solidFill>
                <a:latin typeface="Arial"/>
                <a:ea typeface="Arial"/>
                <a:cs typeface="Arial"/>
                <a:sym typeface="Arial"/>
              </a:rPr>
              <a:t>es el precio del </a:t>
            </a:r>
            <a:r>
              <a:rPr b="1" i="0" lang="en-US" sz="1800" u="none" cap="none" strike="noStrike">
                <a:solidFill>
                  <a:schemeClr val="dk1"/>
                </a:solidFill>
                <a:latin typeface="Arial"/>
                <a:ea typeface="Arial"/>
                <a:cs typeface="Arial"/>
                <a:sym typeface="Arial"/>
              </a:rPr>
              <a:t>factor X.</a:t>
            </a:r>
            <a:r>
              <a:rPr b="0" i="0" lang="en-US" sz="1800" u="none" cap="none" strike="noStrike">
                <a:solidFill>
                  <a:schemeClr val="dk1"/>
                </a:solidFill>
                <a:latin typeface="Arial"/>
                <a:ea typeface="Arial"/>
                <a:cs typeface="Arial"/>
                <a:sym typeface="Arial"/>
              </a:rPr>
              <a:t> </a:t>
            </a:r>
          </a:p>
        </p:txBody>
      </p:sp>
    </p:spTree>
  </p:cSld>
  <p:clrMapOvr>
    <a:masterClrMapping/>
  </p:clrMapOvr>
  <p:transition spd="slow">
    <p:cut/>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05" name="Shape 405"/>
        <p:cNvGrpSpPr/>
        <p:nvPr/>
      </p:nvGrpSpPr>
      <p:grpSpPr>
        <a:xfrm>
          <a:off x="0" y="0"/>
          <a:ext cx="0" cy="0"/>
          <a:chOff x="0" y="0"/>
          <a:chExt cx="0" cy="0"/>
        </a:xfrm>
      </p:grpSpPr>
      <p:pic>
        <p:nvPicPr>
          <p:cNvPr id="406" name="Shape 406"/>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407" name="Shape 407"/>
          <p:cNvPicPr preferRelativeResize="0"/>
          <p:nvPr/>
        </p:nvPicPr>
        <p:blipFill rotWithShape="1">
          <a:blip r:embed="rId4">
            <a:alphaModFix/>
          </a:blip>
          <a:srcRect b="0" l="0" r="0" t="0"/>
          <a:stretch/>
        </p:blipFill>
        <p:spPr>
          <a:xfrm>
            <a:off x="457200" y="1670050"/>
            <a:ext cx="7961312" cy="4949825"/>
          </a:xfrm>
          <a:prstGeom prst="rect">
            <a:avLst/>
          </a:prstGeom>
          <a:noFill/>
          <a:ln>
            <a:noFill/>
          </a:ln>
        </p:spPr>
      </p:pic>
      <p:sp>
        <p:nvSpPr>
          <p:cNvPr id="408" name="Shape 408"/>
          <p:cNvSpPr txBox="1"/>
          <p:nvPr/>
        </p:nvSpPr>
        <p:spPr>
          <a:xfrm>
            <a:off x="4648200" y="304800"/>
            <a:ext cx="2286000"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409" name="Shape 409"/>
          <p:cNvPicPr preferRelativeResize="0"/>
          <p:nvPr/>
        </p:nvPicPr>
        <p:blipFill rotWithShape="1">
          <a:blip r:embed="rId5">
            <a:alphaModFix/>
          </a:blip>
          <a:srcRect b="0" l="0" r="0" t="0"/>
          <a:stretch/>
        </p:blipFill>
        <p:spPr>
          <a:xfrm>
            <a:off x="263525" y="304800"/>
            <a:ext cx="3013074" cy="608011"/>
          </a:xfrm>
          <a:prstGeom prst="rect">
            <a:avLst/>
          </a:prstGeom>
          <a:noFill/>
          <a:ln>
            <a:noFill/>
          </a:ln>
        </p:spPr>
      </p:pic>
      <p:grpSp>
        <p:nvGrpSpPr>
          <p:cNvPr id="410" name="Shape 410"/>
          <p:cNvGrpSpPr/>
          <p:nvPr/>
        </p:nvGrpSpPr>
        <p:grpSpPr>
          <a:xfrm>
            <a:off x="786759" y="2007888"/>
            <a:ext cx="6369602" cy="4177110"/>
            <a:chOff x="2009775" y="2603500"/>
            <a:chExt cx="13220700" cy="8220075"/>
          </a:xfrm>
        </p:grpSpPr>
        <p:cxnSp>
          <p:nvCxnSpPr>
            <p:cNvPr id="411" name="Shape 411"/>
            <p:cNvCxnSpPr/>
            <p:nvPr/>
          </p:nvCxnSpPr>
          <p:spPr>
            <a:xfrm rot="10800000">
              <a:off x="3228975" y="3394075"/>
              <a:ext cx="0" cy="7143749"/>
            </a:xfrm>
            <a:prstGeom prst="straightConnector1">
              <a:avLst/>
            </a:prstGeom>
            <a:noFill/>
            <a:ln cap="flat" cmpd="sng" w="25400">
              <a:solidFill>
                <a:srgbClr val="000000"/>
              </a:solidFill>
              <a:prstDash val="solid"/>
              <a:miter/>
              <a:headEnd len="med" w="med" type="none"/>
              <a:tailEnd len="lg" w="lg" type="triangle"/>
            </a:ln>
          </p:spPr>
        </p:cxnSp>
        <p:cxnSp>
          <p:nvCxnSpPr>
            <p:cNvPr id="412" name="Shape 412"/>
            <p:cNvCxnSpPr/>
            <p:nvPr/>
          </p:nvCxnSpPr>
          <p:spPr>
            <a:xfrm flipH="1" rot="10800000">
              <a:off x="3228975" y="10537824"/>
              <a:ext cx="12001500" cy="1587"/>
            </a:xfrm>
            <a:prstGeom prst="straightConnector1">
              <a:avLst/>
            </a:prstGeom>
            <a:noFill/>
            <a:ln cap="flat" cmpd="sng" w="25400">
              <a:solidFill>
                <a:srgbClr val="000000"/>
              </a:solidFill>
              <a:prstDash val="solid"/>
              <a:miter/>
              <a:headEnd len="med" w="med" type="none"/>
              <a:tailEnd len="lg" w="lg" type="triangle"/>
            </a:ln>
          </p:spPr>
        </p:cxnSp>
        <p:cxnSp>
          <p:nvCxnSpPr>
            <p:cNvPr id="413" name="Shape 413"/>
            <p:cNvCxnSpPr/>
            <p:nvPr/>
          </p:nvCxnSpPr>
          <p:spPr>
            <a:xfrm>
              <a:off x="3228975" y="4251325"/>
              <a:ext cx="3143249" cy="6286499"/>
            </a:xfrm>
            <a:prstGeom prst="straightConnector1">
              <a:avLst/>
            </a:prstGeom>
            <a:noFill/>
            <a:ln cap="flat" cmpd="sng" w="25400">
              <a:solidFill>
                <a:srgbClr val="000000"/>
              </a:solidFill>
              <a:prstDash val="solid"/>
              <a:miter/>
              <a:headEnd len="med" w="med" type="none"/>
              <a:tailEnd len="med" w="med" type="none"/>
            </a:ln>
          </p:spPr>
        </p:cxnSp>
        <p:sp>
          <p:nvSpPr>
            <p:cNvPr id="414" name="Shape 414"/>
            <p:cNvSpPr txBox="1"/>
            <p:nvPr/>
          </p:nvSpPr>
          <p:spPr>
            <a:xfrm>
              <a:off x="12372975" y="9966325"/>
              <a:ext cx="2857499"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FACTOR X</a:t>
              </a:r>
            </a:p>
          </p:txBody>
        </p:sp>
        <p:sp>
          <p:nvSpPr>
            <p:cNvPr id="415" name="Shape 415"/>
            <p:cNvSpPr txBox="1"/>
            <p:nvPr/>
          </p:nvSpPr>
          <p:spPr>
            <a:xfrm>
              <a:off x="7229475" y="2822575"/>
              <a:ext cx="6286499"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RECTA ISOCOSTO</a:t>
              </a:r>
            </a:p>
          </p:txBody>
        </p:sp>
        <p:sp>
          <p:nvSpPr>
            <p:cNvPr id="416" name="Shape 416"/>
            <p:cNvSpPr/>
            <p:nvPr/>
          </p:nvSpPr>
          <p:spPr>
            <a:xfrm>
              <a:off x="4895850" y="9347200"/>
              <a:ext cx="904875" cy="1190625"/>
            </a:xfrm>
            <a:custGeom>
              <a:pathLst>
                <a:path extrusionOk="0" h="750" w="570">
                  <a:moveTo>
                    <a:pt x="30" y="750"/>
                  </a:moveTo>
                  <a:cubicBezTo>
                    <a:pt x="15" y="705"/>
                    <a:pt x="0" y="660"/>
                    <a:pt x="30" y="570"/>
                  </a:cubicBezTo>
                  <a:cubicBezTo>
                    <a:pt x="60" y="480"/>
                    <a:pt x="150" y="300"/>
                    <a:pt x="210" y="210"/>
                  </a:cubicBezTo>
                  <a:cubicBezTo>
                    <a:pt x="270" y="120"/>
                    <a:pt x="330" y="60"/>
                    <a:pt x="390" y="30"/>
                  </a:cubicBezTo>
                  <a:cubicBezTo>
                    <a:pt x="450" y="0"/>
                    <a:pt x="510" y="15"/>
                    <a:pt x="570" y="30"/>
                  </a:cubicBezTo>
                </a:path>
              </a:pathLst>
            </a:custGeom>
            <a:noFill/>
            <a:ln cap="flat" cmpd="sng" w="254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7" name="Shape 417"/>
            <p:cNvSpPr txBox="1"/>
            <p:nvPr/>
          </p:nvSpPr>
          <p:spPr>
            <a:xfrm>
              <a:off x="3228975" y="3679825"/>
              <a:ext cx="4000500"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Y</a:t>
              </a:r>
              <a:r>
                <a:rPr b="0" baseline="-25000" i="0" lang="en-US" sz="1200" u="none" cap="none" strike="noStrike">
                  <a:solidFill>
                    <a:schemeClr val="dk1"/>
                  </a:solidFill>
                  <a:latin typeface="Arial"/>
                  <a:ea typeface="Arial"/>
                  <a:cs typeface="Arial"/>
                  <a:sym typeface="Arial"/>
                </a:rPr>
                <a:t>MÁX</a:t>
              </a:r>
              <a:r>
                <a:rPr b="0" i="0" lang="en-US" sz="1200" u="none" cap="none" strike="noStrike">
                  <a:solidFill>
                    <a:schemeClr val="dk1"/>
                  </a:solidFill>
                  <a:latin typeface="Arial"/>
                  <a:ea typeface="Arial"/>
                  <a:cs typeface="Arial"/>
                  <a:sym typeface="Arial"/>
                </a:rPr>
                <a:t> = CT/PY</a:t>
              </a:r>
            </a:p>
          </p:txBody>
        </p:sp>
        <p:sp>
          <p:nvSpPr>
            <p:cNvPr id="418" name="Shape 418"/>
            <p:cNvSpPr txBox="1"/>
            <p:nvPr/>
          </p:nvSpPr>
          <p:spPr>
            <a:xfrm>
              <a:off x="3609975" y="9394825"/>
              <a:ext cx="1714500"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PY/PX</a:t>
              </a:r>
            </a:p>
          </p:txBody>
        </p:sp>
        <p:sp>
          <p:nvSpPr>
            <p:cNvPr id="419" name="Shape 419"/>
            <p:cNvSpPr txBox="1"/>
            <p:nvPr/>
          </p:nvSpPr>
          <p:spPr>
            <a:xfrm>
              <a:off x="7788275" y="4537075"/>
              <a:ext cx="7429500" cy="28574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CT = F (Y; X)= PY *Y + PX * X</a:t>
              </a:r>
            </a:p>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∂CT/∂F= 0 </a:t>
              </a:r>
            </a:p>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∂Y*PY + ∂X*PX = 0</a:t>
              </a:r>
            </a:p>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PY / PX = -∂X/∂Y </a:t>
              </a:r>
            </a:p>
            <a:p>
              <a:pPr indent="0" lvl="0" marL="0" marR="0" rtl="0" algn="l">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420" name="Shape 420"/>
            <p:cNvSpPr txBox="1"/>
            <p:nvPr/>
          </p:nvSpPr>
          <p:spPr>
            <a:xfrm>
              <a:off x="2009775" y="2603500"/>
              <a:ext cx="2857499"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FACTOR Y</a:t>
              </a:r>
            </a:p>
          </p:txBody>
        </p:sp>
      </p:grpSp>
      <p:sp>
        <p:nvSpPr>
          <p:cNvPr id="421" name="Shape 421"/>
          <p:cNvSpPr txBox="1"/>
          <p:nvPr/>
        </p:nvSpPr>
        <p:spPr>
          <a:xfrm>
            <a:off x="3035300" y="227012"/>
            <a:ext cx="5702299" cy="776286"/>
          </a:xfrm>
          <a:prstGeom prst="rect">
            <a:avLst/>
          </a:prstGeom>
          <a:noFill/>
          <a:ln>
            <a:noFill/>
          </a:ln>
        </p:spPr>
        <p:txBody>
          <a:bodyPr anchorCtr="0" anchor="ctr" bIns="0" lIns="91425" rIns="91425" tIns="45700">
            <a:noAutofit/>
          </a:bodyPr>
          <a:lstStyle/>
          <a:p>
            <a:pPr indent="0" lvl="4" marL="1828800" marR="0" rtl="0" algn="ctr">
              <a:lnSpc>
                <a:spcPct val="100000"/>
              </a:lnSpc>
              <a:spcBef>
                <a:spcPts val="0"/>
              </a:spcBef>
              <a:spcAft>
                <a:spcPts val="0"/>
              </a:spcAft>
              <a:buClr>
                <a:srgbClr val="0000FF"/>
              </a:buClr>
              <a:buSzPct val="25000"/>
              <a:buFont typeface="Verdana"/>
              <a:buNone/>
            </a:pPr>
            <a:r>
              <a:rPr b="1" i="0" lang="en-US" sz="2400" u="none" cap="none" strike="noStrike">
                <a:solidFill>
                  <a:schemeClr val="dk1"/>
                </a:solidFill>
                <a:latin typeface="Verdana"/>
                <a:ea typeface="Verdana"/>
                <a:cs typeface="Verdana"/>
                <a:sym typeface="Verdana"/>
              </a:rPr>
              <a:t>RECTA DE </a:t>
            </a:r>
            <a:r>
              <a:rPr b="1" i="1" lang="en-US" sz="2400" u="none" cap="none" strike="noStrike">
                <a:solidFill>
                  <a:schemeClr val="dk1"/>
                </a:solidFill>
                <a:latin typeface="Verdana"/>
                <a:ea typeface="Verdana"/>
                <a:cs typeface="Verdana"/>
                <a:sym typeface="Verdana"/>
              </a:rPr>
              <a:t>ISOCOSTO </a:t>
            </a:r>
          </a:p>
          <a:p>
            <a:pPr indent="0" lvl="0" marL="0" marR="0" rtl="0" algn="l">
              <a:lnSpc>
                <a:spcPct val="100000"/>
              </a:lnSpc>
              <a:spcBef>
                <a:spcPts val="0"/>
              </a:spcBef>
              <a:spcAft>
                <a:spcPts val="0"/>
              </a:spcAft>
              <a:buNone/>
            </a:pPr>
            <a:r>
              <a:t/>
            </a:r>
            <a:endParaRPr b="1" i="1" sz="2400" u="none" cap="none" strike="noStrike">
              <a:solidFill>
                <a:schemeClr val="dk1"/>
              </a:solidFill>
              <a:latin typeface="Verdana"/>
              <a:ea typeface="Verdana"/>
              <a:cs typeface="Verdana"/>
              <a:sym typeface="Verdana"/>
            </a:endParaRPr>
          </a:p>
        </p:txBody>
      </p:sp>
      <p:grpSp>
        <p:nvGrpSpPr>
          <p:cNvPr id="422" name="Shape 422"/>
          <p:cNvGrpSpPr/>
          <p:nvPr/>
        </p:nvGrpSpPr>
        <p:grpSpPr>
          <a:xfrm>
            <a:off x="786759" y="2007888"/>
            <a:ext cx="6369602" cy="4177110"/>
            <a:chOff x="2009775" y="2603500"/>
            <a:chExt cx="13220700" cy="8220075"/>
          </a:xfrm>
        </p:grpSpPr>
        <p:cxnSp>
          <p:nvCxnSpPr>
            <p:cNvPr id="423" name="Shape 423"/>
            <p:cNvCxnSpPr/>
            <p:nvPr/>
          </p:nvCxnSpPr>
          <p:spPr>
            <a:xfrm rot="10800000">
              <a:off x="3228975" y="3394075"/>
              <a:ext cx="0" cy="7143749"/>
            </a:xfrm>
            <a:prstGeom prst="straightConnector1">
              <a:avLst/>
            </a:prstGeom>
            <a:noFill/>
            <a:ln cap="flat" cmpd="sng" w="25400">
              <a:solidFill>
                <a:srgbClr val="000000"/>
              </a:solidFill>
              <a:prstDash val="solid"/>
              <a:miter/>
              <a:headEnd len="med" w="med" type="none"/>
              <a:tailEnd len="lg" w="lg" type="triangle"/>
            </a:ln>
          </p:spPr>
        </p:cxnSp>
        <p:cxnSp>
          <p:nvCxnSpPr>
            <p:cNvPr id="424" name="Shape 424"/>
            <p:cNvCxnSpPr/>
            <p:nvPr/>
          </p:nvCxnSpPr>
          <p:spPr>
            <a:xfrm flipH="1" rot="10800000">
              <a:off x="3228975" y="10537824"/>
              <a:ext cx="12001500" cy="1587"/>
            </a:xfrm>
            <a:prstGeom prst="straightConnector1">
              <a:avLst/>
            </a:prstGeom>
            <a:noFill/>
            <a:ln cap="flat" cmpd="sng" w="25400">
              <a:solidFill>
                <a:srgbClr val="000000"/>
              </a:solidFill>
              <a:prstDash val="solid"/>
              <a:miter/>
              <a:headEnd len="med" w="med" type="none"/>
              <a:tailEnd len="lg" w="lg" type="triangle"/>
            </a:ln>
          </p:spPr>
        </p:cxnSp>
        <p:cxnSp>
          <p:nvCxnSpPr>
            <p:cNvPr id="425" name="Shape 425"/>
            <p:cNvCxnSpPr/>
            <p:nvPr/>
          </p:nvCxnSpPr>
          <p:spPr>
            <a:xfrm>
              <a:off x="3228975" y="4251325"/>
              <a:ext cx="3143249" cy="6286499"/>
            </a:xfrm>
            <a:prstGeom prst="straightConnector1">
              <a:avLst/>
            </a:prstGeom>
            <a:noFill/>
            <a:ln cap="flat" cmpd="sng" w="25400">
              <a:solidFill>
                <a:srgbClr val="000000"/>
              </a:solidFill>
              <a:prstDash val="solid"/>
              <a:miter/>
              <a:headEnd len="med" w="med" type="none"/>
              <a:tailEnd len="med" w="med" type="none"/>
            </a:ln>
          </p:spPr>
        </p:cxnSp>
        <p:sp>
          <p:nvSpPr>
            <p:cNvPr id="426" name="Shape 426"/>
            <p:cNvSpPr txBox="1"/>
            <p:nvPr/>
          </p:nvSpPr>
          <p:spPr>
            <a:xfrm>
              <a:off x="12372975" y="9966325"/>
              <a:ext cx="2857499"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FACTOR X</a:t>
              </a:r>
            </a:p>
          </p:txBody>
        </p:sp>
        <p:sp>
          <p:nvSpPr>
            <p:cNvPr id="427" name="Shape 427"/>
            <p:cNvSpPr txBox="1"/>
            <p:nvPr/>
          </p:nvSpPr>
          <p:spPr>
            <a:xfrm>
              <a:off x="7229475" y="2822575"/>
              <a:ext cx="6286499"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RECTA ISOCOSTO</a:t>
              </a:r>
            </a:p>
          </p:txBody>
        </p:sp>
        <p:sp>
          <p:nvSpPr>
            <p:cNvPr id="428" name="Shape 428"/>
            <p:cNvSpPr/>
            <p:nvPr/>
          </p:nvSpPr>
          <p:spPr>
            <a:xfrm>
              <a:off x="4895850" y="9347200"/>
              <a:ext cx="904875" cy="1190625"/>
            </a:xfrm>
            <a:custGeom>
              <a:pathLst>
                <a:path extrusionOk="0" h="750" w="570">
                  <a:moveTo>
                    <a:pt x="30" y="750"/>
                  </a:moveTo>
                  <a:cubicBezTo>
                    <a:pt x="15" y="705"/>
                    <a:pt x="0" y="660"/>
                    <a:pt x="30" y="570"/>
                  </a:cubicBezTo>
                  <a:cubicBezTo>
                    <a:pt x="60" y="480"/>
                    <a:pt x="150" y="300"/>
                    <a:pt x="210" y="210"/>
                  </a:cubicBezTo>
                  <a:cubicBezTo>
                    <a:pt x="270" y="120"/>
                    <a:pt x="330" y="60"/>
                    <a:pt x="390" y="30"/>
                  </a:cubicBezTo>
                  <a:cubicBezTo>
                    <a:pt x="450" y="0"/>
                    <a:pt x="510" y="15"/>
                    <a:pt x="570" y="30"/>
                  </a:cubicBezTo>
                </a:path>
              </a:pathLst>
            </a:custGeom>
            <a:noFill/>
            <a:ln cap="flat" cmpd="sng" w="254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9" name="Shape 429"/>
            <p:cNvSpPr txBox="1"/>
            <p:nvPr/>
          </p:nvSpPr>
          <p:spPr>
            <a:xfrm>
              <a:off x="3228975" y="3679825"/>
              <a:ext cx="4000500"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Y</a:t>
              </a:r>
              <a:r>
                <a:rPr b="0" baseline="-25000" i="0" lang="en-US" sz="1200" u="none" cap="none" strike="noStrike">
                  <a:solidFill>
                    <a:schemeClr val="dk1"/>
                  </a:solidFill>
                  <a:latin typeface="Arial"/>
                  <a:ea typeface="Arial"/>
                  <a:cs typeface="Arial"/>
                  <a:sym typeface="Arial"/>
                </a:rPr>
                <a:t>MÁX</a:t>
              </a:r>
              <a:r>
                <a:rPr b="0" i="0" lang="en-US" sz="1200" u="none" cap="none" strike="noStrike">
                  <a:solidFill>
                    <a:schemeClr val="dk1"/>
                  </a:solidFill>
                  <a:latin typeface="Arial"/>
                  <a:ea typeface="Arial"/>
                  <a:cs typeface="Arial"/>
                  <a:sym typeface="Arial"/>
                </a:rPr>
                <a:t> = CT/PY</a:t>
              </a:r>
            </a:p>
          </p:txBody>
        </p:sp>
        <p:sp>
          <p:nvSpPr>
            <p:cNvPr id="430" name="Shape 430"/>
            <p:cNvSpPr txBox="1"/>
            <p:nvPr/>
          </p:nvSpPr>
          <p:spPr>
            <a:xfrm>
              <a:off x="3609975" y="9394825"/>
              <a:ext cx="1714500"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PY/PX</a:t>
              </a:r>
            </a:p>
          </p:txBody>
        </p:sp>
        <p:sp>
          <p:nvSpPr>
            <p:cNvPr id="431" name="Shape 431"/>
            <p:cNvSpPr txBox="1"/>
            <p:nvPr/>
          </p:nvSpPr>
          <p:spPr>
            <a:xfrm>
              <a:off x="7788275" y="4537075"/>
              <a:ext cx="7429500" cy="28574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CT = F (Y; X)= PY *Y + PX * X</a:t>
              </a:r>
            </a:p>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∂CT/∂F= 0 </a:t>
              </a:r>
            </a:p>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∂Y*PY + ∂X*PX = 0</a:t>
              </a:r>
            </a:p>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PY / PX = -∂X/∂Y </a:t>
              </a:r>
            </a:p>
            <a:p>
              <a:pPr indent="0" lvl="0" marL="0" marR="0" rtl="0" algn="l">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432" name="Shape 432"/>
            <p:cNvSpPr txBox="1"/>
            <p:nvPr/>
          </p:nvSpPr>
          <p:spPr>
            <a:xfrm>
              <a:off x="2009775" y="2603500"/>
              <a:ext cx="2857499"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FACTOR Y</a:t>
              </a:r>
            </a:p>
          </p:txBody>
        </p:sp>
      </p:grpSp>
      <p:grpSp>
        <p:nvGrpSpPr>
          <p:cNvPr id="433" name="Shape 433"/>
          <p:cNvGrpSpPr/>
          <p:nvPr/>
        </p:nvGrpSpPr>
        <p:grpSpPr>
          <a:xfrm>
            <a:off x="786759" y="2007888"/>
            <a:ext cx="6369602" cy="4177110"/>
            <a:chOff x="2009775" y="2603500"/>
            <a:chExt cx="13220700" cy="8220075"/>
          </a:xfrm>
        </p:grpSpPr>
        <p:cxnSp>
          <p:nvCxnSpPr>
            <p:cNvPr id="434" name="Shape 434"/>
            <p:cNvCxnSpPr/>
            <p:nvPr/>
          </p:nvCxnSpPr>
          <p:spPr>
            <a:xfrm rot="10800000">
              <a:off x="3228975" y="3394075"/>
              <a:ext cx="0" cy="7143749"/>
            </a:xfrm>
            <a:prstGeom prst="straightConnector1">
              <a:avLst/>
            </a:prstGeom>
            <a:noFill/>
            <a:ln cap="flat" cmpd="sng" w="25400">
              <a:solidFill>
                <a:srgbClr val="000000"/>
              </a:solidFill>
              <a:prstDash val="solid"/>
              <a:miter/>
              <a:headEnd len="med" w="med" type="none"/>
              <a:tailEnd len="lg" w="lg" type="triangle"/>
            </a:ln>
          </p:spPr>
        </p:cxnSp>
        <p:cxnSp>
          <p:nvCxnSpPr>
            <p:cNvPr id="435" name="Shape 435"/>
            <p:cNvCxnSpPr/>
            <p:nvPr/>
          </p:nvCxnSpPr>
          <p:spPr>
            <a:xfrm flipH="1" rot="10800000">
              <a:off x="3228975" y="10537824"/>
              <a:ext cx="12001500" cy="1587"/>
            </a:xfrm>
            <a:prstGeom prst="straightConnector1">
              <a:avLst/>
            </a:prstGeom>
            <a:noFill/>
            <a:ln cap="flat" cmpd="sng" w="25400">
              <a:solidFill>
                <a:srgbClr val="000000"/>
              </a:solidFill>
              <a:prstDash val="solid"/>
              <a:miter/>
              <a:headEnd len="med" w="med" type="none"/>
              <a:tailEnd len="lg" w="lg" type="triangle"/>
            </a:ln>
          </p:spPr>
        </p:cxnSp>
        <p:cxnSp>
          <p:nvCxnSpPr>
            <p:cNvPr id="436" name="Shape 436"/>
            <p:cNvCxnSpPr/>
            <p:nvPr/>
          </p:nvCxnSpPr>
          <p:spPr>
            <a:xfrm>
              <a:off x="3228975" y="4251325"/>
              <a:ext cx="3143249" cy="6286499"/>
            </a:xfrm>
            <a:prstGeom prst="straightConnector1">
              <a:avLst/>
            </a:prstGeom>
            <a:noFill/>
            <a:ln cap="flat" cmpd="sng" w="25400">
              <a:solidFill>
                <a:srgbClr val="000000"/>
              </a:solidFill>
              <a:prstDash val="solid"/>
              <a:miter/>
              <a:headEnd len="med" w="med" type="none"/>
              <a:tailEnd len="med" w="med" type="none"/>
            </a:ln>
          </p:spPr>
        </p:cxnSp>
        <p:sp>
          <p:nvSpPr>
            <p:cNvPr id="437" name="Shape 437"/>
            <p:cNvSpPr txBox="1"/>
            <p:nvPr/>
          </p:nvSpPr>
          <p:spPr>
            <a:xfrm>
              <a:off x="12372975" y="9966325"/>
              <a:ext cx="2857499"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FACTOR X</a:t>
              </a:r>
            </a:p>
          </p:txBody>
        </p:sp>
        <p:sp>
          <p:nvSpPr>
            <p:cNvPr id="438" name="Shape 438"/>
            <p:cNvSpPr txBox="1"/>
            <p:nvPr/>
          </p:nvSpPr>
          <p:spPr>
            <a:xfrm>
              <a:off x="7229475" y="2822575"/>
              <a:ext cx="6286499"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RECTA ISOCOSTO</a:t>
              </a:r>
            </a:p>
          </p:txBody>
        </p:sp>
        <p:sp>
          <p:nvSpPr>
            <p:cNvPr id="439" name="Shape 439"/>
            <p:cNvSpPr/>
            <p:nvPr/>
          </p:nvSpPr>
          <p:spPr>
            <a:xfrm>
              <a:off x="4895850" y="9347200"/>
              <a:ext cx="904875" cy="1190625"/>
            </a:xfrm>
            <a:custGeom>
              <a:pathLst>
                <a:path extrusionOk="0" h="750" w="570">
                  <a:moveTo>
                    <a:pt x="30" y="750"/>
                  </a:moveTo>
                  <a:cubicBezTo>
                    <a:pt x="15" y="705"/>
                    <a:pt x="0" y="660"/>
                    <a:pt x="30" y="570"/>
                  </a:cubicBezTo>
                  <a:cubicBezTo>
                    <a:pt x="60" y="480"/>
                    <a:pt x="150" y="300"/>
                    <a:pt x="210" y="210"/>
                  </a:cubicBezTo>
                  <a:cubicBezTo>
                    <a:pt x="270" y="120"/>
                    <a:pt x="330" y="60"/>
                    <a:pt x="390" y="30"/>
                  </a:cubicBezTo>
                  <a:cubicBezTo>
                    <a:pt x="450" y="0"/>
                    <a:pt x="510" y="15"/>
                    <a:pt x="570" y="30"/>
                  </a:cubicBezTo>
                </a:path>
              </a:pathLst>
            </a:custGeom>
            <a:noFill/>
            <a:ln cap="flat" cmpd="sng" w="254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0" name="Shape 440"/>
            <p:cNvSpPr txBox="1"/>
            <p:nvPr/>
          </p:nvSpPr>
          <p:spPr>
            <a:xfrm>
              <a:off x="3228975" y="3679825"/>
              <a:ext cx="4000500"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480"/>
                </a:spcAft>
                <a:buClr>
                  <a:schemeClr val="dk1"/>
                </a:buClr>
                <a:buSzPct val="25000"/>
                <a:buFont typeface="Arial"/>
                <a:buNone/>
              </a:pPr>
              <a:r>
                <a:rPr b="1" i="0" lang="en-US" sz="1200" u="none" cap="none" strike="noStrike">
                  <a:solidFill>
                    <a:schemeClr val="dk1"/>
                  </a:solidFill>
                  <a:latin typeface="Arial"/>
                  <a:ea typeface="Arial"/>
                  <a:cs typeface="Arial"/>
                  <a:sym typeface="Arial"/>
                </a:rPr>
                <a:t>Y</a:t>
              </a:r>
              <a:r>
                <a:rPr b="1" baseline="-25000" i="0" lang="en-US" sz="1200" u="none" cap="none" strike="noStrike">
                  <a:solidFill>
                    <a:schemeClr val="dk1"/>
                  </a:solidFill>
                  <a:latin typeface="Arial"/>
                  <a:ea typeface="Arial"/>
                  <a:cs typeface="Arial"/>
                  <a:sym typeface="Arial"/>
                </a:rPr>
                <a:t>MÁX</a:t>
              </a:r>
              <a:r>
                <a:rPr b="1" i="0" lang="en-US" sz="1200" u="none" cap="none" strike="noStrike">
                  <a:solidFill>
                    <a:schemeClr val="dk1"/>
                  </a:solidFill>
                  <a:latin typeface="Arial"/>
                  <a:ea typeface="Arial"/>
                  <a:cs typeface="Arial"/>
                  <a:sym typeface="Arial"/>
                </a:rPr>
                <a:t> = CT/PY</a:t>
              </a:r>
            </a:p>
          </p:txBody>
        </p:sp>
        <p:sp>
          <p:nvSpPr>
            <p:cNvPr id="441" name="Shape 441"/>
            <p:cNvSpPr txBox="1"/>
            <p:nvPr/>
          </p:nvSpPr>
          <p:spPr>
            <a:xfrm>
              <a:off x="3609975" y="9394825"/>
              <a:ext cx="1714500"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PY/PX</a:t>
              </a:r>
            </a:p>
          </p:txBody>
        </p:sp>
        <p:sp>
          <p:nvSpPr>
            <p:cNvPr id="442" name="Shape 442"/>
            <p:cNvSpPr txBox="1"/>
            <p:nvPr/>
          </p:nvSpPr>
          <p:spPr>
            <a:xfrm>
              <a:off x="7788275" y="4537075"/>
              <a:ext cx="7429500" cy="2857499"/>
            </a:xfrm>
            <a:prstGeom prst="rect">
              <a:avLst/>
            </a:prstGeom>
            <a:solidFill>
              <a:srgbClr val="FFFF00"/>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CT = F (Y; X)= PY *Y + PX * X</a:t>
              </a:r>
            </a:p>
            <a:p>
              <a:pPr indent="0" lvl="0" marL="0" marR="0" rtl="0" algn="l">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∂CT/∂F= 0 </a:t>
              </a:r>
            </a:p>
            <a:p>
              <a:pPr indent="0" lvl="0" marL="0" marR="0" rtl="0" algn="l">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∂Y*PY + ∂X*PX = 0</a:t>
              </a:r>
            </a:p>
            <a:p>
              <a:pPr indent="0" lvl="0" marL="0" marR="0" rtl="0" algn="l">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PY / PX = - ∂X/∂Y </a:t>
              </a:r>
            </a:p>
            <a:p>
              <a:pPr indent="0" lvl="0" marL="0" marR="0" rtl="0" algn="l">
                <a:lnSpc>
                  <a:spcPct val="100000"/>
                </a:lnSpc>
                <a:spcBef>
                  <a:spcPts val="0"/>
                </a:spcBef>
                <a:spcAft>
                  <a:spcPts val="0"/>
                </a:spcAft>
                <a:buNone/>
              </a:pPr>
              <a:r>
                <a:t/>
              </a:r>
              <a:endParaRPr b="1" i="0" sz="1400" u="none" cap="none" strike="noStrike">
                <a:solidFill>
                  <a:schemeClr val="dk1"/>
                </a:solidFill>
                <a:latin typeface="Arial"/>
                <a:ea typeface="Arial"/>
                <a:cs typeface="Arial"/>
                <a:sym typeface="Arial"/>
              </a:endParaRPr>
            </a:p>
          </p:txBody>
        </p:sp>
        <p:sp>
          <p:nvSpPr>
            <p:cNvPr id="443" name="Shape 443"/>
            <p:cNvSpPr txBox="1"/>
            <p:nvPr/>
          </p:nvSpPr>
          <p:spPr>
            <a:xfrm>
              <a:off x="2009775" y="2603500"/>
              <a:ext cx="2857499"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FACTOR Y</a:t>
              </a:r>
            </a:p>
          </p:txBody>
        </p:sp>
      </p:grpSp>
      <p:sp>
        <p:nvSpPr>
          <p:cNvPr id="444" name="Shape 444"/>
          <p:cNvSpPr txBox="1"/>
          <p:nvPr/>
        </p:nvSpPr>
        <p:spPr>
          <a:xfrm>
            <a:off x="2667000" y="6107112"/>
            <a:ext cx="1135062"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X</a:t>
            </a:r>
            <a:r>
              <a:rPr b="1" baseline="-25000" i="0" lang="en-US" sz="1200" u="none" cap="none" strike="noStrike">
                <a:solidFill>
                  <a:schemeClr val="dk1"/>
                </a:solidFill>
                <a:latin typeface="Arial"/>
                <a:ea typeface="Arial"/>
                <a:cs typeface="Arial"/>
                <a:sym typeface="Arial"/>
              </a:rPr>
              <a:t>MÁX</a:t>
            </a:r>
            <a:r>
              <a:rPr b="1" i="0" lang="en-US" sz="1200" u="none" cap="none" strike="noStrike">
                <a:solidFill>
                  <a:schemeClr val="dk1"/>
                </a:solidFill>
                <a:latin typeface="Arial"/>
                <a:ea typeface="Arial"/>
                <a:cs typeface="Arial"/>
                <a:sym typeface="Arial"/>
              </a:rPr>
              <a:t> = CT/PX</a:t>
            </a:r>
          </a:p>
        </p:txBody>
      </p:sp>
    </p:spTree>
  </p:cSld>
  <p:clrMapOvr>
    <a:masterClrMapping/>
  </p:clrMapOvr>
  <p:transition spd="slow">
    <p:cut/>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48" name="Shape 448"/>
        <p:cNvGrpSpPr/>
        <p:nvPr/>
      </p:nvGrpSpPr>
      <p:grpSpPr>
        <a:xfrm>
          <a:off x="0" y="0"/>
          <a:ext cx="0" cy="0"/>
          <a:chOff x="0" y="0"/>
          <a:chExt cx="0" cy="0"/>
        </a:xfrm>
      </p:grpSpPr>
      <p:pic>
        <p:nvPicPr>
          <p:cNvPr id="449" name="Shape 449"/>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450" name="Shape 450"/>
          <p:cNvPicPr preferRelativeResize="0"/>
          <p:nvPr/>
        </p:nvPicPr>
        <p:blipFill rotWithShape="1">
          <a:blip r:embed="rId4">
            <a:alphaModFix/>
          </a:blip>
          <a:srcRect b="0" l="0" r="0" t="0"/>
          <a:stretch/>
        </p:blipFill>
        <p:spPr>
          <a:xfrm>
            <a:off x="255587" y="1444625"/>
            <a:ext cx="8626474" cy="5114925"/>
          </a:xfrm>
          <a:prstGeom prst="rect">
            <a:avLst/>
          </a:prstGeom>
          <a:noFill/>
          <a:ln>
            <a:noFill/>
          </a:ln>
        </p:spPr>
      </p:pic>
      <p:sp>
        <p:nvSpPr>
          <p:cNvPr id="451" name="Shape 451"/>
          <p:cNvSpPr txBox="1"/>
          <p:nvPr/>
        </p:nvSpPr>
        <p:spPr>
          <a:xfrm>
            <a:off x="3200400" y="76200"/>
            <a:ext cx="5867400"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000000"/>
              </a:buClr>
              <a:buSzPct val="25000"/>
              <a:buFont typeface="Arial"/>
              <a:buNone/>
            </a:pPr>
            <a:r>
              <a:rPr b="1" i="1" lang="en-US" sz="2400" u="none" cap="none" strike="noStrike">
                <a:solidFill>
                  <a:srgbClr val="000000"/>
                </a:solidFill>
                <a:latin typeface="Arial"/>
                <a:ea typeface="Arial"/>
                <a:cs typeface="Arial"/>
                <a:sym typeface="Arial"/>
              </a:rPr>
              <a:t>EQUILIBRIO DEL PRODUCTOR</a:t>
            </a:r>
          </a:p>
          <a:p>
            <a:pPr indent="0" lvl="0" marL="0" marR="0" rtl="0" algn="ctr">
              <a:lnSpc>
                <a:spcPct val="100000"/>
              </a:lnSpc>
              <a:spcBef>
                <a:spcPts val="0"/>
              </a:spcBef>
              <a:spcAft>
                <a:spcPts val="0"/>
              </a:spcAft>
              <a:buClr>
                <a:srgbClr val="000000"/>
              </a:buClr>
              <a:buSzPct val="25000"/>
              <a:buFont typeface="Arial"/>
              <a:buNone/>
            </a:pPr>
            <a:r>
              <a:rPr b="1" i="1" lang="en-US" sz="2400" u="none" cap="none" strike="noStrike">
                <a:solidFill>
                  <a:srgbClr val="000000"/>
                </a:solidFill>
                <a:latin typeface="Arial"/>
                <a:ea typeface="Arial"/>
                <a:cs typeface="Arial"/>
                <a:sym typeface="Arial"/>
              </a:rPr>
              <a:t>PRINCIPIO DE EQUIMARGINALIDAD</a:t>
            </a:r>
          </a:p>
        </p:txBody>
      </p:sp>
      <p:pic>
        <p:nvPicPr>
          <p:cNvPr id="452" name="Shape 452"/>
          <p:cNvPicPr preferRelativeResize="0"/>
          <p:nvPr/>
        </p:nvPicPr>
        <p:blipFill rotWithShape="1">
          <a:blip r:embed="rId5">
            <a:alphaModFix/>
          </a:blip>
          <a:srcRect b="0" l="0" r="0" t="0"/>
          <a:stretch/>
        </p:blipFill>
        <p:spPr>
          <a:xfrm>
            <a:off x="263525" y="304800"/>
            <a:ext cx="3013074" cy="608011"/>
          </a:xfrm>
          <a:prstGeom prst="rect">
            <a:avLst/>
          </a:prstGeom>
          <a:noFill/>
          <a:ln>
            <a:noFill/>
          </a:ln>
        </p:spPr>
      </p:pic>
      <p:grpSp>
        <p:nvGrpSpPr>
          <p:cNvPr id="453" name="Shape 453"/>
          <p:cNvGrpSpPr/>
          <p:nvPr/>
        </p:nvGrpSpPr>
        <p:grpSpPr>
          <a:xfrm>
            <a:off x="631093" y="1959173"/>
            <a:ext cx="7754932" cy="4289226"/>
            <a:chOff x="2009775" y="2822575"/>
            <a:chExt cx="14935199" cy="8572500"/>
          </a:xfrm>
        </p:grpSpPr>
        <p:cxnSp>
          <p:nvCxnSpPr>
            <p:cNvPr id="454" name="Shape 454"/>
            <p:cNvCxnSpPr/>
            <p:nvPr/>
          </p:nvCxnSpPr>
          <p:spPr>
            <a:xfrm rot="10800000">
              <a:off x="3228975" y="3394075"/>
              <a:ext cx="0" cy="7143749"/>
            </a:xfrm>
            <a:prstGeom prst="straightConnector1">
              <a:avLst/>
            </a:prstGeom>
            <a:noFill/>
            <a:ln cap="flat" cmpd="sng" w="25400">
              <a:solidFill>
                <a:srgbClr val="000000"/>
              </a:solidFill>
              <a:prstDash val="solid"/>
              <a:miter/>
              <a:headEnd len="med" w="med" type="none"/>
              <a:tailEnd len="lg" w="lg" type="triangle"/>
            </a:ln>
          </p:spPr>
        </p:cxnSp>
        <p:cxnSp>
          <p:nvCxnSpPr>
            <p:cNvPr id="455" name="Shape 455"/>
            <p:cNvCxnSpPr/>
            <p:nvPr/>
          </p:nvCxnSpPr>
          <p:spPr>
            <a:xfrm flipH="1" rot="10800000">
              <a:off x="3228975" y="10537824"/>
              <a:ext cx="12001500" cy="1587"/>
            </a:xfrm>
            <a:prstGeom prst="straightConnector1">
              <a:avLst/>
            </a:prstGeom>
            <a:noFill/>
            <a:ln cap="flat" cmpd="sng" w="25400">
              <a:solidFill>
                <a:srgbClr val="000000"/>
              </a:solidFill>
              <a:prstDash val="solid"/>
              <a:miter/>
              <a:headEnd len="med" w="med" type="none"/>
              <a:tailEnd len="lg" w="lg" type="triangle"/>
            </a:ln>
          </p:spPr>
        </p:cxnSp>
        <p:cxnSp>
          <p:nvCxnSpPr>
            <p:cNvPr id="456" name="Shape 456"/>
            <p:cNvCxnSpPr/>
            <p:nvPr/>
          </p:nvCxnSpPr>
          <p:spPr>
            <a:xfrm>
              <a:off x="3228975" y="4822825"/>
              <a:ext cx="3429000" cy="5714999"/>
            </a:xfrm>
            <a:prstGeom prst="straightConnector1">
              <a:avLst/>
            </a:prstGeom>
            <a:noFill/>
            <a:ln cap="flat" cmpd="sng" w="25400">
              <a:solidFill>
                <a:srgbClr val="008000"/>
              </a:solidFill>
              <a:prstDash val="solid"/>
              <a:miter/>
              <a:headEnd len="med" w="med" type="none"/>
              <a:tailEnd len="med" w="med" type="none"/>
            </a:ln>
          </p:spPr>
        </p:cxnSp>
        <p:sp>
          <p:nvSpPr>
            <p:cNvPr id="457" name="Shape 457"/>
            <p:cNvSpPr txBox="1"/>
            <p:nvPr/>
          </p:nvSpPr>
          <p:spPr>
            <a:xfrm>
              <a:off x="12372975" y="9966325"/>
              <a:ext cx="2857499"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80"/>
                </a:buClr>
                <a:buSzPct val="25000"/>
                <a:buFont typeface="Arial"/>
                <a:buNone/>
              </a:pPr>
              <a:r>
                <a:rPr b="1" i="0" lang="en-US" sz="1200" u="none" cap="none" strike="noStrike">
                  <a:solidFill>
                    <a:srgbClr val="000080"/>
                  </a:solidFill>
                  <a:latin typeface="Arial"/>
                  <a:ea typeface="Arial"/>
                  <a:cs typeface="Arial"/>
                  <a:sym typeface="Arial"/>
                </a:rPr>
                <a:t>FACTOR X</a:t>
              </a:r>
            </a:p>
          </p:txBody>
        </p:sp>
        <p:sp>
          <p:nvSpPr>
            <p:cNvPr id="458" name="Shape 458"/>
            <p:cNvSpPr txBox="1"/>
            <p:nvPr/>
          </p:nvSpPr>
          <p:spPr>
            <a:xfrm>
              <a:off x="4657725" y="2822575"/>
              <a:ext cx="12287249"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9" name="Shape 459"/>
            <p:cNvSpPr/>
            <p:nvPr/>
          </p:nvSpPr>
          <p:spPr>
            <a:xfrm>
              <a:off x="3709987" y="3948112"/>
              <a:ext cx="6662737" cy="4572000"/>
            </a:xfrm>
            <a:custGeom>
              <a:pathLst>
                <a:path extrusionOk="0" h="2880" w="4197">
                  <a:moveTo>
                    <a:pt x="45" y="0"/>
                  </a:moveTo>
                  <a:cubicBezTo>
                    <a:pt x="38" y="57"/>
                    <a:pt x="0" y="205"/>
                    <a:pt x="0" y="345"/>
                  </a:cubicBezTo>
                  <a:cubicBezTo>
                    <a:pt x="0" y="485"/>
                    <a:pt x="3" y="657"/>
                    <a:pt x="45" y="840"/>
                  </a:cubicBezTo>
                  <a:cubicBezTo>
                    <a:pt x="87" y="1023"/>
                    <a:pt x="145" y="1250"/>
                    <a:pt x="255" y="1440"/>
                  </a:cubicBezTo>
                  <a:cubicBezTo>
                    <a:pt x="365" y="1630"/>
                    <a:pt x="470" y="1780"/>
                    <a:pt x="705" y="1980"/>
                  </a:cubicBezTo>
                  <a:cubicBezTo>
                    <a:pt x="940" y="2180"/>
                    <a:pt x="1278" y="2492"/>
                    <a:pt x="1665" y="2640"/>
                  </a:cubicBezTo>
                  <a:cubicBezTo>
                    <a:pt x="2052" y="2788"/>
                    <a:pt x="2605" y="2854"/>
                    <a:pt x="3027" y="2867"/>
                  </a:cubicBezTo>
                  <a:cubicBezTo>
                    <a:pt x="3449" y="2880"/>
                    <a:pt x="4002" y="2742"/>
                    <a:pt x="4197" y="2717"/>
                  </a:cubicBezTo>
                </a:path>
              </a:pathLst>
            </a:custGeom>
            <a:noFill/>
            <a:ln cap="flat" cmpd="sng" w="25400">
              <a:solidFill>
                <a:srgbClr val="9933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460" name="Shape 460"/>
            <p:cNvCxnSpPr/>
            <p:nvPr/>
          </p:nvCxnSpPr>
          <p:spPr>
            <a:xfrm>
              <a:off x="3228975" y="6251575"/>
              <a:ext cx="857250" cy="1587"/>
            </a:xfrm>
            <a:prstGeom prst="straightConnector1">
              <a:avLst/>
            </a:prstGeom>
            <a:noFill/>
            <a:ln cap="rnd" cmpd="sng" w="9525">
              <a:solidFill>
                <a:srgbClr val="000000"/>
              </a:solidFill>
              <a:prstDash val="solid"/>
              <a:miter/>
              <a:headEnd len="med" w="med" type="none"/>
              <a:tailEnd len="med" w="med" type="none"/>
            </a:ln>
          </p:spPr>
        </p:cxnSp>
        <p:cxnSp>
          <p:nvCxnSpPr>
            <p:cNvPr id="461" name="Shape 461"/>
            <p:cNvCxnSpPr/>
            <p:nvPr/>
          </p:nvCxnSpPr>
          <p:spPr>
            <a:xfrm>
              <a:off x="4086225" y="6251575"/>
              <a:ext cx="0" cy="4286250"/>
            </a:xfrm>
            <a:prstGeom prst="straightConnector1">
              <a:avLst/>
            </a:prstGeom>
            <a:noFill/>
            <a:ln cap="rnd" cmpd="sng" w="9525">
              <a:solidFill>
                <a:srgbClr val="000000"/>
              </a:solidFill>
              <a:prstDash val="solid"/>
              <a:miter/>
              <a:headEnd len="med" w="med" type="none"/>
              <a:tailEnd len="med" w="med" type="none"/>
            </a:ln>
          </p:spPr>
        </p:cxnSp>
        <p:sp>
          <p:nvSpPr>
            <p:cNvPr id="462" name="Shape 462"/>
            <p:cNvSpPr txBox="1"/>
            <p:nvPr/>
          </p:nvSpPr>
          <p:spPr>
            <a:xfrm>
              <a:off x="2009775" y="2822575"/>
              <a:ext cx="2857499"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0" lang="en-US" sz="1200" u="none" cap="none" strike="noStrike">
                  <a:solidFill>
                    <a:srgbClr val="FF0000"/>
                  </a:solidFill>
                  <a:latin typeface="Arial"/>
                  <a:ea typeface="Arial"/>
                  <a:cs typeface="Arial"/>
                  <a:sym typeface="Arial"/>
                </a:rPr>
                <a:t>FACTOR Y</a:t>
              </a:r>
            </a:p>
          </p:txBody>
        </p:sp>
        <p:sp>
          <p:nvSpPr>
            <p:cNvPr id="463" name="Shape 463"/>
            <p:cNvSpPr txBox="1"/>
            <p:nvPr/>
          </p:nvSpPr>
          <p:spPr>
            <a:xfrm>
              <a:off x="2371725" y="5965825"/>
              <a:ext cx="1428749"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0" lang="en-US" sz="1200" u="none" cap="none" strike="noStrike">
                  <a:solidFill>
                    <a:srgbClr val="FF0000"/>
                  </a:solidFill>
                  <a:latin typeface="Arial"/>
                  <a:ea typeface="Arial"/>
                  <a:cs typeface="Arial"/>
                  <a:sym typeface="Arial"/>
                </a:rPr>
                <a:t>QY</a:t>
              </a:r>
            </a:p>
          </p:txBody>
        </p:sp>
        <p:sp>
          <p:nvSpPr>
            <p:cNvPr id="464" name="Shape 464"/>
            <p:cNvSpPr txBox="1"/>
            <p:nvPr/>
          </p:nvSpPr>
          <p:spPr>
            <a:xfrm>
              <a:off x="3514725" y="10537825"/>
              <a:ext cx="1428749"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80"/>
                </a:buClr>
                <a:buSzPct val="25000"/>
                <a:buFont typeface="Arial"/>
                <a:buNone/>
              </a:pPr>
              <a:r>
                <a:rPr b="1" i="0" lang="en-US" sz="1200" u="none" cap="none" strike="noStrike">
                  <a:solidFill>
                    <a:srgbClr val="000080"/>
                  </a:solidFill>
                  <a:latin typeface="Arial"/>
                  <a:ea typeface="Arial"/>
                  <a:cs typeface="Arial"/>
                  <a:sym typeface="Arial"/>
                </a:rPr>
                <a:t>QX</a:t>
              </a:r>
            </a:p>
          </p:txBody>
        </p:sp>
        <p:sp>
          <p:nvSpPr>
            <p:cNvPr id="465" name="Shape 465"/>
            <p:cNvSpPr txBox="1"/>
            <p:nvPr/>
          </p:nvSpPr>
          <p:spPr>
            <a:xfrm>
              <a:off x="4371975" y="5680075"/>
              <a:ext cx="7143749"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PUNTO DE EQUILIBRIO</a:t>
              </a:r>
            </a:p>
          </p:txBody>
        </p:sp>
      </p:grpSp>
      <p:sp>
        <p:nvSpPr>
          <p:cNvPr id="466" name="Shape 466"/>
          <p:cNvSpPr txBox="1"/>
          <p:nvPr/>
        </p:nvSpPr>
        <p:spPr>
          <a:xfrm>
            <a:off x="5410200" y="1841500"/>
            <a:ext cx="2971799" cy="1690687"/>
          </a:xfrm>
          <a:prstGeom prst="rect">
            <a:avLst/>
          </a:prstGeom>
          <a:solidFill>
            <a:srgbClr val="FFFF00"/>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EN LA ISOCUANTA</a:t>
            </a:r>
          </a:p>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Q = F (Y; X)</a:t>
            </a:r>
          </a:p>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∂Q/∂F= 0 </a:t>
            </a:r>
          </a:p>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(∂Q/∂Y)*∂Y + (∂Q/∂X)* ∂X = 0</a:t>
            </a:r>
          </a:p>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(∂Q/∂Y) = PmaY</a:t>
            </a:r>
          </a:p>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(∂Q/∂X) = PmaX</a:t>
            </a:r>
          </a:p>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PmaY*∂Y + PmaX* ∂X = 0</a:t>
            </a:r>
          </a:p>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 </a:t>
            </a:r>
            <a:r>
              <a:rPr b="1" i="0" lang="en-US" sz="1400" u="none" cap="none" strike="noStrike">
                <a:solidFill>
                  <a:srgbClr val="FF0000"/>
                </a:solidFill>
                <a:latin typeface="Arial"/>
                <a:ea typeface="Arial"/>
                <a:cs typeface="Arial"/>
                <a:sym typeface="Arial"/>
              </a:rPr>
              <a:t>PmaY / PmaX = -∂X/∂Y = TMST</a:t>
            </a:r>
            <a:r>
              <a:rPr b="1" baseline="-25000" i="0" lang="en-US" sz="1400" u="none" cap="none" strike="noStrike">
                <a:solidFill>
                  <a:srgbClr val="FF0000"/>
                </a:solidFill>
                <a:latin typeface="Arial"/>
                <a:ea typeface="Arial"/>
                <a:cs typeface="Arial"/>
                <a:sym typeface="Arial"/>
              </a:rPr>
              <a:t>YX</a:t>
            </a:r>
          </a:p>
        </p:txBody>
      </p:sp>
      <p:sp>
        <p:nvSpPr>
          <p:cNvPr id="467" name="Shape 467"/>
          <p:cNvSpPr txBox="1"/>
          <p:nvPr/>
        </p:nvSpPr>
        <p:spPr>
          <a:xfrm>
            <a:off x="5414962" y="3667125"/>
            <a:ext cx="2971799" cy="1143000"/>
          </a:xfrm>
          <a:prstGeom prst="rect">
            <a:avLst/>
          </a:prstGeom>
          <a:solidFill>
            <a:srgbClr val="00FFFF"/>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EN LA ISOCOSTO</a:t>
            </a:r>
          </a:p>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CT = F (Y; X)= PY *Y + PX * X</a:t>
            </a:r>
          </a:p>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∂CT/∂F= 0 </a:t>
            </a:r>
          </a:p>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∂Y*PY + ∂X*PX = 0</a:t>
            </a:r>
          </a:p>
          <a:p>
            <a:pPr indent="0" lvl="0" marL="0" marR="0" rtl="0" algn="l">
              <a:lnSpc>
                <a:spcPct val="100000"/>
              </a:lnSpc>
              <a:spcBef>
                <a:spcPts val="0"/>
              </a:spcBef>
              <a:spcAft>
                <a:spcPts val="0"/>
              </a:spcAft>
              <a:buClr>
                <a:srgbClr val="FF0000"/>
              </a:buClr>
              <a:buSzPct val="25000"/>
              <a:buFont typeface="Arial"/>
              <a:buNone/>
            </a:pPr>
            <a:r>
              <a:rPr b="1" i="0" lang="en-US" sz="1400" u="none" cap="none" strike="noStrike">
                <a:solidFill>
                  <a:srgbClr val="FF0000"/>
                </a:solidFill>
                <a:latin typeface="Arial"/>
                <a:ea typeface="Arial"/>
                <a:cs typeface="Arial"/>
                <a:sym typeface="Arial"/>
              </a:rPr>
              <a:t>PY / PX = -∂X/∂Y = TMST</a:t>
            </a:r>
            <a:r>
              <a:rPr b="1" baseline="-25000" i="0" lang="en-US" sz="1400" u="none" cap="none" strike="noStrike">
                <a:solidFill>
                  <a:srgbClr val="FF0000"/>
                </a:solidFill>
                <a:latin typeface="Arial"/>
                <a:ea typeface="Arial"/>
                <a:cs typeface="Arial"/>
                <a:sym typeface="Arial"/>
              </a:rPr>
              <a:t>YX</a:t>
            </a:r>
          </a:p>
          <a:p>
            <a:pPr indent="0" lvl="0" marL="0" marR="0" rtl="0" algn="l">
              <a:lnSpc>
                <a:spcPct val="100000"/>
              </a:lnSpc>
              <a:spcBef>
                <a:spcPts val="0"/>
              </a:spcBef>
              <a:spcAft>
                <a:spcPts val="0"/>
              </a:spcAft>
              <a:buNone/>
            </a:pPr>
            <a:r>
              <a:t/>
            </a:r>
            <a:endParaRPr b="1" baseline="-25000" i="0" sz="1400" u="none" cap="none" strike="noStrike">
              <a:solidFill>
                <a:srgbClr val="FF0000"/>
              </a:solidFill>
              <a:latin typeface="Arial"/>
              <a:ea typeface="Arial"/>
              <a:cs typeface="Arial"/>
              <a:sym typeface="Arial"/>
            </a:endParaRPr>
          </a:p>
        </p:txBody>
      </p:sp>
      <p:sp>
        <p:nvSpPr>
          <p:cNvPr id="468" name="Shape 468"/>
          <p:cNvSpPr txBox="1"/>
          <p:nvPr/>
        </p:nvSpPr>
        <p:spPr>
          <a:xfrm>
            <a:off x="5414962" y="4983162"/>
            <a:ext cx="2967037" cy="366711"/>
          </a:xfrm>
          <a:prstGeom prst="rect">
            <a:avLst/>
          </a:prstGeom>
          <a:solidFill>
            <a:srgbClr val="00FF00"/>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PmaY/PY = PmaX/PX</a:t>
            </a:r>
          </a:p>
        </p:txBody>
      </p:sp>
    </p:spTree>
  </p:cSld>
  <p:clrMapOvr>
    <a:masterClrMapping/>
  </p:clrMapOvr>
  <p:transition spd="slow">
    <p:cut/>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72" name="Shape 472"/>
        <p:cNvGrpSpPr/>
        <p:nvPr/>
      </p:nvGrpSpPr>
      <p:grpSpPr>
        <a:xfrm>
          <a:off x="0" y="0"/>
          <a:ext cx="0" cy="0"/>
          <a:chOff x="0" y="0"/>
          <a:chExt cx="0" cy="0"/>
        </a:xfrm>
      </p:grpSpPr>
      <p:pic>
        <p:nvPicPr>
          <p:cNvPr id="473" name="Shape 473"/>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474" name="Shape 474"/>
          <p:cNvPicPr preferRelativeResize="0"/>
          <p:nvPr/>
        </p:nvPicPr>
        <p:blipFill rotWithShape="1">
          <a:blip r:embed="rId4">
            <a:alphaModFix/>
          </a:blip>
          <a:srcRect b="0" l="0" r="0" t="0"/>
          <a:stretch/>
        </p:blipFill>
        <p:spPr>
          <a:xfrm>
            <a:off x="212725" y="1403350"/>
            <a:ext cx="8626474" cy="5114925"/>
          </a:xfrm>
          <a:prstGeom prst="rect">
            <a:avLst/>
          </a:prstGeom>
          <a:noFill/>
          <a:ln>
            <a:noFill/>
          </a:ln>
        </p:spPr>
      </p:pic>
      <p:sp>
        <p:nvSpPr>
          <p:cNvPr id="475" name="Shape 475"/>
          <p:cNvSpPr txBox="1"/>
          <p:nvPr/>
        </p:nvSpPr>
        <p:spPr>
          <a:xfrm>
            <a:off x="3962400" y="304800"/>
            <a:ext cx="4591049"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RUTA DE EXPANSIÓN</a:t>
            </a:r>
          </a:p>
        </p:txBody>
      </p:sp>
      <p:pic>
        <p:nvPicPr>
          <p:cNvPr id="476" name="Shape 476"/>
          <p:cNvPicPr preferRelativeResize="0"/>
          <p:nvPr/>
        </p:nvPicPr>
        <p:blipFill rotWithShape="1">
          <a:blip r:embed="rId5">
            <a:alphaModFix/>
          </a:blip>
          <a:srcRect b="0" l="0" r="0" t="0"/>
          <a:stretch/>
        </p:blipFill>
        <p:spPr>
          <a:xfrm>
            <a:off x="263525" y="304800"/>
            <a:ext cx="3013074" cy="608011"/>
          </a:xfrm>
          <a:prstGeom prst="rect">
            <a:avLst/>
          </a:prstGeom>
          <a:noFill/>
          <a:ln>
            <a:noFill/>
          </a:ln>
        </p:spPr>
      </p:pic>
      <p:grpSp>
        <p:nvGrpSpPr>
          <p:cNvPr id="477" name="Shape 477"/>
          <p:cNvGrpSpPr/>
          <p:nvPr/>
        </p:nvGrpSpPr>
        <p:grpSpPr>
          <a:xfrm>
            <a:off x="1225902" y="1593272"/>
            <a:ext cx="7378229" cy="4959927"/>
            <a:chOff x="3578224" y="1457325"/>
            <a:chExt cx="13144499" cy="9144000"/>
          </a:xfrm>
        </p:grpSpPr>
        <p:cxnSp>
          <p:nvCxnSpPr>
            <p:cNvPr id="478" name="Shape 478"/>
            <p:cNvCxnSpPr/>
            <p:nvPr/>
          </p:nvCxnSpPr>
          <p:spPr>
            <a:xfrm rot="10800000">
              <a:off x="3578225" y="1457325"/>
              <a:ext cx="1587" cy="8858249"/>
            </a:xfrm>
            <a:prstGeom prst="straightConnector1">
              <a:avLst/>
            </a:prstGeom>
            <a:noFill/>
            <a:ln cap="flat" cmpd="sng" w="25400">
              <a:solidFill>
                <a:srgbClr val="000000"/>
              </a:solidFill>
              <a:prstDash val="solid"/>
              <a:miter/>
              <a:headEnd len="med" w="med" type="none"/>
              <a:tailEnd len="lg" w="lg" type="triangle"/>
            </a:ln>
          </p:spPr>
        </p:cxnSp>
        <p:cxnSp>
          <p:nvCxnSpPr>
            <p:cNvPr id="479" name="Shape 479"/>
            <p:cNvCxnSpPr/>
            <p:nvPr/>
          </p:nvCxnSpPr>
          <p:spPr>
            <a:xfrm>
              <a:off x="3578225" y="10315575"/>
              <a:ext cx="12001500" cy="1587"/>
            </a:xfrm>
            <a:prstGeom prst="straightConnector1">
              <a:avLst/>
            </a:prstGeom>
            <a:noFill/>
            <a:ln cap="flat" cmpd="sng" w="25400">
              <a:solidFill>
                <a:srgbClr val="000000"/>
              </a:solidFill>
              <a:prstDash val="solid"/>
              <a:miter/>
              <a:headEnd len="med" w="med" type="none"/>
              <a:tailEnd len="lg" w="lg" type="triangle"/>
            </a:ln>
          </p:spPr>
        </p:cxnSp>
        <p:sp>
          <p:nvSpPr>
            <p:cNvPr id="480" name="Shape 480"/>
            <p:cNvSpPr/>
            <p:nvPr/>
          </p:nvSpPr>
          <p:spPr>
            <a:xfrm>
              <a:off x="4721225" y="2600325"/>
              <a:ext cx="8185150" cy="7150100"/>
            </a:xfrm>
            <a:custGeom>
              <a:pathLst>
                <a:path extrusionOk="0" h="4504" w="5156">
                  <a:moveTo>
                    <a:pt x="276" y="0"/>
                  </a:moveTo>
                  <a:cubicBezTo>
                    <a:pt x="246" y="90"/>
                    <a:pt x="139" y="343"/>
                    <a:pt x="96" y="540"/>
                  </a:cubicBezTo>
                  <a:cubicBezTo>
                    <a:pt x="53" y="737"/>
                    <a:pt x="24" y="955"/>
                    <a:pt x="17" y="1180"/>
                  </a:cubicBezTo>
                  <a:cubicBezTo>
                    <a:pt x="10" y="1405"/>
                    <a:pt x="0" y="1644"/>
                    <a:pt x="51" y="1890"/>
                  </a:cubicBezTo>
                  <a:cubicBezTo>
                    <a:pt x="102" y="2136"/>
                    <a:pt x="190" y="2388"/>
                    <a:pt x="321" y="2655"/>
                  </a:cubicBezTo>
                  <a:cubicBezTo>
                    <a:pt x="452" y="2922"/>
                    <a:pt x="568" y="3233"/>
                    <a:pt x="836" y="3492"/>
                  </a:cubicBezTo>
                  <a:cubicBezTo>
                    <a:pt x="1104" y="3751"/>
                    <a:pt x="1538" y="4049"/>
                    <a:pt x="1931" y="4212"/>
                  </a:cubicBezTo>
                  <a:cubicBezTo>
                    <a:pt x="2324" y="4375"/>
                    <a:pt x="2766" y="4430"/>
                    <a:pt x="3191" y="4467"/>
                  </a:cubicBezTo>
                  <a:cubicBezTo>
                    <a:pt x="3616" y="4504"/>
                    <a:pt x="4154" y="4474"/>
                    <a:pt x="4481" y="4437"/>
                  </a:cubicBezTo>
                  <a:cubicBezTo>
                    <a:pt x="4808" y="4400"/>
                    <a:pt x="5016" y="4283"/>
                    <a:pt x="5156" y="4242"/>
                  </a:cubicBezTo>
                </a:path>
              </a:pathLst>
            </a:custGeom>
            <a:noFill/>
            <a:ln cap="flat" cmpd="sng" w="25400">
              <a:solidFill>
                <a:srgbClr val="9933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481" name="Shape 481"/>
            <p:cNvCxnSpPr/>
            <p:nvPr/>
          </p:nvCxnSpPr>
          <p:spPr>
            <a:xfrm>
              <a:off x="4721225" y="3171825"/>
              <a:ext cx="1587" cy="7143749"/>
            </a:xfrm>
            <a:prstGeom prst="straightConnector1">
              <a:avLst/>
            </a:prstGeom>
            <a:noFill/>
            <a:ln cap="flat" cmpd="sng" w="9525">
              <a:solidFill>
                <a:srgbClr val="000000"/>
              </a:solidFill>
              <a:prstDash val="solid"/>
              <a:miter/>
              <a:headEnd len="med" w="med" type="none"/>
              <a:tailEnd len="med" w="med" type="none"/>
            </a:ln>
          </p:spPr>
        </p:cxnSp>
        <p:cxnSp>
          <p:nvCxnSpPr>
            <p:cNvPr id="482" name="Shape 482"/>
            <p:cNvCxnSpPr/>
            <p:nvPr/>
          </p:nvCxnSpPr>
          <p:spPr>
            <a:xfrm flipH="1">
              <a:off x="3578225" y="9744075"/>
              <a:ext cx="10286999" cy="1587"/>
            </a:xfrm>
            <a:prstGeom prst="straightConnector1">
              <a:avLst/>
            </a:prstGeom>
            <a:noFill/>
            <a:ln cap="flat" cmpd="sng" w="9525">
              <a:solidFill>
                <a:srgbClr val="000000"/>
              </a:solidFill>
              <a:prstDash val="solid"/>
              <a:miter/>
              <a:headEnd len="med" w="med" type="none"/>
              <a:tailEnd len="med" w="med" type="none"/>
            </a:ln>
          </p:spPr>
        </p:cxnSp>
        <p:cxnSp>
          <p:nvCxnSpPr>
            <p:cNvPr id="483" name="Shape 483"/>
            <p:cNvCxnSpPr/>
            <p:nvPr/>
          </p:nvCxnSpPr>
          <p:spPr>
            <a:xfrm>
              <a:off x="5576887" y="3171825"/>
              <a:ext cx="1587" cy="7143749"/>
            </a:xfrm>
            <a:prstGeom prst="straightConnector1">
              <a:avLst/>
            </a:prstGeom>
            <a:noFill/>
            <a:ln cap="flat" cmpd="sng" w="9525">
              <a:solidFill>
                <a:srgbClr val="000000"/>
              </a:solidFill>
              <a:prstDash val="solid"/>
              <a:miter/>
              <a:headEnd len="med" w="med" type="none"/>
              <a:tailEnd len="med" w="med" type="none"/>
            </a:ln>
          </p:spPr>
        </p:cxnSp>
        <p:cxnSp>
          <p:nvCxnSpPr>
            <p:cNvPr id="484" name="Shape 484"/>
            <p:cNvCxnSpPr/>
            <p:nvPr/>
          </p:nvCxnSpPr>
          <p:spPr>
            <a:xfrm flipH="1">
              <a:off x="3578225" y="8601075"/>
              <a:ext cx="10286999" cy="1587"/>
            </a:xfrm>
            <a:prstGeom prst="straightConnector1">
              <a:avLst/>
            </a:prstGeom>
            <a:noFill/>
            <a:ln cap="flat" cmpd="sng" w="9525">
              <a:solidFill>
                <a:srgbClr val="000000"/>
              </a:solidFill>
              <a:prstDash val="solid"/>
              <a:miter/>
              <a:headEnd len="med" w="med" type="none"/>
              <a:tailEnd len="med" w="med" type="none"/>
            </a:ln>
          </p:spPr>
        </p:cxnSp>
        <p:cxnSp>
          <p:nvCxnSpPr>
            <p:cNvPr id="485" name="Shape 485"/>
            <p:cNvCxnSpPr/>
            <p:nvPr/>
          </p:nvCxnSpPr>
          <p:spPr>
            <a:xfrm flipH="1">
              <a:off x="3578224" y="7458075"/>
              <a:ext cx="10001250" cy="1587"/>
            </a:xfrm>
            <a:prstGeom prst="straightConnector1">
              <a:avLst/>
            </a:prstGeom>
            <a:noFill/>
            <a:ln cap="flat" cmpd="sng" w="9525">
              <a:solidFill>
                <a:srgbClr val="000000"/>
              </a:solidFill>
              <a:prstDash val="solid"/>
              <a:miter/>
              <a:headEnd len="med" w="med" type="none"/>
              <a:tailEnd len="med" w="med" type="none"/>
            </a:ln>
          </p:spPr>
        </p:cxnSp>
        <p:cxnSp>
          <p:nvCxnSpPr>
            <p:cNvPr id="486" name="Shape 486"/>
            <p:cNvCxnSpPr/>
            <p:nvPr/>
          </p:nvCxnSpPr>
          <p:spPr>
            <a:xfrm>
              <a:off x="6435725" y="3552825"/>
              <a:ext cx="1587" cy="6762750"/>
            </a:xfrm>
            <a:prstGeom prst="straightConnector1">
              <a:avLst/>
            </a:prstGeom>
            <a:noFill/>
            <a:ln cap="flat" cmpd="sng" w="9525">
              <a:solidFill>
                <a:srgbClr val="000000"/>
              </a:solidFill>
              <a:prstDash val="solid"/>
              <a:miter/>
              <a:headEnd len="med" w="med" type="none"/>
              <a:tailEnd len="med" w="med" type="none"/>
            </a:ln>
          </p:spPr>
        </p:cxnSp>
        <p:sp>
          <p:nvSpPr>
            <p:cNvPr id="487" name="Shape 487"/>
            <p:cNvSpPr/>
            <p:nvPr/>
          </p:nvSpPr>
          <p:spPr>
            <a:xfrm>
              <a:off x="5578475" y="2717800"/>
              <a:ext cx="7367587" cy="5842000"/>
            </a:xfrm>
            <a:custGeom>
              <a:pathLst>
                <a:path extrusionOk="0" h="3680" w="4641">
                  <a:moveTo>
                    <a:pt x="217" y="0"/>
                  </a:moveTo>
                  <a:cubicBezTo>
                    <a:pt x="192" y="80"/>
                    <a:pt x="99" y="299"/>
                    <a:pt x="67" y="480"/>
                  </a:cubicBezTo>
                  <a:cubicBezTo>
                    <a:pt x="35" y="661"/>
                    <a:pt x="0" y="849"/>
                    <a:pt x="26" y="1085"/>
                  </a:cubicBezTo>
                  <a:cubicBezTo>
                    <a:pt x="52" y="1321"/>
                    <a:pt x="83" y="1599"/>
                    <a:pt x="221" y="1895"/>
                  </a:cubicBezTo>
                  <a:cubicBezTo>
                    <a:pt x="359" y="2191"/>
                    <a:pt x="534" y="2594"/>
                    <a:pt x="851" y="2863"/>
                  </a:cubicBezTo>
                  <a:cubicBezTo>
                    <a:pt x="1168" y="3132"/>
                    <a:pt x="1694" y="3373"/>
                    <a:pt x="2126" y="3508"/>
                  </a:cubicBezTo>
                  <a:cubicBezTo>
                    <a:pt x="2558" y="3643"/>
                    <a:pt x="3027" y="3680"/>
                    <a:pt x="3446" y="3673"/>
                  </a:cubicBezTo>
                  <a:cubicBezTo>
                    <a:pt x="3865" y="3666"/>
                    <a:pt x="4392" y="3509"/>
                    <a:pt x="4641" y="3466"/>
                  </a:cubicBezTo>
                </a:path>
              </a:pathLst>
            </a:custGeom>
            <a:noFill/>
            <a:ln cap="flat" cmpd="sng" w="25400">
              <a:solidFill>
                <a:srgbClr val="9933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8" name="Shape 488"/>
            <p:cNvSpPr/>
            <p:nvPr/>
          </p:nvSpPr>
          <p:spPr>
            <a:xfrm>
              <a:off x="6426200" y="2833686"/>
              <a:ext cx="6384925" cy="4608511"/>
            </a:xfrm>
            <a:custGeom>
              <a:pathLst>
                <a:path extrusionOk="0" h="2903" w="4022">
                  <a:moveTo>
                    <a:pt x="137" y="0"/>
                  </a:moveTo>
                  <a:cubicBezTo>
                    <a:pt x="115" y="97"/>
                    <a:pt x="4" y="365"/>
                    <a:pt x="2" y="585"/>
                  </a:cubicBezTo>
                  <a:cubicBezTo>
                    <a:pt x="0" y="805"/>
                    <a:pt x="32" y="1083"/>
                    <a:pt x="122" y="1320"/>
                  </a:cubicBezTo>
                  <a:cubicBezTo>
                    <a:pt x="212" y="1557"/>
                    <a:pt x="317" y="1780"/>
                    <a:pt x="542" y="2010"/>
                  </a:cubicBezTo>
                  <a:cubicBezTo>
                    <a:pt x="767" y="2240"/>
                    <a:pt x="1087" y="2553"/>
                    <a:pt x="1472" y="2700"/>
                  </a:cubicBezTo>
                  <a:cubicBezTo>
                    <a:pt x="1857" y="2847"/>
                    <a:pt x="2427" y="2887"/>
                    <a:pt x="2852" y="2895"/>
                  </a:cubicBezTo>
                  <a:cubicBezTo>
                    <a:pt x="3277" y="2903"/>
                    <a:pt x="3827" y="2770"/>
                    <a:pt x="4022" y="2745"/>
                  </a:cubicBezTo>
                </a:path>
              </a:pathLst>
            </a:custGeom>
            <a:noFill/>
            <a:ln cap="flat" cmpd="sng" w="25400">
              <a:solidFill>
                <a:srgbClr val="9933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9" name="Shape 489"/>
            <p:cNvSpPr txBox="1"/>
            <p:nvPr/>
          </p:nvSpPr>
          <p:spPr>
            <a:xfrm>
              <a:off x="12722225" y="6886575"/>
              <a:ext cx="1143000"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Q3</a:t>
              </a:r>
            </a:p>
          </p:txBody>
        </p:sp>
        <p:sp>
          <p:nvSpPr>
            <p:cNvPr id="490" name="Shape 490"/>
            <p:cNvSpPr txBox="1"/>
            <p:nvPr/>
          </p:nvSpPr>
          <p:spPr>
            <a:xfrm>
              <a:off x="12722225" y="8029575"/>
              <a:ext cx="1143000"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Q2</a:t>
              </a:r>
            </a:p>
          </p:txBody>
        </p:sp>
        <p:sp>
          <p:nvSpPr>
            <p:cNvPr id="491" name="Shape 491"/>
            <p:cNvSpPr txBox="1"/>
            <p:nvPr/>
          </p:nvSpPr>
          <p:spPr>
            <a:xfrm>
              <a:off x="12722225" y="9172575"/>
              <a:ext cx="1143000"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Q1</a:t>
              </a:r>
            </a:p>
          </p:txBody>
        </p:sp>
        <p:sp>
          <p:nvSpPr>
            <p:cNvPr id="492" name="Shape 492"/>
            <p:cNvSpPr txBox="1"/>
            <p:nvPr/>
          </p:nvSpPr>
          <p:spPr>
            <a:xfrm>
              <a:off x="13865225" y="9744075"/>
              <a:ext cx="2857499"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80"/>
                </a:buClr>
                <a:buSzPct val="25000"/>
                <a:buFont typeface="Arial"/>
                <a:buNone/>
              </a:pPr>
              <a:r>
                <a:rPr b="1" i="0" lang="en-US" sz="1200" u="none" cap="none" strike="noStrike">
                  <a:solidFill>
                    <a:srgbClr val="000080"/>
                  </a:solidFill>
                  <a:latin typeface="Arial"/>
                  <a:ea typeface="Arial"/>
                  <a:cs typeface="Arial"/>
                  <a:sym typeface="Arial"/>
                </a:rPr>
                <a:t>FACTOR X</a:t>
              </a:r>
            </a:p>
          </p:txBody>
        </p:sp>
        <p:sp>
          <p:nvSpPr>
            <p:cNvPr id="493" name="Shape 493"/>
            <p:cNvSpPr txBox="1"/>
            <p:nvPr/>
          </p:nvSpPr>
          <p:spPr>
            <a:xfrm>
              <a:off x="4149725" y="1457325"/>
              <a:ext cx="2857499"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0" lang="en-US" sz="1200" u="none" cap="none" strike="noStrike">
                  <a:solidFill>
                    <a:srgbClr val="FF0000"/>
                  </a:solidFill>
                  <a:latin typeface="Arial"/>
                  <a:ea typeface="Arial"/>
                  <a:cs typeface="Arial"/>
                  <a:sym typeface="Arial"/>
                </a:rPr>
                <a:t>FACTOR Y</a:t>
              </a:r>
            </a:p>
          </p:txBody>
        </p:sp>
        <p:sp>
          <p:nvSpPr>
            <p:cNvPr id="494" name="Shape 494"/>
            <p:cNvSpPr txBox="1"/>
            <p:nvPr/>
          </p:nvSpPr>
          <p:spPr>
            <a:xfrm>
              <a:off x="7578725" y="3743325"/>
              <a:ext cx="8001000"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800080"/>
                </a:buClr>
                <a:buSzPct val="25000"/>
                <a:buFont typeface="Arial"/>
                <a:buNone/>
              </a:pPr>
              <a:r>
                <a:rPr b="1" i="0" lang="en-US" sz="1200" u="none" cap="none" strike="noStrike">
                  <a:solidFill>
                    <a:srgbClr val="800080"/>
                  </a:solidFill>
                  <a:latin typeface="Arial"/>
                  <a:ea typeface="Arial"/>
                  <a:cs typeface="Arial"/>
                  <a:sym typeface="Arial"/>
                </a:rPr>
                <a:t> </a:t>
              </a:r>
            </a:p>
          </p:txBody>
        </p:sp>
        <p:cxnSp>
          <p:nvCxnSpPr>
            <p:cNvPr id="495" name="Shape 495"/>
            <p:cNvCxnSpPr/>
            <p:nvPr/>
          </p:nvCxnSpPr>
          <p:spPr>
            <a:xfrm>
              <a:off x="3578225" y="4886325"/>
              <a:ext cx="4000500" cy="5429249"/>
            </a:xfrm>
            <a:prstGeom prst="straightConnector1">
              <a:avLst/>
            </a:prstGeom>
            <a:noFill/>
            <a:ln cap="flat" cmpd="sng" w="25400">
              <a:solidFill>
                <a:srgbClr val="008000"/>
              </a:solidFill>
              <a:prstDash val="solid"/>
              <a:miter/>
              <a:headEnd len="med" w="med" type="none"/>
              <a:tailEnd len="med" w="med" type="none"/>
            </a:ln>
          </p:spPr>
        </p:cxnSp>
        <p:cxnSp>
          <p:nvCxnSpPr>
            <p:cNvPr id="496" name="Shape 496"/>
            <p:cNvCxnSpPr/>
            <p:nvPr/>
          </p:nvCxnSpPr>
          <p:spPr>
            <a:xfrm>
              <a:off x="3578225" y="1457325"/>
              <a:ext cx="7143749" cy="8858249"/>
            </a:xfrm>
            <a:prstGeom prst="straightConnector1">
              <a:avLst/>
            </a:prstGeom>
            <a:noFill/>
            <a:ln cap="flat" cmpd="sng" w="25400">
              <a:solidFill>
                <a:srgbClr val="008000"/>
              </a:solidFill>
              <a:prstDash val="solid"/>
              <a:miter/>
              <a:headEnd len="med" w="med" type="none"/>
              <a:tailEnd len="med" w="med" type="none"/>
            </a:ln>
          </p:spPr>
        </p:cxnSp>
        <p:cxnSp>
          <p:nvCxnSpPr>
            <p:cNvPr id="497" name="Shape 497"/>
            <p:cNvCxnSpPr/>
            <p:nvPr/>
          </p:nvCxnSpPr>
          <p:spPr>
            <a:xfrm>
              <a:off x="3578225" y="3171825"/>
              <a:ext cx="5714999" cy="7143749"/>
            </a:xfrm>
            <a:prstGeom prst="straightConnector1">
              <a:avLst/>
            </a:prstGeom>
            <a:noFill/>
            <a:ln cap="flat" cmpd="sng" w="25400">
              <a:solidFill>
                <a:srgbClr val="008000"/>
              </a:solidFill>
              <a:prstDash val="solid"/>
              <a:miter/>
              <a:headEnd len="med" w="med" type="none"/>
              <a:tailEnd len="med" w="med" type="none"/>
            </a:ln>
          </p:spPr>
        </p:cxnSp>
        <p:cxnSp>
          <p:nvCxnSpPr>
            <p:cNvPr id="498" name="Shape 498"/>
            <p:cNvCxnSpPr/>
            <p:nvPr/>
          </p:nvCxnSpPr>
          <p:spPr>
            <a:xfrm flipH="1" rot="10800000">
              <a:off x="3578225" y="4600575"/>
              <a:ext cx="4572000" cy="5714999"/>
            </a:xfrm>
            <a:prstGeom prst="straightConnector1">
              <a:avLst/>
            </a:prstGeom>
            <a:noFill/>
            <a:ln cap="flat" cmpd="sng" w="25400">
              <a:solidFill>
                <a:srgbClr val="800080"/>
              </a:solidFill>
              <a:prstDash val="solid"/>
              <a:miter/>
              <a:headEnd len="med" w="med" type="none"/>
              <a:tailEnd len="lg" w="lg" type="triangle"/>
            </a:ln>
          </p:spPr>
        </p:cxnSp>
      </p:grpSp>
      <p:sp>
        <p:nvSpPr>
          <p:cNvPr id="499" name="Shape 499"/>
          <p:cNvSpPr txBox="1"/>
          <p:nvPr/>
        </p:nvSpPr>
        <p:spPr>
          <a:xfrm>
            <a:off x="4191000" y="2522536"/>
            <a:ext cx="4332286" cy="1465261"/>
          </a:xfrm>
          <a:prstGeom prst="rect">
            <a:avLst/>
          </a:prstGeom>
          <a:solidFill>
            <a:srgbClr val="00FF00"/>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La </a:t>
            </a:r>
            <a:r>
              <a:rPr b="1" i="0" lang="en-US" sz="1800" u="none" cap="none" strike="noStrike">
                <a:solidFill>
                  <a:srgbClr val="FF0000"/>
                </a:solidFill>
                <a:latin typeface="Arial"/>
                <a:ea typeface="Arial"/>
                <a:cs typeface="Arial"/>
                <a:sym typeface="Arial"/>
              </a:rPr>
              <a:t>ruta de expansión</a:t>
            </a:r>
            <a:r>
              <a:rPr b="0" i="0" lang="en-US" sz="1800" u="none" cap="none" strike="noStrike">
                <a:solidFill>
                  <a:schemeClr val="dk1"/>
                </a:solidFill>
                <a:latin typeface="Arial"/>
                <a:ea typeface="Arial"/>
                <a:cs typeface="Arial"/>
                <a:sym typeface="Arial"/>
              </a:rPr>
              <a:t> de la empresa se obtiene al unir los puntos de equilibrio de las diferentes isocuantas e isocostos obtenidos al variar el costo total, con los precios constantes</a:t>
            </a:r>
          </a:p>
        </p:txBody>
      </p:sp>
    </p:spTree>
  </p:cSld>
  <p:clrMapOvr>
    <a:masterClrMapping/>
  </p:clrMapOvr>
  <p:transition spd="slow">
    <p:cut/>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03" name="Shape 503"/>
        <p:cNvGrpSpPr/>
        <p:nvPr/>
      </p:nvGrpSpPr>
      <p:grpSpPr>
        <a:xfrm>
          <a:off x="0" y="0"/>
          <a:ext cx="0" cy="0"/>
          <a:chOff x="0" y="0"/>
          <a:chExt cx="0" cy="0"/>
        </a:xfrm>
      </p:grpSpPr>
      <p:pic>
        <p:nvPicPr>
          <p:cNvPr id="504" name="Shape 504"/>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505" name="Shape 505"/>
          <p:cNvSpPr txBox="1"/>
          <p:nvPr/>
        </p:nvSpPr>
        <p:spPr>
          <a:xfrm>
            <a:off x="0" y="92075"/>
            <a:ext cx="9067799" cy="762000"/>
          </a:xfrm>
          <a:prstGeom prst="rect">
            <a:avLst/>
          </a:prstGeom>
          <a:noFill/>
          <a:ln>
            <a:noFill/>
          </a:ln>
        </p:spPr>
        <p:txBody>
          <a:bodyPr anchorCtr="0" anchor="t" bIns="45700" lIns="91425" rIns="91425" tIns="45700">
            <a:noAutofit/>
          </a:bodyPr>
          <a:lstStyle/>
          <a:p>
            <a:pPr indent="-342900" lvl="2" marL="1257300" marR="0" rtl="0" algn="ctr">
              <a:lnSpc>
                <a:spcPct val="100000"/>
              </a:lnSpc>
              <a:spcBef>
                <a:spcPts val="0"/>
              </a:spcBef>
              <a:spcAft>
                <a:spcPts val="0"/>
              </a:spcAft>
              <a:buClr>
                <a:srgbClr val="0000FF"/>
              </a:buClr>
              <a:buSzPct val="25000"/>
              <a:buFont typeface="Arial"/>
              <a:buNone/>
            </a:pPr>
            <a:r>
              <a:rPr b="0" i="0" lang="en-US" sz="2400" u="none" cap="none" strike="noStrike">
                <a:solidFill>
                  <a:srgbClr val="FF0000"/>
                </a:solidFill>
                <a:latin typeface="Arial"/>
                <a:ea typeface="Arial"/>
                <a:cs typeface="Arial"/>
                <a:sym typeface="Arial"/>
              </a:rPr>
              <a:t>LA CURVA DE PRODUCCIÓN TOTAL</a:t>
            </a:r>
          </a:p>
          <a:p>
            <a:pPr indent="-342900" lvl="2" marL="1257300" marR="0" rtl="0" algn="ctr">
              <a:lnSpc>
                <a:spcPct val="100000"/>
              </a:lnSpc>
              <a:spcBef>
                <a:spcPts val="0"/>
              </a:spcBef>
              <a:spcAft>
                <a:spcPts val="0"/>
              </a:spcAft>
              <a:buClr>
                <a:srgbClr val="0000FF"/>
              </a:buClr>
              <a:buSzPct val="25000"/>
              <a:buFont typeface="Arial"/>
              <a:buNone/>
            </a:pPr>
            <a:r>
              <a:rPr b="0" i="1" lang="en-US" sz="2000" u="none" cap="none" strike="noStrike">
                <a:solidFill>
                  <a:schemeClr val="dk1"/>
                </a:solidFill>
                <a:latin typeface="Arial"/>
                <a:ea typeface="Arial"/>
                <a:cs typeface="Arial"/>
                <a:sym typeface="Arial"/>
              </a:rPr>
              <a:t>A PARTIR DEL MAPA DE ISOCUANTAS</a:t>
            </a:r>
          </a:p>
        </p:txBody>
      </p:sp>
      <p:grpSp>
        <p:nvGrpSpPr>
          <p:cNvPr id="506" name="Shape 506"/>
          <p:cNvGrpSpPr/>
          <p:nvPr/>
        </p:nvGrpSpPr>
        <p:grpSpPr>
          <a:xfrm>
            <a:off x="304799" y="1383695"/>
            <a:ext cx="6096000" cy="5386009"/>
            <a:chOff x="1863725" y="1457325"/>
            <a:chExt cx="15430499" cy="17430749"/>
          </a:xfrm>
        </p:grpSpPr>
        <p:cxnSp>
          <p:nvCxnSpPr>
            <p:cNvPr id="507" name="Shape 507"/>
            <p:cNvCxnSpPr/>
            <p:nvPr/>
          </p:nvCxnSpPr>
          <p:spPr>
            <a:xfrm rot="10800000">
              <a:off x="3578225" y="1457325"/>
              <a:ext cx="1587" cy="16573499"/>
            </a:xfrm>
            <a:prstGeom prst="straightConnector1">
              <a:avLst/>
            </a:prstGeom>
            <a:noFill/>
            <a:ln cap="flat" cmpd="sng" w="25400">
              <a:solidFill>
                <a:srgbClr val="000000"/>
              </a:solidFill>
              <a:prstDash val="solid"/>
              <a:miter/>
              <a:headEnd len="med" w="med" type="none"/>
              <a:tailEnd len="lg" w="lg" type="triangle"/>
            </a:ln>
          </p:spPr>
        </p:cxnSp>
        <p:cxnSp>
          <p:nvCxnSpPr>
            <p:cNvPr id="508" name="Shape 508"/>
            <p:cNvCxnSpPr/>
            <p:nvPr/>
          </p:nvCxnSpPr>
          <p:spPr>
            <a:xfrm>
              <a:off x="3578225" y="10315575"/>
              <a:ext cx="12001500" cy="1587"/>
            </a:xfrm>
            <a:prstGeom prst="straightConnector1">
              <a:avLst/>
            </a:prstGeom>
            <a:noFill/>
            <a:ln cap="flat" cmpd="sng" w="25400">
              <a:solidFill>
                <a:srgbClr val="000000"/>
              </a:solidFill>
              <a:prstDash val="solid"/>
              <a:miter/>
              <a:headEnd len="med" w="med" type="none"/>
              <a:tailEnd len="lg" w="lg" type="triangle"/>
            </a:ln>
          </p:spPr>
        </p:cxnSp>
        <p:sp>
          <p:nvSpPr>
            <p:cNvPr id="509" name="Shape 509"/>
            <p:cNvSpPr/>
            <p:nvPr/>
          </p:nvSpPr>
          <p:spPr>
            <a:xfrm>
              <a:off x="4759325" y="3006725"/>
              <a:ext cx="8147050" cy="6743700"/>
            </a:xfrm>
            <a:custGeom>
              <a:pathLst>
                <a:path extrusionOk="0" h="4248" w="5132">
                  <a:moveTo>
                    <a:pt x="212" y="0"/>
                  </a:moveTo>
                  <a:cubicBezTo>
                    <a:pt x="192" y="75"/>
                    <a:pt x="127" y="258"/>
                    <a:pt x="92" y="450"/>
                  </a:cubicBezTo>
                  <a:cubicBezTo>
                    <a:pt x="57" y="642"/>
                    <a:pt x="4" y="920"/>
                    <a:pt x="2" y="1155"/>
                  </a:cubicBezTo>
                  <a:cubicBezTo>
                    <a:pt x="0" y="1390"/>
                    <a:pt x="28" y="1653"/>
                    <a:pt x="77" y="1860"/>
                  </a:cubicBezTo>
                  <a:cubicBezTo>
                    <a:pt x="126" y="2067"/>
                    <a:pt x="174" y="2170"/>
                    <a:pt x="297" y="2399"/>
                  </a:cubicBezTo>
                  <a:cubicBezTo>
                    <a:pt x="420" y="2628"/>
                    <a:pt x="544" y="2977"/>
                    <a:pt x="812" y="3236"/>
                  </a:cubicBezTo>
                  <a:cubicBezTo>
                    <a:pt x="1080" y="3495"/>
                    <a:pt x="1514" y="3793"/>
                    <a:pt x="1907" y="3956"/>
                  </a:cubicBezTo>
                  <a:cubicBezTo>
                    <a:pt x="2300" y="4119"/>
                    <a:pt x="2742" y="4174"/>
                    <a:pt x="3167" y="4211"/>
                  </a:cubicBezTo>
                  <a:cubicBezTo>
                    <a:pt x="3592" y="4248"/>
                    <a:pt x="4130" y="4218"/>
                    <a:pt x="4457" y="4181"/>
                  </a:cubicBezTo>
                  <a:cubicBezTo>
                    <a:pt x="4784" y="4144"/>
                    <a:pt x="4992" y="4027"/>
                    <a:pt x="5132" y="3986"/>
                  </a:cubicBezTo>
                </a:path>
              </a:pathLst>
            </a:custGeom>
            <a:noFill/>
            <a:ln cap="flat" cmpd="sng" w="254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510" name="Shape 510"/>
            <p:cNvCxnSpPr/>
            <p:nvPr/>
          </p:nvCxnSpPr>
          <p:spPr>
            <a:xfrm>
              <a:off x="5578475" y="3743325"/>
              <a:ext cx="1587" cy="13430249"/>
            </a:xfrm>
            <a:prstGeom prst="straightConnector1">
              <a:avLst/>
            </a:prstGeom>
            <a:noFill/>
            <a:ln cap="flat" cmpd="sng" w="9525">
              <a:solidFill>
                <a:srgbClr val="000000"/>
              </a:solidFill>
              <a:prstDash val="solid"/>
              <a:miter/>
              <a:headEnd len="med" w="med" type="none"/>
              <a:tailEnd len="med" w="med" type="none"/>
            </a:ln>
          </p:spPr>
        </p:cxnSp>
        <p:cxnSp>
          <p:nvCxnSpPr>
            <p:cNvPr id="511" name="Shape 511"/>
            <p:cNvCxnSpPr/>
            <p:nvPr/>
          </p:nvCxnSpPr>
          <p:spPr>
            <a:xfrm flipH="1">
              <a:off x="3578225" y="3743325"/>
              <a:ext cx="10858499" cy="1587"/>
            </a:xfrm>
            <a:prstGeom prst="straightConnector1">
              <a:avLst/>
            </a:prstGeom>
            <a:noFill/>
            <a:ln cap="flat" cmpd="sng" w="25400">
              <a:solidFill>
                <a:srgbClr val="993300"/>
              </a:solidFill>
              <a:prstDash val="solid"/>
              <a:miter/>
              <a:headEnd len="med" w="med" type="none"/>
              <a:tailEnd len="med" w="med" type="none"/>
            </a:ln>
          </p:spPr>
        </p:cxnSp>
        <p:cxnSp>
          <p:nvCxnSpPr>
            <p:cNvPr id="512" name="Shape 512"/>
            <p:cNvCxnSpPr/>
            <p:nvPr/>
          </p:nvCxnSpPr>
          <p:spPr>
            <a:xfrm>
              <a:off x="6435725" y="3743325"/>
              <a:ext cx="1587" cy="12287249"/>
            </a:xfrm>
            <a:prstGeom prst="straightConnector1">
              <a:avLst/>
            </a:prstGeom>
            <a:noFill/>
            <a:ln cap="flat" cmpd="sng" w="9525">
              <a:solidFill>
                <a:srgbClr val="000000"/>
              </a:solidFill>
              <a:prstDash val="solid"/>
              <a:miter/>
              <a:headEnd len="med" w="med" type="none"/>
              <a:tailEnd len="med" w="med" type="none"/>
            </a:ln>
          </p:spPr>
        </p:cxnSp>
        <p:sp>
          <p:nvSpPr>
            <p:cNvPr id="513" name="Shape 513"/>
            <p:cNvSpPr/>
            <p:nvPr/>
          </p:nvSpPr>
          <p:spPr>
            <a:xfrm>
              <a:off x="5588000" y="3125786"/>
              <a:ext cx="7358062" cy="5434011"/>
            </a:xfrm>
            <a:custGeom>
              <a:pathLst>
                <a:path extrusionOk="0" h="3423" w="4635">
                  <a:moveTo>
                    <a:pt x="35" y="0"/>
                  </a:moveTo>
                  <a:cubicBezTo>
                    <a:pt x="30" y="57"/>
                    <a:pt x="0" y="185"/>
                    <a:pt x="5" y="345"/>
                  </a:cubicBezTo>
                  <a:cubicBezTo>
                    <a:pt x="10" y="505"/>
                    <a:pt x="25" y="753"/>
                    <a:pt x="65" y="960"/>
                  </a:cubicBezTo>
                  <a:cubicBezTo>
                    <a:pt x="105" y="1167"/>
                    <a:pt x="108" y="1315"/>
                    <a:pt x="245" y="1590"/>
                  </a:cubicBezTo>
                  <a:cubicBezTo>
                    <a:pt x="382" y="1865"/>
                    <a:pt x="578" y="2333"/>
                    <a:pt x="890" y="2610"/>
                  </a:cubicBezTo>
                  <a:cubicBezTo>
                    <a:pt x="1202" y="2887"/>
                    <a:pt x="1695" y="3117"/>
                    <a:pt x="2120" y="3251"/>
                  </a:cubicBezTo>
                  <a:cubicBezTo>
                    <a:pt x="2545" y="3385"/>
                    <a:pt x="3021" y="3423"/>
                    <a:pt x="3440" y="3416"/>
                  </a:cubicBezTo>
                  <a:cubicBezTo>
                    <a:pt x="3859" y="3409"/>
                    <a:pt x="4386" y="3252"/>
                    <a:pt x="4635" y="3209"/>
                  </a:cubicBezTo>
                </a:path>
              </a:pathLst>
            </a:custGeom>
            <a:noFill/>
            <a:ln cap="flat" cmpd="sng" w="254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4" name="Shape 514"/>
            <p:cNvSpPr/>
            <p:nvPr/>
          </p:nvSpPr>
          <p:spPr>
            <a:xfrm>
              <a:off x="6426200" y="2833686"/>
              <a:ext cx="6384925" cy="4608511"/>
            </a:xfrm>
            <a:custGeom>
              <a:pathLst>
                <a:path extrusionOk="0" h="2903" w="4022">
                  <a:moveTo>
                    <a:pt x="137" y="0"/>
                  </a:moveTo>
                  <a:cubicBezTo>
                    <a:pt x="115" y="97"/>
                    <a:pt x="4" y="365"/>
                    <a:pt x="2" y="585"/>
                  </a:cubicBezTo>
                  <a:cubicBezTo>
                    <a:pt x="0" y="805"/>
                    <a:pt x="32" y="1083"/>
                    <a:pt x="122" y="1320"/>
                  </a:cubicBezTo>
                  <a:cubicBezTo>
                    <a:pt x="212" y="1557"/>
                    <a:pt x="317" y="1780"/>
                    <a:pt x="542" y="2010"/>
                  </a:cubicBezTo>
                  <a:cubicBezTo>
                    <a:pt x="767" y="2240"/>
                    <a:pt x="1087" y="2553"/>
                    <a:pt x="1472" y="2700"/>
                  </a:cubicBezTo>
                  <a:cubicBezTo>
                    <a:pt x="1857" y="2847"/>
                    <a:pt x="2427" y="2887"/>
                    <a:pt x="2852" y="2895"/>
                  </a:cubicBezTo>
                  <a:cubicBezTo>
                    <a:pt x="3277" y="2903"/>
                    <a:pt x="3827" y="2770"/>
                    <a:pt x="4022" y="2745"/>
                  </a:cubicBezTo>
                </a:path>
              </a:pathLst>
            </a:custGeom>
            <a:noFill/>
            <a:ln cap="flat" cmpd="sng" w="254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5" name="Shape 515"/>
            <p:cNvSpPr txBox="1"/>
            <p:nvPr/>
          </p:nvSpPr>
          <p:spPr>
            <a:xfrm>
              <a:off x="12722225" y="6886575"/>
              <a:ext cx="1143000"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Q3</a:t>
              </a:r>
            </a:p>
          </p:txBody>
        </p:sp>
        <p:sp>
          <p:nvSpPr>
            <p:cNvPr id="516" name="Shape 516"/>
            <p:cNvSpPr txBox="1"/>
            <p:nvPr/>
          </p:nvSpPr>
          <p:spPr>
            <a:xfrm>
              <a:off x="12722225" y="8029575"/>
              <a:ext cx="1143000"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Q2</a:t>
              </a:r>
            </a:p>
          </p:txBody>
        </p:sp>
        <p:sp>
          <p:nvSpPr>
            <p:cNvPr id="517" name="Shape 517"/>
            <p:cNvSpPr txBox="1"/>
            <p:nvPr/>
          </p:nvSpPr>
          <p:spPr>
            <a:xfrm>
              <a:off x="12722225" y="9172575"/>
              <a:ext cx="1143000"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Q1</a:t>
              </a:r>
            </a:p>
          </p:txBody>
        </p:sp>
        <p:sp>
          <p:nvSpPr>
            <p:cNvPr id="518" name="Shape 518"/>
            <p:cNvSpPr txBox="1"/>
            <p:nvPr/>
          </p:nvSpPr>
          <p:spPr>
            <a:xfrm>
              <a:off x="14436725" y="9744075"/>
              <a:ext cx="2857499"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FACTOR X</a:t>
              </a:r>
            </a:p>
          </p:txBody>
        </p:sp>
        <p:sp>
          <p:nvSpPr>
            <p:cNvPr id="519" name="Shape 519"/>
            <p:cNvSpPr txBox="1"/>
            <p:nvPr/>
          </p:nvSpPr>
          <p:spPr>
            <a:xfrm>
              <a:off x="3578225" y="1457325"/>
              <a:ext cx="2857499"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FACTOR Y</a:t>
              </a:r>
            </a:p>
          </p:txBody>
        </p:sp>
        <p:sp>
          <p:nvSpPr>
            <p:cNvPr id="520" name="Shape 520"/>
            <p:cNvSpPr txBox="1"/>
            <p:nvPr/>
          </p:nvSpPr>
          <p:spPr>
            <a:xfrm>
              <a:off x="7578725" y="1838325"/>
              <a:ext cx="8001000"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MAPA DE ISOCUANTAS</a:t>
              </a:r>
            </a:p>
          </p:txBody>
        </p:sp>
        <p:sp>
          <p:nvSpPr>
            <p:cNvPr id="521" name="Shape 521"/>
            <p:cNvSpPr/>
            <p:nvPr/>
          </p:nvSpPr>
          <p:spPr>
            <a:xfrm>
              <a:off x="7239000" y="2887661"/>
              <a:ext cx="7227887" cy="3646487"/>
            </a:xfrm>
            <a:custGeom>
              <a:pathLst>
                <a:path extrusionOk="0" h="2297" w="4553">
                  <a:moveTo>
                    <a:pt x="30" y="0"/>
                  </a:moveTo>
                  <a:cubicBezTo>
                    <a:pt x="28" y="82"/>
                    <a:pt x="0" y="343"/>
                    <a:pt x="15" y="510"/>
                  </a:cubicBezTo>
                  <a:cubicBezTo>
                    <a:pt x="30" y="677"/>
                    <a:pt x="25" y="813"/>
                    <a:pt x="120" y="1005"/>
                  </a:cubicBezTo>
                  <a:cubicBezTo>
                    <a:pt x="215" y="1197"/>
                    <a:pt x="340" y="1465"/>
                    <a:pt x="585" y="1665"/>
                  </a:cubicBezTo>
                  <a:cubicBezTo>
                    <a:pt x="830" y="1865"/>
                    <a:pt x="1242" y="2113"/>
                    <a:pt x="1590" y="2205"/>
                  </a:cubicBezTo>
                  <a:cubicBezTo>
                    <a:pt x="1938" y="2297"/>
                    <a:pt x="2330" y="2258"/>
                    <a:pt x="2670" y="2220"/>
                  </a:cubicBezTo>
                  <a:cubicBezTo>
                    <a:pt x="3010" y="2182"/>
                    <a:pt x="3372" y="2117"/>
                    <a:pt x="3630" y="1980"/>
                  </a:cubicBezTo>
                  <a:cubicBezTo>
                    <a:pt x="3888" y="1843"/>
                    <a:pt x="4070" y="1635"/>
                    <a:pt x="4215" y="1395"/>
                  </a:cubicBezTo>
                  <a:cubicBezTo>
                    <a:pt x="4360" y="1155"/>
                    <a:pt x="4447" y="765"/>
                    <a:pt x="4500" y="540"/>
                  </a:cubicBezTo>
                  <a:cubicBezTo>
                    <a:pt x="4553" y="315"/>
                    <a:pt x="4524" y="148"/>
                    <a:pt x="4530" y="45"/>
                  </a:cubicBezTo>
                </a:path>
              </a:pathLst>
            </a:custGeom>
            <a:noFill/>
            <a:ln cap="flat" cmpd="sng" w="254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2" name="Shape 522"/>
            <p:cNvSpPr/>
            <p:nvPr/>
          </p:nvSpPr>
          <p:spPr>
            <a:xfrm>
              <a:off x="8024811" y="2887661"/>
              <a:ext cx="5622925" cy="2760662"/>
            </a:xfrm>
            <a:custGeom>
              <a:pathLst>
                <a:path extrusionOk="0" h="1739" w="3542">
                  <a:moveTo>
                    <a:pt x="30" y="0"/>
                  </a:moveTo>
                  <a:cubicBezTo>
                    <a:pt x="40" y="92"/>
                    <a:pt x="0" y="350"/>
                    <a:pt x="90" y="555"/>
                  </a:cubicBezTo>
                  <a:cubicBezTo>
                    <a:pt x="180" y="760"/>
                    <a:pt x="378" y="1050"/>
                    <a:pt x="570" y="1230"/>
                  </a:cubicBezTo>
                  <a:cubicBezTo>
                    <a:pt x="762" y="1410"/>
                    <a:pt x="972" y="1560"/>
                    <a:pt x="1245" y="1635"/>
                  </a:cubicBezTo>
                  <a:cubicBezTo>
                    <a:pt x="1518" y="1710"/>
                    <a:pt x="1909" y="1739"/>
                    <a:pt x="2211" y="1679"/>
                  </a:cubicBezTo>
                  <a:cubicBezTo>
                    <a:pt x="2513" y="1619"/>
                    <a:pt x="2851" y="1457"/>
                    <a:pt x="3060" y="1275"/>
                  </a:cubicBezTo>
                  <a:cubicBezTo>
                    <a:pt x="3269" y="1093"/>
                    <a:pt x="3388" y="797"/>
                    <a:pt x="3465" y="585"/>
                  </a:cubicBezTo>
                  <a:cubicBezTo>
                    <a:pt x="3542" y="373"/>
                    <a:pt x="3512" y="122"/>
                    <a:pt x="3525" y="0"/>
                  </a:cubicBezTo>
                </a:path>
              </a:pathLst>
            </a:custGeom>
            <a:noFill/>
            <a:ln cap="flat" cmpd="sng" w="254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3" name="Shape 523"/>
            <p:cNvSpPr/>
            <p:nvPr/>
          </p:nvSpPr>
          <p:spPr>
            <a:xfrm>
              <a:off x="8596311" y="2673350"/>
              <a:ext cx="4214811" cy="1879600"/>
            </a:xfrm>
            <a:custGeom>
              <a:pathLst>
                <a:path extrusionOk="0" h="1184" w="2655">
                  <a:moveTo>
                    <a:pt x="0" y="137"/>
                  </a:moveTo>
                  <a:cubicBezTo>
                    <a:pt x="12" y="222"/>
                    <a:pt x="0" y="504"/>
                    <a:pt x="75" y="647"/>
                  </a:cubicBezTo>
                  <a:cubicBezTo>
                    <a:pt x="150" y="790"/>
                    <a:pt x="260" y="905"/>
                    <a:pt x="450" y="992"/>
                  </a:cubicBezTo>
                  <a:cubicBezTo>
                    <a:pt x="640" y="1079"/>
                    <a:pt x="988" y="1160"/>
                    <a:pt x="1215" y="1172"/>
                  </a:cubicBezTo>
                  <a:cubicBezTo>
                    <a:pt x="1442" y="1184"/>
                    <a:pt x="1620" y="1148"/>
                    <a:pt x="1815" y="1065"/>
                  </a:cubicBezTo>
                  <a:cubicBezTo>
                    <a:pt x="2010" y="982"/>
                    <a:pt x="2245" y="852"/>
                    <a:pt x="2385" y="675"/>
                  </a:cubicBezTo>
                  <a:cubicBezTo>
                    <a:pt x="2525" y="498"/>
                    <a:pt x="2599" y="141"/>
                    <a:pt x="2655" y="0"/>
                  </a:cubicBezTo>
                </a:path>
              </a:pathLst>
            </a:custGeom>
            <a:noFill/>
            <a:ln cap="flat" cmpd="sng" w="254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4" name="Shape 524"/>
            <p:cNvSpPr txBox="1"/>
            <p:nvPr/>
          </p:nvSpPr>
          <p:spPr>
            <a:xfrm>
              <a:off x="12436475" y="5457825"/>
              <a:ext cx="1143000"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Q4</a:t>
              </a:r>
            </a:p>
          </p:txBody>
        </p:sp>
        <p:sp>
          <p:nvSpPr>
            <p:cNvPr id="525" name="Shape 525"/>
            <p:cNvSpPr txBox="1"/>
            <p:nvPr/>
          </p:nvSpPr>
          <p:spPr>
            <a:xfrm>
              <a:off x="12722225" y="2600325"/>
              <a:ext cx="1143000"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Q6</a:t>
              </a:r>
            </a:p>
          </p:txBody>
        </p:sp>
        <p:sp>
          <p:nvSpPr>
            <p:cNvPr id="526" name="Shape 526"/>
            <p:cNvSpPr txBox="1"/>
            <p:nvPr/>
          </p:nvSpPr>
          <p:spPr>
            <a:xfrm>
              <a:off x="12436475" y="4029075"/>
              <a:ext cx="1143000"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Q5</a:t>
              </a:r>
            </a:p>
          </p:txBody>
        </p:sp>
        <p:cxnSp>
          <p:nvCxnSpPr>
            <p:cNvPr id="527" name="Shape 527"/>
            <p:cNvCxnSpPr/>
            <p:nvPr/>
          </p:nvCxnSpPr>
          <p:spPr>
            <a:xfrm flipH="1">
              <a:off x="4721224" y="3743325"/>
              <a:ext cx="222250" cy="14001750"/>
            </a:xfrm>
            <a:prstGeom prst="straightConnector1">
              <a:avLst/>
            </a:prstGeom>
            <a:noFill/>
            <a:ln cap="flat" cmpd="sng" w="9525">
              <a:solidFill>
                <a:srgbClr val="000000"/>
              </a:solidFill>
              <a:prstDash val="solid"/>
              <a:miter/>
              <a:headEnd len="med" w="med" type="none"/>
              <a:tailEnd len="med" w="med" type="none"/>
            </a:ln>
          </p:spPr>
        </p:cxnSp>
        <p:cxnSp>
          <p:nvCxnSpPr>
            <p:cNvPr id="528" name="Shape 528"/>
            <p:cNvCxnSpPr/>
            <p:nvPr/>
          </p:nvCxnSpPr>
          <p:spPr>
            <a:xfrm>
              <a:off x="7291386" y="3743325"/>
              <a:ext cx="1587" cy="11144250"/>
            </a:xfrm>
            <a:prstGeom prst="straightConnector1">
              <a:avLst/>
            </a:prstGeom>
            <a:noFill/>
            <a:ln cap="flat" cmpd="sng" w="9525">
              <a:solidFill>
                <a:srgbClr val="000000"/>
              </a:solidFill>
              <a:prstDash val="solid"/>
              <a:miter/>
              <a:headEnd len="med" w="med" type="none"/>
              <a:tailEnd len="med" w="med" type="none"/>
            </a:ln>
          </p:spPr>
        </p:cxnSp>
        <p:cxnSp>
          <p:nvCxnSpPr>
            <p:cNvPr id="529" name="Shape 529"/>
            <p:cNvCxnSpPr/>
            <p:nvPr/>
          </p:nvCxnSpPr>
          <p:spPr>
            <a:xfrm>
              <a:off x="8148636" y="3743325"/>
              <a:ext cx="1587" cy="10286999"/>
            </a:xfrm>
            <a:prstGeom prst="straightConnector1">
              <a:avLst/>
            </a:prstGeom>
            <a:noFill/>
            <a:ln cap="flat" cmpd="sng" w="9525">
              <a:solidFill>
                <a:srgbClr val="000000"/>
              </a:solidFill>
              <a:prstDash val="solid"/>
              <a:miter/>
              <a:headEnd len="med" w="med" type="none"/>
              <a:tailEnd len="med" w="med" type="none"/>
            </a:ln>
          </p:spPr>
        </p:cxnSp>
        <p:cxnSp>
          <p:nvCxnSpPr>
            <p:cNvPr id="530" name="Shape 530"/>
            <p:cNvCxnSpPr/>
            <p:nvPr/>
          </p:nvCxnSpPr>
          <p:spPr>
            <a:xfrm>
              <a:off x="8721725" y="3743325"/>
              <a:ext cx="1587" cy="9715500"/>
            </a:xfrm>
            <a:prstGeom prst="straightConnector1">
              <a:avLst/>
            </a:prstGeom>
            <a:noFill/>
            <a:ln cap="flat" cmpd="sng" w="9525">
              <a:solidFill>
                <a:srgbClr val="000000"/>
              </a:solidFill>
              <a:prstDash val="solid"/>
              <a:miter/>
              <a:headEnd len="med" w="med" type="none"/>
              <a:tailEnd len="med" w="med" type="none"/>
            </a:ln>
          </p:spPr>
        </p:cxnSp>
        <p:cxnSp>
          <p:nvCxnSpPr>
            <p:cNvPr id="531" name="Shape 531"/>
            <p:cNvCxnSpPr/>
            <p:nvPr/>
          </p:nvCxnSpPr>
          <p:spPr>
            <a:xfrm>
              <a:off x="12434886" y="3743325"/>
              <a:ext cx="1587" cy="9715500"/>
            </a:xfrm>
            <a:prstGeom prst="straightConnector1">
              <a:avLst/>
            </a:prstGeom>
            <a:noFill/>
            <a:ln cap="flat" cmpd="sng" w="9525">
              <a:solidFill>
                <a:srgbClr val="000000"/>
              </a:solidFill>
              <a:prstDash val="solid"/>
              <a:miter/>
              <a:headEnd len="med" w="med" type="none"/>
              <a:tailEnd len="med" w="med" type="none"/>
            </a:ln>
          </p:spPr>
        </p:cxnSp>
        <p:cxnSp>
          <p:nvCxnSpPr>
            <p:cNvPr id="532" name="Shape 532"/>
            <p:cNvCxnSpPr/>
            <p:nvPr/>
          </p:nvCxnSpPr>
          <p:spPr>
            <a:xfrm>
              <a:off x="13577887" y="3743325"/>
              <a:ext cx="1587" cy="10286999"/>
            </a:xfrm>
            <a:prstGeom prst="straightConnector1">
              <a:avLst/>
            </a:prstGeom>
            <a:noFill/>
            <a:ln cap="flat" cmpd="sng" w="9525">
              <a:solidFill>
                <a:srgbClr val="000000"/>
              </a:solidFill>
              <a:prstDash val="solid"/>
              <a:miter/>
              <a:headEnd len="med" w="med" type="none"/>
              <a:tailEnd len="med" w="med" type="none"/>
            </a:ln>
          </p:spPr>
        </p:cxnSp>
        <p:cxnSp>
          <p:nvCxnSpPr>
            <p:cNvPr id="533" name="Shape 533"/>
            <p:cNvCxnSpPr/>
            <p:nvPr/>
          </p:nvCxnSpPr>
          <p:spPr>
            <a:xfrm>
              <a:off x="14435137" y="3743325"/>
              <a:ext cx="1587" cy="11144250"/>
            </a:xfrm>
            <a:prstGeom prst="straightConnector1">
              <a:avLst/>
            </a:prstGeom>
            <a:noFill/>
            <a:ln cap="flat" cmpd="sng" w="9525">
              <a:solidFill>
                <a:srgbClr val="000000"/>
              </a:solidFill>
              <a:prstDash val="solid"/>
              <a:miter/>
              <a:headEnd len="med" w="med" type="none"/>
              <a:tailEnd len="med" w="med" type="none"/>
            </a:ln>
          </p:spPr>
        </p:cxnSp>
        <p:sp>
          <p:nvSpPr>
            <p:cNvPr id="534" name="Shape 534"/>
            <p:cNvSpPr/>
            <p:nvPr/>
          </p:nvSpPr>
          <p:spPr>
            <a:xfrm>
              <a:off x="9261475" y="2581275"/>
              <a:ext cx="2882900" cy="1138237"/>
            </a:xfrm>
            <a:custGeom>
              <a:pathLst>
                <a:path extrusionOk="0" h="717" w="1816">
                  <a:moveTo>
                    <a:pt x="16" y="0"/>
                  </a:moveTo>
                  <a:cubicBezTo>
                    <a:pt x="23" y="62"/>
                    <a:pt x="0" y="273"/>
                    <a:pt x="61" y="375"/>
                  </a:cubicBezTo>
                  <a:cubicBezTo>
                    <a:pt x="122" y="477"/>
                    <a:pt x="229" y="559"/>
                    <a:pt x="384" y="611"/>
                  </a:cubicBezTo>
                  <a:cubicBezTo>
                    <a:pt x="539" y="663"/>
                    <a:pt x="790" y="717"/>
                    <a:pt x="991" y="688"/>
                  </a:cubicBezTo>
                  <a:cubicBezTo>
                    <a:pt x="1192" y="659"/>
                    <a:pt x="1454" y="550"/>
                    <a:pt x="1591" y="435"/>
                  </a:cubicBezTo>
                  <a:cubicBezTo>
                    <a:pt x="1728" y="320"/>
                    <a:pt x="1769" y="91"/>
                    <a:pt x="1816" y="0"/>
                  </a:cubicBezTo>
                </a:path>
              </a:pathLst>
            </a:custGeom>
            <a:noFill/>
            <a:ln cap="flat" cmpd="sng" w="25400">
              <a:solidFill>
                <a:srgbClr val="0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5" name="Shape 535"/>
            <p:cNvSpPr txBox="1"/>
            <p:nvPr/>
          </p:nvSpPr>
          <p:spPr>
            <a:xfrm>
              <a:off x="10150475" y="2981325"/>
              <a:ext cx="1143000"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Q7</a:t>
              </a:r>
            </a:p>
          </p:txBody>
        </p:sp>
        <p:sp>
          <p:nvSpPr>
            <p:cNvPr id="536" name="Shape 536"/>
            <p:cNvSpPr txBox="1"/>
            <p:nvPr/>
          </p:nvSpPr>
          <p:spPr>
            <a:xfrm>
              <a:off x="1863725" y="3171825"/>
              <a:ext cx="2857499"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993300"/>
                </a:buClr>
                <a:buSzPct val="25000"/>
                <a:buFont typeface="Arial"/>
                <a:buNone/>
              </a:pPr>
              <a:r>
                <a:rPr b="1" i="0" lang="en-US" sz="1200" u="none" cap="none" strike="noStrike">
                  <a:solidFill>
                    <a:srgbClr val="993300"/>
                  </a:solidFill>
                  <a:latin typeface="Arial"/>
                  <a:ea typeface="Arial"/>
                  <a:cs typeface="Arial"/>
                  <a:sym typeface="Arial"/>
                </a:rPr>
                <a:t>Y = cte</a:t>
              </a:r>
              <a:r>
                <a:rPr b="0" i="0" lang="en-US" sz="1200" u="none" cap="none" strike="noStrike">
                  <a:solidFill>
                    <a:schemeClr val="dk1"/>
                  </a:solidFill>
                  <a:latin typeface="Arial"/>
                  <a:ea typeface="Arial"/>
                  <a:cs typeface="Arial"/>
                  <a:sym typeface="Arial"/>
                </a:rPr>
                <a:t>.</a:t>
              </a:r>
            </a:p>
          </p:txBody>
        </p:sp>
        <p:cxnSp>
          <p:nvCxnSpPr>
            <p:cNvPr id="537" name="Shape 537"/>
            <p:cNvCxnSpPr/>
            <p:nvPr/>
          </p:nvCxnSpPr>
          <p:spPr>
            <a:xfrm>
              <a:off x="3578225" y="18030825"/>
              <a:ext cx="12001500" cy="1587"/>
            </a:xfrm>
            <a:prstGeom prst="straightConnector1">
              <a:avLst/>
            </a:prstGeom>
            <a:noFill/>
            <a:ln cap="flat" cmpd="sng" w="25400">
              <a:solidFill>
                <a:srgbClr val="000000"/>
              </a:solidFill>
              <a:prstDash val="solid"/>
              <a:miter/>
              <a:headEnd len="med" w="med" type="none"/>
              <a:tailEnd len="lg" w="lg" type="triangle"/>
            </a:ln>
          </p:spPr>
        </p:cxnSp>
        <p:sp>
          <p:nvSpPr>
            <p:cNvPr id="538" name="Shape 538"/>
            <p:cNvSpPr/>
            <p:nvPr/>
          </p:nvSpPr>
          <p:spPr>
            <a:xfrm>
              <a:off x="3578225" y="12963525"/>
              <a:ext cx="10875961" cy="5067300"/>
            </a:xfrm>
            <a:custGeom>
              <a:pathLst>
                <a:path extrusionOk="0" h="3192" w="6851">
                  <a:moveTo>
                    <a:pt x="0" y="3192"/>
                  </a:moveTo>
                  <a:cubicBezTo>
                    <a:pt x="142" y="3150"/>
                    <a:pt x="612" y="3063"/>
                    <a:pt x="854" y="2938"/>
                  </a:cubicBezTo>
                  <a:cubicBezTo>
                    <a:pt x="1096" y="2813"/>
                    <a:pt x="1289" y="2618"/>
                    <a:pt x="1454" y="2443"/>
                  </a:cubicBezTo>
                  <a:cubicBezTo>
                    <a:pt x="1619" y="2268"/>
                    <a:pt x="1687" y="2098"/>
                    <a:pt x="1844" y="1888"/>
                  </a:cubicBezTo>
                  <a:cubicBezTo>
                    <a:pt x="2001" y="1678"/>
                    <a:pt x="2227" y="1385"/>
                    <a:pt x="2399" y="1183"/>
                  </a:cubicBezTo>
                  <a:cubicBezTo>
                    <a:pt x="2571" y="981"/>
                    <a:pt x="2734" y="817"/>
                    <a:pt x="2876" y="675"/>
                  </a:cubicBezTo>
                  <a:cubicBezTo>
                    <a:pt x="3018" y="533"/>
                    <a:pt x="3104" y="427"/>
                    <a:pt x="3251" y="330"/>
                  </a:cubicBezTo>
                  <a:cubicBezTo>
                    <a:pt x="3398" y="233"/>
                    <a:pt x="3556" y="145"/>
                    <a:pt x="3761" y="90"/>
                  </a:cubicBezTo>
                  <a:cubicBezTo>
                    <a:pt x="3966" y="35"/>
                    <a:pt x="4261" y="0"/>
                    <a:pt x="4481" y="0"/>
                  </a:cubicBezTo>
                  <a:cubicBezTo>
                    <a:pt x="4701" y="0"/>
                    <a:pt x="4901" y="38"/>
                    <a:pt x="5081" y="90"/>
                  </a:cubicBezTo>
                  <a:cubicBezTo>
                    <a:pt x="5261" y="142"/>
                    <a:pt x="5361" y="210"/>
                    <a:pt x="5561" y="315"/>
                  </a:cubicBezTo>
                  <a:cubicBezTo>
                    <a:pt x="5761" y="420"/>
                    <a:pt x="6066" y="572"/>
                    <a:pt x="6281" y="720"/>
                  </a:cubicBezTo>
                  <a:cubicBezTo>
                    <a:pt x="6496" y="868"/>
                    <a:pt x="6732" y="1100"/>
                    <a:pt x="6851" y="1200"/>
                  </a:cubicBezTo>
                </a:path>
              </a:pathLst>
            </a:custGeom>
            <a:noFill/>
            <a:ln cap="flat" cmpd="sng" w="38100">
              <a:solidFill>
                <a:srgbClr val="9933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539" name="Shape 539"/>
            <p:cNvCxnSpPr/>
            <p:nvPr/>
          </p:nvCxnSpPr>
          <p:spPr>
            <a:xfrm>
              <a:off x="3578225" y="12887325"/>
              <a:ext cx="7143749" cy="1587"/>
            </a:xfrm>
            <a:prstGeom prst="straightConnector1">
              <a:avLst/>
            </a:prstGeom>
            <a:noFill/>
            <a:ln cap="rnd" cmpd="sng" w="9525">
              <a:solidFill>
                <a:srgbClr val="000000"/>
              </a:solidFill>
              <a:prstDash val="solid"/>
              <a:miter/>
              <a:headEnd len="med" w="med" type="none"/>
              <a:tailEnd len="med" w="med" type="none"/>
            </a:ln>
          </p:spPr>
        </p:cxnSp>
        <p:cxnSp>
          <p:nvCxnSpPr>
            <p:cNvPr id="540" name="Shape 540"/>
            <p:cNvCxnSpPr/>
            <p:nvPr/>
          </p:nvCxnSpPr>
          <p:spPr>
            <a:xfrm>
              <a:off x="3578225" y="13457237"/>
              <a:ext cx="8858249" cy="1587"/>
            </a:xfrm>
            <a:prstGeom prst="straightConnector1">
              <a:avLst/>
            </a:prstGeom>
            <a:noFill/>
            <a:ln cap="rnd" cmpd="sng" w="9525">
              <a:solidFill>
                <a:srgbClr val="000000"/>
              </a:solidFill>
              <a:prstDash val="solid"/>
              <a:miter/>
              <a:headEnd len="med" w="med" type="none"/>
              <a:tailEnd len="med" w="med" type="none"/>
            </a:ln>
          </p:spPr>
        </p:cxnSp>
        <p:cxnSp>
          <p:nvCxnSpPr>
            <p:cNvPr id="541" name="Shape 541"/>
            <p:cNvCxnSpPr/>
            <p:nvPr/>
          </p:nvCxnSpPr>
          <p:spPr>
            <a:xfrm>
              <a:off x="3578225" y="14028737"/>
              <a:ext cx="10001250" cy="1587"/>
            </a:xfrm>
            <a:prstGeom prst="straightConnector1">
              <a:avLst/>
            </a:prstGeom>
            <a:noFill/>
            <a:ln cap="rnd" cmpd="sng" w="9525">
              <a:solidFill>
                <a:srgbClr val="000000"/>
              </a:solidFill>
              <a:prstDash val="solid"/>
              <a:miter/>
              <a:headEnd len="med" w="med" type="none"/>
              <a:tailEnd len="med" w="med" type="none"/>
            </a:ln>
          </p:spPr>
        </p:cxnSp>
        <p:cxnSp>
          <p:nvCxnSpPr>
            <p:cNvPr id="542" name="Shape 542"/>
            <p:cNvCxnSpPr/>
            <p:nvPr/>
          </p:nvCxnSpPr>
          <p:spPr>
            <a:xfrm>
              <a:off x="3578225" y="14887575"/>
              <a:ext cx="10858499" cy="1587"/>
            </a:xfrm>
            <a:prstGeom prst="straightConnector1">
              <a:avLst/>
            </a:prstGeom>
            <a:noFill/>
            <a:ln cap="rnd" cmpd="sng" w="9525">
              <a:solidFill>
                <a:srgbClr val="000000"/>
              </a:solidFill>
              <a:prstDash val="solid"/>
              <a:miter/>
              <a:headEnd len="med" w="med" type="none"/>
              <a:tailEnd len="med" w="med" type="none"/>
            </a:ln>
          </p:spPr>
        </p:cxnSp>
        <p:cxnSp>
          <p:nvCxnSpPr>
            <p:cNvPr id="543" name="Shape 543"/>
            <p:cNvCxnSpPr/>
            <p:nvPr/>
          </p:nvCxnSpPr>
          <p:spPr>
            <a:xfrm>
              <a:off x="3578225" y="16028987"/>
              <a:ext cx="2857499" cy="1587"/>
            </a:xfrm>
            <a:prstGeom prst="straightConnector1">
              <a:avLst/>
            </a:prstGeom>
            <a:noFill/>
            <a:ln cap="rnd" cmpd="sng" w="9525">
              <a:solidFill>
                <a:srgbClr val="000000"/>
              </a:solidFill>
              <a:prstDash val="solid"/>
              <a:miter/>
              <a:headEnd len="med" w="med" type="none"/>
              <a:tailEnd len="med" w="med" type="none"/>
            </a:ln>
          </p:spPr>
        </p:cxnSp>
        <p:cxnSp>
          <p:nvCxnSpPr>
            <p:cNvPr id="544" name="Shape 544"/>
            <p:cNvCxnSpPr/>
            <p:nvPr/>
          </p:nvCxnSpPr>
          <p:spPr>
            <a:xfrm>
              <a:off x="3578225" y="17171987"/>
              <a:ext cx="2000250" cy="1587"/>
            </a:xfrm>
            <a:prstGeom prst="straightConnector1">
              <a:avLst/>
            </a:prstGeom>
            <a:noFill/>
            <a:ln cap="rnd" cmpd="sng" w="9525">
              <a:solidFill>
                <a:srgbClr val="000000"/>
              </a:solidFill>
              <a:prstDash val="solid"/>
              <a:miter/>
              <a:headEnd len="med" w="med" type="none"/>
              <a:tailEnd len="med" w="med" type="none"/>
            </a:ln>
          </p:spPr>
        </p:cxnSp>
        <p:cxnSp>
          <p:nvCxnSpPr>
            <p:cNvPr id="545" name="Shape 545"/>
            <p:cNvCxnSpPr/>
            <p:nvPr/>
          </p:nvCxnSpPr>
          <p:spPr>
            <a:xfrm>
              <a:off x="3578225" y="17743487"/>
              <a:ext cx="1143000" cy="1587"/>
            </a:xfrm>
            <a:prstGeom prst="straightConnector1">
              <a:avLst/>
            </a:prstGeom>
            <a:noFill/>
            <a:ln cap="rnd" cmpd="sng" w="9525">
              <a:solidFill>
                <a:srgbClr val="000000"/>
              </a:solidFill>
              <a:prstDash val="solid"/>
              <a:miter/>
              <a:headEnd len="med" w="med" type="none"/>
              <a:tailEnd len="med" w="med" type="none"/>
            </a:ln>
          </p:spPr>
        </p:cxnSp>
        <p:sp>
          <p:nvSpPr>
            <p:cNvPr id="546" name="Shape 546"/>
            <p:cNvSpPr txBox="1"/>
            <p:nvPr/>
          </p:nvSpPr>
          <p:spPr>
            <a:xfrm>
              <a:off x="14436725" y="17459325"/>
              <a:ext cx="2857499"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FACTOR X</a:t>
              </a:r>
            </a:p>
          </p:txBody>
        </p:sp>
        <p:sp>
          <p:nvSpPr>
            <p:cNvPr id="547" name="Shape 547"/>
            <p:cNvSpPr txBox="1"/>
            <p:nvPr/>
          </p:nvSpPr>
          <p:spPr>
            <a:xfrm>
              <a:off x="2720975" y="12601575"/>
              <a:ext cx="1428749" cy="62864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FF"/>
                </a:buClr>
                <a:buSzPct val="25000"/>
                <a:buFont typeface="Arial"/>
                <a:buNone/>
              </a:pPr>
              <a:r>
                <a:rPr b="1" i="0" lang="en-US" sz="1100" u="none" cap="none" strike="noStrike">
                  <a:solidFill>
                    <a:srgbClr val="0000FF"/>
                  </a:solidFill>
                  <a:latin typeface="Arial"/>
                  <a:ea typeface="Arial"/>
                  <a:cs typeface="Arial"/>
                  <a:sym typeface="Arial"/>
                </a:rPr>
                <a:t>Q7</a:t>
              </a:r>
            </a:p>
            <a:p>
              <a:pPr indent="0" lvl="0" marL="0" marR="0" rtl="0" algn="l">
                <a:lnSpc>
                  <a:spcPct val="100000"/>
                </a:lnSpc>
                <a:spcBef>
                  <a:spcPts val="0"/>
                </a:spcBef>
                <a:spcAft>
                  <a:spcPts val="0"/>
                </a:spcAft>
                <a:buClr>
                  <a:srgbClr val="0000FF"/>
                </a:buClr>
                <a:buSzPct val="25000"/>
                <a:buFont typeface="Arial"/>
                <a:buNone/>
              </a:pPr>
              <a:r>
                <a:rPr b="1" i="0" lang="en-US" sz="1100" u="none" cap="none" strike="noStrike">
                  <a:solidFill>
                    <a:srgbClr val="0000FF"/>
                  </a:solidFill>
                  <a:latin typeface="Arial"/>
                  <a:ea typeface="Arial"/>
                  <a:cs typeface="Arial"/>
                  <a:sym typeface="Arial"/>
                </a:rPr>
                <a:t>Q6</a:t>
              </a:r>
            </a:p>
            <a:p>
              <a:pPr indent="0" lvl="0" marL="0" marR="0" rtl="0" algn="l">
                <a:lnSpc>
                  <a:spcPct val="100000"/>
                </a:lnSpc>
                <a:spcBef>
                  <a:spcPts val="0"/>
                </a:spcBef>
                <a:spcAft>
                  <a:spcPts val="0"/>
                </a:spcAft>
                <a:buClr>
                  <a:srgbClr val="0000FF"/>
                </a:buClr>
                <a:buSzPct val="25000"/>
                <a:buFont typeface="Arial"/>
                <a:buNone/>
              </a:pPr>
              <a:r>
                <a:rPr b="1" i="0" lang="en-US" sz="1100" u="none" cap="none" strike="noStrike">
                  <a:solidFill>
                    <a:srgbClr val="0000FF"/>
                  </a:solidFill>
                  <a:latin typeface="Arial"/>
                  <a:ea typeface="Arial"/>
                  <a:cs typeface="Arial"/>
                  <a:sym typeface="Arial"/>
                </a:rPr>
                <a:t>Q5</a:t>
              </a:r>
            </a:p>
            <a:p>
              <a:pPr indent="0" lvl="0" marL="0" marR="0" rtl="0" algn="l">
                <a:lnSpc>
                  <a:spcPct val="100000"/>
                </a:lnSpc>
                <a:spcBef>
                  <a:spcPts val="0"/>
                </a:spcBef>
                <a:spcAft>
                  <a:spcPts val="0"/>
                </a:spcAft>
                <a:buClr>
                  <a:srgbClr val="0000FF"/>
                </a:buClr>
                <a:buSzPct val="25000"/>
                <a:buFont typeface="Arial"/>
                <a:buNone/>
              </a:pPr>
              <a:r>
                <a:rPr b="1" i="0" lang="en-US" sz="1100" u="none" cap="none" strike="noStrike">
                  <a:solidFill>
                    <a:srgbClr val="0000FF"/>
                  </a:solidFill>
                  <a:latin typeface="Arial"/>
                  <a:ea typeface="Arial"/>
                  <a:cs typeface="Arial"/>
                  <a:sym typeface="Arial"/>
                </a:rPr>
                <a:t>Q4</a:t>
              </a:r>
            </a:p>
            <a:p>
              <a:pPr indent="0" lvl="0" marL="0" marR="0" rtl="0" algn="l">
                <a:lnSpc>
                  <a:spcPct val="100000"/>
                </a:lnSpc>
                <a:spcBef>
                  <a:spcPts val="0"/>
                </a:spcBef>
                <a:spcAft>
                  <a:spcPts val="0"/>
                </a:spcAft>
                <a:buClr>
                  <a:schemeClr val="dk1"/>
                </a:buClr>
                <a:buFont typeface="Calibri"/>
                <a:buNone/>
              </a:pPr>
              <a:r>
                <a:t/>
              </a:r>
              <a:endParaRPr b="1" i="0" sz="1100" u="none" cap="none" strike="noStrike">
                <a:solidFill>
                  <a:srgbClr val="0000FF"/>
                </a:solidFill>
                <a:latin typeface="Arial"/>
                <a:ea typeface="Arial"/>
                <a:cs typeface="Arial"/>
                <a:sym typeface="Arial"/>
              </a:endParaRPr>
            </a:p>
            <a:p>
              <a:pPr indent="0" lvl="0" marL="0" marR="0" rtl="0" algn="l">
                <a:lnSpc>
                  <a:spcPct val="100000"/>
                </a:lnSpc>
                <a:spcBef>
                  <a:spcPts val="0"/>
                </a:spcBef>
                <a:spcAft>
                  <a:spcPts val="0"/>
                </a:spcAft>
                <a:buClr>
                  <a:srgbClr val="0000FF"/>
                </a:buClr>
                <a:buSzPct val="25000"/>
                <a:buFont typeface="Arial"/>
                <a:buNone/>
              </a:pPr>
              <a:r>
                <a:rPr b="1" i="0" lang="en-US" sz="1100" u="none" cap="none" strike="noStrike">
                  <a:solidFill>
                    <a:srgbClr val="0000FF"/>
                  </a:solidFill>
                  <a:latin typeface="Arial"/>
                  <a:ea typeface="Arial"/>
                  <a:cs typeface="Arial"/>
                  <a:sym typeface="Arial"/>
                </a:rPr>
                <a:t>Q3</a:t>
              </a:r>
            </a:p>
            <a:p>
              <a:pPr indent="0" lvl="0" marL="0" marR="0" rtl="0" algn="l">
                <a:lnSpc>
                  <a:spcPct val="100000"/>
                </a:lnSpc>
                <a:spcBef>
                  <a:spcPts val="0"/>
                </a:spcBef>
                <a:spcAft>
                  <a:spcPts val="0"/>
                </a:spcAft>
                <a:buClr>
                  <a:schemeClr val="dk1"/>
                </a:buClr>
                <a:buFont typeface="Calibri"/>
                <a:buNone/>
              </a:pPr>
              <a:r>
                <a:t/>
              </a:r>
              <a:endParaRPr b="1" i="0" sz="1100" u="none" cap="none" strike="noStrike">
                <a:solidFill>
                  <a:srgbClr val="0000FF"/>
                </a:solidFill>
                <a:latin typeface="Arial"/>
                <a:ea typeface="Arial"/>
                <a:cs typeface="Arial"/>
                <a:sym typeface="Arial"/>
              </a:endParaRPr>
            </a:p>
            <a:p>
              <a:pPr indent="0" lvl="0" marL="0" marR="0" rtl="0" algn="l">
                <a:lnSpc>
                  <a:spcPct val="100000"/>
                </a:lnSpc>
                <a:spcBef>
                  <a:spcPts val="0"/>
                </a:spcBef>
                <a:spcAft>
                  <a:spcPts val="0"/>
                </a:spcAft>
                <a:buClr>
                  <a:srgbClr val="0000FF"/>
                </a:buClr>
                <a:buSzPct val="25000"/>
                <a:buFont typeface="Arial"/>
                <a:buNone/>
              </a:pPr>
              <a:r>
                <a:rPr b="1" i="0" lang="en-US" sz="1100" u="none" cap="none" strike="noStrike">
                  <a:solidFill>
                    <a:srgbClr val="0000FF"/>
                  </a:solidFill>
                  <a:latin typeface="Arial"/>
                  <a:ea typeface="Arial"/>
                  <a:cs typeface="Arial"/>
                  <a:sym typeface="Arial"/>
                </a:rPr>
                <a:t>Q2</a:t>
              </a:r>
            </a:p>
            <a:p>
              <a:pPr indent="0" lvl="0" marL="0" marR="0" rtl="0" algn="l">
                <a:lnSpc>
                  <a:spcPct val="100000"/>
                </a:lnSpc>
                <a:spcBef>
                  <a:spcPts val="0"/>
                </a:spcBef>
                <a:spcAft>
                  <a:spcPts val="0"/>
                </a:spcAft>
                <a:buClr>
                  <a:srgbClr val="0000FF"/>
                </a:buClr>
                <a:buSzPct val="25000"/>
                <a:buFont typeface="Arial"/>
                <a:buNone/>
              </a:pPr>
              <a:r>
                <a:rPr b="1" i="0" lang="en-US" sz="1100" u="none" cap="none" strike="noStrike">
                  <a:solidFill>
                    <a:srgbClr val="0000FF"/>
                  </a:solidFill>
                  <a:latin typeface="Arial"/>
                  <a:ea typeface="Arial"/>
                  <a:cs typeface="Arial"/>
                  <a:sym typeface="Arial"/>
                </a:rPr>
                <a:t>Q1</a:t>
              </a:r>
            </a:p>
            <a:p>
              <a:pPr indent="0" lvl="0" marL="0" marR="0" rtl="0" algn="l">
                <a:lnSpc>
                  <a:spcPct val="100000"/>
                </a:lnSpc>
                <a:spcBef>
                  <a:spcPts val="0"/>
                </a:spcBef>
                <a:spcAft>
                  <a:spcPts val="0"/>
                </a:spcAft>
                <a:buNone/>
              </a:pPr>
              <a:r>
                <a:t/>
              </a:r>
              <a:endParaRPr b="1" i="0" sz="1100" u="none" cap="none" strike="noStrike">
                <a:solidFill>
                  <a:srgbClr val="0000FF"/>
                </a:solidFill>
                <a:latin typeface="Arial"/>
                <a:ea typeface="Arial"/>
                <a:cs typeface="Arial"/>
                <a:sym typeface="Arial"/>
              </a:endParaRPr>
            </a:p>
          </p:txBody>
        </p:sp>
        <p:sp>
          <p:nvSpPr>
            <p:cNvPr id="548" name="Shape 548"/>
            <p:cNvSpPr txBox="1"/>
            <p:nvPr/>
          </p:nvSpPr>
          <p:spPr>
            <a:xfrm>
              <a:off x="8150225" y="15173325"/>
              <a:ext cx="6572249" cy="8572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993300"/>
                </a:buClr>
                <a:buSzPct val="25000"/>
                <a:buFont typeface="Arial"/>
                <a:buNone/>
              </a:pPr>
              <a:r>
                <a:rPr b="1" i="0" lang="en-US" sz="1200" u="none" cap="none" strike="noStrike">
                  <a:solidFill>
                    <a:srgbClr val="993300"/>
                  </a:solidFill>
                  <a:latin typeface="Arial"/>
                  <a:ea typeface="Arial"/>
                  <a:cs typeface="Arial"/>
                  <a:sym typeface="Arial"/>
                </a:rPr>
                <a:t>CURVA DE PRODUCCIÓN</a:t>
              </a:r>
            </a:p>
          </p:txBody>
        </p:sp>
        <p:cxnSp>
          <p:nvCxnSpPr>
            <p:cNvPr id="549" name="Shape 549"/>
            <p:cNvCxnSpPr/>
            <p:nvPr/>
          </p:nvCxnSpPr>
          <p:spPr>
            <a:xfrm>
              <a:off x="10721975" y="3743325"/>
              <a:ext cx="1587" cy="9144000"/>
            </a:xfrm>
            <a:prstGeom prst="straightConnector1">
              <a:avLst/>
            </a:prstGeom>
            <a:noFill/>
            <a:ln cap="flat" cmpd="sng" w="9525">
              <a:solidFill>
                <a:srgbClr val="000000"/>
              </a:solidFill>
              <a:prstDash val="solid"/>
              <a:miter/>
              <a:headEnd len="med" w="med" type="none"/>
              <a:tailEnd len="med" w="med" type="none"/>
            </a:ln>
          </p:spPr>
        </p:cxnSp>
      </p:grpSp>
    </p:spTree>
  </p:cSld>
  <p:clrMapOvr>
    <a:masterClrMapping/>
  </p:clrMapOvr>
  <p:transition spd="slow">
    <p:cut/>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53" name="Shape 553"/>
        <p:cNvGrpSpPr/>
        <p:nvPr/>
      </p:nvGrpSpPr>
      <p:grpSpPr>
        <a:xfrm>
          <a:off x="0" y="0"/>
          <a:ext cx="0" cy="0"/>
          <a:chOff x="0" y="0"/>
          <a:chExt cx="0" cy="0"/>
        </a:xfrm>
      </p:grpSpPr>
      <p:pic>
        <p:nvPicPr>
          <p:cNvPr id="554" name="Shape 554"/>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555" name="Shape 555"/>
          <p:cNvSpPr txBox="1"/>
          <p:nvPr/>
        </p:nvSpPr>
        <p:spPr>
          <a:xfrm>
            <a:off x="3429000" y="152400"/>
            <a:ext cx="5140324"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ECONOMÍAS Y DESECONOMÍAS DE ESCALA</a:t>
            </a:r>
          </a:p>
        </p:txBody>
      </p:sp>
      <p:pic>
        <p:nvPicPr>
          <p:cNvPr id="556" name="Shape 556"/>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cxnSp>
        <p:nvCxnSpPr>
          <p:cNvPr id="557" name="Shape 557"/>
          <p:cNvCxnSpPr/>
          <p:nvPr/>
        </p:nvCxnSpPr>
        <p:spPr>
          <a:xfrm>
            <a:off x="1431925" y="6856411"/>
            <a:ext cx="4800600" cy="1587"/>
          </a:xfrm>
          <a:prstGeom prst="straightConnector1">
            <a:avLst/>
          </a:prstGeom>
          <a:noFill/>
          <a:ln cap="flat" cmpd="sng" w="25400">
            <a:solidFill>
              <a:srgbClr val="000000"/>
            </a:solidFill>
            <a:prstDash val="solid"/>
            <a:miter/>
            <a:headEnd len="med" w="med" type="none"/>
            <a:tailEnd len="lg" w="lg" type="triangle"/>
          </a:ln>
        </p:spPr>
      </p:cxnSp>
      <p:sp>
        <p:nvSpPr>
          <p:cNvPr id="558" name="Shape 558"/>
          <p:cNvSpPr txBox="1"/>
          <p:nvPr/>
        </p:nvSpPr>
        <p:spPr>
          <a:xfrm>
            <a:off x="152400" y="1584325"/>
            <a:ext cx="8686800" cy="641350"/>
          </a:xfrm>
          <a:prstGeom prst="rect">
            <a:avLst/>
          </a:prstGeom>
          <a:solidFill>
            <a:srgbClr val="C0C0C0"/>
          </a:solidFill>
          <a:ln>
            <a:noFill/>
          </a:ln>
        </p:spPr>
        <p:txBody>
          <a:bodyPr anchorCtr="0" anchor="ctr" bIns="45700" lIns="91425" rIns="91425" tIns="45700">
            <a:noAutofit/>
          </a:bodyPr>
          <a:lstStyle/>
          <a:p>
            <a:pPr indent="0" lvl="0" marL="0" marR="0" rtl="0" algn="just">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Las economías y deseconomías de escala existen cuando el costo unitario de producir un bien baja/sube a medida que aumenta/disminuye la tasa de producción </a:t>
            </a:r>
          </a:p>
        </p:txBody>
      </p:sp>
      <p:sp>
        <p:nvSpPr>
          <p:cNvPr id="559" name="Shape 559"/>
          <p:cNvSpPr txBox="1"/>
          <p:nvPr/>
        </p:nvSpPr>
        <p:spPr>
          <a:xfrm>
            <a:off x="228600" y="3030536"/>
            <a:ext cx="8721724" cy="1465261"/>
          </a:xfrm>
          <a:prstGeom prst="rect">
            <a:avLst/>
          </a:prstGeom>
          <a:solidFill>
            <a:srgbClr val="FF9900"/>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ECONOMÍA DE ESCALA:</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La economía de escala se refiere al poder que tiene una empresa cuando intenta alcanzar el nivel óptimo de producción con menor costo, es decir, a medida que la producción en una empresa crece sus costos medios se reducen, o sea cuanto más produce menos le cuesta producir cada unidad de producto. </a:t>
            </a:r>
          </a:p>
        </p:txBody>
      </p:sp>
      <p:sp>
        <p:nvSpPr>
          <p:cNvPr id="560" name="Shape 560"/>
          <p:cNvSpPr txBox="1"/>
          <p:nvPr/>
        </p:nvSpPr>
        <p:spPr>
          <a:xfrm>
            <a:off x="228600" y="5011737"/>
            <a:ext cx="8686800" cy="1465261"/>
          </a:xfrm>
          <a:prstGeom prst="rect">
            <a:avLst/>
          </a:prstGeom>
          <a:solidFill>
            <a:srgbClr val="FF0000">
              <a:alpha val="55686"/>
            </a:srgbClr>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DESECONOMÍAS DE ESCALA:</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Las deseconomías de escala se refieren a la restricciones que tienen las empresas al aumentar los niveles de producción debido al aumento de sus costos medios, lo cual significa que cuanto mas produce mas le cuesta producir por cada unidad de producto. </a:t>
            </a:r>
          </a:p>
        </p:txBody>
      </p:sp>
    </p:spTree>
  </p:cSld>
  <p:clrMapOvr>
    <a:masterClrMapping/>
  </p:clrMapOvr>
  <p:transition spd="slow">
    <p:cut/>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64" name="Shape 564"/>
        <p:cNvGrpSpPr/>
        <p:nvPr/>
      </p:nvGrpSpPr>
      <p:grpSpPr>
        <a:xfrm>
          <a:off x="0" y="0"/>
          <a:ext cx="0" cy="0"/>
          <a:chOff x="0" y="0"/>
          <a:chExt cx="0" cy="0"/>
        </a:xfrm>
      </p:grpSpPr>
      <p:pic>
        <p:nvPicPr>
          <p:cNvPr id="565" name="Shape 565"/>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566" name="Shape 566"/>
          <p:cNvSpPr txBox="1"/>
          <p:nvPr/>
        </p:nvSpPr>
        <p:spPr>
          <a:xfrm>
            <a:off x="4343400" y="304800"/>
            <a:ext cx="4225925"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RENDIMIENTOS A ESCALA CONSTANTES</a:t>
            </a:r>
          </a:p>
        </p:txBody>
      </p:sp>
      <p:pic>
        <p:nvPicPr>
          <p:cNvPr id="567" name="Shape 567"/>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568" name="Shape 568"/>
          <p:cNvSpPr txBox="1"/>
          <p:nvPr/>
        </p:nvSpPr>
        <p:spPr>
          <a:xfrm>
            <a:off x="3581400" y="1600200"/>
            <a:ext cx="5292725" cy="2297111"/>
          </a:xfrm>
          <a:prstGeom prst="rect">
            <a:avLst/>
          </a:prstGeom>
          <a:noFill/>
          <a:ln>
            <a:noFill/>
          </a:ln>
        </p:spPr>
        <p:txBody>
          <a:bodyPr anchorCtr="0" anchor="ctr" bIns="0" lIns="0" rIns="0" tIns="0">
            <a:noAutofit/>
          </a:bodyPr>
          <a:lstStyle/>
          <a:p>
            <a:pPr indent="-1587" lvl="1" marL="179387"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REPRESENTAN UNA SITUACIÓN DE </a:t>
            </a:r>
          </a:p>
          <a:p>
            <a:pPr indent="-1587" lvl="1" marL="179387"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PRODUCCIÓN EN LA CUAL, SI TODOS </a:t>
            </a:r>
          </a:p>
          <a:p>
            <a:pPr indent="-1587" lvl="1" marL="179387"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LOS FACTORES DE LA PRODUCCIÓN</a:t>
            </a:r>
          </a:p>
          <a:p>
            <a:pPr indent="-1587" lvl="1" marL="179387"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AUMENTAN EN LA MISMA PROPORCIÓN,</a:t>
            </a:r>
          </a:p>
          <a:p>
            <a:pPr indent="-1587" lvl="1" marL="179387"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EL PRODUCTO AUMENTA EXACTAMENTE</a:t>
            </a:r>
          </a:p>
          <a:p>
            <a:pPr indent="-1587" lvl="1" marL="179387"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EN LA MISMA PROPORCIÓN</a:t>
            </a:r>
          </a:p>
        </p:txBody>
      </p:sp>
      <p:sp>
        <p:nvSpPr>
          <p:cNvPr id="569" name="Shape 569"/>
          <p:cNvSpPr/>
          <p:nvPr/>
        </p:nvSpPr>
        <p:spPr>
          <a:xfrm>
            <a:off x="2054225" y="3187700"/>
            <a:ext cx="3609975" cy="2997200"/>
          </a:xfrm>
          <a:custGeom>
            <a:pathLst>
              <a:path extrusionOk="0" h="1888" w="2274">
                <a:moveTo>
                  <a:pt x="290" y="0"/>
                </a:moveTo>
                <a:cubicBezTo>
                  <a:pt x="267" y="45"/>
                  <a:pt x="193" y="168"/>
                  <a:pt x="154" y="272"/>
                </a:cubicBezTo>
                <a:cubicBezTo>
                  <a:pt x="115" y="376"/>
                  <a:pt x="79" y="489"/>
                  <a:pt x="58" y="624"/>
                </a:cubicBezTo>
                <a:cubicBezTo>
                  <a:pt x="37" y="759"/>
                  <a:pt x="0" y="918"/>
                  <a:pt x="26" y="1080"/>
                </a:cubicBezTo>
                <a:cubicBezTo>
                  <a:pt x="52" y="1242"/>
                  <a:pt x="98" y="1471"/>
                  <a:pt x="215" y="1599"/>
                </a:cubicBezTo>
                <a:cubicBezTo>
                  <a:pt x="332" y="1727"/>
                  <a:pt x="535" y="1808"/>
                  <a:pt x="730" y="1848"/>
                </a:cubicBezTo>
                <a:cubicBezTo>
                  <a:pt x="925" y="1888"/>
                  <a:pt x="1197" y="1861"/>
                  <a:pt x="1386" y="1840"/>
                </a:cubicBezTo>
                <a:cubicBezTo>
                  <a:pt x="1575" y="1819"/>
                  <a:pt x="1718" y="1775"/>
                  <a:pt x="1866" y="1720"/>
                </a:cubicBezTo>
                <a:cubicBezTo>
                  <a:pt x="2014" y="1665"/>
                  <a:pt x="2189" y="1555"/>
                  <a:pt x="2274" y="1512"/>
                </a:cubicBezTo>
              </a:path>
            </a:pathLst>
          </a:custGeom>
          <a:noFill/>
          <a:ln cap="flat" cmpd="sng" w="25400">
            <a:solidFill>
              <a:srgbClr val="9933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570" name="Shape 570"/>
          <p:cNvCxnSpPr/>
          <p:nvPr/>
        </p:nvCxnSpPr>
        <p:spPr>
          <a:xfrm rot="10800000">
            <a:off x="1600200" y="1904999"/>
            <a:ext cx="0" cy="4572000"/>
          </a:xfrm>
          <a:prstGeom prst="straightConnector1">
            <a:avLst/>
          </a:prstGeom>
          <a:noFill/>
          <a:ln cap="flat" cmpd="sng" w="25400">
            <a:solidFill>
              <a:srgbClr val="000000"/>
            </a:solidFill>
            <a:prstDash val="solid"/>
            <a:miter/>
            <a:headEnd len="med" w="med" type="none"/>
            <a:tailEnd len="lg" w="lg" type="triangle"/>
          </a:ln>
        </p:spPr>
      </p:cxnSp>
      <p:cxnSp>
        <p:nvCxnSpPr>
          <p:cNvPr id="571" name="Shape 571"/>
          <p:cNvCxnSpPr/>
          <p:nvPr/>
        </p:nvCxnSpPr>
        <p:spPr>
          <a:xfrm>
            <a:off x="1431925" y="6856411"/>
            <a:ext cx="4800600" cy="1587"/>
          </a:xfrm>
          <a:prstGeom prst="straightConnector1">
            <a:avLst/>
          </a:prstGeom>
          <a:noFill/>
          <a:ln cap="flat" cmpd="sng" w="25400">
            <a:solidFill>
              <a:srgbClr val="000000"/>
            </a:solidFill>
            <a:prstDash val="solid"/>
            <a:miter/>
            <a:headEnd len="med" w="med" type="none"/>
            <a:tailEnd len="lg" w="lg" type="triangle"/>
          </a:ln>
        </p:spPr>
      </p:cxnSp>
      <p:cxnSp>
        <p:nvCxnSpPr>
          <p:cNvPr id="572" name="Shape 572"/>
          <p:cNvCxnSpPr/>
          <p:nvPr/>
        </p:nvCxnSpPr>
        <p:spPr>
          <a:xfrm>
            <a:off x="1600200" y="6489700"/>
            <a:ext cx="4632325" cy="0"/>
          </a:xfrm>
          <a:prstGeom prst="straightConnector1">
            <a:avLst/>
          </a:prstGeom>
          <a:noFill/>
          <a:ln cap="flat" cmpd="sng" w="25400">
            <a:solidFill>
              <a:srgbClr val="000000"/>
            </a:solidFill>
            <a:prstDash val="solid"/>
            <a:miter/>
            <a:headEnd len="med" w="med" type="none"/>
            <a:tailEnd len="lg" w="lg" type="triangle"/>
          </a:ln>
        </p:spPr>
      </p:cxnSp>
      <p:cxnSp>
        <p:nvCxnSpPr>
          <p:cNvPr id="573" name="Shape 573"/>
          <p:cNvCxnSpPr/>
          <p:nvPr/>
        </p:nvCxnSpPr>
        <p:spPr>
          <a:xfrm>
            <a:off x="1597025" y="5715000"/>
            <a:ext cx="765175" cy="762000"/>
          </a:xfrm>
          <a:prstGeom prst="straightConnector1">
            <a:avLst/>
          </a:prstGeom>
          <a:noFill/>
          <a:ln cap="flat" cmpd="sng" w="25400">
            <a:solidFill>
              <a:srgbClr val="008000"/>
            </a:solidFill>
            <a:prstDash val="solid"/>
            <a:miter/>
            <a:headEnd len="med" w="med" type="none"/>
            <a:tailEnd len="med" w="med" type="none"/>
          </a:ln>
        </p:spPr>
      </p:cxnSp>
      <p:cxnSp>
        <p:nvCxnSpPr>
          <p:cNvPr id="574" name="Shape 574"/>
          <p:cNvCxnSpPr/>
          <p:nvPr/>
        </p:nvCxnSpPr>
        <p:spPr>
          <a:xfrm>
            <a:off x="1597025" y="4838700"/>
            <a:ext cx="1450975" cy="1638300"/>
          </a:xfrm>
          <a:prstGeom prst="straightConnector1">
            <a:avLst/>
          </a:prstGeom>
          <a:noFill/>
          <a:ln cap="flat" cmpd="sng" w="25400">
            <a:solidFill>
              <a:srgbClr val="008000"/>
            </a:solidFill>
            <a:prstDash val="solid"/>
            <a:miter/>
            <a:headEnd len="med" w="med" type="none"/>
            <a:tailEnd len="med" w="med" type="none"/>
          </a:ln>
        </p:spPr>
      </p:cxnSp>
      <p:cxnSp>
        <p:nvCxnSpPr>
          <p:cNvPr id="575" name="Shape 575"/>
          <p:cNvCxnSpPr/>
          <p:nvPr/>
        </p:nvCxnSpPr>
        <p:spPr>
          <a:xfrm>
            <a:off x="1600200" y="5334000"/>
            <a:ext cx="1143000" cy="0"/>
          </a:xfrm>
          <a:prstGeom prst="straightConnector1">
            <a:avLst/>
          </a:prstGeom>
          <a:noFill/>
          <a:ln cap="flat" cmpd="sng" w="9525">
            <a:solidFill>
              <a:schemeClr val="dk1"/>
            </a:solidFill>
            <a:prstDash val="solid"/>
            <a:miter/>
            <a:headEnd len="med" w="med" type="none"/>
            <a:tailEnd len="med" w="med" type="none"/>
          </a:ln>
        </p:spPr>
      </p:cxnSp>
      <p:cxnSp>
        <p:nvCxnSpPr>
          <p:cNvPr id="576" name="Shape 576"/>
          <p:cNvCxnSpPr/>
          <p:nvPr/>
        </p:nvCxnSpPr>
        <p:spPr>
          <a:xfrm>
            <a:off x="1600200" y="5715000"/>
            <a:ext cx="762000" cy="0"/>
          </a:xfrm>
          <a:prstGeom prst="straightConnector1">
            <a:avLst/>
          </a:prstGeom>
          <a:noFill/>
          <a:ln cap="flat" cmpd="sng" w="9525">
            <a:solidFill>
              <a:schemeClr val="dk1"/>
            </a:solidFill>
            <a:prstDash val="solid"/>
            <a:miter/>
            <a:headEnd len="med" w="med" type="none"/>
            <a:tailEnd len="med" w="med" type="none"/>
          </a:ln>
        </p:spPr>
      </p:cxnSp>
      <p:cxnSp>
        <p:nvCxnSpPr>
          <p:cNvPr id="577" name="Shape 577"/>
          <p:cNvCxnSpPr/>
          <p:nvPr/>
        </p:nvCxnSpPr>
        <p:spPr>
          <a:xfrm>
            <a:off x="1600200" y="6096000"/>
            <a:ext cx="381000" cy="0"/>
          </a:xfrm>
          <a:prstGeom prst="straightConnector1">
            <a:avLst/>
          </a:prstGeom>
          <a:noFill/>
          <a:ln cap="flat" cmpd="sng" w="9525">
            <a:solidFill>
              <a:schemeClr val="dk1"/>
            </a:solidFill>
            <a:prstDash val="solid"/>
            <a:miter/>
            <a:headEnd len="med" w="med" type="none"/>
            <a:tailEnd len="med" w="med" type="none"/>
          </a:ln>
        </p:spPr>
      </p:cxnSp>
      <p:cxnSp>
        <p:nvCxnSpPr>
          <p:cNvPr id="578" name="Shape 578"/>
          <p:cNvCxnSpPr/>
          <p:nvPr/>
        </p:nvCxnSpPr>
        <p:spPr>
          <a:xfrm>
            <a:off x="2743200" y="5334000"/>
            <a:ext cx="0" cy="1155700"/>
          </a:xfrm>
          <a:prstGeom prst="straightConnector1">
            <a:avLst/>
          </a:prstGeom>
          <a:noFill/>
          <a:ln cap="flat" cmpd="sng" w="9525">
            <a:solidFill>
              <a:schemeClr val="dk1"/>
            </a:solidFill>
            <a:prstDash val="solid"/>
            <a:miter/>
            <a:headEnd len="med" w="med" type="none"/>
            <a:tailEnd len="med" w="med" type="none"/>
          </a:ln>
        </p:spPr>
      </p:cxnSp>
      <p:cxnSp>
        <p:nvCxnSpPr>
          <p:cNvPr id="579" name="Shape 579"/>
          <p:cNvCxnSpPr/>
          <p:nvPr/>
        </p:nvCxnSpPr>
        <p:spPr>
          <a:xfrm>
            <a:off x="1981200" y="6096000"/>
            <a:ext cx="0" cy="393700"/>
          </a:xfrm>
          <a:prstGeom prst="straightConnector1">
            <a:avLst/>
          </a:prstGeom>
          <a:noFill/>
          <a:ln cap="flat" cmpd="sng" w="9525">
            <a:solidFill>
              <a:schemeClr val="dk1"/>
            </a:solidFill>
            <a:prstDash val="solid"/>
            <a:miter/>
            <a:headEnd len="med" w="med" type="none"/>
            <a:tailEnd len="med" w="med" type="none"/>
          </a:ln>
        </p:spPr>
      </p:cxnSp>
      <p:cxnSp>
        <p:nvCxnSpPr>
          <p:cNvPr id="580" name="Shape 580"/>
          <p:cNvCxnSpPr/>
          <p:nvPr/>
        </p:nvCxnSpPr>
        <p:spPr>
          <a:xfrm>
            <a:off x="2362200" y="5715000"/>
            <a:ext cx="0" cy="774700"/>
          </a:xfrm>
          <a:prstGeom prst="straightConnector1">
            <a:avLst/>
          </a:prstGeom>
          <a:noFill/>
          <a:ln cap="flat" cmpd="sng" w="9525">
            <a:solidFill>
              <a:schemeClr val="dk1"/>
            </a:solidFill>
            <a:prstDash val="solid"/>
            <a:miter/>
            <a:headEnd len="med" w="med" type="none"/>
            <a:tailEnd len="med" w="med" type="none"/>
          </a:ln>
        </p:spPr>
      </p:cxnSp>
      <p:sp>
        <p:nvSpPr>
          <p:cNvPr id="581" name="Shape 581"/>
          <p:cNvSpPr txBox="1"/>
          <p:nvPr/>
        </p:nvSpPr>
        <p:spPr>
          <a:xfrm>
            <a:off x="609600" y="1943100"/>
            <a:ext cx="11430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0" lang="en-US" sz="1200" u="none" cap="none" strike="noStrike">
                <a:solidFill>
                  <a:srgbClr val="FF0000"/>
                </a:solidFill>
                <a:latin typeface="Arial"/>
                <a:ea typeface="Arial"/>
                <a:cs typeface="Arial"/>
                <a:sym typeface="Arial"/>
              </a:rPr>
              <a:t>FACTOR Y</a:t>
            </a:r>
          </a:p>
        </p:txBody>
      </p:sp>
      <p:sp>
        <p:nvSpPr>
          <p:cNvPr id="582" name="Shape 582"/>
          <p:cNvSpPr txBox="1"/>
          <p:nvPr/>
        </p:nvSpPr>
        <p:spPr>
          <a:xfrm>
            <a:off x="6324600" y="6248400"/>
            <a:ext cx="11430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80"/>
              </a:buClr>
              <a:buSzPct val="25000"/>
              <a:buFont typeface="Arial"/>
              <a:buNone/>
            </a:pPr>
            <a:r>
              <a:rPr b="1" i="0" lang="en-US" sz="1200" u="none" cap="none" strike="noStrike">
                <a:solidFill>
                  <a:srgbClr val="000080"/>
                </a:solidFill>
                <a:latin typeface="Arial"/>
                <a:ea typeface="Arial"/>
                <a:cs typeface="Arial"/>
                <a:sym typeface="Arial"/>
              </a:rPr>
              <a:t>FACTOR X</a:t>
            </a:r>
          </a:p>
        </p:txBody>
      </p:sp>
      <p:sp>
        <p:nvSpPr>
          <p:cNvPr id="583" name="Shape 583"/>
          <p:cNvSpPr txBox="1"/>
          <p:nvPr/>
        </p:nvSpPr>
        <p:spPr>
          <a:xfrm>
            <a:off x="5638800" y="58293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1" i="0" lang="en-US" sz="1200" u="none" cap="none" strike="noStrike">
                <a:solidFill>
                  <a:srgbClr val="BB4F59"/>
                </a:solidFill>
                <a:latin typeface="Arial"/>
                <a:ea typeface="Arial"/>
                <a:cs typeface="Arial"/>
                <a:sym typeface="Arial"/>
              </a:rPr>
              <a:t>Q</a:t>
            </a:r>
          </a:p>
        </p:txBody>
      </p:sp>
      <p:sp>
        <p:nvSpPr>
          <p:cNvPr id="584" name="Shape 584"/>
          <p:cNvSpPr txBox="1"/>
          <p:nvPr/>
        </p:nvSpPr>
        <p:spPr>
          <a:xfrm>
            <a:off x="5638800" y="54483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0" i="0" lang="en-US" sz="1200" u="none" cap="none" strike="noStrike">
                <a:solidFill>
                  <a:srgbClr val="BB4F59"/>
                </a:solidFill>
                <a:latin typeface="Arial"/>
                <a:ea typeface="Arial"/>
                <a:cs typeface="Arial"/>
                <a:sym typeface="Arial"/>
              </a:rPr>
              <a:t>2*Q</a:t>
            </a:r>
          </a:p>
        </p:txBody>
      </p:sp>
      <p:sp>
        <p:nvSpPr>
          <p:cNvPr id="585" name="Shape 585"/>
          <p:cNvSpPr txBox="1"/>
          <p:nvPr/>
        </p:nvSpPr>
        <p:spPr>
          <a:xfrm>
            <a:off x="5791200" y="49911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0" i="0" lang="en-US" sz="1200" u="none" cap="none" strike="noStrike">
                <a:solidFill>
                  <a:srgbClr val="BB4F59"/>
                </a:solidFill>
                <a:latin typeface="Arial"/>
                <a:ea typeface="Arial"/>
                <a:cs typeface="Arial"/>
                <a:sym typeface="Arial"/>
              </a:rPr>
              <a:t>3*Q</a:t>
            </a:r>
          </a:p>
        </p:txBody>
      </p:sp>
      <p:sp>
        <p:nvSpPr>
          <p:cNvPr id="586" name="Shape 586"/>
          <p:cNvSpPr txBox="1"/>
          <p:nvPr/>
        </p:nvSpPr>
        <p:spPr>
          <a:xfrm>
            <a:off x="1828800" y="64770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X</a:t>
            </a:r>
          </a:p>
        </p:txBody>
      </p:sp>
      <p:sp>
        <p:nvSpPr>
          <p:cNvPr id="587" name="Shape 587"/>
          <p:cNvSpPr txBox="1"/>
          <p:nvPr/>
        </p:nvSpPr>
        <p:spPr>
          <a:xfrm>
            <a:off x="2133600" y="64770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2*X</a:t>
            </a:r>
          </a:p>
        </p:txBody>
      </p:sp>
      <p:sp>
        <p:nvSpPr>
          <p:cNvPr id="588" name="Shape 588"/>
          <p:cNvSpPr txBox="1"/>
          <p:nvPr/>
        </p:nvSpPr>
        <p:spPr>
          <a:xfrm>
            <a:off x="2514600" y="64770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3*X</a:t>
            </a:r>
          </a:p>
        </p:txBody>
      </p:sp>
      <p:sp>
        <p:nvSpPr>
          <p:cNvPr id="589" name="Shape 589"/>
          <p:cNvSpPr txBox="1"/>
          <p:nvPr/>
        </p:nvSpPr>
        <p:spPr>
          <a:xfrm>
            <a:off x="1219200" y="52197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3*Y</a:t>
            </a:r>
          </a:p>
        </p:txBody>
      </p:sp>
      <p:sp>
        <p:nvSpPr>
          <p:cNvPr id="590" name="Shape 590"/>
          <p:cNvSpPr txBox="1"/>
          <p:nvPr/>
        </p:nvSpPr>
        <p:spPr>
          <a:xfrm>
            <a:off x="1219200" y="56007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2*Y</a:t>
            </a:r>
          </a:p>
        </p:txBody>
      </p:sp>
      <p:sp>
        <p:nvSpPr>
          <p:cNvPr id="591" name="Shape 591"/>
          <p:cNvSpPr txBox="1"/>
          <p:nvPr/>
        </p:nvSpPr>
        <p:spPr>
          <a:xfrm>
            <a:off x="1371600" y="59817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Y</a:t>
            </a:r>
          </a:p>
        </p:txBody>
      </p:sp>
      <p:cxnSp>
        <p:nvCxnSpPr>
          <p:cNvPr id="592" name="Shape 592"/>
          <p:cNvCxnSpPr/>
          <p:nvPr/>
        </p:nvCxnSpPr>
        <p:spPr>
          <a:xfrm>
            <a:off x="1597025" y="3962400"/>
            <a:ext cx="2139950" cy="2514599"/>
          </a:xfrm>
          <a:prstGeom prst="straightConnector1">
            <a:avLst/>
          </a:prstGeom>
          <a:noFill/>
          <a:ln cap="flat" cmpd="sng" w="25400">
            <a:solidFill>
              <a:srgbClr val="008000"/>
            </a:solidFill>
            <a:prstDash val="solid"/>
            <a:miter/>
            <a:headEnd len="med" w="med" type="none"/>
            <a:tailEnd len="med" w="med" type="none"/>
          </a:ln>
        </p:spPr>
      </p:cxnSp>
      <p:sp>
        <p:nvSpPr>
          <p:cNvPr id="593" name="Shape 593"/>
          <p:cNvSpPr/>
          <p:nvPr/>
        </p:nvSpPr>
        <p:spPr>
          <a:xfrm>
            <a:off x="1662111" y="3454400"/>
            <a:ext cx="4103687" cy="2992436"/>
          </a:xfrm>
          <a:custGeom>
            <a:pathLst>
              <a:path extrusionOk="0" h="1885" w="2585">
                <a:moveTo>
                  <a:pt x="217" y="0"/>
                </a:moveTo>
                <a:cubicBezTo>
                  <a:pt x="198" y="43"/>
                  <a:pt x="137" y="152"/>
                  <a:pt x="105" y="256"/>
                </a:cubicBezTo>
                <a:cubicBezTo>
                  <a:pt x="73" y="360"/>
                  <a:pt x="37" y="457"/>
                  <a:pt x="25" y="624"/>
                </a:cubicBezTo>
                <a:cubicBezTo>
                  <a:pt x="13" y="791"/>
                  <a:pt x="0" y="1080"/>
                  <a:pt x="33" y="1256"/>
                </a:cubicBezTo>
                <a:cubicBezTo>
                  <a:pt x="66" y="1432"/>
                  <a:pt x="119" y="1579"/>
                  <a:pt x="224" y="1679"/>
                </a:cubicBezTo>
                <a:cubicBezTo>
                  <a:pt x="329" y="1779"/>
                  <a:pt x="460" y="1827"/>
                  <a:pt x="665" y="1856"/>
                </a:cubicBezTo>
                <a:cubicBezTo>
                  <a:pt x="870" y="1885"/>
                  <a:pt x="1257" y="1869"/>
                  <a:pt x="1457" y="1856"/>
                </a:cubicBezTo>
                <a:cubicBezTo>
                  <a:pt x="1657" y="1843"/>
                  <a:pt x="1730" y="1812"/>
                  <a:pt x="1865" y="1776"/>
                </a:cubicBezTo>
                <a:cubicBezTo>
                  <a:pt x="2000" y="1740"/>
                  <a:pt x="2145" y="1688"/>
                  <a:pt x="2265" y="1640"/>
                </a:cubicBezTo>
                <a:cubicBezTo>
                  <a:pt x="2385" y="1592"/>
                  <a:pt x="2518" y="1520"/>
                  <a:pt x="2585" y="1488"/>
                </a:cubicBezTo>
              </a:path>
            </a:pathLst>
          </a:custGeom>
          <a:noFill/>
          <a:ln cap="flat" cmpd="sng" w="25400">
            <a:solidFill>
              <a:srgbClr val="9933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4" name="Shape 594"/>
          <p:cNvSpPr/>
          <p:nvPr/>
        </p:nvSpPr>
        <p:spPr>
          <a:xfrm>
            <a:off x="2441575" y="2794000"/>
            <a:ext cx="3425825" cy="3036886"/>
          </a:xfrm>
          <a:custGeom>
            <a:pathLst>
              <a:path extrusionOk="0" h="1913" w="2158">
                <a:moveTo>
                  <a:pt x="390" y="0"/>
                </a:moveTo>
                <a:cubicBezTo>
                  <a:pt x="357" y="48"/>
                  <a:pt x="245" y="187"/>
                  <a:pt x="190" y="288"/>
                </a:cubicBezTo>
                <a:cubicBezTo>
                  <a:pt x="135" y="389"/>
                  <a:pt x="90" y="481"/>
                  <a:pt x="62" y="608"/>
                </a:cubicBezTo>
                <a:cubicBezTo>
                  <a:pt x="34" y="735"/>
                  <a:pt x="0" y="885"/>
                  <a:pt x="22" y="1048"/>
                </a:cubicBezTo>
                <a:cubicBezTo>
                  <a:pt x="44" y="1211"/>
                  <a:pt x="86" y="1452"/>
                  <a:pt x="195" y="1588"/>
                </a:cubicBezTo>
                <a:cubicBezTo>
                  <a:pt x="304" y="1724"/>
                  <a:pt x="483" y="1815"/>
                  <a:pt x="678" y="1864"/>
                </a:cubicBezTo>
                <a:cubicBezTo>
                  <a:pt x="873" y="1913"/>
                  <a:pt x="1175" y="1907"/>
                  <a:pt x="1366" y="1880"/>
                </a:cubicBezTo>
                <a:cubicBezTo>
                  <a:pt x="1557" y="1853"/>
                  <a:pt x="1690" y="1771"/>
                  <a:pt x="1822" y="1704"/>
                </a:cubicBezTo>
                <a:cubicBezTo>
                  <a:pt x="1954" y="1637"/>
                  <a:pt x="2088" y="1524"/>
                  <a:pt x="2158" y="1477"/>
                </a:cubicBezTo>
              </a:path>
            </a:pathLst>
          </a:custGeom>
          <a:noFill/>
          <a:ln cap="flat" cmpd="sng" w="25400">
            <a:solidFill>
              <a:srgbClr val="9933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transition spd="slow">
    <p:cut/>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98" name="Shape 598"/>
        <p:cNvGrpSpPr/>
        <p:nvPr/>
      </p:nvGrpSpPr>
      <p:grpSpPr>
        <a:xfrm>
          <a:off x="0" y="0"/>
          <a:ext cx="0" cy="0"/>
          <a:chOff x="0" y="0"/>
          <a:chExt cx="0" cy="0"/>
        </a:xfrm>
      </p:grpSpPr>
      <p:pic>
        <p:nvPicPr>
          <p:cNvPr id="599" name="Shape 599"/>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600" name="Shape 600"/>
          <p:cNvSpPr txBox="1"/>
          <p:nvPr/>
        </p:nvSpPr>
        <p:spPr>
          <a:xfrm>
            <a:off x="4343400" y="304800"/>
            <a:ext cx="4225925"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RENDIMIENTOS A ESCALA CONSTANTES</a:t>
            </a:r>
          </a:p>
        </p:txBody>
      </p:sp>
      <p:pic>
        <p:nvPicPr>
          <p:cNvPr id="601" name="Shape 601"/>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602" name="Shape 602"/>
          <p:cNvSpPr txBox="1"/>
          <p:nvPr/>
        </p:nvSpPr>
        <p:spPr>
          <a:xfrm>
            <a:off x="3581400" y="1600200"/>
            <a:ext cx="5292725" cy="2297111"/>
          </a:xfrm>
          <a:prstGeom prst="rect">
            <a:avLst/>
          </a:prstGeom>
          <a:noFill/>
          <a:ln>
            <a:noFill/>
          </a:ln>
        </p:spPr>
        <p:txBody>
          <a:bodyPr anchorCtr="0" anchor="ctr" bIns="0" lIns="0" rIns="0" tIns="0">
            <a:noAutofit/>
          </a:bodyPr>
          <a:lstStyle/>
          <a:p>
            <a:pPr indent="-1587" lvl="1" marL="179387"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REPRESENTAN UNA SITUACIÓN DE </a:t>
            </a:r>
          </a:p>
          <a:p>
            <a:pPr indent="-1587" lvl="1" marL="179387"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PRODUCCIÓN EN LA CUAL, SI TODOS </a:t>
            </a:r>
          </a:p>
          <a:p>
            <a:pPr indent="-1587" lvl="1" marL="179387"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LOS FACTORES DE LA PRODUCCIÓN</a:t>
            </a:r>
          </a:p>
          <a:p>
            <a:pPr indent="-1587" lvl="1" marL="179387"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AUMENTAN EN LA MISMA PROPORCIÓN,</a:t>
            </a:r>
          </a:p>
          <a:p>
            <a:pPr indent="-1587" lvl="1" marL="179387"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EL PRODUCTO AUMENTA EXACTAMENTE</a:t>
            </a:r>
          </a:p>
          <a:p>
            <a:pPr indent="-1587" lvl="1" marL="179387"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EN LA MISMA PROPORCIÓN</a:t>
            </a:r>
          </a:p>
        </p:txBody>
      </p:sp>
      <p:cxnSp>
        <p:nvCxnSpPr>
          <p:cNvPr id="603" name="Shape 603"/>
          <p:cNvCxnSpPr/>
          <p:nvPr/>
        </p:nvCxnSpPr>
        <p:spPr>
          <a:xfrm rot="10800000">
            <a:off x="1600200" y="4572000"/>
            <a:ext cx="0" cy="1904999"/>
          </a:xfrm>
          <a:prstGeom prst="straightConnector1">
            <a:avLst/>
          </a:prstGeom>
          <a:noFill/>
          <a:ln cap="flat" cmpd="sng" w="25400">
            <a:solidFill>
              <a:srgbClr val="000000"/>
            </a:solidFill>
            <a:prstDash val="solid"/>
            <a:miter/>
            <a:headEnd len="med" w="med" type="none"/>
            <a:tailEnd len="lg" w="lg" type="triangle"/>
          </a:ln>
        </p:spPr>
      </p:cxnSp>
      <p:cxnSp>
        <p:nvCxnSpPr>
          <p:cNvPr id="604" name="Shape 604"/>
          <p:cNvCxnSpPr/>
          <p:nvPr/>
        </p:nvCxnSpPr>
        <p:spPr>
          <a:xfrm>
            <a:off x="1431925" y="6856411"/>
            <a:ext cx="4800600" cy="1587"/>
          </a:xfrm>
          <a:prstGeom prst="straightConnector1">
            <a:avLst/>
          </a:prstGeom>
          <a:noFill/>
          <a:ln cap="flat" cmpd="sng" w="25400">
            <a:solidFill>
              <a:srgbClr val="000000"/>
            </a:solidFill>
            <a:prstDash val="solid"/>
            <a:miter/>
            <a:headEnd len="med" w="med" type="none"/>
            <a:tailEnd len="lg" w="lg" type="triangle"/>
          </a:ln>
        </p:spPr>
      </p:cxnSp>
      <p:cxnSp>
        <p:nvCxnSpPr>
          <p:cNvPr id="605" name="Shape 605"/>
          <p:cNvCxnSpPr/>
          <p:nvPr/>
        </p:nvCxnSpPr>
        <p:spPr>
          <a:xfrm>
            <a:off x="1600200" y="6477000"/>
            <a:ext cx="1981199" cy="0"/>
          </a:xfrm>
          <a:prstGeom prst="straightConnector1">
            <a:avLst/>
          </a:prstGeom>
          <a:noFill/>
          <a:ln cap="flat" cmpd="sng" w="25400">
            <a:solidFill>
              <a:srgbClr val="000000"/>
            </a:solidFill>
            <a:prstDash val="solid"/>
            <a:miter/>
            <a:headEnd len="med" w="med" type="none"/>
            <a:tailEnd len="lg" w="lg" type="triangle"/>
          </a:ln>
        </p:spPr>
      </p:cxnSp>
      <p:cxnSp>
        <p:nvCxnSpPr>
          <p:cNvPr id="606" name="Shape 606"/>
          <p:cNvCxnSpPr/>
          <p:nvPr/>
        </p:nvCxnSpPr>
        <p:spPr>
          <a:xfrm>
            <a:off x="1600200" y="5334000"/>
            <a:ext cx="1143000" cy="0"/>
          </a:xfrm>
          <a:prstGeom prst="straightConnector1">
            <a:avLst/>
          </a:prstGeom>
          <a:noFill/>
          <a:ln cap="flat" cmpd="sng" w="9525">
            <a:solidFill>
              <a:schemeClr val="dk1"/>
            </a:solidFill>
            <a:prstDash val="solid"/>
            <a:miter/>
            <a:headEnd len="med" w="med" type="none"/>
            <a:tailEnd len="med" w="med" type="none"/>
          </a:ln>
        </p:spPr>
      </p:cxnSp>
      <p:cxnSp>
        <p:nvCxnSpPr>
          <p:cNvPr id="607" name="Shape 607"/>
          <p:cNvCxnSpPr/>
          <p:nvPr/>
        </p:nvCxnSpPr>
        <p:spPr>
          <a:xfrm>
            <a:off x="1600200" y="5715000"/>
            <a:ext cx="762000" cy="0"/>
          </a:xfrm>
          <a:prstGeom prst="straightConnector1">
            <a:avLst/>
          </a:prstGeom>
          <a:noFill/>
          <a:ln cap="flat" cmpd="sng" w="9525">
            <a:solidFill>
              <a:schemeClr val="dk1"/>
            </a:solidFill>
            <a:prstDash val="solid"/>
            <a:miter/>
            <a:headEnd len="med" w="med" type="none"/>
            <a:tailEnd len="med" w="med" type="none"/>
          </a:ln>
        </p:spPr>
      </p:cxnSp>
      <p:cxnSp>
        <p:nvCxnSpPr>
          <p:cNvPr id="608" name="Shape 608"/>
          <p:cNvCxnSpPr/>
          <p:nvPr/>
        </p:nvCxnSpPr>
        <p:spPr>
          <a:xfrm>
            <a:off x="1600200" y="6096000"/>
            <a:ext cx="381000" cy="0"/>
          </a:xfrm>
          <a:prstGeom prst="straightConnector1">
            <a:avLst/>
          </a:prstGeom>
          <a:noFill/>
          <a:ln cap="flat" cmpd="sng" w="9525">
            <a:solidFill>
              <a:schemeClr val="dk1"/>
            </a:solidFill>
            <a:prstDash val="solid"/>
            <a:miter/>
            <a:headEnd len="med" w="med" type="none"/>
            <a:tailEnd len="med" w="med" type="none"/>
          </a:ln>
        </p:spPr>
      </p:cxnSp>
      <p:cxnSp>
        <p:nvCxnSpPr>
          <p:cNvPr id="609" name="Shape 609"/>
          <p:cNvCxnSpPr/>
          <p:nvPr/>
        </p:nvCxnSpPr>
        <p:spPr>
          <a:xfrm>
            <a:off x="2743200" y="5334000"/>
            <a:ext cx="0" cy="1155700"/>
          </a:xfrm>
          <a:prstGeom prst="straightConnector1">
            <a:avLst/>
          </a:prstGeom>
          <a:noFill/>
          <a:ln cap="flat" cmpd="sng" w="9525">
            <a:solidFill>
              <a:schemeClr val="dk1"/>
            </a:solidFill>
            <a:prstDash val="solid"/>
            <a:miter/>
            <a:headEnd len="med" w="med" type="none"/>
            <a:tailEnd len="med" w="med" type="none"/>
          </a:ln>
        </p:spPr>
      </p:cxnSp>
      <p:cxnSp>
        <p:nvCxnSpPr>
          <p:cNvPr id="610" name="Shape 610"/>
          <p:cNvCxnSpPr/>
          <p:nvPr/>
        </p:nvCxnSpPr>
        <p:spPr>
          <a:xfrm>
            <a:off x="1981200" y="6096000"/>
            <a:ext cx="0" cy="393700"/>
          </a:xfrm>
          <a:prstGeom prst="straightConnector1">
            <a:avLst/>
          </a:prstGeom>
          <a:noFill/>
          <a:ln cap="flat" cmpd="sng" w="9525">
            <a:solidFill>
              <a:schemeClr val="dk1"/>
            </a:solidFill>
            <a:prstDash val="solid"/>
            <a:miter/>
            <a:headEnd len="med" w="med" type="none"/>
            <a:tailEnd len="med" w="med" type="none"/>
          </a:ln>
        </p:spPr>
      </p:cxnSp>
      <p:cxnSp>
        <p:nvCxnSpPr>
          <p:cNvPr id="611" name="Shape 611"/>
          <p:cNvCxnSpPr/>
          <p:nvPr/>
        </p:nvCxnSpPr>
        <p:spPr>
          <a:xfrm>
            <a:off x="2362200" y="5715000"/>
            <a:ext cx="0" cy="774700"/>
          </a:xfrm>
          <a:prstGeom prst="straightConnector1">
            <a:avLst/>
          </a:prstGeom>
          <a:noFill/>
          <a:ln cap="flat" cmpd="sng" w="9525">
            <a:solidFill>
              <a:schemeClr val="dk1"/>
            </a:solidFill>
            <a:prstDash val="solid"/>
            <a:miter/>
            <a:headEnd len="med" w="med" type="none"/>
            <a:tailEnd len="med" w="med" type="none"/>
          </a:ln>
        </p:spPr>
      </p:cxnSp>
      <p:sp>
        <p:nvSpPr>
          <p:cNvPr id="612" name="Shape 612"/>
          <p:cNvSpPr txBox="1"/>
          <p:nvPr/>
        </p:nvSpPr>
        <p:spPr>
          <a:xfrm>
            <a:off x="263525" y="4838700"/>
            <a:ext cx="1412874"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PRODUCCIÓN</a:t>
            </a:r>
          </a:p>
        </p:txBody>
      </p:sp>
      <p:sp>
        <p:nvSpPr>
          <p:cNvPr id="613" name="Shape 613"/>
          <p:cNvSpPr txBox="1"/>
          <p:nvPr/>
        </p:nvSpPr>
        <p:spPr>
          <a:xfrm>
            <a:off x="2971800" y="6210300"/>
            <a:ext cx="11430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80"/>
              </a:buClr>
              <a:buSzPct val="25000"/>
              <a:buFont typeface="Arial"/>
              <a:buNone/>
            </a:pPr>
            <a:r>
              <a:rPr b="1" i="0" lang="en-US" sz="1200" u="none" cap="none" strike="noStrike">
                <a:solidFill>
                  <a:srgbClr val="000080"/>
                </a:solidFill>
                <a:latin typeface="Arial"/>
                <a:ea typeface="Arial"/>
                <a:cs typeface="Arial"/>
                <a:sym typeface="Arial"/>
              </a:rPr>
              <a:t>ESCALAS</a:t>
            </a:r>
          </a:p>
        </p:txBody>
      </p:sp>
      <p:sp>
        <p:nvSpPr>
          <p:cNvPr id="614" name="Shape 614"/>
          <p:cNvSpPr txBox="1"/>
          <p:nvPr/>
        </p:nvSpPr>
        <p:spPr>
          <a:xfrm>
            <a:off x="1828800" y="6477000"/>
            <a:ext cx="190500"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1</a:t>
            </a:r>
          </a:p>
        </p:txBody>
      </p:sp>
      <p:sp>
        <p:nvSpPr>
          <p:cNvPr id="615" name="Shape 615"/>
          <p:cNvSpPr txBox="1"/>
          <p:nvPr/>
        </p:nvSpPr>
        <p:spPr>
          <a:xfrm>
            <a:off x="2209800" y="6438900"/>
            <a:ext cx="2286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2</a:t>
            </a:r>
          </a:p>
        </p:txBody>
      </p:sp>
      <p:sp>
        <p:nvSpPr>
          <p:cNvPr id="616" name="Shape 616"/>
          <p:cNvSpPr txBox="1"/>
          <p:nvPr/>
        </p:nvSpPr>
        <p:spPr>
          <a:xfrm>
            <a:off x="2590800" y="6438900"/>
            <a:ext cx="381000" cy="1523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3</a:t>
            </a:r>
          </a:p>
        </p:txBody>
      </p:sp>
      <p:sp>
        <p:nvSpPr>
          <p:cNvPr id="617" name="Shape 617"/>
          <p:cNvSpPr txBox="1"/>
          <p:nvPr/>
        </p:nvSpPr>
        <p:spPr>
          <a:xfrm>
            <a:off x="1219200" y="52197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3*Q</a:t>
            </a:r>
          </a:p>
        </p:txBody>
      </p:sp>
      <p:sp>
        <p:nvSpPr>
          <p:cNvPr id="618" name="Shape 618"/>
          <p:cNvSpPr txBox="1"/>
          <p:nvPr/>
        </p:nvSpPr>
        <p:spPr>
          <a:xfrm>
            <a:off x="1219200" y="56007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2*Q</a:t>
            </a:r>
          </a:p>
        </p:txBody>
      </p:sp>
      <p:sp>
        <p:nvSpPr>
          <p:cNvPr id="619" name="Shape 619"/>
          <p:cNvSpPr txBox="1"/>
          <p:nvPr/>
        </p:nvSpPr>
        <p:spPr>
          <a:xfrm>
            <a:off x="1371600" y="59817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Q</a:t>
            </a:r>
          </a:p>
        </p:txBody>
      </p:sp>
      <p:cxnSp>
        <p:nvCxnSpPr>
          <p:cNvPr id="620" name="Shape 620"/>
          <p:cNvCxnSpPr/>
          <p:nvPr/>
        </p:nvCxnSpPr>
        <p:spPr>
          <a:xfrm flipH="1" rot="10560000">
            <a:off x="1524000" y="5029199"/>
            <a:ext cx="1674812" cy="1371599"/>
          </a:xfrm>
          <a:prstGeom prst="straightConnector1">
            <a:avLst/>
          </a:prstGeom>
          <a:noFill/>
          <a:ln cap="flat" cmpd="sng" w="9525">
            <a:solidFill>
              <a:schemeClr val="dk1"/>
            </a:solidFill>
            <a:prstDash val="solid"/>
            <a:miter/>
            <a:headEnd len="med" w="med" type="none"/>
            <a:tailEnd len="med" w="med" type="none"/>
          </a:ln>
        </p:spPr>
      </p:cxnSp>
      <p:cxnSp>
        <p:nvCxnSpPr>
          <p:cNvPr id="621" name="Shape 621"/>
          <p:cNvCxnSpPr/>
          <p:nvPr/>
        </p:nvCxnSpPr>
        <p:spPr>
          <a:xfrm rot="10800000">
            <a:off x="5334000" y="4572000"/>
            <a:ext cx="0" cy="1904999"/>
          </a:xfrm>
          <a:prstGeom prst="straightConnector1">
            <a:avLst/>
          </a:prstGeom>
          <a:noFill/>
          <a:ln cap="flat" cmpd="sng" w="25400">
            <a:solidFill>
              <a:srgbClr val="000000"/>
            </a:solidFill>
            <a:prstDash val="solid"/>
            <a:miter/>
            <a:headEnd len="med" w="med" type="none"/>
            <a:tailEnd len="lg" w="lg" type="triangle"/>
          </a:ln>
        </p:spPr>
      </p:cxnSp>
      <p:cxnSp>
        <p:nvCxnSpPr>
          <p:cNvPr id="622" name="Shape 622"/>
          <p:cNvCxnSpPr/>
          <p:nvPr/>
        </p:nvCxnSpPr>
        <p:spPr>
          <a:xfrm>
            <a:off x="5334000" y="6477000"/>
            <a:ext cx="1981199" cy="0"/>
          </a:xfrm>
          <a:prstGeom prst="straightConnector1">
            <a:avLst/>
          </a:prstGeom>
          <a:noFill/>
          <a:ln cap="flat" cmpd="sng" w="25400">
            <a:solidFill>
              <a:srgbClr val="000000"/>
            </a:solidFill>
            <a:prstDash val="solid"/>
            <a:miter/>
            <a:headEnd len="med" w="med" type="none"/>
            <a:tailEnd len="lg" w="lg" type="triangle"/>
          </a:ln>
        </p:spPr>
      </p:cxnSp>
      <p:sp>
        <p:nvSpPr>
          <p:cNvPr id="623" name="Shape 623"/>
          <p:cNvSpPr txBox="1"/>
          <p:nvPr/>
        </p:nvSpPr>
        <p:spPr>
          <a:xfrm>
            <a:off x="7315200" y="6172200"/>
            <a:ext cx="1752600" cy="4952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PRODUCCIÓN DE LARGO PLAZO</a:t>
            </a:r>
          </a:p>
        </p:txBody>
      </p:sp>
      <p:sp>
        <p:nvSpPr>
          <p:cNvPr id="624" name="Shape 624"/>
          <p:cNvSpPr txBox="1"/>
          <p:nvPr/>
        </p:nvSpPr>
        <p:spPr>
          <a:xfrm>
            <a:off x="4038600" y="4495800"/>
            <a:ext cx="12954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0" lang="en-US" sz="1200" u="none" cap="none" strike="noStrike">
                <a:solidFill>
                  <a:srgbClr val="FF0000"/>
                </a:solidFill>
                <a:latin typeface="Arial"/>
                <a:ea typeface="Arial"/>
                <a:cs typeface="Arial"/>
                <a:sym typeface="Arial"/>
              </a:rPr>
              <a:t>COSTO MEDIO</a:t>
            </a:r>
          </a:p>
          <a:p>
            <a:pPr indent="0" lvl="0" marL="0" marR="0" rtl="0" algn="l">
              <a:lnSpc>
                <a:spcPct val="100000"/>
              </a:lnSpc>
              <a:spcBef>
                <a:spcPts val="0"/>
              </a:spcBef>
              <a:spcAft>
                <a:spcPts val="0"/>
              </a:spcAft>
              <a:buClr>
                <a:srgbClr val="FF0000"/>
              </a:buClr>
              <a:buSzPct val="25000"/>
              <a:buFont typeface="Arial"/>
              <a:buNone/>
            </a:pPr>
            <a:r>
              <a:rPr b="1" i="0" lang="en-US" sz="1200" u="none" cap="none" strike="noStrike">
                <a:solidFill>
                  <a:srgbClr val="FF0000"/>
                </a:solidFill>
                <a:latin typeface="Arial"/>
                <a:ea typeface="Arial"/>
                <a:cs typeface="Arial"/>
                <a:sym typeface="Arial"/>
              </a:rPr>
              <a:t>LARGO PLAZO</a:t>
            </a:r>
          </a:p>
        </p:txBody>
      </p:sp>
      <p:cxnSp>
        <p:nvCxnSpPr>
          <p:cNvPr id="625" name="Shape 625"/>
          <p:cNvCxnSpPr/>
          <p:nvPr/>
        </p:nvCxnSpPr>
        <p:spPr>
          <a:xfrm flipH="1" rot="10560000">
            <a:off x="5257800" y="4914900"/>
            <a:ext cx="1676399" cy="1485900"/>
          </a:xfrm>
          <a:prstGeom prst="straightConnector1">
            <a:avLst/>
          </a:prstGeom>
          <a:noFill/>
          <a:ln cap="flat" cmpd="sng" w="9525">
            <a:solidFill>
              <a:schemeClr val="dk1"/>
            </a:solidFill>
            <a:prstDash val="solid"/>
            <a:miter/>
            <a:headEnd len="med" w="med" type="none"/>
            <a:tailEnd len="med" w="med" type="none"/>
          </a:ln>
        </p:spPr>
      </p:cxnSp>
      <p:sp>
        <p:nvSpPr>
          <p:cNvPr id="626" name="Shape 626"/>
          <p:cNvSpPr txBox="1"/>
          <p:nvPr/>
        </p:nvSpPr>
        <p:spPr>
          <a:xfrm>
            <a:off x="5562600" y="64389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Q</a:t>
            </a:r>
          </a:p>
        </p:txBody>
      </p:sp>
      <p:sp>
        <p:nvSpPr>
          <p:cNvPr id="627" name="Shape 627"/>
          <p:cNvSpPr txBox="1"/>
          <p:nvPr/>
        </p:nvSpPr>
        <p:spPr>
          <a:xfrm>
            <a:off x="5867400" y="64389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2*Q</a:t>
            </a:r>
          </a:p>
        </p:txBody>
      </p:sp>
      <p:sp>
        <p:nvSpPr>
          <p:cNvPr id="628" name="Shape 628"/>
          <p:cNvSpPr txBox="1"/>
          <p:nvPr/>
        </p:nvSpPr>
        <p:spPr>
          <a:xfrm>
            <a:off x="6324600" y="64389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3*Q</a:t>
            </a:r>
          </a:p>
        </p:txBody>
      </p:sp>
    </p:spTree>
  </p:cSld>
  <p:clrMapOvr>
    <a:masterClrMapping/>
  </p:clrMapOvr>
  <p:transition spd="slow">
    <p:cut/>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632" name="Shape 632"/>
        <p:cNvGrpSpPr/>
        <p:nvPr/>
      </p:nvGrpSpPr>
      <p:grpSpPr>
        <a:xfrm>
          <a:off x="0" y="0"/>
          <a:ext cx="0" cy="0"/>
          <a:chOff x="0" y="0"/>
          <a:chExt cx="0" cy="0"/>
        </a:xfrm>
      </p:grpSpPr>
      <p:pic>
        <p:nvPicPr>
          <p:cNvPr id="633" name="Shape 633"/>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634" name="Shape 634"/>
          <p:cNvSpPr txBox="1"/>
          <p:nvPr/>
        </p:nvSpPr>
        <p:spPr>
          <a:xfrm>
            <a:off x="4343400" y="304800"/>
            <a:ext cx="4225925"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RENDIMIENTOS A ESCALA CRECIENTES</a:t>
            </a:r>
          </a:p>
        </p:txBody>
      </p:sp>
      <p:pic>
        <p:nvPicPr>
          <p:cNvPr id="635" name="Shape 635"/>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636" name="Shape 636"/>
          <p:cNvSpPr txBox="1"/>
          <p:nvPr/>
        </p:nvSpPr>
        <p:spPr>
          <a:xfrm>
            <a:off x="3505200" y="1600200"/>
            <a:ext cx="5486399" cy="2311400"/>
          </a:xfrm>
          <a:prstGeom prst="rect">
            <a:avLst/>
          </a:prstGeom>
          <a:noFill/>
          <a:ln>
            <a:noFill/>
          </a:ln>
        </p:spPr>
        <p:txBody>
          <a:bodyPr anchorCtr="0" anchor="ctr" bIns="0" lIns="769675" rIns="91425" tIns="45700">
            <a:noAutofit/>
          </a:bodyPr>
          <a:lstStyle/>
          <a:p>
            <a:pPr indent="-1587" lvl="1" marL="179387"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REPRESENTAN UNA SITUACIÓN DE </a:t>
            </a:r>
          </a:p>
          <a:p>
            <a:pPr indent="-1587" lvl="1" marL="179387"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PRODUCCIÓN EN LA CUAL, SI TODOS </a:t>
            </a:r>
          </a:p>
          <a:p>
            <a:pPr indent="-1587" lvl="1" marL="179387"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LOS FACTORES DE LA PRODUCCIÓN</a:t>
            </a:r>
          </a:p>
          <a:p>
            <a:pPr indent="-1587" lvl="1" marL="179387"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AUMENTAN EN LA MISMA PROPORCIÓN,</a:t>
            </a:r>
          </a:p>
          <a:p>
            <a:pPr indent="-1587" lvl="1" marL="179387"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EL PRODUCTO AUMENTA EN UNA</a:t>
            </a:r>
          </a:p>
          <a:p>
            <a:pPr indent="-1587" lvl="1" marL="179387"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PROPORCIÓN MAYOR</a:t>
            </a:r>
          </a:p>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37" name="Shape 637"/>
          <p:cNvSpPr/>
          <p:nvPr/>
        </p:nvSpPr>
        <p:spPr>
          <a:xfrm>
            <a:off x="3098800" y="2895600"/>
            <a:ext cx="2616200" cy="1765300"/>
          </a:xfrm>
          <a:custGeom>
            <a:pathLst>
              <a:path extrusionOk="0" h="1112" w="1648">
                <a:moveTo>
                  <a:pt x="46" y="0"/>
                </a:moveTo>
                <a:cubicBezTo>
                  <a:pt x="39" y="39"/>
                  <a:pt x="5" y="146"/>
                  <a:pt x="3" y="236"/>
                </a:cubicBezTo>
                <a:cubicBezTo>
                  <a:pt x="1" y="326"/>
                  <a:pt x="0" y="446"/>
                  <a:pt x="34" y="542"/>
                </a:cubicBezTo>
                <a:cubicBezTo>
                  <a:pt x="68" y="638"/>
                  <a:pt x="111" y="729"/>
                  <a:pt x="210" y="814"/>
                </a:cubicBezTo>
                <a:cubicBezTo>
                  <a:pt x="309" y="899"/>
                  <a:pt x="466" y="1006"/>
                  <a:pt x="628" y="1055"/>
                </a:cubicBezTo>
                <a:cubicBezTo>
                  <a:pt x="790" y="1104"/>
                  <a:pt x="1013" y="1112"/>
                  <a:pt x="1183" y="1108"/>
                </a:cubicBezTo>
                <a:cubicBezTo>
                  <a:pt x="1353" y="1103"/>
                  <a:pt x="1571" y="1040"/>
                  <a:pt x="1648" y="1027"/>
                </a:cubicBezTo>
              </a:path>
            </a:pathLst>
          </a:custGeom>
          <a:noFill/>
          <a:ln cap="flat" cmpd="sng" w="25400">
            <a:solidFill>
              <a:srgbClr val="9933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8" name="Shape 638"/>
          <p:cNvSpPr/>
          <p:nvPr/>
        </p:nvSpPr>
        <p:spPr>
          <a:xfrm>
            <a:off x="2082800" y="3517900"/>
            <a:ext cx="2946400" cy="2336799"/>
          </a:xfrm>
          <a:custGeom>
            <a:pathLst>
              <a:path extrusionOk="0" h="3680" w="4641">
                <a:moveTo>
                  <a:pt x="217" y="0"/>
                </a:moveTo>
                <a:cubicBezTo>
                  <a:pt x="192" y="80"/>
                  <a:pt x="99" y="299"/>
                  <a:pt x="67" y="480"/>
                </a:cubicBezTo>
                <a:cubicBezTo>
                  <a:pt x="35" y="661"/>
                  <a:pt x="0" y="849"/>
                  <a:pt x="26" y="1085"/>
                </a:cubicBezTo>
                <a:cubicBezTo>
                  <a:pt x="52" y="1321"/>
                  <a:pt x="83" y="1599"/>
                  <a:pt x="221" y="1895"/>
                </a:cubicBezTo>
                <a:cubicBezTo>
                  <a:pt x="359" y="2191"/>
                  <a:pt x="534" y="2594"/>
                  <a:pt x="851" y="2863"/>
                </a:cubicBezTo>
                <a:cubicBezTo>
                  <a:pt x="1168" y="3132"/>
                  <a:pt x="1694" y="3373"/>
                  <a:pt x="2126" y="3508"/>
                </a:cubicBezTo>
                <a:cubicBezTo>
                  <a:pt x="2558" y="3643"/>
                  <a:pt x="3027" y="3680"/>
                  <a:pt x="3446" y="3673"/>
                </a:cubicBezTo>
                <a:cubicBezTo>
                  <a:pt x="3865" y="3666"/>
                  <a:pt x="4392" y="3509"/>
                  <a:pt x="4641" y="3466"/>
                </a:cubicBezTo>
              </a:path>
            </a:pathLst>
          </a:custGeom>
          <a:noFill/>
          <a:ln cap="flat" cmpd="sng" w="25400">
            <a:solidFill>
              <a:srgbClr val="9933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9" name="Shape 639"/>
          <p:cNvSpPr/>
          <p:nvPr/>
        </p:nvSpPr>
        <p:spPr>
          <a:xfrm>
            <a:off x="1676400" y="3463925"/>
            <a:ext cx="3273424" cy="2860675"/>
          </a:xfrm>
          <a:custGeom>
            <a:pathLst>
              <a:path extrusionOk="0" h="4504" w="5156">
                <a:moveTo>
                  <a:pt x="276" y="0"/>
                </a:moveTo>
                <a:cubicBezTo>
                  <a:pt x="246" y="90"/>
                  <a:pt x="139" y="343"/>
                  <a:pt x="96" y="540"/>
                </a:cubicBezTo>
                <a:cubicBezTo>
                  <a:pt x="53" y="737"/>
                  <a:pt x="24" y="955"/>
                  <a:pt x="17" y="1180"/>
                </a:cubicBezTo>
                <a:cubicBezTo>
                  <a:pt x="10" y="1405"/>
                  <a:pt x="0" y="1644"/>
                  <a:pt x="51" y="1890"/>
                </a:cubicBezTo>
                <a:cubicBezTo>
                  <a:pt x="102" y="2136"/>
                  <a:pt x="190" y="2388"/>
                  <a:pt x="321" y="2655"/>
                </a:cubicBezTo>
                <a:cubicBezTo>
                  <a:pt x="452" y="2922"/>
                  <a:pt x="568" y="3233"/>
                  <a:pt x="836" y="3492"/>
                </a:cubicBezTo>
                <a:cubicBezTo>
                  <a:pt x="1104" y="3751"/>
                  <a:pt x="1538" y="4049"/>
                  <a:pt x="1931" y="4212"/>
                </a:cubicBezTo>
                <a:cubicBezTo>
                  <a:pt x="2324" y="4375"/>
                  <a:pt x="2766" y="4430"/>
                  <a:pt x="3191" y="4467"/>
                </a:cubicBezTo>
                <a:cubicBezTo>
                  <a:pt x="3616" y="4504"/>
                  <a:pt x="4154" y="4474"/>
                  <a:pt x="4481" y="4437"/>
                </a:cubicBezTo>
                <a:cubicBezTo>
                  <a:pt x="4808" y="4400"/>
                  <a:pt x="5016" y="4283"/>
                  <a:pt x="5156" y="4242"/>
                </a:cubicBezTo>
              </a:path>
            </a:pathLst>
          </a:custGeom>
          <a:noFill/>
          <a:ln cap="flat" cmpd="sng" w="25400">
            <a:solidFill>
              <a:srgbClr val="9933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640" name="Shape 640"/>
          <p:cNvCxnSpPr/>
          <p:nvPr/>
        </p:nvCxnSpPr>
        <p:spPr>
          <a:xfrm rot="10800000">
            <a:off x="1600200" y="1904999"/>
            <a:ext cx="0" cy="4572000"/>
          </a:xfrm>
          <a:prstGeom prst="straightConnector1">
            <a:avLst/>
          </a:prstGeom>
          <a:noFill/>
          <a:ln cap="flat" cmpd="sng" w="25400">
            <a:solidFill>
              <a:srgbClr val="000000"/>
            </a:solidFill>
            <a:prstDash val="solid"/>
            <a:miter/>
            <a:headEnd len="med" w="med" type="none"/>
            <a:tailEnd len="lg" w="lg" type="triangle"/>
          </a:ln>
        </p:spPr>
      </p:cxnSp>
      <p:cxnSp>
        <p:nvCxnSpPr>
          <p:cNvPr id="641" name="Shape 641"/>
          <p:cNvCxnSpPr/>
          <p:nvPr/>
        </p:nvCxnSpPr>
        <p:spPr>
          <a:xfrm>
            <a:off x="1431925" y="6856411"/>
            <a:ext cx="4800600" cy="1587"/>
          </a:xfrm>
          <a:prstGeom prst="straightConnector1">
            <a:avLst/>
          </a:prstGeom>
          <a:noFill/>
          <a:ln cap="flat" cmpd="sng" w="25400">
            <a:solidFill>
              <a:srgbClr val="000000"/>
            </a:solidFill>
            <a:prstDash val="solid"/>
            <a:miter/>
            <a:headEnd len="med" w="med" type="none"/>
            <a:tailEnd len="lg" w="lg" type="triangle"/>
          </a:ln>
        </p:spPr>
      </p:cxnSp>
      <p:cxnSp>
        <p:nvCxnSpPr>
          <p:cNvPr id="642" name="Shape 642"/>
          <p:cNvCxnSpPr/>
          <p:nvPr/>
        </p:nvCxnSpPr>
        <p:spPr>
          <a:xfrm>
            <a:off x="1600200" y="6489700"/>
            <a:ext cx="4632325" cy="0"/>
          </a:xfrm>
          <a:prstGeom prst="straightConnector1">
            <a:avLst/>
          </a:prstGeom>
          <a:noFill/>
          <a:ln cap="flat" cmpd="sng" w="25400">
            <a:solidFill>
              <a:srgbClr val="000000"/>
            </a:solidFill>
            <a:prstDash val="solid"/>
            <a:miter/>
            <a:headEnd len="med" w="med" type="none"/>
            <a:tailEnd len="lg" w="lg" type="triangle"/>
          </a:ln>
        </p:spPr>
      </p:cxnSp>
      <p:cxnSp>
        <p:nvCxnSpPr>
          <p:cNvPr id="643" name="Shape 643"/>
          <p:cNvCxnSpPr/>
          <p:nvPr/>
        </p:nvCxnSpPr>
        <p:spPr>
          <a:xfrm>
            <a:off x="1597025" y="5105400"/>
            <a:ext cx="1374774" cy="1384299"/>
          </a:xfrm>
          <a:prstGeom prst="straightConnector1">
            <a:avLst/>
          </a:prstGeom>
          <a:noFill/>
          <a:ln cap="flat" cmpd="sng" w="25400">
            <a:solidFill>
              <a:srgbClr val="008000"/>
            </a:solidFill>
            <a:prstDash val="solid"/>
            <a:miter/>
            <a:headEnd len="med" w="med" type="none"/>
            <a:tailEnd len="med" w="med" type="none"/>
          </a:ln>
        </p:spPr>
      </p:cxnSp>
      <p:cxnSp>
        <p:nvCxnSpPr>
          <p:cNvPr id="644" name="Shape 644"/>
          <p:cNvCxnSpPr/>
          <p:nvPr/>
        </p:nvCxnSpPr>
        <p:spPr>
          <a:xfrm>
            <a:off x="1597025" y="4343400"/>
            <a:ext cx="2136775" cy="2146300"/>
          </a:xfrm>
          <a:prstGeom prst="straightConnector1">
            <a:avLst/>
          </a:prstGeom>
          <a:noFill/>
          <a:ln cap="flat" cmpd="sng" w="25400">
            <a:solidFill>
              <a:srgbClr val="008000"/>
            </a:solidFill>
            <a:prstDash val="solid"/>
            <a:miter/>
            <a:headEnd len="med" w="med" type="none"/>
            <a:tailEnd len="med" w="med" type="none"/>
          </a:ln>
        </p:spPr>
      </p:cxnSp>
      <p:cxnSp>
        <p:nvCxnSpPr>
          <p:cNvPr id="645" name="Shape 645"/>
          <p:cNvCxnSpPr/>
          <p:nvPr/>
        </p:nvCxnSpPr>
        <p:spPr>
          <a:xfrm>
            <a:off x="1597025" y="2286000"/>
            <a:ext cx="3889375" cy="4152899"/>
          </a:xfrm>
          <a:prstGeom prst="straightConnector1">
            <a:avLst/>
          </a:prstGeom>
          <a:noFill/>
          <a:ln cap="flat" cmpd="sng" w="25400">
            <a:solidFill>
              <a:srgbClr val="008000"/>
            </a:solidFill>
            <a:prstDash val="solid"/>
            <a:miter/>
            <a:headEnd len="med" w="med" type="none"/>
            <a:tailEnd len="med" w="med" type="none"/>
          </a:ln>
        </p:spPr>
      </p:cxnSp>
      <p:cxnSp>
        <p:nvCxnSpPr>
          <p:cNvPr id="646" name="Shape 646"/>
          <p:cNvCxnSpPr/>
          <p:nvPr/>
        </p:nvCxnSpPr>
        <p:spPr>
          <a:xfrm>
            <a:off x="1600200" y="5715000"/>
            <a:ext cx="635000" cy="0"/>
          </a:xfrm>
          <a:prstGeom prst="straightConnector1">
            <a:avLst/>
          </a:prstGeom>
          <a:noFill/>
          <a:ln cap="flat" cmpd="sng" w="9525">
            <a:solidFill>
              <a:schemeClr val="dk1"/>
            </a:solidFill>
            <a:prstDash val="solid"/>
            <a:miter/>
            <a:headEnd len="med" w="med" type="none"/>
            <a:tailEnd len="med" w="med" type="none"/>
          </a:ln>
        </p:spPr>
      </p:cxnSp>
      <p:cxnSp>
        <p:nvCxnSpPr>
          <p:cNvPr id="647" name="Shape 647"/>
          <p:cNvCxnSpPr/>
          <p:nvPr/>
        </p:nvCxnSpPr>
        <p:spPr>
          <a:xfrm>
            <a:off x="1600200" y="5334000"/>
            <a:ext cx="990599" cy="0"/>
          </a:xfrm>
          <a:prstGeom prst="straightConnector1">
            <a:avLst/>
          </a:prstGeom>
          <a:noFill/>
          <a:ln cap="flat" cmpd="sng" w="9525">
            <a:solidFill>
              <a:schemeClr val="dk1"/>
            </a:solidFill>
            <a:prstDash val="solid"/>
            <a:miter/>
            <a:headEnd len="med" w="med" type="none"/>
            <a:tailEnd len="med" w="med" type="none"/>
          </a:ln>
        </p:spPr>
      </p:cxnSp>
      <p:cxnSp>
        <p:nvCxnSpPr>
          <p:cNvPr id="648" name="Shape 648"/>
          <p:cNvCxnSpPr/>
          <p:nvPr/>
        </p:nvCxnSpPr>
        <p:spPr>
          <a:xfrm>
            <a:off x="1600200" y="4191000"/>
            <a:ext cx="1828800" cy="0"/>
          </a:xfrm>
          <a:prstGeom prst="straightConnector1">
            <a:avLst/>
          </a:prstGeom>
          <a:noFill/>
          <a:ln cap="flat" cmpd="sng" w="9525">
            <a:solidFill>
              <a:schemeClr val="dk1"/>
            </a:solidFill>
            <a:prstDash val="solid"/>
            <a:miter/>
            <a:headEnd len="med" w="med" type="none"/>
            <a:tailEnd len="med" w="med" type="none"/>
          </a:ln>
        </p:spPr>
      </p:cxnSp>
      <p:cxnSp>
        <p:nvCxnSpPr>
          <p:cNvPr id="649" name="Shape 649"/>
          <p:cNvCxnSpPr/>
          <p:nvPr/>
        </p:nvCxnSpPr>
        <p:spPr>
          <a:xfrm>
            <a:off x="2209800" y="5715000"/>
            <a:ext cx="0" cy="774700"/>
          </a:xfrm>
          <a:prstGeom prst="straightConnector1">
            <a:avLst/>
          </a:prstGeom>
          <a:noFill/>
          <a:ln cap="flat" cmpd="sng" w="9525">
            <a:solidFill>
              <a:schemeClr val="dk1"/>
            </a:solidFill>
            <a:prstDash val="solid"/>
            <a:miter/>
            <a:headEnd len="med" w="med" type="none"/>
            <a:tailEnd len="med" w="med" type="none"/>
          </a:ln>
        </p:spPr>
      </p:cxnSp>
      <p:cxnSp>
        <p:nvCxnSpPr>
          <p:cNvPr id="650" name="Shape 650"/>
          <p:cNvCxnSpPr/>
          <p:nvPr/>
        </p:nvCxnSpPr>
        <p:spPr>
          <a:xfrm>
            <a:off x="2590800" y="5334000"/>
            <a:ext cx="0" cy="1155700"/>
          </a:xfrm>
          <a:prstGeom prst="straightConnector1">
            <a:avLst/>
          </a:prstGeom>
          <a:noFill/>
          <a:ln cap="flat" cmpd="sng" w="9525">
            <a:solidFill>
              <a:schemeClr val="dk1"/>
            </a:solidFill>
            <a:prstDash val="solid"/>
            <a:miter/>
            <a:headEnd len="med" w="med" type="none"/>
            <a:tailEnd len="med" w="med" type="none"/>
          </a:ln>
        </p:spPr>
      </p:cxnSp>
      <p:cxnSp>
        <p:nvCxnSpPr>
          <p:cNvPr id="651" name="Shape 651"/>
          <p:cNvCxnSpPr/>
          <p:nvPr/>
        </p:nvCxnSpPr>
        <p:spPr>
          <a:xfrm>
            <a:off x="3429000" y="4191000"/>
            <a:ext cx="0" cy="2298699"/>
          </a:xfrm>
          <a:prstGeom prst="straightConnector1">
            <a:avLst/>
          </a:prstGeom>
          <a:noFill/>
          <a:ln cap="flat" cmpd="sng" w="9525">
            <a:solidFill>
              <a:schemeClr val="dk1"/>
            </a:solidFill>
            <a:prstDash val="solid"/>
            <a:miter/>
            <a:headEnd len="med" w="med" type="none"/>
            <a:tailEnd len="med" w="med" type="none"/>
          </a:ln>
        </p:spPr>
      </p:cxnSp>
      <p:sp>
        <p:nvSpPr>
          <p:cNvPr id="652" name="Shape 652"/>
          <p:cNvSpPr txBox="1"/>
          <p:nvPr/>
        </p:nvSpPr>
        <p:spPr>
          <a:xfrm>
            <a:off x="609600" y="1943100"/>
            <a:ext cx="11430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0" lang="en-US" sz="1200" u="none" cap="none" strike="noStrike">
                <a:solidFill>
                  <a:srgbClr val="FF0000"/>
                </a:solidFill>
                <a:latin typeface="Arial"/>
                <a:ea typeface="Arial"/>
                <a:cs typeface="Arial"/>
                <a:sym typeface="Arial"/>
              </a:rPr>
              <a:t>FACTOR Y</a:t>
            </a:r>
          </a:p>
        </p:txBody>
      </p:sp>
      <p:sp>
        <p:nvSpPr>
          <p:cNvPr id="653" name="Shape 653"/>
          <p:cNvSpPr txBox="1"/>
          <p:nvPr/>
        </p:nvSpPr>
        <p:spPr>
          <a:xfrm>
            <a:off x="6324600" y="6248400"/>
            <a:ext cx="11430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80"/>
              </a:buClr>
              <a:buSzPct val="25000"/>
              <a:buFont typeface="Arial"/>
              <a:buNone/>
            </a:pPr>
            <a:r>
              <a:rPr b="1" i="0" lang="en-US" sz="1200" u="none" cap="none" strike="noStrike">
                <a:solidFill>
                  <a:srgbClr val="000080"/>
                </a:solidFill>
                <a:latin typeface="Arial"/>
                <a:ea typeface="Arial"/>
                <a:cs typeface="Arial"/>
                <a:sym typeface="Arial"/>
              </a:rPr>
              <a:t>FACTOR X</a:t>
            </a:r>
          </a:p>
        </p:txBody>
      </p:sp>
      <p:sp>
        <p:nvSpPr>
          <p:cNvPr id="654" name="Shape 654"/>
          <p:cNvSpPr txBox="1"/>
          <p:nvPr/>
        </p:nvSpPr>
        <p:spPr>
          <a:xfrm>
            <a:off x="4572000" y="59055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1" i="0" lang="en-US" sz="1200" u="none" cap="none" strike="noStrike">
                <a:solidFill>
                  <a:srgbClr val="BB4F59"/>
                </a:solidFill>
                <a:latin typeface="Arial"/>
                <a:ea typeface="Arial"/>
                <a:cs typeface="Arial"/>
                <a:sym typeface="Arial"/>
              </a:rPr>
              <a:t>Q</a:t>
            </a:r>
          </a:p>
        </p:txBody>
      </p:sp>
      <p:sp>
        <p:nvSpPr>
          <p:cNvPr id="655" name="Shape 655"/>
          <p:cNvSpPr txBox="1"/>
          <p:nvPr/>
        </p:nvSpPr>
        <p:spPr>
          <a:xfrm>
            <a:off x="5029200" y="51816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0" i="0" lang="en-US" sz="1200" u="none" cap="none" strike="noStrike">
                <a:solidFill>
                  <a:srgbClr val="BB4F59"/>
                </a:solidFill>
                <a:latin typeface="Arial"/>
                <a:ea typeface="Arial"/>
                <a:cs typeface="Arial"/>
                <a:sym typeface="Arial"/>
              </a:rPr>
              <a:t>3*Q</a:t>
            </a:r>
          </a:p>
        </p:txBody>
      </p:sp>
      <p:sp>
        <p:nvSpPr>
          <p:cNvPr id="656" name="Shape 656"/>
          <p:cNvSpPr txBox="1"/>
          <p:nvPr/>
        </p:nvSpPr>
        <p:spPr>
          <a:xfrm>
            <a:off x="5715000" y="43434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0" i="0" lang="en-US" sz="1200" u="none" cap="none" strike="noStrike">
                <a:solidFill>
                  <a:srgbClr val="BB4F59"/>
                </a:solidFill>
                <a:latin typeface="Arial"/>
                <a:ea typeface="Arial"/>
                <a:cs typeface="Arial"/>
                <a:sym typeface="Arial"/>
              </a:rPr>
              <a:t>7*Q</a:t>
            </a:r>
          </a:p>
        </p:txBody>
      </p:sp>
      <p:sp>
        <p:nvSpPr>
          <p:cNvPr id="657" name="Shape 657"/>
          <p:cNvSpPr txBox="1"/>
          <p:nvPr/>
        </p:nvSpPr>
        <p:spPr>
          <a:xfrm>
            <a:off x="2057400" y="64389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X</a:t>
            </a:r>
          </a:p>
        </p:txBody>
      </p:sp>
      <p:sp>
        <p:nvSpPr>
          <p:cNvPr id="658" name="Shape 658"/>
          <p:cNvSpPr txBox="1"/>
          <p:nvPr/>
        </p:nvSpPr>
        <p:spPr>
          <a:xfrm>
            <a:off x="2362200" y="64770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2*X</a:t>
            </a:r>
          </a:p>
        </p:txBody>
      </p:sp>
      <p:sp>
        <p:nvSpPr>
          <p:cNvPr id="659" name="Shape 659"/>
          <p:cNvSpPr txBox="1"/>
          <p:nvPr/>
        </p:nvSpPr>
        <p:spPr>
          <a:xfrm>
            <a:off x="3200400" y="64770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3*X</a:t>
            </a:r>
          </a:p>
        </p:txBody>
      </p:sp>
      <p:sp>
        <p:nvSpPr>
          <p:cNvPr id="660" name="Shape 660"/>
          <p:cNvSpPr txBox="1"/>
          <p:nvPr/>
        </p:nvSpPr>
        <p:spPr>
          <a:xfrm>
            <a:off x="1219200" y="40767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3*Y</a:t>
            </a:r>
          </a:p>
        </p:txBody>
      </p:sp>
      <p:sp>
        <p:nvSpPr>
          <p:cNvPr id="661" name="Shape 661"/>
          <p:cNvSpPr txBox="1"/>
          <p:nvPr/>
        </p:nvSpPr>
        <p:spPr>
          <a:xfrm>
            <a:off x="1219200" y="52197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2*Y</a:t>
            </a:r>
          </a:p>
        </p:txBody>
      </p:sp>
      <p:sp>
        <p:nvSpPr>
          <p:cNvPr id="662" name="Shape 662"/>
          <p:cNvSpPr txBox="1"/>
          <p:nvPr/>
        </p:nvSpPr>
        <p:spPr>
          <a:xfrm>
            <a:off x="1371600" y="56007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Y</a:t>
            </a:r>
          </a:p>
        </p:txBody>
      </p:sp>
    </p:spTree>
  </p:cSld>
  <p:clrMapOvr>
    <a:masterClrMapping/>
  </p:clrMapOvr>
  <p:transition spd="slow">
    <p:cut/>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666" name="Shape 666"/>
        <p:cNvGrpSpPr/>
        <p:nvPr/>
      </p:nvGrpSpPr>
      <p:grpSpPr>
        <a:xfrm>
          <a:off x="0" y="0"/>
          <a:ext cx="0" cy="0"/>
          <a:chOff x="0" y="0"/>
          <a:chExt cx="0" cy="0"/>
        </a:xfrm>
      </p:grpSpPr>
      <p:pic>
        <p:nvPicPr>
          <p:cNvPr id="667" name="Shape 667"/>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668" name="Shape 668"/>
          <p:cNvSpPr txBox="1"/>
          <p:nvPr/>
        </p:nvSpPr>
        <p:spPr>
          <a:xfrm>
            <a:off x="4343400" y="304800"/>
            <a:ext cx="4225925"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RENDIMIENTOS A ESCALA CRECIENTES</a:t>
            </a:r>
          </a:p>
        </p:txBody>
      </p:sp>
      <p:pic>
        <p:nvPicPr>
          <p:cNvPr id="669" name="Shape 669"/>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670" name="Shape 670"/>
          <p:cNvSpPr txBox="1"/>
          <p:nvPr/>
        </p:nvSpPr>
        <p:spPr>
          <a:xfrm>
            <a:off x="609600" y="1600200"/>
            <a:ext cx="8381999" cy="2311400"/>
          </a:xfrm>
          <a:prstGeom prst="rect">
            <a:avLst/>
          </a:prstGeom>
          <a:noFill/>
          <a:ln>
            <a:noFill/>
          </a:ln>
        </p:spPr>
        <p:txBody>
          <a:bodyPr anchorCtr="0" anchor="ctr" bIns="0" lIns="769675" rIns="91425" tIns="45700">
            <a:noAutofit/>
          </a:bodyPr>
          <a:lstStyle/>
          <a:p>
            <a:pPr indent="-1587" lvl="1" marL="179387"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REPRESENTAN UNA SITUACIÓN DE </a:t>
            </a:r>
          </a:p>
          <a:p>
            <a:pPr indent="-1587" lvl="1" marL="179387"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PRODUCCIÓN EN LA CUAL, SI TODOS </a:t>
            </a:r>
          </a:p>
          <a:p>
            <a:pPr indent="-1587" lvl="1" marL="179387"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LOS FACTORES DE LA PRODUCCIÓN</a:t>
            </a:r>
          </a:p>
          <a:p>
            <a:pPr indent="-1587" lvl="1" marL="179387"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AUMENTAN EN LA MISMA PROPORCIÓN,</a:t>
            </a:r>
          </a:p>
          <a:p>
            <a:pPr indent="-1587" lvl="1" marL="179387"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EL PRODUCTO AUMENTA EN UNA</a:t>
            </a:r>
          </a:p>
          <a:p>
            <a:pPr indent="-1587" lvl="1" marL="179387"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PROPORCIÓN MAYOR</a:t>
            </a:r>
          </a:p>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671" name="Shape 671"/>
          <p:cNvCxnSpPr/>
          <p:nvPr/>
        </p:nvCxnSpPr>
        <p:spPr>
          <a:xfrm rot="10800000">
            <a:off x="1600200" y="4724399"/>
            <a:ext cx="0" cy="1752600"/>
          </a:xfrm>
          <a:prstGeom prst="straightConnector1">
            <a:avLst/>
          </a:prstGeom>
          <a:noFill/>
          <a:ln cap="flat" cmpd="sng" w="25400">
            <a:solidFill>
              <a:srgbClr val="000000"/>
            </a:solidFill>
            <a:prstDash val="solid"/>
            <a:miter/>
            <a:headEnd len="med" w="med" type="none"/>
            <a:tailEnd len="lg" w="lg" type="triangle"/>
          </a:ln>
        </p:spPr>
      </p:cxnSp>
      <p:cxnSp>
        <p:nvCxnSpPr>
          <p:cNvPr id="672" name="Shape 672"/>
          <p:cNvCxnSpPr/>
          <p:nvPr/>
        </p:nvCxnSpPr>
        <p:spPr>
          <a:xfrm>
            <a:off x="1431925" y="6856411"/>
            <a:ext cx="4800600" cy="1587"/>
          </a:xfrm>
          <a:prstGeom prst="straightConnector1">
            <a:avLst/>
          </a:prstGeom>
          <a:noFill/>
          <a:ln cap="flat" cmpd="sng" w="25400">
            <a:solidFill>
              <a:srgbClr val="000000"/>
            </a:solidFill>
            <a:prstDash val="solid"/>
            <a:miter/>
            <a:headEnd len="med" w="med" type="none"/>
            <a:tailEnd len="lg" w="lg" type="triangle"/>
          </a:ln>
        </p:spPr>
      </p:cxnSp>
      <p:cxnSp>
        <p:nvCxnSpPr>
          <p:cNvPr id="673" name="Shape 673"/>
          <p:cNvCxnSpPr/>
          <p:nvPr/>
        </p:nvCxnSpPr>
        <p:spPr>
          <a:xfrm>
            <a:off x="1600200" y="6477000"/>
            <a:ext cx="1904999" cy="0"/>
          </a:xfrm>
          <a:prstGeom prst="straightConnector1">
            <a:avLst/>
          </a:prstGeom>
          <a:noFill/>
          <a:ln cap="flat" cmpd="sng" w="25400">
            <a:solidFill>
              <a:srgbClr val="000000"/>
            </a:solidFill>
            <a:prstDash val="solid"/>
            <a:miter/>
            <a:headEnd len="med" w="med" type="none"/>
            <a:tailEnd len="lg" w="lg" type="triangle"/>
          </a:ln>
        </p:spPr>
      </p:cxnSp>
      <p:cxnSp>
        <p:nvCxnSpPr>
          <p:cNvPr id="674" name="Shape 674"/>
          <p:cNvCxnSpPr/>
          <p:nvPr/>
        </p:nvCxnSpPr>
        <p:spPr>
          <a:xfrm>
            <a:off x="1600200" y="6096000"/>
            <a:ext cx="381000" cy="0"/>
          </a:xfrm>
          <a:prstGeom prst="straightConnector1">
            <a:avLst/>
          </a:prstGeom>
          <a:noFill/>
          <a:ln cap="flat" cmpd="sng" w="9525">
            <a:solidFill>
              <a:schemeClr val="dk1"/>
            </a:solidFill>
            <a:prstDash val="solid"/>
            <a:miter/>
            <a:headEnd len="med" w="med" type="none"/>
            <a:tailEnd len="med" w="med" type="none"/>
          </a:ln>
        </p:spPr>
      </p:cxnSp>
      <p:cxnSp>
        <p:nvCxnSpPr>
          <p:cNvPr id="675" name="Shape 675"/>
          <p:cNvCxnSpPr/>
          <p:nvPr/>
        </p:nvCxnSpPr>
        <p:spPr>
          <a:xfrm>
            <a:off x="1600200" y="5715000"/>
            <a:ext cx="762000" cy="0"/>
          </a:xfrm>
          <a:prstGeom prst="straightConnector1">
            <a:avLst/>
          </a:prstGeom>
          <a:noFill/>
          <a:ln cap="flat" cmpd="sng" w="9525">
            <a:solidFill>
              <a:schemeClr val="dk1"/>
            </a:solidFill>
            <a:prstDash val="solid"/>
            <a:miter/>
            <a:headEnd len="med" w="med" type="none"/>
            <a:tailEnd len="med" w="med" type="none"/>
          </a:ln>
        </p:spPr>
      </p:cxnSp>
      <p:cxnSp>
        <p:nvCxnSpPr>
          <p:cNvPr id="676" name="Shape 676"/>
          <p:cNvCxnSpPr/>
          <p:nvPr/>
        </p:nvCxnSpPr>
        <p:spPr>
          <a:xfrm>
            <a:off x="1600200" y="5334000"/>
            <a:ext cx="1143000" cy="0"/>
          </a:xfrm>
          <a:prstGeom prst="straightConnector1">
            <a:avLst/>
          </a:prstGeom>
          <a:noFill/>
          <a:ln cap="flat" cmpd="sng" w="9525">
            <a:solidFill>
              <a:schemeClr val="dk1"/>
            </a:solidFill>
            <a:prstDash val="solid"/>
            <a:miter/>
            <a:headEnd len="med" w="med" type="none"/>
            <a:tailEnd len="med" w="med" type="none"/>
          </a:ln>
        </p:spPr>
      </p:cxnSp>
      <p:cxnSp>
        <p:nvCxnSpPr>
          <p:cNvPr id="677" name="Shape 677"/>
          <p:cNvCxnSpPr/>
          <p:nvPr/>
        </p:nvCxnSpPr>
        <p:spPr>
          <a:xfrm>
            <a:off x="1981200" y="6096000"/>
            <a:ext cx="0" cy="393700"/>
          </a:xfrm>
          <a:prstGeom prst="straightConnector1">
            <a:avLst/>
          </a:prstGeom>
          <a:noFill/>
          <a:ln cap="flat" cmpd="sng" w="9525">
            <a:solidFill>
              <a:schemeClr val="dk1"/>
            </a:solidFill>
            <a:prstDash val="solid"/>
            <a:miter/>
            <a:headEnd len="med" w="med" type="none"/>
            <a:tailEnd len="med" w="med" type="none"/>
          </a:ln>
        </p:spPr>
      </p:cxnSp>
      <p:cxnSp>
        <p:nvCxnSpPr>
          <p:cNvPr id="678" name="Shape 678"/>
          <p:cNvCxnSpPr/>
          <p:nvPr/>
        </p:nvCxnSpPr>
        <p:spPr>
          <a:xfrm>
            <a:off x="2362200" y="5715000"/>
            <a:ext cx="0" cy="774700"/>
          </a:xfrm>
          <a:prstGeom prst="straightConnector1">
            <a:avLst/>
          </a:prstGeom>
          <a:noFill/>
          <a:ln cap="flat" cmpd="sng" w="9525">
            <a:solidFill>
              <a:schemeClr val="dk1"/>
            </a:solidFill>
            <a:prstDash val="solid"/>
            <a:miter/>
            <a:headEnd len="med" w="med" type="none"/>
            <a:tailEnd len="med" w="med" type="none"/>
          </a:ln>
        </p:spPr>
      </p:cxnSp>
      <p:cxnSp>
        <p:nvCxnSpPr>
          <p:cNvPr id="679" name="Shape 679"/>
          <p:cNvCxnSpPr/>
          <p:nvPr/>
        </p:nvCxnSpPr>
        <p:spPr>
          <a:xfrm>
            <a:off x="2743200" y="5334000"/>
            <a:ext cx="0" cy="1155700"/>
          </a:xfrm>
          <a:prstGeom prst="straightConnector1">
            <a:avLst/>
          </a:prstGeom>
          <a:noFill/>
          <a:ln cap="flat" cmpd="sng" w="9525">
            <a:solidFill>
              <a:schemeClr val="dk1"/>
            </a:solidFill>
            <a:prstDash val="solid"/>
            <a:miter/>
            <a:headEnd len="med" w="med" type="none"/>
            <a:tailEnd len="med" w="med" type="none"/>
          </a:ln>
        </p:spPr>
      </p:cxnSp>
      <p:sp>
        <p:nvSpPr>
          <p:cNvPr id="680" name="Shape 680"/>
          <p:cNvSpPr txBox="1"/>
          <p:nvPr/>
        </p:nvSpPr>
        <p:spPr>
          <a:xfrm>
            <a:off x="0" y="4838700"/>
            <a:ext cx="1752600" cy="4190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PRODUCCIÓN DE LARGO PLAZO</a:t>
            </a:r>
          </a:p>
        </p:txBody>
      </p:sp>
      <p:sp>
        <p:nvSpPr>
          <p:cNvPr id="681" name="Shape 681"/>
          <p:cNvSpPr txBox="1"/>
          <p:nvPr/>
        </p:nvSpPr>
        <p:spPr>
          <a:xfrm>
            <a:off x="3200400" y="6210300"/>
            <a:ext cx="1371599"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hlink"/>
              </a:buClr>
              <a:buSzPct val="25000"/>
              <a:buFont typeface="Arial"/>
              <a:buNone/>
            </a:pPr>
            <a:r>
              <a:rPr b="1" i="0" lang="en-US" sz="1400" u="none" cap="none" strike="noStrike">
                <a:solidFill>
                  <a:schemeClr val="hlink"/>
                </a:solidFill>
                <a:latin typeface="Arial"/>
                <a:ea typeface="Arial"/>
                <a:cs typeface="Arial"/>
                <a:sym typeface="Arial"/>
              </a:rPr>
              <a:t>ESCALAS</a:t>
            </a:r>
          </a:p>
        </p:txBody>
      </p:sp>
      <p:sp>
        <p:nvSpPr>
          <p:cNvPr id="682" name="Shape 682"/>
          <p:cNvSpPr txBox="1"/>
          <p:nvPr/>
        </p:nvSpPr>
        <p:spPr>
          <a:xfrm>
            <a:off x="1828800" y="64389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1</a:t>
            </a:r>
          </a:p>
        </p:txBody>
      </p:sp>
      <p:sp>
        <p:nvSpPr>
          <p:cNvPr id="683" name="Shape 683"/>
          <p:cNvSpPr txBox="1"/>
          <p:nvPr/>
        </p:nvSpPr>
        <p:spPr>
          <a:xfrm>
            <a:off x="2209800" y="64389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2</a:t>
            </a:r>
          </a:p>
        </p:txBody>
      </p:sp>
      <p:sp>
        <p:nvSpPr>
          <p:cNvPr id="684" name="Shape 684"/>
          <p:cNvSpPr txBox="1"/>
          <p:nvPr/>
        </p:nvSpPr>
        <p:spPr>
          <a:xfrm>
            <a:off x="2590800" y="64389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3</a:t>
            </a:r>
          </a:p>
        </p:txBody>
      </p:sp>
      <p:sp>
        <p:nvSpPr>
          <p:cNvPr id="685" name="Shape 685"/>
          <p:cNvSpPr txBox="1"/>
          <p:nvPr/>
        </p:nvSpPr>
        <p:spPr>
          <a:xfrm>
            <a:off x="1219200" y="52197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3*Q</a:t>
            </a:r>
          </a:p>
        </p:txBody>
      </p:sp>
      <p:sp>
        <p:nvSpPr>
          <p:cNvPr id="686" name="Shape 686"/>
          <p:cNvSpPr txBox="1"/>
          <p:nvPr/>
        </p:nvSpPr>
        <p:spPr>
          <a:xfrm>
            <a:off x="1219200" y="56007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2*Q</a:t>
            </a:r>
          </a:p>
        </p:txBody>
      </p:sp>
      <p:sp>
        <p:nvSpPr>
          <p:cNvPr id="687" name="Shape 687"/>
          <p:cNvSpPr txBox="1"/>
          <p:nvPr/>
        </p:nvSpPr>
        <p:spPr>
          <a:xfrm>
            <a:off x="1371600" y="59817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Q</a:t>
            </a:r>
          </a:p>
        </p:txBody>
      </p:sp>
      <p:sp>
        <p:nvSpPr>
          <p:cNvPr id="688" name="Shape 688"/>
          <p:cNvSpPr/>
          <p:nvPr/>
        </p:nvSpPr>
        <p:spPr>
          <a:xfrm>
            <a:off x="1600200" y="4800600"/>
            <a:ext cx="1028700" cy="1676400"/>
          </a:xfrm>
          <a:custGeom>
            <a:pathLst>
              <a:path extrusionOk="0" h="1056" w="648">
                <a:moveTo>
                  <a:pt x="0" y="1056"/>
                </a:moveTo>
                <a:cubicBezTo>
                  <a:pt x="56" y="1000"/>
                  <a:pt x="251" y="829"/>
                  <a:pt x="336" y="720"/>
                </a:cubicBezTo>
                <a:cubicBezTo>
                  <a:pt x="421" y="611"/>
                  <a:pt x="460" y="520"/>
                  <a:pt x="512" y="400"/>
                </a:cubicBezTo>
                <a:cubicBezTo>
                  <a:pt x="564" y="280"/>
                  <a:pt x="620" y="83"/>
                  <a:pt x="648" y="0"/>
                </a:cubicBezTo>
              </a:path>
            </a:pathLst>
          </a:custGeom>
          <a:no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689" name="Shape 689"/>
          <p:cNvCxnSpPr/>
          <p:nvPr/>
        </p:nvCxnSpPr>
        <p:spPr>
          <a:xfrm rot="10800000">
            <a:off x="5181600" y="4724399"/>
            <a:ext cx="0" cy="1752600"/>
          </a:xfrm>
          <a:prstGeom prst="straightConnector1">
            <a:avLst/>
          </a:prstGeom>
          <a:noFill/>
          <a:ln cap="flat" cmpd="sng" w="25400">
            <a:solidFill>
              <a:srgbClr val="000000"/>
            </a:solidFill>
            <a:prstDash val="solid"/>
            <a:miter/>
            <a:headEnd len="med" w="med" type="none"/>
            <a:tailEnd len="lg" w="lg" type="triangle"/>
          </a:ln>
        </p:spPr>
      </p:cxnSp>
      <p:cxnSp>
        <p:nvCxnSpPr>
          <p:cNvPr id="690" name="Shape 690"/>
          <p:cNvCxnSpPr/>
          <p:nvPr/>
        </p:nvCxnSpPr>
        <p:spPr>
          <a:xfrm>
            <a:off x="5181600" y="6477000"/>
            <a:ext cx="1904999" cy="0"/>
          </a:xfrm>
          <a:prstGeom prst="straightConnector1">
            <a:avLst/>
          </a:prstGeom>
          <a:noFill/>
          <a:ln cap="flat" cmpd="sng" w="25400">
            <a:solidFill>
              <a:srgbClr val="000000"/>
            </a:solidFill>
            <a:prstDash val="solid"/>
            <a:miter/>
            <a:headEnd len="med" w="med" type="none"/>
            <a:tailEnd len="lg" w="lg" type="triangle"/>
          </a:ln>
        </p:spPr>
      </p:cxnSp>
      <p:sp>
        <p:nvSpPr>
          <p:cNvPr id="691" name="Shape 691"/>
          <p:cNvSpPr txBox="1"/>
          <p:nvPr/>
        </p:nvSpPr>
        <p:spPr>
          <a:xfrm>
            <a:off x="7086600" y="6210300"/>
            <a:ext cx="1752600" cy="4190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PRODUCCIÓN DE LARGO PLAZO</a:t>
            </a:r>
          </a:p>
        </p:txBody>
      </p:sp>
      <p:sp>
        <p:nvSpPr>
          <p:cNvPr id="692" name="Shape 692"/>
          <p:cNvSpPr txBox="1"/>
          <p:nvPr/>
        </p:nvSpPr>
        <p:spPr>
          <a:xfrm>
            <a:off x="3886200" y="4648200"/>
            <a:ext cx="12954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0" lang="en-US" sz="1200" u="none" cap="none" strike="noStrike">
                <a:solidFill>
                  <a:srgbClr val="FF0000"/>
                </a:solidFill>
                <a:latin typeface="Arial"/>
                <a:ea typeface="Arial"/>
                <a:cs typeface="Arial"/>
                <a:sym typeface="Arial"/>
              </a:rPr>
              <a:t>COSTO MEDIO</a:t>
            </a:r>
          </a:p>
          <a:p>
            <a:pPr indent="0" lvl="0" marL="0" marR="0" rtl="0" algn="l">
              <a:lnSpc>
                <a:spcPct val="100000"/>
              </a:lnSpc>
              <a:spcBef>
                <a:spcPts val="0"/>
              </a:spcBef>
              <a:spcAft>
                <a:spcPts val="0"/>
              </a:spcAft>
              <a:buClr>
                <a:srgbClr val="FF0000"/>
              </a:buClr>
              <a:buSzPct val="25000"/>
              <a:buFont typeface="Arial"/>
              <a:buNone/>
            </a:pPr>
            <a:r>
              <a:rPr b="1" i="0" lang="en-US" sz="1200" u="none" cap="none" strike="noStrike">
                <a:solidFill>
                  <a:srgbClr val="FF0000"/>
                </a:solidFill>
                <a:latin typeface="Arial"/>
                <a:ea typeface="Arial"/>
                <a:cs typeface="Arial"/>
                <a:sym typeface="Arial"/>
              </a:rPr>
              <a:t>LARGO PLAZO</a:t>
            </a:r>
          </a:p>
        </p:txBody>
      </p:sp>
      <p:sp>
        <p:nvSpPr>
          <p:cNvPr id="693" name="Shape 693"/>
          <p:cNvSpPr txBox="1"/>
          <p:nvPr/>
        </p:nvSpPr>
        <p:spPr>
          <a:xfrm>
            <a:off x="5410200" y="64389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Q</a:t>
            </a:r>
          </a:p>
        </p:txBody>
      </p:sp>
      <p:sp>
        <p:nvSpPr>
          <p:cNvPr id="694" name="Shape 694"/>
          <p:cNvSpPr txBox="1"/>
          <p:nvPr/>
        </p:nvSpPr>
        <p:spPr>
          <a:xfrm>
            <a:off x="5791200" y="64389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2*Q</a:t>
            </a:r>
          </a:p>
        </p:txBody>
      </p:sp>
      <p:sp>
        <p:nvSpPr>
          <p:cNvPr id="695" name="Shape 695"/>
          <p:cNvSpPr txBox="1"/>
          <p:nvPr/>
        </p:nvSpPr>
        <p:spPr>
          <a:xfrm>
            <a:off x="6172200" y="64389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3*Q</a:t>
            </a:r>
          </a:p>
        </p:txBody>
      </p:sp>
      <p:sp>
        <p:nvSpPr>
          <p:cNvPr id="696" name="Shape 696"/>
          <p:cNvSpPr/>
          <p:nvPr/>
        </p:nvSpPr>
        <p:spPr>
          <a:xfrm rot="10800000">
            <a:off x="5180012" y="5232400"/>
            <a:ext cx="1677986" cy="1244600"/>
          </a:xfrm>
          <a:custGeom>
            <a:pathLst>
              <a:path extrusionOk="0" h="784" w="1057">
                <a:moveTo>
                  <a:pt x="1057" y="0"/>
                </a:moveTo>
                <a:cubicBezTo>
                  <a:pt x="1021" y="59"/>
                  <a:pt x="924" y="256"/>
                  <a:pt x="841" y="352"/>
                </a:cubicBezTo>
                <a:cubicBezTo>
                  <a:pt x="758" y="448"/>
                  <a:pt x="650" y="519"/>
                  <a:pt x="561" y="576"/>
                </a:cubicBezTo>
                <a:cubicBezTo>
                  <a:pt x="472" y="633"/>
                  <a:pt x="399" y="661"/>
                  <a:pt x="305" y="696"/>
                </a:cubicBezTo>
                <a:cubicBezTo>
                  <a:pt x="211" y="731"/>
                  <a:pt x="64" y="766"/>
                  <a:pt x="0" y="784"/>
                </a:cubicBezTo>
              </a:path>
            </a:pathLst>
          </a:custGeom>
          <a:no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transition spd="slow">
    <p:cut/>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700" name="Shape 700"/>
        <p:cNvGrpSpPr/>
        <p:nvPr/>
      </p:nvGrpSpPr>
      <p:grpSpPr>
        <a:xfrm>
          <a:off x="0" y="0"/>
          <a:ext cx="0" cy="0"/>
          <a:chOff x="0" y="0"/>
          <a:chExt cx="0" cy="0"/>
        </a:xfrm>
      </p:grpSpPr>
      <p:pic>
        <p:nvPicPr>
          <p:cNvPr id="701" name="Shape 701"/>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702" name="Shape 702"/>
          <p:cNvSpPr txBox="1"/>
          <p:nvPr/>
        </p:nvSpPr>
        <p:spPr>
          <a:xfrm>
            <a:off x="4343400" y="304800"/>
            <a:ext cx="4225925"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RENDIMIENTOS A ESCALA DECRECIENTES</a:t>
            </a:r>
          </a:p>
        </p:txBody>
      </p:sp>
      <p:pic>
        <p:nvPicPr>
          <p:cNvPr id="703" name="Shape 703"/>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704" name="Shape 704"/>
          <p:cNvSpPr txBox="1"/>
          <p:nvPr/>
        </p:nvSpPr>
        <p:spPr>
          <a:xfrm>
            <a:off x="3352800" y="1371600"/>
            <a:ext cx="5714999" cy="2133599"/>
          </a:xfrm>
          <a:prstGeom prst="rect">
            <a:avLst/>
          </a:prstGeom>
          <a:noFill/>
          <a:ln>
            <a:noFill/>
          </a:ln>
        </p:spPr>
        <p:txBody>
          <a:bodyPr anchorCtr="0" anchor="ctr" bIns="0" lIns="769675" rIns="91425" tIns="45700">
            <a:noAutofit/>
          </a:bodyPr>
          <a:lstStyle/>
          <a:p>
            <a:pPr indent="-4762" lvl="3" marL="538162" marR="0" rtl="0" algn="l">
              <a:lnSpc>
                <a:spcPct val="105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Decrecientes: </a:t>
            </a:r>
            <a:r>
              <a:rPr b="0" i="0" lang="en-US" sz="1800" u="none" cap="none" strike="noStrike">
                <a:solidFill>
                  <a:schemeClr val="dk1"/>
                </a:solidFill>
                <a:latin typeface="Arial"/>
                <a:ea typeface="Arial"/>
                <a:cs typeface="Arial"/>
                <a:sym typeface="Arial"/>
              </a:rPr>
              <a:t>cuando e </a:t>
            </a:r>
            <a:r>
              <a:rPr b="0" baseline="-25000" i="0" lang="en-US" sz="1800" u="none" cap="none" strike="noStrike">
                <a:solidFill>
                  <a:schemeClr val="dk1"/>
                </a:solidFill>
                <a:latin typeface="Arial"/>
                <a:ea typeface="Arial"/>
                <a:cs typeface="Arial"/>
                <a:sym typeface="Arial"/>
              </a:rPr>
              <a:t>ST-YX</a:t>
            </a:r>
            <a:r>
              <a:rPr b="0" i="0" lang="en-US" sz="1800" u="none" cap="none" strike="noStrike">
                <a:solidFill>
                  <a:schemeClr val="dk1"/>
                </a:solidFill>
                <a:latin typeface="Arial"/>
                <a:ea typeface="Arial"/>
                <a:cs typeface="Arial"/>
                <a:sym typeface="Arial"/>
              </a:rPr>
              <a:t> &lt; 1. </a:t>
            </a:r>
          </a:p>
          <a:p>
            <a:pPr indent="-4762" lvl="3" marL="538162" marR="0" rtl="0" algn="l">
              <a:lnSpc>
                <a:spcPct val="105000"/>
              </a:lnSpc>
              <a:spcBef>
                <a:spcPts val="18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Significa que al aumentar los insumos </a:t>
            </a:r>
          </a:p>
          <a:p>
            <a:pPr indent="-4762" lvl="3" marL="538162" marR="0" rtl="0" algn="l">
              <a:lnSpc>
                <a:spcPct val="105000"/>
              </a:lnSpc>
              <a:spcBef>
                <a:spcPts val="18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en una proporción determinada, la </a:t>
            </a:r>
          </a:p>
          <a:p>
            <a:pPr indent="-4762" lvl="3" marL="538162" marR="0" rtl="0" algn="l">
              <a:lnSpc>
                <a:spcPct val="105000"/>
              </a:lnSpc>
              <a:spcBef>
                <a:spcPts val="18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producción aumenta en una proporción</a:t>
            </a:r>
          </a:p>
          <a:p>
            <a:pPr indent="-4762" lvl="3" marL="538162" marR="0" rtl="0" algn="l">
              <a:lnSpc>
                <a:spcPct val="105000"/>
              </a:lnSpc>
              <a:spcBef>
                <a:spcPts val="18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menor. </a:t>
            </a:r>
          </a:p>
          <a:p>
            <a:pPr indent="0" lvl="0" marL="0" marR="0" rtl="0" algn="l">
              <a:lnSpc>
                <a:spcPct val="100000"/>
              </a:lnSpc>
              <a:spcBef>
                <a:spcPts val="9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05" name="Shape 705"/>
          <p:cNvSpPr/>
          <p:nvPr/>
        </p:nvSpPr>
        <p:spPr>
          <a:xfrm rot="300000">
            <a:off x="2336799" y="3949700"/>
            <a:ext cx="2616199" cy="1765299"/>
          </a:xfrm>
          <a:custGeom>
            <a:pathLst>
              <a:path extrusionOk="0" h="1112" w="1648">
                <a:moveTo>
                  <a:pt x="46" y="0"/>
                </a:moveTo>
                <a:cubicBezTo>
                  <a:pt x="39" y="39"/>
                  <a:pt x="5" y="146"/>
                  <a:pt x="3" y="236"/>
                </a:cubicBezTo>
                <a:cubicBezTo>
                  <a:pt x="1" y="326"/>
                  <a:pt x="0" y="446"/>
                  <a:pt x="34" y="542"/>
                </a:cubicBezTo>
                <a:cubicBezTo>
                  <a:pt x="68" y="638"/>
                  <a:pt x="111" y="729"/>
                  <a:pt x="210" y="814"/>
                </a:cubicBezTo>
                <a:cubicBezTo>
                  <a:pt x="309" y="899"/>
                  <a:pt x="466" y="1006"/>
                  <a:pt x="628" y="1055"/>
                </a:cubicBezTo>
                <a:cubicBezTo>
                  <a:pt x="790" y="1104"/>
                  <a:pt x="1013" y="1112"/>
                  <a:pt x="1183" y="1108"/>
                </a:cubicBezTo>
                <a:cubicBezTo>
                  <a:pt x="1353" y="1103"/>
                  <a:pt x="1571" y="1040"/>
                  <a:pt x="1648" y="1027"/>
                </a:cubicBezTo>
              </a:path>
            </a:pathLst>
          </a:custGeom>
          <a:noFill/>
          <a:ln cap="flat" cmpd="sng" w="25400">
            <a:solidFill>
              <a:srgbClr val="9933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6" name="Shape 706"/>
          <p:cNvSpPr/>
          <p:nvPr/>
        </p:nvSpPr>
        <p:spPr>
          <a:xfrm>
            <a:off x="2082800" y="3657600"/>
            <a:ext cx="2946400" cy="2336799"/>
          </a:xfrm>
          <a:custGeom>
            <a:pathLst>
              <a:path extrusionOk="0" h="3680" w="4641">
                <a:moveTo>
                  <a:pt x="217" y="0"/>
                </a:moveTo>
                <a:cubicBezTo>
                  <a:pt x="192" y="80"/>
                  <a:pt x="99" y="299"/>
                  <a:pt x="67" y="480"/>
                </a:cubicBezTo>
                <a:cubicBezTo>
                  <a:pt x="35" y="661"/>
                  <a:pt x="0" y="849"/>
                  <a:pt x="26" y="1085"/>
                </a:cubicBezTo>
                <a:cubicBezTo>
                  <a:pt x="52" y="1321"/>
                  <a:pt x="83" y="1599"/>
                  <a:pt x="221" y="1895"/>
                </a:cubicBezTo>
                <a:cubicBezTo>
                  <a:pt x="359" y="2191"/>
                  <a:pt x="534" y="2594"/>
                  <a:pt x="851" y="2863"/>
                </a:cubicBezTo>
                <a:cubicBezTo>
                  <a:pt x="1168" y="3132"/>
                  <a:pt x="1694" y="3373"/>
                  <a:pt x="2126" y="3508"/>
                </a:cubicBezTo>
                <a:cubicBezTo>
                  <a:pt x="2558" y="3643"/>
                  <a:pt x="3027" y="3680"/>
                  <a:pt x="3446" y="3673"/>
                </a:cubicBezTo>
                <a:cubicBezTo>
                  <a:pt x="3865" y="3666"/>
                  <a:pt x="4392" y="3509"/>
                  <a:pt x="4641" y="3466"/>
                </a:cubicBezTo>
              </a:path>
            </a:pathLst>
          </a:custGeom>
          <a:noFill/>
          <a:ln cap="flat" cmpd="sng" w="25400">
            <a:solidFill>
              <a:srgbClr val="9933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7" name="Shape 707"/>
          <p:cNvSpPr/>
          <p:nvPr/>
        </p:nvSpPr>
        <p:spPr>
          <a:xfrm>
            <a:off x="1676400" y="3463925"/>
            <a:ext cx="3273424" cy="2860675"/>
          </a:xfrm>
          <a:custGeom>
            <a:pathLst>
              <a:path extrusionOk="0" h="4504" w="5156">
                <a:moveTo>
                  <a:pt x="276" y="0"/>
                </a:moveTo>
                <a:cubicBezTo>
                  <a:pt x="246" y="90"/>
                  <a:pt x="139" y="343"/>
                  <a:pt x="96" y="540"/>
                </a:cubicBezTo>
                <a:cubicBezTo>
                  <a:pt x="53" y="737"/>
                  <a:pt x="24" y="955"/>
                  <a:pt x="17" y="1180"/>
                </a:cubicBezTo>
                <a:cubicBezTo>
                  <a:pt x="10" y="1405"/>
                  <a:pt x="0" y="1644"/>
                  <a:pt x="51" y="1890"/>
                </a:cubicBezTo>
                <a:cubicBezTo>
                  <a:pt x="102" y="2136"/>
                  <a:pt x="190" y="2388"/>
                  <a:pt x="321" y="2655"/>
                </a:cubicBezTo>
                <a:cubicBezTo>
                  <a:pt x="452" y="2922"/>
                  <a:pt x="568" y="3233"/>
                  <a:pt x="836" y="3492"/>
                </a:cubicBezTo>
                <a:cubicBezTo>
                  <a:pt x="1104" y="3751"/>
                  <a:pt x="1538" y="4049"/>
                  <a:pt x="1931" y="4212"/>
                </a:cubicBezTo>
                <a:cubicBezTo>
                  <a:pt x="2324" y="4375"/>
                  <a:pt x="2766" y="4430"/>
                  <a:pt x="3191" y="4467"/>
                </a:cubicBezTo>
                <a:cubicBezTo>
                  <a:pt x="3616" y="4504"/>
                  <a:pt x="4154" y="4474"/>
                  <a:pt x="4481" y="4437"/>
                </a:cubicBezTo>
                <a:cubicBezTo>
                  <a:pt x="4808" y="4400"/>
                  <a:pt x="5016" y="4283"/>
                  <a:pt x="5156" y="4242"/>
                </a:cubicBezTo>
              </a:path>
            </a:pathLst>
          </a:custGeom>
          <a:noFill/>
          <a:ln cap="flat" cmpd="sng" w="25400">
            <a:solidFill>
              <a:srgbClr val="9933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708" name="Shape 708"/>
          <p:cNvCxnSpPr/>
          <p:nvPr/>
        </p:nvCxnSpPr>
        <p:spPr>
          <a:xfrm rot="10800000">
            <a:off x="1600200" y="1904999"/>
            <a:ext cx="0" cy="4572000"/>
          </a:xfrm>
          <a:prstGeom prst="straightConnector1">
            <a:avLst/>
          </a:prstGeom>
          <a:noFill/>
          <a:ln cap="flat" cmpd="sng" w="25400">
            <a:solidFill>
              <a:srgbClr val="000000"/>
            </a:solidFill>
            <a:prstDash val="solid"/>
            <a:miter/>
            <a:headEnd len="med" w="med" type="none"/>
            <a:tailEnd len="lg" w="lg" type="triangle"/>
          </a:ln>
        </p:spPr>
      </p:cxnSp>
      <p:cxnSp>
        <p:nvCxnSpPr>
          <p:cNvPr id="709" name="Shape 709"/>
          <p:cNvCxnSpPr/>
          <p:nvPr/>
        </p:nvCxnSpPr>
        <p:spPr>
          <a:xfrm>
            <a:off x="1431925" y="6856411"/>
            <a:ext cx="4800600" cy="1587"/>
          </a:xfrm>
          <a:prstGeom prst="straightConnector1">
            <a:avLst/>
          </a:prstGeom>
          <a:noFill/>
          <a:ln cap="flat" cmpd="sng" w="25400">
            <a:solidFill>
              <a:srgbClr val="000000"/>
            </a:solidFill>
            <a:prstDash val="solid"/>
            <a:miter/>
            <a:headEnd len="med" w="med" type="none"/>
            <a:tailEnd len="lg" w="lg" type="triangle"/>
          </a:ln>
        </p:spPr>
      </p:cxnSp>
      <p:cxnSp>
        <p:nvCxnSpPr>
          <p:cNvPr id="710" name="Shape 710"/>
          <p:cNvCxnSpPr/>
          <p:nvPr/>
        </p:nvCxnSpPr>
        <p:spPr>
          <a:xfrm>
            <a:off x="1600200" y="6489700"/>
            <a:ext cx="4632325" cy="0"/>
          </a:xfrm>
          <a:prstGeom prst="straightConnector1">
            <a:avLst/>
          </a:prstGeom>
          <a:noFill/>
          <a:ln cap="flat" cmpd="sng" w="25400">
            <a:solidFill>
              <a:srgbClr val="000000"/>
            </a:solidFill>
            <a:prstDash val="solid"/>
            <a:miter/>
            <a:headEnd len="med" w="med" type="none"/>
            <a:tailEnd len="lg" w="lg" type="triangle"/>
          </a:ln>
        </p:spPr>
      </p:cxnSp>
      <p:cxnSp>
        <p:nvCxnSpPr>
          <p:cNvPr id="711" name="Shape 711"/>
          <p:cNvCxnSpPr/>
          <p:nvPr/>
        </p:nvCxnSpPr>
        <p:spPr>
          <a:xfrm>
            <a:off x="1597025" y="5105400"/>
            <a:ext cx="1374774" cy="1384299"/>
          </a:xfrm>
          <a:prstGeom prst="straightConnector1">
            <a:avLst/>
          </a:prstGeom>
          <a:noFill/>
          <a:ln cap="flat" cmpd="sng" w="25400">
            <a:solidFill>
              <a:srgbClr val="008000"/>
            </a:solidFill>
            <a:prstDash val="solid"/>
            <a:miter/>
            <a:headEnd len="med" w="med" type="none"/>
            <a:tailEnd len="med" w="med" type="none"/>
          </a:ln>
        </p:spPr>
      </p:cxnSp>
      <p:cxnSp>
        <p:nvCxnSpPr>
          <p:cNvPr id="712" name="Shape 712"/>
          <p:cNvCxnSpPr/>
          <p:nvPr/>
        </p:nvCxnSpPr>
        <p:spPr>
          <a:xfrm>
            <a:off x="1600200" y="4483100"/>
            <a:ext cx="2057400" cy="2006600"/>
          </a:xfrm>
          <a:prstGeom prst="straightConnector1">
            <a:avLst/>
          </a:prstGeom>
          <a:noFill/>
          <a:ln cap="flat" cmpd="sng" w="25400">
            <a:solidFill>
              <a:srgbClr val="008000"/>
            </a:solidFill>
            <a:prstDash val="solid"/>
            <a:miter/>
            <a:headEnd len="med" w="med" type="none"/>
            <a:tailEnd len="med" w="med" type="none"/>
          </a:ln>
        </p:spPr>
      </p:cxnSp>
      <p:cxnSp>
        <p:nvCxnSpPr>
          <p:cNvPr id="713" name="Shape 713"/>
          <p:cNvCxnSpPr/>
          <p:nvPr/>
        </p:nvCxnSpPr>
        <p:spPr>
          <a:xfrm>
            <a:off x="1597025" y="4114800"/>
            <a:ext cx="2365375" cy="2374899"/>
          </a:xfrm>
          <a:prstGeom prst="straightConnector1">
            <a:avLst/>
          </a:prstGeom>
          <a:noFill/>
          <a:ln cap="flat" cmpd="sng" w="25400">
            <a:solidFill>
              <a:srgbClr val="008000"/>
            </a:solidFill>
            <a:prstDash val="solid"/>
            <a:miter/>
            <a:headEnd len="med" w="med" type="none"/>
            <a:tailEnd len="med" w="med" type="none"/>
          </a:ln>
        </p:spPr>
      </p:cxnSp>
      <p:cxnSp>
        <p:nvCxnSpPr>
          <p:cNvPr id="714" name="Shape 714"/>
          <p:cNvCxnSpPr/>
          <p:nvPr/>
        </p:nvCxnSpPr>
        <p:spPr>
          <a:xfrm>
            <a:off x="1600200" y="5715000"/>
            <a:ext cx="635000" cy="0"/>
          </a:xfrm>
          <a:prstGeom prst="straightConnector1">
            <a:avLst/>
          </a:prstGeom>
          <a:noFill/>
          <a:ln cap="flat" cmpd="sng" w="9525">
            <a:solidFill>
              <a:schemeClr val="dk1"/>
            </a:solidFill>
            <a:prstDash val="solid"/>
            <a:miter/>
            <a:headEnd len="med" w="med" type="none"/>
            <a:tailEnd len="med" w="med" type="none"/>
          </a:ln>
        </p:spPr>
      </p:cxnSp>
      <p:cxnSp>
        <p:nvCxnSpPr>
          <p:cNvPr id="715" name="Shape 715"/>
          <p:cNvCxnSpPr/>
          <p:nvPr/>
        </p:nvCxnSpPr>
        <p:spPr>
          <a:xfrm>
            <a:off x="1597025" y="5410200"/>
            <a:ext cx="917575" cy="0"/>
          </a:xfrm>
          <a:prstGeom prst="straightConnector1">
            <a:avLst/>
          </a:prstGeom>
          <a:noFill/>
          <a:ln cap="flat" cmpd="sng" w="9525">
            <a:solidFill>
              <a:schemeClr val="dk1"/>
            </a:solidFill>
            <a:prstDash val="solid"/>
            <a:miter/>
            <a:headEnd len="med" w="med" type="none"/>
            <a:tailEnd len="med" w="med" type="none"/>
          </a:ln>
        </p:spPr>
      </p:cxnSp>
      <p:cxnSp>
        <p:nvCxnSpPr>
          <p:cNvPr id="716" name="Shape 716"/>
          <p:cNvCxnSpPr/>
          <p:nvPr/>
        </p:nvCxnSpPr>
        <p:spPr>
          <a:xfrm>
            <a:off x="1600200" y="5257800"/>
            <a:ext cx="1143000" cy="0"/>
          </a:xfrm>
          <a:prstGeom prst="straightConnector1">
            <a:avLst/>
          </a:prstGeom>
          <a:noFill/>
          <a:ln cap="flat" cmpd="sng" w="9525">
            <a:solidFill>
              <a:schemeClr val="dk1"/>
            </a:solidFill>
            <a:prstDash val="solid"/>
            <a:miter/>
            <a:headEnd len="med" w="med" type="none"/>
            <a:tailEnd len="med" w="med" type="none"/>
          </a:ln>
        </p:spPr>
      </p:cxnSp>
      <p:cxnSp>
        <p:nvCxnSpPr>
          <p:cNvPr id="717" name="Shape 717"/>
          <p:cNvCxnSpPr/>
          <p:nvPr/>
        </p:nvCxnSpPr>
        <p:spPr>
          <a:xfrm>
            <a:off x="2209800" y="5715000"/>
            <a:ext cx="0" cy="774700"/>
          </a:xfrm>
          <a:prstGeom prst="straightConnector1">
            <a:avLst/>
          </a:prstGeom>
          <a:noFill/>
          <a:ln cap="flat" cmpd="sng" w="9525">
            <a:solidFill>
              <a:schemeClr val="dk1"/>
            </a:solidFill>
            <a:prstDash val="solid"/>
            <a:miter/>
            <a:headEnd len="med" w="med" type="none"/>
            <a:tailEnd len="med" w="med" type="none"/>
          </a:ln>
        </p:spPr>
      </p:cxnSp>
      <p:cxnSp>
        <p:nvCxnSpPr>
          <p:cNvPr id="718" name="Shape 718"/>
          <p:cNvCxnSpPr/>
          <p:nvPr/>
        </p:nvCxnSpPr>
        <p:spPr>
          <a:xfrm>
            <a:off x="2514600" y="5410200"/>
            <a:ext cx="0" cy="1079499"/>
          </a:xfrm>
          <a:prstGeom prst="straightConnector1">
            <a:avLst/>
          </a:prstGeom>
          <a:noFill/>
          <a:ln cap="flat" cmpd="sng" w="9525">
            <a:solidFill>
              <a:schemeClr val="dk1"/>
            </a:solidFill>
            <a:prstDash val="solid"/>
            <a:miter/>
            <a:headEnd len="med" w="med" type="none"/>
            <a:tailEnd len="med" w="med" type="none"/>
          </a:ln>
        </p:spPr>
      </p:cxnSp>
      <p:cxnSp>
        <p:nvCxnSpPr>
          <p:cNvPr id="719" name="Shape 719"/>
          <p:cNvCxnSpPr/>
          <p:nvPr/>
        </p:nvCxnSpPr>
        <p:spPr>
          <a:xfrm>
            <a:off x="2743200" y="5257800"/>
            <a:ext cx="0" cy="1231899"/>
          </a:xfrm>
          <a:prstGeom prst="straightConnector1">
            <a:avLst/>
          </a:prstGeom>
          <a:noFill/>
          <a:ln cap="flat" cmpd="sng" w="9525">
            <a:solidFill>
              <a:schemeClr val="dk1"/>
            </a:solidFill>
            <a:prstDash val="solid"/>
            <a:miter/>
            <a:headEnd len="med" w="med" type="none"/>
            <a:tailEnd len="med" w="med" type="none"/>
          </a:ln>
        </p:spPr>
      </p:cxnSp>
      <p:sp>
        <p:nvSpPr>
          <p:cNvPr id="720" name="Shape 720"/>
          <p:cNvSpPr txBox="1"/>
          <p:nvPr/>
        </p:nvSpPr>
        <p:spPr>
          <a:xfrm>
            <a:off x="609600" y="1943100"/>
            <a:ext cx="11430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0" lang="en-US" sz="1200" u="none" cap="none" strike="noStrike">
                <a:solidFill>
                  <a:srgbClr val="FF0000"/>
                </a:solidFill>
                <a:latin typeface="Arial"/>
                <a:ea typeface="Arial"/>
                <a:cs typeface="Arial"/>
                <a:sym typeface="Arial"/>
              </a:rPr>
              <a:t>FACTOR Y</a:t>
            </a:r>
          </a:p>
        </p:txBody>
      </p:sp>
      <p:sp>
        <p:nvSpPr>
          <p:cNvPr id="721" name="Shape 721"/>
          <p:cNvSpPr txBox="1"/>
          <p:nvPr/>
        </p:nvSpPr>
        <p:spPr>
          <a:xfrm>
            <a:off x="6324600" y="6248400"/>
            <a:ext cx="11430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80"/>
              </a:buClr>
              <a:buSzPct val="25000"/>
              <a:buFont typeface="Arial"/>
              <a:buNone/>
            </a:pPr>
            <a:r>
              <a:rPr b="1" i="0" lang="en-US" sz="1200" u="none" cap="none" strike="noStrike">
                <a:solidFill>
                  <a:srgbClr val="000080"/>
                </a:solidFill>
                <a:latin typeface="Arial"/>
                <a:ea typeface="Arial"/>
                <a:cs typeface="Arial"/>
                <a:sym typeface="Arial"/>
              </a:rPr>
              <a:t>FACTOR X</a:t>
            </a:r>
          </a:p>
        </p:txBody>
      </p:sp>
      <p:sp>
        <p:nvSpPr>
          <p:cNvPr id="722" name="Shape 722"/>
          <p:cNvSpPr txBox="1"/>
          <p:nvPr/>
        </p:nvSpPr>
        <p:spPr>
          <a:xfrm>
            <a:off x="5181600" y="60579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1" i="0" lang="en-US" sz="1200" u="none" cap="none" strike="noStrike">
                <a:solidFill>
                  <a:srgbClr val="BB4F59"/>
                </a:solidFill>
                <a:latin typeface="Arial"/>
                <a:ea typeface="Arial"/>
                <a:cs typeface="Arial"/>
                <a:sym typeface="Arial"/>
              </a:rPr>
              <a:t>Q</a:t>
            </a:r>
          </a:p>
        </p:txBody>
      </p:sp>
      <p:sp>
        <p:nvSpPr>
          <p:cNvPr id="723" name="Shape 723"/>
          <p:cNvSpPr txBox="1"/>
          <p:nvPr/>
        </p:nvSpPr>
        <p:spPr>
          <a:xfrm>
            <a:off x="4953000" y="5715000"/>
            <a:ext cx="685799"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0" i="0" lang="en-US" sz="1200" u="none" cap="none" strike="noStrike">
                <a:solidFill>
                  <a:srgbClr val="BB4F59"/>
                </a:solidFill>
                <a:latin typeface="Arial"/>
                <a:ea typeface="Arial"/>
                <a:cs typeface="Arial"/>
                <a:sym typeface="Arial"/>
              </a:rPr>
              <a:t>1,2*Q</a:t>
            </a:r>
          </a:p>
        </p:txBody>
      </p:sp>
      <p:sp>
        <p:nvSpPr>
          <p:cNvPr id="724" name="Shape 724"/>
          <p:cNvSpPr txBox="1"/>
          <p:nvPr/>
        </p:nvSpPr>
        <p:spPr>
          <a:xfrm>
            <a:off x="4800600" y="5486400"/>
            <a:ext cx="609599"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0" i="0" lang="en-US" sz="1200" u="none" cap="none" strike="noStrike">
                <a:solidFill>
                  <a:srgbClr val="BB4F59"/>
                </a:solidFill>
                <a:latin typeface="Arial"/>
                <a:ea typeface="Arial"/>
                <a:cs typeface="Arial"/>
                <a:sym typeface="Arial"/>
              </a:rPr>
              <a:t>1,5*Q</a:t>
            </a:r>
          </a:p>
        </p:txBody>
      </p:sp>
      <p:sp>
        <p:nvSpPr>
          <p:cNvPr id="725" name="Shape 725"/>
          <p:cNvSpPr txBox="1"/>
          <p:nvPr/>
        </p:nvSpPr>
        <p:spPr>
          <a:xfrm>
            <a:off x="2057400" y="64770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X</a:t>
            </a:r>
          </a:p>
        </p:txBody>
      </p:sp>
      <p:sp>
        <p:nvSpPr>
          <p:cNvPr id="726" name="Shape 726"/>
          <p:cNvSpPr txBox="1"/>
          <p:nvPr/>
        </p:nvSpPr>
        <p:spPr>
          <a:xfrm>
            <a:off x="2286000" y="64770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2*X</a:t>
            </a:r>
          </a:p>
        </p:txBody>
      </p:sp>
      <p:sp>
        <p:nvSpPr>
          <p:cNvPr id="727" name="Shape 727"/>
          <p:cNvSpPr txBox="1"/>
          <p:nvPr/>
        </p:nvSpPr>
        <p:spPr>
          <a:xfrm>
            <a:off x="2590800" y="64770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3*X</a:t>
            </a:r>
          </a:p>
        </p:txBody>
      </p:sp>
      <p:sp>
        <p:nvSpPr>
          <p:cNvPr id="728" name="Shape 728"/>
          <p:cNvSpPr txBox="1"/>
          <p:nvPr/>
        </p:nvSpPr>
        <p:spPr>
          <a:xfrm>
            <a:off x="1219200" y="51435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3*Y</a:t>
            </a:r>
          </a:p>
        </p:txBody>
      </p:sp>
      <p:sp>
        <p:nvSpPr>
          <p:cNvPr id="729" name="Shape 729"/>
          <p:cNvSpPr txBox="1"/>
          <p:nvPr/>
        </p:nvSpPr>
        <p:spPr>
          <a:xfrm>
            <a:off x="1219200" y="53340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2*Y</a:t>
            </a:r>
          </a:p>
        </p:txBody>
      </p:sp>
      <p:sp>
        <p:nvSpPr>
          <p:cNvPr id="730" name="Shape 730"/>
          <p:cNvSpPr txBox="1"/>
          <p:nvPr/>
        </p:nvSpPr>
        <p:spPr>
          <a:xfrm>
            <a:off x="1371600" y="56007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Y</a:t>
            </a:r>
          </a:p>
        </p:txBody>
      </p:sp>
    </p:spTree>
  </p:cSld>
  <p:clrMapOvr>
    <a:masterClrMapping/>
  </p:clrMapOvr>
  <p:transition spd="slow">
    <p:cut/>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734" name="Shape 734"/>
        <p:cNvGrpSpPr/>
        <p:nvPr/>
      </p:nvGrpSpPr>
      <p:grpSpPr>
        <a:xfrm>
          <a:off x="0" y="0"/>
          <a:ext cx="0" cy="0"/>
          <a:chOff x="0" y="0"/>
          <a:chExt cx="0" cy="0"/>
        </a:xfrm>
      </p:grpSpPr>
      <p:pic>
        <p:nvPicPr>
          <p:cNvPr id="735" name="Shape 735"/>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736" name="Shape 736"/>
          <p:cNvSpPr txBox="1"/>
          <p:nvPr/>
        </p:nvSpPr>
        <p:spPr>
          <a:xfrm>
            <a:off x="4343400" y="304800"/>
            <a:ext cx="4225925"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RENDIMIENTOS A ESCALA DECRECIENTES</a:t>
            </a:r>
          </a:p>
        </p:txBody>
      </p:sp>
      <p:pic>
        <p:nvPicPr>
          <p:cNvPr id="737" name="Shape 737"/>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738" name="Shape 738"/>
          <p:cNvSpPr txBox="1"/>
          <p:nvPr/>
        </p:nvSpPr>
        <p:spPr>
          <a:xfrm>
            <a:off x="3352800" y="1371600"/>
            <a:ext cx="5714999" cy="2133599"/>
          </a:xfrm>
          <a:prstGeom prst="rect">
            <a:avLst/>
          </a:prstGeom>
          <a:noFill/>
          <a:ln>
            <a:noFill/>
          </a:ln>
        </p:spPr>
        <p:txBody>
          <a:bodyPr anchorCtr="0" anchor="ctr" bIns="0" lIns="769675" rIns="91425" tIns="45700">
            <a:noAutofit/>
          </a:bodyPr>
          <a:lstStyle/>
          <a:p>
            <a:pPr indent="-4762" lvl="3" marL="538162" marR="0" rtl="0" algn="l">
              <a:lnSpc>
                <a:spcPct val="105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Decrecientes: </a:t>
            </a:r>
            <a:r>
              <a:rPr b="0" i="0" lang="en-US" sz="1800" u="none" cap="none" strike="noStrike">
                <a:solidFill>
                  <a:schemeClr val="dk1"/>
                </a:solidFill>
                <a:latin typeface="Arial"/>
                <a:ea typeface="Arial"/>
                <a:cs typeface="Arial"/>
                <a:sym typeface="Arial"/>
              </a:rPr>
              <a:t>cuando e </a:t>
            </a:r>
            <a:r>
              <a:rPr b="0" baseline="-25000" i="0" lang="en-US" sz="1800" u="none" cap="none" strike="noStrike">
                <a:solidFill>
                  <a:schemeClr val="dk1"/>
                </a:solidFill>
                <a:latin typeface="Arial"/>
                <a:ea typeface="Arial"/>
                <a:cs typeface="Arial"/>
                <a:sym typeface="Arial"/>
              </a:rPr>
              <a:t>ST-YX</a:t>
            </a:r>
            <a:r>
              <a:rPr b="0" i="0" lang="en-US" sz="1800" u="none" cap="none" strike="noStrike">
                <a:solidFill>
                  <a:schemeClr val="dk1"/>
                </a:solidFill>
                <a:latin typeface="Arial"/>
                <a:ea typeface="Arial"/>
                <a:cs typeface="Arial"/>
                <a:sym typeface="Arial"/>
              </a:rPr>
              <a:t> &lt; 1. </a:t>
            </a:r>
          </a:p>
          <a:p>
            <a:pPr indent="-4762" lvl="3" marL="538162" marR="0" rtl="0" algn="l">
              <a:lnSpc>
                <a:spcPct val="105000"/>
              </a:lnSpc>
              <a:spcBef>
                <a:spcPts val="18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Significa que al aumentar los insumos </a:t>
            </a:r>
          </a:p>
          <a:p>
            <a:pPr indent="-4762" lvl="3" marL="538162" marR="0" rtl="0" algn="l">
              <a:lnSpc>
                <a:spcPct val="105000"/>
              </a:lnSpc>
              <a:spcBef>
                <a:spcPts val="18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en una proporción determinada, la </a:t>
            </a:r>
          </a:p>
          <a:p>
            <a:pPr indent="-4762" lvl="3" marL="538162" marR="0" rtl="0" algn="l">
              <a:lnSpc>
                <a:spcPct val="105000"/>
              </a:lnSpc>
              <a:spcBef>
                <a:spcPts val="18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producción aumenta en una proporción</a:t>
            </a:r>
          </a:p>
          <a:p>
            <a:pPr indent="-4762" lvl="3" marL="538162" marR="0" rtl="0" algn="l">
              <a:lnSpc>
                <a:spcPct val="105000"/>
              </a:lnSpc>
              <a:spcBef>
                <a:spcPts val="18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menor. </a:t>
            </a:r>
          </a:p>
          <a:p>
            <a:pPr indent="0" lvl="0" marL="0" marR="0" rtl="0" algn="l">
              <a:lnSpc>
                <a:spcPct val="100000"/>
              </a:lnSpc>
              <a:spcBef>
                <a:spcPts val="9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739" name="Shape 739"/>
          <p:cNvCxnSpPr/>
          <p:nvPr/>
        </p:nvCxnSpPr>
        <p:spPr>
          <a:xfrm rot="10800000">
            <a:off x="1600200" y="4724399"/>
            <a:ext cx="0" cy="1828800"/>
          </a:xfrm>
          <a:prstGeom prst="straightConnector1">
            <a:avLst/>
          </a:prstGeom>
          <a:noFill/>
          <a:ln cap="flat" cmpd="sng" w="25400">
            <a:solidFill>
              <a:srgbClr val="000000"/>
            </a:solidFill>
            <a:prstDash val="solid"/>
            <a:miter/>
            <a:headEnd len="med" w="med" type="none"/>
            <a:tailEnd len="lg" w="lg" type="triangle"/>
          </a:ln>
        </p:spPr>
      </p:cxnSp>
      <p:cxnSp>
        <p:nvCxnSpPr>
          <p:cNvPr id="740" name="Shape 740"/>
          <p:cNvCxnSpPr/>
          <p:nvPr/>
        </p:nvCxnSpPr>
        <p:spPr>
          <a:xfrm>
            <a:off x="1431925" y="6856411"/>
            <a:ext cx="4800600" cy="1587"/>
          </a:xfrm>
          <a:prstGeom prst="straightConnector1">
            <a:avLst/>
          </a:prstGeom>
          <a:noFill/>
          <a:ln cap="flat" cmpd="sng" w="25400">
            <a:solidFill>
              <a:srgbClr val="000000"/>
            </a:solidFill>
            <a:prstDash val="solid"/>
            <a:miter/>
            <a:headEnd len="med" w="med" type="none"/>
            <a:tailEnd len="lg" w="lg" type="triangle"/>
          </a:ln>
        </p:spPr>
      </p:cxnSp>
      <p:cxnSp>
        <p:nvCxnSpPr>
          <p:cNvPr id="741" name="Shape 741"/>
          <p:cNvCxnSpPr/>
          <p:nvPr/>
        </p:nvCxnSpPr>
        <p:spPr>
          <a:xfrm>
            <a:off x="1600200" y="6477000"/>
            <a:ext cx="1752600" cy="0"/>
          </a:xfrm>
          <a:prstGeom prst="straightConnector1">
            <a:avLst/>
          </a:prstGeom>
          <a:noFill/>
          <a:ln cap="flat" cmpd="sng" w="25400">
            <a:solidFill>
              <a:srgbClr val="000000"/>
            </a:solidFill>
            <a:prstDash val="solid"/>
            <a:miter/>
            <a:headEnd len="med" w="med" type="none"/>
            <a:tailEnd len="lg" w="lg" type="triangle"/>
          </a:ln>
        </p:spPr>
      </p:cxnSp>
      <p:cxnSp>
        <p:nvCxnSpPr>
          <p:cNvPr id="742" name="Shape 742"/>
          <p:cNvCxnSpPr/>
          <p:nvPr/>
        </p:nvCxnSpPr>
        <p:spPr>
          <a:xfrm>
            <a:off x="1600200" y="6096000"/>
            <a:ext cx="381000" cy="0"/>
          </a:xfrm>
          <a:prstGeom prst="straightConnector1">
            <a:avLst/>
          </a:prstGeom>
          <a:noFill/>
          <a:ln cap="flat" cmpd="sng" w="9525">
            <a:solidFill>
              <a:schemeClr val="dk1"/>
            </a:solidFill>
            <a:prstDash val="solid"/>
            <a:miter/>
            <a:headEnd len="med" w="med" type="none"/>
            <a:tailEnd len="med" w="med" type="none"/>
          </a:ln>
        </p:spPr>
      </p:cxnSp>
      <p:cxnSp>
        <p:nvCxnSpPr>
          <p:cNvPr id="743" name="Shape 743"/>
          <p:cNvCxnSpPr/>
          <p:nvPr/>
        </p:nvCxnSpPr>
        <p:spPr>
          <a:xfrm>
            <a:off x="1600200" y="5715000"/>
            <a:ext cx="762000" cy="0"/>
          </a:xfrm>
          <a:prstGeom prst="straightConnector1">
            <a:avLst/>
          </a:prstGeom>
          <a:noFill/>
          <a:ln cap="flat" cmpd="sng" w="9525">
            <a:solidFill>
              <a:schemeClr val="dk1"/>
            </a:solidFill>
            <a:prstDash val="solid"/>
            <a:miter/>
            <a:headEnd len="med" w="med" type="none"/>
            <a:tailEnd len="med" w="med" type="none"/>
          </a:ln>
        </p:spPr>
      </p:cxnSp>
      <p:cxnSp>
        <p:nvCxnSpPr>
          <p:cNvPr id="744" name="Shape 744"/>
          <p:cNvCxnSpPr/>
          <p:nvPr/>
        </p:nvCxnSpPr>
        <p:spPr>
          <a:xfrm>
            <a:off x="1600200" y="5334000"/>
            <a:ext cx="1143000" cy="0"/>
          </a:xfrm>
          <a:prstGeom prst="straightConnector1">
            <a:avLst/>
          </a:prstGeom>
          <a:noFill/>
          <a:ln cap="flat" cmpd="sng" w="9525">
            <a:solidFill>
              <a:schemeClr val="dk1"/>
            </a:solidFill>
            <a:prstDash val="solid"/>
            <a:miter/>
            <a:headEnd len="med" w="med" type="none"/>
            <a:tailEnd len="med" w="med" type="none"/>
          </a:ln>
        </p:spPr>
      </p:cxnSp>
      <p:cxnSp>
        <p:nvCxnSpPr>
          <p:cNvPr id="745" name="Shape 745"/>
          <p:cNvCxnSpPr/>
          <p:nvPr/>
        </p:nvCxnSpPr>
        <p:spPr>
          <a:xfrm>
            <a:off x="1981200" y="6096000"/>
            <a:ext cx="0" cy="393700"/>
          </a:xfrm>
          <a:prstGeom prst="straightConnector1">
            <a:avLst/>
          </a:prstGeom>
          <a:noFill/>
          <a:ln cap="flat" cmpd="sng" w="9525">
            <a:solidFill>
              <a:schemeClr val="dk1"/>
            </a:solidFill>
            <a:prstDash val="solid"/>
            <a:miter/>
            <a:headEnd len="med" w="med" type="none"/>
            <a:tailEnd len="med" w="med" type="none"/>
          </a:ln>
        </p:spPr>
      </p:cxnSp>
      <p:cxnSp>
        <p:nvCxnSpPr>
          <p:cNvPr id="746" name="Shape 746"/>
          <p:cNvCxnSpPr/>
          <p:nvPr/>
        </p:nvCxnSpPr>
        <p:spPr>
          <a:xfrm>
            <a:off x="2362200" y="5715000"/>
            <a:ext cx="0" cy="774700"/>
          </a:xfrm>
          <a:prstGeom prst="straightConnector1">
            <a:avLst/>
          </a:prstGeom>
          <a:noFill/>
          <a:ln cap="flat" cmpd="sng" w="9525">
            <a:solidFill>
              <a:schemeClr val="dk1"/>
            </a:solidFill>
            <a:prstDash val="solid"/>
            <a:miter/>
            <a:headEnd len="med" w="med" type="none"/>
            <a:tailEnd len="med" w="med" type="none"/>
          </a:ln>
        </p:spPr>
      </p:cxnSp>
      <p:cxnSp>
        <p:nvCxnSpPr>
          <p:cNvPr id="747" name="Shape 747"/>
          <p:cNvCxnSpPr/>
          <p:nvPr/>
        </p:nvCxnSpPr>
        <p:spPr>
          <a:xfrm>
            <a:off x="2743200" y="5334000"/>
            <a:ext cx="0" cy="1155700"/>
          </a:xfrm>
          <a:prstGeom prst="straightConnector1">
            <a:avLst/>
          </a:prstGeom>
          <a:noFill/>
          <a:ln cap="flat" cmpd="sng" w="9525">
            <a:solidFill>
              <a:schemeClr val="dk1"/>
            </a:solidFill>
            <a:prstDash val="solid"/>
            <a:miter/>
            <a:headEnd len="med" w="med" type="none"/>
            <a:tailEnd len="med" w="med" type="none"/>
          </a:ln>
        </p:spPr>
      </p:cxnSp>
      <p:sp>
        <p:nvSpPr>
          <p:cNvPr id="748" name="Shape 748"/>
          <p:cNvSpPr txBox="1"/>
          <p:nvPr/>
        </p:nvSpPr>
        <p:spPr>
          <a:xfrm>
            <a:off x="152400" y="4648200"/>
            <a:ext cx="12954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0" lang="en-US" sz="1200" u="none" cap="none" strike="noStrike">
                <a:solidFill>
                  <a:srgbClr val="FF0000"/>
                </a:solidFill>
                <a:latin typeface="Arial"/>
                <a:ea typeface="Arial"/>
                <a:cs typeface="Arial"/>
                <a:sym typeface="Arial"/>
              </a:rPr>
              <a:t>PRODUCCIÓN</a:t>
            </a:r>
          </a:p>
        </p:txBody>
      </p:sp>
      <p:sp>
        <p:nvSpPr>
          <p:cNvPr id="749" name="Shape 749"/>
          <p:cNvSpPr txBox="1"/>
          <p:nvPr/>
        </p:nvSpPr>
        <p:spPr>
          <a:xfrm>
            <a:off x="3124200" y="6172200"/>
            <a:ext cx="11430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80"/>
              </a:buClr>
              <a:buSzPct val="25000"/>
              <a:buFont typeface="Arial"/>
              <a:buNone/>
            </a:pPr>
            <a:r>
              <a:rPr b="1" i="0" lang="en-US" sz="1200" u="none" cap="none" strike="noStrike">
                <a:solidFill>
                  <a:srgbClr val="000080"/>
                </a:solidFill>
                <a:latin typeface="Arial"/>
                <a:ea typeface="Arial"/>
                <a:cs typeface="Arial"/>
                <a:sym typeface="Arial"/>
              </a:rPr>
              <a:t>ESCALAS</a:t>
            </a:r>
          </a:p>
        </p:txBody>
      </p:sp>
      <p:sp>
        <p:nvSpPr>
          <p:cNvPr id="750" name="Shape 750"/>
          <p:cNvSpPr txBox="1"/>
          <p:nvPr/>
        </p:nvSpPr>
        <p:spPr>
          <a:xfrm>
            <a:off x="1828800" y="64389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1</a:t>
            </a:r>
          </a:p>
        </p:txBody>
      </p:sp>
      <p:sp>
        <p:nvSpPr>
          <p:cNvPr id="751" name="Shape 751"/>
          <p:cNvSpPr txBox="1"/>
          <p:nvPr/>
        </p:nvSpPr>
        <p:spPr>
          <a:xfrm>
            <a:off x="2209800" y="64389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2</a:t>
            </a:r>
          </a:p>
        </p:txBody>
      </p:sp>
      <p:sp>
        <p:nvSpPr>
          <p:cNvPr id="752" name="Shape 752"/>
          <p:cNvSpPr txBox="1"/>
          <p:nvPr/>
        </p:nvSpPr>
        <p:spPr>
          <a:xfrm>
            <a:off x="2590800" y="64389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3</a:t>
            </a:r>
          </a:p>
        </p:txBody>
      </p:sp>
      <p:sp>
        <p:nvSpPr>
          <p:cNvPr id="753" name="Shape 753"/>
          <p:cNvSpPr txBox="1"/>
          <p:nvPr/>
        </p:nvSpPr>
        <p:spPr>
          <a:xfrm>
            <a:off x="1219200" y="51435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3*Q</a:t>
            </a:r>
          </a:p>
        </p:txBody>
      </p:sp>
      <p:sp>
        <p:nvSpPr>
          <p:cNvPr id="754" name="Shape 754"/>
          <p:cNvSpPr txBox="1"/>
          <p:nvPr/>
        </p:nvSpPr>
        <p:spPr>
          <a:xfrm>
            <a:off x="1219200" y="55626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2*Q</a:t>
            </a:r>
          </a:p>
        </p:txBody>
      </p:sp>
      <p:sp>
        <p:nvSpPr>
          <p:cNvPr id="755" name="Shape 755"/>
          <p:cNvSpPr txBox="1"/>
          <p:nvPr/>
        </p:nvSpPr>
        <p:spPr>
          <a:xfrm>
            <a:off x="1371600" y="59817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Q</a:t>
            </a:r>
          </a:p>
        </p:txBody>
      </p:sp>
      <p:sp>
        <p:nvSpPr>
          <p:cNvPr id="756" name="Shape 756"/>
          <p:cNvSpPr/>
          <p:nvPr/>
        </p:nvSpPr>
        <p:spPr>
          <a:xfrm>
            <a:off x="1600200" y="5486400"/>
            <a:ext cx="1625600" cy="990600"/>
          </a:xfrm>
          <a:custGeom>
            <a:pathLst>
              <a:path extrusionOk="0" h="624" w="1024">
                <a:moveTo>
                  <a:pt x="0" y="624"/>
                </a:moveTo>
                <a:cubicBezTo>
                  <a:pt x="80" y="536"/>
                  <a:pt x="160" y="452"/>
                  <a:pt x="240" y="384"/>
                </a:cubicBezTo>
                <a:cubicBezTo>
                  <a:pt x="320" y="316"/>
                  <a:pt x="399" y="263"/>
                  <a:pt x="480" y="216"/>
                </a:cubicBezTo>
                <a:cubicBezTo>
                  <a:pt x="561" y="169"/>
                  <a:pt x="637" y="140"/>
                  <a:pt x="728" y="104"/>
                </a:cubicBezTo>
                <a:cubicBezTo>
                  <a:pt x="819" y="68"/>
                  <a:pt x="962" y="22"/>
                  <a:pt x="1024" y="0"/>
                </a:cubicBezTo>
              </a:path>
            </a:pathLst>
          </a:custGeom>
          <a:no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757" name="Shape 757"/>
          <p:cNvCxnSpPr/>
          <p:nvPr/>
        </p:nvCxnSpPr>
        <p:spPr>
          <a:xfrm rot="10800000">
            <a:off x="4572000" y="4724399"/>
            <a:ext cx="0" cy="1828800"/>
          </a:xfrm>
          <a:prstGeom prst="straightConnector1">
            <a:avLst/>
          </a:prstGeom>
          <a:noFill/>
          <a:ln cap="flat" cmpd="sng" w="25400">
            <a:solidFill>
              <a:srgbClr val="000000"/>
            </a:solidFill>
            <a:prstDash val="solid"/>
            <a:miter/>
            <a:headEnd len="med" w="med" type="none"/>
            <a:tailEnd len="lg" w="lg" type="triangle"/>
          </a:ln>
        </p:spPr>
      </p:cxnSp>
      <p:sp>
        <p:nvSpPr>
          <p:cNvPr id="758" name="Shape 758"/>
          <p:cNvSpPr txBox="1"/>
          <p:nvPr/>
        </p:nvSpPr>
        <p:spPr>
          <a:xfrm>
            <a:off x="3200400" y="4686300"/>
            <a:ext cx="12954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0" lang="en-US" sz="1200" u="none" cap="none" strike="noStrike">
                <a:solidFill>
                  <a:srgbClr val="FF0000"/>
                </a:solidFill>
                <a:latin typeface="Arial"/>
                <a:ea typeface="Arial"/>
                <a:cs typeface="Arial"/>
                <a:sym typeface="Arial"/>
              </a:rPr>
              <a:t>COSTO MEDIO</a:t>
            </a:r>
          </a:p>
          <a:p>
            <a:pPr indent="0" lvl="0" marL="0" marR="0" rtl="0" algn="l">
              <a:lnSpc>
                <a:spcPct val="100000"/>
              </a:lnSpc>
              <a:spcBef>
                <a:spcPts val="0"/>
              </a:spcBef>
              <a:spcAft>
                <a:spcPts val="0"/>
              </a:spcAft>
              <a:buClr>
                <a:srgbClr val="FF0000"/>
              </a:buClr>
              <a:buSzPct val="25000"/>
              <a:buFont typeface="Arial"/>
              <a:buNone/>
            </a:pPr>
            <a:r>
              <a:rPr b="1" i="0" lang="en-US" sz="1200" u="none" cap="none" strike="noStrike">
                <a:solidFill>
                  <a:srgbClr val="FF0000"/>
                </a:solidFill>
                <a:latin typeface="Arial"/>
                <a:ea typeface="Arial"/>
                <a:cs typeface="Arial"/>
                <a:sym typeface="Arial"/>
              </a:rPr>
              <a:t>LARGO PLAZO</a:t>
            </a:r>
          </a:p>
        </p:txBody>
      </p:sp>
      <p:cxnSp>
        <p:nvCxnSpPr>
          <p:cNvPr id="759" name="Shape 759"/>
          <p:cNvCxnSpPr/>
          <p:nvPr/>
        </p:nvCxnSpPr>
        <p:spPr>
          <a:xfrm>
            <a:off x="4572000" y="6477000"/>
            <a:ext cx="1752600" cy="0"/>
          </a:xfrm>
          <a:prstGeom prst="straightConnector1">
            <a:avLst/>
          </a:prstGeom>
          <a:noFill/>
          <a:ln cap="flat" cmpd="sng" w="25400">
            <a:solidFill>
              <a:srgbClr val="000000"/>
            </a:solidFill>
            <a:prstDash val="solid"/>
            <a:miter/>
            <a:headEnd len="med" w="med" type="none"/>
            <a:tailEnd len="lg" w="lg" type="triangle"/>
          </a:ln>
        </p:spPr>
      </p:cxnSp>
      <p:sp>
        <p:nvSpPr>
          <p:cNvPr id="760" name="Shape 760"/>
          <p:cNvSpPr txBox="1"/>
          <p:nvPr/>
        </p:nvSpPr>
        <p:spPr>
          <a:xfrm>
            <a:off x="6400800" y="6324600"/>
            <a:ext cx="12954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0" lang="en-US" sz="1200" u="none" cap="none" strike="noStrike">
                <a:solidFill>
                  <a:srgbClr val="FF0000"/>
                </a:solidFill>
                <a:latin typeface="Arial"/>
                <a:ea typeface="Arial"/>
                <a:cs typeface="Arial"/>
                <a:sym typeface="Arial"/>
              </a:rPr>
              <a:t>PRODUCCIÓN</a:t>
            </a:r>
          </a:p>
        </p:txBody>
      </p:sp>
      <p:sp>
        <p:nvSpPr>
          <p:cNvPr id="761" name="Shape 761"/>
          <p:cNvSpPr/>
          <p:nvPr/>
        </p:nvSpPr>
        <p:spPr>
          <a:xfrm>
            <a:off x="4572000" y="5232400"/>
            <a:ext cx="1677986" cy="1244600"/>
          </a:xfrm>
          <a:custGeom>
            <a:pathLst>
              <a:path extrusionOk="0" h="784" w="1057">
                <a:moveTo>
                  <a:pt x="1057" y="0"/>
                </a:moveTo>
                <a:cubicBezTo>
                  <a:pt x="1021" y="59"/>
                  <a:pt x="924" y="256"/>
                  <a:pt x="841" y="352"/>
                </a:cubicBezTo>
                <a:cubicBezTo>
                  <a:pt x="758" y="448"/>
                  <a:pt x="650" y="519"/>
                  <a:pt x="561" y="576"/>
                </a:cubicBezTo>
                <a:cubicBezTo>
                  <a:pt x="472" y="633"/>
                  <a:pt x="399" y="661"/>
                  <a:pt x="305" y="696"/>
                </a:cubicBezTo>
                <a:cubicBezTo>
                  <a:pt x="211" y="731"/>
                  <a:pt x="64" y="766"/>
                  <a:pt x="0" y="784"/>
                </a:cubicBezTo>
              </a:path>
            </a:pathLst>
          </a:custGeom>
          <a:no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2" name="Shape 762"/>
          <p:cNvSpPr txBox="1"/>
          <p:nvPr/>
        </p:nvSpPr>
        <p:spPr>
          <a:xfrm>
            <a:off x="4800600" y="64389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Q</a:t>
            </a:r>
          </a:p>
        </p:txBody>
      </p:sp>
      <p:sp>
        <p:nvSpPr>
          <p:cNvPr id="763" name="Shape 763"/>
          <p:cNvSpPr txBox="1"/>
          <p:nvPr/>
        </p:nvSpPr>
        <p:spPr>
          <a:xfrm>
            <a:off x="5257800" y="64389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2*Q</a:t>
            </a:r>
          </a:p>
        </p:txBody>
      </p:sp>
      <p:sp>
        <p:nvSpPr>
          <p:cNvPr id="764" name="Shape 764"/>
          <p:cNvSpPr txBox="1"/>
          <p:nvPr/>
        </p:nvSpPr>
        <p:spPr>
          <a:xfrm>
            <a:off x="5867400" y="6438900"/>
            <a:ext cx="457200" cy="3428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3*Q</a:t>
            </a:r>
          </a:p>
        </p:txBody>
      </p:sp>
    </p:spTree>
  </p:cSld>
  <p:clrMapOvr>
    <a:masterClrMapping/>
  </p:clrMapOvr>
  <p:transition spd="slow">
    <p:cut/>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768" name="Shape 768"/>
        <p:cNvGrpSpPr/>
        <p:nvPr/>
      </p:nvGrpSpPr>
      <p:grpSpPr>
        <a:xfrm>
          <a:off x="0" y="0"/>
          <a:ext cx="0" cy="0"/>
          <a:chOff x="0" y="0"/>
          <a:chExt cx="0" cy="0"/>
        </a:xfrm>
      </p:grpSpPr>
      <p:pic>
        <p:nvPicPr>
          <p:cNvPr id="769" name="Shape 769"/>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770" name="Shape 770"/>
          <p:cNvSpPr txBox="1"/>
          <p:nvPr/>
        </p:nvSpPr>
        <p:spPr>
          <a:xfrm>
            <a:off x="3505200" y="304800"/>
            <a:ext cx="5368924"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COSTO MEDIO DE LARGO PLAZO</a:t>
            </a:r>
          </a:p>
        </p:txBody>
      </p:sp>
      <p:pic>
        <p:nvPicPr>
          <p:cNvPr id="771" name="Shape 771"/>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grpSp>
        <p:nvGrpSpPr>
          <p:cNvPr id="772" name="Shape 772"/>
          <p:cNvGrpSpPr/>
          <p:nvPr/>
        </p:nvGrpSpPr>
        <p:grpSpPr>
          <a:xfrm>
            <a:off x="857014" y="1738745"/>
            <a:ext cx="7595540" cy="4294909"/>
            <a:chOff x="3025775" y="10836275"/>
            <a:chExt cx="13982699" cy="5715000"/>
          </a:xfrm>
        </p:grpSpPr>
        <p:cxnSp>
          <p:nvCxnSpPr>
            <p:cNvPr id="773" name="Shape 773"/>
            <p:cNvCxnSpPr/>
            <p:nvPr/>
          </p:nvCxnSpPr>
          <p:spPr>
            <a:xfrm flipH="1" rot="10800000">
              <a:off x="4721225" y="10836275"/>
              <a:ext cx="1587" cy="5714999"/>
            </a:xfrm>
            <a:prstGeom prst="straightConnector1">
              <a:avLst/>
            </a:prstGeom>
            <a:noFill/>
            <a:ln cap="flat" cmpd="sng" w="25400">
              <a:solidFill>
                <a:srgbClr val="000000"/>
              </a:solidFill>
              <a:prstDash val="solid"/>
              <a:miter/>
              <a:headEnd len="med" w="med" type="none"/>
              <a:tailEnd len="lg" w="lg" type="triangle"/>
            </a:ln>
          </p:spPr>
        </p:cxnSp>
        <p:cxnSp>
          <p:nvCxnSpPr>
            <p:cNvPr id="774" name="Shape 774"/>
            <p:cNvCxnSpPr/>
            <p:nvPr/>
          </p:nvCxnSpPr>
          <p:spPr>
            <a:xfrm>
              <a:off x="4721225" y="16551275"/>
              <a:ext cx="11144250" cy="0"/>
            </a:xfrm>
            <a:prstGeom prst="straightConnector1">
              <a:avLst/>
            </a:prstGeom>
            <a:noFill/>
            <a:ln cap="flat" cmpd="sng" w="25400">
              <a:solidFill>
                <a:srgbClr val="000000"/>
              </a:solidFill>
              <a:prstDash val="solid"/>
              <a:miter/>
              <a:headEnd len="med" w="med" type="none"/>
              <a:tailEnd len="lg" w="lg" type="triangle"/>
            </a:ln>
          </p:spPr>
        </p:cxnSp>
        <p:sp>
          <p:nvSpPr>
            <p:cNvPr id="775" name="Shape 775"/>
            <p:cNvSpPr/>
            <p:nvPr/>
          </p:nvSpPr>
          <p:spPr>
            <a:xfrm>
              <a:off x="5006975" y="11072811"/>
              <a:ext cx="10661650" cy="3694112"/>
            </a:xfrm>
            <a:custGeom>
              <a:pathLst>
                <a:path extrusionOk="0" h="2327" w="6716">
                  <a:moveTo>
                    <a:pt x="0" y="448"/>
                  </a:moveTo>
                  <a:cubicBezTo>
                    <a:pt x="90" y="587"/>
                    <a:pt x="208" y="707"/>
                    <a:pt x="360" y="865"/>
                  </a:cubicBezTo>
                  <a:cubicBezTo>
                    <a:pt x="512" y="1023"/>
                    <a:pt x="697" y="1227"/>
                    <a:pt x="911" y="1395"/>
                  </a:cubicBezTo>
                  <a:cubicBezTo>
                    <a:pt x="1125" y="1563"/>
                    <a:pt x="1348" y="1737"/>
                    <a:pt x="1646" y="1875"/>
                  </a:cubicBezTo>
                  <a:cubicBezTo>
                    <a:pt x="1944" y="2013"/>
                    <a:pt x="2328" y="2150"/>
                    <a:pt x="2696" y="2220"/>
                  </a:cubicBezTo>
                  <a:cubicBezTo>
                    <a:pt x="3064" y="2290"/>
                    <a:pt x="3491" y="2327"/>
                    <a:pt x="3851" y="2295"/>
                  </a:cubicBezTo>
                  <a:cubicBezTo>
                    <a:pt x="4211" y="2263"/>
                    <a:pt x="4561" y="2152"/>
                    <a:pt x="4856" y="2025"/>
                  </a:cubicBezTo>
                  <a:cubicBezTo>
                    <a:pt x="5151" y="1898"/>
                    <a:pt x="5434" y="1667"/>
                    <a:pt x="5621" y="1530"/>
                  </a:cubicBezTo>
                  <a:cubicBezTo>
                    <a:pt x="5808" y="1393"/>
                    <a:pt x="5876" y="1315"/>
                    <a:pt x="5981" y="1200"/>
                  </a:cubicBezTo>
                  <a:cubicBezTo>
                    <a:pt x="6086" y="1085"/>
                    <a:pt x="6166" y="960"/>
                    <a:pt x="6251" y="840"/>
                  </a:cubicBezTo>
                  <a:cubicBezTo>
                    <a:pt x="6336" y="720"/>
                    <a:pt x="6414" y="620"/>
                    <a:pt x="6491" y="480"/>
                  </a:cubicBezTo>
                  <a:cubicBezTo>
                    <a:pt x="6568" y="340"/>
                    <a:pt x="6669" y="100"/>
                    <a:pt x="6716" y="0"/>
                  </a:cubicBezTo>
                </a:path>
              </a:pathLst>
            </a:custGeom>
            <a:noFill/>
            <a:ln cap="flat" cmpd="sng" w="25400">
              <a:solidFill>
                <a:srgbClr val="008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6" name="Shape 776"/>
            <p:cNvSpPr txBox="1"/>
            <p:nvPr/>
          </p:nvSpPr>
          <p:spPr>
            <a:xfrm>
              <a:off x="3025775" y="10836275"/>
              <a:ext cx="1695450" cy="2000250"/>
            </a:xfrm>
            <a:prstGeom prst="rect">
              <a:avLst/>
            </a:prstGeom>
            <a:noFill/>
            <a:ln>
              <a:noFill/>
            </a:ln>
          </p:spPr>
          <p:txBody>
            <a:bodyPr anchorCtr="0" anchor="t" bIns="40650" lIns="81300" rIns="81300" tIns="40650">
              <a:noAutofit/>
            </a:bodyPr>
            <a:lstStyle/>
            <a:p>
              <a:pPr indent="0" lvl="0" marL="0" marR="0" rtl="0" algn="l">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COSTO</a:t>
              </a:r>
            </a:p>
            <a:p>
              <a:pPr indent="0" lvl="0" marL="0" marR="0" rtl="0" algn="l">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MEDIO</a:t>
              </a:r>
            </a:p>
            <a:p>
              <a:pPr indent="0" lvl="0" marL="0" marR="0" rtl="0" algn="l">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LARGO</a:t>
              </a:r>
            </a:p>
            <a:p>
              <a:pPr indent="0" lvl="0" marL="0" marR="0" rtl="0" algn="l">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PLAZO</a:t>
              </a:r>
            </a:p>
          </p:txBody>
        </p:sp>
        <p:sp>
          <p:nvSpPr>
            <p:cNvPr id="777" name="Shape 777"/>
            <p:cNvSpPr txBox="1"/>
            <p:nvPr/>
          </p:nvSpPr>
          <p:spPr>
            <a:xfrm>
              <a:off x="14436725" y="15408275"/>
              <a:ext cx="2571749" cy="11430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CANTIDAD PRODUCIDA A LARGO PLAZO</a:t>
              </a:r>
            </a:p>
          </p:txBody>
        </p:sp>
      </p:grpSp>
      <p:sp>
        <p:nvSpPr>
          <p:cNvPr id="778" name="Shape 778"/>
          <p:cNvSpPr txBox="1"/>
          <p:nvPr/>
        </p:nvSpPr>
        <p:spPr>
          <a:xfrm flipH="1" rot="2880000">
            <a:off x="1881187" y="3275012"/>
            <a:ext cx="1903411" cy="274637"/>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ECONOMIAS A ESCALA</a:t>
            </a:r>
          </a:p>
        </p:txBody>
      </p:sp>
      <p:sp>
        <p:nvSpPr>
          <p:cNvPr id="779" name="Shape 779"/>
          <p:cNvSpPr txBox="1"/>
          <p:nvPr/>
        </p:nvSpPr>
        <p:spPr>
          <a:xfrm rot="-3660000">
            <a:off x="5887242" y="2799555"/>
            <a:ext cx="2216150"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DESECONOMIAS A ESCALA</a:t>
            </a:r>
          </a:p>
        </p:txBody>
      </p:sp>
      <p:sp>
        <p:nvSpPr>
          <p:cNvPr id="780" name="Shape 780"/>
          <p:cNvSpPr txBox="1"/>
          <p:nvPr/>
        </p:nvSpPr>
        <p:spPr>
          <a:xfrm>
            <a:off x="3176586" y="4678362"/>
            <a:ext cx="3224211"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200" u="none" cap="none" strike="noStrike">
                <a:solidFill>
                  <a:schemeClr val="dk1"/>
                </a:solidFill>
                <a:latin typeface="Arial"/>
                <a:ea typeface="Arial"/>
                <a:cs typeface="Arial"/>
                <a:sym typeface="Arial"/>
              </a:rPr>
              <a:t>RENDIMIENTOS CONSTANTES A ESCALA</a:t>
            </a:r>
          </a:p>
        </p:txBody>
      </p:sp>
    </p:spTree>
  </p:cSld>
  <p:clrMapOvr>
    <a:masterClrMapping/>
  </p:clrMapOvr>
  <p:transition spd="slow">
    <p:cut/>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784" name="Shape 784"/>
        <p:cNvGrpSpPr/>
        <p:nvPr/>
      </p:nvGrpSpPr>
      <p:grpSpPr>
        <a:xfrm>
          <a:off x="0" y="0"/>
          <a:ext cx="0" cy="0"/>
          <a:chOff x="0" y="0"/>
          <a:chExt cx="0" cy="0"/>
        </a:xfrm>
      </p:grpSpPr>
      <p:pic>
        <p:nvPicPr>
          <p:cNvPr id="785" name="Shape 785"/>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786" name="Shape 786"/>
          <p:cNvSpPr txBox="1"/>
          <p:nvPr/>
        </p:nvSpPr>
        <p:spPr>
          <a:xfrm>
            <a:off x="3429000" y="152400"/>
            <a:ext cx="5445124"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ECONOMÍAS Y DESECONOMÍAS DE ESCALA</a:t>
            </a:r>
          </a:p>
        </p:txBody>
      </p:sp>
      <p:pic>
        <p:nvPicPr>
          <p:cNvPr id="787" name="Shape 787"/>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788" name="Shape 788"/>
          <p:cNvSpPr txBox="1"/>
          <p:nvPr/>
        </p:nvSpPr>
        <p:spPr>
          <a:xfrm>
            <a:off x="361950" y="2041525"/>
            <a:ext cx="7791450" cy="64135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El </a:t>
            </a:r>
            <a:r>
              <a:rPr b="1" i="0" lang="en-US" sz="1800" u="none" cap="none" strike="noStrike">
                <a:solidFill>
                  <a:schemeClr val="dk1"/>
                </a:solidFill>
                <a:latin typeface="Arial"/>
                <a:ea typeface="Arial"/>
                <a:cs typeface="Arial"/>
                <a:sym typeface="Arial"/>
              </a:rPr>
              <a:t>tramo descendente de la curva de costos totales medios a l/p</a:t>
            </a:r>
            <a:r>
              <a:rPr b="0" i="0" lang="en-US" sz="1800" u="none" cap="none" strike="noStrike">
                <a:solidFill>
                  <a:schemeClr val="dk1"/>
                </a:solidFill>
                <a:latin typeface="Arial"/>
                <a:ea typeface="Arial"/>
                <a:cs typeface="Arial"/>
                <a:sym typeface="Arial"/>
              </a:rPr>
              <a:t> </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corresponde a niveles de actividad en los que hay </a:t>
            </a:r>
            <a:r>
              <a:rPr b="1" i="0" lang="en-US" sz="1800" u="none" cap="none" strike="noStrike">
                <a:solidFill>
                  <a:srgbClr val="FF0000"/>
                </a:solidFill>
                <a:latin typeface="Arial"/>
                <a:ea typeface="Arial"/>
                <a:cs typeface="Arial"/>
                <a:sym typeface="Arial"/>
              </a:rPr>
              <a:t>economías de escalas</a:t>
            </a:r>
            <a:r>
              <a:rPr b="0" i="0" lang="en-US" sz="1800" u="none" cap="none" strike="noStrike">
                <a:solidFill>
                  <a:schemeClr val="dk1"/>
                </a:solidFill>
                <a:latin typeface="Arial"/>
                <a:ea typeface="Arial"/>
                <a:cs typeface="Arial"/>
                <a:sym typeface="Arial"/>
              </a:rPr>
              <a:t> </a:t>
            </a:r>
          </a:p>
        </p:txBody>
      </p:sp>
      <p:sp>
        <p:nvSpPr>
          <p:cNvPr id="789" name="Shape 789"/>
          <p:cNvSpPr txBox="1"/>
          <p:nvPr/>
        </p:nvSpPr>
        <p:spPr>
          <a:xfrm>
            <a:off x="381000" y="3182936"/>
            <a:ext cx="8385174" cy="64135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En el </a:t>
            </a:r>
            <a:r>
              <a:rPr b="1" i="0" lang="en-US" sz="1800" u="none" cap="none" strike="noStrike">
                <a:solidFill>
                  <a:schemeClr val="dk1"/>
                </a:solidFill>
                <a:latin typeface="Arial"/>
                <a:ea typeface="Arial"/>
                <a:cs typeface="Arial"/>
                <a:sym typeface="Arial"/>
              </a:rPr>
              <a:t>tramo plano </a:t>
            </a:r>
            <a:r>
              <a:rPr b="0" i="0" lang="en-US" sz="1800" u="none" cap="none" strike="noStrike">
                <a:solidFill>
                  <a:schemeClr val="dk1"/>
                </a:solidFill>
                <a:latin typeface="Arial"/>
                <a:ea typeface="Arial"/>
                <a:cs typeface="Arial"/>
                <a:sym typeface="Arial"/>
              </a:rPr>
              <a:t>hay </a:t>
            </a:r>
            <a:r>
              <a:rPr b="1" i="0" lang="en-US" sz="1800" u="none" cap="none" strike="noStrike">
                <a:solidFill>
                  <a:schemeClr val="dk1"/>
                </a:solidFill>
                <a:latin typeface="Arial"/>
                <a:ea typeface="Arial"/>
                <a:cs typeface="Arial"/>
                <a:sym typeface="Arial"/>
              </a:rPr>
              <a:t>rendimientos constantes</a:t>
            </a:r>
            <a:r>
              <a:rPr b="0" i="0" lang="en-US" sz="1800" u="none" cap="none" strike="noStrike">
                <a:solidFill>
                  <a:schemeClr val="dk1"/>
                </a:solidFill>
                <a:latin typeface="Arial"/>
                <a:ea typeface="Arial"/>
                <a:cs typeface="Arial"/>
                <a:sym typeface="Arial"/>
              </a:rPr>
              <a:t> a escala, han desaparecido ya las economías a escala, pero la empresa </a:t>
            </a:r>
            <a:r>
              <a:rPr b="1" i="1" lang="en-US" sz="1800" u="none" cap="none" strike="noStrike">
                <a:solidFill>
                  <a:srgbClr val="FF0000"/>
                </a:solidFill>
                <a:latin typeface="Arial"/>
                <a:ea typeface="Arial"/>
                <a:cs typeface="Arial"/>
                <a:sym typeface="Arial"/>
              </a:rPr>
              <a:t>mantiene su nivel de eficiencia.</a:t>
            </a:r>
            <a:r>
              <a:rPr b="0" i="0" lang="en-US" sz="1800" u="none" cap="none" strike="noStrike">
                <a:solidFill>
                  <a:schemeClr val="dk1"/>
                </a:solidFill>
                <a:latin typeface="Arial"/>
                <a:ea typeface="Arial"/>
                <a:cs typeface="Arial"/>
                <a:sym typeface="Arial"/>
              </a:rPr>
              <a:t> </a:t>
            </a:r>
          </a:p>
        </p:txBody>
      </p:sp>
      <p:sp>
        <p:nvSpPr>
          <p:cNvPr id="790" name="Shape 790"/>
          <p:cNvSpPr txBox="1"/>
          <p:nvPr/>
        </p:nvSpPr>
        <p:spPr>
          <a:xfrm>
            <a:off x="381000" y="4614862"/>
            <a:ext cx="8493124" cy="1190624"/>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En el</a:t>
            </a:r>
            <a:r>
              <a:rPr b="1" i="0" lang="en-US" sz="1800" u="none" cap="none" strike="noStrike">
                <a:solidFill>
                  <a:schemeClr val="dk1"/>
                </a:solidFill>
                <a:latin typeface="Arial"/>
                <a:ea typeface="Arial"/>
                <a:cs typeface="Arial"/>
                <a:sym typeface="Arial"/>
              </a:rPr>
              <a:t> tramo ascendente</a:t>
            </a:r>
            <a:r>
              <a:rPr b="0" i="0" lang="en-US" sz="1800" u="none" cap="none" strike="noStrike">
                <a:solidFill>
                  <a:schemeClr val="dk1"/>
                </a:solidFill>
                <a:latin typeface="Arial"/>
                <a:ea typeface="Arial"/>
                <a:cs typeface="Arial"/>
                <a:sym typeface="Arial"/>
              </a:rPr>
              <a:t> hay </a:t>
            </a:r>
            <a:r>
              <a:rPr b="1" i="1" lang="en-US" sz="1800" u="none" cap="none" strike="noStrike">
                <a:solidFill>
                  <a:srgbClr val="FF0000"/>
                </a:solidFill>
                <a:latin typeface="Arial"/>
                <a:ea typeface="Arial"/>
                <a:cs typeface="Arial"/>
                <a:sym typeface="Arial"/>
              </a:rPr>
              <a:t>deseconomías de escala</a:t>
            </a:r>
            <a:r>
              <a:rPr b="0" i="0" lang="en-US" sz="1800" u="none" cap="none" strike="noStrike">
                <a:solidFill>
                  <a:schemeClr val="dk1"/>
                </a:solidFill>
                <a:latin typeface="Arial"/>
                <a:ea typeface="Arial"/>
                <a:cs typeface="Arial"/>
                <a:sym typeface="Arial"/>
              </a:rPr>
              <a:t>, el elevado volumen de actividad perjudica la eficiencia, elevando el costo medio por unidad de producto. </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Las causas pueden ser múltiples (se complica la toma de decisiones, se burocratiza la empresa, se producen solapamientos de funciones, etc.). </a:t>
            </a:r>
          </a:p>
        </p:txBody>
      </p:sp>
    </p:spTree>
  </p:cSld>
  <p:clrMapOvr>
    <a:masterClrMapping/>
  </p:clrMapOvr>
  <p:transition spd="slow">
    <p:cut/>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794" name="Shape 794"/>
        <p:cNvGrpSpPr/>
        <p:nvPr/>
      </p:nvGrpSpPr>
      <p:grpSpPr>
        <a:xfrm>
          <a:off x="0" y="0"/>
          <a:ext cx="0" cy="0"/>
          <a:chOff x="0" y="0"/>
          <a:chExt cx="0" cy="0"/>
        </a:xfrm>
      </p:grpSpPr>
      <p:pic>
        <p:nvPicPr>
          <p:cNvPr id="795" name="Shape 795"/>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796" name="Shape 796"/>
          <p:cNvSpPr txBox="1"/>
          <p:nvPr/>
        </p:nvSpPr>
        <p:spPr>
          <a:xfrm>
            <a:off x="3487737" y="304800"/>
            <a:ext cx="5046662"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ECONOMIAS DE ESCALA</a:t>
            </a:r>
          </a:p>
        </p:txBody>
      </p:sp>
      <p:pic>
        <p:nvPicPr>
          <p:cNvPr id="797" name="Shape 797"/>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grpSp>
        <p:nvGrpSpPr>
          <p:cNvPr id="798" name="Shape 798"/>
          <p:cNvGrpSpPr/>
          <p:nvPr/>
        </p:nvGrpSpPr>
        <p:grpSpPr>
          <a:xfrm>
            <a:off x="902922" y="1749136"/>
            <a:ext cx="7112187" cy="4502727"/>
            <a:chOff x="3025775" y="10836275"/>
            <a:chExt cx="13982699" cy="5715000"/>
          </a:xfrm>
        </p:grpSpPr>
        <p:cxnSp>
          <p:nvCxnSpPr>
            <p:cNvPr id="799" name="Shape 799"/>
            <p:cNvCxnSpPr/>
            <p:nvPr/>
          </p:nvCxnSpPr>
          <p:spPr>
            <a:xfrm flipH="1" rot="10800000">
              <a:off x="4721225" y="10836275"/>
              <a:ext cx="1587" cy="5714999"/>
            </a:xfrm>
            <a:prstGeom prst="straightConnector1">
              <a:avLst/>
            </a:prstGeom>
            <a:noFill/>
            <a:ln cap="flat" cmpd="sng" w="25400">
              <a:solidFill>
                <a:srgbClr val="000000"/>
              </a:solidFill>
              <a:prstDash val="solid"/>
              <a:miter/>
              <a:headEnd len="med" w="med" type="none"/>
              <a:tailEnd len="lg" w="lg" type="triangle"/>
            </a:ln>
          </p:spPr>
        </p:cxnSp>
        <p:cxnSp>
          <p:nvCxnSpPr>
            <p:cNvPr id="800" name="Shape 800"/>
            <p:cNvCxnSpPr/>
            <p:nvPr/>
          </p:nvCxnSpPr>
          <p:spPr>
            <a:xfrm>
              <a:off x="4721225" y="16551275"/>
              <a:ext cx="11144250" cy="0"/>
            </a:xfrm>
            <a:prstGeom prst="straightConnector1">
              <a:avLst/>
            </a:prstGeom>
            <a:noFill/>
            <a:ln cap="flat" cmpd="sng" w="25400">
              <a:solidFill>
                <a:srgbClr val="000000"/>
              </a:solidFill>
              <a:prstDash val="solid"/>
              <a:miter/>
              <a:headEnd len="med" w="med" type="none"/>
              <a:tailEnd len="lg" w="lg" type="triangle"/>
            </a:ln>
          </p:spPr>
        </p:cxnSp>
        <p:sp>
          <p:nvSpPr>
            <p:cNvPr id="801" name="Shape 801"/>
            <p:cNvSpPr/>
            <p:nvPr/>
          </p:nvSpPr>
          <p:spPr>
            <a:xfrm>
              <a:off x="5006975" y="11072811"/>
              <a:ext cx="10661650" cy="3694112"/>
            </a:xfrm>
            <a:custGeom>
              <a:pathLst>
                <a:path extrusionOk="0" h="2327" w="6716">
                  <a:moveTo>
                    <a:pt x="0" y="448"/>
                  </a:moveTo>
                  <a:cubicBezTo>
                    <a:pt x="90" y="587"/>
                    <a:pt x="208" y="707"/>
                    <a:pt x="360" y="865"/>
                  </a:cubicBezTo>
                  <a:cubicBezTo>
                    <a:pt x="512" y="1023"/>
                    <a:pt x="697" y="1227"/>
                    <a:pt x="911" y="1395"/>
                  </a:cubicBezTo>
                  <a:cubicBezTo>
                    <a:pt x="1125" y="1563"/>
                    <a:pt x="1348" y="1737"/>
                    <a:pt x="1646" y="1875"/>
                  </a:cubicBezTo>
                  <a:cubicBezTo>
                    <a:pt x="1944" y="2013"/>
                    <a:pt x="2328" y="2150"/>
                    <a:pt x="2696" y="2220"/>
                  </a:cubicBezTo>
                  <a:cubicBezTo>
                    <a:pt x="3064" y="2290"/>
                    <a:pt x="3491" y="2327"/>
                    <a:pt x="3851" y="2295"/>
                  </a:cubicBezTo>
                  <a:cubicBezTo>
                    <a:pt x="4211" y="2263"/>
                    <a:pt x="4561" y="2152"/>
                    <a:pt x="4856" y="2025"/>
                  </a:cubicBezTo>
                  <a:cubicBezTo>
                    <a:pt x="5151" y="1898"/>
                    <a:pt x="5434" y="1667"/>
                    <a:pt x="5621" y="1530"/>
                  </a:cubicBezTo>
                  <a:cubicBezTo>
                    <a:pt x="5808" y="1393"/>
                    <a:pt x="5876" y="1315"/>
                    <a:pt x="5981" y="1200"/>
                  </a:cubicBezTo>
                  <a:cubicBezTo>
                    <a:pt x="6086" y="1085"/>
                    <a:pt x="6166" y="960"/>
                    <a:pt x="6251" y="840"/>
                  </a:cubicBezTo>
                  <a:cubicBezTo>
                    <a:pt x="6336" y="720"/>
                    <a:pt x="6414" y="620"/>
                    <a:pt x="6491" y="480"/>
                  </a:cubicBezTo>
                  <a:cubicBezTo>
                    <a:pt x="6568" y="340"/>
                    <a:pt x="6669" y="100"/>
                    <a:pt x="6716" y="0"/>
                  </a:cubicBezTo>
                </a:path>
              </a:pathLst>
            </a:custGeom>
            <a:noFill/>
            <a:ln cap="flat" cmpd="sng" w="25400">
              <a:solidFill>
                <a:srgbClr val="008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02" name="Shape 802"/>
            <p:cNvSpPr txBox="1"/>
            <p:nvPr/>
          </p:nvSpPr>
          <p:spPr>
            <a:xfrm>
              <a:off x="3025775" y="10836275"/>
              <a:ext cx="1695450" cy="2000250"/>
            </a:xfrm>
            <a:prstGeom prst="rect">
              <a:avLst/>
            </a:prstGeom>
            <a:noFill/>
            <a:ln>
              <a:noFill/>
            </a:ln>
          </p:spPr>
          <p:txBody>
            <a:bodyPr anchorCtr="0" anchor="t" bIns="40650" lIns="81300" rIns="81300" tIns="40650">
              <a:noAutofit/>
            </a:bodyPr>
            <a:lstStyle/>
            <a:p>
              <a:pPr indent="0" lvl="0" marL="0" marR="0" rtl="0" algn="l">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COSTO</a:t>
              </a:r>
            </a:p>
            <a:p>
              <a:pPr indent="0" lvl="0" marL="0" marR="0" rtl="0" algn="l">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MEDIO</a:t>
              </a:r>
            </a:p>
            <a:p>
              <a:pPr indent="0" lvl="0" marL="0" marR="0" rtl="0" algn="l">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LARGO</a:t>
              </a:r>
            </a:p>
            <a:p>
              <a:pPr indent="0" lvl="0" marL="0" marR="0" rtl="0" algn="l">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PLAZO</a:t>
              </a:r>
            </a:p>
          </p:txBody>
        </p:sp>
        <p:sp>
          <p:nvSpPr>
            <p:cNvPr id="803" name="Shape 803"/>
            <p:cNvSpPr txBox="1"/>
            <p:nvPr/>
          </p:nvSpPr>
          <p:spPr>
            <a:xfrm>
              <a:off x="14436725" y="15408275"/>
              <a:ext cx="2571749" cy="11430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CANTIDAD PRODUCIDA</a:t>
              </a:r>
            </a:p>
          </p:txBody>
        </p:sp>
        <p:sp>
          <p:nvSpPr>
            <p:cNvPr id="804" name="Shape 804"/>
            <p:cNvSpPr/>
            <p:nvPr/>
          </p:nvSpPr>
          <p:spPr>
            <a:xfrm>
              <a:off x="5126037" y="11134725"/>
              <a:ext cx="2166936" cy="1416050"/>
            </a:xfrm>
            <a:custGeom>
              <a:pathLst>
                <a:path extrusionOk="0" h="892" w="1365">
                  <a:moveTo>
                    <a:pt x="0" y="240"/>
                  </a:moveTo>
                  <a:cubicBezTo>
                    <a:pt x="5" y="272"/>
                    <a:pt x="8" y="363"/>
                    <a:pt x="30" y="435"/>
                  </a:cubicBezTo>
                  <a:cubicBezTo>
                    <a:pt x="52" y="507"/>
                    <a:pt x="80" y="610"/>
                    <a:pt x="135" y="675"/>
                  </a:cubicBezTo>
                  <a:cubicBezTo>
                    <a:pt x="190" y="740"/>
                    <a:pt x="278" y="798"/>
                    <a:pt x="360" y="825"/>
                  </a:cubicBezTo>
                  <a:cubicBezTo>
                    <a:pt x="442" y="852"/>
                    <a:pt x="520" y="892"/>
                    <a:pt x="630" y="840"/>
                  </a:cubicBezTo>
                  <a:cubicBezTo>
                    <a:pt x="740" y="788"/>
                    <a:pt x="898" y="650"/>
                    <a:pt x="1020" y="510"/>
                  </a:cubicBezTo>
                  <a:cubicBezTo>
                    <a:pt x="1142" y="370"/>
                    <a:pt x="1293" y="106"/>
                    <a:pt x="1365" y="0"/>
                  </a:cubicBezTo>
                </a:path>
              </a:pathLst>
            </a:custGeom>
            <a:noFill/>
            <a:ln cap="rnd" cmpd="sng" w="9525">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05" name="Shape 805"/>
            <p:cNvSpPr/>
            <p:nvPr/>
          </p:nvSpPr>
          <p:spPr>
            <a:xfrm>
              <a:off x="6840536" y="12550775"/>
              <a:ext cx="2166936" cy="1416050"/>
            </a:xfrm>
            <a:custGeom>
              <a:pathLst>
                <a:path extrusionOk="0" h="892" w="1365">
                  <a:moveTo>
                    <a:pt x="0" y="240"/>
                  </a:moveTo>
                  <a:cubicBezTo>
                    <a:pt x="5" y="272"/>
                    <a:pt x="8" y="363"/>
                    <a:pt x="30" y="435"/>
                  </a:cubicBezTo>
                  <a:cubicBezTo>
                    <a:pt x="52" y="507"/>
                    <a:pt x="80" y="610"/>
                    <a:pt x="135" y="675"/>
                  </a:cubicBezTo>
                  <a:cubicBezTo>
                    <a:pt x="190" y="740"/>
                    <a:pt x="278" y="798"/>
                    <a:pt x="360" y="825"/>
                  </a:cubicBezTo>
                  <a:cubicBezTo>
                    <a:pt x="442" y="852"/>
                    <a:pt x="520" y="892"/>
                    <a:pt x="630" y="840"/>
                  </a:cubicBezTo>
                  <a:cubicBezTo>
                    <a:pt x="740" y="788"/>
                    <a:pt x="898" y="650"/>
                    <a:pt x="1020" y="510"/>
                  </a:cubicBezTo>
                  <a:cubicBezTo>
                    <a:pt x="1142" y="370"/>
                    <a:pt x="1293" y="106"/>
                    <a:pt x="1365" y="0"/>
                  </a:cubicBezTo>
                </a:path>
              </a:pathLst>
            </a:custGeom>
            <a:noFill/>
            <a:ln cap="rnd" cmpd="sng" w="9525">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06" name="Shape 806"/>
            <p:cNvSpPr/>
            <p:nvPr/>
          </p:nvSpPr>
          <p:spPr>
            <a:xfrm>
              <a:off x="5983287" y="11991975"/>
              <a:ext cx="2166936" cy="1416050"/>
            </a:xfrm>
            <a:custGeom>
              <a:pathLst>
                <a:path extrusionOk="0" h="892" w="1365">
                  <a:moveTo>
                    <a:pt x="0" y="240"/>
                  </a:moveTo>
                  <a:cubicBezTo>
                    <a:pt x="5" y="272"/>
                    <a:pt x="8" y="363"/>
                    <a:pt x="30" y="435"/>
                  </a:cubicBezTo>
                  <a:cubicBezTo>
                    <a:pt x="52" y="507"/>
                    <a:pt x="80" y="610"/>
                    <a:pt x="135" y="675"/>
                  </a:cubicBezTo>
                  <a:cubicBezTo>
                    <a:pt x="190" y="740"/>
                    <a:pt x="278" y="798"/>
                    <a:pt x="360" y="825"/>
                  </a:cubicBezTo>
                  <a:cubicBezTo>
                    <a:pt x="442" y="852"/>
                    <a:pt x="520" y="892"/>
                    <a:pt x="630" y="840"/>
                  </a:cubicBezTo>
                  <a:cubicBezTo>
                    <a:pt x="740" y="788"/>
                    <a:pt x="898" y="650"/>
                    <a:pt x="1020" y="510"/>
                  </a:cubicBezTo>
                  <a:cubicBezTo>
                    <a:pt x="1142" y="370"/>
                    <a:pt x="1293" y="106"/>
                    <a:pt x="1365" y="0"/>
                  </a:cubicBezTo>
                </a:path>
              </a:pathLst>
            </a:custGeom>
            <a:noFill/>
            <a:ln cap="rnd" cmpd="sng" w="9525">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07" name="Shape 807"/>
            <p:cNvSpPr/>
            <p:nvPr/>
          </p:nvSpPr>
          <p:spPr>
            <a:xfrm>
              <a:off x="7983536" y="13134975"/>
              <a:ext cx="2166936" cy="1416050"/>
            </a:xfrm>
            <a:custGeom>
              <a:pathLst>
                <a:path extrusionOk="0" h="892" w="1365">
                  <a:moveTo>
                    <a:pt x="0" y="240"/>
                  </a:moveTo>
                  <a:cubicBezTo>
                    <a:pt x="5" y="272"/>
                    <a:pt x="8" y="363"/>
                    <a:pt x="30" y="435"/>
                  </a:cubicBezTo>
                  <a:cubicBezTo>
                    <a:pt x="52" y="507"/>
                    <a:pt x="80" y="610"/>
                    <a:pt x="135" y="675"/>
                  </a:cubicBezTo>
                  <a:cubicBezTo>
                    <a:pt x="190" y="740"/>
                    <a:pt x="278" y="798"/>
                    <a:pt x="360" y="825"/>
                  </a:cubicBezTo>
                  <a:cubicBezTo>
                    <a:pt x="442" y="852"/>
                    <a:pt x="520" y="892"/>
                    <a:pt x="630" y="840"/>
                  </a:cubicBezTo>
                  <a:cubicBezTo>
                    <a:pt x="740" y="788"/>
                    <a:pt x="898" y="650"/>
                    <a:pt x="1020" y="510"/>
                  </a:cubicBezTo>
                  <a:cubicBezTo>
                    <a:pt x="1142" y="370"/>
                    <a:pt x="1293" y="106"/>
                    <a:pt x="1365" y="0"/>
                  </a:cubicBezTo>
                </a:path>
              </a:pathLst>
            </a:custGeom>
            <a:noFill/>
            <a:ln cap="rnd" cmpd="sng" w="9525">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08" name="Shape 808"/>
            <p:cNvSpPr/>
            <p:nvPr/>
          </p:nvSpPr>
          <p:spPr>
            <a:xfrm>
              <a:off x="8988425" y="12690475"/>
              <a:ext cx="2203450" cy="1944687"/>
            </a:xfrm>
            <a:custGeom>
              <a:pathLst>
                <a:path extrusionOk="0" h="1225" w="1388">
                  <a:moveTo>
                    <a:pt x="0" y="881"/>
                  </a:moveTo>
                  <a:cubicBezTo>
                    <a:pt x="21" y="907"/>
                    <a:pt x="69" y="984"/>
                    <a:pt x="124" y="1035"/>
                  </a:cubicBezTo>
                  <a:cubicBezTo>
                    <a:pt x="179" y="1086"/>
                    <a:pt x="255" y="1161"/>
                    <a:pt x="335" y="1190"/>
                  </a:cubicBezTo>
                  <a:cubicBezTo>
                    <a:pt x="415" y="1219"/>
                    <a:pt x="520" y="1225"/>
                    <a:pt x="605" y="1207"/>
                  </a:cubicBezTo>
                  <a:cubicBezTo>
                    <a:pt x="689" y="1190"/>
                    <a:pt x="756" y="1179"/>
                    <a:pt x="846" y="1085"/>
                  </a:cubicBezTo>
                  <a:cubicBezTo>
                    <a:pt x="936" y="991"/>
                    <a:pt x="1058" y="826"/>
                    <a:pt x="1148" y="645"/>
                  </a:cubicBezTo>
                  <a:cubicBezTo>
                    <a:pt x="1238" y="464"/>
                    <a:pt x="1338" y="135"/>
                    <a:pt x="1388" y="0"/>
                  </a:cubicBezTo>
                </a:path>
              </a:pathLst>
            </a:custGeom>
            <a:noFill/>
            <a:ln cap="rnd" cmpd="sng" w="9525">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09" name="Shape 809"/>
            <p:cNvSpPr/>
            <p:nvPr/>
          </p:nvSpPr>
          <p:spPr>
            <a:xfrm rot="660000">
              <a:off x="10150474" y="12892087"/>
              <a:ext cx="2203449" cy="1944686"/>
            </a:xfrm>
            <a:custGeom>
              <a:pathLst>
                <a:path extrusionOk="0" h="1225" w="1388">
                  <a:moveTo>
                    <a:pt x="0" y="881"/>
                  </a:moveTo>
                  <a:cubicBezTo>
                    <a:pt x="21" y="907"/>
                    <a:pt x="69" y="984"/>
                    <a:pt x="124" y="1035"/>
                  </a:cubicBezTo>
                  <a:cubicBezTo>
                    <a:pt x="179" y="1086"/>
                    <a:pt x="255" y="1161"/>
                    <a:pt x="335" y="1190"/>
                  </a:cubicBezTo>
                  <a:cubicBezTo>
                    <a:pt x="415" y="1219"/>
                    <a:pt x="520" y="1225"/>
                    <a:pt x="605" y="1207"/>
                  </a:cubicBezTo>
                  <a:cubicBezTo>
                    <a:pt x="689" y="1190"/>
                    <a:pt x="756" y="1179"/>
                    <a:pt x="846" y="1085"/>
                  </a:cubicBezTo>
                  <a:cubicBezTo>
                    <a:pt x="936" y="991"/>
                    <a:pt x="1058" y="826"/>
                    <a:pt x="1148" y="645"/>
                  </a:cubicBezTo>
                  <a:cubicBezTo>
                    <a:pt x="1238" y="464"/>
                    <a:pt x="1338" y="135"/>
                    <a:pt x="1388" y="0"/>
                  </a:cubicBezTo>
                </a:path>
              </a:pathLst>
            </a:custGeom>
            <a:noFill/>
            <a:ln cap="rnd" cmpd="sng" w="9525">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10" name="Shape 810"/>
            <p:cNvSpPr/>
            <p:nvPr/>
          </p:nvSpPr>
          <p:spPr>
            <a:xfrm>
              <a:off x="11090275" y="12550775"/>
              <a:ext cx="2203450" cy="1944687"/>
            </a:xfrm>
            <a:custGeom>
              <a:pathLst>
                <a:path extrusionOk="0" h="1225" w="1388">
                  <a:moveTo>
                    <a:pt x="0" y="881"/>
                  </a:moveTo>
                  <a:cubicBezTo>
                    <a:pt x="21" y="907"/>
                    <a:pt x="69" y="984"/>
                    <a:pt x="124" y="1035"/>
                  </a:cubicBezTo>
                  <a:cubicBezTo>
                    <a:pt x="179" y="1086"/>
                    <a:pt x="255" y="1161"/>
                    <a:pt x="335" y="1190"/>
                  </a:cubicBezTo>
                  <a:cubicBezTo>
                    <a:pt x="415" y="1219"/>
                    <a:pt x="520" y="1225"/>
                    <a:pt x="605" y="1207"/>
                  </a:cubicBezTo>
                  <a:cubicBezTo>
                    <a:pt x="689" y="1190"/>
                    <a:pt x="756" y="1179"/>
                    <a:pt x="846" y="1085"/>
                  </a:cubicBezTo>
                  <a:cubicBezTo>
                    <a:pt x="936" y="991"/>
                    <a:pt x="1058" y="826"/>
                    <a:pt x="1148" y="645"/>
                  </a:cubicBezTo>
                  <a:cubicBezTo>
                    <a:pt x="1238" y="464"/>
                    <a:pt x="1338" y="135"/>
                    <a:pt x="1388" y="0"/>
                  </a:cubicBezTo>
                </a:path>
              </a:pathLst>
            </a:custGeom>
            <a:noFill/>
            <a:ln cap="rnd" cmpd="sng" w="9525">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11" name="Shape 811"/>
            <p:cNvSpPr/>
            <p:nvPr/>
          </p:nvSpPr>
          <p:spPr>
            <a:xfrm>
              <a:off x="12233275" y="11979275"/>
              <a:ext cx="2203450" cy="1944687"/>
            </a:xfrm>
            <a:custGeom>
              <a:pathLst>
                <a:path extrusionOk="0" h="1225" w="1388">
                  <a:moveTo>
                    <a:pt x="0" y="881"/>
                  </a:moveTo>
                  <a:cubicBezTo>
                    <a:pt x="21" y="907"/>
                    <a:pt x="69" y="984"/>
                    <a:pt x="124" y="1035"/>
                  </a:cubicBezTo>
                  <a:cubicBezTo>
                    <a:pt x="179" y="1086"/>
                    <a:pt x="255" y="1161"/>
                    <a:pt x="335" y="1190"/>
                  </a:cubicBezTo>
                  <a:cubicBezTo>
                    <a:pt x="415" y="1219"/>
                    <a:pt x="520" y="1225"/>
                    <a:pt x="605" y="1207"/>
                  </a:cubicBezTo>
                  <a:cubicBezTo>
                    <a:pt x="689" y="1190"/>
                    <a:pt x="756" y="1179"/>
                    <a:pt x="846" y="1085"/>
                  </a:cubicBezTo>
                  <a:cubicBezTo>
                    <a:pt x="936" y="991"/>
                    <a:pt x="1058" y="826"/>
                    <a:pt x="1148" y="645"/>
                  </a:cubicBezTo>
                  <a:cubicBezTo>
                    <a:pt x="1238" y="464"/>
                    <a:pt x="1338" y="135"/>
                    <a:pt x="1388" y="0"/>
                  </a:cubicBezTo>
                </a:path>
              </a:pathLst>
            </a:custGeom>
            <a:noFill/>
            <a:ln cap="rnd" cmpd="sng" w="9525">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12" name="Shape 812"/>
            <p:cNvSpPr txBox="1"/>
            <p:nvPr/>
          </p:nvSpPr>
          <p:spPr>
            <a:xfrm>
              <a:off x="8721725" y="11217275"/>
              <a:ext cx="4286250" cy="1047749"/>
            </a:xfrm>
            <a:prstGeom prst="rect">
              <a:avLst/>
            </a:prstGeom>
            <a:noFill/>
            <a:ln>
              <a:noFill/>
            </a:ln>
          </p:spPr>
          <p:txBody>
            <a:bodyPr anchorCtr="0" anchor="t" bIns="40650" lIns="81300" rIns="81300" tIns="4065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CURVAS DE COSTO MEDIO</a:t>
              </a:r>
            </a:p>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DE CORTO PLAZO</a:t>
              </a:r>
            </a:p>
          </p:txBody>
        </p:sp>
        <p:cxnSp>
          <p:nvCxnSpPr>
            <p:cNvPr id="813" name="Shape 813"/>
            <p:cNvCxnSpPr/>
            <p:nvPr/>
          </p:nvCxnSpPr>
          <p:spPr>
            <a:xfrm flipH="1">
              <a:off x="7292974" y="11407775"/>
              <a:ext cx="1143000" cy="1587"/>
            </a:xfrm>
            <a:prstGeom prst="straightConnector1">
              <a:avLst/>
            </a:prstGeom>
            <a:noFill/>
            <a:ln cap="flat" cmpd="sng" w="9525">
              <a:solidFill>
                <a:srgbClr val="000000"/>
              </a:solidFill>
              <a:prstDash val="solid"/>
              <a:miter/>
              <a:headEnd len="med" w="med" type="none"/>
              <a:tailEnd len="med" w="med" type="stealth"/>
            </a:ln>
          </p:spPr>
        </p:cxnSp>
        <p:cxnSp>
          <p:nvCxnSpPr>
            <p:cNvPr id="814" name="Shape 814"/>
            <p:cNvCxnSpPr/>
            <p:nvPr/>
          </p:nvCxnSpPr>
          <p:spPr>
            <a:xfrm flipH="1">
              <a:off x="7864474" y="11979275"/>
              <a:ext cx="857250" cy="571500"/>
            </a:xfrm>
            <a:prstGeom prst="straightConnector1">
              <a:avLst/>
            </a:prstGeom>
            <a:noFill/>
            <a:ln cap="flat" cmpd="sng" w="9525">
              <a:solidFill>
                <a:srgbClr val="000000"/>
              </a:solidFill>
              <a:prstDash val="solid"/>
              <a:miter/>
              <a:headEnd len="med" w="med" type="none"/>
              <a:tailEnd len="med" w="med" type="stealth"/>
            </a:ln>
          </p:spPr>
        </p:cxnSp>
        <p:cxnSp>
          <p:nvCxnSpPr>
            <p:cNvPr id="815" name="Shape 815"/>
            <p:cNvCxnSpPr/>
            <p:nvPr/>
          </p:nvCxnSpPr>
          <p:spPr>
            <a:xfrm>
              <a:off x="10721975" y="12836525"/>
              <a:ext cx="1587" cy="1143000"/>
            </a:xfrm>
            <a:prstGeom prst="straightConnector1">
              <a:avLst/>
            </a:prstGeom>
            <a:noFill/>
            <a:ln cap="flat" cmpd="sng" w="9525">
              <a:solidFill>
                <a:srgbClr val="000000"/>
              </a:solidFill>
              <a:prstDash val="solid"/>
              <a:miter/>
              <a:headEnd len="med" w="med" type="none"/>
              <a:tailEnd len="med" w="med" type="stealth"/>
            </a:ln>
          </p:spPr>
        </p:cxnSp>
        <p:cxnSp>
          <p:nvCxnSpPr>
            <p:cNvPr id="816" name="Shape 816"/>
            <p:cNvCxnSpPr/>
            <p:nvPr/>
          </p:nvCxnSpPr>
          <p:spPr>
            <a:xfrm>
              <a:off x="11579225" y="12550775"/>
              <a:ext cx="287337" cy="1143000"/>
            </a:xfrm>
            <a:prstGeom prst="straightConnector1">
              <a:avLst/>
            </a:prstGeom>
            <a:noFill/>
            <a:ln cap="flat" cmpd="sng" w="9525">
              <a:solidFill>
                <a:srgbClr val="000000"/>
              </a:solidFill>
              <a:prstDash val="solid"/>
              <a:miter/>
              <a:headEnd len="med" w="med" type="none"/>
              <a:tailEnd len="med" w="med" type="stealth"/>
            </a:ln>
          </p:spPr>
        </p:cxnSp>
        <p:cxnSp>
          <p:nvCxnSpPr>
            <p:cNvPr id="817" name="Shape 817"/>
            <p:cNvCxnSpPr/>
            <p:nvPr/>
          </p:nvCxnSpPr>
          <p:spPr>
            <a:xfrm>
              <a:off x="12150725" y="12265025"/>
              <a:ext cx="857250" cy="857250"/>
            </a:xfrm>
            <a:prstGeom prst="straightConnector1">
              <a:avLst/>
            </a:prstGeom>
            <a:noFill/>
            <a:ln cap="flat" cmpd="sng" w="9525">
              <a:solidFill>
                <a:srgbClr val="000000"/>
              </a:solidFill>
              <a:prstDash val="solid"/>
              <a:miter/>
              <a:headEnd len="med" w="med" type="none"/>
              <a:tailEnd len="med" w="med" type="stealth"/>
            </a:ln>
          </p:spPr>
        </p:cxnSp>
        <p:cxnSp>
          <p:nvCxnSpPr>
            <p:cNvPr id="818" name="Shape 818"/>
            <p:cNvCxnSpPr/>
            <p:nvPr/>
          </p:nvCxnSpPr>
          <p:spPr>
            <a:xfrm>
              <a:off x="13007975" y="11979275"/>
              <a:ext cx="952499" cy="666749"/>
            </a:xfrm>
            <a:prstGeom prst="straightConnector1">
              <a:avLst/>
            </a:prstGeom>
            <a:noFill/>
            <a:ln cap="flat" cmpd="sng" w="9525">
              <a:solidFill>
                <a:srgbClr val="000000"/>
              </a:solidFill>
              <a:prstDash val="solid"/>
              <a:miter/>
              <a:headEnd len="med" w="med" type="none"/>
              <a:tailEnd len="med" w="med" type="stealth"/>
            </a:ln>
          </p:spPr>
        </p:cxnSp>
        <p:cxnSp>
          <p:nvCxnSpPr>
            <p:cNvPr id="819" name="Shape 819"/>
            <p:cNvCxnSpPr/>
            <p:nvPr/>
          </p:nvCxnSpPr>
          <p:spPr>
            <a:xfrm flipH="1">
              <a:off x="9578974" y="12836525"/>
              <a:ext cx="285750" cy="1143000"/>
            </a:xfrm>
            <a:prstGeom prst="straightConnector1">
              <a:avLst/>
            </a:prstGeom>
            <a:noFill/>
            <a:ln cap="flat" cmpd="sng" w="9525">
              <a:solidFill>
                <a:srgbClr val="000000"/>
              </a:solidFill>
              <a:prstDash val="solid"/>
              <a:miter/>
              <a:headEnd len="med" w="med" type="none"/>
              <a:tailEnd len="med" w="med" type="stealth"/>
            </a:ln>
          </p:spPr>
        </p:cxnSp>
        <p:cxnSp>
          <p:nvCxnSpPr>
            <p:cNvPr id="820" name="Shape 820"/>
            <p:cNvCxnSpPr/>
            <p:nvPr/>
          </p:nvCxnSpPr>
          <p:spPr>
            <a:xfrm flipH="1">
              <a:off x="8435974" y="12550775"/>
              <a:ext cx="571500" cy="857250"/>
            </a:xfrm>
            <a:prstGeom prst="straightConnector1">
              <a:avLst/>
            </a:prstGeom>
            <a:noFill/>
            <a:ln cap="flat" cmpd="sng" w="9525">
              <a:solidFill>
                <a:srgbClr val="000000"/>
              </a:solidFill>
              <a:prstDash val="solid"/>
              <a:miter/>
              <a:headEnd len="med" w="med" type="none"/>
              <a:tailEnd len="med" w="med" type="stealth"/>
            </a:ln>
          </p:spPr>
        </p:cxnSp>
        <p:sp>
          <p:nvSpPr>
            <p:cNvPr id="821" name="Shape 821"/>
            <p:cNvSpPr txBox="1"/>
            <p:nvPr/>
          </p:nvSpPr>
          <p:spPr>
            <a:xfrm>
              <a:off x="6149975" y="14836775"/>
              <a:ext cx="5143499" cy="571500"/>
            </a:xfrm>
            <a:prstGeom prst="rect">
              <a:avLst/>
            </a:prstGeom>
            <a:noFill/>
            <a:ln>
              <a:noFill/>
            </a:ln>
          </p:spPr>
          <p:txBody>
            <a:bodyPr anchorCtr="0" anchor="t" bIns="40650" lIns="81300" rIns="81300" tIns="40650">
              <a:noAutofit/>
            </a:bodyPr>
            <a:lstStyle/>
            <a:p>
              <a:pPr indent="0" lvl="0" marL="0" marR="0" rtl="0" algn="l">
                <a:lnSpc>
                  <a:spcPct val="100000"/>
                </a:lnSpc>
                <a:spcBef>
                  <a:spcPts val="0"/>
                </a:spcBef>
                <a:spcAft>
                  <a:spcPts val="0"/>
                </a:spcAft>
                <a:buClr>
                  <a:srgbClr val="008000"/>
                </a:buClr>
                <a:buSzPct val="25000"/>
                <a:buFont typeface="Arial"/>
                <a:buNone/>
              </a:pPr>
              <a:r>
                <a:rPr b="1" i="0" lang="en-US" sz="1200" u="none" cap="none" strike="noStrike">
                  <a:solidFill>
                    <a:srgbClr val="008000"/>
                  </a:solidFill>
                  <a:latin typeface="Arial"/>
                  <a:ea typeface="Arial"/>
                  <a:cs typeface="Arial"/>
                  <a:sym typeface="Arial"/>
                </a:rPr>
                <a:t>COSTO MEDIO LARGO PLAZO</a:t>
              </a:r>
            </a:p>
          </p:txBody>
        </p:sp>
      </p:grpSp>
    </p:spTree>
  </p:cSld>
  <p:clrMapOvr>
    <a:masterClrMapping/>
  </p:clrMapOvr>
  <p:transition spd="slow">
    <p:cut/>
  </p:transition>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