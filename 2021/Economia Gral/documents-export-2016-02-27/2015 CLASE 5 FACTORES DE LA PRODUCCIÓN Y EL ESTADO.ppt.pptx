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8" name="Shape 12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4" name="Shape 13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7" name="Shape 14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5" name="Shape 15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2" name="Shape 17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9" name="Shape 19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7" name="Shape 23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4" name="Shape 24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1" name="Shape 25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4" name="Shape 28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5" name="Shape 32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5" name="Shape 35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3" name="Shape 36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1" name="Shape 37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7" name="Shape 37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3" name="Shape 38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8" name="Shape 39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3" name="Shape 42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0" name="Shape 45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7" name="Shape 45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TwoObj">
  <p:cSld name="Title, Text, and 2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x="4760912" y="2362200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3" type="body"/>
          </p:nvPr>
        </p:nvSpPr>
        <p:spPr>
          <a:xfrm>
            <a:off x="4760912" y="4300537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Obj">
  <p:cSld name="Title, Text,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760912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45" name="Shape 4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AndTwoObj">
  <p:cSld name="Title, Content, and 2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2" type="body"/>
          </p:nvPr>
        </p:nvSpPr>
        <p:spPr>
          <a:xfrm>
            <a:off x="4760912" y="2362200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3" type="body"/>
          </p:nvPr>
        </p:nvSpPr>
        <p:spPr>
          <a:xfrm>
            <a:off x="4760912" y="4300537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53" name="Shape 53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type="title"/>
          </p:nvPr>
        </p:nvSpPr>
        <p:spPr>
          <a:xfrm>
            <a:off x="722312" y="4406900"/>
            <a:ext cx="7772400" cy="1362075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5" name="Shape 65"/>
          <p:cNvSpPr txBox="1"/>
          <p:nvPr>
            <p:ph idx="2" type="body"/>
          </p:nvPr>
        </p:nvSpPr>
        <p:spPr>
          <a:xfrm>
            <a:off x="4760912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6" name="Shape 66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7" name="Shape 67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title"/>
          </p:nvPr>
        </p:nvSpPr>
        <p:spPr>
          <a:xfrm>
            <a:off x="457200" y="274637"/>
            <a:ext cx="82296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72" name="Shape 72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3" name="Shape 73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2" name="Shape 82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title"/>
          </p:nvPr>
        </p:nvSpPr>
        <p:spPr>
          <a:xfrm>
            <a:off x="457200" y="273050"/>
            <a:ext cx="3008313" cy="1162049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6" name="Shape 8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8" name="Shape 8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9" name="Shape 8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title"/>
          </p:nvPr>
        </p:nvSpPr>
        <p:spPr>
          <a:xfrm>
            <a:off x="1792288" y="4800600"/>
            <a:ext cx="5486399" cy="566737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92" name="Shape 92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94" name="Shape 94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95" name="Shape 95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99" name="Shape 99"/>
          <p:cNvSpPr txBox="1"/>
          <p:nvPr>
            <p:ph idx="1" type="body"/>
          </p:nvPr>
        </p:nvSpPr>
        <p:spPr>
          <a:xfrm rot="5400000">
            <a:off x="2822574" y="377824"/>
            <a:ext cx="3724275" cy="7693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100" name="Shape 100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1" name="Shape 101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2" name="Shape 102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title"/>
          </p:nvPr>
        </p:nvSpPr>
        <p:spPr>
          <a:xfrm>
            <a:off x="6705600" y="762000"/>
            <a:ext cx="1981199" cy="5324474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None/>
              <a:defRPr/>
            </a:lvl1pPr>
          </a:lstStyle>
          <a:p/>
        </p:txBody>
      </p:sp>
      <p:sp>
        <p:nvSpPr>
          <p:cNvPr id="105" name="Shape 105"/>
          <p:cNvSpPr txBox="1"/>
          <p:nvPr/>
        </p:nvSpPr>
        <p:spPr>
          <a:xfrm rot="5400000">
            <a:off x="5061119" y="2460794"/>
            <a:ext cx="5270161" cy="1926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</a:p>
        </p:txBody>
      </p:sp>
      <p:sp>
        <p:nvSpPr>
          <p:cNvPr id="106" name="Shape 106"/>
          <p:cNvSpPr txBox="1"/>
          <p:nvPr>
            <p:ph idx="1" type="body"/>
          </p:nvPr>
        </p:nvSpPr>
        <p:spPr>
          <a:xfrm rot="5400000">
            <a:off x="995362" y="528637"/>
            <a:ext cx="5324474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107" name="Shape 10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8" name="Shape 10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9" name="Shape 10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Chart">
  <p:cSld name="Title, Text and Char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113" name="Shape 113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4" name="Shape 114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5" name="Shape 115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chart">
  <p:cSld name="Title and Char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18" name="Shape 118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9" name="Shape 119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0" name="Shape 120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bl">
  <p:cSld name="Title and Tab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23" name="Shape 123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4" name="Shape 124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5" name="Shape 125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0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 6"/>
          <p:cNvGrpSpPr/>
          <p:nvPr/>
        </p:nvGrpSpPr>
        <p:grpSpPr>
          <a:xfrm>
            <a:off x="0" y="0"/>
            <a:ext cx="7620000" cy="6858000"/>
            <a:chOff x="0" y="0"/>
            <a:chExt cx="7620000" cy="6858000"/>
          </a:xfrm>
        </p:grpSpPr>
        <p:grpSp>
          <p:nvGrpSpPr>
            <p:cNvPr id="7" name="Shape 7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8" name="Shape 8"/>
              <p:cNvSpPr txBox="1"/>
              <p:nvPr/>
            </p:nvSpPr>
            <p:spPr>
              <a:xfrm>
                <a:off x="0" y="0"/>
                <a:ext cx="762000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Shape 9"/>
              <p:cNvSpPr/>
              <p:nvPr/>
            </p:nvSpPr>
            <p:spPr>
              <a:xfrm>
                <a:off x="457200" y="0"/>
                <a:ext cx="2743200" cy="1166812"/>
              </a:xfrm>
              <a:custGeom>
                <a:pathLst>
                  <a:path extrusionOk="0" h="735" w="1728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Shape 10"/>
            <p:cNvGrpSpPr/>
            <p:nvPr/>
          </p:nvGrpSpPr>
          <p:grpSpPr>
            <a:xfrm>
              <a:off x="228599" y="1981200"/>
              <a:ext cx="7391400" cy="319087"/>
              <a:chOff x="228599" y="1981200"/>
              <a:chExt cx="7391400" cy="319087"/>
            </a:xfrm>
          </p:grpSpPr>
          <p:sp>
            <p:nvSpPr>
              <p:cNvPr id="11" name="Shape 11"/>
              <p:cNvSpPr/>
              <p:nvPr/>
            </p:nvSpPr>
            <p:spPr>
              <a:xfrm>
                <a:off x="609600" y="1981200"/>
                <a:ext cx="7010400" cy="317500"/>
              </a:xfrm>
              <a:prstGeom prst="roundRect">
                <a:avLst>
                  <a:gd fmla="val 0" name="adj"/>
                </a:avLst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Shape 12"/>
              <p:cNvSpPr/>
              <p:nvPr/>
            </p:nvSpPr>
            <p:spPr>
              <a:xfrm flipH="1">
                <a:off x="228599" y="1981200"/>
                <a:ext cx="393700" cy="319087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" name="Shape 1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4pPr>
            <a:lvl5pPr indent="-154304" lvl="4" marL="2057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15" name="Shape 1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18" name="Shape 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940425" y="82550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0.jpg"/><Relationship Id="rId4" Type="http://schemas.openxmlformats.org/officeDocument/2006/relationships/image" Target="../media/image0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4.jpg"/><Relationship Id="rId4" Type="http://schemas.openxmlformats.org/officeDocument/2006/relationships/image" Target="../media/image01.jpg"/><Relationship Id="rId5" Type="http://schemas.openxmlformats.org/officeDocument/2006/relationships/image" Target="../media/image0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07.jpg"/><Relationship Id="rId5" Type="http://schemas.openxmlformats.org/officeDocument/2006/relationships/image" Target="../media/image11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0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2.jpg"/><Relationship Id="rId7" Type="http://schemas.openxmlformats.org/officeDocument/2006/relationships/image" Target="../media/image25.jp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9" Type="http://schemas.openxmlformats.org/officeDocument/2006/relationships/image" Target="../media/image31.jpg"/><Relationship Id="rId5" Type="http://schemas.openxmlformats.org/officeDocument/2006/relationships/image" Target="../media/image37.jpg"/><Relationship Id="rId6" Type="http://schemas.openxmlformats.org/officeDocument/2006/relationships/image" Target="../media/image32.png"/><Relationship Id="rId7" Type="http://schemas.openxmlformats.org/officeDocument/2006/relationships/image" Target="../media/image39.png"/><Relationship Id="rId8" Type="http://schemas.openxmlformats.org/officeDocument/2006/relationships/image" Target="../media/image2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idx="4294967295"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CLASE N° 5</a:t>
            </a:r>
          </a:p>
        </p:txBody>
      </p:sp>
      <p:sp>
        <p:nvSpPr>
          <p:cNvPr id="131" name="Shape 131"/>
          <p:cNvSpPr txBox="1"/>
          <p:nvPr>
            <p:ph idx="4294967295" type="body"/>
          </p:nvPr>
        </p:nvSpPr>
        <p:spPr>
          <a:xfrm>
            <a:off x="838200" y="2420936"/>
            <a:ext cx="8305799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empresa como organizadora de la producción.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de la producción.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recurso Capital. Definición y clasificación según su uso.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recurso Humano. Definición y clasificación según uso.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Demografía.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Curvas de producción y consumo del individuo medio de una sociedad determinada.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activa y pasiva. Análisis del equilibrio.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Pirámides de población.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Empleo y Desempleo.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recurso Naturaleza.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Estado como marco del sistema productivo.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Retribución a los factores de la producción.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4294967295" type="ctrTitle"/>
          </p:nvPr>
        </p:nvSpPr>
        <p:spPr>
          <a:xfrm>
            <a:off x="685800" y="549275"/>
            <a:ext cx="8229600" cy="1904999"/>
          </a:xfrm>
          <a:prstGeom prst="roundRect">
            <a:avLst>
              <a:gd fmla="val 10800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Teoría de la  Producción</a:t>
            </a:r>
          </a:p>
        </p:txBody>
      </p:sp>
      <p:sp>
        <p:nvSpPr>
          <p:cNvPr id="137" name="Shape 137"/>
          <p:cNvSpPr txBox="1"/>
          <p:nvPr>
            <p:ph idx="4294967295" type="subTitle"/>
          </p:nvPr>
        </p:nvSpPr>
        <p:spPr>
          <a:xfrm>
            <a:off x="4892675" y="3495675"/>
            <a:ext cx="3724275" cy="1095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Analiza el comportamiento de la unidad de producción (empresa) y su manifestación en el mercado, o sea la oferta.</a:t>
            </a:r>
          </a:p>
        </p:txBody>
      </p:sp>
      <p:pic>
        <p:nvPicPr>
          <p:cNvPr id="138" name="Shape 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2565400"/>
            <a:ext cx="3809999" cy="380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desafío de la sociedad</a:t>
            </a:r>
          </a:p>
        </p:txBody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900112" y="2493961"/>
            <a:ext cx="8243886" cy="352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65112" lvl="0" marL="265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✓"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¿Que producir?</a:t>
            </a:r>
          </a:p>
          <a:p>
            <a:pPr indent="-265112" lvl="0" marL="26511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✓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¿Como producir?</a:t>
            </a:r>
          </a:p>
          <a:p>
            <a:pPr indent="-265112" lvl="0" marL="26511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✓"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¿Para quien producir?</a:t>
            </a:r>
          </a:p>
          <a:p>
            <a:pPr indent="-265112" lvl="0" marL="26511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✓"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¿Como racionar los productos en el tiempo?</a:t>
            </a:r>
          </a:p>
          <a:p>
            <a:pPr indent="-265112" lvl="0" marL="26511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✓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¿Como lograr el mantenimiento y crecimiento del sistema?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Unidad de producción: La Empresa</a:t>
            </a:r>
          </a:p>
        </p:txBody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88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productora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bienes y servicios útiles y la </a:t>
            </a: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demandante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factores de la producción.</a:t>
            </a:r>
          </a:p>
        </p:txBody>
      </p:sp>
      <p:pic>
        <p:nvPicPr>
          <p:cNvPr id="151" name="Shape 1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9112" y="3043236"/>
            <a:ext cx="4084637" cy="24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Shape 15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4797425"/>
            <a:ext cx="1766886" cy="152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Factores de la producción</a:t>
            </a:r>
          </a:p>
        </p:txBody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1906586" y="2362200"/>
            <a:ext cx="3025774" cy="1138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4761" lvl="0" marL="187166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pic>
        <p:nvPicPr>
          <p:cNvPr id="159" name="Shape 1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662" y="2420936"/>
            <a:ext cx="2379661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Shape 16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50" y="4724400"/>
            <a:ext cx="231933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Shape 1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737" y="4437062"/>
            <a:ext cx="2719386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Shape 162"/>
          <p:cNvSpPr txBox="1"/>
          <p:nvPr/>
        </p:nvSpPr>
        <p:spPr>
          <a:xfrm>
            <a:off x="900112" y="2347911"/>
            <a:ext cx="4397375" cy="2017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los recursos que forman parte de proceso de producción de bienes y servicios útiles.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 Naturaleza- definición</a:t>
            </a:r>
          </a:p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Se denominan recursos naturales a aquellos bienes materiales y servicios que proporciona la naturaleza al sistema productivo, sin alteración por parte del ser humano.</a:t>
            </a: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Shape 1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781300"/>
            <a:ext cx="4476749" cy="297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title"/>
          </p:nvPr>
        </p:nvSpPr>
        <p:spPr>
          <a:xfrm>
            <a:off x="762000" y="260350"/>
            <a:ext cx="4602162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Recursos Naturales</a:t>
            </a:r>
          </a:p>
        </p:txBody>
      </p:sp>
      <p:sp>
        <p:nvSpPr>
          <p:cNvPr id="175" name="Shape 175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Distintos tipos </a:t>
            </a: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Shape 176"/>
          <p:cNvGrpSpPr/>
          <p:nvPr/>
        </p:nvGrpSpPr>
        <p:grpSpPr>
          <a:xfrm>
            <a:off x="1692274" y="2781300"/>
            <a:ext cx="5943600" cy="3657600"/>
            <a:chOff x="1228725" y="5318125"/>
            <a:chExt cx="14859000" cy="9144000"/>
          </a:xfrm>
        </p:grpSpPr>
        <p:sp>
          <p:nvSpPr>
            <p:cNvPr id="177" name="Shape 177"/>
            <p:cNvSpPr txBox="1"/>
            <p:nvPr/>
          </p:nvSpPr>
          <p:spPr>
            <a:xfrm>
              <a:off x="1228725" y="5318125"/>
              <a:ext cx="14859000" cy="9144000"/>
            </a:xfrm>
            <a:prstGeom prst="rect">
              <a:avLst/>
            </a:prstGeom>
            <a:solidFill>
              <a:srgbClr val="CCFFFF">
                <a:alpha val="24705"/>
              </a:srgbClr>
            </a:solidFill>
            <a:ln cap="flat" cmpd="sng" w="28575">
              <a:solidFill>
                <a:srgbClr val="00CCFF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Shape 178"/>
            <p:cNvSpPr txBox="1"/>
            <p:nvPr/>
          </p:nvSpPr>
          <p:spPr>
            <a:xfrm>
              <a:off x="6657975" y="5603875"/>
              <a:ext cx="4286250" cy="142874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NATURALES</a:t>
              </a:r>
            </a:p>
          </p:txBody>
        </p:sp>
        <p:sp>
          <p:nvSpPr>
            <p:cNvPr id="179" name="Shape 179"/>
            <p:cNvSpPr txBox="1"/>
            <p:nvPr/>
          </p:nvSpPr>
          <p:spPr>
            <a:xfrm>
              <a:off x="3800475" y="8461375"/>
              <a:ext cx="3429000" cy="1428749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MATERIA</a:t>
              </a:r>
            </a:p>
          </p:txBody>
        </p:sp>
        <p:sp>
          <p:nvSpPr>
            <p:cNvPr id="180" name="Shape 180"/>
            <p:cNvSpPr txBox="1"/>
            <p:nvPr/>
          </p:nvSpPr>
          <p:spPr>
            <a:xfrm>
              <a:off x="9801225" y="8461375"/>
              <a:ext cx="4572000" cy="1428749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ENERGIA</a:t>
              </a: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x="2371725" y="11604625"/>
              <a:ext cx="4572000" cy="2571749"/>
            </a:xfrm>
            <a:prstGeom prst="rect">
              <a:avLst/>
            </a:prstGeom>
            <a:solidFill>
              <a:srgbClr val="993366">
                <a:alpha val="10588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MATERIAS PRIMAS Y MATERIALES DIRECTOS</a:t>
              </a:r>
            </a:p>
          </p:txBody>
        </p:sp>
        <p:sp>
          <p:nvSpPr>
            <p:cNvPr id="182" name="Shape 182"/>
            <p:cNvSpPr txBox="1"/>
            <p:nvPr/>
          </p:nvSpPr>
          <p:spPr>
            <a:xfrm>
              <a:off x="8943975" y="11890375"/>
              <a:ext cx="4572000" cy="1714500"/>
            </a:xfrm>
            <a:prstGeom prst="rect">
              <a:avLst/>
            </a:prstGeom>
            <a:solidFill>
              <a:srgbClr val="993366">
                <a:alpha val="14509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MATERIALES INDIRECTOS</a:t>
              </a:r>
            </a:p>
          </p:txBody>
        </p:sp>
        <p:cxnSp>
          <p:nvCxnSpPr>
            <p:cNvPr id="183" name="Shape 183"/>
            <p:cNvCxnSpPr/>
            <p:nvPr/>
          </p:nvCxnSpPr>
          <p:spPr>
            <a:xfrm>
              <a:off x="4657725" y="11033125"/>
              <a:ext cx="6572249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4" name="Shape 184"/>
            <p:cNvCxnSpPr/>
            <p:nvPr/>
          </p:nvCxnSpPr>
          <p:spPr>
            <a:xfrm>
              <a:off x="4656137" y="110331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5" name="Shape 185"/>
            <p:cNvCxnSpPr/>
            <p:nvPr/>
          </p:nvCxnSpPr>
          <p:spPr>
            <a:xfrm>
              <a:off x="11228386" y="11033125"/>
              <a:ext cx="1587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6" name="Shape 186"/>
            <p:cNvCxnSpPr/>
            <p:nvPr/>
          </p:nvCxnSpPr>
          <p:spPr>
            <a:xfrm>
              <a:off x="5514975" y="9890125"/>
              <a:ext cx="0" cy="11430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7" name="Shape 187"/>
            <p:cNvCxnSpPr/>
            <p:nvPr/>
          </p:nvCxnSpPr>
          <p:spPr>
            <a:xfrm>
              <a:off x="5514975" y="7604125"/>
              <a:ext cx="65722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8" name="Shape 188"/>
            <p:cNvCxnSpPr/>
            <p:nvPr/>
          </p:nvCxnSpPr>
          <p:spPr>
            <a:xfrm>
              <a:off x="5514975" y="7604125"/>
              <a:ext cx="0" cy="8572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89" name="Shape 189"/>
            <p:cNvCxnSpPr/>
            <p:nvPr/>
          </p:nvCxnSpPr>
          <p:spPr>
            <a:xfrm>
              <a:off x="12087225" y="7604125"/>
              <a:ext cx="0" cy="8572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90" name="Shape 190"/>
            <p:cNvCxnSpPr/>
            <p:nvPr/>
          </p:nvCxnSpPr>
          <p:spPr>
            <a:xfrm>
              <a:off x="8658225" y="7032625"/>
              <a:ext cx="1587" cy="571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  <p:pic>
        <p:nvPicPr>
          <p:cNvPr id="191" name="Shape 19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2950" y="4149725"/>
            <a:ext cx="1749425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Shape 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7587" y="1052512"/>
            <a:ext cx="1976437" cy="1704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93" name="Shape 193"/>
          <p:cNvPicPr preferRelativeResize="0"/>
          <p:nvPr>
            <p:ph idx="2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2586" y="2205036"/>
            <a:ext cx="2158999" cy="17859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94" name="Shape 1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386" y="4652962"/>
            <a:ext cx="169545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Shape 1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781300"/>
            <a:ext cx="1228724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Shape 1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2987" y="3213100"/>
            <a:ext cx="1450975" cy="183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Recursos Naturales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827087" y="2349500"/>
            <a:ext cx="3770311" cy="503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Shape 203"/>
          <p:cNvGrpSpPr/>
          <p:nvPr/>
        </p:nvGrpSpPr>
        <p:grpSpPr>
          <a:xfrm>
            <a:off x="900112" y="2852737"/>
            <a:ext cx="7416799" cy="3576637"/>
            <a:chOff x="1800225" y="5318125"/>
            <a:chExt cx="15430499" cy="11144250"/>
          </a:xfrm>
        </p:grpSpPr>
        <p:sp>
          <p:nvSpPr>
            <p:cNvPr id="204" name="Shape 204"/>
            <p:cNvSpPr txBox="1"/>
            <p:nvPr/>
          </p:nvSpPr>
          <p:spPr>
            <a:xfrm>
              <a:off x="1800225" y="5318125"/>
              <a:ext cx="15430499" cy="11144250"/>
            </a:xfrm>
            <a:prstGeom prst="rect">
              <a:avLst/>
            </a:prstGeom>
            <a:solidFill>
              <a:srgbClr val="FF9900">
                <a:alpha val="18823"/>
              </a:srgbClr>
            </a:solidFill>
            <a:ln cap="flat" cmpd="sng" w="2857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Shape 205"/>
            <p:cNvSpPr txBox="1"/>
            <p:nvPr/>
          </p:nvSpPr>
          <p:spPr>
            <a:xfrm>
              <a:off x="6657975" y="5603875"/>
              <a:ext cx="4286250" cy="1428749"/>
            </a:xfrm>
            <a:prstGeom prst="rect">
              <a:avLst/>
            </a:prstGeom>
            <a:solidFill>
              <a:srgbClr val="FFFF00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NATURALES</a:t>
              </a:r>
            </a:p>
          </p:txBody>
        </p:sp>
        <p:sp>
          <p:nvSpPr>
            <p:cNvPr id="206" name="Shape 206"/>
            <p:cNvSpPr txBox="1"/>
            <p:nvPr/>
          </p:nvSpPr>
          <p:spPr>
            <a:xfrm>
              <a:off x="3800475" y="8461375"/>
              <a:ext cx="3429000" cy="1428749"/>
            </a:xfrm>
            <a:prstGeom prst="rect">
              <a:avLst/>
            </a:prstGeom>
            <a:solidFill>
              <a:srgbClr val="00FFFF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RENOVABLES</a:t>
              </a:r>
            </a:p>
          </p:txBody>
        </p:sp>
        <p:sp>
          <p:nvSpPr>
            <p:cNvPr id="207" name="Shape 207"/>
            <p:cNvSpPr txBox="1"/>
            <p:nvPr/>
          </p:nvSpPr>
          <p:spPr>
            <a:xfrm>
              <a:off x="9801225" y="8461375"/>
              <a:ext cx="4572000" cy="1428749"/>
            </a:xfrm>
            <a:prstGeom prst="rect">
              <a:avLst/>
            </a:prstGeom>
            <a:solidFill>
              <a:srgbClr val="00FFFF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RENOVABLES</a:t>
              </a:r>
            </a:p>
          </p:txBody>
        </p:sp>
        <p:sp>
          <p:nvSpPr>
            <p:cNvPr id="208" name="Shape 208"/>
            <p:cNvSpPr txBox="1"/>
            <p:nvPr/>
          </p:nvSpPr>
          <p:spPr>
            <a:xfrm>
              <a:off x="1800225" y="13033375"/>
              <a:ext cx="4286250" cy="1143000"/>
            </a:xfrm>
            <a:prstGeom prst="rect">
              <a:avLst/>
            </a:prstGeom>
            <a:solidFill>
              <a:srgbClr val="993366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AUTOREGENERADOS</a:t>
              </a:r>
            </a:p>
          </p:txBody>
        </p:sp>
        <p:sp>
          <p:nvSpPr>
            <p:cNvPr id="209" name="Shape 209"/>
            <p:cNvSpPr txBox="1"/>
            <p:nvPr/>
          </p:nvSpPr>
          <p:spPr>
            <a:xfrm>
              <a:off x="2371725" y="14747875"/>
              <a:ext cx="3714750" cy="1143000"/>
            </a:xfrm>
            <a:prstGeom prst="rect">
              <a:avLst/>
            </a:prstGeom>
            <a:solidFill>
              <a:srgbClr val="993366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PERMANANTES</a:t>
              </a:r>
            </a:p>
          </p:txBody>
        </p:sp>
        <p:cxnSp>
          <p:nvCxnSpPr>
            <p:cNvPr id="210" name="Shape 210"/>
            <p:cNvCxnSpPr/>
            <p:nvPr/>
          </p:nvCxnSpPr>
          <p:spPr>
            <a:xfrm>
              <a:off x="4371975" y="10461625"/>
              <a:ext cx="4857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1" name="Shape 211"/>
            <p:cNvCxnSpPr/>
            <p:nvPr/>
          </p:nvCxnSpPr>
          <p:spPr>
            <a:xfrm>
              <a:off x="4371975" y="104616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2" name="Shape 212"/>
            <p:cNvCxnSpPr/>
            <p:nvPr/>
          </p:nvCxnSpPr>
          <p:spPr>
            <a:xfrm>
              <a:off x="9229725" y="104616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3" name="Shape 213"/>
            <p:cNvCxnSpPr/>
            <p:nvPr/>
          </p:nvCxnSpPr>
          <p:spPr>
            <a:xfrm>
              <a:off x="5514975" y="98901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4" name="Shape 214"/>
            <p:cNvCxnSpPr/>
            <p:nvPr/>
          </p:nvCxnSpPr>
          <p:spPr>
            <a:xfrm>
              <a:off x="5514975" y="7604125"/>
              <a:ext cx="657224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5" name="Shape 215"/>
            <p:cNvCxnSpPr/>
            <p:nvPr/>
          </p:nvCxnSpPr>
          <p:spPr>
            <a:xfrm>
              <a:off x="5514975" y="7604125"/>
              <a:ext cx="0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6" name="Shape 216"/>
            <p:cNvCxnSpPr/>
            <p:nvPr/>
          </p:nvCxnSpPr>
          <p:spPr>
            <a:xfrm>
              <a:off x="12087225" y="7604125"/>
              <a:ext cx="0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7" name="Shape 217"/>
            <p:cNvCxnSpPr/>
            <p:nvPr/>
          </p:nvCxnSpPr>
          <p:spPr>
            <a:xfrm>
              <a:off x="8658225" y="70326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218" name="Shape 218"/>
            <p:cNvSpPr txBox="1"/>
            <p:nvPr/>
          </p:nvSpPr>
          <p:spPr>
            <a:xfrm>
              <a:off x="7800975" y="14747875"/>
              <a:ext cx="3429000" cy="1143000"/>
            </a:xfrm>
            <a:prstGeom prst="rect">
              <a:avLst/>
            </a:prstGeom>
            <a:solidFill>
              <a:srgbClr val="993366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AGOTADOS</a:t>
              </a:r>
            </a:p>
          </p:txBody>
        </p:sp>
        <p:sp>
          <p:nvSpPr>
            <p:cNvPr id="219" name="Shape 219"/>
            <p:cNvSpPr txBox="1"/>
            <p:nvPr/>
          </p:nvSpPr>
          <p:spPr>
            <a:xfrm>
              <a:off x="7515225" y="13033375"/>
              <a:ext cx="3714750" cy="1143000"/>
            </a:xfrm>
            <a:prstGeom prst="rect">
              <a:avLst/>
            </a:prstGeom>
            <a:solidFill>
              <a:srgbClr val="993366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CONTAMINADOS</a:t>
              </a:r>
            </a:p>
          </p:txBody>
        </p:sp>
        <p:cxnSp>
          <p:nvCxnSpPr>
            <p:cNvPr id="220" name="Shape 220"/>
            <p:cNvCxnSpPr/>
            <p:nvPr/>
          </p:nvCxnSpPr>
          <p:spPr>
            <a:xfrm>
              <a:off x="11801475" y="11604625"/>
              <a:ext cx="1587" cy="37147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221" name="Shape 221"/>
            <p:cNvSpPr txBox="1"/>
            <p:nvPr/>
          </p:nvSpPr>
          <p:spPr>
            <a:xfrm>
              <a:off x="2371725" y="11033125"/>
              <a:ext cx="3714750" cy="1428749"/>
            </a:xfrm>
            <a:prstGeom prst="rect">
              <a:avLst/>
            </a:prstGeom>
            <a:solidFill>
              <a:srgbClr val="00FFFF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 CONSERVADOS</a:t>
              </a:r>
            </a:p>
          </p:txBody>
        </p:sp>
        <p:sp>
          <p:nvSpPr>
            <p:cNvPr id="222" name="Shape 222"/>
            <p:cNvSpPr txBox="1"/>
            <p:nvPr/>
          </p:nvSpPr>
          <p:spPr>
            <a:xfrm>
              <a:off x="7800975" y="11033125"/>
              <a:ext cx="3429000" cy="1428749"/>
            </a:xfrm>
            <a:prstGeom prst="rect">
              <a:avLst/>
            </a:prstGeom>
            <a:solidFill>
              <a:srgbClr val="00FFFF">
                <a:alpha val="1882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RECURSOS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DEPREDADOS</a:t>
              </a:r>
            </a:p>
          </p:txBody>
        </p:sp>
        <p:cxnSp>
          <p:nvCxnSpPr>
            <p:cNvPr id="223" name="Shape 223"/>
            <p:cNvCxnSpPr/>
            <p:nvPr/>
          </p:nvCxnSpPr>
          <p:spPr>
            <a:xfrm>
              <a:off x="6657975" y="11604625"/>
              <a:ext cx="0" cy="4000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4" name="Shape 224"/>
            <p:cNvCxnSpPr/>
            <p:nvPr/>
          </p:nvCxnSpPr>
          <p:spPr>
            <a:xfrm>
              <a:off x="6086475" y="11604625"/>
              <a:ext cx="571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5" name="Shape 225"/>
            <p:cNvCxnSpPr/>
            <p:nvPr/>
          </p:nvCxnSpPr>
          <p:spPr>
            <a:xfrm>
              <a:off x="6086475" y="13603287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6" name="Shape 226"/>
            <p:cNvCxnSpPr/>
            <p:nvPr/>
          </p:nvCxnSpPr>
          <p:spPr>
            <a:xfrm>
              <a:off x="6086475" y="15603537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7" name="Shape 227"/>
            <p:cNvCxnSpPr/>
            <p:nvPr/>
          </p:nvCxnSpPr>
          <p:spPr>
            <a:xfrm>
              <a:off x="11229975" y="11604625"/>
              <a:ext cx="571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8" name="Shape 228"/>
            <p:cNvCxnSpPr/>
            <p:nvPr/>
          </p:nvCxnSpPr>
          <p:spPr>
            <a:xfrm>
              <a:off x="11229975" y="13604875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9" name="Shape 229"/>
            <p:cNvCxnSpPr/>
            <p:nvPr/>
          </p:nvCxnSpPr>
          <p:spPr>
            <a:xfrm>
              <a:off x="11229975" y="15317787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  <p:pic>
        <p:nvPicPr>
          <p:cNvPr id="230" name="Shape 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4386" y="5081587"/>
            <a:ext cx="1979612" cy="177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Shape 2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5962" y="4724400"/>
            <a:ext cx="1612900" cy="10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Shape 23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667375"/>
            <a:ext cx="1190624" cy="119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Shape 2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312" y="2997200"/>
            <a:ext cx="102552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Shape 234"/>
          <p:cNvPicPr preferRelativeResize="0"/>
          <p:nvPr>
            <p:ph idx="2" type="body"/>
          </p:nvPr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4386" y="2852736"/>
            <a:ext cx="1162049" cy="17843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Remuneración al Recurso Naturaleza</a:t>
            </a:r>
          </a:p>
        </p:txBody>
      </p:sp>
      <p:sp>
        <p:nvSpPr>
          <p:cNvPr id="240" name="Shape 240"/>
          <p:cNvSpPr txBox="1"/>
          <p:nvPr>
            <p:ph idx="1" type="body"/>
          </p:nvPr>
        </p:nvSpPr>
        <p:spPr>
          <a:xfrm>
            <a:off x="838200" y="2362200"/>
            <a:ext cx="431006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retribución monetaria al Recurso Naturaleza se realiza mediante el pago de una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9600" u="none" cap="none" strike="noStrike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Renta</a:t>
            </a:r>
          </a:p>
        </p:txBody>
      </p:sp>
      <p:pic>
        <p:nvPicPr>
          <p:cNvPr id="241" name="Shape 2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600" y="2492375"/>
            <a:ext cx="3240087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 Humano</a:t>
            </a:r>
          </a:p>
        </p:txBody>
      </p:sp>
      <p:sp>
        <p:nvSpPr>
          <p:cNvPr id="247" name="Shape 247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denomina recurso humano a las diversas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servicios que aporta el hombre 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productivo.</a:t>
            </a:r>
          </a:p>
        </p:txBody>
      </p:sp>
      <p:pic>
        <p:nvPicPr>
          <p:cNvPr id="248" name="Shape 2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362" y="2998786"/>
            <a:ext cx="3409949" cy="243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 Humano</a:t>
            </a:r>
          </a:p>
        </p:txBody>
      </p:sp>
      <p:sp>
        <p:nvSpPr>
          <p:cNvPr id="254" name="Shape 254"/>
          <p:cNvSpPr txBox="1"/>
          <p:nvPr>
            <p:ph idx="1" type="body"/>
          </p:nvPr>
        </p:nvSpPr>
        <p:spPr>
          <a:xfrm>
            <a:off x="827087" y="2349500"/>
            <a:ext cx="4897436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Distintos tipos de servicios</a:t>
            </a:r>
          </a:p>
        </p:txBody>
      </p:sp>
      <p:grpSp>
        <p:nvGrpSpPr>
          <p:cNvPr id="255" name="Shape 255"/>
          <p:cNvGrpSpPr/>
          <p:nvPr/>
        </p:nvGrpSpPr>
        <p:grpSpPr>
          <a:xfrm>
            <a:off x="1331911" y="2781299"/>
            <a:ext cx="6911974" cy="3313111"/>
            <a:chOff x="1800225" y="7127875"/>
            <a:chExt cx="15430499" cy="11144250"/>
          </a:xfrm>
        </p:grpSpPr>
        <p:sp>
          <p:nvSpPr>
            <p:cNvPr id="256" name="Shape 256"/>
            <p:cNvSpPr txBox="1"/>
            <p:nvPr/>
          </p:nvSpPr>
          <p:spPr>
            <a:xfrm>
              <a:off x="1800225" y="7127875"/>
              <a:ext cx="15430499" cy="11144250"/>
            </a:xfrm>
            <a:prstGeom prst="rect">
              <a:avLst/>
            </a:prstGeom>
            <a:solidFill>
              <a:srgbClr val="FF9900">
                <a:alpha val="26666"/>
              </a:srgbClr>
            </a:solidFill>
            <a:ln cap="flat" cmpd="sng" w="2857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Shape 257"/>
            <p:cNvSpPr txBox="1"/>
            <p:nvPr/>
          </p:nvSpPr>
          <p:spPr>
            <a:xfrm>
              <a:off x="6086475" y="7413625"/>
              <a:ext cx="5429249" cy="11430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RECURSO HUMANO</a:t>
              </a:r>
            </a:p>
          </p:txBody>
        </p:sp>
        <p:sp>
          <p:nvSpPr>
            <p:cNvPr id="258" name="Shape 258"/>
            <p:cNvSpPr txBox="1"/>
            <p:nvPr/>
          </p:nvSpPr>
          <p:spPr>
            <a:xfrm>
              <a:off x="3228975" y="9699625"/>
              <a:ext cx="4857750" cy="2000250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SERVICIO EMPRESARIAL 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(Gobierno de la empresa)</a:t>
              </a:r>
            </a:p>
          </p:txBody>
        </p:sp>
        <p:sp>
          <p:nvSpPr>
            <p:cNvPr id="259" name="Shape 259"/>
            <p:cNvSpPr txBox="1"/>
            <p:nvPr/>
          </p:nvSpPr>
          <p:spPr>
            <a:xfrm>
              <a:off x="9229725" y="9699625"/>
              <a:ext cx="4572000" cy="2000250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SERVICIO PRODUCTIVO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(Trabajo)</a:t>
              </a:r>
            </a:p>
          </p:txBody>
        </p:sp>
        <p:sp>
          <p:nvSpPr>
            <p:cNvPr id="260" name="Shape 260"/>
            <p:cNvSpPr txBox="1"/>
            <p:nvPr/>
          </p:nvSpPr>
          <p:spPr>
            <a:xfrm>
              <a:off x="6657975" y="13128625"/>
              <a:ext cx="3429000" cy="1428749"/>
            </a:xfrm>
            <a:prstGeom prst="rect">
              <a:avLst/>
            </a:prstGeom>
            <a:solidFill>
              <a:srgbClr val="993366">
                <a:alpha val="14901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SERVICIO DE DIRECCION</a:t>
              </a:r>
            </a:p>
          </p:txBody>
        </p:sp>
        <p:sp>
          <p:nvSpPr>
            <p:cNvPr id="261" name="Shape 261"/>
            <p:cNvSpPr txBox="1"/>
            <p:nvPr/>
          </p:nvSpPr>
          <p:spPr>
            <a:xfrm>
              <a:off x="11229975" y="13128625"/>
              <a:ext cx="4000500" cy="1428749"/>
            </a:xfrm>
            <a:prstGeom prst="rect">
              <a:avLst/>
            </a:prstGeom>
            <a:solidFill>
              <a:srgbClr val="993366">
                <a:alpha val="12941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SERVICIO DE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MANO DE OBRA</a:t>
              </a:r>
            </a:p>
          </p:txBody>
        </p:sp>
        <p:sp>
          <p:nvSpPr>
            <p:cNvPr id="262" name="Shape 262"/>
            <p:cNvSpPr txBox="1"/>
            <p:nvPr/>
          </p:nvSpPr>
          <p:spPr>
            <a:xfrm>
              <a:off x="3800475" y="15700375"/>
              <a:ext cx="6286499" cy="2286000"/>
            </a:xfrm>
            <a:prstGeom prst="rect">
              <a:avLst/>
            </a:prstGeom>
            <a:solidFill>
              <a:srgbClr val="C0C0C0">
                <a:alpha val="67450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DIRECTA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(Interviene en la  transformación)</a:t>
              </a:r>
            </a:p>
          </p:txBody>
        </p:sp>
        <p:sp>
          <p:nvSpPr>
            <p:cNvPr id="263" name="Shape 263"/>
            <p:cNvSpPr txBox="1"/>
            <p:nvPr/>
          </p:nvSpPr>
          <p:spPr>
            <a:xfrm>
              <a:off x="10658475" y="15700375"/>
              <a:ext cx="6000750" cy="2286000"/>
            </a:xfrm>
            <a:prstGeom prst="rect">
              <a:avLst/>
            </a:prstGeom>
            <a:solidFill>
              <a:srgbClr val="C0C0C0">
                <a:alpha val="67450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INDIRECTA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(Auxilia a la mano de obra directa)</a:t>
              </a:r>
            </a:p>
          </p:txBody>
        </p:sp>
        <p:cxnSp>
          <p:nvCxnSpPr>
            <p:cNvPr id="264" name="Shape 264"/>
            <p:cNvCxnSpPr/>
            <p:nvPr/>
          </p:nvCxnSpPr>
          <p:spPr>
            <a:xfrm>
              <a:off x="7800975" y="15128875"/>
              <a:ext cx="7143749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65" name="Shape 265"/>
            <p:cNvCxnSpPr/>
            <p:nvPr/>
          </p:nvCxnSpPr>
          <p:spPr>
            <a:xfrm>
              <a:off x="12658725" y="1455737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66" name="Shape 266"/>
            <p:cNvCxnSpPr/>
            <p:nvPr/>
          </p:nvCxnSpPr>
          <p:spPr>
            <a:xfrm>
              <a:off x="7800975" y="1512887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67" name="Shape 267"/>
            <p:cNvCxnSpPr/>
            <p:nvPr/>
          </p:nvCxnSpPr>
          <p:spPr>
            <a:xfrm>
              <a:off x="14944725" y="1512887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68" name="Shape 268"/>
            <p:cNvCxnSpPr/>
            <p:nvPr/>
          </p:nvCxnSpPr>
          <p:spPr>
            <a:xfrm>
              <a:off x="8658225" y="12557125"/>
              <a:ext cx="514349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69" name="Shape 269"/>
            <p:cNvCxnSpPr/>
            <p:nvPr/>
          </p:nvCxnSpPr>
          <p:spPr>
            <a:xfrm>
              <a:off x="8658225" y="1255712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0" name="Shape 270"/>
            <p:cNvCxnSpPr/>
            <p:nvPr/>
          </p:nvCxnSpPr>
          <p:spPr>
            <a:xfrm>
              <a:off x="13801725" y="1255712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1" name="Shape 271"/>
            <p:cNvCxnSpPr/>
            <p:nvPr/>
          </p:nvCxnSpPr>
          <p:spPr>
            <a:xfrm>
              <a:off x="11515725" y="11699875"/>
              <a:ext cx="0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2" name="Shape 272"/>
            <p:cNvCxnSpPr/>
            <p:nvPr/>
          </p:nvCxnSpPr>
          <p:spPr>
            <a:xfrm>
              <a:off x="5800725" y="9128125"/>
              <a:ext cx="571499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3" name="Shape 273"/>
            <p:cNvCxnSpPr/>
            <p:nvPr/>
          </p:nvCxnSpPr>
          <p:spPr>
            <a:xfrm>
              <a:off x="5800725" y="912812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4" name="Shape 274"/>
            <p:cNvCxnSpPr/>
            <p:nvPr/>
          </p:nvCxnSpPr>
          <p:spPr>
            <a:xfrm>
              <a:off x="11515725" y="912812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75" name="Shape 275"/>
            <p:cNvCxnSpPr/>
            <p:nvPr/>
          </p:nvCxnSpPr>
          <p:spPr>
            <a:xfrm>
              <a:off x="8658225" y="8556625"/>
              <a:ext cx="0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  <p:pic>
        <p:nvPicPr>
          <p:cNvPr id="276" name="Shape 2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75" y="5927725"/>
            <a:ext cx="990599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Shape 27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0411" y="5072062"/>
            <a:ext cx="203358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Shape 2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7050" y="3357562"/>
            <a:ext cx="1331912" cy="115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Shape 2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6736" y="887412"/>
            <a:ext cx="2119312" cy="232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Shape 2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287" y="3213100"/>
            <a:ext cx="1371599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Shape 2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4575" y="4195762"/>
            <a:ext cx="1104899" cy="11048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Población</a:t>
            </a:r>
          </a:p>
        </p:txBody>
      </p:sp>
      <p:sp>
        <p:nvSpPr>
          <p:cNvPr id="287" name="Shape 287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Distinto tipos</a:t>
            </a:r>
          </a:p>
        </p:txBody>
      </p:sp>
      <p:pic>
        <p:nvPicPr>
          <p:cNvPr id="288" name="Shape 28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0"/>
            <a:ext cx="1766886" cy="1785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Shape 289"/>
          <p:cNvGrpSpPr/>
          <p:nvPr/>
        </p:nvGrpSpPr>
        <p:grpSpPr>
          <a:xfrm>
            <a:off x="1042987" y="3068636"/>
            <a:ext cx="7632700" cy="2863849"/>
            <a:chOff x="1800225" y="4879975"/>
            <a:chExt cx="15430499" cy="9429749"/>
          </a:xfrm>
        </p:grpSpPr>
        <p:sp>
          <p:nvSpPr>
            <p:cNvPr id="290" name="Shape 290"/>
            <p:cNvSpPr txBox="1"/>
            <p:nvPr/>
          </p:nvSpPr>
          <p:spPr>
            <a:xfrm>
              <a:off x="1800225" y="4879975"/>
              <a:ext cx="15430499" cy="9429749"/>
            </a:xfrm>
            <a:prstGeom prst="rect">
              <a:avLst/>
            </a:prstGeom>
            <a:solidFill>
              <a:srgbClr val="FFFF00">
                <a:alpha val="67450"/>
              </a:srgbClr>
            </a:solidFill>
            <a:ln cap="flat" cmpd="sng" w="2857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Shape 291"/>
            <p:cNvSpPr txBox="1"/>
            <p:nvPr/>
          </p:nvSpPr>
          <p:spPr>
            <a:xfrm>
              <a:off x="1800225" y="8880475"/>
              <a:ext cx="3143249" cy="1714500"/>
            </a:xfrm>
            <a:prstGeom prst="rect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TIPOS DE POBLACIÓN</a:t>
              </a:r>
            </a:p>
          </p:txBody>
        </p:sp>
        <p:sp>
          <p:nvSpPr>
            <p:cNvPr id="292" name="Shape 292"/>
            <p:cNvSpPr txBox="1"/>
            <p:nvPr/>
          </p:nvSpPr>
          <p:spPr>
            <a:xfrm>
              <a:off x="5800725" y="5165725"/>
              <a:ext cx="6000750" cy="2286000"/>
            </a:xfrm>
            <a:prstGeom prst="rect">
              <a:avLst/>
            </a:prstGeom>
            <a:solidFill>
              <a:srgbClr val="00FFFF">
                <a:alpha val="6980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EDAD ECONOMICAMENTE DEPENDIENTE TRANSITORIA O PASIVA TRANSITORIA (PEEDT)</a:t>
              </a:r>
            </a:p>
          </p:txBody>
        </p:sp>
        <p:sp>
          <p:nvSpPr>
            <p:cNvPr id="293" name="Shape 293"/>
            <p:cNvSpPr txBox="1"/>
            <p:nvPr/>
          </p:nvSpPr>
          <p:spPr>
            <a:xfrm>
              <a:off x="5514975" y="8308975"/>
              <a:ext cx="3714750" cy="2000250"/>
            </a:xfrm>
            <a:prstGeom prst="rect">
              <a:avLst/>
            </a:prstGeom>
            <a:solidFill>
              <a:srgbClr val="00FFFF">
                <a:alpha val="6980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EDAD ECONOMICAMENTE ACTIVA (PEEA)</a:t>
              </a:r>
            </a:p>
          </p:txBody>
        </p:sp>
        <p:sp>
          <p:nvSpPr>
            <p:cNvPr id="294" name="Shape 294"/>
            <p:cNvSpPr txBox="1"/>
            <p:nvPr/>
          </p:nvSpPr>
          <p:spPr>
            <a:xfrm>
              <a:off x="6086475" y="11737975"/>
              <a:ext cx="6000750" cy="2000250"/>
            </a:xfrm>
            <a:prstGeom prst="rect">
              <a:avLst/>
            </a:prstGeom>
            <a:solidFill>
              <a:srgbClr val="00FFFF">
                <a:alpha val="69803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EDAD ECONOMICAMENTE DEPENDIENTE DEFINITIVA O PASIVA DEFINITIVA (PEEDD)</a:t>
              </a:r>
            </a:p>
          </p:txBody>
        </p:sp>
        <p:sp>
          <p:nvSpPr>
            <p:cNvPr id="295" name="Shape 295"/>
            <p:cNvSpPr txBox="1"/>
            <p:nvPr/>
          </p:nvSpPr>
          <p:spPr>
            <a:xfrm>
              <a:off x="14373225" y="7165975"/>
              <a:ext cx="2857499" cy="1428749"/>
            </a:xfrm>
            <a:prstGeom prst="rect">
              <a:avLst/>
            </a:prstGeom>
            <a:solidFill>
              <a:srgbClr val="CC99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POBLACION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OCUPADA (PA)</a:t>
              </a:r>
            </a:p>
          </p:txBody>
        </p:sp>
        <p:sp>
          <p:nvSpPr>
            <p:cNvPr id="296" name="Shape 296"/>
            <p:cNvSpPr txBox="1"/>
            <p:nvPr/>
          </p:nvSpPr>
          <p:spPr>
            <a:xfrm>
              <a:off x="14373225" y="8880475"/>
              <a:ext cx="2857499" cy="1428749"/>
            </a:xfrm>
            <a:prstGeom prst="rect">
              <a:avLst/>
            </a:prstGeom>
            <a:solidFill>
              <a:srgbClr val="CC99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POBLACION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DESOCUPADA</a:t>
              </a:r>
            </a:p>
          </p:txBody>
        </p:sp>
        <p:sp>
          <p:nvSpPr>
            <p:cNvPr id="297" name="Shape 297"/>
            <p:cNvSpPr txBox="1"/>
            <p:nvPr/>
          </p:nvSpPr>
          <p:spPr>
            <a:xfrm>
              <a:off x="9801225" y="10023475"/>
              <a:ext cx="3714750" cy="1428749"/>
            </a:xfrm>
            <a:prstGeom prst="rect">
              <a:avLst/>
            </a:prstGeom>
            <a:solidFill>
              <a:srgbClr val="FF0000">
                <a:alpha val="43921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POBLACION INACTIVA (PI</a:t>
              </a: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</p:txBody>
        </p:sp>
        <p:sp>
          <p:nvSpPr>
            <p:cNvPr id="298" name="Shape 298"/>
            <p:cNvSpPr txBox="1"/>
            <p:nvPr/>
          </p:nvSpPr>
          <p:spPr>
            <a:xfrm>
              <a:off x="13230225" y="12023725"/>
              <a:ext cx="2571749" cy="1428749"/>
            </a:xfrm>
            <a:prstGeom prst="rect">
              <a:avLst/>
            </a:prstGeom>
            <a:solidFill>
              <a:srgbClr val="FF0000">
                <a:alpha val="3764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POBLACION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INACTIVA (PI)</a:t>
              </a:r>
            </a:p>
          </p:txBody>
        </p:sp>
        <p:cxnSp>
          <p:nvCxnSpPr>
            <p:cNvPr id="299" name="Shape 299"/>
            <p:cNvCxnSpPr/>
            <p:nvPr/>
          </p:nvCxnSpPr>
          <p:spPr>
            <a:xfrm>
              <a:off x="5229225" y="6308725"/>
              <a:ext cx="1587" cy="60007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0" name="Shape 300"/>
            <p:cNvCxnSpPr/>
            <p:nvPr/>
          </p:nvCxnSpPr>
          <p:spPr>
            <a:xfrm>
              <a:off x="5229225" y="6308725"/>
              <a:ext cx="571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1" name="Shape 301"/>
            <p:cNvCxnSpPr/>
            <p:nvPr/>
          </p:nvCxnSpPr>
          <p:spPr>
            <a:xfrm>
              <a:off x="5229225" y="9451975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2" name="Shape 302"/>
            <p:cNvCxnSpPr/>
            <p:nvPr/>
          </p:nvCxnSpPr>
          <p:spPr>
            <a:xfrm>
              <a:off x="5229225" y="12309475"/>
              <a:ext cx="8572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303" name="Shape 303"/>
            <p:cNvSpPr txBox="1"/>
            <p:nvPr/>
          </p:nvSpPr>
          <p:spPr>
            <a:xfrm>
              <a:off x="9801225" y="7737475"/>
              <a:ext cx="3714750" cy="2000250"/>
            </a:xfrm>
            <a:prstGeom prst="rect">
              <a:avLst/>
            </a:prstGeom>
            <a:solidFill>
              <a:srgbClr val="CC99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POBLACIÓN ECONOMICAMENTE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ACTIVA (PEA)</a:t>
              </a:r>
            </a:p>
          </p:txBody>
        </p:sp>
        <p:cxnSp>
          <p:nvCxnSpPr>
            <p:cNvPr id="304" name="Shape 304"/>
            <p:cNvCxnSpPr/>
            <p:nvPr/>
          </p:nvCxnSpPr>
          <p:spPr>
            <a:xfrm>
              <a:off x="12087225" y="13165137"/>
              <a:ext cx="11430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5" name="Shape 305"/>
            <p:cNvCxnSpPr/>
            <p:nvPr/>
          </p:nvCxnSpPr>
          <p:spPr>
            <a:xfrm>
              <a:off x="9515475" y="8308975"/>
              <a:ext cx="1587" cy="2000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6" name="Shape 306"/>
            <p:cNvCxnSpPr/>
            <p:nvPr/>
          </p:nvCxnSpPr>
          <p:spPr>
            <a:xfrm>
              <a:off x="9515475" y="8308975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7" name="Shape 307"/>
            <p:cNvCxnSpPr/>
            <p:nvPr/>
          </p:nvCxnSpPr>
          <p:spPr>
            <a:xfrm>
              <a:off x="9515475" y="10307636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8" name="Shape 308"/>
            <p:cNvCxnSpPr/>
            <p:nvPr/>
          </p:nvCxnSpPr>
          <p:spPr>
            <a:xfrm>
              <a:off x="9229725" y="9166225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09" name="Shape 309"/>
            <p:cNvCxnSpPr/>
            <p:nvPr/>
          </p:nvCxnSpPr>
          <p:spPr>
            <a:xfrm>
              <a:off x="11801475" y="6308725"/>
              <a:ext cx="8572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10" name="Shape 310"/>
            <p:cNvCxnSpPr/>
            <p:nvPr/>
          </p:nvCxnSpPr>
          <p:spPr>
            <a:xfrm>
              <a:off x="13801725" y="8021636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11" name="Shape 311"/>
            <p:cNvCxnSpPr/>
            <p:nvPr/>
          </p:nvCxnSpPr>
          <p:spPr>
            <a:xfrm>
              <a:off x="13801725" y="9450386"/>
              <a:ext cx="57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12" name="Shape 312"/>
            <p:cNvCxnSpPr/>
            <p:nvPr/>
          </p:nvCxnSpPr>
          <p:spPr>
            <a:xfrm>
              <a:off x="13801725" y="8023225"/>
              <a:ext cx="1587" cy="142874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13" name="Shape 313"/>
            <p:cNvCxnSpPr/>
            <p:nvPr/>
          </p:nvCxnSpPr>
          <p:spPr>
            <a:xfrm>
              <a:off x="13515975" y="8594725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314" name="Shape 314"/>
            <p:cNvSpPr txBox="1"/>
            <p:nvPr/>
          </p:nvSpPr>
          <p:spPr>
            <a:xfrm>
              <a:off x="12658725" y="5165725"/>
              <a:ext cx="3429000" cy="1714500"/>
            </a:xfrm>
            <a:prstGeom prst="rect">
              <a:avLst/>
            </a:prstGeom>
            <a:solidFill>
              <a:srgbClr val="FF0000">
                <a:alpha val="34901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POBLACION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INACTIVA (PI)</a:t>
              </a:r>
            </a:p>
          </p:txBody>
        </p:sp>
        <p:cxnSp>
          <p:nvCxnSpPr>
            <p:cNvPr id="315" name="Shape 315"/>
            <p:cNvCxnSpPr/>
            <p:nvPr/>
          </p:nvCxnSpPr>
          <p:spPr>
            <a:xfrm>
              <a:off x="4943475" y="9451975"/>
              <a:ext cx="285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  <p:pic>
        <p:nvPicPr>
          <p:cNvPr id="316" name="Shape 31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6" y="2708275"/>
            <a:ext cx="17145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Shape 3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086" y="1031875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Shape 3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7800" y="5667375"/>
            <a:ext cx="1166811" cy="119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Shape 3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4625" y="4783137"/>
            <a:ext cx="1349375" cy="101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Shape 3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93061" y="2133600"/>
            <a:ext cx="1150936" cy="15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Shape 3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27762" y="1700211"/>
            <a:ext cx="1374774" cy="126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Shape 3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8312" y="5084762"/>
            <a:ext cx="1420811" cy="152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y consumo</a:t>
            </a:r>
          </a:p>
        </p:txBody>
      </p:sp>
      <p:sp>
        <p:nvSpPr>
          <p:cNvPr id="328" name="Shape 328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FE ≥ AREA OAFG + AREA DME</a:t>
            </a:r>
          </a:p>
        </p:txBody>
      </p:sp>
      <p:grpSp>
        <p:nvGrpSpPr>
          <p:cNvPr id="329" name="Shape 329"/>
          <p:cNvGrpSpPr/>
          <p:nvPr/>
        </p:nvGrpSpPr>
        <p:grpSpPr>
          <a:xfrm>
            <a:off x="1476375" y="2781299"/>
            <a:ext cx="6057900" cy="3498849"/>
            <a:chOff x="2063750" y="6149975"/>
            <a:chExt cx="15144750" cy="8748712"/>
          </a:xfrm>
        </p:grpSpPr>
        <p:sp>
          <p:nvSpPr>
            <p:cNvPr id="330" name="Shape 330"/>
            <p:cNvSpPr txBox="1"/>
            <p:nvPr/>
          </p:nvSpPr>
          <p:spPr>
            <a:xfrm>
              <a:off x="2063750" y="6149975"/>
              <a:ext cx="15144750" cy="8748712"/>
            </a:xfrm>
            <a:prstGeom prst="rect">
              <a:avLst/>
            </a:prstGeom>
            <a:solidFill>
              <a:srgbClr val="C0C0C0"/>
            </a:solidFill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Shape 331"/>
            <p:cNvSpPr/>
            <p:nvPr/>
          </p:nvSpPr>
          <p:spPr>
            <a:xfrm>
              <a:off x="4637087" y="7300911"/>
              <a:ext cx="6326186" cy="6311900"/>
            </a:xfrm>
            <a:custGeom>
              <a:pathLst>
                <a:path extrusionOk="0" h="4415" w="4425">
                  <a:moveTo>
                    <a:pt x="0" y="4415"/>
                  </a:moveTo>
                  <a:cubicBezTo>
                    <a:pt x="150" y="3961"/>
                    <a:pt x="665" y="2348"/>
                    <a:pt x="900" y="1693"/>
                  </a:cubicBezTo>
                  <a:cubicBezTo>
                    <a:pt x="1135" y="1037"/>
                    <a:pt x="1268" y="738"/>
                    <a:pt x="1410" y="478"/>
                  </a:cubicBezTo>
                  <a:cubicBezTo>
                    <a:pt x="1552" y="218"/>
                    <a:pt x="1648" y="207"/>
                    <a:pt x="1755" y="132"/>
                  </a:cubicBezTo>
                  <a:cubicBezTo>
                    <a:pt x="1862" y="57"/>
                    <a:pt x="1950" y="47"/>
                    <a:pt x="2055" y="27"/>
                  </a:cubicBezTo>
                  <a:cubicBezTo>
                    <a:pt x="2160" y="7"/>
                    <a:pt x="2273" y="0"/>
                    <a:pt x="2385" y="12"/>
                  </a:cubicBezTo>
                  <a:cubicBezTo>
                    <a:pt x="2497" y="24"/>
                    <a:pt x="2612" y="12"/>
                    <a:pt x="2730" y="102"/>
                  </a:cubicBezTo>
                  <a:cubicBezTo>
                    <a:pt x="2848" y="192"/>
                    <a:pt x="2903" y="155"/>
                    <a:pt x="3090" y="552"/>
                  </a:cubicBezTo>
                  <a:cubicBezTo>
                    <a:pt x="3277" y="949"/>
                    <a:pt x="3690" y="2059"/>
                    <a:pt x="3855" y="2487"/>
                  </a:cubicBezTo>
                  <a:cubicBezTo>
                    <a:pt x="4020" y="2915"/>
                    <a:pt x="3997" y="2857"/>
                    <a:pt x="4080" y="3117"/>
                  </a:cubicBezTo>
                  <a:cubicBezTo>
                    <a:pt x="4163" y="3377"/>
                    <a:pt x="4292" y="3832"/>
                    <a:pt x="4350" y="4047"/>
                  </a:cubicBezTo>
                  <a:cubicBezTo>
                    <a:pt x="4408" y="4262"/>
                    <a:pt x="4410" y="4332"/>
                    <a:pt x="4425" y="4407"/>
                  </a:cubicBezTo>
                </a:path>
              </a:pathLst>
            </a:custGeom>
            <a:solidFill>
              <a:srgbClr val="FFFF00">
                <a:alpha val="58431"/>
              </a:srgbClr>
            </a:solidFill>
            <a:ln cap="flat" cmpd="sng" w="254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Shape 332"/>
            <p:cNvSpPr/>
            <p:nvPr/>
          </p:nvSpPr>
          <p:spPr>
            <a:xfrm>
              <a:off x="3290887" y="8789986"/>
              <a:ext cx="8293099" cy="4875211"/>
            </a:xfrm>
            <a:custGeom>
              <a:pathLst>
                <a:path extrusionOk="0" h="3410" w="5802">
                  <a:moveTo>
                    <a:pt x="57" y="3410"/>
                  </a:moveTo>
                  <a:cubicBezTo>
                    <a:pt x="54" y="3285"/>
                    <a:pt x="30" y="2792"/>
                    <a:pt x="42" y="2660"/>
                  </a:cubicBezTo>
                  <a:cubicBezTo>
                    <a:pt x="54" y="2528"/>
                    <a:pt x="0" y="2680"/>
                    <a:pt x="132" y="2615"/>
                  </a:cubicBezTo>
                  <a:cubicBezTo>
                    <a:pt x="264" y="2550"/>
                    <a:pt x="610" y="2417"/>
                    <a:pt x="837" y="2270"/>
                  </a:cubicBezTo>
                  <a:cubicBezTo>
                    <a:pt x="1064" y="2123"/>
                    <a:pt x="1285" y="1965"/>
                    <a:pt x="1497" y="1730"/>
                  </a:cubicBezTo>
                  <a:cubicBezTo>
                    <a:pt x="1709" y="1495"/>
                    <a:pt x="1942" y="1077"/>
                    <a:pt x="2112" y="860"/>
                  </a:cubicBezTo>
                  <a:cubicBezTo>
                    <a:pt x="2282" y="643"/>
                    <a:pt x="2367" y="557"/>
                    <a:pt x="2517" y="425"/>
                  </a:cubicBezTo>
                  <a:cubicBezTo>
                    <a:pt x="2667" y="293"/>
                    <a:pt x="2845" y="130"/>
                    <a:pt x="3012" y="65"/>
                  </a:cubicBezTo>
                  <a:cubicBezTo>
                    <a:pt x="3179" y="0"/>
                    <a:pt x="3380" y="5"/>
                    <a:pt x="3522" y="35"/>
                  </a:cubicBezTo>
                  <a:cubicBezTo>
                    <a:pt x="3664" y="65"/>
                    <a:pt x="3777" y="173"/>
                    <a:pt x="3867" y="245"/>
                  </a:cubicBezTo>
                  <a:cubicBezTo>
                    <a:pt x="3957" y="317"/>
                    <a:pt x="3977" y="357"/>
                    <a:pt x="4062" y="470"/>
                  </a:cubicBezTo>
                  <a:cubicBezTo>
                    <a:pt x="4147" y="583"/>
                    <a:pt x="4235" y="705"/>
                    <a:pt x="4377" y="920"/>
                  </a:cubicBezTo>
                  <a:cubicBezTo>
                    <a:pt x="4519" y="1135"/>
                    <a:pt x="4772" y="1528"/>
                    <a:pt x="4917" y="1760"/>
                  </a:cubicBezTo>
                  <a:cubicBezTo>
                    <a:pt x="5062" y="1992"/>
                    <a:pt x="5154" y="2153"/>
                    <a:pt x="5247" y="2315"/>
                  </a:cubicBezTo>
                  <a:cubicBezTo>
                    <a:pt x="5340" y="2477"/>
                    <a:pt x="5379" y="2560"/>
                    <a:pt x="5472" y="2735"/>
                  </a:cubicBezTo>
                  <a:cubicBezTo>
                    <a:pt x="5565" y="2910"/>
                    <a:pt x="5733" y="3234"/>
                    <a:pt x="5802" y="3365"/>
                  </a:cubicBezTo>
                </a:path>
              </a:pathLst>
            </a:custGeom>
            <a:solidFill>
              <a:srgbClr val="008000">
                <a:alpha val="30588"/>
              </a:srgbClr>
            </a:solidFill>
            <a:ln cap="flat" cmpd="sng" w="25400">
              <a:solidFill>
                <a:srgbClr val="0033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Shape 333"/>
            <p:cNvCxnSpPr/>
            <p:nvPr/>
          </p:nvCxnSpPr>
          <p:spPr>
            <a:xfrm>
              <a:off x="5408612" y="11296650"/>
              <a:ext cx="1587" cy="23161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oval"/>
              <a:tailEnd len="med" w="med" type="oval"/>
            </a:ln>
          </p:spPr>
        </p:cxnSp>
        <p:cxnSp>
          <p:nvCxnSpPr>
            <p:cNvPr id="334" name="Shape 334"/>
            <p:cNvCxnSpPr/>
            <p:nvPr/>
          </p:nvCxnSpPr>
          <p:spPr>
            <a:xfrm>
              <a:off x="10298111" y="11296650"/>
              <a:ext cx="1587" cy="23161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oval"/>
              <a:tailEnd len="med" w="med" type="oval"/>
            </a:ln>
          </p:spPr>
        </p:cxnSp>
        <p:sp>
          <p:nvSpPr>
            <p:cNvPr id="335" name="Shape 335"/>
            <p:cNvSpPr txBox="1"/>
            <p:nvPr/>
          </p:nvSpPr>
          <p:spPr>
            <a:xfrm>
              <a:off x="9783761" y="7694611"/>
              <a:ext cx="5146674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Arial"/>
                <a:buNone/>
              </a:pPr>
              <a:r>
                <a:rPr b="0" i="1" lang="en-US" sz="11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CURVA DE PRODUCCIÓN</a:t>
              </a:r>
            </a:p>
          </p:txBody>
        </p:sp>
        <p:sp>
          <p:nvSpPr>
            <p:cNvPr id="336" name="Shape 336"/>
            <p:cNvSpPr txBox="1"/>
            <p:nvPr/>
          </p:nvSpPr>
          <p:spPr>
            <a:xfrm>
              <a:off x="10812461" y="11296650"/>
              <a:ext cx="4632325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1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CURVA DE CONSUMO</a:t>
              </a:r>
            </a:p>
          </p:txBody>
        </p:sp>
        <p:sp>
          <p:nvSpPr>
            <p:cNvPr id="337" name="Shape 337"/>
            <p:cNvSpPr txBox="1"/>
            <p:nvPr/>
          </p:nvSpPr>
          <p:spPr>
            <a:xfrm>
              <a:off x="5151437" y="13612812"/>
              <a:ext cx="771524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</a:p>
          </p:txBody>
        </p:sp>
        <p:sp>
          <p:nvSpPr>
            <p:cNvPr id="338" name="Shape 338"/>
            <p:cNvSpPr txBox="1"/>
            <p:nvPr/>
          </p:nvSpPr>
          <p:spPr>
            <a:xfrm>
              <a:off x="10040936" y="13612812"/>
              <a:ext cx="771524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</a:p>
          </p:txBody>
        </p:sp>
        <p:sp>
          <p:nvSpPr>
            <p:cNvPr id="339" name="Shape 339"/>
            <p:cNvSpPr txBox="1"/>
            <p:nvPr/>
          </p:nvSpPr>
          <p:spPr>
            <a:xfrm>
              <a:off x="13900150" y="13612812"/>
              <a:ext cx="1544636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EDAD</a:t>
              </a:r>
            </a:p>
          </p:txBody>
        </p:sp>
        <p:sp>
          <p:nvSpPr>
            <p:cNvPr id="340" name="Shape 340"/>
            <p:cNvSpPr txBox="1"/>
            <p:nvPr/>
          </p:nvSpPr>
          <p:spPr>
            <a:xfrm>
              <a:off x="11326811" y="13612812"/>
              <a:ext cx="773111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</a:p>
          </p:txBody>
        </p:sp>
        <p:sp>
          <p:nvSpPr>
            <p:cNvPr id="341" name="Shape 341"/>
            <p:cNvSpPr txBox="1"/>
            <p:nvPr/>
          </p:nvSpPr>
          <p:spPr>
            <a:xfrm>
              <a:off x="2063750" y="6149975"/>
              <a:ext cx="3429000" cy="1285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CONSUMO</a:t>
              </a:r>
            </a:p>
          </p:txBody>
        </p:sp>
        <p:sp>
          <p:nvSpPr>
            <p:cNvPr id="342" name="Shape 342"/>
            <p:cNvSpPr txBox="1"/>
            <p:nvPr/>
          </p:nvSpPr>
          <p:spPr>
            <a:xfrm>
              <a:off x="3092450" y="13612812"/>
              <a:ext cx="773111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</a:p>
          </p:txBody>
        </p:sp>
        <p:cxnSp>
          <p:nvCxnSpPr>
            <p:cNvPr id="343" name="Shape 343"/>
            <p:cNvCxnSpPr/>
            <p:nvPr/>
          </p:nvCxnSpPr>
          <p:spPr>
            <a:xfrm rot="10800000">
              <a:off x="3349625" y="7178675"/>
              <a:ext cx="0" cy="643413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344" name="Shape 344"/>
            <p:cNvCxnSpPr/>
            <p:nvPr/>
          </p:nvCxnSpPr>
          <p:spPr>
            <a:xfrm>
              <a:off x="3349625" y="13612812"/>
              <a:ext cx="108077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345" name="Shape 345"/>
            <p:cNvSpPr txBox="1"/>
            <p:nvPr/>
          </p:nvSpPr>
          <p:spPr>
            <a:xfrm>
              <a:off x="2835275" y="12325350"/>
              <a:ext cx="773111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</a:p>
          </p:txBody>
        </p:sp>
        <p:sp>
          <p:nvSpPr>
            <p:cNvPr id="346" name="Shape 346"/>
            <p:cNvSpPr txBox="1"/>
            <p:nvPr/>
          </p:nvSpPr>
          <p:spPr>
            <a:xfrm>
              <a:off x="6953250" y="7951786"/>
              <a:ext cx="2057400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AREA FE</a:t>
              </a:r>
            </a:p>
          </p:txBody>
        </p:sp>
        <p:sp>
          <p:nvSpPr>
            <p:cNvPr id="347" name="Shape 347"/>
            <p:cNvSpPr txBox="1"/>
            <p:nvPr/>
          </p:nvSpPr>
          <p:spPr>
            <a:xfrm>
              <a:off x="3776662" y="12150725"/>
              <a:ext cx="2573337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AREA </a:t>
              </a:r>
              <a:r>
                <a:rPr b="1" i="0" lang="en-US" sz="1100" u="sng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OAFG</a:t>
              </a:r>
            </a:p>
          </p:txBody>
        </p:sp>
        <p:sp>
          <p:nvSpPr>
            <p:cNvPr id="348" name="Shape 348"/>
            <p:cNvSpPr txBox="1"/>
            <p:nvPr/>
          </p:nvSpPr>
          <p:spPr>
            <a:xfrm>
              <a:off x="4894262" y="10782300"/>
              <a:ext cx="771524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</a:p>
          </p:txBody>
        </p:sp>
        <p:sp>
          <p:nvSpPr>
            <p:cNvPr id="349" name="Shape 349"/>
            <p:cNvSpPr txBox="1"/>
            <p:nvPr/>
          </p:nvSpPr>
          <p:spPr>
            <a:xfrm>
              <a:off x="10298111" y="10782300"/>
              <a:ext cx="771524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</a:p>
          </p:txBody>
        </p:sp>
        <p:sp>
          <p:nvSpPr>
            <p:cNvPr id="350" name="Shape 350"/>
            <p:cNvSpPr txBox="1"/>
            <p:nvPr/>
          </p:nvSpPr>
          <p:spPr>
            <a:xfrm>
              <a:off x="11069636" y="12582525"/>
              <a:ext cx="2573337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AREA </a:t>
              </a:r>
              <a:r>
                <a:rPr b="1" i="0" lang="en-US" sz="1100" u="sng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DME</a:t>
              </a:r>
            </a:p>
          </p:txBody>
        </p:sp>
        <p:sp>
          <p:nvSpPr>
            <p:cNvPr id="351" name="Shape 351"/>
            <p:cNvSpPr txBox="1"/>
            <p:nvPr/>
          </p:nvSpPr>
          <p:spPr>
            <a:xfrm>
              <a:off x="10812461" y="13612812"/>
              <a:ext cx="771524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</a:p>
          </p:txBody>
        </p:sp>
        <p:sp>
          <p:nvSpPr>
            <p:cNvPr id="352" name="Shape 352"/>
            <p:cNvSpPr txBox="1"/>
            <p:nvPr/>
          </p:nvSpPr>
          <p:spPr>
            <a:xfrm>
              <a:off x="4379912" y="13612812"/>
              <a:ext cx="771524" cy="771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Pirámides de población</a:t>
            </a:r>
          </a:p>
        </p:txBody>
      </p:sp>
      <p:pic>
        <p:nvPicPr>
          <p:cNvPr id="358" name="Shape 3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87" y="2852736"/>
            <a:ext cx="2952750" cy="331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Shape 359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462" y="2708275"/>
            <a:ext cx="2841625" cy="151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Shape 360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5600" y="4797425"/>
            <a:ext cx="3375025" cy="15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Pirámide de la Población Argentina</a:t>
            </a:r>
          </a:p>
        </p:txBody>
      </p:sp>
      <p:sp>
        <p:nvSpPr>
          <p:cNvPr id="366" name="Shape 366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Shape 367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Shape 3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7" y="2781300"/>
            <a:ext cx="7273924" cy="374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Remuneración al Recurso Humano</a:t>
            </a:r>
          </a:p>
        </p:txBody>
      </p:sp>
      <p:sp>
        <p:nvSpPr>
          <p:cNvPr id="374" name="Shape 374"/>
          <p:cNvSpPr txBox="1"/>
          <p:nvPr>
            <p:ph idx="1" type="body"/>
          </p:nvPr>
        </p:nvSpPr>
        <p:spPr>
          <a:xfrm>
            <a:off x="827087" y="2349500"/>
            <a:ext cx="7920036" cy="423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retribución monetaria al Recurso Humano se realiza mediante el pago de: </a:t>
            </a:r>
          </a:p>
          <a:p>
            <a:pPr indent="0" lvl="0" marL="0" marR="0" rtl="0" algn="l">
              <a:lnSpc>
                <a:spcPct val="7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9600" u="none" cap="none" strike="noStrike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Beneficios</a:t>
            </a:r>
          </a:p>
          <a:p>
            <a:pPr indent="0" lvl="0" marL="0" marR="0" rtl="0" algn="ctr">
              <a:lnSpc>
                <a:spcPct val="7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9600" u="none" cap="none" strike="noStrike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Salarios</a:t>
            </a:r>
          </a:p>
          <a:p>
            <a:pPr indent="0" lvl="0" marL="0" marR="0" rtl="0" algn="r">
              <a:lnSpc>
                <a:spcPct val="7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9600" u="none" cap="none" strike="noStrike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Sueldos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 Capital</a:t>
            </a:r>
          </a:p>
        </p:txBody>
      </p:sp>
      <p:sp>
        <p:nvSpPr>
          <p:cNvPr id="380" name="Shape 380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capital es un factor de producción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constituido por diferente tipo de bienes 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incluso dinero que se destina a la producción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bienes y servicios útiles. 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Recurso capital</a:t>
            </a:r>
          </a:p>
        </p:txBody>
      </p:sp>
      <p:sp>
        <p:nvSpPr>
          <p:cNvPr id="386" name="Shape 386"/>
          <p:cNvSpPr txBox="1"/>
          <p:nvPr>
            <p:ph idx="1" type="body"/>
          </p:nvPr>
        </p:nvSpPr>
        <p:spPr>
          <a:xfrm>
            <a:off x="827087" y="23495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</a:p>
        </p:txBody>
      </p:sp>
      <p:grpSp>
        <p:nvGrpSpPr>
          <p:cNvPr id="387" name="Shape 387"/>
          <p:cNvGrpSpPr/>
          <p:nvPr/>
        </p:nvGrpSpPr>
        <p:grpSpPr>
          <a:xfrm>
            <a:off x="1187449" y="3068637"/>
            <a:ext cx="6984999" cy="3168650"/>
            <a:chOff x="2000250" y="4251325"/>
            <a:chExt cx="15430499" cy="4857750"/>
          </a:xfrm>
        </p:grpSpPr>
        <p:sp>
          <p:nvSpPr>
            <p:cNvPr id="388" name="Shape 388"/>
            <p:cNvSpPr txBox="1"/>
            <p:nvPr/>
          </p:nvSpPr>
          <p:spPr>
            <a:xfrm>
              <a:off x="2000250" y="4251325"/>
              <a:ext cx="15430499" cy="4857750"/>
            </a:xfrm>
            <a:prstGeom prst="rect">
              <a:avLst/>
            </a:prstGeom>
            <a:solidFill>
              <a:srgbClr val="FFFF00">
                <a:alpha val="43529"/>
              </a:srgbClr>
            </a:solidFill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Shape 389"/>
            <p:cNvSpPr txBox="1"/>
            <p:nvPr/>
          </p:nvSpPr>
          <p:spPr>
            <a:xfrm>
              <a:off x="7429500" y="4537075"/>
              <a:ext cx="4572000" cy="142874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DISPONIBLE</a:t>
              </a:r>
            </a:p>
          </p:txBody>
        </p:sp>
        <p:sp>
          <p:nvSpPr>
            <p:cNvPr id="390" name="Shape 390"/>
            <p:cNvSpPr txBox="1"/>
            <p:nvPr/>
          </p:nvSpPr>
          <p:spPr>
            <a:xfrm>
              <a:off x="3143250" y="7108825"/>
              <a:ext cx="3714750" cy="142874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FIJO</a:t>
              </a:r>
            </a:p>
          </p:txBody>
        </p:sp>
        <p:sp>
          <p:nvSpPr>
            <p:cNvPr id="391" name="Shape 391"/>
            <p:cNvSpPr txBox="1"/>
            <p:nvPr/>
          </p:nvSpPr>
          <p:spPr>
            <a:xfrm>
              <a:off x="10858500" y="7108825"/>
              <a:ext cx="6000750" cy="142874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CAPITAL CIRCULANTE</a:t>
              </a:r>
            </a:p>
          </p:txBody>
        </p:sp>
        <p:cxnSp>
          <p:nvCxnSpPr>
            <p:cNvPr id="392" name="Shape 392"/>
            <p:cNvCxnSpPr/>
            <p:nvPr/>
          </p:nvCxnSpPr>
          <p:spPr>
            <a:xfrm>
              <a:off x="5143500" y="6537325"/>
              <a:ext cx="91440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93" name="Shape 393"/>
            <p:cNvCxnSpPr/>
            <p:nvPr/>
          </p:nvCxnSpPr>
          <p:spPr>
            <a:xfrm>
              <a:off x="5143500" y="65373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94" name="Shape 394"/>
            <p:cNvCxnSpPr/>
            <p:nvPr/>
          </p:nvCxnSpPr>
          <p:spPr>
            <a:xfrm>
              <a:off x="14287500" y="65373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395" name="Shape 395"/>
            <p:cNvCxnSpPr/>
            <p:nvPr/>
          </p:nvCxnSpPr>
          <p:spPr>
            <a:xfrm>
              <a:off x="9715500" y="596582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Capital circulante</a:t>
            </a:r>
          </a:p>
        </p:txBody>
      </p:sp>
      <p:sp>
        <p:nvSpPr>
          <p:cNvPr id="401" name="Shape 401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Shape 402"/>
          <p:cNvGrpSpPr/>
          <p:nvPr/>
        </p:nvGrpSpPr>
        <p:grpSpPr>
          <a:xfrm>
            <a:off x="971549" y="2636837"/>
            <a:ext cx="7272336" cy="3708400"/>
            <a:chOff x="2000250" y="2251075"/>
            <a:chExt cx="15430500" cy="11430000"/>
          </a:xfrm>
        </p:grpSpPr>
        <p:sp>
          <p:nvSpPr>
            <p:cNvPr id="403" name="Shape 403"/>
            <p:cNvSpPr txBox="1"/>
            <p:nvPr/>
          </p:nvSpPr>
          <p:spPr>
            <a:xfrm>
              <a:off x="2000250" y="2251075"/>
              <a:ext cx="15430499" cy="11429999"/>
            </a:xfrm>
            <a:prstGeom prst="rect">
              <a:avLst/>
            </a:prstGeom>
            <a:solidFill>
              <a:srgbClr val="FFFF00">
                <a:alpha val="51764"/>
              </a:srgbClr>
            </a:solidFill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Shape 404"/>
            <p:cNvSpPr/>
            <p:nvPr/>
          </p:nvSpPr>
          <p:spPr>
            <a:xfrm>
              <a:off x="6572250" y="4251325"/>
              <a:ext cx="3143249" cy="200025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CUENTAS BANCARIAS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DISPONIBLE</a:t>
              </a:r>
            </a:p>
          </p:txBody>
        </p:sp>
        <p:sp>
          <p:nvSpPr>
            <p:cNvPr id="405" name="Shape 405"/>
            <p:cNvSpPr/>
            <p:nvPr/>
          </p:nvSpPr>
          <p:spPr>
            <a:xfrm>
              <a:off x="13144500" y="4537075"/>
              <a:ext cx="3429000" cy="200025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PROCESO PRODUCTIVO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MATERIAL EN PROCESO</a:t>
              </a:r>
            </a:p>
          </p:txBody>
        </p:sp>
        <p:sp>
          <p:nvSpPr>
            <p:cNvPr id="406" name="Shape 406"/>
            <p:cNvSpPr/>
            <p:nvPr/>
          </p:nvSpPr>
          <p:spPr>
            <a:xfrm>
              <a:off x="13430250" y="9966325"/>
              <a:ext cx="3429000" cy="200025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VENTAS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PRODUCTO TERMINADO</a:t>
              </a:r>
            </a:p>
          </p:txBody>
        </p:sp>
        <p:sp>
          <p:nvSpPr>
            <p:cNvPr id="407" name="Shape 407"/>
            <p:cNvSpPr/>
            <p:nvPr/>
          </p:nvSpPr>
          <p:spPr>
            <a:xfrm>
              <a:off x="2000250" y="9680575"/>
              <a:ext cx="2857499" cy="2857499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MERCADO DE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BIENES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DINERO</a:t>
              </a:r>
            </a:p>
          </p:txBody>
        </p:sp>
        <p:sp>
          <p:nvSpPr>
            <p:cNvPr id="408" name="Shape 408"/>
            <p:cNvSpPr/>
            <p:nvPr/>
          </p:nvSpPr>
          <p:spPr>
            <a:xfrm>
              <a:off x="2000250" y="2822575"/>
              <a:ext cx="3714750" cy="114300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ACCIONISTAS</a:t>
              </a:r>
            </a:p>
          </p:txBody>
        </p:sp>
        <p:sp>
          <p:nvSpPr>
            <p:cNvPr id="409" name="Shape 409"/>
            <p:cNvSpPr/>
            <p:nvPr/>
          </p:nvSpPr>
          <p:spPr>
            <a:xfrm rot="2340000">
              <a:off x="4571999" y="3894136"/>
              <a:ext cx="1714499" cy="1214436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0FF00">
                <a:alpha val="7960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Shape 410"/>
            <p:cNvSpPr/>
            <p:nvPr/>
          </p:nvSpPr>
          <p:spPr>
            <a:xfrm>
              <a:off x="12573000" y="7394575"/>
              <a:ext cx="4857750" cy="2571749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FF00">
                <a:alpha val="80784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PRODUCCION TERMINADA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(COSTO DE PRODUCCION)</a:t>
              </a:r>
            </a:p>
          </p:txBody>
        </p:sp>
        <p:sp>
          <p:nvSpPr>
            <p:cNvPr id="411" name="Shape 411"/>
            <p:cNvSpPr/>
            <p:nvPr/>
          </p:nvSpPr>
          <p:spPr>
            <a:xfrm>
              <a:off x="4416425" y="9680575"/>
              <a:ext cx="2441574" cy="85725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FF00">
                <a:alpha val="86666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COBROS ($)</a:t>
              </a:r>
            </a:p>
          </p:txBody>
        </p:sp>
        <p:sp>
          <p:nvSpPr>
            <p:cNvPr id="412" name="Shape 412"/>
            <p:cNvSpPr/>
            <p:nvPr/>
          </p:nvSpPr>
          <p:spPr>
            <a:xfrm>
              <a:off x="4286250" y="11395075"/>
              <a:ext cx="2571749" cy="1076324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0FF00">
                <a:alpha val="87450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ENTREGAS (u)</a:t>
              </a:r>
            </a:p>
          </p:txBody>
        </p:sp>
        <p:sp>
          <p:nvSpPr>
            <p:cNvPr id="413" name="Shape 413"/>
            <p:cNvSpPr/>
            <p:nvPr/>
          </p:nvSpPr>
          <p:spPr>
            <a:xfrm>
              <a:off x="5143500" y="6251575"/>
              <a:ext cx="4857750" cy="3143249"/>
            </a:xfrm>
            <a:prstGeom prst="upArrow">
              <a:avLst>
                <a:gd fmla="val 10800" name="adj1"/>
                <a:gd fmla="val 5143" name="adj2"/>
              </a:avLst>
            </a:prstGeom>
            <a:solidFill>
              <a:srgbClr val="00FF00">
                <a:alpha val="90588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COSTOS         TOTALES 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BENEFICIOS</a:t>
              </a:r>
            </a:p>
          </p:txBody>
        </p:sp>
        <p:sp>
          <p:nvSpPr>
            <p:cNvPr id="414" name="Shape 414"/>
            <p:cNvSpPr/>
            <p:nvPr/>
          </p:nvSpPr>
          <p:spPr>
            <a:xfrm>
              <a:off x="9715500" y="4537075"/>
              <a:ext cx="3429000" cy="2071686"/>
            </a:xfrm>
            <a:prstGeom prst="rightArrow">
              <a:avLst>
                <a:gd fmla="val 16207" name="adj1"/>
                <a:gd fmla="val 3906" name="adj2"/>
              </a:avLst>
            </a:prstGeom>
            <a:solidFill>
              <a:srgbClr val="00FF00">
                <a:alpha val="83529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COSTOS DE PRODUCCION</a:t>
              </a:r>
            </a:p>
          </p:txBody>
        </p:sp>
        <p:sp>
          <p:nvSpPr>
            <p:cNvPr id="415" name="Shape 415"/>
            <p:cNvSpPr/>
            <p:nvPr/>
          </p:nvSpPr>
          <p:spPr>
            <a:xfrm>
              <a:off x="9429750" y="9966325"/>
              <a:ext cx="4000500" cy="371475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0FF00">
                <a:alpha val="8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PRODUCCIÓN TERMINADA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(COSTO DE VENTAS)</a:t>
              </a:r>
            </a:p>
          </p:txBody>
        </p:sp>
        <p:sp>
          <p:nvSpPr>
            <p:cNvPr id="416" name="Shape 416"/>
            <p:cNvSpPr txBox="1"/>
            <p:nvPr/>
          </p:nvSpPr>
          <p:spPr>
            <a:xfrm>
              <a:off x="3714750" y="3965575"/>
              <a:ext cx="257174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DIVIDENDOS</a:t>
              </a:r>
            </a:p>
          </p:txBody>
        </p:sp>
        <p:sp>
          <p:nvSpPr>
            <p:cNvPr id="417" name="Shape 417"/>
            <p:cNvSpPr txBox="1"/>
            <p:nvPr/>
          </p:nvSpPr>
          <p:spPr>
            <a:xfrm>
              <a:off x="6858000" y="9680575"/>
              <a:ext cx="2286000" cy="2857499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NUDO DE VENTAS</a:t>
              </a:r>
            </a:p>
          </p:txBody>
        </p:sp>
        <p:sp>
          <p:nvSpPr>
            <p:cNvPr id="418" name="Shape 418"/>
            <p:cNvSpPr/>
            <p:nvPr/>
          </p:nvSpPr>
          <p:spPr>
            <a:xfrm>
              <a:off x="9715500" y="6537325"/>
              <a:ext cx="2727325" cy="2441575"/>
            </a:xfrm>
            <a:custGeom>
              <a:pathLst>
                <a:path extrusionOk="0" h="21600" w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0000">
                <a:alpha val="41568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Shape 419"/>
            <p:cNvSpPr/>
            <p:nvPr/>
          </p:nvSpPr>
          <p:spPr>
            <a:xfrm rot="10380000">
              <a:off x="9715499" y="7524750"/>
              <a:ext cx="2727325" cy="2441574"/>
            </a:xfrm>
            <a:custGeom>
              <a:pathLst>
                <a:path extrusionOk="0" h="21600" w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0000">
                <a:alpha val="45490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Shape 420"/>
            <p:cNvSpPr txBox="1"/>
            <p:nvPr/>
          </p:nvSpPr>
          <p:spPr>
            <a:xfrm>
              <a:off x="6286500" y="2822575"/>
              <a:ext cx="6858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CICLO DE CAPITAL CIRCULANTE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Capital Fijo</a:t>
            </a:r>
          </a:p>
        </p:txBody>
      </p:sp>
      <p:sp>
        <p:nvSpPr>
          <p:cNvPr id="426" name="Shape 426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Amortización y depreciación</a:t>
            </a:r>
          </a:p>
        </p:txBody>
      </p:sp>
      <p:grpSp>
        <p:nvGrpSpPr>
          <p:cNvPr id="427" name="Shape 427"/>
          <p:cNvGrpSpPr/>
          <p:nvPr/>
        </p:nvGrpSpPr>
        <p:grpSpPr>
          <a:xfrm>
            <a:off x="827086" y="2636837"/>
            <a:ext cx="6819899" cy="3657600"/>
            <a:chOff x="2571750" y="7070725"/>
            <a:chExt cx="15430499" cy="9144000"/>
          </a:xfrm>
        </p:grpSpPr>
        <p:sp>
          <p:nvSpPr>
            <p:cNvPr id="428" name="Shape 428"/>
            <p:cNvSpPr txBox="1"/>
            <p:nvPr/>
          </p:nvSpPr>
          <p:spPr>
            <a:xfrm>
              <a:off x="2571750" y="7070725"/>
              <a:ext cx="15430499" cy="91440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Shape 429"/>
            <p:cNvSpPr txBox="1"/>
            <p:nvPr/>
          </p:nvSpPr>
          <p:spPr>
            <a:xfrm>
              <a:off x="4000500" y="9070975"/>
              <a:ext cx="2571749" cy="5143499"/>
            </a:xfrm>
            <a:prstGeom prst="rect">
              <a:avLst/>
            </a:prstGeom>
            <a:solidFill>
              <a:srgbClr val="99330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CIRCULANTE</a:t>
              </a:r>
            </a:p>
          </p:txBody>
        </p:sp>
        <p:sp>
          <p:nvSpPr>
            <p:cNvPr id="430" name="Shape 430"/>
            <p:cNvSpPr txBox="1"/>
            <p:nvPr/>
          </p:nvSpPr>
          <p:spPr>
            <a:xfrm>
              <a:off x="8572500" y="9070975"/>
              <a:ext cx="2571749" cy="5143499"/>
            </a:xfrm>
            <a:prstGeom prst="rect">
              <a:avLst/>
            </a:prstGeom>
            <a:solidFill>
              <a:srgbClr val="99330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CIRCULANTE</a:t>
              </a:r>
            </a:p>
          </p:txBody>
        </p:sp>
        <p:sp>
          <p:nvSpPr>
            <p:cNvPr id="431" name="Shape 431"/>
            <p:cNvSpPr txBox="1"/>
            <p:nvPr/>
          </p:nvSpPr>
          <p:spPr>
            <a:xfrm>
              <a:off x="4000500" y="9070975"/>
              <a:ext cx="2571749" cy="2857499"/>
            </a:xfrm>
            <a:prstGeom prst="rect">
              <a:avLst/>
            </a:prstGeom>
            <a:solidFill>
              <a:srgbClr val="80808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FIJO</a:t>
              </a:r>
            </a:p>
          </p:txBody>
        </p:sp>
        <p:sp>
          <p:nvSpPr>
            <p:cNvPr id="432" name="Shape 432"/>
            <p:cNvSpPr txBox="1"/>
            <p:nvPr/>
          </p:nvSpPr>
          <p:spPr>
            <a:xfrm>
              <a:off x="8572500" y="9070975"/>
              <a:ext cx="2571749" cy="2857499"/>
            </a:xfrm>
            <a:prstGeom prst="rect">
              <a:avLst/>
            </a:prstGeom>
            <a:solidFill>
              <a:srgbClr val="80808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FIJO</a:t>
              </a:r>
            </a:p>
          </p:txBody>
        </p:sp>
        <p:sp>
          <p:nvSpPr>
            <p:cNvPr id="433" name="Shape 433"/>
            <p:cNvSpPr txBox="1"/>
            <p:nvPr/>
          </p:nvSpPr>
          <p:spPr>
            <a:xfrm>
              <a:off x="12573000" y="9070975"/>
              <a:ext cx="2571749" cy="5143499"/>
            </a:xfrm>
            <a:prstGeom prst="rect">
              <a:avLst/>
            </a:prstGeom>
            <a:solidFill>
              <a:srgbClr val="99330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CIRCULANTE</a:t>
              </a:r>
            </a:p>
          </p:txBody>
        </p:sp>
        <p:sp>
          <p:nvSpPr>
            <p:cNvPr id="434" name="Shape 434"/>
            <p:cNvSpPr txBox="1"/>
            <p:nvPr/>
          </p:nvSpPr>
          <p:spPr>
            <a:xfrm>
              <a:off x="8572500" y="9070975"/>
              <a:ext cx="2571749" cy="5715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DEPRECIACIÓN</a:t>
              </a:r>
            </a:p>
          </p:txBody>
        </p:sp>
        <p:cxnSp>
          <p:nvCxnSpPr>
            <p:cNvPr id="435" name="Shape 435"/>
            <p:cNvCxnSpPr/>
            <p:nvPr/>
          </p:nvCxnSpPr>
          <p:spPr>
            <a:xfrm>
              <a:off x="3429000" y="14212887"/>
              <a:ext cx="1400175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36" name="Shape 436"/>
            <p:cNvCxnSpPr/>
            <p:nvPr/>
          </p:nvCxnSpPr>
          <p:spPr>
            <a:xfrm>
              <a:off x="8001000" y="9070975"/>
              <a:ext cx="7715249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437" name="Shape 437"/>
            <p:cNvSpPr txBox="1"/>
            <p:nvPr/>
          </p:nvSpPr>
          <p:spPr>
            <a:xfrm>
              <a:off x="12573000" y="9070975"/>
              <a:ext cx="2571749" cy="2286000"/>
            </a:xfrm>
            <a:prstGeom prst="rect">
              <a:avLst/>
            </a:prstGeom>
            <a:solidFill>
              <a:srgbClr val="808080">
                <a:alpha val="68627"/>
              </a:srgbClr>
            </a:solidFill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1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CAPITAL FIJO</a:t>
              </a:r>
            </a:p>
          </p:txBody>
        </p:sp>
        <p:sp>
          <p:nvSpPr>
            <p:cNvPr id="438" name="Shape 438"/>
            <p:cNvSpPr txBox="1"/>
            <p:nvPr/>
          </p:nvSpPr>
          <p:spPr>
            <a:xfrm>
              <a:off x="12573000" y="11356975"/>
              <a:ext cx="2571749" cy="571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AMORTIZACIÓN</a:t>
              </a:r>
            </a:p>
          </p:txBody>
        </p:sp>
        <p:sp>
          <p:nvSpPr>
            <p:cNvPr id="439" name="Shape 439"/>
            <p:cNvSpPr txBox="1"/>
            <p:nvPr/>
          </p:nvSpPr>
          <p:spPr>
            <a:xfrm>
              <a:off x="4000500" y="14785975"/>
              <a:ext cx="2571749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CAPITAL INICIAL</a:t>
              </a:r>
            </a:p>
          </p:txBody>
        </p:sp>
        <p:sp>
          <p:nvSpPr>
            <p:cNvPr id="440" name="Shape 440"/>
            <p:cNvSpPr txBox="1"/>
            <p:nvPr/>
          </p:nvSpPr>
          <p:spPr>
            <a:xfrm>
              <a:off x="8286750" y="14785975"/>
              <a:ext cx="3143249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DESCAPITALIZACIÓN POR DEPRECIACIÓN</a:t>
              </a:r>
            </a:p>
          </p:txBody>
        </p:sp>
        <p:cxnSp>
          <p:nvCxnSpPr>
            <p:cNvPr id="441" name="Shape 441"/>
            <p:cNvCxnSpPr/>
            <p:nvPr/>
          </p:nvCxnSpPr>
          <p:spPr>
            <a:xfrm>
              <a:off x="3429000" y="9642475"/>
              <a:ext cx="8286749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42" name="Shape 442"/>
            <p:cNvCxnSpPr/>
            <p:nvPr/>
          </p:nvCxnSpPr>
          <p:spPr>
            <a:xfrm>
              <a:off x="7143750" y="907097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443" name="Shape 443"/>
            <p:cNvCxnSpPr/>
            <p:nvPr/>
          </p:nvCxnSpPr>
          <p:spPr>
            <a:xfrm>
              <a:off x="7429500" y="9070975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444" name="Shape 444"/>
            <p:cNvCxnSpPr/>
            <p:nvPr/>
          </p:nvCxnSpPr>
          <p:spPr>
            <a:xfrm flipH="1" rot="10800000">
              <a:off x="11999911" y="9070974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445" name="Shape 445"/>
            <p:cNvCxnSpPr/>
            <p:nvPr/>
          </p:nvCxnSpPr>
          <p:spPr>
            <a:xfrm flipH="1" rot="10800000">
              <a:off x="12285661" y="9070974"/>
              <a:ext cx="1587" cy="5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446" name="Shape 446"/>
            <p:cNvSpPr txBox="1"/>
            <p:nvPr/>
          </p:nvSpPr>
          <p:spPr>
            <a:xfrm>
              <a:off x="12573000" y="14785975"/>
              <a:ext cx="4000500" cy="1428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RECUPERACIÓN DEL CAPITAL POR AMORTIZACIÓN</a:t>
              </a:r>
            </a:p>
          </p:txBody>
        </p:sp>
        <p:sp>
          <p:nvSpPr>
            <p:cNvPr id="447" name="Shape 447"/>
            <p:cNvSpPr txBox="1"/>
            <p:nvPr/>
          </p:nvSpPr>
          <p:spPr>
            <a:xfrm>
              <a:off x="4572000" y="7642225"/>
              <a:ext cx="1171575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80"/>
                </a:buClr>
                <a:buSzPct val="25000"/>
                <a:buFont typeface="Arial"/>
                <a:buNone/>
              </a:pPr>
              <a:r>
                <a:rPr b="1" i="1" lang="en-US" sz="1200" u="none" cap="none" strike="noStrike">
                  <a:solidFill>
                    <a:srgbClr val="000080"/>
                  </a:solidFill>
                  <a:latin typeface="Arial"/>
                  <a:ea typeface="Arial"/>
                  <a:cs typeface="Arial"/>
                  <a:sym typeface="Arial"/>
                </a:rPr>
                <a:t>DEPRECIACIACIÓN VERSUS AMORTIZACIÓN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45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Remuneración al Recurso Capital</a:t>
            </a:r>
          </a:p>
        </p:txBody>
      </p:sp>
      <p:sp>
        <p:nvSpPr>
          <p:cNvPr id="453" name="Shape 453"/>
          <p:cNvSpPr txBox="1"/>
          <p:nvPr>
            <p:ph idx="1" type="body"/>
          </p:nvPr>
        </p:nvSpPr>
        <p:spPr>
          <a:xfrm>
            <a:off x="838200" y="2362200"/>
            <a:ext cx="8126411" cy="200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retribución monetaria al Recurso Capital se realiza mediante el pago de </a:t>
            </a:r>
          </a:p>
          <a:p>
            <a:pPr indent="0" lvl="0" marL="0" marR="0" rtl="0" algn="ctr">
              <a:lnSpc>
                <a:spcPct val="7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9600" u="none" cap="none" strike="noStrike">
                <a:solidFill>
                  <a:schemeClr val="dk1"/>
                </a:solidFill>
                <a:latin typeface="Souce Sans Pro"/>
                <a:ea typeface="Souce Sans Pro"/>
                <a:cs typeface="Souce Sans Pro"/>
                <a:sym typeface="Souce Sans Pro"/>
              </a:rPr>
              <a:t>Intereses</a:t>
            </a:r>
          </a:p>
        </p:txBody>
      </p:sp>
      <p:pic>
        <p:nvPicPr>
          <p:cNvPr id="454" name="Shape 4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4652962"/>
            <a:ext cx="2486024" cy="166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Remuneraciones a los Factores Productivos</a:t>
            </a:r>
          </a:p>
        </p:txBody>
      </p:sp>
      <p:sp>
        <p:nvSpPr>
          <p:cNvPr id="460" name="Shape 460"/>
          <p:cNvSpPr txBox="1"/>
          <p:nvPr>
            <p:ph idx="1" type="body"/>
          </p:nvPr>
        </p:nvSpPr>
        <p:spPr>
          <a:xfrm>
            <a:off x="838200" y="2362200"/>
            <a:ext cx="7693025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Factor Productivo               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Remuneración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Naturaleza.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Renta.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Trabajo.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Salarios.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Capital.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Interés.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Empresario.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Beneficios.</a:t>
            </a:r>
          </a:p>
        </p:txBody>
      </p:sp>
      <p:sp>
        <p:nvSpPr>
          <p:cNvPr id="461" name="Shape 461"/>
          <p:cNvSpPr/>
          <p:nvPr/>
        </p:nvSpPr>
        <p:spPr>
          <a:xfrm>
            <a:off x="3276600" y="2997200"/>
            <a:ext cx="3095624" cy="485775"/>
          </a:xfrm>
          <a:custGeom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00">
              <a:alpha val="80784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Shape 462"/>
          <p:cNvSpPr/>
          <p:nvPr/>
        </p:nvSpPr>
        <p:spPr>
          <a:xfrm>
            <a:off x="3276600" y="4076700"/>
            <a:ext cx="3095624" cy="485775"/>
          </a:xfrm>
          <a:custGeom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Shape 463"/>
          <p:cNvSpPr/>
          <p:nvPr/>
        </p:nvSpPr>
        <p:spPr>
          <a:xfrm>
            <a:off x="3276600" y="5084762"/>
            <a:ext cx="3095624" cy="485775"/>
          </a:xfrm>
          <a:custGeom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Shape 464"/>
          <p:cNvSpPr/>
          <p:nvPr/>
        </p:nvSpPr>
        <p:spPr>
          <a:xfrm>
            <a:off x="3276600" y="6092825"/>
            <a:ext cx="3095624" cy="485775"/>
          </a:xfrm>
          <a:custGeom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ápsulas">
  <a:themeElements>
    <a:clrScheme name="Cápsula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