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autoCompressPictures="0" embedTrueTypeFonts="1" strictFirstAndLastChars="0" saveSubsetFonts="1">
  <p:sldMasterIdLst>
    <p:sldMasterId id="2147483653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</p:sldIdLst>
  <p:sldSz cy="6858000" cx="9144000"/>
  <p:notesSz cx="6858000" cy="9144000"/>
  <p:embeddedFontLst>
    <p:embeddedFont>
      <p:font typeface="Tahoma"/>
      <p:regular r:id="rId39"/>
      <p:bold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Tahoma-bold.fntdata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font" Target="fonts/Tahoma-regular.fntdata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" name="Shape 4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44" name="Shape 44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50" name="Shape 50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56" name="Shape 56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62" name="Shape 62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71" name="Shape 71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76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77" name="Shape 77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83" name="Shape 83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90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91" name="Shape 91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99" name="Shape 99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09" name="Shape 109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20" name="Shape 120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42" name="Shape 142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49" name="Shape 149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hape 155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56" name="Shape 156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166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67" name="Shape 167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172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73" name="Shape 173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hape 179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80" name="Shape 180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Shape 185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86" name="Shape 186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Shape 191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92" name="Shape 192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Shape 198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99" name="Shape 199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205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06" name="Shape 206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212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13" name="Shape 213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219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20" name="Shape 220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Shape 226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27" name="Shape 227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Shape 232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33" name="Shape 233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Shape 239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40" name="Shape 240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245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46" name="Shape 246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Shape 252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53" name="Shape 253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Shape 259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60" name="Shape 260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Shape 265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66" name="Shape 266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Shape 272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73" name="Shape 273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Shape 279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80" name="Shape 280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Shape 286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87" name="Shape 287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Shape 293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94" name="Shape 294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x">
  <p:cSld name="Title and tex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9"/>
          <p:cNvSpPr txBox="1"/>
          <p:nvPr>
            <p:ph type="title"/>
          </p:nvPr>
        </p:nvSpPr>
        <p:spPr>
          <a:xfrm>
            <a:off x="468312" y="0"/>
            <a:ext cx="5256211" cy="1989136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indent="0" lvl="2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indent="0" lvl="3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indent="0" lvl="4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indent="0" lvl="5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indent="0" lvl="6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indent="0" lvl="7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indent="0" lvl="8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/>
        </p:txBody>
      </p:sp>
      <p:sp>
        <p:nvSpPr>
          <p:cNvPr id="20" name="Shape 20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22098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Font typeface="Noto Symbol"/>
              <a:buChar char="■"/>
              <a:defRPr/>
            </a:lvl1pPr>
            <a:lvl2pPr indent="-187959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Font typeface="Noto Symbol"/>
              <a:buChar char="■"/>
              <a:defRPr/>
            </a:lvl2pPr>
            <a:lvl3pPr indent="-1524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Font typeface="Noto Symbol"/>
              <a:buChar char="■"/>
              <a:defRPr/>
            </a:lvl3pPr>
            <a:lvl4pPr indent="-158750" lvl="3" marL="1600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Font typeface="Noto Symbol"/>
              <a:buChar char="■"/>
              <a:defRPr/>
            </a:lvl4pPr>
            <a:lvl5pPr indent="-165100" lvl="4" marL="2057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Font typeface="Noto Symbol"/>
              <a:buChar char="■"/>
              <a:defRPr/>
            </a:lvl5pPr>
            <a:lvl6pPr indent="-165100" lvl="5" marL="25146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Font typeface="Noto Symbol"/>
              <a:buChar char="■"/>
              <a:defRPr/>
            </a:lvl6pPr>
            <a:lvl7pPr indent="-165100" lvl="6" marL="3429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Font typeface="Noto Symbol"/>
              <a:buChar char="■"/>
              <a:defRPr/>
            </a:lvl7pPr>
            <a:lvl8pPr indent="-165100" lvl="7" marL="48006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Font typeface="Noto Symbol"/>
              <a:buChar char="■"/>
              <a:defRPr/>
            </a:lvl8pPr>
            <a:lvl9pPr indent="-165100" lvl="8" marL="6629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Font typeface="Noto Symbol"/>
              <a:buChar char="■"/>
              <a:defRPr/>
            </a:lvl9pPr>
          </a:lstStyle>
          <a:p/>
        </p:txBody>
      </p:sp>
      <p:sp>
        <p:nvSpPr>
          <p:cNvPr id="21" name="Shape 21"/>
          <p:cNvSpPr txBox="1"/>
          <p:nvPr>
            <p:ph idx="10" type="dt"/>
          </p:nvPr>
        </p:nvSpPr>
        <p:spPr>
          <a:xfrm>
            <a:off x="1162050" y="6243637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/>
        </p:txBody>
      </p:sp>
      <p:sp>
        <p:nvSpPr>
          <p:cNvPr id="22" name="Shape 22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/>
        </p:txBody>
      </p:sp>
      <p:sp>
        <p:nvSpPr>
          <p:cNvPr id="23" name="Shape 23"/>
          <p:cNvSpPr txBox="1"/>
          <p:nvPr>
            <p:ph idx="12" type="sldNum"/>
          </p:nvPr>
        </p:nvSpPr>
        <p:spPr>
          <a:xfrm>
            <a:off x="7042150" y="6243637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woColTx">
  <p:cSld name="Title, text on left, text on righ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/>
          <p:nvPr>
            <p:ph idx="10" type="dt"/>
          </p:nvPr>
        </p:nvSpPr>
        <p:spPr>
          <a:xfrm>
            <a:off x="1162050" y="6243637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/>
        </p:txBody>
      </p:sp>
      <p:sp>
        <p:nvSpPr>
          <p:cNvPr id="26" name="Shape 26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/>
        </p:txBody>
      </p:sp>
      <p:sp>
        <p:nvSpPr>
          <p:cNvPr id="27" name="Shape 27"/>
          <p:cNvSpPr txBox="1"/>
          <p:nvPr>
            <p:ph idx="12" type="sldNum"/>
          </p:nvPr>
        </p:nvSpPr>
        <p:spPr>
          <a:xfrm>
            <a:off x="7042150" y="6243637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xAndTwoObj">
  <p:cSld name="Title, text on left, two objects on righ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/>
          <p:nvPr>
            <p:ph idx="10" type="dt"/>
          </p:nvPr>
        </p:nvSpPr>
        <p:spPr>
          <a:xfrm>
            <a:off x="1162050" y="6243637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/>
        </p:txBody>
      </p:sp>
      <p:sp>
        <p:nvSpPr>
          <p:cNvPr id="30" name="Shape 30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/>
        </p:txBody>
      </p:sp>
      <p:sp>
        <p:nvSpPr>
          <p:cNvPr id="31" name="Shape 31"/>
          <p:cNvSpPr txBox="1"/>
          <p:nvPr>
            <p:ph idx="12" type="sldNum"/>
          </p:nvPr>
        </p:nvSpPr>
        <p:spPr>
          <a:xfrm>
            <a:off x="7042150" y="6243637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fourObj">
  <p:cSld name="Title and four 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/>
          <p:nvPr>
            <p:ph idx="10" type="dt"/>
          </p:nvPr>
        </p:nvSpPr>
        <p:spPr>
          <a:xfrm>
            <a:off x="1162050" y="6243637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/>
        </p:txBody>
      </p:sp>
      <p:sp>
        <p:nvSpPr>
          <p:cNvPr id="34" name="Shape 34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/>
        </p:txBody>
      </p:sp>
      <p:sp>
        <p:nvSpPr>
          <p:cNvPr id="35" name="Shape 35"/>
          <p:cNvSpPr txBox="1"/>
          <p:nvPr>
            <p:ph idx="12" type="sldNum"/>
          </p:nvPr>
        </p:nvSpPr>
        <p:spPr>
          <a:xfrm>
            <a:off x="7042150" y="6243637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">
  <p:cSld name="Title layout with centered title and subtitle placeholder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 txBox="1"/>
          <p:nvPr>
            <p:ph type="ctrTitle"/>
          </p:nvPr>
        </p:nvSpPr>
        <p:spPr>
          <a:xfrm>
            <a:off x="685800" y="2130425"/>
            <a:ext cx="7772400" cy="1470024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/>
        </p:txBody>
      </p:sp>
      <p:sp>
        <p:nvSpPr>
          <p:cNvPr id="38" name="Shape 38"/>
          <p:cNvSpPr txBox="1"/>
          <p:nvPr>
            <p:ph idx="1" type="subTitle"/>
          </p:nvPr>
        </p:nvSpPr>
        <p:spPr>
          <a:xfrm>
            <a:off x="1371600" y="3886200"/>
            <a:ext cx="6400799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22098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Font typeface="Noto Symbol"/>
              <a:buChar char="■"/>
              <a:defRPr/>
            </a:lvl1pPr>
            <a:lvl2pPr indent="-187959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Font typeface="Noto Symbol"/>
              <a:buChar char="■"/>
              <a:defRPr/>
            </a:lvl2pPr>
            <a:lvl3pPr indent="-152400" lvl="2" marL="11430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Font typeface="Noto Symbol"/>
              <a:buChar char="■"/>
              <a:defRPr/>
            </a:lvl3pPr>
            <a:lvl4pPr indent="-158750" lvl="3" marL="1600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Font typeface="Noto Symbol"/>
              <a:buChar char="■"/>
              <a:defRPr/>
            </a:lvl4pPr>
            <a:lvl5pPr indent="-165100" lvl="4" marL="2057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Font typeface="Noto Symbol"/>
              <a:buChar char="■"/>
              <a:defRPr/>
            </a:lvl5pPr>
            <a:lvl6pPr indent="-165100" lvl="5" marL="2514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Font typeface="Noto Symbol"/>
              <a:buChar char="■"/>
              <a:defRPr/>
            </a:lvl6pPr>
            <a:lvl7pPr indent="-165100" lvl="6" marL="3429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Font typeface="Noto Symbol"/>
              <a:buChar char="■"/>
              <a:defRPr/>
            </a:lvl7pPr>
            <a:lvl8pPr indent="-165100" lvl="7" marL="4800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Font typeface="Noto Symbol"/>
              <a:buChar char="■"/>
              <a:defRPr/>
            </a:lvl8pPr>
            <a:lvl9pPr indent="-165100" lvl="8" marL="6629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Font typeface="Noto Symbol"/>
              <a:buChar char="■"/>
              <a:defRPr/>
            </a:lvl9pPr>
          </a:lstStyle>
          <a:p/>
        </p:txBody>
      </p:sp>
      <p:sp>
        <p:nvSpPr>
          <p:cNvPr id="39" name="Shape 39"/>
          <p:cNvSpPr txBox="1"/>
          <p:nvPr>
            <p:ph idx="10" type="dt"/>
          </p:nvPr>
        </p:nvSpPr>
        <p:spPr>
          <a:xfrm>
            <a:off x="1162050" y="6243637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/>
        </p:txBody>
      </p:sp>
      <p:sp>
        <p:nvSpPr>
          <p:cNvPr id="40" name="Shape 40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/>
        </p:txBody>
      </p:sp>
      <p:sp>
        <p:nvSpPr>
          <p:cNvPr id="41" name="Shape 41"/>
          <p:cNvSpPr txBox="1"/>
          <p:nvPr>
            <p:ph idx="12" type="sldNum"/>
          </p:nvPr>
        </p:nvSpPr>
        <p:spPr>
          <a:xfrm>
            <a:off x="7042150" y="6243637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5000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00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/>
          <p:nvPr/>
        </p:nvSpPr>
        <p:spPr>
          <a:xfrm>
            <a:off x="417512" y="1098550"/>
            <a:ext cx="438150" cy="4746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Shape 7"/>
          <p:cNvSpPr txBox="1"/>
          <p:nvPr/>
        </p:nvSpPr>
        <p:spPr>
          <a:xfrm>
            <a:off x="800100" y="1098550"/>
            <a:ext cx="328611" cy="474661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accent2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Shape 8"/>
          <p:cNvSpPr txBox="1"/>
          <p:nvPr/>
        </p:nvSpPr>
        <p:spPr>
          <a:xfrm>
            <a:off x="541337" y="1520825"/>
            <a:ext cx="422275" cy="474661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Shape 9"/>
          <p:cNvSpPr txBox="1"/>
          <p:nvPr/>
        </p:nvSpPr>
        <p:spPr>
          <a:xfrm>
            <a:off x="911225" y="1520825"/>
            <a:ext cx="368299" cy="474661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folHlink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Shape 10"/>
          <p:cNvSpPr txBox="1"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gradFill>
            <a:gsLst>
              <a:gs pos="0">
                <a:schemeClr val="hlink"/>
              </a:gs>
              <a:gs pos="100000">
                <a:schemeClr val="lt1"/>
              </a:gs>
            </a:gsLst>
            <a:lin ang="8100000" scaled="0"/>
          </a:gra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Shape 11"/>
          <p:cNvSpPr txBox="1"/>
          <p:nvPr/>
        </p:nvSpPr>
        <p:spPr>
          <a:xfrm>
            <a:off x="762000" y="990600"/>
            <a:ext cx="31750" cy="105251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Shape 12"/>
          <p:cNvSpPr txBox="1"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lt2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Shape 13"/>
          <p:cNvSpPr txBox="1"/>
          <p:nvPr>
            <p:ph type="title"/>
          </p:nvPr>
        </p:nvSpPr>
        <p:spPr>
          <a:xfrm>
            <a:off x="468312" y="0"/>
            <a:ext cx="5256211" cy="1989136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/>
        </p:txBody>
      </p:sp>
      <p:sp>
        <p:nvSpPr>
          <p:cNvPr id="14" name="Shape 14"/>
          <p:cNvSpPr txBox="1"/>
          <p:nvPr>
            <p:ph idx="10" type="dt"/>
          </p:nvPr>
        </p:nvSpPr>
        <p:spPr>
          <a:xfrm>
            <a:off x="1162050" y="6243637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/>
        </p:txBody>
      </p:sp>
      <p:sp>
        <p:nvSpPr>
          <p:cNvPr id="15" name="Shape 15"/>
          <p:cNvSpPr txBox="1"/>
          <p:nvPr>
            <p:ph idx="11" type="ftr"/>
          </p:nvPr>
        </p:nvSpPr>
        <p:spPr>
          <a:xfrm>
            <a:off x="36576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indent="0" lvl="3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indent="0" lvl="4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indent="0" lvl="5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indent="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indent="0" lvl="7" marL="457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indent="0" lvl="8" marL="640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/>
        </p:txBody>
      </p:sp>
      <p:sp>
        <p:nvSpPr>
          <p:cNvPr id="16" name="Shape 16"/>
          <p:cNvSpPr txBox="1"/>
          <p:nvPr>
            <p:ph idx="12" type="sldNum"/>
          </p:nvPr>
        </p:nvSpPr>
        <p:spPr>
          <a:xfrm>
            <a:off x="7042150" y="6243637"/>
            <a:ext cx="19049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</a:p>
        </p:txBody>
      </p:sp>
      <p:pic>
        <p:nvPicPr>
          <p:cNvPr id="17" name="Shape 1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5883275" y="404812"/>
            <a:ext cx="3009899" cy="60959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0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06.jpg"/><Relationship Id="rId4" Type="http://schemas.openxmlformats.org/officeDocument/2006/relationships/image" Target="../media/image0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04.jpg"/><Relationship Id="rId4" Type="http://schemas.openxmlformats.org/officeDocument/2006/relationships/image" Target="../media/image0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07.jpg"/><Relationship Id="rId4" Type="http://schemas.openxmlformats.org/officeDocument/2006/relationships/image" Target="../media/image08.jpg"/><Relationship Id="rId5" Type="http://schemas.openxmlformats.org/officeDocument/2006/relationships/image" Target="../media/image09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01.jpg"/><Relationship Id="rId4" Type="http://schemas.openxmlformats.org/officeDocument/2006/relationships/image" Target="../media/image26.png"/><Relationship Id="rId5" Type="http://schemas.openxmlformats.org/officeDocument/2006/relationships/image" Target="../media/image16.jpg"/><Relationship Id="rId6" Type="http://schemas.openxmlformats.org/officeDocument/2006/relationships/image" Target="../media/image19.jpg"/><Relationship Id="rId7" Type="http://schemas.openxmlformats.org/officeDocument/2006/relationships/image" Target="../media/image20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15.jpg"/><Relationship Id="rId5" Type="http://schemas.openxmlformats.org/officeDocument/2006/relationships/image" Target="../media/image11.jpg"/><Relationship Id="rId6" Type="http://schemas.openxmlformats.org/officeDocument/2006/relationships/image" Target="../media/image10.jpg"/><Relationship Id="rId7" Type="http://schemas.openxmlformats.org/officeDocument/2006/relationships/image" Target="../media/image17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5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7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8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2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1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46"/>
          <p:cNvSpPr txBox="1"/>
          <p:nvPr>
            <p:ph type="title"/>
          </p:nvPr>
        </p:nvSpPr>
        <p:spPr>
          <a:xfrm>
            <a:off x="1619250" y="1125537"/>
            <a:ext cx="4464050" cy="7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ahoma"/>
              <a:buNone/>
            </a:pPr>
            <a:r>
              <a:rPr b="0" i="0" lang="en-US" sz="4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CLASE N° 2</a:t>
            </a:r>
          </a:p>
        </p:txBody>
      </p:sp>
      <p:sp>
        <p:nvSpPr>
          <p:cNvPr id="47" name="Shape 47"/>
          <p:cNvSpPr txBox="1"/>
          <p:nvPr/>
        </p:nvSpPr>
        <p:spPr>
          <a:xfrm>
            <a:off x="827087" y="1844675"/>
            <a:ext cx="8135936" cy="4581524"/>
          </a:xfrm>
          <a:prstGeom prst="rect">
            <a:avLst/>
          </a:prstGeom>
          <a:solidFill>
            <a:srgbClr val="C0C0C0">
              <a:alpha val="22745"/>
            </a:srgbClr>
          </a:solidFill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-363537" lvl="0" marL="630237" marR="0" rtl="0" algn="just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ahoma"/>
              <a:buChar char="•"/>
            </a:pPr>
            <a:r>
              <a:rPr b="1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Modelo básico para la resolución del problema económico. Definiciones, supuestos y argumentos. </a:t>
            </a:r>
          </a:p>
          <a:p>
            <a:pPr indent="-363537" lvl="0" marL="630237" marR="0" rtl="0" algn="just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63537" lvl="0" marL="630237" marR="0" rtl="0" algn="just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ahoma"/>
              <a:buChar char="•"/>
            </a:pPr>
            <a:r>
              <a:rPr b="1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Que, como y para quien producir. </a:t>
            </a:r>
          </a:p>
          <a:p>
            <a:pPr indent="-363537" lvl="0" marL="630237" marR="0" rtl="0" algn="just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63537" lvl="0" marL="630237" marR="0" rtl="0" algn="just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ahoma"/>
              <a:buChar char="•"/>
            </a:pPr>
            <a:r>
              <a:rPr b="1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Concepto de utilidad de los bienes. Distintos tipos de utilidades. </a:t>
            </a:r>
          </a:p>
          <a:p>
            <a:pPr indent="-363537" lvl="0" marL="630237" marR="0" rtl="0" algn="just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63537" lvl="0" marL="630237" marR="0" rtl="0" algn="just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ahoma"/>
              <a:buChar char="•"/>
            </a:pPr>
            <a:r>
              <a:rPr b="1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Ley de las utilidades marginales decrecientes. </a:t>
            </a:r>
          </a:p>
          <a:p>
            <a:pPr indent="-363537" lvl="0" marL="630237" marR="0" rtl="0" algn="just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63537" lvl="0" marL="630237" marR="0" rtl="0" algn="just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ahoma"/>
              <a:buChar char="•"/>
            </a:pPr>
            <a:r>
              <a:rPr b="1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Definición de valor de uso. </a:t>
            </a:r>
          </a:p>
          <a:p>
            <a:pPr indent="-363537" lvl="0" marL="630237" marR="0" rtl="0" algn="just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63537" lvl="0" marL="630237" marR="0" rtl="0" algn="just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ahoma"/>
              <a:buChar char="•"/>
            </a:pPr>
            <a:r>
              <a:rPr b="1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Factores de la producción y productos. </a:t>
            </a:r>
          </a:p>
          <a:p>
            <a:pPr indent="-363537" lvl="0" marL="630237" marR="0" rtl="0" algn="just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63537" lvl="0" marL="630237" marR="0" rtl="0" algn="just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ahoma"/>
              <a:buChar char="•"/>
            </a:pPr>
            <a:r>
              <a:rPr b="1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Concepto de producción. Ingresos, costos y beneficios. </a:t>
            </a:r>
          </a:p>
          <a:p>
            <a:pPr indent="-363537" lvl="0" marL="630237" marR="0" rtl="0" algn="just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63537" lvl="0" marL="630237" marR="0" rtl="0" algn="just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ahoma"/>
              <a:buChar char="•"/>
            </a:pPr>
            <a:r>
              <a:rPr b="1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Definición de costo de producción. </a:t>
            </a:r>
          </a:p>
          <a:p>
            <a:pPr indent="-363537" lvl="0" marL="630237" marR="0" rtl="0" algn="just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63537" lvl="0" marL="630237" marR="0" rtl="0" algn="just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ahoma"/>
              <a:buChar char="•"/>
            </a:pPr>
            <a:r>
              <a:rPr b="1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Definición de valor de cambio. Teorías del valor de los bienes. </a:t>
            </a:r>
          </a:p>
          <a:p>
            <a:pPr indent="-363537" lvl="0" marL="630237" marR="0" rtl="0" algn="just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63537" lvl="0" marL="630237" marR="0" rtl="0" algn="just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ahoma"/>
              <a:buChar char="•"/>
            </a:pPr>
            <a:r>
              <a:rPr b="1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Costo de oportunidad. </a:t>
            </a:r>
          </a:p>
          <a:p>
            <a:pPr indent="-363537" lvl="0" marL="630237" marR="0" rtl="0" algn="just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63537" lvl="0" marL="630237" marR="0" rtl="0" algn="just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ahoma"/>
              <a:buChar char="•"/>
            </a:pPr>
            <a:r>
              <a:rPr b="1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Definición de microeconomía. </a:t>
            </a:r>
          </a:p>
          <a:p>
            <a:pPr indent="-363537" lvl="0" marL="630237" marR="0" rtl="0" algn="just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63537" lvl="0" marL="630237" marR="0" rtl="0" algn="just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ahoma"/>
              <a:buChar char="•"/>
            </a:pPr>
            <a:r>
              <a:rPr b="1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Teorías del consumo, de la producción, de la distribución y de los mercados. </a:t>
            </a:r>
          </a:p>
          <a:p>
            <a:pPr indent="-363537" lvl="0" marL="630237" marR="0" rtl="0" algn="just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63537" lvl="0" marL="630237" marR="0" rtl="0" algn="just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ahoma"/>
              <a:buChar char="•"/>
            </a:pPr>
            <a:r>
              <a:rPr b="1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Economía cerrada, abierta, y de mercado. </a:t>
            </a:r>
          </a:p>
          <a:p>
            <a:pPr indent="-363537" lvl="0" marL="630237" marR="0" rtl="0" algn="just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63537" lvl="0" marL="630237" marR="0" rtl="0" algn="just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ahoma"/>
              <a:buChar char="•"/>
            </a:pPr>
            <a:r>
              <a:rPr b="1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Estructuras decisorias: libre mercado y dirigismo.</a:t>
            </a:r>
          </a:p>
        </p:txBody>
      </p:sp>
    </p:spTree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 txBox="1"/>
          <p:nvPr>
            <p:ph type="title"/>
          </p:nvPr>
        </p:nvSpPr>
        <p:spPr>
          <a:xfrm>
            <a:off x="971550" y="44450"/>
            <a:ext cx="4751387" cy="158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ahoma"/>
              <a:buNone/>
            </a:pPr>
            <a:r>
              <a:rPr b="1" i="1" lang="en-US" sz="4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MODEL0: DEFINICIÓN</a:t>
            </a:r>
          </a:p>
        </p:txBody>
      </p:sp>
      <p:sp>
        <p:nvSpPr>
          <p:cNvPr id="53" name="Shape 53"/>
          <p:cNvSpPr txBox="1"/>
          <p:nvPr>
            <p:ph idx="1" type="body"/>
          </p:nvPr>
        </p:nvSpPr>
        <p:spPr>
          <a:xfrm>
            <a:off x="1182687" y="2017711"/>
            <a:ext cx="7772400" cy="4114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1" anchor="ctr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ct val="25000"/>
              <a:buFont typeface="Noto Symbo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Un modelo es una </a:t>
            </a:r>
            <a:r>
              <a:rPr b="0" i="0" lang="en-US" sz="32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herramienta de aprendizaje</a:t>
            </a: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que a través de </a:t>
            </a:r>
            <a:r>
              <a:rPr b="0" i="0" lang="en-US" sz="32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simplificaciones</a:t>
            </a: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y </a:t>
            </a:r>
            <a:r>
              <a:rPr b="0" i="0" lang="en-US" sz="32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abstracciones</a:t>
            </a: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de la realidad mediante, </a:t>
            </a:r>
            <a:r>
              <a:rPr b="0" i="0" lang="en-US" sz="32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supuestos</a:t>
            </a: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b="0" i="0" lang="en-US" sz="32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argumentos</a:t>
            </a: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y </a:t>
            </a:r>
            <a:r>
              <a:rPr b="0" i="0" lang="en-US" sz="32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conclusiones,</a:t>
            </a: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explica una determinada </a:t>
            </a:r>
            <a:r>
              <a:rPr b="0" i="0" lang="en-US" sz="32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proposición</a:t>
            </a: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o un aspecto de un fenómeno más amplio del cual se tienen </a:t>
            </a:r>
            <a:r>
              <a:rPr b="0" i="0" lang="en-US" sz="32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indicios</a:t>
            </a: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</a:p>
        </p:txBody>
      </p:sp>
    </p:spTree>
  </p:cSld>
  <p:clrMapOvr>
    <a:masterClrMapping/>
  </p:clrMapOvr>
  <p:transition spd="slow">
    <p:cut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58"/>
          <p:cNvSpPr txBox="1"/>
          <p:nvPr>
            <p:ph type="title"/>
          </p:nvPr>
        </p:nvSpPr>
        <p:spPr>
          <a:xfrm>
            <a:off x="1547812" y="1196975"/>
            <a:ext cx="29527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ahoma"/>
              <a:buNone/>
            </a:pPr>
            <a:r>
              <a:rPr b="0" i="0" lang="en-US" sz="4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LENGUAJE</a:t>
            </a:r>
          </a:p>
        </p:txBody>
      </p:sp>
      <p:sp>
        <p:nvSpPr>
          <p:cNvPr id="59" name="Shape 59"/>
          <p:cNvSpPr txBox="1"/>
          <p:nvPr>
            <p:ph idx="1" type="body"/>
          </p:nvPr>
        </p:nvSpPr>
        <p:spPr>
          <a:xfrm>
            <a:off x="1182687" y="2017711"/>
            <a:ext cx="7772400" cy="4114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ct val="25000"/>
              <a:buFont typeface="Noto Symbol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                          </a:t>
            </a:r>
          </a:p>
          <a:p>
            <a:pPr indent="-342900" lvl="0" marL="342900" marR="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ct val="25000"/>
              <a:buFont typeface="Noto Symbol"/>
              <a:buNone/>
            </a:pPr>
            <a:r>
              <a:rPr b="1" i="1" lang="en-US" sz="1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SIMPLIFICACIÓN:</a:t>
            </a:r>
            <a:r>
              <a:rPr b="0" i="1" lang="en-US" sz="1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1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REDUCCIÓN DE UNA CANTIDAD O EXPRESIÓN A FORMAS MÁS SENCILLAS, PARA OBTENER EL MISMO RESULTADO.</a:t>
            </a:r>
          </a:p>
          <a:p>
            <a:pPr indent="-342900" lvl="0" marL="342900" marR="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ct val="25000"/>
              <a:buFont typeface="Noto Symbol"/>
              <a:buNone/>
            </a:pPr>
            <a:r>
              <a:t/>
            </a:r>
            <a:endParaRPr b="1" i="1" sz="1400" u="none" cap="none" strike="noStrike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ct val="25000"/>
              <a:buFont typeface="Noto Symbol"/>
              <a:buNone/>
            </a:pPr>
            <a:r>
              <a:rPr b="1" i="1" lang="en-US" sz="1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ABSTRACCION:</a:t>
            </a:r>
            <a:r>
              <a:rPr b="0" i="1" lang="en-US" sz="1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PROCESO QUE IMPLICA LA REDUCCIÓN DE LOS COMPONENTES FUNDAMENTALES DE INFORMACIÓN DE UN FENÓMENO PARA SOLO CONSERVAR SUS RASGOS MÁS RELEVANTES.</a:t>
            </a:r>
          </a:p>
          <a:p>
            <a:pPr indent="-342900" lvl="0" marL="342900" marR="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ct val="25000"/>
              <a:buFont typeface="Noto Symbol"/>
              <a:buNone/>
            </a:pPr>
            <a:r>
              <a:t/>
            </a:r>
            <a:endParaRPr b="0" i="1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ct val="25000"/>
              <a:buFont typeface="Noto Symbol"/>
              <a:buNone/>
            </a:pPr>
            <a:r>
              <a:rPr b="1" i="1" lang="en-US" sz="1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SUPUESTO</a:t>
            </a:r>
            <a:r>
              <a:rPr b="1" i="1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r>
              <a:rPr b="0" i="1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QUE PUEDE SER CIERTO O VERDADERO, PERO NO SE HA DEMOSTRADO.</a:t>
            </a:r>
          </a:p>
          <a:p>
            <a:pPr indent="-342900" lvl="0" marL="342900" marR="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ct val="25000"/>
              <a:buFont typeface="Noto Symbol"/>
              <a:buNone/>
            </a:pPr>
            <a:r>
              <a:t/>
            </a:r>
            <a:endParaRPr b="1" i="1" sz="1400" u="none" cap="none" strike="noStrike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ct val="25000"/>
              <a:buFont typeface="Noto Symbol"/>
              <a:buNone/>
            </a:pPr>
            <a:r>
              <a:rPr b="1" i="1" lang="en-US" sz="1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ARGUMENTOS</a:t>
            </a:r>
            <a:r>
              <a:rPr b="1" i="1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</a:t>
            </a:r>
            <a:r>
              <a:rPr b="0" i="1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RAZONAMIENTO EMPLEADO PARA DEMOSTRAR UNA PROPOSICIÓN.</a:t>
            </a:r>
          </a:p>
          <a:p>
            <a:pPr indent="-342900" lvl="0" marL="342900" marR="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ct val="25000"/>
              <a:buFont typeface="Noto Symbol"/>
              <a:buNone/>
            </a:pPr>
            <a:r>
              <a:t/>
            </a:r>
            <a:endParaRPr b="1" i="1" sz="1400" u="none" cap="none" strike="noStrike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ct val="25000"/>
              <a:buFont typeface="Noto Symbol"/>
              <a:buNone/>
            </a:pPr>
            <a:r>
              <a:rPr b="1" i="1" lang="en-US" sz="1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CONCLUSIONES:</a:t>
            </a:r>
            <a:r>
              <a:rPr b="0" i="1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DEDUCCIÓN A LA QUE SE LLEGA LUEGO DE UN ANÁLISIS</a:t>
            </a:r>
          </a:p>
          <a:p>
            <a:pPr indent="-342900" lvl="0" marL="342900" marR="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ct val="25000"/>
              <a:buFont typeface="Noto Symbol"/>
              <a:buNone/>
            </a:pPr>
            <a:r>
              <a:t/>
            </a:r>
            <a:endParaRPr b="0" i="1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ct val="25000"/>
              <a:buFont typeface="Noto Symbol"/>
              <a:buNone/>
            </a:pPr>
            <a:r>
              <a:rPr b="1" i="1" lang="en-US" sz="1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PROPOSICIÓN: </a:t>
            </a:r>
            <a:r>
              <a:rPr b="0" i="1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EXPOSICIÓN DE UNA IDEA PARA QUE SE CONOZCA Y ACEPTE</a:t>
            </a:r>
          </a:p>
          <a:p>
            <a:pPr indent="-342900" lvl="0" marL="342900" marR="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ct val="25000"/>
              <a:buFont typeface="Noto Symbol"/>
              <a:buNone/>
            </a:pPr>
            <a:r>
              <a:t/>
            </a:r>
            <a:endParaRPr b="1" i="1" sz="1400" u="none" cap="none" strike="noStrike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ct val="25000"/>
              <a:buFont typeface="Noto Symbol"/>
              <a:buNone/>
            </a:pPr>
            <a:r>
              <a:rPr b="1" i="1" lang="en-US" sz="1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INDICIO:</a:t>
            </a:r>
            <a:r>
              <a:rPr b="0" i="1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PRIMERA MANIFESTACIÓN DE ALGO QUE PERMANECE OCULTO.</a:t>
            </a:r>
          </a:p>
          <a:p>
            <a:pPr indent="-342900" lvl="0" marL="342900" marR="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ct val="25000"/>
              <a:buFont typeface="Noto Symbol"/>
              <a:buNone/>
            </a:pPr>
            <a:r>
              <a:t/>
            </a:r>
            <a:endParaRPr b="1" i="1" sz="1400" u="none" cap="none" strike="noStrike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ct val="25000"/>
              <a:buFont typeface="Noto Symbol"/>
              <a:buNone/>
            </a:pPr>
            <a:r>
              <a:rPr b="1" i="1" lang="en-US" sz="1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ct val="59999"/>
              <a:buFont typeface="Noto Symbol"/>
              <a:buNone/>
            </a:pPr>
            <a:r>
              <a:t/>
            </a:r>
            <a:endParaRPr b="0" i="1" sz="1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 spd="slow">
    <p:cut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 txBox="1"/>
          <p:nvPr>
            <p:ph idx="4294967295" type="title"/>
          </p:nvPr>
        </p:nvSpPr>
        <p:spPr>
          <a:xfrm>
            <a:off x="1331912" y="1125537"/>
            <a:ext cx="7488236" cy="7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ahoma"/>
              <a:buNone/>
            </a:pPr>
            <a:r>
              <a:rPr b="0" i="0" lang="en-US" sz="4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EL PROBLEMA ECONOMICO</a:t>
            </a:r>
          </a:p>
        </p:txBody>
      </p:sp>
      <p:sp>
        <p:nvSpPr>
          <p:cNvPr id="65" name="Shape 65"/>
          <p:cNvSpPr txBox="1"/>
          <p:nvPr>
            <p:ph idx="1" type="body"/>
          </p:nvPr>
        </p:nvSpPr>
        <p:spPr>
          <a:xfrm>
            <a:off x="1042987" y="5229225"/>
            <a:ext cx="7273924" cy="115252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ct val="25000"/>
              <a:buFont typeface="Noto Symbol"/>
              <a:buNone/>
            </a:pPr>
            <a:r>
              <a:rPr b="1" i="0" lang="en-US" sz="2400" u="none" cap="none" strike="noStrike">
                <a:solidFill>
                  <a:srgbClr val="0CD80C"/>
                </a:solidFill>
                <a:latin typeface="Tahoma"/>
                <a:ea typeface="Tahoma"/>
                <a:cs typeface="Tahoma"/>
                <a:sym typeface="Tahoma"/>
              </a:rPr>
              <a:t>¿Cómo emplear recursos escasos para producir bienes y servicios suficientes para satisfacer necesidades ilimitadas? </a:t>
            </a:r>
          </a:p>
        </p:txBody>
      </p:sp>
      <p:pic>
        <p:nvPicPr>
          <p:cNvPr id="66" name="Shape 66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35375" y="1916111"/>
            <a:ext cx="2114550" cy="27051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Shape 67"/>
          <p:cNvSpPr txBox="1"/>
          <p:nvPr/>
        </p:nvSpPr>
        <p:spPr>
          <a:xfrm>
            <a:off x="827087" y="2133600"/>
            <a:ext cx="2592387" cy="1152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25000"/>
              <a:buFont typeface="Tahoma"/>
              <a:buNone/>
            </a:pPr>
            <a:r>
              <a:rPr b="1" i="0" lang="en-US" sz="32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Recursos escasos</a:t>
            </a: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</a:t>
            </a:r>
          </a:p>
        </p:txBody>
      </p:sp>
      <p:sp>
        <p:nvSpPr>
          <p:cNvPr id="68" name="Shape 68"/>
          <p:cNvSpPr txBox="1"/>
          <p:nvPr/>
        </p:nvSpPr>
        <p:spPr>
          <a:xfrm>
            <a:off x="6083300" y="3789362"/>
            <a:ext cx="2881312" cy="1152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25000"/>
              <a:buFont typeface="Tahoma"/>
              <a:buNone/>
            </a:pPr>
            <a:r>
              <a:rPr b="1" i="0" lang="en-US" sz="32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Necesidades ilimitadas</a:t>
            </a:r>
          </a:p>
        </p:txBody>
      </p:sp>
    </p:spTree>
  </p:cSld>
  <p:clrMapOvr>
    <a:masterClrMapping/>
  </p:clrMapOvr>
  <p:transition spd="slow">
    <p:cut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 txBox="1"/>
          <p:nvPr>
            <p:ph type="title"/>
          </p:nvPr>
        </p:nvSpPr>
        <p:spPr>
          <a:xfrm>
            <a:off x="1260475" y="1196975"/>
            <a:ext cx="5256211" cy="64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ahoma"/>
              <a:buNone/>
            </a:pPr>
            <a:r>
              <a:rPr b="0" i="0" lang="en-US" sz="4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PREGUNTAS CLAVE</a:t>
            </a:r>
          </a:p>
        </p:txBody>
      </p:sp>
      <p:sp>
        <p:nvSpPr>
          <p:cNvPr id="74" name="Shape 74"/>
          <p:cNvSpPr txBox="1"/>
          <p:nvPr>
            <p:ph idx="1" type="body"/>
          </p:nvPr>
        </p:nvSpPr>
        <p:spPr>
          <a:xfrm>
            <a:off x="1182687" y="2017711"/>
            <a:ext cx="7772400" cy="4114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ct val="25000"/>
              <a:buFont typeface="Noto Symbol"/>
              <a:buNone/>
            </a:pPr>
            <a:r>
              <a:rPr b="0" i="0" lang="en-US" sz="40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¿QUÉ  Y CUANTO PRODUCIR?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folHlink"/>
              </a:buClr>
              <a:buSzPct val="25000"/>
              <a:buFont typeface="Noto Symbol"/>
              <a:buNone/>
            </a:pPr>
            <a:r>
              <a:t/>
            </a:r>
            <a:endParaRPr b="0" i="0" sz="40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folHlink"/>
              </a:buClr>
              <a:buSzPct val="25000"/>
              <a:buFont typeface="Noto Symbol"/>
              <a:buNone/>
            </a:pPr>
            <a:r>
              <a:rPr b="0" i="0" lang="en-US" sz="4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¿CÓMO PRODUCIR?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folHlink"/>
              </a:buClr>
              <a:buSzPct val="25000"/>
              <a:buFont typeface="Noto Symbol"/>
              <a:buNone/>
            </a:pPr>
            <a:r>
              <a:t/>
            </a:r>
            <a:endParaRPr b="0" i="0" sz="4000" u="none" cap="none" strike="noStrike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folHlink"/>
              </a:buClr>
              <a:buSzPct val="25000"/>
              <a:buFont typeface="Noto Symbol"/>
              <a:buNone/>
            </a:pPr>
            <a:r>
              <a:rPr b="0" i="0" lang="en-US" sz="4000" u="none" cap="none" strike="noStrike">
                <a:solidFill>
                  <a:srgbClr val="0CD80C"/>
                </a:solidFill>
                <a:latin typeface="Tahoma"/>
                <a:ea typeface="Tahoma"/>
                <a:cs typeface="Tahoma"/>
                <a:sym typeface="Tahoma"/>
              </a:rPr>
              <a:t>¿PARA QUIÉN PRODUCIR?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folHlink"/>
              </a:buClr>
              <a:buSzPct val="60000"/>
              <a:buFont typeface="Noto Symbol"/>
              <a:buNone/>
            </a:pPr>
            <a:r>
              <a:t/>
            </a:r>
            <a:endParaRPr b="0" i="0" sz="4000" u="none" cap="none" strike="noStrike">
              <a:solidFill>
                <a:srgbClr val="0CD80C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 spd="slow">
    <p:cut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 txBox="1"/>
          <p:nvPr>
            <p:ph type="title"/>
          </p:nvPr>
        </p:nvSpPr>
        <p:spPr>
          <a:xfrm>
            <a:off x="1331912" y="620712"/>
            <a:ext cx="7127875" cy="12239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ahoma"/>
              <a:buNone/>
            </a:pPr>
            <a:r>
              <a:rPr b="0" i="0" lang="en-US" sz="4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Supuestos</a:t>
            </a:r>
            <a:br>
              <a:rPr b="0" i="0" lang="en-US" sz="4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4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Modelo Microeconómico Básico</a:t>
            </a:r>
          </a:p>
        </p:txBody>
      </p:sp>
      <p:sp>
        <p:nvSpPr>
          <p:cNvPr id="80" name="Shape 80"/>
          <p:cNvSpPr txBox="1"/>
          <p:nvPr>
            <p:ph idx="1" type="body"/>
          </p:nvPr>
        </p:nvSpPr>
        <p:spPr>
          <a:xfrm>
            <a:off x="1187450" y="1989136"/>
            <a:ext cx="7772400" cy="4114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ct val="59999"/>
              <a:buFont typeface="Noto Symbol"/>
              <a:buChar char="❑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Los recursos se emplean totalmente.</a:t>
            </a:r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ct val="59999"/>
              <a:buFont typeface="Noto Symbol"/>
              <a:buChar char="❑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contempla la inflación.</a:t>
            </a:r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ct val="59999"/>
              <a:buFont typeface="Noto Symbol"/>
              <a:buChar char="❑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reconoce el derecho de propiedad privada en un marco de libre empresa.</a:t>
            </a:r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ct val="59999"/>
              <a:buFont typeface="Noto Symbol"/>
              <a:buChar char="❑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Las decisiones se adoptan con criterios de racionalidad:</a:t>
            </a:r>
          </a:p>
          <a:p>
            <a:pPr indent="-228600" lvl="4" marL="2057400" marR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ct val="50000"/>
              <a:buFont typeface="Noto Symbol"/>
              <a:buChar char="❑"/>
            </a:pPr>
            <a:r>
              <a:rPr b="1" i="0" lang="en-US" sz="1800" u="none" cap="none" strike="noStrik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Consumidor racional</a:t>
            </a: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Maximiza la satisfacción de sus necesidades utilizando toda la renta disponible.</a:t>
            </a:r>
          </a:p>
          <a:p>
            <a:pPr indent="-228600" lvl="4" marL="2057400" marR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ct val="50000"/>
              <a:buFont typeface="Noto Symbol"/>
              <a:buChar char="❑"/>
            </a:pPr>
            <a:r>
              <a:rPr b="1" i="0" lang="en-US" sz="1800" u="none" cap="none" strike="noStrik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Productor racional</a:t>
            </a: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Maximiza el beneficio, utilizando la menor cantidad de factores productivos posible.</a:t>
            </a:r>
          </a:p>
        </p:txBody>
      </p:sp>
    </p:spTree>
  </p:cSld>
  <p:clrMapOvr>
    <a:masterClrMapping/>
  </p:clrMapOvr>
  <p:transition spd="slow">
    <p:cut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 txBox="1"/>
          <p:nvPr>
            <p:ph idx="4294967295" type="title"/>
          </p:nvPr>
        </p:nvSpPr>
        <p:spPr>
          <a:xfrm>
            <a:off x="1547812" y="1195387"/>
            <a:ext cx="3529012" cy="64928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ahoma"/>
              <a:buNone/>
            </a:pPr>
            <a:r>
              <a:rPr b="0" i="0" lang="en-US" sz="4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FAMILIA</a:t>
            </a:r>
            <a:r>
              <a:rPr b="0" i="0" lang="en-US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</a:p>
        </p:txBody>
      </p:sp>
      <p:sp>
        <p:nvSpPr>
          <p:cNvPr id="86" name="Shape 86"/>
          <p:cNvSpPr txBox="1"/>
          <p:nvPr>
            <p:ph idx="1" type="body"/>
          </p:nvPr>
        </p:nvSpPr>
        <p:spPr>
          <a:xfrm>
            <a:off x="684212" y="2133600"/>
            <a:ext cx="4751387" cy="1728787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ct val="25000"/>
              <a:buFont typeface="Noto Symbo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Unidad de consumo, </a:t>
            </a:r>
            <a:r>
              <a:rPr b="0" i="0" lang="en-US" sz="2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proveedora 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 factores productivos y </a:t>
            </a:r>
            <a:r>
              <a:rPr b="0" i="0" lang="en-US" sz="2800" u="none" cap="none" strike="noStrike">
                <a:solidFill>
                  <a:srgbClr val="0CD80C"/>
                </a:solidFill>
                <a:latin typeface="Tahoma"/>
                <a:ea typeface="Tahoma"/>
                <a:cs typeface="Tahoma"/>
                <a:sym typeface="Tahoma"/>
              </a:rPr>
              <a:t>demandante 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 bienes y servicios útiles.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Font typeface="Noto Symbo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87" name="Shape 87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1187" y="4076700"/>
            <a:ext cx="2152649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Shape 88"/>
          <p:cNvPicPr preferRelativeResize="0"/>
          <p:nvPr>
            <p:ph idx="3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08625" y="1989136"/>
            <a:ext cx="3048000" cy="4032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 txBox="1"/>
          <p:nvPr>
            <p:ph idx="4294967295" type="title"/>
          </p:nvPr>
        </p:nvSpPr>
        <p:spPr>
          <a:xfrm>
            <a:off x="1476375" y="1052512"/>
            <a:ext cx="4032249" cy="7921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ahoma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EMPRESA</a:t>
            </a:r>
          </a:p>
        </p:txBody>
      </p:sp>
      <p:sp>
        <p:nvSpPr>
          <p:cNvPr id="94" name="Shape 94"/>
          <p:cNvSpPr txBox="1"/>
          <p:nvPr>
            <p:ph idx="1" type="body"/>
          </p:nvPr>
        </p:nvSpPr>
        <p:spPr>
          <a:xfrm>
            <a:off x="971550" y="2781300"/>
            <a:ext cx="4397375" cy="2706687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ct val="25000"/>
              <a:buFont typeface="Noto Symbo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Unidad de producción, </a:t>
            </a:r>
            <a:r>
              <a:rPr b="0" i="0" lang="en-US" sz="32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proveedora </a:t>
            </a: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 bienes y servicios útiles y </a:t>
            </a:r>
            <a:r>
              <a:rPr b="0" i="0" lang="en-US" sz="3200" u="none" cap="none" strike="noStrike">
                <a:solidFill>
                  <a:srgbClr val="0CD80C"/>
                </a:solidFill>
                <a:latin typeface="Tahoma"/>
                <a:ea typeface="Tahoma"/>
                <a:cs typeface="Tahoma"/>
                <a:sym typeface="Tahoma"/>
              </a:rPr>
              <a:t>demandante</a:t>
            </a: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de factores productivos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</a:p>
        </p:txBody>
      </p:sp>
      <p:pic>
        <p:nvPicPr>
          <p:cNvPr id="95" name="Shape 95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0787" y="4581525"/>
            <a:ext cx="1774825" cy="152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Shape 96"/>
          <p:cNvPicPr preferRelativeResize="0"/>
          <p:nvPr>
            <p:ph idx="3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24525" y="1989136"/>
            <a:ext cx="2641600" cy="1981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 txBox="1"/>
          <p:nvPr>
            <p:ph idx="4294967295" type="title"/>
          </p:nvPr>
        </p:nvSpPr>
        <p:spPr>
          <a:xfrm>
            <a:off x="1331912" y="115886"/>
            <a:ext cx="4032249" cy="151288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ahoma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FACTORES PRODUCTIVOS</a:t>
            </a:r>
          </a:p>
        </p:txBody>
      </p:sp>
      <p:pic>
        <p:nvPicPr>
          <p:cNvPr id="102" name="Shape 10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3350" y="4508500"/>
            <a:ext cx="2655887" cy="2043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Shape 103"/>
          <p:cNvPicPr preferRelativeResize="0"/>
          <p:nvPr>
            <p:ph idx="2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24525" y="4365625"/>
            <a:ext cx="2719386" cy="1981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Shape 104"/>
          <p:cNvPicPr preferRelativeResize="0"/>
          <p:nvPr>
            <p:ph idx="3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24525" y="1989136"/>
            <a:ext cx="2640011" cy="1981199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Shape 105"/>
          <p:cNvSpPr txBox="1"/>
          <p:nvPr/>
        </p:nvSpPr>
        <p:spPr>
          <a:xfrm>
            <a:off x="971550" y="2060575"/>
            <a:ext cx="4397375" cy="2305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Shape 106"/>
          <p:cNvSpPr txBox="1"/>
          <p:nvPr/>
        </p:nvSpPr>
        <p:spPr>
          <a:xfrm>
            <a:off x="971550" y="1916111"/>
            <a:ext cx="4397375" cy="2376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Tahoma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Son los recursos que forman parte de proceso de producción de bienes y servicios útiles.</a:t>
            </a:r>
          </a:p>
        </p:txBody>
      </p:sp>
    </p:spTree>
  </p:cSld>
  <p:clrMapOvr>
    <a:masterClrMapping/>
  </p:clrMapOvr>
  <p:transition spd="slow">
    <p:cut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111"/>
          <p:cNvSpPr txBox="1"/>
          <p:nvPr>
            <p:ph idx="4294967295" type="title"/>
          </p:nvPr>
        </p:nvSpPr>
        <p:spPr>
          <a:xfrm>
            <a:off x="1403350" y="1125537"/>
            <a:ext cx="7056437" cy="7191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ahoma"/>
              <a:buNone/>
            </a:pPr>
            <a:r>
              <a:rPr b="0" i="0" lang="en-US" sz="4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BIENES Y SERVICIOS ÚTILES</a:t>
            </a:r>
          </a:p>
        </p:txBody>
      </p:sp>
      <p:pic>
        <p:nvPicPr>
          <p:cNvPr id="112" name="Shape 11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6462" y="2060575"/>
            <a:ext cx="1974850" cy="1981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Shape 113"/>
          <p:cNvPicPr preferRelativeResize="0"/>
          <p:nvPr>
            <p:ph idx="2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11637" y="4437062"/>
            <a:ext cx="1879599" cy="1981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Shape 114"/>
          <p:cNvPicPr preferRelativeResize="0"/>
          <p:nvPr>
            <p:ph idx="3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59561" y="4149725"/>
            <a:ext cx="2339975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Shape 115"/>
          <p:cNvSpPr txBox="1"/>
          <p:nvPr/>
        </p:nvSpPr>
        <p:spPr>
          <a:xfrm>
            <a:off x="250825" y="2276475"/>
            <a:ext cx="4176711" cy="16557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Tahoma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Son aquellos que </a:t>
            </a:r>
            <a:r>
              <a:rPr b="0" i="0" lang="en-US" sz="3200" u="none" cap="none" strike="noStrike">
                <a:solidFill>
                  <a:srgbClr val="0CD80C"/>
                </a:solidFill>
                <a:latin typeface="Tahoma"/>
                <a:ea typeface="Tahoma"/>
                <a:cs typeface="Tahoma"/>
                <a:sym typeface="Tahoma"/>
              </a:rPr>
              <a:t>satisfacen</a:t>
            </a: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las necesidades</a:t>
            </a:r>
          </a:p>
        </p:txBody>
      </p:sp>
      <p:pic>
        <p:nvPicPr>
          <p:cNvPr id="116" name="Shape 116"/>
          <p:cNvPicPr preferRelativeResize="0"/>
          <p:nvPr>
            <p:ph idx="4" type="body"/>
          </p:nvPr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45325" y="2205036"/>
            <a:ext cx="2098674" cy="1457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Shape 1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2987" y="4076700"/>
            <a:ext cx="1857375" cy="21669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122"/>
          <p:cNvSpPr txBox="1"/>
          <p:nvPr>
            <p:ph type="title"/>
          </p:nvPr>
        </p:nvSpPr>
        <p:spPr>
          <a:xfrm>
            <a:off x="395287" y="404812"/>
            <a:ext cx="4032249" cy="11509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ahoma"/>
              <a:buNone/>
            </a:pPr>
            <a:r>
              <a:rPr b="0" i="0" lang="en-US" sz="4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Modelo Gráfico</a:t>
            </a:r>
            <a:br>
              <a:rPr b="1" i="0" lang="en-US" sz="26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1" i="0" lang="en-US" sz="26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	</a:t>
            </a:r>
            <a:r>
              <a:rPr b="1" i="0" lang="en-US" sz="1600" u="none" cap="none" strike="noStrike">
                <a:solidFill>
                  <a:srgbClr val="3366FF"/>
                </a:solidFill>
                <a:latin typeface="Tahoma"/>
                <a:ea typeface="Tahoma"/>
                <a:cs typeface="Tahoma"/>
                <a:sym typeface="Tahoma"/>
              </a:rPr>
              <a:t>Flujos de bienes y servicios</a:t>
            </a:r>
            <a:br>
              <a:rPr b="1" i="0" lang="en-US" sz="16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1" i="0" lang="en-US" sz="16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	</a:t>
            </a:r>
            <a:r>
              <a:rPr b="1" i="0" lang="en-US" sz="16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Flujos monetarios</a:t>
            </a:r>
          </a:p>
        </p:txBody>
      </p:sp>
      <p:sp>
        <p:nvSpPr>
          <p:cNvPr id="123" name="Shape 123"/>
          <p:cNvSpPr/>
          <p:nvPr/>
        </p:nvSpPr>
        <p:spPr>
          <a:xfrm>
            <a:off x="1763711" y="3068636"/>
            <a:ext cx="2160586" cy="1511300"/>
          </a:xfrm>
          <a:prstGeom prst="flowChartProcess">
            <a:avLst/>
          </a:prstGeom>
          <a:solidFill>
            <a:schemeClr val="accent1">
              <a:alpha val="36862"/>
            </a:schemeClr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ct val="25000"/>
              <a:buFont typeface="Tahoma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FAMILIA</a:t>
            </a:r>
          </a:p>
        </p:txBody>
      </p:sp>
      <p:sp>
        <p:nvSpPr>
          <p:cNvPr id="124" name="Shape 124"/>
          <p:cNvSpPr/>
          <p:nvPr/>
        </p:nvSpPr>
        <p:spPr>
          <a:xfrm>
            <a:off x="5292725" y="2997200"/>
            <a:ext cx="2160586" cy="1511300"/>
          </a:xfrm>
          <a:prstGeom prst="flowChartProcess">
            <a:avLst/>
          </a:prstGeom>
          <a:solidFill>
            <a:srgbClr val="FF0000">
              <a:alpha val="40784"/>
            </a:srgbClr>
          </a:solidFill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25000"/>
              <a:buFont typeface="Tahoma"/>
              <a:buNone/>
            </a:pPr>
            <a:r>
              <a:rPr b="0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EMPRESA</a:t>
            </a:r>
          </a:p>
        </p:txBody>
      </p:sp>
      <p:cxnSp>
        <p:nvCxnSpPr>
          <p:cNvPr id="125" name="Shape 125"/>
          <p:cNvCxnSpPr/>
          <p:nvPr/>
        </p:nvCxnSpPr>
        <p:spPr>
          <a:xfrm flipH="1" rot="10800000">
            <a:off x="2843212" y="4508624"/>
            <a:ext cx="3528900" cy="72899"/>
          </a:xfrm>
          <a:prstGeom prst="bentConnector3">
            <a:avLst>
              <a:gd fmla="val 0" name="adj1"/>
            </a:avLst>
          </a:prstGeom>
          <a:noFill/>
          <a:ln cap="flat" cmpd="sng" w="25400">
            <a:solidFill>
              <a:srgbClr val="FF0000"/>
            </a:solidFill>
            <a:prstDash val="solid"/>
            <a:miter/>
            <a:headEnd len="sm" w="sm" type="oval"/>
            <a:tailEnd len="med" w="med" type="stealth"/>
          </a:ln>
        </p:spPr>
      </p:cxnSp>
      <p:cxnSp>
        <p:nvCxnSpPr>
          <p:cNvPr id="126" name="Shape 126"/>
          <p:cNvCxnSpPr/>
          <p:nvPr/>
        </p:nvCxnSpPr>
        <p:spPr>
          <a:xfrm flipH="1" rot="10800000">
            <a:off x="2843212" y="2997324"/>
            <a:ext cx="3528900" cy="72899"/>
          </a:xfrm>
          <a:prstGeom prst="bentConnector3">
            <a:avLst>
              <a:gd fmla="val 0" name="adj1"/>
            </a:avLst>
          </a:prstGeom>
          <a:noFill/>
          <a:ln cap="flat" cmpd="sng" w="25400">
            <a:solidFill>
              <a:srgbClr val="FF0000"/>
            </a:solidFill>
            <a:prstDash val="solid"/>
            <a:miter/>
            <a:headEnd len="lg" w="lg" type="stealth"/>
            <a:tailEnd len="sm" w="sm" type="oval"/>
          </a:ln>
        </p:spPr>
      </p:cxnSp>
      <p:cxnSp>
        <p:nvCxnSpPr>
          <p:cNvPr id="127" name="Shape 127"/>
          <p:cNvCxnSpPr/>
          <p:nvPr/>
        </p:nvCxnSpPr>
        <p:spPr>
          <a:xfrm flipH="1" rot="10800000">
            <a:off x="1763711" y="3141786"/>
            <a:ext cx="5689499" cy="72899"/>
          </a:xfrm>
          <a:prstGeom prst="bentConnector5">
            <a:avLst>
              <a:gd fmla="val -868" name="adj1"/>
              <a:gd fmla="val 345722" name="adj2"/>
              <a:gd fmla="val 22468" name="adj3"/>
            </a:avLst>
          </a:prstGeom>
          <a:noFill/>
          <a:ln cap="flat" cmpd="sng" w="25400">
            <a:solidFill>
              <a:srgbClr val="0000FF"/>
            </a:solidFill>
            <a:prstDash val="solid"/>
            <a:miter/>
            <a:headEnd len="sm" w="sm" type="oval"/>
            <a:tailEnd len="med" w="med" type="stealth"/>
          </a:ln>
        </p:spPr>
      </p:cxnSp>
      <p:cxnSp>
        <p:nvCxnSpPr>
          <p:cNvPr id="128" name="Shape 128"/>
          <p:cNvCxnSpPr/>
          <p:nvPr/>
        </p:nvCxnSpPr>
        <p:spPr>
          <a:xfrm flipH="1">
            <a:off x="1763811" y="4437062"/>
            <a:ext cx="5689499" cy="72899"/>
          </a:xfrm>
          <a:prstGeom prst="bentConnector5">
            <a:avLst>
              <a:gd fmla="val -862" name="adj1"/>
              <a:gd fmla="val 330199" name="adj2"/>
              <a:gd fmla="val 23191" name="adj3"/>
            </a:avLst>
          </a:prstGeom>
          <a:noFill/>
          <a:ln cap="flat" cmpd="sng" w="25400">
            <a:solidFill>
              <a:srgbClr val="0000FF"/>
            </a:solidFill>
            <a:prstDash val="solid"/>
            <a:miter/>
            <a:headEnd len="sm" w="sm" type="oval"/>
            <a:tailEnd len="med" w="med" type="stealth"/>
          </a:ln>
        </p:spPr>
      </p:cxnSp>
      <p:sp>
        <p:nvSpPr>
          <p:cNvPr id="129" name="Shape 129"/>
          <p:cNvSpPr txBox="1"/>
          <p:nvPr/>
        </p:nvSpPr>
        <p:spPr>
          <a:xfrm>
            <a:off x="2555875" y="1700211"/>
            <a:ext cx="4752974" cy="3667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ahoma"/>
              <a:buNone/>
            </a:pPr>
            <a:r>
              <a:rPr b="0" i="0" lang="en-US" sz="18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Aporte de factores de la producción (B/S)</a:t>
            </a:r>
          </a:p>
        </p:txBody>
      </p:sp>
      <p:sp>
        <p:nvSpPr>
          <p:cNvPr id="130" name="Shape 130"/>
          <p:cNvSpPr txBox="1"/>
          <p:nvPr/>
        </p:nvSpPr>
        <p:spPr>
          <a:xfrm>
            <a:off x="2411411" y="2133600"/>
            <a:ext cx="4968875" cy="3667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25000"/>
              <a:buFont typeface="Tahoma"/>
              <a:buNone/>
            </a:pPr>
            <a:r>
              <a:rPr b="0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Renta por utilizar factores de la producción($)</a:t>
            </a:r>
          </a:p>
        </p:txBody>
      </p:sp>
      <p:sp>
        <p:nvSpPr>
          <p:cNvPr id="131" name="Shape 131"/>
          <p:cNvSpPr txBox="1"/>
          <p:nvPr/>
        </p:nvSpPr>
        <p:spPr>
          <a:xfrm>
            <a:off x="2987675" y="4581525"/>
            <a:ext cx="3168650" cy="3667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25000"/>
              <a:buFont typeface="Tahoma"/>
              <a:buNone/>
            </a:pPr>
            <a:r>
              <a:rPr b="0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Consumo($)</a:t>
            </a:r>
          </a:p>
        </p:txBody>
      </p:sp>
      <p:sp>
        <p:nvSpPr>
          <p:cNvPr id="132" name="Shape 132"/>
          <p:cNvSpPr txBox="1"/>
          <p:nvPr/>
        </p:nvSpPr>
        <p:spPr>
          <a:xfrm>
            <a:off x="2987675" y="5084762"/>
            <a:ext cx="3313112" cy="3667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ahoma"/>
              <a:buNone/>
            </a:pPr>
            <a:r>
              <a:rPr b="0" i="0" lang="en-US" sz="18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Bienes y servicios útiles (B/S)</a:t>
            </a:r>
          </a:p>
        </p:txBody>
      </p:sp>
      <p:sp>
        <p:nvSpPr>
          <p:cNvPr id="133" name="Shape 133"/>
          <p:cNvSpPr txBox="1"/>
          <p:nvPr/>
        </p:nvSpPr>
        <p:spPr>
          <a:xfrm>
            <a:off x="34925" y="5661025"/>
            <a:ext cx="2087562" cy="3667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25000"/>
              <a:buFont typeface="Tahoma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Valor de uso</a:t>
            </a:r>
            <a:r>
              <a:rPr b="0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       </a:t>
            </a:r>
          </a:p>
        </p:txBody>
      </p:sp>
      <p:sp>
        <p:nvSpPr>
          <p:cNvPr id="134" name="Shape 134"/>
          <p:cNvSpPr txBox="1"/>
          <p:nvPr/>
        </p:nvSpPr>
        <p:spPr>
          <a:xfrm>
            <a:off x="2700336" y="5661025"/>
            <a:ext cx="3455986" cy="3667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25000"/>
              <a:buFont typeface="Tahoma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&gt; Valor de cambio &gt;</a:t>
            </a:r>
          </a:p>
        </p:txBody>
      </p:sp>
      <p:sp>
        <p:nvSpPr>
          <p:cNvPr id="135" name="Shape 135"/>
          <p:cNvSpPr txBox="1"/>
          <p:nvPr/>
        </p:nvSpPr>
        <p:spPr>
          <a:xfrm>
            <a:off x="6156325" y="5661025"/>
            <a:ext cx="2735262" cy="3667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ct val="25000"/>
              <a:buFont typeface="Tahoma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Costo de producción</a:t>
            </a:r>
          </a:p>
        </p:txBody>
      </p:sp>
      <p:sp>
        <p:nvSpPr>
          <p:cNvPr id="136" name="Shape 136"/>
          <p:cNvSpPr txBox="1"/>
          <p:nvPr/>
        </p:nvSpPr>
        <p:spPr>
          <a:xfrm>
            <a:off x="179386" y="3716337"/>
            <a:ext cx="1403349" cy="703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Necesidades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Rentas</a:t>
            </a:r>
          </a:p>
        </p:txBody>
      </p:sp>
      <p:sp>
        <p:nvSpPr>
          <p:cNvPr id="137" name="Shape 137"/>
          <p:cNvSpPr txBox="1"/>
          <p:nvPr/>
        </p:nvSpPr>
        <p:spPr>
          <a:xfrm>
            <a:off x="7380286" y="2924175"/>
            <a:ext cx="1800225" cy="15589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ymbol"/>
              <a:buChar char="▪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Cantidad  y precio de los F. Productivos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ymbol"/>
              <a:buChar char="▪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Tecnología</a:t>
            </a:r>
          </a:p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ymbol"/>
              <a:buChar char="▪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Productividad</a:t>
            </a:r>
          </a:p>
        </p:txBody>
      </p:sp>
      <p:cxnSp>
        <p:nvCxnSpPr>
          <p:cNvPr id="138" name="Shape 138"/>
          <p:cNvCxnSpPr/>
          <p:nvPr/>
        </p:nvCxnSpPr>
        <p:spPr>
          <a:xfrm>
            <a:off x="684212" y="4581525"/>
            <a:ext cx="0" cy="1079499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/>
            <a:headEnd len="med" w="med" type="none"/>
            <a:tailEnd len="lg" w="lg" type="triangle"/>
          </a:ln>
        </p:spPr>
      </p:cxnSp>
      <p:cxnSp>
        <p:nvCxnSpPr>
          <p:cNvPr id="139" name="Shape 139"/>
          <p:cNvCxnSpPr/>
          <p:nvPr/>
        </p:nvCxnSpPr>
        <p:spPr>
          <a:xfrm>
            <a:off x="8316911" y="4652962"/>
            <a:ext cx="0" cy="1079499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/>
            <a:headEnd len="med" w="med" type="none"/>
            <a:tailEnd len="lg" w="lg" type="triangle"/>
          </a:ln>
        </p:spPr>
      </p:cxnSp>
    </p:spTree>
  </p:cSld>
  <p:clrMapOvr>
    <a:masterClrMapping/>
  </p:clrMapOvr>
  <p:transition spd="slow">
    <p:cut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144"/>
          <p:cNvSpPr txBox="1"/>
          <p:nvPr>
            <p:ph type="ctrTitle"/>
          </p:nvPr>
        </p:nvSpPr>
        <p:spPr>
          <a:xfrm>
            <a:off x="611187" y="115886"/>
            <a:ext cx="5038724" cy="7524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ahoma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Teoría del consumo</a:t>
            </a:r>
          </a:p>
        </p:txBody>
      </p:sp>
      <p:sp>
        <p:nvSpPr>
          <p:cNvPr id="145" name="Shape 145"/>
          <p:cNvSpPr txBox="1"/>
          <p:nvPr/>
        </p:nvSpPr>
        <p:spPr>
          <a:xfrm>
            <a:off x="395287" y="2636836"/>
            <a:ext cx="6408737" cy="11969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Analiza  el comportamiento de la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unidad de consumo (familia)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y su manifestación en el mercado, o sea la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demanda</a:t>
            </a:r>
            <a:r>
              <a:rPr b="1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  <p:pic>
        <p:nvPicPr>
          <p:cNvPr id="146" name="Shape 1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0425" y="4581525"/>
            <a:ext cx="2381249" cy="1600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151"/>
          <p:cNvSpPr txBox="1"/>
          <p:nvPr>
            <p:ph type="ctrTitle"/>
          </p:nvPr>
        </p:nvSpPr>
        <p:spPr>
          <a:xfrm>
            <a:off x="1333500" y="1096962"/>
            <a:ext cx="4894261" cy="74771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ahoma"/>
              <a:buNone/>
            </a:pPr>
            <a:r>
              <a:rPr b="0" i="0" lang="en-US" sz="4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Utilidad de un bien</a:t>
            </a:r>
          </a:p>
        </p:txBody>
      </p:sp>
      <p:sp>
        <p:nvSpPr>
          <p:cNvPr id="152" name="Shape 152"/>
          <p:cNvSpPr txBox="1"/>
          <p:nvPr>
            <p:ph idx="1" type="subTitle"/>
          </p:nvPr>
        </p:nvSpPr>
        <p:spPr>
          <a:xfrm>
            <a:off x="1331912" y="1989136"/>
            <a:ext cx="6769100" cy="1295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ct val="25000"/>
              <a:buFont typeface="Noto Symbo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La aptitud o capacidad que tiene un bien para satisfacer necesidades</a:t>
            </a:r>
          </a:p>
        </p:txBody>
      </p:sp>
      <p:pic>
        <p:nvPicPr>
          <p:cNvPr id="153" name="Shape 1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43211" y="3573462"/>
            <a:ext cx="2022475" cy="289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158"/>
          <p:cNvSpPr txBox="1"/>
          <p:nvPr>
            <p:ph idx="4294967295" type="title"/>
          </p:nvPr>
        </p:nvSpPr>
        <p:spPr>
          <a:xfrm>
            <a:off x="811212" y="166686"/>
            <a:ext cx="4481512" cy="1246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ahoma"/>
              <a:buNone/>
            </a:pPr>
            <a:r>
              <a:rPr b="0" i="0" lang="en-US" sz="4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Distintos tipos </a:t>
            </a:r>
            <a:br>
              <a:rPr b="0" i="0" lang="en-US" sz="4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4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de utilidad</a:t>
            </a:r>
          </a:p>
        </p:txBody>
      </p:sp>
      <p:sp>
        <p:nvSpPr>
          <p:cNvPr id="159" name="Shape 159"/>
          <p:cNvSpPr txBox="1"/>
          <p:nvPr>
            <p:ph idx="1" type="body"/>
          </p:nvPr>
        </p:nvSpPr>
        <p:spPr>
          <a:xfrm>
            <a:off x="457200" y="1600200"/>
            <a:ext cx="4038599" cy="4525961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ct val="59999"/>
              <a:buFont typeface="Noto Symbol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Utilidad parcial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ct val="59999"/>
              <a:buFont typeface="Noto Symbol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Utilidad marginal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ct val="59999"/>
              <a:buFont typeface="Noto Symbol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Utilidad total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ct val="59999"/>
              <a:buFont typeface="Noto Symbol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Utilidad final</a:t>
            </a:r>
          </a:p>
        </p:txBody>
      </p:sp>
      <p:pic>
        <p:nvPicPr>
          <p:cNvPr id="160" name="Shape 160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325" y="3644900"/>
            <a:ext cx="1143000" cy="2189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Shape 161"/>
          <p:cNvPicPr preferRelativeResize="0"/>
          <p:nvPr>
            <p:ph idx="3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72250" y="1557337"/>
            <a:ext cx="2571749" cy="1770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Shape 16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95737" y="1773236"/>
            <a:ext cx="1904999" cy="1428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Shape 16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5650" y="4076700"/>
            <a:ext cx="1428749" cy="1904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Shape 16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555875" y="4116387"/>
            <a:ext cx="2443161" cy="1833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169"/>
          <p:cNvSpPr txBox="1"/>
          <p:nvPr>
            <p:ph type="title"/>
          </p:nvPr>
        </p:nvSpPr>
        <p:spPr>
          <a:xfrm>
            <a:off x="1042987" y="476250"/>
            <a:ext cx="7920036" cy="12239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ahoma"/>
              <a:buNone/>
            </a:pPr>
            <a:r>
              <a:rPr b="0" i="0" lang="en-US" sz="4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Ley de </a:t>
            </a:r>
            <a:br>
              <a:rPr b="0" i="0" lang="en-US" sz="4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4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Utilidades marginales decrecientes</a:t>
            </a:r>
          </a:p>
        </p:txBody>
      </p:sp>
      <p:pic>
        <p:nvPicPr>
          <p:cNvPr id="170" name="Shape 170"/>
          <p:cNvPicPr preferRelativeResize="0"/>
          <p:nvPr>
            <p:ph idx="2" type="chart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1050" y="1700211"/>
            <a:ext cx="5448300" cy="42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hape 175"/>
          <p:cNvSpPr txBox="1"/>
          <p:nvPr>
            <p:ph idx="4294967295" type="title"/>
          </p:nvPr>
        </p:nvSpPr>
        <p:spPr>
          <a:xfrm>
            <a:off x="682625" y="1052512"/>
            <a:ext cx="8281986" cy="12239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ahoma"/>
              <a:buNone/>
            </a:pPr>
            <a:r>
              <a:rPr b="0" i="0" lang="en-US" sz="4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Elementos para la toma de decisión </a:t>
            </a:r>
            <a:br>
              <a:rPr b="0" i="0" lang="en-US" sz="4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4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                 </a:t>
            </a:r>
            <a:r>
              <a:rPr b="0" i="0" lang="en-US" sz="32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La Familia</a:t>
            </a:r>
          </a:p>
        </p:txBody>
      </p:sp>
      <p:sp>
        <p:nvSpPr>
          <p:cNvPr id="176" name="Shape 176"/>
          <p:cNvSpPr txBox="1"/>
          <p:nvPr>
            <p:ph idx="1" type="body"/>
          </p:nvPr>
        </p:nvSpPr>
        <p:spPr>
          <a:xfrm>
            <a:off x="1042987" y="2554286"/>
            <a:ext cx="3809999" cy="4114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1" anchor="ctr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ct val="59999"/>
              <a:buFont typeface="Noto Symbol"/>
              <a:buChar char="❑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Ingresos o rentas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ct val="59999"/>
              <a:buFont typeface="Noto Symbol"/>
              <a:buChar char="❑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Necesidades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Font typeface="Noto Symbo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ct val="25000"/>
              <a:buFont typeface="Noto Symbol"/>
              <a:buNone/>
            </a:pPr>
            <a:r>
              <a:rPr b="1" i="0" lang="en-US" sz="24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La familia e</a:t>
            </a:r>
            <a:r>
              <a:rPr b="1" i="1" lang="en-US" sz="24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stablece una escala de prioridades hasta agotar la totalidad de sus ingresos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Font typeface="Noto Symbol"/>
              <a:buNone/>
            </a:pPr>
            <a:r>
              <a:t/>
            </a:r>
            <a:endParaRPr b="1" i="1" sz="24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7" name="Shape 177"/>
          <p:cNvSpPr txBox="1"/>
          <p:nvPr>
            <p:ph idx="2" type="body"/>
          </p:nvPr>
        </p:nvSpPr>
        <p:spPr>
          <a:xfrm>
            <a:off x="5145087" y="2554286"/>
            <a:ext cx="3809999" cy="4114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1" anchor="ctr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ct val="25000"/>
              <a:buFont typeface="Noto Symbol"/>
              <a:buNone/>
            </a:pPr>
            <a:r>
              <a:rPr b="0" i="1" lang="en-US" sz="2000" u="none" cap="none" strike="noStrik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Parámetro de referencia</a:t>
            </a:r>
          </a:p>
          <a:p>
            <a:pPr indent="-342900" lvl="0" marL="342900" marR="0" rtl="0" algn="l">
              <a:lnSpc>
                <a:spcPct val="75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ct val="25000"/>
              <a:buFont typeface="Noto Symbo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i="0" lang="en-US" sz="2400" u="none" cap="none" strike="noStrik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Valor de uso</a:t>
            </a:r>
          </a:p>
          <a:p>
            <a:pPr indent="-342900" lvl="0" marL="342900" marR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Font typeface="Noto Symbo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105000"/>
              </a:lnSpc>
              <a:spcBef>
                <a:spcPts val="1680"/>
              </a:spcBef>
              <a:spcAft>
                <a:spcPts val="0"/>
              </a:spcAft>
              <a:buClr>
                <a:schemeClr val="folHlink"/>
              </a:buClr>
              <a:buSzPct val="25000"/>
              <a:buFont typeface="Noto Symbol"/>
              <a:buNone/>
            </a:pPr>
            <a:r>
              <a:rPr b="0" i="1" lang="en-US" sz="2000" u="none" cap="none" strike="noStrik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Máximo valor apreciado por la familia  según la utilidad y escasez de los bienes y servicios que satisfacen sus necesidades y los recursos disponibles.</a:t>
            </a:r>
            <a:r>
              <a:rPr b="0" i="1" lang="en-US" sz="2800" u="none" cap="none" strike="noStrik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</a:p>
        </p:txBody>
      </p:sp>
    </p:spTree>
  </p:cSld>
  <p:clrMapOvr>
    <a:masterClrMapping/>
  </p:clrMapOvr>
  <p:transition spd="slow">
    <p:cut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182"/>
          <p:cNvSpPr/>
          <p:nvPr>
            <p:ph idx="4294967295" type="title"/>
          </p:nvPr>
        </p:nvSpPr>
        <p:spPr>
          <a:xfrm>
            <a:off x="179386" y="188911"/>
            <a:ext cx="5256211" cy="64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ahoma"/>
              <a:buNone/>
            </a:pPr>
            <a:r>
              <a:rPr b="0" i="0" lang="en-US" sz="4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Función producción</a:t>
            </a:r>
          </a:p>
        </p:txBody>
      </p:sp>
      <p:sp>
        <p:nvSpPr>
          <p:cNvPr id="183" name="Shape 183"/>
          <p:cNvSpPr txBox="1"/>
          <p:nvPr>
            <p:ph idx="1" type="body"/>
          </p:nvPr>
        </p:nvSpPr>
        <p:spPr>
          <a:xfrm>
            <a:off x="827087" y="2349500"/>
            <a:ext cx="7910511" cy="372427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ct val="25000"/>
              <a:buFont typeface="Noto Symbol"/>
              <a:buNone/>
            </a:pPr>
            <a:r>
              <a:rPr b="1" i="1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Relaciona</a:t>
            </a:r>
            <a:r>
              <a:rPr b="0" i="1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ct val="25000"/>
              <a:buFont typeface="Noto Symbol"/>
              <a:buNone/>
            </a:pPr>
            <a:r>
              <a:rPr b="1" i="1" lang="en-US" sz="3200" u="none" cap="none" strike="noStrike">
                <a:solidFill>
                  <a:srgbClr val="3366FF"/>
                </a:solidFill>
                <a:latin typeface="Tahoma"/>
                <a:ea typeface="Tahoma"/>
                <a:cs typeface="Tahoma"/>
                <a:sym typeface="Tahoma"/>
              </a:rPr>
              <a:t>Producción obtenida de un bien determinado</a:t>
            </a:r>
            <a:r>
              <a:rPr b="1" i="1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ct val="25000"/>
              <a:buFont typeface="Noto Symbol"/>
              <a:buNone/>
            </a:pPr>
            <a:r>
              <a:rPr b="1" i="1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	con	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ct val="25000"/>
              <a:buFont typeface="Noto Symbol"/>
              <a:buNone/>
            </a:pPr>
            <a:r>
              <a:rPr b="1" i="1" lang="en-US" sz="3200" u="none" cap="none" strike="noStrike">
                <a:solidFill>
                  <a:srgbClr val="FF6600"/>
                </a:solidFill>
                <a:latin typeface="Tahoma"/>
                <a:ea typeface="Tahoma"/>
                <a:cs typeface="Tahoma"/>
                <a:sym typeface="Tahoma"/>
              </a:rPr>
              <a:t>Cantidad de factores productivos utilizada</a:t>
            </a:r>
          </a:p>
        </p:txBody>
      </p:sp>
    </p:spTree>
  </p:cSld>
  <p:clrMapOvr>
    <a:masterClrMapping/>
  </p:clrMapOvr>
  <p:transition spd="slow">
    <p:cut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hape 188"/>
          <p:cNvSpPr/>
          <p:nvPr>
            <p:ph type="title"/>
          </p:nvPr>
        </p:nvSpPr>
        <p:spPr>
          <a:xfrm>
            <a:off x="1116012" y="476250"/>
            <a:ext cx="7416800" cy="1439862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ahoma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Producción : Distintos tipos</a:t>
            </a:r>
          </a:p>
        </p:txBody>
      </p:sp>
      <p:sp>
        <p:nvSpPr>
          <p:cNvPr id="189" name="Shape 189"/>
          <p:cNvSpPr txBox="1"/>
          <p:nvPr>
            <p:ph idx="1" type="body"/>
          </p:nvPr>
        </p:nvSpPr>
        <p:spPr>
          <a:xfrm>
            <a:off x="755650" y="2060575"/>
            <a:ext cx="7786686" cy="3849686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ct val="25000"/>
              <a:buFont typeface="Noto Symbol"/>
              <a:buNone/>
            </a:pPr>
            <a:r>
              <a:t/>
            </a:r>
            <a:endParaRPr b="0" baseline="30000" i="0" sz="4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28600" lvl="3" marL="1600200" marR="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accent2"/>
              </a:buClr>
              <a:buSzPct val="50000"/>
              <a:buFont typeface="Noto Symbol"/>
              <a:buChar char="❑"/>
            </a:pPr>
            <a:r>
              <a:rPr b="1" baseline="30000" i="0" lang="en-US" sz="4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Producción Total</a:t>
            </a:r>
          </a:p>
          <a:p>
            <a:pPr indent="-228600" lvl="4" marL="20574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ct val="50000"/>
              <a:buFont typeface="Noto Symbol"/>
              <a:buChar char="❑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Producción Media o Producto Medio</a:t>
            </a:r>
          </a:p>
          <a:p>
            <a:pPr indent="-228600" lvl="4" marL="20574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ct val="50000"/>
              <a:buFont typeface="Noto Symbol"/>
              <a:buChar char="❑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Producción o Producto Marginal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ct val="60000"/>
              <a:buFont typeface="Noto Symbo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 spd="slow">
    <p:cut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194"/>
          <p:cNvSpPr/>
          <p:nvPr>
            <p:ph idx="4294967295" type="title"/>
          </p:nvPr>
        </p:nvSpPr>
        <p:spPr>
          <a:xfrm>
            <a:off x="1403350" y="1196975"/>
            <a:ext cx="5256211" cy="64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ahoma"/>
              <a:buNone/>
            </a:pPr>
            <a:r>
              <a:rPr b="0" i="0" lang="en-US" sz="4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Producción Total</a:t>
            </a:r>
          </a:p>
        </p:txBody>
      </p:sp>
      <p:sp>
        <p:nvSpPr>
          <p:cNvPr id="195" name="Shape 195"/>
          <p:cNvSpPr txBox="1"/>
          <p:nvPr>
            <p:ph idx="1" type="body"/>
          </p:nvPr>
        </p:nvSpPr>
        <p:spPr>
          <a:xfrm>
            <a:off x="179386" y="2143125"/>
            <a:ext cx="4033837" cy="4094162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Font typeface="Noto Symbol"/>
              <a:buNone/>
            </a:pPr>
            <a:r>
              <a:t/>
            </a:r>
            <a:endParaRPr b="0" i="0" sz="2800" u="none" cap="none" strike="noStrike">
              <a:solidFill>
                <a:srgbClr val="FF66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ct val="25000"/>
              <a:buFont typeface="Noto Symbol"/>
              <a:buNone/>
            </a:pPr>
            <a:r>
              <a:rPr b="0" i="0" lang="en-US" sz="2800" u="none" cap="none" strike="noStrike">
                <a:solidFill>
                  <a:srgbClr val="FF6600"/>
                </a:solidFill>
                <a:latin typeface="Tahoma"/>
                <a:ea typeface="Tahoma"/>
                <a:cs typeface="Tahoma"/>
                <a:sym typeface="Tahoma"/>
              </a:rPr>
              <a:t>La suma de las unidades de bien producidas con una determinada cantidad de factores de la producción</a:t>
            </a:r>
          </a:p>
        </p:txBody>
      </p:sp>
      <p:pic>
        <p:nvPicPr>
          <p:cNvPr id="196" name="Shape 196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56100" y="2708275"/>
            <a:ext cx="4537074" cy="3033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201"/>
          <p:cNvSpPr/>
          <p:nvPr>
            <p:ph idx="4294967295" type="title"/>
          </p:nvPr>
        </p:nvSpPr>
        <p:spPr>
          <a:xfrm>
            <a:off x="1187450" y="1052512"/>
            <a:ext cx="5256211" cy="792162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ahoma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Producción Media</a:t>
            </a:r>
          </a:p>
        </p:txBody>
      </p:sp>
      <p:sp>
        <p:nvSpPr>
          <p:cNvPr id="202" name="Shape 202"/>
          <p:cNvSpPr txBox="1"/>
          <p:nvPr>
            <p:ph idx="1" type="body"/>
          </p:nvPr>
        </p:nvSpPr>
        <p:spPr>
          <a:xfrm>
            <a:off x="611187" y="1989136"/>
            <a:ext cx="3889375" cy="4535487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Font typeface="Noto Symbo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Font typeface="Noto Symbo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ct val="25000"/>
              <a:buFont typeface="Noto Symbol"/>
              <a:buNone/>
            </a:pPr>
            <a:r>
              <a:rPr b="0" i="0" lang="en-US" sz="2800" u="none" cap="none" strike="noStrike">
                <a:solidFill>
                  <a:srgbClr val="FF6600"/>
                </a:solidFill>
                <a:latin typeface="Tahoma"/>
                <a:ea typeface="Tahoma"/>
                <a:cs typeface="Tahoma"/>
                <a:sym typeface="Tahoma"/>
              </a:rPr>
              <a:t>La cantidad de unidades producidas por cada unidad de factor de la producción.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Font typeface="Noto Symbol"/>
              <a:buNone/>
            </a:pPr>
            <a:r>
              <a:t/>
            </a:r>
            <a:endParaRPr b="0" i="0" sz="2800" u="none" cap="none" strike="noStrike">
              <a:solidFill>
                <a:srgbClr val="FF66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03" name="Shape 203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87900" y="2492375"/>
            <a:ext cx="4105275" cy="3757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hape 208"/>
          <p:cNvSpPr/>
          <p:nvPr>
            <p:ph idx="4294967295" type="title"/>
          </p:nvPr>
        </p:nvSpPr>
        <p:spPr>
          <a:xfrm>
            <a:off x="1187450" y="1052512"/>
            <a:ext cx="5256211" cy="792162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ahoma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Producción Marginal</a:t>
            </a:r>
          </a:p>
        </p:txBody>
      </p:sp>
      <p:sp>
        <p:nvSpPr>
          <p:cNvPr id="209" name="Shape 209"/>
          <p:cNvSpPr txBox="1"/>
          <p:nvPr>
            <p:ph idx="1" type="body"/>
          </p:nvPr>
        </p:nvSpPr>
        <p:spPr>
          <a:xfrm>
            <a:off x="457200" y="2420936"/>
            <a:ext cx="4033837" cy="3705224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Font typeface="Noto Symbol"/>
              <a:buNone/>
            </a:pPr>
            <a:r>
              <a:t/>
            </a:r>
            <a:endParaRPr b="0" i="0" sz="2800" u="none" cap="none" strike="noStrike">
              <a:solidFill>
                <a:srgbClr val="FF66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ct val="25000"/>
              <a:buFont typeface="Noto Symbol"/>
              <a:buNone/>
            </a:pPr>
            <a:r>
              <a:rPr b="0" i="0" lang="en-US" sz="2800" u="none" cap="none" strike="noStrike">
                <a:solidFill>
                  <a:srgbClr val="FF6600"/>
                </a:solidFill>
                <a:latin typeface="Tahoma"/>
                <a:ea typeface="Tahoma"/>
                <a:cs typeface="Tahoma"/>
                <a:sym typeface="Tahoma"/>
              </a:rPr>
              <a:t>El </a:t>
            </a:r>
            <a:r>
              <a:rPr b="1" i="0" lang="en-US" sz="2800" u="none" cap="none" strike="noStrike">
                <a:solidFill>
                  <a:srgbClr val="FF6600"/>
                </a:solidFill>
                <a:latin typeface="Tahoma"/>
                <a:ea typeface="Tahoma"/>
                <a:cs typeface="Tahoma"/>
                <a:sym typeface="Tahoma"/>
              </a:rPr>
              <a:t>incremento o disminución</a:t>
            </a:r>
            <a:r>
              <a:rPr b="0" i="0" lang="en-US" sz="2800" u="none" cap="none" strike="noStrike">
                <a:solidFill>
                  <a:srgbClr val="FF6600"/>
                </a:solidFill>
                <a:latin typeface="Tahoma"/>
                <a:ea typeface="Tahoma"/>
                <a:cs typeface="Tahoma"/>
                <a:sym typeface="Tahoma"/>
              </a:rPr>
              <a:t> de la producción total que resulta de utilizar una unidad adicional de un factor de la producción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 </a:t>
            </a:r>
          </a:p>
        </p:txBody>
      </p:sp>
      <p:pic>
        <p:nvPicPr>
          <p:cNvPr id="210" name="Shape 210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0912" y="2420936"/>
            <a:ext cx="4383087" cy="38877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 215"/>
          <p:cNvSpPr/>
          <p:nvPr>
            <p:ph type="title"/>
          </p:nvPr>
        </p:nvSpPr>
        <p:spPr>
          <a:xfrm>
            <a:off x="1260475" y="981075"/>
            <a:ext cx="5688011" cy="720724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ahoma"/>
              <a:buNone/>
            </a:pPr>
            <a:r>
              <a:rPr b="0" i="0" lang="en-US" sz="4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Etapas de la producción</a:t>
            </a:r>
          </a:p>
        </p:txBody>
      </p:sp>
      <p:pic>
        <p:nvPicPr>
          <p:cNvPr id="216" name="Shape 216"/>
          <p:cNvPicPr preferRelativeResize="0"/>
          <p:nvPr>
            <p:ph idx="1" type="body"/>
          </p:nvPr>
        </p:nvPicPr>
        <p:blipFill rotWithShape="1">
          <a:blip r:embed="rId3">
            <a:alphaModFix amt="16999"/>
          </a:blip>
          <a:srcRect b="0" l="0" r="0" t="0"/>
          <a:stretch/>
        </p:blipFill>
        <p:spPr>
          <a:xfrm>
            <a:off x="755650" y="2060575"/>
            <a:ext cx="5689600" cy="3763962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miter/>
            <a:headEnd len="med" w="med" type="none"/>
            <a:tailEnd len="med" w="med" type="none"/>
          </a:ln>
        </p:spPr>
      </p:pic>
      <p:sp>
        <p:nvSpPr>
          <p:cNvPr id="217" name="Shape 217"/>
          <p:cNvSpPr txBox="1"/>
          <p:nvPr/>
        </p:nvSpPr>
        <p:spPr>
          <a:xfrm>
            <a:off x="6569075" y="2071686"/>
            <a:ext cx="2540000" cy="36623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Etapa I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Rendimientos crecientes (0-1)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Hasta Pma (máx)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Etapa II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66FF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Rendimientos decrecientes (1-2)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66FF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3366FF"/>
                </a:solidFill>
                <a:latin typeface="Arial"/>
                <a:ea typeface="Arial"/>
                <a:cs typeface="Arial"/>
                <a:sym typeface="Arial"/>
              </a:rPr>
              <a:t>0&lt; Pma &lt; Pma (máx)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Etapa III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Rendimientos negativos (2 en adelante)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ct val="25000"/>
              <a:buFont typeface="Arial"/>
              <a:buNone/>
            </a:pPr>
            <a:r>
              <a:rPr b="1" i="0" lang="en-US" sz="1800" u="none" cap="none" strike="noStrik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Pma &lt; 0</a:t>
            </a:r>
          </a:p>
        </p:txBody>
      </p:sp>
    </p:spTree>
  </p:cSld>
  <p:clrMapOvr>
    <a:masterClrMapping/>
  </p:clrMapOvr>
  <p:transition spd="slow">
    <p:cut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Shape 222"/>
          <p:cNvSpPr txBox="1"/>
          <p:nvPr>
            <p:ph idx="4294967295" type="title"/>
          </p:nvPr>
        </p:nvSpPr>
        <p:spPr>
          <a:xfrm>
            <a:off x="720725" y="44450"/>
            <a:ext cx="5219699" cy="129698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ahoma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E</a:t>
            </a:r>
            <a:r>
              <a:rPr b="0" i="0" lang="en-US" sz="4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lementos de decisión        para </a:t>
            </a:r>
            <a:r>
              <a:rPr b="0" i="0" lang="en-US" sz="32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La empresa</a:t>
            </a:r>
          </a:p>
        </p:txBody>
      </p:sp>
      <p:sp>
        <p:nvSpPr>
          <p:cNvPr id="223" name="Shape 223"/>
          <p:cNvSpPr txBox="1"/>
          <p:nvPr>
            <p:ph idx="1" type="body"/>
          </p:nvPr>
        </p:nvSpPr>
        <p:spPr>
          <a:xfrm>
            <a:off x="1187450" y="1989136"/>
            <a:ext cx="3809999" cy="4114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1" anchor="ctr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ct val="59999"/>
              <a:buFont typeface="Noto Symbol"/>
              <a:buChar char="❑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Ingresos por ventas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ct val="59999"/>
              <a:buFont typeface="Noto Symbol"/>
              <a:buChar char="❑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Costos y gastos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ct val="59999"/>
              <a:buFont typeface="Noto Symbol"/>
              <a:buChar char="❑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Beneficios normales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Font typeface="Noto Symbo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ct val="25000"/>
              <a:buFont typeface="Noto Symbo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</a:p>
        </p:txBody>
      </p:sp>
      <p:sp>
        <p:nvSpPr>
          <p:cNvPr id="224" name="Shape 224"/>
          <p:cNvSpPr txBox="1"/>
          <p:nvPr>
            <p:ph idx="2" type="body"/>
          </p:nvPr>
        </p:nvSpPr>
        <p:spPr>
          <a:xfrm>
            <a:off x="5148262" y="1989136"/>
            <a:ext cx="3809999" cy="4114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1" anchor="ctr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ct val="25000"/>
              <a:buFont typeface="Noto Symbo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Parámetro de referencia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ct val="25000"/>
              <a:buFont typeface="Noto Symbol"/>
              <a:buNone/>
            </a:pPr>
            <a:r>
              <a:rPr b="1" i="0" lang="en-US" sz="2400" u="none" cap="none" strike="noStrik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Costo de producción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ct val="25000"/>
              <a:buFont typeface="Noto Symbo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Mínimo valor que la empresa está dispuesta a recibir por la producción realizada obteniendo beneficios normales</a:t>
            </a:r>
          </a:p>
        </p:txBody>
      </p:sp>
    </p:spTree>
  </p:cSld>
  <p:clrMapOvr>
    <a:masterClrMapping/>
  </p:clrMapOvr>
  <p:transition spd="slow">
    <p:cut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Shape 229"/>
          <p:cNvSpPr txBox="1"/>
          <p:nvPr>
            <p:ph type="title"/>
          </p:nvPr>
        </p:nvSpPr>
        <p:spPr>
          <a:xfrm>
            <a:off x="935037" y="0"/>
            <a:ext cx="7885112" cy="17732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ahoma"/>
              <a:buNone/>
            </a:pPr>
            <a:r>
              <a:rPr b="0" i="0" lang="en-US" sz="4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Argumento principal</a:t>
            </a:r>
            <a:br>
              <a:rPr b="0" i="0" lang="en-US" sz="4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4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Modelo Microeconómico Básico</a:t>
            </a:r>
          </a:p>
        </p:txBody>
      </p:sp>
      <p:sp>
        <p:nvSpPr>
          <p:cNvPr id="230" name="Shape 230"/>
          <p:cNvSpPr txBox="1"/>
          <p:nvPr>
            <p:ph idx="1" type="body"/>
          </p:nvPr>
        </p:nvSpPr>
        <p:spPr>
          <a:xfrm>
            <a:off x="107950" y="2338386"/>
            <a:ext cx="8491536" cy="4114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ct val="25000"/>
              <a:buFont typeface="Noto Symbo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 basa en el </a:t>
            </a:r>
            <a:r>
              <a:rPr b="1" i="0" lang="en-US" sz="20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principio de conveniencia</a:t>
            </a: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y trata que las operaciones económicas que realicen tanto la empresa como la familia dejen a cada uno de los agentes económicos mejor posicionado al final que al principio de cada operación, asegurando el flujo circular de bienes y moneda.</a:t>
            </a:r>
          </a:p>
          <a:p>
            <a:pPr indent="-342900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ct val="25000"/>
              <a:buFont typeface="Noto Symbo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ct val="25000"/>
              <a:buFont typeface="Noto Symbo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Esto es posible si:</a:t>
            </a:r>
          </a:p>
          <a:p>
            <a:pPr indent="-342900" lvl="0" marL="342900" marR="0" rtl="0" algn="ctr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ct val="25000"/>
              <a:buFont typeface="Noto Symbol"/>
              <a:buNone/>
            </a:pPr>
            <a:r>
              <a:rPr b="1" i="0" lang="en-US" sz="2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Valor de uso &gt; Costo de producción</a:t>
            </a:r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ct val="25000"/>
              <a:buFont typeface="Noto Symbol"/>
              <a:buNone/>
            </a:pPr>
            <a:r>
              <a:t/>
            </a:r>
            <a:endParaRPr b="1" i="0" sz="2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ct val="25000"/>
              <a:buFont typeface="Noto Symbo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El </a:t>
            </a:r>
            <a:r>
              <a:rPr b="1" i="1" lang="en-US" sz="2400" u="none" cap="none" strike="noStrik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valor de cambio (precio)</a:t>
            </a: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establecido esta entre el</a:t>
            </a:r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ct val="25000"/>
              <a:buFont typeface="Noto Symbo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valor de uso y el costo de producción</a:t>
            </a:r>
          </a:p>
        </p:txBody>
      </p:sp>
    </p:spTree>
  </p:cSld>
  <p:clrMapOvr>
    <a:masterClrMapping/>
  </p:clrMapOvr>
  <p:transition spd="slow">
    <p:cut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Shape 235"/>
          <p:cNvSpPr txBox="1"/>
          <p:nvPr>
            <p:ph idx="4294967295" type="title"/>
          </p:nvPr>
        </p:nvSpPr>
        <p:spPr>
          <a:xfrm>
            <a:off x="34925" y="44450"/>
            <a:ext cx="5256211" cy="12239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ahoma"/>
              <a:buNone/>
            </a:pPr>
            <a:r>
              <a:rPr b="0" i="0" lang="en-US" sz="4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MECANISMO DE </a:t>
            </a:r>
            <a:br>
              <a:rPr b="0" i="0" lang="en-US" sz="4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4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           LOS PRECIOS</a:t>
            </a:r>
          </a:p>
        </p:txBody>
      </p:sp>
      <p:sp>
        <p:nvSpPr>
          <p:cNvPr id="236" name="Shape 236"/>
          <p:cNvSpPr txBox="1"/>
          <p:nvPr>
            <p:ph idx="1" type="body"/>
          </p:nvPr>
        </p:nvSpPr>
        <p:spPr>
          <a:xfrm>
            <a:off x="1187450" y="1989136"/>
            <a:ext cx="3809999" cy="4114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1" anchor="ctr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ct val="60000"/>
              <a:buFont typeface="Noto Symbol"/>
              <a:buChar char="■"/>
            </a:pPr>
            <a:r>
              <a:rPr b="1" i="0" lang="en-US" sz="2000" u="none" cap="none" strike="noStrik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¿Qué producir?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ct val="60000"/>
              <a:buFont typeface="Noto Symbol"/>
              <a:buChar char="■"/>
            </a:pPr>
            <a:r>
              <a:rPr b="1" i="0" lang="en-US" sz="2000" u="none" cap="none" strike="noStrik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¿Cómo producir?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ct val="60000"/>
              <a:buFont typeface="Noto Symbol"/>
              <a:buChar char="■"/>
            </a:pPr>
            <a:r>
              <a:rPr b="1" i="0" lang="en-US" sz="2000" u="none" cap="none" strike="noStrik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¿Para quién producir?</a:t>
            </a:r>
          </a:p>
        </p:txBody>
      </p:sp>
      <p:sp>
        <p:nvSpPr>
          <p:cNvPr id="237" name="Shape 237"/>
          <p:cNvSpPr txBox="1"/>
          <p:nvPr>
            <p:ph idx="2" type="body"/>
          </p:nvPr>
        </p:nvSpPr>
        <p:spPr>
          <a:xfrm>
            <a:off x="5145087" y="2017711"/>
            <a:ext cx="3809999" cy="4114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1" anchor="ctr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ct val="25000"/>
              <a:buFont typeface="Noto Symbol"/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Para responder la comunidad necesita conocer  el </a:t>
            </a:r>
            <a:r>
              <a:rPr b="1" i="1" lang="en-US" sz="24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mecanismo de los Precios</a:t>
            </a:r>
            <a:r>
              <a:rPr b="1" i="1" lang="en-US" sz="2800" u="none" cap="none" strike="noStrik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1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ya que estos</a:t>
            </a:r>
          </a:p>
          <a:p>
            <a:pPr indent="-285750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ct val="55000"/>
              <a:buFont typeface="Noto Symbol"/>
              <a:buChar char="❑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Racionalizan</a:t>
            </a:r>
          </a:p>
          <a:p>
            <a:pPr indent="-285750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ct val="55000"/>
              <a:buFont typeface="Noto Symbol"/>
              <a:buChar char="❑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Señalizan</a:t>
            </a:r>
          </a:p>
          <a:p>
            <a:pPr indent="-285750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ct val="55000"/>
              <a:buFont typeface="Noto Symbol"/>
              <a:buChar char="❑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Evidencian </a:t>
            </a:r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ct val="25000"/>
              <a:buFont typeface="Noto Symbo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la conducta de los agentes económicos.</a:t>
            </a:r>
          </a:p>
        </p:txBody>
      </p:sp>
    </p:spTree>
  </p:cSld>
  <p:clrMapOvr>
    <a:masterClrMapping/>
  </p:clrMapOvr>
  <p:transition spd="slow">
    <p:cut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Shape 242"/>
          <p:cNvSpPr txBox="1"/>
          <p:nvPr>
            <p:ph type="title"/>
          </p:nvPr>
        </p:nvSpPr>
        <p:spPr>
          <a:xfrm>
            <a:off x="1620837" y="836612"/>
            <a:ext cx="3887786" cy="7921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ahoma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CAPITALISMO</a:t>
            </a:r>
          </a:p>
        </p:txBody>
      </p:sp>
      <p:sp>
        <p:nvSpPr>
          <p:cNvPr id="243" name="Shape 243"/>
          <p:cNvSpPr txBox="1"/>
          <p:nvPr>
            <p:ph idx="1" type="body"/>
          </p:nvPr>
        </p:nvSpPr>
        <p:spPr>
          <a:xfrm>
            <a:off x="827087" y="2708275"/>
            <a:ext cx="7920036" cy="2449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ct val="25000"/>
              <a:buFont typeface="Noto Symbo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El </a:t>
            </a:r>
            <a:r>
              <a:rPr b="1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capitalismo</a:t>
            </a: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es el orden social que resulta de la libertad económica en la disposición y usufructo de la propiedad privada sobre el capital como herramienta de producción. </a:t>
            </a:r>
          </a:p>
        </p:txBody>
      </p:sp>
    </p:spTree>
  </p:cSld>
  <p:clrMapOvr>
    <a:masterClrMapping/>
  </p:clrMapOvr>
  <p:transition spd="slow">
    <p:cut/>
  </p:transition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Shape 248"/>
          <p:cNvSpPr txBox="1"/>
          <p:nvPr>
            <p:ph type="title"/>
          </p:nvPr>
        </p:nvSpPr>
        <p:spPr>
          <a:xfrm>
            <a:off x="1295400" y="404812"/>
            <a:ext cx="7524749" cy="14398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ahoma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CRITICAS AL CAPITALISMO</a:t>
            </a:r>
          </a:p>
        </p:txBody>
      </p:sp>
      <p:pic>
        <p:nvPicPr>
          <p:cNvPr id="249" name="Shape 24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64162" y="2708275"/>
            <a:ext cx="3559175" cy="2933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Shape 250"/>
          <p:cNvSpPr txBox="1"/>
          <p:nvPr/>
        </p:nvSpPr>
        <p:spPr>
          <a:xfrm>
            <a:off x="266700" y="2112961"/>
            <a:ext cx="4737100" cy="4211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ahoma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Como su objetivo principal es la maximización del lucro a los accionistas = capitalistas, tiende a reducir al mínimo los salarios a los trabajadores, costos para proteger el medio ambiente, etc.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ahoma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Como la empresa es una propiedad privada de los capitalistas, los trabajadores no pueden participar en la gestión de la propia empresa donde trabajan, careciendo de gestión democrática.</a:t>
            </a: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ahoma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Los que poseen una cantidad de dinero tienden a gobernar a los débiles (el colonialismo fue fruto del capitalismo).</a:t>
            </a:r>
            <a:r>
              <a:rPr b="0" i="0" lang="en-US" sz="1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</a:p>
        </p:txBody>
      </p:sp>
    </p:spTree>
  </p:cSld>
  <p:clrMapOvr>
    <a:masterClrMapping/>
  </p:clrMapOvr>
  <p:transition spd="slow">
    <p:cut/>
  </p:transition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Shape 255"/>
          <p:cNvSpPr txBox="1"/>
          <p:nvPr>
            <p:ph type="title"/>
          </p:nvPr>
        </p:nvSpPr>
        <p:spPr>
          <a:xfrm>
            <a:off x="1763711" y="115886"/>
            <a:ext cx="3671886" cy="13684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ahoma"/>
              <a:buNone/>
            </a:pPr>
            <a:r>
              <a:rPr b="0" i="0" lang="en-US" sz="4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ECONOMIA </a:t>
            </a:r>
            <a:br>
              <a:rPr b="0" i="0" lang="en-US" sz="4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4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DE MERCADO</a:t>
            </a:r>
          </a:p>
        </p:txBody>
      </p:sp>
      <p:sp>
        <p:nvSpPr>
          <p:cNvPr id="256" name="Shape 256"/>
          <p:cNvSpPr txBox="1"/>
          <p:nvPr>
            <p:ph idx="1" type="body"/>
          </p:nvPr>
        </p:nvSpPr>
        <p:spPr>
          <a:xfrm>
            <a:off x="179386" y="2143125"/>
            <a:ext cx="5113337" cy="45259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ct val="25000"/>
              <a:buFont typeface="Noto Symbo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Una economía de mercado es un sistema social basado en la división del trabajo en el que los precios de los bienes y servicios se determinarán en un sistema de precios fijado por la oferta y la demanda </a:t>
            </a:r>
          </a:p>
        </p:txBody>
      </p:sp>
      <p:pic>
        <p:nvPicPr>
          <p:cNvPr id="257" name="Shape 2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64162" y="1989136"/>
            <a:ext cx="3779836" cy="281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Shape 262"/>
          <p:cNvSpPr txBox="1"/>
          <p:nvPr>
            <p:ph idx="4294967295" type="title"/>
          </p:nvPr>
        </p:nvSpPr>
        <p:spPr>
          <a:xfrm>
            <a:off x="1403350" y="620712"/>
            <a:ext cx="7127875" cy="12239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ahoma"/>
              <a:buNone/>
            </a:pPr>
            <a:r>
              <a:rPr b="0" i="0" lang="en-US" sz="4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Formas </a:t>
            </a:r>
            <a:br>
              <a:rPr b="0" i="0" lang="en-US" sz="4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4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alternativas de responder</a:t>
            </a:r>
          </a:p>
        </p:txBody>
      </p:sp>
      <p:sp>
        <p:nvSpPr>
          <p:cNvPr id="263" name="Shape 263"/>
          <p:cNvSpPr txBox="1"/>
          <p:nvPr>
            <p:ph idx="1" type="body"/>
          </p:nvPr>
        </p:nvSpPr>
        <p:spPr>
          <a:xfrm>
            <a:off x="900112" y="2133600"/>
            <a:ext cx="7499349" cy="3849686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1" anchor="ctr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ct val="25000"/>
              <a:buFont typeface="Noto Symbo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Economía de mercado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Font typeface="Noto Symbo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ct val="59999"/>
              <a:buFont typeface="Noto Symbol"/>
              <a:buChar char="❑"/>
            </a:pPr>
            <a:r>
              <a:rPr b="0" i="0" lang="en-US" sz="2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Planificada o autoritaria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ct val="59999"/>
              <a:buFont typeface="Noto Symbol"/>
              <a:buChar char="❑"/>
            </a:pPr>
            <a:r>
              <a:rPr b="0" i="0" lang="en-US" sz="2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Libre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ct val="59999"/>
              <a:buFont typeface="Noto Symbol"/>
              <a:buChar char="❑"/>
            </a:pPr>
            <a:r>
              <a:rPr b="0" i="0" lang="en-US" sz="2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Mixta</a:t>
            </a:r>
          </a:p>
        </p:txBody>
      </p:sp>
    </p:spTree>
  </p:cSld>
  <p:clrMapOvr>
    <a:masterClrMapping/>
  </p:clrMapOvr>
  <p:transition spd="slow">
    <p:cut/>
  </p:transition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Shape 268"/>
          <p:cNvSpPr txBox="1"/>
          <p:nvPr>
            <p:ph type="title"/>
          </p:nvPr>
        </p:nvSpPr>
        <p:spPr>
          <a:xfrm>
            <a:off x="1403350" y="1268412"/>
            <a:ext cx="525621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ahoma"/>
              <a:buNone/>
            </a:pPr>
            <a:r>
              <a:rPr b="0" i="0" lang="en-US" sz="4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ECONOMÍA LIBRE</a:t>
            </a:r>
          </a:p>
        </p:txBody>
      </p:sp>
      <p:sp>
        <p:nvSpPr>
          <p:cNvPr id="269" name="Shape 269"/>
          <p:cNvSpPr txBox="1"/>
          <p:nvPr>
            <p:ph idx="1" type="body"/>
          </p:nvPr>
        </p:nvSpPr>
        <p:spPr>
          <a:xfrm>
            <a:off x="395287" y="2332036"/>
            <a:ext cx="6264274" cy="1528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ct val="25000"/>
              <a:buFont typeface="Noto Symbo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En una economía libre el estado no interviene en la asignación de recursos</a:t>
            </a:r>
          </a:p>
        </p:txBody>
      </p:sp>
      <p:pic>
        <p:nvPicPr>
          <p:cNvPr id="270" name="Shape 27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325" y="3573462"/>
            <a:ext cx="2540000" cy="25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Shape 275"/>
          <p:cNvSpPr txBox="1"/>
          <p:nvPr>
            <p:ph idx="4294967295" type="title"/>
          </p:nvPr>
        </p:nvSpPr>
        <p:spPr>
          <a:xfrm>
            <a:off x="1476375" y="620712"/>
            <a:ext cx="7272336" cy="12239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ahoma"/>
              <a:buNone/>
            </a:pPr>
            <a:r>
              <a:rPr b="0" i="0" lang="en-US" sz="4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ECONOMÍA</a:t>
            </a:r>
            <a:br>
              <a:rPr b="0" i="0" lang="en-US" sz="4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0" i="0" lang="en-US" sz="4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PLANIFICADA O AUTORITARIA</a:t>
            </a:r>
          </a:p>
        </p:txBody>
      </p:sp>
      <p:sp>
        <p:nvSpPr>
          <p:cNvPr id="276" name="Shape 276"/>
          <p:cNvSpPr txBox="1"/>
          <p:nvPr>
            <p:ph idx="1" type="body"/>
          </p:nvPr>
        </p:nvSpPr>
        <p:spPr>
          <a:xfrm>
            <a:off x="890587" y="2143125"/>
            <a:ext cx="5986461" cy="4525961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ct val="60000"/>
              <a:buFont typeface="Noto Symbol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Sistema económico que se basa en la </a:t>
            </a: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Planificación central</a:t>
            </a: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 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Font typeface="Noto Symbo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ct val="60000"/>
              <a:buFont typeface="Noto Symbol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En una Economía Planificada las </a:t>
            </a: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decisiones más importantes</a:t>
            </a: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son tomadas por un </a:t>
            </a: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cuerpo colectivo de funcionarios (autoridades)</a:t>
            </a: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que asignan recursos y fijan objetivos a cada sector y rama productiva, de acuerdo a metas generales previamente trazadas. 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Font typeface="Noto Symbo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ct val="60000"/>
              <a:buFont typeface="Noto Symbol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Suele estar asociada con los </a:t>
            </a: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sistemas políticos socialista o comunista. 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Font typeface="Noto Symbol"/>
              <a:buNone/>
            </a:pPr>
            <a:r>
              <a:t/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ct val="60000"/>
              <a:buFont typeface="Noto Symbol"/>
              <a:buChar char="❑"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Las </a:t>
            </a: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fuerzas del mercado</a:t>
            </a: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cumplen, por lo tanto 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ct val="25000"/>
              <a:buFont typeface="Noto Symbo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un </a:t>
            </a: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papel escaso o casi nulo.</a:t>
            </a: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Font typeface="Noto Symbol"/>
              <a:buNone/>
            </a:pPr>
            <a:r>
              <a:t/>
            </a:r>
            <a:endParaRPr b="1" i="0" sz="1800" u="none" cap="none" strike="noStrike">
              <a:solidFill>
                <a:schemeClr val="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77" name="Shape 277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27762" y="4219575"/>
            <a:ext cx="2627312" cy="2449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Shape 282"/>
          <p:cNvSpPr txBox="1"/>
          <p:nvPr>
            <p:ph idx="4294967295" type="title"/>
          </p:nvPr>
        </p:nvSpPr>
        <p:spPr>
          <a:xfrm>
            <a:off x="1331912" y="1196975"/>
            <a:ext cx="5256211" cy="64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ahoma"/>
              <a:buNone/>
            </a:pPr>
            <a:r>
              <a:rPr b="0" i="0" lang="en-US" sz="4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ECONOMÍA MIXTA</a:t>
            </a:r>
          </a:p>
        </p:txBody>
      </p:sp>
      <p:sp>
        <p:nvSpPr>
          <p:cNvPr id="283" name="Shape 283"/>
          <p:cNvSpPr txBox="1"/>
          <p:nvPr>
            <p:ph idx="1" type="body"/>
          </p:nvPr>
        </p:nvSpPr>
        <p:spPr>
          <a:xfrm>
            <a:off x="755650" y="2133600"/>
            <a:ext cx="4176711" cy="4022724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/>
            <a:headEnd len="med" w="med" type="none"/>
            <a:tailEnd len="med" w="med" type="none"/>
          </a:ln>
        </p:spPr>
        <p:txBody>
          <a:bodyPr anchorCtr="0" anchor="t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ct val="25000"/>
              <a:buFont typeface="Noto Symbo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Una </a:t>
            </a:r>
            <a:r>
              <a:rPr b="1" i="0" lang="en-US" sz="2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economía mixta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es aquella donde las funciones económicas claves son resueltas por las </a:t>
            </a:r>
            <a:r>
              <a:rPr b="0" i="0" lang="en-US" sz="2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acciones de  individuos y empresas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pero utiliza frecuentemente la </a:t>
            </a:r>
            <a:r>
              <a:rPr b="0" i="0" lang="en-US" sz="2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intervención del estado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 </a:t>
            </a:r>
          </a:p>
        </p:txBody>
      </p:sp>
      <p:pic>
        <p:nvPicPr>
          <p:cNvPr id="284" name="Shape 284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95900" y="2205036"/>
            <a:ext cx="3848099" cy="3848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Shape 289"/>
          <p:cNvSpPr txBox="1"/>
          <p:nvPr>
            <p:ph idx="4294967295" type="title"/>
          </p:nvPr>
        </p:nvSpPr>
        <p:spPr>
          <a:xfrm>
            <a:off x="1331912" y="1196975"/>
            <a:ext cx="51117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ahoma"/>
              <a:buNone/>
            </a:pPr>
            <a:r>
              <a:rPr b="0" i="0" lang="en-US" sz="4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ECONOMIA CERRADA</a:t>
            </a:r>
          </a:p>
        </p:txBody>
      </p:sp>
      <p:sp>
        <p:nvSpPr>
          <p:cNvPr id="290" name="Shape 290"/>
          <p:cNvSpPr txBox="1"/>
          <p:nvPr>
            <p:ph idx="1" type="body"/>
          </p:nvPr>
        </p:nvSpPr>
        <p:spPr>
          <a:xfrm>
            <a:off x="395287" y="2143125"/>
            <a:ext cx="4897436" cy="3517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ct val="25000"/>
              <a:buFont typeface="Noto Symbo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La economía cerrada es aquella que no efectúa transacciones internacionales, es decir que no se relaciona con otras economías del mundo. Se caracteriza por su hermetismo y por su propia suficiencia. </a:t>
            </a:r>
          </a:p>
        </p:txBody>
      </p:sp>
      <p:pic>
        <p:nvPicPr>
          <p:cNvPr id="291" name="Shape 291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51500" y="3213100"/>
            <a:ext cx="2479675" cy="16525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Shape 296"/>
          <p:cNvSpPr txBox="1"/>
          <p:nvPr>
            <p:ph idx="4294967295" type="title"/>
          </p:nvPr>
        </p:nvSpPr>
        <p:spPr>
          <a:xfrm>
            <a:off x="1258887" y="1196975"/>
            <a:ext cx="4968875" cy="64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rIns="91425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ahoma"/>
              <a:buNone/>
            </a:pPr>
            <a:r>
              <a:rPr b="0" i="0" lang="en-US" sz="4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ECONOMIA ABIERTA</a:t>
            </a:r>
          </a:p>
        </p:txBody>
      </p:sp>
      <p:sp>
        <p:nvSpPr>
          <p:cNvPr id="297" name="Shape 297"/>
          <p:cNvSpPr txBox="1"/>
          <p:nvPr>
            <p:ph idx="1" type="body"/>
          </p:nvPr>
        </p:nvSpPr>
        <p:spPr>
          <a:xfrm>
            <a:off x="395287" y="2276475"/>
            <a:ext cx="4032249" cy="3313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ct val="25000"/>
              <a:buFont typeface="Noto Symbo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La economía abierta es aquella que efectúa transacciones con otros países, es decir la que se relaciona libremente con otras economías del mundo. </a:t>
            </a:r>
          </a:p>
        </p:txBody>
      </p:sp>
      <p:pic>
        <p:nvPicPr>
          <p:cNvPr id="298" name="Shape 298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9700" y="2781300"/>
            <a:ext cx="2889249" cy="219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xmlns:r="http://schemas.openxmlformats.org/officeDocument/2006/relationships" name="Mezclas">
  <a:themeElements>
    <a:clrScheme name="Mezclas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E4A8"/>
      </a:accent4>
      <a:accent5>
        <a:srgbClr val="FFCF01"/>
      </a:accent5>
      <a:accent6>
        <a:srgbClr val="FFFFFF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