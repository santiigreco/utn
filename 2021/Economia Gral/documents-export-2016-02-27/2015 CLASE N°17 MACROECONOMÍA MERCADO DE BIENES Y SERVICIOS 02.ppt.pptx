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6858000" cx="9144000"/>
  <p:notesSz cx="6858000" cy="9144000"/>
  <p:embeddedFontLst>
    <p:embeddedFont>
      <p:font typeface="Helvetica Neue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HelveticaNeue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HelveticaNeue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HelveticaNeue-boldItalic.fntdata"/><Relationship Id="rId30" Type="http://schemas.openxmlformats.org/officeDocument/2006/relationships/font" Target="fonts/HelveticaNeue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/>
          <p:nvPr>
            <p:ph idx="2"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Shape 4"/>
          <p:cNvSpPr txBox="1"/>
          <p:nvPr>
            <p:ph idx="10" type="dt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Shape 5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</p:sp>
      <p:sp>
        <p:nvSpPr>
          <p:cNvPr id="6" name="Shape 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7" name="Shape 7"/>
          <p:cNvSpPr txBox="1"/>
          <p:nvPr>
            <p:ph idx="11" type="ftr"/>
          </p:nvPr>
        </p:nvSpPr>
        <p:spPr>
          <a:xfrm>
            <a:off x="0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86" name="Shape 86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5" name="Shape 95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04" name="Shape 104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56" name="Shape 156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71" name="Shape 171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81" name="Shape 181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45" name="Shape 245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59" name="Shape 259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27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76" name="Shape 276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28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86" name="Shape 286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30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03" name="Shape 303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31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13" name="Shape 313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hape 32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30" name="Shape 330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33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40" name="Shape 340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35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55" name="Shape 355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hape 36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61" name="Shape 361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Shape 36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68" name="Shape 368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37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75" name="Shape 375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82" name="Shape 382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Shape 38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90" name="Shape 390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Shape 39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97" name="Shape 397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40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05" name="Shape 405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13" name="Shape 413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/>
          <p:nvPr>
            <p:ph type="ctrTitle"/>
          </p:nvPr>
        </p:nvSpPr>
        <p:spPr>
          <a:xfrm>
            <a:off x="685800" y="2130425"/>
            <a:ext cx="7772400" cy="1470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7" name="Shape 17"/>
          <p:cNvSpPr txBox="1"/>
          <p:nvPr>
            <p:ph idx="1" type="subTitle"/>
          </p:nvPr>
        </p:nvSpPr>
        <p:spPr>
          <a:xfrm>
            <a:off x="1371600" y="3886200"/>
            <a:ext cx="64007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ctr">
              <a:spcBef>
                <a:spcPts val="640"/>
              </a:spcBef>
              <a:buClr>
                <a:srgbClr val="888888"/>
              </a:buClr>
              <a:buFont typeface="Arial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spcBef>
                <a:spcPts val="560"/>
              </a:spcBef>
              <a:buClr>
                <a:srgbClr val="888888"/>
              </a:buClr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spcBef>
                <a:spcPts val="480"/>
              </a:spcBef>
              <a:buClr>
                <a:srgbClr val="888888"/>
              </a:buClr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Shape 18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Shape 20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23" name="Shape 23"/>
          <p:cNvSpPr txBox="1"/>
          <p:nvPr>
            <p:ph idx="1" type="body"/>
          </p:nvPr>
        </p:nvSpPr>
        <p:spPr>
          <a:xfrm>
            <a:off x="457200" y="1600200"/>
            <a:ext cx="8229600" cy="45259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39700" lvl="0" marL="342900" rtl="0" algn="l">
              <a:spcBef>
                <a:spcPts val="640"/>
              </a:spcBef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7950" lvl="1" marL="742950" rtl="0" algn="l">
              <a:spcBef>
                <a:spcPts val="560"/>
              </a:spcBef>
              <a:buClr>
                <a:schemeClr val="dk1"/>
              </a:buClr>
              <a:buFont typeface="Arial"/>
              <a:buChar char="–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6200" lvl="2" marL="1143000" rtl="0" algn="l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1600" lvl="3" marL="1600200" rtl="0" algn="l">
              <a:spcBef>
                <a:spcPts val="400"/>
              </a:spcBef>
              <a:buClr>
                <a:schemeClr val="dk1"/>
              </a:buClr>
              <a:buFont typeface="Arial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01600" lvl="4" marL="2057400" rtl="0" algn="l">
              <a:spcBef>
                <a:spcPts val="400"/>
              </a:spcBef>
              <a:buClr>
                <a:schemeClr val="dk1"/>
              </a:buClr>
              <a:buFont typeface="Arial"/>
              <a:buChar char="»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1600" lvl="5" marL="25146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1600" lvl="6" marL="29718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1600" lvl="7" marL="34290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1600" lvl="8" marL="38862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Shape 24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25" name="Shape 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Shape 26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29" name="Shape 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Shape 30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vertTitleAndTx">
  <p:cSld name="Vertical Title and 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33" name="Shape 33"/>
          <p:cNvSpPr txBox="1"/>
          <p:nvPr>
            <p:ph idx="1" type="body"/>
          </p:nvPr>
        </p:nvSpPr>
        <p:spPr>
          <a:xfrm rot="5400000">
            <a:off x="541337" y="190500"/>
            <a:ext cx="5851525" cy="60197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39700" lvl="0" marL="342900" rtl="0" algn="l">
              <a:spcBef>
                <a:spcPts val="640"/>
              </a:spcBef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7950" lvl="1" marL="742950" rtl="0" algn="l">
              <a:spcBef>
                <a:spcPts val="560"/>
              </a:spcBef>
              <a:buClr>
                <a:schemeClr val="dk1"/>
              </a:buClr>
              <a:buFont typeface="Arial"/>
              <a:buChar char="–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6200" lvl="2" marL="1143000" rtl="0" algn="l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1600" lvl="3" marL="1600200" rtl="0" algn="l">
              <a:spcBef>
                <a:spcPts val="400"/>
              </a:spcBef>
              <a:buClr>
                <a:schemeClr val="dk1"/>
              </a:buClr>
              <a:buFont typeface="Arial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01600" lvl="4" marL="2057400" rtl="0" algn="l">
              <a:spcBef>
                <a:spcPts val="400"/>
              </a:spcBef>
              <a:buClr>
                <a:schemeClr val="dk1"/>
              </a:buClr>
              <a:buFont typeface="Arial"/>
              <a:buChar char="»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1600" lvl="5" marL="25146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1600" lvl="6" marL="29718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1600" lvl="7" marL="34290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1600" lvl="8" marL="38862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Shape 34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35" name="Shape 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Shape 36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vertTx">
  <p:cSld name="Title and Vertical 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39" name="Shape 39"/>
          <p:cNvSpPr txBox="1"/>
          <p:nvPr>
            <p:ph idx="1" type="body"/>
          </p:nvPr>
        </p:nvSpPr>
        <p:spPr>
          <a:xfrm rot="5400000">
            <a:off x="2309018" y="-251619"/>
            <a:ext cx="4525961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39700" lvl="0" marL="342900" rtl="0" algn="l">
              <a:spcBef>
                <a:spcPts val="640"/>
              </a:spcBef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7950" lvl="1" marL="742950" rtl="0" algn="l">
              <a:spcBef>
                <a:spcPts val="560"/>
              </a:spcBef>
              <a:buClr>
                <a:schemeClr val="dk1"/>
              </a:buClr>
              <a:buFont typeface="Arial"/>
              <a:buChar char="–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6200" lvl="2" marL="1143000" rtl="0" algn="l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1600" lvl="3" marL="1600200" rtl="0" algn="l">
              <a:spcBef>
                <a:spcPts val="400"/>
              </a:spcBef>
              <a:buClr>
                <a:schemeClr val="dk1"/>
              </a:buClr>
              <a:buFont typeface="Arial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01600" lvl="4" marL="2057400" rtl="0" algn="l">
              <a:spcBef>
                <a:spcPts val="400"/>
              </a:spcBef>
              <a:buClr>
                <a:schemeClr val="dk1"/>
              </a:buClr>
              <a:buFont typeface="Arial"/>
              <a:buChar char="»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1600" lvl="5" marL="25146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1600" lvl="6" marL="29718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1600" lvl="7" marL="34290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1600" lvl="8" marL="38862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Shape 40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41" name="Shape 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Shape 42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picTx">
  <p:cSld name="Picture with Ca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/>
          <p:nvPr>
            <p:ph type="title"/>
          </p:nvPr>
        </p:nvSpPr>
        <p:spPr>
          <a:xfrm>
            <a:off x="1792288" y="4800600"/>
            <a:ext cx="5486399" cy="566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spcBef>
                <a:spcPts val="0"/>
              </a:spcBef>
              <a:defRPr b="1" sz="2000"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45" name="Shape 45"/>
          <p:cNvSpPr/>
          <p:nvPr>
            <p:ph idx="2" type="pic"/>
          </p:nvPr>
        </p:nvSpPr>
        <p:spPr>
          <a:xfrm>
            <a:off x="1792288" y="612775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rgbClr val="898989"/>
              </a:buClr>
              <a:buFont typeface="Arial"/>
              <a:buNone/>
              <a:defRPr b="0" i="0" sz="3200" u="none" cap="none" strike="noStrike">
                <a:solidFill>
                  <a:srgbClr val="898989"/>
                </a:solidFill>
              </a:defRPr>
            </a:lvl1pPr>
            <a:lvl2pPr indent="0" lvl="1" marL="457200" marR="0" rtl="0" algn="l">
              <a:spcBef>
                <a:spcPts val="0"/>
              </a:spcBef>
              <a:buFont typeface="Arial"/>
              <a:buNone/>
              <a:defRPr b="0" i="0" sz="2800" u="none" cap="none" strike="noStrike"/>
            </a:lvl2pPr>
            <a:lvl3pPr indent="0" lvl="2" marL="914400" marR="0" rtl="0" algn="l">
              <a:spcBef>
                <a:spcPts val="0"/>
              </a:spcBef>
              <a:buFont typeface="Arial"/>
              <a:buNone/>
              <a:defRPr b="0" i="0" sz="2400" u="none" cap="none" strike="noStrike"/>
            </a:lvl3pPr>
            <a:lvl4pPr indent="0" lvl="3" marL="1371600" marR="0" rtl="0" algn="l">
              <a:spcBef>
                <a:spcPts val="0"/>
              </a:spcBef>
              <a:buFont typeface="Arial"/>
              <a:buNone/>
              <a:defRPr b="0" i="0" sz="2000" u="none" cap="none" strike="noStrike"/>
            </a:lvl4pPr>
            <a:lvl5pPr indent="0" lvl="4" marL="1828800" marR="0" rtl="0" algn="l">
              <a:spcBef>
                <a:spcPts val="0"/>
              </a:spcBef>
              <a:buFont typeface="Arial"/>
              <a:buNone/>
              <a:defRPr b="0" i="0" sz="2000" u="none" cap="none" strike="noStrike"/>
            </a:lvl5pPr>
            <a:lvl6pPr indent="0" lvl="5" marL="2286000" marR="0" rtl="0" algn="l">
              <a:spcBef>
                <a:spcPts val="0"/>
              </a:spcBef>
              <a:buFont typeface="Arial"/>
              <a:buNone/>
              <a:defRPr b="0" i="0" sz="2000" u="none" cap="none" strike="noStrike"/>
            </a:lvl6pPr>
            <a:lvl7pPr indent="0" lvl="6" marL="2743200" marR="0" rtl="0" algn="l">
              <a:spcBef>
                <a:spcPts val="0"/>
              </a:spcBef>
              <a:buFont typeface="Arial"/>
              <a:buNone/>
              <a:defRPr b="0" i="0" sz="2000" u="none" cap="none" strike="noStrike"/>
            </a:lvl7pPr>
            <a:lvl8pPr indent="0" lvl="7" marL="3200400" marR="0" rtl="0" algn="l">
              <a:spcBef>
                <a:spcPts val="0"/>
              </a:spcBef>
              <a:buFont typeface="Arial"/>
              <a:buNone/>
              <a:defRPr b="0" i="0" sz="2000" u="none" cap="none" strike="noStrike"/>
            </a:lvl8pPr>
            <a:lvl9pPr indent="0" lvl="8" marL="3657600" marR="0" rtl="0" algn="l">
              <a:spcBef>
                <a:spcPts val="0"/>
              </a:spcBef>
              <a:buFont typeface="Arial"/>
              <a:buNone/>
              <a:defRPr b="0" i="0" sz="2000" u="none" cap="none" strike="noStrike"/>
            </a:lvl9pPr>
          </a:lstStyle>
          <a:p/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x="1792288" y="5367337"/>
            <a:ext cx="5486399" cy="8048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rtl="0">
              <a:spcBef>
                <a:spcPts val="0"/>
              </a:spcBef>
              <a:buFont typeface="Calibri"/>
              <a:buNone/>
              <a:defRPr sz="1400"/>
            </a:lvl1pPr>
            <a:lvl2pPr indent="0" lvl="1" marL="457200" rtl="0">
              <a:spcBef>
                <a:spcPts val="0"/>
              </a:spcBef>
              <a:buFont typeface="Calibri"/>
              <a:buNone/>
              <a:defRPr sz="1200"/>
            </a:lvl2pPr>
            <a:lvl3pPr indent="0" lvl="2" marL="914400" rtl="0">
              <a:spcBef>
                <a:spcPts val="0"/>
              </a:spcBef>
              <a:buFont typeface="Calibri"/>
              <a:buNone/>
              <a:defRPr sz="1000"/>
            </a:lvl3pPr>
            <a:lvl4pPr indent="0" lvl="3" marL="1371600" rtl="0">
              <a:spcBef>
                <a:spcPts val="0"/>
              </a:spcBef>
              <a:buFont typeface="Calibri"/>
              <a:buNone/>
              <a:defRPr sz="900"/>
            </a:lvl4pPr>
            <a:lvl5pPr indent="0" lvl="4" marL="1828800" rtl="0">
              <a:spcBef>
                <a:spcPts val="0"/>
              </a:spcBef>
              <a:buFont typeface="Calibri"/>
              <a:buNone/>
              <a:defRPr sz="900"/>
            </a:lvl5pPr>
            <a:lvl6pPr indent="0" lvl="5" marL="2286000" rtl="0">
              <a:spcBef>
                <a:spcPts val="0"/>
              </a:spcBef>
              <a:buFont typeface="Calibri"/>
              <a:buNone/>
              <a:defRPr sz="900"/>
            </a:lvl6pPr>
            <a:lvl7pPr indent="0" lvl="6" marL="2743200" rtl="0">
              <a:spcBef>
                <a:spcPts val="0"/>
              </a:spcBef>
              <a:buFont typeface="Calibri"/>
              <a:buNone/>
              <a:defRPr sz="900"/>
            </a:lvl7pPr>
            <a:lvl8pPr indent="0" lvl="7" marL="3200400" rtl="0">
              <a:spcBef>
                <a:spcPts val="0"/>
              </a:spcBef>
              <a:buFont typeface="Calibri"/>
              <a:buNone/>
              <a:defRPr sz="900"/>
            </a:lvl8pPr>
            <a:lvl9pPr indent="0" lvl="8" marL="3657600" rtl="0">
              <a:spcBef>
                <a:spcPts val="0"/>
              </a:spcBef>
              <a:buFont typeface="Calibri"/>
              <a:buNone/>
              <a:defRPr sz="900"/>
            </a:lvl9pPr>
          </a:lstStyle>
          <a:p/>
        </p:txBody>
      </p:sp>
      <p:sp>
        <p:nvSpPr>
          <p:cNvPr id="47" name="Shape 47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48" name="Shape 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Shape 49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Tx">
  <p:cSld name="Content with Ca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/>
          <p:nvPr>
            <p:ph type="title"/>
          </p:nvPr>
        </p:nvSpPr>
        <p:spPr>
          <a:xfrm>
            <a:off x="457200" y="273050"/>
            <a:ext cx="3008313" cy="116204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spcBef>
                <a:spcPts val="0"/>
              </a:spcBef>
              <a:defRPr b="1" sz="2000"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52" name="Shape 52"/>
          <p:cNvSpPr txBox="1"/>
          <p:nvPr>
            <p:ph idx="1" type="body"/>
          </p:nvPr>
        </p:nvSpPr>
        <p:spPr>
          <a:xfrm>
            <a:off x="3575050" y="273050"/>
            <a:ext cx="5111750" cy="58531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 sz="3200"/>
            </a:lvl1pPr>
            <a:lvl2pPr lvl="1" rtl="0">
              <a:spcBef>
                <a:spcPts val="0"/>
              </a:spcBef>
              <a:defRPr sz="2800"/>
            </a:lvl2pPr>
            <a:lvl3pPr lvl="2" rtl="0">
              <a:spcBef>
                <a:spcPts val="0"/>
              </a:spcBef>
              <a:defRPr sz="2400"/>
            </a:lvl3pPr>
            <a:lvl4pPr lvl="3" rtl="0">
              <a:spcBef>
                <a:spcPts val="0"/>
              </a:spcBef>
              <a:defRPr sz="2000"/>
            </a:lvl4pPr>
            <a:lvl5pPr lvl="4" rtl="0">
              <a:spcBef>
                <a:spcPts val="0"/>
              </a:spcBef>
              <a:defRPr sz="2000"/>
            </a:lvl5pPr>
            <a:lvl6pPr lvl="5" rtl="0">
              <a:spcBef>
                <a:spcPts val="0"/>
              </a:spcBef>
              <a:defRPr sz="2000"/>
            </a:lvl6pPr>
            <a:lvl7pPr lvl="6" rtl="0">
              <a:spcBef>
                <a:spcPts val="0"/>
              </a:spcBef>
              <a:defRPr sz="2000"/>
            </a:lvl7pPr>
            <a:lvl8pPr lvl="7" rtl="0">
              <a:spcBef>
                <a:spcPts val="0"/>
              </a:spcBef>
              <a:defRPr sz="2000"/>
            </a:lvl8pPr>
            <a:lvl9pPr lvl="8" rtl="0">
              <a:spcBef>
                <a:spcPts val="0"/>
              </a:spcBef>
              <a:defRPr sz="2000"/>
            </a:lvl9pPr>
          </a:lstStyle>
          <a:p/>
        </p:txBody>
      </p:sp>
      <p:sp>
        <p:nvSpPr>
          <p:cNvPr id="53" name="Shape 5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rtl="0">
              <a:spcBef>
                <a:spcPts val="0"/>
              </a:spcBef>
              <a:buFont typeface="Calibri"/>
              <a:buNone/>
              <a:defRPr sz="1400"/>
            </a:lvl1pPr>
            <a:lvl2pPr indent="0" lvl="1" marL="457200" rtl="0">
              <a:spcBef>
                <a:spcPts val="0"/>
              </a:spcBef>
              <a:buFont typeface="Calibri"/>
              <a:buNone/>
              <a:defRPr sz="1200"/>
            </a:lvl2pPr>
            <a:lvl3pPr indent="0" lvl="2" marL="914400" rtl="0">
              <a:spcBef>
                <a:spcPts val="0"/>
              </a:spcBef>
              <a:buFont typeface="Calibri"/>
              <a:buNone/>
              <a:defRPr sz="1000"/>
            </a:lvl3pPr>
            <a:lvl4pPr indent="0" lvl="3" marL="1371600" rtl="0">
              <a:spcBef>
                <a:spcPts val="0"/>
              </a:spcBef>
              <a:buFont typeface="Calibri"/>
              <a:buNone/>
              <a:defRPr sz="900"/>
            </a:lvl4pPr>
            <a:lvl5pPr indent="0" lvl="4" marL="1828800" rtl="0">
              <a:spcBef>
                <a:spcPts val="0"/>
              </a:spcBef>
              <a:buFont typeface="Calibri"/>
              <a:buNone/>
              <a:defRPr sz="900"/>
            </a:lvl5pPr>
            <a:lvl6pPr indent="0" lvl="5" marL="2286000" rtl="0">
              <a:spcBef>
                <a:spcPts val="0"/>
              </a:spcBef>
              <a:buFont typeface="Calibri"/>
              <a:buNone/>
              <a:defRPr sz="900"/>
            </a:lvl6pPr>
            <a:lvl7pPr indent="0" lvl="6" marL="2743200" rtl="0">
              <a:spcBef>
                <a:spcPts val="0"/>
              </a:spcBef>
              <a:buFont typeface="Calibri"/>
              <a:buNone/>
              <a:defRPr sz="900"/>
            </a:lvl7pPr>
            <a:lvl8pPr indent="0" lvl="7" marL="3200400" rtl="0">
              <a:spcBef>
                <a:spcPts val="0"/>
              </a:spcBef>
              <a:buFont typeface="Calibri"/>
              <a:buNone/>
              <a:defRPr sz="900"/>
            </a:lvl8pPr>
            <a:lvl9pPr indent="0" lvl="8" marL="3657600" rtl="0">
              <a:spcBef>
                <a:spcPts val="0"/>
              </a:spcBef>
              <a:buFont typeface="Calibri"/>
              <a:buNone/>
              <a:defRPr sz="900"/>
            </a:lvl9pPr>
          </a:lstStyle>
          <a:p/>
        </p:txBody>
      </p:sp>
      <p:sp>
        <p:nvSpPr>
          <p:cNvPr id="54" name="Shape 54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55" name="Shape 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Shape 56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59" name="Shape 59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60" name="Shape 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Shape 61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TxTwoObj">
  <p:cSld name="Comparison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64" name="Shape 64"/>
          <p:cNvSpPr txBox="1"/>
          <p:nvPr>
            <p:ph idx="1" type="body"/>
          </p:nvPr>
        </p:nvSpPr>
        <p:spPr>
          <a:xfrm>
            <a:off x="457200" y="1535112"/>
            <a:ext cx="404018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>
              <a:spcBef>
                <a:spcPts val="0"/>
              </a:spcBef>
              <a:buFont typeface="Calibri"/>
              <a:buNone/>
              <a:defRPr b="1" sz="2400"/>
            </a:lvl1pPr>
            <a:lvl2pPr indent="0" lvl="1" marL="457200" rtl="0">
              <a:spcBef>
                <a:spcPts val="0"/>
              </a:spcBef>
              <a:buFont typeface="Calibri"/>
              <a:buNone/>
              <a:defRPr b="1" sz="2000"/>
            </a:lvl2pPr>
            <a:lvl3pPr indent="0" lvl="2" marL="914400" rtl="0">
              <a:spcBef>
                <a:spcPts val="0"/>
              </a:spcBef>
              <a:buFont typeface="Calibri"/>
              <a:buNone/>
              <a:defRPr b="1" sz="1800"/>
            </a:lvl3pPr>
            <a:lvl4pPr indent="0" lvl="3" marL="1371600" rtl="0">
              <a:spcBef>
                <a:spcPts val="0"/>
              </a:spcBef>
              <a:buFont typeface="Calibri"/>
              <a:buNone/>
              <a:defRPr b="1" sz="1600"/>
            </a:lvl4pPr>
            <a:lvl5pPr indent="0" lvl="4" marL="1828800" rtl="0">
              <a:spcBef>
                <a:spcPts val="0"/>
              </a:spcBef>
              <a:buFont typeface="Calibri"/>
              <a:buNone/>
              <a:defRPr b="1" sz="1600"/>
            </a:lvl5pPr>
            <a:lvl6pPr indent="0" lvl="5" marL="2286000" rtl="0">
              <a:spcBef>
                <a:spcPts val="0"/>
              </a:spcBef>
              <a:buFont typeface="Calibri"/>
              <a:buNone/>
              <a:defRPr b="1" sz="1600"/>
            </a:lvl6pPr>
            <a:lvl7pPr indent="0" lvl="6" marL="2743200" rtl="0">
              <a:spcBef>
                <a:spcPts val="0"/>
              </a:spcBef>
              <a:buFont typeface="Calibri"/>
              <a:buNone/>
              <a:defRPr b="1" sz="1600"/>
            </a:lvl7pPr>
            <a:lvl8pPr indent="0" lvl="7" marL="3200400" rtl="0">
              <a:spcBef>
                <a:spcPts val="0"/>
              </a:spcBef>
              <a:buFont typeface="Calibri"/>
              <a:buNone/>
              <a:defRPr b="1" sz="1600"/>
            </a:lvl8pPr>
            <a:lvl9pPr indent="0" lvl="8" marL="3657600" rtl="0">
              <a:spcBef>
                <a:spcPts val="0"/>
              </a:spcBef>
              <a:buFont typeface="Calibri"/>
              <a:buNone/>
              <a:defRPr b="1" sz="1600"/>
            </a:lvl9pPr>
          </a:lstStyle>
          <a:p/>
        </p:txBody>
      </p:sp>
      <p:sp>
        <p:nvSpPr>
          <p:cNvPr id="65" name="Shape 65"/>
          <p:cNvSpPr txBox="1"/>
          <p:nvPr>
            <p:ph idx="2" type="body"/>
          </p:nvPr>
        </p:nvSpPr>
        <p:spPr>
          <a:xfrm>
            <a:off x="457200" y="2174875"/>
            <a:ext cx="4040187" cy="39512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 sz="2400"/>
            </a:lvl1pPr>
            <a:lvl2pPr lvl="1" rtl="0">
              <a:spcBef>
                <a:spcPts val="0"/>
              </a:spcBef>
              <a:defRPr sz="2000"/>
            </a:lvl2pPr>
            <a:lvl3pPr lvl="2" rtl="0">
              <a:spcBef>
                <a:spcPts val="0"/>
              </a:spcBef>
              <a:defRPr sz="1800"/>
            </a:lvl3pPr>
            <a:lvl4pPr lvl="3" rtl="0">
              <a:spcBef>
                <a:spcPts val="0"/>
              </a:spcBef>
              <a:defRPr sz="1600"/>
            </a:lvl4pPr>
            <a:lvl5pPr lvl="4" rtl="0">
              <a:spcBef>
                <a:spcPts val="0"/>
              </a:spcBef>
              <a:defRPr sz="1600"/>
            </a:lvl5pPr>
            <a:lvl6pPr lvl="5" rtl="0">
              <a:spcBef>
                <a:spcPts val="0"/>
              </a:spcBef>
              <a:defRPr sz="1600"/>
            </a:lvl6pPr>
            <a:lvl7pPr lvl="6" rtl="0">
              <a:spcBef>
                <a:spcPts val="0"/>
              </a:spcBef>
              <a:defRPr sz="1600"/>
            </a:lvl7pPr>
            <a:lvl8pPr lvl="7" rtl="0">
              <a:spcBef>
                <a:spcPts val="0"/>
              </a:spcBef>
              <a:defRPr sz="1600"/>
            </a:lvl8pPr>
            <a:lvl9pPr lvl="8" rtl="0">
              <a:spcBef>
                <a:spcPts val="0"/>
              </a:spcBef>
              <a:defRPr sz="1600"/>
            </a:lvl9pPr>
          </a:lstStyle>
          <a:p/>
        </p:txBody>
      </p:sp>
      <p:sp>
        <p:nvSpPr>
          <p:cNvPr id="66" name="Shape 66"/>
          <p:cNvSpPr txBox="1"/>
          <p:nvPr>
            <p:ph idx="3" type="body"/>
          </p:nvPr>
        </p:nvSpPr>
        <p:spPr>
          <a:xfrm>
            <a:off x="4645025" y="1535112"/>
            <a:ext cx="4041774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>
              <a:spcBef>
                <a:spcPts val="0"/>
              </a:spcBef>
              <a:buFont typeface="Calibri"/>
              <a:buNone/>
              <a:defRPr b="1" sz="2400"/>
            </a:lvl1pPr>
            <a:lvl2pPr indent="0" lvl="1" marL="457200" rtl="0">
              <a:spcBef>
                <a:spcPts val="0"/>
              </a:spcBef>
              <a:buFont typeface="Calibri"/>
              <a:buNone/>
              <a:defRPr b="1" sz="2000"/>
            </a:lvl2pPr>
            <a:lvl3pPr indent="0" lvl="2" marL="914400" rtl="0">
              <a:spcBef>
                <a:spcPts val="0"/>
              </a:spcBef>
              <a:buFont typeface="Calibri"/>
              <a:buNone/>
              <a:defRPr b="1" sz="1800"/>
            </a:lvl3pPr>
            <a:lvl4pPr indent="0" lvl="3" marL="1371600" rtl="0">
              <a:spcBef>
                <a:spcPts val="0"/>
              </a:spcBef>
              <a:buFont typeface="Calibri"/>
              <a:buNone/>
              <a:defRPr b="1" sz="1600"/>
            </a:lvl4pPr>
            <a:lvl5pPr indent="0" lvl="4" marL="1828800" rtl="0">
              <a:spcBef>
                <a:spcPts val="0"/>
              </a:spcBef>
              <a:buFont typeface="Calibri"/>
              <a:buNone/>
              <a:defRPr b="1" sz="1600"/>
            </a:lvl5pPr>
            <a:lvl6pPr indent="0" lvl="5" marL="2286000" rtl="0">
              <a:spcBef>
                <a:spcPts val="0"/>
              </a:spcBef>
              <a:buFont typeface="Calibri"/>
              <a:buNone/>
              <a:defRPr b="1" sz="1600"/>
            </a:lvl6pPr>
            <a:lvl7pPr indent="0" lvl="6" marL="2743200" rtl="0">
              <a:spcBef>
                <a:spcPts val="0"/>
              </a:spcBef>
              <a:buFont typeface="Calibri"/>
              <a:buNone/>
              <a:defRPr b="1" sz="1600"/>
            </a:lvl7pPr>
            <a:lvl8pPr indent="0" lvl="7" marL="3200400" rtl="0">
              <a:spcBef>
                <a:spcPts val="0"/>
              </a:spcBef>
              <a:buFont typeface="Calibri"/>
              <a:buNone/>
              <a:defRPr b="1" sz="1600"/>
            </a:lvl8pPr>
            <a:lvl9pPr indent="0" lvl="8" marL="3657600" rtl="0">
              <a:spcBef>
                <a:spcPts val="0"/>
              </a:spcBef>
              <a:buFont typeface="Calibri"/>
              <a:buNone/>
              <a:defRPr b="1" sz="1600"/>
            </a:lvl9pPr>
          </a:lstStyle>
          <a:p/>
        </p:txBody>
      </p:sp>
      <p:sp>
        <p:nvSpPr>
          <p:cNvPr id="67" name="Shape 67"/>
          <p:cNvSpPr txBox="1"/>
          <p:nvPr>
            <p:ph idx="4" type="body"/>
          </p:nvPr>
        </p:nvSpPr>
        <p:spPr>
          <a:xfrm>
            <a:off x="4645025" y="2174875"/>
            <a:ext cx="4041774" cy="39512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 sz="2400"/>
            </a:lvl1pPr>
            <a:lvl2pPr lvl="1" rtl="0">
              <a:spcBef>
                <a:spcPts val="0"/>
              </a:spcBef>
              <a:defRPr sz="2000"/>
            </a:lvl2pPr>
            <a:lvl3pPr lvl="2" rtl="0">
              <a:spcBef>
                <a:spcPts val="0"/>
              </a:spcBef>
              <a:defRPr sz="1800"/>
            </a:lvl3pPr>
            <a:lvl4pPr lvl="3" rtl="0">
              <a:spcBef>
                <a:spcPts val="0"/>
              </a:spcBef>
              <a:defRPr sz="1600"/>
            </a:lvl4pPr>
            <a:lvl5pPr lvl="4" rtl="0">
              <a:spcBef>
                <a:spcPts val="0"/>
              </a:spcBef>
              <a:defRPr sz="1600"/>
            </a:lvl5pPr>
            <a:lvl6pPr lvl="5" rtl="0">
              <a:spcBef>
                <a:spcPts val="0"/>
              </a:spcBef>
              <a:defRPr sz="1600"/>
            </a:lvl6pPr>
            <a:lvl7pPr lvl="6" rtl="0">
              <a:spcBef>
                <a:spcPts val="0"/>
              </a:spcBef>
              <a:defRPr sz="1600"/>
            </a:lvl7pPr>
            <a:lvl8pPr lvl="7" rtl="0">
              <a:spcBef>
                <a:spcPts val="0"/>
              </a:spcBef>
              <a:defRPr sz="1600"/>
            </a:lvl8pPr>
            <a:lvl9pPr lvl="8" rtl="0">
              <a:spcBef>
                <a:spcPts val="0"/>
              </a:spcBef>
              <a:defRPr sz="1600"/>
            </a:lvl9pPr>
          </a:lstStyle>
          <a:p/>
        </p:txBody>
      </p:sp>
      <p:sp>
        <p:nvSpPr>
          <p:cNvPr id="68" name="Shape 68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69" name="Shape 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Shape 70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Obj">
  <p:cSld name="Two 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73" name="Shape 73"/>
          <p:cNvSpPr txBox="1"/>
          <p:nvPr>
            <p:ph idx="1" type="body"/>
          </p:nvPr>
        </p:nvSpPr>
        <p:spPr>
          <a:xfrm>
            <a:off x="457200" y="1600200"/>
            <a:ext cx="4038599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 sz="2800"/>
            </a:lvl1pPr>
            <a:lvl2pPr lvl="1" rtl="0">
              <a:spcBef>
                <a:spcPts val="0"/>
              </a:spcBef>
              <a:defRPr sz="2400"/>
            </a:lvl2pPr>
            <a:lvl3pPr lvl="2" rtl="0">
              <a:spcBef>
                <a:spcPts val="0"/>
              </a:spcBef>
              <a:defRPr sz="2000"/>
            </a:lvl3pPr>
            <a:lvl4pPr lvl="3" rtl="0">
              <a:spcBef>
                <a:spcPts val="0"/>
              </a:spcBef>
              <a:defRPr sz="1800"/>
            </a:lvl4pPr>
            <a:lvl5pPr lvl="4" rtl="0">
              <a:spcBef>
                <a:spcPts val="0"/>
              </a:spcBef>
              <a:defRPr sz="1800"/>
            </a:lvl5pPr>
            <a:lvl6pPr lvl="5" rtl="0">
              <a:spcBef>
                <a:spcPts val="0"/>
              </a:spcBef>
              <a:defRPr sz="1800"/>
            </a:lvl6pPr>
            <a:lvl7pPr lvl="6" rtl="0">
              <a:spcBef>
                <a:spcPts val="0"/>
              </a:spcBef>
              <a:defRPr sz="1800"/>
            </a:lvl7pPr>
            <a:lvl8pPr lvl="7" rtl="0">
              <a:spcBef>
                <a:spcPts val="0"/>
              </a:spcBef>
              <a:defRPr sz="1800"/>
            </a:lvl8pPr>
            <a:lvl9pPr lvl="8" rtl="0">
              <a:spcBef>
                <a:spcPts val="0"/>
              </a:spcBef>
              <a:defRPr sz="1800"/>
            </a:lvl9pPr>
          </a:lstStyle>
          <a:p/>
        </p:txBody>
      </p:sp>
      <p:sp>
        <p:nvSpPr>
          <p:cNvPr id="74" name="Shape 74"/>
          <p:cNvSpPr txBox="1"/>
          <p:nvPr>
            <p:ph idx="2" type="body"/>
          </p:nvPr>
        </p:nvSpPr>
        <p:spPr>
          <a:xfrm>
            <a:off x="4648200" y="1600200"/>
            <a:ext cx="4038599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 sz="2800"/>
            </a:lvl1pPr>
            <a:lvl2pPr lvl="1" rtl="0">
              <a:spcBef>
                <a:spcPts val="0"/>
              </a:spcBef>
              <a:defRPr sz="2400"/>
            </a:lvl2pPr>
            <a:lvl3pPr lvl="2" rtl="0">
              <a:spcBef>
                <a:spcPts val="0"/>
              </a:spcBef>
              <a:defRPr sz="2000"/>
            </a:lvl3pPr>
            <a:lvl4pPr lvl="3" rtl="0">
              <a:spcBef>
                <a:spcPts val="0"/>
              </a:spcBef>
              <a:defRPr sz="1800"/>
            </a:lvl4pPr>
            <a:lvl5pPr lvl="4" rtl="0">
              <a:spcBef>
                <a:spcPts val="0"/>
              </a:spcBef>
              <a:defRPr sz="1800"/>
            </a:lvl5pPr>
            <a:lvl6pPr lvl="5" rtl="0">
              <a:spcBef>
                <a:spcPts val="0"/>
              </a:spcBef>
              <a:defRPr sz="1800"/>
            </a:lvl6pPr>
            <a:lvl7pPr lvl="6" rtl="0">
              <a:spcBef>
                <a:spcPts val="0"/>
              </a:spcBef>
              <a:defRPr sz="1800"/>
            </a:lvl7pPr>
            <a:lvl8pPr lvl="7" rtl="0">
              <a:spcBef>
                <a:spcPts val="0"/>
              </a:spcBef>
              <a:defRPr sz="1800"/>
            </a:lvl8pPr>
            <a:lvl9pPr lvl="8" rtl="0">
              <a:spcBef>
                <a:spcPts val="0"/>
              </a:spcBef>
              <a:defRPr sz="1800"/>
            </a:lvl9pPr>
          </a:lstStyle>
          <a:p/>
        </p:txBody>
      </p:sp>
      <p:sp>
        <p:nvSpPr>
          <p:cNvPr id="75" name="Shape 75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76" name="Shape 7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Shape 77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/>
          <p:nvPr>
            <p:ph type="title"/>
          </p:nvPr>
        </p:nvSpPr>
        <p:spPr>
          <a:xfrm>
            <a:off x="722312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 algn="l">
              <a:spcBef>
                <a:spcPts val="0"/>
              </a:spcBef>
              <a:defRPr b="1" sz="4000" cap="none"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80" name="Shape 80"/>
          <p:cNvSpPr txBox="1"/>
          <p:nvPr>
            <p:ph idx="1" type="body"/>
          </p:nvPr>
        </p:nvSpPr>
        <p:spPr>
          <a:xfrm>
            <a:off x="722312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0" lvl="1" marL="4572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800">
                <a:solidFill>
                  <a:srgbClr val="888888"/>
                </a:solidFill>
              </a:defRPr>
            </a:lvl2pPr>
            <a:lvl3pPr indent="0" lvl="2" marL="9144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600">
                <a:solidFill>
                  <a:srgbClr val="888888"/>
                </a:solidFill>
              </a:defRPr>
            </a:lvl3pPr>
            <a:lvl4pPr indent="0" lvl="3" marL="13716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4pPr>
            <a:lvl5pPr indent="0" lvl="4" marL="18288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5pPr>
            <a:lvl6pPr indent="0" lvl="5" marL="22860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6pPr>
            <a:lvl7pPr indent="0" lvl="6" marL="27432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7pPr>
            <a:lvl8pPr indent="0" lvl="7" marL="32004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8pPr>
            <a:lvl9pPr indent="0" lvl="8" marL="36576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Shape 81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82" name="Shape 8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Shape 83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1" name="Shape 11"/>
          <p:cNvSpPr txBox="1"/>
          <p:nvPr>
            <p:ph idx="1" type="body"/>
          </p:nvPr>
        </p:nvSpPr>
        <p:spPr>
          <a:xfrm>
            <a:off x="457200" y="1600200"/>
            <a:ext cx="8229600" cy="45259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39700" lvl="0" marL="342900" marR="0" rtl="0" algn="l">
              <a:spcBef>
                <a:spcPts val="640"/>
              </a:spcBef>
              <a:buClr>
                <a:schemeClr val="dk1"/>
              </a:buClr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Shape 12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Shape 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Shape 14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02.png"/><Relationship Id="rId4" Type="http://schemas.openxmlformats.org/officeDocument/2006/relationships/image" Target="../media/image00.jpg"/><Relationship Id="rId5" Type="http://schemas.openxmlformats.org/officeDocument/2006/relationships/image" Target="../media/image0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02.png"/><Relationship Id="rId4" Type="http://schemas.openxmlformats.org/officeDocument/2006/relationships/image" Target="../media/image03.png"/><Relationship Id="rId5" Type="http://schemas.openxmlformats.org/officeDocument/2006/relationships/image" Target="../media/image0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02.png"/><Relationship Id="rId4" Type="http://schemas.openxmlformats.org/officeDocument/2006/relationships/image" Target="../media/image03.png"/><Relationship Id="rId5" Type="http://schemas.openxmlformats.org/officeDocument/2006/relationships/image" Target="../media/image0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02.png"/><Relationship Id="rId4" Type="http://schemas.openxmlformats.org/officeDocument/2006/relationships/image" Target="../media/image0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02.png"/><Relationship Id="rId4" Type="http://schemas.openxmlformats.org/officeDocument/2006/relationships/image" Target="../media/image0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02.png"/><Relationship Id="rId4" Type="http://schemas.openxmlformats.org/officeDocument/2006/relationships/image" Target="../media/image03.png"/><Relationship Id="rId5" Type="http://schemas.openxmlformats.org/officeDocument/2006/relationships/image" Target="../media/image0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02.png"/><Relationship Id="rId4" Type="http://schemas.openxmlformats.org/officeDocument/2006/relationships/image" Target="../media/image0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02.png"/><Relationship Id="rId4" Type="http://schemas.openxmlformats.org/officeDocument/2006/relationships/image" Target="../media/image0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02.png"/><Relationship Id="rId4" Type="http://schemas.openxmlformats.org/officeDocument/2006/relationships/image" Target="../media/image0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02.png"/><Relationship Id="rId4" Type="http://schemas.openxmlformats.org/officeDocument/2006/relationships/image" Target="../media/image0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02.png"/><Relationship Id="rId4" Type="http://schemas.openxmlformats.org/officeDocument/2006/relationships/image" Target="../media/image0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02.png"/><Relationship Id="rId4" Type="http://schemas.openxmlformats.org/officeDocument/2006/relationships/image" Target="../media/image0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02.png"/><Relationship Id="rId4" Type="http://schemas.openxmlformats.org/officeDocument/2006/relationships/image" Target="../media/image0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02.png"/><Relationship Id="rId4" Type="http://schemas.openxmlformats.org/officeDocument/2006/relationships/image" Target="../media/image0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0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0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0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0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0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0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0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0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0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Shape 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Shape 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525" y="1447800"/>
            <a:ext cx="8610599" cy="22542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Shape 90"/>
          <p:cNvSpPr txBox="1"/>
          <p:nvPr/>
        </p:nvSpPr>
        <p:spPr>
          <a:xfrm>
            <a:off x="381000" y="4191000"/>
            <a:ext cx="5127625" cy="1462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0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Mercado de bienes y servicios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BB4F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0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OFERTA Y DEMANDA AGREGADA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BB4F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Shape 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Shape 92"/>
          <p:cNvSpPr txBox="1"/>
          <p:nvPr/>
        </p:nvSpPr>
        <p:spPr>
          <a:xfrm>
            <a:off x="4495800" y="76200"/>
            <a:ext cx="3962399" cy="990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32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RENTA NACIONAL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Shape 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Shape 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650" y="1444625"/>
            <a:ext cx="8626474" cy="511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Shape 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Shape 100"/>
          <p:cNvSpPr txBox="1"/>
          <p:nvPr/>
        </p:nvSpPr>
        <p:spPr>
          <a:xfrm>
            <a:off x="3268661" y="0"/>
            <a:ext cx="5605462" cy="1066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TEMARIO CLASE N° 17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MACROECONOMÍA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MERCADO DE BIENES Y SERVICIOS</a:t>
            </a: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sp>
        <p:nvSpPr>
          <p:cNvPr id="101" name="Shape 101"/>
          <p:cNvSpPr txBox="1"/>
          <p:nvPr/>
        </p:nvSpPr>
        <p:spPr>
          <a:xfrm>
            <a:off x="263525" y="1524000"/>
            <a:ext cx="8610599" cy="5035549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 de tres sectores. 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Modelo de cuatro sectores.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Multiplicadores macroeconómicos.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Balanza de pagos.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Shape 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Shape 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4962" y="1524000"/>
            <a:ext cx="8626474" cy="511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Shape 10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Shape 109"/>
          <p:cNvSpPr txBox="1"/>
          <p:nvPr/>
        </p:nvSpPr>
        <p:spPr>
          <a:xfrm>
            <a:off x="3352800" y="304800"/>
            <a:ext cx="56086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MODELO DE TRES SECTORES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263525" y="1524000"/>
            <a:ext cx="8610599" cy="5035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Shape 111"/>
          <p:cNvSpPr txBox="1"/>
          <p:nvPr/>
        </p:nvSpPr>
        <p:spPr>
          <a:xfrm>
            <a:off x="3352800" y="3038475"/>
            <a:ext cx="1295400" cy="771524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SECTOR DEL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ESTADO</a:t>
            </a:r>
          </a:p>
        </p:txBody>
      </p:sp>
      <p:sp>
        <p:nvSpPr>
          <p:cNvPr id="112" name="Shape 112"/>
          <p:cNvSpPr txBox="1"/>
          <p:nvPr/>
        </p:nvSpPr>
        <p:spPr>
          <a:xfrm>
            <a:off x="5334000" y="3048000"/>
            <a:ext cx="1752600" cy="7620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SECTOR DE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LOS NEGOCIOS</a:t>
            </a:r>
          </a:p>
        </p:txBody>
      </p:sp>
      <p:sp>
        <p:nvSpPr>
          <p:cNvPr id="113" name="Shape 113"/>
          <p:cNvSpPr/>
          <p:nvPr/>
        </p:nvSpPr>
        <p:spPr>
          <a:xfrm>
            <a:off x="1511300" y="1905000"/>
            <a:ext cx="5203824" cy="1133474"/>
          </a:xfrm>
          <a:custGeom>
            <a:pathLst>
              <a:path extrusionOk="0" h="120000" w="120000">
                <a:moveTo>
                  <a:pt x="834" y="118883"/>
                </a:moveTo>
                <a:cubicBezTo>
                  <a:pt x="909" y="109023"/>
                  <a:pt x="0" y="75348"/>
                  <a:pt x="1213" y="59162"/>
                </a:cubicBezTo>
                <a:cubicBezTo>
                  <a:pt x="2426" y="42976"/>
                  <a:pt x="2919" y="30883"/>
                  <a:pt x="8113" y="21767"/>
                </a:cubicBezTo>
                <a:cubicBezTo>
                  <a:pt x="13308" y="12651"/>
                  <a:pt x="18995" y="6883"/>
                  <a:pt x="32454" y="3906"/>
                </a:cubicBezTo>
                <a:cubicBezTo>
                  <a:pt x="45914" y="930"/>
                  <a:pt x="75109" y="0"/>
                  <a:pt x="88872" y="3906"/>
                </a:cubicBezTo>
                <a:cubicBezTo>
                  <a:pt x="102635" y="7813"/>
                  <a:pt x="110066" y="8000"/>
                  <a:pt x="115033" y="27348"/>
                </a:cubicBezTo>
                <a:cubicBezTo>
                  <a:pt x="120000" y="46697"/>
                  <a:pt x="117914" y="100651"/>
                  <a:pt x="118672" y="120000"/>
                </a:cubicBezTo>
              </a:path>
            </a:pathLst>
          </a:custGeom>
          <a:noFill/>
          <a:ln cap="flat" cmpd="sng" w="4127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Shape 114"/>
          <p:cNvSpPr/>
          <p:nvPr/>
        </p:nvSpPr>
        <p:spPr>
          <a:xfrm>
            <a:off x="1581150" y="3810000"/>
            <a:ext cx="5133975" cy="1654174"/>
          </a:xfrm>
          <a:custGeom>
            <a:pathLst>
              <a:path extrusionOk="0" h="120000" w="120000">
                <a:moveTo>
                  <a:pt x="119999" y="0"/>
                </a:moveTo>
                <a:cubicBezTo>
                  <a:pt x="118886" y="9328"/>
                  <a:pt x="116660" y="40652"/>
                  <a:pt x="113320" y="55969"/>
                </a:cubicBezTo>
                <a:cubicBezTo>
                  <a:pt x="109981" y="71285"/>
                  <a:pt x="105083" y="82802"/>
                  <a:pt x="99962" y="91900"/>
                </a:cubicBezTo>
                <a:cubicBezTo>
                  <a:pt x="94842" y="100998"/>
                  <a:pt x="89090" y="106295"/>
                  <a:pt x="82597" y="110556"/>
                </a:cubicBezTo>
                <a:cubicBezTo>
                  <a:pt x="76103" y="114817"/>
                  <a:pt x="69424" y="117120"/>
                  <a:pt x="61001" y="117466"/>
                </a:cubicBezTo>
                <a:cubicBezTo>
                  <a:pt x="52578" y="117811"/>
                  <a:pt x="40853" y="120000"/>
                  <a:pt x="32059" y="112629"/>
                </a:cubicBezTo>
                <a:cubicBezTo>
                  <a:pt x="23265" y="105259"/>
                  <a:pt x="13580" y="92015"/>
                  <a:pt x="8237" y="73243"/>
                </a:cubicBezTo>
                <a:cubicBezTo>
                  <a:pt x="2894" y="54472"/>
                  <a:pt x="1706" y="15316"/>
                  <a:pt x="0" y="0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Shape 115"/>
          <p:cNvSpPr/>
          <p:nvPr/>
        </p:nvSpPr>
        <p:spPr>
          <a:xfrm>
            <a:off x="1905000" y="2286000"/>
            <a:ext cx="4343400" cy="762000"/>
          </a:xfrm>
          <a:custGeom>
            <a:pathLst>
              <a:path extrusionOk="0" h="120000" w="120000">
                <a:moveTo>
                  <a:pt x="532" y="118883"/>
                </a:moveTo>
                <a:cubicBezTo>
                  <a:pt x="646" y="109767"/>
                  <a:pt x="0" y="80372"/>
                  <a:pt x="1216" y="64186"/>
                </a:cubicBezTo>
                <a:cubicBezTo>
                  <a:pt x="2432" y="48000"/>
                  <a:pt x="2660" y="31813"/>
                  <a:pt x="7830" y="21767"/>
                </a:cubicBezTo>
                <a:cubicBezTo>
                  <a:pt x="12999" y="11720"/>
                  <a:pt x="18739" y="6883"/>
                  <a:pt x="32233" y="3906"/>
                </a:cubicBezTo>
                <a:cubicBezTo>
                  <a:pt x="45726" y="930"/>
                  <a:pt x="74995" y="0"/>
                  <a:pt x="88793" y="3906"/>
                </a:cubicBezTo>
                <a:cubicBezTo>
                  <a:pt x="102591" y="7813"/>
                  <a:pt x="110041" y="8000"/>
                  <a:pt x="115020" y="27348"/>
                </a:cubicBezTo>
                <a:cubicBezTo>
                  <a:pt x="120000" y="46697"/>
                  <a:pt x="117909" y="100651"/>
                  <a:pt x="118669" y="120000"/>
                </a:cubicBezTo>
              </a:path>
            </a:pathLst>
          </a:custGeom>
          <a:noFill/>
          <a:ln cap="flat" cmpd="sng" w="4127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Shape 116"/>
          <p:cNvSpPr/>
          <p:nvPr/>
        </p:nvSpPr>
        <p:spPr>
          <a:xfrm>
            <a:off x="1905000" y="3790950"/>
            <a:ext cx="4305299" cy="323850"/>
          </a:xfrm>
          <a:custGeom>
            <a:pathLst>
              <a:path extrusionOk="0" h="120000" w="120000">
                <a:moveTo>
                  <a:pt x="120000" y="0"/>
                </a:moveTo>
                <a:cubicBezTo>
                  <a:pt x="119159" y="14705"/>
                  <a:pt x="118185" y="69411"/>
                  <a:pt x="114955" y="88235"/>
                </a:cubicBezTo>
                <a:cubicBezTo>
                  <a:pt x="111725" y="107058"/>
                  <a:pt x="109867" y="108823"/>
                  <a:pt x="100619" y="112941"/>
                </a:cubicBezTo>
                <a:cubicBezTo>
                  <a:pt x="91371" y="117058"/>
                  <a:pt x="70973" y="114117"/>
                  <a:pt x="59469" y="114117"/>
                </a:cubicBezTo>
                <a:cubicBezTo>
                  <a:pt x="47964" y="114117"/>
                  <a:pt x="36194" y="113529"/>
                  <a:pt x="31592" y="114117"/>
                </a:cubicBezTo>
                <a:cubicBezTo>
                  <a:pt x="26991" y="114705"/>
                  <a:pt x="37123" y="115882"/>
                  <a:pt x="31858" y="117058"/>
                </a:cubicBezTo>
                <a:cubicBezTo>
                  <a:pt x="26592" y="118235"/>
                  <a:pt x="6637" y="119411"/>
                  <a:pt x="0" y="120000"/>
                </a:cubicBezTo>
              </a:path>
            </a:pathLst>
          </a:custGeom>
          <a:noFill/>
          <a:ln cap="flat" cmpd="sng" w="4127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Shape 117"/>
          <p:cNvSpPr txBox="1"/>
          <p:nvPr/>
        </p:nvSpPr>
        <p:spPr>
          <a:xfrm>
            <a:off x="2057400" y="1524000"/>
            <a:ext cx="4190999" cy="533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Aporte de factores productivos (B/S)</a:t>
            </a:r>
          </a:p>
        </p:txBody>
      </p:sp>
      <p:sp>
        <p:nvSpPr>
          <p:cNvPr id="118" name="Shape 118"/>
          <p:cNvSpPr txBox="1"/>
          <p:nvPr/>
        </p:nvSpPr>
        <p:spPr>
          <a:xfrm>
            <a:off x="2735261" y="5029200"/>
            <a:ext cx="2751136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Bienes y servicios útiles (B/S)</a:t>
            </a:r>
          </a:p>
        </p:txBody>
      </p:sp>
      <p:sp>
        <p:nvSpPr>
          <p:cNvPr id="119" name="Shape 119"/>
          <p:cNvSpPr txBox="1"/>
          <p:nvPr/>
        </p:nvSpPr>
        <p:spPr>
          <a:xfrm>
            <a:off x="2209800" y="1905000"/>
            <a:ext cx="4190999" cy="533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Remuneración a los factores productivos ($)</a:t>
            </a:r>
          </a:p>
        </p:txBody>
      </p:sp>
      <p:sp>
        <p:nvSpPr>
          <p:cNvPr id="120" name="Shape 120"/>
          <p:cNvSpPr txBox="1"/>
          <p:nvPr/>
        </p:nvSpPr>
        <p:spPr>
          <a:xfrm>
            <a:off x="4335462" y="4038600"/>
            <a:ext cx="1150936" cy="31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Consumo ($)</a:t>
            </a:r>
          </a:p>
        </p:txBody>
      </p:sp>
      <p:sp>
        <p:nvSpPr>
          <p:cNvPr id="121" name="Shape 121"/>
          <p:cNvSpPr txBox="1"/>
          <p:nvPr/>
        </p:nvSpPr>
        <p:spPr>
          <a:xfrm>
            <a:off x="5943600" y="26670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</a:p>
        </p:txBody>
      </p:sp>
      <p:sp>
        <p:nvSpPr>
          <p:cNvPr id="122" name="Shape 122"/>
          <p:cNvSpPr txBox="1"/>
          <p:nvPr/>
        </p:nvSpPr>
        <p:spPr>
          <a:xfrm>
            <a:off x="1676400" y="22860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</a:p>
        </p:txBody>
      </p:sp>
      <p:sp>
        <p:nvSpPr>
          <p:cNvPr id="123" name="Shape 123"/>
          <p:cNvSpPr txBox="1"/>
          <p:nvPr/>
        </p:nvSpPr>
        <p:spPr>
          <a:xfrm>
            <a:off x="4724400" y="37338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</a:p>
        </p:txBody>
      </p:sp>
      <p:sp>
        <p:nvSpPr>
          <p:cNvPr id="124" name="Shape 124"/>
          <p:cNvSpPr txBox="1"/>
          <p:nvPr/>
        </p:nvSpPr>
        <p:spPr>
          <a:xfrm>
            <a:off x="3505200" y="4419600"/>
            <a:ext cx="1295400" cy="685799"/>
          </a:xfrm>
          <a:prstGeom prst="rect">
            <a:avLst/>
          </a:prstGeom>
          <a:solidFill>
            <a:srgbClr val="FF6600">
              <a:alpha val="39607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FINANCIERO</a:t>
            </a:r>
          </a:p>
        </p:txBody>
      </p:sp>
      <p:sp>
        <p:nvSpPr>
          <p:cNvPr id="125" name="Shape 125"/>
          <p:cNvSpPr/>
          <p:nvPr/>
        </p:nvSpPr>
        <p:spPr>
          <a:xfrm>
            <a:off x="1885950" y="3800475"/>
            <a:ext cx="1619249" cy="1000125"/>
          </a:xfrm>
          <a:custGeom>
            <a:pathLst>
              <a:path extrusionOk="0" h="120000" w="120000">
                <a:moveTo>
                  <a:pt x="120000" y="120000"/>
                </a:moveTo>
                <a:cubicBezTo>
                  <a:pt x="109444" y="119633"/>
                  <a:pt x="72222" y="118715"/>
                  <a:pt x="56666" y="117798"/>
                </a:cubicBezTo>
                <a:cubicBezTo>
                  <a:pt x="41111" y="116880"/>
                  <a:pt x="34444" y="118899"/>
                  <a:pt x="26666" y="114495"/>
                </a:cubicBezTo>
                <a:cubicBezTo>
                  <a:pt x="18888" y="110091"/>
                  <a:pt x="13888" y="102018"/>
                  <a:pt x="10000" y="91376"/>
                </a:cubicBezTo>
                <a:cubicBezTo>
                  <a:pt x="6111" y="80733"/>
                  <a:pt x="5000" y="65871"/>
                  <a:pt x="3333" y="50642"/>
                </a:cubicBezTo>
                <a:cubicBezTo>
                  <a:pt x="1666" y="35412"/>
                  <a:pt x="694" y="10458"/>
                  <a:pt x="0" y="0"/>
                </a:cubicBezTo>
              </a:path>
            </a:pathLst>
          </a:custGeom>
          <a:noFill/>
          <a:ln cap="flat" cmpd="sng" w="4127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Shape 126"/>
          <p:cNvSpPr txBox="1"/>
          <p:nvPr/>
        </p:nvSpPr>
        <p:spPr>
          <a:xfrm>
            <a:off x="2209800" y="44196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</a:p>
        </p:txBody>
      </p:sp>
      <p:sp>
        <p:nvSpPr>
          <p:cNvPr id="127" name="Shape 127"/>
          <p:cNvSpPr/>
          <p:nvPr/>
        </p:nvSpPr>
        <p:spPr>
          <a:xfrm>
            <a:off x="4830762" y="3790950"/>
            <a:ext cx="1570036" cy="914400"/>
          </a:xfrm>
          <a:custGeom>
            <a:pathLst>
              <a:path extrusionOk="0" h="120000" w="120000">
                <a:moveTo>
                  <a:pt x="117209" y="0"/>
                </a:moveTo>
                <a:cubicBezTo>
                  <a:pt x="116481" y="13333"/>
                  <a:pt x="120000" y="61666"/>
                  <a:pt x="112841" y="80000"/>
                </a:cubicBezTo>
                <a:cubicBezTo>
                  <a:pt x="105682" y="98333"/>
                  <a:pt x="93063" y="103333"/>
                  <a:pt x="74256" y="110000"/>
                </a:cubicBezTo>
                <a:cubicBezTo>
                  <a:pt x="55449" y="116666"/>
                  <a:pt x="15409" y="117916"/>
                  <a:pt x="0" y="120000"/>
                </a:cubicBezTo>
              </a:path>
            </a:pathLst>
          </a:custGeom>
          <a:noFill/>
          <a:ln cap="flat" cmpd="sng" w="4127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Shape 128"/>
          <p:cNvSpPr txBox="1"/>
          <p:nvPr/>
        </p:nvSpPr>
        <p:spPr>
          <a:xfrm>
            <a:off x="4876800" y="43434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</a:p>
        </p:txBody>
      </p:sp>
      <p:sp>
        <p:nvSpPr>
          <p:cNvPr id="129" name="Shape 129"/>
          <p:cNvSpPr txBox="1"/>
          <p:nvPr/>
        </p:nvSpPr>
        <p:spPr>
          <a:xfrm>
            <a:off x="1143000" y="3048000"/>
            <a:ext cx="1592262" cy="7620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SECTOR DE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CONSUMIDORES</a:t>
            </a:r>
          </a:p>
        </p:txBody>
      </p:sp>
      <p:sp>
        <p:nvSpPr>
          <p:cNvPr id="130" name="Shape 130"/>
          <p:cNvSpPr/>
          <p:nvPr/>
        </p:nvSpPr>
        <p:spPr>
          <a:xfrm>
            <a:off x="3886200" y="4105275"/>
            <a:ext cx="609599" cy="314324"/>
          </a:xfrm>
          <a:custGeom>
            <a:pathLst>
              <a:path extrusionOk="0" h="120000" w="120000">
                <a:moveTo>
                  <a:pt x="0" y="120000"/>
                </a:moveTo>
                <a:lnTo>
                  <a:pt x="27857" y="77419"/>
                </a:lnTo>
                <a:lnTo>
                  <a:pt x="66428" y="38709"/>
                </a:lnTo>
                <a:lnTo>
                  <a:pt x="120000" y="0"/>
                </a:lnTo>
              </a:path>
            </a:pathLst>
          </a:custGeom>
          <a:noFill/>
          <a:ln cap="flat" cmpd="sng" w="41275">
            <a:solidFill>
              <a:srgbClr val="FF0000"/>
            </a:solidFill>
            <a:prstDash val="solid"/>
            <a:miter/>
            <a:headEnd len="sm" w="sm" type="oval"/>
            <a:tailEnd len="lg" w="lg" type="triangl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Shape 131"/>
          <p:cNvCxnSpPr/>
          <p:nvPr/>
        </p:nvCxnSpPr>
        <p:spPr>
          <a:xfrm>
            <a:off x="4267200" y="2286000"/>
            <a:ext cx="0" cy="752474"/>
          </a:xfrm>
          <a:prstGeom prst="straightConnector1">
            <a:avLst/>
          </a:prstGeom>
          <a:noFill/>
          <a:ln cap="flat" cmpd="sng" w="41275">
            <a:solidFill>
              <a:srgbClr val="FF0000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132" name="Shape 132"/>
          <p:cNvCxnSpPr/>
          <p:nvPr/>
        </p:nvCxnSpPr>
        <p:spPr>
          <a:xfrm rot="10800000">
            <a:off x="3657600" y="2286000"/>
            <a:ext cx="0" cy="752474"/>
          </a:xfrm>
          <a:prstGeom prst="straightConnector1">
            <a:avLst/>
          </a:prstGeom>
          <a:noFill/>
          <a:ln cap="flat" cmpd="sng" w="41275">
            <a:solidFill>
              <a:srgbClr val="FF0000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133" name="Shape 133"/>
          <p:cNvCxnSpPr/>
          <p:nvPr/>
        </p:nvCxnSpPr>
        <p:spPr>
          <a:xfrm flipH="1" rot="10800000">
            <a:off x="4648200" y="3190875"/>
            <a:ext cx="685799" cy="9524"/>
          </a:xfrm>
          <a:prstGeom prst="straightConnector1">
            <a:avLst/>
          </a:prstGeom>
          <a:noFill/>
          <a:ln cap="flat" cmpd="sng" w="41275">
            <a:solidFill>
              <a:srgbClr val="FF0000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134" name="Shape 134"/>
          <p:cNvCxnSpPr/>
          <p:nvPr/>
        </p:nvCxnSpPr>
        <p:spPr>
          <a:xfrm flipH="1">
            <a:off x="2735261" y="3190875"/>
            <a:ext cx="617537" cy="9524"/>
          </a:xfrm>
          <a:prstGeom prst="straightConnector1">
            <a:avLst/>
          </a:prstGeom>
          <a:noFill/>
          <a:ln cap="flat" cmpd="sng" w="41275">
            <a:solidFill>
              <a:srgbClr val="FF0000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135" name="Shape 135"/>
          <p:cNvCxnSpPr/>
          <p:nvPr/>
        </p:nvCxnSpPr>
        <p:spPr>
          <a:xfrm rot="10800000">
            <a:off x="4648200" y="3581400"/>
            <a:ext cx="685799" cy="0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136" name="Shape 136"/>
          <p:cNvCxnSpPr/>
          <p:nvPr/>
        </p:nvCxnSpPr>
        <p:spPr>
          <a:xfrm>
            <a:off x="2735261" y="3581400"/>
            <a:ext cx="617537" cy="0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sp>
        <p:nvSpPr>
          <p:cNvPr id="137" name="Shape 137"/>
          <p:cNvSpPr txBox="1"/>
          <p:nvPr/>
        </p:nvSpPr>
        <p:spPr>
          <a:xfrm>
            <a:off x="381000" y="1516062"/>
            <a:ext cx="1150936" cy="31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Ingreso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Disponible ($)</a:t>
            </a:r>
          </a:p>
        </p:txBody>
      </p:sp>
      <p:cxnSp>
        <p:nvCxnSpPr>
          <p:cNvPr id="138" name="Shape 138"/>
          <p:cNvCxnSpPr/>
          <p:nvPr/>
        </p:nvCxnSpPr>
        <p:spPr>
          <a:xfrm rot="10800000">
            <a:off x="1295399" y="1836736"/>
            <a:ext cx="762000" cy="7540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sp>
        <p:nvSpPr>
          <p:cNvPr id="139" name="Shape 139"/>
          <p:cNvSpPr txBox="1"/>
          <p:nvPr/>
        </p:nvSpPr>
        <p:spPr>
          <a:xfrm>
            <a:off x="1828800" y="4716462"/>
            <a:ext cx="1150936" cy="31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Ahorro ($)</a:t>
            </a:r>
          </a:p>
        </p:txBody>
      </p:sp>
      <p:sp>
        <p:nvSpPr>
          <p:cNvPr id="140" name="Shape 140"/>
          <p:cNvSpPr txBox="1"/>
          <p:nvPr/>
        </p:nvSpPr>
        <p:spPr>
          <a:xfrm>
            <a:off x="4716462" y="4648200"/>
            <a:ext cx="1150936" cy="31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Inversión ($)</a:t>
            </a:r>
          </a:p>
        </p:txBody>
      </p:sp>
      <p:sp>
        <p:nvSpPr>
          <p:cNvPr id="141" name="Shape 141"/>
          <p:cNvSpPr txBox="1"/>
          <p:nvPr/>
        </p:nvSpPr>
        <p:spPr>
          <a:xfrm>
            <a:off x="6697661" y="1524000"/>
            <a:ext cx="1150936" cy="31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Ingreso ($)</a:t>
            </a:r>
          </a:p>
        </p:txBody>
      </p:sp>
      <p:cxnSp>
        <p:nvCxnSpPr>
          <p:cNvPr id="142" name="Shape 142"/>
          <p:cNvCxnSpPr/>
          <p:nvPr/>
        </p:nvCxnSpPr>
        <p:spPr>
          <a:xfrm flipH="1" rot="10800000">
            <a:off x="6096000" y="1836737"/>
            <a:ext cx="762000" cy="83026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sp>
        <p:nvSpPr>
          <p:cNvPr id="143" name="Shape 143"/>
          <p:cNvSpPr txBox="1"/>
          <p:nvPr/>
        </p:nvSpPr>
        <p:spPr>
          <a:xfrm>
            <a:off x="4343400" y="23622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</a:p>
        </p:txBody>
      </p:sp>
      <p:sp>
        <p:nvSpPr>
          <p:cNvPr id="144" name="Shape 144"/>
          <p:cNvSpPr txBox="1"/>
          <p:nvPr/>
        </p:nvSpPr>
        <p:spPr>
          <a:xfrm>
            <a:off x="3733800" y="23622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</a:p>
        </p:txBody>
      </p:sp>
      <p:sp>
        <p:nvSpPr>
          <p:cNvPr id="145" name="Shape 145"/>
          <p:cNvSpPr txBox="1"/>
          <p:nvPr/>
        </p:nvSpPr>
        <p:spPr>
          <a:xfrm>
            <a:off x="4800600" y="30480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GP</a:t>
            </a:r>
          </a:p>
        </p:txBody>
      </p:sp>
      <p:sp>
        <p:nvSpPr>
          <p:cNvPr id="146" name="Shape 146"/>
          <p:cNvSpPr txBox="1"/>
          <p:nvPr/>
        </p:nvSpPr>
        <p:spPr>
          <a:xfrm>
            <a:off x="2895600" y="30480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GP</a:t>
            </a:r>
          </a:p>
        </p:txBody>
      </p:sp>
      <p:sp>
        <p:nvSpPr>
          <p:cNvPr id="147" name="Shape 147"/>
          <p:cNvSpPr txBox="1"/>
          <p:nvPr/>
        </p:nvSpPr>
        <p:spPr>
          <a:xfrm>
            <a:off x="4876800" y="32004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B/S</a:t>
            </a:r>
          </a:p>
        </p:txBody>
      </p:sp>
      <p:sp>
        <p:nvSpPr>
          <p:cNvPr id="148" name="Shape 148"/>
          <p:cNvSpPr txBox="1"/>
          <p:nvPr/>
        </p:nvSpPr>
        <p:spPr>
          <a:xfrm>
            <a:off x="2819400" y="32004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</a:p>
        </p:txBody>
      </p:sp>
      <p:sp>
        <p:nvSpPr>
          <p:cNvPr id="149" name="Shape 149"/>
          <p:cNvSpPr txBox="1"/>
          <p:nvPr/>
        </p:nvSpPr>
        <p:spPr>
          <a:xfrm>
            <a:off x="4487862" y="2430461"/>
            <a:ext cx="1150936" cy="31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Impuestos($)</a:t>
            </a:r>
          </a:p>
        </p:txBody>
      </p:sp>
      <p:sp>
        <p:nvSpPr>
          <p:cNvPr id="150" name="Shape 150"/>
          <p:cNvSpPr txBox="1"/>
          <p:nvPr/>
        </p:nvSpPr>
        <p:spPr>
          <a:xfrm>
            <a:off x="2514600" y="2430461"/>
            <a:ext cx="1150936" cy="31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Transferencias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y subsidios ($)</a:t>
            </a:r>
          </a:p>
        </p:txBody>
      </p:sp>
      <p:sp>
        <p:nvSpPr>
          <p:cNvPr id="151" name="Shape 151"/>
          <p:cNvSpPr txBox="1"/>
          <p:nvPr/>
        </p:nvSpPr>
        <p:spPr>
          <a:xfrm>
            <a:off x="457200" y="5705475"/>
            <a:ext cx="8321675" cy="923924"/>
          </a:xfrm>
          <a:prstGeom prst="rect">
            <a:avLst/>
          </a:prstGeom>
          <a:solidFill>
            <a:srgbClr val="FFFF99">
              <a:alpha val="41960"/>
            </a:srgbClr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Producción (Bienes y servicios útiles) ≡ Renta (Y) ≡ Gasto (Consumo + Inversión + Gasto Público)</a:t>
            </a: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Producción = Y = C + I + GP </a:t>
            </a: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 = Y</a:t>
            </a:r>
            <a:r>
              <a:rPr b="1" baseline="-2500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  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+ (T</a:t>
            </a:r>
            <a:r>
              <a:rPr b="1" baseline="-2500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 T</a:t>
            </a:r>
            <a:r>
              <a:rPr b="1" baseline="-2500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C + S + (T</a:t>
            </a:r>
            <a:r>
              <a:rPr b="1" baseline="-2500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 T</a:t>
            </a:r>
            <a:r>
              <a:rPr b="1" baseline="-2500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C + I + GP</a:t>
            </a: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(S – I)+ [(T</a:t>
            </a:r>
            <a:r>
              <a:rPr b="1" baseline="-2500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 T</a:t>
            </a:r>
            <a:r>
              <a:rPr b="1" baseline="-2500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– GP] = 0 (DOS BRECHAS)</a:t>
            </a:r>
          </a:p>
        </p:txBody>
      </p:sp>
      <p:sp>
        <p:nvSpPr>
          <p:cNvPr id="152" name="Shape 152"/>
          <p:cNvSpPr txBox="1"/>
          <p:nvPr/>
        </p:nvSpPr>
        <p:spPr>
          <a:xfrm>
            <a:off x="4487862" y="2811461"/>
            <a:ext cx="1150936" cy="31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Gasto Público ($)</a:t>
            </a:r>
          </a:p>
        </p:txBody>
      </p:sp>
      <p:sp>
        <p:nvSpPr>
          <p:cNvPr id="153" name="Shape 153"/>
          <p:cNvSpPr txBox="1"/>
          <p:nvPr/>
        </p:nvSpPr>
        <p:spPr>
          <a:xfrm>
            <a:off x="2438400" y="2811461"/>
            <a:ext cx="1150936" cy="31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Gasto Público ($)</a:t>
            </a: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Shape 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Shape 1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Shape 160"/>
          <p:cNvSpPr txBox="1"/>
          <p:nvPr/>
        </p:nvSpPr>
        <p:spPr>
          <a:xfrm>
            <a:off x="3344862" y="152400"/>
            <a:ext cx="5570536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MODELO DE TRES SECTORES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BB4F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Shape 161"/>
          <p:cNvSpPr txBox="1"/>
          <p:nvPr/>
        </p:nvSpPr>
        <p:spPr>
          <a:xfrm>
            <a:off x="263525" y="1524000"/>
            <a:ext cx="8610599" cy="5035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Shape 162"/>
          <p:cNvSpPr txBox="1"/>
          <p:nvPr/>
        </p:nvSpPr>
        <p:spPr>
          <a:xfrm>
            <a:off x="263525" y="1492250"/>
            <a:ext cx="8575675" cy="4730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SUPUESTOS DEL MODELO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Economía cerrada.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Existe el estado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 institución.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Recauda con los impuestos (T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Devuelve con los subsidios (T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Gasta con el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Gasto Público (GP)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	(Tx – Tr) – GP &lt;  0 (cero)  DEFICIT FISCAL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(Tx – Tr) – GP &gt;  0 (cero)  SUPERÁVIT FISCAL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(Tx – Tr) – GP = 0 (cero)  EQUILIBRIO FISCAL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rabicPeriod" startAt="3"/>
            </a:pPr>
            <a:r>
              <a:rPr b="0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Propensión marginal al ahorro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distinta a 0 (cero).</a:t>
            </a: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		S – I &lt;  0 (cero)  DEFICIT PRIVADO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	S – I &gt;  0 (cero)  SUPERÁVIT PRIVADO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S - I = 0 (cero)  EQUILIBRIO PRIVADO</a:t>
            </a: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63" name="Shape 163"/>
          <p:cNvSpPr/>
          <p:nvPr/>
        </p:nvSpPr>
        <p:spPr>
          <a:xfrm>
            <a:off x="5715000" y="2743200"/>
            <a:ext cx="152399" cy="53339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4127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Shape 164"/>
          <p:cNvSpPr txBox="1"/>
          <p:nvPr/>
        </p:nvSpPr>
        <p:spPr>
          <a:xfrm>
            <a:off x="5943600" y="2819400"/>
            <a:ext cx="2819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-T</a:t>
            </a:r>
            <a:r>
              <a:rPr b="1" baseline="-2500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AHORRO PÚBLICO</a:t>
            </a:r>
          </a:p>
        </p:txBody>
      </p:sp>
      <p:sp>
        <p:nvSpPr>
          <p:cNvPr id="165" name="Shape 165"/>
          <p:cNvSpPr/>
          <p:nvPr/>
        </p:nvSpPr>
        <p:spPr>
          <a:xfrm>
            <a:off x="6248400" y="3657600"/>
            <a:ext cx="152399" cy="83819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41275">
            <a:solidFill>
              <a:srgbClr val="0033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Shape 166"/>
          <p:cNvSpPr txBox="1"/>
          <p:nvPr/>
        </p:nvSpPr>
        <p:spPr>
          <a:xfrm>
            <a:off x="6324600" y="3810000"/>
            <a:ext cx="2819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BRECHA PÚBLICA</a:t>
            </a:r>
          </a:p>
        </p:txBody>
      </p:sp>
      <p:sp>
        <p:nvSpPr>
          <p:cNvPr id="167" name="Shape 167"/>
          <p:cNvSpPr/>
          <p:nvPr/>
        </p:nvSpPr>
        <p:spPr>
          <a:xfrm>
            <a:off x="6400800" y="4800600"/>
            <a:ext cx="152399" cy="83819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41275">
            <a:solidFill>
              <a:srgbClr val="0033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Shape 168"/>
          <p:cNvSpPr txBox="1"/>
          <p:nvPr/>
        </p:nvSpPr>
        <p:spPr>
          <a:xfrm>
            <a:off x="6324600" y="5029200"/>
            <a:ext cx="2819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BRECHA PRIVADA</a:t>
            </a: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 txBox="1"/>
          <p:nvPr/>
        </p:nvSpPr>
        <p:spPr>
          <a:xfrm>
            <a:off x="152400" y="1123950"/>
            <a:ext cx="8529637" cy="4591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   =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baseline="-2500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+ (T</a:t>
            </a:r>
            <a:r>
              <a:rPr b="1" baseline="-2500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- T</a:t>
            </a:r>
            <a:r>
              <a:rPr b="1" baseline="-2500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Constante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baseline="-2500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Y - (T</a:t>
            </a:r>
            <a:r>
              <a:rPr b="1" baseline="-2500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– T</a:t>
            </a:r>
            <a:r>
              <a:rPr b="1" baseline="-2500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=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Constante</a:t>
            </a: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 = C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baseline="-2500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 (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 – (T</a:t>
            </a:r>
            <a:r>
              <a:rPr b="1" baseline="-2500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– T</a:t>
            </a:r>
            <a:r>
              <a:rPr b="1" baseline="-2500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 = [C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– P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T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X0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 P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T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r>
              <a:rPr b="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+ P</a:t>
            </a:r>
            <a:r>
              <a:rPr b="1" baseline="-2500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* Y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 =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baseline="-2500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Constante</a:t>
            </a: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GP =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GP</a:t>
            </a:r>
            <a:r>
              <a:rPr b="1" baseline="-2500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Constante</a:t>
            </a: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			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 = C + I + GP</a:t>
            </a: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 =[C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 P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T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T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r>
              <a:rPr b="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+ P</a:t>
            </a:r>
            <a:r>
              <a:rPr b="1" baseline="-2500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* Y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baseline="-2500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GP</a:t>
            </a:r>
            <a:r>
              <a:rPr b="1" baseline="-2500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 (1 – P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 = </a:t>
            </a: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baseline="-2500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I</a:t>
            </a:r>
            <a:r>
              <a:rPr b="1" baseline="-2500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GP</a:t>
            </a:r>
            <a:r>
              <a:rPr b="1" baseline="-2500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– P</a:t>
            </a:r>
            <a:r>
              <a:rPr b="1" baseline="-2500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* T</a:t>
            </a:r>
            <a:r>
              <a:rPr b="1" baseline="-2500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– P</a:t>
            </a:r>
            <a:r>
              <a:rPr b="1" baseline="-2500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* T</a:t>
            </a:r>
            <a:r>
              <a:rPr b="1" baseline="-2500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GASTO AUTÓNOMO</a:t>
            </a: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{1/(1 – P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)} =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MULTIPLICADOR</a:t>
            </a: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 =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MULTIPLICADOR * GASTO AUTONOMO</a:t>
            </a:r>
          </a:p>
        </p:txBody>
      </p:sp>
      <p:pic>
        <p:nvPicPr>
          <p:cNvPr id="174" name="Shape 1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76200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Shape 1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87" y="76200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Shape 176"/>
          <p:cNvSpPr txBox="1"/>
          <p:nvPr/>
        </p:nvSpPr>
        <p:spPr>
          <a:xfrm>
            <a:off x="3271836" y="76200"/>
            <a:ext cx="51895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MODELO DE TRES SECTORES</a:t>
            </a:r>
          </a:p>
        </p:txBody>
      </p:sp>
      <p:sp>
        <p:nvSpPr>
          <p:cNvPr id="177" name="Shape 177"/>
          <p:cNvSpPr txBox="1"/>
          <p:nvPr/>
        </p:nvSpPr>
        <p:spPr>
          <a:xfrm>
            <a:off x="263525" y="1524000"/>
            <a:ext cx="8610599" cy="5035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Shape 178"/>
          <p:cNvSpPr/>
          <p:nvPr/>
        </p:nvSpPr>
        <p:spPr>
          <a:xfrm rot="10800000">
            <a:off x="2514600" y="1219199"/>
            <a:ext cx="152399" cy="9144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008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Shape 1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Shape 1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1471612"/>
            <a:ext cx="8915400" cy="528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Shape 1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Shape 186"/>
          <p:cNvSpPr txBox="1"/>
          <p:nvPr/>
        </p:nvSpPr>
        <p:spPr>
          <a:xfrm>
            <a:off x="3910012" y="304800"/>
            <a:ext cx="4548187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MODELO DE CUATRO SECTORES</a:t>
            </a:r>
          </a:p>
        </p:txBody>
      </p:sp>
      <p:sp>
        <p:nvSpPr>
          <p:cNvPr id="187" name="Shape 187"/>
          <p:cNvSpPr txBox="1"/>
          <p:nvPr/>
        </p:nvSpPr>
        <p:spPr>
          <a:xfrm>
            <a:off x="263525" y="1524000"/>
            <a:ext cx="8610599" cy="5035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Shape 188"/>
          <p:cNvSpPr txBox="1"/>
          <p:nvPr/>
        </p:nvSpPr>
        <p:spPr>
          <a:xfrm>
            <a:off x="2743200" y="3038475"/>
            <a:ext cx="1295400" cy="771524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SECTOR DEL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ESTADO</a:t>
            </a:r>
          </a:p>
        </p:txBody>
      </p:sp>
      <p:sp>
        <p:nvSpPr>
          <p:cNvPr id="189" name="Shape 189"/>
          <p:cNvSpPr txBox="1"/>
          <p:nvPr/>
        </p:nvSpPr>
        <p:spPr>
          <a:xfrm>
            <a:off x="4876800" y="3048000"/>
            <a:ext cx="1600199" cy="7620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SECTOR DE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LOS NEGOCIOS</a:t>
            </a:r>
          </a:p>
        </p:txBody>
      </p:sp>
      <p:sp>
        <p:nvSpPr>
          <p:cNvPr id="190" name="Shape 190"/>
          <p:cNvSpPr/>
          <p:nvPr/>
        </p:nvSpPr>
        <p:spPr>
          <a:xfrm>
            <a:off x="561975" y="1495425"/>
            <a:ext cx="5770562" cy="1552575"/>
          </a:xfrm>
          <a:custGeom>
            <a:pathLst>
              <a:path extrusionOk="0" h="120000" w="120000">
                <a:moveTo>
                  <a:pt x="1188" y="120000"/>
                </a:moveTo>
                <a:cubicBezTo>
                  <a:pt x="1122" y="113374"/>
                  <a:pt x="594" y="94846"/>
                  <a:pt x="792" y="80245"/>
                </a:cubicBezTo>
                <a:cubicBezTo>
                  <a:pt x="990" y="65644"/>
                  <a:pt x="0" y="44785"/>
                  <a:pt x="2376" y="32392"/>
                </a:cubicBezTo>
                <a:cubicBezTo>
                  <a:pt x="4753" y="20000"/>
                  <a:pt x="7823" y="11165"/>
                  <a:pt x="15053" y="5889"/>
                </a:cubicBezTo>
                <a:cubicBezTo>
                  <a:pt x="22283" y="613"/>
                  <a:pt x="31328" y="1472"/>
                  <a:pt x="45755" y="736"/>
                </a:cubicBezTo>
                <a:cubicBezTo>
                  <a:pt x="60181" y="0"/>
                  <a:pt x="90123" y="122"/>
                  <a:pt x="101612" y="1472"/>
                </a:cubicBezTo>
                <a:cubicBezTo>
                  <a:pt x="113100" y="2822"/>
                  <a:pt x="111812" y="4662"/>
                  <a:pt x="114685" y="8834"/>
                </a:cubicBezTo>
                <a:cubicBezTo>
                  <a:pt x="117557" y="13006"/>
                  <a:pt x="117986" y="19386"/>
                  <a:pt x="118844" y="26503"/>
                </a:cubicBezTo>
                <a:cubicBezTo>
                  <a:pt x="119702" y="33619"/>
                  <a:pt x="119669" y="36073"/>
                  <a:pt x="119834" y="51533"/>
                </a:cubicBezTo>
                <a:cubicBezTo>
                  <a:pt x="120000" y="66993"/>
                  <a:pt x="119834" y="105153"/>
                  <a:pt x="119834" y="119263"/>
                </a:cubicBezTo>
              </a:path>
            </a:pathLst>
          </a:custGeom>
          <a:noFill/>
          <a:ln cap="flat" cmpd="sng" w="4127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Shape 191"/>
          <p:cNvSpPr/>
          <p:nvPr/>
        </p:nvSpPr>
        <p:spPr>
          <a:xfrm>
            <a:off x="1439862" y="3819525"/>
            <a:ext cx="4217986" cy="381000"/>
          </a:xfrm>
          <a:custGeom>
            <a:pathLst>
              <a:path extrusionOk="0" h="120000" w="120000">
                <a:moveTo>
                  <a:pt x="119388" y="0"/>
                </a:moveTo>
                <a:cubicBezTo>
                  <a:pt x="118981" y="14210"/>
                  <a:pt x="120000" y="68421"/>
                  <a:pt x="116943" y="85263"/>
                </a:cubicBezTo>
                <a:cubicBezTo>
                  <a:pt x="113887" y="102105"/>
                  <a:pt x="106502" y="97894"/>
                  <a:pt x="101052" y="101052"/>
                </a:cubicBezTo>
                <a:cubicBezTo>
                  <a:pt x="95602" y="104210"/>
                  <a:pt x="90560" y="102631"/>
                  <a:pt x="84244" y="104210"/>
                </a:cubicBezTo>
                <a:cubicBezTo>
                  <a:pt x="77928" y="105789"/>
                  <a:pt x="71103" y="108947"/>
                  <a:pt x="63157" y="110526"/>
                </a:cubicBezTo>
                <a:cubicBezTo>
                  <a:pt x="55212" y="112105"/>
                  <a:pt x="46146" y="115263"/>
                  <a:pt x="36570" y="113684"/>
                </a:cubicBezTo>
                <a:cubicBezTo>
                  <a:pt x="26994" y="112105"/>
                  <a:pt x="11409" y="119999"/>
                  <a:pt x="5704" y="101052"/>
                </a:cubicBezTo>
                <a:cubicBezTo>
                  <a:pt x="0" y="82105"/>
                  <a:pt x="3056" y="21052"/>
                  <a:pt x="2342" y="0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Shape 192"/>
          <p:cNvSpPr/>
          <p:nvPr/>
        </p:nvSpPr>
        <p:spPr>
          <a:xfrm>
            <a:off x="942975" y="1727200"/>
            <a:ext cx="5029199" cy="1347786"/>
          </a:xfrm>
          <a:custGeom>
            <a:pathLst>
              <a:path extrusionOk="0" h="120000" w="120000">
                <a:moveTo>
                  <a:pt x="0" y="118445"/>
                </a:moveTo>
                <a:cubicBezTo>
                  <a:pt x="227" y="111095"/>
                  <a:pt x="530" y="89469"/>
                  <a:pt x="1363" y="74346"/>
                </a:cubicBezTo>
                <a:cubicBezTo>
                  <a:pt x="2196" y="59222"/>
                  <a:pt x="2803" y="39434"/>
                  <a:pt x="5000" y="27703"/>
                </a:cubicBezTo>
                <a:cubicBezTo>
                  <a:pt x="7196" y="15971"/>
                  <a:pt x="9090" y="7915"/>
                  <a:pt x="14545" y="3957"/>
                </a:cubicBezTo>
                <a:cubicBezTo>
                  <a:pt x="20000" y="0"/>
                  <a:pt x="24962" y="3957"/>
                  <a:pt x="37765" y="3957"/>
                </a:cubicBezTo>
                <a:cubicBezTo>
                  <a:pt x="50568" y="3957"/>
                  <a:pt x="79128" y="3674"/>
                  <a:pt x="91477" y="3957"/>
                </a:cubicBezTo>
                <a:cubicBezTo>
                  <a:pt x="103825" y="4240"/>
                  <a:pt x="107575" y="4240"/>
                  <a:pt x="111893" y="5512"/>
                </a:cubicBezTo>
                <a:cubicBezTo>
                  <a:pt x="116212" y="6784"/>
                  <a:pt x="116060" y="6784"/>
                  <a:pt x="117348" y="11448"/>
                </a:cubicBezTo>
                <a:cubicBezTo>
                  <a:pt x="118636" y="16113"/>
                  <a:pt x="119242" y="15406"/>
                  <a:pt x="119621" y="33498"/>
                </a:cubicBezTo>
                <a:cubicBezTo>
                  <a:pt x="119999" y="51590"/>
                  <a:pt x="119621" y="102049"/>
                  <a:pt x="119621" y="120000"/>
                </a:cubicBezTo>
              </a:path>
            </a:pathLst>
          </a:custGeom>
          <a:noFill/>
          <a:ln cap="flat" cmpd="sng" w="4127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Shape 193"/>
          <p:cNvSpPr/>
          <p:nvPr/>
        </p:nvSpPr>
        <p:spPr>
          <a:xfrm>
            <a:off x="1201737" y="3790950"/>
            <a:ext cx="4824412" cy="668337"/>
          </a:xfrm>
          <a:custGeom>
            <a:pathLst>
              <a:path extrusionOk="0" h="120000" w="120000">
                <a:moveTo>
                  <a:pt x="119447" y="0"/>
                </a:moveTo>
                <a:cubicBezTo>
                  <a:pt x="119328" y="11971"/>
                  <a:pt x="120000" y="54726"/>
                  <a:pt x="118657" y="71828"/>
                </a:cubicBezTo>
                <a:cubicBezTo>
                  <a:pt x="117314" y="88931"/>
                  <a:pt x="115656" y="95771"/>
                  <a:pt x="111312" y="102612"/>
                </a:cubicBezTo>
                <a:cubicBezTo>
                  <a:pt x="106969" y="109453"/>
                  <a:pt x="100177" y="110878"/>
                  <a:pt x="92596" y="112874"/>
                </a:cubicBezTo>
                <a:cubicBezTo>
                  <a:pt x="85014" y="114869"/>
                  <a:pt x="74945" y="113729"/>
                  <a:pt x="65824" y="114584"/>
                </a:cubicBezTo>
                <a:cubicBezTo>
                  <a:pt x="56702" y="115439"/>
                  <a:pt x="47265" y="117719"/>
                  <a:pt x="37946" y="118004"/>
                </a:cubicBezTo>
                <a:cubicBezTo>
                  <a:pt x="28627" y="118289"/>
                  <a:pt x="15952" y="120000"/>
                  <a:pt x="9911" y="116294"/>
                </a:cubicBezTo>
                <a:cubicBezTo>
                  <a:pt x="3869" y="112589"/>
                  <a:pt x="3237" y="114584"/>
                  <a:pt x="1618" y="95771"/>
                </a:cubicBezTo>
                <a:cubicBezTo>
                  <a:pt x="0" y="76959"/>
                  <a:pt x="473" y="22517"/>
                  <a:pt x="197" y="3420"/>
                </a:cubicBezTo>
              </a:path>
            </a:pathLst>
          </a:custGeom>
          <a:noFill/>
          <a:ln cap="flat" cmpd="sng" w="4127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Shape 194"/>
          <p:cNvSpPr txBox="1"/>
          <p:nvPr/>
        </p:nvSpPr>
        <p:spPr>
          <a:xfrm>
            <a:off x="4622800" y="1219200"/>
            <a:ext cx="3225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Aporte de factores productivos (B/S)</a:t>
            </a:r>
          </a:p>
        </p:txBody>
      </p:sp>
      <p:sp>
        <p:nvSpPr>
          <p:cNvPr id="195" name="Shape 195"/>
          <p:cNvSpPr txBox="1"/>
          <p:nvPr/>
        </p:nvSpPr>
        <p:spPr>
          <a:xfrm>
            <a:off x="2571750" y="3810000"/>
            <a:ext cx="2533650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Bienes y   servicios útiles</a:t>
            </a:r>
          </a:p>
        </p:txBody>
      </p:sp>
      <p:sp>
        <p:nvSpPr>
          <p:cNvPr id="196" name="Shape 196"/>
          <p:cNvSpPr txBox="1"/>
          <p:nvPr/>
        </p:nvSpPr>
        <p:spPr>
          <a:xfrm>
            <a:off x="3176586" y="1524000"/>
            <a:ext cx="2919411" cy="279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Renta a los factores productivos ($)</a:t>
            </a:r>
          </a:p>
        </p:txBody>
      </p:sp>
      <p:sp>
        <p:nvSpPr>
          <p:cNvPr id="197" name="Shape 197"/>
          <p:cNvSpPr txBox="1"/>
          <p:nvPr/>
        </p:nvSpPr>
        <p:spPr>
          <a:xfrm>
            <a:off x="3573462" y="4343400"/>
            <a:ext cx="1150936" cy="31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Consumo ($)</a:t>
            </a:r>
          </a:p>
        </p:txBody>
      </p:sp>
      <p:sp>
        <p:nvSpPr>
          <p:cNvPr id="198" name="Shape 198"/>
          <p:cNvSpPr txBox="1"/>
          <p:nvPr/>
        </p:nvSpPr>
        <p:spPr>
          <a:xfrm>
            <a:off x="6019800" y="27432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</a:p>
        </p:txBody>
      </p:sp>
      <p:sp>
        <p:nvSpPr>
          <p:cNvPr id="199" name="Shape 199"/>
          <p:cNvSpPr txBox="1"/>
          <p:nvPr/>
        </p:nvSpPr>
        <p:spPr>
          <a:xfrm>
            <a:off x="990600" y="2751136"/>
            <a:ext cx="381000" cy="296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</a:p>
        </p:txBody>
      </p:sp>
      <p:sp>
        <p:nvSpPr>
          <p:cNvPr id="200" name="Shape 200"/>
          <p:cNvSpPr txBox="1"/>
          <p:nvPr/>
        </p:nvSpPr>
        <p:spPr>
          <a:xfrm>
            <a:off x="3810000" y="41148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</a:p>
        </p:txBody>
      </p:sp>
      <p:sp>
        <p:nvSpPr>
          <p:cNvPr id="201" name="Shape 201"/>
          <p:cNvSpPr txBox="1"/>
          <p:nvPr/>
        </p:nvSpPr>
        <p:spPr>
          <a:xfrm>
            <a:off x="3048000" y="4800600"/>
            <a:ext cx="1295400" cy="685799"/>
          </a:xfrm>
          <a:prstGeom prst="rect">
            <a:avLst/>
          </a:prstGeom>
          <a:solidFill>
            <a:srgbClr val="FF6600">
              <a:alpha val="39607"/>
            </a:srgbClr>
          </a:solidFill>
          <a:ln cap="flat" cmpd="sng" w="38100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FINANCIERO</a:t>
            </a:r>
          </a:p>
        </p:txBody>
      </p:sp>
      <p:sp>
        <p:nvSpPr>
          <p:cNvPr id="202" name="Shape 202"/>
          <p:cNvSpPr/>
          <p:nvPr/>
        </p:nvSpPr>
        <p:spPr>
          <a:xfrm>
            <a:off x="1228725" y="4200525"/>
            <a:ext cx="1793874" cy="777875"/>
          </a:xfrm>
          <a:custGeom>
            <a:pathLst>
              <a:path extrusionOk="0" h="120000" w="120000">
                <a:moveTo>
                  <a:pt x="120000" y="117306"/>
                </a:moveTo>
                <a:cubicBezTo>
                  <a:pt x="110548" y="117551"/>
                  <a:pt x="77097" y="119020"/>
                  <a:pt x="62867" y="119020"/>
                </a:cubicBezTo>
                <a:cubicBezTo>
                  <a:pt x="48530" y="119020"/>
                  <a:pt x="42159" y="120000"/>
                  <a:pt x="34088" y="117551"/>
                </a:cubicBezTo>
                <a:cubicBezTo>
                  <a:pt x="26017" y="115102"/>
                  <a:pt x="19433" y="112408"/>
                  <a:pt x="14442" y="104326"/>
                </a:cubicBezTo>
                <a:cubicBezTo>
                  <a:pt x="9451" y="96244"/>
                  <a:pt x="6265" y="86448"/>
                  <a:pt x="3823" y="69061"/>
                </a:cubicBezTo>
                <a:cubicBezTo>
                  <a:pt x="1380" y="51673"/>
                  <a:pt x="849" y="14448"/>
                  <a:pt x="0" y="0"/>
                </a:cubicBezTo>
              </a:path>
            </a:pathLst>
          </a:custGeom>
          <a:noFill/>
          <a:ln cap="flat" cmpd="sng" w="4127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Shape 203"/>
          <p:cNvSpPr txBox="1"/>
          <p:nvPr/>
        </p:nvSpPr>
        <p:spPr>
          <a:xfrm>
            <a:off x="1828800" y="46482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</a:p>
        </p:txBody>
      </p:sp>
      <p:sp>
        <p:nvSpPr>
          <p:cNvPr id="204" name="Shape 204"/>
          <p:cNvSpPr/>
          <p:nvPr/>
        </p:nvSpPr>
        <p:spPr>
          <a:xfrm>
            <a:off x="4343400" y="3798887"/>
            <a:ext cx="1871662" cy="1154111"/>
          </a:xfrm>
          <a:custGeom>
            <a:pathLst>
              <a:path extrusionOk="0" h="120000" w="120000">
                <a:moveTo>
                  <a:pt x="118269" y="0"/>
                </a:moveTo>
                <a:cubicBezTo>
                  <a:pt x="117659" y="12709"/>
                  <a:pt x="120000" y="57441"/>
                  <a:pt x="114503" y="76258"/>
                </a:cubicBezTo>
                <a:cubicBezTo>
                  <a:pt x="109007" y="95075"/>
                  <a:pt x="104325" y="105804"/>
                  <a:pt x="85190" y="112902"/>
                </a:cubicBezTo>
                <a:cubicBezTo>
                  <a:pt x="66055" y="120000"/>
                  <a:pt x="17709" y="117689"/>
                  <a:pt x="0" y="118844"/>
                </a:cubicBezTo>
              </a:path>
            </a:pathLst>
          </a:custGeom>
          <a:noFill/>
          <a:ln cap="flat" cmpd="sng" w="4127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Shape 205"/>
          <p:cNvSpPr txBox="1"/>
          <p:nvPr/>
        </p:nvSpPr>
        <p:spPr>
          <a:xfrm>
            <a:off x="4343400" y="45720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</a:p>
        </p:txBody>
      </p:sp>
      <p:sp>
        <p:nvSpPr>
          <p:cNvPr id="206" name="Shape 206"/>
          <p:cNvSpPr txBox="1"/>
          <p:nvPr/>
        </p:nvSpPr>
        <p:spPr>
          <a:xfrm>
            <a:off x="533400" y="3048000"/>
            <a:ext cx="1592262" cy="7620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SECTOR DE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CONSUMIDORES</a:t>
            </a:r>
          </a:p>
        </p:txBody>
      </p:sp>
      <p:sp>
        <p:nvSpPr>
          <p:cNvPr id="207" name="Shape 207"/>
          <p:cNvSpPr/>
          <p:nvPr/>
        </p:nvSpPr>
        <p:spPr>
          <a:xfrm>
            <a:off x="3429000" y="1771650"/>
            <a:ext cx="1150936" cy="1276349"/>
          </a:xfrm>
          <a:custGeom>
            <a:pathLst>
              <a:path extrusionOk="0" h="120000" w="120000">
                <a:moveTo>
                  <a:pt x="119999" y="0"/>
                </a:moveTo>
                <a:lnTo>
                  <a:pt x="89210" y="8181"/>
                </a:lnTo>
                <a:lnTo>
                  <a:pt x="53684" y="26363"/>
                </a:lnTo>
                <a:lnTo>
                  <a:pt x="23684" y="56363"/>
                </a:lnTo>
                <a:lnTo>
                  <a:pt x="9473" y="87272"/>
                </a:lnTo>
                <a:lnTo>
                  <a:pt x="0" y="119999"/>
                </a:lnTo>
              </a:path>
            </a:pathLst>
          </a:custGeom>
          <a:noFill/>
          <a:ln cap="flat" cmpd="sng" w="41275">
            <a:solidFill>
              <a:srgbClr val="FF0000"/>
            </a:solidFill>
            <a:prstDash val="solid"/>
            <a:miter/>
            <a:headEnd len="med" w="med" type="none"/>
            <a:tailEnd len="lg" w="lg" type="stealth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Shape 208"/>
          <p:cNvCxnSpPr/>
          <p:nvPr/>
        </p:nvCxnSpPr>
        <p:spPr>
          <a:xfrm flipH="1" rot="10800000">
            <a:off x="4038600" y="3190875"/>
            <a:ext cx="838199" cy="9524"/>
          </a:xfrm>
          <a:prstGeom prst="straightConnector1">
            <a:avLst/>
          </a:prstGeom>
          <a:noFill/>
          <a:ln cap="flat" cmpd="sng" w="41275">
            <a:solidFill>
              <a:srgbClr val="FF0000"/>
            </a:solidFill>
            <a:prstDash val="solid"/>
            <a:miter/>
            <a:headEnd len="med" w="med" type="none"/>
            <a:tailEnd len="lg" w="lg" type="stealth"/>
          </a:ln>
        </p:spPr>
      </p:cxnSp>
      <p:cxnSp>
        <p:nvCxnSpPr>
          <p:cNvPr id="209" name="Shape 209"/>
          <p:cNvCxnSpPr/>
          <p:nvPr/>
        </p:nvCxnSpPr>
        <p:spPr>
          <a:xfrm flipH="1">
            <a:off x="2133599" y="3724275"/>
            <a:ext cx="617537" cy="9524"/>
          </a:xfrm>
          <a:prstGeom prst="straightConnector1">
            <a:avLst/>
          </a:prstGeom>
          <a:noFill/>
          <a:ln cap="flat" cmpd="sng" w="41275">
            <a:solidFill>
              <a:srgbClr val="FF0000"/>
            </a:solidFill>
            <a:prstDash val="solid"/>
            <a:miter/>
            <a:headEnd len="med" w="med" type="none"/>
            <a:tailEnd len="lg" w="lg" type="stealth"/>
          </a:ln>
        </p:spPr>
      </p:cxnSp>
      <p:sp>
        <p:nvSpPr>
          <p:cNvPr id="210" name="Shape 210"/>
          <p:cNvSpPr/>
          <p:nvPr/>
        </p:nvSpPr>
        <p:spPr>
          <a:xfrm>
            <a:off x="3600450" y="3819525"/>
            <a:ext cx="74611" cy="381000"/>
          </a:xfrm>
          <a:custGeom>
            <a:pathLst>
              <a:path extrusionOk="0" h="120000" w="120000">
                <a:moveTo>
                  <a:pt x="120000" y="119999"/>
                </a:moveTo>
                <a:lnTo>
                  <a:pt x="0" y="0"/>
                </a:lnTo>
              </a:path>
            </a:pathLst>
          </a:custGeom>
          <a:noFill/>
          <a:ln cap="flat" cmpd="sng" w="4127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Shape 211"/>
          <p:cNvCxnSpPr/>
          <p:nvPr/>
        </p:nvCxnSpPr>
        <p:spPr>
          <a:xfrm>
            <a:off x="2133600" y="3276600"/>
            <a:ext cx="617537" cy="0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/>
            <a:headEnd len="med" w="med" type="none"/>
            <a:tailEnd len="lg" w="lg" type="stealth"/>
          </a:ln>
        </p:spPr>
      </p:cxnSp>
      <p:sp>
        <p:nvSpPr>
          <p:cNvPr id="212" name="Shape 212"/>
          <p:cNvSpPr txBox="1"/>
          <p:nvPr/>
        </p:nvSpPr>
        <p:spPr>
          <a:xfrm>
            <a:off x="1439862" y="4876800"/>
            <a:ext cx="1150936" cy="31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Ahorro ($)</a:t>
            </a:r>
          </a:p>
        </p:txBody>
      </p:sp>
      <p:sp>
        <p:nvSpPr>
          <p:cNvPr id="213" name="Shape 213"/>
          <p:cNvSpPr txBox="1"/>
          <p:nvPr/>
        </p:nvSpPr>
        <p:spPr>
          <a:xfrm>
            <a:off x="4191000" y="4876800"/>
            <a:ext cx="1150936" cy="31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Inversión ($)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3581400" y="18288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</a:p>
        </p:txBody>
      </p:sp>
      <p:sp>
        <p:nvSpPr>
          <p:cNvPr id="215" name="Shape 215"/>
          <p:cNvSpPr txBox="1"/>
          <p:nvPr/>
        </p:nvSpPr>
        <p:spPr>
          <a:xfrm>
            <a:off x="2895600" y="19050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</a:p>
        </p:txBody>
      </p:sp>
      <p:sp>
        <p:nvSpPr>
          <p:cNvPr id="216" name="Shape 216"/>
          <p:cNvSpPr txBox="1"/>
          <p:nvPr/>
        </p:nvSpPr>
        <p:spPr>
          <a:xfrm>
            <a:off x="4114800" y="28194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GP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2438400" y="33528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GP</a:t>
            </a:r>
          </a:p>
        </p:txBody>
      </p:sp>
      <p:sp>
        <p:nvSpPr>
          <p:cNvPr id="218" name="Shape 218"/>
          <p:cNvSpPr txBox="1"/>
          <p:nvPr/>
        </p:nvSpPr>
        <p:spPr>
          <a:xfrm>
            <a:off x="5257800" y="37338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B/S</a:t>
            </a:r>
          </a:p>
        </p:txBody>
      </p:sp>
      <p:sp>
        <p:nvSpPr>
          <p:cNvPr id="219" name="Shape 219"/>
          <p:cNvSpPr txBox="1"/>
          <p:nvPr/>
        </p:nvSpPr>
        <p:spPr>
          <a:xfrm>
            <a:off x="2209800" y="28956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B/S 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7467600" y="3048000"/>
            <a:ext cx="1406525" cy="771524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SECTOR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EXTERNO</a:t>
            </a:r>
          </a:p>
        </p:txBody>
      </p:sp>
      <p:cxnSp>
        <p:nvCxnSpPr>
          <p:cNvPr id="221" name="Shape 221"/>
          <p:cNvCxnSpPr/>
          <p:nvPr/>
        </p:nvCxnSpPr>
        <p:spPr>
          <a:xfrm>
            <a:off x="6477000" y="3200400"/>
            <a:ext cx="990599" cy="0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/>
            <a:headEnd len="med" w="med" type="none"/>
            <a:tailEnd len="lg" w="lg" type="stealth"/>
          </a:ln>
        </p:spPr>
      </p:cxnSp>
      <p:cxnSp>
        <p:nvCxnSpPr>
          <p:cNvPr id="222" name="Shape 222"/>
          <p:cNvCxnSpPr/>
          <p:nvPr/>
        </p:nvCxnSpPr>
        <p:spPr>
          <a:xfrm rot="10800000">
            <a:off x="6477000" y="3733800"/>
            <a:ext cx="990599" cy="0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/>
            <a:headEnd len="med" w="med" type="none"/>
            <a:tailEnd len="lg" w="lg" type="stealth"/>
          </a:ln>
        </p:spPr>
      </p:cxnSp>
      <p:sp>
        <p:nvSpPr>
          <p:cNvPr id="223" name="Shape 223"/>
          <p:cNvSpPr txBox="1"/>
          <p:nvPr/>
        </p:nvSpPr>
        <p:spPr>
          <a:xfrm>
            <a:off x="6629400" y="2667000"/>
            <a:ext cx="533399" cy="533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(B/S) X</a:t>
            </a:r>
          </a:p>
        </p:txBody>
      </p:sp>
      <p:sp>
        <p:nvSpPr>
          <p:cNvPr id="224" name="Shape 224"/>
          <p:cNvSpPr/>
          <p:nvPr/>
        </p:nvSpPr>
        <p:spPr>
          <a:xfrm>
            <a:off x="4343400" y="3819525"/>
            <a:ext cx="4114800" cy="1590674"/>
          </a:xfrm>
          <a:custGeom>
            <a:pathLst>
              <a:path extrusionOk="0" h="120000" w="120000">
                <a:moveTo>
                  <a:pt x="118269" y="0"/>
                </a:moveTo>
                <a:cubicBezTo>
                  <a:pt x="117659" y="12709"/>
                  <a:pt x="120000" y="57441"/>
                  <a:pt x="114503" y="76258"/>
                </a:cubicBezTo>
                <a:cubicBezTo>
                  <a:pt x="109007" y="95075"/>
                  <a:pt x="104325" y="105804"/>
                  <a:pt x="85190" y="112902"/>
                </a:cubicBezTo>
                <a:cubicBezTo>
                  <a:pt x="66055" y="120000"/>
                  <a:pt x="17709" y="117689"/>
                  <a:pt x="0" y="118844"/>
                </a:cubicBezTo>
              </a:path>
            </a:pathLst>
          </a:custGeom>
          <a:noFill/>
          <a:ln cap="flat" cmpd="sng" w="41275">
            <a:solidFill>
              <a:srgbClr val="FF00FF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Shape 225"/>
          <p:cNvSpPr/>
          <p:nvPr/>
        </p:nvSpPr>
        <p:spPr>
          <a:xfrm>
            <a:off x="4343400" y="3810000"/>
            <a:ext cx="3733800" cy="1379536"/>
          </a:xfrm>
          <a:custGeom>
            <a:pathLst>
              <a:path extrusionOk="0" h="120000" w="120000">
                <a:moveTo>
                  <a:pt x="118269" y="0"/>
                </a:moveTo>
                <a:cubicBezTo>
                  <a:pt x="117659" y="12709"/>
                  <a:pt x="120000" y="57441"/>
                  <a:pt x="114503" y="76258"/>
                </a:cubicBezTo>
                <a:cubicBezTo>
                  <a:pt x="109007" y="95075"/>
                  <a:pt x="104325" y="105804"/>
                  <a:pt x="85190" y="112902"/>
                </a:cubicBezTo>
                <a:cubicBezTo>
                  <a:pt x="66055" y="120000"/>
                  <a:pt x="17709" y="117689"/>
                  <a:pt x="0" y="118844"/>
                </a:cubicBezTo>
              </a:path>
            </a:pathLst>
          </a:custGeom>
          <a:noFill/>
          <a:ln cap="flat" cmpd="sng" w="41275">
            <a:solidFill>
              <a:srgbClr val="FF00FF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Shape 226"/>
          <p:cNvCxnSpPr/>
          <p:nvPr/>
        </p:nvCxnSpPr>
        <p:spPr>
          <a:xfrm rot="10800000">
            <a:off x="3609975" y="4459286"/>
            <a:ext cx="0" cy="341311"/>
          </a:xfrm>
          <a:prstGeom prst="straightConnector1">
            <a:avLst/>
          </a:prstGeom>
          <a:noFill/>
          <a:ln cap="flat" cmpd="sng" w="41275">
            <a:solidFill>
              <a:srgbClr val="FF0000"/>
            </a:solidFill>
            <a:prstDash val="solid"/>
            <a:miter/>
            <a:headEnd len="med" w="med" type="none"/>
            <a:tailEnd len="lg" w="lg" type="stealth"/>
          </a:ln>
        </p:spPr>
      </p:cxnSp>
      <p:sp>
        <p:nvSpPr>
          <p:cNvPr id="227" name="Shape 227"/>
          <p:cNvSpPr/>
          <p:nvPr/>
        </p:nvSpPr>
        <p:spPr>
          <a:xfrm>
            <a:off x="6400800" y="1524000"/>
            <a:ext cx="2286000" cy="1524000"/>
          </a:xfrm>
          <a:custGeom>
            <a:pathLst>
              <a:path extrusionOk="0" h="120000" w="120000">
                <a:moveTo>
                  <a:pt x="120000" y="119263"/>
                </a:moveTo>
                <a:cubicBezTo>
                  <a:pt x="119837" y="110674"/>
                  <a:pt x="119837" y="83067"/>
                  <a:pt x="119024" y="67730"/>
                </a:cubicBezTo>
                <a:cubicBezTo>
                  <a:pt x="118211" y="52392"/>
                  <a:pt x="118211" y="37791"/>
                  <a:pt x="115121" y="27239"/>
                </a:cubicBezTo>
                <a:cubicBezTo>
                  <a:pt x="112032" y="16687"/>
                  <a:pt x="109918" y="8834"/>
                  <a:pt x="100487" y="4417"/>
                </a:cubicBezTo>
                <a:cubicBezTo>
                  <a:pt x="91056" y="0"/>
                  <a:pt x="72357" y="613"/>
                  <a:pt x="58536" y="736"/>
                </a:cubicBezTo>
                <a:cubicBezTo>
                  <a:pt x="44715" y="858"/>
                  <a:pt x="26747" y="736"/>
                  <a:pt x="17560" y="5153"/>
                </a:cubicBezTo>
                <a:cubicBezTo>
                  <a:pt x="8373" y="9570"/>
                  <a:pt x="6260" y="18404"/>
                  <a:pt x="3414" y="27239"/>
                </a:cubicBezTo>
                <a:cubicBezTo>
                  <a:pt x="569" y="36073"/>
                  <a:pt x="975" y="45644"/>
                  <a:pt x="487" y="58159"/>
                </a:cubicBezTo>
                <a:cubicBezTo>
                  <a:pt x="0" y="70674"/>
                  <a:pt x="487" y="92024"/>
                  <a:pt x="487" y="102331"/>
                </a:cubicBezTo>
                <a:cubicBezTo>
                  <a:pt x="487" y="112638"/>
                  <a:pt x="487" y="119018"/>
                  <a:pt x="487" y="120000"/>
                </a:cubicBezTo>
              </a:path>
            </a:pathLst>
          </a:custGeom>
          <a:noFill/>
          <a:ln cap="flat" cmpd="sng" w="4127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Shape 228"/>
          <p:cNvSpPr txBox="1"/>
          <p:nvPr/>
        </p:nvSpPr>
        <p:spPr>
          <a:xfrm>
            <a:off x="6705600" y="3352800"/>
            <a:ext cx="457200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(B/S) M</a:t>
            </a:r>
          </a:p>
        </p:txBody>
      </p:sp>
      <p:sp>
        <p:nvSpPr>
          <p:cNvPr id="229" name="Shape 229"/>
          <p:cNvSpPr/>
          <p:nvPr/>
        </p:nvSpPr>
        <p:spPr>
          <a:xfrm>
            <a:off x="2182811" y="1793875"/>
            <a:ext cx="1017587" cy="1235074"/>
          </a:xfrm>
          <a:custGeom>
            <a:pathLst>
              <a:path extrusionOk="0" h="120000" w="120000">
                <a:moveTo>
                  <a:pt x="120000" y="120000"/>
                </a:moveTo>
                <a:lnTo>
                  <a:pt x="109915" y="85367"/>
                </a:lnTo>
                <a:lnTo>
                  <a:pt x="94789" y="51645"/>
                </a:lnTo>
                <a:lnTo>
                  <a:pt x="70588" y="27037"/>
                </a:lnTo>
                <a:lnTo>
                  <a:pt x="38319" y="9721"/>
                </a:lnTo>
                <a:lnTo>
                  <a:pt x="0" y="0"/>
                </a:lnTo>
              </a:path>
            </a:pathLst>
          </a:custGeom>
          <a:noFill/>
          <a:ln cap="flat" cmpd="sng" w="41275">
            <a:solidFill>
              <a:srgbClr val="FF0000"/>
            </a:solidFill>
            <a:prstDash val="solid"/>
            <a:miter/>
            <a:headEnd len="med" w="med" type="none"/>
            <a:tailEnd len="lg" w="lg" type="stealth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Shape 230"/>
          <p:cNvSpPr txBox="1"/>
          <p:nvPr/>
        </p:nvSpPr>
        <p:spPr>
          <a:xfrm>
            <a:off x="6138862" y="4648200"/>
            <a:ext cx="1252536" cy="406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ct val="25000"/>
              <a:buFont typeface="Arial"/>
              <a:buNone/>
            </a:pPr>
            <a:r>
              <a:rPr b="1" baseline="-25000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Giros del exterior</a:t>
            </a:r>
          </a:p>
        </p:txBody>
      </p:sp>
      <p:sp>
        <p:nvSpPr>
          <p:cNvPr id="231" name="Shape 231"/>
          <p:cNvSpPr txBox="1"/>
          <p:nvPr/>
        </p:nvSpPr>
        <p:spPr>
          <a:xfrm>
            <a:off x="4953000" y="5003800"/>
            <a:ext cx="1252536" cy="406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ct val="25000"/>
              <a:buFont typeface="Arial"/>
              <a:buNone/>
            </a:pPr>
            <a:r>
              <a:rPr b="1" baseline="-25000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Giros al exterior</a:t>
            </a:r>
          </a:p>
        </p:txBody>
      </p:sp>
      <p:sp>
        <p:nvSpPr>
          <p:cNvPr id="232" name="Shape 232"/>
          <p:cNvSpPr txBox="1"/>
          <p:nvPr/>
        </p:nvSpPr>
        <p:spPr>
          <a:xfrm>
            <a:off x="7543800" y="3886200"/>
            <a:ext cx="38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ct val="25000"/>
              <a:buFont typeface="Arial"/>
              <a:buNone/>
            </a:pPr>
            <a:r>
              <a:rPr b="1" baseline="-25000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USD</a:t>
            </a:r>
          </a:p>
        </p:txBody>
      </p:sp>
      <p:sp>
        <p:nvSpPr>
          <p:cNvPr id="233" name="Shape 233"/>
          <p:cNvSpPr txBox="1"/>
          <p:nvPr/>
        </p:nvSpPr>
        <p:spPr>
          <a:xfrm>
            <a:off x="8458200" y="3886200"/>
            <a:ext cx="38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ct val="25000"/>
              <a:buFont typeface="Arial"/>
              <a:buNone/>
            </a:pPr>
            <a:r>
              <a:rPr b="1" baseline="-25000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USD</a:t>
            </a:r>
          </a:p>
        </p:txBody>
      </p:sp>
      <p:sp>
        <p:nvSpPr>
          <p:cNvPr id="234" name="Shape 234"/>
          <p:cNvSpPr txBox="1"/>
          <p:nvPr/>
        </p:nvSpPr>
        <p:spPr>
          <a:xfrm>
            <a:off x="6477000" y="2667000"/>
            <a:ext cx="1150936" cy="31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Exportaciones</a:t>
            </a:r>
          </a:p>
        </p:txBody>
      </p:sp>
      <p:sp>
        <p:nvSpPr>
          <p:cNvPr id="235" name="Shape 235"/>
          <p:cNvSpPr txBox="1"/>
          <p:nvPr/>
        </p:nvSpPr>
        <p:spPr>
          <a:xfrm>
            <a:off x="6400800" y="3802062"/>
            <a:ext cx="1150936" cy="31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Importaciones</a:t>
            </a:r>
          </a:p>
        </p:txBody>
      </p:sp>
      <p:sp>
        <p:nvSpPr>
          <p:cNvPr id="236" name="Shape 236"/>
          <p:cNvSpPr txBox="1"/>
          <p:nvPr/>
        </p:nvSpPr>
        <p:spPr>
          <a:xfrm>
            <a:off x="3886200" y="2743200"/>
            <a:ext cx="1150936" cy="31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Gasto Público ($)</a:t>
            </a:r>
          </a:p>
        </p:txBody>
      </p:sp>
      <p:sp>
        <p:nvSpPr>
          <p:cNvPr id="237" name="Shape 237"/>
          <p:cNvSpPr txBox="1"/>
          <p:nvPr/>
        </p:nvSpPr>
        <p:spPr>
          <a:xfrm>
            <a:off x="1752600" y="3733800"/>
            <a:ext cx="1150936" cy="31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Gasto Público ($)</a:t>
            </a:r>
          </a:p>
        </p:txBody>
      </p:sp>
      <p:sp>
        <p:nvSpPr>
          <p:cNvPr id="238" name="Shape 238"/>
          <p:cNvSpPr txBox="1"/>
          <p:nvPr/>
        </p:nvSpPr>
        <p:spPr>
          <a:xfrm>
            <a:off x="1219200" y="2735261"/>
            <a:ext cx="1150936" cy="31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Ingreso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Disponible ($)</a:t>
            </a:r>
          </a:p>
        </p:txBody>
      </p:sp>
      <p:sp>
        <p:nvSpPr>
          <p:cNvPr id="239" name="Shape 239"/>
          <p:cNvSpPr txBox="1"/>
          <p:nvPr/>
        </p:nvSpPr>
        <p:spPr>
          <a:xfrm>
            <a:off x="4953000" y="2743200"/>
            <a:ext cx="1150936" cy="31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Ingreso ($)</a:t>
            </a:r>
          </a:p>
        </p:txBody>
      </p:sp>
      <p:sp>
        <p:nvSpPr>
          <p:cNvPr id="240" name="Shape 240"/>
          <p:cNvSpPr txBox="1"/>
          <p:nvPr/>
        </p:nvSpPr>
        <p:spPr>
          <a:xfrm>
            <a:off x="3725862" y="2049461"/>
            <a:ext cx="1150936" cy="31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Impuestos ($)</a:t>
            </a:r>
          </a:p>
        </p:txBody>
      </p:sp>
      <p:sp>
        <p:nvSpPr>
          <p:cNvPr id="241" name="Shape 241"/>
          <p:cNvSpPr txBox="1"/>
          <p:nvPr/>
        </p:nvSpPr>
        <p:spPr>
          <a:xfrm>
            <a:off x="1752600" y="2057400"/>
            <a:ext cx="1150936" cy="31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Transferencias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 subsidios ($)</a:t>
            </a:r>
          </a:p>
        </p:txBody>
      </p:sp>
      <p:sp>
        <p:nvSpPr>
          <p:cNvPr id="242" name="Shape 242"/>
          <p:cNvSpPr txBox="1"/>
          <p:nvPr/>
        </p:nvSpPr>
        <p:spPr>
          <a:xfrm>
            <a:off x="228600" y="5562600"/>
            <a:ext cx="8645524" cy="1143000"/>
          </a:xfrm>
          <a:prstGeom prst="rect">
            <a:avLst/>
          </a:prstGeom>
          <a:solidFill>
            <a:srgbClr val="FFFF99">
              <a:alpha val="41960"/>
            </a:srgbClr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Producción Interna (B/S útiles) + Producción Externa (B/S útiles) = Oferta Agregada</a:t>
            </a: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Demanda Interna + Demanda Externa = Consumo + Inversión + Gasto Público + Exportaciones = Demanda Agregada</a:t>
            </a: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Producción = Y + M = C + I + GP + X </a:t>
            </a: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Y</a:t>
            </a:r>
            <a:r>
              <a:rPr b="1" baseline="-2500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  </a:t>
            </a: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+ (T</a:t>
            </a:r>
            <a:r>
              <a:rPr b="1" baseline="-2500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 T</a:t>
            </a:r>
            <a:r>
              <a:rPr b="1" baseline="-2500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+ M = C + S + (T</a:t>
            </a:r>
            <a:r>
              <a:rPr b="1" baseline="-2500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 T</a:t>
            </a:r>
            <a:r>
              <a:rPr b="1" baseline="-2500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+ M = C + I + GP + X</a:t>
            </a: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(S  - I)+ [(T</a:t>
            </a:r>
            <a:r>
              <a:rPr b="1" baseline="-2500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 T</a:t>
            </a:r>
            <a:r>
              <a:rPr b="1" baseline="-2500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– GP] + (M – X) = 0 (TRES BRECHAS)</a:t>
            </a: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Shape 2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Shape 2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Shape 249"/>
          <p:cNvSpPr txBox="1"/>
          <p:nvPr/>
        </p:nvSpPr>
        <p:spPr>
          <a:xfrm>
            <a:off x="3581400" y="381000"/>
            <a:ext cx="5257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MODELO DE CUATRO SECTORES</a:t>
            </a:r>
          </a:p>
        </p:txBody>
      </p:sp>
      <p:sp>
        <p:nvSpPr>
          <p:cNvPr id="250" name="Shape 250"/>
          <p:cNvSpPr txBox="1"/>
          <p:nvPr/>
        </p:nvSpPr>
        <p:spPr>
          <a:xfrm>
            <a:off x="263525" y="1524000"/>
            <a:ext cx="8610599" cy="5035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Shape 251"/>
          <p:cNvSpPr txBox="1"/>
          <p:nvPr/>
        </p:nvSpPr>
        <p:spPr>
          <a:xfrm>
            <a:off x="76200" y="1431925"/>
            <a:ext cx="8915400" cy="5273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SUPUESTOS DEL MODELO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Economía abierta.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M – X &lt;  0 (cero)  DEFICIT SECTOR EXTERNO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M – X &gt;  0 (cero)  SUPERÁVIT SECTOR EXTERNO              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BRECHA SECTOR EXTERNO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M - X = 0 (cero)    EQUILIBRIO SECTOR EXTERNO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rabicPeriod" startAt="2"/>
            </a:pPr>
            <a:r>
              <a:rPr b="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Existe el estado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 institución.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Recauda con los impuestos (T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Devuelve con los subsidios (T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Gasta con el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Gasto Público (GP)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(Tx – Tr) – GP &lt;  0 (cero)  DEFICIT FISCAL (SECTOR ESTADO)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(Tx – Tr) – GP &gt;  0 (cero)  SUPERÁVIT FISCAL (SECTOR ESTADO)            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BRECHA SECTOR PÚBLICO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(Tx – Tr) – GP = 0 (cero)   EQUILIBRIO FISCAL (SECTOR ESTADO)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rabicPeriod" startAt="3"/>
            </a:pPr>
            <a:r>
              <a:rPr b="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Propensión marginal al ahorro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distinta a 0 (cero).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S = Ahorro privado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I   = Inversión privada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	S – I &lt;  0 (cero)  DEFICIT SECTOR PRIVADO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S – I &gt;  0 (cero)  SUPERÁVIT SECTOR PRIVADO                 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BRECHA SECTOR PRIVADO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S - I = 0 (cero)    EQUILIBRIO SECTOR PRIVADO</a:t>
            </a:r>
          </a:p>
        </p:txBody>
      </p:sp>
      <p:sp>
        <p:nvSpPr>
          <p:cNvPr id="252" name="Shape 252"/>
          <p:cNvSpPr txBox="1"/>
          <p:nvPr/>
        </p:nvSpPr>
        <p:spPr>
          <a:xfrm>
            <a:off x="4114800" y="3124200"/>
            <a:ext cx="25145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-T</a:t>
            </a:r>
            <a:r>
              <a:rPr b="1" baseline="-2500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AHORRO PÚBLICO</a:t>
            </a:r>
          </a:p>
        </p:txBody>
      </p:sp>
      <p:sp>
        <p:nvSpPr>
          <p:cNvPr id="253" name="Shape 253"/>
          <p:cNvSpPr/>
          <p:nvPr/>
        </p:nvSpPr>
        <p:spPr>
          <a:xfrm>
            <a:off x="3657600" y="3048000"/>
            <a:ext cx="304799" cy="53339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4127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Shape 254"/>
          <p:cNvSpPr/>
          <p:nvPr/>
        </p:nvSpPr>
        <p:spPr>
          <a:xfrm>
            <a:off x="4572000" y="2133600"/>
            <a:ext cx="304799" cy="685799"/>
          </a:xfrm>
          <a:prstGeom prst="rightBrace">
            <a:avLst>
              <a:gd fmla="val 8333" name="adj1"/>
              <a:gd fmla="val 8400" name="adj2"/>
            </a:avLst>
          </a:prstGeom>
          <a:noFill/>
          <a:ln cap="flat" cmpd="sng" w="4127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Shape 255"/>
          <p:cNvSpPr/>
          <p:nvPr/>
        </p:nvSpPr>
        <p:spPr>
          <a:xfrm>
            <a:off x="5943600" y="4267200"/>
            <a:ext cx="304799" cy="68579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4127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Shape 256"/>
          <p:cNvSpPr/>
          <p:nvPr/>
        </p:nvSpPr>
        <p:spPr>
          <a:xfrm>
            <a:off x="4953000" y="5791200"/>
            <a:ext cx="304799" cy="685799"/>
          </a:xfrm>
          <a:prstGeom prst="rightBrace">
            <a:avLst>
              <a:gd fmla="val 8333" name="adj1"/>
              <a:gd fmla="val 12900" name="adj2"/>
            </a:avLst>
          </a:prstGeom>
          <a:noFill/>
          <a:ln cap="flat" cmpd="sng" w="4127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 txBox="1"/>
          <p:nvPr/>
        </p:nvSpPr>
        <p:spPr>
          <a:xfrm>
            <a:off x="296862" y="1331912"/>
            <a:ext cx="8542337" cy="522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SUPUESTOS DEL MODELO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Economía abierta.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	X = X</a:t>
            </a:r>
            <a:r>
              <a:rPr b="0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                   		               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 DEPENDEN DE  Y (RENTA NACIONAL)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	M = M</a:t>
            </a:r>
            <a:r>
              <a:rPr b="0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rabicPeriod" startAt="2"/>
            </a:pPr>
            <a:r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Existe el estado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 institución.</a:t>
            </a:r>
          </a:p>
          <a:p>
            <a:pPr indent="-350837" lvl="1" marL="884237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Recauda con los impuestos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(T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 = T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</a:p>
          <a:p>
            <a:pPr indent="-350837" lvl="1" marL="884237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Devuelve con los subsidios  (T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T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</a:p>
          <a:p>
            <a:pPr indent="-350837" lvl="1" marL="884237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baseline="-2500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9900" lvl="2" marL="1524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Gasta con el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Gasto Público (GP) =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GP</a:t>
            </a:r>
            <a:r>
              <a:rPr b="0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(NO DEPENDE DE LA RENTA NACIONAL)</a:t>
            </a:r>
          </a:p>
          <a:p>
            <a:pPr indent="-469900" lvl="2" marL="1524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rabicPeriod" startAt="2"/>
            </a:pPr>
            <a:r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Propensión marginal al consumo (P</a:t>
            </a:r>
            <a:r>
              <a:rPr b="0" baseline="-2500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distinta a 1 (uno).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16666"/>
              <a:buFont typeface="Arial"/>
              <a:buAutoNum type="arabicPeriod" startAt="2"/>
            </a:pPr>
            <a:r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Propensión marginal al ahorro (P</a:t>
            </a:r>
            <a:r>
              <a:rPr b="0" baseline="-2500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maS</a:t>
            </a:r>
            <a:r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distinta a 0 (cero).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rabicPeriod" startAt="5"/>
            </a:pPr>
            <a:r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Suponemos que la inversión es independiente de la renta.</a:t>
            </a:r>
          </a:p>
        </p:txBody>
      </p:sp>
      <p:sp>
        <p:nvSpPr>
          <p:cNvPr id="262" name="Shape 262"/>
          <p:cNvSpPr txBox="1"/>
          <p:nvPr/>
        </p:nvSpPr>
        <p:spPr>
          <a:xfrm>
            <a:off x="255587" y="1295400"/>
            <a:ext cx="8618536" cy="5264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Shape 2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91440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Shape 2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7325" y="228600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Shape 265"/>
          <p:cNvSpPr txBox="1"/>
          <p:nvPr/>
        </p:nvSpPr>
        <p:spPr>
          <a:xfrm>
            <a:off x="2971800" y="441325"/>
            <a:ext cx="6019799" cy="396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IMPUESTOS REGRESIVOS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Tx = Txo</a:t>
            </a:r>
          </a:p>
        </p:txBody>
      </p:sp>
      <p:sp>
        <p:nvSpPr>
          <p:cNvPr id="266" name="Shape 266"/>
          <p:cNvSpPr txBox="1"/>
          <p:nvPr/>
        </p:nvSpPr>
        <p:spPr>
          <a:xfrm>
            <a:off x="4800600" y="2895600"/>
            <a:ext cx="259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-T</a:t>
            </a:r>
            <a:r>
              <a:rPr b="1" baseline="-2500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AHORRO PÚBLICO</a:t>
            </a:r>
          </a:p>
        </p:txBody>
      </p:sp>
      <p:sp>
        <p:nvSpPr>
          <p:cNvPr id="267" name="Shape 267"/>
          <p:cNvSpPr/>
          <p:nvPr/>
        </p:nvSpPr>
        <p:spPr>
          <a:xfrm>
            <a:off x="4572000" y="2895600"/>
            <a:ext cx="304799" cy="3810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4127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Shape 268"/>
          <p:cNvSpPr txBox="1"/>
          <p:nvPr/>
        </p:nvSpPr>
        <p:spPr>
          <a:xfrm>
            <a:off x="685800" y="5592762"/>
            <a:ext cx="1676399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- C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Y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69" name="Shape 269"/>
          <p:cNvSpPr txBox="1"/>
          <p:nvPr/>
        </p:nvSpPr>
        <p:spPr>
          <a:xfrm>
            <a:off x="685800" y="5897562"/>
            <a:ext cx="4800600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 C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– P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maS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 T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 P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maS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 T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maS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70" name="Shape 270"/>
          <p:cNvSpPr txBox="1"/>
          <p:nvPr/>
        </p:nvSpPr>
        <p:spPr>
          <a:xfrm>
            <a:off x="685800" y="4267200"/>
            <a:ext cx="1582737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 = C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* Y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</a:p>
        </p:txBody>
      </p:sp>
      <p:sp>
        <p:nvSpPr>
          <p:cNvPr id="271" name="Shape 271"/>
          <p:cNvSpPr txBox="1"/>
          <p:nvPr/>
        </p:nvSpPr>
        <p:spPr>
          <a:xfrm>
            <a:off x="685800" y="4876800"/>
            <a:ext cx="4495800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 =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 P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 T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 T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R0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</a:p>
        </p:txBody>
      </p:sp>
      <p:sp>
        <p:nvSpPr>
          <p:cNvPr id="272" name="Shape 272"/>
          <p:cNvSpPr txBox="1"/>
          <p:nvPr/>
        </p:nvSpPr>
        <p:spPr>
          <a:xfrm>
            <a:off x="5105400" y="6278562"/>
            <a:ext cx="533399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= I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73" name="Shape 273"/>
          <p:cNvSpPr/>
          <p:nvPr/>
        </p:nvSpPr>
        <p:spPr>
          <a:xfrm>
            <a:off x="2514600" y="1981200"/>
            <a:ext cx="304799" cy="53339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4127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278"/>
          <p:cNvSpPr txBox="1"/>
          <p:nvPr/>
        </p:nvSpPr>
        <p:spPr>
          <a:xfrm>
            <a:off x="255587" y="1295400"/>
            <a:ext cx="8618536" cy="5264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Shape 2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38225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Shape 2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Shape 281"/>
          <p:cNvSpPr txBox="1"/>
          <p:nvPr/>
        </p:nvSpPr>
        <p:spPr>
          <a:xfrm>
            <a:off x="2971800" y="441325"/>
            <a:ext cx="6019799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IMPUESTOS REGRESIVOS 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Tx = Txo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82" name="Shape 282"/>
          <p:cNvSpPr txBox="1"/>
          <p:nvPr/>
        </p:nvSpPr>
        <p:spPr>
          <a:xfrm>
            <a:off x="381000" y="1371600"/>
            <a:ext cx="8493124" cy="4418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DEMANDA AGREGADA =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– P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 P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Y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OFERTA AGREGADA = 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EL EQUILIBRIO DA = OA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1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– P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 P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1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Y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- P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1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– P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Y(1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 P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1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– P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</a:t>
            </a: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Multiplicador </a:t>
            </a: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* Gasto Autónomo</a:t>
            </a: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Multiplicador = (1 / (1 - PmaC))</a:t>
            </a:r>
            <a:r>
              <a:rPr b="0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CC00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Gasto Autónomo = (GP</a:t>
            </a:r>
            <a:r>
              <a:rPr b="1" baseline="-25000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I</a:t>
            </a:r>
            <a:r>
              <a:rPr b="1" baseline="-25000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C</a:t>
            </a:r>
            <a:r>
              <a:rPr b="1" baseline="-25000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X</a:t>
            </a:r>
            <a:r>
              <a:rPr b="1" baseline="-25000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- M</a:t>
            </a:r>
            <a:r>
              <a:rPr b="1" baseline="-25000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– P</a:t>
            </a:r>
            <a:r>
              <a:rPr b="1" baseline="-25000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* T</a:t>
            </a:r>
            <a:r>
              <a:rPr b="1" baseline="-25000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 + P</a:t>
            </a:r>
            <a:r>
              <a:rPr b="1" baseline="-25000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* T</a:t>
            </a:r>
            <a:r>
              <a:rPr b="1" baseline="-25000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Shape 283"/>
          <p:cNvSpPr/>
          <p:nvPr/>
        </p:nvSpPr>
        <p:spPr>
          <a:xfrm>
            <a:off x="8101011" y="5516562"/>
            <a:ext cx="773111" cy="503236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89291" y="37500"/>
                </a:moveTo>
                <a:lnTo>
                  <a:pt x="74645" y="14999"/>
                </a:lnTo>
                <a:lnTo>
                  <a:pt x="60000" y="37500"/>
                </a:lnTo>
                <a:lnTo>
                  <a:pt x="67322" y="37500"/>
                </a:lnTo>
                <a:lnTo>
                  <a:pt x="67322" y="71250"/>
                </a:lnTo>
                <a:cubicBezTo>
                  <a:pt x="67322" y="77463"/>
                  <a:pt x="64044" y="82500"/>
                  <a:pt x="60000" y="82500"/>
                </a:cubicBezTo>
                <a:lnTo>
                  <a:pt x="52677" y="82500"/>
                </a:lnTo>
                <a:cubicBezTo>
                  <a:pt x="48632" y="82500"/>
                  <a:pt x="45354" y="77463"/>
                  <a:pt x="45354" y="71250"/>
                </a:cubicBezTo>
                <a:lnTo>
                  <a:pt x="45354" y="37500"/>
                </a:lnTo>
                <a:lnTo>
                  <a:pt x="30708" y="37500"/>
                </a:lnTo>
                <a:lnTo>
                  <a:pt x="30708" y="71250"/>
                </a:lnTo>
                <a:cubicBezTo>
                  <a:pt x="30708" y="89889"/>
                  <a:pt x="40544" y="105000"/>
                  <a:pt x="52677" y="105000"/>
                </a:cubicBezTo>
                <a:lnTo>
                  <a:pt x="60000" y="105000"/>
                </a:lnTo>
                <a:cubicBezTo>
                  <a:pt x="72132" y="105000"/>
                  <a:pt x="81968" y="89889"/>
                  <a:pt x="81968" y="71250"/>
                </a:cubicBezTo>
                <a:lnTo>
                  <a:pt x="81968" y="37500"/>
                </a:lnTo>
                <a:close/>
              </a:path>
              <a:path extrusionOk="0" fill="darken" h="120000" w="120000">
                <a:moveTo>
                  <a:pt x="89291" y="37500"/>
                </a:moveTo>
                <a:lnTo>
                  <a:pt x="74645" y="14999"/>
                </a:lnTo>
                <a:lnTo>
                  <a:pt x="60000" y="37500"/>
                </a:lnTo>
                <a:lnTo>
                  <a:pt x="67322" y="37500"/>
                </a:lnTo>
                <a:lnTo>
                  <a:pt x="67322" y="71250"/>
                </a:lnTo>
                <a:cubicBezTo>
                  <a:pt x="67322" y="77463"/>
                  <a:pt x="64044" y="82500"/>
                  <a:pt x="60000" y="82500"/>
                </a:cubicBezTo>
                <a:lnTo>
                  <a:pt x="52677" y="82500"/>
                </a:lnTo>
                <a:cubicBezTo>
                  <a:pt x="48632" y="82500"/>
                  <a:pt x="45354" y="77463"/>
                  <a:pt x="45354" y="71250"/>
                </a:cubicBezTo>
                <a:lnTo>
                  <a:pt x="45354" y="37500"/>
                </a:lnTo>
                <a:lnTo>
                  <a:pt x="30708" y="37500"/>
                </a:lnTo>
                <a:lnTo>
                  <a:pt x="30708" y="71250"/>
                </a:lnTo>
                <a:cubicBezTo>
                  <a:pt x="30708" y="89889"/>
                  <a:pt x="40544" y="105000"/>
                  <a:pt x="52677" y="105000"/>
                </a:cubicBezTo>
                <a:lnTo>
                  <a:pt x="60000" y="105000"/>
                </a:lnTo>
                <a:cubicBezTo>
                  <a:pt x="72132" y="105000"/>
                  <a:pt x="81968" y="89889"/>
                  <a:pt x="81968" y="71250"/>
                </a:cubicBezTo>
                <a:lnTo>
                  <a:pt x="81968" y="37500"/>
                </a:lnTo>
                <a:close/>
              </a:path>
              <a:path extrusionOk="0" fill="none" h="120000" w="120000">
                <a:moveTo>
                  <a:pt x="89291" y="37500"/>
                </a:moveTo>
                <a:lnTo>
                  <a:pt x="81968" y="37500"/>
                </a:lnTo>
                <a:lnTo>
                  <a:pt x="81968" y="71250"/>
                </a:lnTo>
                <a:lnTo>
                  <a:pt x="81968" y="71250"/>
                </a:lnTo>
                <a:cubicBezTo>
                  <a:pt x="81968" y="89889"/>
                  <a:pt x="72132" y="105000"/>
                  <a:pt x="59999" y="105000"/>
                </a:cubicBezTo>
                <a:lnTo>
                  <a:pt x="52677" y="105000"/>
                </a:lnTo>
                <a:cubicBezTo>
                  <a:pt x="40544" y="105000"/>
                  <a:pt x="30708" y="89889"/>
                  <a:pt x="30708" y="71250"/>
                </a:cubicBezTo>
                <a:lnTo>
                  <a:pt x="30708" y="37500"/>
                </a:lnTo>
                <a:lnTo>
                  <a:pt x="45354" y="37500"/>
                </a:lnTo>
                <a:lnTo>
                  <a:pt x="45354" y="71250"/>
                </a:lnTo>
                <a:cubicBezTo>
                  <a:pt x="45354" y="77463"/>
                  <a:pt x="48632" y="82500"/>
                  <a:pt x="52677" y="82500"/>
                </a:cubicBezTo>
                <a:lnTo>
                  <a:pt x="60000" y="82500"/>
                </a:lnTo>
                <a:cubicBezTo>
                  <a:pt x="64044" y="82500"/>
                  <a:pt x="67322" y="77463"/>
                  <a:pt x="67322" y="71250"/>
                </a:cubicBezTo>
                <a:lnTo>
                  <a:pt x="67322" y="37500"/>
                </a:lnTo>
                <a:lnTo>
                  <a:pt x="60000" y="37500"/>
                </a:lnTo>
                <a:lnTo>
                  <a:pt x="74645" y="14999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288"/>
          <p:cNvSpPr txBox="1"/>
          <p:nvPr/>
        </p:nvSpPr>
        <p:spPr>
          <a:xfrm>
            <a:off x="255587" y="1295400"/>
            <a:ext cx="8618536" cy="5264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Shape 2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38225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Shape 2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Shape 291"/>
          <p:cNvSpPr txBox="1"/>
          <p:nvPr/>
        </p:nvSpPr>
        <p:spPr>
          <a:xfrm>
            <a:off x="2971800" y="441325"/>
            <a:ext cx="6019799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IMPUESTOS PROPORCIONALES A LA RENTA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BB4F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Shape 292"/>
          <p:cNvSpPr txBox="1"/>
          <p:nvPr/>
        </p:nvSpPr>
        <p:spPr>
          <a:xfrm>
            <a:off x="304800" y="1371600"/>
            <a:ext cx="8542337" cy="5187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SUPUESTOS DEL MODELO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Economía abierta.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	X = X</a:t>
            </a:r>
            <a:r>
              <a:rPr b="0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                   		               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 DEPENDEN DE  Y (RENTA NACIONAL)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	M = M</a:t>
            </a:r>
            <a:r>
              <a:rPr b="0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rabicPeriod" startAt="2"/>
            </a:pPr>
            <a:r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Existe el estado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 institución.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Propensión Marginal a pagar Impuestos</a:t>
            </a:r>
          </a:p>
          <a:p>
            <a:pPr indent="-350837" lvl="1" marL="884237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Recauda con los impuestos (T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T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 Y</a:t>
            </a:r>
          </a:p>
          <a:p>
            <a:pPr indent="-350837" lvl="1" marL="884237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Devuelve con los subsidios  (T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T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</a:p>
          <a:p>
            <a:pPr indent="-469900" lvl="2" marL="1524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Gasta con el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Gasto Público (GP) =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GP</a:t>
            </a:r>
            <a:r>
              <a:rPr b="0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  <a:p>
            <a:pPr indent="-469900" lvl="2" marL="152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baseline="-25000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Suponemos que la Propensión marginal a pagar impuestos (P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maT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 es constante.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rabicPeriod" startAt="3"/>
            </a:pPr>
            <a:r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Propensión marginal al consumo (P</a:t>
            </a:r>
            <a:r>
              <a:rPr b="0" baseline="-2500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distinta a 1 (uno).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16666"/>
              <a:buFont typeface="Arial"/>
              <a:buAutoNum type="arabicPeriod" startAt="3"/>
            </a:pPr>
            <a:r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Propensión marginal al ahorro (P</a:t>
            </a:r>
            <a:r>
              <a:rPr b="0" baseline="-2500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maS</a:t>
            </a:r>
            <a:r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distinta a 0 (cero).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rabicPeriod" startAt="5"/>
            </a:pPr>
            <a:r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Suponemos que la inversión es independiente de la renta</a:t>
            </a: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93" name="Shape 293"/>
          <p:cNvSpPr txBox="1"/>
          <p:nvPr/>
        </p:nvSpPr>
        <p:spPr>
          <a:xfrm>
            <a:off x="5410200" y="3124200"/>
            <a:ext cx="259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T</a:t>
            </a:r>
            <a:r>
              <a:rPr b="1" baseline="-2500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-T</a:t>
            </a:r>
            <a:r>
              <a:rPr b="1" baseline="-2500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AHORRO PÚBLICO</a:t>
            </a:r>
          </a:p>
        </p:txBody>
      </p:sp>
      <p:sp>
        <p:nvSpPr>
          <p:cNvPr id="294" name="Shape 294"/>
          <p:cNvSpPr/>
          <p:nvPr/>
        </p:nvSpPr>
        <p:spPr>
          <a:xfrm>
            <a:off x="5334000" y="3124200"/>
            <a:ext cx="304799" cy="4572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4127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Shape 295"/>
          <p:cNvSpPr txBox="1"/>
          <p:nvPr/>
        </p:nvSpPr>
        <p:spPr>
          <a:xfrm>
            <a:off x="685800" y="5059362"/>
            <a:ext cx="1676399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- C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Y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96" name="Shape 296"/>
          <p:cNvSpPr txBox="1"/>
          <p:nvPr/>
        </p:nvSpPr>
        <p:spPr>
          <a:xfrm>
            <a:off x="685800" y="5364162"/>
            <a:ext cx="4800600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- C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Y – P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 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T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P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 P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 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Y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P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T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97" name="Shape 297"/>
          <p:cNvSpPr txBox="1"/>
          <p:nvPr/>
        </p:nvSpPr>
        <p:spPr>
          <a:xfrm>
            <a:off x="685800" y="4267200"/>
            <a:ext cx="1582737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 = C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* Y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</a:p>
        </p:txBody>
      </p:sp>
      <p:sp>
        <p:nvSpPr>
          <p:cNvPr id="298" name="Shape 298"/>
          <p:cNvSpPr txBox="1"/>
          <p:nvPr/>
        </p:nvSpPr>
        <p:spPr>
          <a:xfrm>
            <a:off x="685800" y="4572000"/>
            <a:ext cx="4495800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 = C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– P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maC 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* T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* T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R0 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+ P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(1- P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maT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)*Y</a:t>
            </a:r>
          </a:p>
        </p:txBody>
      </p:sp>
      <p:sp>
        <p:nvSpPr>
          <p:cNvPr id="299" name="Shape 299"/>
          <p:cNvSpPr txBox="1"/>
          <p:nvPr/>
        </p:nvSpPr>
        <p:spPr>
          <a:xfrm>
            <a:off x="4724400" y="6202362"/>
            <a:ext cx="533399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= I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00" name="Shape 300"/>
          <p:cNvSpPr/>
          <p:nvPr/>
        </p:nvSpPr>
        <p:spPr>
          <a:xfrm>
            <a:off x="2438400" y="1981200"/>
            <a:ext cx="304799" cy="53339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4127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Shape 3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Shape 3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25" y="152400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Shape 307"/>
          <p:cNvSpPr txBox="1"/>
          <p:nvPr/>
        </p:nvSpPr>
        <p:spPr>
          <a:xfrm>
            <a:off x="3048000" y="288925"/>
            <a:ext cx="6019799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IMPUESTOS PROPORCIONALES A LA RENTA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BB4F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Shape 308"/>
          <p:cNvSpPr txBox="1"/>
          <p:nvPr/>
        </p:nvSpPr>
        <p:spPr>
          <a:xfrm>
            <a:off x="255587" y="1295400"/>
            <a:ext cx="8618536" cy="5264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Shape 309"/>
          <p:cNvSpPr txBox="1"/>
          <p:nvPr/>
        </p:nvSpPr>
        <p:spPr>
          <a:xfrm>
            <a:off x="263525" y="1524000"/>
            <a:ext cx="8575675" cy="4876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OFERTA AGREGADA = Y + M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DEMANDA AGREGADA = GP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I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C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X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– P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 T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T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 – P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)*Y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EL EQUILIBRIO  OFERTA AGREGADA = DEMANDA AGREGADA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 + M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= GP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I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C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X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– P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T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 T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(1 – P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maT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)*Y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 = GP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I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C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X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– P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 T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 T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 P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(1 – P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maT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)*Y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baseline="-2500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 – P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(1 – P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maT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 * Y =  GP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I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C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X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– P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T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+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 T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 * (1 – P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(1 - P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maT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 =  GP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 I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C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X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 P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T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+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 T</a:t>
            </a:r>
            <a:r>
              <a:rPr b="1" baseline="-2500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(1 / (1 - P</a:t>
            </a:r>
            <a:r>
              <a:rPr b="1" baseline="-25000" i="0" lang="en-US" sz="14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4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(1- P</a:t>
            </a:r>
            <a:r>
              <a:rPr b="1" baseline="-25000" i="0" lang="en-US" sz="14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maT</a:t>
            </a:r>
            <a:r>
              <a:rPr b="1" i="0" lang="en-US" sz="14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* (GP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I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C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X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– P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* T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 +</a:t>
            </a:r>
            <a:r>
              <a:rPr b="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maC 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* T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Multiplicador = </a:t>
            </a:r>
            <a:r>
              <a:rPr b="1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(1 / (1 – P</a:t>
            </a:r>
            <a:r>
              <a:rPr b="1" baseline="-25000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(1- P</a:t>
            </a:r>
            <a:r>
              <a:rPr b="1" baseline="-25000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maT</a:t>
            </a:r>
            <a:r>
              <a:rPr b="1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r>
              <a:rPr b="0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CC00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Gasto Autónomo = (GP</a:t>
            </a:r>
            <a:r>
              <a:rPr b="1" baseline="-2500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I</a:t>
            </a:r>
            <a:r>
              <a:rPr b="1" baseline="-2500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C</a:t>
            </a:r>
            <a:r>
              <a:rPr b="1" baseline="-2500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X</a:t>
            </a:r>
            <a:r>
              <a:rPr b="1" baseline="-2500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- M</a:t>
            </a:r>
            <a:r>
              <a:rPr b="1" baseline="-2500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– P</a:t>
            </a:r>
            <a:r>
              <a:rPr b="1" baseline="-2500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* T</a:t>
            </a:r>
            <a:r>
              <a:rPr b="1" baseline="-2500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 + P</a:t>
            </a:r>
            <a:r>
              <a:rPr b="1" baseline="-2500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* T</a:t>
            </a:r>
            <a:r>
              <a:rPr b="1" baseline="-2500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600" u="none" cap="none" strike="noStrike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</a:t>
            </a: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Multiplicador </a:t>
            </a: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*   Gasto Autónomo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-25000" i="0" sz="1400" u="none" cap="none" strike="noStrike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Shape 310"/>
          <p:cNvSpPr/>
          <p:nvPr/>
        </p:nvSpPr>
        <p:spPr>
          <a:xfrm>
            <a:off x="8229600" y="5715000"/>
            <a:ext cx="444500" cy="5333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05000" y="41249"/>
                </a:moveTo>
                <a:lnTo>
                  <a:pt x="82500" y="22499"/>
                </a:lnTo>
                <a:lnTo>
                  <a:pt x="60000" y="41249"/>
                </a:lnTo>
                <a:lnTo>
                  <a:pt x="71250" y="41249"/>
                </a:lnTo>
                <a:lnTo>
                  <a:pt x="71250" y="69375"/>
                </a:lnTo>
                <a:cubicBezTo>
                  <a:pt x="71250" y="74552"/>
                  <a:pt x="66213" y="78750"/>
                  <a:pt x="60000" y="78750"/>
                </a:cubicBezTo>
                <a:lnTo>
                  <a:pt x="48750" y="78750"/>
                </a:lnTo>
                <a:cubicBezTo>
                  <a:pt x="42536" y="78750"/>
                  <a:pt x="37500" y="74552"/>
                  <a:pt x="37500" y="69375"/>
                </a:cubicBezTo>
                <a:lnTo>
                  <a:pt x="37500" y="41249"/>
                </a:lnTo>
                <a:lnTo>
                  <a:pt x="15000" y="41249"/>
                </a:lnTo>
                <a:lnTo>
                  <a:pt x="15000" y="69375"/>
                </a:lnTo>
                <a:cubicBezTo>
                  <a:pt x="15000" y="84908"/>
                  <a:pt x="30110" y="97500"/>
                  <a:pt x="48750" y="97500"/>
                </a:cubicBezTo>
                <a:lnTo>
                  <a:pt x="60000" y="97500"/>
                </a:lnTo>
                <a:cubicBezTo>
                  <a:pt x="78639" y="97500"/>
                  <a:pt x="93750" y="84908"/>
                  <a:pt x="93750" y="69375"/>
                </a:cubicBezTo>
                <a:lnTo>
                  <a:pt x="93750" y="41249"/>
                </a:lnTo>
                <a:close/>
              </a:path>
              <a:path extrusionOk="0" fill="darken" h="120000" w="120000">
                <a:moveTo>
                  <a:pt x="105000" y="41249"/>
                </a:moveTo>
                <a:lnTo>
                  <a:pt x="82500" y="22499"/>
                </a:lnTo>
                <a:lnTo>
                  <a:pt x="60000" y="41249"/>
                </a:lnTo>
                <a:lnTo>
                  <a:pt x="71250" y="41249"/>
                </a:lnTo>
                <a:lnTo>
                  <a:pt x="71250" y="69375"/>
                </a:lnTo>
                <a:cubicBezTo>
                  <a:pt x="71250" y="74552"/>
                  <a:pt x="66213" y="78750"/>
                  <a:pt x="60000" y="78750"/>
                </a:cubicBezTo>
                <a:lnTo>
                  <a:pt x="48750" y="78750"/>
                </a:lnTo>
                <a:cubicBezTo>
                  <a:pt x="42536" y="78750"/>
                  <a:pt x="37500" y="74552"/>
                  <a:pt x="37500" y="69375"/>
                </a:cubicBezTo>
                <a:lnTo>
                  <a:pt x="37500" y="41249"/>
                </a:lnTo>
                <a:lnTo>
                  <a:pt x="15000" y="41249"/>
                </a:lnTo>
                <a:lnTo>
                  <a:pt x="15000" y="69375"/>
                </a:lnTo>
                <a:cubicBezTo>
                  <a:pt x="15000" y="84908"/>
                  <a:pt x="30110" y="97500"/>
                  <a:pt x="48750" y="97500"/>
                </a:cubicBezTo>
                <a:lnTo>
                  <a:pt x="60000" y="97500"/>
                </a:lnTo>
                <a:cubicBezTo>
                  <a:pt x="78639" y="97500"/>
                  <a:pt x="93750" y="84908"/>
                  <a:pt x="93750" y="69375"/>
                </a:cubicBezTo>
                <a:lnTo>
                  <a:pt x="93750" y="41249"/>
                </a:lnTo>
                <a:close/>
              </a:path>
              <a:path extrusionOk="0" fill="none" h="120000" w="120000">
                <a:moveTo>
                  <a:pt x="105000" y="41249"/>
                </a:moveTo>
                <a:lnTo>
                  <a:pt x="93750" y="41249"/>
                </a:lnTo>
                <a:lnTo>
                  <a:pt x="93750" y="69375"/>
                </a:lnTo>
                <a:lnTo>
                  <a:pt x="93750" y="69375"/>
                </a:lnTo>
                <a:cubicBezTo>
                  <a:pt x="93750" y="84908"/>
                  <a:pt x="78639" y="97500"/>
                  <a:pt x="60000" y="97500"/>
                </a:cubicBezTo>
                <a:lnTo>
                  <a:pt x="48750" y="97500"/>
                </a:lnTo>
                <a:cubicBezTo>
                  <a:pt x="30110" y="97500"/>
                  <a:pt x="15000" y="84908"/>
                  <a:pt x="15000" y="69375"/>
                </a:cubicBezTo>
                <a:lnTo>
                  <a:pt x="15000" y="41249"/>
                </a:lnTo>
                <a:lnTo>
                  <a:pt x="37500" y="41249"/>
                </a:lnTo>
                <a:lnTo>
                  <a:pt x="37500" y="69375"/>
                </a:lnTo>
                <a:cubicBezTo>
                  <a:pt x="37500" y="74552"/>
                  <a:pt x="42536" y="78750"/>
                  <a:pt x="48750" y="78750"/>
                </a:cubicBezTo>
                <a:lnTo>
                  <a:pt x="60000" y="78750"/>
                </a:lnTo>
                <a:cubicBezTo>
                  <a:pt x="66213" y="78750"/>
                  <a:pt x="71250" y="74552"/>
                  <a:pt x="71250" y="69375"/>
                </a:cubicBezTo>
                <a:lnTo>
                  <a:pt x="71250" y="41249"/>
                </a:lnTo>
                <a:lnTo>
                  <a:pt x="60000" y="41249"/>
                </a:lnTo>
                <a:lnTo>
                  <a:pt x="82500" y="22499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Shape 3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Shape 3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Shape 317"/>
          <p:cNvSpPr txBox="1"/>
          <p:nvPr/>
        </p:nvSpPr>
        <p:spPr>
          <a:xfrm>
            <a:off x="4291012" y="152400"/>
            <a:ext cx="4548187" cy="10064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IMPUESTOS E IMPORTACIONES PROPORCIONALES A LA RENTA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BB4F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Shape 318"/>
          <p:cNvSpPr txBox="1"/>
          <p:nvPr/>
        </p:nvSpPr>
        <p:spPr>
          <a:xfrm>
            <a:off x="255587" y="1295400"/>
            <a:ext cx="8618536" cy="5264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Shape 319"/>
          <p:cNvSpPr txBox="1"/>
          <p:nvPr/>
        </p:nvSpPr>
        <p:spPr>
          <a:xfrm>
            <a:off x="304800" y="1371600"/>
            <a:ext cx="8542337" cy="5333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SUPUESTOS DEL MODELO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Economía abierta.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	X = X</a:t>
            </a:r>
            <a:r>
              <a:rPr b="0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 CONSTANTE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	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 = M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maM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Y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Suponemos que las exportaciones son independientes de la renta, y las importaciones son proporcionales a la renta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rabicPeriod" startAt="2"/>
            </a:pPr>
            <a:r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Existe el estado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 institución.</a:t>
            </a:r>
          </a:p>
          <a:p>
            <a:pPr indent="-350837" lvl="1" marL="884237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Recauda con los impuestos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T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 Y</a:t>
            </a:r>
          </a:p>
          <a:p>
            <a:pPr indent="-350837" lvl="1" marL="884237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Devuelve con los subsidios  (T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T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</a:p>
          <a:p>
            <a:pPr indent="-469900" lvl="2" marL="1524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Gasta con el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Gasto Público (GP) =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GP</a:t>
            </a:r>
            <a:r>
              <a:rPr b="0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  <a:p>
            <a:pPr indent="-469900" lvl="2" marL="152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baseline="-25000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Suponemos que la Propensión marginal a pagar impuestos (PmaT) es constante.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rabicPeriod" startAt="3"/>
            </a:pPr>
            <a:r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Propensión marginal al consumo (P</a:t>
            </a:r>
            <a:r>
              <a:rPr b="0" baseline="-2500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distinta a 1 (uno).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16666"/>
              <a:buFont typeface="Arial"/>
              <a:buAutoNum type="arabicPeriod" startAt="3"/>
            </a:pPr>
            <a:r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Propensión marginal al ahorro (P</a:t>
            </a:r>
            <a:r>
              <a:rPr b="0" baseline="-2500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maS</a:t>
            </a:r>
            <a:r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distinta a 0 (cero).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Suponemos que la inversión es independiente de la renta</a:t>
            </a: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20" name="Shape 320"/>
          <p:cNvSpPr txBox="1"/>
          <p:nvPr/>
        </p:nvSpPr>
        <p:spPr>
          <a:xfrm>
            <a:off x="6019800" y="2743200"/>
            <a:ext cx="259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-T</a:t>
            </a:r>
            <a:r>
              <a:rPr b="1" baseline="-2500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AHORRO PÚBLICO</a:t>
            </a:r>
          </a:p>
        </p:txBody>
      </p:sp>
      <p:sp>
        <p:nvSpPr>
          <p:cNvPr id="321" name="Shape 321"/>
          <p:cNvSpPr/>
          <p:nvPr/>
        </p:nvSpPr>
        <p:spPr>
          <a:xfrm>
            <a:off x="5486400" y="3048000"/>
            <a:ext cx="304799" cy="4572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4127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Shape 322"/>
          <p:cNvSpPr txBox="1"/>
          <p:nvPr/>
        </p:nvSpPr>
        <p:spPr>
          <a:xfrm>
            <a:off x="1828800" y="4953000"/>
            <a:ext cx="1676399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- C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Y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23" name="Shape 323"/>
          <p:cNvSpPr txBox="1"/>
          <p:nvPr/>
        </p:nvSpPr>
        <p:spPr>
          <a:xfrm>
            <a:off x="1828800" y="5287962"/>
            <a:ext cx="4800600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- C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Y – P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 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T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P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 P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 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Y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P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T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24" name="Shape 324"/>
          <p:cNvSpPr txBox="1"/>
          <p:nvPr/>
        </p:nvSpPr>
        <p:spPr>
          <a:xfrm>
            <a:off x="1828800" y="4144962"/>
            <a:ext cx="1397000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 = C</a:t>
            </a:r>
            <a:r>
              <a:rPr b="1" baseline="-25000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* Y</a:t>
            </a:r>
            <a:r>
              <a:rPr b="1" baseline="-25000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</a:p>
        </p:txBody>
      </p:sp>
      <p:sp>
        <p:nvSpPr>
          <p:cNvPr id="325" name="Shape 325"/>
          <p:cNvSpPr txBox="1"/>
          <p:nvPr/>
        </p:nvSpPr>
        <p:spPr>
          <a:xfrm>
            <a:off x="1828800" y="4449762"/>
            <a:ext cx="4190999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 = C</a:t>
            </a:r>
            <a:r>
              <a:rPr b="1" baseline="-25000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* Y</a:t>
            </a:r>
            <a:r>
              <a:rPr b="1" baseline="-25000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– P</a:t>
            </a:r>
            <a:r>
              <a:rPr b="1" baseline="-25000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maC </a:t>
            </a: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* T</a:t>
            </a:r>
            <a:r>
              <a:rPr b="1" baseline="-25000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X0 </a:t>
            </a: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– P</a:t>
            </a:r>
            <a:r>
              <a:rPr b="1" baseline="-25000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maC </a:t>
            </a: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* P</a:t>
            </a:r>
            <a:r>
              <a:rPr b="1" baseline="-25000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maT</a:t>
            </a: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* Y +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* T</a:t>
            </a:r>
            <a:r>
              <a:rPr b="1" baseline="-25000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</a:p>
        </p:txBody>
      </p:sp>
      <p:sp>
        <p:nvSpPr>
          <p:cNvPr id="326" name="Shape 326"/>
          <p:cNvSpPr txBox="1"/>
          <p:nvPr/>
        </p:nvSpPr>
        <p:spPr>
          <a:xfrm>
            <a:off x="4724400" y="5715000"/>
            <a:ext cx="533399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= I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27" name="Shape 327"/>
          <p:cNvSpPr txBox="1"/>
          <p:nvPr/>
        </p:nvSpPr>
        <p:spPr>
          <a:xfrm>
            <a:off x="457200" y="6049962"/>
            <a:ext cx="6726237" cy="579436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DEMANDA AGREGADA = 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Y – P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–  P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P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maT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 Y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OFERTA AGREGADA = Y +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 P</a:t>
            </a:r>
            <a:r>
              <a:rPr b="1" baseline="-25000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maM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 Y</a:t>
            </a: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Shape 3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Shape 3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Shape 334"/>
          <p:cNvSpPr txBox="1"/>
          <p:nvPr/>
        </p:nvSpPr>
        <p:spPr>
          <a:xfrm>
            <a:off x="4291012" y="152400"/>
            <a:ext cx="4548187" cy="10064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IMPUESTOS E IMPORTACIONES PROPORCIONALES A LA RENTA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BB4F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Shape 335"/>
          <p:cNvSpPr txBox="1"/>
          <p:nvPr/>
        </p:nvSpPr>
        <p:spPr>
          <a:xfrm>
            <a:off x="255587" y="1295400"/>
            <a:ext cx="8618536" cy="5264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Shape 336"/>
          <p:cNvSpPr txBox="1"/>
          <p:nvPr/>
        </p:nvSpPr>
        <p:spPr>
          <a:xfrm>
            <a:off x="263525" y="1524000"/>
            <a:ext cx="8575675" cy="4876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OFERTA AGREGADA = </a:t>
            </a: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maM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  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DEMANDA AGREGADA =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GP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P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T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P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 P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 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 T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EL EQUILIBRIO  OFERTA AGREGADA = DEMANDA AGREGADA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M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maM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= GP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I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C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X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– P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T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 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</a:t>
            </a: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 T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maM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= GP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I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C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X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baseline="-2500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 P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 T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X0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</a:t>
            </a: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 T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maM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 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=  GP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I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C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X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– P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T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+</a:t>
            </a: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 T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(1 - 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 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maM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=  GP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 I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C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X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 P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T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+</a:t>
            </a: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 T</a:t>
            </a:r>
            <a:r>
              <a:rPr b="1" baseline="-2500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(1 / (1 - P</a:t>
            </a:r>
            <a:r>
              <a:rPr b="1" baseline="-25000" i="0" lang="en-US" sz="14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4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4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4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 * P</a:t>
            </a:r>
            <a:r>
              <a:rPr b="1" baseline="-25000" i="0" lang="en-US" sz="14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maT </a:t>
            </a:r>
            <a:r>
              <a:rPr b="1" i="0" lang="en-US" sz="14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+ P</a:t>
            </a:r>
            <a:r>
              <a:rPr b="1" baseline="-25000" i="0" lang="en-US" sz="14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maM</a:t>
            </a:r>
            <a:r>
              <a:rPr b="1" i="0" lang="en-US" sz="14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* (GP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I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C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X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– P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* T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 +</a:t>
            </a:r>
            <a:r>
              <a:rPr b="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maC 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* T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b="1" i="0" lang="en-US" sz="14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Multiplicador      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    *                  Gasto Autónomo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Multiplicador = </a:t>
            </a:r>
            <a:r>
              <a:rPr b="1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(1 / (1 - P</a:t>
            </a:r>
            <a:r>
              <a:rPr b="1" baseline="-25000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 * P</a:t>
            </a:r>
            <a:r>
              <a:rPr b="1" baseline="-25000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maT </a:t>
            </a:r>
            <a:r>
              <a:rPr b="1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+ P</a:t>
            </a:r>
            <a:r>
              <a:rPr b="1" baseline="-25000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maM</a:t>
            </a:r>
            <a:r>
              <a:rPr b="1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r>
              <a:rPr b="0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CC00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Gasto Autónomo = (GP</a:t>
            </a:r>
            <a:r>
              <a:rPr b="1" baseline="-2500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I</a:t>
            </a:r>
            <a:r>
              <a:rPr b="1" baseline="-2500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C</a:t>
            </a:r>
            <a:r>
              <a:rPr b="1" baseline="-2500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X</a:t>
            </a:r>
            <a:r>
              <a:rPr b="1" baseline="-2500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- M</a:t>
            </a:r>
            <a:r>
              <a:rPr b="1" baseline="-2500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– P</a:t>
            </a:r>
            <a:r>
              <a:rPr b="1" baseline="-2500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* T</a:t>
            </a:r>
            <a:r>
              <a:rPr b="1" baseline="-2500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X0</a:t>
            </a: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 + P</a:t>
            </a:r>
            <a:r>
              <a:rPr b="1" baseline="-2500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* T</a:t>
            </a:r>
            <a:r>
              <a:rPr b="1" baseline="-2500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R0</a:t>
            </a: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baseline="-25000" i="0" sz="1400" u="none" cap="none" strike="noStrike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-25000" i="0" sz="1400" u="none" cap="none" strike="noStrike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Shape 337"/>
          <p:cNvSpPr/>
          <p:nvPr/>
        </p:nvSpPr>
        <p:spPr>
          <a:xfrm>
            <a:off x="8077200" y="5516562"/>
            <a:ext cx="609599" cy="579436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02773" y="37500"/>
                </a:moveTo>
                <a:lnTo>
                  <a:pt x="81386" y="14999"/>
                </a:lnTo>
                <a:lnTo>
                  <a:pt x="60000" y="37500"/>
                </a:lnTo>
                <a:lnTo>
                  <a:pt x="70693" y="37500"/>
                </a:lnTo>
                <a:lnTo>
                  <a:pt x="70693" y="71250"/>
                </a:lnTo>
                <a:cubicBezTo>
                  <a:pt x="70693" y="77463"/>
                  <a:pt x="65905" y="82500"/>
                  <a:pt x="60000" y="82500"/>
                </a:cubicBezTo>
                <a:lnTo>
                  <a:pt x="49306" y="82500"/>
                </a:lnTo>
                <a:cubicBezTo>
                  <a:pt x="43400" y="82500"/>
                  <a:pt x="38613" y="77463"/>
                  <a:pt x="38613" y="71250"/>
                </a:cubicBezTo>
                <a:lnTo>
                  <a:pt x="38613" y="37500"/>
                </a:lnTo>
                <a:lnTo>
                  <a:pt x="17226" y="37500"/>
                </a:lnTo>
                <a:lnTo>
                  <a:pt x="17226" y="71250"/>
                </a:lnTo>
                <a:cubicBezTo>
                  <a:pt x="17226" y="89889"/>
                  <a:pt x="31589" y="105000"/>
                  <a:pt x="49306" y="105000"/>
                </a:cubicBezTo>
                <a:lnTo>
                  <a:pt x="60000" y="105000"/>
                </a:lnTo>
                <a:cubicBezTo>
                  <a:pt x="77717" y="105000"/>
                  <a:pt x="92080" y="89889"/>
                  <a:pt x="92080" y="71250"/>
                </a:cubicBezTo>
                <a:lnTo>
                  <a:pt x="92080" y="37500"/>
                </a:lnTo>
                <a:close/>
              </a:path>
              <a:path extrusionOk="0" fill="darken" h="120000" w="120000">
                <a:moveTo>
                  <a:pt x="102773" y="37500"/>
                </a:moveTo>
                <a:lnTo>
                  <a:pt x="81386" y="14999"/>
                </a:lnTo>
                <a:lnTo>
                  <a:pt x="60000" y="37500"/>
                </a:lnTo>
                <a:lnTo>
                  <a:pt x="70693" y="37500"/>
                </a:lnTo>
                <a:lnTo>
                  <a:pt x="70693" y="71250"/>
                </a:lnTo>
                <a:cubicBezTo>
                  <a:pt x="70693" y="77463"/>
                  <a:pt x="65905" y="82500"/>
                  <a:pt x="60000" y="82500"/>
                </a:cubicBezTo>
                <a:lnTo>
                  <a:pt x="49306" y="82500"/>
                </a:lnTo>
                <a:cubicBezTo>
                  <a:pt x="43400" y="82500"/>
                  <a:pt x="38613" y="77463"/>
                  <a:pt x="38613" y="71250"/>
                </a:cubicBezTo>
                <a:lnTo>
                  <a:pt x="38613" y="37500"/>
                </a:lnTo>
                <a:lnTo>
                  <a:pt x="17226" y="37500"/>
                </a:lnTo>
                <a:lnTo>
                  <a:pt x="17226" y="71250"/>
                </a:lnTo>
                <a:cubicBezTo>
                  <a:pt x="17226" y="89889"/>
                  <a:pt x="31589" y="105000"/>
                  <a:pt x="49306" y="105000"/>
                </a:cubicBezTo>
                <a:lnTo>
                  <a:pt x="60000" y="105000"/>
                </a:lnTo>
                <a:cubicBezTo>
                  <a:pt x="77717" y="105000"/>
                  <a:pt x="92080" y="89889"/>
                  <a:pt x="92080" y="71250"/>
                </a:cubicBezTo>
                <a:lnTo>
                  <a:pt x="92080" y="37500"/>
                </a:lnTo>
                <a:close/>
              </a:path>
              <a:path extrusionOk="0" fill="none" h="120000" w="120000">
                <a:moveTo>
                  <a:pt x="102773" y="37500"/>
                </a:moveTo>
                <a:lnTo>
                  <a:pt x="92080" y="37500"/>
                </a:lnTo>
                <a:lnTo>
                  <a:pt x="92080" y="71250"/>
                </a:lnTo>
                <a:cubicBezTo>
                  <a:pt x="92080" y="89889"/>
                  <a:pt x="77717" y="105000"/>
                  <a:pt x="60000" y="105000"/>
                </a:cubicBezTo>
                <a:lnTo>
                  <a:pt x="49306" y="105000"/>
                </a:lnTo>
                <a:cubicBezTo>
                  <a:pt x="31589" y="105000"/>
                  <a:pt x="17226" y="89889"/>
                  <a:pt x="17226" y="71250"/>
                </a:cubicBezTo>
                <a:lnTo>
                  <a:pt x="17226" y="37500"/>
                </a:lnTo>
                <a:lnTo>
                  <a:pt x="38613" y="37500"/>
                </a:lnTo>
                <a:lnTo>
                  <a:pt x="38613" y="71250"/>
                </a:lnTo>
                <a:cubicBezTo>
                  <a:pt x="38613" y="77463"/>
                  <a:pt x="43400" y="82500"/>
                  <a:pt x="49306" y="82500"/>
                </a:cubicBezTo>
                <a:lnTo>
                  <a:pt x="60000" y="82500"/>
                </a:lnTo>
                <a:cubicBezTo>
                  <a:pt x="65905" y="82500"/>
                  <a:pt x="70693" y="77463"/>
                  <a:pt x="70693" y="71250"/>
                </a:cubicBezTo>
                <a:lnTo>
                  <a:pt x="70693" y="37500"/>
                </a:lnTo>
                <a:lnTo>
                  <a:pt x="60000" y="37500"/>
                </a:lnTo>
                <a:lnTo>
                  <a:pt x="81386" y="14999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Shape 3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Shape 3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Shape 344"/>
          <p:cNvSpPr txBox="1"/>
          <p:nvPr/>
        </p:nvSpPr>
        <p:spPr>
          <a:xfrm>
            <a:off x="4291012" y="152400"/>
            <a:ext cx="4548187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MULTIPLICADORES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BB4F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Shape 345"/>
          <p:cNvSpPr txBox="1"/>
          <p:nvPr/>
        </p:nvSpPr>
        <p:spPr>
          <a:xfrm>
            <a:off x="255587" y="1295400"/>
            <a:ext cx="8618536" cy="5264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Shape 346"/>
          <p:cNvSpPr txBox="1"/>
          <p:nvPr/>
        </p:nvSpPr>
        <p:spPr>
          <a:xfrm>
            <a:off x="263525" y="1295400"/>
            <a:ext cx="8575675" cy="5105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= T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XO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M = M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= C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 Y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= T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XO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Y – (T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T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T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 = C</a:t>
            </a:r>
            <a:r>
              <a:rPr b="1" baseline="-2500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maC </a:t>
            </a: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* Y- P</a:t>
            </a:r>
            <a:r>
              <a:rPr b="1" baseline="-2500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maC </a:t>
            </a: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* T</a:t>
            </a:r>
            <a:r>
              <a:rPr b="1" baseline="-2500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xo</a:t>
            </a: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+ P</a:t>
            </a:r>
            <a:r>
              <a:rPr b="1" baseline="-2500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* T</a:t>
            </a:r>
            <a:r>
              <a:rPr b="1" baseline="-2500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RO</a:t>
            </a: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		</a:t>
            </a:r>
            <a:r>
              <a:rPr b="1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Multiplicador = (1 / (1 - PmaC))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GP = GP</a:t>
            </a:r>
            <a:r>
              <a:rPr b="1" baseline="-2500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 = M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= X</a:t>
            </a:r>
            <a:r>
              <a:rPr b="1" baseline="-2500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1" i="0" lang="en-US" sz="12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= T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XO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 Y	M = M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Multiplicador = (1 / (1 – PmaC * (1- PmaT)) = (1 / (1-PmaC + PmaC*PmaT))</a:t>
            </a: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= T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XO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Y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 = M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maM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Y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rgbClr val="CC00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rgbClr val="CC0099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Multiplicador = (1 / (1 - P</a:t>
            </a:r>
            <a:r>
              <a:rPr b="1" baseline="-25000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 * P</a:t>
            </a:r>
            <a:r>
              <a:rPr b="1" baseline="-25000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maT  </a:t>
            </a:r>
            <a:r>
              <a:rPr b="1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+ P</a:t>
            </a:r>
            <a:r>
              <a:rPr b="1" baseline="-25000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maM</a:t>
            </a:r>
            <a:r>
              <a:rPr b="1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r>
              <a:rPr b="0" i="0" lang="en-US" sz="1800" u="none" cap="none" strike="noStrik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0" lvl="0" marL="0" marR="0" rtl="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CC00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baseline="-25000" i="0" sz="1400" u="none" cap="none" strike="noStrike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-25000" i="0" sz="1400" u="none" cap="none" strike="noStrike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Shape 347"/>
          <p:cNvSpPr/>
          <p:nvPr/>
        </p:nvSpPr>
        <p:spPr>
          <a:xfrm>
            <a:off x="1600200" y="1752600"/>
            <a:ext cx="152399" cy="68579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Shape 348"/>
          <p:cNvSpPr/>
          <p:nvPr/>
        </p:nvSpPr>
        <p:spPr>
          <a:xfrm>
            <a:off x="3429000" y="1676400"/>
            <a:ext cx="152399" cy="1828800"/>
          </a:xfrm>
          <a:prstGeom prst="rightBrace">
            <a:avLst>
              <a:gd fmla="val 8333" name="adj1"/>
              <a:gd fmla="val 9788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Shape 349"/>
          <p:cNvSpPr/>
          <p:nvPr/>
        </p:nvSpPr>
        <p:spPr>
          <a:xfrm>
            <a:off x="7543800" y="5562600"/>
            <a:ext cx="533399" cy="381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Shape 350"/>
          <p:cNvSpPr/>
          <p:nvPr/>
        </p:nvSpPr>
        <p:spPr>
          <a:xfrm>
            <a:off x="263525" y="1295400"/>
            <a:ext cx="1870074" cy="304799"/>
          </a:xfrm>
          <a:prstGeom prst="rect">
            <a:avLst/>
          </a:prstGeom>
          <a:solidFill>
            <a:srgbClr val="FFFF99">
              <a:alpha val="23921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Shape 351"/>
          <p:cNvSpPr/>
          <p:nvPr/>
        </p:nvSpPr>
        <p:spPr>
          <a:xfrm>
            <a:off x="263525" y="3810000"/>
            <a:ext cx="2479675" cy="304799"/>
          </a:xfrm>
          <a:prstGeom prst="rect">
            <a:avLst/>
          </a:prstGeom>
          <a:solidFill>
            <a:srgbClr val="FFFF99">
              <a:alpha val="13725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Shape 352"/>
          <p:cNvSpPr/>
          <p:nvPr/>
        </p:nvSpPr>
        <p:spPr>
          <a:xfrm>
            <a:off x="263525" y="4953000"/>
            <a:ext cx="3317875" cy="381000"/>
          </a:xfrm>
          <a:prstGeom prst="rect">
            <a:avLst/>
          </a:prstGeom>
          <a:solidFill>
            <a:srgbClr val="FFFF99">
              <a:alpha val="18823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357"/>
          <p:cNvSpPr txBox="1"/>
          <p:nvPr>
            <p:ph idx="4294967295" type="ctrTitle"/>
          </p:nvPr>
        </p:nvSpPr>
        <p:spPr>
          <a:xfrm>
            <a:off x="685800" y="3736975"/>
            <a:ext cx="7239000" cy="10636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r>
              <a:rPr b="1" i="1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Balanza de Pagos</a:t>
            </a:r>
          </a:p>
        </p:txBody>
      </p:sp>
      <p:pic>
        <p:nvPicPr>
          <p:cNvPr id="358" name="Shape 3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363"/>
          <p:cNvSpPr txBox="1"/>
          <p:nvPr>
            <p:ph idx="4294967295" type="title"/>
          </p:nvPr>
        </p:nvSpPr>
        <p:spPr>
          <a:xfrm>
            <a:off x="4572000" y="228600"/>
            <a:ext cx="32766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DEFINICIÓN</a:t>
            </a:r>
            <a:b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</a:p>
        </p:txBody>
      </p:sp>
      <p:sp>
        <p:nvSpPr>
          <p:cNvPr id="364" name="Shape 364"/>
          <p:cNvSpPr txBox="1"/>
          <p:nvPr>
            <p:ph idx="4294967295" type="body"/>
          </p:nvPr>
        </p:nvSpPr>
        <p:spPr>
          <a:xfrm>
            <a:off x="0" y="1676400"/>
            <a:ext cx="8915400" cy="426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469900" lvl="0" marL="469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balanza de pagos es el registro sistemático de las transacciones económicas realizadas durante un tiempo determinado entre los residentes de un país y el resto del mundo.</a:t>
            </a:r>
          </a:p>
          <a:p>
            <a:pPr indent="-469900" lvl="0" marL="469900" marR="0" rtl="0" algn="just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9900" lvl="0" marL="469900" marR="0" rtl="0" algn="just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contabilizan los </a:t>
            </a:r>
            <a:r>
              <a:rPr b="1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ingresos</a:t>
            </a: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(por exportaciones de mercancías o por entradas de capital) y los </a:t>
            </a:r>
            <a:r>
              <a:rPr b="1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pagos </a:t>
            </a: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(por importaciones de mercancías o por las inversiones en el extranjero de nuestro país). Ambos en moneda extranjera.</a:t>
            </a:r>
          </a:p>
        </p:txBody>
      </p:sp>
      <p:pic>
        <p:nvPicPr>
          <p:cNvPr id="365" name="Shape 3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hape 370"/>
          <p:cNvSpPr txBox="1"/>
          <p:nvPr>
            <p:ph idx="4294967295" type="title"/>
          </p:nvPr>
        </p:nvSpPr>
        <p:spPr>
          <a:xfrm>
            <a:off x="3886200" y="152400"/>
            <a:ext cx="5105399" cy="966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r>
              <a:rPr b="0" i="0" lang="en-U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LA BALANZA DE PAGOS</a:t>
            </a:r>
          </a:p>
        </p:txBody>
      </p:sp>
      <p:sp>
        <p:nvSpPr>
          <p:cNvPr id="371" name="Shape 371"/>
          <p:cNvSpPr txBox="1"/>
          <p:nvPr>
            <p:ph idx="4294967295" type="body"/>
          </p:nvPr>
        </p:nvSpPr>
        <p:spPr>
          <a:xfrm>
            <a:off x="457200" y="1600200"/>
            <a:ext cx="8229600" cy="4525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divide en dos grandes bloques o sub - balanzas: </a:t>
            </a:r>
          </a:p>
          <a:p>
            <a:pPr indent="0" lvl="1" marL="266700" marR="0" rtl="0" algn="just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Cuenta Corriente. </a:t>
            </a:r>
          </a:p>
          <a:p>
            <a:pPr indent="0" lvl="1" marL="266700" marR="0" rtl="0" algn="just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266700" marR="0" rtl="0" algn="just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Cuenta Capital y Financiera. </a:t>
            </a:r>
          </a:p>
          <a:p>
            <a:pPr indent="0" lvl="1" marL="266700" marR="0" rtl="0" algn="just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266700" marR="0" rtl="0" algn="just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-Incluye una partida “errores y omisiones” de carácter residual.</a:t>
            </a:r>
          </a:p>
        </p:txBody>
      </p:sp>
      <p:pic>
        <p:nvPicPr>
          <p:cNvPr id="372" name="Shape 3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377"/>
          <p:cNvSpPr txBox="1"/>
          <p:nvPr>
            <p:ph idx="4294967295" type="body"/>
          </p:nvPr>
        </p:nvSpPr>
        <p:spPr>
          <a:xfrm>
            <a:off x="152400" y="1827211"/>
            <a:ext cx="8686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Balanza de Pagos es realizada por el INDEC con la información suministrada por: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350" lvl="1" marL="361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AFIP : DGI (Dirección General Impositiva)</a:t>
            </a:r>
          </a:p>
          <a:p>
            <a:pPr indent="-6350" lvl="1" marL="361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DGA (Dirección General de Aduanas)</a:t>
            </a:r>
          </a:p>
          <a:p>
            <a:pPr indent="-6350" lvl="1" marL="361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BCRA: bancos autorizados para cambio de divisas y casas de cambio</a:t>
            </a:r>
          </a:p>
        </p:txBody>
      </p:sp>
      <p:sp>
        <p:nvSpPr>
          <p:cNvPr id="378" name="Shape 378"/>
          <p:cNvSpPr txBox="1"/>
          <p:nvPr/>
        </p:nvSpPr>
        <p:spPr>
          <a:xfrm>
            <a:off x="3962400" y="457200"/>
            <a:ext cx="4876799" cy="5302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BALANZA DE PAGOS</a:t>
            </a:r>
          </a:p>
        </p:txBody>
      </p:sp>
      <p:pic>
        <p:nvPicPr>
          <p:cNvPr id="379" name="Shape 3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Shape 384"/>
          <p:cNvSpPr txBox="1"/>
          <p:nvPr/>
        </p:nvSpPr>
        <p:spPr>
          <a:xfrm>
            <a:off x="3200400" y="304800"/>
            <a:ext cx="5791200" cy="8699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BALANCE DE PAGOS: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UNA APROXIMACIÓN</a:t>
            </a:r>
          </a:p>
        </p:txBody>
      </p:sp>
      <p:sp>
        <p:nvSpPr>
          <p:cNvPr id="385" name="Shape 385"/>
          <p:cNvSpPr txBox="1"/>
          <p:nvPr/>
        </p:nvSpPr>
        <p:spPr>
          <a:xfrm>
            <a:off x="152400" y="2057400"/>
            <a:ext cx="8839199" cy="4038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25000"/>
              <a:buFont typeface="Verdana"/>
              <a:buNone/>
            </a:pPr>
            <a:r>
              <a:rPr b="0" i="0" lang="en-US" sz="1800" u="none" cap="none" strike="noStrike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Donde:</a:t>
            </a:r>
          </a:p>
          <a:p>
            <a:pPr indent="0" lvl="3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Verdana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 + I + G = A (Absorción doméstica)</a:t>
            </a:r>
          </a:p>
          <a:p>
            <a:pPr indent="0" lvl="3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3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Verdana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XN + RNFE  = CC (Cuenta Corriente)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Verdana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</a:t>
            </a: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= CONSUMO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= INVERSIÓN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G</a:t>
            </a: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= GASTO PÚBLICO 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Verdana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XN</a:t>
            </a: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= EXPORTACIONES NETAS (X-M)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RNFE</a:t>
            </a: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= RENTA NETA DE FACTORES EXTERNOS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25000"/>
              <a:buFont typeface="Verdana"/>
              <a:buNone/>
            </a:pPr>
            <a:r>
              <a:rPr b="0" i="0" lang="en-US" sz="1800" u="none" cap="none" strike="noStrike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Si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25000"/>
              <a:buFont typeface="Verdana"/>
              <a:buNone/>
            </a:pPr>
            <a:r>
              <a:rPr b="0" i="0" lang="en-US" sz="1800" u="none" cap="none" strike="noStrike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	Y - A = CC</a:t>
            </a:r>
            <a:r>
              <a:rPr b="0" i="0" lang="en-US" sz="1800" u="none" cap="none" strike="noStrike">
                <a:solidFill>
                  <a:srgbClr val="00808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Verdana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En economía abierta, el gasto en bienes  y servicios (A) puede no coincidir con el ingreso. 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Pct val="25000"/>
              <a:buFont typeface="Verdana"/>
              <a:buNone/>
            </a:pPr>
            <a:r>
              <a:rPr b="0" i="0" lang="en-US" sz="1800" u="none" cap="none" strike="noStrike">
                <a:solidFill>
                  <a:srgbClr val="00808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b="0" i="0" lang="en-US" sz="1800" u="none" cap="none" strike="noStrike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Y - A &gt; CC 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Verdana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La CC es positiva e implica un ahorro en activos externos.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Noto Sans Symbols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Pct val="25000"/>
              <a:buFont typeface="Verdana"/>
              <a:buNone/>
            </a:pPr>
            <a:r>
              <a:rPr b="1" i="0" lang="en-US" sz="1800" u="none" cap="none" strike="noStrike">
                <a:solidFill>
                  <a:srgbClr val="00808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b="0" i="0" lang="en-US" sz="1800" u="none" cap="none" strike="noStrike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Y - A &lt; CC</a:t>
            </a:r>
            <a:r>
              <a:rPr b="1" i="0" lang="en-US" sz="1800" u="none" cap="none" strike="noStrike">
                <a:solidFill>
                  <a:srgbClr val="00808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Verdana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La CC es negativa e implica un endeudamiento con el exterior.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6" name="Shape 386"/>
          <p:cNvSpPr txBox="1"/>
          <p:nvPr/>
        </p:nvSpPr>
        <p:spPr>
          <a:xfrm>
            <a:off x="152400" y="1600200"/>
            <a:ext cx="8305799" cy="427037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Pct val="25000"/>
              <a:buFont typeface="Verdana"/>
              <a:buNone/>
            </a:pPr>
            <a:r>
              <a:rPr b="1" i="0" lang="en-US" sz="2200" u="none" cap="none" strike="noStrike">
                <a:solidFill>
                  <a:srgbClr val="008080"/>
                </a:solidFill>
                <a:latin typeface="Verdana"/>
                <a:ea typeface="Verdana"/>
                <a:cs typeface="Verdana"/>
                <a:sym typeface="Verdana"/>
              </a:rPr>
              <a:t>PBN = PIB (Y) + RNFE = C + I + G + XN + RNFE</a:t>
            </a:r>
          </a:p>
        </p:txBody>
      </p:sp>
      <p:pic>
        <p:nvPicPr>
          <p:cNvPr id="387" name="Shape 3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Shape 392"/>
          <p:cNvSpPr txBox="1"/>
          <p:nvPr/>
        </p:nvSpPr>
        <p:spPr>
          <a:xfrm>
            <a:off x="4267200" y="0"/>
            <a:ext cx="4419599" cy="13271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Balance de Pagos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Una aproximación</a:t>
            </a:r>
          </a:p>
        </p:txBody>
      </p:sp>
      <p:sp>
        <p:nvSpPr>
          <p:cNvPr id="393" name="Shape 393"/>
          <p:cNvSpPr txBox="1"/>
          <p:nvPr/>
        </p:nvSpPr>
        <p:spPr>
          <a:xfrm>
            <a:off x="228600" y="1600200"/>
            <a:ext cx="86868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Pct val="25000"/>
              <a:buFont typeface="Helvetica Neue"/>
              <a:buNone/>
            </a:pPr>
            <a:r>
              <a:rPr b="1" i="0" lang="en-US" sz="2400" u="sng" cap="none" strike="noStrike">
                <a:solidFill>
                  <a:srgbClr val="0080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Primer resultado de Economía abierta</a:t>
            </a:r>
            <a:r>
              <a:rPr b="0" i="0" lang="en-US" sz="2400" u="sng" cap="none" strike="noStrike">
                <a:solidFill>
                  <a:srgbClr val="0080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r>
              <a:rPr b="0" i="0" lang="en-US" sz="2400" u="sng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</a:p>
          <a:p>
            <a:pPr indent="1270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❖"/>
            </a:pPr>
            <a:r>
              <a:rPr b="0" i="0" lang="en-US" sz="2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 una economía tiene déficit en su CC entonces  está endeudándose; si tiene un superávit, entonces está acumulando activos externos.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1270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❖"/>
            </a:pPr>
            <a:r>
              <a:rPr b="0" i="0" lang="en-US" sz="2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¿Es siempre preocupante mantener un déficit en CC?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1270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❖"/>
            </a:pPr>
            <a:r>
              <a:rPr b="0" i="0" lang="en-US" sz="2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Independientemente de la bondad o no de un déficit en CC éste siempre indica una entrada de capitales 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Pct val="25000"/>
              <a:buFont typeface="Helvetica Neue"/>
              <a:buNone/>
            </a:pPr>
            <a:r>
              <a:rPr b="1" i="0" lang="en-US" sz="2400" u="sng" cap="none" strike="noStrike">
                <a:solidFill>
                  <a:srgbClr val="0080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Segundo resultado de Economía Abierta:</a:t>
            </a:r>
          </a:p>
          <a:p>
            <a:pPr indent="1270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❖"/>
            </a:pPr>
            <a:r>
              <a:rPr b="0" i="0" lang="en-US" sz="2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 déficit en CC implica una entrada de capitales; un superávit en CC implica una salida de capitales </a:t>
            </a:r>
          </a:p>
        </p:txBody>
      </p:sp>
      <p:pic>
        <p:nvPicPr>
          <p:cNvPr id="394" name="Shape 3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Shape 399"/>
          <p:cNvSpPr txBox="1"/>
          <p:nvPr/>
        </p:nvSpPr>
        <p:spPr>
          <a:xfrm>
            <a:off x="3962400" y="533400"/>
            <a:ext cx="4953000" cy="869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El Balance de Pagos</a:t>
            </a:r>
          </a:p>
        </p:txBody>
      </p:sp>
      <p:sp>
        <p:nvSpPr>
          <p:cNvPr id="400" name="Shape 400"/>
          <p:cNvSpPr txBox="1"/>
          <p:nvPr/>
        </p:nvSpPr>
        <p:spPr>
          <a:xfrm>
            <a:off x="228599" y="2527300"/>
            <a:ext cx="8766300" cy="1054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Pct val="25000"/>
              <a:buFont typeface="Calibri"/>
              <a:buNone/>
            </a:pPr>
            <a:r>
              <a:rPr b="1" i="0" lang="en-US" sz="2000" u="none" cap="none" strike="noStrike">
                <a:solidFill>
                  <a:srgbClr val="008080"/>
                </a:solidFill>
                <a:latin typeface="Calibri"/>
                <a:ea typeface="Calibri"/>
                <a:cs typeface="Calibri"/>
                <a:sym typeface="Calibri"/>
              </a:rPr>
              <a:t>Balance de Pagos: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mide todas las transacciones del país con el resto del mundo. 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Shape 401"/>
          <p:cNvSpPr txBox="1"/>
          <p:nvPr/>
        </p:nvSpPr>
        <p:spPr>
          <a:xfrm>
            <a:off x="228599" y="4267199"/>
            <a:ext cx="8459786" cy="1185862"/>
          </a:xfrm>
          <a:prstGeom prst="rect">
            <a:avLst/>
          </a:prstGeom>
          <a:solidFill>
            <a:srgbClr val="EEEDBD"/>
          </a:solidFill>
          <a:ln cap="flat" cmpd="thickThin" w="57150">
            <a:solidFill>
              <a:srgbClr val="00808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Pct val="25000"/>
              <a:buFont typeface="Verdana"/>
              <a:buNone/>
            </a:pPr>
            <a:r>
              <a:rPr b="0" i="0" lang="en-US" sz="3200" u="none" cap="none" strike="noStrike">
                <a:solidFill>
                  <a:srgbClr val="008080"/>
                </a:solidFill>
                <a:latin typeface="Verdana"/>
                <a:ea typeface="Verdana"/>
                <a:cs typeface="Verdana"/>
                <a:sym typeface="Verdana"/>
              </a:rPr>
              <a:t>BP = CC + CK</a:t>
            </a:r>
            <a:r>
              <a:rPr b="0" i="0" lang="en-US" sz="2000" u="none" cap="none" strike="noStrike">
                <a:solidFill>
                  <a:srgbClr val="00808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00808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Pct val="25000"/>
              <a:buFont typeface="Verdana"/>
              <a:buNone/>
            </a:pPr>
            <a:r>
              <a:rPr b="0" i="0" lang="en-US" sz="2000" u="none" cap="none" strike="noStrike">
                <a:solidFill>
                  <a:srgbClr val="008080"/>
                </a:solidFill>
                <a:latin typeface="Verdana"/>
                <a:ea typeface="Verdana"/>
                <a:cs typeface="Verdana"/>
                <a:sym typeface="Verdana"/>
              </a:rPr>
              <a:t>BP = XN + RNFE + Entrada de Capitales – Salida de Capitales</a:t>
            </a:r>
          </a:p>
        </p:txBody>
      </p:sp>
      <p:pic>
        <p:nvPicPr>
          <p:cNvPr id="402" name="Shape 4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407"/>
          <p:cNvSpPr txBox="1"/>
          <p:nvPr/>
        </p:nvSpPr>
        <p:spPr>
          <a:xfrm>
            <a:off x="304800" y="1676400"/>
            <a:ext cx="8610599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i="0" lang="en-US" sz="1900" u="none" cap="none" strike="noStrike">
                <a:solidFill>
                  <a:srgbClr val="008080"/>
                </a:solidFill>
                <a:latin typeface="Calibri"/>
                <a:ea typeface="Calibri"/>
                <a:cs typeface="Calibri"/>
                <a:sym typeface="Calibri"/>
              </a:rPr>
              <a:t>Cuenta Corriente</a:t>
            </a:r>
            <a:r>
              <a:rPr b="1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desagrega en las siguientes cuentas:</a:t>
            </a:r>
          </a:p>
          <a:p>
            <a:pPr indent="12700" lvl="1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Char char="❖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rgbClr val="008080"/>
                </a:solidFill>
                <a:latin typeface="Calibri"/>
                <a:ea typeface="Calibri"/>
                <a:cs typeface="Calibri"/>
                <a:sym typeface="Calibri"/>
              </a:rPr>
              <a:t>Balanza comercial o de mercancías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través del saldo comercial.</a:t>
            </a:r>
          </a:p>
          <a:p>
            <a:pPr indent="12700" lvl="1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Char char="❖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rgbClr val="008080"/>
                </a:solidFill>
                <a:latin typeface="Calibri"/>
                <a:ea typeface="Calibri"/>
                <a:cs typeface="Calibri"/>
                <a:sym typeface="Calibri"/>
              </a:rPr>
              <a:t>Balanza de Servicios Reales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pago de seguros, fletes, servicios financieros y regalías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turismo.</a:t>
            </a:r>
          </a:p>
          <a:p>
            <a:pPr indent="12700" lvl="1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Char char="❖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rgbClr val="008080"/>
                </a:solidFill>
                <a:latin typeface="Calibri"/>
                <a:ea typeface="Calibri"/>
                <a:cs typeface="Calibri"/>
                <a:sym typeface="Calibri"/>
              </a:rPr>
              <a:t>Renta Neta de Factores del Exterior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comprende rentas de inversión que incluyen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intereses por deudas con el exterior más utilidades y dividendos.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ingresos del trabajo, tanto como los de capital, por los residentes hacen que varíe el ingreso nacional bruto disponible.</a:t>
            </a:r>
          </a:p>
          <a:p>
            <a:pPr indent="12700" lvl="1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Char char="❖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rgbClr val="008080"/>
                </a:solidFill>
                <a:latin typeface="Calibri"/>
                <a:ea typeface="Calibri"/>
                <a:cs typeface="Calibri"/>
                <a:sym typeface="Calibri"/>
              </a:rPr>
              <a:t>Transferencias Corrientes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</p:txBody>
      </p:sp>
      <p:sp>
        <p:nvSpPr>
          <p:cNvPr id="408" name="Shape 408"/>
          <p:cNvSpPr txBox="1"/>
          <p:nvPr/>
        </p:nvSpPr>
        <p:spPr>
          <a:xfrm>
            <a:off x="2895600" y="228600"/>
            <a:ext cx="5791200" cy="1219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0" i="0" lang="en-US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El Balance de Pagos: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0" i="0" lang="en-US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Cuenta Corriente</a:t>
            </a:r>
          </a:p>
        </p:txBody>
      </p:sp>
      <p:sp>
        <p:nvSpPr>
          <p:cNvPr id="409" name="Shape 409"/>
          <p:cNvSpPr txBox="1"/>
          <p:nvPr/>
        </p:nvSpPr>
        <p:spPr>
          <a:xfrm>
            <a:off x="457199" y="5486399"/>
            <a:ext cx="8231187" cy="1003300"/>
          </a:xfrm>
          <a:prstGeom prst="rect">
            <a:avLst/>
          </a:prstGeom>
          <a:solidFill>
            <a:srgbClr val="EEEDBD"/>
          </a:solidFill>
          <a:ln cap="flat" cmpd="thickThin" w="57150">
            <a:solidFill>
              <a:srgbClr val="00808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Pct val="25000"/>
              <a:buFont typeface="Calibri"/>
              <a:buNone/>
            </a:pPr>
            <a:r>
              <a:rPr b="0" i="0" lang="en-US" sz="2700" u="none" cap="none" strike="noStrike">
                <a:solidFill>
                  <a:srgbClr val="008080"/>
                </a:solidFill>
                <a:latin typeface="Calibri"/>
                <a:ea typeface="Calibri"/>
                <a:cs typeface="Calibri"/>
                <a:sym typeface="Calibri"/>
              </a:rPr>
              <a:t>CC = X - M + Renta Neta del Factores del Exterior + Transferencias Corrientes Netas</a:t>
            </a:r>
          </a:p>
        </p:txBody>
      </p:sp>
      <p:pic>
        <p:nvPicPr>
          <p:cNvPr id="410" name="Shape 4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hape 415"/>
          <p:cNvSpPr txBox="1"/>
          <p:nvPr/>
        </p:nvSpPr>
        <p:spPr>
          <a:xfrm>
            <a:off x="3352800" y="152400"/>
            <a:ext cx="5486399" cy="1174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0" i="0" lang="en-US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EL BALANCE DE PAGOS: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0" i="0" lang="en-US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CUENTA CAPITAL </a:t>
            </a:r>
          </a:p>
        </p:txBody>
      </p:sp>
      <p:sp>
        <p:nvSpPr>
          <p:cNvPr id="416" name="Shape 416"/>
          <p:cNvSpPr txBox="1"/>
          <p:nvPr/>
        </p:nvSpPr>
        <p:spPr>
          <a:xfrm>
            <a:off x="228600" y="1752600"/>
            <a:ext cx="8763000" cy="4419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Helvetica Neue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</a:t>
            </a:r>
            <a:r>
              <a:rPr b="1" i="0" lang="en-US" sz="2700" u="none" cap="none" strike="noStrike">
                <a:solidFill>
                  <a:srgbClr val="0080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Cuenta Capital</a:t>
            </a:r>
            <a:r>
              <a:rPr b="1" i="0" lang="en-US" sz="2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comprende transferencias de capital  y transferencias de patentes y derechos de propiedad.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Helvetica Neue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</a:t>
            </a:r>
            <a:r>
              <a:rPr b="1" i="0" lang="en-US" sz="2700" u="none" cap="none" strike="noStrike">
                <a:solidFill>
                  <a:srgbClr val="0080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Cuenta Financiera</a:t>
            </a:r>
            <a:r>
              <a:rPr b="1" i="0" lang="en-US" sz="2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comprende</a:t>
            </a:r>
          </a:p>
          <a:p>
            <a:pPr indent="127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❖"/>
            </a:pPr>
            <a:r>
              <a:rPr b="0" i="0" lang="en-US" sz="2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700" u="none" cap="none" strike="noStrike">
                <a:solidFill>
                  <a:srgbClr val="0080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Inversión Directa</a:t>
            </a:r>
            <a:r>
              <a:rPr b="0" i="0" lang="en-US" sz="2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aportes de capital, reinversión de utilidades.</a:t>
            </a:r>
          </a:p>
          <a:p>
            <a:pPr indent="127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❖"/>
            </a:pPr>
            <a:r>
              <a:rPr b="0" i="0" lang="en-US" sz="2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700" u="none" cap="none" strike="noStrike">
                <a:solidFill>
                  <a:srgbClr val="0080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Inversión de Cartera</a:t>
            </a:r>
            <a:r>
              <a:rPr b="0" i="0" lang="en-US" sz="2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endeudamiento con no residentes.</a:t>
            </a:r>
          </a:p>
          <a:p>
            <a:pPr indent="127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❖"/>
            </a:pPr>
            <a:r>
              <a:rPr b="0" i="0" lang="en-US" sz="2700" u="none" cap="none" strike="noStrike">
                <a:solidFill>
                  <a:srgbClr val="0080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Variaciones de Reservas Internacionales : </a:t>
            </a:r>
            <a:r>
              <a:rPr b="0" i="0" lang="en-US" sz="2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comprende las variaciones en las Reservas internacionales del Banco Central, excluyendo las tenencias de títulos públicos.</a:t>
            </a:r>
          </a:p>
        </p:txBody>
      </p:sp>
      <p:pic>
        <p:nvPicPr>
          <p:cNvPr id="417" name="Shape 4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