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  <p:sldMasterId id="2147483701" r:id="rId2"/>
  </p:sldMasterIdLst>
  <p:sldIdLst>
    <p:sldId id="256" r:id="rId3"/>
    <p:sldId id="257" r:id="rId4"/>
    <p:sldId id="258" r:id="rId5"/>
    <p:sldId id="277" r:id="rId6"/>
    <p:sldId id="274" r:id="rId7"/>
    <p:sldId id="260" r:id="rId8"/>
    <p:sldId id="262" r:id="rId9"/>
    <p:sldId id="275" r:id="rId10"/>
    <p:sldId id="276" r:id="rId11"/>
    <p:sldId id="263" r:id="rId12"/>
    <p:sldId id="264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s-MX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382" autoAdjust="0"/>
    <p:restoredTop sz="94660"/>
  </p:normalViewPr>
  <p:slideViewPr>
    <p:cSldViewPr>
      <p:cViewPr varScale="1">
        <p:scale>
          <a:sx n="51" d="100"/>
          <a:sy n="51" d="100"/>
        </p:scale>
        <p:origin x="744" y="2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63BEC-04D8-4BFC-886B-E8505226726C}" type="datetimeFigureOut">
              <a:rPr lang="es-AR" smtClean="0"/>
              <a:pPr/>
              <a:t>31/3/2026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DFD3F-A08A-427D-9D6D-C939DA336178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27092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63BEC-04D8-4BFC-886B-E8505226726C}" type="datetimeFigureOut">
              <a:rPr lang="es-AR" smtClean="0"/>
              <a:pPr/>
              <a:t>31/3/2026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DFD3F-A08A-427D-9D6D-C939DA336178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06192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63BEC-04D8-4BFC-886B-E8505226726C}" type="datetimeFigureOut">
              <a:rPr lang="es-AR" smtClean="0"/>
              <a:pPr/>
              <a:t>31/3/2026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DFD3F-A08A-427D-9D6D-C939DA336178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68993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63BEC-04D8-4BFC-886B-E8505226726C}" type="datetimeFigureOut">
              <a:rPr lang="es-AR" smtClean="0"/>
              <a:pPr/>
              <a:t>31/3/2026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DFD3F-A08A-427D-9D6D-C939DA336178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21321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63BEC-04D8-4BFC-886B-E8505226726C}" type="datetimeFigureOut">
              <a:rPr lang="es-AR" smtClean="0"/>
              <a:pPr/>
              <a:t>31/3/2026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DFD3F-A08A-427D-9D6D-C939DA336178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6368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63BEC-04D8-4BFC-886B-E8505226726C}" type="datetimeFigureOut">
              <a:rPr lang="es-AR" smtClean="0"/>
              <a:pPr/>
              <a:t>31/3/2026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DFD3F-A08A-427D-9D6D-C939DA336178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95825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63BEC-04D8-4BFC-886B-E8505226726C}" type="datetimeFigureOut">
              <a:rPr lang="es-AR" smtClean="0"/>
              <a:pPr/>
              <a:t>31/3/2026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DFD3F-A08A-427D-9D6D-C939DA336178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14273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63BEC-04D8-4BFC-886B-E8505226726C}" type="datetimeFigureOut">
              <a:rPr lang="es-AR" smtClean="0"/>
              <a:pPr/>
              <a:t>31/3/2026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DFD3F-A08A-427D-9D6D-C939DA336178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90470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63BEC-04D8-4BFC-886B-E8505226726C}" type="datetimeFigureOut">
              <a:rPr lang="es-AR" smtClean="0"/>
              <a:pPr/>
              <a:t>31/3/2026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DFD3F-A08A-427D-9D6D-C939DA336178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65253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63BEC-04D8-4BFC-886B-E8505226726C}" type="datetimeFigureOut">
              <a:rPr lang="es-AR" smtClean="0"/>
              <a:pPr/>
              <a:t>31/3/2026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DFD3F-A08A-427D-9D6D-C939DA336178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55147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63BEC-04D8-4BFC-886B-E8505226726C}" type="datetimeFigureOut">
              <a:rPr lang="es-AR" smtClean="0"/>
              <a:pPr/>
              <a:t>31/3/2026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DFD3F-A08A-427D-9D6D-C939DA336178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43952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13" name="Group 21">
            <a:extLst>
              <a:ext uri="{FF2B5EF4-FFF2-40B4-BE49-F238E27FC236}">
                <a16:creationId xmlns:a16="http://schemas.microsoft.com/office/drawing/2014/main" id="{8E113C58-1472-4F2D-88D1-9121E81666BE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7823200" cy="6858000"/>
            <a:chOff x="0" y="0"/>
            <a:chExt cx="3696" cy="4320"/>
          </a:xfrm>
        </p:grpSpPr>
        <p:sp>
          <p:nvSpPr>
            <p:cNvPr id="8194" name="Rectangle 2">
              <a:extLst>
                <a:ext uri="{FF2B5EF4-FFF2-40B4-BE49-F238E27FC236}">
                  <a16:creationId xmlns:a16="http://schemas.microsoft.com/office/drawing/2014/main" id="{CE226A80-6E6E-4289-A13F-EC3BF0C489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880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s-MX" altLang="es-AR" sz="2400">
                <a:latin typeface="Times New Roman" panose="02020603050405020304" pitchFamily="18" charset="0"/>
              </a:endParaRPr>
            </a:p>
          </p:txBody>
        </p:sp>
        <p:sp>
          <p:nvSpPr>
            <p:cNvPr id="8195" name="AutoShape 3">
              <a:extLst>
                <a:ext uri="{FF2B5EF4-FFF2-40B4-BE49-F238E27FC236}">
                  <a16:creationId xmlns:a16="http://schemas.microsoft.com/office/drawing/2014/main" id="{044556A3-27CA-46F1-B02C-088389C3CA4B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32" y="624"/>
              <a:ext cx="3264" cy="1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s-MX" altLang="es-AR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210" name="Group 18">
            <a:extLst>
              <a:ext uri="{FF2B5EF4-FFF2-40B4-BE49-F238E27FC236}">
                <a16:creationId xmlns:a16="http://schemas.microsoft.com/office/drawing/2014/main" id="{8D5AA647-CDF7-4BFB-AD79-20F25DFFA9D2}"/>
              </a:ext>
            </a:extLst>
          </p:cNvPr>
          <p:cNvGrpSpPr>
            <a:grpSpLocks/>
          </p:cNvGrpSpPr>
          <p:nvPr/>
        </p:nvGrpSpPr>
        <p:grpSpPr bwMode="auto">
          <a:xfrm>
            <a:off x="4842933" y="4889500"/>
            <a:ext cx="6502400" cy="319088"/>
            <a:chOff x="2288" y="3080"/>
            <a:chExt cx="3072" cy="201"/>
          </a:xfrm>
        </p:grpSpPr>
        <p:sp>
          <p:nvSpPr>
            <p:cNvPr id="8204" name="AutoShape 12">
              <a:extLst>
                <a:ext uri="{FF2B5EF4-FFF2-40B4-BE49-F238E27FC236}">
                  <a16:creationId xmlns:a16="http://schemas.microsoft.com/office/drawing/2014/main" id="{62E72DD9-FD1D-460B-A5A5-4275024F187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288" y="3080"/>
              <a:ext cx="2914" cy="200"/>
            </a:xfrm>
            <a:prstGeom prst="roundRect">
              <a:avLst>
                <a:gd name="adj" fmla="val 0"/>
              </a:avLst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AR" sz="1800"/>
            </a:p>
          </p:txBody>
        </p:sp>
        <p:sp>
          <p:nvSpPr>
            <p:cNvPr id="8205" name="AutoShape 13">
              <a:extLst>
                <a:ext uri="{FF2B5EF4-FFF2-40B4-BE49-F238E27FC236}">
                  <a16:creationId xmlns:a16="http://schemas.microsoft.com/office/drawing/2014/main" id="{C81C520E-5BB7-488E-B9BF-0A305D0C31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6" y="3080"/>
              <a:ext cx="164" cy="201"/>
            </a:xfrm>
            <a:prstGeom prst="flowChartDelay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AR" sz="1800"/>
            </a:p>
          </p:txBody>
        </p:sp>
      </p:grpSp>
      <p:sp>
        <p:nvSpPr>
          <p:cNvPr id="8197" name="Rectangle 5">
            <a:extLst>
              <a:ext uri="{FF2B5EF4-FFF2-40B4-BE49-F238E27FC236}">
                <a16:creationId xmlns:a16="http://schemas.microsoft.com/office/drawing/2014/main" id="{20E17A3E-3515-4382-912F-5C4BB600726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231468" y="2927350"/>
            <a:ext cx="5350933" cy="1822450"/>
          </a:xfrm>
        </p:spPr>
        <p:txBody>
          <a:bodyPr anchor="b"/>
          <a:lstStyle>
            <a:lvl1pPr marL="0" indent="0">
              <a:buFont typeface="Wingdings" panose="05000000000000000000" pitchFamily="2" charset="2"/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s-ES" altLang="es-AR" noProof="0"/>
              <a:t>Haga clic para modificar el estilo de subtítulo del patrón</a:t>
            </a:r>
            <a:endParaRPr lang="es-MX" altLang="es-AR" noProof="0"/>
          </a:p>
        </p:txBody>
      </p:sp>
      <p:sp>
        <p:nvSpPr>
          <p:cNvPr id="8206" name="Rectangle 14">
            <a:extLst>
              <a:ext uri="{FF2B5EF4-FFF2-40B4-BE49-F238E27FC236}">
                <a16:creationId xmlns:a16="http://schemas.microsoft.com/office/drawing/2014/main" id="{DD66BD97-1A5A-45F1-8436-E34BD60888A6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s-MX" altLang="es-MX"/>
          </a:p>
        </p:txBody>
      </p:sp>
      <p:sp>
        <p:nvSpPr>
          <p:cNvPr id="8209" name="Rectangle 17">
            <a:extLst>
              <a:ext uri="{FF2B5EF4-FFF2-40B4-BE49-F238E27FC236}">
                <a16:creationId xmlns:a16="http://schemas.microsoft.com/office/drawing/2014/main" id="{F2D27867-95D9-4160-8D96-1319199CDCD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101605" y="6248400"/>
            <a:ext cx="783167" cy="488950"/>
          </a:xfrm>
        </p:spPr>
        <p:txBody>
          <a:bodyPr anchorCtr="0"/>
          <a:lstStyle>
            <a:lvl1pPr>
              <a:defRPr/>
            </a:lvl1pPr>
          </a:lstStyle>
          <a:p>
            <a:fld id="{E8C61610-8DF5-4E2D-BE1C-11AFD733076C}" type="slidenum">
              <a:rPr lang="es-MX" altLang="es-MX" smtClean="0"/>
              <a:pPr/>
              <a:t>‹Nº›</a:t>
            </a:fld>
            <a:endParaRPr lang="es-MX" altLang="es-MX"/>
          </a:p>
        </p:txBody>
      </p:sp>
      <p:sp>
        <p:nvSpPr>
          <p:cNvPr id="8211" name="AutoShape 19">
            <a:extLst>
              <a:ext uri="{FF2B5EF4-FFF2-40B4-BE49-F238E27FC236}">
                <a16:creationId xmlns:a16="http://schemas.microsoft.com/office/drawing/2014/main" id="{C46B2074-4575-4617-9A6E-B2C4438EA35D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990600"/>
            <a:ext cx="10972800" cy="1905000"/>
          </a:xfrm>
          <a:prstGeom prst="roundRect">
            <a:avLst>
              <a:gd name="adj" fmla="val 50000"/>
            </a:avLst>
          </a:prstGeo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s-ES" altLang="es-AR" noProof="0"/>
              <a:t>Haga clic para modificar el estilo de título del patrón</a:t>
            </a:r>
            <a:endParaRPr lang="es-MX" altLang="es-AR" noProof="0"/>
          </a:p>
        </p:txBody>
      </p:sp>
      <p:sp>
        <p:nvSpPr>
          <p:cNvPr id="14" name="Subtítulo 5">
            <a:extLst>
              <a:ext uri="{FF2B5EF4-FFF2-40B4-BE49-F238E27FC236}">
                <a16:creationId xmlns:a16="http://schemas.microsoft.com/office/drawing/2014/main" id="{D51BF196-7E82-4AF6-93CD-51294D65FCF1}"/>
              </a:ext>
            </a:extLst>
          </p:cNvPr>
          <p:cNvSpPr txBox="1">
            <a:spLocks/>
          </p:cNvSpPr>
          <p:nvPr/>
        </p:nvSpPr>
        <p:spPr bwMode="auto">
          <a:xfrm>
            <a:off x="6054582" y="5459062"/>
            <a:ext cx="5350933" cy="146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s-AR" sz="2800" b="1" dirty="0">
                <a:solidFill>
                  <a:schemeClr val="tx1"/>
                </a:solidFill>
                <a:latin typeface="Rockwell Condensed" panose="02060603050405020104" pitchFamily="18" charset="0"/>
              </a:rPr>
              <a:t>Cátedra de Proyecto Final</a:t>
            </a:r>
          </a:p>
          <a:p>
            <a:pPr marL="0" indent="0" algn="r">
              <a:spcBef>
                <a:spcPts val="0"/>
              </a:spcBef>
              <a:buNone/>
            </a:pPr>
            <a:endParaRPr lang="es-AR" sz="2800" b="1" dirty="0">
              <a:solidFill>
                <a:schemeClr val="tx1"/>
              </a:solidFill>
              <a:latin typeface="Rockwell Condensed" panose="02060603050405020104" pitchFamily="18" charset="0"/>
            </a:endParaRPr>
          </a:p>
          <a:p>
            <a:pPr marL="0" indent="0" algn="r">
              <a:spcBef>
                <a:spcPts val="0"/>
              </a:spcBef>
              <a:buNone/>
            </a:pPr>
            <a:r>
              <a:rPr lang="es-AR" sz="2800" b="1" dirty="0">
                <a:solidFill>
                  <a:schemeClr val="tx1"/>
                </a:solidFill>
                <a:latin typeface="Rockwell Condensed" panose="02060603050405020104" pitchFamily="18" charset="0"/>
              </a:rPr>
              <a:t>dberenguer@frba.utn.edu.ar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8FF88087-CBF2-4128-8865-618F2DDB07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680" y="5190300"/>
            <a:ext cx="2074697" cy="166770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061F8DC4-A053-4883-A17F-9A910D5FFF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5515" y="5535564"/>
            <a:ext cx="559303" cy="1187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8828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71B00C-5AAB-4E81-B1A2-A3D8491DA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3294" y="104776"/>
            <a:ext cx="8228600" cy="5858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09FE02-9A2D-4FE6-ADDE-ED68EC2DC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A5A38E6-3CEF-48E6-8CA2-5FC6D0C24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MX" alt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C79182-75D9-4E79-BBF3-4AB086294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MX" alt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4C31277-EB85-406C-A40C-3DEFC063D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DA1298-BD5F-4A44-A5ED-AD02DEC41F1E}" type="slidenum">
              <a:rPr lang="es-MX" altLang="es-MX" smtClean="0"/>
              <a:pPr/>
              <a:t>‹Nº›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3989530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B229A9-B39E-41BA-906D-5BF372B6D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5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49967DB-7EE1-4253-91B3-BB42C60489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70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33A0E4-62CA-433D-B7E9-B0E400CFE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MX" alt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82BFB54-7862-47AB-832F-A588B0952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MX" alt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80CFE3-F23B-4B6D-9BEA-2C7EC4C92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207C54-671B-485A-B40A-3B98D419A834}" type="slidenum">
              <a:rPr lang="es-MX" altLang="es-MX" smtClean="0"/>
              <a:pPr/>
              <a:t>‹Nº›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6747718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E29DBB-CAA3-4E3D-8471-0E59B3125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7B7D10-9C6B-4ABB-9E18-22D31EAFFB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3" y="2362207"/>
            <a:ext cx="5027084" cy="37242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A940839-EA44-492B-B5BE-A227EB1E5E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7885" y="2362207"/>
            <a:ext cx="5027083" cy="37242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4A74228-122F-4409-82D9-EA0D6B3B9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MX" alt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0937C8F-AD0E-49FA-8B3E-B8030A580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MX" alt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CE39C80-E4F7-478C-958E-7C172329D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E22A87-3065-40C3-918E-79B69906BB28}" type="slidenum">
              <a:rPr lang="es-MX" altLang="es-MX" smtClean="0"/>
              <a:pPr/>
              <a:t>‹Nº›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34442793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F3E8CE-38DC-4F0F-960D-2A8A6EED9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5129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CC6138B-555A-4B26-88E0-1738CD6FD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9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9D35954-DEF6-43B4-8662-4F9A7DF84B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9" y="2505075"/>
            <a:ext cx="5158316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F58CC0A-EE40-4C11-9812-0DA6310D14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0C1A957-BEA8-40A0-96FF-0D2662681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3A2B229-7364-4D26-989A-52241C937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MX" alt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D658F57-ECD8-47A9-99C2-DA91F7029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MX" alt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DEC824E-3BA7-4B04-B512-B527B96FE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A4CED8-1666-422D-B3BF-68B89D21C0FE}" type="slidenum">
              <a:rPr lang="es-MX" altLang="es-MX" smtClean="0"/>
              <a:pPr/>
              <a:t>‹Nº›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27919137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92F04-8E75-4C2D-A83A-67A285B25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C25F1D6-FB60-4E8C-84B5-CF87DC07C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MX" alt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E9D4CC8-BEB0-425E-8426-D8FEFF706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MX" alt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2DD3E53-490A-46DE-BFA1-199286328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A85F7B-50C3-49B0-B9A4-86FD8D14230F}" type="slidenum">
              <a:rPr lang="es-MX" altLang="es-MX" smtClean="0"/>
              <a:pPr/>
              <a:t>‹Nº›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16378299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C342105-4184-4316-B1D4-982832203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MX" alt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E2E8514-42D4-4E7C-9FAA-ECFB0D573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MX" alt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D628F0F-9C4C-4B01-94A9-63EDB6F0D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0125E2-FCFF-4416-8551-026626BA7841}" type="slidenum">
              <a:rPr lang="es-MX" altLang="es-MX" smtClean="0"/>
              <a:pPr/>
              <a:t>‹Nº›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12484847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7BA08E-5EC4-4D18-A689-E30997541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22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F1AF21-BDE5-4463-B8A2-BA6CA0009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32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9C6148-CB07-49CF-BAC6-D9D2B2A303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22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37082FE-361D-4211-9B5B-5F8F3BADF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MX" alt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FE79061-4D58-4263-88E4-CC4A9E4A0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MX" alt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0D58D47-54A6-41D2-B760-8D62EA3F0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9E79F2-37CE-4E3D-9C24-AFAD26E36095}" type="slidenum">
              <a:rPr lang="es-MX" altLang="es-MX" smtClean="0"/>
              <a:pPr/>
              <a:t>‹Nº›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4672438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E0E33C-0433-4207-9F00-80B9623FD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22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8CD8433-3A9D-4F9C-B2E2-25C02D4B24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32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D8E1871-81F7-47AB-B1FD-75A4EC3F44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22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8B053A8-A9B8-410D-B637-47C6EA977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MX" alt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C332723-0C1D-44BA-A90E-2AC4BAE8A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MX" alt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EAD7F2A-9802-4B3E-A56B-FB25080DA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6A35FB-2C7E-4DC3-A894-CD6F7003EFF4}" type="slidenum">
              <a:rPr lang="es-MX" altLang="es-MX" smtClean="0"/>
              <a:pPr/>
              <a:t>‹Nº›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15381266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E59ED2-AFAE-404D-8082-ADC61B381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F3DD997-5F06-4F08-97B2-B6ABFF15D0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AB560F7-4C19-4395-BF40-95F604B56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MX" alt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512435-B929-4B8F-AE7D-49147BE7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MX" alt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79449E-74F4-4711-A48B-60FCE4EFA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BC1D4F-970F-421D-BD46-045545B40CF4}" type="slidenum">
              <a:rPr lang="es-MX" altLang="es-MX" smtClean="0"/>
              <a:pPr/>
              <a:t>‹Nº›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15697384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A9AD6BD-29FE-42CB-A9CC-662162E46F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40800" y="762007"/>
            <a:ext cx="2641600" cy="532447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42A89C-BD0E-478B-849F-A54521B649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16000" y="762007"/>
            <a:ext cx="7721600" cy="532447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F1CBFD5-623B-4F8D-9690-4FFB18DCD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MX" alt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ECF570-72D5-4FB0-90C4-5828F65E3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MX" alt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3A4DF7-CA5D-4B47-8EBF-799ACA3DE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1FAAD0-A3F3-4995-B34F-AA20249DEBB7}" type="slidenum">
              <a:rPr lang="es-MX" altLang="es-MX" smtClean="0"/>
              <a:pPr/>
              <a:t>‹Nº›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30098803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ítulo, text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231675-CC8F-4726-B7C2-1B0611B0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762000"/>
            <a:ext cx="10566400" cy="1143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6C04D5A-FE4B-4867-8E2F-456AE43D4067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117603" y="2362207"/>
            <a:ext cx="5027084" cy="37242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60CD2C3-64AA-4D0B-A08D-9E8AD84F52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7885" y="2362207"/>
            <a:ext cx="5027083" cy="37242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20ADAE-FCDE-413B-9EEC-E3AF48BEDE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51205" y="6248407"/>
            <a:ext cx="2840567" cy="474663"/>
          </a:xfrm>
        </p:spPr>
        <p:txBody>
          <a:bodyPr/>
          <a:lstStyle>
            <a:lvl1pPr>
              <a:defRPr/>
            </a:lvl1pPr>
          </a:lstStyle>
          <a:p>
            <a:endParaRPr lang="es-MX" alt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74824E3-0298-4027-9CE2-0A02074A0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21600" y="6248407"/>
            <a:ext cx="3862917" cy="474663"/>
          </a:xfrm>
        </p:spPr>
        <p:txBody>
          <a:bodyPr/>
          <a:lstStyle>
            <a:lvl1pPr>
              <a:defRPr/>
            </a:lvl1pPr>
          </a:lstStyle>
          <a:p>
            <a:endParaRPr lang="es-MX" alt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9E53FD7-21A3-4736-8EAA-E473CC57B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89" y="6242050"/>
            <a:ext cx="783167" cy="488950"/>
          </a:xfrm>
        </p:spPr>
        <p:txBody>
          <a:bodyPr/>
          <a:lstStyle>
            <a:lvl1pPr>
              <a:defRPr/>
            </a:lvl1pPr>
          </a:lstStyle>
          <a:p>
            <a:fld id="{41FA9260-5F55-4C8D-A204-5AFDDEC47817}" type="slidenum">
              <a:rPr lang="es-MX" altLang="es-MX" smtClean="0"/>
              <a:pPr/>
              <a:t>‹Nº›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1036981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gif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363BEC-04D8-4BFC-886B-E8505226726C}" type="datetimeFigureOut">
              <a:rPr lang="es-AR" smtClean="0"/>
              <a:pPr/>
              <a:t>31/3/2026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6DFD3F-A08A-427D-9D6D-C939DA336178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68295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>
            <a:extLst>
              <a:ext uri="{FF2B5EF4-FFF2-40B4-BE49-F238E27FC236}">
                <a16:creationId xmlns:a16="http://schemas.microsoft.com/office/drawing/2014/main" id="{A3276E2F-B77C-43A3-83DF-8076F16CF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0"/>
            <a:ext cx="902796" cy="685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AR" sz="1800"/>
          </a:p>
        </p:txBody>
      </p:sp>
      <p:sp>
        <p:nvSpPr>
          <p:cNvPr id="1048" name="Freeform 24">
            <a:extLst>
              <a:ext uri="{FF2B5EF4-FFF2-40B4-BE49-F238E27FC236}">
                <a16:creationId xmlns:a16="http://schemas.microsoft.com/office/drawing/2014/main" id="{5753B1FD-C348-4894-801B-8E596F7BABD7}"/>
              </a:ext>
            </a:extLst>
          </p:cNvPr>
          <p:cNvSpPr>
            <a:spLocks/>
          </p:cNvSpPr>
          <p:nvPr/>
        </p:nvSpPr>
        <p:spPr bwMode="auto">
          <a:xfrm>
            <a:off x="541679" y="0"/>
            <a:ext cx="3250066" cy="1340768"/>
          </a:xfrm>
          <a:custGeom>
            <a:avLst/>
            <a:gdLst>
              <a:gd name="T0" fmla="*/ 1728 w 1728"/>
              <a:gd name="T1" fmla="*/ 0 h 735"/>
              <a:gd name="T2" fmla="*/ 1728 w 1728"/>
              <a:gd name="T3" fmla="*/ 480 h 735"/>
              <a:gd name="T4" fmla="*/ 380 w 1728"/>
              <a:gd name="T5" fmla="*/ 482 h 735"/>
              <a:gd name="T6" fmla="*/ 354 w 1728"/>
              <a:gd name="T7" fmla="*/ 480 h 735"/>
              <a:gd name="T8" fmla="*/ 308 w 1728"/>
              <a:gd name="T9" fmla="*/ 489 h 735"/>
              <a:gd name="T10" fmla="*/ 246 w 1728"/>
              <a:gd name="T11" fmla="*/ 531 h 735"/>
              <a:gd name="T12" fmla="*/ 206 w 1728"/>
              <a:gd name="T13" fmla="*/ 597 h 735"/>
              <a:gd name="T14" fmla="*/ 192 w 1728"/>
              <a:gd name="T15" fmla="*/ 666 h 735"/>
              <a:gd name="T16" fmla="*/ 192 w 1728"/>
              <a:gd name="T17" fmla="*/ 735 h 735"/>
              <a:gd name="T18" fmla="*/ 0 w 1728"/>
              <a:gd name="T19" fmla="*/ 735 h 735"/>
              <a:gd name="T20" fmla="*/ 0 w 1728"/>
              <a:gd name="T21" fmla="*/ 480 h 735"/>
              <a:gd name="T22" fmla="*/ 0 w 1728"/>
              <a:gd name="T23" fmla="*/ 0 h 735"/>
              <a:gd name="T24" fmla="*/ 1728 w 1728"/>
              <a:gd name="T25" fmla="*/ 0 h 7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728" h="735">
                <a:moveTo>
                  <a:pt x="1728" y="0"/>
                </a:moveTo>
                <a:lnTo>
                  <a:pt x="1728" y="480"/>
                </a:lnTo>
                <a:lnTo>
                  <a:pt x="380" y="482"/>
                </a:lnTo>
                <a:lnTo>
                  <a:pt x="354" y="480"/>
                </a:lnTo>
                <a:lnTo>
                  <a:pt x="308" y="489"/>
                </a:lnTo>
                <a:cubicBezTo>
                  <a:pt x="290" y="498"/>
                  <a:pt x="263" y="513"/>
                  <a:pt x="246" y="531"/>
                </a:cubicBezTo>
                <a:cubicBezTo>
                  <a:pt x="229" y="549"/>
                  <a:pt x="215" y="574"/>
                  <a:pt x="206" y="597"/>
                </a:cubicBezTo>
                <a:cubicBezTo>
                  <a:pt x="197" y="620"/>
                  <a:pt x="194" y="643"/>
                  <a:pt x="192" y="666"/>
                </a:cubicBezTo>
                <a:lnTo>
                  <a:pt x="192" y="735"/>
                </a:lnTo>
                <a:lnTo>
                  <a:pt x="0" y="735"/>
                </a:lnTo>
                <a:lnTo>
                  <a:pt x="0" y="480"/>
                </a:lnTo>
                <a:lnTo>
                  <a:pt x="0" y="0"/>
                </a:lnTo>
                <a:lnTo>
                  <a:pt x="172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AR" sz="1800"/>
          </a:p>
        </p:txBody>
      </p:sp>
      <p:grpSp>
        <p:nvGrpSpPr>
          <p:cNvPr id="1045" name="Group 21">
            <a:extLst>
              <a:ext uri="{FF2B5EF4-FFF2-40B4-BE49-F238E27FC236}">
                <a16:creationId xmlns:a16="http://schemas.microsoft.com/office/drawing/2014/main" id="{6C3556C1-0F3D-4D85-9A14-11A5D6BFD817}"/>
              </a:ext>
            </a:extLst>
          </p:cNvPr>
          <p:cNvGrpSpPr>
            <a:grpSpLocks/>
          </p:cNvGrpSpPr>
          <p:nvPr/>
        </p:nvGrpSpPr>
        <p:grpSpPr bwMode="auto">
          <a:xfrm>
            <a:off x="695401" y="862137"/>
            <a:ext cx="10889116" cy="319088"/>
            <a:chOff x="144" y="1248"/>
            <a:chExt cx="4656" cy="201"/>
          </a:xfrm>
        </p:grpSpPr>
        <p:sp>
          <p:nvSpPr>
            <p:cNvPr id="1036" name="AutoShape 12">
              <a:extLst>
                <a:ext uri="{FF2B5EF4-FFF2-40B4-BE49-F238E27FC236}">
                  <a16:creationId xmlns:a16="http://schemas.microsoft.com/office/drawing/2014/main" id="{10556FDE-F81C-44FF-BB56-95356CA432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1248"/>
              <a:ext cx="4416" cy="200"/>
            </a:xfrm>
            <a:prstGeom prst="roundRect">
              <a:avLst>
                <a:gd name="adj" fmla="val 0"/>
              </a:avLst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AR" sz="1800"/>
            </a:p>
          </p:txBody>
        </p:sp>
        <p:sp>
          <p:nvSpPr>
            <p:cNvPr id="1044" name="AutoShape 20">
              <a:extLst>
                <a:ext uri="{FF2B5EF4-FFF2-40B4-BE49-F238E27FC236}">
                  <a16:creationId xmlns:a16="http://schemas.microsoft.com/office/drawing/2014/main" id="{9CE2F162-67B0-43E8-A5B6-97CE71C1D0C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44" y="1248"/>
              <a:ext cx="248" cy="201"/>
            </a:xfrm>
            <a:prstGeom prst="flowChartDelay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AR" sz="1800"/>
            </a:p>
          </p:txBody>
        </p:sp>
      </p:grpSp>
      <p:sp>
        <p:nvSpPr>
          <p:cNvPr id="1031" name="AutoShape 7">
            <a:extLst>
              <a:ext uri="{FF2B5EF4-FFF2-40B4-BE49-F238E27FC236}">
                <a16:creationId xmlns:a16="http://schemas.microsoft.com/office/drawing/2014/main" id="{574C5491-7D73-4A8D-BB08-90ABACA04F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791745" y="0"/>
            <a:ext cx="8400254" cy="860549"/>
          </a:xfrm>
          <a:prstGeom prst="roundRect">
            <a:avLst>
              <a:gd name="adj" fmla="val 21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s-MX" altLang="es-AR" dirty="0"/>
              <a:t>Haga clic para cambiar el estilo </a:t>
            </a: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F6450860-02F7-4BF2-A69F-A2CEF15619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17605" y="2362207"/>
            <a:ext cx="10257367" cy="3724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MX" altLang="es-AR" dirty="0"/>
              <a:t>Haga clic para modificar el estilo de texto del patrón</a:t>
            </a:r>
          </a:p>
          <a:p>
            <a:pPr lvl="1"/>
            <a:r>
              <a:rPr lang="es-MX" altLang="es-AR" dirty="0"/>
              <a:t>Segundo nivel</a:t>
            </a:r>
          </a:p>
          <a:p>
            <a:pPr lvl="2"/>
            <a:r>
              <a:rPr lang="es-MX" altLang="es-AR" dirty="0"/>
              <a:t>Tercer nivel</a:t>
            </a:r>
          </a:p>
          <a:p>
            <a:pPr lvl="3"/>
            <a:r>
              <a:rPr lang="es-MX" altLang="es-AR" dirty="0"/>
              <a:t>Cuarto nivel</a:t>
            </a:r>
          </a:p>
          <a:p>
            <a:pPr lvl="4"/>
            <a:r>
              <a:rPr lang="es-MX" altLang="es-AR" dirty="0"/>
              <a:t>Quinto nivel</a:t>
            </a:r>
          </a:p>
        </p:txBody>
      </p:sp>
      <p:sp>
        <p:nvSpPr>
          <p:cNvPr id="1037" name="Rectangle 13">
            <a:extLst>
              <a:ext uri="{FF2B5EF4-FFF2-40B4-BE49-F238E27FC236}">
                <a16:creationId xmlns:a16="http://schemas.microsoft.com/office/drawing/2014/main" id="{1B460030-6549-494A-BE07-67037BFE233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251205" y="6248407"/>
            <a:ext cx="2840567" cy="474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3363BEC-04D8-4BFC-886B-E8505226726C}" type="datetimeFigureOut">
              <a:rPr lang="es-AR" smtClean="0"/>
              <a:pPr/>
              <a:t>31/3/2026</a:t>
            </a:fld>
            <a:endParaRPr lang="es-AR"/>
          </a:p>
        </p:txBody>
      </p:sp>
      <p:sp>
        <p:nvSpPr>
          <p:cNvPr id="1038" name="Rectangle 14">
            <a:extLst>
              <a:ext uri="{FF2B5EF4-FFF2-40B4-BE49-F238E27FC236}">
                <a16:creationId xmlns:a16="http://schemas.microsoft.com/office/drawing/2014/main" id="{78EA513F-510C-48EA-8A21-A06CA051212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721600" y="6248407"/>
            <a:ext cx="3862917" cy="474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s-AR"/>
          </a:p>
        </p:txBody>
      </p:sp>
      <p:sp>
        <p:nvSpPr>
          <p:cNvPr id="1039" name="Rectangle 15">
            <a:extLst>
              <a:ext uri="{FF2B5EF4-FFF2-40B4-BE49-F238E27FC236}">
                <a16:creationId xmlns:a16="http://schemas.microsoft.com/office/drawing/2014/main" id="{B6237A71-E373-4676-A646-9605296C2C9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2189" y="6242050"/>
            <a:ext cx="783167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</a:bodyPr>
          <a:lstStyle>
            <a:lvl1pPr>
              <a:defRPr sz="2600" b="1">
                <a:solidFill>
                  <a:schemeClr val="bg1"/>
                </a:solidFill>
              </a:defRPr>
            </a:lvl1pPr>
          </a:lstStyle>
          <a:p>
            <a:fld id="{026DFD3F-A08A-427D-9D6D-C939DA336178}" type="slidenum">
              <a:rPr lang="es-AR" smtClean="0"/>
              <a:pPr/>
              <a:t>‹Nº›</a:t>
            </a:fld>
            <a:endParaRPr lang="es-AR"/>
          </a:p>
        </p:txBody>
      </p:sp>
      <p:sp>
        <p:nvSpPr>
          <p:cNvPr id="15" name="Subtítulo 5">
            <a:extLst>
              <a:ext uri="{FF2B5EF4-FFF2-40B4-BE49-F238E27FC236}">
                <a16:creationId xmlns:a16="http://schemas.microsoft.com/office/drawing/2014/main" id="{14D13B50-12CE-4ADE-9CCC-7D2DFEAB360C}"/>
              </a:ext>
            </a:extLst>
          </p:cNvPr>
          <p:cNvSpPr txBox="1">
            <a:spLocks/>
          </p:cNvSpPr>
          <p:nvPr/>
        </p:nvSpPr>
        <p:spPr bwMode="auto">
          <a:xfrm>
            <a:off x="9264352" y="6254368"/>
            <a:ext cx="2425895" cy="662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s-AR" sz="1400" b="1" dirty="0">
                <a:solidFill>
                  <a:schemeClr val="tx1"/>
                </a:solidFill>
                <a:latin typeface="Rockwell Condensed" panose="02060603050405020104" pitchFamily="18" charset="0"/>
              </a:rPr>
              <a:t>Cátedra de Proyecto Final </a:t>
            </a:r>
          </a:p>
          <a:p>
            <a:pPr marL="0" indent="0" algn="r">
              <a:buNone/>
            </a:pPr>
            <a:r>
              <a:rPr lang="es-AR" sz="1000" b="1" dirty="0">
                <a:solidFill>
                  <a:schemeClr val="tx1"/>
                </a:solidFill>
                <a:latin typeface="Rockwell Condensed" panose="02060603050405020104" pitchFamily="18" charset="0"/>
              </a:rPr>
              <a:t>dberenguer@frba.utn.edu.ar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B377079-EE5F-4D31-A321-D5F46217D739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441" y="6126327"/>
            <a:ext cx="910237" cy="73167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9DDA5E0-D9EB-49BB-AF39-D2713FB6D8E4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0073" y="6309320"/>
            <a:ext cx="238400" cy="506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233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</p:sldLayoutIdLst>
  <p:txStyles>
    <p:titleStyle>
      <a:lvl1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80000"/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altLang="es-MX" dirty="0"/>
              <a:t>Martes // </a:t>
            </a:r>
            <a:r>
              <a:rPr lang="es-MX" altLang="es-MX"/>
              <a:t>Curso 2026</a:t>
            </a:r>
            <a:endParaRPr lang="es-MX" altLang="es-MX" dirty="0"/>
          </a:p>
        </p:txBody>
      </p:sp>
      <p:sp>
        <p:nvSpPr>
          <p:cNvPr id="2050" name="AutoShape 2"/>
          <p:cNvSpPr>
            <a:spLocks noGrp="1" noChangeArrowheads="1"/>
          </p:cNvSpPr>
          <p:nvPr>
            <p:ph type="ctrTitle" sz="quarter"/>
          </p:nvPr>
        </p:nvSpPr>
        <p:spPr/>
        <p:txBody>
          <a:bodyPr>
            <a:normAutofit/>
          </a:bodyPr>
          <a:lstStyle/>
          <a:p>
            <a:r>
              <a:rPr lang="es-MX" altLang="es-MX"/>
              <a:t>PRESENTACION de LA CATEDRA de PROYECTO FINAL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MX" altLang="es-MX" dirty="0"/>
              <a:t>DOCENTES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1127448" y="1275420"/>
            <a:ext cx="8198296" cy="4307160"/>
          </a:xfrm>
        </p:spPr>
        <p:txBody>
          <a:bodyPr/>
          <a:lstStyle/>
          <a:p>
            <a:r>
              <a:rPr lang="es-MX" altLang="es-MX" sz="3200" dirty="0"/>
              <a:t>Profesor Adjunto: Diego R. Berenguer </a:t>
            </a:r>
          </a:p>
          <a:p>
            <a:r>
              <a:rPr lang="es-MX" altLang="es-MX" sz="3200" dirty="0"/>
              <a:t>Profesor Adjunto: Marcelo Romero</a:t>
            </a:r>
          </a:p>
          <a:p>
            <a:r>
              <a:rPr lang="es-MX" altLang="es-MX" sz="3200" dirty="0"/>
              <a:t>Docentes Auxiliares:  </a:t>
            </a:r>
          </a:p>
          <a:p>
            <a:pPr marL="0" indent="0">
              <a:buNone/>
            </a:pPr>
            <a:r>
              <a:rPr lang="es-MX" altLang="es-MX" sz="3200" dirty="0"/>
              <a:t>		Luis </a:t>
            </a:r>
            <a:r>
              <a:rPr lang="es-MX" altLang="es-MX" sz="3200" dirty="0" err="1"/>
              <a:t>Zangrando</a:t>
            </a:r>
            <a:endParaRPr lang="es-MX" altLang="es-MX" sz="3200" dirty="0"/>
          </a:p>
          <a:p>
            <a:pPr marL="0" indent="0">
              <a:buNone/>
            </a:pPr>
            <a:r>
              <a:rPr lang="es-MX" altLang="es-MX" sz="3200" dirty="0"/>
              <a:t>                Marcelo </a:t>
            </a:r>
            <a:r>
              <a:rPr lang="es-MX" altLang="es-MX" sz="3200" dirty="0" err="1"/>
              <a:t>Caimi</a:t>
            </a:r>
            <a:endParaRPr lang="es-MX" altLang="es-MX" sz="3200" dirty="0"/>
          </a:p>
          <a:p>
            <a:pPr marL="0" indent="0">
              <a:buNone/>
            </a:pPr>
            <a:r>
              <a:rPr lang="es-MX" altLang="es-MX" sz="3200" dirty="0"/>
              <a:t>		Juan Manuel </a:t>
            </a:r>
            <a:r>
              <a:rPr lang="es-MX" altLang="es-MX" sz="3200" dirty="0" err="1"/>
              <a:t>Seivane</a:t>
            </a:r>
            <a:endParaRPr lang="es-MX" altLang="es-MX" sz="3200" dirty="0"/>
          </a:p>
          <a:p>
            <a:pPr marL="0" indent="0">
              <a:buNone/>
            </a:pPr>
            <a:r>
              <a:rPr lang="es-MX" altLang="es-MX" sz="3200" dirty="0"/>
              <a:t>		Juan Cruz Balbo</a:t>
            </a:r>
          </a:p>
          <a:p>
            <a:pPr marL="0" indent="0">
              <a:buNone/>
            </a:pPr>
            <a:r>
              <a:rPr lang="es-MX" altLang="es-MX" sz="3200" dirty="0"/>
              <a:t>                 Nicolás Ferreyra</a:t>
            </a:r>
          </a:p>
          <a:p>
            <a:pPr marL="0" indent="0">
              <a:buNone/>
            </a:pPr>
            <a:r>
              <a:rPr lang="es-MX" altLang="es-MX" sz="3200" dirty="0"/>
              <a:t>				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MX" altLang="es-MX"/>
              <a:t>EN QUE CONSISTE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983432" y="1340768"/>
            <a:ext cx="11028462" cy="3724275"/>
          </a:xfrm>
        </p:spPr>
        <p:txBody>
          <a:bodyPr/>
          <a:lstStyle/>
          <a:p>
            <a:pPr marL="0" indent="0">
              <a:buNone/>
            </a:pPr>
            <a:r>
              <a:rPr lang="es-MX" altLang="es-MX" sz="2400" dirty="0"/>
              <a:t>Realizar un Proyecto Integrador</a:t>
            </a:r>
          </a:p>
          <a:p>
            <a:pPr marL="0" indent="0">
              <a:buNone/>
            </a:pPr>
            <a:r>
              <a:rPr lang="es-MX" altLang="es-MX" dirty="0"/>
              <a:t>1era Etapa: Prefactibilidad</a:t>
            </a:r>
          </a:p>
          <a:p>
            <a:pPr marL="457200" lvl="1" indent="0">
              <a:buNone/>
            </a:pPr>
            <a:r>
              <a:rPr lang="es-MX" altLang="es-MX" dirty="0"/>
              <a:t>1era Tarea: Elegir y Analizar la Prefactibilidad de un proyecto </a:t>
            </a:r>
          </a:p>
          <a:p>
            <a:pPr marL="457200" lvl="1" indent="0">
              <a:buNone/>
            </a:pPr>
            <a:r>
              <a:rPr lang="es-MX" altLang="es-MX" dirty="0"/>
              <a:t>2da Tarea: Presentar la Prefactibilidad</a:t>
            </a:r>
          </a:p>
          <a:p>
            <a:pPr marL="0" lvl="1" indent="0">
              <a:buNone/>
            </a:pPr>
            <a:r>
              <a:rPr lang="es-MX" altLang="es-MX" sz="2800" dirty="0"/>
              <a:t>2da Etapa: Factibilidad</a:t>
            </a:r>
          </a:p>
          <a:p>
            <a:pPr marL="457200" lvl="1" indent="0">
              <a:buNone/>
            </a:pPr>
            <a:r>
              <a:rPr lang="es-MX" altLang="es-MX" dirty="0"/>
              <a:t>1era Tarea: Análisis Comercial </a:t>
            </a:r>
          </a:p>
          <a:p>
            <a:pPr marL="457200" lvl="1" indent="0">
              <a:buNone/>
            </a:pPr>
            <a:r>
              <a:rPr lang="es-MX" altLang="es-MX" dirty="0"/>
              <a:t>2da Tarea: Análisis Técnico</a:t>
            </a:r>
          </a:p>
          <a:p>
            <a:pPr marL="457200" lvl="1" indent="0">
              <a:buNone/>
            </a:pPr>
            <a:r>
              <a:rPr lang="es-MX" altLang="es-MX" dirty="0"/>
              <a:t>3era Tarea Análisis Organizacional</a:t>
            </a:r>
          </a:p>
          <a:p>
            <a:pPr marL="457200" lvl="1" indent="0">
              <a:buNone/>
            </a:pPr>
            <a:r>
              <a:rPr lang="es-MX" altLang="es-MX" dirty="0"/>
              <a:t>4ta Tarea: Análisis Económico Financiero</a:t>
            </a:r>
          </a:p>
          <a:p>
            <a:pPr marL="457200" lvl="1" indent="0">
              <a:buNone/>
            </a:pPr>
            <a:r>
              <a:rPr lang="es-MX" altLang="es-MX" dirty="0"/>
              <a:t>5ta Tarea: Análisis de Riesgo</a:t>
            </a:r>
          </a:p>
          <a:p>
            <a:pPr marL="0" lvl="1" indent="0">
              <a:buNone/>
            </a:pPr>
            <a:r>
              <a:rPr lang="es-MX" altLang="es-MX" sz="2800" dirty="0"/>
              <a:t>3ra Etapa: PRESENTACION FINAL</a:t>
            </a:r>
            <a:endParaRPr lang="es-MX" altLang="es-MX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MX" altLang="es-MX" dirty="0"/>
              <a:t>MARCO TEMPORAL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983432" y="1340768"/>
            <a:ext cx="11028462" cy="3724275"/>
          </a:xfrm>
        </p:spPr>
        <p:txBody>
          <a:bodyPr/>
          <a:lstStyle/>
          <a:p>
            <a:pPr marL="0" indent="0">
              <a:buNone/>
            </a:pPr>
            <a:r>
              <a:rPr lang="es-MX" altLang="es-MX" sz="2400" b="1" dirty="0"/>
              <a:t>1era Etapa: Prefactibilidad </a:t>
            </a:r>
          </a:p>
          <a:p>
            <a:pPr marL="457200" lvl="1" indent="0">
              <a:buNone/>
            </a:pPr>
            <a:r>
              <a:rPr lang="es-MX" altLang="es-MX" sz="2200" dirty="0"/>
              <a:t>1era Tarea: Elegir una idea						1 de Abril</a:t>
            </a:r>
          </a:p>
          <a:p>
            <a:pPr marL="457200" lvl="1" indent="0">
              <a:buNone/>
            </a:pPr>
            <a:r>
              <a:rPr lang="es-MX" altLang="es-MX" sz="2200" dirty="0"/>
              <a:t>2da Tarea: Analizar la Prefactibilidad de un proyecto </a:t>
            </a:r>
          </a:p>
          <a:p>
            <a:pPr marL="457200" lvl="1" indent="0">
              <a:buNone/>
            </a:pPr>
            <a:r>
              <a:rPr lang="es-MX" altLang="es-MX" sz="2200" dirty="0"/>
              <a:t>3da Tarea: Presentar la Prefactibilidad                                       		14 de Abril</a:t>
            </a:r>
          </a:p>
          <a:p>
            <a:pPr marL="0" lvl="1" indent="0">
              <a:buNone/>
            </a:pPr>
            <a:r>
              <a:rPr lang="es-MX" altLang="es-MX" b="1" dirty="0"/>
              <a:t>2da Etapa: Factibilidad</a:t>
            </a:r>
          </a:p>
          <a:p>
            <a:pPr marL="457200" lvl="1" indent="0">
              <a:buNone/>
            </a:pPr>
            <a:r>
              <a:rPr lang="es-MX" altLang="es-MX" sz="2200" dirty="0"/>
              <a:t>1era Tarea: Análisis Comercial 						12 de Mayo</a:t>
            </a:r>
          </a:p>
          <a:p>
            <a:pPr marL="457200" lvl="1" indent="0">
              <a:buNone/>
            </a:pPr>
            <a:r>
              <a:rPr lang="es-MX" altLang="es-MX" sz="2200" dirty="0"/>
              <a:t>2da Tarea: Análisis Técnico						</a:t>
            </a:r>
            <a:r>
              <a:rPr lang="es-MX" altLang="es-MX" sz="2200" b="1" dirty="0"/>
              <a:t>13 Octubre</a:t>
            </a:r>
          </a:p>
          <a:p>
            <a:pPr marL="457200" lvl="1" indent="0">
              <a:buNone/>
            </a:pPr>
            <a:r>
              <a:rPr lang="es-MX" altLang="es-MX" sz="2000" dirty="0"/>
              <a:t>	Producto Proceso							23 Junio</a:t>
            </a:r>
          </a:p>
          <a:p>
            <a:pPr marL="457200" lvl="1" indent="0">
              <a:buNone/>
            </a:pPr>
            <a:r>
              <a:rPr lang="es-MX" altLang="es-MX" sz="2000" dirty="0"/>
              <a:t>	Presentación del primer </a:t>
            </a:r>
            <a:r>
              <a:rPr lang="es-MX" altLang="es-MX" sz="2000" dirty="0" err="1"/>
              <a:t>Layout</a:t>
            </a:r>
            <a:r>
              <a:rPr lang="es-MX" altLang="es-MX" sz="2000" dirty="0"/>
              <a:t>       					7 Julio</a:t>
            </a:r>
          </a:p>
          <a:p>
            <a:pPr marL="457200" lvl="1" indent="0">
              <a:buNone/>
            </a:pPr>
            <a:r>
              <a:rPr lang="es-MX" altLang="es-MX" sz="2200" dirty="0"/>
              <a:t>3era Tarea Análisis Organizacional</a:t>
            </a:r>
          </a:p>
          <a:p>
            <a:pPr marL="457200" lvl="1" indent="0">
              <a:buNone/>
            </a:pPr>
            <a:r>
              <a:rPr lang="es-MX" altLang="es-MX" sz="2200" dirty="0"/>
              <a:t>4ta Tarea: Análisis Económico Financiero</a:t>
            </a:r>
          </a:p>
          <a:p>
            <a:pPr marL="457200" lvl="1" indent="0">
              <a:buNone/>
            </a:pPr>
            <a:r>
              <a:rPr lang="es-MX" altLang="es-MX" sz="2200" dirty="0"/>
              <a:t>5ta Tarea: Análisis de Riesgo</a:t>
            </a:r>
          </a:p>
          <a:p>
            <a:pPr marL="0" lvl="1" indent="0">
              <a:buNone/>
            </a:pPr>
            <a:r>
              <a:rPr lang="es-MX" altLang="es-MX" b="1" dirty="0"/>
              <a:t>3ra Etapa: PRESENTACION FINAL</a:t>
            </a:r>
          </a:p>
        </p:txBody>
      </p:sp>
    </p:spTree>
    <p:extLst>
      <p:ext uri="{BB962C8B-B14F-4D97-AF65-F5344CB8AC3E}">
        <p14:creationId xmlns:p14="http://schemas.microsoft.com/office/powerpoint/2010/main" val="1937385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MX" altLang="es-MX" dirty="0"/>
              <a:t>MARCO TEMPORAL 2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1055440" y="1412776"/>
            <a:ext cx="10513168" cy="3724275"/>
          </a:xfrm>
        </p:spPr>
        <p:txBody>
          <a:bodyPr>
            <a:noAutofit/>
          </a:bodyPr>
          <a:lstStyle/>
          <a:p>
            <a:r>
              <a:rPr lang="es-MX" altLang="es-MX" dirty="0"/>
              <a:t>ANÁLISIS DE FACTIBILIDAD</a:t>
            </a:r>
          </a:p>
          <a:p>
            <a:pPr lvl="1"/>
            <a:r>
              <a:rPr lang="es-MX" altLang="es-MX" dirty="0"/>
              <a:t>Dimensionamiento </a:t>
            </a:r>
            <a:r>
              <a:rPr lang="es-MX" altLang="es-MX" dirty="0" err="1"/>
              <a:t>Tecnico</a:t>
            </a:r>
            <a:r>
              <a:rPr lang="es-MX" altLang="es-MX" dirty="0"/>
              <a:t>/Organizacional: 13/10 </a:t>
            </a:r>
          </a:p>
          <a:p>
            <a:pPr lvl="1"/>
            <a:r>
              <a:rPr lang="es-MX" altLang="es-MX" dirty="0"/>
              <a:t>Dimensionamiento Económico- Financiero: 3/11</a:t>
            </a:r>
          </a:p>
          <a:p>
            <a:pPr lvl="1"/>
            <a:r>
              <a:rPr lang="es-MX" altLang="es-MX" dirty="0"/>
              <a:t>Dimensionamiento de Riesgo y Entrega TOTAL para Corregir: 10/11</a:t>
            </a:r>
          </a:p>
          <a:p>
            <a:pPr lvl="1"/>
            <a:r>
              <a:rPr lang="es-MX" altLang="es-MX" dirty="0"/>
              <a:t>Limite de Entrega este año: 24/11</a:t>
            </a:r>
          </a:p>
        </p:txBody>
      </p:sp>
    </p:spTree>
    <p:extLst>
      <p:ext uri="{BB962C8B-B14F-4D97-AF65-F5344CB8AC3E}">
        <p14:creationId xmlns:p14="http://schemas.microsoft.com/office/powerpoint/2010/main" val="4205918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MX" altLang="es-MX"/>
              <a:t>INSTRUMENTACION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1055440" y="1566862"/>
            <a:ext cx="10225136" cy="3724275"/>
          </a:xfrm>
        </p:spPr>
        <p:txBody>
          <a:bodyPr/>
          <a:lstStyle/>
          <a:p>
            <a:r>
              <a:rPr lang="es-MX" altLang="es-MX" sz="3600" dirty="0"/>
              <a:t>Google Drive </a:t>
            </a:r>
            <a:endParaRPr lang="es-MX" altLang="es-MX" sz="3600" dirty="0">
              <a:sym typeface="Wingdings" panose="05000000000000000000" pitchFamily="2" charset="2"/>
            </a:endParaRPr>
          </a:p>
          <a:p>
            <a:r>
              <a:rPr lang="es-MX" altLang="es-MX" sz="3600" dirty="0">
                <a:sym typeface="Wingdings" panose="05000000000000000000" pitchFamily="2" charset="2"/>
              </a:rPr>
              <a:t> Mail</a:t>
            </a:r>
          </a:p>
          <a:p>
            <a:r>
              <a:rPr lang="es-MX" altLang="es-MX" sz="3600" dirty="0">
                <a:sym typeface="Wingdings" panose="05000000000000000000" pitchFamily="2" charset="2"/>
              </a:rPr>
              <a:t>TODO DIGITAL</a:t>
            </a:r>
            <a:endParaRPr lang="es-MX" altLang="es-MX" sz="3600" dirty="0"/>
          </a:p>
          <a:p>
            <a:r>
              <a:rPr lang="es-MX" altLang="es-MX" sz="3600" dirty="0"/>
              <a:t>Las presentaciones de las ideas y de los proyectos serán a determinar, las primeras serán cortas y rápidas para luego pasar a ser más extensas.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MX" altLang="es-MX"/>
              <a:t>DIGITALIZACION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1127448" y="1340768"/>
            <a:ext cx="9937104" cy="3724275"/>
          </a:xfrm>
        </p:spPr>
        <p:txBody>
          <a:bodyPr/>
          <a:lstStyle/>
          <a:p>
            <a:r>
              <a:rPr lang="es-MX" altLang="es-MX" sz="3200" dirty="0"/>
              <a:t>¿CÓMO?</a:t>
            </a:r>
          </a:p>
          <a:p>
            <a:pPr lvl="1"/>
            <a:r>
              <a:rPr lang="es-MX" altLang="es-MX" sz="2800" dirty="0"/>
              <a:t>Creen una cuenta en Google Drive,  hagan una carpeta y compártanla con los docentes/ayudantes</a:t>
            </a:r>
          </a:p>
          <a:p>
            <a:pPr lvl="1"/>
            <a:r>
              <a:rPr lang="es-MX" altLang="es-MX" sz="2800" dirty="0"/>
              <a:t>Email dberenguer@frba.utn.edu.ar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17E0AE-E843-49A3-8FB4-835D85FA5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4345" y="30515"/>
            <a:ext cx="8382000" cy="748297"/>
          </a:xfrm>
        </p:spPr>
        <p:txBody>
          <a:bodyPr>
            <a:normAutofit fontScale="90000"/>
          </a:bodyPr>
          <a:lstStyle/>
          <a:p>
            <a:pPr algn="ctr"/>
            <a:r>
              <a:rPr lang="es-AR" dirty="0"/>
              <a:t>TAREAS PARA ESTA  PRIMER CLASE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8A7CDC-A2D4-4727-8306-414337753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440" y="1383432"/>
            <a:ext cx="10369152" cy="4091136"/>
          </a:xfrm>
        </p:spPr>
        <p:txBody>
          <a:bodyPr/>
          <a:lstStyle/>
          <a:p>
            <a:r>
              <a:rPr lang="es-AR" dirty="0"/>
              <a:t>ARMAR GRUPOS: No más de 5, </a:t>
            </a:r>
            <a:r>
              <a:rPr lang="es-AR" dirty="0" err="1"/>
              <a:t>envien</a:t>
            </a:r>
            <a:r>
              <a:rPr lang="es-AR" dirty="0"/>
              <a:t> por mail los grupos que armaron.</a:t>
            </a:r>
          </a:p>
          <a:p>
            <a:r>
              <a:rPr lang="es-AR" dirty="0"/>
              <a:t>DISCUTAN IDEAS entre USTEDES: Mientras avanzan con las ideas con los docentes, los alumnos que no tienen grupo vemos de organizarlos.</a:t>
            </a:r>
          </a:p>
          <a:p>
            <a:r>
              <a:rPr lang="es-AR" dirty="0"/>
              <a:t>ELEGIR 2 o 3 IDEAS: Qué cumplan con las condiciones enviadas en el MAIL. Cuando las tengan, llamen a algún docente para que las prevalide. </a:t>
            </a:r>
          </a:p>
          <a:p>
            <a:r>
              <a:rPr lang="es-AR" dirty="0"/>
              <a:t>DESPUES DE ESO ESTAN LIBERADOS</a:t>
            </a:r>
          </a:p>
          <a:p>
            <a:endParaRPr lang="es-AR" dirty="0"/>
          </a:p>
          <a:p>
            <a:pPr marL="0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534808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17E0AE-E843-49A3-8FB4-835D85FA5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4345" y="30515"/>
            <a:ext cx="8382000" cy="748297"/>
          </a:xfrm>
        </p:spPr>
        <p:txBody>
          <a:bodyPr>
            <a:normAutofit/>
          </a:bodyPr>
          <a:lstStyle/>
          <a:p>
            <a:pPr algn="ctr"/>
            <a:r>
              <a:rPr lang="es-AR" dirty="0"/>
              <a:t>METODOLOGIA EN CLASE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8A7CDC-A2D4-4727-8306-414337753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440" y="1383432"/>
            <a:ext cx="10369152" cy="4091136"/>
          </a:xfrm>
        </p:spPr>
        <p:txBody>
          <a:bodyPr/>
          <a:lstStyle/>
          <a:p>
            <a:r>
              <a:rPr lang="es-AR" sz="2400" dirty="0"/>
              <a:t>Algunas clases VIRTUALES vamos a dar algo de contenidos y lineamientos entre las 19hs y las 20hs máx.</a:t>
            </a:r>
          </a:p>
          <a:p>
            <a:r>
              <a:rPr lang="es-AR" sz="2400" dirty="0"/>
              <a:t>Después de eso hacemos hace seguimiento con los grupos con un esquema de rotación, para que todos los docentes puedan ver todos los grupos. Una semana están con el docente a cargo de su grupo y la semana siguiente con otro docente.</a:t>
            </a:r>
          </a:p>
          <a:p>
            <a:r>
              <a:rPr lang="es-AR" sz="2400" dirty="0"/>
              <a:t>El cronograma de esto lo voy a informar a partir de tener los grupos y los temas. </a:t>
            </a:r>
          </a:p>
          <a:p>
            <a:r>
              <a:rPr lang="es-A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PARA LOS DIAS PRESENCIALES HAY QUE PREAGENDAR REUNION CON SUS DOCENTES (o sus DOCENTES CON USTEDES)</a:t>
            </a:r>
            <a:endParaRPr lang="es-AR" sz="2400" dirty="0"/>
          </a:p>
          <a:p>
            <a:endParaRPr lang="es-AR" sz="2400" dirty="0"/>
          </a:p>
          <a:p>
            <a:pPr marL="0" indent="0">
              <a:buNone/>
            </a:pPr>
            <a:endParaRPr lang="es-AR" sz="2400" dirty="0"/>
          </a:p>
        </p:txBody>
      </p:sp>
    </p:spTree>
    <p:extLst>
      <p:ext uri="{BB962C8B-B14F-4D97-AF65-F5344CB8AC3E}">
        <p14:creationId xmlns:p14="http://schemas.microsoft.com/office/powerpoint/2010/main" val="1470139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MX" altLang="es-MX"/>
              <a:t>CRITERIOS IMPORTANTES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1199456" y="1419225"/>
            <a:ext cx="9937104" cy="40195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s-MX" altLang="es-MX" sz="3200" dirty="0"/>
              <a:t>LA DIGITALIZACION NO IMPLICA FALTA DE ENTREGA A TIEMPO</a:t>
            </a:r>
          </a:p>
          <a:p>
            <a:pPr>
              <a:lnSpc>
                <a:spcPct val="90000"/>
              </a:lnSpc>
            </a:pPr>
            <a:r>
              <a:rPr lang="es-MX" altLang="es-MX" sz="3200" dirty="0"/>
              <a:t>LA INFORMALIDAD NO IMPLICA FALTA DE TRABAJO</a:t>
            </a:r>
          </a:p>
          <a:p>
            <a:pPr>
              <a:lnSpc>
                <a:spcPct val="90000"/>
              </a:lnSpc>
            </a:pPr>
            <a:r>
              <a:rPr lang="es-MX" altLang="es-MX" sz="3200" dirty="0"/>
              <a:t>LAS INDICACIONES DE LOS AYUDANTES NO SON OPINIONES, SON EXIGENCIAS</a:t>
            </a:r>
          </a:p>
          <a:p>
            <a:pPr>
              <a:lnSpc>
                <a:spcPct val="90000"/>
              </a:lnSpc>
            </a:pPr>
            <a:r>
              <a:rPr lang="es-MX" altLang="es-MX" sz="3200" dirty="0"/>
              <a:t>EL TUTOR A CARGO DEL GRUPO ES EL QUE TIENE LA ULTIMA PALABRA EN CUANTO A LA APROBACION O NO</a:t>
            </a:r>
          </a:p>
          <a:p>
            <a:pPr>
              <a:lnSpc>
                <a:spcPct val="90000"/>
              </a:lnSpc>
            </a:pPr>
            <a:endParaRPr lang="es-MX" altLang="es-MX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MX" altLang="es-MX"/>
              <a:t>SELECCCION DE PROYECTOS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1199456" y="1268760"/>
            <a:ext cx="10297144" cy="3724275"/>
          </a:xfrm>
        </p:spPr>
        <p:txBody>
          <a:bodyPr>
            <a:noAutofit/>
          </a:bodyPr>
          <a:lstStyle/>
          <a:p>
            <a:r>
              <a:rPr lang="es-AR" altLang="es-MX" sz="2400" dirty="0"/>
              <a:t>Proyectos Industriales  (No agropecuarios, ni de sistemas, ni comerciales), pueden ser nuevos o de </a:t>
            </a:r>
            <a:r>
              <a:rPr lang="es-AR" altLang="es-MX" sz="2400" dirty="0" err="1"/>
              <a:t>reingenieria</a:t>
            </a:r>
            <a:endParaRPr lang="es-AR" altLang="es-MX" sz="2400" dirty="0"/>
          </a:p>
          <a:p>
            <a:r>
              <a:rPr lang="es-AR" altLang="es-MX" sz="2400" dirty="0"/>
              <a:t>Trabajar 2 </a:t>
            </a:r>
            <a:r>
              <a:rPr lang="es-AR" altLang="es-MX" sz="2400" dirty="0" err="1"/>
              <a:t>ó</a:t>
            </a:r>
            <a:r>
              <a:rPr lang="es-AR" altLang="es-MX" sz="2400" dirty="0"/>
              <a:t> 3 turnos de trabajo a lo largo de los N años</a:t>
            </a:r>
          </a:p>
          <a:p>
            <a:r>
              <a:rPr lang="es-AR" altLang="es-MX" sz="2400" dirty="0"/>
              <a:t>El tamaño no debe ser menor a 50 empleados al inicio del proyecto</a:t>
            </a:r>
          </a:p>
          <a:p>
            <a:r>
              <a:rPr lang="es-AR" altLang="es-MX" sz="2400" dirty="0"/>
              <a:t>Una facturación al inicio del proyecto de al menos 2.000 millones de pesos anuales </a:t>
            </a:r>
          </a:p>
          <a:p>
            <a:r>
              <a:rPr lang="es-AR" altLang="es-MX" sz="2400" dirty="0"/>
              <a:t>Si se trata de un proyecto estacional por la naturaleza de un insumo (en general relacionados a proveedores agropecuarios) se tiene que plantear un proyecto/actividad  para trabajar a contraestación.</a:t>
            </a:r>
          </a:p>
          <a:p>
            <a:r>
              <a:rPr lang="es-AR" altLang="es-MX" sz="2400" dirty="0"/>
              <a:t>No hacer proyectos donde la solución sean una línea llave en mano</a:t>
            </a:r>
          </a:p>
          <a:p>
            <a:r>
              <a:rPr lang="es-AR" altLang="es-MX" sz="2400" dirty="0"/>
              <a:t>Los proyectos TIENEN que tener un período de análisis  de al menos 10 años.</a:t>
            </a:r>
            <a:endParaRPr lang="es-MX" altLang="es-MX" sz="2400" dirty="0"/>
          </a:p>
          <a:p>
            <a:endParaRPr lang="es-MX" altLang="es-MX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AutoShape 54"/>
          <p:cNvSpPr>
            <a:spLocks noChangeArrowheads="1"/>
          </p:cNvSpPr>
          <p:nvPr/>
        </p:nvSpPr>
        <p:spPr bwMode="auto">
          <a:xfrm>
            <a:off x="4095736" y="2252900"/>
            <a:ext cx="5072098" cy="1554340"/>
          </a:xfrm>
          <a:prstGeom prst="roundRect">
            <a:avLst>
              <a:gd name="adj" fmla="val 16667"/>
            </a:avLst>
          </a:prstGeom>
          <a:solidFill>
            <a:srgbClr val="CCECFF"/>
          </a:solidFill>
          <a:ln w="9525">
            <a:solidFill>
              <a:srgbClr val="000000"/>
            </a:solidFill>
            <a:prstDash val="sysDot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>
              <a:spcAft>
                <a:spcPts val="1000"/>
              </a:spcAft>
              <a:defRPr/>
            </a:pPr>
            <a:r>
              <a:rPr lang="es-AR" sz="1200" b="1" dirty="0">
                <a:solidFill>
                  <a:prstClr val="black"/>
                </a:solidFill>
                <a:latin typeface="Calibri" pitchFamily="34" charset="0"/>
                <a:cs typeface="+mn-cs"/>
              </a:rPr>
              <a:t>Factibilidad</a:t>
            </a:r>
            <a:endParaRPr lang="es-AR" sz="3200" b="1" dirty="0">
              <a:solidFill>
                <a:prstClr val="black"/>
              </a:solidFill>
              <a:cs typeface="+mn-cs"/>
            </a:endParaRPr>
          </a:p>
        </p:txBody>
      </p:sp>
      <p:sp>
        <p:nvSpPr>
          <p:cNvPr id="1079" name="AutoShape 55"/>
          <p:cNvSpPr>
            <a:spLocks noChangeArrowheads="1"/>
          </p:cNvSpPr>
          <p:nvPr/>
        </p:nvSpPr>
        <p:spPr bwMode="auto">
          <a:xfrm>
            <a:off x="1809720" y="2252900"/>
            <a:ext cx="948542" cy="1554340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spcAft>
                <a:spcPts val="1000"/>
              </a:spcAft>
              <a:defRPr/>
            </a:pPr>
            <a:r>
              <a:rPr lang="es-AR" sz="1200" b="1" dirty="0">
                <a:solidFill>
                  <a:prstClr val="black"/>
                </a:solidFill>
                <a:latin typeface="Calibri" pitchFamily="34" charset="0"/>
                <a:cs typeface="+mn-cs"/>
              </a:rPr>
              <a:t>Selección del Proyecto</a:t>
            </a:r>
            <a:endParaRPr lang="es-AR" sz="3600" b="1" dirty="0">
              <a:solidFill>
                <a:prstClr val="black"/>
              </a:solidFill>
              <a:cs typeface="+mn-cs"/>
            </a:endParaRPr>
          </a:p>
        </p:txBody>
      </p:sp>
      <p:sp>
        <p:nvSpPr>
          <p:cNvPr id="1080" name="AutoShape 56"/>
          <p:cNvSpPr>
            <a:spLocks noChangeArrowheads="1"/>
          </p:cNvSpPr>
          <p:nvPr/>
        </p:nvSpPr>
        <p:spPr bwMode="auto">
          <a:xfrm>
            <a:off x="2952728" y="2252900"/>
            <a:ext cx="991432" cy="1554340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spcAft>
                <a:spcPts val="1000"/>
              </a:spcAft>
              <a:defRPr/>
            </a:pPr>
            <a:r>
              <a:rPr lang="es-AR" sz="1200" b="1" dirty="0">
                <a:solidFill>
                  <a:prstClr val="black"/>
                </a:solidFill>
                <a:latin typeface="Calibri" pitchFamily="34" charset="0"/>
                <a:cs typeface="+mn-cs"/>
              </a:rPr>
              <a:t>Pre-factibilidad</a:t>
            </a:r>
            <a:endParaRPr lang="es-AR" sz="1200" b="1" dirty="0">
              <a:solidFill>
                <a:prstClr val="black"/>
              </a:solidFill>
              <a:cs typeface="+mn-cs"/>
            </a:endParaRPr>
          </a:p>
        </p:txBody>
      </p:sp>
      <p:sp>
        <p:nvSpPr>
          <p:cNvPr id="1085" name="AutoShape 61"/>
          <p:cNvSpPr>
            <a:spLocks noChangeArrowheads="1"/>
          </p:cNvSpPr>
          <p:nvPr/>
        </p:nvSpPr>
        <p:spPr bwMode="auto">
          <a:xfrm>
            <a:off x="9382148" y="2252900"/>
            <a:ext cx="919722" cy="1554340"/>
          </a:xfrm>
          <a:prstGeom prst="roundRect">
            <a:avLst>
              <a:gd name="adj" fmla="val 16667"/>
            </a:avLst>
          </a:prstGeom>
          <a:solidFill>
            <a:srgbClr val="FFCC99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>
              <a:spcAft>
                <a:spcPts val="1000"/>
              </a:spcAft>
              <a:defRPr/>
            </a:pPr>
            <a:endParaRPr lang="es-AR" sz="1200" b="1">
              <a:solidFill>
                <a:prstClr val="black"/>
              </a:solidFill>
              <a:latin typeface="Times New Roman" pitchFamily="18" charset="0"/>
              <a:cs typeface="+mn-cs"/>
            </a:endParaRPr>
          </a:p>
          <a:p>
            <a:pPr algn="ctr">
              <a:spcAft>
                <a:spcPts val="1000"/>
              </a:spcAft>
              <a:defRPr/>
            </a:pPr>
            <a:r>
              <a:rPr lang="es-AR" sz="1200" b="1">
                <a:solidFill>
                  <a:prstClr val="black"/>
                </a:solidFill>
                <a:latin typeface="Calibri" pitchFamily="34" charset="0"/>
                <a:cs typeface="+mn-cs"/>
              </a:rPr>
              <a:t>Tiempos y Riesgos</a:t>
            </a:r>
            <a:endParaRPr lang="es-AR" sz="1200" b="1">
              <a:solidFill>
                <a:prstClr val="black"/>
              </a:solidFill>
              <a:cs typeface="+mn-cs"/>
            </a:endParaRPr>
          </a:p>
        </p:txBody>
      </p:sp>
      <p:sp>
        <p:nvSpPr>
          <p:cNvPr id="1093" name="Rectangle 69"/>
          <p:cNvSpPr>
            <a:spLocks noChangeArrowheads="1"/>
          </p:cNvSpPr>
          <p:nvPr/>
        </p:nvSpPr>
        <p:spPr bwMode="auto">
          <a:xfrm>
            <a:off x="2095472" y="2324758"/>
            <a:ext cx="571504" cy="316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Aft>
                <a:spcPts val="1000"/>
              </a:spcAft>
              <a:defRPr/>
            </a:pPr>
            <a:r>
              <a:rPr lang="es-AR" sz="1400" b="1" dirty="0">
                <a:solidFill>
                  <a:prstClr val="black"/>
                </a:solidFill>
                <a:latin typeface="Times New Roman" pitchFamily="18" charset="0"/>
                <a:cs typeface="+mn-cs"/>
              </a:rPr>
              <a:t>-</a:t>
            </a:r>
            <a:r>
              <a:rPr lang="es-AR" sz="1400" b="1" dirty="0">
                <a:solidFill>
                  <a:prstClr val="black"/>
                </a:solidFill>
                <a:latin typeface="Calibri" pitchFamily="34" charset="0"/>
                <a:cs typeface="+mn-cs"/>
              </a:rPr>
              <a:t>1</a:t>
            </a:r>
            <a:r>
              <a:rPr lang="es-AR" sz="1400" b="1" dirty="0">
                <a:solidFill>
                  <a:prstClr val="black"/>
                </a:solidFill>
                <a:latin typeface="Times New Roman" pitchFamily="18" charset="0"/>
                <a:cs typeface="+mn-cs"/>
              </a:rPr>
              <a:t>-</a:t>
            </a:r>
            <a:endParaRPr lang="es-AR" sz="4000" dirty="0">
              <a:solidFill>
                <a:prstClr val="black"/>
              </a:solidFill>
              <a:cs typeface="+mn-cs"/>
            </a:endParaRPr>
          </a:p>
        </p:txBody>
      </p:sp>
      <p:sp>
        <p:nvSpPr>
          <p:cNvPr id="1094" name="Rectangle 70"/>
          <p:cNvSpPr>
            <a:spLocks noChangeArrowheads="1"/>
          </p:cNvSpPr>
          <p:nvPr/>
        </p:nvSpPr>
        <p:spPr bwMode="auto">
          <a:xfrm>
            <a:off x="3238480" y="2324758"/>
            <a:ext cx="490754" cy="244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Aft>
                <a:spcPts val="1000"/>
              </a:spcAft>
              <a:defRPr/>
            </a:pPr>
            <a:r>
              <a:rPr lang="es-AR" sz="1400" b="1" dirty="0">
                <a:solidFill>
                  <a:prstClr val="black"/>
                </a:solidFill>
                <a:latin typeface="Times New Roman" pitchFamily="18" charset="0"/>
                <a:cs typeface="+mn-cs"/>
              </a:rPr>
              <a:t>-</a:t>
            </a:r>
            <a:r>
              <a:rPr lang="es-AR" sz="1400" b="1" dirty="0">
                <a:solidFill>
                  <a:prstClr val="black"/>
                </a:solidFill>
                <a:latin typeface="Calibri" pitchFamily="34" charset="0"/>
                <a:cs typeface="+mn-cs"/>
              </a:rPr>
              <a:t>2-</a:t>
            </a:r>
            <a:endParaRPr lang="es-AR" sz="1400" dirty="0">
              <a:solidFill>
                <a:prstClr val="black"/>
              </a:solidFill>
              <a:cs typeface="+mn-cs"/>
            </a:endParaRPr>
          </a:p>
        </p:txBody>
      </p:sp>
      <p:sp>
        <p:nvSpPr>
          <p:cNvPr id="1095" name="Rectangle 71"/>
          <p:cNvSpPr>
            <a:spLocks noChangeArrowheads="1"/>
          </p:cNvSpPr>
          <p:nvPr/>
        </p:nvSpPr>
        <p:spPr bwMode="auto">
          <a:xfrm>
            <a:off x="6364966" y="2182936"/>
            <a:ext cx="426181" cy="320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Aft>
                <a:spcPts val="1000"/>
              </a:spcAft>
              <a:defRPr/>
            </a:pPr>
            <a:r>
              <a:rPr lang="es-AR" sz="1400" b="1">
                <a:solidFill>
                  <a:prstClr val="black"/>
                </a:solidFill>
                <a:latin typeface="Times New Roman" pitchFamily="18" charset="0"/>
                <a:cs typeface="+mn-cs"/>
              </a:rPr>
              <a:t>-</a:t>
            </a:r>
            <a:r>
              <a:rPr lang="es-AR" sz="1400" b="1">
                <a:solidFill>
                  <a:prstClr val="black"/>
                </a:solidFill>
                <a:latin typeface="Calibri" pitchFamily="34" charset="0"/>
                <a:cs typeface="+mn-cs"/>
              </a:rPr>
              <a:t>3-</a:t>
            </a:r>
            <a:endParaRPr lang="es-AR" sz="1400">
              <a:solidFill>
                <a:prstClr val="black"/>
              </a:solidFill>
              <a:cs typeface="+mn-cs"/>
            </a:endParaRPr>
          </a:p>
        </p:txBody>
      </p:sp>
      <p:sp>
        <p:nvSpPr>
          <p:cNvPr id="1096" name="Rectangle 72"/>
          <p:cNvSpPr>
            <a:spLocks noChangeArrowheads="1"/>
          </p:cNvSpPr>
          <p:nvPr/>
        </p:nvSpPr>
        <p:spPr bwMode="auto">
          <a:xfrm>
            <a:off x="9681562" y="2324755"/>
            <a:ext cx="414966" cy="3271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Aft>
                <a:spcPts val="1000"/>
              </a:spcAft>
              <a:defRPr/>
            </a:pPr>
            <a:r>
              <a:rPr lang="es-AR" sz="1400" b="1" dirty="0">
                <a:solidFill>
                  <a:prstClr val="black"/>
                </a:solidFill>
                <a:latin typeface="Calibri" pitchFamily="34" charset="0"/>
                <a:cs typeface="+mn-cs"/>
              </a:rPr>
              <a:t>-4-</a:t>
            </a:r>
            <a:endParaRPr lang="es-AR" sz="1400" dirty="0">
              <a:solidFill>
                <a:prstClr val="black"/>
              </a:solidFill>
              <a:cs typeface="+mn-cs"/>
            </a:endParaRPr>
          </a:p>
        </p:txBody>
      </p:sp>
      <p:grpSp>
        <p:nvGrpSpPr>
          <p:cNvPr id="88" name="87 Grupo"/>
          <p:cNvGrpSpPr/>
          <p:nvPr/>
        </p:nvGrpSpPr>
        <p:grpSpPr>
          <a:xfrm>
            <a:off x="4238612" y="2606030"/>
            <a:ext cx="4762692" cy="964844"/>
            <a:chOff x="2714612" y="2606030"/>
            <a:chExt cx="4762692" cy="964844"/>
          </a:xfrm>
        </p:grpSpPr>
        <p:grpSp>
          <p:nvGrpSpPr>
            <p:cNvPr id="86" name="85 Grupo"/>
            <p:cNvGrpSpPr/>
            <p:nvPr/>
          </p:nvGrpSpPr>
          <p:grpSpPr>
            <a:xfrm>
              <a:off x="2714612" y="2635812"/>
              <a:ext cx="4762692" cy="935062"/>
              <a:chOff x="2714612" y="2635812"/>
              <a:chExt cx="4762692" cy="935062"/>
            </a:xfrm>
          </p:grpSpPr>
          <p:sp>
            <p:nvSpPr>
              <p:cNvPr id="1081" name="AutoShape 57"/>
              <p:cNvSpPr>
                <a:spLocks noChangeArrowheads="1"/>
              </p:cNvSpPr>
              <p:nvPr/>
            </p:nvSpPr>
            <p:spPr bwMode="auto">
              <a:xfrm>
                <a:off x="2714612" y="2637703"/>
                <a:ext cx="1000132" cy="904807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algn="ctr">
                  <a:spcAft>
                    <a:spcPts val="1000"/>
                  </a:spcAft>
                  <a:defRPr/>
                </a:pPr>
                <a:r>
                  <a:rPr lang="es-AR" sz="1100" b="1" dirty="0">
                    <a:solidFill>
                      <a:prstClr val="black"/>
                    </a:solidFill>
                    <a:latin typeface="Calibri" pitchFamily="34" charset="0"/>
                    <a:cs typeface="+mn-cs"/>
                  </a:rPr>
                  <a:t>Comercial</a:t>
                </a:r>
                <a:endParaRPr lang="es-AR" sz="3200" b="1" dirty="0">
                  <a:solidFill>
                    <a:prstClr val="black"/>
                  </a:solidFill>
                  <a:cs typeface="+mn-cs"/>
                </a:endParaRPr>
              </a:p>
            </p:txBody>
          </p:sp>
          <p:sp>
            <p:nvSpPr>
              <p:cNvPr id="1082" name="AutoShape 58"/>
              <p:cNvSpPr>
                <a:spLocks noChangeArrowheads="1"/>
              </p:cNvSpPr>
              <p:nvPr/>
            </p:nvSpPr>
            <p:spPr bwMode="auto">
              <a:xfrm>
                <a:off x="3937011" y="2635812"/>
                <a:ext cx="713292" cy="935062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algn="ctr">
                  <a:spcAft>
                    <a:spcPts val="1000"/>
                  </a:spcAft>
                  <a:defRPr/>
                </a:pPr>
                <a:r>
                  <a:rPr lang="es-AR" sz="1100" b="1" dirty="0">
                    <a:solidFill>
                      <a:prstClr val="black"/>
                    </a:solidFill>
                    <a:latin typeface="Calibri" pitchFamily="34" charset="0"/>
                    <a:cs typeface="+mn-cs"/>
                  </a:rPr>
                  <a:t>Técnica</a:t>
                </a:r>
                <a:endParaRPr lang="es-AR" sz="3200" b="1" dirty="0">
                  <a:solidFill>
                    <a:prstClr val="black"/>
                  </a:solidFill>
                  <a:cs typeface="+mn-cs"/>
                </a:endParaRPr>
              </a:p>
            </p:txBody>
          </p:sp>
          <p:sp>
            <p:nvSpPr>
              <p:cNvPr id="1083" name="AutoShape 59"/>
              <p:cNvSpPr>
                <a:spLocks noChangeArrowheads="1"/>
              </p:cNvSpPr>
              <p:nvPr/>
            </p:nvSpPr>
            <p:spPr bwMode="auto">
              <a:xfrm>
                <a:off x="5039576" y="2635812"/>
                <a:ext cx="1246936" cy="906698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algn="ctr">
                  <a:spcAft>
                    <a:spcPts val="1000"/>
                  </a:spcAft>
                  <a:defRPr/>
                </a:pPr>
                <a:r>
                  <a:rPr lang="es-AR" sz="1100" b="1" dirty="0">
                    <a:solidFill>
                      <a:prstClr val="black"/>
                    </a:solidFill>
                    <a:latin typeface="Calibri" pitchFamily="34" charset="0"/>
                    <a:cs typeface="+mn-cs"/>
                  </a:rPr>
                  <a:t>Administrativa y Organizacional</a:t>
                </a:r>
                <a:endParaRPr lang="es-AR" sz="3200" b="1" dirty="0">
                  <a:solidFill>
                    <a:prstClr val="black"/>
                  </a:solidFill>
                  <a:cs typeface="+mn-cs"/>
                </a:endParaRPr>
              </a:p>
            </p:txBody>
          </p:sp>
          <p:sp>
            <p:nvSpPr>
              <p:cNvPr id="1084" name="AutoShape 60"/>
              <p:cNvSpPr>
                <a:spLocks noChangeArrowheads="1"/>
              </p:cNvSpPr>
              <p:nvPr/>
            </p:nvSpPr>
            <p:spPr bwMode="auto">
              <a:xfrm>
                <a:off x="6500826" y="2635812"/>
                <a:ext cx="976478" cy="935062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algn="ctr">
                  <a:spcAft>
                    <a:spcPts val="1000"/>
                  </a:spcAft>
                  <a:defRPr/>
                </a:pPr>
                <a:r>
                  <a:rPr lang="es-AR" sz="1100" b="1">
                    <a:solidFill>
                      <a:prstClr val="black"/>
                    </a:solidFill>
                    <a:latin typeface="Calibri" pitchFamily="34" charset="0"/>
                    <a:cs typeface="+mn-cs"/>
                  </a:rPr>
                  <a:t>Económica y Financiera</a:t>
                </a:r>
                <a:endParaRPr lang="es-AR" sz="3200" b="1">
                  <a:solidFill>
                    <a:prstClr val="black"/>
                  </a:solidFill>
                  <a:cs typeface="+mn-cs"/>
                </a:endParaRPr>
              </a:p>
            </p:txBody>
          </p:sp>
        </p:grpSp>
        <p:sp>
          <p:nvSpPr>
            <p:cNvPr id="1097" name="Rectangle 73"/>
            <p:cNvSpPr>
              <a:spLocks noChangeArrowheads="1"/>
            </p:cNvSpPr>
            <p:nvPr/>
          </p:nvSpPr>
          <p:spPr bwMode="auto">
            <a:xfrm>
              <a:off x="3000364" y="2606030"/>
              <a:ext cx="504688" cy="3205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spcAft>
                  <a:spcPts val="1000"/>
                </a:spcAft>
                <a:defRPr/>
              </a:pPr>
              <a:r>
                <a:rPr lang="es-AR" sz="1200" b="1" dirty="0">
                  <a:solidFill>
                    <a:prstClr val="black"/>
                  </a:solidFill>
                  <a:latin typeface="Calibri" pitchFamily="34" charset="0"/>
                  <a:cs typeface="+mn-cs"/>
                </a:rPr>
                <a:t>-3.1-</a:t>
              </a:r>
              <a:endParaRPr lang="es-AR" sz="1200" dirty="0">
                <a:solidFill>
                  <a:prstClr val="black"/>
                </a:solidFill>
                <a:cs typeface="+mn-cs"/>
              </a:endParaRPr>
            </a:p>
          </p:txBody>
        </p:sp>
        <p:sp>
          <p:nvSpPr>
            <p:cNvPr id="1098" name="Rectangle 74"/>
            <p:cNvSpPr>
              <a:spLocks noChangeArrowheads="1"/>
            </p:cNvSpPr>
            <p:nvPr/>
          </p:nvSpPr>
          <p:spPr bwMode="auto">
            <a:xfrm>
              <a:off x="4078323" y="2606030"/>
              <a:ext cx="504688" cy="3205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spcAft>
                  <a:spcPts val="1000"/>
                </a:spcAft>
                <a:defRPr/>
              </a:pPr>
              <a:r>
                <a:rPr lang="es-AR" sz="1200" b="1" dirty="0">
                  <a:solidFill>
                    <a:prstClr val="black"/>
                  </a:solidFill>
                  <a:latin typeface="Calibri" pitchFamily="34" charset="0"/>
                  <a:cs typeface="+mn-cs"/>
                </a:rPr>
                <a:t>-3.2-</a:t>
              </a:r>
              <a:endParaRPr lang="es-AR" sz="1200" dirty="0">
                <a:solidFill>
                  <a:prstClr val="black"/>
                </a:solidFill>
                <a:cs typeface="+mn-cs"/>
              </a:endParaRPr>
            </a:p>
          </p:txBody>
        </p:sp>
        <p:sp>
          <p:nvSpPr>
            <p:cNvPr id="1099" name="Rectangle 75"/>
            <p:cNvSpPr>
              <a:spLocks noChangeArrowheads="1"/>
            </p:cNvSpPr>
            <p:nvPr/>
          </p:nvSpPr>
          <p:spPr bwMode="auto">
            <a:xfrm>
              <a:off x="5496072" y="2606030"/>
              <a:ext cx="504688" cy="3205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spcAft>
                  <a:spcPts val="1000"/>
                </a:spcAft>
                <a:defRPr/>
              </a:pPr>
              <a:r>
                <a:rPr lang="es-AR" sz="1200" b="1" dirty="0">
                  <a:solidFill>
                    <a:prstClr val="black"/>
                  </a:solidFill>
                  <a:latin typeface="Calibri" pitchFamily="34" charset="0"/>
                  <a:cs typeface="+mn-cs"/>
                </a:rPr>
                <a:t>-3.3-</a:t>
              </a:r>
              <a:endParaRPr lang="es-AR" sz="1200" dirty="0">
                <a:solidFill>
                  <a:prstClr val="black"/>
                </a:solidFill>
                <a:cs typeface="+mn-cs"/>
              </a:endParaRPr>
            </a:p>
          </p:txBody>
        </p:sp>
        <p:sp>
          <p:nvSpPr>
            <p:cNvPr id="1100" name="Rectangle 76"/>
            <p:cNvSpPr>
              <a:spLocks noChangeArrowheads="1"/>
            </p:cNvSpPr>
            <p:nvPr/>
          </p:nvSpPr>
          <p:spPr bwMode="auto">
            <a:xfrm>
              <a:off x="6781956" y="2606030"/>
              <a:ext cx="504688" cy="3205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spcAft>
                  <a:spcPts val="1000"/>
                </a:spcAft>
                <a:defRPr/>
              </a:pPr>
              <a:r>
                <a:rPr lang="es-AR" sz="1200" b="1" dirty="0">
                  <a:solidFill>
                    <a:prstClr val="black"/>
                  </a:solidFill>
                  <a:latin typeface="Calibri" pitchFamily="34" charset="0"/>
                  <a:cs typeface="+mn-cs"/>
                </a:rPr>
                <a:t>-3.4-</a:t>
              </a:r>
              <a:endParaRPr lang="es-AR" sz="1200" dirty="0">
                <a:solidFill>
                  <a:prstClr val="black"/>
                </a:solidFill>
                <a:cs typeface="+mn-cs"/>
              </a:endParaRPr>
            </a:p>
          </p:txBody>
        </p:sp>
      </p:grpSp>
      <p:grpSp>
        <p:nvGrpSpPr>
          <p:cNvPr id="87" name="86 Grupo"/>
          <p:cNvGrpSpPr/>
          <p:nvPr/>
        </p:nvGrpSpPr>
        <p:grpSpPr>
          <a:xfrm>
            <a:off x="2381227" y="3212294"/>
            <a:ext cx="7342345" cy="859648"/>
            <a:chOff x="857224" y="3212294"/>
            <a:chExt cx="7342345" cy="859648"/>
          </a:xfrm>
        </p:grpSpPr>
        <p:sp>
          <p:nvSpPr>
            <p:cNvPr id="1086" name="AutoShape 62"/>
            <p:cNvSpPr>
              <a:spLocks noChangeArrowheads="1"/>
            </p:cNvSpPr>
            <p:nvPr/>
          </p:nvSpPr>
          <p:spPr bwMode="auto">
            <a:xfrm>
              <a:off x="857224" y="3498046"/>
              <a:ext cx="984363" cy="573896"/>
            </a:xfrm>
            <a:prstGeom prst="rightArrow">
              <a:avLst>
                <a:gd name="adj1" fmla="val 50000"/>
                <a:gd name="adj2" fmla="val 50288"/>
              </a:avLst>
            </a:prstGeom>
            <a:solidFill>
              <a:schemeClr val="bg1">
                <a:lumMod val="85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spcAft>
                  <a:spcPts val="1000"/>
                </a:spcAft>
                <a:defRPr/>
              </a:pPr>
              <a:r>
                <a:rPr lang="es-AR" sz="1050" b="1">
                  <a:solidFill>
                    <a:prstClr val="black"/>
                  </a:solidFill>
                  <a:latin typeface="Calibri" pitchFamily="34" charset="0"/>
                  <a:cs typeface="+mn-cs"/>
                </a:rPr>
                <a:t>Entregables</a:t>
              </a:r>
              <a:endParaRPr lang="es-AR" sz="2800" b="1">
                <a:solidFill>
                  <a:prstClr val="black"/>
                </a:solidFill>
                <a:cs typeface="+mn-cs"/>
              </a:endParaRPr>
            </a:p>
          </p:txBody>
        </p:sp>
        <p:sp>
          <p:nvSpPr>
            <p:cNvPr id="79" name="AutoShape 62"/>
            <p:cNvSpPr>
              <a:spLocks noChangeArrowheads="1"/>
            </p:cNvSpPr>
            <p:nvPr/>
          </p:nvSpPr>
          <p:spPr bwMode="auto">
            <a:xfrm>
              <a:off x="2071670" y="3426608"/>
              <a:ext cx="984363" cy="573896"/>
            </a:xfrm>
            <a:prstGeom prst="rightArrow">
              <a:avLst>
                <a:gd name="adj1" fmla="val 50000"/>
                <a:gd name="adj2" fmla="val 50288"/>
              </a:avLst>
            </a:prstGeom>
            <a:solidFill>
              <a:schemeClr val="bg1">
                <a:lumMod val="85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spcAft>
                  <a:spcPts val="1000"/>
                </a:spcAft>
                <a:defRPr/>
              </a:pPr>
              <a:r>
                <a:rPr lang="es-AR" sz="1050" b="1">
                  <a:solidFill>
                    <a:prstClr val="black"/>
                  </a:solidFill>
                  <a:latin typeface="Calibri" pitchFamily="34" charset="0"/>
                  <a:cs typeface="+mn-cs"/>
                </a:rPr>
                <a:t>Entregables</a:t>
              </a:r>
              <a:endParaRPr lang="es-AR" sz="2800" b="1">
                <a:solidFill>
                  <a:prstClr val="black"/>
                </a:solidFill>
                <a:cs typeface="+mn-cs"/>
              </a:endParaRPr>
            </a:p>
          </p:txBody>
        </p:sp>
        <p:sp>
          <p:nvSpPr>
            <p:cNvPr id="80" name="AutoShape 62"/>
            <p:cNvSpPr>
              <a:spLocks noChangeArrowheads="1"/>
            </p:cNvSpPr>
            <p:nvPr/>
          </p:nvSpPr>
          <p:spPr bwMode="auto">
            <a:xfrm>
              <a:off x="3357554" y="3212294"/>
              <a:ext cx="984363" cy="573896"/>
            </a:xfrm>
            <a:prstGeom prst="rightArrow">
              <a:avLst>
                <a:gd name="adj1" fmla="val 50000"/>
                <a:gd name="adj2" fmla="val 50288"/>
              </a:avLst>
            </a:prstGeom>
            <a:solidFill>
              <a:schemeClr val="bg1">
                <a:lumMod val="85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spcAft>
                  <a:spcPts val="1000"/>
                </a:spcAft>
                <a:defRPr/>
              </a:pPr>
              <a:r>
                <a:rPr lang="es-AR" sz="1050" b="1">
                  <a:solidFill>
                    <a:prstClr val="black"/>
                  </a:solidFill>
                  <a:latin typeface="Calibri" pitchFamily="34" charset="0"/>
                  <a:cs typeface="+mn-cs"/>
                </a:rPr>
                <a:t>Entregables</a:t>
              </a:r>
              <a:endParaRPr lang="es-AR" sz="2800" b="1">
                <a:solidFill>
                  <a:prstClr val="black"/>
                </a:solidFill>
                <a:cs typeface="+mn-cs"/>
              </a:endParaRPr>
            </a:p>
          </p:txBody>
        </p:sp>
        <p:sp>
          <p:nvSpPr>
            <p:cNvPr id="81" name="AutoShape 62"/>
            <p:cNvSpPr>
              <a:spLocks noChangeArrowheads="1"/>
            </p:cNvSpPr>
            <p:nvPr/>
          </p:nvSpPr>
          <p:spPr bwMode="auto">
            <a:xfrm>
              <a:off x="4429124" y="3212294"/>
              <a:ext cx="984363" cy="573896"/>
            </a:xfrm>
            <a:prstGeom prst="rightArrow">
              <a:avLst>
                <a:gd name="adj1" fmla="val 50000"/>
                <a:gd name="adj2" fmla="val 50288"/>
              </a:avLst>
            </a:prstGeom>
            <a:solidFill>
              <a:schemeClr val="bg1">
                <a:lumMod val="85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spcAft>
                  <a:spcPts val="1000"/>
                </a:spcAft>
                <a:defRPr/>
              </a:pPr>
              <a:r>
                <a:rPr lang="es-AR" sz="1050" b="1">
                  <a:solidFill>
                    <a:prstClr val="black"/>
                  </a:solidFill>
                  <a:latin typeface="Calibri" pitchFamily="34" charset="0"/>
                  <a:cs typeface="+mn-cs"/>
                </a:rPr>
                <a:t>Entregables</a:t>
              </a:r>
              <a:endParaRPr lang="es-AR" sz="2800" b="1">
                <a:solidFill>
                  <a:prstClr val="black"/>
                </a:solidFill>
                <a:cs typeface="+mn-cs"/>
              </a:endParaRPr>
            </a:p>
          </p:txBody>
        </p:sp>
        <p:sp>
          <p:nvSpPr>
            <p:cNvPr id="82" name="AutoShape 62"/>
            <p:cNvSpPr>
              <a:spLocks noChangeArrowheads="1"/>
            </p:cNvSpPr>
            <p:nvPr/>
          </p:nvSpPr>
          <p:spPr bwMode="auto">
            <a:xfrm>
              <a:off x="5857884" y="3212294"/>
              <a:ext cx="984363" cy="573896"/>
            </a:xfrm>
            <a:prstGeom prst="rightArrow">
              <a:avLst>
                <a:gd name="adj1" fmla="val 50000"/>
                <a:gd name="adj2" fmla="val 50288"/>
              </a:avLst>
            </a:prstGeom>
            <a:solidFill>
              <a:schemeClr val="bg1">
                <a:lumMod val="85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spcAft>
                  <a:spcPts val="1000"/>
                </a:spcAft>
                <a:defRPr/>
              </a:pPr>
              <a:r>
                <a:rPr lang="es-AR" sz="1050" b="1">
                  <a:solidFill>
                    <a:prstClr val="black"/>
                  </a:solidFill>
                  <a:latin typeface="Calibri" pitchFamily="34" charset="0"/>
                  <a:cs typeface="+mn-cs"/>
                </a:rPr>
                <a:t>Entregables</a:t>
              </a:r>
              <a:endParaRPr lang="es-AR" sz="2800" b="1">
                <a:solidFill>
                  <a:prstClr val="black"/>
                </a:solidFill>
                <a:cs typeface="+mn-cs"/>
              </a:endParaRPr>
            </a:p>
          </p:txBody>
        </p:sp>
        <p:sp>
          <p:nvSpPr>
            <p:cNvPr id="83" name="AutoShape 62"/>
            <p:cNvSpPr>
              <a:spLocks noChangeArrowheads="1"/>
            </p:cNvSpPr>
            <p:nvPr/>
          </p:nvSpPr>
          <p:spPr bwMode="auto">
            <a:xfrm>
              <a:off x="7215206" y="3498046"/>
              <a:ext cx="984363" cy="573896"/>
            </a:xfrm>
            <a:prstGeom prst="rightArrow">
              <a:avLst>
                <a:gd name="adj1" fmla="val 50000"/>
                <a:gd name="adj2" fmla="val 50288"/>
              </a:avLst>
            </a:prstGeom>
            <a:solidFill>
              <a:schemeClr val="bg1">
                <a:lumMod val="85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spcAft>
                  <a:spcPts val="1000"/>
                </a:spcAft>
                <a:defRPr/>
              </a:pPr>
              <a:r>
                <a:rPr lang="es-AR" sz="1050" b="1">
                  <a:solidFill>
                    <a:prstClr val="black"/>
                  </a:solidFill>
                  <a:latin typeface="Calibri" pitchFamily="34" charset="0"/>
                  <a:cs typeface="+mn-cs"/>
                </a:rPr>
                <a:t>Entregables</a:t>
              </a:r>
              <a:endParaRPr lang="es-AR" sz="2800" b="1">
                <a:solidFill>
                  <a:prstClr val="black"/>
                </a:solidFill>
                <a:cs typeface="+mn-cs"/>
              </a:endParaRPr>
            </a:p>
          </p:txBody>
        </p:sp>
      </p:grpSp>
      <p:pic>
        <p:nvPicPr>
          <p:cNvPr id="38" name="Marcador de contenido 3"/>
          <p:cNvPicPr>
            <a:picLocks noChangeAspect="1"/>
          </p:cNvPicPr>
          <p:nvPr/>
        </p:nvPicPr>
        <p:blipFill>
          <a:blip r:embed="rId2">
            <a:alphaModFix amt="25000"/>
          </a:blip>
          <a:srcRect t="12331" b="12331"/>
          <a:stretch>
            <a:fillRect/>
          </a:stretch>
        </p:blipFill>
        <p:spPr>
          <a:xfrm>
            <a:off x="1524000" y="10523"/>
            <a:ext cx="9144000" cy="6858000"/>
          </a:xfrm>
          <a:prstGeom prst="rect">
            <a:avLst/>
          </a:prstGeom>
        </p:spPr>
      </p:pic>
      <p:sp>
        <p:nvSpPr>
          <p:cNvPr id="84" name="83 CuadroTexto"/>
          <p:cNvSpPr txBox="1"/>
          <p:nvPr/>
        </p:nvSpPr>
        <p:spPr>
          <a:xfrm>
            <a:off x="1666844" y="285731"/>
            <a:ext cx="7286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b="1" dirty="0">
                <a:solidFill>
                  <a:prstClr val="black"/>
                </a:solidFill>
                <a:latin typeface="Calibri"/>
                <a:cs typeface="+mn-cs"/>
              </a:rPr>
              <a:t>Metodología para la elaboración del Proyecto Final</a:t>
            </a:r>
          </a:p>
        </p:txBody>
      </p:sp>
      <p:grpSp>
        <p:nvGrpSpPr>
          <p:cNvPr id="85" name="84 Grupo"/>
          <p:cNvGrpSpPr/>
          <p:nvPr/>
        </p:nvGrpSpPr>
        <p:grpSpPr>
          <a:xfrm>
            <a:off x="2309786" y="1712096"/>
            <a:ext cx="7573648" cy="923716"/>
            <a:chOff x="785786" y="1712096"/>
            <a:chExt cx="7573648" cy="923716"/>
          </a:xfrm>
        </p:grpSpPr>
        <p:cxnSp>
          <p:nvCxnSpPr>
            <p:cNvPr id="1068" name="AutoShape 44"/>
            <p:cNvCxnSpPr>
              <a:cxnSpLocks noChangeShapeType="1"/>
            </p:cNvCxnSpPr>
            <p:nvPr/>
          </p:nvCxnSpPr>
          <p:spPr bwMode="auto">
            <a:xfrm flipV="1">
              <a:off x="785786" y="1968316"/>
              <a:ext cx="0" cy="28458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 type="triangle" w="med" len="sm"/>
              <a:tailEnd type="triangle" w="med" len="sm"/>
            </a:ln>
          </p:spPr>
        </p:cxnSp>
        <p:cxnSp>
          <p:nvCxnSpPr>
            <p:cNvPr id="1069" name="AutoShape 45"/>
            <p:cNvCxnSpPr>
              <a:cxnSpLocks noChangeShapeType="1"/>
            </p:cNvCxnSpPr>
            <p:nvPr/>
          </p:nvCxnSpPr>
          <p:spPr bwMode="auto">
            <a:xfrm flipV="1">
              <a:off x="1928794" y="1968316"/>
              <a:ext cx="0" cy="28458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 type="triangle" w="med" len="sm"/>
              <a:tailEnd type="triangle" w="med" len="sm"/>
            </a:ln>
          </p:spPr>
        </p:cxnSp>
        <p:cxnSp>
          <p:nvCxnSpPr>
            <p:cNvPr id="1070" name="AutoShape 46"/>
            <p:cNvCxnSpPr>
              <a:cxnSpLocks noChangeShapeType="1"/>
            </p:cNvCxnSpPr>
            <p:nvPr/>
          </p:nvCxnSpPr>
          <p:spPr bwMode="auto">
            <a:xfrm flipV="1">
              <a:off x="8358214" y="1968316"/>
              <a:ext cx="0" cy="28458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 type="triangle" w="med" len="sm"/>
              <a:tailEnd type="triangle" w="med" len="sm"/>
            </a:ln>
          </p:spPr>
        </p:cxnSp>
        <p:cxnSp>
          <p:nvCxnSpPr>
            <p:cNvPr id="1071" name="AutoShape 47"/>
            <p:cNvCxnSpPr>
              <a:cxnSpLocks noChangeShapeType="1"/>
            </p:cNvCxnSpPr>
            <p:nvPr/>
          </p:nvCxnSpPr>
          <p:spPr bwMode="auto">
            <a:xfrm>
              <a:off x="799434" y="1968316"/>
              <a:ext cx="7560000" cy="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</p:spPr>
        </p:cxnSp>
        <p:sp>
          <p:nvSpPr>
            <p:cNvPr id="1076" name="AutoShape 52"/>
            <p:cNvSpPr>
              <a:spLocks noChangeArrowheads="1"/>
            </p:cNvSpPr>
            <p:nvPr/>
          </p:nvSpPr>
          <p:spPr bwMode="auto">
            <a:xfrm>
              <a:off x="3958014" y="1712096"/>
              <a:ext cx="1399804" cy="408439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>
                <a:spcAft>
                  <a:spcPts val="1000"/>
                </a:spcAft>
                <a:defRPr/>
              </a:pPr>
              <a:r>
                <a:rPr lang="es-AR" sz="1200" b="1" dirty="0">
                  <a:solidFill>
                    <a:prstClr val="black"/>
                  </a:solidFill>
                  <a:latin typeface="Calibri" pitchFamily="34" charset="0"/>
                  <a:cs typeface="+mn-cs"/>
                </a:rPr>
                <a:t>Ajuste y revisión</a:t>
              </a:r>
              <a:endParaRPr lang="es-AR" sz="3600" b="1" dirty="0">
                <a:solidFill>
                  <a:prstClr val="black"/>
                </a:solidFill>
                <a:cs typeface="+mn-cs"/>
              </a:endParaRPr>
            </a:p>
          </p:txBody>
        </p:sp>
        <p:cxnSp>
          <p:nvCxnSpPr>
            <p:cNvPr id="1072" name="AutoShape 48"/>
            <p:cNvCxnSpPr>
              <a:cxnSpLocks noChangeShapeType="1"/>
            </p:cNvCxnSpPr>
            <p:nvPr/>
          </p:nvCxnSpPr>
          <p:spPr bwMode="auto">
            <a:xfrm flipV="1">
              <a:off x="3214678" y="1968316"/>
              <a:ext cx="748" cy="66749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 type="triangle" w="med" len="sm"/>
              <a:tailEnd type="triangle" w="med" len="sm"/>
            </a:ln>
          </p:spPr>
        </p:cxnSp>
        <p:cxnSp>
          <p:nvCxnSpPr>
            <p:cNvPr id="1073" name="AutoShape 49"/>
            <p:cNvCxnSpPr>
              <a:cxnSpLocks noChangeShapeType="1"/>
            </p:cNvCxnSpPr>
            <p:nvPr/>
          </p:nvCxnSpPr>
          <p:spPr bwMode="auto">
            <a:xfrm flipV="1">
              <a:off x="4307115" y="2131881"/>
              <a:ext cx="748" cy="496367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 type="triangle" w="med" len="sm"/>
              <a:tailEnd type="triangle" w="med" len="sm"/>
            </a:ln>
          </p:spPr>
        </p:cxnSp>
        <p:cxnSp>
          <p:nvCxnSpPr>
            <p:cNvPr id="1074" name="AutoShape 50"/>
            <p:cNvCxnSpPr>
              <a:cxnSpLocks noChangeShapeType="1"/>
            </p:cNvCxnSpPr>
            <p:nvPr/>
          </p:nvCxnSpPr>
          <p:spPr bwMode="auto">
            <a:xfrm flipV="1">
              <a:off x="5714260" y="1968316"/>
              <a:ext cx="748" cy="66749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 type="triangle" w="med" len="sm"/>
              <a:tailEnd type="triangle" w="med" len="sm"/>
            </a:ln>
          </p:spPr>
        </p:cxnSp>
        <p:cxnSp>
          <p:nvCxnSpPr>
            <p:cNvPr id="1075" name="AutoShape 51"/>
            <p:cNvCxnSpPr>
              <a:cxnSpLocks noChangeShapeType="1"/>
            </p:cNvCxnSpPr>
            <p:nvPr/>
          </p:nvCxnSpPr>
          <p:spPr bwMode="auto">
            <a:xfrm flipV="1">
              <a:off x="7000144" y="1968316"/>
              <a:ext cx="748" cy="667496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 type="triangle" w="med" len="sm"/>
              <a:tailEnd type="triangle" w="med" len="sm"/>
            </a:ln>
          </p:spPr>
        </p:cxnSp>
      </p:grpSp>
      <p:sp>
        <p:nvSpPr>
          <p:cNvPr id="39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2895600" cy="365125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>
                <a:solidFill>
                  <a:prstClr val="black">
                    <a:tint val="75000"/>
                  </a:prstClr>
                </a:solidFill>
                <a:latin typeface="Calibri"/>
                <a:cs typeface="+mn-cs"/>
              </a:rPr>
              <a:t>UTN - FRBA - Proyecto Final</a:t>
            </a:r>
          </a:p>
        </p:txBody>
      </p:sp>
    </p:spTree>
    <p:extLst>
      <p:ext uri="{BB962C8B-B14F-4D97-AF65-F5344CB8AC3E}">
        <p14:creationId xmlns:p14="http://schemas.microsoft.com/office/powerpoint/2010/main" val="2119221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2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Marcador de contenido 3"/>
          <p:cNvPicPr>
            <a:picLocks noChangeAspect="1"/>
          </p:cNvPicPr>
          <p:nvPr/>
        </p:nvPicPr>
        <p:blipFill>
          <a:blip r:embed="rId2">
            <a:alphaModFix amt="25000"/>
          </a:blip>
          <a:srcRect t="12331" b="12331"/>
          <a:stretch>
            <a:fillRect/>
          </a:stretch>
        </p:blipFill>
        <p:spPr>
          <a:xfrm>
            <a:off x="1524000" y="10523"/>
            <a:ext cx="9144000" cy="6858000"/>
          </a:xfrm>
          <a:prstGeom prst="rect">
            <a:avLst/>
          </a:prstGeom>
        </p:spPr>
      </p:pic>
      <p:sp>
        <p:nvSpPr>
          <p:cNvPr id="84" name="83 CuadroTexto"/>
          <p:cNvSpPr txBox="1"/>
          <p:nvPr/>
        </p:nvSpPr>
        <p:spPr>
          <a:xfrm>
            <a:off x="1666844" y="285731"/>
            <a:ext cx="7286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b="1" dirty="0">
                <a:solidFill>
                  <a:prstClr val="black"/>
                </a:solidFill>
                <a:latin typeface="Calibri"/>
                <a:cs typeface="+mn-cs"/>
              </a:rPr>
              <a:t>Para tener en cuenta…</a:t>
            </a:r>
          </a:p>
        </p:txBody>
      </p:sp>
      <p:sp>
        <p:nvSpPr>
          <p:cNvPr id="39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2895600" cy="365125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>
                <a:solidFill>
                  <a:prstClr val="black">
                    <a:tint val="75000"/>
                  </a:prstClr>
                </a:solidFill>
                <a:latin typeface="Calibri"/>
                <a:cs typeface="+mn-cs"/>
              </a:rPr>
              <a:t>UTN - FRBA - Proyecto Final</a:t>
            </a:r>
          </a:p>
        </p:txBody>
      </p:sp>
      <p:sp>
        <p:nvSpPr>
          <p:cNvPr id="40" name="Rectangle 1"/>
          <p:cNvSpPr>
            <a:spLocks noChangeArrowheads="1"/>
          </p:cNvSpPr>
          <p:nvPr/>
        </p:nvSpPr>
        <p:spPr bwMode="auto">
          <a:xfrm>
            <a:off x="2667008" y="1216960"/>
            <a:ext cx="6715140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hangingPunct="0">
              <a:buFontTx/>
              <a:buChar char="•"/>
              <a:defRPr/>
            </a:pPr>
            <a:r>
              <a:rPr lang="es-AR" dirty="0">
                <a:solidFill>
                  <a:srgbClr val="1F497D"/>
                </a:solidFill>
                <a:cs typeface="+mn-cs"/>
              </a:rPr>
              <a:t>Armado de los grupos</a:t>
            </a:r>
          </a:p>
          <a:p>
            <a:pPr algn="just" eaLnBrk="0" hangingPunct="0">
              <a:buFontTx/>
              <a:buChar char="•"/>
              <a:defRPr/>
            </a:pPr>
            <a:endParaRPr lang="es-AR" dirty="0">
              <a:solidFill>
                <a:srgbClr val="1F497D"/>
              </a:solidFill>
              <a:cs typeface="+mn-cs"/>
            </a:endParaRPr>
          </a:p>
          <a:p>
            <a:pPr algn="just" eaLnBrk="0" hangingPunct="0">
              <a:buFontTx/>
              <a:buChar char="•"/>
              <a:defRPr/>
            </a:pPr>
            <a:r>
              <a:rPr lang="es-AR" dirty="0">
                <a:solidFill>
                  <a:srgbClr val="1F497D"/>
                </a:solidFill>
                <a:cs typeface="+mn-cs"/>
              </a:rPr>
              <a:t>Esquema de tutorías</a:t>
            </a:r>
          </a:p>
          <a:p>
            <a:pPr algn="just" eaLnBrk="0" hangingPunct="0">
              <a:defRPr/>
            </a:pPr>
            <a:endParaRPr lang="es-AR" dirty="0">
              <a:solidFill>
                <a:srgbClr val="1F497D"/>
              </a:solidFill>
              <a:cs typeface="+mn-cs"/>
            </a:endParaRPr>
          </a:p>
          <a:p>
            <a:pPr algn="just" eaLnBrk="0" hangingPunct="0">
              <a:buFontTx/>
              <a:buChar char="•"/>
              <a:defRPr/>
            </a:pPr>
            <a:r>
              <a:rPr lang="es-AR" dirty="0">
                <a:solidFill>
                  <a:srgbClr val="1F497D"/>
                </a:solidFill>
                <a:cs typeface="+mn-cs"/>
              </a:rPr>
              <a:t>Acompañamiento del cronograma</a:t>
            </a:r>
          </a:p>
          <a:p>
            <a:pPr algn="just" eaLnBrk="0" hangingPunct="0">
              <a:buFontTx/>
              <a:buChar char="•"/>
              <a:defRPr/>
            </a:pPr>
            <a:endParaRPr lang="es-AR" dirty="0">
              <a:solidFill>
                <a:srgbClr val="1F497D"/>
              </a:solidFill>
              <a:cs typeface="+mn-cs"/>
            </a:endParaRPr>
          </a:p>
          <a:p>
            <a:pPr algn="just" eaLnBrk="0" hangingPunct="0">
              <a:buFontTx/>
              <a:buChar char="•"/>
              <a:defRPr/>
            </a:pPr>
            <a:r>
              <a:rPr lang="es-AR" dirty="0">
                <a:solidFill>
                  <a:srgbClr val="1F497D"/>
                </a:solidFill>
                <a:cs typeface="+mn-cs"/>
              </a:rPr>
              <a:t>Utilización de la guía para la elaboración del Proyecto Final</a:t>
            </a:r>
          </a:p>
          <a:p>
            <a:pPr algn="just" eaLnBrk="0" hangingPunct="0">
              <a:defRPr/>
            </a:pPr>
            <a:endParaRPr lang="es-AR" dirty="0">
              <a:solidFill>
                <a:srgbClr val="1F497D"/>
              </a:solidFill>
              <a:cs typeface="+mn-cs"/>
            </a:endParaRPr>
          </a:p>
          <a:p>
            <a:pPr algn="just" eaLnBrk="0" hangingPunct="0">
              <a:buFontTx/>
              <a:buChar char="•"/>
              <a:defRPr/>
            </a:pPr>
            <a:r>
              <a:rPr lang="es-AR" dirty="0">
                <a:solidFill>
                  <a:srgbClr val="1F497D"/>
                </a:solidFill>
                <a:cs typeface="+mn-cs"/>
              </a:rPr>
              <a:t>Evaluación continua a lo largo del año</a:t>
            </a:r>
          </a:p>
          <a:p>
            <a:pPr algn="just" eaLnBrk="0" hangingPunct="0">
              <a:buFontTx/>
              <a:buChar char="•"/>
              <a:defRPr/>
            </a:pPr>
            <a:endParaRPr lang="es-AR" dirty="0">
              <a:solidFill>
                <a:srgbClr val="1F497D"/>
              </a:solidFill>
              <a:cs typeface="+mn-cs"/>
            </a:endParaRPr>
          </a:p>
          <a:p>
            <a:pPr algn="just" eaLnBrk="0" hangingPunct="0">
              <a:buFontTx/>
              <a:buChar char="•"/>
              <a:defRPr/>
            </a:pPr>
            <a:r>
              <a:rPr lang="es-AR" dirty="0">
                <a:solidFill>
                  <a:srgbClr val="1F497D"/>
                </a:solidFill>
                <a:cs typeface="+mn-cs"/>
              </a:rPr>
              <a:t>Simulación de un proyecto real (No es un trabajo práctico)</a:t>
            </a:r>
          </a:p>
          <a:p>
            <a:pPr algn="just" eaLnBrk="0" hangingPunct="0">
              <a:buFontTx/>
              <a:buChar char="•"/>
              <a:defRPr/>
            </a:pPr>
            <a:endParaRPr lang="es-AR" dirty="0">
              <a:solidFill>
                <a:srgbClr val="1F497D"/>
              </a:solidFill>
              <a:cs typeface="+mn-cs"/>
            </a:endParaRPr>
          </a:p>
          <a:p>
            <a:pPr algn="just" eaLnBrk="0" hangingPunct="0">
              <a:buFontTx/>
              <a:buChar char="•"/>
              <a:defRPr/>
            </a:pPr>
            <a:r>
              <a:rPr lang="es-AR" dirty="0">
                <a:solidFill>
                  <a:srgbClr val="1F497D"/>
                </a:solidFill>
                <a:cs typeface="+mn-cs"/>
              </a:rPr>
              <a:t>Integración con todas las materias de la carrera</a:t>
            </a:r>
          </a:p>
          <a:p>
            <a:pPr algn="just" eaLnBrk="0" hangingPunct="0">
              <a:buFontTx/>
              <a:buChar char="•"/>
              <a:defRPr/>
            </a:pPr>
            <a:endParaRPr lang="es-AR" dirty="0">
              <a:solidFill>
                <a:srgbClr val="1F497D"/>
              </a:solidFill>
              <a:cs typeface="+mn-cs"/>
            </a:endParaRPr>
          </a:p>
          <a:p>
            <a:pPr algn="just" eaLnBrk="0" hangingPunct="0">
              <a:buFontTx/>
              <a:buChar char="•"/>
              <a:defRPr/>
            </a:pPr>
            <a:r>
              <a:rPr lang="es-AR" dirty="0">
                <a:solidFill>
                  <a:srgbClr val="1F497D"/>
                </a:solidFill>
                <a:cs typeface="+mn-cs"/>
              </a:rPr>
              <a:t>Investigación y contacto con empresas reales</a:t>
            </a:r>
          </a:p>
          <a:p>
            <a:pPr algn="just" eaLnBrk="0" hangingPunct="0">
              <a:buFontTx/>
              <a:buChar char="•"/>
              <a:defRPr/>
            </a:pPr>
            <a:endParaRPr lang="es-AR" dirty="0">
              <a:solidFill>
                <a:srgbClr val="1F497D"/>
              </a:solidFill>
              <a:cs typeface="+mn-cs"/>
            </a:endParaRPr>
          </a:p>
          <a:p>
            <a:pPr algn="just" eaLnBrk="0" hangingPunct="0">
              <a:buFontTx/>
              <a:buChar char="•"/>
              <a:defRPr/>
            </a:pPr>
            <a:r>
              <a:rPr lang="es-AR" dirty="0">
                <a:solidFill>
                  <a:srgbClr val="1F497D"/>
                </a:solidFill>
                <a:cs typeface="+mn-cs"/>
              </a:rPr>
              <a:t>Selección del proyecto</a:t>
            </a:r>
          </a:p>
          <a:p>
            <a:pPr algn="just" eaLnBrk="0" hangingPunct="0">
              <a:buFontTx/>
              <a:buChar char="•"/>
              <a:defRPr/>
            </a:pPr>
            <a:endParaRPr lang="es-AR" dirty="0">
              <a:solidFill>
                <a:srgbClr val="1F497D"/>
              </a:solidFill>
              <a:cs typeface="+mn-cs"/>
            </a:endParaRPr>
          </a:p>
          <a:p>
            <a:pPr algn="just" eaLnBrk="0" hangingPunct="0">
              <a:buFontTx/>
              <a:buChar char="•"/>
              <a:defRPr/>
            </a:pPr>
            <a:endParaRPr lang="es-AR" dirty="0">
              <a:solidFill>
                <a:srgbClr val="1F497D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78123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83 CuadroTexto"/>
          <p:cNvSpPr txBox="1"/>
          <p:nvPr/>
        </p:nvSpPr>
        <p:spPr>
          <a:xfrm>
            <a:off x="1666844" y="71417"/>
            <a:ext cx="7286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b="1" dirty="0">
                <a:solidFill>
                  <a:prstClr val="black"/>
                </a:solidFill>
                <a:latin typeface="Calibri"/>
                <a:cs typeface="+mn-cs"/>
              </a:rPr>
              <a:t>Selección del Proyecto</a:t>
            </a:r>
          </a:p>
        </p:txBody>
      </p:sp>
      <p:pic>
        <p:nvPicPr>
          <p:cNvPr id="4" name="Marcador de contenido 3"/>
          <p:cNvPicPr>
            <a:picLocks noChangeAspect="1"/>
          </p:cNvPicPr>
          <p:nvPr/>
        </p:nvPicPr>
        <p:blipFill>
          <a:blip r:embed="rId2">
            <a:alphaModFix amt="25000"/>
          </a:blip>
          <a:srcRect t="12331" b="12331"/>
          <a:stretch>
            <a:fillRect/>
          </a:stretch>
        </p:blipFill>
        <p:spPr>
          <a:xfrm>
            <a:off x="1524000" y="10523"/>
            <a:ext cx="9144000" cy="6858000"/>
          </a:xfrm>
          <a:prstGeom prst="rect">
            <a:avLst/>
          </a:prstGeom>
        </p:spPr>
      </p:pic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1524000" y="423098"/>
            <a:ext cx="9001156" cy="594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hangingPunct="0">
              <a:buFontTx/>
              <a:buChar char="•"/>
              <a:defRPr/>
            </a:pPr>
            <a:r>
              <a:rPr lang="es-AR" b="1" u="sng" dirty="0">
                <a:solidFill>
                  <a:srgbClr val="C00000"/>
                </a:solidFill>
                <a:latin typeface="Calibri" pitchFamily="34" charset="0"/>
                <a:ea typeface="Calibri" pitchFamily="34" charset="0"/>
                <a:cs typeface="Times New Roman" pitchFamily="18" charset="0"/>
              </a:rPr>
              <a:t>Objetivo:</a:t>
            </a:r>
            <a:r>
              <a:rPr lang="es-AR" b="1" dirty="0">
                <a:solidFill>
                  <a:srgbClr val="C00000"/>
                </a:solidFill>
                <a:latin typeface="Calibri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es-AR" dirty="0">
                <a:solidFill>
                  <a:prstClr val="black"/>
                </a:solidFill>
                <a:latin typeface="Calibri" pitchFamily="34" charset="0"/>
                <a:ea typeface="Calibri" pitchFamily="34" charset="0"/>
                <a:cs typeface="Times New Roman" pitchFamily="18" charset="0"/>
              </a:rPr>
              <a:t>Seleccionar un proyecto para satisfacer una necesidad definida.</a:t>
            </a:r>
          </a:p>
          <a:p>
            <a:pPr algn="just" eaLnBrk="0" hangingPunct="0">
              <a:buFontTx/>
              <a:buChar char="•"/>
              <a:defRPr/>
            </a:pPr>
            <a:endParaRPr lang="es-AR" sz="1600" dirty="0">
              <a:solidFill>
                <a:prstClr val="black"/>
              </a:solidFill>
              <a:cs typeface="+mn-cs"/>
            </a:endParaRPr>
          </a:p>
          <a:p>
            <a:pPr lvl="1" algn="just" eaLnBrk="0" hangingPunct="0">
              <a:buFontTx/>
              <a:buAutoNum type="arabicPeriod"/>
              <a:defRPr/>
            </a:pPr>
            <a:r>
              <a:rPr lang="es-AR" b="1" u="sng" dirty="0">
                <a:solidFill>
                  <a:srgbClr val="1F497D"/>
                </a:solidFill>
                <a:latin typeface="Calibri" pitchFamily="34" charset="0"/>
                <a:ea typeface="Calibri" pitchFamily="34" charset="0"/>
                <a:cs typeface="Times New Roman" pitchFamily="18" charset="0"/>
              </a:rPr>
              <a:t>Necesidad:</a:t>
            </a:r>
            <a:endParaRPr lang="es-AR" sz="1600" b="1" i="1" u="sng" dirty="0">
              <a:solidFill>
                <a:srgbClr val="1F497D"/>
              </a:solidFill>
              <a:cs typeface="+mn-cs"/>
            </a:endParaRPr>
          </a:p>
          <a:p>
            <a:pPr lvl="2" algn="just" eaLnBrk="0" hangingPunct="0">
              <a:buFontTx/>
              <a:buAutoNum type="arabicPeriod"/>
              <a:defRPr/>
            </a:pPr>
            <a:r>
              <a:rPr lang="es-AR" sz="1600" dirty="0">
                <a:solidFill>
                  <a:prstClr val="black"/>
                </a:solidFill>
                <a:latin typeface="Calibri" pitchFamily="34" charset="0"/>
                <a:ea typeface="Calibri" pitchFamily="34" charset="0"/>
                <a:cs typeface="Times New Roman" pitchFamily="18" charset="0"/>
              </a:rPr>
              <a:t>Demanda insatisfecha</a:t>
            </a:r>
            <a:endParaRPr lang="es-AR" sz="1400" dirty="0">
              <a:solidFill>
                <a:prstClr val="black"/>
              </a:solidFill>
              <a:cs typeface="+mn-cs"/>
            </a:endParaRPr>
          </a:p>
          <a:p>
            <a:pPr lvl="2" algn="just" eaLnBrk="0" hangingPunct="0">
              <a:buFontTx/>
              <a:buAutoNum type="arabicPeriod"/>
              <a:defRPr/>
            </a:pPr>
            <a:r>
              <a:rPr lang="es-AR" sz="1600" dirty="0">
                <a:solidFill>
                  <a:prstClr val="black"/>
                </a:solidFill>
                <a:latin typeface="Calibri" pitchFamily="34" charset="0"/>
                <a:ea typeface="Calibri" pitchFamily="34" charset="0"/>
                <a:cs typeface="Times New Roman" pitchFamily="18" charset="0"/>
              </a:rPr>
              <a:t>Requerimiento técnico</a:t>
            </a:r>
            <a:endParaRPr lang="es-AR" sz="1400" dirty="0">
              <a:solidFill>
                <a:prstClr val="black"/>
              </a:solidFill>
              <a:cs typeface="+mn-cs"/>
            </a:endParaRPr>
          </a:p>
          <a:p>
            <a:pPr lvl="2" algn="just" eaLnBrk="0" hangingPunct="0">
              <a:buFontTx/>
              <a:buAutoNum type="arabicPeriod"/>
              <a:defRPr/>
            </a:pPr>
            <a:r>
              <a:rPr lang="es-AR" sz="1600" dirty="0">
                <a:solidFill>
                  <a:prstClr val="black"/>
                </a:solidFill>
                <a:latin typeface="Calibri" pitchFamily="34" charset="0"/>
                <a:ea typeface="Calibri" pitchFamily="34" charset="0"/>
                <a:cs typeface="Times New Roman" pitchFamily="18" charset="0"/>
              </a:rPr>
              <a:t>Resolución de un problema</a:t>
            </a:r>
            <a:endParaRPr lang="es-AR" sz="1400" dirty="0">
              <a:solidFill>
                <a:prstClr val="black"/>
              </a:solidFill>
              <a:cs typeface="+mn-cs"/>
            </a:endParaRPr>
          </a:p>
          <a:p>
            <a:pPr lvl="2" algn="just" eaLnBrk="0" hangingPunct="0">
              <a:buFontTx/>
              <a:buAutoNum type="arabicPeriod"/>
              <a:defRPr/>
            </a:pPr>
            <a:r>
              <a:rPr lang="es-AR" sz="1600" dirty="0">
                <a:solidFill>
                  <a:prstClr val="black"/>
                </a:solidFill>
                <a:latin typeface="Calibri" pitchFamily="34" charset="0"/>
                <a:ea typeface="Calibri" pitchFamily="34" charset="0"/>
                <a:cs typeface="Times New Roman" pitchFamily="18" charset="0"/>
              </a:rPr>
              <a:t>Mejora de un proceso </a:t>
            </a:r>
            <a:endParaRPr lang="es-AR" sz="1400" dirty="0">
              <a:solidFill>
                <a:prstClr val="black"/>
              </a:solidFill>
              <a:cs typeface="+mn-cs"/>
            </a:endParaRPr>
          </a:p>
          <a:p>
            <a:pPr lvl="2" algn="just" eaLnBrk="0" hangingPunct="0">
              <a:buFontTx/>
              <a:buAutoNum type="arabicPeriod"/>
              <a:defRPr/>
            </a:pPr>
            <a:r>
              <a:rPr lang="es-AR" sz="1600" dirty="0">
                <a:solidFill>
                  <a:prstClr val="black"/>
                </a:solidFill>
                <a:latin typeface="Calibri" pitchFamily="34" charset="0"/>
                <a:ea typeface="Calibri" pitchFamily="34" charset="0"/>
                <a:cs typeface="Times New Roman" pitchFamily="18" charset="0"/>
              </a:rPr>
              <a:t>Otros</a:t>
            </a:r>
          </a:p>
          <a:p>
            <a:pPr lvl="2" algn="just" eaLnBrk="0" hangingPunct="0">
              <a:buFontTx/>
              <a:buAutoNum type="arabicPeriod"/>
              <a:defRPr/>
            </a:pPr>
            <a:endParaRPr lang="es-AR" sz="1600" dirty="0">
              <a:solidFill>
                <a:prstClr val="black"/>
              </a:solidFill>
              <a:cs typeface="+mn-cs"/>
            </a:endParaRPr>
          </a:p>
          <a:p>
            <a:pPr lvl="1" algn="just" eaLnBrk="0" hangingPunct="0">
              <a:buFontTx/>
              <a:buAutoNum type="arabicPeriod"/>
              <a:defRPr/>
            </a:pPr>
            <a:r>
              <a:rPr lang="es-AR" b="1" u="sng" dirty="0">
                <a:solidFill>
                  <a:srgbClr val="1F497D"/>
                </a:solidFill>
                <a:latin typeface="Calibri" pitchFamily="34" charset="0"/>
                <a:ea typeface="Calibri" pitchFamily="34" charset="0"/>
                <a:cs typeface="Times New Roman" pitchFamily="18" charset="0"/>
              </a:rPr>
              <a:t>Idea:</a:t>
            </a:r>
            <a:r>
              <a:rPr lang="es-AR" u="sng" dirty="0">
                <a:solidFill>
                  <a:srgbClr val="1F497D"/>
                </a:solidFill>
                <a:latin typeface="Calibri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es-AR" dirty="0">
                <a:solidFill>
                  <a:srgbClr val="1F497D"/>
                </a:solidFill>
                <a:latin typeface="Calibri" pitchFamily="34" charset="0"/>
                <a:ea typeface="Calibri" pitchFamily="34" charset="0"/>
                <a:cs typeface="Times New Roman" pitchFamily="18" charset="0"/>
              </a:rPr>
              <a:t>Indicar su Alcance preliminar, considerando:</a:t>
            </a:r>
            <a:endParaRPr lang="es-AR" sz="1600" dirty="0">
              <a:solidFill>
                <a:srgbClr val="1F497D"/>
              </a:solidFill>
              <a:cs typeface="+mn-cs"/>
            </a:endParaRPr>
          </a:p>
          <a:p>
            <a:pPr lvl="2" algn="just" eaLnBrk="0" hangingPunct="0">
              <a:buFontTx/>
              <a:buAutoNum type="arabicPeriod"/>
              <a:defRPr/>
            </a:pPr>
            <a:r>
              <a:rPr lang="es-AR" sz="1600" dirty="0">
                <a:solidFill>
                  <a:prstClr val="black"/>
                </a:solidFill>
                <a:latin typeface="Calibri" pitchFamily="34" charset="0"/>
                <a:ea typeface="Calibri" pitchFamily="34" charset="0"/>
                <a:cs typeface="Times New Roman" pitchFamily="18" charset="0"/>
              </a:rPr>
              <a:t>Ventajas / Desventajas</a:t>
            </a:r>
            <a:endParaRPr lang="es-AR" sz="1400" dirty="0">
              <a:solidFill>
                <a:prstClr val="black"/>
              </a:solidFill>
              <a:cs typeface="+mn-cs"/>
            </a:endParaRPr>
          </a:p>
          <a:p>
            <a:pPr lvl="2" algn="just" eaLnBrk="0" hangingPunct="0">
              <a:buFontTx/>
              <a:buAutoNum type="arabicPeriod"/>
              <a:defRPr/>
            </a:pPr>
            <a:r>
              <a:rPr lang="es-AR" sz="1600" dirty="0">
                <a:solidFill>
                  <a:prstClr val="black"/>
                </a:solidFill>
                <a:latin typeface="Calibri" pitchFamily="34" charset="0"/>
                <a:ea typeface="Calibri" pitchFamily="34" charset="0"/>
                <a:cs typeface="Times New Roman" pitchFamily="18" charset="0"/>
              </a:rPr>
              <a:t>Noción preliminar de recursos involucrados: Materiales/Tecnológicos/Humanos/Económicos</a:t>
            </a:r>
            <a:endParaRPr lang="es-AR" sz="1400" dirty="0">
              <a:solidFill>
                <a:prstClr val="black"/>
              </a:solidFill>
              <a:cs typeface="+mn-cs"/>
            </a:endParaRPr>
          </a:p>
          <a:p>
            <a:pPr lvl="2" algn="just" eaLnBrk="0" hangingPunct="0">
              <a:buFontTx/>
              <a:buAutoNum type="arabicPeriod"/>
              <a:defRPr/>
            </a:pPr>
            <a:r>
              <a:rPr lang="es-AR" sz="1600" dirty="0">
                <a:solidFill>
                  <a:prstClr val="black"/>
                </a:solidFill>
                <a:latin typeface="Calibri" pitchFamily="34" charset="0"/>
                <a:ea typeface="Calibri" pitchFamily="34" charset="0"/>
                <a:cs typeface="Times New Roman" pitchFamily="18" charset="0"/>
              </a:rPr>
              <a:t>Complejidad</a:t>
            </a:r>
            <a:endParaRPr lang="es-AR" sz="1400" dirty="0">
              <a:solidFill>
                <a:prstClr val="black"/>
              </a:solidFill>
              <a:cs typeface="+mn-cs"/>
            </a:endParaRPr>
          </a:p>
          <a:p>
            <a:pPr lvl="2" algn="just" eaLnBrk="0" hangingPunct="0">
              <a:buFontTx/>
              <a:buAutoNum type="arabicPeriod"/>
              <a:defRPr/>
            </a:pPr>
            <a:r>
              <a:rPr lang="es-AR" sz="1600" dirty="0">
                <a:solidFill>
                  <a:prstClr val="black"/>
                </a:solidFill>
                <a:latin typeface="Calibri" pitchFamily="34" charset="0"/>
                <a:ea typeface="Calibri" pitchFamily="34" charset="0"/>
                <a:cs typeface="Times New Roman" pitchFamily="18" charset="0"/>
              </a:rPr>
              <a:t>Impacto</a:t>
            </a:r>
            <a:endParaRPr lang="es-AR" sz="1400" dirty="0">
              <a:solidFill>
                <a:prstClr val="black"/>
              </a:solidFill>
              <a:cs typeface="+mn-cs"/>
            </a:endParaRPr>
          </a:p>
          <a:p>
            <a:pPr lvl="2" algn="just" eaLnBrk="0" hangingPunct="0">
              <a:buFontTx/>
              <a:buAutoNum type="arabicPeriod"/>
              <a:defRPr/>
            </a:pPr>
            <a:r>
              <a:rPr lang="es-AR" sz="1600" dirty="0">
                <a:solidFill>
                  <a:prstClr val="black"/>
                </a:solidFill>
                <a:latin typeface="Calibri" pitchFamily="34" charset="0"/>
                <a:ea typeface="Calibri" pitchFamily="34" charset="0"/>
                <a:cs typeface="Times New Roman" pitchFamily="18" charset="0"/>
              </a:rPr>
              <a:t>Beneficio</a:t>
            </a:r>
          </a:p>
          <a:p>
            <a:pPr lvl="2" algn="just" eaLnBrk="0" hangingPunct="0">
              <a:buFontTx/>
              <a:buAutoNum type="arabicPeriod"/>
              <a:defRPr/>
            </a:pPr>
            <a:endParaRPr lang="es-AR" sz="1600" dirty="0">
              <a:solidFill>
                <a:prstClr val="black"/>
              </a:solidFill>
              <a:cs typeface="+mn-cs"/>
            </a:endParaRPr>
          </a:p>
          <a:p>
            <a:pPr lvl="1" algn="just" eaLnBrk="0" hangingPunct="0">
              <a:buFontTx/>
              <a:buAutoNum type="arabicPeriod"/>
              <a:defRPr/>
            </a:pPr>
            <a:r>
              <a:rPr lang="es-AR" b="1" u="sng" dirty="0">
                <a:solidFill>
                  <a:srgbClr val="1F497D"/>
                </a:solidFill>
                <a:latin typeface="Calibri" pitchFamily="34" charset="0"/>
                <a:ea typeface="Calibri" pitchFamily="34" charset="0"/>
                <a:cs typeface="Times New Roman" pitchFamily="18" charset="0"/>
              </a:rPr>
              <a:t>Validación:</a:t>
            </a:r>
            <a:r>
              <a:rPr lang="es-AR" dirty="0">
                <a:solidFill>
                  <a:srgbClr val="1F497D"/>
                </a:solidFill>
                <a:latin typeface="Calibri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es-AR" dirty="0">
                <a:solidFill>
                  <a:prstClr val="black"/>
                </a:solidFill>
                <a:latin typeface="Calibri" pitchFamily="34" charset="0"/>
                <a:ea typeface="Calibri" pitchFamily="34" charset="0"/>
                <a:cs typeface="Times New Roman" pitchFamily="18" charset="0"/>
              </a:rPr>
              <a:t>Verificar con los interesados (profesores) la aprobación y selección del proyecto</a:t>
            </a:r>
            <a:endParaRPr lang="es-AR" sz="1600" dirty="0">
              <a:solidFill>
                <a:prstClr val="black"/>
              </a:solidFill>
              <a:cs typeface="+mn-cs"/>
            </a:endParaRPr>
          </a:p>
          <a:p>
            <a:pPr algn="just" eaLnBrk="0" hangingPunct="0">
              <a:buFontTx/>
              <a:buChar char="•"/>
              <a:defRPr/>
            </a:pPr>
            <a:endParaRPr lang="es-AR" b="1" u="sng" dirty="0">
              <a:solidFill>
                <a:prstClr val="black"/>
              </a:solidFill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algn="just" eaLnBrk="0" hangingPunct="0">
              <a:buFontTx/>
              <a:buChar char="•"/>
              <a:defRPr/>
            </a:pPr>
            <a:r>
              <a:rPr lang="es-AR" b="1" u="sng" dirty="0">
                <a:solidFill>
                  <a:srgbClr val="C00000"/>
                </a:solidFill>
                <a:latin typeface="Calibri" pitchFamily="34" charset="0"/>
                <a:ea typeface="Calibri" pitchFamily="34" charset="0"/>
                <a:cs typeface="Times New Roman" pitchFamily="18" charset="0"/>
              </a:rPr>
              <a:t>Entregables: </a:t>
            </a:r>
            <a:endParaRPr lang="es-AR" sz="1600" dirty="0">
              <a:solidFill>
                <a:srgbClr val="C00000"/>
              </a:solidFill>
              <a:cs typeface="+mn-cs"/>
            </a:endParaRPr>
          </a:p>
          <a:p>
            <a:pPr lvl="1" algn="just" eaLnBrk="0" hangingPunct="0">
              <a:buFont typeface="Wingdings" pitchFamily="2" charset="2"/>
              <a:buChar char=""/>
              <a:defRPr/>
            </a:pPr>
            <a:r>
              <a:rPr lang="es-AR" dirty="0">
                <a:solidFill>
                  <a:prstClr val="black"/>
                </a:solidFill>
                <a:latin typeface="Calibri" pitchFamily="34" charset="0"/>
                <a:ea typeface="Calibri" pitchFamily="34" charset="0"/>
                <a:cs typeface="Times New Roman" pitchFamily="18" charset="0"/>
              </a:rPr>
              <a:t>Descripción del Proyecto seleccionado</a:t>
            </a:r>
            <a:endParaRPr lang="es-AR" sz="1600" dirty="0">
              <a:solidFill>
                <a:prstClr val="black"/>
              </a:solidFill>
              <a:cs typeface="+mn-cs"/>
            </a:endParaRPr>
          </a:p>
          <a:p>
            <a:pPr lvl="1" algn="just" eaLnBrk="0" hangingPunct="0">
              <a:buFont typeface="Wingdings" pitchFamily="2" charset="2"/>
              <a:buChar char=""/>
              <a:defRPr/>
            </a:pPr>
            <a:r>
              <a:rPr lang="es-AR" dirty="0">
                <a:solidFill>
                  <a:prstClr val="black"/>
                </a:solidFill>
                <a:latin typeface="Calibri" pitchFamily="34" charset="0"/>
                <a:ea typeface="Calibri" pitchFamily="34" charset="0"/>
                <a:cs typeface="Times New Roman" pitchFamily="18" charset="0"/>
              </a:rPr>
              <a:t>Definición preliminar del Alcance del proyecto</a:t>
            </a:r>
            <a:endParaRPr lang="es-AR" sz="2800" dirty="0">
              <a:solidFill>
                <a:prstClr val="black"/>
              </a:solidFill>
              <a:cs typeface="+mn-cs"/>
            </a:endParaRPr>
          </a:p>
        </p:txBody>
      </p:sp>
      <p:sp>
        <p:nvSpPr>
          <p:cNvPr id="5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2895600" cy="365125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>
                <a:solidFill>
                  <a:prstClr val="black">
                    <a:tint val="75000"/>
                  </a:prstClr>
                </a:solidFill>
                <a:latin typeface="Calibri"/>
                <a:cs typeface="+mn-cs"/>
              </a:rPr>
              <a:t>UTN - FRBA - Proyecto Final</a:t>
            </a:r>
          </a:p>
        </p:txBody>
      </p:sp>
    </p:spTree>
    <p:extLst>
      <p:ext uri="{BB962C8B-B14F-4D97-AF65-F5344CB8AC3E}">
        <p14:creationId xmlns:p14="http://schemas.microsoft.com/office/powerpoint/2010/main" val="36787739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EdeP para PPT">
  <a:themeElements>
    <a:clrScheme name="Cápsulas 9">
      <a:dk1>
        <a:srgbClr val="000000"/>
      </a:dk1>
      <a:lt1>
        <a:srgbClr val="FFFFFF"/>
      </a:lt1>
      <a:dk2>
        <a:srgbClr val="000000"/>
      </a:dk2>
      <a:lt2>
        <a:srgbClr val="FFFFCC"/>
      </a:lt2>
      <a:accent1>
        <a:srgbClr val="FF9900"/>
      </a:accent1>
      <a:accent2>
        <a:srgbClr val="CC33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B92D00"/>
      </a:accent6>
      <a:hlink>
        <a:srgbClr val="FFCC00"/>
      </a:hlink>
      <a:folHlink>
        <a:srgbClr val="FFCC99"/>
      </a:folHlink>
    </a:clrScheme>
    <a:fontScheme name="Cápsulas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Cápsulas 1">
        <a:dk1>
          <a:srgbClr val="003366"/>
        </a:dk1>
        <a:lt1>
          <a:srgbClr val="FFFFFF"/>
        </a:lt1>
        <a:dk2>
          <a:srgbClr val="006666"/>
        </a:dk2>
        <a:lt2>
          <a:srgbClr val="666699"/>
        </a:lt2>
        <a:accent1>
          <a:srgbClr val="33CCCC"/>
        </a:accent1>
        <a:accent2>
          <a:srgbClr val="99CC99"/>
        </a:accent2>
        <a:accent3>
          <a:srgbClr val="FFFFFF"/>
        </a:accent3>
        <a:accent4>
          <a:srgbClr val="002A56"/>
        </a:accent4>
        <a:accent5>
          <a:srgbClr val="ADE2E2"/>
        </a:accent5>
        <a:accent6>
          <a:srgbClr val="8AB98A"/>
        </a:accent6>
        <a:hlink>
          <a:srgbClr val="003366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ápsulas 2">
        <a:dk1>
          <a:srgbClr val="000000"/>
        </a:dk1>
        <a:lt1>
          <a:srgbClr val="FFFFFF"/>
        </a:lt1>
        <a:dk2>
          <a:srgbClr val="000000"/>
        </a:dk2>
        <a:lt2>
          <a:srgbClr val="808000"/>
        </a:lt2>
        <a:accent1>
          <a:srgbClr val="FFCC99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8AB900"/>
        </a:accent6>
        <a:hlink>
          <a:srgbClr val="3366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ápsulas 3">
        <a:dk1>
          <a:srgbClr val="006699"/>
        </a:dk1>
        <a:lt1>
          <a:srgbClr val="FFFFFF"/>
        </a:lt1>
        <a:dk2>
          <a:srgbClr val="6699FF"/>
        </a:dk2>
        <a:lt2>
          <a:srgbClr val="FFFFFF"/>
        </a:lt2>
        <a:accent1>
          <a:srgbClr val="33CCCC"/>
        </a:accent1>
        <a:accent2>
          <a:srgbClr val="006699"/>
        </a:accent2>
        <a:accent3>
          <a:srgbClr val="B8CAFF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99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ápsulas 4">
        <a:dk1>
          <a:srgbClr val="000000"/>
        </a:dk1>
        <a:lt1>
          <a:srgbClr val="FFFFFF"/>
        </a:lt1>
        <a:dk2>
          <a:srgbClr val="9900CC"/>
        </a:dk2>
        <a:lt2>
          <a:srgbClr val="006600"/>
        </a:lt2>
        <a:accent1>
          <a:srgbClr val="33CC33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ADE2AD"/>
        </a:accent5>
        <a:accent6>
          <a:srgbClr val="E7B95C"/>
        </a:accent6>
        <a:hlink>
          <a:srgbClr val="0033CC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ápsulas 5">
        <a:dk1>
          <a:srgbClr val="000066"/>
        </a:dk1>
        <a:lt1>
          <a:srgbClr val="FFFFFF"/>
        </a:lt1>
        <a:dk2>
          <a:srgbClr val="336699"/>
        </a:dk2>
        <a:lt2>
          <a:srgbClr val="FFFFEB"/>
        </a:lt2>
        <a:accent1>
          <a:srgbClr val="99CCFF"/>
        </a:accent1>
        <a:accent2>
          <a:srgbClr val="9999FF"/>
        </a:accent2>
        <a:accent3>
          <a:srgbClr val="ADB8CA"/>
        </a:accent3>
        <a:accent4>
          <a:srgbClr val="DADADA"/>
        </a:accent4>
        <a:accent5>
          <a:srgbClr val="CAE2FF"/>
        </a:accent5>
        <a:accent6>
          <a:srgbClr val="8A8A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ápsulas 6">
        <a:dk1>
          <a:srgbClr val="808000"/>
        </a:dk1>
        <a:lt1>
          <a:srgbClr val="FFFFFF"/>
        </a:lt1>
        <a:dk2>
          <a:srgbClr val="006666"/>
        </a:dk2>
        <a:lt2>
          <a:srgbClr val="FFFFFF"/>
        </a:lt2>
        <a:accent1>
          <a:srgbClr val="FFCC66"/>
        </a:accent1>
        <a:accent2>
          <a:srgbClr val="00ACA8"/>
        </a:accent2>
        <a:accent3>
          <a:srgbClr val="AAB8B8"/>
        </a:accent3>
        <a:accent4>
          <a:srgbClr val="DADADA"/>
        </a:accent4>
        <a:accent5>
          <a:srgbClr val="FFE2B8"/>
        </a:accent5>
        <a:accent6>
          <a:srgbClr val="009B98"/>
        </a:accent6>
        <a:hlink>
          <a:srgbClr val="CCCC00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ápsulas 7">
        <a:dk1>
          <a:srgbClr val="FFFFCC"/>
        </a:dk1>
        <a:lt1>
          <a:srgbClr val="FFFFFF"/>
        </a:lt1>
        <a:dk2>
          <a:srgbClr val="660033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B8AAAD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FFCC00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ápsulas 8">
        <a:dk1>
          <a:srgbClr val="FF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CC00"/>
        </a:accent1>
        <a:accent2>
          <a:srgbClr val="CC3300"/>
        </a:accent2>
        <a:accent3>
          <a:srgbClr val="AA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FF66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ápsulas 9">
        <a:dk1>
          <a:srgbClr val="000000"/>
        </a:dk1>
        <a:lt1>
          <a:srgbClr val="FFFFFF"/>
        </a:lt1>
        <a:dk2>
          <a:srgbClr val="000000"/>
        </a:dk2>
        <a:lt2>
          <a:srgbClr val="FFFFCC"/>
        </a:lt2>
        <a:accent1>
          <a:srgbClr val="FF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B92D00"/>
        </a:accent6>
        <a:hlink>
          <a:srgbClr val="FFCC00"/>
        </a:hlink>
        <a:folHlink>
          <a:srgbClr val="FFCC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a EdeP para PPT" id="{8CB65064-39C3-4E7A-A5F6-5A04E508D5A8}" vid="{9D25DF3D-7D94-4C6E-86D0-D2A7EAF408C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Capsules</Template>
  <TotalTime>502</TotalTime>
  <Words>896</Words>
  <Application>Microsoft Office PowerPoint</Application>
  <PresentationFormat>Panorámica</PresentationFormat>
  <Paragraphs>144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14</vt:i4>
      </vt:variant>
    </vt:vector>
  </HeadingPairs>
  <TitlesOfParts>
    <vt:vector size="21" baseType="lpstr">
      <vt:lpstr>Arial</vt:lpstr>
      <vt:lpstr>Calibri</vt:lpstr>
      <vt:lpstr>Rockwell Condensed</vt:lpstr>
      <vt:lpstr>Times New Roman</vt:lpstr>
      <vt:lpstr>Wingdings</vt:lpstr>
      <vt:lpstr>Tema de Office</vt:lpstr>
      <vt:lpstr>Tema EdeP para PPT</vt:lpstr>
      <vt:lpstr>PRESENTACION de LA CATEDRA de PROYECTO FINAL</vt:lpstr>
      <vt:lpstr>DOCENTES</vt:lpstr>
      <vt:lpstr>EN QUE CONSISTE</vt:lpstr>
      <vt:lpstr>MARCO TEMPORAL</vt:lpstr>
      <vt:lpstr>MARCO TEMPORAL 2</vt:lpstr>
      <vt:lpstr>INSTRUMENTACION</vt:lpstr>
      <vt:lpstr>DIGITALIZACION</vt:lpstr>
      <vt:lpstr>TAREAS PARA ESTA  PRIMER CLASE</vt:lpstr>
      <vt:lpstr>METODOLOGIA EN CLASE</vt:lpstr>
      <vt:lpstr>CRITERIOS IMPORTANTES</vt:lpstr>
      <vt:lpstr>SELECCCION DE PROYECTOS</vt:lpstr>
      <vt:lpstr>Presentación de PowerPoint</vt:lpstr>
      <vt:lpstr>Presentación de PowerPoint</vt:lpstr>
      <vt:lpstr>Presentación de PowerPoint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PRESENTACION de LA CATEDRA de PROYECTO FINAL</dc:title>
  <dc:creator>drB</dc:creator>
  <cp:lastModifiedBy>Diego Roberto Berenguer</cp:lastModifiedBy>
  <cp:revision>38</cp:revision>
  <dcterms:created xsi:type="dcterms:W3CDTF">2014-03-25T01:44:20Z</dcterms:created>
  <dcterms:modified xsi:type="dcterms:W3CDTF">2026-03-31T21:11:03Z</dcterms:modified>
</cp:coreProperties>
</file>