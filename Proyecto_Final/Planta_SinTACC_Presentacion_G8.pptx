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4114800"/>
            <a:ext cx="12191695" cy="2743200"/>
          </a:xfrm>
          <a:prstGeom prst="roundRect">
            <a:avLst/>
          </a:prstGeom>
          <a:solidFill>
            <a:srgbClr val="1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A96E"/>
                </a:solidFill>
                <a:latin typeface="Consolas"/>
              </a:defRPr>
            </a:pPr>
            <a:r>
              <a:t>UTN FRBA — GRUPO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Planta Industrial de Alimentos</a:t>
            </a:r>
            <a:br/>
            <a:r>
              <a:t>Libres de Gluten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Estudio de prefactibilidad para la primera planta 100% aislada de Argentina</a:t>
            </a:r>
            <a:br/>
            <a:r>
              <a:t>dedicada a la produccion de alimentos sin TACC a escala industrial.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8A96E"/>
                </a:solidFill>
                <a:latin typeface="Consolas"/>
              </a:defRPr>
            </a:pPr>
            <a:r>
              <a:t>38,85%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847A"/>
                </a:solidFill>
                <a:latin typeface="Consolas"/>
              </a:defRPr>
            </a:pPr>
            <a:r>
              <a:t>TIR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4572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8A96E"/>
                </a:solidFill>
                <a:latin typeface="Consolas"/>
              </a:defRPr>
            </a:pPr>
            <a:r>
              <a:t>$1.964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847A"/>
                </a:solidFill>
                <a:latin typeface="Consolas"/>
              </a:defRPr>
            </a:pPr>
            <a:r>
              <a:t>INVERSION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9" y="4572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8A96E"/>
                </a:solidFill>
                <a:latin typeface="Consolas"/>
              </a:defRPr>
            </a:pPr>
            <a:r>
              <a:t>3,5 años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847A"/>
                </a:solidFill>
                <a:latin typeface="Consolas"/>
              </a:defRPr>
            </a:pPr>
            <a:r>
              <a:t>PAYBACK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572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8A96E"/>
                </a:solidFill>
                <a:latin typeface="Consolas"/>
              </a:defRPr>
            </a:pPr>
            <a:r>
              <a:t>7 SKUs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847A"/>
                </a:solidFill>
                <a:latin typeface="Consolas"/>
              </a:defRPr>
            </a:pPr>
            <a:r>
              <a:t>PRODUCTOS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26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47A"/>
                </a:solidFill>
                <a:latin typeface="Calibri"/>
              </a:defRPr>
            </a:pPr>
            <a:r>
              <a:t>Albarracin  ·  Carrizo  ·  Greco  ·  Rodriguez  ·  Schaltegger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Mercado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Un mercado de +1,3M de consumidores que paga hasta 3x mas por productos de baja calidad.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Poblacion 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C3E6B"/>
                </a:solidFill>
                <a:latin typeface="Consolas"/>
              </a:defRPr>
            </a:pPr>
            <a:r>
              <a:t>46M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Celiacos (1%)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85C3C"/>
                </a:solidFill>
                <a:latin typeface="Consolas"/>
              </a:defRPr>
            </a:pPr>
            <a:r>
              <a:t>460.000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39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Mercado ampliado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19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5A3D"/>
                </a:solidFill>
                <a:latin typeface="Consolas"/>
              </a:defRPr>
            </a:pPr>
            <a:r>
              <a:t>1,33M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399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Consumo per capita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8A96E"/>
                </a:solidFill>
                <a:latin typeface="Consolas"/>
              </a:defRPr>
            </a:pPr>
            <a:r>
              <a:t>24 kg/año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4572000" cy="3474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0" y="265176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Celiaquía</a:t>
            </a:r>
            <a:r>
              <a:rPr sz="1200">
                <a:solidFill>
                  <a:srgbClr val="4A4540"/>
                </a:solidFill>
                <a:latin typeface="Calibri"/>
              </a:rPr>
              <a:t> — afecta al 1% de la poblacion (fuente ANMAT). Diagnostico crece cada año.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Convivientes</a:t>
            </a:r>
            <a:r>
              <a:rPr sz="1200">
                <a:solidFill>
                  <a:srgbClr val="4A4540"/>
                </a:solidFill>
                <a:latin typeface="Calibri"/>
              </a:rPr>
              <a:t> — adaptan su dieta al hogar libre de gluten, multiplican base x1,5.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Consumo consciente</a:t>
            </a:r>
            <a:r>
              <a:rPr sz="1200">
                <a:solidFill>
                  <a:srgbClr val="4A4540"/>
                </a:solidFill>
                <a:latin typeface="Calibri"/>
              </a:rPr>
              <a:t> — veganos, plant-based, clean label. Factor adicional x1,4.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Market share objetivo</a:t>
            </a:r>
            <a:r>
              <a:rPr sz="1200">
                <a:solidFill>
                  <a:srgbClr val="4A4540"/>
                </a:solidFill>
                <a:latin typeface="Calibri"/>
              </a:rPr>
              <a:t> — 7% del mercado ampliado (~93.380 consumidores). Conservador vs SMAMS (~10%).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Tendencia global</a:t>
            </a:r>
            <a:r>
              <a:rPr sz="1200">
                <a:solidFill>
                  <a:srgbClr val="4A4540"/>
                </a:solidFill>
                <a:latin typeface="Calibri"/>
              </a:rPr>
              <a:t> — el mercado gluten-free crece sostenidamente (ref: SA GF Market Report 2030).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Producto y Diferenciacion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7 SKUs industriales, veganos, sin alergenos. Precios entre $7.000 y $13.700/kg vs. referencia $17.500/kg.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858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48640"/>
                <a:gridCol w="2926080"/>
                <a:gridCol w="118872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Producto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Linea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Descripcion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Precio/kg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Chocolate con chips picante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Galletita dulce con chocolate y especias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$13.700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Galletitas simil Chocolinas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Version sin TACC, endulzada naturalmente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$10.500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Pepas chocolate y batata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Base suave con relleno de dulce de batata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$11.000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Bizcochos salados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Snack salado de harinas alternativas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$7.000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Polvorones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Desmenuzables: vainilla, chocolate, limon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$10.500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Pan de molde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Pan lactal rebanado, alta rotacion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$12.700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Budines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Saborizados (vainilla, chocolate, frutas)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$12.000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2062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Planta 100% aislada</a:t>
            </a:r>
            <a:r>
              <a:rPr sz="1200">
                <a:solidFill>
                  <a:srgbClr val="4A4540"/>
                </a:solidFill>
                <a:latin typeface="Calibri"/>
              </a:rPr>
              <a:t> — cero contaminacion cruzada por diseño, no por protocolo.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Vegano + sin alergenos</a:t>
            </a:r>
            <a:r>
              <a:rPr sz="1200">
                <a:solidFill>
                  <a:srgbClr val="4A4540"/>
                </a:solidFill>
                <a:latin typeface="Calibri"/>
              </a:rPr>
              <a:t> — amplifica base de consumidores.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Endulzado natural</a:t>
            </a:r>
            <a:r>
              <a:rPr sz="1200">
                <a:solidFill>
                  <a:srgbClr val="4A4540"/>
                </a:solidFill>
                <a:latin typeface="Calibri"/>
              </a:rPr>
              <a:t> — alineado con tendencia clean label.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Certificaciones</a:t>
            </a:r>
            <a:r>
              <a:rPr sz="1200">
                <a:solidFill>
                  <a:srgbClr val="4A4540"/>
                </a:solidFill>
                <a:latin typeface="Calibri"/>
              </a:rPr>
              <a:t> — FSSC 22000 + HACCP + ANMAT + Logo SIN TACC + Kosher.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Plan de 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383,5 toneladas/año en 7 SKUs a traves de 4 canales. Facturacion anual $4.382 MM.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Produccion 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5A3D"/>
                </a:solidFill>
                <a:latin typeface="Consolas"/>
              </a:defRPr>
            </a:pPr>
            <a:r>
              <a:t>383,5 tn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481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Facturacion 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C3E6B"/>
                </a:solidFill>
                <a:latin typeface="Consolas"/>
              </a:defRPr>
            </a:pPr>
            <a:r>
              <a:t>$4.382M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37160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481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Acum. 10 años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3A6B"/>
                </a:solidFill>
                <a:latin typeface="Consolas"/>
              </a:defRPr>
            </a:pPr>
            <a:r>
              <a:t>$43.819M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5486400" cy="3474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27432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Distribuidores mayoristas</a:t>
            </a:r>
            <a:r>
              <a:rPr sz="1200">
                <a:solidFill>
                  <a:srgbClr val="4A4540"/>
                </a:solidFill>
                <a:latin typeface="Calibri"/>
              </a:rPr>
              <a:t> — canal principal (B2B), cobertura nacional.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Supermercados e hipermercados</a:t>
            </a:r>
            <a:r>
              <a:rPr sz="1200">
                <a:solidFill>
                  <a:srgbClr val="4A4540"/>
                </a:solidFill>
                <a:latin typeface="Calibri"/>
              </a:rPr>
              <a:t> — gondola de productos saludables/dieteticos.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Dieteticas</a:t>
            </a:r>
            <a:r>
              <a:rPr sz="1200">
                <a:solidFill>
                  <a:srgbClr val="4A4540"/>
                </a:solidFill>
                <a:latin typeface="Calibri"/>
              </a:rPr>
              <a:t> — canal especializado, alto margen, afinidad celiaco.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Farmacias</a:t>
            </a:r>
            <a:r>
              <a:rPr sz="1200">
                <a:solidFill>
                  <a:srgbClr val="4A4540"/>
                </a:solidFill>
                <a:latin typeface="Calibri"/>
              </a:rPr>
              <a:t> — canal complementario para productos de salud.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4297680"/>
          <a:ext cx="48463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731520"/>
                <a:gridCol w="822960"/>
                <a:gridCol w="1097280"/>
                <a:gridCol w="64008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Producto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Tn/año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Precio/Tn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(MM)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Pan de molde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75,0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$12.700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$952,5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21,7%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Pepas choc. y batata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78,0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$11.000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$858,0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19,6%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Budines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70,8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$12.000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$849,6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19,4%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Choc. chips picante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48,0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$13.700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$657,6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15,0%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Polvorones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52,8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$10.500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$554,4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12,7%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Chocolinas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27,75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$10.500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$291,4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6,7%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Bizcochos salados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31,2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$7.000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$218,4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5,0%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383,55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$4.381,9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Proceso Productivo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10 etapas en dos lineas dedicadas. Horno tunel continuo + hornos rotativos. Detector de metales integrado.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1. Recepcion</a:t>
            </a:r>
            <a:br/>
            <a:r>
              <a:t>de 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5087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2. Almacena-</a:t>
            </a:r>
            <a:br/>
            <a:r>
              <a:t>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9" y="137160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15087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3. Pesado y</a:t>
            </a:r>
            <a:br/>
            <a:r>
              <a:t>dosificado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19" y="137160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19" y="15087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4. Mezclado/</a:t>
            </a:r>
            <a:br/>
            <a:r>
              <a:t>amasado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37160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5087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5. Moldeado/</a:t>
            </a:r>
            <a:br/>
            <a:r>
              <a:t>formado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42316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603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6. Horneado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42316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5603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7. Enfriado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59" y="242316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25603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8. Envasado +</a:t>
            </a:r>
            <a:br/>
            <a:r>
              <a:t>det. metales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19" y="242316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9" y="25603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9. Etiquetado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423160"/>
            <a:ext cx="1965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5603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5A3D"/>
                </a:solidFill>
                <a:latin typeface="Calibri"/>
              </a:defRPr>
            </a:pPr>
            <a:r>
              <a:t>10. Almacen</a:t>
            </a:r>
            <a:br/>
            <a:r>
              <a:t>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6616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6B"/>
                </a:solidFill>
                <a:latin typeface="Calibri"/>
              </a:defRPr>
            </a:pPr>
            <a:r>
              <a:t>LINEA A — GALLETITAS Y SNACKS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A"/>
                </a:solidFill>
                <a:latin typeface="Consolas"/>
              </a:defRPr>
            </a:pPr>
            <a:r>
              <a:t>Capacidad: 100 kg/h  ·  Utilizacion: 61,9%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Amasadora industrial (USD 13.500)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Rotativa con dulcera (USD 15.000)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4 moldes formadores (USD 5.000 c/u)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Horno tunel continuo (USD 100.000)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Cinta de enfriamiento por aire forzado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Envasadora vertical + detector de metales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566160"/>
            <a:ext cx="5303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5C3C"/>
                </a:solidFill>
                <a:latin typeface="Calibri"/>
              </a:defRPr>
            </a:pPr>
            <a:r>
              <a:t>LINEA B — PANIFICADOS Y BUDINES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47A"/>
                </a:solidFill>
                <a:latin typeface="Consolas"/>
              </a:defRPr>
            </a:pPr>
            <a:r>
              <a:t>Capacidad: 50 kg/h  ·  Utilizacion: 75,9%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976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Batidora industrial con accesorio batidor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Dosificadora volumetrica de pistones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2 hornos rotativos con carros ($30 MM)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Fermentadora de pan + cortadora (20 reb.)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Detector de metales obligatorio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Envasadora Flow Pack (USD 50.000)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Localizacion e 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Macrolocalizacion (3 regiones) y microlocalizacion (3 parques industriales, matriz ponderada).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Superficie planta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3A6B"/>
                </a:solidFill>
                <a:latin typeface="Consolas"/>
              </a:defRPr>
            </a:pPr>
            <a:r>
              <a:t>1.330 m²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Ubicacion elegida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19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C3E6B"/>
                </a:solidFill>
                <a:latin typeface="Consolas"/>
              </a:defRPr>
            </a:pPr>
            <a:r>
              <a:t>P.I. Garin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48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GBA Norte · Panamericana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Puntaje micro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5A3D"/>
                </a:solidFill>
                <a:latin typeface="Consolas"/>
              </a:defRPr>
            </a:pPr>
            <a:r>
              <a:t>8,45/10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1ro de 3 candidatos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2651760"/>
          <a:ext cx="53035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146304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 marL="76200" marR="76200" marT="50800" marB="508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Ventaja</a:t>
                      </a:r>
                    </a:p>
                  </a:txBody>
                  <a:tcPr marL="76200" marR="76200" marT="50800" marB="508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Desventaja</a:t>
                      </a:r>
                    </a:p>
                  </a:txBody>
                  <a:tcPr marL="76200" marR="76200" marT="50800" marB="50800">
                    <a:solidFill>
                      <a:srgbClr val="2C3E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A — Centro (Cordoba)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Cercanía a fuentes de harina sin TACC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Lejos del mercado de consumo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B — Litoral (Santa Fe)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Punto logistico para recepcion MP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Mercado consumidor diluido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 — AMBA / GBA  ✓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~40% poblacion, centros de distribucion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4206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540"/>
                </a:solidFill>
                <a:latin typeface="Calibri"/>
              </a:defRPr>
            </a:pPr>
            <a:r>
              <a:t>Decision: Region C (AMBA/GBA). Los centros de distribucion de las principales cadenas estan en GBA. Es mas barato traer MP a granel que despachar PT.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2651760"/>
          <a:ext cx="48463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"/>
                <a:gridCol w="73152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Factor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Peso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Ezeiza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Garin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Pilar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Proximidad distrib./clientes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0,30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Infraestructura y servicios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0,25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Marco legal y zonificacion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0,20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Costo superficie y expansion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0,15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Mano de obra e infra. vial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0,10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 PONDERADO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1,00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7,95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8,45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7,90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</a:tr>
            </a:tbl>
          </a:graphicData>
        </a:graphic>
      </p:graphicFrame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029200"/>
            <a:ext cx="50292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Costos Principales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Costo operativo $3.060 MM/año. Margen bruto 30,2%. Margen neto 18,1%.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Costo total 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85C3C"/>
                </a:solidFill>
                <a:latin typeface="Consolas"/>
              </a:defRPr>
            </a:pPr>
            <a:r>
              <a:t>$3.060M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481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Resultado bruto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5A3D"/>
                </a:solidFill>
                <a:latin typeface="Consolas"/>
              </a:defRPr>
            </a:pPr>
            <a:r>
              <a:t>$1.322M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2148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30,2%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481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Resultado neto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17190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C3E6B"/>
                </a:solidFill>
                <a:latin typeface="Consolas"/>
              </a:defRPr>
            </a:pPr>
            <a:r>
              <a:t>$793M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148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18,1%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4572000" cy="347472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0" y="2651760"/>
          <a:ext cx="53949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40080"/>
                <a:gridCol w="1280160"/>
                <a:gridCol w="137160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Puesto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Cant.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Sueldo/mes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anual (MM)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Operarios de produccion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$1.072.000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$510,4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Mantenimiento y logistica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$1.395.200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$124,6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Staff de produccion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$2.500.000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$223,2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Administrativos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$2.200.000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$130,9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Gerentes (planta + admin)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$7.000.000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$208,3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$1.197,5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669280" y="5394960"/>
            <a:ext cx="5943600" cy="1005840"/>
          </a:xfrm>
          <a:prstGeom prst="roundRect">
            <a:avLst/>
          </a:prstGeom>
          <a:solidFill>
            <a:srgbClr val="E6F0EA"/>
          </a:solidFill>
          <a:ln w="12700">
            <a:solidFill>
              <a:srgbClr val="2D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548640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5A3D"/>
                </a:solidFill>
                <a:latin typeface="Calibri"/>
              </a:defRPr>
            </a:pPr>
            <a:r>
              <a:t>Facturacion $4.382M − Costos $3.060M = Res. bruto $1.322M (30,2%)</a:t>
            </a:r>
            <a:br/>
            <a:r>
              <a:t>− Hon. directorio 5% ($66M) − IIGG 35% ($463M) = Resultado neto $793M (18,1%)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Organigrama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Estructura de 50 personas con doble control de calidad y produccion en 3 turnos.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2103120" cy="6400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Presidente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377440"/>
            <a:ext cx="2103120" cy="82296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Gerente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697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+ Asesoria legal/contable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Ventas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206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Vendedores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365760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37490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Gte.</a:t>
            </a:r>
            <a:br/>
            <a:r>
              <a:t>Produccion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206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~40 pers.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65760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37490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Aseg.</a:t>
            </a:r>
            <a:br/>
            <a:r>
              <a:t>Calidad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06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3 analistas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65760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7490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Calidad</a:t>
            </a:r>
            <a:br/>
            <a:r>
              <a:t>e I+D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206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3 inspectores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365760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37490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Planeamiento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206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3 operadores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365760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37490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Admin y</a:t>
            </a:r>
            <a:br/>
            <a:r>
              <a:t>Finanzas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206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47A"/>
                </a:solidFill>
                <a:latin typeface="Calibri"/>
              </a:defRPr>
            </a:pPr>
            <a:r>
              <a:t>4 areas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3776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029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5A3D"/>
                </a:solidFill>
                <a:latin typeface="Calibri"/>
              </a:defRPr>
            </a:pPr>
            <a:r>
              <a:t>Produccion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3035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Jefe Mant.: 1 sup. + 3 tecnicos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3 turnos: M(30), T(20), N(12)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SySH: 4 operadores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93776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5029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5A3D"/>
                </a:solidFill>
                <a:latin typeface="Calibri"/>
              </a:defRPr>
            </a:pPr>
            <a:r>
              <a:t>Calidad (doble control)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3035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Aseguramiento: 1 calidad + 1 proveedores + 2 QA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Inspeccion: 3 inspectores in-line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Clave para FSSC 22000 y HACCP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93776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5029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5A3D"/>
                </a:solidFill>
                <a:latin typeface="Calibri"/>
              </a:defRPr>
            </a:pPr>
            <a:r>
              <a:t>Administracion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3035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Cuentas a Pagar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Tesoreria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Facturacion y Cobranzas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4A4540"/>
                </a:solidFill>
                <a:latin typeface="Calibri"/>
              </a:rPr>
              <a:t>  RRHH (50 personas)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Inversiones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$1.964 MM (~USD 1,4M) con 71% destinado a la nave industrial.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A847A"/>
                </a:solidFill>
                <a:latin typeface="Calibri"/>
              </a:defRPr>
            </a:pPr>
            <a:r>
              <a:t>INVERSION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D5A3D"/>
                </a:solidFill>
                <a:latin typeface="Consolas"/>
              </a:defRPr>
            </a:pPr>
            <a:r>
              <a:t>$1.964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47A"/>
                </a:solidFill>
                <a:latin typeface="Calibri"/>
              </a:defRPr>
            </a:pPr>
            <a:r>
              <a:t>~USD 1,4 M  (TC: 1.400 ARS/USD)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08960"/>
            <a:ext cx="4114800" cy="32004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54880" y="1371600"/>
          <a:ext cx="59436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64008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Rubro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ARS (MM)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Detalle</a:t>
                      </a:r>
                    </a:p>
                  </a:txBody>
                  <a:tcPr marL="76200" marR="76200" marT="50800" marB="50800">
                    <a:solidFill>
                      <a:srgbClr val="2D5A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Nave industrial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$1.400,0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71,3%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Planta aislada 1.330 m² + terreno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Obras complementarias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$186,2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9,5%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Electricidad, sanitarias, gas, clima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Maquinaria operativa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$345,5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17,6%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Linea A + Linea B completas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Vehiculos y aux.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$22,8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1,2%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Autoelevador, zorras, balanzas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Muebles y utiles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$9,8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0,5%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PCs (x8), mobiliario, sanitarios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$1.964,3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</a:p>
                  </a:txBody>
                  <a:tcPr marL="76200" marR="76200" marT="50800" marB="50800">
                    <a:solidFill>
                      <a:srgbClr val="F3F1E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754880" y="429768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389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6B"/>
                </a:solidFill>
                <a:latin typeface="Calibri"/>
              </a:defRPr>
            </a:pPr>
            <a:r>
              <a:t>LINEA A — USD equiv.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663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Amasadora: USD 13.500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Rotativa: USD 15.000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Moldes (x4): USD 20.000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Horno tunel: USD 100.000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Enfriamiento: USD 12.000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Envasadora: USD 4.000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29768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389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5C3C"/>
                </a:solidFill>
                <a:latin typeface="Calibri"/>
              </a:defRPr>
            </a:pPr>
            <a:r>
              <a:t>LINEA B — ARS/USD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663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Batidora: ARS 2,5M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Dosificadora: ARS 2,0M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Hornos rot. (x2): ARS 30M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Fermentadora: ARS 1,9M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Det. metales: USD 3.200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4A4540"/>
                </a:solidFill>
                <a:latin typeface="Calibri"/>
              </a:rPr>
              <a:t>  Flow Pack: USD 50.000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Flujo de Fondos e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VAN positivo, TIR &gt;2x costo capital, payback en 3,5 años. El proyecto es viable.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VAN (15%)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5A3D"/>
                </a:solidFill>
                <a:latin typeface="Consolas"/>
              </a:defRPr>
            </a:pPr>
            <a:r>
              <a:t>$1.752M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C3E6B"/>
                </a:solidFill>
                <a:latin typeface="Consolas"/>
              </a:defRPr>
            </a:pPr>
            <a:r>
              <a:t>38,85%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39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Payback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19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85C3C"/>
                </a:solidFill>
                <a:latin typeface="Consolas"/>
              </a:defRPr>
            </a:pPr>
            <a:r>
              <a:t>3,5 años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399" y="13716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A847A"/>
                </a:solidFill>
                <a:latin typeface="Calibri"/>
              </a:defRPr>
            </a:pPr>
            <a:r>
              <a:t>Retorno 10a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3A6B"/>
                </a:solidFill>
                <a:latin typeface="Consolas"/>
              </a:defRPr>
            </a:pPr>
            <a:r>
              <a:t>$5.965M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651760"/>
            <a:ext cx="7498079" cy="34747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046720" y="2651760"/>
            <a:ext cx="3840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743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5A3D"/>
                </a:solidFill>
                <a:latin typeface="Calibri"/>
              </a:defRPr>
            </a:pPr>
            <a:r>
              <a:t>CRITERIOS DE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089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VAN &gt; 0</a:t>
            </a:r>
            <a:r>
              <a:rPr sz="1100">
                <a:solidFill>
                  <a:srgbClr val="4A4540"/>
                </a:solidFill>
                <a:latin typeface="Calibri"/>
              </a:rPr>
              <a:t> — $1.752 MM. El proyecto genera valor por encima del costo de oportunidad.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TIR &gt; WACC</a:t>
            </a:r>
            <a:r>
              <a:rPr sz="1100">
                <a:solidFill>
                  <a:srgbClr val="4A4540"/>
                </a:solidFill>
                <a:latin typeface="Calibri"/>
              </a:rPr>
              <a:t> — 38,85% vs. 15%. Rentabilidad mas del doble de la tasa exigida.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Payback &lt; horizonte</a:t>
            </a:r>
            <a:r>
              <a:rPr sz="1100">
                <a:solidFill>
                  <a:srgbClr val="4A4540"/>
                </a:solidFill>
                <a:latin typeface="Calibri"/>
              </a:rPr>
              <a:t> — 3,5 de 10 años. 6,5 años de flujo positivo neto.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ROI 10 años</a:t>
            </a:r>
            <a:r>
              <a:rPr sz="1100">
                <a:solidFill>
                  <a:srgbClr val="4A4540"/>
                </a:solidFill>
                <a:latin typeface="Calibri"/>
              </a:rPr>
              <a:t> — ~304%. Cada peso invertido genera $3.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486400"/>
            <a:ext cx="3840480" cy="6400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5577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Proyecto viable bajo los 3</a:t>
            </a:r>
            <a:br/>
            <a:r>
              <a:t>criterios estandar de evaluacion.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540"/>
                </a:solidFill>
                <a:latin typeface="Calibri"/>
              </a:defRPr>
            </a:pPr>
            <a:r>
              <a:t>El proyecto es viable desde lo tecnico, comercial y financiero.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73152"/>
          </a:xfrm>
          <a:prstGeom prst="round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44752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A96E"/>
                </a:solidFill>
                <a:latin typeface="Calibri"/>
              </a:defRPr>
            </a:pPr>
            <a:r>
              <a:t>Oportunidad de 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+1,3M consumidores con demanda insatisfecha.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Competidores artesanales, sin escala.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Precios elevados por falta de oferta industrial.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Tendencia global de crecimiento sostenido.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474720" cy="73152"/>
          </a:xfrm>
          <a:prstGeom prst="roundRect">
            <a:avLst/>
          </a:prstGeom>
          <a:solidFill>
            <a:srgbClr val="2D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1444752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A3D"/>
                </a:solidFill>
                <a:latin typeface="Calibri"/>
              </a:defRPr>
            </a:pPr>
            <a:r>
              <a:t>Ventaja competitiva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9202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Unica planta 100% aislada del pais.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FSSC 22000 + HACCP + ANMAT + Kosher.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Escala industrial = precios competitivos.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7 SKUs veganos, sin alergenos.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371600"/>
            <a:ext cx="3474720" cy="73152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1444752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6B"/>
                </a:solidFill>
                <a:latin typeface="Calibri"/>
              </a:defRPr>
            </a:pPr>
            <a:r>
              <a:t>Viabilidad financiera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9202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TIR 38,85% (&gt;2x costo capital).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VAN positivo: $1.752 MM.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Payback: 3,5 años.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4A4540"/>
                </a:solidFill>
                <a:latin typeface="Calibri"/>
              </a:rPr>
              <a:t>  Retorno 3x en 10 años.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023360"/>
          <a:ext cx="5943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Riesgo critico</a:t>
                      </a:r>
                    </a:p>
                  </a:txBody>
                  <a:tcPr marL="76200" marR="76200" marT="50800" marB="50800">
                    <a:solidFill>
                      <a:srgbClr val="B85C3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Mitigacion</a:t>
                      </a:r>
                    </a:p>
                  </a:txBody>
                  <a:tcPr marL="76200" marR="76200" marT="50800" marB="50800">
                    <a:solidFill>
                      <a:srgbClr val="B85C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Demoras SENASA/ANMAT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Tramites en paralelo con obra; asesoria regulatoria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Cash flow negativo Año 1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Capital de trabajo previsto; ramp-up gradual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Demora equipos importados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Compra anticipada; proveedores alternativos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Alta inflacion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4A4540"/>
                          </a:solidFill>
                          <a:latin typeface="Calibri"/>
                        </a:defRPr>
                      </a:pPr>
                      <a:r>
                        <a:t>Clausulas de ajuste; stock estrategico MP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858000" y="4023360"/>
            <a:ext cx="4754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F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4114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5A3D"/>
                </a:solidFill>
                <a:latin typeface="Calibri"/>
              </a:defRPr>
            </a:pPr>
            <a:r>
              <a:t>TIMELINE DE IMPLEMENTACION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48056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Meses 1-4</a:t>
            </a:r>
            <a:r>
              <a:rPr sz="1000">
                <a:solidFill>
                  <a:srgbClr val="4A4540"/>
                </a:solidFill>
                <a:latin typeface="Calibri"/>
              </a:rPr>
              <a:t> — Planificacion y constitucion legal.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Meses 3-7</a:t>
            </a:r>
            <a:r>
              <a:rPr sz="1000">
                <a:solidFill>
                  <a:srgbClr val="4A4540"/>
                </a:solidFill>
                <a:latin typeface="Calibri"/>
              </a:rPr>
              <a:t> — Ingenieria, permisos y certificacion ANMAT.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Meses 4-10</a:t>
            </a:r>
            <a:r>
              <a:rPr sz="1000">
                <a:solidFill>
                  <a:srgbClr val="4A4540"/>
                </a:solidFill>
                <a:latin typeface="Calibri"/>
              </a:rPr>
              <a:t> — Obra civil y construccion de planta.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Meses 6-11</a:t>
            </a:r>
            <a:r>
              <a:rPr sz="1000">
                <a:solidFill>
                  <a:srgbClr val="4A4540"/>
                </a:solidFill>
                <a:latin typeface="Calibri"/>
              </a:rPr>
              <a:t> — Compra de equipos y validacion.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Meses 9-12</a:t>
            </a:r>
            <a:r>
              <a:rPr sz="1000">
                <a:solidFill>
                  <a:srgbClr val="4A4540"/>
                </a:solidFill>
                <a:latin typeface="Calibri"/>
              </a:rPr>
              <a:t> — Reclutamiento y capacitacion (50 pos.).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Mes 13+</a:t>
            </a:r>
            <a:r>
              <a:rPr sz="1000">
                <a:solidFill>
                  <a:srgbClr val="4A4540"/>
                </a:solidFill>
                <a:latin typeface="Calibri"/>
              </a:rPr>
              <a:t> — Pruebas piloto y puesta en marcha.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8A96E"/>
                </a:solidFill>
                <a:latin typeface="Consolas"/>
              </a:defRPr>
            </a:pPr>
            <a:r>
              <a:t>CONCLUSION DEL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El proyecto es viable desde lo tecnico,</a:t>
            </a:r>
            <a:br/>
            <a:r>
              <a:t>comercial y financiero.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onsolas"/>
              </a:defRPr>
            </a:pPr>
            <a:r>
              <a:t>TIR 38,85%   ·   VAN $1.752 MM   ·   Payback 3,5 años   ·   Retorno 3x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47A"/>
                </a:solidFill>
                <a:latin typeface="Calibri"/>
              </a:defRPr>
            </a:pPr>
            <a:r>
              <a:t>Proyecto Final — UTN FRBA 2026 — Grupo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0807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47A"/>
                </a:solidFill>
                <a:latin typeface="Calibri"/>
              </a:defRPr>
            </a:pPr>
            <a:r>
              <a:t>Albarracin  ·  Carrizo  ·  Greco  ·  Rodriguez  ·  Schaltegger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