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84" r:id="rId1"/>
  </p:sldMasterIdLst>
  <p:notesMasterIdLst>
    <p:notesMasterId r:id="rId16"/>
  </p:notesMasterIdLst>
  <p:sldIdLst>
    <p:sldId id="257" r:id="rId2"/>
    <p:sldId id="269" r:id="rId3"/>
    <p:sldId id="279" r:id="rId4"/>
    <p:sldId id="278" r:id="rId5"/>
    <p:sldId id="277" r:id="rId6"/>
    <p:sldId id="267" r:id="rId7"/>
    <p:sldId id="282" r:id="rId8"/>
    <p:sldId id="280" r:id="rId9"/>
    <p:sldId id="281" r:id="rId10"/>
    <p:sldId id="283" r:id="rId11"/>
    <p:sldId id="286" r:id="rId12"/>
    <p:sldId id="284" r:id="rId13"/>
    <p:sldId id="285" r:id="rId14"/>
    <p:sldId id="265" r:id="rId15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69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tricia Tilli" userId="6fd68fabbfff9c24" providerId="LiveId" clId="{78541B03-3E08-48DB-98C9-EE13B95497F8}"/>
    <pc:docChg chg="modSld">
      <pc:chgData name="Patricia Tilli" userId="6fd68fabbfff9c24" providerId="LiveId" clId="{78541B03-3E08-48DB-98C9-EE13B95497F8}" dt="2021-07-19T21:07:54.515" v="0" actId="20577"/>
      <pc:docMkLst>
        <pc:docMk/>
      </pc:docMkLst>
      <pc:sldChg chg="modSp mod">
        <pc:chgData name="Patricia Tilli" userId="6fd68fabbfff9c24" providerId="LiveId" clId="{78541B03-3E08-48DB-98C9-EE13B95497F8}" dt="2021-07-19T21:07:54.515" v="0" actId="20577"/>
        <pc:sldMkLst>
          <pc:docMk/>
          <pc:sldMk cId="0" sldId="257"/>
        </pc:sldMkLst>
        <pc:spChg chg="mod">
          <ac:chgData name="Patricia Tilli" userId="6fd68fabbfff9c24" providerId="LiveId" clId="{78541B03-3E08-48DB-98C9-EE13B95497F8}" dt="2021-07-19T21:07:54.515" v="0" actId="20577"/>
          <ac:spMkLst>
            <pc:docMk/>
            <pc:sldMk cId="0" sldId="25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22620-8B3B-414E-A114-1874E05E0937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8C9F3-5FEE-4416-85FA-9B684638B82E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8C9F3-5FEE-4416-85FA-9B684638B82E}" type="slidenum">
              <a:rPr lang="es-AR" smtClean="0"/>
              <a:pPr/>
              <a:t>7</a:t>
            </a:fld>
            <a:endParaRPr lang="es-A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8C9F3-5FEE-4416-85FA-9B684638B82E}" type="slidenum">
              <a:rPr lang="es-AR" smtClean="0"/>
              <a:pPr/>
              <a:t>8</a:t>
            </a:fld>
            <a:endParaRPr lang="es-A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68C9F3-5FEE-4416-85FA-9B684638B82E}" type="slidenum">
              <a:rPr lang="es-AR" smtClean="0"/>
              <a:pPr/>
              <a:t>9</a:t>
            </a:fld>
            <a:endParaRPr 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Rectángulo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Rectángulo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Rectángulo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Rectángulo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Rectángulo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Rectángulo redondeado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Rectángulo redondeado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Rectángulo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s-AR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28" name="2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Rectángulo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Rectángulo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Rectángulo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Rectángulo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Rectángulo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Rectángulo redondeado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Rectángulo redondeado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Rectángulo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35 Rectángulo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36 Rectángulo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Rectángulo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Rectángulo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Rectángulo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64906E9-39F7-443D-ADBC-FFF078A3B455}" type="datetimeFigureOut">
              <a:rPr lang="es-AR" smtClean="0"/>
              <a:pPr/>
              <a:t>19/7/2021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s-AR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C834394E-5454-4430-BC7B-B2391CD2819A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706016"/>
            <a:ext cx="9144000" cy="1066800"/>
          </a:xfrm>
        </p:spPr>
        <p:txBody>
          <a:bodyPr>
            <a:normAutofit/>
          </a:bodyPr>
          <a:lstStyle/>
          <a:p>
            <a:pPr algn="ctr"/>
            <a:r>
              <a:rPr lang="es-AR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COMERCIO EXTERIOR</a:t>
            </a:r>
          </a:p>
        </p:txBody>
      </p:sp>
      <p:sp>
        <p:nvSpPr>
          <p:cNvPr id="10" name="1 Título"/>
          <p:cNvSpPr txBox="1">
            <a:spLocks/>
          </p:cNvSpPr>
          <p:nvPr/>
        </p:nvSpPr>
        <p:spPr>
          <a:xfrm>
            <a:off x="0" y="1426096"/>
            <a:ext cx="91440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AR" sz="2800" i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Relaciones económicas internacionales</a:t>
            </a:r>
            <a:endParaRPr kumimoji="0" lang="es-AR" sz="2800" b="0" i="1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2" name="11 CuadroTexto"/>
          <p:cNvSpPr txBox="1"/>
          <p:nvPr/>
        </p:nvSpPr>
        <p:spPr>
          <a:xfrm>
            <a:off x="0" y="6165304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s-AR" sz="2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Wingdings"/>
              </a:rPr>
              <a:t> 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 </a:t>
            </a:r>
            <a:r>
              <a:rPr lang="es-AR" sz="200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Wingdings"/>
              </a:rPr>
              <a:t>Módulo VII   </a:t>
            </a:r>
            <a:r>
              <a:rPr lang="es-AR" sz="20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  <a:sym typeface="Wingdings"/>
              </a:rPr>
              <a:t>-   parte III</a:t>
            </a:r>
            <a:endParaRPr lang="es-AR" sz="20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2290" name="Picture 2" descr="Las Relaciones Internacionales en el siglo XXI - mariacristinarosas.mx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2420888"/>
            <a:ext cx="5760640" cy="36052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Teorías de integración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323528" y="1844824"/>
          <a:ext cx="8424936" cy="4800600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69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AR" sz="1800" b="1" i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Teoría</a:t>
                      </a:r>
                      <a:endParaRPr lang="es-AR" sz="2800" b="1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Descripción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950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Realismo e Idealismo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“Esta corriente explica un mundo organizado por naciones y un interés nacional como clave. La </a:t>
                      </a:r>
                      <a:r>
                        <a:rPr kumimoji="0" lang="es-AR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competencia entre países por el poder 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 supervivencia intenta defender su identidad política, cultural frente al resto. “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950">
                <a:tc>
                  <a:txBody>
                    <a:bodyPr/>
                    <a:lstStyle/>
                    <a:p>
                      <a:pPr algn="ctr"/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Neorrealismo </a:t>
                      </a:r>
                      <a:endParaRPr kumimoji="0" lang="es-AR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endParaRPr kumimoji="0" lang="es-AR" sz="1800" b="1" i="1" kern="12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Esta corriente establece “que los conflictos entre los estados, dependerán de tres variables (…), naturaleza y </a:t>
                      </a:r>
                      <a:r>
                        <a:rPr kumimoji="0" lang="es-AR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comportamiento humano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s-AR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organización de los estados 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y la </a:t>
                      </a:r>
                      <a:r>
                        <a:rPr kumimoji="0" lang="es-AR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anarquía internacional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”.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9659">
                <a:tc>
                  <a:txBody>
                    <a:bodyPr/>
                    <a:lstStyle/>
                    <a:p>
                      <a:pPr algn="ctr"/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Funcionalismo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Según esta teoría a través de la integración los países “buscan la </a:t>
                      </a:r>
                      <a:r>
                        <a:rPr kumimoji="0" lang="es-AR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satisfacción de las necesidades humanas 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 la colaboración entre gobierno y ciudadanía.”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965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Neo-funcionalismo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AR" sz="180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Esta corriente establece</a:t>
                      </a:r>
                      <a:r>
                        <a:rPr lang="es-AR" sz="1800" baseline="0" dirty="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Times New Roman"/>
                        </a:rPr>
                        <a:t> que “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una cooperación exitosa de un área, desbordaría hacia muchas esferas redundando en beneficios. Privilegiando las instituciones e ideologías de </a:t>
                      </a:r>
                      <a:r>
                        <a:rPr kumimoji="0" lang="es-AR" sz="18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instituciones supranacionales sobre la soberanía nacional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.” </a:t>
                      </a:r>
                      <a:endParaRPr lang="es-AR" sz="1800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br>
              <a:rPr lang="es-AR" dirty="0"/>
            </a:br>
            <a:r>
              <a:rPr lang="es-AR" b="1" dirty="0"/>
              <a:t>Procesos de integración económica</a:t>
            </a:r>
            <a:endParaRPr lang="es-A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691680" y="2204864"/>
            <a:ext cx="662473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i="1" dirty="0"/>
              <a:t>“</a:t>
            </a:r>
            <a:r>
              <a:rPr lang="es-AR" sz="2800" dirty="0"/>
              <a:t>La integración regional es un proceso multidimensional cuyas expresiones incluyen iniciativas de coordinación, cooperación, convergencia e integración profunda, y cuyo alcance abarca no solo las temáticas económicas y comerciales, sino también las políticas, sociales, culturales y ambientales </a:t>
            </a:r>
            <a:r>
              <a:rPr lang="es-AR" sz="2800" i="1" dirty="0"/>
              <a:t>”</a:t>
            </a:r>
          </a:p>
          <a:p>
            <a:pPr algn="just"/>
            <a:endParaRPr lang="es-AR" sz="2800" i="1" dirty="0"/>
          </a:p>
          <a:p>
            <a:pPr algn="just"/>
            <a:r>
              <a:rPr lang="es-AR" sz="2800" i="1" dirty="0"/>
              <a:t>        </a:t>
            </a:r>
            <a:r>
              <a:rPr lang="es-AR" sz="2000" i="1" dirty="0"/>
              <a:t>CEPAL</a:t>
            </a:r>
            <a:endParaRPr lang="es-AR" sz="2800" i="1" dirty="0"/>
          </a:p>
        </p:txBody>
      </p:sp>
      <p:pic>
        <p:nvPicPr>
          <p:cNvPr id="6" name="0 Imagen" descr="comillas.pn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683568" y="2204864"/>
            <a:ext cx="720080" cy="648072"/>
          </a:xfrm>
          <a:prstGeom prst="rect">
            <a:avLst/>
          </a:prstGeom>
        </p:spPr>
      </p:pic>
      <p:cxnSp>
        <p:nvCxnSpPr>
          <p:cNvPr id="7" name="6 Conector recto"/>
          <p:cNvCxnSpPr/>
          <p:nvPr/>
        </p:nvCxnSpPr>
        <p:spPr>
          <a:xfrm>
            <a:off x="1475656" y="2132856"/>
            <a:ext cx="0" cy="367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br>
              <a:rPr lang="es-AR" dirty="0"/>
            </a:br>
            <a:r>
              <a:rPr lang="es-AR" b="1" dirty="0"/>
              <a:t>Procesos de integración económica</a:t>
            </a:r>
            <a:endParaRPr lang="es-A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691680" y="2204864"/>
            <a:ext cx="66247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i="1" dirty="0"/>
              <a:t>“</a:t>
            </a:r>
            <a:r>
              <a:rPr lang="es-AR" sz="2800" dirty="0"/>
              <a:t>la integración sería el proceso de incremento de la interacción y mezcla que oscurece los límites entre el sistema de organizaciones internacionales y el entorno que proveen los Estados nacionales miembros</a:t>
            </a:r>
            <a:r>
              <a:rPr lang="es-AR" sz="2800" i="1" dirty="0"/>
              <a:t>”</a:t>
            </a:r>
          </a:p>
          <a:p>
            <a:pPr algn="just"/>
            <a:endParaRPr lang="es-AR" sz="2800" i="1" dirty="0"/>
          </a:p>
          <a:p>
            <a:pPr algn="just"/>
            <a:r>
              <a:rPr lang="es-AR" sz="2800" i="1" dirty="0"/>
              <a:t>        </a:t>
            </a:r>
            <a:r>
              <a:rPr lang="es-AR" sz="2000" dirty="0" err="1"/>
              <a:t>Ernest</a:t>
            </a:r>
            <a:r>
              <a:rPr lang="es-AR" sz="2000" dirty="0"/>
              <a:t> </a:t>
            </a:r>
            <a:r>
              <a:rPr lang="es-AR" sz="2000" dirty="0" err="1"/>
              <a:t>Hass</a:t>
            </a:r>
            <a:r>
              <a:rPr lang="es-AR" sz="2000" dirty="0"/>
              <a:t>, </a:t>
            </a:r>
            <a:endParaRPr lang="es-AR" sz="2800" i="1" dirty="0"/>
          </a:p>
        </p:txBody>
      </p:sp>
      <p:pic>
        <p:nvPicPr>
          <p:cNvPr id="6" name="0 Imagen" descr="comillas.pn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683568" y="2204864"/>
            <a:ext cx="720080" cy="648072"/>
          </a:xfrm>
          <a:prstGeom prst="rect">
            <a:avLst/>
          </a:prstGeom>
        </p:spPr>
      </p:pic>
      <p:cxnSp>
        <p:nvCxnSpPr>
          <p:cNvPr id="7" name="6 Conector recto"/>
          <p:cNvCxnSpPr/>
          <p:nvPr/>
        </p:nvCxnSpPr>
        <p:spPr>
          <a:xfrm>
            <a:off x="1475656" y="2132856"/>
            <a:ext cx="0" cy="367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778024"/>
            <a:ext cx="8352928" cy="1066800"/>
          </a:xfrm>
        </p:spPr>
        <p:txBody>
          <a:bodyPr>
            <a:normAutofit/>
          </a:bodyPr>
          <a:lstStyle/>
          <a:p>
            <a:pPr algn="ctr"/>
            <a:r>
              <a:rPr lang="es-A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de los procesos de integración</a:t>
            </a:r>
          </a:p>
        </p:txBody>
      </p:sp>
      <p:sp>
        <p:nvSpPr>
          <p:cNvPr id="5" name="4 Rectángulo"/>
          <p:cNvSpPr/>
          <p:nvPr/>
        </p:nvSpPr>
        <p:spPr>
          <a:xfrm>
            <a:off x="251520" y="1556792"/>
            <a:ext cx="864096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2000" dirty="0"/>
          </a:p>
          <a:p>
            <a:pPr marL="360363" indent="-360363" algn="just">
              <a:spcAft>
                <a:spcPts val="1200"/>
              </a:spcAft>
              <a:buFont typeface="Wingdings" pitchFamily="2" charset="2"/>
              <a:buChar char="q"/>
            </a:pPr>
            <a:r>
              <a:rPr lang="es-AR" sz="2000" dirty="0"/>
              <a:t>Los integrantes de cada proceso regional se muestran cada vez más </a:t>
            </a:r>
            <a:r>
              <a:rPr lang="es-AR" sz="2000" b="1" dirty="0"/>
              <a:t>interdependientes</a:t>
            </a:r>
            <a:r>
              <a:rPr lang="es-AR" sz="2000" dirty="0"/>
              <a:t>, al aumentar las transacciones entre ellos. </a:t>
            </a:r>
          </a:p>
          <a:p>
            <a:pPr marL="360363" indent="-360363" algn="just">
              <a:spcAft>
                <a:spcPts val="1200"/>
              </a:spcAft>
              <a:buFont typeface="Wingdings" pitchFamily="2" charset="2"/>
              <a:buChar char="q"/>
            </a:pPr>
            <a:r>
              <a:rPr lang="es-AR" sz="2000" dirty="0"/>
              <a:t>Si alguno de los miembros aventaja a otro, se observarán negativamente por el contrario si los beneficios son </a:t>
            </a:r>
            <a:r>
              <a:rPr lang="es-AR" sz="2000" b="1" dirty="0"/>
              <a:t>igualitarios</a:t>
            </a:r>
            <a:r>
              <a:rPr lang="es-AR" sz="2000" dirty="0"/>
              <a:t> el proceso se verá positivamente. </a:t>
            </a:r>
          </a:p>
          <a:p>
            <a:pPr marL="360363" indent="-360363" algn="just">
              <a:spcAft>
                <a:spcPts val="1200"/>
              </a:spcAft>
              <a:buFont typeface="Wingdings" pitchFamily="2" charset="2"/>
              <a:buChar char="q"/>
            </a:pPr>
            <a:r>
              <a:rPr lang="es-AR" sz="2000" dirty="0"/>
              <a:t>El tamaño de los países </a:t>
            </a:r>
            <a:r>
              <a:rPr lang="es-AR" sz="2000" b="1" dirty="0"/>
              <a:t>integrantes no es indicador de éxito </a:t>
            </a:r>
            <a:r>
              <a:rPr lang="es-AR" sz="2000" dirty="0"/>
              <a:t>del proceso. </a:t>
            </a:r>
          </a:p>
          <a:p>
            <a:pPr marL="360363" indent="-360363" algn="just">
              <a:spcAft>
                <a:spcPts val="1200"/>
              </a:spcAft>
              <a:buFont typeface="Wingdings" pitchFamily="2" charset="2"/>
              <a:buChar char="q"/>
            </a:pPr>
            <a:r>
              <a:rPr lang="es-AR" sz="2000" dirty="0"/>
              <a:t>La creación de </a:t>
            </a:r>
            <a:r>
              <a:rPr lang="es-AR" sz="2000" b="1" dirty="0"/>
              <a:t>mercado común </a:t>
            </a:r>
            <a:r>
              <a:rPr lang="es-AR" sz="2000" dirty="0"/>
              <a:t>conduce a la integración regional y maximiza el desbordamiento hacia otras áreas. </a:t>
            </a:r>
          </a:p>
          <a:p>
            <a:pPr marL="360363" indent="-360363" algn="just">
              <a:spcAft>
                <a:spcPts val="1200"/>
              </a:spcAft>
              <a:buFont typeface="Wingdings" pitchFamily="2" charset="2"/>
              <a:buChar char="q"/>
            </a:pPr>
            <a:r>
              <a:rPr lang="es-AR" sz="2000" dirty="0"/>
              <a:t>Aquellos </a:t>
            </a:r>
            <a:r>
              <a:rPr lang="es-AR" sz="2000" b="1" dirty="0"/>
              <a:t>países seguros de sus recursos muestran desinterés </a:t>
            </a:r>
            <a:r>
              <a:rPr lang="es-AR" sz="2000" dirty="0"/>
              <a:t>por la integración.</a:t>
            </a:r>
          </a:p>
          <a:p>
            <a:pPr marL="360363" indent="-360363" algn="just">
              <a:spcAft>
                <a:spcPts val="1200"/>
              </a:spcAft>
              <a:buFont typeface="Wingdings" pitchFamily="2" charset="2"/>
              <a:buChar char="q"/>
            </a:pPr>
            <a:r>
              <a:rPr lang="es-AR" sz="2000" dirty="0"/>
              <a:t>Por el contrario aquellos estados débiles o bajo la órbita de otros buscarán integrarse como vía de mejora de su posición. </a:t>
            </a:r>
            <a:endParaRPr lang="es-AR" sz="20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br>
              <a:rPr lang="es-AR" dirty="0"/>
            </a:br>
            <a:r>
              <a:rPr lang="es-AR" b="1" dirty="0"/>
              <a:t>Organización del comercio e integración</a:t>
            </a:r>
            <a:endParaRPr lang="es-A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40000" contrast="40000"/>
          </a:blip>
          <a:srcRect l="20963" t="52919" r="17613" b="16841"/>
          <a:stretch>
            <a:fillRect/>
          </a:stretch>
        </p:blipFill>
        <p:spPr bwMode="auto">
          <a:xfrm>
            <a:off x="323528" y="2492896"/>
            <a:ext cx="8658962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7 CuadroTexto"/>
          <p:cNvSpPr txBox="1"/>
          <p:nvPr/>
        </p:nvSpPr>
        <p:spPr>
          <a:xfrm>
            <a:off x="251520" y="5517232"/>
            <a:ext cx="8640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dirty="0"/>
              <a:t>Acuerdos comerciales deben tener un “beneficio nacional” . </a:t>
            </a:r>
          </a:p>
          <a:p>
            <a:pPr algn="ctr"/>
            <a:r>
              <a:rPr lang="es-AR" dirty="0"/>
              <a:t>Son multidimensionales </a:t>
            </a:r>
            <a:r>
              <a:rPr lang="es-AR" dirty="0">
                <a:sym typeface="Wingdings"/>
              </a:rPr>
              <a:t></a:t>
            </a:r>
            <a:r>
              <a:rPr lang="es-AR" dirty="0"/>
              <a:t> áreas: Política, Económica y Cultura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Ventajas y desventajas de los procesos de integración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395536" y="1916832"/>
          <a:ext cx="8280920" cy="4221480"/>
        </p:xfrm>
        <a:graphic>
          <a:graphicData uri="http://schemas.openxmlformats.org/drawingml/2006/table">
            <a:tbl>
              <a:tblPr/>
              <a:tblGrid>
                <a:gridCol w="4140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69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Ventajas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Desventajas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704">
                <a:tc>
                  <a:txBody>
                    <a:bodyPr/>
                    <a:lstStyle/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es-AR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Economías de escala 	</a:t>
                      </a:r>
                    </a:p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Ampliación de los mercados 	</a:t>
                      </a:r>
                    </a:p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Desarrollo de nuevos productos o actividades conjuntas 	</a:t>
                      </a:r>
                    </a:p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Incremento de la competencia con beneficio para los consumidores 	</a:t>
                      </a:r>
                    </a:p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Mayor poder de negociación 	</a:t>
                      </a:r>
                    </a:p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Especialización determinada por el </a:t>
                      </a:r>
                      <a:r>
                        <a:rPr kumimoji="0" lang="es-AR" sz="18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derribamiento</a:t>
                      </a: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de barreras proteccionistas 	</a:t>
                      </a:r>
                    </a:p>
                    <a:p>
                      <a:pPr marL="263525" marR="0" indent="-179388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Eficiencia productiva y expansión industrial 	</a:t>
                      </a:r>
                    </a:p>
                    <a:p>
                      <a:pPr algn="ctr"/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363" marR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endParaRPr kumimoji="0" lang="es-AR" sz="18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60363" marR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Pérdida de autonomía, aceptación de instituciones comunes </a:t>
                      </a:r>
                    </a:p>
                    <a:p>
                      <a:pPr marL="360363" marR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pPr marL="360363" marR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Fin para industrias no competitivas 	</a:t>
                      </a:r>
                    </a:p>
                    <a:p>
                      <a:pPr marL="360363" marR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Incremento de disparidades en el desarrollo de cada miembro </a:t>
                      </a:r>
                    </a:p>
                    <a:p>
                      <a:pPr marL="360363" marR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</a:p>
                    <a:p>
                      <a:pPr marL="360363" marR="0" indent="-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8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Importaciones extrazonas más caras 	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de los procesos de integración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395536" y="1916832"/>
          <a:ext cx="8568952" cy="4608512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69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Etapa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Características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Ejemplo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70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1) Mercados </a:t>
                      </a:r>
                      <a:r>
                        <a:rPr kumimoji="0" lang="pt-BR" sz="16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comerciales</a:t>
                      </a:r>
                      <a:r>
                        <a:rPr kumimoji="0" lang="pt-B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6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preferenciales</a:t>
                      </a:r>
                      <a:r>
                        <a:rPr kumimoji="0" lang="pt-B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Áreas o Zonas de </a:t>
                      </a:r>
                      <a:r>
                        <a:rPr kumimoji="0" lang="pt-BR" sz="16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preferencias</a:t>
                      </a:r>
                      <a:r>
                        <a:rPr kumimoji="0" lang="pt-B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pt-BR" sz="16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arancelarias</a:t>
                      </a:r>
                      <a:r>
                        <a:rPr kumimoji="0" lang="pt-B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0" lang="es-AR" sz="1600" b="1" i="1" kern="1200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Arial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Disminución de barreras al comercio entre los miembros del proceso. Los distintos aranceles disminuyen dentro de una lista taxativa.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British Commonwealth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1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 Área o Zona de Libre Comercio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Eliminación total de las barreras al comercio entre los países miembros, conservando cada uno de ellos las condiciones de negociación con aquellos no asociados.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EFTA (</a:t>
                      </a:r>
                      <a:r>
                        <a:rPr kumimoji="0" lang="es-AR" sz="16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European</a:t>
                      </a: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Free </a:t>
                      </a:r>
                      <a:r>
                        <a:rPr kumimoji="0" lang="es-AR" sz="16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Trade</a:t>
                      </a: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s-AR" sz="1600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Association</a:t>
                      </a: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3) Unión Aduanera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Los miembros de este proceso aplican aranceles comunes al resto, mientras que entre ellos eliminan barreras comerciales y aranceles, sintetizando AEC (arancel externo común para 3°) y “0” (arancel cero entre ellos)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CEE (Comunidad Económica Europea </a:t>
                      </a:r>
                    </a:p>
                    <a:p>
                      <a:pPr algn="ctr"/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ZOLVEREIN (Unión Aduanera Alemana)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Características de los procesos de integración</a:t>
            </a:r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A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s-A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3017838" cy="7938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graphicFrame>
        <p:nvGraphicFramePr>
          <p:cNvPr id="11" name="10 Tabla"/>
          <p:cNvGraphicFramePr>
            <a:graphicFrameLocks noGrp="1"/>
          </p:cNvGraphicFramePr>
          <p:nvPr/>
        </p:nvGraphicFramePr>
        <p:xfrm>
          <a:off x="395536" y="1916832"/>
          <a:ext cx="8568952" cy="4608512"/>
        </p:xfrm>
        <a:graphic>
          <a:graphicData uri="http://schemas.openxmlformats.org/drawingml/2006/table">
            <a:tbl>
              <a:tblPr/>
              <a:tblGrid>
                <a:gridCol w="2592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696">
                <a:tc>
                  <a:txBody>
                    <a:bodyPr/>
                    <a:lstStyle/>
                    <a:p>
                      <a:pPr marL="0" algn="ctr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Etapa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Características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kumimoji="0" lang="es-AR" sz="1800" b="1" i="1" kern="1200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Arial"/>
                          <a:cs typeface="Times New Roman"/>
                        </a:rPr>
                        <a:t>Ejemplo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4704">
                <a:tc>
                  <a:txBody>
                    <a:bodyPr/>
                    <a:lstStyle/>
                    <a:p>
                      <a:pPr algn="ctr"/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4) Mercado Común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Agrega al proceso anterior, el libre movimiento de los factores de la producción, tierra, capital, trabajo.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Mercosur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1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5) Unión Económica 	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Anexa al escalón anterior, unificación de políticas fiscales, financieras y monetarias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UNION EUROPEA (Eurozona)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417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6) Integración económica total 	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Unificación de políticas fiscales y monetarias, símbolos patrios, pérdida de soberanía, una autoridad supranacional, en pos de un espacio global universal. 	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 existen hasta el momento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br>
              <a:rPr lang="es-AR" dirty="0"/>
            </a:br>
            <a:r>
              <a:rPr lang="es-AR" b="1" dirty="0"/>
              <a:t>Cooperación internacional</a:t>
            </a:r>
            <a:endParaRPr lang="es-A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691680" y="2204864"/>
            <a:ext cx="6624736" cy="36625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i="1" dirty="0"/>
              <a:t>“</a:t>
            </a:r>
            <a:r>
              <a:rPr lang="es-AR" sz="2400" dirty="0"/>
              <a:t>la </a:t>
            </a:r>
            <a:r>
              <a:rPr lang="es-AR" sz="2400" b="1" dirty="0"/>
              <a:t>Cooperación Internacional </a:t>
            </a:r>
            <a:r>
              <a:rPr lang="es-AR" sz="2400" dirty="0"/>
              <a:t>es un Conjunto de acciones y herramientas de carácter internacional orientadas a movilizar recursos e intercambiar experiencias para alcanzar metas comunes, con criterios de solidaridad, equidad, eficacia, sostenibilidad, corresponsabilidad e interés mutuo.”</a:t>
            </a:r>
            <a:endParaRPr lang="es-AR" sz="2800" i="1" dirty="0"/>
          </a:p>
          <a:p>
            <a:pPr algn="just"/>
            <a:endParaRPr lang="es-AR" sz="2800" i="1" dirty="0"/>
          </a:p>
          <a:p>
            <a:pPr algn="just"/>
            <a:r>
              <a:rPr lang="es-AR" sz="1600" dirty="0"/>
              <a:t>Diccionario de la Lengua Española de la RAE. Vigésima Segunda Edición</a:t>
            </a:r>
            <a:endParaRPr lang="es-AR" sz="2800" i="1" dirty="0"/>
          </a:p>
        </p:txBody>
      </p:sp>
      <p:pic>
        <p:nvPicPr>
          <p:cNvPr id="6" name="0 Imagen" descr="comillas.pn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683568" y="2204864"/>
            <a:ext cx="720080" cy="648072"/>
          </a:xfrm>
          <a:prstGeom prst="rect">
            <a:avLst/>
          </a:prstGeom>
        </p:spPr>
      </p:pic>
      <p:cxnSp>
        <p:nvCxnSpPr>
          <p:cNvPr id="7" name="6 Conector recto"/>
          <p:cNvCxnSpPr/>
          <p:nvPr/>
        </p:nvCxnSpPr>
        <p:spPr>
          <a:xfrm>
            <a:off x="1475656" y="2132856"/>
            <a:ext cx="0" cy="367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 fontScale="90000"/>
          </a:bodyPr>
          <a:lstStyle/>
          <a:p>
            <a:pPr algn="ctr"/>
            <a:br>
              <a:rPr lang="es-AR" dirty="0"/>
            </a:br>
            <a:r>
              <a:rPr lang="es-AR" b="1" dirty="0"/>
              <a:t>Cooperación internacional</a:t>
            </a:r>
            <a:endParaRPr lang="es-A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691680" y="2204864"/>
            <a:ext cx="662473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000" i="1" dirty="0"/>
              <a:t>“</a:t>
            </a:r>
            <a:r>
              <a:rPr lang="es-AR" sz="2000" dirty="0"/>
              <a:t>La cooperación internacional se refiere al apoyo que se prestan dos o más agentes del contexto internacional (gobiernos de distintos países, empresas, </a:t>
            </a:r>
            <a:r>
              <a:rPr lang="es-AR" sz="2000" dirty="0" err="1"/>
              <a:t>ONGs</a:t>
            </a:r>
            <a:r>
              <a:rPr lang="es-AR" sz="2000" dirty="0"/>
              <a:t>, etc.) con el fin de promover el desarrollo económico y/o social.</a:t>
            </a:r>
          </a:p>
          <a:p>
            <a:pPr algn="just"/>
            <a:r>
              <a:rPr lang="es-AR" sz="2000" dirty="0"/>
              <a:t>La cooperación internacional consiste generalmente en la transferencia o préstamo de recursos valiosos (como tecnología, dinero, asistencia técnica, etc.) con el fin de que el destinatario pueda superar problemas puntuales o potenciar su desarrollo.”</a:t>
            </a:r>
            <a:endParaRPr lang="es-AR" sz="2000" i="1" dirty="0"/>
          </a:p>
          <a:p>
            <a:pPr algn="just"/>
            <a:endParaRPr lang="es-AR" sz="2800" i="1" dirty="0"/>
          </a:p>
          <a:p>
            <a:pPr algn="just"/>
            <a:r>
              <a:rPr lang="es-AR" sz="1600" dirty="0"/>
              <a:t>economipedia.com</a:t>
            </a:r>
            <a:endParaRPr lang="es-AR" sz="2800" i="1" dirty="0"/>
          </a:p>
        </p:txBody>
      </p:sp>
      <p:pic>
        <p:nvPicPr>
          <p:cNvPr id="6" name="0 Imagen" descr="comillas.png"/>
          <p:cNvPicPr/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</a:blip>
          <a:stretch>
            <a:fillRect/>
          </a:stretch>
        </p:blipFill>
        <p:spPr>
          <a:xfrm>
            <a:off x="683568" y="2204864"/>
            <a:ext cx="720080" cy="648072"/>
          </a:xfrm>
          <a:prstGeom prst="rect">
            <a:avLst/>
          </a:prstGeom>
        </p:spPr>
      </p:pic>
      <p:cxnSp>
        <p:nvCxnSpPr>
          <p:cNvPr id="7" name="6 Conector recto"/>
          <p:cNvCxnSpPr/>
          <p:nvPr/>
        </p:nvCxnSpPr>
        <p:spPr>
          <a:xfrm>
            <a:off x="1475656" y="2132856"/>
            <a:ext cx="0" cy="36724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Sistema de cooperación</a:t>
            </a:r>
            <a:endParaRPr lang="es-A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323528" y="1988840"/>
          <a:ext cx="8640960" cy="3966944"/>
        </p:xfrm>
        <a:graphic>
          <a:graphicData uri="http://schemas.openxmlformats.org/drawingml/2006/table">
            <a:tbl>
              <a:tblPr/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6224">
                <a:tc>
                  <a:txBody>
                    <a:bodyPr/>
                    <a:lstStyle/>
                    <a:p>
                      <a:pPr algn="ctr"/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 de fuente cooperante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b="1" dirty="0"/>
                        <a:t>Cooperación Oficial  </a:t>
                      </a:r>
                      <a:r>
                        <a:rPr lang="es-AR" sz="1600" dirty="0"/>
                        <a:t>(bilateral, multilateral, ha través de las agencias de cooperación internacional de los demás países) 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b="1" dirty="0"/>
                        <a:t>Cooperación no Oficial </a:t>
                      </a:r>
                      <a:r>
                        <a:rPr lang="es-AR" sz="1600" dirty="0"/>
                        <a:t>(Organismos no gubernamentales, fundaciones, etc.)</a:t>
                      </a: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b="1" dirty="0"/>
                        <a:t>Entidades Internacionales Extranjeras de Cooperación Internacional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815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Modalidad de cooperación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AR" sz="16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6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Vertical: </a:t>
                      </a:r>
                      <a:r>
                        <a:rPr lang="es-AR" sz="1600" dirty="0"/>
                        <a:t>cuando la cooperación internacional es de un país desarrollado hacia un país subdesarrollado. </a:t>
                      </a:r>
                      <a:endParaRPr kumimoji="0" lang="es-AR" sz="16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6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horizontal: </a:t>
                      </a:r>
                      <a:r>
                        <a:rPr lang="es-AR" sz="1600" dirty="0"/>
                        <a:t>cuando la cooperación se da entre países en vías de desarrollo, </a:t>
                      </a:r>
                      <a:endParaRPr kumimoji="0" lang="es-AR" sz="16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s-AR" sz="1600" b="1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Triangular : </a:t>
                      </a:r>
                      <a:r>
                        <a:rPr lang="es-AR" sz="1600" dirty="0"/>
                        <a:t>cuando un país es el vehículo de la cooperación de un país desarrollado hacia uno en vías de desarrollo. </a:t>
                      </a:r>
                      <a:endParaRPr kumimoji="0" lang="es-AR" sz="1600" b="1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512" y="778024"/>
            <a:ext cx="8784976" cy="1066800"/>
          </a:xfrm>
        </p:spPr>
        <p:txBody>
          <a:bodyPr>
            <a:normAutofit/>
          </a:bodyPr>
          <a:lstStyle/>
          <a:p>
            <a:pPr algn="ctr"/>
            <a:r>
              <a:rPr lang="es-AR" dirty="0"/>
              <a:t>Sistema de cooperación</a:t>
            </a:r>
            <a:endParaRPr lang="es-A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8" name="7 Tabla"/>
          <p:cNvGraphicFramePr>
            <a:graphicFrameLocks noGrp="1"/>
          </p:cNvGraphicFramePr>
          <p:nvPr/>
        </p:nvGraphicFramePr>
        <p:xfrm>
          <a:off x="323528" y="1817440"/>
          <a:ext cx="8640960" cy="4851920"/>
        </p:xfrm>
        <a:graphic>
          <a:graphicData uri="http://schemas.openxmlformats.org/drawingml/2006/table">
            <a:tbl>
              <a:tblPr/>
              <a:tblGrid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8122">
                <a:tc>
                  <a:txBody>
                    <a:bodyPr/>
                    <a:lstStyle/>
                    <a:p>
                      <a:pPr algn="ctr"/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Tipos de cooperación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/>
                        <a:t>Cooperación Técnica, la Cooperación Financiera/económica, la Cooperación Científica, la Cooperación Tecnológica, la Cooperación Cultural, las Preferencias arancelarias, entre otros.</a:t>
                      </a:r>
                      <a:endParaRPr lang="es-AR" sz="1600" b="1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85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Modalidad de cooperación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s-AR" sz="1600" dirty="0"/>
                        <a:t>Los Proyectos, los Programas, las Donaciones, el Asesoramiento, las Capacitaciones, las Becas, los Fondos Contravalor, los Fondos </a:t>
                      </a:r>
                      <a:r>
                        <a:rPr lang="es-AR" sz="1600" dirty="0" err="1"/>
                        <a:t>Concursables</a:t>
                      </a:r>
                      <a:r>
                        <a:rPr lang="es-AR" sz="1600" dirty="0"/>
                        <a:t>. </a:t>
                      </a:r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832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Instrumentos de cooperación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s-AR" sz="1600" dirty="0"/>
                        <a:t>Los Convenios o Acuerdos (marco, especifico, otros), Memorándum de entendimiento, Nota Diplomática, Intercambio de Notas, entre otros.</a:t>
                      </a:r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695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AR" sz="1600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Proceso de cooperación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s-AR" sz="1600" dirty="0"/>
                        <a:t>Generación de Políticas, Investigación, Intercambio de bienes y servicios, Transferencia Tecnológica y Generación de Competencias y capacidades</a:t>
                      </a:r>
                      <a:endParaRPr kumimoji="0" lang="es-AR" sz="1600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620688"/>
            <a:ext cx="8352928" cy="1066800"/>
          </a:xfrm>
        </p:spPr>
        <p:txBody>
          <a:bodyPr/>
          <a:lstStyle/>
          <a:p>
            <a:pPr algn="ctr"/>
            <a:r>
              <a:rPr lang="es-A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¿Preguntas?</a:t>
            </a:r>
          </a:p>
        </p:txBody>
      </p:sp>
      <p:pic>
        <p:nvPicPr>
          <p:cNvPr id="6" name="5 Imagen" descr="consultas.pn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 contrast="40000"/>
          </a:blip>
          <a:stretch>
            <a:fillRect/>
          </a:stretch>
        </p:blipFill>
        <p:spPr>
          <a:xfrm>
            <a:off x="2843808" y="1700808"/>
            <a:ext cx="4248472" cy="4248472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o">
  <a:themeElements>
    <a:clrScheme name="Urbano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o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1569</TotalTime>
  <Words>1087</Words>
  <Application>Microsoft Office PowerPoint</Application>
  <PresentationFormat>Presentación en pantalla (4:3)</PresentationFormat>
  <Paragraphs>114</Paragraphs>
  <Slides>14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1" baseType="lpstr">
      <vt:lpstr>Arial</vt:lpstr>
      <vt:lpstr>Calibri</vt:lpstr>
      <vt:lpstr>Georgia</vt:lpstr>
      <vt:lpstr>Trebuchet MS</vt:lpstr>
      <vt:lpstr>Wingdings</vt:lpstr>
      <vt:lpstr>Wingdings 2</vt:lpstr>
      <vt:lpstr>Urbano</vt:lpstr>
      <vt:lpstr>COMERCIO EXTERIOR</vt:lpstr>
      <vt:lpstr>Teorías de integración</vt:lpstr>
      <vt:lpstr> Procesos de integración económica</vt:lpstr>
      <vt:lpstr> Procesos de integración económica</vt:lpstr>
      <vt:lpstr>Características de los procesos de integración</vt:lpstr>
      <vt:lpstr> Organización del comercio e integración</vt:lpstr>
      <vt:lpstr>Ventajas y desventajas de los procesos de integración</vt:lpstr>
      <vt:lpstr>Características de los procesos de integración</vt:lpstr>
      <vt:lpstr>Características de los procesos de integración</vt:lpstr>
      <vt:lpstr> Cooperación internacional</vt:lpstr>
      <vt:lpstr> Cooperación internacional</vt:lpstr>
      <vt:lpstr>Sistema de cooperación</vt:lpstr>
      <vt:lpstr>Sistema de cooperación</vt:lpstr>
      <vt:lpstr>¿Preguntas?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Políticas de comercio exterior</dc:title>
  <dc:creator>pecera</dc:creator>
  <cp:lastModifiedBy>Patricia Tilli</cp:lastModifiedBy>
  <cp:revision>138</cp:revision>
  <dcterms:created xsi:type="dcterms:W3CDTF">2020-04-08T19:51:48Z</dcterms:created>
  <dcterms:modified xsi:type="dcterms:W3CDTF">2021-07-19T21:07:57Z</dcterms:modified>
</cp:coreProperties>
</file>