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7" r:id="rId2"/>
    <p:sldId id="267" r:id="rId3"/>
    <p:sldId id="271" r:id="rId4"/>
    <p:sldId id="270" r:id="rId5"/>
    <p:sldId id="272" r:id="rId6"/>
    <p:sldId id="276" r:id="rId7"/>
    <p:sldId id="273" r:id="rId8"/>
    <p:sldId id="274" r:id="rId9"/>
    <p:sldId id="265" r:id="rId10"/>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ia Tilli" userId="6fd68fabbfff9c24" providerId="LiveId" clId="{7923B18F-2971-4163-A518-8BA579FBE390}"/>
    <pc:docChg chg="modSld">
      <pc:chgData name="Patricia Tilli" userId="6fd68fabbfff9c24" providerId="LiveId" clId="{7923B18F-2971-4163-A518-8BA579FBE390}" dt="2021-07-19T21:07:22.695" v="0" actId="20577"/>
      <pc:docMkLst>
        <pc:docMk/>
      </pc:docMkLst>
      <pc:sldChg chg="modSp mod">
        <pc:chgData name="Patricia Tilli" userId="6fd68fabbfff9c24" providerId="LiveId" clId="{7923B18F-2971-4163-A518-8BA579FBE390}" dt="2021-07-19T21:07:22.695" v="0" actId="20577"/>
        <pc:sldMkLst>
          <pc:docMk/>
          <pc:sldMk cId="0" sldId="257"/>
        </pc:sldMkLst>
        <pc:spChg chg="mod">
          <ac:chgData name="Patricia Tilli" userId="6fd68fabbfff9c24" providerId="LiveId" clId="{7923B18F-2971-4163-A518-8BA579FBE390}" dt="2021-07-19T21:07:22.695" v="0" actId="20577"/>
          <ac:spMkLst>
            <pc:docMk/>
            <pc:sldMk cId="0" sldId="257"/>
            <ac:spMk id="1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3" name="22 Rectángulo"/>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23 Rectángulo"/>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24 Rectángulo"/>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25 Rectángulo"/>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26 Rectángulo"/>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29 Rectángulo redondeado"/>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30 Rectángulo redondeado"/>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6 Rectángulo"/>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a:xfrm>
            <a:off x="6705600" y="4206240"/>
            <a:ext cx="960120" cy="457200"/>
          </a:xfrm>
        </p:spPr>
        <p:txBody>
          <a:bodyPr/>
          <a:lstStyle/>
          <a:p>
            <a:fld id="{D64906E9-39F7-443D-ADBC-FFF078A3B455}" type="datetimeFigureOut">
              <a:rPr lang="es-AR" smtClean="0"/>
              <a:pPr/>
              <a:t>19/7/2021</a:t>
            </a:fld>
            <a:endParaRPr lang="es-AR"/>
          </a:p>
        </p:txBody>
      </p:sp>
      <p:sp>
        <p:nvSpPr>
          <p:cNvPr id="17" name="16 Marcador de pie de página"/>
          <p:cNvSpPr>
            <a:spLocks noGrp="1"/>
          </p:cNvSpPr>
          <p:nvPr>
            <p:ph type="ftr" sz="quarter" idx="11"/>
          </p:nvPr>
        </p:nvSpPr>
        <p:spPr>
          <a:xfrm>
            <a:off x="5410200" y="4205288"/>
            <a:ext cx="1295400" cy="457200"/>
          </a:xfrm>
        </p:spPr>
        <p:txBody>
          <a:bodyPr/>
          <a:lstStyle/>
          <a:p>
            <a:endParaRPr lang="es-AR"/>
          </a:p>
        </p:txBody>
      </p:sp>
      <p:sp>
        <p:nvSpPr>
          <p:cNvPr id="29" name="28 Marcador de número de diapositiva"/>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C834394E-5454-4430-BC7B-B2391CD2819A}" type="slidenum">
              <a:rPr lang="es-AR" smtClean="0"/>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381000" y="1143000"/>
            <a:ext cx="8382000" cy="1069848"/>
          </a:xfrm>
        </p:spPr>
        <p:txBody>
          <a:bodyPr anchor="ctr"/>
          <a:lstStyle>
            <a:lvl1pPr>
              <a:defRPr sz="4000" b="0" i="0" cap="none" baseline="0"/>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26" name="25 Marcador de fecha"/>
          <p:cNvSpPr>
            <a:spLocks noGrp="1"/>
          </p:cNvSpPr>
          <p:nvPr>
            <p:ph type="dt" sz="half" idx="10"/>
          </p:nvPr>
        </p:nvSpPr>
        <p:spPr/>
        <p:txBody>
          <a:bodyPr rtlCol="0"/>
          <a:lstStyle/>
          <a:p>
            <a:fld id="{D64906E9-39F7-443D-ADBC-FFF078A3B455}" type="datetimeFigureOut">
              <a:rPr lang="es-AR" smtClean="0"/>
              <a:pPr/>
              <a:t>19/7/2021</a:t>
            </a:fld>
            <a:endParaRPr lang="es-AR"/>
          </a:p>
        </p:txBody>
      </p:sp>
      <p:sp>
        <p:nvSpPr>
          <p:cNvPr id="27" name="26 Marcador de número de diapositiva"/>
          <p:cNvSpPr>
            <a:spLocks noGrp="1"/>
          </p:cNvSpPr>
          <p:nvPr>
            <p:ph type="sldNum" sz="quarter" idx="11"/>
          </p:nvPr>
        </p:nvSpPr>
        <p:spPr/>
        <p:txBody>
          <a:bodyPr rtlCol="0"/>
          <a:lstStyle/>
          <a:p>
            <a:fld id="{C834394E-5454-4430-BC7B-B2391CD2819A}" type="slidenum">
              <a:rPr lang="es-AR" smtClean="0"/>
              <a:pPr/>
              <a:t>‹Nº›</a:t>
            </a:fld>
            <a:endParaRPr lang="es-AR"/>
          </a:p>
        </p:txBody>
      </p:sp>
      <p:sp>
        <p:nvSpPr>
          <p:cNvPr id="28" name="27 Marcador de pie de página"/>
          <p:cNvSpPr>
            <a:spLocks noGrp="1"/>
          </p:cNvSpPr>
          <p:nvPr>
            <p:ph type="ftr" sz="quarter" idx="12"/>
          </p:nvPr>
        </p:nvSpPr>
        <p:spPr/>
        <p:txBody>
          <a:bodyPr rtlCol="0"/>
          <a:lstStyle/>
          <a:p>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a:xfrm>
            <a:off x="6583680" y="612648"/>
            <a:ext cx="957264" cy="457200"/>
          </a:xfrm>
        </p:spPr>
        <p:txBody>
          <a:bodyPr/>
          <a:lstStyle/>
          <a:p>
            <a:fld id="{D64906E9-39F7-443D-ADBC-FFF078A3B455}" type="datetimeFigureOut">
              <a:rPr lang="es-AR" smtClean="0"/>
              <a:pPr/>
              <a:t>19/7/2021</a:t>
            </a:fld>
            <a:endParaRPr lang="es-AR"/>
          </a:p>
        </p:txBody>
      </p:sp>
      <p:sp>
        <p:nvSpPr>
          <p:cNvPr id="4" name="3 Marcador de pie de página"/>
          <p:cNvSpPr>
            <a:spLocks noGrp="1"/>
          </p:cNvSpPr>
          <p:nvPr>
            <p:ph type="ftr" sz="quarter" idx="11"/>
          </p:nvPr>
        </p:nvSpPr>
        <p:spPr>
          <a:xfrm>
            <a:off x="5257800" y="612648"/>
            <a:ext cx="1325880" cy="457200"/>
          </a:xfrm>
        </p:spPr>
        <p:txBody>
          <a:bodyPr/>
          <a:lstStyle/>
          <a:p>
            <a:endParaRPr lang="es-AR"/>
          </a:p>
        </p:txBody>
      </p:sp>
      <p:sp>
        <p:nvSpPr>
          <p:cNvPr id="5" name="4 Marcador de número de diapositiva"/>
          <p:cNvSpPr>
            <a:spLocks noGrp="1"/>
          </p:cNvSpPr>
          <p:nvPr>
            <p:ph type="sldNum" sz="quarter" idx="12"/>
          </p:nvPr>
        </p:nvSpPr>
        <p:spPr>
          <a:xfrm>
            <a:off x="8174736" y="2272"/>
            <a:ext cx="762000" cy="365760"/>
          </a:xfrm>
        </p:spPr>
        <p:txBody>
          <a:bodyPr/>
          <a:lstStyle/>
          <a:p>
            <a:fld id="{C834394E-5454-4430-BC7B-B2391CD2819A}" type="slidenum">
              <a:rPr lang="es-AR" smtClean="0"/>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353496" y="1101970"/>
            <a:ext cx="3383280" cy="877824"/>
          </a:xfrm>
        </p:spPr>
        <p:txBody>
          <a:bodyPr anchor="b"/>
          <a:lstStyle>
            <a:lvl1pPr algn="l">
              <a:buNone/>
              <a:defRPr sz="1800" b="1"/>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4" name="3 Marcador de contenido"/>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s-ES"/>
              <a:t>Haga clic en el icono para agregar una imagen</a:t>
            </a:r>
            <a:endParaRPr kumimoji="0" lang="en-US" dirty="0"/>
          </a:p>
        </p:txBody>
      </p:sp>
      <p:sp>
        <p:nvSpPr>
          <p:cNvPr id="4" name="3 Marcador de texto"/>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781800" y="1143000"/>
            <a:ext cx="1905000" cy="5486400"/>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1143000"/>
            <a:ext cx="6248400" cy="5486400"/>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64906E9-39F7-443D-ADBC-FFF078A3B455}" type="datetimeFigureOut">
              <a:rPr lang="es-AR" smtClean="0"/>
              <a:pPr/>
              <a:t>19/7/2021</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C834394E-5454-4430-BC7B-B2391CD2819A}" type="slidenum">
              <a:rPr lang="es-AR" smtClean="0"/>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8" name="27 Rectángulo"/>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28 Rectángulo"/>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29 Rectángulo"/>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30 Rectángulo"/>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31 Rectángulo"/>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32 Rectángulo redondeado"/>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33 Rectángulo redondeado"/>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34 Rectángulo"/>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35 Rectángulo"/>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36 Rectángulo"/>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37 Rectángulo"/>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38 Rectángulo"/>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39 Rectángulo"/>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Marcador de título"/>
          <p:cNvSpPr>
            <a:spLocks noGrp="1"/>
          </p:cNvSpPr>
          <p:nvPr>
            <p:ph type="title"/>
          </p:nvPr>
        </p:nvSpPr>
        <p:spPr>
          <a:xfrm>
            <a:off x="457200" y="1143000"/>
            <a:ext cx="8229600" cy="1066800"/>
          </a:xfrm>
          <a:prstGeom prst="rect">
            <a:avLst/>
          </a:prstGeom>
        </p:spPr>
        <p:txBody>
          <a:bodyPr vert="horz" anchor="ctr">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D64906E9-39F7-443D-ADBC-FFF078A3B455}" type="datetimeFigureOut">
              <a:rPr lang="es-AR" smtClean="0"/>
              <a:pPr/>
              <a:t>19/7/2021</a:t>
            </a:fld>
            <a:endParaRPr lang="es-AR"/>
          </a:p>
        </p:txBody>
      </p:sp>
      <p:sp>
        <p:nvSpPr>
          <p:cNvPr id="3" name="2 Marcador de pie de página"/>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s-AR"/>
          </a:p>
        </p:txBody>
      </p:sp>
      <p:sp>
        <p:nvSpPr>
          <p:cNvPr id="23" name="22 Marcador de número de diapositiva"/>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C834394E-5454-4430-BC7B-B2391CD2819A}" type="slidenum">
              <a:rPr lang="es-AR" smtClean="0"/>
              <a:pPr/>
              <a:t>‹Nº›</a:t>
            </a:fld>
            <a:endParaRPr lang="es-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706016"/>
            <a:ext cx="9144000" cy="1066800"/>
          </a:xfrm>
        </p:spPr>
        <p:txBody>
          <a:bodyPr>
            <a:normAutofit/>
          </a:bodyPr>
          <a:lstStyle/>
          <a:p>
            <a:pPr algn="ctr"/>
            <a:r>
              <a:rPr lang="es-AR" sz="4800" dirty="0">
                <a:effectLst>
                  <a:outerShdw blurRad="38100" dist="38100" dir="2700000" algn="tl">
                    <a:srgbClr val="000000">
                      <a:alpha val="43137"/>
                    </a:srgbClr>
                  </a:outerShdw>
                </a:effectLst>
              </a:rPr>
              <a:t>COMERCIO EXTERIOR</a:t>
            </a:r>
          </a:p>
        </p:txBody>
      </p:sp>
      <p:sp>
        <p:nvSpPr>
          <p:cNvPr id="10" name="1 Título"/>
          <p:cNvSpPr txBox="1">
            <a:spLocks/>
          </p:cNvSpPr>
          <p:nvPr/>
        </p:nvSpPr>
        <p:spPr>
          <a:xfrm>
            <a:off x="0" y="1426096"/>
            <a:ext cx="9144000" cy="1066800"/>
          </a:xfrm>
          <a:prstGeom prst="rect">
            <a:avLst/>
          </a:prstGeom>
        </p:spPr>
        <p:txBody>
          <a:bodyPr vert="horz"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AR" sz="2800" i="1" dirty="0">
                <a:solidFill>
                  <a:schemeClr val="tx2"/>
                </a:solidFill>
                <a:effectLst>
                  <a:outerShdw blurRad="38100" dist="38100" dir="2700000" algn="tl">
                    <a:srgbClr val="000000">
                      <a:alpha val="43137"/>
                    </a:srgbClr>
                  </a:outerShdw>
                </a:effectLst>
                <a:latin typeface="+mj-lt"/>
                <a:ea typeface="+mj-ea"/>
                <a:cs typeface="+mj-cs"/>
              </a:rPr>
              <a:t>Relaciones económicas internacionales</a:t>
            </a:r>
            <a:endParaRPr kumimoji="0" lang="es-AR" sz="2800" b="0" i="1"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mj-lt"/>
              <a:ea typeface="+mj-ea"/>
              <a:cs typeface="+mj-cs"/>
            </a:endParaRPr>
          </a:p>
        </p:txBody>
      </p:sp>
      <p:sp>
        <p:nvSpPr>
          <p:cNvPr id="12" name="11 CuadroTexto"/>
          <p:cNvSpPr txBox="1"/>
          <p:nvPr/>
        </p:nvSpPr>
        <p:spPr>
          <a:xfrm>
            <a:off x="0" y="6165304"/>
            <a:ext cx="9144000" cy="400110"/>
          </a:xfrm>
          <a:prstGeom prst="rect">
            <a:avLst/>
          </a:prstGeom>
          <a:noFill/>
        </p:spPr>
        <p:txBody>
          <a:bodyPr wrap="square" rtlCol="0">
            <a:spAutoFit/>
          </a:bodyPr>
          <a:lstStyle/>
          <a:p>
            <a:pPr lvl="0" algn="ctr"/>
            <a:r>
              <a:rPr lang="es-AR" sz="2000" dirty="0">
                <a:solidFill>
                  <a:schemeClr val="accent6">
                    <a:lumMod val="50000"/>
                  </a:schemeClr>
                </a:solidFill>
                <a:effectLst>
                  <a:outerShdw blurRad="38100" dist="38100" dir="2700000" algn="tl">
                    <a:srgbClr val="000000">
                      <a:alpha val="43137"/>
                    </a:srgbClr>
                  </a:outerShdw>
                </a:effectLst>
                <a:latin typeface="+mj-lt"/>
                <a:ea typeface="+mj-ea"/>
                <a:cs typeface="+mj-cs"/>
                <a:sym typeface="Wingdings"/>
              </a:rPr>
              <a:t> </a:t>
            </a:r>
            <a:r>
              <a:rPr lang="es-AR" sz="2000" dirty="0">
                <a:solidFill>
                  <a:schemeClr val="accent6">
                    <a:lumMod val="50000"/>
                  </a:schemeClr>
                </a:solidFill>
                <a:effectLst>
                  <a:outerShdw blurRad="38100" dist="38100" dir="2700000" algn="tl">
                    <a:srgbClr val="000000">
                      <a:alpha val="43137"/>
                    </a:srgbClr>
                  </a:outerShdw>
                </a:effectLst>
                <a:sym typeface="Wingdings"/>
              </a:rPr>
              <a:t> </a:t>
            </a:r>
            <a:r>
              <a:rPr lang="es-AR" sz="2000">
                <a:solidFill>
                  <a:schemeClr val="accent6">
                    <a:lumMod val="50000"/>
                  </a:schemeClr>
                </a:solidFill>
                <a:effectLst>
                  <a:outerShdw blurRad="38100" dist="38100" dir="2700000" algn="tl">
                    <a:srgbClr val="000000">
                      <a:alpha val="43137"/>
                    </a:srgbClr>
                  </a:outerShdw>
                </a:effectLst>
                <a:latin typeface="+mj-lt"/>
                <a:ea typeface="+mj-ea"/>
                <a:cs typeface="+mj-cs"/>
                <a:sym typeface="Wingdings"/>
              </a:rPr>
              <a:t>Módulo VII   </a:t>
            </a:r>
            <a:r>
              <a:rPr lang="es-AR" sz="2000" dirty="0">
                <a:solidFill>
                  <a:schemeClr val="accent6">
                    <a:lumMod val="50000"/>
                  </a:schemeClr>
                </a:solidFill>
                <a:effectLst>
                  <a:outerShdw blurRad="38100" dist="38100" dir="2700000" algn="tl">
                    <a:srgbClr val="000000">
                      <a:alpha val="43137"/>
                    </a:srgbClr>
                  </a:outerShdw>
                </a:effectLst>
                <a:latin typeface="+mj-lt"/>
                <a:ea typeface="+mj-ea"/>
                <a:cs typeface="+mj-cs"/>
                <a:sym typeface="Wingdings"/>
              </a:rPr>
              <a:t>-   parte I</a:t>
            </a:r>
            <a:endParaRPr lang="es-AR" sz="2000" dirty="0">
              <a:solidFill>
                <a:schemeClr val="accent6">
                  <a:lumMod val="50000"/>
                </a:schemeClr>
              </a:solidFill>
              <a:effectLst>
                <a:outerShdw blurRad="38100" dist="38100" dir="2700000" algn="tl">
                  <a:srgbClr val="000000">
                    <a:alpha val="43137"/>
                  </a:srgbClr>
                </a:outerShdw>
              </a:effectLst>
              <a:latin typeface="+mj-lt"/>
              <a:ea typeface="+mj-ea"/>
              <a:cs typeface="+mj-cs"/>
            </a:endParaRPr>
          </a:p>
        </p:txBody>
      </p:sp>
      <p:pic>
        <p:nvPicPr>
          <p:cNvPr id="12290" name="Picture 2" descr="Las Relaciones Internacionales en el siglo XXI - mariacristinarosas.mx"/>
          <p:cNvPicPr>
            <a:picLocks noChangeAspect="1" noChangeArrowheads="1"/>
          </p:cNvPicPr>
          <p:nvPr/>
        </p:nvPicPr>
        <p:blipFill>
          <a:blip r:embed="rId2" cstate="print"/>
          <a:srcRect/>
          <a:stretch>
            <a:fillRect/>
          </a:stretch>
        </p:blipFill>
        <p:spPr bwMode="auto">
          <a:xfrm>
            <a:off x="1763688" y="2420888"/>
            <a:ext cx="5760640" cy="360520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778024"/>
            <a:ext cx="8352928" cy="1066800"/>
          </a:xfrm>
        </p:spPr>
        <p:txBody>
          <a:bodyPr/>
          <a:lstStyle/>
          <a:p>
            <a:pPr algn="ctr"/>
            <a:r>
              <a:rPr lang="es-AR" dirty="0">
                <a:effectLst>
                  <a:outerShdw blurRad="38100" dist="38100" dir="2700000" algn="tl">
                    <a:srgbClr val="000000">
                      <a:alpha val="43137"/>
                    </a:srgbClr>
                  </a:outerShdw>
                </a:effectLst>
              </a:rPr>
              <a:t>Evolución de los mercados</a:t>
            </a:r>
          </a:p>
        </p:txBody>
      </p:sp>
      <p:sp>
        <p:nvSpPr>
          <p:cNvPr id="4" name="Marcador de texto 5"/>
          <p:cNvSpPr txBox="1">
            <a:spLocks/>
          </p:cNvSpPr>
          <p:nvPr/>
        </p:nvSpPr>
        <p:spPr>
          <a:xfrm>
            <a:off x="827584" y="2204864"/>
            <a:ext cx="5760640" cy="4320480"/>
          </a:xfrm>
          <a:prstGeom prst="rect">
            <a:avLst/>
          </a:prstGeom>
        </p:spPr>
        <p:txBody>
          <a:bodyPr>
            <a:normAutofit fontScale="92500" lnSpcReduction="20000"/>
          </a:bodyPr>
          <a:lstStyle/>
          <a:p>
            <a:pPr marL="365760" marR="0" lvl="0" indent="-256032" algn="just" defTabSz="914400" rtl="0" eaLnBrk="1" fontAlgn="auto" latinLnBrk="0" hangingPunct="1">
              <a:lnSpc>
                <a:spcPct val="100000"/>
              </a:lnSpc>
              <a:spcBef>
                <a:spcPts val="300"/>
              </a:spcBef>
              <a:spcAft>
                <a:spcPts val="0"/>
              </a:spcAft>
              <a:buClr>
                <a:schemeClr val="tx1"/>
              </a:buClr>
              <a:buSzTx/>
              <a:buFont typeface="Wingdings" pitchFamily="2" charset="2"/>
              <a:buChar char=""/>
              <a:tabLst/>
              <a:defRPr/>
            </a:pPr>
            <a:r>
              <a:rPr kumimoji="0" lang="es-ES" sz="2000" i="1" u="none" strike="noStrike" kern="1200" cap="none" spc="0" normalizeH="0" baseline="0" noProof="0" dirty="0">
                <a:ln>
                  <a:noFill/>
                </a:ln>
                <a:solidFill>
                  <a:schemeClr val="tx1"/>
                </a:solidFill>
                <a:effectLst/>
                <a:uLnTx/>
                <a:uFillTx/>
                <a:ea typeface="+mn-ea"/>
                <a:cs typeface="+mn-cs"/>
              </a:rPr>
              <a:t>  </a:t>
            </a:r>
            <a:r>
              <a:rPr kumimoji="0" lang="es-ES" sz="2000" b="1" i="1" u="none" strike="noStrike" kern="1200" cap="none" spc="0" normalizeH="0" baseline="0" noProof="0" dirty="0">
                <a:ln>
                  <a:noFill/>
                </a:ln>
                <a:solidFill>
                  <a:schemeClr val="tx1"/>
                </a:solidFill>
                <a:effectLst/>
                <a:uLnTx/>
                <a:uFillTx/>
                <a:ea typeface="+mn-ea"/>
                <a:cs typeface="+mn-cs"/>
              </a:rPr>
              <a:t>Ruta a las Indias</a:t>
            </a:r>
          </a:p>
          <a:p>
            <a:pPr marL="365760" marR="0" lvl="0" indent="-256032" algn="just" defTabSz="914400" rtl="0" eaLnBrk="1" fontAlgn="auto" latinLnBrk="0" hangingPunct="1">
              <a:lnSpc>
                <a:spcPct val="100000"/>
              </a:lnSpc>
              <a:spcBef>
                <a:spcPts val="300"/>
              </a:spcBef>
              <a:spcAft>
                <a:spcPts val="0"/>
              </a:spcAft>
              <a:buClr>
                <a:schemeClr val="accent3"/>
              </a:buClr>
              <a:buSzTx/>
              <a:buFont typeface="Wingdings" pitchFamily="2" charset="2"/>
              <a:buChar char="¤"/>
              <a:tabLst/>
              <a:defRPr/>
            </a:pPr>
            <a:endParaRPr kumimoji="0" lang="es-ES" sz="2000" b="1" i="1" u="none" strike="noStrike" kern="1200" cap="none" spc="0" normalizeH="0" baseline="0" noProof="0" dirty="0">
              <a:ln>
                <a:noFill/>
              </a:ln>
              <a:solidFill>
                <a:schemeClr val="tx1"/>
              </a:solidFill>
              <a:effectLst/>
              <a:uLnTx/>
              <a:uFillTx/>
              <a:ea typeface="+mn-ea"/>
              <a:cs typeface="+mn-cs"/>
            </a:endParaRPr>
          </a:p>
          <a:p>
            <a:pPr marL="365760" indent="-256032" algn="just">
              <a:spcBef>
                <a:spcPts val="300"/>
              </a:spcBef>
              <a:buClr>
                <a:schemeClr val="tx1"/>
              </a:buClr>
              <a:buFont typeface="Wingdings" pitchFamily="2" charset="2"/>
              <a:buChar char=""/>
              <a:defRPr/>
            </a:pPr>
            <a:r>
              <a:rPr lang="es-ES" sz="2100" b="1" i="1" dirty="0"/>
              <a:t> Colonización de América</a:t>
            </a:r>
          </a:p>
          <a:p>
            <a:pPr marL="365760" marR="0" lvl="0" indent="-256032" algn="just" defTabSz="914400" rtl="0" eaLnBrk="1" fontAlgn="auto" latinLnBrk="0" hangingPunct="1">
              <a:lnSpc>
                <a:spcPct val="100000"/>
              </a:lnSpc>
              <a:spcBef>
                <a:spcPts val="300"/>
              </a:spcBef>
              <a:spcAft>
                <a:spcPts val="0"/>
              </a:spcAft>
              <a:buClr>
                <a:schemeClr val="accent3"/>
              </a:buClr>
              <a:buSzTx/>
              <a:buFont typeface="Wingdings" pitchFamily="2" charset="2"/>
              <a:buChar char="¤"/>
              <a:tabLst/>
              <a:defRPr/>
            </a:pPr>
            <a:endParaRPr kumimoji="0" lang="es-ES" sz="2000" b="1" i="1" u="none" strike="noStrike" kern="1200" cap="none" spc="0" normalizeH="0" baseline="0" dirty="0">
              <a:ln>
                <a:noFill/>
              </a:ln>
              <a:solidFill>
                <a:schemeClr val="tx1"/>
              </a:solidFill>
              <a:effectLst/>
              <a:uLnTx/>
              <a:uFillTx/>
              <a:ea typeface="+mn-ea"/>
              <a:cs typeface="+mn-cs"/>
            </a:endParaRPr>
          </a:p>
          <a:p>
            <a:pPr marL="365760" marR="0" lvl="0" indent="-256032" algn="just" fontAlgn="auto">
              <a:spcBef>
                <a:spcPts val="300"/>
              </a:spcBef>
              <a:spcAft>
                <a:spcPts val="0"/>
              </a:spcAft>
              <a:buClr>
                <a:schemeClr val="tx1"/>
              </a:buClr>
              <a:buSzTx/>
              <a:buFont typeface="Wingdings" pitchFamily="2" charset="2"/>
              <a:buChar char=""/>
              <a:tabLst/>
              <a:defRPr/>
            </a:pPr>
            <a:r>
              <a:rPr lang="es-ES" sz="2100" b="1" i="1" dirty="0"/>
              <a:t>Revolución industrial  </a:t>
            </a:r>
          </a:p>
          <a:p>
            <a:pPr marL="822960" lvl="1" indent="-256032" algn="just">
              <a:spcBef>
                <a:spcPts val="300"/>
              </a:spcBef>
              <a:buClr>
                <a:schemeClr val="accent3"/>
              </a:buClr>
              <a:buFont typeface="Wingdings" pitchFamily="2" charset="2"/>
              <a:buChar char="¤"/>
              <a:defRPr/>
            </a:pPr>
            <a:r>
              <a:rPr kumimoji="0" lang="es-ES" sz="2000" b="1" i="1" u="none" strike="noStrike" kern="1200" cap="none" spc="0" normalizeH="0" baseline="0" dirty="0">
                <a:ln>
                  <a:noFill/>
                </a:ln>
                <a:solidFill>
                  <a:schemeClr val="tx1"/>
                </a:solidFill>
                <a:effectLst/>
                <a:uLnTx/>
                <a:uFillTx/>
                <a:ea typeface="+mn-ea"/>
                <a:cs typeface="+mn-cs"/>
              </a:rPr>
              <a:t> </a:t>
            </a:r>
            <a:r>
              <a:rPr kumimoji="0" lang="es-ES" sz="2000" i="1" u="none" strike="noStrike" kern="1200" cap="none" spc="0" normalizeH="0" baseline="0" dirty="0">
                <a:ln>
                  <a:noFill/>
                </a:ln>
                <a:solidFill>
                  <a:schemeClr val="tx1"/>
                </a:solidFill>
                <a:effectLst/>
                <a:uLnTx/>
                <a:uFillTx/>
                <a:ea typeface="+mn-ea"/>
                <a:cs typeface="+mn-cs"/>
              </a:rPr>
              <a:t>Nuevos</a:t>
            </a:r>
            <a:r>
              <a:rPr kumimoji="0" lang="es-ES" sz="2000" i="1" u="none" strike="noStrike" kern="1200" cap="none" spc="0" normalizeH="0" dirty="0">
                <a:ln>
                  <a:noFill/>
                </a:ln>
                <a:solidFill>
                  <a:schemeClr val="tx1"/>
                </a:solidFill>
                <a:effectLst/>
                <a:uLnTx/>
                <a:uFillTx/>
                <a:ea typeface="+mn-ea"/>
                <a:cs typeface="+mn-cs"/>
              </a:rPr>
              <a:t> medios de transporte</a:t>
            </a:r>
          </a:p>
          <a:p>
            <a:pPr marL="822960" lvl="1" indent="-256032" algn="just">
              <a:spcBef>
                <a:spcPts val="300"/>
              </a:spcBef>
              <a:buClr>
                <a:schemeClr val="accent3"/>
              </a:buClr>
              <a:buFont typeface="Wingdings" pitchFamily="2" charset="2"/>
              <a:buChar char="¤"/>
              <a:defRPr/>
            </a:pPr>
            <a:r>
              <a:rPr lang="es-ES" sz="2000" i="1" baseline="0" noProof="0" dirty="0"/>
              <a:t> Explotación del</a:t>
            </a:r>
            <a:r>
              <a:rPr lang="es-ES" sz="2000" i="1" noProof="0" dirty="0"/>
              <a:t> carbón y acero</a:t>
            </a:r>
          </a:p>
          <a:p>
            <a:pPr marL="822960" lvl="1" indent="-256032" algn="just">
              <a:spcBef>
                <a:spcPts val="300"/>
              </a:spcBef>
              <a:buClr>
                <a:schemeClr val="accent3"/>
              </a:buClr>
              <a:buFont typeface="Wingdings" pitchFamily="2" charset="2"/>
              <a:buChar char="¤"/>
              <a:defRPr/>
            </a:pPr>
            <a:endParaRPr kumimoji="0" lang="es-ES" sz="2000" i="1" u="none" strike="noStrike" kern="1200" cap="none" spc="0" normalizeH="0" baseline="0" dirty="0">
              <a:ln>
                <a:noFill/>
              </a:ln>
              <a:solidFill>
                <a:schemeClr val="tx1"/>
              </a:solidFill>
              <a:effectLst/>
              <a:uLnTx/>
              <a:uFillTx/>
              <a:ea typeface="+mn-ea"/>
              <a:cs typeface="+mn-cs"/>
            </a:endParaRPr>
          </a:p>
          <a:p>
            <a:pPr marL="365760" indent="-256032" algn="just">
              <a:spcBef>
                <a:spcPts val="300"/>
              </a:spcBef>
              <a:buClr>
                <a:schemeClr val="tx1"/>
              </a:buClr>
              <a:buFont typeface="Wingdings" pitchFamily="2" charset="2"/>
              <a:buChar char=""/>
              <a:defRPr/>
            </a:pPr>
            <a:r>
              <a:rPr lang="es-ES" sz="2100" b="1" i="1" dirty="0"/>
              <a:t> Nuevos mercados </a:t>
            </a:r>
          </a:p>
          <a:p>
            <a:pPr marL="822960" lvl="1" indent="-256032" algn="just">
              <a:spcBef>
                <a:spcPts val="300"/>
              </a:spcBef>
              <a:buClr>
                <a:schemeClr val="accent3"/>
              </a:buClr>
              <a:buFont typeface="Wingdings" pitchFamily="2" charset="2"/>
              <a:buChar char="¤"/>
              <a:defRPr/>
            </a:pPr>
            <a:r>
              <a:rPr lang="es-ES" sz="2000" i="1" dirty="0"/>
              <a:t>Medio oriente (petróleo)</a:t>
            </a:r>
          </a:p>
          <a:p>
            <a:pPr marL="822960" lvl="1" indent="-256032" algn="just">
              <a:spcBef>
                <a:spcPts val="300"/>
              </a:spcBef>
              <a:buClr>
                <a:schemeClr val="accent3"/>
              </a:buClr>
              <a:buFont typeface="Wingdings" pitchFamily="2" charset="2"/>
              <a:buChar char="¤"/>
              <a:defRPr/>
            </a:pPr>
            <a:r>
              <a:rPr lang="es-ES" sz="2000" i="1" dirty="0"/>
              <a:t> Japón, China, etc. </a:t>
            </a:r>
          </a:p>
          <a:p>
            <a:pPr marL="365760" indent="-256032" algn="just">
              <a:spcBef>
                <a:spcPts val="300"/>
              </a:spcBef>
              <a:buClr>
                <a:schemeClr val="accent3"/>
              </a:buClr>
              <a:buFont typeface="Wingdings" pitchFamily="2" charset="2"/>
              <a:buChar char="¤"/>
              <a:defRPr/>
            </a:pPr>
            <a:endParaRPr kumimoji="0" lang="es-ES" sz="2000" i="1" u="none" strike="noStrike" kern="1200" cap="none" spc="0" normalizeH="0" baseline="0" noProof="0" dirty="0">
              <a:ln>
                <a:noFill/>
              </a:ln>
              <a:solidFill>
                <a:schemeClr val="tx1"/>
              </a:solidFill>
              <a:effectLst/>
              <a:uLnTx/>
              <a:uFillTx/>
              <a:ea typeface="+mn-ea"/>
              <a:cs typeface="+mn-cs"/>
            </a:endParaRPr>
          </a:p>
          <a:p>
            <a:pPr marL="365760" indent="-256032" algn="just">
              <a:spcBef>
                <a:spcPts val="300"/>
              </a:spcBef>
              <a:buClr>
                <a:schemeClr val="tx1"/>
              </a:buClr>
              <a:buFont typeface="Wingdings" pitchFamily="2" charset="2"/>
              <a:buChar char=""/>
              <a:defRPr/>
            </a:pPr>
            <a:r>
              <a:rPr lang="es-ES" sz="2100" b="1" i="1" dirty="0"/>
              <a:t>Nuevas teorías</a:t>
            </a:r>
          </a:p>
          <a:p>
            <a:pPr marL="822960" lvl="1" indent="-256032" algn="just">
              <a:spcBef>
                <a:spcPts val="300"/>
              </a:spcBef>
              <a:buClr>
                <a:schemeClr val="accent3"/>
              </a:buClr>
              <a:buFont typeface="Wingdings" pitchFamily="2" charset="2"/>
              <a:buChar char="¤"/>
              <a:defRPr/>
            </a:pPr>
            <a:r>
              <a:rPr kumimoji="0" lang="es-ES" sz="2000" i="1" u="none" strike="noStrike" kern="1200" cap="none" spc="0" normalizeH="0" baseline="0" noProof="0" dirty="0">
                <a:ln>
                  <a:noFill/>
                </a:ln>
                <a:solidFill>
                  <a:schemeClr val="tx1"/>
                </a:solidFill>
                <a:effectLst/>
                <a:uLnTx/>
                <a:uFillTx/>
                <a:ea typeface="+mn-ea"/>
                <a:cs typeface="+mn-cs"/>
              </a:rPr>
              <a:t>Adam Smith </a:t>
            </a:r>
            <a:r>
              <a:rPr kumimoji="0" lang="es-ES" sz="2000" i="1" u="none" strike="noStrike" kern="1200" cap="none" spc="0" normalizeH="0" baseline="0" noProof="0" dirty="0" err="1">
                <a:ln>
                  <a:noFill/>
                </a:ln>
                <a:solidFill>
                  <a:schemeClr val="tx1"/>
                </a:solidFill>
                <a:effectLst/>
                <a:uLnTx/>
                <a:uFillTx/>
                <a:ea typeface="+mn-ea"/>
                <a:cs typeface="+mn-cs"/>
              </a:rPr>
              <a:t>vrs</a:t>
            </a:r>
            <a:r>
              <a:rPr kumimoji="0" lang="es-ES" sz="2000" i="1" u="none" strike="noStrike" kern="1200" cap="none" spc="0" normalizeH="0" baseline="0" noProof="0" dirty="0">
                <a:ln>
                  <a:noFill/>
                </a:ln>
                <a:solidFill>
                  <a:schemeClr val="tx1"/>
                </a:solidFill>
                <a:effectLst/>
                <a:uLnTx/>
                <a:uFillTx/>
                <a:ea typeface="+mn-ea"/>
                <a:cs typeface="+mn-cs"/>
              </a:rPr>
              <a:t> David</a:t>
            </a:r>
            <a:r>
              <a:rPr kumimoji="0" lang="es-ES" sz="2000" i="1" u="none" strike="noStrike" kern="1200" cap="none" spc="0" normalizeH="0" noProof="0" dirty="0">
                <a:ln>
                  <a:noFill/>
                </a:ln>
                <a:solidFill>
                  <a:schemeClr val="tx1"/>
                </a:solidFill>
                <a:effectLst/>
                <a:uLnTx/>
                <a:uFillTx/>
                <a:ea typeface="+mn-ea"/>
                <a:cs typeface="+mn-cs"/>
              </a:rPr>
              <a:t> Ricardo</a:t>
            </a:r>
            <a:endParaRPr kumimoji="0" lang="es-ES" sz="2000" i="1" u="none" strike="noStrike" kern="1200" cap="none" spc="0" normalizeH="0" baseline="0" noProof="0" dirty="0">
              <a:ln>
                <a:noFill/>
              </a:ln>
              <a:solidFill>
                <a:schemeClr val="tx1"/>
              </a:solidFill>
              <a:effectLst/>
              <a:uLnTx/>
              <a:uFillTx/>
              <a:ea typeface="+mn-ea"/>
              <a:cs typeface="+mn-cs"/>
            </a:endParaRPr>
          </a:p>
          <a:p>
            <a:pPr marL="822960" lvl="1" indent="-256032" algn="just">
              <a:spcBef>
                <a:spcPts val="300"/>
              </a:spcBef>
              <a:buClr>
                <a:schemeClr val="accent3"/>
              </a:buClr>
              <a:buFont typeface="Wingdings" pitchFamily="2" charset="2"/>
              <a:buChar char="¤"/>
              <a:defRPr/>
            </a:pPr>
            <a:r>
              <a:rPr kumimoji="0" lang="es-ES" sz="2000" i="1" u="none" strike="noStrike" kern="1200" cap="none" spc="0" normalizeH="0" baseline="0" noProof="0" dirty="0">
                <a:ln>
                  <a:noFill/>
                </a:ln>
                <a:solidFill>
                  <a:schemeClr val="tx1"/>
                </a:solidFill>
                <a:effectLst/>
                <a:uLnTx/>
                <a:uFillTx/>
                <a:ea typeface="+mn-ea"/>
                <a:cs typeface="+mn-cs"/>
              </a:rPr>
              <a:t>Librecambismo </a:t>
            </a:r>
            <a:r>
              <a:rPr kumimoji="0" lang="es-ES" sz="2000" i="1" u="none" strike="noStrike" kern="1200" cap="none" spc="0" normalizeH="0" baseline="0" noProof="0" dirty="0" err="1">
                <a:ln>
                  <a:noFill/>
                </a:ln>
                <a:solidFill>
                  <a:schemeClr val="tx1"/>
                </a:solidFill>
                <a:effectLst/>
                <a:uLnTx/>
                <a:uFillTx/>
                <a:ea typeface="+mn-ea"/>
                <a:cs typeface="+mn-cs"/>
              </a:rPr>
              <a:t>vrs</a:t>
            </a:r>
            <a:r>
              <a:rPr kumimoji="0" lang="es-ES" sz="2000" i="1" u="none" strike="noStrike" kern="1200" cap="none" spc="0" normalizeH="0" baseline="0" noProof="0" dirty="0">
                <a:ln>
                  <a:noFill/>
                </a:ln>
                <a:solidFill>
                  <a:schemeClr val="tx1"/>
                </a:solidFill>
                <a:effectLst/>
                <a:uLnTx/>
                <a:uFillTx/>
                <a:ea typeface="+mn-ea"/>
                <a:cs typeface="+mn-cs"/>
              </a:rPr>
              <a:t> </a:t>
            </a:r>
            <a:r>
              <a:rPr lang="es-ES" sz="2000" i="1" dirty="0"/>
              <a:t>Proteccionismo</a:t>
            </a:r>
            <a:endParaRPr kumimoji="0" lang="es-ES" sz="2000" i="1" u="none" strike="noStrike" kern="1200" cap="none" spc="0" normalizeH="0" baseline="0" noProof="0" dirty="0">
              <a:ln>
                <a:noFill/>
              </a:ln>
              <a:solidFill>
                <a:schemeClr val="tx1"/>
              </a:solidFill>
              <a:effectLst/>
              <a:uLnTx/>
              <a:uFillTx/>
              <a:ea typeface="+mn-ea"/>
              <a:cs typeface="+mn-cs"/>
            </a:endParaRPr>
          </a:p>
          <a:p>
            <a:pPr marL="822960" lvl="1" indent="-256032" algn="just">
              <a:spcBef>
                <a:spcPts val="300"/>
              </a:spcBef>
              <a:buClr>
                <a:schemeClr val="accent3"/>
              </a:buClr>
              <a:buFont typeface="Wingdings" pitchFamily="2" charset="2"/>
              <a:buChar char="¤"/>
              <a:defRPr/>
            </a:pPr>
            <a:endParaRPr kumimoji="0" lang="es-ES" sz="2000" i="1" u="none" strike="noStrike" kern="1200" cap="none" spc="0" normalizeH="0" baseline="0" noProof="0" dirty="0">
              <a:ln>
                <a:noFill/>
              </a:ln>
              <a:solidFill>
                <a:schemeClr val="tx1"/>
              </a:solidFill>
              <a:effectLst/>
              <a:uLnTx/>
              <a:uFillTx/>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778024"/>
            <a:ext cx="8352928" cy="1066800"/>
          </a:xfrm>
        </p:spPr>
        <p:txBody>
          <a:bodyPr/>
          <a:lstStyle/>
          <a:p>
            <a:pPr algn="ctr"/>
            <a:r>
              <a:rPr lang="es-AR" dirty="0">
                <a:effectLst>
                  <a:outerShdw blurRad="38100" dist="38100" dir="2700000" algn="tl">
                    <a:srgbClr val="000000">
                      <a:alpha val="43137"/>
                    </a:srgbClr>
                  </a:outerShdw>
                </a:effectLst>
              </a:rPr>
              <a:t>Principales corrientes</a:t>
            </a:r>
          </a:p>
        </p:txBody>
      </p:sp>
      <p:graphicFrame>
        <p:nvGraphicFramePr>
          <p:cNvPr id="5" name="4 Tabla"/>
          <p:cNvGraphicFramePr>
            <a:graphicFrameLocks noGrp="1"/>
          </p:cNvGraphicFramePr>
          <p:nvPr/>
        </p:nvGraphicFramePr>
        <p:xfrm>
          <a:off x="467543" y="1874520"/>
          <a:ext cx="8352928" cy="4474471"/>
        </p:xfrm>
        <a:graphic>
          <a:graphicData uri="http://schemas.openxmlformats.org/drawingml/2006/table">
            <a:tbl>
              <a:tblPr/>
              <a:tblGrid>
                <a:gridCol w="1887276">
                  <a:extLst>
                    <a:ext uri="{9D8B030D-6E8A-4147-A177-3AD203B41FA5}">
                      <a16:colId xmlns:a16="http://schemas.microsoft.com/office/drawing/2014/main" val="20000"/>
                    </a:ext>
                  </a:extLst>
                </a:gridCol>
                <a:gridCol w="2096774">
                  <a:extLst>
                    <a:ext uri="{9D8B030D-6E8A-4147-A177-3AD203B41FA5}">
                      <a16:colId xmlns:a16="http://schemas.microsoft.com/office/drawing/2014/main" val="20001"/>
                    </a:ext>
                  </a:extLst>
                </a:gridCol>
                <a:gridCol w="2105765">
                  <a:extLst>
                    <a:ext uri="{9D8B030D-6E8A-4147-A177-3AD203B41FA5}">
                      <a16:colId xmlns:a16="http://schemas.microsoft.com/office/drawing/2014/main" val="20002"/>
                    </a:ext>
                  </a:extLst>
                </a:gridCol>
                <a:gridCol w="2263113">
                  <a:extLst>
                    <a:ext uri="{9D8B030D-6E8A-4147-A177-3AD203B41FA5}">
                      <a16:colId xmlns:a16="http://schemas.microsoft.com/office/drawing/2014/main" val="20003"/>
                    </a:ext>
                  </a:extLst>
                </a:gridCol>
              </a:tblGrid>
              <a:tr h="326089">
                <a:tc>
                  <a:txBody>
                    <a:bodyPr/>
                    <a:lstStyle/>
                    <a:p>
                      <a:pPr algn="ctr">
                        <a:lnSpc>
                          <a:spcPct val="150000"/>
                        </a:lnSpc>
                        <a:spcAft>
                          <a:spcPts val="0"/>
                        </a:spcAft>
                      </a:pPr>
                      <a:r>
                        <a:rPr lang="es-AR" sz="1600" b="1" dirty="0">
                          <a:solidFill>
                            <a:srgbClr val="000000"/>
                          </a:solidFill>
                          <a:latin typeface="+mn-lt"/>
                          <a:ea typeface="Calibri"/>
                          <a:cs typeface="Times New Roman"/>
                        </a:rPr>
                        <a:t>CORRIENTE</a:t>
                      </a:r>
                      <a:endParaRPr lang="es-AR" sz="2000" dirty="0">
                        <a:solidFill>
                          <a:srgbClr val="000000"/>
                        </a:solidFill>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s-AR" sz="1600" b="1" dirty="0">
                          <a:solidFill>
                            <a:srgbClr val="000000"/>
                          </a:solidFill>
                          <a:latin typeface="+mn-lt"/>
                          <a:ea typeface="Calibri"/>
                          <a:cs typeface="Times New Roman"/>
                        </a:rPr>
                        <a:t>DEFINICIÓN</a:t>
                      </a:r>
                      <a:endParaRPr lang="es-AR" sz="2000" dirty="0">
                        <a:solidFill>
                          <a:srgbClr val="000000"/>
                        </a:solidFill>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s-AR" sz="1600" b="1" dirty="0">
                          <a:solidFill>
                            <a:srgbClr val="000000"/>
                          </a:solidFill>
                          <a:latin typeface="+mn-lt"/>
                          <a:ea typeface="Calibri"/>
                          <a:cs typeface="Times New Roman"/>
                        </a:rPr>
                        <a:t>BENEFICIOS</a:t>
                      </a:r>
                      <a:endParaRPr lang="es-AR" sz="2000" dirty="0">
                        <a:solidFill>
                          <a:srgbClr val="000000"/>
                        </a:solidFill>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s-AR" sz="1600" b="1" dirty="0">
                          <a:solidFill>
                            <a:srgbClr val="000000"/>
                          </a:solidFill>
                          <a:latin typeface="+mn-lt"/>
                          <a:ea typeface="Calibri"/>
                          <a:cs typeface="Times New Roman"/>
                        </a:rPr>
                        <a:t>DESVENTAJAS</a:t>
                      </a:r>
                      <a:endParaRPr lang="es-AR" sz="2000" dirty="0">
                        <a:solidFill>
                          <a:srgbClr val="000000"/>
                        </a:solidFill>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60876">
                <a:tc>
                  <a:txBody>
                    <a:bodyPr/>
                    <a:lstStyle/>
                    <a:p>
                      <a:pPr algn="ctr">
                        <a:lnSpc>
                          <a:spcPct val="150000"/>
                        </a:lnSpc>
                        <a:spcAft>
                          <a:spcPts val="0"/>
                        </a:spcAft>
                      </a:pPr>
                      <a:r>
                        <a:rPr lang="es-AR" sz="1400" b="1" i="1" dirty="0">
                          <a:solidFill>
                            <a:srgbClr val="000000"/>
                          </a:solidFill>
                          <a:latin typeface="+mn-lt"/>
                          <a:ea typeface="Calibri"/>
                          <a:cs typeface="Times New Roman"/>
                        </a:rPr>
                        <a:t>Proteccionista</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s-AR" sz="1400" dirty="0">
                          <a:solidFill>
                            <a:srgbClr val="000000"/>
                          </a:solidFill>
                          <a:latin typeface="+mn-lt"/>
                          <a:ea typeface="Calibri"/>
                          <a:cs typeface="Times New Roman"/>
                        </a:rPr>
                        <a:t>Práctica de gobierno que reduce M y X entre países. Suelen aplicarse tarifas a estas operaciones para incrementar los precios.</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s-AR" sz="1400" dirty="0">
                          <a:solidFill>
                            <a:srgbClr val="000000"/>
                          </a:solidFill>
                          <a:latin typeface="+mn-lt"/>
                          <a:ea typeface="Calibri"/>
                          <a:cs typeface="Times New Roman"/>
                        </a:rPr>
                        <a:t>Preservación del empleo.</a:t>
                      </a:r>
                      <a:endParaRPr lang="es-AR" sz="2000" dirty="0">
                        <a:solidFill>
                          <a:srgbClr val="000000"/>
                        </a:solidFill>
                        <a:latin typeface="+mn-lt"/>
                        <a:ea typeface="Calibri"/>
                        <a:cs typeface="Times New Roman"/>
                      </a:endParaRPr>
                    </a:p>
                    <a:p>
                      <a:pPr algn="ctr">
                        <a:lnSpc>
                          <a:spcPct val="100000"/>
                        </a:lnSpc>
                        <a:spcAft>
                          <a:spcPts val="0"/>
                        </a:spcAft>
                      </a:pPr>
                      <a:r>
                        <a:rPr lang="es-AR" sz="1400" dirty="0">
                          <a:solidFill>
                            <a:srgbClr val="000000"/>
                          </a:solidFill>
                          <a:latin typeface="+mn-lt"/>
                          <a:ea typeface="Calibri"/>
                          <a:cs typeface="Times New Roman"/>
                        </a:rPr>
                        <a:t>El aumento sobre precios de M, empuja a la producción nacional.</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s-AR" sz="1400" dirty="0">
                          <a:solidFill>
                            <a:srgbClr val="000000"/>
                          </a:solidFill>
                          <a:latin typeface="+mn-lt"/>
                          <a:ea typeface="Calibri"/>
                          <a:cs typeface="Times New Roman"/>
                        </a:rPr>
                        <a:t>Productos con altos precios consecuencia de empleados reclamando mayores sueldos.</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47835">
                <a:tc>
                  <a:txBody>
                    <a:bodyPr/>
                    <a:lstStyle/>
                    <a:p>
                      <a:pPr algn="ctr">
                        <a:lnSpc>
                          <a:spcPct val="150000"/>
                        </a:lnSpc>
                        <a:spcAft>
                          <a:spcPts val="0"/>
                        </a:spcAft>
                      </a:pPr>
                      <a:r>
                        <a:rPr lang="es-AR" sz="1400" b="1" i="1" dirty="0">
                          <a:solidFill>
                            <a:srgbClr val="000000"/>
                          </a:solidFill>
                          <a:latin typeface="+mn-lt"/>
                          <a:ea typeface="Calibri"/>
                          <a:cs typeface="Times New Roman"/>
                        </a:rPr>
                        <a:t>Librecambista</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s-AR" sz="1400" dirty="0">
                          <a:solidFill>
                            <a:srgbClr val="000000"/>
                          </a:solidFill>
                          <a:latin typeface="+mn-lt"/>
                          <a:ea typeface="Calibri"/>
                          <a:cs typeface="Times New Roman"/>
                        </a:rPr>
                        <a:t>Elimina las restricciones arriba mencionadas.</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s-AR" sz="1400" dirty="0">
                          <a:solidFill>
                            <a:srgbClr val="000000"/>
                          </a:solidFill>
                          <a:latin typeface="+mn-lt"/>
                          <a:ea typeface="Calibri"/>
                          <a:cs typeface="Times New Roman"/>
                        </a:rPr>
                        <a:t>Posibilita el intercambio de bienes y servicios, frecuente entre empresas.</a:t>
                      </a:r>
                      <a:endParaRPr lang="es-AR" sz="2000" dirty="0">
                        <a:solidFill>
                          <a:srgbClr val="000000"/>
                        </a:solidFill>
                        <a:latin typeface="+mn-lt"/>
                        <a:ea typeface="Calibri"/>
                        <a:cs typeface="Times New Roman"/>
                      </a:endParaRPr>
                    </a:p>
                    <a:p>
                      <a:pPr algn="ctr">
                        <a:lnSpc>
                          <a:spcPct val="100000"/>
                        </a:lnSpc>
                        <a:spcAft>
                          <a:spcPts val="0"/>
                        </a:spcAft>
                      </a:pPr>
                      <a:r>
                        <a:rPr lang="es-AR" sz="1400" dirty="0">
                          <a:solidFill>
                            <a:srgbClr val="000000"/>
                          </a:solidFill>
                          <a:latin typeface="+mn-lt"/>
                          <a:ea typeface="Calibri"/>
                          <a:cs typeface="Times New Roman"/>
                        </a:rPr>
                        <a:t>Las empresas ahorran contratando mano de obra económica.</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s-AR" sz="1400" dirty="0">
                          <a:solidFill>
                            <a:srgbClr val="000000"/>
                          </a:solidFill>
                          <a:latin typeface="+mn-lt"/>
                          <a:ea typeface="Calibri"/>
                          <a:cs typeface="Times New Roman"/>
                        </a:rPr>
                        <a:t>Pérdida de empleos consecuencia de la </a:t>
                      </a:r>
                      <a:r>
                        <a:rPr lang="es-AR" sz="1400" dirty="0" err="1">
                          <a:solidFill>
                            <a:srgbClr val="000000"/>
                          </a:solidFill>
                          <a:latin typeface="+mn-lt"/>
                          <a:ea typeface="Calibri"/>
                          <a:cs typeface="Times New Roman"/>
                        </a:rPr>
                        <a:t>externalización</a:t>
                      </a:r>
                      <a:r>
                        <a:rPr lang="es-AR" sz="1400" dirty="0">
                          <a:solidFill>
                            <a:srgbClr val="000000"/>
                          </a:solidFill>
                          <a:latin typeface="+mn-lt"/>
                          <a:ea typeface="Calibri"/>
                          <a:cs typeface="Times New Roman"/>
                        </a:rPr>
                        <a:t>.</a:t>
                      </a:r>
                      <a:endParaRPr lang="es-AR" sz="2000" dirty="0">
                        <a:solidFill>
                          <a:srgbClr val="000000"/>
                        </a:solidFill>
                        <a:latin typeface="+mn-lt"/>
                        <a:ea typeface="Calibri"/>
                        <a:cs typeface="Times New Roman"/>
                      </a:endParaRPr>
                    </a:p>
                    <a:p>
                      <a:pPr algn="ctr">
                        <a:lnSpc>
                          <a:spcPct val="100000"/>
                        </a:lnSpc>
                        <a:spcAft>
                          <a:spcPts val="0"/>
                        </a:spcAft>
                      </a:pPr>
                      <a:r>
                        <a:rPr lang="es-AR" sz="1400" dirty="0">
                          <a:solidFill>
                            <a:srgbClr val="000000"/>
                          </a:solidFill>
                          <a:latin typeface="+mn-lt"/>
                          <a:ea typeface="Calibri"/>
                          <a:cs typeface="Times New Roman"/>
                        </a:rPr>
                        <a:t>Líderes de cada país, más concentrados en negocios internacionales que en intereses de la población que representan.</a:t>
                      </a:r>
                      <a:endParaRPr lang="es-AR" sz="2000" dirty="0">
                        <a:solidFill>
                          <a:srgbClr val="000000"/>
                        </a:solidFill>
                        <a:latin typeface="+mn-lt"/>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778024"/>
            <a:ext cx="8568952" cy="1066800"/>
          </a:xfrm>
        </p:spPr>
        <p:txBody>
          <a:bodyPr>
            <a:normAutofit/>
          </a:bodyPr>
          <a:lstStyle/>
          <a:p>
            <a:pPr algn="ctr"/>
            <a:r>
              <a:rPr lang="es-AR" dirty="0">
                <a:effectLst>
                  <a:outerShdw blurRad="38100" dist="38100" dir="2700000" algn="tl">
                    <a:srgbClr val="000000">
                      <a:alpha val="43137"/>
                    </a:srgbClr>
                  </a:outerShdw>
                </a:effectLst>
              </a:rPr>
              <a:t>Mercados</a:t>
            </a:r>
          </a:p>
        </p:txBody>
      </p:sp>
      <p:sp>
        <p:nvSpPr>
          <p:cNvPr id="7" name="Marcador de contenido 6"/>
          <p:cNvSpPr>
            <a:spLocks noGrp="1"/>
          </p:cNvSpPr>
          <p:nvPr>
            <p:ph idx="1"/>
          </p:nvPr>
        </p:nvSpPr>
        <p:spPr>
          <a:xfrm>
            <a:off x="1619672" y="1844824"/>
            <a:ext cx="6696744" cy="1368152"/>
          </a:xfrm>
        </p:spPr>
        <p:txBody>
          <a:bodyPr>
            <a:normAutofit/>
          </a:bodyPr>
          <a:lstStyle/>
          <a:p>
            <a:pPr marL="82550" indent="0">
              <a:buClr>
                <a:schemeClr val="tx1"/>
              </a:buClr>
              <a:buNone/>
            </a:pPr>
            <a:r>
              <a:rPr lang="es-AR" sz="2400" dirty="0"/>
              <a:t>“</a:t>
            </a:r>
            <a:r>
              <a:rPr lang="es-AR" sz="2400" i="1" dirty="0"/>
              <a:t>Áreas donde se concentran las mercaderías de una zona de producción para someterlas a transacciones comerciales”. </a:t>
            </a:r>
            <a:endParaRPr lang="es-AR" altLang="es-AR" sz="2000" dirty="0">
              <a:solidFill>
                <a:schemeClr val="tx1"/>
              </a:solidFill>
            </a:endParaRPr>
          </a:p>
        </p:txBody>
      </p:sp>
      <p:pic>
        <p:nvPicPr>
          <p:cNvPr id="4" name="0 Imagen" descr="comillas.png"/>
          <p:cNvPicPr/>
          <p:nvPr/>
        </p:nvPicPr>
        <p:blipFill>
          <a:blip r:embed="rId2" cstate="print">
            <a:clrChange>
              <a:clrFrom>
                <a:srgbClr val="FFFFFF"/>
              </a:clrFrom>
              <a:clrTo>
                <a:srgbClr val="FFFFFF">
                  <a:alpha val="0"/>
                </a:srgbClr>
              </a:clrTo>
            </a:clrChange>
            <a:grayscl/>
          </a:blip>
          <a:stretch>
            <a:fillRect/>
          </a:stretch>
        </p:blipFill>
        <p:spPr>
          <a:xfrm>
            <a:off x="611560" y="1844824"/>
            <a:ext cx="720080" cy="648072"/>
          </a:xfrm>
          <a:prstGeom prst="rect">
            <a:avLst/>
          </a:prstGeom>
        </p:spPr>
      </p:pic>
      <p:cxnSp>
        <p:nvCxnSpPr>
          <p:cNvPr id="5" name="4 Conector recto"/>
          <p:cNvCxnSpPr/>
          <p:nvPr/>
        </p:nvCxnSpPr>
        <p:spPr>
          <a:xfrm>
            <a:off x="1403648" y="1772816"/>
            <a:ext cx="0" cy="1440160"/>
          </a:xfrm>
          <a:prstGeom prst="line">
            <a:avLst/>
          </a:prstGeom>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539552" y="3732708"/>
            <a:ext cx="4392488" cy="1969770"/>
          </a:xfrm>
          <a:prstGeom prst="rect">
            <a:avLst/>
          </a:prstGeom>
          <a:noFill/>
        </p:spPr>
        <p:txBody>
          <a:bodyPr wrap="square" numCol="1" rtlCol="0">
            <a:spAutoFit/>
          </a:bodyPr>
          <a:lstStyle/>
          <a:p>
            <a:pPr lvl="0"/>
            <a:r>
              <a:rPr lang="es-AR" b="1" dirty="0"/>
              <a:t>Según la naturaleza del producto</a:t>
            </a:r>
          </a:p>
          <a:p>
            <a:pPr lvl="0">
              <a:buClr>
                <a:srgbClr val="002060"/>
              </a:buClr>
              <a:buFont typeface="Wingdings" pitchFamily="2" charset="2"/>
              <a:buChar char="¤"/>
            </a:pPr>
            <a:endParaRPr lang="es-AR" sz="1600" b="1" dirty="0"/>
          </a:p>
          <a:p>
            <a:pPr lvl="1">
              <a:buClr>
                <a:srgbClr val="002060"/>
              </a:buClr>
              <a:buFont typeface="Wingdings" pitchFamily="2" charset="2"/>
              <a:buChar char="¤"/>
            </a:pPr>
            <a:r>
              <a:rPr lang="es-AR" dirty="0"/>
              <a:t> Mercado de perecederos</a:t>
            </a:r>
            <a:endParaRPr lang="es-AR" sz="1600" dirty="0"/>
          </a:p>
          <a:p>
            <a:pPr lvl="1">
              <a:buClr>
                <a:srgbClr val="002060"/>
              </a:buClr>
              <a:buFont typeface="Wingdings" pitchFamily="2" charset="2"/>
              <a:buChar char="¤"/>
            </a:pPr>
            <a:r>
              <a:rPr lang="es-AR" dirty="0"/>
              <a:t> Mercado de bienes duraderos</a:t>
            </a:r>
            <a:endParaRPr lang="es-AR" sz="1600" dirty="0"/>
          </a:p>
          <a:p>
            <a:pPr lvl="1">
              <a:buClr>
                <a:srgbClr val="002060"/>
              </a:buClr>
              <a:buFont typeface="Wingdings" pitchFamily="2" charset="2"/>
              <a:buChar char="¤"/>
            </a:pPr>
            <a:r>
              <a:rPr lang="es-AR" dirty="0"/>
              <a:t> Mercado de industriales</a:t>
            </a:r>
            <a:endParaRPr lang="es-AR" sz="1600" dirty="0"/>
          </a:p>
          <a:p>
            <a:pPr lvl="1">
              <a:buClr>
                <a:srgbClr val="002060"/>
              </a:buClr>
              <a:buFont typeface="Wingdings" pitchFamily="2" charset="2"/>
              <a:buChar char="¤"/>
            </a:pPr>
            <a:r>
              <a:rPr lang="es-AR" dirty="0"/>
              <a:t> Mercado de servicios</a:t>
            </a:r>
            <a:endParaRPr lang="es-AR" sz="1600" dirty="0"/>
          </a:p>
          <a:p>
            <a:pPr>
              <a:buClr>
                <a:srgbClr val="002060"/>
              </a:buClr>
              <a:buFont typeface="Wingdings" pitchFamily="2" charset="2"/>
              <a:buChar char="¤"/>
            </a:pPr>
            <a:endParaRPr lang="es-AR" sz="1600" dirty="0"/>
          </a:p>
        </p:txBody>
      </p:sp>
      <p:sp>
        <p:nvSpPr>
          <p:cNvPr id="10" name="9 CuadroTexto"/>
          <p:cNvSpPr txBox="1"/>
          <p:nvPr/>
        </p:nvSpPr>
        <p:spPr>
          <a:xfrm>
            <a:off x="5076056" y="3732708"/>
            <a:ext cx="3672408" cy="2000548"/>
          </a:xfrm>
          <a:prstGeom prst="rect">
            <a:avLst/>
          </a:prstGeom>
          <a:noFill/>
        </p:spPr>
        <p:txBody>
          <a:bodyPr wrap="square" numCol="1" rtlCol="0">
            <a:spAutoFit/>
          </a:bodyPr>
          <a:lstStyle/>
          <a:p>
            <a:pPr lvl="0"/>
            <a:r>
              <a:rPr lang="es-AR" b="1" dirty="0"/>
              <a:t>Según el espacio geográfico</a:t>
            </a:r>
          </a:p>
          <a:p>
            <a:pPr lvl="0">
              <a:buClr>
                <a:srgbClr val="002060"/>
              </a:buClr>
              <a:buFont typeface="Wingdings" pitchFamily="2" charset="2"/>
              <a:buChar char="¤"/>
            </a:pPr>
            <a:endParaRPr lang="es-AR" sz="1600" dirty="0"/>
          </a:p>
          <a:p>
            <a:pPr lvl="1">
              <a:buClr>
                <a:srgbClr val="002060"/>
              </a:buClr>
              <a:buFont typeface="Wingdings" pitchFamily="2" charset="2"/>
              <a:buChar char="¤"/>
            </a:pPr>
            <a:r>
              <a:rPr lang="es-AR" dirty="0"/>
              <a:t> Mercados locales</a:t>
            </a:r>
          </a:p>
          <a:p>
            <a:pPr lvl="1">
              <a:buClr>
                <a:srgbClr val="002060"/>
              </a:buClr>
              <a:buFont typeface="Wingdings" pitchFamily="2" charset="2"/>
              <a:buChar char="¤"/>
            </a:pPr>
            <a:r>
              <a:rPr lang="es-AR" dirty="0"/>
              <a:t> Mercados nacionales</a:t>
            </a:r>
          </a:p>
          <a:p>
            <a:pPr lvl="1">
              <a:buClr>
                <a:srgbClr val="002060"/>
              </a:buClr>
              <a:buFont typeface="Wingdings" pitchFamily="2" charset="2"/>
              <a:buChar char="¤"/>
            </a:pPr>
            <a:r>
              <a:rPr lang="es-AR" dirty="0"/>
              <a:t> Mercados regionales</a:t>
            </a:r>
          </a:p>
          <a:p>
            <a:pPr lvl="1">
              <a:buClr>
                <a:srgbClr val="002060"/>
              </a:buClr>
              <a:buFont typeface="Wingdings" pitchFamily="2" charset="2"/>
              <a:buChar char="¤"/>
            </a:pPr>
            <a:r>
              <a:rPr lang="es-AR" dirty="0"/>
              <a:t> Mercados internacionales</a:t>
            </a:r>
          </a:p>
          <a:p>
            <a:pPr lvl="1">
              <a:buClr>
                <a:srgbClr val="002060"/>
              </a:buClr>
              <a:buFont typeface="Wingdings" pitchFamily="2" charset="2"/>
              <a:buChar char="¤"/>
            </a:pPr>
            <a:r>
              <a:rPr lang="es-AR" dirty="0"/>
              <a:t> Mercado global</a:t>
            </a:r>
          </a:p>
        </p:txBody>
      </p:sp>
      <p:cxnSp>
        <p:nvCxnSpPr>
          <p:cNvPr id="11" name="10 Conector recto"/>
          <p:cNvCxnSpPr/>
          <p:nvPr/>
        </p:nvCxnSpPr>
        <p:spPr>
          <a:xfrm>
            <a:off x="4860032" y="3717032"/>
            <a:ext cx="0" cy="223224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778024"/>
            <a:ext cx="8568952" cy="1066800"/>
          </a:xfrm>
        </p:spPr>
        <p:txBody>
          <a:bodyPr>
            <a:normAutofit/>
          </a:bodyPr>
          <a:lstStyle/>
          <a:p>
            <a:pPr algn="ctr"/>
            <a:r>
              <a:rPr lang="es-AR" dirty="0">
                <a:effectLst>
                  <a:outerShdw blurRad="38100" dist="38100" dir="2700000" algn="tl">
                    <a:srgbClr val="000000">
                      <a:alpha val="43137"/>
                    </a:srgbClr>
                  </a:outerShdw>
                </a:effectLst>
              </a:rPr>
              <a:t>Balanza de pagos</a:t>
            </a:r>
          </a:p>
        </p:txBody>
      </p:sp>
      <p:sp>
        <p:nvSpPr>
          <p:cNvPr id="7" name="Marcador de contenido 6"/>
          <p:cNvSpPr>
            <a:spLocks noGrp="1"/>
          </p:cNvSpPr>
          <p:nvPr>
            <p:ph idx="1"/>
          </p:nvPr>
        </p:nvSpPr>
        <p:spPr>
          <a:xfrm>
            <a:off x="1619672" y="1844824"/>
            <a:ext cx="6696744" cy="4464496"/>
          </a:xfrm>
        </p:spPr>
        <p:txBody>
          <a:bodyPr>
            <a:normAutofit fontScale="92500" lnSpcReduction="10000"/>
          </a:bodyPr>
          <a:lstStyle/>
          <a:p>
            <a:pPr marL="87313" indent="-4763" algn="just">
              <a:buNone/>
            </a:pPr>
            <a:r>
              <a:rPr lang="es-AR" sz="2400" dirty="0"/>
              <a:t>La Balanza de Pagos, es un documento contable en el cual se registran las operaciones comerciales, de servicios y de movimientos de capitales de un país con el exterior.</a:t>
            </a:r>
          </a:p>
          <a:p>
            <a:pPr>
              <a:buNone/>
            </a:pPr>
            <a:endParaRPr lang="es-AR" sz="2400" dirty="0"/>
          </a:p>
          <a:p>
            <a:pPr marL="87313" indent="-4763" algn="just">
              <a:buNone/>
            </a:pPr>
            <a:r>
              <a:rPr lang="es-AR" sz="2400" dirty="0"/>
              <a:t>Este indicador macroeconómico, suministra información, que muestra los ingresos provenientes del resto del mundo hacia un país, así como los desembolsos que este ha realizado en un determinado lapso de tiempo hacia el resto del mundo, en este caso considerando importaciones y exportaciones de bienes, servicios, capital o transferencias. </a:t>
            </a:r>
          </a:p>
        </p:txBody>
      </p:sp>
      <p:pic>
        <p:nvPicPr>
          <p:cNvPr id="4" name="0 Imagen" descr="comillas.png"/>
          <p:cNvPicPr/>
          <p:nvPr/>
        </p:nvPicPr>
        <p:blipFill>
          <a:blip r:embed="rId2" cstate="print">
            <a:clrChange>
              <a:clrFrom>
                <a:srgbClr val="FFFFFF"/>
              </a:clrFrom>
              <a:clrTo>
                <a:srgbClr val="FFFFFF">
                  <a:alpha val="0"/>
                </a:srgbClr>
              </a:clrTo>
            </a:clrChange>
            <a:grayscl/>
          </a:blip>
          <a:stretch>
            <a:fillRect/>
          </a:stretch>
        </p:blipFill>
        <p:spPr>
          <a:xfrm>
            <a:off x="611560" y="1844824"/>
            <a:ext cx="720080" cy="648072"/>
          </a:xfrm>
          <a:prstGeom prst="rect">
            <a:avLst/>
          </a:prstGeom>
        </p:spPr>
      </p:pic>
      <p:cxnSp>
        <p:nvCxnSpPr>
          <p:cNvPr id="5" name="4 Conector recto"/>
          <p:cNvCxnSpPr/>
          <p:nvPr/>
        </p:nvCxnSpPr>
        <p:spPr>
          <a:xfrm>
            <a:off x="1403648" y="1772816"/>
            <a:ext cx="0" cy="424847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778024"/>
            <a:ext cx="8568952" cy="1066800"/>
          </a:xfrm>
        </p:spPr>
        <p:txBody>
          <a:bodyPr>
            <a:normAutofit/>
          </a:bodyPr>
          <a:lstStyle/>
          <a:p>
            <a:pPr algn="ctr"/>
            <a:r>
              <a:rPr lang="es-AR" dirty="0">
                <a:effectLst>
                  <a:outerShdw blurRad="38100" dist="38100" dir="2700000" algn="tl">
                    <a:srgbClr val="000000">
                      <a:alpha val="43137"/>
                    </a:srgbClr>
                  </a:outerShdw>
                </a:effectLst>
              </a:rPr>
              <a:t>Balanza de pagos</a:t>
            </a:r>
          </a:p>
        </p:txBody>
      </p:sp>
      <p:sp>
        <p:nvSpPr>
          <p:cNvPr id="7" name="Marcador de contenido 6"/>
          <p:cNvSpPr>
            <a:spLocks noGrp="1"/>
          </p:cNvSpPr>
          <p:nvPr>
            <p:ph idx="1"/>
          </p:nvPr>
        </p:nvSpPr>
        <p:spPr>
          <a:xfrm>
            <a:off x="1619672" y="1844824"/>
            <a:ext cx="6696744" cy="4464496"/>
          </a:xfrm>
        </p:spPr>
        <p:txBody>
          <a:bodyPr>
            <a:normAutofit/>
          </a:bodyPr>
          <a:lstStyle/>
          <a:p>
            <a:pPr marL="4763" indent="-4763">
              <a:buNone/>
            </a:pPr>
            <a:r>
              <a:rPr lang="es-AR" sz="2400" dirty="0"/>
              <a:t>Las transacciones que se contemplan en la balanza según el Fondo Monetario Internacional pueden agruparse en cinco modelos fundamentales:</a:t>
            </a:r>
          </a:p>
          <a:p>
            <a:pPr>
              <a:buNone/>
            </a:pPr>
            <a:r>
              <a:rPr lang="es-AR" sz="2400" dirty="0"/>
              <a:t>1. </a:t>
            </a:r>
            <a:r>
              <a:rPr lang="es-AR" sz="2000" dirty="0"/>
              <a:t>Compra y venta de bienes y servicios a cambio de partidas financieras.</a:t>
            </a:r>
          </a:p>
          <a:p>
            <a:pPr>
              <a:buNone/>
            </a:pPr>
            <a:r>
              <a:rPr lang="es-AR" sz="2000" dirty="0"/>
              <a:t>2. Trueque de bienes y servicios.</a:t>
            </a:r>
          </a:p>
          <a:p>
            <a:pPr>
              <a:buNone/>
            </a:pPr>
            <a:r>
              <a:rPr lang="es-AR" sz="2000" dirty="0"/>
              <a:t>3. Canje de unas partidas financieras por otras.</a:t>
            </a:r>
          </a:p>
          <a:p>
            <a:pPr>
              <a:buNone/>
            </a:pPr>
            <a:r>
              <a:rPr lang="es-AR" sz="2000" dirty="0"/>
              <a:t>4. Adquisición de bienes y servicios sin compensación.</a:t>
            </a:r>
          </a:p>
          <a:p>
            <a:pPr>
              <a:buNone/>
            </a:pPr>
            <a:r>
              <a:rPr lang="es-AR" sz="2000" dirty="0"/>
              <a:t>5. Adquisición de partidas financieras sin compensación.</a:t>
            </a:r>
          </a:p>
        </p:txBody>
      </p:sp>
      <p:pic>
        <p:nvPicPr>
          <p:cNvPr id="4" name="0 Imagen" descr="comillas.png"/>
          <p:cNvPicPr/>
          <p:nvPr/>
        </p:nvPicPr>
        <p:blipFill>
          <a:blip r:embed="rId2" cstate="print">
            <a:clrChange>
              <a:clrFrom>
                <a:srgbClr val="FFFFFF"/>
              </a:clrFrom>
              <a:clrTo>
                <a:srgbClr val="FFFFFF">
                  <a:alpha val="0"/>
                </a:srgbClr>
              </a:clrTo>
            </a:clrChange>
            <a:grayscl/>
          </a:blip>
          <a:stretch>
            <a:fillRect/>
          </a:stretch>
        </p:blipFill>
        <p:spPr>
          <a:xfrm>
            <a:off x="611560" y="1844824"/>
            <a:ext cx="720080" cy="648072"/>
          </a:xfrm>
          <a:prstGeom prst="rect">
            <a:avLst/>
          </a:prstGeom>
        </p:spPr>
      </p:pic>
      <p:cxnSp>
        <p:nvCxnSpPr>
          <p:cNvPr id="5" name="4 Conector recto"/>
          <p:cNvCxnSpPr/>
          <p:nvPr/>
        </p:nvCxnSpPr>
        <p:spPr>
          <a:xfrm>
            <a:off x="1403648" y="1772816"/>
            <a:ext cx="0" cy="424847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987824" y="260648"/>
            <a:ext cx="2664296" cy="490736"/>
          </a:xfrm>
        </p:spPr>
        <p:txBody>
          <a:bodyPr>
            <a:normAutofit/>
          </a:bodyPr>
          <a:lstStyle/>
          <a:p>
            <a:pPr algn="ctr"/>
            <a:r>
              <a:rPr lang="es-AR" sz="2000" dirty="0">
                <a:effectLst>
                  <a:outerShdw blurRad="38100" dist="38100" dir="2700000" algn="tl">
                    <a:srgbClr val="000000">
                      <a:alpha val="43137"/>
                    </a:srgbClr>
                  </a:outerShdw>
                </a:effectLst>
              </a:rPr>
              <a:t>Balanza de pagos</a:t>
            </a:r>
          </a:p>
        </p:txBody>
      </p:sp>
      <p:sp>
        <p:nvSpPr>
          <p:cNvPr id="7" name="Marcador de contenido 6"/>
          <p:cNvSpPr>
            <a:spLocks noGrp="1"/>
          </p:cNvSpPr>
          <p:nvPr>
            <p:ph idx="1"/>
          </p:nvPr>
        </p:nvSpPr>
        <p:spPr>
          <a:xfrm>
            <a:off x="611560" y="1844824"/>
            <a:ext cx="8136904" cy="4464496"/>
          </a:xfrm>
        </p:spPr>
        <p:txBody>
          <a:bodyPr>
            <a:normAutofit/>
          </a:bodyPr>
          <a:lstStyle/>
          <a:p>
            <a:pPr>
              <a:lnSpc>
                <a:spcPct val="150000"/>
              </a:lnSpc>
              <a:buClrTx/>
              <a:buSzPct val="90000"/>
              <a:buFont typeface="Wingdings" pitchFamily="2" charset="2"/>
              <a:buChar char="¤"/>
            </a:pPr>
            <a:r>
              <a:rPr lang="es-AR" sz="2400" b="1" dirty="0"/>
              <a:t> </a:t>
            </a:r>
            <a:r>
              <a:rPr lang="es-AR" sz="2400" dirty="0"/>
              <a:t>Balanza por cuenta corriente</a:t>
            </a:r>
          </a:p>
          <a:p>
            <a:pPr lvl="1">
              <a:lnSpc>
                <a:spcPct val="150000"/>
              </a:lnSpc>
              <a:buClrTx/>
              <a:buSzPct val="90000"/>
              <a:buFont typeface="Wingdings" pitchFamily="2" charset="2"/>
              <a:buChar char="¤"/>
            </a:pPr>
            <a:r>
              <a:rPr lang="es-AR" sz="2000" dirty="0">
                <a:solidFill>
                  <a:schemeClr val="tx1"/>
                </a:solidFill>
              </a:rPr>
              <a:t>Balanza comercial</a:t>
            </a:r>
          </a:p>
          <a:p>
            <a:pPr lvl="1">
              <a:lnSpc>
                <a:spcPct val="150000"/>
              </a:lnSpc>
              <a:buClrTx/>
              <a:buSzPct val="90000"/>
              <a:buFont typeface="Wingdings" pitchFamily="2" charset="2"/>
              <a:buChar char="¤"/>
            </a:pPr>
            <a:r>
              <a:rPr lang="es-AR" sz="2000" dirty="0">
                <a:solidFill>
                  <a:schemeClr val="tx1"/>
                </a:solidFill>
              </a:rPr>
              <a:t>Balanza de servicios</a:t>
            </a:r>
          </a:p>
          <a:p>
            <a:pPr lvl="1">
              <a:lnSpc>
                <a:spcPct val="150000"/>
              </a:lnSpc>
              <a:buClrTx/>
              <a:buSzPct val="90000"/>
              <a:buFont typeface="Wingdings" pitchFamily="2" charset="2"/>
              <a:buChar char="¤"/>
            </a:pPr>
            <a:r>
              <a:rPr lang="es-AR" sz="2000" dirty="0">
                <a:solidFill>
                  <a:schemeClr val="tx1"/>
                </a:solidFill>
              </a:rPr>
              <a:t>Balanza de rentas</a:t>
            </a:r>
          </a:p>
          <a:p>
            <a:pPr lvl="1">
              <a:lnSpc>
                <a:spcPct val="150000"/>
              </a:lnSpc>
              <a:buClrTx/>
              <a:buSzPct val="90000"/>
              <a:buFont typeface="Wingdings" pitchFamily="2" charset="2"/>
              <a:buChar char="¤"/>
            </a:pPr>
            <a:r>
              <a:rPr lang="es-AR" sz="2000" dirty="0">
                <a:solidFill>
                  <a:schemeClr val="tx1"/>
                </a:solidFill>
              </a:rPr>
              <a:t>Balanza de transferencias</a:t>
            </a:r>
          </a:p>
          <a:p>
            <a:pPr lvl="0">
              <a:lnSpc>
                <a:spcPct val="150000"/>
              </a:lnSpc>
              <a:buClrTx/>
              <a:buSzPct val="90000"/>
              <a:buFont typeface="Wingdings" pitchFamily="2" charset="2"/>
              <a:buChar char="¤"/>
            </a:pPr>
            <a:r>
              <a:rPr lang="es-AR" sz="2400" dirty="0"/>
              <a:t> Balanza de cuenta de capital</a:t>
            </a:r>
          </a:p>
          <a:p>
            <a:pPr lvl="0">
              <a:lnSpc>
                <a:spcPct val="150000"/>
              </a:lnSpc>
              <a:buClrTx/>
              <a:buSzPct val="90000"/>
              <a:buFont typeface="Wingdings" pitchFamily="2" charset="2"/>
              <a:buChar char="¤"/>
            </a:pPr>
            <a:r>
              <a:rPr lang="es-AR" sz="2400" dirty="0"/>
              <a:t> Balanza de cuenta financiera</a:t>
            </a:r>
          </a:p>
          <a:p>
            <a:pPr>
              <a:lnSpc>
                <a:spcPct val="150000"/>
              </a:lnSpc>
              <a:buClrTx/>
              <a:buSzPct val="90000"/>
              <a:buFont typeface="Wingdings" pitchFamily="2" charset="2"/>
              <a:buChar char="¤"/>
            </a:pPr>
            <a:r>
              <a:rPr lang="es-AR" sz="2400" dirty="0"/>
              <a:t> Cuenta de errores y omisiones </a:t>
            </a:r>
          </a:p>
          <a:p>
            <a:pPr lvl="0">
              <a:lnSpc>
                <a:spcPct val="150000"/>
              </a:lnSpc>
              <a:buClrTx/>
              <a:buSzPct val="90000"/>
              <a:buFont typeface="Wingdings" pitchFamily="2" charset="2"/>
              <a:buChar char="¤"/>
            </a:pPr>
            <a:endParaRPr lang="es-AR" sz="2400" dirty="0"/>
          </a:p>
        </p:txBody>
      </p:sp>
      <p:sp>
        <p:nvSpPr>
          <p:cNvPr id="6" name="1 Título"/>
          <p:cNvSpPr txBox="1">
            <a:spLocks/>
          </p:cNvSpPr>
          <p:nvPr/>
        </p:nvSpPr>
        <p:spPr>
          <a:xfrm>
            <a:off x="251520" y="778024"/>
            <a:ext cx="8568952" cy="1066800"/>
          </a:xfrm>
          <a:prstGeom prst="rect">
            <a:avLst/>
          </a:prstGeom>
        </p:spPr>
        <p:txBody>
          <a:bodyPr vert="horz"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000" b="0"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mj-lt"/>
                <a:ea typeface="+mj-ea"/>
                <a:cs typeface="+mj-cs"/>
              </a:rPr>
              <a:t>Estructura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987824" y="260648"/>
            <a:ext cx="2664296" cy="490736"/>
          </a:xfrm>
        </p:spPr>
        <p:txBody>
          <a:bodyPr>
            <a:normAutofit/>
          </a:bodyPr>
          <a:lstStyle/>
          <a:p>
            <a:pPr algn="ctr"/>
            <a:r>
              <a:rPr lang="es-AR" sz="2000" dirty="0">
                <a:effectLst>
                  <a:outerShdw blurRad="38100" dist="38100" dir="2700000" algn="tl">
                    <a:srgbClr val="000000">
                      <a:alpha val="43137"/>
                    </a:srgbClr>
                  </a:outerShdw>
                </a:effectLst>
              </a:rPr>
              <a:t>Balanza de pagos</a:t>
            </a:r>
          </a:p>
        </p:txBody>
      </p:sp>
      <p:sp>
        <p:nvSpPr>
          <p:cNvPr id="6" name="1 Título"/>
          <p:cNvSpPr txBox="1">
            <a:spLocks/>
          </p:cNvSpPr>
          <p:nvPr/>
        </p:nvSpPr>
        <p:spPr>
          <a:xfrm>
            <a:off x="251520" y="778024"/>
            <a:ext cx="8568952" cy="1066800"/>
          </a:xfrm>
          <a:prstGeom prst="rect">
            <a:avLst/>
          </a:prstGeom>
        </p:spPr>
        <p:txBody>
          <a:bodyPr vert="horz"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AR" sz="4000" b="0"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mj-lt"/>
                <a:ea typeface="+mj-ea"/>
                <a:cs typeface="+mj-cs"/>
              </a:rPr>
              <a:t>Balanza comercial</a:t>
            </a:r>
          </a:p>
        </p:txBody>
      </p:sp>
      <p:sp>
        <p:nvSpPr>
          <p:cNvPr id="8" name="7 Rectángulo"/>
          <p:cNvSpPr/>
          <p:nvPr/>
        </p:nvSpPr>
        <p:spPr>
          <a:xfrm>
            <a:off x="1691680" y="2132856"/>
            <a:ext cx="6912768" cy="1938992"/>
          </a:xfrm>
          <a:prstGeom prst="rect">
            <a:avLst/>
          </a:prstGeom>
        </p:spPr>
        <p:txBody>
          <a:bodyPr wrap="square">
            <a:spAutoFit/>
          </a:bodyPr>
          <a:lstStyle/>
          <a:p>
            <a:pPr algn="just"/>
            <a:r>
              <a:rPr lang="es-AR" sz="2400" i="1" dirty="0"/>
              <a:t>“Definiremos a la balanza comercial o de mercaderías, como el registro económico de un país en un determinado período donde se contabilizan los ingresos y egresos producidos por la comercialización internacional”. </a:t>
            </a:r>
          </a:p>
        </p:txBody>
      </p:sp>
      <p:pic>
        <p:nvPicPr>
          <p:cNvPr id="9" name="0 Imagen" descr="comillas.png"/>
          <p:cNvPicPr/>
          <p:nvPr/>
        </p:nvPicPr>
        <p:blipFill>
          <a:blip r:embed="rId2" cstate="print">
            <a:clrChange>
              <a:clrFrom>
                <a:srgbClr val="FFFFFF"/>
              </a:clrFrom>
              <a:clrTo>
                <a:srgbClr val="FFFFFF">
                  <a:alpha val="0"/>
                </a:srgbClr>
              </a:clrTo>
            </a:clrChange>
            <a:grayscl/>
          </a:blip>
          <a:stretch>
            <a:fillRect/>
          </a:stretch>
        </p:blipFill>
        <p:spPr>
          <a:xfrm>
            <a:off x="611560" y="2132856"/>
            <a:ext cx="720080" cy="648072"/>
          </a:xfrm>
          <a:prstGeom prst="rect">
            <a:avLst/>
          </a:prstGeom>
        </p:spPr>
      </p:pic>
      <p:cxnSp>
        <p:nvCxnSpPr>
          <p:cNvPr id="10" name="9 Conector recto"/>
          <p:cNvCxnSpPr/>
          <p:nvPr/>
        </p:nvCxnSpPr>
        <p:spPr>
          <a:xfrm>
            <a:off x="1403648" y="2060848"/>
            <a:ext cx="0" cy="2016224"/>
          </a:xfrm>
          <a:prstGeom prst="line">
            <a:avLst/>
          </a:prstGeom>
        </p:spPr>
        <p:style>
          <a:lnRef idx="1">
            <a:schemeClr val="accent1"/>
          </a:lnRef>
          <a:fillRef idx="0">
            <a:schemeClr val="accent1"/>
          </a:fillRef>
          <a:effectRef idx="0">
            <a:schemeClr val="accent1"/>
          </a:effectRef>
          <a:fontRef idx="minor">
            <a:schemeClr val="tx1"/>
          </a:fontRef>
        </p:style>
      </p:cxnSp>
      <p:sp>
        <p:nvSpPr>
          <p:cNvPr id="27650" name="AutoShape 2"/>
          <p:cNvSpPr>
            <a:spLocks noChangeArrowheads="1"/>
          </p:cNvSpPr>
          <p:nvPr/>
        </p:nvSpPr>
        <p:spPr bwMode="auto">
          <a:xfrm>
            <a:off x="3347864" y="4653136"/>
            <a:ext cx="2664296" cy="864096"/>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s-AR" sz="3600" b="1" i="0" u="none" strike="noStrike" normalizeH="0" baseline="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libri" pitchFamily="34" charset="0"/>
                <a:cs typeface="Arial" pitchFamily="34" charset="0"/>
              </a:rPr>
              <a:t>BC = X - M</a:t>
            </a:r>
            <a:endParaRPr kumimoji="0" lang="es-AR" sz="3600" b="1" i="0" u="none" strike="noStrike" normalizeH="0" baseline="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620688"/>
            <a:ext cx="8352928" cy="1066800"/>
          </a:xfrm>
        </p:spPr>
        <p:txBody>
          <a:bodyPr/>
          <a:lstStyle/>
          <a:p>
            <a:pPr algn="ctr"/>
            <a:r>
              <a:rPr lang="es-AR" dirty="0">
                <a:effectLst>
                  <a:outerShdw blurRad="38100" dist="38100" dir="2700000" algn="tl">
                    <a:srgbClr val="000000">
                      <a:alpha val="43137"/>
                    </a:srgbClr>
                  </a:outerShdw>
                </a:effectLst>
              </a:rPr>
              <a:t>¿Preguntas?</a:t>
            </a:r>
          </a:p>
        </p:txBody>
      </p:sp>
      <p:pic>
        <p:nvPicPr>
          <p:cNvPr id="6" name="5 Imagen" descr="consultas.png"/>
          <p:cNvPicPr>
            <a:picLocks noChangeAspect="1"/>
          </p:cNvPicPr>
          <p:nvPr/>
        </p:nvPicPr>
        <p:blipFill>
          <a:blip r:embed="rId2" cstate="print">
            <a:clrChange>
              <a:clrFrom>
                <a:srgbClr val="FFFFFF"/>
              </a:clrFrom>
              <a:clrTo>
                <a:srgbClr val="FFFFFF">
                  <a:alpha val="0"/>
                </a:srgbClr>
              </a:clrTo>
            </a:clrChange>
            <a:lum bright="-30000" contrast="40000"/>
          </a:blip>
          <a:stretch>
            <a:fillRect/>
          </a:stretch>
        </p:blipFill>
        <p:spPr>
          <a:xfrm>
            <a:off x="2843808" y="1700808"/>
            <a:ext cx="4248472" cy="4248472"/>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o">
  <a:themeElements>
    <a:clrScheme name="Urbano">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o">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o">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1140</TotalTime>
  <Words>485</Words>
  <Application>Microsoft Office PowerPoint</Application>
  <PresentationFormat>Presentación en pantalla (4:3)</PresentationFormat>
  <Paragraphs>76</Paragraphs>
  <Slides>9</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9</vt:i4>
      </vt:variant>
    </vt:vector>
  </HeadingPairs>
  <TitlesOfParts>
    <vt:vector size="16" baseType="lpstr">
      <vt:lpstr>Arial</vt:lpstr>
      <vt:lpstr>Calibri</vt:lpstr>
      <vt:lpstr>Georgia</vt:lpstr>
      <vt:lpstr>Trebuchet MS</vt:lpstr>
      <vt:lpstr>Wingdings</vt:lpstr>
      <vt:lpstr>Wingdings 2</vt:lpstr>
      <vt:lpstr>Urbano</vt:lpstr>
      <vt:lpstr>COMERCIO EXTERIOR</vt:lpstr>
      <vt:lpstr>Evolución de los mercados</vt:lpstr>
      <vt:lpstr>Principales corrientes</vt:lpstr>
      <vt:lpstr>Mercados</vt:lpstr>
      <vt:lpstr>Balanza de pagos</vt:lpstr>
      <vt:lpstr>Balanza de pagos</vt:lpstr>
      <vt:lpstr>Balanza de pagos</vt:lpstr>
      <vt:lpstr>Balanza de pagos</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Políticas de comercio exterior</dc:title>
  <dc:creator>pecera</dc:creator>
  <cp:lastModifiedBy>Patricia Tilli</cp:lastModifiedBy>
  <cp:revision>98</cp:revision>
  <dcterms:created xsi:type="dcterms:W3CDTF">2020-04-08T19:51:48Z</dcterms:created>
  <dcterms:modified xsi:type="dcterms:W3CDTF">2021-07-19T21:07:28Z</dcterms:modified>
</cp:coreProperties>
</file>