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84" r:id="rId1"/>
  </p:sldMasterIdLst>
  <p:sldIdLst>
    <p:sldId id="257" r:id="rId2"/>
    <p:sldId id="267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68" r:id="rId12"/>
    <p:sldId id="277" r:id="rId13"/>
    <p:sldId id="265" r:id="rId14"/>
  </p:sldIdLst>
  <p:sldSz cx="9144000" cy="6858000" type="screen4x3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5620"/>
    <p:restoredTop sz="94660"/>
  </p:normalViewPr>
  <p:slideViewPr>
    <p:cSldViewPr>
      <p:cViewPr varScale="1">
        <p:scale>
          <a:sx n="62" d="100"/>
          <a:sy n="62" d="100"/>
        </p:scale>
        <p:origin x="696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tricia Tilli" userId="6fd68fabbfff9c24" providerId="LiveId" clId="{DB3EF5F7-52A6-4CCD-B039-1998705FFFAE}"/>
    <pc:docChg chg="modSld">
      <pc:chgData name="Patricia Tilli" userId="6fd68fabbfff9c24" providerId="LiveId" clId="{DB3EF5F7-52A6-4CCD-B039-1998705FFFAE}" dt="2021-07-19T21:07:40.084" v="0" actId="20577"/>
      <pc:docMkLst>
        <pc:docMk/>
      </pc:docMkLst>
      <pc:sldChg chg="modSp mod">
        <pc:chgData name="Patricia Tilli" userId="6fd68fabbfff9c24" providerId="LiveId" clId="{DB3EF5F7-52A6-4CCD-B039-1998705FFFAE}" dt="2021-07-19T21:07:40.084" v="0" actId="20577"/>
        <pc:sldMkLst>
          <pc:docMk/>
          <pc:sldMk cId="0" sldId="257"/>
        </pc:sldMkLst>
        <pc:spChg chg="mod">
          <ac:chgData name="Patricia Tilli" userId="6fd68fabbfff9c24" providerId="LiveId" clId="{DB3EF5F7-52A6-4CCD-B039-1998705FFFAE}" dt="2021-07-19T21:07:40.084" v="0" actId="20577"/>
          <ac:spMkLst>
            <pc:docMk/>
            <pc:sldMk cId="0" sldId="257"/>
            <ac:spMk id="1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22 Rectángulo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23 Rectángulo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24 Rectángulo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25 Rectángulo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26 Rectángulo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29 Rectángulo redondeado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30 Rectángulo redondeado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6 Rectángulo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9 Rectángulo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Rectángulo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18 Rectángulo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/>
              <a:t>Haga clic para modificar el estilo de subtítulo del patrón</a:t>
            </a:r>
            <a:endParaRPr kumimoji="0" lang="en-US"/>
          </a:p>
        </p:txBody>
      </p:sp>
      <p:sp>
        <p:nvSpPr>
          <p:cNvPr id="28" name="27 Marcador de fecha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D64906E9-39F7-443D-ADBC-FFF078A3B455}" type="datetimeFigureOut">
              <a:rPr lang="es-AR" smtClean="0"/>
              <a:pPr/>
              <a:t>19/7/2021</a:t>
            </a:fld>
            <a:endParaRPr lang="es-AR"/>
          </a:p>
        </p:txBody>
      </p:sp>
      <p:sp>
        <p:nvSpPr>
          <p:cNvPr id="17" name="16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es-AR"/>
          </a:p>
        </p:txBody>
      </p:sp>
      <p:sp>
        <p:nvSpPr>
          <p:cNvPr id="29" name="28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C834394E-5454-4430-BC7B-B2391CD2819A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906E9-39F7-443D-ADBC-FFF078A3B455}" type="datetimeFigureOut">
              <a:rPr lang="es-AR" smtClean="0"/>
              <a:pPr/>
              <a:t>19/7/2021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4394E-5454-4430-BC7B-B2391CD2819A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906E9-39F7-443D-ADBC-FFF078A3B455}" type="datetimeFigureOut">
              <a:rPr lang="es-AR" smtClean="0"/>
              <a:pPr/>
              <a:t>19/7/2021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4394E-5454-4430-BC7B-B2391CD2819A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906E9-39F7-443D-ADBC-FFF078A3B455}" type="datetimeFigureOut">
              <a:rPr lang="es-AR" smtClean="0"/>
              <a:pPr/>
              <a:t>19/7/2021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4394E-5454-4430-BC7B-B2391CD2819A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26" name="25 Marcador de fecha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D64906E9-39F7-443D-ADBC-FFF078A3B455}" type="datetimeFigureOut">
              <a:rPr lang="es-AR" smtClean="0"/>
              <a:pPr/>
              <a:t>19/7/2021</a:t>
            </a:fld>
            <a:endParaRPr lang="es-AR"/>
          </a:p>
        </p:txBody>
      </p:sp>
      <p:sp>
        <p:nvSpPr>
          <p:cNvPr id="27" name="26 Marcador de número de diapositiva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C834394E-5454-4430-BC7B-B2391CD2819A}" type="slidenum">
              <a:rPr lang="es-AR" smtClean="0"/>
              <a:pPr/>
              <a:t>‹Nº›</a:t>
            </a:fld>
            <a:endParaRPr lang="es-AR"/>
          </a:p>
        </p:txBody>
      </p:sp>
      <p:sp>
        <p:nvSpPr>
          <p:cNvPr id="28" name="27 Marcador de pie de página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s-A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D64906E9-39F7-443D-ADBC-FFF078A3B455}" type="datetimeFigureOut">
              <a:rPr lang="es-AR" smtClean="0"/>
              <a:pPr/>
              <a:t>19/7/2021</a:t>
            </a:fld>
            <a:endParaRPr lang="es-AR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es-AR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C834394E-5454-4430-BC7B-B2391CD2819A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906E9-39F7-443D-ADBC-FFF078A3B455}" type="datetimeFigureOut">
              <a:rPr lang="es-AR" smtClean="0"/>
              <a:pPr/>
              <a:t>19/7/2021</a:t>
            </a:fld>
            <a:endParaRPr lang="es-AR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4394E-5454-4430-BC7B-B2391CD2819A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906E9-39F7-443D-ADBC-FFF078A3B455}" type="datetimeFigureOut">
              <a:rPr lang="es-AR" smtClean="0"/>
              <a:pPr/>
              <a:t>19/7/2021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4394E-5454-4430-BC7B-B2391CD2819A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s-ES"/>
              <a:t>Haga clic en el icono para agregar una imagen</a:t>
            </a:r>
            <a:endParaRPr kumimoji="0" lang="en-U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906E9-39F7-443D-ADBC-FFF078A3B455}" type="datetimeFigureOut">
              <a:rPr lang="es-AR" smtClean="0"/>
              <a:pPr/>
              <a:t>19/7/2021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4394E-5454-4430-BC7B-B2391CD2819A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906E9-39F7-443D-ADBC-FFF078A3B455}" type="datetimeFigureOut">
              <a:rPr lang="es-AR" smtClean="0"/>
              <a:pPr/>
              <a:t>19/7/2021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4394E-5454-4430-BC7B-B2391CD2819A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906E9-39F7-443D-ADBC-FFF078A3B455}" type="datetimeFigureOut">
              <a:rPr lang="es-AR" smtClean="0"/>
              <a:pPr/>
              <a:t>19/7/2021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4394E-5454-4430-BC7B-B2391CD2819A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27 Rectángulo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28 Rectángulo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29 Rectángulo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30 Rectángulo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31 Rectángulo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32 Rectángulo redondeado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33 Rectángulo redondeado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34 Rectángulo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35 Rectángulo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36 Rectángulo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37 Rectángulo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38 Rectángulo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39 Rectángulo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21 Marcador de título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  <a:p>
            <a:pPr lvl="1" eaLnBrk="1" latinLnBrk="0" hangingPunct="1"/>
            <a:r>
              <a:rPr kumimoji="0" lang="es-ES"/>
              <a:t>Segundo nivel</a:t>
            </a:r>
          </a:p>
          <a:p>
            <a:pPr lvl="2" eaLnBrk="1" latinLnBrk="0" hangingPunct="1"/>
            <a:r>
              <a:rPr kumimoji="0" lang="es-ES"/>
              <a:t>Tercer nivel</a:t>
            </a:r>
          </a:p>
          <a:p>
            <a:pPr lvl="3" eaLnBrk="1" latinLnBrk="0" hangingPunct="1"/>
            <a:r>
              <a:rPr kumimoji="0" lang="es-ES"/>
              <a:t>Cuarto nivel</a:t>
            </a:r>
          </a:p>
          <a:p>
            <a:pPr lvl="4" eaLnBrk="1" latinLnBrk="0" hangingPunct="1"/>
            <a:r>
              <a:rPr kumimoji="0" lang="es-ES"/>
              <a:t>Quinto nivel</a:t>
            </a:r>
            <a:endParaRPr kumimoji="0" lang="en-US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D64906E9-39F7-443D-ADBC-FFF078A3B455}" type="datetimeFigureOut">
              <a:rPr lang="es-AR" smtClean="0"/>
              <a:pPr/>
              <a:t>19/7/2021</a:t>
            </a:fld>
            <a:endParaRPr lang="es-AR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es-AR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C834394E-5454-4430-BC7B-B2391CD2819A}" type="slidenum">
              <a:rPr lang="es-AR" smtClean="0"/>
              <a:pPr/>
              <a:t>‹Nº›</a:t>
            </a:fld>
            <a:endParaRPr lang="es-A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0" y="706016"/>
            <a:ext cx="9144000" cy="1066800"/>
          </a:xfrm>
        </p:spPr>
        <p:txBody>
          <a:bodyPr>
            <a:normAutofit/>
          </a:bodyPr>
          <a:lstStyle/>
          <a:p>
            <a:pPr algn="ctr"/>
            <a:r>
              <a:rPr lang="es-AR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COMERCIO EXTERIOR</a:t>
            </a:r>
          </a:p>
        </p:txBody>
      </p:sp>
      <p:sp>
        <p:nvSpPr>
          <p:cNvPr id="10" name="1 Título"/>
          <p:cNvSpPr txBox="1">
            <a:spLocks/>
          </p:cNvSpPr>
          <p:nvPr/>
        </p:nvSpPr>
        <p:spPr>
          <a:xfrm>
            <a:off x="0" y="1426096"/>
            <a:ext cx="91440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sz="28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Relaciones económicas internacionales</a:t>
            </a:r>
            <a:endParaRPr kumimoji="0" lang="es-AR" sz="2800" b="0" i="1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2" name="11 CuadroTexto"/>
          <p:cNvSpPr txBox="1"/>
          <p:nvPr/>
        </p:nvSpPr>
        <p:spPr>
          <a:xfrm>
            <a:off x="0" y="6165304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s-AR" sz="2000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  <a:sym typeface="Wingdings"/>
              </a:rPr>
              <a:t> </a:t>
            </a:r>
            <a:r>
              <a:rPr lang="es-AR" sz="2000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/>
              </a:rPr>
              <a:t> </a:t>
            </a:r>
            <a:r>
              <a:rPr lang="es-AR" sz="200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  <a:sym typeface="Wingdings"/>
              </a:rPr>
              <a:t>Módulo VII   </a:t>
            </a:r>
            <a:r>
              <a:rPr lang="es-AR" sz="2000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  <a:sym typeface="Wingdings"/>
              </a:rPr>
              <a:t>-   parte II</a:t>
            </a:r>
            <a:endParaRPr lang="es-AR" sz="2000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pic>
        <p:nvPicPr>
          <p:cNvPr id="12290" name="Picture 2" descr="Las Relaciones Internacionales en el siglo XXI - mariacristinarosas.mx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63688" y="2420888"/>
            <a:ext cx="5760640" cy="3605201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512" y="778024"/>
            <a:ext cx="8784976" cy="1066800"/>
          </a:xfrm>
        </p:spPr>
        <p:txBody>
          <a:bodyPr>
            <a:normAutofit fontScale="90000"/>
          </a:bodyPr>
          <a:lstStyle/>
          <a:p>
            <a:pPr algn="ctr"/>
            <a:r>
              <a:rPr lang="es-A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Argentina y los mercados internacionales</a:t>
            </a:r>
          </a:p>
        </p:txBody>
      </p:sp>
      <p:sp>
        <p:nvSpPr>
          <p:cNvPr id="5" name="4 Rectángulo"/>
          <p:cNvSpPr/>
          <p:nvPr/>
        </p:nvSpPr>
        <p:spPr>
          <a:xfrm>
            <a:off x="1691680" y="2204864"/>
            <a:ext cx="6624736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sz="2800" i="1" dirty="0"/>
              <a:t>“La producción nacional de bienes y servicios, tiene como principal destino el mercado interno, excepto el sector agropecuario que definitivamente tiene gran presencia en mercados internacionales”</a:t>
            </a:r>
          </a:p>
          <a:p>
            <a:pPr algn="just"/>
            <a:endParaRPr lang="es-AR" sz="2800" i="1" dirty="0"/>
          </a:p>
          <a:p>
            <a:pPr algn="just"/>
            <a:r>
              <a:rPr lang="es-AR" sz="2800" i="1" dirty="0"/>
              <a:t>        </a:t>
            </a:r>
            <a:r>
              <a:rPr lang="es-AR" sz="2000" i="1" dirty="0"/>
              <a:t>impacto de la coyuntura económico-política</a:t>
            </a:r>
            <a:endParaRPr lang="es-AR" sz="2800" i="1" dirty="0"/>
          </a:p>
        </p:txBody>
      </p:sp>
      <p:pic>
        <p:nvPicPr>
          <p:cNvPr id="6" name="0 Imagen" descr="comillas.png"/>
          <p:cNvPicPr/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grayscl/>
          </a:blip>
          <a:stretch>
            <a:fillRect/>
          </a:stretch>
        </p:blipFill>
        <p:spPr>
          <a:xfrm>
            <a:off x="683568" y="2204864"/>
            <a:ext cx="720080" cy="648072"/>
          </a:xfrm>
          <a:prstGeom prst="rect">
            <a:avLst/>
          </a:prstGeom>
        </p:spPr>
      </p:pic>
      <p:cxnSp>
        <p:nvCxnSpPr>
          <p:cNvPr id="7" name="6 Conector recto"/>
          <p:cNvCxnSpPr/>
          <p:nvPr/>
        </p:nvCxnSpPr>
        <p:spPr>
          <a:xfrm>
            <a:off x="1475656" y="2132856"/>
            <a:ext cx="0" cy="36724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8 Imagen" descr="atencion.jpg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CECECE"/>
              </a:clrFrom>
              <a:clrTo>
                <a:srgbClr val="CECEC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91680" y="5085184"/>
            <a:ext cx="648072" cy="6480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512" y="778024"/>
            <a:ext cx="8784976" cy="1066800"/>
          </a:xfrm>
        </p:spPr>
        <p:txBody>
          <a:bodyPr>
            <a:normAutofit fontScale="90000"/>
          </a:bodyPr>
          <a:lstStyle/>
          <a:p>
            <a:pPr algn="ctr"/>
            <a:r>
              <a:rPr lang="es-A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Argentina y los mercados internacionales</a:t>
            </a:r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A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es-A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3017838" cy="7938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graphicFrame>
        <p:nvGraphicFramePr>
          <p:cNvPr id="11" name="10 Tabla"/>
          <p:cNvGraphicFramePr>
            <a:graphicFrameLocks noGrp="1"/>
          </p:cNvGraphicFramePr>
          <p:nvPr/>
        </p:nvGraphicFramePr>
        <p:xfrm>
          <a:off x="611560" y="1844824"/>
          <a:ext cx="8136904" cy="4686753"/>
        </p:xfrm>
        <a:graphic>
          <a:graphicData uri="http://schemas.openxmlformats.org/drawingml/2006/table">
            <a:tbl>
              <a:tblPr/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22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465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763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 b="1" i="1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Arial"/>
                          <a:cs typeface="Times New Roman"/>
                        </a:rPr>
                        <a:t>Período</a:t>
                      </a:r>
                      <a:endParaRPr lang="es-AR" sz="1800" b="1" dirty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 b="1" i="1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Arial"/>
                          <a:cs typeface="Times New Roman"/>
                        </a:rPr>
                        <a:t>Contexto internacional</a:t>
                      </a:r>
                      <a:endParaRPr lang="es-AR" sz="1800" dirty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 b="1" i="1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Arial"/>
                          <a:cs typeface="Times New Roman"/>
                        </a:rPr>
                        <a:t>Situación en Argentina</a:t>
                      </a:r>
                      <a:endParaRPr lang="es-AR" sz="1800" dirty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106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 b="1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Arial"/>
                          <a:cs typeface="Times New Roman"/>
                        </a:rPr>
                        <a:t>1864-1890</a:t>
                      </a:r>
                      <a:endParaRPr lang="es-AR" sz="1800" b="1" dirty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 dirty="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Times New Roman"/>
                        </a:rPr>
                        <a:t>*Revolución Industrial: Primera y segunda. </a:t>
                      </a:r>
                      <a:endParaRPr lang="es-AR" sz="1800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 dirty="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Times New Roman"/>
                        </a:rPr>
                        <a:t>*Avances tecnológicos: barco de vapor, telégrafo, teléfono, locomotora eléctrica.</a:t>
                      </a:r>
                      <a:endParaRPr lang="es-AR" sz="1800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 dirty="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Times New Roman"/>
                        </a:rPr>
                        <a:t>*Abundancia de capitales por comercio colonial. </a:t>
                      </a:r>
                      <a:endParaRPr lang="es-AR" sz="1800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 dirty="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Times New Roman"/>
                        </a:rPr>
                        <a:t>*Crecimiento poblacional, con carencias alimenticias, hambrunas y migraciones</a:t>
                      </a:r>
                      <a:endParaRPr lang="es-AR" sz="1800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 dirty="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Times New Roman"/>
                        </a:rPr>
                        <a:t>*Desarrollo de la agricultura</a:t>
                      </a:r>
                      <a:endParaRPr lang="es-AR" sz="1800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 dirty="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Times New Roman"/>
                        </a:rPr>
                        <a:t>*Gran Bretaña, desarrollador del comercio internacional.</a:t>
                      </a:r>
                      <a:endParaRPr lang="es-AR" sz="1800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 dirty="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Times New Roman"/>
                        </a:rPr>
                        <a:t>*Amplió su frontera agrícola-ganadera.</a:t>
                      </a:r>
                      <a:endParaRPr lang="es-AR" sz="1800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 dirty="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Times New Roman"/>
                        </a:rPr>
                        <a:t>*Constantes luchas para solucionar conflictos de ideología que buscaban consolidar la política y economía nacional</a:t>
                      </a:r>
                      <a:endParaRPr lang="es-AR" sz="1800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 dirty="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Times New Roman"/>
                        </a:rPr>
                        <a:t>*Abastecedor de materias primas</a:t>
                      </a:r>
                      <a:endParaRPr lang="es-AR" sz="1800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 dirty="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Times New Roman"/>
                        </a:rPr>
                        <a:t>*Desarrollo industrial para el mercado interno </a:t>
                      </a:r>
                      <a:endParaRPr lang="es-AR" sz="1800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8579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 b="1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Arial"/>
                          <a:cs typeface="Times New Roman"/>
                        </a:rPr>
                        <a:t>1890-1916</a:t>
                      </a:r>
                      <a:endParaRPr lang="es-AR" sz="1800" b="1" dirty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 dirty="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Times New Roman"/>
                        </a:rPr>
                        <a:t>*Crecimiento demográfico </a:t>
                      </a:r>
                      <a:endParaRPr lang="es-AR" sz="1800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 dirty="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Times New Roman"/>
                        </a:rPr>
                        <a:t>*Escasez de trabajo</a:t>
                      </a:r>
                      <a:endParaRPr lang="es-AR" sz="1800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 dirty="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Times New Roman"/>
                        </a:rPr>
                        <a:t>*Incremento de migraciones, tras seguimientos y persecuciones ideológicas y religiosas</a:t>
                      </a:r>
                      <a:endParaRPr lang="es-AR" sz="1800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 dirty="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Times New Roman"/>
                        </a:rPr>
                        <a:t>*Mercados mundiales disputados por: EEUU, Gran Bretaña, Alemania y Japón</a:t>
                      </a:r>
                      <a:endParaRPr lang="es-AR" sz="1800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 dirty="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Times New Roman"/>
                        </a:rPr>
                        <a:t>*Unificación nacional</a:t>
                      </a:r>
                      <a:endParaRPr lang="es-AR" sz="1800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 dirty="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Times New Roman"/>
                        </a:rPr>
                        <a:t>*Crecimiento económico que no mejoró ingresos de trabajadores, que reclamaban a través de huelgas</a:t>
                      </a:r>
                      <a:endParaRPr lang="es-AR" sz="1800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 dirty="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Times New Roman"/>
                        </a:rPr>
                        <a:t>*Dificultad para recibir financiación internacional compensada por ingreso de divisas de exportaciones agropecuarias</a:t>
                      </a:r>
                      <a:endParaRPr lang="es-AR" sz="1800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512" y="778024"/>
            <a:ext cx="8784976" cy="1066800"/>
          </a:xfrm>
        </p:spPr>
        <p:txBody>
          <a:bodyPr>
            <a:normAutofit fontScale="90000"/>
          </a:bodyPr>
          <a:lstStyle/>
          <a:p>
            <a:pPr algn="ctr"/>
            <a:r>
              <a:rPr lang="es-A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Argentina y los mercados internacionales</a:t>
            </a:r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A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es-A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3017838" cy="7938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graphicFrame>
        <p:nvGraphicFramePr>
          <p:cNvPr id="11" name="10 Tabla"/>
          <p:cNvGraphicFramePr>
            <a:graphicFrameLocks noGrp="1"/>
          </p:cNvGraphicFramePr>
          <p:nvPr/>
        </p:nvGraphicFramePr>
        <p:xfrm>
          <a:off x="611560" y="1844824"/>
          <a:ext cx="8136904" cy="3589473"/>
        </p:xfrm>
        <a:graphic>
          <a:graphicData uri="http://schemas.openxmlformats.org/drawingml/2006/table">
            <a:tbl>
              <a:tblPr/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22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465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763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 b="1" i="1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Arial"/>
                          <a:cs typeface="Times New Roman"/>
                        </a:rPr>
                        <a:t>Período</a:t>
                      </a:r>
                      <a:endParaRPr lang="es-AR" sz="1800" b="1" dirty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 b="1" i="1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Arial"/>
                          <a:cs typeface="Times New Roman"/>
                        </a:rPr>
                        <a:t>Contexto internacional</a:t>
                      </a:r>
                      <a:endParaRPr lang="es-AR" sz="1800" dirty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 b="1" i="1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Arial"/>
                          <a:cs typeface="Times New Roman"/>
                        </a:rPr>
                        <a:t>Situación en Argentina</a:t>
                      </a:r>
                      <a:endParaRPr lang="es-AR" sz="1800" dirty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264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 b="1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Arial"/>
                          <a:cs typeface="Times New Roman"/>
                        </a:rPr>
                        <a:t>1916-1930</a:t>
                      </a:r>
                      <a:endParaRPr lang="es-AR" sz="1800" b="1" dirty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Times New Roman"/>
                        </a:rPr>
                        <a:t>*Período signado por Guerras Mundiales</a:t>
                      </a:r>
                      <a:endParaRPr lang="es-AR" sz="180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Times New Roman"/>
                        </a:rPr>
                        <a:t>*Poder económico comercial pasó de Gran Bretaña a EEUU</a:t>
                      </a:r>
                      <a:endParaRPr lang="es-AR" sz="180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Times New Roman"/>
                        </a:rPr>
                        <a:t>*Crisis económica norteamericana del año ´29, arrastró al comercio internacional</a:t>
                      </a:r>
                      <a:endParaRPr lang="es-AR" sz="180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Times New Roman"/>
                        </a:rPr>
                        <a:t>*Restricciones de compras internacionales por inconvenientes sanitarios</a:t>
                      </a:r>
                      <a:endParaRPr lang="es-AR" sz="180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 dirty="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Times New Roman"/>
                        </a:rPr>
                        <a:t>*Desaceleración económica e incertidumbre generalizada, conflictos entre gobierno y masa laboral, al límite de la guerra civil.</a:t>
                      </a:r>
                      <a:endParaRPr lang="es-AR" sz="1800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 dirty="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Times New Roman"/>
                        </a:rPr>
                        <a:t>*Conflicto con EEUU, por productos agrícolas y tasa de aranceles aplicados.</a:t>
                      </a:r>
                      <a:endParaRPr lang="es-AR" sz="1800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 dirty="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Times New Roman"/>
                        </a:rPr>
                        <a:t>*Aranceles como instrumento recaudatorio y de desarrollo de la industria nacional.</a:t>
                      </a:r>
                      <a:endParaRPr lang="es-AR" sz="1800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 dirty="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Times New Roman"/>
                        </a:rPr>
                        <a:t>*La balanza comercial superavitaria no pudo beneficiar al país al estar íntimamente relacionada con la exportación de productos primarios de bajo valor agregado y cuyos precios eran y siguen siendo manejados por mercados internacionales.</a:t>
                      </a:r>
                      <a:endParaRPr lang="es-AR" sz="1800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512" y="778024"/>
            <a:ext cx="8784976" cy="1066800"/>
          </a:xfrm>
        </p:spPr>
        <p:txBody>
          <a:bodyPr>
            <a:normAutofit fontScale="90000"/>
          </a:bodyPr>
          <a:lstStyle/>
          <a:p>
            <a:pPr algn="ctr"/>
            <a:r>
              <a:rPr lang="es-A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Argentina y los mercados internacionales</a:t>
            </a:r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A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es-A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3017838" cy="7938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graphicFrame>
        <p:nvGraphicFramePr>
          <p:cNvPr id="11" name="10 Tabla"/>
          <p:cNvGraphicFramePr>
            <a:graphicFrameLocks noGrp="1"/>
          </p:cNvGraphicFramePr>
          <p:nvPr/>
        </p:nvGraphicFramePr>
        <p:xfrm>
          <a:off x="611560" y="1844824"/>
          <a:ext cx="8136904" cy="4104839"/>
        </p:xfrm>
        <a:graphic>
          <a:graphicData uri="http://schemas.openxmlformats.org/drawingml/2006/table">
            <a:tbl>
              <a:tblPr/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22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465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763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 b="1" i="1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Arial"/>
                          <a:cs typeface="Times New Roman"/>
                        </a:rPr>
                        <a:t>Período</a:t>
                      </a:r>
                      <a:endParaRPr lang="es-AR" sz="1800" b="1" dirty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 b="1" i="1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Arial"/>
                          <a:cs typeface="Times New Roman"/>
                        </a:rPr>
                        <a:t>Contexto internacional</a:t>
                      </a:r>
                      <a:endParaRPr lang="es-AR" sz="1800" dirty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 b="1" i="1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Arial"/>
                          <a:cs typeface="Times New Roman"/>
                        </a:rPr>
                        <a:t>Situación en Argentina</a:t>
                      </a:r>
                      <a:endParaRPr lang="es-AR" sz="1800" dirty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579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 b="1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Arial"/>
                          <a:cs typeface="Times New Roman"/>
                        </a:rPr>
                        <a:t>1930-1943</a:t>
                      </a:r>
                      <a:endParaRPr lang="es-AR" sz="1800" b="1" dirty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 dirty="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Times New Roman"/>
                        </a:rPr>
                        <a:t>*Economía mundial afectada por la crisis del ´29.</a:t>
                      </a:r>
                      <a:endParaRPr lang="es-AR" sz="1800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 dirty="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Times New Roman"/>
                        </a:rPr>
                        <a:t>*II Guerra</a:t>
                      </a:r>
                      <a:r>
                        <a:rPr lang="es-AR" sz="1200" baseline="0" dirty="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Times New Roman"/>
                        </a:rPr>
                        <a:t> Mundial (1939-1945)</a:t>
                      </a:r>
                      <a:endParaRPr lang="es-AR" sz="1800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 dirty="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Times New Roman"/>
                        </a:rPr>
                        <a:t>*Conferencia de Río de Janeiro, 1942, (México,</a:t>
                      </a:r>
                      <a:r>
                        <a:rPr lang="es-AR" sz="1200" baseline="0" dirty="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Times New Roman"/>
                        </a:rPr>
                        <a:t> Colombia y Venezuela) </a:t>
                      </a:r>
                      <a:r>
                        <a:rPr lang="es-AR" sz="1200" dirty="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Times New Roman"/>
                        </a:rPr>
                        <a:t>proponía que países latinos no se relacionaran con países del Eje (Alemania, Italia y Japón)</a:t>
                      </a:r>
                      <a:r>
                        <a:rPr lang="es-AR" sz="1200" baseline="0" dirty="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Times New Roman"/>
                        </a:rPr>
                        <a:t> </a:t>
                      </a:r>
                      <a:endParaRPr lang="es-AR" sz="1800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 dirty="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Times New Roman"/>
                        </a:rPr>
                        <a:t>*Consecuencias de crisis internacional: retracción de producción, aumento de desocupación, menores ingresos y deterioro de calidad de vida de la población.</a:t>
                      </a:r>
                      <a:endParaRPr lang="es-AR" sz="1800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 dirty="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Times New Roman"/>
                        </a:rPr>
                        <a:t>*Industrialización por sustitución de importaciones, desarrollo de industrias básicas o livianas para abastecer mercado local e internacional próximo.  </a:t>
                      </a: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 dirty="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Times New Roman"/>
                        </a:rPr>
                        <a:t>*Abastecimiento de alimentos a Inglaterra durante el conflicto bélico impidió sanciones económicas ideadas por EEUU.</a:t>
                      </a:r>
                      <a:endParaRPr lang="es-AR" sz="1800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 dirty="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Times New Roman"/>
                        </a:rPr>
                        <a:t>*Propuso libertad de acción en el conflicto mundial enfrentándose diplomáticamente con EEUU.</a:t>
                      </a:r>
                      <a:endParaRPr lang="es-AR" sz="1800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512" y="778024"/>
            <a:ext cx="8784976" cy="1066800"/>
          </a:xfrm>
        </p:spPr>
        <p:txBody>
          <a:bodyPr>
            <a:normAutofit fontScale="90000"/>
          </a:bodyPr>
          <a:lstStyle/>
          <a:p>
            <a:pPr algn="ctr"/>
            <a:r>
              <a:rPr lang="es-A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Argentina y los mercados internacionales</a:t>
            </a:r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A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es-A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3017838" cy="7938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graphicFrame>
        <p:nvGraphicFramePr>
          <p:cNvPr id="11" name="10 Tabla"/>
          <p:cNvGraphicFramePr>
            <a:graphicFrameLocks noGrp="1"/>
          </p:cNvGraphicFramePr>
          <p:nvPr/>
        </p:nvGraphicFramePr>
        <p:xfrm>
          <a:off x="611560" y="1844824"/>
          <a:ext cx="8136904" cy="3556199"/>
        </p:xfrm>
        <a:graphic>
          <a:graphicData uri="http://schemas.openxmlformats.org/drawingml/2006/table">
            <a:tbl>
              <a:tblPr/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22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465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763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 b="1" i="1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Arial"/>
                          <a:cs typeface="Times New Roman"/>
                        </a:rPr>
                        <a:t>Período</a:t>
                      </a:r>
                      <a:endParaRPr lang="es-AR" sz="1800" b="1" dirty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 b="1" i="1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Arial"/>
                          <a:cs typeface="Times New Roman"/>
                        </a:rPr>
                        <a:t>Contexto internacional</a:t>
                      </a:r>
                      <a:endParaRPr lang="es-AR" sz="1800" dirty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 b="1" i="1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Arial"/>
                          <a:cs typeface="Times New Roman"/>
                        </a:rPr>
                        <a:t>Situación en Argentina</a:t>
                      </a:r>
                      <a:endParaRPr lang="es-AR" sz="1800" dirty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579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 b="1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Arial"/>
                          <a:cs typeface="Times New Roman"/>
                        </a:rPr>
                        <a:t>1943-1955</a:t>
                      </a:r>
                      <a:endParaRPr lang="es-AR" sz="1200" b="1" dirty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Times New Roman"/>
                        </a:rPr>
                        <a:t>*Fin de la II GM, comienzo de la Guerra Fría (EEUU vs URSS)</a:t>
                      </a:r>
                      <a:endParaRPr lang="es-AR" sz="120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Times New Roman"/>
                        </a:rPr>
                        <a:t>*Plan Marshall, EEUU propuso reconstrucción europea.</a:t>
                      </a:r>
                      <a:endParaRPr lang="es-AR" sz="120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 dirty="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Times New Roman"/>
                        </a:rPr>
                        <a:t>*Balanza de pagos con problemas, M en alza, disminución de reservas en oro y divisas generadas durante la GM.</a:t>
                      </a:r>
                      <a:endParaRPr lang="es-AR" sz="1200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 dirty="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Times New Roman"/>
                        </a:rPr>
                        <a:t>*Proyecto Nacional, estructura con medidas que buscaban retrotraer la política económica de los años ´30.</a:t>
                      </a:r>
                      <a:endParaRPr lang="es-AR" sz="1200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 dirty="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Times New Roman"/>
                        </a:rPr>
                        <a:t>*Establecimiento de Planes Quinquenales, para la protección del mercado interno otorgando al gobierno amplitud para el manejo del Comercio Exterior.</a:t>
                      </a:r>
                      <a:endParaRPr lang="es-AR" sz="1200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 dirty="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Times New Roman"/>
                        </a:rPr>
                        <a:t>*Movimientos sociales enfrentados a la gestión de gobierno del momento.</a:t>
                      </a:r>
                      <a:endParaRPr lang="es-AR" sz="1200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512" y="778024"/>
            <a:ext cx="8784976" cy="1066800"/>
          </a:xfrm>
        </p:spPr>
        <p:txBody>
          <a:bodyPr>
            <a:normAutofit fontScale="90000"/>
          </a:bodyPr>
          <a:lstStyle/>
          <a:p>
            <a:pPr algn="ctr"/>
            <a:r>
              <a:rPr lang="es-A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Argentina y los mercados internacionales</a:t>
            </a:r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A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es-A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3017838" cy="7938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graphicFrame>
        <p:nvGraphicFramePr>
          <p:cNvPr id="11" name="10 Tabla"/>
          <p:cNvGraphicFramePr>
            <a:graphicFrameLocks noGrp="1"/>
          </p:cNvGraphicFramePr>
          <p:nvPr/>
        </p:nvGraphicFramePr>
        <p:xfrm>
          <a:off x="611560" y="1844824"/>
          <a:ext cx="8136904" cy="3589473"/>
        </p:xfrm>
        <a:graphic>
          <a:graphicData uri="http://schemas.openxmlformats.org/drawingml/2006/table">
            <a:tbl>
              <a:tblPr/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22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465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763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 b="1" i="1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Arial"/>
                          <a:cs typeface="Times New Roman"/>
                        </a:rPr>
                        <a:t>Período</a:t>
                      </a:r>
                      <a:endParaRPr lang="es-AR" sz="1800" b="1" dirty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 b="1" i="1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Arial"/>
                          <a:cs typeface="Times New Roman"/>
                        </a:rPr>
                        <a:t>Contexto internacional</a:t>
                      </a:r>
                      <a:endParaRPr lang="es-AR" sz="1800" dirty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 b="1" i="1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Arial"/>
                          <a:cs typeface="Times New Roman"/>
                        </a:rPr>
                        <a:t>Situación en Argentina</a:t>
                      </a:r>
                      <a:endParaRPr lang="es-AR" sz="1800" dirty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579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 b="1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Arial"/>
                          <a:cs typeface="Times New Roman"/>
                        </a:rPr>
                        <a:t>1955-1973</a:t>
                      </a:r>
                      <a:endParaRPr lang="es-AR" sz="1200" b="1" dirty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Times New Roman"/>
                        </a:rPr>
                        <a:t>*Alejamiento de la idea de una nueva GM, modificaciones culturales, sociales. Revoluciones ideológicas y políticas.</a:t>
                      </a:r>
                      <a:endParaRPr lang="es-AR" sz="120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Times New Roman"/>
                        </a:rPr>
                        <a:t>*Europa comienza a integrarse económica y socialmente.</a:t>
                      </a:r>
                      <a:endParaRPr lang="es-AR" sz="120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Times New Roman"/>
                        </a:rPr>
                        <a:t>*EEUU, intervino en guerra de Vietnam y se enfrentó a una serie de inconvenientes que lo desprestigiaría frente al mundo.</a:t>
                      </a:r>
                      <a:endParaRPr lang="es-AR" sz="120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Times New Roman"/>
                        </a:rPr>
                        <a:t>*Latinoamérica, en jaque por intervenciones militares.</a:t>
                      </a:r>
                      <a:endParaRPr lang="es-AR" sz="120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Times New Roman"/>
                        </a:rPr>
                        <a:t>*Cuba revolucionada y libre como ejemplo para el resto de los países.</a:t>
                      </a:r>
                      <a:endParaRPr lang="es-AR" sz="120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 dirty="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Times New Roman"/>
                        </a:rPr>
                        <a:t>*Revolución Libertadora, modelo político y económico alternativo al populismo.</a:t>
                      </a:r>
                      <a:endParaRPr lang="es-AR" sz="1200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 dirty="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Times New Roman"/>
                        </a:rPr>
                        <a:t>*Período con ciclos de expansión y recesión, balanza comercial desfavorable, inflación, devaluación. Aislamiento.</a:t>
                      </a:r>
                      <a:endParaRPr lang="es-AR" sz="1200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 dirty="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Times New Roman"/>
                        </a:rPr>
                        <a:t>*Inestabilidad política y social que generó retrocesos e incidió en el desarrollo económico.</a:t>
                      </a:r>
                      <a:endParaRPr lang="es-AR" sz="1200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512" y="778024"/>
            <a:ext cx="8784976" cy="1066800"/>
          </a:xfrm>
        </p:spPr>
        <p:txBody>
          <a:bodyPr>
            <a:normAutofit fontScale="90000"/>
          </a:bodyPr>
          <a:lstStyle/>
          <a:p>
            <a:pPr algn="ctr"/>
            <a:r>
              <a:rPr lang="es-A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Argentina y los mercados internacionales</a:t>
            </a:r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A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es-A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3017838" cy="7938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graphicFrame>
        <p:nvGraphicFramePr>
          <p:cNvPr id="11" name="10 Tabla"/>
          <p:cNvGraphicFramePr>
            <a:graphicFrameLocks noGrp="1"/>
          </p:cNvGraphicFramePr>
          <p:nvPr/>
        </p:nvGraphicFramePr>
        <p:xfrm>
          <a:off x="611560" y="1844824"/>
          <a:ext cx="8136904" cy="3863793"/>
        </p:xfrm>
        <a:graphic>
          <a:graphicData uri="http://schemas.openxmlformats.org/drawingml/2006/table">
            <a:tbl>
              <a:tblPr/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22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465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763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 b="1" i="1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Arial"/>
                          <a:cs typeface="Times New Roman"/>
                        </a:rPr>
                        <a:t>Período</a:t>
                      </a:r>
                      <a:endParaRPr lang="es-AR" sz="1800" b="1" dirty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 b="1" i="1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Arial"/>
                          <a:cs typeface="Times New Roman"/>
                        </a:rPr>
                        <a:t>Contexto internacional</a:t>
                      </a:r>
                      <a:endParaRPr lang="es-AR" sz="1800" dirty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 b="1" i="1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Arial"/>
                          <a:cs typeface="Times New Roman"/>
                        </a:rPr>
                        <a:t>Situación en Argentina</a:t>
                      </a:r>
                      <a:endParaRPr lang="es-AR" sz="1800" dirty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579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 b="1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Arial"/>
                          <a:cs typeface="Times New Roman"/>
                        </a:rPr>
                        <a:t>1973-1983</a:t>
                      </a:r>
                      <a:endParaRPr lang="es-AR" sz="1200" b="1" dirty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Times New Roman"/>
                        </a:rPr>
                        <a:t>*Dependencia del petróleo, crisis y aumento insostenible. Creación de OPEP.</a:t>
                      </a:r>
                      <a:endParaRPr lang="es-AR" sz="120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Times New Roman"/>
                        </a:rPr>
                        <a:t>*Desequilibrio ecológico como debate global mundial.</a:t>
                      </a:r>
                      <a:endParaRPr lang="es-AR" sz="120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Times New Roman"/>
                        </a:rPr>
                        <a:t>*Países de América del Sur, afectados por dictaduras militares que interrumpían gobiernos democráticos. </a:t>
                      </a:r>
                      <a:endParaRPr lang="es-AR" sz="120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Times New Roman"/>
                        </a:rPr>
                        <a:t>*Terrorismo nuevo virus internacional.</a:t>
                      </a:r>
                      <a:endParaRPr lang="es-AR" sz="120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Times New Roman"/>
                        </a:rPr>
                        <a:t>*Excedente de liquidez dada por petrodólares favoreció créditos a países con economías abiertas.</a:t>
                      </a:r>
                      <a:endParaRPr lang="es-AR" sz="120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 dirty="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Times New Roman"/>
                        </a:rPr>
                        <a:t>*Balanza de pagos con serios inconvenientes, sin proyecto económico a largo plazo.</a:t>
                      </a:r>
                      <a:endParaRPr lang="es-AR" sz="1200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 dirty="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Times New Roman"/>
                        </a:rPr>
                        <a:t>*Época de reorganización mediada por golpe de Estado.</a:t>
                      </a:r>
                      <a:endParaRPr lang="es-AR" sz="1200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 dirty="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Times New Roman"/>
                        </a:rPr>
                        <a:t>*Apertura económica con incremento de importaciones que permitieron modernización de industrias pero incrementaron inconvenientes internos que vieron en el conflicto bélico un </a:t>
                      </a:r>
                      <a:r>
                        <a:rPr lang="es-AR" sz="1200" dirty="0" err="1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Times New Roman"/>
                        </a:rPr>
                        <a:t>saneador</a:t>
                      </a:r>
                      <a:r>
                        <a:rPr lang="es-AR" sz="1200" dirty="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Times New Roman"/>
                        </a:rPr>
                        <a:t>. </a:t>
                      </a:r>
                      <a:endParaRPr lang="es-AR" sz="1200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 dirty="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Times New Roman"/>
                        </a:rPr>
                        <a:t>*Endeudamiento externo</a:t>
                      </a:r>
                      <a:endParaRPr lang="es-AR" sz="1200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 dirty="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Times New Roman"/>
                        </a:rPr>
                        <a:t>*Derrota y fin del conflicto y colapso del gobierno de facto.</a:t>
                      </a:r>
                      <a:endParaRPr lang="es-AR" sz="1200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 dirty="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Times New Roman"/>
                        </a:rPr>
                        <a:t>*Convocatoria a elecciones democráticas.</a:t>
                      </a:r>
                      <a:endParaRPr lang="es-AR" sz="1200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512" y="778024"/>
            <a:ext cx="8784976" cy="1066800"/>
          </a:xfrm>
        </p:spPr>
        <p:txBody>
          <a:bodyPr>
            <a:normAutofit fontScale="90000"/>
          </a:bodyPr>
          <a:lstStyle/>
          <a:p>
            <a:pPr algn="ctr"/>
            <a:r>
              <a:rPr lang="es-A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Argentina y los mercados internacionales</a:t>
            </a:r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A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es-A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3017838" cy="7938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graphicFrame>
        <p:nvGraphicFramePr>
          <p:cNvPr id="11" name="10 Tabla"/>
          <p:cNvGraphicFramePr>
            <a:graphicFrameLocks noGrp="1"/>
          </p:cNvGraphicFramePr>
          <p:nvPr/>
        </p:nvGraphicFramePr>
        <p:xfrm>
          <a:off x="611560" y="1772816"/>
          <a:ext cx="8136904" cy="5075373"/>
        </p:xfrm>
        <a:graphic>
          <a:graphicData uri="http://schemas.openxmlformats.org/drawingml/2006/table">
            <a:tbl>
              <a:tblPr/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22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465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763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 b="1" i="1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Arial"/>
                          <a:cs typeface="Times New Roman"/>
                        </a:rPr>
                        <a:t>Período</a:t>
                      </a:r>
                      <a:endParaRPr lang="es-AR" sz="1800" b="1" dirty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 b="1" i="1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Arial"/>
                          <a:cs typeface="Times New Roman"/>
                        </a:rPr>
                        <a:t>Contexto internacional</a:t>
                      </a:r>
                      <a:endParaRPr lang="es-AR" sz="1800" dirty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 b="1" i="1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Arial"/>
                          <a:cs typeface="Times New Roman"/>
                        </a:rPr>
                        <a:t>Situación en Argentina</a:t>
                      </a:r>
                      <a:endParaRPr lang="es-AR" sz="1800" dirty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579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 b="1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Arial"/>
                          <a:cs typeface="Times New Roman"/>
                        </a:rPr>
                        <a:t>1983-2001</a:t>
                      </a:r>
                      <a:endParaRPr lang="es-AR" sz="1200" b="1" dirty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100" dirty="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Times New Roman"/>
                        </a:rPr>
                        <a:t>*Globalización de la economía, conexiones telefónicas y de redes, disminuyeron distancias. Dispositivos electrónicos inundaron la vida de la población mundial.</a:t>
                      </a:r>
                      <a:endParaRPr lang="es-AR" sz="1100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100" dirty="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Times New Roman"/>
                        </a:rPr>
                        <a:t>*Naciones europeas acordaron la creación de un Mercado Común.</a:t>
                      </a:r>
                      <a:endParaRPr lang="es-AR" sz="1100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100" dirty="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Times New Roman"/>
                        </a:rPr>
                        <a:t>*Brasil, planteó el cese de pago de intereses y los acreedores internacionales temblaron ante la posibilidad que el resto de los países imiten esta acción.</a:t>
                      </a:r>
                      <a:endParaRPr lang="es-AR" sz="1100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100" dirty="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Times New Roman"/>
                        </a:rPr>
                        <a:t>*El Yen superó al Dólar.</a:t>
                      </a:r>
                      <a:endParaRPr lang="es-AR" sz="1100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100" dirty="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Times New Roman"/>
                        </a:rPr>
                        <a:t>*Guerra en el Golfo Pérsico.</a:t>
                      </a:r>
                      <a:endParaRPr lang="es-AR" sz="1100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100" dirty="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Times New Roman"/>
                        </a:rPr>
                        <a:t>*Devaluación de la moneda mexicana, arrastró al mundo en el conocido “efecto </a:t>
                      </a:r>
                      <a:r>
                        <a:rPr lang="es-AR" sz="110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Times New Roman"/>
                        </a:rPr>
                        <a:t>tequila” (1997)</a:t>
                      </a:r>
                      <a:endParaRPr lang="es-AR" sz="1100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100" dirty="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Times New Roman"/>
                        </a:rPr>
                        <a:t>*Aparece el Euro, como moneda de la comunidad y muestra el mayor proceso de integración regional.</a:t>
                      </a:r>
                      <a:endParaRPr lang="es-AR" sz="1100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100" dirty="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Times New Roman"/>
                        </a:rPr>
                        <a:t>*Consenso de Washington, medidas para países endeudados.</a:t>
                      </a:r>
                      <a:endParaRPr lang="es-AR" sz="1100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100" dirty="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Times New Roman"/>
                        </a:rPr>
                        <a:t>*Tras la finalización de la Guerra de Malvinas, el traspaso hacia la democracia mostró serios inconvenientes económicos y sociales.</a:t>
                      </a:r>
                      <a:endParaRPr lang="es-AR" sz="1100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100" dirty="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Times New Roman"/>
                        </a:rPr>
                        <a:t>*El plan de emergencia para desregular la economía y liberar el comercio exterior fracasó y el gobierno adelantó el período eleccionario.</a:t>
                      </a:r>
                      <a:endParaRPr lang="es-AR" sz="1100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100" dirty="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Times New Roman"/>
                        </a:rPr>
                        <a:t>*Nueva gestión de gobierno, nuevo plan de emergencia económica con implementación de medidas del Consenso de Washington.</a:t>
                      </a:r>
                      <a:endParaRPr lang="es-AR" sz="1100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100" dirty="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Times New Roman"/>
                        </a:rPr>
                        <a:t>*Sistema económico de corte neoliberal. Crecimiento de M y disminución de X, generó aumento del endeudamiento para cubrir la Balanza de pagos.</a:t>
                      </a:r>
                      <a:endParaRPr lang="es-AR" sz="1100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100" dirty="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Times New Roman"/>
                        </a:rPr>
                        <a:t>*Fin de la era, nueva gestión de gobierno con medidas económicas que arrastraron abruptamente a la crisis, desconfianza, saldo negativo, no solo en lo monetario sino también en lo social. </a:t>
                      </a:r>
                      <a:endParaRPr lang="es-AR" sz="1100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100" dirty="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Times New Roman"/>
                        </a:rPr>
                        <a:t>*Enfrentamientos de sectores sociales con las fuerzas de seguridad, presidente alejado del poder y largas jornadas buscando su reemplazo. </a:t>
                      </a:r>
                      <a:endParaRPr lang="es-AR" sz="1100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512" y="778024"/>
            <a:ext cx="8784976" cy="1066800"/>
          </a:xfrm>
        </p:spPr>
        <p:txBody>
          <a:bodyPr>
            <a:normAutofit fontScale="90000"/>
          </a:bodyPr>
          <a:lstStyle/>
          <a:p>
            <a:pPr algn="ctr"/>
            <a:r>
              <a:rPr lang="es-A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Argentina y los mercados internacionales</a:t>
            </a:r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A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es-A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3017838" cy="7938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graphicFrame>
        <p:nvGraphicFramePr>
          <p:cNvPr id="11" name="10 Tabla"/>
          <p:cNvGraphicFramePr>
            <a:graphicFrameLocks noGrp="1"/>
          </p:cNvGraphicFramePr>
          <p:nvPr/>
        </p:nvGraphicFramePr>
        <p:xfrm>
          <a:off x="611560" y="1844824"/>
          <a:ext cx="8136904" cy="2492193"/>
        </p:xfrm>
        <a:graphic>
          <a:graphicData uri="http://schemas.openxmlformats.org/drawingml/2006/table">
            <a:tbl>
              <a:tblPr/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22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465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763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 b="1" i="1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Arial"/>
                          <a:cs typeface="Times New Roman"/>
                        </a:rPr>
                        <a:t>Período</a:t>
                      </a:r>
                      <a:endParaRPr lang="es-AR" sz="1800" b="1" dirty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 b="1" i="1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Arial"/>
                          <a:cs typeface="Times New Roman"/>
                        </a:rPr>
                        <a:t>Contexto internacional</a:t>
                      </a:r>
                      <a:endParaRPr lang="es-AR" sz="1800" dirty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 b="1" i="1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Arial"/>
                          <a:cs typeface="Times New Roman"/>
                        </a:rPr>
                        <a:t>Situación en Argentina</a:t>
                      </a:r>
                      <a:endParaRPr lang="es-AR" sz="1800" dirty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579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 b="1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Arial"/>
                          <a:cs typeface="Times New Roman"/>
                        </a:rPr>
                        <a:t>2001-2007</a:t>
                      </a:r>
                      <a:endParaRPr lang="es-AR" sz="1200" b="1" dirty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 dirty="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Times New Roman"/>
                        </a:rPr>
                        <a:t>*Atentados a Torres Gemelas y Pentágono, provocó cambios de paradigmas focalizándose en la seguridad por el terrorismo internacional.</a:t>
                      </a:r>
                      <a:endParaRPr lang="es-AR" sz="1200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 dirty="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Times New Roman"/>
                        </a:rPr>
                        <a:t>*China aventajó económicamente a EEUU, Unión Europea y Japón.</a:t>
                      </a:r>
                      <a:endParaRPr lang="es-AR" sz="1200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 dirty="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Times New Roman"/>
                        </a:rPr>
                        <a:t>*</a:t>
                      </a:r>
                      <a:r>
                        <a:rPr lang="es-AR" sz="1200" dirty="0" err="1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Times New Roman"/>
                        </a:rPr>
                        <a:t>Acefalía</a:t>
                      </a:r>
                      <a:r>
                        <a:rPr lang="es-AR" sz="1200" dirty="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Times New Roman"/>
                        </a:rPr>
                        <a:t> institucional, 5 presidentes y un gobierno de transición.</a:t>
                      </a:r>
                      <a:endParaRPr lang="es-AR" sz="1200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 dirty="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Times New Roman"/>
                        </a:rPr>
                        <a:t>*Plan económico productivista.</a:t>
                      </a:r>
                      <a:endParaRPr lang="es-AR" sz="1200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200" dirty="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Times New Roman"/>
                        </a:rPr>
                        <a:t>*Nueva gestión de gobierno, expansión económica, incremento de X de productos primarios y con bajo valor agregado, llevaron al superávit comercial y canje de deuda, que sacaron al país de la situación de cesación de pagos.</a:t>
                      </a:r>
                      <a:endParaRPr lang="es-AR" sz="1200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67544" y="778024"/>
            <a:ext cx="8352928" cy="1066800"/>
          </a:xfrm>
        </p:spPr>
        <p:txBody>
          <a:bodyPr/>
          <a:lstStyle/>
          <a:p>
            <a:pPr algn="ctr"/>
            <a:r>
              <a:rPr lang="es-A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Integración regional</a:t>
            </a:r>
          </a:p>
        </p:txBody>
      </p:sp>
      <p:sp>
        <p:nvSpPr>
          <p:cNvPr id="5" name="4 Rectángulo"/>
          <p:cNvSpPr/>
          <p:nvPr/>
        </p:nvSpPr>
        <p:spPr>
          <a:xfrm>
            <a:off x="1691680" y="2204864"/>
            <a:ext cx="6624736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2800" i="1" dirty="0"/>
              <a:t>“</a:t>
            </a:r>
            <a:r>
              <a:rPr lang="es-AR" sz="2800" dirty="0"/>
              <a:t>buscan eliminar las trabas comerciales, económicas y políticas entre los países miembros. </a:t>
            </a:r>
          </a:p>
          <a:p>
            <a:r>
              <a:rPr lang="es-AR" sz="2800" dirty="0"/>
              <a:t>El ingreso está restringido a los países de la región que cumplan con los requisitos impuestos y que sean aceptados por los estados miembros.</a:t>
            </a:r>
            <a:r>
              <a:rPr lang="es-AR" sz="2800" i="1" dirty="0"/>
              <a:t>”</a:t>
            </a:r>
          </a:p>
          <a:p>
            <a:pPr algn="just"/>
            <a:endParaRPr lang="es-AR" sz="2800" i="1" dirty="0"/>
          </a:p>
          <a:p>
            <a:pPr algn="just"/>
            <a:endParaRPr lang="es-AR" sz="2800" i="1" dirty="0"/>
          </a:p>
        </p:txBody>
      </p:sp>
      <p:pic>
        <p:nvPicPr>
          <p:cNvPr id="6" name="0 Imagen" descr="comillas.png"/>
          <p:cNvPicPr/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grayscl/>
          </a:blip>
          <a:stretch>
            <a:fillRect/>
          </a:stretch>
        </p:blipFill>
        <p:spPr>
          <a:xfrm>
            <a:off x="683568" y="2204864"/>
            <a:ext cx="720080" cy="648072"/>
          </a:xfrm>
          <a:prstGeom prst="rect">
            <a:avLst/>
          </a:prstGeom>
        </p:spPr>
      </p:pic>
      <p:cxnSp>
        <p:nvCxnSpPr>
          <p:cNvPr id="7" name="6 Conector recto"/>
          <p:cNvCxnSpPr/>
          <p:nvPr/>
        </p:nvCxnSpPr>
        <p:spPr>
          <a:xfrm>
            <a:off x="1475656" y="2132856"/>
            <a:ext cx="0" cy="36724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67544" y="778024"/>
            <a:ext cx="8352928" cy="1066800"/>
          </a:xfrm>
        </p:spPr>
        <p:txBody>
          <a:bodyPr/>
          <a:lstStyle/>
          <a:p>
            <a:pPr algn="ctr"/>
            <a:r>
              <a:rPr lang="es-A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Cooperación económica</a:t>
            </a:r>
          </a:p>
        </p:txBody>
      </p:sp>
      <p:sp>
        <p:nvSpPr>
          <p:cNvPr id="5" name="4 Rectángulo"/>
          <p:cNvSpPr/>
          <p:nvPr/>
        </p:nvSpPr>
        <p:spPr>
          <a:xfrm>
            <a:off x="1691680" y="2204864"/>
            <a:ext cx="6624736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2800" i="1" dirty="0"/>
              <a:t>“</a:t>
            </a:r>
            <a:r>
              <a:rPr lang="es-AR" sz="2800" dirty="0"/>
              <a:t>buscan reducir las trabas al comercio para que las transacciones económicas sean más flexibles y ayudar al desarrollo de los países con menor grado de desarrollo. Están abiertos a cualquier país que desee formar parte.</a:t>
            </a:r>
            <a:r>
              <a:rPr lang="es-AR" sz="2800" i="1" dirty="0"/>
              <a:t>”</a:t>
            </a:r>
          </a:p>
          <a:p>
            <a:pPr algn="just"/>
            <a:endParaRPr lang="es-AR" sz="2800" i="1" dirty="0"/>
          </a:p>
        </p:txBody>
      </p:sp>
      <p:pic>
        <p:nvPicPr>
          <p:cNvPr id="6" name="0 Imagen" descr="comillas.png"/>
          <p:cNvPicPr/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grayscl/>
          </a:blip>
          <a:stretch>
            <a:fillRect/>
          </a:stretch>
        </p:blipFill>
        <p:spPr>
          <a:xfrm>
            <a:off x="683568" y="2204864"/>
            <a:ext cx="720080" cy="648072"/>
          </a:xfrm>
          <a:prstGeom prst="rect">
            <a:avLst/>
          </a:prstGeom>
        </p:spPr>
      </p:pic>
      <p:cxnSp>
        <p:nvCxnSpPr>
          <p:cNvPr id="7" name="6 Conector recto"/>
          <p:cNvCxnSpPr/>
          <p:nvPr/>
        </p:nvCxnSpPr>
        <p:spPr>
          <a:xfrm>
            <a:off x="1475656" y="2132856"/>
            <a:ext cx="0" cy="26642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67544" y="620688"/>
            <a:ext cx="8352928" cy="1066800"/>
          </a:xfrm>
        </p:spPr>
        <p:txBody>
          <a:bodyPr/>
          <a:lstStyle/>
          <a:p>
            <a:pPr algn="ctr"/>
            <a:r>
              <a:rPr lang="es-A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¿Preguntas?</a:t>
            </a:r>
          </a:p>
        </p:txBody>
      </p:sp>
      <p:pic>
        <p:nvPicPr>
          <p:cNvPr id="6" name="5 Imagen" descr="consultas.png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30000" contrast="40000"/>
          </a:blip>
          <a:stretch>
            <a:fillRect/>
          </a:stretch>
        </p:blipFill>
        <p:spPr>
          <a:xfrm>
            <a:off x="2843808" y="1700808"/>
            <a:ext cx="4248472" cy="4248472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o">
  <a:themeElements>
    <a:clrScheme name="Urbano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o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Urbano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1259</TotalTime>
  <Words>1373</Words>
  <Application>Microsoft Office PowerPoint</Application>
  <PresentationFormat>Presentación en pantalla (4:3)</PresentationFormat>
  <Paragraphs>138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Arial</vt:lpstr>
      <vt:lpstr>Georgia</vt:lpstr>
      <vt:lpstr>Trebuchet MS</vt:lpstr>
      <vt:lpstr>Wingdings 2</vt:lpstr>
      <vt:lpstr>Urbano</vt:lpstr>
      <vt:lpstr>COMERCIO EXTERIOR</vt:lpstr>
      <vt:lpstr>Argentina y los mercados internacionales</vt:lpstr>
      <vt:lpstr>Argentina y los mercados internacionales</vt:lpstr>
      <vt:lpstr>Argentina y los mercados internacionales</vt:lpstr>
      <vt:lpstr>Argentina y los mercados internacionales</vt:lpstr>
      <vt:lpstr>Argentina y los mercados internacionales</vt:lpstr>
      <vt:lpstr>Argentina y los mercados internacionales</vt:lpstr>
      <vt:lpstr>Argentina y los mercados internacionales</vt:lpstr>
      <vt:lpstr>Argentina y los mercados internacionales</vt:lpstr>
      <vt:lpstr>Argentina y los mercados internacionales</vt:lpstr>
      <vt:lpstr>Integración regional</vt:lpstr>
      <vt:lpstr>Cooperación económica</vt:lpstr>
      <vt:lpstr>¿Preguntas?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Políticas de comercio exterior</dc:title>
  <dc:creator>pecera</dc:creator>
  <cp:lastModifiedBy>Patricia Tilli</cp:lastModifiedBy>
  <cp:revision>112</cp:revision>
  <dcterms:created xsi:type="dcterms:W3CDTF">2020-04-08T19:51:48Z</dcterms:created>
  <dcterms:modified xsi:type="dcterms:W3CDTF">2021-07-19T21:07:42Z</dcterms:modified>
</cp:coreProperties>
</file>