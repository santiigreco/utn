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zwk2IaFR/TY6umjQNtYe3gMFV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2.jpg"/><Relationship Id="rId13" Type="http://schemas.openxmlformats.org/officeDocument/2006/relationships/image" Target="../media/image2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4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220469" y="5306941"/>
            <a:ext cx="10001141" cy="44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700" u="none" cap="none" strike="noStrike">
                <a:solidFill>
                  <a:srgbClr val="A5A5A5"/>
                </a:solidFill>
                <a:latin typeface="Roboto"/>
                <a:ea typeface="Roboto"/>
                <a:cs typeface="Roboto"/>
                <a:sym typeface="Roboto"/>
              </a:rPr>
              <a:t>Albarracín, Mateo      Carrizo, Joaquin      Greco, Santiago      Rodriguez, Brenda     Schaltegger, Franco</a:t>
            </a:r>
            <a:endParaRPr/>
          </a:p>
        </p:txBody>
      </p:sp>
      <p:pic>
        <p:nvPicPr>
          <p:cNvPr descr="Logotipo&#10;&#10;El contenido generado por IA puede ser incorrecto." id="85" name="Google Shape;85;p1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3847777" y="2248559"/>
            <a:ext cx="4726205" cy="19632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86" name="Google Shape;86;p1"/>
          <p:cNvPicPr preferRelativeResize="0"/>
          <p:nvPr/>
        </p:nvPicPr>
        <p:blipFill rotWithShape="1">
          <a:blip r:embed="rId4">
            <a:alphaModFix amt="70000"/>
          </a:blip>
          <a:srcRect b="32318" l="32857" r="32281" t="62406"/>
          <a:stretch/>
        </p:blipFill>
        <p:spPr>
          <a:xfrm>
            <a:off x="3778401" y="4227673"/>
            <a:ext cx="4885276" cy="4928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"/>
          <p:cNvCxnSpPr/>
          <p:nvPr/>
        </p:nvCxnSpPr>
        <p:spPr>
          <a:xfrm>
            <a:off x="317489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" name="Google Shape;88;p1"/>
          <p:cNvCxnSpPr/>
          <p:nvPr/>
        </p:nvCxnSpPr>
        <p:spPr>
          <a:xfrm>
            <a:off x="50646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>
            <a:off x="68934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8925850" y="5443891"/>
            <a:ext cx="0" cy="2520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logo-utn-frba » CEDOL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68099" t="0"/>
          <a:stretch/>
        </p:blipFill>
        <p:spPr>
          <a:xfrm>
            <a:off x="5806965" y="5936288"/>
            <a:ext cx="828149" cy="99817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2157813" y="891232"/>
            <a:ext cx="81264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5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FACTIBILIDAD COMERCIAL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" y="-2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>
            <a:off x="9636000" y="4302051"/>
            <a:ext cx="2556000" cy="2556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 rot="-5400000">
            <a:off x="20319" y="5841998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1764" l="1008" r="908" t="2039"/>
          <a:stretch/>
        </p:blipFill>
        <p:spPr>
          <a:xfrm>
            <a:off x="326080" y="1677833"/>
            <a:ext cx="6566104" cy="3626350"/>
          </a:xfrm>
          <a:prstGeom prst="roundRect">
            <a:avLst>
              <a:gd fmla="val 4582" name="adj"/>
            </a:avLst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105" name="Google Shape;105;p2"/>
          <p:cNvPicPr preferRelativeResize="0"/>
          <p:nvPr/>
        </p:nvPicPr>
        <p:blipFill rotWithShape="1">
          <a:blip r:embed="rId4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4239" y="1688358"/>
            <a:ext cx="4793577" cy="3553378"/>
          </a:xfrm>
          <a:prstGeom prst="roundRect">
            <a:avLst>
              <a:gd fmla="val 8584" name="adj"/>
            </a:avLst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3847379" y="5329428"/>
            <a:ext cx="3146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548135"/>
                </a:solidFill>
                <a:latin typeface="Roboto"/>
                <a:ea typeface="Roboto"/>
                <a:cs typeface="Roboto"/>
                <a:sym typeface="Roboto"/>
              </a:rPr>
              <a:t>Grand view research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719515" y="5268397"/>
            <a:ext cx="3146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200" u="none" cap="none" strike="noStrike">
                <a:solidFill>
                  <a:srgbClr val="EDC209"/>
                </a:solidFill>
                <a:latin typeface="Roboto"/>
                <a:ea typeface="Roboto"/>
                <a:cs typeface="Roboto"/>
                <a:sym typeface="Roboto"/>
              </a:rPr>
              <a:t>Ministerio de Economía de Argentina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7244080" y="1616264"/>
            <a:ext cx="4795520" cy="3664219"/>
          </a:xfrm>
          <a:prstGeom prst="roundRect">
            <a:avLst>
              <a:gd fmla="val 5950" name="adj"/>
            </a:avLst>
          </a:prstGeom>
          <a:solidFill>
            <a:srgbClr val="FFF2CC">
              <a:alpha val="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4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MACRO ENTORNO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 rot="-5400000">
            <a:off x="4615978" y="-3553404"/>
            <a:ext cx="2473104" cy="11705060"/>
          </a:xfrm>
          <a:custGeom>
            <a:rect b="b" l="l" r="r" t="t"/>
            <a:pathLst>
              <a:path extrusionOk="0" h="11705060" w="2473104">
                <a:moveTo>
                  <a:pt x="2473104" y="0"/>
                </a:moveTo>
                <a:lnTo>
                  <a:pt x="2473104" y="10744234"/>
                </a:lnTo>
                <a:cubicBezTo>
                  <a:pt x="2473104" y="11274884"/>
                  <a:pt x="2042928" y="11705060"/>
                  <a:pt x="1512278" y="11705060"/>
                </a:cubicBezTo>
                <a:lnTo>
                  <a:pt x="0" y="11705060"/>
                </a:lnTo>
                <a:lnTo>
                  <a:pt x="0" y="0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 flipH="1" rot="-5400000">
            <a:off x="5063129" y="-765545"/>
            <a:ext cx="2550155" cy="11707588"/>
          </a:xfrm>
          <a:custGeom>
            <a:rect b="b" l="l" r="r" t="t"/>
            <a:pathLst>
              <a:path extrusionOk="0" h="11707588" w="2550155">
                <a:moveTo>
                  <a:pt x="0" y="953350"/>
                </a:moveTo>
                <a:lnTo>
                  <a:pt x="0" y="11707588"/>
                </a:lnTo>
                <a:lnTo>
                  <a:pt x="2548226" y="11707587"/>
                </a:lnTo>
                <a:lnTo>
                  <a:pt x="2550155" y="11669377"/>
                </a:lnTo>
                <a:lnTo>
                  <a:pt x="2550155" y="0"/>
                </a:lnTo>
                <a:lnTo>
                  <a:pt x="953350" y="0"/>
                </a:lnTo>
                <a:cubicBezTo>
                  <a:pt x="426829" y="0"/>
                  <a:pt x="0" y="426829"/>
                  <a:pt x="0" y="953350"/>
                </a:cubicBezTo>
                <a:close/>
              </a:path>
            </a:pathLst>
          </a:custGeom>
          <a:solidFill>
            <a:srgbClr val="F8D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599604" y="477695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152268" y="5835756"/>
            <a:ext cx="857923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608985" y="1482094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Competidores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556529" y="405084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7496732" y="148780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Proveedores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7407668" y="4037899"/>
            <a:ext cx="32216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Productos sustitutos</a:t>
            </a:r>
            <a:endParaRPr/>
          </a:p>
        </p:txBody>
      </p:sp>
      <p:pic>
        <p:nvPicPr>
          <p:cNvPr descr="Forma&#10;&#10;El contenido generado por IA puede ser incorrecto." id="124" name="Google Shape;124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941495" y="3972613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5" name="Google Shape;1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333" y="1373236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6" name="Google Shape;1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9190" y="1359202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7" name="Google Shape;127;p3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832268" y="3970009"/>
            <a:ext cx="46800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El contenido generado por IA puede ser incorrecto." id="128" name="Google Shape;128;p3"/>
          <p:cNvPicPr preferRelativeResize="0"/>
          <p:nvPr/>
        </p:nvPicPr>
        <p:blipFill rotWithShape="1">
          <a:blip r:embed="rId7">
            <a:alphaModFix/>
          </a:blip>
          <a:srcRect b="36794" l="19313" r="19128" t="24848"/>
          <a:stretch/>
        </p:blipFill>
        <p:spPr>
          <a:xfrm>
            <a:off x="5644746" y="6452885"/>
            <a:ext cx="909324" cy="377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naderías y pastelerías en Gluten Free Experience | FACE" id="129" name="Google Shape;129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490" y="2303206"/>
            <a:ext cx="834707" cy="7018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prá online productos en SMAMS" id="130" name="Google Shape;13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95913" y="2219060"/>
            <a:ext cx="1870899" cy="748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3"/>
          <p:cNvCxnSpPr/>
          <p:nvPr/>
        </p:nvCxnSpPr>
        <p:spPr>
          <a:xfrm>
            <a:off x="862505" y="2006600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3"/>
          <p:cNvCxnSpPr/>
          <p:nvPr/>
        </p:nvCxnSpPr>
        <p:spPr>
          <a:xfrm>
            <a:off x="845809" y="4578073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3"/>
          <p:cNvCxnSpPr/>
          <p:nvPr/>
        </p:nvCxnSpPr>
        <p:spPr>
          <a:xfrm>
            <a:off x="6829741" y="2006600"/>
            <a:ext cx="449865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3"/>
          <p:cNvCxnSpPr/>
          <p:nvPr/>
        </p:nvCxnSpPr>
        <p:spPr>
          <a:xfrm>
            <a:off x="6832268" y="4578073"/>
            <a:ext cx="520043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anta María alimentos sin gluten | La Plata" id="135" name="Google Shape;13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88869" y="2194334"/>
            <a:ext cx="748354" cy="74835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6" name="Google Shape;136;p3"/>
          <p:cNvSpPr/>
          <p:nvPr/>
        </p:nvSpPr>
        <p:spPr>
          <a:xfrm>
            <a:off x="1565677" y="4776958"/>
            <a:ext cx="1721068" cy="649463"/>
          </a:xfrm>
          <a:prstGeom prst="roundRect">
            <a:avLst>
              <a:gd fmla="val 16667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3"/>
          <p:cNvPicPr preferRelativeResize="0"/>
          <p:nvPr/>
        </p:nvPicPr>
        <p:blipFill rotWithShape="1">
          <a:blip r:embed="rId11">
            <a:alphaModFix/>
          </a:blip>
          <a:srcRect b="0" l="5935" r="0" t="7298"/>
          <a:stretch/>
        </p:blipFill>
        <p:spPr>
          <a:xfrm>
            <a:off x="4549952" y="2276633"/>
            <a:ext cx="1187593" cy="600011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1454566" y="4846783"/>
            <a:ext cx="199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Cadenas de supermercados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511279" y="4841973"/>
            <a:ext cx="18977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Distribuidores mayoristas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054198" y="5878685"/>
            <a:ext cx="108104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Celíacos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2253915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Convivientes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3519068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Bienestar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4756075" y="5878685"/>
            <a:ext cx="13154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rgbClr val="262626"/>
                </a:solidFill>
                <a:latin typeface="Roboto"/>
                <a:ea typeface="Roboto"/>
                <a:cs typeface="Roboto"/>
                <a:sym typeface="Roboto"/>
              </a:rPr>
              <a:t>Intolerantes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2320205" y="5835756"/>
            <a:ext cx="1171632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3715867" y="5835756"/>
            <a:ext cx="911906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4825758" y="5835756"/>
            <a:ext cx="1143228" cy="393635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26262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ALLETAS CELIAC RIERA DE ARROZ 150 GRS" id="147" name="Google Shape;14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63058" y="4731865"/>
            <a:ext cx="1428107" cy="1428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mezcla de Pan/Pizza Maizena | Maizena Argentina" id="148" name="Google Shape;14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27538" y="4798845"/>
            <a:ext cx="1288583" cy="128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bre de gluten - Quento Snacks" id="149" name="Google Shape;149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558010" y="4718138"/>
            <a:ext cx="1461403" cy="146140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MICRO ENTORNO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/>
          <p:nvPr/>
        </p:nvSpPr>
        <p:spPr>
          <a:xfrm flipH="1">
            <a:off x="8484001" y="0"/>
            <a:ext cx="3707999" cy="3429002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 flipH="1" rot="5400000">
            <a:off x="8499041" y="3165041"/>
            <a:ext cx="3677919" cy="3708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 rot="5400000">
            <a:off x="-195020" y="1176581"/>
            <a:ext cx="5053478" cy="466344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8D8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3586475" y="198000"/>
            <a:ext cx="5049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DIFERENCIACIÓN</a:t>
            </a:r>
            <a:endParaRPr/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9134" l="17207" r="48534" t="10515"/>
          <a:stretch/>
        </p:blipFill>
        <p:spPr>
          <a:xfrm>
            <a:off x="640479" y="1714501"/>
            <a:ext cx="2946001" cy="376782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60" name="Google Shape;160;p4"/>
          <p:cNvSpPr txBox="1"/>
          <p:nvPr/>
        </p:nvSpPr>
        <p:spPr>
          <a:xfrm>
            <a:off x="6909201" y="1563034"/>
            <a:ext cx="5049119" cy="3580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Sabores innovadores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Libre de alérgenos</a:t>
            </a:r>
            <a:endParaRPr/>
          </a:p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 azúcares refinados</a:t>
            </a:r>
            <a:endParaRPr/>
          </a:p>
        </p:txBody>
      </p:sp>
      <p:pic>
        <p:nvPicPr>
          <p:cNvPr descr="Forma&#10;&#10;El contenido generado por IA puede ser incorrecto." id="161" name="Google Shape;16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731" y="2014043"/>
            <a:ext cx="693419" cy="6934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62" name="Google Shape;162;p4"/>
          <p:cNvPicPr preferRelativeResize="0"/>
          <p:nvPr/>
        </p:nvPicPr>
        <p:blipFill rotWithShape="1">
          <a:blip r:embed="rId5">
            <a:alphaModFix amt="50000"/>
          </a:blip>
          <a:srcRect b="0" l="0" r="0" t="0"/>
          <a:stretch/>
        </p:blipFill>
        <p:spPr>
          <a:xfrm>
            <a:off x="6076157" y="3280938"/>
            <a:ext cx="680566" cy="680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63" name="Google Shape;16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92683" y="4395790"/>
            <a:ext cx="782430" cy="78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/>
          <p:nvPr/>
        </p:nvSpPr>
        <p:spPr>
          <a:xfrm rot="10800000">
            <a:off x="181922" y="1717040"/>
            <a:ext cx="5730240" cy="6278880"/>
          </a:xfrm>
          <a:prstGeom prst="triangle">
            <a:avLst>
              <a:gd fmla="val 50000" name="adj"/>
            </a:avLst>
          </a:prstGeom>
          <a:solidFill>
            <a:srgbClr val="528D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783583" y="2561898"/>
            <a:ext cx="4498659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5"/>
          <p:cNvCxnSpPr/>
          <p:nvPr/>
        </p:nvCxnSpPr>
        <p:spPr>
          <a:xfrm>
            <a:off x="1299521" y="3429000"/>
            <a:ext cx="347472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5"/>
          <p:cNvCxnSpPr/>
          <p:nvPr/>
        </p:nvCxnSpPr>
        <p:spPr>
          <a:xfrm>
            <a:off x="1705921" y="4329738"/>
            <a:ext cx="264160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5"/>
          <p:cNvCxnSpPr/>
          <p:nvPr/>
        </p:nvCxnSpPr>
        <p:spPr>
          <a:xfrm>
            <a:off x="2071681" y="5173018"/>
            <a:ext cx="1889761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0" y="-2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 rot="10800000">
            <a:off x="10788000" y="5454000"/>
            <a:ext cx="1404000" cy="1404000"/>
          </a:xfrm>
          <a:custGeom>
            <a:rect b="b" l="l" r="r" t="t"/>
            <a:pathLst>
              <a:path extrusionOk="0" h="1054359" w="1097589">
                <a:moveTo>
                  <a:pt x="1080000" y="0"/>
                </a:moveTo>
                <a:lnTo>
                  <a:pt x="1097589" y="0"/>
                </a:lnTo>
                <a:lnTo>
                  <a:pt x="1097589" y="833"/>
                </a:lnTo>
                <a:close/>
                <a:moveTo>
                  <a:pt x="0" y="0"/>
                </a:moveTo>
                <a:lnTo>
                  <a:pt x="1080000" y="0"/>
                </a:lnTo>
                <a:cubicBezTo>
                  <a:pt x="520812" y="0"/>
                  <a:pt x="60883" y="424979"/>
                  <a:pt x="5576" y="969576"/>
                </a:cubicBezTo>
                <a:lnTo>
                  <a:pt x="1295" y="1054359"/>
                </a:lnTo>
                <a:lnTo>
                  <a:pt x="0" y="1054359"/>
                </a:lnTo>
                <a:close/>
              </a:path>
            </a:pathLst>
          </a:custGeom>
          <a:solidFill>
            <a:srgbClr val="487A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 rot="5400000">
            <a:off x="11175999" y="-20323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tipo&#10;&#10;El contenido generado por IA puede ser incorrecto." id="176" name="Google Shape;176;p5"/>
          <p:cNvPicPr preferRelativeResize="0"/>
          <p:nvPr/>
        </p:nvPicPr>
        <p:blipFill rotWithShape="1">
          <a:blip r:embed="rId3">
            <a:alphaModFix/>
          </a:blip>
          <a:srcRect b="36794" l="19313" r="19128" t="24848"/>
          <a:stretch/>
        </p:blipFill>
        <p:spPr>
          <a:xfrm>
            <a:off x="5641338" y="6280901"/>
            <a:ext cx="909324" cy="37772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/>
          <p:nvPr/>
        </p:nvSpPr>
        <p:spPr>
          <a:xfrm rot="-5400000">
            <a:off x="20323" y="5841999"/>
            <a:ext cx="995679" cy="1036322"/>
          </a:xfrm>
          <a:custGeom>
            <a:rect b="b" l="l" r="r" t="t"/>
            <a:pathLst>
              <a:path extrusionOk="0" h="862207" w="828000">
                <a:moveTo>
                  <a:pt x="0" y="862207"/>
                </a:moveTo>
                <a:lnTo>
                  <a:pt x="0" y="0"/>
                </a:lnTo>
                <a:lnTo>
                  <a:pt x="828000" y="0"/>
                </a:lnTo>
                <a:lnTo>
                  <a:pt x="817091" y="80540"/>
                </a:lnTo>
                <a:cubicBezTo>
                  <a:pt x="740969" y="499715"/>
                  <a:pt x="427637" y="821525"/>
                  <a:pt x="42035" y="860114"/>
                </a:cubicBezTo>
                <a:close/>
              </a:path>
            </a:pathLst>
          </a:custGeom>
          <a:solidFill>
            <a:srgbClr val="F7D1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3860209" y="212121"/>
            <a:ext cx="447158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44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MERCADO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Office 2013 - Tema de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2026-05-09T21:08:19Z</dcterms:created>
  <dc:creator>Albarracin, Mateo</dc:creator>
</cp:coreProperties>
</file>