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VEDUQ9SNQ0AR6GLmRRdepjiip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9EB7B3-9B94-41CB-9F81-7A46807CFCEE}">
  <a:tblStyle styleId="{9F9EB7B3-9B94-41CB-9F81-7A46807CFCE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Libro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  <a:effectLst/>
          </c:spPr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D0-4F6C-B10E-BE5778465FEB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D0-4F6C-B10E-BE5778465FEB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DD0-4F6C-B10E-BE5778465FEB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DD0-4F6C-B10E-BE5778465FE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Hoja1!$F$6:$F$9</c:f>
              <c:numCache>
                <c:formatCode>General</c:formatCode>
                <c:ptCount val="4"/>
                <c:pt idx="0">
                  <c:v>72</c:v>
                </c:pt>
                <c:pt idx="1">
                  <c:v>547</c:v>
                </c:pt>
                <c:pt idx="2">
                  <c:v>24.4</c:v>
                </c:pt>
                <c:pt idx="3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D0-4F6C-B10E-BE5778465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3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0.jpg"/><Relationship Id="rId13" Type="http://schemas.openxmlformats.org/officeDocument/2006/relationships/image" Target="../media/image56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5" Type="http://schemas.openxmlformats.org/officeDocument/2006/relationships/image" Target="../media/image30.png"/><Relationship Id="rId14" Type="http://schemas.openxmlformats.org/officeDocument/2006/relationships/image" Target="../media/image12.png"/><Relationship Id="rId17" Type="http://schemas.openxmlformats.org/officeDocument/2006/relationships/image" Target="../media/image14.png"/><Relationship Id="rId16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8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4.png"/><Relationship Id="rId9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41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3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chart" Target="../charts/chart1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47.pn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0.jpg"/><Relationship Id="rId13" Type="http://schemas.openxmlformats.org/officeDocument/2006/relationships/image" Target="../media/image56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9" Type="http://schemas.openxmlformats.org/officeDocument/2006/relationships/image" Target="../media/image8.png"/><Relationship Id="rId15" Type="http://schemas.openxmlformats.org/officeDocument/2006/relationships/image" Target="../media/image54.png"/><Relationship Id="rId14" Type="http://schemas.openxmlformats.org/officeDocument/2006/relationships/image" Target="../media/image12.png"/><Relationship Id="rId16" Type="http://schemas.openxmlformats.org/officeDocument/2006/relationships/image" Target="../media/image55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18158" y="5255386"/>
            <a:ext cx="11481612" cy="440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7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Albarracín, Mateo      Carrizo, Joaquin      Greco, Santiago      Rodriguez, Brenda     Schaltegger, Franco</a:t>
            </a:r>
            <a:endParaRPr/>
          </a:p>
        </p:txBody>
      </p:sp>
      <p:pic>
        <p:nvPicPr>
          <p:cNvPr descr="Logotipo&#10;&#10;El contenido generado por IA puede ser incorrecto." id="89" name="Google Shape;89;p1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3847777" y="2248559"/>
            <a:ext cx="4726205" cy="19632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"/>
          <p:cNvCxnSpPr/>
          <p:nvPr/>
        </p:nvCxnSpPr>
        <p:spPr>
          <a:xfrm>
            <a:off x="2680367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1"/>
          <p:cNvCxnSpPr/>
          <p:nvPr/>
        </p:nvCxnSpPr>
        <p:spPr>
          <a:xfrm>
            <a:off x="4766066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1"/>
          <p:cNvCxnSpPr/>
          <p:nvPr/>
        </p:nvCxnSpPr>
        <p:spPr>
          <a:xfrm>
            <a:off x="6809473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1"/>
          <p:cNvCxnSpPr/>
          <p:nvPr/>
        </p:nvCxnSpPr>
        <p:spPr>
          <a:xfrm>
            <a:off x="9121793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-utn-frba » CEDOL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68099" t="0"/>
          <a:stretch/>
        </p:blipFill>
        <p:spPr>
          <a:xfrm>
            <a:off x="5806965" y="5936288"/>
            <a:ext cx="828149" cy="99817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2157813" y="891232"/>
            <a:ext cx="81264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FACTIBILIDAD COMERCIAL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" y="-2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 rot="10800000">
            <a:off x="9636000" y="4302051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rot="-5400000">
            <a:off x="20319" y="5841998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147663" y="4464182"/>
            <a:ext cx="8126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900">
                <a:solidFill>
                  <a:srgbClr val="F9DF95"/>
                </a:solidFill>
              </a:rPr>
              <a:t>ALIMENTOS SIN GLUTEN </a:t>
            </a:r>
            <a:endParaRPr b="1" sz="300">
              <a:solidFill>
                <a:srgbClr val="F9DF95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0" y="-2"/>
            <a:ext cx="12192000" cy="3241060"/>
          </a:xfrm>
          <a:custGeom>
            <a:rect b="b" l="l" r="r" t="t"/>
            <a:pathLst>
              <a:path extrusionOk="0" h="1778000" w="6908800">
                <a:moveTo>
                  <a:pt x="0" y="0"/>
                </a:moveTo>
                <a:lnTo>
                  <a:pt x="4780280" y="0"/>
                </a:lnTo>
                <a:lnTo>
                  <a:pt x="6908800" y="0"/>
                </a:lnTo>
                <a:lnTo>
                  <a:pt x="6880757" y="166086"/>
                </a:lnTo>
                <a:cubicBezTo>
                  <a:pt x="6685072" y="1030487"/>
                  <a:pt x="5879597" y="1694108"/>
                  <a:pt x="4888339" y="1773684"/>
                </a:cubicBezTo>
                <a:lnTo>
                  <a:pt x="4780280" y="1778000"/>
                </a:lnTo>
                <a:lnTo>
                  <a:pt x="0" y="1778000"/>
                </a:lnTo>
                <a:close/>
              </a:path>
            </a:pathLst>
          </a:custGeom>
          <a:solidFill>
            <a:srgbClr val="F9D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 rot="10800000">
            <a:off x="0" y="3537663"/>
            <a:ext cx="12192000" cy="3320337"/>
          </a:xfrm>
          <a:custGeom>
            <a:rect b="b" l="l" r="r" t="t"/>
            <a:pathLst>
              <a:path extrusionOk="0" h="1778000" w="6908800">
                <a:moveTo>
                  <a:pt x="0" y="0"/>
                </a:moveTo>
                <a:lnTo>
                  <a:pt x="4780280" y="0"/>
                </a:lnTo>
                <a:lnTo>
                  <a:pt x="6908800" y="0"/>
                </a:lnTo>
                <a:lnTo>
                  <a:pt x="6880757" y="166086"/>
                </a:lnTo>
                <a:cubicBezTo>
                  <a:pt x="6685072" y="1030487"/>
                  <a:pt x="5879597" y="1694108"/>
                  <a:pt x="4888339" y="1773684"/>
                </a:cubicBezTo>
                <a:lnTo>
                  <a:pt x="4780280" y="1778000"/>
                </a:lnTo>
                <a:lnTo>
                  <a:pt x="0" y="1778000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3701588" y="80714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EMPRESA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-239808" y="1783286"/>
            <a:ext cx="21546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Misión</a:t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5663178" y="1783286"/>
            <a:ext cx="15330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1493632" y="5145481"/>
            <a:ext cx="21426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1679964" y="1178248"/>
            <a:ext cx="3100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Desarrollar y comercializar alimentos sin</a:t>
            </a:r>
            <a:r>
              <a:rPr lang="es-AR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gluten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y sin alérgenos, ofreciendo productos accesibles, seguros, nutritivos y de alta calidad</a:t>
            </a:r>
            <a:endParaRPr sz="140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316122" y="1178248"/>
            <a:ext cx="3100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Ser una marca referente nacional en alimentos sin </a:t>
            </a:r>
            <a:r>
              <a:rPr lang="es-AR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gluten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y saludables, destacándose por innovación, calidad e inclusión alimentaria</a:t>
            </a:r>
            <a:endParaRPr sz="140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3863689" y="4016321"/>
            <a:ext cx="77238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Alcanzar un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7%</a:t>
            </a: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del mercado sin gluten en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 años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Estar presentes en el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 las grandes cadenas en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 años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Lanzar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productos durante el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primer año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Mantener </a:t>
            </a: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r>
              <a:rPr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 cumplimiento de certificaciones y normas sanitarias.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" name="Google Shape;114;p7"/>
          <p:cNvCxnSpPr/>
          <p:nvPr/>
        </p:nvCxnSpPr>
        <p:spPr>
          <a:xfrm>
            <a:off x="1493632" y="1178248"/>
            <a:ext cx="0" cy="167174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7"/>
          <p:cNvCxnSpPr/>
          <p:nvPr/>
        </p:nvCxnSpPr>
        <p:spPr>
          <a:xfrm>
            <a:off x="7196218" y="1178248"/>
            <a:ext cx="0" cy="167174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7"/>
          <p:cNvCxnSpPr/>
          <p:nvPr/>
        </p:nvCxnSpPr>
        <p:spPr>
          <a:xfrm>
            <a:off x="3693983" y="4284995"/>
            <a:ext cx="0" cy="218263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"/>
          <p:cNvPicPr preferRelativeResize="0"/>
          <p:nvPr/>
        </p:nvPicPr>
        <p:blipFill rotWithShape="1">
          <a:blip r:embed="rId3">
            <a:alphaModFix/>
          </a:blip>
          <a:srcRect b="1764" l="1008" r="908" t="2039"/>
          <a:stretch/>
        </p:blipFill>
        <p:spPr>
          <a:xfrm>
            <a:off x="326080" y="1677833"/>
            <a:ext cx="6566104" cy="3626350"/>
          </a:xfrm>
          <a:prstGeom prst="roundRect">
            <a:avLst>
              <a:gd fmla="val 4582" name="adj"/>
            </a:avLst>
          </a:prstGeom>
          <a:noFill/>
          <a:ln>
            <a:noFill/>
          </a:ln>
        </p:spPr>
      </p:pic>
      <p:sp>
        <p:nvSpPr>
          <p:cNvPr id="124" name="Google Shape;124;p2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125" name="Google Shape;125;p2"/>
          <p:cNvPicPr preferRelativeResize="0"/>
          <p:nvPr/>
        </p:nvPicPr>
        <p:blipFill rotWithShape="1">
          <a:blip r:embed="rId4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4239" y="1688358"/>
            <a:ext cx="4793577" cy="3553378"/>
          </a:xfrm>
          <a:prstGeom prst="roundRect">
            <a:avLst>
              <a:gd fmla="val 8584" name="adj"/>
            </a:avLst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3847379" y="5329428"/>
            <a:ext cx="3146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rPr>
              <a:t>Grand view research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8145625" y="5268397"/>
            <a:ext cx="37202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F7D165"/>
                </a:solidFill>
                <a:latin typeface="Montserrat"/>
                <a:ea typeface="Montserrat"/>
                <a:cs typeface="Montserrat"/>
                <a:sym typeface="Montserrat"/>
              </a:rPr>
              <a:t>Ministerio de Economía de Argentina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7244080" y="1616264"/>
            <a:ext cx="4795520" cy="3664219"/>
          </a:xfrm>
          <a:prstGeom prst="roundRect">
            <a:avLst>
              <a:gd fmla="val 5950" name="adj"/>
            </a:avLst>
          </a:prstGeom>
          <a:solidFill>
            <a:srgbClr val="FFF2CC">
              <a:alpha val="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3337251" y="212121"/>
            <a:ext cx="55175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MACRO ENTORNO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 rot="-5400000">
            <a:off x="5057057" y="-762138"/>
            <a:ext cx="2448000" cy="11821887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DE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 rot="5400000">
            <a:off x="4686945" y="-3631172"/>
            <a:ext cx="2448000" cy="11821887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787602" y="4750468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340266" y="5809266"/>
            <a:ext cx="857923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113372" y="1519188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000" u="none" cap="none" strike="noStrike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Competidores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1878046" y="4089765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Clientes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001119" y="1524903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Proveedores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7407668" y="4089765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Productos sustitutos</a:t>
            </a:r>
            <a:endParaRPr/>
          </a:p>
        </p:txBody>
      </p:sp>
      <p:pic>
        <p:nvPicPr>
          <p:cNvPr descr="Forma&#10;&#10;El contenido generado por IA puede ser incorrecto." id="144" name="Google Shape;14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263012" y="4055820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45" name="Google Shape;14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20" y="1410330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46" name="Google Shape;14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3577" y="1396296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47" name="Google Shape;147;p3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6832268" y="4055820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148" name="Google Shape;148;p3"/>
          <p:cNvPicPr preferRelativeResize="0"/>
          <p:nvPr/>
        </p:nvPicPr>
        <p:blipFill rotWithShape="1">
          <a:blip r:embed="rId7">
            <a:alphaModFix/>
          </a:blip>
          <a:srcRect b="36794" l="19313" r="19128" t="24848"/>
          <a:stretch/>
        </p:blipFill>
        <p:spPr>
          <a:xfrm>
            <a:off x="5644746" y="6452885"/>
            <a:ext cx="909324" cy="377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aderías y pastelerías en Gluten Free Experience | FACE" id="149" name="Google Shape;14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877" y="2340300"/>
            <a:ext cx="834707" cy="701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rá online productos en SMAMS" id="150" name="Google Shape;15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00300" y="2256154"/>
            <a:ext cx="1870899" cy="7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3"/>
          <p:cNvCxnSpPr/>
          <p:nvPr/>
        </p:nvCxnSpPr>
        <p:spPr>
          <a:xfrm>
            <a:off x="366892" y="2043694"/>
            <a:ext cx="5200439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3"/>
          <p:cNvCxnSpPr/>
          <p:nvPr/>
        </p:nvCxnSpPr>
        <p:spPr>
          <a:xfrm>
            <a:off x="1334278" y="4578073"/>
            <a:ext cx="471197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3"/>
          <p:cNvCxnSpPr/>
          <p:nvPr/>
        </p:nvCxnSpPr>
        <p:spPr>
          <a:xfrm>
            <a:off x="6334128" y="2043694"/>
            <a:ext cx="5098324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" name="Google Shape;154;p3"/>
          <p:cNvCxnSpPr/>
          <p:nvPr/>
        </p:nvCxnSpPr>
        <p:spPr>
          <a:xfrm>
            <a:off x="6832268" y="4578073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anta María alimentos sin gluten | La Plata" id="155" name="Google Shape;15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93256" y="2231428"/>
            <a:ext cx="748354" cy="74835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1753675" y="4750468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11">
            <a:alphaModFix/>
          </a:blip>
          <a:srcRect b="0" l="5935" r="0" t="7298"/>
          <a:stretch/>
        </p:blipFill>
        <p:spPr>
          <a:xfrm>
            <a:off x="4054339" y="2313727"/>
            <a:ext cx="1187593" cy="6000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58" name="Google Shape;158;p3"/>
          <p:cNvSpPr txBox="1"/>
          <p:nvPr/>
        </p:nvSpPr>
        <p:spPr>
          <a:xfrm>
            <a:off x="1642564" y="4820293"/>
            <a:ext cx="199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Cadenas de supermercados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3699277" y="4815483"/>
            <a:ext cx="18977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Distribuidores mayoristas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242196" y="5852195"/>
            <a:ext cx="1081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Celíacos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2441913" y="5852195"/>
            <a:ext cx="13154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Convivientes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3707066" y="5852195"/>
            <a:ext cx="13154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Bienestar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4944073" y="5852195"/>
            <a:ext cx="13154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Intolerantes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2508203" y="5809266"/>
            <a:ext cx="1171632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903865" y="5809266"/>
            <a:ext cx="911906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013756" y="5809266"/>
            <a:ext cx="1143228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ALLETAS CELIAC RIERA DE ARROZ 150 GRS" id="167" name="Google Shape;16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63058" y="4731865"/>
            <a:ext cx="1428107" cy="1428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mezcla de Pan/Pizza Maizena | Maizena Argentina" id="168" name="Google Shape;16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7538" y="4798845"/>
            <a:ext cx="1288583" cy="128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re de gluten - Quento Snacks" id="169" name="Google Shape;169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58010" y="4718138"/>
            <a:ext cx="1461403" cy="146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"/>
          <p:cNvSpPr txBox="1"/>
          <p:nvPr/>
        </p:nvSpPr>
        <p:spPr>
          <a:xfrm>
            <a:off x="3215953" y="212121"/>
            <a:ext cx="576009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 u="none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MICRO ENTORNO</a:t>
            </a:r>
            <a:endParaRPr/>
          </a:p>
        </p:txBody>
      </p:sp>
      <p:pic>
        <p:nvPicPr>
          <p:cNvPr descr="Adecoagro - Salario, cultura y vacantes" id="171" name="Google Shape;171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59497" y="2135669"/>
            <a:ext cx="939871" cy="939871"/>
          </a:xfrm>
          <a:prstGeom prst="rect">
            <a:avLst/>
          </a:prstGeom>
          <a:noFill/>
          <a:ln>
            <a:noFill/>
          </a:ln>
        </p:spPr>
      </p:pic>
      <p:sp>
        <p:nvSpPr>
          <p:cNvPr descr="Codipsa" id="172" name="Google Shape;172;p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dipsa - CAPAMA" id="173" name="Google Shape;173;p3"/>
          <p:cNvPicPr preferRelativeResize="0"/>
          <p:nvPr/>
        </p:nvPicPr>
        <p:blipFill rotWithShape="1">
          <a:blip r:embed="rId16">
            <a:alphaModFix/>
          </a:blip>
          <a:srcRect b="20366" l="0" r="0" t="0"/>
          <a:stretch/>
        </p:blipFill>
        <p:spPr>
          <a:xfrm>
            <a:off x="7355419" y="2292239"/>
            <a:ext cx="1072119" cy="505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FAGDA" id="174" name="Google Shape;174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70013" y="2442163"/>
            <a:ext cx="1172587" cy="266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obrand" id="175" name="Google Shape;175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085075" y="2323793"/>
            <a:ext cx="1347377" cy="474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/>
          <p:nvPr/>
        </p:nvSpPr>
        <p:spPr>
          <a:xfrm>
            <a:off x="792146" y="0"/>
            <a:ext cx="11399855" cy="68580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3">
            <a:alphaModFix/>
          </a:blip>
          <a:srcRect b="0" l="32331" r="28425" t="0"/>
          <a:stretch/>
        </p:blipFill>
        <p:spPr>
          <a:xfrm>
            <a:off x="9126912" y="1748816"/>
            <a:ext cx="2604870" cy="342900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2" name="Google Shape;182;p4"/>
          <p:cNvSpPr/>
          <p:nvPr/>
        </p:nvSpPr>
        <p:spPr>
          <a:xfrm flipH="1">
            <a:off x="8944030" y="0"/>
            <a:ext cx="3247969" cy="3429002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 flipH="1" rot="5400000">
            <a:off x="8729056" y="3395056"/>
            <a:ext cx="3677919" cy="324797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3293706" y="198005"/>
            <a:ext cx="560458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DIFERENCIACIÓN</a:t>
            </a:r>
            <a:endParaRPr/>
          </a:p>
        </p:txBody>
      </p:sp>
      <p:pic>
        <p:nvPicPr>
          <p:cNvPr descr="Forma&#10;&#10;El contenido generado por IA puede ser incorrecto." id="185" name="Google Shape;1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728" y="2431968"/>
            <a:ext cx="364317" cy="364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86" name="Google Shape;186;p4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202675" y="3051537"/>
            <a:ext cx="421555" cy="421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87" name="Google Shape;18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675" y="3662238"/>
            <a:ext cx="421555" cy="42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894441" y="1748825"/>
            <a:ext cx="94623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Planta exclusiva sin gluten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- Sin riesgo de contaminación cruzada.</a:t>
            </a:r>
            <a:b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Innovación sensorial gourmet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- Sabores únicos que rompen el estándar del segmento.</a:t>
            </a:r>
            <a:b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Libre de alérgenos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– Línea sin leche, huevo ni soja, para consumidores intolerantes</a:t>
            </a:r>
            <a:b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Sin azúcares refinados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- Endulzantes naturales, sin sellos negros de etiquetado frontal.</a:t>
            </a:r>
            <a:b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Góndola principal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– Posicionamiento en pasillo general, no en sector segregado.</a:t>
            </a:r>
            <a:b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Marca premium </a:t>
            </a:r>
            <a:r>
              <a:rPr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- Packaging de alta calidad y diseño orientado al consumidor consciente. </a:t>
            </a:r>
            <a:endParaRPr sz="140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a&#10;&#10;El contenido generado por IA puede ser incorrecto." id="189" name="Google Shape;189;p4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215663" y="1748816"/>
            <a:ext cx="402520" cy="40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90" name="Google Shape;190;p4"/>
          <p:cNvPicPr preferRelativeResize="0"/>
          <p:nvPr/>
        </p:nvPicPr>
        <p:blipFill rotWithShape="1">
          <a:blip r:embed="rId8">
            <a:alphaModFix amt="50000"/>
          </a:blip>
          <a:srcRect b="0" l="0" r="0" t="0"/>
          <a:stretch/>
        </p:blipFill>
        <p:spPr>
          <a:xfrm>
            <a:off x="241728" y="4353572"/>
            <a:ext cx="364317" cy="364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91" name="Google Shape;19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2675" y="4955551"/>
            <a:ext cx="421555" cy="421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 rot="10800000">
            <a:off x="6215386" y="1770832"/>
            <a:ext cx="4572614" cy="1394379"/>
          </a:xfrm>
          <a:prstGeom prst="round2SameRect">
            <a:avLst>
              <a:gd fmla="val 20011" name="adj1"/>
              <a:gd fmla="val 0" name="adj2"/>
            </a:avLst>
          </a:prstGeom>
          <a:solidFill>
            <a:srgbClr val="E8F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 rot="-5400000">
            <a:off x="8123014" y="-571677"/>
            <a:ext cx="757358" cy="4572611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 rot="10800000">
            <a:off x="970813" y="3758039"/>
            <a:ext cx="4572614" cy="2273530"/>
          </a:xfrm>
          <a:prstGeom prst="round2SameRect">
            <a:avLst>
              <a:gd fmla="val 20011" name="adj1"/>
              <a:gd fmla="val 13179" name="adj2"/>
            </a:avLst>
          </a:prstGeom>
          <a:solidFill>
            <a:srgbClr val="E8F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 rot="-5400000">
            <a:off x="2878443" y="1649325"/>
            <a:ext cx="757358" cy="4572611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 rot="10800000">
            <a:off x="6215386" y="3758038"/>
            <a:ext cx="4572614" cy="2273530"/>
          </a:xfrm>
          <a:prstGeom prst="round2SameRect">
            <a:avLst>
              <a:gd fmla="val 20011" name="adj1"/>
              <a:gd fmla="val 19768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 rot="-5400000">
            <a:off x="8123014" y="1697816"/>
            <a:ext cx="757358" cy="4572611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 rot="10800000">
            <a:off x="970813" y="1741089"/>
            <a:ext cx="4572614" cy="1421970"/>
          </a:xfrm>
          <a:prstGeom prst="round2SameRect">
            <a:avLst>
              <a:gd fmla="val 20011" name="adj1"/>
              <a:gd fmla="val 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 rot="-5400000">
            <a:off x="2878443" y="-571677"/>
            <a:ext cx="757358" cy="4572611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207" name="Google Shape;207;p9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2945363" y="165779"/>
            <a:ext cx="630127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LÍNEAS DE PRODUCTO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1890185" y="1483796"/>
            <a:ext cx="24855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Gourmet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1836022" y="3692788"/>
            <a:ext cx="44715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Clásicas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7316962" y="3760834"/>
            <a:ext cx="27374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7196896" y="1512837"/>
            <a:ext cx="27374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Panificados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591205" y="2174097"/>
            <a:ext cx="5003477" cy="789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Galletitas picantes con chips de chocolate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Pepas de chocolate y batata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616623" y="4450147"/>
            <a:ext cx="4572614" cy="1158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Galletitas símil chocolinas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Bizcochos sabor queso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Polvorones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6009481" y="4320257"/>
            <a:ext cx="44154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Galletitas símil chocolinas free 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Bizcochos sabor queso </a:t>
            </a:r>
            <a:r>
              <a:rPr lang="es-AR" sz="1600">
                <a:latin typeface="Montserrat"/>
                <a:ea typeface="Montserrat"/>
                <a:cs typeface="Montserrat"/>
                <a:sym typeface="Montserrat"/>
              </a:rPr>
              <a:t>Bajo en grasa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Polvorones free 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Budines free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5876379" y="2156579"/>
            <a:ext cx="2737407" cy="789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Pan de molde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Budines</a:t>
            </a:r>
            <a:endParaRPr/>
          </a:p>
        </p:txBody>
      </p:sp>
      <p:pic>
        <p:nvPicPr>
          <p:cNvPr descr="Forma&#10;&#10;El contenido generado por IA puede ser incorrecto." id="218" name="Google Shape;2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7873" y="1424816"/>
            <a:ext cx="542300" cy="54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19" name="Google Shape;21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891" y="1409535"/>
            <a:ext cx="610187" cy="610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20" name="Google Shape;22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3093" y="3664444"/>
            <a:ext cx="672651" cy="672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21" name="Google Shape;22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5835" y="3659966"/>
            <a:ext cx="542300" cy="5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 rot="-5400000">
            <a:off x="10087132" y="4524673"/>
            <a:ext cx="1094974" cy="3144418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 rot="10800000">
            <a:off x="6534168" y="1476253"/>
            <a:ext cx="5376314" cy="3789988"/>
          </a:xfrm>
          <a:prstGeom prst="round2SameRect">
            <a:avLst>
              <a:gd fmla="val 10272" name="adj1"/>
              <a:gd fmla="val 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 rot="-5400000">
            <a:off x="8949333" y="-1193932"/>
            <a:ext cx="545989" cy="5376313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 rot="5400000">
            <a:off x="2397917" y="432327"/>
            <a:ext cx="634948" cy="5430417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 rot="5400000">
            <a:off x="2397916" y="1288366"/>
            <a:ext cx="634945" cy="5430417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 rot="5400000">
            <a:off x="2397917" y="-410937"/>
            <a:ext cx="634948" cy="5430421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234" name="Google Shape;234;p5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5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3860208" y="165779"/>
            <a:ext cx="44715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MERCADO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536269" y="2117417"/>
            <a:ext cx="37932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Población Argentina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536269" y="2952279"/>
            <a:ext cx="33454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Población celíaca </a:t>
            </a:r>
            <a:r>
              <a:rPr b="1"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(1%)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3188722" y="2967667"/>
            <a:ext cx="20982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460.000  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2630785" y="2148194"/>
            <a:ext cx="265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46.000.000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536269" y="3789423"/>
            <a:ext cx="43438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Factor conviviente </a:t>
            </a:r>
            <a:r>
              <a:rPr b="1"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(x1,6)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3188722" y="3816080"/>
            <a:ext cx="20982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736.000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 rot="5400000">
            <a:off x="2397918" y="2180354"/>
            <a:ext cx="634945" cy="5430417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536271" y="4681411"/>
            <a:ext cx="43438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Aglomerados </a:t>
            </a:r>
            <a:r>
              <a:rPr b="1"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(45%)</a:t>
            </a:r>
            <a:endParaRPr/>
          </a:p>
        </p:txBody>
      </p:sp>
      <p:sp>
        <p:nvSpPr>
          <p:cNvPr id="245" name="Google Shape;245;p5"/>
          <p:cNvSpPr txBox="1"/>
          <p:nvPr/>
        </p:nvSpPr>
        <p:spPr>
          <a:xfrm>
            <a:off x="3188724" y="4708068"/>
            <a:ext cx="20982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330.000</a:t>
            </a:r>
            <a:endParaRPr/>
          </a:p>
        </p:txBody>
      </p:sp>
      <p:pic>
        <p:nvPicPr>
          <p:cNvPr descr="Forma&#10;&#10;El contenido generado por IA puede ser incorrecto." id="246" name="Google Shape;2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1070412" y="2335435"/>
            <a:ext cx="461665" cy="461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0673" y="2311229"/>
            <a:ext cx="493901" cy="493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2523" y="2277626"/>
            <a:ext cx="579158" cy="57915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 txBox="1"/>
          <p:nvPr/>
        </p:nvSpPr>
        <p:spPr>
          <a:xfrm>
            <a:off x="8474216" y="3035861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14,4 kg  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10856605" y="3035861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2,5 kg  </a:t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9652267" y="3038501"/>
            <a:ext cx="10491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5 kg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8171462" y="1922640"/>
            <a:ext cx="16359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Panificados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10745377" y="1833701"/>
            <a:ext cx="10749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Galletas dulces</a:t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9630010" y="1831981"/>
            <a:ext cx="10749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Galletas saladas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7107758" y="1313535"/>
            <a:ext cx="421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Datos de consumo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6608781" y="2961557"/>
            <a:ext cx="20747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Consumo promedio anual por persona</a:t>
            </a:r>
            <a:endParaRPr/>
          </a:p>
        </p:txBody>
      </p:sp>
      <p:cxnSp>
        <p:nvCxnSpPr>
          <p:cNvPr id="257" name="Google Shape;257;p5"/>
          <p:cNvCxnSpPr/>
          <p:nvPr/>
        </p:nvCxnSpPr>
        <p:spPr>
          <a:xfrm rot="10800000">
            <a:off x="8396872" y="1945118"/>
            <a:ext cx="0" cy="3240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8" name="Google Shape;258;p5"/>
          <p:cNvCxnSpPr/>
          <p:nvPr/>
        </p:nvCxnSpPr>
        <p:spPr>
          <a:xfrm rot="10800000">
            <a:off x="9575057" y="1945118"/>
            <a:ext cx="0" cy="3240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9" name="Google Shape;259;p5"/>
          <p:cNvCxnSpPr/>
          <p:nvPr/>
        </p:nvCxnSpPr>
        <p:spPr>
          <a:xfrm rot="10800000">
            <a:off x="10753243" y="1945118"/>
            <a:ext cx="0" cy="3240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5"/>
          <p:cNvSpPr txBox="1"/>
          <p:nvPr/>
        </p:nvSpPr>
        <p:spPr>
          <a:xfrm>
            <a:off x="6608781" y="3606369"/>
            <a:ext cx="20747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Consumo anual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8499463" y="3588340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4.800 Tn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9652267" y="3588340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1.700 Tn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10825898" y="3590980"/>
            <a:ext cx="10491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800 Tn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6608781" y="4114511"/>
            <a:ext cx="20747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Ventas anuales proyectadas</a:t>
            </a:r>
            <a:endParaRPr/>
          </a:p>
        </p:txBody>
      </p:sp>
      <p:sp>
        <p:nvSpPr>
          <p:cNvPr id="265" name="Google Shape;265;p5"/>
          <p:cNvSpPr txBox="1"/>
          <p:nvPr/>
        </p:nvSpPr>
        <p:spPr>
          <a:xfrm>
            <a:off x="8487143" y="4188815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164 Tn</a:t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9652267" y="4188815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16 Tn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10813578" y="4191455"/>
            <a:ext cx="10491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207 Tn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6608781" y="4835982"/>
            <a:ext cx="20747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Market share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8516318" y="4817953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3,4 %</a:t>
            </a:r>
            <a:endParaRPr/>
          </a:p>
        </p:txBody>
      </p:sp>
      <p:sp>
        <p:nvSpPr>
          <p:cNvPr id="270" name="Google Shape;270;p5"/>
          <p:cNvSpPr txBox="1"/>
          <p:nvPr/>
        </p:nvSpPr>
        <p:spPr>
          <a:xfrm>
            <a:off x="9652267" y="4817953"/>
            <a:ext cx="1049115" cy="31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0,9 %</a:t>
            </a:r>
            <a:endParaRPr/>
          </a:p>
        </p:txBody>
      </p:sp>
      <p:sp>
        <p:nvSpPr>
          <p:cNvPr id="271" name="Google Shape;271;p5"/>
          <p:cNvSpPr txBox="1"/>
          <p:nvPr/>
        </p:nvSpPr>
        <p:spPr>
          <a:xfrm>
            <a:off x="10842753" y="4820593"/>
            <a:ext cx="10491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25 %</a:t>
            </a:r>
            <a:endParaRPr/>
          </a:p>
        </p:txBody>
      </p:sp>
      <p:sp>
        <p:nvSpPr>
          <p:cNvPr id="272" name="Google Shape;272;p5"/>
          <p:cNvSpPr txBox="1"/>
          <p:nvPr/>
        </p:nvSpPr>
        <p:spPr>
          <a:xfrm>
            <a:off x="6663902" y="2278930"/>
            <a:ext cx="20747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Producto</a:t>
            </a:r>
            <a:endParaRPr/>
          </a:p>
        </p:txBody>
      </p:sp>
      <p:sp>
        <p:nvSpPr>
          <p:cNvPr id="273" name="Google Shape;273;p5"/>
          <p:cNvSpPr txBox="1"/>
          <p:nvPr/>
        </p:nvSpPr>
        <p:spPr>
          <a:xfrm>
            <a:off x="10084351" y="5789922"/>
            <a:ext cx="20143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600">
                <a:solidFill>
                  <a:srgbClr val="F7D165"/>
                </a:solidFill>
                <a:latin typeface="Montserrat"/>
                <a:ea typeface="Montserrat"/>
                <a:cs typeface="Montserrat"/>
                <a:sym typeface="Montserrat"/>
              </a:rPr>
              <a:t>5,27 %</a:t>
            </a:r>
            <a:endParaRPr/>
          </a:p>
        </p:txBody>
      </p:sp>
      <p:pic>
        <p:nvPicPr>
          <p:cNvPr descr="Market share - Free business icons" id="274" name="Google Shape;27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60702" y="5548524"/>
            <a:ext cx="1015323" cy="10153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5"/>
          <p:cNvCxnSpPr/>
          <p:nvPr/>
        </p:nvCxnSpPr>
        <p:spPr>
          <a:xfrm rot="10800000">
            <a:off x="6621713" y="2892535"/>
            <a:ext cx="5235097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5"/>
          <p:cNvSpPr/>
          <p:nvPr/>
        </p:nvSpPr>
        <p:spPr>
          <a:xfrm rot="5400000">
            <a:off x="2442217" y="-1225003"/>
            <a:ext cx="545990" cy="5430421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1493750" y="1282561"/>
            <a:ext cx="37932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Segmentación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"/>
          <p:cNvSpPr/>
          <p:nvPr/>
        </p:nvSpPr>
        <p:spPr>
          <a:xfrm rot="-5400000">
            <a:off x="7250985" y="1822673"/>
            <a:ext cx="4062217" cy="3369515"/>
          </a:xfrm>
          <a:prstGeom prst="round2SameRect">
            <a:avLst>
              <a:gd fmla="val 10096" name="adj1"/>
              <a:gd fmla="val 8684" name="adj2"/>
            </a:avLst>
          </a:prstGeom>
          <a:noFill/>
          <a:ln cap="flat" cmpd="sng" w="2857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 rot="-5400000">
            <a:off x="8989390" y="35183"/>
            <a:ext cx="579050" cy="3363165"/>
          </a:xfrm>
          <a:prstGeom prst="round2SameRect">
            <a:avLst>
              <a:gd fmla="val 46536" name="adj1"/>
              <a:gd fmla="val 49952" name="adj2"/>
            </a:avLst>
          </a:prstGeom>
          <a:solidFill>
            <a:srgbClr val="262626"/>
          </a:solidFill>
          <a:ln cap="flat" cmpd="sng" w="2857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287" name="Google Shape;287;p6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6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 txBox="1"/>
          <p:nvPr/>
        </p:nvSpPr>
        <p:spPr>
          <a:xfrm>
            <a:off x="3860208" y="165779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MERCADO</a:t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 rot="10800000">
            <a:off x="513000" y="1659019"/>
            <a:ext cx="6262473" cy="3879521"/>
          </a:xfrm>
          <a:prstGeom prst="round2SameRect">
            <a:avLst>
              <a:gd fmla="val 10272" name="adj1"/>
              <a:gd fmla="val 0" name="adj2"/>
            </a:avLst>
          </a:prstGeom>
          <a:noFill/>
          <a:ln cap="flat" cmpd="sng" w="2857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 rot="-5400000">
            <a:off x="3354716" y="-1437714"/>
            <a:ext cx="579049" cy="6262473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262626"/>
          </a:solidFill>
          <a:ln cap="flat" cmpd="sng" w="2857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a&#10;&#10;El contenido generado por IA puede ser incorrecto." id="292" name="Google Shape;2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63283" y="2256193"/>
            <a:ext cx="625213" cy="625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93" name="Google Shape;29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1949" y="2234365"/>
            <a:ext cx="668869" cy="668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294" name="Google Shape;29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15321" y="2196447"/>
            <a:ext cx="784330" cy="784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6"/>
          <p:cNvSpPr txBox="1"/>
          <p:nvPr/>
        </p:nvSpPr>
        <p:spPr>
          <a:xfrm>
            <a:off x="2450990" y="3491344"/>
            <a:ext cx="13129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D8262F"/>
                </a:solidFill>
                <a:latin typeface="Montserrat"/>
                <a:ea typeface="Montserrat"/>
                <a:cs typeface="Montserrat"/>
                <a:sym typeface="Montserrat"/>
              </a:rPr>
              <a:t>356 Tn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5362816" y="3491344"/>
            <a:ext cx="13129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D8262F"/>
                </a:solidFill>
                <a:latin typeface="Montserrat"/>
                <a:ea typeface="Montserrat"/>
                <a:cs typeface="Montserrat"/>
                <a:sym typeface="Montserrat"/>
              </a:rPr>
              <a:t>432 Tn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3861503" y="3491344"/>
            <a:ext cx="13129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D8262F"/>
                </a:solidFill>
                <a:latin typeface="Montserrat"/>
                <a:ea typeface="Montserrat"/>
                <a:cs typeface="Montserrat"/>
                <a:sym typeface="Montserrat"/>
              </a:rPr>
              <a:t>307 Tn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228374" y="1505666"/>
            <a:ext cx="6760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Comparación con de ventas anuales con líder</a:t>
            </a:r>
            <a:endParaRPr/>
          </a:p>
        </p:txBody>
      </p:sp>
      <p:cxnSp>
        <p:nvCxnSpPr>
          <p:cNvPr id="299" name="Google Shape;299;p6"/>
          <p:cNvCxnSpPr/>
          <p:nvPr/>
        </p:nvCxnSpPr>
        <p:spPr>
          <a:xfrm rot="10800000">
            <a:off x="2375705" y="2230526"/>
            <a:ext cx="0" cy="3168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6"/>
          <p:cNvCxnSpPr/>
          <p:nvPr/>
        </p:nvCxnSpPr>
        <p:spPr>
          <a:xfrm rot="10800000">
            <a:off x="3814560" y="2230526"/>
            <a:ext cx="0" cy="3168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6"/>
          <p:cNvCxnSpPr/>
          <p:nvPr/>
        </p:nvCxnSpPr>
        <p:spPr>
          <a:xfrm rot="10800000">
            <a:off x="5269566" y="2230526"/>
            <a:ext cx="0" cy="3168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6"/>
          <p:cNvCxnSpPr/>
          <p:nvPr/>
        </p:nvCxnSpPr>
        <p:spPr>
          <a:xfrm rot="10800000">
            <a:off x="720177" y="3027431"/>
            <a:ext cx="5955632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omprá online productos en SMAMS" id="303" name="Google Shape;30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7822" y="3347521"/>
            <a:ext cx="1719387" cy="6877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304" name="Google Shape;304;p6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729157" y="4542760"/>
            <a:ext cx="1391342" cy="57795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6"/>
          <p:cNvSpPr txBox="1"/>
          <p:nvPr/>
        </p:nvSpPr>
        <p:spPr>
          <a:xfrm>
            <a:off x="2486525" y="4638727"/>
            <a:ext cx="12419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556D2F"/>
                </a:solidFill>
                <a:latin typeface="Montserrat"/>
                <a:ea typeface="Montserrat"/>
                <a:cs typeface="Montserrat"/>
                <a:sym typeface="Montserrat"/>
              </a:rPr>
              <a:t>164 Tn</a:t>
            </a:r>
            <a:endParaRPr/>
          </a:p>
        </p:txBody>
      </p:sp>
      <p:sp>
        <p:nvSpPr>
          <p:cNvPr id="306" name="Google Shape;306;p6"/>
          <p:cNvSpPr txBox="1"/>
          <p:nvPr/>
        </p:nvSpPr>
        <p:spPr>
          <a:xfrm>
            <a:off x="3893836" y="4638727"/>
            <a:ext cx="12419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556D2F"/>
                </a:solidFill>
                <a:latin typeface="Montserrat"/>
                <a:ea typeface="Montserrat"/>
                <a:cs typeface="Montserrat"/>
                <a:sym typeface="Montserrat"/>
              </a:rPr>
              <a:t>16 Tn</a:t>
            </a:r>
            <a:endParaRPr/>
          </a:p>
        </p:txBody>
      </p:sp>
      <p:sp>
        <p:nvSpPr>
          <p:cNvPr id="307" name="Google Shape;307;p6"/>
          <p:cNvSpPr txBox="1"/>
          <p:nvPr/>
        </p:nvSpPr>
        <p:spPr>
          <a:xfrm>
            <a:off x="5428369" y="4638727"/>
            <a:ext cx="12419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556D2F"/>
                </a:solidFill>
                <a:latin typeface="Montserrat"/>
                <a:ea typeface="Montserrat"/>
                <a:cs typeface="Montserrat"/>
                <a:sym typeface="Montserrat"/>
              </a:rPr>
              <a:t>207 Tn</a:t>
            </a:r>
            <a:endParaRPr/>
          </a:p>
        </p:txBody>
      </p:sp>
      <p:cxnSp>
        <p:nvCxnSpPr>
          <p:cNvPr id="308" name="Google Shape;308;p6"/>
          <p:cNvCxnSpPr/>
          <p:nvPr/>
        </p:nvCxnSpPr>
        <p:spPr>
          <a:xfrm rot="10800000">
            <a:off x="720177" y="4234190"/>
            <a:ext cx="5955632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6"/>
          <p:cNvSpPr txBox="1"/>
          <p:nvPr/>
        </p:nvSpPr>
        <p:spPr>
          <a:xfrm>
            <a:off x="7555552" y="1560298"/>
            <a:ext cx="3517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Market share</a:t>
            </a:r>
            <a:endParaRPr/>
          </a:p>
        </p:txBody>
      </p:sp>
      <p:pic>
        <p:nvPicPr>
          <p:cNvPr descr="Comprá online productos en SMAMS" id="310" name="Google Shape;3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4118" y="4786234"/>
            <a:ext cx="1584796" cy="633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311" name="Google Shape;311;p6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9461026" y="4832043"/>
            <a:ext cx="1169565" cy="48582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"/>
          <p:cNvSpPr/>
          <p:nvPr/>
        </p:nvSpPr>
        <p:spPr>
          <a:xfrm>
            <a:off x="8091487" y="2342999"/>
            <a:ext cx="1003202" cy="2198066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2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7597332" y="3290871"/>
            <a:ext cx="2014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14,97 %</a:t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9544208" y="3709284"/>
            <a:ext cx="1003202" cy="83178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9076027" y="3937257"/>
            <a:ext cx="2014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5,27 %</a:t>
            </a:r>
            <a:endParaRPr/>
          </a:p>
        </p:txBody>
      </p:sp>
      <p:cxnSp>
        <p:nvCxnSpPr>
          <p:cNvPr id="316" name="Google Shape;316;p6"/>
          <p:cNvCxnSpPr/>
          <p:nvPr/>
        </p:nvCxnSpPr>
        <p:spPr>
          <a:xfrm rot="10800000">
            <a:off x="7810184" y="4541065"/>
            <a:ext cx="2977816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/>
          <p:nvPr/>
        </p:nvSpPr>
        <p:spPr>
          <a:xfrm rot="10800000">
            <a:off x="708564" y="1554119"/>
            <a:ext cx="7707887" cy="4354947"/>
          </a:xfrm>
          <a:prstGeom prst="round2SameRect">
            <a:avLst>
              <a:gd fmla="val 6819" name="adj1"/>
              <a:gd fmla="val 0" name="adj2"/>
            </a:avLst>
          </a:prstGeom>
          <a:solidFill>
            <a:srgbClr val="E8F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 rot="-5400000">
            <a:off x="4328124" y="-2303846"/>
            <a:ext cx="468779" cy="7707890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8"/>
          <p:cNvCxnSpPr/>
          <p:nvPr/>
        </p:nvCxnSpPr>
        <p:spPr>
          <a:xfrm>
            <a:off x="4271677" y="1445919"/>
            <a:ext cx="0" cy="439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4" name="Google Shape;324;p8"/>
          <p:cNvCxnSpPr/>
          <p:nvPr/>
        </p:nvCxnSpPr>
        <p:spPr>
          <a:xfrm>
            <a:off x="5286756" y="1445919"/>
            <a:ext cx="0" cy="439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5" name="Google Shape;325;p8"/>
          <p:cNvCxnSpPr/>
          <p:nvPr/>
        </p:nvCxnSpPr>
        <p:spPr>
          <a:xfrm>
            <a:off x="6301835" y="1445919"/>
            <a:ext cx="0" cy="439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" name="Google Shape;326;p8"/>
          <p:cNvCxnSpPr/>
          <p:nvPr/>
        </p:nvCxnSpPr>
        <p:spPr>
          <a:xfrm>
            <a:off x="7316913" y="1445919"/>
            <a:ext cx="0" cy="439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8"/>
          <p:cNvCxnSpPr/>
          <p:nvPr/>
        </p:nvCxnSpPr>
        <p:spPr>
          <a:xfrm>
            <a:off x="888005" y="5453999"/>
            <a:ext cx="7434901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8" name="Google Shape;328;p8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331" name="Google Shape;331;p8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2301551" y="165779"/>
            <a:ext cx="75888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MACRO LOCALIZACIÓN</a:t>
            </a:r>
            <a:endParaRPr/>
          </a:p>
        </p:txBody>
      </p:sp>
      <p:graphicFrame>
        <p:nvGraphicFramePr>
          <p:cNvPr id="334" name="Google Shape;334;p8"/>
          <p:cNvGraphicFramePr/>
          <p:nvPr/>
        </p:nvGraphicFramePr>
        <p:xfrm>
          <a:off x="827556" y="1268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{9F9EB7B3-9B94-41CB-9F81-7A46807CFCEE}</a:tableStyleId>
              </a:tblPr>
              <a:tblGrid>
                <a:gridCol w="3432725"/>
                <a:gridCol w="1029850"/>
                <a:gridCol w="998250"/>
                <a:gridCol w="1023500"/>
                <a:gridCol w="1104575"/>
              </a:tblGrid>
              <a:tr h="558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 Crítico de Evaluación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Peso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AMBA / PBA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Córdoba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Santa Fe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Cercanía a grandes centros de distribución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0.30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Abastecimiento de materia prima certificada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0.20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Costo de radicación inmobiliaria y presión fiscal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Proximidad a proveedores de packaging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Disponibilidad de mano de obra calificada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0.10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Conectividad logística interprovincial (rutas/autopistas)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Servicios especializados frecuentes (plagas, mantenimiento)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0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Puntaje total ponderado</a:t>
                      </a:r>
                      <a:endParaRPr b="1"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1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</a:t>
                      </a:r>
                      <a:endParaRPr b="1"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983E"/>
                        </a:buClr>
                        <a:buSzPts val="1300"/>
                        <a:buFont typeface="Montserrat"/>
                        <a:buNone/>
                      </a:pPr>
                      <a:r>
                        <a:rPr b="1" i="0" lang="es-AR" sz="1300" u="none" cap="none" strike="noStrike">
                          <a:solidFill>
                            <a:srgbClr val="6298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8.25</a:t>
                      </a:r>
                      <a:endParaRPr b="1" sz="1300" u="none" cap="none" strike="noStrike">
                        <a:solidFill>
                          <a:srgbClr val="62983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1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6.45</a:t>
                      </a:r>
                      <a:endParaRPr b="1"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ontserrat"/>
                        <a:buNone/>
                      </a:pPr>
                      <a:r>
                        <a:rPr b="1" i="0" lang="es-AR" sz="13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6.80</a:t>
                      </a:r>
                      <a:endParaRPr b="1" sz="13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200" marB="56200" marR="56200" marL="5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El mapa de la pobreza y la indigencia en la Argentina: cuáles son las  provincias con peores indicadores - DIAUNO.AR concordia" id="335" name="Google Shape;335;p8"/>
          <p:cNvPicPr preferRelativeResize="0"/>
          <p:nvPr/>
        </p:nvPicPr>
        <p:blipFill rotWithShape="1">
          <a:blip r:embed="rId4">
            <a:alphaModFix/>
          </a:blip>
          <a:srcRect b="6460" l="14658" r="16687" t="8040"/>
          <a:stretch/>
        </p:blipFill>
        <p:spPr>
          <a:xfrm>
            <a:off x="8779992" y="1215135"/>
            <a:ext cx="2710008" cy="506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/>
          <p:nvPr/>
        </p:nvSpPr>
        <p:spPr>
          <a:xfrm rot="10800000">
            <a:off x="863624" y="1348341"/>
            <a:ext cx="4777714" cy="4765279"/>
          </a:xfrm>
          <a:prstGeom prst="round2SameRect">
            <a:avLst>
              <a:gd fmla="val 9604" name="adj1"/>
              <a:gd fmla="val 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 rot="-5400000">
            <a:off x="3015301" y="-1049169"/>
            <a:ext cx="474372" cy="4777712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345" name="Google Shape;345;p10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860208" y="165779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PRECIO</a:t>
            </a:r>
            <a:endParaRPr/>
          </a:p>
        </p:txBody>
      </p:sp>
      <p:graphicFrame>
        <p:nvGraphicFramePr>
          <p:cNvPr id="348" name="Google Shape;348;p10"/>
          <p:cNvGraphicFramePr/>
          <p:nvPr/>
        </p:nvGraphicFramePr>
        <p:xfrm>
          <a:off x="1086476" y="11452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{9F9EB7B3-9B94-41CB-9F81-7A46807CFCEE}</a:tableStyleId>
              </a:tblPr>
              <a:tblGrid>
                <a:gridCol w="3286850"/>
                <a:gridCol w="1150400"/>
              </a:tblGrid>
              <a:tr h="40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Producto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Chocolate con chips picante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2.055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Galletitas símil chocolinas free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1.890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Galletitas símil chocolinas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1.575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Pepas chocolate y batata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1.800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Bizcochos sabor queso free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1.050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Bizcochos sabor queso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1.050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Polvorones free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2.070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Polvorones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1.725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Pan de molde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5.080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Budines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2.160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Budines free </a:t>
                      </a: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180gr</a:t>
                      </a:r>
                      <a:r>
                        <a:rPr b="0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6900" marB="56900" marR="56900" marL="569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Montserrat"/>
                        <a:buNone/>
                      </a:pPr>
                      <a:r>
                        <a:rPr b="1" i="0" lang="es-AR" sz="1200" u="none" cap="none" strike="noStrike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2.160</a:t>
                      </a:r>
                      <a:endParaRPr b="1" sz="1200" u="none" cap="none" strike="noStrike">
                        <a:solidFill>
                          <a:srgbClr val="26262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0975" marB="40975" marR="22750" marL="22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9" name="Google Shape;349;p10"/>
          <p:cNvCxnSpPr/>
          <p:nvPr/>
        </p:nvCxnSpPr>
        <p:spPr>
          <a:xfrm>
            <a:off x="4523604" y="1660849"/>
            <a:ext cx="0" cy="4381842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Forma&#10;&#10;El contenido generado por IA puede ser incorrecto." id="350" name="Google Shape;3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0511420" y="2531981"/>
            <a:ext cx="758438" cy="758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51" name="Google Shape;35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3920" y="2505502"/>
            <a:ext cx="811396" cy="811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52" name="Google Shape;35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7923" y="2452544"/>
            <a:ext cx="1077384" cy="107738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 txBox="1"/>
          <p:nvPr/>
        </p:nvSpPr>
        <p:spPr>
          <a:xfrm>
            <a:off x="6801850" y="3478342"/>
            <a:ext cx="12593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62983E"/>
                </a:solidFill>
                <a:latin typeface="Arial"/>
                <a:ea typeface="Arial"/>
                <a:cs typeface="Arial"/>
                <a:sym typeface="Arial"/>
              </a:rPr>
              <a:t>$ 3.133</a:t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8570676" y="3478342"/>
            <a:ext cx="12593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62983E"/>
                </a:solidFill>
                <a:latin typeface="Arial"/>
                <a:ea typeface="Arial"/>
                <a:cs typeface="Arial"/>
                <a:sym typeface="Arial"/>
              </a:rPr>
              <a:t>$ 1.050</a:t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10260962" y="3478342"/>
            <a:ext cx="12593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62983E"/>
                </a:solidFill>
                <a:latin typeface="Arial"/>
                <a:ea typeface="Arial"/>
                <a:cs typeface="Arial"/>
                <a:sym typeface="Arial"/>
              </a:rPr>
              <a:t>$ 1.850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734614" y="1668407"/>
            <a:ext cx="46239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Precio promedio por categoría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6683358" y="2228955"/>
            <a:ext cx="16359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Panificados</a:t>
            </a:r>
            <a:endParaRPr/>
          </a:p>
        </p:txBody>
      </p:sp>
      <p:sp>
        <p:nvSpPr>
          <p:cNvPr id="358" name="Google Shape;358;p10"/>
          <p:cNvSpPr txBox="1"/>
          <p:nvPr/>
        </p:nvSpPr>
        <p:spPr>
          <a:xfrm>
            <a:off x="10071987" y="2228955"/>
            <a:ext cx="15776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Galletas dulces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8448863" y="2228955"/>
            <a:ext cx="1501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Galletas saladas</a:t>
            </a:r>
            <a:endParaRPr/>
          </a:p>
        </p:txBody>
      </p:sp>
      <p:cxnSp>
        <p:nvCxnSpPr>
          <p:cNvPr id="360" name="Google Shape;360;p10"/>
          <p:cNvCxnSpPr/>
          <p:nvPr/>
        </p:nvCxnSpPr>
        <p:spPr>
          <a:xfrm>
            <a:off x="6813946" y="2094070"/>
            <a:ext cx="475172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/>
          <p:nvPr/>
        </p:nvSpPr>
        <p:spPr>
          <a:xfrm rot="-5400000">
            <a:off x="8904808" y="1659609"/>
            <a:ext cx="3139945" cy="3226011"/>
          </a:xfrm>
          <a:prstGeom prst="round2SameRect">
            <a:avLst>
              <a:gd fmla="val 15666" name="adj1"/>
              <a:gd fmla="val 15695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 rot="-5400000">
            <a:off x="10183060" y="381359"/>
            <a:ext cx="583439" cy="3226009"/>
          </a:xfrm>
          <a:prstGeom prst="round2SameRect">
            <a:avLst>
              <a:gd fmla="val 50000" name="adj1"/>
              <a:gd fmla="val 43745" name="adj2"/>
            </a:avLst>
          </a:prstGeom>
          <a:solidFill>
            <a:srgbClr val="F9DE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 rot="-5400000">
            <a:off x="4562356" y="751314"/>
            <a:ext cx="3139945" cy="5040953"/>
          </a:xfrm>
          <a:prstGeom prst="round2SameRect">
            <a:avLst>
              <a:gd fmla="val 15666" name="adj1"/>
              <a:gd fmla="val 15695" name="adj2"/>
            </a:avLst>
          </a:prstGeom>
          <a:solidFill>
            <a:srgbClr val="E8F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 rot="-5400000">
            <a:off x="5840607" y="-526934"/>
            <a:ext cx="583439" cy="5040950"/>
          </a:xfrm>
          <a:prstGeom prst="round2SameRect">
            <a:avLst>
              <a:gd fmla="val 50000" name="adj1"/>
              <a:gd fmla="val 43745" name="adj2"/>
            </a:avLst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 rot="-5400000">
            <a:off x="219899" y="1649454"/>
            <a:ext cx="3139945" cy="3226011"/>
          </a:xfrm>
          <a:prstGeom prst="round2SameRect">
            <a:avLst>
              <a:gd fmla="val 15666" name="adj1"/>
              <a:gd fmla="val 15695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 rot="-5400000">
            <a:off x="1498151" y="371204"/>
            <a:ext cx="583439" cy="3226009"/>
          </a:xfrm>
          <a:prstGeom prst="round2SameRect">
            <a:avLst>
              <a:gd fmla="val 50000" name="adj1"/>
              <a:gd fmla="val 43745" name="adj2"/>
            </a:avLst>
          </a:prstGeom>
          <a:solidFill>
            <a:srgbClr val="F9DE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371" name="Google Shape;371;p11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 txBox="1"/>
          <p:nvPr/>
        </p:nvSpPr>
        <p:spPr>
          <a:xfrm>
            <a:off x="4226646" y="299784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PROMOCIÓN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374106" y="1787368"/>
            <a:ext cx="281446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Fuerza de ventas</a:t>
            </a:r>
            <a:endParaRPr/>
          </a:p>
        </p:txBody>
      </p:sp>
      <p:sp>
        <p:nvSpPr>
          <p:cNvPr id="374" name="Google Shape;374;p11"/>
          <p:cNvSpPr txBox="1"/>
          <p:nvPr/>
        </p:nvSpPr>
        <p:spPr>
          <a:xfrm>
            <a:off x="9014070" y="1796699"/>
            <a:ext cx="28710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Góndola</a:t>
            </a:r>
            <a:endParaRPr/>
          </a:p>
        </p:txBody>
      </p:sp>
      <p:sp>
        <p:nvSpPr>
          <p:cNvPr id="375" name="Google Shape;375;p11"/>
          <p:cNvSpPr txBox="1"/>
          <p:nvPr/>
        </p:nvSpPr>
        <p:spPr>
          <a:xfrm>
            <a:off x="3792953" y="1796699"/>
            <a:ext cx="44715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Relaciones públicas</a:t>
            </a:r>
            <a:endParaRPr/>
          </a:p>
        </p:txBody>
      </p:sp>
      <p:pic>
        <p:nvPicPr>
          <p:cNvPr descr="Forma&#10;&#10;El contenido generado por IA puede ser incorrecto." id="376" name="Google Shape;3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015" y="3552261"/>
            <a:ext cx="605864" cy="605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&#10;&#10;El contenido generado por IA puede ser incorrecto." id="377" name="Google Shape;37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8982" y="2525674"/>
            <a:ext cx="586316" cy="586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78" name="Google Shape;3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2195" y="3552261"/>
            <a:ext cx="605864" cy="60586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 txBox="1"/>
          <p:nvPr/>
        </p:nvSpPr>
        <p:spPr>
          <a:xfrm>
            <a:off x="1175759" y="3111990"/>
            <a:ext cx="10927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Manager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586566" y="4232580"/>
            <a:ext cx="10927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1778746" y="4232580"/>
            <a:ext cx="10927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</a:t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9515888" y="2286084"/>
            <a:ext cx="2845487" cy="11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Ubicación en zona caliente</a:t>
            </a:r>
            <a:endParaRPr/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Material POP</a:t>
            </a:r>
            <a:endParaRPr/>
          </a:p>
        </p:txBody>
      </p:sp>
      <p:sp>
        <p:nvSpPr>
          <p:cNvPr id="383" name="Google Shape;383;p11"/>
          <p:cNvSpPr txBox="1"/>
          <p:nvPr/>
        </p:nvSpPr>
        <p:spPr>
          <a:xfrm>
            <a:off x="4381337" y="2236910"/>
            <a:ext cx="4850768" cy="2384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Redes sociales y comunidades celíacas</a:t>
            </a:r>
            <a:endParaRPr/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Publicidad en TV y canales de streaming</a:t>
            </a:r>
            <a:endParaRPr/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Participación en ferias y eventos gastronómicos</a:t>
            </a:r>
            <a:endParaRPr/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Degustaciones en puntos de venta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orma&#10;&#10;El contenido generado por IA puede ser incorrecto." id="384" name="Google Shape;38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0545" y="2469378"/>
            <a:ext cx="407514" cy="407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85" name="Google Shape;38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10545" y="3077269"/>
            <a:ext cx="407514" cy="407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86" name="Google Shape;38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10545" y="3630103"/>
            <a:ext cx="407514" cy="407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87" name="Google Shape;38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29207" y="4171885"/>
            <a:ext cx="407514" cy="407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88" name="Google Shape;388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51394" y="3090595"/>
            <a:ext cx="461666" cy="461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389" name="Google Shape;38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51394" y="2512863"/>
            <a:ext cx="420771" cy="42077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"/>
          <p:cNvSpPr/>
          <p:nvPr/>
        </p:nvSpPr>
        <p:spPr>
          <a:xfrm rot="5400000">
            <a:off x="1969751" y="-486638"/>
            <a:ext cx="4131482" cy="8070983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397" name="Google Shape;397;p12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2"/>
          <p:cNvSpPr txBox="1"/>
          <p:nvPr/>
        </p:nvSpPr>
        <p:spPr>
          <a:xfrm>
            <a:off x="3860208" y="165779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PLAZA</a:t>
            </a:r>
            <a:endParaRPr/>
          </a:p>
        </p:txBody>
      </p:sp>
      <p:sp>
        <p:nvSpPr>
          <p:cNvPr id="399" name="Google Shape;399;p12"/>
          <p:cNvSpPr txBox="1"/>
          <p:nvPr/>
        </p:nvSpPr>
        <p:spPr>
          <a:xfrm>
            <a:off x="354125" y="1989525"/>
            <a:ext cx="76032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Modelo de distribución indirecta, sin locales propios.</a:t>
            </a:r>
            <a:endParaRPr/>
          </a:p>
          <a:p>
            <a:pPr indent="4572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Presencia en supermercados, comercios de cercanía y dietéticas.</a:t>
            </a:r>
            <a:endParaRPr/>
          </a:p>
          <a:p>
            <a:pPr indent="4572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Distribución tercerizada mediante operadores logísticos habilitados. </a:t>
            </a:r>
            <a:endParaRPr/>
          </a:p>
          <a:p>
            <a:pPr indent="4572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Cobertura nacional a través de distribuidores mayoristas</a:t>
            </a:r>
            <a:endParaRPr/>
          </a:p>
          <a:p>
            <a:pPr indent="4572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Auditores de campo </a:t>
            </a:r>
            <a:r>
              <a:rPr lang="es-AR" sz="16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supervisan la exhibición y distribución en puntos de venta. </a:t>
            </a:r>
            <a:endParaRPr/>
          </a:p>
        </p:txBody>
      </p:sp>
      <p:pic>
        <p:nvPicPr>
          <p:cNvPr descr="Forma&#10;&#10;El contenido generado por IA puede ser incorrecto." id="400" name="Google Shape;40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0568" y="1790999"/>
            <a:ext cx="3276012" cy="327601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2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a&#10;&#10;El contenido generado por IA puede ser incorrecto." id="405" name="Google Shape;405;p1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60334" y="2014448"/>
            <a:ext cx="293875" cy="29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06" name="Google Shape;406;p1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60334" y="2512960"/>
            <a:ext cx="293875" cy="29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07" name="Google Shape;407;p1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60334" y="3012166"/>
            <a:ext cx="293875" cy="29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08" name="Google Shape;408;p1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60334" y="3486216"/>
            <a:ext cx="293875" cy="29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09" name="Google Shape;409;p1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60334" y="3960266"/>
            <a:ext cx="293875" cy="2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/>
          <p:nvPr/>
        </p:nvSpPr>
        <p:spPr>
          <a:xfrm rot="-5400000">
            <a:off x="1243249" y="3679608"/>
            <a:ext cx="1094974" cy="3144418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 rot="-5400000">
            <a:off x="6729616" y="1263765"/>
            <a:ext cx="2701387" cy="8229601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 rot="5400000">
            <a:off x="2804556" y="-1748784"/>
            <a:ext cx="2620490" cy="8229601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9DE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2315778" y="81792"/>
            <a:ext cx="73463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COSTOS COMERCIALES</a:t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646834" y="1299880"/>
            <a:ext cx="27797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Distribución y logística</a:t>
            </a:r>
            <a:endParaRPr sz="16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1664" y="1880449"/>
            <a:ext cx="3028104" cy="34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Flete tercerizado (iFlow)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2640999" y="1880449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$66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1664" y="2182182"/>
            <a:ext cx="3028104" cy="34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Rappels y bonificaciones retail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2640999" y="2182182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$6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1664" y="2505971"/>
            <a:ext cx="14630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TOTAL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2336199" y="2505971"/>
            <a:ext cx="12192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$72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4583876" y="1268960"/>
            <a:ext cx="27797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Fuerza de ventas</a:t>
            </a:r>
            <a:endParaRPr sz="16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3994366" y="1863275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Comisiones vendedores 9%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526886" y="1850943"/>
            <a:ext cx="1219200" cy="314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$374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3994366" y="2155883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2 KAMs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831686" y="2180876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$90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3994366" y="2448491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Jefe de Ventas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6831686" y="2464153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$53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3994366" y="2741099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2 Auditores + Cargas sociales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6831686" y="2747430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$30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994366" y="3059832"/>
            <a:ext cx="14630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TOTAL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6526886" y="3051196"/>
            <a:ext cx="12192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$547 MM</a:t>
            </a:r>
            <a:endParaRPr sz="1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5311743" y="4189993"/>
            <a:ext cx="361216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Comunicación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4872930" y="4729869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Agencia marketing digital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7520213" y="4729869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$9,6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4872930" y="5022477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Material POP y punteras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7520213" y="5022477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$4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4872930" y="5315085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Alquiler espacios en gondola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7520213" y="5315085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$7,2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4872930" y="5607693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Muestreo y degustaciones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520213" y="5607693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$3,6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872930" y="5948943"/>
            <a:ext cx="14630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TOTAL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7215413" y="5948943"/>
            <a:ext cx="12192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$24,4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9315627" y="4228234"/>
            <a:ext cx="27797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Medios y eventos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8803563" y="4850026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PNT televisión / streaming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11217579" y="4850026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$2,6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8803563" y="5142634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Ferias gastronómicas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11217579" y="5142634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$2,8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8803563" y="5435242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Diseño packaging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11217579" y="5435242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$3,2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8803563" y="5727850"/>
            <a:ext cx="26212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Redes sociales (pauta)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11217579" y="5727850"/>
            <a:ext cx="91440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$2,3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8803563" y="6059768"/>
            <a:ext cx="146304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TOTAL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10912779" y="6059768"/>
            <a:ext cx="1219200" cy="41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$10,9 MM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13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a&#10;&#10;El contenido generado por IA puede ser incorrecto." id="460" name="Google Shape;4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2189" y="1307670"/>
            <a:ext cx="368246" cy="368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61" name="Google Shape;4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3442" y="1261936"/>
            <a:ext cx="447869" cy="447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62" name="Google Shape;4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0310" y="4265951"/>
            <a:ext cx="407514" cy="407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463" name="Google Shape;46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1553" y="4214420"/>
            <a:ext cx="407514" cy="407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p13"/>
          <p:cNvCxnSpPr/>
          <p:nvPr/>
        </p:nvCxnSpPr>
        <p:spPr>
          <a:xfrm>
            <a:off x="4941553" y="4668276"/>
            <a:ext cx="34930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5" name="Google Shape;465;p13"/>
          <p:cNvCxnSpPr/>
          <p:nvPr/>
        </p:nvCxnSpPr>
        <p:spPr>
          <a:xfrm>
            <a:off x="8843930" y="4655004"/>
            <a:ext cx="318322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6" name="Google Shape;466;p13"/>
          <p:cNvCxnSpPr/>
          <p:nvPr/>
        </p:nvCxnSpPr>
        <p:spPr>
          <a:xfrm>
            <a:off x="58229" y="1832281"/>
            <a:ext cx="3461144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7" name="Google Shape;467;p13"/>
          <p:cNvCxnSpPr/>
          <p:nvPr/>
        </p:nvCxnSpPr>
        <p:spPr>
          <a:xfrm>
            <a:off x="4073442" y="1832281"/>
            <a:ext cx="3461144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13"/>
          <p:cNvSpPr/>
          <p:nvPr/>
        </p:nvSpPr>
        <p:spPr>
          <a:xfrm>
            <a:off x="227146" y="5239535"/>
            <a:ext cx="3107923" cy="48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$ 735 MM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227146" y="4759257"/>
            <a:ext cx="3107923" cy="395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Total anual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0" name="Google Shape;470;p13"/>
          <p:cNvCxnSpPr/>
          <p:nvPr/>
        </p:nvCxnSpPr>
        <p:spPr>
          <a:xfrm>
            <a:off x="336820" y="5162335"/>
            <a:ext cx="2866314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71" name="Google Shape;471;p13"/>
          <p:cNvGraphicFramePr/>
          <p:nvPr/>
        </p:nvGraphicFramePr>
        <p:xfrm>
          <a:off x="8185944" y="1086776"/>
          <a:ext cx="4103148" cy="2723430"/>
        </p:xfrm>
        <a:graphic>
          <a:graphicData uri="http://schemas.openxmlformats.org/drawingml/2006/chart">
            <c:chart r:id="rId7"/>
          </a:graphicData>
        </a:graphic>
      </p:graphicFrame>
      <p:sp>
        <p:nvSpPr>
          <p:cNvPr id="472" name="Google Shape;472;p13"/>
          <p:cNvSpPr/>
          <p:nvPr/>
        </p:nvSpPr>
        <p:spPr>
          <a:xfrm>
            <a:off x="10348433" y="850887"/>
            <a:ext cx="1156550" cy="453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Distribución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8532687" y="843645"/>
            <a:ext cx="1299029" cy="453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Comunicación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9698918" y="715441"/>
            <a:ext cx="1299029" cy="453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Medios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9321855" y="3617157"/>
            <a:ext cx="1485652" cy="453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Fuerza de ventas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"/>
          <p:cNvSpPr/>
          <p:nvPr/>
        </p:nvSpPr>
        <p:spPr>
          <a:xfrm rot="10800000">
            <a:off x="1147663" y="1196766"/>
            <a:ext cx="10170368" cy="4924116"/>
          </a:xfrm>
          <a:prstGeom prst="round2SameRect">
            <a:avLst>
              <a:gd fmla="val 6819" name="adj1"/>
              <a:gd fmla="val 0" name="adj2"/>
            </a:avLst>
          </a:prstGeom>
          <a:solidFill>
            <a:srgbClr val="E8F3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 rot="-5400000">
            <a:off x="5998462" y="-3892439"/>
            <a:ext cx="468779" cy="10170366"/>
          </a:xfrm>
          <a:prstGeom prst="round2SameRect">
            <a:avLst>
              <a:gd fmla="val 46536" name="adj1"/>
              <a:gd fmla="val 50000" name="adj2"/>
            </a:avLst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485" name="Google Shape;485;p14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4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2973355" y="165779"/>
            <a:ext cx="624529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PLAN DE VENTAS</a:t>
            </a:r>
            <a:endParaRPr/>
          </a:p>
        </p:txBody>
      </p:sp>
      <p:graphicFrame>
        <p:nvGraphicFramePr>
          <p:cNvPr id="488" name="Google Shape;488;p14"/>
          <p:cNvGraphicFramePr/>
          <p:nvPr/>
        </p:nvGraphicFramePr>
        <p:xfrm>
          <a:off x="1329764" y="995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{9F9EB7B3-9B94-41CB-9F81-7A46807CFCEE}</a:tableStyleId>
              </a:tblPr>
              <a:tblGrid>
                <a:gridCol w="2878475"/>
                <a:gridCol w="694750"/>
                <a:gridCol w="694750"/>
                <a:gridCol w="694750"/>
                <a:gridCol w="694750"/>
                <a:gridCol w="694750"/>
                <a:gridCol w="694750"/>
                <a:gridCol w="694750"/>
                <a:gridCol w="694750"/>
                <a:gridCol w="694750"/>
                <a:gridCol w="694750"/>
              </a:tblGrid>
              <a:tr h="39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Producto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Año 10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Chocolate con chips picante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150gr.</a:t>
                      </a:r>
                      <a:endParaRPr b="1"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380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416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Galletitas símil chocolinas free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Galletitas símil chocolinas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Pepas chocolate y batata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541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563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589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616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644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Bizcochos sabor queso free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Bizcochos sabor queso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Polvorones free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Polvorones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Pan de molde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Budines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410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427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447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468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513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562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Budines free </a:t>
                      </a: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180gr</a:t>
                      </a: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114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0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145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1.892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2.162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2.252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2.349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2.461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2.577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2.700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2.828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2.961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b="1" i="0" lang="es-AR" sz="11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3.101</a:t>
                      </a:r>
                      <a:endParaRPr sz="3600" u="none" cap="none" strike="noStrik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1300" marB="41300" marR="22950" marL="22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89" name="Google Shape;489;p14"/>
          <p:cNvCxnSpPr/>
          <p:nvPr/>
        </p:nvCxnSpPr>
        <p:spPr>
          <a:xfrm>
            <a:off x="4225828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0" name="Google Shape;490;p14"/>
          <p:cNvCxnSpPr/>
          <p:nvPr/>
        </p:nvCxnSpPr>
        <p:spPr>
          <a:xfrm>
            <a:off x="4926315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1" name="Google Shape;491;p14"/>
          <p:cNvCxnSpPr/>
          <p:nvPr/>
        </p:nvCxnSpPr>
        <p:spPr>
          <a:xfrm>
            <a:off x="5626802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14"/>
          <p:cNvCxnSpPr/>
          <p:nvPr/>
        </p:nvCxnSpPr>
        <p:spPr>
          <a:xfrm>
            <a:off x="6327289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p14"/>
          <p:cNvCxnSpPr/>
          <p:nvPr/>
        </p:nvCxnSpPr>
        <p:spPr>
          <a:xfrm>
            <a:off x="7027776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14"/>
          <p:cNvCxnSpPr/>
          <p:nvPr/>
        </p:nvCxnSpPr>
        <p:spPr>
          <a:xfrm>
            <a:off x="7728263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14"/>
          <p:cNvCxnSpPr/>
          <p:nvPr/>
        </p:nvCxnSpPr>
        <p:spPr>
          <a:xfrm>
            <a:off x="8428750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p14"/>
          <p:cNvCxnSpPr/>
          <p:nvPr/>
        </p:nvCxnSpPr>
        <p:spPr>
          <a:xfrm>
            <a:off x="9129237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p14"/>
          <p:cNvCxnSpPr/>
          <p:nvPr/>
        </p:nvCxnSpPr>
        <p:spPr>
          <a:xfrm>
            <a:off x="10530213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14"/>
          <p:cNvCxnSpPr/>
          <p:nvPr/>
        </p:nvCxnSpPr>
        <p:spPr>
          <a:xfrm>
            <a:off x="9829724" y="1097499"/>
            <a:ext cx="0" cy="4896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14"/>
          <p:cNvCxnSpPr/>
          <p:nvPr/>
        </p:nvCxnSpPr>
        <p:spPr>
          <a:xfrm>
            <a:off x="1229814" y="5673542"/>
            <a:ext cx="10037205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0" name="Google Shape;50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73500" y="4192388"/>
            <a:ext cx="9753600" cy="53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&#10;&#10;El contenido generado por IA puede ser incorrecto." id="505" name="Google Shape;505;p15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3847777" y="2248559"/>
            <a:ext cx="4726205" cy="1963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506" name="Google Shape;506;p15"/>
          <p:cNvPicPr preferRelativeResize="0"/>
          <p:nvPr/>
        </p:nvPicPr>
        <p:blipFill rotWithShape="1">
          <a:blip r:embed="rId4">
            <a:alphaModFix amt="70000"/>
          </a:blip>
          <a:srcRect b="32318" l="32782" r="32356" t="62406"/>
          <a:stretch/>
        </p:blipFill>
        <p:spPr>
          <a:xfrm>
            <a:off x="3778401" y="4227673"/>
            <a:ext cx="4885276" cy="492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utn-frba » CEDOL" id="507" name="Google Shape;507;p15"/>
          <p:cNvPicPr preferRelativeResize="0"/>
          <p:nvPr/>
        </p:nvPicPr>
        <p:blipFill rotWithShape="1">
          <a:blip r:embed="rId5">
            <a:alphaModFix/>
          </a:blip>
          <a:srcRect b="0" l="0" r="68099" t="0"/>
          <a:stretch/>
        </p:blipFill>
        <p:spPr>
          <a:xfrm>
            <a:off x="5806965" y="5936288"/>
            <a:ext cx="828149" cy="99817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5"/>
          <p:cNvSpPr txBox="1"/>
          <p:nvPr/>
        </p:nvSpPr>
        <p:spPr>
          <a:xfrm>
            <a:off x="2157813" y="891232"/>
            <a:ext cx="81264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1" y="-2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 rot="10800000">
            <a:off x="9636000" y="4302051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 rot="-5400000">
            <a:off x="20319" y="5841998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 txBox="1"/>
          <p:nvPr/>
        </p:nvSpPr>
        <p:spPr>
          <a:xfrm>
            <a:off x="518158" y="5255386"/>
            <a:ext cx="11481612" cy="440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700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Albarracín, Mateo      Carrizo, Joaquin      Greco, Santiago      Rodriguez, Brenda     Schaltegger, Franco</a:t>
            </a:r>
            <a:endParaRPr/>
          </a:p>
        </p:txBody>
      </p:sp>
      <p:cxnSp>
        <p:nvCxnSpPr>
          <p:cNvPr id="514" name="Google Shape;514;p15"/>
          <p:cNvCxnSpPr/>
          <p:nvPr/>
        </p:nvCxnSpPr>
        <p:spPr>
          <a:xfrm>
            <a:off x="2680367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5" name="Google Shape;515;p15"/>
          <p:cNvCxnSpPr/>
          <p:nvPr/>
        </p:nvCxnSpPr>
        <p:spPr>
          <a:xfrm>
            <a:off x="4766066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15"/>
          <p:cNvCxnSpPr/>
          <p:nvPr/>
        </p:nvCxnSpPr>
        <p:spPr>
          <a:xfrm>
            <a:off x="6809473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7" name="Google Shape;517;p15"/>
          <p:cNvCxnSpPr/>
          <p:nvPr/>
        </p:nvCxnSpPr>
        <p:spPr>
          <a:xfrm>
            <a:off x="9121793" y="5387905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525" name="Google Shape;525;p16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6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 txBox="1"/>
          <p:nvPr/>
        </p:nvSpPr>
        <p:spPr>
          <a:xfrm>
            <a:off x="3057331" y="2806830"/>
            <a:ext cx="62452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0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BACK UP</a:t>
            </a:r>
            <a:endParaRPr/>
          </a:p>
        </p:txBody>
      </p:sp>
      <p:sp>
        <p:nvSpPr>
          <p:cNvPr id="528" name="Google Shape;528;p16"/>
          <p:cNvSpPr txBox="1"/>
          <p:nvPr/>
        </p:nvSpPr>
        <p:spPr>
          <a:xfrm>
            <a:off x="228374" y="1505666"/>
            <a:ext cx="6760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Comparación con de ventas anuales con líder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7"/>
          <p:cNvSpPr/>
          <p:nvPr/>
        </p:nvSpPr>
        <p:spPr>
          <a:xfrm rot="10800000">
            <a:off x="181922" y="1717040"/>
            <a:ext cx="5730240" cy="6278880"/>
          </a:xfrm>
          <a:prstGeom prst="triangle">
            <a:avLst>
              <a:gd fmla="val 50000" name="adj"/>
            </a:avLst>
          </a:pr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4" name="Google Shape;534;p17"/>
          <p:cNvCxnSpPr/>
          <p:nvPr/>
        </p:nvCxnSpPr>
        <p:spPr>
          <a:xfrm>
            <a:off x="783583" y="2561898"/>
            <a:ext cx="449865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17"/>
          <p:cNvCxnSpPr/>
          <p:nvPr/>
        </p:nvCxnSpPr>
        <p:spPr>
          <a:xfrm>
            <a:off x="1299521" y="3429000"/>
            <a:ext cx="347472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17"/>
          <p:cNvCxnSpPr/>
          <p:nvPr/>
        </p:nvCxnSpPr>
        <p:spPr>
          <a:xfrm>
            <a:off x="1705921" y="4329738"/>
            <a:ext cx="264160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17"/>
          <p:cNvCxnSpPr/>
          <p:nvPr/>
        </p:nvCxnSpPr>
        <p:spPr>
          <a:xfrm>
            <a:off x="2071681" y="5173018"/>
            <a:ext cx="188976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8" name="Google Shape;538;p17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541" name="Google Shape;541;p17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7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/>
          </a:p>
        </p:txBody>
      </p:sp>
      <p:sp>
        <p:nvSpPr>
          <p:cNvPr id="544" name="Google Shape;544;p17"/>
          <p:cNvSpPr txBox="1"/>
          <p:nvPr/>
        </p:nvSpPr>
        <p:spPr>
          <a:xfrm>
            <a:off x="-263921" y="1939275"/>
            <a:ext cx="654376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Población Argentina </a:t>
            </a:r>
            <a:r>
              <a:rPr b="1" lang="es-A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46.000.000</a:t>
            </a:r>
            <a:endParaRPr/>
          </a:p>
        </p:txBody>
      </p:sp>
      <p:sp>
        <p:nvSpPr>
          <p:cNvPr id="545" name="Google Shape;545;p17"/>
          <p:cNvSpPr txBox="1"/>
          <p:nvPr/>
        </p:nvSpPr>
        <p:spPr>
          <a:xfrm>
            <a:off x="629508" y="2606942"/>
            <a:ext cx="3331934" cy="781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Población celíaca y convivientes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17"/>
          <p:cNvSpPr txBox="1"/>
          <p:nvPr/>
        </p:nvSpPr>
        <p:spPr>
          <a:xfrm>
            <a:off x="3358168" y="2826425"/>
            <a:ext cx="209823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460.000 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8"/>
          <p:cNvSpPr/>
          <p:nvPr/>
        </p:nvSpPr>
        <p:spPr>
          <a:xfrm>
            <a:off x="-1" y="-2"/>
            <a:ext cx="3707999" cy="3429002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 rot="-5400000">
            <a:off x="15039" y="3165039"/>
            <a:ext cx="3677919" cy="3708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 rot="5400000">
            <a:off x="10980118" y="831067"/>
            <a:ext cx="1678820" cy="744943"/>
          </a:xfrm>
          <a:custGeom>
            <a:rect b="b" l="l" r="r" t="t"/>
            <a:pathLst>
              <a:path extrusionOk="0" h="744943" w="1678820">
                <a:moveTo>
                  <a:pt x="0" y="0"/>
                </a:moveTo>
                <a:lnTo>
                  <a:pt x="1678820" y="0"/>
                </a:lnTo>
                <a:lnTo>
                  <a:pt x="1668222" y="69442"/>
                </a:lnTo>
                <a:cubicBezTo>
                  <a:pt x="1589336" y="454950"/>
                  <a:pt x="1248239" y="744943"/>
                  <a:pt x="839410" y="744943"/>
                </a:cubicBezTo>
                <a:cubicBezTo>
                  <a:pt x="430581" y="744943"/>
                  <a:pt x="89484" y="454950"/>
                  <a:pt x="10598" y="69442"/>
                </a:cubicBezTo>
                <a:close/>
              </a:path>
            </a:pathLst>
          </a:cu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18"/>
          <p:cNvPicPr preferRelativeResize="0"/>
          <p:nvPr/>
        </p:nvPicPr>
        <p:blipFill rotWithShape="1">
          <a:blip r:embed="rId3">
            <a:alphaModFix/>
          </a:blip>
          <a:srcRect b="9134" l="17207" r="48534" t="10515"/>
          <a:stretch/>
        </p:blipFill>
        <p:spPr>
          <a:xfrm>
            <a:off x="2347359" y="1116045"/>
            <a:ext cx="3386544" cy="433126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"/>
          <p:cNvSpPr/>
          <p:nvPr/>
        </p:nvSpPr>
        <p:spPr>
          <a:xfrm rot="5400000">
            <a:off x="10980118" y="5196999"/>
            <a:ext cx="1678820" cy="744943"/>
          </a:xfrm>
          <a:custGeom>
            <a:rect b="b" l="l" r="r" t="t"/>
            <a:pathLst>
              <a:path extrusionOk="0" h="744943" w="1678820">
                <a:moveTo>
                  <a:pt x="0" y="0"/>
                </a:moveTo>
                <a:lnTo>
                  <a:pt x="1678820" y="0"/>
                </a:lnTo>
                <a:lnTo>
                  <a:pt x="1668222" y="69442"/>
                </a:lnTo>
                <a:cubicBezTo>
                  <a:pt x="1589336" y="454950"/>
                  <a:pt x="1248239" y="744943"/>
                  <a:pt x="839410" y="744943"/>
                </a:cubicBezTo>
                <a:cubicBezTo>
                  <a:pt x="430581" y="744943"/>
                  <a:pt x="89484" y="454950"/>
                  <a:pt x="10598" y="69442"/>
                </a:cubicBezTo>
                <a:close/>
              </a:path>
            </a:pathLst>
          </a:custGeom>
          <a:solidFill>
            <a:srgbClr val="9A7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0" y="229179"/>
            <a:ext cx="9902460" cy="1178203"/>
          </a:xfrm>
          <a:custGeom>
            <a:rect b="b" l="l" r="r" t="t"/>
            <a:pathLst>
              <a:path extrusionOk="0" h="1178203" w="9902460">
                <a:moveTo>
                  <a:pt x="0" y="0"/>
                </a:moveTo>
                <a:lnTo>
                  <a:pt x="8900159" y="0"/>
                </a:lnTo>
                <a:lnTo>
                  <a:pt x="9902460" y="0"/>
                </a:lnTo>
                <a:lnTo>
                  <a:pt x="9889255" y="110058"/>
                </a:lnTo>
                <a:cubicBezTo>
                  <a:pt x="9797108" y="682858"/>
                  <a:pt x="9417817" y="1122610"/>
                  <a:pt x="8951043" y="1175342"/>
                </a:cubicBezTo>
                <a:lnTo>
                  <a:pt x="8900159" y="1178202"/>
                </a:lnTo>
                <a:lnTo>
                  <a:pt x="8900159" y="1178203"/>
                </a:lnTo>
                <a:lnTo>
                  <a:pt x="0" y="1178203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0"/>
          <p:cNvSpPr/>
          <p:nvPr/>
        </p:nvSpPr>
        <p:spPr>
          <a:xfrm>
            <a:off x="3271957" y="4610929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824621" y="5669727"/>
            <a:ext cx="857923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A5A5A5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 txBox="1"/>
          <p:nvPr/>
        </p:nvSpPr>
        <p:spPr>
          <a:xfrm>
            <a:off x="1283865" y="1553214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Competidores</a:t>
            </a:r>
            <a:endParaRPr/>
          </a:p>
        </p:txBody>
      </p:sp>
      <p:sp>
        <p:nvSpPr>
          <p:cNvPr id="571" name="Google Shape;571;p20"/>
          <p:cNvSpPr txBox="1"/>
          <p:nvPr/>
        </p:nvSpPr>
        <p:spPr>
          <a:xfrm>
            <a:off x="1228882" y="3884820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EDC209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/>
          </a:p>
        </p:txBody>
      </p:sp>
      <p:sp>
        <p:nvSpPr>
          <p:cNvPr id="572" name="Google Shape;572;p20"/>
          <p:cNvSpPr txBox="1"/>
          <p:nvPr/>
        </p:nvSpPr>
        <p:spPr>
          <a:xfrm>
            <a:off x="7171612" y="154876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Proveedores</a:t>
            </a:r>
            <a:endParaRPr/>
          </a:p>
        </p:txBody>
      </p:sp>
      <p:sp>
        <p:nvSpPr>
          <p:cNvPr id="573" name="Google Shape;573;p20"/>
          <p:cNvSpPr txBox="1"/>
          <p:nvPr/>
        </p:nvSpPr>
        <p:spPr>
          <a:xfrm>
            <a:off x="7080021" y="3871870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EDC209"/>
                </a:solidFill>
                <a:latin typeface="Arial"/>
                <a:ea typeface="Arial"/>
                <a:cs typeface="Arial"/>
                <a:sym typeface="Arial"/>
              </a:rPr>
              <a:t>Productos sustitutos</a:t>
            </a:r>
            <a:endParaRPr/>
          </a:p>
        </p:txBody>
      </p:sp>
      <p:pic>
        <p:nvPicPr>
          <p:cNvPr descr="Forma&#10;&#10;El contenido generado por IA puede ser incorrecto." id="574" name="Google Shape;574;p2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613848" y="3806584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575" name="Google Shape;5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213" y="1434196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576" name="Google Shape;5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4070" y="1420162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577" name="Google Shape;577;p20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6504621" y="3803980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578" name="Google Shape;578;p20"/>
          <p:cNvPicPr preferRelativeResize="0"/>
          <p:nvPr/>
        </p:nvPicPr>
        <p:blipFill rotWithShape="1">
          <a:blip r:embed="rId7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0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naderías y pastelerías en Gluten Free Experience | FACE" id="580" name="Google Shape;58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370" y="2364166"/>
            <a:ext cx="834707" cy="701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rá online productos en SMAMS" id="581" name="Google Shape;58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0793" y="2280020"/>
            <a:ext cx="1870899" cy="7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2" name="Google Shape;582;p20"/>
          <p:cNvCxnSpPr/>
          <p:nvPr/>
        </p:nvCxnSpPr>
        <p:spPr>
          <a:xfrm>
            <a:off x="537385" y="2067560"/>
            <a:ext cx="5200439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3" name="Google Shape;583;p20"/>
          <p:cNvCxnSpPr/>
          <p:nvPr/>
        </p:nvCxnSpPr>
        <p:spPr>
          <a:xfrm>
            <a:off x="518162" y="4412044"/>
            <a:ext cx="5200439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4" name="Google Shape;584;p20"/>
          <p:cNvCxnSpPr/>
          <p:nvPr/>
        </p:nvCxnSpPr>
        <p:spPr>
          <a:xfrm>
            <a:off x="6504621" y="2067560"/>
            <a:ext cx="5200439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5" name="Google Shape;585;p20"/>
          <p:cNvCxnSpPr/>
          <p:nvPr/>
        </p:nvCxnSpPr>
        <p:spPr>
          <a:xfrm>
            <a:off x="6504621" y="4412044"/>
            <a:ext cx="5200439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anta María alimentos sin gluten | La Plata" id="586" name="Google Shape;58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63749" y="2255294"/>
            <a:ext cx="748354" cy="74835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87" name="Google Shape;587;p20"/>
          <p:cNvSpPr/>
          <p:nvPr/>
        </p:nvSpPr>
        <p:spPr>
          <a:xfrm>
            <a:off x="1238030" y="4610929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8" name="Google Shape;588;p20"/>
          <p:cNvPicPr preferRelativeResize="0"/>
          <p:nvPr/>
        </p:nvPicPr>
        <p:blipFill rotWithShape="1">
          <a:blip r:embed="rId11">
            <a:alphaModFix/>
          </a:blip>
          <a:srcRect b="0" l="5935" r="0" t="7298"/>
          <a:stretch/>
        </p:blipFill>
        <p:spPr>
          <a:xfrm>
            <a:off x="4224832" y="2337593"/>
            <a:ext cx="1187593" cy="6000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89" name="Google Shape;589;p20"/>
          <p:cNvSpPr txBox="1"/>
          <p:nvPr/>
        </p:nvSpPr>
        <p:spPr>
          <a:xfrm>
            <a:off x="1126919" y="4680754"/>
            <a:ext cx="199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Cadenas de supermercados</a:t>
            </a:r>
            <a:endParaRPr/>
          </a:p>
        </p:txBody>
      </p:sp>
      <p:sp>
        <p:nvSpPr>
          <p:cNvPr id="590" name="Google Shape;590;p20"/>
          <p:cNvSpPr txBox="1"/>
          <p:nvPr/>
        </p:nvSpPr>
        <p:spPr>
          <a:xfrm>
            <a:off x="3183632" y="4675944"/>
            <a:ext cx="18977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Distribuidores mayoristas</a:t>
            </a:r>
            <a:endParaRPr/>
          </a:p>
        </p:txBody>
      </p:sp>
      <p:sp>
        <p:nvSpPr>
          <p:cNvPr id="591" name="Google Shape;591;p20"/>
          <p:cNvSpPr txBox="1"/>
          <p:nvPr/>
        </p:nvSpPr>
        <p:spPr>
          <a:xfrm>
            <a:off x="726551" y="5712656"/>
            <a:ext cx="10810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Celíacos</a:t>
            </a:r>
            <a:endParaRPr/>
          </a:p>
        </p:txBody>
      </p:sp>
      <p:sp>
        <p:nvSpPr>
          <p:cNvPr id="592" name="Google Shape;592;p20"/>
          <p:cNvSpPr txBox="1"/>
          <p:nvPr/>
        </p:nvSpPr>
        <p:spPr>
          <a:xfrm>
            <a:off x="1926268" y="5712656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Convivientes</a:t>
            </a:r>
            <a:endParaRPr/>
          </a:p>
        </p:txBody>
      </p:sp>
      <p:sp>
        <p:nvSpPr>
          <p:cNvPr id="593" name="Google Shape;593;p20"/>
          <p:cNvSpPr txBox="1"/>
          <p:nvPr/>
        </p:nvSpPr>
        <p:spPr>
          <a:xfrm>
            <a:off x="3191421" y="5712656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Bienestar</a:t>
            </a:r>
            <a:endParaRPr/>
          </a:p>
        </p:txBody>
      </p:sp>
      <p:sp>
        <p:nvSpPr>
          <p:cNvPr id="594" name="Google Shape;594;p20"/>
          <p:cNvSpPr txBox="1"/>
          <p:nvPr/>
        </p:nvSpPr>
        <p:spPr>
          <a:xfrm>
            <a:off x="4428428" y="5712656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Intolerantes</a:t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1992558" y="5669727"/>
            <a:ext cx="1171632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A5A5A5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3388220" y="5669727"/>
            <a:ext cx="911906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A5A5A5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4498111" y="5669727"/>
            <a:ext cx="1143228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A5A5A5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ALLETAS CELIAC RIERA DE ARROZ 150 GRS" id="598" name="Google Shape;59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5411" y="4565836"/>
            <a:ext cx="1428107" cy="1428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mezcla de Pan/Pizza Maizena | Maizena Argentina" id="599" name="Google Shape;599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9891" y="4632816"/>
            <a:ext cx="1288583" cy="128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re de gluten - Quento Snacks" id="600" name="Google Shape;600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30363" y="4552109"/>
            <a:ext cx="1461403" cy="146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82544" y="3368172"/>
            <a:ext cx="1086113" cy="269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137604" y="3241604"/>
            <a:ext cx="722604" cy="452203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0"/>
          <p:cNvSpPr/>
          <p:nvPr/>
        </p:nvSpPr>
        <p:spPr>
          <a:xfrm flipH="1" rot="10800000">
            <a:off x="3749040" y="172544"/>
            <a:ext cx="4693920" cy="80497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MICRO ENTORNO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2026-05-09T21:08:19Z</dcterms:created>
  <dc:creator>Albarracin, Mateo</dc:creator>
</cp:coreProperties>
</file>