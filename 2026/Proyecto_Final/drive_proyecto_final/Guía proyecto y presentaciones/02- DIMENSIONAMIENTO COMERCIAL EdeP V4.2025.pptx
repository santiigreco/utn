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handoutMasterIdLst>
    <p:handoutMasterId r:id="rId39"/>
  </p:handoutMasterIdLst>
  <p:sldIdLst>
    <p:sldId id="256" r:id="rId2"/>
    <p:sldId id="258" r:id="rId3"/>
    <p:sldId id="268" r:id="rId4"/>
    <p:sldId id="260" r:id="rId5"/>
    <p:sldId id="267" r:id="rId6"/>
    <p:sldId id="261" r:id="rId7"/>
    <p:sldId id="269" r:id="rId8"/>
    <p:sldId id="270" r:id="rId9"/>
    <p:sldId id="271" r:id="rId10"/>
    <p:sldId id="272" r:id="rId11"/>
    <p:sldId id="273" r:id="rId12"/>
    <p:sldId id="282" r:id="rId13"/>
    <p:sldId id="283" r:id="rId14"/>
    <p:sldId id="298" r:id="rId15"/>
    <p:sldId id="278" r:id="rId16"/>
    <p:sldId id="279" r:id="rId17"/>
    <p:sldId id="284" r:id="rId18"/>
    <p:sldId id="285" r:id="rId19"/>
    <p:sldId id="274" r:id="rId20"/>
    <p:sldId id="275" r:id="rId21"/>
    <p:sldId id="276" r:id="rId22"/>
    <p:sldId id="277" r:id="rId23"/>
    <p:sldId id="280" r:id="rId24"/>
    <p:sldId id="286" r:id="rId25"/>
    <p:sldId id="281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9" r:id="rId37"/>
    <p:sldId id="297" r:id="rId3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>
      <p:cViewPr varScale="1">
        <p:scale>
          <a:sx n="56" d="100"/>
          <a:sy n="56" d="100"/>
        </p:scale>
        <p:origin x="1272" y="2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s-MX" altLang="es-MX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s-MX" altLang="es-MX"/>
          </a:p>
        </p:txBody>
      </p:sp>
      <p:sp>
        <p:nvSpPr>
          <p:cNvPr id="798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s-MX" altLang="es-MX"/>
          </a:p>
        </p:txBody>
      </p:sp>
      <p:sp>
        <p:nvSpPr>
          <p:cNvPr id="798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3C8A79F-3E6D-4CCC-8523-49FB54FFF3E3}" type="slidenum">
              <a:rPr lang="es-MX" altLang="es-MX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26701598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13" name="Group 21">
            <a:extLst>
              <a:ext uri="{FF2B5EF4-FFF2-40B4-BE49-F238E27FC236}">
                <a16:creationId xmlns:a16="http://schemas.microsoft.com/office/drawing/2014/main" id="{8E113C58-1472-4F2D-88D1-9121E81666B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823200" cy="6858000"/>
            <a:chOff x="0" y="0"/>
            <a:chExt cx="3696" cy="4320"/>
          </a:xfrm>
        </p:grpSpPr>
        <p:sp>
          <p:nvSpPr>
            <p:cNvPr id="8194" name="Rectangle 2">
              <a:extLst>
                <a:ext uri="{FF2B5EF4-FFF2-40B4-BE49-F238E27FC236}">
                  <a16:creationId xmlns:a16="http://schemas.microsoft.com/office/drawing/2014/main" id="{CE226A80-6E6E-4289-A13F-EC3BF0C48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s-MX" altLang="es-AR" sz="2400">
                <a:latin typeface="Times New Roman" panose="02020603050405020304" pitchFamily="18" charset="0"/>
              </a:endParaRPr>
            </a:p>
          </p:txBody>
        </p:sp>
        <p:sp>
          <p:nvSpPr>
            <p:cNvPr id="8195" name="AutoShape 3">
              <a:extLst>
                <a:ext uri="{FF2B5EF4-FFF2-40B4-BE49-F238E27FC236}">
                  <a16:creationId xmlns:a16="http://schemas.microsoft.com/office/drawing/2014/main" id="{044556A3-27CA-46F1-B02C-088389C3CA4B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s-MX" altLang="es-AR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210" name="Group 18">
            <a:extLst>
              <a:ext uri="{FF2B5EF4-FFF2-40B4-BE49-F238E27FC236}">
                <a16:creationId xmlns:a16="http://schemas.microsoft.com/office/drawing/2014/main" id="{8D5AA647-CDF7-4BFB-AD79-20F25DFFA9D2}"/>
              </a:ext>
            </a:extLst>
          </p:cNvPr>
          <p:cNvGrpSpPr>
            <a:grpSpLocks/>
          </p:cNvGrpSpPr>
          <p:nvPr/>
        </p:nvGrpSpPr>
        <p:grpSpPr bwMode="auto">
          <a:xfrm>
            <a:off x="4842933" y="4889500"/>
            <a:ext cx="6502400" cy="319088"/>
            <a:chOff x="2288" y="3080"/>
            <a:chExt cx="3072" cy="201"/>
          </a:xfrm>
        </p:grpSpPr>
        <p:sp>
          <p:nvSpPr>
            <p:cNvPr id="8204" name="AutoShape 12">
              <a:extLst>
                <a:ext uri="{FF2B5EF4-FFF2-40B4-BE49-F238E27FC236}">
                  <a16:creationId xmlns:a16="http://schemas.microsoft.com/office/drawing/2014/main" id="{62E72DD9-FD1D-460B-A5A5-4275024F187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AR" sz="1800"/>
            </a:p>
          </p:txBody>
        </p:sp>
        <p:sp>
          <p:nvSpPr>
            <p:cNvPr id="8205" name="AutoShape 13">
              <a:extLst>
                <a:ext uri="{FF2B5EF4-FFF2-40B4-BE49-F238E27FC236}">
                  <a16:creationId xmlns:a16="http://schemas.microsoft.com/office/drawing/2014/main" id="{C81C520E-5BB7-488E-B9BF-0A305D0C31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AR" sz="1800"/>
            </a:p>
          </p:txBody>
        </p:sp>
      </p:grpSp>
      <p:sp>
        <p:nvSpPr>
          <p:cNvPr id="8197" name="Rectangle 5">
            <a:extLst>
              <a:ext uri="{FF2B5EF4-FFF2-40B4-BE49-F238E27FC236}">
                <a16:creationId xmlns:a16="http://schemas.microsoft.com/office/drawing/2014/main" id="{20E17A3E-3515-4382-912F-5C4BB600726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231468" y="2927350"/>
            <a:ext cx="5350933" cy="1822450"/>
          </a:xfrm>
        </p:spPr>
        <p:txBody>
          <a:bodyPr anchor="b"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s-ES" altLang="es-AR" noProof="0"/>
              <a:t>Haga clic para modificar el estilo de subtítulo del patrón</a:t>
            </a:r>
            <a:endParaRPr lang="es-MX" altLang="es-AR" noProof="0"/>
          </a:p>
        </p:txBody>
      </p:sp>
      <p:sp>
        <p:nvSpPr>
          <p:cNvPr id="8206" name="Rectangle 14">
            <a:extLst>
              <a:ext uri="{FF2B5EF4-FFF2-40B4-BE49-F238E27FC236}">
                <a16:creationId xmlns:a16="http://schemas.microsoft.com/office/drawing/2014/main" id="{DD66BD97-1A5A-45F1-8436-E34BD60888A6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MX" altLang="es-MX"/>
          </a:p>
        </p:txBody>
      </p:sp>
      <p:sp>
        <p:nvSpPr>
          <p:cNvPr id="8209" name="Rectangle 17">
            <a:extLst>
              <a:ext uri="{FF2B5EF4-FFF2-40B4-BE49-F238E27FC236}">
                <a16:creationId xmlns:a16="http://schemas.microsoft.com/office/drawing/2014/main" id="{F2D27867-95D9-4160-8D96-1319199CDCD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1605" y="6248400"/>
            <a:ext cx="783167" cy="488950"/>
          </a:xfrm>
        </p:spPr>
        <p:txBody>
          <a:bodyPr anchorCtr="0"/>
          <a:lstStyle>
            <a:lvl1pPr>
              <a:defRPr/>
            </a:lvl1pPr>
          </a:lstStyle>
          <a:p>
            <a:fld id="{7FFC7212-872C-478D-B7C4-AE077A6091FA}" type="slidenum">
              <a:rPr lang="es-MX" altLang="es-MX" smtClean="0"/>
              <a:pPr/>
              <a:t>‹Nº›</a:t>
            </a:fld>
            <a:endParaRPr lang="es-MX" altLang="es-MX"/>
          </a:p>
        </p:txBody>
      </p:sp>
      <p:sp>
        <p:nvSpPr>
          <p:cNvPr id="8211" name="AutoShape 19">
            <a:extLst>
              <a:ext uri="{FF2B5EF4-FFF2-40B4-BE49-F238E27FC236}">
                <a16:creationId xmlns:a16="http://schemas.microsoft.com/office/drawing/2014/main" id="{C46B2074-4575-4617-9A6E-B2C4438EA35D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990600"/>
            <a:ext cx="109728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altLang="es-AR" noProof="0"/>
              <a:t>Haga clic para modificar el estilo de título del patrón</a:t>
            </a:r>
            <a:endParaRPr lang="es-MX" altLang="es-AR" noProof="0"/>
          </a:p>
        </p:txBody>
      </p:sp>
      <p:sp>
        <p:nvSpPr>
          <p:cNvPr id="14" name="Subtítulo 5">
            <a:extLst>
              <a:ext uri="{FF2B5EF4-FFF2-40B4-BE49-F238E27FC236}">
                <a16:creationId xmlns:a16="http://schemas.microsoft.com/office/drawing/2014/main" id="{D51BF196-7E82-4AF6-93CD-51294D65FCF1}"/>
              </a:ext>
            </a:extLst>
          </p:cNvPr>
          <p:cNvSpPr txBox="1">
            <a:spLocks/>
          </p:cNvSpPr>
          <p:nvPr/>
        </p:nvSpPr>
        <p:spPr bwMode="auto">
          <a:xfrm>
            <a:off x="6054582" y="5459062"/>
            <a:ext cx="5350933" cy="146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AR" sz="2800" b="1" dirty="0">
                <a:solidFill>
                  <a:schemeClr val="tx1"/>
                </a:solidFill>
                <a:latin typeface="Rockwell Condensed" panose="02060603050405020104" pitchFamily="18" charset="0"/>
              </a:rPr>
              <a:t>Cátedra </a:t>
            </a:r>
            <a:r>
              <a:rPr lang="es-AR" sz="2800" b="1" dirty="0" err="1">
                <a:solidFill>
                  <a:schemeClr val="tx1"/>
                </a:solidFill>
                <a:latin typeface="Rockwell Condensed" panose="02060603050405020104" pitchFamily="18" charset="0"/>
              </a:rPr>
              <a:t>Eval</a:t>
            </a:r>
            <a:r>
              <a:rPr lang="es-AR" sz="2800" b="1" dirty="0">
                <a:solidFill>
                  <a:schemeClr val="tx1"/>
                </a:solidFill>
                <a:latin typeface="Rockwell Condensed" panose="02060603050405020104" pitchFamily="18" charset="0"/>
              </a:rPr>
              <a:t> de </a:t>
            </a:r>
            <a:r>
              <a:rPr lang="es-AR" sz="2800" b="1" dirty="0" err="1">
                <a:solidFill>
                  <a:schemeClr val="tx1"/>
                </a:solidFill>
                <a:latin typeface="Rockwell Condensed" panose="02060603050405020104" pitchFamily="18" charset="0"/>
              </a:rPr>
              <a:t>Proy</a:t>
            </a:r>
            <a:endParaRPr lang="es-AR" sz="2800" b="1" dirty="0">
              <a:solidFill>
                <a:schemeClr val="tx1"/>
              </a:solidFill>
              <a:latin typeface="Rockwell Condensed" panose="02060603050405020104" pitchFamily="18" charset="0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s-AR" sz="2800" b="1" dirty="0">
                <a:solidFill>
                  <a:schemeClr val="tx1"/>
                </a:solidFill>
                <a:latin typeface="Rockwell Condensed" panose="02060603050405020104" pitchFamily="18" charset="0"/>
              </a:rPr>
              <a:t>dberenguer@frba.utn.edu.ar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s-AR" sz="2800" b="1" dirty="0">
                <a:solidFill>
                  <a:schemeClr val="tx1"/>
                </a:solidFill>
                <a:latin typeface="Rockwell Condensed" panose="02060603050405020104" pitchFamily="18" charset="0"/>
              </a:rPr>
              <a:t>evaluaciondeproyectos.com.ar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FF88087-CBF2-4128-8865-618F2DDB07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80" y="5190300"/>
            <a:ext cx="2074697" cy="16677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061F8DC4-A053-4883-A17F-9A910D5FFF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5515" y="5535564"/>
            <a:ext cx="559303" cy="118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106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71B00C-5AAB-4E81-B1A2-A3D8491DA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294" y="104776"/>
            <a:ext cx="8228600" cy="5858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09FE02-9A2D-4FE6-ADDE-ED68EC2DC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5A38E6-3CEF-48E6-8CA2-5FC6D0C24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C79182-75D9-4E79-BBF3-4AB086294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C31277-EB85-406C-A40C-3DEFC063D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021F19-803A-4E44-8428-7C1DD61F1FAC}" type="slidenum">
              <a:rPr lang="es-MX" altLang="es-MX" smtClean="0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309844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B229A9-B39E-41BA-906D-5BF372B6D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5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9967DB-7EE1-4253-91B3-BB42C6048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70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33A0E4-62CA-433D-B7E9-B0E400CFE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2BFB54-7862-47AB-832F-A588B0952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80CFE3-F23B-4B6D-9BEA-2C7EC4C92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4CD93A-4204-4634-BB66-1F9BC61353D2}" type="slidenum">
              <a:rPr lang="es-MX" altLang="es-MX" smtClean="0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4082485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E29DBB-CAA3-4E3D-8471-0E59B3125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7B7D10-9C6B-4ABB-9E18-22D31EAFFB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3" y="2362207"/>
            <a:ext cx="5027084" cy="37242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940839-EA44-492B-B5BE-A227EB1E5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7885" y="2362207"/>
            <a:ext cx="5027083" cy="37242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A74228-122F-4409-82D9-EA0D6B3B9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937C8F-AD0E-49FA-8B3E-B8030A580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E39C80-E4F7-478C-958E-7C172329D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A9FEF5-8DA9-427D-8DDD-DD71E6C83143}" type="slidenum">
              <a:rPr lang="es-MX" altLang="es-MX" smtClean="0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9256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3E8CE-38DC-4F0F-960D-2A8A6EED9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9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C6138B-555A-4B26-88E0-1738CD6FD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9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D35954-DEF6-43B4-8662-4F9A7DF84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9" y="2505075"/>
            <a:ext cx="5158316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F58CC0A-EE40-4C11-9812-0DA6310D14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0C1A957-BEA8-40A0-96FF-0D2662681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3A2B229-7364-4D26-989A-52241C937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D658F57-ECD8-47A9-99C2-DA91F7029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DEC824E-3BA7-4B04-B512-B527B96FE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5DBF12-AF36-4393-A0F7-2B71ACF058F3}" type="slidenum">
              <a:rPr lang="es-MX" altLang="es-MX" smtClean="0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12438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92F04-8E75-4C2D-A83A-67A285B25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25F1D6-FB60-4E8C-84B5-CF87DC07C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E9D4CC8-BEB0-425E-8426-D8FEFF706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DD3E53-490A-46DE-BFA1-199286328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7CF1AE-3E7F-4530-A2B3-1C432A7A2AB0}" type="slidenum">
              <a:rPr lang="es-MX" altLang="es-MX" smtClean="0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3735531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C342105-4184-4316-B1D4-982832203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E2E8514-42D4-4E7C-9FAA-ECFB0D573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628F0F-9C4C-4B01-94A9-63EDB6F0D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0EF5EF-4E65-4647-B897-2160A0388CE4}" type="slidenum">
              <a:rPr lang="es-MX" altLang="es-MX" smtClean="0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55351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BA08E-5EC4-4D18-A689-E30997541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22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F1AF21-BDE5-4463-B8A2-BA6CA0009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32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9C6148-CB07-49CF-BAC6-D9D2B2A30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22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7082FE-361D-4211-9B5B-5F8F3BADF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E79061-4D58-4263-88E4-CC4A9E4A0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D58D47-54A6-41D2-B760-8D62EA3F0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99F675-221B-4789-A274-AA03BFC48648}" type="slidenum">
              <a:rPr lang="es-MX" altLang="es-MX" smtClean="0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3941345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0E33C-0433-4207-9F00-80B9623FD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22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8CD8433-3A9D-4F9C-B2E2-25C02D4B24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32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D8E1871-81F7-47AB-B1FD-75A4EC3F4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22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8B053A8-A9B8-410D-B637-47C6EA977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332723-0C1D-44BA-A90E-2AC4BAE8A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AD7F2A-9802-4B3E-A56B-FB25080DA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479D7-6929-413F-A8AE-5F8E48C7CB9F}" type="slidenum">
              <a:rPr lang="es-MX" altLang="es-MX" smtClean="0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709245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59ED2-AFAE-404D-8082-ADC61B381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F3DD997-5F06-4F08-97B2-B6ABFF15D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B560F7-4C19-4395-BF40-95F604B56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512435-B929-4B8F-AE7D-49147BE7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79449E-74F4-4711-A48B-60FCE4EFA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28E83E-F383-49AE-B9D8-CD5989DDB067}" type="slidenum">
              <a:rPr lang="es-MX" altLang="es-MX" smtClean="0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60466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A9AD6BD-29FE-42CB-A9CC-662162E46F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40800" y="762007"/>
            <a:ext cx="2641600" cy="532447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42A89C-BD0E-478B-849F-A54521B64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16000" y="762007"/>
            <a:ext cx="7721600" cy="53244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1CBFD5-623B-4F8D-9690-4FFB18DCD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ECF570-72D5-4FB0-90C4-5828F65E3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3A4DF7-CA5D-4B47-8EBF-799ACA3DE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F29672-2680-4BBC-9114-D477BED33488}" type="slidenum">
              <a:rPr lang="es-MX" altLang="es-MX" smtClean="0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37737640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31675-CC8F-4726-B7C2-1B0611B0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762000"/>
            <a:ext cx="10566400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C04D5A-FE4B-4867-8E2F-456AE43D40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117603" y="2362207"/>
            <a:ext cx="5027084" cy="37242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0CD2C3-64AA-4D0B-A08D-9E8AD84F5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7885" y="2362207"/>
            <a:ext cx="5027083" cy="37242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20ADAE-FCDE-413B-9EEC-E3AF48BEDE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51205" y="6248407"/>
            <a:ext cx="2840567" cy="474663"/>
          </a:xfrm>
        </p:spPr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4824E3-0298-4027-9CE2-0A02074A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1600" y="6248407"/>
            <a:ext cx="3862917" cy="474663"/>
          </a:xfrm>
        </p:spPr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E53FD7-21A3-4736-8EAA-E473CC57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89" y="6242050"/>
            <a:ext cx="783167" cy="488950"/>
          </a:xfrm>
        </p:spPr>
        <p:txBody>
          <a:bodyPr/>
          <a:lstStyle>
            <a:lvl1pPr>
              <a:defRPr/>
            </a:lvl1pPr>
          </a:lstStyle>
          <a:p>
            <a:fld id="{99A63DDC-68B2-4E32-B392-FAE2EE7224B1}" type="slidenum">
              <a:rPr lang="es-MX" altLang="es-MX" smtClean="0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1527427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ítulo, texto y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16000" y="762000"/>
            <a:ext cx="10566400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sz="half" idx="1"/>
          </p:nvPr>
        </p:nvSpPr>
        <p:spPr>
          <a:xfrm>
            <a:off x="1117601" y="2362201"/>
            <a:ext cx="5027084" cy="37242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gráfico 3"/>
          <p:cNvSpPr>
            <a:spLocks noGrp="1"/>
          </p:cNvSpPr>
          <p:nvPr>
            <p:ph type="chart" sz="half" idx="2"/>
          </p:nvPr>
        </p:nvSpPr>
        <p:spPr>
          <a:xfrm>
            <a:off x="6347884" y="2362201"/>
            <a:ext cx="5027083" cy="3724275"/>
          </a:xfrm>
        </p:spPr>
        <p:txBody>
          <a:bodyPr/>
          <a:lstStyle/>
          <a:p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3251201" y="6248401"/>
            <a:ext cx="2840567" cy="474663"/>
          </a:xfrm>
        </p:spPr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7721600" y="6248401"/>
            <a:ext cx="3862917" cy="474663"/>
          </a:xfrm>
        </p:spPr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12184" y="6242050"/>
            <a:ext cx="783167" cy="488950"/>
          </a:xfrm>
        </p:spPr>
        <p:txBody>
          <a:bodyPr/>
          <a:lstStyle>
            <a:lvl1pPr>
              <a:defRPr/>
            </a:lvl1pPr>
          </a:lstStyle>
          <a:p>
            <a:fld id="{44A35E75-DF6B-4F73-A5D0-E91C461446BF}" type="slidenum">
              <a:rPr lang="es-MX" altLang="es-MX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40078810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16000" y="762000"/>
            <a:ext cx="10566400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abla 2"/>
          <p:cNvSpPr>
            <a:spLocks noGrp="1"/>
          </p:cNvSpPr>
          <p:nvPr>
            <p:ph type="tbl" idx="1"/>
          </p:nvPr>
        </p:nvSpPr>
        <p:spPr>
          <a:xfrm>
            <a:off x="1117601" y="2362201"/>
            <a:ext cx="10257367" cy="3724275"/>
          </a:xfrm>
        </p:spPr>
        <p:txBody>
          <a:bodyPr/>
          <a:lstStyle/>
          <a:p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3251201" y="6248401"/>
            <a:ext cx="2840567" cy="474663"/>
          </a:xfrm>
        </p:spPr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7721600" y="6248401"/>
            <a:ext cx="3862917" cy="474663"/>
          </a:xfrm>
        </p:spPr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12184" y="6242050"/>
            <a:ext cx="783167" cy="488950"/>
          </a:xfrm>
        </p:spPr>
        <p:txBody>
          <a:bodyPr/>
          <a:lstStyle>
            <a:lvl1pPr>
              <a:defRPr/>
            </a:lvl1pPr>
          </a:lstStyle>
          <a:p>
            <a:fld id="{1B7E6B13-9358-409D-BE25-98700E377B02}" type="slidenum">
              <a:rPr lang="es-MX" altLang="es-MX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3660501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gi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>
            <a:extLst>
              <a:ext uri="{FF2B5EF4-FFF2-40B4-BE49-F238E27FC236}">
                <a16:creationId xmlns:a16="http://schemas.microsoft.com/office/drawing/2014/main" id="{A3276E2F-B77C-43A3-83DF-8076F16CF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0"/>
            <a:ext cx="902796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AR" sz="1800"/>
          </a:p>
        </p:txBody>
      </p:sp>
      <p:sp>
        <p:nvSpPr>
          <p:cNvPr id="1048" name="Freeform 24">
            <a:extLst>
              <a:ext uri="{FF2B5EF4-FFF2-40B4-BE49-F238E27FC236}">
                <a16:creationId xmlns:a16="http://schemas.microsoft.com/office/drawing/2014/main" id="{5753B1FD-C348-4894-801B-8E596F7BABD7}"/>
              </a:ext>
            </a:extLst>
          </p:cNvPr>
          <p:cNvSpPr>
            <a:spLocks/>
          </p:cNvSpPr>
          <p:nvPr/>
        </p:nvSpPr>
        <p:spPr bwMode="auto">
          <a:xfrm>
            <a:off x="541679" y="0"/>
            <a:ext cx="3250066" cy="1340768"/>
          </a:xfrm>
          <a:custGeom>
            <a:avLst/>
            <a:gdLst>
              <a:gd name="T0" fmla="*/ 1728 w 1728"/>
              <a:gd name="T1" fmla="*/ 0 h 735"/>
              <a:gd name="T2" fmla="*/ 1728 w 1728"/>
              <a:gd name="T3" fmla="*/ 480 h 735"/>
              <a:gd name="T4" fmla="*/ 380 w 1728"/>
              <a:gd name="T5" fmla="*/ 482 h 735"/>
              <a:gd name="T6" fmla="*/ 354 w 1728"/>
              <a:gd name="T7" fmla="*/ 480 h 735"/>
              <a:gd name="T8" fmla="*/ 308 w 1728"/>
              <a:gd name="T9" fmla="*/ 489 h 735"/>
              <a:gd name="T10" fmla="*/ 246 w 1728"/>
              <a:gd name="T11" fmla="*/ 531 h 735"/>
              <a:gd name="T12" fmla="*/ 206 w 1728"/>
              <a:gd name="T13" fmla="*/ 597 h 735"/>
              <a:gd name="T14" fmla="*/ 192 w 1728"/>
              <a:gd name="T15" fmla="*/ 666 h 735"/>
              <a:gd name="T16" fmla="*/ 192 w 1728"/>
              <a:gd name="T17" fmla="*/ 735 h 735"/>
              <a:gd name="T18" fmla="*/ 0 w 1728"/>
              <a:gd name="T19" fmla="*/ 735 h 735"/>
              <a:gd name="T20" fmla="*/ 0 w 1728"/>
              <a:gd name="T21" fmla="*/ 480 h 735"/>
              <a:gd name="T22" fmla="*/ 0 w 1728"/>
              <a:gd name="T23" fmla="*/ 0 h 735"/>
              <a:gd name="T24" fmla="*/ 1728 w 1728"/>
              <a:gd name="T25" fmla="*/ 0 h 7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28" h="735">
                <a:moveTo>
                  <a:pt x="1728" y="0"/>
                </a:moveTo>
                <a:lnTo>
                  <a:pt x="1728" y="480"/>
                </a:lnTo>
                <a:lnTo>
                  <a:pt x="380" y="482"/>
                </a:lnTo>
                <a:lnTo>
                  <a:pt x="354" y="480"/>
                </a:lnTo>
                <a:lnTo>
                  <a:pt x="308" y="489"/>
                </a:lnTo>
                <a:cubicBezTo>
                  <a:pt x="290" y="498"/>
                  <a:pt x="263" y="513"/>
                  <a:pt x="246" y="531"/>
                </a:cubicBezTo>
                <a:cubicBezTo>
                  <a:pt x="229" y="549"/>
                  <a:pt x="215" y="574"/>
                  <a:pt x="206" y="597"/>
                </a:cubicBezTo>
                <a:cubicBezTo>
                  <a:pt x="197" y="620"/>
                  <a:pt x="194" y="643"/>
                  <a:pt x="192" y="666"/>
                </a:cubicBezTo>
                <a:lnTo>
                  <a:pt x="192" y="735"/>
                </a:lnTo>
                <a:lnTo>
                  <a:pt x="0" y="735"/>
                </a:lnTo>
                <a:lnTo>
                  <a:pt x="0" y="480"/>
                </a:lnTo>
                <a:lnTo>
                  <a:pt x="0" y="0"/>
                </a:lnTo>
                <a:lnTo>
                  <a:pt x="172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 sz="1800"/>
          </a:p>
        </p:txBody>
      </p:sp>
      <p:grpSp>
        <p:nvGrpSpPr>
          <p:cNvPr id="1045" name="Group 21">
            <a:extLst>
              <a:ext uri="{FF2B5EF4-FFF2-40B4-BE49-F238E27FC236}">
                <a16:creationId xmlns:a16="http://schemas.microsoft.com/office/drawing/2014/main" id="{6C3556C1-0F3D-4D85-9A14-11A5D6BFD817}"/>
              </a:ext>
            </a:extLst>
          </p:cNvPr>
          <p:cNvGrpSpPr>
            <a:grpSpLocks/>
          </p:cNvGrpSpPr>
          <p:nvPr/>
        </p:nvGrpSpPr>
        <p:grpSpPr bwMode="auto">
          <a:xfrm>
            <a:off x="695401" y="862137"/>
            <a:ext cx="10889116" cy="319088"/>
            <a:chOff x="144" y="1248"/>
            <a:chExt cx="4656" cy="201"/>
          </a:xfrm>
        </p:grpSpPr>
        <p:sp>
          <p:nvSpPr>
            <p:cNvPr id="1036" name="AutoShape 12">
              <a:extLst>
                <a:ext uri="{FF2B5EF4-FFF2-40B4-BE49-F238E27FC236}">
                  <a16:creationId xmlns:a16="http://schemas.microsoft.com/office/drawing/2014/main" id="{10556FDE-F81C-44FF-BB56-95356CA43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248"/>
              <a:ext cx="4416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AR" sz="1800"/>
            </a:p>
          </p:txBody>
        </p:sp>
        <p:sp>
          <p:nvSpPr>
            <p:cNvPr id="1044" name="AutoShape 20">
              <a:extLst>
                <a:ext uri="{FF2B5EF4-FFF2-40B4-BE49-F238E27FC236}">
                  <a16:creationId xmlns:a16="http://schemas.microsoft.com/office/drawing/2014/main" id="{9CE2F162-67B0-43E8-A5B6-97CE71C1D0C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4" y="1248"/>
              <a:ext cx="248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AR" sz="1800"/>
            </a:p>
          </p:txBody>
        </p:sp>
      </p:grpSp>
      <p:sp>
        <p:nvSpPr>
          <p:cNvPr id="1031" name="AutoShape 7">
            <a:extLst>
              <a:ext uri="{FF2B5EF4-FFF2-40B4-BE49-F238E27FC236}">
                <a16:creationId xmlns:a16="http://schemas.microsoft.com/office/drawing/2014/main" id="{574C5491-7D73-4A8D-BB08-90ABACA04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791745" y="0"/>
            <a:ext cx="8400254" cy="860549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s-MX" altLang="es-AR" dirty="0"/>
              <a:t>Haga clic para cambiar el estilo </a:t>
            </a: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F6450860-02F7-4BF2-A69F-A2CEF1561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17605" y="2362207"/>
            <a:ext cx="10257367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MX" altLang="es-AR" dirty="0"/>
              <a:t>Haga clic para modificar el estilo de texto del patrón</a:t>
            </a:r>
          </a:p>
          <a:p>
            <a:pPr lvl="1"/>
            <a:r>
              <a:rPr lang="es-MX" altLang="es-AR" dirty="0"/>
              <a:t>Segundo nivel</a:t>
            </a:r>
          </a:p>
          <a:p>
            <a:pPr lvl="2"/>
            <a:r>
              <a:rPr lang="es-MX" altLang="es-AR" dirty="0"/>
              <a:t>Tercer nivel</a:t>
            </a:r>
          </a:p>
          <a:p>
            <a:pPr lvl="3"/>
            <a:r>
              <a:rPr lang="es-MX" altLang="es-AR" dirty="0"/>
              <a:t>Cuarto nivel</a:t>
            </a:r>
          </a:p>
          <a:p>
            <a:pPr lvl="4"/>
            <a:r>
              <a:rPr lang="es-MX" altLang="es-AR" dirty="0"/>
              <a:t>Quinto nivel</a:t>
            </a:r>
          </a:p>
        </p:txBody>
      </p:sp>
      <p:sp>
        <p:nvSpPr>
          <p:cNvPr id="1037" name="Rectangle 13">
            <a:extLst>
              <a:ext uri="{FF2B5EF4-FFF2-40B4-BE49-F238E27FC236}">
                <a16:creationId xmlns:a16="http://schemas.microsoft.com/office/drawing/2014/main" id="{1B460030-6549-494A-BE07-67037BFE233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51205" y="6248407"/>
            <a:ext cx="2840567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endParaRPr lang="es-MX" altLang="es-MX"/>
          </a:p>
        </p:txBody>
      </p:sp>
      <p:sp>
        <p:nvSpPr>
          <p:cNvPr id="1038" name="Rectangle 14">
            <a:extLst>
              <a:ext uri="{FF2B5EF4-FFF2-40B4-BE49-F238E27FC236}">
                <a16:creationId xmlns:a16="http://schemas.microsoft.com/office/drawing/2014/main" id="{78EA513F-510C-48EA-8A21-A06CA051212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721600" y="6248407"/>
            <a:ext cx="3862917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MX" altLang="es-MX"/>
          </a:p>
        </p:txBody>
      </p:sp>
      <p:sp>
        <p:nvSpPr>
          <p:cNvPr id="1039" name="Rectangle 15">
            <a:extLst>
              <a:ext uri="{FF2B5EF4-FFF2-40B4-BE49-F238E27FC236}">
                <a16:creationId xmlns:a16="http://schemas.microsoft.com/office/drawing/2014/main" id="{B6237A71-E373-4676-A646-9605296C2C9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189" y="6242050"/>
            <a:ext cx="78316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fld id="{6D471E73-035E-42E3-B22D-16EE774EC58E}" type="slidenum">
              <a:rPr lang="es-MX" altLang="es-MX" smtClean="0"/>
              <a:pPr/>
              <a:t>‹Nº›</a:t>
            </a:fld>
            <a:endParaRPr lang="es-MX" altLang="es-MX"/>
          </a:p>
        </p:txBody>
      </p:sp>
      <p:sp>
        <p:nvSpPr>
          <p:cNvPr id="15" name="Subtítulo 5">
            <a:extLst>
              <a:ext uri="{FF2B5EF4-FFF2-40B4-BE49-F238E27FC236}">
                <a16:creationId xmlns:a16="http://schemas.microsoft.com/office/drawing/2014/main" id="{14D13B50-12CE-4ADE-9CCC-7D2DFEAB360C}"/>
              </a:ext>
            </a:extLst>
          </p:cNvPr>
          <p:cNvSpPr txBox="1">
            <a:spLocks/>
          </p:cNvSpPr>
          <p:nvPr/>
        </p:nvSpPr>
        <p:spPr bwMode="auto">
          <a:xfrm>
            <a:off x="9654335" y="6254368"/>
            <a:ext cx="2035912" cy="662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AR" sz="1400" b="1" dirty="0">
                <a:solidFill>
                  <a:schemeClr val="tx1"/>
                </a:solidFill>
                <a:latin typeface="Rockwell Condensed" panose="02060603050405020104" pitchFamily="18" charset="0"/>
              </a:rPr>
              <a:t>Cátedra </a:t>
            </a:r>
            <a:r>
              <a:rPr lang="es-AR" sz="1400" b="1" dirty="0" err="1">
                <a:solidFill>
                  <a:schemeClr val="tx1"/>
                </a:solidFill>
                <a:latin typeface="Rockwell Condensed" panose="02060603050405020104" pitchFamily="18" charset="0"/>
              </a:rPr>
              <a:t>Eval</a:t>
            </a:r>
            <a:r>
              <a:rPr lang="es-AR" sz="1400" b="1" dirty="0">
                <a:solidFill>
                  <a:schemeClr val="tx1"/>
                </a:solidFill>
                <a:latin typeface="Rockwell Condensed" panose="02060603050405020104" pitchFamily="18" charset="0"/>
              </a:rPr>
              <a:t> de </a:t>
            </a:r>
            <a:r>
              <a:rPr lang="es-AR" sz="1400" b="1" dirty="0" err="1">
                <a:solidFill>
                  <a:schemeClr val="tx1"/>
                </a:solidFill>
                <a:latin typeface="Rockwell Condensed" panose="02060603050405020104" pitchFamily="18" charset="0"/>
              </a:rPr>
              <a:t>Proy</a:t>
            </a:r>
            <a:endParaRPr lang="es-AR" sz="1400" b="1" dirty="0">
              <a:solidFill>
                <a:schemeClr val="tx1"/>
              </a:solidFill>
              <a:latin typeface="Rockwell Condensed" panose="02060603050405020104" pitchFamily="18" charset="0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s-AR" sz="1000" b="1" dirty="0">
                <a:solidFill>
                  <a:schemeClr val="tx1"/>
                </a:solidFill>
                <a:latin typeface="Rockwell Condensed" panose="02060603050405020104" pitchFamily="18" charset="0"/>
              </a:rPr>
              <a:t>dberenguer@frba.utn.edu.ar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s-AR" sz="1000" b="1" dirty="0">
                <a:solidFill>
                  <a:schemeClr val="tx1"/>
                </a:solidFill>
                <a:latin typeface="Rockwell Condensed" panose="02060603050405020104" pitchFamily="18" charset="0"/>
              </a:rPr>
              <a:t>evaluaciondeproyectos.com.ar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B377079-EE5F-4D31-A321-D5F46217D739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41" y="6126327"/>
            <a:ext cx="910237" cy="73167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9DDA5E0-D9EB-49BB-AF39-D2713FB6D8E4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0073" y="6309320"/>
            <a:ext cx="238400" cy="50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13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</p:sldLayoutIdLst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lvl="0" algn="r">
              <a:lnSpc>
                <a:spcPct val="90000"/>
              </a:lnSpc>
              <a:buClr>
                <a:srgbClr val="003366"/>
              </a:buClr>
            </a:pPr>
            <a:r>
              <a:rPr lang="es-MX" altLang="es-AR" sz="1800" i="1" dirty="0">
                <a:solidFill>
                  <a:schemeClr val="tx1"/>
                </a:solidFill>
              </a:rPr>
              <a:t>Ing. Diego Roberto Berenguer</a:t>
            </a:r>
          </a:p>
          <a:p>
            <a:pPr lvl="0" algn="r">
              <a:lnSpc>
                <a:spcPct val="90000"/>
              </a:lnSpc>
              <a:buClr>
                <a:srgbClr val="003366"/>
              </a:buClr>
            </a:pPr>
            <a:r>
              <a:rPr lang="es-MX" altLang="es-AR" sz="1800" i="1" dirty="0">
                <a:solidFill>
                  <a:schemeClr val="tx1"/>
                </a:solidFill>
              </a:rPr>
              <a:t>Ing. Samanta Vázquez </a:t>
            </a:r>
            <a:r>
              <a:rPr lang="es-MX" altLang="es-AR" sz="1800" i="1" dirty="0" err="1">
                <a:solidFill>
                  <a:schemeClr val="tx1"/>
                </a:solidFill>
              </a:rPr>
              <a:t>Kalf</a:t>
            </a:r>
            <a:endParaRPr lang="es-MX" altLang="es-AR" sz="1800" i="1" dirty="0">
              <a:solidFill>
                <a:schemeClr val="tx1"/>
              </a:solidFill>
            </a:endParaRPr>
          </a:p>
          <a:p>
            <a:pPr lvl="0" algn="r">
              <a:lnSpc>
                <a:spcPct val="90000"/>
              </a:lnSpc>
              <a:buClr>
                <a:srgbClr val="003366"/>
              </a:buClr>
            </a:pPr>
            <a:r>
              <a:rPr lang="es-MX" altLang="es-AR" sz="1800" i="1" dirty="0">
                <a:solidFill>
                  <a:schemeClr val="tx1"/>
                </a:solidFill>
              </a:rPr>
              <a:t>Ing. José </a:t>
            </a:r>
            <a:r>
              <a:rPr lang="es-MX" altLang="es-AR" sz="1800" i="1" dirty="0" err="1">
                <a:solidFill>
                  <a:schemeClr val="tx1"/>
                </a:solidFill>
              </a:rPr>
              <a:t>Massón</a:t>
            </a:r>
            <a:endParaRPr lang="es-AR" sz="1800" i="1" dirty="0">
              <a:solidFill>
                <a:schemeClr val="tx1"/>
              </a:solidFill>
            </a:endParaRPr>
          </a:p>
          <a:p>
            <a:pPr lvl="0" algn="r">
              <a:buClr>
                <a:srgbClr val="003366"/>
              </a:buClr>
            </a:pPr>
            <a:r>
              <a:rPr lang="es-AR" sz="1800" i="1" dirty="0">
                <a:solidFill>
                  <a:schemeClr val="tx1"/>
                </a:solidFill>
              </a:rPr>
              <a:t>Ing. Rodrigo Álvarez Gargallo</a:t>
            </a:r>
          </a:p>
          <a:p>
            <a:pPr lvl="0" algn="r">
              <a:buClr>
                <a:srgbClr val="003366"/>
              </a:buClr>
            </a:pPr>
            <a:r>
              <a:rPr lang="es-AR" sz="1800" i="1" dirty="0">
                <a:solidFill>
                  <a:schemeClr val="tx1"/>
                </a:solidFill>
              </a:rPr>
              <a:t>Ing. Javier Fernández </a:t>
            </a:r>
            <a:r>
              <a:rPr lang="es-AR" sz="1800" i="1" dirty="0" err="1">
                <a:solidFill>
                  <a:schemeClr val="tx1"/>
                </a:solidFill>
              </a:rPr>
              <a:t>Scianca</a:t>
            </a:r>
            <a:endParaRPr lang="es-AR" sz="1800" i="1" dirty="0">
              <a:solidFill>
                <a:schemeClr val="tx1"/>
              </a:solidFill>
            </a:endParaRPr>
          </a:p>
          <a:p>
            <a:pPr lvl="0" algn="r">
              <a:buClr>
                <a:srgbClr val="003366"/>
              </a:buClr>
            </a:pPr>
            <a:r>
              <a:rPr lang="es-AR" sz="1800" i="1" dirty="0">
                <a:solidFill>
                  <a:schemeClr val="tx1"/>
                </a:solidFill>
              </a:rPr>
              <a:t>Ing. Martin </a:t>
            </a:r>
            <a:r>
              <a:rPr lang="es-AR" sz="1800" i="1" dirty="0" err="1">
                <a:solidFill>
                  <a:schemeClr val="tx1"/>
                </a:solidFill>
              </a:rPr>
              <a:t>Regueira</a:t>
            </a:r>
            <a:endParaRPr lang="es-AR" sz="1800" i="1" dirty="0">
              <a:solidFill>
                <a:schemeClr val="tx1"/>
              </a:solidFill>
            </a:endParaRPr>
          </a:p>
        </p:txBody>
      </p:sp>
      <p:sp>
        <p:nvSpPr>
          <p:cNvPr id="67586" name="AutoShape 2"/>
          <p:cNvSpPr>
            <a:spLocks noGrp="1" noChangeArrowheads="1"/>
          </p:cNvSpPr>
          <p:nvPr>
            <p:ph type="ctrTitle" sz="quarter"/>
          </p:nvPr>
        </p:nvSpPr>
        <p:spPr>
          <a:xfrm>
            <a:off x="1703389" y="990600"/>
            <a:ext cx="9864725" cy="1905000"/>
          </a:xfrm>
        </p:spPr>
        <p:txBody>
          <a:bodyPr/>
          <a:lstStyle/>
          <a:p>
            <a:pPr algn="r"/>
            <a:r>
              <a:rPr lang="es-MX" altLang="es-MX" sz="4000" dirty="0">
                <a:latin typeface="Arial Narrow" panose="020B0606020202030204" pitchFamily="34" charset="0"/>
              </a:rPr>
              <a:t>DIMENSIONAMIENTO COMERCIAL</a:t>
            </a:r>
            <a:br>
              <a:rPr lang="es-MX" altLang="es-MX" sz="4000" dirty="0">
                <a:latin typeface="Arial Narrow" panose="020B0606020202030204" pitchFamily="34" charset="0"/>
              </a:rPr>
            </a:br>
            <a:r>
              <a:rPr lang="es-MX" altLang="es-MX" sz="4400" dirty="0"/>
              <a:t> EVALUACIÓN de PROYECTOS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AutoShape 2"/>
          <p:cNvSpPr>
            <a:spLocks noGrp="1" noChangeArrowheads="1"/>
          </p:cNvSpPr>
          <p:nvPr>
            <p:ph type="title"/>
          </p:nvPr>
        </p:nvSpPr>
        <p:spPr>
          <a:xfrm>
            <a:off x="4724400" y="44451"/>
            <a:ext cx="3963988" cy="779463"/>
          </a:xfrm>
        </p:spPr>
        <p:txBody>
          <a:bodyPr/>
          <a:lstStyle/>
          <a:p>
            <a:r>
              <a:rPr lang="es-MX" altLang="es-MX" dirty="0"/>
              <a:t>ESTRUCTURA </a:t>
            </a:r>
          </a:p>
        </p:txBody>
      </p:sp>
      <p:pic>
        <p:nvPicPr>
          <p:cNvPr id="7" name="Marcador de contenido 6" descr="Tabla&#10;&#10;Descripción generada automáticamente">
            <a:extLst>
              <a:ext uri="{FF2B5EF4-FFF2-40B4-BE49-F238E27FC236}">
                <a16:creationId xmlns:a16="http://schemas.microsoft.com/office/drawing/2014/main" id="{6ECF51DA-562B-9605-F945-9EC931E00B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6" y="823914"/>
            <a:ext cx="11521280" cy="5485406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AutoShape 2"/>
          <p:cNvSpPr>
            <a:spLocks noGrp="1" noChangeArrowheads="1"/>
          </p:cNvSpPr>
          <p:nvPr>
            <p:ph type="title"/>
          </p:nvPr>
        </p:nvSpPr>
        <p:spPr>
          <a:xfrm>
            <a:off x="3791744" y="1"/>
            <a:ext cx="8400256" cy="771523"/>
          </a:xfrm>
        </p:spPr>
        <p:txBody>
          <a:bodyPr>
            <a:normAutofit/>
          </a:bodyPr>
          <a:lstStyle/>
          <a:p>
            <a:pPr algn="ctr"/>
            <a:r>
              <a:rPr lang="es-MX" altLang="es-MX" dirty="0"/>
              <a:t>OBJETIVOS</a:t>
            </a:r>
          </a:p>
        </p:txBody>
      </p:sp>
      <p:sp>
        <p:nvSpPr>
          <p:cNvPr id="88069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271586"/>
            <a:ext cx="10657184" cy="3724275"/>
          </a:xfrm>
          <a:noFill/>
          <a:ln/>
        </p:spPr>
        <p:txBody>
          <a:bodyPr/>
          <a:lstStyle/>
          <a:p>
            <a:r>
              <a:rPr lang="es-MX" altLang="es-MX" sz="3600" dirty="0"/>
              <a:t>Objetivos</a:t>
            </a:r>
          </a:p>
          <a:p>
            <a:pPr lvl="1"/>
            <a:r>
              <a:rPr lang="es-MX" altLang="es-MX" sz="3200" dirty="0"/>
              <a:t>Asegurarse que no existan Restricciones</a:t>
            </a:r>
          </a:p>
          <a:p>
            <a:pPr lvl="1"/>
            <a:r>
              <a:rPr lang="es-MX" altLang="es-MX" sz="3200" dirty="0"/>
              <a:t>Buscar oportunidades para diferenciarse</a:t>
            </a:r>
          </a:p>
          <a:p>
            <a:pPr lvl="1"/>
            <a:r>
              <a:rPr lang="es-MX" altLang="es-MX" sz="3600" b="1" dirty="0"/>
              <a:t>Definir el Plan de Ventas (P,Q)!!!</a:t>
            </a:r>
          </a:p>
          <a:p>
            <a:r>
              <a:rPr lang="es-MX" altLang="es-MX" sz="3600" dirty="0"/>
              <a:t>Fuentes de Información</a:t>
            </a:r>
          </a:p>
          <a:p>
            <a:pPr lvl="1"/>
            <a:r>
              <a:rPr lang="es-MX" altLang="es-MX" sz="3200" dirty="0"/>
              <a:t>Primaria</a:t>
            </a:r>
          </a:p>
          <a:p>
            <a:pPr lvl="1"/>
            <a:r>
              <a:rPr lang="es-MX" altLang="es-MX" sz="3200" dirty="0"/>
              <a:t>Secundaria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AutoShape 2"/>
          <p:cNvSpPr>
            <a:spLocks noGrp="1" noChangeArrowheads="1"/>
          </p:cNvSpPr>
          <p:nvPr>
            <p:ph type="title"/>
          </p:nvPr>
        </p:nvSpPr>
        <p:spPr>
          <a:xfrm>
            <a:off x="3935760" y="116632"/>
            <a:ext cx="7924800" cy="866775"/>
          </a:xfrm>
        </p:spPr>
        <p:txBody>
          <a:bodyPr>
            <a:noAutofit/>
          </a:bodyPr>
          <a:lstStyle/>
          <a:p>
            <a:pPr algn="ctr"/>
            <a:r>
              <a:rPr lang="es-MX" altLang="es-MX" sz="3200" dirty="0"/>
              <a:t>DIMENSIONAMIENTO COMERCIAL</a:t>
            </a:r>
            <a:br>
              <a:rPr lang="es-MX" altLang="es-MX" sz="3200" dirty="0"/>
            </a:br>
            <a:r>
              <a:rPr lang="es-MX" altLang="es-MX" sz="3200" dirty="0"/>
              <a:t>Esquema de Presentación</a:t>
            </a:r>
          </a:p>
        </p:txBody>
      </p:sp>
      <p:pic>
        <p:nvPicPr>
          <p:cNvPr id="4" name="Marcador de contenido 3" descr="Diagrama&#10;&#10;Descripción generada automáticamente con confianza baja">
            <a:extLst>
              <a:ext uri="{FF2B5EF4-FFF2-40B4-BE49-F238E27FC236}">
                <a16:creationId xmlns:a16="http://schemas.microsoft.com/office/drawing/2014/main" id="{72373F9A-1BB5-101F-65B7-57A64186CE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36" y="1268760"/>
            <a:ext cx="5832648" cy="5371227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AutoShape 2"/>
          <p:cNvSpPr>
            <a:spLocks noGrp="1" noChangeArrowheads="1"/>
          </p:cNvSpPr>
          <p:nvPr>
            <p:ph type="title"/>
          </p:nvPr>
        </p:nvSpPr>
        <p:spPr>
          <a:xfrm>
            <a:off x="3863752" y="394867"/>
            <a:ext cx="8228600" cy="585861"/>
          </a:xfrm>
        </p:spPr>
        <p:txBody>
          <a:bodyPr/>
          <a:lstStyle/>
          <a:p>
            <a:pPr algn="ctr"/>
            <a:r>
              <a:rPr lang="es-MX" altLang="es-MX" sz="3200" dirty="0"/>
              <a:t>DIMENSIONAMIENTO COMERCIAL</a:t>
            </a:r>
            <a:br>
              <a:rPr lang="es-MX" altLang="es-MX" sz="3200" dirty="0"/>
            </a:br>
            <a:r>
              <a:rPr lang="es-MX" altLang="es-MX" sz="3200" dirty="0"/>
              <a:t>Esquema de Trabajo</a:t>
            </a:r>
          </a:p>
        </p:txBody>
      </p:sp>
      <p:pic>
        <p:nvPicPr>
          <p:cNvPr id="4" name="Marcador de contenido 3" descr="Diagrama&#10;&#10;Descripción generada automáticamente">
            <a:extLst>
              <a:ext uri="{FF2B5EF4-FFF2-40B4-BE49-F238E27FC236}">
                <a16:creationId xmlns:a16="http://schemas.microsoft.com/office/drawing/2014/main" id="{09708131-693D-CEC9-3D57-9B1AF630C6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1291081"/>
            <a:ext cx="10800164" cy="4226151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AutoShape 2"/>
          <p:cNvSpPr>
            <a:spLocks noGrp="1" noChangeArrowheads="1"/>
          </p:cNvSpPr>
          <p:nvPr>
            <p:ph type="title"/>
          </p:nvPr>
        </p:nvSpPr>
        <p:spPr>
          <a:xfrm>
            <a:off x="2495600" y="-387424"/>
            <a:ext cx="10566400" cy="1143000"/>
          </a:xfrm>
        </p:spPr>
        <p:txBody>
          <a:bodyPr/>
          <a:lstStyle/>
          <a:p>
            <a:r>
              <a:rPr lang="es-MX" altLang="es-MX" dirty="0"/>
              <a:t>Definición Inicial del Producto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340768"/>
            <a:ext cx="10801200" cy="4536504"/>
          </a:xfrm>
        </p:spPr>
        <p:txBody>
          <a:bodyPr/>
          <a:lstStyle/>
          <a:p>
            <a:r>
              <a:rPr lang="es-MX" altLang="es-MX" sz="3600"/>
              <a:t>Denominación Corriente o Marca de lo que voy a comercializar</a:t>
            </a:r>
          </a:p>
          <a:p>
            <a:r>
              <a:rPr lang="es-MX" altLang="es-MX" sz="3600"/>
              <a:t>Descripción (Breve y Genérica)</a:t>
            </a:r>
          </a:p>
          <a:p>
            <a:r>
              <a:rPr lang="es-MX" altLang="es-MX" sz="3600"/>
              <a:t>Normas que tengo que cumplir obligatoriamente (ANMAT, Bromatología, etc)</a:t>
            </a:r>
          </a:p>
          <a:p>
            <a:r>
              <a:rPr lang="es-MX" altLang="es-MX" sz="3600"/>
              <a:t>Principales Stakeholders (Grupos de Interés)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AutoShape 2"/>
          <p:cNvSpPr>
            <a:spLocks noGrp="1" noChangeArrowheads="1"/>
          </p:cNvSpPr>
          <p:nvPr>
            <p:ph type="title"/>
          </p:nvPr>
        </p:nvSpPr>
        <p:spPr>
          <a:xfrm>
            <a:off x="3791745" y="0"/>
            <a:ext cx="8400254" cy="860549"/>
          </a:xfrm>
        </p:spPr>
        <p:txBody>
          <a:bodyPr wrap="square" anchor="b">
            <a:normAutofit/>
          </a:bodyPr>
          <a:lstStyle/>
          <a:p>
            <a:r>
              <a:rPr lang="es-MX" altLang="es-MX" dirty="0"/>
              <a:t> </a:t>
            </a:r>
            <a:r>
              <a:rPr lang="es-MX" altLang="es-MX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Investigación Mercado Consumidor</a:t>
            </a:r>
            <a:endParaRPr lang="es-MX" altLang="es-MX" b="0" dirty="0"/>
          </a:p>
        </p:txBody>
      </p:sp>
      <p:sp>
        <p:nvSpPr>
          <p:cNvPr id="9011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068916" y="1566863"/>
            <a:ext cx="5027084" cy="3724275"/>
          </a:xfrm>
        </p:spPr>
        <p:txBody>
          <a:bodyPr wrap="square" anchor="t">
            <a:noAutofit/>
          </a:bodyPr>
          <a:lstStyle/>
          <a:p>
            <a:pPr>
              <a:lnSpc>
                <a:spcPct val="90000"/>
              </a:lnSpc>
            </a:pPr>
            <a:r>
              <a:rPr lang="es-MX" altLang="es-MX" sz="2400" dirty="0"/>
              <a:t>Comprador / Pagador / Decisor de compra</a:t>
            </a:r>
          </a:p>
          <a:p>
            <a:pPr>
              <a:lnSpc>
                <a:spcPct val="90000"/>
              </a:lnSpc>
            </a:pPr>
            <a:r>
              <a:rPr lang="es-MX" altLang="es-MX" sz="2400" dirty="0"/>
              <a:t>Consumo masivo (Indirecto)</a:t>
            </a:r>
          </a:p>
          <a:p>
            <a:pPr lvl="1">
              <a:lnSpc>
                <a:spcPct val="90000"/>
              </a:lnSpc>
            </a:pPr>
            <a:r>
              <a:rPr lang="es-MX" altLang="es-MX" dirty="0"/>
              <a:t>Decisión por impulso (Cuestiones sociológicas)</a:t>
            </a:r>
          </a:p>
          <a:p>
            <a:pPr>
              <a:lnSpc>
                <a:spcPct val="90000"/>
              </a:lnSpc>
            </a:pPr>
            <a:r>
              <a:rPr lang="es-MX" altLang="es-MX" sz="2400" dirty="0"/>
              <a:t>Consumo Industrial (Directo)</a:t>
            </a:r>
          </a:p>
          <a:p>
            <a:pPr lvl="1">
              <a:lnSpc>
                <a:spcPct val="90000"/>
              </a:lnSpc>
            </a:pPr>
            <a:r>
              <a:rPr lang="es-MX" altLang="es-MX" dirty="0"/>
              <a:t>Decisión profesional (proceso racional)</a:t>
            </a:r>
          </a:p>
          <a:p>
            <a:pPr lvl="1">
              <a:lnSpc>
                <a:spcPct val="90000"/>
              </a:lnSpc>
            </a:pPr>
            <a:r>
              <a:rPr lang="es-MX" altLang="es-MX" dirty="0"/>
              <a:t>La toma de decisión para por varios decisores</a:t>
            </a:r>
          </a:p>
          <a:p>
            <a:pPr>
              <a:lnSpc>
                <a:spcPct val="90000"/>
              </a:lnSpc>
            </a:pPr>
            <a:r>
              <a:rPr lang="es-MX" altLang="es-MX" sz="2400" dirty="0"/>
              <a:t>Materias primas e insumos</a:t>
            </a:r>
          </a:p>
          <a:p>
            <a:pPr>
              <a:lnSpc>
                <a:spcPct val="90000"/>
              </a:lnSpc>
            </a:pPr>
            <a:r>
              <a:rPr lang="es-MX" altLang="es-MX" sz="2400" dirty="0"/>
              <a:t>Máquinas y equipos</a:t>
            </a: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F62D57ED-482A-3E92-DE98-4A4970649E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966" y="1566863"/>
            <a:ext cx="5558619" cy="372427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AutoShape 2"/>
          <p:cNvSpPr>
            <a:spLocks noGrp="1" noChangeArrowheads="1"/>
          </p:cNvSpPr>
          <p:nvPr>
            <p:ph type="title"/>
          </p:nvPr>
        </p:nvSpPr>
        <p:spPr>
          <a:xfrm>
            <a:off x="3791744" y="0"/>
            <a:ext cx="8400256" cy="836712"/>
          </a:xfrm>
        </p:spPr>
        <p:txBody>
          <a:bodyPr/>
          <a:lstStyle/>
          <a:p>
            <a:r>
              <a:rPr lang="es-MX" altLang="es-MX" dirty="0"/>
              <a:t>  </a:t>
            </a:r>
            <a:r>
              <a:rPr lang="es-MX" altLang="es-MX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Investigación Mercado Proveedor</a:t>
            </a:r>
            <a:endParaRPr lang="es-MX" altLang="es-MX" b="0" dirty="0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412875"/>
            <a:ext cx="10657184" cy="4032250"/>
          </a:xfrm>
        </p:spPr>
        <p:txBody>
          <a:bodyPr/>
          <a:lstStyle/>
          <a:p>
            <a:r>
              <a:rPr lang="es-MX" altLang="es-MX" sz="3200" dirty="0"/>
              <a:t>Proveedores críticos e importantes</a:t>
            </a:r>
          </a:p>
          <a:p>
            <a:r>
              <a:rPr lang="es-MX" altLang="es-MX" sz="3200" dirty="0"/>
              <a:t>Pueden ser:</a:t>
            </a:r>
          </a:p>
          <a:p>
            <a:pPr lvl="1"/>
            <a:r>
              <a:rPr lang="es-MX" altLang="es-MX" sz="2800" dirty="0"/>
              <a:t>Proveedores de servicios</a:t>
            </a:r>
          </a:p>
          <a:p>
            <a:pPr lvl="1"/>
            <a:r>
              <a:rPr lang="es-MX" altLang="es-MX" sz="2800" dirty="0"/>
              <a:t>Proveedores de Materias Primas críticas</a:t>
            </a:r>
          </a:p>
          <a:p>
            <a:pPr lvl="1"/>
            <a:r>
              <a:rPr lang="es-MX" altLang="es-MX" sz="2800" dirty="0"/>
              <a:t>Proveedores logísticos</a:t>
            </a:r>
          </a:p>
          <a:p>
            <a:pPr lvl="1"/>
            <a:r>
              <a:rPr lang="es-MX" altLang="es-MX" sz="2800" dirty="0"/>
              <a:t>Proveedores de tecnología</a:t>
            </a:r>
          </a:p>
          <a:p>
            <a:r>
              <a:rPr lang="es-MX" altLang="es-MX" sz="3200" dirty="0"/>
              <a:t>Tipos de contratos a establecer / Provisión de repuestos</a:t>
            </a:r>
          </a:p>
          <a:p>
            <a:r>
              <a:rPr lang="es-MX" altLang="es-MX" sz="3200" dirty="0"/>
              <a:t>Recursos Humanos capacitados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s-MX" altLang="es-MX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AutoShape 2"/>
          <p:cNvSpPr>
            <a:spLocks noGrp="1" noChangeArrowheads="1"/>
          </p:cNvSpPr>
          <p:nvPr>
            <p:ph type="title"/>
          </p:nvPr>
        </p:nvSpPr>
        <p:spPr>
          <a:xfrm>
            <a:off x="3647728" y="14684"/>
            <a:ext cx="8353425" cy="780256"/>
          </a:xfrm>
        </p:spPr>
        <p:txBody>
          <a:bodyPr/>
          <a:lstStyle/>
          <a:p>
            <a:r>
              <a:rPr lang="es-MX" altLang="es-MX" dirty="0"/>
              <a:t>  </a:t>
            </a:r>
            <a:r>
              <a:rPr lang="es-MX" altLang="es-MX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Investigación Mercado Competidor</a:t>
            </a:r>
            <a:endParaRPr lang="es-MX" altLang="es-MX" b="0" dirty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412875"/>
            <a:ext cx="10441160" cy="4032250"/>
          </a:xfrm>
        </p:spPr>
        <p:txBody>
          <a:bodyPr/>
          <a:lstStyle/>
          <a:p>
            <a:r>
              <a:rPr lang="es-MX" altLang="es-MX" sz="3200" dirty="0"/>
              <a:t>Segmentación / Atomización</a:t>
            </a:r>
          </a:p>
          <a:p>
            <a:r>
              <a:rPr lang="es-MX" altLang="es-MX" sz="3200" dirty="0"/>
              <a:t>Caracterización de empresas competidoras</a:t>
            </a:r>
          </a:p>
          <a:p>
            <a:pPr lvl="1"/>
            <a:r>
              <a:rPr lang="es-MX" altLang="es-MX" sz="2800" dirty="0"/>
              <a:t>Artesanos                    -  Pymes</a:t>
            </a:r>
          </a:p>
          <a:p>
            <a:pPr lvl="1"/>
            <a:r>
              <a:rPr lang="es-MX" altLang="es-MX" sz="2800" dirty="0"/>
              <a:t>Grandes                      -  Multinacionales</a:t>
            </a:r>
          </a:p>
          <a:p>
            <a:r>
              <a:rPr lang="es-MX" altLang="es-MX" sz="3200" dirty="0"/>
              <a:t>Estrategias</a:t>
            </a:r>
          </a:p>
          <a:p>
            <a:r>
              <a:rPr lang="es-MX" altLang="es-MX" sz="3200" dirty="0"/>
              <a:t>Ubicación</a:t>
            </a:r>
          </a:p>
          <a:p>
            <a:r>
              <a:rPr lang="es-MX" altLang="es-MX" sz="3200" dirty="0"/>
              <a:t>Porción del mercado de los competidores</a:t>
            </a:r>
          </a:p>
          <a:p>
            <a:r>
              <a:rPr lang="es-MX" altLang="es-MX" sz="3200" dirty="0"/>
              <a:t>Volúmenes de venta</a:t>
            </a:r>
          </a:p>
          <a:p>
            <a:pPr marL="0" indent="0">
              <a:spcBef>
                <a:spcPct val="0"/>
              </a:spcBef>
              <a:buNone/>
            </a:pPr>
            <a:endParaRPr lang="es-MX" altLang="es-MX" sz="36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s-MX" altLang="es-MX" sz="4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AutoShape 2"/>
          <p:cNvSpPr>
            <a:spLocks noGrp="1" noChangeArrowheads="1"/>
          </p:cNvSpPr>
          <p:nvPr>
            <p:ph type="title"/>
          </p:nvPr>
        </p:nvSpPr>
        <p:spPr>
          <a:xfrm>
            <a:off x="3719736" y="260648"/>
            <a:ext cx="8228600" cy="585861"/>
          </a:xfrm>
        </p:spPr>
        <p:txBody>
          <a:bodyPr/>
          <a:lstStyle/>
          <a:p>
            <a:r>
              <a:rPr lang="es-MX" altLang="es-MX" dirty="0"/>
              <a:t>CONSIDERACIONES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>
          <a:xfrm>
            <a:off x="1055440" y="1383506"/>
            <a:ext cx="10369152" cy="456577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s-ES" altLang="es-MX" sz="3200" i="1" dirty="0"/>
              <a:t>Fuentes de conflicto en la investigación:</a:t>
            </a:r>
            <a:endParaRPr lang="es-ES" altLang="es-MX" sz="3200" dirty="0"/>
          </a:p>
          <a:p>
            <a:pPr lvl="1">
              <a:lnSpc>
                <a:spcPct val="90000"/>
              </a:lnSpc>
            </a:pPr>
            <a:r>
              <a:rPr lang="es-ES" altLang="es-MX" sz="2800" dirty="0"/>
              <a:t>La investigación implica crítica</a:t>
            </a:r>
          </a:p>
          <a:p>
            <a:pPr lvl="1">
              <a:lnSpc>
                <a:spcPct val="90000"/>
              </a:lnSpc>
            </a:pPr>
            <a:r>
              <a:rPr lang="es-ES" altLang="es-MX" sz="2800" dirty="0"/>
              <a:t>Dinero</a:t>
            </a:r>
          </a:p>
          <a:p>
            <a:pPr lvl="1">
              <a:lnSpc>
                <a:spcPct val="90000"/>
              </a:lnSpc>
            </a:pPr>
            <a:r>
              <a:rPr lang="es-ES" altLang="es-MX" sz="2800" dirty="0"/>
              <a:t>Tiempo</a:t>
            </a:r>
          </a:p>
          <a:p>
            <a:pPr lvl="1">
              <a:lnSpc>
                <a:spcPct val="90000"/>
              </a:lnSpc>
            </a:pPr>
            <a:r>
              <a:rPr lang="es-ES" altLang="es-MX" sz="2800" dirty="0"/>
              <a:t>Toma intuitiva de decisiones</a:t>
            </a:r>
          </a:p>
          <a:p>
            <a:pPr lvl="1">
              <a:lnSpc>
                <a:spcPct val="90000"/>
              </a:lnSpc>
            </a:pPr>
            <a:r>
              <a:rPr lang="es-ES" altLang="es-MX" sz="2800" dirty="0"/>
              <a:t>Decisiones futuras basadas en experiencias pasadas</a:t>
            </a:r>
          </a:p>
          <a:p>
            <a:pPr lvl="1">
              <a:lnSpc>
                <a:spcPct val="90000"/>
              </a:lnSpc>
            </a:pPr>
            <a:r>
              <a:rPr lang="es-ES" altLang="es-MX" sz="2800" dirty="0"/>
              <a:t>Investigación Falsa (confiabilidad de los datos)</a:t>
            </a:r>
          </a:p>
          <a:p>
            <a:pPr>
              <a:lnSpc>
                <a:spcPct val="90000"/>
              </a:lnSpc>
            </a:pPr>
            <a:r>
              <a:rPr lang="es-MX" altLang="es-MX" dirty="0"/>
              <a:t>La información tiene que ser conducente a la toma de decisiones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AutoShape 2"/>
          <p:cNvSpPr>
            <a:spLocks noGrp="1" noChangeArrowheads="1"/>
          </p:cNvSpPr>
          <p:nvPr>
            <p:ph type="title"/>
          </p:nvPr>
        </p:nvSpPr>
        <p:spPr>
          <a:xfrm>
            <a:off x="3931840" y="116632"/>
            <a:ext cx="7924800" cy="866775"/>
          </a:xfrm>
        </p:spPr>
        <p:txBody>
          <a:bodyPr>
            <a:noAutofit/>
          </a:bodyPr>
          <a:lstStyle/>
          <a:p>
            <a:pPr algn="ctr"/>
            <a:r>
              <a:rPr lang="es-MX" altLang="es-MX" sz="3200" dirty="0"/>
              <a:t>DIMENSIONAMIENTO COMERCIAL</a:t>
            </a:r>
            <a:br>
              <a:rPr lang="es-MX" altLang="es-MX" sz="3200" dirty="0"/>
            </a:br>
            <a:r>
              <a:rPr lang="es-MX" altLang="es-MX" sz="3200" dirty="0"/>
              <a:t>Esquema de Presentación/Formulación</a:t>
            </a:r>
          </a:p>
        </p:txBody>
      </p:sp>
      <p:pic>
        <p:nvPicPr>
          <p:cNvPr id="71684" name="Picture 4" descr="DIM COMERCIAL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71664" y="1196752"/>
            <a:ext cx="5184576" cy="5400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DDF18169-7699-48A9-BC5A-8128B4E4E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3294" y="0"/>
            <a:ext cx="8408706" cy="836712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MX" altLang="es-AR"/>
              <a:t>Condiciones de Trabajo</a:t>
            </a:r>
            <a:endParaRPr lang="es-MX" altLang="es-AR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A77942-100D-43BA-8A5A-27820F2E6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464" y="1347787"/>
            <a:ext cx="10513168" cy="416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s-MX" altLang="es-AR" sz="3200" dirty="0"/>
              <a:t>Valores Constantes</a:t>
            </a:r>
          </a:p>
          <a:p>
            <a:pPr lvl="1">
              <a:lnSpc>
                <a:spcPct val="90000"/>
              </a:lnSpc>
            </a:pPr>
            <a:r>
              <a:rPr lang="es-MX" altLang="es-AR" sz="2800" dirty="0"/>
              <a:t>Sin inflación</a:t>
            </a:r>
          </a:p>
          <a:p>
            <a:pPr>
              <a:lnSpc>
                <a:spcPct val="90000"/>
              </a:lnSpc>
            </a:pPr>
            <a:r>
              <a:rPr lang="es-MX" altLang="es-AR" sz="3200" dirty="0"/>
              <a:t>Valores Contado</a:t>
            </a:r>
          </a:p>
          <a:p>
            <a:pPr lvl="1">
              <a:lnSpc>
                <a:spcPct val="90000"/>
              </a:lnSpc>
            </a:pPr>
            <a:r>
              <a:rPr lang="es-MX" altLang="es-AR" sz="2800" dirty="0"/>
              <a:t>Sin Financiación</a:t>
            </a:r>
          </a:p>
          <a:p>
            <a:pPr>
              <a:lnSpc>
                <a:spcPct val="90000"/>
              </a:lnSpc>
            </a:pPr>
            <a:r>
              <a:rPr lang="es-MX" altLang="es-AR" sz="3200" dirty="0"/>
              <a:t>Valores Reales</a:t>
            </a:r>
          </a:p>
          <a:p>
            <a:pPr lvl="1">
              <a:lnSpc>
                <a:spcPct val="90000"/>
              </a:lnSpc>
            </a:pPr>
            <a:r>
              <a:rPr lang="es-MX" altLang="es-AR" sz="2800" dirty="0"/>
              <a:t>Sin sobre </a:t>
            </a:r>
            <a:r>
              <a:rPr lang="es-MX" altLang="es-AR" sz="2800" dirty="0" err="1"/>
              <a:t>ó</a:t>
            </a:r>
            <a:r>
              <a:rPr lang="es-MX" altLang="es-AR" sz="2800" dirty="0"/>
              <a:t> subvaluaciones</a:t>
            </a:r>
          </a:p>
          <a:p>
            <a:pPr>
              <a:lnSpc>
                <a:spcPct val="90000"/>
              </a:lnSpc>
            </a:pPr>
            <a:r>
              <a:rPr lang="es-MX" altLang="es-AR" sz="3200" dirty="0"/>
              <a:t>Normales</a:t>
            </a:r>
          </a:p>
          <a:p>
            <a:pPr lvl="1">
              <a:lnSpc>
                <a:spcPct val="90000"/>
              </a:lnSpc>
            </a:pPr>
            <a:r>
              <a:rPr lang="es-MX" altLang="es-AR" sz="2800" dirty="0"/>
              <a:t>Sin coyunturas</a:t>
            </a:r>
          </a:p>
          <a:p>
            <a:pPr>
              <a:lnSpc>
                <a:spcPct val="90000"/>
              </a:lnSpc>
            </a:pPr>
            <a:r>
              <a:rPr lang="es-MX" altLang="es-AR" sz="3200" dirty="0"/>
              <a:t>Condiciones de Certeza</a:t>
            </a:r>
          </a:p>
          <a:p>
            <a:pPr lvl="1">
              <a:lnSpc>
                <a:spcPct val="90000"/>
              </a:lnSpc>
            </a:pPr>
            <a:r>
              <a:rPr lang="es-MX" altLang="es-AR" sz="2800" dirty="0"/>
              <a:t>Valores únicos no variables</a:t>
            </a:r>
          </a:p>
        </p:txBody>
      </p:sp>
    </p:spTree>
    <p:extLst>
      <p:ext uri="{BB962C8B-B14F-4D97-AF65-F5344CB8AC3E}">
        <p14:creationId xmlns:p14="http://schemas.microsoft.com/office/powerpoint/2010/main" val="695060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AutoShape 2"/>
          <p:cNvSpPr>
            <a:spLocks noGrp="1" noChangeArrowheads="1"/>
          </p:cNvSpPr>
          <p:nvPr>
            <p:ph type="title"/>
          </p:nvPr>
        </p:nvSpPr>
        <p:spPr>
          <a:xfrm>
            <a:off x="3960019" y="404664"/>
            <a:ext cx="8228600" cy="585861"/>
          </a:xfrm>
        </p:spPr>
        <p:txBody>
          <a:bodyPr/>
          <a:lstStyle/>
          <a:p>
            <a:pPr algn="ctr"/>
            <a:r>
              <a:rPr lang="es-MX" altLang="es-MX" sz="3200" dirty="0"/>
              <a:t>DIMENSIONAMIENTO COMERCIAL</a:t>
            </a:r>
            <a:br>
              <a:rPr lang="es-MX" altLang="es-MX" sz="3200" dirty="0"/>
            </a:br>
            <a:r>
              <a:rPr lang="es-MX" altLang="es-MX" sz="3200" dirty="0"/>
              <a:t>Definición de Estrategias</a:t>
            </a:r>
          </a:p>
        </p:txBody>
      </p:sp>
      <p:sp>
        <p:nvSpPr>
          <p:cNvPr id="86024" name="Rectangle 8"/>
          <p:cNvSpPr>
            <a:spLocks noChangeArrowheads="1"/>
          </p:cNvSpPr>
          <p:nvPr/>
        </p:nvSpPr>
        <p:spPr bwMode="auto">
          <a:xfrm>
            <a:off x="983432" y="1340768"/>
            <a:ext cx="10441160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MX" altLang="es-MX" sz="3600" dirty="0"/>
              <a:t>De Inserción</a:t>
            </a:r>
          </a:p>
          <a:p>
            <a:pPr lvl="1"/>
            <a:r>
              <a:rPr lang="es-MX" altLang="es-MX" sz="3200" dirty="0"/>
              <a:t>Buscan entrar en los mercados</a:t>
            </a:r>
          </a:p>
          <a:p>
            <a:pPr lvl="1"/>
            <a:r>
              <a:rPr lang="es-MX" altLang="es-MX" sz="3200" dirty="0"/>
              <a:t>Son a corto plazo y no sostenibles en el tiempo</a:t>
            </a:r>
          </a:p>
          <a:p>
            <a:r>
              <a:rPr lang="es-MX" altLang="es-MX" sz="3600" dirty="0"/>
              <a:t>De Crecimiento</a:t>
            </a:r>
          </a:p>
          <a:p>
            <a:pPr lvl="1"/>
            <a:r>
              <a:rPr lang="es-MX" altLang="es-MX" sz="3200" dirty="0"/>
              <a:t>Pueden basarse en resultados esperados a obtener en la estrategias de inserción</a:t>
            </a:r>
          </a:p>
          <a:p>
            <a:pPr lvl="1"/>
            <a:r>
              <a:rPr lang="es-MX" altLang="es-MX" sz="3200" dirty="0"/>
              <a:t>Cuenta con recursos adicionales que surjan de los fondos autogenerados del proyecto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0A326-9457-14E6-02BD-B1B078838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AutoShape 2">
            <a:extLst>
              <a:ext uri="{FF2B5EF4-FFF2-40B4-BE49-F238E27FC236}">
                <a16:creationId xmlns:a16="http://schemas.microsoft.com/office/drawing/2014/main" id="{FFCDD48E-45A2-4B9A-0596-7BA4243F49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1384" y="2636912"/>
            <a:ext cx="4916232" cy="585861"/>
          </a:xfrm>
        </p:spPr>
        <p:txBody>
          <a:bodyPr/>
          <a:lstStyle/>
          <a:p>
            <a:pPr algn="ctr"/>
            <a:r>
              <a:rPr lang="es-MX" altLang="es-MX" sz="3200" dirty="0"/>
              <a:t>DIMENSIONAMIENTO</a:t>
            </a:r>
            <a:br>
              <a:rPr lang="es-MX" altLang="es-MX" sz="3200" dirty="0"/>
            </a:br>
            <a:r>
              <a:rPr lang="es-MX" altLang="es-MX" sz="3200" dirty="0"/>
              <a:t> COMERCIAL</a:t>
            </a:r>
            <a:br>
              <a:rPr lang="es-MX" altLang="es-MX" sz="3200" dirty="0"/>
            </a:br>
            <a:r>
              <a:rPr lang="es-MX" altLang="es-MX" sz="3200" dirty="0"/>
              <a:t>Definición de</a:t>
            </a:r>
            <a:br>
              <a:rPr lang="es-MX" altLang="es-MX" sz="3200" dirty="0"/>
            </a:br>
            <a:r>
              <a:rPr lang="es-MX" altLang="es-MX" sz="3200" dirty="0"/>
              <a:t> Estrategias</a:t>
            </a:r>
          </a:p>
        </p:txBody>
      </p:sp>
      <p:pic>
        <p:nvPicPr>
          <p:cNvPr id="3" name="Imagen 2" descr="Gráfico, Gráfico de proyección solar&#10;&#10;El contenido generado por IA puede ser incorrecto.">
            <a:extLst>
              <a:ext uri="{FF2B5EF4-FFF2-40B4-BE49-F238E27FC236}">
                <a16:creationId xmlns:a16="http://schemas.microsoft.com/office/drawing/2014/main" id="{C28083F0-BE11-0E7C-8A07-548E4B67AF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9023" y="96095"/>
            <a:ext cx="6505788" cy="6761905"/>
          </a:xfrm>
          <a:prstGeom prst="rect">
            <a:avLst/>
          </a:prstGeom>
          <a:solidFill>
            <a:schemeClr val="bg1"/>
          </a:solidFill>
          <a:effectLst/>
        </p:spPr>
      </p:pic>
    </p:spTree>
    <p:extLst>
      <p:ext uri="{BB962C8B-B14F-4D97-AF65-F5344CB8AC3E}">
        <p14:creationId xmlns:p14="http://schemas.microsoft.com/office/powerpoint/2010/main" val="2356230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AutoShape 2"/>
          <p:cNvSpPr>
            <a:spLocks noGrp="1" noChangeArrowheads="1"/>
          </p:cNvSpPr>
          <p:nvPr>
            <p:ph type="title"/>
          </p:nvPr>
        </p:nvSpPr>
        <p:spPr>
          <a:xfrm>
            <a:off x="3791745" y="0"/>
            <a:ext cx="8400254" cy="860549"/>
          </a:xfrm>
        </p:spPr>
        <p:txBody>
          <a:bodyPr wrap="square" anchor="b">
            <a:normAutofit/>
          </a:bodyPr>
          <a:lstStyle/>
          <a:p>
            <a:r>
              <a:rPr lang="es-MX" altLang="es-MX" dirty="0"/>
              <a:t>Estrategias para el PRODUCTO (I)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278202" y="1340768"/>
            <a:ext cx="6834021" cy="3724275"/>
          </a:xfrm>
        </p:spPr>
        <p:txBody>
          <a:bodyPr wrap="square" anchor="t"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MX" b="1" i="1" dirty="0"/>
              <a:t>Redefinir el producto en caso de ser necesario !!</a:t>
            </a:r>
            <a:endParaRPr lang="es-ES" altLang="es-MX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MX" i="1" dirty="0"/>
              <a:t>Niveles de Producto:</a:t>
            </a:r>
            <a:endParaRPr lang="es-ES" altLang="es-MX" b="1" dirty="0"/>
          </a:p>
          <a:p>
            <a:pPr>
              <a:lnSpc>
                <a:spcPct val="90000"/>
              </a:lnSpc>
            </a:pPr>
            <a:r>
              <a:rPr lang="es-ES" altLang="es-MX" b="1" dirty="0"/>
              <a:t>Básico:</a:t>
            </a:r>
            <a:r>
              <a:rPr lang="es-ES" altLang="es-MX" dirty="0"/>
              <a:t> Beneficios centrales que busca solucionar los consumidores</a:t>
            </a:r>
            <a:endParaRPr lang="es-ES" altLang="es-MX" b="1" dirty="0"/>
          </a:p>
          <a:p>
            <a:pPr>
              <a:lnSpc>
                <a:spcPct val="90000"/>
              </a:lnSpc>
            </a:pPr>
            <a:r>
              <a:rPr lang="es-ES" altLang="es-MX" b="1" dirty="0"/>
              <a:t>Real:</a:t>
            </a:r>
            <a:r>
              <a:rPr lang="es-ES" altLang="es-MX" dirty="0"/>
              <a:t> Suma del Producto real más la calidad, estilo, diseño, marca, Empaque</a:t>
            </a:r>
            <a:endParaRPr lang="es-ES" altLang="es-MX" b="1" dirty="0"/>
          </a:p>
          <a:p>
            <a:pPr>
              <a:lnSpc>
                <a:spcPct val="90000"/>
              </a:lnSpc>
            </a:pPr>
            <a:r>
              <a:rPr lang="es-ES" altLang="es-MX" b="1" dirty="0"/>
              <a:t>Aumentado:</a:t>
            </a:r>
            <a:r>
              <a:rPr lang="es-ES" altLang="es-MX" dirty="0"/>
              <a:t> Otros servicios y beneficios (Instalación, mantenimiento, promociones, entrega y crédito, </a:t>
            </a:r>
            <a:r>
              <a:rPr lang="es-ES" altLang="es-MX" dirty="0" err="1"/>
              <a:t>garantía,etc</a:t>
            </a:r>
            <a:r>
              <a:rPr lang="es-ES" altLang="es-MX" dirty="0"/>
              <a:t>)</a:t>
            </a:r>
          </a:p>
          <a:p>
            <a:pPr hangingPunct="0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endParaRPr lang="es-ES" altLang="es-MX" dirty="0"/>
          </a:p>
        </p:txBody>
      </p:sp>
      <p:pic>
        <p:nvPicPr>
          <p:cNvPr id="3" name="Imagen 2" descr="Diagrama, Forma, Círculo&#10;&#10;El contenido generado por IA puede ser incorrecto.">
            <a:extLst>
              <a:ext uri="{FF2B5EF4-FFF2-40B4-BE49-F238E27FC236}">
                <a16:creationId xmlns:a16="http://schemas.microsoft.com/office/drawing/2014/main" id="{40260F16-7481-5D8B-4911-E7F9011267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240" y="1566862"/>
            <a:ext cx="3724275" cy="37242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AutoShape 2"/>
          <p:cNvSpPr>
            <a:spLocks noGrp="1" noChangeArrowheads="1"/>
          </p:cNvSpPr>
          <p:nvPr>
            <p:ph type="title"/>
          </p:nvPr>
        </p:nvSpPr>
        <p:spPr>
          <a:xfrm>
            <a:off x="3810000" y="0"/>
            <a:ext cx="8382000" cy="831850"/>
          </a:xfrm>
        </p:spPr>
        <p:txBody>
          <a:bodyPr/>
          <a:lstStyle/>
          <a:p>
            <a:r>
              <a:rPr lang="es-MX" altLang="es-MX" dirty="0"/>
              <a:t>Estrategias para el PRODUCTO (II)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340644"/>
            <a:ext cx="10585176" cy="4752652"/>
          </a:xfrm>
          <a:noFill/>
          <a:ln/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MX" dirty="0">
                <a:solidFill>
                  <a:srgbClr val="000000"/>
                </a:solidFill>
              </a:rPr>
              <a:t>Decisiones a tomar:</a:t>
            </a:r>
          </a:p>
          <a:p>
            <a:pPr>
              <a:lnSpc>
                <a:spcPct val="90000"/>
              </a:lnSpc>
            </a:pPr>
            <a:r>
              <a:rPr lang="es-ES" altLang="es-MX" sz="2500" b="1" i="1" dirty="0"/>
              <a:t>Atributos: </a:t>
            </a:r>
            <a:r>
              <a:rPr lang="es-ES" altLang="es-MX" sz="2500" dirty="0"/>
              <a:t>Calidad, </a:t>
            </a:r>
            <a:r>
              <a:rPr lang="es-ES" altLang="es-MX" sz="2500" dirty="0" err="1"/>
              <a:t>Carácteristicas</a:t>
            </a:r>
            <a:r>
              <a:rPr lang="es-ES" altLang="es-MX" sz="2500" dirty="0"/>
              <a:t>, diseño</a:t>
            </a:r>
          </a:p>
          <a:p>
            <a:pPr>
              <a:lnSpc>
                <a:spcPct val="90000"/>
              </a:lnSpc>
            </a:pPr>
            <a:r>
              <a:rPr lang="es-ES" altLang="es-MX" sz="2500" b="1" i="1" dirty="0"/>
              <a:t>Marca: </a:t>
            </a:r>
            <a:r>
              <a:rPr lang="es-ES" altLang="es-MX" sz="2500" dirty="0"/>
              <a:t>Poner </a:t>
            </a:r>
            <a:r>
              <a:rPr lang="es-ES" altLang="es-MX" sz="2500" dirty="0" err="1"/>
              <a:t>ó</a:t>
            </a:r>
            <a:r>
              <a:rPr lang="es-ES" altLang="es-MX" sz="2500" dirty="0"/>
              <a:t> no Poner, Nuevas marcas, extensiones de marca, extensiones de línea</a:t>
            </a:r>
          </a:p>
          <a:p>
            <a:pPr>
              <a:lnSpc>
                <a:spcPct val="90000"/>
              </a:lnSpc>
            </a:pPr>
            <a:r>
              <a:rPr lang="es-ES" altLang="es-MX" sz="2500" b="1" i="1" dirty="0"/>
              <a:t>Empaque: </a:t>
            </a:r>
            <a:r>
              <a:rPr lang="es-ES" altLang="es-MX" sz="2500" dirty="0"/>
              <a:t>Diseño en el empaque, características físicas y de seguridad</a:t>
            </a:r>
          </a:p>
          <a:p>
            <a:pPr>
              <a:lnSpc>
                <a:spcPct val="90000"/>
              </a:lnSpc>
            </a:pPr>
            <a:r>
              <a:rPr lang="es-ES" altLang="es-MX" sz="2500" b="1" i="1" dirty="0"/>
              <a:t>Etiqueta: </a:t>
            </a:r>
            <a:r>
              <a:rPr lang="es-ES" altLang="es-MX" sz="2500" dirty="0"/>
              <a:t>Identificación de Marca </a:t>
            </a:r>
            <a:r>
              <a:rPr lang="es-ES" altLang="es-MX" sz="2500" dirty="0" err="1"/>
              <a:t>ó</a:t>
            </a:r>
            <a:r>
              <a:rPr lang="es-ES" altLang="es-MX" sz="2500" dirty="0"/>
              <a:t> producto, calificar al producto, describir el producto, aspectos legales</a:t>
            </a:r>
          </a:p>
          <a:p>
            <a:pPr>
              <a:lnSpc>
                <a:spcPct val="90000"/>
              </a:lnSpc>
            </a:pPr>
            <a:r>
              <a:rPr lang="es-ES" altLang="es-MX" sz="2500" b="1" i="1" dirty="0"/>
              <a:t>Servicios de Respaldo: </a:t>
            </a:r>
            <a:r>
              <a:rPr lang="es-ES" altLang="es-MX" sz="2500" dirty="0"/>
              <a:t>Soporte técnico, servicio al cliente</a:t>
            </a:r>
          </a:p>
          <a:p>
            <a:pPr>
              <a:lnSpc>
                <a:spcPct val="90000"/>
              </a:lnSpc>
            </a:pPr>
            <a:r>
              <a:rPr lang="es-ES" altLang="es-MX" sz="2500" b="1" i="1" dirty="0"/>
              <a:t>Línea de Productos: </a:t>
            </a:r>
            <a:r>
              <a:rPr lang="es-ES" altLang="es-MX" sz="2500" dirty="0"/>
              <a:t>Amplitud (cantidad de líneas), Extensión (total de artículos de la empresa), profundidad (Numero de versiones de cada producto), Congruencia de factores de la producción y la comercialización</a:t>
            </a:r>
            <a:endParaRPr lang="es-ES" altLang="es-MX" sz="2500" dirty="0">
              <a:solidFill>
                <a:srgbClr val="000000"/>
              </a:solidFill>
            </a:endParaRPr>
          </a:p>
          <a:p>
            <a:pPr lvl="1">
              <a:lnSpc>
                <a:spcPct val="90000"/>
              </a:lnSpc>
            </a:pPr>
            <a:endParaRPr lang="es-ES" altLang="es-MX" dirty="0">
              <a:solidFill>
                <a:srgbClr val="000000"/>
              </a:solidFill>
            </a:endParaRPr>
          </a:p>
          <a:p>
            <a:pPr hangingPunct="0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endParaRPr lang="es-ES" altLang="es-MX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AutoShape 2"/>
          <p:cNvSpPr>
            <a:spLocks noGrp="1" noChangeArrowheads="1"/>
          </p:cNvSpPr>
          <p:nvPr>
            <p:ph type="title"/>
          </p:nvPr>
        </p:nvSpPr>
        <p:spPr>
          <a:xfrm>
            <a:off x="1991544" y="-315416"/>
            <a:ext cx="10566400" cy="1143000"/>
          </a:xfrm>
        </p:spPr>
        <p:txBody>
          <a:bodyPr/>
          <a:lstStyle/>
          <a:p>
            <a:r>
              <a:rPr lang="es-MX" altLang="es-MX" dirty="0"/>
              <a:t>Estrategias para la PLAZA (I)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232756"/>
            <a:ext cx="6048672" cy="4752528"/>
          </a:xfrm>
        </p:spPr>
        <p:txBody>
          <a:bodyPr/>
          <a:lstStyle/>
          <a:p>
            <a:r>
              <a:rPr lang="es-ES" altLang="es-MX" sz="3600" dirty="0">
                <a:solidFill>
                  <a:srgbClr val="000000"/>
                </a:solidFill>
              </a:rPr>
              <a:t>Canal: Funciones:</a:t>
            </a:r>
          </a:p>
          <a:p>
            <a:pPr lvl="1"/>
            <a:r>
              <a:rPr lang="es-ES" altLang="es-MX" sz="3200" dirty="0">
                <a:solidFill>
                  <a:srgbClr val="000000"/>
                </a:solidFill>
              </a:rPr>
              <a:t>Información</a:t>
            </a:r>
          </a:p>
          <a:p>
            <a:pPr lvl="1"/>
            <a:r>
              <a:rPr lang="es-ES" altLang="es-MX" sz="3200" dirty="0">
                <a:solidFill>
                  <a:srgbClr val="000000"/>
                </a:solidFill>
              </a:rPr>
              <a:t>Promoción</a:t>
            </a:r>
          </a:p>
          <a:p>
            <a:pPr lvl="1"/>
            <a:r>
              <a:rPr lang="es-ES" altLang="es-MX" sz="3200" dirty="0">
                <a:solidFill>
                  <a:srgbClr val="000000"/>
                </a:solidFill>
              </a:rPr>
              <a:t>Contacto (Con el cliente, con el canal)</a:t>
            </a:r>
          </a:p>
          <a:p>
            <a:pPr lvl="1"/>
            <a:r>
              <a:rPr lang="es-ES" altLang="es-MX" sz="3200" dirty="0">
                <a:solidFill>
                  <a:srgbClr val="000000"/>
                </a:solidFill>
              </a:rPr>
              <a:t>Negociación</a:t>
            </a:r>
          </a:p>
          <a:p>
            <a:pPr lvl="1"/>
            <a:r>
              <a:rPr lang="es-ES" altLang="es-MX" sz="3200" dirty="0">
                <a:solidFill>
                  <a:srgbClr val="000000"/>
                </a:solidFill>
              </a:rPr>
              <a:t>Distribución física</a:t>
            </a:r>
          </a:p>
          <a:p>
            <a:pPr lvl="1"/>
            <a:r>
              <a:rPr lang="es-ES" altLang="es-MX" sz="3200" dirty="0">
                <a:solidFill>
                  <a:srgbClr val="000000"/>
                </a:solidFill>
              </a:rPr>
              <a:t>Financiamiento</a:t>
            </a:r>
          </a:p>
          <a:p>
            <a:pPr lvl="1"/>
            <a:r>
              <a:rPr lang="es-ES" altLang="es-MX" sz="3200" dirty="0">
                <a:solidFill>
                  <a:srgbClr val="000000"/>
                </a:solidFill>
              </a:rPr>
              <a:t>Reducción de riesgo</a:t>
            </a:r>
          </a:p>
        </p:txBody>
      </p:sp>
      <p:pic>
        <p:nvPicPr>
          <p:cNvPr id="3" name="Imagen 2" descr="Imagen que contiene Tabla&#10;&#10;El contenido generado por IA puede ser incorrecto.">
            <a:extLst>
              <a:ext uri="{FF2B5EF4-FFF2-40B4-BE49-F238E27FC236}">
                <a16:creationId xmlns:a16="http://schemas.microsoft.com/office/drawing/2014/main" id="{50A80182-A01B-71AC-3B5A-E5B8C0E9DC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128" y="1340768"/>
            <a:ext cx="4542153" cy="45365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AutoShape 2"/>
          <p:cNvSpPr>
            <a:spLocks noGrp="1" noChangeArrowheads="1"/>
          </p:cNvSpPr>
          <p:nvPr>
            <p:ph type="title"/>
          </p:nvPr>
        </p:nvSpPr>
        <p:spPr>
          <a:xfrm>
            <a:off x="2639616" y="-311150"/>
            <a:ext cx="10566400" cy="1143000"/>
          </a:xfrm>
        </p:spPr>
        <p:txBody>
          <a:bodyPr/>
          <a:lstStyle/>
          <a:p>
            <a:r>
              <a:rPr lang="es-MX" altLang="es-MX" sz="4000" dirty="0"/>
              <a:t>Estrategias para la PLAZA (II)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412776"/>
            <a:ext cx="10729192" cy="4680520"/>
          </a:xfrm>
        </p:spPr>
        <p:txBody>
          <a:bodyPr/>
          <a:lstStyle/>
          <a:p>
            <a:r>
              <a:rPr lang="es-ES" altLang="es-MX" sz="3600" dirty="0">
                <a:solidFill>
                  <a:srgbClr val="000000"/>
                </a:solidFill>
              </a:rPr>
              <a:t>Niveles:</a:t>
            </a:r>
          </a:p>
          <a:p>
            <a:pPr lvl="1"/>
            <a:r>
              <a:rPr lang="es-ES" altLang="es-MX" sz="3200" dirty="0">
                <a:solidFill>
                  <a:srgbClr val="000000"/>
                </a:solidFill>
              </a:rPr>
              <a:t>0 : Directo</a:t>
            </a:r>
          </a:p>
          <a:p>
            <a:pPr lvl="1"/>
            <a:r>
              <a:rPr lang="es-ES" altLang="es-MX" sz="3200" dirty="0">
                <a:solidFill>
                  <a:srgbClr val="000000"/>
                </a:solidFill>
              </a:rPr>
              <a:t>1: Minorista</a:t>
            </a:r>
          </a:p>
          <a:p>
            <a:pPr lvl="1"/>
            <a:r>
              <a:rPr lang="es-ES" altLang="es-MX" sz="3200" dirty="0">
                <a:solidFill>
                  <a:srgbClr val="000000"/>
                </a:solidFill>
              </a:rPr>
              <a:t>2: Mayorista</a:t>
            </a:r>
          </a:p>
          <a:p>
            <a:r>
              <a:rPr lang="es-ES" altLang="es-MX" sz="3600" dirty="0">
                <a:solidFill>
                  <a:srgbClr val="000000"/>
                </a:solidFill>
              </a:rPr>
              <a:t>Decisiones</a:t>
            </a:r>
          </a:p>
          <a:p>
            <a:pPr lvl="1"/>
            <a:r>
              <a:rPr lang="es-ES" altLang="es-MX" sz="3200" dirty="0">
                <a:solidFill>
                  <a:srgbClr val="000000"/>
                </a:solidFill>
              </a:rPr>
              <a:t>¿Qué necesita el mercado?</a:t>
            </a:r>
          </a:p>
          <a:p>
            <a:pPr lvl="1"/>
            <a:r>
              <a:rPr lang="es-ES" altLang="es-MX" sz="3200" dirty="0">
                <a:solidFill>
                  <a:srgbClr val="000000"/>
                </a:solidFill>
              </a:rPr>
              <a:t>¿Qué objetivos y limitaciones tiene el canal?</a:t>
            </a:r>
          </a:p>
          <a:p>
            <a:pPr lvl="1"/>
            <a:r>
              <a:rPr lang="es-ES" altLang="es-MX" sz="3200" dirty="0">
                <a:solidFill>
                  <a:srgbClr val="000000"/>
                </a:solidFill>
              </a:rPr>
              <a:t>Contactos (Vinculación legal)</a:t>
            </a: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9BA6D8FB-EC9B-D936-D314-69EF90A1DA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248" y="1409190"/>
            <a:ext cx="3672044" cy="367661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AutoShape 2"/>
          <p:cNvSpPr>
            <a:spLocks noGrp="1" noChangeArrowheads="1"/>
          </p:cNvSpPr>
          <p:nvPr>
            <p:ph type="title"/>
          </p:nvPr>
        </p:nvSpPr>
        <p:spPr>
          <a:xfrm>
            <a:off x="3791745" y="0"/>
            <a:ext cx="8400254" cy="860549"/>
          </a:xfrm>
        </p:spPr>
        <p:txBody>
          <a:bodyPr wrap="square" anchor="b">
            <a:normAutofit/>
          </a:bodyPr>
          <a:lstStyle/>
          <a:p>
            <a:r>
              <a:rPr lang="es-MX" altLang="es-MX" dirty="0"/>
              <a:t>Estrategias para la PROMOCION (I)</a:t>
            </a:r>
          </a:p>
        </p:txBody>
      </p:sp>
      <p:sp>
        <p:nvSpPr>
          <p:cNvPr id="96318" name="Rectangle 62"/>
          <p:cNvSpPr>
            <a:spLocks noGrp="1" noChangeArrowheads="1"/>
          </p:cNvSpPr>
          <p:nvPr>
            <p:ph sz="half" idx="1"/>
          </p:nvPr>
        </p:nvSpPr>
        <p:spPr>
          <a:xfrm>
            <a:off x="1086102" y="1340768"/>
            <a:ext cx="6738090" cy="5112568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MX" sz="2400" b="1" i="1" dirty="0"/>
              <a:t>Selección de los canales de comunicación</a:t>
            </a:r>
            <a:endParaRPr lang="es-ES" altLang="es-MX" sz="2400" b="1" dirty="0"/>
          </a:p>
          <a:p>
            <a:pPr>
              <a:lnSpc>
                <a:spcPct val="90000"/>
              </a:lnSpc>
            </a:pPr>
            <a:r>
              <a:rPr lang="es-ES" altLang="es-MX" sz="2400" b="1" dirty="0"/>
              <a:t>Personales:</a:t>
            </a:r>
            <a:r>
              <a:rPr lang="es-ES" altLang="es-MX" sz="2400" dirty="0"/>
              <a:t> Estimular el trabajo de clientes claves para obtener resultados, identificando a los individuos y </a:t>
            </a:r>
            <a:r>
              <a:rPr lang="es-ES" altLang="es-MX" sz="2400" dirty="0" err="1"/>
              <a:t>compañias</a:t>
            </a:r>
            <a:r>
              <a:rPr lang="es-ES" altLang="es-MX" sz="2400" dirty="0"/>
              <a:t> influyentes y dedicarles el mejor esfuerzo, creando lideres de opinión </a:t>
            </a:r>
            <a:r>
              <a:rPr lang="es-ES" altLang="es-MX" sz="2400" dirty="0" err="1"/>
              <a:t>suministando</a:t>
            </a:r>
            <a:r>
              <a:rPr lang="es-ES" altLang="es-MX" sz="2400" dirty="0"/>
              <a:t> el producto a ciertas personas en condiciones atractivas, trabajando a través de miembros influyentes de la comunidad.</a:t>
            </a:r>
          </a:p>
          <a:p>
            <a:pPr>
              <a:lnSpc>
                <a:spcPct val="90000"/>
              </a:lnSpc>
            </a:pPr>
            <a:r>
              <a:rPr lang="es-ES" altLang="es-MX" sz="2400" dirty="0"/>
              <a:t> </a:t>
            </a:r>
            <a:r>
              <a:rPr lang="es-ES" altLang="es-MX" sz="2400" b="1" dirty="0"/>
              <a:t>Impersonales:</a:t>
            </a:r>
            <a:r>
              <a:rPr lang="es-ES" altLang="es-MX" sz="2400" dirty="0"/>
              <a:t> Transmiten los mensajes sin contacto ni interacción personal, incluyen medios masivos de comunicación, atmósferas </a:t>
            </a:r>
            <a:r>
              <a:rPr lang="es-ES" altLang="es-MX" sz="2400" dirty="0" err="1"/>
              <a:t>ó</a:t>
            </a:r>
            <a:r>
              <a:rPr lang="es-ES" altLang="es-MX" sz="2400" dirty="0"/>
              <a:t> ambientes envasados, eventos.</a:t>
            </a:r>
            <a:endParaRPr lang="es-MX" altLang="es-MX" sz="2400" dirty="0"/>
          </a:p>
        </p:txBody>
      </p:sp>
      <p:pic>
        <p:nvPicPr>
          <p:cNvPr id="3" name="Imagen 2" descr="Imagen que contiene Gráfico&#10;&#10;El contenido generado por IA puede ser incorrecto.">
            <a:extLst>
              <a:ext uri="{FF2B5EF4-FFF2-40B4-BE49-F238E27FC236}">
                <a16:creationId xmlns:a16="http://schemas.microsoft.com/office/drawing/2014/main" id="{AB66ED6D-6789-231D-C679-9041CB697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221" y="1566862"/>
            <a:ext cx="3839458" cy="37242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AutoShape 2"/>
          <p:cNvSpPr>
            <a:spLocks noGrp="1" noChangeArrowheads="1"/>
          </p:cNvSpPr>
          <p:nvPr>
            <p:ph type="title"/>
          </p:nvPr>
        </p:nvSpPr>
        <p:spPr>
          <a:xfrm>
            <a:off x="3810000" y="0"/>
            <a:ext cx="8382000" cy="780256"/>
          </a:xfrm>
        </p:spPr>
        <p:txBody>
          <a:bodyPr/>
          <a:lstStyle/>
          <a:p>
            <a:r>
              <a:rPr lang="es-MX" altLang="es-MX" dirty="0"/>
              <a:t>Estrategias para la PROMOCION (II)</a:t>
            </a:r>
          </a:p>
        </p:txBody>
      </p:sp>
      <p:graphicFrame>
        <p:nvGraphicFramePr>
          <p:cNvPr id="97314" name="Group 34"/>
          <p:cNvGraphicFramePr>
            <a:graphicFrameLocks noGrp="1"/>
          </p:cNvGraphicFramePr>
          <p:nvPr>
            <p:ph sz="half" idx="2"/>
          </p:nvPr>
        </p:nvGraphicFramePr>
        <p:xfrm>
          <a:off x="1343472" y="1484784"/>
          <a:ext cx="9505055" cy="4176463"/>
        </p:xfrm>
        <a:graphic>
          <a:graphicData uri="http://schemas.openxmlformats.org/drawingml/2006/table">
            <a:tbl>
              <a:tblPr/>
              <a:tblGrid>
                <a:gridCol w="4375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9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14217"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endParaRPr kumimoji="0" lang="es-ES" altLang="es-MX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87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s-ES" altLang="es-MX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Bienes de Consumo</a:t>
                      </a:r>
                    </a:p>
                  </a:txBody>
                  <a:tcPr marL="0" marR="0" marT="1587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s-ES" altLang="es-MX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Bienes Industriales</a:t>
                      </a:r>
                    </a:p>
                  </a:txBody>
                  <a:tcPr marL="0" marR="0" marT="1587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271"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s-ES" altLang="es-MX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Publicidad</a:t>
                      </a:r>
                    </a:p>
                  </a:txBody>
                  <a:tcPr marL="0" marR="0" marT="1587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s-ES" altLang="es-MX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1587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s-ES" altLang="es-MX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1587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7433"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s-ES" altLang="es-MX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Ventas Personales</a:t>
                      </a:r>
                    </a:p>
                  </a:txBody>
                  <a:tcPr marL="36000" marR="36000" marT="51876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s-ES" altLang="es-MX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1587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s-ES" altLang="es-MX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1587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8271"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s-ES" altLang="es-MX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Promoción</a:t>
                      </a:r>
                    </a:p>
                  </a:txBody>
                  <a:tcPr marL="0" marR="0" marT="1587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s-ES" altLang="es-MX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1587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s-ES" altLang="es-MX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1587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8271"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s-ES" altLang="es-MX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RRPP</a:t>
                      </a:r>
                    </a:p>
                  </a:txBody>
                  <a:tcPr marL="0" marR="0" marT="1587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s-ES" altLang="es-MX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1587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s-ES" altLang="es-MX" sz="4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1587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AutoShape 2"/>
          <p:cNvSpPr>
            <a:spLocks noGrp="1" noChangeArrowheads="1"/>
          </p:cNvSpPr>
          <p:nvPr>
            <p:ph type="title"/>
          </p:nvPr>
        </p:nvSpPr>
        <p:spPr>
          <a:xfrm>
            <a:off x="3431704" y="-315416"/>
            <a:ext cx="8382000" cy="1143000"/>
          </a:xfrm>
        </p:spPr>
        <p:txBody>
          <a:bodyPr/>
          <a:lstStyle/>
          <a:p>
            <a:r>
              <a:rPr lang="es-MX" altLang="es-MX" sz="4000" dirty="0"/>
              <a:t>Estrategias para el PRECIO (I)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448594"/>
            <a:ext cx="10758264" cy="3960812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s-ES" altLang="es-MX" sz="3600" b="1" dirty="0">
                <a:solidFill>
                  <a:srgbClr val="000000"/>
                </a:solidFill>
              </a:rPr>
              <a:t>Factores</a:t>
            </a:r>
          </a:p>
          <a:p>
            <a:pPr lvl="1">
              <a:lnSpc>
                <a:spcPct val="80000"/>
              </a:lnSpc>
            </a:pPr>
            <a:r>
              <a:rPr lang="es-ES" altLang="es-MX" sz="3200" dirty="0">
                <a:solidFill>
                  <a:srgbClr val="000000"/>
                </a:solidFill>
              </a:rPr>
              <a:t>Internos (decisiones tomadas)</a:t>
            </a:r>
          </a:p>
          <a:p>
            <a:pPr lvl="1">
              <a:lnSpc>
                <a:spcPct val="80000"/>
              </a:lnSpc>
            </a:pPr>
            <a:r>
              <a:rPr lang="es-ES" altLang="es-MX" sz="3200" dirty="0">
                <a:solidFill>
                  <a:srgbClr val="000000"/>
                </a:solidFill>
              </a:rPr>
              <a:t>Externos (mercados, demanda, ofertas, competencia)</a:t>
            </a:r>
          </a:p>
          <a:p>
            <a:pPr>
              <a:lnSpc>
                <a:spcPct val="80000"/>
              </a:lnSpc>
            </a:pPr>
            <a:endParaRPr lang="es-ES" altLang="es-MX" sz="3600" dirty="0"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</a:pPr>
            <a:r>
              <a:rPr lang="es-ES" altLang="es-MX" sz="3600" b="1" dirty="0">
                <a:solidFill>
                  <a:srgbClr val="000000"/>
                </a:solidFill>
              </a:rPr>
              <a:t>Objetivos: Supervivencia</a:t>
            </a:r>
          </a:p>
          <a:p>
            <a:pPr lvl="1">
              <a:lnSpc>
                <a:spcPct val="80000"/>
              </a:lnSpc>
            </a:pPr>
            <a:r>
              <a:rPr lang="es-ES" altLang="es-MX" sz="3200" dirty="0">
                <a:solidFill>
                  <a:srgbClr val="000000"/>
                </a:solidFill>
              </a:rPr>
              <a:t>Optimizar Utilidades</a:t>
            </a:r>
          </a:p>
          <a:p>
            <a:pPr lvl="1">
              <a:lnSpc>
                <a:spcPct val="80000"/>
              </a:lnSpc>
            </a:pPr>
            <a:r>
              <a:rPr lang="es-ES" altLang="es-MX" sz="3200" dirty="0">
                <a:solidFill>
                  <a:srgbClr val="000000"/>
                </a:solidFill>
              </a:rPr>
              <a:t>Optimizar Crecimiento</a:t>
            </a:r>
          </a:p>
          <a:p>
            <a:pPr lvl="1">
              <a:lnSpc>
                <a:spcPct val="80000"/>
              </a:lnSpc>
            </a:pPr>
            <a:r>
              <a:rPr lang="es-ES" altLang="es-MX" sz="3200" dirty="0">
                <a:solidFill>
                  <a:srgbClr val="000000"/>
                </a:solidFill>
              </a:rPr>
              <a:t>Optimizar Cobertura</a:t>
            </a:r>
          </a:p>
          <a:p>
            <a:pPr lvl="1">
              <a:lnSpc>
                <a:spcPct val="80000"/>
              </a:lnSpc>
            </a:pPr>
            <a:r>
              <a:rPr lang="es-ES" altLang="es-MX" sz="3200" dirty="0">
                <a:solidFill>
                  <a:srgbClr val="000000"/>
                </a:solidFill>
              </a:rPr>
              <a:t>Definir bonificaciones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AutoShape 2"/>
          <p:cNvSpPr>
            <a:spLocks noGrp="1" noChangeArrowheads="1"/>
          </p:cNvSpPr>
          <p:nvPr>
            <p:ph type="title"/>
          </p:nvPr>
        </p:nvSpPr>
        <p:spPr>
          <a:xfrm>
            <a:off x="3810000" y="29975"/>
            <a:ext cx="8382000" cy="780256"/>
          </a:xfrm>
        </p:spPr>
        <p:txBody>
          <a:bodyPr/>
          <a:lstStyle/>
          <a:p>
            <a:r>
              <a:rPr lang="es-MX" altLang="es-MX" dirty="0"/>
              <a:t>Estrategias para el PRECIO (II)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268760"/>
            <a:ext cx="10801200" cy="4752528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s-ES" altLang="es-MX" sz="3200" b="1" dirty="0">
                <a:solidFill>
                  <a:srgbClr val="000000"/>
                </a:solidFill>
              </a:rPr>
              <a:t>La diferenciación por PRECIO es la última que debe considerarse, sobre todo si es una estrategia de inserción. En cambio se puede:</a:t>
            </a:r>
          </a:p>
          <a:p>
            <a:pPr lvl="1">
              <a:lnSpc>
                <a:spcPct val="90000"/>
              </a:lnSpc>
            </a:pPr>
            <a:r>
              <a:rPr lang="es-ES" altLang="es-MX" sz="2800" b="1" dirty="0"/>
              <a:t>Achicar el producto</a:t>
            </a:r>
          </a:p>
          <a:p>
            <a:pPr lvl="1">
              <a:lnSpc>
                <a:spcPct val="90000"/>
              </a:lnSpc>
            </a:pPr>
            <a:r>
              <a:rPr lang="es-ES" altLang="es-MX" sz="2800" b="1" dirty="0"/>
              <a:t>Cambiar los materiales por más baratos</a:t>
            </a:r>
          </a:p>
          <a:p>
            <a:pPr lvl="1">
              <a:lnSpc>
                <a:spcPct val="90000"/>
              </a:lnSpc>
            </a:pPr>
            <a:r>
              <a:rPr lang="es-ES" altLang="es-MX" sz="2800" b="1" dirty="0"/>
              <a:t>Reducir </a:t>
            </a:r>
            <a:r>
              <a:rPr lang="es-ES" altLang="es-MX" sz="2800" b="1" dirty="0" err="1"/>
              <a:t>ó</a:t>
            </a:r>
            <a:r>
              <a:rPr lang="es-ES" altLang="es-MX" sz="2800" b="1" dirty="0"/>
              <a:t> retirar </a:t>
            </a:r>
            <a:r>
              <a:rPr lang="es-ES" altLang="es-MX" sz="2800" b="1" dirty="0" err="1"/>
              <a:t>carácterísticas</a:t>
            </a:r>
            <a:r>
              <a:rPr lang="es-ES" altLang="es-MX" sz="2800" b="1" dirty="0"/>
              <a:t> del producto</a:t>
            </a:r>
          </a:p>
          <a:p>
            <a:pPr lvl="1">
              <a:lnSpc>
                <a:spcPct val="90000"/>
              </a:lnSpc>
            </a:pPr>
            <a:r>
              <a:rPr lang="es-ES" altLang="es-MX" sz="2800" b="1" dirty="0"/>
              <a:t>Quitar </a:t>
            </a:r>
            <a:r>
              <a:rPr lang="es-ES" altLang="es-MX" sz="2800" b="1" dirty="0" err="1"/>
              <a:t>ó</a:t>
            </a:r>
            <a:r>
              <a:rPr lang="es-ES" altLang="es-MX" sz="2800" b="1" dirty="0"/>
              <a:t> reducir servicios del producto</a:t>
            </a:r>
          </a:p>
          <a:p>
            <a:pPr lvl="1">
              <a:lnSpc>
                <a:spcPct val="90000"/>
              </a:lnSpc>
            </a:pPr>
            <a:r>
              <a:rPr lang="es-ES" altLang="es-MX" sz="2800" b="1" dirty="0"/>
              <a:t>Utilizar material de empaque más barato</a:t>
            </a:r>
          </a:p>
          <a:p>
            <a:pPr lvl="1">
              <a:lnSpc>
                <a:spcPct val="90000"/>
              </a:lnSpc>
            </a:pPr>
            <a:r>
              <a:rPr lang="es-ES" altLang="es-MX" sz="2800" b="1" dirty="0"/>
              <a:t>Ofrecer menos modelos o tamaños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AutoShape 2"/>
          <p:cNvSpPr>
            <a:spLocks noGrp="1" noChangeArrowheads="1"/>
          </p:cNvSpPr>
          <p:nvPr>
            <p:ph type="title"/>
          </p:nvPr>
        </p:nvSpPr>
        <p:spPr>
          <a:xfrm>
            <a:off x="3791744" y="0"/>
            <a:ext cx="8400256" cy="755576"/>
          </a:xfrm>
        </p:spPr>
        <p:txBody>
          <a:bodyPr/>
          <a:lstStyle/>
          <a:p>
            <a:r>
              <a:rPr lang="es-MX" altLang="es-MX" dirty="0"/>
              <a:t>Definición de Plan de Ventas (I)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44824" y="1752839"/>
            <a:ext cx="3856682" cy="490538"/>
          </a:xfrm>
          <a:noFill/>
          <a:ln/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s-ES_tradnl" altLang="es-MX" sz="3200" b="1" dirty="0"/>
              <a:t>Bottom Up</a:t>
            </a:r>
            <a:endParaRPr lang="es-ES" altLang="es-MX" sz="3200" b="1" dirty="0">
              <a:solidFill>
                <a:srgbClr val="000000"/>
              </a:solidFill>
            </a:endParaRPr>
          </a:p>
        </p:txBody>
      </p:sp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F71A4021-F451-F23A-99BB-F6F2DA4D9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346" y="1303164"/>
            <a:ext cx="4536504" cy="491454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52CEAF5-57D4-7618-8747-B8B6AA09B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968" y="4725144"/>
            <a:ext cx="3856682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_tradnl" altLang="es-MX" sz="3200" b="1" dirty="0"/>
              <a:t>Top Down</a:t>
            </a:r>
            <a:endParaRPr lang="es-ES" altLang="es-MX" sz="3200" b="1" dirty="0">
              <a:solidFill>
                <a:srgbClr val="000000"/>
              </a:solidFill>
            </a:endParaRPr>
          </a:p>
        </p:txBody>
      </p:sp>
      <p:pic>
        <p:nvPicPr>
          <p:cNvPr id="8" name="Imagen 7" descr="Tabla&#10;&#10;El contenido generado por IA puede ser incorrecto.">
            <a:extLst>
              <a:ext uri="{FF2B5EF4-FFF2-40B4-BE49-F238E27FC236}">
                <a16:creationId xmlns:a16="http://schemas.microsoft.com/office/drawing/2014/main" id="{610135D6-68AE-B025-0158-68E5EC5AE5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408" y="1303164"/>
            <a:ext cx="2450592" cy="1389888"/>
          </a:xfrm>
          <a:prstGeom prst="rect">
            <a:avLst/>
          </a:prstGeom>
        </p:spPr>
      </p:pic>
      <p:pic>
        <p:nvPicPr>
          <p:cNvPr id="16" name="Imagen 15" descr="Diagrama&#10;&#10;El contenido generado por IA puede ser incorrecto.">
            <a:extLst>
              <a:ext uri="{FF2B5EF4-FFF2-40B4-BE49-F238E27FC236}">
                <a16:creationId xmlns:a16="http://schemas.microsoft.com/office/drawing/2014/main" id="{B88B409A-7372-77C2-010F-0D14A041B8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139" y="2693053"/>
            <a:ext cx="4278946" cy="394220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Gráfico&#10;&#10;Descripción generada automáticamente con confianza media">
            <a:extLst>
              <a:ext uri="{FF2B5EF4-FFF2-40B4-BE49-F238E27FC236}">
                <a16:creationId xmlns:a16="http://schemas.microsoft.com/office/drawing/2014/main" id="{BF467321-3BEC-49F9-BC1F-92409C00C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1700808"/>
            <a:ext cx="9217024" cy="4286720"/>
          </a:xfrm>
          <a:prstGeom prst="rect">
            <a:avLst/>
          </a:prstGeom>
        </p:spPr>
      </p:pic>
      <p:sp>
        <p:nvSpPr>
          <p:cNvPr id="27650" name="AutoShape 2"/>
          <p:cNvSpPr>
            <a:spLocks noGrp="1" noChangeArrowheads="1"/>
          </p:cNvSpPr>
          <p:nvPr>
            <p:ph type="title"/>
          </p:nvPr>
        </p:nvSpPr>
        <p:spPr>
          <a:xfrm>
            <a:off x="3783294" y="0"/>
            <a:ext cx="8408706" cy="836712"/>
          </a:xfrm>
        </p:spPr>
        <p:txBody>
          <a:bodyPr/>
          <a:lstStyle/>
          <a:p>
            <a:r>
              <a:rPr lang="es-MX" altLang="es-MX" dirty="0">
                <a:solidFill>
                  <a:schemeClr val="tx1"/>
                </a:solidFill>
              </a:rPr>
              <a:t>Plan de Ventas- Prefactibilidad</a:t>
            </a: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F173DCE6-25B4-4F45-9DA2-5D349C4FC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316" y="1196752"/>
            <a:ext cx="10257367" cy="3724275"/>
          </a:xfrm>
        </p:spPr>
        <p:txBody>
          <a:bodyPr/>
          <a:lstStyle/>
          <a:p>
            <a:r>
              <a:rPr lang="es-AR" dirty="0"/>
              <a:t>SOLO EN ESTA ETAPA ES VALIDO SIMPLIFICAR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4092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AutoShape 2"/>
          <p:cNvSpPr>
            <a:spLocks noGrp="1" noChangeArrowheads="1"/>
          </p:cNvSpPr>
          <p:nvPr>
            <p:ph type="title"/>
          </p:nvPr>
        </p:nvSpPr>
        <p:spPr>
          <a:xfrm>
            <a:off x="2616619" y="-387424"/>
            <a:ext cx="10566400" cy="1143000"/>
          </a:xfrm>
        </p:spPr>
        <p:txBody>
          <a:bodyPr/>
          <a:lstStyle/>
          <a:p>
            <a:r>
              <a:rPr lang="es-MX" altLang="es-MX" dirty="0"/>
              <a:t>Plan de Ventas- Prefactibilidad</a:t>
            </a:r>
          </a:p>
        </p:txBody>
      </p:sp>
      <p:graphicFrame>
        <p:nvGraphicFramePr>
          <p:cNvPr id="104539" name="Group 91"/>
          <p:cNvGraphicFramePr>
            <a:graphicFrameLocks noGrp="1"/>
          </p:cNvGraphicFramePr>
          <p:nvPr>
            <p:ph type="tbl" idx="1"/>
          </p:nvPr>
        </p:nvGraphicFramePr>
        <p:xfrm>
          <a:off x="1091444" y="1330095"/>
          <a:ext cx="10009111" cy="2050052"/>
        </p:xfrm>
        <a:graphic>
          <a:graphicData uri="http://schemas.openxmlformats.org/drawingml/2006/table">
            <a:tbl>
              <a:tblPr/>
              <a:tblGrid>
                <a:gridCol w="2844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2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2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2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2338"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</a:pPr>
                      <a:endParaRPr kumimoji="0" lang="es-ES" altLang="es-MX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87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</a:pPr>
                      <a:r>
                        <a:rPr kumimoji="0" lang="es-ES" altLang="es-MX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Año 1</a:t>
                      </a:r>
                    </a:p>
                  </a:txBody>
                  <a:tcPr marL="0" marR="0" marT="1587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</a:pPr>
                      <a:r>
                        <a:rPr kumimoji="0" lang="es-ES" altLang="es-MX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Año 2</a:t>
                      </a:r>
                    </a:p>
                  </a:txBody>
                  <a:tcPr marL="0" marR="0" marT="1587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</a:pPr>
                      <a:r>
                        <a:rPr kumimoji="0" lang="es-ES" altLang="es-MX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Año 3</a:t>
                      </a:r>
                    </a:p>
                  </a:txBody>
                  <a:tcPr marL="0" marR="0" marT="1587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</a:pPr>
                      <a:r>
                        <a:rPr kumimoji="0" lang="es-ES" altLang="es-MX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Año 4</a:t>
                      </a:r>
                    </a:p>
                  </a:txBody>
                  <a:tcPr marL="0" marR="0" marT="1587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</a:pPr>
                      <a:r>
                        <a:rPr kumimoji="0" lang="es-ES" altLang="es-MX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Año 5</a:t>
                      </a:r>
                    </a:p>
                  </a:txBody>
                  <a:tcPr marL="0" marR="0" marT="1587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768"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</a:pPr>
                      <a:r>
                        <a:rPr kumimoji="0" lang="es-ES" altLang="es-MX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Cantidad (unid)</a:t>
                      </a:r>
                    </a:p>
                  </a:txBody>
                  <a:tcPr marL="0" marR="0" marT="1587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</a:pPr>
                      <a:r>
                        <a:rPr kumimoji="0" lang="es-ES" altLang="es-MX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1.500</a:t>
                      </a:r>
                    </a:p>
                  </a:txBody>
                  <a:tcPr marL="0" marR="0" marT="132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</a:pPr>
                      <a:r>
                        <a:rPr kumimoji="0" lang="es-ES" altLang="es-MX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2.000</a:t>
                      </a:r>
                    </a:p>
                  </a:txBody>
                  <a:tcPr marL="0" marR="0" marT="132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</a:pPr>
                      <a:r>
                        <a:rPr kumimoji="0" lang="es-ES" altLang="es-MX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2.000</a:t>
                      </a:r>
                    </a:p>
                  </a:txBody>
                  <a:tcPr marL="0" marR="0" marT="132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</a:pPr>
                      <a:r>
                        <a:rPr kumimoji="0" lang="es-ES" altLang="es-MX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2.000</a:t>
                      </a:r>
                    </a:p>
                  </a:txBody>
                  <a:tcPr marL="0" marR="0" marT="132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</a:pPr>
                      <a:r>
                        <a:rPr kumimoji="0" lang="es-ES" altLang="es-MX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2.000</a:t>
                      </a:r>
                    </a:p>
                  </a:txBody>
                  <a:tcPr marL="0" marR="0" marT="132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768"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</a:pPr>
                      <a:r>
                        <a:rPr kumimoji="0" lang="es-ES" altLang="es-MX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Precio (miles $)</a:t>
                      </a:r>
                    </a:p>
                  </a:txBody>
                  <a:tcPr marL="0" marR="0" marT="1587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</a:pPr>
                      <a:r>
                        <a:rPr kumimoji="0" lang="es-ES" altLang="es-MX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30.000</a:t>
                      </a:r>
                    </a:p>
                  </a:txBody>
                  <a:tcPr marL="0" marR="0" marT="132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</a:pPr>
                      <a:r>
                        <a:rPr kumimoji="0" lang="es-ES" altLang="es-MX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40.000</a:t>
                      </a:r>
                    </a:p>
                  </a:txBody>
                  <a:tcPr marL="0" marR="0" marT="132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</a:pPr>
                      <a:r>
                        <a:rPr kumimoji="0" lang="es-ES" altLang="es-MX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40.000</a:t>
                      </a:r>
                    </a:p>
                  </a:txBody>
                  <a:tcPr marL="0" marR="0" marT="132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</a:pPr>
                      <a:r>
                        <a:rPr kumimoji="0" lang="es-ES" altLang="es-MX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40.000</a:t>
                      </a:r>
                    </a:p>
                  </a:txBody>
                  <a:tcPr marL="0" marR="0" marT="132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tc>
                  <a:txBody>
                    <a:bodyPr/>
                    <a:lstStyle>
                      <a:lvl1pPr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defTabSz="449263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</a:tabLst>
                      </a:pPr>
                      <a:r>
                        <a:rPr kumimoji="0" lang="es-ES" altLang="es-MX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40.000</a:t>
                      </a:r>
                    </a:p>
                  </a:txBody>
                  <a:tcPr marL="0" marR="0" marT="132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4533" name="Text Box 85"/>
          <p:cNvSpPr txBox="1">
            <a:spLocks noChangeArrowheads="1"/>
          </p:cNvSpPr>
          <p:nvPr/>
        </p:nvSpPr>
        <p:spPr bwMode="auto">
          <a:xfrm>
            <a:off x="1415480" y="3737815"/>
            <a:ext cx="4837112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60876" rIns="90000" bIns="45000"/>
          <a:lstStyle>
            <a:lvl1pPr defTabSz="44926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hangingPunct="0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s-ES" altLang="es-MX" sz="2800" b="1" dirty="0">
                <a:solidFill>
                  <a:srgbClr val="000000"/>
                </a:solidFill>
              </a:rPr>
              <a:t>Vida útil del proyecto = Período de análisis</a:t>
            </a:r>
          </a:p>
        </p:txBody>
      </p:sp>
      <p:sp>
        <p:nvSpPr>
          <p:cNvPr id="104534" name="Text Box 86"/>
          <p:cNvSpPr txBox="1">
            <a:spLocks noChangeArrowheads="1"/>
          </p:cNvSpPr>
          <p:nvPr/>
        </p:nvSpPr>
        <p:spPr bwMode="auto">
          <a:xfrm>
            <a:off x="1415480" y="4448405"/>
            <a:ext cx="10369152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57347" rIns="90000" bIns="45000"/>
          <a:lstStyle>
            <a:lvl1pPr defTabSz="44926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hangingPunct="0">
              <a:lnSpc>
                <a:spcPct val="93000"/>
              </a:lnSpc>
              <a:buClr>
                <a:srgbClr val="000000"/>
              </a:buClr>
              <a:buSzPct val="100000"/>
              <a:buFontTx/>
              <a:buChar char="•"/>
            </a:pPr>
            <a:r>
              <a:rPr lang="es-ES" altLang="es-MX" sz="2800" dirty="0">
                <a:solidFill>
                  <a:srgbClr val="000000"/>
                </a:solidFill>
              </a:rPr>
              <a:t>Sólo a fines de simplificar los cálculos hacemos constantes las cantidades del año 2 en adelante</a:t>
            </a:r>
          </a:p>
          <a:p>
            <a:pPr hangingPunct="0">
              <a:lnSpc>
                <a:spcPct val="93000"/>
              </a:lnSpc>
              <a:buClr>
                <a:srgbClr val="000000"/>
              </a:buClr>
              <a:buSzPct val="100000"/>
              <a:buFontTx/>
              <a:buChar char="•"/>
            </a:pPr>
            <a:r>
              <a:rPr lang="es-ES" altLang="es-MX" sz="2800" dirty="0">
                <a:solidFill>
                  <a:srgbClr val="000000"/>
                </a:solidFill>
              </a:rPr>
              <a:t>No poner números como 34050070,123</a:t>
            </a:r>
          </a:p>
          <a:p>
            <a:pPr hangingPunct="0">
              <a:lnSpc>
                <a:spcPct val="93000"/>
              </a:lnSpc>
              <a:buClr>
                <a:srgbClr val="000000"/>
              </a:buClr>
              <a:buSzPct val="100000"/>
              <a:buFontTx/>
              <a:buChar char="•"/>
            </a:pPr>
            <a:r>
              <a:rPr lang="es-ES" altLang="es-MX" sz="2800" dirty="0">
                <a:solidFill>
                  <a:srgbClr val="000000"/>
                </a:solidFill>
              </a:rPr>
              <a:t>Los años son genéricos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2"/>
          <p:cNvSpPr>
            <a:spLocks noGrp="1" noChangeArrowheads="1"/>
          </p:cNvSpPr>
          <p:nvPr>
            <p:ph type="title"/>
          </p:nvPr>
        </p:nvSpPr>
        <p:spPr>
          <a:xfrm>
            <a:off x="3791744" y="0"/>
            <a:ext cx="8400255" cy="832148"/>
          </a:xfrm>
        </p:spPr>
        <p:txBody>
          <a:bodyPr/>
          <a:lstStyle/>
          <a:p>
            <a:r>
              <a:rPr lang="es-MX" altLang="es-MX" dirty="0">
                <a:solidFill>
                  <a:schemeClr val="tx1"/>
                </a:solidFill>
              </a:rPr>
              <a:t>PLAN de VENTAS- </a:t>
            </a:r>
            <a:r>
              <a:rPr lang="es-MX" altLang="es-MX" sz="2800" dirty="0">
                <a:solidFill>
                  <a:schemeClr val="tx1"/>
                </a:solidFill>
              </a:rPr>
              <a:t>Factibilidad Definitiva</a:t>
            </a:r>
            <a:endParaRPr lang="es-MX" altLang="es-MX" dirty="0">
              <a:solidFill>
                <a:schemeClr val="tx1"/>
              </a:solidFill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57B802EE-F742-40D7-86D6-47908C6AE3FF}"/>
              </a:ext>
            </a:extLst>
          </p:cNvPr>
          <p:cNvSpPr txBox="1">
            <a:spLocks/>
          </p:cNvSpPr>
          <p:nvPr/>
        </p:nvSpPr>
        <p:spPr bwMode="auto">
          <a:xfrm>
            <a:off x="1199456" y="1412776"/>
            <a:ext cx="10257367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600" dirty="0"/>
              <a:t>Es un proceso Iterativo que surge de: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AR" sz="3200" dirty="0"/>
              <a:t>Búsqueda de información anterior (incluye toda la Prefactibilidad)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AR" sz="3200" dirty="0"/>
              <a:t>Toma de decisiones anteriores 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AR" sz="3200" dirty="0"/>
              <a:t>Necesidades de mostrar crecimiento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AR" sz="3200" dirty="0"/>
              <a:t>La sumatoria de todos los productos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AR" sz="3200" dirty="0"/>
              <a:t>La toma de decisión de Desembolsos (Gastos e Inversiones) Comerciales</a:t>
            </a:r>
          </a:p>
          <a:p>
            <a:pPr lvl="1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615030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2"/>
          <p:cNvSpPr>
            <a:spLocks noGrp="1" noChangeArrowheads="1"/>
          </p:cNvSpPr>
          <p:nvPr>
            <p:ph type="title"/>
          </p:nvPr>
        </p:nvSpPr>
        <p:spPr>
          <a:xfrm>
            <a:off x="3791744" y="0"/>
            <a:ext cx="8400255" cy="832148"/>
          </a:xfrm>
        </p:spPr>
        <p:txBody>
          <a:bodyPr/>
          <a:lstStyle/>
          <a:p>
            <a:r>
              <a:rPr kumimoji="0" lang="es-MX" altLang="es-MX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PLAN de VENTAS- </a:t>
            </a:r>
            <a:r>
              <a:rPr kumimoji="0" lang="es-MX" altLang="es-MX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Factibilidad Definitiva</a:t>
            </a:r>
            <a:endParaRPr lang="es-MX" altLang="es-MX" dirty="0">
              <a:solidFill>
                <a:schemeClr val="tx1"/>
              </a:solidFill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57B802EE-F742-40D7-86D6-47908C6AE3FF}"/>
              </a:ext>
            </a:extLst>
          </p:cNvPr>
          <p:cNvSpPr txBox="1">
            <a:spLocks/>
          </p:cNvSpPr>
          <p:nvPr/>
        </p:nvSpPr>
        <p:spPr bwMode="auto">
          <a:xfrm>
            <a:off x="1199456" y="1412776"/>
            <a:ext cx="10257367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dirty="0"/>
              <a:t>Gráficamente tiende a verse de la siguiente manera</a:t>
            </a:r>
            <a:endParaRPr lang="es-AR" dirty="0"/>
          </a:p>
          <a:p>
            <a:pPr lvl="1"/>
            <a:endParaRPr lang="en-US" sz="2800" dirty="0"/>
          </a:p>
        </p:txBody>
      </p:sp>
      <p:pic>
        <p:nvPicPr>
          <p:cNvPr id="3" name="Imagen 2" descr="Gráfico, Gráfico de líneas&#10;&#10;Descripción generada automáticamente">
            <a:extLst>
              <a:ext uri="{FF2B5EF4-FFF2-40B4-BE49-F238E27FC236}">
                <a16:creationId xmlns:a16="http://schemas.microsoft.com/office/drawing/2014/main" id="{445BA298-E692-4DC7-B875-94438395B4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263" y="2114256"/>
            <a:ext cx="9649072" cy="448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3404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2"/>
          <p:cNvSpPr>
            <a:spLocks noGrp="1" noChangeArrowheads="1"/>
          </p:cNvSpPr>
          <p:nvPr>
            <p:ph type="title"/>
          </p:nvPr>
        </p:nvSpPr>
        <p:spPr>
          <a:xfrm>
            <a:off x="3791744" y="0"/>
            <a:ext cx="8400255" cy="832148"/>
          </a:xfrm>
        </p:spPr>
        <p:txBody>
          <a:bodyPr/>
          <a:lstStyle/>
          <a:p>
            <a:r>
              <a:rPr lang="es-MX" altLang="es-MX" dirty="0">
                <a:solidFill>
                  <a:schemeClr val="tx1"/>
                </a:solidFill>
              </a:rPr>
              <a:t>1. Búsqueda de Información Anterior </a:t>
            </a: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57B802EE-F742-40D7-86D6-47908C6AE3FF}"/>
              </a:ext>
            </a:extLst>
          </p:cNvPr>
          <p:cNvSpPr txBox="1">
            <a:spLocks/>
          </p:cNvSpPr>
          <p:nvPr/>
        </p:nvSpPr>
        <p:spPr bwMode="auto">
          <a:xfrm>
            <a:off x="967316" y="1268760"/>
            <a:ext cx="10745308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s-AR" sz="3200" dirty="0"/>
              <a:t>En este punto ya se investigo en profundidad los mercados proveedores, competidores y consumidores</a:t>
            </a:r>
          </a:p>
          <a:p>
            <a:pPr marL="457200" lvl="1" indent="0">
              <a:buNone/>
            </a:pPr>
            <a:r>
              <a:rPr lang="es-AR" sz="3200" dirty="0"/>
              <a:t>PERO también se tiene información de máquinas, ubicaciones, inversiones necesarias a nivel de prefactibilidad</a:t>
            </a:r>
          </a:p>
          <a:p>
            <a:pPr marL="457200" lvl="1" indent="0">
              <a:buNone/>
            </a:pPr>
            <a:r>
              <a:rPr lang="es-AR" sz="3200" dirty="0"/>
              <a:t>ESTO ME VA A DAR IDEAS de:</a:t>
            </a:r>
          </a:p>
          <a:p>
            <a:pPr marL="457200" lvl="1" indent="0">
              <a:buNone/>
            </a:pPr>
            <a:r>
              <a:rPr lang="es-AR" sz="3200" dirty="0"/>
              <a:t>% de Mercado Meta Penetrado (Es distinto un mercado segmentado que uno atomizado por ejemplo)</a:t>
            </a:r>
          </a:p>
          <a:p>
            <a:pPr marL="457200" lvl="1" indent="0">
              <a:buNone/>
            </a:pPr>
            <a:r>
              <a:rPr lang="es-AR" sz="3200" dirty="0"/>
              <a:t>Idea de tamaño e inversiones en maquinas disponibles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5A1E943-8A53-9679-EC91-D730E2DF5358}"/>
              </a:ext>
            </a:extLst>
          </p:cNvPr>
          <p:cNvSpPr txBox="1"/>
          <p:nvPr/>
        </p:nvSpPr>
        <p:spPr>
          <a:xfrm>
            <a:off x="191344" y="46742"/>
            <a:ext cx="36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s-MX" altLang="es-MX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PLAN de VENTAS</a:t>
            </a:r>
          </a:p>
          <a:p>
            <a:pPr algn="ctr"/>
            <a:r>
              <a:rPr lang="es-MX" sz="24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Factibilidad Definitiva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4221865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2"/>
          <p:cNvSpPr>
            <a:spLocks noGrp="1" noChangeArrowheads="1"/>
          </p:cNvSpPr>
          <p:nvPr>
            <p:ph type="title"/>
          </p:nvPr>
        </p:nvSpPr>
        <p:spPr>
          <a:xfrm>
            <a:off x="3791744" y="0"/>
            <a:ext cx="8400255" cy="832148"/>
          </a:xfrm>
        </p:spPr>
        <p:txBody>
          <a:bodyPr/>
          <a:lstStyle/>
          <a:p>
            <a:r>
              <a:rPr lang="es-MX" altLang="es-MX" dirty="0">
                <a:solidFill>
                  <a:schemeClr val="tx1"/>
                </a:solidFill>
              </a:rPr>
              <a:t>2. Toma de Decisiones Anteriores</a:t>
            </a: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57B802EE-F742-40D7-86D6-47908C6AE3FF}"/>
              </a:ext>
            </a:extLst>
          </p:cNvPr>
          <p:cNvSpPr txBox="1">
            <a:spLocks/>
          </p:cNvSpPr>
          <p:nvPr/>
        </p:nvSpPr>
        <p:spPr bwMode="auto">
          <a:xfrm>
            <a:off x="1199456" y="1412776"/>
            <a:ext cx="10257367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3600" dirty="0"/>
              <a:t>Se han ido tomando decisiones de </a:t>
            </a:r>
          </a:p>
          <a:p>
            <a:pPr lvl="1"/>
            <a:r>
              <a:rPr lang="es-AR" sz="3200" dirty="0"/>
              <a:t>Plaza</a:t>
            </a:r>
          </a:p>
          <a:p>
            <a:pPr lvl="1"/>
            <a:r>
              <a:rPr lang="es-AR" sz="3200" dirty="0"/>
              <a:t>Precio</a:t>
            </a:r>
          </a:p>
          <a:p>
            <a:pPr lvl="1"/>
            <a:r>
              <a:rPr lang="es-AR" sz="3200" dirty="0"/>
              <a:t>Producto (amplitud y profundidad de la línea, Producto aumentado)</a:t>
            </a:r>
          </a:p>
          <a:p>
            <a:pPr lvl="1"/>
            <a:r>
              <a:rPr lang="es-AR" sz="3200" dirty="0"/>
              <a:t>Promoción</a:t>
            </a:r>
          </a:p>
          <a:p>
            <a:pPr lvl="1"/>
            <a:r>
              <a:rPr lang="es-AR" sz="3200" dirty="0"/>
              <a:t>Perfil del consumidor</a:t>
            </a:r>
            <a:r>
              <a:rPr lang="es-AR" sz="3600" dirty="0"/>
              <a:t>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8587580-6948-8525-F2BB-9FC2B7D8D99B}"/>
              </a:ext>
            </a:extLst>
          </p:cNvPr>
          <p:cNvSpPr txBox="1"/>
          <p:nvPr/>
        </p:nvSpPr>
        <p:spPr>
          <a:xfrm>
            <a:off x="191344" y="46742"/>
            <a:ext cx="36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s-MX" altLang="es-MX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PLAN de VENTAS</a:t>
            </a:r>
          </a:p>
          <a:p>
            <a:pPr algn="ctr"/>
            <a:r>
              <a:rPr lang="es-MX" sz="24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Factibilidad Definitiva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7402240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2"/>
          <p:cNvSpPr>
            <a:spLocks noGrp="1" noChangeArrowheads="1"/>
          </p:cNvSpPr>
          <p:nvPr>
            <p:ph type="title"/>
          </p:nvPr>
        </p:nvSpPr>
        <p:spPr>
          <a:xfrm>
            <a:off x="3791744" y="0"/>
            <a:ext cx="8400255" cy="832148"/>
          </a:xfrm>
        </p:spPr>
        <p:txBody>
          <a:bodyPr/>
          <a:lstStyle/>
          <a:p>
            <a:r>
              <a:rPr lang="es-MX" altLang="es-MX" dirty="0">
                <a:solidFill>
                  <a:schemeClr val="tx1"/>
                </a:solidFill>
              </a:rPr>
              <a:t>3. Necesidad de Mostrar Crecimiento</a:t>
            </a: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57B802EE-F742-40D7-86D6-47908C6AE3FF}"/>
              </a:ext>
            </a:extLst>
          </p:cNvPr>
          <p:cNvSpPr txBox="1">
            <a:spLocks/>
          </p:cNvSpPr>
          <p:nvPr/>
        </p:nvSpPr>
        <p:spPr bwMode="auto">
          <a:xfrm>
            <a:off x="1199456" y="1412776"/>
            <a:ext cx="10257367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3600" dirty="0"/>
              <a:t>Ahora hace falta ordenar y tomar decisiones de COMO y CUANDO hacer los planes. ¿Para qué?</a:t>
            </a:r>
          </a:p>
          <a:p>
            <a:pPr>
              <a:buFontTx/>
              <a:buChar char="-"/>
            </a:pPr>
            <a:r>
              <a:rPr lang="es-AR" sz="3600" dirty="0"/>
              <a:t>Para que el inversor vea que el flujo es creciente</a:t>
            </a:r>
          </a:p>
          <a:p>
            <a:pPr>
              <a:buFontTx/>
              <a:buChar char="-"/>
            </a:pPr>
            <a:r>
              <a:rPr lang="es-AR" sz="3600" dirty="0"/>
              <a:t>Para evitar que tenga que hacer una Inversión inicial significativa Comercial contando con información indirecta del mercado</a:t>
            </a:r>
          </a:p>
          <a:p>
            <a:pPr lvl="1"/>
            <a:endParaRPr lang="en-US" sz="32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B25965F-B4A7-9BAE-B2EF-37B178CBE1FF}"/>
              </a:ext>
            </a:extLst>
          </p:cNvPr>
          <p:cNvSpPr txBox="1"/>
          <p:nvPr/>
        </p:nvSpPr>
        <p:spPr>
          <a:xfrm>
            <a:off x="191344" y="46742"/>
            <a:ext cx="36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s-MX" altLang="es-MX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PLAN de VENTAS</a:t>
            </a:r>
          </a:p>
          <a:p>
            <a:pPr algn="ctr"/>
            <a:r>
              <a:rPr lang="es-MX" sz="24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Factibilidad Definitiva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2713276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2"/>
          <p:cNvSpPr>
            <a:spLocks noGrp="1" noChangeArrowheads="1"/>
          </p:cNvSpPr>
          <p:nvPr>
            <p:ph type="title"/>
          </p:nvPr>
        </p:nvSpPr>
        <p:spPr>
          <a:xfrm>
            <a:off x="3791744" y="0"/>
            <a:ext cx="8400255" cy="832148"/>
          </a:xfrm>
        </p:spPr>
        <p:txBody>
          <a:bodyPr/>
          <a:lstStyle/>
          <a:p>
            <a:r>
              <a:rPr lang="es-MX" altLang="es-MX" dirty="0">
                <a:solidFill>
                  <a:schemeClr val="tx1"/>
                </a:solidFill>
              </a:rPr>
              <a:t>3. Necesidad de Mostrar Crecimiento</a:t>
            </a: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57B802EE-F742-40D7-86D6-47908C6AE3FF}"/>
              </a:ext>
            </a:extLst>
          </p:cNvPr>
          <p:cNvSpPr txBox="1">
            <a:spLocks/>
          </p:cNvSpPr>
          <p:nvPr/>
        </p:nvSpPr>
        <p:spPr bwMode="auto">
          <a:xfrm>
            <a:off x="1199456" y="1412776"/>
            <a:ext cx="10513168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dirty="0"/>
              <a:t>CRECIMIENTO VEGETATIVO</a:t>
            </a:r>
          </a:p>
          <a:p>
            <a:pPr lvl="1"/>
            <a:r>
              <a:rPr lang="es-AR" sz="2800" dirty="0"/>
              <a:t>Está dado por el nivel de gastos en promoción y publicidad que se haga a lo largo de los años.</a:t>
            </a:r>
          </a:p>
          <a:p>
            <a:pPr lvl="1"/>
            <a:r>
              <a:rPr lang="es-AR" sz="2800" dirty="0"/>
              <a:t>Si no se hace esfuerzo, no se va a crecer</a:t>
            </a:r>
          </a:p>
          <a:p>
            <a:pPr lvl="1"/>
            <a:r>
              <a:rPr lang="es-AR" sz="2800" dirty="0"/>
              <a:t>Surgen del análisis de los mercados y su tendencia a crecer.</a:t>
            </a:r>
          </a:p>
          <a:p>
            <a:pPr lvl="1"/>
            <a:r>
              <a:rPr lang="es-AR" sz="2800" dirty="0"/>
              <a:t>En mercados de consumos masivos establecidos, la tendencias es entre un 1 y 3%, en mercados novedosos puede ir desde un 10% hasta un 20% anual.</a:t>
            </a:r>
          </a:p>
          <a:p>
            <a:r>
              <a:rPr lang="es-AR" sz="3200" dirty="0"/>
              <a:t>CRECIMIENTO DISRUPTIVO</a:t>
            </a:r>
          </a:p>
          <a:p>
            <a:pPr marL="457200" lvl="1" indent="0">
              <a:buNone/>
            </a:pPr>
            <a:endParaRPr lang="en-US" sz="28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349062F-112C-0B20-17AC-9EF56C05B557}"/>
              </a:ext>
            </a:extLst>
          </p:cNvPr>
          <p:cNvSpPr txBox="1"/>
          <p:nvPr/>
        </p:nvSpPr>
        <p:spPr>
          <a:xfrm>
            <a:off x="191344" y="46742"/>
            <a:ext cx="36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s-MX" altLang="es-MX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PLAN de VENTAS</a:t>
            </a:r>
          </a:p>
          <a:p>
            <a:pPr algn="ctr"/>
            <a:r>
              <a:rPr lang="es-MX" sz="24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Factibilidad Definitiva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35091640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2"/>
          <p:cNvSpPr>
            <a:spLocks noGrp="1" noChangeArrowheads="1"/>
          </p:cNvSpPr>
          <p:nvPr>
            <p:ph type="title"/>
          </p:nvPr>
        </p:nvSpPr>
        <p:spPr>
          <a:xfrm>
            <a:off x="3791744" y="0"/>
            <a:ext cx="8400255" cy="832148"/>
          </a:xfrm>
        </p:spPr>
        <p:txBody>
          <a:bodyPr/>
          <a:lstStyle/>
          <a:p>
            <a:r>
              <a:rPr lang="es-MX" altLang="es-MX" dirty="0">
                <a:solidFill>
                  <a:schemeClr val="tx1"/>
                </a:solidFill>
              </a:rPr>
              <a:t>3. Necesidad de Mostrar Crecimiento</a:t>
            </a: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57B802EE-F742-40D7-86D6-47908C6AE3FF}"/>
              </a:ext>
            </a:extLst>
          </p:cNvPr>
          <p:cNvSpPr txBox="1">
            <a:spLocks/>
          </p:cNvSpPr>
          <p:nvPr/>
        </p:nvSpPr>
        <p:spPr bwMode="auto">
          <a:xfrm>
            <a:off x="1199456" y="1196752"/>
            <a:ext cx="10257367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dirty="0"/>
              <a:t>CRECIMIENTO VEGETATIVO</a:t>
            </a:r>
          </a:p>
          <a:p>
            <a:r>
              <a:rPr lang="es-AR" sz="3200" dirty="0"/>
              <a:t>CRECIMIENTO DISRUPTIVO</a:t>
            </a:r>
          </a:p>
          <a:p>
            <a:pPr lvl="1"/>
            <a:r>
              <a:rPr lang="es-AR" sz="2800" dirty="0"/>
              <a:t>Está dado por las inversiones en promoción y publicidad (además del aumento de las inversiones consecuentes en Activos Fijo y Activos de Trabajo) que se hacen en distintos momentos para ampliar las ventas.</a:t>
            </a:r>
          </a:p>
          <a:p>
            <a:pPr lvl="1"/>
            <a:r>
              <a:rPr lang="es-AR" sz="2800" dirty="0"/>
              <a:t>Parte de la decisión de:</a:t>
            </a:r>
          </a:p>
          <a:p>
            <a:pPr lvl="2"/>
            <a:r>
              <a:rPr lang="es-AR" sz="2400" dirty="0"/>
              <a:t>Ampliar la línea de productos</a:t>
            </a:r>
          </a:p>
          <a:p>
            <a:pPr lvl="2"/>
            <a:r>
              <a:rPr lang="es-AR" sz="2400" dirty="0"/>
              <a:t>Ir a nuevos mercados (Geográficos, etarios, tamaño de ventas)</a:t>
            </a:r>
          </a:p>
          <a:p>
            <a:pPr lvl="2"/>
            <a:r>
              <a:rPr lang="es-AR" sz="2400" dirty="0"/>
              <a:t>Aumentar los canales (PLAZA)</a:t>
            </a:r>
          </a:p>
          <a:p>
            <a:pPr lvl="1"/>
            <a:endParaRPr lang="en-US" sz="28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95F9235-FA45-8705-1FA0-013C1E265193}"/>
              </a:ext>
            </a:extLst>
          </p:cNvPr>
          <p:cNvSpPr txBox="1"/>
          <p:nvPr/>
        </p:nvSpPr>
        <p:spPr>
          <a:xfrm>
            <a:off x="191344" y="46742"/>
            <a:ext cx="36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s-MX" altLang="es-MX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PLAN de VENTAS</a:t>
            </a:r>
          </a:p>
          <a:p>
            <a:pPr algn="ctr"/>
            <a:r>
              <a:rPr lang="es-MX" sz="24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Factibilidad Definitiva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32373461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2"/>
          <p:cNvSpPr>
            <a:spLocks noGrp="1" noChangeArrowheads="1"/>
          </p:cNvSpPr>
          <p:nvPr>
            <p:ph type="title"/>
          </p:nvPr>
        </p:nvSpPr>
        <p:spPr>
          <a:xfrm>
            <a:off x="3791744" y="0"/>
            <a:ext cx="8400255" cy="832148"/>
          </a:xfrm>
        </p:spPr>
        <p:txBody>
          <a:bodyPr/>
          <a:lstStyle/>
          <a:p>
            <a:r>
              <a:rPr lang="es-MX" altLang="es-MX" dirty="0">
                <a:solidFill>
                  <a:schemeClr val="tx1"/>
                </a:solidFill>
              </a:rPr>
              <a:t>4. Sumatoria de todos los Productos</a:t>
            </a: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57B802EE-F742-40D7-86D6-47908C6AE3FF}"/>
              </a:ext>
            </a:extLst>
          </p:cNvPr>
          <p:cNvSpPr txBox="1">
            <a:spLocks/>
          </p:cNvSpPr>
          <p:nvPr/>
        </p:nvSpPr>
        <p:spPr bwMode="auto">
          <a:xfrm>
            <a:off x="1199456" y="1412776"/>
            <a:ext cx="10257367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dirty="0"/>
              <a:t>No existen en realidad 1 solo plan de ventas que se elabora al unísono, sino que es la sumatoria de todos los productos y decisiones en distintos momentos.</a:t>
            </a:r>
          </a:p>
          <a:p>
            <a:r>
              <a:rPr lang="es-AR" sz="3200" dirty="0"/>
              <a:t>Plan de Ventas (en unidades de comercialización)</a:t>
            </a:r>
          </a:p>
          <a:p>
            <a:pPr marL="457200" lvl="1" indent="0">
              <a:buNone/>
            </a:pPr>
            <a:endParaRPr lang="en-US" sz="2800" dirty="0"/>
          </a:p>
        </p:txBody>
      </p:sp>
      <p:pic>
        <p:nvPicPr>
          <p:cNvPr id="3" name="Imagen 2" descr="Imagen de la pantalla de un celular con letras&#10;&#10;Descripción generada automáticamente con confianza baja">
            <a:extLst>
              <a:ext uri="{FF2B5EF4-FFF2-40B4-BE49-F238E27FC236}">
                <a16:creationId xmlns:a16="http://schemas.microsoft.com/office/drawing/2014/main" id="{CE80B205-06D2-45E4-8AE6-AD90B9766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472" y="3645024"/>
            <a:ext cx="9308331" cy="259228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9E96C9E-3074-A544-4301-7D0CB445DBE3}"/>
              </a:ext>
            </a:extLst>
          </p:cNvPr>
          <p:cNvSpPr txBox="1"/>
          <p:nvPr/>
        </p:nvSpPr>
        <p:spPr>
          <a:xfrm>
            <a:off x="191344" y="46742"/>
            <a:ext cx="36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s-MX" altLang="es-MX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PLAN de VENTAS</a:t>
            </a:r>
          </a:p>
          <a:p>
            <a:pPr algn="ctr"/>
            <a:r>
              <a:rPr lang="es-MX" sz="24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Factibilidad Definitiva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42315257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2"/>
          <p:cNvSpPr>
            <a:spLocks noGrp="1" noChangeArrowheads="1"/>
          </p:cNvSpPr>
          <p:nvPr>
            <p:ph type="title"/>
          </p:nvPr>
        </p:nvSpPr>
        <p:spPr>
          <a:xfrm>
            <a:off x="3791744" y="0"/>
            <a:ext cx="8400255" cy="832148"/>
          </a:xfrm>
        </p:spPr>
        <p:txBody>
          <a:bodyPr/>
          <a:lstStyle/>
          <a:p>
            <a:r>
              <a:rPr lang="es-MX" altLang="es-MX" dirty="0">
                <a:solidFill>
                  <a:schemeClr val="tx1"/>
                </a:solidFill>
              </a:rPr>
              <a:t>4. Sumatoria de todos los Productos</a:t>
            </a: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57B802EE-F742-40D7-86D6-47908C6AE3FF}"/>
              </a:ext>
            </a:extLst>
          </p:cNvPr>
          <p:cNvSpPr txBox="1">
            <a:spLocks/>
          </p:cNvSpPr>
          <p:nvPr/>
        </p:nvSpPr>
        <p:spPr bwMode="auto">
          <a:xfrm>
            <a:off x="1127448" y="1124744"/>
            <a:ext cx="10257367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dirty="0"/>
              <a:t>Plan de Ventas (en unidades monetarias)</a:t>
            </a:r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</p:txBody>
      </p:sp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9B8C6B87-5384-4432-9E92-A91309979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1772816"/>
            <a:ext cx="10190642" cy="331236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265CFF2F-771C-0B6F-EE77-61F597728A6F}"/>
              </a:ext>
            </a:extLst>
          </p:cNvPr>
          <p:cNvSpPr txBox="1"/>
          <p:nvPr/>
        </p:nvSpPr>
        <p:spPr>
          <a:xfrm>
            <a:off x="191344" y="46742"/>
            <a:ext cx="36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s-MX" altLang="es-MX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PLAN de VENTAS</a:t>
            </a:r>
          </a:p>
          <a:p>
            <a:pPr algn="ctr"/>
            <a:r>
              <a:rPr lang="es-MX" sz="24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Factibilidad Definitiva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17034662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2"/>
          <p:cNvSpPr>
            <a:spLocks noGrp="1" noChangeArrowheads="1"/>
          </p:cNvSpPr>
          <p:nvPr>
            <p:ph type="title"/>
          </p:nvPr>
        </p:nvSpPr>
        <p:spPr>
          <a:xfrm>
            <a:off x="3791744" y="0"/>
            <a:ext cx="8400255" cy="832148"/>
          </a:xfrm>
        </p:spPr>
        <p:txBody>
          <a:bodyPr/>
          <a:lstStyle/>
          <a:p>
            <a:r>
              <a:rPr lang="es-MX" sz="3300" dirty="0">
                <a:solidFill>
                  <a:schemeClr val="tx1"/>
                </a:solidFill>
              </a:rPr>
              <a:t>5. </a:t>
            </a:r>
            <a:r>
              <a:rPr lang="es-AR" sz="3300" dirty="0"/>
              <a:t>La toma de decisión de desembolsos </a:t>
            </a:r>
            <a:endParaRPr lang="es-MX" altLang="es-MX" sz="3300" dirty="0">
              <a:solidFill>
                <a:schemeClr val="tx1"/>
              </a:solidFill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57B802EE-F742-40D7-86D6-47908C6AE3FF}"/>
              </a:ext>
            </a:extLst>
          </p:cNvPr>
          <p:cNvSpPr txBox="1">
            <a:spLocks/>
          </p:cNvSpPr>
          <p:nvPr/>
        </p:nvSpPr>
        <p:spPr bwMode="auto">
          <a:xfrm>
            <a:off x="1127448" y="1124744"/>
            <a:ext cx="10257367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dirty="0"/>
              <a:t>Es necesario Armar un cuadro con un Plan de Inversiones  y Gastos Comerciales</a:t>
            </a:r>
          </a:p>
          <a:p>
            <a:r>
              <a:rPr lang="es-AR" dirty="0"/>
              <a:t>Esto impactará en el nivel de Inversión total y en el Costo Total de lo Vendido, siendo estos directa o indirectamente factores de evaluación del proyecto</a:t>
            </a:r>
          </a:p>
          <a:p>
            <a:r>
              <a:rPr lang="es-AR" dirty="0"/>
              <a:t>Se consideran Inversiones todos los gastos comerciales en el Año 0, y los gastos comerciales en el periodo de explotación que busca impactar en más de 1 ejercicio.</a:t>
            </a:r>
          </a:p>
          <a:p>
            <a:r>
              <a:rPr lang="es-AR" dirty="0"/>
              <a:t>Se consideran gastos comerciales todos aquellos en el período de explotación que se recuperaran a través de las ventas propias del ejercicio</a:t>
            </a:r>
            <a:endParaRPr lang="en-U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5A1A1B9-ABA5-37E0-1436-245AE9B8E832}"/>
              </a:ext>
            </a:extLst>
          </p:cNvPr>
          <p:cNvSpPr txBox="1"/>
          <p:nvPr/>
        </p:nvSpPr>
        <p:spPr>
          <a:xfrm>
            <a:off x="191344" y="46742"/>
            <a:ext cx="36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s-MX" altLang="es-MX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PLAN de VENTAS</a:t>
            </a:r>
          </a:p>
          <a:p>
            <a:pPr algn="ctr"/>
            <a:r>
              <a:rPr lang="es-MX" sz="24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Factibilidad Definitiva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3699941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55AF8-8D19-2491-4593-38132062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2">
            <a:extLst>
              <a:ext uri="{FF2B5EF4-FFF2-40B4-BE49-F238E27FC236}">
                <a16:creationId xmlns:a16="http://schemas.microsoft.com/office/drawing/2014/main" id="{F5119E76-902D-0DE4-0B6D-6E0ABE8247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91744" y="0"/>
            <a:ext cx="8400255" cy="832148"/>
          </a:xfrm>
        </p:spPr>
        <p:txBody>
          <a:bodyPr/>
          <a:lstStyle/>
          <a:p>
            <a:r>
              <a:rPr lang="es-MX" sz="3300" dirty="0">
                <a:solidFill>
                  <a:schemeClr val="tx1"/>
                </a:solidFill>
              </a:rPr>
              <a:t>5. </a:t>
            </a:r>
            <a:r>
              <a:rPr lang="es-AR" sz="3300" dirty="0"/>
              <a:t>La toma de decisión de desembolsos </a:t>
            </a:r>
            <a:endParaRPr lang="es-MX" altLang="es-MX" sz="3300" dirty="0">
              <a:solidFill>
                <a:schemeClr val="tx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5567FF8-6FD1-5088-389E-047A21802330}"/>
              </a:ext>
            </a:extLst>
          </p:cNvPr>
          <p:cNvSpPr txBox="1"/>
          <p:nvPr/>
        </p:nvSpPr>
        <p:spPr>
          <a:xfrm>
            <a:off x="191344" y="46742"/>
            <a:ext cx="36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s-MX" altLang="es-MX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PLAN de VENTAS</a:t>
            </a:r>
          </a:p>
          <a:p>
            <a:pPr algn="ctr"/>
            <a:r>
              <a:rPr lang="es-MX" sz="24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Factibilidad Definitiva</a:t>
            </a:r>
            <a:endParaRPr lang="es-AR" sz="2400" dirty="0"/>
          </a:p>
        </p:txBody>
      </p:sp>
      <p:pic>
        <p:nvPicPr>
          <p:cNvPr id="4" name="Imagen 3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AE95DB3E-7D58-88AA-B7DE-F7A9CE579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1450848"/>
            <a:ext cx="4570234" cy="4172328"/>
          </a:xfrm>
          <a:prstGeom prst="rect">
            <a:avLst/>
          </a:prstGeom>
        </p:spPr>
      </p:pic>
      <p:pic>
        <p:nvPicPr>
          <p:cNvPr id="6" name="Imagen 5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5740661C-2F30-3841-A9B6-88E71042CB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984" y="1556792"/>
            <a:ext cx="5775130" cy="406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9799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2"/>
          <p:cNvSpPr>
            <a:spLocks noGrp="1" noChangeArrowheads="1"/>
          </p:cNvSpPr>
          <p:nvPr>
            <p:ph type="title"/>
          </p:nvPr>
        </p:nvSpPr>
        <p:spPr>
          <a:xfrm>
            <a:off x="3791744" y="0"/>
            <a:ext cx="8400255" cy="832148"/>
          </a:xfrm>
        </p:spPr>
        <p:txBody>
          <a:bodyPr/>
          <a:lstStyle/>
          <a:p>
            <a:r>
              <a:rPr lang="es-MX" sz="3300" dirty="0">
                <a:solidFill>
                  <a:schemeClr val="tx1"/>
                </a:solidFill>
              </a:rPr>
              <a:t>5. </a:t>
            </a:r>
            <a:r>
              <a:rPr lang="es-AR" sz="3300" dirty="0"/>
              <a:t>La toma de decisión de desembolsos </a:t>
            </a:r>
            <a:endParaRPr lang="es-MX" altLang="es-MX" sz="3300" dirty="0">
              <a:solidFill>
                <a:schemeClr val="tx1"/>
              </a:solidFill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C2B49C6D-8A36-48E7-9BC8-7F613CBD83DC}"/>
              </a:ext>
            </a:extLst>
          </p:cNvPr>
          <p:cNvGraphicFramePr>
            <a:graphicFrameLocks noGrp="1"/>
          </p:cNvGraphicFramePr>
          <p:nvPr/>
        </p:nvGraphicFramePr>
        <p:xfrm>
          <a:off x="1055440" y="1268760"/>
          <a:ext cx="10801200" cy="4916368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3600400">
                  <a:extLst>
                    <a:ext uri="{9D8B030D-6E8A-4147-A177-3AD203B41FA5}">
                      <a16:colId xmlns:a16="http://schemas.microsoft.com/office/drawing/2014/main" val="464773538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1931456428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655378563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572736"/>
                    </a:ext>
                  </a:extLst>
                </a:gridCol>
              </a:tblGrid>
              <a:tr h="678933">
                <a:tc>
                  <a:txBody>
                    <a:bodyPr/>
                    <a:lstStyle/>
                    <a:p>
                      <a:r>
                        <a:rPr lang="es-AR" sz="2800" b="1" dirty="0" err="1">
                          <a:solidFill>
                            <a:schemeClr val="tx1"/>
                          </a:solidFill>
                        </a:rPr>
                        <a:t>Decísión</a:t>
                      </a:r>
                      <a:endParaRPr lang="es-AR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800" b="1" dirty="0">
                          <a:solidFill>
                            <a:schemeClr val="tx1"/>
                          </a:solidFill>
                        </a:rPr>
                        <a:t>Monto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800" b="1" dirty="0">
                          <a:solidFill>
                            <a:schemeClr val="tx1"/>
                          </a:solidFill>
                        </a:rPr>
                        <a:t>Momento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800" b="1" dirty="0">
                          <a:solidFill>
                            <a:schemeClr val="tx1"/>
                          </a:solidFill>
                        </a:rPr>
                        <a:t>Imputación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854594"/>
                  </a:ext>
                </a:extLst>
              </a:tr>
              <a:tr h="329179">
                <a:tc>
                  <a:txBody>
                    <a:bodyPr/>
                    <a:lstStyle/>
                    <a:p>
                      <a:r>
                        <a:rPr lang="es-AR" sz="2600" b="0" dirty="0"/>
                        <a:t>Publicidad On-line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600" b="0" dirty="0"/>
                        <a:t>200 M$/mes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600" b="0" dirty="0"/>
                        <a:t>Años 3 a 5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600" b="0" dirty="0"/>
                        <a:t>Costo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924829"/>
                  </a:ext>
                </a:extLst>
              </a:tr>
              <a:tr h="417563">
                <a:tc>
                  <a:txBody>
                    <a:bodyPr/>
                    <a:lstStyle/>
                    <a:p>
                      <a:r>
                        <a:rPr lang="es-AR" sz="2600" b="0" dirty="0"/>
                        <a:t>Cartelera Ruta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600" b="0" dirty="0"/>
                        <a:t>50 M$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600" b="0" dirty="0"/>
                        <a:t>Año 1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600" b="0" dirty="0"/>
                        <a:t>Inversión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734902"/>
                  </a:ext>
                </a:extLst>
              </a:tr>
              <a:tr h="433939">
                <a:tc>
                  <a:txBody>
                    <a:bodyPr/>
                    <a:lstStyle/>
                    <a:p>
                      <a:r>
                        <a:rPr lang="es-AR" sz="2600" b="0" dirty="0"/>
                        <a:t>Asistencia a Congreso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600" b="0" dirty="0"/>
                        <a:t>400 M$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600" b="0" dirty="0"/>
                        <a:t>Año 3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600" b="0" dirty="0"/>
                        <a:t>Inversión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191341"/>
                  </a:ext>
                </a:extLst>
              </a:tr>
              <a:tr h="678933">
                <a:tc>
                  <a:txBody>
                    <a:bodyPr/>
                    <a:lstStyle/>
                    <a:p>
                      <a:r>
                        <a:rPr lang="es-AR" sz="2600" b="0" dirty="0"/>
                        <a:t>% de Comisiones Vendedores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600" b="0" dirty="0"/>
                        <a:t>3% de las ventas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600" b="0" dirty="0"/>
                        <a:t>Años 1 a N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600" b="0" dirty="0"/>
                        <a:t>Costo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745939"/>
                  </a:ext>
                </a:extLst>
              </a:tr>
              <a:tr h="358483">
                <a:tc>
                  <a:txBody>
                    <a:bodyPr/>
                    <a:lstStyle/>
                    <a:p>
                      <a:r>
                        <a:rPr lang="es-AR" sz="2600" b="0" dirty="0"/>
                        <a:t>Camión de entrega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600" b="0" dirty="0"/>
                        <a:t>3.000 M$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600" b="0" dirty="0"/>
                        <a:t>Mes -2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600" b="0" dirty="0"/>
                        <a:t>Inversión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826291"/>
                  </a:ext>
                </a:extLst>
              </a:tr>
              <a:tr h="518875">
                <a:tc>
                  <a:txBody>
                    <a:bodyPr/>
                    <a:lstStyle/>
                    <a:p>
                      <a:r>
                        <a:rPr lang="es-AR" sz="2600" b="0" dirty="0"/>
                        <a:t>Campaña Televisiva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600" b="0" dirty="0"/>
                        <a:t>2.000 M$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600" b="0" dirty="0"/>
                        <a:t>Mes -1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600" b="0" dirty="0"/>
                        <a:t>Inversión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810772"/>
                  </a:ext>
                </a:extLst>
              </a:tr>
              <a:tr h="678933">
                <a:tc>
                  <a:txBody>
                    <a:bodyPr/>
                    <a:lstStyle/>
                    <a:p>
                      <a:r>
                        <a:rPr lang="es-AR" sz="2600" b="0" dirty="0"/>
                        <a:t>Volantes 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600" b="0" dirty="0"/>
                        <a:t>20 M$ /me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600" b="0" dirty="0"/>
                        <a:t>Desde Mes -2 a Año N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600" b="0" dirty="0"/>
                        <a:t>Inversión (A 0) Costo (A1 a N)</a:t>
                      </a:r>
                      <a:endParaRPr lang="es-AR" sz="260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929989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57478C9B-03F5-5255-6F97-207F496FDD52}"/>
              </a:ext>
            </a:extLst>
          </p:cNvPr>
          <p:cNvSpPr txBox="1"/>
          <p:nvPr/>
        </p:nvSpPr>
        <p:spPr>
          <a:xfrm>
            <a:off x="191344" y="46742"/>
            <a:ext cx="36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s-MX" altLang="es-MX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PLAN de VENTAS</a:t>
            </a:r>
          </a:p>
          <a:p>
            <a:pPr algn="ctr"/>
            <a:r>
              <a:rPr lang="es-MX" sz="24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Factibilidad Definitiva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436527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para DimFinan">
  <a:themeElements>
    <a:clrScheme name="Cápsulas 2">
      <a:dk1>
        <a:srgbClr val="000000"/>
      </a:dk1>
      <a:lt1>
        <a:srgbClr val="FFFFFF"/>
      </a:lt1>
      <a:dk2>
        <a:srgbClr val="000000"/>
      </a:dk2>
      <a:lt2>
        <a:srgbClr val="808000"/>
      </a:lt2>
      <a:accent1>
        <a:srgbClr val="FFCC99"/>
      </a:accent1>
      <a:accent2>
        <a:srgbClr val="99CC00"/>
      </a:accent2>
      <a:accent3>
        <a:srgbClr val="FFFFFF"/>
      </a:accent3>
      <a:accent4>
        <a:srgbClr val="000000"/>
      </a:accent4>
      <a:accent5>
        <a:srgbClr val="FFE2CA"/>
      </a:accent5>
      <a:accent6>
        <a:srgbClr val="8AB900"/>
      </a:accent6>
      <a:hlink>
        <a:srgbClr val="336600"/>
      </a:hlink>
      <a:folHlink>
        <a:srgbClr val="FFCC00"/>
      </a:folHlink>
    </a:clrScheme>
    <a:fontScheme name="Cápsulas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ápsula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ápsula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ápsula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ápsula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ápsula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ápsula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ápsula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ápsula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ápsulas 9">
        <a:dk1>
          <a:srgbClr val="000000"/>
        </a:dk1>
        <a:lt1>
          <a:srgbClr val="FFFFFF"/>
        </a:lt1>
        <a:dk2>
          <a:srgbClr val="000000"/>
        </a:dk2>
        <a:lt2>
          <a:srgbClr val="FFFFCC"/>
        </a:lt2>
        <a:accent1>
          <a:srgbClr val="FF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a para DimFinan" id="{05FC0137-7A7B-4335-94D8-1E1B373CED89}" vid="{FB362BB0-7FBC-4904-92BD-8C93ABDE66D7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para DimFinan</Template>
  <TotalTime>3356</TotalTime>
  <Words>1601</Words>
  <Application>Microsoft Office PowerPoint</Application>
  <PresentationFormat>Panorámica</PresentationFormat>
  <Paragraphs>284</Paragraphs>
  <Slides>37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3" baseType="lpstr">
      <vt:lpstr>Arial</vt:lpstr>
      <vt:lpstr>Arial Narrow</vt:lpstr>
      <vt:lpstr>Rockwell Condensed</vt:lpstr>
      <vt:lpstr>Times New Roman</vt:lpstr>
      <vt:lpstr>Wingdings</vt:lpstr>
      <vt:lpstr>Tema para DimFinan</vt:lpstr>
      <vt:lpstr>DIMENSIONAMIENTO COMERCIAL  EVALUACIÓN de PROYECTOS</vt:lpstr>
      <vt:lpstr>ESTRUCTURA </vt:lpstr>
      <vt:lpstr>OBJETIVOS</vt:lpstr>
      <vt:lpstr>DIMENSIONAMIENTO COMERCIAL Esquema de Presentación</vt:lpstr>
      <vt:lpstr>DIMENSIONAMIENTO COMERCIAL Esquema de Trabajo</vt:lpstr>
      <vt:lpstr>Definición Inicial del Producto</vt:lpstr>
      <vt:lpstr> Investigación Mercado Consumidor</vt:lpstr>
      <vt:lpstr>  Investigación Mercado Proveedor</vt:lpstr>
      <vt:lpstr>  Investigación Mercado Competidor</vt:lpstr>
      <vt:lpstr>CONSIDERACIONES</vt:lpstr>
      <vt:lpstr>DIMENSIONAMIENTO COMERCIAL Esquema de Presentación/Formulación</vt:lpstr>
      <vt:lpstr>Presentación de PowerPoint</vt:lpstr>
      <vt:lpstr>DIMENSIONAMIENTO COMERCIAL Definición de Estrategias</vt:lpstr>
      <vt:lpstr>DIMENSIONAMIENTO  COMERCIAL Definición de  Estrategias</vt:lpstr>
      <vt:lpstr>Estrategias para el PRODUCTO (I)</vt:lpstr>
      <vt:lpstr>Estrategias para el PRODUCTO (II)</vt:lpstr>
      <vt:lpstr>Estrategias para la PLAZA (I)</vt:lpstr>
      <vt:lpstr>Estrategias para la PLAZA (II)</vt:lpstr>
      <vt:lpstr>Estrategias para la PROMOCION (I)</vt:lpstr>
      <vt:lpstr>Estrategias para la PROMOCION (II)</vt:lpstr>
      <vt:lpstr>Estrategias para el PRECIO (I)</vt:lpstr>
      <vt:lpstr>Estrategias para el PRECIO (II)</vt:lpstr>
      <vt:lpstr>Definición de Plan de Ventas (I)</vt:lpstr>
      <vt:lpstr>Plan de Ventas- Prefactibilidad</vt:lpstr>
      <vt:lpstr>Plan de Ventas- Prefactibilidad</vt:lpstr>
      <vt:lpstr>PLAN de VENTAS- Factibilidad Definitiva</vt:lpstr>
      <vt:lpstr>PLAN de VENTAS- Factibilidad Definitiva</vt:lpstr>
      <vt:lpstr>1. Búsqueda de Información Anterior </vt:lpstr>
      <vt:lpstr>2. Toma de Decisiones Anteriores</vt:lpstr>
      <vt:lpstr>3. Necesidad de Mostrar Crecimiento</vt:lpstr>
      <vt:lpstr>3. Necesidad de Mostrar Crecimiento</vt:lpstr>
      <vt:lpstr>3. Necesidad de Mostrar Crecimiento</vt:lpstr>
      <vt:lpstr>4. Sumatoria de todos los Productos</vt:lpstr>
      <vt:lpstr>4. Sumatoria de todos los Productos</vt:lpstr>
      <vt:lpstr>5. La toma de decisión de desembolsos </vt:lpstr>
      <vt:lpstr>5. La toma de decisión de desembolsos </vt:lpstr>
      <vt:lpstr>5. La toma de decisión de desembolsos 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DE LA CATEDRA de EVALUACIÓN de PROYECTOS</dc:title>
  <dc:creator>drB</dc:creator>
  <cp:lastModifiedBy>Diego Roberto Berenguer</cp:lastModifiedBy>
  <cp:revision>25</cp:revision>
  <cp:lastPrinted>1601-01-01T00:00:00Z</cp:lastPrinted>
  <dcterms:created xsi:type="dcterms:W3CDTF">2014-03-28T19:47:59Z</dcterms:created>
  <dcterms:modified xsi:type="dcterms:W3CDTF">2025-04-03T20:52:28Z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4</vt:i4>
  </property>
</Properties>
</file>