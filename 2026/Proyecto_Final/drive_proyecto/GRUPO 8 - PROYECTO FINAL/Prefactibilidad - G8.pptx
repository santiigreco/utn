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1675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Nuni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qKDkYm+LIIDIJR1Wf/D8C9yp7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595190-994C-4024-AC5F-D66611B777E3}">
  <a:tblStyle styleId="{17595190-994C-4024-AC5F-D66611B777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62bca18de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62bca18de_4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/>
              <a:t>680 m² producción y oficinas (51%) — las dos líneas, laboratorio QA, oficinas.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/>
              <a:t>450 m² depósito PT (34%) — almacenamiento antes de despacho.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/>
              <a:t>200 m² depósito MP (15%) — recepción y pesado.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/>
              <a:t>El costo de construcción es $200.000/m². Total nave: $1.400 MM (71% de la inversión)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62bca18d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La planta se encuentra en el Parque Industrial de Garín y tiene una posición estratégica por su cercanía a la Panamericana, lo que facilita el acceso al AMBA y a centros de distribución, reduciendo costos y tiempos de entrega.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El abastecimiento de materias primas se realiza principalmente por transporte terrestre desde el interior del país. La recepción incluye estrictos controles de calidad para evitar contaminación cruzada, y el almacenamiento se organiza con sistema FIFO.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El producto terminado se almacena con control de lotes, trazabilidad y stock de seguridad.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En cuanto a la distribución, se utilizan camiones para las grandes cadenas y se terceriza la entrega a puntos de venta. La cobertura abarca tanto el AMBA, como el interior del país.</a:t>
            </a:r>
            <a:endParaRPr/>
          </a:p>
        </p:txBody>
      </p:sp>
      <p:sp>
        <p:nvSpPr>
          <p:cNvPr id="202" name="Google Shape;202;g3d62bca18de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La empresa adopta una </a:t>
            </a:r>
            <a:r>
              <a:rPr b="1" lang="en-US">
                <a:solidFill>
                  <a:schemeClr val="dk1"/>
                </a:solidFill>
              </a:rPr>
              <a:t>estructura organizacional funcional</a:t>
            </a:r>
            <a:r>
              <a:rPr lang="en-US">
                <a:solidFill>
                  <a:schemeClr val="dk1"/>
                </a:solidFill>
              </a:rPr>
              <a:t>. En el nivel superior se ubican el Presidente responsable de la dirección estratégica y la coordinación global.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La organización se divide en cuatro áreas funcionales: Ventas, Producción, Calidad y Administración &amp; Finanzas.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El área de Ventas se encarga de la comercialización y gestión de canales. </a:t>
            </a:r>
            <a:r>
              <a:rPr lang="en-US">
                <a:solidFill>
                  <a:schemeClr val="dk1"/>
                </a:solidFill>
              </a:rPr>
              <a:t>Producción, liderada por el Gerente de Planta, integrando funciones de fabricación, mantenimiento, logística y abastecimiento. Calidad asegura el cumplimiento normativo y la inocuidad de los productos sin TACC, mientras que Administración &amp; Finanzas gestiona los recursos económicos. 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Esta estructura, compuesta por 55 colaboradores, se alinea con los objetivos del proyecto.</a:t>
            </a:r>
            <a:br>
              <a:rPr lang="en-US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Qué incluye 'otros costos'?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Servicios, Mantenimiento, Logística, Marketing/publicidad, Packaging:</a:t>
            </a:r>
            <a:endParaRPr/>
          </a:p>
        </p:txBody>
      </p:sp>
      <p:sp>
        <p:nvSpPr>
          <p:cNvPr id="312" name="Google Shape;3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A3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5364625"/>
            <a:ext cx="12191700" cy="2013900"/>
          </a:xfrm>
          <a:prstGeom prst="roundRect">
            <a:avLst>
              <a:gd fmla="val 16989" name="adj"/>
            </a:avLst>
          </a:prstGeom>
          <a:solidFill>
            <a:srgbClr val="1A3A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548640"/>
            <a:ext cx="365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A96E"/>
                </a:solidFill>
                <a:latin typeface="Nunito"/>
                <a:ea typeface="Nunito"/>
                <a:cs typeface="Nunito"/>
                <a:sym typeface="Nunito"/>
              </a:rPr>
              <a:t>UTN FRBA — GRUPO 8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0493" y="1705383"/>
            <a:ext cx="9144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Planta Industrial de Alimentos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Libres de Gluten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80495" y="3288906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Análisis de prefactibilidad</a:t>
            </a:r>
            <a:endParaRPr b="1" sz="24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93395" y="5962967"/>
            <a:ext cx="914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Albarracin  ·  Carrizo  ·  Greco  ·  Rodriguez  ·  Schaltegger</a:t>
            </a:r>
            <a:endParaRPr sz="2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933071" y="1293898"/>
            <a:ext cx="2640300" cy="2456700"/>
          </a:xfrm>
          <a:prstGeom prst="ellipse">
            <a:avLst/>
          </a:prstGeom>
          <a:solidFill>
            <a:srgbClr val="EFEFEF"/>
          </a:solidFill>
          <a:ln>
            <a:noFill/>
          </a:ln>
          <a:effectLst>
            <a:outerShdw blurRad="45352" rotWithShape="0" algn="bl" dir="5400000" dist="15117">
              <a:srgbClr val="000000">
                <a:alpha val="50000"/>
              </a:srgbClr>
            </a:outerShdw>
          </a:effectLst>
        </p:spPr>
        <p:txBody>
          <a:bodyPr anchorCtr="0" anchor="ctr" bIns="72550" lIns="72550" spcFirstLastPara="1" rIns="72550" wrap="square" tIns="7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6525" y="1624735"/>
            <a:ext cx="2086986" cy="1809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Mercado Objetivo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48640" y="1371600"/>
            <a:ext cx="25603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85800" y="1481328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Poblacion AR</a:t>
            </a:r>
            <a:endParaRPr sz="1900"/>
          </a:p>
        </p:txBody>
      </p:sp>
      <p:sp>
        <p:nvSpPr>
          <p:cNvPr id="100" name="Google Shape;100;p2"/>
          <p:cNvSpPr txBox="1"/>
          <p:nvPr/>
        </p:nvSpPr>
        <p:spPr>
          <a:xfrm>
            <a:off x="640080" y="171907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C3E6B"/>
                </a:solidFill>
                <a:latin typeface="Consolas"/>
                <a:ea typeface="Consolas"/>
                <a:cs typeface="Consolas"/>
                <a:sym typeface="Consolas"/>
              </a:rPr>
              <a:t>46M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3337560" y="1371600"/>
            <a:ext cx="25603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474720" y="1481328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Celiacos (1%)</a:t>
            </a:r>
            <a:endParaRPr sz="1900"/>
          </a:p>
        </p:txBody>
      </p:sp>
      <p:sp>
        <p:nvSpPr>
          <p:cNvPr id="103" name="Google Shape;103;p2"/>
          <p:cNvSpPr txBox="1"/>
          <p:nvPr/>
        </p:nvSpPr>
        <p:spPr>
          <a:xfrm>
            <a:off x="3429000" y="1719072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B85C3C"/>
                </a:solidFill>
                <a:latin typeface="Consolas"/>
                <a:ea typeface="Consolas"/>
                <a:cs typeface="Consolas"/>
                <a:sym typeface="Consolas"/>
              </a:rPr>
              <a:t>460.000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126479" y="1371600"/>
            <a:ext cx="25603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263639" y="1481328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Mercado ampliado</a:t>
            </a:r>
            <a:endParaRPr sz="1900"/>
          </a:p>
        </p:txBody>
      </p:sp>
      <p:sp>
        <p:nvSpPr>
          <p:cNvPr id="106" name="Google Shape;106;p2"/>
          <p:cNvSpPr txBox="1"/>
          <p:nvPr/>
        </p:nvSpPr>
        <p:spPr>
          <a:xfrm>
            <a:off x="6217919" y="1719072"/>
            <a:ext cx="237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D5A3D"/>
                </a:solidFill>
                <a:latin typeface="Consolas"/>
                <a:ea typeface="Consolas"/>
                <a:cs typeface="Consolas"/>
                <a:sym typeface="Consolas"/>
              </a:rPr>
              <a:t>690.000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915399" y="1371600"/>
            <a:ext cx="25603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9052559" y="1481328"/>
            <a:ext cx="228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Consumo </a:t>
            </a:r>
            <a:r>
              <a:rPr b="1" lang="en-US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anual total</a:t>
            </a:r>
            <a:endParaRPr sz="1900"/>
          </a:p>
        </p:txBody>
      </p:sp>
      <p:sp>
        <p:nvSpPr>
          <p:cNvPr id="109" name="Google Shape;109;p2"/>
          <p:cNvSpPr txBox="1"/>
          <p:nvPr/>
        </p:nvSpPr>
        <p:spPr>
          <a:xfrm>
            <a:off x="9006839" y="1719072"/>
            <a:ext cx="237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8A96E"/>
                </a:solidFill>
                <a:latin typeface="Consolas"/>
                <a:ea typeface="Consolas"/>
                <a:cs typeface="Consolas"/>
                <a:sym typeface="Consolas"/>
              </a:rPr>
              <a:t>15 MM</a:t>
            </a:r>
            <a:r>
              <a:rPr b="1" i="0" lang="en-US" sz="2600" u="none" cap="none" strike="noStrike">
                <a:solidFill>
                  <a:srgbClr val="C8A96E"/>
                </a:solidFill>
                <a:latin typeface="Consolas"/>
                <a:ea typeface="Consolas"/>
                <a:cs typeface="Consolas"/>
                <a:sym typeface="Consolas"/>
              </a:rPr>
              <a:t>kg/año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597300" y="2921875"/>
            <a:ext cx="634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Celiaquía</a:t>
            </a:r>
            <a:r>
              <a:rPr b="0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afecta al 1% de la poblacion (fuente ANMAT). Diagnostico crece cada año.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Convivientes</a:t>
            </a:r>
            <a:r>
              <a:rPr b="0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adaptan su dieta al hogar libre de gluten, multiplican base x1,5.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67" y="2838850"/>
            <a:ext cx="4937750" cy="293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5597302" y="3919250"/>
            <a:ext cx="6471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Clientes directos:</a:t>
            </a:r>
            <a:endParaRPr b="1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Distribuidores mayoristas</a:t>
            </a:r>
            <a:r>
              <a:rPr b="0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canal principal (B2B), cobertura nacional.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Supermercados e hipermercados</a:t>
            </a:r>
            <a:r>
              <a:rPr b="0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gondola de productos saludables/dieteticos.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Dieteticas</a:t>
            </a:r>
            <a:r>
              <a:rPr b="0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canal especializado, alto margen, afinidad celiaco.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Farmacias</a:t>
            </a:r>
            <a:r>
              <a:rPr b="0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canal complementario para productos de salud.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097280" y="320040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Diferenciaci</a:t>
            </a: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97280" y="777240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7 SKUs industriales, veganos, sin alergenos. Precios entre $7.000 y $13.700/kg</a:t>
            </a:r>
            <a:endParaRPr/>
          </a:p>
        </p:txBody>
      </p:sp>
      <p:graphicFrame>
        <p:nvGraphicFramePr>
          <p:cNvPr id="122" name="Google Shape;122;p3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{17595190-994C-4024-AC5F-D66611B777E3}</a:tableStyleId>
              </a:tblPr>
              <a:tblGrid>
                <a:gridCol w="3511300"/>
                <a:gridCol w="877825"/>
                <a:gridCol w="4681725"/>
                <a:gridCol w="1901975"/>
              </a:tblGrid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Producto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Precio/kg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Chocolate con chips picante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Galletita dulce con chocolate y especias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$13.700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62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Galletitas simil Chocolinas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 sin TACC, endulzada naturalmente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$10.500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62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Pepas chocolate y batata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suave con relleno de dulce de batata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$11.000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Bizcochos salados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Snack salado de harinas alternativas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$7.000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62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Polvorones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Desmenuzables: vainilla, chocolate, limon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$10.500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 de molde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 lactal rebanado, alta rotacion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$12.700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Budines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Saborizados (vainilla, chocolate, frutas)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$12.000</a:t>
                      </a:r>
                      <a:endParaRPr sz="1900"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3"/>
          <p:cNvSpPr txBox="1"/>
          <p:nvPr/>
        </p:nvSpPr>
        <p:spPr>
          <a:xfrm>
            <a:off x="548653" y="5720695"/>
            <a:ext cx="10972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Planta 100% aislada</a:t>
            </a:r>
            <a:r>
              <a:rPr b="0" i="0" lang="en-US" sz="16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cero contaminacion cruzada por diseño, no por protocolo.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Vegano + sin alergenos</a:t>
            </a:r>
            <a:r>
              <a:rPr b="0" i="0" lang="en-US" sz="16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amplifica base de consumidores.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Sin azúcares refinados </a:t>
            </a:r>
            <a:r>
              <a:rPr b="0" i="0" lang="en-US" sz="16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— alineado con tendencia clean label.</a:t>
            </a:r>
            <a:endParaRPr sz="1800"/>
          </a:p>
        </p:txBody>
      </p:sp>
      <p:pic>
        <p:nvPicPr>
          <p:cNvPr id="124" name="Google Shape;1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 de Ventas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097280" y="77724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383,5 toneladas/año en 7 SKUs a traves de 4 canales. Facturacion anual $4.382 MM.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48640" y="1371600"/>
            <a:ext cx="34747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85800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Produccion anual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640080" y="17190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D5A3D"/>
                </a:solidFill>
                <a:latin typeface="Consolas"/>
                <a:ea typeface="Consolas"/>
                <a:cs typeface="Consolas"/>
                <a:sym typeface="Consolas"/>
              </a:rPr>
              <a:t>383,5 tn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297679" y="1371600"/>
            <a:ext cx="34747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4434839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Facturacion anual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4389119" y="1719072"/>
            <a:ext cx="32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C3E6B"/>
                </a:solidFill>
                <a:latin typeface="Consolas"/>
                <a:ea typeface="Consolas"/>
                <a:cs typeface="Consolas"/>
                <a:sym typeface="Consolas"/>
              </a:rPr>
              <a:t>$4.382MM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8046719" y="1371600"/>
            <a:ext cx="34747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8183879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Acum. 10 años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8138159" y="1719072"/>
            <a:ext cx="32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B3A6B"/>
                </a:solidFill>
                <a:latin typeface="Consolas"/>
                <a:ea typeface="Consolas"/>
                <a:cs typeface="Consolas"/>
                <a:sym typeface="Consolas"/>
              </a:rPr>
              <a:t>$43.819M</a:t>
            </a:r>
            <a:r>
              <a:rPr b="1" lang="en-US" sz="2600">
                <a:solidFill>
                  <a:srgbClr val="6B3A6B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/>
          </a:p>
        </p:txBody>
      </p:sp>
      <p:pic>
        <p:nvPicPr>
          <p:cNvPr descr="image.png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651760"/>
            <a:ext cx="54864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>
            <a:off x="6400800" y="2628550"/>
            <a:ext cx="53034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Market share objetivo</a:t>
            </a:r>
            <a:r>
              <a:rPr lang="en-US" sz="12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2,5% del mercado ampliado (~690.000  consumidores). Conservador vs SMAMS (~10%).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Tendencia global</a:t>
            </a:r>
            <a:r>
              <a:rPr lang="en-US" sz="12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— el mercado gluten-free crece sostenidamente (ref: SA GF Market Report 2030).</a:t>
            </a:r>
            <a:endParaRPr/>
          </a:p>
        </p:txBody>
      </p:sp>
      <p:graphicFrame>
        <p:nvGraphicFramePr>
          <p:cNvPr id="144" name="Google Shape;144;p4"/>
          <p:cNvGraphicFramePr/>
          <p:nvPr/>
        </p:nvGraphicFramePr>
        <p:xfrm>
          <a:off x="6486884" y="36044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{17595190-994C-4024-AC5F-D66611B777E3}</a:tableStyleId>
              </a:tblPr>
              <a:tblGrid>
                <a:gridCol w="1393400"/>
                <a:gridCol w="655725"/>
                <a:gridCol w="737675"/>
                <a:gridCol w="983575"/>
                <a:gridCol w="573750"/>
              </a:tblGrid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Producto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Tn/año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Precio/</a:t>
                      </a:r>
                      <a:r>
                        <a:rPr lang="en-US" sz="900">
                          <a:solidFill>
                            <a:srgbClr val="FFFFFF"/>
                          </a:solidFill>
                        </a:rPr>
                        <a:t>kg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(MM)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 de molde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75,0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$12.700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$952,5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21,7%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Pepas choc. y batata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78,0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$11.000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$858,0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19,6%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Budines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70,8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$12.000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$849,6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19,4%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Choc. chips picante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48,0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$13.700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$657,6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15,0%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Polvorones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52,8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$10.500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$554,4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12,7%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Chocolinas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27,75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$10.500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$291,4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6,7%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Bizcochos salados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31,2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$7.000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$218,4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2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383,55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$4.381,9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  <p:pic>
        <p:nvPicPr>
          <p:cNvPr id="145" name="Google Shape;14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62bca18de_4_4"/>
          <p:cNvSpPr/>
          <p:nvPr/>
        </p:nvSpPr>
        <p:spPr>
          <a:xfrm>
            <a:off x="548640" y="36576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62bca18de_4_4"/>
          <p:cNvSpPr txBox="1"/>
          <p:nvPr/>
        </p:nvSpPr>
        <p:spPr>
          <a:xfrm>
            <a:off x="548640" y="384048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2" name="Google Shape;152;g3d62bca18de_4_4"/>
          <p:cNvSpPr txBox="1"/>
          <p:nvPr/>
        </p:nvSpPr>
        <p:spPr>
          <a:xfrm>
            <a:off x="1097280" y="320040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Proceso Productivo</a:t>
            </a:r>
            <a:endParaRPr/>
          </a:p>
        </p:txBody>
      </p:sp>
      <p:pic>
        <p:nvPicPr>
          <p:cNvPr id="153" name="Google Shape;153;g3d62bca18de_4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d62bca18de_4_4" title="Proceso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2475" y="384050"/>
            <a:ext cx="3943950" cy="6324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d62bca18de_4_4"/>
          <p:cNvSpPr/>
          <p:nvPr/>
        </p:nvSpPr>
        <p:spPr>
          <a:xfrm>
            <a:off x="322575" y="1421825"/>
            <a:ext cx="1890900" cy="776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375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42207" rotWithShape="0" algn="bl" dir="5400000" dist="14069">
              <a:srgbClr val="000000">
                <a:alpha val="500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62bca18de_4_4"/>
          <p:cNvSpPr txBox="1"/>
          <p:nvPr/>
        </p:nvSpPr>
        <p:spPr>
          <a:xfrm>
            <a:off x="390162" y="1628226"/>
            <a:ext cx="1755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0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HORNO TUNEL</a:t>
            </a:r>
            <a:endParaRPr sz="103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62bca18de_4_4"/>
          <p:cNvSpPr txBox="1"/>
          <p:nvPr/>
        </p:nvSpPr>
        <p:spPr>
          <a:xfrm>
            <a:off x="424021" y="1476045"/>
            <a:ext cx="16884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4"/>
          </a:p>
        </p:txBody>
      </p:sp>
      <p:sp>
        <p:nvSpPr>
          <p:cNvPr id="158" name="Google Shape;158;g3d62bca18de_4_4"/>
          <p:cNvSpPr txBox="1"/>
          <p:nvPr/>
        </p:nvSpPr>
        <p:spPr>
          <a:xfrm>
            <a:off x="390218" y="1421827"/>
            <a:ext cx="1755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6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CUELLO DE BOTELLA</a:t>
            </a:r>
            <a:endParaRPr sz="1256"/>
          </a:p>
        </p:txBody>
      </p:sp>
      <p:sp>
        <p:nvSpPr>
          <p:cNvPr id="159" name="Google Shape;159;g3d62bca18de_4_4"/>
          <p:cNvSpPr txBox="1"/>
          <p:nvPr/>
        </p:nvSpPr>
        <p:spPr>
          <a:xfrm>
            <a:off x="390033" y="1992015"/>
            <a:ext cx="1755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6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LINEA A</a:t>
            </a:r>
            <a:endParaRPr sz="886">
              <a:solidFill>
                <a:srgbClr val="8A84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62bca18de_4_4"/>
          <p:cNvSpPr/>
          <p:nvPr/>
        </p:nvSpPr>
        <p:spPr>
          <a:xfrm>
            <a:off x="322575" y="3017397"/>
            <a:ext cx="2004000" cy="82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95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44734" rotWithShape="0" algn="bl" dir="5400000" dist="14911">
              <a:srgbClr val="000000">
                <a:alpha val="50000"/>
              </a:srgbClr>
            </a:outerShdw>
          </a:effectLst>
        </p:spPr>
        <p:txBody>
          <a:bodyPr anchorCtr="0" anchor="ctr" bIns="35775" lIns="71550" spcFirstLastPara="1" rIns="71550" wrap="square" tIns="3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d62bca18de_4_4"/>
          <p:cNvSpPr txBox="1"/>
          <p:nvPr/>
        </p:nvSpPr>
        <p:spPr>
          <a:xfrm>
            <a:off x="364200" y="3236150"/>
            <a:ext cx="18909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550" spcFirstLastPara="1" rIns="71550" wrap="square" tIns="35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HORNO ROTATIVO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62bca18de_4_4"/>
          <p:cNvSpPr txBox="1"/>
          <p:nvPr/>
        </p:nvSpPr>
        <p:spPr>
          <a:xfrm>
            <a:off x="430092" y="3074863"/>
            <a:ext cx="1789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550" spcFirstLastPara="1" rIns="71550" wrap="square" tIns="35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6"/>
          </a:p>
        </p:txBody>
      </p:sp>
      <p:sp>
        <p:nvSpPr>
          <p:cNvPr id="163" name="Google Shape;163;g3d62bca18de_4_4"/>
          <p:cNvSpPr txBox="1"/>
          <p:nvPr/>
        </p:nvSpPr>
        <p:spPr>
          <a:xfrm>
            <a:off x="394266" y="3017399"/>
            <a:ext cx="1860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550" spcFirstLastPara="1" rIns="71550" wrap="square" tIns="35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9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CUELLO DE BOTELLA</a:t>
            </a:r>
            <a:endParaRPr sz="1331"/>
          </a:p>
        </p:txBody>
      </p:sp>
      <p:sp>
        <p:nvSpPr>
          <p:cNvPr id="164" name="Google Shape;164;g3d62bca18de_4_4"/>
          <p:cNvSpPr txBox="1"/>
          <p:nvPr/>
        </p:nvSpPr>
        <p:spPr>
          <a:xfrm>
            <a:off x="394071" y="3621715"/>
            <a:ext cx="1860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550" spcFirstLastPara="1" rIns="71550" wrap="square" tIns="35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9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LINEA B</a:t>
            </a:r>
            <a:endParaRPr sz="939">
              <a:solidFill>
                <a:srgbClr val="8A84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62bca18de_4_4"/>
          <p:cNvSpPr/>
          <p:nvPr/>
        </p:nvSpPr>
        <p:spPr>
          <a:xfrm>
            <a:off x="2999800" y="1393622"/>
            <a:ext cx="1890900" cy="776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375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42209" rotWithShape="0" algn="bl" dir="5400000" dist="14070">
              <a:srgbClr val="000000">
                <a:alpha val="50000"/>
              </a:srgbClr>
            </a:outerShdw>
          </a:effectLst>
        </p:spPr>
        <p:txBody>
          <a:bodyPr anchorCtr="0" anchor="ctr" bIns="33750" lIns="67525" spcFirstLastPara="1" rIns="67525" wrap="square" tIns="3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62bca18de_4_4"/>
          <p:cNvSpPr txBox="1"/>
          <p:nvPr/>
        </p:nvSpPr>
        <p:spPr>
          <a:xfrm>
            <a:off x="3067390" y="1600030"/>
            <a:ext cx="17559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25" spcFirstLastPara="1" rIns="67525" wrap="square" tIns="337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0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62 Kg/hr</a:t>
            </a:r>
            <a:endParaRPr sz="103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62bca18de_4_4"/>
          <p:cNvSpPr txBox="1"/>
          <p:nvPr/>
        </p:nvSpPr>
        <p:spPr>
          <a:xfrm>
            <a:off x="3101249" y="1447844"/>
            <a:ext cx="16884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25" spcFirstLastPara="1" rIns="67525" wrap="square" tIns="337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4"/>
          </a:p>
        </p:txBody>
      </p:sp>
      <p:sp>
        <p:nvSpPr>
          <p:cNvPr id="168" name="Google Shape;168;g3d62bca18de_4_4"/>
          <p:cNvSpPr txBox="1"/>
          <p:nvPr/>
        </p:nvSpPr>
        <p:spPr>
          <a:xfrm>
            <a:off x="3067445" y="1393624"/>
            <a:ext cx="1755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25" spcFirstLastPara="1" rIns="67525" wrap="square" tIns="337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6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CAPACIDAD</a:t>
            </a:r>
            <a:endParaRPr sz="1256"/>
          </a:p>
        </p:txBody>
      </p:sp>
      <p:sp>
        <p:nvSpPr>
          <p:cNvPr id="169" name="Google Shape;169;g3d62bca18de_4_4"/>
          <p:cNvSpPr txBox="1"/>
          <p:nvPr/>
        </p:nvSpPr>
        <p:spPr>
          <a:xfrm>
            <a:off x="3067260" y="1963832"/>
            <a:ext cx="17559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25" spcFirstLastPara="1" rIns="67525" wrap="square" tIns="33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6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LINEA A</a:t>
            </a:r>
            <a:endParaRPr sz="886">
              <a:solidFill>
                <a:srgbClr val="8A84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62bca18de_4_4"/>
          <p:cNvSpPr/>
          <p:nvPr/>
        </p:nvSpPr>
        <p:spPr>
          <a:xfrm>
            <a:off x="2999800" y="3074872"/>
            <a:ext cx="2004000" cy="82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95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44734" rotWithShape="0" algn="bl" dir="5400000" dist="14911">
              <a:srgbClr val="000000">
                <a:alpha val="50000"/>
              </a:srgbClr>
            </a:outerShdw>
          </a:effectLst>
        </p:spPr>
        <p:txBody>
          <a:bodyPr anchorCtr="0" anchor="ctr" bIns="35775" lIns="71550" spcFirstLastPara="1" rIns="71550" wrap="square" tIns="3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d62bca18de_4_4"/>
          <p:cNvSpPr txBox="1"/>
          <p:nvPr/>
        </p:nvSpPr>
        <p:spPr>
          <a:xfrm>
            <a:off x="3071433" y="3293627"/>
            <a:ext cx="18609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550" spcFirstLastPara="1" rIns="71550" wrap="square" tIns="35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920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r>
              <a:rPr b="1" lang="en-US" sz="1920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Kg/hr</a:t>
            </a:r>
            <a:endParaRPr sz="103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62bca18de_4_4"/>
          <p:cNvSpPr txBox="1"/>
          <p:nvPr/>
        </p:nvSpPr>
        <p:spPr>
          <a:xfrm>
            <a:off x="3107317" y="3132338"/>
            <a:ext cx="1789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550" spcFirstLastPara="1" rIns="71550" wrap="square" tIns="35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6"/>
          </a:p>
        </p:txBody>
      </p:sp>
      <p:sp>
        <p:nvSpPr>
          <p:cNvPr id="173" name="Google Shape;173;g3d62bca18de_4_4"/>
          <p:cNvSpPr txBox="1"/>
          <p:nvPr/>
        </p:nvSpPr>
        <p:spPr>
          <a:xfrm>
            <a:off x="3071491" y="3074874"/>
            <a:ext cx="1860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550" spcFirstLastPara="1" rIns="71550" wrap="square" tIns="35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6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CAPACIDAD</a:t>
            </a:r>
            <a:endParaRPr sz="1256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9">
              <a:solidFill>
                <a:srgbClr val="8A84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62bca18de_4_4"/>
          <p:cNvSpPr txBox="1"/>
          <p:nvPr/>
        </p:nvSpPr>
        <p:spPr>
          <a:xfrm>
            <a:off x="3071296" y="3679190"/>
            <a:ext cx="1860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550" spcFirstLastPara="1" rIns="71550" wrap="square" tIns="35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9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LINEA B</a:t>
            </a:r>
            <a:endParaRPr sz="939">
              <a:solidFill>
                <a:srgbClr val="8A84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Localizacion e Infraestructura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548715" y="1021713"/>
            <a:ext cx="25602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40155" y="1301184"/>
            <a:ext cx="237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B3A6B"/>
                </a:solidFill>
                <a:latin typeface="Calibri"/>
                <a:ea typeface="Calibri"/>
                <a:cs typeface="Calibri"/>
                <a:sym typeface="Calibri"/>
              </a:rPr>
              <a:t>1.330 m²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25" y="1095116"/>
            <a:ext cx="228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Superficie planta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291915" y="1021713"/>
            <a:ext cx="29262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3383305" y="1301184"/>
            <a:ext cx="27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C3E6B"/>
                </a:solidFill>
                <a:latin typeface="Calibri"/>
                <a:ea typeface="Calibri"/>
                <a:cs typeface="Calibri"/>
                <a:sym typeface="Calibri"/>
              </a:rPr>
              <a:t>P.I. Garin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3429025" y="1095128"/>
            <a:ext cx="265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Ubicacion elegida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3383305" y="1751140"/>
            <a:ext cx="2743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GBA Norte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400875" y="1021713"/>
            <a:ext cx="25602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6492390" y="1301184"/>
            <a:ext cx="237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8,45/10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6538235" y="1095128"/>
            <a:ext cx="228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Puntaje micro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6492390" y="1802765"/>
            <a:ext cx="2377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1ro de 3 candidatos</a:t>
            </a:r>
            <a:endParaRPr/>
          </a:p>
        </p:txBody>
      </p:sp>
      <p:graphicFrame>
        <p:nvGraphicFramePr>
          <p:cNvPr id="193" name="Google Shape;193;p6"/>
          <p:cNvGraphicFramePr/>
          <p:nvPr/>
        </p:nvGraphicFramePr>
        <p:xfrm>
          <a:off x="548665" y="2603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{17595190-994C-4024-AC5F-D66611B777E3}</a:tableStyleId>
              </a:tblPr>
              <a:tblGrid>
                <a:gridCol w="1645925"/>
                <a:gridCol w="2194550"/>
                <a:gridCol w="14630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Ventaja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Desventaja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C3E6B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— Centro (Cordoba)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Cercanía a fuentes de harina sin TACC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Lejos del mercado de consumo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 — Litoral (Santa Fe)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Punto logistico para recepcion MP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Mercado consumidor diluido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 — AMBA / GBA  ✓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~40% poblacion, centros de distribucion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6"/>
          <p:cNvSpPr txBox="1"/>
          <p:nvPr/>
        </p:nvSpPr>
        <p:spPr>
          <a:xfrm>
            <a:off x="548665" y="4158140"/>
            <a:ext cx="53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Decision: Region C (AMBA/GBA). Los centros de distribucion de las principales cadenas estan en GBA. Es mas barato traer MP a granel que despachar PT.</a:t>
            </a:r>
            <a:endParaRPr/>
          </a:p>
        </p:txBody>
      </p:sp>
      <p:graphicFrame>
        <p:nvGraphicFramePr>
          <p:cNvPr id="195" name="Google Shape;195;p6"/>
          <p:cNvGraphicFramePr/>
          <p:nvPr/>
        </p:nvGraphicFramePr>
        <p:xfrm>
          <a:off x="6217945" y="2603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{17595190-994C-4024-AC5F-D66611B777E3}</a:tableStyleId>
              </a:tblPr>
              <a:tblGrid>
                <a:gridCol w="2011675"/>
                <a:gridCol w="640075"/>
                <a:gridCol w="731525"/>
                <a:gridCol w="731525"/>
                <a:gridCol w="7315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Factor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Ezeiza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Garin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Pilar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2D5A3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Proximidad distrib./clientes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Infraestructura y servicios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Marco legal y zonificacion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superficie y expansion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0,15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Mano de obra e infra. vial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4A45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PONDERADO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7,95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8,45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7,90</a:t>
                      </a:r>
                      <a:endParaRPr/>
                    </a:p>
                  </a:txBody>
                  <a:tcPr marT="50800" marB="50800" marR="76200" marL="76200"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45" y="5127250"/>
            <a:ext cx="5029200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548654" y="2226488"/>
            <a:ext cx="177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Macro localizaci</a:t>
            </a:r>
            <a:r>
              <a:rPr b="1" lang="en-US" sz="15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b="1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217954" y="2245488"/>
            <a:ext cx="177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15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cro localizaci</a:t>
            </a:r>
            <a:r>
              <a:rPr b="1" lang="en-US" sz="15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b="1"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62bca18de_1_3"/>
          <p:cNvSpPr/>
          <p:nvPr/>
        </p:nvSpPr>
        <p:spPr>
          <a:xfrm>
            <a:off x="548640" y="365760"/>
            <a:ext cx="411600" cy="41160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d62bca18de_1_3"/>
          <p:cNvSpPr txBox="1"/>
          <p:nvPr/>
        </p:nvSpPr>
        <p:spPr>
          <a:xfrm>
            <a:off x="548640" y="384048"/>
            <a:ext cx="41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6" name="Google Shape;206;g3d62bca18de_1_3"/>
          <p:cNvSpPr txBox="1"/>
          <p:nvPr/>
        </p:nvSpPr>
        <p:spPr>
          <a:xfrm>
            <a:off x="1097280" y="320040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Logistica</a:t>
            </a:r>
            <a:endParaRPr/>
          </a:p>
        </p:txBody>
      </p:sp>
      <p:pic>
        <p:nvPicPr>
          <p:cNvPr id="207" name="Google Shape;207;g3d62bca18de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8925" y="1086175"/>
            <a:ext cx="5034749" cy="50347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08" name="Google Shape;208;g3d62bca18de_1_3"/>
          <p:cNvSpPr/>
          <p:nvPr/>
        </p:nvSpPr>
        <p:spPr>
          <a:xfrm>
            <a:off x="6549000" y="722750"/>
            <a:ext cx="5034600" cy="256800"/>
          </a:xfrm>
          <a:prstGeom prst="roundRect">
            <a:avLst>
              <a:gd fmla="val 16667" name="adj"/>
            </a:avLst>
          </a:prstGeom>
          <a:solidFill>
            <a:srgbClr val="E6F0EA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AMBA / GBA: Mayor zona de distribución</a:t>
            </a:r>
            <a:endParaRPr sz="1100">
              <a:solidFill>
                <a:srgbClr val="2D5A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g3d62bca18de_1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650" y="1558350"/>
            <a:ext cx="5349500" cy="42736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10" name="Google Shape;210;g3d62bca18de_1_3"/>
          <p:cNvSpPr/>
          <p:nvPr/>
        </p:nvSpPr>
        <p:spPr>
          <a:xfrm>
            <a:off x="681650" y="1204175"/>
            <a:ext cx="5349600" cy="256800"/>
          </a:xfrm>
          <a:prstGeom prst="roundRect">
            <a:avLst>
              <a:gd fmla="val 16667" name="adj"/>
            </a:avLst>
          </a:prstGeom>
          <a:solidFill>
            <a:srgbClr val="E6F0EA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P.I. Garín: Punto estratégico para la recepción y distribución</a:t>
            </a:r>
            <a:endParaRPr sz="1100">
              <a:solidFill>
                <a:srgbClr val="2D5A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d62bca18de_1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Organigrama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1097280" y="77724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Estructura de 5</a:t>
            </a:r>
            <a:r>
              <a:rPr lang="en-US" sz="15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personas con doble control de calidad y produccion en </a:t>
            </a:r>
            <a:r>
              <a:rPr lang="en-US" sz="15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0" lang="en-US" sz="1500" u="none" cap="none" strike="noStrike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 turnos.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833915" y="1602096"/>
            <a:ext cx="2377500" cy="457200"/>
          </a:xfrm>
          <a:prstGeom prst="rect">
            <a:avLst/>
          </a:prstGeom>
          <a:solidFill>
            <a:srgbClr val="E8650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833915" y="16020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PRESIDENTE</a:t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22" name="Google Shape;222;p8"/>
          <p:cNvCxnSpPr/>
          <p:nvPr/>
        </p:nvCxnSpPr>
        <p:spPr>
          <a:xfrm>
            <a:off x="6022635" y="2060047"/>
            <a:ext cx="0" cy="1554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8"/>
          <p:cNvCxnSpPr/>
          <p:nvPr/>
        </p:nvCxnSpPr>
        <p:spPr>
          <a:xfrm>
            <a:off x="1743243" y="2215495"/>
            <a:ext cx="8558700" cy="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8"/>
          <p:cNvCxnSpPr/>
          <p:nvPr/>
        </p:nvCxnSpPr>
        <p:spPr>
          <a:xfrm>
            <a:off x="1743243" y="2215495"/>
            <a:ext cx="0" cy="63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8"/>
          <p:cNvCxnSpPr/>
          <p:nvPr/>
        </p:nvCxnSpPr>
        <p:spPr>
          <a:xfrm>
            <a:off x="4854489" y="2215495"/>
            <a:ext cx="0" cy="63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8"/>
          <p:cNvCxnSpPr/>
          <p:nvPr/>
        </p:nvCxnSpPr>
        <p:spPr>
          <a:xfrm>
            <a:off x="8162331" y="2215495"/>
            <a:ext cx="0" cy="63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8"/>
          <p:cNvCxnSpPr/>
          <p:nvPr/>
        </p:nvCxnSpPr>
        <p:spPr>
          <a:xfrm>
            <a:off x="10302027" y="2215495"/>
            <a:ext cx="0" cy="63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8"/>
          <p:cNvSpPr/>
          <p:nvPr/>
        </p:nvSpPr>
        <p:spPr>
          <a:xfrm>
            <a:off x="737403" y="2279503"/>
            <a:ext cx="2011800" cy="457200"/>
          </a:xfrm>
          <a:prstGeom prst="rect">
            <a:avLst/>
          </a:prstGeom>
          <a:solidFill>
            <a:srgbClr val="2471A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737403" y="2279503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VENTAS</a:t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915324" y="2279503"/>
            <a:ext cx="2011800" cy="457200"/>
          </a:xfrm>
          <a:prstGeom prst="rect">
            <a:avLst/>
          </a:prstGeom>
          <a:solidFill>
            <a:srgbClr val="2471A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3915324" y="2279503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GERENTE DE PLANTA</a:t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156491" y="2279503"/>
            <a:ext cx="2011800" cy="457200"/>
          </a:xfrm>
          <a:prstGeom prst="rect">
            <a:avLst/>
          </a:prstGeom>
          <a:solidFill>
            <a:srgbClr val="7D3C9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7156491" y="2279503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GERENCIA DE CALIDAD</a:t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9296187" y="2279503"/>
            <a:ext cx="2011800" cy="457200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9296187" y="2279503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ADMI &amp; FINANZAS</a:t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i="0" sz="105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36" name="Google Shape;236;p8"/>
          <p:cNvCxnSpPr/>
          <p:nvPr/>
        </p:nvCxnSpPr>
        <p:spPr>
          <a:xfrm>
            <a:off x="4911639" y="2736703"/>
            <a:ext cx="0" cy="3108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8"/>
          <p:cNvCxnSpPr/>
          <p:nvPr/>
        </p:nvCxnSpPr>
        <p:spPr>
          <a:xfrm>
            <a:off x="3343443" y="3047599"/>
            <a:ext cx="2875500" cy="192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8"/>
          <p:cNvCxnSpPr/>
          <p:nvPr/>
        </p:nvCxnSpPr>
        <p:spPr>
          <a:xfrm>
            <a:off x="3343443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8"/>
          <p:cNvCxnSpPr/>
          <p:nvPr/>
        </p:nvCxnSpPr>
        <p:spPr>
          <a:xfrm>
            <a:off x="4404147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8"/>
          <p:cNvSpPr/>
          <p:nvPr/>
        </p:nvSpPr>
        <p:spPr>
          <a:xfrm>
            <a:off x="2877099" y="3102463"/>
            <a:ext cx="932700" cy="420600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2877099" y="3102463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JEFE MANT.</a:t>
            </a:r>
            <a:endParaRPr sz="1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t/>
            </a:r>
            <a:endParaRPr sz="10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937803" y="3102463"/>
            <a:ext cx="932700" cy="420600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3937800" y="3102477"/>
            <a:ext cx="9327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JEFE PRO</a:t>
            </a:r>
            <a: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DUCCIÓN</a:t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t/>
            </a:r>
            <a:endParaRPr i="0" sz="10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44" name="Google Shape;244;p8"/>
          <p:cNvCxnSpPr/>
          <p:nvPr/>
        </p:nvCxnSpPr>
        <p:spPr>
          <a:xfrm>
            <a:off x="3343443" y="3523087"/>
            <a:ext cx="0" cy="4023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8"/>
          <p:cNvSpPr/>
          <p:nvPr/>
        </p:nvSpPr>
        <p:spPr>
          <a:xfrm>
            <a:off x="2877099" y="3925423"/>
            <a:ext cx="9327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2877099" y="3925423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 Técnicos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47" name="Google Shape;247;p8"/>
          <p:cNvCxnSpPr/>
          <p:nvPr/>
        </p:nvCxnSpPr>
        <p:spPr>
          <a:xfrm>
            <a:off x="4404147" y="3523087"/>
            <a:ext cx="0" cy="3474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8"/>
          <p:cNvCxnSpPr/>
          <p:nvPr/>
        </p:nvCxnSpPr>
        <p:spPr>
          <a:xfrm>
            <a:off x="4065819" y="3870559"/>
            <a:ext cx="530400" cy="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8"/>
          <p:cNvCxnSpPr/>
          <p:nvPr/>
        </p:nvCxnSpPr>
        <p:spPr>
          <a:xfrm>
            <a:off x="4065819" y="387055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8"/>
          <p:cNvCxnSpPr/>
          <p:nvPr/>
        </p:nvCxnSpPr>
        <p:spPr>
          <a:xfrm>
            <a:off x="4596171" y="387055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8"/>
          <p:cNvSpPr/>
          <p:nvPr/>
        </p:nvSpPr>
        <p:spPr>
          <a:xfrm>
            <a:off x="3828075" y="3925423"/>
            <a:ext cx="475500" cy="420600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3828075" y="3925423"/>
            <a:ext cx="475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SUP. TM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358427" y="3925423"/>
            <a:ext cx="475500" cy="420600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358427" y="3925423"/>
            <a:ext cx="475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SUP. </a:t>
            </a: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TT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55" name="Google Shape;255;p8"/>
          <p:cNvCxnSpPr/>
          <p:nvPr/>
        </p:nvCxnSpPr>
        <p:spPr>
          <a:xfrm>
            <a:off x="4065819" y="4346047"/>
            <a:ext cx="0" cy="4023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8"/>
          <p:cNvCxnSpPr/>
          <p:nvPr/>
        </p:nvCxnSpPr>
        <p:spPr>
          <a:xfrm>
            <a:off x="4596171" y="4346047"/>
            <a:ext cx="0" cy="4023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8"/>
          <p:cNvSpPr/>
          <p:nvPr/>
        </p:nvSpPr>
        <p:spPr>
          <a:xfrm>
            <a:off x="3174042" y="4748374"/>
            <a:ext cx="11295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3310550" y="4762112"/>
            <a:ext cx="916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Operarios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Turno Mañana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358422" y="4748374"/>
            <a:ext cx="11523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211471" y="4762112"/>
            <a:ext cx="135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Operarios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Turno Tarde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61" name="Google Shape;261;p8"/>
          <p:cNvCxnSpPr/>
          <p:nvPr/>
        </p:nvCxnSpPr>
        <p:spPr>
          <a:xfrm>
            <a:off x="6543843" y="345907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8"/>
          <p:cNvSpPr/>
          <p:nvPr/>
        </p:nvSpPr>
        <p:spPr>
          <a:xfrm>
            <a:off x="5016808" y="3126838"/>
            <a:ext cx="932700" cy="420600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5016808" y="3126838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COOR. </a:t>
            </a:r>
            <a:b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LOGISTICA</a:t>
            </a:r>
            <a:endParaRPr i="0" sz="10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077512" y="3126838"/>
            <a:ext cx="932700" cy="420600"/>
          </a:xfrm>
          <a:prstGeom prst="rect">
            <a:avLst/>
          </a:prstGeom>
          <a:solidFill>
            <a:srgbClr val="1A7A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077512" y="3126838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LIDER SUPPLY</a:t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66" name="Google Shape;266;p8"/>
          <p:cNvCxnSpPr/>
          <p:nvPr/>
        </p:nvCxnSpPr>
        <p:spPr>
          <a:xfrm>
            <a:off x="8162331" y="2736703"/>
            <a:ext cx="0" cy="3108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8"/>
          <p:cNvCxnSpPr/>
          <p:nvPr/>
        </p:nvCxnSpPr>
        <p:spPr>
          <a:xfrm>
            <a:off x="7503963" y="3047599"/>
            <a:ext cx="1316700" cy="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8"/>
          <p:cNvCxnSpPr/>
          <p:nvPr/>
        </p:nvCxnSpPr>
        <p:spPr>
          <a:xfrm>
            <a:off x="7503963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8"/>
          <p:cNvSpPr/>
          <p:nvPr/>
        </p:nvSpPr>
        <p:spPr>
          <a:xfrm>
            <a:off x="7193067" y="3102463"/>
            <a:ext cx="621900" cy="420600"/>
          </a:xfrm>
          <a:prstGeom prst="rect">
            <a:avLst/>
          </a:prstGeom>
          <a:solidFill>
            <a:srgbClr val="7D3C9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193067" y="3102463"/>
            <a:ext cx="621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Técnica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Línea 1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71" name="Google Shape;271;p8"/>
          <p:cNvCxnSpPr/>
          <p:nvPr/>
        </p:nvCxnSpPr>
        <p:spPr>
          <a:xfrm>
            <a:off x="8162331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8"/>
          <p:cNvSpPr/>
          <p:nvPr/>
        </p:nvSpPr>
        <p:spPr>
          <a:xfrm>
            <a:off x="7851435" y="3102463"/>
            <a:ext cx="621900" cy="420600"/>
          </a:xfrm>
          <a:prstGeom prst="rect">
            <a:avLst/>
          </a:prstGeom>
          <a:solidFill>
            <a:srgbClr val="7D3C9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7851435" y="3102463"/>
            <a:ext cx="621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Técnica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Línea 2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74" name="Google Shape;274;p8"/>
          <p:cNvCxnSpPr/>
          <p:nvPr/>
        </p:nvCxnSpPr>
        <p:spPr>
          <a:xfrm>
            <a:off x="8820699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8"/>
          <p:cNvSpPr/>
          <p:nvPr/>
        </p:nvSpPr>
        <p:spPr>
          <a:xfrm>
            <a:off x="8509803" y="3102463"/>
            <a:ext cx="621900" cy="420600"/>
          </a:xfrm>
          <a:prstGeom prst="rect">
            <a:avLst/>
          </a:prstGeom>
          <a:solidFill>
            <a:srgbClr val="7D3C9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8509803" y="3102463"/>
            <a:ext cx="621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Analista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Desarrollo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77" name="Google Shape;277;p8"/>
          <p:cNvCxnSpPr/>
          <p:nvPr/>
        </p:nvCxnSpPr>
        <p:spPr>
          <a:xfrm>
            <a:off x="10302027" y="2736703"/>
            <a:ext cx="0" cy="3108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8"/>
          <p:cNvCxnSpPr/>
          <p:nvPr/>
        </p:nvCxnSpPr>
        <p:spPr>
          <a:xfrm>
            <a:off x="9561363" y="3047599"/>
            <a:ext cx="1481400" cy="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8"/>
          <p:cNvCxnSpPr/>
          <p:nvPr/>
        </p:nvCxnSpPr>
        <p:spPr>
          <a:xfrm>
            <a:off x="9561363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8"/>
          <p:cNvSpPr/>
          <p:nvPr/>
        </p:nvSpPr>
        <p:spPr>
          <a:xfrm>
            <a:off x="9332763" y="3102463"/>
            <a:ext cx="457200" cy="420600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9332763" y="3102463"/>
            <a:ext cx="45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TESORERÍA</a:t>
            </a:r>
            <a:endParaRPr i="0" sz="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82" name="Google Shape;282;p8"/>
          <p:cNvCxnSpPr/>
          <p:nvPr/>
        </p:nvCxnSpPr>
        <p:spPr>
          <a:xfrm>
            <a:off x="10055139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8"/>
          <p:cNvSpPr/>
          <p:nvPr/>
        </p:nvSpPr>
        <p:spPr>
          <a:xfrm>
            <a:off x="9826539" y="3102463"/>
            <a:ext cx="457200" cy="420600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9826539" y="3102463"/>
            <a:ext cx="45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RRHH</a:t>
            </a:r>
            <a:endParaRPr i="0" sz="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85" name="Google Shape;285;p8"/>
          <p:cNvCxnSpPr/>
          <p:nvPr/>
        </p:nvCxnSpPr>
        <p:spPr>
          <a:xfrm>
            <a:off x="10548915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8"/>
          <p:cNvSpPr/>
          <p:nvPr/>
        </p:nvSpPr>
        <p:spPr>
          <a:xfrm>
            <a:off x="10320315" y="3102463"/>
            <a:ext cx="457200" cy="420600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10320315" y="3102463"/>
            <a:ext cx="45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FACTURACIÓN</a:t>
            </a:r>
            <a:endParaRPr i="0" sz="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88" name="Google Shape;288;p8"/>
          <p:cNvCxnSpPr/>
          <p:nvPr/>
        </p:nvCxnSpPr>
        <p:spPr>
          <a:xfrm>
            <a:off x="11042691" y="3047599"/>
            <a:ext cx="0" cy="549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8"/>
          <p:cNvSpPr/>
          <p:nvPr/>
        </p:nvSpPr>
        <p:spPr>
          <a:xfrm>
            <a:off x="10814091" y="3102463"/>
            <a:ext cx="457200" cy="420600"/>
          </a:xfrm>
          <a:prstGeom prst="rect">
            <a:avLst/>
          </a:prstGeom>
          <a:solidFill>
            <a:srgbClr val="117A65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10814091" y="3102463"/>
            <a:ext cx="45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ADMINIST.</a:t>
            </a:r>
            <a:endParaRPr i="0" sz="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t/>
            </a:r>
            <a:endParaRPr i="0" sz="8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30681" y="6229544"/>
            <a:ext cx="164700" cy="164700"/>
          </a:xfrm>
          <a:prstGeom prst="rect">
            <a:avLst/>
          </a:prstGeom>
          <a:solidFill>
            <a:srgbClr val="E8650A"/>
          </a:solidFill>
          <a:ln cap="flat" cmpd="sng" w="12700">
            <a:solidFill>
              <a:srgbClr val="E865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971181" y="6182090"/>
            <a:ext cx="149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Presidencia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2679912" y="6227810"/>
            <a:ext cx="164700" cy="164700"/>
          </a:xfrm>
          <a:prstGeom prst="rect">
            <a:avLst/>
          </a:prstGeom>
          <a:solidFill>
            <a:srgbClr val="2471A3"/>
          </a:solidFill>
          <a:ln cap="flat" cmpd="sng" w="12700">
            <a:solidFill>
              <a:srgbClr val="2471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94" name="Google Shape;294;p8"/>
          <p:cNvSpPr/>
          <p:nvPr/>
        </p:nvSpPr>
        <p:spPr>
          <a:xfrm>
            <a:off x="2881080" y="6182090"/>
            <a:ext cx="149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Direcciones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417272" y="6227810"/>
            <a:ext cx="164700" cy="164700"/>
          </a:xfrm>
          <a:prstGeom prst="rect">
            <a:avLst/>
          </a:prstGeom>
          <a:solidFill>
            <a:srgbClr val="1A7A4A"/>
          </a:solidFill>
          <a:ln cap="flat" cmpd="sng" w="12700">
            <a:solidFill>
              <a:srgbClr val="1A7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96" name="Google Shape;296;p8"/>
          <p:cNvSpPr/>
          <p:nvPr/>
        </p:nvSpPr>
        <p:spPr>
          <a:xfrm>
            <a:off x="4618440" y="6182090"/>
            <a:ext cx="149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Jefes / Sup.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154632" y="6227810"/>
            <a:ext cx="164700" cy="1647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98" name="Google Shape;298;p8"/>
          <p:cNvSpPr/>
          <p:nvPr/>
        </p:nvSpPr>
        <p:spPr>
          <a:xfrm>
            <a:off x="6355800" y="6182090"/>
            <a:ext cx="149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Calidad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891992" y="6227810"/>
            <a:ext cx="164700" cy="164700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00" name="Google Shape;300;p8"/>
          <p:cNvSpPr/>
          <p:nvPr/>
        </p:nvSpPr>
        <p:spPr>
          <a:xfrm>
            <a:off x="8093160" y="6182090"/>
            <a:ext cx="149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9629352" y="6227810"/>
            <a:ext cx="164700" cy="164700"/>
          </a:xfrm>
          <a:prstGeom prst="rect">
            <a:avLst/>
          </a:prstGeom>
          <a:solidFill>
            <a:srgbClr val="5D6D7E"/>
          </a:solidFill>
          <a:ln cap="flat" cmpd="sng" w="12700">
            <a:solidFill>
              <a:srgbClr val="5D6D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02" name="Google Shape;302;p8"/>
          <p:cNvSpPr/>
          <p:nvPr/>
        </p:nvSpPr>
        <p:spPr>
          <a:xfrm>
            <a:off x="9830520" y="6182090"/>
            <a:ext cx="1499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Operarios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8"/>
          <p:cNvCxnSpPr/>
          <p:nvPr/>
        </p:nvCxnSpPr>
        <p:spPr>
          <a:xfrm>
            <a:off x="5446556" y="3573387"/>
            <a:ext cx="0" cy="4023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8"/>
          <p:cNvSpPr/>
          <p:nvPr/>
        </p:nvSpPr>
        <p:spPr>
          <a:xfrm>
            <a:off x="4980212" y="3975723"/>
            <a:ext cx="9327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980212" y="3975723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 </a:t>
            </a: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Operarios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6" name="Google Shape;306;p8"/>
          <p:cNvCxnSpPr/>
          <p:nvPr/>
        </p:nvCxnSpPr>
        <p:spPr>
          <a:xfrm>
            <a:off x="6552993" y="3543725"/>
            <a:ext cx="0" cy="402300"/>
          </a:xfrm>
          <a:prstGeom prst="straightConnector1">
            <a:avLst/>
          </a:prstGeom>
          <a:noFill/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8"/>
          <p:cNvSpPr/>
          <p:nvPr/>
        </p:nvSpPr>
        <p:spPr>
          <a:xfrm>
            <a:off x="6086649" y="3946061"/>
            <a:ext cx="932700" cy="420600"/>
          </a:xfrm>
          <a:prstGeom prst="rect">
            <a:avLst/>
          </a:prstGeom>
          <a:solidFill>
            <a:srgbClr val="5D6D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6086649" y="3946061"/>
            <a:ext cx="932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    1 operario</a:t>
            </a:r>
            <a:endParaRPr i="0" sz="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9" name="Google Shape;30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16" name="Google Shape;316;p7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Costos Principales</a:t>
            </a:r>
            <a:endParaRPr/>
          </a:p>
        </p:txBody>
      </p:sp>
      <p:sp>
        <p:nvSpPr>
          <p:cNvPr id="317" name="Google Shape;317;p7"/>
          <p:cNvSpPr txBox="1"/>
          <p:nvPr/>
        </p:nvSpPr>
        <p:spPr>
          <a:xfrm>
            <a:off x="1097280" y="777240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Costo</a:t>
            </a:r>
            <a:r>
              <a:rPr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$3.</a:t>
            </a:r>
            <a:r>
              <a:rPr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288</a:t>
            </a: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MM/año. Margen bruto </a:t>
            </a:r>
            <a:r>
              <a:rPr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%. Margen neto 1</a:t>
            </a:r>
            <a:r>
              <a:rPr lang="en-US" sz="13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5.4</a:t>
            </a: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%.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548640" y="1371600"/>
            <a:ext cx="34747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685800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Costo total anual</a:t>
            </a:r>
            <a:endParaRPr/>
          </a:p>
        </p:txBody>
      </p:sp>
      <p:sp>
        <p:nvSpPr>
          <p:cNvPr id="320" name="Google Shape;320;p7"/>
          <p:cNvSpPr txBox="1"/>
          <p:nvPr/>
        </p:nvSpPr>
        <p:spPr>
          <a:xfrm>
            <a:off x="640080" y="1719072"/>
            <a:ext cx="32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B85C3C"/>
                </a:solidFill>
                <a:latin typeface="Calibri"/>
                <a:ea typeface="Calibri"/>
                <a:cs typeface="Calibri"/>
                <a:sym typeface="Calibri"/>
              </a:rPr>
              <a:t>$3.</a:t>
            </a:r>
            <a:r>
              <a:rPr b="1" lang="en-US" sz="2600">
                <a:solidFill>
                  <a:srgbClr val="B85C3C"/>
                </a:solidFill>
                <a:latin typeface="Calibri"/>
                <a:ea typeface="Calibri"/>
                <a:cs typeface="Calibri"/>
                <a:sym typeface="Calibri"/>
              </a:rPr>
              <a:t>288 </a:t>
            </a:r>
            <a:r>
              <a:rPr b="1" i="0" lang="en-US" sz="2600" u="none" cap="none" strike="noStrike">
                <a:solidFill>
                  <a:srgbClr val="B85C3C"/>
                </a:solidFill>
                <a:latin typeface="Calibri"/>
                <a:ea typeface="Calibri"/>
                <a:cs typeface="Calibri"/>
                <a:sym typeface="Calibri"/>
              </a:rPr>
              <a:t>MM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4297679" y="1371600"/>
            <a:ext cx="34747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4434839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Resultado bruto</a:t>
            </a:r>
            <a:endParaRPr/>
          </a:p>
        </p:txBody>
      </p:sp>
      <p:sp>
        <p:nvSpPr>
          <p:cNvPr id="323" name="Google Shape;323;p7"/>
          <p:cNvSpPr txBox="1"/>
          <p:nvPr/>
        </p:nvSpPr>
        <p:spPr>
          <a:xfrm>
            <a:off x="4389119" y="1719072"/>
            <a:ext cx="32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$1.</a:t>
            </a:r>
            <a:r>
              <a:rPr b="1" lang="en-US" sz="2600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094 </a:t>
            </a:r>
            <a:r>
              <a:rPr b="1" i="0" lang="en-US" sz="2600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MM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4389119" y="2148840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8046719" y="1371600"/>
            <a:ext cx="347472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8183879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Resultado neto</a:t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8138159" y="1719072"/>
            <a:ext cx="329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C3E6B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b="1" lang="en-US" sz="2600">
                <a:solidFill>
                  <a:srgbClr val="2C3E6B"/>
                </a:solidFill>
                <a:latin typeface="Calibri"/>
                <a:ea typeface="Calibri"/>
                <a:cs typeface="Calibri"/>
                <a:sym typeface="Calibri"/>
              </a:rPr>
              <a:t>675.5 </a:t>
            </a:r>
            <a:r>
              <a:rPr b="1" i="0" lang="en-US" sz="2600" u="none" cap="none" strike="noStrike">
                <a:solidFill>
                  <a:srgbClr val="2C3E6B"/>
                </a:solidFill>
                <a:latin typeface="Calibri"/>
                <a:ea typeface="Calibri"/>
                <a:cs typeface="Calibri"/>
                <a:sym typeface="Calibri"/>
              </a:rPr>
              <a:t>MM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8138159" y="2148840"/>
            <a:ext cx="3291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5.4</a:t>
            </a:r>
            <a:r>
              <a:rPr b="0" i="0" lang="en-US" sz="900" u="none" cap="none" strike="noStrike">
                <a:solidFill>
                  <a:srgbClr val="8A847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54825" y="6209750"/>
            <a:ext cx="5241600" cy="411600"/>
          </a:xfrm>
          <a:prstGeom prst="roundRect">
            <a:avLst>
              <a:gd fmla="val 16667" name="adj"/>
            </a:avLst>
          </a:prstGeom>
          <a:solidFill>
            <a:srgbClr val="E6F0EA"/>
          </a:solidFill>
          <a:ln cap="flat" cmpd="sng" w="10325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200" lIns="74400" spcFirstLastPara="1" rIns="74400" wrap="square" tIns="37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216066" y="6251957"/>
            <a:ext cx="49191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200" lIns="74400" spcFirstLastPara="1" rIns="74400" wrap="square" tIns="37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Facturacion $4.382M − Costos $3</a:t>
            </a:r>
            <a:r>
              <a:rPr lang="en-US" sz="995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.288</a:t>
            </a:r>
            <a:r>
              <a:rPr b="0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M = </a:t>
            </a:r>
            <a:r>
              <a:rPr b="1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Res. bruto $1.</a:t>
            </a:r>
            <a:r>
              <a:rPr b="1" lang="en-US" sz="995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094</a:t>
            </a:r>
            <a:r>
              <a:rPr b="1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M (</a:t>
            </a:r>
            <a:r>
              <a:rPr b="1" lang="en-US" sz="995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1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br>
              <a:rPr b="1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− Hon. directorio 5% ($</a:t>
            </a:r>
            <a:r>
              <a:rPr lang="en-US" sz="995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54.7</a:t>
            </a:r>
            <a:r>
              <a:rPr b="0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M) − IIGG 35% ($</a:t>
            </a:r>
            <a:r>
              <a:rPr lang="en-US" sz="995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363.75</a:t>
            </a:r>
            <a:r>
              <a:rPr b="0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M) = </a:t>
            </a:r>
            <a:r>
              <a:rPr b="1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Resultado neto $</a:t>
            </a:r>
            <a:r>
              <a:rPr b="1" lang="en-US" sz="995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675.5</a:t>
            </a:r>
            <a:r>
              <a:rPr b="1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M (1</a:t>
            </a:r>
            <a:r>
              <a:rPr b="1" lang="en-US" sz="995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lang="en-US" sz="995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995" u="none" cap="none" strike="noStrike">
                <a:solidFill>
                  <a:srgbClr val="2D5A3D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endParaRPr b="1" sz="1239"/>
          </a:p>
        </p:txBody>
      </p:sp>
      <p:pic>
        <p:nvPicPr>
          <p:cNvPr id="331" name="Google Shape;331;p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00" y="2781375"/>
            <a:ext cx="5177076" cy="320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184" y="3266526"/>
            <a:ext cx="3710628" cy="205623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7"/>
          <p:cNvSpPr txBox="1"/>
          <p:nvPr/>
        </p:nvSpPr>
        <p:spPr>
          <a:xfrm>
            <a:off x="5392388" y="2973875"/>
            <a:ext cx="244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Costo mano de obra (41.3%)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7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2475" y="3243213"/>
            <a:ext cx="3710626" cy="201959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7"/>
          <p:cNvSpPr txBox="1"/>
          <p:nvPr/>
        </p:nvSpPr>
        <p:spPr>
          <a:xfrm>
            <a:off x="9315885" y="2973875"/>
            <a:ext cx="190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A4540"/>
                </a:solidFill>
                <a:latin typeface="Calibri"/>
                <a:ea typeface="Calibri"/>
                <a:cs typeface="Calibri"/>
                <a:sym typeface="Calibri"/>
              </a:rPr>
              <a:t>Costo MP (28.7%)</a:t>
            </a:r>
            <a:endParaRPr b="1" sz="1500">
              <a:solidFill>
                <a:srgbClr val="4A4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7"/>
          <p:cNvSpPr/>
          <p:nvPr/>
        </p:nvSpPr>
        <p:spPr>
          <a:xfrm>
            <a:off x="6766675" y="5493600"/>
            <a:ext cx="34746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6949555" y="5562948"/>
            <a:ext cx="310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8A96E"/>
                </a:solidFill>
                <a:latin typeface="Calibri"/>
                <a:ea typeface="Calibri"/>
                <a:cs typeface="Calibri"/>
                <a:sym typeface="Calibri"/>
              </a:rPr>
              <a:t>Otros costos (30%)</a:t>
            </a:r>
            <a:endParaRPr b="1"/>
          </a:p>
        </p:txBody>
      </p:sp>
      <p:sp>
        <p:nvSpPr>
          <p:cNvPr id="339" name="Google Shape;339;p7"/>
          <p:cNvSpPr txBox="1"/>
          <p:nvPr/>
        </p:nvSpPr>
        <p:spPr>
          <a:xfrm>
            <a:off x="6949555" y="5794104"/>
            <a:ext cx="310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A4540"/>
                </a:solidFill>
                <a:latin typeface="Roboto"/>
                <a:ea typeface="Roboto"/>
                <a:cs typeface="Roboto"/>
                <a:sym typeface="Roboto"/>
              </a:rPr>
              <a:t>Servicios, Mantenimiento, Logística, Marketing/publicidad, Packaging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6" name="Google Shape;346;p9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Inversiones</a:t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348903" y="2697450"/>
            <a:ext cx="3657600" cy="146310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348903" y="2788890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INVERSION TOTAL</a:t>
            </a:r>
            <a:endParaRPr sz="1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348903" y="3118092"/>
            <a:ext cx="3657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$1.</a:t>
            </a:r>
            <a:r>
              <a:rPr b="1" lang="en-US" sz="5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779</a:t>
            </a:r>
            <a:r>
              <a:rPr b="1" i="0" lang="en-US" sz="50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MM</a:t>
            </a:r>
            <a:endParaRPr b="1" sz="2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0" name="Google Shape;35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575" y="942050"/>
            <a:ext cx="8371451" cy="5361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" name="Google Shape;351;p9"/>
          <p:cNvCxnSpPr/>
          <p:nvPr/>
        </p:nvCxnSpPr>
        <p:spPr>
          <a:xfrm>
            <a:off x="4567500" y="1558000"/>
            <a:ext cx="9000" cy="457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2" name="Google Shape;35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"/>
          <p:cNvSpPr/>
          <p:nvPr/>
        </p:nvSpPr>
        <p:spPr>
          <a:xfrm>
            <a:off x="687150" y="1102175"/>
            <a:ext cx="6463500" cy="4844400"/>
          </a:xfrm>
          <a:prstGeom prst="roundRect">
            <a:avLst>
              <a:gd fmla="val 632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48640" y="365760"/>
            <a:ext cx="411480" cy="41148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548640" y="3840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60" name="Google Shape;360;p10"/>
          <p:cNvSpPr txBox="1"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Flujo de Fondos e Indicadores</a:t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8331800" y="1235225"/>
            <a:ext cx="2560200" cy="84000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8468900" y="1243153"/>
            <a:ext cx="228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Beneficio neto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8423150" y="1536006"/>
            <a:ext cx="237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$</a:t>
            </a:r>
            <a:r>
              <a:rPr b="1" lang="en-US" sz="2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4.787 </a:t>
            </a:r>
            <a:r>
              <a:rPr b="1" i="0" lang="en-US" sz="2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MM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4" name="Google Shape;36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0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550" y="956613"/>
            <a:ext cx="6877817" cy="494477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0"/>
          <p:cNvSpPr/>
          <p:nvPr/>
        </p:nvSpPr>
        <p:spPr>
          <a:xfrm>
            <a:off x="8331800" y="2530625"/>
            <a:ext cx="2560200" cy="84000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8468900" y="2538553"/>
            <a:ext cx="228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Recupero de inversión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68" name="Google Shape;368;p10"/>
          <p:cNvSpPr txBox="1"/>
          <p:nvPr/>
        </p:nvSpPr>
        <p:spPr>
          <a:xfrm>
            <a:off x="8423150" y="2814397"/>
            <a:ext cx="237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3,7 años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8331800" y="3748625"/>
            <a:ext cx="2560200" cy="84000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8451891" y="3756553"/>
            <a:ext cx="228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8423150" y="4032397"/>
            <a:ext cx="237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35,1%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8331800" y="4973513"/>
            <a:ext cx="2560200" cy="840000"/>
          </a:xfrm>
          <a:prstGeom prst="roundRect">
            <a:avLst>
              <a:gd fmla="val 16667" name="adj"/>
            </a:avLst>
          </a:prstGeom>
          <a:solidFill>
            <a:srgbClr val="2D5A3D"/>
          </a:solidFill>
          <a:ln cap="flat" cmpd="sng" w="12700">
            <a:solidFill>
              <a:srgbClr val="F3F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 txBox="1"/>
          <p:nvPr/>
        </p:nvSpPr>
        <p:spPr>
          <a:xfrm>
            <a:off x="8468900" y="4981441"/>
            <a:ext cx="228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74" name="Google Shape;374;p10"/>
          <p:cNvSpPr txBox="1"/>
          <p:nvPr/>
        </p:nvSpPr>
        <p:spPr>
          <a:xfrm>
            <a:off x="8423150" y="5257285"/>
            <a:ext cx="237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$</a:t>
            </a:r>
            <a:r>
              <a:rPr b="1" lang="en-US" sz="2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i="0" lang="en-US" sz="2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r>
              <a:rPr b="1" lang="en-US" sz="2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319 </a:t>
            </a:r>
            <a:r>
              <a:rPr b="1" i="0" lang="en-US" sz="23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MM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1329725" y="6356553"/>
            <a:ext cx="23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$</a:t>
            </a:r>
            <a:r>
              <a:rPr b="1" lang="en-US" sz="21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4.382 </a:t>
            </a:r>
            <a:r>
              <a:rPr b="1" i="0" lang="en-US" sz="2100" u="none" cap="none" strike="noStrike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MM</a:t>
            </a:r>
            <a:endParaRPr sz="9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4220575" y="6356553"/>
            <a:ext cx="23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0392B"/>
                </a:solidFill>
                <a:latin typeface="Nunito"/>
                <a:ea typeface="Nunito"/>
                <a:cs typeface="Nunito"/>
                <a:sym typeface="Nunito"/>
              </a:rPr>
              <a:t>$</a:t>
            </a:r>
            <a:r>
              <a:rPr b="1" lang="en-US" sz="2100">
                <a:solidFill>
                  <a:srgbClr val="C0392B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b="1" lang="en-US" sz="2100">
                <a:solidFill>
                  <a:srgbClr val="C0392B"/>
                </a:solidFill>
                <a:latin typeface="Nunito"/>
                <a:ea typeface="Nunito"/>
                <a:cs typeface="Nunito"/>
                <a:sym typeface="Nunito"/>
              </a:rPr>
              <a:t>.288 </a:t>
            </a:r>
            <a:r>
              <a:rPr b="1" i="0" lang="en-US" sz="2100" u="none" cap="none" strike="noStrike">
                <a:solidFill>
                  <a:srgbClr val="C0392B"/>
                </a:solidFill>
                <a:latin typeface="Nunito"/>
                <a:ea typeface="Nunito"/>
                <a:cs typeface="Nunito"/>
                <a:sym typeface="Nunito"/>
              </a:rPr>
              <a:t>MM</a:t>
            </a:r>
            <a:endParaRPr sz="900">
              <a:solidFill>
                <a:srgbClr val="C039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1329725" y="6056188"/>
            <a:ext cx="23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Ingresos anuales</a:t>
            </a:r>
            <a:endParaRPr sz="18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4220575" y="6056188"/>
            <a:ext cx="23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392B"/>
                </a:solidFill>
                <a:latin typeface="Nunito"/>
                <a:ea typeface="Nunito"/>
                <a:cs typeface="Nunito"/>
                <a:sym typeface="Nunito"/>
              </a:rPr>
              <a:t>Egresos anuales</a:t>
            </a:r>
            <a:endParaRPr sz="1800">
              <a:solidFill>
                <a:srgbClr val="C039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A3D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"/>
          <p:cNvSpPr txBox="1"/>
          <p:nvPr/>
        </p:nvSpPr>
        <p:spPr>
          <a:xfrm>
            <a:off x="0" y="1828800"/>
            <a:ext cx="12191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8A96E"/>
                </a:solidFill>
                <a:latin typeface="Consolas"/>
                <a:ea typeface="Consolas"/>
                <a:cs typeface="Consolas"/>
                <a:sym typeface="Consolas"/>
              </a:rPr>
              <a:t>CONCLUSI</a:t>
            </a:r>
            <a:r>
              <a:rPr b="1" lang="en-US" sz="2200">
                <a:solidFill>
                  <a:srgbClr val="C8A96E"/>
                </a:solidFill>
                <a:latin typeface="Consolas"/>
                <a:ea typeface="Consolas"/>
                <a:cs typeface="Consolas"/>
                <a:sym typeface="Consolas"/>
              </a:rPr>
              <a:t>Ó</a:t>
            </a:r>
            <a:r>
              <a:rPr b="1" i="0" lang="en-US" sz="2200" u="none" cap="none" strike="noStrike">
                <a:solidFill>
                  <a:srgbClr val="C8A96E"/>
                </a:solidFill>
                <a:latin typeface="Consolas"/>
                <a:ea typeface="Consolas"/>
                <a:cs typeface="Consolas"/>
                <a:sym typeface="Consolas"/>
              </a:rPr>
              <a:t>N DEL ESTUDIO</a:t>
            </a:r>
            <a:endParaRPr sz="2300"/>
          </a:p>
        </p:txBody>
      </p:sp>
      <p:sp>
        <p:nvSpPr>
          <p:cNvPr id="384" name="Google Shape;384;p12"/>
          <p:cNvSpPr txBox="1"/>
          <p:nvPr/>
        </p:nvSpPr>
        <p:spPr>
          <a:xfrm>
            <a:off x="914400" y="2468880"/>
            <a:ext cx="10362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proyecto es viable desde lo comercial,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 </a:t>
            </a: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económico</a:t>
            </a: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914400" y="3840475"/>
            <a:ext cx="1087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TIR </a:t>
            </a:r>
            <a:r>
              <a:rPr b="1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18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5,1</a:t>
            </a:r>
            <a:r>
              <a:rPr b="1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%</a:t>
            </a:r>
            <a:r>
              <a:rPr b="0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·   VAN </a:t>
            </a:r>
            <a:r>
              <a:rPr b="1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$1.</a:t>
            </a:r>
            <a:r>
              <a:rPr b="1" lang="en-US" sz="18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319</a:t>
            </a:r>
            <a:r>
              <a:rPr b="1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MM</a:t>
            </a:r>
            <a:r>
              <a:rPr b="0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·   Payback </a:t>
            </a:r>
            <a:r>
              <a:rPr b="1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3,</a:t>
            </a:r>
            <a:r>
              <a:rPr b="1" lang="en-US" sz="18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años</a:t>
            </a:r>
            <a:r>
              <a:rPr b="0" i="0" lang="en-US" sz="18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·   </a:t>
            </a:r>
            <a:r>
              <a:rPr lang="en-US" sz="18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Beneficio neto </a:t>
            </a:r>
            <a:r>
              <a:rPr b="1" lang="en-US" sz="18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$4.787 MM </a:t>
            </a:r>
            <a:endParaRPr b="1"/>
          </a:p>
        </p:txBody>
      </p:sp>
      <p:sp>
        <p:nvSpPr>
          <p:cNvPr id="386" name="Google Shape;386;p12"/>
          <p:cNvSpPr txBox="1"/>
          <p:nvPr/>
        </p:nvSpPr>
        <p:spPr>
          <a:xfrm>
            <a:off x="0" y="5760720"/>
            <a:ext cx="1219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Final — UTN FRBA 2026 — Grupo 8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0" y="6080760"/>
            <a:ext cx="1219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Albarracin  ·  Carrizo  ·  Greco  ·  Rodriguez  ·  Schaltegger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388" name="Google Shape;3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2749" y="6126474"/>
            <a:ext cx="895541" cy="7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