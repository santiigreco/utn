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8" r:id="rId3"/>
    <p:sldId id="259" r:id="rId4"/>
    <p:sldId id="261" r:id="rId5"/>
    <p:sldId id="262" r:id="rId6"/>
    <p:sldId id="271" r:id="rId7"/>
    <p:sldId id="270" r:id="rId8"/>
    <p:sldId id="272" r:id="rId9"/>
    <p:sldId id="269" r:id="rId10"/>
    <p:sldId id="265" r:id="rId11"/>
    <p:sldId id="266" r:id="rId12"/>
    <p:sldId id="267" r:id="rId13"/>
    <p:sldId id="268" r:id="rId14"/>
    <p:sldId id="26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0" d="100"/>
          <a:sy n="90" d="100"/>
        </p:scale>
        <p:origin x="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URA ALBERTI" userId="ad7d233032beb8ae" providerId="LiveId" clId="{6EA45EAE-58ED-4CE5-B855-649D70C1BC4C}"/>
    <pc:docChg chg="custSel addSld modSld">
      <pc:chgData name="LAURA ALBERTI" userId="ad7d233032beb8ae" providerId="LiveId" clId="{6EA45EAE-58ED-4CE5-B855-649D70C1BC4C}" dt="2020-05-08T13:22:57.865" v="976" actId="20577"/>
      <pc:docMkLst>
        <pc:docMk/>
      </pc:docMkLst>
      <pc:sldChg chg="modSp mod">
        <pc:chgData name="LAURA ALBERTI" userId="ad7d233032beb8ae" providerId="LiveId" clId="{6EA45EAE-58ED-4CE5-B855-649D70C1BC4C}" dt="2020-05-08T13:22:57.865" v="976" actId="20577"/>
        <pc:sldMkLst>
          <pc:docMk/>
          <pc:sldMk cId="2918365070" sldId="265"/>
        </pc:sldMkLst>
        <pc:graphicFrameChg chg="modGraphic">
          <ac:chgData name="LAURA ALBERTI" userId="ad7d233032beb8ae" providerId="LiveId" clId="{6EA45EAE-58ED-4CE5-B855-649D70C1BC4C}" dt="2020-05-08T13:22:57.865" v="976" actId="20577"/>
          <ac:graphicFrameMkLst>
            <pc:docMk/>
            <pc:sldMk cId="2918365070" sldId="265"/>
            <ac:graphicFrameMk id="9" creationId="{00000000-0000-0000-0000-000000000000}"/>
          </ac:graphicFrameMkLst>
        </pc:graphicFrameChg>
      </pc:sldChg>
      <pc:sldChg chg="addSp delSp modSp new mod">
        <pc:chgData name="LAURA ALBERTI" userId="ad7d233032beb8ae" providerId="LiveId" clId="{6EA45EAE-58ED-4CE5-B855-649D70C1BC4C}" dt="2020-05-08T12:58:18.029" v="796" actId="20577"/>
        <pc:sldMkLst>
          <pc:docMk/>
          <pc:sldMk cId="1170870183" sldId="272"/>
        </pc:sldMkLst>
        <pc:spChg chg="add mod">
          <ac:chgData name="LAURA ALBERTI" userId="ad7d233032beb8ae" providerId="LiveId" clId="{6EA45EAE-58ED-4CE5-B855-649D70C1BC4C}" dt="2020-05-08T12:55:35.301" v="764" actId="1076"/>
          <ac:spMkLst>
            <pc:docMk/>
            <pc:sldMk cId="1170870183" sldId="272"/>
            <ac:spMk id="2" creationId="{525D1E1C-BEA1-4D18-836E-DF957BA8CC8B}"/>
          </ac:spMkLst>
        </pc:spChg>
        <pc:spChg chg="add mod">
          <ac:chgData name="LAURA ALBERTI" userId="ad7d233032beb8ae" providerId="LiveId" clId="{6EA45EAE-58ED-4CE5-B855-649D70C1BC4C}" dt="2020-05-08T12:55:39.084" v="765" actId="1076"/>
          <ac:spMkLst>
            <pc:docMk/>
            <pc:sldMk cId="1170870183" sldId="272"/>
            <ac:spMk id="3" creationId="{F2941B6B-FB1C-4F87-B012-974F2046E4E4}"/>
          </ac:spMkLst>
        </pc:spChg>
        <pc:spChg chg="add mod">
          <ac:chgData name="LAURA ALBERTI" userId="ad7d233032beb8ae" providerId="LiveId" clId="{6EA45EAE-58ED-4CE5-B855-649D70C1BC4C}" dt="2020-05-08T12:58:18.029" v="796" actId="20577"/>
          <ac:spMkLst>
            <pc:docMk/>
            <pc:sldMk cId="1170870183" sldId="272"/>
            <ac:spMk id="4" creationId="{66DDF098-DBC4-437A-89A2-CA671F023C6B}"/>
          </ac:spMkLst>
        </pc:spChg>
        <pc:spChg chg="add del mod">
          <ac:chgData name="LAURA ALBERTI" userId="ad7d233032beb8ae" providerId="LiveId" clId="{6EA45EAE-58ED-4CE5-B855-649D70C1BC4C}" dt="2020-05-08T12:57:25.619" v="771"/>
          <ac:spMkLst>
            <pc:docMk/>
            <pc:sldMk cId="1170870183" sldId="272"/>
            <ac:spMk id="5" creationId="{347B203A-4776-429D-9E88-B3956985537C}"/>
          </ac:spMkLst>
        </pc:spChg>
        <pc:spChg chg="mod">
          <ac:chgData name="LAURA ALBERTI" userId="ad7d233032beb8ae" providerId="LiveId" clId="{6EA45EAE-58ED-4CE5-B855-649D70C1BC4C}" dt="2020-05-08T12:57:57.711" v="779" actId="255"/>
          <ac:spMkLst>
            <pc:docMk/>
            <pc:sldMk cId="1170870183" sldId="272"/>
            <ac:spMk id="6" creationId="{47072574-30ED-4678-A65C-3C6C560267D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A23CD23-5573-400E-99D6-B5713B1FE68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53520-9B43-4E8B-BD57-774AF94D2D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C5CD0-1940-4AEB-97AA-C9A896E9FB9C}" type="datetimeFigureOut">
              <a:rPr lang="es-AR" smtClean="0"/>
              <a:t>8/5/2020</a:t>
            </a:fld>
            <a:endParaRPr lang="es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28E5F7-F2AB-4BF8-A0B7-33CB08F778C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AR"/>
              <a:t>El nicho según Swales (1994) es un vacío en las investigaciones previas, es decir que un tema no se haya investigado en profundidad o no haya suficiente literatura sobre el mismo.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970C03-2A46-4F6C-8EE2-40B5A281C0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28230-B02C-479E-9FF1-D49AC970B57A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11139106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FA4D14-BBA3-4BD0-9880-5CC17C84F3C3}" type="datetimeFigureOut">
              <a:rPr lang="es-AR" smtClean="0"/>
              <a:t>8/5/2020</a:t>
            </a:fld>
            <a:endParaRPr lang="es-A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s-AR"/>
              <a:t>El nicho según Swales (1994) es un vacío en las investigaciones previas, es decir que un tema no se haya investigado en profundidad o no haya suficiente literatura sobre el mismo.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AB7400-5268-4853-9784-A1E21EB06BE8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48597271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5/8/2020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s-AR" sz="6000" b="1" dirty="0"/>
              <a:t>El artículo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1866722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541418" y="752566"/>
            <a:ext cx="7677195" cy="697411"/>
          </a:xfrm>
        </p:spPr>
        <p:txBody>
          <a:bodyPr/>
          <a:lstStyle/>
          <a:p>
            <a:r>
              <a:rPr lang="es-AR" dirty="0"/>
              <a:t> </a:t>
            </a:r>
            <a:r>
              <a:rPr lang="es-AR" b="1" dirty="0"/>
              <a:t>Finalidad básica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idx="1"/>
          </p:nvPr>
        </p:nvSpPr>
        <p:spPr>
          <a:xfrm>
            <a:off x="947057" y="1907177"/>
            <a:ext cx="8865916" cy="3094446"/>
          </a:xfrm>
        </p:spPr>
        <p:txBody>
          <a:bodyPr>
            <a:normAutofit fontScale="85000" lnSpcReduction="20000"/>
          </a:bodyPr>
          <a:lstStyle/>
          <a:p>
            <a:r>
              <a:rPr lang="es-AR" sz="2400" dirty="0"/>
              <a:t>Contribuir a la comunicación de los conocimientos producidos por la comunidad científica. Es decir, la difusión y construcción del saber mediante los resultados de investigaciones en ciencias. </a:t>
            </a:r>
          </a:p>
          <a:p>
            <a:endParaRPr lang="es-AR" sz="2400" dirty="0"/>
          </a:p>
          <a:p>
            <a:r>
              <a:rPr lang="es-AR" sz="2400" dirty="0"/>
              <a:t>Tiene dos funciones comunicativas básicas: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/>
              <a:t>informar (exponer/ explicar/ describir)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AR" sz="2400" dirty="0"/>
              <a:t>comandar, es decir guiar la interpretación y las acciones de los interlocutores (demostrar/ fundamentar/ persuadir/ convencer/ justificar)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506113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2338251" y="961572"/>
            <a:ext cx="7677195" cy="697411"/>
          </a:xfrm>
        </p:spPr>
        <p:txBody>
          <a:bodyPr/>
          <a:lstStyle/>
          <a:p>
            <a:r>
              <a:rPr lang="es-AR" dirty="0"/>
              <a:t> </a:t>
            </a:r>
            <a:r>
              <a:rPr lang="es-AR" b="1" dirty="0"/>
              <a:t>Interlocutores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idx="1"/>
          </p:nvPr>
        </p:nvSpPr>
        <p:spPr>
          <a:xfrm>
            <a:off x="352697" y="2899954"/>
            <a:ext cx="8865916" cy="3094446"/>
          </a:xfrm>
        </p:spPr>
        <p:txBody>
          <a:bodyPr/>
          <a:lstStyle/>
          <a:p>
            <a:pPr marL="342900" indent="-342900">
              <a:buSzPct val="120000"/>
              <a:buFont typeface="Wingdings" panose="05000000000000000000" pitchFamily="2" charset="2"/>
              <a:buChar char="q"/>
            </a:pPr>
            <a:r>
              <a:rPr lang="es-AR" sz="2000" dirty="0"/>
              <a:t> Emisores: científicos/académicos (expertos) </a:t>
            </a:r>
          </a:p>
          <a:p>
            <a:endParaRPr lang="es-AR" sz="2000" dirty="0"/>
          </a:p>
          <a:p>
            <a:pPr marL="342900" indent="-342900">
              <a:buSzPct val="120000"/>
              <a:buFont typeface="Wingdings" panose="05000000000000000000" pitchFamily="2" charset="2"/>
              <a:buChar char="q"/>
            </a:pPr>
            <a:r>
              <a:rPr lang="es-AR" sz="2000" dirty="0"/>
              <a:t>Destinatarios: </a:t>
            </a:r>
          </a:p>
          <a:p>
            <a:r>
              <a:rPr lang="es-AR" sz="2000" dirty="0"/>
              <a:t>A) pares (lectores expertos)</a:t>
            </a:r>
          </a:p>
          <a:p>
            <a:endParaRPr lang="es-AR" sz="2000" dirty="0"/>
          </a:p>
          <a:p>
            <a:r>
              <a:rPr lang="es-AR" sz="2000" dirty="0"/>
              <a:t>B) lectores inexpertos (técnicos, estudiantes, público con formación universitaria</a:t>
            </a:r>
            <a:r>
              <a:rPr lang="es-AR" dirty="0"/>
              <a:t>) 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6155470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541418" y="1079137"/>
            <a:ext cx="7677195" cy="697411"/>
          </a:xfrm>
        </p:spPr>
        <p:txBody>
          <a:bodyPr/>
          <a:lstStyle/>
          <a:p>
            <a:r>
              <a:rPr lang="es-AR" dirty="0"/>
              <a:t> </a:t>
            </a:r>
            <a:r>
              <a:rPr lang="es-AR" b="1" dirty="0"/>
              <a:t>Información transmitida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idx="1"/>
          </p:nvPr>
        </p:nvSpPr>
        <p:spPr>
          <a:xfrm>
            <a:off x="522030" y="2202542"/>
            <a:ext cx="8943703" cy="3390779"/>
          </a:xfrm>
        </p:spPr>
        <p:txBody>
          <a:bodyPr>
            <a:normAutofit fontScale="85000" lnSpcReduction="10000"/>
          </a:bodyPr>
          <a:lstStyle/>
          <a:p>
            <a:r>
              <a:rPr lang="es-AR" sz="2000" dirty="0"/>
              <a:t>Tiene un rasgo permanente que es su naturaleza dual: </a:t>
            </a:r>
          </a:p>
          <a:p>
            <a:pPr marL="457200" indent="-457200">
              <a:buAutoNum type="alphaLcPeriod"/>
            </a:pPr>
            <a:r>
              <a:rPr lang="es-AR" sz="2400" dirty="0"/>
              <a:t>La información debe ser original y significativa en el área temática o dominio específico de la ciencia.</a:t>
            </a:r>
          </a:p>
          <a:p>
            <a:pPr marL="457200" indent="-457200">
              <a:buAutoNum type="alphaLcPeriod"/>
            </a:pPr>
            <a:r>
              <a:rPr lang="es-AR" sz="2400" dirty="0"/>
              <a:t>Debe repasar el estado del arte (</a:t>
            </a:r>
            <a:r>
              <a:rPr lang="es-AR" sz="2400" i="1" dirty="0" err="1"/>
              <a:t>state</a:t>
            </a:r>
            <a:r>
              <a:rPr lang="es-AR" sz="2400" i="1" dirty="0"/>
              <a:t> </a:t>
            </a:r>
            <a:r>
              <a:rPr lang="es-AR" sz="2400" i="1" dirty="0" err="1"/>
              <a:t>of</a:t>
            </a:r>
            <a:r>
              <a:rPr lang="es-AR" sz="2400" i="1" dirty="0"/>
              <a:t> </a:t>
            </a:r>
            <a:r>
              <a:rPr lang="es-AR" sz="2400" i="1" dirty="0" err="1"/>
              <a:t>the</a:t>
            </a:r>
            <a:r>
              <a:rPr lang="es-AR" sz="2400" i="1" dirty="0"/>
              <a:t> art</a:t>
            </a:r>
            <a:r>
              <a:rPr lang="es-AR" sz="2400" dirty="0"/>
              <a:t>) , es decir las investigaciones previas o bibliografía publicada sobre el tema.  Estado último de la materia en términos de I+D, refiriéndose incluso al límite de conocimiento humano público sobre la materia.</a:t>
            </a:r>
          </a:p>
          <a:p>
            <a:pPr marL="457200" indent="-457200">
              <a:buAutoNum type="alphaLcPeriod"/>
            </a:pPr>
            <a:r>
              <a:rPr lang="es-AR" sz="2400" dirty="0"/>
              <a:t>La información organizada en estructuras retóricas en las que se observen claramente los pasos del proceso de investigación.</a:t>
            </a:r>
          </a:p>
        </p:txBody>
      </p:sp>
    </p:spTree>
    <p:extLst>
      <p:ext uri="{BB962C8B-B14F-4D97-AF65-F5344CB8AC3E}">
        <p14:creationId xmlns:p14="http://schemas.microsoft.com/office/powerpoint/2010/main" val="3870867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984658" y="1"/>
            <a:ext cx="8263845" cy="1262062"/>
          </a:xfrm>
        </p:spPr>
        <p:txBody>
          <a:bodyPr>
            <a:normAutofit fontScale="90000"/>
          </a:bodyPr>
          <a:lstStyle/>
          <a:p>
            <a:r>
              <a:rPr lang="es-AR" dirty="0"/>
              <a:t>En un artículo de investigación 			se necesita tener en cuenta</a:t>
            </a:r>
          </a:p>
        </p:txBody>
      </p:sp>
      <p:graphicFrame>
        <p:nvGraphicFramePr>
          <p:cNvPr id="13" name="Tabla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8557815"/>
              </p:ext>
            </p:extLst>
          </p:nvPr>
        </p:nvGraphicFramePr>
        <p:xfrm>
          <a:off x="1352732" y="1555689"/>
          <a:ext cx="8128000" cy="3118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9453066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4714566"/>
                    </a:ext>
                  </a:extLst>
                </a:gridCol>
              </a:tblGrid>
              <a:tr h="919274">
                <a:tc>
                  <a:txBody>
                    <a:bodyPr/>
                    <a:lstStyle/>
                    <a:p>
                      <a:pPr algn="ctr"/>
                      <a:r>
                        <a:rPr lang="es-A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Requerimientos retóricos</a:t>
                      </a:r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AR" sz="18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Recursos lingüísticos</a:t>
                      </a:r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1828059"/>
                  </a:ext>
                </a:extLst>
              </a:tr>
              <a:tr h="57766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Objetivos claros</a:t>
                      </a:r>
                    </a:p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Selección léxica</a:t>
                      </a:r>
                    </a:p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385412"/>
                  </a:ext>
                </a:extLst>
              </a:tr>
              <a:tr h="482533">
                <a:tc>
                  <a:txBody>
                    <a:bodyPr/>
                    <a:lstStyle/>
                    <a:p>
                      <a:r>
                        <a:rPr lang="es-A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Destinatarios determinados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Estilo </a:t>
                      </a:r>
                    </a:p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581431"/>
                  </a:ext>
                </a:extLst>
              </a:tr>
              <a:tr h="9192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Organización textual específica</a:t>
                      </a:r>
                      <a:endParaRPr lang="es-AR" dirty="0"/>
                    </a:p>
                    <a:p>
                      <a:endParaRPr lang="es-A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Precisión terminológica</a:t>
                      </a:r>
                    </a:p>
                    <a:p>
                      <a:endParaRPr lang="es-A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736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203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E8B5DE3-97B9-4585-A66F-7E413C3CC3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90" y="987754"/>
            <a:ext cx="6978287" cy="398976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8984A8-F53E-44C7-96F1-48F3968809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4009" y="1602889"/>
            <a:ext cx="4563777" cy="3374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154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36B3E2C-C8A4-4BA9-9A9C-0674C8D75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628650"/>
            <a:ext cx="670560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518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5D1E1C-BEA1-4D18-836E-DF957BA8CC8B}"/>
              </a:ext>
            </a:extLst>
          </p:cNvPr>
          <p:cNvSpPr txBox="1"/>
          <p:nvPr/>
        </p:nvSpPr>
        <p:spPr>
          <a:xfrm>
            <a:off x="1100666" y="939622"/>
            <a:ext cx="91609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ABSTRACT </a:t>
            </a:r>
            <a:endParaRPr lang="es-A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941B6B-FB1C-4F87-B012-974F2046E4E4}"/>
              </a:ext>
            </a:extLst>
          </p:cNvPr>
          <p:cNvSpPr txBox="1"/>
          <p:nvPr/>
        </p:nvSpPr>
        <p:spPr>
          <a:xfrm>
            <a:off x="846666" y="1634066"/>
            <a:ext cx="9668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dirty="0"/>
              <a:t>Aparece al comienzo de las publicaciones académicas. Es un resumen que guía y motiva la lectura del articulo científico. Guarda fidelidad en lo concerniente al contenido que condensado, suele reproducir la estructura del articulo completo.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DF098-DBC4-437A-89A2-CA671F023C6B}"/>
              </a:ext>
            </a:extLst>
          </p:cNvPr>
          <p:cNvSpPr txBox="1"/>
          <p:nvPr/>
        </p:nvSpPr>
        <p:spPr>
          <a:xfrm>
            <a:off x="846666" y="2882508"/>
            <a:ext cx="9169400" cy="2578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/>
              <a:t>Generalmente</a:t>
            </a:r>
            <a:r>
              <a:rPr lang="en-US" dirty="0"/>
              <a:t> </a:t>
            </a:r>
            <a:r>
              <a:rPr lang="en-US" dirty="0" err="1"/>
              <a:t>informa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</a:t>
            </a:r>
            <a:r>
              <a:rPr lang="en-US" dirty="0" err="1"/>
              <a:t>algunos</a:t>
            </a:r>
            <a:r>
              <a:rPr lang="en-US" dirty="0"/>
              <a:t> de </a:t>
            </a:r>
            <a:r>
              <a:rPr lang="en-US" dirty="0" err="1"/>
              <a:t>estos</a:t>
            </a:r>
            <a:r>
              <a:rPr lang="en-US" dirty="0"/>
              <a:t> 3 </a:t>
            </a:r>
            <a:r>
              <a:rPr lang="en-US" dirty="0" err="1"/>
              <a:t>elementos</a:t>
            </a:r>
            <a:r>
              <a:rPr lang="en-US" dirty="0"/>
              <a:t>: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 err="1"/>
              <a:t>Encuadre</a:t>
            </a:r>
            <a:r>
              <a:rPr lang="en-US" dirty="0"/>
              <a:t> de lo </a:t>
            </a:r>
            <a:r>
              <a:rPr lang="en-US" dirty="0" err="1"/>
              <a:t>investigado</a:t>
            </a:r>
            <a:r>
              <a:rPr lang="en-US" dirty="0"/>
              <a:t>. </a:t>
            </a:r>
            <a:r>
              <a:rPr lang="en-US" dirty="0" err="1"/>
              <a:t>Contexto</a:t>
            </a:r>
            <a:r>
              <a:rPr lang="en-US" dirty="0"/>
              <a:t>. </a:t>
            </a:r>
            <a:r>
              <a:rPr lang="en-US" dirty="0" err="1"/>
              <a:t>Problemática</a:t>
            </a:r>
            <a:r>
              <a:rPr lang="en-US" dirty="0"/>
              <a:t>. 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 err="1"/>
              <a:t>Razones</a:t>
            </a:r>
            <a:r>
              <a:rPr lang="en-US" dirty="0"/>
              <a:t> y </a:t>
            </a:r>
            <a:r>
              <a:rPr lang="en-US" dirty="0" err="1"/>
              <a:t>límites</a:t>
            </a:r>
            <a:r>
              <a:rPr lang="en-US" dirty="0"/>
              <a:t> de la </a:t>
            </a:r>
            <a:r>
              <a:rPr lang="en-US" dirty="0" err="1"/>
              <a:t>investigación</a:t>
            </a:r>
            <a:r>
              <a:rPr lang="en-US" dirty="0"/>
              <a:t>. </a:t>
            </a:r>
            <a:r>
              <a:rPr lang="en-US" dirty="0" err="1"/>
              <a:t>Vacio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el </a:t>
            </a:r>
            <a:r>
              <a:rPr lang="en-US" dirty="0" err="1"/>
              <a:t>conocimiento</a:t>
            </a:r>
            <a:r>
              <a:rPr lang="en-US" dirty="0"/>
              <a:t> o </a:t>
            </a:r>
            <a:r>
              <a:rPr lang="en-US" dirty="0" err="1"/>
              <a:t>nicho</a:t>
            </a:r>
            <a:r>
              <a:rPr lang="en-US" dirty="0"/>
              <a:t>. </a:t>
            </a:r>
            <a:r>
              <a:rPr lang="en-US" sz="900" dirty="0"/>
              <a:t>1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n-US" dirty="0" err="1"/>
              <a:t>Objetivos</a:t>
            </a:r>
            <a:r>
              <a:rPr lang="en-US" dirty="0"/>
              <a:t>, </a:t>
            </a:r>
            <a:r>
              <a:rPr lang="en-US" dirty="0" err="1"/>
              <a:t>metodologia</a:t>
            </a:r>
            <a:r>
              <a:rPr lang="en-US" dirty="0"/>
              <a:t>, </a:t>
            </a:r>
            <a:r>
              <a:rPr lang="en-US" dirty="0" err="1"/>
              <a:t>resultados</a:t>
            </a:r>
            <a:r>
              <a:rPr lang="en-US" dirty="0"/>
              <a:t> y/o </a:t>
            </a:r>
            <a:r>
              <a:rPr lang="en-US" dirty="0" err="1"/>
              <a:t>conclusiones</a:t>
            </a:r>
            <a:r>
              <a:rPr lang="en-US" dirty="0"/>
              <a:t>. (</a:t>
            </a:r>
            <a:r>
              <a:rPr lang="en-US" dirty="0" err="1"/>
              <a:t>Aunque</a:t>
            </a:r>
            <a:r>
              <a:rPr lang="en-US" dirty="0"/>
              <a:t> no </a:t>
            </a:r>
            <a:r>
              <a:rPr lang="en-US" dirty="0" err="1"/>
              <a:t>todos</a:t>
            </a:r>
            <a:r>
              <a:rPr lang="en-US" dirty="0"/>
              <a:t> los abstracts </a:t>
            </a:r>
            <a:r>
              <a:rPr lang="en-US" dirty="0" err="1"/>
              <a:t>incluyen</a:t>
            </a:r>
            <a:r>
              <a:rPr lang="en-US" dirty="0"/>
              <a:t> </a:t>
            </a:r>
            <a:r>
              <a:rPr lang="en-US" dirty="0" err="1"/>
              <a:t>estos</a:t>
            </a:r>
            <a:r>
              <a:rPr lang="en-US" dirty="0"/>
              <a:t> dos </a:t>
            </a:r>
            <a:r>
              <a:rPr lang="en-US" dirty="0" err="1"/>
              <a:t>últimos</a:t>
            </a:r>
            <a:r>
              <a:rPr lang="en-US" dirty="0"/>
              <a:t> </a:t>
            </a:r>
            <a:r>
              <a:rPr lang="en-US" dirty="0" err="1"/>
              <a:t>ítems</a:t>
            </a:r>
            <a:r>
              <a:rPr lang="en-US" dirty="0"/>
              <a:t>. </a:t>
            </a:r>
            <a:endParaRPr lang="es-AR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072574-30ED-4678-A65C-3C6C56026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4211" y="6180667"/>
            <a:ext cx="9763656" cy="356658"/>
          </a:xfrm>
        </p:spPr>
        <p:txBody>
          <a:bodyPr/>
          <a:lstStyle/>
          <a:p>
            <a:r>
              <a:rPr lang="es-AR" sz="900" dirty="0">
                <a:solidFill>
                  <a:schemeClr val="tx1"/>
                </a:solidFill>
              </a:rPr>
              <a:t>1</a:t>
            </a:r>
            <a:r>
              <a:rPr lang="es-AR" dirty="0">
                <a:solidFill>
                  <a:schemeClr val="tx1"/>
                </a:solidFill>
              </a:rPr>
              <a:t> </a:t>
            </a:r>
            <a:r>
              <a:rPr lang="es-AR" sz="1100" dirty="0">
                <a:solidFill>
                  <a:schemeClr val="tx1"/>
                </a:solidFill>
              </a:rPr>
              <a:t>El nicho según </a:t>
            </a:r>
            <a:r>
              <a:rPr lang="es-AR" sz="1100" dirty="0" err="1">
                <a:solidFill>
                  <a:schemeClr val="tx1"/>
                </a:solidFill>
              </a:rPr>
              <a:t>Swales</a:t>
            </a:r>
            <a:r>
              <a:rPr lang="es-AR" sz="1100" dirty="0">
                <a:solidFill>
                  <a:schemeClr val="tx1"/>
                </a:solidFill>
              </a:rPr>
              <a:t> (1994) es un vacío en las investigaciones previas, es decir que un tema no se haya investigado en profundidad o no haya suficiente literatura sobre el mismo. </a:t>
            </a:r>
            <a:endParaRPr lang="en-US" sz="1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0870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932E79-921B-4FBB-96AD-48853596E2D5}"/>
              </a:ext>
            </a:extLst>
          </p:cNvPr>
          <p:cNvSpPr txBox="1"/>
          <p:nvPr/>
        </p:nvSpPr>
        <p:spPr>
          <a:xfrm>
            <a:off x="948267" y="1286932"/>
            <a:ext cx="919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Swales (1994) </a:t>
            </a:r>
            <a:r>
              <a:rPr lang="en-US" sz="2400" dirty="0" err="1"/>
              <a:t>denomina</a:t>
            </a:r>
            <a:r>
              <a:rPr lang="en-US" sz="2400" dirty="0"/>
              <a:t> IMRD a la </a:t>
            </a:r>
            <a:r>
              <a:rPr lang="en-US" sz="2400" dirty="0" err="1"/>
              <a:t>estructura</a:t>
            </a:r>
            <a:r>
              <a:rPr lang="en-US" sz="2400" dirty="0"/>
              <a:t> </a:t>
            </a:r>
            <a:r>
              <a:rPr lang="en-US" sz="2400" dirty="0" err="1"/>
              <a:t>básica</a:t>
            </a:r>
            <a:r>
              <a:rPr lang="en-US" sz="2400" dirty="0"/>
              <a:t> que </a:t>
            </a:r>
            <a:r>
              <a:rPr lang="en-US" sz="2400" dirty="0" err="1"/>
              <a:t>deben</a:t>
            </a:r>
            <a:r>
              <a:rPr lang="en-US" sz="2400" dirty="0"/>
              <a:t> </a:t>
            </a:r>
            <a:r>
              <a:rPr lang="en-US" sz="2400" dirty="0" err="1"/>
              <a:t>seguir</a:t>
            </a:r>
            <a:r>
              <a:rPr lang="en-US" sz="2400" dirty="0"/>
              <a:t> los </a:t>
            </a:r>
            <a:r>
              <a:rPr lang="en-US" sz="2400" dirty="0" err="1"/>
              <a:t>articulos</a:t>
            </a:r>
            <a:r>
              <a:rPr lang="en-US" sz="2400" dirty="0"/>
              <a:t> de </a:t>
            </a:r>
            <a:r>
              <a:rPr lang="en-US" sz="2400" dirty="0" err="1"/>
              <a:t>investigación</a:t>
            </a:r>
            <a:r>
              <a:rPr lang="en-US" sz="2400" dirty="0"/>
              <a:t> experimental.</a:t>
            </a:r>
            <a:endParaRPr lang="es-AR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574A7F-0FBF-4B96-BFC2-01A27A573501}"/>
              </a:ext>
            </a:extLst>
          </p:cNvPr>
          <p:cNvSpPr txBox="1"/>
          <p:nvPr/>
        </p:nvSpPr>
        <p:spPr>
          <a:xfrm>
            <a:off x="1049867" y="2861734"/>
            <a:ext cx="86952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 I</a:t>
            </a:r>
            <a:r>
              <a:rPr lang="en-US" sz="2800" dirty="0"/>
              <a:t>NTRODUCCIÓN </a:t>
            </a:r>
          </a:p>
          <a:p>
            <a:r>
              <a:rPr lang="en-US" sz="2800" dirty="0">
                <a:solidFill>
                  <a:schemeClr val="bg1"/>
                </a:solidFill>
              </a:rPr>
              <a:t>M</a:t>
            </a:r>
            <a:r>
              <a:rPr lang="en-US" sz="2800" dirty="0"/>
              <a:t>ETODOLOGIA</a:t>
            </a:r>
          </a:p>
          <a:p>
            <a:r>
              <a:rPr lang="en-US" sz="2800" dirty="0">
                <a:solidFill>
                  <a:schemeClr val="bg1"/>
                </a:solidFill>
              </a:rPr>
              <a:t>R</a:t>
            </a:r>
            <a:r>
              <a:rPr lang="en-US" sz="2800" dirty="0"/>
              <a:t>ESULTADOS</a:t>
            </a:r>
          </a:p>
          <a:p>
            <a:r>
              <a:rPr lang="en-US" sz="2800" dirty="0">
                <a:solidFill>
                  <a:schemeClr val="bg1"/>
                </a:solidFill>
              </a:rPr>
              <a:t>D</a:t>
            </a:r>
            <a:r>
              <a:rPr lang="en-US" sz="2800" dirty="0"/>
              <a:t>ISCUSIÓN O CONCLUSIÓN </a:t>
            </a:r>
            <a:endParaRPr lang="es-AR" sz="2800" dirty="0"/>
          </a:p>
        </p:txBody>
      </p:sp>
    </p:spTree>
    <p:extLst>
      <p:ext uri="{BB962C8B-B14F-4D97-AF65-F5344CB8AC3E}">
        <p14:creationId xmlns:p14="http://schemas.microsoft.com/office/powerpoint/2010/main" val="1801402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1" y="199329"/>
            <a:ext cx="8534400" cy="972942"/>
          </a:xfrm>
        </p:spPr>
        <p:txBody>
          <a:bodyPr/>
          <a:lstStyle/>
          <a:p>
            <a:pPr algn="ctr"/>
            <a:r>
              <a:rPr lang="es-AR" b="1" dirty="0"/>
              <a:t>introducción</a:t>
            </a:r>
          </a:p>
        </p:txBody>
      </p:sp>
      <p:graphicFrame>
        <p:nvGraphicFramePr>
          <p:cNvPr id="9" name="Marcador de contenido 8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66997160"/>
              </p:ext>
            </p:extLst>
          </p:nvPr>
        </p:nvGraphicFramePr>
        <p:xfrm>
          <a:off x="684211" y="1172271"/>
          <a:ext cx="9152120" cy="4560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8030">
                  <a:extLst>
                    <a:ext uri="{9D8B030D-6E8A-4147-A177-3AD203B41FA5}">
                      <a16:colId xmlns:a16="http://schemas.microsoft.com/office/drawing/2014/main" val="728805496"/>
                    </a:ext>
                  </a:extLst>
                </a:gridCol>
                <a:gridCol w="2288030">
                  <a:extLst>
                    <a:ext uri="{9D8B030D-6E8A-4147-A177-3AD203B41FA5}">
                      <a16:colId xmlns:a16="http://schemas.microsoft.com/office/drawing/2014/main" val="1302452591"/>
                    </a:ext>
                  </a:extLst>
                </a:gridCol>
                <a:gridCol w="2288030">
                  <a:extLst>
                    <a:ext uri="{9D8B030D-6E8A-4147-A177-3AD203B41FA5}">
                      <a16:colId xmlns:a16="http://schemas.microsoft.com/office/drawing/2014/main" val="2358402470"/>
                    </a:ext>
                  </a:extLst>
                </a:gridCol>
                <a:gridCol w="2288030">
                  <a:extLst>
                    <a:ext uri="{9D8B030D-6E8A-4147-A177-3AD203B41FA5}">
                      <a16:colId xmlns:a16="http://schemas.microsoft.com/office/drawing/2014/main" val="1887496693"/>
                    </a:ext>
                  </a:extLst>
                </a:gridCol>
              </a:tblGrid>
              <a:tr h="1359666">
                <a:tc>
                  <a:txBody>
                    <a:bodyPr/>
                    <a:lstStyle/>
                    <a:p>
                      <a:r>
                        <a:rPr lang="es-AR" dirty="0"/>
                        <a:t>1. Establecimiento del campo científico de la investigación</a:t>
                      </a:r>
                    </a:p>
                  </a:txBody>
                  <a:tcPr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b="0" dirty="0"/>
                        <a:t>Pertinencia</a:t>
                      </a:r>
                      <a:r>
                        <a:rPr lang="es-AR" b="0" baseline="0" dirty="0"/>
                        <a:t> de la investigación</a:t>
                      </a:r>
                      <a:endParaRPr lang="es-AR" b="0" dirty="0"/>
                    </a:p>
                  </a:txBody>
                  <a:tcPr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b="0" dirty="0"/>
                        <a:t>Generalizaciones sobre el tema</a:t>
                      </a:r>
                    </a:p>
                  </a:txBody>
                  <a:tcPr>
                    <a:solidFill>
                      <a:schemeClr val="tx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b="0" dirty="0"/>
                        <a:t>Revista a investigaciones previas</a:t>
                      </a:r>
                    </a:p>
                  </a:txBody>
                  <a:tcPr>
                    <a:solidFill>
                      <a:schemeClr val="tx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187320"/>
                  </a:ext>
                </a:extLst>
              </a:tr>
              <a:tr h="1359666">
                <a:tc>
                  <a:txBody>
                    <a:bodyPr/>
                    <a:lstStyle/>
                    <a:p>
                      <a:r>
                        <a:rPr lang="es-AR" b="1" dirty="0"/>
                        <a:t>2. Establecimiento del nicho o tema que no se ha investigado todavía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/>
                        <a:t>Presentación de afirmaciones contrarias u opuestas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/>
                        <a:t>Indicación del nicho sin investigar. Anuncio del 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/>
                        <a:t>Hipótesis/</a:t>
                      </a:r>
                      <a:r>
                        <a:rPr lang="es-AR" b="0" baseline="0" dirty="0"/>
                        <a:t> planteo de problemáticas o preguntas que orientan la investigación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3906872"/>
                  </a:ext>
                </a:extLst>
              </a:tr>
              <a:tr h="1359666">
                <a:tc>
                  <a:txBody>
                    <a:bodyPr/>
                    <a:lstStyle/>
                    <a:p>
                      <a:endParaRPr lang="es-AR" b="1" dirty="0"/>
                    </a:p>
                    <a:p>
                      <a:r>
                        <a:rPr lang="es-AR" b="1" dirty="0"/>
                        <a:t>3.</a:t>
                      </a:r>
                      <a:r>
                        <a:rPr lang="es-AR" b="1" baseline="0" dirty="0"/>
                        <a:t> Establecimiento del tema de investigación</a:t>
                      </a:r>
                      <a:endParaRPr lang="es-A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/>
                        <a:t>Objetivos de la investigación.</a:t>
                      </a:r>
                    </a:p>
                    <a:p>
                      <a:r>
                        <a:rPr lang="es-AR" b="0" dirty="0"/>
                        <a:t>Anuncio del 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/>
                        <a:t>Anuncio de los principales descubrimientos, aportes o implicancias de la investigación.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AR" b="0" dirty="0"/>
                        <a:t>Indicaciones acerca de la estructura u organización del Artículo.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298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365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667658"/>
            <a:ext cx="10058400" cy="894806"/>
          </a:xfrm>
        </p:spPr>
        <p:txBody>
          <a:bodyPr>
            <a:normAutofit/>
          </a:bodyPr>
          <a:lstStyle/>
          <a:p>
            <a:pPr algn="ctr"/>
            <a:r>
              <a:rPr lang="es-AR" sz="3600" b="1" dirty="0"/>
              <a:t> metodología y materiales</a:t>
            </a:r>
            <a:endParaRPr lang="es-AR" sz="3600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80155" y="2194559"/>
            <a:ext cx="8535988" cy="3995783"/>
          </a:xfrm>
        </p:spPr>
        <p:txBody>
          <a:bodyPr>
            <a:noAutofit/>
          </a:bodyPr>
          <a:lstStyle/>
          <a:p>
            <a:endParaRPr lang="es-AR" dirty="0"/>
          </a:p>
          <a:p>
            <a:pPr marL="457200" indent="-457200">
              <a:buFont typeface="+mj-lt"/>
              <a:buAutoNum type="arabicPeriod"/>
            </a:pPr>
            <a:endParaRPr lang="es-AR" dirty="0"/>
          </a:p>
          <a:p>
            <a:pPr marL="457200" indent="-457200">
              <a:buFont typeface="+mj-lt"/>
              <a:buAutoNum type="arabicPeriod"/>
            </a:pPr>
            <a:endParaRPr lang="es-AR" dirty="0"/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Registro de materiales, métodos y procedimientos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Descripción de materiales, métodos y procedimientos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Registro y descripción de ensayos y/o experimentos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Descripción de procesos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Registro y/o descripción de instrumentos, aparatos, muestras.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Registro y descripción de variables de evaluación</a:t>
            </a:r>
          </a:p>
          <a:p>
            <a:pPr marL="457200" indent="-457200">
              <a:buFont typeface="+mj-lt"/>
              <a:buAutoNum type="arabicPeriod"/>
            </a:pPr>
            <a:endParaRPr lang="es-AR" dirty="0"/>
          </a:p>
          <a:p>
            <a:pPr marL="457200" indent="-457200">
              <a:buFont typeface="+mj-lt"/>
              <a:buAutoNum type="arabicPeriod"/>
            </a:pPr>
            <a:endParaRPr lang="es-AR" dirty="0"/>
          </a:p>
          <a:p>
            <a:pPr marL="457200" indent="-457200">
              <a:buFont typeface="+mj-lt"/>
              <a:buAutoNum type="arabicPeriod"/>
            </a:pPr>
            <a:endParaRPr lang="es-AR" dirty="0"/>
          </a:p>
          <a:p>
            <a:pPr marL="457200" indent="-457200">
              <a:buFont typeface="+mj-lt"/>
              <a:buAutoNum type="arabicPeriod"/>
            </a:pPr>
            <a:endParaRPr lang="es-AR" dirty="0"/>
          </a:p>
          <a:p>
            <a:pPr marL="457200" indent="-457200">
              <a:buFont typeface="+mj-lt"/>
              <a:buAutoNum type="arabicPeriod"/>
            </a:pPr>
            <a:endParaRPr lang="es-AR" dirty="0"/>
          </a:p>
          <a:p>
            <a:pPr marL="457200" indent="-457200">
              <a:buFont typeface="+mj-lt"/>
              <a:buAutoNum type="arabicPeriod"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41017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1103811"/>
          </a:xfrm>
        </p:spPr>
        <p:txBody>
          <a:bodyPr>
            <a:normAutofit/>
          </a:bodyPr>
          <a:lstStyle/>
          <a:p>
            <a:pPr algn="ctr"/>
            <a:r>
              <a:rPr lang="es-AR" sz="4000" b="1" dirty="0"/>
              <a:t>resultados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84212" y="1933303"/>
            <a:ext cx="8535988" cy="4061097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AR" dirty="0"/>
              <a:t>Presentación de los resultados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Inclusión de información desarrollada en la introducción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Aportes de la investigación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Presentación de resultados mediante categorías </a:t>
            </a:r>
            <a:r>
              <a:rPr lang="es-AR" dirty="0" err="1"/>
              <a:t>paratextuales</a:t>
            </a:r>
            <a:endParaRPr lang="es-AR" dirty="0"/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Recapitulaciones sobre métodos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Recapitulaciones sobre el marco teórico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Referencias a la línea de investigación</a:t>
            </a:r>
          </a:p>
        </p:txBody>
      </p:sp>
    </p:spTree>
    <p:extLst>
      <p:ext uri="{BB962C8B-B14F-4D97-AF65-F5344CB8AC3E}">
        <p14:creationId xmlns:p14="http://schemas.microsoft.com/office/powerpoint/2010/main" val="3618223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3" y="365761"/>
            <a:ext cx="10058400" cy="989704"/>
          </a:xfrm>
        </p:spPr>
        <p:txBody>
          <a:bodyPr>
            <a:normAutofit/>
          </a:bodyPr>
          <a:lstStyle/>
          <a:p>
            <a:pPr algn="ctr"/>
            <a:r>
              <a:rPr lang="es-AR" sz="4000" b="1" dirty="0"/>
              <a:t>discusión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17580" y="1183340"/>
            <a:ext cx="10058400" cy="530889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AR" dirty="0"/>
              <a:t>Informe sobre los antecedentes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Exposición sobre los resultados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Resultados inesperados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Referencia a investigaciones previas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Explicación o aclaración de los resultados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Ejemplificación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Hipótesis/ Problemas. Generalizaciones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Limitaciones del estudio. 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Recomendaciones</a:t>
            </a:r>
          </a:p>
          <a:p>
            <a:pPr marL="457200" indent="-457200">
              <a:buFont typeface="+mj-lt"/>
              <a:buAutoNum type="arabicPeriod"/>
            </a:pPr>
            <a:r>
              <a:rPr lang="es-AR" dirty="0"/>
              <a:t>Futuras líneas de investigación. </a:t>
            </a:r>
          </a:p>
        </p:txBody>
      </p:sp>
    </p:spTree>
    <p:extLst>
      <p:ext uri="{BB962C8B-B14F-4D97-AF65-F5344CB8AC3E}">
        <p14:creationId xmlns:p14="http://schemas.microsoft.com/office/powerpoint/2010/main" val="2981992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9341915" cy="1508760"/>
          </a:xfrm>
        </p:spPr>
        <p:txBody>
          <a:bodyPr>
            <a:normAutofit fontScale="90000"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AR" sz="2200" cap="none" dirty="0"/>
              <a:t>Cubo de </a:t>
            </a:r>
            <a:r>
              <a:rPr lang="es-AR" sz="2200" cap="none" dirty="0" err="1"/>
              <a:t>severino</a:t>
            </a:r>
            <a:r>
              <a:rPr lang="es-AR" sz="2200" cap="none" dirty="0"/>
              <a:t>, L. Et al. Los textos de la ciencia. Principales clases del discurso científico. Córdoba: </a:t>
            </a:r>
            <a:r>
              <a:rPr lang="es-AR" sz="2200" cap="none" dirty="0" err="1"/>
              <a:t>comunic</a:t>
            </a:r>
            <a:r>
              <a:rPr lang="es-AR" sz="2200" cap="none" dirty="0"/>
              <a:t>-arte editorial. 2007.</a:t>
            </a:r>
            <a:br>
              <a:rPr lang="es-AR" sz="1800" dirty="0"/>
            </a:br>
            <a:br>
              <a:rPr lang="es-AR" sz="1800" dirty="0"/>
            </a:br>
            <a:endParaRPr lang="es-AR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1F4210-9E54-447A-8CF5-93A59CFACF08}"/>
              </a:ext>
            </a:extLst>
          </p:cNvPr>
          <p:cNvSpPr txBox="1"/>
          <p:nvPr/>
        </p:nvSpPr>
        <p:spPr>
          <a:xfrm>
            <a:off x="643320" y="4747175"/>
            <a:ext cx="942369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AR" sz="2000" dirty="0" err="1"/>
              <a:t>Swales</a:t>
            </a:r>
            <a:r>
              <a:rPr lang="es-AR" sz="2000" dirty="0"/>
              <a:t>, J., </a:t>
            </a:r>
            <a:r>
              <a:rPr lang="es-AR" sz="2000" dirty="0" err="1"/>
              <a:t>Feak</a:t>
            </a:r>
            <a:r>
              <a:rPr lang="es-AR" sz="2000" dirty="0"/>
              <a:t>, C. (1994) </a:t>
            </a:r>
            <a:r>
              <a:rPr lang="en-US" sz="2000" dirty="0"/>
              <a:t>Academic Writing for Graduate Students</a:t>
            </a:r>
            <a:br>
              <a:rPr lang="en-US" dirty="0"/>
            </a:br>
            <a:endParaRPr lang="es-A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11A9E-350C-410E-9C1F-0FE4C9D34627}"/>
              </a:ext>
            </a:extLst>
          </p:cNvPr>
          <p:cNvSpPr txBox="1"/>
          <p:nvPr/>
        </p:nvSpPr>
        <p:spPr>
          <a:xfrm>
            <a:off x="4037703" y="1464494"/>
            <a:ext cx="32990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BIBLIOGRAFÍA</a:t>
            </a:r>
            <a:r>
              <a:rPr lang="en-US" dirty="0"/>
              <a:t> 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098049405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211</TotalTime>
  <Words>663</Words>
  <Application>Microsoft Office PowerPoint</Application>
  <PresentationFormat>Widescreen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Century Gothic</vt:lpstr>
      <vt:lpstr>Wingdings</vt:lpstr>
      <vt:lpstr>Wingdings 3</vt:lpstr>
      <vt:lpstr>Sector</vt:lpstr>
      <vt:lpstr>El artículo de investigación</vt:lpstr>
      <vt:lpstr> Finalidad básica</vt:lpstr>
      <vt:lpstr> Interlocutores</vt:lpstr>
      <vt:lpstr> Información transmitida</vt:lpstr>
      <vt:lpstr>En un artículo de investigación    se necesita tener en cuenta</vt:lpstr>
      <vt:lpstr>PowerPoint Presentation</vt:lpstr>
      <vt:lpstr>PowerPoint Presentation</vt:lpstr>
      <vt:lpstr>PowerPoint Presentation</vt:lpstr>
      <vt:lpstr>PowerPoint Presentation</vt:lpstr>
      <vt:lpstr>introducción</vt:lpstr>
      <vt:lpstr> metodología y materiales</vt:lpstr>
      <vt:lpstr>resultados</vt:lpstr>
      <vt:lpstr>discusión</vt:lpstr>
      <vt:lpstr>Cubo de severino, L. Et al. Los textos de la ciencia. Principales clases del discurso científico. Córdoba: comunic-arte editorial. 2007.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 artículo de investigación</dc:title>
  <dc:creator>Usuario de Windows</dc:creator>
  <cp:lastModifiedBy>LAURA ALBERTI</cp:lastModifiedBy>
  <cp:revision>16</cp:revision>
  <dcterms:created xsi:type="dcterms:W3CDTF">2018-04-23T14:59:56Z</dcterms:created>
  <dcterms:modified xsi:type="dcterms:W3CDTF">2020-05-08T13:23:00Z</dcterms:modified>
</cp:coreProperties>
</file>