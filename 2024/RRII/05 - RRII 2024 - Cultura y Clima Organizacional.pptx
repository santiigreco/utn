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3"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906000" cy="6858000" type="A4"/>
  <p:notesSz cx="6834188" cy="9979025"/>
  <p:embeddedFontLst>
    <p:embeddedFont>
      <p:font typeface="Arial Narrow" panose="020B0604020202020204" pitchFamily="34" charset="0"/>
      <p:regular r:id="rId32"/>
      <p:bold r:id="rId33"/>
      <p:italic r:id="rId34"/>
      <p:boldItalic r:id="rId35"/>
    </p:embeddedFont>
    <p:embeddedFont>
      <p:font typeface="Calibri" panose="020F0502020204030204" pitchFamily="34" charset="0"/>
      <p:regular r:id="rId36"/>
      <p:bold r:id="rId37"/>
      <p:italic r:id="rId38"/>
      <p:boldItalic r:id="rId39"/>
    </p:embeddedFont>
    <p:embeddedFont>
      <p:font typeface="Lucida Sans" panose="020B0602030504020204" pitchFamily="34" charset="77"/>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612">
          <p15:clr>
            <a:srgbClr val="A4A3A4"/>
          </p15:clr>
        </p15:guide>
        <p15:guide id="2" pos="6114">
          <p15:clr>
            <a:srgbClr val="A4A3A4"/>
          </p15:clr>
        </p15:guide>
      </p15:sldGuideLst>
    </p:ext>
    <p:ext uri="{2D200454-40CA-4A62-9FC3-DE9A4176ACB9}">
      <p15:notesGuideLst xmlns:p15="http://schemas.microsoft.com/office/powerpoint/2012/main">
        <p15:guide id="1" orient="horz" pos="3143">
          <p15:clr>
            <a:srgbClr val="A4A3A4"/>
          </p15:clr>
        </p15:guide>
        <p15:guide id="2" pos="2153">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gZ4MeXst9/DNLiIp0m2F8kF9wL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8D1"/>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4CF3BE-85BC-4E7B-BB4C-3FE3A04A613C}" v="13" dt="2024-04-29T11:57:28.990"/>
  </p1510:revLst>
</p1510:revInfo>
</file>

<file path=ppt/tableStyles.xml><?xml version="1.0" encoding="utf-8"?>
<a:tblStyleLst xmlns:a="http://schemas.openxmlformats.org/drawingml/2006/main" def="{A7FB2BB2-7192-4DF9-8AF8-DE66DCF5C9A8}">
  <a:tblStyle styleId="{A7FB2BB2-7192-4DF9-8AF8-DE66DCF5C9A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1544" autoAdjust="0"/>
  </p:normalViewPr>
  <p:slideViewPr>
    <p:cSldViewPr snapToGrid="0">
      <p:cViewPr varScale="1">
        <p:scale>
          <a:sx n="84" d="100"/>
          <a:sy n="84" d="100"/>
        </p:scale>
        <p:origin x="1704" y="192"/>
      </p:cViewPr>
      <p:guideLst>
        <p:guide orient="horz" pos="3612"/>
        <p:guide pos="6114"/>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143"/>
        <p:guide pos="215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font" Target="fonts/font16.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8.xml"/><Relationship Id="rId41" Type="http://schemas.openxmlformats.org/officeDocument/2006/relationships/font" Target="fonts/font10.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a Solarz" userId="741050d2fdbb6097" providerId="LiveId" clId="{7C4CF3BE-85BC-4E7B-BB4C-3FE3A04A613C}"/>
    <pc:docChg chg="undo custSel addSld delSld modSld">
      <pc:chgData name="Gabriela Solarz" userId="741050d2fdbb6097" providerId="LiveId" clId="{7C4CF3BE-85BC-4E7B-BB4C-3FE3A04A613C}" dt="2024-04-29T12:02:45.753" v="218" actId="1076"/>
      <pc:docMkLst>
        <pc:docMk/>
      </pc:docMkLst>
      <pc:sldChg chg="addSp delSp modSp mod">
        <pc:chgData name="Gabriela Solarz" userId="741050d2fdbb6097" providerId="LiveId" clId="{7C4CF3BE-85BC-4E7B-BB4C-3FE3A04A613C}" dt="2024-04-29T12:02:45.753" v="218" actId="1076"/>
        <pc:sldMkLst>
          <pc:docMk/>
          <pc:sldMk cId="0" sldId="264"/>
        </pc:sldMkLst>
        <pc:spChg chg="mod">
          <ac:chgData name="Gabriela Solarz" userId="741050d2fdbb6097" providerId="LiveId" clId="{7C4CF3BE-85BC-4E7B-BB4C-3FE3A04A613C}" dt="2024-04-29T12:02:45.753" v="218" actId="1076"/>
          <ac:spMkLst>
            <pc:docMk/>
            <pc:sldMk cId="0" sldId="264"/>
            <ac:spMk id="319" creationId="{00000000-0000-0000-0000-000000000000}"/>
          </ac:spMkLst>
        </pc:spChg>
        <pc:spChg chg="del">
          <ac:chgData name="Gabriela Solarz" userId="741050d2fdbb6097" providerId="LiveId" clId="{7C4CF3BE-85BC-4E7B-BB4C-3FE3A04A613C}" dt="2024-04-29T11:57:27.007" v="210" actId="478"/>
          <ac:spMkLst>
            <pc:docMk/>
            <pc:sldMk cId="0" sldId="264"/>
            <ac:spMk id="320" creationId="{00000000-0000-0000-0000-000000000000}"/>
          </ac:spMkLst>
        </pc:spChg>
        <pc:picChg chg="add mod">
          <ac:chgData name="Gabriela Solarz" userId="741050d2fdbb6097" providerId="LiveId" clId="{7C4CF3BE-85BC-4E7B-BB4C-3FE3A04A613C}" dt="2024-04-29T11:57:43.368" v="216" actId="14100"/>
          <ac:picMkLst>
            <pc:docMk/>
            <pc:sldMk cId="0" sldId="264"/>
            <ac:picMk id="2" creationId="{988F61B6-5D27-2E67-18FB-E304C0EB6B7A}"/>
          </ac:picMkLst>
        </pc:picChg>
        <pc:picChg chg="del mod">
          <ac:chgData name="Gabriela Solarz" userId="741050d2fdbb6097" providerId="LiveId" clId="{7C4CF3BE-85BC-4E7B-BB4C-3FE3A04A613C}" dt="2024-04-29T11:57:25.986" v="209" actId="478"/>
          <ac:picMkLst>
            <pc:docMk/>
            <pc:sldMk cId="0" sldId="264"/>
            <ac:picMk id="318" creationId="{00000000-0000-0000-0000-000000000000}"/>
          </ac:picMkLst>
        </pc:picChg>
      </pc:sldChg>
      <pc:sldChg chg="modNotesTx">
        <pc:chgData name="Gabriela Solarz" userId="741050d2fdbb6097" providerId="LiveId" clId="{7C4CF3BE-85BC-4E7B-BB4C-3FE3A04A613C}" dt="2024-04-20T16:02:19.706" v="5"/>
        <pc:sldMkLst>
          <pc:docMk/>
          <pc:sldMk cId="0" sldId="268"/>
        </pc:sldMkLst>
      </pc:sldChg>
      <pc:sldChg chg="new del">
        <pc:chgData name="Gabriela Solarz" userId="741050d2fdbb6097" providerId="LiveId" clId="{7C4CF3BE-85BC-4E7B-BB4C-3FE3A04A613C}" dt="2024-04-27T19:53:39.272" v="9" actId="680"/>
        <pc:sldMkLst>
          <pc:docMk/>
          <pc:sldMk cId="582545382" sldId="284"/>
        </pc:sldMkLst>
      </pc:sldChg>
      <pc:sldChg chg="new del">
        <pc:chgData name="Gabriela Solarz" userId="741050d2fdbb6097" providerId="LiveId" clId="{7C4CF3BE-85BC-4E7B-BB4C-3FE3A04A613C}" dt="2024-04-27T20:03:06.317" v="11" actId="680"/>
        <pc:sldMkLst>
          <pc:docMk/>
          <pc:sldMk cId="1100966740" sldId="284"/>
        </pc:sldMkLst>
      </pc:sldChg>
      <pc:sldChg chg="new add del">
        <pc:chgData name="Gabriela Solarz" userId="741050d2fdbb6097" providerId="LiveId" clId="{7C4CF3BE-85BC-4E7B-BB4C-3FE3A04A613C}" dt="2024-04-27T20:11:37.133" v="56" actId="2696"/>
        <pc:sldMkLst>
          <pc:docMk/>
          <pc:sldMk cId="2916083050" sldId="284"/>
        </pc:sldMkLst>
      </pc:sldChg>
      <pc:sldChg chg="new del">
        <pc:chgData name="Gabriela Solarz" userId="741050d2fdbb6097" providerId="LiveId" clId="{7C4CF3BE-85BC-4E7B-BB4C-3FE3A04A613C}" dt="2024-04-25T01:39:22.348" v="7" actId="680"/>
        <pc:sldMkLst>
          <pc:docMk/>
          <pc:sldMk cId="2962388431" sldId="284"/>
        </pc:sldMkLst>
      </pc:sldChg>
      <pc:sldChg chg="modSp add mod modNotes">
        <pc:chgData name="Gabriela Solarz" userId="741050d2fdbb6097" providerId="LiveId" clId="{7C4CF3BE-85BC-4E7B-BB4C-3FE3A04A613C}" dt="2024-04-28T14:21:22.126" v="207" actId="14734"/>
        <pc:sldMkLst>
          <pc:docMk/>
          <pc:sldMk cId="3339475365" sldId="293"/>
        </pc:sldMkLst>
        <pc:spChg chg="mod">
          <ac:chgData name="Gabriela Solarz" userId="741050d2fdbb6097" providerId="LiveId" clId="{7C4CF3BE-85BC-4E7B-BB4C-3FE3A04A613C}" dt="2024-04-27T20:04:22.807" v="20" actId="1076"/>
          <ac:spMkLst>
            <pc:docMk/>
            <pc:sldMk cId="3339475365" sldId="293"/>
            <ac:spMk id="5" creationId="{9FB8D37C-8813-A05E-58A9-80A7B8BD4AB1}"/>
          </ac:spMkLst>
        </pc:spChg>
        <pc:graphicFrameChg chg="mod modGraphic">
          <ac:chgData name="Gabriela Solarz" userId="741050d2fdbb6097" providerId="LiveId" clId="{7C4CF3BE-85BC-4E7B-BB4C-3FE3A04A613C}" dt="2024-04-28T14:21:22.126" v="207" actId="14734"/>
          <ac:graphicFrameMkLst>
            <pc:docMk/>
            <pc:sldMk cId="3339475365" sldId="293"/>
            <ac:graphicFrameMk id="3" creationId="{047600DD-C531-D566-A103-3CA7397BEED9}"/>
          </ac:graphicFrameMkLst>
        </pc:graphicFrameChg>
        <pc:graphicFrameChg chg="mod">
          <ac:chgData name="Gabriela Solarz" userId="741050d2fdbb6097" providerId="LiveId" clId="{7C4CF3BE-85BC-4E7B-BB4C-3FE3A04A613C}" dt="2024-04-27T20:03:11.798" v="13"/>
          <ac:graphicFrameMkLst>
            <pc:docMk/>
            <pc:sldMk cId="3339475365" sldId="293"/>
            <ac:graphicFrameMk id="4" creationId="{9ABFD1EC-E4DC-6C0C-B86C-33E8D110A81A}"/>
          </ac:graphicFrameMkLst>
        </pc:graphicFrameChg>
      </pc:sldChg>
      <pc:sldChg chg="new del">
        <pc:chgData name="Gabriela Solarz" userId="741050d2fdbb6097" providerId="LiveId" clId="{7C4CF3BE-85BC-4E7B-BB4C-3FE3A04A613C}" dt="2024-04-28T14:22:01.260" v="208" actId="47"/>
        <pc:sldMkLst>
          <pc:docMk/>
          <pc:sldMk cId="836670270" sldId="294"/>
        </pc:sldMkLst>
      </pc:sldChg>
      <pc:sldChg chg="add del">
        <pc:chgData name="Gabriela Solarz" userId="741050d2fdbb6097" providerId="LiveId" clId="{7C4CF3BE-85BC-4E7B-BB4C-3FE3A04A613C}" dt="2024-04-28T14:20:01.320" v="120" actId="47"/>
        <pc:sldMkLst>
          <pc:docMk/>
          <pc:sldMk cId="879242739" sldId="2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6834188" cy="498951"/>
          </a:xfrm>
          <a:prstGeom prst="rect">
            <a:avLst/>
          </a:prstGeom>
          <a:noFill/>
          <a:ln>
            <a:noFill/>
          </a:ln>
        </p:spPr>
        <p:txBody>
          <a:bodyPr spcFirstLastPara="1" wrap="square" lIns="72000" tIns="180000" rIns="288000" bIns="36000" anchor="t" anchorCtr="0">
            <a:noAutofit/>
          </a:bodyPr>
          <a:lstStyle>
            <a:lvl1pPr marR="0" lvl="0" algn="r" rtl="0">
              <a:lnSpc>
                <a:spcPct val="100000"/>
              </a:lnSpc>
              <a:spcBef>
                <a:spcPts val="0"/>
              </a:spcBef>
              <a:spcAft>
                <a:spcPts val="0"/>
              </a:spcAft>
              <a:buClr>
                <a:srgbClr val="000000"/>
              </a:buClr>
              <a:buSzPts val="1400"/>
              <a:buFont typeface="Arial"/>
              <a:buNone/>
              <a:defRPr sz="1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a:spLocks noGrp="1" noRot="1" noChangeAspect="1"/>
          </p:cNvSpPr>
          <p:nvPr>
            <p:ph type="sldImg" idx="3"/>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 name="Google Shape;5;n"/>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6" name="Google Shape;6;n"/>
          <p:cNvSpPr txBox="1">
            <a:spLocks noGrp="1"/>
          </p:cNvSpPr>
          <p:nvPr>
            <p:ph type="ftr" idx="11"/>
          </p:nvPr>
        </p:nvSpPr>
        <p:spPr>
          <a:xfrm>
            <a:off x="0" y="9478342"/>
            <a:ext cx="2961481" cy="498951"/>
          </a:xfrm>
          <a:prstGeom prst="rect">
            <a:avLst/>
          </a:prstGeom>
          <a:noFill/>
          <a:ln>
            <a:noFill/>
          </a:ln>
        </p:spPr>
        <p:txBody>
          <a:bodyPr spcFirstLastPara="1" wrap="square" lIns="180000" tIns="36000" rIns="72000" bIns="180000" anchor="b" anchorCtr="0">
            <a:noAutofit/>
          </a:bodyPr>
          <a:lstStyle>
            <a:lvl1pPr marR="0" lvl="0" algn="l" rtl="0">
              <a:lnSpc>
                <a:spcPct val="100000"/>
              </a:lnSpc>
              <a:spcBef>
                <a:spcPts val="0"/>
              </a:spcBef>
              <a:spcAft>
                <a:spcPts val="0"/>
              </a:spcAft>
              <a:buClr>
                <a:srgbClr val="000000"/>
              </a:buClr>
              <a:buSzPts val="1400"/>
              <a:buFont typeface="Arial"/>
              <a:buNone/>
              <a:defRPr sz="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sldNum" idx="12"/>
          </p:nvPr>
        </p:nvSpPr>
        <p:spPr>
          <a:xfrm>
            <a:off x="3871125" y="9478342"/>
            <a:ext cx="2961481" cy="498951"/>
          </a:xfrm>
          <a:prstGeom prst="rect">
            <a:avLst/>
          </a:prstGeom>
          <a:noFill/>
          <a:ln>
            <a:noFill/>
          </a:ln>
        </p:spPr>
        <p:txBody>
          <a:bodyPr spcFirstLastPara="1" wrap="square" lIns="72000" tIns="36000" rIns="180000" bIns="180000" anchor="b"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1" i="0" u="none" strike="noStrike" cap="none">
                <a:solidFill>
                  <a:schemeClr val="dk1"/>
                </a:solidFill>
                <a:latin typeface="Arial"/>
                <a:ea typeface="Arial"/>
                <a:cs typeface="Arial"/>
                <a:sym typeface="Arial"/>
              </a:rPr>
              <a:t>‹#›</a:t>
            </a:fld>
            <a:endParaRPr sz="800" b="1"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notes"/>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202" name="Google Shape;202;p1:notes"/>
          <p:cNvSpPr txBox="1">
            <a:spLocks noGrp="1"/>
          </p:cNvSpPr>
          <p:nvPr>
            <p:ph type="ftr" idx="11"/>
          </p:nvPr>
        </p:nvSpPr>
        <p:spPr>
          <a:xfrm>
            <a:off x="0" y="9478342"/>
            <a:ext cx="2961481" cy="498951"/>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203" name="Google Shape;203;p1:notes"/>
          <p:cNvSpPr txBox="1">
            <a:spLocks noGrp="1"/>
          </p:cNvSpPr>
          <p:nvPr>
            <p:ph type="sldNum" idx="12"/>
          </p:nvPr>
        </p:nvSpPr>
        <p:spPr>
          <a:xfrm>
            <a:off x="3871125" y="9478342"/>
            <a:ext cx="2961481" cy="498951"/>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3:notes"/>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3: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25aeca6ef6_0_0: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125aeca6ef6_0_0: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23d31d1acb_0_24: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g123d31d1acb_0_24: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23d31d1acb_0_152:notes"/>
          <p:cNvSpPr>
            <a:spLocks noGrp="1" noRot="1" noChangeAspect="1"/>
          </p:cNvSpPr>
          <p:nvPr>
            <p:ph type="sldImg" idx="2"/>
          </p:nvPr>
        </p:nvSpPr>
        <p:spPr>
          <a:xfrm>
            <a:off x="1195981" y="1247378"/>
            <a:ext cx="4442100" cy="3367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123d31d1acb_0_152:notes"/>
          <p:cNvSpPr txBox="1">
            <a:spLocks noGrp="1"/>
          </p:cNvSpPr>
          <p:nvPr>
            <p:ph type="body" idx="1"/>
          </p:nvPr>
        </p:nvSpPr>
        <p:spPr>
          <a:xfrm>
            <a:off x="683418" y="4802406"/>
            <a:ext cx="5467200" cy="3929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r>
              <a:rPr lang="en-US" b="1">
                <a:latin typeface="Calibri"/>
                <a:ea typeface="Calibri"/>
                <a:cs typeface="Calibri"/>
                <a:sym typeface="Calibri"/>
              </a:rPr>
              <a:t>Cultura: </a:t>
            </a:r>
            <a:r>
              <a:rPr lang="en-US">
                <a:latin typeface="Calibri"/>
                <a:ea typeface="Calibri"/>
                <a:cs typeface="Calibri"/>
                <a:sym typeface="Calibri"/>
              </a:rPr>
              <a:t>es lo que las personas crean a partir de los mensajes recibidos acerca de cómo se espera que se comporten. </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a:latin typeface="Calibri"/>
                <a:ea typeface="Calibri"/>
                <a:cs typeface="Calibri"/>
                <a:sym typeface="Calibri"/>
              </a:rPr>
              <a:t>Se desarrollan culturas en cualquier comunidad de individuos que pasan tiempo juntos y que están estrechamente relacionados por objetivos, creencias, rutinas, necesidades o valores compartidos.</a:t>
            </a:r>
            <a:br>
              <a:rPr lang="en-US">
                <a:latin typeface="Calibri"/>
                <a:ea typeface="Calibri"/>
                <a:cs typeface="Calibri"/>
                <a:sym typeface="Calibri"/>
              </a:rPr>
            </a:br>
            <a:r>
              <a:rPr lang="en-US">
                <a:latin typeface="Calibri"/>
                <a:ea typeface="Calibri"/>
                <a:cs typeface="Calibri"/>
                <a:sym typeface="Calibri"/>
              </a:rPr>
              <a:t>Existen culturas en naciones, corporaciones, entidades deportivas, escuelas, familias, comunidades religiosas, profesiones y grupos sociales.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a:latin typeface="Calibri"/>
                <a:ea typeface="Calibri"/>
                <a:cs typeface="Calibri"/>
                <a:sym typeface="Calibri"/>
              </a:rPr>
              <a:t>Las </a:t>
            </a:r>
            <a:r>
              <a:rPr lang="en-US" b="1">
                <a:latin typeface="Calibri"/>
                <a:ea typeface="Calibri"/>
                <a:cs typeface="Calibri"/>
                <a:sym typeface="Calibri"/>
              </a:rPr>
              <a:t>normas de comportamiento evolucionan </a:t>
            </a:r>
            <a:r>
              <a:rPr lang="en-US">
                <a:latin typeface="Calibri"/>
                <a:ea typeface="Calibri"/>
                <a:cs typeface="Calibri"/>
                <a:sym typeface="Calibri"/>
              </a:rPr>
              <a:t>durante largos períodos y reciben influencia de muchos factores, como los valores o creencias que llevaron a la comunidad a reunirse por primera vez, la naturaleza de la actividad realizada por el grupo, los líderes y héroes previos y actuales, los episodios históricos, los éxitos y fracasos, las condiciones físicas y geográficas, las demandas y los comportamientos de personas ajenas: clientes, propietarios, enemigos y muchos otros.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a:latin typeface="Calibri"/>
                <a:ea typeface="Calibri"/>
                <a:cs typeface="Calibri"/>
                <a:sym typeface="Calibri"/>
              </a:rPr>
              <a:t>Las </a:t>
            </a:r>
            <a:r>
              <a:rPr lang="en-US" b="1">
                <a:latin typeface="Calibri"/>
                <a:ea typeface="Calibri"/>
                <a:cs typeface="Calibri"/>
                <a:sym typeface="Calibri"/>
              </a:rPr>
              <a:t>normas de comportamiento se convierten en subconscientes</a:t>
            </a:r>
            <a:r>
              <a:rPr lang="en-US">
                <a:latin typeface="Calibri"/>
                <a:ea typeface="Calibri"/>
                <a:cs typeface="Calibri"/>
                <a:sym typeface="Calibri"/>
              </a:rPr>
              <a:t>, permanecen mucho tiempo después de que el propósito original desapareció, y con el tiempo pueden dejar de ser útiles en relación con los objetivos que la comunidad está intentando alcanzar. Esto suele ocurrir en las organizaciones. Como el comportamiento establecido influye en el comportamiento de los nuevos miembros, las culturas se perpetúan.</a:t>
            </a:r>
            <a:endParaRPr>
              <a:latin typeface="Calibri"/>
              <a:ea typeface="Calibri"/>
              <a:cs typeface="Calibri"/>
              <a:sym typeface="Calibri"/>
            </a:endParaRPr>
          </a:p>
          <a:p>
            <a:pPr marL="0" lvl="0" indent="0" algn="l" rtl="0">
              <a:lnSpc>
                <a:spcPct val="100000"/>
              </a:lnSpc>
              <a:spcBef>
                <a:spcPts val="0"/>
              </a:spcBef>
              <a:spcAft>
                <a:spcPts val="0"/>
              </a:spcAft>
              <a:buSzPts val="1400"/>
              <a:buNone/>
            </a:pPr>
            <a:r>
              <a:rPr lang="en-US">
                <a:latin typeface="Calibri"/>
                <a:ea typeface="Calibri"/>
                <a:cs typeface="Calibri"/>
                <a:sym typeface="Calibri"/>
              </a:rPr>
              <a:t>La cultura tiene que ver con los </a:t>
            </a:r>
            <a:r>
              <a:rPr lang="en-US" b="1">
                <a:latin typeface="Calibri"/>
                <a:ea typeface="Calibri"/>
                <a:cs typeface="Calibri"/>
                <a:sym typeface="Calibri"/>
              </a:rPr>
              <a:t>mensajes enviados</a:t>
            </a:r>
            <a:r>
              <a:rPr lang="en-US">
                <a:latin typeface="Calibri"/>
                <a:ea typeface="Calibri"/>
                <a:cs typeface="Calibri"/>
                <a:sym typeface="Calibri"/>
              </a:rPr>
              <a:t>. Estos mensajes muestran qué se valor, qué es importante, qué hacen las personas de un determinado lugar para adaptarse, ser aceptadas y recompensadas.</a:t>
            </a:r>
            <a:endParaRPr/>
          </a:p>
        </p:txBody>
      </p:sp>
      <p:sp>
        <p:nvSpPr>
          <p:cNvPr id="236" name="Google Shape;236;g123d31d1acb_0_152:notes"/>
          <p:cNvSpPr txBox="1">
            <a:spLocks noGrp="1"/>
          </p:cNvSpPr>
          <p:nvPr>
            <p:ph type="sldNum" idx="12"/>
          </p:nvPr>
        </p:nvSpPr>
        <p:spPr>
          <a:xfrm>
            <a:off x="3871118" y="9478342"/>
            <a:ext cx="2961600" cy="500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123d31d1acb_0_275:notes"/>
          <p:cNvSpPr>
            <a:spLocks noGrp="1" noRot="1" noChangeAspect="1"/>
          </p:cNvSpPr>
          <p:nvPr>
            <p:ph type="sldImg" idx="2"/>
          </p:nvPr>
        </p:nvSpPr>
        <p:spPr>
          <a:xfrm>
            <a:off x="1195981" y="1247378"/>
            <a:ext cx="4442100" cy="3367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123d31d1acb_0_275:notes"/>
          <p:cNvSpPr txBox="1">
            <a:spLocks noGrp="1"/>
          </p:cNvSpPr>
          <p:nvPr>
            <p:ph type="body" idx="1"/>
          </p:nvPr>
        </p:nvSpPr>
        <p:spPr>
          <a:xfrm>
            <a:off x="683418" y="4802406"/>
            <a:ext cx="5467200" cy="3929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r>
              <a:rPr lang="en-US">
                <a:latin typeface="Calibri"/>
                <a:ea typeface="Calibri"/>
                <a:cs typeface="Calibri"/>
                <a:sym typeface="Calibri"/>
              </a:rPr>
              <a:t>La cultura tiene que ver con MENSAJES. </a:t>
            </a:r>
            <a:r>
              <a:rPr lang="en-US" b="1">
                <a:latin typeface="Calibri"/>
                <a:ea typeface="Calibri"/>
                <a:cs typeface="Calibri"/>
                <a:sym typeface="Calibri"/>
              </a:rPr>
              <a:t>La gestión de la cultura se relaciona con la gestión de los mensajes</a:t>
            </a:r>
            <a:r>
              <a:rPr lang="en-US">
                <a:latin typeface="Calibri"/>
                <a:ea typeface="Calibri"/>
                <a:cs typeface="Calibri"/>
                <a:sym typeface="Calibri"/>
              </a:rPr>
              <a:t>. Si puede descubrir y cambiar lo suficiente las fuentes de estos mensajes, cambiará la cultura.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a:latin typeface="Calibri"/>
                <a:ea typeface="Calibri"/>
                <a:cs typeface="Calibri"/>
                <a:sym typeface="Calibri"/>
              </a:rPr>
              <a:t>La cultura </a:t>
            </a:r>
            <a:r>
              <a:rPr lang="en-US" b="1">
                <a:latin typeface="Calibri"/>
                <a:ea typeface="Calibri"/>
                <a:cs typeface="Calibri"/>
                <a:sym typeface="Calibri"/>
              </a:rPr>
              <a:t>es la manifestación de lo que realmente se valora</a:t>
            </a:r>
            <a:r>
              <a:rPr lang="en-US">
                <a:latin typeface="Calibri"/>
                <a:ea typeface="Calibri"/>
                <a:cs typeface="Calibri"/>
                <a:sym typeface="Calibri"/>
              </a:rPr>
              <a:t>. Manifestado por lo que las personas hacen, más que por lo que dicen. Cuando lo “hecho” y lo “dicho” no coinciden, lo “hecho” modela la cultura.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a:latin typeface="Calibri"/>
                <a:ea typeface="Calibri"/>
                <a:cs typeface="Calibri"/>
                <a:sym typeface="Calibri"/>
              </a:rPr>
              <a:t>En cada organización existen </a:t>
            </a:r>
            <a:r>
              <a:rPr lang="en-US" b="1">
                <a:latin typeface="Calibri"/>
                <a:ea typeface="Calibri"/>
                <a:cs typeface="Calibri"/>
                <a:sym typeface="Calibri"/>
              </a:rPr>
              <a:t>jerarquías de valores</a:t>
            </a:r>
            <a:r>
              <a:rPr lang="en-US">
                <a:latin typeface="Calibri"/>
                <a:ea typeface="Calibri"/>
                <a:cs typeface="Calibri"/>
                <a:sym typeface="Calibri"/>
              </a:rPr>
              <a:t>, aunque no sean explícitas. </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a:latin typeface="Calibri"/>
                <a:ea typeface="Calibri"/>
                <a:cs typeface="Calibri"/>
                <a:sym typeface="Calibri"/>
              </a:rPr>
              <a:t>La jerarquía de valores resuelve las situaciones cuando hay un </a:t>
            </a:r>
            <a:r>
              <a:rPr lang="en-US" b="1">
                <a:latin typeface="Calibri"/>
                <a:ea typeface="Calibri"/>
                <a:cs typeface="Calibri"/>
                <a:sym typeface="Calibri"/>
              </a:rPr>
              <a:t>dilema de valores</a:t>
            </a:r>
            <a:r>
              <a:rPr lang="en-US">
                <a:latin typeface="Calibri"/>
                <a:ea typeface="Calibri"/>
                <a:cs typeface="Calibri"/>
                <a:sym typeface="Calibri"/>
              </a:rPr>
              <a:t>: Ej: Durante la pandemia de Coronavirus, muchas empresas enfrentaron el dilema de valores rentabilidad-seguridad de sus empleados. Cada mensaje que dieron durante ese tiempo reforzó alguno de esos valores que conforman la cultura.</a:t>
            </a:r>
            <a:endParaRPr>
              <a:latin typeface="Calibri"/>
              <a:ea typeface="Calibri"/>
              <a:cs typeface="Calibri"/>
              <a:sym typeface="Calibri"/>
            </a:endParaRPr>
          </a:p>
          <a:p>
            <a:pPr marL="0" lvl="0" indent="0" algn="l" rtl="0">
              <a:lnSpc>
                <a:spcPct val="100000"/>
              </a:lnSpc>
              <a:spcBef>
                <a:spcPts val="0"/>
              </a:spcBef>
              <a:spcAft>
                <a:spcPts val="0"/>
              </a:spcAft>
              <a:buSzPts val="1400"/>
              <a:buNone/>
            </a:pPr>
            <a:r>
              <a:rPr lang="en-US">
                <a:latin typeface="Calibri"/>
                <a:ea typeface="Calibri"/>
                <a:cs typeface="Calibri"/>
                <a:sym typeface="Calibri"/>
              </a:rPr>
              <a:t>Una forma de ver cuáles son los valores principales de una organización es notar en qué gasta su TIEMPO y DINERO. Como ambos son recursos finitos, los utilizamos en lo que más nos importa. Eso también sirve para ver cuáles son los principales valores de una persona.</a:t>
            </a:r>
            <a:endParaRPr/>
          </a:p>
        </p:txBody>
      </p:sp>
      <p:sp>
        <p:nvSpPr>
          <p:cNvPr id="257" name="Google Shape;257;g123d31d1acb_0_275:notes"/>
          <p:cNvSpPr txBox="1">
            <a:spLocks noGrp="1"/>
          </p:cNvSpPr>
          <p:nvPr>
            <p:ph type="sldNum" idx="12"/>
          </p:nvPr>
        </p:nvSpPr>
        <p:spPr>
          <a:xfrm>
            <a:off x="3871118" y="9478342"/>
            <a:ext cx="2961600" cy="500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23d31d1acb_0_393: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Los </a:t>
            </a:r>
            <a:r>
              <a:rPr lang="en-US" sz="1600" dirty="0" err="1">
                <a:latin typeface="Calibri"/>
                <a:ea typeface="Calibri"/>
                <a:cs typeface="Calibri"/>
                <a:sym typeface="Calibri"/>
              </a:rPr>
              <a:t>mensajes</a:t>
            </a:r>
            <a:r>
              <a:rPr lang="en-US" sz="1600" dirty="0">
                <a:latin typeface="Calibri"/>
                <a:ea typeface="Calibri"/>
                <a:cs typeface="Calibri"/>
                <a:sym typeface="Calibri"/>
              </a:rPr>
              <a:t> que </a:t>
            </a:r>
            <a:r>
              <a:rPr lang="en-US" sz="1600" dirty="0" err="1">
                <a:latin typeface="Calibri"/>
                <a:ea typeface="Calibri"/>
                <a:cs typeface="Calibri"/>
                <a:sym typeface="Calibri"/>
              </a:rPr>
              <a:t>moldean</a:t>
            </a:r>
            <a:r>
              <a:rPr lang="en-US" sz="1600" dirty="0">
                <a:latin typeface="Calibri"/>
                <a:ea typeface="Calibri"/>
                <a:cs typeface="Calibri"/>
                <a:sym typeface="Calibri"/>
              </a:rPr>
              <a:t> la </a:t>
            </a:r>
            <a:r>
              <a:rPr lang="en-US" sz="1600" dirty="0" err="1">
                <a:latin typeface="Calibri"/>
                <a:ea typeface="Calibri"/>
                <a:cs typeface="Calibri"/>
                <a:sym typeface="Calibri"/>
              </a:rPr>
              <a:t>cultura</a:t>
            </a:r>
            <a:r>
              <a:rPr lang="en-US" sz="1600" dirty="0">
                <a:latin typeface="Calibri"/>
                <a:ea typeface="Calibri"/>
                <a:cs typeface="Calibri"/>
                <a:sym typeface="Calibri"/>
              </a:rPr>
              <a:t> </a:t>
            </a:r>
            <a:r>
              <a:rPr lang="en-US" sz="1600" dirty="0" err="1">
                <a:latin typeface="Calibri"/>
                <a:ea typeface="Calibri"/>
                <a:cs typeface="Calibri"/>
                <a:sym typeface="Calibri"/>
              </a:rPr>
              <a:t>provienen</a:t>
            </a:r>
            <a:r>
              <a:rPr lang="en-US" sz="1600" dirty="0">
                <a:latin typeface="Calibri"/>
                <a:ea typeface="Calibri"/>
                <a:cs typeface="Calibri"/>
                <a:sym typeface="Calibri"/>
              </a:rPr>
              <a:t> de </a:t>
            </a:r>
            <a:r>
              <a:rPr lang="en-US" sz="1600" dirty="0" err="1">
                <a:latin typeface="Calibri"/>
                <a:ea typeface="Calibri"/>
                <a:cs typeface="Calibri"/>
                <a:sym typeface="Calibri"/>
              </a:rPr>
              <a:t>tres</a:t>
            </a:r>
            <a:r>
              <a:rPr lang="en-US" sz="1600" dirty="0">
                <a:latin typeface="Calibri"/>
                <a:ea typeface="Calibri"/>
                <a:cs typeface="Calibri"/>
                <a:sym typeface="Calibri"/>
              </a:rPr>
              <a:t> </a:t>
            </a:r>
            <a:r>
              <a:rPr lang="en-US" sz="1600" dirty="0" err="1">
                <a:latin typeface="Calibri"/>
                <a:ea typeface="Calibri"/>
                <a:cs typeface="Calibri"/>
                <a:sym typeface="Calibri"/>
              </a:rPr>
              <a:t>grandes</a:t>
            </a:r>
            <a:r>
              <a:rPr lang="en-US" sz="1600" dirty="0">
                <a:latin typeface="Calibri"/>
                <a:ea typeface="Calibri"/>
                <a:cs typeface="Calibri"/>
                <a:sym typeface="Calibri"/>
              </a:rPr>
              <a:t> </a:t>
            </a:r>
            <a:r>
              <a:rPr lang="en-US" sz="1600" dirty="0" err="1">
                <a:latin typeface="Calibri"/>
                <a:ea typeface="Calibri"/>
                <a:cs typeface="Calibri"/>
                <a:sym typeface="Calibri"/>
              </a:rPr>
              <a:t>áreas</a:t>
            </a:r>
            <a:r>
              <a:rPr lang="en-US" sz="1600" dirty="0">
                <a:latin typeface="Calibri"/>
                <a:ea typeface="Calibri"/>
                <a:cs typeface="Calibri"/>
                <a:sym typeface="Calibri"/>
              </a:rPr>
              <a:t>:</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 -</a:t>
            </a:r>
            <a:r>
              <a:rPr lang="en-US" sz="1600" b="1" dirty="0">
                <a:latin typeface="Calibri"/>
                <a:ea typeface="Calibri"/>
                <a:cs typeface="Calibri"/>
                <a:sym typeface="Calibri"/>
              </a:rPr>
              <a:t> COMPORTAMIENTOS</a:t>
            </a:r>
            <a:r>
              <a:rPr lang="en-US" sz="1600" dirty="0">
                <a:latin typeface="Calibri"/>
                <a:ea typeface="Calibri"/>
                <a:cs typeface="Calibri"/>
                <a:sym typeface="Calibri"/>
              </a:rPr>
              <a:t>: El </a:t>
            </a:r>
            <a:r>
              <a:rPr lang="en-US" sz="1600" dirty="0" err="1">
                <a:latin typeface="Calibri"/>
                <a:ea typeface="Calibri"/>
                <a:cs typeface="Calibri"/>
                <a:sym typeface="Calibri"/>
              </a:rPr>
              <a:t>comportamiento</a:t>
            </a:r>
            <a:r>
              <a:rPr lang="en-US" sz="1600" dirty="0">
                <a:latin typeface="Calibri"/>
                <a:ea typeface="Calibri"/>
                <a:cs typeface="Calibri"/>
                <a:sym typeface="Calibri"/>
              </a:rPr>
              <a:t> de </a:t>
            </a:r>
            <a:r>
              <a:rPr lang="en-US" sz="1600" dirty="0" err="1">
                <a:latin typeface="Calibri"/>
                <a:ea typeface="Calibri"/>
                <a:cs typeface="Calibri"/>
                <a:sym typeface="Calibri"/>
              </a:rPr>
              <a:t>otros</a:t>
            </a:r>
            <a:r>
              <a:rPr lang="en-US" sz="1600" dirty="0">
                <a:latin typeface="Calibri"/>
                <a:ea typeface="Calibri"/>
                <a:cs typeface="Calibri"/>
                <a:sym typeface="Calibri"/>
              </a:rPr>
              <a:t>, </a:t>
            </a:r>
            <a:r>
              <a:rPr lang="en-US" sz="1600" dirty="0" err="1">
                <a:latin typeface="Calibri"/>
                <a:ea typeface="Calibri"/>
                <a:cs typeface="Calibri"/>
                <a:sym typeface="Calibri"/>
              </a:rPr>
              <a:t>especialmente</a:t>
            </a:r>
            <a:r>
              <a:rPr lang="en-US" sz="1600" dirty="0">
                <a:latin typeface="Calibri"/>
                <a:ea typeface="Calibri"/>
                <a:cs typeface="Calibri"/>
                <a:sym typeface="Calibri"/>
              </a:rPr>
              <a:t> de </a:t>
            </a:r>
            <a:r>
              <a:rPr lang="en-US" sz="1600" dirty="0" err="1">
                <a:latin typeface="Calibri"/>
                <a:ea typeface="Calibri"/>
                <a:cs typeface="Calibri"/>
                <a:sym typeface="Calibri"/>
              </a:rPr>
              <a:t>aquellos</a:t>
            </a:r>
            <a:r>
              <a:rPr lang="en-US" sz="1600" dirty="0">
                <a:latin typeface="Calibri"/>
                <a:ea typeface="Calibri"/>
                <a:cs typeface="Calibri"/>
                <a:sym typeface="Calibri"/>
              </a:rPr>
              <a:t> que </a:t>
            </a:r>
            <a:r>
              <a:rPr lang="en-US" sz="1600" dirty="0" err="1">
                <a:latin typeface="Calibri"/>
                <a:ea typeface="Calibri"/>
                <a:cs typeface="Calibri"/>
                <a:sym typeface="Calibri"/>
              </a:rPr>
              <a:t>parecen</a:t>
            </a:r>
            <a:r>
              <a:rPr lang="en-US" sz="1600" dirty="0">
                <a:latin typeface="Calibri"/>
                <a:ea typeface="Calibri"/>
                <a:cs typeface="Calibri"/>
                <a:sym typeface="Calibri"/>
              </a:rPr>
              <a:t> </a:t>
            </a:r>
            <a:r>
              <a:rPr lang="en-US" sz="1600" dirty="0" err="1">
                <a:latin typeface="Calibri"/>
                <a:ea typeface="Calibri"/>
                <a:cs typeface="Calibri"/>
                <a:sym typeface="Calibri"/>
              </a:rPr>
              <a:t>importantes</a:t>
            </a:r>
            <a:r>
              <a:rPr lang="en-US" sz="1600" dirty="0">
                <a:latin typeface="Calibri"/>
                <a:ea typeface="Calibri"/>
                <a:cs typeface="Calibri"/>
                <a:sym typeface="Calibri"/>
              </a:rPr>
              <a:t>.</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 Los </a:t>
            </a:r>
            <a:r>
              <a:rPr lang="en-US" sz="1600" dirty="0" err="1">
                <a:latin typeface="Calibri"/>
                <a:ea typeface="Calibri"/>
                <a:cs typeface="Calibri"/>
                <a:sym typeface="Calibri"/>
              </a:rPr>
              <a:t>comportamientos</a:t>
            </a:r>
            <a:r>
              <a:rPr lang="en-US" sz="1600" dirty="0">
                <a:latin typeface="Calibri"/>
                <a:ea typeface="Calibri"/>
                <a:cs typeface="Calibri"/>
                <a:sym typeface="Calibri"/>
              </a:rPr>
              <a:t> del </a:t>
            </a:r>
            <a:r>
              <a:rPr lang="en-US" sz="1600" dirty="0" err="1">
                <a:latin typeface="Calibri"/>
                <a:ea typeface="Calibri"/>
                <a:cs typeface="Calibri"/>
                <a:sym typeface="Calibri"/>
              </a:rPr>
              <a:t>equipo</a:t>
            </a:r>
            <a:r>
              <a:rPr lang="en-US" sz="1600" dirty="0">
                <a:latin typeface="Calibri"/>
                <a:ea typeface="Calibri"/>
                <a:cs typeface="Calibri"/>
                <a:sym typeface="Calibri"/>
              </a:rPr>
              <a:t> </a:t>
            </a:r>
            <a:r>
              <a:rPr lang="en-US" sz="1600" dirty="0" err="1">
                <a:latin typeface="Calibri"/>
                <a:ea typeface="Calibri"/>
                <a:cs typeface="Calibri"/>
                <a:sym typeface="Calibri"/>
              </a:rPr>
              <a:t>directivo</a:t>
            </a:r>
            <a:r>
              <a:rPr lang="en-US" sz="1600" dirty="0">
                <a:latin typeface="Calibri"/>
                <a:ea typeface="Calibri"/>
                <a:cs typeface="Calibri"/>
                <a:sym typeface="Calibri"/>
              </a:rPr>
              <a:t> </a:t>
            </a:r>
            <a:r>
              <a:rPr lang="en-US" sz="1600" dirty="0" err="1">
                <a:latin typeface="Calibri"/>
                <a:ea typeface="Calibri"/>
                <a:cs typeface="Calibri"/>
                <a:sym typeface="Calibri"/>
              </a:rPr>
              <a:t>tienen</a:t>
            </a:r>
            <a:r>
              <a:rPr lang="en-US" sz="1600" dirty="0">
                <a:latin typeface="Calibri"/>
                <a:ea typeface="Calibri"/>
                <a:cs typeface="Calibri"/>
                <a:sym typeface="Calibri"/>
              </a:rPr>
              <a:t> mayor </a:t>
            </a:r>
            <a:r>
              <a:rPr lang="en-US" sz="1600" dirty="0" err="1">
                <a:latin typeface="Calibri"/>
                <a:ea typeface="Calibri"/>
                <a:cs typeface="Calibri"/>
                <a:sym typeface="Calibri"/>
              </a:rPr>
              <a:t>impacto</a:t>
            </a:r>
            <a:r>
              <a:rPr lang="en-US" sz="1600" dirty="0">
                <a:latin typeface="Calibri"/>
                <a:ea typeface="Calibri"/>
                <a:cs typeface="Calibri"/>
                <a:sym typeface="Calibri"/>
              </a:rPr>
              <a:t>: </a:t>
            </a:r>
            <a:r>
              <a:rPr lang="en-US" sz="1600" dirty="0" err="1">
                <a:latin typeface="Calibri"/>
                <a:ea typeface="Calibri"/>
                <a:cs typeface="Calibri"/>
                <a:sym typeface="Calibri"/>
              </a:rPr>
              <a:t>muestran</a:t>
            </a:r>
            <a:r>
              <a:rPr lang="en-US" sz="1600" dirty="0">
                <a:latin typeface="Calibri"/>
                <a:ea typeface="Calibri"/>
                <a:cs typeface="Calibri"/>
                <a:sym typeface="Calibri"/>
              </a:rPr>
              <a:t> </a:t>
            </a:r>
            <a:r>
              <a:rPr lang="en-US" sz="1600" dirty="0" err="1">
                <a:latin typeface="Calibri"/>
                <a:ea typeface="Calibri"/>
                <a:cs typeface="Calibri"/>
                <a:sym typeface="Calibri"/>
              </a:rPr>
              <a:t>cómo</a:t>
            </a:r>
            <a:r>
              <a:rPr lang="en-US" sz="1600" dirty="0">
                <a:latin typeface="Calibri"/>
                <a:ea typeface="Calibri"/>
                <a:cs typeface="Calibri"/>
                <a:sym typeface="Calibri"/>
              </a:rPr>
              <a:t> es </a:t>
            </a:r>
            <a:r>
              <a:rPr lang="en-US" sz="1600" dirty="0" err="1">
                <a:latin typeface="Calibri"/>
                <a:ea typeface="Calibri"/>
                <a:cs typeface="Calibri"/>
                <a:sym typeface="Calibri"/>
              </a:rPr>
              <a:t>el</a:t>
            </a:r>
            <a:r>
              <a:rPr lang="en-US" sz="1600" dirty="0">
                <a:latin typeface="Calibri"/>
                <a:ea typeface="Calibri"/>
                <a:cs typeface="Calibri"/>
                <a:sym typeface="Calibri"/>
              </a:rPr>
              <a:t> </a:t>
            </a:r>
            <a:r>
              <a:rPr lang="en-US" sz="1600" dirty="0" err="1">
                <a:latin typeface="Calibri"/>
                <a:ea typeface="Calibri"/>
                <a:cs typeface="Calibri"/>
                <a:sym typeface="Calibri"/>
              </a:rPr>
              <a:t>comportamiento</a:t>
            </a:r>
            <a:r>
              <a:rPr lang="en-US" sz="1600" dirty="0">
                <a:latin typeface="Calibri"/>
                <a:ea typeface="Calibri"/>
                <a:cs typeface="Calibri"/>
                <a:sym typeface="Calibri"/>
              </a:rPr>
              <a:t> de </a:t>
            </a:r>
            <a:r>
              <a:rPr lang="en-US" sz="1600" dirty="0" err="1">
                <a:latin typeface="Calibri"/>
                <a:ea typeface="Calibri"/>
                <a:cs typeface="Calibri"/>
                <a:sym typeface="Calibri"/>
              </a:rPr>
              <a:t>alguien</a:t>
            </a:r>
            <a:r>
              <a:rPr lang="en-US" sz="1600" dirty="0">
                <a:latin typeface="Calibri"/>
                <a:ea typeface="Calibri"/>
                <a:cs typeface="Calibri"/>
                <a:sym typeface="Calibri"/>
              </a:rPr>
              <a:t> que </a:t>
            </a:r>
            <a:r>
              <a:rPr lang="en-US" sz="1600" dirty="0" err="1">
                <a:latin typeface="Calibri"/>
                <a:ea typeface="Calibri"/>
                <a:cs typeface="Calibri"/>
                <a:sym typeface="Calibri"/>
              </a:rPr>
              <a:t>llegó</a:t>
            </a:r>
            <a:r>
              <a:rPr lang="en-US" sz="1600" dirty="0">
                <a:latin typeface="Calibri"/>
                <a:ea typeface="Calibri"/>
                <a:cs typeface="Calibri"/>
                <a:sym typeface="Calibri"/>
              </a:rPr>
              <a:t> a ser </a:t>
            </a:r>
            <a:r>
              <a:rPr lang="en-US" sz="1600" dirty="0" err="1">
                <a:latin typeface="Calibri"/>
                <a:ea typeface="Calibri"/>
                <a:cs typeface="Calibri"/>
                <a:sym typeface="Calibri"/>
              </a:rPr>
              <a:t>exitoso</a:t>
            </a:r>
            <a:r>
              <a:rPr lang="en-US" sz="1600" dirty="0">
                <a:latin typeface="Calibri"/>
                <a:ea typeface="Calibri"/>
                <a:cs typeface="Calibri"/>
                <a:sym typeface="Calibri"/>
              </a:rPr>
              <a:t> y </a:t>
            </a:r>
            <a:r>
              <a:rPr lang="en-US" sz="1600" dirty="0" err="1">
                <a:latin typeface="Calibri"/>
                <a:ea typeface="Calibri"/>
                <a:cs typeface="Calibri"/>
                <a:sym typeface="Calibri"/>
              </a:rPr>
              <a:t>reconocido</a:t>
            </a:r>
            <a:r>
              <a:rPr lang="en-US" sz="1600" dirty="0">
                <a:latin typeface="Calibri"/>
                <a:ea typeface="Calibri"/>
                <a:cs typeface="Calibri"/>
                <a:sym typeface="Calibri"/>
              </a:rPr>
              <a:t> </a:t>
            </a:r>
            <a:r>
              <a:rPr lang="en-US" sz="1600" dirty="0" err="1">
                <a:latin typeface="Calibri"/>
                <a:ea typeface="Calibri"/>
                <a:cs typeface="Calibri"/>
                <a:sym typeface="Calibri"/>
              </a:rPr>
              <a:t>en</a:t>
            </a:r>
            <a:r>
              <a:rPr lang="en-US" sz="1600" dirty="0">
                <a:latin typeface="Calibri"/>
                <a:ea typeface="Calibri"/>
                <a:cs typeface="Calibri"/>
                <a:sym typeface="Calibri"/>
              </a:rPr>
              <a:t> </a:t>
            </a:r>
            <a:r>
              <a:rPr lang="en-US" sz="1600" dirty="0" err="1">
                <a:latin typeface="Calibri"/>
                <a:ea typeface="Calibri"/>
                <a:cs typeface="Calibri"/>
                <a:sym typeface="Calibri"/>
              </a:rPr>
              <a:t>esa</a:t>
            </a:r>
            <a:r>
              <a:rPr lang="en-US" sz="1600" dirty="0">
                <a:latin typeface="Calibri"/>
                <a:ea typeface="Calibri"/>
                <a:cs typeface="Calibri"/>
                <a:sym typeface="Calibri"/>
              </a:rPr>
              <a:t> </a:t>
            </a:r>
            <a:r>
              <a:rPr lang="en-US" sz="1600" dirty="0" err="1">
                <a:latin typeface="Calibri"/>
                <a:ea typeface="Calibri"/>
                <a:cs typeface="Calibri"/>
                <a:sym typeface="Calibri"/>
              </a:rPr>
              <a:t>cultura</a:t>
            </a:r>
            <a:r>
              <a:rPr lang="en-US" sz="1600" dirty="0">
                <a:latin typeface="Calibri"/>
                <a:ea typeface="Calibri"/>
                <a:cs typeface="Calibri"/>
                <a:sym typeface="Calibri"/>
              </a:rPr>
              <a:t>. El resto de </a:t>
            </a:r>
            <a:r>
              <a:rPr lang="en-US" sz="1600" dirty="0" err="1">
                <a:latin typeface="Calibri"/>
                <a:ea typeface="Calibri"/>
                <a:cs typeface="Calibri"/>
                <a:sym typeface="Calibri"/>
              </a:rPr>
              <a:t>los</a:t>
            </a:r>
            <a:r>
              <a:rPr lang="en-US" sz="1600" dirty="0">
                <a:latin typeface="Calibri"/>
                <a:ea typeface="Calibri"/>
                <a:cs typeface="Calibri"/>
                <a:sym typeface="Calibri"/>
              </a:rPr>
              <a:t> </a:t>
            </a:r>
            <a:r>
              <a:rPr lang="en-US" sz="1600" dirty="0" err="1">
                <a:latin typeface="Calibri"/>
                <a:ea typeface="Calibri"/>
                <a:cs typeface="Calibri"/>
                <a:sym typeface="Calibri"/>
              </a:rPr>
              <a:t>empleados</a:t>
            </a:r>
            <a:r>
              <a:rPr lang="en-US" sz="1600" dirty="0">
                <a:latin typeface="Calibri"/>
                <a:ea typeface="Calibri"/>
                <a:cs typeface="Calibri"/>
                <a:sym typeface="Calibri"/>
              </a:rPr>
              <a:t> </a:t>
            </a:r>
            <a:r>
              <a:rPr lang="en-US" sz="1600" dirty="0" err="1">
                <a:latin typeface="Calibri"/>
                <a:ea typeface="Calibri"/>
                <a:cs typeface="Calibri"/>
                <a:sym typeface="Calibri"/>
              </a:rPr>
              <a:t>adoptará</a:t>
            </a:r>
            <a:r>
              <a:rPr lang="en-US" sz="1600" dirty="0">
                <a:latin typeface="Calibri"/>
                <a:ea typeface="Calibri"/>
                <a:cs typeface="Calibri"/>
                <a:sym typeface="Calibri"/>
              </a:rPr>
              <a:t> </a:t>
            </a:r>
            <a:r>
              <a:rPr lang="en-US" sz="1600" dirty="0" err="1">
                <a:latin typeface="Calibri"/>
                <a:ea typeface="Calibri"/>
                <a:cs typeface="Calibri"/>
                <a:sym typeface="Calibri"/>
              </a:rPr>
              <a:t>comportamientos</a:t>
            </a:r>
            <a:r>
              <a:rPr lang="en-US" sz="1600" dirty="0">
                <a:latin typeface="Calibri"/>
                <a:ea typeface="Calibri"/>
                <a:cs typeface="Calibri"/>
                <a:sym typeface="Calibri"/>
              </a:rPr>
              <a:t> </a:t>
            </a:r>
            <a:r>
              <a:rPr lang="en-US" sz="1600" dirty="0" err="1">
                <a:latin typeface="Calibri"/>
                <a:ea typeface="Calibri"/>
                <a:cs typeface="Calibri"/>
                <a:sym typeface="Calibri"/>
              </a:rPr>
              <a:t>similares</a:t>
            </a:r>
            <a:r>
              <a:rPr lang="en-US" sz="1600" dirty="0">
                <a:latin typeface="Calibri"/>
                <a:ea typeface="Calibri"/>
                <a:cs typeface="Calibri"/>
                <a:sym typeface="Calibri"/>
              </a:rPr>
              <a:t>, lo que </a:t>
            </a:r>
            <a:r>
              <a:rPr lang="en-US" sz="1600" dirty="0" err="1">
                <a:latin typeface="Calibri"/>
                <a:ea typeface="Calibri"/>
                <a:cs typeface="Calibri"/>
                <a:sym typeface="Calibri"/>
              </a:rPr>
              <a:t>fortalecerá</a:t>
            </a:r>
            <a:r>
              <a:rPr lang="en-US" sz="1600" dirty="0">
                <a:latin typeface="Calibri"/>
                <a:ea typeface="Calibri"/>
                <a:cs typeface="Calibri"/>
                <a:sym typeface="Calibri"/>
              </a:rPr>
              <a:t> la Cultura.</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Los </a:t>
            </a:r>
            <a:r>
              <a:rPr lang="en-US" sz="1600" dirty="0" err="1">
                <a:latin typeface="Calibri"/>
                <a:ea typeface="Calibri"/>
                <a:cs typeface="Calibri"/>
                <a:sym typeface="Calibri"/>
              </a:rPr>
              <a:t>comportamientos</a:t>
            </a:r>
            <a:r>
              <a:rPr lang="en-US" sz="1600" dirty="0">
                <a:latin typeface="Calibri"/>
                <a:ea typeface="Calibri"/>
                <a:cs typeface="Calibri"/>
                <a:sym typeface="Calibri"/>
              </a:rPr>
              <a:t> se </a:t>
            </a:r>
            <a:r>
              <a:rPr lang="en-US" sz="1600" dirty="0" err="1">
                <a:latin typeface="Calibri"/>
                <a:ea typeface="Calibri"/>
                <a:cs typeface="Calibri"/>
                <a:sym typeface="Calibri"/>
              </a:rPr>
              <a:t>pueden</a:t>
            </a:r>
            <a:r>
              <a:rPr lang="en-US" sz="1600" dirty="0">
                <a:latin typeface="Calibri"/>
                <a:ea typeface="Calibri"/>
                <a:cs typeface="Calibri"/>
                <a:sym typeface="Calibri"/>
              </a:rPr>
              <a:t> </a:t>
            </a:r>
            <a:r>
              <a:rPr lang="en-US" sz="1600" dirty="0" err="1">
                <a:latin typeface="Calibri"/>
                <a:ea typeface="Calibri"/>
                <a:cs typeface="Calibri"/>
                <a:sym typeface="Calibri"/>
              </a:rPr>
              <a:t>cambiar</a:t>
            </a:r>
            <a:r>
              <a:rPr lang="en-US" sz="1600" dirty="0">
                <a:latin typeface="Calibri"/>
                <a:ea typeface="Calibri"/>
                <a:cs typeface="Calibri"/>
                <a:sym typeface="Calibri"/>
              </a:rPr>
              <a:t> con </a:t>
            </a:r>
            <a:r>
              <a:rPr lang="en-US" sz="1600" dirty="0" err="1">
                <a:latin typeface="Calibri"/>
                <a:ea typeface="Calibri"/>
                <a:cs typeface="Calibri"/>
                <a:sym typeface="Calibri"/>
              </a:rPr>
              <a:t>bastante</a:t>
            </a:r>
            <a:r>
              <a:rPr lang="en-US" sz="1600" dirty="0">
                <a:latin typeface="Calibri"/>
                <a:ea typeface="Calibri"/>
                <a:cs typeface="Calibri"/>
                <a:sym typeface="Calibri"/>
              </a:rPr>
              <a:t> </a:t>
            </a:r>
            <a:r>
              <a:rPr lang="en-US" sz="1600" dirty="0" err="1">
                <a:latin typeface="Calibri"/>
                <a:ea typeface="Calibri"/>
                <a:cs typeface="Calibri"/>
                <a:sym typeface="Calibri"/>
              </a:rPr>
              <a:t>rapidez</a:t>
            </a:r>
            <a:r>
              <a:rPr lang="en-US" sz="1600" dirty="0">
                <a:latin typeface="Calibri"/>
                <a:ea typeface="Calibri"/>
                <a:cs typeface="Calibri"/>
                <a:sym typeface="Calibri"/>
              </a:rPr>
              <a:t>, </a:t>
            </a:r>
            <a:r>
              <a:rPr lang="en-US" sz="1600" dirty="0" err="1">
                <a:latin typeface="Calibri"/>
                <a:ea typeface="Calibri"/>
                <a:cs typeface="Calibri"/>
                <a:sym typeface="Calibri"/>
              </a:rPr>
              <a:t>por</a:t>
            </a:r>
            <a:r>
              <a:rPr lang="en-US" sz="1600" dirty="0">
                <a:latin typeface="Calibri"/>
                <a:ea typeface="Calibri"/>
                <a:cs typeface="Calibri"/>
                <a:sym typeface="Calibri"/>
              </a:rPr>
              <a:t> </a:t>
            </a:r>
            <a:r>
              <a:rPr lang="en-US" sz="1600" dirty="0" err="1">
                <a:latin typeface="Calibri"/>
                <a:ea typeface="Calibri"/>
                <a:cs typeface="Calibri"/>
                <a:sym typeface="Calibri"/>
              </a:rPr>
              <a:t>eso</a:t>
            </a:r>
            <a:r>
              <a:rPr lang="en-US" sz="1600" dirty="0">
                <a:latin typeface="Calibri"/>
                <a:ea typeface="Calibri"/>
                <a:cs typeface="Calibri"/>
                <a:sym typeface="Calibri"/>
              </a:rPr>
              <a:t> es </a:t>
            </a:r>
            <a:r>
              <a:rPr lang="en-US" sz="1600" dirty="0" err="1">
                <a:latin typeface="Calibri"/>
                <a:ea typeface="Calibri"/>
                <a:cs typeface="Calibri"/>
                <a:sym typeface="Calibri"/>
              </a:rPr>
              <a:t>importante</a:t>
            </a:r>
            <a:r>
              <a:rPr lang="en-US" sz="1600" dirty="0">
                <a:latin typeface="Calibri"/>
                <a:ea typeface="Calibri"/>
                <a:cs typeface="Calibri"/>
                <a:sym typeface="Calibri"/>
              </a:rPr>
              <a:t> </a:t>
            </a:r>
            <a:r>
              <a:rPr lang="en-US" sz="1600" dirty="0" err="1">
                <a:latin typeface="Calibri"/>
                <a:ea typeface="Calibri"/>
                <a:cs typeface="Calibri"/>
                <a:sym typeface="Calibri"/>
              </a:rPr>
              <a:t>ver</a:t>
            </a:r>
            <a:r>
              <a:rPr lang="en-US" sz="1600" dirty="0">
                <a:latin typeface="Calibri"/>
                <a:ea typeface="Calibri"/>
                <a:cs typeface="Calibri"/>
                <a:sym typeface="Calibri"/>
              </a:rPr>
              <a:t> </a:t>
            </a:r>
            <a:r>
              <a:rPr lang="en-US" sz="1600" b="1" dirty="0" err="1">
                <a:latin typeface="Calibri"/>
                <a:ea typeface="Calibri"/>
                <a:cs typeface="Calibri"/>
                <a:sym typeface="Calibri"/>
              </a:rPr>
              <a:t>qué</a:t>
            </a:r>
            <a:r>
              <a:rPr lang="en-US" sz="1600" b="1" dirty="0">
                <a:latin typeface="Calibri"/>
                <a:ea typeface="Calibri"/>
                <a:cs typeface="Calibri"/>
                <a:sym typeface="Calibri"/>
              </a:rPr>
              <a:t> </a:t>
            </a:r>
            <a:r>
              <a:rPr lang="en-US" sz="1600" b="1" dirty="0" err="1">
                <a:latin typeface="Calibri"/>
                <a:ea typeface="Calibri"/>
                <a:cs typeface="Calibri"/>
                <a:sym typeface="Calibri"/>
              </a:rPr>
              <a:t>Valores</a:t>
            </a:r>
            <a:r>
              <a:rPr lang="en-US" sz="1600" b="1" dirty="0">
                <a:latin typeface="Calibri"/>
                <a:ea typeface="Calibri"/>
                <a:cs typeface="Calibri"/>
                <a:sym typeface="Calibri"/>
              </a:rPr>
              <a:t> </a:t>
            </a:r>
            <a:r>
              <a:rPr lang="en-US" sz="1600" b="1" dirty="0" err="1">
                <a:latin typeface="Calibri"/>
                <a:ea typeface="Calibri"/>
                <a:cs typeface="Calibri"/>
                <a:sym typeface="Calibri"/>
              </a:rPr>
              <a:t>están</a:t>
            </a:r>
            <a:r>
              <a:rPr lang="en-US" sz="1600" b="1" dirty="0">
                <a:latin typeface="Calibri"/>
                <a:ea typeface="Calibri"/>
                <a:cs typeface="Calibri"/>
                <a:sym typeface="Calibri"/>
              </a:rPr>
              <a:t> </a:t>
            </a:r>
            <a:r>
              <a:rPr lang="en-US" sz="1600" b="1" dirty="0" err="1">
                <a:latin typeface="Calibri"/>
                <a:ea typeface="Calibri"/>
                <a:cs typeface="Calibri"/>
                <a:sym typeface="Calibri"/>
              </a:rPr>
              <a:t>reflejando</a:t>
            </a:r>
            <a:r>
              <a:rPr lang="en-US" sz="1600" b="1" dirty="0">
                <a:latin typeface="Calibri"/>
                <a:ea typeface="Calibri"/>
                <a:cs typeface="Calibri"/>
                <a:sym typeface="Calibri"/>
              </a:rPr>
              <a:t> </a:t>
            </a:r>
            <a:r>
              <a:rPr lang="en-US" sz="1600" b="1" dirty="0" err="1">
                <a:latin typeface="Calibri"/>
                <a:ea typeface="Calibri"/>
                <a:cs typeface="Calibri"/>
                <a:sym typeface="Calibri"/>
              </a:rPr>
              <a:t>esos</a:t>
            </a:r>
            <a:r>
              <a:rPr lang="en-US" sz="1600" b="1" dirty="0">
                <a:latin typeface="Calibri"/>
                <a:ea typeface="Calibri"/>
                <a:cs typeface="Calibri"/>
                <a:sym typeface="Calibri"/>
              </a:rPr>
              <a:t> </a:t>
            </a:r>
            <a:r>
              <a:rPr lang="en-US" sz="1600" b="1" dirty="0" err="1">
                <a:latin typeface="Calibri"/>
                <a:ea typeface="Calibri"/>
                <a:cs typeface="Calibri"/>
                <a:sym typeface="Calibri"/>
              </a:rPr>
              <a:t>comportamientos</a:t>
            </a:r>
            <a:r>
              <a:rPr lang="en-US" sz="1600" b="1" dirty="0">
                <a:latin typeface="Calibri"/>
                <a:ea typeface="Calibri"/>
                <a:cs typeface="Calibri"/>
                <a:sym typeface="Calibri"/>
              </a:rPr>
              <a:t>.</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b="1" dirty="0" err="1">
                <a:latin typeface="Calibri"/>
                <a:ea typeface="Calibri"/>
                <a:cs typeface="Calibri"/>
                <a:sym typeface="Calibri"/>
              </a:rPr>
              <a:t>Ejs</a:t>
            </a:r>
            <a:r>
              <a:rPr lang="en-US" sz="1600" b="1" dirty="0">
                <a:latin typeface="Calibri"/>
                <a:ea typeface="Calibri"/>
                <a:cs typeface="Calibri"/>
                <a:sym typeface="Calibri"/>
              </a:rPr>
              <a:t> de </a:t>
            </a:r>
            <a:r>
              <a:rPr lang="en-US" sz="1600" b="1" dirty="0" err="1">
                <a:latin typeface="Calibri"/>
                <a:ea typeface="Calibri"/>
                <a:cs typeface="Calibri"/>
                <a:sym typeface="Calibri"/>
              </a:rPr>
              <a:t>comportamientos</a:t>
            </a:r>
            <a:r>
              <a:rPr lang="en-US" sz="1600" dirty="0">
                <a:latin typeface="Calibri"/>
                <a:ea typeface="Calibri"/>
                <a:cs typeface="Calibri"/>
                <a:sym typeface="Calibri"/>
              </a:rPr>
              <a:t>:</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err="1">
                <a:latin typeface="Calibri"/>
                <a:ea typeface="Calibri"/>
                <a:cs typeface="Calibri"/>
                <a:sym typeface="Calibri"/>
              </a:rPr>
              <a:t>Castigar</a:t>
            </a:r>
            <a:r>
              <a:rPr lang="en-US" sz="1600" dirty="0">
                <a:latin typeface="Calibri"/>
                <a:ea typeface="Calibri"/>
                <a:cs typeface="Calibri"/>
                <a:sym typeface="Calibri"/>
              </a:rPr>
              <a:t> </a:t>
            </a:r>
            <a:r>
              <a:rPr lang="en-US" sz="1600" dirty="0" err="1">
                <a:latin typeface="Calibri"/>
                <a:ea typeface="Calibri"/>
                <a:cs typeface="Calibri"/>
                <a:sym typeface="Calibri"/>
              </a:rPr>
              <a:t>por</a:t>
            </a:r>
            <a:r>
              <a:rPr lang="en-US" sz="1600" dirty="0">
                <a:latin typeface="Calibri"/>
                <a:ea typeface="Calibri"/>
                <a:cs typeface="Calibri"/>
                <a:sym typeface="Calibri"/>
              </a:rPr>
              <a:t> </a:t>
            </a:r>
            <a:r>
              <a:rPr lang="en-US" sz="1600" dirty="0" err="1">
                <a:latin typeface="Calibri"/>
                <a:ea typeface="Calibri"/>
                <a:cs typeface="Calibri"/>
                <a:sym typeface="Calibri"/>
              </a:rPr>
              <a:t>los</a:t>
            </a:r>
            <a:r>
              <a:rPr lang="en-US" sz="1600" dirty="0">
                <a:latin typeface="Calibri"/>
                <a:ea typeface="Calibri"/>
                <a:cs typeface="Calibri"/>
                <a:sym typeface="Calibri"/>
              </a:rPr>
              <a:t> </a:t>
            </a:r>
            <a:r>
              <a:rPr lang="en-US" sz="1600" dirty="0" err="1">
                <a:latin typeface="Calibri"/>
                <a:ea typeface="Calibri"/>
                <a:cs typeface="Calibri"/>
                <a:sym typeface="Calibri"/>
              </a:rPr>
              <a:t>errores</a:t>
            </a:r>
            <a:r>
              <a:rPr lang="en-US" sz="1600" dirty="0">
                <a:latin typeface="Calibri"/>
                <a:ea typeface="Calibri"/>
                <a:cs typeface="Calibri"/>
                <a:sym typeface="Calibri"/>
              </a:rPr>
              <a:t>  / </a:t>
            </a:r>
            <a:r>
              <a:rPr lang="en-US" sz="1600" dirty="0" err="1">
                <a:latin typeface="Calibri"/>
                <a:ea typeface="Calibri"/>
                <a:cs typeface="Calibri"/>
                <a:sym typeface="Calibri"/>
              </a:rPr>
              <a:t>Buscar</a:t>
            </a:r>
            <a:r>
              <a:rPr lang="en-US" sz="1600" dirty="0">
                <a:latin typeface="Calibri"/>
                <a:ea typeface="Calibri"/>
                <a:cs typeface="Calibri"/>
                <a:sym typeface="Calibri"/>
              </a:rPr>
              <a:t> al culpable</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a:latin typeface="Calibri"/>
                <a:ea typeface="Calibri"/>
                <a:cs typeface="Calibri"/>
                <a:sym typeface="Calibri"/>
              </a:rPr>
              <a:t>Forma de </a:t>
            </a:r>
            <a:r>
              <a:rPr lang="en-US" sz="1600" dirty="0" err="1">
                <a:latin typeface="Calibri"/>
                <a:ea typeface="Calibri"/>
                <a:cs typeface="Calibri"/>
                <a:sym typeface="Calibri"/>
              </a:rPr>
              <a:t>tratar</a:t>
            </a:r>
            <a:r>
              <a:rPr lang="en-US" sz="1600" dirty="0">
                <a:latin typeface="Calibri"/>
                <a:ea typeface="Calibri"/>
                <a:cs typeface="Calibri"/>
                <a:sym typeface="Calibri"/>
              </a:rPr>
              <a:t> a </a:t>
            </a:r>
            <a:r>
              <a:rPr lang="en-US" sz="1600" dirty="0" err="1">
                <a:latin typeface="Calibri"/>
                <a:ea typeface="Calibri"/>
                <a:cs typeface="Calibri"/>
                <a:sym typeface="Calibri"/>
              </a:rPr>
              <a:t>los</a:t>
            </a:r>
            <a:r>
              <a:rPr lang="en-US" sz="1600" dirty="0">
                <a:latin typeface="Calibri"/>
                <a:ea typeface="Calibri"/>
                <a:cs typeface="Calibri"/>
                <a:sym typeface="Calibri"/>
              </a:rPr>
              <a:t> </a:t>
            </a:r>
            <a:r>
              <a:rPr lang="en-US" sz="1600" dirty="0" err="1">
                <a:latin typeface="Calibri"/>
                <a:ea typeface="Calibri"/>
                <a:cs typeface="Calibri"/>
                <a:sym typeface="Calibri"/>
              </a:rPr>
              <a:t>clientes</a:t>
            </a:r>
            <a:r>
              <a:rPr lang="en-US" sz="1600" dirty="0">
                <a:latin typeface="Calibri"/>
                <a:ea typeface="Calibri"/>
                <a:cs typeface="Calibri"/>
                <a:sym typeface="Calibri"/>
              </a:rPr>
              <a:t> (</a:t>
            </a:r>
            <a:r>
              <a:rPr lang="en-US" sz="1600" dirty="0" err="1">
                <a:latin typeface="Calibri"/>
                <a:ea typeface="Calibri"/>
                <a:cs typeface="Calibri"/>
                <a:sym typeface="Calibri"/>
              </a:rPr>
              <a:t>ej</a:t>
            </a:r>
            <a:r>
              <a:rPr lang="en-US" sz="1600" dirty="0">
                <a:latin typeface="Calibri"/>
                <a:ea typeface="Calibri"/>
                <a:cs typeface="Calibri"/>
                <a:sym typeface="Calibri"/>
              </a:rPr>
              <a:t>: Disney) o Starbucks que </a:t>
            </a:r>
            <a:r>
              <a:rPr lang="en-US" sz="1600" dirty="0" err="1">
                <a:latin typeface="Calibri"/>
                <a:ea typeface="Calibri"/>
                <a:cs typeface="Calibri"/>
                <a:sym typeface="Calibri"/>
              </a:rPr>
              <a:t>te</a:t>
            </a:r>
            <a:r>
              <a:rPr lang="en-US" sz="1600" dirty="0">
                <a:latin typeface="Calibri"/>
                <a:ea typeface="Calibri"/>
                <a:cs typeface="Calibri"/>
                <a:sym typeface="Calibri"/>
              </a:rPr>
              <a:t> </a:t>
            </a:r>
            <a:r>
              <a:rPr lang="en-US" sz="1600" dirty="0" err="1">
                <a:latin typeface="Calibri"/>
                <a:ea typeface="Calibri"/>
                <a:cs typeface="Calibri"/>
                <a:sym typeface="Calibri"/>
              </a:rPr>
              <a:t>trata</a:t>
            </a:r>
            <a:r>
              <a:rPr lang="en-US" sz="1600" dirty="0">
                <a:latin typeface="Calibri"/>
                <a:ea typeface="Calibri"/>
                <a:cs typeface="Calibri"/>
                <a:sym typeface="Calibri"/>
              </a:rPr>
              <a:t> </a:t>
            </a:r>
            <a:r>
              <a:rPr lang="en-US" sz="1600" dirty="0" err="1">
                <a:latin typeface="Calibri"/>
                <a:ea typeface="Calibri"/>
                <a:cs typeface="Calibri"/>
                <a:sym typeface="Calibri"/>
              </a:rPr>
              <a:t>por</a:t>
            </a:r>
            <a:r>
              <a:rPr lang="en-US" sz="1600" dirty="0">
                <a:latin typeface="Calibri"/>
                <a:ea typeface="Calibri"/>
                <a:cs typeface="Calibri"/>
                <a:sym typeface="Calibri"/>
              </a:rPr>
              <a:t> </a:t>
            </a:r>
            <a:r>
              <a:rPr lang="en-US" sz="1600" dirty="0" err="1">
                <a:latin typeface="Calibri"/>
                <a:ea typeface="Calibri"/>
                <a:cs typeface="Calibri"/>
                <a:sym typeface="Calibri"/>
              </a:rPr>
              <a:t>tu</a:t>
            </a:r>
            <a:r>
              <a:rPr lang="en-US" sz="1600" dirty="0">
                <a:latin typeface="Calibri"/>
                <a:ea typeface="Calibri"/>
                <a:cs typeface="Calibri"/>
                <a:sym typeface="Calibri"/>
              </a:rPr>
              <a:t> </a:t>
            </a:r>
            <a:r>
              <a:rPr lang="en-US" sz="1600" dirty="0" err="1">
                <a:latin typeface="Calibri"/>
                <a:ea typeface="Calibri"/>
                <a:cs typeface="Calibri"/>
                <a:sym typeface="Calibri"/>
              </a:rPr>
              <a:t>nombre</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err="1">
                <a:latin typeface="Calibri"/>
                <a:ea typeface="Calibri"/>
                <a:cs typeface="Calibri"/>
                <a:sym typeface="Calibri"/>
              </a:rPr>
              <a:t>Quedarse</a:t>
            </a:r>
            <a:r>
              <a:rPr lang="en-US" sz="1600" dirty="0">
                <a:latin typeface="Calibri"/>
                <a:ea typeface="Calibri"/>
                <a:cs typeface="Calibri"/>
                <a:sym typeface="Calibri"/>
              </a:rPr>
              <a:t> </a:t>
            </a:r>
            <a:r>
              <a:rPr lang="en-US" sz="1600" dirty="0" err="1">
                <a:latin typeface="Calibri"/>
                <a:ea typeface="Calibri"/>
                <a:cs typeface="Calibri"/>
                <a:sym typeface="Calibri"/>
              </a:rPr>
              <a:t>fuera</a:t>
            </a:r>
            <a:r>
              <a:rPr lang="en-US" sz="1600" dirty="0">
                <a:latin typeface="Calibri"/>
                <a:ea typeface="Calibri"/>
                <a:cs typeface="Calibri"/>
                <a:sym typeface="Calibri"/>
              </a:rPr>
              <a:t> de hora </a:t>
            </a:r>
            <a:r>
              <a:rPr lang="en-US" sz="1600" dirty="0" err="1">
                <a:latin typeface="Calibri"/>
                <a:ea typeface="Calibri"/>
                <a:cs typeface="Calibri"/>
                <a:sym typeface="Calibri"/>
              </a:rPr>
              <a:t>sistemáticamente</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 - </a:t>
            </a:r>
            <a:r>
              <a:rPr lang="en-US" sz="1600" b="1" dirty="0">
                <a:latin typeface="Calibri"/>
                <a:ea typeface="Calibri"/>
                <a:cs typeface="Calibri"/>
                <a:sym typeface="Calibri"/>
              </a:rPr>
              <a:t>SÍMBOLOS</a:t>
            </a:r>
            <a:r>
              <a:rPr lang="en-US" sz="1600" dirty="0">
                <a:latin typeface="Calibri"/>
                <a:ea typeface="Calibri"/>
                <a:cs typeface="Calibri"/>
                <a:sym typeface="Calibri"/>
              </a:rPr>
              <a:t>: </a:t>
            </a:r>
            <a:r>
              <a:rPr lang="en-US" sz="1600" dirty="0" err="1">
                <a:latin typeface="Calibri"/>
                <a:ea typeface="Calibri"/>
                <a:cs typeface="Calibri"/>
                <a:sym typeface="Calibri"/>
              </a:rPr>
              <a:t>Episodios</a:t>
            </a:r>
            <a:r>
              <a:rPr lang="en-US" sz="1600" dirty="0">
                <a:latin typeface="Calibri"/>
                <a:ea typeface="Calibri"/>
                <a:cs typeface="Calibri"/>
                <a:sym typeface="Calibri"/>
              </a:rPr>
              <a:t>, </a:t>
            </a:r>
            <a:r>
              <a:rPr lang="en-US" sz="1600" dirty="0" err="1">
                <a:latin typeface="Calibri"/>
                <a:ea typeface="Calibri"/>
                <a:cs typeface="Calibri"/>
                <a:sym typeface="Calibri"/>
              </a:rPr>
              <a:t>situaciones</a:t>
            </a:r>
            <a:r>
              <a:rPr lang="en-US" sz="1600" dirty="0">
                <a:latin typeface="Calibri"/>
                <a:ea typeface="Calibri"/>
                <a:cs typeface="Calibri"/>
                <a:sym typeface="Calibri"/>
              </a:rPr>
              <a:t>, </a:t>
            </a:r>
            <a:r>
              <a:rPr lang="en-US" sz="1600" dirty="0" err="1">
                <a:latin typeface="Calibri"/>
                <a:ea typeface="Calibri"/>
                <a:cs typeface="Calibri"/>
                <a:sym typeface="Calibri"/>
              </a:rPr>
              <a:t>artefactos</a:t>
            </a:r>
            <a:r>
              <a:rPr lang="en-US" sz="1600" dirty="0">
                <a:latin typeface="Calibri"/>
                <a:ea typeface="Calibri"/>
                <a:cs typeface="Calibri"/>
                <a:sym typeface="Calibri"/>
              </a:rPr>
              <a:t> y </a:t>
            </a:r>
            <a:r>
              <a:rPr lang="en-US" sz="1600" dirty="0" err="1">
                <a:latin typeface="Calibri"/>
                <a:ea typeface="Calibri"/>
                <a:cs typeface="Calibri"/>
                <a:sym typeface="Calibri"/>
              </a:rPr>
              <a:t>decisiones</a:t>
            </a:r>
            <a:r>
              <a:rPr lang="en-US" sz="1600" dirty="0">
                <a:latin typeface="Calibri"/>
                <a:ea typeface="Calibri"/>
                <a:cs typeface="Calibri"/>
                <a:sym typeface="Calibri"/>
              </a:rPr>
              <a:t> observables, a </a:t>
            </a:r>
            <a:r>
              <a:rPr lang="en-US" sz="1600" dirty="0" err="1">
                <a:latin typeface="Calibri"/>
                <a:ea typeface="Calibri"/>
                <a:cs typeface="Calibri"/>
                <a:sym typeface="Calibri"/>
              </a:rPr>
              <a:t>los</a:t>
            </a:r>
            <a:r>
              <a:rPr lang="en-US" sz="1600" dirty="0">
                <a:latin typeface="Calibri"/>
                <a:ea typeface="Calibri"/>
                <a:cs typeface="Calibri"/>
                <a:sym typeface="Calibri"/>
              </a:rPr>
              <a:t> que las personas </a:t>
            </a:r>
            <a:r>
              <a:rPr lang="en-US" sz="1600" dirty="0" err="1">
                <a:latin typeface="Calibri"/>
                <a:ea typeface="Calibri"/>
                <a:cs typeface="Calibri"/>
                <a:sym typeface="Calibri"/>
              </a:rPr>
              <a:t>atribuyen</a:t>
            </a:r>
            <a:r>
              <a:rPr lang="en-US" sz="1600" dirty="0">
                <a:latin typeface="Calibri"/>
                <a:ea typeface="Calibri"/>
                <a:cs typeface="Calibri"/>
                <a:sym typeface="Calibri"/>
              </a:rPr>
              <a:t> </a:t>
            </a:r>
            <a:r>
              <a:rPr lang="en-US" sz="1600" dirty="0" err="1">
                <a:latin typeface="Calibri"/>
                <a:ea typeface="Calibri"/>
                <a:cs typeface="Calibri"/>
                <a:sym typeface="Calibri"/>
              </a:rPr>
              <a:t>significado</a:t>
            </a:r>
            <a:r>
              <a:rPr lang="en-US" sz="1600" dirty="0">
                <a:latin typeface="Calibri"/>
                <a:ea typeface="Calibri"/>
                <a:cs typeface="Calibri"/>
                <a:sym typeface="Calibri"/>
              </a:rPr>
              <a:t>.</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  EJ: </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err="1">
                <a:latin typeface="Calibri"/>
                <a:ea typeface="Calibri"/>
                <a:cs typeface="Calibri"/>
                <a:sym typeface="Calibri"/>
              </a:rPr>
              <a:t>Ubicación</a:t>
            </a:r>
            <a:r>
              <a:rPr lang="en-US" sz="1600" dirty="0">
                <a:latin typeface="Calibri"/>
                <a:ea typeface="Calibri"/>
                <a:cs typeface="Calibri"/>
                <a:sym typeface="Calibri"/>
              </a:rPr>
              <a:t> y </a:t>
            </a:r>
            <a:r>
              <a:rPr lang="en-US" sz="1600" dirty="0" err="1">
                <a:latin typeface="Calibri"/>
                <a:ea typeface="Calibri"/>
                <a:cs typeface="Calibri"/>
                <a:sym typeface="Calibri"/>
              </a:rPr>
              <a:t>tamaño</a:t>
            </a:r>
            <a:r>
              <a:rPr lang="en-US" sz="1600" dirty="0">
                <a:latin typeface="Calibri"/>
                <a:ea typeface="Calibri"/>
                <a:cs typeface="Calibri"/>
                <a:sym typeface="Calibri"/>
              </a:rPr>
              <a:t> de las </a:t>
            </a:r>
            <a:r>
              <a:rPr lang="en-US" sz="1600" dirty="0" err="1">
                <a:latin typeface="Calibri"/>
                <a:ea typeface="Calibri"/>
                <a:cs typeface="Calibri"/>
                <a:sym typeface="Calibri"/>
              </a:rPr>
              <a:t>oficinas</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a:latin typeface="Calibri"/>
                <a:ea typeface="Calibri"/>
                <a:cs typeface="Calibri"/>
                <a:sym typeface="Calibri"/>
              </a:rPr>
              <a:t>El </a:t>
            </a:r>
            <a:r>
              <a:rPr lang="en-US" sz="1600" dirty="0" err="1">
                <a:latin typeface="Calibri"/>
                <a:ea typeface="Calibri"/>
                <a:cs typeface="Calibri"/>
                <a:sym typeface="Calibri"/>
              </a:rPr>
              <a:t>empleado</a:t>
            </a:r>
            <a:r>
              <a:rPr lang="en-US" sz="1600" dirty="0">
                <a:latin typeface="Calibri"/>
                <a:ea typeface="Calibri"/>
                <a:cs typeface="Calibri"/>
                <a:sym typeface="Calibri"/>
              </a:rPr>
              <a:t> del </a:t>
            </a:r>
            <a:r>
              <a:rPr lang="en-US" sz="1600" dirty="0" err="1">
                <a:latin typeface="Calibri"/>
                <a:ea typeface="Calibri"/>
                <a:cs typeface="Calibri"/>
                <a:sym typeface="Calibri"/>
              </a:rPr>
              <a:t>mes</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a:latin typeface="Calibri"/>
                <a:ea typeface="Calibri"/>
                <a:cs typeface="Calibri"/>
                <a:sym typeface="Calibri"/>
              </a:rPr>
              <a:t>¿</a:t>
            </a:r>
            <a:r>
              <a:rPr lang="en-US" sz="1600" dirty="0" err="1">
                <a:latin typeface="Calibri"/>
                <a:ea typeface="Calibri"/>
                <a:cs typeface="Calibri"/>
                <a:sym typeface="Calibri"/>
              </a:rPr>
              <a:t>Qué</a:t>
            </a:r>
            <a:r>
              <a:rPr lang="en-US" sz="1600" dirty="0">
                <a:latin typeface="Calibri"/>
                <a:ea typeface="Calibri"/>
                <a:cs typeface="Calibri"/>
                <a:sym typeface="Calibri"/>
              </a:rPr>
              <a:t> </a:t>
            </a:r>
            <a:r>
              <a:rPr lang="en-US" sz="1600" dirty="0" err="1">
                <a:latin typeface="Calibri"/>
                <a:ea typeface="Calibri"/>
                <a:cs typeface="Calibri"/>
                <a:sym typeface="Calibri"/>
              </a:rPr>
              <a:t>noticias</a:t>
            </a:r>
            <a:r>
              <a:rPr lang="en-US" sz="1600" dirty="0">
                <a:latin typeface="Calibri"/>
                <a:ea typeface="Calibri"/>
                <a:cs typeface="Calibri"/>
                <a:sym typeface="Calibri"/>
              </a:rPr>
              <a:t> </a:t>
            </a:r>
            <a:r>
              <a:rPr lang="en-US" sz="1600" dirty="0" err="1">
                <a:latin typeface="Calibri"/>
                <a:ea typeface="Calibri"/>
                <a:cs typeface="Calibri"/>
                <a:sym typeface="Calibri"/>
              </a:rPr>
              <a:t>salen</a:t>
            </a:r>
            <a:r>
              <a:rPr lang="en-US" sz="1600" dirty="0">
                <a:latin typeface="Calibri"/>
                <a:ea typeface="Calibri"/>
                <a:cs typeface="Calibri"/>
                <a:sym typeface="Calibri"/>
              </a:rPr>
              <a:t> </a:t>
            </a:r>
            <a:r>
              <a:rPr lang="en-US" sz="1600" dirty="0" err="1">
                <a:latin typeface="Calibri"/>
                <a:ea typeface="Calibri"/>
                <a:cs typeface="Calibri"/>
                <a:sym typeface="Calibri"/>
              </a:rPr>
              <a:t>en</a:t>
            </a:r>
            <a:r>
              <a:rPr lang="en-US" sz="1600" dirty="0">
                <a:latin typeface="Calibri"/>
                <a:ea typeface="Calibri"/>
                <a:cs typeface="Calibri"/>
                <a:sym typeface="Calibri"/>
              </a:rPr>
              <a:t> </a:t>
            </a:r>
            <a:r>
              <a:rPr lang="en-US" sz="1600" dirty="0" err="1">
                <a:latin typeface="Calibri"/>
                <a:ea typeface="Calibri"/>
                <a:cs typeface="Calibri"/>
                <a:sym typeface="Calibri"/>
              </a:rPr>
              <a:t>el</a:t>
            </a:r>
            <a:r>
              <a:rPr lang="en-US" sz="1600" dirty="0">
                <a:latin typeface="Calibri"/>
                <a:ea typeface="Calibri"/>
                <a:cs typeface="Calibri"/>
                <a:sym typeface="Calibri"/>
              </a:rPr>
              <a:t> Newsletter o </a:t>
            </a:r>
            <a:r>
              <a:rPr lang="en-US" sz="1600" dirty="0" err="1">
                <a:latin typeface="Calibri"/>
                <a:ea typeface="Calibri"/>
                <a:cs typeface="Calibri"/>
                <a:sym typeface="Calibri"/>
              </a:rPr>
              <a:t>en</a:t>
            </a:r>
            <a:r>
              <a:rPr lang="en-US" sz="1600" dirty="0">
                <a:latin typeface="Calibri"/>
                <a:ea typeface="Calibri"/>
                <a:cs typeface="Calibri"/>
                <a:sym typeface="Calibri"/>
              </a:rPr>
              <a:t> la Intranet?</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endParaRPr sz="1600" b="1"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b="1" dirty="0">
                <a:latin typeface="Calibri"/>
                <a:ea typeface="Calibri"/>
                <a:cs typeface="Calibri"/>
                <a:sym typeface="Calibri"/>
              </a:rPr>
              <a:t>- SISTEMAS</a:t>
            </a:r>
            <a:r>
              <a:rPr lang="en-US" sz="1600" dirty="0">
                <a:latin typeface="Calibri"/>
                <a:ea typeface="Calibri"/>
                <a:cs typeface="Calibri"/>
                <a:sym typeface="Calibri"/>
              </a:rPr>
              <a:t>: </a:t>
            </a:r>
            <a:r>
              <a:rPr lang="en-US" sz="1600" dirty="0" err="1">
                <a:latin typeface="Calibri"/>
                <a:ea typeface="Calibri"/>
                <a:cs typeface="Calibri"/>
                <a:sym typeface="Calibri"/>
              </a:rPr>
              <a:t>Mecanismos</a:t>
            </a:r>
            <a:r>
              <a:rPr lang="en-US" sz="1600" dirty="0">
                <a:latin typeface="Calibri"/>
                <a:ea typeface="Calibri"/>
                <a:cs typeface="Calibri"/>
                <a:sym typeface="Calibri"/>
              </a:rPr>
              <a:t> para </a:t>
            </a:r>
            <a:r>
              <a:rPr lang="en-US" sz="1600" dirty="0" err="1">
                <a:latin typeface="Calibri"/>
                <a:ea typeface="Calibri"/>
                <a:cs typeface="Calibri"/>
                <a:sym typeface="Calibri"/>
              </a:rPr>
              <a:t>dirigir</a:t>
            </a:r>
            <a:r>
              <a:rPr lang="en-US" sz="1600" dirty="0">
                <a:latin typeface="Calibri"/>
                <a:ea typeface="Calibri"/>
                <a:cs typeface="Calibri"/>
                <a:sym typeface="Calibri"/>
              </a:rPr>
              <a:t> personas y </a:t>
            </a:r>
            <a:r>
              <a:rPr lang="en-US" sz="1600" dirty="0" err="1">
                <a:latin typeface="Calibri"/>
                <a:ea typeface="Calibri"/>
                <a:cs typeface="Calibri"/>
                <a:sym typeface="Calibri"/>
              </a:rPr>
              <a:t>tareas</a:t>
            </a:r>
            <a:r>
              <a:rPr lang="en-US" sz="1600" dirty="0">
                <a:latin typeface="Calibri"/>
                <a:ea typeface="Calibri"/>
                <a:cs typeface="Calibri"/>
                <a:sym typeface="Calibri"/>
              </a:rPr>
              <a:t>.</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Son </a:t>
            </a:r>
            <a:r>
              <a:rPr lang="en-US" sz="1600" dirty="0" err="1">
                <a:latin typeface="Calibri"/>
                <a:ea typeface="Calibri"/>
                <a:cs typeface="Calibri"/>
                <a:sym typeface="Calibri"/>
              </a:rPr>
              <a:t>todos</a:t>
            </a:r>
            <a:r>
              <a:rPr lang="en-US" sz="1600" dirty="0">
                <a:latin typeface="Calibri"/>
                <a:ea typeface="Calibri"/>
                <a:cs typeface="Calibri"/>
                <a:sym typeface="Calibri"/>
              </a:rPr>
              <a:t> </a:t>
            </a:r>
            <a:r>
              <a:rPr lang="en-US" sz="1600" dirty="0" err="1">
                <a:latin typeface="Calibri"/>
                <a:ea typeface="Calibri"/>
                <a:cs typeface="Calibri"/>
                <a:sym typeface="Calibri"/>
              </a:rPr>
              <a:t>los</a:t>
            </a:r>
            <a:r>
              <a:rPr lang="en-US" sz="1600" dirty="0">
                <a:latin typeface="Calibri"/>
                <a:ea typeface="Calibri"/>
                <a:cs typeface="Calibri"/>
                <a:sym typeface="Calibri"/>
              </a:rPr>
              <a:t> </a:t>
            </a:r>
            <a:r>
              <a:rPr lang="en-US" sz="1600" dirty="0" err="1">
                <a:latin typeface="Calibri"/>
                <a:ea typeface="Calibri"/>
                <a:cs typeface="Calibri"/>
                <a:sym typeface="Calibri"/>
              </a:rPr>
              <a:t>mecanismos</a:t>
            </a:r>
            <a:r>
              <a:rPr lang="en-US" sz="1600" dirty="0">
                <a:latin typeface="Calibri"/>
                <a:ea typeface="Calibri"/>
                <a:cs typeface="Calibri"/>
                <a:sym typeface="Calibri"/>
              </a:rPr>
              <a:t> de </a:t>
            </a:r>
            <a:r>
              <a:rPr lang="en-US" sz="1600" dirty="0" err="1">
                <a:latin typeface="Calibri"/>
                <a:ea typeface="Calibri"/>
                <a:cs typeface="Calibri"/>
                <a:sym typeface="Calibri"/>
              </a:rPr>
              <a:t>gestión</a:t>
            </a:r>
            <a:r>
              <a:rPr lang="en-US" sz="1600" dirty="0">
                <a:latin typeface="Calibri"/>
                <a:ea typeface="Calibri"/>
                <a:cs typeface="Calibri"/>
                <a:sym typeface="Calibri"/>
              </a:rPr>
              <a:t> que </a:t>
            </a:r>
            <a:r>
              <a:rPr lang="en-US" sz="1600" dirty="0" err="1">
                <a:latin typeface="Calibri"/>
                <a:ea typeface="Calibri"/>
                <a:cs typeface="Calibri"/>
                <a:sym typeface="Calibri"/>
              </a:rPr>
              <a:t>controlan</a:t>
            </a:r>
            <a:r>
              <a:rPr lang="en-US" sz="1600" dirty="0">
                <a:latin typeface="Calibri"/>
                <a:ea typeface="Calibri"/>
                <a:cs typeface="Calibri"/>
                <a:sym typeface="Calibri"/>
              </a:rPr>
              <a:t>, </a:t>
            </a:r>
            <a:r>
              <a:rPr lang="en-US" sz="1600" dirty="0" err="1">
                <a:latin typeface="Calibri"/>
                <a:ea typeface="Calibri"/>
                <a:cs typeface="Calibri"/>
                <a:sym typeface="Calibri"/>
              </a:rPr>
              <a:t>planifican</a:t>
            </a:r>
            <a:r>
              <a:rPr lang="en-US" sz="1600" dirty="0">
                <a:latin typeface="Calibri"/>
                <a:ea typeface="Calibri"/>
                <a:cs typeface="Calibri"/>
                <a:sym typeface="Calibri"/>
              </a:rPr>
              <a:t>, </a:t>
            </a:r>
            <a:r>
              <a:rPr lang="en-US" sz="1600" dirty="0" err="1">
                <a:latin typeface="Calibri"/>
                <a:ea typeface="Calibri"/>
                <a:cs typeface="Calibri"/>
                <a:sym typeface="Calibri"/>
              </a:rPr>
              <a:t>evalúan</a:t>
            </a:r>
            <a:r>
              <a:rPr lang="en-US" sz="1600" dirty="0">
                <a:latin typeface="Calibri"/>
                <a:ea typeface="Calibri"/>
                <a:cs typeface="Calibri"/>
                <a:sym typeface="Calibri"/>
              </a:rPr>
              <a:t> y </a:t>
            </a:r>
            <a:r>
              <a:rPr lang="en-US" sz="1600" dirty="0" err="1">
                <a:latin typeface="Calibri"/>
                <a:ea typeface="Calibri"/>
                <a:cs typeface="Calibri"/>
                <a:sym typeface="Calibri"/>
              </a:rPr>
              <a:t>premian</a:t>
            </a:r>
            <a:r>
              <a:rPr lang="en-US" sz="1600" dirty="0">
                <a:latin typeface="Calibri"/>
                <a:ea typeface="Calibri"/>
                <a:cs typeface="Calibri"/>
                <a:sym typeface="Calibri"/>
              </a:rPr>
              <a:t> a </a:t>
            </a:r>
            <a:r>
              <a:rPr lang="en-US" sz="1600" dirty="0" err="1">
                <a:latin typeface="Calibri"/>
                <a:ea typeface="Calibri"/>
                <a:cs typeface="Calibri"/>
                <a:sym typeface="Calibri"/>
              </a:rPr>
              <a:t>su</a:t>
            </a:r>
            <a:r>
              <a:rPr lang="en-US" sz="1600" dirty="0">
                <a:latin typeface="Calibri"/>
                <a:ea typeface="Calibri"/>
                <a:cs typeface="Calibri"/>
                <a:sym typeface="Calibri"/>
              </a:rPr>
              <a:t> </a:t>
            </a:r>
            <a:r>
              <a:rPr lang="en-US" sz="1600" dirty="0" err="1">
                <a:latin typeface="Calibri"/>
                <a:ea typeface="Calibri"/>
                <a:cs typeface="Calibri"/>
                <a:sym typeface="Calibri"/>
              </a:rPr>
              <a:t>organización</a:t>
            </a:r>
            <a:r>
              <a:rPr lang="en-US" sz="1600" dirty="0">
                <a:latin typeface="Calibri"/>
                <a:ea typeface="Calibri"/>
                <a:cs typeface="Calibri"/>
                <a:sym typeface="Calibri"/>
              </a:rPr>
              <a:t> y a </a:t>
            </a:r>
            <a:r>
              <a:rPr lang="en-US" sz="1600" dirty="0" err="1">
                <a:latin typeface="Calibri"/>
                <a:ea typeface="Calibri"/>
                <a:cs typeface="Calibri"/>
                <a:sym typeface="Calibri"/>
              </a:rPr>
              <a:t>su</a:t>
            </a:r>
            <a:r>
              <a:rPr lang="en-US" sz="1600" dirty="0">
                <a:latin typeface="Calibri"/>
                <a:ea typeface="Calibri"/>
                <a:cs typeface="Calibri"/>
                <a:sym typeface="Calibri"/>
              </a:rPr>
              <a:t> personal.</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Los </a:t>
            </a:r>
            <a:r>
              <a:rPr lang="en-US" sz="1600" dirty="0" err="1">
                <a:latin typeface="Calibri"/>
                <a:ea typeface="Calibri"/>
                <a:cs typeface="Calibri"/>
                <a:sym typeface="Calibri"/>
              </a:rPr>
              <a:t>sistemas</a:t>
            </a:r>
            <a:r>
              <a:rPr lang="en-US" sz="1600" dirty="0">
                <a:latin typeface="Calibri"/>
                <a:ea typeface="Calibri"/>
                <a:cs typeface="Calibri"/>
                <a:sym typeface="Calibri"/>
              </a:rPr>
              <a:t> </a:t>
            </a:r>
            <a:r>
              <a:rPr lang="en-US" sz="1600" dirty="0" err="1">
                <a:latin typeface="Calibri"/>
                <a:ea typeface="Calibri"/>
                <a:cs typeface="Calibri"/>
                <a:sym typeface="Calibri"/>
              </a:rPr>
              <a:t>difieren</a:t>
            </a:r>
            <a:r>
              <a:rPr lang="en-US" sz="1600" dirty="0">
                <a:latin typeface="Calibri"/>
                <a:ea typeface="Calibri"/>
                <a:cs typeface="Calibri"/>
                <a:sym typeface="Calibri"/>
              </a:rPr>
              <a:t> de </a:t>
            </a:r>
            <a:r>
              <a:rPr lang="en-US" sz="1600" dirty="0" err="1">
                <a:latin typeface="Calibri"/>
                <a:ea typeface="Calibri"/>
                <a:cs typeface="Calibri"/>
                <a:sym typeface="Calibri"/>
              </a:rPr>
              <a:t>los</a:t>
            </a:r>
            <a:r>
              <a:rPr lang="en-US" sz="1600" dirty="0">
                <a:latin typeface="Calibri"/>
                <a:ea typeface="Calibri"/>
                <a:cs typeface="Calibri"/>
                <a:sym typeface="Calibri"/>
              </a:rPr>
              <a:t> </a:t>
            </a:r>
            <a:r>
              <a:rPr lang="en-US" sz="1600" dirty="0" err="1">
                <a:latin typeface="Calibri"/>
                <a:ea typeface="Calibri"/>
                <a:cs typeface="Calibri"/>
                <a:sym typeface="Calibri"/>
              </a:rPr>
              <a:t>comportamientos</a:t>
            </a:r>
            <a:r>
              <a:rPr lang="en-US" sz="1600" dirty="0">
                <a:latin typeface="Calibri"/>
                <a:ea typeface="Calibri"/>
                <a:cs typeface="Calibri"/>
                <a:sym typeface="Calibri"/>
              </a:rPr>
              <a:t> y </a:t>
            </a:r>
            <a:r>
              <a:rPr lang="en-US" sz="1600" dirty="0" err="1">
                <a:latin typeface="Calibri"/>
                <a:ea typeface="Calibri"/>
                <a:cs typeface="Calibri"/>
                <a:sym typeface="Calibri"/>
              </a:rPr>
              <a:t>los</a:t>
            </a:r>
            <a:r>
              <a:rPr lang="en-US" sz="1600" dirty="0">
                <a:latin typeface="Calibri"/>
                <a:ea typeface="Calibri"/>
                <a:cs typeface="Calibri"/>
                <a:sym typeface="Calibri"/>
              </a:rPr>
              <a:t> </a:t>
            </a:r>
            <a:r>
              <a:rPr lang="en-US" sz="1600" dirty="0" err="1">
                <a:latin typeface="Calibri"/>
                <a:ea typeface="Calibri"/>
                <a:cs typeface="Calibri"/>
                <a:sym typeface="Calibri"/>
              </a:rPr>
              <a:t>símbolos</a:t>
            </a:r>
            <a:r>
              <a:rPr lang="en-US" sz="1600" dirty="0">
                <a:latin typeface="Calibri"/>
                <a:ea typeface="Calibri"/>
                <a:cs typeface="Calibri"/>
                <a:sym typeface="Calibri"/>
              </a:rPr>
              <a:t>, </a:t>
            </a:r>
            <a:r>
              <a:rPr lang="en-US" sz="1600" dirty="0" err="1">
                <a:latin typeface="Calibri"/>
                <a:ea typeface="Calibri"/>
                <a:cs typeface="Calibri"/>
                <a:sym typeface="Calibri"/>
              </a:rPr>
              <a:t>porque</a:t>
            </a:r>
            <a:r>
              <a:rPr lang="en-US" sz="1600" dirty="0">
                <a:latin typeface="Calibri"/>
                <a:ea typeface="Calibri"/>
                <a:cs typeface="Calibri"/>
                <a:sym typeface="Calibri"/>
              </a:rPr>
              <a:t> son </a:t>
            </a:r>
            <a:r>
              <a:rPr lang="en-US" sz="1600" dirty="0" err="1">
                <a:latin typeface="Calibri"/>
                <a:ea typeface="Calibri"/>
                <a:cs typeface="Calibri"/>
                <a:sym typeface="Calibri"/>
              </a:rPr>
              <a:t>el</a:t>
            </a:r>
            <a:r>
              <a:rPr lang="en-US" sz="1600" dirty="0">
                <a:latin typeface="Calibri"/>
                <a:ea typeface="Calibri"/>
                <a:cs typeface="Calibri"/>
                <a:sym typeface="Calibri"/>
              </a:rPr>
              <a:t> </a:t>
            </a:r>
            <a:r>
              <a:rPr lang="en-US" sz="1600" dirty="0" err="1">
                <a:latin typeface="Calibri"/>
                <a:ea typeface="Calibri"/>
                <a:cs typeface="Calibri"/>
                <a:sym typeface="Calibri"/>
              </a:rPr>
              <a:t>resultado</a:t>
            </a:r>
            <a:r>
              <a:rPr lang="en-US" sz="1600" dirty="0">
                <a:latin typeface="Calibri"/>
                <a:ea typeface="Calibri"/>
                <a:cs typeface="Calibri"/>
                <a:sym typeface="Calibri"/>
              </a:rPr>
              <a:t> de </a:t>
            </a:r>
            <a:r>
              <a:rPr lang="en-US" sz="1600" dirty="0" err="1">
                <a:latin typeface="Calibri"/>
                <a:ea typeface="Calibri"/>
                <a:cs typeface="Calibri"/>
                <a:sym typeface="Calibri"/>
              </a:rPr>
              <a:t>decisiones</a:t>
            </a:r>
            <a:r>
              <a:rPr lang="en-US" sz="1600" dirty="0">
                <a:latin typeface="Calibri"/>
                <a:ea typeface="Calibri"/>
                <a:cs typeface="Calibri"/>
                <a:sym typeface="Calibri"/>
              </a:rPr>
              <a:t> </a:t>
            </a:r>
            <a:r>
              <a:rPr lang="en-US" sz="1600" dirty="0" err="1">
                <a:latin typeface="Calibri"/>
                <a:ea typeface="Calibri"/>
                <a:cs typeface="Calibri"/>
                <a:sym typeface="Calibri"/>
              </a:rPr>
              <a:t>históricas</a:t>
            </a:r>
            <a:r>
              <a:rPr lang="en-US" sz="1600" dirty="0">
                <a:latin typeface="Calibri"/>
                <a:ea typeface="Calibri"/>
                <a:cs typeface="Calibri"/>
                <a:sym typeface="Calibri"/>
              </a:rPr>
              <a:t>. </a:t>
            </a:r>
            <a:r>
              <a:rPr lang="en-US" sz="1600" dirty="0" err="1">
                <a:latin typeface="Calibri"/>
                <a:ea typeface="Calibri"/>
                <a:cs typeface="Calibri"/>
                <a:sym typeface="Calibri"/>
              </a:rPr>
              <a:t>Cambiar</a:t>
            </a:r>
            <a:r>
              <a:rPr lang="en-US" sz="1600" dirty="0">
                <a:latin typeface="Calibri"/>
                <a:ea typeface="Calibri"/>
                <a:cs typeface="Calibri"/>
                <a:sym typeface="Calibri"/>
              </a:rPr>
              <a:t> </a:t>
            </a:r>
            <a:r>
              <a:rPr lang="en-US" sz="1600" dirty="0" err="1">
                <a:latin typeface="Calibri"/>
                <a:ea typeface="Calibri"/>
                <a:cs typeface="Calibri"/>
                <a:sym typeface="Calibri"/>
              </a:rPr>
              <a:t>esas</a:t>
            </a:r>
            <a:r>
              <a:rPr lang="en-US" sz="1600" dirty="0">
                <a:latin typeface="Calibri"/>
                <a:ea typeface="Calibri"/>
                <a:cs typeface="Calibri"/>
                <a:sym typeface="Calibri"/>
              </a:rPr>
              <a:t> </a:t>
            </a:r>
            <a:r>
              <a:rPr lang="en-US" sz="1600" dirty="0" err="1">
                <a:latin typeface="Calibri"/>
                <a:ea typeface="Calibri"/>
                <a:cs typeface="Calibri"/>
                <a:sym typeface="Calibri"/>
              </a:rPr>
              <a:t>decisiones</a:t>
            </a:r>
            <a:r>
              <a:rPr lang="en-US" sz="1600" dirty="0">
                <a:latin typeface="Calibri"/>
                <a:ea typeface="Calibri"/>
                <a:cs typeface="Calibri"/>
                <a:sym typeface="Calibri"/>
              </a:rPr>
              <a:t> y </a:t>
            </a:r>
            <a:r>
              <a:rPr lang="en-US" sz="1600" dirty="0" err="1">
                <a:latin typeface="Calibri"/>
                <a:ea typeface="Calibri"/>
                <a:cs typeface="Calibri"/>
                <a:sym typeface="Calibri"/>
              </a:rPr>
              <a:t>diseñar</a:t>
            </a:r>
            <a:r>
              <a:rPr lang="en-US" sz="1600" dirty="0">
                <a:latin typeface="Calibri"/>
                <a:ea typeface="Calibri"/>
                <a:cs typeface="Calibri"/>
                <a:sym typeface="Calibri"/>
              </a:rPr>
              <a:t> </a:t>
            </a:r>
            <a:r>
              <a:rPr lang="en-US" sz="1600" dirty="0" err="1">
                <a:latin typeface="Calibri"/>
                <a:ea typeface="Calibri"/>
                <a:cs typeface="Calibri"/>
                <a:sym typeface="Calibri"/>
              </a:rPr>
              <a:t>nuevos</a:t>
            </a:r>
            <a:r>
              <a:rPr lang="en-US" sz="1600" dirty="0">
                <a:latin typeface="Calibri"/>
                <a:ea typeface="Calibri"/>
                <a:cs typeface="Calibri"/>
                <a:sym typeface="Calibri"/>
              </a:rPr>
              <a:t> </a:t>
            </a:r>
            <a:r>
              <a:rPr lang="en-US" sz="1600" dirty="0" err="1">
                <a:latin typeface="Calibri"/>
                <a:ea typeface="Calibri"/>
                <a:cs typeface="Calibri"/>
                <a:sym typeface="Calibri"/>
              </a:rPr>
              <a:t>sistemas</a:t>
            </a:r>
            <a:r>
              <a:rPr lang="en-US" sz="1600" dirty="0">
                <a:latin typeface="Calibri"/>
                <a:ea typeface="Calibri"/>
                <a:cs typeface="Calibri"/>
                <a:sym typeface="Calibri"/>
              </a:rPr>
              <a:t> </a:t>
            </a:r>
            <a:r>
              <a:rPr lang="en-US" sz="1600" dirty="0" err="1">
                <a:latin typeface="Calibri"/>
                <a:ea typeface="Calibri"/>
                <a:cs typeface="Calibri"/>
                <a:sym typeface="Calibri"/>
              </a:rPr>
              <a:t>lleva</a:t>
            </a:r>
            <a:r>
              <a:rPr lang="en-US" sz="1600" dirty="0">
                <a:latin typeface="Calibri"/>
                <a:ea typeface="Calibri"/>
                <a:cs typeface="Calibri"/>
                <a:sym typeface="Calibri"/>
              </a:rPr>
              <a:t> </a:t>
            </a:r>
            <a:r>
              <a:rPr lang="en-US" sz="1600" dirty="0" err="1">
                <a:latin typeface="Calibri"/>
                <a:ea typeface="Calibri"/>
                <a:cs typeface="Calibri"/>
                <a:sym typeface="Calibri"/>
              </a:rPr>
              <a:t>tiempo</a:t>
            </a:r>
            <a:r>
              <a:rPr lang="en-US" sz="1600" dirty="0">
                <a:latin typeface="Calibri"/>
                <a:ea typeface="Calibri"/>
                <a:cs typeface="Calibri"/>
                <a:sym typeface="Calibri"/>
              </a:rPr>
              <a:t>. </a:t>
            </a:r>
            <a:r>
              <a:rPr lang="en-US" sz="1600" dirty="0" err="1">
                <a:latin typeface="Calibri"/>
                <a:ea typeface="Calibri"/>
                <a:cs typeface="Calibri"/>
                <a:sym typeface="Calibri"/>
              </a:rPr>
              <a:t>Modificar</a:t>
            </a:r>
            <a:r>
              <a:rPr lang="en-US" sz="1600" dirty="0">
                <a:latin typeface="Calibri"/>
                <a:ea typeface="Calibri"/>
                <a:cs typeface="Calibri"/>
                <a:sym typeface="Calibri"/>
              </a:rPr>
              <a:t> </a:t>
            </a:r>
            <a:r>
              <a:rPr lang="en-US" sz="1600" dirty="0" err="1">
                <a:latin typeface="Calibri"/>
                <a:ea typeface="Calibri"/>
                <a:cs typeface="Calibri"/>
                <a:sym typeface="Calibri"/>
              </a:rPr>
              <a:t>sistemas</a:t>
            </a:r>
            <a:r>
              <a:rPr lang="en-US" sz="1600" dirty="0">
                <a:latin typeface="Calibri"/>
                <a:ea typeface="Calibri"/>
                <a:cs typeface="Calibri"/>
                <a:sym typeface="Calibri"/>
              </a:rPr>
              <a:t> </a:t>
            </a:r>
            <a:r>
              <a:rPr lang="en-US" sz="1600" dirty="0" err="1">
                <a:latin typeface="Calibri"/>
                <a:ea typeface="Calibri"/>
                <a:cs typeface="Calibri"/>
                <a:sym typeface="Calibri"/>
              </a:rPr>
              <a:t>suele</a:t>
            </a:r>
            <a:r>
              <a:rPr lang="en-US" sz="1600" dirty="0">
                <a:latin typeface="Calibri"/>
                <a:ea typeface="Calibri"/>
                <a:cs typeface="Calibri"/>
                <a:sym typeface="Calibri"/>
              </a:rPr>
              <a:t> </a:t>
            </a:r>
            <a:r>
              <a:rPr lang="en-US" sz="1600" dirty="0" err="1">
                <a:latin typeface="Calibri"/>
                <a:ea typeface="Calibri"/>
                <a:cs typeface="Calibri"/>
                <a:sym typeface="Calibri"/>
              </a:rPr>
              <a:t>demorar</a:t>
            </a:r>
            <a:r>
              <a:rPr lang="en-US" sz="1600" dirty="0">
                <a:latin typeface="Calibri"/>
                <a:ea typeface="Calibri"/>
                <a:cs typeface="Calibri"/>
                <a:sym typeface="Calibri"/>
              </a:rPr>
              <a:t> </a:t>
            </a:r>
            <a:r>
              <a:rPr lang="en-US" sz="1600" dirty="0" err="1">
                <a:latin typeface="Calibri"/>
                <a:ea typeface="Calibri"/>
                <a:cs typeface="Calibri"/>
                <a:sym typeface="Calibri"/>
              </a:rPr>
              <a:t>más</a:t>
            </a:r>
            <a:r>
              <a:rPr lang="en-US" sz="1600" dirty="0">
                <a:latin typeface="Calibri"/>
                <a:ea typeface="Calibri"/>
                <a:cs typeface="Calibri"/>
                <a:sym typeface="Calibri"/>
              </a:rPr>
              <a:t> que </a:t>
            </a:r>
            <a:r>
              <a:rPr lang="en-US" sz="1600" dirty="0" err="1">
                <a:latin typeface="Calibri"/>
                <a:ea typeface="Calibri"/>
                <a:cs typeface="Calibri"/>
                <a:sym typeface="Calibri"/>
              </a:rPr>
              <a:t>cambiar</a:t>
            </a:r>
            <a:r>
              <a:rPr lang="en-US" sz="1600" dirty="0">
                <a:latin typeface="Calibri"/>
                <a:ea typeface="Calibri"/>
                <a:cs typeface="Calibri"/>
                <a:sym typeface="Calibri"/>
              </a:rPr>
              <a:t> </a:t>
            </a:r>
            <a:r>
              <a:rPr lang="en-US" sz="1600" dirty="0" err="1">
                <a:latin typeface="Calibri"/>
                <a:ea typeface="Calibri"/>
                <a:cs typeface="Calibri"/>
                <a:sym typeface="Calibri"/>
              </a:rPr>
              <a:t>actitudes</a:t>
            </a:r>
            <a:r>
              <a:rPr lang="en-US" sz="1600" dirty="0">
                <a:latin typeface="Calibri"/>
                <a:ea typeface="Calibri"/>
                <a:cs typeface="Calibri"/>
                <a:sym typeface="Calibri"/>
              </a:rPr>
              <a:t> y </a:t>
            </a:r>
            <a:r>
              <a:rPr lang="en-US" sz="1600" dirty="0" err="1">
                <a:latin typeface="Calibri"/>
                <a:ea typeface="Calibri"/>
                <a:cs typeface="Calibri"/>
                <a:sym typeface="Calibri"/>
              </a:rPr>
              <a:t>valores</a:t>
            </a:r>
            <a:r>
              <a:rPr lang="en-US" sz="1600" dirty="0">
                <a:latin typeface="Calibri"/>
                <a:ea typeface="Calibri"/>
                <a:cs typeface="Calibri"/>
                <a:sym typeface="Calibri"/>
              </a:rPr>
              <a:t>.</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a:latin typeface="Calibri"/>
                <a:ea typeface="Calibri"/>
                <a:cs typeface="Calibri"/>
                <a:sym typeface="Calibri"/>
              </a:rPr>
              <a:t>Los </a:t>
            </a:r>
            <a:r>
              <a:rPr lang="en-US" sz="1600" dirty="0" err="1">
                <a:latin typeface="Calibri"/>
                <a:ea typeface="Calibri"/>
                <a:cs typeface="Calibri"/>
                <a:sym typeface="Calibri"/>
              </a:rPr>
              <a:t>sistemas</a:t>
            </a:r>
            <a:r>
              <a:rPr lang="en-US" sz="1600" dirty="0">
                <a:latin typeface="Calibri"/>
                <a:ea typeface="Calibri"/>
                <a:cs typeface="Calibri"/>
                <a:sym typeface="Calibri"/>
              </a:rPr>
              <a:t> </a:t>
            </a:r>
            <a:r>
              <a:rPr lang="en-US" sz="1600" dirty="0" err="1">
                <a:latin typeface="Calibri"/>
                <a:ea typeface="Calibri"/>
                <a:cs typeface="Calibri"/>
                <a:sym typeface="Calibri"/>
              </a:rPr>
              <a:t>pueden</a:t>
            </a:r>
            <a:r>
              <a:rPr lang="en-US" sz="1600" dirty="0">
                <a:latin typeface="Calibri"/>
                <a:ea typeface="Calibri"/>
                <a:cs typeface="Calibri"/>
                <a:sym typeface="Calibri"/>
              </a:rPr>
              <a:t> </a:t>
            </a:r>
            <a:r>
              <a:rPr lang="en-US" sz="1600" dirty="0" err="1">
                <a:latin typeface="Calibri"/>
                <a:ea typeface="Calibri"/>
                <a:cs typeface="Calibri"/>
                <a:sym typeface="Calibri"/>
              </a:rPr>
              <a:t>forzar</a:t>
            </a:r>
            <a:r>
              <a:rPr lang="en-US" sz="1600" dirty="0">
                <a:latin typeface="Calibri"/>
                <a:ea typeface="Calibri"/>
                <a:cs typeface="Calibri"/>
                <a:sym typeface="Calibri"/>
              </a:rPr>
              <a:t> al personal a </a:t>
            </a:r>
            <a:r>
              <a:rPr lang="en-US" sz="1600" dirty="0" err="1">
                <a:latin typeface="Calibri"/>
                <a:ea typeface="Calibri"/>
                <a:cs typeface="Calibri"/>
                <a:sym typeface="Calibri"/>
              </a:rPr>
              <a:t>comportarse</a:t>
            </a:r>
            <a:r>
              <a:rPr lang="en-US" sz="1600" dirty="0">
                <a:latin typeface="Calibri"/>
                <a:ea typeface="Calibri"/>
                <a:cs typeface="Calibri"/>
                <a:sym typeface="Calibri"/>
              </a:rPr>
              <a:t> de </a:t>
            </a:r>
            <a:r>
              <a:rPr lang="en-US" sz="1600" dirty="0" err="1">
                <a:latin typeface="Calibri"/>
                <a:ea typeface="Calibri"/>
                <a:cs typeface="Calibri"/>
                <a:sym typeface="Calibri"/>
              </a:rPr>
              <a:t>determinada</a:t>
            </a:r>
            <a:r>
              <a:rPr lang="en-US" sz="1600" dirty="0">
                <a:latin typeface="Calibri"/>
                <a:ea typeface="Calibri"/>
                <a:cs typeface="Calibri"/>
                <a:sym typeface="Calibri"/>
              </a:rPr>
              <a:t> </a:t>
            </a:r>
            <a:r>
              <a:rPr lang="en-US" sz="1600" dirty="0" err="1">
                <a:latin typeface="Calibri"/>
                <a:ea typeface="Calibri"/>
                <a:cs typeface="Calibri"/>
                <a:sym typeface="Calibri"/>
              </a:rPr>
              <a:t>manera</a:t>
            </a:r>
            <a:r>
              <a:rPr lang="en-US" sz="1600" dirty="0">
                <a:latin typeface="Calibri"/>
                <a:ea typeface="Calibri"/>
                <a:cs typeface="Calibri"/>
                <a:sym typeface="Calibri"/>
              </a:rPr>
              <a:t>, </a:t>
            </a:r>
            <a:r>
              <a:rPr lang="en-US" sz="1600" dirty="0" err="1">
                <a:latin typeface="Calibri"/>
                <a:ea typeface="Calibri"/>
                <a:cs typeface="Calibri"/>
                <a:sym typeface="Calibri"/>
              </a:rPr>
              <a:t>aunque</a:t>
            </a:r>
            <a:r>
              <a:rPr lang="en-US" sz="1600" dirty="0">
                <a:latin typeface="Calibri"/>
                <a:ea typeface="Calibri"/>
                <a:cs typeface="Calibri"/>
                <a:sym typeface="Calibri"/>
              </a:rPr>
              <a:t> </a:t>
            </a:r>
            <a:r>
              <a:rPr lang="en-US" sz="1600" dirty="0" err="1">
                <a:latin typeface="Calibri"/>
                <a:ea typeface="Calibri"/>
                <a:cs typeface="Calibri"/>
                <a:sym typeface="Calibri"/>
              </a:rPr>
              <a:t>vaya</a:t>
            </a:r>
            <a:r>
              <a:rPr lang="en-US" sz="1600" dirty="0">
                <a:latin typeface="Calibri"/>
                <a:ea typeface="Calibri"/>
                <a:cs typeface="Calibri"/>
                <a:sym typeface="Calibri"/>
              </a:rPr>
              <a:t> </a:t>
            </a:r>
            <a:r>
              <a:rPr lang="en-US" sz="1600" dirty="0" err="1">
                <a:latin typeface="Calibri"/>
                <a:ea typeface="Calibri"/>
                <a:cs typeface="Calibri"/>
                <a:sym typeface="Calibri"/>
              </a:rPr>
              <a:t>en</a:t>
            </a:r>
            <a:r>
              <a:rPr lang="en-US" sz="1600" dirty="0">
                <a:latin typeface="Calibri"/>
                <a:ea typeface="Calibri"/>
                <a:cs typeface="Calibri"/>
                <a:sym typeface="Calibri"/>
              </a:rPr>
              <a:t> contra de </a:t>
            </a:r>
            <a:r>
              <a:rPr lang="en-US" sz="1600" dirty="0" err="1">
                <a:latin typeface="Calibri"/>
                <a:ea typeface="Calibri"/>
                <a:cs typeface="Calibri"/>
                <a:sym typeface="Calibri"/>
              </a:rPr>
              <a:t>los</a:t>
            </a:r>
            <a:r>
              <a:rPr lang="en-US" sz="1600" dirty="0">
                <a:latin typeface="Calibri"/>
                <a:ea typeface="Calibri"/>
                <a:cs typeface="Calibri"/>
                <a:sym typeface="Calibri"/>
              </a:rPr>
              <a:t> </a:t>
            </a:r>
            <a:r>
              <a:rPr lang="en-US" sz="1600" dirty="0" err="1">
                <a:latin typeface="Calibri"/>
                <a:ea typeface="Calibri"/>
                <a:cs typeface="Calibri"/>
                <a:sym typeface="Calibri"/>
              </a:rPr>
              <a:t>valores</a:t>
            </a:r>
            <a:r>
              <a:rPr lang="en-US" sz="1600" dirty="0">
                <a:latin typeface="Calibri"/>
                <a:ea typeface="Calibri"/>
                <a:cs typeface="Calibri"/>
                <a:sym typeface="Calibri"/>
              </a:rPr>
              <a:t> que se </a:t>
            </a:r>
            <a:r>
              <a:rPr lang="en-US" sz="1600" dirty="0" err="1">
                <a:latin typeface="Calibri"/>
                <a:ea typeface="Calibri"/>
                <a:cs typeface="Calibri"/>
                <a:sym typeface="Calibri"/>
              </a:rPr>
              <a:t>están</a:t>
            </a:r>
            <a:r>
              <a:rPr lang="en-US" sz="1600" dirty="0">
                <a:latin typeface="Calibri"/>
                <a:ea typeface="Calibri"/>
                <a:cs typeface="Calibri"/>
                <a:sym typeface="Calibri"/>
              </a:rPr>
              <a:t> </a:t>
            </a:r>
            <a:r>
              <a:rPr lang="en-US" sz="1600" dirty="0" err="1">
                <a:latin typeface="Calibri"/>
                <a:ea typeface="Calibri"/>
                <a:cs typeface="Calibri"/>
                <a:sym typeface="Calibri"/>
              </a:rPr>
              <a:t>buscando</a:t>
            </a:r>
            <a:r>
              <a:rPr lang="en-US" sz="1600" dirty="0">
                <a:latin typeface="Calibri"/>
                <a:ea typeface="Calibri"/>
                <a:cs typeface="Calibri"/>
                <a:sym typeface="Calibri"/>
              </a:rPr>
              <a:t> para la </a:t>
            </a:r>
            <a:r>
              <a:rPr lang="en-US" sz="1600" dirty="0" err="1">
                <a:latin typeface="Calibri"/>
                <a:ea typeface="Calibri"/>
                <a:cs typeface="Calibri"/>
                <a:sym typeface="Calibri"/>
              </a:rPr>
              <a:t>nueva</a:t>
            </a:r>
            <a:r>
              <a:rPr lang="en-US" sz="1600" dirty="0">
                <a:latin typeface="Calibri"/>
                <a:ea typeface="Calibri"/>
                <a:cs typeface="Calibri"/>
                <a:sym typeface="Calibri"/>
              </a:rPr>
              <a:t> </a:t>
            </a:r>
            <a:r>
              <a:rPr lang="en-US" sz="1600" dirty="0" err="1">
                <a:latin typeface="Calibri"/>
                <a:ea typeface="Calibri"/>
                <a:cs typeface="Calibri"/>
                <a:sym typeface="Calibri"/>
              </a:rPr>
              <a:t>cultura</a:t>
            </a:r>
            <a:r>
              <a:rPr lang="en-US" sz="1600" dirty="0">
                <a:latin typeface="Calibri"/>
                <a:ea typeface="Calibri"/>
                <a:cs typeface="Calibri"/>
                <a:sym typeface="Calibri"/>
              </a:rPr>
              <a:t> de la </a:t>
            </a:r>
            <a:r>
              <a:rPr lang="en-US" sz="1600" dirty="0" err="1">
                <a:latin typeface="Calibri"/>
                <a:ea typeface="Calibri"/>
                <a:cs typeface="Calibri"/>
                <a:sym typeface="Calibri"/>
              </a:rPr>
              <a:t>organización</a:t>
            </a:r>
            <a:r>
              <a:rPr lang="en-US" sz="1600" dirty="0">
                <a:latin typeface="Calibri"/>
                <a:ea typeface="Calibri"/>
                <a:cs typeface="Calibri"/>
                <a:sym typeface="Calibri"/>
              </a:rPr>
              <a:t>.</a:t>
            </a:r>
            <a:endParaRPr sz="1600" dirty="0">
              <a:latin typeface="Calibri"/>
              <a:ea typeface="Calibri"/>
              <a:cs typeface="Calibri"/>
              <a:sym typeface="Calibri"/>
            </a:endParaRPr>
          </a:p>
          <a:p>
            <a:pPr marL="0" lvl="0" indent="0" algn="l" rtl="0">
              <a:lnSpc>
                <a:spcPct val="100000"/>
              </a:lnSpc>
              <a:spcBef>
                <a:spcPts val="0"/>
              </a:spcBef>
              <a:spcAft>
                <a:spcPts val="0"/>
              </a:spcAft>
              <a:buClr>
                <a:schemeClr val="dk1"/>
              </a:buClr>
              <a:buSzPts val="1400"/>
              <a:buFont typeface="Arial"/>
              <a:buNone/>
            </a:pPr>
            <a:r>
              <a:rPr lang="en-US" sz="1600" dirty="0" err="1">
                <a:latin typeface="Calibri"/>
                <a:ea typeface="Calibri"/>
                <a:cs typeface="Calibri"/>
                <a:sym typeface="Calibri"/>
              </a:rPr>
              <a:t>Ej</a:t>
            </a:r>
            <a:r>
              <a:rPr lang="en-US" sz="1600" dirty="0">
                <a:latin typeface="Calibri"/>
                <a:ea typeface="Calibri"/>
                <a:cs typeface="Calibri"/>
                <a:sym typeface="Calibri"/>
              </a:rPr>
              <a:t>:</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a:latin typeface="Calibri"/>
                <a:ea typeface="Calibri"/>
                <a:cs typeface="Calibri"/>
                <a:sym typeface="Calibri"/>
              </a:rPr>
              <a:t>El </a:t>
            </a:r>
            <a:r>
              <a:rPr lang="en-US" sz="1600" dirty="0" err="1">
                <a:latin typeface="Calibri"/>
                <a:ea typeface="Calibri"/>
                <a:cs typeface="Calibri"/>
                <a:sym typeface="Calibri"/>
              </a:rPr>
              <a:t>proceso</a:t>
            </a:r>
            <a:r>
              <a:rPr lang="en-US" sz="1600" dirty="0">
                <a:latin typeface="Calibri"/>
                <a:ea typeface="Calibri"/>
                <a:cs typeface="Calibri"/>
                <a:sym typeface="Calibri"/>
              </a:rPr>
              <a:t> de </a:t>
            </a:r>
            <a:r>
              <a:rPr lang="en-US" sz="1600" dirty="0" err="1">
                <a:latin typeface="Calibri"/>
                <a:ea typeface="Calibri"/>
                <a:cs typeface="Calibri"/>
                <a:sym typeface="Calibri"/>
              </a:rPr>
              <a:t>devolución</a:t>
            </a:r>
            <a:r>
              <a:rPr lang="en-US" sz="1600" dirty="0">
                <a:latin typeface="Calibri"/>
                <a:ea typeface="Calibri"/>
                <a:cs typeface="Calibri"/>
                <a:sym typeface="Calibri"/>
              </a:rPr>
              <a:t> de un </a:t>
            </a:r>
            <a:r>
              <a:rPr lang="en-US" sz="1600" dirty="0" err="1">
                <a:latin typeface="Calibri"/>
                <a:ea typeface="Calibri"/>
                <a:cs typeface="Calibri"/>
                <a:sym typeface="Calibri"/>
              </a:rPr>
              <a:t>producto</a:t>
            </a:r>
            <a:r>
              <a:rPr lang="en-US" sz="1600" dirty="0">
                <a:latin typeface="Calibri"/>
                <a:ea typeface="Calibri"/>
                <a:cs typeface="Calibri"/>
                <a:sym typeface="Calibri"/>
              </a:rPr>
              <a:t> </a:t>
            </a:r>
            <a:r>
              <a:rPr lang="en-US" sz="1600" dirty="0" err="1">
                <a:latin typeface="Calibri"/>
                <a:ea typeface="Calibri"/>
                <a:cs typeface="Calibri"/>
                <a:sym typeface="Calibri"/>
              </a:rPr>
              <a:t>defectuoso</a:t>
            </a:r>
            <a:r>
              <a:rPr lang="en-US" sz="1600" dirty="0">
                <a:latin typeface="Calibri"/>
                <a:ea typeface="Calibri"/>
                <a:cs typeface="Calibri"/>
                <a:sym typeface="Calibri"/>
              </a:rPr>
              <a:t>, se centra </a:t>
            </a:r>
            <a:r>
              <a:rPr lang="en-US" sz="1600" dirty="0" err="1">
                <a:latin typeface="Calibri"/>
                <a:ea typeface="Calibri"/>
                <a:cs typeface="Calibri"/>
                <a:sym typeface="Calibri"/>
              </a:rPr>
              <a:t>en</a:t>
            </a:r>
            <a:r>
              <a:rPr lang="en-US" sz="1600" dirty="0">
                <a:latin typeface="Calibri"/>
                <a:ea typeface="Calibri"/>
                <a:cs typeface="Calibri"/>
                <a:sym typeface="Calibri"/>
              </a:rPr>
              <a:t> </a:t>
            </a:r>
            <a:r>
              <a:rPr lang="en-US" sz="1600" dirty="0" err="1">
                <a:latin typeface="Calibri"/>
                <a:ea typeface="Calibri"/>
                <a:cs typeface="Calibri"/>
                <a:sym typeface="Calibri"/>
              </a:rPr>
              <a:t>el</a:t>
            </a:r>
            <a:r>
              <a:rPr lang="en-US" sz="1600" dirty="0">
                <a:latin typeface="Calibri"/>
                <a:ea typeface="Calibri"/>
                <a:cs typeface="Calibri"/>
                <a:sym typeface="Calibri"/>
              </a:rPr>
              <a:t> </a:t>
            </a:r>
            <a:r>
              <a:rPr lang="en-US" sz="1600" dirty="0" err="1">
                <a:latin typeface="Calibri"/>
                <a:ea typeface="Calibri"/>
                <a:cs typeface="Calibri"/>
                <a:sym typeface="Calibri"/>
              </a:rPr>
              <a:t>cliente</a:t>
            </a:r>
            <a:r>
              <a:rPr lang="en-US" sz="1600" dirty="0">
                <a:latin typeface="Calibri"/>
                <a:ea typeface="Calibri"/>
                <a:cs typeface="Calibri"/>
                <a:sym typeface="Calibri"/>
              </a:rPr>
              <a:t>? O es </a:t>
            </a:r>
            <a:r>
              <a:rPr lang="en-US" sz="1600" dirty="0" err="1">
                <a:latin typeface="Calibri"/>
                <a:ea typeface="Calibri"/>
                <a:cs typeface="Calibri"/>
                <a:sym typeface="Calibri"/>
              </a:rPr>
              <a:t>burocrático</a:t>
            </a:r>
            <a:r>
              <a:rPr lang="en-US" sz="1600" dirty="0">
                <a:latin typeface="Calibri"/>
                <a:ea typeface="Calibri"/>
                <a:cs typeface="Calibri"/>
                <a:sym typeface="Calibri"/>
              </a:rPr>
              <a:t> y </a:t>
            </a:r>
            <a:r>
              <a:rPr lang="en-US" sz="1600" dirty="0" err="1">
                <a:latin typeface="Calibri"/>
                <a:ea typeface="Calibri"/>
                <a:cs typeface="Calibri"/>
                <a:sym typeface="Calibri"/>
              </a:rPr>
              <a:t>tedioso</a:t>
            </a:r>
            <a:r>
              <a:rPr lang="en-US" sz="1600" dirty="0">
                <a:latin typeface="Calibri"/>
                <a:ea typeface="Calibri"/>
                <a:cs typeface="Calibri"/>
                <a:sym typeface="Calibri"/>
              </a:rPr>
              <a:t>?</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a:latin typeface="Calibri"/>
                <a:ea typeface="Calibri"/>
                <a:cs typeface="Calibri"/>
                <a:sym typeface="Calibri"/>
              </a:rPr>
              <a:t>Procesos de </a:t>
            </a:r>
            <a:r>
              <a:rPr lang="en-US" sz="1600" dirty="0" err="1">
                <a:latin typeface="Calibri"/>
                <a:ea typeface="Calibri"/>
                <a:cs typeface="Calibri"/>
                <a:sym typeface="Calibri"/>
              </a:rPr>
              <a:t>comunicación</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err="1">
                <a:latin typeface="Calibri"/>
                <a:ea typeface="Calibri"/>
                <a:cs typeface="Calibri"/>
                <a:sym typeface="Calibri"/>
              </a:rPr>
              <a:t>Sistemas</a:t>
            </a:r>
            <a:r>
              <a:rPr lang="en-US" sz="1600" dirty="0">
                <a:latin typeface="Calibri"/>
                <a:ea typeface="Calibri"/>
                <a:cs typeface="Calibri"/>
                <a:sym typeface="Calibri"/>
              </a:rPr>
              <a:t> de </a:t>
            </a:r>
            <a:r>
              <a:rPr lang="en-US" sz="1600" dirty="0" err="1">
                <a:latin typeface="Calibri"/>
                <a:ea typeface="Calibri"/>
                <a:cs typeface="Calibri"/>
                <a:sym typeface="Calibri"/>
              </a:rPr>
              <a:t>Recursos</a:t>
            </a:r>
            <a:r>
              <a:rPr lang="en-US" sz="1600" dirty="0">
                <a:latin typeface="Calibri"/>
                <a:ea typeface="Calibri"/>
                <a:cs typeface="Calibri"/>
                <a:sym typeface="Calibri"/>
              </a:rPr>
              <a:t> Humanos</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a:latin typeface="Calibri"/>
                <a:ea typeface="Calibri"/>
                <a:cs typeface="Calibri"/>
                <a:sym typeface="Calibri"/>
              </a:rPr>
              <a:t>Procesos de feedback</a:t>
            </a:r>
            <a:endParaRPr sz="1600" dirty="0">
              <a:latin typeface="Calibri"/>
              <a:ea typeface="Calibri"/>
              <a:cs typeface="Calibri"/>
              <a:sym typeface="Calibri"/>
            </a:endParaRPr>
          </a:p>
          <a:p>
            <a:pPr marL="171450" lvl="0" indent="-196850" algn="l" rtl="0">
              <a:lnSpc>
                <a:spcPct val="100000"/>
              </a:lnSpc>
              <a:spcBef>
                <a:spcPts val="0"/>
              </a:spcBef>
              <a:spcAft>
                <a:spcPts val="0"/>
              </a:spcAft>
              <a:buClr>
                <a:schemeClr val="dk1"/>
              </a:buClr>
              <a:buSzPts val="1600"/>
              <a:buFont typeface="Calibri"/>
              <a:buChar char="-"/>
            </a:pPr>
            <a:r>
              <a:rPr lang="en-US" sz="1600" dirty="0">
                <a:latin typeface="Calibri"/>
                <a:ea typeface="Calibri"/>
                <a:cs typeface="Calibri"/>
                <a:sym typeface="Calibri"/>
              </a:rPr>
              <a:t>Las </a:t>
            </a:r>
            <a:r>
              <a:rPr lang="en-US" sz="1600" dirty="0" err="1">
                <a:latin typeface="Calibri"/>
                <a:ea typeface="Calibri"/>
                <a:cs typeface="Calibri"/>
                <a:sym typeface="Calibri"/>
              </a:rPr>
              <a:t>empresas</a:t>
            </a:r>
            <a:r>
              <a:rPr lang="en-US" sz="1600" dirty="0">
                <a:latin typeface="Calibri"/>
                <a:ea typeface="Calibri"/>
                <a:cs typeface="Calibri"/>
                <a:sym typeface="Calibri"/>
              </a:rPr>
              <a:t> que </a:t>
            </a:r>
            <a:r>
              <a:rPr lang="en-US" sz="1600" dirty="0" err="1">
                <a:latin typeface="Calibri"/>
                <a:ea typeface="Calibri"/>
                <a:cs typeface="Calibri"/>
                <a:sym typeface="Calibri"/>
              </a:rPr>
              <a:t>tienden</a:t>
            </a:r>
            <a:r>
              <a:rPr lang="en-US" sz="1600" dirty="0">
                <a:latin typeface="Calibri"/>
                <a:ea typeface="Calibri"/>
                <a:cs typeface="Calibri"/>
                <a:sym typeface="Calibri"/>
              </a:rPr>
              <a:t> a </a:t>
            </a:r>
            <a:r>
              <a:rPr lang="en-US" sz="1600" dirty="0" err="1">
                <a:latin typeface="Calibri"/>
                <a:ea typeface="Calibri"/>
                <a:cs typeface="Calibri"/>
                <a:sym typeface="Calibri"/>
              </a:rPr>
              <a:t>evitar</a:t>
            </a:r>
            <a:r>
              <a:rPr lang="en-US" sz="1600" dirty="0">
                <a:latin typeface="Calibri"/>
                <a:ea typeface="Calibri"/>
                <a:cs typeface="Calibri"/>
                <a:sym typeface="Calibri"/>
              </a:rPr>
              <a:t> las malas </a:t>
            </a:r>
            <a:r>
              <a:rPr lang="en-US" sz="1600" dirty="0" err="1">
                <a:latin typeface="Calibri"/>
                <a:ea typeface="Calibri"/>
                <a:cs typeface="Calibri"/>
                <a:sym typeface="Calibri"/>
              </a:rPr>
              <a:t>noticias</a:t>
            </a:r>
            <a:r>
              <a:rPr lang="en-US" sz="1600" dirty="0">
                <a:latin typeface="Calibri"/>
                <a:ea typeface="Calibri"/>
                <a:cs typeface="Calibri"/>
                <a:sym typeface="Calibri"/>
              </a:rPr>
              <a:t> </a:t>
            </a:r>
            <a:r>
              <a:rPr lang="en-US" sz="1600" dirty="0" err="1">
                <a:latin typeface="Calibri"/>
                <a:ea typeface="Calibri"/>
                <a:cs typeface="Calibri"/>
                <a:sym typeface="Calibri"/>
              </a:rPr>
              <a:t>tienen</a:t>
            </a:r>
            <a:r>
              <a:rPr lang="en-US" sz="1600" dirty="0">
                <a:latin typeface="Calibri"/>
                <a:ea typeface="Calibri"/>
                <a:cs typeface="Calibri"/>
                <a:sym typeface="Calibri"/>
              </a:rPr>
              <a:t> </a:t>
            </a:r>
            <a:r>
              <a:rPr lang="en-US" sz="1600" dirty="0" err="1">
                <a:latin typeface="Calibri"/>
                <a:ea typeface="Calibri"/>
                <a:cs typeface="Calibri"/>
                <a:sym typeface="Calibri"/>
              </a:rPr>
              <a:t>sistemas</a:t>
            </a:r>
            <a:r>
              <a:rPr lang="en-US" sz="1600" dirty="0">
                <a:latin typeface="Calibri"/>
                <a:ea typeface="Calibri"/>
                <a:cs typeface="Calibri"/>
                <a:sym typeface="Calibri"/>
              </a:rPr>
              <a:t> </a:t>
            </a:r>
            <a:r>
              <a:rPr lang="en-US" sz="1600" dirty="0" err="1">
                <a:latin typeface="Calibri"/>
                <a:ea typeface="Calibri"/>
                <a:cs typeface="Calibri"/>
                <a:sym typeface="Calibri"/>
              </a:rPr>
              <a:t>pobres</a:t>
            </a:r>
            <a:r>
              <a:rPr lang="en-US" sz="1600" dirty="0">
                <a:latin typeface="Calibri"/>
                <a:ea typeface="Calibri"/>
                <a:cs typeface="Calibri"/>
                <a:sym typeface="Calibri"/>
              </a:rPr>
              <a:t> de </a:t>
            </a:r>
            <a:r>
              <a:rPr lang="en-US" sz="1600" dirty="0" err="1">
                <a:latin typeface="Calibri"/>
                <a:ea typeface="Calibri"/>
                <a:cs typeface="Calibri"/>
                <a:sym typeface="Calibri"/>
              </a:rPr>
              <a:t>información</a:t>
            </a:r>
            <a:endParaRPr sz="1600" dirty="0"/>
          </a:p>
        </p:txBody>
      </p:sp>
      <p:sp>
        <p:nvSpPr>
          <p:cNvPr id="277" name="Google Shape;277;g123d31d1acb_0_393: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21e7910631_0_0: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121e7910631_0_0: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121e7910631_0_31: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15" name="Google Shape;315;g121e7910631_0_31: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121e7910631_0_44: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1" u="sng" dirty="0"/>
              <a:t>Product B</a:t>
            </a:r>
            <a:r>
              <a:rPr lang="en-US" b="1" u="sng" dirty="0">
                <a:highlight>
                  <a:schemeClr val="lt1"/>
                </a:highlight>
              </a:rPr>
              <a:t>acklog</a:t>
            </a:r>
            <a:r>
              <a:rPr lang="en-US" b="1" dirty="0">
                <a:highlight>
                  <a:schemeClr val="lt1"/>
                </a:highlight>
              </a:rPr>
              <a:t>:</a:t>
            </a:r>
            <a:r>
              <a:rPr lang="en-US" dirty="0">
                <a:highlight>
                  <a:schemeClr val="lt1"/>
                </a:highlight>
              </a:rPr>
              <a:t> </a:t>
            </a:r>
            <a:r>
              <a:rPr lang="en-US" dirty="0" err="1">
                <a:highlight>
                  <a:schemeClr val="lt1"/>
                </a:highlight>
              </a:rPr>
              <a:t>listado</a:t>
            </a:r>
            <a:r>
              <a:rPr lang="en-US" dirty="0">
                <a:highlight>
                  <a:schemeClr val="lt1"/>
                </a:highlight>
              </a:rPr>
              <a:t> </a:t>
            </a:r>
            <a:r>
              <a:rPr lang="en-US" dirty="0" err="1">
                <a:highlight>
                  <a:schemeClr val="lt1"/>
                </a:highlight>
              </a:rPr>
              <a:t>ordenado</a:t>
            </a:r>
            <a:r>
              <a:rPr lang="en-US" dirty="0">
                <a:highlight>
                  <a:schemeClr val="lt1"/>
                </a:highlight>
              </a:rPr>
              <a:t> y </a:t>
            </a:r>
            <a:r>
              <a:rPr lang="en-US" dirty="0" err="1">
                <a:highlight>
                  <a:schemeClr val="lt1"/>
                </a:highlight>
              </a:rPr>
              <a:t>priorizado</a:t>
            </a:r>
            <a:r>
              <a:rPr lang="en-US" dirty="0">
                <a:highlight>
                  <a:schemeClr val="lt1"/>
                </a:highlight>
              </a:rPr>
              <a:t> de </a:t>
            </a:r>
            <a:r>
              <a:rPr lang="en-US" dirty="0" err="1">
                <a:highlight>
                  <a:schemeClr val="lt1"/>
                </a:highlight>
              </a:rPr>
              <a:t>los</a:t>
            </a:r>
            <a:r>
              <a:rPr lang="en-US" dirty="0">
                <a:highlight>
                  <a:schemeClr val="lt1"/>
                </a:highlight>
              </a:rPr>
              <a:t> </a:t>
            </a:r>
            <a:r>
              <a:rPr lang="en-US" dirty="0" err="1">
                <a:highlight>
                  <a:schemeClr val="lt1"/>
                </a:highlight>
              </a:rPr>
              <a:t>requisitos</a:t>
            </a:r>
            <a:r>
              <a:rPr lang="en-US" dirty="0">
                <a:highlight>
                  <a:schemeClr val="lt1"/>
                </a:highlight>
              </a:rPr>
              <a:t> </a:t>
            </a:r>
            <a:r>
              <a:rPr lang="en-US" dirty="0" err="1">
                <a:highlight>
                  <a:schemeClr val="lt1"/>
                </a:highlight>
              </a:rPr>
              <a:t>necesarios</a:t>
            </a:r>
            <a:r>
              <a:rPr lang="en-US" dirty="0">
                <a:highlight>
                  <a:schemeClr val="lt1"/>
                </a:highlight>
              </a:rPr>
              <a:t> para la </a:t>
            </a:r>
            <a:r>
              <a:rPr lang="en-US" dirty="0" err="1">
                <a:highlight>
                  <a:schemeClr val="lt1"/>
                </a:highlight>
              </a:rPr>
              <a:t>implementación</a:t>
            </a:r>
            <a:r>
              <a:rPr lang="en-US" dirty="0">
                <a:highlight>
                  <a:schemeClr val="lt1"/>
                </a:highlight>
              </a:rPr>
              <a:t> de un </a:t>
            </a:r>
            <a:r>
              <a:rPr lang="en-US" dirty="0" err="1">
                <a:highlight>
                  <a:schemeClr val="lt1"/>
                </a:highlight>
              </a:rPr>
              <a:t>proyecto</a:t>
            </a:r>
            <a:endParaRPr dirty="0">
              <a:highlight>
                <a:schemeClr val="lt1"/>
              </a:highlight>
            </a:endParaRPr>
          </a:p>
          <a:p>
            <a:pPr marL="0" lvl="0" indent="0" algn="l" rtl="0">
              <a:lnSpc>
                <a:spcPct val="100000"/>
              </a:lnSpc>
              <a:spcBef>
                <a:spcPts val="0"/>
              </a:spcBef>
              <a:spcAft>
                <a:spcPts val="0"/>
              </a:spcAft>
              <a:buSzPts val="1400"/>
              <a:buNone/>
            </a:pPr>
            <a:r>
              <a:rPr lang="en-US" b="1" u="sng" dirty="0">
                <a:highlight>
                  <a:schemeClr val="lt1"/>
                </a:highlight>
              </a:rPr>
              <a:t>Planning/ </a:t>
            </a:r>
            <a:r>
              <a:rPr lang="en-US" b="1" u="sng" dirty="0" err="1">
                <a:highlight>
                  <a:schemeClr val="lt1"/>
                </a:highlight>
              </a:rPr>
              <a:t>Reunión</a:t>
            </a:r>
            <a:r>
              <a:rPr lang="en-US" b="1" u="sng" dirty="0">
                <a:highlight>
                  <a:schemeClr val="lt1"/>
                </a:highlight>
              </a:rPr>
              <a:t> de </a:t>
            </a:r>
            <a:r>
              <a:rPr lang="en-US" b="1" u="sng" dirty="0" err="1">
                <a:highlight>
                  <a:schemeClr val="lt1"/>
                </a:highlight>
              </a:rPr>
              <a:t>Planificación</a:t>
            </a:r>
            <a:r>
              <a:rPr lang="en-US" dirty="0">
                <a:highlight>
                  <a:schemeClr val="lt1"/>
                </a:highlight>
              </a:rPr>
              <a:t>: es la </a:t>
            </a:r>
            <a:r>
              <a:rPr lang="en-US" dirty="0" err="1">
                <a:highlight>
                  <a:schemeClr val="lt1"/>
                </a:highlight>
              </a:rPr>
              <a:t>reunión</a:t>
            </a:r>
            <a:r>
              <a:rPr lang="en-US" dirty="0">
                <a:highlight>
                  <a:schemeClr val="lt1"/>
                </a:highlight>
              </a:rPr>
              <a:t> de </a:t>
            </a:r>
            <a:r>
              <a:rPr lang="en-US" dirty="0" err="1">
                <a:highlight>
                  <a:schemeClr val="lt1"/>
                </a:highlight>
              </a:rPr>
              <a:t>todo</a:t>
            </a:r>
            <a:r>
              <a:rPr lang="en-US" dirty="0">
                <a:highlight>
                  <a:schemeClr val="lt1"/>
                </a:highlight>
              </a:rPr>
              <a:t> </a:t>
            </a:r>
            <a:r>
              <a:rPr lang="en-US" dirty="0" err="1">
                <a:highlight>
                  <a:schemeClr val="lt1"/>
                </a:highlight>
              </a:rPr>
              <a:t>el</a:t>
            </a:r>
            <a:r>
              <a:rPr lang="en-US" dirty="0">
                <a:highlight>
                  <a:schemeClr val="lt1"/>
                </a:highlight>
              </a:rPr>
              <a:t> </a:t>
            </a:r>
            <a:r>
              <a:rPr lang="en-US" dirty="0" err="1">
                <a:highlight>
                  <a:schemeClr val="lt1"/>
                </a:highlight>
              </a:rPr>
              <a:t>equipo</a:t>
            </a:r>
            <a:r>
              <a:rPr lang="en-US" dirty="0">
                <a:highlight>
                  <a:schemeClr val="lt1"/>
                </a:highlight>
              </a:rPr>
              <a:t> Scrum, </a:t>
            </a:r>
            <a:r>
              <a:rPr lang="en-US" dirty="0" err="1">
                <a:highlight>
                  <a:schemeClr val="lt1"/>
                </a:highlight>
              </a:rPr>
              <a:t>donde</a:t>
            </a:r>
            <a:r>
              <a:rPr lang="en-US" dirty="0">
                <a:highlight>
                  <a:schemeClr val="lt1"/>
                </a:highlight>
              </a:rPr>
              <a:t> </a:t>
            </a:r>
            <a:r>
              <a:rPr lang="en-US" dirty="0" err="1">
                <a:highlight>
                  <a:schemeClr val="lt1"/>
                </a:highlight>
              </a:rPr>
              <a:t>participarán</a:t>
            </a:r>
            <a:r>
              <a:rPr lang="en-US" dirty="0">
                <a:highlight>
                  <a:schemeClr val="lt1"/>
                </a:highlight>
              </a:rPr>
              <a:t> las personas que </a:t>
            </a:r>
            <a:r>
              <a:rPr lang="en-US" dirty="0" err="1">
                <a:highlight>
                  <a:schemeClr val="lt1"/>
                </a:highlight>
              </a:rPr>
              <a:t>cumplan</a:t>
            </a:r>
            <a:r>
              <a:rPr lang="en-US" dirty="0">
                <a:highlight>
                  <a:schemeClr val="lt1"/>
                </a:highlight>
              </a:rPr>
              <a:t> con </a:t>
            </a:r>
            <a:r>
              <a:rPr lang="en-US" dirty="0" err="1">
                <a:highlight>
                  <a:schemeClr val="lt1"/>
                </a:highlight>
              </a:rPr>
              <a:t>todos</a:t>
            </a:r>
            <a:r>
              <a:rPr lang="en-US" dirty="0">
                <a:highlight>
                  <a:schemeClr val="lt1"/>
                </a:highlight>
              </a:rPr>
              <a:t> </a:t>
            </a:r>
            <a:r>
              <a:rPr lang="en-US" dirty="0" err="1">
                <a:highlight>
                  <a:schemeClr val="lt1"/>
                </a:highlight>
              </a:rPr>
              <a:t>los</a:t>
            </a:r>
            <a:r>
              <a:rPr lang="en-US" dirty="0">
                <a:highlight>
                  <a:schemeClr val="lt1"/>
                </a:highlight>
              </a:rPr>
              <a:t> roles </a:t>
            </a:r>
            <a:r>
              <a:rPr lang="en-US" dirty="0" err="1">
                <a:highlight>
                  <a:schemeClr val="lt1"/>
                </a:highlight>
              </a:rPr>
              <a:t>necesarios</a:t>
            </a:r>
            <a:r>
              <a:rPr lang="en-US" dirty="0">
                <a:highlight>
                  <a:schemeClr val="lt1"/>
                </a:highlight>
              </a:rPr>
              <a:t> </a:t>
            </a:r>
            <a:r>
              <a:rPr lang="en-US" dirty="0" err="1">
                <a:highlight>
                  <a:schemeClr val="lt1"/>
                </a:highlight>
              </a:rPr>
              <a:t>en</a:t>
            </a:r>
            <a:r>
              <a:rPr lang="en-US" dirty="0">
                <a:highlight>
                  <a:schemeClr val="lt1"/>
                </a:highlight>
              </a:rPr>
              <a:t> </a:t>
            </a:r>
            <a:r>
              <a:rPr lang="en-US" dirty="0" err="1">
                <a:highlight>
                  <a:schemeClr val="lt1"/>
                </a:highlight>
              </a:rPr>
              <a:t>esta</a:t>
            </a:r>
            <a:r>
              <a:rPr lang="en-US" dirty="0">
                <a:highlight>
                  <a:schemeClr val="lt1"/>
                </a:highlight>
              </a:rPr>
              <a:t> </a:t>
            </a:r>
            <a:r>
              <a:rPr lang="en-US" dirty="0" err="1">
                <a:highlight>
                  <a:schemeClr val="lt1"/>
                </a:highlight>
              </a:rPr>
              <a:t>metodología</a:t>
            </a:r>
            <a:r>
              <a:rPr lang="en-US" dirty="0">
                <a:highlight>
                  <a:schemeClr val="lt1"/>
                </a:highlight>
              </a:rPr>
              <a:t> (Product Owner, Scrum Master, </a:t>
            </a:r>
            <a:r>
              <a:rPr lang="en-US" dirty="0" err="1">
                <a:highlight>
                  <a:schemeClr val="lt1"/>
                </a:highlight>
              </a:rPr>
              <a:t>etc</a:t>
            </a:r>
            <a:r>
              <a:rPr lang="en-US" dirty="0">
                <a:highlight>
                  <a:schemeClr val="lt1"/>
                </a:highlight>
              </a:rPr>
              <a:t>), </a:t>
            </a:r>
            <a:r>
              <a:rPr lang="en-US" dirty="0" err="1">
                <a:highlight>
                  <a:schemeClr val="lt1"/>
                </a:highlight>
              </a:rPr>
              <a:t>donde</a:t>
            </a:r>
            <a:r>
              <a:rPr lang="en-US" dirty="0">
                <a:highlight>
                  <a:schemeClr val="lt1"/>
                </a:highlight>
              </a:rPr>
              <a:t> se define </a:t>
            </a:r>
            <a:r>
              <a:rPr lang="en-US" dirty="0" err="1">
                <a:highlight>
                  <a:schemeClr val="lt1"/>
                </a:highlight>
              </a:rPr>
              <a:t>qué</a:t>
            </a:r>
            <a:r>
              <a:rPr lang="en-US" dirty="0">
                <a:highlight>
                  <a:schemeClr val="lt1"/>
                </a:highlight>
              </a:rPr>
              <a:t> se </a:t>
            </a:r>
            <a:r>
              <a:rPr lang="en-US" dirty="0" err="1">
                <a:highlight>
                  <a:schemeClr val="lt1"/>
                </a:highlight>
              </a:rPr>
              <a:t>va</a:t>
            </a:r>
            <a:r>
              <a:rPr lang="en-US" dirty="0">
                <a:highlight>
                  <a:schemeClr val="lt1"/>
                </a:highlight>
              </a:rPr>
              <a:t> a </a:t>
            </a:r>
            <a:r>
              <a:rPr lang="en-US" dirty="0" err="1">
                <a:highlight>
                  <a:schemeClr val="lt1"/>
                </a:highlight>
              </a:rPr>
              <a:t>realizar</a:t>
            </a:r>
            <a:r>
              <a:rPr lang="en-US" dirty="0">
                <a:highlight>
                  <a:schemeClr val="lt1"/>
                </a:highlight>
              </a:rPr>
              <a:t> </a:t>
            </a:r>
            <a:r>
              <a:rPr lang="en-US" dirty="0" err="1">
                <a:highlight>
                  <a:schemeClr val="lt1"/>
                </a:highlight>
              </a:rPr>
              <a:t>en</a:t>
            </a:r>
            <a:r>
              <a:rPr lang="en-US" dirty="0">
                <a:highlight>
                  <a:schemeClr val="lt1"/>
                </a:highlight>
              </a:rPr>
              <a:t> </a:t>
            </a:r>
            <a:r>
              <a:rPr lang="en-US" dirty="0" err="1">
                <a:highlight>
                  <a:schemeClr val="lt1"/>
                </a:highlight>
              </a:rPr>
              <a:t>el</a:t>
            </a:r>
            <a:r>
              <a:rPr lang="en-US" dirty="0">
                <a:highlight>
                  <a:schemeClr val="lt1"/>
                </a:highlight>
              </a:rPr>
              <a:t> </a:t>
            </a:r>
            <a:r>
              <a:rPr lang="en-US" dirty="0" err="1">
                <a:highlight>
                  <a:schemeClr val="lt1"/>
                </a:highlight>
              </a:rPr>
              <a:t>siguiente</a:t>
            </a:r>
            <a:r>
              <a:rPr lang="en-US" dirty="0">
                <a:highlight>
                  <a:schemeClr val="lt1"/>
                </a:highlight>
              </a:rPr>
              <a:t> </a:t>
            </a:r>
            <a:r>
              <a:rPr lang="en-US" b="1" dirty="0">
                <a:highlight>
                  <a:schemeClr val="lt1"/>
                </a:highlight>
              </a:rPr>
              <a:t>Sprint.</a:t>
            </a:r>
            <a:br>
              <a:rPr lang="en-US" dirty="0">
                <a:highlight>
                  <a:schemeClr val="lt1"/>
                </a:highlight>
              </a:rPr>
            </a:br>
            <a:r>
              <a:rPr lang="en-US" b="1" u="sng" dirty="0">
                <a:highlight>
                  <a:schemeClr val="lt1"/>
                </a:highlight>
              </a:rPr>
              <a:t>Sprint Backlog</a:t>
            </a:r>
            <a:r>
              <a:rPr lang="en-US" dirty="0">
                <a:highlight>
                  <a:schemeClr val="lt1"/>
                </a:highlight>
              </a:rPr>
              <a:t>: Se </a:t>
            </a:r>
            <a:r>
              <a:rPr lang="en-US" dirty="0" err="1">
                <a:highlight>
                  <a:schemeClr val="lt1"/>
                </a:highlight>
              </a:rPr>
              <a:t>compone</a:t>
            </a:r>
            <a:r>
              <a:rPr lang="en-US" dirty="0">
                <a:highlight>
                  <a:schemeClr val="lt1"/>
                </a:highlight>
              </a:rPr>
              <a:t> de </a:t>
            </a:r>
            <a:r>
              <a:rPr lang="en-US" dirty="0" err="1">
                <a:highlight>
                  <a:schemeClr val="lt1"/>
                </a:highlight>
              </a:rPr>
              <a:t>los</a:t>
            </a:r>
            <a:r>
              <a:rPr lang="en-US" dirty="0">
                <a:highlight>
                  <a:schemeClr val="lt1"/>
                </a:highlight>
              </a:rPr>
              <a:t> </a:t>
            </a:r>
            <a:r>
              <a:rPr lang="en-US" dirty="0" err="1">
                <a:highlight>
                  <a:schemeClr val="lt1"/>
                </a:highlight>
              </a:rPr>
              <a:t>elementos</a:t>
            </a:r>
            <a:r>
              <a:rPr lang="en-US" dirty="0">
                <a:highlight>
                  <a:schemeClr val="lt1"/>
                </a:highlight>
              </a:rPr>
              <a:t> </a:t>
            </a:r>
            <a:r>
              <a:rPr lang="en-US" dirty="0" err="1">
                <a:highlight>
                  <a:schemeClr val="lt1"/>
                </a:highlight>
              </a:rPr>
              <a:t>seleccionados</a:t>
            </a:r>
            <a:r>
              <a:rPr lang="en-US" dirty="0">
                <a:highlight>
                  <a:schemeClr val="lt1"/>
                </a:highlight>
              </a:rPr>
              <a:t> de la </a:t>
            </a:r>
            <a:r>
              <a:rPr lang="en-US" dirty="0" err="1">
                <a:highlight>
                  <a:schemeClr val="lt1"/>
                </a:highlight>
              </a:rPr>
              <a:t>parte</a:t>
            </a:r>
            <a:r>
              <a:rPr lang="en-US" dirty="0">
                <a:highlight>
                  <a:schemeClr val="lt1"/>
                </a:highlight>
              </a:rPr>
              <a:t> superior (lo </a:t>
            </a:r>
            <a:r>
              <a:rPr lang="en-US" dirty="0" err="1">
                <a:highlight>
                  <a:schemeClr val="lt1"/>
                </a:highlight>
              </a:rPr>
              <a:t>más</a:t>
            </a:r>
            <a:r>
              <a:rPr lang="en-US" dirty="0">
                <a:highlight>
                  <a:schemeClr val="lt1"/>
                </a:highlight>
              </a:rPr>
              <a:t> </a:t>
            </a:r>
            <a:r>
              <a:rPr lang="en-US" dirty="0" err="1">
                <a:highlight>
                  <a:schemeClr val="lt1"/>
                </a:highlight>
              </a:rPr>
              <a:t>prioritario</a:t>
            </a:r>
            <a:r>
              <a:rPr lang="en-US" dirty="0">
                <a:highlight>
                  <a:schemeClr val="lt1"/>
                </a:highlight>
              </a:rPr>
              <a:t>) del </a:t>
            </a:r>
            <a:r>
              <a:rPr lang="en-US" b="1" dirty="0">
                <a:highlight>
                  <a:schemeClr val="lt1"/>
                </a:highlight>
              </a:rPr>
              <a:t>Product Backlog</a:t>
            </a:r>
            <a:r>
              <a:rPr lang="en-US" dirty="0">
                <a:highlight>
                  <a:schemeClr val="lt1"/>
                </a:highlight>
              </a:rPr>
              <a:t> que se </a:t>
            </a:r>
            <a:r>
              <a:rPr lang="en-US" dirty="0" err="1">
                <a:highlight>
                  <a:schemeClr val="lt1"/>
                </a:highlight>
              </a:rPr>
              <a:t>consideran</a:t>
            </a:r>
            <a:r>
              <a:rPr lang="en-US" dirty="0">
                <a:highlight>
                  <a:schemeClr val="lt1"/>
                </a:highlight>
              </a:rPr>
              <a:t> </a:t>
            </a:r>
            <a:r>
              <a:rPr lang="en-US" dirty="0" err="1">
                <a:highlight>
                  <a:schemeClr val="lt1"/>
                </a:highlight>
              </a:rPr>
              <a:t>necesarios</a:t>
            </a:r>
            <a:r>
              <a:rPr lang="en-US" dirty="0">
                <a:highlight>
                  <a:schemeClr val="lt1"/>
                </a:highlight>
              </a:rPr>
              <a:t> a </a:t>
            </a:r>
            <a:r>
              <a:rPr lang="en-US" dirty="0" err="1">
                <a:highlight>
                  <a:schemeClr val="lt1"/>
                </a:highlight>
              </a:rPr>
              <a:t>realizarse</a:t>
            </a:r>
            <a:r>
              <a:rPr lang="en-US" dirty="0">
                <a:highlight>
                  <a:schemeClr val="lt1"/>
                </a:highlight>
              </a:rPr>
              <a:t> para </a:t>
            </a:r>
            <a:r>
              <a:rPr lang="en-US" dirty="0" err="1">
                <a:highlight>
                  <a:schemeClr val="lt1"/>
                </a:highlight>
              </a:rPr>
              <a:t>cumplir</a:t>
            </a:r>
            <a:r>
              <a:rPr lang="en-US" dirty="0">
                <a:highlight>
                  <a:schemeClr val="lt1"/>
                </a:highlight>
              </a:rPr>
              <a:t> </a:t>
            </a:r>
            <a:r>
              <a:rPr lang="en-US" dirty="0" err="1">
                <a:highlight>
                  <a:schemeClr val="lt1"/>
                </a:highlight>
              </a:rPr>
              <a:t>el</a:t>
            </a:r>
            <a:r>
              <a:rPr lang="en-US" dirty="0">
                <a:highlight>
                  <a:schemeClr val="lt1"/>
                </a:highlight>
              </a:rPr>
              <a:t> </a:t>
            </a:r>
            <a:r>
              <a:rPr lang="en-US" dirty="0" err="1">
                <a:highlight>
                  <a:schemeClr val="lt1"/>
                </a:highlight>
              </a:rPr>
              <a:t>Objetivo</a:t>
            </a:r>
            <a:r>
              <a:rPr lang="en-US" dirty="0">
                <a:highlight>
                  <a:schemeClr val="lt1"/>
                </a:highlight>
              </a:rPr>
              <a:t> del </a:t>
            </a:r>
            <a:r>
              <a:rPr lang="en-US" b="1" dirty="0">
                <a:highlight>
                  <a:schemeClr val="lt1"/>
                </a:highlight>
              </a:rPr>
              <a:t>Sprint</a:t>
            </a:r>
            <a:r>
              <a:rPr lang="en-US" dirty="0">
                <a:highlight>
                  <a:schemeClr val="lt1"/>
                </a:highlight>
              </a:rPr>
              <a:t> y que </a:t>
            </a:r>
            <a:r>
              <a:rPr lang="en-US" dirty="0" err="1">
                <a:highlight>
                  <a:schemeClr val="lt1"/>
                </a:highlight>
              </a:rPr>
              <a:t>los</a:t>
            </a:r>
            <a:r>
              <a:rPr lang="en-US" dirty="0">
                <a:highlight>
                  <a:schemeClr val="lt1"/>
                </a:highlight>
              </a:rPr>
              <a:t> “Developers/</a:t>
            </a:r>
            <a:r>
              <a:rPr lang="en-US" dirty="0" err="1">
                <a:highlight>
                  <a:schemeClr val="lt1"/>
                </a:highlight>
              </a:rPr>
              <a:t>desarrolladores</a:t>
            </a:r>
            <a:r>
              <a:rPr lang="en-US" dirty="0">
                <a:highlight>
                  <a:schemeClr val="lt1"/>
                </a:highlight>
              </a:rPr>
              <a:t>” </a:t>
            </a:r>
            <a:r>
              <a:rPr lang="en-US" dirty="0" err="1">
                <a:highlight>
                  <a:schemeClr val="lt1"/>
                </a:highlight>
              </a:rPr>
              <a:t>cree</a:t>
            </a:r>
            <a:r>
              <a:rPr lang="en-US" dirty="0">
                <a:highlight>
                  <a:schemeClr val="lt1"/>
                </a:highlight>
              </a:rPr>
              <a:t> </a:t>
            </a:r>
            <a:r>
              <a:rPr lang="en-US" dirty="0" err="1">
                <a:highlight>
                  <a:schemeClr val="lt1"/>
                </a:highlight>
              </a:rPr>
              <a:t>factible</a:t>
            </a:r>
            <a:r>
              <a:rPr lang="en-US" dirty="0">
                <a:highlight>
                  <a:schemeClr val="lt1"/>
                </a:highlight>
              </a:rPr>
              <a:t> </a:t>
            </a:r>
            <a:r>
              <a:rPr lang="en-US" dirty="0" err="1">
                <a:highlight>
                  <a:schemeClr val="lt1"/>
                </a:highlight>
              </a:rPr>
              <a:t>terminar</a:t>
            </a:r>
            <a:r>
              <a:rPr lang="en-US" dirty="0">
                <a:highlight>
                  <a:schemeClr val="lt1"/>
                </a:highlight>
              </a:rPr>
              <a:t> </a:t>
            </a:r>
            <a:r>
              <a:rPr lang="en-US" dirty="0" err="1">
                <a:highlight>
                  <a:schemeClr val="lt1"/>
                </a:highlight>
              </a:rPr>
              <a:t>según</a:t>
            </a:r>
            <a:r>
              <a:rPr lang="en-US" dirty="0">
                <a:highlight>
                  <a:schemeClr val="lt1"/>
                </a:highlight>
              </a:rPr>
              <a:t> </a:t>
            </a:r>
            <a:r>
              <a:rPr lang="en-US" dirty="0" err="1">
                <a:highlight>
                  <a:schemeClr val="lt1"/>
                </a:highlight>
              </a:rPr>
              <a:t>su</a:t>
            </a:r>
            <a:r>
              <a:rPr lang="en-US" dirty="0">
                <a:highlight>
                  <a:schemeClr val="lt1"/>
                </a:highlight>
              </a:rPr>
              <a:t> </a:t>
            </a:r>
            <a:r>
              <a:rPr lang="en-US" dirty="0" err="1">
                <a:highlight>
                  <a:schemeClr val="lt1"/>
                </a:highlight>
              </a:rPr>
              <a:t>velocidad</a:t>
            </a:r>
            <a:r>
              <a:rPr lang="en-US" dirty="0">
                <a:highlight>
                  <a:schemeClr val="lt1"/>
                </a:highlight>
              </a:rPr>
              <a:t> y </a:t>
            </a:r>
            <a:r>
              <a:rPr lang="en-US" dirty="0" err="1">
                <a:highlight>
                  <a:schemeClr val="lt1"/>
                </a:highlight>
              </a:rPr>
              <a:t>capacidad</a:t>
            </a:r>
            <a:r>
              <a:rPr lang="en-US" dirty="0">
                <a:highlight>
                  <a:schemeClr val="lt1"/>
                </a:highlight>
              </a:rPr>
              <a:t>.</a:t>
            </a:r>
            <a:endParaRPr dirty="0">
              <a:highlight>
                <a:schemeClr val="lt1"/>
              </a:highlight>
            </a:endParaRPr>
          </a:p>
          <a:p>
            <a:pPr marL="0" lvl="0" indent="0" algn="l" rtl="0">
              <a:lnSpc>
                <a:spcPct val="100000"/>
              </a:lnSpc>
              <a:spcBef>
                <a:spcPts val="0"/>
              </a:spcBef>
              <a:spcAft>
                <a:spcPts val="0"/>
              </a:spcAft>
              <a:buSzPts val="1400"/>
              <a:buNone/>
            </a:pPr>
            <a:r>
              <a:rPr lang="en-US" b="1" u="sng" dirty="0" err="1">
                <a:highlight>
                  <a:schemeClr val="lt1"/>
                </a:highlight>
              </a:rPr>
              <a:t>Sprint</a:t>
            </a:r>
            <a:r>
              <a:rPr lang="en-US" dirty="0" err="1">
                <a:highlight>
                  <a:schemeClr val="lt1"/>
                </a:highlight>
              </a:rPr>
              <a:t>:ciclo</a:t>
            </a:r>
            <a:r>
              <a:rPr lang="en-US" dirty="0">
                <a:highlight>
                  <a:schemeClr val="lt1"/>
                </a:highlight>
              </a:rPr>
              <a:t> o </a:t>
            </a:r>
            <a:r>
              <a:rPr lang="en-US" dirty="0" err="1">
                <a:highlight>
                  <a:schemeClr val="lt1"/>
                </a:highlight>
              </a:rPr>
              <a:t>iteraciones</a:t>
            </a:r>
            <a:r>
              <a:rPr lang="en-US" dirty="0">
                <a:highlight>
                  <a:schemeClr val="lt1"/>
                </a:highlight>
              </a:rPr>
              <a:t> que van a </a:t>
            </a:r>
            <a:r>
              <a:rPr lang="en-US" dirty="0" err="1">
                <a:highlight>
                  <a:schemeClr val="lt1"/>
                </a:highlight>
              </a:rPr>
              <a:t>realizarse</a:t>
            </a:r>
            <a:r>
              <a:rPr lang="en-US" dirty="0">
                <a:highlight>
                  <a:schemeClr val="lt1"/>
                </a:highlight>
              </a:rPr>
              <a:t> </a:t>
            </a:r>
            <a:r>
              <a:rPr lang="en-US" dirty="0" err="1">
                <a:highlight>
                  <a:schemeClr val="lt1"/>
                </a:highlight>
              </a:rPr>
              <a:t>dentro</a:t>
            </a:r>
            <a:r>
              <a:rPr lang="en-US" dirty="0">
                <a:highlight>
                  <a:schemeClr val="lt1"/>
                </a:highlight>
              </a:rPr>
              <a:t> de un </a:t>
            </a:r>
            <a:r>
              <a:rPr lang="en-US" dirty="0" err="1">
                <a:highlight>
                  <a:schemeClr val="lt1"/>
                </a:highlight>
              </a:rPr>
              <a:t>proyecto</a:t>
            </a:r>
            <a:r>
              <a:rPr lang="en-US" dirty="0">
                <a:highlight>
                  <a:schemeClr val="lt1"/>
                </a:highlight>
              </a:rPr>
              <a:t>. Tienen </a:t>
            </a:r>
            <a:r>
              <a:rPr lang="en-US" dirty="0" err="1">
                <a:highlight>
                  <a:schemeClr val="lt1"/>
                </a:highlight>
              </a:rPr>
              <a:t>distintas</a:t>
            </a:r>
            <a:r>
              <a:rPr lang="en-US" dirty="0">
                <a:highlight>
                  <a:schemeClr val="lt1"/>
                </a:highlight>
              </a:rPr>
              <a:t> </a:t>
            </a:r>
            <a:r>
              <a:rPr lang="en-US" dirty="0" err="1">
                <a:highlight>
                  <a:schemeClr val="lt1"/>
                </a:highlight>
              </a:rPr>
              <a:t>duraciones</a:t>
            </a:r>
            <a:r>
              <a:rPr lang="en-US" dirty="0">
                <a:highlight>
                  <a:schemeClr val="lt1"/>
                </a:highlight>
              </a:rPr>
              <a:t>, la </a:t>
            </a:r>
            <a:r>
              <a:rPr lang="en-US" dirty="0" err="1">
                <a:highlight>
                  <a:schemeClr val="lt1"/>
                </a:highlight>
              </a:rPr>
              <a:t>más</a:t>
            </a:r>
            <a:r>
              <a:rPr lang="en-US" dirty="0">
                <a:highlight>
                  <a:schemeClr val="lt1"/>
                </a:highlight>
              </a:rPr>
              <a:t> </a:t>
            </a:r>
            <a:r>
              <a:rPr lang="en-US" dirty="0" err="1">
                <a:highlight>
                  <a:schemeClr val="lt1"/>
                </a:highlight>
              </a:rPr>
              <a:t>común</a:t>
            </a:r>
            <a:r>
              <a:rPr lang="en-US" dirty="0">
                <a:highlight>
                  <a:schemeClr val="lt1"/>
                </a:highlight>
              </a:rPr>
              <a:t> es de 2 </a:t>
            </a:r>
            <a:r>
              <a:rPr lang="en-US" dirty="0" err="1">
                <a:highlight>
                  <a:schemeClr val="lt1"/>
                </a:highlight>
              </a:rPr>
              <a:t>semanas</a:t>
            </a:r>
            <a:r>
              <a:rPr lang="en-US" dirty="0">
                <a:highlight>
                  <a:schemeClr val="lt1"/>
                </a:highlight>
              </a:rPr>
              <a:t>.</a:t>
            </a:r>
            <a:endParaRPr dirty="0">
              <a:highlight>
                <a:schemeClr val="lt1"/>
              </a:highlight>
            </a:endParaRPr>
          </a:p>
          <a:p>
            <a:pPr marL="0" lvl="0" indent="0" algn="l" rtl="0">
              <a:lnSpc>
                <a:spcPct val="100000"/>
              </a:lnSpc>
              <a:spcBef>
                <a:spcPts val="0"/>
              </a:spcBef>
              <a:spcAft>
                <a:spcPts val="0"/>
              </a:spcAft>
              <a:buSzPts val="1400"/>
              <a:buNone/>
            </a:pPr>
            <a:r>
              <a:rPr lang="en-US" b="1" u="sng" dirty="0">
                <a:highlight>
                  <a:schemeClr val="lt1"/>
                </a:highlight>
              </a:rPr>
              <a:t>Daily/ </a:t>
            </a:r>
            <a:r>
              <a:rPr lang="en-US" b="1" u="sng" dirty="0" err="1">
                <a:highlight>
                  <a:schemeClr val="lt1"/>
                </a:highlight>
              </a:rPr>
              <a:t>Reunión</a:t>
            </a:r>
            <a:r>
              <a:rPr lang="en-US" b="1" u="sng" dirty="0">
                <a:highlight>
                  <a:schemeClr val="lt1"/>
                </a:highlight>
              </a:rPr>
              <a:t> </a:t>
            </a:r>
            <a:r>
              <a:rPr lang="en-US" b="1" u="sng" dirty="0" err="1">
                <a:highlight>
                  <a:schemeClr val="lt1"/>
                </a:highlight>
              </a:rPr>
              <a:t>diaria</a:t>
            </a:r>
            <a:r>
              <a:rPr lang="en-US" dirty="0">
                <a:highlight>
                  <a:schemeClr val="lt1"/>
                </a:highlight>
              </a:rPr>
              <a:t>: </a:t>
            </a:r>
            <a:r>
              <a:rPr lang="en-US" dirty="0" err="1">
                <a:highlight>
                  <a:schemeClr val="lt1"/>
                </a:highlight>
              </a:rPr>
              <a:t>tiene</a:t>
            </a:r>
            <a:r>
              <a:rPr lang="en-US" dirty="0">
                <a:highlight>
                  <a:schemeClr val="lt1"/>
                </a:highlight>
              </a:rPr>
              <a:t> </a:t>
            </a:r>
            <a:r>
              <a:rPr lang="en-US" dirty="0" err="1">
                <a:highlight>
                  <a:schemeClr val="lt1"/>
                </a:highlight>
              </a:rPr>
              <a:t>una</a:t>
            </a:r>
            <a:r>
              <a:rPr lang="en-US" dirty="0">
                <a:highlight>
                  <a:schemeClr val="lt1"/>
                </a:highlight>
              </a:rPr>
              <a:t> </a:t>
            </a:r>
            <a:r>
              <a:rPr lang="en-US" dirty="0" err="1">
                <a:highlight>
                  <a:schemeClr val="lt1"/>
                </a:highlight>
              </a:rPr>
              <a:t>duración</a:t>
            </a:r>
            <a:r>
              <a:rPr lang="en-US" dirty="0">
                <a:highlight>
                  <a:schemeClr val="lt1"/>
                </a:highlight>
              </a:rPr>
              <a:t> de 15 </a:t>
            </a:r>
            <a:r>
              <a:rPr lang="en-US" dirty="0" err="1">
                <a:highlight>
                  <a:schemeClr val="lt1"/>
                </a:highlight>
              </a:rPr>
              <a:t>minutos</a:t>
            </a:r>
            <a:r>
              <a:rPr lang="en-US" dirty="0">
                <a:highlight>
                  <a:schemeClr val="lt1"/>
                </a:highlight>
              </a:rPr>
              <a:t> y </a:t>
            </a:r>
            <a:r>
              <a:rPr lang="en-US" dirty="0" err="1">
                <a:highlight>
                  <a:schemeClr val="lt1"/>
                </a:highlight>
              </a:rPr>
              <a:t>sirve</a:t>
            </a:r>
            <a:r>
              <a:rPr lang="en-US" dirty="0">
                <a:highlight>
                  <a:schemeClr val="lt1"/>
                </a:highlight>
              </a:rPr>
              <a:t> para </a:t>
            </a:r>
            <a:r>
              <a:rPr lang="en-US" dirty="0" err="1">
                <a:highlight>
                  <a:schemeClr val="lt1"/>
                </a:highlight>
              </a:rPr>
              <a:t>inspeccionar</a:t>
            </a:r>
            <a:r>
              <a:rPr lang="en-US" dirty="0">
                <a:highlight>
                  <a:schemeClr val="lt1"/>
                </a:highlight>
              </a:rPr>
              <a:t> </a:t>
            </a:r>
            <a:r>
              <a:rPr lang="en-US" dirty="0" err="1">
                <a:highlight>
                  <a:schemeClr val="lt1"/>
                </a:highlight>
              </a:rPr>
              <a:t>el</a:t>
            </a:r>
            <a:r>
              <a:rPr lang="en-US" dirty="0">
                <a:highlight>
                  <a:schemeClr val="lt1"/>
                </a:highlight>
              </a:rPr>
              <a:t> </a:t>
            </a:r>
            <a:r>
              <a:rPr lang="en-US" dirty="0" err="1">
                <a:highlight>
                  <a:schemeClr val="lt1"/>
                </a:highlight>
              </a:rPr>
              <a:t>progreso</a:t>
            </a:r>
            <a:r>
              <a:rPr lang="en-US" dirty="0">
                <a:highlight>
                  <a:schemeClr val="lt1"/>
                </a:highlight>
              </a:rPr>
              <a:t> </a:t>
            </a:r>
            <a:r>
              <a:rPr lang="en-US" dirty="0" err="1">
                <a:highlight>
                  <a:schemeClr val="lt1"/>
                </a:highlight>
              </a:rPr>
              <a:t>hacia</a:t>
            </a:r>
            <a:r>
              <a:rPr lang="en-US" dirty="0">
                <a:highlight>
                  <a:schemeClr val="lt1"/>
                </a:highlight>
              </a:rPr>
              <a:t> </a:t>
            </a:r>
            <a:r>
              <a:rPr lang="en-US" dirty="0" err="1">
                <a:highlight>
                  <a:schemeClr val="lt1"/>
                </a:highlight>
              </a:rPr>
              <a:t>el</a:t>
            </a:r>
            <a:r>
              <a:rPr lang="en-US" dirty="0">
                <a:highlight>
                  <a:schemeClr val="lt1"/>
                </a:highlight>
              </a:rPr>
              <a:t> </a:t>
            </a:r>
            <a:r>
              <a:rPr lang="en-US" dirty="0" err="1">
                <a:highlight>
                  <a:schemeClr val="lt1"/>
                </a:highlight>
              </a:rPr>
              <a:t>objetivo</a:t>
            </a:r>
            <a:r>
              <a:rPr lang="en-US" dirty="0">
                <a:highlight>
                  <a:schemeClr val="lt1"/>
                </a:highlight>
              </a:rPr>
              <a:t> del </a:t>
            </a:r>
            <a:r>
              <a:rPr lang="en-US" b="1" dirty="0">
                <a:highlight>
                  <a:schemeClr val="lt1"/>
                </a:highlight>
              </a:rPr>
              <a:t>Sprint </a:t>
            </a:r>
            <a:r>
              <a:rPr lang="en-US" dirty="0">
                <a:highlight>
                  <a:schemeClr val="lt1"/>
                </a:highlight>
              </a:rPr>
              <a:t>y </a:t>
            </a:r>
            <a:r>
              <a:rPr lang="en-US" dirty="0" err="1">
                <a:highlight>
                  <a:schemeClr val="lt1"/>
                </a:highlight>
              </a:rPr>
              <a:t>adaptar</a:t>
            </a:r>
            <a:r>
              <a:rPr lang="en-US" dirty="0">
                <a:highlight>
                  <a:schemeClr val="lt1"/>
                </a:highlight>
              </a:rPr>
              <a:t> </a:t>
            </a:r>
            <a:r>
              <a:rPr lang="en-US" dirty="0" err="1">
                <a:highlight>
                  <a:schemeClr val="lt1"/>
                </a:highlight>
              </a:rPr>
              <a:t>el</a:t>
            </a:r>
            <a:r>
              <a:rPr lang="en-US" dirty="0">
                <a:highlight>
                  <a:schemeClr val="lt1"/>
                </a:highlight>
              </a:rPr>
              <a:t> </a:t>
            </a:r>
            <a:r>
              <a:rPr lang="en-US" b="1" dirty="0">
                <a:highlight>
                  <a:schemeClr val="lt1"/>
                </a:highlight>
              </a:rPr>
              <a:t>Sprint Backlog</a:t>
            </a:r>
            <a:r>
              <a:rPr lang="en-US" dirty="0">
                <a:highlight>
                  <a:schemeClr val="lt1"/>
                </a:highlight>
              </a:rPr>
              <a:t> de ser </a:t>
            </a:r>
            <a:r>
              <a:rPr lang="en-US" dirty="0" err="1">
                <a:highlight>
                  <a:schemeClr val="lt1"/>
                </a:highlight>
              </a:rPr>
              <a:t>necesario</a:t>
            </a:r>
            <a:r>
              <a:rPr lang="en-US" dirty="0">
                <a:highlight>
                  <a:schemeClr val="lt1"/>
                </a:highlight>
              </a:rPr>
              <a:t>. Se </a:t>
            </a:r>
            <a:r>
              <a:rPr lang="en-US" dirty="0" err="1">
                <a:highlight>
                  <a:schemeClr val="lt1"/>
                </a:highlight>
              </a:rPr>
              <a:t>busca</a:t>
            </a:r>
            <a:r>
              <a:rPr lang="en-US" dirty="0">
                <a:highlight>
                  <a:schemeClr val="lt1"/>
                </a:highlight>
              </a:rPr>
              <a:t> la </a:t>
            </a:r>
            <a:r>
              <a:rPr lang="en-US" dirty="0" err="1">
                <a:highlight>
                  <a:schemeClr val="lt1"/>
                </a:highlight>
              </a:rPr>
              <a:t>sincronización</a:t>
            </a:r>
            <a:r>
              <a:rPr lang="en-US" dirty="0">
                <a:highlight>
                  <a:schemeClr val="lt1"/>
                </a:highlight>
              </a:rPr>
              <a:t> del </a:t>
            </a:r>
            <a:r>
              <a:rPr lang="en-US" dirty="0" err="1">
                <a:highlight>
                  <a:schemeClr val="lt1"/>
                </a:highlight>
              </a:rPr>
              <a:t>equipo</a:t>
            </a:r>
            <a:r>
              <a:rPr lang="en-US" dirty="0">
                <a:highlight>
                  <a:schemeClr val="lt1"/>
                </a:highlight>
              </a:rPr>
              <a:t> bajo las </a:t>
            </a:r>
            <a:r>
              <a:rPr lang="en-US" dirty="0" err="1">
                <a:highlight>
                  <a:schemeClr val="lt1"/>
                </a:highlight>
              </a:rPr>
              <a:t>preguntas</a:t>
            </a:r>
            <a:r>
              <a:rPr lang="en-US" dirty="0">
                <a:highlight>
                  <a:schemeClr val="lt1"/>
                </a:highlight>
              </a:rPr>
              <a:t>: “¿</a:t>
            </a:r>
            <a:r>
              <a:rPr lang="en-US" dirty="0" err="1">
                <a:highlight>
                  <a:schemeClr val="lt1"/>
                </a:highlight>
              </a:rPr>
              <a:t>Qué</a:t>
            </a:r>
            <a:r>
              <a:rPr lang="en-US" dirty="0">
                <a:highlight>
                  <a:schemeClr val="lt1"/>
                </a:highlight>
              </a:rPr>
              <a:t> </a:t>
            </a:r>
            <a:r>
              <a:rPr lang="en-US" dirty="0" err="1">
                <a:highlight>
                  <a:schemeClr val="lt1"/>
                </a:highlight>
              </a:rPr>
              <a:t>necesito</a:t>
            </a:r>
            <a:r>
              <a:rPr lang="en-US" dirty="0">
                <a:highlight>
                  <a:schemeClr val="lt1"/>
                </a:highlight>
              </a:rPr>
              <a:t>?” y “¿En </a:t>
            </a:r>
            <a:r>
              <a:rPr lang="en-US" dirty="0" err="1">
                <a:highlight>
                  <a:schemeClr val="lt1"/>
                </a:highlight>
              </a:rPr>
              <a:t>qué</a:t>
            </a:r>
            <a:r>
              <a:rPr lang="en-US" dirty="0">
                <a:highlight>
                  <a:schemeClr val="lt1"/>
                </a:highlight>
              </a:rPr>
              <a:t> </a:t>
            </a:r>
            <a:r>
              <a:rPr lang="en-US" dirty="0" err="1">
                <a:highlight>
                  <a:schemeClr val="lt1"/>
                </a:highlight>
              </a:rPr>
              <a:t>puedo</a:t>
            </a:r>
            <a:r>
              <a:rPr lang="en-US" dirty="0">
                <a:highlight>
                  <a:schemeClr val="lt1"/>
                </a:highlight>
              </a:rPr>
              <a:t> </a:t>
            </a:r>
            <a:r>
              <a:rPr lang="en-US" dirty="0" err="1">
                <a:highlight>
                  <a:schemeClr val="lt1"/>
                </a:highlight>
              </a:rPr>
              <a:t>ayudarte</a:t>
            </a:r>
            <a:r>
              <a:rPr lang="en-US" dirty="0">
                <a:highlight>
                  <a:schemeClr val="lt1"/>
                </a:highlight>
              </a:rPr>
              <a:t>?”.</a:t>
            </a:r>
            <a:endParaRPr dirty="0">
              <a:highlight>
                <a:schemeClr val="lt1"/>
              </a:highlight>
            </a:endParaRPr>
          </a:p>
          <a:p>
            <a:pPr marL="0" lvl="0" indent="0" algn="l" rtl="0">
              <a:lnSpc>
                <a:spcPct val="100000"/>
              </a:lnSpc>
              <a:spcBef>
                <a:spcPts val="0"/>
              </a:spcBef>
              <a:spcAft>
                <a:spcPts val="0"/>
              </a:spcAft>
              <a:buSzPts val="1400"/>
              <a:buNone/>
            </a:pPr>
            <a:r>
              <a:rPr lang="en-US" b="1" u="sng" dirty="0">
                <a:highlight>
                  <a:schemeClr val="lt1"/>
                </a:highlight>
              </a:rPr>
              <a:t>Sprint Review/ </a:t>
            </a:r>
            <a:r>
              <a:rPr lang="en-US" b="1" u="sng" dirty="0" err="1">
                <a:highlight>
                  <a:schemeClr val="lt1"/>
                </a:highlight>
              </a:rPr>
              <a:t>Reunión</a:t>
            </a:r>
            <a:r>
              <a:rPr lang="en-US" b="1" u="sng" dirty="0">
                <a:highlight>
                  <a:schemeClr val="lt1"/>
                </a:highlight>
              </a:rPr>
              <a:t> de </a:t>
            </a:r>
            <a:r>
              <a:rPr lang="en-US" b="1" u="sng" dirty="0" err="1">
                <a:highlight>
                  <a:schemeClr val="lt1"/>
                </a:highlight>
              </a:rPr>
              <a:t>revisión</a:t>
            </a:r>
            <a:r>
              <a:rPr lang="en-US" dirty="0" err="1">
                <a:highlight>
                  <a:schemeClr val="lt1"/>
                </a:highlight>
              </a:rPr>
              <a:t>:es</a:t>
            </a:r>
            <a:r>
              <a:rPr lang="en-US" dirty="0">
                <a:highlight>
                  <a:schemeClr val="lt1"/>
                </a:highlight>
              </a:rPr>
              <a:t> </a:t>
            </a:r>
            <a:r>
              <a:rPr lang="en-US" dirty="0" err="1">
                <a:highlight>
                  <a:schemeClr val="lt1"/>
                </a:highlight>
              </a:rPr>
              <a:t>una</a:t>
            </a:r>
            <a:r>
              <a:rPr lang="en-US" dirty="0">
                <a:highlight>
                  <a:schemeClr val="lt1"/>
                </a:highlight>
              </a:rPr>
              <a:t> </a:t>
            </a:r>
            <a:r>
              <a:rPr lang="en-US" dirty="0" err="1">
                <a:highlight>
                  <a:schemeClr val="lt1"/>
                </a:highlight>
              </a:rPr>
              <a:t>reunión</a:t>
            </a:r>
            <a:r>
              <a:rPr lang="en-US" dirty="0">
                <a:highlight>
                  <a:schemeClr val="lt1"/>
                </a:highlight>
              </a:rPr>
              <a:t> informal a la que </a:t>
            </a:r>
            <a:r>
              <a:rPr lang="en-US" dirty="0" err="1">
                <a:highlight>
                  <a:schemeClr val="lt1"/>
                </a:highlight>
              </a:rPr>
              <a:t>asiste</a:t>
            </a:r>
            <a:r>
              <a:rPr lang="en-US" dirty="0">
                <a:highlight>
                  <a:schemeClr val="lt1"/>
                </a:highlight>
              </a:rPr>
              <a:t> </a:t>
            </a:r>
            <a:r>
              <a:rPr lang="en-US" dirty="0" err="1">
                <a:highlight>
                  <a:schemeClr val="lt1"/>
                </a:highlight>
              </a:rPr>
              <a:t>el</a:t>
            </a:r>
            <a:r>
              <a:rPr lang="en-US" dirty="0">
                <a:highlight>
                  <a:schemeClr val="lt1"/>
                </a:highlight>
              </a:rPr>
              <a:t> </a:t>
            </a:r>
            <a:r>
              <a:rPr lang="en-US" dirty="0" err="1">
                <a:highlight>
                  <a:schemeClr val="lt1"/>
                </a:highlight>
              </a:rPr>
              <a:t>equipo</a:t>
            </a:r>
            <a:r>
              <a:rPr lang="en-US" dirty="0">
                <a:highlight>
                  <a:schemeClr val="lt1"/>
                </a:highlight>
              </a:rPr>
              <a:t> </a:t>
            </a:r>
            <a:r>
              <a:rPr lang="en-US" b="1" dirty="0">
                <a:highlight>
                  <a:schemeClr val="lt1"/>
                </a:highlight>
              </a:rPr>
              <a:t>Scrum</a:t>
            </a:r>
            <a:r>
              <a:rPr lang="en-US" dirty="0">
                <a:highlight>
                  <a:schemeClr val="lt1"/>
                </a:highlight>
              </a:rPr>
              <a:t> con </a:t>
            </a:r>
            <a:r>
              <a:rPr lang="en-US" dirty="0" err="1">
                <a:highlight>
                  <a:schemeClr val="lt1"/>
                </a:highlight>
              </a:rPr>
              <a:t>el</a:t>
            </a:r>
            <a:r>
              <a:rPr lang="en-US" dirty="0">
                <a:highlight>
                  <a:schemeClr val="lt1"/>
                </a:highlight>
              </a:rPr>
              <a:t> </a:t>
            </a:r>
            <a:r>
              <a:rPr lang="en-US" dirty="0" err="1">
                <a:highlight>
                  <a:schemeClr val="lt1"/>
                </a:highlight>
              </a:rPr>
              <a:t>objetivo</a:t>
            </a:r>
            <a:r>
              <a:rPr lang="en-US" dirty="0">
                <a:highlight>
                  <a:schemeClr val="lt1"/>
                </a:highlight>
              </a:rPr>
              <a:t> de </a:t>
            </a:r>
            <a:r>
              <a:rPr lang="en-US" dirty="0" err="1">
                <a:highlight>
                  <a:schemeClr val="lt1"/>
                </a:highlight>
              </a:rPr>
              <a:t>ofrecer</a:t>
            </a:r>
            <a:r>
              <a:rPr lang="en-US" dirty="0">
                <a:highlight>
                  <a:schemeClr val="lt1"/>
                </a:highlight>
              </a:rPr>
              <a:t> </a:t>
            </a:r>
            <a:r>
              <a:rPr lang="en-US" dirty="0" err="1">
                <a:highlight>
                  <a:schemeClr val="lt1"/>
                </a:highlight>
              </a:rPr>
              <a:t>una</a:t>
            </a:r>
            <a:r>
              <a:rPr lang="en-US" dirty="0">
                <a:highlight>
                  <a:schemeClr val="lt1"/>
                </a:highlight>
              </a:rPr>
              <a:t> </a:t>
            </a:r>
            <a:r>
              <a:rPr lang="en-US" dirty="0" err="1">
                <a:highlight>
                  <a:schemeClr val="lt1"/>
                </a:highlight>
              </a:rPr>
              <a:t>demostración</a:t>
            </a:r>
            <a:r>
              <a:rPr lang="en-US" dirty="0">
                <a:highlight>
                  <a:schemeClr val="lt1"/>
                </a:highlight>
              </a:rPr>
              <a:t> del </a:t>
            </a:r>
            <a:r>
              <a:rPr lang="en-US" dirty="0" err="1">
                <a:highlight>
                  <a:schemeClr val="lt1"/>
                </a:highlight>
              </a:rPr>
              <a:t>prototipo</a:t>
            </a:r>
            <a:r>
              <a:rPr lang="en-US" dirty="0">
                <a:highlight>
                  <a:schemeClr val="lt1"/>
                </a:highlight>
              </a:rPr>
              <a:t> del </a:t>
            </a:r>
            <a:r>
              <a:rPr lang="en-US" dirty="0" err="1">
                <a:highlight>
                  <a:schemeClr val="lt1"/>
                </a:highlight>
              </a:rPr>
              <a:t>producto</a:t>
            </a:r>
            <a:r>
              <a:rPr lang="en-US" dirty="0">
                <a:highlight>
                  <a:schemeClr val="lt1"/>
                </a:highlight>
              </a:rPr>
              <a:t> y </a:t>
            </a:r>
            <a:r>
              <a:rPr lang="en-US" dirty="0" err="1">
                <a:highlight>
                  <a:schemeClr val="lt1"/>
                </a:highlight>
              </a:rPr>
              <a:t>determinar</a:t>
            </a:r>
            <a:r>
              <a:rPr lang="en-US" dirty="0">
                <a:highlight>
                  <a:schemeClr val="lt1"/>
                </a:highlight>
              </a:rPr>
              <a:t> </a:t>
            </a:r>
            <a:r>
              <a:rPr lang="en-US" dirty="0" err="1">
                <a:highlight>
                  <a:schemeClr val="lt1"/>
                </a:highlight>
              </a:rPr>
              <a:t>qué</a:t>
            </a:r>
            <a:r>
              <a:rPr lang="en-US" dirty="0">
                <a:highlight>
                  <a:schemeClr val="lt1"/>
                </a:highlight>
              </a:rPr>
              <a:t> </a:t>
            </a:r>
            <a:r>
              <a:rPr lang="en-US" dirty="0" err="1">
                <a:highlight>
                  <a:schemeClr val="lt1"/>
                </a:highlight>
              </a:rPr>
              <a:t>pendientes</a:t>
            </a:r>
            <a:r>
              <a:rPr lang="en-US" dirty="0">
                <a:highlight>
                  <a:schemeClr val="lt1"/>
                </a:highlight>
              </a:rPr>
              <a:t> </a:t>
            </a:r>
            <a:r>
              <a:rPr lang="en-US" dirty="0" err="1">
                <a:highlight>
                  <a:schemeClr val="lt1"/>
                </a:highlight>
              </a:rPr>
              <a:t>fueron</a:t>
            </a:r>
            <a:r>
              <a:rPr lang="en-US" dirty="0">
                <a:highlight>
                  <a:schemeClr val="lt1"/>
                </a:highlight>
              </a:rPr>
              <a:t> </a:t>
            </a:r>
            <a:r>
              <a:rPr lang="en-US" dirty="0" err="1">
                <a:highlight>
                  <a:schemeClr val="lt1"/>
                </a:highlight>
              </a:rPr>
              <a:t>terminados</a:t>
            </a:r>
            <a:r>
              <a:rPr lang="en-US" dirty="0">
                <a:highlight>
                  <a:schemeClr val="lt1"/>
                </a:highlight>
              </a:rPr>
              <a:t> y </a:t>
            </a:r>
            <a:r>
              <a:rPr lang="en-US" dirty="0" err="1">
                <a:highlight>
                  <a:schemeClr val="lt1"/>
                </a:highlight>
              </a:rPr>
              <a:t>cuáles</a:t>
            </a:r>
            <a:r>
              <a:rPr lang="en-US" dirty="0">
                <a:highlight>
                  <a:schemeClr val="lt1"/>
                </a:highlight>
              </a:rPr>
              <a:t> no </a:t>
            </a:r>
            <a:r>
              <a:rPr lang="en-US" i="1" dirty="0">
                <a:highlight>
                  <a:schemeClr val="lt1"/>
                </a:highlight>
              </a:rPr>
              <a:t>(</a:t>
            </a:r>
            <a:r>
              <a:rPr lang="en-US" i="1" dirty="0" err="1">
                <a:highlight>
                  <a:schemeClr val="lt1"/>
                </a:highlight>
              </a:rPr>
              <a:t>foco</a:t>
            </a:r>
            <a:r>
              <a:rPr lang="en-US" i="1" dirty="0">
                <a:highlight>
                  <a:schemeClr val="lt1"/>
                </a:highlight>
              </a:rPr>
              <a:t> </a:t>
            </a:r>
            <a:r>
              <a:rPr lang="en-US" i="1" dirty="0" err="1">
                <a:highlight>
                  <a:schemeClr val="lt1"/>
                </a:highlight>
              </a:rPr>
              <a:t>en</a:t>
            </a:r>
            <a:r>
              <a:rPr lang="en-US" i="1" dirty="0">
                <a:highlight>
                  <a:schemeClr val="lt1"/>
                </a:highlight>
              </a:rPr>
              <a:t> </a:t>
            </a:r>
            <a:r>
              <a:rPr lang="en-US" i="1" dirty="0" err="1">
                <a:highlight>
                  <a:schemeClr val="lt1"/>
                </a:highlight>
              </a:rPr>
              <a:t>el</a:t>
            </a:r>
            <a:r>
              <a:rPr lang="en-US" i="1" dirty="0">
                <a:highlight>
                  <a:schemeClr val="lt1"/>
                </a:highlight>
              </a:rPr>
              <a:t> </a:t>
            </a:r>
            <a:r>
              <a:rPr lang="en-US" i="1" dirty="0" err="1">
                <a:highlight>
                  <a:schemeClr val="lt1"/>
                </a:highlight>
              </a:rPr>
              <a:t>producto</a:t>
            </a:r>
            <a:r>
              <a:rPr lang="en-US" i="1" dirty="0">
                <a:highlight>
                  <a:schemeClr val="lt1"/>
                </a:highlight>
              </a:rPr>
              <a:t>)</a:t>
            </a:r>
            <a:endParaRPr i="1" dirty="0">
              <a:highlight>
                <a:schemeClr val="lt1"/>
              </a:highlight>
            </a:endParaRPr>
          </a:p>
          <a:p>
            <a:pPr marL="0" lvl="0" indent="0" algn="l" rtl="0">
              <a:lnSpc>
                <a:spcPct val="100000"/>
              </a:lnSpc>
              <a:spcBef>
                <a:spcPts val="0"/>
              </a:spcBef>
              <a:spcAft>
                <a:spcPts val="0"/>
              </a:spcAft>
              <a:buSzPts val="1400"/>
              <a:buNone/>
            </a:pPr>
            <a:r>
              <a:rPr lang="en-US" b="1" u="sng" dirty="0">
                <a:highlight>
                  <a:schemeClr val="lt1"/>
                </a:highlight>
              </a:rPr>
              <a:t>Retro/ </a:t>
            </a:r>
            <a:r>
              <a:rPr lang="en-US" b="1" u="sng" dirty="0" err="1">
                <a:highlight>
                  <a:schemeClr val="lt1"/>
                </a:highlight>
              </a:rPr>
              <a:t>Reunión</a:t>
            </a:r>
            <a:r>
              <a:rPr lang="en-US" b="1" u="sng" dirty="0">
                <a:highlight>
                  <a:schemeClr val="lt1"/>
                </a:highlight>
              </a:rPr>
              <a:t> de </a:t>
            </a:r>
            <a:r>
              <a:rPr lang="en-US" b="1" u="sng" dirty="0" err="1">
                <a:highlight>
                  <a:schemeClr val="lt1"/>
                </a:highlight>
              </a:rPr>
              <a:t>Retrospectiva</a:t>
            </a:r>
            <a:r>
              <a:rPr lang="en-US" dirty="0">
                <a:highlight>
                  <a:schemeClr val="lt1"/>
                </a:highlight>
              </a:rPr>
              <a:t>: es la </a:t>
            </a:r>
            <a:r>
              <a:rPr lang="en-US" dirty="0" err="1">
                <a:highlight>
                  <a:schemeClr val="lt1"/>
                </a:highlight>
              </a:rPr>
              <a:t>práctica</a:t>
            </a:r>
            <a:r>
              <a:rPr lang="en-US" dirty="0">
                <a:highlight>
                  <a:schemeClr val="lt1"/>
                </a:highlight>
              </a:rPr>
              <a:t> </a:t>
            </a:r>
            <a:r>
              <a:rPr lang="en-US" dirty="0" err="1">
                <a:highlight>
                  <a:schemeClr val="lt1"/>
                </a:highlight>
              </a:rPr>
              <a:t>en</a:t>
            </a:r>
            <a:r>
              <a:rPr lang="en-US" dirty="0">
                <a:highlight>
                  <a:schemeClr val="lt1"/>
                </a:highlight>
              </a:rPr>
              <a:t> la que </a:t>
            </a:r>
            <a:r>
              <a:rPr lang="en-US" dirty="0" err="1">
                <a:highlight>
                  <a:schemeClr val="lt1"/>
                </a:highlight>
              </a:rPr>
              <a:t>los</a:t>
            </a:r>
            <a:r>
              <a:rPr lang="en-US" dirty="0">
                <a:highlight>
                  <a:schemeClr val="lt1"/>
                </a:highlight>
              </a:rPr>
              <a:t> </a:t>
            </a:r>
            <a:r>
              <a:rPr lang="en-US" dirty="0" err="1">
                <a:highlight>
                  <a:schemeClr val="lt1"/>
                </a:highlight>
              </a:rPr>
              <a:t>equipos</a:t>
            </a:r>
            <a:r>
              <a:rPr lang="en-US" dirty="0">
                <a:highlight>
                  <a:schemeClr val="lt1"/>
                </a:highlight>
              </a:rPr>
              <a:t> </a:t>
            </a:r>
            <a:r>
              <a:rPr lang="en-US" dirty="0" err="1">
                <a:highlight>
                  <a:schemeClr val="lt1"/>
                </a:highlight>
              </a:rPr>
              <a:t>reflexionan</a:t>
            </a:r>
            <a:r>
              <a:rPr lang="en-US" dirty="0">
                <a:highlight>
                  <a:schemeClr val="lt1"/>
                </a:highlight>
              </a:rPr>
              <a:t> </a:t>
            </a:r>
            <a:r>
              <a:rPr lang="en-US" dirty="0" err="1">
                <a:highlight>
                  <a:schemeClr val="lt1"/>
                </a:highlight>
              </a:rPr>
              <a:t>sobre</a:t>
            </a:r>
            <a:r>
              <a:rPr lang="en-US" dirty="0">
                <a:highlight>
                  <a:schemeClr val="lt1"/>
                </a:highlight>
              </a:rPr>
              <a:t> </a:t>
            </a:r>
            <a:r>
              <a:rPr lang="en-US" dirty="0" err="1">
                <a:highlight>
                  <a:schemeClr val="lt1"/>
                </a:highlight>
              </a:rPr>
              <a:t>su</a:t>
            </a:r>
            <a:r>
              <a:rPr lang="en-US" dirty="0">
                <a:highlight>
                  <a:schemeClr val="lt1"/>
                </a:highlight>
              </a:rPr>
              <a:t> forma de </a:t>
            </a:r>
            <a:r>
              <a:rPr lang="en-US" dirty="0" err="1">
                <a:highlight>
                  <a:schemeClr val="lt1"/>
                </a:highlight>
              </a:rPr>
              <a:t>trabajar</a:t>
            </a:r>
            <a:r>
              <a:rPr lang="en-US" dirty="0">
                <a:highlight>
                  <a:schemeClr val="lt1"/>
                </a:highlight>
              </a:rPr>
              <a:t> para </a:t>
            </a:r>
            <a:r>
              <a:rPr lang="en-US" dirty="0" err="1">
                <a:highlight>
                  <a:schemeClr val="lt1"/>
                </a:highlight>
              </a:rPr>
              <a:t>promover</a:t>
            </a:r>
            <a:r>
              <a:rPr lang="en-US" dirty="0">
                <a:highlight>
                  <a:schemeClr val="lt1"/>
                </a:highlight>
              </a:rPr>
              <a:t> </a:t>
            </a:r>
            <a:r>
              <a:rPr lang="en-US" dirty="0" err="1">
                <a:highlight>
                  <a:schemeClr val="lt1"/>
                </a:highlight>
              </a:rPr>
              <a:t>una</a:t>
            </a:r>
            <a:r>
              <a:rPr lang="en-US" dirty="0">
                <a:highlight>
                  <a:schemeClr val="lt1"/>
                </a:highlight>
              </a:rPr>
              <a:t> </a:t>
            </a:r>
            <a:r>
              <a:rPr lang="en-US" dirty="0" err="1">
                <a:highlight>
                  <a:schemeClr val="lt1"/>
                </a:highlight>
              </a:rPr>
              <a:t>mejora</a:t>
            </a:r>
            <a:r>
              <a:rPr lang="en-US" dirty="0">
                <a:highlight>
                  <a:schemeClr val="lt1"/>
                </a:highlight>
              </a:rPr>
              <a:t> continua </a:t>
            </a:r>
            <a:r>
              <a:rPr lang="en-US" dirty="0" err="1">
                <a:highlight>
                  <a:schemeClr val="lt1"/>
                </a:highlight>
              </a:rPr>
              <a:t>en</a:t>
            </a:r>
            <a:r>
              <a:rPr lang="en-US" dirty="0">
                <a:highlight>
                  <a:schemeClr val="lt1"/>
                </a:highlight>
              </a:rPr>
              <a:t> lo que </a:t>
            </a:r>
            <a:r>
              <a:rPr lang="en-US" dirty="0" err="1">
                <a:highlight>
                  <a:schemeClr val="lt1"/>
                </a:highlight>
              </a:rPr>
              <a:t>hacen</a:t>
            </a:r>
            <a:r>
              <a:rPr lang="en-US" dirty="0">
                <a:highlight>
                  <a:schemeClr val="lt1"/>
                </a:highlight>
              </a:rPr>
              <a:t> </a:t>
            </a:r>
            <a:r>
              <a:rPr lang="en-US" i="1" dirty="0">
                <a:highlight>
                  <a:schemeClr val="lt1"/>
                </a:highlight>
              </a:rPr>
              <a:t>(</a:t>
            </a:r>
            <a:r>
              <a:rPr lang="en-US" i="1" dirty="0" err="1">
                <a:highlight>
                  <a:schemeClr val="lt1"/>
                </a:highlight>
              </a:rPr>
              <a:t>foco</a:t>
            </a:r>
            <a:r>
              <a:rPr lang="en-US" i="1" dirty="0">
                <a:highlight>
                  <a:schemeClr val="lt1"/>
                </a:highlight>
              </a:rPr>
              <a:t> </a:t>
            </a:r>
            <a:r>
              <a:rPr lang="en-US" i="1" dirty="0" err="1">
                <a:highlight>
                  <a:schemeClr val="lt1"/>
                </a:highlight>
              </a:rPr>
              <a:t>en</a:t>
            </a:r>
            <a:r>
              <a:rPr lang="en-US" i="1" dirty="0">
                <a:highlight>
                  <a:schemeClr val="lt1"/>
                </a:highlight>
              </a:rPr>
              <a:t> </a:t>
            </a:r>
            <a:r>
              <a:rPr lang="en-US" i="1" dirty="0" err="1">
                <a:highlight>
                  <a:schemeClr val="lt1"/>
                </a:highlight>
              </a:rPr>
              <a:t>el</a:t>
            </a:r>
            <a:r>
              <a:rPr lang="en-US" i="1" dirty="0">
                <a:highlight>
                  <a:schemeClr val="lt1"/>
                </a:highlight>
              </a:rPr>
              <a:t> </a:t>
            </a:r>
            <a:r>
              <a:rPr lang="en-US" i="1" dirty="0" err="1">
                <a:highlight>
                  <a:schemeClr val="lt1"/>
                </a:highlight>
              </a:rPr>
              <a:t>equipo</a:t>
            </a:r>
            <a:r>
              <a:rPr lang="en-US" i="1" dirty="0">
                <a:highlight>
                  <a:schemeClr val="lt1"/>
                </a:highlight>
              </a:rPr>
              <a:t>)</a:t>
            </a:r>
            <a:endParaRPr dirty="0">
              <a:highlight>
                <a:schemeClr val="lt1"/>
              </a:highlight>
            </a:endParaRPr>
          </a:p>
        </p:txBody>
      </p:sp>
      <p:sp>
        <p:nvSpPr>
          <p:cNvPr id="324" name="Google Shape;324;g121e7910631_0_44: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21e7910631_0_55: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g121e7910631_0_55: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121e7910631_0_352: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2" name="Google Shape;352;g121e7910631_0_352: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121e7910631_0_849: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MX" b="0" i="0" dirty="0">
                <a:solidFill>
                  <a:srgbClr val="1F1F1F"/>
                </a:solidFill>
                <a:effectLst/>
                <a:highlight>
                  <a:srgbClr val="FFFFFF"/>
                </a:highlight>
                <a:latin typeface="Google Sans"/>
              </a:rPr>
              <a:t> </a:t>
            </a:r>
            <a:r>
              <a:rPr lang="es-MX" b="0" i="0" dirty="0">
                <a:solidFill>
                  <a:srgbClr val="040C28"/>
                </a:solidFill>
                <a:effectLst/>
                <a:highlight>
                  <a:srgbClr val="D3E3FD"/>
                </a:highlight>
                <a:latin typeface="Google Sans"/>
              </a:rPr>
              <a:t>metodología de análisis estratégico utilizada para identificar y evaluar los puntos fuertes, débiles, oportunidades y amenazas de la empresa</a:t>
            </a:r>
            <a:r>
              <a:rPr lang="es-MX" b="0" i="0" dirty="0">
                <a:solidFill>
                  <a:srgbClr val="1F1F1F"/>
                </a:solidFill>
                <a:effectLst/>
                <a:highlight>
                  <a:srgbClr val="FFFFFF"/>
                </a:highlight>
                <a:latin typeface="Google Sans"/>
              </a:rPr>
              <a:t>. El</a:t>
            </a:r>
            <a:endParaRPr dirty="0"/>
          </a:p>
        </p:txBody>
      </p:sp>
      <p:sp>
        <p:nvSpPr>
          <p:cNvPr id="371" name="Google Shape;371;g121e7910631_0_849: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121e7910631_0_867: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g121e7910631_0_867: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123d31d1acb_0_12: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g123d31d1acb_0_12: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121e7910631_0_881: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g121e7910631_0_881: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3: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13:notes"/>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14" name="Google Shape;414;p13:notes"/>
          <p:cNvSpPr txBox="1">
            <a:spLocks noGrp="1"/>
          </p:cNvSpPr>
          <p:nvPr>
            <p:ph type="ftr" idx="11"/>
          </p:nvPr>
        </p:nvSpPr>
        <p:spPr>
          <a:xfrm>
            <a:off x="0" y="9478342"/>
            <a:ext cx="2961481" cy="498951"/>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415" name="Google Shape;415;p13:notes"/>
          <p:cNvSpPr txBox="1">
            <a:spLocks noGrp="1"/>
          </p:cNvSpPr>
          <p:nvPr>
            <p:ph type="sldNum" idx="12"/>
          </p:nvPr>
        </p:nvSpPr>
        <p:spPr>
          <a:xfrm>
            <a:off x="3871125" y="9478342"/>
            <a:ext cx="2961481" cy="498951"/>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4: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7" name="Google Shape;427;p14:notes"/>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28" name="Google Shape;428;p14:notes"/>
          <p:cNvSpPr txBox="1">
            <a:spLocks noGrp="1"/>
          </p:cNvSpPr>
          <p:nvPr>
            <p:ph type="ftr" idx="11"/>
          </p:nvPr>
        </p:nvSpPr>
        <p:spPr>
          <a:xfrm>
            <a:off x="0" y="9478342"/>
            <a:ext cx="2961481" cy="498951"/>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429" name="Google Shape;429;p14:notes"/>
          <p:cNvSpPr txBox="1">
            <a:spLocks noGrp="1"/>
          </p:cNvSpPr>
          <p:nvPr>
            <p:ph type="sldNum" idx="12"/>
          </p:nvPr>
        </p:nvSpPr>
        <p:spPr>
          <a:xfrm>
            <a:off x="3871125" y="9478342"/>
            <a:ext cx="2961481" cy="498951"/>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5:notes"/>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7" name="Google Shape;437;p15: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7: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 name="Google Shape;468;p17:notes"/>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69" name="Google Shape;469;p17:notes"/>
          <p:cNvSpPr txBox="1">
            <a:spLocks noGrp="1"/>
          </p:cNvSpPr>
          <p:nvPr>
            <p:ph type="ftr" idx="11"/>
          </p:nvPr>
        </p:nvSpPr>
        <p:spPr>
          <a:xfrm>
            <a:off x="0" y="9478342"/>
            <a:ext cx="2961481" cy="498951"/>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470" name="Google Shape;470;p17:notes"/>
          <p:cNvSpPr txBox="1">
            <a:spLocks noGrp="1"/>
          </p:cNvSpPr>
          <p:nvPr>
            <p:ph type="sldNum" idx="12"/>
          </p:nvPr>
        </p:nvSpPr>
        <p:spPr>
          <a:xfrm>
            <a:off x="3871125" y="9478342"/>
            <a:ext cx="2961481" cy="498951"/>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121e7910631_0_1082: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9" name="Google Shape;499;g121e7910631_0_1082: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r>
              <a:rPr lang="en-US" b="1" u="sng">
                <a:latin typeface="Calibri"/>
                <a:ea typeface="Calibri"/>
                <a:cs typeface="Calibri"/>
                <a:sym typeface="Calibri"/>
              </a:rPr>
              <a:t>ENCUESTAS DE PULSO- ENCUESTAS DE CLIMA ANUAL</a:t>
            </a:r>
            <a:endParaRPr b="1" u="sng">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b="1" u="sng">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La </a:t>
            </a:r>
            <a:r>
              <a:rPr lang="en-US" b="1">
                <a:latin typeface="Calibri"/>
                <a:ea typeface="Calibri"/>
                <a:cs typeface="Calibri"/>
                <a:sym typeface="Calibri"/>
              </a:rPr>
              <a:t>Encuesta de pulso</a:t>
            </a:r>
            <a:r>
              <a:rPr lang="en-US">
                <a:latin typeface="Calibri"/>
                <a:ea typeface="Calibri"/>
                <a:cs typeface="Calibri"/>
                <a:sym typeface="Calibri"/>
              </a:rPr>
              <a:t> es de rápida implementación, que se realiza con una frecuencia mayor a la Encuesta anual de clima y posibilita la apertura de un canal más ágil que permita relevar la información en el transcurso del año sobre la experiencia del empleado. A la vez da imputs que permiten generar planes de acción y/o ajustar los establecidos.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Las dimensiones son las mismas que en la Encuesta de clima anual. </a:t>
            </a:r>
            <a:endParaRPr>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b="1" u="sng">
                <a:latin typeface="Calibri"/>
                <a:ea typeface="Calibri"/>
                <a:cs typeface="Calibri"/>
                <a:sym typeface="Calibri"/>
              </a:rPr>
              <a:t>Principales características:</a:t>
            </a:r>
            <a:endParaRPr b="1" u="sng">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-Es rápida, simple, más sencilla que la Encuestas anuales de clima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-Se utiliza de manera complementaria a la Encuesta de clima. No la reemplaza.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-Sirve para “pulsear” el clima y nivel de satisfacción de manera más frecuente</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-Permite ajustar los planes de acción establecidos.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-Tiene foco en la medición y acciones posteriores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-El objetivo es mejorar la experiencia del empleado</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-Adapta el pulso a las diferentes etapas en las que se encuentra el empleado o grupo de empleados (ingreso- encuestas de salida)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b="1" u="sng">
                <a:latin typeface="Calibri"/>
                <a:ea typeface="Calibri"/>
                <a:cs typeface="Calibri"/>
                <a:sym typeface="Calibri"/>
              </a:rPr>
              <a:t>Implementación:</a:t>
            </a:r>
            <a:endParaRPr b="1" u="sng">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-Rápida: de 3 a 5 minutos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-Simple: 5 a 15 preguntas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-Respuestas para marcar, corta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-Gráfica y amigable</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-Pregunta abierta opcional</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Frecuente: semanal, mensual</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b="1" u="sng">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b="1" u="sng">
                <a:latin typeface="Calibri"/>
                <a:ea typeface="Calibri"/>
                <a:cs typeface="Calibri"/>
                <a:sym typeface="Calibri"/>
              </a:rPr>
              <a:t>Ventajas:</a:t>
            </a:r>
            <a:endParaRPr b="1" u="sng">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-En general tiene un alto ratio de participación</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-Tiempos rápidos de respuesta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-Promueve la comunicación abierta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-Feedback más relevante y actual</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-Promueve mayor compromiso del empleado por el hecho de escucharlo más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-Refuerza que la opinión del empleado es importante en la estrategia del negocio</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b="1" u="sng">
                <a:latin typeface="Calibri"/>
                <a:ea typeface="Calibri"/>
                <a:cs typeface="Calibri"/>
                <a:sym typeface="Calibri"/>
              </a:rPr>
              <a:t>Desventajas:</a:t>
            </a:r>
            <a:endParaRPr b="1" u="sng">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-Si no se define la frecuencia se pierde la confianza de los empleados en la herramienta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-Si se hacen demasiado seguido pierden efectividad</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-Puede generar desconfianza si no se toman acciones rápidas sobre el feedback</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b="1" u="sng">
                <a:latin typeface="Calibri"/>
                <a:ea typeface="Calibri"/>
                <a:cs typeface="Calibri"/>
                <a:sym typeface="Calibri"/>
              </a:rPr>
              <a:t>Es Necesario:</a:t>
            </a:r>
            <a:endParaRPr b="1" u="sng">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-Tener recursos para el análisis de la información</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-Tener la disponibilidad para analizarlo: personas y tecnología. </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-Comité de clima: Demanda tiempo y recursos, disponibilidad de RR.HH. y de los jefes de área.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-No abrir el canal si no hay mecanismos de respuesta rápidos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b="1" u="sng">
                <a:latin typeface="Calibri"/>
                <a:ea typeface="Calibri"/>
                <a:cs typeface="Calibri"/>
                <a:sym typeface="Calibri"/>
              </a:rPr>
              <a:t>Factores de éxito:</a:t>
            </a:r>
            <a:endParaRPr b="1" u="sng">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-Elegir correctamente las preguntas</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-Elegir correctamente la frecuencia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-El canal más óptimo: correo, app, etc</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-Comunicar la confidencialidad, frecuencia, duración</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-Revisar y ajustar estos aspectos</a:t>
            </a:r>
            <a:endParaRPr>
              <a:latin typeface="Calibri"/>
              <a:ea typeface="Calibri"/>
              <a:cs typeface="Calibri"/>
              <a:sym typeface="Calibri"/>
            </a:endParaRPr>
          </a:p>
          <a:p>
            <a:pPr marL="0" lvl="0" indent="0" algn="l" rtl="0">
              <a:lnSpc>
                <a:spcPct val="100000"/>
              </a:lnSpc>
              <a:spcBef>
                <a:spcPts val="0"/>
              </a:spcBef>
              <a:spcAft>
                <a:spcPts val="0"/>
              </a:spcAft>
              <a:buSzPts val="1100"/>
              <a:buNone/>
            </a:pPr>
            <a:r>
              <a:rPr lang="en-US">
                <a:latin typeface="Calibri"/>
                <a:ea typeface="Calibri"/>
                <a:cs typeface="Calibri"/>
                <a:sym typeface="Calibri"/>
              </a:rPr>
              <a:t>-Los resultados se vuelcan en un dashboard. Se pueden exportar datos y hacer análisis.</a:t>
            </a:r>
            <a:endParaRPr/>
          </a:p>
        </p:txBody>
      </p:sp>
      <p:sp>
        <p:nvSpPr>
          <p:cNvPr id="500" name="Google Shape;500;g121e7910631_0_1082:notes"/>
          <p:cNvSpPr txBox="1">
            <a:spLocks noGrp="1"/>
          </p:cNvSpPr>
          <p:nvPr>
            <p:ph type="ftr" idx="11"/>
          </p:nvPr>
        </p:nvSpPr>
        <p:spPr>
          <a:xfrm>
            <a:off x="0" y="9478342"/>
            <a:ext cx="2961600" cy="49890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501" name="Google Shape;501;g121e7910631_0_1082:notes"/>
          <p:cNvSpPr txBox="1">
            <a:spLocks noGrp="1"/>
          </p:cNvSpPr>
          <p:nvPr>
            <p:ph type="sldNum" idx="12"/>
          </p:nvPr>
        </p:nvSpPr>
        <p:spPr>
          <a:xfrm>
            <a:off x="3871125" y="9478342"/>
            <a:ext cx="2961600" cy="49890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121e7910631_0_930: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g121e7910631_0_930: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9" name="Google Shape;509;g121e7910631_0_930:notes"/>
          <p:cNvSpPr txBox="1">
            <a:spLocks noGrp="1"/>
          </p:cNvSpPr>
          <p:nvPr>
            <p:ph type="ftr" idx="11"/>
          </p:nvPr>
        </p:nvSpPr>
        <p:spPr>
          <a:xfrm>
            <a:off x="0" y="9478342"/>
            <a:ext cx="2961600" cy="49890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510" name="Google Shape;510;g121e7910631_0_930:notes"/>
          <p:cNvSpPr txBox="1">
            <a:spLocks noGrp="1"/>
          </p:cNvSpPr>
          <p:nvPr>
            <p:ph type="sldNum" idx="12"/>
          </p:nvPr>
        </p:nvSpPr>
        <p:spPr>
          <a:xfrm>
            <a:off x="3871125" y="9478342"/>
            <a:ext cx="2961600" cy="49890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123d31d1acb_0_0: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g123d31d1acb_0_0: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121e7910631_0_947: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g121e7910631_0_947: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El contrato psicológico fue nombrado por primera vez por Argyris, en su libro “Entendiendo el comportamiento organizacional” en el año 1960 (Argyris, 1960) y desarrollado luego por varios autores como Schein, Levinson y otros (Schein E. H., 1965; Levinson, Price, Munden, &amp; Solley, 1962). Sin embargo, su desarrollo no fue continuo, ya que durante varias décadas recibió escasa atención desde el ámbito académico. A finales de los años ochenta, Rousseau retoma el desarrollo del concepto desde una perspectiva diferente (Rousseau D. M., 1989) y a partir de su trabajo renace una corriente de investigación cada vez más rica sobre el tema.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Como señalamos anteriormente, el término contrato psicológico fue utilizado por primera vez por Argyris. Este autor aplica el concepto para describir la relación entre un grupo de empleados y los supervisores de una fábrica, donde existe un entendimiento implícito sobre ciertas condiciones de trabajo, como el estilo de liderazgo utilizado por la línea de supervisión (Argyris, 1960). </a:t>
            </a:r>
            <a:endParaRPr>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Este concepto, de alguna manera nombrado al pasar por Argyris (Anderson &amp; Schalk, 1998), es retomado por Levinson y otros en su libro “Men, management and health”, donde los autores lo definen como "una serie de expectativas mutuas de las cuales las partes de una relación pueden no estar remotamente conscientes pero que de todas formas gobiernan su relación con el otro" (Levinson, Price, Munden, &amp; Solley, 1962, pág. 21).</a:t>
            </a:r>
            <a:endParaRPr>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Unos años más tarde, Schein lo define en su libro de Psicología Organizacional de esta forma: "el contrato psicológico implica que el individuo tiene una variedad de expectativas de la organización y que la organización una variedad de expectativas de él”, éstas no están plasmadas en un ningún acuerdo formal entre el empleado y el empleador, pero “operan poderosamente como determinantes de la conducta” (Schein E. H., 1965).</a:t>
            </a:r>
            <a:endParaRPr>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El artículo de Denise Rousseau (1989) publicado en el Employee Rights and Responsabilities Journal marca una transición y el comienzo de una nueva y vigorizada etapa de investigación en el campo del contrato psicológico, que da lugar a lo que hoy se conoce como investigación contemporánea en el tema.</a:t>
            </a:r>
            <a:endParaRPr>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Rousseau define el contrato psicológico como: </a:t>
            </a:r>
            <a:endParaRPr>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endParaRPr>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a:latin typeface="Calibri"/>
                <a:ea typeface="Calibri"/>
                <a:cs typeface="Calibri"/>
                <a:sym typeface="Calibri"/>
              </a:rPr>
              <a:t>Las creencias de un individuo con respecto a los términos y condiciones de un acuerdo de intercambio recíproco entre la persona y otra parte. Las principales cuestiones aquí incluyen la creencia de que se ha hecho una promesa y se ha ofrecido una consideración a cambio, obligando a las partes a un conjunto de obligaciones recíprocas. (Rousseau D. M., 1989, pág. 123)</a:t>
            </a:r>
            <a:endParaRPr>
              <a:latin typeface="Calibri"/>
              <a:ea typeface="Calibri"/>
              <a:cs typeface="Calibri"/>
              <a:sym typeface="Calibri"/>
            </a:endParaRPr>
          </a:p>
          <a:p>
            <a:pPr marL="0" lvl="0" indent="0" algn="l" rtl="0">
              <a:lnSpc>
                <a:spcPct val="100000"/>
              </a:lnSpc>
              <a:spcBef>
                <a:spcPts val="0"/>
              </a:spcBef>
              <a:spcAft>
                <a:spcPts val="0"/>
              </a:spcAft>
              <a:buSzPts val="1400"/>
              <a:buNone/>
            </a:pPr>
            <a:endParaRPr sz="700"/>
          </a:p>
        </p:txBody>
      </p:sp>
      <p:sp>
        <p:nvSpPr>
          <p:cNvPr id="531" name="Google Shape;531;g121e7910631_0_947:notes"/>
          <p:cNvSpPr txBox="1">
            <a:spLocks noGrp="1"/>
          </p:cNvSpPr>
          <p:nvPr>
            <p:ph type="ftr" idx="11"/>
          </p:nvPr>
        </p:nvSpPr>
        <p:spPr>
          <a:xfrm>
            <a:off x="0" y="9478342"/>
            <a:ext cx="2961600" cy="49890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532" name="Google Shape;532;g121e7910631_0_947:notes"/>
          <p:cNvSpPr txBox="1">
            <a:spLocks noGrp="1"/>
          </p:cNvSpPr>
          <p:nvPr>
            <p:ph type="sldNum" idx="12"/>
          </p:nvPr>
        </p:nvSpPr>
        <p:spPr>
          <a:xfrm>
            <a:off x="3871125" y="9478342"/>
            <a:ext cx="2961600" cy="49890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21e7910631_0_1190: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5" name="Google Shape;555;g121e7910631_0_1190: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dk1"/>
              </a:buClr>
              <a:buSzPts val="1100"/>
              <a:buFont typeface="Arial"/>
              <a:buNone/>
            </a:pPr>
            <a:r>
              <a:rPr lang="en-US" b="1" dirty="0">
                <a:latin typeface="Calibri"/>
                <a:ea typeface="Calibri"/>
                <a:cs typeface="Calibri"/>
                <a:sym typeface="Calibri"/>
              </a:rPr>
              <a:t>La </a:t>
            </a:r>
            <a:r>
              <a:rPr lang="en-US" b="1" dirty="0" err="1">
                <a:latin typeface="Calibri"/>
                <a:ea typeface="Calibri"/>
                <a:cs typeface="Calibri"/>
                <a:sym typeface="Calibri"/>
              </a:rPr>
              <a:t>primera</a:t>
            </a:r>
            <a:r>
              <a:rPr lang="en-US" b="1" dirty="0">
                <a:latin typeface="Calibri"/>
                <a:ea typeface="Calibri"/>
                <a:cs typeface="Calibri"/>
                <a:sym typeface="Calibri"/>
              </a:rPr>
              <a:t> </a:t>
            </a:r>
            <a:r>
              <a:rPr lang="en-US" b="1" dirty="0" err="1">
                <a:latin typeface="Calibri"/>
                <a:ea typeface="Calibri"/>
                <a:cs typeface="Calibri"/>
                <a:sym typeface="Calibri"/>
              </a:rPr>
              <a:t>diferencia</a:t>
            </a:r>
            <a:r>
              <a:rPr lang="en-US" dirty="0">
                <a:latin typeface="Calibri"/>
                <a:ea typeface="Calibri"/>
                <a:cs typeface="Calibri"/>
                <a:sym typeface="Calibri"/>
              </a:rPr>
              <a:t> que </a:t>
            </a:r>
            <a:r>
              <a:rPr lang="en-US" dirty="0" err="1">
                <a:latin typeface="Calibri"/>
                <a:ea typeface="Calibri"/>
                <a:cs typeface="Calibri"/>
                <a:sym typeface="Calibri"/>
              </a:rPr>
              <a:t>podemos</a:t>
            </a:r>
            <a:r>
              <a:rPr lang="en-US" dirty="0">
                <a:latin typeface="Calibri"/>
                <a:ea typeface="Calibri"/>
                <a:cs typeface="Calibri"/>
                <a:sym typeface="Calibri"/>
              </a:rPr>
              <a:t> </a:t>
            </a:r>
            <a:r>
              <a:rPr lang="en-US" dirty="0" err="1">
                <a:latin typeface="Calibri"/>
                <a:ea typeface="Calibri"/>
                <a:cs typeface="Calibri"/>
                <a:sym typeface="Calibri"/>
              </a:rPr>
              <a:t>observar</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esta</a:t>
            </a:r>
            <a:r>
              <a:rPr lang="en-US" dirty="0">
                <a:latin typeface="Calibri"/>
                <a:ea typeface="Calibri"/>
                <a:cs typeface="Calibri"/>
                <a:sym typeface="Calibri"/>
              </a:rPr>
              <a:t> </a:t>
            </a:r>
            <a:r>
              <a:rPr lang="en-US" dirty="0" err="1">
                <a:latin typeface="Calibri"/>
                <a:ea typeface="Calibri"/>
                <a:cs typeface="Calibri"/>
                <a:sym typeface="Calibri"/>
              </a:rPr>
              <a:t>nueva</a:t>
            </a:r>
            <a:r>
              <a:rPr lang="en-US" dirty="0">
                <a:latin typeface="Calibri"/>
                <a:ea typeface="Calibri"/>
                <a:cs typeface="Calibri"/>
                <a:sym typeface="Calibri"/>
              </a:rPr>
              <a:t> </a:t>
            </a:r>
            <a:r>
              <a:rPr lang="en-US" dirty="0" err="1">
                <a:latin typeface="Calibri"/>
                <a:ea typeface="Calibri"/>
                <a:cs typeface="Calibri"/>
                <a:sym typeface="Calibri"/>
              </a:rPr>
              <a:t>definición</a:t>
            </a:r>
            <a:r>
              <a:rPr lang="en-US" dirty="0">
                <a:latin typeface="Calibri"/>
                <a:ea typeface="Calibri"/>
                <a:cs typeface="Calibri"/>
                <a:sym typeface="Calibri"/>
              </a:rPr>
              <a:t> del </a:t>
            </a:r>
            <a:r>
              <a:rPr lang="en-US" dirty="0" err="1">
                <a:latin typeface="Calibri"/>
                <a:ea typeface="Calibri"/>
                <a:cs typeface="Calibri"/>
                <a:sym typeface="Calibri"/>
              </a:rPr>
              <a:t>concepto</a:t>
            </a:r>
            <a:r>
              <a:rPr lang="en-US" dirty="0">
                <a:latin typeface="Calibri"/>
                <a:ea typeface="Calibri"/>
                <a:cs typeface="Calibri"/>
                <a:sym typeface="Calibri"/>
              </a:rPr>
              <a:t>, es que </a:t>
            </a:r>
            <a:r>
              <a:rPr lang="en-US" dirty="0" err="1">
                <a:latin typeface="Calibri"/>
                <a:ea typeface="Calibri"/>
                <a:cs typeface="Calibri"/>
                <a:sym typeface="Calibri"/>
              </a:rPr>
              <a:t>ya</a:t>
            </a:r>
            <a:r>
              <a:rPr lang="en-US" dirty="0">
                <a:latin typeface="Calibri"/>
                <a:ea typeface="Calibri"/>
                <a:cs typeface="Calibri"/>
                <a:sym typeface="Calibri"/>
              </a:rPr>
              <a:t> no se </a:t>
            </a:r>
            <a:r>
              <a:rPr lang="en-US" dirty="0" err="1">
                <a:latin typeface="Calibri"/>
                <a:ea typeface="Calibri"/>
                <a:cs typeface="Calibri"/>
                <a:sym typeface="Calibri"/>
              </a:rPr>
              <a:t>trata</a:t>
            </a:r>
            <a:r>
              <a:rPr lang="en-US" dirty="0">
                <a:latin typeface="Calibri"/>
                <a:ea typeface="Calibri"/>
                <a:cs typeface="Calibri"/>
                <a:sym typeface="Calibri"/>
              </a:rPr>
              <a:t> de </a:t>
            </a:r>
            <a:r>
              <a:rPr lang="en-US" dirty="0" err="1">
                <a:latin typeface="Calibri"/>
                <a:ea typeface="Calibri"/>
                <a:cs typeface="Calibri"/>
                <a:sym typeface="Calibri"/>
              </a:rPr>
              <a:t>expectativas</a:t>
            </a:r>
            <a:r>
              <a:rPr lang="en-US" dirty="0">
                <a:latin typeface="Calibri"/>
                <a:ea typeface="Calibri"/>
                <a:cs typeface="Calibri"/>
                <a:sym typeface="Calibri"/>
              </a:rPr>
              <a:t> </a:t>
            </a:r>
            <a:r>
              <a:rPr lang="en-US" dirty="0" err="1">
                <a:latin typeface="Calibri"/>
                <a:ea typeface="Calibri"/>
                <a:cs typeface="Calibri"/>
                <a:sym typeface="Calibri"/>
              </a:rPr>
              <a:t>mutuas</a:t>
            </a:r>
            <a:r>
              <a:rPr lang="en-US" dirty="0">
                <a:latin typeface="Calibri"/>
                <a:ea typeface="Calibri"/>
                <a:cs typeface="Calibri"/>
                <a:sym typeface="Calibri"/>
              </a:rPr>
              <a:t>, </a:t>
            </a:r>
            <a:r>
              <a:rPr lang="en-US" dirty="0" err="1">
                <a:latin typeface="Calibri"/>
                <a:ea typeface="Calibri"/>
                <a:cs typeface="Calibri"/>
                <a:sym typeface="Calibri"/>
              </a:rPr>
              <a:t>sino</a:t>
            </a:r>
            <a:r>
              <a:rPr lang="en-US" dirty="0">
                <a:latin typeface="Calibri"/>
                <a:ea typeface="Calibri"/>
                <a:cs typeface="Calibri"/>
                <a:sym typeface="Calibri"/>
              </a:rPr>
              <a:t> de las </a:t>
            </a:r>
            <a:r>
              <a:rPr lang="en-US" dirty="0" err="1">
                <a:latin typeface="Calibri"/>
                <a:ea typeface="Calibri"/>
                <a:cs typeface="Calibri"/>
                <a:sym typeface="Calibri"/>
              </a:rPr>
              <a:t>creencias</a:t>
            </a:r>
            <a:r>
              <a:rPr lang="en-US" dirty="0">
                <a:latin typeface="Calibri"/>
                <a:ea typeface="Calibri"/>
                <a:cs typeface="Calibri"/>
                <a:sym typeface="Calibri"/>
              </a:rPr>
              <a:t> de un </a:t>
            </a:r>
            <a:r>
              <a:rPr lang="en-US" dirty="0" err="1">
                <a:latin typeface="Calibri"/>
                <a:ea typeface="Calibri"/>
                <a:cs typeface="Calibri"/>
                <a:sym typeface="Calibri"/>
              </a:rPr>
              <a:t>individuo</a:t>
            </a:r>
            <a:r>
              <a:rPr lang="en-US" dirty="0">
                <a:latin typeface="Calibri"/>
                <a:ea typeface="Calibri"/>
                <a:cs typeface="Calibri"/>
                <a:sym typeface="Calibri"/>
              </a:rPr>
              <a:t>. El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pasa</a:t>
            </a:r>
            <a:r>
              <a:rPr lang="en-US" dirty="0">
                <a:latin typeface="Calibri"/>
                <a:ea typeface="Calibri"/>
                <a:cs typeface="Calibri"/>
                <a:sym typeface="Calibri"/>
              </a:rPr>
              <a:t> de ser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relación</a:t>
            </a:r>
            <a:r>
              <a:rPr lang="en-US" dirty="0">
                <a:latin typeface="Calibri"/>
                <a:ea typeface="Calibri"/>
                <a:cs typeface="Calibri"/>
                <a:sym typeface="Calibri"/>
              </a:rPr>
              <a:t> de </a:t>
            </a:r>
            <a:r>
              <a:rPr lang="en-US" dirty="0" err="1">
                <a:latin typeface="Calibri"/>
                <a:ea typeface="Calibri"/>
                <a:cs typeface="Calibri"/>
                <a:sym typeface="Calibri"/>
              </a:rPr>
              <a:t>intercambio</a:t>
            </a:r>
            <a:r>
              <a:rPr lang="en-US" dirty="0">
                <a:latin typeface="Calibri"/>
                <a:ea typeface="Calibri"/>
                <a:cs typeface="Calibri"/>
                <a:sym typeface="Calibri"/>
              </a:rPr>
              <a:t>, </a:t>
            </a:r>
            <a:r>
              <a:rPr lang="en-US" dirty="0" err="1">
                <a:latin typeface="Calibri"/>
                <a:ea typeface="Calibri"/>
                <a:cs typeface="Calibri"/>
                <a:sym typeface="Calibri"/>
              </a:rPr>
              <a:t>donde</a:t>
            </a:r>
            <a:r>
              <a:rPr lang="en-US" dirty="0">
                <a:latin typeface="Calibri"/>
                <a:ea typeface="Calibri"/>
                <a:cs typeface="Calibri"/>
                <a:sym typeface="Calibri"/>
              </a:rPr>
              <a:t> ambas partes </a:t>
            </a:r>
            <a:r>
              <a:rPr lang="en-US" dirty="0" err="1">
                <a:latin typeface="Calibri"/>
                <a:ea typeface="Calibri"/>
                <a:cs typeface="Calibri"/>
                <a:sym typeface="Calibri"/>
              </a:rPr>
              <a:t>eran</a:t>
            </a:r>
            <a:r>
              <a:rPr lang="en-US" dirty="0">
                <a:latin typeface="Calibri"/>
                <a:ea typeface="Calibri"/>
                <a:cs typeface="Calibri"/>
                <a:sym typeface="Calibri"/>
              </a:rPr>
              <a:t> </a:t>
            </a:r>
            <a:r>
              <a:rPr lang="en-US" dirty="0" err="1">
                <a:latin typeface="Calibri"/>
                <a:ea typeface="Calibri"/>
                <a:cs typeface="Calibri"/>
                <a:sym typeface="Calibri"/>
              </a:rPr>
              <a:t>capaces</a:t>
            </a:r>
            <a:r>
              <a:rPr lang="en-US" dirty="0">
                <a:latin typeface="Calibri"/>
                <a:ea typeface="Calibri"/>
                <a:cs typeface="Calibri"/>
                <a:sym typeface="Calibri"/>
              </a:rPr>
              <a:t> de </a:t>
            </a:r>
            <a:r>
              <a:rPr lang="en-US" dirty="0" err="1">
                <a:latin typeface="Calibri"/>
                <a:ea typeface="Calibri"/>
                <a:cs typeface="Calibri"/>
                <a:sym typeface="Calibri"/>
              </a:rPr>
              <a:t>sostener</a:t>
            </a:r>
            <a:r>
              <a:rPr lang="en-US" dirty="0">
                <a:latin typeface="Calibri"/>
                <a:ea typeface="Calibri"/>
                <a:cs typeface="Calibri"/>
                <a:sym typeface="Calibri"/>
              </a:rPr>
              <a:t> </a:t>
            </a:r>
            <a:r>
              <a:rPr lang="en-US" dirty="0" err="1">
                <a:latin typeface="Calibri"/>
                <a:ea typeface="Calibri"/>
                <a:cs typeface="Calibri"/>
                <a:sym typeface="Calibri"/>
              </a:rPr>
              <a:t>expectativas</a:t>
            </a:r>
            <a:r>
              <a:rPr lang="en-US" dirty="0">
                <a:latin typeface="Calibri"/>
                <a:ea typeface="Calibri"/>
                <a:cs typeface="Calibri"/>
                <a:sym typeface="Calibri"/>
              </a:rPr>
              <a:t> </a:t>
            </a:r>
            <a:r>
              <a:rPr lang="en-US" dirty="0" err="1">
                <a:latin typeface="Calibri"/>
                <a:ea typeface="Calibri"/>
                <a:cs typeface="Calibri"/>
                <a:sym typeface="Calibri"/>
              </a:rPr>
              <a:t>sobre</a:t>
            </a:r>
            <a:r>
              <a:rPr lang="en-US" dirty="0">
                <a:latin typeface="Calibri"/>
                <a:ea typeface="Calibri"/>
                <a:cs typeface="Calibri"/>
                <a:sym typeface="Calibri"/>
              </a:rPr>
              <a:t> la </a:t>
            </a:r>
            <a:r>
              <a:rPr lang="en-US" dirty="0" err="1">
                <a:latin typeface="Calibri"/>
                <a:ea typeface="Calibri"/>
                <a:cs typeface="Calibri"/>
                <a:sym typeface="Calibri"/>
              </a:rPr>
              <a:t>conducta</a:t>
            </a:r>
            <a:r>
              <a:rPr lang="en-US" dirty="0">
                <a:latin typeface="Calibri"/>
                <a:ea typeface="Calibri"/>
                <a:cs typeface="Calibri"/>
                <a:sym typeface="Calibri"/>
              </a:rPr>
              <a:t> del </a:t>
            </a:r>
            <a:r>
              <a:rPr lang="en-US" dirty="0" err="1">
                <a:latin typeface="Calibri"/>
                <a:ea typeface="Calibri"/>
                <a:cs typeface="Calibri"/>
                <a:sym typeface="Calibri"/>
              </a:rPr>
              <a:t>otro</a:t>
            </a:r>
            <a:r>
              <a:rPr lang="en-US" dirty="0">
                <a:latin typeface="Calibri"/>
                <a:ea typeface="Calibri"/>
                <a:cs typeface="Calibri"/>
                <a:sym typeface="Calibri"/>
              </a:rPr>
              <a:t>, a </a:t>
            </a:r>
            <a:r>
              <a:rPr lang="en-US" dirty="0" err="1">
                <a:latin typeface="Calibri"/>
                <a:ea typeface="Calibri"/>
                <a:cs typeface="Calibri"/>
                <a:sym typeface="Calibri"/>
              </a:rPr>
              <a:t>convertirse</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un </a:t>
            </a:r>
            <a:r>
              <a:rPr lang="en-US" dirty="0" err="1">
                <a:latin typeface="Calibri"/>
                <a:ea typeface="Calibri"/>
                <a:cs typeface="Calibri"/>
                <a:sym typeface="Calibri"/>
              </a:rPr>
              <a:t>constructo</a:t>
            </a:r>
            <a:r>
              <a:rPr lang="en-US" dirty="0">
                <a:latin typeface="Calibri"/>
                <a:ea typeface="Calibri"/>
                <a:cs typeface="Calibri"/>
                <a:sym typeface="Calibri"/>
              </a:rPr>
              <a:t> intrapersonal, </a:t>
            </a:r>
            <a:r>
              <a:rPr lang="en-US" dirty="0" err="1">
                <a:latin typeface="Calibri"/>
                <a:ea typeface="Calibri"/>
                <a:cs typeface="Calibri"/>
                <a:sym typeface="Calibri"/>
              </a:rPr>
              <a:t>donde</a:t>
            </a:r>
            <a:r>
              <a:rPr lang="en-US" dirty="0">
                <a:latin typeface="Calibri"/>
                <a:ea typeface="Calibri"/>
                <a:cs typeface="Calibri"/>
                <a:sym typeface="Calibri"/>
              </a:rPr>
              <a:t> la </a:t>
            </a:r>
            <a:r>
              <a:rPr lang="en-US" dirty="0" err="1">
                <a:latin typeface="Calibri"/>
                <a:ea typeface="Calibri"/>
                <a:cs typeface="Calibri"/>
                <a:sym typeface="Calibri"/>
              </a:rPr>
              <a:t>relación</a:t>
            </a:r>
            <a:r>
              <a:rPr lang="en-US" dirty="0">
                <a:latin typeface="Calibri"/>
                <a:ea typeface="Calibri"/>
                <a:cs typeface="Calibri"/>
                <a:sym typeface="Calibri"/>
              </a:rPr>
              <a:t> de </a:t>
            </a:r>
            <a:r>
              <a:rPr lang="en-US" dirty="0" err="1">
                <a:latin typeface="Calibri"/>
                <a:ea typeface="Calibri"/>
                <a:cs typeface="Calibri"/>
                <a:sym typeface="Calibri"/>
              </a:rPr>
              <a:t>intercambio</a:t>
            </a:r>
            <a:r>
              <a:rPr lang="en-US" dirty="0">
                <a:latin typeface="Calibri"/>
                <a:ea typeface="Calibri"/>
                <a:cs typeface="Calibri"/>
                <a:sym typeface="Calibri"/>
              </a:rPr>
              <a:t> </a:t>
            </a:r>
            <a:r>
              <a:rPr lang="en-US" dirty="0" err="1">
                <a:latin typeface="Calibri"/>
                <a:ea typeface="Calibri"/>
                <a:cs typeface="Calibri"/>
                <a:sym typeface="Calibri"/>
              </a:rPr>
              <a:t>sigue</a:t>
            </a:r>
            <a:r>
              <a:rPr lang="en-US" dirty="0">
                <a:latin typeface="Calibri"/>
                <a:ea typeface="Calibri"/>
                <a:cs typeface="Calibri"/>
                <a:sym typeface="Calibri"/>
              </a:rPr>
              <a:t> </a:t>
            </a:r>
            <a:r>
              <a:rPr lang="en-US" dirty="0" err="1">
                <a:latin typeface="Calibri"/>
                <a:ea typeface="Calibri"/>
                <a:cs typeface="Calibri"/>
                <a:sym typeface="Calibri"/>
              </a:rPr>
              <a:t>existiendo</a:t>
            </a:r>
            <a:r>
              <a:rPr lang="en-US" dirty="0">
                <a:latin typeface="Calibri"/>
                <a:ea typeface="Calibri"/>
                <a:cs typeface="Calibri"/>
                <a:sym typeface="Calibri"/>
              </a:rPr>
              <a:t>, </a:t>
            </a:r>
            <a:r>
              <a:rPr lang="en-US" dirty="0" err="1">
                <a:latin typeface="Calibri"/>
                <a:ea typeface="Calibri"/>
                <a:cs typeface="Calibri"/>
                <a:sym typeface="Calibri"/>
              </a:rPr>
              <a:t>pero</a:t>
            </a:r>
            <a:r>
              <a:rPr lang="en-US" dirty="0">
                <a:latin typeface="Calibri"/>
                <a:ea typeface="Calibri"/>
                <a:cs typeface="Calibri"/>
                <a:sym typeface="Calibri"/>
              </a:rPr>
              <a:t> “</a:t>
            </a:r>
            <a:r>
              <a:rPr lang="en-US" dirty="0" err="1">
                <a:latin typeface="Calibri"/>
                <a:ea typeface="Calibri"/>
                <a:cs typeface="Calibri"/>
                <a:sym typeface="Calibri"/>
              </a:rPr>
              <a:t>desde</a:t>
            </a:r>
            <a:r>
              <a:rPr lang="en-US" dirty="0">
                <a:latin typeface="Calibri"/>
                <a:ea typeface="Calibri"/>
                <a:cs typeface="Calibri"/>
                <a:sym typeface="Calibri"/>
              </a:rPr>
              <a:t> </a:t>
            </a:r>
            <a:r>
              <a:rPr lang="en-US" dirty="0" err="1">
                <a:latin typeface="Calibri"/>
                <a:ea typeface="Calibri"/>
                <a:cs typeface="Calibri"/>
                <a:sym typeface="Calibri"/>
              </a:rPr>
              <a:t>los</a:t>
            </a:r>
            <a:r>
              <a:rPr lang="en-US" dirty="0">
                <a:latin typeface="Calibri"/>
                <a:ea typeface="Calibri"/>
                <a:cs typeface="Calibri"/>
                <a:sym typeface="Calibri"/>
              </a:rPr>
              <a:t> </a:t>
            </a:r>
            <a:r>
              <a:rPr lang="en-US" dirty="0" err="1">
                <a:latin typeface="Calibri"/>
                <a:ea typeface="Calibri"/>
                <a:cs typeface="Calibri"/>
                <a:sym typeface="Calibri"/>
              </a:rPr>
              <a:t>ojos</a:t>
            </a:r>
            <a:r>
              <a:rPr lang="en-US" dirty="0">
                <a:latin typeface="Calibri"/>
                <a:ea typeface="Calibri"/>
                <a:cs typeface="Calibri"/>
                <a:sym typeface="Calibri"/>
              </a:rPr>
              <a:t> del </a:t>
            </a:r>
            <a:r>
              <a:rPr lang="en-US" dirty="0" err="1">
                <a:latin typeface="Calibri"/>
                <a:ea typeface="Calibri"/>
                <a:cs typeface="Calibri"/>
                <a:sym typeface="Calibri"/>
              </a:rPr>
              <a:t>observador</a:t>
            </a:r>
            <a:r>
              <a:rPr lang="en-US" dirty="0">
                <a:latin typeface="Calibri"/>
                <a:ea typeface="Calibri"/>
                <a:cs typeface="Calibri"/>
                <a:sym typeface="Calibri"/>
              </a:rPr>
              <a:t>” (Rousseau D. M., 1989).</a:t>
            </a:r>
            <a:endParaRPr dirty="0">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dirty="0">
                <a:latin typeface="Calibri"/>
                <a:ea typeface="Calibri"/>
                <a:cs typeface="Calibri"/>
                <a:sym typeface="Calibri"/>
              </a:rPr>
              <a:t>La </a:t>
            </a:r>
            <a:r>
              <a:rPr lang="en-US" dirty="0" err="1">
                <a:latin typeface="Calibri"/>
                <a:ea typeface="Calibri"/>
                <a:cs typeface="Calibri"/>
                <a:sym typeface="Calibri"/>
              </a:rPr>
              <a:t>formulación</a:t>
            </a:r>
            <a:r>
              <a:rPr lang="en-US" dirty="0">
                <a:latin typeface="Calibri"/>
                <a:ea typeface="Calibri"/>
                <a:cs typeface="Calibri"/>
                <a:sym typeface="Calibri"/>
              </a:rPr>
              <a:t> de Rousseau pone al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psicológico</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la </a:t>
            </a:r>
            <a:r>
              <a:rPr lang="en-US" dirty="0" err="1">
                <a:latin typeface="Calibri"/>
                <a:ea typeface="Calibri"/>
                <a:cs typeface="Calibri"/>
                <a:sym typeface="Calibri"/>
              </a:rPr>
              <a:t>mente</a:t>
            </a:r>
            <a:r>
              <a:rPr lang="en-US" dirty="0">
                <a:latin typeface="Calibri"/>
                <a:ea typeface="Calibri"/>
                <a:cs typeface="Calibri"/>
                <a:sym typeface="Calibri"/>
              </a:rPr>
              <a:t> del </a:t>
            </a:r>
            <a:r>
              <a:rPr lang="en-US" dirty="0" err="1">
                <a:latin typeface="Calibri"/>
                <a:ea typeface="Calibri"/>
                <a:cs typeface="Calibri"/>
                <a:sym typeface="Calibri"/>
              </a:rPr>
              <a:t>empleado</a:t>
            </a:r>
            <a:r>
              <a:rPr lang="en-US" dirty="0">
                <a:latin typeface="Calibri"/>
                <a:ea typeface="Calibri"/>
                <a:cs typeface="Calibri"/>
                <a:sym typeface="Calibri"/>
              </a:rPr>
              <a:t> (Herriot, Manning, &amp; Kidd, 1997). La </a:t>
            </a:r>
            <a:r>
              <a:rPr lang="en-US" dirty="0" err="1">
                <a:latin typeface="Calibri"/>
                <a:ea typeface="Calibri"/>
                <a:cs typeface="Calibri"/>
                <a:sym typeface="Calibri"/>
              </a:rPr>
              <a:t>organización</a:t>
            </a:r>
            <a:r>
              <a:rPr lang="en-US" dirty="0">
                <a:latin typeface="Calibri"/>
                <a:ea typeface="Calibri"/>
                <a:cs typeface="Calibri"/>
                <a:sym typeface="Calibri"/>
              </a:rPr>
              <a:t>, </a:t>
            </a:r>
            <a:r>
              <a:rPr lang="en-US" dirty="0" err="1">
                <a:latin typeface="Calibri"/>
                <a:ea typeface="Calibri"/>
                <a:cs typeface="Calibri"/>
                <a:sym typeface="Calibri"/>
              </a:rPr>
              <a:t>por</a:t>
            </a:r>
            <a:r>
              <a:rPr lang="en-US" dirty="0">
                <a:latin typeface="Calibri"/>
                <a:ea typeface="Calibri"/>
                <a:cs typeface="Calibri"/>
                <a:sym typeface="Calibri"/>
              </a:rPr>
              <a:t> </a:t>
            </a:r>
            <a:r>
              <a:rPr lang="en-US" dirty="0" err="1">
                <a:latin typeface="Calibri"/>
                <a:ea typeface="Calibri"/>
                <a:cs typeface="Calibri"/>
                <a:sym typeface="Calibri"/>
              </a:rPr>
              <a:t>su</a:t>
            </a:r>
            <a:r>
              <a:rPr lang="en-US" dirty="0">
                <a:latin typeface="Calibri"/>
                <a:ea typeface="Calibri"/>
                <a:cs typeface="Calibri"/>
                <a:sym typeface="Calibri"/>
              </a:rPr>
              <a:t> </a:t>
            </a:r>
            <a:r>
              <a:rPr lang="en-US" dirty="0" err="1">
                <a:latin typeface="Calibri"/>
                <a:ea typeface="Calibri"/>
                <a:cs typeface="Calibri"/>
                <a:sym typeface="Calibri"/>
              </a:rPr>
              <a:t>parte</a:t>
            </a:r>
            <a:r>
              <a:rPr lang="en-US" dirty="0">
                <a:latin typeface="Calibri"/>
                <a:ea typeface="Calibri"/>
                <a:cs typeface="Calibri"/>
                <a:sym typeface="Calibri"/>
              </a:rPr>
              <a:t>, </a:t>
            </a:r>
            <a:r>
              <a:rPr lang="en-US" dirty="0" err="1">
                <a:latin typeface="Calibri"/>
                <a:ea typeface="Calibri"/>
                <a:cs typeface="Calibri"/>
                <a:sym typeface="Calibri"/>
              </a:rPr>
              <a:t>provee</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contexto</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que </a:t>
            </a:r>
            <a:r>
              <a:rPr lang="en-US" dirty="0" err="1">
                <a:latin typeface="Calibri"/>
                <a:ea typeface="Calibri"/>
                <a:cs typeface="Calibri"/>
                <a:sym typeface="Calibri"/>
              </a:rPr>
              <a:t>este</a:t>
            </a:r>
            <a:r>
              <a:rPr lang="en-US" dirty="0">
                <a:latin typeface="Calibri"/>
                <a:ea typeface="Calibri"/>
                <a:cs typeface="Calibri"/>
                <a:sym typeface="Calibri"/>
              </a:rPr>
              <a:t> </a:t>
            </a:r>
            <a:r>
              <a:rPr lang="en-US" dirty="0" err="1">
                <a:latin typeface="Calibri"/>
                <a:ea typeface="Calibri"/>
                <a:cs typeface="Calibri"/>
                <a:sym typeface="Calibri"/>
              </a:rPr>
              <a:t>contrato</a:t>
            </a:r>
            <a:r>
              <a:rPr lang="en-US" dirty="0">
                <a:latin typeface="Calibri"/>
                <a:ea typeface="Calibri"/>
                <a:cs typeface="Calibri"/>
                <a:sym typeface="Calibri"/>
              </a:rPr>
              <a:t> se </a:t>
            </a:r>
            <a:r>
              <a:rPr lang="en-US" dirty="0" err="1">
                <a:latin typeface="Calibri"/>
                <a:ea typeface="Calibri"/>
                <a:cs typeface="Calibri"/>
                <a:sym typeface="Calibri"/>
              </a:rPr>
              <a:t>desarrolla</a:t>
            </a:r>
            <a:r>
              <a:rPr lang="en-US" dirty="0">
                <a:latin typeface="Calibri"/>
                <a:ea typeface="Calibri"/>
                <a:cs typeface="Calibri"/>
                <a:sym typeface="Calibri"/>
              </a:rPr>
              <a:t> (Schalk &amp; Roe, 2007). Rousseau </a:t>
            </a:r>
            <a:r>
              <a:rPr lang="en-US" dirty="0" err="1">
                <a:latin typeface="Calibri"/>
                <a:ea typeface="Calibri"/>
                <a:cs typeface="Calibri"/>
                <a:sym typeface="Calibri"/>
              </a:rPr>
              <a:t>sostiene</a:t>
            </a:r>
            <a:r>
              <a:rPr lang="en-US" dirty="0">
                <a:latin typeface="Calibri"/>
                <a:ea typeface="Calibri"/>
                <a:cs typeface="Calibri"/>
                <a:sym typeface="Calibri"/>
              </a:rPr>
              <a:t> que las </a:t>
            </a:r>
            <a:r>
              <a:rPr lang="en-US" dirty="0" err="1">
                <a:latin typeface="Calibri"/>
                <a:ea typeface="Calibri"/>
                <a:cs typeface="Calibri"/>
                <a:sym typeface="Calibri"/>
              </a:rPr>
              <a:t>organizaciones</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a:t>
            </a:r>
            <a:r>
              <a:rPr lang="en-US" dirty="0" err="1">
                <a:latin typeface="Calibri"/>
                <a:ea typeface="Calibri"/>
                <a:cs typeface="Calibri"/>
                <a:sym typeface="Calibri"/>
              </a:rPr>
              <a:t>entidades</a:t>
            </a:r>
            <a:r>
              <a:rPr lang="en-US" dirty="0">
                <a:latin typeface="Calibri"/>
                <a:ea typeface="Calibri"/>
                <a:cs typeface="Calibri"/>
                <a:sym typeface="Calibri"/>
              </a:rPr>
              <a:t> </a:t>
            </a:r>
            <a:r>
              <a:rPr lang="en-US" dirty="0" err="1">
                <a:latin typeface="Calibri"/>
                <a:ea typeface="Calibri"/>
                <a:cs typeface="Calibri"/>
                <a:sym typeface="Calibri"/>
              </a:rPr>
              <a:t>abstractas</a:t>
            </a:r>
            <a:r>
              <a:rPr lang="en-US" dirty="0">
                <a:latin typeface="Calibri"/>
                <a:ea typeface="Calibri"/>
                <a:cs typeface="Calibri"/>
                <a:sym typeface="Calibri"/>
              </a:rPr>
              <a:t>, no </a:t>
            </a:r>
            <a:r>
              <a:rPr lang="en-US" dirty="0" err="1">
                <a:latin typeface="Calibri"/>
                <a:ea typeface="Calibri"/>
                <a:cs typeface="Calibri"/>
                <a:sym typeface="Calibri"/>
              </a:rPr>
              <a:t>pueden</a:t>
            </a:r>
            <a:r>
              <a:rPr lang="en-US" dirty="0">
                <a:latin typeface="Calibri"/>
                <a:ea typeface="Calibri"/>
                <a:cs typeface="Calibri"/>
                <a:sym typeface="Calibri"/>
              </a:rPr>
              <a:t> </a:t>
            </a:r>
            <a:r>
              <a:rPr lang="en-US" dirty="0" err="1">
                <a:latin typeface="Calibri"/>
                <a:ea typeface="Calibri"/>
                <a:cs typeface="Calibri"/>
                <a:sym typeface="Calibri"/>
              </a:rPr>
              <a:t>sostener</a:t>
            </a:r>
            <a:r>
              <a:rPr lang="en-US" dirty="0">
                <a:latin typeface="Calibri"/>
                <a:ea typeface="Calibri"/>
                <a:cs typeface="Calibri"/>
                <a:sym typeface="Calibri"/>
              </a:rPr>
              <a:t> </a:t>
            </a:r>
            <a:r>
              <a:rPr lang="en-US" dirty="0" err="1">
                <a:latin typeface="Calibri"/>
                <a:ea typeface="Calibri"/>
                <a:cs typeface="Calibri"/>
                <a:sym typeface="Calibri"/>
              </a:rPr>
              <a:t>contratos</a:t>
            </a:r>
            <a:r>
              <a:rPr lang="en-US" dirty="0">
                <a:latin typeface="Calibri"/>
                <a:ea typeface="Calibri"/>
                <a:cs typeface="Calibri"/>
                <a:sym typeface="Calibri"/>
              </a:rPr>
              <a:t> </a:t>
            </a:r>
            <a:r>
              <a:rPr lang="en-US" dirty="0" err="1">
                <a:latin typeface="Calibri"/>
                <a:ea typeface="Calibri"/>
                <a:cs typeface="Calibri"/>
                <a:sym typeface="Calibri"/>
              </a:rPr>
              <a:t>psicológicos</a:t>
            </a:r>
            <a:r>
              <a:rPr lang="en-US" dirty="0">
                <a:latin typeface="Calibri"/>
                <a:ea typeface="Calibri"/>
                <a:cs typeface="Calibri"/>
                <a:sym typeface="Calibri"/>
              </a:rPr>
              <a:t> (Rousseau, op. cit.).</a:t>
            </a:r>
            <a:endParaRPr dirty="0">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dirty="0">
                <a:latin typeface="Calibri"/>
                <a:ea typeface="Calibri"/>
                <a:cs typeface="Calibri"/>
                <a:sym typeface="Calibri"/>
              </a:rPr>
              <a:t>En </a:t>
            </a:r>
            <a:r>
              <a:rPr lang="en-US" dirty="0" err="1">
                <a:latin typeface="Calibri"/>
                <a:ea typeface="Calibri"/>
                <a:cs typeface="Calibri"/>
                <a:sym typeface="Calibri"/>
              </a:rPr>
              <a:t>trabajos</a:t>
            </a:r>
            <a:r>
              <a:rPr lang="en-US" dirty="0">
                <a:latin typeface="Calibri"/>
                <a:ea typeface="Calibri"/>
                <a:cs typeface="Calibri"/>
                <a:sym typeface="Calibri"/>
              </a:rPr>
              <a:t> posteriores, Rousseau </a:t>
            </a:r>
            <a:r>
              <a:rPr lang="en-US" dirty="0" err="1">
                <a:latin typeface="Calibri"/>
                <a:ea typeface="Calibri"/>
                <a:cs typeface="Calibri"/>
                <a:sym typeface="Calibri"/>
              </a:rPr>
              <a:t>avanza</a:t>
            </a:r>
            <a:r>
              <a:rPr lang="en-US" dirty="0">
                <a:latin typeface="Calibri"/>
                <a:ea typeface="Calibri"/>
                <a:cs typeface="Calibri"/>
                <a:sym typeface="Calibri"/>
              </a:rPr>
              <a:t> </a:t>
            </a:r>
            <a:r>
              <a:rPr lang="en-US" dirty="0" err="1">
                <a:latin typeface="Calibri"/>
                <a:ea typeface="Calibri"/>
                <a:cs typeface="Calibri"/>
                <a:sym typeface="Calibri"/>
              </a:rPr>
              <a:t>sobre</a:t>
            </a:r>
            <a:r>
              <a:rPr lang="en-US" dirty="0">
                <a:latin typeface="Calibri"/>
                <a:ea typeface="Calibri"/>
                <a:cs typeface="Calibri"/>
                <a:sym typeface="Calibri"/>
              </a:rPr>
              <a:t> </a:t>
            </a:r>
            <a:r>
              <a:rPr lang="en-US" dirty="0" err="1">
                <a:latin typeface="Calibri"/>
                <a:ea typeface="Calibri"/>
                <a:cs typeface="Calibri"/>
                <a:sym typeface="Calibri"/>
              </a:rPr>
              <a:t>esta</a:t>
            </a:r>
            <a:r>
              <a:rPr lang="en-US" dirty="0">
                <a:latin typeface="Calibri"/>
                <a:ea typeface="Calibri"/>
                <a:cs typeface="Calibri"/>
                <a:sym typeface="Calibri"/>
              </a:rPr>
              <a:t> </a:t>
            </a:r>
            <a:r>
              <a:rPr lang="en-US" dirty="0" err="1">
                <a:latin typeface="Calibri"/>
                <a:ea typeface="Calibri"/>
                <a:cs typeface="Calibri"/>
                <a:sym typeface="Calibri"/>
              </a:rPr>
              <a:t>línea</a:t>
            </a:r>
            <a:r>
              <a:rPr lang="en-US" dirty="0">
                <a:latin typeface="Calibri"/>
                <a:ea typeface="Calibri"/>
                <a:cs typeface="Calibri"/>
                <a:sym typeface="Calibri"/>
              </a:rPr>
              <a:t> </a:t>
            </a:r>
            <a:r>
              <a:rPr lang="en-US" dirty="0" err="1">
                <a:latin typeface="Calibri"/>
                <a:ea typeface="Calibri"/>
                <a:cs typeface="Calibri"/>
                <a:sym typeface="Calibri"/>
              </a:rPr>
              <a:t>caracterizando</a:t>
            </a:r>
            <a:r>
              <a:rPr lang="en-US" dirty="0">
                <a:latin typeface="Calibri"/>
                <a:ea typeface="Calibri"/>
                <a:cs typeface="Calibri"/>
                <a:sym typeface="Calibri"/>
              </a:rPr>
              <a:t> a </a:t>
            </a:r>
            <a:r>
              <a:rPr lang="en-US" dirty="0" err="1">
                <a:latin typeface="Calibri"/>
                <a:ea typeface="Calibri"/>
                <a:cs typeface="Calibri"/>
                <a:sym typeface="Calibri"/>
              </a:rPr>
              <a:t>los</a:t>
            </a:r>
            <a:r>
              <a:rPr lang="en-US" dirty="0">
                <a:latin typeface="Calibri"/>
                <a:ea typeface="Calibri"/>
                <a:cs typeface="Calibri"/>
                <a:sym typeface="Calibri"/>
              </a:rPr>
              <a:t> </a:t>
            </a:r>
            <a:r>
              <a:rPr lang="en-US" dirty="0" err="1">
                <a:latin typeface="Calibri"/>
                <a:ea typeface="Calibri"/>
                <a:cs typeface="Calibri"/>
                <a:sym typeface="Calibri"/>
              </a:rPr>
              <a:t>contratos</a:t>
            </a:r>
            <a:r>
              <a:rPr lang="en-US" dirty="0">
                <a:latin typeface="Calibri"/>
                <a:ea typeface="Calibri"/>
                <a:cs typeface="Calibri"/>
                <a:sym typeface="Calibri"/>
              </a:rPr>
              <a:t> </a:t>
            </a:r>
            <a:r>
              <a:rPr lang="en-US" dirty="0" err="1">
                <a:latin typeface="Calibri"/>
                <a:ea typeface="Calibri"/>
                <a:cs typeface="Calibri"/>
                <a:sym typeface="Calibri"/>
              </a:rPr>
              <a:t>psicológicos</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a:t>
            </a:r>
            <a:r>
              <a:rPr lang="en-US" dirty="0" err="1">
                <a:latin typeface="Calibri"/>
                <a:ea typeface="Calibri"/>
                <a:cs typeface="Calibri"/>
                <a:sym typeface="Calibri"/>
              </a:rPr>
              <a:t>esquemas</a:t>
            </a:r>
            <a:r>
              <a:rPr lang="en-US" dirty="0">
                <a:latin typeface="Calibri"/>
                <a:ea typeface="Calibri"/>
                <a:cs typeface="Calibri"/>
                <a:sym typeface="Calibri"/>
              </a:rPr>
              <a:t> </a:t>
            </a:r>
            <a:r>
              <a:rPr lang="en-US" dirty="0" err="1">
                <a:latin typeface="Calibri"/>
                <a:ea typeface="Calibri"/>
                <a:cs typeface="Calibri"/>
                <a:sym typeface="Calibri"/>
              </a:rPr>
              <a:t>mentales</a:t>
            </a:r>
            <a:r>
              <a:rPr lang="en-US" dirty="0">
                <a:latin typeface="Calibri"/>
                <a:ea typeface="Calibri"/>
                <a:cs typeface="Calibri"/>
                <a:sym typeface="Calibri"/>
              </a:rPr>
              <a:t> </a:t>
            </a:r>
            <a:r>
              <a:rPr lang="en-US" dirty="0" err="1">
                <a:latin typeface="Calibri"/>
                <a:ea typeface="Calibri"/>
                <a:cs typeface="Calibri"/>
                <a:sym typeface="Calibri"/>
              </a:rPr>
              <a:t>sobre</a:t>
            </a:r>
            <a:r>
              <a:rPr lang="en-US" dirty="0">
                <a:latin typeface="Calibri"/>
                <a:ea typeface="Calibri"/>
                <a:cs typeface="Calibri"/>
                <a:sym typeface="Calibri"/>
              </a:rPr>
              <a:t> la </a:t>
            </a:r>
            <a:r>
              <a:rPr lang="en-US" dirty="0" err="1">
                <a:latin typeface="Calibri"/>
                <a:ea typeface="Calibri"/>
                <a:cs typeface="Calibri"/>
                <a:sym typeface="Calibri"/>
              </a:rPr>
              <a:t>relación</a:t>
            </a:r>
            <a:r>
              <a:rPr lang="en-US" dirty="0">
                <a:latin typeface="Calibri"/>
                <a:ea typeface="Calibri"/>
                <a:cs typeface="Calibri"/>
                <a:sym typeface="Calibri"/>
              </a:rPr>
              <a:t> de </a:t>
            </a:r>
            <a:r>
              <a:rPr lang="en-US" dirty="0" err="1">
                <a:latin typeface="Calibri"/>
                <a:ea typeface="Calibri"/>
                <a:cs typeface="Calibri"/>
                <a:sym typeface="Calibri"/>
              </a:rPr>
              <a:t>empleo</a:t>
            </a:r>
            <a:r>
              <a:rPr lang="en-US" dirty="0">
                <a:latin typeface="Calibri"/>
                <a:ea typeface="Calibri"/>
                <a:cs typeface="Calibri"/>
                <a:sym typeface="Calibri"/>
              </a:rPr>
              <a:t> (Rousseau D. M., 1998; Rousseau D. M., 2001). Un </a:t>
            </a:r>
            <a:r>
              <a:rPr lang="en-US" dirty="0" err="1">
                <a:latin typeface="Calibri"/>
                <a:ea typeface="Calibri"/>
                <a:cs typeface="Calibri"/>
                <a:sym typeface="Calibri"/>
              </a:rPr>
              <a:t>esquema</a:t>
            </a:r>
            <a:r>
              <a:rPr lang="en-US" dirty="0">
                <a:latin typeface="Calibri"/>
                <a:ea typeface="Calibri"/>
                <a:cs typeface="Calibri"/>
                <a:sym typeface="Calibri"/>
              </a:rPr>
              <a:t> es la </a:t>
            </a:r>
            <a:r>
              <a:rPr lang="en-US" dirty="0" err="1">
                <a:latin typeface="Calibri"/>
                <a:ea typeface="Calibri"/>
                <a:cs typeface="Calibri"/>
                <a:sym typeface="Calibri"/>
              </a:rPr>
              <a:t>organización</a:t>
            </a:r>
            <a:r>
              <a:rPr lang="en-US" dirty="0">
                <a:latin typeface="Calibri"/>
                <a:ea typeface="Calibri"/>
                <a:cs typeface="Calibri"/>
                <a:sym typeface="Calibri"/>
              </a:rPr>
              <a:t> </a:t>
            </a:r>
            <a:r>
              <a:rPr lang="en-US" dirty="0" err="1">
                <a:latin typeface="Calibri"/>
                <a:ea typeface="Calibri"/>
                <a:cs typeface="Calibri"/>
                <a:sym typeface="Calibri"/>
              </a:rPr>
              <a:t>cognitiva</a:t>
            </a:r>
            <a:r>
              <a:rPr lang="en-US" dirty="0">
                <a:latin typeface="Calibri"/>
                <a:ea typeface="Calibri"/>
                <a:cs typeface="Calibri"/>
                <a:sym typeface="Calibri"/>
              </a:rPr>
              <a:t> o </a:t>
            </a:r>
            <a:r>
              <a:rPr lang="en-US" dirty="0" err="1">
                <a:latin typeface="Calibri"/>
                <a:ea typeface="Calibri"/>
                <a:cs typeface="Calibri"/>
                <a:sym typeface="Calibri"/>
              </a:rPr>
              <a:t>modelo</a:t>
            </a:r>
            <a:r>
              <a:rPr lang="en-US" dirty="0">
                <a:latin typeface="Calibri"/>
                <a:ea typeface="Calibri"/>
                <a:cs typeface="Calibri"/>
                <a:sym typeface="Calibri"/>
              </a:rPr>
              <a:t> mental de </a:t>
            </a:r>
            <a:r>
              <a:rPr lang="en-US" dirty="0" err="1">
                <a:latin typeface="Calibri"/>
                <a:ea typeface="Calibri"/>
                <a:cs typeface="Calibri"/>
                <a:sym typeface="Calibri"/>
              </a:rPr>
              <a:t>elementos</a:t>
            </a:r>
            <a:r>
              <a:rPr lang="en-US" dirty="0">
                <a:latin typeface="Calibri"/>
                <a:ea typeface="Calibri"/>
                <a:cs typeface="Calibri"/>
                <a:sym typeface="Calibri"/>
              </a:rPr>
              <a:t> </a:t>
            </a:r>
            <a:r>
              <a:rPr lang="en-US" dirty="0" err="1">
                <a:latin typeface="Calibri"/>
                <a:ea typeface="Calibri"/>
                <a:cs typeface="Calibri"/>
                <a:sym typeface="Calibri"/>
              </a:rPr>
              <a:t>conceptualmente</a:t>
            </a:r>
            <a:r>
              <a:rPr lang="en-US" dirty="0">
                <a:latin typeface="Calibri"/>
                <a:ea typeface="Calibri"/>
                <a:cs typeface="Calibri"/>
                <a:sym typeface="Calibri"/>
              </a:rPr>
              <a:t> </a:t>
            </a:r>
            <a:r>
              <a:rPr lang="en-US" dirty="0" err="1">
                <a:latin typeface="Calibri"/>
                <a:ea typeface="Calibri"/>
                <a:cs typeface="Calibri"/>
                <a:sym typeface="Calibri"/>
              </a:rPr>
              <a:t>relacionados</a:t>
            </a:r>
            <a:r>
              <a:rPr lang="en-US" dirty="0">
                <a:latin typeface="Calibri"/>
                <a:ea typeface="Calibri"/>
                <a:cs typeface="Calibri"/>
                <a:sym typeface="Calibri"/>
              </a:rPr>
              <a:t> (Beck, 1967; Horowitz, 1988; Stein, 1992, </a:t>
            </a:r>
            <a:r>
              <a:rPr lang="en-US" dirty="0" err="1">
                <a:latin typeface="Calibri"/>
                <a:ea typeface="Calibri"/>
                <a:cs typeface="Calibri"/>
                <a:sym typeface="Calibri"/>
              </a:rPr>
              <a:t>citados</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Rousseau, 2001). </a:t>
            </a:r>
            <a:r>
              <a:rPr lang="en-US" dirty="0" err="1">
                <a:latin typeface="Calibri"/>
                <a:ea typeface="Calibri"/>
                <a:cs typeface="Calibri"/>
                <a:sym typeface="Calibri"/>
              </a:rPr>
              <a:t>Representa</a:t>
            </a:r>
            <a:r>
              <a:rPr lang="en-US" dirty="0">
                <a:latin typeface="Calibri"/>
                <a:ea typeface="Calibri"/>
                <a:cs typeface="Calibri"/>
                <a:sym typeface="Calibri"/>
              </a:rPr>
              <a:t>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abstracción</a:t>
            </a:r>
            <a:r>
              <a:rPr lang="en-US" dirty="0">
                <a:latin typeface="Calibri"/>
                <a:ea typeface="Calibri"/>
                <a:cs typeface="Calibri"/>
                <a:sym typeface="Calibri"/>
              </a:rPr>
              <a:t> </a:t>
            </a:r>
            <a:r>
              <a:rPr lang="en-US" dirty="0" err="1">
                <a:latin typeface="Calibri"/>
                <a:ea typeface="Calibri"/>
                <a:cs typeface="Calibri"/>
                <a:sym typeface="Calibri"/>
              </a:rPr>
              <a:t>prototípica</a:t>
            </a:r>
            <a:r>
              <a:rPr lang="en-US" dirty="0">
                <a:latin typeface="Calibri"/>
                <a:ea typeface="Calibri"/>
                <a:cs typeface="Calibri"/>
                <a:sym typeface="Calibri"/>
              </a:rPr>
              <a:t> de un </a:t>
            </a:r>
            <a:r>
              <a:rPr lang="en-US" dirty="0" err="1">
                <a:latin typeface="Calibri"/>
                <a:ea typeface="Calibri"/>
                <a:cs typeface="Calibri"/>
                <a:sym typeface="Calibri"/>
              </a:rPr>
              <a:t>concepto</a:t>
            </a:r>
            <a:r>
              <a:rPr lang="en-US" dirty="0">
                <a:latin typeface="Calibri"/>
                <a:ea typeface="Calibri"/>
                <a:cs typeface="Calibri"/>
                <a:sym typeface="Calibri"/>
              </a:rPr>
              <a:t> </a:t>
            </a:r>
            <a:r>
              <a:rPr lang="en-US" dirty="0" err="1">
                <a:latin typeface="Calibri"/>
                <a:ea typeface="Calibri"/>
                <a:cs typeface="Calibri"/>
                <a:sym typeface="Calibri"/>
              </a:rPr>
              <a:t>complejo</a:t>
            </a:r>
            <a:r>
              <a:rPr lang="en-US" dirty="0">
                <a:latin typeface="Calibri"/>
                <a:ea typeface="Calibri"/>
                <a:cs typeface="Calibri"/>
                <a:sym typeface="Calibri"/>
              </a:rPr>
              <a:t>, uno que </a:t>
            </a:r>
            <a:r>
              <a:rPr lang="en-US" dirty="0" err="1">
                <a:latin typeface="Calibri"/>
                <a:ea typeface="Calibri"/>
                <a:cs typeface="Calibri"/>
                <a:sym typeface="Calibri"/>
              </a:rPr>
              <a:t>gradualmente</a:t>
            </a:r>
            <a:r>
              <a:rPr lang="en-US" dirty="0">
                <a:latin typeface="Calibri"/>
                <a:ea typeface="Calibri"/>
                <a:cs typeface="Calibri"/>
                <a:sym typeface="Calibri"/>
              </a:rPr>
              <a:t> se </a:t>
            </a:r>
            <a:r>
              <a:rPr lang="en-US" dirty="0" err="1">
                <a:latin typeface="Calibri"/>
                <a:ea typeface="Calibri"/>
                <a:cs typeface="Calibri"/>
                <a:sym typeface="Calibri"/>
              </a:rPr>
              <a:t>desarrolla</a:t>
            </a:r>
            <a:r>
              <a:rPr lang="en-US" dirty="0">
                <a:latin typeface="Calibri"/>
                <a:ea typeface="Calibri"/>
                <a:cs typeface="Calibri"/>
                <a:sym typeface="Calibri"/>
              </a:rPr>
              <a:t> de la </a:t>
            </a:r>
            <a:r>
              <a:rPr lang="en-US" dirty="0" err="1">
                <a:latin typeface="Calibri"/>
                <a:ea typeface="Calibri"/>
                <a:cs typeface="Calibri"/>
                <a:sym typeface="Calibri"/>
              </a:rPr>
              <a:t>experiencia</a:t>
            </a:r>
            <a:r>
              <a:rPr lang="en-US" dirty="0">
                <a:latin typeface="Calibri"/>
                <a:ea typeface="Calibri"/>
                <a:cs typeface="Calibri"/>
                <a:sym typeface="Calibri"/>
              </a:rPr>
              <a:t> </a:t>
            </a:r>
            <a:r>
              <a:rPr lang="en-US" dirty="0" err="1">
                <a:latin typeface="Calibri"/>
                <a:ea typeface="Calibri"/>
                <a:cs typeface="Calibri"/>
                <a:sym typeface="Calibri"/>
              </a:rPr>
              <a:t>pasada</a:t>
            </a:r>
            <a:r>
              <a:rPr lang="en-US" dirty="0">
                <a:latin typeface="Calibri"/>
                <a:ea typeface="Calibri"/>
                <a:cs typeface="Calibri"/>
                <a:sym typeface="Calibri"/>
              </a:rPr>
              <a:t>, y </a:t>
            </a:r>
            <a:r>
              <a:rPr lang="en-US" dirty="0" err="1">
                <a:latin typeface="Calibri"/>
                <a:ea typeface="Calibri"/>
                <a:cs typeface="Calibri"/>
                <a:sym typeface="Calibri"/>
              </a:rPr>
              <a:t>subsecuentemente</a:t>
            </a:r>
            <a:r>
              <a:rPr lang="en-US" dirty="0">
                <a:latin typeface="Calibri"/>
                <a:ea typeface="Calibri"/>
                <a:cs typeface="Calibri"/>
                <a:sym typeface="Calibri"/>
              </a:rPr>
              <a:t> </a:t>
            </a:r>
            <a:r>
              <a:rPr lang="en-US" dirty="0" err="1">
                <a:latin typeface="Calibri"/>
                <a:ea typeface="Calibri"/>
                <a:cs typeface="Calibri"/>
                <a:sym typeface="Calibri"/>
              </a:rPr>
              <a:t>guía</a:t>
            </a:r>
            <a:r>
              <a:rPr lang="en-US" dirty="0">
                <a:latin typeface="Calibri"/>
                <a:ea typeface="Calibri"/>
                <a:cs typeface="Calibri"/>
                <a:sym typeface="Calibri"/>
              </a:rPr>
              <a:t> la forma </a:t>
            </a:r>
            <a:r>
              <a:rPr lang="en-US" dirty="0" err="1">
                <a:latin typeface="Calibri"/>
                <a:ea typeface="Calibri"/>
                <a:cs typeface="Calibri"/>
                <a:sym typeface="Calibri"/>
              </a:rPr>
              <a:t>en</a:t>
            </a:r>
            <a:r>
              <a:rPr lang="en-US" dirty="0">
                <a:latin typeface="Calibri"/>
                <a:ea typeface="Calibri"/>
                <a:cs typeface="Calibri"/>
                <a:sym typeface="Calibri"/>
              </a:rPr>
              <a:t> que la </a:t>
            </a:r>
            <a:r>
              <a:rPr lang="en-US" dirty="0" err="1">
                <a:latin typeface="Calibri"/>
                <a:ea typeface="Calibri"/>
                <a:cs typeface="Calibri"/>
                <a:sym typeface="Calibri"/>
              </a:rPr>
              <a:t>nueva</a:t>
            </a:r>
            <a:r>
              <a:rPr lang="en-US" dirty="0">
                <a:latin typeface="Calibri"/>
                <a:ea typeface="Calibri"/>
                <a:cs typeface="Calibri"/>
                <a:sym typeface="Calibri"/>
              </a:rPr>
              <a:t> </a:t>
            </a:r>
            <a:r>
              <a:rPr lang="en-US" dirty="0" err="1">
                <a:latin typeface="Calibri"/>
                <a:ea typeface="Calibri"/>
                <a:cs typeface="Calibri"/>
                <a:sym typeface="Calibri"/>
              </a:rPr>
              <a:t>información</a:t>
            </a:r>
            <a:r>
              <a:rPr lang="en-US" dirty="0">
                <a:latin typeface="Calibri"/>
                <a:ea typeface="Calibri"/>
                <a:cs typeface="Calibri"/>
                <a:sym typeface="Calibri"/>
              </a:rPr>
              <a:t> es </a:t>
            </a:r>
            <a:r>
              <a:rPr lang="en-US" dirty="0" err="1">
                <a:latin typeface="Calibri"/>
                <a:ea typeface="Calibri"/>
                <a:cs typeface="Calibri"/>
                <a:sym typeface="Calibri"/>
              </a:rPr>
              <a:t>organizada</a:t>
            </a:r>
            <a:r>
              <a:rPr lang="en-US" dirty="0">
                <a:latin typeface="Calibri"/>
                <a:ea typeface="Calibri"/>
                <a:cs typeface="Calibri"/>
                <a:sym typeface="Calibri"/>
              </a:rPr>
              <a:t> (Stein, 1992). En </a:t>
            </a:r>
            <a:r>
              <a:rPr lang="en-US" dirty="0" err="1">
                <a:latin typeface="Calibri"/>
                <a:ea typeface="Calibri"/>
                <a:cs typeface="Calibri"/>
                <a:sym typeface="Calibri"/>
              </a:rPr>
              <a:t>términos</a:t>
            </a:r>
            <a:r>
              <a:rPr lang="en-US" dirty="0">
                <a:latin typeface="Calibri"/>
                <a:ea typeface="Calibri"/>
                <a:cs typeface="Calibri"/>
                <a:sym typeface="Calibri"/>
              </a:rPr>
              <a:t> del </a:t>
            </a:r>
            <a:r>
              <a:rPr lang="en-US" dirty="0" err="1">
                <a:latin typeface="Calibri"/>
                <a:ea typeface="Calibri"/>
                <a:cs typeface="Calibri"/>
                <a:sym typeface="Calibri"/>
              </a:rPr>
              <a:t>concepto</a:t>
            </a:r>
            <a:r>
              <a:rPr lang="en-US" dirty="0">
                <a:latin typeface="Calibri"/>
                <a:ea typeface="Calibri"/>
                <a:cs typeface="Calibri"/>
                <a:sym typeface="Calibri"/>
              </a:rPr>
              <a:t> de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psicológico</a:t>
            </a:r>
            <a:r>
              <a:rPr lang="en-US" dirty="0">
                <a:latin typeface="Calibri"/>
                <a:ea typeface="Calibri"/>
                <a:cs typeface="Calibri"/>
                <a:sym typeface="Calibri"/>
              </a:rPr>
              <a:t>, </a:t>
            </a:r>
            <a:r>
              <a:rPr lang="en-US" dirty="0" err="1">
                <a:latin typeface="Calibri"/>
                <a:ea typeface="Calibri"/>
                <a:cs typeface="Calibri"/>
                <a:sym typeface="Calibri"/>
              </a:rPr>
              <a:t>éste</a:t>
            </a:r>
            <a:r>
              <a:rPr lang="en-US" dirty="0">
                <a:latin typeface="Calibri"/>
                <a:ea typeface="Calibri"/>
                <a:cs typeface="Calibri"/>
                <a:sym typeface="Calibri"/>
              </a:rPr>
              <a:t> </a:t>
            </a:r>
            <a:r>
              <a:rPr lang="en-US" dirty="0" err="1">
                <a:latin typeface="Calibri"/>
                <a:ea typeface="Calibri"/>
                <a:cs typeface="Calibri"/>
                <a:sym typeface="Calibri"/>
              </a:rPr>
              <a:t>constituye</a:t>
            </a:r>
            <a:r>
              <a:rPr lang="en-US" dirty="0">
                <a:latin typeface="Calibri"/>
                <a:ea typeface="Calibri"/>
                <a:cs typeface="Calibri"/>
                <a:sym typeface="Calibri"/>
              </a:rPr>
              <a:t> un </a:t>
            </a:r>
            <a:r>
              <a:rPr lang="en-US" dirty="0" err="1">
                <a:latin typeface="Calibri"/>
                <a:ea typeface="Calibri"/>
                <a:cs typeface="Calibri"/>
                <a:sym typeface="Calibri"/>
              </a:rPr>
              <a:t>esquema</a:t>
            </a:r>
            <a:r>
              <a:rPr lang="en-US" dirty="0">
                <a:latin typeface="Calibri"/>
                <a:ea typeface="Calibri"/>
                <a:cs typeface="Calibri"/>
                <a:sym typeface="Calibri"/>
              </a:rPr>
              <a:t> que </a:t>
            </a:r>
            <a:r>
              <a:rPr lang="en-US" dirty="0" err="1">
                <a:latin typeface="Calibri"/>
                <a:ea typeface="Calibri"/>
                <a:cs typeface="Calibri"/>
                <a:sym typeface="Calibri"/>
              </a:rPr>
              <a:t>permite</a:t>
            </a:r>
            <a:r>
              <a:rPr lang="en-US" dirty="0">
                <a:latin typeface="Calibri"/>
                <a:ea typeface="Calibri"/>
                <a:cs typeface="Calibri"/>
                <a:sym typeface="Calibri"/>
              </a:rPr>
              <a:t> que </a:t>
            </a:r>
            <a:r>
              <a:rPr lang="en-US" dirty="0" err="1">
                <a:latin typeface="Calibri"/>
                <a:ea typeface="Calibri"/>
                <a:cs typeface="Calibri"/>
                <a:sym typeface="Calibri"/>
              </a:rPr>
              <a:t>los</a:t>
            </a:r>
            <a:r>
              <a:rPr lang="en-US" dirty="0">
                <a:latin typeface="Calibri"/>
                <a:ea typeface="Calibri"/>
                <a:cs typeface="Calibri"/>
                <a:sym typeface="Calibri"/>
              </a:rPr>
              <a:t> </a:t>
            </a:r>
            <a:r>
              <a:rPr lang="en-US" dirty="0" err="1">
                <a:latin typeface="Calibri"/>
                <a:ea typeface="Calibri"/>
                <a:cs typeface="Calibri"/>
                <a:sym typeface="Calibri"/>
              </a:rPr>
              <a:t>empleados</a:t>
            </a:r>
            <a:r>
              <a:rPr lang="en-US" dirty="0">
                <a:latin typeface="Calibri"/>
                <a:ea typeface="Calibri"/>
                <a:cs typeface="Calibri"/>
                <a:sym typeface="Calibri"/>
              </a:rPr>
              <a:t> </a:t>
            </a:r>
            <a:r>
              <a:rPr lang="en-US" dirty="0" err="1">
                <a:latin typeface="Calibri"/>
                <a:ea typeface="Calibri"/>
                <a:cs typeface="Calibri"/>
                <a:sym typeface="Calibri"/>
              </a:rPr>
              <a:t>definan</a:t>
            </a:r>
            <a:r>
              <a:rPr lang="en-US" dirty="0">
                <a:latin typeface="Calibri"/>
                <a:ea typeface="Calibri"/>
                <a:cs typeface="Calibri"/>
                <a:sym typeface="Calibri"/>
              </a:rPr>
              <a:t> </a:t>
            </a:r>
            <a:r>
              <a:rPr lang="en-US" dirty="0" err="1">
                <a:latin typeface="Calibri"/>
                <a:ea typeface="Calibri"/>
                <a:cs typeface="Calibri"/>
                <a:sym typeface="Calibri"/>
              </a:rPr>
              <a:t>qué</a:t>
            </a:r>
            <a:r>
              <a:rPr lang="en-US" dirty="0">
                <a:latin typeface="Calibri"/>
                <a:ea typeface="Calibri"/>
                <a:cs typeface="Calibri"/>
                <a:sym typeface="Calibri"/>
              </a:rPr>
              <a:t> </a:t>
            </a:r>
            <a:r>
              <a:rPr lang="en-US" dirty="0" err="1">
                <a:latin typeface="Calibri"/>
                <a:ea typeface="Calibri"/>
                <a:cs typeface="Calibri"/>
                <a:sym typeface="Calibri"/>
              </a:rPr>
              <a:t>implica</a:t>
            </a:r>
            <a:r>
              <a:rPr lang="en-US" dirty="0">
                <a:latin typeface="Calibri"/>
                <a:ea typeface="Calibri"/>
                <a:cs typeface="Calibri"/>
                <a:sym typeface="Calibri"/>
              </a:rPr>
              <a:t> la </a:t>
            </a:r>
            <a:r>
              <a:rPr lang="en-US" dirty="0" err="1">
                <a:latin typeface="Calibri"/>
                <a:ea typeface="Calibri"/>
                <a:cs typeface="Calibri"/>
                <a:sym typeface="Calibri"/>
              </a:rPr>
              <a:t>relación</a:t>
            </a:r>
            <a:r>
              <a:rPr lang="en-US" dirty="0">
                <a:latin typeface="Calibri"/>
                <a:ea typeface="Calibri"/>
                <a:cs typeface="Calibri"/>
                <a:sym typeface="Calibri"/>
              </a:rPr>
              <a:t> de </a:t>
            </a:r>
            <a:r>
              <a:rPr lang="en-US" dirty="0" err="1">
                <a:latin typeface="Calibri"/>
                <a:ea typeface="Calibri"/>
                <a:cs typeface="Calibri"/>
                <a:sym typeface="Calibri"/>
              </a:rPr>
              <a:t>empleo</a:t>
            </a:r>
            <a:r>
              <a:rPr lang="en-US" dirty="0">
                <a:latin typeface="Calibri"/>
                <a:ea typeface="Calibri"/>
                <a:cs typeface="Calibri"/>
                <a:sym typeface="Calibri"/>
              </a:rPr>
              <a:t> y </a:t>
            </a:r>
            <a:r>
              <a:rPr lang="en-US" dirty="0" err="1">
                <a:latin typeface="Calibri"/>
                <a:ea typeface="Calibri"/>
                <a:cs typeface="Calibri"/>
                <a:sym typeface="Calibri"/>
              </a:rPr>
              <a:t>provee</a:t>
            </a:r>
            <a:r>
              <a:rPr lang="en-US" dirty="0">
                <a:latin typeface="Calibri"/>
                <a:ea typeface="Calibri"/>
                <a:cs typeface="Calibri"/>
                <a:sym typeface="Calibri"/>
              </a:rPr>
              <a:t>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guía</a:t>
            </a:r>
            <a:r>
              <a:rPr lang="en-US" dirty="0">
                <a:latin typeface="Calibri"/>
                <a:ea typeface="Calibri"/>
                <a:cs typeface="Calibri"/>
                <a:sym typeface="Calibri"/>
              </a:rPr>
              <a:t> para la </a:t>
            </a:r>
            <a:r>
              <a:rPr lang="en-US" dirty="0" err="1">
                <a:latin typeface="Calibri"/>
                <a:ea typeface="Calibri"/>
                <a:cs typeface="Calibri"/>
                <a:sym typeface="Calibri"/>
              </a:rPr>
              <a:t>recolección</a:t>
            </a:r>
            <a:r>
              <a:rPr lang="en-US" dirty="0">
                <a:latin typeface="Calibri"/>
                <a:ea typeface="Calibri"/>
                <a:cs typeface="Calibri"/>
                <a:sym typeface="Calibri"/>
              </a:rPr>
              <a:t> e </a:t>
            </a:r>
            <a:r>
              <a:rPr lang="en-US" dirty="0" err="1">
                <a:latin typeface="Calibri"/>
                <a:ea typeface="Calibri"/>
                <a:cs typeface="Calibri"/>
                <a:sym typeface="Calibri"/>
              </a:rPr>
              <a:t>interpretación</a:t>
            </a:r>
            <a:r>
              <a:rPr lang="en-US" dirty="0">
                <a:latin typeface="Calibri"/>
                <a:ea typeface="Calibri"/>
                <a:cs typeface="Calibri"/>
                <a:sym typeface="Calibri"/>
              </a:rPr>
              <a:t> de </a:t>
            </a:r>
            <a:r>
              <a:rPr lang="en-US" dirty="0" err="1">
                <a:latin typeface="Calibri"/>
                <a:ea typeface="Calibri"/>
                <a:cs typeface="Calibri"/>
                <a:sym typeface="Calibri"/>
              </a:rPr>
              <a:t>promesas</a:t>
            </a:r>
            <a:r>
              <a:rPr lang="en-US" dirty="0">
                <a:latin typeface="Calibri"/>
                <a:ea typeface="Calibri"/>
                <a:cs typeface="Calibri"/>
                <a:sym typeface="Calibri"/>
              </a:rPr>
              <a:t> </a:t>
            </a:r>
            <a:r>
              <a:rPr lang="en-US" dirty="0" err="1">
                <a:latin typeface="Calibri"/>
                <a:ea typeface="Calibri"/>
                <a:cs typeface="Calibri"/>
                <a:sym typeface="Calibri"/>
              </a:rPr>
              <a:t>intercambiadas</a:t>
            </a:r>
            <a:r>
              <a:rPr lang="en-US" dirty="0">
                <a:latin typeface="Calibri"/>
                <a:ea typeface="Calibri"/>
                <a:cs typeface="Calibri"/>
                <a:sym typeface="Calibri"/>
              </a:rPr>
              <a:t>. De </a:t>
            </a:r>
            <a:r>
              <a:rPr lang="en-US" dirty="0" err="1">
                <a:latin typeface="Calibri"/>
                <a:ea typeface="Calibri"/>
                <a:cs typeface="Calibri"/>
                <a:sym typeface="Calibri"/>
              </a:rPr>
              <a:t>esta</a:t>
            </a:r>
            <a:r>
              <a:rPr lang="en-US" dirty="0">
                <a:latin typeface="Calibri"/>
                <a:ea typeface="Calibri"/>
                <a:cs typeface="Calibri"/>
                <a:sym typeface="Calibri"/>
              </a:rPr>
              <a:t> </a:t>
            </a:r>
            <a:r>
              <a:rPr lang="en-US" dirty="0" err="1">
                <a:latin typeface="Calibri"/>
                <a:ea typeface="Calibri"/>
                <a:cs typeface="Calibri"/>
                <a:sym typeface="Calibri"/>
              </a:rPr>
              <a:t>manera</a:t>
            </a:r>
            <a:r>
              <a:rPr lang="en-US" dirty="0">
                <a:latin typeface="Calibri"/>
                <a:ea typeface="Calibri"/>
                <a:cs typeface="Calibri"/>
                <a:sym typeface="Calibri"/>
              </a:rPr>
              <a:t>, las </a:t>
            </a:r>
            <a:r>
              <a:rPr lang="en-US" dirty="0" err="1">
                <a:latin typeface="Calibri"/>
                <a:ea typeface="Calibri"/>
                <a:cs typeface="Calibri"/>
                <a:sym typeface="Calibri"/>
              </a:rPr>
              <a:t>promesas</a:t>
            </a:r>
            <a:r>
              <a:rPr lang="en-US" dirty="0">
                <a:latin typeface="Calibri"/>
                <a:ea typeface="Calibri"/>
                <a:cs typeface="Calibri"/>
                <a:sym typeface="Calibri"/>
              </a:rPr>
              <a:t> son </a:t>
            </a:r>
            <a:r>
              <a:rPr lang="en-US" dirty="0" err="1">
                <a:latin typeface="Calibri"/>
                <a:ea typeface="Calibri"/>
                <a:cs typeface="Calibri"/>
                <a:sym typeface="Calibri"/>
              </a:rPr>
              <a:t>percepciones</a:t>
            </a:r>
            <a:r>
              <a:rPr lang="en-US" dirty="0">
                <a:latin typeface="Calibri"/>
                <a:ea typeface="Calibri"/>
                <a:cs typeface="Calibri"/>
                <a:sym typeface="Calibri"/>
              </a:rPr>
              <a:t> </a:t>
            </a:r>
            <a:r>
              <a:rPr lang="en-US" dirty="0" err="1">
                <a:latin typeface="Calibri"/>
                <a:ea typeface="Calibri"/>
                <a:cs typeface="Calibri"/>
                <a:sym typeface="Calibri"/>
              </a:rPr>
              <a:t>subjetivas</a:t>
            </a:r>
            <a:r>
              <a:rPr lang="en-US" dirty="0">
                <a:latin typeface="Calibri"/>
                <a:ea typeface="Calibri"/>
                <a:cs typeface="Calibri"/>
                <a:sym typeface="Calibri"/>
              </a:rPr>
              <a:t> de lo que se </a:t>
            </a:r>
            <a:r>
              <a:rPr lang="en-US" dirty="0" err="1">
                <a:latin typeface="Calibri"/>
                <a:ea typeface="Calibri"/>
                <a:cs typeface="Calibri"/>
                <a:sym typeface="Calibri"/>
              </a:rPr>
              <a:t>expresó</a:t>
            </a:r>
            <a:r>
              <a:rPr lang="en-US" dirty="0">
                <a:latin typeface="Calibri"/>
                <a:ea typeface="Calibri"/>
                <a:cs typeface="Calibri"/>
                <a:sym typeface="Calibri"/>
              </a:rPr>
              <a:t> y </a:t>
            </a:r>
            <a:r>
              <a:rPr lang="en-US" dirty="0" err="1">
                <a:latin typeface="Calibri"/>
                <a:ea typeface="Calibri"/>
                <a:cs typeface="Calibri"/>
                <a:sym typeface="Calibri"/>
              </a:rPr>
              <a:t>su</a:t>
            </a:r>
            <a:r>
              <a:rPr lang="en-US" dirty="0">
                <a:latin typeface="Calibri"/>
                <a:ea typeface="Calibri"/>
                <a:cs typeface="Calibri"/>
                <a:sym typeface="Calibri"/>
              </a:rPr>
              <a:t> </a:t>
            </a:r>
            <a:r>
              <a:rPr lang="en-US" dirty="0" err="1">
                <a:latin typeface="Calibri"/>
                <a:ea typeface="Calibri"/>
                <a:cs typeface="Calibri"/>
                <a:sym typeface="Calibri"/>
              </a:rPr>
              <a:t>significado</a:t>
            </a:r>
            <a:r>
              <a:rPr lang="en-US" dirty="0">
                <a:latin typeface="Calibri"/>
                <a:ea typeface="Calibri"/>
                <a:cs typeface="Calibri"/>
                <a:sym typeface="Calibri"/>
              </a:rPr>
              <a:t>, y no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realidad</a:t>
            </a:r>
            <a:r>
              <a:rPr lang="en-US" dirty="0">
                <a:latin typeface="Calibri"/>
                <a:ea typeface="Calibri"/>
                <a:cs typeface="Calibri"/>
                <a:sym typeface="Calibri"/>
              </a:rPr>
              <a:t> </a:t>
            </a:r>
            <a:r>
              <a:rPr lang="en-US" dirty="0" err="1">
                <a:latin typeface="Calibri"/>
                <a:ea typeface="Calibri"/>
                <a:cs typeface="Calibri"/>
                <a:sym typeface="Calibri"/>
              </a:rPr>
              <a:t>objetiva</a:t>
            </a:r>
            <a:r>
              <a:rPr lang="en-US" dirty="0">
                <a:latin typeface="Calibri"/>
                <a:ea typeface="Calibri"/>
                <a:cs typeface="Calibri"/>
                <a:sym typeface="Calibri"/>
              </a:rPr>
              <a:t> (De Vos, </a:t>
            </a:r>
            <a:r>
              <a:rPr lang="en-US" dirty="0" err="1">
                <a:latin typeface="Calibri"/>
                <a:ea typeface="Calibri"/>
                <a:cs typeface="Calibri"/>
                <a:sym typeface="Calibri"/>
              </a:rPr>
              <a:t>Buyens</a:t>
            </a:r>
            <a:r>
              <a:rPr lang="en-US" dirty="0">
                <a:latin typeface="Calibri"/>
                <a:ea typeface="Calibri"/>
                <a:cs typeface="Calibri"/>
                <a:sym typeface="Calibri"/>
              </a:rPr>
              <a:t>, &amp; Schalk, 2005).</a:t>
            </a:r>
            <a:endParaRPr dirty="0">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dirty="0">
                <a:latin typeface="Calibri"/>
                <a:ea typeface="Calibri"/>
                <a:cs typeface="Calibri"/>
                <a:sym typeface="Calibri"/>
              </a:rPr>
              <a:t>Los </a:t>
            </a:r>
            <a:r>
              <a:rPr lang="en-US" dirty="0" err="1">
                <a:latin typeface="Calibri"/>
                <a:ea typeface="Calibri"/>
                <a:cs typeface="Calibri"/>
                <a:sym typeface="Calibri"/>
              </a:rPr>
              <a:t>esquemas</a:t>
            </a:r>
            <a:r>
              <a:rPr lang="en-US" dirty="0">
                <a:latin typeface="Calibri"/>
                <a:ea typeface="Calibri"/>
                <a:cs typeface="Calibri"/>
                <a:sym typeface="Calibri"/>
              </a:rPr>
              <a:t> son </a:t>
            </a:r>
            <a:r>
              <a:rPr lang="en-US" dirty="0" err="1">
                <a:latin typeface="Calibri"/>
                <a:ea typeface="Calibri"/>
                <a:cs typeface="Calibri"/>
                <a:sym typeface="Calibri"/>
              </a:rPr>
              <a:t>los</a:t>
            </a:r>
            <a:r>
              <a:rPr lang="en-US" dirty="0">
                <a:latin typeface="Calibri"/>
                <a:ea typeface="Calibri"/>
                <a:cs typeface="Calibri"/>
                <a:sym typeface="Calibri"/>
              </a:rPr>
              <a:t> </a:t>
            </a:r>
            <a:r>
              <a:rPr lang="en-US" dirty="0" err="1">
                <a:latin typeface="Calibri"/>
                <a:ea typeface="Calibri"/>
                <a:cs typeface="Calibri"/>
                <a:sym typeface="Calibri"/>
              </a:rPr>
              <a:t>lentes</a:t>
            </a:r>
            <a:r>
              <a:rPr lang="en-US" dirty="0">
                <a:latin typeface="Calibri"/>
                <a:ea typeface="Calibri"/>
                <a:cs typeface="Calibri"/>
                <a:sym typeface="Calibri"/>
              </a:rPr>
              <a:t> a </a:t>
            </a:r>
            <a:r>
              <a:rPr lang="en-US" dirty="0" err="1">
                <a:latin typeface="Calibri"/>
                <a:ea typeface="Calibri"/>
                <a:cs typeface="Calibri"/>
                <a:sym typeface="Calibri"/>
              </a:rPr>
              <a:t>través</a:t>
            </a:r>
            <a:r>
              <a:rPr lang="en-US" dirty="0">
                <a:latin typeface="Calibri"/>
                <a:ea typeface="Calibri"/>
                <a:cs typeface="Calibri"/>
                <a:sym typeface="Calibri"/>
              </a:rPr>
              <a:t> de </a:t>
            </a:r>
            <a:r>
              <a:rPr lang="en-US" dirty="0" err="1">
                <a:latin typeface="Calibri"/>
                <a:ea typeface="Calibri"/>
                <a:cs typeface="Calibri"/>
                <a:sym typeface="Calibri"/>
              </a:rPr>
              <a:t>los</a:t>
            </a:r>
            <a:r>
              <a:rPr lang="en-US" dirty="0">
                <a:latin typeface="Calibri"/>
                <a:ea typeface="Calibri"/>
                <a:cs typeface="Calibri"/>
                <a:sym typeface="Calibri"/>
              </a:rPr>
              <a:t> que son </a:t>
            </a:r>
            <a:r>
              <a:rPr lang="en-US" dirty="0" err="1">
                <a:latin typeface="Calibri"/>
                <a:ea typeface="Calibri"/>
                <a:cs typeface="Calibri"/>
                <a:sym typeface="Calibri"/>
              </a:rPr>
              <a:t>seleccionadas</a:t>
            </a:r>
            <a:r>
              <a:rPr lang="en-US" dirty="0">
                <a:latin typeface="Calibri"/>
                <a:ea typeface="Calibri"/>
                <a:cs typeface="Calibri"/>
                <a:sym typeface="Calibri"/>
              </a:rPr>
              <a:t> e </a:t>
            </a:r>
            <a:r>
              <a:rPr lang="en-US" dirty="0" err="1">
                <a:latin typeface="Calibri"/>
                <a:ea typeface="Calibri"/>
                <a:cs typeface="Calibri"/>
                <a:sym typeface="Calibri"/>
              </a:rPr>
              <a:t>interpretadas</a:t>
            </a:r>
            <a:r>
              <a:rPr lang="en-US" dirty="0">
                <a:latin typeface="Calibri"/>
                <a:ea typeface="Calibri"/>
                <a:cs typeface="Calibri"/>
                <a:sym typeface="Calibri"/>
              </a:rPr>
              <a:t> las </a:t>
            </a:r>
            <a:r>
              <a:rPr lang="en-US" dirty="0" err="1">
                <a:latin typeface="Calibri"/>
                <a:ea typeface="Calibri"/>
                <a:cs typeface="Calibri"/>
                <a:sym typeface="Calibri"/>
              </a:rPr>
              <a:t>experiencias</a:t>
            </a:r>
            <a:r>
              <a:rPr lang="en-US" dirty="0">
                <a:latin typeface="Calibri"/>
                <a:ea typeface="Calibri"/>
                <a:cs typeface="Calibri"/>
                <a:sym typeface="Calibri"/>
              </a:rPr>
              <a:t> </a:t>
            </a:r>
            <a:r>
              <a:rPr lang="en-US" dirty="0" err="1">
                <a:latin typeface="Calibri"/>
                <a:ea typeface="Calibri"/>
                <a:cs typeface="Calibri"/>
                <a:sym typeface="Calibri"/>
              </a:rPr>
              <a:t>subsecuentes</a:t>
            </a:r>
            <a:r>
              <a:rPr lang="en-US" dirty="0">
                <a:latin typeface="Calibri"/>
                <a:ea typeface="Calibri"/>
                <a:cs typeface="Calibri"/>
                <a:sym typeface="Calibri"/>
              </a:rPr>
              <a:t>, </a:t>
            </a:r>
            <a:r>
              <a:rPr lang="en-US" dirty="0" err="1">
                <a:latin typeface="Calibri"/>
                <a:ea typeface="Calibri"/>
                <a:cs typeface="Calibri"/>
                <a:sym typeface="Calibri"/>
              </a:rPr>
              <a:t>por</a:t>
            </a:r>
            <a:r>
              <a:rPr lang="en-US" dirty="0">
                <a:latin typeface="Calibri"/>
                <a:ea typeface="Calibri"/>
                <a:cs typeface="Calibri"/>
                <a:sym typeface="Calibri"/>
              </a:rPr>
              <a:t> lo tanto es </a:t>
            </a:r>
            <a:r>
              <a:rPr lang="en-US" dirty="0" err="1">
                <a:latin typeface="Calibri"/>
                <a:ea typeface="Calibri"/>
                <a:cs typeface="Calibri"/>
                <a:sym typeface="Calibri"/>
              </a:rPr>
              <a:t>posible</a:t>
            </a:r>
            <a:r>
              <a:rPr lang="en-US" dirty="0">
                <a:latin typeface="Calibri"/>
                <a:ea typeface="Calibri"/>
                <a:cs typeface="Calibri"/>
                <a:sym typeface="Calibri"/>
              </a:rPr>
              <a:t> que un </a:t>
            </a:r>
            <a:r>
              <a:rPr lang="en-US" dirty="0" err="1">
                <a:latin typeface="Calibri"/>
                <a:ea typeface="Calibri"/>
                <a:cs typeface="Calibri"/>
                <a:sym typeface="Calibri"/>
              </a:rPr>
              <a:t>mismo</a:t>
            </a:r>
            <a:r>
              <a:rPr lang="en-US" dirty="0">
                <a:latin typeface="Calibri"/>
                <a:ea typeface="Calibri"/>
                <a:cs typeface="Calibri"/>
                <a:sym typeface="Calibri"/>
              </a:rPr>
              <a:t> </a:t>
            </a:r>
            <a:r>
              <a:rPr lang="en-US" dirty="0" err="1">
                <a:latin typeface="Calibri"/>
                <a:ea typeface="Calibri"/>
                <a:cs typeface="Calibri"/>
                <a:sym typeface="Calibri"/>
              </a:rPr>
              <a:t>evento</a:t>
            </a:r>
            <a:r>
              <a:rPr lang="en-US" dirty="0">
                <a:latin typeface="Calibri"/>
                <a:ea typeface="Calibri"/>
                <a:cs typeface="Calibri"/>
                <a:sym typeface="Calibri"/>
              </a:rPr>
              <a:t> </a:t>
            </a:r>
            <a:r>
              <a:rPr lang="en-US" dirty="0" err="1">
                <a:latin typeface="Calibri"/>
                <a:ea typeface="Calibri"/>
                <a:cs typeface="Calibri"/>
                <a:sym typeface="Calibri"/>
              </a:rPr>
              <a:t>organizacional</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un </a:t>
            </a:r>
            <a:r>
              <a:rPr lang="en-US" dirty="0" err="1">
                <a:latin typeface="Calibri"/>
                <a:ea typeface="Calibri"/>
                <a:cs typeface="Calibri"/>
                <a:sym typeface="Calibri"/>
              </a:rPr>
              <a:t>comunicado</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intranet o un </a:t>
            </a:r>
            <a:r>
              <a:rPr lang="en-US" dirty="0" err="1">
                <a:latin typeface="Calibri"/>
                <a:ea typeface="Calibri"/>
                <a:cs typeface="Calibri"/>
                <a:sym typeface="Calibri"/>
              </a:rPr>
              <a:t>curso</a:t>
            </a:r>
            <a:r>
              <a:rPr lang="en-US" dirty="0">
                <a:latin typeface="Calibri"/>
                <a:ea typeface="Calibri"/>
                <a:cs typeface="Calibri"/>
                <a:sym typeface="Calibri"/>
              </a:rPr>
              <a:t> de </a:t>
            </a:r>
            <a:r>
              <a:rPr lang="en-US" dirty="0" err="1">
                <a:latin typeface="Calibri"/>
                <a:ea typeface="Calibri"/>
                <a:cs typeface="Calibri"/>
                <a:sym typeface="Calibri"/>
              </a:rPr>
              <a:t>inducción</a:t>
            </a:r>
            <a:r>
              <a:rPr lang="en-US" dirty="0">
                <a:latin typeface="Calibri"/>
                <a:ea typeface="Calibri"/>
                <a:cs typeface="Calibri"/>
                <a:sym typeface="Calibri"/>
              </a:rPr>
              <a:t> a la </a:t>
            </a:r>
            <a:r>
              <a:rPr lang="en-US" dirty="0" err="1">
                <a:latin typeface="Calibri"/>
                <a:ea typeface="Calibri"/>
                <a:cs typeface="Calibri"/>
                <a:sym typeface="Calibri"/>
              </a:rPr>
              <a:t>compañía</a:t>
            </a:r>
            <a:r>
              <a:rPr lang="en-US" dirty="0">
                <a:latin typeface="Calibri"/>
                <a:ea typeface="Calibri"/>
                <a:cs typeface="Calibri"/>
                <a:sym typeface="Calibri"/>
              </a:rPr>
              <a:t>), </a:t>
            </a:r>
            <a:r>
              <a:rPr lang="en-US" dirty="0" err="1">
                <a:latin typeface="Calibri"/>
                <a:ea typeface="Calibri"/>
                <a:cs typeface="Calibri"/>
                <a:sym typeface="Calibri"/>
              </a:rPr>
              <a:t>analizados</a:t>
            </a:r>
            <a:r>
              <a:rPr lang="en-US" dirty="0">
                <a:latin typeface="Calibri"/>
                <a:ea typeface="Calibri"/>
                <a:cs typeface="Calibri"/>
                <a:sym typeface="Calibri"/>
              </a:rPr>
              <a:t> </a:t>
            </a:r>
            <a:r>
              <a:rPr lang="en-US" dirty="0" err="1">
                <a:latin typeface="Calibri"/>
                <a:ea typeface="Calibri"/>
                <a:cs typeface="Calibri"/>
                <a:sym typeface="Calibri"/>
              </a:rPr>
              <a:t>mediante</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filtro</a:t>
            </a:r>
            <a:r>
              <a:rPr lang="en-US" dirty="0">
                <a:latin typeface="Calibri"/>
                <a:ea typeface="Calibri"/>
                <a:cs typeface="Calibri"/>
                <a:sym typeface="Calibri"/>
              </a:rPr>
              <a:t> de dos </a:t>
            </a:r>
            <a:r>
              <a:rPr lang="en-US" dirty="0" err="1">
                <a:latin typeface="Calibri"/>
                <a:ea typeface="Calibri"/>
                <a:cs typeface="Calibri"/>
                <a:sym typeface="Calibri"/>
              </a:rPr>
              <a:t>contratos</a:t>
            </a:r>
            <a:r>
              <a:rPr lang="en-US" dirty="0">
                <a:latin typeface="Calibri"/>
                <a:ea typeface="Calibri"/>
                <a:cs typeface="Calibri"/>
                <a:sym typeface="Calibri"/>
              </a:rPr>
              <a:t> </a:t>
            </a:r>
            <a:r>
              <a:rPr lang="en-US" dirty="0" err="1">
                <a:latin typeface="Calibri"/>
                <a:ea typeface="Calibri"/>
                <a:cs typeface="Calibri"/>
                <a:sym typeface="Calibri"/>
              </a:rPr>
              <a:t>psicológicos</a:t>
            </a:r>
            <a:r>
              <a:rPr lang="en-US" dirty="0">
                <a:latin typeface="Calibri"/>
                <a:ea typeface="Calibri"/>
                <a:cs typeface="Calibri"/>
                <a:sym typeface="Calibri"/>
              </a:rPr>
              <a:t> </a:t>
            </a:r>
            <a:r>
              <a:rPr lang="en-US" dirty="0" err="1">
                <a:latin typeface="Calibri"/>
                <a:ea typeface="Calibri"/>
                <a:cs typeface="Calibri"/>
                <a:sym typeface="Calibri"/>
              </a:rPr>
              <a:t>diferentes</a:t>
            </a:r>
            <a:r>
              <a:rPr lang="en-US" dirty="0">
                <a:latin typeface="Calibri"/>
                <a:ea typeface="Calibri"/>
                <a:cs typeface="Calibri"/>
                <a:sym typeface="Calibri"/>
              </a:rPr>
              <a:t>, </a:t>
            </a:r>
            <a:r>
              <a:rPr lang="en-US" dirty="0" err="1">
                <a:latin typeface="Calibri"/>
                <a:ea typeface="Calibri"/>
                <a:cs typeface="Calibri"/>
                <a:sym typeface="Calibri"/>
              </a:rPr>
              <a:t>arrojen</a:t>
            </a:r>
            <a:r>
              <a:rPr lang="en-US" dirty="0">
                <a:latin typeface="Calibri"/>
                <a:ea typeface="Calibri"/>
                <a:cs typeface="Calibri"/>
                <a:sym typeface="Calibri"/>
              </a:rPr>
              <a:t> </a:t>
            </a:r>
            <a:r>
              <a:rPr lang="en-US" dirty="0" err="1">
                <a:latin typeface="Calibri"/>
                <a:ea typeface="Calibri"/>
                <a:cs typeface="Calibri"/>
                <a:sym typeface="Calibri"/>
              </a:rPr>
              <a:t>diversas</a:t>
            </a:r>
            <a:r>
              <a:rPr lang="en-US" dirty="0">
                <a:latin typeface="Calibri"/>
                <a:ea typeface="Calibri"/>
                <a:cs typeface="Calibri"/>
                <a:sym typeface="Calibri"/>
              </a:rPr>
              <a:t> </a:t>
            </a:r>
            <a:r>
              <a:rPr lang="en-US" dirty="0" err="1">
                <a:latin typeface="Calibri"/>
                <a:ea typeface="Calibri"/>
                <a:cs typeface="Calibri"/>
                <a:sym typeface="Calibri"/>
              </a:rPr>
              <a:t>interpretaciones</a:t>
            </a:r>
            <a:r>
              <a:rPr lang="en-US" dirty="0">
                <a:latin typeface="Calibri"/>
                <a:ea typeface="Calibri"/>
                <a:cs typeface="Calibri"/>
                <a:sym typeface="Calibri"/>
              </a:rPr>
              <a:t> (Rousseau D. 2001).</a:t>
            </a:r>
            <a:endParaRPr dirty="0">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b="1" dirty="0">
                <a:latin typeface="Calibri"/>
                <a:ea typeface="Calibri"/>
                <a:cs typeface="Calibri"/>
                <a:sym typeface="Calibri"/>
              </a:rPr>
              <a:t>La </a:t>
            </a:r>
            <a:r>
              <a:rPr lang="en-US" b="1" dirty="0" err="1">
                <a:latin typeface="Calibri"/>
                <a:ea typeface="Calibri"/>
                <a:cs typeface="Calibri"/>
                <a:sym typeface="Calibri"/>
              </a:rPr>
              <a:t>segunda</a:t>
            </a:r>
            <a:r>
              <a:rPr lang="en-US" b="1" dirty="0">
                <a:latin typeface="Calibri"/>
                <a:ea typeface="Calibri"/>
                <a:cs typeface="Calibri"/>
                <a:sym typeface="Calibri"/>
              </a:rPr>
              <a:t> </a:t>
            </a:r>
            <a:r>
              <a:rPr lang="en-US" b="1" dirty="0" err="1">
                <a:latin typeface="Calibri"/>
                <a:ea typeface="Calibri"/>
                <a:cs typeface="Calibri"/>
                <a:sym typeface="Calibri"/>
              </a:rPr>
              <a:t>diferencia</a:t>
            </a:r>
            <a:r>
              <a:rPr lang="en-US" dirty="0">
                <a:latin typeface="Calibri"/>
                <a:ea typeface="Calibri"/>
                <a:cs typeface="Calibri"/>
                <a:sym typeface="Calibri"/>
              </a:rPr>
              <a:t> con </a:t>
            </a:r>
            <a:r>
              <a:rPr lang="en-US" dirty="0" err="1">
                <a:latin typeface="Calibri"/>
                <a:ea typeface="Calibri"/>
                <a:cs typeface="Calibri"/>
                <a:sym typeface="Calibri"/>
              </a:rPr>
              <a:t>respecto</a:t>
            </a:r>
            <a:r>
              <a:rPr lang="en-US" dirty="0">
                <a:latin typeface="Calibri"/>
                <a:ea typeface="Calibri"/>
                <a:cs typeface="Calibri"/>
                <a:sym typeface="Calibri"/>
              </a:rPr>
              <a:t> a la </a:t>
            </a:r>
            <a:r>
              <a:rPr lang="en-US" dirty="0" err="1">
                <a:latin typeface="Calibri"/>
                <a:ea typeface="Calibri"/>
                <a:cs typeface="Calibri"/>
                <a:sym typeface="Calibri"/>
              </a:rPr>
              <a:t>conceptualización</a:t>
            </a:r>
            <a:r>
              <a:rPr lang="en-US" dirty="0">
                <a:latin typeface="Calibri"/>
                <a:ea typeface="Calibri"/>
                <a:cs typeface="Calibri"/>
                <a:sym typeface="Calibri"/>
              </a:rPr>
              <a:t> </a:t>
            </a:r>
            <a:r>
              <a:rPr lang="en-US" dirty="0" err="1">
                <a:latin typeface="Calibri"/>
                <a:ea typeface="Calibri"/>
                <a:cs typeface="Calibri"/>
                <a:sym typeface="Calibri"/>
              </a:rPr>
              <a:t>tradicional</a:t>
            </a:r>
            <a:r>
              <a:rPr lang="en-US" dirty="0">
                <a:latin typeface="Calibri"/>
                <a:ea typeface="Calibri"/>
                <a:cs typeface="Calibri"/>
                <a:sym typeface="Calibri"/>
              </a:rPr>
              <a:t>, es la </a:t>
            </a:r>
            <a:r>
              <a:rPr lang="en-US" dirty="0" err="1">
                <a:latin typeface="Calibri"/>
                <a:ea typeface="Calibri"/>
                <a:cs typeface="Calibri"/>
                <a:sym typeface="Calibri"/>
              </a:rPr>
              <a:t>referencia</a:t>
            </a:r>
            <a:r>
              <a:rPr lang="en-US" dirty="0">
                <a:latin typeface="Calibri"/>
                <a:ea typeface="Calibri"/>
                <a:cs typeface="Calibri"/>
                <a:sym typeface="Calibri"/>
              </a:rPr>
              <a:t> a </a:t>
            </a:r>
            <a:r>
              <a:rPr lang="en-US" dirty="0" err="1">
                <a:latin typeface="Calibri"/>
                <a:ea typeface="Calibri"/>
                <a:cs typeface="Calibri"/>
                <a:sym typeface="Calibri"/>
              </a:rPr>
              <a:t>promesas</a:t>
            </a:r>
            <a:r>
              <a:rPr lang="en-US" dirty="0">
                <a:latin typeface="Calibri"/>
                <a:ea typeface="Calibri"/>
                <a:cs typeface="Calibri"/>
                <a:sym typeface="Calibri"/>
              </a:rPr>
              <a:t> y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abandono</a:t>
            </a:r>
            <a:r>
              <a:rPr lang="en-US" dirty="0">
                <a:latin typeface="Calibri"/>
                <a:ea typeface="Calibri"/>
                <a:cs typeface="Calibri"/>
                <a:sym typeface="Calibri"/>
              </a:rPr>
              <a:t> del </a:t>
            </a:r>
            <a:r>
              <a:rPr lang="en-US" dirty="0" err="1">
                <a:latin typeface="Calibri"/>
                <a:ea typeface="Calibri"/>
                <a:cs typeface="Calibri"/>
                <a:sym typeface="Calibri"/>
              </a:rPr>
              <a:t>uso</a:t>
            </a:r>
            <a:r>
              <a:rPr lang="en-US" dirty="0">
                <a:latin typeface="Calibri"/>
                <a:ea typeface="Calibri"/>
                <a:cs typeface="Calibri"/>
                <a:sym typeface="Calibri"/>
              </a:rPr>
              <a:t> del </a:t>
            </a:r>
            <a:r>
              <a:rPr lang="en-US" dirty="0" err="1">
                <a:latin typeface="Calibri"/>
                <a:ea typeface="Calibri"/>
                <a:cs typeface="Calibri"/>
                <a:sym typeface="Calibri"/>
              </a:rPr>
              <a:t>término</a:t>
            </a:r>
            <a:r>
              <a:rPr lang="en-US" dirty="0">
                <a:latin typeface="Calibri"/>
                <a:ea typeface="Calibri"/>
                <a:cs typeface="Calibri"/>
                <a:sym typeface="Calibri"/>
              </a:rPr>
              <a:t> </a:t>
            </a:r>
            <a:r>
              <a:rPr lang="en-US" dirty="0" err="1">
                <a:latin typeface="Calibri"/>
                <a:ea typeface="Calibri"/>
                <a:cs typeface="Calibri"/>
                <a:sym typeface="Calibri"/>
              </a:rPr>
              <a:t>expectativas</a:t>
            </a:r>
            <a:r>
              <a:rPr lang="en-US" dirty="0">
                <a:latin typeface="Calibri"/>
                <a:ea typeface="Calibri"/>
                <a:cs typeface="Calibri"/>
                <a:sym typeface="Calibri"/>
              </a:rPr>
              <a:t>.</a:t>
            </a:r>
            <a:endParaRPr dirty="0">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dirty="0">
                <a:latin typeface="Calibri"/>
                <a:ea typeface="Calibri"/>
                <a:cs typeface="Calibri"/>
                <a:sym typeface="Calibri"/>
              </a:rPr>
              <a:t>Una de las </a:t>
            </a:r>
            <a:r>
              <a:rPr lang="en-US" dirty="0" err="1">
                <a:latin typeface="Calibri"/>
                <a:ea typeface="Calibri"/>
                <a:cs typeface="Calibri"/>
                <a:sym typeface="Calibri"/>
              </a:rPr>
              <a:t>razones</a:t>
            </a:r>
            <a:r>
              <a:rPr lang="en-US" dirty="0">
                <a:latin typeface="Calibri"/>
                <a:ea typeface="Calibri"/>
                <a:cs typeface="Calibri"/>
                <a:sym typeface="Calibri"/>
              </a:rPr>
              <a:t> </a:t>
            </a:r>
            <a:r>
              <a:rPr lang="en-US" dirty="0" err="1">
                <a:latin typeface="Calibri"/>
                <a:ea typeface="Calibri"/>
                <a:cs typeface="Calibri"/>
                <a:sym typeface="Calibri"/>
              </a:rPr>
              <a:t>por</a:t>
            </a:r>
            <a:r>
              <a:rPr lang="en-US" dirty="0">
                <a:latin typeface="Calibri"/>
                <a:ea typeface="Calibri"/>
                <a:cs typeface="Calibri"/>
                <a:sym typeface="Calibri"/>
              </a:rPr>
              <a:t> las que la </a:t>
            </a:r>
            <a:r>
              <a:rPr lang="en-US" dirty="0" err="1">
                <a:latin typeface="Calibri"/>
                <a:ea typeface="Calibri"/>
                <a:cs typeface="Calibri"/>
                <a:sym typeface="Calibri"/>
              </a:rPr>
              <a:t>teoría</a:t>
            </a:r>
            <a:r>
              <a:rPr lang="en-US" dirty="0">
                <a:latin typeface="Calibri"/>
                <a:ea typeface="Calibri"/>
                <a:cs typeface="Calibri"/>
                <a:sym typeface="Calibri"/>
              </a:rPr>
              <a:t> del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psicológico</a:t>
            </a:r>
            <a:r>
              <a:rPr lang="en-US" dirty="0">
                <a:latin typeface="Calibri"/>
                <a:ea typeface="Calibri"/>
                <a:cs typeface="Calibri"/>
                <a:sym typeface="Calibri"/>
              </a:rPr>
              <a:t> ha </a:t>
            </a:r>
            <a:r>
              <a:rPr lang="en-US" dirty="0" err="1">
                <a:latin typeface="Calibri"/>
                <a:ea typeface="Calibri"/>
                <a:cs typeface="Calibri"/>
                <a:sym typeface="Calibri"/>
              </a:rPr>
              <a:t>recibido</a:t>
            </a:r>
            <a:r>
              <a:rPr lang="en-US" dirty="0">
                <a:latin typeface="Calibri"/>
                <a:ea typeface="Calibri"/>
                <a:cs typeface="Calibri"/>
                <a:sym typeface="Calibri"/>
              </a:rPr>
              <a:t> </a:t>
            </a:r>
            <a:r>
              <a:rPr lang="en-US" dirty="0" err="1">
                <a:latin typeface="Calibri"/>
                <a:ea typeface="Calibri"/>
                <a:cs typeface="Calibri"/>
                <a:sym typeface="Calibri"/>
              </a:rPr>
              <a:t>críticas</a:t>
            </a:r>
            <a:r>
              <a:rPr lang="en-US" dirty="0">
                <a:latin typeface="Calibri"/>
                <a:ea typeface="Calibri"/>
                <a:cs typeface="Calibri"/>
                <a:sym typeface="Calibri"/>
              </a:rPr>
              <a:t> es </a:t>
            </a:r>
            <a:r>
              <a:rPr lang="en-US" dirty="0" err="1">
                <a:latin typeface="Calibri"/>
                <a:ea typeface="Calibri"/>
                <a:cs typeface="Calibri"/>
                <a:sym typeface="Calibri"/>
              </a:rPr>
              <a:t>por</a:t>
            </a:r>
            <a:r>
              <a:rPr lang="en-US" dirty="0">
                <a:latin typeface="Calibri"/>
                <a:ea typeface="Calibri"/>
                <a:cs typeface="Calibri"/>
                <a:sym typeface="Calibri"/>
              </a:rPr>
              <a:t> la </a:t>
            </a:r>
            <a:r>
              <a:rPr lang="en-US" dirty="0" err="1">
                <a:latin typeface="Calibri"/>
                <a:ea typeface="Calibri"/>
                <a:cs typeface="Calibri"/>
                <a:sym typeface="Calibri"/>
              </a:rPr>
              <a:t>vaguedad</a:t>
            </a:r>
            <a:r>
              <a:rPr lang="en-US" dirty="0">
                <a:latin typeface="Calibri"/>
                <a:ea typeface="Calibri"/>
                <a:cs typeface="Calibri"/>
                <a:sym typeface="Calibri"/>
              </a:rPr>
              <a:t> de la </a:t>
            </a:r>
            <a:r>
              <a:rPr lang="en-US" dirty="0" err="1">
                <a:latin typeface="Calibri"/>
                <a:ea typeface="Calibri"/>
                <a:cs typeface="Calibri"/>
                <a:sym typeface="Calibri"/>
              </a:rPr>
              <a:t>definición</a:t>
            </a:r>
            <a:r>
              <a:rPr lang="en-US" dirty="0">
                <a:latin typeface="Calibri"/>
                <a:ea typeface="Calibri"/>
                <a:cs typeface="Calibri"/>
                <a:sym typeface="Calibri"/>
              </a:rPr>
              <a:t> del </a:t>
            </a:r>
            <a:r>
              <a:rPr lang="en-US" dirty="0" err="1">
                <a:latin typeface="Calibri"/>
                <a:ea typeface="Calibri"/>
                <a:cs typeface="Calibri"/>
                <a:sym typeface="Calibri"/>
              </a:rPr>
              <a:t>constructo</a:t>
            </a:r>
            <a:r>
              <a:rPr lang="en-US" dirty="0">
                <a:latin typeface="Calibri"/>
                <a:ea typeface="Calibri"/>
                <a:cs typeface="Calibri"/>
                <a:sym typeface="Calibri"/>
              </a:rPr>
              <a:t> (Guest, 1998). </a:t>
            </a:r>
            <a:r>
              <a:rPr lang="en-US" dirty="0" err="1">
                <a:latin typeface="Calibri"/>
                <a:ea typeface="Calibri"/>
                <a:cs typeface="Calibri"/>
                <a:sym typeface="Calibri"/>
              </a:rPr>
              <a:t>Términos</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a:t>
            </a:r>
            <a:r>
              <a:rPr lang="en-US" dirty="0" err="1">
                <a:latin typeface="Calibri"/>
                <a:ea typeface="Calibri"/>
                <a:cs typeface="Calibri"/>
                <a:sym typeface="Calibri"/>
              </a:rPr>
              <a:t>expectativas</a:t>
            </a:r>
            <a:r>
              <a:rPr lang="en-US" dirty="0">
                <a:latin typeface="Calibri"/>
                <a:ea typeface="Calibri"/>
                <a:cs typeface="Calibri"/>
                <a:sym typeface="Calibri"/>
              </a:rPr>
              <a:t>, </a:t>
            </a:r>
            <a:r>
              <a:rPr lang="en-US" dirty="0" err="1">
                <a:latin typeface="Calibri"/>
                <a:ea typeface="Calibri"/>
                <a:cs typeface="Calibri"/>
                <a:sym typeface="Calibri"/>
              </a:rPr>
              <a:t>promesas</a:t>
            </a:r>
            <a:r>
              <a:rPr lang="en-US" dirty="0">
                <a:latin typeface="Calibri"/>
                <a:ea typeface="Calibri"/>
                <a:cs typeface="Calibri"/>
                <a:sym typeface="Calibri"/>
              </a:rPr>
              <a:t> u </a:t>
            </a:r>
            <a:r>
              <a:rPr lang="en-US" dirty="0" err="1">
                <a:latin typeface="Calibri"/>
                <a:ea typeface="Calibri"/>
                <a:cs typeface="Calibri"/>
                <a:sym typeface="Calibri"/>
              </a:rPr>
              <a:t>obligaciones</a:t>
            </a:r>
            <a:r>
              <a:rPr lang="en-US" dirty="0">
                <a:latin typeface="Calibri"/>
                <a:ea typeface="Calibri"/>
                <a:cs typeface="Calibri"/>
                <a:sym typeface="Calibri"/>
              </a:rPr>
              <a:t> </a:t>
            </a:r>
            <a:r>
              <a:rPr lang="en-US" dirty="0" err="1">
                <a:latin typeface="Calibri"/>
                <a:ea typeface="Calibri"/>
                <a:cs typeface="Calibri"/>
                <a:sym typeface="Calibri"/>
              </a:rPr>
              <a:t>parecían</a:t>
            </a:r>
            <a:r>
              <a:rPr lang="en-US" dirty="0">
                <a:latin typeface="Calibri"/>
                <a:ea typeface="Calibri"/>
                <a:cs typeface="Calibri"/>
                <a:sym typeface="Calibri"/>
              </a:rPr>
              <a:t> </a:t>
            </a:r>
            <a:r>
              <a:rPr lang="en-US" dirty="0" err="1">
                <a:latin typeface="Calibri"/>
                <a:ea typeface="Calibri"/>
                <a:cs typeface="Calibri"/>
                <a:sym typeface="Calibri"/>
              </a:rPr>
              <a:t>usarse</a:t>
            </a:r>
            <a:r>
              <a:rPr lang="en-US" dirty="0">
                <a:latin typeface="Calibri"/>
                <a:ea typeface="Calibri"/>
                <a:cs typeface="Calibri"/>
                <a:sym typeface="Calibri"/>
              </a:rPr>
              <a:t> </a:t>
            </a:r>
            <a:r>
              <a:rPr lang="en-US" dirty="0" err="1">
                <a:latin typeface="Calibri"/>
                <a:ea typeface="Calibri"/>
                <a:cs typeface="Calibri"/>
                <a:sym typeface="Calibri"/>
              </a:rPr>
              <a:t>indistintamente</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las </a:t>
            </a:r>
            <a:r>
              <a:rPr lang="en-US" dirty="0" err="1">
                <a:latin typeface="Calibri"/>
                <a:ea typeface="Calibri"/>
                <a:cs typeface="Calibri"/>
                <a:sym typeface="Calibri"/>
              </a:rPr>
              <a:t>conceptualizaciones</a:t>
            </a:r>
            <a:r>
              <a:rPr lang="en-US" dirty="0">
                <a:latin typeface="Calibri"/>
                <a:ea typeface="Calibri"/>
                <a:cs typeface="Calibri"/>
                <a:sym typeface="Calibri"/>
              </a:rPr>
              <a:t>, </a:t>
            </a:r>
            <a:r>
              <a:rPr lang="en-US" dirty="0" err="1">
                <a:latin typeface="Calibri"/>
                <a:ea typeface="Calibri"/>
                <a:cs typeface="Calibri"/>
                <a:sym typeface="Calibri"/>
              </a:rPr>
              <a:t>generando</a:t>
            </a:r>
            <a:r>
              <a:rPr lang="en-US" dirty="0">
                <a:latin typeface="Calibri"/>
                <a:ea typeface="Calibri"/>
                <a:cs typeface="Calibri"/>
                <a:sym typeface="Calibri"/>
              </a:rPr>
              <a:t> </a:t>
            </a:r>
            <a:r>
              <a:rPr lang="en-US" dirty="0" err="1">
                <a:latin typeface="Calibri"/>
                <a:ea typeface="Calibri"/>
                <a:cs typeface="Calibri"/>
                <a:sym typeface="Calibri"/>
              </a:rPr>
              <a:t>confusión</a:t>
            </a:r>
            <a:r>
              <a:rPr lang="en-US" dirty="0">
                <a:latin typeface="Calibri"/>
                <a:ea typeface="Calibri"/>
                <a:cs typeface="Calibri"/>
                <a:sym typeface="Calibri"/>
              </a:rPr>
              <a:t>. Como </a:t>
            </a:r>
            <a:r>
              <a:rPr lang="en-US" dirty="0" err="1">
                <a:latin typeface="Calibri"/>
                <a:ea typeface="Calibri"/>
                <a:cs typeface="Calibri"/>
                <a:sym typeface="Calibri"/>
              </a:rPr>
              <a:t>señala</a:t>
            </a:r>
            <a:r>
              <a:rPr lang="en-US" dirty="0">
                <a:latin typeface="Calibri"/>
                <a:ea typeface="Calibri"/>
                <a:cs typeface="Calibri"/>
                <a:sym typeface="Calibri"/>
              </a:rPr>
              <a:t> </a:t>
            </a:r>
            <a:r>
              <a:rPr lang="en-US" dirty="0" err="1">
                <a:latin typeface="Calibri"/>
                <a:ea typeface="Calibri"/>
                <a:cs typeface="Calibri"/>
                <a:sym typeface="Calibri"/>
              </a:rPr>
              <a:t>Roehling</a:t>
            </a:r>
            <a:r>
              <a:rPr lang="en-US" dirty="0">
                <a:latin typeface="Calibri"/>
                <a:ea typeface="Calibri"/>
                <a:cs typeface="Calibri"/>
                <a:sym typeface="Calibri"/>
              </a:rPr>
              <a:t>, </a:t>
            </a:r>
            <a:r>
              <a:rPr lang="en-US" dirty="0" err="1">
                <a:latin typeface="Calibri"/>
                <a:ea typeface="Calibri"/>
                <a:cs typeface="Calibri"/>
                <a:sym typeface="Calibri"/>
              </a:rPr>
              <a:t>existen</a:t>
            </a:r>
            <a:r>
              <a:rPr lang="en-US" dirty="0">
                <a:latin typeface="Calibri"/>
                <a:ea typeface="Calibri"/>
                <a:cs typeface="Calibri"/>
                <a:sym typeface="Calibri"/>
              </a:rPr>
              <a:t> </a:t>
            </a:r>
            <a:r>
              <a:rPr lang="en-US" dirty="0" err="1">
                <a:latin typeface="Calibri"/>
                <a:ea typeface="Calibri"/>
                <a:cs typeface="Calibri"/>
                <a:sym typeface="Calibri"/>
              </a:rPr>
              <a:t>razones</a:t>
            </a:r>
            <a:r>
              <a:rPr lang="en-US" dirty="0">
                <a:latin typeface="Calibri"/>
                <a:ea typeface="Calibri"/>
                <a:cs typeface="Calibri"/>
                <a:sym typeface="Calibri"/>
              </a:rPr>
              <a:t> tanto </a:t>
            </a:r>
            <a:r>
              <a:rPr lang="en-US" dirty="0" err="1">
                <a:latin typeface="Calibri"/>
                <a:ea typeface="Calibri"/>
                <a:cs typeface="Calibri"/>
                <a:sym typeface="Calibri"/>
              </a:rPr>
              <a:t>teóricas</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a:t>
            </a:r>
            <a:r>
              <a:rPr lang="en-US" dirty="0" err="1">
                <a:latin typeface="Calibri"/>
                <a:ea typeface="Calibri"/>
                <a:cs typeface="Calibri"/>
                <a:sym typeface="Calibri"/>
              </a:rPr>
              <a:t>empíricas</a:t>
            </a:r>
            <a:r>
              <a:rPr lang="en-US" dirty="0">
                <a:latin typeface="Calibri"/>
                <a:ea typeface="Calibri"/>
                <a:cs typeface="Calibri"/>
                <a:sym typeface="Calibri"/>
              </a:rPr>
              <a:t> para </a:t>
            </a:r>
            <a:r>
              <a:rPr lang="en-US" dirty="0" err="1">
                <a:latin typeface="Calibri"/>
                <a:ea typeface="Calibri"/>
                <a:cs typeface="Calibri"/>
                <a:sym typeface="Calibri"/>
              </a:rPr>
              <a:t>evitar</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uso</a:t>
            </a:r>
            <a:r>
              <a:rPr lang="en-US" dirty="0">
                <a:latin typeface="Calibri"/>
                <a:ea typeface="Calibri"/>
                <a:cs typeface="Calibri"/>
                <a:sym typeface="Calibri"/>
              </a:rPr>
              <a:t> de </a:t>
            </a:r>
            <a:r>
              <a:rPr lang="en-US" dirty="0" err="1">
                <a:latin typeface="Calibri"/>
                <a:ea typeface="Calibri"/>
                <a:cs typeface="Calibri"/>
                <a:sym typeface="Calibri"/>
              </a:rPr>
              <a:t>estos</a:t>
            </a:r>
            <a:r>
              <a:rPr lang="en-US" dirty="0">
                <a:latin typeface="Calibri"/>
                <a:ea typeface="Calibri"/>
                <a:cs typeface="Calibri"/>
                <a:sym typeface="Calibri"/>
              </a:rPr>
              <a:t> </a:t>
            </a:r>
            <a:r>
              <a:rPr lang="en-US" dirty="0" err="1">
                <a:latin typeface="Calibri"/>
                <a:ea typeface="Calibri"/>
                <a:cs typeface="Calibri"/>
                <a:sym typeface="Calibri"/>
              </a:rPr>
              <a:t>elementos</a:t>
            </a:r>
            <a:r>
              <a:rPr lang="en-US" dirty="0">
                <a:latin typeface="Calibri"/>
                <a:ea typeface="Calibri"/>
                <a:cs typeface="Calibri"/>
                <a:sym typeface="Calibri"/>
              </a:rPr>
              <a:t> de </a:t>
            </a:r>
            <a:r>
              <a:rPr lang="en-US" dirty="0" err="1">
                <a:latin typeface="Calibri"/>
                <a:ea typeface="Calibri"/>
                <a:cs typeface="Calibri"/>
                <a:sym typeface="Calibri"/>
              </a:rPr>
              <a:t>creencia</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a:t>
            </a:r>
            <a:r>
              <a:rPr lang="en-US" dirty="0" err="1">
                <a:latin typeface="Calibri"/>
                <a:ea typeface="Calibri"/>
                <a:cs typeface="Calibri"/>
                <a:sym typeface="Calibri"/>
              </a:rPr>
              <a:t>intercambiables</a:t>
            </a:r>
            <a:r>
              <a:rPr lang="en-US" dirty="0">
                <a:latin typeface="Calibri"/>
                <a:ea typeface="Calibri"/>
                <a:cs typeface="Calibri"/>
                <a:sym typeface="Calibri"/>
              </a:rPr>
              <a:t> a la hora de </a:t>
            </a:r>
            <a:r>
              <a:rPr lang="en-US" dirty="0" err="1">
                <a:latin typeface="Calibri"/>
                <a:ea typeface="Calibri"/>
                <a:cs typeface="Calibri"/>
                <a:sym typeface="Calibri"/>
              </a:rPr>
              <a:t>definir</a:t>
            </a:r>
            <a:r>
              <a:rPr lang="en-US" dirty="0">
                <a:latin typeface="Calibri"/>
                <a:ea typeface="Calibri"/>
                <a:cs typeface="Calibri"/>
                <a:sym typeface="Calibri"/>
              </a:rPr>
              <a:t> y </a:t>
            </a:r>
            <a:r>
              <a:rPr lang="en-US" dirty="0" err="1">
                <a:latin typeface="Calibri"/>
                <a:ea typeface="Calibri"/>
                <a:cs typeface="Calibri"/>
                <a:sym typeface="Calibri"/>
              </a:rPr>
              <a:t>medir</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constructo</a:t>
            </a:r>
            <a:r>
              <a:rPr lang="en-US" dirty="0">
                <a:latin typeface="Calibri"/>
                <a:ea typeface="Calibri"/>
                <a:cs typeface="Calibri"/>
                <a:sym typeface="Calibri"/>
              </a:rPr>
              <a:t> del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psicológico</a:t>
            </a:r>
            <a:r>
              <a:rPr lang="en-US" dirty="0">
                <a:latin typeface="Calibri"/>
                <a:ea typeface="Calibri"/>
                <a:cs typeface="Calibri"/>
                <a:sym typeface="Calibri"/>
              </a:rPr>
              <a:t> (</a:t>
            </a:r>
            <a:r>
              <a:rPr lang="en-US" dirty="0" err="1">
                <a:latin typeface="Calibri"/>
                <a:ea typeface="Calibri"/>
                <a:cs typeface="Calibri"/>
                <a:sym typeface="Calibri"/>
              </a:rPr>
              <a:t>Roehling</a:t>
            </a:r>
            <a:r>
              <a:rPr lang="en-US" dirty="0">
                <a:latin typeface="Calibri"/>
                <a:ea typeface="Calibri"/>
                <a:cs typeface="Calibri"/>
                <a:sym typeface="Calibri"/>
              </a:rPr>
              <a:t>, 2008). En </a:t>
            </a:r>
            <a:r>
              <a:rPr lang="en-US" dirty="0" err="1">
                <a:latin typeface="Calibri"/>
                <a:ea typeface="Calibri"/>
                <a:cs typeface="Calibri"/>
                <a:sym typeface="Calibri"/>
              </a:rPr>
              <a:t>términos</a:t>
            </a:r>
            <a:r>
              <a:rPr lang="en-US" dirty="0">
                <a:latin typeface="Calibri"/>
                <a:ea typeface="Calibri"/>
                <a:cs typeface="Calibri"/>
                <a:sym typeface="Calibri"/>
              </a:rPr>
              <a:t> de </a:t>
            </a:r>
            <a:r>
              <a:rPr lang="en-US" dirty="0" err="1">
                <a:latin typeface="Calibri"/>
                <a:ea typeface="Calibri"/>
                <a:cs typeface="Calibri"/>
                <a:sym typeface="Calibri"/>
              </a:rPr>
              <a:t>investigación</a:t>
            </a:r>
            <a:r>
              <a:rPr lang="en-US" dirty="0">
                <a:latin typeface="Calibri"/>
                <a:ea typeface="Calibri"/>
                <a:cs typeface="Calibri"/>
                <a:sym typeface="Calibri"/>
              </a:rPr>
              <a:t> </a:t>
            </a:r>
            <a:r>
              <a:rPr lang="en-US" dirty="0" err="1">
                <a:latin typeface="Calibri"/>
                <a:ea typeface="Calibri"/>
                <a:cs typeface="Calibri"/>
                <a:sym typeface="Calibri"/>
              </a:rPr>
              <a:t>empírica</a:t>
            </a:r>
            <a:r>
              <a:rPr lang="en-US" dirty="0">
                <a:latin typeface="Calibri"/>
                <a:ea typeface="Calibri"/>
                <a:cs typeface="Calibri"/>
                <a:sym typeface="Calibri"/>
              </a:rPr>
              <a:t>, </a:t>
            </a:r>
            <a:r>
              <a:rPr lang="en-US" dirty="0" err="1">
                <a:latin typeface="Calibri"/>
                <a:ea typeface="Calibri"/>
                <a:cs typeface="Calibri"/>
                <a:sym typeface="Calibri"/>
              </a:rPr>
              <a:t>varios</a:t>
            </a:r>
            <a:r>
              <a:rPr lang="en-US" dirty="0">
                <a:latin typeface="Calibri"/>
                <a:ea typeface="Calibri"/>
                <a:cs typeface="Calibri"/>
                <a:sym typeface="Calibri"/>
              </a:rPr>
              <a:t> </a:t>
            </a:r>
            <a:r>
              <a:rPr lang="en-US" dirty="0" err="1">
                <a:latin typeface="Calibri"/>
                <a:ea typeface="Calibri"/>
                <a:cs typeface="Calibri"/>
                <a:sym typeface="Calibri"/>
              </a:rPr>
              <a:t>estudios</a:t>
            </a:r>
            <a:r>
              <a:rPr lang="en-US" dirty="0">
                <a:latin typeface="Calibri"/>
                <a:ea typeface="Calibri"/>
                <a:cs typeface="Calibri"/>
                <a:sym typeface="Calibri"/>
              </a:rPr>
              <a:t> </a:t>
            </a:r>
            <a:r>
              <a:rPr lang="en-US" dirty="0" err="1">
                <a:latin typeface="Calibri"/>
                <a:ea typeface="Calibri"/>
                <a:cs typeface="Calibri"/>
                <a:sym typeface="Calibri"/>
              </a:rPr>
              <a:t>apoyan</a:t>
            </a:r>
            <a:r>
              <a:rPr lang="en-US" dirty="0">
                <a:latin typeface="Calibri"/>
                <a:ea typeface="Calibri"/>
                <a:cs typeface="Calibri"/>
                <a:sym typeface="Calibri"/>
              </a:rPr>
              <a:t> </a:t>
            </a:r>
            <a:r>
              <a:rPr lang="en-US" dirty="0" err="1">
                <a:latin typeface="Calibri"/>
                <a:ea typeface="Calibri"/>
                <a:cs typeface="Calibri"/>
                <a:sym typeface="Calibri"/>
              </a:rPr>
              <a:t>esta</a:t>
            </a:r>
            <a:r>
              <a:rPr lang="en-US" dirty="0">
                <a:latin typeface="Calibri"/>
                <a:ea typeface="Calibri"/>
                <a:cs typeface="Calibri"/>
                <a:sym typeface="Calibri"/>
              </a:rPr>
              <a:t> </a:t>
            </a:r>
            <a:r>
              <a:rPr lang="en-US" dirty="0" err="1">
                <a:latin typeface="Calibri"/>
                <a:ea typeface="Calibri"/>
                <a:cs typeface="Calibri"/>
                <a:sym typeface="Calibri"/>
              </a:rPr>
              <a:t>afirmación</a:t>
            </a:r>
            <a:r>
              <a:rPr lang="en-US" dirty="0">
                <a:latin typeface="Calibri"/>
                <a:ea typeface="Calibri"/>
                <a:cs typeface="Calibri"/>
                <a:sym typeface="Calibri"/>
              </a:rPr>
              <a:t>, </a:t>
            </a:r>
            <a:r>
              <a:rPr lang="en-US" dirty="0" err="1">
                <a:latin typeface="Calibri"/>
                <a:ea typeface="Calibri"/>
                <a:cs typeface="Calibri"/>
                <a:sym typeface="Calibri"/>
              </a:rPr>
              <a:t>señalando</a:t>
            </a:r>
            <a:r>
              <a:rPr lang="en-US" dirty="0">
                <a:latin typeface="Calibri"/>
                <a:ea typeface="Calibri"/>
                <a:cs typeface="Calibri"/>
                <a:sym typeface="Calibri"/>
              </a:rPr>
              <a:t> que las </a:t>
            </a:r>
            <a:r>
              <a:rPr lang="en-US" dirty="0" err="1">
                <a:latin typeface="Calibri"/>
                <a:ea typeface="Calibri"/>
                <a:cs typeface="Calibri"/>
                <a:sym typeface="Calibri"/>
              </a:rPr>
              <a:t>obligaciones</a:t>
            </a:r>
            <a:r>
              <a:rPr lang="en-US" dirty="0">
                <a:latin typeface="Calibri"/>
                <a:ea typeface="Calibri"/>
                <a:cs typeface="Calibri"/>
                <a:sym typeface="Calibri"/>
              </a:rPr>
              <a:t> no </a:t>
            </a:r>
            <a:r>
              <a:rPr lang="en-US" dirty="0" err="1">
                <a:latin typeface="Calibri"/>
                <a:ea typeface="Calibri"/>
                <a:cs typeface="Calibri"/>
                <a:sym typeface="Calibri"/>
              </a:rPr>
              <a:t>cumplidas</a:t>
            </a:r>
            <a:r>
              <a:rPr lang="en-US" dirty="0">
                <a:latin typeface="Calibri"/>
                <a:ea typeface="Calibri"/>
                <a:cs typeface="Calibri"/>
                <a:sym typeface="Calibri"/>
              </a:rPr>
              <a:t> </a:t>
            </a:r>
            <a:r>
              <a:rPr lang="en-US" dirty="0" err="1">
                <a:latin typeface="Calibri"/>
                <a:ea typeface="Calibri"/>
                <a:cs typeface="Calibri"/>
                <a:sym typeface="Calibri"/>
              </a:rPr>
              <a:t>resultan</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reacciones</a:t>
            </a:r>
            <a:r>
              <a:rPr lang="en-US" dirty="0">
                <a:latin typeface="Calibri"/>
                <a:ea typeface="Calibri"/>
                <a:cs typeface="Calibri"/>
                <a:sym typeface="Calibri"/>
              </a:rPr>
              <a:t> </a:t>
            </a:r>
            <a:r>
              <a:rPr lang="en-US" dirty="0" err="1">
                <a:latin typeface="Calibri"/>
                <a:ea typeface="Calibri"/>
                <a:cs typeface="Calibri"/>
                <a:sym typeface="Calibri"/>
              </a:rPr>
              <a:t>negativas</a:t>
            </a:r>
            <a:r>
              <a:rPr lang="en-US" dirty="0">
                <a:latin typeface="Calibri"/>
                <a:ea typeface="Calibri"/>
                <a:cs typeface="Calibri"/>
                <a:sym typeface="Calibri"/>
              </a:rPr>
              <a:t> </a:t>
            </a:r>
            <a:r>
              <a:rPr lang="en-US" dirty="0" err="1">
                <a:latin typeface="Calibri"/>
                <a:ea typeface="Calibri"/>
                <a:cs typeface="Calibri"/>
                <a:sym typeface="Calibri"/>
              </a:rPr>
              <a:t>por</a:t>
            </a:r>
            <a:r>
              <a:rPr lang="en-US" dirty="0">
                <a:latin typeface="Calibri"/>
                <a:ea typeface="Calibri"/>
                <a:cs typeface="Calibri"/>
                <a:sym typeface="Calibri"/>
              </a:rPr>
              <a:t> </a:t>
            </a:r>
            <a:r>
              <a:rPr lang="en-US" dirty="0" err="1">
                <a:latin typeface="Calibri"/>
                <a:ea typeface="Calibri"/>
                <a:cs typeface="Calibri"/>
                <a:sym typeface="Calibri"/>
              </a:rPr>
              <a:t>parte</a:t>
            </a:r>
            <a:r>
              <a:rPr lang="en-US" dirty="0">
                <a:latin typeface="Calibri"/>
                <a:ea typeface="Calibri"/>
                <a:cs typeface="Calibri"/>
                <a:sym typeface="Calibri"/>
              </a:rPr>
              <a:t> de </a:t>
            </a:r>
            <a:r>
              <a:rPr lang="en-US" dirty="0" err="1">
                <a:latin typeface="Calibri"/>
                <a:ea typeface="Calibri"/>
                <a:cs typeface="Calibri"/>
                <a:sym typeface="Calibri"/>
              </a:rPr>
              <a:t>los</a:t>
            </a:r>
            <a:r>
              <a:rPr lang="en-US" dirty="0">
                <a:latin typeface="Calibri"/>
                <a:ea typeface="Calibri"/>
                <a:cs typeface="Calibri"/>
                <a:sym typeface="Calibri"/>
              </a:rPr>
              <a:t> </a:t>
            </a:r>
            <a:r>
              <a:rPr lang="en-US" dirty="0" err="1">
                <a:latin typeface="Calibri"/>
                <a:ea typeface="Calibri"/>
                <a:cs typeface="Calibri"/>
                <a:sym typeface="Calibri"/>
              </a:rPr>
              <a:t>empleados</a:t>
            </a:r>
            <a:r>
              <a:rPr lang="en-US" dirty="0">
                <a:latin typeface="Calibri"/>
                <a:ea typeface="Calibri"/>
                <a:cs typeface="Calibri"/>
                <a:sym typeface="Calibri"/>
              </a:rPr>
              <a:t> </a:t>
            </a:r>
            <a:r>
              <a:rPr lang="en-US" dirty="0" err="1">
                <a:latin typeface="Calibri"/>
                <a:ea typeface="Calibri"/>
                <a:cs typeface="Calibri"/>
                <a:sym typeface="Calibri"/>
              </a:rPr>
              <a:t>cuyo</a:t>
            </a:r>
            <a:r>
              <a:rPr lang="en-US" dirty="0">
                <a:latin typeface="Calibri"/>
                <a:ea typeface="Calibri"/>
                <a:cs typeface="Calibri"/>
                <a:sym typeface="Calibri"/>
              </a:rPr>
              <a:t> </a:t>
            </a:r>
            <a:r>
              <a:rPr lang="en-US" dirty="0" err="1">
                <a:latin typeface="Calibri"/>
                <a:ea typeface="Calibri"/>
                <a:cs typeface="Calibri"/>
                <a:sym typeface="Calibri"/>
              </a:rPr>
              <a:t>efecto</a:t>
            </a:r>
            <a:r>
              <a:rPr lang="en-US" dirty="0">
                <a:latin typeface="Calibri"/>
                <a:ea typeface="Calibri"/>
                <a:cs typeface="Calibri"/>
                <a:sym typeface="Calibri"/>
              </a:rPr>
              <a:t> es </a:t>
            </a:r>
            <a:r>
              <a:rPr lang="en-US" dirty="0" err="1">
                <a:latin typeface="Calibri"/>
                <a:ea typeface="Calibri"/>
                <a:cs typeface="Calibri"/>
                <a:sym typeface="Calibri"/>
              </a:rPr>
              <a:t>más</a:t>
            </a:r>
            <a:r>
              <a:rPr lang="en-US" dirty="0">
                <a:latin typeface="Calibri"/>
                <a:ea typeface="Calibri"/>
                <a:cs typeface="Calibri"/>
                <a:sym typeface="Calibri"/>
              </a:rPr>
              <a:t> </a:t>
            </a:r>
            <a:r>
              <a:rPr lang="en-US" dirty="0" err="1">
                <a:latin typeface="Calibri"/>
                <a:ea typeface="Calibri"/>
                <a:cs typeface="Calibri"/>
                <a:sym typeface="Calibri"/>
              </a:rPr>
              <a:t>fuerte</a:t>
            </a:r>
            <a:r>
              <a:rPr lang="en-US" dirty="0">
                <a:latin typeface="Calibri"/>
                <a:ea typeface="Calibri"/>
                <a:cs typeface="Calibri"/>
                <a:sym typeface="Calibri"/>
              </a:rPr>
              <a:t> que </a:t>
            </a:r>
            <a:r>
              <a:rPr lang="en-US" dirty="0" err="1">
                <a:latin typeface="Calibri"/>
                <a:ea typeface="Calibri"/>
                <a:cs typeface="Calibri"/>
                <a:sym typeface="Calibri"/>
              </a:rPr>
              <a:t>el</a:t>
            </a:r>
            <a:r>
              <a:rPr lang="en-US" dirty="0">
                <a:latin typeface="Calibri"/>
                <a:ea typeface="Calibri"/>
                <a:cs typeface="Calibri"/>
                <a:sym typeface="Calibri"/>
              </a:rPr>
              <a:t> de las </a:t>
            </a:r>
            <a:r>
              <a:rPr lang="en-US" dirty="0" err="1">
                <a:latin typeface="Calibri"/>
                <a:ea typeface="Calibri"/>
                <a:cs typeface="Calibri"/>
                <a:sym typeface="Calibri"/>
              </a:rPr>
              <a:t>expectativas</a:t>
            </a:r>
            <a:r>
              <a:rPr lang="en-US" dirty="0">
                <a:latin typeface="Calibri"/>
                <a:ea typeface="Calibri"/>
                <a:cs typeface="Calibri"/>
                <a:sym typeface="Calibri"/>
              </a:rPr>
              <a:t> no </a:t>
            </a:r>
            <a:r>
              <a:rPr lang="en-US" dirty="0" err="1">
                <a:latin typeface="Calibri"/>
                <a:ea typeface="Calibri"/>
                <a:cs typeface="Calibri"/>
                <a:sym typeface="Calibri"/>
              </a:rPr>
              <a:t>cumplidas</a:t>
            </a:r>
            <a:r>
              <a:rPr lang="en-US" dirty="0">
                <a:latin typeface="Calibri"/>
                <a:ea typeface="Calibri"/>
                <a:cs typeface="Calibri"/>
                <a:sym typeface="Calibri"/>
              </a:rPr>
              <a:t> (Robinson S. , 1996; </a:t>
            </a:r>
            <a:r>
              <a:rPr lang="en-US" dirty="0" err="1">
                <a:latin typeface="Calibri"/>
                <a:ea typeface="Calibri"/>
                <a:cs typeface="Calibri"/>
                <a:sym typeface="Calibri"/>
              </a:rPr>
              <a:t>Turnley</a:t>
            </a:r>
            <a:r>
              <a:rPr lang="en-US" dirty="0">
                <a:latin typeface="Calibri"/>
                <a:ea typeface="Calibri"/>
                <a:cs typeface="Calibri"/>
                <a:sym typeface="Calibri"/>
              </a:rPr>
              <a:t> &amp; Feldman,</a:t>
            </a:r>
            <a:endParaRPr dirty="0">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dirty="0">
                <a:latin typeface="Calibri"/>
                <a:ea typeface="Calibri"/>
                <a:cs typeface="Calibri"/>
                <a:sym typeface="Calibri"/>
              </a:rPr>
              <a:t>1998).</a:t>
            </a:r>
            <a:endParaRPr dirty="0">
              <a:latin typeface="Calibri"/>
              <a:ea typeface="Calibri"/>
              <a:cs typeface="Calibri"/>
              <a:sym typeface="Calibri"/>
            </a:endParaRPr>
          </a:p>
          <a:p>
            <a:pPr marL="0" lvl="0" indent="0" algn="just" rtl="0">
              <a:lnSpc>
                <a:spcPct val="100000"/>
              </a:lnSpc>
              <a:spcBef>
                <a:spcPts val="0"/>
              </a:spcBef>
              <a:spcAft>
                <a:spcPts val="0"/>
              </a:spcAft>
              <a:buClr>
                <a:schemeClr val="dk1"/>
              </a:buClr>
              <a:buSzPts val="1100"/>
              <a:buFont typeface="Arial"/>
              <a:buNone/>
            </a:pPr>
            <a:r>
              <a:rPr lang="en-US" dirty="0" err="1">
                <a:latin typeface="Calibri"/>
                <a:ea typeface="Calibri"/>
                <a:cs typeface="Calibri"/>
                <a:sym typeface="Calibri"/>
              </a:rPr>
              <a:t>Según</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Diccionario</a:t>
            </a:r>
            <a:r>
              <a:rPr lang="en-US" dirty="0">
                <a:latin typeface="Calibri"/>
                <a:ea typeface="Calibri"/>
                <a:cs typeface="Calibri"/>
                <a:sym typeface="Calibri"/>
              </a:rPr>
              <a:t> de la Real Academia Española,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promesa</a:t>
            </a:r>
            <a:r>
              <a:rPr lang="en-US" dirty="0">
                <a:latin typeface="Calibri"/>
                <a:ea typeface="Calibri"/>
                <a:cs typeface="Calibri"/>
                <a:sym typeface="Calibri"/>
              </a:rPr>
              <a:t> es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expresión</a:t>
            </a:r>
            <a:r>
              <a:rPr lang="en-US" dirty="0">
                <a:latin typeface="Calibri"/>
                <a:ea typeface="Calibri"/>
                <a:cs typeface="Calibri"/>
                <a:sym typeface="Calibri"/>
              </a:rPr>
              <a:t> de la </a:t>
            </a:r>
            <a:r>
              <a:rPr lang="en-US" dirty="0" err="1">
                <a:latin typeface="Calibri"/>
                <a:ea typeface="Calibri"/>
                <a:cs typeface="Calibri"/>
                <a:sym typeface="Calibri"/>
              </a:rPr>
              <a:t>voluntad</a:t>
            </a:r>
            <a:r>
              <a:rPr lang="en-US" dirty="0">
                <a:latin typeface="Calibri"/>
                <a:ea typeface="Calibri"/>
                <a:cs typeface="Calibri"/>
                <a:sym typeface="Calibri"/>
              </a:rPr>
              <a:t> de </a:t>
            </a:r>
            <a:r>
              <a:rPr lang="en-US" dirty="0" err="1">
                <a:latin typeface="Calibri"/>
                <a:ea typeface="Calibri"/>
                <a:cs typeface="Calibri"/>
                <a:sym typeface="Calibri"/>
              </a:rPr>
              <a:t>dar</a:t>
            </a:r>
            <a:r>
              <a:rPr lang="en-US" dirty="0">
                <a:latin typeface="Calibri"/>
                <a:ea typeface="Calibri"/>
                <a:cs typeface="Calibri"/>
                <a:sym typeface="Calibri"/>
              </a:rPr>
              <a:t> a </a:t>
            </a:r>
            <a:r>
              <a:rPr lang="en-US" dirty="0" err="1">
                <a:latin typeface="Calibri"/>
                <a:ea typeface="Calibri"/>
                <a:cs typeface="Calibri"/>
                <a:sym typeface="Calibri"/>
              </a:rPr>
              <a:t>alguien</a:t>
            </a:r>
            <a:r>
              <a:rPr lang="en-US" dirty="0">
                <a:latin typeface="Calibri"/>
                <a:ea typeface="Calibri"/>
                <a:cs typeface="Calibri"/>
                <a:sym typeface="Calibri"/>
              </a:rPr>
              <a:t> o </a:t>
            </a:r>
            <a:r>
              <a:rPr lang="en-US" dirty="0" err="1">
                <a:latin typeface="Calibri"/>
                <a:ea typeface="Calibri"/>
                <a:cs typeface="Calibri"/>
                <a:sym typeface="Calibri"/>
              </a:rPr>
              <a:t>hacer</a:t>
            </a:r>
            <a:r>
              <a:rPr lang="en-US" dirty="0">
                <a:latin typeface="Calibri"/>
                <a:ea typeface="Calibri"/>
                <a:cs typeface="Calibri"/>
                <a:sym typeface="Calibri"/>
              </a:rPr>
              <a:t> </a:t>
            </a:r>
            <a:r>
              <a:rPr lang="en-US" dirty="0" err="1">
                <a:latin typeface="Calibri"/>
                <a:ea typeface="Calibri"/>
                <a:cs typeface="Calibri"/>
                <a:sym typeface="Calibri"/>
              </a:rPr>
              <a:t>por</a:t>
            </a:r>
            <a:r>
              <a:rPr lang="en-US" dirty="0">
                <a:latin typeface="Calibri"/>
                <a:ea typeface="Calibri"/>
                <a:cs typeface="Calibri"/>
                <a:sym typeface="Calibri"/>
              </a:rPr>
              <a:t> </a:t>
            </a:r>
            <a:r>
              <a:rPr lang="en-US" dirty="0" err="1">
                <a:latin typeface="Calibri"/>
                <a:ea typeface="Calibri"/>
                <a:cs typeface="Calibri"/>
                <a:sym typeface="Calibri"/>
              </a:rPr>
              <a:t>él</a:t>
            </a:r>
            <a:r>
              <a:rPr lang="en-US" dirty="0">
                <a:latin typeface="Calibri"/>
                <a:ea typeface="Calibri"/>
                <a:cs typeface="Calibri"/>
                <a:sym typeface="Calibri"/>
              </a:rPr>
              <a:t> algo” (RAE, 2001). Rousseau (1989) </a:t>
            </a:r>
            <a:r>
              <a:rPr lang="en-US" dirty="0" err="1">
                <a:latin typeface="Calibri"/>
                <a:ea typeface="Calibri"/>
                <a:cs typeface="Calibri"/>
                <a:sym typeface="Calibri"/>
              </a:rPr>
              <a:t>fue</a:t>
            </a:r>
            <a:r>
              <a:rPr lang="en-US" dirty="0">
                <a:latin typeface="Calibri"/>
                <a:ea typeface="Calibri"/>
                <a:cs typeface="Calibri"/>
                <a:sym typeface="Calibri"/>
              </a:rPr>
              <a:t> la </a:t>
            </a:r>
            <a:r>
              <a:rPr lang="en-US" dirty="0" err="1">
                <a:latin typeface="Calibri"/>
                <a:ea typeface="Calibri"/>
                <a:cs typeface="Calibri"/>
                <a:sym typeface="Calibri"/>
              </a:rPr>
              <a:t>primera</a:t>
            </a:r>
            <a:r>
              <a:rPr lang="en-US" dirty="0">
                <a:latin typeface="Calibri"/>
                <a:ea typeface="Calibri"/>
                <a:cs typeface="Calibri"/>
                <a:sym typeface="Calibri"/>
              </a:rPr>
              <a:t> </a:t>
            </a:r>
            <a:r>
              <a:rPr lang="en-US" dirty="0" err="1">
                <a:latin typeface="Calibri"/>
                <a:ea typeface="Calibri"/>
                <a:cs typeface="Calibri"/>
                <a:sym typeface="Calibri"/>
              </a:rPr>
              <a:t>investigadora</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incorporar</a:t>
            </a:r>
            <a:r>
              <a:rPr lang="en-US" dirty="0">
                <a:latin typeface="Calibri"/>
                <a:ea typeface="Calibri"/>
                <a:cs typeface="Calibri"/>
                <a:sym typeface="Calibri"/>
              </a:rPr>
              <a:t> </a:t>
            </a:r>
            <a:r>
              <a:rPr lang="en-US" dirty="0" err="1">
                <a:latin typeface="Calibri"/>
                <a:ea typeface="Calibri"/>
                <a:cs typeface="Calibri"/>
                <a:sym typeface="Calibri"/>
              </a:rPr>
              <a:t>este</a:t>
            </a:r>
            <a:r>
              <a:rPr lang="en-US" dirty="0">
                <a:latin typeface="Calibri"/>
                <a:ea typeface="Calibri"/>
                <a:cs typeface="Calibri"/>
                <a:sym typeface="Calibri"/>
              </a:rPr>
              <a:t> </a:t>
            </a:r>
            <a:r>
              <a:rPr lang="en-US" dirty="0" err="1">
                <a:latin typeface="Calibri"/>
                <a:ea typeface="Calibri"/>
                <a:cs typeface="Calibri"/>
                <a:sym typeface="Calibri"/>
              </a:rPr>
              <a:t>término</a:t>
            </a:r>
            <a:r>
              <a:rPr lang="en-US" dirty="0">
                <a:latin typeface="Calibri"/>
                <a:ea typeface="Calibri"/>
                <a:cs typeface="Calibri"/>
                <a:sym typeface="Calibri"/>
              </a:rPr>
              <a:t> a la </a:t>
            </a:r>
            <a:r>
              <a:rPr lang="en-US" dirty="0" err="1">
                <a:latin typeface="Calibri"/>
                <a:ea typeface="Calibri"/>
                <a:cs typeface="Calibri"/>
                <a:sym typeface="Calibri"/>
              </a:rPr>
              <a:t>definición</a:t>
            </a:r>
            <a:r>
              <a:rPr lang="en-US" dirty="0">
                <a:latin typeface="Calibri"/>
                <a:ea typeface="Calibri"/>
                <a:cs typeface="Calibri"/>
                <a:sym typeface="Calibri"/>
              </a:rPr>
              <a:t> de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psicológico</a:t>
            </a:r>
            <a:r>
              <a:rPr lang="en-US" dirty="0">
                <a:latin typeface="Calibri"/>
                <a:ea typeface="Calibri"/>
                <a:cs typeface="Calibri"/>
                <a:sym typeface="Calibri"/>
              </a:rPr>
              <a:t>, </a:t>
            </a:r>
            <a:r>
              <a:rPr lang="en-US" dirty="0" err="1">
                <a:latin typeface="Calibri"/>
                <a:ea typeface="Calibri"/>
                <a:cs typeface="Calibri"/>
                <a:sym typeface="Calibri"/>
              </a:rPr>
              <a:t>distinguiendo</a:t>
            </a:r>
            <a:r>
              <a:rPr lang="en-US" dirty="0">
                <a:latin typeface="Calibri"/>
                <a:ea typeface="Calibri"/>
                <a:cs typeface="Calibri"/>
                <a:sym typeface="Calibri"/>
              </a:rPr>
              <a:t> entre dos </a:t>
            </a:r>
            <a:r>
              <a:rPr lang="en-US" dirty="0" err="1">
                <a:latin typeface="Calibri"/>
                <a:ea typeface="Calibri"/>
                <a:cs typeface="Calibri"/>
                <a:sym typeface="Calibri"/>
              </a:rPr>
              <a:t>tipos</a:t>
            </a:r>
            <a:r>
              <a:rPr lang="en-US" dirty="0">
                <a:latin typeface="Calibri"/>
                <a:ea typeface="Calibri"/>
                <a:cs typeface="Calibri"/>
                <a:sym typeface="Calibri"/>
              </a:rPr>
              <a:t> de </a:t>
            </a:r>
            <a:r>
              <a:rPr lang="en-US" dirty="0" err="1">
                <a:latin typeface="Calibri"/>
                <a:ea typeface="Calibri"/>
                <a:cs typeface="Calibri"/>
                <a:sym typeface="Calibri"/>
              </a:rPr>
              <a:t>promesas</a:t>
            </a:r>
            <a:r>
              <a:rPr lang="en-US" dirty="0">
                <a:latin typeface="Calibri"/>
                <a:ea typeface="Calibri"/>
                <a:cs typeface="Calibri"/>
                <a:sym typeface="Calibri"/>
              </a:rPr>
              <a:t>: las que </a:t>
            </a:r>
            <a:r>
              <a:rPr lang="en-US" dirty="0" err="1">
                <a:latin typeface="Calibri"/>
                <a:ea typeface="Calibri"/>
                <a:cs typeface="Calibri"/>
                <a:sym typeface="Calibri"/>
              </a:rPr>
              <a:t>surgen</a:t>
            </a:r>
            <a:r>
              <a:rPr lang="en-US" dirty="0">
                <a:latin typeface="Calibri"/>
                <a:ea typeface="Calibri"/>
                <a:cs typeface="Calibri"/>
                <a:sym typeface="Calibri"/>
              </a:rPr>
              <a:t> de las palabras, de forma oral o </a:t>
            </a:r>
            <a:r>
              <a:rPr lang="en-US" dirty="0" err="1">
                <a:latin typeface="Calibri"/>
                <a:ea typeface="Calibri"/>
                <a:cs typeface="Calibri"/>
                <a:sym typeface="Calibri"/>
              </a:rPr>
              <a:t>escrita</a:t>
            </a:r>
            <a:r>
              <a:rPr lang="en-US" dirty="0">
                <a:latin typeface="Calibri"/>
                <a:ea typeface="Calibri"/>
                <a:cs typeface="Calibri"/>
                <a:sym typeface="Calibri"/>
              </a:rPr>
              <a:t>, y las que se </a:t>
            </a:r>
            <a:r>
              <a:rPr lang="en-US" dirty="0" err="1">
                <a:latin typeface="Calibri"/>
                <a:ea typeface="Calibri"/>
                <a:cs typeface="Calibri"/>
                <a:sym typeface="Calibri"/>
              </a:rPr>
              <a:t>derivan</a:t>
            </a:r>
            <a:r>
              <a:rPr lang="en-US" dirty="0">
                <a:latin typeface="Calibri"/>
                <a:ea typeface="Calibri"/>
                <a:cs typeface="Calibri"/>
                <a:sym typeface="Calibri"/>
              </a:rPr>
              <a:t> de la </a:t>
            </a:r>
            <a:r>
              <a:rPr lang="en-US" dirty="0" err="1">
                <a:latin typeface="Calibri"/>
                <a:ea typeface="Calibri"/>
                <a:cs typeface="Calibri"/>
                <a:sym typeface="Calibri"/>
              </a:rPr>
              <a:t>interpretación</a:t>
            </a:r>
            <a:r>
              <a:rPr lang="en-US" dirty="0">
                <a:latin typeface="Calibri"/>
                <a:ea typeface="Calibri"/>
                <a:cs typeface="Calibri"/>
                <a:sym typeface="Calibri"/>
              </a:rPr>
              <a:t> de </a:t>
            </a:r>
            <a:r>
              <a:rPr lang="en-US" dirty="0" err="1">
                <a:latin typeface="Calibri"/>
                <a:ea typeface="Calibri"/>
                <a:cs typeface="Calibri"/>
                <a:sym typeface="Calibri"/>
              </a:rPr>
              <a:t>acciones</a:t>
            </a:r>
            <a:r>
              <a:rPr lang="en-US" dirty="0">
                <a:latin typeface="Calibri"/>
                <a:ea typeface="Calibri"/>
                <a:cs typeface="Calibri"/>
                <a:sym typeface="Calibri"/>
              </a:rPr>
              <a:t>. Esta </a:t>
            </a:r>
            <a:r>
              <a:rPr lang="en-US" dirty="0" err="1">
                <a:latin typeface="Calibri"/>
                <a:ea typeface="Calibri"/>
                <a:cs typeface="Calibri"/>
                <a:sym typeface="Calibri"/>
              </a:rPr>
              <a:t>última</a:t>
            </a:r>
            <a:r>
              <a:rPr lang="en-US" dirty="0">
                <a:latin typeface="Calibri"/>
                <a:ea typeface="Calibri"/>
                <a:cs typeface="Calibri"/>
                <a:sym typeface="Calibri"/>
              </a:rPr>
              <a:t> </a:t>
            </a:r>
            <a:r>
              <a:rPr lang="en-US" dirty="0" err="1">
                <a:latin typeface="Calibri"/>
                <a:ea typeface="Calibri"/>
                <a:cs typeface="Calibri"/>
                <a:sym typeface="Calibri"/>
              </a:rPr>
              <a:t>parte</a:t>
            </a:r>
            <a:r>
              <a:rPr lang="en-US" dirty="0">
                <a:latin typeface="Calibri"/>
                <a:ea typeface="Calibri"/>
                <a:cs typeface="Calibri"/>
                <a:sym typeface="Calibri"/>
              </a:rPr>
              <a:t> </a:t>
            </a:r>
            <a:r>
              <a:rPr lang="en-US" dirty="0" err="1">
                <a:latin typeface="Calibri"/>
                <a:ea typeface="Calibri"/>
                <a:cs typeface="Calibri"/>
                <a:sym typeface="Calibri"/>
              </a:rPr>
              <a:t>sugiere</a:t>
            </a:r>
            <a:r>
              <a:rPr lang="en-US" dirty="0">
                <a:latin typeface="Calibri"/>
                <a:ea typeface="Calibri"/>
                <a:cs typeface="Calibri"/>
                <a:sym typeface="Calibri"/>
              </a:rPr>
              <a:t> que </a:t>
            </a:r>
            <a:r>
              <a:rPr lang="en-US" dirty="0" err="1">
                <a:latin typeface="Calibri"/>
                <a:ea typeface="Calibri"/>
                <a:cs typeface="Calibri"/>
                <a:sym typeface="Calibri"/>
              </a:rPr>
              <a:t>existe</a:t>
            </a:r>
            <a:r>
              <a:rPr lang="en-US" dirty="0">
                <a:latin typeface="Calibri"/>
                <a:ea typeface="Calibri"/>
                <a:cs typeface="Calibri"/>
                <a:sym typeface="Calibri"/>
              </a:rPr>
              <a:t>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promesa</a:t>
            </a:r>
            <a:r>
              <a:rPr lang="en-US" dirty="0">
                <a:latin typeface="Calibri"/>
                <a:ea typeface="Calibri"/>
                <a:cs typeface="Calibri"/>
                <a:sym typeface="Calibri"/>
              </a:rPr>
              <a:t> </a:t>
            </a:r>
            <a:r>
              <a:rPr lang="en-US" dirty="0" err="1">
                <a:latin typeface="Calibri"/>
                <a:ea typeface="Calibri"/>
                <a:cs typeface="Calibri"/>
                <a:sym typeface="Calibri"/>
              </a:rPr>
              <a:t>cuando</a:t>
            </a:r>
            <a:r>
              <a:rPr lang="en-US" dirty="0">
                <a:latin typeface="Calibri"/>
                <a:ea typeface="Calibri"/>
                <a:cs typeface="Calibri"/>
                <a:sym typeface="Calibri"/>
              </a:rPr>
              <a:t> hay </a:t>
            </a:r>
            <a:r>
              <a:rPr lang="en-US" dirty="0" err="1">
                <a:latin typeface="Calibri"/>
                <a:ea typeface="Calibri"/>
                <a:cs typeface="Calibri"/>
                <a:sym typeface="Calibri"/>
              </a:rPr>
              <a:t>condiciones</a:t>
            </a:r>
            <a:r>
              <a:rPr lang="en-US" dirty="0">
                <a:latin typeface="Calibri"/>
                <a:ea typeface="Calibri"/>
                <a:cs typeface="Calibri"/>
                <a:sym typeface="Calibri"/>
              </a:rPr>
              <a:t> de </a:t>
            </a:r>
            <a:r>
              <a:rPr lang="en-US" dirty="0" err="1">
                <a:latin typeface="Calibri"/>
                <a:ea typeface="Calibri"/>
                <a:cs typeface="Calibri"/>
                <a:sym typeface="Calibri"/>
              </a:rPr>
              <a:t>contexto</a:t>
            </a:r>
            <a:r>
              <a:rPr lang="en-US" dirty="0">
                <a:latin typeface="Calibri"/>
                <a:ea typeface="Calibri"/>
                <a:cs typeface="Calibri"/>
                <a:sym typeface="Calibri"/>
              </a:rPr>
              <a:t> que </a:t>
            </a:r>
            <a:r>
              <a:rPr lang="en-US" dirty="0" err="1">
                <a:latin typeface="Calibri"/>
                <a:ea typeface="Calibri"/>
                <a:cs typeface="Calibri"/>
                <a:sym typeface="Calibri"/>
              </a:rPr>
              <a:t>crean</a:t>
            </a:r>
            <a:r>
              <a:rPr lang="en-US" dirty="0">
                <a:latin typeface="Calibri"/>
                <a:ea typeface="Calibri"/>
                <a:cs typeface="Calibri"/>
                <a:sym typeface="Calibri"/>
              </a:rPr>
              <a:t> </a:t>
            </a:r>
            <a:r>
              <a:rPr lang="en-US" dirty="0" err="1">
                <a:latin typeface="Calibri"/>
                <a:ea typeface="Calibri"/>
                <a:cs typeface="Calibri"/>
                <a:sym typeface="Calibri"/>
              </a:rPr>
              <a:t>expectativas</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otro</a:t>
            </a:r>
            <a:r>
              <a:rPr lang="en-US" dirty="0">
                <a:latin typeface="Calibri"/>
                <a:ea typeface="Calibri"/>
                <a:cs typeface="Calibri"/>
                <a:sym typeface="Calibri"/>
              </a:rPr>
              <a:t>. </a:t>
            </a:r>
            <a:r>
              <a:rPr lang="en-US" dirty="0" err="1">
                <a:latin typeface="Calibri"/>
                <a:ea typeface="Calibri"/>
                <a:cs typeface="Calibri"/>
                <a:sym typeface="Calibri"/>
              </a:rPr>
              <a:t>Siguiendo</a:t>
            </a:r>
            <a:r>
              <a:rPr lang="en-US" dirty="0">
                <a:latin typeface="Calibri"/>
                <a:ea typeface="Calibri"/>
                <a:cs typeface="Calibri"/>
                <a:sym typeface="Calibri"/>
              </a:rPr>
              <a:t> a Rousseau (2001), “</a:t>
            </a:r>
            <a:r>
              <a:rPr lang="en-US" dirty="0" err="1">
                <a:latin typeface="Calibri"/>
                <a:ea typeface="Calibri"/>
                <a:cs typeface="Calibri"/>
                <a:sym typeface="Calibri"/>
              </a:rPr>
              <a:t>ni</a:t>
            </a:r>
            <a:r>
              <a:rPr lang="en-US" dirty="0">
                <a:latin typeface="Calibri"/>
                <a:ea typeface="Calibri"/>
                <a:cs typeface="Calibri"/>
                <a:sym typeface="Calibri"/>
              </a:rPr>
              <a:t> las palabras </a:t>
            </a:r>
            <a:r>
              <a:rPr lang="en-US" dirty="0" err="1">
                <a:latin typeface="Calibri"/>
                <a:ea typeface="Calibri"/>
                <a:cs typeface="Calibri"/>
                <a:sym typeface="Calibri"/>
              </a:rPr>
              <a:t>ni</a:t>
            </a:r>
            <a:r>
              <a:rPr lang="en-US" dirty="0">
                <a:latin typeface="Calibri"/>
                <a:ea typeface="Calibri"/>
                <a:cs typeface="Calibri"/>
                <a:sym typeface="Calibri"/>
              </a:rPr>
              <a:t> las </a:t>
            </a:r>
            <a:r>
              <a:rPr lang="en-US" dirty="0" err="1">
                <a:latin typeface="Calibri"/>
                <a:ea typeface="Calibri"/>
                <a:cs typeface="Calibri"/>
                <a:sym typeface="Calibri"/>
              </a:rPr>
              <a:t>acciones</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sí</a:t>
            </a:r>
            <a:r>
              <a:rPr lang="en-US" dirty="0">
                <a:latin typeface="Calibri"/>
                <a:ea typeface="Calibri"/>
                <a:cs typeface="Calibri"/>
                <a:sym typeface="Calibri"/>
              </a:rPr>
              <a:t> </a:t>
            </a:r>
            <a:r>
              <a:rPr lang="en-US" dirty="0" err="1">
                <a:latin typeface="Calibri"/>
                <a:ea typeface="Calibri"/>
                <a:cs typeface="Calibri"/>
                <a:sym typeface="Calibri"/>
              </a:rPr>
              <a:t>mismas</a:t>
            </a:r>
            <a:r>
              <a:rPr lang="en-US" dirty="0">
                <a:latin typeface="Calibri"/>
                <a:ea typeface="Calibri"/>
                <a:cs typeface="Calibri"/>
                <a:sym typeface="Calibri"/>
              </a:rPr>
              <a:t> </a:t>
            </a:r>
            <a:r>
              <a:rPr lang="en-US" dirty="0" err="1">
                <a:latin typeface="Calibri"/>
                <a:ea typeface="Calibri"/>
                <a:cs typeface="Calibri"/>
                <a:sym typeface="Calibri"/>
              </a:rPr>
              <a:t>constituyen</a:t>
            </a:r>
            <a:r>
              <a:rPr lang="en-US" dirty="0">
                <a:latin typeface="Calibri"/>
                <a:ea typeface="Calibri"/>
                <a:cs typeface="Calibri"/>
                <a:sym typeface="Calibri"/>
              </a:rPr>
              <a:t>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promesa</a:t>
            </a:r>
            <a:r>
              <a:rPr lang="en-US" dirty="0">
                <a:latin typeface="Calibri"/>
                <a:ea typeface="Calibri"/>
                <a:cs typeface="Calibri"/>
                <a:sym typeface="Calibri"/>
              </a:rPr>
              <a:t>, </a:t>
            </a:r>
            <a:r>
              <a:rPr lang="en-US" dirty="0" err="1">
                <a:latin typeface="Calibri"/>
                <a:ea typeface="Calibri"/>
                <a:cs typeface="Calibri"/>
                <a:sym typeface="Calibri"/>
              </a:rPr>
              <a:t>sino</a:t>
            </a:r>
            <a:r>
              <a:rPr lang="en-US" dirty="0">
                <a:latin typeface="Calibri"/>
                <a:ea typeface="Calibri"/>
                <a:cs typeface="Calibri"/>
                <a:sym typeface="Calibri"/>
              </a:rPr>
              <a:t> que las palabras o </a:t>
            </a:r>
            <a:r>
              <a:rPr lang="en-US" dirty="0" err="1">
                <a:latin typeface="Calibri"/>
                <a:ea typeface="Calibri"/>
                <a:cs typeface="Calibri"/>
                <a:sym typeface="Calibri"/>
              </a:rPr>
              <a:t>acciones</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contexto</a:t>
            </a:r>
            <a:r>
              <a:rPr lang="en-US" dirty="0">
                <a:latin typeface="Calibri"/>
                <a:ea typeface="Calibri"/>
                <a:cs typeface="Calibri"/>
                <a:sym typeface="Calibri"/>
              </a:rPr>
              <a:t> </a:t>
            </a:r>
            <a:r>
              <a:rPr lang="en-US" dirty="0" err="1">
                <a:latin typeface="Calibri"/>
                <a:ea typeface="Calibri"/>
                <a:cs typeface="Calibri"/>
                <a:sym typeface="Calibri"/>
              </a:rPr>
              <a:t>señalan</a:t>
            </a:r>
            <a:r>
              <a:rPr lang="en-US" dirty="0">
                <a:latin typeface="Calibri"/>
                <a:ea typeface="Calibri"/>
                <a:cs typeface="Calibri"/>
                <a:sym typeface="Calibri"/>
              </a:rPr>
              <a:t> que se ha </a:t>
            </a:r>
            <a:r>
              <a:rPr lang="en-US" dirty="0" err="1">
                <a:latin typeface="Calibri"/>
                <a:ea typeface="Calibri"/>
                <a:cs typeface="Calibri"/>
                <a:sym typeface="Calibri"/>
              </a:rPr>
              <a:t>hecho</a:t>
            </a:r>
            <a:r>
              <a:rPr lang="en-US" dirty="0">
                <a:latin typeface="Calibri"/>
                <a:ea typeface="Calibri"/>
                <a:cs typeface="Calibri"/>
                <a:sym typeface="Calibri"/>
              </a:rPr>
              <a:t> un </a:t>
            </a:r>
            <a:r>
              <a:rPr lang="en-US" dirty="0" err="1">
                <a:latin typeface="Calibri"/>
                <a:ea typeface="Calibri"/>
                <a:cs typeface="Calibri"/>
                <a:sym typeface="Calibri"/>
              </a:rPr>
              <a:t>compromiso</a:t>
            </a:r>
            <a:r>
              <a:rPr lang="en-US" dirty="0">
                <a:latin typeface="Calibri"/>
                <a:ea typeface="Calibri"/>
                <a:cs typeface="Calibri"/>
                <a:sym typeface="Calibri"/>
              </a:rPr>
              <a:t>. Esta </a:t>
            </a:r>
            <a:r>
              <a:rPr lang="en-US" dirty="0" err="1">
                <a:latin typeface="Calibri"/>
                <a:ea typeface="Calibri"/>
                <a:cs typeface="Calibri"/>
                <a:sym typeface="Calibri"/>
              </a:rPr>
              <a:t>conexión</a:t>
            </a:r>
            <a:r>
              <a:rPr lang="en-US" dirty="0">
                <a:latin typeface="Calibri"/>
                <a:ea typeface="Calibri"/>
                <a:cs typeface="Calibri"/>
                <a:sym typeface="Calibri"/>
              </a:rPr>
              <a:t> entre </a:t>
            </a:r>
            <a:r>
              <a:rPr lang="en-US" dirty="0" err="1">
                <a:latin typeface="Calibri"/>
                <a:ea typeface="Calibri"/>
                <a:cs typeface="Calibri"/>
                <a:sym typeface="Calibri"/>
              </a:rPr>
              <a:t>contexto</a:t>
            </a:r>
            <a:r>
              <a:rPr lang="en-US" dirty="0">
                <a:latin typeface="Calibri"/>
                <a:ea typeface="Calibri"/>
                <a:cs typeface="Calibri"/>
                <a:sym typeface="Calibri"/>
              </a:rPr>
              <a:t>, palabras y </a:t>
            </a:r>
            <a:r>
              <a:rPr lang="en-US" dirty="0" err="1">
                <a:latin typeface="Calibri"/>
                <a:ea typeface="Calibri"/>
                <a:cs typeface="Calibri"/>
                <a:sym typeface="Calibri"/>
              </a:rPr>
              <a:t>acciones</a:t>
            </a:r>
            <a:r>
              <a:rPr lang="en-US" dirty="0">
                <a:latin typeface="Calibri"/>
                <a:ea typeface="Calibri"/>
                <a:cs typeface="Calibri"/>
                <a:sym typeface="Calibri"/>
              </a:rPr>
              <a:t> </a:t>
            </a:r>
            <a:r>
              <a:rPr lang="en-US" dirty="0" err="1">
                <a:latin typeface="Calibri"/>
                <a:ea typeface="Calibri"/>
                <a:cs typeface="Calibri"/>
                <a:sym typeface="Calibri"/>
              </a:rPr>
              <a:t>crea</a:t>
            </a:r>
            <a:r>
              <a:rPr lang="en-US" dirty="0">
                <a:latin typeface="Calibri"/>
                <a:ea typeface="Calibri"/>
                <a:cs typeface="Calibri"/>
                <a:sym typeface="Calibri"/>
              </a:rPr>
              <a:t> </a:t>
            </a:r>
            <a:r>
              <a:rPr lang="en-US" dirty="0" err="1">
                <a:latin typeface="Calibri"/>
                <a:ea typeface="Calibri"/>
                <a:cs typeface="Calibri"/>
                <a:sym typeface="Calibri"/>
              </a:rPr>
              <a:t>significado</a:t>
            </a:r>
            <a:r>
              <a:rPr lang="en-US" dirty="0">
                <a:latin typeface="Calibri"/>
                <a:ea typeface="Calibri"/>
                <a:cs typeface="Calibri"/>
                <a:sym typeface="Calibri"/>
              </a:rPr>
              <a:t>”. Rousseau (op. cit.) </a:t>
            </a:r>
            <a:r>
              <a:rPr lang="en-US" dirty="0" err="1">
                <a:latin typeface="Calibri"/>
                <a:ea typeface="Calibri"/>
                <a:cs typeface="Calibri"/>
                <a:sym typeface="Calibri"/>
              </a:rPr>
              <a:t>destaca</a:t>
            </a:r>
            <a:r>
              <a:rPr lang="en-US" dirty="0">
                <a:latin typeface="Calibri"/>
                <a:ea typeface="Calibri"/>
                <a:cs typeface="Calibri"/>
                <a:sym typeface="Calibri"/>
              </a:rPr>
              <a:t> la </a:t>
            </a:r>
            <a:r>
              <a:rPr lang="en-US" dirty="0" err="1">
                <a:latin typeface="Calibri"/>
                <a:ea typeface="Calibri"/>
                <a:cs typeface="Calibri"/>
                <a:sym typeface="Calibri"/>
              </a:rPr>
              <a:t>importancia</a:t>
            </a:r>
            <a:r>
              <a:rPr lang="en-US" dirty="0">
                <a:latin typeface="Calibri"/>
                <a:ea typeface="Calibri"/>
                <a:cs typeface="Calibri"/>
                <a:sym typeface="Calibri"/>
              </a:rPr>
              <a:t> del </a:t>
            </a:r>
            <a:r>
              <a:rPr lang="en-US" dirty="0" err="1">
                <a:latin typeface="Calibri"/>
                <a:ea typeface="Calibri"/>
                <a:cs typeface="Calibri"/>
                <a:sym typeface="Calibri"/>
              </a:rPr>
              <a:t>contexto</a:t>
            </a:r>
            <a:r>
              <a:rPr lang="en-US" dirty="0">
                <a:latin typeface="Calibri"/>
                <a:ea typeface="Calibri"/>
                <a:cs typeface="Calibri"/>
                <a:sym typeface="Calibri"/>
              </a:rPr>
              <a:t>, </a:t>
            </a:r>
            <a:r>
              <a:rPr lang="en-US" dirty="0" err="1">
                <a:latin typeface="Calibri"/>
                <a:ea typeface="Calibri"/>
                <a:cs typeface="Calibri"/>
                <a:sym typeface="Calibri"/>
              </a:rPr>
              <a:t>señalando</a:t>
            </a:r>
            <a:r>
              <a:rPr lang="en-US" dirty="0">
                <a:latin typeface="Calibri"/>
                <a:ea typeface="Calibri"/>
                <a:cs typeface="Calibri"/>
                <a:sym typeface="Calibri"/>
              </a:rPr>
              <a:t> que </a:t>
            </a:r>
            <a:r>
              <a:rPr lang="en-US" dirty="0" err="1">
                <a:latin typeface="Calibri"/>
                <a:ea typeface="Calibri"/>
                <a:cs typeface="Calibri"/>
                <a:sym typeface="Calibri"/>
              </a:rPr>
              <a:t>existen</a:t>
            </a:r>
            <a:r>
              <a:rPr lang="en-US" dirty="0">
                <a:latin typeface="Calibri"/>
                <a:ea typeface="Calibri"/>
                <a:cs typeface="Calibri"/>
                <a:sym typeface="Calibri"/>
              </a:rPr>
              <a:t> </a:t>
            </a:r>
            <a:r>
              <a:rPr lang="en-US" dirty="0" err="1">
                <a:latin typeface="Calibri"/>
                <a:ea typeface="Calibri"/>
                <a:cs typeface="Calibri"/>
                <a:sym typeface="Calibri"/>
              </a:rPr>
              <a:t>determinadas</a:t>
            </a:r>
            <a:r>
              <a:rPr lang="en-US" dirty="0">
                <a:latin typeface="Calibri"/>
                <a:ea typeface="Calibri"/>
                <a:cs typeface="Calibri"/>
                <a:sym typeface="Calibri"/>
              </a:rPr>
              <a:t> </a:t>
            </a:r>
            <a:r>
              <a:rPr lang="en-US" dirty="0" err="1">
                <a:latin typeface="Calibri"/>
                <a:ea typeface="Calibri"/>
                <a:cs typeface="Calibri"/>
                <a:sym typeface="Calibri"/>
              </a:rPr>
              <a:t>situaciones</a:t>
            </a:r>
            <a:r>
              <a:rPr lang="en-US" dirty="0">
                <a:latin typeface="Calibri"/>
                <a:ea typeface="Calibri"/>
                <a:cs typeface="Calibri"/>
                <a:sym typeface="Calibri"/>
              </a:rPr>
              <a:t> de las </a:t>
            </a:r>
            <a:r>
              <a:rPr lang="en-US" dirty="0" err="1">
                <a:latin typeface="Calibri"/>
                <a:ea typeface="Calibri"/>
                <a:cs typeface="Calibri"/>
                <a:sym typeface="Calibri"/>
              </a:rPr>
              <a:t>cuales</a:t>
            </a:r>
            <a:r>
              <a:rPr lang="en-US" dirty="0">
                <a:latin typeface="Calibri"/>
                <a:ea typeface="Calibri"/>
                <a:cs typeface="Calibri"/>
                <a:sym typeface="Calibri"/>
              </a:rPr>
              <a:t> es </a:t>
            </a:r>
            <a:r>
              <a:rPr lang="en-US" dirty="0" err="1">
                <a:latin typeface="Calibri"/>
                <a:ea typeface="Calibri"/>
                <a:cs typeface="Calibri"/>
                <a:sym typeface="Calibri"/>
              </a:rPr>
              <a:t>más</a:t>
            </a:r>
            <a:r>
              <a:rPr lang="en-US" dirty="0">
                <a:latin typeface="Calibri"/>
                <a:ea typeface="Calibri"/>
                <a:cs typeface="Calibri"/>
                <a:sym typeface="Calibri"/>
              </a:rPr>
              <a:t> probable que se </a:t>
            </a:r>
            <a:r>
              <a:rPr lang="en-US" dirty="0" err="1">
                <a:latin typeface="Calibri"/>
                <a:ea typeface="Calibri"/>
                <a:cs typeface="Calibri"/>
                <a:sym typeface="Calibri"/>
              </a:rPr>
              <a:t>deriven</a:t>
            </a:r>
            <a:r>
              <a:rPr lang="en-US" dirty="0">
                <a:latin typeface="Calibri"/>
                <a:ea typeface="Calibri"/>
                <a:cs typeface="Calibri"/>
                <a:sym typeface="Calibri"/>
              </a:rPr>
              <a:t> </a:t>
            </a:r>
            <a:r>
              <a:rPr lang="en-US" dirty="0" err="1">
                <a:latin typeface="Calibri"/>
                <a:ea typeface="Calibri"/>
                <a:cs typeface="Calibri"/>
                <a:sym typeface="Calibri"/>
              </a:rPr>
              <a:t>promesas</a:t>
            </a:r>
            <a:r>
              <a:rPr lang="en-US" dirty="0">
                <a:latin typeface="Calibri"/>
                <a:ea typeface="Calibri"/>
                <a:cs typeface="Calibri"/>
                <a:sym typeface="Calibri"/>
              </a:rPr>
              <a:t>. Por </a:t>
            </a:r>
            <a:r>
              <a:rPr lang="en-US" dirty="0" err="1">
                <a:latin typeface="Calibri"/>
                <a:ea typeface="Calibri"/>
                <a:cs typeface="Calibri"/>
                <a:sym typeface="Calibri"/>
              </a:rPr>
              <a:t>ejemplo</a:t>
            </a:r>
            <a:r>
              <a:rPr lang="en-US" dirty="0">
                <a:latin typeface="Calibri"/>
                <a:ea typeface="Calibri"/>
                <a:cs typeface="Calibri"/>
                <a:sym typeface="Calibri"/>
              </a:rPr>
              <a:t>, </a:t>
            </a:r>
            <a:r>
              <a:rPr lang="en-US" dirty="0" err="1">
                <a:latin typeface="Calibri"/>
                <a:ea typeface="Calibri"/>
                <a:cs typeface="Calibri"/>
                <a:sym typeface="Calibri"/>
              </a:rPr>
              <a:t>si</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entrevista</a:t>
            </a:r>
            <a:r>
              <a:rPr lang="en-US" dirty="0">
                <a:latin typeface="Calibri"/>
                <a:ea typeface="Calibri"/>
                <a:cs typeface="Calibri"/>
                <a:sym typeface="Calibri"/>
              </a:rPr>
              <a:t> de </a:t>
            </a:r>
            <a:r>
              <a:rPr lang="en-US" dirty="0" err="1">
                <a:latin typeface="Calibri"/>
                <a:ea typeface="Calibri"/>
                <a:cs typeface="Calibri"/>
                <a:sym typeface="Calibri"/>
              </a:rPr>
              <a:t>selección</a:t>
            </a:r>
            <a:r>
              <a:rPr lang="en-US" dirty="0">
                <a:latin typeface="Calibri"/>
                <a:ea typeface="Calibri"/>
                <a:cs typeface="Calibri"/>
                <a:sym typeface="Calibri"/>
              </a:rPr>
              <a:t>, </a:t>
            </a:r>
            <a:r>
              <a:rPr lang="en-US" dirty="0" err="1">
                <a:latin typeface="Calibri"/>
                <a:ea typeface="Calibri"/>
                <a:cs typeface="Calibri"/>
                <a:sym typeface="Calibri"/>
              </a:rPr>
              <a:t>donde</a:t>
            </a:r>
            <a:r>
              <a:rPr lang="en-US" dirty="0">
                <a:latin typeface="Calibri"/>
                <a:ea typeface="Calibri"/>
                <a:cs typeface="Calibri"/>
                <a:sym typeface="Calibri"/>
              </a:rPr>
              <a:t> es </a:t>
            </a:r>
            <a:r>
              <a:rPr lang="en-US" dirty="0" err="1">
                <a:latin typeface="Calibri"/>
                <a:ea typeface="Calibri"/>
                <a:cs typeface="Calibri"/>
                <a:sym typeface="Calibri"/>
              </a:rPr>
              <a:t>esperable</a:t>
            </a:r>
            <a:r>
              <a:rPr lang="en-US" dirty="0">
                <a:latin typeface="Calibri"/>
                <a:ea typeface="Calibri"/>
                <a:cs typeface="Calibri"/>
                <a:sym typeface="Calibri"/>
              </a:rPr>
              <a:t> que se </a:t>
            </a:r>
            <a:r>
              <a:rPr lang="en-US" dirty="0" err="1">
                <a:latin typeface="Calibri"/>
                <a:ea typeface="Calibri"/>
                <a:cs typeface="Calibri"/>
                <a:sym typeface="Calibri"/>
              </a:rPr>
              <a:t>hagan</a:t>
            </a:r>
            <a:r>
              <a:rPr lang="en-US" dirty="0">
                <a:latin typeface="Calibri"/>
                <a:ea typeface="Calibri"/>
                <a:cs typeface="Calibri"/>
                <a:sym typeface="Calibri"/>
              </a:rPr>
              <a:t> </a:t>
            </a:r>
            <a:r>
              <a:rPr lang="en-US" dirty="0" err="1">
                <a:latin typeface="Calibri"/>
                <a:ea typeface="Calibri"/>
                <a:cs typeface="Calibri"/>
                <a:sym typeface="Calibri"/>
              </a:rPr>
              <a:t>promesas</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reclutador</a:t>
            </a:r>
            <a:r>
              <a:rPr lang="en-US" dirty="0">
                <a:latin typeface="Calibri"/>
                <a:ea typeface="Calibri"/>
                <a:cs typeface="Calibri"/>
                <a:sym typeface="Calibri"/>
              </a:rPr>
              <a:t> </a:t>
            </a:r>
            <a:r>
              <a:rPr lang="en-US" dirty="0" err="1">
                <a:latin typeface="Calibri"/>
                <a:ea typeface="Calibri"/>
                <a:cs typeface="Calibri"/>
                <a:sym typeface="Calibri"/>
              </a:rPr>
              <a:t>menciona</a:t>
            </a:r>
            <a:r>
              <a:rPr lang="en-US" dirty="0">
                <a:latin typeface="Calibri"/>
                <a:ea typeface="Calibri"/>
                <a:cs typeface="Calibri"/>
                <a:sym typeface="Calibri"/>
              </a:rPr>
              <a:t> </a:t>
            </a:r>
            <a:r>
              <a:rPr lang="en-US" dirty="0" err="1">
                <a:latin typeface="Calibri"/>
                <a:ea typeface="Calibri"/>
                <a:cs typeface="Calibri"/>
                <a:sym typeface="Calibri"/>
              </a:rPr>
              <a:t>algún</a:t>
            </a:r>
            <a:r>
              <a:rPr lang="en-US" dirty="0">
                <a:latin typeface="Calibri"/>
                <a:ea typeface="Calibri"/>
                <a:cs typeface="Calibri"/>
                <a:sym typeface="Calibri"/>
              </a:rPr>
              <a:t> </a:t>
            </a:r>
            <a:r>
              <a:rPr lang="en-US" dirty="0" err="1">
                <a:latin typeface="Calibri"/>
                <a:ea typeface="Calibri"/>
                <a:cs typeface="Calibri"/>
                <a:sym typeface="Calibri"/>
              </a:rPr>
              <a:t>aspecto</a:t>
            </a:r>
            <a:r>
              <a:rPr lang="en-US" dirty="0">
                <a:latin typeface="Calibri"/>
                <a:ea typeface="Calibri"/>
                <a:cs typeface="Calibri"/>
                <a:sym typeface="Calibri"/>
              </a:rPr>
              <a:t> del </a:t>
            </a:r>
            <a:r>
              <a:rPr lang="en-US" dirty="0" err="1">
                <a:latin typeface="Calibri"/>
                <a:ea typeface="Calibri"/>
                <a:cs typeface="Calibri"/>
                <a:sym typeface="Calibri"/>
              </a:rPr>
              <a:t>trabajo</a:t>
            </a:r>
            <a:r>
              <a:rPr lang="en-US" dirty="0">
                <a:latin typeface="Calibri"/>
                <a:ea typeface="Calibri"/>
                <a:cs typeface="Calibri"/>
                <a:sym typeface="Calibri"/>
              </a:rPr>
              <a:t> (</a:t>
            </a:r>
            <a:r>
              <a:rPr lang="en-US" dirty="0" err="1">
                <a:latin typeface="Calibri"/>
                <a:ea typeface="Calibri"/>
                <a:cs typeface="Calibri"/>
                <a:sym typeface="Calibri"/>
              </a:rPr>
              <a:t>ej</a:t>
            </a:r>
            <a:r>
              <a:rPr lang="en-US" dirty="0">
                <a:latin typeface="Calibri"/>
                <a:ea typeface="Calibri"/>
                <a:cs typeface="Calibri"/>
                <a:sym typeface="Calibri"/>
              </a:rPr>
              <a:t>: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promedio</a:t>
            </a:r>
            <a:r>
              <a:rPr lang="en-US" dirty="0">
                <a:latin typeface="Calibri"/>
                <a:ea typeface="Calibri"/>
                <a:cs typeface="Calibri"/>
                <a:sym typeface="Calibri"/>
              </a:rPr>
              <a:t> de </a:t>
            </a:r>
            <a:r>
              <a:rPr lang="en-US" dirty="0" err="1">
                <a:latin typeface="Calibri"/>
                <a:ea typeface="Calibri"/>
                <a:cs typeface="Calibri"/>
                <a:sym typeface="Calibri"/>
              </a:rPr>
              <a:t>pago</a:t>
            </a:r>
            <a:r>
              <a:rPr lang="en-US" dirty="0">
                <a:latin typeface="Calibri"/>
                <a:ea typeface="Calibri"/>
                <a:cs typeface="Calibri"/>
                <a:sym typeface="Calibri"/>
              </a:rPr>
              <a:t> de la </a:t>
            </a:r>
            <a:r>
              <a:rPr lang="en-US" dirty="0" err="1">
                <a:latin typeface="Calibri"/>
                <a:ea typeface="Calibri"/>
                <a:cs typeface="Calibri"/>
                <a:sym typeface="Calibri"/>
              </a:rPr>
              <a:t>empresa</a:t>
            </a:r>
            <a:r>
              <a:rPr lang="en-US" dirty="0">
                <a:latin typeface="Calibri"/>
                <a:ea typeface="Calibri"/>
                <a:cs typeface="Calibri"/>
                <a:sym typeface="Calibri"/>
              </a:rPr>
              <a:t> para </a:t>
            </a:r>
            <a:r>
              <a:rPr lang="en-US" dirty="0" err="1">
                <a:latin typeface="Calibri"/>
                <a:ea typeface="Calibri"/>
                <a:cs typeface="Calibri"/>
                <a:sym typeface="Calibri"/>
              </a:rPr>
              <a:t>posiciones</a:t>
            </a:r>
            <a:r>
              <a:rPr lang="en-US" dirty="0">
                <a:latin typeface="Calibri"/>
                <a:ea typeface="Calibri"/>
                <a:cs typeface="Calibri"/>
                <a:sym typeface="Calibri"/>
              </a:rPr>
              <a:t> </a:t>
            </a:r>
            <a:r>
              <a:rPr lang="en-US" dirty="0" err="1">
                <a:latin typeface="Calibri"/>
                <a:ea typeface="Calibri"/>
                <a:cs typeface="Calibri"/>
                <a:sym typeface="Calibri"/>
              </a:rPr>
              <a:t>similares</a:t>
            </a:r>
            <a:r>
              <a:rPr lang="en-US" dirty="0">
                <a:latin typeface="Calibri"/>
                <a:ea typeface="Calibri"/>
                <a:cs typeface="Calibri"/>
                <a:sym typeface="Calibri"/>
              </a:rPr>
              <a:t>, o </a:t>
            </a:r>
            <a:r>
              <a:rPr lang="en-US" dirty="0" err="1">
                <a:latin typeface="Calibri"/>
                <a:ea typeface="Calibri"/>
                <a:cs typeface="Calibri"/>
                <a:sym typeface="Calibri"/>
              </a:rPr>
              <a:t>hace</a:t>
            </a:r>
            <a:r>
              <a:rPr lang="en-US" dirty="0">
                <a:latin typeface="Calibri"/>
                <a:ea typeface="Calibri"/>
                <a:cs typeface="Calibri"/>
                <a:sym typeface="Calibri"/>
              </a:rPr>
              <a:t> </a:t>
            </a:r>
            <a:r>
              <a:rPr lang="en-US" dirty="0" err="1">
                <a:latin typeface="Calibri"/>
                <a:ea typeface="Calibri"/>
                <a:cs typeface="Calibri"/>
                <a:sym typeface="Calibri"/>
              </a:rPr>
              <a:t>referencia</a:t>
            </a:r>
            <a:r>
              <a:rPr lang="en-US" dirty="0">
                <a:latin typeface="Calibri"/>
                <a:ea typeface="Calibri"/>
                <a:cs typeface="Calibri"/>
                <a:sym typeface="Calibri"/>
              </a:rPr>
              <a:t> a que la </a:t>
            </a:r>
            <a:r>
              <a:rPr lang="en-US" dirty="0" err="1">
                <a:latin typeface="Calibri"/>
                <a:ea typeface="Calibri"/>
                <a:cs typeface="Calibri"/>
                <a:sym typeface="Calibri"/>
              </a:rPr>
              <a:t>mayoría</a:t>
            </a:r>
            <a:r>
              <a:rPr lang="en-US" dirty="0">
                <a:latin typeface="Calibri"/>
                <a:ea typeface="Calibri"/>
                <a:cs typeface="Calibri"/>
                <a:sym typeface="Calibri"/>
              </a:rPr>
              <a:t> de </a:t>
            </a:r>
            <a:r>
              <a:rPr lang="en-US" dirty="0" err="1">
                <a:latin typeface="Calibri"/>
                <a:ea typeface="Calibri"/>
                <a:cs typeface="Calibri"/>
                <a:sym typeface="Calibri"/>
              </a:rPr>
              <a:t>los</a:t>
            </a:r>
            <a:r>
              <a:rPr lang="en-US" dirty="0">
                <a:latin typeface="Calibri"/>
                <a:ea typeface="Calibri"/>
                <a:cs typeface="Calibri"/>
                <a:sym typeface="Calibri"/>
              </a:rPr>
              <a:t> </a:t>
            </a:r>
            <a:r>
              <a:rPr lang="en-US" dirty="0" err="1">
                <a:latin typeface="Calibri"/>
                <a:ea typeface="Calibri"/>
                <a:cs typeface="Calibri"/>
                <a:sym typeface="Calibri"/>
              </a:rPr>
              <a:t>empleados</a:t>
            </a:r>
            <a:r>
              <a:rPr lang="en-US" dirty="0">
                <a:latin typeface="Calibri"/>
                <a:ea typeface="Calibri"/>
                <a:cs typeface="Calibri"/>
                <a:sym typeface="Calibri"/>
              </a:rPr>
              <a:t> rotan de </a:t>
            </a:r>
            <a:r>
              <a:rPr lang="en-US" dirty="0" err="1">
                <a:latin typeface="Calibri"/>
                <a:ea typeface="Calibri"/>
                <a:cs typeface="Calibri"/>
                <a:sym typeface="Calibri"/>
              </a:rPr>
              <a:t>posición</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a:t>
            </a:r>
            <a:r>
              <a:rPr lang="en-US" dirty="0" err="1">
                <a:latin typeface="Calibri"/>
                <a:ea typeface="Calibri"/>
                <a:cs typeface="Calibri"/>
                <a:sym typeface="Calibri"/>
              </a:rPr>
              <a:t>determinado</a:t>
            </a:r>
            <a:r>
              <a:rPr lang="en-US" dirty="0">
                <a:latin typeface="Calibri"/>
                <a:ea typeface="Calibri"/>
                <a:cs typeface="Calibri"/>
                <a:sym typeface="Calibri"/>
              </a:rPr>
              <a:t> </a:t>
            </a:r>
            <a:r>
              <a:rPr lang="en-US" dirty="0" err="1">
                <a:latin typeface="Calibri"/>
                <a:ea typeface="Calibri"/>
                <a:cs typeface="Calibri"/>
                <a:sym typeface="Calibri"/>
              </a:rPr>
              <a:t>lapso</a:t>
            </a:r>
            <a:r>
              <a:rPr lang="en-US" dirty="0">
                <a:latin typeface="Calibri"/>
                <a:ea typeface="Calibri"/>
                <a:cs typeface="Calibri"/>
                <a:sym typeface="Calibri"/>
              </a:rPr>
              <a:t> de </a:t>
            </a:r>
            <a:r>
              <a:rPr lang="en-US" dirty="0" err="1">
                <a:latin typeface="Calibri"/>
                <a:ea typeface="Calibri"/>
                <a:cs typeface="Calibri"/>
                <a:sym typeface="Calibri"/>
              </a:rPr>
              <a:t>tiempo</a:t>
            </a:r>
            <a:r>
              <a:rPr lang="en-US" dirty="0">
                <a:latin typeface="Calibri"/>
                <a:ea typeface="Calibri"/>
                <a:cs typeface="Calibri"/>
                <a:sym typeface="Calibri"/>
              </a:rPr>
              <a:t>) es </a:t>
            </a:r>
            <a:r>
              <a:rPr lang="en-US" dirty="0" err="1">
                <a:latin typeface="Calibri"/>
                <a:ea typeface="Calibri"/>
                <a:cs typeface="Calibri"/>
                <a:sym typeface="Calibri"/>
              </a:rPr>
              <a:t>válido</a:t>
            </a:r>
            <a:r>
              <a:rPr lang="en-US" dirty="0">
                <a:latin typeface="Calibri"/>
                <a:ea typeface="Calibri"/>
                <a:cs typeface="Calibri"/>
                <a:sym typeface="Calibri"/>
              </a:rPr>
              <a:t> que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empleado</a:t>
            </a:r>
            <a:r>
              <a:rPr lang="en-US" dirty="0">
                <a:latin typeface="Calibri"/>
                <a:ea typeface="Calibri"/>
                <a:cs typeface="Calibri"/>
                <a:sym typeface="Calibri"/>
              </a:rPr>
              <a:t> tome </a:t>
            </a:r>
            <a:r>
              <a:rPr lang="en-US" dirty="0" err="1">
                <a:latin typeface="Calibri"/>
                <a:ea typeface="Calibri"/>
                <a:cs typeface="Calibri"/>
                <a:sym typeface="Calibri"/>
              </a:rPr>
              <a:t>esa</a:t>
            </a:r>
            <a:r>
              <a:rPr lang="en-US" dirty="0">
                <a:latin typeface="Calibri"/>
                <a:ea typeface="Calibri"/>
                <a:cs typeface="Calibri"/>
                <a:sym typeface="Calibri"/>
              </a:rPr>
              <a:t> </a:t>
            </a:r>
            <a:r>
              <a:rPr lang="en-US" dirty="0" err="1">
                <a:latin typeface="Calibri"/>
                <a:ea typeface="Calibri"/>
                <a:cs typeface="Calibri"/>
                <a:sym typeface="Calibri"/>
              </a:rPr>
              <a:t>declaración</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promesa</a:t>
            </a:r>
            <a:r>
              <a:rPr lang="en-US" dirty="0">
                <a:latin typeface="Calibri"/>
                <a:ea typeface="Calibri"/>
                <a:cs typeface="Calibri"/>
                <a:sym typeface="Calibri"/>
              </a:rPr>
              <a:t> y que </a:t>
            </a:r>
            <a:r>
              <a:rPr lang="en-US" dirty="0" err="1">
                <a:latin typeface="Calibri"/>
                <a:ea typeface="Calibri"/>
                <a:cs typeface="Calibri"/>
                <a:sym typeface="Calibri"/>
              </a:rPr>
              <a:t>ésta</a:t>
            </a:r>
            <a:r>
              <a:rPr lang="en-US" dirty="0">
                <a:latin typeface="Calibri"/>
                <a:ea typeface="Calibri"/>
                <a:cs typeface="Calibri"/>
                <a:sym typeface="Calibri"/>
              </a:rPr>
              <a:t> </a:t>
            </a:r>
            <a:r>
              <a:rPr lang="en-US" dirty="0" err="1">
                <a:latin typeface="Calibri"/>
                <a:ea typeface="Calibri"/>
                <a:cs typeface="Calibri"/>
                <a:sym typeface="Calibri"/>
              </a:rPr>
              <a:t>pase</a:t>
            </a:r>
            <a:r>
              <a:rPr lang="en-US" dirty="0">
                <a:latin typeface="Calibri"/>
                <a:ea typeface="Calibri"/>
                <a:cs typeface="Calibri"/>
                <a:sym typeface="Calibri"/>
              </a:rPr>
              <a:t> a </a:t>
            </a:r>
            <a:r>
              <a:rPr lang="en-US" dirty="0" err="1">
                <a:latin typeface="Calibri"/>
                <a:ea typeface="Calibri"/>
                <a:cs typeface="Calibri"/>
                <a:sym typeface="Calibri"/>
              </a:rPr>
              <a:t>formar</a:t>
            </a:r>
            <a:r>
              <a:rPr lang="en-US" dirty="0">
                <a:latin typeface="Calibri"/>
                <a:ea typeface="Calibri"/>
                <a:cs typeface="Calibri"/>
                <a:sym typeface="Calibri"/>
              </a:rPr>
              <a:t> </a:t>
            </a:r>
            <a:r>
              <a:rPr lang="en-US" dirty="0" err="1">
                <a:latin typeface="Calibri"/>
                <a:ea typeface="Calibri"/>
                <a:cs typeface="Calibri"/>
                <a:sym typeface="Calibri"/>
              </a:rPr>
              <a:t>parte</a:t>
            </a:r>
            <a:r>
              <a:rPr lang="en-US" dirty="0">
                <a:latin typeface="Calibri"/>
                <a:ea typeface="Calibri"/>
                <a:cs typeface="Calibri"/>
                <a:sym typeface="Calibri"/>
              </a:rPr>
              <a:t> de </a:t>
            </a:r>
            <a:r>
              <a:rPr lang="en-US" dirty="0" err="1">
                <a:latin typeface="Calibri"/>
                <a:ea typeface="Calibri"/>
                <a:cs typeface="Calibri"/>
                <a:sym typeface="Calibri"/>
              </a:rPr>
              <a:t>su</a:t>
            </a:r>
            <a:r>
              <a:rPr lang="en-US" dirty="0">
                <a:latin typeface="Calibri"/>
                <a:ea typeface="Calibri"/>
                <a:cs typeface="Calibri"/>
                <a:sym typeface="Calibri"/>
              </a:rPr>
              <a:t>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psicológico</a:t>
            </a:r>
            <a:r>
              <a:rPr lang="en-US" dirty="0">
                <a:latin typeface="Calibri"/>
                <a:ea typeface="Calibri"/>
                <a:cs typeface="Calibri"/>
                <a:sym typeface="Calibri"/>
              </a:rPr>
              <a:t>.</a:t>
            </a:r>
            <a:endParaRPr dirty="0">
              <a:latin typeface="Calibri"/>
              <a:ea typeface="Calibri"/>
              <a:cs typeface="Calibri"/>
              <a:sym typeface="Calibri"/>
            </a:endParaRPr>
          </a:p>
          <a:p>
            <a:pPr marL="0" lvl="0" indent="0" algn="just" rtl="0">
              <a:lnSpc>
                <a:spcPct val="100000"/>
              </a:lnSpc>
              <a:spcBef>
                <a:spcPts val="0"/>
              </a:spcBef>
              <a:spcAft>
                <a:spcPts val="0"/>
              </a:spcAft>
              <a:buSzPts val="1100"/>
              <a:buNone/>
            </a:pPr>
            <a:r>
              <a:rPr lang="en-US" b="1" dirty="0">
                <a:latin typeface="Calibri"/>
                <a:ea typeface="Calibri"/>
                <a:cs typeface="Calibri"/>
                <a:sym typeface="Calibri"/>
              </a:rPr>
              <a:t>La </a:t>
            </a:r>
            <a:r>
              <a:rPr lang="en-US" b="1" dirty="0" err="1">
                <a:latin typeface="Calibri"/>
                <a:ea typeface="Calibri"/>
                <a:cs typeface="Calibri"/>
                <a:sym typeface="Calibri"/>
              </a:rPr>
              <a:t>tercera</a:t>
            </a:r>
            <a:r>
              <a:rPr lang="en-US" b="1" dirty="0">
                <a:latin typeface="Calibri"/>
                <a:ea typeface="Calibri"/>
                <a:cs typeface="Calibri"/>
                <a:sym typeface="Calibri"/>
              </a:rPr>
              <a:t> </a:t>
            </a:r>
            <a:r>
              <a:rPr lang="en-US" b="1" dirty="0" err="1">
                <a:latin typeface="Calibri"/>
                <a:ea typeface="Calibri"/>
                <a:cs typeface="Calibri"/>
                <a:sym typeface="Calibri"/>
              </a:rPr>
              <a:t>diferencia</a:t>
            </a:r>
            <a:r>
              <a:rPr lang="en-US" dirty="0">
                <a:latin typeface="Calibri"/>
                <a:ea typeface="Calibri"/>
                <a:cs typeface="Calibri"/>
                <a:sym typeface="Calibri"/>
              </a:rPr>
              <a:t> </a:t>
            </a:r>
            <a:r>
              <a:rPr lang="en-US" dirty="0" err="1">
                <a:latin typeface="Calibri"/>
                <a:ea typeface="Calibri"/>
                <a:cs typeface="Calibri"/>
                <a:sym typeface="Calibri"/>
              </a:rPr>
              <a:t>tiene</a:t>
            </a:r>
            <a:r>
              <a:rPr lang="en-US" dirty="0">
                <a:latin typeface="Calibri"/>
                <a:ea typeface="Calibri"/>
                <a:cs typeface="Calibri"/>
                <a:sym typeface="Calibri"/>
              </a:rPr>
              <a:t> que </a:t>
            </a:r>
            <a:r>
              <a:rPr lang="en-US" dirty="0" err="1">
                <a:latin typeface="Calibri"/>
                <a:ea typeface="Calibri"/>
                <a:cs typeface="Calibri"/>
                <a:sym typeface="Calibri"/>
              </a:rPr>
              <a:t>ver</a:t>
            </a:r>
            <a:r>
              <a:rPr lang="en-US" dirty="0">
                <a:latin typeface="Calibri"/>
                <a:ea typeface="Calibri"/>
                <a:cs typeface="Calibri"/>
                <a:sym typeface="Calibri"/>
              </a:rPr>
              <a:t> con la </a:t>
            </a:r>
            <a:r>
              <a:rPr lang="en-US" dirty="0" err="1">
                <a:latin typeface="Calibri"/>
                <a:ea typeface="Calibri"/>
                <a:cs typeface="Calibri"/>
                <a:sym typeface="Calibri"/>
              </a:rPr>
              <a:t>mutualidad</a:t>
            </a:r>
            <a:r>
              <a:rPr lang="en-US" dirty="0">
                <a:latin typeface="Calibri"/>
                <a:ea typeface="Calibri"/>
                <a:cs typeface="Calibri"/>
                <a:sym typeface="Calibri"/>
              </a:rPr>
              <a:t>. Si bien </a:t>
            </a:r>
            <a:r>
              <a:rPr lang="en-US" dirty="0" err="1">
                <a:latin typeface="Calibri"/>
                <a:ea typeface="Calibri"/>
                <a:cs typeface="Calibri"/>
                <a:sym typeface="Calibri"/>
              </a:rPr>
              <a:t>éste</a:t>
            </a:r>
            <a:r>
              <a:rPr lang="en-US" dirty="0">
                <a:latin typeface="Calibri"/>
                <a:ea typeface="Calibri"/>
                <a:cs typeface="Calibri"/>
                <a:sym typeface="Calibri"/>
              </a:rPr>
              <a:t> es un valor </a:t>
            </a:r>
            <a:r>
              <a:rPr lang="en-US" dirty="0" err="1">
                <a:latin typeface="Calibri"/>
                <a:ea typeface="Calibri"/>
                <a:cs typeface="Calibri"/>
                <a:sym typeface="Calibri"/>
              </a:rPr>
              <a:t>profundamente</a:t>
            </a:r>
            <a:r>
              <a:rPr lang="en-US" dirty="0">
                <a:latin typeface="Calibri"/>
                <a:ea typeface="Calibri"/>
                <a:cs typeface="Calibri"/>
                <a:sym typeface="Calibri"/>
              </a:rPr>
              <a:t> </a:t>
            </a:r>
            <a:r>
              <a:rPr lang="en-US" dirty="0" err="1">
                <a:latin typeface="Calibri"/>
                <a:ea typeface="Calibri"/>
                <a:cs typeface="Calibri"/>
                <a:sym typeface="Calibri"/>
              </a:rPr>
              <a:t>enraizado</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la </a:t>
            </a:r>
            <a:r>
              <a:rPr lang="en-US" dirty="0" err="1">
                <a:latin typeface="Calibri"/>
                <a:ea typeface="Calibri"/>
                <a:cs typeface="Calibri"/>
                <a:sym typeface="Calibri"/>
              </a:rPr>
              <a:t>teoría</a:t>
            </a:r>
            <a:r>
              <a:rPr lang="en-US" dirty="0">
                <a:latin typeface="Calibri"/>
                <a:ea typeface="Calibri"/>
                <a:cs typeface="Calibri"/>
                <a:sym typeface="Calibri"/>
              </a:rPr>
              <a:t> del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psicológico</a:t>
            </a:r>
            <a:r>
              <a:rPr lang="en-US" dirty="0">
                <a:latin typeface="Calibri"/>
                <a:ea typeface="Calibri"/>
                <a:cs typeface="Calibri"/>
                <a:sym typeface="Calibri"/>
              </a:rPr>
              <a:t>, </a:t>
            </a:r>
            <a:r>
              <a:rPr lang="en-US" dirty="0" err="1">
                <a:latin typeface="Calibri"/>
                <a:ea typeface="Calibri"/>
                <a:cs typeface="Calibri"/>
                <a:sym typeface="Calibri"/>
              </a:rPr>
              <a:t>relativo</a:t>
            </a:r>
            <a:r>
              <a:rPr lang="en-US" dirty="0">
                <a:latin typeface="Calibri"/>
                <a:ea typeface="Calibri"/>
                <a:cs typeface="Calibri"/>
                <a:sym typeface="Calibri"/>
              </a:rPr>
              <a:t> a la </a:t>
            </a:r>
            <a:r>
              <a:rPr lang="en-US" dirty="0" err="1">
                <a:latin typeface="Calibri"/>
                <a:ea typeface="Calibri"/>
                <a:cs typeface="Calibri"/>
                <a:sym typeface="Calibri"/>
              </a:rPr>
              <a:t>relación</a:t>
            </a:r>
            <a:r>
              <a:rPr lang="en-US" dirty="0">
                <a:latin typeface="Calibri"/>
                <a:ea typeface="Calibri"/>
                <a:cs typeface="Calibri"/>
                <a:sym typeface="Calibri"/>
              </a:rPr>
              <a:t> de </a:t>
            </a:r>
            <a:r>
              <a:rPr lang="en-US" dirty="0" err="1">
                <a:latin typeface="Calibri"/>
                <a:ea typeface="Calibri"/>
                <a:cs typeface="Calibri"/>
                <a:sym typeface="Calibri"/>
              </a:rPr>
              <a:t>intercambio</a:t>
            </a:r>
            <a:r>
              <a:rPr lang="en-US" dirty="0">
                <a:latin typeface="Calibri"/>
                <a:ea typeface="Calibri"/>
                <a:cs typeface="Calibri"/>
                <a:sym typeface="Calibri"/>
              </a:rPr>
              <a:t> y la </a:t>
            </a:r>
            <a:r>
              <a:rPr lang="en-US" dirty="0" err="1">
                <a:latin typeface="Calibri"/>
                <a:ea typeface="Calibri"/>
                <a:cs typeface="Calibri"/>
                <a:sym typeface="Calibri"/>
              </a:rPr>
              <a:t>reciprocidad</a:t>
            </a:r>
            <a:r>
              <a:rPr lang="en-US" dirty="0">
                <a:latin typeface="Calibri"/>
                <a:ea typeface="Calibri"/>
                <a:cs typeface="Calibri"/>
                <a:sym typeface="Calibri"/>
              </a:rPr>
              <a:t> que </a:t>
            </a:r>
            <a:r>
              <a:rPr lang="en-US" dirty="0" err="1">
                <a:latin typeface="Calibri"/>
                <a:ea typeface="Calibri"/>
                <a:cs typeface="Calibri"/>
                <a:sym typeface="Calibri"/>
              </a:rPr>
              <a:t>debe</a:t>
            </a:r>
            <a:r>
              <a:rPr lang="en-US" dirty="0">
                <a:latin typeface="Calibri"/>
                <a:ea typeface="Calibri"/>
                <a:cs typeface="Calibri"/>
                <a:sym typeface="Calibri"/>
              </a:rPr>
              <a:t> </a:t>
            </a:r>
            <a:r>
              <a:rPr lang="en-US" dirty="0" err="1">
                <a:latin typeface="Calibri"/>
                <a:ea typeface="Calibri"/>
                <a:cs typeface="Calibri"/>
                <a:sym typeface="Calibri"/>
              </a:rPr>
              <a:t>haber</a:t>
            </a:r>
            <a:r>
              <a:rPr lang="en-US" dirty="0">
                <a:latin typeface="Calibri"/>
                <a:ea typeface="Calibri"/>
                <a:cs typeface="Calibri"/>
                <a:sym typeface="Calibri"/>
              </a:rPr>
              <a:t> entre las partes para </a:t>
            </a:r>
            <a:r>
              <a:rPr lang="en-US" dirty="0" err="1">
                <a:latin typeface="Calibri"/>
                <a:ea typeface="Calibri"/>
                <a:cs typeface="Calibri"/>
                <a:sym typeface="Calibri"/>
              </a:rPr>
              <a:t>mantener</a:t>
            </a:r>
            <a:r>
              <a:rPr lang="en-US" dirty="0">
                <a:latin typeface="Calibri"/>
                <a:ea typeface="Calibri"/>
                <a:cs typeface="Calibri"/>
                <a:sym typeface="Calibri"/>
              </a:rPr>
              <a:t> la </a:t>
            </a:r>
            <a:r>
              <a:rPr lang="en-US" dirty="0" err="1">
                <a:latin typeface="Calibri"/>
                <a:ea typeface="Calibri"/>
                <a:cs typeface="Calibri"/>
                <a:sym typeface="Calibri"/>
              </a:rPr>
              <a:t>justicia</a:t>
            </a:r>
            <a:r>
              <a:rPr lang="en-US" dirty="0">
                <a:latin typeface="Calibri"/>
                <a:ea typeface="Calibri"/>
                <a:cs typeface="Calibri"/>
                <a:sym typeface="Calibri"/>
              </a:rPr>
              <a:t> o </a:t>
            </a:r>
            <a:r>
              <a:rPr lang="en-US" dirty="0" err="1">
                <a:latin typeface="Calibri"/>
                <a:ea typeface="Calibri"/>
                <a:cs typeface="Calibri"/>
                <a:sym typeface="Calibri"/>
              </a:rPr>
              <a:t>equilibrio</a:t>
            </a:r>
            <a:r>
              <a:rPr lang="en-US" dirty="0">
                <a:latin typeface="Calibri"/>
                <a:ea typeface="Calibri"/>
                <a:cs typeface="Calibri"/>
                <a:sym typeface="Calibri"/>
              </a:rPr>
              <a:t> del </a:t>
            </a:r>
            <a:r>
              <a:rPr lang="en-US" dirty="0" err="1">
                <a:latin typeface="Calibri"/>
                <a:ea typeface="Calibri"/>
                <a:cs typeface="Calibri"/>
                <a:sym typeface="Calibri"/>
              </a:rPr>
              <a:t>trato</a:t>
            </a:r>
            <a:r>
              <a:rPr lang="en-US" dirty="0">
                <a:latin typeface="Calibri"/>
                <a:ea typeface="Calibri"/>
                <a:cs typeface="Calibri"/>
                <a:sym typeface="Calibri"/>
              </a:rPr>
              <a:t>, Rousseau introduce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variación</a:t>
            </a:r>
            <a:r>
              <a:rPr lang="en-US" dirty="0">
                <a:latin typeface="Calibri"/>
                <a:ea typeface="Calibri"/>
                <a:cs typeface="Calibri"/>
                <a:sym typeface="Calibri"/>
              </a:rPr>
              <a:t>. Ya no es la </a:t>
            </a:r>
            <a:r>
              <a:rPr lang="en-US" dirty="0" err="1">
                <a:latin typeface="Calibri"/>
                <a:ea typeface="Calibri"/>
                <a:cs typeface="Calibri"/>
                <a:sym typeface="Calibri"/>
              </a:rPr>
              <a:t>mutualidad</a:t>
            </a:r>
            <a:r>
              <a:rPr lang="en-US" dirty="0">
                <a:latin typeface="Calibri"/>
                <a:ea typeface="Calibri"/>
                <a:cs typeface="Calibri"/>
                <a:sym typeface="Calibri"/>
              </a:rPr>
              <a:t> lo que </a:t>
            </a:r>
            <a:r>
              <a:rPr lang="en-US" dirty="0" err="1">
                <a:latin typeface="Calibri"/>
                <a:ea typeface="Calibri"/>
                <a:cs typeface="Calibri"/>
                <a:sym typeface="Calibri"/>
              </a:rPr>
              <a:t>importa</a:t>
            </a:r>
            <a:r>
              <a:rPr lang="en-US" dirty="0">
                <a:latin typeface="Calibri"/>
                <a:ea typeface="Calibri"/>
                <a:cs typeface="Calibri"/>
                <a:sym typeface="Calibri"/>
              </a:rPr>
              <a:t> </a:t>
            </a:r>
            <a:r>
              <a:rPr lang="en-US" dirty="0" err="1">
                <a:latin typeface="Calibri"/>
                <a:ea typeface="Calibri"/>
                <a:cs typeface="Calibri"/>
                <a:sym typeface="Calibri"/>
              </a:rPr>
              <a:t>sino</a:t>
            </a:r>
            <a:r>
              <a:rPr lang="en-US" dirty="0">
                <a:latin typeface="Calibri"/>
                <a:ea typeface="Calibri"/>
                <a:cs typeface="Calibri"/>
                <a:sym typeface="Calibri"/>
              </a:rPr>
              <a:t> la </a:t>
            </a:r>
            <a:r>
              <a:rPr lang="en-US" dirty="0" err="1">
                <a:latin typeface="Calibri"/>
                <a:ea typeface="Calibri"/>
                <a:cs typeface="Calibri"/>
                <a:sym typeface="Calibri"/>
              </a:rPr>
              <a:t>mutualidad</a:t>
            </a:r>
            <a:r>
              <a:rPr lang="en-US" dirty="0">
                <a:latin typeface="Calibri"/>
                <a:ea typeface="Calibri"/>
                <a:cs typeface="Calibri"/>
                <a:sym typeface="Calibri"/>
              </a:rPr>
              <a:t> </a:t>
            </a:r>
            <a:r>
              <a:rPr lang="en-US" dirty="0" err="1">
                <a:latin typeface="Calibri"/>
                <a:ea typeface="Calibri"/>
                <a:cs typeface="Calibri"/>
                <a:sym typeface="Calibri"/>
              </a:rPr>
              <a:t>percibida</a:t>
            </a:r>
            <a:r>
              <a:rPr lang="en-US" dirty="0">
                <a:latin typeface="Calibri"/>
                <a:ea typeface="Calibri"/>
                <a:cs typeface="Calibri"/>
                <a:sym typeface="Calibri"/>
              </a:rPr>
              <a:t> (Rousseau D. M., 1998). ¿</a:t>
            </a:r>
            <a:r>
              <a:rPr lang="en-US" dirty="0" err="1">
                <a:latin typeface="Calibri"/>
                <a:ea typeface="Calibri"/>
                <a:cs typeface="Calibri"/>
                <a:sym typeface="Calibri"/>
              </a:rPr>
              <a:t>Cuáles</a:t>
            </a:r>
            <a:r>
              <a:rPr lang="en-US" dirty="0">
                <a:latin typeface="Calibri"/>
                <a:ea typeface="Calibri"/>
                <a:cs typeface="Calibri"/>
                <a:sym typeface="Calibri"/>
              </a:rPr>
              <a:t> son las </a:t>
            </a:r>
            <a:r>
              <a:rPr lang="en-US" dirty="0" err="1">
                <a:latin typeface="Calibri"/>
                <a:ea typeface="Calibri"/>
                <a:cs typeface="Calibri"/>
                <a:sym typeface="Calibri"/>
              </a:rPr>
              <a:t>implicancias</a:t>
            </a:r>
            <a:r>
              <a:rPr lang="en-US" dirty="0">
                <a:latin typeface="Calibri"/>
                <a:ea typeface="Calibri"/>
                <a:cs typeface="Calibri"/>
                <a:sym typeface="Calibri"/>
              </a:rPr>
              <a:t> de </a:t>
            </a:r>
            <a:r>
              <a:rPr lang="en-US" dirty="0" err="1">
                <a:latin typeface="Calibri"/>
                <a:ea typeface="Calibri"/>
                <a:cs typeface="Calibri"/>
                <a:sym typeface="Calibri"/>
              </a:rPr>
              <a:t>este</a:t>
            </a:r>
            <a:r>
              <a:rPr lang="en-US" dirty="0">
                <a:latin typeface="Calibri"/>
                <a:ea typeface="Calibri"/>
                <a:cs typeface="Calibri"/>
                <a:sym typeface="Calibri"/>
              </a:rPr>
              <a:t> </a:t>
            </a:r>
            <a:r>
              <a:rPr lang="en-US" dirty="0" err="1">
                <a:latin typeface="Calibri"/>
                <a:ea typeface="Calibri"/>
                <a:cs typeface="Calibri"/>
                <a:sym typeface="Calibri"/>
              </a:rPr>
              <a:t>cambio</a:t>
            </a:r>
            <a:r>
              <a:rPr lang="en-US" dirty="0">
                <a:latin typeface="Calibri"/>
                <a:ea typeface="Calibri"/>
                <a:cs typeface="Calibri"/>
                <a:sym typeface="Calibri"/>
              </a:rPr>
              <a:t>? Si </a:t>
            </a:r>
            <a:r>
              <a:rPr lang="en-US" dirty="0" err="1">
                <a:latin typeface="Calibri"/>
                <a:ea typeface="Calibri"/>
                <a:cs typeface="Calibri"/>
                <a:sym typeface="Calibri"/>
              </a:rPr>
              <a:t>tomamos</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a:t>
            </a:r>
            <a:r>
              <a:rPr lang="en-US" dirty="0" err="1">
                <a:latin typeface="Calibri"/>
                <a:ea typeface="Calibri"/>
                <a:cs typeface="Calibri"/>
                <a:sym typeface="Calibri"/>
              </a:rPr>
              <a:t>ejemplo</a:t>
            </a:r>
            <a:r>
              <a:rPr lang="en-US" dirty="0">
                <a:latin typeface="Calibri"/>
                <a:ea typeface="Calibri"/>
                <a:cs typeface="Calibri"/>
                <a:sym typeface="Calibri"/>
              </a:rPr>
              <a:t> la </a:t>
            </a:r>
            <a:r>
              <a:rPr lang="en-US" dirty="0" err="1">
                <a:latin typeface="Calibri"/>
                <a:ea typeface="Calibri"/>
                <a:cs typeface="Calibri"/>
                <a:sym typeface="Calibri"/>
              </a:rPr>
              <a:t>definición</a:t>
            </a:r>
            <a:r>
              <a:rPr lang="en-US" dirty="0">
                <a:latin typeface="Calibri"/>
                <a:ea typeface="Calibri"/>
                <a:cs typeface="Calibri"/>
                <a:sym typeface="Calibri"/>
              </a:rPr>
              <a:t> de Kotter, </a:t>
            </a:r>
            <a:r>
              <a:rPr lang="en-US" dirty="0" err="1">
                <a:latin typeface="Calibri"/>
                <a:ea typeface="Calibri"/>
                <a:cs typeface="Calibri"/>
                <a:sym typeface="Calibri"/>
              </a:rPr>
              <a:t>en</a:t>
            </a:r>
            <a:r>
              <a:rPr lang="en-US" dirty="0">
                <a:latin typeface="Calibri"/>
                <a:ea typeface="Calibri"/>
                <a:cs typeface="Calibri"/>
                <a:sym typeface="Calibri"/>
              </a:rPr>
              <a:t> la que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psicológico</a:t>
            </a:r>
            <a:r>
              <a:rPr lang="en-US" dirty="0">
                <a:latin typeface="Calibri"/>
                <a:ea typeface="Calibri"/>
                <a:cs typeface="Calibri"/>
                <a:sym typeface="Calibri"/>
              </a:rPr>
              <a:t> es "un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implícito</a:t>
            </a:r>
            <a:r>
              <a:rPr lang="en-US" dirty="0">
                <a:latin typeface="Calibri"/>
                <a:ea typeface="Calibri"/>
                <a:cs typeface="Calibri"/>
                <a:sym typeface="Calibri"/>
              </a:rPr>
              <a:t> entre un </a:t>
            </a:r>
            <a:r>
              <a:rPr lang="en-US" dirty="0" err="1">
                <a:latin typeface="Calibri"/>
                <a:ea typeface="Calibri"/>
                <a:cs typeface="Calibri"/>
                <a:sym typeface="Calibri"/>
              </a:rPr>
              <a:t>individuo</a:t>
            </a:r>
            <a:r>
              <a:rPr lang="en-US" dirty="0">
                <a:latin typeface="Calibri"/>
                <a:ea typeface="Calibri"/>
                <a:cs typeface="Calibri"/>
                <a:sym typeface="Calibri"/>
              </a:rPr>
              <a:t> y </a:t>
            </a:r>
            <a:r>
              <a:rPr lang="en-US" dirty="0" err="1">
                <a:latin typeface="Calibri"/>
                <a:ea typeface="Calibri"/>
                <a:cs typeface="Calibri"/>
                <a:sym typeface="Calibri"/>
              </a:rPr>
              <a:t>su</a:t>
            </a:r>
            <a:r>
              <a:rPr lang="en-US" dirty="0">
                <a:latin typeface="Calibri"/>
                <a:ea typeface="Calibri"/>
                <a:cs typeface="Calibri"/>
                <a:sym typeface="Calibri"/>
              </a:rPr>
              <a:t> </a:t>
            </a:r>
            <a:r>
              <a:rPr lang="en-US" dirty="0" err="1">
                <a:latin typeface="Calibri"/>
                <a:ea typeface="Calibri"/>
                <a:cs typeface="Calibri"/>
                <a:sym typeface="Calibri"/>
              </a:rPr>
              <a:t>organización</a:t>
            </a:r>
            <a:r>
              <a:rPr lang="en-US" dirty="0">
                <a:latin typeface="Calibri"/>
                <a:ea typeface="Calibri"/>
                <a:cs typeface="Calibri"/>
                <a:sym typeface="Calibri"/>
              </a:rPr>
              <a:t> que </a:t>
            </a:r>
            <a:r>
              <a:rPr lang="en-US" dirty="0" err="1">
                <a:latin typeface="Calibri"/>
                <a:ea typeface="Calibri"/>
                <a:cs typeface="Calibri"/>
                <a:sym typeface="Calibri"/>
              </a:rPr>
              <a:t>especifica</a:t>
            </a:r>
            <a:r>
              <a:rPr lang="en-US" dirty="0">
                <a:latin typeface="Calibri"/>
                <a:ea typeface="Calibri"/>
                <a:cs typeface="Calibri"/>
                <a:sym typeface="Calibri"/>
              </a:rPr>
              <a:t> lo que </a:t>
            </a:r>
            <a:r>
              <a:rPr lang="en-US" dirty="0" err="1">
                <a:latin typeface="Calibri"/>
                <a:ea typeface="Calibri"/>
                <a:cs typeface="Calibri"/>
                <a:sym typeface="Calibri"/>
              </a:rPr>
              <a:t>cada</a:t>
            </a:r>
            <a:r>
              <a:rPr lang="en-US" dirty="0">
                <a:latin typeface="Calibri"/>
                <a:ea typeface="Calibri"/>
                <a:cs typeface="Calibri"/>
                <a:sym typeface="Calibri"/>
              </a:rPr>
              <a:t> uno </a:t>
            </a:r>
            <a:r>
              <a:rPr lang="en-US" dirty="0" err="1">
                <a:latin typeface="Calibri"/>
                <a:ea typeface="Calibri"/>
                <a:cs typeface="Calibri"/>
                <a:sym typeface="Calibri"/>
              </a:rPr>
              <a:t>espera</a:t>
            </a:r>
            <a:r>
              <a:rPr lang="en-US" dirty="0">
                <a:latin typeface="Calibri"/>
                <a:ea typeface="Calibri"/>
                <a:cs typeface="Calibri"/>
                <a:sym typeface="Calibri"/>
              </a:rPr>
              <a:t> </a:t>
            </a:r>
            <a:r>
              <a:rPr lang="en-US" dirty="0" err="1">
                <a:latin typeface="Calibri"/>
                <a:ea typeface="Calibri"/>
                <a:cs typeface="Calibri"/>
                <a:sym typeface="Calibri"/>
              </a:rPr>
              <a:t>dar</a:t>
            </a:r>
            <a:r>
              <a:rPr lang="en-US" dirty="0">
                <a:latin typeface="Calibri"/>
                <a:ea typeface="Calibri"/>
                <a:cs typeface="Calibri"/>
                <a:sym typeface="Calibri"/>
              </a:rPr>
              <a:t> y </a:t>
            </a:r>
            <a:r>
              <a:rPr lang="en-US" dirty="0" err="1">
                <a:latin typeface="Calibri"/>
                <a:ea typeface="Calibri"/>
                <a:cs typeface="Calibri"/>
                <a:sym typeface="Calibri"/>
              </a:rPr>
              <a:t>recibir</a:t>
            </a:r>
            <a:r>
              <a:rPr lang="en-US" dirty="0">
                <a:latin typeface="Calibri"/>
                <a:ea typeface="Calibri"/>
                <a:cs typeface="Calibri"/>
                <a:sym typeface="Calibri"/>
              </a:rPr>
              <a:t> del </a:t>
            </a:r>
            <a:r>
              <a:rPr lang="en-US" dirty="0" err="1">
                <a:latin typeface="Calibri"/>
                <a:ea typeface="Calibri"/>
                <a:cs typeface="Calibri"/>
                <a:sym typeface="Calibri"/>
              </a:rPr>
              <a:t>otro</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la </a:t>
            </a:r>
            <a:r>
              <a:rPr lang="en-US" dirty="0" err="1">
                <a:latin typeface="Calibri"/>
                <a:ea typeface="Calibri"/>
                <a:cs typeface="Calibri"/>
                <a:sym typeface="Calibri"/>
              </a:rPr>
              <a:t>relación</a:t>
            </a:r>
            <a:r>
              <a:rPr lang="en-US" dirty="0">
                <a:latin typeface="Calibri"/>
                <a:ea typeface="Calibri"/>
                <a:cs typeface="Calibri"/>
                <a:sym typeface="Calibri"/>
              </a:rPr>
              <a:t>“ (Kotter, 1973) </a:t>
            </a:r>
            <a:r>
              <a:rPr lang="en-US" dirty="0" err="1">
                <a:latin typeface="Calibri"/>
                <a:ea typeface="Calibri"/>
                <a:cs typeface="Calibri"/>
                <a:sym typeface="Calibri"/>
              </a:rPr>
              <a:t>podemos</a:t>
            </a:r>
            <a:r>
              <a:rPr lang="en-US" dirty="0">
                <a:latin typeface="Calibri"/>
                <a:ea typeface="Calibri"/>
                <a:cs typeface="Calibri"/>
                <a:sym typeface="Calibri"/>
              </a:rPr>
              <a:t> </a:t>
            </a:r>
            <a:r>
              <a:rPr lang="en-US" dirty="0" err="1">
                <a:latin typeface="Calibri"/>
                <a:ea typeface="Calibri"/>
                <a:cs typeface="Calibri"/>
                <a:sym typeface="Calibri"/>
              </a:rPr>
              <a:t>concluir</a:t>
            </a:r>
            <a:r>
              <a:rPr lang="en-US" dirty="0">
                <a:latin typeface="Calibri"/>
                <a:ea typeface="Calibri"/>
                <a:cs typeface="Calibri"/>
                <a:sym typeface="Calibri"/>
              </a:rPr>
              <a:t> que tanto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empleado</a:t>
            </a:r>
            <a:r>
              <a:rPr lang="en-US" dirty="0">
                <a:latin typeface="Calibri"/>
                <a:ea typeface="Calibri"/>
                <a:cs typeface="Calibri"/>
                <a:sym typeface="Calibri"/>
              </a:rPr>
              <a:t> </a:t>
            </a:r>
            <a:r>
              <a:rPr lang="en-US" dirty="0" err="1">
                <a:latin typeface="Calibri"/>
                <a:ea typeface="Calibri"/>
                <a:cs typeface="Calibri"/>
                <a:sym typeface="Calibri"/>
              </a:rPr>
              <a:t>como</a:t>
            </a:r>
            <a:r>
              <a:rPr lang="en-US" dirty="0">
                <a:latin typeface="Calibri"/>
                <a:ea typeface="Calibri"/>
                <a:cs typeface="Calibri"/>
                <a:sym typeface="Calibri"/>
              </a:rPr>
              <a:t> la </a:t>
            </a:r>
            <a:r>
              <a:rPr lang="en-US" dirty="0" err="1">
                <a:latin typeface="Calibri"/>
                <a:ea typeface="Calibri"/>
                <a:cs typeface="Calibri"/>
                <a:sym typeface="Calibri"/>
              </a:rPr>
              <a:t>organización</a:t>
            </a:r>
            <a:r>
              <a:rPr lang="en-US" dirty="0">
                <a:latin typeface="Calibri"/>
                <a:ea typeface="Calibri"/>
                <a:cs typeface="Calibri"/>
                <a:sym typeface="Calibri"/>
              </a:rPr>
              <a:t> </a:t>
            </a:r>
            <a:r>
              <a:rPr lang="en-US" dirty="0" err="1">
                <a:latin typeface="Calibri"/>
                <a:ea typeface="Calibri"/>
                <a:cs typeface="Calibri"/>
                <a:sym typeface="Calibri"/>
              </a:rPr>
              <a:t>tienen</a:t>
            </a:r>
            <a:r>
              <a:rPr lang="en-US" dirty="0">
                <a:latin typeface="Calibri"/>
                <a:ea typeface="Calibri"/>
                <a:cs typeface="Calibri"/>
                <a:sym typeface="Calibri"/>
              </a:rPr>
              <a:t> un </a:t>
            </a:r>
            <a:r>
              <a:rPr lang="en-US" dirty="0" err="1">
                <a:latin typeface="Calibri"/>
                <a:ea typeface="Calibri"/>
                <a:cs typeface="Calibri"/>
                <a:sym typeface="Calibri"/>
              </a:rPr>
              <a:t>conocimiento</a:t>
            </a:r>
            <a:r>
              <a:rPr lang="en-US" dirty="0">
                <a:latin typeface="Calibri"/>
                <a:ea typeface="Calibri"/>
                <a:cs typeface="Calibri"/>
                <a:sym typeface="Calibri"/>
              </a:rPr>
              <a:t> general de lo que se </a:t>
            </a:r>
            <a:r>
              <a:rPr lang="en-US" dirty="0" err="1">
                <a:latin typeface="Calibri"/>
                <a:ea typeface="Calibri"/>
                <a:cs typeface="Calibri"/>
                <a:sym typeface="Calibri"/>
              </a:rPr>
              <a:t>espera</a:t>
            </a:r>
            <a:r>
              <a:rPr lang="en-US" dirty="0">
                <a:latin typeface="Calibri"/>
                <a:ea typeface="Calibri"/>
                <a:cs typeface="Calibri"/>
                <a:sym typeface="Calibri"/>
              </a:rPr>
              <a:t> de </a:t>
            </a:r>
            <a:r>
              <a:rPr lang="en-US" dirty="0" err="1">
                <a:latin typeface="Calibri"/>
                <a:ea typeface="Calibri"/>
                <a:cs typeface="Calibri"/>
                <a:sym typeface="Calibri"/>
              </a:rPr>
              <a:t>ellos</a:t>
            </a:r>
            <a:r>
              <a:rPr lang="en-US" dirty="0">
                <a:latin typeface="Calibri"/>
                <a:ea typeface="Calibri"/>
                <a:cs typeface="Calibri"/>
                <a:sym typeface="Calibri"/>
              </a:rPr>
              <a:t> </a:t>
            </a:r>
            <a:r>
              <a:rPr lang="en-US" dirty="0" err="1">
                <a:latin typeface="Calibri"/>
                <a:ea typeface="Calibri"/>
                <a:cs typeface="Calibri"/>
                <a:sym typeface="Calibri"/>
              </a:rPr>
              <a:t>en</a:t>
            </a:r>
            <a:r>
              <a:rPr lang="en-US" dirty="0">
                <a:latin typeface="Calibri"/>
                <a:ea typeface="Calibri"/>
                <a:cs typeface="Calibri"/>
                <a:sym typeface="Calibri"/>
              </a:rPr>
              <a:t> la </a:t>
            </a:r>
            <a:r>
              <a:rPr lang="en-US" dirty="0" err="1">
                <a:latin typeface="Calibri"/>
                <a:ea typeface="Calibri"/>
                <a:cs typeface="Calibri"/>
                <a:sym typeface="Calibri"/>
              </a:rPr>
              <a:t>relación</a:t>
            </a:r>
            <a:r>
              <a:rPr lang="en-US" dirty="0">
                <a:latin typeface="Calibri"/>
                <a:ea typeface="Calibri"/>
                <a:cs typeface="Calibri"/>
                <a:sym typeface="Calibri"/>
              </a:rPr>
              <a:t> de </a:t>
            </a:r>
            <a:r>
              <a:rPr lang="en-US" dirty="0" err="1">
                <a:latin typeface="Calibri"/>
                <a:ea typeface="Calibri"/>
                <a:cs typeface="Calibri"/>
                <a:sym typeface="Calibri"/>
              </a:rPr>
              <a:t>intercambio</a:t>
            </a:r>
            <a:r>
              <a:rPr lang="en-US" dirty="0">
                <a:latin typeface="Calibri"/>
                <a:ea typeface="Calibri"/>
                <a:cs typeface="Calibri"/>
                <a:sym typeface="Calibri"/>
              </a:rPr>
              <a:t>. </a:t>
            </a:r>
            <a:r>
              <a:rPr lang="en-US" dirty="0" err="1">
                <a:latin typeface="Calibri"/>
                <a:ea typeface="Calibri"/>
                <a:cs typeface="Calibri"/>
                <a:sym typeface="Calibri"/>
              </a:rPr>
              <a:t>Esto</a:t>
            </a:r>
            <a:r>
              <a:rPr lang="en-US" dirty="0">
                <a:latin typeface="Calibri"/>
                <a:ea typeface="Calibri"/>
                <a:cs typeface="Calibri"/>
                <a:sym typeface="Calibri"/>
              </a:rPr>
              <a:t> </a:t>
            </a:r>
            <a:r>
              <a:rPr lang="en-US" dirty="0" err="1">
                <a:latin typeface="Calibri"/>
                <a:ea typeface="Calibri"/>
                <a:cs typeface="Calibri"/>
                <a:sym typeface="Calibri"/>
              </a:rPr>
              <a:t>puede</a:t>
            </a:r>
            <a:r>
              <a:rPr lang="en-US" dirty="0">
                <a:latin typeface="Calibri"/>
                <a:ea typeface="Calibri"/>
                <a:cs typeface="Calibri"/>
                <a:sym typeface="Calibri"/>
              </a:rPr>
              <a:t> </a:t>
            </a:r>
            <a:r>
              <a:rPr lang="en-US" dirty="0" err="1">
                <a:latin typeface="Calibri"/>
                <a:ea typeface="Calibri"/>
                <a:cs typeface="Calibri"/>
                <a:sym typeface="Calibri"/>
              </a:rPr>
              <a:t>suceder</a:t>
            </a:r>
            <a:r>
              <a:rPr lang="en-US" dirty="0">
                <a:latin typeface="Calibri"/>
                <a:ea typeface="Calibri"/>
                <a:cs typeface="Calibri"/>
                <a:sym typeface="Calibri"/>
              </a:rPr>
              <a:t> con la </a:t>
            </a:r>
            <a:r>
              <a:rPr lang="en-US" dirty="0" err="1">
                <a:latin typeface="Calibri"/>
                <a:ea typeface="Calibri"/>
                <a:cs typeface="Calibri"/>
                <a:sym typeface="Calibri"/>
              </a:rPr>
              <a:t>parte</a:t>
            </a:r>
            <a:r>
              <a:rPr lang="en-US" dirty="0">
                <a:latin typeface="Calibri"/>
                <a:ea typeface="Calibri"/>
                <a:cs typeface="Calibri"/>
                <a:sym typeface="Calibri"/>
              </a:rPr>
              <a:t> </a:t>
            </a:r>
            <a:r>
              <a:rPr lang="en-US" dirty="0" err="1">
                <a:latin typeface="Calibri"/>
                <a:ea typeface="Calibri"/>
                <a:cs typeface="Calibri"/>
                <a:sym typeface="Calibri"/>
              </a:rPr>
              <a:t>explícita</a:t>
            </a:r>
            <a:r>
              <a:rPr lang="en-US" dirty="0">
                <a:latin typeface="Calibri"/>
                <a:ea typeface="Calibri"/>
                <a:cs typeface="Calibri"/>
                <a:sym typeface="Calibri"/>
              </a:rPr>
              <a:t> del </a:t>
            </a:r>
            <a:r>
              <a:rPr lang="en-US" dirty="0" err="1">
                <a:latin typeface="Calibri"/>
                <a:ea typeface="Calibri"/>
                <a:cs typeface="Calibri"/>
                <a:sym typeface="Calibri"/>
              </a:rPr>
              <a:t>contrato</a:t>
            </a:r>
            <a:r>
              <a:rPr lang="en-US" dirty="0">
                <a:latin typeface="Calibri"/>
                <a:ea typeface="Calibri"/>
                <a:cs typeface="Calibri"/>
                <a:sym typeface="Calibri"/>
              </a:rPr>
              <a:t>, </a:t>
            </a:r>
            <a:r>
              <a:rPr lang="en-US" dirty="0" err="1">
                <a:latin typeface="Calibri"/>
                <a:ea typeface="Calibri"/>
                <a:cs typeface="Calibri"/>
                <a:sym typeface="Calibri"/>
              </a:rPr>
              <a:t>pero</a:t>
            </a:r>
            <a:r>
              <a:rPr lang="en-US" dirty="0">
                <a:latin typeface="Calibri"/>
                <a:ea typeface="Calibri"/>
                <a:cs typeface="Calibri"/>
                <a:sym typeface="Calibri"/>
              </a:rPr>
              <a:t> </a:t>
            </a:r>
            <a:r>
              <a:rPr lang="en-US" dirty="0" err="1">
                <a:latin typeface="Calibri"/>
                <a:ea typeface="Calibri"/>
                <a:cs typeface="Calibri"/>
                <a:sym typeface="Calibri"/>
              </a:rPr>
              <a:t>resulta</a:t>
            </a:r>
            <a:r>
              <a:rPr lang="en-US" dirty="0">
                <a:latin typeface="Calibri"/>
                <a:ea typeface="Calibri"/>
                <a:cs typeface="Calibri"/>
                <a:sym typeface="Calibri"/>
              </a:rPr>
              <a:t> </a:t>
            </a:r>
            <a:r>
              <a:rPr lang="en-US" dirty="0" err="1">
                <a:latin typeface="Calibri"/>
                <a:ea typeface="Calibri"/>
                <a:cs typeface="Calibri"/>
                <a:sym typeface="Calibri"/>
              </a:rPr>
              <a:t>mucho</a:t>
            </a:r>
            <a:r>
              <a:rPr lang="en-US" dirty="0">
                <a:latin typeface="Calibri"/>
                <a:ea typeface="Calibri"/>
                <a:cs typeface="Calibri"/>
                <a:sym typeface="Calibri"/>
              </a:rPr>
              <a:t> </a:t>
            </a:r>
            <a:r>
              <a:rPr lang="en-US" dirty="0" err="1">
                <a:latin typeface="Calibri"/>
                <a:ea typeface="Calibri"/>
                <a:cs typeface="Calibri"/>
                <a:sym typeface="Calibri"/>
              </a:rPr>
              <a:t>más</a:t>
            </a:r>
            <a:r>
              <a:rPr lang="en-US" dirty="0">
                <a:latin typeface="Calibri"/>
                <a:ea typeface="Calibri"/>
                <a:cs typeface="Calibri"/>
                <a:sym typeface="Calibri"/>
              </a:rPr>
              <a:t> </a:t>
            </a:r>
            <a:r>
              <a:rPr lang="en-US" dirty="0" err="1">
                <a:latin typeface="Calibri"/>
                <a:ea typeface="Calibri"/>
                <a:cs typeface="Calibri"/>
                <a:sym typeface="Calibri"/>
              </a:rPr>
              <a:t>complejo</a:t>
            </a:r>
            <a:r>
              <a:rPr lang="en-US" dirty="0">
                <a:latin typeface="Calibri"/>
                <a:ea typeface="Calibri"/>
                <a:cs typeface="Calibri"/>
                <a:sym typeface="Calibri"/>
              </a:rPr>
              <a:t> que </a:t>
            </a:r>
            <a:r>
              <a:rPr lang="en-US" dirty="0" err="1">
                <a:latin typeface="Calibri"/>
                <a:ea typeface="Calibri"/>
                <a:cs typeface="Calibri"/>
                <a:sym typeface="Calibri"/>
              </a:rPr>
              <a:t>el</a:t>
            </a:r>
            <a:r>
              <a:rPr lang="en-US" dirty="0">
                <a:latin typeface="Calibri"/>
                <a:ea typeface="Calibri"/>
                <a:cs typeface="Calibri"/>
                <a:sym typeface="Calibri"/>
              </a:rPr>
              <a:t> </a:t>
            </a:r>
            <a:r>
              <a:rPr lang="en-US" dirty="0" err="1">
                <a:latin typeface="Calibri"/>
                <a:ea typeface="Calibri"/>
                <a:cs typeface="Calibri"/>
                <a:sym typeface="Calibri"/>
              </a:rPr>
              <a:t>contenido</a:t>
            </a:r>
            <a:r>
              <a:rPr lang="en-US" dirty="0">
                <a:latin typeface="Calibri"/>
                <a:ea typeface="Calibri"/>
                <a:cs typeface="Calibri"/>
                <a:sym typeface="Calibri"/>
              </a:rPr>
              <a:t> </a:t>
            </a:r>
            <a:r>
              <a:rPr lang="en-US" dirty="0" err="1">
                <a:latin typeface="Calibri"/>
                <a:ea typeface="Calibri"/>
                <a:cs typeface="Calibri"/>
                <a:sym typeface="Calibri"/>
              </a:rPr>
              <a:t>implícito</a:t>
            </a:r>
            <a:r>
              <a:rPr lang="en-US" dirty="0">
                <a:latin typeface="Calibri"/>
                <a:ea typeface="Calibri"/>
                <a:cs typeface="Calibri"/>
                <a:sym typeface="Calibri"/>
              </a:rPr>
              <a:t> del </a:t>
            </a:r>
            <a:r>
              <a:rPr lang="en-US" dirty="0" err="1">
                <a:latin typeface="Calibri"/>
                <a:ea typeface="Calibri"/>
                <a:cs typeface="Calibri"/>
                <a:sym typeface="Calibri"/>
              </a:rPr>
              <a:t>mismo</a:t>
            </a:r>
            <a:r>
              <a:rPr lang="en-US" dirty="0">
                <a:latin typeface="Calibri"/>
                <a:ea typeface="Calibri"/>
                <a:cs typeface="Calibri"/>
                <a:sym typeface="Calibri"/>
              </a:rPr>
              <a:t> sea </a:t>
            </a:r>
            <a:r>
              <a:rPr lang="en-US" dirty="0" err="1">
                <a:latin typeface="Calibri"/>
                <a:ea typeface="Calibri"/>
                <a:cs typeface="Calibri"/>
                <a:sym typeface="Calibri"/>
              </a:rPr>
              <a:t>entendido</a:t>
            </a:r>
            <a:r>
              <a:rPr lang="en-US" dirty="0">
                <a:latin typeface="Calibri"/>
                <a:ea typeface="Calibri"/>
                <a:cs typeface="Calibri"/>
                <a:sym typeface="Calibri"/>
              </a:rPr>
              <a:t> </a:t>
            </a:r>
            <a:r>
              <a:rPr lang="en-US" dirty="0" err="1">
                <a:latin typeface="Calibri"/>
                <a:ea typeface="Calibri"/>
                <a:cs typeface="Calibri"/>
                <a:sym typeface="Calibri"/>
              </a:rPr>
              <a:t>por</a:t>
            </a:r>
            <a:r>
              <a:rPr lang="en-US" dirty="0">
                <a:latin typeface="Calibri"/>
                <a:ea typeface="Calibri"/>
                <a:cs typeface="Calibri"/>
                <a:sym typeface="Calibri"/>
              </a:rPr>
              <a:t> ambas partes </a:t>
            </a:r>
            <a:r>
              <a:rPr lang="en-US" dirty="0" err="1">
                <a:latin typeface="Calibri"/>
                <a:ea typeface="Calibri"/>
                <a:cs typeface="Calibri"/>
                <a:sym typeface="Calibri"/>
              </a:rPr>
              <a:t>por</a:t>
            </a:r>
            <a:r>
              <a:rPr lang="en-US" dirty="0">
                <a:latin typeface="Calibri"/>
                <a:ea typeface="Calibri"/>
                <a:cs typeface="Calibri"/>
                <a:sym typeface="Calibri"/>
              </a:rPr>
              <a:t> </a:t>
            </a:r>
            <a:r>
              <a:rPr lang="en-US" dirty="0" err="1">
                <a:latin typeface="Calibri"/>
                <a:ea typeface="Calibri"/>
                <a:cs typeface="Calibri"/>
                <a:sym typeface="Calibri"/>
              </a:rPr>
              <a:t>igual</a:t>
            </a:r>
            <a:r>
              <a:rPr lang="en-US" dirty="0">
                <a:latin typeface="Calibri"/>
                <a:ea typeface="Calibri"/>
                <a:cs typeface="Calibri"/>
                <a:sym typeface="Calibri"/>
              </a:rPr>
              <a:t>. Rousseau, </a:t>
            </a:r>
            <a:r>
              <a:rPr lang="en-US" dirty="0" err="1">
                <a:latin typeface="Calibri"/>
                <a:ea typeface="Calibri"/>
                <a:cs typeface="Calibri"/>
                <a:sym typeface="Calibri"/>
              </a:rPr>
              <a:t>por</a:t>
            </a:r>
            <a:r>
              <a:rPr lang="en-US" dirty="0">
                <a:latin typeface="Calibri"/>
                <a:ea typeface="Calibri"/>
                <a:cs typeface="Calibri"/>
                <a:sym typeface="Calibri"/>
              </a:rPr>
              <a:t> </a:t>
            </a:r>
            <a:r>
              <a:rPr lang="en-US" dirty="0" err="1">
                <a:latin typeface="Calibri"/>
                <a:ea typeface="Calibri"/>
                <a:cs typeface="Calibri"/>
                <a:sym typeface="Calibri"/>
              </a:rPr>
              <a:t>su</a:t>
            </a:r>
            <a:r>
              <a:rPr lang="en-US" dirty="0">
                <a:latin typeface="Calibri"/>
                <a:ea typeface="Calibri"/>
                <a:cs typeface="Calibri"/>
                <a:sym typeface="Calibri"/>
              </a:rPr>
              <a:t> </a:t>
            </a:r>
            <a:r>
              <a:rPr lang="en-US" dirty="0" err="1">
                <a:latin typeface="Calibri"/>
                <a:ea typeface="Calibri"/>
                <a:cs typeface="Calibri"/>
                <a:sym typeface="Calibri"/>
              </a:rPr>
              <a:t>parte</a:t>
            </a:r>
            <a:r>
              <a:rPr lang="en-US" dirty="0">
                <a:latin typeface="Calibri"/>
                <a:ea typeface="Calibri"/>
                <a:cs typeface="Calibri"/>
                <a:sym typeface="Calibri"/>
              </a:rPr>
              <a:t>, </a:t>
            </a:r>
            <a:r>
              <a:rPr lang="en-US" dirty="0" err="1">
                <a:latin typeface="Calibri"/>
                <a:ea typeface="Calibri"/>
                <a:cs typeface="Calibri"/>
                <a:sym typeface="Calibri"/>
              </a:rPr>
              <a:t>afirma</a:t>
            </a:r>
            <a:r>
              <a:rPr lang="en-US" dirty="0">
                <a:latin typeface="Calibri"/>
                <a:ea typeface="Calibri"/>
                <a:cs typeface="Calibri"/>
                <a:sym typeface="Calibri"/>
              </a:rPr>
              <a:t> que la </a:t>
            </a:r>
            <a:r>
              <a:rPr lang="en-US" dirty="0" err="1">
                <a:latin typeface="Calibri"/>
                <a:ea typeface="Calibri"/>
                <a:cs typeface="Calibri"/>
                <a:sym typeface="Calibri"/>
              </a:rPr>
              <a:t>mutualidad</a:t>
            </a:r>
            <a:r>
              <a:rPr lang="en-US" dirty="0">
                <a:latin typeface="Calibri"/>
                <a:ea typeface="Calibri"/>
                <a:cs typeface="Calibri"/>
                <a:sym typeface="Calibri"/>
              </a:rPr>
              <a:t> no es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condición</a:t>
            </a:r>
            <a:r>
              <a:rPr lang="en-US" dirty="0">
                <a:latin typeface="Calibri"/>
                <a:ea typeface="Calibri"/>
                <a:cs typeface="Calibri"/>
                <a:sym typeface="Calibri"/>
              </a:rPr>
              <a:t> </a:t>
            </a:r>
            <a:r>
              <a:rPr lang="en-US" dirty="0" err="1">
                <a:latin typeface="Calibri"/>
                <a:ea typeface="Calibri"/>
                <a:cs typeface="Calibri"/>
                <a:sym typeface="Calibri"/>
              </a:rPr>
              <a:t>requisito</a:t>
            </a:r>
            <a:r>
              <a:rPr lang="en-US" dirty="0">
                <a:latin typeface="Calibri"/>
                <a:ea typeface="Calibri"/>
                <a:cs typeface="Calibri"/>
                <a:sym typeface="Calibri"/>
              </a:rPr>
              <a:t> (Rousseau D. M., 1990). Lo </a:t>
            </a:r>
            <a:r>
              <a:rPr lang="en-US" dirty="0" err="1">
                <a:latin typeface="Calibri"/>
                <a:ea typeface="Calibri"/>
                <a:cs typeface="Calibri"/>
                <a:sym typeface="Calibri"/>
              </a:rPr>
              <a:t>importante</a:t>
            </a:r>
            <a:r>
              <a:rPr lang="en-US" dirty="0">
                <a:latin typeface="Calibri"/>
                <a:ea typeface="Calibri"/>
                <a:cs typeface="Calibri"/>
                <a:sym typeface="Calibri"/>
              </a:rPr>
              <a:t> es que </a:t>
            </a:r>
            <a:r>
              <a:rPr lang="en-US" dirty="0" err="1">
                <a:latin typeface="Calibri"/>
                <a:ea typeface="Calibri"/>
                <a:cs typeface="Calibri"/>
                <a:sym typeface="Calibri"/>
              </a:rPr>
              <a:t>haya</a:t>
            </a:r>
            <a:r>
              <a:rPr lang="en-US" dirty="0">
                <a:latin typeface="Calibri"/>
                <a:ea typeface="Calibri"/>
                <a:cs typeface="Calibri"/>
                <a:sym typeface="Calibri"/>
              </a:rPr>
              <a:t> </a:t>
            </a:r>
            <a:r>
              <a:rPr lang="en-US" dirty="0" err="1">
                <a:latin typeface="Calibri"/>
                <a:ea typeface="Calibri"/>
                <a:cs typeface="Calibri"/>
                <a:sym typeface="Calibri"/>
              </a:rPr>
              <a:t>una</a:t>
            </a:r>
            <a:r>
              <a:rPr lang="en-US" dirty="0">
                <a:latin typeface="Calibri"/>
                <a:ea typeface="Calibri"/>
                <a:cs typeface="Calibri"/>
                <a:sym typeface="Calibri"/>
              </a:rPr>
              <a:t> </a:t>
            </a:r>
            <a:r>
              <a:rPr lang="en-US" dirty="0" err="1">
                <a:latin typeface="Calibri"/>
                <a:ea typeface="Calibri"/>
                <a:cs typeface="Calibri"/>
                <a:sym typeface="Calibri"/>
              </a:rPr>
              <a:t>percepción</a:t>
            </a:r>
            <a:r>
              <a:rPr lang="en-US" dirty="0">
                <a:latin typeface="Calibri"/>
                <a:ea typeface="Calibri"/>
                <a:cs typeface="Calibri"/>
                <a:sym typeface="Calibri"/>
              </a:rPr>
              <a:t> de </a:t>
            </a:r>
            <a:r>
              <a:rPr lang="en-US" dirty="0" err="1">
                <a:latin typeface="Calibri"/>
                <a:ea typeface="Calibri"/>
                <a:cs typeface="Calibri"/>
                <a:sym typeface="Calibri"/>
              </a:rPr>
              <a:t>parte</a:t>
            </a:r>
            <a:r>
              <a:rPr lang="en-US" dirty="0">
                <a:latin typeface="Calibri"/>
                <a:ea typeface="Calibri"/>
                <a:cs typeface="Calibri"/>
                <a:sym typeface="Calibri"/>
              </a:rPr>
              <a:t> del </a:t>
            </a:r>
            <a:r>
              <a:rPr lang="en-US" dirty="0" err="1">
                <a:latin typeface="Calibri"/>
                <a:ea typeface="Calibri"/>
                <a:cs typeface="Calibri"/>
                <a:sym typeface="Calibri"/>
              </a:rPr>
              <a:t>empleado</a:t>
            </a:r>
            <a:r>
              <a:rPr lang="en-US" dirty="0">
                <a:latin typeface="Calibri"/>
                <a:ea typeface="Calibri"/>
                <a:cs typeface="Calibri"/>
                <a:sym typeface="Calibri"/>
              </a:rPr>
              <a:t> de que ambas partes </a:t>
            </a:r>
            <a:r>
              <a:rPr lang="en-US" dirty="0" err="1">
                <a:latin typeface="Calibri"/>
                <a:ea typeface="Calibri"/>
                <a:cs typeface="Calibri"/>
                <a:sym typeface="Calibri"/>
              </a:rPr>
              <a:t>están</a:t>
            </a:r>
            <a:r>
              <a:rPr lang="en-US" dirty="0">
                <a:latin typeface="Calibri"/>
                <a:ea typeface="Calibri"/>
                <a:cs typeface="Calibri"/>
                <a:sym typeface="Calibri"/>
              </a:rPr>
              <a:t> de </a:t>
            </a:r>
            <a:r>
              <a:rPr lang="en-US" dirty="0" err="1">
                <a:latin typeface="Calibri"/>
                <a:ea typeface="Calibri"/>
                <a:cs typeface="Calibri"/>
                <a:sym typeface="Calibri"/>
              </a:rPr>
              <a:t>acuerdo</a:t>
            </a:r>
            <a:r>
              <a:rPr lang="en-US" dirty="0">
                <a:latin typeface="Calibri"/>
                <a:ea typeface="Calibri"/>
                <a:cs typeface="Calibri"/>
                <a:sym typeface="Calibri"/>
              </a:rPr>
              <a:t>.</a:t>
            </a:r>
            <a:endParaRPr sz="700" dirty="0"/>
          </a:p>
        </p:txBody>
      </p:sp>
      <p:sp>
        <p:nvSpPr>
          <p:cNvPr id="556" name="Google Shape;556;g121e7910631_0_1190:notes"/>
          <p:cNvSpPr txBox="1">
            <a:spLocks noGrp="1"/>
          </p:cNvSpPr>
          <p:nvPr>
            <p:ph type="ftr" idx="11"/>
          </p:nvPr>
        </p:nvSpPr>
        <p:spPr>
          <a:xfrm>
            <a:off x="0" y="9478342"/>
            <a:ext cx="2961600" cy="498900"/>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557" name="Google Shape;557;g121e7910631_0_1190:notes"/>
          <p:cNvSpPr txBox="1">
            <a:spLocks noGrp="1"/>
          </p:cNvSpPr>
          <p:nvPr>
            <p:ph type="sldNum" idx="12"/>
          </p:nvPr>
        </p:nvSpPr>
        <p:spPr>
          <a:xfrm>
            <a:off x="3871125" y="9478342"/>
            <a:ext cx="2961600" cy="49890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34: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p34:notes"/>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581" name="Google Shape;581;p34:notes"/>
          <p:cNvSpPr txBox="1">
            <a:spLocks noGrp="1"/>
          </p:cNvSpPr>
          <p:nvPr>
            <p:ph type="ftr" idx="11"/>
          </p:nvPr>
        </p:nvSpPr>
        <p:spPr>
          <a:xfrm>
            <a:off x="0" y="9478342"/>
            <a:ext cx="2961481" cy="498951"/>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582" name="Google Shape;582;p34:notes"/>
          <p:cNvSpPr txBox="1">
            <a:spLocks noGrp="1"/>
          </p:cNvSpPr>
          <p:nvPr>
            <p:ph type="sldNum" idx="12"/>
          </p:nvPr>
        </p:nvSpPr>
        <p:spPr>
          <a:xfrm>
            <a:off x="3871125" y="9478342"/>
            <a:ext cx="2961481" cy="498951"/>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121e7912c57_0_17:notes"/>
          <p:cNvSpPr>
            <a:spLocks noGrp="1" noRot="1" noChangeAspect="1"/>
          </p:cNvSpPr>
          <p:nvPr>
            <p:ph type="sldImg" idx="2"/>
          </p:nvPr>
        </p:nvSpPr>
        <p:spPr>
          <a:xfrm>
            <a:off x="534988" y="623888"/>
            <a:ext cx="5764200" cy="3990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0" name="Google Shape;590;g121e7912c57_0_17:notes"/>
          <p:cNvSpPr txBox="1">
            <a:spLocks noGrp="1"/>
          </p:cNvSpPr>
          <p:nvPr>
            <p:ph type="body" idx="1"/>
          </p:nvPr>
        </p:nvSpPr>
        <p:spPr>
          <a:xfrm>
            <a:off x="213546" y="4740037"/>
            <a:ext cx="6407100" cy="4615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1" name="Google Shape;591;g121e7912c57_0_17:notes"/>
          <p:cNvSpPr txBox="1">
            <a:spLocks noGrp="1"/>
          </p:cNvSpPr>
          <p:nvPr>
            <p:ph type="sldNum" idx="12"/>
          </p:nvPr>
        </p:nvSpPr>
        <p:spPr>
          <a:xfrm>
            <a:off x="3871125" y="9478342"/>
            <a:ext cx="2961600" cy="498900"/>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Clr>
                <a:srgbClr val="000000"/>
              </a:buClr>
              <a:buSzPts val="8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36:notes"/>
          <p:cNvSpPr>
            <a:spLocks noGrp="1" noRot="1" noChangeAspect="1"/>
          </p:cNvSpPr>
          <p:nvPr>
            <p:ph type="sldImg" idx="2"/>
          </p:nvPr>
        </p:nvSpPr>
        <p:spPr>
          <a:xfrm>
            <a:off x="534988" y="623888"/>
            <a:ext cx="5764212" cy="3990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2" name="Google Shape;602;p36:notes"/>
          <p:cNvSpPr txBox="1">
            <a:spLocks noGrp="1"/>
          </p:cNvSpPr>
          <p:nvPr>
            <p:ph type="body" idx="1"/>
          </p:nvPr>
        </p:nvSpPr>
        <p:spPr>
          <a:xfrm>
            <a:off x="213546" y="4740037"/>
            <a:ext cx="6407096" cy="461533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603" name="Google Shape;603;p36:notes"/>
          <p:cNvSpPr txBox="1">
            <a:spLocks noGrp="1"/>
          </p:cNvSpPr>
          <p:nvPr>
            <p:ph type="ftr" idx="11"/>
          </p:nvPr>
        </p:nvSpPr>
        <p:spPr>
          <a:xfrm>
            <a:off x="0" y="9478342"/>
            <a:ext cx="2961481" cy="498951"/>
          </a:xfrm>
          <a:prstGeom prst="rect">
            <a:avLst/>
          </a:prstGeom>
          <a:noFill/>
          <a:ln>
            <a:noFill/>
          </a:ln>
        </p:spPr>
        <p:txBody>
          <a:bodyPr spcFirstLastPara="1" wrap="square" lIns="180000" tIns="36000" rIns="72000" bIns="180000" anchor="b" anchorCtr="0">
            <a:noAutofit/>
          </a:bodyPr>
          <a:lstStyle/>
          <a:p>
            <a:pPr marL="0" lvl="0" indent="0" algn="l" rtl="0">
              <a:lnSpc>
                <a:spcPct val="100000"/>
              </a:lnSpc>
              <a:spcBef>
                <a:spcPts val="0"/>
              </a:spcBef>
              <a:spcAft>
                <a:spcPts val="0"/>
              </a:spcAft>
              <a:buSzPts val="1400"/>
              <a:buNone/>
            </a:pPr>
            <a:r>
              <a:rPr lang="en-US"/>
              <a:t>© 2010 Capgemini. All rights reserved.</a:t>
            </a:r>
            <a:endParaRPr/>
          </a:p>
        </p:txBody>
      </p:sp>
      <p:sp>
        <p:nvSpPr>
          <p:cNvPr id="604" name="Google Shape;604;p36:notes"/>
          <p:cNvSpPr txBox="1">
            <a:spLocks noGrp="1"/>
          </p:cNvSpPr>
          <p:nvPr>
            <p:ph type="sldNum" idx="12"/>
          </p:nvPr>
        </p:nvSpPr>
        <p:spPr>
          <a:xfrm>
            <a:off x="3871125" y="9478342"/>
            <a:ext cx="2961481" cy="498951"/>
          </a:xfrm>
          <a:prstGeom prst="rect">
            <a:avLst/>
          </a:prstGeom>
          <a:noFill/>
          <a:ln>
            <a:noFill/>
          </a:ln>
        </p:spPr>
        <p:txBody>
          <a:bodyPr spcFirstLastPara="1" wrap="square" lIns="72000" tIns="36000" rIns="180000" bIns="1800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Cover-People">
  <p:cSld name="Cover-People">
    <p:spTree>
      <p:nvGrpSpPr>
        <p:cNvPr id="1" name="Shape 19"/>
        <p:cNvGrpSpPr/>
        <p:nvPr/>
      </p:nvGrpSpPr>
      <p:grpSpPr>
        <a:xfrm>
          <a:off x="0" y="0"/>
          <a:ext cx="0" cy="0"/>
          <a:chOff x="0" y="0"/>
          <a:chExt cx="0" cy="0"/>
        </a:xfrm>
      </p:grpSpPr>
      <p:sp>
        <p:nvSpPr>
          <p:cNvPr id="20" name="Google Shape;20;p38"/>
          <p:cNvSpPr/>
          <p:nvPr/>
        </p:nvSpPr>
        <p:spPr>
          <a:xfrm>
            <a:off x="-7943" y="6286500"/>
            <a:ext cx="9907200" cy="17463"/>
          </a:xfrm>
          <a:prstGeom prst="rect">
            <a:avLst/>
          </a:prstGeom>
          <a:gradFill>
            <a:gsLst>
              <a:gs pos="0">
                <a:srgbClr val="E5E5E5"/>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21" name="Google Shape;21;p38"/>
          <p:cNvSpPr/>
          <p:nvPr/>
        </p:nvSpPr>
        <p:spPr>
          <a:xfrm>
            <a:off x="-24978" y="1196959"/>
            <a:ext cx="9907200" cy="17463"/>
          </a:xfrm>
          <a:prstGeom prst="rect">
            <a:avLst/>
          </a:prstGeom>
          <a:gradFill>
            <a:gsLst>
              <a:gs pos="0">
                <a:srgbClr val="E5E5E5"/>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spTree>
      <p:nvGrpSpPr>
        <p:cNvPr id="1" name="Shape 22"/>
        <p:cNvGrpSpPr/>
        <p:nvPr/>
      </p:nvGrpSpPr>
      <p:grpSpPr>
        <a:xfrm>
          <a:off x="0" y="0"/>
          <a:ext cx="0" cy="0"/>
          <a:chOff x="0" y="0"/>
          <a:chExt cx="0" cy="0"/>
        </a:xfrm>
      </p:grpSpPr>
      <p:sp>
        <p:nvSpPr>
          <p:cNvPr id="23" name="Google Shape;23;p39"/>
          <p:cNvSpPr/>
          <p:nvPr/>
        </p:nvSpPr>
        <p:spPr>
          <a:xfrm>
            <a:off x="-24978" y="1196959"/>
            <a:ext cx="9907200" cy="17463"/>
          </a:xfrm>
          <a:prstGeom prst="rect">
            <a:avLst/>
          </a:prstGeom>
          <a:gradFill>
            <a:gsLst>
              <a:gs pos="0">
                <a:srgbClr val="E5E5E5"/>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4"/>
        <p:cNvGrpSpPr/>
        <p:nvPr/>
      </p:nvGrpSpPr>
      <p:grpSpPr>
        <a:xfrm>
          <a:off x="0" y="0"/>
          <a:ext cx="0" cy="0"/>
          <a:chOff x="0" y="0"/>
          <a:chExt cx="0" cy="0"/>
        </a:xfrm>
      </p:grpSpPr>
      <p:sp>
        <p:nvSpPr>
          <p:cNvPr id="25" name="Google Shape;25;p40"/>
          <p:cNvSpPr/>
          <p:nvPr/>
        </p:nvSpPr>
        <p:spPr>
          <a:xfrm>
            <a:off x="-2" y="4664147"/>
            <a:ext cx="9913680" cy="0"/>
          </a:xfrm>
          <a:prstGeom prst="rtTriangle">
            <a:avLst/>
          </a:prstGeom>
          <a:gradFill>
            <a:gsLst>
              <a:gs pos="0">
                <a:srgbClr val="007795"/>
              </a:gs>
              <a:gs pos="55000">
                <a:srgbClr val="47BBE0"/>
              </a:gs>
              <a:gs pos="100000">
                <a:srgbClr val="007795"/>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26" name="Google Shape;26;p40"/>
          <p:cNvSpPr txBox="1">
            <a:spLocks noGrp="1"/>
          </p:cNvSpPr>
          <p:nvPr>
            <p:ph type="ctrTitle"/>
          </p:nvPr>
        </p:nvSpPr>
        <p:spPr>
          <a:xfrm>
            <a:off x="742950" y="1752602"/>
            <a:ext cx="8420100" cy="1829761"/>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dk2"/>
              </a:buClr>
              <a:buSzPts val="4800"/>
              <a:buFont typeface="Lucida Sans"/>
              <a:buNone/>
              <a:defRPr sz="48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0"/>
          <p:cNvSpPr txBox="1">
            <a:spLocks noGrp="1"/>
          </p:cNvSpPr>
          <p:nvPr>
            <p:ph type="subTitle" idx="1"/>
          </p:nvPr>
        </p:nvSpPr>
        <p:spPr>
          <a:xfrm>
            <a:off x="742950" y="3611607"/>
            <a:ext cx="8420100" cy="1199704"/>
          </a:xfrm>
          <a:prstGeom prst="rect">
            <a:avLst/>
          </a:prstGeom>
          <a:noFill/>
          <a:ln>
            <a:noFill/>
          </a:ln>
        </p:spPr>
        <p:txBody>
          <a:bodyPr spcFirstLastPara="1" wrap="square" lIns="45700" tIns="45700" rIns="45700" bIns="45700" anchor="t" anchorCtr="0">
            <a:normAutofit/>
          </a:bodyPr>
          <a:lstStyle>
            <a:lvl1pPr marR="64008" lvl="0" algn="r">
              <a:lnSpc>
                <a:spcPct val="100000"/>
              </a:lnSpc>
              <a:spcBef>
                <a:spcPts val="400"/>
              </a:spcBef>
              <a:spcAft>
                <a:spcPts val="0"/>
              </a:spcAft>
              <a:buSzPts val="1836"/>
              <a:buNone/>
              <a:defRPr>
                <a:solidFill>
                  <a:schemeClr val="dk2"/>
                </a:solidFill>
              </a:defRPr>
            </a:lvl1pPr>
            <a:lvl2pPr lvl="1" algn="ctr">
              <a:lnSpc>
                <a:spcPct val="100000"/>
              </a:lnSpc>
              <a:spcBef>
                <a:spcPts val="324"/>
              </a:spcBef>
              <a:spcAft>
                <a:spcPts val="0"/>
              </a:spcAft>
              <a:buSzPts val="1800"/>
              <a:buNone/>
              <a:defRPr/>
            </a:lvl2pPr>
            <a:lvl3pPr lvl="2" algn="ctr">
              <a:lnSpc>
                <a:spcPct val="100000"/>
              </a:lnSpc>
              <a:spcBef>
                <a:spcPts val="350"/>
              </a:spcBef>
              <a:spcAft>
                <a:spcPts val="0"/>
              </a:spcAft>
              <a:buSzPts val="1800"/>
              <a:buNone/>
              <a:defRPr/>
            </a:lvl3pPr>
            <a:lvl4pPr lvl="3" algn="ctr">
              <a:lnSpc>
                <a:spcPct val="100000"/>
              </a:lnSpc>
              <a:spcBef>
                <a:spcPts val="350"/>
              </a:spcBef>
              <a:spcAft>
                <a:spcPts val="0"/>
              </a:spcAft>
              <a:buSzPts val="1800"/>
              <a:buNone/>
              <a:defRPr/>
            </a:lvl4pPr>
            <a:lvl5pPr lvl="4" algn="ctr">
              <a:lnSpc>
                <a:spcPct val="100000"/>
              </a:lnSpc>
              <a:spcBef>
                <a:spcPts val="350"/>
              </a:spcBef>
              <a:spcAft>
                <a:spcPts val="0"/>
              </a:spcAft>
              <a:buSzPts val="1800"/>
              <a:buNone/>
              <a:defRPr/>
            </a:lvl5pPr>
            <a:lvl6pPr lvl="5" algn="ctr">
              <a:lnSpc>
                <a:spcPct val="100000"/>
              </a:lnSpc>
              <a:spcBef>
                <a:spcPts val="350"/>
              </a:spcBef>
              <a:spcAft>
                <a:spcPts val="0"/>
              </a:spcAft>
              <a:buSzPts val="1800"/>
              <a:buNone/>
              <a:defRPr/>
            </a:lvl6pPr>
            <a:lvl7pPr lvl="6" algn="ctr">
              <a:lnSpc>
                <a:spcPct val="100000"/>
              </a:lnSpc>
              <a:spcBef>
                <a:spcPts val="350"/>
              </a:spcBef>
              <a:spcAft>
                <a:spcPts val="0"/>
              </a:spcAft>
              <a:buSzPts val="1800"/>
              <a:buNone/>
              <a:defRPr/>
            </a:lvl7pPr>
            <a:lvl8pPr lvl="7" algn="ctr">
              <a:lnSpc>
                <a:spcPct val="100000"/>
              </a:lnSpc>
              <a:spcBef>
                <a:spcPts val="350"/>
              </a:spcBef>
              <a:spcAft>
                <a:spcPts val="0"/>
              </a:spcAft>
              <a:buSzPts val="1800"/>
              <a:buNone/>
              <a:defRPr/>
            </a:lvl8pPr>
            <a:lvl9pPr lvl="8" algn="ctr">
              <a:lnSpc>
                <a:spcPct val="100000"/>
              </a:lnSpc>
              <a:spcBef>
                <a:spcPts val="350"/>
              </a:spcBef>
              <a:spcAft>
                <a:spcPts val="0"/>
              </a:spcAft>
              <a:buSzPts val="1800"/>
              <a:buNone/>
              <a:defRPr/>
            </a:lvl9pPr>
          </a:lstStyle>
          <a:p>
            <a:endParaRPr/>
          </a:p>
        </p:txBody>
      </p:sp>
      <p:grpSp>
        <p:nvGrpSpPr>
          <p:cNvPr id="28" name="Google Shape;28;p40"/>
          <p:cNvGrpSpPr/>
          <p:nvPr/>
        </p:nvGrpSpPr>
        <p:grpSpPr>
          <a:xfrm>
            <a:off x="-4078" y="4953000"/>
            <a:ext cx="9910079" cy="1912088"/>
            <a:chOff x="-3765" y="4832896"/>
            <a:chExt cx="9147765" cy="2032192"/>
          </a:xfrm>
        </p:grpSpPr>
        <p:sp>
          <p:nvSpPr>
            <p:cNvPr id="29" name="Google Shape;29;p40"/>
            <p:cNvSpPr/>
            <p:nvPr/>
          </p:nvSpPr>
          <p:spPr>
            <a:xfrm>
              <a:off x="1687513" y="4832896"/>
              <a:ext cx="7456487" cy="518816"/>
            </a:xfrm>
            <a:custGeom>
              <a:avLst/>
              <a:gdLst/>
              <a:ahLst/>
              <a:cxnLst/>
              <a:rect l="l" t="t" r="r" b="b"/>
              <a:pathLst>
                <a:path w="4697" h="367" extrusionOk="0">
                  <a:moveTo>
                    <a:pt x="4697" y="0"/>
                  </a:moveTo>
                  <a:lnTo>
                    <a:pt x="4697" y="367"/>
                  </a:lnTo>
                  <a:lnTo>
                    <a:pt x="0" y="218"/>
                  </a:lnTo>
                  <a:lnTo>
                    <a:pt x="4697" y="0"/>
                  </a:lnTo>
                  <a:close/>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30" name="Google Shape;30;p40"/>
            <p:cNvSpPr/>
            <p:nvPr/>
          </p:nvSpPr>
          <p:spPr>
            <a:xfrm>
              <a:off x="35443" y="5135526"/>
              <a:ext cx="9108557" cy="838200"/>
            </a:xfrm>
            <a:custGeom>
              <a:avLst/>
              <a:gdLst/>
              <a:ahLst/>
              <a:cxnLst/>
              <a:rect l="l" t="t" r="r" b="b"/>
              <a:pathLst>
                <a:path w="5760" h="528" extrusionOk="0">
                  <a:moveTo>
                    <a:pt x="0" y="0"/>
                  </a:moveTo>
                  <a:lnTo>
                    <a:pt x="5760" y="0"/>
                  </a:lnTo>
                  <a:lnTo>
                    <a:pt x="5760" y="528"/>
                  </a:lnTo>
                  <a:lnTo>
                    <a:pt x="48" y="0"/>
                  </a:lnTo>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31" name="Google Shape;31;p40"/>
            <p:cNvSpPr/>
            <p:nvPr/>
          </p:nvSpPr>
          <p:spPr>
            <a:xfrm>
              <a:off x="0" y="4883888"/>
              <a:ext cx="9144000" cy="1981200"/>
            </a:xfrm>
            <a:custGeom>
              <a:avLst/>
              <a:gdLst/>
              <a:ahLst/>
              <a:cxnLst/>
              <a:rect l="l" t="t" r="r" b="b"/>
              <a:pathLst>
                <a:path w="5760" h="1248" extrusionOk="0">
                  <a:moveTo>
                    <a:pt x="0" y="0"/>
                  </a:moveTo>
                  <a:lnTo>
                    <a:pt x="0" y="1248"/>
                  </a:lnTo>
                  <a:lnTo>
                    <a:pt x="5760" y="1248"/>
                  </a:lnTo>
                  <a:lnTo>
                    <a:pt x="5760" y="528"/>
                  </a:lnTo>
                  <a:lnTo>
                    <a:pt x="0" y="0"/>
                  </a:lnTo>
                  <a:close/>
                </a:path>
              </a:pathLst>
            </a:cu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cxnSp>
          <p:nvCxnSpPr>
            <p:cNvPr id="32" name="Google Shape;32;p40"/>
            <p:cNvCxnSpPr/>
            <p:nvPr/>
          </p:nvCxnSpPr>
          <p:spPr>
            <a:xfrm>
              <a:off x="-3765" y="4880373"/>
              <a:ext cx="9147765" cy="839943"/>
            </a:xfrm>
            <a:prstGeom prst="straightConnector1">
              <a:avLst/>
            </a:prstGeom>
            <a:noFill/>
            <a:ln w="12050" cap="flat" cmpd="sng">
              <a:solidFill>
                <a:srgbClr val="93C5D8"/>
              </a:solidFill>
              <a:prstDash val="solid"/>
              <a:miter lim="800000"/>
              <a:headEnd type="none" w="sm" len="sm"/>
              <a:tailEnd type="none" w="sm" len="sm"/>
            </a:ln>
          </p:spPr>
        </p:cxnSp>
      </p:grpSp>
      <p:sp>
        <p:nvSpPr>
          <p:cNvPr id="33" name="Google Shape;33;p40"/>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0"/>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solidFill>
                  <a:srgbClr val="E7F0F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0"/>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FFFFFF"/>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6"/>
        <p:cNvGrpSpPr/>
        <p:nvPr/>
      </p:nvGrpSpPr>
      <p:grpSpPr>
        <a:xfrm>
          <a:off x="0" y="0"/>
          <a:ext cx="0" cy="0"/>
          <a:chOff x="0" y="0"/>
          <a:chExt cx="0" cy="0"/>
        </a:xfrm>
      </p:grpSpPr>
      <p:sp>
        <p:nvSpPr>
          <p:cNvPr id="37" name="Google Shape;37;p41"/>
          <p:cNvSpPr txBox="1">
            <a:spLocks noGrp="1"/>
          </p:cNvSpPr>
          <p:nvPr>
            <p:ph type="body" idx="1"/>
          </p:nvPr>
        </p:nvSpPr>
        <p:spPr>
          <a:xfrm>
            <a:off x="495300" y="1481329"/>
            <a:ext cx="8915400" cy="4525963"/>
          </a:xfrm>
          <a:prstGeom prst="rect">
            <a:avLst/>
          </a:prstGeom>
          <a:noFill/>
          <a:ln>
            <a:noFill/>
          </a:ln>
        </p:spPr>
        <p:txBody>
          <a:bodyPr spcFirstLastPara="1" wrap="square" lIns="91425" tIns="45700" rIns="91425" bIns="45700" anchor="t" anchorCtr="0">
            <a:normAutofit/>
          </a:bodyPr>
          <a:lstStyle>
            <a:lvl1pPr marL="457200" lvl="0" indent="-306324" algn="l">
              <a:lnSpc>
                <a:spcPct val="100000"/>
              </a:lnSpc>
              <a:spcBef>
                <a:spcPts val="400"/>
              </a:spcBef>
              <a:spcAft>
                <a:spcPts val="0"/>
              </a:spcAft>
              <a:buSzPts val="1224"/>
              <a:buChar char="?"/>
              <a:defRPr/>
            </a:lvl1pPr>
            <a:lvl2pPr marL="914400" lvl="1" indent="-342900" algn="l">
              <a:lnSpc>
                <a:spcPct val="100000"/>
              </a:lnSpc>
              <a:spcBef>
                <a:spcPts val="324"/>
              </a:spcBef>
              <a:spcAft>
                <a:spcPts val="0"/>
              </a:spcAft>
              <a:buSzPts val="1800"/>
              <a:buChar char="◦"/>
              <a:defRPr/>
            </a:lvl2pPr>
            <a:lvl3pPr marL="1371600" lvl="2" indent="-342900" algn="l">
              <a:lnSpc>
                <a:spcPct val="100000"/>
              </a:lnSpc>
              <a:spcBef>
                <a:spcPts val="350"/>
              </a:spcBef>
              <a:spcAft>
                <a:spcPts val="0"/>
              </a:spcAft>
              <a:buSzPts val="1800"/>
              <a:buChar char="●"/>
              <a:defRPr/>
            </a:lvl3pPr>
            <a:lvl4pPr marL="1828800" lvl="3" indent="-342900" algn="l">
              <a:lnSpc>
                <a:spcPct val="100000"/>
              </a:lnSpc>
              <a:spcBef>
                <a:spcPts val="350"/>
              </a:spcBef>
              <a:spcAft>
                <a:spcPts val="0"/>
              </a:spcAft>
              <a:buSzPts val="1800"/>
              <a:buChar char="●"/>
              <a:defRPr/>
            </a:lvl4pPr>
            <a:lvl5pPr marL="2286000" lvl="4" indent="-342900" algn="l">
              <a:lnSpc>
                <a:spcPct val="100000"/>
              </a:lnSpc>
              <a:spcBef>
                <a:spcPts val="350"/>
              </a:spcBef>
              <a:spcAft>
                <a:spcPts val="0"/>
              </a:spcAft>
              <a:buSzPts val="1800"/>
              <a:buChar char="●"/>
              <a:defRPr/>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38" name="Google Shape;38;p41"/>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1"/>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1"/>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
        <p:nvSpPr>
          <p:cNvPr id="41" name="Google Shape;41;p41"/>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42"/>
        <p:cNvGrpSpPr/>
        <p:nvPr/>
      </p:nvGrpSpPr>
      <p:grpSpPr>
        <a:xfrm>
          <a:off x="0" y="0"/>
          <a:ext cx="0" cy="0"/>
          <a:chOff x="0" y="0"/>
          <a:chExt cx="0" cy="0"/>
        </a:xfrm>
      </p:grpSpPr>
      <p:sp>
        <p:nvSpPr>
          <p:cNvPr id="43" name="Google Shape;43;p42"/>
          <p:cNvSpPr txBox="1">
            <a:spLocks noGrp="1"/>
          </p:cNvSpPr>
          <p:nvPr>
            <p:ph type="title"/>
          </p:nvPr>
        </p:nvSpPr>
        <p:spPr>
          <a:xfrm>
            <a:off x="782574" y="1059712"/>
            <a:ext cx="8420100" cy="1828800"/>
          </a:xfrm>
          <a:prstGeom prst="rect">
            <a:avLst/>
          </a:prstGeom>
          <a:noFill/>
          <a:ln>
            <a:noFill/>
          </a:ln>
        </p:spPr>
        <p:txBody>
          <a:bodyPr spcFirstLastPara="1" wrap="square" lIns="91425" tIns="45700" rIns="91425" bIns="45700" anchor="b" anchorCtr="0">
            <a:normAutofit/>
          </a:bodyPr>
          <a:lstStyle>
            <a:lvl1pPr lvl="0" algn="r">
              <a:lnSpc>
                <a:spcPct val="100000"/>
              </a:lnSpc>
              <a:spcBef>
                <a:spcPts val="0"/>
              </a:spcBef>
              <a:spcAft>
                <a:spcPts val="0"/>
              </a:spcAft>
              <a:buClr>
                <a:schemeClr val="lt2"/>
              </a:buClr>
              <a:buSzPts val="4800"/>
              <a:buFont typeface="Lucida Sans"/>
              <a:buNone/>
              <a:defRPr sz="48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42"/>
          <p:cNvSpPr txBox="1">
            <a:spLocks noGrp="1"/>
          </p:cNvSpPr>
          <p:nvPr>
            <p:ph type="body" idx="1"/>
          </p:nvPr>
        </p:nvSpPr>
        <p:spPr>
          <a:xfrm>
            <a:off x="4249606" y="2931712"/>
            <a:ext cx="4953000" cy="1454888"/>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00"/>
              </a:spcBef>
              <a:spcAft>
                <a:spcPts val="0"/>
              </a:spcAft>
              <a:buSzPts val="1564"/>
              <a:buNone/>
              <a:defRPr sz="2300">
                <a:solidFill>
                  <a:schemeClr val="lt1"/>
                </a:solidFill>
              </a:defRPr>
            </a:lvl1pPr>
            <a:lvl2pPr marL="914400" lvl="1" indent="-228600" algn="l">
              <a:lnSpc>
                <a:spcPct val="100000"/>
              </a:lnSpc>
              <a:spcBef>
                <a:spcPts val="324"/>
              </a:spcBef>
              <a:spcAft>
                <a:spcPts val="0"/>
              </a:spcAft>
              <a:buSzPts val="1800"/>
              <a:buNone/>
              <a:defRPr sz="1800">
                <a:solidFill>
                  <a:schemeClr val="lt1"/>
                </a:solidFill>
              </a:defRPr>
            </a:lvl2pPr>
            <a:lvl3pPr marL="1371600" lvl="2" indent="-228600" algn="l">
              <a:lnSpc>
                <a:spcPct val="100000"/>
              </a:lnSpc>
              <a:spcBef>
                <a:spcPts val="350"/>
              </a:spcBef>
              <a:spcAft>
                <a:spcPts val="0"/>
              </a:spcAft>
              <a:buSzPts val="1600"/>
              <a:buNone/>
              <a:defRPr sz="1600">
                <a:solidFill>
                  <a:schemeClr val="lt1"/>
                </a:solidFill>
              </a:defRPr>
            </a:lvl3pPr>
            <a:lvl4pPr marL="1828800" lvl="3" indent="-228600" algn="l">
              <a:lnSpc>
                <a:spcPct val="100000"/>
              </a:lnSpc>
              <a:spcBef>
                <a:spcPts val="350"/>
              </a:spcBef>
              <a:spcAft>
                <a:spcPts val="0"/>
              </a:spcAft>
              <a:buSzPts val="1400"/>
              <a:buNone/>
              <a:defRPr sz="1400">
                <a:solidFill>
                  <a:schemeClr val="lt1"/>
                </a:solidFill>
              </a:defRPr>
            </a:lvl4pPr>
            <a:lvl5pPr marL="2286000" lvl="4" indent="-228600" algn="l">
              <a:lnSpc>
                <a:spcPct val="100000"/>
              </a:lnSpc>
              <a:spcBef>
                <a:spcPts val="350"/>
              </a:spcBef>
              <a:spcAft>
                <a:spcPts val="0"/>
              </a:spcAft>
              <a:buSzPts val="1400"/>
              <a:buNone/>
              <a:defRPr sz="1400">
                <a:solidFill>
                  <a:schemeClr val="lt1"/>
                </a:solidFill>
              </a:defRPr>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45" name="Google Shape;45;p42"/>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2"/>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
        <p:nvSpPr>
          <p:cNvPr id="48" name="Google Shape;48;p42"/>
          <p:cNvSpPr/>
          <p:nvPr/>
        </p:nvSpPr>
        <p:spPr>
          <a:xfrm>
            <a:off x="3939737" y="3005472"/>
            <a:ext cx="19812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4313"/>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49" name="Google Shape;49;p42"/>
          <p:cNvSpPr/>
          <p:nvPr/>
        </p:nvSpPr>
        <p:spPr>
          <a:xfrm>
            <a:off x="3737786" y="3005472"/>
            <a:ext cx="19812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4313"/>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s objetos" type="twoObj">
  <p:cSld name="TWO_OBJECTS">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50"/>
        <p:cNvGrpSpPr/>
        <p:nvPr/>
      </p:nvGrpSpPr>
      <p:grpSpPr>
        <a:xfrm>
          <a:off x="0" y="0"/>
          <a:ext cx="0" cy="0"/>
          <a:chOff x="0" y="0"/>
          <a:chExt cx="0" cy="0"/>
        </a:xfrm>
      </p:grpSpPr>
      <p:sp>
        <p:nvSpPr>
          <p:cNvPr id="51" name="Google Shape;51;p43"/>
          <p:cNvSpPr txBox="1">
            <a:spLocks noGrp="1"/>
          </p:cNvSpPr>
          <p:nvPr>
            <p:ph type="body" idx="1"/>
          </p:nvPr>
        </p:nvSpPr>
        <p:spPr>
          <a:xfrm>
            <a:off x="495300" y="1481329"/>
            <a:ext cx="4375150" cy="4525963"/>
          </a:xfrm>
          <a:prstGeom prst="rect">
            <a:avLst/>
          </a:prstGeom>
          <a:noFill/>
          <a:ln>
            <a:noFill/>
          </a:ln>
        </p:spPr>
        <p:txBody>
          <a:bodyPr spcFirstLastPara="1" wrap="square" lIns="91425" tIns="45700" rIns="91425" bIns="45700" anchor="t" anchorCtr="0">
            <a:normAutofit/>
          </a:bodyPr>
          <a:lstStyle>
            <a:lvl1pPr marL="457200" lvl="0" indent="-349504" algn="l">
              <a:lnSpc>
                <a:spcPct val="100000"/>
              </a:lnSpc>
              <a:spcBef>
                <a:spcPts val="400"/>
              </a:spcBef>
              <a:spcAft>
                <a:spcPts val="0"/>
              </a:spcAft>
              <a:buSzPts val="1904"/>
              <a:buChar char="?"/>
              <a:defRPr sz="2800"/>
            </a:lvl1pPr>
            <a:lvl2pPr marL="914400" lvl="1" indent="-381000" algn="l">
              <a:lnSpc>
                <a:spcPct val="100000"/>
              </a:lnSpc>
              <a:spcBef>
                <a:spcPts val="324"/>
              </a:spcBef>
              <a:spcAft>
                <a:spcPts val="0"/>
              </a:spcAft>
              <a:buSzPts val="2400"/>
              <a:buChar char="◦"/>
              <a:defRPr sz="2400"/>
            </a:lvl2pPr>
            <a:lvl3pPr marL="1371600" lvl="2" indent="-355600" algn="l">
              <a:lnSpc>
                <a:spcPct val="100000"/>
              </a:lnSpc>
              <a:spcBef>
                <a:spcPts val="350"/>
              </a:spcBef>
              <a:spcAft>
                <a:spcPts val="0"/>
              </a:spcAft>
              <a:buSzPts val="2000"/>
              <a:buChar char="●"/>
              <a:defRPr sz="2000"/>
            </a:lvl3pPr>
            <a:lvl4pPr marL="1828800" lvl="3" indent="-342900" algn="l">
              <a:lnSpc>
                <a:spcPct val="100000"/>
              </a:lnSpc>
              <a:spcBef>
                <a:spcPts val="350"/>
              </a:spcBef>
              <a:spcAft>
                <a:spcPts val="0"/>
              </a:spcAft>
              <a:buSzPts val="1800"/>
              <a:buChar char="●"/>
              <a:defRPr sz="1800"/>
            </a:lvl4pPr>
            <a:lvl5pPr marL="2286000" lvl="4" indent="-342900" algn="l">
              <a:lnSpc>
                <a:spcPct val="100000"/>
              </a:lnSpc>
              <a:spcBef>
                <a:spcPts val="350"/>
              </a:spcBef>
              <a:spcAft>
                <a:spcPts val="0"/>
              </a:spcAft>
              <a:buSzPts val="1800"/>
              <a:buChar char="●"/>
              <a:defRPr sz="18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52" name="Google Shape;52;p43"/>
          <p:cNvSpPr txBox="1">
            <a:spLocks noGrp="1"/>
          </p:cNvSpPr>
          <p:nvPr>
            <p:ph type="body" idx="2"/>
          </p:nvPr>
        </p:nvSpPr>
        <p:spPr>
          <a:xfrm>
            <a:off x="5035550" y="1481329"/>
            <a:ext cx="4375150" cy="4525963"/>
          </a:xfrm>
          <a:prstGeom prst="rect">
            <a:avLst/>
          </a:prstGeom>
          <a:noFill/>
          <a:ln>
            <a:noFill/>
          </a:ln>
        </p:spPr>
        <p:txBody>
          <a:bodyPr spcFirstLastPara="1" wrap="square" lIns="91425" tIns="45700" rIns="91425" bIns="45700" anchor="t" anchorCtr="0">
            <a:normAutofit/>
          </a:bodyPr>
          <a:lstStyle>
            <a:lvl1pPr marL="457200" lvl="0" indent="-349504" algn="l">
              <a:lnSpc>
                <a:spcPct val="100000"/>
              </a:lnSpc>
              <a:spcBef>
                <a:spcPts val="400"/>
              </a:spcBef>
              <a:spcAft>
                <a:spcPts val="0"/>
              </a:spcAft>
              <a:buSzPts val="1904"/>
              <a:buChar char="?"/>
              <a:defRPr sz="2800"/>
            </a:lvl1pPr>
            <a:lvl2pPr marL="914400" lvl="1" indent="-381000" algn="l">
              <a:lnSpc>
                <a:spcPct val="100000"/>
              </a:lnSpc>
              <a:spcBef>
                <a:spcPts val="324"/>
              </a:spcBef>
              <a:spcAft>
                <a:spcPts val="0"/>
              </a:spcAft>
              <a:buSzPts val="2400"/>
              <a:buChar char="◦"/>
              <a:defRPr sz="2400"/>
            </a:lvl2pPr>
            <a:lvl3pPr marL="1371600" lvl="2" indent="-355600" algn="l">
              <a:lnSpc>
                <a:spcPct val="100000"/>
              </a:lnSpc>
              <a:spcBef>
                <a:spcPts val="350"/>
              </a:spcBef>
              <a:spcAft>
                <a:spcPts val="0"/>
              </a:spcAft>
              <a:buSzPts val="2000"/>
              <a:buChar char="●"/>
              <a:defRPr sz="2000"/>
            </a:lvl3pPr>
            <a:lvl4pPr marL="1828800" lvl="3" indent="-342900" algn="l">
              <a:lnSpc>
                <a:spcPct val="100000"/>
              </a:lnSpc>
              <a:spcBef>
                <a:spcPts val="350"/>
              </a:spcBef>
              <a:spcAft>
                <a:spcPts val="0"/>
              </a:spcAft>
              <a:buSzPts val="1800"/>
              <a:buChar char="●"/>
              <a:defRPr sz="1800"/>
            </a:lvl4pPr>
            <a:lvl5pPr marL="2286000" lvl="4" indent="-342900" algn="l">
              <a:lnSpc>
                <a:spcPct val="100000"/>
              </a:lnSpc>
              <a:spcBef>
                <a:spcPts val="350"/>
              </a:spcBef>
              <a:spcAft>
                <a:spcPts val="0"/>
              </a:spcAft>
              <a:buSzPts val="1800"/>
              <a:buChar char="●"/>
              <a:defRPr sz="18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53" name="Google Shape;53;p43"/>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43"/>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
        <p:nvSpPr>
          <p:cNvPr id="56" name="Google Shape;56;p43"/>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ación" type="twoTxTwoObj">
  <p:cSld name="TWO_OBJECTS_WITH_TEXT">
    <p:bg>
      <p:bgPr>
        <a:blipFill rotWithShape="1">
          <a:blip r:embed="rId2">
            <a:alphaModFix/>
          </a:blip>
          <a:tile tx="0" ty="0" sx="50000" sy="50000" flip="none" algn="tl"/>
        </a:blipFill>
        <a:effectLst/>
      </p:bgPr>
    </p:bg>
    <p:spTree>
      <p:nvGrpSpPr>
        <p:cNvPr id="1" name="Shape 57"/>
        <p:cNvGrpSpPr/>
        <p:nvPr/>
      </p:nvGrpSpPr>
      <p:grpSpPr>
        <a:xfrm>
          <a:off x="0" y="0"/>
          <a:ext cx="0" cy="0"/>
          <a:chOff x="0" y="0"/>
          <a:chExt cx="0" cy="0"/>
        </a:xfrm>
      </p:grpSpPr>
      <p:sp>
        <p:nvSpPr>
          <p:cNvPr id="58" name="Google Shape;58;p44"/>
          <p:cNvSpPr txBox="1">
            <a:spLocks noGrp="1"/>
          </p:cNvSpPr>
          <p:nvPr>
            <p:ph type="title"/>
          </p:nvPr>
        </p:nvSpPr>
        <p:spPr>
          <a:xfrm>
            <a:off x="495300" y="273050"/>
            <a:ext cx="891540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4100"/>
              <a:buFont typeface="Lucida San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body" idx="1"/>
          </p:nvPr>
        </p:nvSpPr>
        <p:spPr>
          <a:xfrm>
            <a:off x="495300" y="5410200"/>
            <a:ext cx="4376870"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rmAutofit/>
          </a:bodyPr>
          <a:lstStyle>
            <a:lvl1pPr marL="457200" lvl="0" indent="-228600" algn="l">
              <a:lnSpc>
                <a:spcPct val="100000"/>
              </a:lnSpc>
              <a:spcBef>
                <a:spcPts val="400"/>
              </a:spcBef>
              <a:spcAft>
                <a:spcPts val="0"/>
              </a:spcAft>
              <a:buSzPts val="1632"/>
              <a:buNone/>
              <a:defRPr sz="2400" b="0">
                <a:solidFill>
                  <a:schemeClr val="lt1"/>
                </a:solidFill>
              </a:defRPr>
            </a:lvl1pPr>
            <a:lvl2pPr marL="914400" lvl="1" indent="-228600" algn="l">
              <a:lnSpc>
                <a:spcPct val="100000"/>
              </a:lnSpc>
              <a:spcBef>
                <a:spcPts val="324"/>
              </a:spcBef>
              <a:spcAft>
                <a:spcPts val="0"/>
              </a:spcAft>
              <a:buSzPts val="2000"/>
              <a:buNone/>
              <a:defRPr sz="2000" b="1"/>
            </a:lvl2pPr>
            <a:lvl3pPr marL="1371600" lvl="2" indent="-228600" algn="l">
              <a:lnSpc>
                <a:spcPct val="100000"/>
              </a:lnSpc>
              <a:spcBef>
                <a:spcPts val="350"/>
              </a:spcBef>
              <a:spcAft>
                <a:spcPts val="0"/>
              </a:spcAft>
              <a:buSzPts val="1800"/>
              <a:buNone/>
              <a:defRPr sz="1800" b="1"/>
            </a:lvl3pPr>
            <a:lvl4pPr marL="1828800" lvl="3" indent="-228600" algn="l">
              <a:lnSpc>
                <a:spcPct val="100000"/>
              </a:lnSpc>
              <a:spcBef>
                <a:spcPts val="350"/>
              </a:spcBef>
              <a:spcAft>
                <a:spcPts val="0"/>
              </a:spcAft>
              <a:buSzPts val="1600"/>
              <a:buNone/>
              <a:defRPr sz="1600" b="1"/>
            </a:lvl4pPr>
            <a:lvl5pPr marL="2286000" lvl="4" indent="-228600" algn="l">
              <a:lnSpc>
                <a:spcPct val="100000"/>
              </a:lnSpc>
              <a:spcBef>
                <a:spcPts val="350"/>
              </a:spcBef>
              <a:spcAft>
                <a:spcPts val="0"/>
              </a:spcAft>
              <a:buSzPts val="1600"/>
              <a:buNone/>
              <a:defRPr sz="1600" b="1"/>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60" name="Google Shape;60;p44"/>
          <p:cNvSpPr txBox="1">
            <a:spLocks noGrp="1"/>
          </p:cNvSpPr>
          <p:nvPr>
            <p:ph type="body" idx="2"/>
          </p:nvPr>
        </p:nvSpPr>
        <p:spPr>
          <a:xfrm>
            <a:off x="5032112" y="5410200"/>
            <a:ext cx="4378590" cy="762000"/>
          </a:xfrm>
          <a:prstGeom prst="rect">
            <a:avLst/>
          </a:prstGeom>
          <a:solidFill>
            <a:schemeClr val="accent1"/>
          </a:solidFill>
          <a:ln w="9650" cap="flat" cmpd="sng">
            <a:solidFill>
              <a:schemeClr val="accent1"/>
            </a:solidFill>
            <a:prstDash val="solid"/>
            <a:miter lim="800000"/>
            <a:headEnd type="none" w="sm" len="sm"/>
            <a:tailEnd type="none" w="sm" len="sm"/>
          </a:ln>
        </p:spPr>
        <p:txBody>
          <a:bodyPr spcFirstLastPara="1" wrap="square" lIns="182875" tIns="45700" rIns="91425" bIns="45700" anchor="ctr" anchorCtr="0">
            <a:normAutofit/>
          </a:bodyPr>
          <a:lstStyle>
            <a:lvl1pPr marL="457200" lvl="0" indent="-228600" algn="l">
              <a:lnSpc>
                <a:spcPct val="100000"/>
              </a:lnSpc>
              <a:spcBef>
                <a:spcPts val="400"/>
              </a:spcBef>
              <a:spcAft>
                <a:spcPts val="0"/>
              </a:spcAft>
              <a:buSzPts val="1632"/>
              <a:buNone/>
              <a:defRPr sz="2400" b="0">
                <a:solidFill>
                  <a:schemeClr val="lt1"/>
                </a:solidFill>
              </a:defRPr>
            </a:lvl1pPr>
            <a:lvl2pPr marL="914400" lvl="1" indent="-228600" algn="l">
              <a:lnSpc>
                <a:spcPct val="100000"/>
              </a:lnSpc>
              <a:spcBef>
                <a:spcPts val="324"/>
              </a:spcBef>
              <a:spcAft>
                <a:spcPts val="0"/>
              </a:spcAft>
              <a:buSzPts val="2000"/>
              <a:buNone/>
              <a:defRPr sz="2000" b="1"/>
            </a:lvl2pPr>
            <a:lvl3pPr marL="1371600" lvl="2" indent="-228600" algn="l">
              <a:lnSpc>
                <a:spcPct val="100000"/>
              </a:lnSpc>
              <a:spcBef>
                <a:spcPts val="350"/>
              </a:spcBef>
              <a:spcAft>
                <a:spcPts val="0"/>
              </a:spcAft>
              <a:buSzPts val="1800"/>
              <a:buNone/>
              <a:defRPr sz="1800" b="1"/>
            </a:lvl3pPr>
            <a:lvl4pPr marL="1828800" lvl="3" indent="-228600" algn="l">
              <a:lnSpc>
                <a:spcPct val="100000"/>
              </a:lnSpc>
              <a:spcBef>
                <a:spcPts val="350"/>
              </a:spcBef>
              <a:spcAft>
                <a:spcPts val="0"/>
              </a:spcAft>
              <a:buSzPts val="1600"/>
              <a:buNone/>
              <a:defRPr sz="1600" b="1"/>
            </a:lvl4pPr>
            <a:lvl5pPr marL="2286000" lvl="4" indent="-228600" algn="l">
              <a:lnSpc>
                <a:spcPct val="100000"/>
              </a:lnSpc>
              <a:spcBef>
                <a:spcPts val="350"/>
              </a:spcBef>
              <a:spcAft>
                <a:spcPts val="0"/>
              </a:spcAft>
              <a:buSzPts val="1600"/>
              <a:buNone/>
              <a:defRPr sz="1600" b="1"/>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61" name="Google Shape;61;p44"/>
          <p:cNvSpPr txBox="1">
            <a:spLocks noGrp="1"/>
          </p:cNvSpPr>
          <p:nvPr>
            <p:ph type="body" idx="3"/>
          </p:nvPr>
        </p:nvSpPr>
        <p:spPr>
          <a:xfrm>
            <a:off x="495300" y="1444295"/>
            <a:ext cx="4376870" cy="3941763"/>
          </a:xfrm>
          <a:prstGeom prst="rect">
            <a:avLst/>
          </a:prstGeom>
          <a:noFill/>
          <a:ln>
            <a:noFill/>
          </a:ln>
        </p:spPr>
        <p:txBody>
          <a:bodyPr spcFirstLastPara="1" wrap="square" lIns="91425" tIns="45700" rIns="91425" bIns="45700" anchor="t" anchorCtr="0">
            <a:normAutofit/>
          </a:bodyPr>
          <a:lstStyle>
            <a:lvl1pPr marL="457200" lvl="0" indent="-332232" algn="l">
              <a:lnSpc>
                <a:spcPct val="100000"/>
              </a:lnSpc>
              <a:spcBef>
                <a:spcPts val="400"/>
              </a:spcBef>
              <a:spcAft>
                <a:spcPts val="0"/>
              </a:spcAft>
              <a:buSzPts val="1632"/>
              <a:buChar char="?"/>
              <a:defRPr sz="2400"/>
            </a:lvl1pPr>
            <a:lvl2pPr marL="914400" lvl="1" indent="-355600" algn="l">
              <a:lnSpc>
                <a:spcPct val="100000"/>
              </a:lnSpc>
              <a:spcBef>
                <a:spcPts val="324"/>
              </a:spcBef>
              <a:spcAft>
                <a:spcPts val="0"/>
              </a:spcAft>
              <a:buSzPts val="2000"/>
              <a:buChar char="◦"/>
              <a:defRPr sz="2000"/>
            </a:lvl2pPr>
            <a:lvl3pPr marL="1371600" lvl="2" indent="-342900" algn="l">
              <a:lnSpc>
                <a:spcPct val="100000"/>
              </a:lnSpc>
              <a:spcBef>
                <a:spcPts val="350"/>
              </a:spcBef>
              <a:spcAft>
                <a:spcPts val="0"/>
              </a:spcAft>
              <a:buSzPts val="1800"/>
              <a:buChar char="●"/>
              <a:defRPr sz="1800"/>
            </a:lvl3pPr>
            <a:lvl4pPr marL="1828800" lvl="3" indent="-330200" algn="l">
              <a:lnSpc>
                <a:spcPct val="100000"/>
              </a:lnSpc>
              <a:spcBef>
                <a:spcPts val="350"/>
              </a:spcBef>
              <a:spcAft>
                <a:spcPts val="0"/>
              </a:spcAft>
              <a:buSzPts val="1600"/>
              <a:buChar char="●"/>
              <a:defRPr sz="1600"/>
            </a:lvl4pPr>
            <a:lvl5pPr marL="2286000" lvl="4" indent="-330200" algn="l">
              <a:lnSpc>
                <a:spcPct val="100000"/>
              </a:lnSpc>
              <a:spcBef>
                <a:spcPts val="350"/>
              </a:spcBef>
              <a:spcAft>
                <a:spcPts val="0"/>
              </a:spcAft>
              <a:buSzPts val="1600"/>
              <a:buChar char="●"/>
              <a:defRPr sz="16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62" name="Google Shape;62;p44"/>
          <p:cNvSpPr txBox="1">
            <a:spLocks noGrp="1"/>
          </p:cNvSpPr>
          <p:nvPr>
            <p:ph type="body" idx="4"/>
          </p:nvPr>
        </p:nvSpPr>
        <p:spPr>
          <a:xfrm>
            <a:off x="5032111" y="1444295"/>
            <a:ext cx="4378590" cy="3941763"/>
          </a:xfrm>
          <a:prstGeom prst="rect">
            <a:avLst/>
          </a:prstGeom>
          <a:noFill/>
          <a:ln>
            <a:noFill/>
          </a:ln>
        </p:spPr>
        <p:txBody>
          <a:bodyPr spcFirstLastPara="1" wrap="square" lIns="91425" tIns="45700" rIns="91425" bIns="45700" anchor="t" anchorCtr="0">
            <a:normAutofit/>
          </a:bodyPr>
          <a:lstStyle>
            <a:lvl1pPr marL="457200" lvl="0" indent="-332232" algn="l">
              <a:lnSpc>
                <a:spcPct val="100000"/>
              </a:lnSpc>
              <a:spcBef>
                <a:spcPts val="0"/>
              </a:spcBef>
              <a:spcAft>
                <a:spcPts val="0"/>
              </a:spcAft>
              <a:buSzPts val="1632"/>
              <a:buChar char="?"/>
              <a:defRPr sz="2400"/>
            </a:lvl1pPr>
            <a:lvl2pPr marL="914400" lvl="1" indent="-355600" algn="l">
              <a:lnSpc>
                <a:spcPct val="100000"/>
              </a:lnSpc>
              <a:spcBef>
                <a:spcPts val="324"/>
              </a:spcBef>
              <a:spcAft>
                <a:spcPts val="0"/>
              </a:spcAft>
              <a:buSzPts val="2000"/>
              <a:buChar char="◦"/>
              <a:defRPr sz="2000"/>
            </a:lvl2pPr>
            <a:lvl3pPr marL="1371600" lvl="2" indent="-342900" algn="l">
              <a:lnSpc>
                <a:spcPct val="100000"/>
              </a:lnSpc>
              <a:spcBef>
                <a:spcPts val="350"/>
              </a:spcBef>
              <a:spcAft>
                <a:spcPts val="0"/>
              </a:spcAft>
              <a:buSzPts val="1800"/>
              <a:buChar char="●"/>
              <a:defRPr sz="1800"/>
            </a:lvl3pPr>
            <a:lvl4pPr marL="1828800" lvl="3" indent="-330200" algn="l">
              <a:lnSpc>
                <a:spcPct val="100000"/>
              </a:lnSpc>
              <a:spcBef>
                <a:spcPts val="350"/>
              </a:spcBef>
              <a:spcAft>
                <a:spcPts val="0"/>
              </a:spcAft>
              <a:buSzPts val="1600"/>
              <a:buChar char="●"/>
              <a:defRPr sz="1600"/>
            </a:lvl4pPr>
            <a:lvl5pPr marL="2286000" lvl="4" indent="-330200" algn="l">
              <a:lnSpc>
                <a:spcPct val="100000"/>
              </a:lnSpc>
              <a:spcBef>
                <a:spcPts val="350"/>
              </a:spcBef>
              <a:spcAft>
                <a:spcPts val="0"/>
              </a:spcAft>
              <a:buSzPts val="1600"/>
              <a:buChar char="●"/>
              <a:defRPr sz="16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63" name="Google Shape;63;p44"/>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44"/>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4"/>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66"/>
        <p:cNvGrpSpPr/>
        <p:nvPr/>
      </p:nvGrpSpPr>
      <p:grpSpPr>
        <a:xfrm>
          <a:off x="0" y="0"/>
          <a:ext cx="0" cy="0"/>
          <a:chOff x="0" y="0"/>
          <a:chExt cx="0" cy="0"/>
        </a:xfrm>
      </p:grpSpPr>
      <p:sp>
        <p:nvSpPr>
          <p:cNvPr id="67" name="Google Shape;67;p45"/>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45"/>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45"/>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p45"/>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71"/>
        <p:cNvGrpSpPr/>
        <p:nvPr/>
      </p:nvGrpSpPr>
      <p:grpSpPr>
        <a:xfrm>
          <a:off x="0" y="0"/>
          <a:ext cx="0" cy="0"/>
          <a:chOff x="0" y="0"/>
          <a:chExt cx="0" cy="0"/>
        </a:xfrm>
      </p:grpSpPr>
      <p:sp>
        <p:nvSpPr>
          <p:cNvPr id="72" name="Google Shape;72;p46"/>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bg>
      <p:bgPr>
        <a:blipFill rotWithShape="1">
          <a:blip r:embed="rId2">
            <a:alphaModFix/>
          </a:blip>
          <a:tile tx="0" ty="0" sx="50000" sy="50000" flip="none" algn="tl"/>
        </a:blipFill>
        <a:effectLst/>
      </p:bgPr>
    </p:bg>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990600" y="4876800"/>
            <a:ext cx="8105257" cy="45720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Clr>
                <a:schemeClr val="accent1"/>
              </a:buClr>
              <a:buSzPts val="2500"/>
              <a:buFont typeface="Lucida Sans"/>
              <a:buNone/>
              <a:defRPr sz="25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txBox="1">
            <a:spLocks noGrp="1"/>
          </p:cNvSpPr>
          <p:nvPr>
            <p:ph type="body" idx="1"/>
          </p:nvPr>
        </p:nvSpPr>
        <p:spPr>
          <a:xfrm>
            <a:off x="4787900" y="5355102"/>
            <a:ext cx="4305808" cy="914400"/>
          </a:xfrm>
          <a:prstGeom prst="rect">
            <a:avLst/>
          </a:prstGeom>
          <a:noFill/>
          <a:ln>
            <a:noFill/>
          </a:ln>
        </p:spPr>
        <p:txBody>
          <a:bodyPr spcFirstLastPara="1" wrap="square" lIns="91425" tIns="45700" rIns="91425" bIns="45700" anchor="t" anchorCtr="0">
            <a:normAutofit/>
          </a:bodyPr>
          <a:lstStyle>
            <a:lvl1pPr marL="457200" lvl="0" indent="-228600" algn="r">
              <a:lnSpc>
                <a:spcPct val="100000"/>
              </a:lnSpc>
              <a:spcBef>
                <a:spcPts val="400"/>
              </a:spcBef>
              <a:spcAft>
                <a:spcPts val="0"/>
              </a:spcAft>
              <a:buSzPts val="1088"/>
              <a:buNone/>
              <a:defRPr sz="1600"/>
            </a:lvl1pPr>
            <a:lvl2pPr marL="914400" lvl="1" indent="-228600" algn="l">
              <a:lnSpc>
                <a:spcPct val="100000"/>
              </a:lnSpc>
              <a:spcBef>
                <a:spcPts val="324"/>
              </a:spcBef>
              <a:spcAft>
                <a:spcPts val="0"/>
              </a:spcAft>
              <a:buSzPts val="1200"/>
              <a:buNone/>
              <a:defRPr sz="1200"/>
            </a:lvl2pPr>
            <a:lvl3pPr marL="1371600" lvl="2" indent="-228600" algn="l">
              <a:lnSpc>
                <a:spcPct val="100000"/>
              </a:lnSpc>
              <a:spcBef>
                <a:spcPts val="350"/>
              </a:spcBef>
              <a:spcAft>
                <a:spcPts val="0"/>
              </a:spcAft>
              <a:buSzPts val="1000"/>
              <a:buNone/>
              <a:defRPr sz="1000"/>
            </a:lvl3pPr>
            <a:lvl4pPr marL="1828800" lvl="3" indent="-228600" algn="l">
              <a:lnSpc>
                <a:spcPct val="100000"/>
              </a:lnSpc>
              <a:spcBef>
                <a:spcPts val="350"/>
              </a:spcBef>
              <a:spcAft>
                <a:spcPts val="0"/>
              </a:spcAft>
              <a:buSzPts val="900"/>
              <a:buNone/>
              <a:defRPr sz="900"/>
            </a:lvl4pPr>
            <a:lvl5pPr marL="2286000" lvl="4" indent="-228600" algn="l">
              <a:lnSpc>
                <a:spcPct val="100000"/>
              </a:lnSpc>
              <a:spcBef>
                <a:spcPts val="350"/>
              </a:spcBef>
              <a:spcAft>
                <a:spcPts val="0"/>
              </a:spcAft>
              <a:buSzPts val="900"/>
              <a:buNone/>
              <a:defRPr sz="9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78" name="Google Shape;78;p47"/>
          <p:cNvSpPr txBox="1">
            <a:spLocks noGrp="1"/>
          </p:cNvSpPr>
          <p:nvPr>
            <p:ph type="body" idx="2"/>
          </p:nvPr>
        </p:nvSpPr>
        <p:spPr>
          <a:xfrm>
            <a:off x="990600" y="274320"/>
            <a:ext cx="8103108" cy="4572000"/>
          </a:xfrm>
          <a:prstGeom prst="rect">
            <a:avLst/>
          </a:prstGeom>
          <a:noFill/>
          <a:ln>
            <a:noFill/>
          </a:ln>
        </p:spPr>
        <p:txBody>
          <a:bodyPr spcFirstLastPara="1" wrap="square" lIns="91425" tIns="45700" rIns="91425" bIns="45700" anchor="t" anchorCtr="0">
            <a:normAutofit/>
          </a:bodyPr>
          <a:lstStyle>
            <a:lvl1pPr marL="457200" lvl="0" indent="-366776" algn="l">
              <a:lnSpc>
                <a:spcPct val="100000"/>
              </a:lnSpc>
              <a:spcBef>
                <a:spcPts val="400"/>
              </a:spcBef>
              <a:spcAft>
                <a:spcPts val="0"/>
              </a:spcAft>
              <a:buSzPts val="2176"/>
              <a:buChar char="?"/>
              <a:defRPr sz="3200"/>
            </a:lvl1pPr>
            <a:lvl2pPr marL="914400" lvl="1" indent="-406400" algn="l">
              <a:lnSpc>
                <a:spcPct val="100000"/>
              </a:lnSpc>
              <a:spcBef>
                <a:spcPts val="324"/>
              </a:spcBef>
              <a:spcAft>
                <a:spcPts val="0"/>
              </a:spcAft>
              <a:buSzPts val="2800"/>
              <a:buChar char="◦"/>
              <a:defRPr sz="2800"/>
            </a:lvl2pPr>
            <a:lvl3pPr marL="1371600" lvl="2" indent="-381000" algn="l">
              <a:lnSpc>
                <a:spcPct val="100000"/>
              </a:lnSpc>
              <a:spcBef>
                <a:spcPts val="350"/>
              </a:spcBef>
              <a:spcAft>
                <a:spcPts val="0"/>
              </a:spcAft>
              <a:buSzPts val="2400"/>
              <a:buChar char="●"/>
              <a:defRPr sz="2400"/>
            </a:lvl3pPr>
            <a:lvl4pPr marL="1828800" lvl="3" indent="-355600" algn="l">
              <a:lnSpc>
                <a:spcPct val="100000"/>
              </a:lnSpc>
              <a:spcBef>
                <a:spcPts val="350"/>
              </a:spcBef>
              <a:spcAft>
                <a:spcPts val="0"/>
              </a:spcAft>
              <a:buSzPts val="2000"/>
              <a:buChar char="●"/>
              <a:defRPr sz="2000"/>
            </a:lvl4pPr>
            <a:lvl5pPr marL="2286000" lvl="4" indent="-355600" algn="l">
              <a:lnSpc>
                <a:spcPct val="100000"/>
              </a:lnSpc>
              <a:spcBef>
                <a:spcPts val="350"/>
              </a:spcBef>
              <a:spcAft>
                <a:spcPts val="0"/>
              </a:spcAft>
              <a:buSzPts val="2000"/>
              <a:buChar char="●"/>
              <a:defRPr sz="20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79" name="Google Shape;79;p47"/>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bg>
      <p:bgPr>
        <a:gradFill>
          <a:gsLst>
            <a:gs pos="0">
              <a:srgbClr val="B1B1B1"/>
            </a:gs>
            <a:gs pos="40000">
              <a:srgbClr val="9E9E9E"/>
            </a:gs>
            <a:gs pos="100000">
              <a:schemeClr val="dk1"/>
            </a:gs>
          </a:gsLst>
          <a:path path="circle">
            <a:fillToRect l="100000" b="100000"/>
          </a:path>
          <a:tileRect t="-100000" r="-100000"/>
        </a:gradFill>
        <a:effectLst/>
      </p:bgPr>
    </p:bg>
    <p:spTree>
      <p:nvGrpSpPr>
        <p:cNvPr id="1" name="Shape 82"/>
        <p:cNvGrpSpPr/>
        <p:nvPr/>
      </p:nvGrpSpPr>
      <p:grpSpPr>
        <a:xfrm>
          <a:off x="0" y="0"/>
          <a:ext cx="0" cy="0"/>
          <a:chOff x="0" y="0"/>
          <a:chExt cx="0" cy="0"/>
        </a:xfrm>
      </p:grpSpPr>
      <p:sp>
        <p:nvSpPr>
          <p:cNvPr id="83" name="Google Shape;83;p48"/>
          <p:cNvSpPr txBox="1">
            <a:spLocks noGrp="1"/>
          </p:cNvSpPr>
          <p:nvPr>
            <p:ph type="body" idx="1"/>
          </p:nvPr>
        </p:nvSpPr>
        <p:spPr>
          <a:xfrm>
            <a:off x="1236335" y="5443402"/>
            <a:ext cx="7759700" cy="648232"/>
          </a:xfrm>
          <a:prstGeom prst="rect">
            <a:avLst/>
          </a:prstGeom>
          <a:noFill/>
          <a:ln>
            <a:noFill/>
          </a:ln>
        </p:spPr>
        <p:txBody>
          <a:bodyPr spcFirstLastPara="1" wrap="square" lIns="91425" tIns="0" rIns="91425" bIns="45700" anchor="t" anchorCtr="0">
            <a:normAutofit/>
          </a:bodyPr>
          <a:lstStyle>
            <a:lvl1pPr marL="457200" marR="18288" lvl="0" indent="-228600" algn="r">
              <a:lnSpc>
                <a:spcPct val="100000"/>
              </a:lnSpc>
              <a:spcBef>
                <a:spcPts val="400"/>
              </a:spcBef>
              <a:spcAft>
                <a:spcPts val="0"/>
              </a:spcAft>
              <a:buSzPts val="952"/>
              <a:buNone/>
              <a:defRPr sz="1400"/>
            </a:lvl1pPr>
            <a:lvl2pPr marL="914400" lvl="1" indent="-304800" algn="l">
              <a:lnSpc>
                <a:spcPct val="100000"/>
              </a:lnSpc>
              <a:spcBef>
                <a:spcPts val="324"/>
              </a:spcBef>
              <a:spcAft>
                <a:spcPts val="0"/>
              </a:spcAft>
              <a:buSzPts val="1200"/>
              <a:buChar char="◦"/>
              <a:defRPr sz="1200"/>
            </a:lvl2pPr>
            <a:lvl3pPr marL="1371600" lvl="2" indent="-292100" algn="l">
              <a:lnSpc>
                <a:spcPct val="100000"/>
              </a:lnSpc>
              <a:spcBef>
                <a:spcPts val="350"/>
              </a:spcBef>
              <a:spcAft>
                <a:spcPts val="0"/>
              </a:spcAft>
              <a:buSzPts val="1000"/>
              <a:buChar char="●"/>
              <a:defRPr sz="1000"/>
            </a:lvl3pPr>
            <a:lvl4pPr marL="1828800" lvl="3" indent="-285750" algn="l">
              <a:lnSpc>
                <a:spcPct val="100000"/>
              </a:lnSpc>
              <a:spcBef>
                <a:spcPts val="350"/>
              </a:spcBef>
              <a:spcAft>
                <a:spcPts val="0"/>
              </a:spcAft>
              <a:buSzPts val="900"/>
              <a:buChar char="●"/>
              <a:defRPr sz="900"/>
            </a:lvl4pPr>
            <a:lvl5pPr marL="2286000" lvl="4" indent="-285750" algn="l">
              <a:lnSpc>
                <a:spcPct val="100000"/>
              </a:lnSpc>
              <a:spcBef>
                <a:spcPts val="350"/>
              </a:spcBef>
              <a:spcAft>
                <a:spcPts val="0"/>
              </a:spcAft>
              <a:buSzPts val="900"/>
              <a:buChar char="●"/>
              <a:defRPr sz="900"/>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84" name="Google Shape;84;p48"/>
          <p:cNvSpPr>
            <a:spLocks noGrp="1"/>
          </p:cNvSpPr>
          <p:nvPr>
            <p:ph type="pic" idx="2"/>
          </p:nvPr>
        </p:nvSpPr>
        <p:spPr>
          <a:xfrm>
            <a:off x="247650" y="189968"/>
            <a:ext cx="9410700" cy="4389120"/>
          </a:xfrm>
          <a:prstGeom prst="rect">
            <a:avLst/>
          </a:prstGeom>
          <a:solidFill>
            <a:schemeClr val="dk2"/>
          </a:solidFill>
          <a:ln w="9525" cap="flat" cmpd="sng">
            <a:solidFill>
              <a:schemeClr val="dk1"/>
            </a:solidFill>
            <a:prstDash val="solid"/>
            <a:round/>
            <a:headEnd type="none" w="sm" len="sm"/>
            <a:tailEnd type="none" w="sm" len="sm"/>
          </a:ln>
        </p:spPr>
      </p:sp>
      <p:sp>
        <p:nvSpPr>
          <p:cNvPr id="85" name="Google Shape;85;p48"/>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8"/>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
        <p:nvSpPr>
          <p:cNvPr id="88" name="Google Shape;88;p48"/>
          <p:cNvSpPr txBox="1">
            <a:spLocks noGrp="1"/>
          </p:cNvSpPr>
          <p:nvPr>
            <p:ph type="title"/>
          </p:nvPr>
        </p:nvSpPr>
        <p:spPr>
          <a:xfrm>
            <a:off x="247650" y="4865122"/>
            <a:ext cx="8748385" cy="562672"/>
          </a:xfrm>
          <a:prstGeom prst="rect">
            <a:avLst/>
          </a:prstGeom>
          <a:noFill/>
          <a:ln>
            <a:noFill/>
          </a:ln>
        </p:spPr>
        <p:txBody>
          <a:bodyPr spcFirstLastPara="1" wrap="square" lIns="91425" tIns="45700" rIns="91425" bIns="45700" anchor="t" anchorCtr="0">
            <a:normAutofit/>
          </a:bodyPr>
          <a:lstStyle>
            <a:lvl1pPr marR="0" lvl="0" algn="r">
              <a:lnSpc>
                <a:spcPct val="100000"/>
              </a:lnSpc>
              <a:spcBef>
                <a:spcPts val="0"/>
              </a:spcBef>
              <a:spcAft>
                <a:spcPts val="0"/>
              </a:spcAft>
              <a:buClr>
                <a:schemeClr val="accent1"/>
              </a:buClr>
              <a:buSzPts val="3000"/>
              <a:buFont typeface="Lucida Sans"/>
              <a:buNone/>
              <a:defRPr sz="30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48"/>
          <p:cNvSpPr/>
          <p:nvPr/>
        </p:nvSpPr>
        <p:spPr>
          <a:xfrm>
            <a:off x="540879" y="5944936"/>
            <a:ext cx="5352343"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90" name="Google Shape;90;p48"/>
          <p:cNvSpPr/>
          <p:nvPr/>
        </p:nvSpPr>
        <p:spPr>
          <a:xfrm>
            <a:off x="526194" y="5939011"/>
            <a:ext cx="3997989"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91" name="Google Shape;91;p48"/>
          <p:cNvSpPr/>
          <p:nvPr/>
        </p:nvSpPr>
        <p:spPr>
          <a:xfrm>
            <a:off x="-6545" y="5791253"/>
            <a:ext cx="3685840" cy="1080868"/>
          </a:xfrm>
          <a:prstGeom prst="rtTriangle">
            <a:avLst/>
          </a:prstGeom>
          <a:blipFill rotWithShape="1">
            <a:blip r:embed="rId2">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cxnSp>
        <p:nvCxnSpPr>
          <p:cNvPr id="92" name="Google Shape;92;p48"/>
          <p:cNvCxnSpPr/>
          <p:nvPr/>
        </p:nvCxnSpPr>
        <p:spPr>
          <a:xfrm>
            <a:off x="-10006" y="5787739"/>
            <a:ext cx="3689301" cy="1084383"/>
          </a:xfrm>
          <a:prstGeom prst="straightConnector1">
            <a:avLst/>
          </a:prstGeom>
          <a:noFill/>
          <a:ln w="12050" cap="flat" cmpd="sng">
            <a:solidFill>
              <a:srgbClr val="93C5D8"/>
            </a:solidFill>
            <a:prstDash val="solid"/>
            <a:miter lim="800000"/>
            <a:headEnd type="none" w="sm" len="sm"/>
            <a:tailEnd type="none" w="sm" len="sm"/>
          </a:ln>
        </p:spPr>
      </p:cxnSp>
      <p:sp>
        <p:nvSpPr>
          <p:cNvPr id="93" name="Google Shape;93;p48"/>
          <p:cNvSpPr/>
          <p:nvPr/>
        </p:nvSpPr>
        <p:spPr>
          <a:xfrm>
            <a:off x="9386121" y="4988440"/>
            <a:ext cx="19812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4313"/>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94" name="Google Shape;94;p48"/>
          <p:cNvSpPr/>
          <p:nvPr/>
        </p:nvSpPr>
        <p:spPr>
          <a:xfrm>
            <a:off x="9184171" y="4988440"/>
            <a:ext cx="198120" cy="228600"/>
          </a:xfrm>
          <a:prstGeom prst="chevron">
            <a:avLst>
              <a:gd name="adj" fmla="val 50000"/>
            </a:avLst>
          </a:prstGeom>
          <a:gradFill>
            <a:gsLst>
              <a:gs pos="0">
                <a:srgbClr val="1488A5"/>
              </a:gs>
              <a:gs pos="72000">
                <a:srgbClr val="4DB7DA"/>
              </a:gs>
              <a:gs pos="100000">
                <a:srgbClr val="7CC2DD"/>
              </a:gs>
            </a:gsLst>
            <a:lin ang="16200000" scaled="0"/>
          </a:gradFill>
          <a:ln w="9525" cap="rnd" cmpd="sng">
            <a:solidFill>
              <a:srgbClr val="20768B"/>
            </a:solidFill>
            <a:prstDash val="solid"/>
            <a:round/>
            <a:headEnd type="none" w="sm" len="sm"/>
            <a:tailEnd type="none" w="sm" len="sm"/>
          </a:ln>
          <a:effectLst>
            <a:outerShdw blurRad="50800" dist="25400" dir="5400000">
              <a:srgbClr val="000000">
                <a:alpha val="44313"/>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95"/>
        <p:cNvGrpSpPr/>
        <p:nvPr/>
      </p:nvGrpSpPr>
      <p:grpSpPr>
        <a:xfrm>
          <a:off x="0" y="0"/>
          <a:ext cx="0" cy="0"/>
          <a:chOff x="0" y="0"/>
          <a:chExt cx="0" cy="0"/>
        </a:xfrm>
      </p:grpSpPr>
      <p:sp>
        <p:nvSpPr>
          <p:cNvPr id="96" name="Google Shape;96;p49"/>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49"/>
          <p:cNvSpPr txBox="1">
            <a:spLocks noGrp="1"/>
          </p:cNvSpPr>
          <p:nvPr>
            <p:ph type="body" idx="1"/>
          </p:nvPr>
        </p:nvSpPr>
        <p:spPr>
          <a:xfrm rot="5400000">
            <a:off x="2759964" y="-783335"/>
            <a:ext cx="4386071" cy="8915400"/>
          </a:xfrm>
          <a:prstGeom prst="rect">
            <a:avLst/>
          </a:prstGeom>
          <a:noFill/>
          <a:ln>
            <a:noFill/>
          </a:ln>
        </p:spPr>
        <p:txBody>
          <a:bodyPr spcFirstLastPara="1" wrap="square" lIns="91425" tIns="45700" rIns="91425" bIns="45700" anchor="t" anchorCtr="0">
            <a:normAutofit/>
          </a:bodyPr>
          <a:lstStyle>
            <a:lvl1pPr marL="457200" lvl="0" indent="-306324" algn="l">
              <a:lnSpc>
                <a:spcPct val="100000"/>
              </a:lnSpc>
              <a:spcBef>
                <a:spcPts val="400"/>
              </a:spcBef>
              <a:spcAft>
                <a:spcPts val="0"/>
              </a:spcAft>
              <a:buSzPts val="1224"/>
              <a:buChar char="?"/>
              <a:defRPr/>
            </a:lvl1pPr>
            <a:lvl2pPr marL="914400" lvl="1" indent="-342900" algn="l">
              <a:lnSpc>
                <a:spcPct val="100000"/>
              </a:lnSpc>
              <a:spcBef>
                <a:spcPts val="324"/>
              </a:spcBef>
              <a:spcAft>
                <a:spcPts val="0"/>
              </a:spcAft>
              <a:buSzPts val="1800"/>
              <a:buChar char="◦"/>
              <a:defRPr/>
            </a:lvl2pPr>
            <a:lvl3pPr marL="1371600" lvl="2" indent="-342900" algn="l">
              <a:lnSpc>
                <a:spcPct val="100000"/>
              </a:lnSpc>
              <a:spcBef>
                <a:spcPts val="350"/>
              </a:spcBef>
              <a:spcAft>
                <a:spcPts val="0"/>
              </a:spcAft>
              <a:buSzPts val="1800"/>
              <a:buChar char="●"/>
              <a:defRPr/>
            </a:lvl3pPr>
            <a:lvl4pPr marL="1828800" lvl="3" indent="-342900" algn="l">
              <a:lnSpc>
                <a:spcPct val="100000"/>
              </a:lnSpc>
              <a:spcBef>
                <a:spcPts val="350"/>
              </a:spcBef>
              <a:spcAft>
                <a:spcPts val="0"/>
              </a:spcAft>
              <a:buSzPts val="1800"/>
              <a:buChar char="●"/>
              <a:defRPr/>
            </a:lvl4pPr>
            <a:lvl5pPr marL="2286000" lvl="4" indent="-342900" algn="l">
              <a:lnSpc>
                <a:spcPct val="100000"/>
              </a:lnSpc>
              <a:spcBef>
                <a:spcPts val="350"/>
              </a:spcBef>
              <a:spcAft>
                <a:spcPts val="0"/>
              </a:spcAft>
              <a:buSzPts val="1800"/>
              <a:buChar char="●"/>
              <a:defRPr/>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98" name="Google Shape;98;p49"/>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49"/>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49"/>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01"/>
        <p:cNvGrpSpPr/>
        <p:nvPr/>
      </p:nvGrpSpPr>
      <p:grpSpPr>
        <a:xfrm>
          <a:off x="0" y="0"/>
          <a:ext cx="0" cy="0"/>
          <a:chOff x="0" y="0"/>
          <a:chExt cx="0" cy="0"/>
        </a:xfrm>
      </p:grpSpPr>
      <p:sp>
        <p:nvSpPr>
          <p:cNvPr id="102" name="Google Shape;102;p50"/>
          <p:cNvSpPr txBox="1">
            <a:spLocks noGrp="1"/>
          </p:cNvSpPr>
          <p:nvPr>
            <p:ph type="title"/>
          </p:nvPr>
        </p:nvSpPr>
        <p:spPr>
          <a:xfrm rot="5400000">
            <a:off x="5580763" y="2108225"/>
            <a:ext cx="5592761" cy="192559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50"/>
          <p:cNvSpPr txBox="1">
            <a:spLocks noGrp="1"/>
          </p:cNvSpPr>
          <p:nvPr>
            <p:ph type="body" idx="1"/>
          </p:nvPr>
        </p:nvSpPr>
        <p:spPr>
          <a:xfrm rot="5400000">
            <a:off x="1124745" y="-354804"/>
            <a:ext cx="5592760" cy="6851650"/>
          </a:xfrm>
          <a:prstGeom prst="rect">
            <a:avLst/>
          </a:prstGeom>
          <a:noFill/>
          <a:ln>
            <a:noFill/>
          </a:ln>
        </p:spPr>
        <p:txBody>
          <a:bodyPr spcFirstLastPara="1" wrap="square" lIns="91425" tIns="45700" rIns="91425" bIns="45700" anchor="t" anchorCtr="0">
            <a:normAutofit/>
          </a:bodyPr>
          <a:lstStyle>
            <a:lvl1pPr marL="457200" lvl="0" indent="-306324" algn="l">
              <a:lnSpc>
                <a:spcPct val="100000"/>
              </a:lnSpc>
              <a:spcBef>
                <a:spcPts val="400"/>
              </a:spcBef>
              <a:spcAft>
                <a:spcPts val="0"/>
              </a:spcAft>
              <a:buSzPts val="1224"/>
              <a:buChar char="?"/>
              <a:defRPr/>
            </a:lvl1pPr>
            <a:lvl2pPr marL="914400" lvl="1" indent="-342900" algn="l">
              <a:lnSpc>
                <a:spcPct val="100000"/>
              </a:lnSpc>
              <a:spcBef>
                <a:spcPts val="324"/>
              </a:spcBef>
              <a:spcAft>
                <a:spcPts val="0"/>
              </a:spcAft>
              <a:buSzPts val="1800"/>
              <a:buChar char="◦"/>
              <a:defRPr/>
            </a:lvl2pPr>
            <a:lvl3pPr marL="1371600" lvl="2" indent="-342900" algn="l">
              <a:lnSpc>
                <a:spcPct val="100000"/>
              </a:lnSpc>
              <a:spcBef>
                <a:spcPts val="350"/>
              </a:spcBef>
              <a:spcAft>
                <a:spcPts val="0"/>
              </a:spcAft>
              <a:buSzPts val="1800"/>
              <a:buChar char="●"/>
              <a:defRPr/>
            </a:lvl3pPr>
            <a:lvl4pPr marL="1828800" lvl="3" indent="-342900" algn="l">
              <a:lnSpc>
                <a:spcPct val="100000"/>
              </a:lnSpc>
              <a:spcBef>
                <a:spcPts val="350"/>
              </a:spcBef>
              <a:spcAft>
                <a:spcPts val="0"/>
              </a:spcAft>
              <a:buSzPts val="1800"/>
              <a:buChar char="●"/>
              <a:defRPr/>
            </a:lvl4pPr>
            <a:lvl5pPr marL="2286000" lvl="4" indent="-342900" algn="l">
              <a:lnSpc>
                <a:spcPct val="100000"/>
              </a:lnSpc>
              <a:spcBef>
                <a:spcPts val="350"/>
              </a:spcBef>
              <a:spcAft>
                <a:spcPts val="0"/>
              </a:spcAft>
              <a:buSzPts val="1800"/>
              <a:buChar char="●"/>
              <a:defRPr/>
            </a:lvl5pPr>
            <a:lvl6pPr marL="2743200" lvl="5" indent="-342900" algn="l">
              <a:lnSpc>
                <a:spcPct val="100000"/>
              </a:lnSpc>
              <a:spcBef>
                <a:spcPts val="350"/>
              </a:spcBef>
              <a:spcAft>
                <a:spcPts val="0"/>
              </a:spcAft>
              <a:buSzPts val="1800"/>
              <a:buChar char="■"/>
              <a:defRPr/>
            </a:lvl6pPr>
            <a:lvl7pPr marL="3200400" lvl="6" indent="-342900" algn="l">
              <a:lnSpc>
                <a:spcPct val="100000"/>
              </a:lnSpc>
              <a:spcBef>
                <a:spcPts val="350"/>
              </a:spcBef>
              <a:spcAft>
                <a:spcPts val="0"/>
              </a:spcAft>
              <a:buSzPts val="1800"/>
              <a:buChar char="■"/>
              <a:defRPr/>
            </a:lvl7pPr>
            <a:lvl8pPr marL="3657600" lvl="7" indent="-342900" algn="l">
              <a:lnSpc>
                <a:spcPct val="100000"/>
              </a:lnSpc>
              <a:spcBef>
                <a:spcPts val="350"/>
              </a:spcBef>
              <a:spcAft>
                <a:spcPts val="0"/>
              </a:spcAft>
              <a:buSzPts val="1800"/>
              <a:buChar char="■"/>
              <a:defRPr/>
            </a:lvl8pPr>
            <a:lvl9pPr marL="4114800" lvl="8" indent="-342900" algn="l">
              <a:lnSpc>
                <a:spcPct val="100000"/>
              </a:lnSpc>
              <a:spcBef>
                <a:spcPts val="350"/>
              </a:spcBef>
              <a:spcAft>
                <a:spcPts val="0"/>
              </a:spcAft>
              <a:buSzPts val="1800"/>
              <a:buChar char="■"/>
              <a:defRPr/>
            </a:lvl9pPr>
          </a:lstStyle>
          <a:p>
            <a:endParaRPr/>
          </a:p>
        </p:txBody>
      </p:sp>
      <p:sp>
        <p:nvSpPr>
          <p:cNvPr id="104" name="Google Shape;104;p50"/>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50"/>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6" name="Google Shape;106;p50"/>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ntacts Info">
  <p:cSld name="Contacts Info">
    <p:spTree>
      <p:nvGrpSpPr>
        <p:cNvPr id="1" name="Shape 107"/>
        <p:cNvGrpSpPr/>
        <p:nvPr/>
      </p:nvGrpSpPr>
      <p:grpSpPr>
        <a:xfrm>
          <a:off x="0" y="0"/>
          <a:ext cx="0" cy="0"/>
          <a:chOff x="0" y="0"/>
          <a:chExt cx="0" cy="0"/>
        </a:xfrm>
      </p:grpSpPr>
      <p:sp>
        <p:nvSpPr>
          <p:cNvPr id="108" name="Google Shape;108;p51"/>
          <p:cNvSpPr txBox="1">
            <a:spLocks noGrp="1"/>
          </p:cNvSpPr>
          <p:nvPr>
            <p:ph type="sldNum" idx="12"/>
          </p:nvPr>
        </p:nvSpPr>
        <p:spPr>
          <a:xfrm>
            <a:off x="9648000" y="6732000"/>
            <a:ext cx="252000" cy="104775"/>
          </a:xfrm>
          <a:prstGeom prst="rect">
            <a:avLst/>
          </a:prstGeom>
          <a:noFill/>
          <a:ln>
            <a:noFill/>
          </a:ln>
        </p:spPr>
        <p:txBody>
          <a:bodyPr spcFirstLastPara="1" wrap="square" lIns="36000" tIns="0" rIns="36000" bIns="0" anchor="ctr" anchorCtr="0">
            <a:spAutoFit/>
          </a:bodyPr>
          <a:lstStyle>
            <a:lvl1pPr marL="0" marR="0" lvl="0"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0" marR="0" lvl="1"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2pPr>
            <a:lvl3pPr marL="0" marR="0" lvl="2"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3pPr>
            <a:lvl4pPr marL="0" marR="0" lvl="3"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4pPr>
            <a:lvl5pPr marL="0" marR="0" lvl="4"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5pPr>
            <a:lvl6pPr marL="0" marR="0" lvl="5"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6pPr>
            <a:lvl7pPr marL="0" marR="0" lvl="6"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7pPr>
            <a:lvl8pPr marL="0" marR="0" lvl="7"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8pPr>
            <a:lvl9pPr marL="0" marR="0" lvl="8" indent="0" algn="r">
              <a:lnSpc>
                <a:spcPct val="85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09" name="Google Shape;109;p51" descr="images (1).jpg"/>
          <p:cNvPicPr preferRelativeResize="0"/>
          <p:nvPr/>
        </p:nvPicPr>
        <p:blipFill rotWithShape="1">
          <a:blip r:embed="rId2">
            <a:alphaModFix/>
          </a:blip>
          <a:srcRect t="47743" r="60368" b="19890"/>
          <a:stretch/>
        </p:blipFill>
        <p:spPr>
          <a:xfrm>
            <a:off x="6357982" y="2571744"/>
            <a:ext cx="3524240" cy="4286255"/>
          </a:xfrm>
          <a:prstGeom prst="rect">
            <a:avLst/>
          </a:prstGeom>
          <a:noFill/>
          <a:ln>
            <a:noFill/>
          </a:ln>
        </p:spPr>
      </p:pic>
      <p:pic>
        <p:nvPicPr>
          <p:cNvPr id="110" name="Google Shape;110;p51" descr="images (1).jpg"/>
          <p:cNvPicPr preferRelativeResize="0"/>
          <p:nvPr/>
        </p:nvPicPr>
        <p:blipFill rotWithShape="1">
          <a:blip r:embed="rId2">
            <a:alphaModFix/>
          </a:blip>
          <a:srcRect l="58789" r="-996" b="67294"/>
          <a:stretch/>
        </p:blipFill>
        <p:spPr>
          <a:xfrm>
            <a:off x="0" y="0"/>
            <a:ext cx="2724146" cy="3143248"/>
          </a:xfrm>
          <a:prstGeom prst="rect">
            <a:avLst/>
          </a:prstGeom>
          <a:noFill/>
          <a:ln>
            <a:noFill/>
          </a:ln>
        </p:spPr>
      </p:pic>
      <p:sp>
        <p:nvSpPr>
          <p:cNvPr id="111" name="Google Shape;111;p51"/>
          <p:cNvSpPr/>
          <p:nvPr/>
        </p:nvSpPr>
        <p:spPr>
          <a:xfrm rot="10800000" flipH="1">
            <a:off x="3309926" y="1214422"/>
            <a:ext cx="6572296" cy="45719"/>
          </a:xfrm>
          <a:prstGeom prst="rect">
            <a:avLst/>
          </a:prstGeom>
          <a:gradFill>
            <a:gsLst>
              <a:gs pos="0">
                <a:srgbClr val="E5E5E5"/>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112" name="Google Shape;112;p51"/>
          <p:cNvSpPr/>
          <p:nvPr/>
        </p:nvSpPr>
        <p:spPr>
          <a:xfrm flipH="1">
            <a:off x="0" y="5715016"/>
            <a:ext cx="5524504" cy="45719"/>
          </a:xfrm>
          <a:prstGeom prst="rect">
            <a:avLst/>
          </a:prstGeom>
          <a:gradFill>
            <a:gsLst>
              <a:gs pos="0">
                <a:srgbClr val="E5E5E5"/>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Slide">
  <p:cSld name="Slide">
    <p:spTree>
      <p:nvGrpSpPr>
        <p:cNvPr id="1" name="Shape 119"/>
        <p:cNvGrpSpPr/>
        <p:nvPr/>
      </p:nvGrpSpPr>
      <p:grpSpPr>
        <a:xfrm>
          <a:off x="0" y="0"/>
          <a:ext cx="0" cy="0"/>
          <a:chOff x="0" y="0"/>
          <a:chExt cx="0" cy="0"/>
        </a:xfrm>
      </p:grpSpPr>
      <p:sp>
        <p:nvSpPr>
          <p:cNvPr id="120" name="Google Shape;120;g123d31d1acb_0_179"/>
          <p:cNvSpPr/>
          <p:nvPr/>
        </p:nvSpPr>
        <p:spPr>
          <a:xfrm>
            <a:off x="599" y="1091667"/>
            <a:ext cx="9924300" cy="45600"/>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660"/>
              <a:buFont typeface="Arial"/>
              <a:buNone/>
            </a:pPr>
            <a:endParaRPr sz="1660" b="0" i="0" u="none" strike="noStrike" cap="none">
              <a:solidFill>
                <a:schemeClr val="dk1"/>
              </a:solidFill>
              <a:latin typeface="Calibri"/>
              <a:ea typeface="Calibri"/>
              <a:cs typeface="Calibri"/>
              <a:sym typeface="Calibri"/>
            </a:endParaRPr>
          </a:p>
        </p:txBody>
      </p:sp>
      <p:pic>
        <p:nvPicPr>
          <p:cNvPr id="121" name="Google Shape;121;g123d31d1acb_0_179" descr="Image result for utn frba"/>
          <p:cNvPicPr preferRelativeResize="0"/>
          <p:nvPr/>
        </p:nvPicPr>
        <p:blipFill rotWithShape="1">
          <a:blip r:embed="rId2">
            <a:alphaModFix/>
          </a:blip>
          <a:srcRect/>
          <a:stretch/>
        </p:blipFill>
        <p:spPr>
          <a:xfrm>
            <a:off x="7003960" y="64395"/>
            <a:ext cx="2611323" cy="95274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arátula">
  <p:cSld name="Carátula">
    <p:spTree>
      <p:nvGrpSpPr>
        <p:cNvPr id="1" name="Shape 122"/>
        <p:cNvGrpSpPr/>
        <p:nvPr/>
      </p:nvGrpSpPr>
      <p:grpSpPr>
        <a:xfrm>
          <a:off x="0" y="0"/>
          <a:ext cx="0" cy="0"/>
          <a:chOff x="0" y="0"/>
          <a:chExt cx="0" cy="0"/>
        </a:xfrm>
      </p:grpSpPr>
      <p:sp>
        <p:nvSpPr>
          <p:cNvPr id="123" name="Google Shape;123;g123d31d1acb_0_176"/>
          <p:cNvSpPr/>
          <p:nvPr/>
        </p:nvSpPr>
        <p:spPr>
          <a:xfrm>
            <a:off x="-11026" y="6180971"/>
            <a:ext cx="9924300" cy="45600"/>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660"/>
              <a:buFont typeface="Arial"/>
              <a:buNone/>
            </a:pPr>
            <a:endParaRPr sz="1660" b="0" i="0" u="none" strike="noStrike" cap="none">
              <a:solidFill>
                <a:schemeClr val="dk1"/>
              </a:solidFill>
              <a:latin typeface="Calibri"/>
              <a:ea typeface="Calibri"/>
              <a:cs typeface="Calibri"/>
              <a:sym typeface="Calibri"/>
            </a:endParaRPr>
          </a:p>
        </p:txBody>
      </p:sp>
      <p:sp>
        <p:nvSpPr>
          <p:cNvPr id="124" name="Google Shape;124;g123d31d1acb_0_176"/>
          <p:cNvSpPr/>
          <p:nvPr/>
        </p:nvSpPr>
        <p:spPr>
          <a:xfrm>
            <a:off x="599" y="666660"/>
            <a:ext cx="9924300" cy="45600"/>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660"/>
              <a:buFont typeface="Arial"/>
              <a:buNone/>
            </a:pPr>
            <a:endParaRPr sz="166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25"/>
        <p:cNvGrpSpPr/>
        <p:nvPr/>
      </p:nvGrpSpPr>
      <p:grpSpPr>
        <a:xfrm>
          <a:off x="0" y="0"/>
          <a:ext cx="0" cy="0"/>
          <a:chOff x="0" y="0"/>
          <a:chExt cx="0" cy="0"/>
        </a:xfrm>
      </p:grpSpPr>
      <p:sp>
        <p:nvSpPr>
          <p:cNvPr id="126" name="Google Shape;126;g123d31d1acb_0_182"/>
          <p:cNvSpPr txBox="1">
            <a:spLocks noGrp="1"/>
          </p:cNvSpPr>
          <p:nvPr>
            <p:ph type="ctrTitle"/>
          </p:nvPr>
        </p:nvSpPr>
        <p:spPr>
          <a:xfrm>
            <a:off x="742950" y="1122363"/>
            <a:ext cx="84201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g123d31d1acb_0_182"/>
          <p:cNvSpPr txBox="1">
            <a:spLocks noGrp="1"/>
          </p:cNvSpPr>
          <p:nvPr>
            <p:ph type="subTitle" idx="1"/>
          </p:nvPr>
        </p:nvSpPr>
        <p:spPr>
          <a:xfrm>
            <a:off x="1238250" y="3602038"/>
            <a:ext cx="74295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8" name="Google Shape;128;g123d31d1acb_0_182"/>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g123d31d1acb_0_182"/>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0" name="Google Shape;130;g123d31d1acb_0_182"/>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131"/>
        <p:cNvGrpSpPr/>
        <p:nvPr/>
      </p:nvGrpSpPr>
      <p:grpSpPr>
        <a:xfrm>
          <a:off x="0" y="0"/>
          <a:ext cx="0" cy="0"/>
          <a:chOff x="0" y="0"/>
          <a:chExt cx="0" cy="0"/>
        </a:xfrm>
      </p:grpSpPr>
      <p:sp>
        <p:nvSpPr>
          <p:cNvPr id="132" name="Google Shape;132;g123d31d1acb_0_188"/>
          <p:cNvSpPr txBox="1">
            <a:spLocks noGrp="1"/>
          </p:cNvSpPr>
          <p:nvPr>
            <p:ph type="title"/>
          </p:nvPr>
        </p:nvSpPr>
        <p:spPr>
          <a:xfrm>
            <a:off x="681038" y="365126"/>
            <a:ext cx="85440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g123d31d1acb_0_188"/>
          <p:cNvSpPr txBox="1">
            <a:spLocks noGrp="1"/>
          </p:cNvSpPr>
          <p:nvPr>
            <p:ph type="body" idx="1"/>
          </p:nvPr>
        </p:nvSpPr>
        <p:spPr>
          <a:xfrm>
            <a:off x="681038" y="1825625"/>
            <a:ext cx="85440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g123d31d1acb_0_188"/>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g123d31d1acb_0_188"/>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g123d31d1acb_0_188"/>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137"/>
        <p:cNvGrpSpPr/>
        <p:nvPr/>
      </p:nvGrpSpPr>
      <p:grpSpPr>
        <a:xfrm>
          <a:off x="0" y="0"/>
          <a:ext cx="0" cy="0"/>
          <a:chOff x="0" y="0"/>
          <a:chExt cx="0" cy="0"/>
        </a:xfrm>
      </p:grpSpPr>
      <p:sp>
        <p:nvSpPr>
          <p:cNvPr id="138" name="Google Shape;138;g123d31d1acb_0_194"/>
          <p:cNvSpPr txBox="1">
            <a:spLocks noGrp="1"/>
          </p:cNvSpPr>
          <p:nvPr>
            <p:ph type="title"/>
          </p:nvPr>
        </p:nvSpPr>
        <p:spPr>
          <a:xfrm>
            <a:off x="675879" y="1709739"/>
            <a:ext cx="85440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g123d31d1acb_0_194"/>
          <p:cNvSpPr txBox="1">
            <a:spLocks noGrp="1"/>
          </p:cNvSpPr>
          <p:nvPr>
            <p:ph type="body" idx="1"/>
          </p:nvPr>
        </p:nvSpPr>
        <p:spPr>
          <a:xfrm>
            <a:off x="675879" y="4589464"/>
            <a:ext cx="85440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0" name="Google Shape;140;g123d31d1acb_0_194"/>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g123d31d1acb_0_194"/>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g123d31d1acb_0_194"/>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143"/>
        <p:cNvGrpSpPr/>
        <p:nvPr/>
      </p:nvGrpSpPr>
      <p:grpSpPr>
        <a:xfrm>
          <a:off x="0" y="0"/>
          <a:ext cx="0" cy="0"/>
          <a:chOff x="0" y="0"/>
          <a:chExt cx="0" cy="0"/>
        </a:xfrm>
      </p:grpSpPr>
      <p:sp>
        <p:nvSpPr>
          <p:cNvPr id="144" name="Google Shape;144;g123d31d1acb_0_200"/>
          <p:cNvSpPr txBox="1">
            <a:spLocks noGrp="1"/>
          </p:cNvSpPr>
          <p:nvPr>
            <p:ph type="title"/>
          </p:nvPr>
        </p:nvSpPr>
        <p:spPr>
          <a:xfrm>
            <a:off x="681038" y="365126"/>
            <a:ext cx="85440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g123d31d1acb_0_200"/>
          <p:cNvSpPr txBox="1">
            <a:spLocks noGrp="1"/>
          </p:cNvSpPr>
          <p:nvPr>
            <p:ph type="body" idx="1"/>
          </p:nvPr>
        </p:nvSpPr>
        <p:spPr>
          <a:xfrm>
            <a:off x="681038" y="1825625"/>
            <a:ext cx="42102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g123d31d1acb_0_200"/>
          <p:cNvSpPr txBox="1">
            <a:spLocks noGrp="1"/>
          </p:cNvSpPr>
          <p:nvPr>
            <p:ph type="body" idx="2"/>
          </p:nvPr>
        </p:nvSpPr>
        <p:spPr>
          <a:xfrm>
            <a:off x="5014913" y="1825625"/>
            <a:ext cx="42102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g123d31d1acb_0_200"/>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g123d31d1acb_0_200"/>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g123d31d1acb_0_200"/>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150"/>
        <p:cNvGrpSpPr/>
        <p:nvPr/>
      </p:nvGrpSpPr>
      <p:grpSpPr>
        <a:xfrm>
          <a:off x="0" y="0"/>
          <a:ext cx="0" cy="0"/>
          <a:chOff x="0" y="0"/>
          <a:chExt cx="0" cy="0"/>
        </a:xfrm>
      </p:grpSpPr>
      <p:sp>
        <p:nvSpPr>
          <p:cNvPr id="151" name="Google Shape;151;g123d31d1acb_0_207"/>
          <p:cNvSpPr txBox="1">
            <a:spLocks noGrp="1"/>
          </p:cNvSpPr>
          <p:nvPr>
            <p:ph type="title"/>
          </p:nvPr>
        </p:nvSpPr>
        <p:spPr>
          <a:xfrm>
            <a:off x="682328" y="365126"/>
            <a:ext cx="85440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2" name="Google Shape;152;g123d31d1acb_0_207"/>
          <p:cNvSpPr txBox="1">
            <a:spLocks noGrp="1"/>
          </p:cNvSpPr>
          <p:nvPr>
            <p:ph type="body" idx="1"/>
          </p:nvPr>
        </p:nvSpPr>
        <p:spPr>
          <a:xfrm>
            <a:off x="682329" y="1681163"/>
            <a:ext cx="41907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3" name="Google Shape;153;g123d31d1acb_0_207"/>
          <p:cNvSpPr txBox="1">
            <a:spLocks noGrp="1"/>
          </p:cNvSpPr>
          <p:nvPr>
            <p:ph type="body" idx="2"/>
          </p:nvPr>
        </p:nvSpPr>
        <p:spPr>
          <a:xfrm>
            <a:off x="682329" y="2505075"/>
            <a:ext cx="41907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g123d31d1acb_0_207"/>
          <p:cNvSpPr txBox="1">
            <a:spLocks noGrp="1"/>
          </p:cNvSpPr>
          <p:nvPr>
            <p:ph type="body" idx="3"/>
          </p:nvPr>
        </p:nvSpPr>
        <p:spPr>
          <a:xfrm>
            <a:off x="5014913" y="1681163"/>
            <a:ext cx="42114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5" name="Google Shape;155;g123d31d1acb_0_207"/>
          <p:cNvSpPr txBox="1">
            <a:spLocks noGrp="1"/>
          </p:cNvSpPr>
          <p:nvPr>
            <p:ph type="body" idx="4"/>
          </p:nvPr>
        </p:nvSpPr>
        <p:spPr>
          <a:xfrm>
            <a:off x="5014913" y="2505075"/>
            <a:ext cx="42114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g123d31d1acb_0_207"/>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g123d31d1acb_0_207"/>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g123d31d1acb_0_207"/>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159"/>
        <p:cNvGrpSpPr/>
        <p:nvPr/>
      </p:nvGrpSpPr>
      <p:grpSpPr>
        <a:xfrm>
          <a:off x="0" y="0"/>
          <a:ext cx="0" cy="0"/>
          <a:chOff x="0" y="0"/>
          <a:chExt cx="0" cy="0"/>
        </a:xfrm>
      </p:grpSpPr>
      <p:sp>
        <p:nvSpPr>
          <p:cNvPr id="160" name="Google Shape;160;g123d31d1acb_0_216"/>
          <p:cNvSpPr txBox="1">
            <a:spLocks noGrp="1"/>
          </p:cNvSpPr>
          <p:nvPr>
            <p:ph type="title"/>
          </p:nvPr>
        </p:nvSpPr>
        <p:spPr>
          <a:xfrm>
            <a:off x="681038" y="365126"/>
            <a:ext cx="85440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g123d31d1acb_0_216"/>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g123d31d1acb_0_216"/>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g123d31d1acb_0_216"/>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4"/>
        <p:cNvGrpSpPr/>
        <p:nvPr/>
      </p:nvGrpSpPr>
      <p:grpSpPr>
        <a:xfrm>
          <a:off x="0" y="0"/>
          <a:ext cx="0" cy="0"/>
          <a:chOff x="0" y="0"/>
          <a:chExt cx="0" cy="0"/>
        </a:xfrm>
      </p:grpSpPr>
      <p:sp>
        <p:nvSpPr>
          <p:cNvPr id="165" name="Google Shape;165;g123d31d1acb_0_221"/>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g123d31d1acb_0_221"/>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g123d31d1acb_0_221"/>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168"/>
        <p:cNvGrpSpPr/>
        <p:nvPr/>
      </p:nvGrpSpPr>
      <p:grpSpPr>
        <a:xfrm>
          <a:off x="0" y="0"/>
          <a:ext cx="0" cy="0"/>
          <a:chOff x="0" y="0"/>
          <a:chExt cx="0" cy="0"/>
        </a:xfrm>
      </p:grpSpPr>
      <p:sp>
        <p:nvSpPr>
          <p:cNvPr id="169" name="Google Shape;169;g123d31d1acb_0_225"/>
          <p:cNvSpPr txBox="1">
            <a:spLocks noGrp="1"/>
          </p:cNvSpPr>
          <p:nvPr>
            <p:ph type="title"/>
          </p:nvPr>
        </p:nvSpPr>
        <p:spPr>
          <a:xfrm>
            <a:off x="682328" y="457200"/>
            <a:ext cx="31950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g123d31d1acb_0_225"/>
          <p:cNvSpPr txBox="1">
            <a:spLocks noGrp="1"/>
          </p:cNvSpPr>
          <p:nvPr>
            <p:ph type="body" idx="1"/>
          </p:nvPr>
        </p:nvSpPr>
        <p:spPr>
          <a:xfrm>
            <a:off x="4211340" y="987426"/>
            <a:ext cx="50151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71" name="Google Shape;171;g123d31d1acb_0_225"/>
          <p:cNvSpPr txBox="1">
            <a:spLocks noGrp="1"/>
          </p:cNvSpPr>
          <p:nvPr>
            <p:ph type="body" idx="2"/>
          </p:nvPr>
        </p:nvSpPr>
        <p:spPr>
          <a:xfrm>
            <a:off x="682328" y="2057400"/>
            <a:ext cx="31950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2" name="Google Shape;172;g123d31d1acb_0_225"/>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3" name="Google Shape;173;g123d31d1acb_0_225"/>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g123d31d1acb_0_225"/>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175"/>
        <p:cNvGrpSpPr/>
        <p:nvPr/>
      </p:nvGrpSpPr>
      <p:grpSpPr>
        <a:xfrm>
          <a:off x="0" y="0"/>
          <a:ext cx="0" cy="0"/>
          <a:chOff x="0" y="0"/>
          <a:chExt cx="0" cy="0"/>
        </a:xfrm>
      </p:grpSpPr>
      <p:sp>
        <p:nvSpPr>
          <p:cNvPr id="176" name="Google Shape;176;g123d31d1acb_0_232"/>
          <p:cNvSpPr txBox="1">
            <a:spLocks noGrp="1"/>
          </p:cNvSpPr>
          <p:nvPr>
            <p:ph type="title"/>
          </p:nvPr>
        </p:nvSpPr>
        <p:spPr>
          <a:xfrm>
            <a:off x="682328" y="457200"/>
            <a:ext cx="31950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g123d31d1acb_0_232"/>
          <p:cNvSpPr>
            <a:spLocks noGrp="1"/>
          </p:cNvSpPr>
          <p:nvPr>
            <p:ph type="pic" idx="2"/>
          </p:nvPr>
        </p:nvSpPr>
        <p:spPr>
          <a:xfrm>
            <a:off x="4211340" y="987426"/>
            <a:ext cx="5015100" cy="4873500"/>
          </a:xfrm>
          <a:prstGeom prst="rect">
            <a:avLst/>
          </a:prstGeom>
          <a:noFill/>
          <a:ln>
            <a:noFill/>
          </a:ln>
        </p:spPr>
      </p:sp>
      <p:sp>
        <p:nvSpPr>
          <p:cNvPr id="178" name="Google Shape;178;g123d31d1acb_0_232"/>
          <p:cNvSpPr txBox="1">
            <a:spLocks noGrp="1"/>
          </p:cNvSpPr>
          <p:nvPr>
            <p:ph type="body" idx="1"/>
          </p:nvPr>
        </p:nvSpPr>
        <p:spPr>
          <a:xfrm>
            <a:off x="682328" y="2057400"/>
            <a:ext cx="31950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9" name="Google Shape;179;g123d31d1acb_0_232"/>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0" name="Google Shape;180;g123d31d1acb_0_232"/>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1" name="Google Shape;181;g123d31d1acb_0_232"/>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182"/>
        <p:cNvGrpSpPr/>
        <p:nvPr/>
      </p:nvGrpSpPr>
      <p:grpSpPr>
        <a:xfrm>
          <a:off x="0" y="0"/>
          <a:ext cx="0" cy="0"/>
          <a:chOff x="0" y="0"/>
          <a:chExt cx="0" cy="0"/>
        </a:xfrm>
      </p:grpSpPr>
      <p:sp>
        <p:nvSpPr>
          <p:cNvPr id="183" name="Google Shape;183;g123d31d1acb_0_239"/>
          <p:cNvSpPr txBox="1">
            <a:spLocks noGrp="1"/>
          </p:cNvSpPr>
          <p:nvPr>
            <p:ph type="title"/>
          </p:nvPr>
        </p:nvSpPr>
        <p:spPr>
          <a:xfrm>
            <a:off x="681038" y="365126"/>
            <a:ext cx="85440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4" name="Google Shape;184;g123d31d1acb_0_239"/>
          <p:cNvSpPr txBox="1">
            <a:spLocks noGrp="1"/>
          </p:cNvSpPr>
          <p:nvPr>
            <p:ph type="body" idx="1"/>
          </p:nvPr>
        </p:nvSpPr>
        <p:spPr>
          <a:xfrm rot="5400000">
            <a:off x="2777363" y="-270775"/>
            <a:ext cx="4351200" cy="85440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5" name="Google Shape;185;g123d31d1acb_0_239"/>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6" name="Google Shape;186;g123d31d1acb_0_239"/>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g123d31d1acb_0_239"/>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188"/>
        <p:cNvGrpSpPr/>
        <p:nvPr/>
      </p:nvGrpSpPr>
      <p:grpSpPr>
        <a:xfrm>
          <a:off x="0" y="0"/>
          <a:ext cx="0" cy="0"/>
          <a:chOff x="0" y="0"/>
          <a:chExt cx="0" cy="0"/>
        </a:xfrm>
      </p:grpSpPr>
      <p:sp>
        <p:nvSpPr>
          <p:cNvPr id="189" name="Google Shape;189;g123d31d1acb_0_245"/>
          <p:cNvSpPr txBox="1">
            <a:spLocks noGrp="1"/>
          </p:cNvSpPr>
          <p:nvPr>
            <p:ph type="title"/>
          </p:nvPr>
        </p:nvSpPr>
        <p:spPr>
          <a:xfrm rot="5400000">
            <a:off x="5251012" y="2203075"/>
            <a:ext cx="5811900" cy="2136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g123d31d1acb_0_245"/>
          <p:cNvSpPr txBox="1">
            <a:spLocks noGrp="1"/>
          </p:cNvSpPr>
          <p:nvPr>
            <p:ph type="body" idx="1"/>
          </p:nvPr>
        </p:nvSpPr>
        <p:spPr>
          <a:xfrm rot="5400000">
            <a:off x="917156" y="129024"/>
            <a:ext cx="5811900" cy="62841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g123d31d1acb_0_245"/>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g123d31d1acb_0_245"/>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g123d31d1acb_0_245"/>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Contenido Adicional">
  <p:cSld name="Contenido Adicional">
    <p:bg>
      <p:bgPr>
        <a:gradFill>
          <a:gsLst>
            <a:gs pos="0">
              <a:srgbClr val="FAFAFA"/>
            </a:gs>
            <a:gs pos="16000">
              <a:srgbClr val="FAFAFA"/>
            </a:gs>
            <a:gs pos="46000">
              <a:schemeClr val="lt2"/>
            </a:gs>
            <a:gs pos="83000">
              <a:srgbClr val="D6D6D6"/>
            </a:gs>
            <a:gs pos="100000">
              <a:srgbClr val="E3E3E3"/>
            </a:gs>
          </a:gsLst>
          <a:lin ang="5400012" scaled="0"/>
        </a:gradFill>
        <a:effectLst/>
      </p:bgPr>
    </p:bg>
    <p:spTree>
      <p:nvGrpSpPr>
        <p:cNvPr id="1" name="Shape 194"/>
        <p:cNvGrpSpPr/>
        <p:nvPr/>
      </p:nvGrpSpPr>
      <p:grpSpPr>
        <a:xfrm>
          <a:off x="0" y="0"/>
          <a:ext cx="0" cy="0"/>
          <a:chOff x="0" y="0"/>
          <a:chExt cx="0" cy="0"/>
        </a:xfrm>
      </p:grpSpPr>
      <p:sp>
        <p:nvSpPr>
          <p:cNvPr id="195" name="Google Shape;195;g123d31d1acb_0_251"/>
          <p:cNvSpPr/>
          <p:nvPr/>
        </p:nvSpPr>
        <p:spPr>
          <a:xfrm>
            <a:off x="599" y="1091667"/>
            <a:ext cx="9924300" cy="45600"/>
          </a:xfrm>
          <a:prstGeom prst="rect">
            <a:avLst/>
          </a:prstGeom>
          <a:gradFill>
            <a:gsLst>
              <a:gs pos="0">
                <a:srgbClr val="E5E6E8"/>
              </a:gs>
              <a:gs pos="100000">
                <a:schemeClr val="dk2"/>
              </a:gs>
            </a:gsLst>
            <a:lin ang="0" scaled="0"/>
          </a:gradFill>
          <a:ln>
            <a:noFill/>
          </a:ln>
        </p:spPr>
        <p:txBody>
          <a:bodyPr spcFirstLastPara="1" wrap="square" lIns="91425" tIns="45700" rIns="91425" bIns="45700" anchor="ctr" anchorCtr="0">
            <a:noAutofit/>
          </a:bodyPr>
          <a:lstStyle/>
          <a:p>
            <a:pPr marL="0" marR="0" lvl="0" indent="0" algn="ctr" rtl="0">
              <a:lnSpc>
                <a:spcPct val="85000"/>
              </a:lnSpc>
              <a:spcBef>
                <a:spcPts val="0"/>
              </a:spcBef>
              <a:spcAft>
                <a:spcPts val="0"/>
              </a:spcAft>
              <a:buClr>
                <a:srgbClr val="000000"/>
              </a:buClr>
              <a:buSzPts val="1660"/>
              <a:buFont typeface="Arial"/>
              <a:buNone/>
            </a:pPr>
            <a:endParaRPr sz="1660" b="0" i="0" u="none" strike="noStrike" cap="none">
              <a:solidFill>
                <a:schemeClr val="dk1"/>
              </a:solidFill>
              <a:latin typeface="Calibri"/>
              <a:ea typeface="Calibri"/>
              <a:cs typeface="Calibri"/>
              <a:sym typeface="Calibri"/>
            </a:endParaRPr>
          </a:p>
        </p:txBody>
      </p:sp>
      <p:pic>
        <p:nvPicPr>
          <p:cNvPr id="196" name="Google Shape;196;g123d31d1acb_0_251" descr="Image result for utn frba"/>
          <p:cNvPicPr preferRelativeResize="0"/>
          <p:nvPr/>
        </p:nvPicPr>
        <p:blipFill rotWithShape="1">
          <a:blip r:embed="rId2">
            <a:alphaModFix/>
          </a:blip>
          <a:srcRect/>
          <a:stretch/>
        </p:blipFill>
        <p:spPr>
          <a:xfrm>
            <a:off x="7003960" y="64395"/>
            <a:ext cx="2611323" cy="952745"/>
          </a:xfrm>
          <a:prstGeom prst="rect">
            <a:avLst/>
          </a:prstGeom>
          <a:noFill/>
          <a:ln>
            <a:noFill/>
          </a:ln>
        </p:spPr>
      </p:pic>
      <p:sp>
        <p:nvSpPr>
          <p:cNvPr id="197" name="Google Shape;197;g123d31d1acb_0_251"/>
          <p:cNvSpPr txBox="1"/>
          <p:nvPr/>
        </p:nvSpPr>
        <p:spPr>
          <a:xfrm>
            <a:off x="113213" y="-23"/>
            <a:ext cx="7160700" cy="1097400"/>
          </a:xfrm>
          <a:prstGeom prst="rect">
            <a:avLst/>
          </a:prstGeom>
          <a:noFill/>
          <a:ln>
            <a:noFill/>
          </a:ln>
        </p:spPr>
        <p:txBody>
          <a:bodyPr spcFirstLastPara="1" wrap="square" lIns="72000" tIns="252000" rIns="72000" bIns="36000" anchor="ctr" anchorCtr="0">
            <a:noAutofit/>
          </a:bodyPr>
          <a:lstStyle/>
          <a:p>
            <a:pPr marL="714375" marR="0" lvl="0" indent="-714375" algn="l" rtl="0">
              <a:lnSpc>
                <a:spcPct val="90000"/>
              </a:lnSpc>
              <a:spcBef>
                <a:spcPts val="0"/>
              </a:spcBef>
              <a:spcAft>
                <a:spcPts val="0"/>
              </a:spcAft>
              <a:buClr>
                <a:schemeClr val="dk1"/>
              </a:buClr>
              <a:buSzPts val="600"/>
              <a:buFont typeface="Calibri"/>
              <a:buNone/>
            </a:pPr>
            <a:endParaRPr sz="2400" b="1" i="0" u="none" strike="noStrike" cap="none">
              <a:solidFill>
                <a:srgbClr val="932328"/>
              </a:solidFill>
              <a:latin typeface="Calibri"/>
              <a:ea typeface="Calibri"/>
              <a:cs typeface="Calibri"/>
              <a:sym typeface="Calibri"/>
            </a:endParaRPr>
          </a:p>
          <a:p>
            <a:pPr marL="714375" marR="0" lvl="0" indent="-714375" algn="l" rtl="0">
              <a:lnSpc>
                <a:spcPct val="90000"/>
              </a:lnSpc>
              <a:spcBef>
                <a:spcPts val="0"/>
              </a:spcBef>
              <a:spcAft>
                <a:spcPts val="0"/>
              </a:spcAft>
              <a:buClr>
                <a:srgbClr val="000000"/>
              </a:buClr>
              <a:buSzPts val="2800"/>
              <a:buFont typeface="Arial"/>
              <a:buNone/>
            </a:pPr>
            <a:r>
              <a:rPr lang="en-US" sz="2800" b="1" i="0" u="none" strike="noStrike" cap="none">
                <a:solidFill>
                  <a:srgbClr val="932328"/>
                </a:solidFill>
                <a:latin typeface="Arial Narrow"/>
                <a:ea typeface="Arial Narrow"/>
                <a:cs typeface="Arial Narrow"/>
                <a:sym typeface="Arial Narrow"/>
              </a:rPr>
              <a:t>Contenido Adicional</a:t>
            </a:r>
            <a:endParaRPr sz="1400" b="0" i="0" u="none" strike="noStrike" cap="none">
              <a:solidFill>
                <a:srgbClr val="000000"/>
              </a:solidFill>
              <a:latin typeface="Arial"/>
              <a:ea typeface="Arial"/>
              <a:cs typeface="Arial"/>
              <a:sym typeface="Arial"/>
            </a:endParaRPr>
          </a:p>
        </p:txBody>
      </p:sp>
      <p:sp>
        <p:nvSpPr>
          <p:cNvPr id="198" name="Google Shape;198;g123d31d1acb_0_251"/>
          <p:cNvSpPr txBox="1">
            <a:spLocks noGrp="1"/>
          </p:cNvSpPr>
          <p:nvPr>
            <p:ph type="body" idx="1"/>
          </p:nvPr>
        </p:nvSpPr>
        <p:spPr>
          <a:xfrm>
            <a:off x="251346" y="1211913"/>
            <a:ext cx="9462300" cy="547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37"/>
          <p:cNvSpPr/>
          <p:nvPr/>
        </p:nvSpPr>
        <p:spPr>
          <a:xfrm>
            <a:off x="540879" y="5944936"/>
            <a:ext cx="5352343" cy="921076"/>
          </a:xfrm>
          <a:custGeom>
            <a:avLst/>
            <a:gdLst/>
            <a:ahLst/>
            <a:cxnLst/>
            <a:rect l="l" t="t" r="r" b="b"/>
            <a:pathLst>
              <a:path w="7485" h="337" extrusionOk="0">
                <a:moveTo>
                  <a:pt x="0" y="2"/>
                </a:moveTo>
                <a:lnTo>
                  <a:pt x="7485" y="337"/>
                </a:lnTo>
                <a:lnTo>
                  <a:pt x="5558" y="337"/>
                </a:lnTo>
                <a:lnTo>
                  <a:pt x="1" y="0"/>
                </a:lnTo>
              </a:path>
            </a:pathLst>
          </a:custGeom>
          <a:solidFill>
            <a:srgbClr val="9CCADC">
              <a:alpha val="4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10" name="Google Shape;10;p37"/>
          <p:cNvSpPr/>
          <p:nvPr/>
        </p:nvSpPr>
        <p:spPr>
          <a:xfrm>
            <a:off x="526194" y="5939011"/>
            <a:ext cx="3997989" cy="933450"/>
          </a:xfrm>
          <a:custGeom>
            <a:avLst/>
            <a:gdLst/>
            <a:ahLst/>
            <a:cxnLst/>
            <a:rect l="l" t="t" r="r" b="b"/>
            <a:pathLst>
              <a:path w="5591" h="588" extrusionOk="0">
                <a:moveTo>
                  <a:pt x="0" y="0"/>
                </a:moveTo>
                <a:lnTo>
                  <a:pt x="5591" y="585"/>
                </a:lnTo>
                <a:lnTo>
                  <a:pt x="4415" y="588"/>
                </a:lnTo>
                <a:lnTo>
                  <a:pt x="12" y="4"/>
                </a:lnTo>
              </a:path>
            </a:pathLst>
          </a:custGeom>
          <a:solidFill>
            <a:srgbClr val="00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11" name="Google Shape;11;p37"/>
          <p:cNvSpPr/>
          <p:nvPr/>
        </p:nvSpPr>
        <p:spPr>
          <a:xfrm>
            <a:off x="-6545" y="5791253"/>
            <a:ext cx="3685840" cy="1080868"/>
          </a:xfrm>
          <a:prstGeom prst="rtTriangle">
            <a:avLst/>
          </a:prstGeom>
          <a:blipFill rotWithShape="1">
            <a:blip r:embed="rId16">
              <a:alphaModFix amt="50000"/>
            </a:blip>
            <a:tile tx="0" ty="0" sx="50000" sy="50000" flip="none" algn="t"/>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cxnSp>
        <p:nvCxnSpPr>
          <p:cNvPr id="12" name="Google Shape;12;p37"/>
          <p:cNvCxnSpPr/>
          <p:nvPr/>
        </p:nvCxnSpPr>
        <p:spPr>
          <a:xfrm>
            <a:off x="-10006" y="5787739"/>
            <a:ext cx="3689301" cy="1084383"/>
          </a:xfrm>
          <a:prstGeom prst="straightConnector1">
            <a:avLst/>
          </a:prstGeom>
          <a:noFill/>
          <a:ln w="12050" cap="flat" cmpd="sng">
            <a:solidFill>
              <a:srgbClr val="93C5D8"/>
            </a:solidFill>
            <a:prstDash val="solid"/>
            <a:miter lim="800000"/>
            <a:headEnd type="none" w="sm" len="sm"/>
            <a:tailEnd type="none" w="sm" len="sm"/>
          </a:ln>
        </p:spPr>
      </p:cxnSp>
      <p:sp>
        <p:nvSpPr>
          <p:cNvPr id="13" name="Google Shape;13;p37"/>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dk2"/>
              </a:buClr>
              <a:buSzPts val="4100"/>
              <a:buFont typeface="Lucida Sans"/>
              <a:buNone/>
              <a:defRPr sz="4100" b="1" i="0" u="none" strike="noStrike" cap="none">
                <a:solidFill>
                  <a:schemeClr val="dk2"/>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37"/>
          <p:cNvSpPr txBox="1">
            <a:spLocks noGrp="1"/>
          </p:cNvSpPr>
          <p:nvPr>
            <p:ph type="body" idx="1"/>
          </p:nvPr>
        </p:nvSpPr>
        <p:spPr>
          <a:xfrm>
            <a:off x="495300" y="1481329"/>
            <a:ext cx="8915400" cy="4525963"/>
          </a:xfrm>
          <a:prstGeom prst="rect">
            <a:avLst/>
          </a:prstGeom>
          <a:noFill/>
          <a:ln>
            <a:noFill/>
          </a:ln>
        </p:spPr>
        <p:txBody>
          <a:bodyPr spcFirstLastPara="1" wrap="square" lIns="91425" tIns="45700" rIns="91425" bIns="45700" anchor="t" anchorCtr="0">
            <a:normAutofit/>
          </a:bodyPr>
          <a:lstStyle>
            <a:lvl1pPr marL="457200" marR="0" lvl="0" indent="-345186" algn="l" rtl="0">
              <a:lnSpc>
                <a:spcPct val="100000"/>
              </a:lnSpc>
              <a:spcBef>
                <a:spcPts val="400"/>
              </a:spcBef>
              <a:spcAft>
                <a:spcPts val="0"/>
              </a:spcAft>
              <a:buClr>
                <a:schemeClr val="accent1"/>
              </a:buClr>
              <a:buSzPts val="1836"/>
              <a:buFont typeface="Noto Sans Symbols"/>
              <a:buChar char="🞂"/>
              <a:defRPr sz="2700" b="0" i="0" u="none" strike="noStrike" cap="none">
                <a:solidFill>
                  <a:schemeClr val="dk1"/>
                </a:solidFill>
                <a:latin typeface="Lucida Sans"/>
                <a:ea typeface="Lucida Sans"/>
                <a:cs typeface="Lucida Sans"/>
                <a:sym typeface="Lucida Sans"/>
              </a:defRPr>
            </a:lvl1pPr>
            <a:lvl2pPr marL="914400" marR="0" lvl="1" indent="-374650" algn="l" rtl="0">
              <a:lnSpc>
                <a:spcPct val="100000"/>
              </a:lnSpc>
              <a:spcBef>
                <a:spcPts val="324"/>
              </a:spcBef>
              <a:spcAft>
                <a:spcPts val="0"/>
              </a:spcAft>
              <a:buClr>
                <a:schemeClr val="accent1"/>
              </a:buClr>
              <a:buSzPts val="2300"/>
              <a:buFont typeface="Verdana"/>
              <a:buChar char="◦"/>
              <a:defRPr sz="2300" b="0" i="0" u="none" strike="noStrike" cap="none">
                <a:solidFill>
                  <a:schemeClr val="dk1"/>
                </a:solidFill>
                <a:latin typeface="Lucida Sans"/>
                <a:ea typeface="Lucida Sans"/>
                <a:cs typeface="Lucida Sans"/>
                <a:sym typeface="Lucida Sans"/>
              </a:defRPr>
            </a:lvl2pPr>
            <a:lvl3pPr marL="1371600" marR="0" lvl="2" indent="-361950" algn="l" rtl="0">
              <a:lnSpc>
                <a:spcPct val="100000"/>
              </a:lnSpc>
              <a:spcBef>
                <a:spcPts val="350"/>
              </a:spcBef>
              <a:spcAft>
                <a:spcPts val="0"/>
              </a:spcAft>
              <a:buClr>
                <a:schemeClr val="accent2"/>
              </a:buClr>
              <a:buSzPts val="2100"/>
              <a:buFont typeface="Noto Sans Symbols"/>
              <a:buChar char="●"/>
              <a:defRPr sz="2100" b="0" i="0" u="none" strike="noStrike" cap="none">
                <a:solidFill>
                  <a:schemeClr val="dk1"/>
                </a:solidFill>
                <a:latin typeface="Lucida Sans"/>
                <a:ea typeface="Lucida Sans"/>
                <a:cs typeface="Lucida Sans"/>
                <a:sym typeface="Lucida Sans"/>
              </a:defRPr>
            </a:lvl3pPr>
            <a:lvl4pPr marL="1828800" marR="0" lvl="3" indent="-349250" algn="l" rtl="0">
              <a:lnSpc>
                <a:spcPct val="100000"/>
              </a:lnSpc>
              <a:spcBef>
                <a:spcPts val="350"/>
              </a:spcBef>
              <a:spcAft>
                <a:spcPts val="0"/>
              </a:spcAft>
              <a:buClr>
                <a:schemeClr val="accent2"/>
              </a:buClr>
              <a:buSzPts val="1900"/>
              <a:buFont typeface="Noto Sans Symbols"/>
              <a:buChar char="●"/>
              <a:defRPr sz="1900" b="0" i="0" u="none" strike="noStrike" cap="none">
                <a:solidFill>
                  <a:schemeClr val="dk1"/>
                </a:solidFill>
                <a:latin typeface="Lucida Sans"/>
                <a:ea typeface="Lucida Sans"/>
                <a:cs typeface="Lucida Sans"/>
                <a:sym typeface="Lucida Sans"/>
              </a:defRPr>
            </a:lvl4pPr>
            <a:lvl5pPr marL="2286000" marR="0" lvl="4" indent="-342900" algn="l" rtl="0">
              <a:lnSpc>
                <a:spcPct val="100000"/>
              </a:lnSpc>
              <a:spcBef>
                <a:spcPts val="350"/>
              </a:spcBef>
              <a:spcAft>
                <a:spcPts val="0"/>
              </a:spcAft>
              <a:buClr>
                <a:schemeClr val="accent2"/>
              </a:buClr>
              <a:buSzPts val="1800"/>
              <a:buFont typeface="Noto Sans Symbols"/>
              <a:buChar char="●"/>
              <a:defRPr sz="1800" b="0" i="0" u="none" strike="noStrike" cap="none">
                <a:solidFill>
                  <a:schemeClr val="dk1"/>
                </a:solidFill>
                <a:latin typeface="Lucida Sans"/>
                <a:ea typeface="Lucida Sans"/>
                <a:cs typeface="Lucida Sans"/>
                <a:sym typeface="Lucida Sans"/>
              </a:defRPr>
            </a:lvl5pPr>
            <a:lvl6pPr marL="2743200" marR="0" lvl="5" indent="-342900" algn="l" rtl="0">
              <a:lnSpc>
                <a:spcPct val="100000"/>
              </a:lnSpc>
              <a:spcBef>
                <a:spcPts val="350"/>
              </a:spcBef>
              <a:spcAft>
                <a:spcPts val="0"/>
              </a:spcAft>
              <a:buClr>
                <a:schemeClr val="accent3"/>
              </a:buClr>
              <a:buSzPts val="1800"/>
              <a:buFont typeface="Noto Sans Symbols"/>
              <a:buChar char="■"/>
              <a:defRPr sz="1800" b="0" i="0" u="none" strike="noStrike" cap="none">
                <a:solidFill>
                  <a:schemeClr val="dk1"/>
                </a:solidFill>
                <a:latin typeface="Lucida Sans"/>
                <a:ea typeface="Lucida Sans"/>
                <a:cs typeface="Lucida Sans"/>
                <a:sym typeface="Lucida Sans"/>
              </a:defRPr>
            </a:lvl6pPr>
            <a:lvl7pPr marL="3200400" marR="0" lvl="6"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7pPr>
            <a:lvl8pPr marL="3657600" marR="0" lvl="7"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8pPr>
            <a:lvl9pPr marL="4114800" marR="0" lvl="8" indent="-330200" algn="l" rtl="0">
              <a:lnSpc>
                <a:spcPct val="100000"/>
              </a:lnSpc>
              <a:spcBef>
                <a:spcPts val="350"/>
              </a:spcBef>
              <a:spcAft>
                <a:spcPts val="0"/>
              </a:spcAft>
              <a:buClr>
                <a:schemeClr val="accent3"/>
              </a:buClr>
              <a:buSzPts val="1600"/>
              <a:buFont typeface="Noto Sans Symbols"/>
              <a:buChar char="■"/>
              <a:defRPr sz="1600" b="0" i="0" u="none" strike="noStrike" cap="none">
                <a:solidFill>
                  <a:schemeClr val="dk1"/>
                </a:solidFill>
                <a:latin typeface="Lucida Sans"/>
                <a:ea typeface="Lucida Sans"/>
                <a:cs typeface="Lucida Sans"/>
                <a:sym typeface="Lucida Sans"/>
              </a:defRPr>
            </a:lvl9pPr>
          </a:lstStyle>
          <a:p>
            <a:endParaRPr/>
          </a:p>
        </p:txBody>
      </p:sp>
      <p:sp>
        <p:nvSpPr>
          <p:cNvPr id="15" name="Google Shape;15;p37"/>
          <p:cNvSpPr txBox="1">
            <a:spLocks noGrp="1"/>
          </p:cNvSpPr>
          <p:nvPr>
            <p:ph type="dt" idx="10"/>
          </p:nvPr>
        </p:nvSpPr>
        <p:spPr>
          <a:xfrm>
            <a:off x="7287618" y="6407944"/>
            <a:ext cx="2080260" cy="36576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9pPr>
          </a:lstStyle>
          <a:p>
            <a:endParaRPr/>
          </a:p>
        </p:txBody>
      </p:sp>
      <p:sp>
        <p:nvSpPr>
          <p:cNvPr id="16" name="Google Shape;16;p37"/>
          <p:cNvSpPr txBox="1">
            <a:spLocks noGrp="1"/>
          </p:cNvSpPr>
          <p:nvPr>
            <p:ph type="ftr" idx="11"/>
          </p:nvPr>
        </p:nvSpPr>
        <p:spPr>
          <a:xfrm>
            <a:off x="4745079" y="6407945"/>
            <a:ext cx="2546571" cy="365125"/>
          </a:xfrm>
          <a:prstGeom prst="rect">
            <a:avLst/>
          </a:prstGeom>
          <a:noFill/>
          <a:ln>
            <a:noFill/>
          </a:ln>
        </p:spPr>
        <p:txBody>
          <a:bodyPr spcFirstLastPara="1" wrap="square" lIns="91425" tIns="45700" rIns="91425" bIns="45700" anchor="b"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Lucida Sans"/>
                <a:ea typeface="Lucida Sans"/>
                <a:cs typeface="Lucida Sans"/>
                <a:sym typeface="Lucid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ucida Sans"/>
                <a:ea typeface="Lucida Sans"/>
                <a:cs typeface="Lucida Sans"/>
                <a:sym typeface="Lucida Sans"/>
              </a:defRPr>
            </a:lvl9pPr>
          </a:lstStyle>
          <a:p>
            <a:endParaRPr/>
          </a:p>
        </p:txBody>
      </p:sp>
      <p:sp>
        <p:nvSpPr>
          <p:cNvPr id="17" name="Google Shape;17;p37"/>
          <p:cNvSpPr txBox="1">
            <a:spLocks noGrp="1"/>
          </p:cNvSpPr>
          <p:nvPr>
            <p:ph type="sldNum" idx="12"/>
          </p:nvPr>
        </p:nvSpPr>
        <p:spPr>
          <a:xfrm>
            <a:off x="9367878" y="6407945"/>
            <a:ext cx="396240" cy="365125"/>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Lucida Sans"/>
                <a:ea typeface="Lucida Sans"/>
                <a:cs typeface="Lucida Sans"/>
                <a:sym typeface="Lucida Sans"/>
              </a:defRPr>
            </a:lvl9pPr>
          </a:lstStyle>
          <a:p>
            <a:pPr marL="0" lvl="0" indent="0" algn="r" rtl="0">
              <a:spcBef>
                <a:spcPts val="0"/>
              </a:spcBef>
              <a:spcAft>
                <a:spcPts val="0"/>
              </a:spcAft>
              <a:buNone/>
            </a:pPr>
            <a:fld id="{00000000-1234-1234-1234-123412341234}" type="slidenum">
              <a:rPr lang="en-US"/>
              <a:t>‹#›</a:t>
            </a:fld>
            <a:endParaRPr/>
          </a:p>
        </p:txBody>
      </p:sp>
      <p:pic>
        <p:nvPicPr>
          <p:cNvPr id="18" name="Google Shape;18;p37" descr="images.jpg"/>
          <p:cNvPicPr preferRelativeResize="0"/>
          <p:nvPr/>
        </p:nvPicPr>
        <p:blipFill rotWithShape="1">
          <a:blip r:embed="rId17">
            <a:alphaModFix/>
          </a:blip>
          <a:srcRect/>
          <a:stretch/>
        </p:blipFill>
        <p:spPr>
          <a:xfrm>
            <a:off x="6667512" y="1"/>
            <a:ext cx="3238488" cy="11658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
        <p:cNvGrpSpPr/>
        <p:nvPr/>
      </p:nvGrpSpPr>
      <p:grpSpPr>
        <a:xfrm>
          <a:off x="0" y="0"/>
          <a:ext cx="0" cy="0"/>
          <a:chOff x="0" y="0"/>
          <a:chExt cx="0" cy="0"/>
        </a:xfrm>
      </p:grpSpPr>
      <p:sp>
        <p:nvSpPr>
          <p:cNvPr id="114" name="Google Shape;114;g123d31d1acb_0_170"/>
          <p:cNvSpPr txBox="1">
            <a:spLocks noGrp="1"/>
          </p:cNvSpPr>
          <p:nvPr>
            <p:ph type="title"/>
          </p:nvPr>
        </p:nvSpPr>
        <p:spPr>
          <a:xfrm>
            <a:off x="681038" y="365126"/>
            <a:ext cx="85440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5" name="Google Shape;115;g123d31d1acb_0_170"/>
          <p:cNvSpPr txBox="1">
            <a:spLocks noGrp="1"/>
          </p:cNvSpPr>
          <p:nvPr>
            <p:ph type="body" idx="1"/>
          </p:nvPr>
        </p:nvSpPr>
        <p:spPr>
          <a:xfrm>
            <a:off x="681038" y="1825625"/>
            <a:ext cx="85440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6" name="Google Shape;116;g123d31d1acb_0_170"/>
          <p:cNvSpPr txBox="1">
            <a:spLocks noGrp="1"/>
          </p:cNvSpPr>
          <p:nvPr>
            <p:ph type="dt" idx="10"/>
          </p:nvPr>
        </p:nvSpPr>
        <p:spPr>
          <a:xfrm>
            <a:off x="681038" y="6356351"/>
            <a:ext cx="22287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7" name="Google Shape;117;g123d31d1acb_0_170"/>
          <p:cNvSpPr txBox="1">
            <a:spLocks noGrp="1"/>
          </p:cNvSpPr>
          <p:nvPr>
            <p:ph type="ftr" idx="11"/>
          </p:nvPr>
        </p:nvSpPr>
        <p:spPr>
          <a:xfrm>
            <a:off x="3281363" y="6356351"/>
            <a:ext cx="33432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g123d31d1acb_0_170"/>
          <p:cNvSpPr txBox="1">
            <a:spLocks noGrp="1"/>
          </p:cNvSpPr>
          <p:nvPr>
            <p:ph type="sldNum" idx="12"/>
          </p:nvPr>
        </p:nvSpPr>
        <p:spPr>
          <a:xfrm>
            <a:off x="6996113" y="6356351"/>
            <a:ext cx="22287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4.jpg"/><Relationship Id="rId4" Type="http://schemas.openxmlformats.org/officeDocument/2006/relationships/image" Target="../media/image23.jp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2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 descr="https://encrypted-tbn2.gstatic.com/images?q=tbn:ANd9GcRcyGsKQFbNE159vcUw6iMcDisELRoVKzvai6d3iJrA-_BtH5dgBw"/>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pic>
        <p:nvPicPr>
          <p:cNvPr id="206" name="Google Shape;206;p1" descr="images.jpg"/>
          <p:cNvPicPr preferRelativeResize="0"/>
          <p:nvPr/>
        </p:nvPicPr>
        <p:blipFill rotWithShape="1">
          <a:blip r:embed="rId3">
            <a:alphaModFix/>
          </a:blip>
          <a:srcRect l="11057" t="16025" r="10335" b="11856"/>
          <a:stretch/>
        </p:blipFill>
        <p:spPr>
          <a:xfrm>
            <a:off x="2381232" y="1968455"/>
            <a:ext cx="4633512" cy="1530335"/>
          </a:xfrm>
          <a:prstGeom prst="rect">
            <a:avLst/>
          </a:prstGeom>
          <a:noFill/>
          <a:ln>
            <a:noFill/>
          </a:ln>
        </p:spPr>
      </p:pic>
      <p:sp>
        <p:nvSpPr>
          <p:cNvPr id="207" name="Google Shape;207;p1"/>
          <p:cNvSpPr txBox="1"/>
          <p:nvPr/>
        </p:nvSpPr>
        <p:spPr>
          <a:xfrm>
            <a:off x="2381232" y="3998856"/>
            <a:ext cx="6143700" cy="16161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1800"/>
              <a:buFont typeface="Arial"/>
              <a:buNone/>
            </a:pPr>
            <a:r>
              <a:rPr lang="en-US" sz="1800" b="1" i="0" u="none" strike="noStrike" cap="none">
                <a:solidFill>
                  <a:schemeClr val="dk1"/>
                </a:solidFill>
                <a:latin typeface="Lucida Sans"/>
                <a:ea typeface="Lucida Sans"/>
                <a:cs typeface="Lucida Sans"/>
                <a:sym typeface="Lucida Sans"/>
              </a:rPr>
              <a:t>INGENIERIA INDUSTRIAL</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en-US" sz="1800" b="1" i="0" u="none" strike="noStrike" cap="none">
                <a:solidFill>
                  <a:schemeClr val="dk1"/>
                </a:solidFill>
                <a:latin typeface="Lucida Sans"/>
                <a:ea typeface="Lucida Sans"/>
                <a:cs typeface="Lucida Sans"/>
                <a:sym typeface="Lucida Sans"/>
              </a:rPr>
              <a:t>CÁTEDRA RELACIONES INDUSTRIALES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en-US" sz="1800" b="1" i="0" u="none" strike="noStrike" cap="none">
                <a:solidFill>
                  <a:schemeClr val="dk1"/>
                </a:solidFill>
                <a:latin typeface="Lucida Sans"/>
                <a:ea typeface="Lucida Sans"/>
                <a:cs typeface="Lucida Sans"/>
                <a:sym typeface="Lucida Sans"/>
              </a:rPr>
              <a:t>CLASE 5 - CULTURA, CLIMA ORGANIZACIONAL Y CONTRATO PSICOLÓGICO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
          <p:cNvSpPr/>
          <p:nvPr/>
        </p:nvSpPr>
        <p:spPr>
          <a:xfrm>
            <a:off x="2256906" y="3171416"/>
            <a:ext cx="6194400" cy="428700"/>
          </a:xfrm>
          <a:prstGeom prst="roundRect">
            <a:avLst>
              <a:gd name="adj" fmla="val 16667"/>
            </a:avLst>
          </a:prstGeom>
          <a:solidFill>
            <a:srgbClr val="D8D8D8"/>
          </a:solidFill>
          <a:ln>
            <a:noFill/>
          </a:ln>
          <a:effectLst>
            <a:outerShdw blurRad="149987" dist="250190" dir="8460000" algn="ctr">
              <a:srgbClr val="000000">
                <a:alpha val="26274"/>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Clima Organizacional</a:t>
            </a:r>
            <a:endParaRPr sz="1400" b="0" i="0" u="none" strike="noStrike" cap="none">
              <a:solidFill>
                <a:srgbClr val="000000"/>
              </a:solidFill>
              <a:latin typeface="Arial"/>
              <a:ea typeface="Arial"/>
              <a:cs typeface="Arial"/>
              <a:sym typeface="Arial"/>
            </a:endParaRPr>
          </a:p>
        </p:txBody>
      </p:sp>
      <p:sp>
        <p:nvSpPr>
          <p:cNvPr id="213" name="Google Shape;213;p3"/>
          <p:cNvSpPr/>
          <p:nvPr/>
        </p:nvSpPr>
        <p:spPr>
          <a:xfrm>
            <a:off x="2042592" y="3171416"/>
            <a:ext cx="571500" cy="428700"/>
          </a:xfrm>
          <a:prstGeom prst="ellipse">
            <a:avLst/>
          </a:prstGeom>
          <a:solidFill>
            <a:srgbClr val="909090"/>
          </a:solidFill>
          <a:ln>
            <a:noFill/>
          </a:ln>
          <a:effectLst>
            <a:outerShdw blurRad="44450" dist="27940" dir="5400000" algn="ctr">
              <a:srgbClr val="000000">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214" name="Google Shape;214;p3"/>
          <p:cNvSpPr/>
          <p:nvPr/>
        </p:nvSpPr>
        <p:spPr>
          <a:xfrm>
            <a:off x="2256906" y="3814358"/>
            <a:ext cx="6194400" cy="428700"/>
          </a:xfrm>
          <a:prstGeom prst="roundRect">
            <a:avLst>
              <a:gd name="adj" fmla="val 16667"/>
            </a:avLst>
          </a:prstGeom>
          <a:solidFill>
            <a:srgbClr val="D8D8D8"/>
          </a:solidFill>
          <a:ln>
            <a:noFill/>
          </a:ln>
          <a:effectLst>
            <a:outerShdw blurRad="149987" dist="250190" dir="8460000" algn="ctr">
              <a:srgbClr val="000000">
                <a:alpha val="26666"/>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Contrato Psicológico</a:t>
            </a:r>
            <a:endParaRPr sz="1400" b="0" i="0" u="none" strike="noStrike" cap="none">
              <a:solidFill>
                <a:srgbClr val="000000"/>
              </a:solidFill>
              <a:latin typeface="Arial"/>
              <a:ea typeface="Arial"/>
              <a:cs typeface="Arial"/>
              <a:sym typeface="Arial"/>
            </a:endParaRPr>
          </a:p>
        </p:txBody>
      </p:sp>
      <p:sp>
        <p:nvSpPr>
          <p:cNvPr id="215" name="Google Shape;215;p3"/>
          <p:cNvSpPr/>
          <p:nvPr/>
        </p:nvSpPr>
        <p:spPr>
          <a:xfrm>
            <a:off x="2042592" y="3814358"/>
            <a:ext cx="571500" cy="428700"/>
          </a:xfrm>
          <a:prstGeom prst="ellipse">
            <a:avLst/>
          </a:prstGeom>
          <a:solidFill>
            <a:srgbClr val="909090"/>
          </a:solidFill>
          <a:ln>
            <a:noFill/>
          </a:ln>
          <a:effectLst>
            <a:outerShdw blurRad="44450" dist="27940" dir="5400000" algn="ctr">
              <a:srgbClr val="000000">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216" name="Google Shape;216;p3"/>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chemeClr val="accent4"/>
                </a:solidFill>
                <a:latin typeface="Lucida Sans"/>
                <a:ea typeface="Lucida Sans"/>
                <a:cs typeface="Lucida Sans"/>
                <a:sym typeface="Lucida Sans"/>
              </a:rPr>
              <a:t>Agenda</a:t>
            </a:r>
            <a:endParaRPr sz="1700" b="1" i="0" u="none" strike="noStrike" cap="none">
              <a:solidFill>
                <a:schemeClr val="accent4"/>
              </a:solidFill>
              <a:latin typeface="Lucida Sans"/>
              <a:ea typeface="Lucida Sans"/>
              <a:cs typeface="Lucida Sans"/>
              <a:sym typeface="Lucida Sans"/>
            </a:endParaRPr>
          </a:p>
        </p:txBody>
      </p:sp>
      <p:sp>
        <p:nvSpPr>
          <p:cNvPr id="217" name="Google Shape;217;p3"/>
          <p:cNvSpPr/>
          <p:nvPr/>
        </p:nvSpPr>
        <p:spPr>
          <a:xfrm>
            <a:off x="2256906" y="2528474"/>
            <a:ext cx="6194400" cy="428700"/>
          </a:xfrm>
          <a:prstGeom prst="roundRect">
            <a:avLst>
              <a:gd name="adj" fmla="val 16667"/>
            </a:avLst>
          </a:prstGeom>
          <a:solidFill>
            <a:srgbClr val="C9EEF6"/>
          </a:solidFill>
          <a:ln>
            <a:noFill/>
          </a:ln>
          <a:effectLst>
            <a:outerShdw blurRad="149987" dist="250190" dir="8460000" algn="ctr">
              <a:srgbClr val="000000">
                <a:alpha val="26274"/>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Cultura Organizacional</a:t>
            </a:r>
            <a:endParaRPr sz="1400" b="0" i="0" u="none" strike="noStrike" cap="none">
              <a:solidFill>
                <a:srgbClr val="000000"/>
              </a:solidFill>
              <a:latin typeface="Arial"/>
              <a:ea typeface="Arial"/>
              <a:cs typeface="Arial"/>
              <a:sym typeface="Arial"/>
            </a:endParaRPr>
          </a:p>
        </p:txBody>
      </p:sp>
      <p:sp>
        <p:nvSpPr>
          <p:cNvPr id="218" name="Google Shape;218;p3"/>
          <p:cNvSpPr/>
          <p:nvPr/>
        </p:nvSpPr>
        <p:spPr>
          <a:xfrm>
            <a:off x="2042592" y="2528474"/>
            <a:ext cx="571500" cy="428700"/>
          </a:xfrm>
          <a:prstGeom prst="ellipse">
            <a:avLst/>
          </a:prstGeom>
          <a:solidFill>
            <a:schemeClr val="accent4"/>
          </a:solidFill>
          <a:ln>
            <a:noFill/>
          </a:ln>
          <a:effectLst>
            <a:outerShdw blurRad="44450" dist="27940" dir="5400000" algn="ctr">
              <a:srgbClr val="000000">
                <a:alpha val="3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219" name="Google Shape;219;p3"/>
          <p:cNvSpPr/>
          <p:nvPr/>
        </p:nvSpPr>
        <p:spPr>
          <a:xfrm>
            <a:off x="1034480" y="2513084"/>
            <a:ext cx="864000" cy="428700"/>
          </a:xfrm>
          <a:prstGeom prst="stripedRightArrow">
            <a:avLst>
              <a:gd name="adj1" fmla="val 50000"/>
              <a:gd name="adj2" fmla="val 50000"/>
            </a:avLst>
          </a:prstGeom>
          <a:solidFill>
            <a:schemeClr val="accent1"/>
          </a:solidFill>
          <a:ln w="63500" cap="flat" cmpd="thickThin">
            <a:solidFill>
              <a:schemeClr val="lt1"/>
            </a:solidFill>
            <a:prstDash val="solid"/>
            <a:round/>
            <a:headEnd type="none" w="sm" len="sm"/>
            <a:tailEnd type="none" w="sm" len="sm"/>
          </a:ln>
          <a:effectLst>
            <a:outerShdw blurRad="50800" dist="38100" dir="5400000" rotWithShape="0">
              <a:srgbClr val="000000">
                <a:alpha val="3333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125aeca6ef6_0_0"/>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chemeClr val="accent4"/>
                </a:solidFill>
                <a:latin typeface="Lucida Sans"/>
                <a:ea typeface="Lucida Sans"/>
                <a:cs typeface="Lucida Sans"/>
                <a:sym typeface="Lucida Sans"/>
              </a:rPr>
              <a:t>Cultura Organizacional</a:t>
            </a:r>
            <a:endParaRPr sz="1700" b="1" i="0" u="none" strike="noStrike" cap="none">
              <a:solidFill>
                <a:schemeClr val="accent4"/>
              </a:solidFill>
              <a:latin typeface="Lucida Sans"/>
              <a:ea typeface="Lucida Sans"/>
              <a:cs typeface="Lucida Sans"/>
              <a:sym typeface="Lucida Sans"/>
            </a:endParaRPr>
          </a:p>
        </p:txBody>
      </p:sp>
      <p:pic>
        <p:nvPicPr>
          <p:cNvPr id="225" name="Google Shape;225;g125aeca6ef6_0_0" descr="C:\Users\USUARIO\Desktop\UTN RELACIONES INDUSTRIALES\CASOS\Cultura.jpeg"/>
          <p:cNvPicPr preferRelativeResize="0"/>
          <p:nvPr/>
        </p:nvPicPr>
        <p:blipFill>
          <a:blip r:embed="rId3">
            <a:alphaModFix/>
          </a:blip>
          <a:stretch>
            <a:fillRect/>
          </a:stretch>
        </p:blipFill>
        <p:spPr>
          <a:xfrm>
            <a:off x="2778775" y="1502675"/>
            <a:ext cx="4136525" cy="4532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pic>
        <p:nvPicPr>
          <p:cNvPr id="230" name="Google Shape;230;g123d31d1acb_0_24"/>
          <p:cNvPicPr preferRelativeResize="0"/>
          <p:nvPr/>
        </p:nvPicPr>
        <p:blipFill rotWithShape="1">
          <a:blip r:embed="rId3">
            <a:alphaModFix/>
          </a:blip>
          <a:srcRect/>
          <a:stretch/>
        </p:blipFill>
        <p:spPr>
          <a:xfrm>
            <a:off x="7467600" y="4502676"/>
            <a:ext cx="2143125" cy="2143125"/>
          </a:xfrm>
          <a:prstGeom prst="rect">
            <a:avLst/>
          </a:prstGeom>
          <a:noFill/>
          <a:ln>
            <a:noFill/>
          </a:ln>
        </p:spPr>
      </p:pic>
      <p:sp>
        <p:nvSpPr>
          <p:cNvPr id="231" name="Google Shape;231;g123d31d1acb_0_24"/>
          <p:cNvSpPr txBox="1"/>
          <p:nvPr/>
        </p:nvSpPr>
        <p:spPr>
          <a:xfrm>
            <a:off x="1009650" y="2038350"/>
            <a:ext cx="7955400" cy="1723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La </a:t>
            </a:r>
            <a:r>
              <a:rPr lang="en-US" sz="2000" b="1" i="0" u="none" strike="noStrike" cap="none">
                <a:solidFill>
                  <a:schemeClr val="dk1"/>
                </a:solidFill>
                <a:latin typeface="Lucida Sans"/>
                <a:ea typeface="Lucida Sans"/>
                <a:cs typeface="Lucida Sans"/>
                <a:sym typeface="Lucida Sans"/>
              </a:rPr>
              <a:t>cultura organizacional</a:t>
            </a:r>
            <a:r>
              <a:rPr lang="en-US" sz="2000" b="0" i="0" u="none" strike="noStrike" cap="none">
                <a:solidFill>
                  <a:schemeClr val="dk1"/>
                </a:solidFill>
                <a:latin typeface="Lucida Sans"/>
                <a:ea typeface="Lucida Sans"/>
                <a:cs typeface="Lucida Sans"/>
                <a:sym typeface="Lucida Sans"/>
              </a:rPr>
              <a:t> se define como un conjunto de normas, hábitos y valores que comparten las personas que colaboran en una empresa, los cuales crean un sentido de pertenencia hacia la organización, además de favorecer la integración entre individuos.</a:t>
            </a:r>
            <a:endParaRPr sz="2200" b="0" i="0" u="none" strike="noStrike" cap="none">
              <a:solidFill>
                <a:srgbClr val="000000"/>
              </a:solidFill>
              <a:latin typeface="Lucida Sans"/>
              <a:ea typeface="Lucida Sans"/>
              <a:cs typeface="Lucida Sans"/>
              <a:sym typeface="Lucida Sans"/>
            </a:endParaRPr>
          </a:p>
        </p:txBody>
      </p:sp>
      <p:sp>
        <p:nvSpPr>
          <p:cNvPr id="232" name="Google Shape;232;g123d31d1acb_0_24"/>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chemeClr val="accent4"/>
                </a:solidFill>
                <a:latin typeface="Lucida Sans"/>
                <a:ea typeface="Lucida Sans"/>
                <a:cs typeface="Lucida Sans"/>
                <a:sym typeface="Lucida Sans"/>
              </a:rPr>
              <a:t>Cultura Organizacional</a:t>
            </a:r>
            <a:endParaRPr sz="1700" b="1" i="0" u="none" strike="noStrike" cap="none">
              <a:solidFill>
                <a:schemeClr val="accent4"/>
              </a:solidFill>
              <a:latin typeface="Lucida Sans"/>
              <a:ea typeface="Lucida Sans"/>
              <a:cs typeface="Lucida Sans"/>
              <a:sym typeface="Lucid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123d31d1acb_0_152"/>
          <p:cNvSpPr txBox="1"/>
          <p:nvPr/>
        </p:nvSpPr>
        <p:spPr>
          <a:xfrm>
            <a:off x="189413" y="1250685"/>
            <a:ext cx="95577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Lucida Sans"/>
                <a:ea typeface="Lucida Sans"/>
                <a:cs typeface="Lucida Sans"/>
                <a:sym typeface="Lucida Sans"/>
              </a:rPr>
              <a:t>Cultura: </a:t>
            </a:r>
            <a:r>
              <a:rPr lang="en-US" sz="2000" b="0" i="0" u="none" strike="noStrike" cap="none">
                <a:solidFill>
                  <a:schemeClr val="dk1"/>
                </a:solidFill>
                <a:latin typeface="Lucida Sans"/>
                <a:ea typeface="Lucida Sans"/>
                <a:cs typeface="Lucida Sans"/>
                <a:sym typeface="Lucida Sans"/>
              </a:rPr>
              <a:t>es lo que las personas crean a partir de los mensajes recibidos acerca de </a:t>
            </a:r>
            <a:r>
              <a:rPr lang="en-US" sz="2000" b="1" i="0" u="none" strike="noStrike" cap="none">
                <a:solidFill>
                  <a:srgbClr val="0000FF"/>
                </a:solidFill>
                <a:latin typeface="Lucida Sans"/>
                <a:ea typeface="Lucida Sans"/>
                <a:cs typeface="Lucida Sans"/>
                <a:sym typeface="Lucida Sans"/>
              </a:rPr>
              <a:t>cómo se espera que se comporten</a:t>
            </a:r>
            <a:endParaRPr sz="2000" b="0" i="0" u="none" strike="noStrike" cap="none">
              <a:solidFill>
                <a:schemeClr val="dk1"/>
              </a:solidFill>
              <a:latin typeface="Lucida Sans"/>
              <a:ea typeface="Lucida Sans"/>
              <a:cs typeface="Lucida Sans"/>
              <a:sym typeface="Lucida Sans"/>
            </a:endParaRPr>
          </a:p>
        </p:txBody>
      </p:sp>
      <p:sp>
        <p:nvSpPr>
          <p:cNvPr id="239" name="Google Shape;239;g123d31d1acb_0_152"/>
          <p:cNvSpPr txBox="1"/>
          <p:nvPr/>
        </p:nvSpPr>
        <p:spPr>
          <a:xfrm>
            <a:off x="710051" y="3138575"/>
            <a:ext cx="2795100" cy="3478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2000" b="0" i="0" u="none" strike="noStrike" cap="none">
                <a:solidFill>
                  <a:schemeClr val="dk1"/>
                </a:solidFill>
                <a:latin typeface="Lucida Sans"/>
                <a:ea typeface="Lucida Sans"/>
                <a:cs typeface="Lucida Sans"/>
                <a:sym typeface="Lucida Sans"/>
              </a:rPr>
              <a:t>Las </a:t>
            </a:r>
            <a:r>
              <a:rPr lang="en-US" sz="2000" b="1" i="1" u="none" strike="noStrike" cap="none">
                <a:solidFill>
                  <a:schemeClr val="dk1"/>
                </a:solidFill>
                <a:latin typeface="Lucida Sans"/>
                <a:ea typeface="Lucida Sans"/>
                <a:cs typeface="Lucida Sans"/>
                <a:sym typeface="Lucida Sans"/>
              </a:rPr>
              <a:t>normas </a:t>
            </a:r>
            <a:r>
              <a:rPr lang="en-US" sz="2000" b="0" i="0" u="none" strike="noStrike" cap="none">
                <a:solidFill>
                  <a:schemeClr val="dk1"/>
                </a:solidFill>
                <a:latin typeface="Lucida Sans"/>
                <a:ea typeface="Lucida Sans"/>
                <a:cs typeface="Lucida Sans"/>
                <a:sym typeface="Lucida Sans"/>
              </a:rPr>
              <a:t>de</a:t>
            </a:r>
            <a:r>
              <a:rPr lang="en-US" sz="2000" b="1" i="1" u="none" strike="noStrike" cap="none">
                <a:solidFill>
                  <a:schemeClr val="dk1"/>
                </a:solidFill>
                <a:latin typeface="Lucida Sans"/>
                <a:ea typeface="Lucida Sans"/>
                <a:cs typeface="Lucida Sans"/>
                <a:sym typeface="Lucida Sans"/>
              </a:rPr>
              <a:t> comportamiento evolucionan </a:t>
            </a:r>
            <a:r>
              <a:rPr lang="en-US" sz="2000" b="0" i="0" u="none" strike="noStrike" cap="none">
                <a:solidFill>
                  <a:schemeClr val="dk1"/>
                </a:solidFill>
                <a:latin typeface="Lucida Sans"/>
                <a:ea typeface="Lucida Sans"/>
                <a:cs typeface="Lucida Sans"/>
                <a:sym typeface="Lucida Sans"/>
              </a:rPr>
              <a:t>durante largos períodos y reciben influencia de muchos factores (valores, creencias, naturaleza de la actividad, episodios históricos, etc.)</a:t>
            </a:r>
            <a:endParaRPr sz="2000" b="0" i="0" u="none" strike="noStrike" cap="none">
              <a:solidFill>
                <a:srgbClr val="000000"/>
              </a:solidFill>
              <a:latin typeface="Lucida Sans"/>
              <a:ea typeface="Lucida Sans"/>
              <a:cs typeface="Lucida Sans"/>
              <a:sym typeface="Lucida Sans"/>
            </a:endParaRPr>
          </a:p>
        </p:txBody>
      </p:sp>
      <p:sp>
        <p:nvSpPr>
          <p:cNvPr id="240" name="Google Shape;240;g123d31d1acb_0_152"/>
          <p:cNvSpPr txBox="1"/>
          <p:nvPr/>
        </p:nvSpPr>
        <p:spPr>
          <a:xfrm>
            <a:off x="3733750" y="3093875"/>
            <a:ext cx="2585400" cy="3263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2000" b="0" i="0" u="none" strike="noStrike" cap="none">
                <a:solidFill>
                  <a:schemeClr val="dk1"/>
                </a:solidFill>
                <a:latin typeface="Lucida Sans"/>
                <a:ea typeface="Lucida Sans"/>
                <a:cs typeface="Lucida Sans"/>
                <a:sym typeface="Lucida Sans"/>
              </a:rPr>
              <a:t>Las </a:t>
            </a:r>
            <a:r>
              <a:rPr lang="en-US" sz="2000" b="1" i="0" u="none" strike="noStrike" cap="none">
                <a:solidFill>
                  <a:schemeClr val="dk1"/>
                </a:solidFill>
                <a:latin typeface="Lucida Sans"/>
                <a:ea typeface="Lucida Sans"/>
                <a:cs typeface="Lucida Sans"/>
                <a:sym typeface="Lucida Sans"/>
              </a:rPr>
              <a:t>normas de comportamiento </a:t>
            </a:r>
            <a:r>
              <a:rPr lang="en-US" sz="2000" b="0" i="0" u="none" strike="noStrike" cap="none">
                <a:solidFill>
                  <a:schemeClr val="dk1"/>
                </a:solidFill>
                <a:latin typeface="Lucida Sans"/>
                <a:ea typeface="Lucida Sans"/>
                <a:cs typeface="Lucida Sans"/>
                <a:sym typeface="Lucida Sans"/>
              </a:rPr>
              <a:t>permanecen en el tiempo y pueden dejar de ser útiles en relación con los objetivos que la comunidad está intentando alcanzar.</a:t>
            </a:r>
            <a:endParaRPr sz="2000" b="0" i="0" u="none" strike="noStrike" cap="none">
              <a:solidFill>
                <a:srgbClr val="000000"/>
              </a:solidFill>
              <a:latin typeface="Lucida Sans"/>
              <a:ea typeface="Lucida Sans"/>
              <a:cs typeface="Lucida Sans"/>
              <a:sym typeface="Lucida Sans"/>
            </a:endParaRPr>
          </a:p>
        </p:txBody>
      </p:sp>
      <p:sp>
        <p:nvSpPr>
          <p:cNvPr id="241" name="Google Shape;241;g123d31d1acb_0_152"/>
          <p:cNvSpPr txBox="1"/>
          <p:nvPr/>
        </p:nvSpPr>
        <p:spPr>
          <a:xfrm>
            <a:off x="6857950" y="3093875"/>
            <a:ext cx="2585400" cy="23397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La cultura tiene que ver con los </a:t>
            </a:r>
            <a:r>
              <a:rPr lang="en-US" sz="2000" b="1" i="0" u="none" strike="noStrike" cap="none">
                <a:solidFill>
                  <a:schemeClr val="dk1"/>
                </a:solidFill>
                <a:latin typeface="Lucida Sans"/>
                <a:ea typeface="Lucida Sans"/>
                <a:cs typeface="Lucida Sans"/>
                <a:sym typeface="Lucida Sans"/>
              </a:rPr>
              <a:t>mensajes enviados</a:t>
            </a:r>
            <a:r>
              <a:rPr lang="en-US" sz="2000" b="0" i="0" u="none" strike="noStrike" cap="none">
                <a:solidFill>
                  <a:schemeClr val="dk1"/>
                </a:solidFill>
                <a:latin typeface="Lucida Sans"/>
                <a:ea typeface="Lucida Sans"/>
                <a:cs typeface="Lucida Sans"/>
                <a:sym typeface="Lucida Sans"/>
              </a:rPr>
              <a:t>. Estos mensajes muestran qué se valora, qué es importante.</a:t>
            </a:r>
            <a:endParaRPr sz="2000" b="0" i="0" u="none" strike="noStrike" cap="none">
              <a:solidFill>
                <a:srgbClr val="000000"/>
              </a:solidFill>
              <a:latin typeface="Lucida Sans"/>
              <a:ea typeface="Lucida Sans"/>
              <a:cs typeface="Lucida Sans"/>
              <a:sym typeface="Lucida Sans"/>
            </a:endParaRPr>
          </a:p>
        </p:txBody>
      </p:sp>
      <p:sp>
        <p:nvSpPr>
          <p:cNvPr id="242" name="Google Shape;242;g123d31d1acb_0_152"/>
          <p:cNvSpPr txBox="1"/>
          <p:nvPr/>
        </p:nvSpPr>
        <p:spPr>
          <a:xfrm>
            <a:off x="266700" y="3124200"/>
            <a:ext cx="438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1</a:t>
            </a:r>
            <a:endParaRPr sz="2000" b="1" i="0" u="none" strike="noStrike" cap="none">
              <a:solidFill>
                <a:srgbClr val="000000"/>
              </a:solidFill>
              <a:latin typeface="Lucida Sans"/>
              <a:ea typeface="Lucida Sans"/>
              <a:cs typeface="Lucida Sans"/>
              <a:sym typeface="Lucida Sans"/>
            </a:endParaRPr>
          </a:p>
        </p:txBody>
      </p:sp>
      <p:sp>
        <p:nvSpPr>
          <p:cNvPr id="243" name="Google Shape;243;g123d31d1acb_0_152"/>
          <p:cNvSpPr/>
          <p:nvPr/>
        </p:nvSpPr>
        <p:spPr>
          <a:xfrm>
            <a:off x="228600" y="3143250"/>
            <a:ext cx="438000" cy="492600"/>
          </a:xfrm>
          <a:prstGeom prst="ellipse">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g123d31d1acb_0_152"/>
          <p:cNvSpPr txBox="1"/>
          <p:nvPr/>
        </p:nvSpPr>
        <p:spPr>
          <a:xfrm>
            <a:off x="3467100" y="3124200"/>
            <a:ext cx="438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2</a:t>
            </a:r>
            <a:endParaRPr sz="2000" b="1" i="0" u="none" strike="noStrike" cap="none">
              <a:solidFill>
                <a:srgbClr val="000000"/>
              </a:solidFill>
              <a:latin typeface="Lucida Sans"/>
              <a:ea typeface="Lucida Sans"/>
              <a:cs typeface="Lucida Sans"/>
              <a:sym typeface="Lucida Sans"/>
            </a:endParaRPr>
          </a:p>
        </p:txBody>
      </p:sp>
      <p:sp>
        <p:nvSpPr>
          <p:cNvPr id="245" name="Google Shape;245;g123d31d1acb_0_152"/>
          <p:cNvSpPr/>
          <p:nvPr/>
        </p:nvSpPr>
        <p:spPr>
          <a:xfrm>
            <a:off x="3429000" y="3143250"/>
            <a:ext cx="438000" cy="492600"/>
          </a:xfrm>
          <a:prstGeom prst="ellipse">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g123d31d1acb_0_152"/>
          <p:cNvSpPr txBox="1"/>
          <p:nvPr/>
        </p:nvSpPr>
        <p:spPr>
          <a:xfrm>
            <a:off x="6667500" y="3124200"/>
            <a:ext cx="4380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3</a:t>
            </a:r>
            <a:endParaRPr sz="2000" b="1" i="0" u="none" strike="noStrike" cap="none">
              <a:solidFill>
                <a:srgbClr val="000000"/>
              </a:solidFill>
              <a:latin typeface="Lucida Sans"/>
              <a:ea typeface="Lucida Sans"/>
              <a:cs typeface="Lucida Sans"/>
              <a:sym typeface="Lucida Sans"/>
            </a:endParaRPr>
          </a:p>
        </p:txBody>
      </p:sp>
      <p:sp>
        <p:nvSpPr>
          <p:cNvPr id="247" name="Google Shape;247;g123d31d1acb_0_152"/>
          <p:cNvSpPr/>
          <p:nvPr/>
        </p:nvSpPr>
        <p:spPr>
          <a:xfrm>
            <a:off x="6629400" y="3143250"/>
            <a:ext cx="438000" cy="492600"/>
          </a:xfrm>
          <a:prstGeom prst="ellipse">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8" name="Google Shape;248;g123d31d1acb_0_152"/>
          <p:cNvPicPr preferRelativeResize="0"/>
          <p:nvPr/>
        </p:nvPicPr>
        <p:blipFill rotWithShape="1">
          <a:blip r:embed="rId3">
            <a:alphaModFix/>
          </a:blip>
          <a:srcRect/>
          <a:stretch/>
        </p:blipFill>
        <p:spPr>
          <a:xfrm>
            <a:off x="6364377" y="2155484"/>
            <a:ext cx="1044245" cy="785991"/>
          </a:xfrm>
          <a:prstGeom prst="rect">
            <a:avLst/>
          </a:prstGeom>
          <a:noFill/>
          <a:ln>
            <a:noFill/>
          </a:ln>
        </p:spPr>
      </p:pic>
      <p:pic>
        <p:nvPicPr>
          <p:cNvPr id="249" name="Google Shape;249;g123d31d1acb_0_152"/>
          <p:cNvPicPr preferRelativeResize="0"/>
          <p:nvPr/>
        </p:nvPicPr>
        <p:blipFill rotWithShape="1">
          <a:blip r:embed="rId4">
            <a:alphaModFix/>
          </a:blip>
          <a:srcRect/>
          <a:stretch/>
        </p:blipFill>
        <p:spPr>
          <a:xfrm>
            <a:off x="864169" y="1919059"/>
            <a:ext cx="571761" cy="1259135"/>
          </a:xfrm>
          <a:prstGeom prst="rect">
            <a:avLst/>
          </a:prstGeom>
          <a:noFill/>
          <a:ln>
            <a:noFill/>
          </a:ln>
        </p:spPr>
      </p:pic>
      <p:pic>
        <p:nvPicPr>
          <p:cNvPr id="250" name="Google Shape;250;g123d31d1acb_0_152"/>
          <p:cNvPicPr preferRelativeResize="0"/>
          <p:nvPr/>
        </p:nvPicPr>
        <p:blipFill rotWithShape="1">
          <a:blip r:embed="rId5">
            <a:alphaModFix/>
          </a:blip>
          <a:srcRect l="6769" r="39202"/>
          <a:stretch/>
        </p:blipFill>
        <p:spPr>
          <a:xfrm>
            <a:off x="8334228" y="2064612"/>
            <a:ext cx="811296" cy="923330"/>
          </a:xfrm>
          <a:prstGeom prst="rect">
            <a:avLst/>
          </a:prstGeom>
          <a:noFill/>
          <a:ln>
            <a:noFill/>
          </a:ln>
        </p:spPr>
      </p:pic>
      <p:pic>
        <p:nvPicPr>
          <p:cNvPr id="251" name="Google Shape;251;g123d31d1acb_0_152"/>
          <p:cNvPicPr preferRelativeResize="0"/>
          <p:nvPr/>
        </p:nvPicPr>
        <p:blipFill rotWithShape="1">
          <a:blip r:embed="rId6">
            <a:alphaModFix/>
          </a:blip>
          <a:srcRect/>
          <a:stretch/>
        </p:blipFill>
        <p:spPr>
          <a:xfrm>
            <a:off x="4625996" y="2169283"/>
            <a:ext cx="571761" cy="713990"/>
          </a:xfrm>
          <a:prstGeom prst="rect">
            <a:avLst/>
          </a:prstGeom>
          <a:noFill/>
          <a:ln>
            <a:noFill/>
          </a:ln>
        </p:spPr>
      </p:pic>
      <p:pic>
        <p:nvPicPr>
          <p:cNvPr id="252" name="Google Shape;252;g123d31d1acb_0_152"/>
          <p:cNvPicPr preferRelativeResize="0"/>
          <p:nvPr/>
        </p:nvPicPr>
        <p:blipFill rotWithShape="1">
          <a:blip r:embed="rId7">
            <a:alphaModFix/>
          </a:blip>
          <a:srcRect/>
          <a:stretch/>
        </p:blipFill>
        <p:spPr>
          <a:xfrm>
            <a:off x="2458722" y="2162598"/>
            <a:ext cx="772064" cy="772064"/>
          </a:xfrm>
          <a:prstGeom prst="rect">
            <a:avLst/>
          </a:prstGeom>
          <a:noFill/>
          <a:ln>
            <a:noFill/>
          </a:ln>
        </p:spPr>
      </p:pic>
      <p:sp>
        <p:nvSpPr>
          <p:cNvPr id="253" name="Google Shape;253;g123d31d1acb_0_152"/>
          <p:cNvSpPr txBox="1"/>
          <p:nvPr/>
        </p:nvSpPr>
        <p:spPr>
          <a:xfrm>
            <a:off x="0" y="-762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123d31d1acb_0_275"/>
          <p:cNvSpPr txBox="1"/>
          <p:nvPr/>
        </p:nvSpPr>
        <p:spPr>
          <a:xfrm>
            <a:off x="2081321" y="3200955"/>
            <a:ext cx="55308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¿Qué se </a:t>
            </a:r>
            <a:r>
              <a:rPr lang="en-US" sz="2000" b="1" i="0" u="none" strike="noStrike" cap="none">
                <a:solidFill>
                  <a:srgbClr val="0000FF"/>
                </a:solidFill>
                <a:latin typeface="Lucida Sans"/>
                <a:ea typeface="Lucida Sans"/>
                <a:cs typeface="Lucida Sans"/>
                <a:sym typeface="Lucida Sans"/>
              </a:rPr>
              <a:t>VALORA</a:t>
            </a:r>
            <a:r>
              <a:rPr lang="en-US" sz="2000" b="0" i="0" u="none" strike="noStrike" cap="none">
                <a:solidFill>
                  <a:schemeClr val="dk1"/>
                </a:solidFill>
                <a:latin typeface="Lucida Sans"/>
                <a:ea typeface="Lucida Sans"/>
                <a:cs typeface="Lucida Sans"/>
                <a:sym typeface="Lucida Sans"/>
              </a:rPr>
              <a:t> realmente?</a:t>
            </a:r>
            <a:endParaRPr sz="2000" b="0" i="0" u="none" strike="noStrike" cap="none">
              <a:solidFill>
                <a:srgbClr val="000000"/>
              </a:solidFill>
              <a:latin typeface="Lucida Sans"/>
              <a:ea typeface="Lucida Sans"/>
              <a:cs typeface="Lucida Sans"/>
              <a:sym typeface="Lucida Sans"/>
            </a:endParaRPr>
          </a:p>
        </p:txBody>
      </p:sp>
      <p:sp>
        <p:nvSpPr>
          <p:cNvPr id="260" name="Google Shape;260;g123d31d1acb_0_275"/>
          <p:cNvSpPr txBox="1"/>
          <p:nvPr/>
        </p:nvSpPr>
        <p:spPr>
          <a:xfrm>
            <a:off x="3216378" y="2414783"/>
            <a:ext cx="3260700" cy="554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US" sz="3000" b="1" i="0" u="none" strike="noStrike" cap="none">
                <a:solidFill>
                  <a:srgbClr val="0000FF"/>
                </a:solidFill>
                <a:latin typeface="Lucida Sans"/>
                <a:ea typeface="Lucida Sans"/>
                <a:cs typeface="Lucida Sans"/>
                <a:sym typeface="Lucida Sans"/>
              </a:rPr>
              <a:t>VALORES</a:t>
            </a:r>
            <a:endParaRPr sz="3000" b="0" i="0" u="none" strike="noStrike" cap="none">
              <a:solidFill>
                <a:srgbClr val="0000FF"/>
              </a:solidFill>
              <a:latin typeface="Lucida Sans"/>
              <a:ea typeface="Lucida Sans"/>
              <a:cs typeface="Lucida Sans"/>
              <a:sym typeface="Lucida Sans"/>
            </a:endParaRPr>
          </a:p>
        </p:txBody>
      </p:sp>
      <p:sp>
        <p:nvSpPr>
          <p:cNvPr id="261" name="Google Shape;261;g123d31d1acb_0_275"/>
          <p:cNvSpPr txBox="1"/>
          <p:nvPr/>
        </p:nvSpPr>
        <p:spPr>
          <a:xfrm>
            <a:off x="912283" y="4419024"/>
            <a:ext cx="26139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2060"/>
                </a:solidFill>
                <a:latin typeface="Lucida Sans"/>
                <a:ea typeface="Lucida Sans"/>
                <a:cs typeface="Lucida Sans"/>
                <a:sym typeface="Lucida Sans"/>
              </a:rPr>
              <a:t>Lo que SE DICE</a:t>
            </a:r>
            <a:endParaRPr sz="2000" b="0" i="0" u="none" strike="noStrike" cap="none">
              <a:solidFill>
                <a:srgbClr val="000000"/>
              </a:solidFill>
              <a:latin typeface="Lucida Sans"/>
              <a:ea typeface="Lucida Sans"/>
              <a:cs typeface="Lucida Sans"/>
              <a:sym typeface="Lucida Sans"/>
            </a:endParaRPr>
          </a:p>
        </p:txBody>
      </p:sp>
      <p:sp>
        <p:nvSpPr>
          <p:cNvPr id="262" name="Google Shape;262;g123d31d1acb_0_275"/>
          <p:cNvSpPr txBox="1"/>
          <p:nvPr/>
        </p:nvSpPr>
        <p:spPr>
          <a:xfrm>
            <a:off x="5089922" y="4265136"/>
            <a:ext cx="3787800" cy="554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3000" b="1" i="0" u="none" strike="noStrike" cap="none">
                <a:solidFill>
                  <a:srgbClr val="0000FF"/>
                </a:solidFill>
                <a:latin typeface="Lucida Sans"/>
                <a:ea typeface="Lucida Sans"/>
                <a:cs typeface="Lucida Sans"/>
                <a:sym typeface="Lucida Sans"/>
              </a:rPr>
              <a:t>Lo que SE HACE</a:t>
            </a:r>
            <a:endParaRPr sz="3000" b="0" i="0" u="none" strike="noStrike" cap="none">
              <a:solidFill>
                <a:srgbClr val="0000FF"/>
              </a:solidFill>
              <a:latin typeface="Lucida Sans"/>
              <a:ea typeface="Lucida Sans"/>
              <a:cs typeface="Lucida Sans"/>
              <a:sym typeface="Lucida Sans"/>
            </a:endParaRPr>
          </a:p>
        </p:txBody>
      </p:sp>
      <p:sp>
        <p:nvSpPr>
          <p:cNvPr id="263" name="Google Shape;263;g123d31d1acb_0_275"/>
          <p:cNvSpPr txBox="1"/>
          <p:nvPr/>
        </p:nvSpPr>
        <p:spPr>
          <a:xfrm>
            <a:off x="1017275" y="5326359"/>
            <a:ext cx="79020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generan </a:t>
            </a:r>
            <a:r>
              <a:rPr lang="en-US" sz="2000" b="0" i="0" u="none" strike="noStrike" cap="none">
                <a:solidFill>
                  <a:srgbClr val="0000FF"/>
                </a:solidFill>
                <a:latin typeface="Lucida Sans"/>
                <a:ea typeface="Lucida Sans"/>
                <a:cs typeface="Lucida Sans"/>
                <a:sym typeface="Lucida Sans"/>
              </a:rPr>
              <a:t>MENSAJES</a:t>
            </a:r>
            <a:r>
              <a:rPr lang="en-US" sz="2000" b="0" i="0" u="none" strike="noStrike" cap="none">
                <a:solidFill>
                  <a:schemeClr val="dk1"/>
                </a:solidFill>
                <a:latin typeface="Lucida Sans"/>
                <a:ea typeface="Lucida Sans"/>
                <a:cs typeface="Lucida Sans"/>
                <a:sym typeface="Lucida Sans"/>
              </a:rPr>
              <a:t> que moldean la cultura.</a:t>
            </a:r>
            <a:endParaRPr sz="2000" b="0" i="0" u="none" strike="noStrike" cap="none">
              <a:solidFill>
                <a:srgbClr val="000000"/>
              </a:solidFill>
              <a:latin typeface="Lucida Sans"/>
              <a:ea typeface="Lucida Sans"/>
              <a:cs typeface="Lucida Sans"/>
              <a:sym typeface="Lucida Sans"/>
            </a:endParaRPr>
          </a:p>
        </p:txBody>
      </p:sp>
      <p:sp>
        <p:nvSpPr>
          <p:cNvPr id="264" name="Google Shape;264;g123d31d1acb_0_275"/>
          <p:cNvSpPr/>
          <p:nvPr/>
        </p:nvSpPr>
        <p:spPr>
          <a:xfrm>
            <a:off x="187360" y="5986021"/>
            <a:ext cx="9531300" cy="4617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2F5496"/>
                </a:solidFill>
                <a:latin typeface="Lucida Sans"/>
                <a:ea typeface="Lucida Sans"/>
                <a:cs typeface="Lucida Sans"/>
                <a:sym typeface="Lucida Sans"/>
              </a:rPr>
              <a:t>La cultura es la manifestación de lo que realmente se valora</a:t>
            </a:r>
            <a:endParaRPr sz="2000" b="0" i="0" u="none" strike="noStrike" cap="none">
              <a:solidFill>
                <a:srgbClr val="000000"/>
              </a:solidFill>
              <a:latin typeface="Lucida Sans"/>
              <a:ea typeface="Lucida Sans"/>
              <a:cs typeface="Lucida Sans"/>
              <a:sym typeface="Lucida Sans"/>
            </a:endParaRPr>
          </a:p>
        </p:txBody>
      </p:sp>
      <p:pic>
        <p:nvPicPr>
          <p:cNvPr id="265" name="Google Shape;265;g123d31d1acb_0_275"/>
          <p:cNvPicPr preferRelativeResize="0"/>
          <p:nvPr/>
        </p:nvPicPr>
        <p:blipFill rotWithShape="1">
          <a:blip r:embed="rId3">
            <a:alphaModFix/>
          </a:blip>
          <a:srcRect/>
          <a:stretch/>
        </p:blipFill>
        <p:spPr>
          <a:xfrm rot="3649528">
            <a:off x="7612270" y="5387233"/>
            <a:ext cx="846036" cy="846036"/>
          </a:xfrm>
          <a:prstGeom prst="rect">
            <a:avLst/>
          </a:prstGeom>
          <a:noFill/>
          <a:ln>
            <a:noFill/>
          </a:ln>
        </p:spPr>
      </p:pic>
      <p:sp>
        <p:nvSpPr>
          <p:cNvPr id="266" name="Google Shape;266;g123d31d1acb_0_275"/>
          <p:cNvSpPr txBox="1"/>
          <p:nvPr/>
        </p:nvSpPr>
        <p:spPr>
          <a:xfrm>
            <a:off x="189413" y="1250685"/>
            <a:ext cx="9557700" cy="1015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Lucida Sans"/>
                <a:ea typeface="Lucida Sans"/>
                <a:cs typeface="Lucida Sans"/>
                <a:sym typeface="Lucida Sans"/>
              </a:rPr>
              <a:t>La gestión de la cultura se relaciona con la gestión de los mensajes</a:t>
            </a:r>
            <a:r>
              <a:rPr lang="en-US" sz="2000" b="0" i="0" u="none" strike="noStrike" cap="none">
                <a:solidFill>
                  <a:schemeClr val="dk1"/>
                </a:solidFill>
                <a:latin typeface="Lucida Sans"/>
                <a:ea typeface="Lucida Sans"/>
                <a:cs typeface="Lucida Sans"/>
                <a:sym typeface="Lucida Sans"/>
              </a:rPr>
              <a:t>. Si se puede descubrir y cambiar lo suficiente las fuentes de estos mensajes, cambiará la cultura.</a:t>
            </a:r>
            <a:endParaRPr sz="2000" b="0" i="0" u="none" strike="noStrike" cap="none">
              <a:solidFill>
                <a:schemeClr val="dk1"/>
              </a:solidFill>
              <a:latin typeface="Lucida Sans"/>
              <a:ea typeface="Lucida Sans"/>
              <a:cs typeface="Lucida Sans"/>
              <a:sym typeface="Lucida Sans"/>
            </a:endParaRPr>
          </a:p>
        </p:txBody>
      </p:sp>
      <p:pic>
        <p:nvPicPr>
          <p:cNvPr id="267" name="Google Shape;267;g123d31d1acb_0_275"/>
          <p:cNvPicPr preferRelativeResize="0"/>
          <p:nvPr/>
        </p:nvPicPr>
        <p:blipFill rotWithShape="1">
          <a:blip r:embed="rId4">
            <a:alphaModFix/>
          </a:blip>
          <a:srcRect l="13321" t="12701"/>
          <a:stretch/>
        </p:blipFill>
        <p:spPr>
          <a:xfrm>
            <a:off x="8392323" y="3331624"/>
            <a:ext cx="677449" cy="629861"/>
          </a:xfrm>
          <a:prstGeom prst="rect">
            <a:avLst/>
          </a:prstGeom>
          <a:noFill/>
          <a:ln>
            <a:noFill/>
          </a:ln>
        </p:spPr>
      </p:pic>
      <p:pic>
        <p:nvPicPr>
          <p:cNvPr id="268" name="Google Shape;268;g123d31d1acb_0_275"/>
          <p:cNvPicPr preferRelativeResize="0"/>
          <p:nvPr/>
        </p:nvPicPr>
        <p:blipFill rotWithShape="1">
          <a:blip r:embed="rId5">
            <a:alphaModFix/>
          </a:blip>
          <a:srcRect l="22710" t="16724" r="19896" b="24634"/>
          <a:stretch/>
        </p:blipFill>
        <p:spPr>
          <a:xfrm>
            <a:off x="8392326" y="2571274"/>
            <a:ext cx="677446" cy="554100"/>
          </a:xfrm>
          <a:prstGeom prst="rect">
            <a:avLst/>
          </a:prstGeom>
          <a:noFill/>
          <a:ln>
            <a:noFill/>
          </a:ln>
        </p:spPr>
      </p:pic>
      <p:sp>
        <p:nvSpPr>
          <p:cNvPr id="269" name="Google Shape;269;g123d31d1acb_0_275"/>
          <p:cNvSpPr/>
          <p:nvPr/>
        </p:nvSpPr>
        <p:spPr>
          <a:xfrm rot="-5400000">
            <a:off x="4549650" y="2563650"/>
            <a:ext cx="292500" cy="5086500"/>
          </a:xfrm>
          <a:prstGeom prst="leftBrace">
            <a:avLst>
              <a:gd name="adj1" fmla="val 50000"/>
              <a:gd name="adj2" fmla="val 50000"/>
            </a:avLst>
          </a:prstGeom>
          <a:noFill/>
          <a:ln w="2857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70" name="Google Shape;270;g123d31d1acb_0_275"/>
          <p:cNvCxnSpPr/>
          <p:nvPr/>
        </p:nvCxnSpPr>
        <p:spPr>
          <a:xfrm>
            <a:off x="6134222" y="3619536"/>
            <a:ext cx="849600" cy="721800"/>
          </a:xfrm>
          <a:prstGeom prst="straightConnector1">
            <a:avLst/>
          </a:prstGeom>
          <a:noFill/>
          <a:ln w="28575" cap="flat" cmpd="sng">
            <a:solidFill>
              <a:srgbClr val="B7B7B7"/>
            </a:solidFill>
            <a:prstDash val="solid"/>
            <a:round/>
            <a:headEnd type="none" w="sm" len="sm"/>
            <a:tailEnd type="triangle" w="med" len="med"/>
          </a:ln>
        </p:spPr>
      </p:cxnSp>
      <p:cxnSp>
        <p:nvCxnSpPr>
          <p:cNvPr id="271" name="Google Shape;271;g123d31d1acb_0_275"/>
          <p:cNvCxnSpPr/>
          <p:nvPr/>
        </p:nvCxnSpPr>
        <p:spPr>
          <a:xfrm flipH="1">
            <a:off x="2716650" y="3657600"/>
            <a:ext cx="693300" cy="836400"/>
          </a:xfrm>
          <a:prstGeom prst="straightConnector1">
            <a:avLst/>
          </a:prstGeom>
          <a:noFill/>
          <a:ln w="28575" cap="flat" cmpd="sng">
            <a:solidFill>
              <a:srgbClr val="B7B7B7"/>
            </a:solidFill>
            <a:prstDash val="solid"/>
            <a:round/>
            <a:headEnd type="none" w="sm" len="sm"/>
            <a:tailEnd type="triangle" w="med" len="med"/>
          </a:ln>
        </p:spPr>
      </p:cxnSp>
      <p:cxnSp>
        <p:nvCxnSpPr>
          <p:cNvPr id="272" name="Google Shape;272;g123d31d1acb_0_275"/>
          <p:cNvCxnSpPr/>
          <p:nvPr/>
        </p:nvCxnSpPr>
        <p:spPr>
          <a:xfrm>
            <a:off x="6896223" y="3447955"/>
            <a:ext cx="1267500" cy="198600"/>
          </a:xfrm>
          <a:prstGeom prst="straightConnector1">
            <a:avLst/>
          </a:prstGeom>
          <a:noFill/>
          <a:ln w="28575" cap="flat" cmpd="sng">
            <a:solidFill>
              <a:srgbClr val="B7B7B7"/>
            </a:solidFill>
            <a:prstDash val="solid"/>
            <a:round/>
            <a:headEnd type="none" w="sm" len="sm"/>
            <a:tailEnd type="triangle" w="med" len="med"/>
          </a:ln>
        </p:spPr>
      </p:cxnSp>
      <p:cxnSp>
        <p:nvCxnSpPr>
          <p:cNvPr id="273" name="Google Shape;273;g123d31d1acb_0_275"/>
          <p:cNvCxnSpPr/>
          <p:nvPr/>
        </p:nvCxnSpPr>
        <p:spPr>
          <a:xfrm rot="10800000" flipH="1">
            <a:off x="6896223" y="2895655"/>
            <a:ext cx="1181100" cy="323700"/>
          </a:xfrm>
          <a:prstGeom prst="straightConnector1">
            <a:avLst/>
          </a:prstGeom>
          <a:noFill/>
          <a:ln w="28575" cap="flat" cmpd="sng">
            <a:solidFill>
              <a:srgbClr val="B7B7B7"/>
            </a:solidFill>
            <a:prstDash val="solid"/>
            <a:round/>
            <a:headEnd type="none" w="sm" len="sm"/>
            <a:tailEnd type="triangle" w="med" len="med"/>
          </a:ln>
        </p:spPr>
      </p:cxnSp>
      <p:sp>
        <p:nvSpPr>
          <p:cNvPr id="274" name="Google Shape;274;g123d31d1acb_0_275"/>
          <p:cNvSpPr txBox="1"/>
          <p:nvPr/>
        </p:nvSpPr>
        <p:spPr>
          <a:xfrm>
            <a:off x="0" y="-762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g123d31d1acb_0_393"/>
          <p:cNvSpPr txBox="1"/>
          <p:nvPr/>
        </p:nvSpPr>
        <p:spPr>
          <a:xfrm>
            <a:off x="189413" y="1403085"/>
            <a:ext cx="95577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Los mensajes que moldean la cultura vienen de 3 grandes áreas</a:t>
            </a:r>
            <a:endParaRPr sz="2000" b="0" i="0" u="none" strike="noStrike" cap="none">
              <a:solidFill>
                <a:schemeClr val="dk1"/>
              </a:solidFill>
              <a:latin typeface="Lucida Sans"/>
              <a:ea typeface="Lucida Sans"/>
              <a:cs typeface="Lucida Sans"/>
              <a:sym typeface="Lucida Sans"/>
            </a:endParaRPr>
          </a:p>
        </p:txBody>
      </p:sp>
      <p:grpSp>
        <p:nvGrpSpPr>
          <p:cNvPr id="280" name="Google Shape;280;g123d31d1acb_0_393"/>
          <p:cNvGrpSpPr/>
          <p:nvPr/>
        </p:nvGrpSpPr>
        <p:grpSpPr>
          <a:xfrm>
            <a:off x="1268491" y="4359712"/>
            <a:ext cx="7551733" cy="955341"/>
            <a:chOff x="1593000" y="2322568"/>
            <a:chExt cx="5957975" cy="643500"/>
          </a:xfrm>
        </p:grpSpPr>
        <p:sp>
          <p:nvSpPr>
            <p:cNvPr id="281" name="Google Shape;281;g123d31d1acb_0_393"/>
            <p:cNvSpPr/>
            <p:nvPr/>
          </p:nvSpPr>
          <p:spPr>
            <a:xfrm>
              <a:off x="3728375" y="2322568"/>
              <a:ext cx="3822600" cy="643500"/>
            </a:xfrm>
            <a:prstGeom prst="rect">
              <a:avLst/>
            </a:prstGeom>
            <a:solidFill>
              <a:srgbClr val="EEEEE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82" name="Google Shape;282;g123d31d1acb_0_393"/>
            <p:cNvSpPr/>
            <p:nvPr/>
          </p:nvSpPr>
          <p:spPr>
            <a:xfrm flipH="1">
              <a:off x="2283025" y="2322575"/>
              <a:ext cx="1844400" cy="642600"/>
            </a:xfrm>
            <a:prstGeom prst="rect">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83" name="Google Shape;283;g123d31d1acb_0_393"/>
            <p:cNvSpPr/>
            <p:nvPr/>
          </p:nvSpPr>
          <p:spPr>
            <a:xfrm rot="-5400000">
              <a:off x="3501574" y="1934671"/>
              <a:ext cx="643356" cy="1419149"/>
            </a:xfrm>
            <a:prstGeom prst="flowChartOffpageConnector">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84" name="Google Shape;284;g123d31d1acb_0_393"/>
            <p:cNvSpPr/>
            <p:nvPr/>
          </p:nvSpPr>
          <p:spPr>
            <a:xfrm>
              <a:off x="2342625" y="2399951"/>
              <a:ext cx="1940700" cy="4959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FFFFFF"/>
                  </a:solidFill>
                  <a:latin typeface="Lucida Sans"/>
                  <a:ea typeface="Lucida Sans"/>
                  <a:cs typeface="Lucida Sans"/>
                  <a:sym typeface="Lucida Sans"/>
                </a:rPr>
                <a:t>SISTEMAS</a:t>
              </a:r>
              <a:endParaRPr sz="1200" b="1" i="0" u="none" strike="noStrike" cap="none">
                <a:solidFill>
                  <a:srgbClr val="FFFFFF"/>
                </a:solidFill>
                <a:latin typeface="Lucida Sans"/>
                <a:ea typeface="Lucida Sans"/>
                <a:cs typeface="Lucida Sans"/>
                <a:sym typeface="Lucida Sans"/>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FFFFFF"/>
                  </a:solidFill>
                  <a:latin typeface="Lucida Sans"/>
                  <a:ea typeface="Lucida Sans"/>
                  <a:cs typeface="Lucida Sans"/>
                  <a:sym typeface="Lucida Sans"/>
                </a:rPr>
                <a:t>Mecanismos para dirigir personas y tareas</a:t>
              </a:r>
              <a:endParaRPr sz="1200" b="0" i="0" u="none" strike="noStrike" cap="none">
                <a:solidFill>
                  <a:srgbClr val="FFFFFF"/>
                </a:solidFill>
                <a:latin typeface="Lucida Sans"/>
                <a:ea typeface="Lucida Sans"/>
                <a:cs typeface="Lucida Sans"/>
                <a:sym typeface="Lucida Sans"/>
              </a:endParaRPr>
            </a:p>
          </p:txBody>
        </p:sp>
        <p:sp>
          <p:nvSpPr>
            <p:cNvPr id="285" name="Google Shape;285;g123d31d1acb_0_39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86" name="Google Shape;286;g123d31d1acb_0_393"/>
            <p:cNvSpPr/>
            <p:nvPr/>
          </p:nvSpPr>
          <p:spPr>
            <a:xfrm>
              <a:off x="1593000" y="2322575"/>
              <a:ext cx="690000" cy="642600"/>
            </a:xfrm>
            <a:prstGeom prst="rect">
              <a:avLst/>
            </a:prstGeom>
            <a:solidFill>
              <a:srgbClr val="BE2F22"/>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2900"/>
                <a:buFont typeface="Arial"/>
                <a:buNone/>
              </a:pPr>
              <a:r>
                <a:rPr lang="en-US" sz="2900" b="0" i="0" u="none" strike="noStrike" cap="none">
                  <a:solidFill>
                    <a:srgbClr val="FFFFFF"/>
                  </a:solidFill>
                  <a:latin typeface="Lucida Sans"/>
                  <a:ea typeface="Lucida Sans"/>
                  <a:cs typeface="Lucida Sans"/>
                  <a:sym typeface="Lucida Sans"/>
                </a:rPr>
                <a:t>03</a:t>
              </a:r>
              <a:endParaRPr sz="2900" b="0" i="0" u="none" strike="noStrike" cap="none">
                <a:solidFill>
                  <a:srgbClr val="FFFFFF"/>
                </a:solidFill>
                <a:latin typeface="Lucida Sans"/>
                <a:ea typeface="Lucida Sans"/>
                <a:cs typeface="Lucida Sans"/>
                <a:sym typeface="Lucida Sans"/>
              </a:endParaRPr>
            </a:p>
          </p:txBody>
        </p:sp>
        <p:sp>
          <p:nvSpPr>
            <p:cNvPr id="287" name="Google Shape;287;g123d31d1acb_0_393"/>
            <p:cNvSpPr/>
            <p:nvPr/>
          </p:nvSpPr>
          <p:spPr>
            <a:xfrm>
              <a:off x="4387850" y="2323750"/>
              <a:ext cx="2971200" cy="6423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950"/>
                <a:buFont typeface="Arial"/>
                <a:buNone/>
              </a:pPr>
              <a:r>
                <a:rPr lang="en-US" sz="950" b="1" i="0" u="none" strike="noStrike" cap="none">
                  <a:solidFill>
                    <a:srgbClr val="A72A1E"/>
                  </a:solidFill>
                  <a:latin typeface="Lucida Sans"/>
                  <a:ea typeface="Lucida Sans"/>
                  <a:cs typeface="Lucida Sans"/>
                  <a:sym typeface="Lucida Sans"/>
                </a:rPr>
                <a:t>Ejemplos</a:t>
              </a:r>
              <a:r>
                <a:rPr lang="en-US" sz="950" b="0" i="0" u="none" strike="noStrike" cap="none">
                  <a:solidFill>
                    <a:srgbClr val="A72A1E"/>
                  </a:solidFill>
                  <a:latin typeface="Lucida Sans"/>
                  <a:ea typeface="Lucida Sans"/>
                  <a:cs typeface="Lucida Sans"/>
                  <a:sym typeface="Lucida Sans"/>
                </a:rPr>
                <a:t>:</a:t>
              </a:r>
              <a:endParaRPr sz="950" b="0" i="0" u="none" strike="noStrike" cap="none">
                <a:solidFill>
                  <a:srgbClr val="A72A1E"/>
                </a:solidFill>
                <a:latin typeface="Lucida Sans"/>
                <a:ea typeface="Lucida Sans"/>
                <a:cs typeface="Lucida Sans"/>
                <a:sym typeface="Lucida Sans"/>
              </a:endParaRPr>
            </a:p>
            <a:p>
              <a:pPr marL="495300" marR="0" lvl="0" indent="-314325" algn="l" rtl="0">
                <a:lnSpc>
                  <a:spcPct val="115000"/>
                </a:lnSpc>
                <a:spcBef>
                  <a:spcPts val="0"/>
                </a:spcBef>
                <a:spcAft>
                  <a:spcPts val="0"/>
                </a:spcAft>
                <a:buClr>
                  <a:srgbClr val="A72A1E"/>
                </a:buClr>
                <a:buSzPts val="950"/>
                <a:buFont typeface="Lucida Sans"/>
                <a:buChar char="●"/>
              </a:pPr>
              <a:r>
                <a:rPr lang="en-US" sz="950" b="0" i="0" u="none" strike="noStrike" cap="none">
                  <a:solidFill>
                    <a:srgbClr val="A72A1E"/>
                  </a:solidFill>
                  <a:latin typeface="Lucida Sans"/>
                  <a:ea typeface="Lucida Sans"/>
                  <a:cs typeface="Lucida Sans"/>
                  <a:sym typeface="Lucida Sans"/>
                </a:rPr>
                <a:t>Proceso de devolución de un producto defectuoso </a:t>
              </a:r>
              <a:endParaRPr sz="950" b="0" i="0" u="none" strike="noStrike" cap="none">
                <a:solidFill>
                  <a:srgbClr val="A72A1E"/>
                </a:solidFill>
                <a:latin typeface="Lucida Sans"/>
                <a:ea typeface="Lucida Sans"/>
                <a:cs typeface="Lucida Sans"/>
                <a:sym typeface="Lucida Sans"/>
              </a:endParaRPr>
            </a:p>
            <a:p>
              <a:pPr marL="495300" marR="0" lvl="0" indent="-314325" algn="l" rtl="0">
                <a:lnSpc>
                  <a:spcPct val="115000"/>
                </a:lnSpc>
                <a:spcBef>
                  <a:spcPts val="0"/>
                </a:spcBef>
                <a:spcAft>
                  <a:spcPts val="0"/>
                </a:spcAft>
                <a:buClr>
                  <a:srgbClr val="A72A1E"/>
                </a:buClr>
                <a:buSzPts val="950"/>
                <a:buFont typeface="Lucida Sans"/>
                <a:buChar char="●"/>
              </a:pPr>
              <a:r>
                <a:rPr lang="en-US" sz="950" b="0" i="0" u="none" strike="noStrike" cap="none">
                  <a:solidFill>
                    <a:srgbClr val="A72A1E"/>
                  </a:solidFill>
                  <a:latin typeface="Lucida Sans"/>
                  <a:ea typeface="Lucida Sans"/>
                  <a:cs typeface="Lucida Sans"/>
                  <a:sym typeface="Lucida Sans"/>
                </a:rPr>
                <a:t>Procesos de comunicación</a:t>
              </a:r>
              <a:endParaRPr sz="950" b="0" i="0" u="none" strike="noStrike" cap="none">
                <a:solidFill>
                  <a:srgbClr val="A72A1E"/>
                </a:solidFill>
                <a:latin typeface="Lucida Sans"/>
                <a:ea typeface="Lucida Sans"/>
                <a:cs typeface="Lucida Sans"/>
                <a:sym typeface="Lucida Sans"/>
              </a:endParaRPr>
            </a:p>
            <a:p>
              <a:pPr marL="495300" marR="0" lvl="0" indent="-314325" algn="l" rtl="0">
                <a:lnSpc>
                  <a:spcPct val="115000"/>
                </a:lnSpc>
                <a:spcBef>
                  <a:spcPts val="0"/>
                </a:spcBef>
                <a:spcAft>
                  <a:spcPts val="0"/>
                </a:spcAft>
                <a:buClr>
                  <a:srgbClr val="A72A1E"/>
                </a:buClr>
                <a:buSzPts val="950"/>
                <a:buFont typeface="Lucida Sans"/>
                <a:buChar char="●"/>
              </a:pPr>
              <a:r>
                <a:rPr lang="en-US" sz="950" b="0" i="0" u="none" strike="noStrike" cap="none">
                  <a:solidFill>
                    <a:srgbClr val="A72A1E"/>
                  </a:solidFill>
                  <a:latin typeface="Lucida Sans"/>
                  <a:ea typeface="Lucida Sans"/>
                  <a:cs typeface="Lucida Sans"/>
                  <a:sym typeface="Lucida Sans"/>
                </a:rPr>
                <a:t>Sistemas de Recursos Humanos</a:t>
              </a:r>
              <a:endParaRPr sz="950" b="0" i="0" u="none" strike="noStrike" cap="none">
                <a:solidFill>
                  <a:srgbClr val="A72A1E"/>
                </a:solidFill>
                <a:latin typeface="Lucida Sans"/>
                <a:ea typeface="Lucida Sans"/>
                <a:cs typeface="Lucida Sans"/>
                <a:sym typeface="Lucida Sans"/>
              </a:endParaRPr>
            </a:p>
            <a:p>
              <a:pPr marL="495300" marR="0" lvl="0" indent="-314325" algn="l" rtl="0">
                <a:lnSpc>
                  <a:spcPct val="115000"/>
                </a:lnSpc>
                <a:spcBef>
                  <a:spcPts val="0"/>
                </a:spcBef>
                <a:spcAft>
                  <a:spcPts val="0"/>
                </a:spcAft>
                <a:buClr>
                  <a:srgbClr val="A72A1E"/>
                </a:buClr>
                <a:buSzPts val="950"/>
                <a:buFont typeface="Lucida Sans"/>
                <a:buChar char="●"/>
              </a:pPr>
              <a:r>
                <a:rPr lang="en-US" sz="950" b="0" i="0" u="none" strike="noStrike" cap="none">
                  <a:solidFill>
                    <a:srgbClr val="A72A1E"/>
                  </a:solidFill>
                  <a:latin typeface="Lucida Sans"/>
                  <a:ea typeface="Lucida Sans"/>
                  <a:cs typeface="Lucida Sans"/>
                  <a:sym typeface="Lucida Sans"/>
                </a:rPr>
                <a:t>Procesos de feedback</a:t>
              </a:r>
              <a:endParaRPr sz="950" b="0" i="0" u="none" strike="noStrike" cap="none">
                <a:solidFill>
                  <a:srgbClr val="A72A1E"/>
                </a:solidFill>
                <a:latin typeface="Lucida Sans"/>
                <a:ea typeface="Lucida Sans"/>
                <a:cs typeface="Lucida Sans"/>
                <a:sym typeface="Lucida Sans"/>
              </a:endParaRPr>
            </a:p>
          </p:txBody>
        </p:sp>
      </p:grpSp>
      <p:grpSp>
        <p:nvGrpSpPr>
          <p:cNvPr id="288" name="Google Shape;288;g123d31d1acb_0_393"/>
          <p:cNvGrpSpPr/>
          <p:nvPr/>
        </p:nvGrpSpPr>
        <p:grpSpPr>
          <a:xfrm>
            <a:off x="1268491" y="3387090"/>
            <a:ext cx="7551733" cy="955341"/>
            <a:chOff x="1593000" y="2322568"/>
            <a:chExt cx="5957975" cy="643500"/>
          </a:xfrm>
        </p:grpSpPr>
        <p:sp>
          <p:nvSpPr>
            <p:cNvPr id="289" name="Google Shape;289;g123d31d1acb_0_393"/>
            <p:cNvSpPr/>
            <p:nvPr/>
          </p:nvSpPr>
          <p:spPr>
            <a:xfrm>
              <a:off x="3728375" y="2322568"/>
              <a:ext cx="3822600" cy="643500"/>
            </a:xfrm>
            <a:prstGeom prst="rect">
              <a:avLst/>
            </a:prstGeom>
            <a:solidFill>
              <a:srgbClr val="EEEEE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90" name="Google Shape;290;g123d31d1acb_0_393"/>
            <p:cNvSpPr/>
            <p:nvPr/>
          </p:nvSpPr>
          <p:spPr>
            <a:xfrm flipH="1">
              <a:off x="2283025" y="2322575"/>
              <a:ext cx="1844400" cy="642600"/>
            </a:xfrm>
            <a:prstGeom prst="rect">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91" name="Google Shape;291;g123d31d1acb_0_393"/>
            <p:cNvSpPr/>
            <p:nvPr/>
          </p:nvSpPr>
          <p:spPr>
            <a:xfrm rot="-5400000">
              <a:off x="3501574" y="1934671"/>
              <a:ext cx="643356" cy="1419149"/>
            </a:xfrm>
            <a:prstGeom prst="flowChartOffpageConnector">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92" name="Google Shape;292;g123d31d1acb_0_393"/>
            <p:cNvSpPr/>
            <p:nvPr/>
          </p:nvSpPr>
          <p:spPr>
            <a:xfrm>
              <a:off x="2342625" y="2399951"/>
              <a:ext cx="1940700" cy="4959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FFFFFF"/>
                  </a:solidFill>
                  <a:latin typeface="Lucida Sans"/>
                  <a:ea typeface="Lucida Sans"/>
                  <a:cs typeface="Lucida Sans"/>
                  <a:sym typeface="Lucida Sans"/>
                </a:rPr>
                <a:t>SÍMBOLOS</a:t>
              </a:r>
              <a:endParaRPr sz="1200" b="1" i="0" u="none" strike="noStrike" cap="none">
                <a:solidFill>
                  <a:srgbClr val="FFFFFF"/>
                </a:solidFill>
                <a:latin typeface="Lucida Sans"/>
                <a:ea typeface="Lucida Sans"/>
                <a:cs typeface="Lucida Sans"/>
                <a:sym typeface="Lucida Sans"/>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FFFFFF"/>
                  </a:solidFill>
                  <a:latin typeface="Lucida Sans"/>
                  <a:ea typeface="Lucida Sans"/>
                  <a:cs typeface="Lucida Sans"/>
                  <a:sym typeface="Lucida Sans"/>
                </a:rPr>
                <a:t>Situaciones a las que se le atribuyen significado</a:t>
              </a:r>
              <a:endParaRPr sz="1200" b="0" i="0" u="none" strike="noStrike" cap="none">
                <a:solidFill>
                  <a:srgbClr val="FFFFFF"/>
                </a:solidFill>
                <a:latin typeface="Lucida Sans"/>
                <a:ea typeface="Lucida Sans"/>
                <a:cs typeface="Lucida Sans"/>
                <a:sym typeface="Lucida Sans"/>
              </a:endParaRPr>
            </a:p>
          </p:txBody>
        </p:sp>
        <p:sp>
          <p:nvSpPr>
            <p:cNvPr id="293" name="Google Shape;293;g123d31d1acb_0_39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94" name="Google Shape;294;g123d31d1acb_0_393"/>
            <p:cNvSpPr/>
            <p:nvPr/>
          </p:nvSpPr>
          <p:spPr>
            <a:xfrm>
              <a:off x="1593000" y="2322575"/>
              <a:ext cx="690000" cy="642600"/>
            </a:xfrm>
            <a:prstGeom prst="rect">
              <a:avLst/>
            </a:prstGeom>
            <a:solidFill>
              <a:srgbClr val="BE2F22"/>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2900"/>
                <a:buFont typeface="Arial"/>
                <a:buNone/>
              </a:pPr>
              <a:r>
                <a:rPr lang="en-US" sz="2900" b="0" i="0" u="none" strike="noStrike" cap="none">
                  <a:solidFill>
                    <a:srgbClr val="FFFFFF"/>
                  </a:solidFill>
                  <a:latin typeface="Lucida Sans"/>
                  <a:ea typeface="Lucida Sans"/>
                  <a:cs typeface="Lucida Sans"/>
                  <a:sym typeface="Lucida Sans"/>
                </a:rPr>
                <a:t>02</a:t>
              </a:r>
              <a:endParaRPr sz="2900" b="0" i="0" u="none" strike="noStrike" cap="none">
                <a:solidFill>
                  <a:srgbClr val="FFFFFF"/>
                </a:solidFill>
                <a:latin typeface="Lucida Sans"/>
                <a:ea typeface="Lucida Sans"/>
                <a:cs typeface="Lucida Sans"/>
                <a:sym typeface="Lucida Sans"/>
              </a:endParaRPr>
            </a:p>
          </p:txBody>
        </p:sp>
        <p:sp>
          <p:nvSpPr>
            <p:cNvPr id="295" name="Google Shape;295;g123d31d1acb_0_393"/>
            <p:cNvSpPr/>
            <p:nvPr/>
          </p:nvSpPr>
          <p:spPr>
            <a:xfrm>
              <a:off x="4387850" y="2323750"/>
              <a:ext cx="2971200" cy="6423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rgbClr val="A72A1E"/>
                  </a:solidFill>
                  <a:latin typeface="Lucida Sans"/>
                  <a:ea typeface="Lucida Sans"/>
                  <a:cs typeface="Lucida Sans"/>
                  <a:sym typeface="Lucida Sans"/>
                </a:rPr>
                <a:t>Ejemplos</a:t>
              </a:r>
              <a:r>
                <a:rPr lang="en-US" sz="1000" b="0" i="0" u="none" strike="noStrike" cap="none">
                  <a:solidFill>
                    <a:srgbClr val="A72A1E"/>
                  </a:solidFill>
                  <a:latin typeface="Lucida Sans"/>
                  <a:ea typeface="Lucida Sans"/>
                  <a:cs typeface="Lucida Sans"/>
                  <a:sym typeface="Lucida Sans"/>
                </a:rPr>
                <a:t>:</a:t>
              </a:r>
              <a:endParaRPr sz="1000" b="0" i="0" u="none" strike="noStrike" cap="none">
                <a:solidFill>
                  <a:srgbClr val="A72A1E"/>
                </a:solidFill>
                <a:latin typeface="Lucida Sans"/>
                <a:ea typeface="Lucida Sans"/>
                <a:cs typeface="Lucida Sans"/>
                <a:sym typeface="Lucida Sans"/>
              </a:endParaRPr>
            </a:p>
            <a:p>
              <a:pPr marL="495300" marR="0" lvl="0" indent="-317500" algn="l" rtl="0">
                <a:lnSpc>
                  <a:spcPct val="115000"/>
                </a:lnSpc>
                <a:spcBef>
                  <a:spcPts val="0"/>
                </a:spcBef>
                <a:spcAft>
                  <a:spcPts val="0"/>
                </a:spcAft>
                <a:buClr>
                  <a:srgbClr val="A72A1E"/>
                </a:buClr>
                <a:buSzPts val="1000"/>
                <a:buFont typeface="Lucida Sans"/>
                <a:buChar char="●"/>
              </a:pPr>
              <a:r>
                <a:rPr lang="en-US" sz="1000" b="0" i="0" u="none" strike="noStrike" cap="none">
                  <a:solidFill>
                    <a:srgbClr val="A72A1E"/>
                  </a:solidFill>
                  <a:latin typeface="Lucida Sans"/>
                  <a:ea typeface="Lucida Sans"/>
                  <a:cs typeface="Lucida Sans"/>
                  <a:sym typeface="Lucida Sans"/>
                </a:rPr>
                <a:t>Ubicación y tamaño de las oficinas </a:t>
              </a:r>
              <a:endParaRPr sz="1000" b="0" i="0" u="none" strike="noStrike" cap="none">
                <a:solidFill>
                  <a:srgbClr val="A72A1E"/>
                </a:solidFill>
                <a:latin typeface="Lucida Sans"/>
                <a:ea typeface="Lucida Sans"/>
                <a:cs typeface="Lucida Sans"/>
                <a:sym typeface="Lucida Sans"/>
              </a:endParaRPr>
            </a:p>
            <a:p>
              <a:pPr marL="495300" marR="0" lvl="0" indent="-317500" algn="l" rtl="0">
                <a:lnSpc>
                  <a:spcPct val="115000"/>
                </a:lnSpc>
                <a:spcBef>
                  <a:spcPts val="0"/>
                </a:spcBef>
                <a:spcAft>
                  <a:spcPts val="0"/>
                </a:spcAft>
                <a:buClr>
                  <a:srgbClr val="A72A1E"/>
                </a:buClr>
                <a:buSzPts val="1000"/>
                <a:buFont typeface="Lucida Sans"/>
                <a:buChar char="●"/>
              </a:pPr>
              <a:r>
                <a:rPr lang="en-US" sz="1000" b="0" i="0" u="none" strike="noStrike" cap="none">
                  <a:solidFill>
                    <a:srgbClr val="A72A1E"/>
                  </a:solidFill>
                  <a:latin typeface="Lucida Sans"/>
                  <a:ea typeface="Lucida Sans"/>
                  <a:cs typeface="Lucida Sans"/>
                  <a:sym typeface="Lucida Sans"/>
                </a:rPr>
                <a:t>El empleado del mes</a:t>
              </a:r>
              <a:endParaRPr sz="1000" b="0" i="0" u="none" strike="noStrike" cap="none">
                <a:solidFill>
                  <a:srgbClr val="A72A1E"/>
                </a:solidFill>
                <a:latin typeface="Lucida Sans"/>
                <a:ea typeface="Lucida Sans"/>
                <a:cs typeface="Lucida Sans"/>
                <a:sym typeface="Lucida Sans"/>
              </a:endParaRPr>
            </a:p>
            <a:p>
              <a:pPr marL="495300" marR="0" lvl="0" indent="-317500" algn="l" rtl="0">
                <a:lnSpc>
                  <a:spcPct val="115000"/>
                </a:lnSpc>
                <a:spcBef>
                  <a:spcPts val="0"/>
                </a:spcBef>
                <a:spcAft>
                  <a:spcPts val="0"/>
                </a:spcAft>
                <a:buClr>
                  <a:srgbClr val="A72A1E"/>
                </a:buClr>
                <a:buSzPts val="1000"/>
                <a:buFont typeface="Lucida Sans"/>
                <a:buChar char="●"/>
              </a:pPr>
              <a:r>
                <a:rPr lang="en-US" sz="1000" b="0" i="0" u="none" strike="noStrike" cap="none">
                  <a:solidFill>
                    <a:srgbClr val="A72A1E"/>
                  </a:solidFill>
                  <a:latin typeface="Lucida Sans"/>
                  <a:ea typeface="Lucida Sans"/>
                  <a:cs typeface="Lucida Sans"/>
                  <a:sym typeface="Lucida Sans"/>
                </a:rPr>
                <a:t>¿Qué noticias salen en el Newsletter o en la Intranet? </a:t>
              </a:r>
              <a:endParaRPr sz="1000" b="0" i="0" u="none" strike="noStrike" cap="none">
                <a:solidFill>
                  <a:srgbClr val="A72A1E"/>
                </a:solidFill>
                <a:latin typeface="Lucida Sans"/>
                <a:ea typeface="Lucida Sans"/>
                <a:cs typeface="Lucida Sans"/>
                <a:sym typeface="Lucida Sans"/>
              </a:endParaRPr>
            </a:p>
          </p:txBody>
        </p:sp>
      </p:grpSp>
      <p:grpSp>
        <p:nvGrpSpPr>
          <p:cNvPr id="296" name="Google Shape;296;g123d31d1acb_0_393"/>
          <p:cNvGrpSpPr/>
          <p:nvPr/>
        </p:nvGrpSpPr>
        <p:grpSpPr>
          <a:xfrm>
            <a:off x="1268491" y="2414455"/>
            <a:ext cx="7551733" cy="955341"/>
            <a:chOff x="1593000" y="2322568"/>
            <a:chExt cx="5957975" cy="643500"/>
          </a:xfrm>
        </p:grpSpPr>
        <p:sp>
          <p:nvSpPr>
            <p:cNvPr id="297" name="Google Shape;297;g123d31d1acb_0_393"/>
            <p:cNvSpPr/>
            <p:nvPr/>
          </p:nvSpPr>
          <p:spPr>
            <a:xfrm>
              <a:off x="3728375" y="2322568"/>
              <a:ext cx="3822600" cy="643500"/>
            </a:xfrm>
            <a:prstGeom prst="rect">
              <a:avLst/>
            </a:prstGeom>
            <a:solidFill>
              <a:srgbClr val="EEEEE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98" name="Google Shape;298;g123d31d1acb_0_393"/>
            <p:cNvSpPr/>
            <p:nvPr/>
          </p:nvSpPr>
          <p:spPr>
            <a:xfrm flipH="1">
              <a:off x="2283025" y="2322575"/>
              <a:ext cx="1844400" cy="642600"/>
            </a:xfrm>
            <a:prstGeom prst="rect">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299" name="Google Shape;299;g123d31d1acb_0_393"/>
            <p:cNvSpPr/>
            <p:nvPr/>
          </p:nvSpPr>
          <p:spPr>
            <a:xfrm rot="-5400000">
              <a:off x="3501574" y="1934671"/>
              <a:ext cx="643356" cy="1419149"/>
            </a:xfrm>
            <a:prstGeom prst="flowChartOffpageConnector">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300" name="Google Shape;300;g123d31d1acb_0_393"/>
            <p:cNvSpPr/>
            <p:nvPr/>
          </p:nvSpPr>
          <p:spPr>
            <a:xfrm>
              <a:off x="2342625" y="2399951"/>
              <a:ext cx="1940700" cy="4959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FFFFFF"/>
                  </a:solidFill>
                  <a:latin typeface="Lucida Sans"/>
                  <a:ea typeface="Lucida Sans"/>
                  <a:cs typeface="Lucida Sans"/>
                  <a:sym typeface="Lucida Sans"/>
                </a:rPr>
                <a:t>COMPORTAMIENTOS</a:t>
              </a:r>
              <a:endParaRPr sz="1200" b="1" i="0" u="none" strike="noStrike" cap="none">
                <a:solidFill>
                  <a:srgbClr val="FFFFFF"/>
                </a:solidFill>
                <a:latin typeface="Lucida Sans"/>
                <a:ea typeface="Lucida Sans"/>
                <a:cs typeface="Lucida Sans"/>
                <a:sym typeface="Lucida Sans"/>
              </a:endParaRPr>
            </a:p>
            <a:p>
              <a:pPr marL="0" marR="0" lvl="0" indent="0" algn="l" rtl="0">
                <a:lnSpc>
                  <a:spcPct val="115000"/>
                </a:lnSpc>
                <a:spcBef>
                  <a:spcPts val="0"/>
                </a:spcBef>
                <a:spcAft>
                  <a:spcPts val="0"/>
                </a:spcAft>
                <a:buClr>
                  <a:srgbClr val="000000"/>
                </a:buClr>
                <a:buSzPts val="1200"/>
                <a:buFont typeface="Arial"/>
                <a:buNone/>
              </a:pPr>
              <a:r>
                <a:rPr lang="en-US" sz="1200" b="0" i="0" u="none" strike="noStrike" cap="none">
                  <a:solidFill>
                    <a:srgbClr val="FFFFFF"/>
                  </a:solidFill>
                  <a:latin typeface="Lucida Sans"/>
                  <a:ea typeface="Lucida Sans"/>
                  <a:cs typeface="Lucida Sans"/>
                  <a:sym typeface="Lucida Sans"/>
                </a:rPr>
                <a:t>Especialmente aquellos que parecen importantes</a:t>
              </a:r>
              <a:endParaRPr sz="1200" b="0" i="0" u="none" strike="noStrike" cap="none">
                <a:solidFill>
                  <a:srgbClr val="FFFFFF"/>
                </a:solidFill>
                <a:latin typeface="Lucida Sans"/>
                <a:ea typeface="Lucida Sans"/>
                <a:cs typeface="Lucida Sans"/>
                <a:sym typeface="Lucida Sans"/>
              </a:endParaRPr>
            </a:p>
          </p:txBody>
        </p:sp>
        <p:sp>
          <p:nvSpPr>
            <p:cNvPr id="301" name="Google Shape;301;g123d31d1acb_0_393"/>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302" name="Google Shape;302;g123d31d1acb_0_393"/>
            <p:cNvSpPr/>
            <p:nvPr/>
          </p:nvSpPr>
          <p:spPr>
            <a:xfrm>
              <a:off x="1593000" y="2322575"/>
              <a:ext cx="690000" cy="642600"/>
            </a:xfrm>
            <a:prstGeom prst="rect">
              <a:avLst/>
            </a:prstGeom>
            <a:solidFill>
              <a:srgbClr val="BE2F22"/>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2900"/>
                <a:buFont typeface="Arial"/>
                <a:buNone/>
              </a:pPr>
              <a:r>
                <a:rPr lang="en-US" sz="2900" b="0" i="0" u="none" strike="noStrike" cap="none">
                  <a:solidFill>
                    <a:srgbClr val="FFFFFF"/>
                  </a:solidFill>
                  <a:latin typeface="Lucida Sans"/>
                  <a:ea typeface="Lucida Sans"/>
                  <a:cs typeface="Lucida Sans"/>
                  <a:sym typeface="Lucida Sans"/>
                </a:rPr>
                <a:t>01</a:t>
              </a:r>
              <a:endParaRPr sz="2900" b="0" i="0" u="none" strike="noStrike" cap="none">
                <a:solidFill>
                  <a:srgbClr val="FFFFFF"/>
                </a:solidFill>
                <a:latin typeface="Lucida Sans"/>
                <a:ea typeface="Lucida Sans"/>
                <a:cs typeface="Lucida Sans"/>
                <a:sym typeface="Lucida Sans"/>
              </a:endParaRPr>
            </a:p>
          </p:txBody>
        </p:sp>
        <p:sp>
          <p:nvSpPr>
            <p:cNvPr id="303" name="Google Shape;303;g123d31d1acb_0_393"/>
            <p:cNvSpPr/>
            <p:nvPr/>
          </p:nvSpPr>
          <p:spPr>
            <a:xfrm>
              <a:off x="4387850" y="2323750"/>
              <a:ext cx="2971200" cy="6423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1000"/>
                <a:buFont typeface="Arial"/>
                <a:buNone/>
              </a:pPr>
              <a:r>
                <a:rPr lang="en-US" sz="1000" b="1" i="0" u="none" strike="noStrike" cap="none">
                  <a:solidFill>
                    <a:srgbClr val="A72A1E"/>
                  </a:solidFill>
                  <a:latin typeface="Lucida Sans"/>
                  <a:ea typeface="Lucida Sans"/>
                  <a:cs typeface="Lucida Sans"/>
                  <a:sym typeface="Lucida Sans"/>
                </a:rPr>
                <a:t>Ejemplos</a:t>
              </a:r>
              <a:r>
                <a:rPr lang="en-US" sz="1000" b="0" i="0" u="none" strike="noStrike" cap="none">
                  <a:solidFill>
                    <a:srgbClr val="A72A1E"/>
                  </a:solidFill>
                  <a:latin typeface="Lucida Sans"/>
                  <a:ea typeface="Lucida Sans"/>
                  <a:cs typeface="Lucida Sans"/>
                  <a:sym typeface="Lucida Sans"/>
                </a:rPr>
                <a:t>:</a:t>
              </a:r>
              <a:endParaRPr sz="1000" b="0" i="0" u="none" strike="noStrike" cap="none">
                <a:solidFill>
                  <a:srgbClr val="A72A1E"/>
                </a:solidFill>
                <a:latin typeface="Lucida Sans"/>
                <a:ea typeface="Lucida Sans"/>
                <a:cs typeface="Lucida Sans"/>
                <a:sym typeface="Lucida Sans"/>
              </a:endParaRPr>
            </a:p>
            <a:p>
              <a:pPr marL="495300" marR="0" lvl="0" indent="-317500" algn="l" rtl="0">
                <a:lnSpc>
                  <a:spcPct val="115000"/>
                </a:lnSpc>
                <a:spcBef>
                  <a:spcPts val="0"/>
                </a:spcBef>
                <a:spcAft>
                  <a:spcPts val="0"/>
                </a:spcAft>
                <a:buClr>
                  <a:srgbClr val="A72A1E"/>
                </a:buClr>
                <a:buSzPts val="1000"/>
                <a:buFont typeface="Lucida Sans"/>
                <a:buChar char="●"/>
              </a:pPr>
              <a:r>
                <a:rPr lang="en-US" sz="1000" b="0" i="0" u="none" strike="noStrike" cap="none">
                  <a:solidFill>
                    <a:srgbClr val="A72A1E"/>
                  </a:solidFill>
                  <a:latin typeface="Lucida Sans"/>
                  <a:ea typeface="Lucida Sans"/>
                  <a:cs typeface="Lucida Sans"/>
                  <a:sym typeface="Lucida Sans"/>
                </a:rPr>
                <a:t>Castigar por los errores  / Buscar al culpable</a:t>
              </a:r>
              <a:endParaRPr sz="1000" b="0" i="0" u="none" strike="noStrike" cap="none">
                <a:solidFill>
                  <a:srgbClr val="A72A1E"/>
                </a:solidFill>
                <a:latin typeface="Lucida Sans"/>
                <a:ea typeface="Lucida Sans"/>
                <a:cs typeface="Lucida Sans"/>
                <a:sym typeface="Lucida Sans"/>
              </a:endParaRPr>
            </a:p>
            <a:p>
              <a:pPr marL="495300" marR="0" lvl="0" indent="-317500" algn="l" rtl="0">
                <a:lnSpc>
                  <a:spcPct val="115000"/>
                </a:lnSpc>
                <a:spcBef>
                  <a:spcPts val="0"/>
                </a:spcBef>
                <a:spcAft>
                  <a:spcPts val="0"/>
                </a:spcAft>
                <a:buClr>
                  <a:srgbClr val="A72A1E"/>
                </a:buClr>
                <a:buSzPts val="1000"/>
                <a:buFont typeface="Lucida Sans"/>
                <a:buChar char="●"/>
              </a:pPr>
              <a:r>
                <a:rPr lang="en-US" sz="1000" b="0" i="0" u="none" strike="noStrike" cap="none">
                  <a:solidFill>
                    <a:srgbClr val="A72A1E"/>
                  </a:solidFill>
                  <a:latin typeface="Lucida Sans"/>
                  <a:ea typeface="Lucida Sans"/>
                  <a:cs typeface="Lucida Sans"/>
                  <a:sym typeface="Lucida Sans"/>
                </a:rPr>
                <a:t>Forma de tratar a los clientes (ej: Disney) o Starbucks que te trata por tu nombre</a:t>
              </a:r>
              <a:endParaRPr sz="1000" b="0" i="0" u="none" strike="noStrike" cap="none">
                <a:solidFill>
                  <a:srgbClr val="A72A1E"/>
                </a:solidFill>
                <a:latin typeface="Lucida Sans"/>
                <a:ea typeface="Lucida Sans"/>
                <a:cs typeface="Lucida Sans"/>
                <a:sym typeface="Lucida Sans"/>
              </a:endParaRPr>
            </a:p>
            <a:p>
              <a:pPr marL="495300" marR="0" lvl="0" indent="-317500" algn="l" rtl="0">
                <a:lnSpc>
                  <a:spcPct val="115000"/>
                </a:lnSpc>
                <a:spcBef>
                  <a:spcPts val="0"/>
                </a:spcBef>
                <a:spcAft>
                  <a:spcPts val="0"/>
                </a:spcAft>
                <a:buClr>
                  <a:srgbClr val="A72A1E"/>
                </a:buClr>
                <a:buSzPts val="1000"/>
                <a:buFont typeface="Lucida Sans"/>
                <a:buChar char="●"/>
              </a:pPr>
              <a:r>
                <a:rPr lang="en-US" sz="1000" b="0" i="0" u="none" strike="noStrike" cap="none">
                  <a:solidFill>
                    <a:srgbClr val="A72A1E"/>
                  </a:solidFill>
                  <a:latin typeface="Lucida Sans"/>
                  <a:ea typeface="Lucida Sans"/>
                  <a:cs typeface="Lucida Sans"/>
                  <a:sym typeface="Lucida Sans"/>
                </a:rPr>
                <a:t>Quedarse fuera de hora sistemáticamente </a:t>
              </a:r>
              <a:endParaRPr sz="1000" b="0" i="0" u="none" strike="noStrike" cap="none">
                <a:solidFill>
                  <a:srgbClr val="A72A1E"/>
                </a:solidFill>
                <a:latin typeface="Lucida Sans"/>
                <a:ea typeface="Lucida Sans"/>
                <a:cs typeface="Lucida Sans"/>
                <a:sym typeface="Lucida Sans"/>
              </a:endParaRPr>
            </a:p>
          </p:txBody>
        </p:sp>
      </p:grpSp>
      <p:sp>
        <p:nvSpPr>
          <p:cNvPr id="304" name="Google Shape;304;g123d31d1acb_0_393"/>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21e7910631_0_0"/>
          <p:cNvSpPr txBox="1"/>
          <p:nvPr/>
        </p:nvSpPr>
        <p:spPr>
          <a:xfrm>
            <a:off x="184570" y="1342100"/>
            <a:ext cx="5388300" cy="2247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Lucida Sans"/>
                <a:ea typeface="Lucida Sans"/>
                <a:cs typeface="Lucida Sans"/>
                <a:sym typeface="Lucida Sans"/>
              </a:rPr>
              <a:t>¿Cómo crear una cultura </a:t>
            </a:r>
            <a:r>
              <a:rPr lang="en-US" sz="2000" b="1" i="1" u="none" strike="noStrike" cap="none">
                <a:solidFill>
                  <a:schemeClr val="dk1"/>
                </a:solidFill>
                <a:latin typeface="Lucida Sans"/>
                <a:ea typeface="Lucida Sans"/>
                <a:cs typeface="Lucida Sans"/>
                <a:sym typeface="Lucida Sans"/>
              </a:rPr>
              <a:t>agile</a:t>
            </a:r>
            <a:r>
              <a:rPr lang="en-US" sz="2000" b="1" i="0" u="none" strike="noStrike" cap="none">
                <a:solidFill>
                  <a:schemeClr val="dk1"/>
                </a:solidFill>
                <a:latin typeface="Lucida Sans"/>
                <a:ea typeface="Lucida Sans"/>
                <a:cs typeface="Lucida Sans"/>
                <a:sym typeface="Lucida Sans"/>
              </a:rPr>
              <a:t>?</a:t>
            </a:r>
            <a:endParaRPr sz="2000" b="1" i="0" u="none" strike="noStrike" cap="none">
              <a:solidFill>
                <a:schemeClr val="dk1"/>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La agilidad es un modelo de trabajo basado en redes de equipos, que opera bajo el aprendizaje constante y los ciclos de decisiones rápidos sostenidos en tecnología, guiados por la meta final de crear valor para la organización</a:t>
            </a:r>
            <a:endParaRPr sz="2000" b="0" i="0" u="none" strike="noStrike" cap="none">
              <a:solidFill>
                <a:schemeClr val="dk1"/>
              </a:solidFill>
              <a:latin typeface="Lucida Sans"/>
              <a:ea typeface="Lucida Sans"/>
              <a:cs typeface="Lucida Sans"/>
              <a:sym typeface="Lucida Sans"/>
            </a:endParaRPr>
          </a:p>
        </p:txBody>
      </p:sp>
      <p:pic>
        <p:nvPicPr>
          <p:cNvPr id="310" name="Google Shape;310;g121e7910631_0_0"/>
          <p:cNvPicPr preferRelativeResize="0"/>
          <p:nvPr/>
        </p:nvPicPr>
        <p:blipFill rotWithShape="1">
          <a:blip r:embed="rId3">
            <a:alphaModFix/>
          </a:blip>
          <a:srcRect/>
          <a:stretch/>
        </p:blipFill>
        <p:spPr>
          <a:xfrm>
            <a:off x="5730675" y="1611740"/>
            <a:ext cx="3432050" cy="2519275"/>
          </a:xfrm>
          <a:prstGeom prst="rect">
            <a:avLst/>
          </a:prstGeom>
          <a:noFill/>
          <a:ln>
            <a:noFill/>
          </a:ln>
        </p:spPr>
      </p:pic>
      <p:sp>
        <p:nvSpPr>
          <p:cNvPr id="311" name="Google Shape;311;g121e7910631_0_0"/>
          <p:cNvSpPr txBox="1"/>
          <p:nvPr/>
        </p:nvSpPr>
        <p:spPr>
          <a:xfrm>
            <a:off x="3035796" y="4435825"/>
            <a:ext cx="6747900" cy="2247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2000" b="1" i="0" u="none" strike="noStrike" cap="none">
                <a:solidFill>
                  <a:schemeClr val="dk1"/>
                </a:solidFill>
                <a:latin typeface="Lucida Sans"/>
                <a:ea typeface="Lucida Sans"/>
                <a:cs typeface="Lucida Sans"/>
                <a:sym typeface="Lucida Sans"/>
              </a:rPr>
              <a:t>¿Qué es la cultura de la agilidad?</a:t>
            </a:r>
            <a:endParaRPr sz="2000" b="1" i="0" u="none" strike="noStrike" cap="none">
              <a:solidFill>
                <a:schemeClr val="dk1"/>
              </a:solidFill>
              <a:latin typeface="Lucida Sans"/>
              <a:ea typeface="Lucida Sans"/>
              <a:cs typeface="Lucida Sans"/>
              <a:sym typeface="Lucida Sans"/>
            </a:endParaRPr>
          </a:p>
          <a:p>
            <a:pPr marL="0" marR="0" lvl="0" indent="0" algn="ctr" rtl="0">
              <a:lnSpc>
                <a:spcPct val="100000"/>
              </a:lnSpc>
              <a:spcBef>
                <a:spcPts val="0"/>
              </a:spcBef>
              <a:spcAft>
                <a:spcPts val="1875"/>
              </a:spcAft>
              <a:buClr>
                <a:schemeClr val="dk1"/>
              </a:buClr>
              <a:buSzPts val="1100"/>
              <a:buFont typeface="Arial"/>
              <a:buNone/>
            </a:pPr>
            <a:r>
              <a:rPr lang="en-US" sz="2000" b="0" i="0" u="none" strike="noStrike" cap="none">
                <a:solidFill>
                  <a:schemeClr val="dk1"/>
                </a:solidFill>
                <a:latin typeface="Lucida Sans"/>
                <a:ea typeface="Lucida Sans"/>
                <a:cs typeface="Lucida Sans"/>
                <a:sym typeface="Lucida Sans"/>
              </a:rPr>
              <a:t>Hoy en día, la cultura ágil se ha extrapolado a diversos ramos de la industria y a diferentes áreas, ya que va en línea con los principales objetivos estratégicos que buscan las empresas como un </a:t>
            </a:r>
            <a:r>
              <a:rPr lang="en-US" sz="2000" b="1" i="0" u="none" strike="noStrike" cap="none">
                <a:solidFill>
                  <a:schemeClr val="dk1"/>
                </a:solidFill>
                <a:latin typeface="Lucida Sans"/>
                <a:ea typeface="Lucida Sans"/>
                <a:cs typeface="Lucida Sans"/>
                <a:sym typeface="Lucida Sans"/>
              </a:rPr>
              <a:t>crecimiento acelerado y una mayor rentabilidad.</a:t>
            </a:r>
            <a:endParaRPr sz="2000" b="1" i="0" u="none" strike="noStrike" cap="none">
              <a:solidFill>
                <a:schemeClr val="dk1"/>
              </a:solidFill>
              <a:latin typeface="Lucida Sans"/>
              <a:ea typeface="Lucida Sans"/>
              <a:cs typeface="Lucida Sans"/>
              <a:sym typeface="Lucida Sans"/>
            </a:endParaRPr>
          </a:p>
        </p:txBody>
      </p:sp>
      <p:sp>
        <p:nvSpPr>
          <p:cNvPr id="312" name="Google Shape;312;g121e7910631_0_0"/>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121e7910631_0_31"/>
          <p:cNvSpPr txBox="1"/>
          <p:nvPr/>
        </p:nvSpPr>
        <p:spPr>
          <a:xfrm>
            <a:off x="184579" y="1342100"/>
            <a:ext cx="9521400" cy="163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Lucida Sans"/>
                <a:ea typeface="Lucida Sans"/>
                <a:cs typeface="Lucida Sans"/>
                <a:sym typeface="Lucida Sans"/>
              </a:rPr>
              <a:t>¿</a:t>
            </a:r>
            <a:r>
              <a:rPr lang="en-US" sz="2000" b="1" i="0" u="none" strike="noStrike" cap="none" dirty="0" err="1">
                <a:solidFill>
                  <a:schemeClr val="dk1"/>
                </a:solidFill>
                <a:latin typeface="Lucida Sans"/>
                <a:ea typeface="Lucida Sans"/>
                <a:cs typeface="Lucida Sans"/>
                <a:sym typeface="Lucida Sans"/>
              </a:rPr>
              <a:t>Cómo</a:t>
            </a:r>
            <a:r>
              <a:rPr lang="en-US" sz="2000" b="1" i="0" u="none" strike="noStrike" cap="none" dirty="0">
                <a:solidFill>
                  <a:schemeClr val="dk1"/>
                </a:solidFill>
                <a:latin typeface="Lucida Sans"/>
                <a:ea typeface="Lucida Sans"/>
                <a:cs typeface="Lucida Sans"/>
                <a:sym typeface="Lucida Sans"/>
              </a:rPr>
              <a:t> surge </a:t>
            </a:r>
            <a:r>
              <a:rPr lang="en-US" sz="2000" b="1" i="0" u="none" strike="noStrike" cap="none" dirty="0" err="1">
                <a:solidFill>
                  <a:schemeClr val="dk1"/>
                </a:solidFill>
                <a:latin typeface="Lucida Sans"/>
                <a:ea typeface="Lucida Sans"/>
                <a:cs typeface="Lucida Sans"/>
                <a:sym typeface="Lucida Sans"/>
              </a:rPr>
              <a:t>el</a:t>
            </a:r>
            <a:r>
              <a:rPr lang="en-US" sz="2000" b="1" i="0" u="none" strike="noStrike" cap="none" dirty="0">
                <a:solidFill>
                  <a:schemeClr val="dk1"/>
                </a:solidFill>
                <a:latin typeface="Lucida Sans"/>
                <a:ea typeface="Lucida Sans"/>
                <a:cs typeface="Lucida Sans"/>
                <a:sym typeface="Lucida Sans"/>
              </a:rPr>
              <a:t> </a:t>
            </a:r>
            <a:r>
              <a:rPr lang="en-US" sz="2000" b="1" i="0" u="none" strike="noStrike" cap="none" dirty="0" err="1">
                <a:solidFill>
                  <a:schemeClr val="dk1"/>
                </a:solidFill>
                <a:latin typeface="Lucida Sans"/>
                <a:ea typeface="Lucida Sans"/>
                <a:cs typeface="Lucida Sans"/>
                <a:sym typeface="Lucida Sans"/>
              </a:rPr>
              <a:t>concepto</a:t>
            </a:r>
            <a:r>
              <a:rPr lang="en-US" sz="2000" b="1" i="0" u="none" strike="noStrike" cap="none" dirty="0">
                <a:solidFill>
                  <a:schemeClr val="dk1"/>
                </a:solidFill>
                <a:latin typeface="Lucida Sans"/>
                <a:ea typeface="Lucida Sans"/>
                <a:cs typeface="Lucida Sans"/>
                <a:sym typeface="Lucida Sans"/>
              </a:rPr>
              <a:t> </a:t>
            </a:r>
            <a:r>
              <a:rPr lang="en-US" sz="2000" b="1" i="1" u="none" strike="noStrike" cap="none" dirty="0">
                <a:solidFill>
                  <a:schemeClr val="dk1"/>
                </a:solidFill>
                <a:latin typeface="Lucida Sans"/>
                <a:ea typeface="Lucida Sans"/>
                <a:cs typeface="Lucida Sans"/>
                <a:sym typeface="Lucida Sans"/>
              </a:rPr>
              <a:t>agile</a:t>
            </a:r>
            <a:r>
              <a:rPr lang="en-US" sz="2000" b="1" i="0" u="none" strike="noStrike" cap="none" dirty="0">
                <a:solidFill>
                  <a:schemeClr val="dk1"/>
                </a:solidFill>
                <a:latin typeface="Lucida Sans"/>
                <a:ea typeface="Lucida Sans"/>
                <a:cs typeface="Lucida Sans"/>
                <a:sym typeface="Lucida Sans"/>
              </a:rPr>
              <a:t>?</a:t>
            </a:r>
            <a:endParaRPr sz="2000" b="1" i="0" u="none" strike="noStrike" cap="none" dirty="0">
              <a:solidFill>
                <a:schemeClr val="dk1"/>
              </a:solidFill>
              <a:latin typeface="Lucida Sans"/>
              <a:ea typeface="Lucida Sans"/>
              <a:cs typeface="Lucida Sans"/>
              <a:sym typeface="Lucida Sans"/>
            </a:endParaRPr>
          </a:p>
          <a:p>
            <a:pPr marL="0" marR="0" lvl="0" indent="0" algn="ctr" rtl="0">
              <a:lnSpc>
                <a:spcPct val="100000"/>
              </a:lnSpc>
              <a:spcBef>
                <a:spcPts val="0"/>
              </a:spcBef>
              <a:spcAft>
                <a:spcPts val="1875"/>
              </a:spcAft>
              <a:buClr>
                <a:schemeClr val="dk1"/>
              </a:buClr>
              <a:buSzPts val="1100"/>
              <a:buFont typeface="Arial"/>
              <a:buNone/>
            </a:pPr>
            <a:r>
              <a:rPr lang="en-US" sz="2000" b="0" i="0" u="none" strike="noStrike" cap="none" dirty="0">
                <a:solidFill>
                  <a:schemeClr val="dk1"/>
                </a:solidFill>
                <a:latin typeface="Lucida Sans"/>
                <a:ea typeface="Lucida Sans"/>
                <a:cs typeface="Lucida Sans"/>
                <a:sym typeface="Lucida Sans"/>
              </a:rPr>
              <a:t>El </a:t>
            </a:r>
            <a:r>
              <a:rPr lang="en-US" sz="2000" b="0" i="0" u="none" strike="noStrike" cap="none" dirty="0" err="1">
                <a:solidFill>
                  <a:schemeClr val="dk1"/>
                </a:solidFill>
                <a:latin typeface="Lucida Sans"/>
                <a:ea typeface="Lucida Sans"/>
                <a:cs typeface="Lucida Sans"/>
                <a:sym typeface="Lucida Sans"/>
              </a:rPr>
              <a:t>concepto</a:t>
            </a:r>
            <a:r>
              <a:rPr lang="en-US" sz="2000" b="0" i="0" u="none" strike="noStrike" cap="none" dirty="0">
                <a:solidFill>
                  <a:schemeClr val="dk1"/>
                </a:solidFill>
                <a:latin typeface="Lucida Sans"/>
                <a:ea typeface="Lucida Sans"/>
                <a:cs typeface="Lucida Sans"/>
                <a:sym typeface="Lucida Sans"/>
              </a:rPr>
              <a:t> </a:t>
            </a:r>
            <a:r>
              <a:rPr lang="en-US" sz="2000" b="0" i="1" u="none" strike="noStrike" cap="none" dirty="0">
                <a:solidFill>
                  <a:schemeClr val="dk1"/>
                </a:solidFill>
                <a:latin typeface="Lucida Sans"/>
                <a:ea typeface="Lucida Sans"/>
                <a:cs typeface="Lucida Sans"/>
                <a:sym typeface="Lucida Sans"/>
              </a:rPr>
              <a:t>agile</a:t>
            </a:r>
            <a:r>
              <a:rPr lang="en-US" sz="2000" b="0" i="0" u="none" strike="noStrike" cap="none" dirty="0">
                <a:solidFill>
                  <a:schemeClr val="dk1"/>
                </a:solidFill>
                <a:latin typeface="Lucida Sans"/>
                <a:ea typeface="Lucida Sans"/>
                <a:cs typeface="Lucida Sans"/>
                <a:sym typeface="Lucida Sans"/>
              </a:rPr>
              <a:t> se </a:t>
            </a:r>
            <a:r>
              <a:rPr lang="en-US" sz="2000" b="0" i="0" u="none" strike="noStrike" cap="none" dirty="0" err="1">
                <a:solidFill>
                  <a:schemeClr val="dk1"/>
                </a:solidFill>
                <a:latin typeface="Lucida Sans"/>
                <a:ea typeface="Lucida Sans"/>
                <a:cs typeface="Lucida Sans"/>
                <a:sym typeface="Lucida Sans"/>
              </a:rPr>
              <a:t>desarrolló</a:t>
            </a:r>
            <a:r>
              <a:rPr lang="en-US" sz="2000" b="0" i="0" u="none" strike="noStrike" cap="none" dirty="0">
                <a:solidFill>
                  <a:schemeClr val="dk1"/>
                </a:solidFill>
                <a:latin typeface="Lucida Sans"/>
                <a:ea typeface="Lucida Sans"/>
                <a:cs typeface="Lucida Sans"/>
                <a:sym typeface="Lucida Sans"/>
              </a:rPr>
              <a:t> a </a:t>
            </a:r>
            <a:r>
              <a:rPr lang="en-US" sz="2000" b="0" i="0" u="none" strike="noStrike" cap="none" dirty="0" err="1">
                <a:solidFill>
                  <a:schemeClr val="dk1"/>
                </a:solidFill>
                <a:latin typeface="Lucida Sans"/>
                <a:ea typeface="Lucida Sans"/>
                <a:cs typeface="Lucida Sans"/>
                <a:sym typeface="Lucida Sans"/>
              </a:rPr>
              <a:t>principios</a:t>
            </a:r>
            <a:r>
              <a:rPr lang="en-US" sz="2000" b="0" i="0" u="none" strike="noStrike" cap="none" dirty="0">
                <a:solidFill>
                  <a:schemeClr val="dk1"/>
                </a:solidFill>
                <a:latin typeface="Lucida Sans"/>
                <a:ea typeface="Lucida Sans"/>
                <a:cs typeface="Lucida Sans"/>
                <a:sym typeface="Lucida Sans"/>
              </a:rPr>
              <a:t> de </a:t>
            </a:r>
            <a:r>
              <a:rPr lang="en-US" sz="2000" b="0" i="0" u="none" strike="noStrike" cap="none" dirty="0" err="1">
                <a:solidFill>
                  <a:schemeClr val="dk1"/>
                </a:solidFill>
                <a:latin typeface="Lucida Sans"/>
                <a:ea typeface="Lucida Sans"/>
                <a:cs typeface="Lucida Sans"/>
                <a:sym typeface="Lucida Sans"/>
              </a:rPr>
              <a:t>los</a:t>
            </a:r>
            <a:r>
              <a:rPr lang="en-US" sz="2000" b="0" i="0" u="none" strike="noStrike" cap="none" dirty="0">
                <a:solidFill>
                  <a:schemeClr val="dk1"/>
                </a:solidFill>
                <a:latin typeface="Lucida Sans"/>
                <a:ea typeface="Lucida Sans"/>
                <a:cs typeface="Lucida Sans"/>
                <a:sym typeface="Lucida Sans"/>
              </a:rPr>
              <a:t> 90’s </a:t>
            </a:r>
            <a:r>
              <a:rPr lang="en-US" sz="2000" b="0" i="0" u="none" strike="noStrike" cap="none" dirty="0" err="1">
                <a:solidFill>
                  <a:schemeClr val="dk1"/>
                </a:solidFill>
                <a:latin typeface="Lucida Sans"/>
                <a:ea typeface="Lucida Sans"/>
                <a:cs typeface="Lucida Sans"/>
                <a:sym typeface="Lucida Sans"/>
              </a:rPr>
              <a:t>cuando</a:t>
            </a:r>
            <a:r>
              <a:rPr lang="en-US" sz="2000" b="0" i="0" u="none" strike="noStrike" cap="none" dirty="0">
                <a:solidFill>
                  <a:schemeClr val="dk1"/>
                </a:solidFill>
                <a:latin typeface="Lucida Sans"/>
                <a:ea typeface="Lucida Sans"/>
                <a:cs typeface="Lucida Sans"/>
                <a:sym typeface="Lucida Sans"/>
              </a:rPr>
              <a:t> las </a:t>
            </a:r>
            <a:r>
              <a:rPr lang="en-US" sz="2000" b="0" i="0" u="none" strike="noStrike" cap="none" dirty="0" err="1">
                <a:solidFill>
                  <a:schemeClr val="dk1"/>
                </a:solidFill>
                <a:latin typeface="Lucida Sans"/>
                <a:ea typeface="Lucida Sans"/>
                <a:cs typeface="Lucida Sans"/>
                <a:sym typeface="Lucida Sans"/>
              </a:rPr>
              <a:t>empresas</a:t>
            </a:r>
            <a:r>
              <a:rPr lang="en-US" sz="2000" b="0" i="0" u="none" strike="noStrike" cap="none" dirty="0">
                <a:solidFill>
                  <a:schemeClr val="dk1"/>
                </a:solidFill>
                <a:latin typeface="Lucida Sans"/>
                <a:ea typeface="Lucida Sans"/>
                <a:cs typeface="Lucida Sans"/>
                <a:sym typeface="Lucida Sans"/>
              </a:rPr>
              <a:t> </a:t>
            </a:r>
            <a:r>
              <a:rPr lang="en-US" sz="2000" b="0" i="0" u="none" strike="noStrike" cap="none" dirty="0" err="1">
                <a:solidFill>
                  <a:schemeClr val="dk1"/>
                </a:solidFill>
                <a:latin typeface="Lucida Sans"/>
                <a:ea typeface="Lucida Sans"/>
                <a:cs typeface="Lucida Sans"/>
                <a:sym typeface="Lucida Sans"/>
              </a:rPr>
              <a:t>desarrolladoras</a:t>
            </a:r>
            <a:r>
              <a:rPr lang="en-US" sz="2000" b="0" i="0" u="none" strike="noStrike" cap="none" dirty="0">
                <a:solidFill>
                  <a:schemeClr val="dk1"/>
                </a:solidFill>
                <a:latin typeface="Lucida Sans"/>
                <a:ea typeface="Lucida Sans"/>
                <a:cs typeface="Lucida Sans"/>
                <a:sym typeface="Lucida Sans"/>
              </a:rPr>
              <a:t> de software </a:t>
            </a:r>
            <a:r>
              <a:rPr lang="en-US" sz="2000" b="0" i="0" u="none" strike="noStrike" cap="none" dirty="0" err="1">
                <a:solidFill>
                  <a:schemeClr val="dk1"/>
                </a:solidFill>
                <a:latin typeface="Lucida Sans"/>
                <a:ea typeface="Lucida Sans"/>
                <a:cs typeface="Lucida Sans"/>
                <a:sym typeface="Lucida Sans"/>
              </a:rPr>
              <a:t>experimentaron</a:t>
            </a:r>
            <a:r>
              <a:rPr lang="en-US" sz="2000" b="0" i="0" u="none" strike="noStrike" cap="none" dirty="0">
                <a:solidFill>
                  <a:schemeClr val="dk1"/>
                </a:solidFill>
                <a:latin typeface="Lucida Sans"/>
                <a:ea typeface="Lucida Sans"/>
                <a:cs typeface="Lucida Sans"/>
                <a:sym typeface="Lucida Sans"/>
              </a:rPr>
              <a:t> </a:t>
            </a:r>
            <a:r>
              <a:rPr lang="en-US" sz="2000" b="0" i="0" u="none" strike="noStrike" cap="none" dirty="0" err="1">
                <a:solidFill>
                  <a:schemeClr val="dk1"/>
                </a:solidFill>
                <a:latin typeface="Lucida Sans"/>
                <a:ea typeface="Lucida Sans"/>
                <a:cs typeface="Lucida Sans"/>
                <a:sym typeface="Lucida Sans"/>
              </a:rPr>
              <a:t>una</a:t>
            </a:r>
            <a:r>
              <a:rPr lang="en-US" sz="2000" b="0" i="0" u="none" strike="noStrike" cap="none" dirty="0">
                <a:solidFill>
                  <a:schemeClr val="dk1"/>
                </a:solidFill>
                <a:latin typeface="Lucida Sans"/>
                <a:ea typeface="Lucida Sans"/>
                <a:cs typeface="Lucida Sans"/>
                <a:sym typeface="Lucida Sans"/>
              </a:rPr>
              <a:t> crisis </a:t>
            </a:r>
            <a:r>
              <a:rPr lang="en-US" sz="2000" b="0" i="0" u="none" strike="noStrike" cap="none" dirty="0" err="1">
                <a:solidFill>
                  <a:schemeClr val="dk1"/>
                </a:solidFill>
                <a:latin typeface="Lucida Sans"/>
                <a:ea typeface="Lucida Sans"/>
                <a:cs typeface="Lucida Sans"/>
                <a:sym typeface="Lucida Sans"/>
              </a:rPr>
              <a:t>por</a:t>
            </a:r>
            <a:r>
              <a:rPr lang="en-US" sz="2000" b="0" i="0" u="none" strike="noStrike" cap="none" dirty="0">
                <a:solidFill>
                  <a:schemeClr val="dk1"/>
                </a:solidFill>
                <a:latin typeface="Lucida Sans"/>
                <a:ea typeface="Lucida Sans"/>
                <a:cs typeface="Lucida Sans"/>
                <a:sym typeface="Lucida Sans"/>
              </a:rPr>
              <a:t> </a:t>
            </a:r>
            <a:r>
              <a:rPr lang="en-US" sz="2000" b="0" i="0" u="none" strike="noStrike" cap="none" dirty="0" err="1">
                <a:solidFill>
                  <a:schemeClr val="dk1"/>
                </a:solidFill>
                <a:latin typeface="Lucida Sans"/>
                <a:ea typeface="Lucida Sans"/>
                <a:cs typeface="Lucida Sans"/>
                <a:sym typeface="Lucida Sans"/>
              </a:rPr>
              <a:t>los</a:t>
            </a:r>
            <a:r>
              <a:rPr lang="en-US" sz="2000" b="0" i="0" u="none" strike="noStrike" cap="none" dirty="0">
                <a:solidFill>
                  <a:schemeClr val="dk1"/>
                </a:solidFill>
                <a:latin typeface="Lucida Sans"/>
                <a:ea typeface="Lucida Sans"/>
                <a:cs typeface="Lucida Sans"/>
                <a:sym typeface="Lucida Sans"/>
              </a:rPr>
              <a:t> altos </a:t>
            </a:r>
            <a:r>
              <a:rPr lang="en-US" sz="2000" b="0" i="0" u="none" strike="noStrike" cap="none" dirty="0" err="1">
                <a:solidFill>
                  <a:schemeClr val="dk1"/>
                </a:solidFill>
                <a:latin typeface="Lucida Sans"/>
                <a:ea typeface="Lucida Sans"/>
                <a:cs typeface="Lucida Sans"/>
                <a:sym typeface="Lucida Sans"/>
              </a:rPr>
              <a:t>tiempos</a:t>
            </a:r>
            <a:r>
              <a:rPr lang="en-US" sz="2000" b="0" i="0" u="none" strike="noStrike" cap="none" dirty="0">
                <a:solidFill>
                  <a:schemeClr val="dk1"/>
                </a:solidFill>
                <a:latin typeface="Lucida Sans"/>
                <a:ea typeface="Lucida Sans"/>
                <a:cs typeface="Lucida Sans"/>
                <a:sym typeface="Lucida Sans"/>
              </a:rPr>
              <a:t> de </a:t>
            </a:r>
            <a:r>
              <a:rPr lang="en-US" sz="2000" b="0" i="0" u="none" strike="noStrike" cap="none" dirty="0" err="1">
                <a:solidFill>
                  <a:schemeClr val="dk1"/>
                </a:solidFill>
                <a:latin typeface="Lucida Sans"/>
                <a:ea typeface="Lucida Sans"/>
                <a:cs typeface="Lucida Sans"/>
                <a:sym typeface="Lucida Sans"/>
              </a:rPr>
              <a:t>espera</a:t>
            </a:r>
            <a:r>
              <a:rPr lang="en-US" sz="2000" b="0" i="0" u="none" strike="noStrike" cap="none" dirty="0">
                <a:solidFill>
                  <a:schemeClr val="dk1"/>
                </a:solidFill>
                <a:latin typeface="Lucida Sans"/>
                <a:ea typeface="Lucida Sans"/>
                <a:cs typeface="Lucida Sans"/>
                <a:sym typeface="Lucida Sans"/>
              </a:rPr>
              <a:t> que se </a:t>
            </a:r>
            <a:r>
              <a:rPr lang="en-US" sz="2000" b="0" i="0" u="none" strike="noStrike" cap="none" dirty="0" err="1">
                <a:solidFill>
                  <a:schemeClr val="dk1"/>
                </a:solidFill>
                <a:latin typeface="Lucida Sans"/>
                <a:ea typeface="Lucida Sans"/>
                <a:cs typeface="Lucida Sans"/>
                <a:sym typeface="Lucida Sans"/>
              </a:rPr>
              <a:t>requería</a:t>
            </a:r>
            <a:r>
              <a:rPr lang="en-US" sz="2000" b="0" i="0" u="none" strike="noStrike" cap="none" dirty="0">
                <a:solidFill>
                  <a:schemeClr val="dk1"/>
                </a:solidFill>
                <a:latin typeface="Lucida Sans"/>
                <a:ea typeface="Lucida Sans"/>
                <a:cs typeface="Lucida Sans"/>
                <a:sym typeface="Lucida Sans"/>
              </a:rPr>
              <a:t> para </a:t>
            </a:r>
            <a:r>
              <a:rPr lang="en-US" sz="2000" b="0" i="0" u="none" strike="noStrike" cap="none" dirty="0" err="1">
                <a:solidFill>
                  <a:schemeClr val="dk1"/>
                </a:solidFill>
                <a:latin typeface="Lucida Sans"/>
                <a:ea typeface="Lucida Sans"/>
                <a:cs typeface="Lucida Sans"/>
                <a:sym typeface="Lucida Sans"/>
              </a:rPr>
              <a:t>lanzar</a:t>
            </a:r>
            <a:r>
              <a:rPr lang="en-US" sz="2000" b="0" i="0" u="none" strike="noStrike" cap="none" dirty="0">
                <a:solidFill>
                  <a:schemeClr val="dk1"/>
                </a:solidFill>
                <a:latin typeface="Lucida Sans"/>
                <a:ea typeface="Lucida Sans"/>
                <a:cs typeface="Lucida Sans"/>
                <a:sym typeface="Lucida Sans"/>
              </a:rPr>
              <a:t> al mercado </a:t>
            </a:r>
            <a:r>
              <a:rPr lang="en-US" sz="2000" b="0" i="0" u="none" strike="noStrike" cap="none" dirty="0" err="1">
                <a:solidFill>
                  <a:schemeClr val="dk1"/>
                </a:solidFill>
                <a:latin typeface="Lucida Sans"/>
                <a:ea typeface="Lucida Sans"/>
                <a:cs typeface="Lucida Sans"/>
                <a:sym typeface="Lucida Sans"/>
              </a:rPr>
              <a:t>algún</a:t>
            </a:r>
            <a:r>
              <a:rPr lang="en-US" sz="2000" b="0" i="0" u="none" strike="noStrike" cap="none" dirty="0">
                <a:solidFill>
                  <a:schemeClr val="dk1"/>
                </a:solidFill>
                <a:latin typeface="Lucida Sans"/>
                <a:ea typeface="Lucida Sans"/>
                <a:cs typeface="Lucida Sans"/>
                <a:sym typeface="Lucida Sans"/>
              </a:rPr>
              <a:t> </a:t>
            </a:r>
            <a:r>
              <a:rPr lang="en-US" sz="2000" b="0" i="0" u="none" strike="noStrike" cap="none" dirty="0" err="1">
                <a:solidFill>
                  <a:schemeClr val="dk1"/>
                </a:solidFill>
                <a:latin typeface="Lucida Sans"/>
                <a:ea typeface="Lucida Sans"/>
                <a:cs typeface="Lucida Sans"/>
                <a:sym typeface="Lucida Sans"/>
              </a:rPr>
              <a:t>desarrollo</a:t>
            </a:r>
            <a:r>
              <a:rPr lang="en-US" sz="2000" b="0" i="0" u="none" strike="noStrike" cap="none" dirty="0">
                <a:solidFill>
                  <a:schemeClr val="dk1"/>
                </a:solidFill>
                <a:latin typeface="Lucida Sans"/>
                <a:ea typeface="Lucida Sans"/>
                <a:cs typeface="Lucida Sans"/>
                <a:sym typeface="Lucida Sans"/>
              </a:rPr>
              <a:t>.</a:t>
            </a:r>
            <a:endParaRPr sz="2000" b="0" i="0" u="none" strike="noStrike" cap="none" dirty="0">
              <a:solidFill>
                <a:schemeClr val="dk1"/>
              </a:solidFill>
              <a:latin typeface="Lucida Sans"/>
              <a:ea typeface="Lucida Sans"/>
              <a:cs typeface="Lucida Sans"/>
              <a:sym typeface="Lucida Sans"/>
            </a:endParaRPr>
          </a:p>
        </p:txBody>
      </p:sp>
      <p:sp>
        <p:nvSpPr>
          <p:cNvPr id="319" name="Google Shape;319;g121e7910631_0_31"/>
          <p:cNvSpPr txBox="1"/>
          <p:nvPr/>
        </p:nvSpPr>
        <p:spPr>
          <a:xfrm>
            <a:off x="646625" y="4451075"/>
            <a:ext cx="26088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Lucida Sans"/>
                <a:ea typeface="Lucida Sans"/>
                <a:cs typeface="Lucida Sans"/>
                <a:sym typeface="Lucida Sans"/>
              </a:rPr>
              <a:t>VALORES DEL MANIFIESTO</a:t>
            </a:r>
            <a:endParaRPr sz="2000" b="1" i="0" u="none" strike="noStrike" cap="none" dirty="0">
              <a:solidFill>
                <a:schemeClr val="dk1"/>
              </a:solidFill>
              <a:latin typeface="Lucida Sans"/>
              <a:ea typeface="Lucida Sans"/>
              <a:cs typeface="Lucida Sans"/>
              <a:sym typeface="Lucida Sans"/>
            </a:endParaRPr>
          </a:p>
        </p:txBody>
      </p:sp>
      <p:sp>
        <p:nvSpPr>
          <p:cNvPr id="321" name="Google Shape;321;g121e7910631_0_31"/>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pic>
        <p:nvPicPr>
          <p:cNvPr id="2" name="Google Shape;318;g121e7910631_0_31">
            <a:extLst>
              <a:ext uri="{FF2B5EF4-FFF2-40B4-BE49-F238E27FC236}">
                <a16:creationId xmlns:a16="http://schemas.microsoft.com/office/drawing/2014/main" id="{988F61B6-5D27-2E67-18FB-E304C0EB6B7A}"/>
              </a:ext>
            </a:extLst>
          </p:cNvPr>
          <p:cNvPicPr preferRelativeResize="0"/>
          <p:nvPr/>
        </p:nvPicPr>
        <p:blipFill rotWithShape="1">
          <a:blip r:embed="rId3">
            <a:clrChange>
              <a:clrFrom>
                <a:srgbClr val="FFFFFF"/>
              </a:clrFrom>
              <a:clrTo>
                <a:srgbClr val="FFFFFF">
                  <a:alpha val="0"/>
                </a:srgbClr>
              </a:clrTo>
            </a:clrChange>
            <a:alphaModFix/>
            <a:extLst>
              <a:ext uri="{28A0092B-C50C-407E-A947-70E740481C1C}">
                <a14:useLocalDpi xmlns:a14="http://schemas.microsoft.com/office/drawing/2010/main" val="0"/>
              </a:ext>
            </a:extLst>
          </a:blip>
          <a:srcRect/>
          <a:stretch/>
        </p:blipFill>
        <p:spPr>
          <a:xfrm>
            <a:off x="3543300" y="2973800"/>
            <a:ext cx="4762500" cy="3655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pic>
        <p:nvPicPr>
          <p:cNvPr id="326" name="Google Shape;326;g121e7910631_0_44"/>
          <p:cNvPicPr preferRelativeResize="0"/>
          <p:nvPr/>
        </p:nvPicPr>
        <p:blipFill rotWithShape="1">
          <a:blip r:embed="rId3">
            <a:alphaModFix/>
          </a:blip>
          <a:srcRect t="14652" b="19845"/>
          <a:stretch/>
        </p:blipFill>
        <p:spPr>
          <a:xfrm>
            <a:off x="542475" y="2475575"/>
            <a:ext cx="8821051" cy="3249999"/>
          </a:xfrm>
          <a:prstGeom prst="rect">
            <a:avLst/>
          </a:prstGeom>
          <a:noFill/>
          <a:ln>
            <a:noFill/>
          </a:ln>
        </p:spPr>
      </p:pic>
      <p:sp>
        <p:nvSpPr>
          <p:cNvPr id="327" name="Google Shape;327;g121e7910631_0_44"/>
          <p:cNvSpPr txBox="1"/>
          <p:nvPr/>
        </p:nvSpPr>
        <p:spPr>
          <a:xfrm>
            <a:off x="341825" y="1631675"/>
            <a:ext cx="92808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La </a:t>
            </a:r>
            <a:r>
              <a:rPr lang="en-US" sz="2000" b="1" i="0" u="none" strike="noStrike" cap="none">
                <a:solidFill>
                  <a:schemeClr val="dk1"/>
                </a:solidFill>
                <a:latin typeface="Lucida Sans"/>
                <a:ea typeface="Lucida Sans"/>
                <a:cs typeface="Lucida Sans"/>
                <a:sym typeface="Lucida Sans"/>
              </a:rPr>
              <a:t>metodología SCRUM</a:t>
            </a:r>
            <a:r>
              <a:rPr lang="en-US" sz="2000" b="0" i="0" u="none" strike="noStrike" cap="none">
                <a:solidFill>
                  <a:schemeClr val="dk1"/>
                </a:solidFill>
                <a:latin typeface="Lucida Sans"/>
                <a:ea typeface="Lucida Sans"/>
                <a:cs typeface="Lucida Sans"/>
                <a:sym typeface="Lucida Sans"/>
              </a:rPr>
              <a:t> es la más destacada de las metodologías ágiles</a:t>
            </a:r>
            <a:endParaRPr sz="2000" b="0" i="0" u="none" strike="noStrike" cap="none">
              <a:solidFill>
                <a:schemeClr val="dk1"/>
              </a:solidFill>
              <a:latin typeface="Lucida Sans"/>
              <a:ea typeface="Lucida Sans"/>
              <a:cs typeface="Lucida Sans"/>
              <a:sym typeface="Lucida Sans"/>
            </a:endParaRPr>
          </a:p>
        </p:txBody>
      </p:sp>
      <p:sp>
        <p:nvSpPr>
          <p:cNvPr id="328" name="Google Shape;328;g121e7910631_0_44"/>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g121e7910631_0_55"/>
          <p:cNvSpPr txBox="1"/>
          <p:nvPr/>
        </p:nvSpPr>
        <p:spPr>
          <a:xfrm>
            <a:off x="192304" y="1302475"/>
            <a:ext cx="9521400" cy="2555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US" sz="2000" b="0" i="0" u="none" strike="noStrike" cap="none">
                <a:solidFill>
                  <a:schemeClr val="dk1"/>
                </a:solidFill>
                <a:latin typeface="Lucida Sans"/>
                <a:ea typeface="Lucida Sans"/>
                <a:cs typeface="Lucida Sans"/>
                <a:sym typeface="Lucida Sans"/>
              </a:rPr>
              <a:t>Entre los </a:t>
            </a:r>
            <a:r>
              <a:rPr lang="en-US" sz="2000" b="1" i="0" u="none" strike="noStrike" cap="none">
                <a:solidFill>
                  <a:schemeClr val="dk1"/>
                </a:solidFill>
                <a:latin typeface="Lucida Sans"/>
                <a:ea typeface="Lucida Sans"/>
                <a:cs typeface="Lucida Sans"/>
                <a:sym typeface="Lucida Sans"/>
              </a:rPr>
              <a:t>principales beneficios</a:t>
            </a:r>
            <a:r>
              <a:rPr lang="en-US" sz="2000" b="0" i="0" u="none" strike="noStrike" cap="none">
                <a:solidFill>
                  <a:schemeClr val="dk1"/>
                </a:solidFill>
                <a:latin typeface="Lucida Sans"/>
                <a:ea typeface="Lucida Sans"/>
                <a:cs typeface="Lucida Sans"/>
                <a:sym typeface="Lucida Sans"/>
              </a:rPr>
              <a:t> de adoptar una cultura </a:t>
            </a:r>
            <a:r>
              <a:rPr lang="en-US" sz="2000" b="0" i="1" u="none" strike="noStrike" cap="none">
                <a:solidFill>
                  <a:schemeClr val="dk1"/>
                </a:solidFill>
                <a:latin typeface="Lucida Sans"/>
                <a:ea typeface="Lucida Sans"/>
                <a:cs typeface="Lucida Sans"/>
                <a:sym typeface="Lucida Sans"/>
              </a:rPr>
              <a:t>ágil,</a:t>
            </a:r>
            <a:r>
              <a:rPr lang="en-US" sz="2000" b="0" i="0" u="none" strike="noStrike" cap="none">
                <a:solidFill>
                  <a:schemeClr val="dk1"/>
                </a:solidFill>
                <a:latin typeface="Lucida Sans"/>
                <a:ea typeface="Lucida Sans"/>
                <a:cs typeface="Lucida Sans"/>
                <a:sym typeface="Lucida Sans"/>
              </a:rPr>
              <a:t> se destacan:</a:t>
            </a:r>
            <a:endParaRPr sz="2000" b="0" i="0" u="none" strike="noStrike" cap="none">
              <a:solidFill>
                <a:schemeClr val="dk1"/>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chemeClr val="dk1"/>
              </a:buClr>
              <a:buSzPts val="2000"/>
              <a:buFont typeface="Lucida Sans"/>
              <a:buChar char="-"/>
            </a:pPr>
            <a:r>
              <a:rPr lang="en-US" sz="2000" b="0" i="0" u="none" strike="noStrike" cap="none">
                <a:solidFill>
                  <a:schemeClr val="dk1"/>
                </a:solidFill>
                <a:latin typeface="Lucida Sans"/>
                <a:ea typeface="Lucida Sans"/>
                <a:cs typeface="Lucida Sans"/>
                <a:sym typeface="Lucida Sans"/>
              </a:rPr>
              <a:t>El aumento de productividad de las personas, ya que se sienten más satisfechas y con un mayor compromiso por lograr los resultados.</a:t>
            </a:r>
            <a:endParaRPr sz="2000" b="0" i="0" u="none" strike="noStrike" cap="none">
              <a:solidFill>
                <a:schemeClr val="dk1"/>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chemeClr val="dk1"/>
              </a:buClr>
              <a:buSzPts val="2000"/>
              <a:buFont typeface="Lucida Sans"/>
              <a:buChar char="-"/>
            </a:pPr>
            <a:r>
              <a:rPr lang="en-US" sz="2000" b="0" i="0" u="none" strike="noStrike" cap="none">
                <a:solidFill>
                  <a:schemeClr val="dk1"/>
                </a:solidFill>
                <a:latin typeface="Lucida Sans"/>
                <a:ea typeface="Lucida Sans"/>
                <a:cs typeface="Lucida Sans"/>
                <a:sym typeface="Lucida Sans"/>
              </a:rPr>
              <a:t>Se eliminan los tiempos excesivos de encuentros donde se tratan temas que no agregan valor, o eventos del pasado y se enfoca en el futuro para crear mejores prácticas.</a:t>
            </a:r>
            <a:endParaRPr sz="2000" b="0" i="0" u="none" strike="noStrike" cap="none">
              <a:solidFill>
                <a:schemeClr val="dk1"/>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chemeClr val="dk1"/>
              </a:buClr>
              <a:buSzPts val="2000"/>
              <a:buFont typeface="Lucida Sans"/>
              <a:buChar char="-"/>
            </a:pPr>
            <a:r>
              <a:rPr lang="en-US" sz="2000" b="0" i="0" u="none" strike="noStrike" cap="none">
                <a:solidFill>
                  <a:schemeClr val="dk1"/>
                </a:solidFill>
                <a:latin typeface="Lucida Sans"/>
                <a:ea typeface="Lucida Sans"/>
                <a:cs typeface="Lucida Sans"/>
                <a:sym typeface="Lucida Sans"/>
              </a:rPr>
              <a:t>Se busca disminuir los procesos “burocráticos” eliminando documentación innecesaria y redundante.</a:t>
            </a:r>
            <a:endParaRPr sz="2000" b="0" i="0" u="none" strike="noStrike" cap="none">
              <a:solidFill>
                <a:schemeClr val="dk1"/>
              </a:solidFill>
              <a:latin typeface="Lucida Sans"/>
              <a:ea typeface="Lucida Sans"/>
              <a:cs typeface="Lucida Sans"/>
              <a:sym typeface="Lucida Sans"/>
            </a:endParaRPr>
          </a:p>
        </p:txBody>
      </p:sp>
      <p:grpSp>
        <p:nvGrpSpPr>
          <p:cNvPr id="334" name="Google Shape;334;g121e7910631_0_55"/>
          <p:cNvGrpSpPr/>
          <p:nvPr/>
        </p:nvGrpSpPr>
        <p:grpSpPr>
          <a:xfrm>
            <a:off x="3787089" y="4047206"/>
            <a:ext cx="2106585" cy="1700348"/>
            <a:chOff x="3071457" y="2013875"/>
            <a:chExt cx="1944600" cy="1569600"/>
          </a:xfrm>
        </p:grpSpPr>
        <p:sp>
          <p:nvSpPr>
            <p:cNvPr id="335" name="Google Shape;335;g121e7910631_0_55"/>
            <p:cNvSpPr/>
            <p:nvPr/>
          </p:nvSpPr>
          <p:spPr>
            <a:xfrm rot="10800000" flipH="1">
              <a:off x="3071457" y="2013875"/>
              <a:ext cx="1944600" cy="1569600"/>
            </a:xfrm>
            <a:prstGeom prst="round2DiagRect">
              <a:avLst>
                <a:gd name="adj1" fmla="val 0"/>
                <a:gd name="adj2" fmla="val 17764"/>
              </a:avLst>
            </a:prstGeom>
            <a:solidFill>
              <a:srgbClr val="0D5DDF"/>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g121e7910631_0_55"/>
            <p:cNvSpPr txBox="1"/>
            <p:nvPr/>
          </p:nvSpPr>
          <p:spPr>
            <a:xfrm>
              <a:off x="3316113" y="2186064"/>
              <a:ext cx="1451700" cy="1187400"/>
            </a:xfrm>
            <a:prstGeom prst="rect">
              <a:avLst/>
            </a:prstGeom>
            <a:noFill/>
            <a:ln>
              <a:noFill/>
            </a:ln>
          </p:spPr>
          <p:txBody>
            <a:bodyPr spcFirstLastPara="1" wrap="square" lIns="99050" tIns="99050" rIns="99050" bIns="9905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Lucida Sans"/>
                  <a:ea typeface="Lucida Sans"/>
                  <a:cs typeface="Lucida Sans"/>
                  <a:sym typeface="Lucida Sans"/>
                </a:rPr>
                <a:t>Las organizaciones ágiles están enfocadas en las metas, el trabajo colaborativo digital y el compromiso de querer entregar un mejor servicio.</a:t>
              </a:r>
              <a:endParaRPr sz="1000" b="0" i="0" u="none" strike="noStrike" cap="none">
                <a:solidFill>
                  <a:srgbClr val="FFFFFF"/>
                </a:solidFill>
                <a:latin typeface="Lucida Sans"/>
                <a:ea typeface="Lucida Sans"/>
                <a:cs typeface="Lucida Sans"/>
                <a:sym typeface="Lucida Sans"/>
              </a:endParaRPr>
            </a:p>
          </p:txBody>
        </p:sp>
      </p:grpSp>
      <p:grpSp>
        <p:nvGrpSpPr>
          <p:cNvPr id="337" name="Google Shape;337;g121e7910631_0_55"/>
          <p:cNvGrpSpPr/>
          <p:nvPr/>
        </p:nvGrpSpPr>
        <p:grpSpPr>
          <a:xfrm>
            <a:off x="1683090" y="4047206"/>
            <a:ext cx="2106585" cy="1700348"/>
            <a:chOff x="1126863" y="2013875"/>
            <a:chExt cx="1944600" cy="1569600"/>
          </a:xfrm>
        </p:grpSpPr>
        <p:sp>
          <p:nvSpPr>
            <p:cNvPr id="338" name="Google Shape;338;g121e7910631_0_55"/>
            <p:cNvSpPr/>
            <p:nvPr/>
          </p:nvSpPr>
          <p:spPr>
            <a:xfrm>
              <a:off x="1126863" y="2013875"/>
              <a:ext cx="1944600" cy="1569600"/>
            </a:xfrm>
            <a:prstGeom prst="round2DiagRect">
              <a:avLst>
                <a:gd name="adj1" fmla="val 0"/>
                <a:gd name="adj2" fmla="val 17764"/>
              </a:avLst>
            </a:prstGeom>
            <a:solidFill>
              <a:srgbClr val="307BF3"/>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g121e7910631_0_55"/>
            <p:cNvSpPr txBox="1"/>
            <p:nvPr/>
          </p:nvSpPr>
          <p:spPr>
            <a:xfrm>
              <a:off x="1351625" y="2256405"/>
              <a:ext cx="1451700" cy="1221000"/>
            </a:xfrm>
            <a:prstGeom prst="rect">
              <a:avLst/>
            </a:prstGeom>
            <a:noFill/>
            <a:ln>
              <a:noFill/>
            </a:ln>
          </p:spPr>
          <p:txBody>
            <a:bodyPr spcFirstLastPara="1" wrap="square" lIns="99050" tIns="99050" rIns="99050" bIns="99050"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chemeClr val="lt1"/>
                  </a:solidFill>
                  <a:latin typeface="Lucida Sans"/>
                  <a:ea typeface="Lucida Sans"/>
                  <a:cs typeface="Lucida Sans"/>
                  <a:sym typeface="Lucida Sans"/>
                </a:rPr>
                <a:t>La agilidad implica la capacidad de percibir, adaptar y responder a un entorno dinámico con entrega temprana y permanente de valor. </a:t>
              </a:r>
              <a:endParaRPr sz="1000" b="0" i="0" u="none" strike="noStrike" cap="none">
                <a:solidFill>
                  <a:schemeClr val="lt1"/>
                </a:solidFill>
                <a:latin typeface="Lucida Sans"/>
                <a:ea typeface="Lucida Sans"/>
                <a:cs typeface="Lucida Sans"/>
                <a:sym typeface="Lucida Sans"/>
              </a:endParaRPr>
            </a:p>
          </p:txBody>
        </p:sp>
      </p:grpSp>
      <p:grpSp>
        <p:nvGrpSpPr>
          <p:cNvPr id="340" name="Google Shape;340;g121e7910631_0_55"/>
          <p:cNvGrpSpPr/>
          <p:nvPr/>
        </p:nvGrpSpPr>
        <p:grpSpPr>
          <a:xfrm>
            <a:off x="5890965" y="4047206"/>
            <a:ext cx="3251200" cy="1700348"/>
            <a:chOff x="5015938" y="2013875"/>
            <a:chExt cx="3001200" cy="1569600"/>
          </a:xfrm>
        </p:grpSpPr>
        <p:sp>
          <p:nvSpPr>
            <p:cNvPr id="341" name="Google Shape;341;g121e7910631_0_55"/>
            <p:cNvSpPr/>
            <p:nvPr/>
          </p:nvSpPr>
          <p:spPr>
            <a:xfrm>
              <a:off x="5015938" y="2013875"/>
              <a:ext cx="3001200" cy="1569600"/>
            </a:xfrm>
            <a:prstGeom prst="round2DiagRect">
              <a:avLst>
                <a:gd name="adj1" fmla="val 0"/>
                <a:gd name="adj2" fmla="val 17764"/>
              </a:avLst>
            </a:prstGeom>
            <a:solidFill>
              <a:srgbClr val="0944A1"/>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Arial"/>
                <a:ea typeface="Arial"/>
                <a:cs typeface="Arial"/>
                <a:sym typeface="Arial"/>
              </a:endParaRPr>
            </a:p>
          </p:txBody>
        </p:sp>
        <p:sp>
          <p:nvSpPr>
            <p:cNvPr id="342" name="Google Shape;342;g121e7910631_0_55"/>
            <p:cNvSpPr txBox="1"/>
            <p:nvPr/>
          </p:nvSpPr>
          <p:spPr>
            <a:xfrm>
              <a:off x="5360219" y="2256397"/>
              <a:ext cx="2417100" cy="782100"/>
            </a:xfrm>
            <a:prstGeom prst="rect">
              <a:avLst/>
            </a:prstGeom>
            <a:noFill/>
            <a:ln>
              <a:noFill/>
            </a:ln>
          </p:spPr>
          <p:txBody>
            <a:bodyPr spcFirstLastPara="1" wrap="square" lIns="99050" tIns="99050" rIns="99050" bIns="9905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FFFFFF"/>
                  </a:solidFill>
                  <a:latin typeface="Lucida Sans"/>
                  <a:ea typeface="Lucida Sans"/>
                  <a:cs typeface="Lucida Sans"/>
                  <a:sym typeface="Lucida Sans"/>
                </a:rPr>
                <a:t>El adoptar </a:t>
              </a:r>
              <a:r>
                <a:rPr lang="en-US" sz="1000" b="1" i="0" u="none" strike="noStrike" cap="none">
                  <a:solidFill>
                    <a:srgbClr val="FFFFFF"/>
                  </a:solidFill>
                  <a:latin typeface="Lucida Sans"/>
                  <a:ea typeface="Lucida Sans"/>
                  <a:cs typeface="Lucida Sans"/>
                  <a:sym typeface="Lucida Sans"/>
                </a:rPr>
                <a:t>la cultura agile permite a las empresas ser competitivas y aprovechar al máximo el potencial de cada colaborador. </a:t>
              </a:r>
              <a:endParaRPr sz="1000" b="1" i="0" u="none" strike="noStrike" cap="none">
                <a:solidFill>
                  <a:srgbClr val="FFFFFF"/>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Lucida Sans"/>
                <a:ea typeface="Lucida Sans"/>
                <a:cs typeface="Lucida Sans"/>
                <a:sym typeface="Lucida Sans"/>
              </a:endParaRPr>
            </a:p>
          </p:txBody>
        </p:sp>
      </p:grpSp>
      <p:grpSp>
        <p:nvGrpSpPr>
          <p:cNvPr id="343" name="Google Shape;343;g121e7910631_0_55"/>
          <p:cNvGrpSpPr/>
          <p:nvPr/>
        </p:nvGrpSpPr>
        <p:grpSpPr>
          <a:xfrm>
            <a:off x="5749889" y="4791994"/>
            <a:ext cx="283373" cy="282083"/>
            <a:chOff x="4858109" y="2631368"/>
            <a:chExt cx="316442" cy="315000"/>
          </a:xfrm>
        </p:grpSpPr>
        <p:sp>
          <p:nvSpPr>
            <p:cNvPr id="344" name="Google Shape;344;g121e7910631_0_55"/>
            <p:cNvSpPr/>
            <p:nvPr/>
          </p:nvSpPr>
          <p:spPr>
            <a:xfrm>
              <a:off x="4859551" y="2631368"/>
              <a:ext cx="315000" cy="315000"/>
            </a:xfrm>
            <a:prstGeom prst="ellipse">
              <a:avLst/>
            </a:prstGeom>
            <a:solidFill>
              <a:srgbClr val="FFFFFF"/>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g121e7910631_0_55"/>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br>
                <a:rPr lang="en-US" sz="1500" b="0" i="0" u="none" strike="noStrike" cap="none">
                  <a:solidFill>
                    <a:srgbClr val="000000"/>
                  </a:solidFill>
                  <a:latin typeface="Arial"/>
                  <a:ea typeface="Arial"/>
                  <a:cs typeface="Arial"/>
                  <a:sym typeface="Arial"/>
                </a:rPr>
              </a:br>
              <a:endParaRPr sz="1500" b="0" i="0" u="none" strike="noStrike" cap="none">
                <a:solidFill>
                  <a:srgbClr val="000000"/>
                </a:solidFill>
                <a:latin typeface="Arial"/>
                <a:ea typeface="Arial"/>
                <a:cs typeface="Arial"/>
                <a:sym typeface="Arial"/>
              </a:endParaRPr>
            </a:p>
          </p:txBody>
        </p:sp>
      </p:grpSp>
      <p:grpSp>
        <p:nvGrpSpPr>
          <p:cNvPr id="346" name="Google Shape;346;g121e7910631_0_55"/>
          <p:cNvGrpSpPr/>
          <p:nvPr/>
        </p:nvGrpSpPr>
        <p:grpSpPr>
          <a:xfrm>
            <a:off x="3651089" y="4791929"/>
            <a:ext cx="282052" cy="282052"/>
            <a:chOff x="3157188" y="909150"/>
            <a:chExt cx="470400" cy="470400"/>
          </a:xfrm>
        </p:grpSpPr>
        <p:sp>
          <p:nvSpPr>
            <p:cNvPr id="347" name="Google Shape;347;g121e7910631_0_55"/>
            <p:cNvSpPr/>
            <p:nvPr/>
          </p:nvSpPr>
          <p:spPr>
            <a:xfrm>
              <a:off x="3157188" y="909150"/>
              <a:ext cx="470400" cy="470400"/>
            </a:xfrm>
            <a:prstGeom prst="ellipse">
              <a:avLst/>
            </a:prstGeom>
            <a:solidFill>
              <a:srgbClr val="FFFFFF"/>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g121e7910631_0_55"/>
            <p:cNvSpPr/>
            <p:nvPr/>
          </p:nvSpPr>
          <p:spPr>
            <a:xfrm>
              <a:off x="3243138" y="995100"/>
              <a:ext cx="298500" cy="298500"/>
            </a:xfrm>
            <a:prstGeom prst="mathPlus">
              <a:avLst>
                <a:gd name="adj1" fmla="val 9900"/>
              </a:avLst>
            </a:prstGeom>
            <a:solidFill>
              <a:srgbClr val="307BF3"/>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9" name="Google Shape;349;g121e7910631_0_55"/>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g121e7910631_0_352"/>
          <p:cNvSpPr txBox="1"/>
          <p:nvPr/>
        </p:nvSpPr>
        <p:spPr>
          <a:xfrm>
            <a:off x="192304" y="1302475"/>
            <a:ext cx="9521400" cy="2247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Uno de los aspectos que hace que Mercado Libre sea digna de admiración es cómo su fundador y director general, Marcos Galperin, </a:t>
            </a:r>
            <a:r>
              <a:rPr lang="en-US" sz="2000" b="1" i="0" u="none" strike="noStrike" cap="none">
                <a:solidFill>
                  <a:schemeClr val="dk1"/>
                </a:solidFill>
                <a:latin typeface="Lucida Sans"/>
                <a:ea typeface="Lucida Sans"/>
                <a:cs typeface="Lucida Sans"/>
                <a:sym typeface="Lucida Sans"/>
              </a:rPr>
              <a:t>utilizó la cultura como una estrategia para hacer crecer el negocio.</a:t>
            </a:r>
            <a:endParaRPr sz="2000" b="1" i="0" u="none" strike="noStrike" cap="none">
              <a:solidFill>
                <a:schemeClr val="dk1"/>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Lucida Sans"/>
              <a:ea typeface="Lucida Sans"/>
              <a:cs typeface="Lucida Sans"/>
              <a:sym typeface="Lucida Sans"/>
            </a:endParaRPr>
          </a:p>
          <a:p>
            <a:pPr marL="0" marR="0" lvl="0" indent="0" algn="just" rtl="0">
              <a:lnSpc>
                <a:spcPct val="100000"/>
              </a:lnSpc>
              <a:spcBef>
                <a:spcPts val="0"/>
              </a:spcBef>
              <a:spcAft>
                <a:spcPts val="0"/>
              </a:spcAft>
              <a:buClr>
                <a:schemeClr val="dk1"/>
              </a:buClr>
              <a:buSzPts val="1100"/>
              <a:buFont typeface="Arial"/>
              <a:buNone/>
            </a:pPr>
            <a:r>
              <a:rPr lang="en-US" sz="2000" b="0" i="0" u="none" strike="noStrike" cap="none">
                <a:solidFill>
                  <a:schemeClr val="dk1"/>
                </a:solidFill>
                <a:latin typeface="Lucida Sans"/>
                <a:ea typeface="Lucida Sans"/>
                <a:cs typeface="Lucida Sans"/>
                <a:sym typeface="Lucida Sans"/>
              </a:rPr>
              <a:t>El secreto del éxito cultural de Mercado Libre se basa en garantizar que los empleados vivan la cultura y los valores todos los días a través de procesos y prácticas diseñados intencionalmente.</a:t>
            </a:r>
            <a:endParaRPr sz="2000" b="0" i="0" u="none" strike="noStrike" cap="none">
              <a:solidFill>
                <a:schemeClr val="dk1"/>
              </a:solidFill>
              <a:latin typeface="Lucida Sans"/>
              <a:ea typeface="Lucida Sans"/>
              <a:cs typeface="Lucida Sans"/>
              <a:sym typeface="Lucida Sans"/>
            </a:endParaRPr>
          </a:p>
        </p:txBody>
      </p:sp>
      <p:pic>
        <p:nvPicPr>
          <p:cNvPr id="355" name="Google Shape;355;g121e7910631_0_352"/>
          <p:cNvPicPr preferRelativeResize="0"/>
          <p:nvPr/>
        </p:nvPicPr>
        <p:blipFill rotWithShape="1">
          <a:blip r:embed="rId3">
            <a:alphaModFix/>
          </a:blip>
          <a:srcRect/>
          <a:stretch/>
        </p:blipFill>
        <p:spPr>
          <a:xfrm>
            <a:off x="8222262" y="6199650"/>
            <a:ext cx="1491435" cy="541250"/>
          </a:xfrm>
          <a:prstGeom prst="rect">
            <a:avLst/>
          </a:prstGeom>
          <a:noFill/>
          <a:ln>
            <a:noFill/>
          </a:ln>
        </p:spPr>
      </p:pic>
      <p:sp>
        <p:nvSpPr>
          <p:cNvPr id="356" name="Google Shape;356;g121e7910631_0_352"/>
          <p:cNvSpPr txBox="1"/>
          <p:nvPr/>
        </p:nvSpPr>
        <p:spPr>
          <a:xfrm>
            <a:off x="1280150" y="3746000"/>
            <a:ext cx="50841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Lucida Sans"/>
                <a:ea typeface="Lucida Sans"/>
                <a:cs typeface="Lucida Sans"/>
                <a:sym typeface="Lucida Sans"/>
              </a:rPr>
              <a:t>Creamos valor para nuestros usuarios</a:t>
            </a:r>
            <a:endParaRPr sz="2000" b="0" i="0" u="none" strike="noStrike" cap="none">
              <a:solidFill>
                <a:srgbClr val="000000"/>
              </a:solidFill>
              <a:latin typeface="Lucida Sans"/>
              <a:ea typeface="Lucida Sans"/>
              <a:cs typeface="Lucida Sans"/>
              <a:sym typeface="Lucida Sans"/>
            </a:endParaRPr>
          </a:p>
        </p:txBody>
      </p:sp>
      <p:sp>
        <p:nvSpPr>
          <p:cNvPr id="357" name="Google Shape;357;g121e7910631_0_352"/>
          <p:cNvSpPr txBox="1"/>
          <p:nvPr/>
        </p:nvSpPr>
        <p:spPr>
          <a:xfrm>
            <a:off x="1652025" y="4066050"/>
            <a:ext cx="3742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Lucida Sans"/>
                <a:ea typeface="Lucida Sans"/>
                <a:cs typeface="Lucida Sans"/>
                <a:sym typeface="Lucida Sans"/>
              </a:rPr>
              <a:t>Ejecutamos con excelencia</a:t>
            </a:r>
            <a:endParaRPr sz="2000" b="0" i="0" u="none" strike="noStrike" cap="none">
              <a:solidFill>
                <a:srgbClr val="000000"/>
              </a:solidFill>
              <a:latin typeface="Lucida Sans"/>
              <a:ea typeface="Lucida Sans"/>
              <a:cs typeface="Lucida Sans"/>
              <a:sym typeface="Lucida Sans"/>
            </a:endParaRPr>
          </a:p>
        </p:txBody>
      </p:sp>
      <p:sp>
        <p:nvSpPr>
          <p:cNvPr id="358" name="Google Shape;358;g121e7910631_0_352"/>
          <p:cNvSpPr txBox="1"/>
          <p:nvPr/>
        </p:nvSpPr>
        <p:spPr>
          <a:xfrm>
            <a:off x="2033025" y="4370850"/>
            <a:ext cx="37428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Lucida Sans"/>
                <a:ea typeface="Lucida Sans"/>
                <a:cs typeface="Lucida Sans"/>
                <a:sym typeface="Lucida Sans"/>
              </a:rPr>
              <a:t>Estamos en BETA contínuo</a:t>
            </a:r>
            <a:endParaRPr sz="2000" b="0" i="0" u="none" strike="noStrike" cap="none">
              <a:solidFill>
                <a:srgbClr val="000000"/>
              </a:solidFill>
              <a:latin typeface="Lucida Sans"/>
              <a:ea typeface="Lucida Sans"/>
              <a:cs typeface="Lucida Sans"/>
              <a:sym typeface="Lucida Sans"/>
            </a:endParaRPr>
          </a:p>
        </p:txBody>
      </p:sp>
      <p:sp>
        <p:nvSpPr>
          <p:cNvPr id="359" name="Google Shape;359;g121e7910631_0_352"/>
          <p:cNvSpPr txBox="1"/>
          <p:nvPr/>
        </p:nvSpPr>
        <p:spPr>
          <a:xfrm>
            <a:off x="2337825" y="4675650"/>
            <a:ext cx="41544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Lucida Sans"/>
                <a:ea typeface="Lucida Sans"/>
                <a:cs typeface="Lucida Sans"/>
                <a:sym typeface="Lucida Sans"/>
              </a:rPr>
              <a:t>Emprendemos tomando riesgos</a:t>
            </a:r>
            <a:endParaRPr sz="2000" b="0" i="0" u="none" strike="noStrike" cap="none">
              <a:solidFill>
                <a:srgbClr val="000000"/>
              </a:solidFill>
              <a:latin typeface="Lucida Sans"/>
              <a:ea typeface="Lucida Sans"/>
              <a:cs typeface="Lucida Sans"/>
              <a:sym typeface="Lucida Sans"/>
            </a:endParaRPr>
          </a:p>
        </p:txBody>
      </p:sp>
      <p:sp>
        <p:nvSpPr>
          <p:cNvPr id="360" name="Google Shape;360;g121e7910631_0_352"/>
          <p:cNvSpPr txBox="1"/>
          <p:nvPr/>
        </p:nvSpPr>
        <p:spPr>
          <a:xfrm>
            <a:off x="2718825" y="4980450"/>
            <a:ext cx="4925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Lucida Sans"/>
                <a:ea typeface="Lucida Sans"/>
                <a:cs typeface="Lucida Sans"/>
                <a:sym typeface="Lucida Sans"/>
              </a:rPr>
              <a:t>Competimos en equipos para ganar</a:t>
            </a:r>
            <a:endParaRPr sz="2000" b="0" i="0" u="none" strike="noStrike" cap="none">
              <a:solidFill>
                <a:srgbClr val="000000"/>
              </a:solidFill>
              <a:latin typeface="Lucida Sans"/>
              <a:ea typeface="Lucida Sans"/>
              <a:cs typeface="Lucida Sans"/>
              <a:sym typeface="Lucida Sans"/>
            </a:endParaRPr>
          </a:p>
        </p:txBody>
      </p:sp>
      <p:sp>
        <p:nvSpPr>
          <p:cNvPr id="361" name="Google Shape;361;g121e7910631_0_352"/>
          <p:cNvSpPr txBox="1"/>
          <p:nvPr/>
        </p:nvSpPr>
        <p:spPr>
          <a:xfrm>
            <a:off x="3099825" y="5285250"/>
            <a:ext cx="4925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Lucida Sans"/>
                <a:ea typeface="Lucida Sans"/>
                <a:cs typeface="Lucida Sans"/>
                <a:sym typeface="Lucida Sans"/>
              </a:rPr>
              <a:t>Damos el máximo y nos divertimos</a:t>
            </a:r>
            <a:endParaRPr sz="2000" b="0" i="0" u="none" strike="noStrike" cap="none">
              <a:solidFill>
                <a:srgbClr val="000000"/>
              </a:solidFill>
              <a:latin typeface="Lucida Sans"/>
              <a:ea typeface="Lucida Sans"/>
              <a:cs typeface="Lucida Sans"/>
              <a:sym typeface="Lucida Sans"/>
            </a:endParaRPr>
          </a:p>
        </p:txBody>
      </p:sp>
      <p:sp>
        <p:nvSpPr>
          <p:cNvPr id="362" name="Google Shape;362;g121e7910631_0_352"/>
          <p:cNvSpPr txBox="1"/>
          <p:nvPr/>
        </p:nvSpPr>
        <p:spPr>
          <a:xfrm>
            <a:off x="7900400" y="3369600"/>
            <a:ext cx="435900" cy="2647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A</a:t>
            </a:r>
            <a:endParaRPr sz="2000" b="1" i="0" u="none" strike="noStrike" cap="none">
              <a:solidFill>
                <a:srgbClr val="00000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D</a:t>
            </a:r>
            <a:endParaRPr sz="2000" b="1" i="0" u="none" strike="noStrike" cap="none">
              <a:solidFill>
                <a:srgbClr val="00000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N </a:t>
            </a:r>
            <a:endParaRPr sz="2000" b="1" i="0" u="none" strike="noStrike" cap="none">
              <a:solidFill>
                <a:srgbClr val="00000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00000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M</a:t>
            </a:r>
            <a:endParaRPr sz="2000" b="1" i="0" u="none" strike="noStrike" cap="none">
              <a:solidFill>
                <a:srgbClr val="00000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E</a:t>
            </a:r>
            <a:endParaRPr sz="2000" b="1" i="0" u="none" strike="noStrike" cap="none">
              <a:solidFill>
                <a:srgbClr val="00000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L</a:t>
            </a:r>
            <a:endParaRPr sz="2000" b="1" i="0" u="none" strike="noStrike" cap="none">
              <a:solidFill>
                <a:srgbClr val="00000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I</a:t>
            </a:r>
            <a:endParaRPr sz="2000" b="1" i="0" u="none" strike="noStrike" cap="none">
              <a:solidFill>
                <a:srgbClr val="000000"/>
              </a:solidFill>
              <a:latin typeface="Lucida Sans"/>
              <a:ea typeface="Lucida Sans"/>
              <a:cs typeface="Lucida Sans"/>
              <a:sym typeface="Lucida Sans"/>
            </a:endParaRPr>
          </a:p>
        </p:txBody>
      </p:sp>
      <p:cxnSp>
        <p:nvCxnSpPr>
          <p:cNvPr id="363" name="Google Shape;363;g121e7910631_0_352"/>
          <p:cNvCxnSpPr>
            <a:stCxn id="356" idx="1"/>
            <a:endCxn id="357" idx="1"/>
          </p:cNvCxnSpPr>
          <p:nvPr/>
        </p:nvCxnSpPr>
        <p:spPr>
          <a:xfrm>
            <a:off x="1280150" y="3992300"/>
            <a:ext cx="372000" cy="320100"/>
          </a:xfrm>
          <a:prstGeom prst="curvedConnector3">
            <a:avLst>
              <a:gd name="adj1" fmla="val -64012"/>
            </a:avLst>
          </a:prstGeom>
          <a:noFill/>
          <a:ln w="19050" cap="flat" cmpd="sng">
            <a:solidFill>
              <a:srgbClr val="0000FF"/>
            </a:solidFill>
            <a:prstDash val="solid"/>
            <a:round/>
            <a:headEnd type="none" w="sm" len="sm"/>
            <a:tailEnd type="none" w="sm" len="sm"/>
          </a:ln>
        </p:spPr>
      </p:cxnSp>
      <p:cxnSp>
        <p:nvCxnSpPr>
          <p:cNvPr id="364" name="Google Shape;364;g121e7910631_0_352"/>
          <p:cNvCxnSpPr/>
          <p:nvPr/>
        </p:nvCxnSpPr>
        <p:spPr>
          <a:xfrm>
            <a:off x="1661025" y="4312400"/>
            <a:ext cx="372000" cy="320100"/>
          </a:xfrm>
          <a:prstGeom prst="curvedConnector3">
            <a:avLst>
              <a:gd name="adj1" fmla="val -64012"/>
            </a:avLst>
          </a:prstGeom>
          <a:noFill/>
          <a:ln w="19050" cap="flat" cmpd="sng">
            <a:solidFill>
              <a:srgbClr val="0000FF"/>
            </a:solidFill>
            <a:prstDash val="solid"/>
            <a:round/>
            <a:headEnd type="none" w="sm" len="sm"/>
            <a:tailEnd type="none" w="sm" len="sm"/>
          </a:ln>
        </p:spPr>
      </p:cxnSp>
      <p:cxnSp>
        <p:nvCxnSpPr>
          <p:cNvPr id="365" name="Google Shape;365;g121e7910631_0_352"/>
          <p:cNvCxnSpPr/>
          <p:nvPr/>
        </p:nvCxnSpPr>
        <p:spPr>
          <a:xfrm>
            <a:off x="2051175" y="4632500"/>
            <a:ext cx="372000" cy="320100"/>
          </a:xfrm>
          <a:prstGeom prst="curvedConnector3">
            <a:avLst>
              <a:gd name="adj1" fmla="val -64012"/>
            </a:avLst>
          </a:prstGeom>
          <a:noFill/>
          <a:ln w="19050" cap="flat" cmpd="sng">
            <a:solidFill>
              <a:srgbClr val="0000FF"/>
            </a:solidFill>
            <a:prstDash val="solid"/>
            <a:round/>
            <a:headEnd type="none" w="sm" len="sm"/>
            <a:tailEnd type="none" w="sm" len="sm"/>
          </a:ln>
        </p:spPr>
      </p:cxnSp>
      <p:cxnSp>
        <p:nvCxnSpPr>
          <p:cNvPr id="366" name="Google Shape;366;g121e7910631_0_352"/>
          <p:cNvCxnSpPr/>
          <p:nvPr/>
        </p:nvCxnSpPr>
        <p:spPr>
          <a:xfrm>
            <a:off x="2346825" y="4952600"/>
            <a:ext cx="372000" cy="320100"/>
          </a:xfrm>
          <a:prstGeom prst="curvedConnector3">
            <a:avLst>
              <a:gd name="adj1" fmla="val -64012"/>
            </a:avLst>
          </a:prstGeom>
          <a:noFill/>
          <a:ln w="19050" cap="flat" cmpd="sng">
            <a:solidFill>
              <a:srgbClr val="0000FF"/>
            </a:solidFill>
            <a:prstDash val="solid"/>
            <a:round/>
            <a:headEnd type="none" w="sm" len="sm"/>
            <a:tailEnd type="none" w="sm" len="sm"/>
          </a:ln>
        </p:spPr>
      </p:cxnSp>
      <p:cxnSp>
        <p:nvCxnSpPr>
          <p:cNvPr id="367" name="Google Shape;367;g121e7910631_0_352"/>
          <p:cNvCxnSpPr/>
          <p:nvPr/>
        </p:nvCxnSpPr>
        <p:spPr>
          <a:xfrm>
            <a:off x="2727825" y="5285250"/>
            <a:ext cx="372000" cy="320100"/>
          </a:xfrm>
          <a:prstGeom prst="curvedConnector3">
            <a:avLst>
              <a:gd name="adj1" fmla="val -64012"/>
            </a:avLst>
          </a:prstGeom>
          <a:noFill/>
          <a:ln w="19050" cap="flat" cmpd="sng">
            <a:solidFill>
              <a:srgbClr val="0000FF"/>
            </a:solidFill>
            <a:prstDash val="solid"/>
            <a:round/>
            <a:headEnd type="none" w="sm" len="sm"/>
            <a:tailEnd type="none" w="sm" len="sm"/>
          </a:ln>
        </p:spPr>
      </p:cxnSp>
      <p:sp>
        <p:nvSpPr>
          <p:cNvPr id="368" name="Google Shape;368;g121e7910631_0_352"/>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g121e7910631_0_849"/>
          <p:cNvSpPr txBox="1"/>
          <p:nvPr/>
        </p:nvSpPr>
        <p:spPr>
          <a:xfrm>
            <a:off x="192304" y="1302475"/>
            <a:ext cx="9521400" cy="708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Modelo </a:t>
            </a:r>
            <a:r>
              <a:rPr lang="en-US" sz="2000" b="1" i="0" u="none" strike="noStrike" cap="none">
                <a:solidFill>
                  <a:schemeClr val="dk1"/>
                </a:solidFill>
                <a:latin typeface="Lucida Sans"/>
                <a:ea typeface="Lucida Sans"/>
                <a:cs typeface="Lucida Sans"/>
                <a:sym typeface="Lucida Sans"/>
              </a:rPr>
              <a:t>7S’s DE McKINSEY</a:t>
            </a:r>
            <a:r>
              <a:rPr lang="en-US" sz="2000" b="0" i="0" u="none" strike="noStrike" cap="none">
                <a:solidFill>
                  <a:schemeClr val="dk1"/>
                </a:solidFill>
                <a:latin typeface="Lucida Sans"/>
                <a:ea typeface="Lucida Sans"/>
                <a:cs typeface="Lucida Sans"/>
                <a:sym typeface="Lucida Sans"/>
              </a:rPr>
              <a:t> y la importancia de la alineación de la cultura a la estrategia organizacional</a:t>
            </a:r>
            <a:endParaRPr sz="2000" b="0" i="0" u="none" strike="noStrike" cap="none">
              <a:solidFill>
                <a:schemeClr val="dk1"/>
              </a:solidFill>
              <a:latin typeface="Lucida Sans"/>
              <a:ea typeface="Lucida Sans"/>
              <a:cs typeface="Lucida Sans"/>
              <a:sym typeface="Lucida Sans"/>
            </a:endParaRPr>
          </a:p>
        </p:txBody>
      </p:sp>
      <p:sp>
        <p:nvSpPr>
          <p:cNvPr id="374" name="Google Shape;374;g121e7910631_0_849"/>
          <p:cNvSpPr txBox="1"/>
          <p:nvPr/>
        </p:nvSpPr>
        <p:spPr>
          <a:xfrm>
            <a:off x="192304" y="2064475"/>
            <a:ext cx="9521400" cy="163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Es una herramienta creada por consultores de McKinsey y profesores de la Escuela de Negocios de Harvard y Stanford.</a:t>
            </a:r>
            <a:endParaRPr sz="2000" b="0" i="0" u="none" strike="noStrike" cap="none">
              <a:solidFill>
                <a:schemeClr val="dk1"/>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Una serie de estudios realizados a lo largo de más de tres décadas llevaron a las siguientes conclusiones:</a:t>
            </a:r>
            <a:endParaRPr sz="2000" b="0" i="0" u="none" strike="noStrike" cap="none">
              <a:solidFill>
                <a:schemeClr val="dk1"/>
              </a:solidFill>
              <a:latin typeface="Lucida Sans"/>
              <a:ea typeface="Lucida Sans"/>
              <a:cs typeface="Lucida Sans"/>
              <a:sym typeface="Lucida Sans"/>
            </a:endParaRPr>
          </a:p>
        </p:txBody>
      </p:sp>
      <p:sp>
        <p:nvSpPr>
          <p:cNvPr id="375" name="Google Shape;375;g121e7910631_0_849"/>
          <p:cNvSpPr/>
          <p:nvPr/>
        </p:nvSpPr>
        <p:spPr>
          <a:xfrm>
            <a:off x="219450" y="3733243"/>
            <a:ext cx="2141700" cy="20406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Lucida Sans"/>
                <a:ea typeface="Lucida Sans"/>
                <a:cs typeface="Lucida Sans"/>
                <a:sym typeface="Lucida Sans"/>
              </a:rPr>
              <a:t>No hay una única mejor forma de organización</a:t>
            </a:r>
            <a:endParaRPr sz="950" b="0" i="0" u="none" strike="noStrike" cap="none">
              <a:solidFill>
                <a:srgbClr val="000000"/>
              </a:solidFill>
              <a:latin typeface="Lucida Sans"/>
              <a:ea typeface="Lucida Sans"/>
              <a:cs typeface="Lucida Sans"/>
              <a:sym typeface="Lucida Sans"/>
            </a:endParaRPr>
          </a:p>
        </p:txBody>
      </p:sp>
      <p:sp>
        <p:nvSpPr>
          <p:cNvPr id="376" name="Google Shape;376;g121e7910631_0_849"/>
          <p:cNvSpPr/>
          <p:nvPr/>
        </p:nvSpPr>
        <p:spPr>
          <a:xfrm>
            <a:off x="2070917" y="4705718"/>
            <a:ext cx="2141700" cy="20406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Lucida Sans"/>
                <a:ea typeface="Lucida Sans"/>
                <a:cs typeface="Lucida Sans"/>
                <a:sym typeface="Lucida Sans"/>
              </a:rPr>
              <a:t>La organización ideal es aquella que está alineada con su entorno o que "encaja" en el mismo</a:t>
            </a:r>
            <a:endParaRPr sz="950" b="0" i="0" u="none" strike="noStrike" cap="none">
              <a:solidFill>
                <a:srgbClr val="000000"/>
              </a:solidFill>
              <a:latin typeface="Lucida Sans"/>
              <a:ea typeface="Lucida Sans"/>
              <a:cs typeface="Lucida Sans"/>
              <a:sym typeface="Lucida Sans"/>
            </a:endParaRPr>
          </a:p>
        </p:txBody>
      </p:sp>
      <p:sp>
        <p:nvSpPr>
          <p:cNvPr id="377" name="Google Shape;377;g121e7910631_0_849"/>
          <p:cNvSpPr/>
          <p:nvPr/>
        </p:nvSpPr>
        <p:spPr>
          <a:xfrm>
            <a:off x="3942712" y="3689875"/>
            <a:ext cx="2141700" cy="20406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Lucida Sans"/>
                <a:ea typeface="Lucida Sans"/>
                <a:cs typeface="Lucida Sans"/>
                <a:sym typeface="Lucida Sans"/>
              </a:rPr>
              <a:t>La organización ideal es un sistema complejo con elementos/factores interrelacionados, cada uno de los cuales contribuye a la efectividad de una organización</a:t>
            </a:r>
            <a:endParaRPr sz="950" b="0" i="0" u="none" strike="noStrike" cap="none">
              <a:solidFill>
                <a:srgbClr val="000000"/>
              </a:solidFill>
              <a:latin typeface="Lucida Sans"/>
              <a:ea typeface="Lucida Sans"/>
              <a:cs typeface="Lucida Sans"/>
              <a:sym typeface="Lucida Sans"/>
            </a:endParaRPr>
          </a:p>
        </p:txBody>
      </p:sp>
      <p:sp>
        <p:nvSpPr>
          <p:cNvPr id="378" name="Google Shape;378;g121e7910631_0_849"/>
          <p:cNvSpPr/>
          <p:nvPr/>
        </p:nvSpPr>
        <p:spPr>
          <a:xfrm>
            <a:off x="5762260" y="4780951"/>
            <a:ext cx="2141700" cy="20406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Lucida Sans"/>
                <a:ea typeface="Lucida Sans"/>
                <a:cs typeface="Lucida Sans"/>
                <a:sym typeface="Lucida Sans"/>
              </a:rPr>
              <a:t>Hay siete factores que son claves para comprender la efectividad de una organización: estrategia, estructura, sistemas, personal, habilidades, estilo (cultura)y valores compartidos (misión)</a:t>
            </a:r>
            <a:endParaRPr sz="950" b="0" i="0" u="none" strike="noStrike" cap="none">
              <a:solidFill>
                <a:srgbClr val="000000"/>
              </a:solidFill>
              <a:latin typeface="Lucida Sans"/>
              <a:ea typeface="Lucida Sans"/>
              <a:cs typeface="Lucida Sans"/>
              <a:sym typeface="Lucida Sans"/>
            </a:endParaRPr>
          </a:p>
        </p:txBody>
      </p:sp>
      <p:sp>
        <p:nvSpPr>
          <p:cNvPr id="379" name="Google Shape;379;g121e7910631_0_849"/>
          <p:cNvSpPr/>
          <p:nvPr/>
        </p:nvSpPr>
        <p:spPr>
          <a:xfrm>
            <a:off x="7599208" y="3689875"/>
            <a:ext cx="2141700" cy="2040600"/>
          </a:xfrm>
          <a:prstGeom prst="ellipse">
            <a:avLst/>
          </a:prstGeom>
          <a:noFill/>
          <a:ln w="19050"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950"/>
              <a:buFont typeface="Arial"/>
              <a:buNone/>
            </a:pPr>
            <a:r>
              <a:rPr lang="en-US" sz="950" b="0" i="0" u="none" strike="noStrike" cap="none">
                <a:solidFill>
                  <a:srgbClr val="000000"/>
                </a:solidFill>
                <a:latin typeface="Lucida Sans"/>
                <a:ea typeface="Lucida Sans"/>
                <a:cs typeface="Lucida Sans"/>
                <a:sym typeface="Lucida Sans"/>
              </a:rPr>
              <a:t>Para ser eficiente, una organización debe tener entre estos siete elementos, un alto grado de "fit" o alineamiento interno; es decir cada S debe ser coherente con las otras Ss y reforzarlas</a:t>
            </a:r>
            <a:endParaRPr sz="950" b="0" i="0" u="none" strike="noStrike" cap="none">
              <a:solidFill>
                <a:srgbClr val="000000"/>
              </a:solidFill>
              <a:latin typeface="Lucida Sans"/>
              <a:ea typeface="Lucida Sans"/>
              <a:cs typeface="Lucida Sans"/>
              <a:sym typeface="Lucida Sans"/>
            </a:endParaRPr>
          </a:p>
        </p:txBody>
      </p:sp>
      <p:sp>
        <p:nvSpPr>
          <p:cNvPr id="380" name="Google Shape;380;g121e7910631_0_849"/>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pic>
        <p:nvPicPr>
          <p:cNvPr id="385" name="Google Shape;385;g121e7910631_0_867"/>
          <p:cNvPicPr preferRelativeResize="0"/>
          <p:nvPr/>
        </p:nvPicPr>
        <p:blipFill rotWithShape="1">
          <a:blip r:embed="rId3">
            <a:alphaModFix/>
          </a:blip>
          <a:srcRect/>
          <a:stretch/>
        </p:blipFill>
        <p:spPr>
          <a:xfrm>
            <a:off x="1752600" y="1340376"/>
            <a:ext cx="6866661" cy="5365224"/>
          </a:xfrm>
          <a:prstGeom prst="rect">
            <a:avLst/>
          </a:prstGeom>
          <a:noFill/>
          <a:ln>
            <a:noFill/>
          </a:ln>
        </p:spPr>
      </p:pic>
      <p:sp>
        <p:nvSpPr>
          <p:cNvPr id="386" name="Google Shape;386;g121e7910631_0_867"/>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Cultura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123d31d1acb_0_12"/>
          <p:cNvSpPr/>
          <p:nvPr/>
        </p:nvSpPr>
        <p:spPr>
          <a:xfrm>
            <a:off x="2256906" y="3171416"/>
            <a:ext cx="6194400" cy="428700"/>
          </a:xfrm>
          <a:prstGeom prst="roundRect">
            <a:avLst>
              <a:gd name="adj" fmla="val 16667"/>
            </a:avLst>
          </a:prstGeom>
          <a:solidFill>
            <a:srgbClr val="C9EEF6"/>
          </a:solidFill>
          <a:ln>
            <a:noFill/>
          </a:ln>
          <a:effectLst>
            <a:outerShdw blurRad="149987" dist="250190" dir="8460000" algn="ctr">
              <a:srgbClr val="000000">
                <a:alpha val="26666"/>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Clima Organizacional</a:t>
            </a:r>
            <a:endParaRPr sz="1400" b="0" i="0" u="none" strike="noStrike" cap="none">
              <a:solidFill>
                <a:srgbClr val="000000"/>
              </a:solidFill>
              <a:latin typeface="Arial"/>
              <a:ea typeface="Arial"/>
              <a:cs typeface="Arial"/>
              <a:sym typeface="Arial"/>
            </a:endParaRPr>
          </a:p>
        </p:txBody>
      </p:sp>
      <p:sp>
        <p:nvSpPr>
          <p:cNvPr id="392" name="Google Shape;392;g123d31d1acb_0_12"/>
          <p:cNvSpPr/>
          <p:nvPr/>
        </p:nvSpPr>
        <p:spPr>
          <a:xfrm>
            <a:off x="2042592" y="3171416"/>
            <a:ext cx="571500" cy="428700"/>
          </a:xfrm>
          <a:prstGeom prst="ellipse">
            <a:avLst/>
          </a:prstGeom>
          <a:solidFill>
            <a:schemeClr val="accent4"/>
          </a:solidFill>
          <a:ln>
            <a:noFill/>
          </a:ln>
          <a:effectLst>
            <a:outerShdw blurRad="44450" dist="27940" dir="5400000" algn="ctr">
              <a:srgbClr val="000000">
                <a:alpha val="3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393" name="Google Shape;393;g123d31d1acb_0_12"/>
          <p:cNvSpPr/>
          <p:nvPr/>
        </p:nvSpPr>
        <p:spPr>
          <a:xfrm>
            <a:off x="2256906" y="3814358"/>
            <a:ext cx="6194400" cy="428700"/>
          </a:xfrm>
          <a:prstGeom prst="roundRect">
            <a:avLst>
              <a:gd name="adj" fmla="val 16667"/>
            </a:avLst>
          </a:prstGeom>
          <a:solidFill>
            <a:srgbClr val="D8D8D8"/>
          </a:solidFill>
          <a:ln>
            <a:noFill/>
          </a:ln>
          <a:effectLst>
            <a:outerShdw blurRad="149987" dist="250190" dir="8460000" algn="ctr">
              <a:srgbClr val="000000">
                <a:alpha val="26666"/>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Contrato Psicológico</a:t>
            </a:r>
            <a:endParaRPr sz="1400" b="0" i="0" u="none" strike="noStrike" cap="none">
              <a:solidFill>
                <a:srgbClr val="000000"/>
              </a:solidFill>
              <a:latin typeface="Arial"/>
              <a:ea typeface="Arial"/>
              <a:cs typeface="Arial"/>
              <a:sym typeface="Arial"/>
            </a:endParaRPr>
          </a:p>
        </p:txBody>
      </p:sp>
      <p:sp>
        <p:nvSpPr>
          <p:cNvPr id="394" name="Google Shape;394;g123d31d1acb_0_12"/>
          <p:cNvSpPr/>
          <p:nvPr/>
        </p:nvSpPr>
        <p:spPr>
          <a:xfrm>
            <a:off x="2042592" y="3814358"/>
            <a:ext cx="571500" cy="428700"/>
          </a:xfrm>
          <a:prstGeom prst="ellipse">
            <a:avLst/>
          </a:prstGeom>
          <a:solidFill>
            <a:srgbClr val="909090"/>
          </a:solidFill>
          <a:ln>
            <a:noFill/>
          </a:ln>
          <a:effectLst>
            <a:outerShdw blurRad="44450" dist="27940" dir="5400000" algn="ctr">
              <a:srgbClr val="000000">
                <a:alpha val="3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395" name="Google Shape;395;g123d31d1acb_0_12"/>
          <p:cNvSpPr/>
          <p:nvPr/>
        </p:nvSpPr>
        <p:spPr>
          <a:xfrm>
            <a:off x="2256906" y="2528474"/>
            <a:ext cx="6194400" cy="428700"/>
          </a:xfrm>
          <a:prstGeom prst="roundRect">
            <a:avLst>
              <a:gd name="adj" fmla="val 16667"/>
            </a:avLst>
          </a:prstGeom>
          <a:solidFill>
            <a:srgbClr val="D8D8D8"/>
          </a:solidFill>
          <a:ln>
            <a:noFill/>
          </a:ln>
          <a:effectLst>
            <a:outerShdw blurRad="149987" dist="250190" dir="8460000" algn="ctr">
              <a:srgbClr val="000000">
                <a:alpha val="26666"/>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Cultura Organizacional</a:t>
            </a:r>
            <a:endParaRPr sz="1800" b="0" i="0" u="none" strike="noStrike" cap="none">
              <a:solidFill>
                <a:srgbClr val="2A4A75"/>
              </a:solidFill>
              <a:latin typeface="Lucida Sans"/>
              <a:ea typeface="Lucida Sans"/>
              <a:cs typeface="Lucida Sans"/>
              <a:sym typeface="Lucida Sans"/>
            </a:endParaRPr>
          </a:p>
        </p:txBody>
      </p:sp>
      <p:sp>
        <p:nvSpPr>
          <p:cNvPr id="396" name="Google Shape;396;g123d31d1acb_0_12"/>
          <p:cNvSpPr/>
          <p:nvPr/>
        </p:nvSpPr>
        <p:spPr>
          <a:xfrm>
            <a:off x="2042592" y="2528474"/>
            <a:ext cx="571500" cy="428700"/>
          </a:xfrm>
          <a:prstGeom prst="ellipse">
            <a:avLst/>
          </a:prstGeom>
          <a:solidFill>
            <a:srgbClr val="909090"/>
          </a:solidFill>
          <a:ln>
            <a:noFill/>
          </a:ln>
          <a:effectLst>
            <a:outerShdw blurRad="44450" dist="27940" dir="5400000" algn="ctr">
              <a:srgbClr val="000000">
                <a:alpha val="3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397" name="Google Shape;397;g123d31d1acb_0_12"/>
          <p:cNvSpPr/>
          <p:nvPr/>
        </p:nvSpPr>
        <p:spPr>
          <a:xfrm>
            <a:off x="1034480" y="3198884"/>
            <a:ext cx="864000" cy="428700"/>
          </a:xfrm>
          <a:prstGeom prst="stripedRightArrow">
            <a:avLst>
              <a:gd name="adj1" fmla="val 50000"/>
              <a:gd name="adj2" fmla="val 50000"/>
            </a:avLst>
          </a:prstGeom>
          <a:solidFill>
            <a:schemeClr val="accent1"/>
          </a:solidFill>
          <a:ln w="63500" cap="flat" cmpd="thickThin">
            <a:solidFill>
              <a:schemeClr val="lt1"/>
            </a:solidFill>
            <a:prstDash val="solid"/>
            <a:round/>
            <a:headEnd type="none" w="sm" len="sm"/>
            <a:tailEnd type="none" w="sm" len="sm"/>
          </a:ln>
          <a:effectLst>
            <a:outerShdw blurRad="50800" dist="381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398" name="Google Shape;398;g123d31d1acb_0_12"/>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chemeClr val="accent4"/>
                </a:solidFill>
                <a:latin typeface="Lucida Sans"/>
                <a:ea typeface="Lucida Sans"/>
                <a:cs typeface="Lucida Sans"/>
                <a:sym typeface="Lucida Sans"/>
              </a:rPr>
              <a:t>Agenda</a:t>
            </a:r>
            <a:endParaRPr sz="1700" b="1" i="0" u="none" strike="noStrike" cap="none">
              <a:solidFill>
                <a:schemeClr val="accent4"/>
              </a:solidFill>
              <a:latin typeface="Lucida Sans"/>
              <a:ea typeface="Lucida Sans"/>
              <a:cs typeface="Lucida Sans"/>
              <a:sym typeface="Lucid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g121e7910631_0_881"/>
          <p:cNvSpPr txBox="1"/>
          <p:nvPr/>
        </p:nvSpPr>
        <p:spPr>
          <a:xfrm>
            <a:off x="192304" y="1302475"/>
            <a:ext cx="95214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Lucida Sans"/>
                <a:ea typeface="Lucida Sans"/>
                <a:cs typeface="Lucida Sans"/>
                <a:sym typeface="Lucida Sans"/>
              </a:rPr>
              <a:t>Cultura Organizacional Vs. Clima Organizacional</a:t>
            </a:r>
            <a:endParaRPr sz="2000" b="1" i="0" u="none" strike="noStrike" cap="none">
              <a:solidFill>
                <a:schemeClr val="dk1"/>
              </a:solidFill>
              <a:latin typeface="Lucida Sans"/>
              <a:ea typeface="Lucida Sans"/>
              <a:cs typeface="Lucida Sans"/>
              <a:sym typeface="Lucida Sans"/>
            </a:endParaRPr>
          </a:p>
        </p:txBody>
      </p:sp>
      <p:sp>
        <p:nvSpPr>
          <p:cNvPr id="404" name="Google Shape;404;g121e7910631_0_881"/>
          <p:cNvSpPr txBox="1"/>
          <p:nvPr/>
        </p:nvSpPr>
        <p:spPr>
          <a:xfrm>
            <a:off x="573300" y="1835875"/>
            <a:ext cx="90066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Lucida Sans"/>
                <a:ea typeface="Lucida Sans"/>
                <a:cs typeface="Lucida Sans"/>
                <a:sym typeface="Lucida Sans"/>
              </a:rPr>
              <a:t>La cultura y el clima si bien refieren a características organizacionales, tienen diferencias:</a:t>
            </a:r>
            <a:endParaRPr sz="2000" b="0" i="0" u="none" strike="noStrike" cap="none">
              <a:solidFill>
                <a:schemeClr val="dk1"/>
              </a:solidFill>
              <a:latin typeface="Lucida Sans"/>
              <a:ea typeface="Lucida Sans"/>
              <a:cs typeface="Lucida Sans"/>
              <a:sym typeface="Lucida Sans"/>
            </a:endParaRPr>
          </a:p>
        </p:txBody>
      </p:sp>
      <p:sp>
        <p:nvSpPr>
          <p:cNvPr id="405" name="Google Shape;405;g121e7910631_0_881"/>
          <p:cNvSpPr txBox="1"/>
          <p:nvPr/>
        </p:nvSpPr>
        <p:spPr>
          <a:xfrm>
            <a:off x="4904502" y="3342675"/>
            <a:ext cx="4446900" cy="2555100"/>
          </a:xfrm>
          <a:prstGeom prst="rect">
            <a:avLst/>
          </a:prstGeom>
          <a:noFill/>
          <a:ln>
            <a:noFill/>
          </a:ln>
        </p:spPr>
        <p:txBody>
          <a:bodyPr spcFirstLastPara="1" wrap="square" lIns="91425" tIns="45700" rIns="91425" bIns="45700" anchor="t" anchorCtr="0">
            <a:spAutoFit/>
          </a:bodyPr>
          <a:lstStyle/>
          <a:p>
            <a:pPr marL="457200" marR="0" lvl="0" indent="-355600" algn="l" rtl="0">
              <a:lnSpc>
                <a:spcPct val="100000"/>
              </a:lnSpc>
              <a:spcBef>
                <a:spcPts val="0"/>
              </a:spcBef>
              <a:spcAft>
                <a:spcPts val="0"/>
              </a:spcAft>
              <a:buClr>
                <a:schemeClr val="dk1"/>
              </a:buClr>
              <a:buSzPts val="2000"/>
              <a:buFont typeface="Lucida Sans"/>
              <a:buChar char="-"/>
            </a:pPr>
            <a:r>
              <a:rPr lang="en-US" sz="2000" b="0" i="0" u="none" strike="noStrike" cap="none">
                <a:solidFill>
                  <a:schemeClr val="dk1"/>
                </a:solidFill>
                <a:latin typeface="Lucida Sans"/>
                <a:ea typeface="Lucida Sans"/>
                <a:cs typeface="Lucida Sans"/>
                <a:sym typeface="Lucida Sans"/>
              </a:rPr>
              <a:t>El clima se centra en la atmósfera que se crea en la compañía basada en la cultura.</a:t>
            </a:r>
            <a:endParaRPr sz="2000" b="0" i="0" u="none" strike="noStrike" cap="none">
              <a:solidFill>
                <a:schemeClr val="dk1"/>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chemeClr val="dk1"/>
              </a:buClr>
              <a:buSzPts val="2000"/>
              <a:buFont typeface="Lucida Sans"/>
              <a:buChar char="-"/>
            </a:pPr>
            <a:r>
              <a:rPr lang="en-US" sz="2000" b="0" i="0" u="none" strike="noStrike" cap="none">
                <a:solidFill>
                  <a:schemeClr val="dk1"/>
                </a:solidFill>
                <a:latin typeface="Lucida Sans"/>
                <a:ea typeface="Lucida Sans"/>
                <a:cs typeface="Lucida Sans"/>
                <a:sym typeface="Lucida Sans"/>
              </a:rPr>
              <a:t>El clima refleja la percepción en relación a la calidad y las características de la organización.</a:t>
            </a:r>
            <a:endParaRPr sz="2000" b="0" i="0" u="none" strike="noStrike" cap="none">
              <a:solidFill>
                <a:schemeClr val="dk1"/>
              </a:solidFill>
              <a:latin typeface="Lucida Sans"/>
              <a:ea typeface="Lucida Sans"/>
              <a:cs typeface="Lucida Sans"/>
              <a:sym typeface="Lucida Sans"/>
            </a:endParaRPr>
          </a:p>
        </p:txBody>
      </p:sp>
      <p:sp>
        <p:nvSpPr>
          <p:cNvPr id="406" name="Google Shape;406;g121e7910631_0_881"/>
          <p:cNvSpPr txBox="1"/>
          <p:nvPr/>
        </p:nvSpPr>
        <p:spPr>
          <a:xfrm>
            <a:off x="689500" y="3342675"/>
            <a:ext cx="4062600" cy="1939500"/>
          </a:xfrm>
          <a:prstGeom prst="rect">
            <a:avLst/>
          </a:prstGeom>
          <a:noFill/>
          <a:ln>
            <a:noFill/>
          </a:ln>
        </p:spPr>
        <p:txBody>
          <a:bodyPr spcFirstLastPara="1" wrap="square" lIns="91425" tIns="45700" rIns="91425" bIns="45700" anchor="t" anchorCtr="0">
            <a:spAutoFit/>
          </a:bodyPr>
          <a:lstStyle/>
          <a:p>
            <a:pPr marL="457200" marR="0" lvl="0" indent="-355600" algn="l" rtl="0">
              <a:lnSpc>
                <a:spcPct val="100000"/>
              </a:lnSpc>
              <a:spcBef>
                <a:spcPts val="0"/>
              </a:spcBef>
              <a:spcAft>
                <a:spcPts val="0"/>
              </a:spcAft>
              <a:buClr>
                <a:schemeClr val="dk1"/>
              </a:buClr>
              <a:buSzPts val="2000"/>
              <a:buFont typeface="Lucida Sans"/>
              <a:buChar char="-"/>
            </a:pPr>
            <a:r>
              <a:rPr lang="en-US" sz="2000" b="0" i="0" u="none" strike="noStrike" cap="none">
                <a:solidFill>
                  <a:schemeClr val="dk1"/>
                </a:solidFill>
                <a:latin typeface="Lucida Sans"/>
                <a:ea typeface="Lucida Sans"/>
                <a:cs typeface="Lucida Sans"/>
                <a:sym typeface="Lucida Sans"/>
              </a:rPr>
              <a:t>La cultura se centra en los valores y comportamientos de los empleados.</a:t>
            </a:r>
            <a:endParaRPr sz="2000" b="0" i="0" u="none" strike="noStrike" cap="none">
              <a:solidFill>
                <a:schemeClr val="dk1"/>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chemeClr val="dk1"/>
              </a:buClr>
              <a:buSzPts val="2000"/>
              <a:buFont typeface="Lucida Sans"/>
              <a:buChar char="-"/>
            </a:pPr>
            <a:r>
              <a:rPr lang="en-US" sz="2000" b="0" i="0" u="none" strike="noStrike" cap="none">
                <a:solidFill>
                  <a:schemeClr val="dk1"/>
                </a:solidFill>
                <a:latin typeface="Lucida Sans"/>
                <a:ea typeface="Lucida Sans"/>
                <a:cs typeface="Lucida Sans"/>
                <a:sym typeface="Lucida Sans"/>
              </a:rPr>
              <a:t>La cultura refiere a la imagen auténtica de la organización.</a:t>
            </a:r>
            <a:endParaRPr sz="2000" b="0" i="0" u="none" strike="noStrike" cap="none">
              <a:solidFill>
                <a:schemeClr val="dk1"/>
              </a:solidFill>
              <a:latin typeface="Lucida Sans"/>
              <a:ea typeface="Lucida Sans"/>
              <a:cs typeface="Lucida Sans"/>
              <a:sym typeface="Lucida Sans"/>
            </a:endParaRPr>
          </a:p>
        </p:txBody>
      </p:sp>
      <p:sp>
        <p:nvSpPr>
          <p:cNvPr id="407" name="Google Shape;407;g121e7910631_0_881"/>
          <p:cNvSpPr txBox="1"/>
          <p:nvPr/>
        </p:nvSpPr>
        <p:spPr>
          <a:xfrm>
            <a:off x="1716025" y="2798075"/>
            <a:ext cx="18471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FF"/>
                </a:solidFill>
                <a:latin typeface="Lucida Sans"/>
                <a:ea typeface="Lucida Sans"/>
                <a:cs typeface="Lucida Sans"/>
                <a:sym typeface="Lucida Sans"/>
              </a:rPr>
              <a:t>CULTURA</a:t>
            </a:r>
            <a:endParaRPr sz="2000" b="1" i="0" u="none" strike="noStrike" cap="none">
              <a:solidFill>
                <a:srgbClr val="0000FF"/>
              </a:solidFill>
              <a:latin typeface="Lucida Sans"/>
              <a:ea typeface="Lucida Sans"/>
              <a:cs typeface="Lucida Sans"/>
              <a:sym typeface="Lucida Sans"/>
            </a:endParaRPr>
          </a:p>
        </p:txBody>
      </p:sp>
      <p:sp>
        <p:nvSpPr>
          <p:cNvPr id="408" name="Google Shape;408;g121e7910631_0_881"/>
          <p:cNvSpPr txBox="1"/>
          <p:nvPr/>
        </p:nvSpPr>
        <p:spPr>
          <a:xfrm>
            <a:off x="6135625" y="2798075"/>
            <a:ext cx="18471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FF"/>
                </a:solidFill>
                <a:latin typeface="Lucida Sans"/>
                <a:ea typeface="Lucida Sans"/>
                <a:cs typeface="Lucida Sans"/>
                <a:sym typeface="Lucida Sans"/>
              </a:rPr>
              <a:t>CLIMA</a:t>
            </a:r>
            <a:endParaRPr sz="2000" b="1" i="0" u="none" strike="noStrike" cap="none">
              <a:solidFill>
                <a:srgbClr val="0000FF"/>
              </a:solidFill>
              <a:latin typeface="Lucida Sans"/>
              <a:ea typeface="Lucida Sans"/>
              <a:cs typeface="Lucida Sans"/>
              <a:sym typeface="Lucida Sans"/>
            </a:endParaRPr>
          </a:p>
        </p:txBody>
      </p:sp>
      <p:pic>
        <p:nvPicPr>
          <p:cNvPr id="409" name="Google Shape;409;g121e7910631_0_881"/>
          <p:cNvPicPr preferRelativeResize="0"/>
          <p:nvPr/>
        </p:nvPicPr>
        <p:blipFill rotWithShape="1">
          <a:blip r:embed="rId3">
            <a:alphaModFix/>
          </a:blip>
          <a:srcRect/>
          <a:stretch/>
        </p:blipFill>
        <p:spPr>
          <a:xfrm>
            <a:off x="8127549" y="5734049"/>
            <a:ext cx="1452349" cy="846025"/>
          </a:xfrm>
          <a:prstGeom prst="rect">
            <a:avLst/>
          </a:prstGeom>
          <a:noFill/>
          <a:ln>
            <a:noFill/>
          </a:ln>
        </p:spPr>
      </p:pic>
      <p:sp>
        <p:nvSpPr>
          <p:cNvPr id="410" name="Google Shape;410;g121e7910631_0_881"/>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Clima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13"/>
          <p:cNvPicPr preferRelativeResize="0"/>
          <p:nvPr/>
        </p:nvPicPr>
        <p:blipFill rotWithShape="1">
          <a:blip r:embed="rId3">
            <a:alphaModFix/>
          </a:blip>
          <a:srcRect/>
          <a:stretch/>
        </p:blipFill>
        <p:spPr>
          <a:xfrm rot="1707530">
            <a:off x="4644145" y="2784938"/>
            <a:ext cx="4396934" cy="4396924"/>
          </a:xfrm>
          <a:prstGeom prst="rect">
            <a:avLst/>
          </a:prstGeom>
          <a:noFill/>
          <a:ln>
            <a:noFill/>
          </a:ln>
        </p:spPr>
      </p:pic>
      <p:pic>
        <p:nvPicPr>
          <p:cNvPr id="418" name="Google Shape;418;p13" descr="Bisnis-Modal-Kecil-Menguntungkan-Tahun-2014.jpg"/>
          <p:cNvPicPr preferRelativeResize="0"/>
          <p:nvPr/>
        </p:nvPicPr>
        <p:blipFill rotWithShape="1">
          <a:blip r:embed="rId4">
            <a:alphaModFix/>
          </a:blip>
          <a:srcRect l="6700" t="6081" r="55851"/>
          <a:stretch/>
        </p:blipFill>
        <p:spPr>
          <a:xfrm>
            <a:off x="4876229" y="4050563"/>
            <a:ext cx="731159" cy="1368152"/>
          </a:xfrm>
          <a:prstGeom prst="rect">
            <a:avLst/>
          </a:prstGeom>
          <a:noFill/>
          <a:ln>
            <a:noFill/>
          </a:ln>
        </p:spPr>
      </p:pic>
      <p:pic>
        <p:nvPicPr>
          <p:cNvPr id="419" name="Google Shape;419;p13" descr="cartoon-people-with-colores-speech-bubbles_23-2147529518.jpg"/>
          <p:cNvPicPr preferRelativeResize="0"/>
          <p:nvPr/>
        </p:nvPicPr>
        <p:blipFill rotWithShape="1">
          <a:blip r:embed="rId5">
            <a:alphaModFix/>
          </a:blip>
          <a:srcRect b="14978"/>
          <a:stretch/>
        </p:blipFill>
        <p:spPr>
          <a:xfrm>
            <a:off x="7015500" y="4041525"/>
            <a:ext cx="1609175" cy="1368150"/>
          </a:xfrm>
          <a:prstGeom prst="rect">
            <a:avLst/>
          </a:prstGeom>
          <a:noFill/>
          <a:ln>
            <a:noFill/>
          </a:ln>
        </p:spPr>
      </p:pic>
      <p:sp>
        <p:nvSpPr>
          <p:cNvPr id="420" name="Google Shape;420;p13"/>
          <p:cNvSpPr txBox="1"/>
          <p:nvPr/>
        </p:nvSpPr>
        <p:spPr>
          <a:xfrm>
            <a:off x="3180473" y="5562925"/>
            <a:ext cx="2178300" cy="7080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5D2D37"/>
                </a:solidFill>
                <a:latin typeface="Lucida Sans"/>
                <a:ea typeface="Lucida Sans"/>
                <a:cs typeface="Lucida Sans"/>
                <a:sym typeface="Lucida Sans"/>
              </a:rPr>
              <a:t>MOTIVACIÓN</a:t>
            </a:r>
            <a:endParaRPr sz="200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F5666"/>
                </a:solidFill>
                <a:latin typeface="Lucida Sans"/>
                <a:ea typeface="Lucida Sans"/>
                <a:cs typeface="Lucida Sans"/>
                <a:sym typeface="Lucida Sans"/>
              </a:rPr>
              <a:t>(</a:t>
            </a:r>
            <a:r>
              <a:rPr lang="en-US" sz="2000" b="0" i="0" u="none" strike="noStrike" cap="none">
                <a:solidFill>
                  <a:srgbClr val="0F5666"/>
                </a:solidFill>
                <a:latin typeface="Lucida Sans"/>
                <a:ea typeface="Lucida Sans"/>
                <a:cs typeface="Lucida Sans"/>
                <a:sym typeface="Lucida Sans"/>
              </a:rPr>
              <a:t>Individual</a:t>
            </a:r>
            <a:r>
              <a:rPr lang="en-US" sz="2000" b="1" i="0" u="none" strike="noStrike" cap="none">
                <a:solidFill>
                  <a:srgbClr val="0F5666"/>
                </a:solidFill>
                <a:latin typeface="Lucida Sans"/>
                <a:ea typeface="Lucida Sans"/>
                <a:cs typeface="Lucida Sans"/>
                <a:sym typeface="Lucida Sans"/>
              </a:rPr>
              <a:t>)</a:t>
            </a:r>
            <a:endParaRPr sz="2000" b="1" i="0" u="none" strike="noStrike" cap="none">
              <a:solidFill>
                <a:srgbClr val="0F5666"/>
              </a:solidFill>
              <a:latin typeface="Lucida Sans"/>
              <a:ea typeface="Lucida Sans"/>
              <a:cs typeface="Lucida Sans"/>
              <a:sym typeface="Lucida Sans"/>
            </a:endParaRPr>
          </a:p>
        </p:txBody>
      </p:sp>
      <p:sp>
        <p:nvSpPr>
          <p:cNvPr id="421" name="Google Shape;421;p13"/>
          <p:cNvSpPr txBox="1"/>
          <p:nvPr/>
        </p:nvSpPr>
        <p:spPr>
          <a:xfrm>
            <a:off x="6728619" y="2715875"/>
            <a:ext cx="2880300" cy="101580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5D2D37"/>
                </a:solidFill>
                <a:latin typeface="Lucida Sans"/>
                <a:ea typeface="Lucida Sans"/>
                <a:cs typeface="Lucida Sans"/>
                <a:sym typeface="Lucida Sans"/>
              </a:rPr>
              <a:t>CLIMA ORGANIZACIONAL</a:t>
            </a:r>
            <a:endParaRPr sz="200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F5666"/>
                </a:solidFill>
                <a:latin typeface="Lucida Sans"/>
                <a:ea typeface="Lucida Sans"/>
                <a:cs typeface="Lucida Sans"/>
                <a:sym typeface="Lucida Sans"/>
              </a:rPr>
              <a:t>(</a:t>
            </a:r>
            <a:r>
              <a:rPr lang="en-US" sz="2000" b="0" i="0" u="none" strike="noStrike" cap="none">
                <a:solidFill>
                  <a:srgbClr val="0F5666"/>
                </a:solidFill>
                <a:latin typeface="Lucida Sans"/>
                <a:ea typeface="Lucida Sans"/>
                <a:cs typeface="Lucida Sans"/>
                <a:sym typeface="Lucida Sans"/>
              </a:rPr>
              <a:t>Grupal</a:t>
            </a:r>
            <a:r>
              <a:rPr lang="en-US" sz="2000" b="1" i="0" u="none" strike="noStrike" cap="none">
                <a:solidFill>
                  <a:srgbClr val="0F5666"/>
                </a:solidFill>
                <a:latin typeface="Lucida Sans"/>
                <a:ea typeface="Lucida Sans"/>
                <a:cs typeface="Lucida Sans"/>
                <a:sym typeface="Lucida Sans"/>
              </a:rPr>
              <a:t>)</a:t>
            </a:r>
            <a:endParaRPr sz="2000" b="1" i="0" u="none" strike="noStrike" cap="none">
              <a:solidFill>
                <a:srgbClr val="0F5666"/>
              </a:solidFill>
              <a:latin typeface="Lucida Sans"/>
              <a:ea typeface="Lucida Sans"/>
              <a:cs typeface="Lucida Sans"/>
              <a:sym typeface="Lucida Sans"/>
            </a:endParaRPr>
          </a:p>
        </p:txBody>
      </p:sp>
      <p:sp>
        <p:nvSpPr>
          <p:cNvPr id="422" name="Google Shape;422;p13"/>
          <p:cNvSpPr txBox="1"/>
          <p:nvPr/>
        </p:nvSpPr>
        <p:spPr>
          <a:xfrm>
            <a:off x="778001" y="4146325"/>
            <a:ext cx="2880300" cy="1015800"/>
          </a:xfrm>
          <a:prstGeom prst="rect">
            <a:avLst/>
          </a:prstGeom>
          <a:solidFill>
            <a:srgbClr val="D0EDF5"/>
          </a:solid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2000" b="1" i="0" u="none" strike="noStrike" cap="none">
                <a:solidFill>
                  <a:schemeClr val="dk1"/>
                </a:solidFill>
                <a:latin typeface="Lucida Sans"/>
                <a:ea typeface="Lucida Sans"/>
                <a:cs typeface="Lucida Sans"/>
                <a:sym typeface="Lucida Sans"/>
              </a:rPr>
              <a:t>Está compuesto por diferentes dimensiones</a:t>
            </a:r>
            <a:endParaRPr sz="2000" b="0" i="0" u="none" strike="noStrike" cap="none">
              <a:solidFill>
                <a:schemeClr val="dk1"/>
              </a:solidFill>
              <a:latin typeface="Lucida Sans"/>
              <a:ea typeface="Lucida Sans"/>
              <a:cs typeface="Lucida Sans"/>
              <a:sym typeface="Lucida Sans"/>
            </a:endParaRPr>
          </a:p>
        </p:txBody>
      </p:sp>
      <p:sp>
        <p:nvSpPr>
          <p:cNvPr id="423" name="Google Shape;423;p13"/>
          <p:cNvSpPr txBox="1"/>
          <p:nvPr/>
        </p:nvSpPr>
        <p:spPr>
          <a:xfrm>
            <a:off x="338800" y="1340375"/>
            <a:ext cx="9302100" cy="1631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2000" b="1" i="0" u="none" strike="noStrike" cap="none">
                <a:solidFill>
                  <a:srgbClr val="002060"/>
                </a:solidFill>
                <a:latin typeface="Lucida Sans"/>
                <a:ea typeface="Lucida Sans"/>
                <a:cs typeface="Lucida Sans"/>
                <a:sym typeface="Lucida Sans"/>
              </a:rPr>
              <a:t>Definición: </a:t>
            </a:r>
            <a:r>
              <a:rPr lang="en-US" sz="2000" b="0" i="0" u="none" strike="noStrike" cap="none">
                <a:solidFill>
                  <a:srgbClr val="002060"/>
                </a:solidFill>
                <a:latin typeface="Lucida Sans"/>
                <a:ea typeface="Lucida Sans"/>
                <a:cs typeface="Lucida Sans"/>
                <a:sym typeface="Lucida Sans"/>
              </a:rPr>
              <a:t>Es el ambiente interno </a:t>
            </a:r>
            <a:r>
              <a:rPr lang="en-US" sz="2000" b="1" i="1" u="none" strike="noStrike" cap="none">
                <a:solidFill>
                  <a:srgbClr val="002060"/>
                </a:solidFill>
                <a:latin typeface="Lucida Sans"/>
                <a:ea typeface="Lucida Sans"/>
                <a:cs typeface="Lucida Sans"/>
                <a:sym typeface="Lucida Sans"/>
              </a:rPr>
              <a:t>percibido</a:t>
            </a:r>
            <a:r>
              <a:rPr lang="en-US" sz="2000" b="0" i="0" u="none" strike="noStrike" cap="none">
                <a:solidFill>
                  <a:srgbClr val="002060"/>
                </a:solidFill>
                <a:latin typeface="Lucida Sans"/>
                <a:ea typeface="Lucida Sans"/>
                <a:cs typeface="Lucida Sans"/>
                <a:sym typeface="Lucida Sans"/>
              </a:rPr>
              <a:t> entre los miembros de la organización.</a:t>
            </a:r>
            <a:endParaRPr sz="2000" b="0" i="0" u="none" strike="noStrike" cap="none">
              <a:solidFill>
                <a:srgbClr val="000000"/>
              </a:solidFill>
              <a:latin typeface="Lucida Sans"/>
              <a:ea typeface="Lucida Sans"/>
              <a:cs typeface="Lucida Sans"/>
              <a:sym typeface="Lucida Sans"/>
            </a:endParaRPr>
          </a:p>
          <a:p>
            <a:pPr marL="0" marR="0" lvl="3" indent="0" algn="just" rtl="0">
              <a:lnSpc>
                <a:spcPct val="100000"/>
              </a:lnSpc>
              <a:spcBef>
                <a:spcPts val="0"/>
              </a:spcBef>
              <a:spcAft>
                <a:spcPts val="0"/>
              </a:spcAft>
              <a:buClr>
                <a:srgbClr val="000000"/>
              </a:buClr>
              <a:buSzPts val="1800"/>
              <a:buFont typeface="Arial"/>
              <a:buNone/>
            </a:pPr>
            <a:endParaRPr sz="2000" b="0" i="0" u="none" strike="noStrike" cap="none">
              <a:solidFill>
                <a:srgbClr val="002060"/>
              </a:solidFill>
              <a:latin typeface="Lucida Sans"/>
              <a:ea typeface="Lucida Sans"/>
              <a:cs typeface="Lucida Sans"/>
              <a:sym typeface="Lucida Sans"/>
            </a:endParaRPr>
          </a:p>
          <a:p>
            <a:pPr marL="457200" marR="0" lvl="0" indent="-355600" algn="just" rtl="0">
              <a:lnSpc>
                <a:spcPct val="100000"/>
              </a:lnSpc>
              <a:spcBef>
                <a:spcPts val="0"/>
              </a:spcBef>
              <a:spcAft>
                <a:spcPts val="0"/>
              </a:spcAft>
              <a:buClr>
                <a:srgbClr val="002060"/>
              </a:buClr>
              <a:buSzPts val="2000"/>
              <a:buFont typeface="Lucida Sans"/>
              <a:buChar char="-"/>
            </a:pPr>
            <a:r>
              <a:rPr lang="en-US" sz="2000" b="0" i="0" u="none" strike="noStrike" cap="none">
                <a:solidFill>
                  <a:srgbClr val="002060"/>
                </a:solidFill>
                <a:latin typeface="Lucida Sans"/>
                <a:ea typeface="Lucida Sans"/>
                <a:cs typeface="Lucida Sans"/>
                <a:sym typeface="Lucida Sans"/>
              </a:rPr>
              <a:t>Se percibe o experimenta</a:t>
            </a:r>
            <a:endParaRPr sz="2000" b="0" i="0" u="none" strike="noStrike" cap="none">
              <a:solidFill>
                <a:srgbClr val="000000"/>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rgbClr val="002060"/>
              </a:buClr>
              <a:buSzPts val="2000"/>
              <a:buFont typeface="Lucida Sans"/>
              <a:buChar char="-"/>
            </a:pPr>
            <a:r>
              <a:rPr lang="en-US" sz="2000" b="0" i="0" u="none" strike="noStrike" cap="none">
                <a:solidFill>
                  <a:srgbClr val="002060"/>
                </a:solidFill>
                <a:latin typeface="Lucida Sans"/>
                <a:ea typeface="Lucida Sans"/>
                <a:cs typeface="Lucida Sans"/>
                <a:sym typeface="Lucida Sans"/>
              </a:rPr>
              <a:t>Influye en el comportamiento</a:t>
            </a:r>
            <a:endParaRPr sz="2000" b="0" i="1" u="none" strike="noStrike" cap="none">
              <a:solidFill>
                <a:srgbClr val="002060"/>
              </a:solidFill>
              <a:latin typeface="Lucida Sans"/>
              <a:ea typeface="Lucida Sans"/>
              <a:cs typeface="Lucida Sans"/>
              <a:sym typeface="Lucida Sans"/>
            </a:endParaRPr>
          </a:p>
        </p:txBody>
      </p:sp>
      <p:sp>
        <p:nvSpPr>
          <p:cNvPr id="424" name="Google Shape;424;p13"/>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Clima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430"/>
        <p:cNvGrpSpPr/>
        <p:nvPr/>
      </p:nvGrpSpPr>
      <p:grpSpPr>
        <a:xfrm>
          <a:off x="0" y="0"/>
          <a:ext cx="0" cy="0"/>
          <a:chOff x="0" y="0"/>
          <a:chExt cx="0" cy="0"/>
        </a:xfrm>
      </p:grpSpPr>
      <p:grpSp>
        <p:nvGrpSpPr>
          <p:cNvPr id="431" name="Google Shape;431;p14"/>
          <p:cNvGrpSpPr/>
          <p:nvPr/>
        </p:nvGrpSpPr>
        <p:grpSpPr>
          <a:xfrm>
            <a:off x="1009693" y="1565254"/>
            <a:ext cx="8496678" cy="4435729"/>
            <a:chOff x="416496" y="1412776"/>
            <a:chExt cx="9289032" cy="4680520"/>
          </a:xfrm>
        </p:grpSpPr>
        <p:pic>
          <p:nvPicPr>
            <p:cNvPr id="432" name="Google Shape;432;p14" descr="Gestion del clima laboral.png"/>
            <p:cNvPicPr preferRelativeResize="0"/>
            <p:nvPr/>
          </p:nvPicPr>
          <p:blipFill rotWithShape="1">
            <a:blip r:embed="rId3">
              <a:alphaModFix/>
            </a:blip>
            <a:srcRect/>
            <a:stretch/>
          </p:blipFill>
          <p:spPr>
            <a:xfrm>
              <a:off x="416496" y="1412776"/>
              <a:ext cx="9098787" cy="4536504"/>
            </a:xfrm>
            <a:prstGeom prst="rect">
              <a:avLst/>
            </a:prstGeom>
            <a:noFill/>
            <a:ln>
              <a:noFill/>
            </a:ln>
          </p:spPr>
        </p:pic>
        <p:sp>
          <p:nvSpPr>
            <p:cNvPr id="433" name="Google Shape;433;p14"/>
            <p:cNvSpPr/>
            <p:nvPr/>
          </p:nvSpPr>
          <p:spPr>
            <a:xfrm>
              <a:off x="7905328" y="5085184"/>
              <a:ext cx="1800200" cy="100811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grpSp>
      <p:sp>
        <p:nvSpPr>
          <p:cNvPr id="434" name="Google Shape;434;p14"/>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Clima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grpSp>
        <p:nvGrpSpPr>
          <p:cNvPr id="439" name="Google Shape;439;p15"/>
          <p:cNvGrpSpPr/>
          <p:nvPr/>
        </p:nvGrpSpPr>
        <p:grpSpPr>
          <a:xfrm>
            <a:off x="1192291" y="3902512"/>
            <a:ext cx="7551733" cy="955341"/>
            <a:chOff x="1593000" y="2322568"/>
            <a:chExt cx="5957975" cy="643500"/>
          </a:xfrm>
        </p:grpSpPr>
        <p:sp>
          <p:nvSpPr>
            <p:cNvPr id="440" name="Google Shape;440;p15"/>
            <p:cNvSpPr/>
            <p:nvPr/>
          </p:nvSpPr>
          <p:spPr>
            <a:xfrm>
              <a:off x="3728375" y="2322568"/>
              <a:ext cx="3822600" cy="643500"/>
            </a:xfrm>
            <a:prstGeom prst="rect">
              <a:avLst/>
            </a:prstGeom>
            <a:solidFill>
              <a:srgbClr val="EEEEE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41" name="Google Shape;441;p15"/>
            <p:cNvSpPr/>
            <p:nvPr/>
          </p:nvSpPr>
          <p:spPr>
            <a:xfrm flipH="1">
              <a:off x="2283025" y="2322575"/>
              <a:ext cx="1844400" cy="642600"/>
            </a:xfrm>
            <a:prstGeom prst="rect">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42" name="Google Shape;442;p15"/>
            <p:cNvSpPr/>
            <p:nvPr/>
          </p:nvSpPr>
          <p:spPr>
            <a:xfrm rot="-5400000">
              <a:off x="3501574" y="1934671"/>
              <a:ext cx="643356" cy="1419149"/>
            </a:xfrm>
            <a:prstGeom prst="flowChartOffpageConnector">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43" name="Google Shape;443;p15"/>
            <p:cNvSpPr/>
            <p:nvPr/>
          </p:nvSpPr>
          <p:spPr>
            <a:xfrm>
              <a:off x="2342625" y="2399951"/>
              <a:ext cx="1940700" cy="4959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FFFFFF"/>
                  </a:solidFill>
                  <a:latin typeface="Lucida Sans"/>
                  <a:ea typeface="Lucida Sans"/>
                  <a:cs typeface="Lucida Sans"/>
                  <a:sym typeface="Lucida Sans"/>
                </a:rPr>
                <a:t>Mediciones de Impacto</a:t>
              </a:r>
              <a:endParaRPr sz="1200" b="0" i="0" u="none" strike="noStrike" cap="none">
                <a:solidFill>
                  <a:srgbClr val="FFFFFF"/>
                </a:solidFill>
                <a:latin typeface="Lucida Sans"/>
                <a:ea typeface="Lucida Sans"/>
                <a:cs typeface="Lucida Sans"/>
                <a:sym typeface="Lucida Sans"/>
              </a:endParaRPr>
            </a:p>
          </p:txBody>
        </p:sp>
        <p:sp>
          <p:nvSpPr>
            <p:cNvPr id="444" name="Google Shape;444;p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45" name="Google Shape;445;p15"/>
            <p:cNvSpPr/>
            <p:nvPr/>
          </p:nvSpPr>
          <p:spPr>
            <a:xfrm>
              <a:off x="1593000" y="2322575"/>
              <a:ext cx="690000" cy="642600"/>
            </a:xfrm>
            <a:prstGeom prst="rect">
              <a:avLst/>
            </a:prstGeom>
            <a:solidFill>
              <a:srgbClr val="BE2F22"/>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2900"/>
                <a:buFont typeface="Arial"/>
                <a:buNone/>
              </a:pPr>
              <a:r>
                <a:rPr lang="en-US" sz="2900" b="0" i="0" u="none" strike="noStrike" cap="none">
                  <a:solidFill>
                    <a:srgbClr val="FFFFFF"/>
                  </a:solidFill>
                  <a:latin typeface="Lucida Sans"/>
                  <a:ea typeface="Lucida Sans"/>
                  <a:cs typeface="Lucida Sans"/>
                  <a:sym typeface="Lucida Sans"/>
                </a:rPr>
                <a:t>03</a:t>
              </a:r>
              <a:endParaRPr sz="2900" b="0" i="0" u="none" strike="noStrike" cap="none">
                <a:solidFill>
                  <a:srgbClr val="FFFFFF"/>
                </a:solidFill>
                <a:latin typeface="Lucida Sans"/>
                <a:ea typeface="Lucida Sans"/>
                <a:cs typeface="Lucida Sans"/>
                <a:sym typeface="Lucida Sans"/>
              </a:endParaRPr>
            </a:p>
          </p:txBody>
        </p:sp>
        <p:sp>
          <p:nvSpPr>
            <p:cNvPr id="446" name="Google Shape;446;p15"/>
            <p:cNvSpPr/>
            <p:nvPr/>
          </p:nvSpPr>
          <p:spPr>
            <a:xfrm>
              <a:off x="4387850" y="2323750"/>
              <a:ext cx="2971200" cy="642300"/>
            </a:xfrm>
            <a:prstGeom prst="rect">
              <a:avLst/>
            </a:prstGeom>
            <a:noFill/>
            <a:ln>
              <a:noFill/>
            </a:ln>
          </p:spPr>
          <p:txBody>
            <a:bodyPr spcFirstLastPara="1" wrap="square" lIns="99050" tIns="99050" rIns="99050" bIns="99050" anchor="ctr" anchorCtr="0">
              <a:noAutofit/>
            </a:bodyPr>
            <a:lstStyle/>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Sentido de pertenencia</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Comunicación</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Relación con la tarea</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Relación con pares</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Relación con superiores</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Identificación con la empresa</a:t>
              </a:r>
              <a:endParaRPr sz="750" b="0" i="0" u="none" strike="noStrike" cap="none">
                <a:solidFill>
                  <a:srgbClr val="A72A1E"/>
                </a:solidFill>
                <a:latin typeface="Lucida Sans"/>
                <a:ea typeface="Lucida Sans"/>
                <a:cs typeface="Lucida Sans"/>
                <a:sym typeface="Lucida Sans"/>
              </a:endParaRPr>
            </a:p>
          </p:txBody>
        </p:sp>
      </p:grpSp>
      <p:grpSp>
        <p:nvGrpSpPr>
          <p:cNvPr id="447" name="Google Shape;447;p15"/>
          <p:cNvGrpSpPr/>
          <p:nvPr/>
        </p:nvGrpSpPr>
        <p:grpSpPr>
          <a:xfrm>
            <a:off x="1192291" y="2929890"/>
            <a:ext cx="7551733" cy="955341"/>
            <a:chOff x="1593000" y="2322568"/>
            <a:chExt cx="5957975" cy="643500"/>
          </a:xfrm>
        </p:grpSpPr>
        <p:sp>
          <p:nvSpPr>
            <p:cNvPr id="448" name="Google Shape;448;p15"/>
            <p:cNvSpPr/>
            <p:nvPr/>
          </p:nvSpPr>
          <p:spPr>
            <a:xfrm>
              <a:off x="3728375" y="2322568"/>
              <a:ext cx="3822600" cy="643500"/>
            </a:xfrm>
            <a:prstGeom prst="rect">
              <a:avLst/>
            </a:prstGeom>
            <a:solidFill>
              <a:srgbClr val="EEEEE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49" name="Google Shape;449;p15"/>
            <p:cNvSpPr/>
            <p:nvPr/>
          </p:nvSpPr>
          <p:spPr>
            <a:xfrm flipH="1">
              <a:off x="2283025" y="2322575"/>
              <a:ext cx="1844400" cy="642600"/>
            </a:xfrm>
            <a:prstGeom prst="rect">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50" name="Google Shape;450;p15"/>
            <p:cNvSpPr/>
            <p:nvPr/>
          </p:nvSpPr>
          <p:spPr>
            <a:xfrm rot="-5400000">
              <a:off x="3501574" y="1934671"/>
              <a:ext cx="643356" cy="1419149"/>
            </a:xfrm>
            <a:prstGeom prst="flowChartOffpageConnector">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51" name="Google Shape;451;p15"/>
            <p:cNvSpPr/>
            <p:nvPr/>
          </p:nvSpPr>
          <p:spPr>
            <a:xfrm>
              <a:off x="2342625" y="2399951"/>
              <a:ext cx="1940700" cy="4959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FFFFFF"/>
                  </a:solidFill>
                  <a:latin typeface="Lucida Sans"/>
                  <a:ea typeface="Lucida Sans"/>
                  <a:cs typeface="Lucida Sans"/>
                  <a:sym typeface="Lucida Sans"/>
                </a:rPr>
                <a:t>Herramientas que se usan para entender el clima</a:t>
              </a:r>
              <a:endParaRPr sz="1200" b="0" i="0" u="none" strike="noStrike" cap="none">
                <a:solidFill>
                  <a:srgbClr val="FFFFFF"/>
                </a:solidFill>
                <a:latin typeface="Lucida Sans"/>
                <a:ea typeface="Lucida Sans"/>
                <a:cs typeface="Lucida Sans"/>
                <a:sym typeface="Lucida Sans"/>
              </a:endParaRPr>
            </a:p>
          </p:txBody>
        </p:sp>
        <p:sp>
          <p:nvSpPr>
            <p:cNvPr id="452" name="Google Shape;452;p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53" name="Google Shape;453;p15"/>
            <p:cNvSpPr/>
            <p:nvPr/>
          </p:nvSpPr>
          <p:spPr>
            <a:xfrm>
              <a:off x="1593000" y="2322575"/>
              <a:ext cx="690000" cy="642600"/>
            </a:xfrm>
            <a:prstGeom prst="rect">
              <a:avLst/>
            </a:prstGeom>
            <a:solidFill>
              <a:srgbClr val="BE2F22"/>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2900"/>
                <a:buFont typeface="Arial"/>
                <a:buNone/>
              </a:pPr>
              <a:r>
                <a:rPr lang="en-US" sz="2900" b="0" i="0" u="none" strike="noStrike" cap="none">
                  <a:solidFill>
                    <a:srgbClr val="FFFFFF"/>
                  </a:solidFill>
                  <a:latin typeface="Lucida Sans"/>
                  <a:ea typeface="Lucida Sans"/>
                  <a:cs typeface="Lucida Sans"/>
                  <a:sym typeface="Lucida Sans"/>
                </a:rPr>
                <a:t>02</a:t>
              </a:r>
              <a:endParaRPr sz="2900" b="0" i="0" u="none" strike="noStrike" cap="none">
                <a:solidFill>
                  <a:srgbClr val="FFFFFF"/>
                </a:solidFill>
                <a:latin typeface="Lucida Sans"/>
                <a:ea typeface="Lucida Sans"/>
                <a:cs typeface="Lucida Sans"/>
                <a:sym typeface="Lucida Sans"/>
              </a:endParaRPr>
            </a:p>
          </p:txBody>
        </p:sp>
        <p:sp>
          <p:nvSpPr>
            <p:cNvPr id="454" name="Google Shape;454;p15"/>
            <p:cNvSpPr/>
            <p:nvPr/>
          </p:nvSpPr>
          <p:spPr>
            <a:xfrm>
              <a:off x="4387850" y="2323750"/>
              <a:ext cx="2971200" cy="642300"/>
            </a:xfrm>
            <a:prstGeom prst="rect">
              <a:avLst/>
            </a:prstGeom>
            <a:noFill/>
            <a:ln>
              <a:noFill/>
            </a:ln>
          </p:spPr>
          <p:txBody>
            <a:bodyPr spcFirstLastPara="1" wrap="square" lIns="99050" tIns="99050" rIns="99050" bIns="99050" anchor="ctr" anchorCtr="0">
              <a:noAutofit/>
            </a:bodyPr>
            <a:lstStyle/>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Entrevistas individuales</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Focus groups</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Encuestas de clima</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Encuestas de pulso</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Indicadores directos (rotación voluntaria, ausentismo, etc.)</a:t>
              </a:r>
              <a:endParaRPr sz="750" b="0" i="0" u="none" strike="noStrike" cap="none">
                <a:solidFill>
                  <a:srgbClr val="A72A1E"/>
                </a:solidFill>
                <a:latin typeface="Lucida Sans"/>
                <a:ea typeface="Lucida Sans"/>
                <a:cs typeface="Lucida Sans"/>
                <a:sym typeface="Lucida Sans"/>
              </a:endParaRPr>
            </a:p>
          </p:txBody>
        </p:sp>
      </p:grpSp>
      <p:grpSp>
        <p:nvGrpSpPr>
          <p:cNvPr id="455" name="Google Shape;455;p15"/>
          <p:cNvGrpSpPr/>
          <p:nvPr/>
        </p:nvGrpSpPr>
        <p:grpSpPr>
          <a:xfrm>
            <a:off x="1192291" y="1957255"/>
            <a:ext cx="7551733" cy="955341"/>
            <a:chOff x="1593000" y="2322568"/>
            <a:chExt cx="5957975" cy="643500"/>
          </a:xfrm>
        </p:grpSpPr>
        <p:sp>
          <p:nvSpPr>
            <p:cNvPr id="456" name="Google Shape;456;p15"/>
            <p:cNvSpPr/>
            <p:nvPr/>
          </p:nvSpPr>
          <p:spPr>
            <a:xfrm>
              <a:off x="3728375" y="2322568"/>
              <a:ext cx="3822600" cy="643500"/>
            </a:xfrm>
            <a:prstGeom prst="rect">
              <a:avLst/>
            </a:prstGeom>
            <a:solidFill>
              <a:srgbClr val="EEEEE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57" name="Google Shape;457;p15"/>
            <p:cNvSpPr/>
            <p:nvPr/>
          </p:nvSpPr>
          <p:spPr>
            <a:xfrm flipH="1">
              <a:off x="2283025" y="2322575"/>
              <a:ext cx="1844400" cy="642600"/>
            </a:xfrm>
            <a:prstGeom prst="rect">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58" name="Google Shape;458;p15"/>
            <p:cNvSpPr/>
            <p:nvPr/>
          </p:nvSpPr>
          <p:spPr>
            <a:xfrm rot="-5400000">
              <a:off x="3501574" y="1934671"/>
              <a:ext cx="643356" cy="1419149"/>
            </a:xfrm>
            <a:prstGeom prst="flowChartOffpageConnector">
              <a:avLst/>
            </a:prstGeom>
            <a:solidFill>
              <a:srgbClr val="A72A1E"/>
            </a:solidFill>
            <a:ln>
              <a:noFill/>
            </a:ln>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59" name="Google Shape;459;p15"/>
            <p:cNvSpPr/>
            <p:nvPr/>
          </p:nvSpPr>
          <p:spPr>
            <a:xfrm>
              <a:off x="2342625" y="2399951"/>
              <a:ext cx="1940700" cy="495900"/>
            </a:xfrm>
            <a:prstGeom prst="rect">
              <a:avLst/>
            </a:prstGeom>
            <a:noFill/>
            <a:ln>
              <a:noFill/>
            </a:ln>
          </p:spPr>
          <p:txBody>
            <a:bodyPr spcFirstLastPara="1" wrap="square" lIns="99050" tIns="99050" rIns="99050" bIns="99050" anchor="ctr" anchorCtr="0">
              <a:noAutofit/>
            </a:bodyPr>
            <a:lstStyle/>
            <a:p>
              <a:pPr marL="0" marR="0" lvl="0" indent="0" algn="l" rtl="0">
                <a:lnSpc>
                  <a:spcPct val="115000"/>
                </a:lnSpc>
                <a:spcBef>
                  <a:spcPts val="0"/>
                </a:spcBef>
                <a:spcAft>
                  <a:spcPts val="0"/>
                </a:spcAft>
                <a:buClr>
                  <a:srgbClr val="000000"/>
                </a:buClr>
                <a:buSzPts val="1200"/>
                <a:buFont typeface="Arial"/>
                <a:buNone/>
              </a:pPr>
              <a:r>
                <a:rPr lang="en-US" sz="1200" b="1" i="0" u="none" strike="noStrike" cap="none">
                  <a:solidFill>
                    <a:srgbClr val="FFFFFF"/>
                  </a:solidFill>
                  <a:latin typeface="Lucida Sans"/>
                  <a:ea typeface="Lucida Sans"/>
                  <a:cs typeface="Lucida Sans"/>
                  <a:sym typeface="Lucida Sans"/>
                </a:rPr>
                <a:t>¿Para qué medir el clima organizacional?</a:t>
              </a:r>
              <a:endParaRPr sz="1200" b="1" i="0" u="none" strike="noStrike" cap="none">
                <a:solidFill>
                  <a:srgbClr val="FFFFFF"/>
                </a:solidFill>
                <a:latin typeface="Lucida Sans"/>
                <a:ea typeface="Lucida Sans"/>
                <a:cs typeface="Lucida Sans"/>
                <a:sym typeface="Lucida Sans"/>
              </a:endParaRPr>
            </a:p>
          </p:txBody>
        </p:sp>
        <p:sp>
          <p:nvSpPr>
            <p:cNvPr id="460" name="Google Shape;460;p15"/>
            <p:cNvSpPr/>
            <p:nvPr/>
          </p:nvSpPr>
          <p:spPr>
            <a:xfrm>
              <a:off x="1593000" y="2322568"/>
              <a:ext cx="690000" cy="642300"/>
            </a:xfrm>
            <a:prstGeom prst="rect">
              <a:avLst/>
            </a:prstGeom>
            <a:solidFill>
              <a:srgbClr val="B02C20"/>
            </a:solidFill>
            <a:ln>
              <a:noFill/>
            </a:ln>
            <a:effectLst>
              <a:outerShdw blurRad="71438" dist="28575" dir="2700000" algn="bl" rotWithShape="0">
                <a:srgbClr val="000000">
                  <a:alpha val="16862"/>
                </a:srgbClr>
              </a:outerShdw>
            </a:effectLst>
          </p:spPr>
          <p:txBody>
            <a:bodyPr spcFirstLastPara="1" wrap="square" lIns="99050" tIns="99050" rIns="99050" bIns="99050"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Lucida Sans"/>
                <a:ea typeface="Lucida Sans"/>
                <a:cs typeface="Lucida Sans"/>
                <a:sym typeface="Lucida Sans"/>
              </a:endParaRPr>
            </a:p>
          </p:txBody>
        </p:sp>
        <p:sp>
          <p:nvSpPr>
            <p:cNvPr id="461" name="Google Shape;461;p15"/>
            <p:cNvSpPr/>
            <p:nvPr/>
          </p:nvSpPr>
          <p:spPr>
            <a:xfrm>
              <a:off x="1593000" y="2322575"/>
              <a:ext cx="690000" cy="642600"/>
            </a:xfrm>
            <a:prstGeom prst="rect">
              <a:avLst/>
            </a:prstGeom>
            <a:solidFill>
              <a:srgbClr val="BE2F22"/>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2900"/>
                <a:buFont typeface="Arial"/>
                <a:buNone/>
              </a:pPr>
              <a:r>
                <a:rPr lang="en-US" sz="2900" b="0" i="0" u="none" strike="noStrike" cap="none">
                  <a:solidFill>
                    <a:srgbClr val="FFFFFF"/>
                  </a:solidFill>
                  <a:latin typeface="Lucida Sans"/>
                  <a:ea typeface="Lucida Sans"/>
                  <a:cs typeface="Lucida Sans"/>
                  <a:sym typeface="Lucida Sans"/>
                </a:rPr>
                <a:t>01</a:t>
              </a:r>
              <a:endParaRPr sz="2900" b="0" i="0" u="none" strike="noStrike" cap="none">
                <a:solidFill>
                  <a:srgbClr val="FFFFFF"/>
                </a:solidFill>
                <a:latin typeface="Lucida Sans"/>
                <a:ea typeface="Lucida Sans"/>
                <a:cs typeface="Lucida Sans"/>
                <a:sym typeface="Lucida Sans"/>
              </a:endParaRPr>
            </a:p>
          </p:txBody>
        </p:sp>
        <p:sp>
          <p:nvSpPr>
            <p:cNvPr id="462" name="Google Shape;462;p15"/>
            <p:cNvSpPr/>
            <p:nvPr/>
          </p:nvSpPr>
          <p:spPr>
            <a:xfrm>
              <a:off x="4387850" y="2323750"/>
              <a:ext cx="2971200" cy="642300"/>
            </a:xfrm>
            <a:prstGeom prst="rect">
              <a:avLst/>
            </a:prstGeom>
            <a:noFill/>
            <a:ln>
              <a:noFill/>
            </a:ln>
          </p:spPr>
          <p:txBody>
            <a:bodyPr spcFirstLastPara="1" wrap="square" lIns="99050" tIns="99050" rIns="99050" bIns="99050" anchor="ctr" anchorCtr="0">
              <a:noAutofit/>
            </a:bodyPr>
            <a:lstStyle/>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Para conocer la percepción que tienen los trabajadores sobre los factores que componen el clima organizacional.</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Para conocer las fortalezas y debilidades que tiene la empresa, desde el punto de vista de sus empleados.</a:t>
              </a:r>
              <a:endParaRPr sz="750" b="0" i="0" u="none" strike="noStrike" cap="none">
                <a:solidFill>
                  <a:srgbClr val="A72A1E"/>
                </a:solidFill>
                <a:latin typeface="Lucida Sans"/>
                <a:ea typeface="Lucida Sans"/>
                <a:cs typeface="Lucida Sans"/>
                <a:sym typeface="Lucida Sans"/>
              </a:endParaRPr>
            </a:p>
            <a:p>
              <a:pPr marL="495300" marR="0" lvl="0" indent="-301625" algn="l" rtl="0">
                <a:lnSpc>
                  <a:spcPct val="115000"/>
                </a:lnSpc>
                <a:spcBef>
                  <a:spcPts val="0"/>
                </a:spcBef>
                <a:spcAft>
                  <a:spcPts val="0"/>
                </a:spcAft>
                <a:buClr>
                  <a:srgbClr val="A72A1E"/>
                </a:buClr>
                <a:buSzPts val="750"/>
                <a:buFont typeface="Lucida Sans"/>
                <a:buChar char="●"/>
              </a:pPr>
              <a:r>
                <a:rPr lang="en-US" sz="750" b="0" i="0" u="none" strike="noStrike" cap="none">
                  <a:solidFill>
                    <a:srgbClr val="A72A1E"/>
                  </a:solidFill>
                  <a:latin typeface="Lucida Sans"/>
                  <a:ea typeface="Lucida Sans"/>
                  <a:cs typeface="Lucida Sans"/>
                  <a:sym typeface="Lucida Sans"/>
                </a:rPr>
                <a:t>Para desarrollar Planes de Acción sustentados en los resultados de la medición.</a:t>
              </a:r>
              <a:endParaRPr sz="750" b="0" i="0" u="none" strike="noStrike" cap="none">
                <a:solidFill>
                  <a:srgbClr val="A72A1E"/>
                </a:solidFill>
                <a:latin typeface="Lucida Sans"/>
                <a:ea typeface="Lucida Sans"/>
                <a:cs typeface="Lucida Sans"/>
                <a:sym typeface="Lucida Sans"/>
              </a:endParaRPr>
            </a:p>
          </p:txBody>
        </p:sp>
      </p:grpSp>
      <p:sp>
        <p:nvSpPr>
          <p:cNvPr id="463" name="Google Shape;463;p15"/>
          <p:cNvSpPr txBox="1"/>
          <p:nvPr/>
        </p:nvSpPr>
        <p:spPr>
          <a:xfrm>
            <a:off x="192304" y="1302475"/>
            <a:ext cx="95214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Lucida Sans"/>
                <a:ea typeface="Lucida Sans"/>
                <a:cs typeface="Lucida Sans"/>
                <a:sym typeface="Lucida Sans"/>
              </a:rPr>
              <a:t>¿Cómo y qué dimensiones se pueden medir?</a:t>
            </a:r>
            <a:endParaRPr sz="2000" b="1" i="0" u="none" strike="noStrike" cap="none">
              <a:solidFill>
                <a:schemeClr val="dk1"/>
              </a:solidFill>
              <a:latin typeface="Lucida Sans"/>
              <a:ea typeface="Lucida Sans"/>
              <a:cs typeface="Lucida Sans"/>
              <a:sym typeface="Lucida Sans"/>
            </a:endParaRPr>
          </a:p>
        </p:txBody>
      </p:sp>
      <p:sp>
        <p:nvSpPr>
          <p:cNvPr id="464" name="Google Shape;464;p15"/>
          <p:cNvSpPr txBox="1"/>
          <p:nvPr/>
        </p:nvSpPr>
        <p:spPr>
          <a:xfrm>
            <a:off x="966225" y="5050525"/>
            <a:ext cx="7959000" cy="1108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2000" b="0" i="0" u="none" strike="noStrike" cap="none">
                <a:solidFill>
                  <a:schemeClr val="dk1"/>
                </a:solidFill>
                <a:latin typeface="Lucida Sans"/>
                <a:ea typeface="Lucida Sans"/>
                <a:cs typeface="Lucida Sans"/>
                <a:sym typeface="Lucida Sans"/>
              </a:rPr>
              <a:t>Un clima organizacional positivo aumenta el </a:t>
            </a:r>
            <a:r>
              <a:rPr lang="en-US" sz="2000" b="1" i="0" u="none" strike="noStrike" cap="none">
                <a:solidFill>
                  <a:schemeClr val="dk1"/>
                </a:solidFill>
                <a:latin typeface="Lucida Sans"/>
                <a:ea typeface="Lucida Sans"/>
                <a:cs typeface="Lucida Sans"/>
                <a:sym typeface="Lucida Sans"/>
              </a:rPr>
              <a:t>compromiso organizacional</a:t>
            </a:r>
            <a:r>
              <a:rPr lang="en-US" sz="2000" b="0" i="0" u="none" strike="noStrike" cap="none">
                <a:solidFill>
                  <a:schemeClr val="dk1"/>
                </a:solidFill>
                <a:latin typeface="Lucida Sans"/>
                <a:ea typeface="Lucida Sans"/>
                <a:cs typeface="Lucida Sans"/>
                <a:sym typeface="Lucida Sans"/>
              </a:rPr>
              <a:t>, el vínculo que tienen los empleados con su organización.</a:t>
            </a:r>
            <a:endParaRPr sz="2000" b="0" i="0" u="none" strike="noStrike" cap="none">
              <a:solidFill>
                <a:srgbClr val="000000"/>
              </a:solidFill>
              <a:latin typeface="Lucida Sans"/>
              <a:ea typeface="Lucida Sans"/>
              <a:cs typeface="Lucida Sans"/>
              <a:sym typeface="Lucida Sans"/>
            </a:endParaRPr>
          </a:p>
        </p:txBody>
      </p:sp>
      <p:sp>
        <p:nvSpPr>
          <p:cNvPr id="465" name="Google Shape;465;p15"/>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Clima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grpSp>
        <p:nvGrpSpPr>
          <p:cNvPr id="472" name="Google Shape;472;p17"/>
          <p:cNvGrpSpPr/>
          <p:nvPr/>
        </p:nvGrpSpPr>
        <p:grpSpPr>
          <a:xfrm>
            <a:off x="2538273" y="1946175"/>
            <a:ext cx="4557162" cy="3997655"/>
            <a:chOff x="1008" y="912"/>
            <a:chExt cx="3407" cy="3023"/>
          </a:xfrm>
        </p:grpSpPr>
        <p:sp>
          <p:nvSpPr>
            <p:cNvPr id="473" name="Google Shape;473;p17"/>
            <p:cNvSpPr/>
            <p:nvPr/>
          </p:nvSpPr>
          <p:spPr>
            <a:xfrm>
              <a:off x="1313" y="976"/>
              <a:ext cx="1232" cy="1080"/>
            </a:xfrm>
            <a:custGeom>
              <a:avLst/>
              <a:gdLst/>
              <a:ahLst/>
              <a:cxnLst/>
              <a:rect l="l" t="t" r="r" b="b"/>
              <a:pathLst>
                <a:path w="1540" h="1537" extrusionOk="0">
                  <a:moveTo>
                    <a:pt x="0" y="1217"/>
                  </a:moveTo>
                  <a:lnTo>
                    <a:pt x="16" y="1186"/>
                  </a:lnTo>
                  <a:lnTo>
                    <a:pt x="30" y="1160"/>
                  </a:lnTo>
                  <a:lnTo>
                    <a:pt x="44" y="1132"/>
                  </a:lnTo>
                  <a:lnTo>
                    <a:pt x="58" y="1106"/>
                  </a:lnTo>
                  <a:lnTo>
                    <a:pt x="74" y="1079"/>
                  </a:lnTo>
                  <a:lnTo>
                    <a:pt x="92" y="1051"/>
                  </a:lnTo>
                  <a:lnTo>
                    <a:pt x="107" y="1025"/>
                  </a:lnTo>
                  <a:lnTo>
                    <a:pt x="123" y="997"/>
                  </a:lnTo>
                  <a:lnTo>
                    <a:pt x="145" y="966"/>
                  </a:lnTo>
                  <a:lnTo>
                    <a:pt x="169" y="934"/>
                  </a:lnTo>
                  <a:lnTo>
                    <a:pt x="187" y="908"/>
                  </a:lnTo>
                  <a:lnTo>
                    <a:pt x="208" y="882"/>
                  </a:lnTo>
                  <a:lnTo>
                    <a:pt x="230" y="853"/>
                  </a:lnTo>
                  <a:lnTo>
                    <a:pt x="254" y="821"/>
                  </a:lnTo>
                  <a:lnTo>
                    <a:pt x="278" y="793"/>
                  </a:lnTo>
                  <a:lnTo>
                    <a:pt x="304" y="763"/>
                  </a:lnTo>
                  <a:lnTo>
                    <a:pt x="327" y="740"/>
                  </a:lnTo>
                  <a:lnTo>
                    <a:pt x="357" y="706"/>
                  </a:lnTo>
                  <a:lnTo>
                    <a:pt x="383" y="678"/>
                  </a:lnTo>
                  <a:lnTo>
                    <a:pt x="409" y="654"/>
                  </a:lnTo>
                  <a:lnTo>
                    <a:pt x="438" y="627"/>
                  </a:lnTo>
                  <a:lnTo>
                    <a:pt x="460" y="607"/>
                  </a:lnTo>
                  <a:lnTo>
                    <a:pt x="488" y="583"/>
                  </a:lnTo>
                  <a:lnTo>
                    <a:pt x="516" y="559"/>
                  </a:lnTo>
                  <a:lnTo>
                    <a:pt x="549" y="533"/>
                  </a:lnTo>
                  <a:lnTo>
                    <a:pt x="577" y="512"/>
                  </a:lnTo>
                  <a:lnTo>
                    <a:pt x="609" y="486"/>
                  </a:lnTo>
                  <a:lnTo>
                    <a:pt x="647" y="460"/>
                  </a:lnTo>
                  <a:lnTo>
                    <a:pt x="680" y="434"/>
                  </a:lnTo>
                  <a:lnTo>
                    <a:pt x="718" y="408"/>
                  </a:lnTo>
                  <a:lnTo>
                    <a:pt x="756" y="385"/>
                  </a:lnTo>
                  <a:lnTo>
                    <a:pt x="795" y="363"/>
                  </a:lnTo>
                  <a:lnTo>
                    <a:pt x="837" y="339"/>
                  </a:lnTo>
                  <a:lnTo>
                    <a:pt x="872" y="323"/>
                  </a:lnTo>
                  <a:lnTo>
                    <a:pt x="906" y="303"/>
                  </a:lnTo>
                  <a:lnTo>
                    <a:pt x="946" y="287"/>
                  </a:lnTo>
                  <a:lnTo>
                    <a:pt x="974" y="276"/>
                  </a:lnTo>
                  <a:lnTo>
                    <a:pt x="855" y="0"/>
                  </a:lnTo>
                  <a:lnTo>
                    <a:pt x="1540" y="393"/>
                  </a:lnTo>
                  <a:lnTo>
                    <a:pt x="1362" y="1207"/>
                  </a:lnTo>
                  <a:lnTo>
                    <a:pt x="1251" y="966"/>
                  </a:lnTo>
                  <a:lnTo>
                    <a:pt x="1205" y="987"/>
                  </a:lnTo>
                  <a:lnTo>
                    <a:pt x="1162" y="1011"/>
                  </a:lnTo>
                  <a:lnTo>
                    <a:pt x="1114" y="1041"/>
                  </a:lnTo>
                  <a:lnTo>
                    <a:pt x="1063" y="1075"/>
                  </a:lnTo>
                  <a:lnTo>
                    <a:pt x="1023" y="1104"/>
                  </a:lnTo>
                  <a:lnTo>
                    <a:pt x="983" y="1138"/>
                  </a:lnTo>
                  <a:lnTo>
                    <a:pt x="944" y="1170"/>
                  </a:lnTo>
                  <a:lnTo>
                    <a:pt x="910" y="1203"/>
                  </a:lnTo>
                  <a:lnTo>
                    <a:pt x="878" y="1239"/>
                  </a:lnTo>
                  <a:lnTo>
                    <a:pt x="843" y="1277"/>
                  </a:lnTo>
                  <a:lnTo>
                    <a:pt x="813" y="1314"/>
                  </a:lnTo>
                  <a:lnTo>
                    <a:pt x="783" y="1352"/>
                  </a:lnTo>
                  <a:lnTo>
                    <a:pt x="758" y="1386"/>
                  </a:lnTo>
                  <a:lnTo>
                    <a:pt x="730" y="1431"/>
                  </a:lnTo>
                  <a:lnTo>
                    <a:pt x="704" y="1473"/>
                  </a:lnTo>
                  <a:lnTo>
                    <a:pt x="690" y="1505"/>
                  </a:lnTo>
                  <a:lnTo>
                    <a:pt x="672" y="1537"/>
                  </a:lnTo>
                  <a:lnTo>
                    <a:pt x="0" y="1217"/>
                  </a:lnTo>
                  <a:close/>
                </a:path>
              </a:pathLst>
            </a:custGeom>
            <a:solidFill>
              <a:srgbClr val="FFCC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474" name="Google Shape;474;p17"/>
            <p:cNvSpPr/>
            <p:nvPr/>
          </p:nvSpPr>
          <p:spPr>
            <a:xfrm>
              <a:off x="1008" y="1737"/>
              <a:ext cx="1088" cy="1201"/>
            </a:xfrm>
            <a:custGeom>
              <a:avLst/>
              <a:gdLst/>
              <a:ahLst/>
              <a:cxnLst/>
              <a:rect l="l" t="t" r="r" b="b"/>
              <a:pathLst>
                <a:path w="1356" h="1710" extrusionOk="0">
                  <a:moveTo>
                    <a:pt x="1356" y="707"/>
                  </a:moveTo>
                  <a:lnTo>
                    <a:pt x="1011" y="567"/>
                  </a:lnTo>
                  <a:lnTo>
                    <a:pt x="997" y="598"/>
                  </a:lnTo>
                  <a:lnTo>
                    <a:pt x="989" y="630"/>
                  </a:lnTo>
                  <a:lnTo>
                    <a:pt x="979" y="664"/>
                  </a:lnTo>
                  <a:lnTo>
                    <a:pt x="971" y="699"/>
                  </a:lnTo>
                  <a:lnTo>
                    <a:pt x="961" y="745"/>
                  </a:lnTo>
                  <a:lnTo>
                    <a:pt x="955" y="783"/>
                  </a:lnTo>
                  <a:lnTo>
                    <a:pt x="949" y="824"/>
                  </a:lnTo>
                  <a:lnTo>
                    <a:pt x="945" y="870"/>
                  </a:lnTo>
                  <a:lnTo>
                    <a:pt x="941" y="917"/>
                  </a:lnTo>
                  <a:lnTo>
                    <a:pt x="941" y="1003"/>
                  </a:lnTo>
                  <a:lnTo>
                    <a:pt x="943" y="1046"/>
                  </a:lnTo>
                  <a:lnTo>
                    <a:pt x="945" y="1088"/>
                  </a:lnTo>
                  <a:lnTo>
                    <a:pt x="951" y="1130"/>
                  </a:lnTo>
                  <a:lnTo>
                    <a:pt x="959" y="1171"/>
                  </a:lnTo>
                  <a:lnTo>
                    <a:pt x="967" y="1211"/>
                  </a:lnTo>
                  <a:lnTo>
                    <a:pt x="977" y="1258"/>
                  </a:lnTo>
                  <a:lnTo>
                    <a:pt x="991" y="1302"/>
                  </a:lnTo>
                  <a:lnTo>
                    <a:pt x="343" y="1710"/>
                  </a:lnTo>
                  <a:lnTo>
                    <a:pt x="329" y="1669"/>
                  </a:lnTo>
                  <a:lnTo>
                    <a:pt x="315" y="1633"/>
                  </a:lnTo>
                  <a:lnTo>
                    <a:pt x="303" y="1599"/>
                  </a:lnTo>
                  <a:lnTo>
                    <a:pt x="291" y="1562"/>
                  </a:lnTo>
                  <a:lnTo>
                    <a:pt x="281" y="1530"/>
                  </a:lnTo>
                  <a:lnTo>
                    <a:pt x="269" y="1494"/>
                  </a:lnTo>
                  <a:lnTo>
                    <a:pt x="261" y="1461"/>
                  </a:lnTo>
                  <a:lnTo>
                    <a:pt x="254" y="1429"/>
                  </a:lnTo>
                  <a:lnTo>
                    <a:pt x="246" y="1395"/>
                  </a:lnTo>
                  <a:lnTo>
                    <a:pt x="236" y="1356"/>
                  </a:lnTo>
                  <a:lnTo>
                    <a:pt x="230" y="1314"/>
                  </a:lnTo>
                  <a:lnTo>
                    <a:pt x="222" y="1276"/>
                  </a:lnTo>
                  <a:lnTo>
                    <a:pt x="214" y="1239"/>
                  </a:lnTo>
                  <a:lnTo>
                    <a:pt x="210" y="1195"/>
                  </a:lnTo>
                  <a:lnTo>
                    <a:pt x="206" y="1153"/>
                  </a:lnTo>
                  <a:lnTo>
                    <a:pt x="202" y="1106"/>
                  </a:lnTo>
                  <a:lnTo>
                    <a:pt x="198" y="1060"/>
                  </a:lnTo>
                  <a:lnTo>
                    <a:pt x="198" y="1015"/>
                  </a:lnTo>
                  <a:lnTo>
                    <a:pt x="198" y="967"/>
                  </a:lnTo>
                  <a:lnTo>
                    <a:pt x="198" y="908"/>
                  </a:lnTo>
                  <a:lnTo>
                    <a:pt x="200" y="854"/>
                  </a:lnTo>
                  <a:lnTo>
                    <a:pt x="202" y="818"/>
                  </a:lnTo>
                  <a:lnTo>
                    <a:pt x="206" y="775"/>
                  </a:lnTo>
                  <a:lnTo>
                    <a:pt x="210" y="733"/>
                  </a:lnTo>
                  <a:lnTo>
                    <a:pt x="216" y="683"/>
                  </a:lnTo>
                  <a:lnTo>
                    <a:pt x="224" y="640"/>
                  </a:lnTo>
                  <a:lnTo>
                    <a:pt x="232" y="600"/>
                  </a:lnTo>
                  <a:lnTo>
                    <a:pt x="242" y="551"/>
                  </a:lnTo>
                  <a:lnTo>
                    <a:pt x="252" y="511"/>
                  </a:lnTo>
                  <a:lnTo>
                    <a:pt x="261" y="463"/>
                  </a:lnTo>
                  <a:lnTo>
                    <a:pt x="273" y="424"/>
                  </a:lnTo>
                  <a:lnTo>
                    <a:pt x="287" y="380"/>
                  </a:lnTo>
                  <a:lnTo>
                    <a:pt x="301" y="337"/>
                  </a:lnTo>
                  <a:lnTo>
                    <a:pt x="321" y="283"/>
                  </a:lnTo>
                  <a:lnTo>
                    <a:pt x="0" y="148"/>
                  </a:lnTo>
                  <a:lnTo>
                    <a:pt x="844" y="0"/>
                  </a:lnTo>
                  <a:lnTo>
                    <a:pt x="1356" y="707"/>
                  </a:lnTo>
                  <a:close/>
                </a:path>
              </a:pathLst>
            </a:custGeom>
            <a:solidFill>
              <a:srgbClr val="0066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475" name="Google Shape;475;p17"/>
            <p:cNvSpPr/>
            <p:nvPr/>
          </p:nvSpPr>
          <p:spPr>
            <a:xfrm>
              <a:off x="1058" y="2608"/>
              <a:ext cx="1236" cy="1029"/>
            </a:xfrm>
            <a:custGeom>
              <a:avLst/>
              <a:gdLst/>
              <a:ahLst/>
              <a:cxnLst/>
              <a:rect l="l" t="t" r="r" b="b"/>
              <a:pathLst>
                <a:path w="1540" h="1465" extrusionOk="0">
                  <a:moveTo>
                    <a:pt x="1223" y="1465"/>
                  </a:moveTo>
                  <a:lnTo>
                    <a:pt x="1191" y="1449"/>
                  </a:lnTo>
                  <a:lnTo>
                    <a:pt x="1166" y="1435"/>
                  </a:lnTo>
                  <a:lnTo>
                    <a:pt x="1138" y="1421"/>
                  </a:lnTo>
                  <a:lnTo>
                    <a:pt x="1112" y="1407"/>
                  </a:lnTo>
                  <a:lnTo>
                    <a:pt x="1084" y="1391"/>
                  </a:lnTo>
                  <a:lnTo>
                    <a:pt x="1057" y="1376"/>
                  </a:lnTo>
                  <a:lnTo>
                    <a:pt x="1031" y="1358"/>
                  </a:lnTo>
                  <a:lnTo>
                    <a:pt x="1003" y="1342"/>
                  </a:lnTo>
                  <a:lnTo>
                    <a:pt x="973" y="1320"/>
                  </a:lnTo>
                  <a:lnTo>
                    <a:pt x="940" y="1298"/>
                  </a:lnTo>
                  <a:lnTo>
                    <a:pt x="914" y="1278"/>
                  </a:lnTo>
                  <a:lnTo>
                    <a:pt x="888" y="1257"/>
                  </a:lnTo>
                  <a:lnTo>
                    <a:pt x="859" y="1235"/>
                  </a:lnTo>
                  <a:lnTo>
                    <a:pt x="827" y="1211"/>
                  </a:lnTo>
                  <a:lnTo>
                    <a:pt x="799" y="1187"/>
                  </a:lnTo>
                  <a:lnTo>
                    <a:pt x="769" y="1161"/>
                  </a:lnTo>
                  <a:lnTo>
                    <a:pt x="746" y="1140"/>
                  </a:lnTo>
                  <a:lnTo>
                    <a:pt x="712" y="1108"/>
                  </a:lnTo>
                  <a:lnTo>
                    <a:pt x="684" y="1082"/>
                  </a:lnTo>
                  <a:lnTo>
                    <a:pt x="660" y="1056"/>
                  </a:lnTo>
                  <a:lnTo>
                    <a:pt x="633" y="1027"/>
                  </a:lnTo>
                  <a:lnTo>
                    <a:pt x="613" y="1005"/>
                  </a:lnTo>
                  <a:lnTo>
                    <a:pt x="589" y="977"/>
                  </a:lnTo>
                  <a:lnTo>
                    <a:pt x="565" y="949"/>
                  </a:lnTo>
                  <a:lnTo>
                    <a:pt x="539" y="916"/>
                  </a:lnTo>
                  <a:lnTo>
                    <a:pt x="516" y="888"/>
                  </a:lnTo>
                  <a:lnTo>
                    <a:pt x="492" y="856"/>
                  </a:lnTo>
                  <a:lnTo>
                    <a:pt x="464" y="818"/>
                  </a:lnTo>
                  <a:lnTo>
                    <a:pt x="440" y="785"/>
                  </a:lnTo>
                  <a:lnTo>
                    <a:pt x="415" y="747"/>
                  </a:lnTo>
                  <a:lnTo>
                    <a:pt x="391" y="709"/>
                  </a:lnTo>
                  <a:lnTo>
                    <a:pt x="369" y="670"/>
                  </a:lnTo>
                  <a:lnTo>
                    <a:pt x="345" y="628"/>
                  </a:lnTo>
                  <a:lnTo>
                    <a:pt x="329" y="592"/>
                  </a:lnTo>
                  <a:lnTo>
                    <a:pt x="309" y="559"/>
                  </a:lnTo>
                  <a:lnTo>
                    <a:pt x="294" y="521"/>
                  </a:lnTo>
                  <a:lnTo>
                    <a:pt x="0" y="660"/>
                  </a:lnTo>
                  <a:lnTo>
                    <a:pt x="484" y="0"/>
                  </a:lnTo>
                  <a:lnTo>
                    <a:pt x="1302" y="71"/>
                  </a:lnTo>
                  <a:lnTo>
                    <a:pt x="973" y="218"/>
                  </a:lnTo>
                  <a:lnTo>
                    <a:pt x="993" y="259"/>
                  </a:lnTo>
                  <a:lnTo>
                    <a:pt x="1017" y="303"/>
                  </a:lnTo>
                  <a:lnTo>
                    <a:pt x="1047" y="351"/>
                  </a:lnTo>
                  <a:lnTo>
                    <a:pt x="1080" y="402"/>
                  </a:lnTo>
                  <a:lnTo>
                    <a:pt x="1110" y="442"/>
                  </a:lnTo>
                  <a:lnTo>
                    <a:pt x="1144" y="481"/>
                  </a:lnTo>
                  <a:lnTo>
                    <a:pt x="1176" y="521"/>
                  </a:lnTo>
                  <a:lnTo>
                    <a:pt x="1209" y="555"/>
                  </a:lnTo>
                  <a:lnTo>
                    <a:pt x="1245" y="586"/>
                  </a:lnTo>
                  <a:lnTo>
                    <a:pt x="1283" y="622"/>
                  </a:lnTo>
                  <a:lnTo>
                    <a:pt x="1320" y="652"/>
                  </a:lnTo>
                  <a:lnTo>
                    <a:pt x="1356" y="682"/>
                  </a:lnTo>
                  <a:lnTo>
                    <a:pt x="1392" y="707"/>
                  </a:lnTo>
                  <a:lnTo>
                    <a:pt x="1435" y="735"/>
                  </a:lnTo>
                  <a:lnTo>
                    <a:pt x="1479" y="761"/>
                  </a:lnTo>
                  <a:lnTo>
                    <a:pt x="1511" y="775"/>
                  </a:lnTo>
                  <a:lnTo>
                    <a:pt x="1540" y="791"/>
                  </a:lnTo>
                  <a:lnTo>
                    <a:pt x="1223" y="1465"/>
                  </a:lnTo>
                  <a:close/>
                </a:path>
              </a:pathLst>
            </a:custGeom>
            <a:solidFill>
              <a:srgbClr val="FFCC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476" name="Google Shape;476;p17"/>
            <p:cNvSpPr/>
            <p:nvPr/>
          </p:nvSpPr>
          <p:spPr>
            <a:xfrm>
              <a:off x="1994" y="2995"/>
              <a:ext cx="1338" cy="940"/>
            </a:xfrm>
            <a:custGeom>
              <a:avLst/>
              <a:gdLst/>
              <a:ahLst/>
              <a:cxnLst/>
              <a:rect l="l" t="t" r="r" b="b"/>
              <a:pathLst>
                <a:path w="1673" h="1338" extrusionOk="0">
                  <a:moveTo>
                    <a:pt x="670" y="0"/>
                  </a:moveTo>
                  <a:lnTo>
                    <a:pt x="531" y="345"/>
                  </a:lnTo>
                  <a:lnTo>
                    <a:pt x="563" y="359"/>
                  </a:lnTo>
                  <a:lnTo>
                    <a:pt x="592" y="367"/>
                  </a:lnTo>
                  <a:lnTo>
                    <a:pt x="626" y="377"/>
                  </a:lnTo>
                  <a:lnTo>
                    <a:pt x="664" y="387"/>
                  </a:lnTo>
                  <a:lnTo>
                    <a:pt x="707" y="395"/>
                  </a:lnTo>
                  <a:lnTo>
                    <a:pt x="747" y="401"/>
                  </a:lnTo>
                  <a:lnTo>
                    <a:pt x="787" y="407"/>
                  </a:lnTo>
                  <a:lnTo>
                    <a:pt x="832" y="412"/>
                  </a:lnTo>
                  <a:lnTo>
                    <a:pt x="880" y="416"/>
                  </a:lnTo>
                  <a:lnTo>
                    <a:pt x="965" y="416"/>
                  </a:lnTo>
                  <a:lnTo>
                    <a:pt x="1011" y="414"/>
                  </a:lnTo>
                  <a:lnTo>
                    <a:pt x="1050" y="411"/>
                  </a:lnTo>
                  <a:lnTo>
                    <a:pt x="1092" y="405"/>
                  </a:lnTo>
                  <a:lnTo>
                    <a:pt x="1136" y="397"/>
                  </a:lnTo>
                  <a:lnTo>
                    <a:pt x="1173" y="391"/>
                  </a:lnTo>
                  <a:lnTo>
                    <a:pt x="1221" y="379"/>
                  </a:lnTo>
                  <a:lnTo>
                    <a:pt x="1264" y="365"/>
                  </a:lnTo>
                  <a:lnTo>
                    <a:pt x="1673" y="1011"/>
                  </a:lnTo>
                  <a:lnTo>
                    <a:pt x="1633" y="1027"/>
                  </a:lnTo>
                  <a:lnTo>
                    <a:pt x="1595" y="1041"/>
                  </a:lnTo>
                  <a:lnTo>
                    <a:pt x="1562" y="1053"/>
                  </a:lnTo>
                  <a:lnTo>
                    <a:pt x="1526" y="1065"/>
                  </a:lnTo>
                  <a:lnTo>
                    <a:pt x="1492" y="1075"/>
                  </a:lnTo>
                  <a:lnTo>
                    <a:pt x="1457" y="1087"/>
                  </a:lnTo>
                  <a:lnTo>
                    <a:pt x="1425" y="1094"/>
                  </a:lnTo>
                  <a:lnTo>
                    <a:pt x="1391" y="1102"/>
                  </a:lnTo>
                  <a:lnTo>
                    <a:pt x="1357" y="1110"/>
                  </a:lnTo>
                  <a:lnTo>
                    <a:pt x="1320" y="1120"/>
                  </a:lnTo>
                  <a:lnTo>
                    <a:pt x="1276" y="1126"/>
                  </a:lnTo>
                  <a:lnTo>
                    <a:pt x="1241" y="1134"/>
                  </a:lnTo>
                  <a:lnTo>
                    <a:pt x="1201" y="1142"/>
                  </a:lnTo>
                  <a:lnTo>
                    <a:pt x="1159" y="1148"/>
                  </a:lnTo>
                  <a:lnTo>
                    <a:pt x="1116" y="1152"/>
                  </a:lnTo>
                  <a:lnTo>
                    <a:pt x="1068" y="1154"/>
                  </a:lnTo>
                  <a:lnTo>
                    <a:pt x="1023" y="1158"/>
                  </a:lnTo>
                  <a:lnTo>
                    <a:pt x="979" y="1158"/>
                  </a:lnTo>
                  <a:lnTo>
                    <a:pt x="931" y="1158"/>
                  </a:lnTo>
                  <a:lnTo>
                    <a:pt x="872" y="1158"/>
                  </a:lnTo>
                  <a:lnTo>
                    <a:pt x="818" y="1156"/>
                  </a:lnTo>
                  <a:lnTo>
                    <a:pt x="781" y="1154"/>
                  </a:lnTo>
                  <a:lnTo>
                    <a:pt x="739" y="1152"/>
                  </a:lnTo>
                  <a:lnTo>
                    <a:pt x="695" y="1148"/>
                  </a:lnTo>
                  <a:lnTo>
                    <a:pt x="646" y="1140"/>
                  </a:lnTo>
                  <a:lnTo>
                    <a:pt x="604" y="1132"/>
                  </a:lnTo>
                  <a:lnTo>
                    <a:pt x="563" y="1126"/>
                  </a:lnTo>
                  <a:lnTo>
                    <a:pt x="513" y="1114"/>
                  </a:lnTo>
                  <a:lnTo>
                    <a:pt x="475" y="1104"/>
                  </a:lnTo>
                  <a:lnTo>
                    <a:pt x="428" y="1094"/>
                  </a:lnTo>
                  <a:lnTo>
                    <a:pt x="386" y="1083"/>
                  </a:lnTo>
                  <a:lnTo>
                    <a:pt x="345" y="1071"/>
                  </a:lnTo>
                  <a:lnTo>
                    <a:pt x="301" y="1055"/>
                  </a:lnTo>
                  <a:lnTo>
                    <a:pt x="248" y="1035"/>
                  </a:lnTo>
                  <a:lnTo>
                    <a:pt x="121" y="1338"/>
                  </a:lnTo>
                  <a:lnTo>
                    <a:pt x="0" y="480"/>
                  </a:lnTo>
                  <a:lnTo>
                    <a:pt x="670" y="0"/>
                  </a:lnTo>
                  <a:close/>
                </a:path>
              </a:pathLst>
            </a:custGeom>
            <a:solidFill>
              <a:srgbClr val="CCFF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477" name="Google Shape;477;p17"/>
            <p:cNvSpPr/>
            <p:nvPr/>
          </p:nvSpPr>
          <p:spPr>
            <a:xfrm>
              <a:off x="2953" y="2783"/>
              <a:ext cx="1162" cy="1021"/>
            </a:xfrm>
            <a:custGeom>
              <a:avLst/>
              <a:gdLst/>
              <a:ahLst/>
              <a:cxnLst/>
              <a:rect l="l" t="t" r="r" b="b"/>
              <a:pathLst>
                <a:path w="1453" h="1454" extrusionOk="0">
                  <a:moveTo>
                    <a:pt x="1453" y="320"/>
                  </a:moveTo>
                  <a:lnTo>
                    <a:pt x="1435" y="351"/>
                  </a:lnTo>
                  <a:lnTo>
                    <a:pt x="1423" y="377"/>
                  </a:lnTo>
                  <a:lnTo>
                    <a:pt x="1407" y="405"/>
                  </a:lnTo>
                  <a:lnTo>
                    <a:pt x="1395" y="431"/>
                  </a:lnTo>
                  <a:lnTo>
                    <a:pt x="1379" y="458"/>
                  </a:lnTo>
                  <a:lnTo>
                    <a:pt x="1362" y="486"/>
                  </a:lnTo>
                  <a:lnTo>
                    <a:pt x="1346" y="512"/>
                  </a:lnTo>
                  <a:lnTo>
                    <a:pt x="1328" y="540"/>
                  </a:lnTo>
                  <a:lnTo>
                    <a:pt x="1306" y="569"/>
                  </a:lnTo>
                  <a:lnTo>
                    <a:pt x="1284" y="601"/>
                  </a:lnTo>
                  <a:lnTo>
                    <a:pt x="1266" y="627"/>
                  </a:lnTo>
                  <a:lnTo>
                    <a:pt x="1245" y="653"/>
                  </a:lnTo>
                  <a:lnTo>
                    <a:pt x="1221" y="684"/>
                  </a:lnTo>
                  <a:lnTo>
                    <a:pt x="1197" y="716"/>
                  </a:lnTo>
                  <a:lnTo>
                    <a:pt x="1173" y="744"/>
                  </a:lnTo>
                  <a:lnTo>
                    <a:pt x="1147" y="774"/>
                  </a:lnTo>
                  <a:lnTo>
                    <a:pt x="1126" y="797"/>
                  </a:lnTo>
                  <a:lnTo>
                    <a:pt x="1094" y="831"/>
                  </a:lnTo>
                  <a:lnTo>
                    <a:pt x="1068" y="859"/>
                  </a:lnTo>
                  <a:lnTo>
                    <a:pt x="1042" y="883"/>
                  </a:lnTo>
                  <a:lnTo>
                    <a:pt x="1013" y="910"/>
                  </a:lnTo>
                  <a:lnTo>
                    <a:pt x="991" y="930"/>
                  </a:lnTo>
                  <a:lnTo>
                    <a:pt x="963" y="954"/>
                  </a:lnTo>
                  <a:lnTo>
                    <a:pt x="935" y="978"/>
                  </a:lnTo>
                  <a:lnTo>
                    <a:pt x="904" y="1004"/>
                  </a:lnTo>
                  <a:lnTo>
                    <a:pt x="876" y="1025"/>
                  </a:lnTo>
                  <a:lnTo>
                    <a:pt x="844" y="1049"/>
                  </a:lnTo>
                  <a:lnTo>
                    <a:pt x="805" y="1077"/>
                  </a:lnTo>
                  <a:lnTo>
                    <a:pt x="771" y="1101"/>
                  </a:lnTo>
                  <a:lnTo>
                    <a:pt x="735" y="1127"/>
                  </a:lnTo>
                  <a:lnTo>
                    <a:pt x="698" y="1152"/>
                  </a:lnTo>
                  <a:lnTo>
                    <a:pt x="658" y="1174"/>
                  </a:lnTo>
                  <a:lnTo>
                    <a:pt x="858" y="1454"/>
                  </a:lnTo>
                  <a:lnTo>
                    <a:pt x="59" y="1095"/>
                  </a:lnTo>
                  <a:lnTo>
                    <a:pt x="0" y="385"/>
                  </a:lnTo>
                  <a:lnTo>
                    <a:pt x="166" y="585"/>
                  </a:lnTo>
                  <a:lnTo>
                    <a:pt x="204" y="567"/>
                  </a:lnTo>
                  <a:lnTo>
                    <a:pt x="242" y="548"/>
                  </a:lnTo>
                  <a:lnTo>
                    <a:pt x="291" y="524"/>
                  </a:lnTo>
                  <a:lnTo>
                    <a:pt x="339" y="496"/>
                  </a:lnTo>
                  <a:lnTo>
                    <a:pt x="388" y="462"/>
                  </a:lnTo>
                  <a:lnTo>
                    <a:pt x="430" y="433"/>
                  </a:lnTo>
                  <a:lnTo>
                    <a:pt x="470" y="399"/>
                  </a:lnTo>
                  <a:lnTo>
                    <a:pt x="509" y="365"/>
                  </a:lnTo>
                  <a:lnTo>
                    <a:pt x="541" y="333"/>
                  </a:lnTo>
                  <a:lnTo>
                    <a:pt x="575" y="298"/>
                  </a:lnTo>
                  <a:lnTo>
                    <a:pt x="610" y="258"/>
                  </a:lnTo>
                  <a:lnTo>
                    <a:pt x="640" y="222"/>
                  </a:lnTo>
                  <a:lnTo>
                    <a:pt x="670" y="185"/>
                  </a:lnTo>
                  <a:lnTo>
                    <a:pt x="696" y="151"/>
                  </a:lnTo>
                  <a:lnTo>
                    <a:pt x="723" y="105"/>
                  </a:lnTo>
                  <a:lnTo>
                    <a:pt x="749" y="64"/>
                  </a:lnTo>
                  <a:lnTo>
                    <a:pt x="763" y="32"/>
                  </a:lnTo>
                  <a:lnTo>
                    <a:pt x="777" y="0"/>
                  </a:lnTo>
                  <a:lnTo>
                    <a:pt x="1453" y="320"/>
                  </a:lnTo>
                  <a:close/>
                </a:path>
              </a:pathLst>
            </a:custGeom>
            <a:solidFill>
              <a:srgbClr val="99CC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478" name="Google Shape;478;p17"/>
            <p:cNvSpPr/>
            <p:nvPr/>
          </p:nvSpPr>
          <p:spPr>
            <a:xfrm>
              <a:off x="3343" y="1870"/>
              <a:ext cx="1072" cy="1188"/>
            </a:xfrm>
            <a:custGeom>
              <a:avLst/>
              <a:gdLst/>
              <a:ahLst/>
              <a:cxnLst/>
              <a:rect l="l" t="t" r="r" b="b"/>
              <a:pathLst>
                <a:path w="1340" h="1691" extrusionOk="0">
                  <a:moveTo>
                    <a:pt x="0" y="1074"/>
                  </a:moveTo>
                  <a:lnTo>
                    <a:pt x="333" y="1199"/>
                  </a:lnTo>
                  <a:lnTo>
                    <a:pt x="351" y="1158"/>
                  </a:lnTo>
                  <a:lnTo>
                    <a:pt x="365" y="1118"/>
                  </a:lnTo>
                  <a:lnTo>
                    <a:pt x="375" y="1080"/>
                  </a:lnTo>
                  <a:lnTo>
                    <a:pt x="385" y="1047"/>
                  </a:lnTo>
                  <a:lnTo>
                    <a:pt x="395" y="1009"/>
                  </a:lnTo>
                  <a:lnTo>
                    <a:pt x="403" y="965"/>
                  </a:lnTo>
                  <a:lnTo>
                    <a:pt x="409" y="926"/>
                  </a:lnTo>
                  <a:lnTo>
                    <a:pt x="415" y="886"/>
                  </a:lnTo>
                  <a:lnTo>
                    <a:pt x="421" y="840"/>
                  </a:lnTo>
                  <a:lnTo>
                    <a:pt x="423" y="793"/>
                  </a:lnTo>
                  <a:lnTo>
                    <a:pt x="423" y="708"/>
                  </a:lnTo>
                  <a:lnTo>
                    <a:pt x="421" y="662"/>
                  </a:lnTo>
                  <a:lnTo>
                    <a:pt x="419" y="622"/>
                  </a:lnTo>
                  <a:lnTo>
                    <a:pt x="413" y="581"/>
                  </a:lnTo>
                  <a:lnTo>
                    <a:pt x="405" y="537"/>
                  </a:lnTo>
                  <a:lnTo>
                    <a:pt x="397" y="499"/>
                  </a:lnTo>
                  <a:lnTo>
                    <a:pt x="387" y="452"/>
                  </a:lnTo>
                  <a:lnTo>
                    <a:pt x="373" y="406"/>
                  </a:lnTo>
                  <a:lnTo>
                    <a:pt x="1019" y="0"/>
                  </a:lnTo>
                  <a:lnTo>
                    <a:pt x="1035" y="39"/>
                  </a:lnTo>
                  <a:lnTo>
                    <a:pt x="1049" y="77"/>
                  </a:lnTo>
                  <a:lnTo>
                    <a:pt x="1061" y="111"/>
                  </a:lnTo>
                  <a:lnTo>
                    <a:pt x="1073" y="147"/>
                  </a:lnTo>
                  <a:lnTo>
                    <a:pt x="1083" y="180"/>
                  </a:lnTo>
                  <a:lnTo>
                    <a:pt x="1095" y="216"/>
                  </a:lnTo>
                  <a:lnTo>
                    <a:pt x="1102" y="248"/>
                  </a:lnTo>
                  <a:lnTo>
                    <a:pt x="1110" y="281"/>
                  </a:lnTo>
                  <a:lnTo>
                    <a:pt x="1118" y="315"/>
                  </a:lnTo>
                  <a:lnTo>
                    <a:pt x="1128" y="353"/>
                  </a:lnTo>
                  <a:lnTo>
                    <a:pt x="1134" y="396"/>
                  </a:lnTo>
                  <a:lnTo>
                    <a:pt x="1142" y="432"/>
                  </a:lnTo>
                  <a:lnTo>
                    <a:pt x="1150" y="472"/>
                  </a:lnTo>
                  <a:lnTo>
                    <a:pt x="1156" y="513"/>
                  </a:lnTo>
                  <a:lnTo>
                    <a:pt x="1158" y="557"/>
                  </a:lnTo>
                  <a:lnTo>
                    <a:pt x="1162" y="605"/>
                  </a:lnTo>
                  <a:lnTo>
                    <a:pt x="1166" y="650"/>
                  </a:lnTo>
                  <a:lnTo>
                    <a:pt x="1166" y="694"/>
                  </a:lnTo>
                  <a:lnTo>
                    <a:pt x="1166" y="741"/>
                  </a:lnTo>
                  <a:lnTo>
                    <a:pt x="1166" y="801"/>
                  </a:lnTo>
                  <a:lnTo>
                    <a:pt x="1164" y="854"/>
                  </a:lnTo>
                  <a:lnTo>
                    <a:pt x="1162" y="892"/>
                  </a:lnTo>
                  <a:lnTo>
                    <a:pt x="1158" y="934"/>
                  </a:lnTo>
                  <a:lnTo>
                    <a:pt x="1156" y="977"/>
                  </a:lnTo>
                  <a:lnTo>
                    <a:pt x="1148" y="1027"/>
                  </a:lnTo>
                  <a:lnTo>
                    <a:pt x="1140" y="1068"/>
                  </a:lnTo>
                  <a:lnTo>
                    <a:pt x="1132" y="1110"/>
                  </a:lnTo>
                  <a:lnTo>
                    <a:pt x="1122" y="1160"/>
                  </a:lnTo>
                  <a:lnTo>
                    <a:pt x="1112" y="1197"/>
                  </a:lnTo>
                  <a:lnTo>
                    <a:pt x="1102" y="1245"/>
                  </a:lnTo>
                  <a:lnTo>
                    <a:pt x="1091" y="1287"/>
                  </a:lnTo>
                  <a:lnTo>
                    <a:pt x="1077" y="1328"/>
                  </a:lnTo>
                  <a:lnTo>
                    <a:pt x="1063" y="1372"/>
                  </a:lnTo>
                  <a:lnTo>
                    <a:pt x="1045" y="1425"/>
                  </a:lnTo>
                  <a:lnTo>
                    <a:pt x="1025" y="1479"/>
                  </a:lnTo>
                  <a:lnTo>
                    <a:pt x="1340" y="1608"/>
                  </a:lnTo>
                  <a:lnTo>
                    <a:pt x="549" y="1691"/>
                  </a:lnTo>
                  <a:lnTo>
                    <a:pt x="0" y="1074"/>
                  </a:lnTo>
                  <a:close/>
                </a:path>
              </a:pathLst>
            </a:custGeom>
            <a:solidFill>
              <a:srgbClr val="CC99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479" name="Google Shape;479;p17"/>
            <p:cNvSpPr/>
            <p:nvPr/>
          </p:nvSpPr>
          <p:spPr>
            <a:xfrm>
              <a:off x="3145" y="1179"/>
              <a:ext cx="1254" cy="1053"/>
            </a:xfrm>
            <a:custGeom>
              <a:avLst/>
              <a:gdLst/>
              <a:ahLst/>
              <a:cxnLst/>
              <a:rect l="l" t="t" r="r" b="b"/>
              <a:pathLst>
                <a:path w="1568" h="1493" extrusionOk="0">
                  <a:moveTo>
                    <a:pt x="319" y="0"/>
                  </a:moveTo>
                  <a:lnTo>
                    <a:pt x="351" y="16"/>
                  </a:lnTo>
                  <a:lnTo>
                    <a:pt x="376" y="30"/>
                  </a:lnTo>
                  <a:lnTo>
                    <a:pt x="404" y="44"/>
                  </a:lnTo>
                  <a:lnTo>
                    <a:pt x="430" y="58"/>
                  </a:lnTo>
                  <a:lnTo>
                    <a:pt x="458" y="74"/>
                  </a:lnTo>
                  <a:lnTo>
                    <a:pt x="483" y="92"/>
                  </a:lnTo>
                  <a:lnTo>
                    <a:pt x="509" y="108"/>
                  </a:lnTo>
                  <a:lnTo>
                    <a:pt x="535" y="123"/>
                  </a:lnTo>
                  <a:lnTo>
                    <a:pt x="567" y="145"/>
                  </a:lnTo>
                  <a:lnTo>
                    <a:pt x="600" y="169"/>
                  </a:lnTo>
                  <a:lnTo>
                    <a:pt x="626" y="187"/>
                  </a:lnTo>
                  <a:lnTo>
                    <a:pt x="652" y="209"/>
                  </a:lnTo>
                  <a:lnTo>
                    <a:pt x="683" y="230"/>
                  </a:lnTo>
                  <a:lnTo>
                    <a:pt x="715" y="254"/>
                  </a:lnTo>
                  <a:lnTo>
                    <a:pt x="743" y="278"/>
                  </a:lnTo>
                  <a:lnTo>
                    <a:pt x="771" y="304"/>
                  </a:lnTo>
                  <a:lnTo>
                    <a:pt x="796" y="328"/>
                  </a:lnTo>
                  <a:lnTo>
                    <a:pt x="828" y="357"/>
                  </a:lnTo>
                  <a:lnTo>
                    <a:pt x="856" y="383"/>
                  </a:lnTo>
                  <a:lnTo>
                    <a:pt x="880" y="409"/>
                  </a:lnTo>
                  <a:lnTo>
                    <a:pt x="907" y="439"/>
                  </a:lnTo>
                  <a:lnTo>
                    <a:pt x="929" y="460"/>
                  </a:lnTo>
                  <a:lnTo>
                    <a:pt x="953" y="488"/>
                  </a:lnTo>
                  <a:lnTo>
                    <a:pt x="977" y="516"/>
                  </a:lnTo>
                  <a:lnTo>
                    <a:pt x="1003" y="550"/>
                  </a:lnTo>
                  <a:lnTo>
                    <a:pt x="1024" y="577"/>
                  </a:lnTo>
                  <a:lnTo>
                    <a:pt x="1048" y="609"/>
                  </a:lnTo>
                  <a:lnTo>
                    <a:pt x="1076" y="647"/>
                  </a:lnTo>
                  <a:lnTo>
                    <a:pt x="1100" y="680"/>
                  </a:lnTo>
                  <a:lnTo>
                    <a:pt x="1126" y="718"/>
                  </a:lnTo>
                  <a:lnTo>
                    <a:pt x="1149" y="756"/>
                  </a:lnTo>
                  <a:lnTo>
                    <a:pt x="1171" y="795"/>
                  </a:lnTo>
                  <a:lnTo>
                    <a:pt x="1195" y="837"/>
                  </a:lnTo>
                  <a:lnTo>
                    <a:pt x="1213" y="873"/>
                  </a:lnTo>
                  <a:lnTo>
                    <a:pt x="1231" y="907"/>
                  </a:lnTo>
                  <a:lnTo>
                    <a:pt x="1246" y="946"/>
                  </a:lnTo>
                  <a:lnTo>
                    <a:pt x="1256" y="974"/>
                  </a:lnTo>
                  <a:lnTo>
                    <a:pt x="1568" y="851"/>
                  </a:lnTo>
                  <a:lnTo>
                    <a:pt x="1084" y="1493"/>
                  </a:lnTo>
                  <a:lnTo>
                    <a:pt x="228" y="1388"/>
                  </a:lnTo>
                  <a:lnTo>
                    <a:pt x="567" y="1251"/>
                  </a:lnTo>
                  <a:lnTo>
                    <a:pt x="545" y="1206"/>
                  </a:lnTo>
                  <a:lnTo>
                    <a:pt x="523" y="1162"/>
                  </a:lnTo>
                  <a:lnTo>
                    <a:pt x="493" y="1115"/>
                  </a:lnTo>
                  <a:lnTo>
                    <a:pt x="460" y="1065"/>
                  </a:lnTo>
                  <a:lnTo>
                    <a:pt x="430" y="1023"/>
                  </a:lnTo>
                  <a:lnTo>
                    <a:pt x="398" y="984"/>
                  </a:lnTo>
                  <a:lnTo>
                    <a:pt x="364" y="944"/>
                  </a:lnTo>
                  <a:lnTo>
                    <a:pt x="331" y="910"/>
                  </a:lnTo>
                  <a:lnTo>
                    <a:pt x="297" y="879"/>
                  </a:lnTo>
                  <a:lnTo>
                    <a:pt x="257" y="843"/>
                  </a:lnTo>
                  <a:lnTo>
                    <a:pt x="220" y="813"/>
                  </a:lnTo>
                  <a:lnTo>
                    <a:pt x="184" y="784"/>
                  </a:lnTo>
                  <a:lnTo>
                    <a:pt x="148" y="758"/>
                  </a:lnTo>
                  <a:lnTo>
                    <a:pt x="105" y="730"/>
                  </a:lnTo>
                  <a:lnTo>
                    <a:pt x="61" y="704"/>
                  </a:lnTo>
                  <a:lnTo>
                    <a:pt x="31" y="690"/>
                  </a:lnTo>
                  <a:lnTo>
                    <a:pt x="0" y="673"/>
                  </a:lnTo>
                  <a:lnTo>
                    <a:pt x="319" y="0"/>
                  </a:lnTo>
                  <a:close/>
                </a:path>
              </a:pathLst>
            </a:custGeom>
            <a:solidFill>
              <a:srgbClr val="FFFF99"/>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480" name="Google Shape;480;p17"/>
            <p:cNvSpPr/>
            <p:nvPr/>
          </p:nvSpPr>
          <p:spPr>
            <a:xfrm>
              <a:off x="2267" y="912"/>
              <a:ext cx="1213" cy="859"/>
            </a:xfrm>
            <a:custGeom>
              <a:avLst/>
              <a:gdLst/>
              <a:ahLst/>
              <a:cxnLst/>
              <a:rect l="l" t="t" r="r" b="b"/>
              <a:pathLst>
                <a:path w="1516" h="1223" extrusionOk="0">
                  <a:moveTo>
                    <a:pt x="808" y="1223"/>
                  </a:moveTo>
                  <a:lnTo>
                    <a:pt x="907" y="985"/>
                  </a:lnTo>
                  <a:lnTo>
                    <a:pt x="876" y="975"/>
                  </a:lnTo>
                  <a:lnTo>
                    <a:pt x="840" y="967"/>
                  </a:lnTo>
                  <a:lnTo>
                    <a:pt x="794" y="957"/>
                  </a:lnTo>
                  <a:lnTo>
                    <a:pt x="757" y="951"/>
                  </a:lnTo>
                  <a:lnTo>
                    <a:pt x="715" y="946"/>
                  </a:lnTo>
                  <a:lnTo>
                    <a:pt x="670" y="942"/>
                  </a:lnTo>
                  <a:lnTo>
                    <a:pt x="622" y="938"/>
                  </a:lnTo>
                  <a:lnTo>
                    <a:pt x="537" y="938"/>
                  </a:lnTo>
                  <a:lnTo>
                    <a:pt x="493" y="940"/>
                  </a:lnTo>
                  <a:lnTo>
                    <a:pt x="452" y="944"/>
                  </a:lnTo>
                  <a:lnTo>
                    <a:pt x="410" y="947"/>
                  </a:lnTo>
                  <a:lnTo>
                    <a:pt x="368" y="955"/>
                  </a:lnTo>
                  <a:lnTo>
                    <a:pt x="329" y="963"/>
                  </a:lnTo>
                  <a:lnTo>
                    <a:pt x="281" y="973"/>
                  </a:lnTo>
                  <a:lnTo>
                    <a:pt x="239" y="987"/>
                  </a:lnTo>
                  <a:lnTo>
                    <a:pt x="348" y="484"/>
                  </a:lnTo>
                  <a:lnTo>
                    <a:pt x="0" y="283"/>
                  </a:lnTo>
                  <a:lnTo>
                    <a:pt x="17" y="277"/>
                  </a:lnTo>
                  <a:lnTo>
                    <a:pt x="53" y="265"/>
                  </a:lnTo>
                  <a:lnTo>
                    <a:pt x="81" y="258"/>
                  </a:lnTo>
                  <a:lnTo>
                    <a:pt x="113" y="248"/>
                  </a:lnTo>
                  <a:lnTo>
                    <a:pt x="150" y="240"/>
                  </a:lnTo>
                  <a:lnTo>
                    <a:pt x="182" y="232"/>
                  </a:lnTo>
                  <a:lnTo>
                    <a:pt x="224" y="222"/>
                  </a:lnTo>
                  <a:lnTo>
                    <a:pt x="259" y="216"/>
                  </a:lnTo>
                  <a:lnTo>
                    <a:pt x="301" y="210"/>
                  </a:lnTo>
                  <a:lnTo>
                    <a:pt x="344" y="204"/>
                  </a:lnTo>
                  <a:lnTo>
                    <a:pt x="386" y="200"/>
                  </a:lnTo>
                  <a:lnTo>
                    <a:pt x="434" y="198"/>
                  </a:lnTo>
                  <a:lnTo>
                    <a:pt x="479" y="194"/>
                  </a:lnTo>
                  <a:lnTo>
                    <a:pt x="525" y="194"/>
                  </a:lnTo>
                  <a:lnTo>
                    <a:pt x="572" y="194"/>
                  </a:lnTo>
                  <a:lnTo>
                    <a:pt x="632" y="194"/>
                  </a:lnTo>
                  <a:lnTo>
                    <a:pt x="685" y="196"/>
                  </a:lnTo>
                  <a:lnTo>
                    <a:pt x="721" y="198"/>
                  </a:lnTo>
                  <a:lnTo>
                    <a:pt x="765" y="202"/>
                  </a:lnTo>
                  <a:lnTo>
                    <a:pt x="806" y="206"/>
                  </a:lnTo>
                  <a:lnTo>
                    <a:pt x="856" y="212"/>
                  </a:lnTo>
                  <a:lnTo>
                    <a:pt x="897" y="220"/>
                  </a:lnTo>
                  <a:lnTo>
                    <a:pt x="937" y="228"/>
                  </a:lnTo>
                  <a:lnTo>
                    <a:pt x="989" y="238"/>
                  </a:lnTo>
                  <a:lnTo>
                    <a:pt x="1028" y="248"/>
                  </a:lnTo>
                  <a:lnTo>
                    <a:pt x="1076" y="260"/>
                  </a:lnTo>
                  <a:lnTo>
                    <a:pt x="1116" y="269"/>
                  </a:lnTo>
                  <a:lnTo>
                    <a:pt x="1159" y="283"/>
                  </a:lnTo>
                  <a:lnTo>
                    <a:pt x="1203" y="297"/>
                  </a:lnTo>
                  <a:lnTo>
                    <a:pt x="1332" y="0"/>
                  </a:lnTo>
                  <a:lnTo>
                    <a:pt x="1516" y="829"/>
                  </a:lnTo>
                  <a:lnTo>
                    <a:pt x="808" y="1223"/>
                  </a:lnTo>
                  <a:close/>
                </a:path>
              </a:pathLst>
            </a:custGeom>
            <a:solidFill>
              <a:srgbClr val="0099CC"/>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481" name="Google Shape;481;p17"/>
            <p:cNvSpPr txBox="1"/>
            <p:nvPr/>
          </p:nvSpPr>
          <p:spPr>
            <a:xfrm>
              <a:off x="3653" y="2422"/>
              <a:ext cx="600" cy="300"/>
            </a:xfrm>
            <a:prstGeom prst="rect">
              <a:avLst/>
            </a:prstGeom>
            <a:noFill/>
            <a:ln>
              <a:noFill/>
            </a:ln>
          </p:spPr>
          <p:txBody>
            <a:bodyPr spcFirstLastPara="1" wrap="square" lIns="81450" tIns="40725" rIns="81450" bIns="407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66"/>
                  </a:solidFill>
                  <a:latin typeface="Lucida Sans"/>
                  <a:ea typeface="Lucida Sans"/>
                  <a:cs typeface="Lucida Sans"/>
                  <a:sym typeface="Lucida Sans"/>
                </a:rPr>
                <a:t>CIERRE DE LA ENCUESTA</a:t>
              </a:r>
              <a:endParaRPr sz="750" b="0" i="0" u="none" strike="noStrike" cap="none">
                <a:solidFill>
                  <a:srgbClr val="000000"/>
                </a:solidFill>
                <a:latin typeface="Lucida Sans"/>
                <a:ea typeface="Lucida Sans"/>
                <a:cs typeface="Lucida Sans"/>
                <a:sym typeface="Lucida Sans"/>
              </a:endParaRPr>
            </a:p>
          </p:txBody>
        </p:sp>
        <p:sp>
          <p:nvSpPr>
            <p:cNvPr id="482" name="Google Shape;482;p17"/>
            <p:cNvSpPr txBox="1"/>
            <p:nvPr/>
          </p:nvSpPr>
          <p:spPr>
            <a:xfrm>
              <a:off x="3320" y="1567"/>
              <a:ext cx="900" cy="300"/>
            </a:xfrm>
            <a:prstGeom prst="rect">
              <a:avLst/>
            </a:prstGeom>
            <a:noFill/>
            <a:ln>
              <a:noFill/>
            </a:ln>
          </p:spPr>
          <p:txBody>
            <a:bodyPr spcFirstLastPara="1" wrap="square" lIns="81450" tIns="40725" rIns="81450" bIns="407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00"/>
                  </a:solidFill>
                  <a:latin typeface="Lucida Sans"/>
                  <a:ea typeface="Lucida Sans"/>
                  <a:cs typeface="Lucida Sans"/>
                  <a:sym typeface="Lucida Sans"/>
                </a:rPr>
                <a:t>SEGUIMIENTO</a:t>
              </a:r>
              <a:endParaRPr sz="75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00"/>
                  </a:solidFill>
                  <a:latin typeface="Lucida Sans"/>
                  <a:ea typeface="Lucida Sans"/>
                  <a:cs typeface="Lucida Sans"/>
                  <a:sym typeface="Lucida Sans"/>
                </a:rPr>
                <a:t>DE </a:t>
              </a:r>
              <a:endParaRPr sz="75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00"/>
                  </a:solidFill>
                  <a:latin typeface="Lucida Sans"/>
                  <a:ea typeface="Lucida Sans"/>
                  <a:cs typeface="Lucida Sans"/>
                  <a:sym typeface="Lucida Sans"/>
                </a:rPr>
                <a:t>PARTICIPACIÓN</a:t>
              </a:r>
              <a:endParaRPr sz="750" b="0" i="0" u="none" strike="noStrike" cap="none">
                <a:solidFill>
                  <a:srgbClr val="000000"/>
                </a:solidFill>
                <a:latin typeface="Lucida Sans"/>
                <a:ea typeface="Lucida Sans"/>
                <a:cs typeface="Lucida Sans"/>
                <a:sym typeface="Lucida Sans"/>
              </a:endParaRPr>
            </a:p>
          </p:txBody>
        </p:sp>
        <p:sp>
          <p:nvSpPr>
            <p:cNvPr id="483" name="Google Shape;483;p17"/>
            <p:cNvSpPr txBox="1"/>
            <p:nvPr/>
          </p:nvSpPr>
          <p:spPr>
            <a:xfrm>
              <a:off x="2477" y="1085"/>
              <a:ext cx="900" cy="300"/>
            </a:xfrm>
            <a:prstGeom prst="rect">
              <a:avLst/>
            </a:prstGeom>
            <a:noFill/>
            <a:ln>
              <a:noFill/>
            </a:ln>
          </p:spPr>
          <p:txBody>
            <a:bodyPr spcFirstLastPara="1" wrap="square" lIns="81450" tIns="40725" rIns="81450" bIns="407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FFFFFF"/>
                  </a:solidFill>
                  <a:latin typeface="Lucida Sans"/>
                  <a:ea typeface="Lucida Sans"/>
                  <a:cs typeface="Lucida Sans"/>
                  <a:sym typeface="Lucida Sans"/>
                </a:rPr>
                <a:t>DISEÑO Y </a:t>
              </a:r>
              <a:endParaRPr sz="75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FFFFFF"/>
                  </a:solidFill>
                  <a:latin typeface="Lucida Sans"/>
                  <a:ea typeface="Lucida Sans"/>
                  <a:cs typeface="Lucida Sans"/>
                  <a:sym typeface="Lucida Sans"/>
                </a:rPr>
                <a:t>LANZAMIENTO</a:t>
              </a:r>
              <a:endParaRPr sz="75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FFFFFF"/>
                  </a:solidFill>
                  <a:latin typeface="Lucida Sans"/>
                  <a:ea typeface="Lucida Sans"/>
                  <a:cs typeface="Lucida Sans"/>
                  <a:sym typeface="Lucida Sans"/>
                </a:rPr>
                <a:t> DE LA </a:t>
              </a:r>
              <a:endParaRPr sz="75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FFFFFF"/>
                  </a:solidFill>
                  <a:latin typeface="Lucida Sans"/>
                  <a:ea typeface="Lucida Sans"/>
                  <a:cs typeface="Lucida Sans"/>
                  <a:sym typeface="Lucida Sans"/>
                </a:rPr>
                <a:t>ENCUESTA</a:t>
              </a:r>
              <a:endParaRPr sz="750" b="0" i="0" u="none" strike="noStrike" cap="none">
                <a:solidFill>
                  <a:srgbClr val="000000"/>
                </a:solidFill>
                <a:latin typeface="Lucida Sans"/>
                <a:ea typeface="Lucida Sans"/>
                <a:cs typeface="Lucida Sans"/>
                <a:sym typeface="Lucida Sans"/>
              </a:endParaRPr>
            </a:p>
          </p:txBody>
        </p:sp>
        <p:sp>
          <p:nvSpPr>
            <p:cNvPr id="484" name="Google Shape;484;p17"/>
            <p:cNvSpPr txBox="1"/>
            <p:nvPr/>
          </p:nvSpPr>
          <p:spPr>
            <a:xfrm>
              <a:off x="1092" y="1986"/>
              <a:ext cx="900" cy="300"/>
            </a:xfrm>
            <a:prstGeom prst="rect">
              <a:avLst/>
            </a:prstGeom>
            <a:noFill/>
            <a:ln>
              <a:noFill/>
            </a:ln>
          </p:spPr>
          <p:txBody>
            <a:bodyPr spcFirstLastPara="1" wrap="square" lIns="81450" tIns="40725" rIns="81450" bIns="407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FFFFFF"/>
                  </a:solidFill>
                  <a:latin typeface="Lucida Sans"/>
                  <a:ea typeface="Lucida Sans"/>
                  <a:cs typeface="Lucida Sans"/>
                  <a:sym typeface="Lucida Sans"/>
                </a:rPr>
                <a:t>RELEVAMIENTO</a:t>
              </a:r>
              <a:endParaRPr sz="750" b="0" i="0" u="none" strike="noStrike" cap="none">
                <a:solidFill>
                  <a:srgbClr val="FFFFFF"/>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900"/>
                <a:buFont typeface="Arial"/>
                <a:buNone/>
              </a:pPr>
              <a:endParaRPr sz="750" b="0" i="0" u="none" strike="noStrike" cap="none">
                <a:solidFill>
                  <a:srgbClr val="FFFFFF"/>
                </a:solidFill>
                <a:latin typeface="Lucida Sans"/>
                <a:ea typeface="Lucida Sans"/>
                <a:cs typeface="Lucida Sans"/>
                <a:sym typeface="Lucida Sans"/>
              </a:endParaRPr>
            </a:p>
          </p:txBody>
        </p:sp>
        <p:sp>
          <p:nvSpPr>
            <p:cNvPr id="485" name="Google Shape;485;p17"/>
            <p:cNvSpPr txBox="1"/>
            <p:nvPr/>
          </p:nvSpPr>
          <p:spPr>
            <a:xfrm>
              <a:off x="1218" y="2759"/>
              <a:ext cx="900" cy="600"/>
            </a:xfrm>
            <a:prstGeom prst="rect">
              <a:avLst/>
            </a:prstGeom>
            <a:noFill/>
            <a:ln>
              <a:noFill/>
            </a:ln>
          </p:spPr>
          <p:txBody>
            <a:bodyPr spcFirstLastPara="1" wrap="square" lIns="81450" tIns="40725" rIns="81450" bIns="407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66"/>
                  </a:solidFill>
                  <a:latin typeface="Lucida Sans"/>
                  <a:ea typeface="Lucida Sans"/>
                  <a:cs typeface="Lucida Sans"/>
                  <a:sym typeface="Lucida Sans"/>
                </a:rPr>
                <a:t>DEFINICIÓN </a:t>
              </a:r>
              <a:endParaRPr sz="750" b="1"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66"/>
                  </a:solidFill>
                  <a:latin typeface="Lucida Sans"/>
                  <a:ea typeface="Lucida Sans"/>
                  <a:cs typeface="Lucida Sans"/>
                  <a:sym typeface="Lucida Sans"/>
                </a:rPr>
                <a:t>E  IMPLEMENTACIÓN  DE PLANES DE MEJORA</a:t>
              </a:r>
              <a:endParaRPr sz="750" b="1" i="0" u="none" strike="noStrike" cap="none">
                <a:solidFill>
                  <a:srgbClr val="000000"/>
                </a:solidFill>
                <a:latin typeface="Lucida Sans"/>
                <a:ea typeface="Lucida Sans"/>
                <a:cs typeface="Lucida Sans"/>
                <a:sym typeface="Lucida Sans"/>
              </a:endParaRPr>
            </a:p>
          </p:txBody>
        </p:sp>
        <p:sp>
          <p:nvSpPr>
            <p:cNvPr id="486" name="Google Shape;486;p17"/>
            <p:cNvSpPr txBox="1"/>
            <p:nvPr/>
          </p:nvSpPr>
          <p:spPr>
            <a:xfrm>
              <a:off x="3210" y="3106"/>
              <a:ext cx="600" cy="300"/>
            </a:xfrm>
            <a:prstGeom prst="rect">
              <a:avLst/>
            </a:prstGeom>
            <a:noFill/>
            <a:ln>
              <a:noFill/>
            </a:ln>
          </p:spPr>
          <p:txBody>
            <a:bodyPr spcFirstLastPara="1" wrap="square" lIns="81450" tIns="40725" rIns="81450" bIns="407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66"/>
                  </a:solidFill>
                  <a:latin typeface="Lucida Sans"/>
                  <a:ea typeface="Lucida Sans"/>
                  <a:cs typeface="Lucida Sans"/>
                  <a:sym typeface="Lucida Sans"/>
                </a:rPr>
                <a:t>CONFECCIÓN DE INFORMES</a:t>
              </a:r>
              <a:endParaRPr sz="750" b="0" i="0" u="none" strike="noStrike" cap="none">
                <a:solidFill>
                  <a:srgbClr val="000000"/>
                </a:solidFill>
                <a:latin typeface="Lucida Sans"/>
                <a:ea typeface="Lucida Sans"/>
                <a:cs typeface="Lucida Sans"/>
                <a:sym typeface="Lucida Sans"/>
              </a:endParaRPr>
            </a:p>
          </p:txBody>
        </p:sp>
        <p:sp>
          <p:nvSpPr>
            <p:cNvPr id="487" name="Google Shape;487;p17"/>
            <p:cNvSpPr/>
            <p:nvPr/>
          </p:nvSpPr>
          <p:spPr>
            <a:xfrm>
              <a:off x="2153" y="3417"/>
              <a:ext cx="900" cy="300"/>
            </a:xfrm>
            <a:prstGeom prst="rect">
              <a:avLst/>
            </a:prstGeom>
            <a:noFill/>
            <a:ln>
              <a:noFill/>
            </a:ln>
          </p:spPr>
          <p:txBody>
            <a:bodyPr spcFirstLastPara="1" wrap="square" lIns="81450" tIns="40725" rIns="81450" bIns="407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66"/>
                  </a:solidFill>
                  <a:latin typeface="Lucida Sans"/>
                  <a:ea typeface="Lucida Sans"/>
                  <a:cs typeface="Lucida Sans"/>
                  <a:sym typeface="Lucida Sans"/>
                </a:rPr>
                <a:t>DIFUSIÓN DE LOS RESULTADOS</a:t>
              </a:r>
              <a:endParaRPr sz="750" b="1" i="0" u="none" strike="noStrike" cap="none">
                <a:solidFill>
                  <a:srgbClr val="000066"/>
                </a:solidFill>
                <a:latin typeface="Lucida Sans"/>
                <a:ea typeface="Lucida Sans"/>
                <a:cs typeface="Lucida Sans"/>
                <a:sym typeface="Lucida Sans"/>
              </a:endParaRPr>
            </a:p>
          </p:txBody>
        </p:sp>
        <p:sp>
          <p:nvSpPr>
            <p:cNvPr id="488" name="Google Shape;488;p17"/>
            <p:cNvSpPr txBox="1"/>
            <p:nvPr/>
          </p:nvSpPr>
          <p:spPr>
            <a:xfrm>
              <a:off x="1535" y="1347"/>
              <a:ext cx="900" cy="300"/>
            </a:xfrm>
            <a:prstGeom prst="rect">
              <a:avLst/>
            </a:prstGeom>
            <a:noFill/>
            <a:ln>
              <a:noFill/>
            </a:ln>
          </p:spPr>
          <p:txBody>
            <a:bodyPr spcFirstLastPara="1" wrap="square" lIns="81450" tIns="40725" rIns="81450" bIns="407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750" b="1" i="0" u="none" strike="noStrike" cap="none">
                  <a:solidFill>
                    <a:srgbClr val="000066"/>
                  </a:solidFill>
                  <a:latin typeface="Lucida Sans"/>
                  <a:ea typeface="Lucida Sans"/>
                  <a:cs typeface="Lucida Sans"/>
                  <a:sym typeface="Lucida Sans"/>
                </a:rPr>
                <a:t>PROPUESTAS DE ADECUACIÓN Y MEJORAS  DEL PROCESO</a:t>
              </a:r>
              <a:endParaRPr sz="750" b="0" i="0" u="none" strike="noStrike" cap="none">
                <a:solidFill>
                  <a:srgbClr val="000000"/>
                </a:solidFill>
                <a:latin typeface="Lucida Sans"/>
                <a:ea typeface="Lucida Sans"/>
                <a:cs typeface="Lucida Sans"/>
                <a:sym typeface="Lucida Sans"/>
              </a:endParaRPr>
            </a:p>
          </p:txBody>
        </p:sp>
      </p:grpSp>
      <p:sp>
        <p:nvSpPr>
          <p:cNvPr id="489" name="Google Shape;489;p17"/>
          <p:cNvSpPr txBox="1"/>
          <p:nvPr/>
        </p:nvSpPr>
        <p:spPr>
          <a:xfrm>
            <a:off x="990600" y="3413025"/>
            <a:ext cx="1809600" cy="1015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200"/>
              <a:buFont typeface="Arial"/>
              <a:buNone/>
            </a:pPr>
            <a:r>
              <a:rPr lang="en-US" sz="900" b="0" i="0" u="none" strike="noStrike" cap="none">
                <a:solidFill>
                  <a:schemeClr val="dk1"/>
                </a:solidFill>
                <a:latin typeface="Lucida Sans"/>
                <a:ea typeface="Lucida Sans"/>
                <a:cs typeface="Lucida Sans"/>
                <a:sym typeface="Lucida Sans"/>
              </a:rPr>
              <a:t>Se trata de relevar las opiniones de los empleados sobre el proceso, para realizar los ajustes necesarios para la próxima edición.</a:t>
            </a:r>
            <a:endParaRPr sz="1400" b="0" i="0" u="none" strike="noStrike" cap="none">
              <a:solidFill>
                <a:schemeClr val="dk1"/>
              </a:solidFill>
              <a:latin typeface="Lucida Sans"/>
              <a:ea typeface="Lucida Sans"/>
              <a:cs typeface="Lucida Sans"/>
              <a:sym typeface="Lucida Sans"/>
            </a:endParaRPr>
          </a:p>
        </p:txBody>
      </p:sp>
      <p:sp>
        <p:nvSpPr>
          <p:cNvPr id="490" name="Google Shape;490;p17"/>
          <p:cNvSpPr txBox="1"/>
          <p:nvPr/>
        </p:nvSpPr>
        <p:spPr>
          <a:xfrm>
            <a:off x="1566875" y="5004225"/>
            <a:ext cx="1809600" cy="1015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Lucida Sans"/>
                <a:ea typeface="Lucida Sans"/>
                <a:cs typeface="Lucida Sans"/>
                <a:sym typeface="Lucida Sans"/>
              </a:rPr>
              <a:t>Los planes de mejora pueden ser a nivel organizacional o por cada área o equipo. Se requiere un alto nivel de compromiso de los líderes</a:t>
            </a:r>
            <a:endParaRPr sz="1400" b="0" i="0" u="none" strike="noStrike" cap="none">
              <a:solidFill>
                <a:schemeClr val="dk1"/>
              </a:solidFill>
              <a:latin typeface="Lucida Sans"/>
              <a:ea typeface="Lucida Sans"/>
              <a:cs typeface="Lucida Sans"/>
              <a:sym typeface="Lucida Sans"/>
            </a:endParaRPr>
          </a:p>
        </p:txBody>
      </p:sp>
      <p:sp>
        <p:nvSpPr>
          <p:cNvPr id="491" name="Google Shape;491;p17"/>
          <p:cNvSpPr txBox="1"/>
          <p:nvPr/>
        </p:nvSpPr>
        <p:spPr>
          <a:xfrm>
            <a:off x="3962400" y="5791425"/>
            <a:ext cx="1809600" cy="877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Lucida Sans"/>
                <a:ea typeface="Lucida Sans"/>
                <a:cs typeface="Lucida Sans"/>
                <a:sym typeface="Lucida Sans"/>
              </a:rPr>
              <a:t>Es importante que todos los participantes luego reciban los resultados de la encuesta. Esto genera confianza en el proceso.</a:t>
            </a:r>
            <a:endParaRPr sz="1400" b="0" i="0" u="none" strike="noStrike" cap="none">
              <a:solidFill>
                <a:schemeClr val="dk1"/>
              </a:solidFill>
              <a:latin typeface="Lucida Sans"/>
              <a:ea typeface="Lucida Sans"/>
              <a:cs typeface="Lucida Sans"/>
              <a:sym typeface="Lucida Sans"/>
            </a:endParaRPr>
          </a:p>
        </p:txBody>
      </p:sp>
      <p:sp>
        <p:nvSpPr>
          <p:cNvPr id="492" name="Google Shape;492;p17"/>
          <p:cNvSpPr txBox="1"/>
          <p:nvPr/>
        </p:nvSpPr>
        <p:spPr>
          <a:xfrm>
            <a:off x="6829575" y="3516125"/>
            <a:ext cx="1809600" cy="1015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Lucida Sans"/>
                <a:ea typeface="Lucida Sans"/>
                <a:cs typeface="Lucida Sans"/>
                <a:sym typeface="Lucida Sans"/>
              </a:rPr>
              <a:t>Se procesan los datos relevados y se generan los resultados Puede hacerse internamente o a través de una consultora especializada.</a:t>
            </a:r>
            <a:endParaRPr sz="1400" b="0" i="0" u="none" strike="noStrike" cap="none">
              <a:solidFill>
                <a:schemeClr val="dk1"/>
              </a:solidFill>
              <a:latin typeface="Lucida Sans"/>
              <a:ea typeface="Lucida Sans"/>
              <a:cs typeface="Lucida Sans"/>
              <a:sym typeface="Lucida Sans"/>
            </a:endParaRPr>
          </a:p>
        </p:txBody>
      </p:sp>
      <p:sp>
        <p:nvSpPr>
          <p:cNvPr id="493" name="Google Shape;493;p17"/>
          <p:cNvSpPr txBox="1"/>
          <p:nvPr/>
        </p:nvSpPr>
        <p:spPr>
          <a:xfrm>
            <a:off x="6219975" y="1965225"/>
            <a:ext cx="1809600" cy="1015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Lucida Sans"/>
                <a:ea typeface="Lucida Sans"/>
                <a:cs typeface="Lucida Sans"/>
                <a:sym typeface="Lucida Sans"/>
              </a:rPr>
              <a:t>Cuánto mayor la participación, más representativos los resultados. Es clave que los líderes impulsen la participación.</a:t>
            </a:r>
            <a:endParaRPr sz="1400" b="0" i="0" u="none" strike="noStrike" cap="none">
              <a:solidFill>
                <a:schemeClr val="dk1"/>
              </a:solidFill>
              <a:latin typeface="Lucida Sans"/>
              <a:ea typeface="Lucida Sans"/>
              <a:cs typeface="Lucida Sans"/>
              <a:sym typeface="Lucida Sans"/>
            </a:endParaRPr>
          </a:p>
        </p:txBody>
      </p:sp>
      <p:sp>
        <p:nvSpPr>
          <p:cNvPr id="494" name="Google Shape;494;p17"/>
          <p:cNvSpPr txBox="1"/>
          <p:nvPr/>
        </p:nvSpPr>
        <p:spPr>
          <a:xfrm>
            <a:off x="3590225" y="1260375"/>
            <a:ext cx="2456100" cy="8772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Lucida Sans"/>
                <a:ea typeface="Lucida Sans"/>
                <a:cs typeface="Lucida Sans"/>
                <a:sym typeface="Lucida Sans"/>
              </a:rPr>
              <a:t>¿Qué queremos saber? ¿Quiénes van a participar de la encuesta? ¿Cómo logramos que todos puedan participar? ¿Cómo aseguramos la confidencialidad de los datos y la confianza?</a:t>
            </a:r>
            <a:endParaRPr sz="1400" b="0" i="0" u="none" strike="noStrike" cap="none">
              <a:solidFill>
                <a:schemeClr val="dk1"/>
              </a:solidFill>
              <a:latin typeface="Lucida Sans"/>
              <a:ea typeface="Lucida Sans"/>
              <a:cs typeface="Lucida Sans"/>
              <a:sym typeface="Lucida Sans"/>
            </a:endParaRPr>
          </a:p>
        </p:txBody>
      </p:sp>
      <p:sp>
        <p:nvSpPr>
          <p:cNvPr id="495" name="Google Shape;495;p17"/>
          <p:cNvSpPr txBox="1"/>
          <p:nvPr/>
        </p:nvSpPr>
        <p:spPr>
          <a:xfrm>
            <a:off x="6953250" y="5334000"/>
            <a:ext cx="2857500" cy="1416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Proceso Encuesta de Clima Organizacional (Anual)</a:t>
            </a:r>
            <a:endParaRPr sz="2000" b="1" i="0" u="none" strike="noStrike" cap="none">
              <a:solidFill>
                <a:srgbClr val="000000"/>
              </a:solidFill>
              <a:latin typeface="Lucida Sans"/>
              <a:ea typeface="Lucida Sans"/>
              <a:cs typeface="Lucida Sans"/>
              <a:sym typeface="Lucida Sans"/>
            </a:endParaRPr>
          </a:p>
        </p:txBody>
      </p:sp>
      <p:sp>
        <p:nvSpPr>
          <p:cNvPr id="496" name="Google Shape;496;p17"/>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Clima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121e7910631_0_1082"/>
          <p:cNvSpPr txBox="1"/>
          <p:nvPr/>
        </p:nvSpPr>
        <p:spPr>
          <a:xfrm>
            <a:off x="304800" y="1238250"/>
            <a:ext cx="9258600" cy="8004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chemeClr val="dk1"/>
              </a:buClr>
              <a:buSzPts val="1100"/>
              <a:buFont typeface="Arial"/>
              <a:buNone/>
            </a:pPr>
            <a:r>
              <a:rPr lang="en-US" sz="2000" b="0" i="0" u="none" strike="noStrike" cap="none">
                <a:solidFill>
                  <a:schemeClr val="dk1"/>
                </a:solidFill>
                <a:latin typeface="Lucida Sans"/>
                <a:ea typeface="Lucida Sans"/>
                <a:cs typeface="Lucida Sans"/>
                <a:sym typeface="Lucida Sans"/>
              </a:rPr>
              <a:t>La </a:t>
            </a:r>
            <a:r>
              <a:rPr lang="en-US" sz="2000" b="1" i="0" u="none" strike="noStrike" cap="none">
                <a:solidFill>
                  <a:schemeClr val="dk1"/>
                </a:solidFill>
                <a:latin typeface="Lucida Sans"/>
                <a:ea typeface="Lucida Sans"/>
                <a:cs typeface="Lucida Sans"/>
                <a:sym typeface="Lucida Sans"/>
              </a:rPr>
              <a:t>encuesta de pulso</a:t>
            </a:r>
            <a:r>
              <a:rPr lang="en-US" sz="2000" b="0" i="0" u="none" strike="noStrike" cap="none">
                <a:solidFill>
                  <a:schemeClr val="dk1"/>
                </a:solidFill>
                <a:latin typeface="Lucida Sans"/>
                <a:ea typeface="Lucida Sans"/>
                <a:cs typeface="Lucida Sans"/>
                <a:sym typeface="Lucida Sans"/>
              </a:rPr>
              <a:t> es de rápida implementación, que se realiza con una frecuencia mayor a la Encuesta anual de clima.</a:t>
            </a:r>
            <a:endParaRPr sz="2000" b="0" i="0" u="none" strike="noStrike" cap="none">
              <a:solidFill>
                <a:srgbClr val="000000"/>
              </a:solidFill>
              <a:latin typeface="Lucida Sans"/>
              <a:ea typeface="Lucida Sans"/>
              <a:cs typeface="Lucida Sans"/>
              <a:sym typeface="Lucida Sans"/>
            </a:endParaRPr>
          </a:p>
        </p:txBody>
      </p:sp>
      <p:graphicFrame>
        <p:nvGraphicFramePr>
          <p:cNvPr id="504" name="Google Shape;504;g121e7910631_0_1082"/>
          <p:cNvGraphicFramePr/>
          <p:nvPr/>
        </p:nvGraphicFramePr>
        <p:xfrm>
          <a:off x="952500" y="2133600"/>
          <a:ext cx="8001000" cy="3840420"/>
        </p:xfrm>
        <a:graphic>
          <a:graphicData uri="http://schemas.openxmlformats.org/drawingml/2006/table">
            <a:tbl>
              <a:tblPr>
                <a:noFill/>
                <a:tableStyleId>{A7FB2BB2-7192-4DF9-8AF8-DE66DCF5C9A8}</a:tableStyleId>
              </a:tblPr>
              <a:tblGrid>
                <a:gridCol w="2667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Lucida Sans"/>
                          <a:ea typeface="Lucida Sans"/>
                          <a:cs typeface="Lucida Sans"/>
                          <a:sym typeface="Lucida Sans"/>
                        </a:rPr>
                        <a:t>Principales características:</a:t>
                      </a:r>
                      <a:endParaRPr sz="1200" b="1"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-Es rápida, simple, más sencilla que la Encuestas anuales de clima</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-Se utiliza de manera complementaria a la Encuesta de clima. No la reemplaza.</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-Sirve para “pulsear” el clima y nivel de satisfacción de manera más frecuente</a:t>
                      </a:r>
                      <a:endParaRPr sz="1200" u="none" strike="noStrike" cap="none">
                        <a:latin typeface="Lucida Sans"/>
                        <a:ea typeface="Lucida Sans"/>
                        <a:cs typeface="Lucida Sans"/>
                        <a:sym typeface="Lucida Sans"/>
                      </a:endParaRPr>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Lucida Sans"/>
                          <a:ea typeface="Lucida Sans"/>
                          <a:cs typeface="Lucida Sans"/>
                          <a:sym typeface="Lucida Sans"/>
                        </a:rPr>
                        <a:t>Implementación:</a:t>
                      </a:r>
                      <a:endParaRPr sz="1200" b="1"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-Rápida: de 3 a 5 minutos</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-Simple: 5 a 15 preguntas</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-Respuestas para marcar, corta</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Lucida Sans"/>
                          <a:ea typeface="Lucida Sans"/>
                          <a:cs typeface="Lucida Sans"/>
                          <a:sym typeface="Lucida Sans"/>
                        </a:rPr>
                        <a:t>Ventajas:</a:t>
                      </a:r>
                      <a:endParaRPr sz="1200" b="1"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-En general tiene un alto ratio de participación</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-Tiempos rápidos de respuesta</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-Promueve la comunicación abierta</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Lucida Sans"/>
                          <a:ea typeface="Lucida Sans"/>
                          <a:cs typeface="Lucida Sans"/>
                          <a:sym typeface="Lucida Sans"/>
                        </a:rPr>
                        <a:t>Desventajas:</a:t>
                      </a:r>
                      <a:endParaRPr sz="1200" b="1"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-Si no se define la frecuencia se pierde la confianza de los empleados en la herramienta</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-Si se hacen demasiado seguido pierden efectividad</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-Puede generar desconfianza si no se toman acciones rápidas sobre el feedback</a:t>
                      </a:r>
                      <a:endParaRPr sz="1200" u="none" strike="noStrike" cap="none">
                        <a:latin typeface="Lucida Sans"/>
                        <a:ea typeface="Lucida Sans"/>
                        <a:cs typeface="Lucida Sans"/>
                        <a:sym typeface="Lucida Sans"/>
                      </a:endParaRPr>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Lucida Sans"/>
                          <a:ea typeface="Lucida Sans"/>
                          <a:cs typeface="Lucida Sans"/>
                          <a:sym typeface="Lucida Sans"/>
                        </a:rPr>
                        <a:t>Es Necesario:</a:t>
                      </a:r>
                      <a:endParaRPr sz="1200" b="1"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-Tener recursos para el análisis de la información</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-Tener la disponibilidad para analizarlo: personas y tecnología. </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-Comité de clima: Demanda tiempo y recursos, disponibilidad de RR.HH. y de los jefes de área.</a:t>
                      </a:r>
                      <a:endParaRPr sz="1200" u="none" strike="noStrike" cap="none">
                        <a:latin typeface="Lucida Sans"/>
                        <a:ea typeface="Lucida Sans"/>
                        <a:cs typeface="Lucida Sans"/>
                        <a:sym typeface="Lucida Sans"/>
                      </a:endParaRPr>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Lucida Sans"/>
                          <a:ea typeface="Lucida Sans"/>
                          <a:cs typeface="Lucida Sans"/>
                          <a:sym typeface="Lucida Sans"/>
                        </a:rPr>
                        <a:t>Factores de éxito:</a:t>
                      </a:r>
                      <a:endParaRPr sz="1200" b="1"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-Elegir correctamente las preguntas</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-Elegir correctamente la frecuencia</a:t>
                      </a:r>
                      <a:endParaRPr sz="1200" u="none" strike="noStrike" cap="none">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-El canal más óptimo: correo, app, etc</a:t>
                      </a:r>
                      <a:endParaRPr sz="1200" u="none" strike="noStrike" cap="none">
                        <a:latin typeface="Lucida Sans"/>
                        <a:ea typeface="Lucida Sans"/>
                        <a:cs typeface="Lucida Sans"/>
                        <a:sym typeface="Lucida Sans"/>
                      </a:endParaRPr>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505" name="Google Shape;505;g121e7910631_0_1082"/>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Clima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g121e7910631_0_930"/>
          <p:cNvSpPr txBox="1"/>
          <p:nvPr/>
        </p:nvSpPr>
        <p:spPr>
          <a:xfrm>
            <a:off x="338800" y="1340375"/>
            <a:ext cx="9302100" cy="400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b="1" i="0" u="none" strike="noStrike" cap="none">
                <a:solidFill>
                  <a:srgbClr val="002060"/>
                </a:solidFill>
                <a:latin typeface="Lucida Sans"/>
                <a:ea typeface="Lucida Sans"/>
                <a:cs typeface="Lucida Sans"/>
                <a:sym typeface="Lucida Sans"/>
              </a:rPr>
              <a:t>¿Qué es Great Place to Work?</a:t>
            </a:r>
            <a:endParaRPr sz="2000" b="0" i="1" u="none" strike="noStrike" cap="none">
              <a:solidFill>
                <a:srgbClr val="002060"/>
              </a:solidFill>
              <a:latin typeface="Lucida Sans"/>
              <a:ea typeface="Lucida Sans"/>
              <a:cs typeface="Lucida Sans"/>
              <a:sym typeface="Lucida Sans"/>
            </a:endParaRPr>
          </a:p>
        </p:txBody>
      </p:sp>
      <p:sp>
        <p:nvSpPr>
          <p:cNvPr id="513" name="Google Shape;513;g121e7910631_0_930"/>
          <p:cNvSpPr txBox="1"/>
          <p:nvPr/>
        </p:nvSpPr>
        <p:spPr>
          <a:xfrm>
            <a:off x="338800" y="1797575"/>
            <a:ext cx="9302100" cy="40944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000"/>
              <a:buFont typeface="Arial"/>
              <a:buNone/>
            </a:pPr>
            <a:r>
              <a:rPr lang="en-US" sz="2000" b="0" i="0" u="none" strike="noStrike" cap="none">
                <a:solidFill>
                  <a:srgbClr val="002060"/>
                </a:solidFill>
                <a:latin typeface="Lucida Sans"/>
                <a:ea typeface="Lucida Sans"/>
                <a:cs typeface="Lucida Sans"/>
                <a:sym typeface="Lucida Sans"/>
              </a:rPr>
              <a:t>Es un programa de reconocimiento a la calidad de la cultura organizacional que valida la experiencia de los empleados, mide la cultura organizacional y ayuda a comprender cómo se construye un excelente lugar para trabajar.</a:t>
            </a:r>
            <a:endParaRPr sz="2000" b="0" i="0" u="none" strike="noStrike" cap="none">
              <a:solidFill>
                <a:srgbClr val="00206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206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2060"/>
                </a:solidFill>
                <a:latin typeface="Lucida Sans"/>
                <a:ea typeface="Lucida Sans"/>
                <a:cs typeface="Lucida Sans"/>
                <a:sym typeface="Lucida Sans"/>
              </a:rPr>
              <a:t>Requisitos para la Certificación Great Place to work</a:t>
            </a:r>
            <a:r>
              <a:rPr lang="en-US" sz="2000" b="0" i="0" u="none" strike="noStrike" cap="none">
                <a:solidFill>
                  <a:srgbClr val="002060"/>
                </a:solidFill>
                <a:latin typeface="Lucida Sans"/>
                <a:ea typeface="Lucida Sans"/>
                <a:cs typeface="Lucida Sans"/>
                <a:sym typeface="Lucida Sans"/>
              </a:rPr>
              <a:t>:</a:t>
            </a:r>
            <a:endParaRPr sz="2000" b="0" i="0" u="none" strike="noStrike" cap="none">
              <a:solidFill>
                <a:srgbClr val="00206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2060"/>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rgbClr val="002060"/>
              </a:buClr>
              <a:buSzPts val="2000"/>
              <a:buFont typeface="Lucida Sans"/>
              <a:buChar char="-"/>
            </a:pPr>
            <a:r>
              <a:rPr lang="en-US" sz="2000" b="0" i="0" u="none" strike="noStrike" cap="none">
                <a:solidFill>
                  <a:srgbClr val="002060"/>
                </a:solidFill>
                <a:latin typeface="Lucida Sans"/>
                <a:ea typeface="Lucida Sans"/>
                <a:cs typeface="Lucida Sans"/>
                <a:sym typeface="Lucida Sans"/>
              </a:rPr>
              <a:t>-Empresas de mínimo 10 colaboradores</a:t>
            </a:r>
            <a:endParaRPr sz="2000" b="0" i="0" u="none" strike="noStrike" cap="none">
              <a:solidFill>
                <a:srgbClr val="002060"/>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rgbClr val="002060"/>
              </a:buClr>
              <a:buSzPts val="2000"/>
              <a:buFont typeface="Lucida Sans"/>
              <a:buChar char="-"/>
            </a:pPr>
            <a:r>
              <a:rPr lang="en-US" sz="2000" b="0" i="0" u="none" strike="noStrike" cap="none">
                <a:solidFill>
                  <a:srgbClr val="002060"/>
                </a:solidFill>
                <a:latin typeface="Lucida Sans"/>
                <a:ea typeface="Lucida Sans"/>
                <a:cs typeface="Lucida Sans"/>
                <a:sym typeface="Lucida Sans"/>
              </a:rPr>
              <a:t>-Que se encueste a todos los colaboradores a través de la plataforma</a:t>
            </a:r>
            <a:endParaRPr sz="2000" b="0" i="0" u="none" strike="noStrike" cap="none">
              <a:solidFill>
                <a:srgbClr val="002060"/>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rgbClr val="002060"/>
              </a:buClr>
              <a:buSzPts val="2000"/>
              <a:buFont typeface="Lucida Sans"/>
              <a:buChar char="-"/>
            </a:pPr>
            <a:r>
              <a:rPr lang="en-US" sz="2000" b="0" i="0" u="none" strike="noStrike" cap="none">
                <a:solidFill>
                  <a:srgbClr val="002060"/>
                </a:solidFill>
                <a:latin typeface="Lucida Sans"/>
                <a:ea typeface="Lucida Sans"/>
                <a:cs typeface="Lucida Sans"/>
                <a:sym typeface="Lucida Sans"/>
              </a:rPr>
              <a:t>-Si el promedio de favorabilidad es del 65 % o más la empresa logra la certificación</a:t>
            </a:r>
            <a:endParaRPr sz="2000" b="0" i="0" u="none" strike="noStrike" cap="none">
              <a:solidFill>
                <a:srgbClr val="002060"/>
              </a:solidFill>
              <a:latin typeface="Lucida Sans"/>
              <a:ea typeface="Lucida Sans"/>
              <a:cs typeface="Lucida Sans"/>
              <a:sym typeface="Lucida Sans"/>
            </a:endParaRPr>
          </a:p>
          <a:p>
            <a:pPr marL="457200" marR="0" lvl="0" indent="-355600" algn="l" rtl="0">
              <a:lnSpc>
                <a:spcPct val="100000"/>
              </a:lnSpc>
              <a:spcBef>
                <a:spcPts val="0"/>
              </a:spcBef>
              <a:spcAft>
                <a:spcPts val="0"/>
              </a:spcAft>
              <a:buClr>
                <a:srgbClr val="002060"/>
              </a:buClr>
              <a:buSzPts val="2000"/>
              <a:buFont typeface="Lucida Sans"/>
              <a:buChar char="-"/>
            </a:pPr>
            <a:r>
              <a:rPr lang="en-US" sz="2000" b="0" i="0" u="none" strike="noStrike" cap="none">
                <a:solidFill>
                  <a:srgbClr val="002060"/>
                </a:solidFill>
                <a:latin typeface="Lucida Sans"/>
                <a:ea typeface="Lucida Sans"/>
                <a:cs typeface="Lucida Sans"/>
                <a:sym typeface="Lucida Sans"/>
              </a:rPr>
              <a:t>-Se puede competir con otras empresas según cluster: ranking nacional, pyme, millennials, tecnología, etc.</a:t>
            </a:r>
            <a:endParaRPr sz="2000" b="0" i="0" u="none" strike="noStrike" cap="none">
              <a:solidFill>
                <a:srgbClr val="002060"/>
              </a:solidFill>
              <a:latin typeface="Lucida Sans"/>
              <a:ea typeface="Lucida Sans"/>
              <a:cs typeface="Lucida Sans"/>
              <a:sym typeface="Lucida Sans"/>
            </a:endParaRPr>
          </a:p>
        </p:txBody>
      </p:sp>
      <p:pic>
        <p:nvPicPr>
          <p:cNvPr id="514" name="Google Shape;514;g121e7910631_0_930"/>
          <p:cNvPicPr preferRelativeResize="0"/>
          <p:nvPr/>
        </p:nvPicPr>
        <p:blipFill rotWithShape="1">
          <a:blip r:embed="rId3">
            <a:alphaModFix/>
          </a:blip>
          <a:srcRect/>
          <a:stretch/>
        </p:blipFill>
        <p:spPr>
          <a:xfrm>
            <a:off x="7647802" y="5657850"/>
            <a:ext cx="1977222" cy="1043000"/>
          </a:xfrm>
          <a:prstGeom prst="rect">
            <a:avLst/>
          </a:prstGeom>
          <a:noFill/>
          <a:ln>
            <a:noFill/>
          </a:ln>
        </p:spPr>
      </p:pic>
      <p:sp>
        <p:nvSpPr>
          <p:cNvPr id="515" name="Google Shape;515;g121e7910631_0_930"/>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Clima Organizacional</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g123d31d1acb_0_0"/>
          <p:cNvSpPr/>
          <p:nvPr/>
        </p:nvSpPr>
        <p:spPr>
          <a:xfrm>
            <a:off x="2256906" y="3171416"/>
            <a:ext cx="6194400" cy="428700"/>
          </a:xfrm>
          <a:prstGeom prst="roundRect">
            <a:avLst>
              <a:gd name="adj" fmla="val 16667"/>
            </a:avLst>
          </a:prstGeom>
          <a:solidFill>
            <a:srgbClr val="D8D8D8"/>
          </a:solidFill>
          <a:ln>
            <a:noFill/>
          </a:ln>
          <a:effectLst>
            <a:outerShdw blurRad="149987" dist="250190" dir="8460000" algn="ctr">
              <a:srgbClr val="000000">
                <a:alpha val="26666"/>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Clima Organizacional</a:t>
            </a:r>
            <a:endParaRPr sz="1400" b="0" i="0" u="none" strike="noStrike" cap="none">
              <a:solidFill>
                <a:srgbClr val="000000"/>
              </a:solidFill>
              <a:latin typeface="Arial"/>
              <a:ea typeface="Arial"/>
              <a:cs typeface="Arial"/>
              <a:sym typeface="Arial"/>
            </a:endParaRPr>
          </a:p>
        </p:txBody>
      </p:sp>
      <p:sp>
        <p:nvSpPr>
          <p:cNvPr id="521" name="Google Shape;521;g123d31d1acb_0_0"/>
          <p:cNvSpPr/>
          <p:nvPr/>
        </p:nvSpPr>
        <p:spPr>
          <a:xfrm>
            <a:off x="2042592" y="3171416"/>
            <a:ext cx="571500" cy="428700"/>
          </a:xfrm>
          <a:prstGeom prst="ellipse">
            <a:avLst/>
          </a:prstGeom>
          <a:solidFill>
            <a:srgbClr val="909090"/>
          </a:solidFill>
          <a:ln>
            <a:noFill/>
          </a:ln>
          <a:effectLst>
            <a:outerShdw blurRad="44450" dist="27940" dir="5400000" algn="ctr">
              <a:srgbClr val="000000">
                <a:alpha val="3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522" name="Google Shape;522;g123d31d1acb_0_0"/>
          <p:cNvSpPr/>
          <p:nvPr/>
        </p:nvSpPr>
        <p:spPr>
          <a:xfrm>
            <a:off x="2256906" y="3814358"/>
            <a:ext cx="6194400" cy="428700"/>
          </a:xfrm>
          <a:prstGeom prst="roundRect">
            <a:avLst>
              <a:gd name="adj" fmla="val 16667"/>
            </a:avLst>
          </a:prstGeom>
          <a:solidFill>
            <a:srgbClr val="C9EEF6"/>
          </a:solidFill>
          <a:ln>
            <a:noFill/>
          </a:ln>
          <a:effectLst>
            <a:outerShdw blurRad="149987" dist="250190" dir="8460000" algn="ctr">
              <a:srgbClr val="000000">
                <a:alpha val="26666"/>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Contrato Psicológico</a:t>
            </a:r>
            <a:endParaRPr sz="1400" b="0" i="0" u="none" strike="noStrike" cap="none">
              <a:solidFill>
                <a:srgbClr val="000000"/>
              </a:solidFill>
              <a:latin typeface="Arial"/>
              <a:ea typeface="Arial"/>
              <a:cs typeface="Arial"/>
              <a:sym typeface="Arial"/>
            </a:endParaRPr>
          </a:p>
        </p:txBody>
      </p:sp>
      <p:sp>
        <p:nvSpPr>
          <p:cNvPr id="523" name="Google Shape;523;g123d31d1acb_0_0"/>
          <p:cNvSpPr/>
          <p:nvPr/>
        </p:nvSpPr>
        <p:spPr>
          <a:xfrm>
            <a:off x="2042592" y="3814358"/>
            <a:ext cx="571500" cy="428700"/>
          </a:xfrm>
          <a:prstGeom prst="ellipse">
            <a:avLst/>
          </a:prstGeom>
          <a:solidFill>
            <a:schemeClr val="accent4"/>
          </a:solidFill>
          <a:ln>
            <a:noFill/>
          </a:ln>
          <a:effectLst>
            <a:outerShdw blurRad="44450" dist="27940" dir="5400000" algn="ctr">
              <a:srgbClr val="000000">
                <a:alpha val="3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524" name="Google Shape;524;g123d31d1acb_0_0"/>
          <p:cNvSpPr/>
          <p:nvPr/>
        </p:nvSpPr>
        <p:spPr>
          <a:xfrm>
            <a:off x="2256906" y="2528474"/>
            <a:ext cx="6194400" cy="428700"/>
          </a:xfrm>
          <a:prstGeom prst="roundRect">
            <a:avLst>
              <a:gd name="adj" fmla="val 16667"/>
            </a:avLst>
          </a:prstGeom>
          <a:solidFill>
            <a:srgbClr val="D8D8D8"/>
          </a:solidFill>
          <a:ln>
            <a:noFill/>
          </a:ln>
          <a:effectLst>
            <a:outerShdw blurRad="149987" dist="250190" dir="8460000" algn="ctr">
              <a:srgbClr val="000000">
                <a:alpha val="26666"/>
              </a:srgbClr>
            </a:outerShdw>
          </a:effectLst>
        </p:spPr>
        <p:txBody>
          <a:bodyPr spcFirstLastPara="1" wrap="square" lIns="91425" tIns="45700" rIns="91425" bIns="45700" anchor="ctr" anchorCtr="0">
            <a:noAutofit/>
          </a:bodyPr>
          <a:lstStyle/>
          <a:p>
            <a:pPr marL="0" marR="0" lvl="0" indent="361950" algn="l" rtl="0">
              <a:lnSpc>
                <a:spcPct val="100000"/>
              </a:lnSpc>
              <a:spcBef>
                <a:spcPts val="0"/>
              </a:spcBef>
              <a:spcAft>
                <a:spcPts val="0"/>
              </a:spcAft>
              <a:buClr>
                <a:srgbClr val="000000"/>
              </a:buClr>
              <a:buSzPts val="1800"/>
              <a:buFont typeface="Arial"/>
              <a:buNone/>
            </a:pPr>
            <a:r>
              <a:rPr lang="en-US" sz="1800" b="0" i="0" u="none" strike="noStrike" cap="none">
                <a:solidFill>
                  <a:srgbClr val="2A4A75"/>
                </a:solidFill>
                <a:latin typeface="Lucida Sans"/>
                <a:ea typeface="Lucida Sans"/>
                <a:cs typeface="Lucida Sans"/>
                <a:sym typeface="Lucida Sans"/>
              </a:rPr>
              <a:t>Cultura Organizacional</a:t>
            </a:r>
            <a:endParaRPr sz="1400" b="0" i="0" u="none" strike="noStrike" cap="none">
              <a:solidFill>
                <a:srgbClr val="000000"/>
              </a:solidFill>
              <a:latin typeface="Arial"/>
              <a:ea typeface="Arial"/>
              <a:cs typeface="Arial"/>
              <a:sym typeface="Arial"/>
            </a:endParaRPr>
          </a:p>
        </p:txBody>
      </p:sp>
      <p:sp>
        <p:nvSpPr>
          <p:cNvPr id="525" name="Google Shape;525;g123d31d1acb_0_0"/>
          <p:cNvSpPr/>
          <p:nvPr/>
        </p:nvSpPr>
        <p:spPr>
          <a:xfrm>
            <a:off x="2042592" y="2528474"/>
            <a:ext cx="571500" cy="428700"/>
          </a:xfrm>
          <a:prstGeom prst="ellipse">
            <a:avLst/>
          </a:prstGeom>
          <a:solidFill>
            <a:srgbClr val="909090"/>
          </a:solidFill>
          <a:ln>
            <a:noFill/>
          </a:ln>
          <a:effectLst>
            <a:outerShdw blurRad="44450" dist="27940" dir="5400000" algn="ctr">
              <a:srgbClr val="000000">
                <a:alpha val="30588"/>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2A4A75"/>
              </a:solidFill>
              <a:latin typeface="Lucida Sans"/>
              <a:ea typeface="Lucida Sans"/>
              <a:cs typeface="Lucida Sans"/>
              <a:sym typeface="Lucida Sans"/>
            </a:endParaRPr>
          </a:p>
        </p:txBody>
      </p:sp>
      <p:sp>
        <p:nvSpPr>
          <p:cNvPr id="526" name="Google Shape;526;g123d31d1acb_0_0"/>
          <p:cNvSpPr/>
          <p:nvPr/>
        </p:nvSpPr>
        <p:spPr>
          <a:xfrm>
            <a:off x="1034480" y="3808484"/>
            <a:ext cx="864000" cy="428700"/>
          </a:xfrm>
          <a:prstGeom prst="stripedRightArrow">
            <a:avLst>
              <a:gd name="adj1" fmla="val 50000"/>
              <a:gd name="adj2" fmla="val 50000"/>
            </a:avLst>
          </a:prstGeom>
          <a:solidFill>
            <a:schemeClr val="accent1"/>
          </a:solidFill>
          <a:ln w="63500" cap="flat" cmpd="thickThin">
            <a:solidFill>
              <a:schemeClr val="lt1"/>
            </a:solidFill>
            <a:prstDash val="solid"/>
            <a:round/>
            <a:headEnd type="none" w="sm" len="sm"/>
            <a:tailEnd type="none" w="sm" len="sm"/>
          </a:ln>
          <a:effectLst>
            <a:outerShdw blurRad="50800" dist="38100" dir="5400000" rotWithShape="0">
              <a:srgbClr val="000000">
                <a:alpha val="3372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527" name="Google Shape;527;g123d31d1acb_0_0"/>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chemeClr val="accent4"/>
                </a:solidFill>
                <a:latin typeface="Lucida Sans"/>
                <a:ea typeface="Lucida Sans"/>
                <a:cs typeface="Lucida Sans"/>
                <a:sym typeface="Lucida Sans"/>
              </a:rPr>
              <a:t>Agenda</a:t>
            </a:r>
            <a:endParaRPr sz="1700" b="1" i="0" u="none" strike="noStrike" cap="none">
              <a:solidFill>
                <a:schemeClr val="accent4"/>
              </a:solidFill>
              <a:latin typeface="Lucida Sans"/>
              <a:ea typeface="Lucida Sans"/>
              <a:cs typeface="Lucida Sans"/>
              <a:sym typeface="Lucid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g121e7910631_0_947" descr="Image result for foto oficinista enojado"/>
          <p:cNvSpPr/>
          <p:nvPr/>
        </p:nvSpPr>
        <p:spPr>
          <a:xfrm>
            <a:off x="155575" y="-144463"/>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535" name="Google Shape;535;g121e7910631_0_947" descr="Image result for foto oficinista enojado"/>
          <p:cNvSpPr/>
          <p:nvPr/>
        </p:nvSpPr>
        <p:spPr>
          <a:xfrm>
            <a:off x="155575" y="-144463"/>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536" name="Google Shape;536;g121e7910631_0_947" descr="Image result for foto oficinista enojado"/>
          <p:cNvSpPr/>
          <p:nvPr/>
        </p:nvSpPr>
        <p:spPr>
          <a:xfrm>
            <a:off x="155575" y="-144463"/>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537" name="Google Shape;537;g121e7910631_0_947" descr="Image result for foto oficinista enojado"/>
          <p:cNvSpPr/>
          <p:nvPr/>
        </p:nvSpPr>
        <p:spPr>
          <a:xfrm>
            <a:off x="155575" y="-144463"/>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graphicFrame>
        <p:nvGraphicFramePr>
          <p:cNvPr id="538" name="Google Shape;538;g121e7910631_0_947"/>
          <p:cNvGraphicFramePr/>
          <p:nvPr/>
        </p:nvGraphicFramePr>
        <p:xfrm>
          <a:off x="952500" y="2857500"/>
          <a:ext cx="8001000" cy="3291810"/>
        </p:xfrm>
        <a:graphic>
          <a:graphicData uri="http://schemas.openxmlformats.org/drawingml/2006/table">
            <a:tbl>
              <a:tblPr>
                <a:noFill/>
                <a:tableStyleId>{A7FB2BB2-7192-4DF9-8AF8-DE66DCF5C9A8}</a:tableStyleId>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3810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Este autor aplica el concepto para describir la relación entre un grupo de empleados y los supervisores de una fábrica, donde existe un entendimiento implícito sobre ciertas condiciones de trabajo, como el estilo de liderazgo utilizado por la línea de supervisión</a:t>
                      </a:r>
                      <a:endParaRPr sz="1200" u="none" strike="noStrike" cap="none">
                        <a:latin typeface="Lucida Sans"/>
                        <a:ea typeface="Lucida Sans"/>
                        <a:cs typeface="Lucida Sans"/>
                        <a:sym typeface="Lucida Sans"/>
                      </a:endParaRPr>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Lo definen como "una serie de expectativas mutuas de las cuales las partes de una relación pueden no estar remotamente conscientes pero que de todas formas gobiernan su relación con el otro"</a:t>
                      </a:r>
                      <a:endParaRPr sz="1200" u="none" strike="noStrike" cap="none">
                        <a:latin typeface="Lucida Sans"/>
                        <a:ea typeface="Lucida Sans"/>
                        <a:cs typeface="Lucida Sans"/>
                        <a:sym typeface="Lucida Sans"/>
                      </a:endParaRPr>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"El contrato psicológico implica que el individuo tiene una variedad de expectativas de la organización y que la organización una variedad de expectativas de él”, éstas no están plasmadas en un ningún acuerdo formal entre el empleado y el empleador, pero “operan poderosamente como determinantes de la conducta”</a:t>
                      </a:r>
                      <a:endParaRPr sz="1200" u="none" strike="noStrike" cap="none">
                        <a:latin typeface="Lucida Sans"/>
                        <a:ea typeface="Lucida Sans"/>
                        <a:cs typeface="Lucida Sans"/>
                        <a:sym typeface="Lucida Sans"/>
                      </a:endParaRPr>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latin typeface="Lucida Sans"/>
                          <a:ea typeface="Lucida Sans"/>
                          <a:cs typeface="Lucida Sans"/>
                          <a:sym typeface="Lucida Sans"/>
                        </a:rPr>
                        <a:t>Las creencias de un individuo con respecto a los términos y condiciones de un acuerdo de intercambio recíproco entre la persona y otra parte. Las principales cuestiones aquí incluyen la creencia de que se ha hecho una promesa y se ha ofrecido una consideración a cambio, obligando a las partes a un conjunto de obligaciones recíprocas.</a:t>
                      </a:r>
                      <a:endParaRPr sz="1200" u="none" strike="noStrike" cap="none">
                        <a:latin typeface="Lucida Sans"/>
                        <a:ea typeface="Lucida Sans"/>
                        <a:cs typeface="Lucida Sans"/>
                        <a:sym typeface="Lucida Sans"/>
                      </a:endParaRPr>
                    </a:p>
                  </a:txBody>
                  <a:tcPr marL="91425" marR="91425" marT="91425" marB="91425">
                    <a:lnL w="19050" cap="flat" cmpd="sng">
                      <a:solidFill>
                        <a:schemeClr val="accent2"/>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39" name="Google Shape;539;g121e7910631_0_947"/>
          <p:cNvSpPr txBox="1"/>
          <p:nvPr/>
        </p:nvSpPr>
        <p:spPr>
          <a:xfrm>
            <a:off x="2800350" y="2038350"/>
            <a:ext cx="42102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EVOLUCIÓN DEL CONCEPTO</a:t>
            </a:r>
            <a:endParaRPr sz="2000" b="1" i="0" u="none" strike="noStrike" cap="none">
              <a:solidFill>
                <a:srgbClr val="000000"/>
              </a:solidFill>
              <a:latin typeface="Lucida Sans"/>
              <a:ea typeface="Lucida Sans"/>
              <a:cs typeface="Lucida Sans"/>
              <a:sym typeface="Lucida Sans"/>
            </a:endParaRPr>
          </a:p>
        </p:txBody>
      </p:sp>
      <p:sp>
        <p:nvSpPr>
          <p:cNvPr id="540" name="Google Shape;540;g121e7910631_0_947"/>
          <p:cNvSpPr txBox="1"/>
          <p:nvPr/>
        </p:nvSpPr>
        <p:spPr>
          <a:xfrm>
            <a:off x="1295400" y="2454750"/>
            <a:ext cx="13143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100" b="1" i="0" u="none" strike="noStrike" cap="none">
                <a:solidFill>
                  <a:schemeClr val="dk1"/>
                </a:solidFill>
                <a:latin typeface="Lucida Sans"/>
                <a:ea typeface="Lucida Sans"/>
                <a:cs typeface="Lucida Sans"/>
                <a:sym typeface="Lucida Sans"/>
              </a:rPr>
              <a:t>Argyris, 1960</a:t>
            </a:r>
            <a:endParaRPr sz="1100" b="1" i="0" u="none" strike="noStrike" cap="none">
              <a:solidFill>
                <a:srgbClr val="000000"/>
              </a:solidFill>
              <a:latin typeface="Lucida Sans"/>
              <a:ea typeface="Lucida Sans"/>
              <a:cs typeface="Lucida Sans"/>
              <a:sym typeface="Lucida Sans"/>
            </a:endParaRPr>
          </a:p>
        </p:txBody>
      </p:sp>
      <p:sp>
        <p:nvSpPr>
          <p:cNvPr id="541" name="Google Shape;541;g121e7910631_0_947"/>
          <p:cNvSpPr txBox="1"/>
          <p:nvPr/>
        </p:nvSpPr>
        <p:spPr>
          <a:xfrm>
            <a:off x="2971800" y="2454750"/>
            <a:ext cx="19383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Lucida Sans"/>
                <a:ea typeface="Lucida Sans"/>
                <a:cs typeface="Lucida Sans"/>
                <a:sym typeface="Lucida Sans"/>
              </a:rPr>
              <a:t>Levinson y otros,1962</a:t>
            </a:r>
            <a:endParaRPr sz="1100" b="1" i="0" u="none" strike="noStrike" cap="none">
              <a:solidFill>
                <a:srgbClr val="000000"/>
              </a:solidFill>
              <a:latin typeface="Lucida Sans"/>
              <a:ea typeface="Lucida Sans"/>
              <a:cs typeface="Lucida Sans"/>
              <a:sym typeface="Lucida Sans"/>
            </a:endParaRPr>
          </a:p>
        </p:txBody>
      </p:sp>
      <p:sp>
        <p:nvSpPr>
          <p:cNvPr id="542" name="Google Shape;542;g121e7910631_0_947"/>
          <p:cNvSpPr txBox="1"/>
          <p:nvPr/>
        </p:nvSpPr>
        <p:spPr>
          <a:xfrm>
            <a:off x="4986350" y="2454750"/>
            <a:ext cx="19383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dk1"/>
                </a:solidFill>
                <a:latin typeface="Lucida Sans"/>
                <a:ea typeface="Lucida Sans"/>
                <a:cs typeface="Lucida Sans"/>
                <a:sym typeface="Lucida Sans"/>
              </a:rPr>
              <a:t>Schein E. H., 1965</a:t>
            </a:r>
            <a:endParaRPr sz="1100" b="1" i="0" u="none" strike="noStrike" cap="none">
              <a:solidFill>
                <a:srgbClr val="000000"/>
              </a:solidFill>
              <a:latin typeface="Lucida Sans"/>
              <a:ea typeface="Lucida Sans"/>
              <a:cs typeface="Lucida Sans"/>
              <a:sym typeface="Lucida Sans"/>
            </a:endParaRPr>
          </a:p>
        </p:txBody>
      </p:sp>
      <p:sp>
        <p:nvSpPr>
          <p:cNvPr id="543" name="Google Shape;543;g121e7910631_0_947"/>
          <p:cNvSpPr txBox="1"/>
          <p:nvPr/>
        </p:nvSpPr>
        <p:spPr>
          <a:xfrm>
            <a:off x="6967550" y="2454750"/>
            <a:ext cx="1938300" cy="354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1" i="0" u="none" strike="noStrike" cap="none">
                <a:solidFill>
                  <a:schemeClr val="accent4"/>
                </a:solidFill>
                <a:latin typeface="Lucida Sans"/>
                <a:ea typeface="Lucida Sans"/>
                <a:cs typeface="Lucida Sans"/>
                <a:sym typeface="Lucida Sans"/>
              </a:rPr>
              <a:t>Rousseau D. M., 1989</a:t>
            </a:r>
            <a:endParaRPr sz="1100" b="1" i="0" u="none" strike="noStrike" cap="none">
              <a:solidFill>
                <a:schemeClr val="accent4"/>
              </a:solidFill>
              <a:latin typeface="Lucida Sans"/>
              <a:ea typeface="Lucida Sans"/>
              <a:cs typeface="Lucida Sans"/>
              <a:sym typeface="Lucida Sans"/>
            </a:endParaRPr>
          </a:p>
        </p:txBody>
      </p:sp>
      <p:cxnSp>
        <p:nvCxnSpPr>
          <p:cNvPr id="544" name="Google Shape;544;g121e7910631_0_947"/>
          <p:cNvCxnSpPr/>
          <p:nvPr/>
        </p:nvCxnSpPr>
        <p:spPr>
          <a:xfrm rot="10800000" flipH="1">
            <a:off x="2657400" y="2631750"/>
            <a:ext cx="314400" cy="6600"/>
          </a:xfrm>
          <a:prstGeom prst="straightConnector1">
            <a:avLst/>
          </a:prstGeom>
          <a:noFill/>
          <a:ln w="9525" cap="flat" cmpd="sng">
            <a:solidFill>
              <a:schemeClr val="dk2"/>
            </a:solidFill>
            <a:prstDash val="solid"/>
            <a:round/>
            <a:headEnd type="none" w="sm" len="sm"/>
            <a:tailEnd type="triangle" w="med" len="med"/>
          </a:ln>
        </p:spPr>
      </p:cxnSp>
      <p:cxnSp>
        <p:nvCxnSpPr>
          <p:cNvPr id="545" name="Google Shape;545;g121e7910631_0_947"/>
          <p:cNvCxnSpPr/>
          <p:nvPr/>
        </p:nvCxnSpPr>
        <p:spPr>
          <a:xfrm rot="10800000" flipH="1">
            <a:off x="4867200" y="2631750"/>
            <a:ext cx="314400" cy="6600"/>
          </a:xfrm>
          <a:prstGeom prst="straightConnector1">
            <a:avLst/>
          </a:prstGeom>
          <a:noFill/>
          <a:ln w="9525" cap="flat" cmpd="sng">
            <a:solidFill>
              <a:schemeClr val="dk2"/>
            </a:solidFill>
            <a:prstDash val="solid"/>
            <a:round/>
            <a:headEnd type="none" w="sm" len="sm"/>
            <a:tailEnd type="triangle" w="med" len="med"/>
          </a:ln>
        </p:spPr>
      </p:cxnSp>
      <p:cxnSp>
        <p:nvCxnSpPr>
          <p:cNvPr id="546" name="Google Shape;546;g121e7910631_0_947"/>
          <p:cNvCxnSpPr/>
          <p:nvPr/>
        </p:nvCxnSpPr>
        <p:spPr>
          <a:xfrm rot="10800000" flipH="1">
            <a:off x="6729350" y="2628450"/>
            <a:ext cx="314400" cy="6600"/>
          </a:xfrm>
          <a:prstGeom prst="straightConnector1">
            <a:avLst/>
          </a:prstGeom>
          <a:noFill/>
          <a:ln w="9525" cap="flat" cmpd="sng">
            <a:solidFill>
              <a:schemeClr val="dk2"/>
            </a:solidFill>
            <a:prstDash val="solid"/>
            <a:round/>
            <a:headEnd type="none" w="sm" len="sm"/>
            <a:tailEnd type="triangle" w="med" len="med"/>
          </a:ln>
        </p:spPr>
      </p:cxnSp>
      <p:sp>
        <p:nvSpPr>
          <p:cNvPr id="547" name="Google Shape;547;g121e7910631_0_947"/>
          <p:cNvSpPr txBox="1"/>
          <p:nvPr/>
        </p:nvSpPr>
        <p:spPr>
          <a:xfrm>
            <a:off x="307975" y="1276350"/>
            <a:ext cx="92457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Lucida Sans"/>
                <a:ea typeface="Lucida Sans"/>
                <a:cs typeface="Lucida Sans"/>
                <a:sym typeface="Lucida Sans"/>
              </a:rPr>
              <a:t>Concepto clásico - </a:t>
            </a:r>
            <a:r>
              <a:rPr lang="en-US" sz="2000" b="1" i="0" u="none" strike="noStrike" cap="none">
                <a:solidFill>
                  <a:srgbClr val="000000"/>
                </a:solidFill>
                <a:latin typeface="Lucida Sans"/>
                <a:ea typeface="Lucida Sans"/>
                <a:cs typeface="Lucida Sans"/>
                <a:sym typeface="Lucida Sans"/>
              </a:rPr>
              <a:t>El contrato psicológico</a:t>
            </a:r>
            <a:r>
              <a:rPr lang="en-US" sz="2000" b="0" i="0" u="none" strike="noStrike" cap="none">
                <a:solidFill>
                  <a:srgbClr val="000000"/>
                </a:solidFill>
                <a:latin typeface="Lucida Sans"/>
                <a:ea typeface="Lucida Sans"/>
                <a:cs typeface="Lucida Sans"/>
                <a:sym typeface="Lucida Sans"/>
              </a:rPr>
              <a:t> son las expectativas mutuas entre el empleado y su organización.</a:t>
            </a:r>
            <a:endParaRPr sz="2000" b="0" i="0" u="none" strike="noStrike" cap="none">
              <a:solidFill>
                <a:srgbClr val="000000"/>
              </a:solidFill>
              <a:latin typeface="Lucida Sans"/>
              <a:ea typeface="Lucida Sans"/>
              <a:cs typeface="Lucida Sans"/>
              <a:sym typeface="Lucida Sans"/>
            </a:endParaRPr>
          </a:p>
        </p:txBody>
      </p:sp>
      <p:pic>
        <p:nvPicPr>
          <p:cNvPr id="548" name="Google Shape;548;g121e7910631_0_947"/>
          <p:cNvPicPr preferRelativeResize="0"/>
          <p:nvPr/>
        </p:nvPicPr>
        <p:blipFill rotWithShape="1">
          <a:blip r:embed="rId3">
            <a:alphaModFix/>
          </a:blip>
          <a:srcRect/>
          <a:stretch/>
        </p:blipFill>
        <p:spPr>
          <a:xfrm>
            <a:off x="8864951" y="6042625"/>
            <a:ext cx="813274" cy="701075"/>
          </a:xfrm>
          <a:prstGeom prst="rect">
            <a:avLst/>
          </a:prstGeom>
          <a:noFill/>
          <a:ln>
            <a:noFill/>
          </a:ln>
        </p:spPr>
      </p:pic>
      <p:pic>
        <p:nvPicPr>
          <p:cNvPr id="549" name="Google Shape;549;g121e7910631_0_947" descr="Bisnis-Modal-Kecil-Menguntungkan-Tahun-2014.jpg"/>
          <p:cNvPicPr preferRelativeResize="0"/>
          <p:nvPr/>
        </p:nvPicPr>
        <p:blipFill rotWithShape="1">
          <a:blip r:embed="rId4">
            <a:alphaModFix/>
          </a:blip>
          <a:srcRect l="6698" t="6076" r="55850"/>
          <a:stretch/>
        </p:blipFill>
        <p:spPr>
          <a:xfrm>
            <a:off x="7739925" y="6062065"/>
            <a:ext cx="410520" cy="662194"/>
          </a:xfrm>
          <a:prstGeom prst="rect">
            <a:avLst/>
          </a:prstGeom>
          <a:noFill/>
          <a:ln>
            <a:noFill/>
          </a:ln>
        </p:spPr>
      </p:pic>
      <p:sp>
        <p:nvSpPr>
          <p:cNvPr id="550" name="Google Shape;550;g121e7910631_0_947"/>
          <p:cNvSpPr/>
          <p:nvPr/>
        </p:nvSpPr>
        <p:spPr>
          <a:xfrm>
            <a:off x="8210262" y="6264118"/>
            <a:ext cx="572700" cy="258000"/>
          </a:xfrm>
          <a:prstGeom prst="leftRightArrow">
            <a:avLst>
              <a:gd name="adj1" fmla="val 50000"/>
              <a:gd name="adj2" fmla="val 50000"/>
            </a:avLst>
          </a:prstGeom>
          <a:solidFill>
            <a:schemeClr val="accent2"/>
          </a:solidFill>
          <a:ln w="55000" cap="flat" cmpd="thickThin">
            <a:solidFill>
              <a:srgbClr val="9F16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sp>
        <p:nvSpPr>
          <p:cNvPr id="551" name="Google Shape;551;g121e7910631_0_947"/>
          <p:cNvSpPr/>
          <p:nvPr/>
        </p:nvSpPr>
        <p:spPr>
          <a:xfrm>
            <a:off x="6820200" y="2423125"/>
            <a:ext cx="2266800" cy="492600"/>
          </a:xfrm>
          <a:prstGeom prst="ellipse">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2" name="Google Shape;552;g121e7910631_0_947"/>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El Contrato Psicológico</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g121e7910631_0_1190" descr="Image result for foto oficinista enojado"/>
          <p:cNvSpPr/>
          <p:nvPr/>
        </p:nvSpPr>
        <p:spPr>
          <a:xfrm>
            <a:off x="155575" y="-144463"/>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560" name="Google Shape;560;g121e7910631_0_1190" descr="Image result for foto oficinista enojado"/>
          <p:cNvSpPr/>
          <p:nvPr/>
        </p:nvSpPr>
        <p:spPr>
          <a:xfrm>
            <a:off x="155575" y="-144463"/>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561" name="Google Shape;561;g121e7910631_0_1190" descr="Image result for foto oficinista enojado"/>
          <p:cNvSpPr/>
          <p:nvPr/>
        </p:nvSpPr>
        <p:spPr>
          <a:xfrm>
            <a:off x="155575" y="-144463"/>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562" name="Google Shape;562;g121e7910631_0_1190" descr="Image result for foto oficinista enojado"/>
          <p:cNvSpPr/>
          <p:nvPr/>
        </p:nvSpPr>
        <p:spPr>
          <a:xfrm>
            <a:off x="155575" y="-144463"/>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ucida Sans"/>
              <a:ea typeface="Lucida Sans"/>
              <a:cs typeface="Lucida Sans"/>
              <a:sym typeface="Lucida Sans"/>
            </a:endParaRPr>
          </a:p>
        </p:txBody>
      </p:sp>
      <p:sp>
        <p:nvSpPr>
          <p:cNvPr id="563" name="Google Shape;563;g121e7910631_0_1190"/>
          <p:cNvSpPr txBox="1"/>
          <p:nvPr/>
        </p:nvSpPr>
        <p:spPr>
          <a:xfrm>
            <a:off x="307975" y="1276350"/>
            <a:ext cx="92457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Lucida Sans"/>
                <a:ea typeface="Lucida Sans"/>
                <a:cs typeface="Lucida Sans"/>
                <a:sym typeface="Lucida Sans"/>
              </a:rPr>
              <a:t>Diferencias</a:t>
            </a:r>
            <a:r>
              <a:rPr lang="en-US" sz="2000" b="0" i="0" u="none" strike="noStrike" cap="none">
                <a:solidFill>
                  <a:srgbClr val="000000"/>
                </a:solidFill>
                <a:latin typeface="Lucida Sans"/>
                <a:ea typeface="Lucida Sans"/>
                <a:cs typeface="Lucida Sans"/>
                <a:sym typeface="Lucida Sans"/>
              </a:rPr>
              <a:t> entre el nuevo concepto (Rousseau) con respecto a los anteriores:</a:t>
            </a:r>
            <a:endParaRPr sz="2000" b="0" i="0" u="none" strike="noStrike" cap="none">
              <a:solidFill>
                <a:srgbClr val="000000"/>
              </a:solidFill>
              <a:latin typeface="Lucida Sans"/>
              <a:ea typeface="Lucida Sans"/>
              <a:cs typeface="Lucida Sans"/>
              <a:sym typeface="Lucida Sans"/>
            </a:endParaRPr>
          </a:p>
        </p:txBody>
      </p:sp>
      <p:grpSp>
        <p:nvGrpSpPr>
          <p:cNvPr id="564" name="Google Shape;564;g121e7910631_0_1190"/>
          <p:cNvGrpSpPr/>
          <p:nvPr/>
        </p:nvGrpSpPr>
        <p:grpSpPr>
          <a:xfrm>
            <a:off x="6172783" y="2209718"/>
            <a:ext cx="3533463" cy="3524498"/>
            <a:chOff x="5632317" y="1189775"/>
            <a:chExt cx="3305700" cy="3483050"/>
          </a:xfrm>
        </p:grpSpPr>
        <p:sp>
          <p:nvSpPr>
            <p:cNvPr id="565" name="Google Shape;565;g121e7910631_0_1190"/>
            <p:cNvSpPr/>
            <p:nvPr/>
          </p:nvSpPr>
          <p:spPr>
            <a:xfrm>
              <a:off x="5632317" y="1189775"/>
              <a:ext cx="3305700" cy="669000"/>
            </a:xfrm>
            <a:prstGeom prst="chevron">
              <a:avLst>
                <a:gd name="adj" fmla="val 50000"/>
              </a:avLst>
            </a:prstGeom>
            <a:solidFill>
              <a:srgbClr val="D83829"/>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Lucida Sans"/>
                  <a:ea typeface="Lucida Sans"/>
                  <a:cs typeface="Lucida Sans"/>
                  <a:sym typeface="Lucida Sans"/>
                </a:rPr>
                <a:t>Tercera diferencia</a:t>
              </a:r>
              <a:endParaRPr sz="1500" b="1" i="0" u="none" strike="noStrike" cap="none">
                <a:solidFill>
                  <a:srgbClr val="FFFFFF"/>
                </a:solidFill>
                <a:latin typeface="Lucida Sans"/>
                <a:ea typeface="Lucida Sans"/>
                <a:cs typeface="Lucida Sans"/>
                <a:sym typeface="Lucida Sans"/>
              </a:endParaRPr>
            </a:p>
          </p:txBody>
        </p:sp>
        <p:sp>
          <p:nvSpPr>
            <p:cNvPr id="566" name="Google Shape;566;g121e7910631_0_1190"/>
            <p:cNvSpPr txBox="1"/>
            <p:nvPr/>
          </p:nvSpPr>
          <p:spPr>
            <a:xfrm>
              <a:off x="6167063" y="2057125"/>
              <a:ext cx="2236200" cy="2615700"/>
            </a:xfrm>
            <a:prstGeom prst="rect">
              <a:avLst/>
            </a:prstGeom>
            <a:noFill/>
            <a:ln>
              <a:noFill/>
            </a:ln>
          </p:spPr>
          <p:txBody>
            <a:bodyPr spcFirstLastPara="1" wrap="square" lIns="99050" tIns="99050" rIns="99050" bIns="99050"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n-US" sz="1100" b="0" i="0" u="none" strike="noStrike" cap="none">
                  <a:solidFill>
                    <a:srgbClr val="000000"/>
                  </a:solidFill>
                  <a:latin typeface="Lucida Sans"/>
                  <a:ea typeface="Lucida Sans"/>
                  <a:cs typeface="Lucida Sans"/>
                  <a:sym typeface="Lucida Sans"/>
                </a:rPr>
                <a:t>Tiene que ver con la mutualidad. Ya no es la mutualidad lo que importa sino la mutualidad percibida</a:t>
              </a:r>
              <a:endParaRPr sz="1100" b="0" i="0" u="none" strike="noStrike" cap="none">
                <a:solidFill>
                  <a:srgbClr val="000000"/>
                </a:solidFill>
                <a:latin typeface="Lucida Sans"/>
                <a:ea typeface="Lucida Sans"/>
                <a:cs typeface="Lucida Sans"/>
                <a:sym typeface="Lucida Sans"/>
              </a:endParaRPr>
            </a:p>
          </p:txBody>
        </p:sp>
      </p:grpSp>
      <p:grpSp>
        <p:nvGrpSpPr>
          <p:cNvPr id="567" name="Google Shape;567;g121e7910631_0_1190"/>
          <p:cNvGrpSpPr/>
          <p:nvPr/>
        </p:nvGrpSpPr>
        <p:grpSpPr>
          <a:xfrm>
            <a:off x="152400" y="2209934"/>
            <a:ext cx="3791281" cy="3524281"/>
            <a:chOff x="0" y="1189989"/>
            <a:chExt cx="3546900" cy="3482836"/>
          </a:xfrm>
        </p:grpSpPr>
        <p:sp>
          <p:nvSpPr>
            <p:cNvPr id="568" name="Google Shape;568;g121e7910631_0_1190"/>
            <p:cNvSpPr/>
            <p:nvPr/>
          </p:nvSpPr>
          <p:spPr>
            <a:xfrm>
              <a:off x="0" y="1189989"/>
              <a:ext cx="3546900" cy="669000"/>
            </a:xfrm>
            <a:prstGeom prst="homePlate">
              <a:avLst>
                <a:gd name="adj" fmla="val 50000"/>
              </a:avLst>
            </a:prstGeom>
            <a:solidFill>
              <a:srgbClr val="802017"/>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Lucida Sans"/>
                  <a:ea typeface="Lucida Sans"/>
                  <a:cs typeface="Lucida Sans"/>
                  <a:sym typeface="Lucida Sans"/>
                </a:rPr>
                <a:t>Primera diferencia</a:t>
              </a:r>
              <a:endParaRPr sz="1500" b="1" i="0" u="none" strike="noStrike" cap="none">
                <a:solidFill>
                  <a:srgbClr val="FFFFFF"/>
                </a:solidFill>
                <a:latin typeface="Lucida Sans"/>
                <a:ea typeface="Lucida Sans"/>
                <a:cs typeface="Lucida Sans"/>
                <a:sym typeface="Lucida Sans"/>
              </a:endParaRPr>
            </a:p>
          </p:txBody>
        </p:sp>
        <p:sp>
          <p:nvSpPr>
            <p:cNvPr id="569" name="Google Shape;569;g121e7910631_0_1190"/>
            <p:cNvSpPr txBox="1"/>
            <p:nvPr/>
          </p:nvSpPr>
          <p:spPr>
            <a:xfrm>
              <a:off x="655361" y="2057125"/>
              <a:ext cx="2236200" cy="2615700"/>
            </a:xfrm>
            <a:prstGeom prst="rect">
              <a:avLst/>
            </a:prstGeom>
            <a:noFill/>
            <a:ln>
              <a:noFill/>
            </a:ln>
          </p:spPr>
          <p:txBody>
            <a:bodyPr spcFirstLastPara="1" wrap="square" lIns="99050" tIns="99050" rIns="99050" bIns="99050"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n-US" sz="1100" b="0" i="0" u="none" strike="noStrike" cap="none">
                  <a:solidFill>
                    <a:srgbClr val="000000"/>
                  </a:solidFill>
                  <a:latin typeface="Lucida Sans"/>
                  <a:ea typeface="Lucida Sans"/>
                  <a:cs typeface="Lucida Sans"/>
                  <a:sym typeface="Lucida Sans"/>
                </a:rPr>
                <a:t>Ya no se trata de expectativas mutuas, sino de las creencias de un individuo. El contrato pasa de ser una relación de intercambio, donde ambas partes eran capaces de sostener expectativas sobre la conducta del otro, a convertirse en un constructo intrapersonal, donde la relación de intercambio sigue existiendo, pero “desde los ojos del observador”</a:t>
              </a:r>
              <a:endParaRPr sz="1100" b="0" i="0" u="none" strike="noStrike" cap="none">
                <a:solidFill>
                  <a:srgbClr val="000000"/>
                </a:solidFill>
                <a:latin typeface="Lucida Sans"/>
                <a:ea typeface="Lucida Sans"/>
                <a:cs typeface="Lucida Sans"/>
                <a:sym typeface="Lucida Sans"/>
              </a:endParaRPr>
            </a:p>
          </p:txBody>
        </p:sp>
      </p:grpSp>
      <p:grpSp>
        <p:nvGrpSpPr>
          <p:cNvPr id="570" name="Google Shape;570;g121e7910631_0_1190"/>
          <p:cNvGrpSpPr/>
          <p:nvPr/>
        </p:nvGrpSpPr>
        <p:grpSpPr>
          <a:xfrm>
            <a:off x="3299460" y="2209718"/>
            <a:ext cx="3533463" cy="3524498"/>
            <a:chOff x="2944204" y="1189775"/>
            <a:chExt cx="3305700" cy="3483050"/>
          </a:xfrm>
        </p:grpSpPr>
        <p:sp>
          <p:nvSpPr>
            <p:cNvPr id="571" name="Google Shape;571;g121e7910631_0_1190"/>
            <p:cNvSpPr/>
            <p:nvPr/>
          </p:nvSpPr>
          <p:spPr>
            <a:xfrm>
              <a:off x="2944204" y="1189775"/>
              <a:ext cx="3305700" cy="669000"/>
            </a:xfrm>
            <a:prstGeom prst="chevron">
              <a:avLst>
                <a:gd name="adj" fmla="val 50000"/>
              </a:avLst>
            </a:prstGeom>
            <a:solidFill>
              <a:srgbClr val="B02C20"/>
            </a:solidFill>
            <a:ln>
              <a:noFill/>
            </a:ln>
          </p:spPr>
          <p:txBody>
            <a:bodyPr spcFirstLastPara="1" wrap="square" lIns="99050" tIns="99050" rIns="99050" bIns="9905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FFFFFF"/>
                  </a:solidFill>
                  <a:latin typeface="Lucida Sans"/>
                  <a:ea typeface="Lucida Sans"/>
                  <a:cs typeface="Lucida Sans"/>
                  <a:sym typeface="Lucida Sans"/>
                </a:rPr>
                <a:t>Segunda diferencia</a:t>
              </a:r>
              <a:endParaRPr sz="1500" b="1" i="0" u="none" strike="noStrike" cap="none">
                <a:solidFill>
                  <a:srgbClr val="FFFFFF"/>
                </a:solidFill>
                <a:latin typeface="Lucida Sans"/>
                <a:ea typeface="Lucida Sans"/>
                <a:cs typeface="Lucida Sans"/>
                <a:sym typeface="Lucida Sans"/>
              </a:endParaRPr>
            </a:p>
          </p:txBody>
        </p:sp>
        <p:sp>
          <p:nvSpPr>
            <p:cNvPr id="572" name="Google Shape;572;g121e7910631_0_1190"/>
            <p:cNvSpPr txBox="1"/>
            <p:nvPr/>
          </p:nvSpPr>
          <p:spPr>
            <a:xfrm>
              <a:off x="3478949" y="2057125"/>
              <a:ext cx="2236200" cy="2615700"/>
            </a:xfrm>
            <a:prstGeom prst="rect">
              <a:avLst/>
            </a:prstGeom>
            <a:noFill/>
            <a:ln>
              <a:noFill/>
            </a:ln>
          </p:spPr>
          <p:txBody>
            <a:bodyPr spcFirstLastPara="1" wrap="square" lIns="99050" tIns="99050" rIns="99050" bIns="99050"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n-US" sz="1100" b="0" i="0" u="none" strike="noStrike" cap="none">
                  <a:solidFill>
                    <a:srgbClr val="000000"/>
                  </a:solidFill>
                  <a:latin typeface="Lucida Sans"/>
                  <a:ea typeface="Lucida Sans"/>
                  <a:cs typeface="Lucida Sans"/>
                  <a:sym typeface="Lucida Sans"/>
                </a:rPr>
                <a:t>La segunda diferencia con respecto a la conceptualización tradicional, es la referencia a promesas y el abandono del uso del término expectativas.</a:t>
              </a:r>
              <a:endParaRPr sz="1100" b="0" i="0" u="none" strike="noStrike" cap="none">
                <a:solidFill>
                  <a:srgbClr val="000000"/>
                </a:solidFill>
                <a:latin typeface="Lucida Sans"/>
                <a:ea typeface="Lucida Sans"/>
                <a:cs typeface="Lucida Sans"/>
                <a:sym typeface="Lucida Sans"/>
              </a:endParaRPr>
            </a:p>
          </p:txBody>
        </p:sp>
      </p:grpSp>
      <p:pic>
        <p:nvPicPr>
          <p:cNvPr id="573" name="Google Shape;573;g121e7910631_0_1190" descr="Bisnis-Modal-Kecil-Menguntungkan-Tahun-2014.jpg"/>
          <p:cNvPicPr preferRelativeResize="0"/>
          <p:nvPr/>
        </p:nvPicPr>
        <p:blipFill rotWithShape="1">
          <a:blip r:embed="rId3">
            <a:alphaModFix/>
          </a:blip>
          <a:srcRect l="6698" t="6076" r="55850"/>
          <a:stretch/>
        </p:blipFill>
        <p:spPr>
          <a:xfrm>
            <a:off x="6534151" y="5284772"/>
            <a:ext cx="707691" cy="1294727"/>
          </a:xfrm>
          <a:prstGeom prst="rect">
            <a:avLst/>
          </a:prstGeom>
          <a:noFill/>
          <a:ln>
            <a:noFill/>
          </a:ln>
        </p:spPr>
      </p:pic>
      <p:pic>
        <p:nvPicPr>
          <p:cNvPr id="574" name="Google Shape;574;g121e7910631_0_1190"/>
          <p:cNvPicPr preferRelativeResize="0"/>
          <p:nvPr/>
        </p:nvPicPr>
        <p:blipFill rotWithShape="1">
          <a:blip r:embed="rId4">
            <a:alphaModFix/>
          </a:blip>
          <a:srcRect/>
          <a:stretch/>
        </p:blipFill>
        <p:spPr>
          <a:xfrm>
            <a:off x="8657948" y="5265203"/>
            <a:ext cx="907003" cy="886789"/>
          </a:xfrm>
          <a:prstGeom prst="rect">
            <a:avLst/>
          </a:prstGeom>
          <a:noFill/>
          <a:ln>
            <a:noFill/>
          </a:ln>
        </p:spPr>
      </p:pic>
      <p:sp>
        <p:nvSpPr>
          <p:cNvPr id="575" name="Google Shape;575;g121e7910631_0_1190"/>
          <p:cNvSpPr/>
          <p:nvPr/>
        </p:nvSpPr>
        <p:spPr>
          <a:xfrm>
            <a:off x="7533585" y="5480195"/>
            <a:ext cx="999300" cy="427500"/>
          </a:xfrm>
          <a:prstGeom prst="rightArrow">
            <a:avLst>
              <a:gd name="adj1" fmla="val 50000"/>
              <a:gd name="adj2" fmla="val 50000"/>
            </a:avLst>
          </a:prstGeom>
          <a:solidFill>
            <a:schemeClr val="accent2"/>
          </a:solidFill>
          <a:ln w="55000" cap="flat" cmpd="thickThin">
            <a:solidFill>
              <a:srgbClr val="9F161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Lucida Sans"/>
              <a:ea typeface="Lucida Sans"/>
              <a:cs typeface="Lucida Sans"/>
              <a:sym typeface="Lucida Sans"/>
            </a:endParaRPr>
          </a:p>
        </p:txBody>
      </p:sp>
      <p:pic>
        <p:nvPicPr>
          <p:cNvPr id="576" name="Google Shape;576;g121e7910631_0_1190"/>
          <p:cNvPicPr preferRelativeResize="0"/>
          <p:nvPr/>
        </p:nvPicPr>
        <p:blipFill rotWithShape="1">
          <a:blip r:embed="rId5">
            <a:alphaModFix/>
          </a:blip>
          <a:srcRect/>
          <a:stretch/>
        </p:blipFill>
        <p:spPr>
          <a:xfrm rot="832709">
            <a:off x="7242840" y="5291924"/>
            <a:ext cx="846841" cy="646647"/>
          </a:xfrm>
          <a:prstGeom prst="rect">
            <a:avLst/>
          </a:prstGeom>
          <a:noFill/>
          <a:ln>
            <a:noFill/>
          </a:ln>
        </p:spPr>
      </p:pic>
      <p:sp>
        <p:nvSpPr>
          <p:cNvPr id="577" name="Google Shape;577;g121e7910631_0_1190"/>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El Contrato Psicológico</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pic>
        <p:nvPicPr>
          <p:cNvPr id="584" name="Google Shape;584;p34" descr="Image result for foto oficinista enojado"/>
          <p:cNvPicPr preferRelativeResize="0"/>
          <p:nvPr/>
        </p:nvPicPr>
        <p:blipFill rotWithShape="1">
          <a:blip r:embed="rId3">
            <a:alphaModFix/>
          </a:blip>
          <a:srcRect l="14385" b="9193"/>
          <a:stretch/>
        </p:blipFill>
        <p:spPr>
          <a:xfrm>
            <a:off x="272477" y="1340773"/>
            <a:ext cx="1747424" cy="1364326"/>
          </a:xfrm>
          <a:prstGeom prst="rect">
            <a:avLst/>
          </a:prstGeom>
          <a:noFill/>
          <a:ln>
            <a:noFill/>
          </a:ln>
        </p:spPr>
      </p:pic>
      <p:sp>
        <p:nvSpPr>
          <p:cNvPr id="585" name="Google Shape;585;p34"/>
          <p:cNvSpPr txBox="1"/>
          <p:nvPr/>
        </p:nvSpPr>
        <p:spPr>
          <a:xfrm>
            <a:off x="2019900" y="1408575"/>
            <a:ext cx="7621800" cy="1323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0000FF"/>
                </a:solidFill>
                <a:latin typeface="Lucida Sans"/>
                <a:ea typeface="Lucida Sans"/>
                <a:cs typeface="Lucida Sans"/>
                <a:sym typeface="Lucida Sans"/>
              </a:rPr>
              <a:t>La ruptura del contrato psicológico lleva a reacciones emocionales fuertes como el stress, el enojo, la frustración y el resentimiento; y a reacciones que pueden ir desde el negativismo a la renuncia, el robo o el sabotaje. </a:t>
            </a:r>
            <a:endParaRPr sz="2000" b="0" i="0" u="none" strike="noStrike" cap="none">
              <a:solidFill>
                <a:srgbClr val="0000FF"/>
              </a:solidFill>
              <a:latin typeface="Lucida Sans"/>
              <a:ea typeface="Lucida Sans"/>
              <a:cs typeface="Lucida Sans"/>
              <a:sym typeface="Lucida Sans"/>
            </a:endParaRPr>
          </a:p>
        </p:txBody>
      </p:sp>
      <p:sp>
        <p:nvSpPr>
          <p:cNvPr id="586" name="Google Shape;586;p34"/>
          <p:cNvSpPr/>
          <p:nvPr/>
        </p:nvSpPr>
        <p:spPr>
          <a:xfrm>
            <a:off x="496900" y="2751625"/>
            <a:ext cx="9144900" cy="3763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16515F"/>
                </a:solidFill>
                <a:latin typeface="Lucida Sans"/>
                <a:ea typeface="Lucida Sans"/>
                <a:cs typeface="Lucida Sans"/>
                <a:sym typeface="Lucida Sans"/>
              </a:rPr>
              <a:t>Por eso, ¡las organizaciones deben ser cuidadosas </a:t>
            </a:r>
            <a:endParaRPr sz="200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16515F"/>
                </a:solidFill>
                <a:latin typeface="Lucida Sans"/>
                <a:ea typeface="Lucida Sans"/>
                <a:cs typeface="Lucida Sans"/>
                <a:sym typeface="Lucida Sans"/>
              </a:rPr>
              <a:t>con los mensajes </a:t>
            </a:r>
            <a:r>
              <a:rPr lang="en-US" sz="2000" b="1" i="0" u="none" strike="noStrike" cap="none">
                <a:solidFill>
                  <a:srgbClr val="FF0000"/>
                </a:solidFill>
                <a:latin typeface="Lucida Sans"/>
                <a:ea typeface="Lucida Sans"/>
                <a:cs typeface="Lucida Sans"/>
                <a:sym typeface="Lucida Sans"/>
              </a:rPr>
              <a:t>explícitos e implícitos</a:t>
            </a:r>
            <a:r>
              <a:rPr lang="en-US" sz="2000" b="0" i="0" u="none" strike="noStrike" cap="none">
                <a:solidFill>
                  <a:srgbClr val="FF0000"/>
                </a:solidFill>
                <a:latin typeface="Lucida Sans"/>
                <a:ea typeface="Lucida Sans"/>
                <a:cs typeface="Lucida Sans"/>
                <a:sym typeface="Lucida Sans"/>
              </a:rPr>
              <a:t> </a:t>
            </a:r>
            <a:r>
              <a:rPr lang="en-US" sz="2000" b="0" i="0" u="none" strike="noStrike" cap="none">
                <a:solidFill>
                  <a:srgbClr val="16515F"/>
                </a:solidFill>
                <a:latin typeface="Lucida Sans"/>
                <a:ea typeface="Lucida Sans"/>
                <a:cs typeface="Lucida Sans"/>
                <a:sym typeface="Lucida Sans"/>
              </a:rPr>
              <a:t>que dan a sus empleados!</a:t>
            </a:r>
            <a:endParaRPr sz="200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1800"/>
              <a:buFont typeface="Arial"/>
              <a:buNone/>
            </a:pPr>
            <a:endParaRPr sz="2000" b="0" i="0" u="none" strike="noStrike" cap="none">
              <a:solidFill>
                <a:srgbClr val="16515F"/>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800"/>
              <a:buFont typeface="Arial"/>
              <a:buNone/>
            </a:pPr>
            <a:r>
              <a:rPr lang="en-US" sz="2000" b="0" i="0" u="none" strike="noStrike" cap="none">
                <a:solidFill>
                  <a:srgbClr val="16515F"/>
                </a:solidFill>
                <a:latin typeface="Lucida Sans"/>
                <a:ea typeface="Lucida Sans"/>
                <a:cs typeface="Lucida Sans"/>
                <a:sym typeface="Lucida Sans"/>
              </a:rPr>
              <a:t>Ejemplo de mensaje explícito: </a:t>
            </a:r>
            <a:r>
              <a:rPr lang="en-US" sz="2000" b="1" i="0" u="none" strike="noStrike" cap="none">
                <a:solidFill>
                  <a:srgbClr val="16515F"/>
                </a:solidFill>
                <a:latin typeface="Lucida Sans"/>
                <a:ea typeface="Lucida Sans"/>
                <a:cs typeface="Lucida Sans"/>
                <a:sym typeface="Lucida Sans"/>
              </a:rPr>
              <a:t>Planes de Jóvenes Profesionales / Anuncios en distintos medios</a:t>
            </a:r>
            <a:endParaRPr sz="2000" b="0" i="0" u="none" strike="noStrike" cap="none">
              <a:solidFill>
                <a:srgbClr val="000000"/>
              </a:solidFill>
              <a:latin typeface="Lucida Sans"/>
              <a:ea typeface="Lucida Sans"/>
              <a:cs typeface="Lucida Sans"/>
              <a:sym typeface="Lucida Sans"/>
            </a:endParaRPr>
          </a:p>
          <a:p>
            <a:pPr marL="0" marR="0" lvl="0" indent="0" algn="l" rtl="0">
              <a:lnSpc>
                <a:spcPct val="100000"/>
              </a:lnSpc>
              <a:spcBef>
                <a:spcPts val="0"/>
              </a:spcBef>
              <a:spcAft>
                <a:spcPts val="0"/>
              </a:spcAft>
              <a:buClr>
                <a:srgbClr val="000000"/>
              </a:buClr>
              <a:buSzPts val="1800"/>
              <a:buFont typeface="Arial"/>
              <a:buNone/>
            </a:pPr>
            <a:endParaRPr sz="2000" b="0" i="0" u="none" strike="noStrike" cap="none">
              <a:solidFill>
                <a:srgbClr val="16515F"/>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002060"/>
                </a:solidFill>
                <a:latin typeface="Lucida Sans"/>
                <a:ea typeface="Lucida Sans"/>
                <a:cs typeface="Lucida Sans"/>
                <a:sym typeface="Lucida Sans"/>
              </a:rPr>
              <a:t>"¿Querés dar el primer paso para ser el futuro gerente de una compañía internacional? El 57% de nuestros líderes actuales provienen de este programa." </a:t>
            </a:r>
            <a:endParaRPr sz="2000" b="0" i="0" u="none" strike="noStrike" cap="none">
              <a:solidFill>
                <a:srgbClr val="000000"/>
              </a:solidFill>
              <a:latin typeface="Lucida Sans"/>
              <a:ea typeface="Lucida Sans"/>
              <a:cs typeface="Lucida Sans"/>
              <a:sym typeface="Lucida Sans"/>
            </a:endParaRPr>
          </a:p>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a:solidFill>
                  <a:srgbClr val="002060"/>
                </a:solidFill>
                <a:latin typeface="Lucida Sans"/>
                <a:ea typeface="Lucida Sans"/>
                <a:cs typeface="Lucida Sans"/>
                <a:sym typeface="Lucida Sans"/>
              </a:rPr>
              <a:t>"Gran parte del directorio y de los niveles jerárquicos de la compañía ingresaron a través del Programa Jóvenes Profesionales." </a:t>
            </a:r>
            <a:endParaRPr sz="2000" b="0" i="0" u="none" strike="noStrike" cap="none">
              <a:solidFill>
                <a:srgbClr val="000000"/>
              </a:solidFill>
              <a:latin typeface="Lucida Sans"/>
              <a:ea typeface="Lucida Sans"/>
              <a:cs typeface="Lucida Sans"/>
              <a:sym typeface="Lucida Sans"/>
            </a:endParaRPr>
          </a:p>
        </p:txBody>
      </p:sp>
      <p:sp>
        <p:nvSpPr>
          <p:cNvPr id="587" name="Google Shape;587;p34"/>
          <p:cNvSpPr txBox="1"/>
          <p:nvPr/>
        </p:nvSpPr>
        <p:spPr>
          <a:xfrm>
            <a:off x="0" y="-25"/>
            <a:ext cx="6915300" cy="1188000"/>
          </a:xfrm>
          <a:prstGeom prst="rect">
            <a:avLst/>
          </a:prstGeom>
          <a:noFill/>
          <a:ln>
            <a:noFill/>
          </a:ln>
        </p:spPr>
        <p:txBody>
          <a:bodyPr spcFirstLastPara="1" wrap="square" lIns="72000" tIns="252000" rIns="72000" bIns="36000" anchor="ctr" anchorCtr="0">
            <a:noAutofit/>
          </a:bodyPr>
          <a:lstStyle/>
          <a:p>
            <a:pPr marL="0" marR="0" lvl="0" indent="0" algn="l" rtl="0">
              <a:lnSpc>
                <a:spcPct val="90000"/>
              </a:lnSpc>
              <a:spcBef>
                <a:spcPts val="0"/>
              </a:spcBef>
              <a:spcAft>
                <a:spcPts val="0"/>
              </a:spcAft>
              <a:buClr>
                <a:srgbClr val="000000"/>
              </a:buClr>
              <a:buSzPts val="2400"/>
              <a:buFont typeface="Arial"/>
              <a:buNone/>
            </a:pPr>
            <a:r>
              <a:rPr lang="en-US" sz="2100" b="1" i="0" u="none" strike="noStrike" cap="none">
                <a:solidFill>
                  <a:srgbClr val="2A4A75"/>
                </a:solidFill>
                <a:latin typeface="Lucida Sans"/>
                <a:ea typeface="Lucida Sans"/>
                <a:cs typeface="Lucida Sans"/>
                <a:sym typeface="Lucida Sans"/>
              </a:rPr>
              <a:t>UNIDAD 5: CULTURA, CLIMA ORGANIZACIONAL Y CONTRATO PSICOLÓGICO</a:t>
            </a:r>
            <a:endParaRPr sz="1100" b="0" i="0" u="none" strike="noStrike" cap="none">
              <a:solidFill>
                <a:srgbClr val="000000"/>
              </a:solidFill>
              <a:latin typeface="Arial"/>
              <a:ea typeface="Arial"/>
              <a:cs typeface="Arial"/>
              <a:sym typeface="Arial"/>
            </a:endParaRPr>
          </a:p>
          <a:p>
            <a:pPr marL="714375" marR="0" lvl="0" indent="-714375" algn="l" rtl="0">
              <a:lnSpc>
                <a:spcPct val="90000"/>
              </a:lnSpc>
              <a:spcBef>
                <a:spcPts val="0"/>
              </a:spcBef>
              <a:spcAft>
                <a:spcPts val="0"/>
              </a:spcAft>
              <a:buClr>
                <a:srgbClr val="000000"/>
              </a:buClr>
              <a:buSzPts val="2800"/>
              <a:buFont typeface="Arial"/>
              <a:buNone/>
            </a:pPr>
            <a:r>
              <a:rPr lang="en-US" sz="2100" b="1" i="0" u="none" strike="noStrike" cap="none">
                <a:solidFill>
                  <a:srgbClr val="39639D"/>
                </a:solidFill>
                <a:latin typeface="Lucida Sans"/>
                <a:ea typeface="Lucida Sans"/>
                <a:cs typeface="Lucida Sans"/>
                <a:sym typeface="Lucida Sans"/>
              </a:rPr>
              <a:t>El Contrato Psicológico</a:t>
            </a:r>
            <a:endParaRPr sz="1700" b="1" i="0" u="none" strike="noStrike" cap="none">
              <a:solidFill>
                <a:srgbClr val="39639D"/>
              </a:solidFill>
              <a:latin typeface="Lucida Sans"/>
              <a:ea typeface="Lucida Sans"/>
              <a:cs typeface="Lucida Sans"/>
              <a:sym typeface="Lucid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pic>
        <p:nvPicPr>
          <p:cNvPr id="593" name="Google Shape;593;g121e7912c57_0_17"/>
          <p:cNvPicPr preferRelativeResize="0"/>
          <p:nvPr/>
        </p:nvPicPr>
        <p:blipFill rotWithShape="1">
          <a:blip r:embed="rId3">
            <a:alphaModFix/>
          </a:blip>
          <a:srcRect/>
          <a:stretch/>
        </p:blipFill>
        <p:spPr>
          <a:xfrm>
            <a:off x="125350" y="134500"/>
            <a:ext cx="9780650" cy="3822701"/>
          </a:xfrm>
          <a:prstGeom prst="rect">
            <a:avLst/>
          </a:prstGeom>
          <a:noFill/>
          <a:ln>
            <a:noFill/>
          </a:ln>
        </p:spPr>
      </p:pic>
      <p:pic>
        <p:nvPicPr>
          <p:cNvPr id="594" name="Google Shape;594;g121e7912c57_0_17"/>
          <p:cNvPicPr preferRelativeResize="0"/>
          <p:nvPr/>
        </p:nvPicPr>
        <p:blipFill rotWithShape="1">
          <a:blip r:embed="rId4">
            <a:alphaModFix/>
          </a:blip>
          <a:srcRect/>
          <a:stretch/>
        </p:blipFill>
        <p:spPr>
          <a:xfrm>
            <a:off x="2243675" y="2238250"/>
            <a:ext cx="836150" cy="931125"/>
          </a:xfrm>
          <a:prstGeom prst="rect">
            <a:avLst/>
          </a:prstGeom>
          <a:noFill/>
          <a:ln>
            <a:noFill/>
          </a:ln>
        </p:spPr>
      </p:pic>
      <p:pic>
        <p:nvPicPr>
          <p:cNvPr id="595" name="Google Shape;595;g121e7912c57_0_17"/>
          <p:cNvPicPr preferRelativeResize="0"/>
          <p:nvPr/>
        </p:nvPicPr>
        <p:blipFill rotWithShape="1">
          <a:blip r:embed="rId5">
            <a:alphaModFix/>
          </a:blip>
          <a:srcRect/>
          <a:stretch/>
        </p:blipFill>
        <p:spPr>
          <a:xfrm>
            <a:off x="5568775" y="2381500"/>
            <a:ext cx="1163875" cy="931125"/>
          </a:xfrm>
          <a:prstGeom prst="rect">
            <a:avLst/>
          </a:prstGeom>
          <a:noFill/>
          <a:ln>
            <a:noFill/>
          </a:ln>
        </p:spPr>
      </p:pic>
      <p:pic>
        <p:nvPicPr>
          <p:cNvPr id="596" name="Google Shape;596;g121e7912c57_0_17"/>
          <p:cNvPicPr preferRelativeResize="0"/>
          <p:nvPr/>
        </p:nvPicPr>
        <p:blipFill rotWithShape="1">
          <a:blip r:embed="rId6">
            <a:alphaModFix/>
          </a:blip>
          <a:srcRect/>
          <a:stretch/>
        </p:blipFill>
        <p:spPr>
          <a:xfrm>
            <a:off x="8815200" y="2381500"/>
            <a:ext cx="675900" cy="787875"/>
          </a:xfrm>
          <a:prstGeom prst="rect">
            <a:avLst/>
          </a:prstGeom>
          <a:noFill/>
          <a:ln>
            <a:noFill/>
          </a:ln>
        </p:spPr>
      </p:pic>
      <p:sp>
        <p:nvSpPr>
          <p:cNvPr id="597" name="Google Shape;597;g121e7912c57_0_17"/>
          <p:cNvSpPr txBox="1"/>
          <p:nvPr/>
        </p:nvSpPr>
        <p:spPr>
          <a:xfrm>
            <a:off x="6822175" y="3169375"/>
            <a:ext cx="3000000" cy="34449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chemeClr val="dk1"/>
                </a:solidFill>
                <a:latin typeface="Arial"/>
                <a:ea typeface="Arial"/>
                <a:cs typeface="Arial"/>
                <a:sym typeface="Arial"/>
              </a:rPr>
              <a:t>-</a:t>
            </a:r>
            <a:r>
              <a:rPr lang="en-US" sz="1800" b="1" i="0" u="none" strike="noStrike" cap="none">
                <a:solidFill>
                  <a:schemeClr val="dk1"/>
                </a:solidFill>
                <a:latin typeface="Calibri"/>
                <a:ea typeface="Calibri"/>
                <a:cs typeface="Calibri"/>
                <a:sym typeface="Calibri"/>
              </a:rPr>
              <a:t>Pymes  vs Corporativo</a:t>
            </a:r>
            <a:endParaRPr sz="1800" b="1"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400"/>
              <a:buFont typeface="Arial"/>
              <a:buNone/>
            </a:pPr>
            <a:r>
              <a:rPr lang="en-US" sz="1400" b="0" i="0" u="none" strike="noStrike" cap="none">
                <a:solidFill>
                  <a:schemeClr val="dk1"/>
                </a:solidFill>
                <a:latin typeface="Arial"/>
                <a:ea typeface="Arial"/>
                <a:cs typeface="Arial"/>
                <a:sym typeface="Arial"/>
              </a:rPr>
              <a:t>-Los temas de la clase de hoy se van a evidenciar en todas las organizaciones, sean emprendimientos, pymes o grandes corporaciones industriales, de servicios o comerciales. Siempre que haya un grupo de personas interactuando con un propósito, veremos que se construye una cultura compartida y podremos percibir el clima laboral y su impacto.</a:t>
            </a:r>
            <a:endParaRPr sz="1400" b="0" i="0" u="none" strike="noStrike" cap="none">
              <a:solidFill>
                <a:schemeClr val="dk1"/>
              </a:solidFill>
              <a:latin typeface="Arial"/>
              <a:ea typeface="Arial"/>
              <a:cs typeface="Arial"/>
              <a:sym typeface="Arial"/>
            </a:endParaRPr>
          </a:p>
        </p:txBody>
      </p:sp>
      <p:sp>
        <p:nvSpPr>
          <p:cNvPr id="598" name="Google Shape;598;g121e7912c57_0_17"/>
          <p:cNvSpPr txBox="1"/>
          <p:nvPr/>
        </p:nvSpPr>
        <p:spPr>
          <a:xfrm>
            <a:off x="3822175" y="3169375"/>
            <a:ext cx="3000000" cy="2413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De los temas de hoy impactan en los siguientes procesos:</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Reclutamiento y Selección</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Gestión del talento y Gestión del desempeño</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Relaciones Laborales</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Compensaciones y Beneficios</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Indicadores</a:t>
            </a:r>
            <a:endParaRPr sz="1600" b="0" i="0" u="none" strike="noStrike" cap="none">
              <a:solidFill>
                <a:schemeClr val="dk1"/>
              </a:solidFill>
              <a:latin typeface="Calibri"/>
              <a:ea typeface="Calibri"/>
              <a:cs typeface="Calibri"/>
              <a:sym typeface="Calibri"/>
            </a:endParaRPr>
          </a:p>
        </p:txBody>
      </p:sp>
      <p:sp>
        <p:nvSpPr>
          <p:cNvPr id="599" name="Google Shape;599;g121e7912c57_0_17"/>
          <p:cNvSpPr txBox="1"/>
          <p:nvPr/>
        </p:nvSpPr>
        <p:spPr>
          <a:xfrm>
            <a:off x="376025" y="3312625"/>
            <a:ext cx="3000000" cy="2130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Calibri"/>
                <a:ea typeface="Calibri"/>
                <a:cs typeface="Calibri"/>
                <a:sym typeface="Calibri"/>
              </a:rPr>
              <a:t>La clase de hoy impacta en los siguientes temas del bloque de personas:</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Comunicación</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Motivación</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Engagement</a:t>
            </a:r>
            <a:endParaRPr sz="1600" b="0" i="0" u="none" strike="noStrike" cap="none">
              <a:solidFill>
                <a:schemeClr val="dk1"/>
              </a:solidFill>
              <a:latin typeface="Calibri"/>
              <a:ea typeface="Calibri"/>
              <a:cs typeface="Calibri"/>
              <a:sym typeface="Calibri"/>
            </a:endParaRPr>
          </a:p>
          <a:p>
            <a:pPr marL="0" marR="0" lvl="0" indent="0" algn="l" rtl="0">
              <a:lnSpc>
                <a:spcPct val="115000"/>
              </a:lnSpc>
              <a:spcBef>
                <a:spcPts val="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a:t>
            </a:r>
            <a:r>
              <a:rPr lang="en-US" sz="1600" b="0" i="0" u="none" strike="noStrike" cap="none">
                <a:solidFill>
                  <a:schemeClr val="dk1"/>
                </a:solidFill>
                <a:latin typeface="Calibri"/>
                <a:ea typeface="Calibri"/>
                <a:cs typeface="Calibri"/>
                <a:sym typeface="Calibri"/>
              </a:rPr>
              <a:t>Liderazgo</a:t>
            </a:r>
            <a:endParaRPr sz="16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pic>
        <p:nvPicPr>
          <p:cNvPr id="606" name="Google Shape;606;p36" descr="http://lavidaencraft.files.wordpress.com/2013/11/gracias.jpg"/>
          <p:cNvPicPr preferRelativeResize="0"/>
          <p:nvPr/>
        </p:nvPicPr>
        <p:blipFill rotWithShape="1">
          <a:blip r:embed="rId3">
            <a:alphaModFix/>
          </a:blip>
          <a:srcRect t="12371" b="13397"/>
          <a:stretch/>
        </p:blipFill>
        <p:spPr>
          <a:xfrm>
            <a:off x="238092" y="1500174"/>
            <a:ext cx="9239280" cy="4286280"/>
          </a:xfrm>
          <a:prstGeom prst="rect">
            <a:avLst/>
          </a:prstGeom>
          <a:noFill/>
          <a:ln>
            <a:noFill/>
          </a:ln>
        </p:spPr>
      </p:pic>
    </p:spTree>
  </p:cSld>
  <p:clrMapOvr>
    <a:masterClrMapping/>
  </p:clrMapOvr>
</p:sld>
</file>

<file path=ppt/theme/theme1.xml><?xml version="1.0" encoding="utf-8"?>
<a:theme xmlns:a="http://schemas.openxmlformats.org/drawingml/2006/main" name="Concurrencia">
  <a:themeElements>
    <a:clrScheme name="Concurrencia">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4659</TotalTime>
  <Words>5757</Words>
  <Application>Microsoft Macintosh PowerPoint</Application>
  <PresentationFormat>A4 Paper (210x297 mm)</PresentationFormat>
  <Paragraphs>409</Paragraphs>
  <Slides>28</Slides>
  <Notes>28</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Google Sans</vt:lpstr>
      <vt:lpstr>Calibri</vt:lpstr>
      <vt:lpstr>Arial Narrow</vt:lpstr>
      <vt:lpstr>Noto Sans Symbols</vt:lpstr>
      <vt:lpstr>Verdana</vt:lpstr>
      <vt:lpstr>Lucida Sans</vt:lpstr>
      <vt:lpstr>Arial</vt:lpstr>
      <vt:lpstr>Concurrencia</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PC</dc:creator>
  <cp:lastModifiedBy>Maria Jimena Perez Liendo</cp:lastModifiedBy>
  <cp:revision>2</cp:revision>
  <dcterms:created xsi:type="dcterms:W3CDTF">2010-12-02T12:17:16Z</dcterms:created>
  <dcterms:modified xsi:type="dcterms:W3CDTF">2024-04-29T20:25:14Z</dcterms:modified>
</cp:coreProperties>
</file>