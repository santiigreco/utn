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906000"/>
  <p:notesSz cx="6834175" cy="9979025"/>
  <p:embeddedFontLst>
    <p:embeddedFont>
      <p:font typeface="Arial Narrow"/>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016">
          <p15:clr>
            <a:srgbClr val="A4A3A4"/>
          </p15:clr>
        </p15:guide>
        <p15:guide id="2" pos="3120">
          <p15:clr>
            <a:srgbClr val="A4A3A4"/>
          </p15:clr>
        </p15:guide>
        <p15:guide id="3" orient="horz" pos="914">
          <p15:clr>
            <a:srgbClr val="A4A3A4"/>
          </p15:clr>
        </p15:guide>
        <p15:guide id="4" orient="horz" pos="2384">
          <p15:clr>
            <a:srgbClr val="A4A3A4"/>
          </p15:clr>
        </p15:guide>
        <p15:guide id="5" orient="horz" pos="2662">
          <p15:clr>
            <a:srgbClr val="A4A3A4"/>
          </p15:clr>
        </p15:guide>
        <p15:guide id="6" orient="horz" pos="3923">
          <p15:clr>
            <a:srgbClr val="A4A3A4"/>
          </p15:clr>
        </p15:guide>
        <p15:guide id="7" pos="2703">
          <p15:clr>
            <a:srgbClr val="A4A3A4"/>
          </p15:clr>
        </p15:guide>
        <p15:guide id="8" pos="5913">
          <p15:clr>
            <a:srgbClr val="A4A3A4"/>
          </p15:clr>
        </p15:guide>
        <p15:guide id="9" pos="2902">
          <p15:clr>
            <a:srgbClr val="A4A3A4"/>
          </p15:clr>
        </p15:guide>
      </p15:sldGuideLst>
    </p:ext>
    <p:ext uri="GoogleSlidesCustomDataVersion2">
      <go:slidesCustomData xmlns:go="http://customooxmlschemas.google.com/" r:id="rId28" roundtripDataSignature="AMtx7miEsvcmODiu0nG2DKrgWp7mnuUT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016" orient="horz"/>
        <p:guide pos="3120"/>
        <p:guide pos="914" orient="horz"/>
        <p:guide pos="2384" orient="horz"/>
        <p:guide pos="2662" orient="horz"/>
        <p:guide pos="3923" orient="horz"/>
        <p:guide pos="2703"/>
        <p:guide pos="5913"/>
        <p:guide pos="290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ArialNarrow-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alNarrow-italic.fntdata"/><Relationship Id="rId25" Type="http://schemas.openxmlformats.org/officeDocument/2006/relationships/font" Target="fonts/ArialNarrow-bold.fntdata"/><Relationship Id="rId28" Type="http://customschemas.google.com/relationships/presentationmetadata" Target="metadata"/><Relationship Id="rId27" Type="http://schemas.openxmlformats.org/officeDocument/2006/relationships/font" Target="fonts/ArialNarrow-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6834187" cy="498951"/>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p:nvPr>
            <p:ph idx="3" type="sldImg"/>
          </p:nvPr>
        </p:nvSpPr>
        <p:spPr>
          <a:xfrm>
            <a:off x="534987" y="623887"/>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 name="Google Shape;5;n"/>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sp>
        <p:nvSpPr>
          <p:cNvPr id="6" name="Google Shape;6;n"/>
          <p:cNvSpPr txBox="1"/>
          <p:nvPr>
            <p:ph idx="11" type="ftr"/>
          </p:nvPr>
        </p:nvSpPr>
        <p:spPr>
          <a:xfrm>
            <a:off x="0" y="9478342"/>
            <a:ext cx="2961480" cy="498951"/>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2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27" name="Google Shape;27;p1: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12a86bbd699_0_164:notes"/>
          <p:cNvSpPr txBox="1"/>
          <p:nvPr>
            <p:ph idx="1" type="body"/>
          </p:nvPr>
        </p:nvSpPr>
        <p:spPr>
          <a:xfrm>
            <a:off x="213545" y="4740037"/>
            <a:ext cx="6407100" cy="461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34" name="Google Shape;34;g12a86bbd699_0_164: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7:notes"/>
          <p:cNvSpPr txBox="1"/>
          <p:nvPr>
            <p:ph idx="1" type="body"/>
          </p:nvPr>
        </p:nvSpPr>
        <p:spPr>
          <a:xfrm>
            <a:off x="213545" y="4740037"/>
            <a:ext cx="6407100" cy="4615199"/>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b="0" i="0" lang="es-AR" sz="1200" u="none" cap="none" strike="noStrike">
                <a:solidFill>
                  <a:schemeClr val="dk1"/>
                </a:solidFill>
                <a:latin typeface="Arial"/>
                <a:ea typeface="Arial"/>
                <a:cs typeface="Arial"/>
                <a:sym typeface="Arial"/>
              </a:rPr>
              <a:t>El programa de inducción busca que el nuevo empleado se adapte y familiarice con la empresa, así como con el ambiente social y físico donde trabajará. La integración de un empleado nuevo a su trabajo se hace por medio de un programa sistemático. Es conducida por su jefe inmediato, por un instructor especializado o por un compañero (elección de un “Buddy”, quien responde las preguntas cotidianas que hacen a la calidad de vida laboral).</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55" name="Google Shape;55;p27: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2e8a32532e_0_0:notes"/>
          <p:cNvSpPr txBox="1"/>
          <p:nvPr>
            <p:ph idx="1" type="body"/>
          </p:nvPr>
        </p:nvSpPr>
        <p:spPr>
          <a:xfrm>
            <a:off x="213545" y="4740037"/>
            <a:ext cx="6407100" cy="461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b="0" i="0" lang="es-AR" sz="1200" u="none" cap="none" strike="noStrike">
                <a:solidFill>
                  <a:schemeClr val="dk1"/>
                </a:solidFill>
                <a:latin typeface="Arial"/>
                <a:ea typeface="Arial"/>
                <a:cs typeface="Arial"/>
                <a:sym typeface="Arial"/>
              </a:rPr>
              <a:t>El programa de inducción busca que el nuevo empleado se adapte y familiarice con la empresa, así como con el ambiente social y físico donde trabajará. La integración de un empleado nuevo a su trabajo se hace por medio de un programa sistemático. Es conducida por su jefe inmediato, por un instructor especializado o por un compañero (elección de un “Buddy”, quien responde las preguntas cotidianas que hacen a la calidad de vida laboral).</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80" name="Google Shape;80;g12e8a32532e_0_0: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2a86bbd699_0_185:notes"/>
          <p:cNvSpPr txBox="1"/>
          <p:nvPr>
            <p:ph idx="1" type="body"/>
          </p:nvPr>
        </p:nvSpPr>
        <p:spPr>
          <a:xfrm>
            <a:off x="213545" y="4740037"/>
            <a:ext cx="6407100" cy="461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89" name="Google Shape;89;g12a86bbd699_0_185: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9:notes"/>
          <p:cNvSpPr txBox="1"/>
          <p:nvPr>
            <p:ph idx="1" type="body"/>
          </p:nvPr>
        </p:nvSpPr>
        <p:spPr>
          <a:xfrm>
            <a:off x="213545" y="4740037"/>
            <a:ext cx="6407100" cy="4615199"/>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s-AR"/>
              <a:t>La marca empleadora está dirigida a futuros candidatos, pero también a los actuales colaboradores y clientes.</a:t>
            </a:r>
            <a:endParaRPr b="0" i="0" sz="1200" u="none" cap="none" strike="noStrike">
              <a:solidFill>
                <a:schemeClr val="dk1"/>
              </a:solidFill>
              <a:latin typeface="Arial"/>
              <a:ea typeface="Arial"/>
              <a:cs typeface="Arial"/>
              <a:sym typeface="Arial"/>
            </a:endParaRPr>
          </a:p>
        </p:txBody>
      </p:sp>
      <p:sp>
        <p:nvSpPr>
          <p:cNvPr id="110" name="Google Shape;110;p29: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e8a32532e_0_45:notes"/>
          <p:cNvSpPr txBox="1"/>
          <p:nvPr>
            <p:ph idx="1" type="body"/>
          </p:nvPr>
        </p:nvSpPr>
        <p:spPr>
          <a:xfrm>
            <a:off x="213545" y="4740037"/>
            <a:ext cx="6407100" cy="461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s-AR"/>
              <a:t>La marca empleadora está dirigida a futuros candidatos, pero también a los actuales colaboradores y clientes.</a:t>
            </a:r>
            <a:endParaRPr b="0" i="0" sz="1200" u="none" cap="none" strike="noStrike">
              <a:solidFill>
                <a:schemeClr val="dk1"/>
              </a:solidFill>
              <a:latin typeface="Arial"/>
              <a:ea typeface="Arial"/>
              <a:cs typeface="Arial"/>
              <a:sym typeface="Arial"/>
            </a:endParaRPr>
          </a:p>
        </p:txBody>
      </p:sp>
      <p:sp>
        <p:nvSpPr>
          <p:cNvPr id="156" name="Google Shape;156;g12e8a32532e_0_45: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11bc975b2b_0_0:notes"/>
          <p:cNvSpPr txBox="1"/>
          <p:nvPr>
            <p:ph idx="1" type="body"/>
          </p:nvPr>
        </p:nvSpPr>
        <p:spPr>
          <a:xfrm>
            <a:off x="213545" y="4740037"/>
            <a:ext cx="6407100" cy="461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s-AR"/>
              <a:t>La marca empleadora está dirigida a futuros candidatos, pero también a los actuales colaboradores y clientes.</a:t>
            </a:r>
            <a:endParaRPr b="0" i="0" sz="1200" u="none" cap="none" strike="noStrike">
              <a:solidFill>
                <a:schemeClr val="dk1"/>
              </a:solidFill>
              <a:latin typeface="Arial"/>
              <a:ea typeface="Arial"/>
              <a:cs typeface="Arial"/>
              <a:sym typeface="Arial"/>
            </a:endParaRPr>
          </a:p>
        </p:txBody>
      </p:sp>
      <p:sp>
        <p:nvSpPr>
          <p:cNvPr id="162" name="Google Shape;162;g211bc975b2b_0_0: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2a86bbd699_0_227:notes"/>
          <p:cNvSpPr txBox="1"/>
          <p:nvPr>
            <p:ph idx="1" type="body"/>
          </p:nvPr>
        </p:nvSpPr>
        <p:spPr>
          <a:xfrm>
            <a:off x="213545" y="4740037"/>
            <a:ext cx="6407100" cy="461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69" name="Google Shape;169;g12a86bbd699_0_227: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2e8149d08b_0_4:notes"/>
          <p:cNvSpPr txBox="1"/>
          <p:nvPr>
            <p:ph idx="1" type="body"/>
          </p:nvPr>
        </p:nvSpPr>
        <p:spPr>
          <a:xfrm>
            <a:off x="213545" y="4740037"/>
            <a:ext cx="6407100" cy="461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77" name="Google Shape;177;g12e8149d08b_0_4: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2e8149d08b_0_25:notes"/>
          <p:cNvSpPr txBox="1"/>
          <p:nvPr>
            <p:ph idx="1" type="body"/>
          </p:nvPr>
        </p:nvSpPr>
        <p:spPr>
          <a:xfrm>
            <a:off x="683418" y="4802412"/>
            <a:ext cx="5467200" cy="3929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198" name="Google Shape;198;g12e8149d08b_0_25:notes"/>
          <p:cNvSpPr/>
          <p:nvPr>
            <p:ph idx="2" type="sldImg"/>
          </p:nvPr>
        </p:nvSpPr>
        <p:spPr>
          <a:xfrm>
            <a:off x="986079" y="1247978"/>
            <a:ext cx="4862100" cy="3367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2ef9ac240f_0_0:notes"/>
          <p:cNvSpPr/>
          <p:nvPr>
            <p:ph idx="2" type="sldImg"/>
          </p:nvPr>
        </p:nvSpPr>
        <p:spPr>
          <a:xfrm>
            <a:off x="986079" y="1247978"/>
            <a:ext cx="4862100" cy="3367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12ef9ac240f_0_0:notes"/>
          <p:cNvSpPr txBox="1"/>
          <p:nvPr>
            <p:ph idx="1" type="body"/>
          </p:nvPr>
        </p:nvSpPr>
        <p:spPr>
          <a:xfrm>
            <a:off x="683418" y="4802412"/>
            <a:ext cx="5467200" cy="3929400"/>
          </a:xfrm>
          <a:prstGeom prst="rect">
            <a:avLst/>
          </a:prstGeom>
          <a:noFill/>
          <a:ln>
            <a:noFill/>
          </a:ln>
        </p:spPr>
        <p:txBody>
          <a:bodyPr anchorCtr="0" anchor="t" bIns="45950" lIns="91925" spcFirstLastPara="1" rIns="91925" wrap="square" tIns="45950">
            <a:noAutofit/>
          </a:bodyPr>
          <a:lstStyle/>
          <a:p>
            <a:pPr indent="0" lvl="0" marL="0" rtl="0" algn="l">
              <a:lnSpc>
                <a:spcPct val="100000"/>
              </a:lnSpc>
              <a:spcBef>
                <a:spcPts val="0"/>
              </a:spcBef>
              <a:spcAft>
                <a:spcPts val="0"/>
              </a:spcAft>
              <a:buSzPts val="1400"/>
              <a:buNone/>
            </a:pPr>
            <a:r>
              <a:t/>
            </a:r>
            <a:endParaRPr/>
          </a:p>
        </p:txBody>
      </p:sp>
      <p:sp>
        <p:nvSpPr>
          <p:cNvPr id="214" name="Google Shape;214;g12ef9ac240f_0_0:notes"/>
          <p:cNvSpPr txBox="1"/>
          <p:nvPr>
            <p:ph idx="12" type="sldNum"/>
          </p:nvPr>
        </p:nvSpPr>
        <p:spPr>
          <a:xfrm>
            <a:off x="3871118" y="9478355"/>
            <a:ext cx="2961600" cy="500700"/>
          </a:xfrm>
          <a:prstGeom prst="rect">
            <a:avLst/>
          </a:prstGeom>
          <a:noFill/>
          <a:ln>
            <a:noFill/>
          </a:ln>
        </p:spPr>
        <p:txBody>
          <a:bodyPr anchorCtr="0" anchor="b" bIns="45950" lIns="91925" spcFirstLastPara="1" rIns="91925" wrap="square" tIns="4595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e8149d08b_0_36:notes"/>
          <p:cNvSpPr/>
          <p:nvPr>
            <p:ph idx="2" type="sldImg"/>
          </p:nvPr>
        </p:nvSpPr>
        <p:spPr>
          <a:xfrm>
            <a:off x="986079" y="1247978"/>
            <a:ext cx="4862100" cy="3367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12e8149d08b_0_36:notes"/>
          <p:cNvSpPr txBox="1"/>
          <p:nvPr>
            <p:ph idx="1" type="body"/>
          </p:nvPr>
        </p:nvSpPr>
        <p:spPr>
          <a:xfrm>
            <a:off x="683418" y="4802412"/>
            <a:ext cx="5467200" cy="3929400"/>
          </a:xfrm>
          <a:prstGeom prst="rect">
            <a:avLst/>
          </a:prstGeom>
          <a:noFill/>
          <a:ln>
            <a:noFill/>
          </a:ln>
        </p:spPr>
        <p:txBody>
          <a:bodyPr anchorCtr="0" anchor="t" bIns="45950" lIns="91925" spcFirstLastPara="1" rIns="91925" wrap="square" tIns="45950">
            <a:noAutofit/>
          </a:bodyPr>
          <a:lstStyle/>
          <a:p>
            <a:pPr indent="0" lvl="0" marL="0" rtl="0" algn="l">
              <a:lnSpc>
                <a:spcPct val="100000"/>
              </a:lnSpc>
              <a:spcBef>
                <a:spcPts val="0"/>
              </a:spcBef>
              <a:spcAft>
                <a:spcPts val="0"/>
              </a:spcAft>
              <a:buSzPts val="1400"/>
              <a:buNone/>
            </a:pPr>
            <a:r>
              <a:rPr lang="es-AR"/>
              <a:t>El contrato de trabajo por tiempo indeterminado, excepto el referido en el artículo 96, se entenderá celebrado a prueba durante los primeros TRES (3) meses de vigencia. Cualquiera de las partes podrá extinguir la relación durante ese lapso sin expresión de causa, sin derecho a indemnización con motivo de la extinción, pero con obligación de preavisar según lo establecido en los artículos 231 y 232. El período de prueba se regirá por las siguientes reglas: 1. Un empleador no puede contratar a un mismo trabajador, más de una vez, utilizando el período de prueba. De hacerlo, se considerará de pleno derecho, que el empleador ha renunciado al período de prueba. 2. El uso abusivo del período de prueba con el objeto de evitar la efectivización de trabajadores será pasible de las sanciones previstas en los regímenes sobre infracciones a las leyes de trabajo. En especial, se considerará abusiva la conducta del empleador que contratare sucesivamente a distintos trabajadores para un mismo puesto de trabajo de naturaleza permanente. 3. El empleador debe registrar al trabajador que comienza su relación laboral por el período de prueba. Caso contrario, sin perjuicio de las consecuencias que se deriven de ese incumplimiento, se entenderá de pleno derecho que ha renunciado a dicho período.  </a:t>
            </a:r>
            <a:endParaRPr/>
          </a:p>
        </p:txBody>
      </p:sp>
      <p:sp>
        <p:nvSpPr>
          <p:cNvPr id="229" name="Google Shape;229;g12e8149d08b_0_36:notes"/>
          <p:cNvSpPr txBox="1"/>
          <p:nvPr>
            <p:ph idx="12" type="sldNum"/>
          </p:nvPr>
        </p:nvSpPr>
        <p:spPr>
          <a:xfrm>
            <a:off x="3871118" y="9478355"/>
            <a:ext cx="2961600" cy="500700"/>
          </a:xfrm>
          <a:prstGeom prst="rect">
            <a:avLst/>
          </a:prstGeom>
          <a:noFill/>
          <a:ln>
            <a:noFill/>
          </a:ln>
        </p:spPr>
        <p:txBody>
          <a:bodyPr anchorCtr="0" anchor="b" bIns="45950" lIns="91925" spcFirstLastPara="1" rIns="91925" wrap="square" tIns="4595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2e8149d08b_0_47:notes"/>
          <p:cNvSpPr txBox="1"/>
          <p:nvPr>
            <p:ph idx="1" type="body"/>
          </p:nvPr>
        </p:nvSpPr>
        <p:spPr>
          <a:xfrm>
            <a:off x="683418" y="4802412"/>
            <a:ext cx="5467200" cy="3929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241" name="Google Shape;241;g12e8149d08b_0_47:notes"/>
          <p:cNvSpPr/>
          <p:nvPr>
            <p:ph idx="2" type="sldImg"/>
          </p:nvPr>
        </p:nvSpPr>
        <p:spPr>
          <a:xfrm>
            <a:off x="986079" y="1247978"/>
            <a:ext cx="4862100" cy="3367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2e8149d08b_0_57:notes"/>
          <p:cNvSpPr/>
          <p:nvPr>
            <p:ph idx="2" type="sldImg"/>
          </p:nvPr>
        </p:nvSpPr>
        <p:spPr>
          <a:xfrm>
            <a:off x="986079" y="1247978"/>
            <a:ext cx="4862100" cy="3367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12e8149d08b_0_57:notes"/>
          <p:cNvSpPr txBox="1"/>
          <p:nvPr>
            <p:ph idx="1" type="body"/>
          </p:nvPr>
        </p:nvSpPr>
        <p:spPr>
          <a:xfrm>
            <a:off x="683418" y="4802412"/>
            <a:ext cx="5467200" cy="3929400"/>
          </a:xfrm>
          <a:prstGeom prst="rect">
            <a:avLst/>
          </a:prstGeom>
          <a:noFill/>
          <a:ln>
            <a:noFill/>
          </a:ln>
        </p:spPr>
        <p:txBody>
          <a:bodyPr anchorCtr="0" anchor="t" bIns="45950" lIns="91925" spcFirstLastPara="1" rIns="91925" wrap="square" tIns="45950">
            <a:noAutofit/>
          </a:bodyPr>
          <a:lstStyle/>
          <a:p>
            <a:pPr indent="0" lvl="0" marL="0" rtl="0" algn="l">
              <a:lnSpc>
                <a:spcPct val="100000"/>
              </a:lnSpc>
              <a:spcBef>
                <a:spcPts val="0"/>
              </a:spcBef>
              <a:spcAft>
                <a:spcPts val="0"/>
              </a:spcAft>
              <a:buSzPts val="1400"/>
              <a:buNone/>
            </a:pPr>
            <a:r>
              <a:t/>
            </a:r>
            <a:endParaRPr/>
          </a:p>
        </p:txBody>
      </p:sp>
      <p:sp>
        <p:nvSpPr>
          <p:cNvPr id="252" name="Google Shape;252;g12e8149d08b_0_57:notes"/>
          <p:cNvSpPr txBox="1"/>
          <p:nvPr>
            <p:ph idx="12" type="sldNum"/>
          </p:nvPr>
        </p:nvSpPr>
        <p:spPr>
          <a:xfrm>
            <a:off x="3871118" y="9478355"/>
            <a:ext cx="2961600" cy="500700"/>
          </a:xfrm>
          <a:prstGeom prst="rect">
            <a:avLst/>
          </a:prstGeom>
          <a:noFill/>
          <a:ln>
            <a:noFill/>
          </a:ln>
        </p:spPr>
        <p:txBody>
          <a:bodyPr anchorCtr="0" anchor="b" bIns="45950" lIns="91925" spcFirstLastPara="1" rIns="91925" wrap="square" tIns="4595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2e8149d08b_0_67:notes"/>
          <p:cNvSpPr/>
          <p:nvPr>
            <p:ph idx="2" type="sldImg"/>
          </p:nvPr>
        </p:nvSpPr>
        <p:spPr>
          <a:xfrm>
            <a:off x="986079" y="1247978"/>
            <a:ext cx="4862100" cy="3367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12e8149d08b_0_67:notes"/>
          <p:cNvSpPr txBox="1"/>
          <p:nvPr>
            <p:ph idx="1" type="body"/>
          </p:nvPr>
        </p:nvSpPr>
        <p:spPr>
          <a:xfrm>
            <a:off x="683418" y="4802412"/>
            <a:ext cx="5467200" cy="3929400"/>
          </a:xfrm>
          <a:prstGeom prst="rect">
            <a:avLst/>
          </a:prstGeom>
          <a:noFill/>
          <a:ln>
            <a:noFill/>
          </a:ln>
        </p:spPr>
        <p:txBody>
          <a:bodyPr anchorCtr="0" anchor="t" bIns="45950" lIns="91925" spcFirstLastPara="1" rIns="91925" wrap="square" tIns="45950">
            <a:noAutofit/>
          </a:bodyPr>
          <a:lstStyle/>
          <a:p>
            <a:pPr indent="0" lvl="0" marL="0" rtl="0" algn="l">
              <a:lnSpc>
                <a:spcPct val="100000"/>
              </a:lnSpc>
              <a:spcBef>
                <a:spcPts val="0"/>
              </a:spcBef>
              <a:spcAft>
                <a:spcPts val="0"/>
              </a:spcAft>
              <a:buSzPts val="1400"/>
              <a:buNone/>
            </a:pPr>
            <a:r>
              <a:t/>
            </a:r>
            <a:endParaRPr/>
          </a:p>
        </p:txBody>
      </p:sp>
      <p:sp>
        <p:nvSpPr>
          <p:cNvPr id="265" name="Google Shape;265;g12e8149d08b_0_67:notes"/>
          <p:cNvSpPr txBox="1"/>
          <p:nvPr>
            <p:ph idx="12" type="sldNum"/>
          </p:nvPr>
        </p:nvSpPr>
        <p:spPr>
          <a:xfrm>
            <a:off x="3871118" y="9478355"/>
            <a:ext cx="2961600" cy="500700"/>
          </a:xfrm>
          <a:prstGeom prst="rect">
            <a:avLst/>
          </a:prstGeom>
          <a:noFill/>
          <a:ln>
            <a:noFill/>
          </a:ln>
        </p:spPr>
        <p:txBody>
          <a:bodyPr anchorCtr="0" anchor="b" bIns="45950" lIns="91925" spcFirstLastPara="1" rIns="91925" wrap="square" tIns="4595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2e8149d08b_0_77:notes"/>
          <p:cNvSpPr txBox="1"/>
          <p:nvPr>
            <p:ph idx="1" type="body"/>
          </p:nvPr>
        </p:nvSpPr>
        <p:spPr>
          <a:xfrm>
            <a:off x="683418" y="4802412"/>
            <a:ext cx="5467200" cy="39294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400"/>
              <a:buFont typeface="Arial"/>
              <a:buNone/>
            </a:pPr>
            <a:r>
              <a:rPr lang="es-AR" sz="1700">
                <a:latin typeface="Calibri"/>
                <a:ea typeface="Calibri"/>
                <a:cs typeface="Calibri"/>
                <a:sym typeface="Calibri"/>
              </a:rPr>
              <a:t>No debe cubrirse puestos permanentes con trabajadores eventuales, porque no estarían destinados a objetivos concretos.</a:t>
            </a:r>
            <a:endParaRPr/>
          </a:p>
        </p:txBody>
      </p:sp>
      <p:sp>
        <p:nvSpPr>
          <p:cNvPr id="275" name="Google Shape;275;g12e8149d08b_0_77:notes"/>
          <p:cNvSpPr/>
          <p:nvPr>
            <p:ph idx="2" type="sldImg"/>
          </p:nvPr>
        </p:nvSpPr>
        <p:spPr>
          <a:xfrm>
            <a:off x="986079" y="1247978"/>
            <a:ext cx="4862100" cy="3367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2f8f1651a7_0_6:notes"/>
          <p:cNvSpPr txBox="1"/>
          <p:nvPr>
            <p:ph idx="1" type="body"/>
          </p:nvPr>
        </p:nvSpPr>
        <p:spPr>
          <a:xfrm>
            <a:off x="683418" y="4802412"/>
            <a:ext cx="5467200" cy="39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AR" sz="1700">
                <a:latin typeface="Calibri"/>
                <a:ea typeface="Calibri"/>
                <a:cs typeface="Calibri"/>
                <a:sym typeface="Calibri"/>
              </a:rPr>
              <a:t>FALSO PRESTADOR DE SERVICIOS</a:t>
            </a:r>
            <a:r>
              <a:rPr lang="es-AR" sz="1700">
                <a:latin typeface="Calibri"/>
                <a:ea typeface="Calibri"/>
                <a:cs typeface="Calibri"/>
                <a:sym typeface="Calibri"/>
              </a:rPr>
              <a:t>: bajo modalidad de monotributo o autónomo</a:t>
            </a:r>
            <a:r>
              <a:rPr lang="es-AR" sz="1800">
                <a:latin typeface="Twentieth Century"/>
                <a:ea typeface="Twentieth Century"/>
                <a:cs typeface="Twentieth Century"/>
                <a:sym typeface="Twentieth Century"/>
              </a:rPr>
              <a:t>. Única excepción es con Directores legales de Sociedades.</a:t>
            </a:r>
            <a:endParaRPr/>
          </a:p>
        </p:txBody>
      </p:sp>
      <p:sp>
        <p:nvSpPr>
          <p:cNvPr id="285" name="Google Shape;285;g12f8f1651a7_0_6:notes"/>
          <p:cNvSpPr/>
          <p:nvPr>
            <p:ph idx="2" type="sldImg"/>
          </p:nvPr>
        </p:nvSpPr>
        <p:spPr>
          <a:xfrm>
            <a:off x="986079" y="1247978"/>
            <a:ext cx="4862100" cy="3367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People">
  <p:cSld name="Cover-People">
    <p:spTree>
      <p:nvGrpSpPr>
        <p:cNvPr id="13" name="Shape 13"/>
        <p:cNvGrpSpPr/>
        <p:nvPr/>
      </p:nvGrpSpPr>
      <p:grpSpPr>
        <a:xfrm>
          <a:off x="0" y="0"/>
          <a:ext cx="0" cy="0"/>
          <a:chOff x="0" y="0"/>
          <a:chExt cx="0" cy="0"/>
        </a:xfrm>
      </p:grpSpPr>
      <p:sp>
        <p:nvSpPr>
          <p:cNvPr id="14" name="Google Shape;14;p31"/>
          <p:cNvSpPr/>
          <p:nvPr/>
        </p:nvSpPr>
        <p:spPr>
          <a:xfrm>
            <a:off x="-7943" y="6286500"/>
            <a:ext cx="9907200" cy="17462"/>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31"/>
          <p:cNvSpPr/>
          <p:nvPr/>
        </p:nvSpPr>
        <p:spPr>
          <a:xfrm>
            <a:off x="-24977" y="1196958"/>
            <a:ext cx="9907200" cy="17462"/>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de título">
  <p:cSld name="2_Diapositiva de título">
    <p:spTree>
      <p:nvGrpSpPr>
        <p:cNvPr id="16" name="Shape 16"/>
        <p:cNvGrpSpPr/>
        <p:nvPr/>
      </p:nvGrpSpPr>
      <p:grpSpPr>
        <a:xfrm>
          <a:off x="0" y="0"/>
          <a:ext cx="0" cy="0"/>
          <a:chOff x="0" y="0"/>
          <a:chExt cx="0" cy="0"/>
        </a:xfrm>
      </p:grpSpPr>
      <p:sp>
        <p:nvSpPr>
          <p:cNvPr id="17" name="Google Shape;17;p32"/>
          <p:cNvSpPr/>
          <p:nvPr/>
        </p:nvSpPr>
        <p:spPr>
          <a:xfrm>
            <a:off x="-24977" y="1196958"/>
            <a:ext cx="9907200" cy="17462"/>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howMasterSp="0">
  <p:cSld name="Slide">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s Info">
  <p:cSld name="Contacts Info">
    <p:spTree>
      <p:nvGrpSpPr>
        <p:cNvPr id="19" name="Shape 19"/>
        <p:cNvGrpSpPr/>
        <p:nvPr/>
      </p:nvGrpSpPr>
      <p:grpSpPr>
        <a:xfrm>
          <a:off x="0" y="0"/>
          <a:ext cx="0" cy="0"/>
          <a:chOff x="0" y="0"/>
          <a:chExt cx="0" cy="0"/>
        </a:xfrm>
      </p:grpSpPr>
      <p:sp>
        <p:nvSpPr>
          <p:cNvPr id="20" name="Google Shape;20;p33"/>
          <p:cNvSpPr txBox="1"/>
          <p:nvPr>
            <p:ph idx="12" type="sldNum"/>
          </p:nvPr>
        </p:nvSpPr>
        <p:spPr>
          <a:xfrm>
            <a:off x="9648000" y="6732000"/>
            <a:ext cx="251999" cy="104774"/>
          </a:xfrm>
          <a:prstGeom prst="rect">
            <a:avLst/>
          </a:prstGeom>
          <a:noFill/>
          <a:ln>
            <a:noFill/>
          </a:ln>
        </p:spPr>
        <p:txBody>
          <a:bodyPr anchorCtr="0" anchor="ctr" bIns="0" lIns="36000" spcFirstLastPara="1" rIns="36000" wrap="square" tIns="0">
            <a:noAutofit/>
          </a:bodyPr>
          <a:lstStyle>
            <a:lvl1pPr indent="0" lvl="0"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1pPr>
            <a:lvl2pPr indent="0" lvl="1"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2pPr>
            <a:lvl3pPr indent="0" lvl="2"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3pPr>
            <a:lvl4pPr indent="0" lvl="3"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4pPr>
            <a:lvl5pPr indent="0" lvl="4"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5pPr>
            <a:lvl6pPr indent="0" lvl="5"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6pPr>
            <a:lvl7pPr indent="0" lvl="6"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7pPr>
            <a:lvl8pPr indent="0" lvl="7"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8pPr>
            <a:lvl9pPr indent="0" lvl="8"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AR"/>
              <a:t>‹#›</a:t>
            </a:fld>
            <a:endParaRPr/>
          </a:p>
        </p:txBody>
      </p:sp>
      <p:sp>
        <p:nvSpPr>
          <p:cNvPr descr="images (1).jpg" id="21" name="Google Shape;21;p33"/>
          <p:cNvSpPr/>
          <p:nvPr/>
        </p:nvSpPr>
        <p:spPr>
          <a:xfrm>
            <a:off x="6357982" y="2571743"/>
            <a:ext cx="3524239" cy="4286255"/>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images (1).jpg" id="22" name="Google Shape;22;p33"/>
          <p:cNvSpPr/>
          <p:nvPr/>
        </p:nvSpPr>
        <p:spPr>
          <a:xfrm>
            <a:off x="0" y="0"/>
            <a:ext cx="2724146" cy="3143247"/>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3"/>
          <p:cNvSpPr/>
          <p:nvPr/>
        </p:nvSpPr>
        <p:spPr>
          <a:xfrm flipH="1" rot="10800000">
            <a:off x="3309926" y="1214422"/>
            <a:ext cx="6572296" cy="45718"/>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 name="Google Shape;24;p33"/>
          <p:cNvSpPr/>
          <p:nvPr/>
        </p:nvSpPr>
        <p:spPr>
          <a:xfrm flipH="1">
            <a:off x="0" y="5715016"/>
            <a:ext cx="5524504" cy="45718"/>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sp>
        <p:nvSpPr>
          <p:cNvPr id="9" name="Google Shape;9;p30"/>
          <p:cNvSpPr txBox="1"/>
          <p:nvPr>
            <p:ph type="title"/>
          </p:nvPr>
        </p:nvSpPr>
        <p:spPr>
          <a:xfrm>
            <a:off x="0" y="0"/>
            <a:ext cx="9906000" cy="1187999"/>
          </a:xfrm>
          <a:prstGeom prst="rect">
            <a:avLst/>
          </a:prstGeom>
          <a:noFill/>
          <a:ln>
            <a:noFill/>
          </a:ln>
        </p:spPr>
        <p:txBody>
          <a:bodyPr anchorCtr="0" anchor="ctr" bIns="91425" lIns="91425" spcFirstLastPara="1" rIns="91425" wrap="square" tIns="91425">
            <a:noAutofit/>
          </a:bodyPr>
          <a:lstStyle>
            <a:lvl1pPr lvl="0" marR="0" rtl="0" algn="ctr">
              <a:lnSpc>
                <a:spcPct val="90000"/>
              </a:lnSpc>
              <a:spcBef>
                <a:spcPts val="0"/>
              </a:spcBef>
              <a:spcAft>
                <a:spcPts val="0"/>
              </a:spcAft>
              <a:buClr>
                <a:schemeClr val="dk2"/>
              </a:buClr>
              <a:buSzPts val="3000"/>
              <a:buFont typeface="Arial Narrow"/>
              <a:buNone/>
              <a:defRPr b="1" i="0" sz="3000" u="none" cap="none" strike="noStrike">
                <a:solidFill>
                  <a:schemeClr val="dk2"/>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30"/>
          <p:cNvSpPr/>
          <p:nvPr/>
        </p:nvSpPr>
        <p:spPr>
          <a:xfrm>
            <a:off x="-7943" y="6286500"/>
            <a:ext cx="9907200" cy="17462"/>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 name="Google Shape;11;p30"/>
          <p:cNvSpPr txBox="1"/>
          <p:nvPr>
            <p:ph idx="1" type="body"/>
          </p:nvPr>
        </p:nvSpPr>
        <p:spPr>
          <a:xfrm>
            <a:off x="0" y="1440000"/>
            <a:ext cx="9906000" cy="4679999"/>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chemeClr val="dk2"/>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accent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3"/>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Resultado de imagen para utn regional buenos aires ingenieria industrial" id="12" name="Google Shape;12;p30"/>
          <p:cNvPicPr preferRelativeResize="0"/>
          <p:nvPr/>
        </p:nvPicPr>
        <p:blipFill rotWithShape="1">
          <a:blip r:embed="rId1">
            <a:alphaModFix/>
          </a:blip>
          <a:srcRect b="0" l="0" r="0" t="0"/>
          <a:stretch/>
        </p:blipFill>
        <p:spPr>
          <a:xfrm>
            <a:off x="7060820" y="7937"/>
            <a:ext cx="2857500" cy="109537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ppt/slides/slide38.xml" TargetMode="External"/><Relationship Id="rId4" Type="http://schemas.openxmlformats.org/officeDocument/2006/relationships/image" Target="../media/image2.png"/><Relationship Id="rId5" Type="http://schemas.openxmlformats.org/officeDocument/2006/relationships/hyperlink" Target="http://ppt/slides/slide38.xml" TargetMode="External"/><Relationship Id="rId6" Type="http://schemas.openxmlformats.org/officeDocument/2006/relationships/hyperlink" Target="http://ppt/slides/slide38.xml" TargetMode="External"/><Relationship Id="rId7" Type="http://schemas.openxmlformats.org/officeDocument/2006/relationships/hyperlink" Target="http://ppt/slides/slide38.x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ppt/slides/slide38.xml" TargetMode="External"/><Relationship Id="rId4" Type="http://schemas.openxmlformats.org/officeDocument/2006/relationships/image" Target="../media/image2.png"/><Relationship Id="rId5" Type="http://schemas.openxmlformats.org/officeDocument/2006/relationships/hyperlink" Target="http://ppt/slides/slide38.xml" TargetMode="External"/><Relationship Id="rId6" Type="http://schemas.openxmlformats.org/officeDocument/2006/relationships/hyperlink" Target="http://ppt/slides/slide38.xml" TargetMode="External"/><Relationship Id="rId7" Type="http://schemas.openxmlformats.org/officeDocument/2006/relationships/hyperlink" Target="http://ppt/slides/slide38.x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youtube.com/watch?v=Wnit-GElQPg" TargetMode="Externa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ppt/slides/slide38.xml" TargetMode="External"/><Relationship Id="rId4" Type="http://schemas.openxmlformats.org/officeDocument/2006/relationships/image" Target="../media/image2.png"/><Relationship Id="rId5" Type="http://schemas.openxmlformats.org/officeDocument/2006/relationships/hyperlink" Target="http://ppt/slides/slide38.xml" TargetMode="External"/><Relationship Id="rId6" Type="http://schemas.openxmlformats.org/officeDocument/2006/relationships/hyperlink" Target="http://ppt/slides/slide38.xml" TargetMode="External"/><Relationship Id="rId7" Type="http://schemas.openxmlformats.org/officeDocument/2006/relationships/hyperlink" Target="http://ppt/slides/slide38.x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jp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jpg"/><Relationship Id="rId4" Type="http://schemas.openxmlformats.org/officeDocument/2006/relationships/image" Target="../media/image1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descr="https://encrypted-tbn2.gstatic.com/images?q=tbn:ANd9GcRcyGsKQFbNE159vcUw6iMcDisELRoVKzvai6d3iJrA-_BtH5dgBw" id="29" name="Google Shape;29;p1"/>
          <p:cNvSpPr/>
          <p:nvPr/>
        </p:nvSpPr>
        <p:spPr>
          <a:xfrm>
            <a:off x="155575" y="-144463"/>
            <a:ext cx="304799"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 name="Google Shape;30;p1"/>
          <p:cNvSpPr txBox="1"/>
          <p:nvPr/>
        </p:nvSpPr>
        <p:spPr>
          <a:xfrm>
            <a:off x="2381232" y="3998855"/>
            <a:ext cx="6143667" cy="1861618"/>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450"/>
              <a:buFont typeface="Arial"/>
              <a:buNone/>
            </a:pPr>
            <a:r>
              <a:rPr b="1" i="0" lang="es-AR" sz="1800" u="none" cap="none" strike="noStrike">
                <a:solidFill>
                  <a:schemeClr val="dk1"/>
                </a:solidFill>
                <a:latin typeface="Arial"/>
                <a:ea typeface="Arial"/>
                <a:cs typeface="Arial"/>
                <a:sym typeface="Arial"/>
              </a:rPr>
              <a:t>INGENIERÍA INDUSTRIAL</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450"/>
              <a:buFont typeface="Arial"/>
              <a:buNone/>
            </a:pPr>
            <a:r>
              <a:rPr b="1" i="0" lang="es-AR" sz="1800" u="none" cap="none" strike="noStrike">
                <a:solidFill>
                  <a:schemeClr val="dk1"/>
                </a:solidFill>
                <a:latin typeface="Arial"/>
                <a:ea typeface="Arial"/>
                <a:cs typeface="Arial"/>
                <a:sym typeface="Arial"/>
              </a:rPr>
              <a:t>CÁTEDRA RELACIONES INDUSTRIALES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s-AR" sz="1800" u="none" cap="none" strike="noStrike">
                <a:solidFill>
                  <a:srgbClr val="000000"/>
                </a:solidFill>
                <a:latin typeface="Arial"/>
                <a:ea typeface="Arial"/>
                <a:cs typeface="Arial"/>
                <a:sym typeface="Arial"/>
              </a:rPr>
              <a:t>Inducción, Marca Empleadora y Tipos de Contrato</a:t>
            </a:r>
            <a:endParaRPr b="0" i="0" sz="1400" u="none" cap="none" strike="noStrike">
              <a:solidFill>
                <a:srgbClr val="000000"/>
              </a:solidFill>
              <a:latin typeface="Arial"/>
              <a:ea typeface="Arial"/>
              <a:cs typeface="Arial"/>
              <a:sym typeface="Arial"/>
            </a:endParaRPr>
          </a:p>
        </p:txBody>
      </p:sp>
      <p:pic>
        <p:nvPicPr>
          <p:cNvPr descr="Resultado de imagen para utn regional buenos aires" id="31" name="Google Shape;31;p1"/>
          <p:cNvPicPr preferRelativeResize="0"/>
          <p:nvPr/>
        </p:nvPicPr>
        <p:blipFill rotWithShape="1">
          <a:blip r:embed="rId3">
            <a:alphaModFix/>
          </a:blip>
          <a:srcRect b="0" l="0" r="0" t="0"/>
          <a:stretch/>
        </p:blipFill>
        <p:spPr>
          <a:xfrm>
            <a:off x="2010255" y="2053176"/>
            <a:ext cx="4524375" cy="16287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g12a86bbd699_0_164"/>
          <p:cNvSpPr/>
          <p:nvPr/>
        </p:nvSpPr>
        <p:spPr>
          <a:xfrm>
            <a:off x="1467787" y="2862421"/>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Reclutamiento</a:t>
            </a:r>
            <a:endParaRPr b="0" i="0" sz="1400" u="none" cap="none" strike="noStrike">
              <a:solidFill>
                <a:srgbClr val="000000"/>
              </a:solidFill>
              <a:latin typeface="Arial"/>
              <a:ea typeface="Arial"/>
              <a:cs typeface="Arial"/>
              <a:sym typeface="Arial"/>
            </a:endParaRPr>
          </a:p>
        </p:txBody>
      </p:sp>
      <p:sp>
        <p:nvSpPr>
          <p:cNvPr id="37" name="Google Shape;37;g12a86bbd699_0_164">
            <a:hlinkClick/>
          </p:cNvPr>
          <p:cNvSpPr/>
          <p:nvPr/>
        </p:nvSpPr>
        <p:spPr>
          <a:xfrm>
            <a:off x="1253474" y="2862421"/>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38" name="Google Shape;38;g12a86bbd699_0_164"/>
          <p:cNvSpPr/>
          <p:nvPr/>
        </p:nvSpPr>
        <p:spPr>
          <a:xfrm>
            <a:off x="1467787" y="3505362"/>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Selección de Personal</a:t>
            </a:r>
            <a:endParaRPr b="0" i="0" sz="1400" u="none" cap="none" strike="noStrike">
              <a:solidFill>
                <a:srgbClr val="000000"/>
              </a:solidFill>
              <a:latin typeface="Arial"/>
              <a:ea typeface="Arial"/>
              <a:cs typeface="Arial"/>
              <a:sym typeface="Arial"/>
            </a:endParaRPr>
          </a:p>
        </p:txBody>
      </p:sp>
      <p:sp>
        <p:nvSpPr>
          <p:cNvPr id="39" name="Google Shape;39;g12a86bbd699_0_164">
            <a:hlinkClick r:id="rId3"/>
          </p:cNvPr>
          <p:cNvSpPr/>
          <p:nvPr/>
        </p:nvSpPr>
        <p:spPr>
          <a:xfrm>
            <a:off x="1253474" y="350536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0" name="Google Shape;40;g12a86bbd699_0_164"/>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500"/>
              <a:buFont typeface="Arial"/>
              <a:buNone/>
            </a:pPr>
            <a:r>
              <a:rPr b="1" i="0" lang="es-AR" sz="2000"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800"/>
              <a:buFont typeface="Arial Narrow"/>
              <a:buNone/>
            </a:pPr>
            <a:r>
              <a:rPr b="1" i="0" lang="es-AR" sz="3200" u="none" cap="none" strike="noStrike">
                <a:solidFill>
                  <a:srgbClr val="932328"/>
                </a:solidFill>
                <a:latin typeface="Arial Narrow"/>
                <a:ea typeface="Arial Narrow"/>
                <a:cs typeface="Arial Narrow"/>
                <a:sym typeface="Arial Narrow"/>
              </a:rPr>
              <a:t>Agenda</a:t>
            </a:r>
            <a:endParaRPr b="1" i="0" sz="2800" u="none" cap="none" strike="noStrike">
              <a:solidFill>
                <a:srgbClr val="932328"/>
              </a:solidFill>
              <a:latin typeface="Arial Narrow"/>
              <a:ea typeface="Arial Narrow"/>
              <a:cs typeface="Arial Narrow"/>
              <a:sym typeface="Arial Narrow"/>
            </a:endParaRPr>
          </a:p>
        </p:txBody>
      </p:sp>
      <p:sp>
        <p:nvSpPr>
          <p:cNvPr id="41" name="Google Shape;41;g12a86bbd699_0_164"/>
          <p:cNvSpPr/>
          <p:nvPr/>
        </p:nvSpPr>
        <p:spPr>
          <a:xfrm>
            <a:off x="1467787" y="2219478"/>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Planeación de Personal</a:t>
            </a:r>
            <a:endParaRPr b="0" i="0" sz="1400" u="none" cap="none" strike="noStrike">
              <a:solidFill>
                <a:srgbClr val="000000"/>
              </a:solidFill>
              <a:latin typeface="Arial"/>
              <a:ea typeface="Arial"/>
              <a:cs typeface="Arial"/>
              <a:sym typeface="Arial"/>
            </a:endParaRPr>
          </a:p>
        </p:txBody>
      </p:sp>
      <p:sp>
        <p:nvSpPr>
          <p:cNvPr id="42" name="Google Shape;42;g12a86bbd699_0_164"/>
          <p:cNvSpPr/>
          <p:nvPr/>
        </p:nvSpPr>
        <p:spPr>
          <a:xfrm>
            <a:off x="1253474" y="2219478"/>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3" name="Google Shape;43;g12a86bbd699_0_164"/>
          <p:cNvSpPr/>
          <p:nvPr/>
        </p:nvSpPr>
        <p:spPr>
          <a:xfrm>
            <a:off x="1452537" y="1647812"/>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Presentación y enfoque</a:t>
            </a:r>
            <a:endParaRPr b="0" i="0" sz="1400" u="none" cap="none" strike="noStrike">
              <a:solidFill>
                <a:srgbClr val="000000"/>
              </a:solidFill>
              <a:latin typeface="Arial"/>
              <a:ea typeface="Arial"/>
              <a:cs typeface="Arial"/>
              <a:sym typeface="Arial"/>
            </a:endParaRPr>
          </a:p>
        </p:txBody>
      </p:sp>
      <p:sp>
        <p:nvSpPr>
          <p:cNvPr id="44" name="Google Shape;44;g12a86bbd699_0_164"/>
          <p:cNvSpPr/>
          <p:nvPr/>
        </p:nvSpPr>
        <p:spPr>
          <a:xfrm>
            <a:off x="1238224" y="164781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pic>
        <p:nvPicPr>
          <p:cNvPr descr="Resultado de imagen para utn regional buenos aires ingenieria industrial" id="45" name="Google Shape;45;g12a86bbd699_0_164"/>
          <p:cNvPicPr preferRelativeResize="0"/>
          <p:nvPr/>
        </p:nvPicPr>
        <p:blipFill rotWithShape="1">
          <a:blip r:embed="rId4">
            <a:alphaModFix/>
          </a:blip>
          <a:srcRect b="0" l="0" r="0" t="0"/>
          <a:stretch/>
        </p:blipFill>
        <p:spPr>
          <a:xfrm>
            <a:off x="7060820" y="7937"/>
            <a:ext cx="2857500" cy="1095376"/>
          </a:xfrm>
          <a:prstGeom prst="rect">
            <a:avLst/>
          </a:prstGeom>
          <a:noFill/>
          <a:ln>
            <a:noFill/>
          </a:ln>
        </p:spPr>
      </p:pic>
      <p:sp>
        <p:nvSpPr>
          <p:cNvPr id="46" name="Google Shape;46;g12a86bbd699_0_164"/>
          <p:cNvSpPr/>
          <p:nvPr/>
        </p:nvSpPr>
        <p:spPr>
          <a:xfrm>
            <a:off x="1452547" y="4130202"/>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Inducción</a:t>
            </a:r>
            <a:endParaRPr b="0" i="0" sz="1400" u="none" cap="none" strike="noStrike">
              <a:solidFill>
                <a:srgbClr val="000000"/>
              </a:solidFill>
              <a:latin typeface="Arial"/>
              <a:ea typeface="Arial"/>
              <a:cs typeface="Arial"/>
              <a:sym typeface="Arial"/>
            </a:endParaRPr>
          </a:p>
        </p:txBody>
      </p:sp>
      <p:sp>
        <p:nvSpPr>
          <p:cNvPr id="47" name="Google Shape;47;g12a86bbd699_0_164">
            <a:hlinkClick r:id="rId5"/>
          </p:cNvPr>
          <p:cNvSpPr/>
          <p:nvPr/>
        </p:nvSpPr>
        <p:spPr>
          <a:xfrm>
            <a:off x="1238234" y="413020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8" name="Google Shape;48;g12a86bbd699_0_164"/>
          <p:cNvSpPr/>
          <p:nvPr/>
        </p:nvSpPr>
        <p:spPr>
          <a:xfrm>
            <a:off x="359556" y="4165912"/>
            <a:ext cx="642900" cy="357300"/>
          </a:xfrm>
          <a:prstGeom prst="rightArrow">
            <a:avLst>
              <a:gd fmla="val 50000" name="adj1"/>
              <a:gd fmla="val 50000" name="adj2"/>
            </a:avLst>
          </a:prstGeom>
          <a:solidFill>
            <a:schemeClr val="accent1"/>
          </a:solidFill>
          <a:ln cap="flat" cmpd="sng" w="25400">
            <a:solidFill>
              <a:srgbClr val="BA89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 name="Google Shape;49;g12a86bbd699_0_164"/>
          <p:cNvSpPr/>
          <p:nvPr/>
        </p:nvSpPr>
        <p:spPr>
          <a:xfrm>
            <a:off x="1452547" y="4773143"/>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Marca Empleadora</a:t>
            </a:r>
            <a:endParaRPr b="0" i="0" sz="1400" u="none" cap="none" strike="noStrike">
              <a:solidFill>
                <a:srgbClr val="000000"/>
              </a:solidFill>
              <a:latin typeface="Arial"/>
              <a:ea typeface="Arial"/>
              <a:cs typeface="Arial"/>
              <a:sym typeface="Arial"/>
            </a:endParaRPr>
          </a:p>
        </p:txBody>
      </p:sp>
      <p:sp>
        <p:nvSpPr>
          <p:cNvPr id="50" name="Google Shape;50;g12a86bbd699_0_164">
            <a:hlinkClick r:id="rId6"/>
          </p:cNvPr>
          <p:cNvSpPr/>
          <p:nvPr/>
        </p:nvSpPr>
        <p:spPr>
          <a:xfrm>
            <a:off x="1253474" y="475504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51" name="Google Shape;51;g12a86bbd699_0_164"/>
          <p:cNvSpPr/>
          <p:nvPr/>
        </p:nvSpPr>
        <p:spPr>
          <a:xfrm>
            <a:off x="1452547" y="5478118"/>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Tipos de Contratos</a:t>
            </a:r>
            <a:endParaRPr b="0" i="0" sz="1400" u="none" cap="none" strike="noStrike">
              <a:solidFill>
                <a:srgbClr val="000000"/>
              </a:solidFill>
              <a:latin typeface="Arial"/>
              <a:ea typeface="Arial"/>
              <a:cs typeface="Arial"/>
              <a:sym typeface="Arial"/>
            </a:endParaRPr>
          </a:p>
        </p:txBody>
      </p:sp>
      <p:sp>
        <p:nvSpPr>
          <p:cNvPr id="52" name="Google Shape;52;g12a86bbd699_0_164">
            <a:hlinkClick r:id="rId7"/>
          </p:cNvPr>
          <p:cNvSpPr/>
          <p:nvPr/>
        </p:nvSpPr>
        <p:spPr>
          <a:xfrm>
            <a:off x="1253474" y="5460017"/>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27"/>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500"/>
              <a:buFont typeface="Arial"/>
              <a:buNone/>
            </a:pPr>
            <a:r>
              <a:rPr b="1" i="0" lang="es-AR" sz="2000" u="none" cap="none" strike="noStrike">
                <a:solidFill>
                  <a:srgbClr val="932328"/>
                </a:solidFill>
                <a:latin typeface="Arial"/>
                <a:ea typeface="Arial"/>
                <a:cs typeface="Arial"/>
                <a:sym typeface="Arial"/>
              </a:rPr>
              <a:t>Relaciones Industriales </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800"/>
              <a:buFont typeface="Arial Narrow"/>
              <a:buNone/>
            </a:pPr>
            <a:r>
              <a:rPr b="1" i="0" lang="es-AR" sz="3200" u="none" cap="none" strike="noStrike">
                <a:solidFill>
                  <a:srgbClr val="932328"/>
                </a:solidFill>
                <a:latin typeface="Arial Narrow"/>
                <a:ea typeface="Arial Narrow"/>
                <a:cs typeface="Arial Narrow"/>
                <a:sym typeface="Arial Narrow"/>
              </a:rPr>
              <a:t>Inducción</a:t>
            </a:r>
            <a:endParaRPr b="0" i="0" sz="1400" u="none" cap="none" strike="noStrike">
              <a:solidFill>
                <a:srgbClr val="000000"/>
              </a:solidFill>
              <a:latin typeface="Arial"/>
              <a:ea typeface="Arial"/>
              <a:cs typeface="Arial"/>
              <a:sym typeface="Arial"/>
            </a:endParaRPr>
          </a:p>
        </p:txBody>
      </p:sp>
      <p:sp>
        <p:nvSpPr>
          <p:cNvPr id="58" name="Google Shape;58;p27"/>
          <p:cNvSpPr/>
          <p:nvPr/>
        </p:nvSpPr>
        <p:spPr>
          <a:xfrm>
            <a:off x="822960" y="5530334"/>
            <a:ext cx="184731"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9" name="Google Shape;59;p27"/>
          <p:cNvGrpSpPr/>
          <p:nvPr/>
        </p:nvGrpSpPr>
        <p:grpSpPr>
          <a:xfrm>
            <a:off x="1254806" y="3105593"/>
            <a:ext cx="7977282" cy="3161413"/>
            <a:chOff x="673911" y="1037"/>
            <a:chExt cx="7977282" cy="3161413"/>
          </a:xfrm>
        </p:grpSpPr>
        <p:sp>
          <p:nvSpPr>
            <p:cNvPr id="60" name="Google Shape;60;p27"/>
            <p:cNvSpPr/>
            <p:nvPr/>
          </p:nvSpPr>
          <p:spPr>
            <a:xfrm rot="5400000">
              <a:off x="1042536" y="1148290"/>
              <a:ext cx="1110354" cy="1847604"/>
            </a:xfrm>
            <a:prstGeom prst="corner">
              <a:avLst>
                <a:gd fmla="val 16120" name="adj1"/>
                <a:gd fmla="val 16110" name="adj2"/>
              </a:avLst>
            </a:prstGeom>
            <a:solidFill>
              <a:srgbClr val="40BEA6"/>
            </a:solidFill>
            <a:ln cap="flat" cmpd="sng" w="9525">
              <a:solidFill>
                <a:srgbClr val="40BEA6"/>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7"/>
            <p:cNvSpPr/>
            <p:nvPr/>
          </p:nvSpPr>
          <p:spPr>
            <a:xfrm>
              <a:off x="857190" y="1700326"/>
              <a:ext cx="1668027" cy="146212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7"/>
            <p:cNvSpPr txBox="1"/>
            <p:nvPr/>
          </p:nvSpPr>
          <p:spPr>
            <a:xfrm>
              <a:off x="857190" y="1700326"/>
              <a:ext cx="1668027" cy="1462124"/>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s-AR" sz="1900" u="none" cap="none" strike="noStrike">
                  <a:solidFill>
                    <a:srgbClr val="000000"/>
                  </a:solidFill>
                  <a:latin typeface="Arial"/>
                  <a:ea typeface="Arial"/>
                  <a:cs typeface="Arial"/>
                  <a:sym typeface="Arial"/>
                </a:rPr>
                <a:t>Objetivo </a:t>
              </a:r>
              <a:endParaRPr b="0" i="0" sz="1400" u="none" cap="none" strike="noStrike">
                <a:solidFill>
                  <a:srgbClr val="000000"/>
                </a:solidFill>
                <a:latin typeface="Arial"/>
                <a:ea typeface="Arial"/>
                <a:cs typeface="Arial"/>
                <a:sym typeface="Arial"/>
              </a:endParaRPr>
            </a:p>
          </p:txBody>
        </p:sp>
        <p:sp>
          <p:nvSpPr>
            <p:cNvPr id="63" name="Google Shape;63;p27"/>
            <p:cNvSpPr/>
            <p:nvPr/>
          </p:nvSpPr>
          <p:spPr>
            <a:xfrm>
              <a:off x="2210496" y="1012267"/>
              <a:ext cx="314722" cy="314722"/>
            </a:xfrm>
            <a:prstGeom prst="triangle">
              <a:avLst>
                <a:gd fmla="val 100000" name="adj"/>
              </a:avLst>
            </a:prstGeom>
            <a:solidFill>
              <a:srgbClr val="8E7CC3"/>
            </a:solidFill>
            <a:ln cap="flat" cmpd="sng" w="9525">
              <a:solidFill>
                <a:srgbClr val="8E7CC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7"/>
            <p:cNvSpPr/>
            <p:nvPr/>
          </p:nvSpPr>
          <p:spPr>
            <a:xfrm rot="5400000">
              <a:off x="3084528" y="642997"/>
              <a:ext cx="1110354" cy="1847604"/>
            </a:xfrm>
            <a:prstGeom prst="corner">
              <a:avLst>
                <a:gd fmla="val 16120" name="adj1"/>
                <a:gd fmla="val 16110" name="adj2"/>
              </a:avLst>
            </a:prstGeom>
            <a:solidFill>
              <a:srgbClr val="40BEA6"/>
            </a:solidFill>
            <a:ln cap="flat" cmpd="sng" w="9525">
              <a:solidFill>
                <a:srgbClr val="40BEA6"/>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7"/>
            <p:cNvSpPr/>
            <p:nvPr/>
          </p:nvSpPr>
          <p:spPr>
            <a:xfrm>
              <a:off x="2899182" y="1195033"/>
              <a:ext cx="1668027" cy="146212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7"/>
            <p:cNvSpPr txBox="1"/>
            <p:nvPr/>
          </p:nvSpPr>
          <p:spPr>
            <a:xfrm>
              <a:off x="2899182" y="1195033"/>
              <a:ext cx="1668027" cy="1462124"/>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s-AR" sz="1900" u="none" cap="none" strike="noStrike">
                  <a:solidFill>
                    <a:srgbClr val="000000"/>
                  </a:solidFill>
                  <a:latin typeface="Arial"/>
                  <a:ea typeface="Arial"/>
                  <a:cs typeface="Arial"/>
                  <a:sym typeface="Arial"/>
                </a:rPr>
                <a:t>Contenido</a:t>
              </a:r>
              <a:endParaRPr b="0" i="0" sz="1400" u="none" cap="none" strike="noStrike">
                <a:solidFill>
                  <a:srgbClr val="000000"/>
                </a:solidFill>
                <a:latin typeface="Arial"/>
                <a:ea typeface="Arial"/>
                <a:cs typeface="Arial"/>
                <a:sym typeface="Arial"/>
              </a:endParaRPr>
            </a:p>
          </p:txBody>
        </p:sp>
        <p:sp>
          <p:nvSpPr>
            <p:cNvPr id="67" name="Google Shape;67;p27"/>
            <p:cNvSpPr/>
            <p:nvPr/>
          </p:nvSpPr>
          <p:spPr>
            <a:xfrm>
              <a:off x="4252487" y="506974"/>
              <a:ext cx="314722" cy="314722"/>
            </a:xfrm>
            <a:prstGeom prst="triangle">
              <a:avLst>
                <a:gd fmla="val 100000" name="adj"/>
              </a:avLst>
            </a:prstGeom>
            <a:solidFill>
              <a:srgbClr val="8E7CC3"/>
            </a:solidFill>
            <a:ln cap="flat" cmpd="sng" w="9525">
              <a:solidFill>
                <a:srgbClr val="8E7CC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7"/>
            <p:cNvSpPr/>
            <p:nvPr/>
          </p:nvSpPr>
          <p:spPr>
            <a:xfrm rot="5400000">
              <a:off x="5053077" y="137704"/>
              <a:ext cx="1110354" cy="1847604"/>
            </a:xfrm>
            <a:prstGeom prst="corner">
              <a:avLst>
                <a:gd fmla="val 16120" name="adj1"/>
                <a:gd fmla="val 16110" name="adj2"/>
              </a:avLst>
            </a:prstGeom>
            <a:solidFill>
              <a:srgbClr val="40BEA6"/>
            </a:solidFill>
            <a:ln cap="flat" cmpd="sng" w="9525">
              <a:solidFill>
                <a:srgbClr val="40BEA6"/>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7"/>
            <p:cNvSpPr/>
            <p:nvPr/>
          </p:nvSpPr>
          <p:spPr>
            <a:xfrm>
              <a:off x="4941174" y="689740"/>
              <a:ext cx="1668027" cy="146212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7"/>
            <p:cNvSpPr txBox="1"/>
            <p:nvPr/>
          </p:nvSpPr>
          <p:spPr>
            <a:xfrm>
              <a:off x="4941174" y="689740"/>
              <a:ext cx="1668027" cy="1462124"/>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s-AR" sz="1900" u="none" cap="none" strike="noStrike">
                  <a:solidFill>
                    <a:srgbClr val="000000"/>
                  </a:solidFill>
                  <a:latin typeface="Arial"/>
                  <a:ea typeface="Arial"/>
                  <a:cs typeface="Arial"/>
                  <a:sym typeface="Arial"/>
                </a:rPr>
                <a:t>Evaluación</a:t>
              </a:r>
              <a:endParaRPr b="0" i="0" sz="1400" u="none" cap="none" strike="noStrike">
                <a:solidFill>
                  <a:srgbClr val="000000"/>
                </a:solidFill>
                <a:latin typeface="Arial"/>
                <a:ea typeface="Arial"/>
                <a:cs typeface="Arial"/>
                <a:sym typeface="Arial"/>
              </a:endParaRPr>
            </a:p>
          </p:txBody>
        </p:sp>
        <p:sp>
          <p:nvSpPr>
            <p:cNvPr id="71" name="Google Shape;71;p27"/>
            <p:cNvSpPr/>
            <p:nvPr/>
          </p:nvSpPr>
          <p:spPr>
            <a:xfrm>
              <a:off x="6294479" y="1681"/>
              <a:ext cx="314722" cy="314722"/>
            </a:xfrm>
            <a:prstGeom prst="triangle">
              <a:avLst>
                <a:gd fmla="val 100000" name="adj"/>
              </a:avLst>
            </a:prstGeom>
            <a:solidFill>
              <a:srgbClr val="8E7CC3"/>
            </a:solidFill>
            <a:ln cap="flat" cmpd="sng" w="9525">
              <a:solidFill>
                <a:srgbClr val="8E7CC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7"/>
            <p:cNvSpPr/>
            <p:nvPr/>
          </p:nvSpPr>
          <p:spPr>
            <a:xfrm rot="5400000">
              <a:off x="7168511" y="-367588"/>
              <a:ext cx="1110354" cy="1847604"/>
            </a:xfrm>
            <a:prstGeom prst="corner">
              <a:avLst>
                <a:gd fmla="val 16120" name="adj1"/>
                <a:gd fmla="val 16110" name="adj2"/>
              </a:avLst>
            </a:prstGeom>
            <a:solidFill>
              <a:srgbClr val="40BEA6"/>
            </a:solidFill>
            <a:ln cap="flat" cmpd="sng" w="9525">
              <a:solidFill>
                <a:srgbClr val="40BEA6"/>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7"/>
            <p:cNvSpPr/>
            <p:nvPr/>
          </p:nvSpPr>
          <p:spPr>
            <a:xfrm>
              <a:off x="6983166" y="184447"/>
              <a:ext cx="1668027" cy="146212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7"/>
            <p:cNvSpPr txBox="1"/>
            <p:nvPr/>
          </p:nvSpPr>
          <p:spPr>
            <a:xfrm>
              <a:off x="6983166" y="184447"/>
              <a:ext cx="1668027" cy="1462124"/>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s-AR" sz="1900" u="none" cap="none" strike="noStrike">
                  <a:solidFill>
                    <a:srgbClr val="000000"/>
                  </a:solidFill>
                  <a:latin typeface="Arial"/>
                  <a:ea typeface="Arial"/>
                  <a:cs typeface="Arial"/>
                  <a:sym typeface="Arial"/>
                </a:rPr>
                <a:t>Seguimiento</a:t>
              </a:r>
              <a:endParaRPr b="0" i="0" sz="1400" u="none" cap="none" strike="noStrike">
                <a:solidFill>
                  <a:srgbClr val="000000"/>
                </a:solidFill>
                <a:latin typeface="Arial"/>
                <a:ea typeface="Arial"/>
                <a:cs typeface="Arial"/>
                <a:sym typeface="Arial"/>
              </a:endParaRPr>
            </a:p>
          </p:txBody>
        </p:sp>
      </p:grpSp>
      <p:sp>
        <p:nvSpPr>
          <p:cNvPr id="75" name="Google Shape;75;p27"/>
          <p:cNvSpPr/>
          <p:nvPr/>
        </p:nvSpPr>
        <p:spPr>
          <a:xfrm rot="12274">
            <a:off x="418518" y="2591827"/>
            <a:ext cx="3444922" cy="1049107"/>
          </a:xfrm>
          <a:prstGeom prst="frame">
            <a:avLst>
              <a:gd fmla="val 12500" name="adj1"/>
            </a:avLst>
          </a:prstGeom>
          <a:solidFill>
            <a:srgbClr val="A4C2F4"/>
          </a:solidFill>
          <a:ln cap="flat" cmpd="sng" w="25400">
            <a:solidFill>
              <a:srgbClr val="9FC5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 name="Google Shape;76;p27"/>
          <p:cNvSpPr/>
          <p:nvPr/>
        </p:nvSpPr>
        <p:spPr>
          <a:xfrm rot="12415">
            <a:off x="394463" y="2800774"/>
            <a:ext cx="3489023" cy="6462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rgbClr val="000000"/>
                </a:solidFill>
                <a:latin typeface="Arial"/>
                <a:ea typeface="Arial"/>
                <a:cs typeface="Arial"/>
                <a:sym typeface="Arial"/>
              </a:rPr>
              <a:t>FASES DE PROGRAMA DE INDUCCIÓN</a:t>
            </a:r>
            <a:endParaRPr b="0" i="0" sz="1400" u="none" cap="none" strike="noStrike">
              <a:solidFill>
                <a:srgbClr val="000000"/>
              </a:solidFill>
              <a:latin typeface="Arial"/>
              <a:ea typeface="Arial"/>
              <a:cs typeface="Arial"/>
              <a:sym typeface="Arial"/>
            </a:endParaRPr>
          </a:p>
        </p:txBody>
      </p:sp>
      <p:sp>
        <p:nvSpPr>
          <p:cNvPr id="77" name="Google Shape;77;p27"/>
          <p:cNvSpPr txBox="1"/>
          <p:nvPr/>
        </p:nvSpPr>
        <p:spPr>
          <a:xfrm>
            <a:off x="1007700" y="1334525"/>
            <a:ext cx="83199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Arial"/>
              <a:buNone/>
            </a:pPr>
            <a:r>
              <a:rPr b="1" i="0" lang="es-AR" sz="1500" u="none" cap="none" strike="noStrike">
                <a:solidFill>
                  <a:schemeClr val="dk1"/>
                </a:solidFill>
                <a:latin typeface="Arial"/>
                <a:ea typeface="Arial"/>
                <a:cs typeface="Arial"/>
                <a:sym typeface="Arial"/>
              </a:rPr>
              <a:t>Proceso por medio del cual se proporcionará al nuevo empleado la información básica que le permita integrarse rápidamente al lugar de trabajo. Cada inducción se diseña acorde a las necesidades de cada organización y el alcance y estrategia de cada rol (contenido, duración, contactos con personas/áreas, etcétera).</a:t>
            </a:r>
            <a:endParaRPr b="0" i="0" sz="11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12e8a32532e_0_0"/>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500"/>
              <a:buFont typeface="Arial"/>
              <a:buNone/>
            </a:pPr>
            <a:r>
              <a:rPr b="1" i="0" lang="es-AR" sz="2000" u="none" cap="none" strike="noStrike">
                <a:solidFill>
                  <a:srgbClr val="932328"/>
                </a:solidFill>
                <a:latin typeface="Arial"/>
                <a:ea typeface="Arial"/>
                <a:cs typeface="Arial"/>
                <a:sym typeface="Arial"/>
              </a:rPr>
              <a:t>Relaciones Industriales </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800"/>
              <a:buFont typeface="Arial Narrow"/>
              <a:buNone/>
            </a:pPr>
            <a:r>
              <a:rPr b="1" i="0" lang="es-AR" sz="3200" u="none" cap="none" strike="noStrike">
                <a:solidFill>
                  <a:srgbClr val="932328"/>
                </a:solidFill>
                <a:latin typeface="Arial Narrow"/>
                <a:ea typeface="Arial Narrow"/>
                <a:cs typeface="Arial Narrow"/>
                <a:sym typeface="Arial Narrow"/>
              </a:rPr>
              <a:t>Inducción</a:t>
            </a:r>
            <a:endParaRPr b="0" i="0" sz="1400" u="none" cap="none" strike="noStrike">
              <a:solidFill>
                <a:srgbClr val="000000"/>
              </a:solidFill>
              <a:latin typeface="Arial"/>
              <a:ea typeface="Arial"/>
              <a:cs typeface="Arial"/>
              <a:sym typeface="Arial"/>
            </a:endParaRPr>
          </a:p>
        </p:txBody>
      </p:sp>
      <p:sp>
        <p:nvSpPr>
          <p:cNvPr id="83" name="Google Shape;83;g12e8a32532e_0_0"/>
          <p:cNvSpPr/>
          <p:nvPr/>
        </p:nvSpPr>
        <p:spPr>
          <a:xfrm>
            <a:off x="822960" y="5606534"/>
            <a:ext cx="184800" cy="369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 name="Google Shape;84;g12e8a32532e_0_0"/>
          <p:cNvSpPr/>
          <p:nvPr/>
        </p:nvSpPr>
        <p:spPr>
          <a:xfrm>
            <a:off x="880009" y="2164931"/>
            <a:ext cx="2517900" cy="967800"/>
          </a:xfrm>
          <a:prstGeom prst="ellipse">
            <a:avLst/>
          </a:prstGeom>
          <a:solidFill>
            <a:srgbClr val="B4A7D6"/>
          </a:solidFill>
          <a:ln cap="flat" cmpd="sng" w="25400">
            <a:solidFill>
              <a:srgbClr val="B4A7D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s-AR" sz="2000" u="none" cap="none" strike="noStrike">
                <a:solidFill>
                  <a:schemeClr val="dk1"/>
                </a:solidFill>
                <a:latin typeface="Arial"/>
                <a:ea typeface="Arial"/>
                <a:cs typeface="Arial"/>
                <a:sym typeface="Arial"/>
              </a:rPr>
              <a:t>PROGRAMA DE BUDDIES</a:t>
            </a:r>
            <a:endParaRPr b="0" i="0" sz="1400" u="none" cap="none" strike="noStrike">
              <a:solidFill>
                <a:srgbClr val="000000"/>
              </a:solidFill>
              <a:latin typeface="Arial"/>
              <a:ea typeface="Arial"/>
              <a:cs typeface="Arial"/>
              <a:sym typeface="Arial"/>
            </a:endParaRPr>
          </a:p>
        </p:txBody>
      </p:sp>
      <p:pic>
        <p:nvPicPr>
          <p:cNvPr id="85" name="Google Shape;85;g12e8a32532e_0_0"/>
          <p:cNvPicPr preferRelativeResize="0"/>
          <p:nvPr/>
        </p:nvPicPr>
        <p:blipFill rotWithShape="1">
          <a:blip r:embed="rId3">
            <a:alphaModFix/>
          </a:blip>
          <a:srcRect b="0" l="0" r="0" t="0"/>
          <a:stretch/>
        </p:blipFill>
        <p:spPr>
          <a:xfrm>
            <a:off x="765300" y="3542338"/>
            <a:ext cx="3011625" cy="1703725"/>
          </a:xfrm>
          <a:prstGeom prst="rect">
            <a:avLst/>
          </a:prstGeom>
          <a:noFill/>
          <a:ln>
            <a:noFill/>
          </a:ln>
        </p:spPr>
      </p:pic>
      <p:sp>
        <p:nvSpPr>
          <p:cNvPr id="86" name="Google Shape;86;g12e8a32532e_0_0"/>
          <p:cNvSpPr txBox="1"/>
          <p:nvPr/>
        </p:nvSpPr>
        <p:spPr>
          <a:xfrm>
            <a:off x="4341750" y="2044025"/>
            <a:ext cx="4916700" cy="3417000"/>
          </a:xfrm>
          <a:prstGeom prst="rect">
            <a:avLst/>
          </a:prstGeom>
          <a:noFill/>
          <a:ln cap="flat" cmpd="sng" w="76200">
            <a:solidFill>
              <a:srgbClr val="8E7CC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Arial"/>
              <a:buNone/>
            </a:pPr>
            <a:r>
              <a:rPr b="1" lang="es-AR" sz="1500">
                <a:solidFill>
                  <a:schemeClr val="dk1"/>
                </a:solidFill>
              </a:rPr>
              <a:t>Es un programa de acompañamiento a los nuevos ingresantes de una </a:t>
            </a:r>
            <a:r>
              <a:rPr b="1" lang="es-AR" sz="1500">
                <a:solidFill>
                  <a:schemeClr val="dk1"/>
                </a:solidFill>
              </a:rPr>
              <a:t>organización,</a:t>
            </a:r>
            <a:r>
              <a:rPr b="1" lang="es-AR" sz="1500">
                <a:solidFill>
                  <a:schemeClr val="dk1"/>
                </a:solidFill>
              </a:rPr>
              <a:t> en el que un compañero (o </a:t>
            </a:r>
            <a:r>
              <a:rPr b="1" i="1" lang="es-AR" sz="1500">
                <a:solidFill>
                  <a:schemeClr val="dk1"/>
                </a:solidFill>
              </a:rPr>
              <a:t>“buddy”</a:t>
            </a:r>
            <a:r>
              <a:rPr b="1" lang="es-AR" sz="1500">
                <a:solidFill>
                  <a:schemeClr val="dk1"/>
                </a:solidFill>
              </a:rPr>
              <a:t>) hace que el primer contacto de la persona con su nuevo trabajo sea más amigable.</a:t>
            </a:r>
            <a:endParaRPr b="1" sz="1500">
              <a:solidFill>
                <a:schemeClr val="dk1"/>
              </a:solidFill>
            </a:endParaRPr>
          </a:p>
          <a:p>
            <a:pPr indent="0" lvl="0" marL="0" marR="0" rtl="0" algn="l">
              <a:lnSpc>
                <a:spcPct val="100000"/>
              </a:lnSpc>
              <a:spcBef>
                <a:spcPts val="0"/>
              </a:spcBef>
              <a:spcAft>
                <a:spcPts val="0"/>
              </a:spcAft>
              <a:buClr>
                <a:schemeClr val="dk1"/>
              </a:buClr>
              <a:buSzPts val="1800"/>
              <a:buFont typeface="Arial"/>
              <a:buNone/>
            </a:pPr>
            <a:r>
              <a:t/>
            </a:r>
            <a:endParaRPr b="1" sz="1500">
              <a:solidFill>
                <a:schemeClr val="dk1"/>
              </a:solidFill>
            </a:endParaRPr>
          </a:p>
          <a:p>
            <a:pPr indent="0" lvl="0" marL="0" marR="0" rtl="0" algn="l">
              <a:lnSpc>
                <a:spcPct val="100000"/>
              </a:lnSpc>
              <a:spcBef>
                <a:spcPts val="0"/>
              </a:spcBef>
              <a:spcAft>
                <a:spcPts val="0"/>
              </a:spcAft>
              <a:buClr>
                <a:schemeClr val="dk1"/>
              </a:buClr>
              <a:buSzPts val="1800"/>
              <a:buFont typeface="Arial"/>
              <a:buNone/>
            </a:pPr>
            <a:r>
              <a:rPr b="1" lang="es-AR" sz="1500">
                <a:solidFill>
                  <a:schemeClr val="dk1"/>
                </a:solidFill>
              </a:rPr>
              <a:t>Es importante definir las responsabilidad del buddy.</a:t>
            </a:r>
            <a:endParaRPr b="1" sz="1500">
              <a:solidFill>
                <a:schemeClr val="dk1"/>
              </a:solidFill>
            </a:endParaRPr>
          </a:p>
          <a:p>
            <a:pPr indent="0" lvl="0" marL="0" marR="0" rtl="0" algn="l">
              <a:lnSpc>
                <a:spcPct val="100000"/>
              </a:lnSpc>
              <a:spcBef>
                <a:spcPts val="0"/>
              </a:spcBef>
              <a:spcAft>
                <a:spcPts val="0"/>
              </a:spcAft>
              <a:buClr>
                <a:schemeClr val="dk1"/>
              </a:buClr>
              <a:buSzPts val="1800"/>
              <a:buFont typeface="Arial"/>
              <a:buNone/>
            </a:pPr>
            <a:r>
              <a:rPr b="1" lang="es-AR" sz="1500">
                <a:solidFill>
                  <a:schemeClr val="dk1"/>
                </a:solidFill>
              </a:rPr>
              <a:t> </a:t>
            </a:r>
            <a:endParaRPr b="1" sz="1500">
              <a:solidFill>
                <a:schemeClr val="dk1"/>
              </a:solidFill>
            </a:endParaRPr>
          </a:p>
          <a:p>
            <a:pPr indent="0" lvl="0" marL="0" marR="0" rtl="0" algn="l">
              <a:lnSpc>
                <a:spcPct val="100000"/>
              </a:lnSpc>
              <a:spcBef>
                <a:spcPts val="0"/>
              </a:spcBef>
              <a:spcAft>
                <a:spcPts val="0"/>
              </a:spcAft>
              <a:buClr>
                <a:schemeClr val="dk1"/>
              </a:buClr>
              <a:buSzPts val="1800"/>
              <a:buFont typeface="Arial"/>
              <a:buNone/>
            </a:pPr>
            <a:r>
              <a:rPr b="1" lang="es-AR" sz="1500">
                <a:solidFill>
                  <a:schemeClr val="dk1"/>
                </a:solidFill>
              </a:rPr>
              <a:t>Las más comunes son:</a:t>
            </a:r>
            <a:endParaRPr b="1" sz="1500">
              <a:solidFill>
                <a:schemeClr val="dk1"/>
              </a:solidFill>
            </a:endParaRPr>
          </a:p>
          <a:p>
            <a:pPr indent="-323850" lvl="0" marL="457200" marR="0" rtl="0" algn="l">
              <a:lnSpc>
                <a:spcPct val="100000"/>
              </a:lnSpc>
              <a:spcBef>
                <a:spcPts val="0"/>
              </a:spcBef>
              <a:spcAft>
                <a:spcPts val="0"/>
              </a:spcAft>
              <a:buClr>
                <a:schemeClr val="dk1"/>
              </a:buClr>
              <a:buSzPts val="1500"/>
              <a:buChar char="-"/>
            </a:pPr>
            <a:r>
              <a:rPr b="1" lang="es-AR" sz="1500">
                <a:solidFill>
                  <a:schemeClr val="dk1"/>
                </a:solidFill>
              </a:rPr>
              <a:t>Responder a típicas preguntas de: quién es quién, cuáles son los contactos principales (RRHH, soporte técnico, etc.)</a:t>
            </a:r>
            <a:endParaRPr b="1" sz="1500">
              <a:solidFill>
                <a:schemeClr val="dk1"/>
              </a:solidFill>
            </a:endParaRPr>
          </a:p>
          <a:p>
            <a:pPr indent="-323850" lvl="0" marL="457200" marR="0" rtl="0" algn="l">
              <a:lnSpc>
                <a:spcPct val="100000"/>
              </a:lnSpc>
              <a:spcBef>
                <a:spcPts val="0"/>
              </a:spcBef>
              <a:spcAft>
                <a:spcPts val="0"/>
              </a:spcAft>
              <a:buClr>
                <a:schemeClr val="dk1"/>
              </a:buClr>
              <a:buSzPts val="1500"/>
              <a:buChar char="-"/>
            </a:pPr>
            <a:r>
              <a:rPr b="1" lang="es-AR" sz="1500">
                <a:solidFill>
                  <a:schemeClr val="dk1"/>
                </a:solidFill>
              </a:rPr>
              <a:t>Si el trabajo es presencial, muestra las instalaciones.</a:t>
            </a:r>
            <a:endParaRPr b="1" sz="1500">
              <a:solidFill>
                <a:schemeClr val="dk1"/>
              </a:solidFil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12a86bbd699_0_185"/>
          <p:cNvSpPr/>
          <p:nvPr/>
        </p:nvSpPr>
        <p:spPr>
          <a:xfrm>
            <a:off x="1467787" y="2862421"/>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Reclutamiento</a:t>
            </a:r>
            <a:endParaRPr b="0" i="0" sz="1400" u="none" cap="none" strike="noStrike">
              <a:solidFill>
                <a:srgbClr val="000000"/>
              </a:solidFill>
              <a:latin typeface="Arial"/>
              <a:ea typeface="Arial"/>
              <a:cs typeface="Arial"/>
              <a:sym typeface="Arial"/>
            </a:endParaRPr>
          </a:p>
        </p:txBody>
      </p:sp>
      <p:sp>
        <p:nvSpPr>
          <p:cNvPr id="92" name="Google Shape;92;g12a86bbd699_0_185">
            <a:hlinkClick/>
          </p:cNvPr>
          <p:cNvSpPr/>
          <p:nvPr/>
        </p:nvSpPr>
        <p:spPr>
          <a:xfrm>
            <a:off x="1253474" y="2862421"/>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93" name="Google Shape;93;g12a86bbd699_0_185"/>
          <p:cNvSpPr/>
          <p:nvPr/>
        </p:nvSpPr>
        <p:spPr>
          <a:xfrm>
            <a:off x="1467787" y="3505362"/>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Selección de Personal</a:t>
            </a:r>
            <a:endParaRPr b="0" i="0" sz="1400" u="none" cap="none" strike="noStrike">
              <a:solidFill>
                <a:srgbClr val="000000"/>
              </a:solidFill>
              <a:latin typeface="Arial"/>
              <a:ea typeface="Arial"/>
              <a:cs typeface="Arial"/>
              <a:sym typeface="Arial"/>
            </a:endParaRPr>
          </a:p>
        </p:txBody>
      </p:sp>
      <p:sp>
        <p:nvSpPr>
          <p:cNvPr id="94" name="Google Shape;94;g12a86bbd699_0_185">
            <a:hlinkClick r:id="rId3"/>
          </p:cNvPr>
          <p:cNvSpPr/>
          <p:nvPr/>
        </p:nvSpPr>
        <p:spPr>
          <a:xfrm>
            <a:off x="1253474" y="350536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95" name="Google Shape;95;g12a86bbd699_0_185"/>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500"/>
              <a:buFont typeface="Arial"/>
              <a:buNone/>
            </a:pPr>
            <a:r>
              <a:rPr b="1" i="0" lang="es-AR" sz="2000"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800"/>
              <a:buFont typeface="Arial Narrow"/>
              <a:buNone/>
            </a:pPr>
            <a:r>
              <a:rPr b="1" i="0" lang="es-AR" sz="3200" u="none" cap="none" strike="noStrike">
                <a:solidFill>
                  <a:srgbClr val="932328"/>
                </a:solidFill>
                <a:latin typeface="Arial Narrow"/>
                <a:ea typeface="Arial Narrow"/>
                <a:cs typeface="Arial Narrow"/>
                <a:sym typeface="Arial Narrow"/>
              </a:rPr>
              <a:t>Agenda</a:t>
            </a:r>
            <a:endParaRPr b="1" i="0" sz="2800" u="none" cap="none" strike="noStrike">
              <a:solidFill>
                <a:srgbClr val="932328"/>
              </a:solidFill>
              <a:latin typeface="Arial Narrow"/>
              <a:ea typeface="Arial Narrow"/>
              <a:cs typeface="Arial Narrow"/>
              <a:sym typeface="Arial Narrow"/>
            </a:endParaRPr>
          </a:p>
        </p:txBody>
      </p:sp>
      <p:sp>
        <p:nvSpPr>
          <p:cNvPr id="96" name="Google Shape;96;g12a86bbd699_0_185"/>
          <p:cNvSpPr/>
          <p:nvPr/>
        </p:nvSpPr>
        <p:spPr>
          <a:xfrm>
            <a:off x="1467787" y="2219478"/>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Planeación de Personal</a:t>
            </a:r>
            <a:endParaRPr b="0" i="0" sz="1400" u="none" cap="none" strike="noStrike">
              <a:solidFill>
                <a:srgbClr val="000000"/>
              </a:solidFill>
              <a:latin typeface="Arial"/>
              <a:ea typeface="Arial"/>
              <a:cs typeface="Arial"/>
              <a:sym typeface="Arial"/>
            </a:endParaRPr>
          </a:p>
        </p:txBody>
      </p:sp>
      <p:sp>
        <p:nvSpPr>
          <p:cNvPr id="97" name="Google Shape;97;g12a86bbd699_0_185"/>
          <p:cNvSpPr/>
          <p:nvPr/>
        </p:nvSpPr>
        <p:spPr>
          <a:xfrm>
            <a:off x="1253474" y="2219478"/>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98" name="Google Shape;98;g12a86bbd699_0_185"/>
          <p:cNvSpPr/>
          <p:nvPr/>
        </p:nvSpPr>
        <p:spPr>
          <a:xfrm>
            <a:off x="1452537" y="1647812"/>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Presentación y enfoque</a:t>
            </a:r>
            <a:endParaRPr b="0" i="0" sz="1400" u="none" cap="none" strike="noStrike">
              <a:solidFill>
                <a:srgbClr val="000000"/>
              </a:solidFill>
              <a:latin typeface="Arial"/>
              <a:ea typeface="Arial"/>
              <a:cs typeface="Arial"/>
              <a:sym typeface="Arial"/>
            </a:endParaRPr>
          </a:p>
        </p:txBody>
      </p:sp>
      <p:sp>
        <p:nvSpPr>
          <p:cNvPr id="99" name="Google Shape;99;g12a86bbd699_0_185"/>
          <p:cNvSpPr/>
          <p:nvPr/>
        </p:nvSpPr>
        <p:spPr>
          <a:xfrm>
            <a:off x="1238224" y="164781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pic>
        <p:nvPicPr>
          <p:cNvPr descr="Resultado de imagen para utn regional buenos aires ingenieria industrial" id="100" name="Google Shape;100;g12a86bbd699_0_185"/>
          <p:cNvPicPr preferRelativeResize="0"/>
          <p:nvPr/>
        </p:nvPicPr>
        <p:blipFill rotWithShape="1">
          <a:blip r:embed="rId4">
            <a:alphaModFix/>
          </a:blip>
          <a:srcRect b="0" l="0" r="0" t="0"/>
          <a:stretch/>
        </p:blipFill>
        <p:spPr>
          <a:xfrm>
            <a:off x="7060820" y="7937"/>
            <a:ext cx="2857500" cy="1095376"/>
          </a:xfrm>
          <a:prstGeom prst="rect">
            <a:avLst/>
          </a:prstGeom>
          <a:noFill/>
          <a:ln>
            <a:noFill/>
          </a:ln>
        </p:spPr>
      </p:pic>
      <p:sp>
        <p:nvSpPr>
          <p:cNvPr id="101" name="Google Shape;101;g12a86bbd699_0_185"/>
          <p:cNvSpPr/>
          <p:nvPr/>
        </p:nvSpPr>
        <p:spPr>
          <a:xfrm>
            <a:off x="1452547" y="4130202"/>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Inducción</a:t>
            </a:r>
            <a:endParaRPr b="0" i="0" sz="1400" u="none" cap="none" strike="noStrike">
              <a:solidFill>
                <a:srgbClr val="000000"/>
              </a:solidFill>
              <a:latin typeface="Arial"/>
              <a:ea typeface="Arial"/>
              <a:cs typeface="Arial"/>
              <a:sym typeface="Arial"/>
            </a:endParaRPr>
          </a:p>
        </p:txBody>
      </p:sp>
      <p:sp>
        <p:nvSpPr>
          <p:cNvPr id="102" name="Google Shape;102;g12a86bbd699_0_185">
            <a:hlinkClick r:id="rId5"/>
          </p:cNvPr>
          <p:cNvSpPr/>
          <p:nvPr/>
        </p:nvSpPr>
        <p:spPr>
          <a:xfrm>
            <a:off x="1238234" y="413020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103" name="Google Shape;103;g12a86bbd699_0_185"/>
          <p:cNvSpPr/>
          <p:nvPr/>
        </p:nvSpPr>
        <p:spPr>
          <a:xfrm>
            <a:off x="445531" y="4808862"/>
            <a:ext cx="642900" cy="357300"/>
          </a:xfrm>
          <a:prstGeom prst="rightArrow">
            <a:avLst>
              <a:gd fmla="val 50000" name="adj1"/>
              <a:gd fmla="val 50000" name="adj2"/>
            </a:avLst>
          </a:prstGeom>
          <a:solidFill>
            <a:schemeClr val="accent1"/>
          </a:solidFill>
          <a:ln cap="flat" cmpd="sng" w="25400">
            <a:solidFill>
              <a:srgbClr val="BA89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 name="Google Shape;104;g12a86bbd699_0_185"/>
          <p:cNvSpPr/>
          <p:nvPr/>
        </p:nvSpPr>
        <p:spPr>
          <a:xfrm>
            <a:off x="1452547" y="4773143"/>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Marca Empleadora</a:t>
            </a:r>
            <a:endParaRPr b="0" i="0" sz="1400" u="none" cap="none" strike="noStrike">
              <a:solidFill>
                <a:srgbClr val="000000"/>
              </a:solidFill>
              <a:latin typeface="Arial"/>
              <a:ea typeface="Arial"/>
              <a:cs typeface="Arial"/>
              <a:sym typeface="Arial"/>
            </a:endParaRPr>
          </a:p>
        </p:txBody>
      </p:sp>
      <p:sp>
        <p:nvSpPr>
          <p:cNvPr id="105" name="Google Shape;105;g12a86bbd699_0_185">
            <a:hlinkClick r:id="rId6"/>
          </p:cNvPr>
          <p:cNvSpPr/>
          <p:nvPr/>
        </p:nvSpPr>
        <p:spPr>
          <a:xfrm>
            <a:off x="1253474" y="475504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106" name="Google Shape;106;g12a86bbd699_0_185"/>
          <p:cNvSpPr/>
          <p:nvPr/>
        </p:nvSpPr>
        <p:spPr>
          <a:xfrm>
            <a:off x="1452547" y="5478118"/>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Tipos de Contratos</a:t>
            </a:r>
            <a:endParaRPr b="0" i="0" sz="1400" u="none" cap="none" strike="noStrike">
              <a:solidFill>
                <a:srgbClr val="000000"/>
              </a:solidFill>
              <a:latin typeface="Arial"/>
              <a:ea typeface="Arial"/>
              <a:cs typeface="Arial"/>
              <a:sym typeface="Arial"/>
            </a:endParaRPr>
          </a:p>
        </p:txBody>
      </p:sp>
      <p:sp>
        <p:nvSpPr>
          <p:cNvPr id="107" name="Google Shape;107;g12a86bbd699_0_185">
            <a:hlinkClick r:id="rId7"/>
          </p:cNvPr>
          <p:cNvSpPr/>
          <p:nvPr/>
        </p:nvSpPr>
        <p:spPr>
          <a:xfrm>
            <a:off x="1253474" y="5460017"/>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29"/>
          <p:cNvSpPr txBox="1"/>
          <p:nvPr/>
        </p:nvSpPr>
        <p:spPr>
          <a:xfrm>
            <a:off x="0" y="0"/>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500"/>
              <a:buFont typeface="Arial"/>
              <a:buNone/>
            </a:pPr>
            <a:r>
              <a:rPr b="1" i="0" lang="es-AR" sz="2000" u="none" cap="none" strike="noStrike">
                <a:solidFill>
                  <a:srgbClr val="932328"/>
                </a:solidFill>
                <a:latin typeface="Arial"/>
                <a:ea typeface="Arial"/>
                <a:cs typeface="Arial"/>
                <a:sym typeface="Arial"/>
              </a:rPr>
              <a:t>Relaciones Industriales </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800"/>
              <a:buFont typeface="Arial Narrow"/>
              <a:buNone/>
            </a:pPr>
            <a:r>
              <a:rPr b="1" i="0" lang="es-AR" sz="3200" u="none" cap="none" strike="noStrike">
                <a:solidFill>
                  <a:srgbClr val="932328"/>
                </a:solidFill>
                <a:latin typeface="Arial Narrow"/>
                <a:ea typeface="Arial Narrow"/>
                <a:cs typeface="Arial Narrow"/>
                <a:sym typeface="Arial Narrow"/>
              </a:rPr>
              <a:t>Marca empleadora</a:t>
            </a:r>
            <a:endParaRPr b="0" i="0" sz="1400" u="none" cap="none" strike="noStrike">
              <a:solidFill>
                <a:srgbClr val="000000"/>
              </a:solidFill>
              <a:latin typeface="Arial"/>
              <a:ea typeface="Arial"/>
              <a:cs typeface="Arial"/>
              <a:sym typeface="Arial"/>
            </a:endParaRPr>
          </a:p>
        </p:txBody>
      </p:sp>
      <p:sp>
        <p:nvSpPr>
          <p:cNvPr descr="Image result for logo great place to work" id="113" name="Google Shape;113;p2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9"/>
          <p:cNvSpPr/>
          <p:nvPr/>
        </p:nvSpPr>
        <p:spPr>
          <a:xfrm>
            <a:off x="746760" y="1332463"/>
            <a:ext cx="8833338" cy="598588"/>
          </a:xfrm>
          <a:prstGeom prst="rect">
            <a:avLst/>
          </a:prstGeom>
          <a:solidFill>
            <a:srgbClr val="9FC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600"/>
              <a:buFont typeface="Arial"/>
              <a:buNone/>
            </a:pPr>
            <a:r>
              <a:rPr b="1" i="0" lang="es-AR" sz="1600" u="none" cap="none" strike="noStrike">
                <a:solidFill>
                  <a:srgbClr val="212121"/>
                </a:solidFill>
                <a:latin typeface="Arial"/>
                <a:ea typeface="Arial"/>
                <a:cs typeface="Arial"/>
                <a:sym typeface="Arial"/>
              </a:rPr>
              <a:t>Describe la imagen de un empleador desde la perspectiva de cómo es como lugar para trabajar, y su propuesta de valor para el empleado. </a:t>
            </a:r>
            <a:endParaRPr b="0" i="0" sz="1400" u="none" cap="none" strike="noStrike">
              <a:solidFill>
                <a:srgbClr val="000000"/>
              </a:solidFill>
              <a:latin typeface="Arial"/>
              <a:ea typeface="Arial"/>
              <a:cs typeface="Arial"/>
              <a:sym typeface="Arial"/>
            </a:endParaRPr>
          </a:p>
        </p:txBody>
      </p:sp>
      <p:grpSp>
        <p:nvGrpSpPr>
          <p:cNvPr id="115" name="Google Shape;115;p29"/>
          <p:cNvGrpSpPr/>
          <p:nvPr/>
        </p:nvGrpSpPr>
        <p:grpSpPr>
          <a:xfrm>
            <a:off x="726164" y="2024599"/>
            <a:ext cx="3577487" cy="4106804"/>
            <a:chOff x="414393" y="763"/>
            <a:chExt cx="3927851" cy="4366618"/>
          </a:xfrm>
        </p:grpSpPr>
        <p:sp>
          <p:nvSpPr>
            <p:cNvPr id="116" name="Google Shape;116;p29"/>
            <p:cNvSpPr/>
            <p:nvPr/>
          </p:nvSpPr>
          <p:spPr>
            <a:xfrm>
              <a:off x="1832513" y="763"/>
              <a:ext cx="1091611" cy="1091611"/>
            </a:xfrm>
            <a:prstGeom prst="ellipse">
              <a:avLst/>
            </a:prstGeom>
            <a:gradFill>
              <a:gsLst>
                <a:gs pos="0">
                  <a:srgbClr val="969300"/>
                </a:gs>
                <a:gs pos="100000">
                  <a:srgbClr val="FFFB45"/>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9"/>
            <p:cNvSpPr txBox="1"/>
            <p:nvPr/>
          </p:nvSpPr>
          <p:spPr>
            <a:xfrm>
              <a:off x="1992376" y="160626"/>
              <a:ext cx="771885" cy="77188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dk1"/>
                </a:buClr>
                <a:buSzPts val="1200"/>
                <a:buFont typeface="Arial"/>
                <a:buNone/>
              </a:pPr>
              <a:r>
                <a:rPr b="1" i="0" lang="es-AR" sz="1200" u="none" cap="none" strike="noStrike">
                  <a:solidFill>
                    <a:schemeClr val="dk1"/>
                  </a:solidFill>
                  <a:latin typeface="Arial"/>
                  <a:ea typeface="Arial"/>
                  <a:cs typeface="Arial"/>
                  <a:sym typeface="Arial"/>
                </a:rPr>
                <a:t>Valores</a:t>
              </a:r>
              <a:endParaRPr b="0" i="0" sz="1400" u="none" cap="none" strike="noStrike">
                <a:solidFill>
                  <a:srgbClr val="000000"/>
                </a:solidFill>
                <a:latin typeface="Arial"/>
                <a:ea typeface="Arial"/>
                <a:cs typeface="Arial"/>
                <a:sym typeface="Arial"/>
              </a:endParaRPr>
            </a:p>
          </p:txBody>
        </p:sp>
        <p:sp>
          <p:nvSpPr>
            <p:cNvPr id="118" name="Google Shape;118;p29"/>
            <p:cNvSpPr/>
            <p:nvPr/>
          </p:nvSpPr>
          <p:spPr>
            <a:xfrm rot="1800000">
              <a:off x="2935626" y="767641"/>
              <a:ext cx="289322" cy="368418"/>
            </a:xfrm>
            <a:prstGeom prst="rightArrow">
              <a:avLst>
                <a:gd fmla="val 60000" name="adj1"/>
                <a:gd fmla="val 50000" name="adj2"/>
              </a:avLst>
            </a:prstGeom>
            <a:gradFill>
              <a:gsLst>
                <a:gs pos="0">
                  <a:srgbClr val="969300"/>
                </a:gs>
                <a:gs pos="100000">
                  <a:srgbClr val="969300"/>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9"/>
            <p:cNvSpPr txBox="1"/>
            <p:nvPr/>
          </p:nvSpPr>
          <p:spPr>
            <a:xfrm rot="1800000">
              <a:off x="2941440" y="819626"/>
              <a:ext cx="202525" cy="22105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120" name="Google Shape;120;p29"/>
            <p:cNvSpPr/>
            <p:nvPr/>
          </p:nvSpPr>
          <p:spPr>
            <a:xfrm>
              <a:off x="3250633" y="819515"/>
              <a:ext cx="1091611" cy="1091611"/>
            </a:xfrm>
            <a:prstGeom prst="ellipse">
              <a:avLst/>
            </a:prstGeom>
            <a:gradFill>
              <a:gsLst>
                <a:gs pos="0">
                  <a:srgbClr val="969300"/>
                </a:gs>
                <a:gs pos="100000">
                  <a:srgbClr val="FFFB45"/>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9"/>
            <p:cNvSpPr txBox="1"/>
            <p:nvPr/>
          </p:nvSpPr>
          <p:spPr>
            <a:xfrm>
              <a:off x="3410496" y="979378"/>
              <a:ext cx="771885" cy="77188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rgbClr val="000000"/>
                </a:buClr>
                <a:buSzPts val="1200"/>
                <a:buFont typeface="Arial"/>
                <a:buNone/>
              </a:pPr>
              <a:r>
                <a:rPr b="1" i="0" lang="es-AR" sz="1200" u="none" cap="none" strike="noStrike">
                  <a:solidFill>
                    <a:srgbClr val="000000"/>
                  </a:solidFill>
                  <a:latin typeface="Arial"/>
                  <a:ea typeface="Arial"/>
                  <a:cs typeface="Arial"/>
                  <a:sym typeface="Arial"/>
                </a:rPr>
                <a:t>Visión</a:t>
              </a:r>
              <a:endParaRPr b="1" i="0" sz="1200" u="none" cap="none" strike="noStrike">
                <a:solidFill>
                  <a:srgbClr val="000000"/>
                </a:solidFill>
                <a:latin typeface="Arial"/>
                <a:ea typeface="Arial"/>
                <a:cs typeface="Arial"/>
                <a:sym typeface="Arial"/>
              </a:endParaRPr>
            </a:p>
          </p:txBody>
        </p:sp>
        <p:sp>
          <p:nvSpPr>
            <p:cNvPr id="122" name="Google Shape;122;p29"/>
            <p:cNvSpPr/>
            <p:nvPr/>
          </p:nvSpPr>
          <p:spPr>
            <a:xfrm rot="5400000">
              <a:off x="3651777" y="1991675"/>
              <a:ext cx="289322" cy="368418"/>
            </a:xfrm>
            <a:prstGeom prst="rightArrow">
              <a:avLst>
                <a:gd fmla="val 60000" name="adj1"/>
                <a:gd fmla="val 50000" name="adj2"/>
              </a:avLst>
            </a:prstGeom>
            <a:gradFill>
              <a:gsLst>
                <a:gs pos="0">
                  <a:srgbClr val="969300"/>
                </a:gs>
                <a:gs pos="100000">
                  <a:srgbClr val="969300"/>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9"/>
            <p:cNvSpPr txBox="1"/>
            <p:nvPr/>
          </p:nvSpPr>
          <p:spPr>
            <a:xfrm rot="5400000">
              <a:off x="3695176" y="2021961"/>
              <a:ext cx="202525" cy="22105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24" name="Google Shape;124;p29"/>
            <p:cNvSpPr/>
            <p:nvPr/>
          </p:nvSpPr>
          <p:spPr>
            <a:xfrm>
              <a:off x="3250633" y="2457019"/>
              <a:ext cx="1091611" cy="1091611"/>
            </a:xfrm>
            <a:prstGeom prst="ellipse">
              <a:avLst/>
            </a:prstGeom>
            <a:gradFill>
              <a:gsLst>
                <a:gs pos="0">
                  <a:srgbClr val="969300"/>
                </a:gs>
                <a:gs pos="100000">
                  <a:srgbClr val="FFFB45"/>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9"/>
            <p:cNvSpPr txBox="1"/>
            <p:nvPr/>
          </p:nvSpPr>
          <p:spPr>
            <a:xfrm>
              <a:off x="3410496" y="2616882"/>
              <a:ext cx="771885" cy="77188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rgbClr val="000000"/>
                </a:buClr>
                <a:buSzPts val="1200"/>
                <a:buFont typeface="Arial"/>
                <a:buNone/>
              </a:pPr>
              <a:r>
                <a:rPr b="1" i="0" lang="es-AR" sz="1200" u="none" cap="none" strike="noStrike">
                  <a:solidFill>
                    <a:srgbClr val="000000"/>
                  </a:solidFill>
                  <a:latin typeface="Arial"/>
                  <a:ea typeface="Arial"/>
                  <a:cs typeface="Arial"/>
                  <a:sym typeface="Arial"/>
                </a:rPr>
                <a:t>Marca</a:t>
              </a:r>
              <a:endParaRPr b="1" i="0" sz="1200" u="none" cap="none" strike="noStrike">
                <a:solidFill>
                  <a:srgbClr val="000000"/>
                </a:solidFill>
                <a:latin typeface="Arial"/>
                <a:ea typeface="Arial"/>
                <a:cs typeface="Arial"/>
                <a:sym typeface="Arial"/>
              </a:endParaRPr>
            </a:p>
          </p:txBody>
        </p:sp>
        <p:sp>
          <p:nvSpPr>
            <p:cNvPr id="126" name="Google Shape;126;p29"/>
            <p:cNvSpPr/>
            <p:nvPr/>
          </p:nvSpPr>
          <p:spPr>
            <a:xfrm rot="9000000">
              <a:off x="2949808" y="3223897"/>
              <a:ext cx="289322" cy="368418"/>
            </a:xfrm>
            <a:prstGeom prst="rightArrow">
              <a:avLst>
                <a:gd fmla="val 60000" name="adj1"/>
                <a:gd fmla="val 50000" name="adj2"/>
              </a:avLst>
            </a:prstGeom>
            <a:gradFill>
              <a:gsLst>
                <a:gs pos="0">
                  <a:srgbClr val="969300"/>
                </a:gs>
                <a:gs pos="100000">
                  <a:srgbClr val="969300"/>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9"/>
            <p:cNvSpPr txBox="1"/>
            <p:nvPr/>
          </p:nvSpPr>
          <p:spPr>
            <a:xfrm rot="-1800000">
              <a:off x="3030791" y="3275882"/>
              <a:ext cx="202525" cy="22105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28" name="Google Shape;128;p29"/>
            <p:cNvSpPr/>
            <p:nvPr/>
          </p:nvSpPr>
          <p:spPr>
            <a:xfrm>
              <a:off x="1832513" y="3275770"/>
              <a:ext cx="1091611" cy="1091611"/>
            </a:xfrm>
            <a:prstGeom prst="ellipse">
              <a:avLst/>
            </a:prstGeom>
            <a:gradFill>
              <a:gsLst>
                <a:gs pos="0">
                  <a:srgbClr val="969300"/>
                </a:gs>
                <a:gs pos="100000">
                  <a:srgbClr val="FFFB45"/>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9"/>
            <p:cNvSpPr txBox="1"/>
            <p:nvPr/>
          </p:nvSpPr>
          <p:spPr>
            <a:xfrm>
              <a:off x="1992376" y="3435633"/>
              <a:ext cx="771885" cy="77188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rgbClr val="000000"/>
                </a:buClr>
                <a:buSzPts val="1200"/>
                <a:buFont typeface="Arial"/>
                <a:buNone/>
              </a:pPr>
              <a:r>
                <a:rPr b="1" i="0" lang="es-AR" sz="1200" u="none" cap="none" strike="noStrike">
                  <a:solidFill>
                    <a:srgbClr val="000000"/>
                  </a:solidFill>
                  <a:latin typeface="Arial"/>
                  <a:ea typeface="Arial"/>
                  <a:cs typeface="Arial"/>
                  <a:sym typeface="Arial"/>
                </a:rPr>
                <a:t>Producto</a:t>
              </a:r>
              <a:endParaRPr b="1" i="0" sz="1200" u="none" cap="none" strike="noStrike">
                <a:solidFill>
                  <a:srgbClr val="000000"/>
                </a:solidFill>
                <a:latin typeface="Arial"/>
                <a:ea typeface="Arial"/>
                <a:cs typeface="Arial"/>
                <a:sym typeface="Arial"/>
              </a:endParaRPr>
            </a:p>
          </p:txBody>
        </p:sp>
        <p:sp>
          <p:nvSpPr>
            <p:cNvPr id="130" name="Google Shape;130;p29"/>
            <p:cNvSpPr/>
            <p:nvPr/>
          </p:nvSpPr>
          <p:spPr>
            <a:xfrm rot="-9000000">
              <a:off x="1531689" y="3232085"/>
              <a:ext cx="289322" cy="368418"/>
            </a:xfrm>
            <a:prstGeom prst="rightArrow">
              <a:avLst>
                <a:gd fmla="val 60000" name="adj1"/>
                <a:gd fmla="val 50000" name="adj2"/>
              </a:avLst>
            </a:prstGeom>
            <a:gradFill>
              <a:gsLst>
                <a:gs pos="0">
                  <a:srgbClr val="969300"/>
                </a:gs>
                <a:gs pos="100000">
                  <a:srgbClr val="969300"/>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9"/>
            <p:cNvSpPr txBox="1"/>
            <p:nvPr/>
          </p:nvSpPr>
          <p:spPr>
            <a:xfrm rot="1800000">
              <a:off x="1612672" y="3327468"/>
              <a:ext cx="202525" cy="22105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32" name="Google Shape;132;p29"/>
            <p:cNvSpPr/>
            <p:nvPr/>
          </p:nvSpPr>
          <p:spPr>
            <a:xfrm>
              <a:off x="414393" y="2457019"/>
              <a:ext cx="1091611" cy="1091611"/>
            </a:xfrm>
            <a:prstGeom prst="ellipse">
              <a:avLst/>
            </a:prstGeom>
            <a:gradFill>
              <a:gsLst>
                <a:gs pos="0">
                  <a:srgbClr val="969300"/>
                </a:gs>
                <a:gs pos="100000">
                  <a:srgbClr val="FFFB45"/>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9"/>
            <p:cNvSpPr txBox="1"/>
            <p:nvPr/>
          </p:nvSpPr>
          <p:spPr>
            <a:xfrm>
              <a:off x="520658" y="2616872"/>
              <a:ext cx="909000" cy="771900"/>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rgbClr val="000000"/>
                </a:buClr>
                <a:buSzPts val="1200"/>
                <a:buFont typeface="Arial"/>
                <a:buNone/>
              </a:pPr>
              <a:r>
                <a:rPr b="1" i="0" lang="es-AR" sz="1200" u="none" cap="none" strike="noStrike">
                  <a:solidFill>
                    <a:srgbClr val="000000"/>
                  </a:solidFill>
                  <a:latin typeface="Arial"/>
                  <a:ea typeface="Arial"/>
                  <a:cs typeface="Arial"/>
                  <a:sym typeface="Arial"/>
                </a:rPr>
                <a:t>Propósito</a:t>
              </a:r>
              <a:endParaRPr b="1" i="0" sz="1200" u="none" cap="none" strike="noStrike">
                <a:solidFill>
                  <a:srgbClr val="000000"/>
                </a:solidFill>
                <a:latin typeface="Arial"/>
                <a:ea typeface="Arial"/>
                <a:cs typeface="Arial"/>
                <a:sym typeface="Arial"/>
              </a:endParaRPr>
            </a:p>
          </p:txBody>
        </p:sp>
        <p:sp>
          <p:nvSpPr>
            <p:cNvPr id="134" name="Google Shape;134;p29"/>
            <p:cNvSpPr/>
            <p:nvPr/>
          </p:nvSpPr>
          <p:spPr>
            <a:xfrm rot="-5400000">
              <a:off x="815537" y="2008051"/>
              <a:ext cx="289322" cy="368418"/>
            </a:xfrm>
            <a:prstGeom prst="rightArrow">
              <a:avLst>
                <a:gd fmla="val 60000" name="adj1"/>
                <a:gd fmla="val 50000" name="adj2"/>
              </a:avLst>
            </a:prstGeom>
            <a:gradFill>
              <a:gsLst>
                <a:gs pos="0">
                  <a:srgbClr val="969300"/>
                </a:gs>
                <a:gs pos="100000">
                  <a:srgbClr val="969300"/>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9"/>
            <p:cNvSpPr txBox="1"/>
            <p:nvPr/>
          </p:nvSpPr>
          <p:spPr>
            <a:xfrm rot="-5400000">
              <a:off x="858936" y="2125134"/>
              <a:ext cx="202525" cy="22105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36" name="Google Shape;136;p29"/>
            <p:cNvSpPr/>
            <p:nvPr/>
          </p:nvSpPr>
          <p:spPr>
            <a:xfrm>
              <a:off x="414393" y="819515"/>
              <a:ext cx="1091611" cy="1091611"/>
            </a:xfrm>
            <a:prstGeom prst="ellipse">
              <a:avLst/>
            </a:prstGeom>
            <a:gradFill>
              <a:gsLst>
                <a:gs pos="0">
                  <a:srgbClr val="969300"/>
                </a:gs>
                <a:gs pos="100000">
                  <a:srgbClr val="FFFB45"/>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9"/>
            <p:cNvSpPr txBox="1"/>
            <p:nvPr/>
          </p:nvSpPr>
          <p:spPr>
            <a:xfrm>
              <a:off x="574256" y="979378"/>
              <a:ext cx="771885" cy="77188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rgbClr val="000000"/>
                </a:buClr>
                <a:buSzPts val="1200"/>
                <a:buFont typeface="Arial"/>
                <a:buNone/>
              </a:pPr>
              <a:r>
                <a:rPr b="1" i="0" lang="es-AR" sz="1200" u="none" cap="none" strike="noStrike">
                  <a:solidFill>
                    <a:srgbClr val="000000"/>
                  </a:solidFill>
                  <a:latin typeface="Arial"/>
                  <a:ea typeface="Arial"/>
                  <a:cs typeface="Arial"/>
                  <a:sym typeface="Arial"/>
                </a:rPr>
                <a:t>Líderes</a:t>
              </a:r>
              <a:endParaRPr b="1" i="0" sz="1200" u="none" cap="none" strike="noStrike">
                <a:solidFill>
                  <a:srgbClr val="000000"/>
                </a:solidFill>
                <a:latin typeface="Arial"/>
                <a:ea typeface="Arial"/>
                <a:cs typeface="Arial"/>
                <a:sym typeface="Arial"/>
              </a:endParaRPr>
            </a:p>
          </p:txBody>
        </p:sp>
        <p:sp>
          <p:nvSpPr>
            <p:cNvPr id="138" name="Google Shape;138;p29"/>
            <p:cNvSpPr/>
            <p:nvPr/>
          </p:nvSpPr>
          <p:spPr>
            <a:xfrm rot="-1800000">
              <a:off x="1517506" y="775830"/>
              <a:ext cx="289322" cy="368418"/>
            </a:xfrm>
            <a:prstGeom prst="rightArrow">
              <a:avLst>
                <a:gd fmla="val 60000" name="adj1"/>
                <a:gd fmla="val 50000" name="adj2"/>
              </a:avLst>
            </a:prstGeom>
            <a:gradFill>
              <a:gsLst>
                <a:gs pos="0">
                  <a:srgbClr val="969300"/>
                </a:gs>
                <a:gs pos="100000">
                  <a:srgbClr val="969300"/>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9"/>
            <p:cNvSpPr txBox="1"/>
            <p:nvPr/>
          </p:nvSpPr>
          <p:spPr>
            <a:xfrm rot="-1800000">
              <a:off x="1523320" y="871213"/>
              <a:ext cx="202525" cy="22105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sp>
        <p:nvSpPr>
          <p:cNvPr id="140" name="Google Shape;140;p29"/>
          <p:cNvSpPr txBox="1"/>
          <p:nvPr/>
        </p:nvSpPr>
        <p:spPr>
          <a:xfrm>
            <a:off x="5256171" y="3733266"/>
            <a:ext cx="18429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rgbClr val="000000"/>
                </a:solidFill>
                <a:latin typeface="Arial"/>
                <a:ea typeface="Arial"/>
                <a:cs typeface="Arial"/>
                <a:sym typeface="Arial"/>
              </a:rPr>
              <a:t>MARCA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rgbClr val="000000"/>
                </a:solidFill>
                <a:latin typeface="Arial"/>
                <a:ea typeface="Arial"/>
                <a:cs typeface="Arial"/>
                <a:sym typeface="Arial"/>
              </a:rPr>
              <a:t>EMPLEADORA</a:t>
            </a:r>
            <a:endParaRPr b="0" i="0" sz="1400" u="none" cap="none" strike="noStrike">
              <a:solidFill>
                <a:srgbClr val="000000"/>
              </a:solidFill>
              <a:latin typeface="Arial"/>
              <a:ea typeface="Arial"/>
              <a:cs typeface="Arial"/>
              <a:sym typeface="Arial"/>
            </a:endParaRPr>
          </a:p>
        </p:txBody>
      </p:sp>
      <p:grpSp>
        <p:nvGrpSpPr>
          <p:cNvPr id="141" name="Google Shape;141;p29"/>
          <p:cNvGrpSpPr/>
          <p:nvPr/>
        </p:nvGrpSpPr>
        <p:grpSpPr>
          <a:xfrm>
            <a:off x="8115833" y="2329409"/>
            <a:ext cx="1099591" cy="1099591"/>
            <a:chOff x="4182032" y="826025"/>
            <a:chExt cx="1099591" cy="1099591"/>
          </a:xfrm>
        </p:grpSpPr>
        <p:sp>
          <p:nvSpPr>
            <p:cNvPr id="142" name="Google Shape;142;p29"/>
            <p:cNvSpPr/>
            <p:nvPr/>
          </p:nvSpPr>
          <p:spPr>
            <a:xfrm>
              <a:off x="4182032" y="826025"/>
              <a:ext cx="1099591" cy="1099591"/>
            </a:xfrm>
            <a:prstGeom prst="ellipse">
              <a:avLst/>
            </a:prstGeom>
            <a:gradFill>
              <a:gsLst>
                <a:gs pos="0">
                  <a:srgbClr val="FF5000">
                    <a:alpha val="81176"/>
                  </a:srgbClr>
                </a:gs>
                <a:gs pos="100000">
                  <a:srgbClr val="FF8E72">
                    <a:alpha val="81176"/>
                  </a:srgbClr>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9"/>
            <p:cNvSpPr txBox="1"/>
            <p:nvPr/>
          </p:nvSpPr>
          <p:spPr>
            <a:xfrm>
              <a:off x="4262546" y="987055"/>
              <a:ext cx="938559" cy="777529"/>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dk1"/>
                </a:buClr>
                <a:buSzPts val="1200"/>
                <a:buFont typeface="Arial"/>
                <a:buNone/>
              </a:pPr>
              <a:r>
                <a:rPr b="1" i="0" lang="es-AR" sz="1200" u="none" cap="none" strike="noStrike">
                  <a:solidFill>
                    <a:schemeClr val="dk1"/>
                  </a:solidFill>
                  <a:latin typeface="Arial"/>
                  <a:ea typeface="Arial"/>
                  <a:cs typeface="Arial"/>
                  <a:sym typeface="Arial"/>
                </a:rPr>
                <a:t>Atraer los mejores talentos</a:t>
              </a:r>
              <a:endParaRPr b="0" i="0" sz="1400" u="none" cap="none" strike="noStrike">
                <a:solidFill>
                  <a:srgbClr val="000000"/>
                </a:solidFill>
                <a:latin typeface="Arial"/>
                <a:ea typeface="Arial"/>
                <a:cs typeface="Arial"/>
                <a:sym typeface="Arial"/>
              </a:endParaRPr>
            </a:p>
          </p:txBody>
        </p:sp>
      </p:grpSp>
      <p:grpSp>
        <p:nvGrpSpPr>
          <p:cNvPr id="144" name="Google Shape;144;p29"/>
          <p:cNvGrpSpPr/>
          <p:nvPr/>
        </p:nvGrpSpPr>
        <p:grpSpPr>
          <a:xfrm>
            <a:off x="8115833" y="3590031"/>
            <a:ext cx="1099591" cy="1099591"/>
            <a:chOff x="2752204" y="3302561"/>
            <a:chExt cx="1099591" cy="1099591"/>
          </a:xfrm>
        </p:grpSpPr>
        <p:sp>
          <p:nvSpPr>
            <p:cNvPr id="145" name="Google Shape;145;p29"/>
            <p:cNvSpPr/>
            <p:nvPr/>
          </p:nvSpPr>
          <p:spPr>
            <a:xfrm>
              <a:off x="2752204" y="3302561"/>
              <a:ext cx="1099591" cy="1099591"/>
            </a:xfrm>
            <a:prstGeom prst="ellipse">
              <a:avLst/>
            </a:prstGeom>
            <a:gradFill>
              <a:gsLst>
                <a:gs pos="0">
                  <a:srgbClr val="FF5000">
                    <a:alpha val="65098"/>
                  </a:srgbClr>
                </a:gs>
                <a:gs pos="100000">
                  <a:srgbClr val="FF8E72">
                    <a:alpha val="65098"/>
                  </a:srgbClr>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9"/>
            <p:cNvSpPr txBox="1"/>
            <p:nvPr/>
          </p:nvSpPr>
          <p:spPr>
            <a:xfrm>
              <a:off x="2913235" y="3463592"/>
              <a:ext cx="858042" cy="777529"/>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dk1"/>
                </a:buClr>
                <a:buSzPts val="1200"/>
                <a:buFont typeface="Arial"/>
                <a:buNone/>
              </a:pPr>
              <a:r>
                <a:rPr b="1" i="0" lang="es-AR" sz="1200" u="none" cap="none" strike="noStrike">
                  <a:solidFill>
                    <a:schemeClr val="dk1"/>
                  </a:solidFill>
                  <a:latin typeface="Arial"/>
                  <a:ea typeface="Arial"/>
                  <a:cs typeface="Arial"/>
                  <a:sym typeface="Arial"/>
                </a:rPr>
                <a:t>Desarrollarlos</a:t>
              </a:r>
              <a:endParaRPr b="0" i="0" sz="1400" u="none" cap="none" strike="noStrike">
                <a:solidFill>
                  <a:srgbClr val="000000"/>
                </a:solidFill>
                <a:latin typeface="Arial"/>
                <a:ea typeface="Arial"/>
                <a:cs typeface="Arial"/>
                <a:sym typeface="Arial"/>
              </a:endParaRPr>
            </a:p>
          </p:txBody>
        </p:sp>
      </p:grpSp>
      <p:grpSp>
        <p:nvGrpSpPr>
          <p:cNvPr id="147" name="Google Shape;147;p29"/>
          <p:cNvGrpSpPr/>
          <p:nvPr/>
        </p:nvGrpSpPr>
        <p:grpSpPr>
          <a:xfrm>
            <a:off x="8115832" y="4831652"/>
            <a:ext cx="1099591" cy="1099591"/>
            <a:chOff x="1322375" y="826025"/>
            <a:chExt cx="1099591" cy="1099591"/>
          </a:xfrm>
        </p:grpSpPr>
        <p:sp>
          <p:nvSpPr>
            <p:cNvPr id="148" name="Google Shape;148;p29"/>
            <p:cNvSpPr/>
            <p:nvPr/>
          </p:nvSpPr>
          <p:spPr>
            <a:xfrm>
              <a:off x="1322375" y="826025"/>
              <a:ext cx="1099591" cy="1099591"/>
            </a:xfrm>
            <a:prstGeom prst="ellipse">
              <a:avLst/>
            </a:prstGeom>
            <a:gradFill>
              <a:gsLst>
                <a:gs pos="0">
                  <a:srgbClr val="FF5000">
                    <a:alpha val="49019"/>
                  </a:srgbClr>
                </a:gs>
                <a:gs pos="100000">
                  <a:srgbClr val="FF8E72">
                    <a:alpha val="49019"/>
                  </a:srgbClr>
                </a:gs>
              </a:gsLst>
              <a:lin ang="16200000" scaled="0"/>
            </a:gradFill>
            <a:ln>
              <a:noFill/>
            </a:ln>
            <a:effectLst>
              <a:outerShdw blurRad="40000" rotWithShape="0" dir="5400000" dist="23000">
                <a:srgbClr val="000000">
                  <a:alpha val="3411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9"/>
            <p:cNvSpPr txBox="1"/>
            <p:nvPr/>
          </p:nvSpPr>
          <p:spPr>
            <a:xfrm>
              <a:off x="1443142" y="987048"/>
              <a:ext cx="942300" cy="777600"/>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dk1"/>
                </a:buClr>
                <a:buSzPts val="1200"/>
                <a:buFont typeface="Arial"/>
                <a:buNone/>
              </a:pPr>
              <a:r>
                <a:rPr b="1" i="0" lang="es-AR" sz="1200" u="none" cap="none" strike="noStrike">
                  <a:solidFill>
                    <a:schemeClr val="dk1"/>
                  </a:solidFill>
                  <a:latin typeface="Arial"/>
                  <a:ea typeface="Arial"/>
                  <a:cs typeface="Arial"/>
                  <a:sym typeface="Arial"/>
                </a:rPr>
                <a:t>Fidelizarlos</a:t>
              </a:r>
              <a:endParaRPr b="0" i="0" sz="1400" u="none" cap="none" strike="noStrike">
                <a:solidFill>
                  <a:srgbClr val="000000"/>
                </a:solidFill>
                <a:latin typeface="Arial"/>
                <a:ea typeface="Arial"/>
                <a:cs typeface="Arial"/>
                <a:sym typeface="Arial"/>
              </a:endParaRPr>
            </a:p>
          </p:txBody>
        </p:sp>
      </p:grpSp>
      <p:sp>
        <p:nvSpPr>
          <p:cNvPr id="150" name="Google Shape;150;p29"/>
          <p:cNvSpPr/>
          <p:nvPr/>
        </p:nvSpPr>
        <p:spPr>
          <a:xfrm rot="-2830435">
            <a:off x="7358172" y="4589355"/>
            <a:ext cx="374683" cy="922378"/>
          </a:xfrm>
          <a:prstGeom prst="curvedRightArrow">
            <a:avLst>
              <a:gd fmla="val 25000" name="adj1"/>
              <a:gd fmla="val 50000" name="adj2"/>
              <a:gd fmla="val 25000" name="adj3"/>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1" name="Google Shape;151;p29"/>
          <p:cNvSpPr/>
          <p:nvPr/>
        </p:nvSpPr>
        <p:spPr>
          <a:xfrm>
            <a:off x="7239090" y="4056425"/>
            <a:ext cx="770100" cy="187500"/>
          </a:xfrm>
          <a:prstGeom prst="rightArrow">
            <a:avLst>
              <a:gd fmla="val 50000" name="adj1"/>
              <a:gd fmla="val 50000" name="adj2"/>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2" name="Google Shape;152;p29"/>
          <p:cNvSpPr/>
          <p:nvPr/>
        </p:nvSpPr>
        <p:spPr>
          <a:xfrm flipH="1" rot="-8398865">
            <a:off x="7372040" y="2719904"/>
            <a:ext cx="371361" cy="1023392"/>
          </a:xfrm>
          <a:prstGeom prst="curvedRightArrow">
            <a:avLst>
              <a:gd fmla="val 25000" name="adj1"/>
              <a:gd fmla="val 50000" name="adj2"/>
              <a:gd fmla="val 25000" name="adj3"/>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3" name="Google Shape;153;p29"/>
          <p:cNvSpPr/>
          <p:nvPr/>
        </p:nvSpPr>
        <p:spPr>
          <a:xfrm>
            <a:off x="4302127" y="4056425"/>
            <a:ext cx="783000" cy="187500"/>
          </a:xfrm>
          <a:prstGeom prst="rightArrow">
            <a:avLst>
              <a:gd fmla="val 50000" name="adj1"/>
              <a:gd fmla="val 50000" name="adj2"/>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g12e8a32532e_0_45"/>
          <p:cNvSpPr txBox="1"/>
          <p:nvPr/>
        </p:nvSpPr>
        <p:spPr>
          <a:xfrm>
            <a:off x="0" y="0"/>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500"/>
              <a:buFont typeface="Arial"/>
              <a:buNone/>
            </a:pPr>
            <a:r>
              <a:rPr b="1" i="0" lang="es-AR" sz="2000" u="none" cap="none" strike="noStrike">
                <a:solidFill>
                  <a:srgbClr val="932328"/>
                </a:solidFill>
                <a:latin typeface="Arial"/>
                <a:ea typeface="Arial"/>
                <a:cs typeface="Arial"/>
                <a:sym typeface="Arial"/>
              </a:rPr>
              <a:t>Relaciones Industriales </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800"/>
              <a:buFont typeface="Arial Narrow"/>
              <a:buNone/>
            </a:pPr>
            <a:r>
              <a:rPr b="1" i="0" lang="es-AR" sz="3200" u="none" cap="none" strike="noStrike">
                <a:solidFill>
                  <a:srgbClr val="932328"/>
                </a:solidFill>
                <a:latin typeface="Arial Narrow"/>
                <a:ea typeface="Arial Narrow"/>
                <a:cs typeface="Arial Narrow"/>
                <a:sym typeface="Arial Narrow"/>
              </a:rPr>
              <a:t>Marca empleadora</a:t>
            </a:r>
            <a:endParaRPr b="0" i="0" sz="1400" u="none" cap="none" strike="noStrike">
              <a:solidFill>
                <a:srgbClr val="000000"/>
              </a:solidFill>
              <a:latin typeface="Arial"/>
              <a:ea typeface="Arial"/>
              <a:cs typeface="Arial"/>
              <a:sym typeface="Arial"/>
            </a:endParaRPr>
          </a:p>
        </p:txBody>
      </p:sp>
      <p:sp>
        <p:nvSpPr>
          <p:cNvPr descr="Image result for logo great place to work" id="159" name="Google Shape;159;g12e8a32532e_0_45"/>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63" name="Shape 163"/>
        <p:cNvGrpSpPr/>
        <p:nvPr/>
      </p:nvGrpSpPr>
      <p:grpSpPr>
        <a:xfrm>
          <a:off x="0" y="0"/>
          <a:ext cx="0" cy="0"/>
          <a:chOff x="0" y="0"/>
          <a:chExt cx="0" cy="0"/>
        </a:xfrm>
      </p:grpSpPr>
      <p:sp>
        <p:nvSpPr>
          <p:cNvPr id="164" name="Google Shape;164;g211bc975b2b_0_0"/>
          <p:cNvSpPr txBox="1"/>
          <p:nvPr/>
        </p:nvSpPr>
        <p:spPr>
          <a:xfrm>
            <a:off x="0" y="0"/>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500"/>
              <a:buFont typeface="Arial"/>
              <a:buNone/>
            </a:pPr>
            <a:r>
              <a:rPr b="1" i="0" lang="es-AR" sz="2000" u="none" cap="none" strike="noStrike">
                <a:solidFill>
                  <a:srgbClr val="932328"/>
                </a:solidFill>
                <a:latin typeface="Arial"/>
                <a:ea typeface="Arial"/>
                <a:cs typeface="Arial"/>
                <a:sym typeface="Arial"/>
              </a:rPr>
              <a:t>Relaciones Industriales </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800"/>
              <a:buFont typeface="Arial Narrow"/>
              <a:buNone/>
            </a:pPr>
            <a:r>
              <a:rPr b="1" i="0" lang="es-AR" sz="3200" u="none" cap="none" strike="noStrike">
                <a:solidFill>
                  <a:srgbClr val="932328"/>
                </a:solidFill>
                <a:latin typeface="Arial Narrow"/>
                <a:ea typeface="Arial Narrow"/>
                <a:cs typeface="Arial Narrow"/>
                <a:sym typeface="Arial Narrow"/>
              </a:rPr>
              <a:t>Marca empleadora</a:t>
            </a:r>
            <a:endParaRPr b="0" i="0" sz="1400" u="none" cap="none" strike="noStrike">
              <a:solidFill>
                <a:srgbClr val="000000"/>
              </a:solidFill>
              <a:latin typeface="Arial"/>
              <a:ea typeface="Arial"/>
              <a:cs typeface="Arial"/>
              <a:sym typeface="Arial"/>
            </a:endParaRPr>
          </a:p>
        </p:txBody>
      </p:sp>
      <p:sp>
        <p:nvSpPr>
          <p:cNvPr descr="Image result for logo great place to work" id="165" name="Google Shape;165;g211bc975b2b_0_0"/>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arcos te muestra nuestras oficinas de MercadoLibre, si querés conocer más sobre nosotros y sumarte a nuestro equipo seguinos en linkedIn http://smarturl.it/CareerPage" id="166" name="Google Shape;166;g211bc975b2b_0_0" title="Marcos Galperín presenta las oficinas corporativas y filosofía de trabajo de MercadoLibre">
            <a:hlinkClick r:id="rId3"/>
          </p:cNvPr>
          <p:cNvPicPr preferRelativeResize="0"/>
          <p:nvPr/>
        </p:nvPicPr>
        <p:blipFill>
          <a:blip r:embed="rId4">
            <a:alphaModFix/>
          </a:blip>
          <a:stretch>
            <a:fillRect/>
          </a:stretch>
        </p:blipFill>
        <p:spPr>
          <a:xfrm>
            <a:off x="2185125" y="1399600"/>
            <a:ext cx="5797775" cy="434832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sp>
        <p:nvSpPr>
          <p:cNvPr id="171" name="Google Shape;171;g12a86bbd699_0_227"/>
          <p:cNvSpPr txBox="1"/>
          <p:nvPr/>
        </p:nvSpPr>
        <p:spPr>
          <a:xfrm>
            <a:off x="0" y="0"/>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500"/>
              <a:buFont typeface="Arial"/>
              <a:buNone/>
            </a:pPr>
            <a:r>
              <a:rPr b="1" i="0" lang="es-AR" sz="2000" u="none" cap="none" strike="noStrike">
                <a:solidFill>
                  <a:srgbClr val="932328"/>
                </a:solidFill>
                <a:latin typeface="Arial"/>
                <a:ea typeface="Arial"/>
                <a:cs typeface="Arial"/>
                <a:sym typeface="Arial"/>
              </a:rPr>
              <a:t>Relaciones Industriales </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800"/>
              <a:buFont typeface="Arial Narrow"/>
              <a:buNone/>
            </a:pPr>
            <a:r>
              <a:rPr b="1" i="0" lang="es-AR" sz="3200" u="none" cap="none" strike="noStrike">
                <a:solidFill>
                  <a:srgbClr val="932328"/>
                </a:solidFill>
                <a:latin typeface="Arial Narrow"/>
                <a:ea typeface="Arial Narrow"/>
                <a:cs typeface="Arial Narrow"/>
                <a:sym typeface="Arial Narrow"/>
              </a:rPr>
              <a:t>Marca empleadora</a:t>
            </a:r>
            <a:endParaRPr b="0" i="0" sz="1400" u="none" cap="none" strike="noStrike">
              <a:solidFill>
                <a:srgbClr val="000000"/>
              </a:solidFill>
              <a:latin typeface="Arial"/>
              <a:ea typeface="Arial"/>
              <a:cs typeface="Arial"/>
              <a:sym typeface="Arial"/>
            </a:endParaRPr>
          </a:p>
        </p:txBody>
      </p:sp>
      <p:sp>
        <p:nvSpPr>
          <p:cNvPr descr="Image result for logo great place to work" id="172" name="Google Shape;172;g12a86bbd699_0_227"/>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3" name="Google Shape;173;g12a86bbd699_0_227"/>
          <p:cNvPicPr preferRelativeResize="0"/>
          <p:nvPr/>
        </p:nvPicPr>
        <p:blipFill rotWithShape="1">
          <a:blip r:embed="rId3">
            <a:alphaModFix/>
          </a:blip>
          <a:srcRect b="0" l="0" r="0" t="0"/>
          <a:stretch/>
        </p:blipFill>
        <p:spPr>
          <a:xfrm>
            <a:off x="668375" y="1331788"/>
            <a:ext cx="8783750" cy="4905625"/>
          </a:xfrm>
          <a:prstGeom prst="rect">
            <a:avLst/>
          </a:prstGeom>
          <a:noFill/>
          <a:ln>
            <a:noFill/>
          </a:ln>
        </p:spPr>
      </p:pic>
      <p:sp>
        <p:nvSpPr>
          <p:cNvPr id="174" name="Google Shape;174;g12a86bbd699_0_227"/>
          <p:cNvSpPr/>
          <p:nvPr/>
        </p:nvSpPr>
        <p:spPr>
          <a:xfrm>
            <a:off x="7470700" y="5084375"/>
            <a:ext cx="1981500" cy="1010400"/>
          </a:xfrm>
          <a:prstGeom prst="rect">
            <a:avLst/>
          </a:prstGeom>
          <a:solidFill>
            <a:schemeClr val="l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12e8149d08b_0_4"/>
          <p:cNvSpPr/>
          <p:nvPr/>
        </p:nvSpPr>
        <p:spPr>
          <a:xfrm>
            <a:off x="1467787" y="2862421"/>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Reclutamiento</a:t>
            </a:r>
            <a:endParaRPr b="0" i="0" sz="1400" u="none" cap="none" strike="noStrike">
              <a:solidFill>
                <a:srgbClr val="000000"/>
              </a:solidFill>
              <a:latin typeface="Arial"/>
              <a:ea typeface="Arial"/>
              <a:cs typeface="Arial"/>
              <a:sym typeface="Arial"/>
            </a:endParaRPr>
          </a:p>
        </p:txBody>
      </p:sp>
      <p:sp>
        <p:nvSpPr>
          <p:cNvPr id="180" name="Google Shape;180;g12e8149d08b_0_4">
            <a:hlinkClick/>
          </p:cNvPr>
          <p:cNvSpPr/>
          <p:nvPr/>
        </p:nvSpPr>
        <p:spPr>
          <a:xfrm>
            <a:off x="1253474" y="2862421"/>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181" name="Google Shape;181;g12e8149d08b_0_4"/>
          <p:cNvSpPr/>
          <p:nvPr/>
        </p:nvSpPr>
        <p:spPr>
          <a:xfrm>
            <a:off x="1467787" y="3505362"/>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Selección de Personal</a:t>
            </a:r>
            <a:endParaRPr b="0" i="0" sz="1400" u="none" cap="none" strike="noStrike">
              <a:solidFill>
                <a:srgbClr val="000000"/>
              </a:solidFill>
              <a:latin typeface="Arial"/>
              <a:ea typeface="Arial"/>
              <a:cs typeface="Arial"/>
              <a:sym typeface="Arial"/>
            </a:endParaRPr>
          </a:p>
        </p:txBody>
      </p:sp>
      <p:sp>
        <p:nvSpPr>
          <p:cNvPr id="182" name="Google Shape;182;g12e8149d08b_0_4">
            <a:hlinkClick r:id="rId3"/>
          </p:cNvPr>
          <p:cNvSpPr/>
          <p:nvPr/>
        </p:nvSpPr>
        <p:spPr>
          <a:xfrm>
            <a:off x="1253474" y="350536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183" name="Google Shape;183;g12e8149d08b_0_4"/>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500"/>
              <a:buFont typeface="Arial"/>
              <a:buNone/>
            </a:pPr>
            <a:r>
              <a:rPr b="1" i="0" lang="es-AR" sz="2000"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800"/>
              <a:buFont typeface="Arial Narrow"/>
              <a:buNone/>
            </a:pPr>
            <a:r>
              <a:rPr b="1" i="0" lang="es-AR" sz="3200" u="none" cap="none" strike="noStrike">
                <a:solidFill>
                  <a:srgbClr val="932328"/>
                </a:solidFill>
                <a:latin typeface="Arial Narrow"/>
                <a:ea typeface="Arial Narrow"/>
                <a:cs typeface="Arial Narrow"/>
                <a:sym typeface="Arial Narrow"/>
              </a:rPr>
              <a:t>Agenda</a:t>
            </a:r>
            <a:endParaRPr b="1" i="0" sz="2800" u="none" cap="none" strike="noStrike">
              <a:solidFill>
                <a:srgbClr val="932328"/>
              </a:solidFill>
              <a:latin typeface="Arial Narrow"/>
              <a:ea typeface="Arial Narrow"/>
              <a:cs typeface="Arial Narrow"/>
              <a:sym typeface="Arial Narrow"/>
            </a:endParaRPr>
          </a:p>
        </p:txBody>
      </p:sp>
      <p:sp>
        <p:nvSpPr>
          <p:cNvPr id="184" name="Google Shape;184;g12e8149d08b_0_4"/>
          <p:cNvSpPr/>
          <p:nvPr/>
        </p:nvSpPr>
        <p:spPr>
          <a:xfrm>
            <a:off x="1467787" y="2219478"/>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Planeación de Personal</a:t>
            </a:r>
            <a:endParaRPr b="0" i="0" sz="1400" u="none" cap="none" strike="noStrike">
              <a:solidFill>
                <a:srgbClr val="000000"/>
              </a:solidFill>
              <a:latin typeface="Arial"/>
              <a:ea typeface="Arial"/>
              <a:cs typeface="Arial"/>
              <a:sym typeface="Arial"/>
            </a:endParaRPr>
          </a:p>
        </p:txBody>
      </p:sp>
      <p:sp>
        <p:nvSpPr>
          <p:cNvPr id="185" name="Google Shape;185;g12e8149d08b_0_4"/>
          <p:cNvSpPr/>
          <p:nvPr/>
        </p:nvSpPr>
        <p:spPr>
          <a:xfrm>
            <a:off x="1253474" y="2219478"/>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186" name="Google Shape;186;g12e8149d08b_0_4"/>
          <p:cNvSpPr/>
          <p:nvPr/>
        </p:nvSpPr>
        <p:spPr>
          <a:xfrm>
            <a:off x="1452537" y="1647812"/>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Presentación y enfoque</a:t>
            </a:r>
            <a:endParaRPr b="0" i="0" sz="1400" u="none" cap="none" strike="noStrike">
              <a:solidFill>
                <a:srgbClr val="000000"/>
              </a:solidFill>
              <a:latin typeface="Arial"/>
              <a:ea typeface="Arial"/>
              <a:cs typeface="Arial"/>
              <a:sym typeface="Arial"/>
            </a:endParaRPr>
          </a:p>
        </p:txBody>
      </p:sp>
      <p:sp>
        <p:nvSpPr>
          <p:cNvPr id="187" name="Google Shape;187;g12e8149d08b_0_4"/>
          <p:cNvSpPr/>
          <p:nvPr/>
        </p:nvSpPr>
        <p:spPr>
          <a:xfrm>
            <a:off x="1238224" y="164781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pic>
        <p:nvPicPr>
          <p:cNvPr descr="Resultado de imagen para utn regional buenos aires ingenieria industrial" id="188" name="Google Shape;188;g12e8149d08b_0_4"/>
          <p:cNvPicPr preferRelativeResize="0"/>
          <p:nvPr/>
        </p:nvPicPr>
        <p:blipFill rotWithShape="1">
          <a:blip r:embed="rId4">
            <a:alphaModFix/>
          </a:blip>
          <a:srcRect b="0" l="0" r="0" t="0"/>
          <a:stretch/>
        </p:blipFill>
        <p:spPr>
          <a:xfrm>
            <a:off x="7060820" y="7937"/>
            <a:ext cx="2857500" cy="1095376"/>
          </a:xfrm>
          <a:prstGeom prst="rect">
            <a:avLst/>
          </a:prstGeom>
          <a:noFill/>
          <a:ln>
            <a:noFill/>
          </a:ln>
        </p:spPr>
      </p:pic>
      <p:sp>
        <p:nvSpPr>
          <p:cNvPr id="189" name="Google Shape;189;g12e8149d08b_0_4"/>
          <p:cNvSpPr/>
          <p:nvPr/>
        </p:nvSpPr>
        <p:spPr>
          <a:xfrm>
            <a:off x="1452547" y="4130202"/>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Inducción</a:t>
            </a:r>
            <a:endParaRPr b="0" i="0" sz="1400" u="none" cap="none" strike="noStrike">
              <a:solidFill>
                <a:srgbClr val="000000"/>
              </a:solidFill>
              <a:latin typeface="Arial"/>
              <a:ea typeface="Arial"/>
              <a:cs typeface="Arial"/>
              <a:sym typeface="Arial"/>
            </a:endParaRPr>
          </a:p>
        </p:txBody>
      </p:sp>
      <p:sp>
        <p:nvSpPr>
          <p:cNvPr id="190" name="Google Shape;190;g12e8149d08b_0_4">
            <a:hlinkClick r:id="rId5"/>
          </p:cNvPr>
          <p:cNvSpPr/>
          <p:nvPr/>
        </p:nvSpPr>
        <p:spPr>
          <a:xfrm>
            <a:off x="1238234" y="413020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191" name="Google Shape;191;g12e8149d08b_0_4"/>
          <p:cNvSpPr/>
          <p:nvPr/>
        </p:nvSpPr>
        <p:spPr>
          <a:xfrm>
            <a:off x="445531" y="5494662"/>
            <a:ext cx="642900" cy="357300"/>
          </a:xfrm>
          <a:prstGeom prst="rightArrow">
            <a:avLst>
              <a:gd fmla="val 50000" name="adj1"/>
              <a:gd fmla="val 50000" name="adj2"/>
            </a:avLst>
          </a:prstGeom>
          <a:solidFill>
            <a:schemeClr val="accent1"/>
          </a:solidFill>
          <a:ln cap="flat" cmpd="sng" w="25400">
            <a:solidFill>
              <a:srgbClr val="BA89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2" name="Google Shape;192;g12e8149d08b_0_4"/>
          <p:cNvSpPr/>
          <p:nvPr/>
        </p:nvSpPr>
        <p:spPr>
          <a:xfrm>
            <a:off x="1452547" y="4773143"/>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Marca Empleadora</a:t>
            </a:r>
            <a:endParaRPr b="0" i="0" sz="1400" u="none" cap="none" strike="noStrike">
              <a:solidFill>
                <a:srgbClr val="000000"/>
              </a:solidFill>
              <a:latin typeface="Arial"/>
              <a:ea typeface="Arial"/>
              <a:cs typeface="Arial"/>
              <a:sym typeface="Arial"/>
            </a:endParaRPr>
          </a:p>
        </p:txBody>
      </p:sp>
      <p:sp>
        <p:nvSpPr>
          <p:cNvPr id="193" name="Google Shape;193;g12e8149d08b_0_4">
            <a:hlinkClick r:id="rId6"/>
          </p:cNvPr>
          <p:cNvSpPr/>
          <p:nvPr/>
        </p:nvSpPr>
        <p:spPr>
          <a:xfrm>
            <a:off x="1253474" y="4755042"/>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194" name="Google Shape;194;g12e8149d08b_0_4"/>
          <p:cNvSpPr/>
          <p:nvPr/>
        </p:nvSpPr>
        <p:spPr>
          <a:xfrm>
            <a:off x="1452547" y="5478118"/>
            <a:ext cx="7644000" cy="428700"/>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Tipos de Contratos</a:t>
            </a:r>
            <a:endParaRPr b="0" i="0" sz="1400" u="none" cap="none" strike="noStrike">
              <a:solidFill>
                <a:srgbClr val="000000"/>
              </a:solidFill>
              <a:latin typeface="Arial"/>
              <a:ea typeface="Arial"/>
              <a:cs typeface="Arial"/>
              <a:sym typeface="Arial"/>
            </a:endParaRPr>
          </a:p>
        </p:txBody>
      </p:sp>
      <p:sp>
        <p:nvSpPr>
          <p:cNvPr id="195" name="Google Shape;195;g12e8149d08b_0_4">
            <a:hlinkClick r:id="rId7"/>
          </p:cNvPr>
          <p:cNvSpPr/>
          <p:nvPr/>
        </p:nvSpPr>
        <p:spPr>
          <a:xfrm>
            <a:off x="1253474" y="5460017"/>
            <a:ext cx="571500" cy="428700"/>
          </a:xfrm>
          <a:prstGeom prst="ellipse">
            <a:avLst/>
          </a:prstGeom>
          <a:solidFill>
            <a:schemeClr val="accent4"/>
          </a:solidFill>
          <a:ln>
            <a:noFill/>
          </a:ln>
          <a:effectLst>
            <a:outerShdw blurRad="44450" algn="ctr" dir="5400000" dist="27939">
              <a:srgbClr val="000000">
                <a:alpha val="3058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12e8149d08b_0_25"/>
          <p:cNvSpPr/>
          <p:nvPr/>
        </p:nvSpPr>
        <p:spPr>
          <a:xfrm>
            <a:off x="625124" y="1475341"/>
            <a:ext cx="8675100" cy="368700"/>
          </a:xfrm>
          <a:prstGeom prst="roundRect">
            <a:avLst>
              <a:gd fmla="val 16667" name="adj"/>
            </a:avLst>
          </a:prstGeom>
          <a:solidFill>
            <a:srgbClr val="40BEA6"/>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161D"/>
              </a:buClr>
              <a:buSzPts val="1800"/>
              <a:buFont typeface="Calibri"/>
              <a:buNone/>
            </a:pPr>
            <a:r>
              <a:rPr b="0" i="0" lang="es-AR" sz="1800" u="none" cap="none" strike="noStrike">
                <a:solidFill>
                  <a:srgbClr val="0C161D"/>
                </a:solidFill>
                <a:latin typeface="Calibri"/>
                <a:ea typeface="Calibri"/>
                <a:cs typeface="Calibri"/>
                <a:sym typeface="Calibri"/>
              </a:rPr>
              <a:t>      </a:t>
            </a:r>
            <a:r>
              <a:rPr b="1" i="0" lang="es-AR" sz="1800" u="none" cap="none" strike="noStrike">
                <a:solidFill>
                  <a:srgbClr val="0C161D"/>
                </a:solidFill>
                <a:latin typeface="Calibri"/>
                <a:ea typeface="Calibri"/>
                <a:cs typeface="Calibri"/>
                <a:sym typeface="Calibri"/>
              </a:rPr>
              <a:t>Modalidades de Contratación</a:t>
            </a:r>
            <a:endParaRPr b="0" i="0" sz="1800" u="none" cap="none" strike="noStrike">
              <a:solidFill>
                <a:srgbClr val="0C161D"/>
              </a:solidFill>
              <a:latin typeface="Calibri"/>
              <a:ea typeface="Calibri"/>
              <a:cs typeface="Calibri"/>
              <a:sym typeface="Calibri"/>
            </a:endParaRPr>
          </a:p>
        </p:txBody>
      </p:sp>
      <p:sp>
        <p:nvSpPr>
          <p:cNvPr id="201" name="Google Shape;201;g12e8149d08b_0_25"/>
          <p:cNvSpPr txBox="1"/>
          <p:nvPr/>
        </p:nvSpPr>
        <p:spPr>
          <a:xfrm>
            <a:off x="701325" y="2003587"/>
            <a:ext cx="8292600" cy="135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AR" sz="1600" u="none" cap="none" strike="noStrike">
                <a:solidFill>
                  <a:schemeClr val="dk1"/>
                </a:solidFill>
                <a:latin typeface="Calibri"/>
                <a:ea typeface="Calibri"/>
                <a:cs typeface="Calibri"/>
                <a:sym typeface="Calibri"/>
              </a:rPr>
              <a:t>Existen distintos tipos de contrato, cada uno adecuado a la situación que origina el vínculo con el empleado. Los mismos generalmente varían en función de la duración de la relación y el tipo de trabajo.</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s-AR" sz="1600" u="none" cap="none" strike="noStrike">
                <a:solidFill>
                  <a:schemeClr val="dk1"/>
                </a:solidFill>
                <a:latin typeface="Calibri"/>
                <a:ea typeface="Calibri"/>
                <a:cs typeface="Calibri"/>
                <a:sym typeface="Calibri"/>
              </a:rPr>
              <a:t>La contratación NO responde a la voluntad de las partes, sino que su modalidad es impuesta por las necesidades de la empresa. </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sz="16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s-AR" sz="1600" u="none" cap="none" strike="noStrike">
                <a:solidFill>
                  <a:schemeClr val="dk1"/>
                </a:solidFill>
                <a:latin typeface="Calibri"/>
                <a:ea typeface="Calibri"/>
                <a:cs typeface="Calibri"/>
                <a:sym typeface="Calibri"/>
              </a:rPr>
              <a:t>El contrato </a:t>
            </a:r>
            <a:r>
              <a:rPr b="1" i="0" lang="es-AR" sz="1600" u="none" cap="none" strike="noStrike">
                <a:solidFill>
                  <a:schemeClr val="dk1"/>
                </a:solidFill>
                <a:latin typeface="Calibri"/>
                <a:ea typeface="Calibri"/>
                <a:cs typeface="Calibri"/>
                <a:sym typeface="Calibri"/>
              </a:rPr>
              <a:t>se presume por tiempo indeterminado</a:t>
            </a:r>
            <a:r>
              <a:rPr i="0" lang="es-AR" sz="1600" u="none" cap="none" strike="noStrike">
                <a:solidFill>
                  <a:schemeClr val="dk1"/>
                </a:solidFill>
                <a:latin typeface="Calibri"/>
                <a:ea typeface="Calibri"/>
                <a:cs typeface="Calibri"/>
                <a:sym typeface="Calibri"/>
              </a:rPr>
              <a:t>, caso contrario, el empleador deberá probarlo.</a:t>
            </a:r>
            <a:endParaRPr i="0" sz="1600" u="none" cap="none" strike="noStrike">
              <a:solidFill>
                <a:schemeClr val="dk1"/>
              </a:solidFill>
              <a:latin typeface="Twentieth Century"/>
              <a:ea typeface="Twentieth Century"/>
              <a:cs typeface="Twentieth Century"/>
              <a:sym typeface="Twentieth Century"/>
            </a:endParaRPr>
          </a:p>
        </p:txBody>
      </p:sp>
      <p:pic>
        <p:nvPicPr>
          <p:cNvPr descr="Image result for utn frba" id="202" name="Google Shape;202;g12e8149d08b_0_25"/>
          <p:cNvPicPr preferRelativeResize="0"/>
          <p:nvPr/>
        </p:nvPicPr>
        <p:blipFill rotWithShape="1">
          <a:blip r:embed="rId3">
            <a:alphaModFix/>
          </a:blip>
          <a:srcRect b="0" l="0" r="0" t="0"/>
          <a:stretch/>
        </p:blipFill>
        <p:spPr>
          <a:xfrm>
            <a:off x="7003960" y="64395"/>
            <a:ext cx="2611323" cy="952745"/>
          </a:xfrm>
          <a:prstGeom prst="rect">
            <a:avLst/>
          </a:prstGeom>
          <a:noFill/>
          <a:ln>
            <a:noFill/>
          </a:ln>
        </p:spPr>
      </p:pic>
      <p:sp>
        <p:nvSpPr>
          <p:cNvPr id="203" name="Google Shape;203;g12e8149d08b_0_25"/>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204" name="Google Shape;204;g12e8149d08b_0_25"/>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Contrato Laboral</a:t>
            </a:r>
            <a:endParaRPr b="0" i="0" sz="1800" u="none" cap="none" strike="noStrike">
              <a:solidFill>
                <a:schemeClr val="dk1"/>
              </a:solidFill>
              <a:latin typeface="Twentieth Century"/>
              <a:ea typeface="Twentieth Century"/>
              <a:cs typeface="Twentieth Century"/>
              <a:sym typeface="Twentieth Century"/>
            </a:endParaRPr>
          </a:p>
        </p:txBody>
      </p:sp>
      <p:sp>
        <p:nvSpPr>
          <p:cNvPr id="205" name="Google Shape;205;g12e8149d08b_0_25"/>
          <p:cNvSpPr/>
          <p:nvPr/>
        </p:nvSpPr>
        <p:spPr>
          <a:xfrm>
            <a:off x="1527570" y="4402519"/>
            <a:ext cx="1983600" cy="461700"/>
          </a:xfrm>
          <a:prstGeom prst="roundRect">
            <a:avLst>
              <a:gd fmla="val 16667" name="adj"/>
            </a:avLst>
          </a:prstGeom>
          <a:solidFill>
            <a:srgbClr val="9900FF"/>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rgbClr val="FFFFFF"/>
                </a:solidFill>
                <a:latin typeface="Arial"/>
                <a:ea typeface="Arial"/>
                <a:cs typeface="Arial"/>
                <a:sym typeface="Arial"/>
              </a:rPr>
              <a:t>TIEMPO INDETERMINADO</a:t>
            </a:r>
            <a:endParaRPr b="0" i="0" sz="1400" u="none" cap="none" strike="noStrike">
              <a:solidFill>
                <a:srgbClr val="FFFFFF"/>
              </a:solidFill>
              <a:latin typeface="Arial"/>
              <a:ea typeface="Arial"/>
              <a:cs typeface="Arial"/>
              <a:sym typeface="Arial"/>
            </a:endParaRPr>
          </a:p>
        </p:txBody>
      </p:sp>
      <p:sp>
        <p:nvSpPr>
          <p:cNvPr id="206" name="Google Shape;206;g12e8149d08b_0_25"/>
          <p:cNvSpPr/>
          <p:nvPr/>
        </p:nvSpPr>
        <p:spPr>
          <a:xfrm>
            <a:off x="3831909" y="4383127"/>
            <a:ext cx="1983600" cy="461700"/>
          </a:xfrm>
          <a:prstGeom prst="roundRect">
            <a:avLst>
              <a:gd fmla="val 16667" name="adj"/>
            </a:avLst>
          </a:prstGeom>
          <a:solidFill>
            <a:srgbClr val="1CADE4"/>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rgbClr val="FFFFFF"/>
                </a:solidFill>
                <a:latin typeface="Arial"/>
                <a:ea typeface="Arial"/>
                <a:cs typeface="Arial"/>
                <a:sym typeface="Arial"/>
              </a:rPr>
              <a:t>TIEMPO DETERMINADO</a:t>
            </a:r>
            <a:endParaRPr b="0" i="0" sz="1400" u="none" cap="none" strike="noStrike">
              <a:solidFill>
                <a:srgbClr val="FFFFFF"/>
              </a:solidFill>
              <a:latin typeface="Arial"/>
              <a:ea typeface="Arial"/>
              <a:cs typeface="Arial"/>
              <a:sym typeface="Arial"/>
            </a:endParaRPr>
          </a:p>
        </p:txBody>
      </p:sp>
      <p:sp>
        <p:nvSpPr>
          <p:cNvPr id="207" name="Google Shape;207;g12e8149d08b_0_25"/>
          <p:cNvSpPr/>
          <p:nvPr/>
        </p:nvSpPr>
        <p:spPr>
          <a:xfrm>
            <a:off x="6136249" y="4373990"/>
            <a:ext cx="1983600" cy="461700"/>
          </a:xfrm>
          <a:prstGeom prst="roundRect">
            <a:avLst>
              <a:gd fmla="val 16667" name="adj"/>
            </a:avLst>
          </a:prstGeom>
          <a:solidFill>
            <a:schemeClr val="accent3"/>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rgbClr val="FFFFFF"/>
                </a:solidFill>
                <a:latin typeface="Arial"/>
                <a:ea typeface="Arial"/>
                <a:cs typeface="Arial"/>
                <a:sym typeface="Arial"/>
              </a:rPr>
              <a:t>EVENTUAL</a:t>
            </a:r>
            <a:endParaRPr b="0" i="0" sz="1400" u="none" cap="none" strike="noStrike">
              <a:solidFill>
                <a:srgbClr val="FFFFFF"/>
              </a:solidFill>
              <a:latin typeface="Arial"/>
              <a:ea typeface="Arial"/>
              <a:cs typeface="Arial"/>
              <a:sym typeface="Arial"/>
            </a:endParaRPr>
          </a:p>
        </p:txBody>
      </p:sp>
      <p:sp>
        <p:nvSpPr>
          <p:cNvPr id="208" name="Google Shape;208;g12e8149d08b_0_25"/>
          <p:cNvSpPr/>
          <p:nvPr/>
        </p:nvSpPr>
        <p:spPr>
          <a:xfrm>
            <a:off x="1527570" y="5044695"/>
            <a:ext cx="1983600" cy="281100"/>
          </a:xfrm>
          <a:prstGeom prst="roundRect">
            <a:avLst>
              <a:gd fmla="val 16667" name="adj"/>
            </a:avLst>
          </a:prstGeom>
          <a:solidFill>
            <a:srgbClr val="9900FF"/>
          </a:solidFill>
          <a:ln cap="flat" cmpd="sng" w="25400">
            <a:solidFill>
              <a:srgbClr val="99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rgbClr val="FFFFFF"/>
                </a:solidFill>
                <a:latin typeface="Arial"/>
                <a:ea typeface="Arial"/>
                <a:cs typeface="Arial"/>
                <a:sym typeface="Arial"/>
              </a:rPr>
              <a:t>Periodo de prueba</a:t>
            </a:r>
            <a:endParaRPr b="0" i="0" sz="1400" u="none" cap="none" strike="noStrike">
              <a:solidFill>
                <a:srgbClr val="FFFFFF"/>
              </a:solidFill>
              <a:latin typeface="Arial"/>
              <a:ea typeface="Arial"/>
              <a:cs typeface="Arial"/>
              <a:sym typeface="Arial"/>
            </a:endParaRPr>
          </a:p>
        </p:txBody>
      </p:sp>
      <p:sp>
        <p:nvSpPr>
          <p:cNvPr id="209" name="Google Shape;209;g12e8149d08b_0_25"/>
          <p:cNvSpPr/>
          <p:nvPr/>
        </p:nvSpPr>
        <p:spPr>
          <a:xfrm>
            <a:off x="1527570" y="5415280"/>
            <a:ext cx="1983600" cy="281100"/>
          </a:xfrm>
          <a:prstGeom prst="roundRect">
            <a:avLst>
              <a:gd fmla="val 16667" name="adj"/>
            </a:avLst>
          </a:prstGeom>
          <a:solidFill>
            <a:srgbClr val="9900FF"/>
          </a:solidFill>
          <a:ln cap="flat" cmpd="sng" w="25400">
            <a:solidFill>
              <a:srgbClr val="99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rgbClr val="FFFFFF"/>
                </a:solidFill>
                <a:latin typeface="Arial"/>
                <a:ea typeface="Arial"/>
                <a:cs typeface="Arial"/>
                <a:sym typeface="Arial"/>
              </a:rPr>
              <a:t>Temporada</a:t>
            </a:r>
            <a:endParaRPr b="0" i="0" sz="1400" u="none" cap="none" strike="noStrike">
              <a:solidFill>
                <a:srgbClr val="FFFFFF"/>
              </a:solidFill>
              <a:latin typeface="Arial"/>
              <a:ea typeface="Arial"/>
              <a:cs typeface="Arial"/>
              <a:sym typeface="Arial"/>
            </a:endParaRPr>
          </a:p>
        </p:txBody>
      </p:sp>
      <p:sp>
        <p:nvSpPr>
          <p:cNvPr id="210" name="Google Shape;210;g12e8149d08b_0_25"/>
          <p:cNvSpPr/>
          <p:nvPr/>
        </p:nvSpPr>
        <p:spPr>
          <a:xfrm>
            <a:off x="1527570" y="5835202"/>
            <a:ext cx="1983600" cy="281100"/>
          </a:xfrm>
          <a:prstGeom prst="roundRect">
            <a:avLst>
              <a:gd fmla="val 16667" name="adj"/>
            </a:avLst>
          </a:prstGeom>
          <a:solidFill>
            <a:srgbClr val="9900FF"/>
          </a:solidFill>
          <a:ln cap="flat" cmpd="sng" w="25400">
            <a:solidFill>
              <a:srgbClr val="99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rgbClr val="FFFFFF"/>
                </a:solidFill>
                <a:latin typeface="Arial"/>
                <a:ea typeface="Arial"/>
                <a:cs typeface="Arial"/>
                <a:sym typeface="Arial"/>
              </a:rPr>
              <a:t>Tiempo parcial</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cxnSp>
        <p:nvCxnSpPr>
          <p:cNvPr id="216" name="Google Shape;216;g12ef9ac240f_0_0"/>
          <p:cNvCxnSpPr/>
          <p:nvPr/>
        </p:nvCxnSpPr>
        <p:spPr>
          <a:xfrm>
            <a:off x="278007" y="2129109"/>
            <a:ext cx="9048300" cy="0"/>
          </a:xfrm>
          <a:prstGeom prst="straightConnector1">
            <a:avLst/>
          </a:prstGeom>
          <a:noFill/>
          <a:ln cap="flat" cmpd="sng" w="9525">
            <a:solidFill>
              <a:srgbClr val="BFBFBF"/>
            </a:solidFill>
            <a:prstDash val="solid"/>
            <a:miter lim="800000"/>
            <a:headEnd len="sm" w="sm" type="none"/>
            <a:tailEnd len="sm" w="sm" type="none"/>
          </a:ln>
        </p:spPr>
      </p:cxnSp>
      <p:sp>
        <p:nvSpPr>
          <p:cNvPr id="217" name="Google Shape;217;g12ef9ac240f_0_0"/>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218" name="Google Shape;218;g12ef9ac240f_0_0"/>
          <p:cNvPicPr preferRelativeResize="0"/>
          <p:nvPr/>
        </p:nvPicPr>
        <p:blipFill rotWithShape="1">
          <a:blip r:embed="rId3">
            <a:alphaModFix/>
          </a:blip>
          <a:srcRect b="0" l="0" r="0" t="0"/>
          <a:stretch/>
        </p:blipFill>
        <p:spPr>
          <a:xfrm>
            <a:off x="7003960" y="64395"/>
            <a:ext cx="2611323" cy="952745"/>
          </a:xfrm>
          <a:prstGeom prst="rect">
            <a:avLst/>
          </a:prstGeom>
          <a:noFill/>
          <a:ln>
            <a:noFill/>
          </a:ln>
        </p:spPr>
      </p:pic>
      <p:sp>
        <p:nvSpPr>
          <p:cNvPr id="219" name="Google Shape;219;g12ef9ac240f_0_0"/>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Tipos de contratos</a:t>
            </a:r>
            <a:endParaRPr b="0" i="0" sz="1800" u="none" cap="none" strike="noStrike">
              <a:solidFill>
                <a:schemeClr val="dk1"/>
              </a:solidFill>
              <a:latin typeface="Twentieth Century"/>
              <a:ea typeface="Twentieth Century"/>
              <a:cs typeface="Twentieth Century"/>
              <a:sym typeface="Twentieth Century"/>
            </a:endParaRPr>
          </a:p>
        </p:txBody>
      </p:sp>
      <p:sp>
        <p:nvSpPr>
          <p:cNvPr id="220" name="Google Shape;220;g12ef9ac240f_0_0"/>
          <p:cNvSpPr/>
          <p:nvPr/>
        </p:nvSpPr>
        <p:spPr>
          <a:xfrm>
            <a:off x="113219" y="2486675"/>
            <a:ext cx="4839900" cy="11778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20000"/>
              </a:lnSpc>
              <a:spcBef>
                <a:spcPts val="0"/>
              </a:spcBef>
              <a:spcAft>
                <a:spcPts val="0"/>
              </a:spcAft>
              <a:buClr>
                <a:srgbClr val="000000"/>
              </a:buClr>
              <a:buSzPts val="14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221" name="Google Shape;221;g12ef9ac240f_0_0"/>
          <p:cNvSpPr/>
          <p:nvPr/>
        </p:nvSpPr>
        <p:spPr>
          <a:xfrm>
            <a:off x="608950" y="1606450"/>
            <a:ext cx="8675100" cy="362100"/>
          </a:xfrm>
          <a:prstGeom prst="round2SameRect">
            <a:avLst>
              <a:gd fmla="val 16667" name="adj1"/>
              <a:gd fmla="val 0" name="adj2"/>
            </a:avLst>
          </a:prstGeom>
          <a:solidFill>
            <a:srgbClr val="9900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161D"/>
              </a:buClr>
              <a:buSzPts val="1800"/>
              <a:buFont typeface="Calibri"/>
              <a:buNone/>
            </a:pPr>
            <a:r>
              <a:rPr b="1" i="0" lang="es-AR" sz="1800" u="none" cap="none" strike="noStrike">
                <a:solidFill>
                  <a:schemeClr val="lt1"/>
                </a:solidFill>
                <a:latin typeface="Calibri"/>
                <a:ea typeface="Calibri"/>
                <a:cs typeface="Calibri"/>
                <a:sym typeface="Calibri"/>
              </a:rPr>
              <a:t>Contrato por tiempo indeterminado (Art 90)</a:t>
            </a:r>
            <a:endParaRPr b="0" i="0" sz="1800" u="none" cap="none" strike="noStrike">
              <a:solidFill>
                <a:schemeClr val="lt1"/>
              </a:solidFill>
              <a:latin typeface="Twentieth Century"/>
              <a:ea typeface="Twentieth Century"/>
              <a:cs typeface="Twentieth Century"/>
              <a:sym typeface="Twentieth Century"/>
            </a:endParaRPr>
          </a:p>
        </p:txBody>
      </p:sp>
      <p:sp>
        <p:nvSpPr>
          <p:cNvPr id="222" name="Google Shape;222;g12ef9ac240f_0_0"/>
          <p:cNvSpPr txBox="1"/>
          <p:nvPr/>
        </p:nvSpPr>
        <p:spPr>
          <a:xfrm>
            <a:off x="1227700" y="2486675"/>
            <a:ext cx="3822000" cy="1878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000000"/>
              </a:buClr>
              <a:buSzPts val="1400"/>
              <a:buFont typeface="Arial"/>
              <a:buNone/>
            </a:pPr>
            <a:r>
              <a:rPr b="0" i="0" lang="es-AR" sz="1700" u="none" cap="none" strike="noStrike">
                <a:solidFill>
                  <a:schemeClr val="dk1"/>
                </a:solidFill>
                <a:latin typeface="Calibri"/>
                <a:ea typeface="Calibri"/>
                <a:cs typeface="Calibri"/>
                <a:sym typeface="Calibri"/>
              </a:rPr>
              <a:t>El </a:t>
            </a:r>
            <a:r>
              <a:rPr b="1" i="0" lang="es-AR" sz="1700" u="none" cap="none" strike="noStrike">
                <a:solidFill>
                  <a:schemeClr val="dk1"/>
                </a:solidFill>
                <a:latin typeface="Calibri"/>
                <a:ea typeface="Calibri"/>
                <a:cs typeface="Calibri"/>
                <a:sym typeface="Calibri"/>
              </a:rPr>
              <a:t>contrato</a:t>
            </a:r>
            <a:r>
              <a:rPr b="0" i="0" lang="es-AR" sz="1700" u="none" cap="none" strike="noStrike">
                <a:solidFill>
                  <a:schemeClr val="dk1"/>
                </a:solidFill>
                <a:latin typeface="Calibri"/>
                <a:ea typeface="Calibri"/>
                <a:cs typeface="Calibri"/>
                <a:sym typeface="Calibri"/>
              </a:rPr>
              <a:t> de </a:t>
            </a:r>
            <a:r>
              <a:rPr b="1" i="0" lang="es-AR" sz="1700" u="none" cap="none" strike="noStrike">
                <a:solidFill>
                  <a:schemeClr val="dk1"/>
                </a:solidFill>
                <a:latin typeface="Calibri"/>
                <a:ea typeface="Calibri"/>
                <a:cs typeface="Calibri"/>
                <a:sym typeface="Calibri"/>
              </a:rPr>
              <a:t>tiempo indeterminado</a:t>
            </a:r>
            <a:r>
              <a:rPr b="0" i="0" lang="es-AR" sz="1700" u="none" cap="none" strike="noStrike">
                <a:solidFill>
                  <a:schemeClr val="dk1"/>
                </a:solidFill>
                <a:latin typeface="Calibri"/>
                <a:ea typeface="Calibri"/>
                <a:cs typeface="Calibri"/>
                <a:sym typeface="Calibri"/>
              </a:rPr>
              <a:t> es aquel que tiene fecha de inicio pero </a:t>
            </a:r>
            <a:r>
              <a:rPr b="1" i="0" lang="es-AR" sz="1700" u="sng" cap="none" strike="noStrike">
                <a:solidFill>
                  <a:schemeClr val="dk1"/>
                </a:solidFill>
                <a:latin typeface="Calibri"/>
                <a:ea typeface="Calibri"/>
                <a:cs typeface="Calibri"/>
                <a:sym typeface="Calibri"/>
              </a:rPr>
              <a:t>no especifica una fecha de terminación</a:t>
            </a:r>
            <a:r>
              <a:rPr b="0" i="0" lang="es-AR" sz="1700" u="none" cap="none" strike="noStrike">
                <a:solidFill>
                  <a:schemeClr val="dk1"/>
                </a:solidFill>
                <a:latin typeface="Calibri"/>
                <a:ea typeface="Calibri"/>
                <a:cs typeface="Calibri"/>
                <a:sym typeface="Calibri"/>
              </a:rPr>
              <a:t>, se presume q</a:t>
            </a:r>
            <a:r>
              <a:rPr lang="es-AR" sz="1700">
                <a:solidFill>
                  <a:schemeClr val="dk1"/>
                </a:solidFill>
                <a:latin typeface="Calibri"/>
                <a:ea typeface="Calibri"/>
                <a:cs typeface="Calibri"/>
                <a:sym typeface="Calibri"/>
              </a:rPr>
              <a:t>ue </a:t>
            </a:r>
            <a:r>
              <a:rPr b="0" i="0" lang="es-AR" sz="1700" u="none" cap="none" strike="noStrike">
                <a:solidFill>
                  <a:schemeClr val="dk1"/>
                </a:solidFill>
                <a:latin typeface="Calibri"/>
                <a:ea typeface="Calibri"/>
                <a:cs typeface="Calibri"/>
                <a:sym typeface="Calibri"/>
              </a:rPr>
              <a:t> finalizará cuando el trabajador se encontrará en condiciones de jubilarse</a:t>
            </a:r>
            <a:r>
              <a:rPr lang="es-AR" sz="1700">
                <a:solidFill>
                  <a:schemeClr val="dk1"/>
                </a:solidFill>
                <a:latin typeface="Calibri"/>
                <a:ea typeface="Calibri"/>
                <a:cs typeface="Calibri"/>
                <a:sym typeface="Calibri"/>
              </a:rPr>
              <a:t>.</a:t>
            </a:r>
            <a:endParaRPr b="0" i="0" sz="17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400"/>
              <a:buFont typeface="Arial"/>
              <a:buNone/>
            </a:pPr>
            <a:r>
              <a:t/>
            </a:r>
            <a:endParaRPr>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400"/>
              <a:buFont typeface="Arial"/>
              <a:buNone/>
            </a:pPr>
            <a:r>
              <a:t/>
            </a:r>
            <a:endParaRPr>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400"/>
              <a:buFont typeface="Arial"/>
              <a:buNone/>
            </a:pPr>
            <a:r>
              <a:t/>
            </a:r>
            <a:endParaRPr>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400"/>
              <a:buFont typeface="Arial"/>
              <a:buNone/>
            </a:pPr>
            <a:r>
              <a:t/>
            </a:r>
            <a:endParaRPr>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400"/>
              <a:buFont typeface="Arial"/>
              <a:buNone/>
            </a:pPr>
            <a:r>
              <a:t/>
            </a:r>
            <a:endParaRPr>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400"/>
              <a:buFont typeface="Arial"/>
              <a:buNone/>
            </a:pPr>
            <a:r>
              <a:t/>
            </a:r>
            <a:endParaRPr>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400"/>
              <a:buFont typeface="Arial"/>
              <a:buNone/>
            </a:pPr>
            <a:r>
              <a:t/>
            </a:r>
            <a:endParaRPr>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400"/>
              <a:buFont typeface="Arial"/>
              <a:buNone/>
            </a:pPr>
            <a:r>
              <a:t/>
            </a:r>
            <a:endParaRPr>
              <a:solidFill>
                <a:schemeClr val="dk1"/>
              </a:solidFill>
              <a:latin typeface="Calibri"/>
              <a:ea typeface="Calibri"/>
              <a:cs typeface="Calibri"/>
              <a:sym typeface="Calibri"/>
            </a:endParaRPr>
          </a:p>
          <a:p>
            <a:pPr indent="0" lvl="0" marL="457200" marR="0" rtl="0" algn="l">
              <a:lnSpc>
                <a:spcPct val="12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id="223" name="Google Shape;223;g12ef9ac240f_0_0"/>
          <p:cNvPicPr preferRelativeResize="0"/>
          <p:nvPr/>
        </p:nvPicPr>
        <p:blipFill>
          <a:blip r:embed="rId4">
            <a:alphaModFix/>
          </a:blip>
          <a:stretch>
            <a:fillRect/>
          </a:stretch>
        </p:blipFill>
        <p:spPr>
          <a:xfrm>
            <a:off x="5219700" y="2437725"/>
            <a:ext cx="1984562" cy="2078075"/>
          </a:xfrm>
          <a:prstGeom prst="rect">
            <a:avLst/>
          </a:prstGeom>
          <a:noFill/>
          <a:ln>
            <a:noFill/>
          </a:ln>
        </p:spPr>
      </p:pic>
      <p:sp>
        <p:nvSpPr>
          <p:cNvPr id="224" name="Google Shape;224;g12ef9ac240f_0_0"/>
          <p:cNvSpPr txBox="1"/>
          <p:nvPr/>
        </p:nvSpPr>
        <p:spPr>
          <a:xfrm>
            <a:off x="1227700" y="4785275"/>
            <a:ext cx="7632000" cy="13884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Clr>
                <a:schemeClr val="dk1"/>
              </a:buClr>
              <a:buSzPts val="1400"/>
              <a:buFont typeface="Arial"/>
              <a:buNone/>
            </a:pPr>
            <a:r>
              <a:rPr lang="es-AR" sz="1700">
                <a:solidFill>
                  <a:schemeClr val="dk1"/>
                </a:solidFill>
                <a:latin typeface="Calibri"/>
                <a:ea typeface="Calibri"/>
                <a:cs typeface="Calibri"/>
                <a:sym typeface="Calibri"/>
              </a:rPr>
              <a:t>Principio de </a:t>
            </a:r>
            <a:r>
              <a:rPr b="1" lang="es-AR" sz="1700">
                <a:solidFill>
                  <a:schemeClr val="dk1"/>
                </a:solidFill>
                <a:latin typeface="Calibri"/>
                <a:ea typeface="Calibri"/>
                <a:cs typeface="Calibri"/>
                <a:sym typeface="Calibri"/>
              </a:rPr>
              <a:t>indeterminación del plazo</a:t>
            </a:r>
            <a:r>
              <a:rPr lang="es-AR" sz="1700">
                <a:solidFill>
                  <a:schemeClr val="dk1"/>
                </a:solidFill>
                <a:latin typeface="Calibri"/>
                <a:ea typeface="Calibri"/>
                <a:cs typeface="Calibri"/>
                <a:sym typeface="Calibri"/>
              </a:rPr>
              <a:t>: El contrato de trabajo se entenderá celebrado por tiempo indeterminado, excepto que: </a:t>
            </a:r>
            <a:endParaRPr sz="1700">
              <a:solidFill>
                <a:schemeClr val="dk1"/>
              </a:solidFill>
              <a:latin typeface="Calibri"/>
              <a:ea typeface="Calibri"/>
              <a:cs typeface="Calibri"/>
              <a:sym typeface="Calibri"/>
            </a:endParaRPr>
          </a:p>
          <a:p>
            <a:pPr indent="-361950" lvl="0" marL="342900" rtl="0" algn="l">
              <a:lnSpc>
                <a:spcPct val="120000"/>
              </a:lnSpc>
              <a:spcBef>
                <a:spcPts val="0"/>
              </a:spcBef>
              <a:spcAft>
                <a:spcPts val="0"/>
              </a:spcAft>
              <a:buClr>
                <a:schemeClr val="dk1"/>
              </a:buClr>
              <a:buSzPts val="1700"/>
              <a:buFont typeface="Calibri"/>
              <a:buAutoNum type="arabicParenR"/>
            </a:pPr>
            <a:r>
              <a:rPr lang="es-AR" sz="1700">
                <a:solidFill>
                  <a:schemeClr val="dk1"/>
                </a:solidFill>
                <a:latin typeface="Calibri"/>
                <a:ea typeface="Calibri"/>
                <a:cs typeface="Calibri"/>
                <a:sym typeface="Calibri"/>
              </a:rPr>
              <a:t>se haya fijado en forma expresa y por escrito su tiempo de duración; </a:t>
            </a:r>
            <a:endParaRPr sz="1700">
              <a:solidFill>
                <a:schemeClr val="dk1"/>
              </a:solidFill>
              <a:latin typeface="Calibri"/>
              <a:ea typeface="Calibri"/>
              <a:cs typeface="Calibri"/>
              <a:sym typeface="Calibri"/>
            </a:endParaRPr>
          </a:p>
          <a:p>
            <a:pPr indent="-361950" lvl="0" marL="342900" rtl="0" algn="l">
              <a:lnSpc>
                <a:spcPct val="120000"/>
              </a:lnSpc>
              <a:spcBef>
                <a:spcPts val="0"/>
              </a:spcBef>
              <a:spcAft>
                <a:spcPts val="0"/>
              </a:spcAft>
              <a:buClr>
                <a:schemeClr val="dk1"/>
              </a:buClr>
              <a:buSzPts val="1700"/>
              <a:buFont typeface="Calibri"/>
              <a:buAutoNum type="arabicParenR"/>
            </a:pPr>
            <a:r>
              <a:rPr lang="es-AR" sz="1700">
                <a:solidFill>
                  <a:schemeClr val="dk1"/>
                </a:solidFill>
                <a:latin typeface="Calibri"/>
                <a:ea typeface="Calibri"/>
                <a:cs typeface="Calibri"/>
                <a:sym typeface="Calibri"/>
              </a:rPr>
              <a:t>que las modalidades de las tareas o de la actividad así lo justifiquen.</a:t>
            </a:r>
            <a:endParaRPr sz="1700"/>
          </a:p>
        </p:txBody>
      </p:sp>
      <p:sp>
        <p:nvSpPr>
          <p:cNvPr id="225" name="Google Shape;225;g12ef9ac240f_0_0"/>
          <p:cNvSpPr/>
          <p:nvPr/>
        </p:nvSpPr>
        <p:spPr>
          <a:xfrm>
            <a:off x="7515525" y="2725425"/>
            <a:ext cx="1564300" cy="1610825"/>
          </a:xfrm>
          <a:prstGeom prst="flowChartPunchedTape">
            <a:avLst/>
          </a:prstGeom>
          <a:solidFill>
            <a:srgbClr val="D9D9D9"/>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AR" sz="1800"/>
              <a:t>El contrato n</a:t>
            </a:r>
            <a:r>
              <a:rPr b="1" lang="es-AR" sz="1800"/>
              <a:t>o siempre es escrito</a:t>
            </a:r>
            <a:endParaRPr b="1"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12e8149d08b_0_36"/>
          <p:cNvSpPr txBox="1"/>
          <p:nvPr/>
        </p:nvSpPr>
        <p:spPr>
          <a:xfrm>
            <a:off x="402900" y="2109346"/>
            <a:ext cx="9119700" cy="2253900"/>
          </a:xfrm>
          <a:prstGeom prst="rect">
            <a:avLst/>
          </a:prstGeom>
          <a:noFill/>
          <a:ln>
            <a:noFill/>
          </a:ln>
        </p:spPr>
        <p:txBody>
          <a:bodyPr anchorCtr="0" anchor="t" bIns="45700" lIns="91425" spcFirstLastPara="1" rIns="91425" wrap="square" tIns="45700">
            <a:noAutofit/>
          </a:bodyPr>
          <a:lstStyle/>
          <a:p>
            <a:pPr indent="-35999" lvl="0" marL="35999" rtl="0" algn="just">
              <a:spcBef>
                <a:spcPts val="0"/>
              </a:spcBef>
              <a:spcAft>
                <a:spcPts val="0"/>
              </a:spcAft>
              <a:buNone/>
            </a:pPr>
            <a:r>
              <a:rPr lang="es-AR" sz="1800">
                <a:solidFill>
                  <a:schemeClr val="dk1"/>
                </a:solidFill>
                <a:latin typeface="Calibri"/>
                <a:ea typeface="Calibri"/>
                <a:cs typeface="Calibri"/>
                <a:sym typeface="Calibri"/>
              </a:rPr>
              <a:t>	</a:t>
            </a:r>
            <a:r>
              <a:rPr b="1" lang="es-AR" sz="1800">
                <a:solidFill>
                  <a:schemeClr val="dk1"/>
                </a:solidFill>
                <a:latin typeface="Calibri"/>
                <a:ea typeface="Calibri"/>
                <a:cs typeface="Calibri"/>
                <a:sym typeface="Calibri"/>
              </a:rPr>
              <a:t>El contrato de trabajo se entenderá celebrado a prueba durante los primeros 3 meses de vigencia.</a:t>
            </a:r>
            <a:endParaRPr b="1" sz="1800">
              <a:solidFill>
                <a:schemeClr val="dk1"/>
              </a:solidFill>
              <a:latin typeface="Calibri"/>
              <a:ea typeface="Calibri"/>
              <a:cs typeface="Calibri"/>
              <a:sym typeface="Calibri"/>
            </a:endParaRPr>
          </a:p>
          <a:p>
            <a:pPr indent="-35999" lvl="0" marL="35999" rtl="0" algn="just">
              <a:spcBef>
                <a:spcPts val="0"/>
              </a:spcBef>
              <a:spcAft>
                <a:spcPts val="0"/>
              </a:spcAft>
              <a:buClr>
                <a:schemeClr val="dk1"/>
              </a:buClr>
              <a:buSzPts val="2000"/>
              <a:buFont typeface="Arial"/>
              <a:buNone/>
            </a:pPr>
            <a:r>
              <a:t/>
            </a:r>
            <a:endParaRPr b="1" sz="1800">
              <a:solidFill>
                <a:schemeClr val="dk1"/>
              </a:solidFill>
              <a:latin typeface="Calibri"/>
              <a:ea typeface="Calibri"/>
              <a:cs typeface="Calibri"/>
              <a:sym typeface="Calibri"/>
            </a:endParaRPr>
          </a:p>
          <a:p>
            <a:pPr indent="-114300" lvl="3" marL="457200" rtl="0" algn="just">
              <a:spcBef>
                <a:spcPts val="0"/>
              </a:spcBef>
              <a:spcAft>
                <a:spcPts val="0"/>
              </a:spcAft>
              <a:buClr>
                <a:srgbClr val="264457"/>
              </a:buClr>
              <a:buSzPts val="1800"/>
              <a:buFont typeface="Calibri"/>
              <a:buChar char="▪"/>
            </a:pPr>
            <a:r>
              <a:rPr lang="es-AR" sz="1800">
                <a:solidFill>
                  <a:schemeClr val="dk1"/>
                </a:solidFill>
                <a:latin typeface="Calibri"/>
                <a:ea typeface="Calibri"/>
                <a:cs typeface="Calibri"/>
                <a:sym typeface="Calibri"/>
              </a:rPr>
              <a:t> Sin necesidad de expresar causa.</a:t>
            </a:r>
            <a:endParaRPr sz="1800">
              <a:solidFill>
                <a:schemeClr val="dk1"/>
              </a:solidFill>
              <a:latin typeface="Calibri"/>
              <a:ea typeface="Calibri"/>
              <a:cs typeface="Calibri"/>
              <a:sym typeface="Calibri"/>
            </a:endParaRPr>
          </a:p>
          <a:p>
            <a:pPr indent="-114300" lvl="3" marL="457200" rtl="0" algn="just">
              <a:spcBef>
                <a:spcPts val="0"/>
              </a:spcBef>
              <a:spcAft>
                <a:spcPts val="0"/>
              </a:spcAft>
              <a:buClr>
                <a:srgbClr val="264457"/>
              </a:buClr>
              <a:buSzPts val="1800"/>
              <a:buFont typeface="Calibri"/>
              <a:buChar char="▪"/>
            </a:pPr>
            <a:r>
              <a:rPr lang="es-AR" sz="1800">
                <a:solidFill>
                  <a:schemeClr val="dk1"/>
                </a:solidFill>
                <a:latin typeface="Calibri"/>
                <a:ea typeface="Calibri"/>
                <a:cs typeface="Calibri"/>
                <a:sym typeface="Calibri"/>
              </a:rPr>
              <a:t> Sin derecho a indemnización por despido.</a:t>
            </a:r>
            <a:endParaRPr sz="1800">
              <a:solidFill>
                <a:schemeClr val="dk1"/>
              </a:solidFill>
              <a:latin typeface="Calibri"/>
              <a:ea typeface="Calibri"/>
              <a:cs typeface="Calibri"/>
              <a:sym typeface="Calibri"/>
            </a:endParaRPr>
          </a:p>
          <a:p>
            <a:pPr indent="-114300" lvl="3" marL="457200" rtl="0" algn="just">
              <a:spcBef>
                <a:spcPts val="0"/>
              </a:spcBef>
              <a:spcAft>
                <a:spcPts val="0"/>
              </a:spcAft>
              <a:buClr>
                <a:srgbClr val="264457"/>
              </a:buClr>
              <a:buSzPts val="1800"/>
              <a:buFont typeface="Calibri"/>
              <a:buChar char="▪"/>
            </a:pPr>
            <a:r>
              <a:rPr lang="es-AR" sz="1800">
                <a:solidFill>
                  <a:schemeClr val="dk1"/>
                </a:solidFill>
                <a:latin typeface="Calibri"/>
                <a:ea typeface="Calibri"/>
                <a:cs typeface="Calibri"/>
                <a:sym typeface="Calibri"/>
              </a:rPr>
              <a:t> Se debe preavisar (15 días) o abonar los 15 días de salario.</a:t>
            </a:r>
            <a:endParaRPr sz="1800">
              <a:solidFill>
                <a:schemeClr val="dk1"/>
              </a:solidFill>
              <a:latin typeface="Calibri"/>
              <a:ea typeface="Calibri"/>
              <a:cs typeface="Calibri"/>
              <a:sym typeface="Calibri"/>
            </a:endParaRPr>
          </a:p>
          <a:p>
            <a:pPr indent="-114300" lvl="3" marL="457200" rtl="0" algn="just">
              <a:spcBef>
                <a:spcPts val="0"/>
              </a:spcBef>
              <a:spcAft>
                <a:spcPts val="0"/>
              </a:spcAft>
              <a:buClr>
                <a:srgbClr val="264457"/>
              </a:buClr>
              <a:buSzPts val="1800"/>
              <a:buFont typeface="Calibri"/>
              <a:buChar char="▪"/>
            </a:pPr>
            <a:r>
              <a:rPr lang="es-AR" sz="1800">
                <a:solidFill>
                  <a:schemeClr val="dk1"/>
                </a:solidFill>
                <a:latin typeface="Calibri"/>
                <a:ea typeface="Calibri"/>
                <a:cs typeface="Calibri"/>
                <a:sym typeface="Calibri"/>
              </a:rPr>
              <a:t> El empleador puede dar de baja un contrato en período de prueba ante enfermedades inculpables</a:t>
            </a:r>
            <a:endParaRPr sz="1800">
              <a:solidFill>
                <a:schemeClr val="dk1"/>
              </a:solidFill>
              <a:latin typeface="Calibri"/>
              <a:ea typeface="Calibri"/>
              <a:cs typeface="Calibri"/>
              <a:sym typeface="Calibri"/>
            </a:endParaRPr>
          </a:p>
        </p:txBody>
      </p:sp>
      <p:cxnSp>
        <p:nvCxnSpPr>
          <p:cNvPr id="232" name="Google Shape;232;g12e8149d08b_0_36"/>
          <p:cNvCxnSpPr/>
          <p:nvPr/>
        </p:nvCxnSpPr>
        <p:spPr>
          <a:xfrm>
            <a:off x="278007" y="2129109"/>
            <a:ext cx="9048300" cy="0"/>
          </a:xfrm>
          <a:prstGeom prst="straightConnector1">
            <a:avLst/>
          </a:prstGeom>
          <a:noFill/>
          <a:ln cap="flat" cmpd="sng" w="9525">
            <a:solidFill>
              <a:srgbClr val="BFBFBF"/>
            </a:solidFill>
            <a:prstDash val="solid"/>
            <a:miter lim="800000"/>
            <a:headEnd len="sm" w="sm" type="none"/>
            <a:tailEnd len="sm" w="sm" type="none"/>
          </a:ln>
        </p:spPr>
      </p:cxnSp>
      <p:sp>
        <p:nvSpPr>
          <p:cNvPr id="233" name="Google Shape;233;g12e8149d08b_0_36"/>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234" name="Google Shape;234;g12e8149d08b_0_36"/>
          <p:cNvPicPr preferRelativeResize="0"/>
          <p:nvPr/>
        </p:nvPicPr>
        <p:blipFill rotWithShape="1">
          <a:blip r:embed="rId3">
            <a:alphaModFix/>
          </a:blip>
          <a:srcRect b="0" l="0" r="0" t="0"/>
          <a:stretch/>
        </p:blipFill>
        <p:spPr>
          <a:xfrm>
            <a:off x="7003960" y="64395"/>
            <a:ext cx="2611323" cy="952745"/>
          </a:xfrm>
          <a:prstGeom prst="rect">
            <a:avLst/>
          </a:prstGeom>
          <a:noFill/>
          <a:ln>
            <a:noFill/>
          </a:ln>
        </p:spPr>
      </p:pic>
      <p:sp>
        <p:nvSpPr>
          <p:cNvPr id="235" name="Google Shape;235;g12e8149d08b_0_36"/>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Tipos de contratos</a:t>
            </a:r>
            <a:endParaRPr b="0" i="0" sz="1800" u="none" cap="none" strike="noStrike">
              <a:solidFill>
                <a:schemeClr val="dk1"/>
              </a:solidFill>
              <a:latin typeface="Twentieth Century"/>
              <a:ea typeface="Twentieth Century"/>
              <a:cs typeface="Twentieth Century"/>
              <a:sym typeface="Twentieth Century"/>
            </a:endParaRPr>
          </a:p>
        </p:txBody>
      </p:sp>
      <p:sp>
        <p:nvSpPr>
          <p:cNvPr id="236" name="Google Shape;236;g12e8149d08b_0_36"/>
          <p:cNvSpPr/>
          <p:nvPr/>
        </p:nvSpPr>
        <p:spPr>
          <a:xfrm>
            <a:off x="472725" y="1551550"/>
            <a:ext cx="8914200" cy="368700"/>
          </a:xfrm>
          <a:prstGeom prst="roundRect">
            <a:avLst>
              <a:gd fmla="val 16667" name="adj"/>
            </a:avLst>
          </a:prstGeom>
          <a:solidFill>
            <a:srgbClr val="9900FF"/>
          </a:solidFill>
          <a:ln>
            <a:noFill/>
          </a:ln>
          <a:effectLst>
            <a:outerShdw blurRad="149986" algn="ctr" dir="8460000" dist="250189">
              <a:srgbClr val="000000">
                <a:alpha val="2705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161D"/>
              </a:buClr>
              <a:buSzPts val="1800"/>
              <a:buFont typeface="Calibri"/>
              <a:buNone/>
            </a:pPr>
            <a:r>
              <a:rPr b="1" i="0" lang="es-AR" sz="1800" u="none" cap="none" strike="noStrike">
                <a:solidFill>
                  <a:schemeClr val="lt1"/>
                </a:solidFill>
                <a:latin typeface="Calibri"/>
                <a:ea typeface="Calibri"/>
                <a:cs typeface="Calibri"/>
                <a:sym typeface="Calibri"/>
              </a:rPr>
              <a:t>Período de Prueba (Art 92 bis)</a:t>
            </a:r>
            <a:endParaRPr b="1" i="0" sz="1800" u="none" cap="none" strike="noStrike">
              <a:solidFill>
                <a:schemeClr val="lt1"/>
              </a:solidFill>
              <a:latin typeface="Calibri"/>
              <a:ea typeface="Calibri"/>
              <a:cs typeface="Calibri"/>
              <a:sym typeface="Calibri"/>
            </a:endParaRPr>
          </a:p>
        </p:txBody>
      </p:sp>
      <p:sp>
        <p:nvSpPr>
          <p:cNvPr id="237" name="Google Shape;237;g12e8149d08b_0_36"/>
          <p:cNvSpPr txBox="1"/>
          <p:nvPr/>
        </p:nvSpPr>
        <p:spPr>
          <a:xfrm>
            <a:off x="3201000" y="4458449"/>
            <a:ext cx="4137300" cy="2308800"/>
          </a:xfrm>
          <a:prstGeom prst="rect">
            <a:avLst/>
          </a:prstGeom>
          <a:solidFill>
            <a:srgbClr val="D9D9D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1800"/>
              <a:buFont typeface="Arial"/>
              <a:buNone/>
            </a:pPr>
            <a:r>
              <a:rPr b="1" i="0" lang="es-AR" sz="1800" u="sng" cap="none" strike="noStrike">
                <a:solidFill>
                  <a:srgbClr val="000000"/>
                </a:solidFill>
                <a:latin typeface="Calibri"/>
                <a:ea typeface="Calibri"/>
                <a:cs typeface="Calibri"/>
                <a:sym typeface="Calibri"/>
              </a:rPr>
              <a:t>Protección por Maternidad y Matrimonio: </a:t>
            </a:r>
            <a:r>
              <a:rPr i="0" lang="es-AR" sz="1800" u="none" cap="none" strike="noStrike">
                <a:solidFill>
                  <a:srgbClr val="000000"/>
                </a:solidFill>
                <a:latin typeface="Calibri"/>
                <a:ea typeface="Calibri"/>
                <a:cs typeface="Calibri"/>
                <a:sym typeface="Calibri"/>
              </a:rPr>
              <a:t>tienen una normativa protectoria de jerarquía constitucional que protege a los trabajadores de prácticas discriminatorias, por lo que están por sobre el período de prueba.</a:t>
            </a:r>
            <a:endParaRPr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wentieth Century"/>
              <a:ea typeface="Twentieth Century"/>
              <a:cs typeface="Twentieth Century"/>
              <a:sym typeface="Twentieth Century"/>
            </a:endParaRPr>
          </a:p>
        </p:txBody>
      </p:sp>
      <p:pic>
        <p:nvPicPr>
          <p:cNvPr id="238" name="Google Shape;238;g12e8149d08b_0_36"/>
          <p:cNvPicPr preferRelativeResize="0"/>
          <p:nvPr/>
        </p:nvPicPr>
        <p:blipFill>
          <a:blip r:embed="rId4">
            <a:alphaModFix/>
          </a:blip>
          <a:stretch>
            <a:fillRect/>
          </a:stretch>
        </p:blipFill>
        <p:spPr>
          <a:xfrm>
            <a:off x="7374499" y="4225025"/>
            <a:ext cx="1341274" cy="2614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cxnSp>
        <p:nvCxnSpPr>
          <p:cNvPr id="243" name="Google Shape;243;g12e8149d08b_0_47"/>
          <p:cNvCxnSpPr/>
          <p:nvPr/>
        </p:nvCxnSpPr>
        <p:spPr>
          <a:xfrm>
            <a:off x="428786" y="2561132"/>
            <a:ext cx="9048300" cy="0"/>
          </a:xfrm>
          <a:prstGeom prst="straightConnector1">
            <a:avLst/>
          </a:prstGeom>
          <a:noFill/>
          <a:ln cap="flat" cmpd="sng" w="9525">
            <a:solidFill>
              <a:srgbClr val="BFBFBF"/>
            </a:solidFill>
            <a:prstDash val="solid"/>
            <a:miter lim="800000"/>
            <a:headEnd len="sm" w="sm" type="none"/>
            <a:tailEnd len="sm" w="sm" type="none"/>
          </a:ln>
        </p:spPr>
      </p:cxnSp>
      <p:sp>
        <p:nvSpPr>
          <p:cNvPr id="244" name="Google Shape;244;g12e8149d08b_0_47"/>
          <p:cNvSpPr txBox="1"/>
          <p:nvPr/>
        </p:nvSpPr>
        <p:spPr>
          <a:xfrm>
            <a:off x="500093" y="2734430"/>
            <a:ext cx="9119700" cy="2493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Calibri"/>
              <a:buNone/>
            </a:pPr>
            <a:r>
              <a:rPr b="1" i="0" lang="es-AR" sz="1700" u="none" cap="none" strike="noStrike">
                <a:solidFill>
                  <a:schemeClr val="dk1"/>
                </a:solidFill>
                <a:latin typeface="Calibri"/>
                <a:ea typeface="Calibri"/>
                <a:cs typeface="Calibri"/>
                <a:sym typeface="Calibri"/>
              </a:rPr>
              <a:t>El trabajador se obliga a prestar servicios durante un determinado número de horas al día, semana o mes, inferiores a las dos terceras partes de la jornada habitual de la actividad.</a:t>
            </a:r>
            <a:endParaRPr b="1"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400"/>
              <a:buFont typeface="Calibri"/>
              <a:buNone/>
            </a:pPr>
            <a:r>
              <a:t/>
            </a:r>
            <a:endParaRPr sz="1700">
              <a:solidFill>
                <a:schemeClr val="dk1"/>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i="0" lang="es-AR" sz="1700" u="none" cap="none" strike="noStrike">
                <a:solidFill>
                  <a:schemeClr val="dk1"/>
                </a:solidFill>
                <a:latin typeface="Calibri"/>
                <a:ea typeface="Calibri"/>
                <a:cs typeface="Calibri"/>
                <a:sym typeface="Calibri"/>
              </a:rPr>
              <a:t>Remuneración proporcional.</a:t>
            </a:r>
            <a:endParaRPr i="0" sz="1700" u="none" cap="none" strike="noStrike">
              <a:solidFill>
                <a:srgbClr val="000000"/>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i="0" lang="es-AR" sz="1700" u="none" cap="none" strike="noStrike">
                <a:solidFill>
                  <a:schemeClr val="dk1"/>
                </a:solidFill>
                <a:latin typeface="Calibri"/>
                <a:ea typeface="Calibri"/>
                <a:cs typeface="Calibri"/>
                <a:sym typeface="Calibri"/>
              </a:rPr>
              <a:t>Si la jornada pactada supera esa proporción, el empleador deberá abonar la remuneración correspondiente a un trabajador de jornada completa.</a:t>
            </a:r>
            <a:endParaRPr i="0" sz="1700" u="none" cap="none" strike="noStrike">
              <a:solidFill>
                <a:srgbClr val="000000"/>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i="0" lang="es-AR" sz="1700" u="none" cap="none" strike="noStrike">
                <a:solidFill>
                  <a:schemeClr val="dk1"/>
                </a:solidFill>
                <a:latin typeface="Calibri"/>
                <a:ea typeface="Calibri"/>
                <a:cs typeface="Calibri"/>
                <a:sym typeface="Calibri"/>
              </a:rPr>
              <a:t>Los trabajadores contratados a tiempo parcial</a:t>
            </a:r>
            <a:r>
              <a:rPr b="1" i="0" lang="es-AR" sz="1700" u="none" cap="none" strike="noStrike">
                <a:solidFill>
                  <a:schemeClr val="dk1"/>
                </a:solidFill>
                <a:latin typeface="Calibri"/>
                <a:ea typeface="Calibri"/>
                <a:cs typeface="Calibri"/>
                <a:sym typeface="Calibri"/>
              </a:rPr>
              <a:t> no podrán realizar horas suplementarias o extraordinarias.</a:t>
            </a:r>
            <a:endParaRPr b="1" i="0" sz="1700" u="none" cap="none" strike="noStrike">
              <a:solidFill>
                <a:schemeClr val="dk1"/>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i="0" lang="es-AR" sz="1700" u="none" cap="none" strike="noStrike">
                <a:solidFill>
                  <a:schemeClr val="dk1"/>
                </a:solidFill>
                <a:latin typeface="Calibri"/>
                <a:ea typeface="Calibri"/>
                <a:cs typeface="Calibri"/>
                <a:sym typeface="Calibri"/>
              </a:rPr>
              <a:t>Aportes proporcionales, a excepción de la obra social que el aporte es completo.</a:t>
            </a:r>
            <a:endParaRPr i="0" sz="1700" u="none" cap="none" strike="noStrike">
              <a:solidFill>
                <a:srgbClr val="000000"/>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i="0" lang="es-AR" sz="1700" u="none" cap="none" strike="noStrike">
                <a:solidFill>
                  <a:schemeClr val="dk1"/>
                </a:solidFill>
                <a:latin typeface="Calibri"/>
                <a:ea typeface="Calibri"/>
                <a:cs typeface="Calibri"/>
                <a:sym typeface="Calibri"/>
              </a:rPr>
              <a:t>Prioridad para ofrecer un puesto de jornada completa.</a:t>
            </a:r>
            <a:endParaRPr i="0" sz="1700" u="none" cap="none" strike="noStrike">
              <a:solidFill>
                <a:srgbClr val="000000"/>
              </a:solidFill>
              <a:latin typeface="Calibri"/>
              <a:ea typeface="Calibri"/>
              <a:cs typeface="Calibri"/>
              <a:sym typeface="Calibri"/>
            </a:endParaRPr>
          </a:p>
          <a:p>
            <a:pPr indent="-196850" lvl="0" marL="285750" marR="0" rtl="0" algn="l">
              <a:lnSpc>
                <a:spcPct val="120000"/>
              </a:lnSpc>
              <a:spcBef>
                <a:spcPts val="0"/>
              </a:spcBef>
              <a:spcAft>
                <a:spcPts val="0"/>
              </a:spcAft>
              <a:buClr>
                <a:schemeClr val="dk1"/>
              </a:buClr>
              <a:buSzPts val="1400"/>
              <a:buFont typeface="Arial"/>
              <a:buNone/>
            </a:pPr>
            <a:r>
              <a:t/>
            </a:r>
            <a:endParaRPr b="0" i="0" sz="1800" u="none" cap="none" strike="noStrike">
              <a:solidFill>
                <a:schemeClr val="dk1"/>
              </a:solidFill>
              <a:latin typeface="Calibri"/>
              <a:ea typeface="Calibri"/>
              <a:cs typeface="Calibri"/>
              <a:sym typeface="Calibri"/>
            </a:endParaRPr>
          </a:p>
        </p:txBody>
      </p:sp>
      <p:sp>
        <p:nvSpPr>
          <p:cNvPr id="245" name="Google Shape;245;g12e8149d08b_0_47"/>
          <p:cNvSpPr/>
          <p:nvPr/>
        </p:nvSpPr>
        <p:spPr>
          <a:xfrm>
            <a:off x="500103" y="1932725"/>
            <a:ext cx="8755800" cy="362100"/>
          </a:xfrm>
          <a:prstGeom prst="round2SameRect">
            <a:avLst>
              <a:gd fmla="val 16667" name="adj1"/>
              <a:gd fmla="val 0" name="adj2"/>
            </a:avLst>
          </a:prstGeom>
          <a:solidFill>
            <a:srgbClr val="9900FF"/>
          </a:solidFill>
          <a:ln>
            <a:noFill/>
          </a:ln>
          <a:effectLst>
            <a:outerShdw blurRad="57150" rotWithShape="0" algn="bl" dist="114300">
              <a:srgbClr val="000000">
                <a:alpha val="4980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161D"/>
              </a:buClr>
              <a:buSzPts val="1800"/>
              <a:buFont typeface="Calibri"/>
              <a:buNone/>
            </a:pPr>
            <a:r>
              <a:rPr b="1" i="0" lang="es-AR" sz="1800" u="none" cap="none" strike="noStrike">
                <a:solidFill>
                  <a:schemeClr val="lt1"/>
                </a:solidFill>
                <a:latin typeface="Calibri"/>
                <a:ea typeface="Calibri"/>
                <a:cs typeface="Calibri"/>
                <a:sym typeface="Calibri"/>
              </a:rPr>
              <a:t>Contrato a tiempo parcial (Art.92 ter)</a:t>
            </a:r>
            <a:endParaRPr b="0" i="0" sz="1800" u="none" cap="none" strike="noStrike">
              <a:solidFill>
                <a:schemeClr val="lt1"/>
              </a:solidFill>
              <a:latin typeface="Twentieth Century"/>
              <a:ea typeface="Twentieth Century"/>
              <a:cs typeface="Twentieth Century"/>
              <a:sym typeface="Twentieth Century"/>
            </a:endParaRPr>
          </a:p>
        </p:txBody>
      </p:sp>
      <p:pic>
        <p:nvPicPr>
          <p:cNvPr descr="Image result for utn frba" id="246" name="Google Shape;246;g12e8149d08b_0_47"/>
          <p:cNvPicPr preferRelativeResize="0"/>
          <p:nvPr/>
        </p:nvPicPr>
        <p:blipFill rotWithShape="1">
          <a:blip r:embed="rId3">
            <a:alphaModFix/>
          </a:blip>
          <a:srcRect b="0" l="0" r="0" t="0"/>
          <a:stretch/>
        </p:blipFill>
        <p:spPr>
          <a:xfrm>
            <a:off x="7003960" y="64395"/>
            <a:ext cx="2611323" cy="952745"/>
          </a:xfrm>
          <a:prstGeom prst="rect">
            <a:avLst/>
          </a:prstGeom>
          <a:noFill/>
          <a:ln>
            <a:noFill/>
          </a:ln>
        </p:spPr>
      </p:pic>
      <p:sp>
        <p:nvSpPr>
          <p:cNvPr id="247" name="Google Shape;247;g12e8149d08b_0_47"/>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248" name="Google Shape;248;g12e8149d08b_0_47"/>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Tipos de contratos</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12e8149d08b_0_57"/>
          <p:cNvSpPr txBox="1"/>
          <p:nvPr/>
        </p:nvSpPr>
        <p:spPr>
          <a:xfrm>
            <a:off x="761775" y="2192225"/>
            <a:ext cx="4090500" cy="1767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Calibri"/>
              <a:buNone/>
            </a:pPr>
            <a:r>
              <a:rPr b="1" i="0" lang="es-AR" sz="1700" u="none" cap="none" strike="noStrike">
                <a:solidFill>
                  <a:schemeClr val="dk1"/>
                </a:solidFill>
                <a:latin typeface="Calibri"/>
                <a:ea typeface="Calibri"/>
                <a:cs typeface="Calibri"/>
                <a:sym typeface="Calibri"/>
              </a:rPr>
              <a:t>Se da cuando la relación entre las partes, originada por actividades propias del giro normal de la empresa o explotación, se cumpla en determinadas épocas del año.</a:t>
            </a:r>
            <a:endParaRPr b="1" i="0" sz="1700" u="none" cap="none" strike="noStrike">
              <a:solidFill>
                <a:srgbClr val="000000"/>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400"/>
              <a:buFont typeface="Calibri"/>
              <a:buNone/>
            </a:pPr>
            <a:r>
              <a:t/>
            </a:r>
            <a:endParaRPr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cxnSp>
        <p:nvCxnSpPr>
          <p:cNvPr id="255" name="Google Shape;255;g12e8149d08b_0_57"/>
          <p:cNvCxnSpPr/>
          <p:nvPr/>
        </p:nvCxnSpPr>
        <p:spPr>
          <a:xfrm>
            <a:off x="395167" y="2040034"/>
            <a:ext cx="9048300" cy="0"/>
          </a:xfrm>
          <a:prstGeom prst="straightConnector1">
            <a:avLst/>
          </a:prstGeom>
          <a:noFill/>
          <a:ln cap="flat" cmpd="sng" w="9525">
            <a:solidFill>
              <a:srgbClr val="BFBFBF"/>
            </a:solidFill>
            <a:prstDash val="solid"/>
            <a:miter lim="800000"/>
            <a:headEnd len="sm" w="sm" type="none"/>
            <a:tailEnd len="sm" w="sm" type="none"/>
          </a:ln>
        </p:spPr>
      </p:cxnSp>
      <p:sp>
        <p:nvSpPr>
          <p:cNvPr id="256" name="Google Shape;256;g12e8149d08b_0_57"/>
          <p:cNvSpPr/>
          <p:nvPr/>
        </p:nvSpPr>
        <p:spPr>
          <a:xfrm>
            <a:off x="395178" y="1483700"/>
            <a:ext cx="8991600" cy="362100"/>
          </a:xfrm>
          <a:prstGeom prst="round2SameRect">
            <a:avLst>
              <a:gd fmla="val 16667" name="adj1"/>
              <a:gd fmla="val 0" name="adj2"/>
            </a:avLst>
          </a:prstGeom>
          <a:solidFill>
            <a:srgbClr val="9900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161D"/>
              </a:buClr>
              <a:buSzPts val="1800"/>
              <a:buFont typeface="Calibri"/>
              <a:buNone/>
            </a:pPr>
            <a:r>
              <a:rPr b="1" i="0" lang="es-AR" sz="1800" u="none" cap="none" strike="noStrike">
                <a:solidFill>
                  <a:schemeClr val="lt1"/>
                </a:solidFill>
                <a:latin typeface="Calibri"/>
                <a:ea typeface="Calibri"/>
                <a:cs typeface="Calibri"/>
                <a:sym typeface="Calibri"/>
              </a:rPr>
              <a:t>Contrato de trabajo de temporada (Art 96)</a:t>
            </a:r>
            <a:endParaRPr b="0" i="0" sz="1800" u="none" cap="none" strike="noStrike">
              <a:solidFill>
                <a:schemeClr val="lt1"/>
              </a:solidFill>
              <a:latin typeface="Twentieth Century"/>
              <a:ea typeface="Twentieth Century"/>
              <a:cs typeface="Twentieth Century"/>
              <a:sym typeface="Twentieth Century"/>
            </a:endParaRPr>
          </a:p>
        </p:txBody>
      </p:sp>
      <p:sp>
        <p:nvSpPr>
          <p:cNvPr id="257" name="Google Shape;257;g12e8149d08b_0_57"/>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258" name="Google Shape;258;g12e8149d08b_0_57"/>
          <p:cNvPicPr preferRelativeResize="0"/>
          <p:nvPr/>
        </p:nvPicPr>
        <p:blipFill rotWithShape="1">
          <a:blip r:embed="rId3">
            <a:alphaModFix/>
          </a:blip>
          <a:srcRect b="0" l="0" r="0" t="0"/>
          <a:stretch/>
        </p:blipFill>
        <p:spPr>
          <a:xfrm>
            <a:off x="7003960" y="64395"/>
            <a:ext cx="2611323" cy="952745"/>
          </a:xfrm>
          <a:prstGeom prst="rect">
            <a:avLst/>
          </a:prstGeom>
          <a:noFill/>
          <a:ln>
            <a:noFill/>
          </a:ln>
        </p:spPr>
      </p:pic>
      <p:sp>
        <p:nvSpPr>
          <p:cNvPr id="259" name="Google Shape;259;g12e8149d08b_0_57"/>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Tipos de contratos</a:t>
            </a:r>
            <a:endParaRPr b="0" i="0" sz="1800" u="none" cap="none" strike="noStrike">
              <a:solidFill>
                <a:schemeClr val="dk1"/>
              </a:solidFill>
              <a:latin typeface="Twentieth Century"/>
              <a:ea typeface="Twentieth Century"/>
              <a:cs typeface="Twentieth Century"/>
              <a:sym typeface="Twentieth Century"/>
            </a:endParaRPr>
          </a:p>
        </p:txBody>
      </p:sp>
      <p:sp>
        <p:nvSpPr>
          <p:cNvPr id="260" name="Google Shape;260;g12e8149d08b_0_57"/>
          <p:cNvSpPr txBox="1"/>
          <p:nvPr/>
        </p:nvSpPr>
        <p:spPr>
          <a:xfrm>
            <a:off x="395175" y="3958950"/>
            <a:ext cx="8991600" cy="3244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Clr>
                <a:schemeClr val="dk1"/>
              </a:buClr>
              <a:buSzPts val="1400"/>
              <a:buFont typeface="Calibri"/>
              <a:buNone/>
            </a:pPr>
            <a:r>
              <a:rPr lang="es-AR" sz="1700">
                <a:solidFill>
                  <a:schemeClr val="dk1"/>
                </a:solidFill>
                <a:latin typeface="Calibri"/>
                <a:ea typeface="Calibri"/>
                <a:cs typeface="Calibri"/>
                <a:sym typeface="Calibri"/>
              </a:rPr>
              <a:t>El período que transcurre entre un período de prestación de la actividad y el otro, si bien mantiene vigente el contrato no da derecho a remuneración, ni se computa como antigüedad en el empleo.</a:t>
            </a:r>
            <a:endParaRPr sz="1700">
              <a:solidFill>
                <a:schemeClr val="dk1"/>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400"/>
              <a:buFont typeface="Twentieth Century"/>
              <a:buNone/>
            </a:pPr>
            <a:r>
              <a:t/>
            </a:r>
            <a:endParaRPr sz="1700">
              <a:solidFill>
                <a:schemeClr val="dk1"/>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400"/>
              <a:buFont typeface="Calibri"/>
              <a:buNone/>
            </a:pPr>
            <a:r>
              <a:rPr lang="es-AR" sz="1700">
                <a:solidFill>
                  <a:schemeClr val="dk1"/>
                </a:solidFill>
                <a:latin typeface="Calibri"/>
                <a:ea typeface="Calibri"/>
                <a:cs typeface="Calibri"/>
                <a:sym typeface="Calibri"/>
              </a:rPr>
              <a:t>Si bien ya están pactadas las épocas del año en que la relación laboral se reinicia, el empleador debe notificar al trabajador treinta días antes de la fecha de reinicio en forma fehaciente su voluntad de continuar con el contrato. Si no lo hace el trabajador puede ser considerado despedido sin causa. </a:t>
            </a:r>
            <a:endParaRPr sz="1700">
              <a:solidFill>
                <a:schemeClr val="dk1"/>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400"/>
              <a:buFont typeface="Calibri"/>
              <a:buNone/>
            </a:pPr>
            <a:r>
              <a:t/>
            </a:r>
            <a:endParaRPr sz="1700">
              <a:solidFill>
                <a:schemeClr val="dk1"/>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400"/>
              <a:buFont typeface="Calibri"/>
              <a:buNone/>
            </a:pPr>
            <a:r>
              <a:rPr lang="es-AR" sz="1700">
                <a:solidFill>
                  <a:schemeClr val="dk1"/>
                </a:solidFill>
                <a:latin typeface="Calibri"/>
                <a:ea typeface="Calibri"/>
                <a:cs typeface="Calibri"/>
                <a:sym typeface="Calibri"/>
              </a:rPr>
              <a:t>Las vacaciones se computan 1 día por cada 20 trabajados (proporcional).</a:t>
            </a:r>
            <a:endParaRPr sz="1700">
              <a:solidFill>
                <a:schemeClr val="dk1"/>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a:p>
        </p:txBody>
      </p:sp>
      <p:pic>
        <p:nvPicPr>
          <p:cNvPr id="261" name="Google Shape;261;g12e8149d08b_0_57"/>
          <p:cNvPicPr preferRelativeResize="0"/>
          <p:nvPr/>
        </p:nvPicPr>
        <p:blipFill>
          <a:blip r:embed="rId4">
            <a:alphaModFix/>
          </a:blip>
          <a:stretch>
            <a:fillRect/>
          </a:stretch>
        </p:blipFill>
        <p:spPr>
          <a:xfrm>
            <a:off x="4879321" y="2138951"/>
            <a:ext cx="4112278" cy="1767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12e8149d08b_0_67"/>
          <p:cNvSpPr txBox="1"/>
          <p:nvPr/>
        </p:nvSpPr>
        <p:spPr>
          <a:xfrm>
            <a:off x="328525" y="2135125"/>
            <a:ext cx="9290700" cy="45708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Calibri"/>
              <a:buNone/>
            </a:pPr>
            <a:r>
              <a:rPr b="1" i="0" lang="es-AR" sz="1700" u="none" cap="none" strike="noStrike">
                <a:solidFill>
                  <a:schemeClr val="dk1"/>
                </a:solidFill>
                <a:latin typeface="Calibri"/>
                <a:ea typeface="Calibri"/>
                <a:cs typeface="Calibri"/>
                <a:sym typeface="Calibri"/>
              </a:rPr>
              <a:t>El contrato a plazo fijo durará hasta el vencimiento del plazo convenido, no pudiendo celebrarse por más de 5 años. S</a:t>
            </a:r>
            <a:r>
              <a:rPr b="1" lang="es-AR" sz="1700">
                <a:solidFill>
                  <a:schemeClr val="dk1"/>
                </a:solidFill>
                <a:latin typeface="Calibri"/>
                <a:ea typeface="Calibri"/>
                <a:cs typeface="Calibri"/>
                <a:sym typeface="Calibri"/>
              </a:rPr>
              <a:t>ó</a:t>
            </a:r>
            <a:r>
              <a:rPr b="1" i="0" lang="es-AR" sz="1700" u="none" cap="none" strike="noStrike">
                <a:solidFill>
                  <a:schemeClr val="dk1"/>
                </a:solidFill>
                <a:latin typeface="Calibri"/>
                <a:ea typeface="Calibri"/>
                <a:cs typeface="Calibri"/>
                <a:sym typeface="Calibri"/>
              </a:rPr>
              <a:t>lo es posible renovarse hasta 3 veces</a:t>
            </a:r>
            <a:r>
              <a:rPr i="0" lang="es-AR" sz="1700" u="none" cap="none" strike="noStrike">
                <a:solidFill>
                  <a:schemeClr val="dk1"/>
                </a:solidFill>
                <a:latin typeface="Calibri"/>
                <a:ea typeface="Calibri"/>
                <a:cs typeface="Calibri"/>
                <a:sym typeface="Calibri"/>
              </a:rPr>
              <a:t>. </a:t>
            </a:r>
            <a:endParaRPr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400"/>
              <a:buFont typeface="Calibri"/>
              <a:buNone/>
            </a:pPr>
            <a:r>
              <a:t/>
            </a:r>
            <a:endParaRPr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400"/>
              <a:buFont typeface="Calibri"/>
              <a:buNone/>
            </a:pPr>
            <a:r>
              <a:rPr i="0" lang="es-AR" sz="1700" u="sng" cap="none" strike="noStrike">
                <a:solidFill>
                  <a:schemeClr val="dk1"/>
                </a:solidFill>
                <a:latin typeface="Calibri"/>
                <a:ea typeface="Calibri"/>
                <a:cs typeface="Calibri"/>
                <a:sym typeface="Calibri"/>
              </a:rPr>
              <a:t>Requisitos: </a:t>
            </a:r>
            <a:endParaRPr i="0" sz="1700" u="sng" cap="none" strike="noStrike">
              <a:solidFill>
                <a:schemeClr val="dk1"/>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Arial"/>
              <a:buChar char="•"/>
            </a:pPr>
            <a:r>
              <a:rPr i="0" lang="es-AR" sz="1700" u="none" cap="none" strike="noStrike">
                <a:solidFill>
                  <a:schemeClr val="dk1"/>
                </a:solidFill>
                <a:latin typeface="Calibri"/>
                <a:ea typeface="Calibri"/>
                <a:cs typeface="Calibri"/>
                <a:sym typeface="Calibri"/>
              </a:rPr>
              <a:t>Celebrarse por </a:t>
            </a:r>
            <a:r>
              <a:rPr b="1" i="0" lang="es-AR" sz="1700" u="none" cap="none" strike="noStrike">
                <a:solidFill>
                  <a:schemeClr val="dk1"/>
                </a:solidFill>
                <a:latin typeface="Calibri"/>
                <a:ea typeface="Calibri"/>
                <a:cs typeface="Calibri"/>
                <a:sym typeface="Calibri"/>
              </a:rPr>
              <a:t>escrito</a:t>
            </a:r>
            <a:r>
              <a:rPr i="0" lang="es-AR" sz="1700" u="none" cap="none" strike="noStrike">
                <a:solidFill>
                  <a:schemeClr val="dk1"/>
                </a:solidFill>
                <a:latin typeface="Calibri"/>
                <a:ea typeface="Calibri"/>
                <a:cs typeface="Calibri"/>
                <a:sym typeface="Calibri"/>
              </a:rPr>
              <a:t> indicando en forma expresa el plazo de duración (inicio y fin).</a:t>
            </a:r>
            <a:endParaRPr i="0" sz="1700" u="none" cap="none" strike="noStrike">
              <a:solidFill>
                <a:schemeClr val="dk1"/>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Arial"/>
              <a:buChar char="•"/>
            </a:pPr>
            <a:r>
              <a:rPr i="0" lang="es-AR" sz="1700" u="none" cap="none" strike="noStrike">
                <a:solidFill>
                  <a:schemeClr val="dk1"/>
                </a:solidFill>
                <a:latin typeface="Calibri"/>
                <a:ea typeface="Calibri"/>
                <a:cs typeface="Calibri"/>
                <a:sym typeface="Calibri"/>
              </a:rPr>
              <a:t>Que existan </a:t>
            </a:r>
            <a:r>
              <a:rPr b="1" i="0" lang="es-AR" sz="1700" u="none" cap="none" strike="noStrike">
                <a:solidFill>
                  <a:schemeClr val="dk1"/>
                </a:solidFill>
                <a:latin typeface="Calibri"/>
                <a:ea typeface="Calibri"/>
                <a:cs typeface="Calibri"/>
                <a:sym typeface="Calibri"/>
              </a:rPr>
              <a:t>razones objetivas </a:t>
            </a:r>
            <a:r>
              <a:rPr i="0" lang="es-AR" sz="1700" u="none" cap="none" strike="noStrike">
                <a:solidFill>
                  <a:schemeClr val="dk1"/>
                </a:solidFill>
                <a:latin typeface="Calibri"/>
                <a:ea typeface="Calibri"/>
                <a:cs typeface="Calibri"/>
                <a:sym typeface="Calibri"/>
              </a:rPr>
              <a:t>fundadas en las modalidades de la tarea o actividad que justifiquen adoptar esta modalidad.</a:t>
            </a:r>
            <a:endParaRPr i="0" sz="1700" u="none" cap="none" strike="noStrike">
              <a:solidFill>
                <a:srgbClr val="000000"/>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i="0" lang="es-AR" sz="1700" u="none" cap="none" strike="noStrike">
                <a:solidFill>
                  <a:schemeClr val="dk1"/>
                </a:solidFill>
                <a:latin typeface="Calibri"/>
                <a:ea typeface="Calibri"/>
                <a:cs typeface="Calibri"/>
                <a:sym typeface="Calibri"/>
              </a:rPr>
              <a:t>Se deberá </a:t>
            </a:r>
            <a:r>
              <a:rPr b="1" i="0" lang="es-AR" sz="1700" u="none" cap="none" strike="noStrike">
                <a:solidFill>
                  <a:schemeClr val="dk1"/>
                </a:solidFill>
                <a:latin typeface="Calibri"/>
                <a:ea typeface="Calibri"/>
                <a:cs typeface="Calibri"/>
                <a:sym typeface="Calibri"/>
              </a:rPr>
              <a:t>dar preaviso antes del mes de vencimiento</a:t>
            </a:r>
            <a:r>
              <a:rPr i="0" lang="es-AR" sz="1700" u="none" cap="none" strike="noStrike">
                <a:solidFill>
                  <a:schemeClr val="dk1"/>
                </a:solidFill>
                <a:latin typeface="Calibri"/>
                <a:ea typeface="Calibri"/>
                <a:cs typeface="Calibri"/>
                <a:sym typeface="Calibri"/>
              </a:rPr>
              <a:t>.</a:t>
            </a:r>
            <a:endParaRPr i="0" sz="1700" u="none" cap="none" strike="noStrike">
              <a:solidFill>
                <a:srgbClr val="000000"/>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i="0" lang="es-AR" sz="1700" u="none" cap="none" strike="noStrike">
                <a:solidFill>
                  <a:schemeClr val="dk1"/>
                </a:solidFill>
                <a:latin typeface="Calibri"/>
                <a:ea typeface="Calibri"/>
                <a:cs typeface="Calibri"/>
                <a:sym typeface="Calibri"/>
              </a:rPr>
              <a:t>Si no se notifica el vencimiento o se excede la fecha de vencimiento del contrato, automáticamente se considerará contrato por tiempo indeterminado.</a:t>
            </a:r>
            <a:endParaRPr sz="1700">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b="1" lang="es-AR" sz="1700">
                <a:solidFill>
                  <a:srgbClr val="FF0000"/>
                </a:solidFill>
                <a:latin typeface="Calibri"/>
                <a:ea typeface="Calibri"/>
                <a:cs typeface="Calibri"/>
                <a:sym typeface="Calibri"/>
              </a:rPr>
              <a:t>Si no llega a término, sin causa, se deberá pagar:</a:t>
            </a:r>
            <a:r>
              <a:rPr lang="es-AR" sz="1700">
                <a:solidFill>
                  <a:schemeClr val="dk1"/>
                </a:solidFill>
                <a:latin typeface="Calibri"/>
                <a:ea typeface="Calibri"/>
                <a:cs typeface="Calibri"/>
                <a:sym typeface="Calibri"/>
              </a:rPr>
              <a:t> </a:t>
            </a:r>
            <a:r>
              <a:rPr b="1" lang="es-AR" sz="1700">
                <a:solidFill>
                  <a:srgbClr val="FF0000"/>
                </a:solidFill>
                <a:latin typeface="Calibri"/>
                <a:ea typeface="Calibri"/>
                <a:cs typeface="Calibri"/>
                <a:sym typeface="Calibri"/>
              </a:rPr>
              <a:t>los salarios faltantes + media indemnización, siempre que sea un contrato menor a un año.</a:t>
            </a:r>
            <a:endParaRPr sz="1700">
              <a:solidFill>
                <a:schemeClr val="dk1"/>
              </a:solidFill>
              <a:latin typeface="Calibri"/>
              <a:ea typeface="Calibri"/>
              <a:cs typeface="Calibri"/>
              <a:sym typeface="Calibri"/>
            </a:endParaRPr>
          </a:p>
          <a:p>
            <a:pPr indent="0" lvl="0" marL="457200" rtl="0" algn="l">
              <a:lnSpc>
                <a:spcPct val="120000"/>
              </a:lnSpc>
              <a:spcBef>
                <a:spcPts val="0"/>
              </a:spcBef>
              <a:spcAft>
                <a:spcPts val="0"/>
              </a:spcAft>
              <a:buNone/>
            </a:pPr>
            <a:r>
              <a:t/>
            </a:r>
            <a:endParaRPr sz="1700">
              <a:solidFill>
                <a:schemeClr val="dk1"/>
              </a:solidFill>
              <a:latin typeface="Calibri"/>
              <a:ea typeface="Calibri"/>
              <a:cs typeface="Calibri"/>
              <a:sym typeface="Calibri"/>
            </a:endParaRPr>
          </a:p>
          <a:p>
            <a:pPr indent="0" lvl="0" marL="457200" marR="0" rtl="0" algn="l">
              <a:lnSpc>
                <a:spcPct val="120000"/>
              </a:lnSpc>
              <a:spcBef>
                <a:spcPts val="0"/>
              </a:spcBef>
              <a:spcAft>
                <a:spcPts val="0"/>
              </a:spcAft>
              <a:buNone/>
            </a:pPr>
            <a:r>
              <a:t/>
            </a:r>
            <a:endParaRPr i="0" sz="1700" u="none" cap="none" strike="noStrike">
              <a:solidFill>
                <a:schemeClr val="dk1"/>
              </a:solidFill>
              <a:latin typeface="Calibri"/>
              <a:ea typeface="Calibri"/>
              <a:cs typeface="Calibri"/>
              <a:sym typeface="Calibri"/>
            </a:endParaRPr>
          </a:p>
        </p:txBody>
      </p:sp>
      <p:cxnSp>
        <p:nvCxnSpPr>
          <p:cNvPr id="268" name="Google Shape;268;g12e8149d08b_0_67"/>
          <p:cNvCxnSpPr/>
          <p:nvPr/>
        </p:nvCxnSpPr>
        <p:spPr>
          <a:xfrm>
            <a:off x="328524" y="1989344"/>
            <a:ext cx="9048300" cy="0"/>
          </a:xfrm>
          <a:prstGeom prst="straightConnector1">
            <a:avLst/>
          </a:prstGeom>
          <a:noFill/>
          <a:ln cap="flat" cmpd="sng" w="9525">
            <a:solidFill>
              <a:srgbClr val="BFBFBF"/>
            </a:solidFill>
            <a:prstDash val="solid"/>
            <a:miter lim="800000"/>
            <a:headEnd len="sm" w="sm" type="none"/>
            <a:tailEnd len="sm" w="sm" type="none"/>
          </a:ln>
        </p:spPr>
      </p:cxnSp>
      <p:sp>
        <p:nvSpPr>
          <p:cNvPr id="269" name="Google Shape;269;g12e8149d08b_0_67"/>
          <p:cNvSpPr/>
          <p:nvPr/>
        </p:nvSpPr>
        <p:spPr>
          <a:xfrm>
            <a:off x="328525" y="1445150"/>
            <a:ext cx="9048300" cy="362100"/>
          </a:xfrm>
          <a:prstGeom prst="round2SameRect">
            <a:avLst>
              <a:gd fmla="val 16667" name="adj1"/>
              <a:gd fmla="val 0" name="adj2"/>
            </a:avLst>
          </a:prstGeom>
          <a:solidFill>
            <a:srgbClr val="1CADE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161D"/>
              </a:buClr>
              <a:buSzPts val="1800"/>
              <a:buFont typeface="Calibri"/>
              <a:buNone/>
            </a:pPr>
            <a:r>
              <a:rPr b="1" i="0" lang="es-AR" sz="1800" u="none" cap="none" strike="noStrike">
                <a:solidFill>
                  <a:schemeClr val="lt1"/>
                </a:solidFill>
                <a:latin typeface="Calibri"/>
                <a:ea typeface="Calibri"/>
                <a:cs typeface="Calibri"/>
                <a:sym typeface="Calibri"/>
              </a:rPr>
              <a:t>Contrato de trabajo a plazo fijo (Art 93)</a:t>
            </a:r>
            <a:endParaRPr b="0" i="0" sz="1800" u="none" cap="none" strike="noStrike">
              <a:solidFill>
                <a:schemeClr val="lt1"/>
              </a:solidFill>
              <a:latin typeface="Twentieth Century"/>
              <a:ea typeface="Twentieth Century"/>
              <a:cs typeface="Twentieth Century"/>
              <a:sym typeface="Twentieth Century"/>
            </a:endParaRPr>
          </a:p>
        </p:txBody>
      </p:sp>
      <p:pic>
        <p:nvPicPr>
          <p:cNvPr descr="Image result for utn frba" id="270" name="Google Shape;270;g12e8149d08b_0_67"/>
          <p:cNvPicPr preferRelativeResize="0"/>
          <p:nvPr/>
        </p:nvPicPr>
        <p:blipFill rotWithShape="1">
          <a:blip r:embed="rId3">
            <a:alphaModFix/>
          </a:blip>
          <a:srcRect b="0" l="0" r="0" t="0"/>
          <a:stretch/>
        </p:blipFill>
        <p:spPr>
          <a:xfrm>
            <a:off x="7003960" y="64395"/>
            <a:ext cx="2611323" cy="952745"/>
          </a:xfrm>
          <a:prstGeom prst="rect">
            <a:avLst/>
          </a:prstGeom>
          <a:noFill/>
          <a:ln>
            <a:noFill/>
          </a:ln>
        </p:spPr>
      </p:pic>
      <p:sp>
        <p:nvSpPr>
          <p:cNvPr id="271" name="Google Shape;271;g12e8149d08b_0_67"/>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272" name="Google Shape;272;g12e8149d08b_0_67"/>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Tipos de contratos</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12e8149d08b_0_77"/>
          <p:cNvSpPr/>
          <p:nvPr/>
        </p:nvSpPr>
        <p:spPr>
          <a:xfrm>
            <a:off x="393054" y="1323925"/>
            <a:ext cx="9048300" cy="362100"/>
          </a:xfrm>
          <a:prstGeom prst="round2SameRect">
            <a:avLst>
              <a:gd fmla="val 16667" name="adj1"/>
              <a:gd fmla="val 0" name="adj2"/>
            </a:avLst>
          </a:pr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161D"/>
              </a:buClr>
              <a:buSzPts val="1800"/>
              <a:buFont typeface="Calibri"/>
              <a:buNone/>
            </a:pPr>
            <a:r>
              <a:rPr b="1" i="0" lang="es-AR" sz="1800" u="none" cap="none" strike="noStrike">
                <a:solidFill>
                  <a:srgbClr val="0C161D"/>
                </a:solidFill>
                <a:latin typeface="Calibri"/>
                <a:ea typeface="Calibri"/>
                <a:cs typeface="Calibri"/>
                <a:sym typeface="Calibri"/>
              </a:rPr>
              <a:t>Contrato de trabajo eventual (Art 99)</a:t>
            </a:r>
            <a:endParaRPr b="0" i="0" sz="1800" u="none" cap="none" strike="noStrike">
              <a:solidFill>
                <a:srgbClr val="0C161D"/>
              </a:solidFill>
              <a:latin typeface="Twentieth Century"/>
              <a:ea typeface="Twentieth Century"/>
              <a:cs typeface="Twentieth Century"/>
              <a:sym typeface="Twentieth Century"/>
            </a:endParaRPr>
          </a:p>
        </p:txBody>
      </p:sp>
      <p:sp>
        <p:nvSpPr>
          <p:cNvPr id="278" name="Google Shape;278;g12e8149d08b_0_77"/>
          <p:cNvSpPr txBox="1"/>
          <p:nvPr/>
        </p:nvSpPr>
        <p:spPr>
          <a:xfrm>
            <a:off x="393050" y="2280400"/>
            <a:ext cx="9119700" cy="35565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400"/>
              <a:buFont typeface="Calibri"/>
              <a:buNone/>
            </a:pPr>
            <a:r>
              <a:rPr b="1" lang="es-AR" sz="1700">
                <a:solidFill>
                  <a:schemeClr val="dk1"/>
                </a:solidFill>
                <a:latin typeface="Calibri"/>
                <a:ea typeface="Calibri"/>
                <a:cs typeface="Calibri"/>
                <a:sym typeface="Calibri"/>
              </a:rPr>
              <a:t>Se da cuando la actividad del trabajador se ejerce bajo la dependencia de un empleador para la satisfacción de resultados concretos en relación a </a:t>
            </a:r>
            <a:r>
              <a:rPr b="1" lang="es-AR" sz="1700" u="sng">
                <a:solidFill>
                  <a:schemeClr val="dk1"/>
                </a:solidFill>
                <a:latin typeface="Calibri"/>
                <a:ea typeface="Calibri"/>
                <a:cs typeface="Calibri"/>
                <a:sym typeface="Calibri"/>
              </a:rPr>
              <a:t>servicios extraordinarios transitorios</a:t>
            </a:r>
            <a:r>
              <a:rPr b="1" lang="es-AR" sz="1700">
                <a:solidFill>
                  <a:schemeClr val="dk1"/>
                </a:solidFill>
                <a:latin typeface="Calibri"/>
                <a:ea typeface="Calibri"/>
                <a:cs typeface="Calibri"/>
                <a:sym typeface="Calibri"/>
              </a:rPr>
              <a:t>. No puede preverse un plazo cierto para la finalización del contrato.</a:t>
            </a:r>
            <a:endParaRPr b="1" sz="17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400"/>
              <a:buFont typeface="Calibri"/>
              <a:buNone/>
            </a:pPr>
            <a:r>
              <a:t/>
            </a:r>
            <a:endParaRPr b="1" sz="17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400"/>
              <a:buFont typeface="Calibri"/>
              <a:buNone/>
            </a:pPr>
            <a:r>
              <a:rPr i="0" lang="es-AR" sz="1700" u="sng" cap="none" strike="noStrike">
                <a:solidFill>
                  <a:schemeClr val="dk1"/>
                </a:solidFill>
                <a:latin typeface="Calibri"/>
                <a:ea typeface="Calibri"/>
                <a:cs typeface="Calibri"/>
                <a:sym typeface="Calibri"/>
              </a:rPr>
              <a:t>Requisitos: </a:t>
            </a:r>
            <a:endParaRPr i="0" sz="1700" u="sng" cap="none" strike="noStrike">
              <a:solidFill>
                <a:schemeClr val="dk1"/>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Arial"/>
              <a:buChar char="•"/>
            </a:pPr>
            <a:r>
              <a:rPr i="0" lang="es-AR" sz="1700" u="none" cap="none" strike="noStrike">
                <a:solidFill>
                  <a:schemeClr val="dk1"/>
                </a:solidFill>
                <a:latin typeface="Calibri"/>
                <a:ea typeface="Calibri"/>
                <a:cs typeface="Calibri"/>
                <a:sym typeface="Calibri"/>
              </a:rPr>
              <a:t>Celebrarse por </a:t>
            </a:r>
            <a:r>
              <a:rPr b="1" i="0" lang="es-AR" sz="1700" u="none" cap="none" strike="noStrike">
                <a:solidFill>
                  <a:schemeClr val="dk1"/>
                </a:solidFill>
                <a:latin typeface="Calibri"/>
                <a:ea typeface="Calibri"/>
                <a:cs typeface="Calibri"/>
                <a:sym typeface="Calibri"/>
              </a:rPr>
              <a:t>escrito</a:t>
            </a:r>
            <a:r>
              <a:rPr i="0" lang="es-AR" sz="1700" u="none" cap="none" strike="noStrike">
                <a:solidFill>
                  <a:schemeClr val="dk1"/>
                </a:solidFill>
                <a:latin typeface="Calibri"/>
                <a:ea typeface="Calibri"/>
                <a:cs typeface="Calibri"/>
                <a:sym typeface="Calibri"/>
              </a:rPr>
              <a:t>.</a:t>
            </a:r>
            <a:endParaRPr i="0" sz="1700" u="none" cap="none" strike="noStrike">
              <a:solidFill>
                <a:schemeClr val="dk1"/>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Arial"/>
              <a:buChar char="•"/>
            </a:pPr>
            <a:r>
              <a:rPr i="0" lang="es-AR" sz="1700" u="none" cap="none" strike="noStrike">
                <a:solidFill>
                  <a:schemeClr val="dk1"/>
                </a:solidFill>
                <a:latin typeface="Calibri"/>
                <a:ea typeface="Calibri"/>
                <a:cs typeface="Calibri"/>
                <a:sym typeface="Calibri"/>
              </a:rPr>
              <a:t>Que existan </a:t>
            </a:r>
            <a:r>
              <a:rPr b="1" i="0" lang="es-AR" sz="1700" u="none" cap="none" strike="noStrike">
                <a:solidFill>
                  <a:schemeClr val="dk1"/>
                </a:solidFill>
                <a:latin typeface="Calibri"/>
                <a:ea typeface="Calibri"/>
                <a:cs typeface="Calibri"/>
                <a:sym typeface="Calibri"/>
              </a:rPr>
              <a:t>razones objetivas </a:t>
            </a:r>
            <a:r>
              <a:rPr i="0" lang="es-AR" sz="1700" u="none" cap="none" strike="noStrike">
                <a:solidFill>
                  <a:schemeClr val="dk1"/>
                </a:solidFill>
                <a:latin typeface="Calibri"/>
                <a:ea typeface="Calibri"/>
                <a:cs typeface="Calibri"/>
                <a:sym typeface="Calibri"/>
              </a:rPr>
              <a:t>fundadas en las modalidades de la tarea o actividad que justifiquen adoptar esta modalidad: Exigencias transitorias y extraordinarias de la empresa.</a:t>
            </a:r>
            <a:endParaRPr i="0" sz="1700" u="none" cap="none" strike="noStrike">
              <a:solidFill>
                <a:schemeClr val="dk1"/>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i="0" lang="es-AR" sz="1700" u="none" cap="none" strike="noStrike">
                <a:solidFill>
                  <a:schemeClr val="dk1"/>
                </a:solidFill>
                <a:latin typeface="Calibri"/>
                <a:ea typeface="Calibri"/>
                <a:cs typeface="Calibri"/>
                <a:sym typeface="Calibri"/>
              </a:rPr>
              <a:t>Si es para reemplazar a un trabajador de licencia, debe consignarse el nombre del mismo.</a:t>
            </a:r>
            <a:endParaRPr i="0" sz="1700" u="none" cap="none" strike="noStrike">
              <a:solidFill>
                <a:srgbClr val="000000"/>
              </a:solidFill>
              <a:latin typeface="Calibri"/>
              <a:ea typeface="Calibri"/>
              <a:cs typeface="Calibri"/>
              <a:sym typeface="Calibri"/>
            </a:endParaRPr>
          </a:p>
          <a:p>
            <a:pPr indent="-304800" lvl="0" marL="285750" marR="0" rtl="0" algn="l">
              <a:lnSpc>
                <a:spcPct val="120000"/>
              </a:lnSpc>
              <a:spcBef>
                <a:spcPts val="0"/>
              </a:spcBef>
              <a:spcAft>
                <a:spcPts val="0"/>
              </a:spcAft>
              <a:buClr>
                <a:schemeClr val="dk1"/>
              </a:buClr>
              <a:buSzPts val="1700"/>
              <a:buFont typeface="Calibri"/>
              <a:buChar char="•"/>
            </a:pPr>
            <a:r>
              <a:rPr i="0" lang="es-AR" sz="1700" u="none" cap="none" strike="noStrike">
                <a:solidFill>
                  <a:schemeClr val="dk1"/>
                </a:solidFill>
                <a:latin typeface="Calibri"/>
                <a:ea typeface="Calibri"/>
                <a:cs typeface="Calibri"/>
                <a:sym typeface="Calibri"/>
              </a:rPr>
              <a:t>No hay obligación de preaviso ni indemnización.</a:t>
            </a:r>
            <a:endParaRPr i="0" sz="1700" u="none" cap="none" strike="noStrike">
              <a:solidFill>
                <a:srgbClr val="000000"/>
              </a:solidFill>
              <a:latin typeface="Calibri"/>
              <a:ea typeface="Calibri"/>
              <a:cs typeface="Calibri"/>
              <a:sym typeface="Calibri"/>
            </a:endParaRPr>
          </a:p>
          <a:p>
            <a:pPr indent="0" lvl="0" marL="457200" marR="0" rtl="0" algn="l">
              <a:lnSpc>
                <a:spcPct val="120000"/>
              </a:lnSpc>
              <a:spcBef>
                <a:spcPts val="0"/>
              </a:spcBef>
              <a:spcAft>
                <a:spcPts val="0"/>
              </a:spcAft>
              <a:buNone/>
            </a:pPr>
            <a:r>
              <a:t/>
            </a:r>
            <a:endParaRPr i="0" sz="1700" u="none" cap="none" strike="noStrike">
              <a:solidFill>
                <a:srgbClr val="000000"/>
              </a:solidFill>
              <a:latin typeface="Calibri"/>
              <a:ea typeface="Calibri"/>
              <a:cs typeface="Calibri"/>
              <a:sym typeface="Calibri"/>
            </a:endParaRPr>
          </a:p>
          <a:p>
            <a:pPr indent="-196850" lvl="0" marL="285750" marR="0" rtl="0" algn="l">
              <a:lnSpc>
                <a:spcPct val="120000"/>
              </a:lnSpc>
              <a:spcBef>
                <a:spcPts val="0"/>
              </a:spcBef>
              <a:spcAft>
                <a:spcPts val="0"/>
              </a:spcAft>
              <a:buClr>
                <a:schemeClr val="dk1"/>
              </a:buClr>
              <a:buSzPts val="1400"/>
              <a:buFont typeface="Arial"/>
              <a:buNone/>
            </a:pPr>
            <a:r>
              <a:t/>
            </a:r>
            <a:endParaRPr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a:p>
            <a:pPr indent="-196850" lvl="0" marL="285750" marR="0" rtl="0" algn="l">
              <a:lnSpc>
                <a:spcPct val="120000"/>
              </a:lnSpc>
              <a:spcBef>
                <a:spcPts val="0"/>
              </a:spcBef>
              <a:spcAft>
                <a:spcPts val="0"/>
              </a:spcAft>
              <a:buClr>
                <a:schemeClr val="dk1"/>
              </a:buClr>
              <a:buSzPts val="14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cxnSp>
        <p:nvCxnSpPr>
          <p:cNvPr id="279" name="Google Shape;279;g12e8149d08b_0_77"/>
          <p:cNvCxnSpPr/>
          <p:nvPr/>
        </p:nvCxnSpPr>
        <p:spPr>
          <a:xfrm>
            <a:off x="393040" y="1821217"/>
            <a:ext cx="9048300" cy="0"/>
          </a:xfrm>
          <a:prstGeom prst="straightConnector1">
            <a:avLst/>
          </a:prstGeom>
          <a:noFill/>
          <a:ln cap="flat" cmpd="sng" w="9525">
            <a:solidFill>
              <a:srgbClr val="BFBFBF"/>
            </a:solidFill>
            <a:prstDash val="solid"/>
            <a:miter lim="800000"/>
            <a:headEnd len="sm" w="sm" type="none"/>
            <a:tailEnd len="sm" w="sm" type="none"/>
          </a:ln>
        </p:spPr>
      </p:cxnSp>
      <p:sp>
        <p:nvSpPr>
          <p:cNvPr id="280" name="Google Shape;280;g12e8149d08b_0_77"/>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281" name="Google Shape;281;g12e8149d08b_0_77"/>
          <p:cNvPicPr preferRelativeResize="0"/>
          <p:nvPr/>
        </p:nvPicPr>
        <p:blipFill rotWithShape="1">
          <a:blip r:embed="rId3">
            <a:alphaModFix/>
          </a:blip>
          <a:srcRect b="0" l="0" r="0" t="0"/>
          <a:stretch/>
        </p:blipFill>
        <p:spPr>
          <a:xfrm>
            <a:off x="7003960" y="64395"/>
            <a:ext cx="2611323" cy="952745"/>
          </a:xfrm>
          <a:prstGeom prst="rect">
            <a:avLst/>
          </a:prstGeom>
          <a:noFill/>
          <a:ln>
            <a:noFill/>
          </a:ln>
        </p:spPr>
      </p:pic>
      <p:sp>
        <p:nvSpPr>
          <p:cNvPr id="282" name="Google Shape;282;g12e8149d08b_0_77"/>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Tipos de contratos</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12f8f1651a7_0_6"/>
          <p:cNvSpPr/>
          <p:nvPr/>
        </p:nvSpPr>
        <p:spPr>
          <a:xfrm>
            <a:off x="625124" y="1475341"/>
            <a:ext cx="8675100" cy="368700"/>
          </a:xfrm>
          <a:prstGeom prst="roundRect">
            <a:avLst>
              <a:gd fmla="val 16667" name="adj"/>
            </a:avLst>
          </a:prstGeom>
          <a:solidFill>
            <a:srgbClr val="40BEA6"/>
          </a:solidFill>
          <a:ln>
            <a:noFill/>
          </a:ln>
          <a:effectLst>
            <a:outerShdw blurRad="149986" algn="ctr" dir="8460000" dist="250189">
              <a:srgbClr val="000000">
                <a:alpha val="2706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161D"/>
              </a:buClr>
              <a:buSzPts val="1800"/>
              <a:buFont typeface="Calibri"/>
              <a:buNone/>
            </a:pPr>
            <a:r>
              <a:rPr b="0" i="0" lang="es-AR" sz="1800" u="none" cap="none" strike="noStrike">
                <a:solidFill>
                  <a:srgbClr val="0C161D"/>
                </a:solidFill>
                <a:latin typeface="Calibri"/>
                <a:ea typeface="Calibri"/>
                <a:cs typeface="Calibri"/>
                <a:sym typeface="Calibri"/>
              </a:rPr>
              <a:t>      </a:t>
            </a:r>
            <a:r>
              <a:rPr b="1" i="0" lang="es-AR" sz="1800" u="none" cap="none" strike="noStrike">
                <a:solidFill>
                  <a:srgbClr val="0C161D"/>
                </a:solidFill>
                <a:latin typeface="Calibri"/>
                <a:ea typeface="Calibri"/>
                <a:cs typeface="Calibri"/>
                <a:sym typeface="Calibri"/>
              </a:rPr>
              <a:t>Modalidades </a:t>
            </a:r>
            <a:r>
              <a:rPr b="1" lang="es-AR" sz="1800">
                <a:solidFill>
                  <a:srgbClr val="0C161D"/>
                </a:solidFill>
                <a:latin typeface="Calibri"/>
                <a:ea typeface="Calibri"/>
                <a:cs typeface="Calibri"/>
                <a:sym typeface="Calibri"/>
              </a:rPr>
              <a:t>Informales y Riesgos</a:t>
            </a:r>
            <a:endParaRPr b="0" i="0" sz="1800" u="none" cap="none" strike="noStrike">
              <a:solidFill>
                <a:srgbClr val="0C161D"/>
              </a:solidFill>
              <a:latin typeface="Calibri"/>
              <a:ea typeface="Calibri"/>
              <a:cs typeface="Calibri"/>
              <a:sym typeface="Calibri"/>
            </a:endParaRPr>
          </a:p>
        </p:txBody>
      </p:sp>
      <p:sp>
        <p:nvSpPr>
          <p:cNvPr id="288" name="Google Shape;288;g12f8f1651a7_0_6"/>
          <p:cNvSpPr txBox="1"/>
          <p:nvPr/>
        </p:nvSpPr>
        <p:spPr>
          <a:xfrm>
            <a:off x="1387125" y="2003575"/>
            <a:ext cx="4251600" cy="135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s-AR" sz="1700">
                <a:solidFill>
                  <a:schemeClr val="dk1"/>
                </a:solidFill>
                <a:latin typeface="Calibri"/>
                <a:ea typeface="Calibri"/>
                <a:cs typeface="Calibri"/>
                <a:sym typeface="Calibri"/>
              </a:rPr>
              <a:t>TRABAJADOR NO REGISTRADO:</a:t>
            </a:r>
            <a:r>
              <a:rPr lang="es-AR" sz="1700">
                <a:solidFill>
                  <a:schemeClr val="dk1"/>
                </a:solidFill>
                <a:latin typeface="Calibri"/>
                <a:ea typeface="Calibri"/>
                <a:cs typeface="Calibri"/>
                <a:sym typeface="Calibri"/>
              </a:rPr>
              <a:t> habitualmente llamado “en negro”.</a:t>
            </a:r>
            <a:endParaRPr sz="17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sz="17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lang="es-AR" sz="1700">
                <a:solidFill>
                  <a:schemeClr val="dk1"/>
                </a:solidFill>
                <a:latin typeface="Calibri"/>
                <a:ea typeface="Calibri"/>
                <a:cs typeface="Calibri"/>
                <a:sym typeface="Calibri"/>
              </a:rPr>
              <a:t>FALSO PRESTADOR DE SERVICIOS</a:t>
            </a:r>
            <a:r>
              <a:rPr lang="es-AR" sz="1700">
                <a:solidFill>
                  <a:schemeClr val="dk1"/>
                </a:solidFill>
                <a:latin typeface="Calibri"/>
                <a:ea typeface="Calibri"/>
                <a:cs typeface="Calibri"/>
                <a:sym typeface="Calibri"/>
              </a:rPr>
              <a:t>: bajo modalidad de monotributo o autónomo.</a:t>
            </a:r>
            <a:endParaRPr sz="1700">
              <a:solidFill>
                <a:schemeClr val="dk1"/>
              </a:solidFill>
              <a:latin typeface="Calibri"/>
              <a:ea typeface="Calibri"/>
              <a:cs typeface="Calibri"/>
              <a:sym typeface="Calibri"/>
            </a:endParaRPr>
          </a:p>
        </p:txBody>
      </p:sp>
      <p:pic>
        <p:nvPicPr>
          <p:cNvPr descr="Image result for utn frba" id="289" name="Google Shape;289;g12f8f1651a7_0_6"/>
          <p:cNvPicPr preferRelativeResize="0"/>
          <p:nvPr/>
        </p:nvPicPr>
        <p:blipFill rotWithShape="1">
          <a:blip r:embed="rId3">
            <a:alphaModFix/>
          </a:blip>
          <a:srcRect b="0" l="0" r="0" t="0"/>
          <a:stretch/>
        </p:blipFill>
        <p:spPr>
          <a:xfrm>
            <a:off x="7003960" y="64395"/>
            <a:ext cx="2611323" cy="952745"/>
          </a:xfrm>
          <a:prstGeom prst="rect">
            <a:avLst/>
          </a:prstGeom>
          <a:noFill/>
          <a:ln>
            <a:noFill/>
          </a:ln>
        </p:spPr>
      </p:pic>
      <p:sp>
        <p:nvSpPr>
          <p:cNvPr id="290" name="Google Shape;290;g12f8f1651a7_0_6"/>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291" name="Google Shape;291;g12f8f1651a7_0_6"/>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Contrato Laboral</a:t>
            </a:r>
            <a:endParaRPr b="0" i="0" sz="1800" u="none" cap="none" strike="noStrike">
              <a:solidFill>
                <a:schemeClr val="dk1"/>
              </a:solidFill>
              <a:latin typeface="Twentieth Century"/>
              <a:ea typeface="Twentieth Century"/>
              <a:cs typeface="Twentieth Century"/>
              <a:sym typeface="Twentieth Century"/>
            </a:endParaRPr>
          </a:p>
        </p:txBody>
      </p:sp>
      <p:sp>
        <p:nvSpPr>
          <p:cNvPr id="292" name="Google Shape;292;g12f8f1651a7_0_6"/>
          <p:cNvSpPr txBox="1"/>
          <p:nvPr/>
        </p:nvSpPr>
        <p:spPr>
          <a:xfrm>
            <a:off x="701625" y="3581775"/>
            <a:ext cx="8445900" cy="366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700">
                <a:latin typeface="Calibri"/>
                <a:ea typeface="Calibri"/>
                <a:cs typeface="Calibri"/>
                <a:sym typeface="Calibri"/>
              </a:rPr>
              <a:t>SUPUESTA VENTAJA</a:t>
            </a:r>
            <a:endParaRPr b="1"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s-AR" sz="1700">
                <a:latin typeface="Calibri"/>
                <a:ea typeface="Calibri"/>
                <a:cs typeface="Calibri"/>
                <a:sym typeface="Calibri"/>
              </a:rPr>
              <a:t>Ahorro de las cargas sociales, de provisiones contables y costos indemnizatorios en caso de cierre de la relación laboral.</a:t>
            </a:r>
            <a:endParaRPr sz="1700">
              <a:latin typeface="Calibri"/>
              <a:ea typeface="Calibri"/>
              <a:cs typeface="Calibri"/>
              <a:sym typeface="Calibri"/>
            </a:endParaRPr>
          </a:p>
          <a:p>
            <a:pPr indent="0" lvl="0" marL="0" rtl="0" algn="l">
              <a:spcBef>
                <a:spcPts val="0"/>
              </a:spcBef>
              <a:spcAft>
                <a:spcPts val="0"/>
              </a:spcAft>
              <a:buNone/>
            </a:pPr>
            <a:r>
              <a:t/>
            </a:r>
            <a:endParaRPr sz="1700">
              <a:latin typeface="Calibri"/>
              <a:ea typeface="Calibri"/>
              <a:cs typeface="Calibri"/>
              <a:sym typeface="Calibri"/>
            </a:endParaRPr>
          </a:p>
          <a:p>
            <a:pPr indent="0" lvl="0" marL="0" rtl="0" algn="l">
              <a:spcBef>
                <a:spcPts val="0"/>
              </a:spcBef>
              <a:spcAft>
                <a:spcPts val="0"/>
              </a:spcAft>
              <a:buNone/>
            </a:pPr>
            <a:r>
              <a:rPr b="1" lang="es-AR" sz="1700">
                <a:latin typeface="Calibri"/>
                <a:ea typeface="Calibri"/>
                <a:cs typeface="Calibri"/>
                <a:sym typeface="Calibri"/>
              </a:rPr>
              <a:t>RIESGOS</a:t>
            </a:r>
            <a:endParaRPr b="1"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s-AR" sz="1700">
                <a:latin typeface="Calibri"/>
                <a:ea typeface="Calibri"/>
                <a:cs typeface="Calibri"/>
                <a:sym typeface="Calibri"/>
              </a:rPr>
              <a:t>Desde lo contractual, se asume relación de dependencia por tiempo indeterminado, entendiendo que tiene los mismos derechos en caso de reclamo judicial. Sobre todo, en caso de cierre de la relación laboral.</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s-AR" sz="1800">
                <a:solidFill>
                  <a:schemeClr val="dk1"/>
                </a:solidFill>
                <a:latin typeface="Twentieth Century"/>
                <a:ea typeface="Twentieth Century"/>
                <a:cs typeface="Twentieth Century"/>
                <a:sym typeface="Twentieth Century"/>
              </a:rPr>
              <a:t>Desde lo tributario y previsional, hay </a:t>
            </a:r>
            <a:r>
              <a:rPr lang="es-AR" sz="1800">
                <a:solidFill>
                  <a:schemeClr val="dk1"/>
                </a:solidFill>
                <a:latin typeface="Twentieth Century"/>
                <a:ea typeface="Twentieth Century"/>
                <a:cs typeface="Twentieth Century"/>
                <a:sym typeface="Twentieth Century"/>
              </a:rPr>
              <a:t>evasión</a:t>
            </a:r>
            <a:r>
              <a:rPr lang="es-AR" sz="1800">
                <a:solidFill>
                  <a:schemeClr val="dk1"/>
                </a:solidFill>
                <a:latin typeface="Twentieth Century"/>
                <a:ea typeface="Twentieth Century"/>
                <a:cs typeface="Twentieth Century"/>
                <a:sym typeface="Twentieth Century"/>
              </a:rPr>
              <a:t> de las obligaciones con la seguridad social y la AFIP. Son delitos que no prescriben y los puede iniciar el trabajador o las agencias gubernamentales. </a:t>
            </a:r>
            <a:endParaRPr sz="18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sz="18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Clr>
                <a:schemeClr val="dk1"/>
              </a:buClr>
              <a:buSzPts val="1800"/>
              <a:buFont typeface="Arial"/>
              <a:buNone/>
            </a:pPr>
            <a:r>
              <a:t/>
            </a:r>
            <a:endParaRPr sz="1800">
              <a:solidFill>
                <a:schemeClr val="dk1"/>
              </a:solidFill>
              <a:latin typeface="Twentieth Century"/>
              <a:ea typeface="Twentieth Century"/>
              <a:cs typeface="Twentieth Century"/>
              <a:sym typeface="Twentieth Century"/>
            </a:endParaRPr>
          </a:p>
        </p:txBody>
      </p:sp>
      <p:pic>
        <p:nvPicPr>
          <p:cNvPr id="293" name="Google Shape;293;g12f8f1651a7_0_6"/>
          <p:cNvPicPr preferRelativeResize="0"/>
          <p:nvPr/>
        </p:nvPicPr>
        <p:blipFill>
          <a:blip r:embed="rId4">
            <a:alphaModFix/>
          </a:blip>
          <a:stretch>
            <a:fillRect/>
          </a:stretch>
        </p:blipFill>
        <p:spPr>
          <a:xfrm>
            <a:off x="5857875" y="2055150"/>
            <a:ext cx="2517502" cy="1354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plate_2010_Presentaciones_Internal">
  <a:themeElements>
    <a:clrScheme name="Capgemini Palette">
      <a:dk1>
        <a:srgbClr val="000000"/>
      </a:dk1>
      <a:lt1>
        <a:srgbClr val="FFFFFF"/>
      </a:lt1>
      <a:dk2>
        <a:srgbClr val="009BCC"/>
      </a:dk2>
      <a:lt2>
        <a:srgbClr val="FFFFFF"/>
      </a:lt2>
      <a:accent1>
        <a:srgbClr val="FFBC1D"/>
      </a:accent1>
      <a:accent2>
        <a:srgbClr val="E65A0F"/>
      </a:accent2>
      <a:accent3>
        <a:srgbClr val="C8C500"/>
      </a:accent3>
      <a:accent4>
        <a:srgbClr val="C42F36"/>
      </a:accent4>
      <a:accent5>
        <a:srgbClr val="B4DFEE"/>
      </a:accent5>
      <a:accent6>
        <a:srgbClr val="E65A0F"/>
      </a:accent6>
      <a:hlink>
        <a:srgbClr val="4D740F"/>
      </a:hlink>
      <a:folHlink>
        <a:srgbClr val="C42F3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Javier Sosa</dc:creator>
</cp:coreProperties>
</file>