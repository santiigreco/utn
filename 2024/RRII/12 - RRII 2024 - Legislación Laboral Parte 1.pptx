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9144000"/>
  <p:notesSz cx="6797675" cy="9926625"/>
  <p:embeddedFontLst>
    <p:embeddedFont>
      <p:font typeface="Arial Narrow"/>
      <p:regular r:id="rId51"/>
      <p:bold r:id="rId52"/>
      <p:italic r:id="rId53"/>
      <p:boldItalic r:id="rId54"/>
    </p:embeddedFont>
    <p:embeddedFont>
      <p:font typeface="Quattrocento Sans"/>
      <p:regular r:id="rId55"/>
      <p:bold r:id="rId56"/>
      <p:italic r:id="rId57"/>
      <p:boldItalic r:id="rId58"/>
    </p:embeddedFont>
    <p:embeddedFont>
      <p:font typeface="Arial Black"/>
      <p:regular r:id="rId59"/>
    </p:embeddedFont>
    <p:embeddedFont>
      <p:font typeface="Libre Franklin Thin"/>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4">
          <p15:clr>
            <a:srgbClr val="A4A3A4"/>
          </p15:clr>
        </p15:guide>
        <p15:guide id="2" pos="2880">
          <p15:clr>
            <a:srgbClr val="A4A3A4"/>
          </p15:clr>
        </p15:guide>
      </p15:sldGuideLst>
    </p:ext>
    <p:ext uri="GoogleSlidesCustomDataVersion2">
      <go:slidesCustomData xmlns:go="http://customooxmlschemas.google.com/" r:id="rId64" roundtripDataSignature="AMtx7mjo0UR8IHuoxbOm1KVIDO1kKRdX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72DC69-32E7-48D6-9E1C-079A1CCFBFDC}">
  <a:tblStyle styleId="{0A72DC69-32E7-48D6-9E1C-079A1CCFBFDC}"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b="off" i="off"/>
      <a:tcStyle>
        <a:fill>
          <a:solidFill>
            <a:srgbClr val="CBE2F5"/>
          </a:solidFill>
        </a:fill>
      </a:tcStyle>
    </a:band1H>
    <a:band2H>
      <a:tcTxStyle b="off" i="off"/>
    </a:band2H>
    <a:band1V>
      <a:tcTxStyle b="off" i="off"/>
      <a:tcStyle>
        <a:fill>
          <a:solidFill>
            <a:srgbClr val="CBE2F5"/>
          </a:solidFill>
        </a:fill>
      </a:tcStyle>
    </a:band1V>
    <a:band2V>
      <a:tcTxStyle b="off" i="off"/>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4"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ibreFranklinThin-italic.fntdata"/><Relationship Id="rId61" Type="http://schemas.openxmlformats.org/officeDocument/2006/relationships/font" Target="fonts/LibreFranklinThin-bold.fntdata"/><Relationship Id="rId20" Type="http://schemas.openxmlformats.org/officeDocument/2006/relationships/slide" Target="slides/slide14.xml"/><Relationship Id="rId64" Type="http://customschemas.google.com/relationships/presentationmetadata" Target="metadata"/><Relationship Id="rId63" Type="http://schemas.openxmlformats.org/officeDocument/2006/relationships/font" Target="fonts/LibreFranklinThin-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LibreFranklinThin-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ialNarrow-regular.fntdata"/><Relationship Id="rId50" Type="http://schemas.openxmlformats.org/officeDocument/2006/relationships/slide" Target="slides/slide44.xml"/><Relationship Id="rId53" Type="http://schemas.openxmlformats.org/officeDocument/2006/relationships/font" Target="fonts/ArialNarrow-italic.fntdata"/><Relationship Id="rId52" Type="http://schemas.openxmlformats.org/officeDocument/2006/relationships/font" Target="fonts/ArialNarrow-bold.fntdata"/><Relationship Id="rId11" Type="http://schemas.openxmlformats.org/officeDocument/2006/relationships/slide" Target="slides/slide5.xml"/><Relationship Id="rId55" Type="http://schemas.openxmlformats.org/officeDocument/2006/relationships/font" Target="fonts/QuattrocentoSans-regular.fntdata"/><Relationship Id="rId10" Type="http://schemas.openxmlformats.org/officeDocument/2006/relationships/slide" Target="slides/slide4.xml"/><Relationship Id="rId54" Type="http://schemas.openxmlformats.org/officeDocument/2006/relationships/font" Target="fonts/ArialNarrow-boldItalic.fntdata"/><Relationship Id="rId13" Type="http://schemas.openxmlformats.org/officeDocument/2006/relationships/slide" Target="slides/slide7.xml"/><Relationship Id="rId57" Type="http://schemas.openxmlformats.org/officeDocument/2006/relationships/font" Target="fonts/QuattrocentoSans-italic.fntdata"/><Relationship Id="rId12" Type="http://schemas.openxmlformats.org/officeDocument/2006/relationships/slide" Target="slides/slide6.xml"/><Relationship Id="rId56" Type="http://schemas.openxmlformats.org/officeDocument/2006/relationships/font" Target="fonts/QuattrocentoSans-bold.fntdata"/><Relationship Id="rId15" Type="http://schemas.openxmlformats.org/officeDocument/2006/relationships/slide" Target="slides/slide9.xml"/><Relationship Id="rId59" Type="http://schemas.openxmlformats.org/officeDocument/2006/relationships/font" Target="fonts/ArialBlack-regular.fntdata"/><Relationship Id="rId14" Type="http://schemas.openxmlformats.org/officeDocument/2006/relationships/slide" Target="slides/slide8.xml"/><Relationship Id="rId58" Type="http://schemas.openxmlformats.org/officeDocument/2006/relationships/font" Target="fonts/Quattrocento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0"/>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infoleg.gob.ar/infolegInternet/verNorma.do?id=115745" TargetMode="External"/><Relationship Id="rId3" Type="http://schemas.openxmlformats.org/officeDocument/2006/relationships/hyperlink" Target="http://servicios.infoleg.gob.ar/infolegInternet/verNorma.do?id=269016" TargetMode="External"/><Relationship Id="rId4" Type="http://schemas.openxmlformats.org/officeDocument/2006/relationships/hyperlink" Target="http://www.infoleg.gob.ar/infolegInternet/verNorma.do?id=223339" TargetMode="External"/><Relationship Id="rId5" Type="http://schemas.openxmlformats.org/officeDocument/2006/relationships/hyperlink" Target="http://servicios.infoleg.gob.ar/infolegInternet/verNorma.do?id=269017" TargetMode="External"/><Relationship Id="rId6" Type="http://schemas.openxmlformats.org/officeDocument/2006/relationships/hyperlink" Target="http://servicios.infoleg.gob.ar/infolegInternet/verNorma.do?id=65015"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0: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106" name="Google Shape;106;p50: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2: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2: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130" name="Google Shape;130;p5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3: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53: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3: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La primera normativa laboral que se registra en Argentina es la Ley 4661 sancionada en 1905 –cuya autoría corresponde a Joaquín V. González– a partir de la cual se estableció el descanso dominical.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1907 se sancionó la Ley 5291, regulatoria del trabajo de mujeres y niños, estableciendo la prohibición de la contratación de niños menores de 10 años.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ese mismo año un decreto presidencial creó el Departamento Nacional del Trabajo y se designó al frente de la flamante repartición a José Nicolás Matienzo.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materia de accidentes de trabajo y enfermedades profesionales, el año 1915 resulta importante pues entonces se sancionó la Ley 9688 que estuvo vigente –con distintas modificaciones– hasta el año 1991.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el año 1929 se sancionó la Ley 11.544, la cual reguló la duración de la jornada laboral y se encuentra vigente hasta hoy en día. En ella se estableció que las jornadas no pueden superar las 8 horas diarias o las 48 horas semanales.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el año 1933 se sancionó la Ley 11.723, a través de la cual se introdujeron algunas de las medidas</a:t>
            </a:r>
            <a:endParaRPr/>
          </a:p>
          <a:p>
            <a:pPr indent="0" lvl="0" marL="0" rtl="0" algn="l">
              <a:lnSpc>
                <a:spcPct val="100000"/>
              </a:lnSpc>
              <a:spcBef>
                <a:spcPts val="0"/>
              </a:spcBef>
              <a:spcAft>
                <a:spcPts val="0"/>
              </a:spcAft>
              <a:buSzPts val="1400"/>
              <a:buNone/>
            </a:pPr>
            <a:r>
              <a:rPr lang="es-AR"/>
              <a:t>protectoras más importantes para los trabajadores. Indemnizaciones y vacaciones pagas fueron algunos de los derechos más importantes para el sector obrero, aunque en este momento solamente eran para trabajadores del sector comercial. </a:t>
            </a:r>
            <a:endParaRPr/>
          </a:p>
          <a:p>
            <a:pPr indent="0" lvl="0" marL="0" rtl="0" algn="l">
              <a:lnSpc>
                <a:spcPct val="100000"/>
              </a:lnSpc>
              <a:spcBef>
                <a:spcPts val="0"/>
              </a:spcBef>
              <a:spcAft>
                <a:spcPts val="0"/>
              </a:spcAft>
              <a:buSzPts val="1400"/>
              <a:buNone/>
            </a:pPr>
            <a:r>
              <a:t/>
            </a:r>
            <a:endParaRPr/>
          </a:p>
        </p:txBody>
      </p:sp>
      <p:sp>
        <p:nvSpPr>
          <p:cNvPr id="152" name="Google Shape;152;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679768" y="4777194"/>
            <a:ext cx="5438140" cy="3908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s-AR"/>
              <a:t>ACTIVIDAD MENTI  ROJO CORRECTAS</a:t>
            </a:r>
            <a:endParaRPr/>
          </a:p>
        </p:txBody>
      </p:sp>
      <p:sp>
        <p:nvSpPr>
          <p:cNvPr id="161" name="Google Shape;161;p2: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11bb680738_0_5:notes"/>
          <p:cNvSpPr/>
          <p:nvPr>
            <p:ph idx="2" type="sldImg"/>
          </p:nvPr>
        </p:nvSpPr>
        <p:spPr>
          <a:xfrm>
            <a:off x="1166813" y="1241425"/>
            <a:ext cx="4464000" cy="3349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211bb680738_0_5:notes"/>
          <p:cNvSpPr txBox="1"/>
          <p:nvPr>
            <p:ph idx="1" type="body"/>
          </p:nvPr>
        </p:nvSpPr>
        <p:spPr>
          <a:xfrm>
            <a:off x="679768" y="4777194"/>
            <a:ext cx="5438100" cy="390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La primera normativa laboral que se registra en Argentina es la Ley 4661 sancionada en 1905 –cuya autoría corresponde a Joaquín V. González– a partir de la cual se estableció el descanso dominical.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1907 se sancionó la Ley 5291, regulatoria del trabajo de mujeres y niños, estableciendo la prohibición de la contratación de niños menores de 10 años.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ese mismo año un decreto presidencial creó el Departamento Nacional del Trabajo y se designó al frente de la flamante repartición a José Nicolás Matienzo.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materia de accidentes de trabajo y enfermedades profesionales, el año 1915 resulta importante pues entonces se sancionó la Ley 9688 que estuvo vigente –con distintas modificaciones– hasta el año 1991.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el año 1929 se sancionó la Ley 11.544, la cual reguló la duración de la jornada laboral y se encuentra vigente hasta hoy en día. En ella se estableció que las jornadas no pueden superar las 8 horas diarias o las 48 horas semanales.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En el año 1933 se sancionó la Ley 11.723, a través de la cual se introdujeron algunas de las medidas</a:t>
            </a:r>
            <a:endParaRPr/>
          </a:p>
          <a:p>
            <a:pPr indent="0" lvl="0" marL="0" rtl="0" algn="l">
              <a:lnSpc>
                <a:spcPct val="100000"/>
              </a:lnSpc>
              <a:spcBef>
                <a:spcPts val="0"/>
              </a:spcBef>
              <a:spcAft>
                <a:spcPts val="0"/>
              </a:spcAft>
              <a:buSzPts val="1400"/>
              <a:buNone/>
            </a:pPr>
            <a:r>
              <a:rPr lang="es-AR"/>
              <a:t>protectoras más importantes para los trabajadores. Indemnizaciones y vacaciones pagas fueron algunos de los derechos más importantes para el sector obrero, aunque en este momento solamente eran para trabajadores del sector comercial. </a:t>
            </a:r>
            <a:endParaRPr/>
          </a:p>
          <a:p>
            <a:pPr indent="0" lvl="0" marL="0" rtl="0" algn="l">
              <a:lnSpc>
                <a:spcPct val="100000"/>
              </a:lnSpc>
              <a:spcBef>
                <a:spcPts val="0"/>
              </a:spcBef>
              <a:spcAft>
                <a:spcPts val="0"/>
              </a:spcAft>
              <a:buSzPts val="1400"/>
              <a:buNone/>
            </a:pPr>
            <a:r>
              <a:t/>
            </a:r>
            <a:endParaRPr/>
          </a:p>
        </p:txBody>
      </p:sp>
      <p:sp>
        <p:nvSpPr>
          <p:cNvPr id="176" name="Google Shape;176;g211bb680738_0_5:notes"/>
          <p:cNvSpPr txBox="1"/>
          <p:nvPr>
            <p:ph idx="12" type="sldNum"/>
          </p:nvPr>
        </p:nvSpPr>
        <p:spPr>
          <a:xfrm>
            <a:off x="3850443" y="9428584"/>
            <a:ext cx="2945700" cy="4980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4: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4: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186" name="Google Shape;186;p5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5: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55: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“in dubio pro operario” (Interpretación de la ley) por la cual si las circunstancias son dudosas, la resolución judicial debe beneficiar al trabajador</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la norma más favorable, (Aplicación de la ley) que consiste en aplicar cuando haya más de una norma jurídica que regule el asunto, la que sea más propicia al trabajador (Ver Art.9 LCT)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la condición más beneficiosa, permitir pactar en los contratos mejores condiciones laborales que las que la ley contempla, pero no más perjudiciales.</a:t>
            </a:r>
            <a:endParaRPr/>
          </a:p>
          <a:p>
            <a:pPr indent="-228600" lvl="0" marL="457200" marR="0" rtl="0" algn="l">
              <a:lnSpc>
                <a:spcPct val="100000"/>
              </a:lnSpc>
              <a:spcBef>
                <a:spcPts val="0"/>
              </a:spcBef>
              <a:spcAft>
                <a:spcPts val="0"/>
              </a:spcAft>
              <a:buSzPts val="1400"/>
              <a:buNone/>
            </a:pPr>
            <a:r>
              <a:t/>
            </a:r>
            <a:endParaRPr/>
          </a:p>
        </p:txBody>
      </p:sp>
      <p:sp>
        <p:nvSpPr>
          <p:cNvPr id="203" name="Google Shape;203;p5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56: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404040"/>
              </a:buClr>
              <a:buSzPts val="2000"/>
              <a:buFont typeface="Quattrocento Sans"/>
              <a:buNone/>
            </a:pPr>
            <a:r>
              <a:rPr b="1" lang="es-AR" sz="1300">
                <a:solidFill>
                  <a:srgbClr val="404040"/>
                </a:solidFill>
                <a:latin typeface="Quattrocento Sans"/>
                <a:ea typeface="Quattrocento Sans"/>
                <a:cs typeface="Quattrocento Sans"/>
                <a:sym typeface="Quattrocento Sans"/>
              </a:rPr>
              <a:t>PRINCIPIO DE LA CONTINUIDAD DEL</a:t>
            </a:r>
            <a:r>
              <a:rPr lang="es-AR" sz="700">
                <a:latin typeface="Arial"/>
                <a:ea typeface="Arial"/>
                <a:cs typeface="Arial"/>
                <a:sym typeface="Arial"/>
              </a:rPr>
              <a:t> </a:t>
            </a:r>
            <a:r>
              <a:rPr b="1" lang="es-AR" sz="1300">
                <a:solidFill>
                  <a:srgbClr val="404040"/>
                </a:solidFill>
                <a:latin typeface="Quattrocento Sans"/>
                <a:ea typeface="Quattrocento Sans"/>
                <a:cs typeface="Quattrocento Sans"/>
                <a:sym typeface="Quattrocento Sans"/>
              </a:rPr>
              <a:t>CONTRATO DE TRABAJO: </a:t>
            </a:r>
            <a:r>
              <a:rPr lang="es-AR" sz="1300">
                <a:solidFill>
                  <a:srgbClr val="404040"/>
                </a:solidFill>
                <a:latin typeface="Quattrocento Sans"/>
                <a:ea typeface="Quattrocento Sans"/>
                <a:cs typeface="Quattrocento Sans"/>
                <a:sym typeface="Quattrocento Sans"/>
              </a:rPr>
              <a:t>en caso de dudas las situaciones deben resolverse en favor de la continuidad o subsistencia del contrato. Los contratos están hechos para durar hasta el momento de la jubilación.</a:t>
            </a:r>
            <a:endParaRPr sz="500"/>
          </a:p>
        </p:txBody>
      </p:sp>
      <p:sp>
        <p:nvSpPr>
          <p:cNvPr id="218" name="Google Shape;218;p56: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7: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1" lang="es-AR">
                <a:solidFill>
                  <a:srgbClr val="404040"/>
                </a:solidFill>
                <a:latin typeface="Quattrocento Sans"/>
                <a:ea typeface="Quattrocento Sans"/>
                <a:cs typeface="Quattrocento Sans"/>
                <a:sym typeface="Quattrocento Sans"/>
              </a:rPr>
              <a:t>PRINCIPIO DE LA PRIMACÍA DE LA REALIDAD</a:t>
            </a:r>
            <a:r>
              <a:rPr b="1" lang="es-AR" sz="900">
                <a:latin typeface="Arial"/>
                <a:ea typeface="Arial"/>
                <a:cs typeface="Arial"/>
                <a:sym typeface="Arial"/>
              </a:rPr>
              <a:t>: </a:t>
            </a:r>
            <a:r>
              <a:rPr lang="es-AR">
                <a:latin typeface="Quattrocento Sans"/>
                <a:ea typeface="Quattrocento Sans"/>
                <a:cs typeface="Quattrocento Sans"/>
                <a:sym typeface="Quattrocento Sans"/>
              </a:rPr>
              <a:t>El “Principio de primacía de realidad” es un principio que determina que la existencia de una relación de trabajo no depende de lo que las partes hubieran pactado por escrito, sino de la situación real en que el trabajador se encuentra colocado frente a la prestación de servicios. </a:t>
            </a:r>
            <a:r>
              <a:rPr b="1" lang="es-AR">
                <a:latin typeface="Quattrocento Sans"/>
                <a:ea typeface="Quattrocento Sans"/>
                <a:cs typeface="Quattrocento Sans"/>
                <a:sym typeface="Quattrocento Sans"/>
              </a:rPr>
              <a:t>En caso de existir discrepancia o divergencia entre los hechos y lo declarado en los documentos o en las formalidades, se preferirá siempre lo que haya ocurrido en la realidad.</a:t>
            </a:r>
            <a:endParaRPr b="1" sz="900">
              <a:latin typeface="Quattrocento Sans"/>
              <a:ea typeface="Quattrocento Sans"/>
              <a:cs typeface="Quattrocento Sans"/>
              <a:sym typeface="Quattrocento Sans"/>
            </a:endParaRPr>
          </a:p>
          <a:p>
            <a:pPr indent="0" lvl="0" marL="0" rtl="0" algn="l">
              <a:spcBef>
                <a:spcPts val="0"/>
              </a:spcBef>
              <a:spcAft>
                <a:spcPts val="0"/>
              </a:spcAft>
              <a:buSzPts val="2000"/>
              <a:buNone/>
            </a:pPr>
            <a:r>
              <a:t/>
            </a:r>
            <a:endParaRPr b="1">
              <a:solidFill>
                <a:srgbClr val="404040"/>
              </a:solidFill>
              <a:latin typeface="Quattrocento Sans"/>
              <a:ea typeface="Quattrocento Sans"/>
              <a:cs typeface="Quattrocento Sans"/>
              <a:sym typeface="Quattrocento Sans"/>
            </a:endParaRPr>
          </a:p>
          <a:p>
            <a:pPr indent="0" lvl="0" marL="0" rtl="0" algn="l">
              <a:spcBef>
                <a:spcPts val="0"/>
              </a:spcBef>
              <a:spcAft>
                <a:spcPts val="0"/>
              </a:spcAft>
              <a:buSzPts val="2000"/>
              <a:buNone/>
            </a:pPr>
            <a:r>
              <a:rPr b="1" lang="es-AR">
                <a:solidFill>
                  <a:srgbClr val="404040"/>
                </a:solidFill>
                <a:latin typeface="Quattrocento Sans"/>
                <a:ea typeface="Quattrocento Sans"/>
                <a:cs typeface="Quattrocento Sans"/>
                <a:sym typeface="Quattrocento Sans"/>
              </a:rPr>
              <a:t> PRINCIPIO DE LA BUENA FE: </a:t>
            </a:r>
            <a:r>
              <a:rPr lang="es-AR">
                <a:solidFill>
                  <a:srgbClr val="404040"/>
                </a:solidFill>
                <a:latin typeface="Quattrocento Sans"/>
                <a:ea typeface="Quattrocento Sans"/>
                <a:cs typeface="Quattrocento Sans"/>
                <a:sym typeface="Quattrocento Sans"/>
              </a:rPr>
              <a:t>cuando una cuestión no pueda resolverse por aplicación de las normas que rigen el contrato de trabajo o por las leyes análogas, se decidirá conforme a los principios de la justicia social, a los generales del derecho del trabajo, la equidad y la buena fe</a:t>
            </a:r>
            <a:endParaRPr>
              <a:solidFill>
                <a:srgbClr val="404040"/>
              </a:solidFill>
              <a:latin typeface="Quattrocento Sans"/>
              <a:ea typeface="Quattrocento Sans"/>
              <a:cs typeface="Quattrocento Sans"/>
              <a:sym typeface="Quattrocento Sans"/>
            </a:endParaRPr>
          </a:p>
          <a:p>
            <a:pPr indent="0" lvl="0" marL="0" rtl="0" algn="l">
              <a:spcBef>
                <a:spcPts val="0"/>
              </a:spcBef>
              <a:spcAft>
                <a:spcPts val="0"/>
              </a:spcAft>
              <a:buSzPts val="2000"/>
              <a:buNone/>
            </a:pPr>
            <a:r>
              <a:t/>
            </a:r>
            <a:endParaRPr sz="900">
              <a:latin typeface="Quattrocento Sans"/>
              <a:ea typeface="Quattrocento Sans"/>
              <a:cs typeface="Quattrocento Sans"/>
              <a:sym typeface="Quattrocento Sans"/>
            </a:endParaRPr>
          </a:p>
          <a:p>
            <a:pPr indent="0" lvl="0" marL="0" rtl="0" algn="l">
              <a:spcBef>
                <a:spcPts val="0"/>
              </a:spcBef>
              <a:spcAft>
                <a:spcPts val="0"/>
              </a:spcAft>
              <a:buSzPts val="2000"/>
              <a:buNone/>
            </a:pPr>
            <a:r>
              <a:rPr lang="es-AR" sz="500">
                <a:latin typeface="Quattrocento Sans"/>
                <a:ea typeface="Quattrocento Sans"/>
                <a:cs typeface="Quattrocento Sans"/>
                <a:sym typeface="Quattrocento Sans"/>
              </a:rPr>
              <a:t> </a:t>
            </a:r>
            <a:r>
              <a:rPr b="1" lang="es-AR" sz="1300">
                <a:solidFill>
                  <a:srgbClr val="404040"/>
                </a:solidFill>
                <a:latin typeface="Quattrocento Sans"/>
                <a:ea typeface="Quattrocento Sans"/>
                <a:cs typeface="Quattrocento Sans"/>
                <a:sym typeface="Quattrocento Sans"/>
              </a:rPr>
              <a:t>PRINCIPIO DE GRATUIDAD: </a:t>
            </a:r>
            <a:r>
              <a:rPr lang="es-AR">
                <a:latin typeface="Quattrocento Sans"/>
                <a:ea typeface="Quattrocento Sans"/>
                <a:cs typeface="Quattrocento Sans"/>
                <a:sym typeface="Quattrocento Sans"/>
              </a:rPr>
              <a:t>El trabajador o sus derecho-habientes gozarán del beneficio de la gratuidad en los procedimientos judiciales o administrativos derivados de la aplicación de esta ley, estatutos profesionales o convenciones colectivas de trabajo. Su vivienda no podrá ser afectada al pago de costas en caso alguno// asegurando al trabajador que no debe pagar gastos para realizar un reclamo laboral por despido o accidente laboral.</a:t>
            </a:r>
            <a:endParaRPr sz="900">
              <a:latin typeface="Quattrocento Sans"/>
              <a:ea typeface="Quattrocento Sans"/>
              <a:cs typeface="Quattrocento Sans"/>
              <a:sym typeface="Quattrocento Sans"/>
            </a:endParaRPr>
          </a:p>
          <a:p>
            <a:pPr indent="0" lvl="0" marL="0" rtl="0" algn="l">
              <a:spcBef>
                <a:spcPts val="0"/>
              </a:spcBef>
              <a:spcAft>
                <a:spcPts val="0"/>
              </a:spcAft>
              <a:buClr>
                <a:srgbClr val="404040"/>
              </a:buClr>
              <a:buSzPts val="2000"/>
              <a:buFont typeface="Quattrocento Sans"/>
              <a:buNone/>
            </a:pPr>
            <a:r>
              <a:t/>
            </a:r>
            <a:endParaRPr b="1" sz="2000">
              <a:solidFill>
                <a:srgbClr val="404040"/>
              </a:solidFill>
              <a:latin typeface="Quattrocento Sans"/>
              <a:ea typeface="Quattrocento Sans"/>
              <a:cs typeface="Quattrocento Sans"/>
              <a:sym typeface="Quattrocento Sans"/>
            </a:endParaRPr>
          </a:p>
        </p:txBody>
      </p:sp>
      <p:sp>
        <p:nvSpPr>
          <p:cNvPr id="237" name="Google Shape;237;p57: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4: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258" name="Google Shape;258;p4: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6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381000" marR="381000" rtl="0" algn="just">
              <a:lnSpc>
                <a:spcPct val="115000"/>
              </a:lnSpc>
              <a:spcBef>
                <a:spcPts val="800"/>
              </a:spcBef>
              <a:spcAft>
                <a:spcPts val="0"/>
              </a:spcAft>
              <a:buClr>
                <a:schemeClr val="dk1"/>
              </a:buClr>
              <a:buSzPts val="1100"/>
              <a:buFont typeface="Arial"/>
              <a:buNone/>
            </a:pPr>
            <a:r>
              <a:rPr b="1" lang="es-AR" sz="900">
                <a:latin typeface="Verdana"/>
                <a:ea typeface="Verdana"/>
                <a:cs typeface="Verdana"/>
                <a:sym typeface="Verdana"/>
              </a:rPr>
              <a:t>Artículo 14 bis</a:t>
            </a:r>
            <a:r>
              <a:rPr lang="es-AR" sz="900">
                <a:latin typeface="Verdana"/>
                <a:ea typeface="Verdana"/>
                <a:cs typeface="Verdana"/>
                <a:sym typeface="Verdana"/>
              </a:rPr>
              <a:t>.- El trabajo en sus diversas formas gozará de la protección de las leyes, las que asegurarán al trabajador: condiciones dignas y equitativas de labor, jornada limitada; descanso y vacaciones pagados; retribución justa; salario mínimo vital móvil; igual remuneración por igual tarea; participación en las ganancias de las empresas, con control de la producción y colaboración en la dirección; protección contra el despido arbitrario; estabilidad del empleado público; organización sindical libre y democrática, reconocida por la simple inscripción en un registro especial.</a:t>
            </a:r>
            <a:endParaRPr sz="900">
              <a:latin typeface="Verdana"/>
              <a:ea typeface="Verdana"/>
              <a:cs typeface="Verdana"/>
              <a:sym typeface="Verdana"/>
            </a:endParaRPr>
          </a:p>
          <a:p>
            <a:pPr indent="0" lvl="0" marL="381000" marR="381000" rtl="0" algn="just">
              <a:lnSpc>
                <a:spcPct val="115000"/>
              </a:lnSpc>
              <a:spcBef>
                <a:spcPts val="1500"/>
              </a:spcBef>
              <a:spcAft>
                <a:spcPts val="0"/>
              </a:spcAft>
              <a:buClr>
                <a:schemeClr val="dk1"/>
              </a:buClr>
              <a:buSzPts val="1100"/>
              <a:buFont typeface="Arial"/>
              <a:buNone/>
            </a:pPr>
            <a:r>
              <a:rPr lang="es-AR" sz="900">
                <a:latin typeface="Verdana"/>
                <a:ea typeface="Verdana"/>
                <a:cs typeface="Verdana"/>
                <a:sym typeface="Verdana"/>
              </a:rPr>
              <a:t>Queda garantizado a los gremios: concertar convenios colectivos de trabajo; recurrir a la conciliación y al arbitraje; el derecho de huelga. Los representantes gremiales gozarán de las garantías necesarias para el cumplimiento de su gestión sindical y las relacionadas con la estabilidad de su empleo.</a:t>
            </a:r>
            <a:endParaRPr sz="900">
              <a:latin typeface="Verdana"/>
              <a:ea typeface="Verdana"/>
              <a:cs typeface="Verdana"/>
              <a:sym typeface="Verdana"/>
            </a:endParaRPr>
          </a:p>
          <a:p>
            <a:pPr indent="0" lvl="0" marL="381000" marR="381000" rtl="0" algn="just">
              <a:lnSpc>
                <a:spcPct val="115000"/>
              </a:lnSpc>
              <a:spcBef>
                <a:spcPts val="1500"/>
              </a:spcBef>
              <a:spcAft>
                <a:spcPts val="0"/>
              </a:spcAft>
              <a:buClr>
                <a:schemeClr val="dk1"/>
              </a:buClr>
              <a:buSzPts val="1100"/>
              <a:buFont typeface="Arial"/>
              <a:buNone/>
            </a:pPr>
            <a:r>
              <a:rPr lang="es-AR" sz="900">
                <a:latin typeface="Verdana"/>
                <a:ea typeface="Verdana"/>
                <a:cs typeface="Verdana"/>
                <a:sym typeface="Verdana"/>
              </a:rPr>
              <a:t>El Estado otorgará los beneficios de la seguridad social, que tendrá carácter de integral e irrenunciable. En especial, la ley establecerá: el seguro social obligatorio, que estará a cargo de entidades nacionales o provinciales con autonomía financiera y económica, administradas por los interesados con participación del Estado, sin que pueda existir superposición de aportes; jubilaciones y pensiones móviles; la protección integral de la familia; la defensa del bien de familia; la compensación económica familiar y el acceso a una vivienda digna.</a:t>
            </a:r>
            <a:endParaRPr sz="900">
              <a:latin typeface="Verdana"/>
              <a:ea typeface="Verdana"/>
              <a:cs typeface="Verdana"/>
              <a:sym typeface="Verdana"/>
            </a:endParaRPr>
          </a:p>
          <a:p>
            <a:pPr indent="0" lvl="0" marL="0" rtl="0" algn="l">
              <a:lnSpc>
                <a:spcPct val="100000"/>
              </a:lnSpc>
              <a:spcBef>
                <a:spcPts val="1500"/>
              </a:spcBef>
              <a:spcAft>
                <a:spcPts val="0"/>
              </a:spcAft>
              <a:buSzPts val="1400"/>
              <a:buNone/>
            </a:pPr>
            <a:r>
              <a:t/>
            </a:r>
            <a:endParaRPr/>
          </a:p>
        </p:txBody>
      </p:sp>
      <p:sp>
        <p:nvSpPr>
          <p:cNvPr id="281" name="Google Shape;281;p6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9: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El contrato y la relación de trabajo se rigen por la Ley 20.744 (Vigente desde  1974).</a:t>
            </a:r>
            <a:endParaRPr/>
          </a:p>
          <a:p>
            <a:pPr indent="0" lvl="0" marL="0" rtl="0" algn="l">
              <a:lnSpc>
                <a:spcPct val="100000"/>
              </a:lnSpc>
              <a:spcBef>
                <a:spcPts val="0"/>
              </a:spcBef>
              <a:spcAft>
                <a:spcPts val="0"/>
              </a:spcAft>
              <a:buSzPts val="1400"/>
              <a:buNone/>
            </a:pPr>
            <a:r>
              <a:rPr lang="es-AR"/>
              <a:t>Esta ley rige todo lo relativo a la validez, derechos y obligaciones del empleado y empleador, sea que el contrato de trabajo se haya celebrado en el país o fuera de él; en cuanto se ejecute en territorio argentino.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La mayoría de las actividades está regulada por la LCT, a excepción del trabajo público, la docencia, las pasantías, el empleo doméstico y el trabajo agrario.</a:t>
            </a:r>
            <a:endParaRPr/>
          </a:p>
          <a:p>
            <a:pPr indent="0" lvl="0" marL="0" rtl="0" algn="l">
              <a:lnSpc>
                <a:spcPct val="100000"/>
              </a:lnSpc>
              <a:spcBef>
                <a:spcPts val="0"/>
              </a:spcBef>
              <a:spcAft>
                <a:spcPts val="0"/>
              </a:spcAft>
              <a:buSzPts val="1400"/>
              <a:buNone/>
            </a:pPr>
            <a:r>
              <a:t/>
            </a:r>
            <a:endParaRPr/>
          </a:p>
        </p:txBody>
      </p:sp>
      <p:sp>
        <p:nvSpPr>
          <p:cNvPr id="299" name="Google Shape;299;p9: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Consensual: es un acuerdo entre las partes, empleador y trabajador.</a:t>
            </a:r>
            <a:endParaRPr/>
          </a:p>
          <a:p>
            <a:pPr indent="0" lvl="0" marL="0" rtl="0" algn="l">
              <a:lnSpc>
                <a:spcPct val="100000"/>
              </a:lnSpc>
              <a:spcBef>
                <a:spcPts val="0"/>
              </a:spcBef>
              <a:spcAft>
                <a:spcPts val="0"/>
              </a:spcAft>
              <a:buSzPts val="1400"/>
              <a:buNone/>
            </a:pPr>
            <a:r>
              <a:rPr lang="es-AR"/>
              <a:t>Bilateral: establece obligaciones para ambas partes (empleador y trabajador).</a:t>
            </a:r>
            <a:endParaRPr/>
          </a:p>
          <a:p>
            <a:pPr indent="0" lvl="0" marL="0" rtl="0" algn="l">
              <a:lnSpc>
                <a:spcPct val="100000"/>
              </a:lnSpc>
              <a:spcBef>
                <a:spcPts val="0"/>
              </a:spcBef>
              <a:spcAft>
                <a:spcPts val="0"/>
              </a:spcAft>
              <a:buSzPts val="1400"/>
              <a:buNone/>
            </a:pPr>
            <a:r>
              <a:rPr lang="es-AR"/>
              <a:t>Oneroso: se recibe una remuneración a cambio del trabajo (trabajo y salario).</a:t>
            </a:r>
            <a:endParaRPr/>
          </a:p>
          <a:p>
            <a:pPr indent="0" lvl="0" marL="0" rtl="0" algn="l">
              <a:lnSpc>
                <a:spcPct val="100000"/>
              </a:lnSpc>
              <a:spcBef>
                <a:spcPts val="0"/>
              </a:spcBef>
              <a:spcAft>
                <a:spcPts val="0"/>
              </a:spcAft>
              <a:buSzPts val="1400"/>
              <a:buNone/>
            </a:pPr>
            <a:r>
              <a:rPr lang="es-AR"/>
              <a:t>Personal: el trabajador debe cumplir por sí mismo sus tareas, en relación de dependencia, sin delegarlas en terceros.</a:t>
            </a:r>
            <a:endParaRPr/>
          </a:p>
          <a:p>
            <a:pPr indent="0" lvl="0" marL="0" rtl="0" algn="l">
              <a:lnSpc>
                <a:spcPct val="100000"/>
              </a:lnSpc>
              <a:spcBef>
                <a:spcPts val="0"/>
              </a:spcBef>
              <a:spcAft>
                <a:spcPts val="0"/>
              </a:spcAft>
              <a:buSzPts val="1400"/>
              <a:buNone/>
            </a:pPr>
            <a:r>
              <a:rPr lang="es-AR"/>
              <a:t>Dependiente: existe dependencia técnica, económica y jurídica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Art.  21 LCT  - Contrato de Trabajo </a:t>
            </a:r>
            <a:endParaRPr/>
          </a:p>
          <a:p>
            <a:pPr indent="0" lvl="0" marL="0" rtl="0" algn="l">
              <a:lnSpc>
                <a:spcPct val="100000"/>
              </a:lnSpc>
              <a:spcBef>
                <a:spcPts val="0"/>
              </a:spcBef>
              <a:spcAft>
                <a:spcPts val="0"/>
              </a:spcAft>
              <a:buSzPts val="1400"/>
              <a:buNone/>
            </a:pPr>
            <a:r>
              <a:rPr lang="es-AR"/>
              <a:t>«Habrá contrato de trabajo, cualquiera sea su forma o denominación, siempre que una persona física se obligue a realizar actos, ejecutar obras o prestar servicios en favor de la otra y bajo la dependencia de ésta, durante un período determinado o indeterminado de tiempo, mediante el pago de una remuneración. Sus cláusulas, en cuanto a la forma y condiciones de la prestación, quedan sometidas a las disposiciones de orden público, los estatutos, las convenciones colectivas o los laudos con fuerza de tales y los usos y costumbre»</a:t>
            </a:r>
            <a:endParaRPr/>
          </a:p>
          <a:p>
            <a:pPr indent="0" lvl="0" marL="0" rtl="0" algn="l">
              <a:lnSpc>
                <a:spcPct val="100000"/>
              </a:lnSpc>
              <a:spcBef>
                <a:spcPts val="0"/>
              </a:spcBef>
              <a:spcAft>
                <a:spcPts val="0"/>
              </a:spcAft>
              <a:buSzPts val="1400"/>
              <a:buNone/>
            </a:pPr>
            <a:r>
              <a:rPr lang="es-AR"/>
              <a:t>El salario debe ser satisfecho en dinero, especie, habitación, alimentos o mediante la oportunidad de obtener beneficios o ganancias.</a:t>
            </a:r>
            <a:endParaRPr/>
          </a:p>
          <a:p>
            <a:pPr indent="0" lvl="0" marL="0" rtl="0" algn="l">
              <a:lnSpc>
                <a:spcPct val="100000"/>
              </a:lnSpc>
              <a:spcBef>
                <a:spcPts val="0"/>
              </a:spcBef>
              <a:spcAft>
                <a:spcPts val="0"/>
              </a:spcAft>
              <a:buSzPts val="1400"/>
              <a:buNone/>
            </a:pPr>
            <a:r>
              <a:t/>
            </a:r>
            <a:endParaRPr/>
          </a:p>
        </p:txBody>
      </p:sp>
      <p:sp>
        <p:nvSpPr>
          <p:cNvPr id="314" name="Google Shape;314;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0: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0: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Son las prestaciones recíprocas y las facultades que surgen del contrato de trabajo; se trata de obligaciones recíprocas, ya que el trabajador y el empleador, según las circunstancias; actúan como acreedores o deudores: a cada obligación de una parte le corresponde un derecho de la otra.</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CAPITULO VII</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De los derechos y deberes de las partes</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62. —Obligación genérica de las partes.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partes están obligadas, activa y pasivamente, no sólo a lo que resulta expresamente de los términos del contrato, sino a todos aquellos comportamientos que sean consecuencia del mismo, resulten de esta ley, de los estatutos profesionales o convenciones colectivas de trabajo, apreciados con criterio de colaboración y solidaridad.</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63. —Principio de la buena fe.</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partes están obligadas a obrar de buena fe, ajustando su conducta a lo que es propio de un buen empleador y de un buen trabajador, tanto al celebrar, ejecutar o extinguir el contrato o la relación de trabajo.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64. —Facultad de organización.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tiene facultades suficientes para organizar económica y técnicamente la empresa, explotación o establecimiento.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Artículo 65. —Facultad de dirección.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facultades de dirección que asisten al empleador deberán ejercitarse con carácter funcional, atendiendo a los fines de la empresa, a las exigencias de la producción, sin perjuicio de la preservación y mejora de los derechos personales y patrimoniales del trabajador.</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66. —Facultad de modificar las formas y modalidades del trabajo.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está facultado para introducir todos aquellos cambios relativos a la forma y modalidades de la prestación del trabajo, en tanto esos cambios no importen un ejercicio irrazonable de esa facultad, ni alteren modalidades esenciales del contrato, ni causen perjuicio material ni moral al trabajador.</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Cuando el empleador disponga medidas vedadas por este artículo, al trabajador le asistirá la posibilidad de optar por considerarse despedido sin causa o accionar persiguiendo el restablecimiento de las condiciones alteradas. En este último supuesto la acción se substanciará por el procedimiento sumarísimo, no pudiéndose innovar en las condiciones y modalidades de trabajo, salvo que éstas sean generales para el establecimiento o sección, hasta que recaiga sentencia definitiva.</a:t>
            </a:r>
            <a:endParaRPr/>
          </a:p>
          <a:p>
            <a:pPr indent="0" lvl="0" marL="0" rtl="0" algn="l">
              <a:lnSpc>
                <a:spcPct val="100000"/>
              </a:lnSpc>
              <a:spcBef>
                <a:spcPts val="0"/>
              </a:spcBef>
              <a:spcAft>
                <a:spcPts val="0"/>
              </a:spcAft>
              <a:buSzPts val="1400"/>
              <a:buNone/>
            </a:pPr>
            <a:r>
              <a:rPr b="0" i="1" lang="es-AR" sz="1200">
                <a:solidFill>
                  <a:schemeClr val="dk1"/>
                </a:solidFill>
                <a:latin typeface="Calibri"/>
                <a:ea typeface="Calibri"/>
                <a:cs typeface="Calibri"/>
                <a:sym typeface="Calibri"/>
              </a:rPr>
              <a:t>(Artículo sustituido por art. 1º de la </a:t>
            </a:r>
            <a:r>
              <a:rPr b="0" i="1" lang="es-AR" sz="1200" u="sng">
                <a:solidFill>
                  <a:schemeClr val="dk1"/>
                </a:solidFill>
                <a:latin typeface="Calibri"/>
                <a:ea typeface="Calibri"/>
                <a:cs typeface="Calibri"/>
                <a:sym typeface="Calibri"/>
                <a:hlinkClick r:id="rId2">
                  <a:extLst>
                    <a:ext uri="{A12FA001-AC4F-418D-AE19-62706E023703}">
                      <ahyp:hlinkClr val="tx"/>
                    </a:ext>
                  </a:extLst>
                </a:hlinkClick>
              </a:rPr>
              <a:t>Ley Nº 26.088</a:t>
            </a:r>
            <a:r>
              <a:rPr b="0" i="1" lang="es-AR" sz="1200">
                <a:solidFill>
                  <a:schemeClr val="dk1"/>
                </a:solidFill>
                <a:latin typeface="Calibri"/>
                <a:ea typeface="Calibri"/>
                <a:cs typeface="Calibri"/>
                <a:sym typeface="Calibri"/>
              </a:rPr>
              <a:t>, B.O. 24/04/2006.)</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67. — Facultades disciplinarias. Limitación.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podrá aplicar medidas disciplinarias proporcionadas a las faltas o incumplimientos demostrados por el trabajador. Dentro de los treinta (30) días corridos de notificada la medida, el trabajador podrá cuestionar su procedencia y el tipo o extensión de la misma, para que se la suprima, sustituya por otra o limite según los casos. Vencido dicho término se tendrá por consentida la sanción disciplinaria.</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68. —Modalidades de su ejercicio.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en todos los casos, deberá ejercitar las facultades que le están conferidas en los artículos anteriores, así como la de disponer suspensiones por razones económicas, en los límites y con arreglo a las condiciones fijadas por la ley, los estatutos profesionales, las convenciones colectivas de trabajo, los consejos de empresa y, si los hubiere, los reglamentos internos que éstos dictaren. Siempre se cuidará de satisfacer las exigencias de la organización del trabajo en la empresa y el respeto debido a la dignidad del trabajador y sus derechos patrimoniales, excluyendo toda forma de abuso del derecho.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69. —Modificación del contrato de trabajo - Su exclusión como sanción disciplinaria.</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No podrán aplicarse sanciones disciplinarias que constituyan una modificación del contrato de trabajo.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70. —Controles personales.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Los sistemas de controles personales del trabajador destinados a la protección de los bienes del empleador deberán siempre salvaguardar la dignidad del trabajador y deberán practicarse con discreción y se harán por medios de selección automática destinados a la totalidad del personal.</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Los controles del personal femenino deberán estar reservados exclusivamente a personas de su mismo sexo.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71. —Conocimiento.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Los controles referidos en el artículo anterior, así como los relativos a la actividad del trabajador, deberán ser conocidos por éste.</a:t>
            </a:r>
            <a:endParaRPr/>
          </a:p>
          <a:p>
            <a:pPr indent="0" lvl="0" marL="0" rtl="0" algn="l">
              <a:lnSpc>
                <a:spcPct val="100000"/>
              </a:lnSpc>
              <a:spcBef>
                <a:spcPts val="0"/>
              </a:spcBef>
              <a:spcAft>
                <a:spcPts val="0"/>
              </a:spcAft>
              <a:buSzPts val="1400"/>
              <a:buNone/>
            </a:pPr>
            <a:r>
              <a:rPr b="0" i="1" lang="es-AR" sz="1200">
                <a:solidFill>
                  <a:schemeClr val="dk1"/>
                </a:solidFill>
                <a:latin typeface="Calibri"/>
                <a:ea typeface="Calibri"/>
                <a:cs typeface="Calibri"/>
                <a:sym typeface="Calibri"/>
              </a:rPr>
              <a:t>(Artículo sustituido por art. 1º de la </a:t>
            </a:r>
            <a:r>
              <a:rPr b="0" i="1" lang="es-AR" sz="1200" u="sng">
                <a:solidFill>
                  <a:schemeClr val="dk1"/>
                </a:solidFill>
                <a:latin typeface="Calibri"/>
                <a:ea typeface="Calibri"/>
                <a:cs typeface="Calibri"/>
                <a:sym typeface="Calibri"/>
                <a:hlinkClick r:id="rId3">
                  <a:extLst>
                    <a:ext uri="{A12FA001-AC4F-418D-AE19-62706E023703}">
                      <ahyp:hlinkClr val="tx"/>
                    </a:ext>
                  </a:extLst>
                </a:hlinkClick>
              </a:rPr>
              <a:t>Ley Nº 27.322</a:t>
            </a:r>
            <a:r>
              <a:rPr b="0" i="1" lang="es-AR" sz="1200">
                <a:solidFill>
                  <a:schemeClr val="dk1"/>
                </a:solidFill>
                <a:latin typeface="Calibri"/>
                <a:ea typeface="Calibri"/>
                <a:cs typeface="Calibri"/>
                <a:sym typeface="Calibri"/>
              </a:rPr>
              <a:t> B.O. 15/12/2016)</a:t>
            </a:r>
            <a:br>
              <a:rPr b="0" i="0" lang="es-AR"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72. —Verificación.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 autoridad de aplicación está facultada para verificar que los sistemas de control empleados por la empresa no afecten en forma manifiesta y discriminada la dignidad del trabajador.</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73. —Prohibición. Libertad de expresión.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no podrá, ya sea al tiempo de su contratación, durante la vigencia del contrato o con vista a su disolución, realizar encuestas, averiguaciones o indagar sobre las opiniones políticas, religiosas, sindicales, culturales o de preferencia sexual del trabajador. Este podrá expresar libremente sus opiniones sobre tales aspectos en los lugares de trabajo, en tanto ello no interfiera en el normal desarrollo de las tareas.</a:t>
            </a:r>
            <a:br>
              <a:rPr b="0" i="0" lang="es-AR" sz="1200">
                <a:solidFill>
                  <a:schemeClr val="dk1"/>
                </a:solidFill>
                <a:latin typeface="Calibri"/>
                <a:ea typeface="Calibri"/>
                <a:cs typeface="Calibri"/>
                <a:sym typeface="Calibri"/>
              </a:rPr>
            </a:br>
            <a:br>
              <a:rPr b="0" i="0" lang="es-AR" sz="1200">
                <a:solidFill>
                  <a:schemeClr val="dk1"/>
                </a:solidFill>
                <a:latin typeface="Calibri"/>
                <a:ea typeface="Calibri"/>
                <a:cs typeface="Calibri"/>
                <a:sym typeface="Calibri"/>
              </a:rPr>
            </a:br>
            <a:r>
              <a:rPr b="0" i="1" lang="es-AR" sz="1200">
                <a:solidFill>
                  <a:schemeClr val="dk1"/>
                </a:solidFill>
                <a:latin typeface="Calibri"/>
                <a:ea typeface="Calibri"/>
                <a:cs typeface="Calibri"/>
                <a:sym typeface="Calibri"/>
              </a:rPr>
              <a:t>(Artículo sustituido por art. 1° de la </a:t>
            </a:r>
            <a:r>
              <a:rPr b="0" i="1" lang="es-AR" sz="1200" u="sng">
                <a:solidFill>
                  <a:schemeClr val="dk1"/>
                </a:solidFill>
                <a:latin typeface="Calibri"/>
                <a:ea typeface="Calibri"/>
                <a:cs typeface="Calibri"/>
                <a:sym typeface="Calibri"/>
                <a:hlinkClick r:id="rId4">
                  <a:extLst>
                    <a:ext uri="{A12FA001-AC4F-418D-AE19-62706E023703}">
                      <ahyp:hlinkClr val="tx"/>
                    </a:ext>
                  </a:extLst>
                </a:hlinkClick>
              </a:rPr>
              <a:t>Ley N° 26.911</a:t>
            </a:r>
            <a:r>
              <a:rPr b="0" i="1" lang="es-AR" sz="1200">
                <a:solidFill>
                  <a:schemeClr val="dk1"/>
                </a:solidFill>
                <a:latin typeface="Calibri"/>
                <a:ea typeface="Calibri"/>
                <a:cs typeface="Calibri"/>
                <a:sym typeface="Calibri"/>
              </a:rPr>
              <a:t> B.O. 5/12/2013)</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74. —Pago de la remuneración</a:t>
            </a:r>
            <a:r>
              <a:rPr b="0" i="0" lang="es-AR" sz="1200">
                <a:solidFill>
                  <a:schemeClr val="dk1"/>
                </a:solidFill>
                <a:latin typeface="Calibri"/>
                <a:ea typeface="Calibri"/>
                <a:cs typeface="Calibri"/>
                <a:sym typeface="Calibri"/>
              </a:rPr>
              <a:t>.</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está obligado a satisfacer el pago de la remuneración debida al trabajador en los plazos y condiciones previstos en esta ley.</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75. —Deber de seguridad.</a:t>
            </a:r>
            <a:br>
              <a:rPr b="1" i="0" lang="es-AR" sz="1200">
                <a:solidFill>
                  <a:schemeClr val="dk1"/>
                </a:solidFill>
                <a:latin typeface="Calibri"/>
                <a:ea typeface="Calibri"/>
                <a:cs typeface="Calibri"/>
                <a:sym typeface="Calibri"/>
              </a:rPr>
            </a:br>
            <a:endParaRPr b="1"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 hacer observar las pautas y limitaciones a la duración del trabajo establecidas en la ley y demás normas reglamentarias, y adoptar las medidas que según el tipo de trabajo, la experiencia y la técnica sean necesarias para tutelar la integridad psicofísica y la dignidad de los trabajadores, debiendo evitar los efectos perniciosos de las tareas penosas, riesgosas o determinantes de vejez o agotamiento prematuro, así como también los derivados de ambientes insalubres o ruidosos.</a:t>
            </a:r>
            <a:br>
              <a:rPr b="0" i="0" lang="es-AR"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Está obligado a observar las disposiciones legales y reglamentarias pertinentes sobre higiene y seguridad en el trabajo. El trabajador podrá rehusar la prestación de trabajo, sin que ello le ocasiones pérdida o disminución de la remuneración, si el mismo le fuera exigido en transgresión a tales condiciones, siempre que exista peligro inminente de daño o se hubiera configurado el incumplimiento de la obligación, mediante constitución en mora, o si habiendo el organismo competente declarado la insalubridad del lugar, el empleador no realizara los trabajos o proporcionara los elementos que dicha autoridad establezca.</a:t>
            </a:r>
            <a:endParaRPr/>
          </a:p>
          <a:p>
            <a:pPr indent="0" lvl="0" marL="0" rtl="0" algn="l">
              <a:lnSpc>
                <a:spcPct val="100000"/>
              </a:lnSpc>
              <a:spcBef>
                <a:spcPts val="0"/>
              </a:spcBef>
              <a:spcAft>
                <a:spcPts val="0"/>
              </a:spcAft>
              <a:buSzPts val="1400"/>
              <a:buNone/>
            </a:pPr>
            <a:r>
              <a:rPr b="0" i="1" lang="es-AR" sz="1200">
                <a:solidFill>
                  <a:schemeClr val="dk1"/>
                </a:solidFill>
                <a:latin typeface="Calibri"/>
                <a:ea typeface="Calibri"/>
                <a:cs typeface="Calibri"/>
                <a:sym typeface="Calibri"/>
              </a:rPr>
              <a:t>(Artículo sustituido por art. 1º de la </a:t>
            </a:r>
            <a:r>
              <a:rPr b="0" i="1" lang="es-AR" sz="1200" u="sng">
                <a:solidFill>
                  <a:schemeClr val="dk1"/>
                </a:solidFill>
                <a:latin typeface="Calibri"/>
                <a:ea typeface="Calibri"/>
                <a:cs typeface="Calibri"/>
                <a:sym typeface="Calibri"/>
                <a:hlinkClick r:id="rId5">
                  <a:extLst>
                    <a:ext uri="{A12FA001-AC4F-418D-AE19-62706E023703}">
                      <ahyp:hlinkClr val="tx"/>
                    </a:ext>
                  </a:extLst>
                </a:hlinkClick>
              </a:rPr>
              <a:t>Ley Nº 27.323</a:t>
            </a:r>
            <a:r>
              <a:rPr b="0" i="1" lang="es-AR" sz="1200">
                <a:solidFill>
                  <a:schemeClr val="dk1"/>
                </a:solidFill>
                <a:latin typeface="Calibri"/>
                <a:ea typeface="Calibri"/>
                <a:cs typeface="Calibri"/>
                <a:sym typeface="Calibri"/>
              </a:rPr>
              <a:t> B.O. 15/12/2016)</a:t>
            </a:r>
            <a:br>
              <a:rPr b="0" i="1" lang="es-AR"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76. —Reintegro de gastos y resarcimiento de daños.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deberá reintegrar al trabajador los gastos suplidos por éste para el cumplimiento adecuado del trabajo, y resarcirlo de los daños sufridos en sus bienes por el hecho y en ocasión del mismo.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77. —Deber de protección - Alimentación y vivienda.</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 prestar protección a la vida y bienes del trabajador cuando este habite en el establecimiento. Si se le proveyese de alimentación y vivienda, aquélla deberá ser sana y suficiente, y la última, adecuada a las necesidades del trabajador y su familia. Debe efectuar a su costa las reparaciones y refecciones indispensables, conforme a las exigencias del medio y confort.</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78. —Deber de ocupación.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deberá garantizar al trabajador ocupación efectiva, de acuerdo a su calificación o categoría profesional, salvo que el incumplimiento responda a motivos fundados que impidan la satisfacción de tal deber. Si el trabajador fuese destinado a tareas superiores, distintas de aquéllas para las que fue contratado tendrá derecho a percibir la remuneración correspondiente por el tiempo de su desempeño, si la asignación fuese de carácter transitorio.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Se reputarán las nuevas tareas o funciones como definitivas si desaparecieran las causas que dieron lugar a la suplencia, y el trabajador continuase en su desempeño o transcurrieran los plazos que se fijen al efecto en los estatutos profesionales o las convenciones colectivas de trabajo.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79. —Deber de diligencia e iniciativa del empleador.</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deberá cumplir con las obligaciones que resulten de esta ley, de los estatutos profesionales, convenciones colectivas de trabajo y de los sistemas de seguridad social, de modo de posibilitar al trabajador el goce íntegro y oportuno de los beneficios que tales disposiciones le acuerdan. No podrá invocar en ningún caso el incumplimiento de parte del trabajador de las obligaciones que le están asignadas y del que se derive la pérdida total o parcial de aquellos beneficios, si la observancia de las obligaciones dependiese de la iniciativa del empleador y no probase el haber cumplido oportunamente de su parte las que estuviese en su cargo como agente de retención, contribuyente u otra condición similar.</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80. —Deber de observar las obligaciones frente a los organismos sindicales y de la seguridad social - Certificado de trabajo.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 obligación de ingresar los fondos de seguridad social por parte del empleador y los sindicales a su cargo, ya sea como obligado directo o como agente de retención, configurará asimismo una obligación contractual.</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por su parte, deberá dar al trabajador, cuando éste lo requiriese a la época de la extinción de la relación, constancia documentada de ello. Durante el tiempo de la relación deberá otorgar tal constancia cuando medien causas razonables.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Cuando el contrato de trabajo se extinguiere por cualquier causa, el empleador estará obligado a entregar al trabajador un certificado de trabajo, conteniendo las indicaciones sobre el tiempo de prestación de servicios, naturaleza de éstos, constancia de los sueldos percibidos y de los aportes y contribuciones efectuados con destino a los organismos de la seguridad social.</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Si el empleador no hiciera entrega de la constancia o del certificado previstos respectivamente en los apartados segundo y tercero de este artículo dentro de los dos (2) días hábiles computados a partir del día siguiente al de la recepción del requerimiento que a tal efecto le formulare el trabajador de modo fehaciente, será sancionado con una indemnización a favor de este último que será equivalente a tres veces la mejor remuneración mensual, normal y habitual percibida por el trabajador durante el último año o durante el tiempo de prestación de servicios, si éste fuere menor. Esta indemnización se devengará sin perjuicio de las sanciones conminatorias que para hacer cesar esa conducta omisiva pudiere imponer la autoridad judicial competente. </a:t>
            </a:r>
            <a:r>
              <a:rPr b="0" i="1" lang="es-AR" sz="1200">
                <a:solidFill>
                  <a:schemeClr val="dk1"/>
                </a:solidFill>
                <a:latin typeface="Calibri"/>
                <a:ea typeface="Calibri"/>
                <a:cs typeface="Calibri"/>
                <a:sym typeface="Calibri"/>
              </a:rPr>
              <a:t>(Párrafo incorporado por art. 45 de la </a:t>
            </a:r>
            <a:r>
              <a:rPr b="0" i="1" lang="es-AR" sz="1200" u="sng">
                <a:solidFill>
                  <a:schemeClr val="dk1"/>
                </a:solidFill>
                <a:latin typeface="Calibri"/>
                <a:ea typeface="Calibri"/>
                <a:cs typeface="Calibri"/>
                <a:sym typeface="Calibri"/>
                <a:hlinkClick r:id="rId6">
                  <a:extLst>
                    <a:ext uri="{A12FA001-AC4F-418D-AE19-62706E023703}">
                      <ahyp:hlinkClr val="tx"/>
                    </a:ext>
                  </a:extLst>
                </a:hlinkClick>
              </a:rPr>
              <a:t>Ley N° 25.345</a:t>
            </a:r>
            <a:r>
              <a:rPr b="0" i="1" lang="es-AR" sz="1200">
                <a:solidFill>
                  <a:schemeClr val="dk1"/>
                </a:solidFill>
                <a:latin typeface="Calibri"/>
                <a:ea typeface="Calibri"/>
                <a:cs typeface="Calibri"/>
                <a:sym typeface="Calibri"/>
              </a:rPr>
              <a:t> B.O. 17/11/2000)</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81. —Igualdad de trato.</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empleador debe dispensar a todos los trabajadores igual trato en identidad de situaciones. Se considerará que existe trato desigual cuando se produzcan discriminaciones arbitrarias fundadas en razones de sexo, religión o raza, pero no cuando el diferente tratamiento responda a principios de bien común, como el que se sustente en la mayor eficacia, laboriosidad o contracción a sus tareas por parte del trabajador.</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82. —Invenciones del trabajador.</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invenciones o descubrimientos personales del trabajador son propiedad de éste, aun cuando se haya valido de instrumentos que no le pertenecen.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invenciones o descubrimientos que se deriven de los procedimientos industriales, métodos o instalaciones del establecimiento o de experimentaciones, investigaciones, mejoras o perfeccionamiento de los ya empleados, son propiedad del empleador.</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Son igualmente de su propiedad las invenciones o descubrimientos, fórmulas, diseños, materiales y combinaciones que se obtengan habiendo sido el trabajador contratado con tal objeto.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83. —Preferencia del Empleador - Prohibición - Secreto. —</a:t>
            </a:r>
            <a:r>
              <a:rPr b="0" i="0" lang="es-AR" sz="1200">
                <a:solidFill>
                  <a:schemeClr val="dk1"/>
                </a:solidFill>
                <a:latin typeface="Calibri"/>
                <a:ea typeface="Calibri"/>
                <a:cs typeface="Calibri"/>
                <a:sym typeface="Calibri"/>
              </a:rPr>
              <a:t>ARTICULO 83.- El empleador deberá ser preferido en igualdad de condiciones a los terceros, si el trabajador decidiese la cesión de los derechos a la invención o descubrimiento, en el caso del primer párrafo del artículo 82 de esta ley.</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Las partes están obligadas a guardar secreto sobre las invenciones o descubrimientos logrados en cualquiera de aquellas formas.</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84. —Deberes de diligencia y colaboración.</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debe prestar el servicio con puntualidad, asistencia regular y dedicación adecuada a las características de su empleo y a los medios instrumentales que se le provean.</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85. —Deber de fidelidad.</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debe observar todos aquellos deberes de fidelidad que deriven de la índole de las tareas que tenga asignadas, guardando reserva o secreto de las informaciones a que tenga acceso y que exijan tal comportamiento de su parte.</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86. —Cumplimiento de órdenes e instrucciones.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debe observar las órdenes e instrucciones que se le impartan sobre el modo de ejecución del trabajo, ya sea por el empleador o sus representantes. Debe conservar los instrumentos o útiles que se le provean para la realización del trabajo, sin que asuma responsabilidad por el deterioro que los mismos sufran derivados del uso.</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87. Responsabilidad por daños.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es responsable ante el empleador de los daños que cause a los intereses de éste, por dolo o culpa grave en el ejercicio de sus funciones.</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88. —Deber de no concurrencia.</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debe abstenerse de ejecutar negociaciones por cuenta propia o ajena, que pudieran afectar los intereses del empleador, salvo autorización de éste.</a:t>
            </a:r>
            <a:endParaRPr/>
          </a:p>
          <a:p>
            <a:pPr indent="0" lvl="0" marL="0" rtl="0" algn="l">
              <a:lnSpc>
                <a:spcPct val="100000"/>
              </a:lnSpc>
              <a:spcBef>
                <a:spcPts val="0"/>
              </a:spcBef>
              <a:spcAft>
                <a:spcPts val="0"/>
              </a:spcAft>
              <a:buSzPts val="1400"/>
              <a:buNone/>
            </a:pPr>
            <a:r>
              <a:rPr b="1" i="0" lang="es-AR" sz="1200">
                <a:solidFill>
                  <a:schemeClr val="dk1"/>
                </a:solidFill>
                <a:latin typeface="Calibri"/>
                <a:ea typeface="Calibri"/>
                <a:cs typeface="Calibri"/>
                <a:sym typeface="Calibri"/>
              </a:rPr>
              <a:t>Art. 89. —Auxilios o ayudas extraordinarias.</a:t>
            </a:r>
            <a:endParaRPr/>
          </a:p>
          <a:p>
            <a:pPr indent="0" lvl="0" marL="0" rtl="0" algn="l">
              <a:lnSpc>
                <a:spcPct val="100000"/>
              </a:lnSpc>
              <a:spcBef>
                <a:spcPts val="0"/>
              </a:spcBef>
              <a:spcAft>
                <a:spcPts val="0"/>
              </a:spcAft>
              <a:buSzPts val="1400"/>
              <a:buNone/>
            </a:pPr>
            <a:r>
              <a:rPr b="0" i="0" lang="es-AR" sz="1200">
                <a:solidFill>
                  <a:schemeClr val="dk1"/>
                </a:solidFill>
                <a:latin typeface="Calibri"/>
                <a:ea typeface="Calibri"/>
                <a:cs typeface="Calibri"/>
                <a:sym typeface="Calibri"/>
              </a:rPr>
              <a:t>El trabajador estará obligado a prestar los auxilios que se requieran, en caso de peligro grave o inminente para las personas o para las cosas incorporadas a la empresa.</a:t>
            </a:r>
            <a:endParaRPr/>
          </a:p>
          <a:p>
            <a:pPr indent="0" lvl="0" marL="0" rtl="0" algn="l">
              <a:lnSpc>
                <a:spcPct val="100000"/>
              </a:lnSpc>
              <a:spcBef>
                <a:spcPts val="0"/>
              </a:spcBef>
              <a:spcAft>
                <a:spcPts val="0"/>
              </a:spcAft>
              <a:buSzPts val="1400"/>
              <a:buNone/>
            </a:pPr>
            <a:r>
              <a:t/>
            </a:r>
            <a:endParaRPr/>
          </a:p>
        </p:txBody>
      </p:sp>
      <p:sp>
        <p:nvSpPr>
          <p:cNvPr id="326" name="Google Shape;326;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356" name="Google Shape;356;p5: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64: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p64: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70: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397" name="Google Shape;397;p70: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7: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Se considerará trabajo real o efectivo el tiempo durante el cual los trabajadores deben estar presentes en sus puestos respectivos para ejecutar las órdenes de sus superiores. La jornada se relaciona con el salario por lo que debe conceptuarse como el tiempo que el trabajador esta a disposición del empleador. (Art 103 LCT)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AR"/>
              <a:t>Se considerará computable como tiempo de trabajo:</a:t>
            </a:r>
            <a:endParaRPr/>
          </a:p>
          <a:p>
            <a:pPr indent="0" lvl="0" marL="0" rtl="0" algn="l">
              <a:lnSpc>
                <a:spcPct val="100000"/>
              </a:lnSpc>
              <a:spcBef>
                <a:spcPts val="0"/>
              </a:spcBef>
              <a:spcAft>
                <a:spcPts val="0"/>
              </a:spcAft>
              <a:buSzPts val="1400"/>
              <a:buNone/>
            </a:pPr>
            <a:r>
              <a:rPr lang="es-AR"/>
              <a:t>El tiempo de prestación de servicios.</a:t>
            </a:r>
            <a:endParaRPr/>
          </a:p>
          <a:p>
            <a:pPr indent="0" lvl="0" marL="0" rtl="0" algn="l">
              <a:lnSpc>
                <a:spcPct val="100000"/>
              </a:lnSpc>
              <a:spcBef>
                <a:spcPts val="0"/>
              </a:spcBef>
              <a:spcAft>
                <a:spcPts val="0"/>
              </a:spcAft>
              <a:buSzPts val="1400"/>
              <a:buNone/>
            </a:pPr>
            <a:r>
              <a:rPr lang="es-AR"/>
              <a:t>El tiempo durante el cual el trabajador esté a disposición del empleador, en que permanece inactivo dentro de la jornada si la inactividad es ajena a su voluntad, a su negligencia (ejemplo: corte de luz) o a causas legítimas de suspensión de contrato (ejemplo: falta de trabajo).</a:t>
            </a:r>
            <a:endParaRPr/>
          </a:p>
          <a:p>
            <a:pPr indent="0" lvl="0" marL="0" rtl="0" algn="l">
              <a:lnSpc>
                <a:spcPct val="100000"/>
              </a:lnSpc>
              <a:spcBef>
                <a:spcPts val="0"/>
              </a:spcBef>
              <a:spcAft>
                <a:spcPts val="0"/>
              </a:spcAft>
              <a:buSzPts val="1400"/>
              <a:buNone/>
            </a:pPr>
            <a:r>
              <a:t/>
            </a:r>
            <a:endParaRPr/>
          </a:p>
        </p:txBody>
      </p:sp>
      <p:sp>
        <p:nvSpPr>
          <p:cNvPr id="419" name="Google Shape;419;p17: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8: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18: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9: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72: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72: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11" name="Google Shape;511;p7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73: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73: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s-AR"/>
              <a:t>Se encuentra contemplado en los artículos 204 a 207 de la LCT. Se prohíbe la ocupación del trabajador desde las 13 hs del día sábado hasta las 24 horas del día siguiente,</a:t>
            </a:r>
            <a:endParaRPr/>
          </a:p>
          <a:p>
            <a:pPr indent="-228600" lvl="0" marL="457200" marR="0" rtl="0" algn="l">
              <a:lnSpc>
                <a:spcPct val="100000"/>
              </a:lnSpc>
              <a:spcBef>
                <a:spcPts val="0"/>
              </a:spcBef>
              <a:spcAft>
                <a:spcPts val="0"/>
              </a:spcAft>
              <a:buSzPts val="1400"/>
              <a:buNone/>
            </a:pPr>
            <a:r>
              <a:rPr lang="es-AR"/>
              <a:t>En caso que el trabajador por el tipo de actividad o fuerza mayor deba trabajar sábado o domingos, corresponde se le otorgue un descanso compensatorio. En este caso no se debe abonar recargo por el trabajo después de las 13 hs del sábado.</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Entre el cese de una jornada y el comienzo de otra deberá mediar un descanso no inferior a doce (12) horas.</a:t>
            </a:r>
            <a:endParaRPr/>
          </a:p>
          <a:p>
            <a:pPr indent="-228600" lvl="0" marL="457200" marR="0" rtl="0" algn="l">
              <a:lnSpc>
                <a:spcPct val="100000"/>
              </a:lnSpc>
              <a:spcBef>
                <a:spcPts val="0"/>
              </a:spcBef>
              <a:spcAft>
                <a:spcPts val="0"/>
              </a:spcAft>
              <a:buSzPts val="1400"/>
              <a:buNone/>
            </a:pPr>
            <a:r>
              <a:rPr lang="es-AR"/>
              <a:t>Ejemplo: Si el trabajador realiza turnos rotativos y sale a las 22 hs de trabajar, al día siguiente debería de ingresar posterior a las 10 hs.</a:t>
            </a:r>
            <a:endParaRPr/>
          </a:p>
          <a:p>
            <a:pPr indent="-228600" lvl="0" marL="457200" marR="0" rtl="0" algn="l">
              <a:lnSpc>
                <a:spcPct val="100000"/>
              </a:lnSpc>
              <a:spcBef>
                <a:spcPts val="0"/>
              </a:spcBef>
              <a:spcAft>
                <a:spcPts val="0"/>
              </a:spcAft>
              <a:buSzPts val="1400"/>
              <a:buNone/>
            </a:pPr>
            <a:r>
              <a:t/>
            </a:r>
            <a:endParaRPr/>
          </a:p>
        </p:txBody>
      </p:sp>
      <p:sp>
        <p:nvSpPr>
          <p:cNvPr id="528" name="Google Shape;528;p7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74: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74: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s-AR"/>
              <a:t>El trabajador gozará de un período mínimo y continuado de descanso anual remunerado por los siguientes plazos, calculando la antigüedad al 31 de Diciembre del año al que corresponden las vacaciones. (Art. 150 LCT)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Cuando el trabajador no llegase a totalizar el tiempo mínimo de trabajo previsto (la mitad de los días hábiles comprendidos en el año), gozará de un período de descanso anual en la proporción de 1 día de descanso por cada 20 efectivamente trabajados (Art 153). </a:t>
            </a:r>
            <a:endParaRPr/>
          </a:p>
          <a:p>
            <a:pPr indent="-228600" lvl="0" marL="457200" marR="0" rtl="0" algn="l">
              <a:lnSpc>
                <a:spcPct val="100000"/>
              </a:lnSpc>
              <a:spcBef>
                <a:spcPts val="0"/>
              </a:spcBef>
              <a:spcAft>
                <a:spcPts val="0"/>
              </a:spcAft>
              <a:buSzPts val="1400"/>
              <a:buNone/>
            </a:pPr>
            <a:r>
              <a:t/>
            </a:r>
            <a:endParaRPr/>
          </a:p>
        </p:txBody>
      </p:sp>
      <p:sp>
        <p:nvSpPr>
          <p:cNvPr id="543" name="Google Shape;543;p7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4: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4: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La licencia comenzará día </a:t>
            </a:r>
            <a:r>
              <a:rPr b="1" lang="es-AR"/>
              <a:t>lunes o el siguiente hábil</a:t>
            </a:r>
            <a:r>
              <a:rPr lang="es-AR"/>
              <a:t>, si aquel fuese feriado.</a:t>
            </a:r>
            <a:endParaRPr/>
          </a:p>
          <a:p>
            <a:pPr indent="0" lvl="0" marL="0" rtl="0" algn="l">
              <a:lnSpc>
                <a:spcPct val="100000"/>
              </a:lnSpc>
              <a:spcBef>
                <a:spcPts val="0"/>
              </a:spcBef>
              <a:spcAft>
                <a:spcPts val="0"/>
              </a:spcAft>
              <a:buSzPts val="1400"/>
              <a:buNone/>
            </a:pPr>
            <a:r>
              <a:rPr lang="es-AR"/>
              <a:t>Cuando se acuerdan las vacaciones entre empleador y empleado, es decir, que no se otorguen a todos en forma simultánea, el empleador deberá proceder en forma tal que a cada trabajador le corresponda el goce de éstas por lo menos en </a:t>
            </a:r>
            <a:r>
              <a:rPr b="1" lang="es-AR"/>
              <a:t>una temporada de verano cada tres períodos.</a:t>
            </a:r>
            <a:endParaRPr b="1"/>
          </a:p>
        </p:txBody>
      </p:sp>
      <p:sp>
        <p:nvSpPr>
          <p:cNvPr id="556" name="Google Shape;556;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75: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75: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Las vacaciones responden a necesidades de tipo biológico, social y económico. Por lo tanto NO SON COMPENSABLES EN DINERO. La ley establece que no se pueden fraccionar. Sólo se puede acumular para el año siguiente 1/3 de las vacaciones que corresponden al año.</a:t>
            </a:r>
            <a:endParaRPr/>
          </a:p>
          <a:p>
            <a:pPr indent="0" lvl="0" marL="0" rtl="0" algn="l">
              <a:lnSpc>
                <a:spcPct val="100000"/>
              </a:lnSpc>
              <a:spcBef>
                <a:spcPts val="0"/>
              </a:spcBef>
              <a:spcAft>
                <a:spcPts val="0"/>
              </a:spcAft>
              <a:buSzPts val="1400"/>
              <a:buNone/>
            </a:pPr>
            <a:r>
              <a:rPr lang="es-AR"/>
              <a:t>Ejemplo cálculo: $10.000 /25= 400 pesos por día / 10000/30= 333,33</a:t>
            </a:r>
            <a:endParaRPr/>
          </a:p>
          <a:p>
            <a:pPr indent="0" lvl="0" marL="0" rtl="0" algn="l">
              <a:lnSpc>
                <a:spcPct val="100000"/>
              </a:lnSpc>
              <a:spcBef>
                <a:spcPts val="0"/>
              </a:spcBef>
              <a:spcAft>
                <a:spcPts val="0"/>
              </a:spcAft>
              <a:buSzPts val="1400"/>
              <a:buNone/>
            </a:pPr>
            <a:r>
              <a:rPr lang="es-AR"/>
              <a:t>14 días de vacaciones: (400)*21= 8400</a:t>
            </a:r>
            <a:endParaRPr/>
          </a:p>
          <a:p>
            <a:pPr indent="0" lvl="0" marL="0" rtl="0" algn="l">
              <a:lnSpc>
                <a:spcPct val="100000"/>
              </a:lnSpc>
              <a:spcBef>
                <a:spcPts val="0"/>
              </a:spcBef>
              <a:spcAft>
                <a:spcPts val="0"/>
              </a:spcAft>
              <a:buSzPts val="1400"/>
              <a:buNone/>
            </a:pPr>
            <a:r>
              <a:t/>
            </a:r>
            <a:endParaRPr/>
          </a:p>
        </p:txBody>
      </p:sp>
      <p:sp>
        <p:nvSpPr>
          <p:cNvPr id="568" name="Google Shape;568;p7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76: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76: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77: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77: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2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A los efectos del cálculo deben computarse todas las remuneraciones consideradas “REMUNERATIVAS”. </a:t>
            </a:r>
            <a:endParaRPr/>
          </a:p>
          <a:p>
            <a:pPr indent="0" lvl="0" marL="0" rtl="0" algn="l">
              <a:lnSpc>
                <a:spcPct val="100000"/>
              </a:lnSpc>
              <a:spcBef>
                <a:spcPts val="0"/>
              </a:spcBef>
              <a:spcAft>
                <a:spcPts val="0"/>
              </a:spcAft>
              <a:buSzPts val="1400"/>
              <a:buNone/>
            </a:pPr>
            <a:r>
              <a:rPr lang="es-AR"/>
              <a:t>Por ejemplo:</a:t>
            </a:r>
            <a:endParaRPr/>
          </a:p>
          <a:p>
            <a:pPr indent="0" lvl="0" marL="0" rtl="0" algn="l">
              <a:lnSpc>
                <a:spcPct val="100000"/>
              </a:lnSpc>
              <a:spcBef>
                <a:spcPts val="0"/>
              </a:spcBef>
              <a:spcAft>
                <a:spcPts val="0"/>
              </a:spcAft>
              <a:buSzPts val="1400"/>
              <a:buNone/>
            </a:pPr>
            <a:r>
              <a:rPr lang="es-AR"/>
              <a:t>Salario bruto total (sueldo base, plus empresa o adicionales, a cuenta FA, presentismo, etc.)</a:t>
            </a:r>
            <a:endParaRPr/>
          </a:p>
          <a:p>
            <a:pPr indent="0" lvl="0" marL="0" rtl="0" algn="l">
              <a:lnSpc>
                <a:spcPct val="100000"/>
              </a:lnSpc>
              <a:spcBef>
                <a:spcPts val="0"/>
              </a:spcBef>
              <a:spcAft>
                <a:spcPts val="0"/>
              </a:spcAft>
              <a:buSzPts val="1400"/>
              <a:buNone/>
            </a:pPr>
            <a:r>
              <a:rPr lang="es-AR"/>
              <a:t>Comisiones </a:t>
            </a:r>
            <a:endParaRPr/>
          </a:p>
          <a:p>
            <a:pPr indent="0" lvl="0" marL="0" rtl="0" algn="l">
              <a:lnSpc>
                <a:spcPct val="100000"/>
              </a:lnSpc>
              <a:spcBef>
                <a:spcPts val="0"/>
              </a:spcBef>
              <a:spcAft>
                <a:spcPts val="0"/>
              </a:spcAft>
              <a:buSzPts val="1400"/>
              <a:buNone/>
            </a:pPr>
            <a:r>
              <a:rPr lang="es-AR"/>
              <a:t>Viáticos sin comprobantes </a:t>
            </a:r>
            <a:endParaRPr/>
          </a:p>
          <a:p>
            <a:pPr indent="0" lvl="0" marL="0" rtl="0" algn="l">
              <a:lnSpc>
                <a:spcPct val="100000"/>
              </a:lnSpc>
              <a:spcBef>
                <a:spcPts val="0"/>
              </a:spcBef>
              <a:spcAft>
                <a:spcPts val="0"/>
              </a:spcAft>
              <a:buSzPts val="1400"/>
              <a:buNone/>
            </a:pPr>
            <a:r>
              <a:rPr lang="es-AR"/>
              <a:t>Remuneraciones en especie - casa/habitación/comida- </a:t>
            </a:r>
            <a:endParaRPr/>
          </a:p>
          <a:p>
            <a:pPr indent="0" lvl="0" marL="0" rtl="0" algn="l">
              <a:lnSpc>
                <a:spcPct val="100000"/>
              </a:lnSpc>
              <a:spcBef>
                <a:spcPts val="0"/>
              </a:spcBef>
              <a:spcAft>
                <a:spcPts val="0"/>
              </a:spcAft>
              <a:buSzPts val="1400"/>
              <a:buNone/>
            </a:pPr>
            <a:r>
              <a:rPr lang="es-AR"/>
              <a:t>Bonificaciones adicionales </a:t>
            </a:r>
            <a:endParaRPr/>
          </a:p>
          <a:p>
            <a:pPr indent="0" lvl="0" marL="0" rtl="0" algn="l">
              <a:lnSpc>
                <a:spcPct val="100000"/>
              </a:lnSpc>
              <a:spcBef>
                <a:spcPts val="0"/>
              </a:spcBef>
              <a:spcAft>
                <a:spcPts val="0"/>
              </a:spcAft>
              <a:buSzPts val="1400"/>
              <a:buNone/>
            </a:pPr>
            <a:r>
              <a:rPr lang="es-AR"/>
              <a:t>Premios/Gratificaciones </a:t>
            </a:r>
            <a:endParaRPr/>
          </a:p>
          <a:p>
            <a:pPr indent="0" lvl="0" marL="0" rtl="0" algn="l">
              <a:lnSpc>
                <a:spcPct val="100000"/>
              </a:lnSpc>
              <a:spcBef>
                <a:spcPts val="0"/>
              </a:spcBef>
              <a:spcAft>
                <a:spcPts val="0"/>
              </a:spcAft>
              <a:buSzPts val="1400"/>
              <a:buNone/>
            </a:pPr>
            <a:r>
              <a:rPr lang="es-AR"/>
              <a:t>Salarios por enfermedad accidente profesional </a:t>
            </a:r>
            <a:endParaRPr/>
          </a:p>
          <a:p>
            <a:pPr indent="0" lvl="0" marL="0" rtl="0" algn="l">
              <a:lnSpc>
                <a:spcPct val="100000"/>
              </a:lnSpc>
              <a:spcBef>
                <a:spcPts val="0"/>
              </a:spcBef>
              <a:spcAft>
                <a:spcPts val="0"/>
              </a:spcAft>
              <a:buSzPts val="1400"/>
              <a:buNone/>
            </a:pPr>
            <a:r>
              <a:rPr lang="es-AR"/>
              <a:t>Horas extraordinarias </a:t>
            </a:r>
            <a:endParaRPr/>
          </a:p>
          <a:p>
            <a:pPr indent="0" lvl="0" marL="0" rtl="0" algn="l">
              <a:lnSpc>
                <a:spcPct val="100000"/>
              </a:lnSpc>
              <a:spcBef>
                <a:spcPts val="0"/>
              </a:spcBef>
              <a:spcAft>
                <a:spcPts val="0"/>
              </a:spcAft>
              <a:buSzPts val="1400"/>
              <a:buNone/>
            </a:pPr>
            <a:r>
              <a:rPr lang="es-AR"/>
              <a:t>Vacaciones y plus vacacional </a:t>
            </a:r>
            <a:endParaRPr/>
          </a:p>
          <a:p>
            <a:pPr indent="0" lvl="0" marL="0" rtl="0" algn="l">
              <a:lnSpc>
                <a:spcPct val="100000"/>
              </a:lnSpc>
              <a:spcBef>
                <a:spcPts val="0"/>
              </a:spcBef>
              <a:spcAft>
                <a:spcPts val="0"/>
              </a:spcAft>
              <a:buSzPts val="1400"/>
              <a:buNone/>
            </a:pPr>
            <a:r>
              <a:rPr lang="es-AR"/>
              <a:t>No se incluyen para el cálculo del aguinaldo las remuneraciones que tengan carácter “NO REMUNERATIVAS." </a:t>
            </a:r>
            <a:endParaRPr/>
          </a:p>
          <a:p>
            <a:pPr indent="0" lvl="0" marL="0" rtl="0" algn="l">
              <a:lnSpc>
                <a:spcPct val="100000"/>
              </a:lnSpc>
              <a:spcBef>
                <a:spcPts val="0"/>
              </a:spcBef>
              <a:spcAft>
                <a:spcPts val="0"/>
              </a:spcAft>
              <a:buSzPts val="1400"/>
              <a:buNone/>
            </a:pPr>
            <a:r>
              <a:rPr lang="es-AR"/>
              <a:t>Por ejemplo:</a:t>
            </a:r>
            <a:endParaRPr/>
          </a:p>
          <a:p>
            <a:pPr indent="0" lvl="0" marL="0" rtl="0" algn="l">
              <a:lnSpc>
                <a:spcPct val="100000"/>
              </a:lnSpc>
              <a:spcBef>
                <a:spcPts val="0"/>
              </a:spcBef>
              <a:spcAft>
                <a:spcPts val="0"/>
              </a:spcAft>
              <a:buSzPts val="1400"/>
              <a:buNone/>
            </a:pPr>
            <a:r>
              <a:rPr lang="es-AR"/>
              <a:t>Asignaciones familiares </a:t>
            </a:r>
            <a:endParaRPr/>
          </a:p>
          <a:p>
            <a:pPr indent="0" lvl="0" marL="0" rtl="0" algn="l">
              <a:lnSpc>
                <a:spcPct val="100000"/>
              </a:lnSpc>
              <a:spcBef>
                <a:spcPts val="0"/>
              </a:spcBef>
              <a:spcAft>
                <a:spcPts val="0"/>
              </a:spcAft>
              <a:buSzPts val="1400"/>
              <a:buNone/>
            </a:pPr>
            <a:r>
              <a:rPr lang="es-AR"/>
              <a:t>Importes abonados en concepto de licencia por maternidad </a:t>
            </a:r>
            <a:endParaRPr/>
          </a:p>
          <a:p>
            <a:pPr indent="0" lvl="0" marL="0" rtl="0" algn="l">
              <a:lnSpc>
                <a:spcPct val="100000"/>
              </a:lnSpc>
              <a:spcBef>
                <a:spcPts val="0"/>
              </a:spcBef>
              <a:spcAft>
                <a:spcPts val="0"/>
              </a:spcAft>
              <a:buSzPts val="1400"/>
              <a:buNone/>
            </a:pPr>
            <a:r>
              <a:rPr lang="es-AR"/>
              <a:t>Prestaciones dinerarias de la ley de ART </a:t>
            </a:r>
            <a:endParaRPr/>
          </a:p>
          <a:p>
            <a:pPr indent="0" lvl="0" marL="0" rtl="0" algn="l">
              <a:lnSpc>
                <a:spcPct val="100000"/>
              </a:lnSpc>
              <a:spcBef>
                <a:spcPts val="0"/>
              </a:spcBef>
              <a:spcAft>
                <a:spcPts val="0"/>
              </a:spcAft>
              <a:buSzPts val="1400"/>
              <a:buNone/>
            </a:pPr>
            <a:r>
              <a:rPr lang="es-AR"/>
              <a:t>Beneficios sociales otorgados por el empleador</a:t>
            </a:r>
            <a:endParaRPr/>
          </a:p>
          <a:p>
            <a:pPr indent="0" lvl="0" marL="0" rtl="0" algn="l">
              <a:lnSpc>
                <a:spcPct val="100000"/>
              </a:lnSpc>
              <a:spcBef>
                <a:spcPts val="0"/>
              </a:spcBef>
              <a:spcAft>
                <a:spcPts val="0"/>
              </a:spcAft>
              <a:buSzPts val="1400"/>
              <a:buNone/>
            </a:pPr>
            <a:r>
              <a:t/>
            </a:r>
            <a:endParaRPr/>
          </a:p>
        </p:txBody>
      </p:sp>
      <p:sp>
        <p:nvSpPr>
          <p:cNvPr id="606" name="Google Shape;606;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78: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8" name="Google Shape;628;p78: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79: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 name="Google Shape;642;p79: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80: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80: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6:notes"/>
          <p:cNvSpPr txBox="1"/>
          <p:nvPr>
            <p:ph idx="1" type="body"/>
          </p:nvPr>
        </p:nvSpPr>
        <p:spPr>
          <a:xfrm>
            <a:off x="679768" y="4777194"/>
            <a:ext cx="5438140" cy="3908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6: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5: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25: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Por nacimientos y fallecimientos, deberá necesariamente computarse un día hábil cuando las mismas </a:t>
            </a:r>
            <a:r>
              <a:rPr lang="es-AR"/>
              <a:t>coincidieran</a:t>
            </a:r>
            <a:r>
              <a:rPr lang="es-AR"/>
              <a:t> con días domingo, feriados o no laborables.</a:t>
            </a:r>
            <a:endParaRPr/>
          </a:p>
        </p:txBody>
      </p:sp>
      <p:sp>
        <p:nvSpPr>
          <p:cNvPr id="675" name="Google Shape;675;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8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8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Durante este lapso de 90 días, la trabajadora </a:t>
            </a:r>
            <a:r>
              <a:rPr lang="es-AR"/>
              <a:t>cobrará</a:t>
            </a:r>
            <a:r>
              <a:rPr lang="es-AR"/>
              <a:t> la asignación por maternidad que el organismo de seguridad social (ANSES) le depositará. Este monto no podrá ser inferior a lo que la trabajadora percibía al momento de ingresar en licencia.</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Luego, al finalizar la licencia por maternidad podrá optar por reintegrarse a su puesto de trabajo, renunciar (con  un 25% de indemnización) u optar por licencia por EXCEDENCIA, por un periodo de 3 o 6 meses sin goce de haberes.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Art 178: Presunción de despido por motivo de embarazo: Tiene como objeto evitar la discriminación de la trabajadora por su estado de gestación. Durante 7 meses y medio antes o después de la fecha probable de parto, En caso de despedirla corresponderá abonar : 13 sueldos + Indemnización del art.245 LCT</a:t>
            </a:r>
            <a:endParaRPr/>
          </a:p>
          <a:p>
            <a:pPr indent="-228600" lvl="0" marL="457200" marR="0" rtl="0" algn="l">
              <a:lnSpc>
                <a:spcPct val="100000"/>
              </a:lnSpc>
              <a:spcBef>
                <a:spcPts val="0"/>
              </a:spcBef>
              <a:spcAft>
                <a:spcPts val="0"/>
              </a:spcAft>
              <a:buSzPts val="1400"/>
              <a:buNone/>
            </a:pPr>
            <a:r>
              <a:t/>
            </a:r>
            <a:endParaRPr/>
          </a:p>
        </p:txBody>
      </p:sp>
      <p:sp>
        <p:nvSpPr>
          <p:cNvPr id="702" name="Google Shape;702;p8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27: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27: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s-AR"/>
              <a:t>El art. 177 de la LCT establece que queda prohibido el trabajo del personal femenino durante los 45 días anterior al parto y hasta 45 días después del mismo. Sin embargo, la interesada podrá optar por que se le reduzca la licencia anterior al parto, que en tal caso no podrá ser inferior a 30 días. El resto del período total de licencia se acumulará al período de descanso posterior al parto. </a:t>
            </a:r>
            <a:endParaRPr/>
          </a:p>
          <a:p>
            <a:pPr indent="0" lvl="0" marL="0" rtl="0" algn="l">
              <a:lnSpc>
                <a:spcPct val="100000"/>
              </a:lnSpc>
              <a:spcBef>
                <a:spcPts val="0"/>
              </a:spcBef>
              <a:spcAft>
                <a:spcPts val="0"/>
              </a:spcAft>
              <a:buSzPts val="1400"/>
              <a:buNone/>
            </a:pPr>
            <a:r>
              <a:t/>
            </a:r>
            <a:endParaRPr/>
          </a:p>
        </p:txBody>
      </p:sp>
      <p:sp>
        <p:nvSpPr>
          <p:cNvPr id="716" name="Google Shape;716;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26: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26: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AR"/>
              <a:t>El diagnostico debe ser el mismo, es decir si el trabajador esta de licencia por rotura de ligamentos es un diagnostico y le corresponderá 3 meses de licencia paga, si a los 3 meses presenta un nuevo certificado con un nuevo diagnostico el contador empieza de cero. Si en el medio de esa licencia se superponen 2 diagnósticos diferentes se contabilizan por separado.</a:t>
            </a:r>
            <a:endParaRPr/>
          </a:p>
          <a:p>
            <a:pPr indent="0" lvl="0" marL="0" rtl="0" algn="l">
              <a:lnSpc>
                <a:spcPct val="100000"/>
              </a:lnSpc>
              <a:spcBef>
                <a:spcPts val="0"/>
              </a:spcBef>
              <a:spcAft>
                <a:spcPts val="0"/>
              </a:spcAft>
              <a:buSzPts val="1400"/>
              <a:buNone/>
            </a:pPr>
            <a:r>
              <a:rPr lang="es-AR"/>
              <a:t>En caso que regrese con el alta y tenga una “recaída” con el mismo diagnostico el contador retoma desde el momento que regreso. Si el trabajador al momento de vencer su licencia no puede retomar la actividad ingresará en reserva de puesto. La misma debe ser notificada por el empleador 1 mes antes por carta documento. </a:t>
            </a:r>
            <a:endParaRPr/>
          </a:p>
          <a:p>
            <a:pPr indent="0" lvl="0" marL="0" rtl="0" algn="l">
              <a:lnSpc>
                <a:spcPct val="100000"/>
              </a:lnSpc>
              <a:spcBef>
                <a:spcPts val="0"/>
              </a:spcBef>
              <a:spcAft>
                <a:spcPts val="0"/>
              </a:spcAft>
              <a:buSzPts val="1400"/>
              <a:buNone/>
            </a:pPr>
            <a:r>
              <a:t/>
            </a:r>
            <a:endParaRPr/>
          </a:p>
        </p:txBody>
      </p:sp>
      <p:sp>
        <p:nvSpPr>
          <p:cNvPr id="760" name="Google Shape;760;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s-A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82: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82: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s-AR"/>
              <a:t>La remuneración que en estos casos corresponda abonar al trabajador se liquidará conforme a la que perciba en el momento de interrupción de los servicios, CON MÁS LOS AUMENTOS que durante el período de interrupción fueren acordados a los de su mima categoría por aplicación de una norma legal, convención colectiva de trabajo o decisión del empleador.</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Enfermedad durante período de prueba: sólo corresponde pago hasta el fin del periodo prueba</a:t>
            </a:r>
            <a:endParaRPr/>
          </a:p>
          <a:p>
            <a:pPr indent="-228600" lvl="0" marL="457200" marR="0" rtl="0" algn="l">
              <a:lnSpc>
                <a:spcPct val="100000"/>
              </a:lnSpc>
              <a:spcBef>
                <a:spcPts val="0"/>
              </a:spcBef>
              <a:spcAft>
                <a:spcPts val="0"/>
              </a:spcAft>
              <a:buSzPts val="1400"/>
              <a:buNone/>
            </a:pPr>
            <a:r>
              <a:rPr lang="es-AR"/>
              <a:t>Enfermedad en Contrato eventual o a plazo fijo: enfermedad no prolonga el plazo del contrato.</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Obligación del trabajador:</a:t>
            </a:r>
            <a:endParaRPr/>
          </a:p>
          <a:p>
            <a:pPr indent="-228600" lvl="0" marL="457200" marR="0" rtl="0" algn="l">
              <a:lnSpc>
                <a:spcPct val="100000"/>
              </a:lnSpc>
              <a:spcBef>
                <a:spcPts val="0"/>
              </a:spcBef>
              <a:spcAft>
                <a:spcPts val="0"/>
              </a:spcAft>
              <a:buSzPts val="1400"/>
              <a:buNone/>
            </a:pPr>
            <a:r>
              <a:rPr lang="es-AR"/>
              <a:t>Dar aviso de su estado de enfermedad de forma fehaciente e indicar donde se encuentra</a:t>
            </a:r>
            <a:endParaRPr/>
          </a:p>
          <a:p>
            <a:pPr indent="-228600" lvl="0" marL="457200" marR="0" rtl="0" algn="l">
              <a:lnSpc>
                <a:spcPct val="100000"/>
              </a:lnSpc>
              <a:spcBef>
                <a:spcPts val="0"/>
              </a:spcBef>
              <a:spcAft>
                <a:spcPts val="0"/>
              </a:spcAft>
              <a:buSzPts val="1400"/>
              <a:buNone/>
            </a:pPr>
            <a:r>
              <a:rPr lang="es-AR"/>
              <a:t>Someterse al control por el médico laboral designado por el empleador (si se lo indicaran)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s-AR"/>
              <a:t>Obligación del empleador:</a:t>
            </a:r>
            <a:endParaRPr/>
          </a:p>
          <a:p>
            <a:pPr indent="-228600" lvl="0" marL="457200" marR="0" rtl="0" algn="l">
              <a:lnSpc>
                <a:spcPct val="100000"/>
              </a:lnSpc>
              <a:spcBef>
                <a:spcPts val="0"/>
              </a:spcBef>
              <a:spcAft>
                <a:spcPts val="0"/>
              </a:spcAft>
              <a:buSzPts val="1400"/>
              <a:buNone/>
            </a:pPr>
            <a:r>
              <a:rPr lang="es-AR"/>
              <a:t>Pago de salarios</a:t>
            </a:r>
            <a:endParaRPr/>
          </a:p>
          <a:p>
            <a:pPr indent="-228600" lvl="0" marL="457200" marR="0" rtl="0" algn="l">
              <a:lnSpc>
                <a:spcPct val="100000"/>
              </a:lnSpc>
              <a:spcBef>
                <a:spcPts val="0"/>
              </a:spcBef>
              <a:spcAft>
                <a:spcPts val="0"/>
              </a:spcAft>
              <a:buSzPts val="1400"/>
              <a:buNone/>
            </a:pPr>
            <a:r>
              <a:rPr lang="es-AR"/>
              <a:t>Reserva de puesto</a:t>
            </a:r>
            <a:endParaRPr/>
          </a:p>
          <a:p>
            <a:pPr indent="-228600" lvl="0" marL="457200" marR="0" rtl="0" algn="l">
              <a:lnSpc>
                <a:spcPct val="100000"/>
              </a:lnSpc>
              <a:spcBef>
                <a:spcPts val="0"/>
              </a:spcBef>
              <a:spcAft>
                <a:spcPts val="0"/>
              </a:spcAft>
              <a:buSzPts val="1400"/>
              <a:buNone/>
            </a:pPr>
            <a:r>
              <a:rPr lang="es-AR"/>
              <a:t>Reincorporación del trabajador</a:t>
            </a:r>
            <a:endParaRPr/>
          </a:p>
          <a:p>
            <a:pPr indent="-228600" lvl="0" marL="457200" marR="0" rtl="0" algn="l">
              <a:lnSpc>
                <a:spcPct val="100000"/>
              </a:lnSpc>
              <a:spcBef>
                <a:spcPts val="0"/>
              </a:spcBef>
              <a:spcAft>
                <a:spcPts val="0"/>
              </a:spcAft>
              <a:buSzPts val="1400"/>
              <a:buNone/>
            </a:pPr>
            <a:r>
              <a:t/>
            </a:r>
            <a:endParaRPr/>
          </a:p>
        </p:txBody>
      </p:sp>
      <p:sp>
        <p:nvSpPr>
          <p:cNvPr id="774" name="Google Shape;774;p8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8:notes"/>
          <p:cNvSpPr txBox="1"/>
          <p:nvPr>
            <p:ph idx="1" type="body"/>
          </p:nvPr>
        </p:nvSpPr>
        <p:spPr>
          <a:xfrm>
            <a:off x="679768" y="4777194"/>
            <a:ext cx="5438140" cy="3908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8: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16:notes"/>
          <p:cNvSpPr txBox="1"/>
          <p:nvPr>
            <p:ph idx="1" type="body"/>
          </p:nvPr>
        </p:nvSpPr>
        <p:spPr>
          <a:xfrm>
            <a:off x="679768" y="4777194"/>
            <a:ext cx="5438140" cy="390861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16: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0: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803" name="Google Shape;803;p20: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showMasterSp="0">
  <p:cSld name="Carátula">
    <p:spTree>
      <p:nvGrpSpPr>
        <p:cNvPr id="16"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7" name="Shape 17"/>
        <p:cNvGrpSpPr/>
        <p:nvPr/>
      </p:nvGrpSpPr>
      <p:grpSpPr>
        <a:xfrm>
          <a:off x="0" y="0"/>
          <a:ext cx="0" cy="0"/>
          <a:chOff x="0" y="0"/>
          <a:chExt cx="0" cy="0"/>
        </a:xfrm>
      </p:grpSpPr>
      <p:sp>
        <p:nvSpPr>
          <p:cNvPr id="18" name="Google Shape;18;p96"/>
          <p:cNvSpPr/>
          <p:nvPr/>
        </p:nvSpPr>
        <p:spPr>
          <a:xfrm>
            <a:off x="-23056" y="1196958"/>
            <a:ext cx="9145108" cy="17462"/>
          </a:xfrm>
          <a:prstGeom prst="rect">
            <a:avLst/>
          </a:prstGeom>
          <a:gradFill>
            <a:gsLst>
              <a:gs pos="0">
                <a:srgbClr val="E3EDF5"/>
              </a:gs>
              <a:gs pos="100000">
                <a:schemeClr val="dk2"/>
              </a:gs>
            </a:gsLst>
            <a:lin ang="0" scaled="0"/>
          </a:gradFill>
          <a:ln>
            <a:noFill/>
          </a:ln>
        </p:spPr>
        <p:txBody>
          <a:bodyPr anchorCtr="0" anchor="ctr" bIns="42175" lIns="84375" spcFirstLastPara="1" rIns="84375" wrap="square" tIns="42175">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19" name="Shape 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20" name="Shape 20"/>
        <p:cNvGrpSpPr/>
        <p:nvPr/>
      </p:nvGrpSpPr>
      <p:grpSpPr>
        <a:xfrm>
          <a:off x="0" y="0"/>
          <a:ext cx="0" cy="0"/>
          <a:chOff x="0" y="0"/>
          <a:chExt cx="0" cy="0"/>
        </a:xfrm>
      </p:grpSpPr>
      <p:sp>
        <p:nvSpPr>
          <p:cNvPr id="21" name="Google Shape;21;p98"/>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8"/>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4" name="Shape 24"/>
        <p:cNvGrpSpPr/>
        <p:nvPr/>
      </p:nvGrpSpPr>
      <p:grpSpPr>
        <a:xfrm>
          <a:off x="0" y="0"/>
          <a:ext cx="0" cy="0"/>
          <a:chOff x="0" y="0"/>
          <a:chExt cx="0" cy="0"/>
        </a:xfrm>
      </p:grpSpPr>
      <p:sp>
        <p:nvSpPr>
          <p:cNvPr id="25" name="Google Shape;25;p101"/>
          <p:cNvSpPr/>
          <p:nvPr/>
        </p:nvSpPr>
        <p:spPr>
          <a:xfrm>
            <a:off x="0" y="0"/>
            <a:ext cx="9144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01"/>
          <p:cNvSpPr/>
          <p:nvPr/>
        </p:nvSpPr>
        <p:spPr>
          <a:xfrm>
            <a:off x="4762" y="0"/>
            <a:ext cx="9139239"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01"/>
          <p:cNvSpPr txBox="1"/>
          <p:nvPr>
            <p:ph type="ctr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1"/>
          <p:cNvSpPr txBox="1"/>
          <p:nvPr>
            <p:ph idx="1" type="subTitle"/>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600"/>
              <a:buNone/>
              <a:defRPr sz="1600">
                <a:solidFill>
                  <a:srgbClr val="0C0C0C"/>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p:txBody>
      </p:sp>
      <p:sp>
        <p:nvSpPr>
          <p:cNvPr id="29" name="Google Shape;29;p101"/>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1"/>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1"/>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cxnSp>
        <p:nvCxnSpPr>
          <p:cNvPr id="32" name="Google Shape;32;p101"/>
          <p:cNvCxnSpPr/>
          <p:nvPr/>
        </p:nvCxnSpPr>
        <p:spPr>
          <a:xfrm rot="10800000">
            <a:off x="6290132"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3" name="Shape 33"/>
        <p:cNvGrpSpPr/>
        <p:nvPr/>
      </p:nvGrpSpPr>
      <p:grpSpPr>
        <a:xfrm>
          <a:off x="0" y="0"/>
          <a:ext cx="0" cy="0"/>
          <a:chOff x="0" y="0"/>
          <a:chExt cx="0" cy="0"/>
        </a:xfrm>
      </p:grpSpPr>
      <p:sp>
        <p:nvSpPr>
          <p:cNvPr id="34" name="Google Shape;34;p102"/>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2"/>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6" name="Google Shape;36;p102"/>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02"/>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2"/>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39" name="Shape 39"/>
        <p:cNvGrpSpPr/>
        <p:nvPr/>
      </p:nvGrpSpPr>
      <p:grpSpPr>
        <a:xfrm>
          <a:off x="0" y="0"/>
          <a:ext cx="0" cy="0"/>
          <a:chOff x="0" y="0"/>
          <a:chExt cx="0" cy="0"/>
        </a:xfrm>
      </p:grpSpPr>
      <p:sp>
        <p:nvSpPr>
          <p:cNvPr id="40" name="Google Shape;40;p103"/>
          <p:cNvSpPr/>
          <p:nvPr/>
        </p:nvSpPr>
        <p:spPr>
          <a:xfrm>
            <a:off x="0" y="0"/>
            <a:ext cx="9144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03"/>
          <p:cNvSpPr/>
          <p:nvPr/>
        </p:nvSpPr>
        <p:spPr>
          <a:xfrm>
            <a:off x="4762" y="0"/>
            <a:ext cx="9139239"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03"/>
          <p:cNvSpPr txBox="1"/>
          <p:nvPr>
            <p:ph type="title"/>
          </p:nvPr>
        </p:nvSpPr>
        <p:spPr>
          <a:xfrm>
            <a:off x="342900" y="4960137"/>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b="0"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3"/>
          <p:cNvSpPr txBox="1"/>
          <p:nvPr>
            <p:ph idx="1" type="body"/>
          </p:nvPr>
        </p:nvSpPr>
        <p:spPr>
          <a:xfrm>
            <a:off x="6457950" y="4960137"/>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600"/>
              <a:buNone/>
              <a:defRPr sz="16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103"/>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03"/>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03"/>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cxnSp>
        <p:nvCxnSpPr>
          <p:cNvPr id="47" name="Google Shape;47;p103"/>
          <p:cNvCxnSpPr/>
          <p:nvPr/>
        </p:nvCxnSpPr>
        <p:spPr>
          <a:xfrm rot="10800000">
            <a:off x="6290132"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8" name="Shape 48"/>
        <p:cNvGrpSpPr/>
        <p:nvPr/>
      </p:nvGrpSpPr>
      <p:grpSpPr>
        <a:xfrm>
          <a:off x="0" y="0"/>
          <a:ext cx="0" cy="0"/>
          <a:chOff x="0" y="0"/>
          <a:chExt cx="0" cy="0"/>
        </a:xfrm>
      </p:grpSpPr>
      <p:sp>
        <p:nvSpPr>
          <p:cNvPr id="49" name="Google Shape;49;p10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04"/>
          <p:cNvSpPr txBox="1"/>
          <p:nvPr>
            <p:ph idx="1" type="body"/>
          </p:nvPr>
        </p:nvSpPr>
        <p:spPr>
          <a:xfrm>
            <a:off x="768096"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104"/>
          <p:cNvSpPr txBox="1"/>
          <p:nvPr>
            <p:ph idx="2" type="body"/>
          </p:nvPr>
        </p:nvSpPr>
        <p:spPr>
          <a:xfrm>
            <a:off x="4491990" y="2286000"/>
            <a:ext cx="356616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104"/>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04"/>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0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5" name="Shape 55"/>
        <p:cNvGrpSpPr/>
        <p:nvPr/>
      </p:nvGrpSpPr>
      <p:grpSpPr>
        <a:xfrm>
          <a:off x="0" y="0"/>
          <a:ext cx="0" cy="0"/>
          <a:chOff x="0" y="0"/>
          <a:chExt cx="0" cy="0"/>
        </a:xfrm>
      </p:grpSpPr>
      <p:sp>
        <p:nvSpPr>
          <p:cNvPr id="56" name="Google Shape;56;p105"/>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5"/>
          <p:cNvSpPr txBox="1"/>
          <p:nvPr>
            <p:ph idx="1" type="body"/>
          </p:nvPr>
        </p:nvSpPr>
        <p:spPr>
          <a:xfrm>
            <a:off x="768096"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105"/>
          <p:cNvSpPr txBox="1"/>
          <p:nvPr>
            <p:ph idx="2" type="body"/>
          </p:nvPr>
        </p:nvSpPr>
        <p:spPr>
          <a:xfrm>
            <a:off x="768096"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105"/>
          <p:cNvSpPr txBox="1"/>
          <p:nvPr>
            <p:ph idx="3" type="body"/>
          </p:nvPr>
        </p:nvSpPr>
        <p:spPr>
          <a:xfrm>
            <a:off x="4491990" y="2179636"/>
            <a:ext cx="356616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105"/>
          <p:cNvSpPr txBox="1"/>
          <p:nvPr>
            <p:ph idx="4" type="body"/>
          </p:nvPr>
        </p:nvSpPr>
        <p:spPr>
          <a:xfrm>
            <a:off x="4491990" y="2967788"/>
            <a:ext cx="356616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105"/>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5"/>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5"/>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4" name="Shape 64"/>
        <p:cNvGrpSpPr/>
        <p:nvPr/>
      </p:nvGrpSpPr>
      <p:grpSpPr>
        <a:xfrm>
          <a:off x="0" y="0"/>
          <a:ext cx="0" cy="0"/>
          <a:chOff x="0" y="0"/>
          <a:chExt cx="0" cy="0"/>
        </a:xfrm>
      </p:grpSpPr>
      <p:sp>
        <p:nvSpPr>
          <p:cNvPr id="65" name="Google Shape;65;p106"/>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6"/>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6"/>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6"/>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9" name="Shape 69"/>
        <p:cNvGrpSpPr/>
        <p:nvPr/>
      </p:nvGrpSpPr>
      <p:grpSpPr>
        <a:xfrm>
          <a:off x="0" y="0"/>
          <a:ext cx="0" cy="0"/>
          <a:chOff x="0" y="0"/>
          <a:chExt cx="0" cy="0"/>
        </a:xfrm>
      </p:grpSpPr>
      <p:sp>
        <p:nvSpPr>
          <p:cNvPr id="70" name="Google Shape;70;p107"/>
          <p:cNvSpPr txBox="1"/>
          <p:nvPr>
            <p:ph type="title"/>
          </p:nvPr>
        </p:nvSpPr>
        <p:spPr>
          <a:xfrm>
            <a:off x="768096" y="471509"/>
            <a:ext cx="329184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7"/>
          <p:cNvSpPr txBox="1"/>
          <p:nvPr>
            <p:ph idx="1" type="body"/>
          </p:nvPr>
        </p:nvSpPr>
        <p:spPr>
          <a:xfrm>
            <a:off x="4286250" y="822960"/>
            <a:ext cx="4258818" cy="5184648"/>
          </a:xfrm>
          <a:prstGeom prst="rect">
            <a:avLst/>
          </a:prstGeom>
          <a:noFill/>
          <a:ln>
            <a:noFill/>
          </a:ln>
        </p:spPr>
        <p:txBody>
          <a:bodyPr anchorCtr="0" anchor="t" bIns="45700" lIns="45700" spcFirstLastPara="1" rIns="45700" wrap="square" tIns="45700">
            <a:normAutofit/>
          </a:bodyPr>
          <a:lstStyle>
            <a:lvl1pPr indent="-355600" lvl="0" marL="457200" algn="l">
              <a:lnSpc>
                <a:spcPct val="90000"/>
              </a:lnSpc>
              <a:spcBef>
                <a:spcPts val="1200"/>
              </a:spcBef>
              <a:spcAft>
                <a:spcPts val="0"/>
              </a:spcAft>
              <a:buSzPts val="2000"/>
              <a:buChar char=" "/>
              <a:defRPr sz="2000"/>
            </a:lvl1pPr>
            <a:lvl2pPr indent="-330200" lvl="1" marL="914400" algn="l">
              <a:lnSpc>
                <a:spcPct val="90000"/>
              </a:lnSpc>
              <a:spcBef>
                <a:spcPts val="200"/>
              </a:spcBef>
              <a:spcAft>
                <a:spcPts val="0"/>
              </a:spcAft>
              <a:buSzPts val="1600"/>
              <a:buChar char="?"/>
              <a:defRPr sz="16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400"/>
              </a:spcAft>
              <a:buSzPts val="1200"/>
              <a:buChar char="?"/>
              <a:defRPr sz="1200"/>
            </a:lvl9pPr>
          </a:lstStyle>
          <a:p/>
        </p:txBody>
      </p:sp>
      <p:sp>
        <p:nvSpPr>
          <p:cNvPr id="72" name="Google Shape;72;p107"/>
          <p:cNvSpPr txBox="1"/>
          <p:nvPr>
            <p:ph idx="2" type="body"/>
          </p:nvPr>
        </p:nvSpPr>
        <p:spPr>
          <a:xfrm>
            <a:off x="768096" y="2257506"/>
            <a:ext cx="329184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3" name="Google Shape;73;p107"/>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7"/>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7"/>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6" name="Shape 76"/>
        <p:cNvGrpSpPr/>
        <p:nvPr/>
      </p:nvGrpSpPr>
      <p:grpSpPr>
        <a:xfrm>
          <a:off x="0" y="0"/>
          <a:ext cx="0" cy="0"/>
          <a:chOff x="0" y="0"/>
          <a:chExt cx="0" cy="0"/>
        </a:xfrm>
      </p:grpSpPr>
      <p:sp>
        <p:nvSpPr>
          <p:cNvPr id="77" name="Google Shape;77;p108"/>
          <p:cNvSpPr txBox="1"/>
          <p:nvPr>
            <p:ph type="title"/>
          </p:nvPr>
        </p:nvSpPr>
        <p:spPr>
          <a:xfrm>
            <a:off x="342900" y="4960138"/>
            <a:ext cx="58293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8"/>
          <p:cNvSpPr/>
          <p:nvPr>
            <p:ph idx="2" type="pic"/>
          </p:nvPr>
        </p:nvSpPr>
        <p:spPr>
          <a:xfrm>
            <a:off x="0" y="-1"/>
            <a:ext cx="9141714" cy="4572000"/>
          </a:xfrm>
          <a:prstGeom prst="rect">
            <a:avLst/>
          </a:prstGeom>
          <a:solidFill>
            <a:srgbClr val="76CEEF"/>
          </a:solidFill>
          <a:ln>
            <a:noFill/>
          </a:ln>
        </p:spPr>
      </p:sp>
      <p:sp>
        <p:nvSpPr>
          <p:cNvPr id="79" name="Google Shape;79;p108"/>
          <p:cNvSpPr txBox="1"/>
          <p:nvPr>
            <p:ph idx="1" type="body"/>
          </p:nvPr>
        </p:nvSpPr>
        <p:spPr>
          <a:xfrm>
            <a:off x="6457950" y="4960138"/>
            <a:ext cx="24003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050"/>
              <a:buNone/>
              <a:defRPr sz="1050"/>
            </a:lvl2pPr>
            <a:lvl3pPr indent="-228600" lvl="2" marL="1371600" algn="l">
              <a:lnSpc>
                <a:spcPct val="90000"/>
              </a:lnSpc>
              <a:spcBef>
                <a:spcPts val="400"/>
              </a:spcBef>
              <a:spcAft>
                <a:spcPts val="0"/>
              </a:spcAft>
              <a:buSzPts val="900"/>
              <a:buNone/>
              <a:defRPr sz="900"/>
            </a:lvl3pPr>
            <a:lvl4pPr indent="-228600" lvl="3" marL="1828800" algn="l">
              <a:lnSpc>
                <a:spcPct val="90000"/>
              </a:lnSpc>
              <a:spcBef>
                <a:spcPts val="400"/>
              </a:spcBef>
              <a:spcAft>
                <a:spcPts val="0"/>
              </a:spcAft>
              <a:buSzPts val="750"/>
              <a:buNone/>
              <a:defRPr sz="750"/>
            </a:lvl4pPr>
            <a:lvl5pPr indent="-228600" lvl="4" marL="2286000" algn="l">
              <a:lnSpc>
                <a:spcPct val="90000"/>
              </a:lnSpc>
              <a:spcBef>
                <a:spcPts val="400"/>
              </a:spcBef>
              <a:spcAft>
                <a:spcPts val="0"/>
              </a:spcAft>
              <a:buSzPts val="750"/>
              <a:buNone/>
              <a:defRPr sz="750"/>
            </a:lvl5pPr>
            <a:lvl6pPr indent="-228600" lvl="5" marL="2743200" algn="l">
              <a:lnSpc>
                <a:spcPct val="90000"/>
              </a:lnSpc>
              <a:spcBef>
                <a:spcPts val="400"/>
              </a:spcBef>
              <a:spcAft>
                <a:spcPts val="0"/>
              </a:spcAft>
              <a:buSzPts val="750"/>
              <a:buNone/>
              <a:defRPr sz="750"/>
            </a:lvl6pPr>
            <a:lvl7pPr indent="-228600" lvl="6" marL="3200400" algn="l">
              <a:lnSpc>
                <a:spcPct val="90000"/>
              </a:lnSpc>
              <a:spcBef>
                <a:spcPts val="400"/>
              </a:spcBef>
              <a:spcAft>
                <a:spcPts val="0"/>
              </a:spcAft>
              <a:buSzPts val="750"/>
              <a:buNone/>
              <a:defRPr sz="750"/>
            </a:lvl7pPr>
            <a:lvl8pPr indent="-228600" lvl="7" marL="3657600" algn="l">
              <a:lnSpc>
                <a:spcPct val="90000"/>
              </a:lnSpc>
              <a:spcBef>
                <a:spcPts val="400"/>
              </a:spcBef>
              <a:spcAft>
                <a:spcPts val="0"/>
              </a:spcAft>
              <a:buSzPts val="750"/>
              <a:buNone/>
              <a:defRPr sz="750"/>
            </a:lvl8pPr>
            <a:lvl9pPr indent="-228600" lvl="8" marL="4114800" algn="l">
              <a:lnSpc>
                <a:spcPct val="90000"/>
              </a:lnSpc>
              <a:spcBef>
                <a:spcPts val="400"/>
              </a:spcBef>
              <a:spcAft>
                <a:spcPts val="400"/>
              </a:spcAft>
              <a:buSzPts val="750"/>
              <a:buNone/>
              <a:defRPr sz="750"/>
            </a:lvl9pPr>
          </a:lstStyle>
          <a:p/>
        </p:txBody>
      </p:sp>
      <p:sp>
        <p:nvSpPr>
          <p:cNvPr id="80" name="Google Shape;80;p108"/>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8"/>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8"/>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cxnSp>
        <p:nvCxnSpPr>
          <p:cNvPr id="83" name="Google Shape;83;p108"/>
          <p:cNvCxnSpPr/>
          <p:nvPr/>
        </p:nvCxnSpPr>
        <p:spPr>
          <a:xfrm rot="10800000">
            <a:off x="6290132"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4" name="Shape 84"/>
        <p:cNvGrpSpPr/>
        <p:nvPr/>
      </p:nvGrpSpPr>
      <p:grpSpPr>
        <a:xfrm>
          <a:off x="0" y="0"/>
          <a:ext cx="0" cy="0"/>
          <a:chOff x="0" y="0"/>
          <a:chExt cx="0" cy="0"/>
        </a:xfrm>
      </p:grpSpPr>
      <p:sp>
        <p:nvSpPr>
          <p:cNvPr id="85" name="Google Shape;85;p109"/>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9"/>
          <p:cNvSpPr txBox="1"/>
          <p:nvPr>
            <p:ph idx="1" type="body"/>
          </p:nvPr>
        </p:nvSpPr>
        <p:spPr>
          <a:xfrm rot="5400000">
            <a:off x="2401443" y="652652"/>
            <a:ext cx="4023360" cy="729005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7" name="Google Shape;87;p109"/>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09"/>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09"/>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90" name="Shape 90"/>
        <p:cNvGrpSpPr/>
        <p:nvPr/>
      </p:nvGrpSpPr>
      <p:grpSpPr>
        <a:xfrm>
          <a:off x="0" y="0"/>
          <a:ext cx="0" cy="0"/>
          <a:chOff x="0" y="0"/>
          <a:chExt cx="0" cy="0"/>
        </a:xfrm>
      </p:grpSpPr>
      <p:sp>
        <p:nvSpPr>
          <p:cNvPr id="91" name="Google Shape;91;p110"/>
          <p:cNvSpPr txBox="1"/>
          <p:nvPr>
            <p:ph type="title"/>
          </p:nvPr>
        </p:nvSpPr>
        <p:spPr>
          <a:xfrm rot="5400000">
            <a:off x="4824413" y="2481263"/>
            <a:ext cx="5410200" cy="1971675"/>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0"/>
          <p:cNvSpPr txBox="1"/>
          <p:nvPr>
            <p:ph idx="1" type="body"/>
          </p:nvPr>
        </p:nvSpPr>
        <p:spPr>
          <a:xfrm rot="5400000">
            <a:off x="881064" y="623888"/>
            <a:ext cx="5410200" cy="5686425"/>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3" name="Google Shape;93;p110"/>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0"/>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0"/>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cxnSp>
        <p:nvCxnSpPr>
          <p:cNvPr id="96" name="Google Shape;96;p110"/>
          <p:cNvCxnSpPr/>
          <p:nvPr/>
        </p:nvCxnSpPr>
        <p:spPr>
          <a:xfrm rot="10800000">
            <a:off x="7543800" y="173563"/>
            <a:ext cx="0" cy="6858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4"/>
          <p:cNvSpPr txBox="1"/>
          <p:nvPr>
            <p:ph type="title"/>
          </p:nvPr>
        </p:nvSpPr>
        <p:spPr>
          <a:xfrm>
            <a:off x="768096" y="585216"/>
            <a:ext cx="7290054"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4400"/>
              <a:buFont typeface="Twentieth Century"/>
              <a:buNone/>
              <a:defRPr b="0" i="0" sz="44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4"/>
          <p:cNvSpPr txBox="1"/>
          <p:nvPr>
            <p:ph idx="1" type="body"/>
          </p:nvPr>
        </p:nvSpPr>
        <p:spPr>
          <a:xfrm>
            <a:off x="768096" y="2286000"/>
            <a:ext cx="7290055" cy="4023360"/>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200"/>
              </a:spcBef>
              <a:spcAft>
                <a:spcPts val="0"/>
              </a:spcAft>
              <a:buClr>
                <a:schemeClr val="accent1"/>
              </a:buClr>
              <a:buSzPts val="2000"/>
              <a:buFont typeface="Twentieth Century"/>
              <a:buChar char=" "/>
              <a:defRPr b="0" i="0" sz="2000" u="none" cap="none" strike="noStrike">
                <a:solidFill>
                  <a:schemeClr val="dk1"/>
                </a:solidFill>
                <a:latin typeface="Twentieth Century"/>
                <a:ea typeface="Twentieth Century"/>
                <a:cs typeface="Twentieth Century"/>
                <a:sym typeface="Twentieth Century"/>
              </a:defRPr>
            </a:lvl1pPr>
            <a:lvl2pPr indent="-330200" lvl="1" marL="914400" marR="0" rtl="0" algn="l">
              <a:lnSpc>
                <a:spcPct val="90000"/>
              </a:lnSpc>
              <a:spcBef>
                <a:spcPts val="200"/>
              </a:spcBef>
              <a:spcAft>
                <a:spcPts val="0"/>
              </a:spcAft>
              <a:buClr>
                <a:schemeClr val="accent1"/>
              </a:buClr>
              <a:buSzPts val="1600"/>
              <a:buFont typeface="Noto Sans Symbols"/>
              <a:buChar char="🢝"/>
              <a:defRPr b="0" i="0" sz="1600" u="none" cap="none" strike="noStrike">
                <a:solidFill>
                  <a:schemeClr val="dk1"/>
                </a:solidFill>
                <a:latin typeface="Twentieth Century"/>
                <a:ea typeface="Twentieth Century"/>
                <a:cs typeface="Twentieth Century"/>
                <a:sym typeface="Twentieth Century"/>
              </a:defRPr>
            </a:lvl2pPr>
            <a:lvl3pPr indent="-304800" lvl="2" marL="1371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3pPr>
            <a:lvl4pPr indent="-304800" lvl="3" marL="18288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4pPr>
            <a:lvl5pPr indent="-304800" lvl="4" marL="22860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5pPr>
            <a:lvl6pPr indent="-304800" lvl="5" marL="27432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6pPr>
            <a:lvl7pPr indent="-304800" lvl="6" marL="32004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7pPr>
            <a:lvl8pPr indent="-304800" lvl="7" marL="3657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8pPr>
            <a:lvl9pPr indent="-304800" lvl="8" marL="4114800" marR="0" rtl="0" algn="l">
              <a:lnSpc>
                <a:spcPct val="90000"/>
              </a:lnSpc>
              <a:spcBef>
                <a:spcPts val="400"/>
              </a:spcBef>
              <a:spcAft>
                <a:spcPts val="40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94"/>
          <p:cNvSpPr txBox="1"/>
          <p:nvPr>
            <p:ph idx="10" type="dt"/>
          </p:nvPr>
        </p:nvSpPr>
        <p:spPr>
          <a:xfrm>
            <a:off x="768097" y="6470704"/>
            <a:ext cx="1615607"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94"/>
          <p:cNvSpPr txBox="1"/>
          <p:nvPr>
            <p:ph idx="11" type="ftr"/>
          </p:nvPr>
        </p:nvSpPr>
        <p:spPr>
          <a:xfrm>
            <a:off x="3632200" y="6470704"/>
            <a:ext cx="4426094" cy="27432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94"/>
          <p:cNvSpPr txBox="1"/>
          <p:nvPr>
            <p:ph idx="12" type="sldNum"/>
          </p:nvPr>
        </p:nvSpPr>
        <p:spPr>
          <a:xfrm>
            <a:off x="8128000" y="6470704"/>
            <a:ext cx="730250" cy="27432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r">
              <a:lnSpc>
                <a:spcPct val="100000"/>
              </a:lnSpc>
              <a:spcBef>
                <a:spcPts val="0"/>
              </a:spcBef>
              <a:spcAft>
                <a:spcPts val="0"/>
              </a:spcAft>
              <a:buClr>
                <a:srgbClr val="0C0C0C"/>
              </a:buClr>
              <a:buSzPts val="1000"/>
              <a:buFont typeface="Twentieth Century"/>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AR"/>
              <a:t>‹#›</a:t>
            </a:fld>
            <a:endParaRPr/>
          </a:p>
        </p:txBody>
      </p:sp>
      <p:cxnSp>
        <p:nvCxnSpPr>
          <p:cNvPr id="15" name="Google Shape;15;p94"/>
          <p:cNvCxnSpPr/>
          <p:nvPr/>
        </p:nvCxnSpPr>
        <p:spPr>
          <a:xfrm rot="10800000">
            <a:off x="5715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4.xml"/><Relationship Id="rId4" Type="http://schemas.openxmlformats.org/officeDocument/2006/relationships/slide" Target="/ppt/slides/slide27.xml"/><Relationship Id="rId5" Type="http://schemas.openxmlformats.org/officeDocument/2006/relationships/slide" Target="/ppt/slides/slide4.xml"/><Relationship Id="rId6" Type="http://schemas.openxmlformats.org/officeDocument/2006/relationships/image" Target="../media/image4.png"/><Relationship Id="rId7" Type="http://schemas.openxmlformats.org/officeDocument/2006/relationships/slide" Target="/ppt/slides/slide4.xml"/><Relationship Id="rId8" Type="http://schemas.openxmlformats.org/officeDocument/2006/relationships/slide" Target="/ppt/slid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2.png"/><Relationship Id="rId5"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ppt/slides/slide4.xml"/><Relationship Id="rId4" Type="http://schemas.openxmlformats.org/officeDocument/2006/relationships/slide" Target="/ppt/slides/slide27.xml"/><Relationship Id="rId5" Type="http://schemas.openxmlformats.org/officeDocument/2006/relationships/slide" Target="/ppt/slides/slide4.xml"/><Relationship Id="rId6" Type="http://schemas.openxmlformats.org/officeDocument/2006/relationships/image" Target="../media/image4.png"/><Relationship Id="rId7" Type="http://schemas.openxmlformats.org/officeDocument/2006/relationships/slide" Target="/ppt/slides/slide4.xml"/><Relationship Id="rId8" Type="http://schemas.openxmlformats.org/officeDocument/2006/relationships/slide" Target="/ppt/slides/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34.png"/><Relationship Id="rId5" Type="http://schemas.openxmlformats.org/officeDocument/2006/relationships/image" Target="../media/image10.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35.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ppt/slides/slide4.xml"/><Relationship Id="rId4" Type="http://schemas.openxmlformats.org/officeDocument/2006/relationships/slide" Target="/ppt/slides/slide27.xml"/><Relationship Id="rId5" Type="http://schemas.openxmlformats.org/officeDocument/2006/relationships/slide" Target="/ppt/slides/slide4.xml"/><Relationship Id="rId6" Type="http://schemas.openxmlformats.org/officeDocument/2006/relationships/image" Target="../media/image4.png"/><Relationship Id="rId7" Type="http://schemas.openxmlformats.org/officeDocument/2006/relationships/slide" Target="/ppt/slides/slide4.xml"/><Relationship Id="rId8" Type="http://schemas.openxmlformats.org/officeDocument/2006/relationships/slide" Target="/ppt/slides/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1" Type="http://schemas.openxmlformats.org/officeDocument/2006/relationships/slide" Target="/ppt/slides/slide4.xml"/><Relationship Id="rId10" Type="http://schemas.openxmlformats.org/officeDocument/2006/relationships/slide" Target="/ppt/slides/slide4.xml"/><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slide" Target="/ppt/slides/slide4.xml"/><Relationship Id="rId4" Type="http://schemas.openxmlformats.org/officeDocument/2006/relationships/slide" Target="/ppt/slides/slide4.xml"/><Relationship Id="rId9" Type="http://schemas.openxmlformats.org/officeDocument/2006/relationships/slide" Target="/ppt/slides/slide4.xml"/><Relationship Id="rId5" Type="http://schemas.openxmlformats.org/officeDocument/2006/relationships/image" Target="../media/image4.png"/><Relationship Id="rId6" Type="http://schemas.openxmlformats.org/officeDocument/2006/relationships/slide" Target="/ppt/slides/slide4.xml"/><Relationship Id="rId7" Type="http://schemas.openxmlformats.org/officeDocument/2006/relationships/slide" Target="/ppt/slides/slide4.xml"/><Relationship Id="rId8" Type="http://schemas.openxmlformats.org/officeDocument/2006/relationships/slide" Target="/ppt/slid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jp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jp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jp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jp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jp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gif"/><Relationship Id="rId4" Type="http://schemas.openxmlformats.org/officeDocument/2006/relationships/image" Target="../media/image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jp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jp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6.jpg"/><Relationship Id="rId5" Type="http://schemas.openxmlformats.org/officeDocument/2006/relationships/image" Target="../media/image38.png"/><Relationship Id="rId6"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jpg"/><Relationship Id="rId4" Type="http://schemas.openxmlformats.org/officeDocument/2006/relationships/image" Target="../media/image40.png"/><Relationship Id="rId5"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slide" Target="/ppt/slides/slide4.xml"/><Relationship Id="rId4" Type="http://schemas.openxmlformats.org/officeDocument/2006/relationships/slide" Target="/ppt/slides/slide27.xml"/><Relationship Id="rId5" Type="http://schemas.openxmlformats.org/officeDocument/2006/relationships/slide" Target="/ppt/slides/slide4.xml"/><Relationship Id="rId6" Type="http://schemas.openxmlformats.org/officeDocument/2006/relationships/image" Target="../media/image4.png"/><Relationship Id="rId7" Type="http://schemas.openxmlformats.org/officeDocument/2006/relationships/slide" Target="/ppt/slides/slide4.xml"/><Relationship Id="rId8" Type="http://schemas.openxmlformats.org/officeDocument/2006/relationships/slide" Target="/ppt/slid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descr="https://encrypted-tbn2.gstatic.com/images?q=tbn:ANd9GcRcyGsKQFbNE159vcUw6iMcDisELRoVKzvai6d3iJrA-_BtH5dgBw" id="101" name="Google Shape;101;p1"/>
          <p:cNvSpPr/>
          <p:nvPr/>
        </p:nvSpPr>
        <p:spPr>
          <a:xfrm>
            <a:off x="143608" y="130419"/>
            <a:ext cx="281354" cy="281355"/>
          </a:xfrm>
          <a:prstGeom prst="rect">
            <a:avLst/>
          </a:prstGeom>
          <a:noFill/>
          <a:ln>
            <a:noFill/>
          </a:ln>
        </p:spPr>
        <p:txBody>
          <a:bodyPr anchorCtr="0" anchor="t" bIns="42200" lIns="84400" spcFirstLastPara="1" rIns="84400" wrap="square" tIns="42200">
            <a:noAutofit/>
          </a:bodyPr>
          <a:lstStyle/>
          <a:p>
            <a:pPr indent="0" lvl="0" marL="0" marR="0" rtl="0" algn="l">
              <a:lnSpc>
                <a:spcPct val="100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102" name="Google Shape;102;p1"/>
          <p:cNvSpPr txBox="1"/>
          <p:nvPr/>
        </p:nvSpPr>
        <p:spPr>
          <a:xfrm>
            <a:off x="1136471" y="4072588"/>
            <a:ext cx="76731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b="1" lang="es-AR" sz="1800">
                <a:solidFill>
                  <a:schemeClr val="dk1"/>
                </a:solidFill>
              </a:rPr>
              <a:t>INGENIERÍA</a:t>
            </a:r>
            <a:r>
              <a:rPr b="1" i="0" lang="es-AR" sz="1800" u="none" cap="none" strike="noStrike">
                <a:solidFill>
                  <a:schemeClr val="dk1"/>
                </a:solidFill>
                <a:latin typeface="Arial"/>
                <a:ea typeface="Arial"/>
                <a:cs typeface="Arial"/>
                <a:sym typeface="Arial"/>
              </a:rPr>
              <a:t> INDUSTRIAL</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50000"/>
              </a:lnSpc>
              <a:spcBef>
                <a:spcPts val="0"/>
              </a:spcBef>
              <a:spcAft>
                <a:spcPts val="0"/>
              </a:spcAft>
              <a:buClr>
                <a:schemeClr val="dk1"/>
              </a:buClr>
              <a:buSzPts val="1800"/>
              <a:buFont typeface="Arial"/>
              <a:buNone/>
            </a:pPr>
            <a:r>
              <a:rPr b="1" lang="es-AR" sz="1800">
                <a:solidFill>
                  <a:schemeClr val="dk1"/>
                </a:solidFill>
              </a:rPr>
              <a:t>CÁTEDRA</a:t>
            </a:r>
            <a:r>
              <a:rPr b="1" i="0" lang="es-AR" sz="1800" u="none" cap="none" strike="noStrike">
                <a:solidFill>
                  <a:schemeClr val="dk1"/>
                </a:solidFill>
                <a:latin typeface="Arial"/>
                <a:ea typeface="Arial"/>
                <a:cs typeface="Arial"/>
                <a:sym typeface="Arial"/>
              </a:rPr>
              <a:t> RELACIONES INDUSTRIALES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50000"/>
              </a:lnSpc>
              <a:spcBef>
                <a:spcPts val="0"/>
              </a:spcBef>
              <a:spcAft>
                <a:spcPts val="0"/>
              </a:spcAft>
              <a:buClr>
                <a:schemeClr val="dk1"/>
              </a:buClr>
              <a:buSzPts val="1800"/>
              <a:buFont typeface="Arial"/>
              <a:buNone/>
            </a:pPr>
            <a:r>
              <a:rPr b="1" lang="es-AR" sz="1800">
                <a:solidFill>
                  <a:schemeClr val="dk1"/>
                </a:solidFill>
              </a:rPr>
              <a:t>Clase 12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1" i="0" lang="es-AR" sz="1800" u="none" cap="none" strike="noStrike">
                <a:solidFill>
                  <a:schemeClr val="dk1"/>
                </a:solidFill>
                <a:latin typeface="Arial"/>
                <a:ea typeface="Arial"/>
                <a:cs typeface="Arial"/>
                <a:sym typeface="Arial"/>
              </a:rPr>
              <a:t>Legislación Laboral y Administración de Personal</a:t>
            </a:r>
            <a:endParaRPr b="0" i="0" sz="1400" u="none" cap="none" strike="noStrike">
              <a:solidFill>
                <a:srgbClr val="000000"/>
              </a:solidFill>
              <a:latin typeface="Arial"/>
              <a:ea typeface="Arial"/>
              <a:cs typeface="Arial"/>
              <a:sym typeface="Arial"/>
            </a:endParaRPr>
          </a:p>
        </p:txBody>
      </p:sp>
      <p:pic>
        <p:nvPicPr>
          <p:cNvPr descr="Image result for utn frba" id="103" name="Google Shape;103;p1"/>
          <p:cNvPicPr preferRelativeResize="0"/>
          <p:nvPr/>
        </p:nvPicPr>
        <p:blipFill rotWithShape="1">
          <a:blip r:embed="rId3">
            <a:alphaModFix/>
          </a:blip>
          <a:srcRect b="0" l="0" r="0" t="0"/>
          <a:stretch/>
        </p:blipFill>
        <p:spPr>
          <a:xfrm>
            <a:off x="1136471" y="1159008"/>
            <a:ext cx="7287172" cy="26587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0"/>
          <p:cNvSpPr/>
          <p:nvPr/>
        </p:nvSpPr>
        <p:spPr>
          <a:xfrm>
            <a:off x="1340803" y="234753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109" name="Google Shape;109;p50">
            <a:hlinkClick action="ppaction://hlinksldjump" r:id="rId3"/>
          </p:cNvPr>
          <p:cNvSpPr/>
          <p:nvPr/>
        </p:nvSpPr>
        <p:spPr>
          <a:xfrm>
            <a:off x="1142976" y="234753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110" name="Google Shape;110;p50"/>
          <p:cNvSpPr/>
          <p:nvPr/>
        </p:nvSpPr>
        <p:spPr>
          <a:xfrm>
            <a:off x="1340803" y="353450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111" name="Google Shape;111;p50"/>
          <p:cNvSpPr/>
          <p:nvPr/>
        </p:nvSpPr>
        <p:spPr>
          <a:xfrm>
            <a:off x="1142976" y="353450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112" name="Google Shape;112;p50"/>
          <p:cNvSpPr/>
          <p:nvPr/>
        </p:nvSpPr>
        <p:spPr>
          <a:xfrm>
            <a:off x="1340803" y="4127988"/>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113" name="Google Shape;113;p50">
            <a:hlinkClick action="ppaction://hlinksldjump" r:id="rId4"/>
          </p:cNvPr>
          <p:cNvSpPr/>
          <p:nvPr/>
        </p:nvSpPr>
        <p:spPr>
          <a:xfrm>
            <a:off x="1142976" y="412798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114" name="Google Shape;114;p50"/>
          <p:cNvSpPr txBox="1"/>
          <p:nvPr/>
        </p:nvSpPr>
        <p:spPr>
          <a:xfrm>
            <a:off x="228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Clr>
                <a:srgbClr val="000000"/>
              </a:buClr>
              <a:buSzPts val="1845"/>
              <a:buFont typeface="Arial"/>
              <a:buNone/>
            </a:pPr>
            <a:r>
              <a:rPr b="1" i="0" lang="es-AR"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Clr>
                <a:srgbClr val="000000"/>
              </a:buClr>
              <a:buSzPts val="2954"/>
              <a:buFont typeface="Arial"/>
              <a:buNone/>
            </a:pPr>
            <a:r>
              <a:rPr b="1" i="0" lang="es-AR"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115" name="Google Shape;115;p50"/>
          <p:cNvSpPr/>
          <p:nvPr/>
        </p:nvSpPr>
        <p:spPr>
          <a:xfrm>
            <a:off x="1340803" y="1817780"/>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116" name="Google Shape;116;p50">
            <a:hlinkClick action="ppaction://hlinksldjump" r:id="rId5"/>
          </p:cNvPr>
          <p:cNvSpPr/>
          <p:nvPr/>
        </p:nvSpPr>
        <p:spPr>
          <a:xfrm>
            <a:off x="1142976" y="178482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pic>
        <p:nvPicPr>
          <p:cNvPr descr="Resultado de imagen para utn regional buenos aires ingenieria industrial" id="117" name="Google Shape;117;p50"/>
          <p:cNvPicPr preferRelativeResize="0"/>
          <p:nvPr/>
        </p:nvPicPr>
        <p:blipFill rotWithShape="1">
          <a:blip r:embed="rId6">
            <a:alphaModFix/>
          </a:blip>
          <a:srcRect b="0" l="0" r="0" t="0"/>
          <a:stretch/>
        </p:blipFill>
        <p:spPr>
          <a:xfrm>
            <a:off x="6517680" y="271096"/>
            <a:ext cx="2637692" cy="1011116"/>
          </a:xfrm>
          <a:prstGeom prst="rect">
            <a:avLst/>
          </a:prstGeom>
          <a:noFill/>
          <a:ln>
            <a:noFill/>
          </a:ln>
        </p:spPr>
      </p:pic>
      <p:sp>
        <p:nvSpPr>
          <p:cNvPr id="118" name="Google Shape;118;p50"/>
          <p:cNvSpPr/>
          <p:nvPr/>
        </p:nvSpPr>
        <p:spPr>
          <a:xfrm>
            <a:off x="351721" y="1817781"/>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lt1"/>
              </a:solidFill>
              <a:latin typeface="Arial"/>
              <a:ea typeface="Arial"/>
              <a:cs typeface="Arial"/>
              <a:sym typeface="Arial"/>
            </a:endParaRPr>
          </a:p>
        </p:txBody>
      </p:sp>
      <p:sp>
        <p:nvSpPr>
          <p:cNvPr id="119" name="Google Shape;119;p50"/>
          <p:cNvSpPr/>
          <p:nvPr/>
        </p:nvSpPr>
        <p:spPr>
          <a:xfrm>
            <a:off x="7149516" y="1795899"/>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20" name="Google Shape;120;p50"/>
          <p:cNvSpPr txBox="1"/>
          <p:nvPr/>
        </p:nvSpPr>
        <p:spPr>
          <a:xfrm>
            <a:off x="7746932" y="2385086"/>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121" name="Google Shape;121;p50"/>
          <p:cNvSpPr/>
          <p:nvPr/>
        </p:nvSpPr>
        <p:spPr>
          <a:xfrm>
            <a:off x="7149516" y="3534504"/>
            <a:ext cx="404290" cy="1673987"/>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22" name="Google Shape;122;p50"/>
          <p:cNvSpPr txBox="1"/>
          <p:nvPr/>
        </p:nvSpPr>
        <p:spPr>
          <a:xfrm>
            <a:off x="7744778" y="393022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123" name="Google Shape;123;p50"/>
          <p:cNvSpPr/>
          <p:nvPr/>
        </p:nvSpPr>
        <p:spPr>
          <a:xfrm>
            <a:off x="1340803"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124" name="Google Shape;124;p50">
            <a:hlinkClick action="ppaction://hlinksldjump" r:id="rId7"/>
          </p:cNvPr>
          <p:cNvSpPr/>
          <p:nvPr/>
        </p:nvSpPr>
        <p:spPr>
          <a:xfrm>
            <a:off x="1142976" y="294101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125" name="Google Shape;125;p50"/>
          <p:cNvSpPr/>
          <p:nvPr/>
        </p:nvSpPr>
        <p:spPr>
          <a:xfrm>
            <a:off x="1326735" y="4721472"/>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126" name="Google Shape;126;p50">
            <a:hlinkClick action="ppaction://hlinksldjump" r:id="rId8"/>
          </p:cNvPr>
          <p:cNvSpPr/>
          <p:nvPr/>
        </p:nvSpPr>
        <p:spPr>
          <a:xfrm>
            <a:off x="1128908" y="472147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2"/>
          <p:cNvSpPr txBox="1"/>
          <p:nvPr/>
        </p:nvSpPr>
        <p:spPr>
          <a:xfrm>
            <a:off x="357478" y="1421002"/>
            <a:ext cx="8446982" cy="2677656"/>
          </a:xfrm>
          <a:prstGeom prst="rect">
            <a:avLst/>
          </a:prstGeom>
          <a:solidFill>
            <a:srgbClr val="D3EBD9"/>
          </a:solidFill>
          <a:ln cap="flat" cmpd="sng" w="1587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Libre Franklin Thin"/>
                <a:ea typeface="Libre Franklin Thin"/>
                <a:cs typeface="Libre Franklin Thin"/>
                <a:sym typeface="Libre Franklin Thin"/>
              </a:rPr>
              <a:t>Durante siglos, se prestó trabajo para otros, sin necesidad de darles a estas relaciones una normativa especial. Pero esa necesidad aparece con el conflicto social inherente al capitalismo industrial.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Libre Franklin Thin"/>
              <a:ea typeface="Libre Franklin Thin"/>
              <a:cs typeface="Libre Franklin Thin"/>
              <a:sym typeface="Libre Franklin Thin"/>
            </a:endParaRPr>
          </a:p>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Libre Franklin Thin"/>
                <a:ea typeface="Libre Franklin Thin"/>
                <a:cs typeface="Libre Franklin Thin"/>
                <a:sym typeface="Libre Franklin Thin"/>
              </a:rPr>
              <a:t>El derecho está dirigido a la composición de los conflictos sociales.</a:t>
            </a:r>
            <a:endParaRPr b="0" i="0" sz="1400" u="none" cap="none" strike="noStrike">
              <a:solidFill>
                <a:srgbClr val="000000"/>
              </a:solidFill>
              <a:latin typeface="Arial"/>
              <a:ea typeface="Arial"/>
              <a:cs typeface="Arial"/>
              <a:sym typeface="Arial"/>
            </a:endParaRPr>
          </a:p>
        </p:txBody>
      </p:sp>
      <p:sp>
        <p:nvSpPr>
          <p:cNvPr id="133" name="Google Shape;133;p52"/>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600"/>
              <a:buFont typeface="Arial"/>
              <a:buNone/>
            </a:pPr>
            <a:r>
              <a:rPr b="1" i="0" lang="es-AR" sz="2000" u="none" cap="none" strike="noStrike">
                <a:solidFill>
                  <a:srgbClr val="932328"/>
                </a:solidFill>
                <a:latin typeface="Arial"/>
                <a:ea typeface="Arial"/>
                <a:cs typeface="Arial"/>
                <a:sym typeface="Arial"/>
              </a:rPr>
              <a:t>El trabajo y el derecho del trabajo</a:t>
            </a:r>
            <a:endParaRPr b="0" i="0" sz="2000" u="none" cap="none" strike="noStrike">
              <a:solidFill>
                <a:schemeClr val="dk1"/>
              </a:solidFill>
              <a:latin typeface="Twentieth Century"/>
              <a:ea typeface="Twentieth Century"/>
              <a:cs typeface="Twentieth Century"/>
              <a:sym typeface="Twentieth Century"/>
            </a:endParaRPr>
          </a:p>
        </p:txBody>
      </p:sp>
      <p:sp>
        <p:nvSpPr>
          <p:cNvPr id="134" name="Google Shape;134;p52"/>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135" name="Google Shape;135;p52"/>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pic>
        <p:nvPicPr>
          <p:cNvPr id="136" name="Google Shape;136;p52"/>
          <p:cNvPicPr preferRelativeResize="0"/>
          <p:nvPr/>
        </p:nvPicPr>
        <p:blipFill rotWithShape="1">
          <a:blip r:embed="rId4">
            <a:alphaModFix/>
          </a:blip>
          <a:srcRect b="0" l="0" r="0" t="0"/>
          <a:stretch/>
        </p:blipFill>
        <p:spPr>
          <a:xfrm>
            <a:off x="5590427" y="4813365"/>
            <a:ext cx="3054361" cy="1776638"/>
          </a:xfrm>
          <a:prstGeom prst="rect">
            <a:avLst/>
          </a:prstGeom>
          <a:noFill/>
          <a:ln>
            <a:noFill/>
          </a:ln>
        </p:spPr>
      </p:pic>
      <p:pic>
        <p:nvPicPr>
          <p:cNvPr id="137" name="Google Shape;137;p52"/>
          <p:cNvPicPr preferRelativeResize="0"/>
          <p:nvPr/>
        </p:nvPicPr>
        <p:blipFill rotWithShape="1">
          <a:blip r:embed="rId5">
            <a:alphaModFix/>
          </a:blip>
          <a:srcRect b="0" l="0" r="0" t="0"/>
          <a:stretch/>
        </p:blipFill>
        <p:spPr>
          <a:xfrm>
            <a:off x="355046" y="4452384"/>
            <a:ext cx="3054361" cy="2005758"/>
          </a:xfrm>
          <a:prstGeom prst="rect">
            <a:avLst/>
          </a:prstGeom>
          <a:noFill/>
          <a:ln>
            <a:noFill/>
          </a:ln>
        </p:spPr>
      </p:pic>
      <p:pic>
        <p:nvPicPr>
          <p:cNvPr descr="Flecha curva con línea discontinua | Icono Gratis" id="138" name="Google Shape;138;p52"/>
          <p:cNvPicPr preferRelativeResize="0"/>
          <p:nvPr/>
        </p:nvPicPr>
        <p:blipFill rotWithShape="1">
          <a:blip r:embed="rId6">
            <a:alphaModFix/>
          </a:blip>
          <a:srcRect b="0" l="0" r="0" t="0"/>
          <a:stretch/>
        </p:blipFill>
        <p:spPr>
          <a:xfrm rot="-233280">
            <a:off x="3762122" y="4151850"/>
            <a:ext cx="1619756" cy="14966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3"/>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id="144" name="Google Shape;144;p53"/>
          <p:cNvPicPr preferRelativeResize="0"/>
          <p:nvPr/>
        </p:nvPicPr>
        <p:blipFill rotWithShape="1">
          <a:blip r:embed="rId3">
            <a:alphaModFix/>
          </a:blip>
          <a:srcRect b="0" l="0" r="0" t="0"/>
          <a:stretch/>
        </p:blipFill>
        <p:spPr>
          <a:xfrm>
            <a:off x="6380195" y="87964"/>
            <a:ext cx="2609314" cy="951058"/>
          </a:xfrm>
          <a:prstGeom prst="rect">
            <a:avLst/>
          </a:prstGeom>
          <a:noFill/>
          <a:ln>
            <a:noFill/>
          </a:ln>
        </p:spPr>
      </p:pic>
      <p:sp>
        <p:nvSpPr>
          <p:cNvPr id="145" name="Google Shape;145;p53"/>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El trabajo y el derecho del trabajo</a:t>
            </a:r>
            <a:endParaRPr b="0" i="0" sz="1400" u="none" cap="none" strike="noStrike">
              <a:solidFill>
                <a:schemeClr val="dk1"/>
              </a:solidFill>
              <a:latin typeface="Twentieth Century"/>
              <a:ea typeface="Twentieth Century"/>
              <a:cs typeface="Twentieth Century"/>
              <a:sym typeface="Twentieth Century"/>
            </a:endParaRPr>
          </a:p>
        </p:txBody>
      </p:sp>
      <p:pic>
        <p:nvPicPr>
          <p:cNvPr id="146" name="Google Shape;146;p53"/>
          <p:cNvPicPr preferRelativeResize="0"/>
          <p:nvPr/>
        </p:nvPicPr>
        <p:blipFill rotWithShape="1">
          <a:blip r:embed="rId4">
            <a:alphaModFix/>
          </a:blip>
          <a:srcRect b="0" l="0" r="0" t="0"/>
          <a:stretch/>
        </p:blipFill>
        <p:spPr>
          <a:xfrm>
            <a:off x="5437417" y="2522691"/>
            <a:ext cx="2553786" cy="2441195"/>
          </a:xfrm>
          <a:prstGeom prst="rect">
            <a:avLst/>
          </a:prstGeom>
          <a:noFill/>
          <a:ln>
            <a:noFill/>
          </a:ln>
        </p:spPr>
      </p:pic>
      <p:sp>
        <p:nvSpPr>
          <p:cNvPr id="147" name="Google Shape;147;p53"/>
          <p:cNvSpPr/>
          <p:nvPr/>
        </p:nvSpPr>
        <p:spPr>
          <a:xfrm>
            <a:off x="408366" y="1770455"/>
            <a:ext cx="4254244" cy="319343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AR" sz="2400" u="sng" cap="none" strike="noStrike">
                <a:solidFill>
                  <a:schemeClr val="dk1"/>
                </a:solidFill>
                <a:latin typeface="Arial"/>
                <a:ea typeface="Arial"/>
                <a:cs typeface="Arial"/>
                <a:sym typeface="Arial"/>
              </a:rPr>
              <a:t>ACTIVIDAD</a:t>
            </a:r>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rPr lang="es-AR" sz="2400">
                <a:solidFill>
                  <a:srgbClr val="FF0000"/>
                </a:solidFill>
              </a:rPr>
              <a:t>¿</a:t>
            </a:r>
            <a:r>
              <a:rPr b="0" i="0" lang="es-AR" sz="2400" u="none" cap="none" strike="noStrike">
                <a:solidFill>
                  <a:srgbClr val="FF0000"/>
                </a:solidFill>
                <a:latin typeface="Arial"/>
                <a:ea typeface="Arial"/>
                <a:cs typeface="Arial"/>
                <a:sym typeface="Arial"/>
              </a:rPr>
              <a:t>Qu</a:t>
            </a:r>
            <a:r>
              <a:rPr lang="es-AR" sz="2400">
                <a:solidFill>
                  <a:srgbClr val="FF0000"/>
                </a:solidFill>
              </a:rPr>
              <a:t>é</a:t>
            </a:r>
            <a:r>
              <a:rPr b="0" i="0" lang="es-AR" sz="2400" u="none" cap="none" strike="noStrike">
                <a:solidFill>
                  <a:srgbClr val="FF0000"/>
                </a:solidFill>
                <a:latin typeface="Arial"/>
                <a:ea typeface="Arial"/>
                <a:cs typeface="Arial"/>
                <a:sym typeface="Arial"/>
              </a:rPr>
              <a:t> modificarías de las leyes laborales?</a:t>
            </a:r>
            <a:endParaRPr b="0" i="0" sz="2400" u="none" cap="none" strike="noStrike">
              <a:solidFill>
                <a:srgbClr val="FF0000"/>
              </a:solidFill>
              <a:latin typeface="Arial"/>
              <a:ea typeface="Arial"/>
              <a:cs typeface="Arial"/>
              <a:sym typeface="Arial"/>
            </a:endParaRPr>
          </a:p>
        </p:txBody>
      </p:sp>
      <p:sp>
        <p:nvSpPr>
          <p:cNvPr id="148" name="Google Shape;148;p53"/>
          <p:cNvSpPr/>
          <p:nvPr/>
        </p:nvSpPr>
        <p:spPr>
          <a:xfrm>
            <a:off x="4735265" y="5972989"/>
            <a:ext cx="4254244" cy="558439"/>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2400" u="none" cap="none" strike="noStrike">
                <a:solidFill>
                  <a:schemeClr val="dk1"/>
                </a:solidFill>
                <a:latin typeface="Arial"/>
                <a:ea typeface="Arial"/>
                <a:cs typeface="Arial"/>
                <a:sym typeface="Arial"/>
              </a:rPr>
              <a:t>Rescate al cierre</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3"/>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Legislación Laboral</a:t>
            </a:r>
            <a:r>
              <a:rPr b="0" i="0" lang="es-AR" sz="1800" u="none" cap="none" strike="noStrike">
                <a:solidFill>
                  <a:schemeClr val="dk1"/>
                </a:solidFill>
                <a:latin typeface="Twentieth Century"/>
                <a:ea typeface="Twentieth Century"/>
                <a:cs typeface="Twentieth Century"/>
                <a:sym typeface="Twentieth Century"/>
              </a:rPr>
              <a:t>- </a:t>
            </a:r>
            <a:r>
              <a:rPr b="1" i="0" lang="es-AR" sz="1800" u="none" cap="none" strike="noStrike">
                <a:solidFill>
                  <a:srgbClr val="932328"/>
                </a:solidFill>
                <a:latin typeface="Arial"/>
                <a:ea typeface="Arial"/>
                <a:cs typeface="Arial"/>
                <a:sym typeface="Arial"/>
              </a:rPr>
              <a:t>Marco histórico</a:t>
            </a:r>
            <a:endParaRPr b="0" i="0" sz="1800" u="none" cap="none" strike="noStrike">
              <a:solidFill>
                <a:schemeClr val="dk1"/>
              </a:solidFill>
              <a:latin typeface="Twentieth Century"/>
              <a:ea typeface="Twentieth Century"/>
              <a:cs typeface="Twentieth Century"/>
              <a:sym typeface="Twentieth Century"/>
            </a:endParaRPr>
          </a:p>
        </p:txBody>
      </p:sp>
      <p:sp>
        <p:nvSpPr>
          <p:cNvPr id="155" name="Google Shape;155;p3"/>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156" name="Google Shape;156;p3"/>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157" name="Google Shape;157;p3"/>
          <p:cNvSpPr/>
          <p:nvPr/>
        </p:nvSpPr>
        <p:spPr>
          <a:xfrm>
            <a:off x="654352" y="1959347"/>
            <a:ext cx="8507034" cy="5319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AR" sz="2400" u="sng" cap="none" strike="noStrike">
                <a:solidFill>
                  <a:schemeClr val="dk1"/>
                </a:solidFill>
                <a:latin typeface="Arial"/>
                <a:ea typeface="Arial"/>
                <a:cs typeface="Arial"/>
                <a:sym typeface="Arial"/>
              </a:rPr>
              <a:t>ACTIVIDAD : </a:t>
            </a:r>
            <a:r>
              <a:rPr b="1" i="0" lang="es-AR" sz="2400" u="sng" cap="none" strike="noStrike">
                <a:solidFill>
                  <a:srgbClr val="FF0000"/>
                </a:solidFill>
                <a:latin typeface="Arial"/>
                <a:ea typeface="Arial"/>
                <a:cs typeface="Arial"/>
                <a:sym typeface="Arial"/>
              </a:rPr>
              <a:t>DERRIBANDO MITOS </a:t>
            </a:r>
            <a:endParaRPr/>
          </a:p>
          <a:p>
            <a:pPr indent="0" lvl="0" marL="0" marR="0" rtl="0" algn="ctr">
              <a:lnSpc>
                <a:spcPct val="100000"/>
              </a:lnSpc>
              <a:spcBef>
                <a:spcPts val="0"/>
              </a:spcBef>
              <a:spcAft>
                <a:spcPts val="0"/>
              </a:spcAft>
              <a:buNone/>
            </a:pPr>
            <a:r>
              <a:rPr b="1" i="0" lang="es-AR" sz="2400" u="sng" cap="none" strike="noStrike">
                <a:solidFill>
                  <a:srgbClr val="FF0000"/>
                </a:solidFill>
                <a:latin typeface="Arial"/>
                <a:ea typeface="Arial"/>
                <a:cs typeface="Arial"/>
                <a:sym typeface="Arial"/>
              </a:rPr>
              <a:t>DEL DERECHO LABORAL</a:t>
            </a:r>
            <a:endParaRPr b="1" i="0" sz="2400" u="sng" cap="none" strike="noStrike">
              <a:solidFill>
                <a:schemeClr val="dk1"/>
              </a:solidFill>
              <a:latin typeface="Arial"/>
              <a:ea typeface="Arial"/>
              <a:cs typeface="Arial"/>
              <a:sym typeface="Arial"/>
            </a:endParaRPr>
          </a:p>
        </p:txBody>
      </p:sp>
      <p:sp>
        <p:nvSpPr>
          <p:cNvPr id="158" name="Google Shape;158;p3"/>
          <p:cNvSpPr txBox="1"/>
          <p:nvPr/>
        </p:nvSpPr>
        <p:spPr>
          <a:xfrm>
            <a:off x="832757" y="3285884"/>
            <a:ext cx="7445829"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Arial"/>
              <a:buNone/>
            </a:pPr>
            <a:r>
              <a:rPr b="1" lang="es-AR" sz="1800">
                <a:solidFill>
                  <a:schemeClr val="dk1"/>
                </a:solidFill>
              </a:rPr>
              <a:t>¿</a:t>
            </a:r>
            <a:r>
              <a:rPr b="1" i="0" lang="es-AR" sz="1800" u="none" cap="none" strike="noStrike">
                <a:solidFill>
                  <a:schemeClr val="dk1"/>
                </a:solidFill>
                <a:latin typeface="Arial"/>
                <a:ea typeface="Arial"/>
                <a:cs typeface="Arial"/>
                <a:sym typeface="Arial"/>
              </a:rPr>
              <a:t>De qu</a:t>
            </a:r>
            <a:r>
              <a:rPr b="1" lang="es-AR" sz="1800">
                <a:solidFill>
                  <a:schemeClr val="dk1"/>
                </a:solidFill>
              </a:rPr>
              <a:t>é</a:t>
            </a:r>
            <a:r>
              <a:rPr b="1" i="0" lang="es-AR" sz="1800" u="none" cap="none" strike="noStrike">
                <a:solidFill>
                  <a:schemeClr val="dk1"/>
                </a:solidFill>
                <a:latin typeface="Arial"/>
                <a:ea typeface="Arial"/>
                <a:cs typeface="Arial"/>
                <a:sym typeface="Arial"/>
              </a:rPr>
              <a:t> año y qui</a:t>
            </a:r>
            <a:r>
              <a:rPr b="1" lang="es-AR" sz="1800">
                <a:solidFill>
                  <a:schemeClr val="dk1"/>
                </a:solidFill>
              </a:rPr>
              <a:t>é</a:t>
            </a:r>
            <a:r>
              <a:rPr b="1" i="0" lang="es-AR" sz="1800" u="none" cap="none" strike="noStrike">
                <a:solidFill>
                  <a:schemeClr val="dk1"/>
                </a:solidFill>
                <a:latin typeface="Arial"/>
                <a:ea typeface="Arial"/>
                <a:cs typeface="Arial"/>
                <a:sym typeface="Arial"/>
              </a:rPr>
              <a:t>n fue el autor de estos derechos laborales que actualmente existen aun en Argentina?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
          <p:cNvSpPr/>
          <p:nvPr/>
        </p:nvSpPr>
        <p:spPr>
          <a:xfrm>
            <a:off x="0" y="359147"/>
            <a:ext cx="8507034" cy="5319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AR" sz="2400" u="sng" cap="none" strike="noStrike">
                <a:solidFill>
                  <a:schemeClr val="dk1"/>
                </a:solidFill>
                <a:latin typeface="Arial"/>
                <a:ea typeface="Arial"/>
                <a:cs typeface="Arial"/>
                <a:sym typeface="Arial"/>
              </a:rPr>
              <a:t>ACTIVIDAD</a:t>
            </a:r>
            <a:endParaRPr b="1" i="0" sz="2400" u="sng" cap="none" strike="noStrike">
              <a:solidFill>
                <a:schemeClr val="dk1"/>
              </a:solidFill>
              <a:latin typeface="Arial"/>
              <a:ea typeface="Arial"/>
              <a:cs typeface="Arial"/>
              <a:sym typeface="Arial"/>
            </a:endParaRPr>
          </a:p>
        </p:txBody>
      </p:sp>
      <p:sp>
        <p:nvSpPr>
          <p:cNvPr id="164" name="Google Shape;164;p2"/>
          <p:cNvSpPr txBox="1"/>
          <p:nvPr/>
        </p:nvSpPr>
        <p:spPr>
          <a:xfrm>
            <a:off x="696645" y="2408860"/>
            <a:ext cx="33003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1400" u="none" cap="none" strike="noStrike">
                <a:solidFill>
                  <a:srgbClr val="000000"/>
                </a:solidFill>
              </a:rPr>
              <a:t> </a:t>
            </a:r>
            <a:endParaRPr b="1"/>
          </a:p>
          <a:p>
            <a:pPr indent="0" lvl="0" marL="0" marR="0" rtl="0" algn="l">
              <a:lnSpc>
                <a:spcPct val="100000"/>
              </a:lnSpc>
              <a:spcBef>
                <a:spcPts val="0"/>
              </a:spcBef>
              <a:spcAft>
                <a:spcPts val="0"/>
              </a:spcAft>
              <a:buNone/>
            </a:pPr>
            <a:r>
              <a:rPr b="1" i="0" lang="es-AR" sz="1400" u="none" cap="none" strike="noStrike">
                <a:solidFill>
                  <a:srgbClr val="000000"/>
                </a:solidFill>
              </a:rPr>
              <a:t>Jornada de 8 horas</a:t>
            </a:r>
            <a:endParaRPr b="1"/>
          </a:p>
          <a:p>
            <a:pPr indent="0" lvl="0" marL="0" marR="0" rtl="0" algn="l">
              <a:lnSpc>
                <a:spcPct val="100000"/>
              </a:lnSpc>
              <a:spcBef>
                <a:spcPts val="0"/>
              </a:spcBef>
              <a:spcAft>
                <a:spcPts val="0"/>
              </a:spcAft>
              <a:buNone/>
            </a:pPr>
            <a:r>
              <a:t/>
            </a:r>
            <a:endParaRPr b="1" i="0" sz="1400" u="none" cap="none" strike="noStrike">
              <a:solidFill>
                <a:srgbClr val="000000"/>
              </a:solidFill>
            </a:endParaRPr>
          </a:p>
        </p:txBody>
      </p:sp>
      <p:sp>
        <p:nvSpPr>
          <p:cNvPr id="165" name="Google Shape;165;p2"/>
          <p:cNvSpPr txBox="1"/>
          <p:nvPr/>
        </p:nvSpPr>
        <p:spPr>
          <a:xfrm>
            <a:off x="4572000" y="1235874"/>
            <a:ext cx="4066500" cy="504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1905 – Manuel Quintana – J. Figueroa Alcorta)</a:t>
            </a:r>
            <a:endParaRPr>
              <a:solidFill>
                <a:schemeClr val="dk1"/>
              </a:solidFill>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1929 – H. Yrigoyen)</a:t>
            </a:r>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1933 – Agustin P. Justo)</a:t>
            </a:r>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1945 – E. Farrel  - J.D. Peron – Gob. De facto)</a:t>
            </a:r>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1905 – Manuel Quintana – J. Figueroa Alcorta)</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1929 – H. Yrigoyen)</a:t>
            </a:r>
            <a:endParaRPr>
              <a:solidFill>
                <a:schemeClr val="dk1"/>
              </a:solidFill>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1933 – Agustin P. Justo)</a:t>
            </a:r>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1945 – E. Farrel  - J.D. Peron – Gob. De facto)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1905 – Manuel Quintana – J. Figueroa Alcorta)</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1929 – H. Yrigoyen)</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1933 – Agustin P. Justo)</a:t>
            </a:r>
            <a:endParaRPr>
              <a:solidFill>
                <a:schemeClr val="dk1"/>
              </a:solidFill>
            </a:endParaRPr>
          </a:p>
          <a:p>
            <a:pPr indent="0" lvl="0" marL="0" marR="0" rtl="0" algn="l">
              <a:lnSpc>
                <a:spcPct val="100000"/>
              </a:lnSpc>
              <a:spcBef>
                <a:spcPts val="0"/>
              </a:spcBef>
              <a:spcAft>
                <a:spcPts val="0"/>
              </a:spcAft>
              <a:buNone/>
            </a:pPr>
            <a:r>
              <a:rPr b="0" i="0" lang="es-AR" sz="1400" u="none" cap="none" strike="noStrike">
                <a:solidFill>
                  <a:srgbClr val="000000"/>
                </a:solidFill>
                <a:latin typeface="Arial"/>
                <a:ea typeface="Arial"/>
                <a:cs typeface="Arial"/>
                <a:sym typeface="Arial"/>
              </a:rPr>
              <a:t>1945 – E. Farrel  - J.D. Peron – Gob. De facto)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1905 – Manuel Quintana – J. Figueroa Alcorta)</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1929 – H. Yrigoyen)</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1933 – Agustin P. Justo)</a:t>
            </a:r>
            <a:endParaRPr/>
          </a:p>
          <a:p>
            <a:pPr indent="0" lvl="0" marL="0" marR="0" rtl="0" algn="l">
              <a:lnSpc>
                <a:spcPct val="100000"/>
              </a:lnSpc>
              <a:spcBef>
                <a:spcPts val="0"/>
              </a:spcBef>
              <a:spcAft>
                <a:spcPts val="0"/>
              </a:spcAft>
              <a:buNone/>
            </a:pPr>
            <a:r>
              <a:rPr b="0" i="0" lang="es-AR" sz="1400" u="none" cap="none" strike="noStrike">
                <a:solidFill>
                  <a:schemeClr val="dk1"/>
                </a:solidFill>
                <a:latin typeface="Arial"/>
                <a:ea typeface="Arial"/>
                <a:cs typeface="Arial"/>
                <a:sym typeface="Arial"/>
              </a:rPr>
              <a:t>1945 – E. Farrel  - J.D. Peron – Gob. De facto)</a:t>
            </a:r>
            <a:endParaRPr>
              <a:solidFill>
                <a:schemeClr val="dk1"/>
              </a:solidFil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2"/>
          <p:cNvSpPr txBox="1"/>
          <p:nvPr/>
        </p:nvSpPr>
        <p:spPr>
          <a:xfrm>
            <a:off x="696645" y="1361313"/>
            <a:ext cx="3300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1400" u="none" cap="none" strike="noStrike">
                <a:solidFill>
                  <a:srgbClr val="000000"/>
                </a:solidFill>
              </a:rPr>
              <a:t>Primera ley laboral argentina, descanso dominical</a:t>
            </a:r>
            <a:endParaRPr b="1"/>
          </a:p>
        </p:txBody>
      </p:sp>
      <p:sp>
        <p:nvSpPr>
          <p:cNvPr id="167" name="Google Shape;167;p2"/>
          <p:cNvSpPr txBox="1"/>
          <p:nvPr/>
        </p:nvSpPr>
        <p:spPr>
          <a:xfrm>
            <a:off x="565990" y="3495037"/>
            <a:ext cx="33003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endParaRPr>
          </a:p>
          <a:p>
            <a:pPr indent="0" lvl="0" marL="0" marR="0" rtl="0" algn="l">
              <a:lnSpc>
                <a:spcPct val="100000"/>
              </a:lnSpc>
              <a:spcBef>
                <a:spcPts val="0"/>
              </a:spcBef>
              <a:spcAft>
                <a:spcPts val="0"/>
              </a:spcAft>
              <a:buNone/>
            </a:pPr>
            <a:r>
              <a:rPr b="1" i="0" lang="es-AR" sz="1400" u="none" cap="none" strike="noStrike">
                <a:solidFill>
                  <a:srgbClr val="000000"/>
                </a:solidFill>
              </a:rPr>
              <a:t>Indemnización y vacaciones pagas</a:t>
            </a:r>
            <a:endParaRPr b="1"/>
          </a:p>
          <a:p>
            <a:pPr indent="0" lvl="0" marL="0" marR="0" rtl="0" algn="l">
              <a:lnSpc>
                <a:spcPct val="100000"/>
              </a:lnSpc>
              <a:spcBef>
                <a:spcPts val="0"/>
              </a:spcBef>
              <a:spcAft>
                <a:spcPts val="0"/>
              </a:spcAft>
              <a:buNone/>
            </a:pPr>
            <a:r>
              <a:t/>
            </a:r>
            <a:endParaRPr b="1" i="0" sz="1400" u="none" cap="none" strike="noStrike">
              <a:solidFill>
                <a:srgbClr val="000000"/>
              </a:solidFill>
            </a:endParaRPr>
          </a:p>
          <a:p>
            <a:pPr indent="0" lvl="0" marL="0" marR="0" rtl="0" algn="l">
              <a:lnSpc>
                <a:spcPct val="100000"/>
              </a:lnSpc>
              <a:spcBef>
                <a:spcPts val="0"/>
              </a:spcBef>
              <a:spcAft>
                <a:spcPts val="0"/>
              </a:spcAft>
              <a:buNone/>
            </a:pPr>
            <a:r>
              <a:t/>
            </a:r>
            <a:endParaRPr b="1" i="0" sz="1400" u="none" cap="none" strike="noStrike">
              <a:solidFill>
                <a:srgbClr val="000000"/>
              </a:solidFill>
            </a:endParaRPr>
          </a:p>
        </p:txBody>
      </p:sp>
      <p:sp>
        <p:nvSpPr>
          <p:cNvPr id="168" name="Google Shape;168;p2"/>
          <p:cNvSpPr txBox="1"/>
          <p:nvPr/>
        </p:nvSpPr>
        <p:spPr>
          <a:xfrm>
            <a:off x="565990" y="4758027"/>
            <a:ext cx="33003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endParaRPr>
          </a:p>
          <a:p>
            <a:pPr indent="0" lvl="0" marL="0" marR="0" rtl="0" algn="l">
              <a:lnSpc>
                <a:spcPct val="100000"/>
              </a:lnSpc>
              <a:spcBef>
                <a:spcPts val="0"/>
              </a:spcBef>
              <a:spcAft>
                <a:spcPts val="0"/>
              </a:spcAft>
              <a:buNone/>
            </a:pPr>
            <a:r>
              <a:rPr b="1" i="0" lang="es-AR" sz="1400" u="none" cap="none" strike="noStrike">
                <a:solidFill>
                  <a:srgbClr val="000000"/>
                </a:solidFill>
              </a:rPr>
              <a:t>Aguinaldo e indemnización actual</a:t>
            </a:r>
            <a:endParaRPr b="1"/>
          </a:p>
          <a:p>
            <a:pPr indent="0" lvl="0" marL="0" marR="0" rtl="0" algn="l">
              <a:lnSpc>
                <a:spcPct val="100000"/>
              </a:lnSpc>
              <a:spcBef>
                <a:spcPts val="0"/>
              </a:spcBef>
              <a:spcAft>
                <a:spcPts val="0"/>
              </a:spcAft>
              <a:buNone/>
            </a:pPr>
            <a:r>
              <a:t/>
            </a:r>
            <a:endParaRPr b="1" i="0" sz="1400" u="none" cap="none" strike="noStrike">
              <a:solidFill>
                <a:srgbClr val="000000"/>
              </a:solidFill>
            </a:endParaRPr>
          </a:p>
        </p:txBody>
      </p:sp>
      <p:sp>
        <p:nvSpPr>
          <p:cNvPr id="169" name="Google Shape;169;p2"/>
          <p:cNvSpPr/>
          <p:nvPr/>
        </p:nvSpPr>
        <p:spPr>
          <a:xfrm>
            <a:off x="8507025" y="1285125"/>
            <a:ext cx="453000" cy="2133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8507025" y="2732925"/>
            <a:ext cx="453000" cy="2133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8507025" y="4256925"/>
            <a:ext cx="453000" cy="2133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p:nvPr/>
        </p:nvSpPr>
        <p:spPr>
          <a:xfrm>
            <a:off x="8507025" y="5780925"/>
            <a:ext cx="453000" cy="2133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g211bb680738_0_5"/>
          <p:cNvSpPr txBox="1"/>
          <p:nvPr/>
        </p:nvSpPr>
        <p:spPr>
          <a:xfrm>
            <a:off x="104504" y="-23"/>
            <a:ext cx="6609900" cy="10974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Legislación Laboral</a:t>
            </a:r>
            <a:r>
              <a:rPr b="0" i="0" lang="es-AR" sz="1800" u="none" cap="none" strike="noStrike">
                <a:solidFill>
                  <a:schemeClr val="dk1"/>
                </a:solidFill>
                <a:latin typeface="Twentieth Century"/>
                <a:ea typeface="Twentieth Century"/>
                <a:cs typeface="Twentieth Century"/>
                <a:sym typeface="Twentieth Century"/>
              </a:rPr>
              <a:t>- </a:t>
            </a:r>
            <a:r>
              <a:rPr b="1" i="0" lang="es-AR" sz="1800" u="none" cap="none" strike="noStrike">
                <a:solidFill>
                  <a:srgbClr val="932328"/>
                </a:solidFill>
                <a:latin typeface="Arial"/>
                <a:ea typeface="Arial"/>
                <a:cs typeface="Arial"/>
                <a:sym typeface="Arial"/>
              </a:rPr>
              <a:t>Marco histórico</a:t>
            </a:r>
            <a:endParaRPr b="0" i="0" sz="1800" u="none" cap="none" strike="noStrike">
              <a:solidFill>
                <a:schemeClr val="dk1"/>
              </a:solidFill>
              <a:latin typeface="Twentieth Century"/>
              <a:ea typeface="Twentieth Century"/>
              <a:cs typeface="Twentieth Century"/>
              <a:sym typeface="Twentieth Century"/>
            </a:endParaRPr>
          </a:p>
        </p:txBody>
      </p:sp>
      <p:sp>
        <p:nvSpPr>
          <p:cNvPr id="179" name="Google Shape;179;g211bb680738_0_5"/>
          <p:cNvSpPr/>
          <p:nvPr/>
        </p:nvSpPr>
        <p:spPr>
          <a:xfrm>
            <a:off x="553" y="1091667"/>
            <a:ext cx="9160800" cy="45600"/>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180" name="Google Shape;180;g211bb680738_0_5"/>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181" name="Google Shape;181;g211bb680738_0_5"/>
          <p:cNvSpPr/>
          <p:nvPr/>
        </p:nvSpPr>
        <p:spPr>
          <a:xfrm>
            <a:off x="98802" y="1160897"/>
            <a:ext cx="8507100" cy="53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2400" cap="none" strike="noStrike">
                <a:solidFill>
                  <a:srgbClr val="0070C0"/>
                </a:solidFill>
                <a:latin typeface="Verdana"/>
                <a:ea typeface="Verdana"/>
                <a:cs typeface="Verdana"/>
                <a:sym typeface="Verdana"/>
              </a:rPr>
              <a:t>DERECHO LABORAL </a:t>
            </a:r>
            <a:r>
              <a:rPr b="1" lang="es-AR" sz="2400">
                <a:solidFill>
                  <a:srgbClr val="0070C0"/>
                </a:solidFill>
                <a:latin typeface="Verdana"/>
                <a:ea typeface="Verdana"/>
                <a:cs typeface="Verdana"/>
                <a:sym typeface="Verdana"/>
              </a:rPr>
              <a:t>EN ARGENTINA</a:t>
            </a:r>
            <a:endParaRPr b="1" i="0" sz="2400" cap="none" strike="noStrike">
              <a:solidFill>
                <a:srgbClr val="0070C0"/>
              </a:solidFill>
              <a:latin typeface="Verdana"/>
              <a:ea typeface="Verdana"/>
              <a:cs typeface="Verdana"/>
              <a:sym typeface="Verdana"/>
            </a:endParaRPr>
          </a:p>
        </p:txBody>
      </p:sp>
      <p:sp>
        <p:nvSpPr>
          <p:cNvPr id="182" name="Google Shape;182;g211bb680738_0_5"/>
          <p:cNvSpPr txBox="1"/>
          <p:nvPr/>
        </p:nvSpPr>
        <p:spPr>
          <a:xfrm>
            <a:off x="-124100" y="1649900"/>
            <a:ext cx="9144000" cy="5356500"/>
          </a:xfrm>
          <a:prstGeom prst="rect">
            <a:avLst/>
          </a:prstGeom>
          <a:noFill/>
          <a:ln>
            <a:noFill/>
          </a:ln>
        </p:spPr>
        <p:txBody>
          <a:bodyPr anchorCtr="0" anchor="t" bIns="91425" lIns="91425" spcFirstLastPara="1" rIns="91425" wrap="square" tIns="91425">
            <a:spAutoFit/>
          </a:bodyPr>
          <a:lstStyle/>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La primera normativa laboral que se registra en Argentina es la Ley 4661 sancionada en </a:t>
            </a:r>
            <a:r>
              <a:rPr b="1" lang="es-AR" sz="1600">
                <a:solidFill>
                  <a:schemeClr val="dk1"/>
                </a:solidFill>
                <a:highlight>
                  <a:srgbClr val="FFFF00"/>
                </a:highlight>
                <a:latin typeface="Calibri"/>
                <a:ea typeface="Calibri"/>
                <a:cs typeface="Calibri"/>
                <a:sym typeface="Calibri"/>
              </a:rPr>
              <a:t>1905 </a:t>
            </a:r>
            <a:r>
              <a:rPr lang="es-AR" sz="1600">
                <a:solidFill>
                  <a:schemeClr val="dk1"/>
                </a:solidFill>
                <a:latin typeface="Calibri"/>
                <a:ea typeface="Calibri"/>
                <a:cs typeface="Calibri"/>
                <a:sym typeface="Calibri"/>
              </a:rPr>
              <a:t>–cuya autoría corresponde a Joaquín V. González– a partir de la cual se estableció el </a:t>
            </a:r>
            <a:r>
              <a:rPr b="1" lang="es-AR" sz="1600">
                <a:solidFill>
                  <a:srgbClr val="FF0000"/>
                </a:solidFill>
                <a:latin typeface="Calibri"/>
                <a:ea typeface="Calibri"/>
                <a:cs typeface="Calibri"/>
                <a:sym typeface="Calibri"/>
              </a:rPr>
              <a:t>descanso dominical. </a:t>
            </a:r>
            <a:endParaRPr b="1" sz="1600">
              <a:solidFill>
                <a:srgbClr val="FF0000"/>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En </a:t>
            </a:r>
            <a:r>
              <a:rPr b="1" lang="es-AR" sz="1600">
                <a:solidFill>
                  <a:schemeClr val="dk1"/>
                </a:solidFill>
                <a:highlight>
                  <a:srgbClr val="FFFF00"/>
                </a:highlight>
                <a:latin typeface="Calibri"/>
                <a:ea typeface="Calibri"/>
                <a:cs typeface="Calibri"/>
                <a:sym typeface="Calibri"/>
              </a:rPr>
              <a:t>1907 </a:t>
            </a:r>
            <a:r>
              <a:rPr lang="es-AR" sz="1600">
                <a:solidFill>
                  <a:schemeClr val="dk1"/>
                </a:solidFill>
                <a:latin typeface="Calibri"/>
                <a:ea typeface="Calibri"/>
                <a:cs typeface="Calibri"/>
                <a:sym typeface="Calibri"/>
              </a:rPr>
              <a:t>se sancionó la Ley 5291, regulatoria del trabajo de mujeres y niños, estableciendo la </a:t>
            </a:r>
            <a:r>
              <a:rPr b="1" lang="es-AR" sz="1600">
                <a:solidFill>
                  <a:srgbClr val="FF0000"/>
                </a:solidFill>
                <a:latin typeface="Calibri"/>
                <a:ea typeface="Calibri"/>
                <a:cs typeface="Calibri"/>
                <a:sym typeface="Calibri"/>
              </a:rPr>
              <a:t>prohibición de la contratación de niños menores de 10 años</a:t>
            </a:r>
            <a:r>
              <a:rPr lang="es-AR" sz="16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En ese mismo año un decreto presidencial </a:t>
            </a:r>
            <a:r>
              <a:rPr b="1" lang="es-AR" sz="1600">
                <a:solidFill>
                  <a:srgbClr val="FF0000"/>
                </a:solidFill>
                <a:latin typeface="Calibri"/>
                <a:ea typeface="Calibri"/>
                <a:cs typeface="Calibri"/>
                <a:sym typeface="Calibri"/>
              </a:rPr>
              <a:t>creó el Departamento Nacional del Trabajo </a:t>
            </a:r>
            <a:r>
              <a:rPr lang="es-AR" sz="1600">
                <a:solidFill>
                  <a:schemeClr val="dk1"/>
                </a:solidFill>
                <a:latin typeface="Calibri"/>
                <a:ea typeface="Calibri"/>
                <a:cs typeface="Calibri"/>
                <a:sym typeface="Calibri"/>
              </a:rPr>
              <a:t>y se designó al frente de la flamante repartición a José Nicolás Matienzo. </a:t>
            </a:r>
            <a:endParaRPr sz="16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En materia de </a:t>
            </a:r>
            <a:r>
              <a:rPr b="1" lang="es-AR" sz="1600">
                <a:solidFill>
                  <a:srgbClr val="FF0000"/>
                </a:solidFill>
                <a:latin typeface="Calibri"/>
                <a:ea typeface="Calibri"/>
                <a:cs typeface="Calibri"/>
                <a:sym typeface="Calibri"/>
              </a:rPr>
              <a:t>accidentes de trabajo y enfermedades profesionales</a:t>
            </a:r>
            <a:r>
              <a:rPr lang="es-AR" sz="1600">
                <a:solidFill>
                  <a:schemeClr val="dk1"/>
                </a:solidFill>
                <a:latin typeface="Calibri"/>
                <a:ea typeface="Calibri"/>
                <a:cs typeface="Calibri"/>
                <a:sym typeface="Calibri"/>
              </a:rPr>
              <a:t>, el año </a:t>
            </a:r>
            <a:r>
              <a:rPr b="1" lang="es-AR" sz="1600">
                <a:solidFill>
                  <a:schemeClr val="dk1"/>
                </a:solidFill>
                <a:highlight>
                  <a:srgbClr val="FFFF00"/>
                </a:highlight>
                <a:latin typeface="Calibri"/>
                <a:ea typeface="Calibri"/>
                <a:cs typeface="Calibri"/>
                <a:sym typeface="Calibri"/>
              </a:rPr>
              <a:t>1915 </a:t>
            </a:r>
            <a:r>
              <a:rPr lang="es-AR" sz="1600">
                <a:solidFill>
                  <a:schemeClr val="dk1"/>
                </a:solidFill>
                <a:latin typeface="Calibri"/>
                <a:ea typeface="Calibri"/>
                <a:cs typeface="Calibri"/>
                <a:sym typeface="Calibri"/>
              </a:rPr>
              <a:t>resulta importante pues entonces se sancionó la Ley 9688 que estuvo vigente –con distintas modificaciones– hasta el año 1991. </a:t>
            </a:r>
            <a:endParaRPr sz="16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En el año </a:t>
            </a:r>
            <a:r>
              <a:rPr b="1" lang="es-AR" sz="1600">
                <a:solidFill>
                  <a:schemeClr val="dk1"/>
                </a:solidFill>
                <a:highlight>
                  <a:srgbClr val="FFFF00"/>
                </a:highlight>
                <a:latin typeface="Calibri"/>
                <a:ea typeface="Calibri"/>
                <a:cs typeface="Calibri"/>
                <a:sym typeface="Calibri"/>
              </a:rPr>
              <a:t>1929 </a:t>
            </a:r>
            <a:r>
              <a:rPr lang="es-AR" sz="1600">
                <a:solidFill>
                  <a:schemeClr val="dk1"/>
                </a:solidFill>
                <a:latin typeface="Calibri"/>
                <a:ea typeface="Calibri"/>
                <a:cs typeface="Calibri"/>
                <a:sym typeface="Calibri"/>
              </a:rPr>
              <a:t>se sancionó la Ley 11.544, la cual reguló la </a:t>
            </a:r>
            <a:r>
              <a:rPr b="1" lang="es-AR" sz="1600">
                <a:solidFill>
                  <a:srgbClr val="FF0000"/>
                </a:solidFill>
                <a:latin typeface="Calibri"/>
                <a:ea typeface="Calibri"/>
                <a:cs typeface="Calibri"/>
                <a:sym typeface="Calibri"/>
              </a:rPr>
              <a:t>duración de la jornada laboral </a:t>
            </a:r>
            <a:r>
              <a:rPr lang="es-AR" sz="1600">
                <a:solidFill>
                  <a:schemeClr val="dk1"/>
                </a:solidFill>
                <a:latin typeface="Calibri"/>
                <a:ea typeface="Calibri"/>
                <a:cs typeface="Calibri"/>
                <a:sym typeface="Calibri"/>
              </a:rPr>
              <a:t>y se encuentra vigente hasta hoy en día. En ella se estableció que las jornadas no pueden superar las 8 horas diarias o las 48 horas semanales. </a:t>
            </a:r>
            <a:endParaRPr sz="1600">
              <a:solidFill>
                <a:schemeClr val="dk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s-AR" sz="1600">
                <a:solidFill>
                  <a:schemeClr val="dk1"/>
                </a:solidFill>
                <a:latin typeface="Calibri"/>
                <a:ea typeface="Calibri"/>
                <a:cs typeface="Calibri"/>
                <a:sym typeface="Calibri"/>
              </a:rPr>
              <a:t>En el año </a:t>
            </a:r>
            <a:r>
              <a:rPr b="1" lang="es-AR" sz="1600">
                <a:solidFill>
                  <a:schemeClr val="dk1"/>
                </a:solidFill>
                <a:highlight>
                  <a:srgbClr val="FFFF00"/>
                </a:highlight>
                <a:latin typeface="Calibri"/>
                <a:ea typeface="Calibri"/>
                <a:cs typeface="Calibri"/>
                <a:sym typeface="Calibri"/>
              </a:rPr>
              <a:t>1933 </a:t>
            </a:r>
            <a:r>
              <a:rPr lang="es-AR" sz="1600">
                <a:solidFill>
                  <a:schemeClr val="dk1"/>
                </a:solidFill>
                <a:latin typeface="Calibri"/>
                <a:ea typeface="Calibri"/>
                <a:cs typeface="Calibri"/>
                <a:sym typeface="Calibri"/>
              </a:rPr>
              <a:t>se sancionó la Ley 11.723, a través de la cual se introdujeron algunas de las medidas protectoras más importantes para los trabajadores. </a:t>
            </a:r>
            <a:r>
              <a:rPr b="1" lang="es-AR" sz="1600">
                <a:solidFill>
                  <a:srgbClr val="FF0000"/>
                </a:solidFill>
                <a:latin typeface="Calibri"/>
                <a:ea typeface="Calibri"/>
                <a:cs typeface="Calibri"/>
                <a:sym typeface="Calibri"/>
              </a:rPr>
              <a:t>Indemnizaciones y vacaciones pagas </a:t>
            </a:r>
            <a:r>
              <a:rPr lang="es-AR" sz="1600">
                <a:solidFill>
                  <a:schemeClr val="dk1"/>
                </a:solidFill>
                <a:latin typeface="Calibri"/>
                <a:ea typeface="Calibri"/>
                <a:cs typeface="Calibri"/>
                <a:sym typeface="Calibri"/>
              </a:rPr>
              <a:t>fueron algunos de los derechos más importantes para el sector obrero, aunque en este momento solamente eran para trabajadores del sector comercial. </a:t>
            </a:r>
            <a:endParaRPr sz="16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Historia del derecho laboral argentino</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189" name="Google Shape;189;p54"/>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190" name="Google Shape;190;p54"/>
          <p:cNvSpPr/>
          <p:nvPr/>
        </p:nvSpPr>
        <p:spPr>
          <a:xfrm>
            <a:off x="553" y="1091667"/>
            <a:ext cx="9160833" cy="45719"/>
          </a:xfrm>
          <a:prstGeom prst="rect">
            <a:avLst/>
          </a:prstGeom>
          <a:gradFill>
            <a:gsLst>
              <a:gs pos="0">
                <a:srgbClr val="E5E6E8"/>
              </a:gs>
              <a:gs pos="100000">
                <a:srgbClr val="44546A"/>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2"/>
              <a:buFont typeface="Arial"/>
              <a:buNone/>
            </a:pPr>
            <a:r>
              <a:t/>
            </a:r>
            <a:endParaRPr b="0" i="0" sz="1662" u="none" cap="none" strike="noStrike">
              <a:solidFill>
                <a:srgbClr val="000000"/>
              </a:solidFill>
              <a:latin typeface="Calibri"/>
              <a:ea typeface="Calibri"/>
              <a:cs typeface="Calibri"/>
              <a:sym typeface="Calibri"/>
            </a:endParaRPr>
          </a:p>
        </p:txBody>
      </p:sp>
      <p:sp>
        <p:nvSpPr>
          <p:cNvPr id="191" name="Google Shape;191;p54"/>
          <p:cNvSpPr/>
          <p:nvPr/>
        </p:nvSpPr>
        <p:spPr>
          <a:xfrm>
            <a:off x="2436262" y="3539210"/>
            <a:ext cx="785458" cy="648929"/>
          </a:xfrm>
          <a:prstGeom prst="stripedRightArrow">
            <a:avLst>
              <a:gd fmla="val 50000" name="adj1"/>
              <a:gd fmla="val 50000" name="adj2"/>
            </a:avLst>
          </a:prstGeom>
          <a:solidFill>
            <a:schemeClr val="lt1"/>
          </a:solidFill>
          <a:ln cap="flat"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192" name="Google Shape;192;p54"/>
          <p:cNvSpPr/>
          <p:nvPr/>
        </p:nvSpPr>
        <p:spPr>
          <a:xfrm>
            <a:off x="416027" y="3057490"/>
            <a:ext cx="1802295" cy="1428193"/>
          </a:xfrm>
          <a:prstGeom prst="ellipse">
            <a:avLst/>
          </a:prstGeom>
          <a:solidFill>
            <a:srgbClr val="318B7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Década del 40</a:t>
            </a:r>
            <a:endParaRPr b="0" i="0" sz="2400" u="none" cap="none" strike="noStrike">
              <a:solidFill>
                <a:schemeClr val="lt1"/>
              </a:solidFill>
              <a:latin typeface="Twentieth Century"/>
              <a:ea typeface="Twentieth Century"/>
              <a:cs typeface="Twentieth Century"/>
              <a:sym typeface="Twentieth Century"/>
            </a:endParaRPr>
          </a:p>
        </p:txBody>
      </p:sp>
      <p:sp>
        <p:nvSpPr>
          <p:cNvPr id="193" name="Google Shape;193;p54"/>
          <p:cNvSpPr txBox="1"/>
          <p:nvPr/>
        </p:nvSpPr>
        <p:spPr>
          <a:xfrm>
            <a:off x="3439659" y="2894178"/>
            <a:ext cx="5288313"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Twentieth Century"/>
                <a:ea typeface="Twentieth Century"/>
                <a:cs typeface="Twentieth Century"/>
                <a:sym typeface="Twentieth Century"/>
              </a:rPr>
              <a:t>Concepción social del trabajo como un elemento dignificador y de ascenso social</a:t>
            </a:r>
            <a:r>
              <a:rPr b="0" i="0" lang="es-AR" sz="2000" u="none" cap="none" strike="noStrike">
                <a:solidFill>
                  <a:schemeClr val="dk1"/>
                </a:solidFill>
                <a:latin typeface="Twentieth Century"/>
                <a:ea typeface="Twentieth Century"/>
                <a:cs typeface="Twentieth Century"/>
                <a:sym typeface="Twentieth Century"/>
              </a:rPr>
              <a:t>, introduciendo normas de índole laboral que tuvieron por fin salvaguardar al trabajador y su familia. </a:t>
            </a:r>
            <a:endParaRPr b="0" i="0" sz="1400" u="none" cap="none" strike="noStrike">
              <a:solidFill>
                <a:srgbClr val="000000"/>
              </a:solidFill>
              <a:latin typeface="Arial"/>
              <a:ea typeface="Arial"/>
              <a:cs typeface="Arial"/>
              <a:sym typeface="Arial"/>
            </a:endParaRPr>
          </a:p>
        </p:txBody>
      </p:sp>
      <p:sp>
        <p:nvSpPr>
          <p:cNvPr id="194" name="Google Shape;194;p54"/>
          <p:cNvSpPr/>
          <p:nvPr/>
        </p:nvSpPr>
        <p:spPr>
          <a:xfrm>
            <a:off x="416027" y="4598486"/>
            <a:ext cx="1802295" cy="1428193"/>
          </a:xfrm>
          <a:prstGeom prst="ellipse">
            <a:avLst/>
          </a:prstGeom>
          <a:solidFill>
            <a:srgbClr val="FF0000"/>
          </a:solid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Década del 70</a:t>
            </a:r>
            <a:endParaRPr b="0" i="0" sz="2400" u="none" cap="none" strike="noStrike">
              <a:solidFill>
                <a:schemeClr val="lt1"/>
              </a:solidFill>
              <a:latin typeface="Twentieth Century"/>
              <a:ea typeface="Twentieth Century"/>
              <a:cs typeface="Twentieth Century"/>
              <a:sym typeface="Twentieth Century"/>
            </a:endParaRPr>
          </a:p>
        </p:txBody>
      </p:sp>
      <p:sp>
        <p:nvSpPr>
          <p:cNvPr id="195" name="Google Shape;195;p54"/>
          <p:cNvSpPr/>
          <p:nvPr/>
        </p:nvSpPr>
        <p:spPr>
          <a:xfrm>
            <a:off x="2505475" y="4968422"/>
            <a:ext cx="785458" cy="648929"/>
          </a:xfrm>
          <a:prstGeom prst="stripedRightArrow">
            <a:avLst>
              <a:gd fmla="val 50000" name="adj1"/>
              <a:gd fmla="val 50000" name="adj2"/>
            </a:avLst>
          </a:prstGeom>
          <a:solidFill>
            <a:schemeClr val="lt1"/>
          </a:solid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196" name="Google Shape;196;p54"/>
          <p:cNvSpPr txBox="1"/>
          <p:nvPr/>
        </p:nvSpPr>
        <p:spPr>
          <a:xfrm>
            <a:off x="3583854" y="4729858"/>
            <a:ext cx="5007404"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Twentieth Century"/>
                <a:ea typeface="Twentieth Century"/>
                <a:cs typeface="Twentieth Century"/>
                <a:sym typeface="Twentieth Century"/>
              </a:rPr>
              <a:t>Ley 20.744 (1974) de Contrato de Trabajo</a:t>
            </a:r>
            <a:r>
              <a:rPr b="0" i="0" lang="es-AR" sz="2000" u="none" cap="none" strike="noStrike">
                <a:solidFill>
                  <a:schemeClr val="dk1"/>
                </a:solidFill>
                <a:latin typeface="Twentieth Century"/>
                <a:ea typeface="Twentieth Century"/>
                <a:cs typeface="Twentieth Century"/>
                <a:sym typeface="Twentieth Century"/>
              </a:rPr>
              <a:t>, que, con diversas reformas, continúa vigente y constituye el cuerpo normativo fundamental en la materia</a:t>
            </a:r>
            <a:endParaRPr b="0" i="0" sz="2000" u="none" cap="none" strike="noStrike">
              <a:solidFill>
                <a:schemeClr val="dk1"/>
              </a:solidFill>
              <a:latin typeface="Twentieth Century"/>
              <a:ea typeface="Twentieth Century"/>
              <a:cs typeface="Twentieth Century"/>
              <a:sym typeface="Twentieth Century"/>
            </a:endParaRPr>
          </a:p>
        </p:txBody>
      </p:sp>
      <p:sp>
        <p:nvSpPr>
          <p:cNvPr id="197" name="Google Shape;197;p54"/>
          <p:cNvSpPr/>
          <p:nvPr/>
        </p:nvSpPr>
        <p:spPr>
          <a:xfrm rot="1861736">
            <a:off x="2436261" y="5850068"/>
            <a:ext cx="785458" cy="648929"/>
          </a:xfrm>
          <a:prstGeom prst="stripedRightArrow">
            <a:avLst>
              <a:gd fmla="val 50000" name="adj1"/>
              <a:gd fmla="val 50000" name="adj2"/>
            </a:avLst>
          </a:prstGeom>
          <a:solidFill>
            <a:schemeClr val="lt1"/>
          </a:solid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198" name="Google Shape;198;p54"/>
          <p:cNvSpPr txBox="1"/>
          <p:nvPr/>
        </p:nvSpPr>
        <p:spPr>
          <a:xfrm>
            <a:off x="3514641" y="6020282"/>
            <a:ext cx="500740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Twentieth Century"/>
                <a:ea typeface="Twentieth Century"/>
                <a:cs typeface="Twentieth Century"/>
                <a:sym typeface="Twentieth Century"/>
              </a:rPr>
              <a:t>Se firmaron la gran mayoría de los actuales convenios colectivos de trabajo.</a:t>
            </a:r>
            <a:endParaRPr b="0" i="0" sz="2000" u="none" cap="none" strike="noStrike">
              <a:solidFill>
                <a:schemeClr val="dk1"/>
              </a:solidFill>
              <a:latin typeface="Twentieth Century"/>
              <a:ea typeface="Twentieth Century"/>
              <a:cs typeface="Twentieth Century"/>
              <a:sym typeface="Twentieth Century"/>
            </a:endParaRPr>
          </a:p>
        </p:txBody>
      </p:sp>
      <p:sp>
        <p:nvSpPr>
          <p:cNvPr id="199" name="Google Shape;199;p54"/>
          <p:cNvSpPr txBox="1"/>
          <p:nvPr/>
        </p:nvSpPr>
        <p:spPr>
          <a:xfrm>
            <a:off x="416027" y="1647564"/>
            <a:ext cx="8418387" cy="83095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000000"/>
              </a:buClr>
              <a:buSzPts val="2000"/>
              <a:buFont typeface="Arial"/>
              <a:buNone/>
            </a:pPr>
            <a:r>
              <a:rPr b="0" i="0" lang="es-AR" sz="2000" u="none" cap="none" strike="noStrike">
                <a:solidFill>
                  <a:schemeClr val="dk1"/>
                </a:solidFill>
                <a:latin typeface="Calibri"/>
                <a:ea typeface="Calibri"/>
                <a:cs typeface="Calibri"/>
                <a:sym typeface="Calibri"/>
              </a:rPr>
              <a:t>El </a:t>
            </a:r>
            <a:r>
              <a:rPr b="1" i="0" lang="es-AR" sz="2000" u="none" cap="none" strike="noStrike">
                <a:solidFill>
                  <a:schemeClr val="dk1"/>
                </a:solidFill>
                <a:latin typeface="Calibri"/>
                <a:ea typeface="Calibri"/>
                <a:cs typeface="Calibri"/>
                <a:sym typeface="Calibri"/>
              </a:rPr>
              <a:t>derecho del trabajo </a:t>
            </a:r>
            <a:r>
              <a:rPr b="0" i="0" lang="es-AR" sz="2000" u="none" cap="none" strike="noStrike">
                <a:solidFill>
                  <a:schemeClr val="dk1"/>
                </a:solidFill>
                <a:latin typeface="Calibri"/>
                <a:ea typeface="Calibri"/>
                <a:cs typeface="Calibri"/>
                <a:sym typeface="Calibri"/>
              </a:rPr>
              <a:t>es la rama del derecho privado que se ocupa de las relaciones individuales y colectivas entre los </a:t>
            </a:r>
            <a:r>
              <a:rPr b="1" i="0" lang="es-AR" sz="2000" u="none" cap="none" strike="noStrike">
                <a:solidFill>
                  <a:schemeClr val="dk1"/>
                </a:solidFill>
                <a:latin typeface="Calibri"/>
                <a:ea typeface="Calibri"/>
                <a:cs typeface="Calibri"/>
                <a:sym typeface="Calibri"/>
              </a:rPr>
              <a:t>trabajadores</a:t>
            </a:r>
            <a:r>
              <a:rPr b="0" i="0" lang="es-AR" sz="2000" u="none" cap="none" strike="noStrike">
                <a:solidFill>
                  <a:schemeClr val="dk1"/>
                </a:solidFill>
                <a:latin typeface="Calibri"/>
                <a:ea typeface="Calibri"/>
                <a:cs typeface="Calibri"/>
                <a:sym typeface="Calibri"/>
              </a:rPr>
              <a:t> y los </a:t>
            </a:r>
            <a:r>
              <a:rPr b="1" i="0" lang="es-AR" sz="2000" u="none" cap="none" strike="noStrike">
                <a:solidFill>
                  <a:schemeClr val="dk1"/>
                </a:solidFill>
                <a:latin typeface="Calibri"/>
                <a:ea typeface="Calibri"/>
                <a:cs typeface="Calibri"/>
                <a:sym typeface="Calibri"/>
              </a:rPr>
              <a:t>empleadores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55"/>
          <p:cNvSpPr txBox="1"/>
          <p:nvPr/>
        </p:nvSpPr>
        <p:spPr>
          <a:xfrm>
            <a:off x="467291" y="3367915"/>
            <a:ext cx="6586652" cy="24929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Calibri"/>
                <a:ea typeface="Calibri"/>
                <a:cs typeface="Calibri"/>
                <a:sym typeface="Calibri"/>
              </a:rPr>
              <a:t> </a:t>
            </a:r>
            <a:r>
              <a:rPr b="0" i="0" lang="es-AR" sz="2000" u="none" cap="none" strike="noStrike">
                <a:solidFill>
                  <a:schemeClr val="dk1"/>
                </a:solidFill>
                <a:latin typeface="Calibri"/>
                <a:ea typeface="Calibri"/>
                <a:cs typeface="Calibri"/>
                <a:sym typeface="Calibri"/>
              </a:rPr>
              <a:t>Se manifiesta en tres reglas: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Noto Sans Symbols"/>
              <a:buChar char="✔"/>
            </a:pPr>
            <a:r>
              <a:rPr b="1" i="0" lang="es-AR" sz="2000" u="sng" cap="none" strike="noStrike">
                <a:solidFill>
                  <a:schemeClr val="dk1"/>
                </a:solidFill>
                <a:latin typeface="Calibri"/>
                <a:ea typeface="Calibri"/>
                <a:cs typeface="Calibri"/>
                <a:sym typeface="Calibri"/>
              </a:rPr>
              <a:t>“in dubio pro operario”</a:t>
            </a:r>
            <a:r>
              <a:rPr b="1" i="0" lang="es-AR" sz="2000" u="none" cap="none" strike="noStrike">
                <a:solidFill>
                  <a:schemeClr val="dk1"/>
                </a:solidFill>
                <a:latin typeface="Calibri"/>
                <a:ea typeface="Calibri"/>
                <a:cs typeface="Calibri"/>
                <a:sym typeface="Calibri"/>
              </a:rPr>
              <a:t> (</a:t>
            </a:r>
            <a:r>
              <a:rPr b="1" i="1" lang="es-AR" sz="2000" u="none" cap="none" strike="noStrike">
                <a:solidFill>
                  <a:schemeClr val="dk1"/>
                </a:solidFill>
                <a:latin typeface="Calibri"/>
                <a:ea typeface="Calibri"/>
                <a:cs typeface="Calibri"/>
                <a:sym typeface="Calibri"/>
              </a:rPr>
              <a:t>Interpretación de la ley)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1"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Noto Sans Symbols"/>
              <a:buChar char="✔"/>
            </a:pPr>
            <a:r>
              <a:rPr b="1" i="0" lang="es-AR" sz="2000" u="sng" cap="none" strike="noStrike">
                <a:solidFill>
                  <a:schemeClr val="dk1"/>
                </a:solidFill>
                <a:latin typeface="Calibri"/>
                <a:ea typeface="Calibri"/>
                <a:cs typeface="Calibri"/>
                <a:sym typeface="Calibri"/>
              </a:rPr>
              <a:t>la norma más favorable</a:t>
            </a:r>
            <a:r>
              <a:rPr b="0" i="0" lang="es-AR" sz="2000" u="none" cap="none" strike="noStrike">
                <a:solidFill>
                  <a:schemeClr val="dk1"/>
                </a:solidFill>
                <a:latin typeface="Calibri"/>
                <a:ea typeface="Calibri"/>
                <a:cs typeface="Calibri"/>
                <a:sym typeface="Calibri"/>
              </a:rPr>
              <a:t>, </a:t>
            </a:r>
            <a:r>
              <a:rPr b="1" i="1" lang="es-AR" sz="2000" u="none" cap="none" strike="noStrike">
                <a:solidFill>
                  <a:schemeClr val="dk1"/>
                </a:solidFill>
                <a:latin typeface="Calibri"/>
                <a:ea typeface="Calibri"/>
                <a:cs typeface="Calibri"/>
                <a:sym typeface="Calibri"/>
              </a:rPr>
              <a:t>(Aplicación de la 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Noto Sans Symbols"/>
              <a:buChar char="✔"/>
            </a:pPr>
            <a:r>
              <a:rPr b="1" i="0" lang="es-AR" sz="2000" u="sng" cap="none" strike="noStrike">
                <a:solidFill>
                  <a:schemeClr val="dk1"/>
                </a:solidFill>
                <a:latin typeface="Calibri"/>
                <a:ea typeface="Calibri"/>
                <a:cs typeface="Calibri"/>
                <a:sym typeface="Calibri"/>
              </a:rPr>
              <a:t>la condición más beneficiosa</a:t>
            </a:r>
            <a:endParaRPr b="0" i="0" sz="2000" u="none" cap="none" strike="noStrike">
              <a:solidFill>
                <a:schemeClr val="dk1"/>
              </a:solidFill>
              <a:latin typeface="Twentieth Century"/>
              <a:ea typeface="Twentieth Century"/>
              <a:cs typeface="Twentieth Century"/>
              <a:sym typeface="Twentieth Century"/>
            </a:endParaRPr>
          </a:p>
        </p:txBody>
      </p:sp>
      <p:grpSp>
        <p:nvGrpSpPr>
          <p:cNvPr id="206" name="Google Shape;206;p55"/>
          <p:cNvGrpSpPr/>
          <p:nvPr/>
        </p:nvGrpSpPr>
        <p:grpSpPr>
          <a:xfrm>
            <a:off x="0" y="1528387"/>
            <a:ext cx="7385538" cy="550285"/>
            <a:chOff x="5054354" y="2100207"/>
            <a:chExt cx="5204695" cy="510838"/>
          </a:xfrm>
        </p:grpSpPr>
        <p:sp>
          <p:nvSpPr>
            <p:cNvPr id="207" name="Google Shape;207;p55"/>
            <p:cNvSpPr txBox="1"/>
            <p:nvPr/>
          </p:nvSpPr>
          <p:spPr>
            <a:xfrm>
              <a:off x="5054354" y="2100207"/>
              <a:ext cx="889246" cy="485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01.</a:t>
              </a:r>
              <a:endParaRPr b="0" i="0" sz="1800" u="none" cap="none" strike="noStrike">
                <a:solidFill>
                  <a:schemeClr val="dk1"/>
                </a:solidFill>
                <a:latin typeface="Twentieth Century"/>
                <a:ea typeface="Twentieth Century"/>
                <a:cs typeface="Twentieth Century"/>
                <a:sym typeface="Twentieth Century"/>
              </a:endParaRPr>
            </a:p>
          </p:txBody>
        </p:sp>
        <p:sp>
          <p:nvSpPr>
            <p:cNvPr id="208" name="Google Shape;208;p55"/>
            <p:cNvSpPr txBox="1"/>
            <p:nvPr/>
          </p:nvSpPr>
          <p:spPr>
            <a:xfrm>
              <a:off x="5864173" y="2182512"/>
              <a:ext cx="4394876" cy="4285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400"/>
                <a:buFont typeface="Quattrocento Sans"/>
                <a:buNone/>
              </a:pPr>
              <a:r>
                <a:rPr b="1" i="0" lang="es-AR" sz="2400" u="none" cap="none" strike="noStrike">
                  <a:solidFill>
                    <a:srgbClr val="404040"/>
                  </a:solidFill>
                  <a:latin typeface="Quattrocento Sans"/>
                  <a:ea typeface="Quattrocento Sans"/>
                  <a:cs typeface="Quattrocento Sans"/>
                  <a:sym typeface="Quattrocento Sans"/>
                </a:rPr>
                <a:t>PRINCIPIO PROTECTORIO</a:t>
              </a:r>
              <a:endParaRPr b="1" i="0" sz="2400" u="none" cap="none" strike="noStrike">
                <a:solidFill>
                  <a:schemeClr val="dk1"/>
                </a:solidFill>
                <a:latin typeface="Twentieth Century"/>
                <a:ea typeface="Twentieth Century"/>
                <a:cs typeface="Twentieth Century"/>
                <a:sym typeface="Twentieth Century"/>
              </a:endParaRPr>
            </a:p>
          </p:txBody>
        </p:sp>
      </p:grpSp>
      <p:sp>
        <p:nvSpPr>
          <p:cNvPr id="209" name="Google Shape;209;p55"/>
          <p:cNvSpPr txBox="1"/>
          <p:nvPr/>
        </p:nvSpPr>
        <p:spPr>
          <a:xfrm>
            <a:off x="273398" y="0"/>
            <a:ext cx="619179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Los principios del derecho del trabajo</a:t>
            </a:r>
            <a:endParaRPr b="0" i="0" sz="1800" u="none" cap="none" strike="noStrike">
              <a:solidFill>
                <a:schemeClr val="dk1"/>
              </a:solidFill>
              <a:latin typeface="Twentieth Century"/>
              <a:ea typeface="Twentieth Century"/>
              <a:cs typeface="Twentieth Century"/>
              <a:sym typeface="Twentieth Century"/>
            </a:endParaRPr>
          </a:p>
        </p:txBody>
      </p:sp>
      <p:sp>
        <p:nvSpPr>
          <p:cNvPr id="210" name="Google Shape;210;p55"/>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11" name="Google Shape;211;p55"/>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212" name="Google Shape;212;p55"/>
          <p:cNvSpPr/>
          <p:nvPr/>
        </p:nvSpPr>
        <p:spPr>
          <a:xfrm>
            <a:off x="4989922" y="1451650"/>
            <a:ext cx="651134" cy="676694"/>
          </a:xfrm>
          <a:prstGeom prst="stripedRightArrow">
            <a:avLst>
              <a:gd fmla="val 50000" name="adj1"/>
              <a:gd fmla="val 50000" name="adj2"/>
            </a:avLst>
          </a:prstGeom>
          <a:solidFill>
            <a:schemeClr val="lt1"/>
          </a:solidFill>
          <a:ln cap="flat"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13" name="Google Shape;213;p55"/>
          <p:cNvSpPr txBox="1"/>
          <p:nvPr/>
        </p:nvSpPr>
        <p:spPr>
          <a:xfrm>
            <a:off x="5890061" y="1342004"/>
            <a:ext cx="3037115"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rgbClr val="FF0000"/>
                </a:solidFill>
                <a:latin typeface="Twentieth Century"/>
                <a:ea typeface="Twentieth Century"/>
                <a:cs typeface="Twentieth Century"/>
                <a:sym typeface="Twentieth Century"/>
              </a:rPr>
              <a:t>El principio protectorio es aquel que busca nivelar desigualdades</a:t>
            </a:r>
            <a:endParaRPr b="0" i="0" sz="1800" u="none" cap="none" strike="noStrike">
              <a:solidFill>
                <a:schemeClr val="dk1"/>
              </a:solidFill>
              <a:latin typeface="Twentieth Century"/>
              <a:ea typeface="Twentieth Century"/>
              <a:cs typeface="Twentieth Century"/>
              <a:sym typeface="Twentieth Century"/>
            </a:endParaRPr>
          </a:p>
        </p:txBody>
      </p:sp>
      <p:pic>
        <p:nvPicPr>
          <p:cNvPr id="214" name="Google Shape;214;p55"/>
          <p:cNvPicPr preferRelativeResize="0"/>
          <p:nvPr/>
        </p:nvPicPr>
        <p:blipFill rotWithShape="1">
          <a:blip r:embed="rId4">
            <a:alphaModFix/>
          </a:blip>
          <a:srcRect b="0" l="0" r="0" t="0"/>
          <a:stretch/>
        </p:blipFill>
        <p:spPr>
          <a:xfrm rot="5400000">
            <a:off x="2134045" y="2265958"/>
            <a:ext cx="797946" cy="853514"/>
          </a:xfrm>
          <a:prstGeom prst="rect">
            <a:avLst/>
          </a:prstGeom>
          <a:noFill/>
          <a:ln>
            <a:noFill/>
          </a:ln>
        </p:spPr>
      </p:pic>
      <p:pic>
        <p:nvPicPr>
          <p:cNvPr id="215" name="Google Shape;215;p55"/>
          <p:cNvPicPr preferRelativeResize="0"/>
          <p:nvPr/>
        </p:nvPicPr>
        <p:blipFill rotWithShape="1">
          <a:blip r:embed="rId5">
            <a:alphaModFix/>
          </a:blip>
          <a:srcRect b="14046" l="11662" r="8645" t="11420"/>
          <a:stretch/>
        </p:blipFill>
        <p:spPr>
          <a:xfrm>
            <a:off x="6418464" y="3367915"/>
            <a:ext cx="2658053" cy="24502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pSp>
        <p:nvGrpSpPr>
          <p:cNvPr id="220" name="Google Shape;220;p56"/>
          <p:cNvGrpSpPr/>
          <p:nvPr/>
        </p:nvGrpSpPr>
        <p:grpSpPr>
          <a:xfrm>
            <a:off x="496719" y="1660607"/>
            <a:ext cx="7385538" cy="523221"/>
            <a:chOff x="5054354" y="2100207"/>
            <a:chExt cx="5204695" cy="485714"/>
          </a:xfrm>
        </p:grpSpPr>
        <p:sp>
          <p:nvSpPr>
            <p:cNvPr id="221" name="Google Shape;221;p56"/>
            <p:cNvSpPr txBox="1"/>
            <p:nvPr/>
          </p:nvSpPr>
          <p:spPr>
            <a:xfrm>
              <a:off x="5054354" y="2100207"/>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02.</a:t>
              </a:r>
              <a:endParaRPr b="0" i="0" sz="1800" u="none" cap="none" strike="noStrike">
                <a:solidFill>
                  <a:schemeClr val="dk1"/>
                </a:solidFill>
                <a:latin typeface="Twentieth Century"/>
                <a:ea typeface="Twentieth Century"/>
                <a:cs typeface="Twentieth Century"/>
                <a:sym typeface="Twentieth Century"/>
              </a:endParaRPr>
            </a:p>
          </p:txBody>
        </p:sp>
        <p:sp>
          <p:nvSpPr>
            <p:cNvPr id="222" name="Google Shape;222;p56"/>
            <p:cNvSpPr txBox="1"/>
            <p:nvPr/>
          </p:nvSpPr>
          <p:spPr>
            <a:xfrm>
              <a:off x="5864173" y="2182512"/>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PROGRESIVIDAD</a:t>
              </a:r>
              <a:endParaRPr b="1" i="0" sz="1800" u="none" cap="none" strike="noStrike">
                <a:solidFill>
                  <a:schemeClr val="dk1"/>
                </a:solidFill>
                <a:latin typeface="Twentieth Century"/>
                <a:ea typeface="Twentieth Century"/>
                <a:cs typeface="Twentieth Century"/>
                <a:sym typeface="Twentieth Century"/>
              </a:endParaRPr>
            </a:p>
          </p:txBody>
        </p:sp>
      </p:grpSp>
      <p:sp>
        <p:nvSpPr>
          <p:cNvPr id="223" name="Google Shape;223;p56"/>
          <p:cNvSpPr txBox="1"/>
          <p:nvPr/>
        </p:nvSpPr>
        <p:spPr>
          <a:xfrm>
            <a:off x="1047222" y="2764796"/>
            <a:ext cx="7694023" cy="1015663"/>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Calibri"/>
                <a:ea typeface="Calibri"/>
                <a:cs typeface="Calibri"/>
                <a:sym typeface="Calibri"/>
              </a:rPr>
              <a:t>La Ley, el Convenio Colectivo de Trabajo o el acuerdo privado hecho entre el empleador y el trabajador deben siempre </a:t>
            </a:r>
            <a:r>
              <a:rPr b="1" i="0" lang="es-AR" sz="2000" u="none" cap="none" strike="noStrike">
                <a:solidFill>
                  <a:srgbClr val="FF0000"/>
                </a:solidFill>
                <a:latin typeface="Calibri"/>
                <a:ea typeface="Calibri"/>
                <a:cs typeface="Calibri"/>
                <a:sym typeface="Calibri"/>
              </a:rPr>
              <a:t>mejorar la situación </a:t>
            </a:r>
            <a:r>
              <a:rPr b="0" i="0" lang="es-AR" sz="2000" u="none" cap="none" strike="noStrike">
                <a:solidFill>
                  <a:schemeClr val="dk1"/>
                </a:solidFill>
                <a:latin typeface="Calibri"/>
                <a:ea typeface="Calibri"/>
                <a:cs typeface="Calibri"/>
                <a:sym typeface="Calibri"/>
              </a:rPr>
              <a:t>que tenía antes el trabajador.</a:t>
            </a:r>
            <a:endParaRPr b="0" i="0" sz="1400" u="none" cap="none" strike="noStrike">
              <a:solidFill>
                <a:srgbClr val="000000"/>
              </a:solidFill>
              <a:latin typeface="Arial"/>
              <a:ea typeface="Arial"/>
              <a:cs typeface="Arial"/>
              <a:sym typeface="Arial"/>
            </a:endParaRPr>
          </a:p>
        </p:txBody>
      </p:sp>
      <p:grpSp>
        <p:nvGrpSpPr>
          <p:cNvPr id="224" name="Google Shape;224;p56"/>
          <p:cNvGrpSpPr/>
          <p:nvPr/>
        </p:nvGrpSpPr>
        <p:grpSpPr>
          <a:xfrm>
            <a:off x="489638" y="3944182"/>
            <a:ext cx="7385538" cy="523221"/>
            <a:chOff x="5054354" y="2100207"/>
            <a:chExt cx="5204695" cy="485714"/>
          </a:xfrm>
        </p:grpSpPr>
        <p:sp>
          <p:nvSpPr>
            <p:cNvPr id="225" name="Google Shape;225;p56"/>
            <p:cNvSpPr txBox="1"/>
            <p:nvPr/>
          </p:nvSpPr>
          <p:spPr>
            <a:xfrm>
              <a:off x="5054354" y="2100207"/>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03.</a:t>
              </a:r>
              <a:endParaRPr b="0" i="0" sz="1800" u="none" cap="none" strike="noStrike">
                <a:solidFill>
                  <a:schemeClr val="dk1"/>
                </a:solidFill>
                <a:latin typeface="Twentieth Century"/>
                <a:ea typeface="Twentieth Century"/>
                <a:cs typeface="Twentieth Century"/>
                <a:sym typeface="Twentieth Century"/>
              </a:endParaRPr>
            </a:p>
          </p:txBody>
        </p:sp>
        <p:sp>
          <p:nvSpPr>
            <p:cNvPr id="226" name="Google Shape;226;p56"/>
            <p:cNvSpPr txBox="1"/>
            <p:nvPr/>
          </p:nvSpPr>
          <p:spPr>
            <a:xfrm>
              <a:off x="5864173" y="2182512"/>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IRRENUNCIABILIDAD</a:t>
              </a:r>
              <a:endParaRPr b="1" i="0" sz="1800" u="none" cap="none" strike="noStrike">
                <a:solidFill>
                  <a:schemeClr val="dk1"/>
                </a:solidFill>
                <a:latin typeface="Twentieth Century"/>
                <a:ea typeface="Twentieth Century"/>
                <a:cs typeface="Twentieth Century"/>
                <a:sym typeface="Twentieth Century"/>
              </a:endParaRPr>
            </a:p>
          </p:txBody>
        </p:sp>
      </p:grpSp>
      <p:sp>
        <p:nvSpPr>
          <p:cNvPr id="227" name="Google Shape;227;p56"/>
          <p:cNvSpPr txBox="1"/>
          <p:nvPr/>
        </p:nvSpPr>
        <p:spPr>
          <a:xfrm>
            <a:off x="1068985" y="4483117"/>
            <a:ext cx="767226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Calibri"/>
                <a:ea typeface="Calibri"/>
                <a:cs typeface="Calibri"/>
                <a:sym typeface="Calibri"/>
              </a:rPr>
              <a:t>Consiste en la </a:t>
            </a:r>
            <a:r>
              <a:rPr b="1" i="0" lang="es-AR" sz="2000" u="sng" cap="none" strike="noStrike">
                <a:solidFill>
                  <a:schemeClr val="dk1"/>
                </a:solidFill>
                <a:latin typeface="Calibri"/>
                <a:ea typeface="Calibri"/>
                <a:cs typeface="Calibri"/>
                <a:sym typeface="Calibri"/>
              </a:rPr>
              <a:t>imposibilidad jurídica </a:t>
            </a:r>
            <a:r>
              <a:rPr b="0" i="0" lang="es-AR" sz="2000" u="none" cap="none" strike="noStrike">
                <a:solidFill>
                  <a:schemeClr val="dk1"/>
                </a:solidFill>
                <a:latin typeface="Calibri"/>
                <a:ea typeface="Calibri"/>
                <a:cs typeface="Calibri"/>
                <a:sym typeface="Calibri"/>
              </a:rPr>
              <a:t>del trabajador de privarse voluntariamente de derechos concedidos por ley o CCT en su beneficio.</a:t>
            </a:r>
            <a:endParaRPr b="0" i="0" sz="1400" u="none" cap="none" strike="noStrike">
              <a:solidFill>
                <a:srgbClr val="000000"/>
              </a:solidFill>
              <a:latin typeface="Arial"/>
              <a:ea typeface="Arial"/>
              <a:cs typeface="Arial"/>
              <a:sym typeface="Arial"/>
            </a:endParaRPr>
          </a:p>
        </p:txBody>
      </p:sp>
      <p:sp>
        <p:nvSpPr>
          <p:cNvPr id="228" name="Google Shape;228;p56"/>
          <p:cNvSpPr/>
          <p:nvPr/>
        </p:nvSpPr>
        <p:spPr>
          <a:xfrm>
            <a:off x="211004" y="372789"/>
            <a:ext cx="4572000" cy="590931"/>
          </a:xfrm>
          <a:prstGeom prst="rect">
            <a:avLst/>
          </a:prstGeom>
          <a:no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Los principios del derecho del trabajo</a:t>
            </a:r>
            <a:endParaRPr b="0" i="0" sz="1800" u="none" cap="none" strike="noStrike">
              <a:solidFill>
                <a:schemeClr val="dk1"/>
              </a:solidFill>
              <a:latin typeface="Arial"/>
              <a:ea typeface="Arial"/>
              <a:cs typeface="Arial"/>
              <a:sym typeface="Arial"/>
            </a:endParaRPr>
          </a:p>
        </p:txBody>
      </p:sp>
      <p:sp>
        <p:nvSpPr>
          <p:cNvPr id="229" name="Google Shape;229;p56"/>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30" name="Google Shape;230;p56"/>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pic>
        <p:nvPicPr>
          <p:cNvPr id="231" name="Google Shape;231;p56"/>
          <p:cNvPicPr preferRelativeResize="0"/>
          <p:nvPr/>
        </p:nvPicPr>
        <p:blipFill rotWithShape="1">
          <a:blip r:embed="rId4">
            <a:alphaModFix/>
          </a:blip>
          <a:srcRect b="0" l="0" r="0" t="0"/>
          <a:stretch/>
        </p:blipFill>
        <p:spPr>
          <a:xfrm>
            <a:off x="5460355" y="1354750"/>
            <a:ext cx="2585187" cy="1290605"/>
          </a:xfrm>
          <a:prstGeom prst="rect">
            <a:avLst/>
          </a:prstGeom>
          <a:noFill/>
          <a:ln>
            <a:noFill/>
          </a:ln>
        </p:spPr>
      </p:pic>
      <p:grpSp>
        <p:nvGrpSpPr>
          <p:cNvPr id="232" name="Google Shape;232;p56"/>
          <p:cNvGrpSpPr/>
          <p:nvPr/>
        </p:nvGrpSpPr>
        <p:grpSpPr>
          <a:xfrm>
            <a:off x="474788" y="5761237"/>
            <a:ext cx="8686598" cy="707846"/>
            <a:chOff x="1828799" y="2394191"/>
            <a:chExt cx="9537896" cy="707846"/>
          </a:xfrm>
        </p:grpSpPr>
        <p:sp>
          <p:nvSpPr>
            <p:cNvPr id="233" name="Google Shape;233;p56"/>
            <p:cNvSpPr txBox="1"/>
            <p:nvPr/>
          </p:nvSpPr>
          <p:spPr>
            <a:xfrm>
              <a:off x="1828799" y="2399866"/>
              <a:ext cx="126185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04.</a:t>
              </a:r>
              <a:endParaRPr b="0" i="0" sz="1800" u="none" cap="none" strike="noStrike">
                <a:solidFill>
                  <a:schemeClr val="dk1"/>
                </a:solidFill>
                <a:latin typeface="Twentieth Century"/>
                <a:ea typeface="Twentieth Century"/>
                <a:cs typeface="Twentieth Century"/>
                <a:sym typeface="Twentieth Century"/>
              </a:endParaRPr>
            </a:p>
          </p:txBody>
        </p:sp>
        <p:sp>
          <p:nvSpPr>
            <p:cNvPr id="234" name="Google Shape;234;p56"/>
            <p:cNvSpPr txBox="1"/>
            <p:nvPr/>
          </p:nvSpPr>
          <p:spPr>
            <a:xfrm>
              <a:off x="2977945" y="2394191"/>
              <a:ext cx="838875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LA CONTINUIDAD DEL</a:t>
              </a:r>
              <a:endParaRPr/>
            </a:p>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 CONTRATO DE TRABAJO</a:t>
              </a:r>
              <a:endParaRPr b="1" i="0" sz="2000" u="none" cap="none" strike="noStrike">
                <a:solidFill>
                  <a:srgbClr val="404040"/>
                </a:solidFill>
                <a:latin typeface="Quattrocento Sans"/>
                <a:ea typeface="Quattrocento Sans"/>
                <a:cs typeface="Quattrocento Sans"/>
                <a:sym typeface="Quattrocento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57"/>
          <p:cNvGrpSpPr/>
          <p:nvPr/>
        </p:nvGrpSpPr>
        <p:grpSpPr>
          <a:xfrm>
            <a:off x="33479" y="1488273"/>
            <a:ext cx="7352059" cy="523221"/>
            <a:chOff x="5077947" y="2100237"/>
            <a:chExt cx="5181102" cy="485714"/>
          </a:xfrm>
        </p:grpSpPr>
        <p:sp>
          <p:nvSpPr>
            <p:cNvPr id="240" name="Google Shape;240;p57"/>
            <p:cNvSpPr txBox="1"/>
            <p:nvPr/>
          </p:nvSpPr>
          <p:spPr>
            <a:xfrm>
              <a:off x="5077947" y="2100237"/>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05.</a:t>
              </a:r>
              <a:endParaRPr b="0" i="0" sz="1800" u="none" cap="none" strike="noStrike">
                <a:solidFill>
                  <a:schemeClr val="dk1"/>
                </a:solidFill>
                <a:latin typeface="Twentieth Century"/>
                <a:ea typeface="Twentieth Century"/>
                <a:cs typeface="Twentieth Century"/>
                <a:sym typeface="Twentieth Century"/>
              </a:endParaRPr>
            </a:p>
          </p:txBody>
        </p:sp>
        <p:sp>
          <p:nvSpPr>
            <p:cNvPr id="241" name="Google Shape;241;p57"/>
            <p:cNvSpPr txBox="1"/>
            <p:nvPr/>
          </p:nvSpPr>
          <p:spPr>
            <a:xfrm>
              <a:off x="5864173" y="2182512"/>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LA PRIMACÍA DE LA REALIDAD</a:t>
              </a:r>
              <a:endParaRPr b="1" i="0" sz="2000" u="none" cap="none" strike="noStrike">
                <a:solidFill>
                  <a:srgbClr val="404040"/>
                </a:solidFill>
                <a:latin typeface="Quattrocento Sans"/>
                <a:ea typeface="Quattrocento Sans"/>
                <a:cs typeface="Quattrocento Sans"/>
                <a:sym typeface="Quattrocento Sans"/>
              </a:endParaRPr>
            </a:p>
          </p:txBody>
        </p:sp>
      </p:grpSp>
      <p:sp>
        <p:nvSpPr>
          <p:cNvPr id="242" name="Google Shape;242;p57"/>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243" name="Google Shape;243;p57"/>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pic>
        <p:nvPicPr>
          <p:cNvPr id="244" name="Google Shape;244;p57"/>
          <p:cNvPicPr preferRelativeResize="0"/>
          <p:nvPr/>
        </p:nvPicPr>
        <p:blipFill rotWithShape="1">
          <a:blip r:embed="rId4">
            <a:alphaModFix/>
          </a:blip>
          <a:srcRect b="317" l="12567" r="9784" t="-3142"/>
          <a:stretch/>
        </p:blipFill>
        <p:spPr>
          <a:xfrm>
            <a:off x="6840415" y="1354745"/>
            <a:ext cx="2007506" cy="1888392"/>
          </a:xfrm>
          <a:prstGeom prst="rect">
            <a:avLst/>
          </a:prstGeom>
          <a:noFill/>
          <a:ln>
            <a:noFill/>
          </a:ln>
        </p:spPr>
      </p:pic>
      <p:sp>
        <p:nvSpPr>
          <p:cNvPr id="245" name="Google Shape;245;p57"/>
          <p:cNvSpPr txBox="1"/>
          <p:nvPr/>
        </p:nvSpPr>
        <p:spPr>
          <a:xfrm>
            <a:off x="230977" y="-13160"/>
            <a:ext cx="619179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4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Los principios del derecho del trabajo</a:t>
            </a:r>
            <a:endParaRPr b="0" i="0" sz="1800" u="none" cap="none" strike="noStrike">
              <a:solidFill>
                <a:schemeClr val="dk1"/>
              </a:solidFill>
              <a:latin typeface="Twentieth Century"/>
              <a:ea typeface="Twentieth Century"/>
              <a:cs typeface="Twentieth Century"/>
              <a:sym typeface="Twentieth Century"/>
            </a:endParaRPr>
          </a:p>
        </p:txBody>
      </p:sp>
      <p:grpSp>
        <p:nvGrpSpPr>
          <p:cNvPr id="246" name="Google Shape;246;p57"/>
          <p:cNvGrpSpPr/>
          <p:nvPr/>
        </p:nvGrpSpPr>
        <p:grpSpPr>
          <a:xfrm>
            <a:off x="33404" y="2530964"/>
            <a:ext cx="7351984" cy="523211"/>
            <a:chOff x="5099432" y="2163180"/>
            <a:chExt cx="5181102" cy="485714"/>
          </a:xfrm>
        </p:grpSpPr>
        <p:sp>
          <p:nvSpPr>
            <p:cNvPr id="247" name="Google Shape;247;p57"/>
            <p:cNvSpPr txBox="1"/>
            <p:nvPr/>
          </p:nvSpPr>
          <p:spPr>
            <a:xfrm>
              <a:off x="5099432" y="2163180"/>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06.</a:t>
              </a:r>
              <a:endParaRPr b="0" i="0" sz="1800" u="none" cap="none" strike="noStrike">
                <a:solidFill>
                  <a:schemeClr val="dk1"/>
                </a:solidFill>
                <a:latin typeface="Twentieth Century"/>
                <a:ea typeface="Twentieth Century"/>
                <a:cs typeface="Twentieth Century"/>
                <a:sym typeface="Twentieth Century"/>
              </a:endParaRPr>
            </a:p>
          </p:txBody>
        </p:sp>
        <p:sp>
          <p:nvSpPr>
            <p:cNvPr id="248" name="Google Shape;248;p57"/>
            <p:cNvSpPr txBox="1"/>
            <p:nvPr/>
          </p:nvSpPr>
          <p:spPr>
            <a:xfrm>
              <a:off x="5885658" y="2256468"/>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LA BUENA FE</a:t>
              </a:r>
              <a:endParaRPr b="1" i="0" sz="2000" u="none" cap="none" strike="noStrike">
                <a:solidFill>
                  <a:srgbClr val="404040"/>
                </a:solidFill>
                <a:latin typeface="Quattrocento Sans"/>
                <a:ea typeface="Quattrocento Sans"/>
                <a:cs typeface="Quattrocento Sans"/>
                <a:sym typeface="Quattrocento Sans"/>
              </a:endParaRPr>
            </a:p>
          </p:txBody>
        </p:sp>
      </p:grpSp>
      <p:grpSp>
        <p:nvGrpSpPr>
          <p:cNvPr id="249" name="Google Shape;249;p57"/>
          <p:cNvGrpSpPr/>
          <p:nvPr/>
        </p:nvGrpSpPr>
        <p:grpSpPr>
          <a:xfrm>
            <a:off x="0" y="3710888"/>
            <a:ext cx="7550993" cy="523221"/>
            <a:chOff x="5055801" y="1133084"/>
            <a:chExt cx="5183766" cy="485714"/>
          </a:xfrm>
        </p:grpSpPr>
        <p:sp>
          <p:nvSpPr>
            <p:cNvPr id="250" name="Google Shape;250;p57"/>
            <p:cNvSpPr txBox="1"/>
            <p:nvPr/>
          </p:nvSpPr>
          <p:spPr>
            <a:xfrm>
              <a:off x="5055801" y="1133084"/>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07.</a:t>
              </a:r>
              <a:endParaRPr b="0" i="0" sz="1800" u="none" cap="none" strike="noStrike">
                <a:solidFill>
                  <a:schemeClr val="dk1"/>
                </a:solidFill>
                <a:latin typeface="Twentieth Century"/>
                <a:ea typeface="Twentieth Century"/>
                <a:cs typeface="Twentieth Century"/>
                <a:sym typeface="Twentieth Century"/>
              </a:endParaRPr>
            </a:p>
          </p:txBody>
        </p:sp>
        <p:sp>
          <p:nvSpPr>
            <p:cNvPr id="251" name="Google Shape;251;p57"/>
            <p:cNvSpPr txBox="1"/>
            <p:nvPr/>
          </p:nvSpPr>
          <p:spPr>
            <a:xfrm>
              <a:off x="5844691" y="1141515"/>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NO DISCRIMINACIÓN</a:t>
              </a:r>
              <a:endParaRPr b="1" i="0" sz="1800" u="none" cap="none" strike="noStrike">
                <a:solidFill>
                  <a:schemeClr val="dk1"/>
                </a:solidFill>
                <a:latin typeface="Twentieth Century"/>
                <a:ea typeface="Twentieth Century"/>
                <a:cs typeface="Twentieth Century"/>
                <a:sym typeface="Twentieth Century"/>
              </a:endParaRPr>
            </a:p>
          </p:txBody>
        </p:sp>
      </p:grpSp>
      <p:grpSp>
        <p:nvGrpSpPr>
          <p:cNvPr id="252" name="Google Shape;252;p57"/>
          <p:cNvGrpSpPr/>
          <p:nvPr/>
        </p:nvGrpSpPr>
        <p:grpSpPr>
          <a:xfrm>
            <a:off x="0" y="4899818"/>
            <a:ext cx="7385536" cy="523221"/>
            <a:chOff x="5054354" y="2100207"/>
            <a:chExt cx="5204694" cy="485714"/>
          </a:xfrm>
        </p:grpSpPr>
        <p:sp>
          <p:nvSpPr>
            <p:cNvPr id="253" name="Google Shape;253;p57"/>
            <p:cNvSpPr txBox="1"/>
            <p:nvPr/>
          </p:nvSpPr>
          <p:spPr>
            <a:xfrm>
              <a:off x="5054354" y="2100207"/>
              <a:ext cx="889246" cy="4857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6C2BD"/>
                </a:buClr>
                <a:buSzPts val="2800"/>
                <a:buFont typeface="Quattrocento Sans"/>
                <a:buNone/>
              </a:pPr>
              <a:r>
                <a:rPr b="1" i="0" lang="es-AR" sz="2800" u="none" cap="none" strike="noStrike">
                  <a:solidFill>
                    <a:srgbClr val="06C2BD"/>
                  </a:solidFill>
                  <a:latin typeface="Quattrocento Sans"/>
                  <a:ea typeface="Quattrocento Sans"/>
                  <a:cs typeface="Quattrocento Sans"/>
                  <a:sym typeface="Quattrocento Sans"/>
                </a:rPr>
                <a:t>08.</a:t>
              </a:r>
              <a:endParaRPr b="0" i="0" sz="1800" u="none" cap="none" strike="noStrike">
                <a:solidFill>
                  <a:schemeClr val="dk1"/>
                </a:solidFill>
                <a:latin typeface="Twentieth Century"/>
                <a:ea typeface="Twentieth Century"/>
                <a:cs typeface="Twentieth Century"/>
                <a:sym typeface="Twentieth Century"/>
              </a:endParaRPr>
            </a:p>
          </p:txBody>
        </p:sp>
        <p:sp>
          <p:nvSpPr>
            <p:cNvPr id="254" name="Google Shape;254;p57"/>
            <p:cNvSpPr txBox="1"/>
            <p:nvPr/>
          </p:nvSpPr>
          <p:spPr>
            <a:xfrm>
              <a:off x="5864172" y="2157349"/>
              <a:ext cx="4394876" cy="371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PRINCIPIO DE GRATUIDAD</a:t>
              </a:r>
              <a:endParaRPr b="1" i="0" sz="1800" u="none" cap="none" strike="noStrike">
                <a:solidFill>
                  <a:schemeClr val="dk1"/>
                </a:solidFill>
                <a:latin typeface="Twentieth Century"/>
                <a:ea typeface="Twentieth Century"/>
                <a:cs typeface="Twentieth Century"/>
                <a:sym typeface="Twentieth Century"/>
              </a:endParaRPr>
            </a:p>
          </p:txBody>
        </p:sp>
      </p:grpSp>
      <p:pic>
        <p:nvPicPr>
          <p:cNvPr id="255" name="Google Shape;255;p57"/>
          <p:cNvPicPr preferRelativeResize="0"/>
          <p:nvPr/>
        </p:nvPicPr>
        <p:blipFill rotWithShape="1">
          <a:blip r:embed="rId5">
            <a:alphaModFix/>
          </a:blip>
          <a:srcRect b="0" l="27067" r="21606" t="7990"/>
          <a:stretch/>
        </p:blipFill>
        <p:spPr>
          <a:xfrm>
            <a:off x="6984303" y="3908846"/>
            <a:ext cx="1793939" cy="18095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
          <p:cNvSpPr/>
          <p:nvPr/>
        </p:nvSpPr>
        <p:spPr>
          <a:xfrm>
            <a:off x="1340803" y="234753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261" name="Google Shape;261;p4">
            <a:hlinkClick action="ppaction://hlinksldjump" r:id="rId3"/>
          </p:cNvPr>
          <p:cNvSpPr/>
          <p:nvPr/>
        </p:nvSpPr>
        <p:spPr>
          <a:xfrm>
            <a:off x="1142976" y="234753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262" name="Google Shape;262;p4"/>
          <p:cNvSpPr/>
          <p:nvPr/>
        </p:nvSpPr>
        <p:spPr>
          <a:xfrm>
            <a:off x="1340803" y="353450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263" name="Google Shape;263;p4"/>
          <p:cNvSpPr/>
          <p:nvPr/>
        </p:nvSpPr>
        <p:spPr>
          <a:xfrm>
            <a:off x="1142976" y="353450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264" name="Google Shape;264;p4"/>
          <p:cNvSpPr/>
          <p:nvPr/>
        </p:nvSpPr>
        <p:spPr>
          <a:xfrm>
            <a:off x="1340803" y="4127988"/>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265" name="Google Shape;265;p4">
            <a:hlinkClick action="ppaction://hlinksldjump" r:id="rId4"/>
          </p:cNvPr>
          <p:cNvSpPr/>
          <p:nvPr/>
        </p:nvSpPr>
        <p:spPr>
          <a:xfrm>
            <a:off x="1142976" y="412798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266" name="Google Shape;266;p4"/>
          <p:cNvSpPr txBox="1"/>
          <p:nvPr/>
        </p:nvSpPr>
        <p:spPr>
          <a:xfrm>
            <a:off x="228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Clr>
                <a:srgbClr val="000000"/>
              </a:buClr>
              <a:buSzPts val="1845"/>
              <a:buFont typeface="Arial"/>
              <a:buNone/>
            </a:pPr>
            <a:r>
              <a:rPr b="1" i="0" lang="es-AR"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Clr>
                <a:srgbClr val="000000"/>
              </a:buClr>
              <a:buSzPts val="2954"/>
              <a:buFont typeface="Arial"/>
              <a:buNone/>
            </a:pPr>
            <a:r>
              <a:rPr b="1" i="0" lang="es-AR"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267" name="Google Shape;267;p4"/>
          <p:cNvSpPr/>
          <p:nvPr/>
        </p:nvSpPr>
        <p:spPr>
          <a:xfrm>
            <a:off x="1340803" y="1817780"/>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268" name="Google Shape;268;p4">
            <a:hlinkClick action="ppaction://hlinksldjump" r:id="rId5"/>
          </p:cNvPr>
          <p:cNvSpPr/>
          <p:nvPr/>
        </p:nvSpPr>
        <p:spPr>
          <a:xfrm>
            <a:off x="1142976" y="178482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pic>
        <p:nvPicPr>
          <p:cNvPr descr="Resultado de imagen para utn regional buenos aires ingenieria industrial" id="269" name="Google Shape;269;p4"/>
          <p:cNvPicPr preferRelativeResize="0"/>
          <p:nvPr/>
        </p:nvPicPr>
        <p:blipFill rotWithShape="1">
          <a:blip r:embed="rId6">
            <a:alphaModFix/>
          </a:blip>
          <a:srcRect b="0" l="0" r="0" t="0"/>
          <a:stretch/>
        </p:blipFill>
        <p:spPr>
          <a:xfrm>
            <a:off x="6517680" y="271096"/>
            <a:ext cx="2637692" cy="1011116"/>
          </a:xfrm>
          <a:prstGeom prst="rect">
            <a:avLst/>
          </a:prstGeom>
          <a:noFill/>
          <a:ln>
            <a:noFill/>
          </a:ln>
        </p:spPr>
      </p:pic>
      <p:sp>
        <p:nvSpPr>
          <p:cNvPr id="270" name="Google Shape;270;p4"/>
          <p:cNvSpPr/>
          <p:nvPr/>
        </p:nvSpPr>
        <p:spPr>
          <a:xfrm>
            <a:off x="342336" y="2372830"/>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lt1"/>
              </a:solidFill>
              <a:latin typeface="Arial"/>
              <a:ea typeface="Arial"/>
              <a:cs typeface="Arial"/>
              <a:sym typeface="Arial"/>
            </a:endParaRPr>
          </a:p>
        </p:txBody>
      </p:sp>
      <p:sp>
        <p:nvSpPr>
          <p:cNvPr id="271" name="Google Shape;271;p4"/>
          <p:cNvSpPr/>
          <p:nvPr/>
        </p:nvSpPr>
        <p:spPr>
          <a:xfrm>
            <a:off x="7149516" y="1795899"/>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272" name="Google Shape;272;p4"/>
          <p:cNvSpPr txBox="1"/>
          <p:nvPr/>
        </p:nvSpPr>
        <p:spPr>
          <a:xfrm>
            <a:off x="7746932" y="2385086"/>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273" name="Google Shape;273;p4"/>
          <p:cNvSpPr/>
          <p:nvPr/>
        </p:nvSpPr>
        <p:spPr>
          <a:xfrm>
            <a:off x="7149516" y="3534504"/>
            <a:ext cx="404290" cy="1673987"/>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274" name="Google Shape;274;p4"/>
          <p:cNvSpPr txBox="1"/>
          <p:nvPr/>
        </p:nvSpPr>
        <p:spPr>
          <a:xfrm>
            <a:off x="7744778" y="393022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275" name="Google Shape;275;p4"/>
          <p:cNvSpPr/>
          <p:nvPr/>
        </p:nvSpPr>
        <p:spPr>
          <a:xfrm>
            <a:off x="1340803"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276" name="Google Shape;276;p4">
            <a:hlinkClick action="ppaction://hlinksldjump" r:id="rId7"/>
          </p:cNvPr>
          <p:cNvSpPr/>
          <p:nvPr/>
        </p:nvSpPr>
        <p:spPr>
          <a:xfrm>
            <a:off x="1142976" y="294101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277" name="Google Shape;277;p4"/>
          <p:cNvSpPr/>
          <p:nvPr/>
        </p:nvSpPr>
        <p:spPr>
          <a:xfrm>
            <a:off x="1326735" y="4721472"/>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278" name="Google Shape;278;p4">
            <a:hlinkClick action="ppaction://hlinksldjump" r:id="rId8"/>
          </p:cNvPr>
          <p:cNvSpPr/>
          <p:nvPr/>
        </p:nvSpPr>
        <p:spPr>
          <a:xfrm>
            <a:off x="1128908" y="472147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61"/>
          <p:cNvSpPr/>
          <p:nvPr/>
        </p:nvSpPr>
        <p:spPr>
          <a:xfrm>
            <a:off x="674960" y="1921230"/>
            <a:ext cx="2198095" cy="1846065"/>
          </a:xfrm>
          <a:prstGeom prst="ellipse">
            <a:avLst/>
          </a:prstGeom>
          <a:solidFill>
            <a:srgbClr val="92D050"/>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Twentieth Century"/>
                <a:ea typeface="Twentieth Century"/>
                <a:cs typeface="Twentieth Century"/>
                <a:sym typeface="Twentieth Century"/>
              </a:rPr>
              <a:t>C.N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s-AR" sz="2400" u="none" cap="none" strike="noStrike">
                <a:solidFill>
                  <a:schemeClr val="lt1"/>
                </a:solidFill>
                <a:latin typeface="Twentieth Century"/>
                <a:ea typeface="Twentieth Century"/>
                <a:cs typeface="Twentieth Century"/>
                <a:sym typeface="Twentieth Century"/>
              </a:rPr>
              <a:t>ART 14 BIS</a:t>
            </a:r>
            <a:endParaRPr b="1" i="0" sz="2400" u="none" cap="none" strike="noStrike">
              <a:solidFill>
                <a:schemeClr val="lt1"/>
              </a:solidFill>
              <a:latin typeface="Twentieth Century"/>
              <a:ea typeface="Twentieth Century"/>
              <a:cs typeface="Twentieth Century"/>
              <a:sym typeface="Twentieth Century"/>
            </a:endParaRPr>
          </a:p>
        </p:txBody>
      </p:sp>
      <p:pic>
        <p:nvPicPr>
          <p:cNvPr descr="Flecha curva con línea discontinua | Icono Gratis" id="284" name="Google Shape;284;p61"/>
          <p:cNvPicPr preferRelativeResize="0"/>
          <p:nvPr/>
        </p:nvPicPr>
        <p:blipFill rotWithShape="1">
          <a:blip r:embed="rId3">
            <a:alphaModFix/>
          </a:blip>
          <a:srcRect b="0" l="0" r="0" t="0"/>
          <a:stretch/>
        </p:blipFill>
        <p:spPr>
          <a:xfrm>
            <a:off x="2494726" y="3029129"/>
            <a:ext cx="1761680" cy="1761680"/>
          </a:xfrm>
          <a:prstGeom prst="rect">
            <a:avLst/>
          </a:prstGeom>
          <a:noFill/>
          <a:ln>
            <a:noFill/>
          </a:ln>
        </p:spPr>
      </p:pic>
      <p:sp>
        <p:nvSpPr>
          <p:cNvPr id="285" name="Google Shape;285;p61"/>
          <p:cNvSpPr/>
          <p:nvPr/>
        </p:nvSpPr>
        <p:spPr>
          <a:xfrm>
            <a:off x="4026667" y="2390794"/>
            <a:ext cx="537209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Calibri"/>
                <a:ea typeface="Calibri"/>
                <a:cs typeface="Calibri"/>
                <a:sym typeface="Calibri"/>
              </a:rPr>
              <a:t>El trabajo en sus diversas formas gozará de la protección de las leyes, las que asegurarán al trabajador: </a:t>
            </a:r>
            <a:endParaRPr b="0" i="0" sz="1400" u="none" cap="none" strike="noStrike">
              <a:solidFill>
                <a:srgbClr val="000000"/>
              </a:solidFill>
              <a:latin typeface="Arial"/>
              <a:ea typeface="Arial"/>
              <a:cs typeface="Arial"/>
              <a:sym typeface="Arial"/>
            </a:endParaRPr>
          </a:p>
        </p:txBody>
      </p:sp>
      <p:sp>
        <p:nvSpPr>
          <p:cNvPr id="286" name="Google Shape;286;p61"/>
          <p:cNvSpPr txBox="1"/>
          <p:nvPr/>
        </p:nvSpPr>
        <p:spPr>
          <a:xfrm>
            <a:off x="4572000" y="3999411"/>
            <a:ext cx="457199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Condiciones dignas y equitativas de labor; jornada limitada; descanso y vacaciones pagados; retribución justa; salario mínimo vital y móvil; igual remuneración por igual tarea.</a:t>
            </a:r>
            <a:endParaRPr b="0" i="0" sz="1400" u="none" cap="none" strike="noStrike">
              <a:solidFill>
                <a:srgbClr val="000000"/>
              </a:solidFill>
              <a:latin typeface="Arial"/>
              <a:ea typeface="Arial"/>
              <a:cs typeface="Arial"/>
              <a:sym typeface="Arial"/>
            </a:endParaRPr>
          </a:p>
        </p:txBody>
      </p:sp>
      <p:sp>
        <p:nvSpPr>
          <p:cNvPr id="287" name="Google Shape;287;p61"/>
          <p:cNvSpPr txBox="1"/>
          <p:nvPr/>
        </p:nvSpPr>
        <p:spPr>
          <a:xfrm>
            <a:off x="4572000" y="3592000"/>
            <a:ext cx="2002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INDIVIDUAL</a:t>
            </a:r>
            <a:endParaRPr b="1" i="0" sz="1800" u="none" cap="none" strike="noStrike">
              <a:solidFill>
                <a:schemeClr val="dk1"/>
              </a:solidFill>
              <a:latin typeface="Twentieth Century"/>
              <a:ea typeface="Twentieth Century"/>
              <a:cs typeface="Twentieth Century"/>
              <a:sym typeface="Twentieth Century"/>
            </a:endParaRPr>
          </a:p>
        </p:txBody>
      </p:sp>
      <p:sp>
        <p:nvSpPr>
          <p:cNvPr id="288" name="Google Shape;288;p61"/>
          <p:cNvSpPr txBox="1"/>
          <p:nvPr/>
        </p:nvSpPr>
        <p:spPr>
          <a:xfrm>
            <a:off x="689639" y="4936770"/>
            <a:ext cx="2890157"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SEGURIDAD SOCIAL</a:t>
            </a:r>
            <a:endParaRPr b="1" i="0" sz="1800" u="none" cap="none" strike="noStrike">
              <a:solidFill>
                <a:schemeClr val="dk1"/>
              </a:solidFill>
              <a:latin typeface="Twentieth Century"/>
              <a:ea typeface="Twentieth Century"/>
              <a:cs typeface="Twentieth Century"/>
              <a:sym typeface="Twentieth Century"/>
            </a:endParaRPr>
          </a:p>
        </p:txBody>
      </p:sp>
      <p:sp>
        <p:nvSpPr>
          <p:cNvPr id="289" name="Google Shape;289;p61"/>
          <p:cNvSpPr txBox="1"/>
          <p:nvPr/>
        </p:nvSpPr>
        <p:spPr>
          <a:xfrm>
            <a:off x="4572000" y="5114099"/>
            <a:ext cx="155173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000"/>
              <a:buFont typeface="Quattrocento Sans"/>
              <a:buNone/>
            </a:pPr>
            <a:r>
              <a:rPr b="1" i="0" lang="es-AR" sz="2000" u="none" cap="none" strike="noStrike">
                <a:solidFill>
                  <a:srgbClr val="404040"/>
                </a:solidFill>
                <a:latin typeface="Quattrocento Sans"/>
                <a:ea typeface="Quattrocento Sans"/>
                <a:cs typeface="Quattrocento Sans"/>
                <a:sym typeface="Quattrocento Sans"/>
              </a:rPr>
              <a:t>COLECTIVO</a:t>
            </a:r>
            <a:endParaRPr b="1" i="0" sz="1800" u="none" cap="none" strike="noStrike">
              <a:solidFill>
                <a:schemeClr val="dk1"/>
              </a:solidFill>
              <a:latin typeface="Twentieth Century"/>
              <a:ea typeface="Twentieth Century"/>
              <a:cs typeface="Twentieth Century"/>
              <a:sym typeface="Twentieth Century"/>
            </a:endParaRPr>
          </a:p>
        </p:txBody>
      </p:sp>
      <p:sp>
        <p:nvSpPr>
          <p:cNvPr id="290" name="Google Shape;290;p61"/>
          <p:cNvSpPr txBox="1"/>
          <p:nvPr/>
        </p:nvSpPr>
        <p:spPr>
          <a:xfrm>
            <a:off x="4572000" y="5495661"/>
            <a:ext cx="407781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Queda garantizado a los gremios: concertar convenios colectivos de trabajo; recurrir a la conciliación y al arbitraje; el derecho de huelga. </a:t>
            </a:r>
            <a:endParaRPr b="0" i="0" sz="1400" u="none" cap="none" strike="noStrike">
              <a:solidFill>
                <a:srgbClr val="000000"/>
              </a:solidFill>
              <a:latin typeface="Arial"/>
              <a:ea typeface="Arial"/>
              <a:cs typeface="Arial"/>
              <a:sym typeface="Arial"/>
            </a:endParaRPr>
          </a:p>
        </p:txBody>
      </p:sp>
      <p:pic>
        <p:nvPicPr>
          <p:cNvPr id="291" name="Google Shape;291;p61"/>
          <p:cNvPicPr preferRelativeResize="0"/>
          <p:nvPr/>
        </p:nvPicPr>
        <p:blipFill rotWithShape="1">
          <a:blip r:embed="rId4">
            <a:alphaModFix/>
          </a:blip>
          <a:srcRect b="0" l="0" r="0" t="0"/>
          <a:stretch/>
        </p:blipFill>
        <p:spPr>
          <a:xfrm>
            <a:off x="4882242" y="1490243"/>
            <a:ext cx="3148427" cy="923669"/>
          </a:xfrm>
          <a:prstGeom prst="rect">
            <a:avLst/>
          </a:prstGeom>
          <a:noFill/>
          <a:ln>
            <a:noFill/>
          </a:ln>
        </p:spPr>
      </p:pic>
      <p:pic>
        <p:nvPicPr>
          <p:cNvPr id="292" name="Google Shape;292;p61"/>
          <p:cNvPicPr preferRelativeResize="0"/>
          <p:nvPr/>
        </p:nvPicPr>
        <p:blipFill rotWithShape="1">
          <a:blip r:embed="rId5">
            <a:alphaModFix/>
          </a:blip>
          <a:srcRect b="0" l="0" r="0" t="0"/>
          <a:stretch/>
        </p:blipFill>
        <p:spPr>
          <a:xfrm>
            <a:off x="6941525" y="53232"/>
            <a:ext cx="2002204" cy="729775"/>
          </a:xfrm>
          <a:prstGeom prst="rect">
            <a:avLst/>
          </a:prstGeom>
          <a:noFill/>
          <a:ln>
            <a:noFill/>
          </a:ln>
        </p:spPr>
      </p:pic>
      <p:sp>
        <p:nvSpPr>
          <p:cNvPr id="293" name="Google Shape;293;p61"/>
          <p:cNvSpPr txBox="1"/>
          <p:nvPr/>
        </p:nvSpPr>
        <p:spPr>
          <a:xfrm>
            <a:off x="466148" y="836567"/>
            <a:ext cx="8378700" cy="585000"/>
          </a:xfrm>
          <a:prstGeom prst="rect">
            <a:avLst/>
          </a:prstGeom>
          <a:solidFill>
            <a:srgbClr val="E4E45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El </a:t>
            </a:r>
            <a:r>
              <a:rPr lang="es-AR" sz="1600">
                <a:solidFill>
                  <a:schemeClr val="dk1"/>
                </a:solidFill>
                <a:latin typeface="Calibri"/>
                <a:ea typeface="Calibri"/>
                <a:cs typeface="Calibri"/>
                <a:sym typeface="Calibri"/>
              </a:rPr>
              <a:t>artículo</a:t>
            </a:r>
            <a:r>
              <a:rPr b="0" i="0" lang="es-AR" sz="1600" u="none" cap="none" strike="noStrike">
                <a:solidFill>
                  <a:schemeClr val="dk1"/>
                </a:solidFill>
                <a:latin typeface="Calibri"/>
                <a:ea typeface="Calibri"/>
                <a:cs typeface="Calibri"/>
                <a:sym typeface="Calibri"/>
              </a:rPr>
              <a:t> 14 bis busca remediar las desigualdades sociales estableciendo garantías mínimas para el trabajo fundadas en principios de solidaridad, cooperación y justicia.</a:t>
            </a:r>
            <a:endParaRPr b="0" i="0" sz="1600" u="none" cap="none" strike="noStrike">
              <a:solidFill>
                <a:schemeClr val="dk1"/>
              </a:solidFill>
              <a:latin typeface="Calibri"/>
              <a:ea typeface="Calibri"/>
              <a:cs typeface="Calibri"/>
              <a:sym typeface="Calibri"/>
            </a:endParaRPr>
          </a:p>
        </p:txBody>
      </p:sp>
      <p:sp>
        <p:nvSpPr>
          <p:cNvPr id="294" name="Google Shape;294;p61"/>
          <p:cNvSpPr txBox="1"/>
          <p:nvPr/>
        </p:nvSpPr>
        <p:spPr>
          <a:xfrm>
            <a:off x="774385" y="5404991"/>
            <a:ext cx="289015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El Estado otorgará los beneficios de la seguridad social, que tendrá carácter de integral e irrenunciable.</a:t>
            </a:r>
            <a:endParaRPr b="0" i="0" sz="1400" u="none" cap="none" strike="noStrike">
              <a:solidFill>
                <a:srgbClr val="000000"/>
              </a:solidFill>
              <a:latin typeface="Arial"/>
              <a:ea typeface="Arial"/>
              <a:cs typeface="Arial"/>
              <a:sym typeface="Arial"/>
            </a:endParaRPr>
          </a:p>
        </p:txBody>
      </p:sp>
      <p:pic>
        <p:nvPicPr>
          <p:cNvPr descr="Flecha girada derecha con línea discontinua | Icono Gratis" id="295" name="Google Shape;295;p61"/>
          <p:cNvPicPr preferRelativeResize="0"/>
          <p:nvPr/>
        </p:nvPicPr>
        <p:blipFill rotWithShape="1">
          <a:blip r:embed="rId6">
            <a:alphaModFix/>
          </a:blip>
          <a:srcRect b="0" l="0" r="0" t="0"/>
          <a:stretch/>
        </p:blipFill>
        <p:spPr>
          <a:xfrm rot="4738735">
            <a:off x="600162" y="3235417"/>
            <a:ext cx="1551738" cy="1551738"/>
          </a:xfrm>
          <a:prstGeom prst="rect">
            <a:avLst/>
          </a:prstGeom>
          <a:noFill/>
          <a:ln>
            <a:noFill/>
          </a:ln>
        </p:spPr>
      </p:pic>
      <p:sp>
        <p:nvSpPr>
          <p:cNvPr id="296" name="Google Shape;296;p61"/>
          <p:cNvSpPr txBox="1"/>
          <p:nvPr/>
        </p:nvSpPr>
        <p:spPr>
          <a:xfrm>
            <a:off x="102910" y="-278674"/>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Marco legal general</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9"/>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Ley de Contrato de Trabajo</a:t>
            </a:r>
            <a:endParaRPr b="0" i="0" sz="1800" u="none" cap="none" strike="noStrike">
              <a:solidFill>
                <a:schemeClr val="dk1"/>
              </a:solidFill>
              <a:latin typeface="Twentieth Century"/>
              <a:ea typeface="Twentieth Century"/>
              <a:cs typeface="Twentieth Century"/>
              <a:sym typeface="Twentieth Century"/>
            </a:endParaRPr>
          </a:p>
        </p:txBody>
      </p:sp>
      <p:sp>
        <p:nvSpPr>
          <p:cNvPr id="302" name="Google Shape;302;p9"/>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303" name="Google Shape;303;p9"/>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304" name="Google Shape;304;p9"/>
          <p:cNvSpPr txBox="1"/>
          <p:nvPr/>
        </p:nvSpPr>
        <p:spPr>
          <a:xfrm>
            <a:off x="1592036" y="1322642"/>
            <a:ext cx="5959927" cy="461665"/>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Arial Black"/>
                <a:ea typeface="Arial Black"/>
                <a:cs typeface="Arial Black"/>
                <a:sym typeface="Arial Black"/>
              </a:rPr>
              <a:t>¿Qué es el contrato de trabajo?</a:t>
            </a:r>
            <a:endParaRPr b="0" i="0" sz="2400" u="none" cap="none" strike="noStrike">
              <a:solidFill>
                <a:schemeClr val="dk1"/>
              </a:solidFill>
              <a:latin typeface="Arial Black"/>
              <a:ea typeface="Arial Black"/>
              <a:cs typeface="Arial Black"/>
              <a:sym typeface="Arial Black"/>
            </a:endParaRPr>
          </a:p>
        </p:txBody>
      </p:sp>
      <p:sp>
        <p:nvSpPr>
          <p:cNvPr id="305" name="Google Shape;305;p9"/>
          <p:cNvSpPr/>
          <p:nvPr/>
        </p:nvSpPr>
        <p:spPr>
          <a:xfrm rot="5400000">
            <a:off x="2663783" y="1888168"/>
            <a:ext cx="957791" cy="1248661"/>
          </a:xfrm>
          <a:prstGeom prst="stripedRightArrow">
            <a:avLst>
              <a:gd fmla="val 50000" name="adj1"/>
              <a:gd fmla="val 50000" name="adj2"/>
            </a:avLst>
          </a:prstGeom>
          <a:solidFill>
            <a:schemeClr val="lt1"/>
          </a:solidFill>
          <a:ln cap="flat"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06" name="Google Shape;306;p9"/>
          <p:cNvSpPr txBox="1"/>
          <p:nvPr/>
        </p:nvSpPr>
        <p:spPr>
          <a:xfrm>
            <a:off x="553992" y="3266450"/>
            <a:ext cx="835541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Calibri"/>
                <a:ea typeface="Calibri"/>
                <a:cs typeface="Calibri"/>
                <a:sym typeface="Calibri"/>
              </a:rPr>
              <a:t>Es un </a:t>
            </a:r>
            <a:r>
              <a:rPr b="1" i="0" lang="es-AR" sz="1800" u="sng" cap="none" strike="noStrike">
                <a:solidFill>
                  <a:schemeClr val="dk1"/>
                </a:solidFill>
                <a:latin typeface="Calibri"/>
                <a:ea typeface="Calibri"/>
                <a:cs typeface="Calibri"/>
                <a:sym typeface="Calibri"/>
              </a:rPr>
              <a:t>acuerdo</a:t>
            </a:r>
            <a:r>
              <a:rPr b="0" i="0" lang="es-AR" sz="1800" u="none" cap="none" strike="noStrike">
                <a:solidFill>
                  <a:schemeClr val="dk1"/>
                </a:solidFill>
                <a:latin typeface="Calibri"/>
                <a:ea typeface="Calibri"/>
                <a:cs typeface="Calibri"/>
                <a:sym typeface="Calibri"/>
              </a:rPr>
              <a:t> por el cual una persona física se compromete a realizar actos, ejecutar obras o prestar servicio a favor de otra y </a:t>
            </a:r>
            <a:r>
              <a:rPr b="1" i="0" lang="es-AR" sz="1800" u="none" cap="none" strike="noStrike">
                <a:solidFill>
                  <a:schemeClr val="dk1"/>
                </a:solidFill>
                <a:latin typeface="Calibri"/>
                <a:ea typeface="Calibri"/>
                <a:cs typeface="Calibri"/>
                <a:sym typeface="Calibri"/>
              </a:rPr>
              <a:t>bajo la dependencia </a:t>
            </a:r>
            <a:r>
              <a:rPr b="0" i="0" lang="es-AR" sz="1800" u="none" cap="none" strike="noStrike">
                <a:solidFill>
                  <a:schemeClr val="dk1"/>
                </a:solidFill>
                <a:latin typeface="Calibri"/>
                <a:ea typeface="Calibri"/>
                <a:cs typeface="Calibri"/>
                <a:sym typeface="Calibri"/>
              </a:rPr>
              <a:t>de esta y por un </a:t>
            </a:r>
            <a:r>
              <a:rPr b="1" i="0" lang="es-AR" sz="1800" u="none" cap="none" strike="noStrike">
                <a:solidFill>
                  <a:schemeClr val="dk1"/>
                </a:solidFill>
                <a:latin typeface="Calibri"/>
                <a:ea typeface="Calibri"/>
                <a:cs typeface="Calibri"/>
                <a:sym typeface="Calibri"/>
              </a:rPr>
              <a:t>período determinado o indeterminado de tiempo</a:t>
            </a:r>
            <a:r>
              <a:rPr b="0" i="0" lang="es-AR" sz="1800" u="none" cap="none" strike="noStrike">
                <a:solidFill>
                  <a:schemeClr val="dk1"/>
                </a:solidFill>
                <a:latin typeface="Calibri"/>
                <a:ea typeface="Calibri"/>
                <a:cs typeface="Calibri"/>
                <a:sym typeface="Calibri"/>
              </a:rPr>
              <a:t>, mediante el pago de una </a:t>
            </a:r>
            <a:r>
              <a:rPr b="1" i="0" lang="es-AR" sz="1800" u="none" cap="none" strike="noStrike">
                <a:solidFill>
                  <a:schemeClr val="dk1"/>
                </a:solidFill>
                <a:latin typeface="Calibri"/>
                <a:ea typeface="Calibri"/>
                <a:cs typeface="Calibri"/>
                <a:sym typeface="Calibri"/>
              </a:rPr>
              <a:t>remuneración.</a:t>
            </a:r>
            <a:endParaRPr b="0" i="0" sz="1800" u="none" cap="none" strike="noStrike">
              <a:solidFill>
                <a:schemeClr val="dk1"/>
              </a:solidFill>
              <a:latin typeface="Twentieth Century"/>
              <a:ea typeface="Twentieth Century"/>
              <a:cs typeface="Twentieth Century"/>
              <a:sym typeface="Twentieth Century"/>
            </a:endParaRPr>
          </a:p>
        </p:txBody>
      </p:sp>
      <p:pic>
        <p:nvPicPr>
          <p:cNvPr id="307" name="Google Shape;307;p9"/>
          <p:cNvPicPr preferRelativeResize="0"/>
          <p:nvPr/>
        </p:nvPicPr>
        <p:blipFill rotWithShape="1">
          <a:blip r:embed="rId4">
            <a:alphaModFix/>
          </a:blip>
          <a:srcRect b="0" l="0" r="0" t="0"/>
          <a:stretch/>
        </p:blipFill>
        <p:spPr>
          <a:xfrm>
            <a:off x="1322614" y="4536746"/>
            <a:ext cx="2691447" cy="1795537"/>
          </a:xfrm>
          <a:prstGeom prst="rect">
            <a:avLst/>
          </a:prstGeom>
          <a:noFill/>
          <a:ln>
            <a:noFill/>
          </a:ln>
        </p:spPr>
      </p:pic>
      <p:sp>
        <p:nvSpPr>
          <p:cNvPr id="308" name="Google Shape;308;p9"/>
          <p:cNvSpPr txBox="1"/>
          <p:nvPr/>
        </p:nvSpPr>
        <p:spPr>
          <a:xfrm>
            <a:off x="4545608" y="4843044"/>
            <a:ext cx="4337403" cy="923289"/>
          </a:xfrm>
          <a:prstGeom prst="rect">
            <a:avLst/>
          </a:prstGeom>
          <a:solidFill>
            <a:srgbClr val="D3EB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Los sujetos del contrato son: el EMPLEADOR y por la otra parte el TRABAJADOR DEPENDIENTE</a:t>
            </a:r>
            <a:endParaRPr b="0" i="0" sz="1400" u="none" cap="none" strike="noStrike">
              <a:solidFill>
                <a:srgbClr val="000000"/>
              </a:solidFill>
              <a:latin typeface="Arial"/>
              <a:ea typeface="Arial"/>
              <a:cs typeface="Arial"/>
              <a:sym typeface="Arial"/>
            </a:endParaRPr>
          </a:p>
        </p:txBody>
      </p:sp>
      <p:pic>
        <p:nvPicPr>
          <p:cNvPr descr="Flecha girada derecha con línea discontinua | Icono Gratis" id="309" name="Google Shape;309;p9"/>
          <p:cNvPicPr preferRelativeResize="0"/>
          <p:nvPr/>
        </p:nvPicPr>
        <p:blipFill rotWithShape="1">
          <a:blip r:embed="rId5">
            <a:alphaModFix/>
          </a:blip>
          <a:srcRect b="0" l="0" r="0" t="0"/>
          <a:stretch/>
        </p:blipFill>
        <p:spPr>
          <a:xfrm rot="-2049290">
            <a:off x="5448451" y="1932242"/>
            <a:ext cx="1374574" cy="1374574"/>
          </a:xfrm>
          <a:prstGeom prst="rect">
            <a:avLst/>
          </a:prstGeom>
          <a:noFill/>
          <a:ln>
            <a:noFill/>
          </a:ln>
        </p:spPr>
      </p:pic>
      <p:sp>
        <p:nvSpPr>
          <p:cNvPr id="310" name="Google Shape;310;p9"/>
          <p:cNvSpPr/>
          <p:nvPr/>
        </p:nvSpPr>
        <p:spPr>
          <a:xfrm>
            <a:off x="7090348" y="2015282"/>
            <a:ext cx="1759738" cy="863808"/>
          </a:xfrm>
          <a:prstGeom prst="roundRect">
            <a:avLst>
              <a:gd fmla="val 16667" name="adj"/>
            </a:avLst>
          </a:prstGeom>
          <a:solidFill>
            <a:schemeClr val="accent4"/>
          </a:solidFill>
          <a:ln cap="flat" cmpd="sng" w="15875">
            <a:solidFill>
              <a:srgbClr val="3087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Twentieth Century"/>
                <a:ea typeface="Twentieth Century"/>
                <a:cs typeface="Twentieth Century"/>
                <a:sym typeface="Twentieth Century"/>
              </a:rPr>
              <a:t>SE RIGE POR LA LCT</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2"/>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Ley de Contrato de Trabajo</a:t>
            </a:r>
            <a:endParaRPr b="0" i="0" sz="1800" u="none" cap="none" strike="noStrike">
              <a:solidFill>
                <a:schemeClr val="dk1"/>
              </a:solidFill>
              <a:latin typeface="Twentieth Century"/>
              <a:ea typeface="Twentieth Century"/>
              <a:cs typeface="Twentieth Century"/>
              <a:sym typeface="Twentieth Century"/>
            </a:endParaRPr>
          </a:p>
        </p:txBody>
      </p:sp>
      <p:sp>
        <p:nvSpPr>
          <p:cNvPr id="317" name="Google Shape;317;p12"/>
          <p:cNvSpPr txBox="1"/>
          <p:nvPr/>
        </p:nvSpPr>
        <p:spPr>
          <a:xfrm>
            <a:off x="2368396" y="1376271"/>
            <a:ext cx="4552371" cy="978689"/>
          </a:xfrm>
          <a:prstGeom prst="rect">
            <a:avLst/>
          </a:prstGeom>
          <a:solidFill>
            <a:srgbClr val="D8D8D8"/>
          </a:solidFill>
          <a:ln cap="flat" cmpd="sng" w="952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Clr>
                <a:schemeClr val="dk1"/>
              </a:buClr>
              <a:buSzPts val="2400"/>
              <a:buFont typeface="Calibri"/>
              <a:buNone/>
            </a:pPr>
            <a:r>
              <a:rPr b="0" i="0" lang="es-AR" sz="2400" u="none" cap="none" strike="noStrike">
                <a:solidFill>
                  <a:schemeClr val="dk1"/>
                </a:solidFill>
                <a:latin typeface="Calibri"/>
                <a:ea typeface="Calibri"/>
                <a:cs typeface="Calibri"/>
                <a:sym typeface="Calibri"/>
              </a:rPr>
              <a:t>CARACTERISTICAS DEL CONTRATO DE TRABAJO</a:t>
            </a:r>
            <a:endParaRPr b="0" i="0" sz="2400" u="none" cap="none" strike="noStrike">
              <a:solidFill>
                <a:schemeClr val="dk1"/>
              </a:solidFill>
              <a:latin typeface="Calibri"/>
              <a:ea typeface="Calibri"/>
              <a:cs typeface="Calibri"/>
              <a:sym typeface="Calibri"/>
            </a:endParaRPr>
          </a:p>
        </p:txBody>
      </p:sp>
      <p:sp>
        <p:nvSpPr>
          <p:cNvPr id="318" name="Google Shape;318;p12"/>
          <p:cNvSpPr txBox="1"/>
          <p:nvPr/>
        </p:nvSpPr>
        <p:spPr>
          <a:xfrm>
            <a:off x="2368395" y="2315290"/>
            <a:ext cx="4552371" cy="215439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Twentieth Century"/>
              <a:buAutoNum type="arabicPeriod"/>
            </a:pPr>
            <a:r>
              <a:rPr b="1" i="0" lang="es-AR" sz="2400" u="none" cap="none" strike="noStrike">
                <a:solidFill>
                  <a:schemeClr val="dk1"/>
                </a:solidFill>
                <a:latin typeface="Calibri"/>
                <a:ea typeface="Calibri"/>
                <a:cs typeface="Calibri"/>
                <a:sym typeface="Calibri"/>
              </a:rPr>
              <a:t>Consensual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Twentieth Century"/>
              <a:buAutoNum type="arabicPeriod"/>
            </a:pPr>
            <a:r>
              <a:rPr b="1" i="0" lang="es-AR" sz="2400" u="none" cap="none" strike="noStrike">
                <a:solidFill>
                  <a:schemeClr val="dk1"/>
                </a:solidFill>
                <a:latin typeface="Calibri"/>
                <a:ea typeface="Calibri"/>
                <a:cs typeface="Calibri"/>
                <a:sym typeface="Calibri"/>
              </a:rPr>
              <a:t>Bilateral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Twentieth Century"/>
              <a:buAutoNum type="arabicPeriod"/>
            </a:pPr>
            <a:r>
              <a:rPr b="1" i="0" lang="es-AR" sz="2400" u="none" cap="none" strike="noStrike">
                <a:solidFill>
                  <a:schemeClr val="dk1"/>
                </a:solidFill>
                <a:latin typeface="Calibri"/>
                <a:ea typeface="Calibri"/>
                <a:cs typeface="Calibri"/>
                <a:sym typeface="Calibri"/>
              </a:rPr>
              <a:t>Oneroso</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333333"/>
              </a:buClr>
              <a:buSzPts val="2400"/>
              <a:buFont typeface="Twentieth Century"/>
              <a:buAutoNum type="arabicPeriod"/>
            </a:pPr>
            <a:r>
              <a:rPr b="1" i="0" lang="es-AR" sz="2400" u="none" cap="none" strike="noStrike">
                <a:solidFill>
                  <a:srgbClr val="333333"/>
                </a:solidFill>
                <a:latin typeface="Calibri"/>
                <a:ea typeface="Calibri"/>
                <a:cs typeface="Calibri"/>
                <a:sym typeface="Calibri"/>
              </a:rPr>
              <a:t>Personal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Twentieth Century"/>
              <a:buAutoNum type="arabicPeriod"/>
            </a:pPr>
            <a:r>
              <a:rPr b="1" i="0" lang="es-AR" sz="2400" u="none" cap="none" strike="noStrike">
                <a:solidFill>
                  <a:schemeClr val="dk1"/>
                </a:solidFill>
                <a:latin typeface="Calibri"/>
                <a:ea typeface="Calibri"/>
                <a:cs typeface="Calibri"/>
                <a:sym typeface="Calibri"/>
              </a:rPr>
              <a:t>Dependiente</a:t>
            </a:r>
            <a:endParaRPr b="0" i="0" sz="1400" u="none" cap="none" strike="noStrike">
              <a:solidFill>
                <a:srgbClr val="000000"/>
              </a:solidFill>
              <a:latin typeface="Arial"/>
              <a:ea typeface="Arial"/>
              <a:cs typeface="Arial"/>
              <a:sym typeface="Arial"/>
            </a:endParaRPr>
          </a:p>
        </p:txBody>
      </p:sp>
      <p:pic>
        <p:nvPicPr>
          <p:cNvPr descr="Image result for utn frba" id="319" name="Google Shape;319;p12"/>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320" name="Google Shape;320;p12"/>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321" name="Google Shape;321;p12"/>
          <p:cNvSpPr txBox="1"/>
          <p:nvPr/>
        </p:nvSpPr>
        <p:spPr>
          <a:xfrm>
            <a:off x="1508790" y="5020064"/>
            <a:ext cx="7283518" cy="923330"/>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Hay </a:t>
            </a:r>
            <a:r>
              <a:rPr b="1" i="0" lang="es-AR" sz="1800" u="none" cap="none" strike="noStrike">
                <a:solidFill>
                  <a:schemeClr val="dk1"/>
                </a:solidFill>
                <a:latin typeface="Twentieth Century"/>
                <a:ea typeface="Twentieth Century"/>
                <a:cs typeface="Twentieth Century"/>
                <a:sym typeface="Twentieth Century"/>
              </a:rPr>
              <a:t>relación laboral </a:t>
            </a:r>
            <a:r>
              <a:rPr b="0" i="0" lang="es-AR" sz="1800" u="none" cap="none" strike="noStrike">
                <a:solidFill>
                  <a:schemeClr val="dk1"/>
                </a:solidFill>
                <a:latin typeface="Twentieth Century"/>
                <a:ea typeface="Twentieth Century"/>
                <a:cs typeface="Twentieth Century"/>
                <a:sym typeface="Twentieth Century"/>
              </a:rPr>
              <a:t>cuando una persona en forma voluntaria y personal desarrolla tareas para otra persona física o empresa, bajo su dependencia, recibiendo una remuneración a cambio.</a:t>
            </a:r>
            <a:endParaRPr b="0" i="0" sz="1400" u="none" cap="none" strike="noStrike">
              <a:solidFill>
                <a:srgbClr val="000000"/>
              </a:solidFill>
              <a:latin typeface="Arial"/>
              <a:ea typeface="Arial"/>
              <a:cs typeface="Arial"/>
              <a:sym typeface="Arial"/>
            </a:endParaRPr>
          </a:p>
        </p:txBody>
      </p:sp>
      <p:pic>
        <p:nvPicPr>
          <p:cNvPr id="322" name="Google Shape;322;p12"/>
          <p:cNvPicPr preferRelativeResize="0"/>
          <p:nvPr/>
        </p:nvPicPr>
        <p:blipFill rotWithShape="1">
          <a:blip r:embed="rId4">
            <a:alphaModFix/>
          </a:blip>
          <a:srcRect b="12964" l="4623" r="5081" t="6677"/>
          <a:stretch/>
        </p:blipFill>
        <p:spPr>
          <a:xfrm>
            <a:off x="610941" y="5020064"/>
            <a:ext cx="924435" cy="8227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0"/>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Ley de Contrato de Trabajo</a:t>
            </a:r>
            <a:endParaRPr b="0" i="0" sz="1800" u="none" cap="none" strike="noStrike">
              <a:solidFill>
                <a:schemeClr val="dk1"/>
              </a:solidFill>
              <a:latin typeface="Twentieth Century"/>
              <a:ea typeface="Twentieth Century"/>
              <a:cs typeface="Twentieth Century"/>
              <a:sym typeface="Twentieth Century"/>
            </a:endParaRPr>
          </a:p>
        </p:txBody>
      </p:sp>
      <p:sp>
        <p:nvSpPr>
          <p:cNvPr id="329" name="Google Shape;329;p10"/>
          <p:cNvSpPr/>
          <p:nvPr/>
        </p:nvSpPr>
        <p:spPr>
          <a:xfrm>
            <a:off x="2050205" y="1612115"/>
            <a:ext cx="5192452" cy="368550"/>
          </a:xfrm>
          <a:prstGeom prst="roundRect">
            <a:avLst>
              <a:gd fmla="val 16667" name="adj"/>
            </a:avLst>
          </a:prstGeom>
          <a:solidFill>
            <a:schemeClr val="lt1"/>
          </a:solidFill>
          <a:ln cap="flat" cmpd="sng" w="158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161D"/>
              </a:buClr>
              <a:buSzPts val="2000"/>
              <a:buFont typeface="Calibri"/>
              <a:buNone/>
            </a:pPr>
            <a:r>
              <a:rPr b="1" i="0" lang="es-AR" sz="2000" u="none" cap="none" strike="noStrike">
                <a:solidFill>
                  <a:srgbClr val="0C161D"/>
                </a:solidFill>
                <a:latin typeface="Calibri"/>
                <a:ea typeface="Calibri"/>
                <a:cs typeface="Calibri"/>
                <a:sym typeface="Calibri"/>
              </a:rPr>
              <a:t>      De los Derechos y Deberes de las partes </a:t>
            </a:r>
            <a:endParaRPr b="1" i="0" sz="2000" u="none" cap="none" strike="noStrike">
              <a:solidFill>
                <a:srgbClr val="0C161D"/>
              </a:solidFill>
              <a:latin typeface="Calibri"/>
              <a:ea typeface="Calibri"/>
              <a:cs typeface="Calibri"/>
              <a:sym typeface="Calibri"/>
            </a:endParaRPr>
          </a:p>
        </p:txBody>
      </p:sp>
      <p:sp>
        <p:nvSpPr>
          <p:cNvPr id="330" name="Google Shape;330;p10"/>
          <p:cNvSpPr/>
          <p:nvPr/>
        </p:nvSpPr>
        <p:spPr>
          <a:xfrm>
            <a:off x="1149151" y="2229083"/>
            <a:ext cx="7694553" cy="4022943"/>
          </a:xfrm>
          <a:prstGeom prst="rect">
            <a:avLst/>
          </a:prstGeom>
          <a:gradFill>
            <a:gsLst>
              <a:gs pos="0">
                <a:srgbClr val="7EC8AE"/>
              </a:gs>
              <a:gs pos="100000">
                <a:srgbClr val="A0E2C9"/>
              </a:gs>
            </a:gsLst>
            <a:path path="circle">
              <a:fillToRect b="50%" l="50%" r="50%" t="50%"/>
            </a:path>
            <a:tileRect/>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 </a:t>
            </a:r>
            <a:endParaRPr b="0" i="0" sz="1800" u="none" cap="none" strike="noStrike">
              <a:solidFill>
                <a:schemeClr val="dk1"/>
              </a:solidFill>
              <a:latin typeface="Twentieth Century"/>
              <a:ea typeface="Twentieth Century"/>
              <a:cs typeface="Twentieth Century"/>
              <a:sym typeface="Twentieth Century"/>
            </a:endParaRPr>
          </a:p>
        </p:txBody>
      </p:sp>
      <p:sp>
        <p:nvSpPr>
          <p:cNvPr id="331" name="Google Shape;331;p10"/>
          <p:cNvSpPr txBox="1"/>
          <p:nvPr/>
        </p:nvSpPr>
        <p:spPr>
          <a:xfrm rot="-5400000">
            <a:off x="-1171884" y="3930991"/>
            <a:ext cx="4022950" cy="619120"/>
          </a:xfrm>
          <a:prstGeom prst="rect">
            <a:avLst/>
          </a:prstGeom>
          <a:solidFill>
            <a:schemeClr val="accent6"/>
          </a:solidFill>
          <a:ln cap="flat" cmpd="sng" w="15875">
            <a:solidFill>
              <a:srgbClr val="47767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00000"/>
              </a:lnSpc>
              <a:spcBef>
                <a:spcPts val="0"/>
              </a:spcBef>
              <a:spcAft>
                <a:spcPts val="0"/>
              </a:spcAft>
              <a:buClr>
                <a:schemeClr val="dk1"/>
              </a:buClr>
              <a:buSzPts val="1400"/>
              <a:buFont typeface="Twentieth Century"/>
              <a:buNone/>
            </a:pPr>
            <a:r>
              <a:t/>
            </a:r>
            <a:endParaRPr b="1" i="0" sz="1400" u="none" cap="none" strike="noStrike">
              <a:solidFill>
                <a:schemeClr val="lt1"/>
              </a:solidFill>
              <a:latin typeface="Calibri"/>
              <a:ea typeface="Calibri"/>
              <a:cs typeface="Calibri"/>
              <a:sym typeface="Calibri"/>
            </a:endParaRPr>
          </a:p>
        </p:txBody>
      </p:sp>
      <p:sp>
        <p:nvSpPr>
          <p:cNvPr id="332" name="Google Shape;332;p10"/>
          <p:cNvSpPr/>
          <p:nvPr/>
        </p:nvSpPr>
        <p:spPr>
          <a:xfrm>
            <a:off x="1258992" y="2296631"/>
            <a:ext cx="3657600" cy="3810326"/>
          </a:xfrm>
          <a:prstGeom prst="roundRect">
            <a:avLst>
              <a:gd fmla="val 16667" name="adj"/>
            </a:avLst>
          </a:prstGeom>
          <a:solidFill>
            <a:schemeClr val="lt1"/>
          </a:solidFill>
          <a:ln cap="flat" cmpd="sng" w="190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333" name="Google Shape;333;p10"/>
          <p:cNvSpPr txBox="1"/>
          <p:nvPr/>
        </p:nvSpPr>
        <p:spPr>
          <a:xfrm>
            <a:off x="1531027" y="2632184"/>
            <a:ext cx="3252564" cy="252992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F3F3F"/>
              </a:buClr>
              <a:buSzPts val="1800"/>
              <a:buFont typeface="Calibri"/>
              <a:buNone/>
            </a:pPr>
            <a:r>
              <a:rPr b="1" i="0" lang="es-AR" sz="1800" u="none" cap="none" strike="noStrike">
                <a:solidFill>
                  <a:srgbClr val="3F3F3F"/>
                </a:solidFill>
                <a:latin typeface="Calibri"/>
                <a:ea typeface="Calibri"/>
                <a:cs typeface="Calibri"/>
                <a:sym typeface="Calibri"/>
              </a:rPr>
              <a:t>DERECHOS</a:t>
            </a:r>
            <a:endParaRPr b="0" i="0" sz="18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800" u="none" cap="none" strike="noStrike">
                <a:solidFill>
                  <a:srgbClr val="3F3F3F"/>
                </a:solidFill>
                <a:latin typeface="Calibri"/>
                <a:ea typeface="Calibri"/>
                <a:cs typeface="Calibri"/>
                <a:sym typeface="Calibri"/>
              </a:rPr>
              <a:t>Facultad de dirección</a:t>
            </a:r>
            <a:endParaRPr b="0" i="0" sz="18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800" u="none" cap="none" strike="noStrike">
                <a:solidFill>
                  <a:srgbClr val="FF0000"/>
                </a:solidFill>
                <a:latin typeface="Calibri"/>
                <a:ea typeface="Calibri"/>
                <a:cs typeface="Calibri"/>
                <a:sym typeface="Calibri"/>
              </a:rPr>
              <a:t>Facultad de organización </a:t>
            </a:r>
            <a:endParaRPr b="0" i="0" sz="1800" u="none" cap="none" strike="noStrike">
              <a:solidFill>
                <a:srgbClr val="FF0000"/>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400" u="none" cap="none" strike="noStrike">
                <a:solidFill>
                  <a:srgbClr val="FF0000"/>
                </a:solidFill>
                <a:latin typeface="Arial"/>
                <a:ea typeface="Arial"/>
                <a:cs typeface="Arial"/>
                <a:sym typeface="Arial"/>
              </a:rPr>
              <a:t>Ius variandi (cambio de condiciones no esenciales)</a:t>
            </a:r>
            <a:endParaRPr b="0" i="0" sz="1400" u="none" cap="none" strike="noStrike">
              <a:solidFill>
                <a:srgbClr val="FF0000"/>
              </a:solidFill>
              <a:latin typeface="Arial"/>
              <a:ea typeface="Arial"/>
              <a:cs typeface="Arial"/>
              <a:sym typeface="Arial"/>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800" u="none" cap="none" strike="noStrike">
                <a:solidFill>
                  <a:srgbClr val="FF0000"/>
                </a:solidFill>
                <a:latin typeface="Calibri"/>
                <a:ea typeface="Calibri"/>
                <a:cs typeface="Calibri"/>
                <a:sym typeface="Calibri"/>
              </a:rPr>
              <a:t>El poder disciplinario</a:t>
            </a:r>
            <a:endParaRPr b="0" i="0" sz="1800" u="none" cap="none" strike="noStrike">
              <a:solidFill>
                <a:srgbClr val="FF0000"/>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800" u="none" cap="none" strike="noStrike">
                <a:solidFill>
                  <a:srgbClr val="3F3F3F"/>
                </a:solidFill>
                <a:latin typeface="Calibri"/>
                <a:ea typeface="Calibri"/>
                <a:cs typeface="Calibri"/>
                <a:sym typeface="Calibri"/>
              </a:rPr>
              <a:t>Los controles personales</a:t>
            </a:r>
            <a:endParaRPr b="0" i="0" sz="18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800" u="none" cap="none" strike="noStrike">
                <a:solidFill>
                  <a:srgbClr val="3F3F3F"/>
                </a:solidFill>
                <a:latin typeface="Calibri"/>
                <a:ea typeface="Calibri"/>
                <a:cs typeface="Calibri"/>
                <a:sym typeface="Calibri"/>
              </a:rPr>
              <a:t>Otros: recibir el trabajo, controles médicos, etc</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400"/>
              <a:buFont typeface="Twentieth Century"/>
              <a:buNone/>
            </a:pPr>
            <a:r>
              <a:t/>
            </a:r>
            <a:endParaRPr b="0" i="0" sz="1400" u="none" cap="none" strike="noStrike">
              <a:solidFill>
                <a:srgbClr val="3F3F3F"/>
              </a:solidFill>
              <a:latin typeface="Calibri"/>
              <a:ea typeface="Calibri"/>
              <a:cs typeface="Calibri"/>
              <a:sym typeface="Calibri"/>
            </a:endParaRPr>
          </a:p>
        </p:txBody>
      </p:sp>
      <p:sp>
        <p:nvSpPr>
          <p:cNvPr id="334" name="Google Shape;334;p10"/>
          <p:cNvSpPr/>
          <p:nvPr/>
        </p:nvSpPr>
        <p:spPr>
          <a:xfrm>
            <a:off x="4973437" y="2296633"/>
            <a:ext cx="3657600" cy="3808284"/>
          </a:xfrm>
          <a:prstGeom prst="roundRect">
            <a:avLst>
              <a:gd fmla="val 16667" name="adj"/>
            </a:avLst>
          </a:prstGeom>
          <a:solidFill>
            <a:schemeClr val="lt1"/>
          </a:solidFill>
          <a:ln cap="flat" cmpd="sng" w="190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335" name="Google Shape;335;p10"/>
          <p:cNvSpPr txBox="1"/>
          <p:nvPr/>
        </p:nvSpPr>
        <p:spPr>
          <a:xfrm>
            <a:off x="5272705" y="2613870"/>
            <a:ext cx="3168486" cy="35958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F3F3F"/>
              </a:buClr>
              <a:buSzPts val="1400"/>
              <a:buFont typeface="Calibri"/>
              <a:buNone/>
            </a:pPr>
            <a:r>
              <a:rPr b="1" i="0" lang="es-AR" sz="1400" u="none" cap="none" strike="noStrike">
                <a:solidFill>
                  <a:srgbClr val="3F3F3F"/>
                </a:solidFill>
                <a:latin typeface="Calibri"/>
                <a:ea typeface="Calibri"/>
                <a:cs typeface="Calibri"/>
                <a:sym typeface="Calibri"/>
              </a:rPr>
              <a:t>DEBERES</a:t>
            </a:r>
            <a:endParaRPr b="0" i="0" sz="14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chemeClr val="dk1"/>
                </a:solidFill>
                <a:latin typeface="Calibri"/>
                <a:ea typeface="Calibri"/>
                <a:cs typeface="Calibri"/>
                <a:sym typeface="Calibri"/>
              </a:rPr>
              <a:t>Deber del pago de la remuneración</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cumplir con los organismos sindicales y de la seguridad social</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prevención en seguridad e higiene</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diligencia e iniciativa</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no discriminación e igualdad de trato</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respeto por libre expresión</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indemnidad</a:t>
            </a:r>
            <a:endParaRPr b="0" i="0" sz="1400" u="none" cap="none" strike="noStrike">
              <a:solidFill>
                <a:schemeClr val="dk1"/>
              </a:solidFill>
              <a:latin typeface="Calibri"/>
              <a:ea typeface="Calibri"/>
              <a:cs typeface="Calibri"/>
              <a:sym typeface="Calibri"/>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Deber de formación profesional y capacitación</a:t>
            </a:r>
            <a:endParaRPr b="0" i="0" sz="1400" u="none" cap="none" strike="noStrike">
              <a:solidFill>
                <a:srgbClr val="000000"/>
              </a:solidFill>
              <a:latin typeface="Arial"/>
              <a:ea typeface="Arial"/>
              <a:cs typeface="Arial"/>
              <a:sym typeface="Arial"/>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Ejercer la facultad de dirección y organización</a:t>
            </a:r>
            <a:endParaRPr b="0" i="0" sz="1400" u="none" cap="none" strike="noStrike">
              <a:solidFill>
                <a:srgbClr val="000000"/>
              </a:solidFill>
              <a:latin typeface="Arial"/>
              <a:ea typeface="Arial"/>
              <a:cs typeface="Arial"/>
              <a:sym typeface="Arial"/>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400" u="none" cap="none" strike="noStrike">
                <a:solidFill>
                  <a:srgbClr val="3F3F3F"/>
                </a:solidFill>
                <a:latin typeface="Calibri"/>
                <a:ea typeface="Calibri"/>
                <a:cs typeface="Calibri"/>
                <a:sym typeface="Calibri"/>
              </a:rPr>
              <a:t>Respetar la dignidad del trabajador</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Twentieth Century"/>
              <a:buNone/>
            </a:pPr>
            <a:r>
              <a:t/>
            </a:r>
            <a:endParaRPr b="0" i="0" sz="1400" u="none" cap="none" strike="noStrike">
              <a:solidFill>
                <a:srgbClr val="3F3F3F"/>
              </a:solidFill>
              <a:latin typeface="Calibri"/>
              <a:ea typeface="Calibri"/>
              <a:cs typeface="Calibri"/>
              <a:sym typeface="Calibri"/>
            </a:endParaRPr>
          </a:p>
        </p:txBody>
      </p:sp>
      <p:sp>
        <p:nvSpPr>
          <p:cNvPr id="336" name="Google Shape;336;p10"/>
          <p:cNvSpPr txBox="1"/>
          <p:nvPr/>
        </p:nvSpPr>
        <p:spPr>
          <a:xfrm rot="-5400000">
            <a:off x="25723" y="4015837"/>
            <a:ext cx="1672384"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alibri"/>
              <a:buNone/>
            </a:pPr>
            <a:r>
              <a:rPr b="1" i="0" lang="es-AR" sz="2000" u="none" cap="none" strike="noStrike">
                <a:solidFill>
                  <a:schemeClr val="dk1"/>
                </a:solidFill>
                <a:latin typeface="Calibri"/>
                <a:ea typeface="Calibri"/>
                <a:cs typeface="Calibri"/>
                <a:sym typeface="Calibri"/>
              </a:rPr>
              <a:t>EMPLEADOR</a:t>
            </a:r>
            <a:endParaRPr b="1" i="0" sz="1800" u="none" cap="none" strike="noStrike">
              <a:solidFill>
                <a:schemeClr val="dk1"/>
              </a:solidFill>
              <a:latin typeface="Twentieth Century"/>
              <a:ea typeface="Twentieth Century"/>
              <a:cs typeface="Twentieth Century"/>
              <a:sym typeface="Twentieth Century"/>
            </a:endParaRPr>
          </a:p>
        </p:txBody>
      </p:sp>
      <p:sp>
        <p:nvSpPr>
          <p:cNvPr id="337" name="Google Shape;337;p10"/>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338" name="Google Shape;338;p10"/>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1"/>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Ley de Contrato de Trabajo</a:t>
            </a:r>
            <a:endParaRPr b="0" i="0" sz="1800" u="none" cap="none" strike="noStrike">
              <a:solidFill>
                <a:schemeClr val="dk1"/>
              </a:solidFill>
              <a:latin typeface="Twentieth Century"/>
              <a:ea typeface="Twentieth Century"/>
              <a:cs typeface="Twentieth Century"/>
              <a:sym typeface="Twentieth Century"/>
            </a:endParaRPr>
          </a:p>
        </p:txBody>
      </p:sp>
      <p:sp>
        <p:nvSpPr>
          <p:cNvPr id="345" name="Google Shape;345;p11"/>
          <p:cNvSpPr/>
          <p:nvPr/>
        </p:nvSpPr>
        <p:spPr>
          <a:xfrm>
            <a:off x="1143841" y="1923219"/>
            <a:ext cx="7694553" cy="4046648"/>
          </a:xfrm>
          <a:prstGeom prst="rect">
            <a:avLst/>
          </a:prstGeom>
          <a:gradFill>
            <a:gsLst>
              <a:gs pos="0">
                <a:srgbClr val="7EC8AE"/>
              </a:gs>
              <a:gs pos="100000">
                <a:srgbClr val="A0E2C9"/>
              </a:gs>
            </a:gsLst>
            <a:path path="circle">
              <a:fillToRect b="50%" l="50%" r="50%" t="50%"/>
            </a:path>
            <a:tileRect/>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 </a:t>
            </a:r>
            <a:endParaRPr b="0" i="0" sz="1800" u="none" cap="none" strike="noStrike">
              <a:solidFill>
                <a:schemeClr val="dk1"/>
              </a:solidFill>
              <a:latin typeface="Twentieth Century"/>
              <a:ea typeface="Twentieth Century"/>
              <a:cs typeface="Twentieth Century"/>
              <a:sym typeface="Twentieth Century"/>
            </a:endParaRPr>
          </a:p>
        </p:txBody>
      </p:sp>
      <p:sp>
        <p:nvSpPr>
          <p:cNvPr id="346" name="Google Shape;346;p11"/>
          <p:cNvSpPr txBox="1"/>
          <p:nvPr/>
        </p:nvSpPr>
        <p:spPr>
          <a:xfrm rot="-5400000">
            <a:off x="-1261493" y="3628995"/>
            <a:ext cx="4046653" cy="619120"/>
          </a:xfrm>
          <a:prstGeom prst="rect">
            <a:avLst/>
          </a:prstGeom>
          <a:gradFill>
            <a:gsLst>
              <a:gs pos="0">
                <a:srgbClr val="5B9793"/>
              </a:gs>
              <a:gs pos="100000">
                <a:srgbClr val="6FBBB7"/>
              </a:gs>
            </a:gsLst>
            <a:path path="circle">
              <a:fillToRect b="50%" l="50%" r="50%" t="50%"/>
            </a:path>
            <a:tileRect/>
          </a:gradFill>
          <a:ln cap="flat" cmpd="sng" w="9525">
            <a:solidFill>
              <a:schemeClr val="accent6"/>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ctr" bIns="0" lIns="0" spcFirstLastPara="1" rIns="0" wrap="square" tIns="0">
            <a:normAutofit/>
          </a:bodyPr>
          <a:lstStyle/>
          <a:p>
            <a:pPr indent="0" lvl="0" marL="0" marR="0" rtl="0" algn="ctr">
              <a:lnSpc>
                <a:spcPct val="100000"/>
              </a:lnSpc>
              <a:spcBef>
                <a:spcPts val="0"/>
              </a:spcBef>
              <a:spcAft>
                <a:spcPts val="0"/>
              </a:spcAft>
              <a:buClr>
                <a:schemeClr val="dk1"/>
              </a:buClr>
              <a:buSzPts val="1400"/>
              <a:buFont typeface="Twentieth Century"/>
              <a:buNone/>
            </a:pPr>
            <a:r>
              <a:t/>
            </a:r>
            <a:endParaRPr b="1" i="0" sz="1400" u="none" cap="none" strike="noStrike">
              <a:solidFill>
                <a:schemeClr val="lt1"/>
              </a:solidFill>
              <a:latin typeface="Calibri"/>
              <a:ea typeface="Calibri"/>
              <a:cs typeface="Calibri"/>
              <a:sym typeface="Calibri"/>
            </a:endParaRPr>
          </a:p>
        </p:txBody>
      </p:sp>
      <p:sp>
        <p:nvSpPr>
          <p:cNvPr id="347" name="Google Shape;347;p11"/>
          <p:cNvSpPr/>
          <p:nvPr/>
        </p:nvSpPr>
        <p:spPr>
          <a:xfrm>
            <a:off x="1136073" y="2031089"/>
            <a:ext cx="3657600" cy="3837755"/>
          </a:xfrm>
          <a:prstGeom prst="roundRect">
            <a:avLst>
              <a:gd fmla="val 16667" name="adj"/>
            </a:avLst>
          </a:prstGeom>
          <a:solidFill>
            <a:schemeClr val="lt1"/>
          </a:solidFill>
          <a:ln cap="flat" cmpd="sng" w="19050">
            <a:solidFill>
              <a:srgbClr val="0099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348" name="Google Shape;348;p11"/>
          <p:cNvSpPr txBox="1"/>
          <p:nvPr/>
        </p:nvSpPr>
        <p:spPr>
          <a:xfrm>
            <a:off x="1377107" y="2375309"/>
            <a:ext cx="3278923" cy="23626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F3F3F"/>
              </a:buClr>
              <a:buSzPts val="1600"/>
              <a:buFont typeface="Calibri"/>
              <a:buNone/>
            </a:pPr>
            <a:r>
              <a:rPr b="1" i="0" lang="es-AR" sz="1600" u="none" cap="none" strike="noStrike">
                <a:solidFill>
                  <a:srgbClr val="3F3F3F"/>
                </a:solidFill>
                <a:latin typeface="Calibri"/>
                <a:ea typeface="Calibri"/>
                <a:cs typeface="Calibri"/>
                <a:sym typeface="Calibri"/>
              </a:rPr>
              <a:t>DERECHOS</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Percibir en forma íntegra y oportuna la remuneración</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A recibir una ocupación efectiva</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Recibir un trato igualitario</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Ejercer la titularidad de los inventos que realice fuera del contrato</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2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Recibir protección de su seguridad personal</a:t>
            </a:r>
            <a:endParaRPr b="0" i="0" sz="16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400"/>
              <a:buFont typeface="Twentieth Century"/>
              <a:buNone/>
            </a:pPr>
            <a:r>
              <a:t/>
            </a:r>
            <a:endParaRPr b="0" i="0" sz="1400" u="none" cap="none" strike="noStrike">
              <a:solidFill>
                <a:srgbClr val="3F3F3F"/>
              </a:solidFill>
              <a:latin typeface="Calibri"/>
              <a:ea typeface="Calibri"/>
              <a:cs typeface="Calibri"/>
              <a:sym typeface="Calibri"/>
            </a:endParaRPr>
          </a:p>
        </p:txBody>
      </p:sp>
      <p:sp>
        <p:nvSpPr>
          <p:cNvPr id="349" name="Google Shape;349;p11"/>
          <p:cNvSpPr/>
          <p:nvPr/>
        </p:nvSpPr>
        <p:spPr>
          <a:xfrm>
            <a:off x="4892261" y="1996129"/>
            <a:ext cx="3799465" cy="3865039"/>
          </a:xfrm>
          <a:prstGeom prst="roundRect">
            <a:avLst>
              <a:gd fmla="val 16667" name="adj"/>
            </a:avLst>
          </a:prstGeom>
          <a:solidFill>
            <a:schemeClr val="lt1"/>
          </a:solidFill>
          <a:ln cap="flat" cmpd="sng" w="19050">
            <a:solidFill>
              <a:srgbClr val="0099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350" name="Google Shape;350;p11"/>
          <p:cNvSpPr txBox="1"/>
          <p:nvPr/>
        </p:nvSpPr>
        <p:spPr>
          <a:xfrm>
            <a:off x="5082181" y="2330106"/>
            <a:ext cx="3467704" cy="333219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F3F3F"/>
              </a:buClr>
              <a:buSzPts val="1600"/>
              <a:buFont typeface="Calibri"/>
              <a:buNone/>
            </a:pPr>
            <a:r>
              <a:rPr b="1" i="0" lang="es-AR" sz="1600" u="none" cap="none" strike="noStrike">
                <a:solidFill>
                  <a:srgbClr val="3F3F3F"/>
                </a:solidFill>
                <a:latin typeface="Calibri"/>
                <a:ea typeface="Calibri"/>
                <a:cs typeface="Calibri"/>
                <a:sym typeface="Calibri"/>
              </a:rPr>
              <a:t>DEBERES</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Diligencia y colaboración (ser puntual, regular, comunicar ausencias etc)</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Deber de fidelidad</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Subordinación y cumplimiento de instrucciones</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Custodia de instrumentos de trabajo</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Responsabilidad por daños</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Deber de no concurrencia a actividades en contra de los intereses del empleador</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Auxilios y ayudas extraordinarias</a:t>
            </a:r>
            <a:endParaRPr b="0" i="0" sz="1600" u="none" cap="none" strike="noStrike">
              <a:solidFill>
                <a:schemeClr val="dk1"/>
              </a:solidFill>
              <a:latin typeface="Twentieth Century"/>
              <a:ea typeface="Twentieth Century"/>
              <a:cs typeface="Twentieth Century"/>
              <a:sym typeface="Twentieth Century"/>
            </a:endParaRPr>
          </a:p>
          <a:p>
            <a:pPr indent="-269875" lvl="0" marL="269875" marR="0" rtl="0" algn="l">
              <a:lnSpc>
                <a:spcPct val="90000"/>
              </a:lnSpc>
              <a:spcBef>
                <a:spcPts val="240"/>
              </a:spcBef>
              <a:spcAft>
                <a:spcPts val="0"/>
              </a:spcAft>
              <a:buClr>
                <a:schemeClr val="dk2"/>
              </a:buClr>
              <a:buSzPts val="1400"/>
              <a:buFont typeface="Noto Sans Symbols"/>
              <a:buChar char="▪"/>
            </a:pPr>
            <a:r>
              <a:rPr b="0" i="0" lang="es-AR" sz="1600" u="none" cap="none" strike="noStrike">
                <a:solidFill>
                  <a:srgbClr val="3F3F3F"/>
                </a:solidFill>
                <a:latin typeface="Calibri"/>
                <a:ea typeface="Calibri"/>
                <a:cs typeface="Calibri"/>
                <a:sym typeface="Calibri"/>
              </a:rPr>
              <a:t>Confidencialidad y preservación de secretos</a:t>
            </a:r>
            <a:endParaRPr b="0" i="0" sz="1600" u="none" cap="none" strike="noStrike">
              <a:solidFill>
                <a:schemeClr val="dk1"/>
              </a:solidFill>
              <a:latin typeface="Twentieth Century"/>
              <a:ea typeface="Twentieth Century"/>
              <a:cs typeface="Twentieth Century"/>
              <a:sym typeface="Twentieth Century"/>
            </a:endParaRPr>
          </a:p>
        </p:txBody>
      </p:sp>
      <p:sp>
        <p:nvSpPr>
          <p:cNvPr id="351" name="Google Shape;351;p11"/>
          <p:cNvSpPr txBox="1"/>
          <p:nvPr/>
        </p:nvSpPr>
        <p:spPr>
          <a:xfrm rot="-5400000">
            <a:off x="-79343" y="3438675"/>
            <a:ext cx="1747032"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alibri"/>
              <a:buNone/>
            </a:pPr>
            <a:r>
              <a:rPr b="1" i="0" lang="es-AR" sz="2000" u="none" cap="none" strike="noStrike">
                <a:solidFill>
                  <a:schemeClr val="dk1"/>
                </a:solidFill>
                <a:latin typeface="Calibri"/>
                <a:ea typeface="Calibri"/>
                <a:cs typeface="Calibri"/>
                <a:sym typeface="Calibri"/>
              </a:rPr>
              <a:t>TRABAJADOR</a:t>
            </a:r>
            <a:endParaRPr b="1"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352" name="Google Shape;352;p11"/>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353" name="Google Shape;353;p11"/>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
          <p:cNvSpPr/>
          <p:nvPr/>
        </p:nvSpPr>
        <p:spPr>
          <a:xfrm>
            <a:off x="1340803" y="234753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359" name="Google Shape;359;p5">
            <a:hlinkClick action="ppaction://hlinksldjump" r:id="rId3"/>
          </p:cNvPr>
          <p:cNvSpPr/>
          <p:nvPr/>
        </p:nvSpPr>
        <p:spPr>
          <a:xfrm>
            <a:off x="1142976" y="234753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360" name="Google Shape;360;p5"/>
          <p:cNvSpPr/>
          <p:nvPr/>
        </p:nvSpPr>
        <p:spPr>
          <a:xfrm>
            <a:off x="1340803" y="353450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361" name="Google Shape;361;p5"/>
          <p:cNvSpPr/>
          <p:nvPr/>
        </p:nvSpPr>
        <p:spPr>
          <a:xfrm>
            <a:off x="1142976" y="353450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362" name="Google Shape;362;p5"/>
          <p:cNvSpPr/>
          <p:nvPr/>
        </p:nvSpPr>
        <p:spPr>
          <a:xfrm>
            <a:off x="1340803" y="4127988"/>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363" name="Google Shape;363;p5">
            <a:hlinkClick action="ppaction://hlinksldjump" r:id="rId4"/>
          </p:cNvPr>
          <p:cNvSpPr/>
          <p:nvPr/>
        </p:nvSpPr>
        <p:spPr>
          <a:xfrm>
            <a:off x="1142976" y="412798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364" name="Google Shape;364;p5"/>
          <p:cNvSpPr txBox="1"/>
          <p:nvPr/>
        </p:nvSpPr>
        <p:spPr>
          <a:xfrm>
            <a:off x="228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Clr>
                <a:srgbClr val="000000"/>
              </a:buClr>
              <a:buSzPts val="1845"/>
              <a:buFont typeface="Arial"/>
              <a:buNone/>
            </a:pPr>
            <a:r>
              <a:rPr b="1" i="0" lang="es-AR"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Clr>
                <a:srgbClr val="000000"/>
              </a:buClr>
              <a:buSzPts val="2954"/>
              <a:buFont typeface="Arial"/>
              <a:buNone/>
            </a:pPr>
            <a:r>
              <a:rPr b="1" i="0" lang="es-AR"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365" name="Google Shape;365;p5"/>
          <p:cNvSpPr/>
          <p:nvPr/>
        </p:nvSpPr>
        <p:spPr>
          <a:xfrm>
            <a:off x="1340803" y="1817780"/>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366" name="Google Shape;366;p5">
            <a:hlinkClick action="ppaction://hlinksldjump" r:id="rId5"/>
          </p:cNvPr>
          <p:cNvSpPr/>
          <p:nvPr/>
        </p:nvSpPr>
        <p:spPr>
          <a:xfrm>
            <a:off x="1142976" y="178482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pic>
        <p:nvPicPr>
          <p:cNvPr descr="Resultado de imagen para utn regional buenos aires ingenieria industrial" id="367" name="Google Shape;367;p5"/>
          <p:cNvPicPr preferRelativeResize="0"/>
          <p:nvPr/>
        </p:nvPicPr>
        <p:blipFill rotWithShape="1">
          <a:blip r:embed="rId6">
            <a:alphaModFix/>
          </a:blip>
          <a:srcRect b="0" l="0" r="0" t="0"/>
          <a:stretch/>
        </p:blipFill>
        <p:spPr>
          <a:xfrm>
            <a:off x="6517680" y="271096"/>
            <a:ext cx="2637692" cy="1011116"/>
          </a:xfrm>
          <a:prstGeom prst="rect">
            <a:avLst/>
          </a:prstGeom>
          <a:noFill/>
          <a:ln>
            <a:noFill/>
          </a:ln>
        </p:spPr>
      </p:pic>
      <p:sp>
        <p:nvSpPr>
          <p:cNvPr id="368" name="Google Shape;368;p5"/>
          <p:cNvSpPr/>
          <p:nvPr/>
        </p:nvSpPr>
        <p:spPr>
          <a:xfrm>
            <a:off x="351721" y="2941018"/>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lt1"/>
              </a:solidFill>
              <a:latin typeface="Arial"/>
              <a:ea typeface="Arial"/>
              <a:cs typeface="Arial"/>
              <a:sym typeface="Arial"/>
            </a:endParaRPr>
          </a:p>
        </p:txBody>
      </p:sp>
      <p:sp>
        <p:nvSpPr>
          <p:cNvPr id="369" name="Google Shape;369;p5"/>
          <p:cNvSpPr/>
          <p:nvPr/>
        </p:nvSpPr>
        <p:spPr>
          <a:xfrm>
            <a:off x="7149516" y="1795899"/>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370" name="Google Shape;370;p5"/>
          <p:cNvSpPr txBox="1"/>
          <p:nvPr/>
        </p:nvSpPr>
        <p:spPr>
          <a:xfrm>
            <a:off x="7746932" y="2385086"/>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371" name="Google Shape;371;p5"/>
          <p:cNvSpPr/>
          <p:nvPr/>
        </p:nvSpPr>
        <p:spPr>
          <a:xfrm>
            <a:off x="7149516" y="3534504"/>
            <a:ext cx="404290" cy="1673987"/>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372" name="Google Shape;372;p5"/>
          <p:cNvSpPr txBox="1"/>
          <p:nvPr/>
        </p:nvSpPr>
        <p:spPr>
          <a:xfrm>
            <a:off x="7744778" y="393022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373" name="Google Shape;373;p5"/>
          <p:cNvSpPr/>
          <p:nvPr/>
        </p:nvSpPr>
        <p:spPr>
          <a:xfrm>
            <a:off x="1340803"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374" name="Google Shape;374;p5">
            <a:hlinkClick action="ppaction://hlinksldjump" r:id="rId7"/>
          </p:cNvPr>
          <p:cNvSpPr/>
          <p:nvPr/>
        </p:nvSpPr>
        <p:spPr>
          <a:xfrm>
            <a:off x="1142976" y="294101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375" name="Google Shape;375;p5"/>
          <p:cNvSpPr/>
          <p:nvPr/>
        </p:nvSpPr>
        <p:spPr>
          <a:xfrm>
            <a:off x="1326735" y="4721472"/>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376" name="Google Shape;376;p5">
            <a:hlinkClick action="ppaction://hlinksldjump" r:id="rId8"/>
          </p:cNvPr>
          <p:cNvSpPr/>
          <p:nvPr/>
        </p:nvSpPr>
        <p:spPr>
          <a:xfrm>
            <a:off x="1128908" y="472147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sp>
        <p:nvSpPr>
          <p:cNvPr id="381" name="Google Shape;381;p6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Contrato Laboral</a:t>
            </a:r>
            <a:endParaRPr b="0" i="0" sz="1800" u="none" cap="none" strike="noStrike">
              <a:solidFill>
                <a:schemeClr val="dk1"/>
              </a:solidFill>
              <a:latin typeface="Twentieth Century"/>
              <a:ea typeface="Twentieth Century"/>
              <a:cs typeface="Twentieth Century"/>
              <a:sym typeface="Twentieth Century"/>
            </a:endParaRPr>
          </a:p>
        </p:txBody>
      </p:sp>
      <p:sp>
        <p:nvSpPr>
          <p:cNvPr id="382" name="Google Shape;382;p64"/>
          <p:cNvSpPr txBox="1"/>
          <p:nvPr/>
        </p:nvSpPr>
        <p:spPr>
          <a:xfrm>
            <a:off x="194315" y="1841418"/>
            <a:ext cx="5743371" cy="3046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chemeClr val="dk1"/>
                </a:solidFill>
                <a:latin typeface="Calibri"/>
                <a:ea typeface="Calibri"/>
                <a:cs typeface="Calibri"/>
                <a:sym typeface="Calibri"/>
              </a:rPr>
              <a:t>La contratación NO responde a la voluntad de las partes, sino que su modalidad debería estar en función de las necesidades de la empresa</a:t>
            </a:r>
            <a:r>
              <a:rPr b="0" i="0" lang="es-AR"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Calibri"/>
                <a:ea typeface="Calibri"/>
                <a:cs typeface="Calibri"/>
                <a:sym typeface="Calibri"/>
              </a:rPr>
              <a:t>El contrato se presume por tiempo indeterminado, caso contrario el empleador deberá justificarlo</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383" name="Google Shape;383;p64"/>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384" name="Google Shape;384;p64"/>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385" name="Google Shape;385;p64"/>
          <p:cNvSpPr txBox="1"/>
          <p:nvPr/>
        </p:nvSpPr>
        <p:spPr>
          <a:xfrm>
            <a:off x="811051" y="1379753"/>
            <a:ext cx="5126635" cy="461665"/>
          </a:xfrm>
          <a:prstGeom prst="rect">
            <a:avLst/>
          </a:prstGeom>
          <a:solidFill>
            <a:srgbClr val="E4E45E"/>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Twentieth Century"/>
                <a:ea typeface="Twentieth Century"/>
                <a:cs typeface="Twentieth Century"/>
                <a:sym typeface="Twentieth Century"/>
              </a:rPr>
              <a:t>MODALIDADES DE CONTRATACIÓN</a:t>
            </a:r>
            <a:endParaRPr b="0" i="0" sz="2400" u="none" cap="none" strike="noStrike">
              <a:solidFill>
                <a:schemeClr val="dk1"/>
              </a:solidFill>
              <a:latin typeface="Twentieth Century"/>
              <a:ea typeface="Twentieth Century"/>
              <a:cs typeface="Twentieth Century"/>
              <a:sym typeface="Twentieth Century"/>
            </a:endParaRPr>
          </a:p>
        </p:txBody>
      </p:sp>
      <p:sp>
        <p:nvSpPr>
          <p:cNvPr id="386" name="Google Shape;386;p64"/>
          <p:cNvSpPr/>
          <p:nvPr/>
        </p:nvSpPr>
        <p:spPr>
          <a:xfrm>
            <a:off x="6405943" y="1359874"/>
            <a:ext cx="1927006" cy="2124574"/>
          </a:xfrm>
          <a:prstGeom prst="flowChartDocument">
            <a:avLst/>
          </a:prstGeom>
          <a:solidFill>
            <a:schemeClr val="accent1"/>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Es importante tener en cuenta en este punto el principio de la realidad y la irrenunciabilidad de derechos.</a:t>
            </a:r>
            <a:endParaRPr b="0" i="0" sz="1600" u="none" cap="none" strike="noStrike">
              <a:solidFill>
                <a:schemeClr val="lt1"/>
              </a:solidFill>
              <a:latin typeface="Arial"/>
              <a:ea typeface="Arial"/>
              <a:cs typeface="Arial"/>
              <a:sym typeface="Arial"/>
            </a:endParaRPr>
          </a:p>
        </p:txBody>
      </p:sp>
      <p:sp>
        <p:nvSpPr>
          <p:cNvPr id="387" name="Google Shape;387;p64"/>
          <p:cNvSpPr/>
          <p:nvPr/>
        </p:nvSpPr>
        <p:spPr>
          <a:xfrm>
            <a:off x="494515" y="4435839"/>
            <a:ext cx="1983544" cy="461664"/>
          </a:xfrm>
          <a:prstGeom prst="roundRect">
            <a:avLst>
              <a:gd fmla="val 16667" name="adj"/>
            </a:avLst>
          </a:prstGeom>
          <a:solidFill>
            <a:schemeClr val="accent1"/>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TIEMPO INDETERMINADO</a:t>
            </a:r>
            <a:endParaRPr b="0" i="0" sz="1400" u="none" cap="none" strike="noStrike">
              <a:solidFill>
                <a:schemeClr val="lt1"/>
              </a:solidFill>
              <a:latin typeface="Arial"/>
              <a:ea typeface="Arial"/>
              <a:cs typeface="Arial"/>
              <a:sym typeface="Arial"/>
            </a:endParaRPr>
          </a:p>
        </p:txBody>
      </p:sp>
      <p:sp>
        <p:nvSpPr>
          <p:cNvPr id="388" name="Google Shape;388;p64"/>
          <p:cNvSpPr/>
          <p:nvPr/>
        </p:nvSpPr>
        <p:spPr>
          <a:xfrm>
            <a:off x="2641574" y="4435839"/>
            <a:ext cx="1983544" cy="461664"/>
          </a:xfrm>
          <a:prstGeom prst="roundRect">
            <a:avLst>
              <a:gd fmla="val 16667" name="adj"/>
            </a:avLst>
          </a:prstGeom>
          <a:solidFill>
            <a:schemeClr val="accent1"/>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TIEMPO DETERMINADO</a:t>
            </a:r>
            <a:endParaRPr b="0" i="0" sz="1400" u="none" cap="none" strike="noStrike">
              <a:solidFill>
                <a:schemeClr val="lt1"/>
              </a:solidFill>
              <a:latin typeface="Arial"/>
              <a:ea typeface="Arial"/>
              <a:cs typeface="Arial"/>
              <a:sym typeface="Arial"/>
            </a:endParaRPr>
          </a:p>
        </p:txBody>
      </p:sp>
      <p:sp>
        <p:nvSpPr>
          <p:cNvPr id="389" name="Google Shape;389;p64"/>
          <p:cNvSpPr/>
          <p:nvPr/>
        </p:nvSpPr>
        <p:spPr>
          <a:xfrm>
            <a:off x="4788633" y="4435839"/>
            <a:ext cx="1983544" cy="461664"/>
          </a:xfrm>
          <a:prstGeom prst="roundRect">
            <a:avLst>
              <a:gd fmla="val 16667" name="adj"/>
            </a:avLst>
          </a:prstGeom>
          <a:solidFill>
            <a:schemeClr val="accent1"/>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EVENTUAL</a:t>
            </a:r>
            <a:endParaRPr b="0" i="0" sz="1400" u="none" cap="none" strike="noStrike">
              <a:solidFill>
                <a:schemeClr val="lt1"/>
              </a:solidFill>
              <a:latin typeface="Arial"/>
              <a:ea typeface="Arial"/>
              <a:cs typeface="Arial"/>
              <a:sym typeface="Arial"/>
            </a:endParaRPr>
          </a:p>
        </p:txBody>
      </p:sp>
      <p:sp>
        <p:nvSpPr>
          <p:cNvPr id="390" name="Google Shape;390;p64"/>
          <p:cNvSpPr/>
          <p:nvPr/>
        </p:nvSpPr>
        <p:spPr>
          <a:xfrm>
            <a:off x="494515" y="5114596"/>
            <a:ext cx="1983544" cy="281152"/>
          </a:xfrm>
          <a:prstGeom prst="roundRect">
            <a:avLst>
              <a:gd fmla="val 16667" name="adj"/>
            </a:avLst>
          </a:prstGeom>
          <a:solidFill>
            <a:schemeClr val="dk2"/>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Periodo de prueba</a:t>
            </a:r>
            <a:endParaRPr b="0" i="0" sz="1400" u="none" cap="none" strike="noStrike">
              <a:solidFill>
                <a:schemeClr val="lt1"/>
              </a:solidFill>
              <a:latin typeface="Arial"/>
              <a:ea typeface="Arial"/>
              <a:cs typeface="Arial"/>
              <a:sym typeface="Arial"/>
            </a:endParaRPr>
          </a:p>
        </p:txBody>
      </p:sp>
      <p:sp>
        <p:nvSpPr>
          <p:cNvPr id="391" name="Google Shape;391;p64"/>
          <p:cNvSpPr/>
          <p:nvPr/>
        </p:nvSpPr>
        <p:spPr>
          <a:xfrm>
            <a:off x="494515" y="5485181"/>
            <a:ext cx="1983544" cy="281152"/>
          </a:xfrm>
          <a:prstGeom prst="roundRect">
            <a:avLst>
              <a:gd fmla="val 16667" name="adj"/>
            </a:avLst>
          </a:prstGeom>
          <a:solidFill>
            <a:schemeClr val="dk2"/>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Temporada</a:t>
            </a:r>
            <a:endParaRPr b="0" i="0" sz="1400" u="none" cap="none" strike="noStrike">
              <a:solidFill>
                <a:schemeClr val="lt1"/>
              </a:solidFill>
              <a:latin typeface="Arial"/>
              <a:ea typeface="Arial"/>
              <a:cs typeface="Arial"/>
              <a:sym typeface="Arial"/>
            </a:endParaRPr>
          </a:p>
        </p:txBody>
      </p:sp>
      <p:sp>
        <p:nvSpPr>
          <p:cNvPr id="392" name="Google Shape;392;p64"/>
          <p:cNvSpPr/>
          <p:nvPr/>
        </p:nvSpPr>
        <p:spPr>
          <a:xfrm>
            <a:off x="494515" y="5905103"/>
            <a:ext cx="1983544" cy="281152"/>
          </a:xfrm>
          <a:prstGeom prst="roundRect">
            <a:avLst>
              <a:gd fmla="val 16667" name="adj"/>
            </a:avLst>
          </a:prstGeom>
          <a:solidFill>
            <a:schemeClr val="dk2"/>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Tiempo parcial</a:t>
            </a:r>
            <a:endParaRPr b="0" i="0" sz="1400" u="none" cap="none" strike="noStrike">
              <a:solidFill>
                <a:schemeClr val="lt1"/>
              </a:solidFill>
              <a:latin typeface="Arial"/>
              <a:ea typeface="Arial"/>
              <a:cs typeface="Arial"/>
              <a:sym typeface="Arial"/>
            </a:endParaRPr>
          </a:p>
        </p:txBody>
      </p:sp>
      <p:sp>
        <p:nvSpPr>
          <p:cNvPr id="393" name="Google Shape;393;p64"/>
          <p:cNvSpPr/>
          <p:nvPr/>
        </p:nvSpPr>
        <p:spPr>
          <a:xfrm>
            <a:off x="6935692" y="4435839"/>
            <a:ext cx="1983544" cy="461664"/>
          </a:xfrm>
          <a:prstGeom prst="roundRect">
            <a:avLst>
              <a:gd fmla="val 16667" name="adj"/>
            </a:avLst>
          </a:prstGeom>
          <a:solidFill>
            <a:schemeClr val="accent1"/>
          </a:solidFill>
          <a:ln cap="flat" cmpd="sng" w="254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Alternativas informales</a:t>
            </a:r>
            <a:endParaRPr b="0" i="0" sz="1400" u="none" cap="none" strike="noStrike">
              <a:solidFill>
                <a:schemeClr val="lt1"/>
              </a:solidFill>
              <a:latin typeface="Arial"/>
              <a:ea typeface="Arial"/>
              <a:cs typeface="Arial"/>
              <a:sym typeface="Arial"/>
            </a:endParaRPr>
          </a:p>
        </p:txBody>
      </p:sp>
      <p:sp>
        <p:nvSpPr>
          <p:cNvPr id="394" name="Google Shape;394;p64"/>
          <p:cNvSpPr/>
          <p:nvPr/>
        </p:nvSpPr>
        <p:spPr>
          <a:xfrm>
            <a:off x="7141536" y="6096046"/>
            <a:ext cx="1563197" cy="596646"/>
          </a:xfrm>
          <a:prstGeom prst="doubleWave">
            <a:avLst>
              <a:gd fmla="val 6250" name="adj1"/>
              <a:gd fmla="val 0" name="adj2"/>
            </a:avLst>
          </a:prstGeom>
          <a:solidFill>
            <a:srgbClr val="FF0000"/>
          </a:solidFill>
          <a:ln cap="flat" cmpd="sng" w="25400">
            <a:solidFill>
              <a:srgbClr val="147EA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AR" sz="1400" u="none" cap="none" strike="noStrike">
                <a:solidFill>
                  <a:schemeClr val="lt1"/>
                </a:solidFill>
                <a:latin typeface="Arial"/>
                <a:ea typeface="Arial"/>
                <a:cs typeface="Arial"/>
                <a:sym typeface="Arial"/>
              </a:rPr>
              <a:t>REPASO</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0"/>
          <p:cNvSpPr txBox="1"/>
          <p:nvPr/>
        </p:nvSpPr>
        <p:spPr>
          <a:xfrm>
            <a:off x="131688" y="98266"/>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Clr>
                <a:srgbClr val="000000"/>
              </a:buClr>
              <a:buSzPts val="1845"/>
              <a:buFont typeface="Arial"/>
              <a:buNone/>
            </a:pPr>
            <a:r>
              <a:rPr b="1" i="0" lang="es-AR"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Clr>
                <a:srgbClr val="000000"/>
              </a:buClr>
              <a:buSzPts val="2954"/>
              <a:buFont typeface="Arial"/>
              <a:buNone/>
            </a:pPr>
            <a:r>
              <a:rPr b="1" i="0" lang="es-AR"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400" name="Google Shape;400;p70"/>
          <p:cNvSpPr/>
          <p:nvPr/>
        </p:nvSpPr>
        <p:spPr>
          <a:xfrm>
            <a:off x="2863397" y="2249228"/>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Jornada de trabajo y descansos</a:t>
            </a:r>
            <a:endParaRPr b="0" i="0" sz="1400" u="none" cap="none" strike="noStrike">
              <a:solidFill>
                <a:srgbClr val="000000"/>
              </a:solidFill>
              <a:latin typeface="Arial"/>
              <a:ea typeface="Arial"/>
              <a:cs typeface="Arial"/>
              <a:sym typeface="Arial"/>
            </a:endParaRPr>
          </a:p>
        </p:txBody>
      </p:sp>
      <p:sp>
        <p:nvSpPr>
          <p:cNvPr id="401" name="Google Shape;401;p70">
            <a:hlinkClick action="ppaction://hlinksldjump" r:id="rId3"/>
          </p:cNvPr>
          <p:cNvSpPr/>
          <p:nvPr/>
        </p:nvSpPr>
        <p:spPr>
          <a:xfrm>
            <a:off x="2665570" y="224922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02" name="Google Shape;402;p70"/>
          <p:cNvSpPr/>
          <p:nvPr/>
        </p:nvSpPr>
        <p:spPr>
          <a:xfrm>
            <a:off x="2863397" y="2883393"/>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Horas extraordinarios o suplementarias</a:t>
            </a:r>
            <a:endParaRPr b="0" i="0" sz="1400" u="none" cap="none" strike="noStrike">
              <a:solidFill>
                <a:srgbClr val="000000"/>
              </a:solidFill>
              <a:latin typeface="Arial"/>
              <a:ea typeface="Arial"/>
              <a:cs typeface="Arial"/>
              <a:sym typeface="Arial"/>
            </a:endParaRPr>
          </a:p>
        </p:txBody>
      </p:sp>
      <p:sp>
        <p:nvSpPr>
          <p:cNvPr id="403" name="Google Shape;403;p70">
            <a:hlinkClick action="ppaction://hlinksldjump" r:id="rId4"/>
          </p:cNvPr>
          <p:cNvSpPr/>
          <p:nvPr/>
        </p:nvSpPr>
        <p:spPr>
          <a:xfrm>
            <a:off x="2665570" y="284271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pic>
        <p:nvPicPr>
          <p:cNvPr descr="Resultado de imagen para utn regional buenos aires ingenieria industrial" id="404" name="Google Shape;404;p70"/>
          <p:cNvPicPr preferRelativeResize="0"/>
          <p:nvPr/>
        </p:nvPicPr>
        <p:blipFill rotWithShape="1">
          <a:blip r:embed="rId5">
            <a:alphaModFix/>
          </a:blip>
          <a:srcRect b="0" l="0" r="0" t="0"/>
          <a:stretch/>
        </p:blipFill>
        <p:spPr>
          <a:xfrm>
            <a:off x="6517680" y="271096"/>
            <a:ext cx="2637692" cy="1011116"/>
          </a:xfrm>
          <a:prstGeom prst="rect">
            <a:avLst/>
          </a:prstGeom>
          <a:noFill/>
          <a:ln>
            <a:noFill/>
          </a:ln>
        </p:spPr>
      </p:pic>
      <p:sp>
        <p:nvSpPr>
          <p:cNvPr id="405" name="Google Shape;405;p70"/>
          <p:cNvSpPr/>
          <p:nvPr/>
        </p:nvSpPr>
        <p:spPr>
          <a:xfrm>
            <a:off x="1667643" y="1625835"/>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406" name="Google Shape;406;p70">
            <a:hlinkClick action="ppaction://hlinksldjump" r:id="rId6"/>
          </p:cNvPr>
          <p:cNvSpPr/>
          <p:nvPr/>
        </p:nvSpPr>
        <p:spPr>
          <a:xfrm>
            <a:off x="1469816" y="159288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407" name="Google Shape;407;p70"/>
          <p:cNvSpPr/>
          <p:nvPr/>
        </p:nvSpPr>
        <p:spPr>
          <a:xfrm>
            <a:off x="2863397" y="4072395"/>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Sueldo anual complementario</a:t>
            </a:r>
            <a:endParaRPr b="0" i="0" sz="1400" u="none" cap="none" strike="noStrike">
              <a:solidFill>
                <a:srgbClr val="000000"/>
              </a:solidFill>
              <a:latin typeface="Arial"/>
              <a:ea typeface="Arial"/>
              <a:cs typeface="Arial"/>
              <a:sym typeface="Arial"/>
            </a:endParaRPr>
          </a:p>
        </p:txBody>
      </p:sp>
      <p:sp>
        <p:nvSpPr>
          <p:cNvPr id="408" name="Google Shape;408;p70">
            <a:hlinkClick action="ppaction://hlinksldjump" r:id="rId7"/>
          </p:cNvPr>
          <p:cNvSpPr/>
          <p:nvPr/>
        </p:nvSpPr>
        <p:spPr>
          <a:xfrm>
            <a:off x="2665570" y="403171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09" name="Google Shape;409;p70"/>
          <p:cNvSpPr/>
          <p:nvPr/>
        </p:nvSpPr>
        <p:spPr>
          <a:xfrm>
            <a:off x="2863397" y="466587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Licencias especiales</a:t>
            </a:r>
            <a:endParaRPr b="0" i="0" sz="1400" u="none" cap="none" strike="noStrike">
              <a:solidFill>
                <a:srgbClr val="000000"/>
              </a:solidFill>
              <a:latin typeface="Arial"/>
              <a:ea typeface="Arial"/>
              <a:cs typeface="Arial"/>
              <a:sym typeface="Arial"/>
            </a:endParaRPr>
          </a:p>
        </p:txBody>
      </p:sp>
      <p:sp>
        <p:nvSpPr>
          <p:cNvPr id="410" name="Google Shape;410;p70">
            <a:hlinkClick action="ppaction://hlinksldjump" r:id="rId8"/>
          </p:cNvPr>
          <p:cNvSpPr/>
          <p:nvPr/>
        </p:nvSpPr>
        <p:spPr>
          <a:xfrm>
            <a:off x="2665570" y="462519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11" name="Google Shape;411;p70"/>
          <p:cNvSpPr/>
          <p:nvPr/>
        </p:nvSpPr>
        <p:spPr>
          <a:xfrm>
            <a:off x="2863397" y="5259363"/>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Maternidad</a:t>
            </a:r>
            <a:endParaRPr b="0" i="0" sz="1400" u="none" cap="none" strike="noStrike">
              <a:solidFill>
                <a:srgbClr val="000000"/>
              </a:solidFill>
              <a:latin typeface="Arial"/>
              <a:ea typeface="Arial"/>
              <a:cs typeface="Arial"/>
              <a:sym typeface="Arial"/>
            </a:endParaRPr>
          </a:p>
        </p:txBody>
      </p:sp>
      <p:sp>
        <p:nvSpPr>
          <p:cNvPr id="412" name="Google Shape;412;p70">
            <a:hlinkClick action="ppaction://hlinksldjump" r:id="rId9"/>
          </p:cNvPr>
          <p:cNvSpPr/>
          <p:nvPr/>
        </p:nvSpPr>
        <p:spPr>
          <a:xfrm>
            <a:off x="2665570" y="521868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13" name="Google Shape;413;p70"/>
          <p:cNvSpPr/>
          <p:nvPr/>
        </p:nvSpPr>
        <p:spPr>
          <a:xfrm>
            <a:off x="2863396" y="5893528"/>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Enfermedades y accidentes inculpables</a:t>
            </a:r>
            <a:endParaRPr b="0" i="0" sz="1400" u="none" cap="none" strike="noStrike">
              <a:solidFill>
                <a:srgbClr val="000000"/>
              </a:solidFill>
              <a:latin typeface="Arial"/>
              <a:ea typeface="Arial"/>
              <a:cs typeface="Arial"/>
              <a:sym typeface="Arial"/>
            </a:endParaRPr>
          </a:p>
        </p:txBody>
      </p:sp>
      <p:sp>
        <p:nvSpPr>
          <p:cNvPr id="414" name="Google Shape;414;p70">
            <a:hlinkClick action="ppaction://hlinksldjump" r:id="rId10"/>
          </p:cNvPr>
          <p:cNvSpPr/>
          <p:nvPr/>
        </p:nvSpPr>
        <p:spPr>
          <a:xfrm>
            <a:off x="2665569" y="585284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
        <p:nvSpPr>
          <p:cNvPr id="415" name="Google Shape;415;p70"/>
          <p:cNvSpPr/>
          <p:nvPr/>
        </p:nvSpPr>
        <p:spPr>
          <a:xfrm>
            <a:off x="2863396" y="3478908"/>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Vacaciones</a:t>
            </a:r>
            <a:endParaRPr b="0" i="0" sz="1400" u="none" cap="none" strike="noStrike">
              <a:solidFill>
                <a:srgbClr val="000000"/>
              </a:solidFill>
              <a:latin typeface="Arial"/>
              <a:ea typeface="Arial"/>
              <a:cs typeface="Arial"/>
              <a:sym typeface="Arial"/>
            </a:endParaRPr>
          </a:p>
        </p:txBody>
      </p:sp>
      <p:sp>
        <p:nvSpPr>
          <p:cNvPr id="416" name="Google Shape;416;p70">
            <a:hlinkClick action="ppaction://hlinksldjump" r:id="rId11"/>
          </p:cNvPr>
          <p:cNvSpPr/>
          <p:nvPr/>
        </p:nvSpPr>
        <p:spPr>
          <a:xfrm>
            <a:off x="2665569" y="343822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3232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7"/>
          <p:cNvSpPr/>
          <p:nvPr/>
        </p:nvSpPr>
        <p:spPr>
          <a:xfrm>
            <a:off x="558854" y="1551469"/>
            <a:ext cx="8489640" cy="2181347"/>
          </a:xfrm>
          <a:prstGeom prst="parallelogram">
            <a:avLst>
              <a:gd fmla="val 25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422" name="Google Shape;422;p17"/>
          <p:cNvSpPr txBox="1"/>
          <p:nvPr/>
        </p:nvSpPr>
        <p:spPr>
          <a:xfrm>
            <a:off x="1136019" y="1848697"/>
            <a:ext cx="7335310" cy="1477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3F3F3F"/>
              </a:buClr>
              <a:buSzPts val="2400"/>
              <a:buFont typeface="Arial"/>
              <a:buNone/>
            </a:pPr>
            <a:r>
              <a:rPr b="0" i="0" lang="es-AR" sz="2400" u="none" cap="none" strike="noStrike">
                <a:solidFill>
                  <a:srgbClr val="3F3F3F"/>
                </a:solidFill>
                <a:latin typeface="Arial"/>
                <a:ea typeface="Arial"/>
                <a:cs typeface="Arial"/>
                <a:sym typeface="Arial"/>
              </a:rPr>
              <a:t>Se entiende por </a:t>
            </a:r>
            <a:r>
              <a:rPr b="1" i="0" lang="es-AR" sz="2400" u="sng" cap="none" strike="noStrike">
                <a:solidFill>
                  <a:srgbClr val="3F3F3F"/>
                </a:solidFill>
                <a:latin typeface="Arial"/>
                <a:ea typeface="Arial"/>
                <a:cs typeface="Arial"/>
                <a:sym typeface="Arial"/>
              </a:rPr>
              <a:t>jornada de trabajo </a:t>
            </a:r>
            <a:r>
              <a:rPr b="0" i="0" lang="es-AR" sz="2400" u="none" cap="none" strike="noStrike">
                <a:solidFill>
                  <a:srgbClr val="3F3F3F"/>
                </a:solidFill>
                <a:latin typeface="Arial"/>
                <a:ea typeface="Arial"/>
                <a:cs typeface="Arial"/>
                <a:sym typeface="Arial"/>
              </a:rPr>
              <a:t>todo el tiempo durante el cual el trabajador esté a disposición del empleador en tanto no pueda disponer de su actividad en beneficio propio. </a:t>
            </a:r>
            <a:endParaRPr b="0" i="0" sz="2400" u="none" cap="none" strike="noStrike">
              <a:solidFill>
                <a:schemeClr val="dk1"/>
              </a:solidFill>
              <a:latin typeface="Arial"/>
              <a:ea typeface="Arial"/>
              <a:cs typeface="Arial"/>
              <a:sym typeface="Arial"/>
            </a:endParaRPr>
          </a:p>
        </p:txBody>
      </p:sp>
      <p:sp>
        <p:nvSpPr>
          <p:cNvPr id="423" name="Google Shape;423;p17"/>
          <p:cNvSpPr/>
          <p:nvPr/>
        </p:nvSpPr>
        <p:spPr>
          <a:xfrm>
            <a:off x="8183900" y="5977929"/>
            <a:ext cx="574859" cy="383615"/>
          </a:xfrm>
          <a:custGeom>
            <a:rect b="b" l="l" r="r" t="t"/>
            <a:pathLst>
              <a:path extrusionOk="0" fill="none" h="16026" w="18365">
                <a:moveTo>
                  <a:pt x="9182" y="0"/>
                </a:moveTo>
                <a:lnTo>
                  <a:pt x="0" y="8841"/>
                </a:lnTo>
                <a:lnTo>
                  <a:pt x="2874" y="8841"/>
                </a:lnTo>
                <a:lnTo>
                  <a:pt x="2874" y="15246"/>
                </a:lnTo>
                <a:lnTo>
                  <a:pt x="2874" y="15246"/>
                </a:lnTo>
                <a:lnTo>
                  <a:pt x="2899" y="15417"/>
                </a:lnTo>
                <a:lnTo>
                  <a:pt x="2947" y="15563"/>
                </a:lnTo>
                <a:lnTo>
                  <a:pt x="3020" y="15685"/>
                </a:lnTo>
                <a:lnTo>
                  <a:pt x="3093" y="15806"/>
                </a:lnTo>
                <a:lnTo>
                  <a:pt x="3215" y="15904"/>
                </a:lnTo>
                <a:lnTo>
                  <a:pt x="3361" y="15977"/>
                </a:lnTo>
                <a:lnTo>
                  <a:pt x="3508" y="16026"/>
                </a:lnTo>
                <a:lnTo>
                  <a:pt x="3654" y="16026"/>
                </a:lnTo>
                <a:lnTo>
                  <a:pt x="7404" y="16026"/>
                </a:lnTo>
                <a:lnTo>
                  <a:pt x="7404" y="13420"/>
                </a:lnTo>
                <a:lnTo>
                  <a:pt x="7404" y="13420"/>
                </a:lnTo>
                <a:lnTo>
                  <a:pt x="7429" y="13127"/>
                </a:lnTo>
                <a:lnTo>
                  <a:pt x="7526" y="12860"/>
                </a:lnTo>
                <a:lnTo>
                  <a:pt x="7648" y="12616"/>
                </a:lnTo>
                <a:lnTo>
                  <a:pt x="7818" y="12421"/>
                </a:lnTo>
                <a:lnTo>
                  <a:pt x="8038" y="12251"/>
                </a:lnTo>
                <a:lnTo>
                  <a:pt x="8257" y="12129"/>
                </a:lnTo>
                <a:lnTo>
                  <a:pt x="8525" y="12031"/>
                </a:lnTo>
                <a:lnTo>
                  <a:pt x="8817" y="12007"/>
                </a:lnTo>
                <a:lnTo>
                  <a:pt x="9548" y="12007"/>
                </a:lnTo>
                <a:lnTo>
                  <a:pt x="9548" y="12007"/>
                </a:lnTo>
                <a:lnTo>
                  <a:pt x="9840" y="12031"/>
                </a:lnTo>
                <a:lnTo>
                  <a:pt x="10108" y="12129"/>
                </a:lnTo>
                <a:lnTo>
                  <a:pt x="10327" y="12251"/>
                </a:lnTo>
                <a:lnTo>
                  <a:pt x="10546" y="12421"/>
                </a:lnTo>
                <a:lnTo>
                  <a:pt x="10717" y="12616"/>
                </a:lnTo>
                <a:lnTo>
                  <a:pt x="10838" y="12860"/>
                </a:lnTo>
                <a:lnTo>
                  <a:pt x="10936" y="13127"/>
                </a:lnTo>
                <a:lnTo>
                  <a:pt x="10960" y="13420"/>
                </a:lnTo>
                <a:lnTo>
                  <a:pt x="10960" y="16026"/>
                </a:lnTo>
                <a:lnTo>
                  <a:pt x="14711" y="16026"/>
                </a:lnTo>
                <a:lnTo>
                  <a:pt x="14711" y="16026"/>
                </a:lnTo>
                <a:lnTo>
                  <a:pt x="14857" y="16026"/>
                </a:lnTo>
                <a:lnTo>
                  <a:pt x="15003" y="15977"/>
                </a:lnTo>
                <a:lnTo>
                  <a:pt x="15149" y="15904"/>
                </a:lnTo>
                <a:lnTo>
                  <a:pt x="15271" y="15806"/>
                </a:lnTo>
                <a:lnTo>
                  <a:pt x="15344" y="15685"/>
                </a:lnTo>
                <a:lnTo>
                  <a:pt x="15417" y="15563"/>
                </a:lnTo>
                <a:lnTo>
                  <a:pt x="15466" y="15417"/>
                </a:lnTo>
                <a:lnTo>
                  <a:pt x="15490" y="15246"/>
                </a:lnTo>
                <a:lnTo>
                  <a:pt x="15490" y="8841"/>
                </a:lnTo>
                <a:lnTo>
                  <a:pt x="18364" y="8841"/>
                </a:lnTo>
                <a:lnTo>
                  <a:pt x="9182" y="0"/>
                </a:lnTo>
                <a:close/>
              </a:path>
            </a:pathLst>
          </a:custGeom>
          <a:solidFill>
            <a:schemeClr val="lt1"/>
          </a:solid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424" name="Google Shape;424;p17"/>
          <p:cNvSpPr txBox="1"/>
          <p:nvPr/>
        </p:nvSpPr>
        <p:spPr>
          <a:xfrm>
            <a:off x="362806" y="125299"/>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Jornada de trabajo y descansos</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425" name="Google Shape;425;p17"/>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426" name="Google Shape;426;p17"/>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id="427" name="Google Shape;427;p17"/>
          <p:cNvPicPr preferRelativeResize="0"/>
          <p:nvPr/>
        </p:nvPicPr>
        <p:blipFill rotWithShape="1">
          <a:blip r:embed="rId4">
            <a:alphaModFix/>
          </a:blip>
          <a:srcRect b="0" l="0" r="0" t="0"/>
          <a:stretch/>
        </p:blipFill>
        <p:spPr>
          <a:xfrm>
            <a:off x="1548230" y="4128292"/>
            <a:ext cx="3239145" cy="2356478"/>
          </a:xfrm>
          <a:prstGeom prst="rect">
            <a:avLst/>
          </a:prstGeom>
          <a:noFill/>
          <a:ln>
            <a:noFill/>
          </a:ln>
        </p:spPr>
      </p:pic>
      <p:sp>
        <p:nvSpPr>
          <p:cNvPr id="428" name="Google Shape;428;p17"/>
          <p:cNvSpPr/>
          <p:nvPr/>
        </p:nvSpPr>
        <p:spPr>
          <a:xfrm>
            <a:off x="5232184" y="4195584"/>
            <a:ext cx="3239145" cy="1974152"/>
          </a:xfrm>
          <a:prstGeom prst="flowChartPunchedTape">
            <a:avLst/>
          </a:prstGeom>
          <a:solidFill>
            <a:srgbClr val="7030A0"/>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Twentieth Century"/>
                <a:ea typeface="Twentieth Century"/>
                <a:cs typeface="Twentieth Century"/>
                <a:sym typeface="Twentieth Century"/>
              </a:rPr>
              <a:t>La CN en el art. 14 bis garantiza la jornada limitada, la LCT y la ley 11.544 regulan las jornadas máximas.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p:nvPr/>
        </p:nvSpPr>
        <p:spPr>
          <a:xfrm>
            <a:off x="197395" y="4157651"/>
            <a:ext cx="8749210" cy="1902163"/>
          </a:xfrm>
          <a:prstGeom prst="parallelogram">
            <a:avLst>
              <a:gd fmla="val 25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500"/>
              <a:buFont typeface="Twentieth Century"/>
              <a:buNone/>
            </a:pPr>
            <a:r>
              <a:t/>
            </a:r>
            <a:endParaRPr b="0" i="0" sz="1500" u="none" cap="none" strike="noStrike">
              <a:solidFill>
                <a:srgbClr val="0C161D"/>
              </a:solidFill>
              <a:latin typeface="Calibri"/>
              <a:ea typeface="Calibri"/>
              <a:cs typeface="Calibri"/>
              <a:sym typeface="Calibri"/>
            </a:endParaRPr>
          </a:p>
        </p:txBody>
      </p:sp>
      <p:sp>
        <p:nvSpPr>
          <p:cNvPr id="434" name="Google Shape;434;p71"/>
          <p:cNvSpPr txBox="1"/>
          <p:nvPr/>
        </p:nvSpPr>
        <p:spPr>
          <a:xfrm>
            <a:off x="796834" y="4293125"/>
            <a:ext cx="7736114" cy="163121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rgbClr val="0C161D"/>
                </a:solidFill>
                <a:latin typeface="Calibri"/>
                <a:ea typeface="Calibri"/>
                <a:cs typeface="Calibri"/>
                <a:sym typeface="Calibri"/>
              </a:rPr>
              <a:t>JORNADA ORDINARIA (Máxima)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rgbClr val="0C161D"/>
                </a:solidFill>
                <a:latin typeface="Calibri"/>
                <a:ea typeface="Calibri"/>
                <a:cs typeface="Calibri"/>
                <a:sym typeface="Calibri"/>
              </a:rPr>
              <a:t>8 hs diarias o hasta 48 hs semanales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rgbClr val="0C161D"/>
              </a:solidFill>
              <a:latin typeface="Calibri"/>
              <a:ea typeface="Calibri"/>
              <a:cs typeface="Calibri"/>
              <a:sym typeface="Calibri"/>
            </a:endParaRPr>
          </a:p>
          <a:p>
            <a:pPr indent="0" lvl="0" marL="0" marR="0" rtl="0" algn="l">
              <a:lnSpc>
                <a:spcPct val="100000"/>
              </a:lnSpc>
              <a:spcBef>
                <a:spcPts val="0"/>
              </a:spcBef>
              <a:spcAft>
                <a:spcPts val="0"/>
              </a:spcAft>
              <a:buClr>
                <a:srgbClr val="0C161D"/>
              </a:buClr>
              <a:buSzPts val="1800"/>
              <a:buFont typeface="Calibri"/>
              <a:buNone/>
            </a:pPr>
            <a:r>
              <a:rPr b="0" i="0" lang="es-AR" sz="1800" u="none" cap="none" strike="noStrike">
                <a:solidFill>
                  <a:srgbClr val="0C161D"/>
                </a:solidFill>
                <a:latin typeface="Calibri"/>
                <a:ea typeface="Calibri"/>
                <a:cs typeface="Calibri"/>
                <a:sym typeface="Calibri"/>
              </a:rPr>
              <a:t>La duración del trabajo no podrá exceder de 9 horas diarias y el descanso entre jornadas debe ser mínimo de 12h.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Twentieth Century"/>
              <a:buNone/>
            </a:pPr>
            <a:r>
              <a:t/>
            </a:r>
            <a:endParaRPr b="0" i="0" sz="1600" u="none" cap="none" strike="noStrike">
              <a:solidFill>
                <a:srgbClr val="0C161D"/>
              </a:solidFill>
              <a:latin typeface="Calibri"/>
              <a:ea typeface="Calibri"/>
              <a:cs typeface="Calibri"/>
              <a:sym typeface="Calibri"/>
            </a:endParaRPr>
          </a:p>
        </p:txBody>
      </p:sp>
      <p:sp>
        <p:nvSpPr>
          <p:cNvPr id="435" name="Google Shape;435;p71"/>
          <p:cNvSpPr/>
          <p:nvPr/>
        </p:nvSpPr>
        <p:spPr>
          <a:xfrm>
            <a:off x="3758375" y="1272859"/>
            <a:ext cx="1716016" cy="1222216"/>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71"/>
          <p:cNvSpPr txBox="1"/>
          <p:nvPr/>
        </p:nvSpPr>
        <p:spPr>
          <a:xfrm>
            <a:off x="3818039" y="1332523"/>
            <a:ext cx="1596688" cy="110288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2400"/>
              <a:buFont typeface="Twentieth Century"/>
              <a:buNone/>
            </a:pPr>
            <a:r>
              <a:rPr b="0" i="0" lang="es-AR" sz="2400" u="none" cap="none" strike="noStrike">
                <a:solidFill>
                  <a:schemeClr val="lt1"/>
                </a:solidFill>
                <a:latin typeface="Twentieth Century"/>
                <a:ea typeface="Twentieth Century"/>
                <a:cs typeface="Twentieth Century"/>
                <a:sym typeface="Twentieth Century"/>
              </a:rPr>
              <a:t>JORNADA DE TRABAJO</a:t>
            </a:r>
            <a:endParaRPr b="0" i="0" sz="1400" u="none" cap="none" strike="noStrike">
              <a:solidFill>
                <a:srgbClr val="000000"/>
              </a:solidFill>
              <a:latin typeface="Arial"/>
              <a:ea typeface="Arial"/>
              <a:cs typeface="Arial"/>
              <a:sym typeface="Arial"/>
            </a:endParaRPr>
          </a:p>
        </p:txBody>
      </p:sp>
      <p:sp>
        <p:nvSpPr>
          <p:cNvPr id="437" name="Google Shape;437;p71"/>
          <p:cNvSpPr/>
          <p:nvPr/>
        </p:nvSpPr>
        <p:spPr>
          <a:xfrm rot="9955724">
            <a:off x="2474178" y="2257517"/>
            <a:ext cx="1303757" cy="0"/>
          </a:xfrm>
          <a:custGeom>
            <a:rect b="b" l="l" r="r" t="t"/>
            <a:pathLst>
              <a:path extrusionOk="0" h="120000" w="120000">
                <a:moveTo>
                  <a:pt x="0" y="0"/>
                </a:moveTo>
                <a:lnTo>
                  <a:pt x="120000" y="0"/>
                </a:lnTo>
              </a:path>
            </a:pathLst>
          </a:custGeom>
          <a:noFill/>
          <a:ln cap="flat" cmpd="sng" w="15875">
            <a:solidFill>
              <a:srgbClr val="1488B3"/>
            </a:solidFill>
            <a:prstDash val="solid"/>
            <a:round/>
            <a:headEnd len="sm" w="sm" type="none"/>
            <a:tailEnd len="sm" w="sm" type="none"/>
          </a:ln>
        </p:spPr>
      </p:sp>
      <p:sp>
        <p:nvSpPr>
          <p:cNvPr id="438" name="Google Shape;438;p71"/>
          <p:cNvSpPr/>
          <p:nvPr/>
        </p:nvSpPr>
        <p:spPr>
          <a:xfrm>
            <a:off x="486413" y="2258132"/>
            <a:ext cx="2007324" cy="818885"/>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71"/>
          <p:cNvSpPr txBox="1"/>
          <p:nvPr/>
        </p:nvSpPr>
        <p:spPr>
          <a:xfrm>
            <a:off x="526388" y="2298107"/>
            <a:ext cx="1927374" cy="73893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2400"/>
              <a:buFont typeface="Twentieth Century"/>
              <a:buNone/>
            </a:pPr>
            <a:r>
              <a:rPr b="0" i="0" lang="es-AR" sz="2400" u="none" cap="none" strike="noStrike">
                <a:solidFill>
                  <a:schemeClr val="lt1"/>
                </a:solidFill>
                <a:latin typeface="Twentieth Century"/>
                <a:ea typeface="Twentieth Century"/>
                <a:cs typeface="Twentieth Century"/>
                <a:sym typeface="Twentieth Century"/>
              </a:rPr>
              <a:t>ORDINARIA</a:t>
            </a:r>
            <a:endParaRPr b="0" i="0" sz="1400" u="none" cap="none" strike="noStrike">
              <a:solidFill>
                <a:srgbClr val="000000"/>
              </a:solidFill>
              <a:latin typeface="Arial"/>
              <a:ea typeface="Arial"/>
              <a:cs typeface="Arial"/>
              <a:sym typeface="Arial"/>
            </a:endParaRPr>
          </a:p>
        </p:txBody>
      </p:sp>
      <p:sp>
        <p:nvSpPr>
          <p:cNvPr id="440" name="Google Shape;440;p71"/>
          <p:cNvSpPr/>
          <p:nvPr/>
        </p:nvSpPr>
        <p:spPr>
          <a:xfrm rot="591677">
            <a:off x="5463627" y="2157889"/>
            <a:ext cx="1457086" cy="0"/>
          </a:xfrm>
          <a:custGeom>
            <a:rect b="b" l="l" r="r" t="t"/>
            <a:pathLst>
              <a:path extrusionOk="0" h="120000" w="120000">
                <a:moveTo>
                  <a:pt x="0" y="0"/>
                </a:moveTo>
                <a:lnTo>
                  <a:pt x="120000" y="0"/>
                </a:lnTo>
              </a:path>
            </a:pathLst>
          </a:custGeom>
          <a:noFill/>
          <a:ln cap="flat" cmpd="sng" w="15875">
            <a:solidFill>
              <a:srgbClr val="1488B3"/>
            </a:solidFill>
            <a:prstDash val="solid"/>
            <a:round/>
            <a:headEnd len="sm" w="sm" type="none"/>
            <a:tailEnd len="sm" w="sm" type="none"/>
          </a:ln>
        </p:spPr>
      </p:sp>
      <p:sp>
        <p:nvSpPr>
          <p:cNvPr id="441" name="Google Shape;441;p71"/>
          <p:cNvSpPr/>
          <p:nvPr/>
        </p:nvSpPr>
        <p:spPr>
          <a:xfrm>
            <a:off x="6909949" y="2037507"/>
            <a:ext cx="1890199" cy="818885"/>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71"/>
          <p:cNvSpPr txBox="1"/>
          <p:nvPr/>
        </p:nvSpPr>
        <p:spPr>
          <a:xfrm>
            <a:off x="6949924" y="2077482"/>
            <a:ext cx="1810249" cy="73893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2400"/>
              <a:buFont typeface="Twentieth Century"/>
              <a:buNone/>
            </a:pPr>
            <a:r>
              <a:rPr b="0" i="0" lang="es-AR" sz="2400" u="none" cap="none" strike="noStrike">
                <a:solidFill>
                  <a:schemeClr val="lt1"/>
                </a:solidFill>
                <a:latin typeface="Twentieth Century"/>
                <a:ea typeface="Twentieth Century"/>
                <a:cs typeface="Twentieth Century"/>
                <a:sym typeface="Twentieth Century"/>
              </a:rPr>
              <a:t>INSALUBRE</a:t>
            </a:r>
            <a:endParaRPr b="0" i="0" sz="1400" u="none" cap="none" strike="noStrike">
              <a:solidFill>
                <a:srgbClr val="000000"/>
              </a:solidFill>
              <a:latin typeface="Arial"/>
              <a:ea typeface="Arial"/>
              <a:cs typeface="Arial"/>
              <a:sym typeface="Arial"/>
            </a:endParaRPr>
          </a:p>
        </p:txBody>
      </p:sp>
      <p:sp>
        <p:nvSpPr>
          <p:cNvPr id="443" name="Google Shape;443;p71"/>
          <p:cNvSpPr/>
          <p:nvPr/>
        </p:nvSpPr>
        <p:spPr>
          <a:xfrm rot="5463172">
            <a:off x="4308782" y="2786048"/>
            <a:ext cx="582044" cy="0"/>
          </a:xfrm>
          <a:custGeom>
            <a:rect b="b" l="l" r="r" t="t"/>
            <a:pathLst>
              <a:path extrusionOk="0" h="120000" w="120000">
                <a:moveTo>
                  <a:pt x="0" y="0"/>
                </a:moveTo>
                <a:lnTo>
                  <a:pt x="120000" y="0"/>
                </a:lnTo>
              </a:path>
            </a:pathLst>
          </a:custGeom>
          <a:noFill/>
          <a:ln cap="flat" cmpd="sng" w="15875">
            <a:solidFill>
              <a:srgbClr val="1488B3"/>
            </a:solidFill>
            <a:prstDash val="solid"/>
            <a:round/>
            <a:headEnd len="sm" w="sm" type="none"/>
            <a:tailEnd len="sm" w="sm" type="none"/>
          </a:ln>
        </p:spPr>
      </p:sp>
      <p:sp>
        <p:nvSpPr>
          <p:cNvPr id="444" name="Google Shape;444;p71"/>
          <p:cNvSpPr/>
          <p:nvPr/>
        </p:nvSpPr>
        <p:spPr>
          <a:xfrm>
            <a:off x="3694352" y="3077021"/>
            <a:ext cx="1785161" cy="818885"/>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71"/>
          <p:cNvSpPr txBox="1"/>
          <p:nvPr/>
        </p:nvSpPr>
        <p:spPr>
          <a:xfrm>
            <a:off x="3734327" y="3116996"/>
            <a:ext cx="1705211" cy="738935"/>
          </a:xfrm>
          <a:prstGeom prst="rect">
            <a:avLst/>
          </a:prstGeom>
          <a:noFill/>
          <a:ln>
            <a:noFill/>
          </a:ln>
        </p:spPr>
        <p:txBody>
          <a:bodyPr anchorCtr="0" anchor="ctr" bIns="50800" lIns="50800" spcFirstLastPara="1" rIns="50800" wrap="square" tIns="50800">
            <a:noAutofit/>
          </a:bodyPr>
          <a:lstStyle/>
          <a:p>
            <a:pPr indent="0" lvl="0" marL="0" marR="0" rtl="0" algn="ctr">
              <a:lnSpc>
                <a:spcPct val="90000"/>
              </a:lnSpc>
              <a:spcBef>
                <a:spcPts val="0"/>
              </a:spcBef>
              <a:spcAft>
                <a:spcPts val="0"/>
              </a:spcAft>
              <a:buClr>
                <a:schemeClr val="lt1"/>
              </a:buClr>
              <a:buSzPts val="2000"/>
              <a:buFont typeface="Twentieth Century"/>
              <a:buNone/>
            </a:pPr>
            <a:r>
              <a:rPr b="0" i="0" lang="es-AR" sz="2000" u="none" cap="none" strike="noStrike">
                <a:solidFill>
                  <a:schemeClr val="lt1"/>
                </a:solidFill>
                <a:latin typeface="Twentieth Century"/>
                <a:ea typeface="Twentieth Century"/>
                <a:cs typeface="Twentieth Century"/>
                <a:sym typeface="Twentieth Century"/>
              </a:rPr>
              <a:t>NOCTURNA</a:t>
            </a:r>
            <a:endParaRPr b="0" i="0" sz="1400" u="none" cap="none" strike="noStrike">
              <a:solidFill>
                <a:srgbClr val="000000"/>
              </a:solidFill>
              <a:latin typeface="Arial"/>
              <a:ea typeface="Arial"/>
              <a:cs typeface="Arial"/>
              <a:sym typeface="Arial"/>
            </a:endParaRPr>
          </a:p>
        </p:txBody>
      </p:sp>
      <p:sp>
        <p:nvSpPr>
          <p:cNvPr id="446" name="Google Shape;446;p71"/>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447" name="Google Shape;447;p71"/>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448" name="Google Shape;448;p71"/>
          <p:cNvSpPr/>
          <p:nvPr/>
        </p:nvSpPr>
        <p:spPr>
          <a:xfrm>
            <a:off x="88590" y="432999"/>
            <a:ext cx="4572000" cy="590931"/>
          </a:xfrm>
          <a:prstGeom prst="rect">
            <a:avLst/>
          </a:prstGeom>
          <a:no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Jornada de trabajo y descansos</a:t>
            </a:r>
            <a:endParaRPr b="0" i="0" sz="1800" u="none" cap="none" strike="noStrike">
              <a:solidFill>
                <a:schemeClr val="dk1"/>
              </a:solidFill>
              <a:latin typeface="Twentieth Century"/>
              <a:ea typeface="Twentieth Century"/>
              <a:cs typeface="Twentieth Century"/>
              <a:sym typeface="Twentieth Century"/>
            </a:endParaRPr>
          </a:p>
        </p:txBody>
      </p:sp>
      <p:pic>
        <p:nvPicPr>
          <p:cNvPr id="449" name="Google Shape;449;p71"/>
          <p:cNvPicPr preferRelativeResize="0"/>
          <p:nvPr/>
        </p:nvPicPr>
        <p:blipFill rotWithShape="1">
          <a:blip r:embed="rId4">
            <a:alphaModFix/>
          </a:blip>
          <a:srcRect b="0" l="0" r="0" t="0"/>
          <a:stretch/>
        </p:blipFill>
        <p:spPr>
          <a:xfrm rot="2159168">
            <a:off x="1194540" y="2700349"/>
            <a:ext cx="1609483" cy="16033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8"/>
          <p:cNvSpPr/>
          <p:nvPr/>
        </p:nvSpPr>
        <p:spPr>
          <a:xfrm>
            <a:off x="347666" y="4401826"/>
            <a:ext cx="8448600" cy="2145000"/>
          </a:xfrm>
          <a:prstGeom prst="parallelogram">
            <a:avLst>
              <a:gd fmla="val 25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500"/>
              <a:buFont typeface="Twentieth Century"/>
              <a:buNone/>
            </a:pPr>
            <a:r>
              <a:t/>
            </a:r>
            <a:endParaRPr b="0" i="0" sz="1500" u="none" cap="none" strike="noStrike">
              <a:solidFill>
                <a:schemeClr val="lt1"/>
              </a:solidFill>
              <a:latin typeface="Calibri"/>
              <a:ea typeface="Calibri"/>
              <a:cs typeface="Calibri"/>
              <a:sym typeface="Calibri"/>
            </a:endParaRPr>
          </a:p>
        </p:txBody>
      </p:sp>
      <p:sp>
        <p:nvSpPr>
          <p:cNvPr id="455" name="Google Shape;455;p18"/>
          <p:cNvSpPr txBox="1"/>
          <p:nvPr/>
        </p:nvSpPr>
        <p:spPr>
          <a:xfrm>
            <a:off x="2438600" y="3718500"/>
            <a:ext cx="6140400" cy="2247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C161D"/>
              </a:buClr>
              <a:buSzPts val="2000"/>
              <a:buFont typeface="Calibri"/>
              <a:buNone/>
            </a:pPr>
            <a:r>
              <a:t/>
            </a:r>
            <a:endParaRPr b="1" i="0" sz="2000" u="none" cap="none" strike="noStrike">
              <a:solidFill>
                <a:srgbClr val="0C161D"/>
              </a:solidFill>
              <a:latin typeface="Calibri"/>
              <a:ea typeface="Calibri"/>
              <a:cs typeface="Calibri"/>
              <a:sym typeface="Calibri"/>
            </a:endParaRPr>
          </a:p>
          <a:p>
            <a:pPr indent="0" lvl="0" marL="0" marR="0" rtl="0" algn="l">
              <a:lnSpc>
                <a:spcPct val="100000"/>
              </a:lnSpc>
              <a:spcBef>
                <a:spcPts val="0"/>
              </a:spcBef>
              <a:spcAft>
                <a:spcPts val="0"/>
              </a:spcAft>
              <a:buClr>
                <a:srgbClr val="0C161D"/>
              </a:buClr>
              <a:buSzPts val="1800"/>
              <a:buFont typeface="Calibri"/>
              <a:buNone/>
            </a:pPr>
            <a:r>
              <a:rPr b="0" i="0" lang="es-AR" sz="1800" u="none" cap="none" strike="noStrike">
                <a:solidFill>
                  <a:srgbClr val="0C161D"/>
                </a:solidFill>
                <a:latin typeface="Calibri"/>
                <a:ea typeface="Calibri"/>
                <a:cs typeface="Calibri"/>
                <a:sym typeface="Calibri"/>
              </a:rPr>
              <a:t>La jornada de trabajo en tareas o condiciones declaradas insalubres no podrá exceder de seis (6) horas diarias o treinta y seis (36) semanales. La insalubridad no existirá sin declaración previa de la autoridad de aplicación. La reducción de jornada no reducirá las remuneracione</a:t>
            </a:r>
            <a:r>
              <a:rPr lang="es-AR" sz="1800">
                <a:solidFill>
                  <a:srgbClr val="0C161D"/>
                </a:solidFill>
                <a:latin typeface="Calibri"/>
                <a:ea typeface="Calibri"/>
                <a:cs typeface="Calibri"/>
                <a:sym typeface="Calibri"/>
              </a:rPr>
              <a:t>s.</a:t>
            </a:r>
            <a:endParaRPr sz="1800">
              <a:solidFill>
                <a:srgbClr val="0C161D"/>
              </a:solidFill>
              <a:latin typeface="Calibri"/>
              <a:ea typeface="Calibri"/>
              <a:cs typeface="Calibri"/>
              <a:sym typeface="Calibri"/>
            </a:endParaRPr>
          </a:p>
          <a:p>
            <a:pPr indent="0" lvl="0" marL="0" marR="0" rtl="0" algn="l">
              <a:lnSpc>
                <a:spcPct val="100000"/>
              </a:lnSpc>
              <a:spcBef>
                <a:spcPts val="0"/>
              </a:spcBef>
              <a:spcAft>
                <a:spcPts val="0"/>
              </a:spcAft>
              <a:buClr>
                <a:srgbClr val="0C161D"/>
              </a:buClr>
              <a:buSzPts val="1800"/>
              <a:buFont typeface="Calibri"/>
              <a:buNone/>
            </a:pPr>
            <a:r>
              <a:t/>
            </a:r>
            <a:endParaRPr b="1" i="1" sz="1800">
              <a:solidFill>
                <a:srgbClr val="0C161D"/>
              </a:solidFill>
              <a:latin typeface="Calibri"/>
              <a:ea typeface="Calibri"/>
              <a:cs typeface="Calibri"/>
              <a:sym typeface="Calibri"/>
            </a:endParaRPr>
          </a:p>
          <a:p>
            <a:pPr indent="0" lvl="0" marL="0" marR="0" rtl="0" algn="l">
              <a:lnSpc>
                <a:spcPct val="100000"/>
              </a:lnSpc>
              <a:spcBef>
                <a:spcPts val="0"/>
              </a:spcBef>
              <a:spcAft>
                <a:spcPts val="0"/>
              </a:spcAft>
              <a:buClr>
                <a:srgbClr val="0C161D"/>
              </a:buClr>
              <a:buSzPts val="1800"/>
              <a:buFont typeface="Calibri"/>
              <a:buNone/>
            </a:pPr>
            <a:r>
              <a:rPr b="1" i="1" lang="es-AR" sz="1800" u="none" cap="none" strike="noStrike">
                <a:solidFill>
                  <a:srgbClr val="0C161D"/>
                </a:solidFill>
                <a:latin typeface="Calibri"/>
                <a:ea typeface="Calibri"/>
                <a:cs typeface="Calibri"/>
                <a:sym typeface="Calibri"/>
              </a:rPr>
              <a:t>Reducción de jornada y reducción de edad jubilatoria.</a:t>
            </a:r>
            <a:endParaRPr b="1" i="1" sz="1800" u="none" cap="none" strike="noStrike">
              <a:solidFill>
                <a:srgbClr val="0C161D"/>
              </a:solidFill>
              <a:latin typeface="Twentieth Century"/>
              <a:ea typeface="Twentieth Century"/>
              <a:cs typeface="Twentieth Century"/>
              <a:sym typeface="Twentieth Century"/>
            </a:endParaRPr>
          </a:p>
        </p:txBody>
      </p:sp>
      <p:sp>
        <p:nvSpPr>
          <p:cNvPr id="456" name="Google Shape;456;p18"/>
          <p:cNvSpPr/>
          <p:nvPr/>
        </p:nvSpPr>
        <p:spPr>
          <a:xfrm>
            <a:off x="445203" y="1609702"/>
            <a:ext cx="8626500" cy="2145000"/>
          </a:xfrm>
          <a:prstGeom prst="parallelogram">
            <a:avLst>
              <a:gd fmla="val 25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500"/>
              <a:buFont typeface="Twentieth Century"/>
              <a:buNone/>
            </a:pPr>
            <a:r>
              <a:t/>
            </a:r>
            <a:endParaRPr b="0" i="0" sz="1500" u="none" cap="none" strike="noStrike">
              <a:solidFill>
                <a:srgbClr val="0C161D"/>
              </a:solidFill>
              <a:latin typeface="Calibri"/>
              <a:ea typeface="Calibri"/>
              <a:cs typeface="Calibri"/>
              <a:sym typeface="Calibri"/>
            </a:endParaRPr>
          </a:p>
        </p:txBody>
      </p:sp>
      <p:sp>
        <p:nvSpPr>
          <p:cNvPr id="457" name="Google Shape;457;p18"/>
          <p:cNvSpPr txBox="1"/>
          <p:nvPr/>
        </p:nvSpPr>
        <p:spPr>
          <a:xfrm>
            <a:off x="2266775" y="1278000"/>
            <a:ext cx="6312000" cy="169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C161D"/>
              </a:buClr>
              <a:buSzPts val="1800"/>
              <a:buFont typeface="Calibri"/>
              <a:buNone/>
            </a:pPr>
            <a:r>
              <a:rPr b="1" lang="es-AR" sz="2000">
                <a:solidFill>
                  <a:srgbClr val="0C161D"/>
                </a:solidFill>
                <a:latin typeface="Calibri"/>
                <a:ea typeface="Calibri"/>
                <a:cs typeface="Calibri"/>
                <a:sym typeface="Calibri"/>
              </a:rPr>
              <a:t> </a:t>
            </a:r>
            <a:r>
              <a:rPr b="0" i="0" lang="es-AR" sz="1800" u="none" cap="none" strike="noStrike">
                <a:solidFill>
                  <a:srgbClr val="0C161D"/>
                </a:solidFill>
                <a:latin typeface="Calibri"/>
                <a:ea typeface="Calibri"/>
                <a:cs typeface="Calibri"/>
                <a:sym typeface="Calibri"/>
              </a:rPr>
              <a:t>Horas trabajadas entre las 21:00 y las 06:00 hs. Tiene un tope de 7 horas de trabajo normal.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rgbClr val="0C161D"/>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C161D"/>
              </a:buClr>
              <a:buSzPts val="1800"/>
              <a:buFont typeface="Calibri"/>
              <a:buNone/>
            </a:pPr>
            <a:r>
              <a:rPr b="1" i="0" lang="es-AR" sz="1800" u="none" cap="none" strike="noStrike">
                <a:solidFill>
                  <a:srgbClr val="0C161D"/>
                </a:solidFill>
                <a:latin typeface="Calibri"/>
                <a:ea typeface="Calibri"/>
                <a:cs typeface="Calibri"/>
                <a:sym typeface="Calibri"/>
              </a:rPr>
              <a:t> Jornada mixta: </a:t>
            </a:r>
            <a:r>
              <a:rPr b="0" i="0" lang="es-AR" sz="1800" u="none" cap="none" strike="noStrike">
                <a:solidFill>
                  <a:srgbClr val="0C161D"/>
                </a:solidFill>
                <a:latin typeface="Calibri"/>
                <a:ea typeface="Calibri"/>
                <a:cs typeface="Calibri"/>
                <a:sym typeface="Calibri"/>
              </a:rPr>
              <a:t>Cuando se alteren horas diurnas y nocturnas debe reducirse proporcionalmente la jornada en ocho minutos, por cada hora nocturna trabajada o abonar el adicional (8 min x hora)</a:t>
            </a:r>
            <a:endParaRPr b="0" i="0" sz="1800" u="none" cap="none" strike="noStrike">
              <a:solidFill>
                <a:srgbClr val="0C161D"/>
              </a:solidFill>
              <a:latin typeface="Twentieth Century"/>
              <a:ea typeface="Twentieth Century"/>
              <a:cs typeface="Twentieth Century"/>
              <a:sym typeface="Twentieth Century"/>
            </a:endParaRPr>
          </a:p>
        </p:txBody>
      </p:sp>
      <p:pic>
        <p:nvPicPr>
          <p:cNvPr descr="Image result for utn frba" id="458" name="Google Shape;458;p18"/>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459" name="Google Shape;459;p18"/>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460" name="Google Shape;460;p18"/>
          <p:cNvSpPr/>
          <p:nvPr/>
        </p:nvSpPr>
        <p:spPr>
          <a:xfrm>
            <a:off x="186436" y="400085"/>
            <a:ext cx="4572000" cy="590931"/>
          </a:xfrm>
          <a:prstGeom prst="rect">
            <a:avLst/>
          </a:prstGeom>
          <a:no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Jornada de trabajo y descansos</a:t>
            </a:r>
            <a:endParaRPr b="0" i="0" sz="1800" u="none" cap="none" strike="noStrike">
              <a:solidFill>
                <a:schemeClr val="dk1"/>
              </a:solidFill>
              <a:latin typeface="Twentieth Century"/>
              <a:ea typeface="Twentieth Century"/>
              <a:cs typeface="Twentieth Century"/>
              <a:sym typeface="Twentieth Century"/>
            </a:endParaRPr>
          </a:p>
        </p:txBody>
      </p:sp>
      <p:pic>
        <p:nvPicPr>
          <p:cNvPr id="461" name="Google Shape;461;p18"/>
          <p:cNvPicPr preferRelativeResize="0"/>
          <p:nvPr/>
        </p:nvPicPr>
        <p:blipFill rotWithShape="1">
          <a:blip r:embed="rId4">
            <a:alphaModFix/>
          </a:blip>
          <a:srcRect b="0" l="0" r="0" t="0"/>
          <a:stretch/>
        </p:blipFill>
        <p:spPr>
          <a:xfrm>
            <a:off x="8047490" y="3079383"/>
            <a:ext cx="914400" cy="833259"/>
          </a:xfrm>
          <a:prstGeom prst="rect">
            <a:avLst/>
          </a:prstGeom>
          <a:noFill/>
          <a:ln>
            <a:noFill/>
          </a:ln>
        </p:spPr>
      </p:pic>
      <p:sp>
        <p:nvSpPr>
          <p:cNvPr id="462" name="Google Shape;462;p18"/>
          <p:cNvSpPr/>
          <p:nvPr/>
        </p:nvSpPr>
        <p:spPr>
          <a:xfrm>
            <a:off x="347677" y="1314221"/>
            <a:ext cx="1785300" cy="819000"/>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8"/>
          <p:cNvSpPr txBox="1"/>
          <p:nvPr/>
        </p:nvSpPr>
        <p:spPr>
          <a:xfrm>
            <a:off x="387652" y="1354196"/>
            <a:ext cx="1705200" cy="738900"/>
          </a:xfrm>
          <a:prstGeom prst="rect">
            <a:avLst/>
          </a:prstGeom>
          <a:noFill/>
          <a:ln>
            <a:noFill/>
          </a:ln>
        </p:spPr>
        <p:txBody>
          <a:bodyPr anchorCtr="0" anchor="ctr" bIns="50800" lIns="50800" spcFirstLastPara="1" rIns="50800" wrap="square" tIns="50800">
            <a:noAutofit/>
          </a:bodyPr>
          <a:lstStyle/>
          <a:p>
            <a:pPr indent="0" lvl="0" marL="0" marR="0" rtl="0" algn="ctr">
              <a:lnSpc>
                <a:spcPct val="90000"/>
              </a:lnSpc>
              <a:spcBef>
                <a:spcPts val="0"/>
              </a:spcBef>
              <a:spcAft>
                <a:spcPts val="0"/>
              </a:spcAft>
              <a:buClr>
                <a:schemeClr val="lt1"/>
              </a:buClr>
              <a:buSzPts val="2000"/>
              <a:buFont typeface="Twentieth Century"/>
              <a:buNone/>
            </a:pPr>
            <a:r>
              <a:rPr b="0" i="0" lang="es-AR" sz="2000" u="none" cap="none" strike="noStrike">
                <a:solidFill>
                  <a:schemeClr val="lt1"/>
                </a:solidFill>
                <a:latin typeface="Twentieth Century"/>
                <a:ea typeface="Twentieth Century"/>
                <a:cs typeface="Twentieth Century"/>
                <a:sym typeface="Twentieth Century"/>
              </a:rPr>
              <a:t>NOCTURNA</a:t>
            </a:r>
            <a:endParaRPr b="0" i="0" sz="1400" u="none" cap="none" strike="noStrike">
              <a:solidFill>
                <a:srgbClr val="000000"/>
              </a:solidFill>
              <a:latin typeface="Arial"/>
              <a:ea typeface="Arial"/>
              <a:cs typeface="Arial"/>
              <a:sym typeface="Arial"/>
            </a:endParaRPr>
          </a:p>
        </p:txBody>
      </p:sp>
      <p:sp>
        <p:nvSpPr>
          <p:cNvPr id="464" name="Google Shape;464;p18"/>
          <p:cNvSpPr/>
          <p:nvPr/>
        </p:nvSpPr>
        <p:spPr>
          <a:xfrm>
            <a:off x="347674" y="4059532"/>
            <a:ext cx="1890300" cy="819000"/>
          </a:xfrm>
          <a:prstGeom prst="roundRect">
            <a:avLst>
              <a:gd fmla="val 16667" name="adj"/>
            </a:avLst>
          </a:prstGeom>
          <a:solidFill>
            <a:srgbClr val="E4AB1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8"/>
          <p:cNvSpPr txBox="1"/>
          <p:nvPr/>
        </p:nvSpPr>
        <p:spPr>
          <a:xfrm>
            <a:off x="387649" y="4099507"/>
            <a:ext cx="1810200" cy="738900"/>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2400"/>
              <a:buFont typeface="Twentieth Century"/>
              <a:buNone/>
            </a:pPr>
            <a:r>
              <a:rPr b="0" i="0" lang="es-AR" sz="2400" u="none" cap="none" strike="noStrike">
                <a:solidFill>
                  <a:schemeClr val="lt1"/>
                </a:solidFill>
                <a:latin typeface="Twentieth Century"/>
                <a:ea typeface="Twentieth Century"/>
                <a:cs typeface="Twentieth Century"/>
                <a:sym typeface="Twentieth Century"/>
              </a:rPr>
              <a:t>INSALUBRE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9"/>
          <p:cNvSpPr/>
          <p:nvPr/>
        </p:nvSpPr>
        <p:spPr>
          <a:xfrm>
            <a:off x="1828928" y="3386991"/>
            <a:ext cx="2533858" cy="2147726"/>
          </a:xfrm>
          <a:prstGeom prst="roundRect">
            <a:avLst>
              <a:gd fmla="val 8730" name="adj"/>
            </a:avLst>
          </a:prstGeom>
          <a:solidFill>
            <a:srgbClr val="D8F1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72" name="Google Shape;472;p19"/>
          <p:cNvSpPr/>
          <p:nvPr/>
        </p:nvSpPr>
        <p:spPr>
          <a:xfrm>
            <a:off x="185025" y="1911125"/>
            <a:ext cx="8626466" cy="1085850"/>
          </a:xfrm>
          <a:prstGeom prst="parallelogram">
            <a:avLst>
              <a:gd fmla="val 25000" name="adj"/>
            </a:avLst>
          </a:prstGeom>
          <a:noFill/>
          <a:ln cap="flat" cmpd="sng" w="25400">
            <a:solidFill>
              <a:srgbClr val="12385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73" name="Google Shape;473;p19"/>
          <p:cNvSpPr txBox="1"/>
          <p:nvPr/>
        </p:nvSpPr>
        <p:spPr>
          <a:xfrm>
            <a:off x="880435" y="1964830"/>
            <a:ext cx="7335310"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23857"/>
              </a:buClr>
              <a:buSzPts val="1600"/>
              <a:buFont typeface="Calibri"/>
              <a:buNone/>
            </a:pPr>
            <a:r>
              <a:rPr b="1" i="0" lang="es-AR" sz="1600" u="none" cap="none" strike="noStrike">
                <a:solidFill>
                  <a:srgbClr val="123857"/>
                </a:solidFill>
                <a:latin typeface="Calibri"/>
                <a:ea typeface="Calibri"/>
                <a:cs typeface="Calibri"/>
                <a:sym typeface="Calibri"/>
              </a:rPr>
              <a:t>Abono de Horas Extras:</a:t>
            </a:r>
            <a:br>
              <a:rPr b="0" i="0" lang="es-AR" sz="1600" u="none" cap="none" strike="noStrike">
                <a:solidFill>
                  <a:srgbClr val="123857"/>
                </a:solidFill>
                <a:latin typeface="Calibri"/>
                <a:ea typeface="Calibri"/>
                <a:cs typeface="Calibri"/>
                <a:sym typeface="Calibri"/>
              </a:rPr>
            </a:br>
            <a:r>
              <a:rPr b="0" i="0" lang="es-AR" sz="1600" u="none" cap="none" strike="noStrike">
                <a:solidFill>
                  <a:srgbClr val="123857"/>
                </a:solidFill>
                <a:latin typeface="Calibri"/>
                <a:ea typeface="Calibri"/>
                <a:cs typeface="Calibri"/>
                <a:sym typeface="Calibri"/>
              </a:rPr>
              <a:t>Corresponde al pago de horas trabajadas en exceso a la jornada legal.</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123857"/>
              </a:buClr>
              <a:buSzPts val="1600"/>
              <a:buFont typeface="Calibri"/>
              <a:buNone/>
            </a:pPr>
            <a:r>
              <a:rPr b="0" i="0" lang="es-AR" sz="1600" u="none" cap="none" strike="noStrike">
                <a:solidFill>
                  <a:srgbClr val="123857"/>
                </a:solidFill>
                <a:latin typeface="Calibri"/>
                <a:ea typeface="Calibri"/>
                <a:cs typeface="Calibri"/>
                <a:sym typeface="Calibri"/>
              </a:rPr>
              <a:t>Solo en caso de realizar horas extras el domingo, el trabajador gozará de un descanso compensatorio. No así los feriados.</a:t>
            </a:r>
            <a:endParaRPr b="0" i="0" sz="1800" u="none" cap="none" strike="noStrike">
              <a:solidFill>
                <a:schemeClr val="dk1"/>
              </a:solidFill>
              <a:latin typeface="Twentieth Century"/>
              <a:ea typeface="Twentieth Century"/>
              <a:cs typeface="Twentieth Century"/>
              <a:sym typeface="Twentieth Century"/>
            </a:endParaRPr>
          </a:p>
        </p:txBody>
      </p:sp>
      <p:sp>
        <p:nvSpPr>
          <p:cNvPr id="474" name="Google Shape;474;p19"/>
          <p:cNvSpPr/>
          <p:nvPr/>
        </p:nvSpPr>
        <p:spPr>
          <a:xfrm>
            <a:off x="1828928" y="3181819"/>
            <a:ext cx="2533858" cy="921127"/>
          </a:xfrm>
          <a:prstGeom prst="roundRect">
            <a:avLst>
              <a:gd fmla="val 7143" name="adj"/>
            </a:avLst>
          </a:prstGeom>
          <a:solidFill>
            <a:srgbClr val="7DC4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75" name="Google Shape;475;p19"/>
          <p:cNvSpPr txBox="1"/>
          <p:nvPr/>
        </p:nvSpPr>
        <p:spPr>
          <a:xfrm>
            <a:off x="1989277" y="3356357"/>
            <a:ext cx="2308628" cy="8309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23857"/>
              </a:buClr>
              <a:buSzPts val="1800"/>
              <a:buFont typeface="Calibri"/>
              <a:buNone/>
            </a:pPr>
            <a:r>
              <a:rPr b="0" i="0" lang="es-AR" sz="1800" u="none" cap="none" strike="noStrike">
                <a:solidFill>
                  <a:srgbClr val="123857"/>
                </a:solidFill>
                <a:latin typeface="Calibri"/>
                <a:ea typeface="Calibri"/>
                <a:cs typeface="Calibri"/>
                <a:sym typeface="Calibri"/>
              </a:rPr>
              <a:t>Lunes a Viernes.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123857"/>
              </a:buClr>
              <a:buSzPts val="1800"/>
              <a:buFont typeface="Calibri"/>
              <a:buNone/>
            </a:pPr>
            <a:r>
              <a:rPr b="0" i="0" lang="es-AR" sz="1800" u="none" cap="none" strike="noStrike">
                <a:solidFill>
                  <a:srgbClr val="123857"/>
                </a:solidFill>
                <a:latin typeface="Calibri"/>
                <a:ea typeface="Calibri"/>
                <a:cs typeface="Calibri"/>
                <a:sym typeface="Calibri"/>
              </a:rPr>
              <a:t>Sábados </a:t>
            </a:r>
            <a:r>
              <a:rPr b="0" i="0" lang="es-AR" sz="1800" u="none" cap="none" strike="noStrike">
                <a:solidFill>
                  <a:srgbClr val="002060"/>
                </a:solidFill>
                <a:latin typeface="Calibri"/>
                <a:ea typeface="Calibri"/>
                <a:cs typeface="Calibri"/>
                <a:sym typeface="Calibri"/>
              </a:rPr>
              <a:t>hasta</a:t>
            </a:r>
            <a:r>
              <a:rPr b="0" i="0" lang="es-AR" sz="1800" u="none" cap="none" strike="noStrike">
                <a:solidFill>
                  <a:srgbClr val="123857"/>
                </a:solidFill>
                <a:latin typeface="Calibri"/>
                <a:ea typeface="Calibri"/>
                <a:cs typeface="Calibri"/>
                <a:sym typeface="Calibri"/>
              </a:rPr>
              <a:t> las 13 hs.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rgbClr val="123857"/>
              </a:solidFill>
              <a:latin typeface="Calibri"/>
              <a:ea typeface="Calibri"/>
              <a:cs typeface="Calibri"/>
              <a:sym typeface="Calibri"/>
            </a:endParaRPr>
          </a:p>
        </p:txBody>
      </p:sp>
      <p:sp>
        <p:nvSpPr>
          <p:cNvPr id="476" name="Google Shape;476;p19"/>
          <p:cNvSpPr txBox="1"/>
          <p:nvPr/>
        </p:nvSpPr>
        <p:spPr>
          <a:xfrm>
            <a:off x="1930206" y="4272835"/>
            <a:ext cx="2308628" cy="8309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Valor Hora</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Recargo 50%</a:t>
            </a:r>
            <a:endParaRPr b="0" i="0" sz="1800" u="none" cap="none" strike="noStrike">
              <a:solidFill>
                <a:schemeClr val="dk1"/>
              </a:solidFill>
              <a:latin typeface="Calibri"/>
              <a:ea typeface="Calibri"/>
              <a:cs typeface="Calibri"/>
              <a:sym typeface="Calibri"/>
            </a:endParaRPr>
          </a:p>
        </p:txBody>
      </p:sp>
      <p:grpSp>
        <p:nvGrpSpPr>
          <p:cNvPr id="477" name="Google Shape;477;p19"/>
          <p:cNvGrpSpPr/>
          <p:nvPr/>
        </p:nvGrpSpPr>
        <p:grpSpPr>
          <a:xfrm>
            <a:off x="8201891" y="1772514"/>
            <a:ext cx="798224" cy="798224"/>
            <a:chOff x="1646003" y="1360879"/>
            <a:chExt cx="562844" cy="562844"/>
          </a:xfrm>
        </p:grpSpPr>
        <p:sp>
          <p:nvSpPr>
            <p:cNvPr id="478" name="Google Shape;478;p19"/>
            <p:cNvSpPr/>
            <p:nvPr/>
          </p:nvSpPr>
          <p:spPr>
            <a:xfrm>
              <a:off x="1646003" y="1360879"/>
              <a:ext cx="562844" cy="562844"/>
            </a:xfrm>
            <a:prstGeom prst="ellipse">
              <a:avLst/>
            </a:prstGeom>
            <a:solidFill>
              <a:srgbClr val="1238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rgbClr val="989898"/>
                </a:solidFill>
                <a:latin typeface="Calibri"/>
                <a:ea typeface="Calibri"/>
                <a:cs typeface="Calibri"/>
                <a:sym typeface="Calibri"/>
              </a:endParaRPr>
            </a:p>
          </p:txBody>
        </p:sp>
        <p:sp>
          <p:nvSpPr>
            <p:cNvPr id="479" name="Google Shape;479;p19"/>
            <p:cNvSpPr/>
            <p:nvPr/>
          </p:nvSpPr>
          <p:spPr>
            <a:xfrm flipH="1">
              <a:off x="1646003" y="1360879"/>
              <a:ext cx="562844" cy="562844"/>
            </a:xfrm>
            <a:prstGeom prst="pie">
              <a:avLst>
                <a:gd fmla="val 10878425" name="adj1"/>
                <a:gd fmla="val 16200000" name="adj2"/>
              </a:avLst>
            </a:prstGeom>
            <a:solidFill>
              <a:srgbClr val="2B7C9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rgbClr val="FFFFFF"/>
                </a:solidFill>
                <a:latin typeface="Calibri"/>
                <a:ea typeface="Calibri"/>
                <a:cs typeface="Calibri"/>
                <a:sym typeface="Calibri"/>
              </a:endParaRPr>
            </a:p>
          </p:txBody>
        </p:sp>
        <p:sp>
          <p:nvSpPr>
            <p:cNvPr id="480" name="Google Shape;480;p19"/>
            <p:cNvSpPr/>
            <p:nvPr/>
          </p:nvSpPr>
          <p:spPr>
            <a:xfrm>
              <a:off x="1718260" y="1430864"/>
              <a:ext cx="422872" cy="422872"/>
            </a:xfrm>
            <a:prstGeom prst="ellipse">
              <a:avLst/>
            </a:prstGeom>
            <a:solidFill>
              <a:schemeClr val="l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grpSp>
      <p:sp>
        <p:nvSpPr>
          <p:cNvPr id="481" name="Google Shape;481;p19"/>
          <p:cNvSpPr/>
          <p:nvPr/>
        </p:nvSpPr>
        <p:spPr>
          <a:xfrm>
            <a:off x="4696823" y="3400841"/>
            <a:ext cx="2533858" cy="2147726"/>
          </a:xfrm>
          <a:prstGeom prst="roundRect">
            <a:avLst>
              <a:gd fmla="val 8730" name="adj"/>
            </a:avLst>
          </a:prstGeom>
          <a:solidFill>
            <a:srgbClr val="D8F1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482" name="Google Shape;482;p19"/>
          <p:cNvSpPr/>
          <p:nvPr/>
        </p:nvSpPr>
        <p:spPr>
          <a:xfrm>
            <a:off x="4696823" y="3167104"/>
            <a:ext cx="2533858" cy="921127"/>
          </a:xfrm>
          <a:prstGeom prst="roundRect">
            <a:avLst>
              <a:gd fmla="val 7143" name="adj"/>
            </a:avLst>
          </a:prstGeom>
          <a:solidFill>
            <a:srgbClr val="7DC4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rgbClr val="123857"/>
              </a:solidFill>
              <a:latin typeface="Calibri"/>
              <a:ea typeface="Calibri"/>
              <a:cs typeface="Calibri"/>
              <a:sym typeface="Calibri"/>
            </a:endParaRPr>
          </a:p>
        </p:txBody>
      </p:sp>
      <p:sp>
        <p:nvSpPr>
          <p:cNvPr id="483" name="Google Shape;483;p19"/>
          <p:cNvSpPr txBox="1"/>
          <p:nvPr/>
        </p:nvSpPr>
        <p:spPr>
          <a:xfrm>
            <a:off x="4798101" y="3380974"/>
            <a:ext cx="2308628" cy="8309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23857"/>
              </a:buClr>
              <a:buSzPts val="1800"/>
              <a:buFont typeface="Calibri"/>
              <a:buNone/>
            </a:pPr>
            <a:r>
              <a:rPr b="0" i="0" lang="es-AR" sz="1800" u="none" cap="none" strike="noStrike">
                <a:solidFill>
                  <a:srgbClr val="123857"/>
                </a:solidFill>
                <a:latin typeface="Calibri"/>
                <a:ea typeface="Calibri"/>
                <a:cs typeface="Calibri"/>
                <a:sym typeface="Calibri"/>
              </a:rPr>
              <a:t>Sábados desde las 13 hs.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2060"/>
              </a:buClr>
              <a:buSzPts val="1800"/>
              <a:buFont typeface="Calibri"/>
              <a:buNone/>
            </a:pPr>
            <a:r>
              <a:rPr b="0" i="0" lang="es-AR" sz="1800" u="none" cap="none" strike="noStrike">
                <a:solidFill>
                  <a:srgbClr val="002060"/>
                </a:solidFill>
                <a:latin typeface="Calibri"/>
                <a:ea typeface="Calibri"/>
                <a:cs typeface="Calibri"/>
                <a:sym typeface="Calibri"/>
              </a:rPr>
              <a:t>Domingos y Feriados</a:t>
            </a:r>
            <a:r>
              <a:rPr b="0" i="0" lang="es-AR" sz="1800" u="none" cap="none" strike="noStrike">
                <a:solidFill>
                  <a:srgbClr val="123857"/>
                </a:solidFill>
                <a:latin typeface="Calibri"/>
                <a:ea typeface="Calibri"/>
                <a:cs typeface="Calibri"/>
                <a:sym typeface="Calibri"/>
              </a:rPr>
              <a:t>.</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rgbClr val="123857"/>
              </a:solidFill>
              <a:latin typeface="Calibri"/>
              <a:ea typeface="Calibri"/>
              <a:cs typeface="Calibri"/>
              <a:sym typeface="Calibri"/>
            </a:endParaRPr>
          </a:p>
        </p:txBody>
      </p:sp>
      <p:sp>
        <p:nvSpPr>
          <p:cNvPr id="484" name="Google Shape;484;p19"/>
          <p:cNvSpPr txBox="1"/>
          <p:nvPr/>
        </p:nvSpPr>
        <p:spPr>
          <a:xfrm>
            <a:off x="4798101" y="4286685"/>
            <a:ext cx="2308628" cy="8309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Valor Hora</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c/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Calibri"/>
              <a:buNone/>
            </a:pPr>
            <a:r>
              <a:rPr b="0" i="0" lang="es-AR" sz="1800" u="none" cap="none" strike="noStrike">
                <a:solidFill>
                  <a:schemeClr val="dk1"/>
                </a:solidFill>
                <a:latin typeface="Calibri"/>
                <a:ea typeface="Calibri"/>
                <a:cs typeface="Calibri"/>
                <a:sym typeface="Calibri"/>
              </a:rPr>
              <a:t>Recargo 100%</a:t>
            </a:r>
            <a:endParaRPr b="0" i="0" sz="1800" u="none" cap="none" strike="noStrike">
              <a:solidFill>
                <a:schemeClr val="dk1"/>
              </a:solidFill>
              <a:latin typeface="Calibri"/>
              <a:ea typeface="Calibri"/>
              <a:cs typeface="Calibri"/>
              <a:sym typeface="Calibri"/>
            </a:endParaRPr>
          </a:p>
        </p:txBody>
      </p:sp>
      <p:sp>
        <p:nvSpPr>
          <p:cNvPr id="485" name="Google Shape;485;p19"/>
          <p:cNvSpPr/>
          <p:nvPr/>
        </p:nvSpPr>
        <p:spPr>
          <a:xfrm>
            <a:off x="282642" y="5703464"/>
            <a:ext cx="2031534" cy="946718"/>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86" name="Google Shape;486;p19"/>
          <p:cNvSpPr/>
          <p:nvPr/>
        </p:nvSpPr>
        <p:spPr>
          <a:xfrm>
            <a:off x="2370402" y="5703464"/>
            <a:ext cx="1828800" cy="946718"/>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87" name="Google Shape;487;p19"/>
          <p:cNvSpPr/>
          <p:nvPr/>
        </p:nvSpPr>
        <p:spPr>
          <a:xfrm>
            <a:off x="4134952" y="5703464"/>
            <a:ext cx="1828800" cy="946718"/>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488" name="Google Shape;488;p19"/>
          <p:cNvSpPr/>
          <p:nvPr/>
        </p:nvSpPr>
        <p:spPr>
          <a:xfrm>
            <a:off x="5757855" y="5703464"/>
            <a:ext cx="1828800" cy="946718"/>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lt1"/>
              </a:solidFill>
              <a:latin typeface="Calibri"/>
              <a:ea typeface="Calibri"/>
              <a:cs typeface="Calibri"/>
              <a:sym typeface="Calibri"/>
            </a:endParaRPr>
          </a:p>
        </p:txBody>
      </p:sp>
      <p:sp>
        <p:nvSpPr>
          <p:cNvPr id="489" name="Google Shape;489;p19"/>
          <p:cNvSpPr/>
          <p:nvPr/>
        </p:nvSpPr>
        <p:spPr>
          <a:xfrm>
            <a:off x="283772" y="5887174"/>
            <a:ext cx="203040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Quattrocento Sans"/>
              <a:buNone/>
            </a:pPr>
            <a:r>
              <a:rPr b="1" i="0" lang="es-AR" sz="1600" u="none" cap="none" strike="noStrike">
                <a:solidFill>
                  <a:schemeClr val="dk1"/>
                </a:solidFill>
                <a:latin typeface="Quattrocento Sans"/>
                <a:ea typeface="Quattrocento Sans"/>
                <a:cs typeface="Quattrocento Sans"/>
                <a:sym typeface="Quattrocento Sans"/>
              </a:rPr>
              <a:t>LÍMITES DE HORAS EXTRAS</a:t>
            </a:r>
            <a:endParaRPr b="0" i="0" sz="1600" u="none" cap="none" strike="noStrike">
              <a:solidFill>
                <a:schemeClr val="dk1"/>
              </a:solidFill>
              <a:latin typeface="Calibri"/>
              <a:ea typeface="Calibri"/>
              <a:cs typeface="Calibri"/>
              <a:sym typeface="Calibri"/>
            </a:endParaRPr>
          </a:p>
        </p:txBody>
      </p:sp>
      <p:sp>
        <p:nvSpPr>
          <p:cNvPr id="490" name="Google Shape;490;p19"/>
          <p:cNvSpPr/>
          <p:nvPr/>
        </p:nvSpPr>
        <p:spPr>
          <a:xfrm>
            <a:off x="2771916" y="5821863"/>
            <a:ext cx="104917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Quattrocento Sans"/>
              <a:buNone/>
            </a:pPr>
            <a:r>
              <a:rPr b="1" i="0" lang="es-AR" sz="1600" u="none" cap="none" strike="noStrike">
                <a:solidFill>
                  <a:schemeClr val="dk1"/>
                </a:solidFill>
                <a:latin typeface="Quattrocento Sans"/>
                <a:ea typeface="Quattrocento Sans"/>
                <a:cs typeface="Quattrocento Sans"/>
                <a:sym typeface="Quattrocento Sans"/>
              </a:rPr>
              <a:t>DIARIO</a:t>
            </a:r>
            <a:endParaRPr b="0" i="0" sz="1600" u="none" cap="none" strike="noStrike">
              <a:solidFill>
                <a:schemeClr val="dk1"/>
              </a:solidFill>
              <a:latin typeface="Calibri"/>
              <a:ea typeface="Calibri"/>
              <a:cs typeface="Calibri"/>
              <a:sym typeface="Calibri"/>
            </a:endParaRPr>
          </a:p>
        </p:txBody>
      </p:sp>
      <p:sp>
        <p:nvSpPr>
          <p:cNvPr id="491" name="Google Shape;491;p19"/>
          <p:cNvSpPr/>
          <p:nvPr/>
        </p:nvSpPr>
        <p:spPr>
          <a:xfrm>
            <a:off x="2614045" y="6191191"/>
            <a:ext cx="120078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Quattrocento Sans"/>
              <a:buNone/>
            </a:pPr>
            <a:r>
              <a:rPr b="0" i="0" lang="es-AR" sz="1600" u="none" cap="none" strike="noStrike">
                <a:solidFill>
                  <a:schemeClr val="dk1"/>
                </a:solidFill>
                <a:latin typeface="Quattrocento Sans"/>
                <a:ea typeface="Quattrocento Sans"/>
                <a:cs typeface="Quattrocento Sans"/>
                <a:sym typeface="Quattrocento Sans"/>
              </a:rPr>
              <a:t>3 Horas</a:t>
            </a:r>
            <a:endParaRPr b="0" i="0" sz="1600" u="none" cap="none" strike="noStrike">
              <a:solidFill>
                <a:schemeClr val="dk1"/>
              </a:solidFill>
              <a:latin typeface="Calibri"/>
              <a:ea typeface="Calibri"/>
              <a:cs typeface="Calibri"/>
              <a:sym typeface="Calibri"/>
            </a:endParaRPr>
          </a:p>
        </p:txBody>
      </p:sp>
      <p:sp>
        <p:nvSpPr>
          <p:cNvPr id="492" name="Google Shape;492;p19"/>
          <p:cNvSpPr/>
          <p:nvPr/>
        </p:nvSpPr>
        <p:spPr>
          <a:xfrm>
            <a:off x="4516402" y="5821863"/>
            <a:ext cx="13017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Quattrocento Sans"/>
              <a:buNone/>
            </a:pPr>
            <a:r>
              <a:rPr b="1" i="0" lang="es-AR" sz="1600" u="none" cap="none" strike="noStrike">
                <a:solidFill>
                  <a:schemeClr val="dk1"/>
                </a:solidFill>
                <a:latin typeface="Quattrocento Sans"/>
                <a:ea typeface="Quattrocento Sans"/>
                <a:cs typeface="Quattrocento Sans"/>
                <a:sym typeface="Quattrocento Sans"/>
              </a:rPr>
              <a:t>MENSUAL</a:t>
            </a:r>
            <a:endParaRPr b="0" i="0" sz="1600" u="none" cap="none" strike="noStrike">
              <a:solidFill>
                <a:schemeClr val="dk1"/>
              </a:solidFill>
              <a:latin typeface="Calibri"/>
              <a:ea typeface="Calibri"/>
              <a:cs typeface="Calibri"/>
              <a:sym typeface="Calibri"/>
            </a:endParaRPr>
          </a:p>
        </p:txBody>
      </p:sp>
      <p:sp>
        <p:nvSpPr>
          <p:cNvPr id="493" name="Google Shape;493;p19"/>
          <p:cNvSpPr/>
          <p:nvPr/>
        </p:nvSpPr>
        <p:spPr>
          <a:xfrm>
            <a:off x="4449959" y="6191191"/>
            <a:ext cx="121032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Quattrocento Sans"/>
              <a:buNone/>
            </a:pPr>
            <a:r>
              <a:rPr b="0" i="0" lang="es-AR" sz="1600" u="none" cap="none" strike="noStrike">
                <a:solidFill>
                  <a:schemeClr val="dk1"/>
                </a:solidFill>
                <a:latin typeface="Quattrocento Sans"/>
                <a:ea typeface="Quattrocento Sans"/>
                <a:cs typeface="Quattrocento Sans"/>
                <a:sym typeface="Quattrocento Sans"/>
              </a:rPr>
              <a:t>30 Horas</a:t>
            </a:r>
            <a:endParaRPr b="0" i="0" sz="1600" u="none" cap="none" strike="noStrike">
              <a:solidFill>
                <a:schemeClr val="dk1"/>
              </a:solidFill>
              <a:latin typeface="Calibri"/>
              <a:ea typeface="Calibri"/>
              <a:cs typeface="Calibri"/>
              <a:sym typeface="Calibri"/>
            </a:endParaRPr>
          </a:p>
        </p:txBody>
      </p:sp>
      <p:sp>
        <p:nvSpPr>
          <p:cNvPr id="494" name="Google Shape;494;p19"/>
          <p:cNvSpPr/>
          <p:nvPr/>
        </p:nvSpPr>
        <p:spPr>
          <a:xfrm>
            <a:off x="6447323" y="5821863"/>
            <a:ext cx="101197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Quattrocento Sans"/>
              <a:buNone/>
            </a:pPr>
            <a:r>
              <a:rPr b="1" i="0" lang="es-AR" sz="1600" u="none" cap="none" strike="noStrike">
                <a:solidFill>
                  <a:schemeClr val="dk1"/>
                </a:solidFill>
                <a:latin typeface="Quattrocento Sans"/>
                <a:ea typeface="Quattrocento Sans"/>
                <a:cs typeface="Quattrocento Sans"/>
                <a:sym typeface="Quattrocento Sans"/>
              </a:rPr>
              <a:t>ANUAL</a:t>
            </a:r>
            <a:endParaRPr b="0" i="0" sz="1600" u="none" cap="none" strike="noStrike">
              <a:solidFill>
                <a:schemeClr val="dk1"/>
              </a:solidFill>
              <a:latin typeface="Calibri"/>
              <a:ea typeface="Calibri"/>
              <a:cs typeface="Calibri"/>
              <a:sym typeface="Calibri"/>
            </a:endParaRPr>
          </a:p>
        </p:txBody>
      </p:sp>
      <p:sp>
        <p:nvSpPr>
          <p:cNvPr id="495" name="Google Shape;495;p19"/>
          <p:cNvSpPr/>
          <p:nvPr/>
        </p:nvSpPr>
        <p:spPr>
          <a:xfrm>
            <a:off x="6064207" y="6191191"/>
            <a:ext cx="170000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Quattrocento Sans"/>
              <a:buNone/>
            </a:pPr>
            <a:r>
              <a:rPr b="0" i="0" lang="es-AR" sz="1600" u="none" cap="none" strike="noStrike">
                <a:solidFill>
                  <a:schemeClr val="dk1"/>
                </a:solidFill>
                <a:latin typeface="Quattrocento Sans"/>
                <a:ea typeface="Quattrocento Sans"/>
                <a:cs typeface="Quattrocento Sans"/>
                <a:sym typeface="Quattrocento Sans"/>
              </a:rPr>
              <a:t>200 Horas</a:t>
            </a:r>
            <a:endParaRPr b="0" i="0" sz="1800" u="none" cap="none" strike="noStrike">
              <a:solidFill>
                <a:schemeClr val="dk1"/>
              </a:solidFill>
              <a:latin typeface="Twentieth Century"/>
              <a:ea typeface="Twentieth Century"/>
              <a:cs typeface="Twentieth Century"/>
              <a:sym typeface="Twentieth Century"/>
            </a:endParaRPr>
          </a:p>
        </p:txBody>
      </p:sp>
      <p:grpSp>
        <p:nvGrpSpPr>
          <p:cNvPr id="496" name="Google Shape;496;p19"/>
          <p:cNvGrpSpPr/>
          <p:nvPr/>
        </p:nvGrpSpPr>
        <p:grpSpPr>
          <a:xfrm>
            <a:off x="8445141" y="1999608"/>
            <a:ext cx="366351" cy="366351"/>
            <a:chOff x="9882188" y="1354138"/>
            <a:chExt cx="285750" cy="285750"/>
          </a:xfrm>
        </p:grpSpPr>
        <p:sp>
          <p:nvSpPr>
            <p:cNvPr id="497" name="Google Shape;497;p19"/>
            <p:cNvSpPr/>
            <p:nvPr/>
          </p:nvSpPr>
          <p:spPr>
            <a:xfrm>
              <a:off x="9891713" y="1482725"/>
              <a:ext cx="133350" cy="157163"/>
            </a:xfrm>
            <a:custGeom>
              <a:rect b="b" l="l" r="r" t="t"/>
              <a:pathLst>
                <a:path extrusionOk="0" h="496" w="421">
                  <a:moveTo>
                    <a:pt x="211" y="466"/>
                  </a:moveTo>
                  <a:lnTo>
                    <a:pt x="177" y="464"/>
                  </a:lnTo>
                  <a:lnTo>
                    <a:pt x="145" y="462"/>
                  </a:lnTo>
                  <a:lnTo>
                    <a:pt x="115" y="458"/>
                  </a:lnTo>
                  <a:lnTo>
                    <a:pt x="89" y="454"/>
                  </a:lnTo>
                  <a:lnTo>
                    <a:pt x="67" y="448"/>
                  </a:lnTo>
                  <a:lnTo>
                    <a:pt x="50" y="443"/>
                  </a:lnTo>
                  <a:lnTo>
                    <a:pt x="37" y="438"/>
                  </a:lnTo>
                  <a:lnTo>
                    <a:pt x="30" y="433"/>
                  </a:lnTo>
                  <a:lnTo>
                    <a:pt x="30" y="392"/>
                  </a:lnTo>
                  <a:lnTo>
                    <a:pt x="49" y="399"/>
                  </a:lnTo>
                  <a:lnTo>
                    <a:pt x="71" y="404"/>
                  </a:lnTo>
                  <a:lnTo>
                    <a:pt x="94" y="410"/>
                  </a:lnTo>
                  <a:lnTo>
                    <a:pt x="119" y="414"/>
                  </a:lnTo>
                  <a:lnTo>
                    <a:pt x="145" y="416"/>
                  </a:lnTo>
                  <a:lnTo>
                    <a:pt x="168" y="418"/>
                  </a:lnTo>
                  <a:lnTo>
                    <a:pt x="191" y="419"/>
                  </a:lnTo>
                  <a:lnTo>
                    <a:pt x="211" y="421"/>
                  </a:lnTo>
                  <a:lnTo>
                    <a:pt x="230" y="419"/>
                  </a:lnTo>
                  <a:lnTo>
                    <a:pt x="253" y="418"/>
                  </a:lnTo>
                  <a:lnTo>
                    <a:pt x="277" y="416"/>
                  </a:lnTo>
                  <a:lnTo>
                    <a:pt x="302" y="414"/>
                  </a:lnTo>
                  <a:lnTo>
                    <a:pt x="327" y="410"/>
                  </a:lnTo>
                  <a:lnTo>
                    <a:pt x="350" y="404"/>
                  </a:lnTo>
                  <a:lnTo>
                    <a:pt x="373" y="399"/>
                  </a:lnTo>
                  <a:lnTo>
                    <a:pt x="391" y="392"/>
                  </a:lnTo>
                  <a:lnTo>
                    <a:pt x="391" y="432"/>
                  </a:lnTo>
                  <a:lnTo>
                    <a:pt x="385" y="438"/>
                  </a:lnTo>
                  <a:lnTo>
                    <a:pt x="372" y="443"/>
                  </a:lnTo>
                  <a:lnTo>
                    <a:pt x="355" y="448"/>
                  </a:lnTo>
                  <a:lnTo>
                    <a:pt x="332" y="454"/>
                  </a:lnTo>
                  <a:lnTo>
                    <a:pt x="306" y="458"/>
                  </a:lnTo>
                  <a:lnTo>
                    <a:pt x="277" y="462"/>
                  </a:lnTo>
                  <a:lnTo>
                    <a:pt x="245" y="464"/>
                  </a:lnTo>
                  <a:lnTo>
                    <a:pt x="211" y="466"/>
                  </a:lnTo>
                  <a:lnTo>
                    <a:pt x="211" y="466"/>
                  </a:lnTo>
                  <a:close/>
                  <a:moveTo>
                    <a:pt x="211" y="30"/>
                  </a:moveTo>
                  <a:lnTo>
                    <a:pt x="243" y="30"/>
                  </a:lnTo>
                  <a:lnTo>
                    <a:pt x="274" y="32"/>
                  </a:lnTo>
                  <a:lnTo>
                    <a:pt x="302" y="36"/>
                  </a:lnTo>
                  <a:lnTo>
                    <a:pt x="327" y="39"/>
                  </a:lnTo>
                  <a:lnTo>
                    <a:pt x="348" y="45"/>
                  </a:lnTo>
                  <a:lnTo>
                    <a:pt x="365" y="50"/>
                  </a:lnTo>
                  <a:lnTo>
                    <a:pt x="379" y="54"/>
                  </a:lnTo>
                  <a:lnTo>
                    <a:pt x="389" y="60"/>
                  </a:lnTo>
                  <a:lnTo>
                    <a:pt x="379" y="64"/>
                  </a:lnTo>
                  <a:lnTo>
                    <a:pt x="365" y="69"/>
                  </a:lnTo>
                  <a:lnTo>
                    <a:pt x="348" y="75"/>
                  </a:lnTo>
                  <a:lnTo>
                    <a:pt x="327" y="79"/>
                  </a:lnTo>
                  <a:lnTo>
                    <a:pt x="302" y="83"/>
                  </a:lnTo>
                  <a:lnTo>
                    <a:pt x="274" y="86"/>
                  </a:lnTo>
                  <a:lnTo>
                    <a:pt x="243" y="88"/>
                  </a:lnTo>
                  <a:lnTo>
                    <a:pt x="211" y="90"/>
                  </a:lnTo>
                  <a:lnTo>
                    <a:pt x="178" y="88"/>
                  </a:lnTo>
                  <a:lnTo>
                    <a:pt x="148" y="86"/>
                  </a:lnTo>
                  <a:lnTo>
                    <a:pt x="120" y="83"/>
                  </a:lnTo>
                  <a:lnTo>
                    <a:pt x="95" y="79"/>
                  </a:lnTo>
                  <a:lnTo>
                    <a:pt x="74" y="75"/>
                  </a:lnTo>
                  <a:lnTo>
                    <a:pt x="56" y="69"/>
                  </a:lnTo>
                  <a:lnTo>
                    <a:pt x="43" y="64"/>
                  </a:lnTo>
                  <a:lnTo>
                    <a:pt x="33" y="60"/>
                  </a:lnTo>
                  <a:lnTo>
                    <a:pt x="43" y="54"/>
                  </a:lnTo>
                  <a:lnTo>
                    <a:pt x="56" y="50"/>
                  </a:lnTo>
                  <a:lnTo>
                    <a:pt x="74" y="45"/>
                  </a:lnTo>
                  <a:lnTo>
                    <a:pt x="95" y="39"/>
                  </a:lnTo>
                  <a:lnTo>
                    <a:pt x="120" y="36"/>
                  </a:lnTo>
                  <a:lnTo>
                    <a:pt x="148" y="32"/>
                  </a:lnTo>
                  <a:lnTo>
                    <a:pt x="178" y="30"/>
                  </a:lnTo>
                  <a:lnTo>
                    <a:pt x="211" y="30"/>
                  </a:lnTo>
                  <a:close/>
                  <a:moveTo>
                    <a:pt x="391" y="132"/>
                  </a:moveTo>
                  <a:lnTo>
                    <a:pt x="385" y="137"/>
                  </a:lnTo>
                  <a:lnTo>
                    <a:pt x="372" y="142"/>
                  </a:lnTo>
                  <a:lnTo>
                    <a:pt x="355" y="147"/>
                  </a:lnTo>
                  <a:lnTo>
                    <a:pt x="332" y="153"/>
                  </a:lnTo>
                  <a:lnTo>
                    <a:pt x="306" y="157"/>
                  </a:lnTo>
                  <a:lnTo>
                    <a:pt x="277" y="161"/>
                  </a:lnTo>
                  <a:lnTo>
                    <a:pt x="245" y="163"/>
                  </a:lnTo>
                  <a:lnTo>
                    <a:pt x="211" y="165"/>
                  </a:lnTo>
                  <a:lnTo>
                    <a:pt x="177" y="163"/>
                  </a:lnTo>
                  <a:lnTo>
                    <a:pt x="145" y="161"/>
                  </a:lnTo>
                  <a:lnTo>
                    <a:pt x="115" y="157"/>
                  </a:lnTo>
                  <a:lnTo>
                    <a:pt x="89" y="153"/>
                  </a:lnTo>
                  <a:lnTo>
                    <a:pt x="67" y="147"/>
                  </a:lnTo>
                  <a:lnTo>
                    <a:pt x="50" y="142"/>
                  </a:lnTo>
                  <a:lnTo>
                    <a:pt x="37" y="137"/>
                  </a:lnTo>
                  <a:lnTo>
                    <a:pt x="30" y="132"/>
                  </a:lnTo>
                  <a:lnTo>
                    <a:pt x="30" y="91"/>
                  </a:lnTo>
                  <a:lnTo>
                    <a:pt x="49" y="98"/>
                  </a:lnTo>
                  <a:lnTo>
                    <a:pt x="71" y="105"/>
                  </a:lnTo>
                  <a:lnTo>
                    <a:pt x="94" y="109"/>
                  </a:lnTo>
                  <a:lnTo>
                    <a:pt x="119" y="113"/>
                  </a:lnTo>
                  <a:lnTo>
                    <a:pt x="145" y="116"/>
                  </a:lnTo>
                  <a:lnTo>
                    <a:pt x="168" y="117"/>
                  </a:lnTo>
                  <a:lnTo>
                    <a:pt x="191" y="120"/>
                  </a:lnTo>
                  <a:lnTo>
                    <a:pt x="211" y="120"/>
                  </a:lnTo>
                  <a:lnTo>
                    <a:pt x="230" y="120"/>
                  </a:lnTo>
                  <a:lnTo>
                    <a:pt x="253" y="117"/>
                  </a:lnTo>
                  <a:lnTo>
                    <a:pt x="277" y="116"/>
                  </a:lnTo>
                  <a:lnTo>
                    <a:pt x="302" y="113"/>
                  </a:lnTo>
                  <a:lnTo>
                    <a:pt x="327" y="109"/>
                  </a:lnTo>
                  <a:lnTo>
                    <a:pt x="350" y="105"/>
                  </a:lnTo>
                  <a:lnTo>
                    <a:pt x="373" y="98"/>
                  </a:lnTo>
                  <a:lnTo>
                    <a:pt x="391" y="91"/>
                  </a:lnTo>
                  <a:lnTo>
                    <a:pt x="391" y="132"/>
                  </a:lnTo>
                  <a:close/>
                  <a:moveTo>
                    <a:pt x="391" y="207"/>
                  </a:moveTo>
                  <a:lnTo>
                    <a:pt x="385" y="212"/>
                  </a:lnTo>
                  <a:lnTo>
                    <a:pt x="372" y="217"/>
                  </a:lnTo>
                  <a:lnTo>
                    <a:pt x="355" y="222"/>
                  </a:lnTo>
                  <a:lnTo>
                    <a:pt x="332" y="228"/>
                  </a:lnTo>
                  <a:lnTo>
                    <a:pt x="306" y="233"/>
                  </a:lnTo>
                  <a:lnTo>
                    <a:pt x="277" y="236"/>
                  </a:lnTo>
                  <a:lnTo>
                    <a:pt x="245" y="238"/>
                  </a:lnTo>
                  <a:lnTo>
                    <a:pt x="211" y="240"/>
                  </a:lnTo>
                  <a:lnTo>
                    <a:pt x="177" y="238"/>
                  </a:lnTo>
                  <a:lnTo>
                    <a:pt x="145" y="236"/>
                  </a:lnTo>
                  <a:lnTo>
                    <a:pt x="115" y="233"/>
                  </a:lnTo>
                  <a:lnTo>
                    <a:pt x="89" y="228"/>
                  </a:lnTo>
                  <a:lnTo>
                    <a:pt x="67" y="222"/>
                  </a:lnTo>
                  <a:lnTo>
                    <a:pt x="50" y="217"/>
                  </a:lnTo>
                  <a:lnTo>
                    <a:pt x="37" y="212"/>
                  </a:lnTo>
                  <a:lnTo>
                    <a:pt x="30" y="207"/>
                  </a:lnTo>
                  <a:lnTo>
                    <a:pt x="30" y="166"/>
                  </a:lnTo>
                  <a:lnTo>
                    <a:pt x="49" y="173"/>
                  </a:lnTo>
                  <a:lnTo>
                    <a:pt x="71" y="180"/>
                  </a:lnTo>
                  <a:lnTo>
                    <a:pt x="94" y="184"/>
                  </a:lnTo>
                  <a:lnTo>
                    <a:pt x="119" y="188"/>
                  </a:lnTo>
                  <a:lnTo>
                    <a:pt x="145" y="191"/>
                  </a:lnTo>
                  <a:lnTo>
                    <a:pt x="168" y="193"/>
                  </a:lnTo>
                  <a:lnTo>
                    <a:pt x="191" y="195"/>
                  </a:lnTo>
                  <a:lnTo>
                    <a:pt x="211" y="195"/>
                  </a:lnTo>
                  <a:lnTo>
                    <a:pt x="230" y="195"/>
                  </a:lnTo>
                  <a:lnTo>
                    <a:pt x="253" y="193"/>
                  </a:lnTo>
                  <a:lnTo>
                    <a:pt x="277" y="191"/>
                  </a:lnTo>
                  <a:lnTo>
                    <a:pt x="302" y="188"/>
                  </a:lnTo>
                  <a:lnTo>
                    <a:pt x="327" y="184"/>
                  </a:lnTo>
                  <a:lnTo>
                    <a:pt x="350" y="180"/>
                  </a:lnTo>
                  <a:lnTo>
                    <a:pt x="373" y="173"/>
                  </a:lnTo>
                  <a:lnTo>
                    <a:pt x="391" y="167"/>
                  </a:lnTo>
                  <a:lnTo>
                    <a:pt x="391" y="207"/>
                  </a:lnTo>
                  <a:close/>
                  <a:moveTo>
                    <a:pt x="391" y="282"/>
                  </a:moveTo>
                  <a:lnTo>
                    <a:pt x="385" y="288"/>
                  </a:lnTo>
                  <a:lnTo>
                    <a:pt x="372" y="293"/>
                  </a:lnTo>
                  <a:lnTo>
                    <a:pt x="355" y="298"/>
                  </a:lnTo>
                  <a:lnTo>
                    <a:pt x="332" y="303"/>
                  </a:lnTo>
                  <a:lnTo>
                    <a:pt x="306" y="308"/>
                  </a:lnTo>
                  <a:lnTo>
                    <a:pt x="277" y="311"/>
                  </a:lnTo>
                  <a:lnTo>
                    <a:pt x="245" y="315"/>
                  </a:lnTo>
                  <a:lnTo>
                    <a:pt x="211" y="315"/>
                  </a:lnTo>
                  <a:lnTo>
                    <a:pt x="177" y="315"/>
                  </a:lnTo>
                  <a:lnTo>
                    <a:pt x="145" y="311"/>
                  </a:lnTo>
                  <a:lnTo>
                    <a:pt x="115" y="308"/>
                  </a:lnTo>
                  <a:lnTo>
                    <a:pt x="89" y="303"/>
                  </a:lnTo>
                  <a:lnTo>
                    <a:pt x="67" y="298"/>
                  </a:lnTo>
                  <a:lnTo>
                    <a:pt x="50" y="293"/>
                  </a:lnTo>
                  <a:lnTo>
                    <a:pt x="37" y="288"/>
                  </a:lnTo>
                  <a:lnTo>
                    <a:pt x="30" y="282"/>
                  </a:lnTo>
                  <a:lnTo>
                    <a:pt x="30" y="242"/>
                  </a:lnTo>
                  <a:lnTo>
                    <a:pt x="49" y="248"/>
                  </a:lnTo>
                  <a:lnTo>
                    <a:pt x="71" y="255"/>
                  </a:lnTo>
                  <a:lnTo>
                    <a:pt x="94" y="260"/>
                  </a:lnTo>
                  <a:lnTo>
                    <a:pt x="119" y="263"/>
                  </a:lnTo>
                  <a:lnTo>
                    <a:pt x="145" y="266"/>
                  </a:lnTo>
                  <a:lnTo>
                    <a:pt x="168" y="268"/>
                  </a:lnTo>
                  <a:lnTo>
                    <a:pt x="191" y="270"/>
                  </a:lnTo>
                  <a:lnTo>
                    <a:pt x="211" y="270"/>
                  </a:lnTo>
                  <a:lnTo>
                    <a:pt x="230" y="270"/>
                  </a:lnTo>
                  <a:lnTo>
                    <a:pt x="253" y="268"/>
                  </a:lnTo>
                  <a:lnTo>
                    <a:pt x="277" y="266"/>
                  </a:lnTo>
                  <a:lnTo>
                    <a:pt x="302" y="263"/>
                  </a:lnTo>
                  <a:lnTo>
                    <a:pt x="327" y="260"/>
                  </a:lnTo>
                  <a:lnTo>
                    <a:pt x="350" y="255"/>
                  </a:lnTo>
                  <a:lnTo>
                    <a:pt x="373" y="248"/>
                  </a:lnTo>
                  <a:lnTo>
                    <a:pt x="391" y="242"/>
                  </a:lnTo>
                  <a:lnTo>
                    <a:pt x="391" y="282"/>
                  </a:lnTo>
                  <a:close/>
                  <a:moveTo>
                    <a:pt x="391" y="357"/>
                  </a:moveTo>
                  <a:lnTo>
                    <a:pt x="385" y="363"/>
                  </a:lnTo>
                  <a:lnTo>
                    <a:pt x="372" y="368"/>
                  </a:lnTo>
                  <a:lnTo>
                    <a:pt x="355" y="373"/>
                  </a:lnTo>
                  <a:lnTo>
                    <a:pt x="332" y="379"/>
                  </a:lnTo>
                  <a:lnTo>
                    <a:pt x="306" y="383"/>
                  </a:lnTo>
                  <a:lnTo>
                    <a:pt x="277" y="386"/>
                  </a:lnTo>
                  <a:lnTo>
                    <a:pt x="245" y="389"/>
                  </a:lnTo>
                  <a:lnTo>
                    <a:pt x="211" y="391"/>
                  </a:lnTo>
                  <a:lnTo>
                    <a:pt x="177" y="389"/>
                  </a:lnTo>
                  <a:lnTo>
                    <a:pt x="145" y="386"/>
                  </a:lnTo>
                  <a:lnTo>
                    <a:pt x="115" y="383"/>
                  </a:lnTo>
                  <a:lnTo>
                    <a:pt x="89" y="379"/>
                  </a:lnTo>
                  <a:lnTo>
                    <a:pt x="67" y="373"/>
                  </a:lnTo>
                  <a:lnTo>
                    <a:pt x="50" y="368"/>
                  </a:lnTo>
                  <a:lnTo>
                    <a:pt x="37" y="363"/>
                  </a:lnTo>
                  <a:lnTo>
                    <a:pt x="30" y="357"/>
                  </a:lnTo>
                  <a:lnTo>
                    <a:pt x="30" y="317"/>
                  </a:lnTo>
                  <a:lnTo>
                    <a:pt x="49" y="324"/>
                  </a:lnTo>
                  <a:lnTo>
                    <a:pt x="71" y="329"/>
                  </a:lnTo>
                  <a:lnTo>
                    <a:pt x="94" y="335"/>
                  </a:lnTo>
                  <a:lnTo>
                    <a:pt x="119" y="338"/>
                  </a:lnTo>
                  <a:lnTo>
                    <a:pt x="145" y="341"/>
                  </a:lnTo>
                  <a:lnTo>
                    <a:pt x="168" y="343"/>
                  </a:lnTo>
                  <a:lnTo>
                    <a:pt x="191" y="344"/>
                  </a:lnTo>
                  <a:lnTo>
                    <a:pt x="211" y="344"/>
                  </a:lnTo>
                  <a:lnTo>
                    <a:pt x="230" y="344"/>
                  </a:lnTo>
                  <a:lnTo>
                    <a:pt x="253" y="343"/>
                  </a:lnTo>
                  <a:lnTo>
                    <a:pt x="277" y="341"/>
                  </a:lnTo>
                  <a:lnTo>
                    <a:pt x="302" y="338"/>
                  </a:lnTo>
                  <a:lnTo>
                    <a:pt x="327" y="335"/>
                  </a:lnTo>
                  <a:lnTo>
                    <a:pt x="350" y="329"/>
                  </a:lnTo>
                  <a:lnTo>
                    <a:pt x="373" y="324"/>
                  </a:lnTo>
                  <a:lnTo>
                    <a:pt x="391" y="317"/>
                  </a:lnTo>
                  <a:lnTo>
                    <a:pt x="391" y="357"/>
                  </a:lnTo>
                  <a:close/>
                  <a:moveTo>
                    <a:pt x="211" y="0"/>
                  </a:moveTo>
                  <a:lnTo>
                    <a:pt x="182" y="0"/>
                  </a:lnTo>
                  <a:lnTo>
                    <a:pt x="149" y="2"/>
                  </a:lnTo>
                  <a:lnTo>
                    <a:pt x="114" y="6"/>
                  </a:lnTo>
                  <a:lnTo>
                    <a:pt x="80" y="12"/>
                  </a:lnTo>
                  <a:lnTo>
                    <a:pt x="64" y="16"/>
                  </a:lnTo>
                  <a:lnTo>
                    <a:pt x="49" y="20"/>
                  </a:lnTo>
                  <a:lnTo>
                    <a:pt x="35" y="25"/>
                  </a:lnTo>
                  <a:lnTo>
                    <a:pt x="24" y="31"/>
                  </a:lnTo>
                  <a:lnTo>
                    <a:pt x="14" y="37"/>
                  </a:lnTo>
                  <a:lnTo>
                    <a:pt x="6" y="43"/>
                  </a:lnTo>
                  <a:lnTo>
                    <a:pt x="4" y="48"/>
                  </a:lnTo>
                  <a:lnTo>
                    <a:pt x="2" y="51"/>
                  </a:lnTo>
                  <a:lnTo>
                    <a:pt x="1" y="55"/>
                  </a:lnTo>
                  <a:lnTo>
                    <a:pt x="0" y="60"/>
                  </a:lnTo>
                  <a:lnTo>
                    <a:pt x="0" y="135"/>
                  </a:lnTo>
                  <a:lnTo>
                    <a:pt x="0" y="210"/>
                  </a:lnTo>
                  <a:lnTo>
                    <a:pt x="0" y="285"/>
                  </a:lnTo>
                  <a:lnTo>
                    <a:pt x="0" y="359"/>
                  </a:lnTo>
                  <a:lnTo>
                    <a:pt x="0" y="436"/>
                  </a:lnTo>
                  <a:lnTo>
                    <a:pt x="1" y="440"/>
                  </a:lnTo>
                  <a:lnTo>
                    <a:pt x="2" y="443"/>
                  </a:lnTo>
                  <a:lnTo>
                    <a:pt x="4" y="447"/>
                  </a:lnTo>
                  <a:lnTo>
                    <a:pt x="6" y="451"/>
                  </a:lnTo>
                  <a:lnTo>
                    <a:pt x="14" y="458"/>
                  </a:lnTo>
                  <a:lnTo>
                    <a:pt x="24" y="463"/>
                  </a:lnTo>
                  <a:lnTo>
                    <a:pt x="35" y="469"/>
                  </a:lnTo>
                  <a:lnTo>
                    <a:pt x="49" y="474"/>
                  </a:lnTo>
                  <a:lnTo>
                    <a:pt x="64" y="478"/>
                  </a:lnTo>
                  <a:lnTo>
                    <a:pt x="80" y="483"/>
                  </a:lnTo>
                  <a:lnTo>
                    <a:pt x="114" y="488"/>
                  </a:lnTo>
                  <a:lnTo>
                    <a:pt x="149" y="492"/>
                  </a:lnTo>
                  <a:lnTo>
                    <a:pt x="182" y="494"/>
                  </a:lnTo>
                  <a:lnTo>
                    <a:pt x="211" y="496"/>
                  </a:lnTo>
                  <a:lnTo>
                    <a:pt x="240" y="494"/>
                  </a:lnTo>
                  <a:lnTo>
                    <a:pt x="273" y="492"/>
                  </a:lnTo>
                  <a:lnTo>
                    <a:pt x="307" y="488"/>
                  </a:lnTo>
                  <a:lnTo>
                    <a:pt x="342" y="483"/>
                  </a:lnTo>
                  <a:lnTo>
                    <a:pt x="358" y="478"/>
                  </a:lnTo>
                  <a:lnTo>
                    <a:pt x="373" y="474"/>
                  </a:lnTo>
                  <a:lnTo>
                    <a:pt x="387" y="469"/>
                  </a:lnTo>
                  <a:lnTo>
                    <a:pt x="398" y="463"/>
                  </a:lnTo>
                  <a:lnTo>
                    <a:pt x="408" y="458"/>
                  </a:lnTo>
                  <a:lnTo>
                    <a:pt x="416" y="451"/>
                  </a:lnTo>
                  <a:lnTo>
                    <a:pt x="418" y="447"/>
                  </a:lnTo>
                  <a:lnTo>
                    <a:pt x="420" y="443"/>
                  </a:lnTo>
                  <a:lnTo>
                    <a:pt x="421" y="440"/>
                  </a:lnTo>
                  <a:lnTo>
                    <a:pt x="421" y="436"/>
                  </a:lnTo>
                  <a:lnTo>
                    <a:pt x="421" y="359"/>
                  </a:lnTo>
                  <a:lnTo>
                    <a:pt x="421" y="285"/>
                  </a:lnTo>
                  <a:lnTo>
                    <a:pt x="421" y="210"/>
                  </a:lnTo>
                  <a:lnTo>
                    <a:pt x="421" y="135"/>
                  </a:lnTo>
                  <a:lnTo>
                    <a:pt x="421" y="60"/>
                  </a:lnTo>
                  <a:lnTo>
                    <a:pt x="421" y="55"/>
                  </a:lnTo>
                  <a:lnTo>
                    <a:pt x="420" y="51"/>
                  </a:lnTo>
                  <a:lnTo>
                    <a:pt x="418" y="48"/>
                  </a:lnTo>
                  <a:lnTo>
                    <a:pt x="416" y="43"/>
                  </a:lnTo>
                  <a:lnTo>
                    <a:pt x="408" y="37"/>
                  </a:lnTo>
                  <a:lnTo>
                    <a:pt x="398" y="31"/>
                  </a:lnTo>
                  <a:lnTo>
                    <a:pt x="387" y="25"/>
                  </a:lnTo>
                  <a:lnTo>
                    <a:pt x="373" y="20"/>
                  </a:lnTo>
                  <a:lnTo>
                    <a:pt x="358" y="16"/>
                  </a:lnTo>
                  <a:lnTo>
                    <a:pt x="342" y="12"/>
                  </a:lnTo>
                  <a:lnTo>
                    <a:pt x="307" y="6"/>
                  </a:lnTo>
                  <a:lnTo>
                    <a:pt x="273" y="2"/>
                  </a:lnTo>
                  <a:lnTo>
                    <a:pt x="240" y="0"/>
                  </a:lnTo>
                  <a:lnTo>
                    <a:pt x="211" y="0"/>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98" name="Google Shape;498;p19"/>
            <p:cNvSpPr/>
            <p:nvPr/>
          </p:nvSpPr>
          <p:spPr>
            <a:xfrm>
              <a:off x="9882188" y="1354138"/>
              <a:ext cx="285750" cy="180975"/>
            </a:xfrm>
            <a:custGeom>
              <a:rect b="b" l="l" r="r" t="t"/>
              <a:pathLst>
                <a:path extrusionOk="0" h="571" w="902">
                  <a:moveTo>
                    <a:pt x="0" y="0"/>
                  </a:moveTo>
                  <a:lnTo>
                    <a:pt x="0" y="345"/>
                  </a:lnTo>
                  <a:lnTo>
                    <a:pt x="1" y="348"/>
                  </a:lnTo>
                  <a:lnTo>
                    <a:pt x="1" y="351"/>
                  </a:lnTo>
                  <a:lnTo>
                    <a:pt x="3" y="353"/>
                  </a:lnTo>
                  <a:lnTo>
                    <a:pt x="4" y="355"/>
                  </a:lnTo>
                  <a:lnTo>
                    <a:pt x="6" y="357"/>
                  </a:lnTo>
                  <a:lnTo>
                    <a:pt x="10" y="358"/>
                  </a:lnTo>
                  <a:lnTo>
                    <a:pt x="12" y="360"/>
                  </a:lnTo>
                  <a:lnTo>
                    <a:pt x="15" y="361"/>
                  </a:lnTo>
                  <a:lnTo>
                    <a:pt x="18" y="360"/>
                  </a:lnTo>
                  <a:lnTo>
                    <a:pt x="21" y="358"/>
                  </a:lnTo>
                  <a:lnTo>
                    <a:pt x="24" y="357"/>
                  </a:lnTo>
                  <a:lnTo>
                    <a:pt x="26" y="355"/>
                  </a:lnTo>
                  <a:lnTo>
                    <a:pt x="28" y="353"/>
                  </a:lnTo>
                  <a:lnTo>
                    <a:pt x="29" y="351"/>
                  </a:lnTo>
                  <a:lnTo>
                    <a:pt x="30" y="348"/>
                  </a:lnTo>
                  <a:lnTo>
                    <a:pt x="30" y="345"/>
                  </a:lnTo>
                  <a:lnTo>
                    <a:pt x="30" y="30"/>
                  </a:lnTo>
                  <a:lnTo>
                    <a:pt x="872" y="30"/>
                  </a:lnTo>
                  <a:lnTo>
                    <a:pt x="872" y="541"/>
                  </a:lnTo>
                  <a:lnTo>
                    <a:pt x="572" y="541"/>
                  </a:lnTo>
                  <a:lnTo>
                    <a:pt x="569" y="541"/>
                  </a:lnTo>
                  <a:lnTo>
                    <a:pt x="566" y="542"/>
                  </a:lnTo>
                  <a:lnTo>
                    <a:pt x="563" y="543"/>
                  </a:lnTo>
                  <a:lnTo>
                    <a:pt x="561" y="545"/>
                  </a:lnTo>
                  <a:lnTo>
                    <a:pt x="559" y="547"/>
                  </a:lnTo>
                  <a:lnTo>
                    <a:pt x="558" y="550"/>
                  </a:lnTo>
                  <a:lnTo>
                    <a:pt x="557" y="552"/>
                  </a:lnTo>
                  <a:lnTo>
                    <a:pt x="557" y="556"/>
                  </a:lnTo>
                  <a:lnTo>
                    <a:pt x="557" y="559"/>
                  </a:lnTo>
                  <a:lnTo>
                    <a:pt x="558" y="561"/>
                  </a:lnTo>
                  <a:lnTo>
                    <a:pt x="559" y="564"/>
                  </a:lnTo>
                  <a:lnTo>
                    <a:pt x="561" y="566"/>
                  </a:lnTo>
                  <a:lnTo>
                    <a:pt x="563" y="568"/>
                  </a:lnTo>
                  <a:lnTo>
                    <a:pt x="566" y="569"/>
                  </a:lnTo>
                  <a:lnTo>
                    <a:pt x="569" y="571"/>
                  </a:lnTo>
                  <a:lnTo>
                    <a:pt x="572" y="571"/>
                  </a:lnTo>
                  <a:lnTo>
                    <a:pt x="902" y="571"/>
                  </a:lnTo>
                  <a:lnTo>
                    <a:pt x="902" y="0"/>
                  </a:lnTo>
                  <a:lnTo>
                    <a:pt x="0" y="0"/>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499" name="Google Shape;499;p19"/>
            <p:cNvSpPr/>
            <p:nvPr/>
          </p:nvSpPr>
          <p:spPr>
            <a:xfrm>
              <a:off x="9986963" y="1406525"/>
              <a:ext cx="76200" cy="76200"/>
            </a:xfrm>
            <a:custGeom>
              <a:rect b="b" l="l" r="r" t="t"/>
              <a:pathLst>
                <a:path extrusionOk="0" h="241" w="241">
                  <a:moveTo>
                    <a:pt x="120" y="210"/>
                  </a:moveTo>
                  <a:lnTo>
                    <a:pt x="111" y="210"/>
                  </a:lnTo>
                  <a:lnTo>
                    <a:pt x="102" y="208"/>
                  </a:lnTo>
                  <a:lnTo>
                    <a:pt x="93" y="206"/>
                  </a:lnTo>
                  <a:lnTo>
                    <a:pt x="86" y="203"/>
                  </a:lnTo>
                  <a:lnTo>
                    <a:pt x="77" y="199"/>
                  </a:lnTo>
                  <a:lnTo>
                    <a:pt x="70" y="195"/>
                  </a:lnTo>
                  <a:lnTo>
                    <a:pt x="63" y="189"/>
                  </a:lnTo>
                  <a:lnTo>
                    <a:pt x="57" y="184"/>
                  </a:lnTo>
                  <a:lnTo>
                    <a:pt x="50" y="177"/>
                  </a:lnTo>
                  <a:lnTo>
                    <a:pt x="46" y="170"/>
                  </a:lnTo>
                  <a:lnTo>
                    <a:pt x="41" y="162"/>
                  </a:lnTo>
                  <a:lnTo>
                    <a:pt x="37" y="155"/>
                  </a:lnTo>
                  <a:lnTo>
                    <a:pt x="34" y="146"/>
                  </a:lnTo>
                  <a:lnTo>
                    <a:pt x="32" y="138"/>
                  </a:lnTo>
                  <a:lnTo>
                    <a:pt x="31" y="129"/>
                  </a:lnTo>
                  <a:lnTo>
                    <a:pt x="30" y="120"/>
                  </a:lnTo>
                  <a:lnTo>
                    <a:pt x="31" y="111"/>
                  </a:lnTo>
                  <a:lnTo>
                    <a:pt x="32" y="101"/>
                  </a:lnTo>
                  <a:lnTo>
                    <a:pt x="34" y="93"/>
                  </a:lnTo>
                  <a:lnTo>
                    <a:pt x="37" y="85"/>
                  </a:lnTo>
                  <a:lnTo>
                    <a:pt x="41" y="77"/>
                  </a:lnTo>
                  <a:lnTo>
                    <a:pt x="46" y="69"/>
                  </a:lnTo>
                  <a:lnTo>
                    <a:pt x="50" y="63"/>
                  </a:lnTo>
                  <a:lnTo>
                    <a:pt x="57" y="56"/>
                  </a:lnTo>
                  <a:lnTo>
                    <a:pt x="63" y="50"/>
                  </a:lnTo>
                  <a:lnTo>
                    <a:pt x="70" y="46"/>
                  </a:lnTo>
                  <a:lnTo>
                    <a:pt x="77" y="40"/>
                  </a:lnTo>
                  <a:lnTo>
                    <a:pt x="86" y="37"/>
                  </a:lnTo>
                  <a:lnTo>
                    <a:pt x="93" y="34"/>
                  </a:lnTo>
                  <a:lnTo>
                    <a:pt x="102" y="32"/>
                  </a:lnTo>
                  <a:lnTo>
                    <a:pt x="111" y="31"/>
                  </a:lnTo>
                  <a:lnTo>
                    <a:pt x="120" y="30"/>
                  </a:lnTo>
                  <a:lnTo>
                    <a:pt x="130" y="31"/>
                  </a:lnTo>
                  <a:lnTo>
                    <a:pt x="138" y="32"/>
                  </a:lnTo>
                  <a:lnTo>
                    <a:pt x="147" y="34"/>
                  </a:lnTo>
                  <a:lnTo>
                    <a:pt x="155" y="37"/>
                  </a:lnTo>
                  <a:lnTo>
                    <a:pt x="163" y="40"/>
                  </a:lnTo>
                  <a:lnTo>
                    <a:pt x="170" y="46"/>
                  </a:lnTo>
                  <a:lnTo>
                    <a:pt x="178" y="50"/>
                  </a:lnTo>
                  <a:lnTo>
                    <a:pt x="184" y="56"/>
                  </a:lnTo>
                  <a:lnTo>
                    <a:pt x="190" y="63"/>
                  </a:lnTo>
                  <a:lnTo>
                    <a:pt x="195" y="69"/>
                  </a:lnTo>
                  <a:lnTo>
                    <a:pt x="199" y="77"/>
                  </a:lnTo>
                  <a:lnTo>
                    <a:pt x="204" y="85"/>
                  </a:lnTo>
                  <a:lnTo>
                    <a:pt x="207" y="93"/>
                  </a:lnTo>
                  <a:lnTo>
                    <a:pt x="209" y="101"/>
                  </a:lnTo>
                  <a:lnTo>
                    <a:pt x="210" y="111"/>
                  </a:lnTo>
                  <a:lnTo>
                    <a:pt x="211" y="120"/>
                  </a:lnTo>
                  <a:lnTo>
                    <a:pt x="210" y="129"/>
                  </a:lnTo>
                  <a:lnTo>
                    <a:pt x="209" y="138"/>
                  </a:lnTo>
                  <a:lnTo>
                    <a:pt x="207" y="146"/>
                  </a:lnTo>
                  <a:lnTo>
                    <a:pt x="204" y="155"/>
                  </a:lnTo>
                  <a:lnTo>
                    <a:pt x="199" y="162"/>
                  </a:lnTo>
                  <a:lnTo>
                    <a:pt x="195" y="170"/>
                  </a:lnTo>
                  <a:lnTo>
                    <a:pt x="190" y="177"/>
                  </a:lnTo>
                  <a:lnTo>
                    <a:pt x="184" y="184"/>
                  </a:lnTo>
                  <a:lnTo>
                    <a:pt x="178" y="189"/>
                  </a:lnTo>
                  <a:lnTo>
                    <a:pt x="170" y="195"/>
                  </a:lnTo>
                  <a:lnTo>
                    <a:pt x="163" y="199"/>
                  </a:lnTo>
                  <a:lnTo>
                    <a:pt x="155" y="203"/>
                  </a:lnTo>
                  <a:lnTo>
                    <a:pt x="147" y="206"/>
                  </a:lnTo>
                  <a:lnTo>
                    <a:pt x="138" y="208"/>
                  </a:lnTo>
                  <a:lnTo>
                    <a:pt x="130" y="210"/>
                  </a:lnTo>
                  <a:lnTo>
                    <a:pt x="120" y="211"/>
                  </a:lnTo>
                  <a:lnTo>
                    <a:pt x="120" y="210"/>
                  </a:lnTo>
                  <a:close/>
                  <a:moveTo>
                    <a:pt x="120" y="0"/>
                  </a:moveTo>
                  <a:lnTo>
                    <a:pt x="108" y="1"/>
                  </a:lnTo>
                  <a:lnTo>
                    <a:pt x="96" y="2"/>
                  </a:lnTo>
                  <a:lnTo>
                    <a:pt x="85" y="5"/>
                  </a:lnTo>
                  <a:lnTo>
                    <a:pt x="74" y="9"/>
                  </a:lnTo>
                  <a:lnTo>
                    <a:pt x="63" y="15"/>
                  </a:lnTo>
                  <a:lnTo>
                    <a:pt x="54" y="20"/>
                  </a:lnTo>
                  <a:lnTo>
                    <a:pt x="44" y="27"/>
                  </a:lnTo>
                  <a:lnTo>
                    <a:pt x="35" y="35"/>
                  </a:lnTo>
                  <a:lnTo>
                    <a:pt x="28" y="43"/>
                  </a:lnTo>
                  <a:lnTo>
                    <a:pt x="20" y="53"/>
                  </a:lnTo>
                  <a:lnTo>
                    <a:pt x="15" y="63"/>
                  </a:lnTo>
                  <a:lnTo>
                    <a:pt x="10" y="73"/>
                  </a:lnTo>
                  <a:lnTo>
                    <a:pt x="5" y="84"/>
                  </a:lnTo>
                  <a:lnTo>
                    <a:pt x="2" y="96"/>
                  </a:lnTo>
                  <a:lnTo>
                    <a:pt x="1" y="108"/>
                  </a:lnTo>
                  <a:lnTo>
                    <a:pt x="0" y="120"/>
                  </a:lnTo>
                  <a:lnTo>
                    <a:pt x="1" y="132"/>
                  </a:lnTo>
                  <a:lnTo>
                    <a:pt x="2" y="144"/>
                  </a:lnTo>
                  <a:lnTo>
                    <a:pt x="5" y="156"/>
                  </a:lnTo>
                  <a:lnTo>
                    <a:pt x="10" y="167"/>
                  </a:lnTo>
                  <a:lnTo>
                    <a:pt x="15" y="177"/>
                  </a:lnTo>
                  <a:lnTo>
                    <a:pt x="20" y="187"/>
                  </a:lnTo>
                  <a:lnTo>
                    <a:pt x="28" y="197"/>
                  </a:lnTo>
                  <a:lnTo>
                    <a:pt x="35" y="205"/>
                  </a:lnTo>
                  <a:lnTo>
                    <a:pt x="44" y="213"/>
                  </a:lnTo>
                  <a:lnTo>
                    <a:pt x="54" y="219"/>
                  </a:lnTo>
                  <a:lnTo>
                    <a:pt x="63" y="226"/>
                  </a:lnTo>
                  <a:lnTo>
                    <a:pt x="74" y="231"/>
                  </a:lnTo>
                  <a:lnTo>
                    <a:pt x="85" y="235"/>
                  </a:lnTo>
                  <a:lnTo>
                    <a:pt x="96" y="237"/>
                  </a:lnTo>
                  <a:lnTo>
                    <a:pt x="108" y="239"/>
                  </a:lnTo>
                  <a:lnTo>
                    <a:pt x="120" y="241"/>
                  </a:lnTo>
                  <a:lnTo>
                    <a:pt x="133" y="239"/>
                  </a:lnTo>
                  <a:lnTo>
                    <a:pt x="145" y="237"/>
                  </a:lnTo>
                  <a:lnTo>
                    <a:pt x="156" y="235"/>
                  </a:lnTo>
                  <a:lnTo>
                    <a:pt x="167" y="231"/>
                  </a:lnTo>
                  <a:lnTo>
                    <a:pt x="178" y="226"/>
                  </a:lnTo>
                  <a:lnTo>
                    <a:pt x="187" y="219"/>
                  </a:lnTo>
                  <a:lnTo>
                    <a:pt x="197" y="213"/>
                  </a:lnTo>
                  <a:lnTo>
                    <a:pt x="206" y="205"/>
                  </a:lnTo>
                  <a:lnTo>
                    <a:pt x="213" y="197"/>
                  </a:lnTo>
                  <a:lnTo>
                    <a:pt x="220" y="187"/>
                  </a:lnTo>
                  <a:lnTo>
                    <a:pt x="226" y="177"/>
                  </a:lnTo>
                  <a:lnTo>
                    <a:pt x="231" y="167"/>
                  </a:lnTo>
                  <a:lnTo>
                    <a:pt x="236" y="156"/>
                  </a:lnTo>
                  <a:lnTo>
                    <a:pt x="238" y="144"/>
                  </a:lnTo>
                  <a:lnTo>
                    <a:pt x="240" y="132"/>
                  </a:lnTo>
                  <a:lnTo>
                    <a:pt x="241" y="120"/>
                  </a:lnTo>
                  <a:lnTo>
                    <a:pt x="240" y="108"/>
                  </a:lnTo>
                  <a:lnTo>
                    <a:pt x="238" y="96"/>
                  </a:lnTo>
                  <a:lnTo>
                    <a:pt x="236" y="84"/>
                  </a:lnTo>
                  <a:lnTo>
                    <a:pt x="231" y="73"/>
                  </a:lnTo>
                  <a:lnTo>
                    <a:pt x="226" y="63"/>
                  </a:lnTo>
                  <a:lnTo>
                    <a:pt x="220" y="53"/>
                  </a:lnTo>
                  <a:lnTo>
                    <a:pt x="213" y="43"/>
                  </a:lnTo>
                  <a:lnTo>
                    <a:pt x="206" y="35"/>
                  </a:lnTo>
                  <a:lnTo>
                    <a:pt x="197" y="27"/>
                  </a:lnTo>
                  <a:lnTo>
                    <a:pt x="187" y="20"/>
                  </a:lnTo>
                  <a:lnTo>
                    <a:pt x="178" y="15"/>
                  </a:lnTo>
                  <a:lnTo>
                    <a:pt x="167" y="9"/>
                  </a:lnTo>
                  <a:lnTo>
                    <a:pt x="156" y="5"/>
                  </a:lnTo>
                  <a:lnTo>
                    <a:pt x="145" y="2"/>
                  </a:lnTo>
                  <a:lnTo>
                    <a:pt x="133" y="1"/>
                  </a:lnTo>
                  <a:lnTo>
                    <a:pt x="120" y="0"/>
                  </a:lnTo>
                  <a:lnTo>
                    <a:pt x="120" y="0"/>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500" name="Google Shape;500;p19"/>
            <p:cNvSpPr/>
            <p:nvPr/>
          </p:nvSpPr>
          <p:spPr>
            <a:xfrm>
              <a:off x="10091738" y="1458913"/>
              <a:ext cx="28575" cy="28575"/>
            </a:xfrm>
            <a:custGeom>
              <a:rect b="b" l="l" r="r" t="t"/>
              <a:pathLst>
                <a:path extrusionOk="0" h="91" w="90">
                  <a:moveTo>
                    <a:pt x="30" y="45"/>
                  </a:moveTo>
                  <a:lnTo>
                    <a:pt x="30" y="42"/>
                  </a:lnTo>
                  <a:lnTo>
                    <a:pt x="31" y="39"/>
                  </a:lnTo>
                  <a:lnTo>
                    <a:pt x="32" y="37"/>
                  </a:lnTo>
                  <a:lnTo>
                    <a:pt x="34" y="35"/>
                  </a:lnTo>
                  <a:lnTo>
                    <a:pt x="36" y="33"/>
                  </a:lnTo>
                  <a:lnTo>
                    <a:pt x="39" y="32"/>
                  </a:lnTo>
                  <a:lnTo>
                    <a:pt x="42" y="31"/>
                  </a:lnTo>
                  <a:lnTo>
                    <a:pt x="45" y="31"/>
                  </a:lnTo>
                  <a:lnTo>
                    <a:pt x="48" y="31"/>
                  </a:lnTo>
                  <a:lnTo>
                    <a:pt x="50" y="32"/>
                  </a:lnTo>
                  <a:lnTo>
                    <a:pt x="54" y="33"/>
                  </a:lnTo>
                  <a:lnTo>
                    <a:pt x="56" y="35"/>
                  </a:lnTo>
                  <a:lnTo>
                    <a:pt x="58" y="37"/>
                  </a:lnTo>
                  <a:lnTo>
                    <a:pt x="59" y="39"/>
                  </a:lnTo>
                  <a:lnTo>
                    <a:pt x="60" y="42"/>
                  </a:lnTo>
                  <a:lnTo>
                    <a:pt x="60" y="46"/>
                  </a:lnTo>
                  <a:lnTo>
                    <a:pt x="60" y="48"/>
                  </a:lnTo>
                  <a:lnTo>
                    <a:pt x="59" y="51"/>
                  </a:lnTo>
                  <a:lnTo>
                    <a:pt x="58" y="53"/>
                  </a:lnTo>
                  <a:lnTo>
                    <a:pt x="56" y="55"/>
                  </a:lnTo>
                  <a:lnTo>
                    <a:pt x="54" y="57"/>
                  </a:lnTo>
                  <a:lnTo>
                    <a:pt x="50" y="58"/>
                  </a:lnTo>
                  <a:lnTo>
                    <a:pt x="48" y="60"/>
                  </a:lnTo>
                  <a:lnTo>
                    <a:pt x="45" y="61"/>
                  </a:lnTo>
                  <a:lnTo>
                    <a:pt x="42" y="60"/>
                  </a:lnTo>
                  <a:lnTo>
                    <a:pt x="39" y="58"/>
                  </a:lnTo>
                  <a:lnTo>
                    <a:pt x="36" y="57"/>
                  </a:lnTo>
                  <a:lnTo>
                    <a:pt x="34" y="55"/>
                  </a:lnTo>
                  <a:lnTo>
                    <a:pt x="32" y="53"/>
                  </a:lnTo>
                  <a:lnTo>
                    <a:pt x="31" y="51"/>
                  </a:lnTo>
                  <a:lnTo>
                    <a:pt x="30" y="48"/>
                  </a:lnTo>
                  <a:lnTo>
                    <a:pt x="30" y="46"/>
                  </a:lnTo>
                  <a:lnTo>
                    <a:pt x="30" y="45"/>
                  </a:lnTo>
                  <a:close/>
                  <a:moveTo>
                    <a:pt x="90" y="45"/>
                  </a:moveTo>
                  <a:lnTo>
                    <a:pt x="89" y="36"/>
                  </a:lnTo>
                  <a:lnTo>
                    <a:pt x="87" y="27"/>
                  </a:lnTo>
                  <a:lnTo>
                    <a:pt x="83" y="20"/>
                  </a:lnTo>
                  <a:lnTo>
                    <a:pt x="77" y="13"/>
                  </a:lnTo>
                  <a:lnTo>
                    <a:pt x="70" y="8"/>
                  </a:lnTo>
                  <a:lnTo>
                    <a:pt x="62" y="4"/>
                  </a:lnTo>
                  <a:lnTo>
                    <a:pt x="54" y="1"/>
                  </a:lnTo>
                  <a:lnTo>
                    <a:pt x="45" y="0"/>
                  </a:lnTo>
                  <a:lnTo>
                    <a:pt x="35" y="1"/>
                  </a:lnTo>
                  <a:lnTo>
                    <a:pt x="28" y="4"/>
                  </a:lnTo>
                  <a:lnTo>
                    <a:pt x="19" y="8"/>
                  </a:lnTo>
                  <a:lnTo>
                    <a:pt x="13" y="13"/>
                  </a:lnTo>
                  <a:lnTo>
                    <a:pt x="8" y="20"/>
                  </a:lnTo>
                  <a:lnTo>
                    <a:pt x="3" y="27"/>
                  </a:lnTo>
                  <a:lnTo>
                    <a:pt x="1" y="36"/>
                  </a:lnTo>
                  <a:lnTo>
                    <a:pt x="0" y="46"/>
                  </a:lnTo>
                  <a:lnTo>
                    <a:pt x="1" y="54"/>
                  </a:lnTo>
                  <a:lnTo>
                    <a:pt x="3" y="63"/>
                  </a:lnTo>
                  <a:lnTo>
                    <a:pt x="8" y="70"/>
                  </a:lnTo>
                  <a:lnTo>
                    <a:pt x="13" y="77"/>
                  </a:lnTo>
                  <a:lnTo>
                    <a:pt x="19" y="82"/>
                  </a:lnTo>
                  <a:lnTo>
                    <a:pt x="28" y="86"/>
                  </a:lnTo>
                  <a:lnTo>
                    <a:pt x="35" y="89"/>
                  </a:lnTo>
                  <a:lnTo>
                    <a:pt x="45" y="91"/>
                  </a:lnTo>
                  <a:lnTo>
                    <a:pt x="54" y="89"/>
                  </a:lnTo>
                  <a:lnTo>
                    <a:pt x="62" y="86"/>
                  </a:lnTo>
                  <a:lnTo>
                    <a:pt x="70" y="82"/>
                  </a:lnTo>
                  <a:lnTo>
                    <a:pt x="77" y="77"/>
                  </a:lnTo>
                  <a:lnTo>
                    <a:pt x="83" y="70"/>
                  </a:lnTo>
                  <a:lnTo>
                    <a:pt x="87" y="63"/>
                  </a:lnTo>
                  <a:lnTo>
                    <a:pt x="89" y="54"/>
                  </a:lnTo>
                  <a:lnTo>
                    <a:pt x="90" y="46"/>
                  </a:lnTo>
                  <a:lnTo>
                    <a:pt x="90" y="45"/>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501" name="Google Shape;501;p19"/>
            <p:cNvSpPr/>
            <p:nvPr/>
          </p:nvSpPr>
          <p:spPr>
            <a:xfrm>
              <a:off x="9929813" y="1401763"/>
              <a:ext cx="28575" cy="28575"/>
            </a:xfrm>
            <a:custGeom>
              <a:rect b="b" l="l" r="r" t="t"/>
              <a:pathLst>
                <a:path extrusionOk="0" h="90" w="90">
                  <a:moveTo>
                    <a:pt x="60" y="45"/>
                  </a:moveTo>
                  <a:lnTo>
                    <a:pt x="59" y="48"/>
                  </a:lnTo>
                  <a:lnTo>
                    <a:pt x="59" y="51"/>
                  </a:lnTo>
                  <a:lnTo>
                    <a:pt x="57" y="53"/>
                  </a:lnTo>
                  <a:lnTo>
                    <a:pt x="56" y="55"/>
                  </a:lnTo>
                  <a:lnTo>
                    <a:pt x="54" y="57"/>
                  </a:lnTo>
                  <a:lnTo>
                    <a:pt x="50" y="58"/>
                  </a:lnTo>
                  <a:lnTo>
                    <a:pt x="48" y="60"/>
                  </a:lnTo>
                  <a:lnTo>
                    <a:pt x="45" y="60"/>
                  </a:lnTo>
                  <a:lnTo>
                    <a:pt x="42" y="60"/>
                  </a:lnTo>
                  <a:lnTo>
                    <a:pt x="39" y="58"/>
                  </a:lnTo>
                  <a:lnTo>
                    <a:pt x="36" y="57"/>
                  </a:lnTo>
                  <a:lnTo>
                    <a:pt x="34" y="55"/>
                  </a:lnTo>
                  <a:lnTo>
                    <a:pt x="32" y="53"/>
                  </a:lnTo>
                  <a:lnTo>
                    <a:pt x="31" y="51"/>
                  </a:lnTo>
                  <a:lnTo>
                    <a:pt x="30" y="48"/>
                  </a:lnTo>
                  <a:lnTo>
                    <a:pt x="30" y="45"/>
                  </a:lnTo>
                  <a:lnTo>
                    <a:pt x="30" y="41"/>
                  </a:lnTo>
                  <a:lnTo>
                    <a:pt x="31" y="39"/>
                  </a:lnTo>
                  <a:lnTo>
                    <a:pt x="32" y="36"/>
                  </a:lnTo>
                  <a:lnTo>
                    <a:pt x="34" y="34"/>
                  </a:lnTo>
                  <a:lnTo>
                    <a:pt x="36" y="32"/>
                  </a:lnTo>
                  <a:lnTo>
                    <a:pt x="39" y="31"/>
                  </a:lnTo>
                  <a:lnTo>
                    <a:pt x="42" y="30"/>
                  </a:lnTo>
                  <a:lnTo>
                    <a:pt x="45" y="30"/>
                  </a:lnTo>
                  <a:lnTo>
                    <a:pt x="48" y="30"/>
                  </a:lnTo>
                  <a:lnTo>
                    <a:pt x="50" y="31"/>
                  </a:lnTo>
                  <a:lnTo>
                    <a:pt x="54" y="32"/>
                  </a:lnTo>
                  <a:lnTo>
                    <a:pt x="56" y="34"/>
                  </a:lnTo>
                  <a:lnTo>
                    <a:pt x="57" y="36"/>
                  </a:lnTo>
                  <a:lnTo>
                    <a:pt x="59" y="39"/>
                  </a:lnTo>
                  <a:lnTo>
                    <a:pt x="59" y="41"/>
                  </a:lnTo>
                  <a:lnTo>
                    <a:pt x="60" y="45"/>
                  </a:lnTo>
                  <a:lnTo>
                    <a:pt x="60" y="45"/>
                  </a:lnTo>
                  <a:close/>
                  <a:moveTo>
                    <a:pt x="0" y="45"/>
                  </a:moveTo>
                  <a:lnTo>
                    <a:pt x="0" y="54"/>
                  </a:lnTo>
                  <a:lnTo>
                    <a:pt x="3" y="62"/>
                  </a:lnTo>
                  <a:lnTo>
                    <a:pt x="8" y="70"/>
                  </a:lnTo>
                  <a:lnTo>
                    <a:pt x="13" y="77"/>
                  </a:lnTo>
                  <a:lnTo>
                    <a:pt x="19" y="82"/>
                  </a:lnTo>
                  <a:lnTo>
                    <a:pt x="27" y="86"/>
                  </a:lnTo>
                  <a:lnTo>
                    <a:pt x="35" y="88"/>
                  </a:lnTo>
                  <a:lnTo>
                    <a:pt x="45" y="90"/>
                  </a:lnTo>
                  <a:lnTo>
                    <a:pt x="54" y="88"/>
                  </a:lnTo>
                  <a:lnTo>
                    <a:pt x="62" y="86"/>
                  </a:lnTo>
                  <a:lnTo>
                    <a:pt x="70" y="82"/>
                  </a:lnTo>
                  <a:lnTo>
                    <a:pt x="76" y="77"/>
                  </a:lnTo>
                  <a:lnTo>
                    <a:pt x="83" y="70"/>
                  </a:lnTo>
                  <a:lnTo>
                    <a:pt x="87" y="62"/>
                  </a:lnTo>
                  <a:lnTo>
                    <a:pt x="89" y="54"/>
                  </a:lnTo>
                  <a:lnTo>
                    <a:pt x="90" y="45"/>
                  </a:lnTo>
                  <a:lnTo>
                    <a:pt x="89" y="36"/>
                  </a:lnTo>
                  <a:lnTo>
                    <a:pt x="87" y="27"/>
                  </a:lnTo>
                  <a:lnTo>
                    <a:pt x="83" y="20"/>
                  </a:lnTo>
                  <a:lnTo>
                    <a:pt x="76" y="12"/>
                  </a:lnTo>
                  <a:lnTo>
                    <a:pt x="70" y="7"/>
                  </a:lnTo>
                  <a:lnTo>
                    <a:pt x="62" y="3"/>
                  </a:lnTo>
                  <a:lnTo>
                    <a:pt x="54" y="1"/>
                  </a:lnTo>
                  <a:lnTo>
                    <a:pt x="45" y="0"/>
                  </a:lnTo>
                  <a:lnTo>
                    <a:pt x="35" y="1"/>
                  </a:lnTo>
                  <a:lnTo>
                    <a:pt x="27" y="3"/>
                  </a:lnTo>
                  <a:lnTo>
                    <a:pt x="19" y="7"/>
                  </a:lnTo>
                  <a:lnTo>
                    <a:pt x="13" y="12"/>
                  </a:lnTo>
                  <a:lnTo>
                    <a:pt x="8" y="20"/>
                  </a:lnTo>
                  <a:lnTo>
                    <a:pt x="3" y="27"/>
                  </a:lnTo>
                  <a:lnTo>
                    <a:pt x="0" y="36"/>
                  </a:lnTo>
                  <a:lnTo>
                    <a:pt x="0" y="45"/>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502" name="Google Shape;502;p19"/>
            <p:cNvSpPr/>
            <p:nvPr/>
          </p:nvSpPr>
          <p:spPr>
            <a:xfrm>
              <a:off x="9901238" y="1373188"/>
              <a:ext cx="247650" cy="142875"/>
            </a:xfrm>
            <a:custGeom>
              <a:rect b="b" l="l" r="r" t="t"/>
              <a:pathLst>
                <a:path extrusionOk="0" h="451" w="782">
                  <a:moveTo>
                    <a:pt x="497" y="436"/>
                  </a:moveTo>
                  <a:lnTo>
                    <a:pt x="497" y="439"/>
                  </a:lnTo>
                  <a:lnTo>
                    <a:pt x="498" y="441"/>
                  </a:lnTo>
                  <a:lnTo>
                    <a:pt x="499" y="444"/>
                  </a:lnTo>
                  <a:lnTo>
                    <a:pt x="501" y="446"/>
                  </a:lnTo>
                  <a:lnTo>
                    <a:pt x="503" y="447"/>
                  </a:lnTo>
                  <a:lnTo>
                    <a:pt x="506" y="449"/>
                  </a:lnTo>
                  <a:lnTo>
                    <a:pt x="509" y="451"/>
                  </a:lnTo>
                  <a:lnTo>
                    <a:pt x="512" y="451"/>
                  </a:lnTo>
                  <a:lnTo>
                    <a:pt x="692" y="451"/>
                  </a:lnTo>
                  <a:lnTo>
                    <a:pt x="702" y="449"/>
                  </a:lnTo>
                  <a:lnTo>
                    <a:pt x="710" y="448"/>
                  </a:lnTo>
                  <a:lnTo>
                    <a:pt x="719" y="446"/>
                  </a:lnTo>
                  <a:lnTo>
                    <a:pt x="727" y="443"/>
                  </a:lnTo>
                  <a:lnTo>
                    <a:pt x="735" y="440"/>
                  </a:lnTo>
                  <a:lnTo>
                    <a:pt x="742" y="436"/>
                  </a:lnTo>
                  <a:lnTo>
                    <a:pt x="750" y="430"/>
                  </a:lnTo>
                  <a:lnTo>
                    <a:pt x="756" y="424"/>
                  </a:lnTo>
                  <a:lnTo>
                    <a:pt x="762" y="417"/>
                  </a:lnTo>
                  <a:lnTo>
                    <a:pt x="767" y="411"/>
                  </a:lnTo>
                  <a:lnTo>
                    <a:pt x="771" y="403"/>
                  </a:lnTo>
                  <a:lnTo>
                    <a:pt x="776" y="396"/>
                  </a:lnTo>
                  <a:lnTo>
                    <a:pt x="779" y="387"/>
                  </a:lnTo>
                  <a:lnTo>
                    <a:pt x="781" y="379"/>
                  </a:lnTo>
                  <a:lnTo>
                    <a:pt x="782" y="369"/>
                  </a:lnTo>
                  <a:lnTo>
                    <a:pt x="782" y="361"/>
                  </a:lnTo>
                  <a:lnTo>
                    <a:pt x="782" y="90"/>
                  </a:lnTo>
                  <a:lnTo>
                    <a:pt x="782" y="80"/>
                  </a:lnTo>
                  <a:lnTo>
                    <a:pt x="781" y="71"/>
                  </a:lnTo>
                  <a:lnTo>
                    <a:pt x="779" y="63"/>
                  </a:lnTo>
                  <a:lnTo>
                    <a:pt x="776" y="54"/>
                  </a:lnTo>
                  <a:lnTo>
                    <a:pt x="771" y="47"/>
                  </a:lnTo>
                  <a:lnTo>
                    <a:pt x="767" y="39"/>
                  </a:lnTo>
                  <a:lnTo>
                    <a:pt x="762" y="32"/>
                  </a:lnTo>
                  <a:lnTo>
                    <a:pt x="756" y="25"/>
                  </a:lnTo>
                  <a:lnTo>
                    <a:pt x="750" y="20"/>
                  </a:lnTo>
                  <a:lnTo>
                    <a:pt x="742" y="15"/>
                  </a:lnTo>
                  <a:lnTo>
                    <a:pt x="735" y="10"/>
                  </a:lnTo>
                  <a:lnTo>
                    <a:pt x="727" y="6"/>
                  </a:lnTo>
                  <a:lnTo>
                    <a:pt x="719" y="4"/>
                  </a:lnTo>
                  <a:lnTo>
                    <a:pt x="710" y="1"/>
                  </a:lnTo>
                  <a:lnTo>
                    <a:pt x="702" y="0"/>
                  </a:lnTo>
                  <a:lnTo>
                    <a:pt x="692" y="0"/>
                  </a:lnTo>
                  <a:lnTo>
                    <a:pt x="91" y="0"/>
                  </a:lnTo>
                  <a:lnTo>
                    <a:pt x="81" y="0"/>
                  </a:lnTo>
                  <a:lnTo>
                    <a:pt x="72" y="1"/>
                  </a:lnTo>
                  <a:lnTo>
                    <a:pt x="63" y="4"/>
                  </a:lnTo>
                  <a:lnTo>
                    <a:pt x="56" y="6"/>
                  </a:lnTo>
                  <a:lnTo>
                    <a:pt x="47" y="10"/>
                  </a:lnTo>
                  <a:lnTo>
                    <a:pt x="40" y="15"/>
                  </a:lnTo>
                  <a:lnTo>
                    <a:pt x="33" y="20"/>
                  </a:lnTo>
                  <a:lnTo>
                    <a:pt x="27" y="25"/>
                  </a:lnTo>
                  <a:lnTo>
                    <a:pt x="20" y="32"/>
                  </a:lnTo>
                  <a:lnTo>
                    <a:pt x="16" y="39"/>
                  </a:lnTo>
                  <a:lnTo>
                    <a:pt x="11" y="47"/>
                  </a:lnTo>
                  <a:lnTo>
                    <a:pt x="7" y="54"/>
                  </a:lnTo>
                  <a:lnTo>
                    <a:pt x="4" y="63"/>
                  </a:lnTo>
                  <a:lnTo>
                    <a:pt x="2" y="71"/>
                  </a:lnTo>
                  <a:lnTo>
                    <a:pt x="1" y="80"/>
                  </a:lnTo>
                  <a:lnTo>
                    <a:pt x="0" y="90"/>
                  </a:lnTo>
                  <a:lnTo>
                    <a:pt x="0" y="285"/>
                  </a:lnTo>
                  <a:lnTo>
                    <a:pt x="1" y="288"/>
                  </a:lnTo>
                  <a:lnTo>
                    <a:pt x="2" y="291"/>
                  </a:lnTo>
                  <a:lnTo>
                    <a:pt x="3" y="293"/>
                  </a:lnTo>
                  <a:lnTo>
                    <a:pt x="5" y="295"/>
                  </a:lnTo>
                  <a:lnTo>
                    <a:pt x="7" y="297"/>
                  </a:lnTo>
                  <a:lnTo>
                    <a:pt x="10" y="298"/>
                  </a:lnTo>
                  <a:lnTo>
                    <a:pt x="13" y="300"/>
                  </a:lnTo>
                  <a:lnTo>
                    <a:pt x="15" y="301"/>
                  </a:lnTo>
                  <a:lnTo>
                    <a:pt x="18" y="300"/>
                  </a:lnTo>
                  <a:lnTo>
                    <a:pt x="21" y="298"/>
                  </a:lnTo>
                  <a:lnTo>
                    <a:pt x="24" y="297"/>
                  </a:lnTo>
                  <a:lnTo>
                    <a:pt x="26" y="295"/>
                  </a:lnTo>
                  <a:lnTo>
                    <a:pt x="28" y="293"/>
                  </a:lnTo>
                  <a:lnTo>
                    <a:pt x="29" y="291"/>
                  </a:lnTo>
                  <a:lnTo>
                    <a:pt x="30" y="288"/>
                  </a:lnTo>
                  <a:lnTo>
                    <a:pt x="30" y="285"/>
                  </a:lnTo>
                  <a:lnTo>
                    <a:pt x="30" y="90"/>
                  </a:lnTo>
                  <a:lnTo>
                    <a:pt x="31" y="83"/>
                  </a:lnTo>
                  <a:lnTo>
                    <a:pt x="32" y="78"/>
                  </a:lnTo>
                  <a:lnTo>
                    <a:pt x="33" y="71"/>
                  </a:lnTo>
                  <a:lnTo>
                    <a:pt x="35" y="66"/>
                  </a:lnTo>
                  <a:lnTo>
                    <a:pt x="37" y="61"/>
                  </a:lnTo>
                  <a:lnTo>
                    <a:pt x="41" y="55"/>
                  </a:lnTo>
                  <a:lnTo>
                    <a:pt x="44" y="51"/>
                  </a:lnTo>
                  <a:lnTo>
                    <a:pt x="48" y="47"/>
                  </a:lnTo>
                  <a:lnTo>
                    <a:pt x="52" y="43"/>
                  </a:lnTo>
                  <a:lnTo>
                    <a:pt x="57" y="39"/>
                  </a:lnTo>
                  <a:lnTo>
                    <a:pt x="62" y="37"/>
                  </a:lnTo>
                  <a:lnTo>
                    <a:pt x="67" y="34"/>
                  </a:lnTo>
                  <a:lnTo>
                    <a:pt x="73" y="32"/>
                  </a:lnTo>
                  <a:lnTo>
                    <a:pt x="78" y="31"/>
                  </a:lnTo>
                  <a:lnTo>
                    <a:pt x="85" y="30"/>
                  </a:lnTo>
                  <a:lnTo>
                    <a:pt x="91" y="30"/>
                  </a:lnTo>
                  <a:lnTo>
                    <a:pt x="692" y="30"/>
                  </a:lnTo>
                  <a:lnTo>
                    <a:pt x="698" y="30"/>
                  </a:lnTo>
                  <a:lnTo>
                    <a:pt x="704" y="31"/>
                  </a:lnTo>
                  <a:lnTo>
                    <a:pt x="710" y="32"/>
                  </a:lnTo>
                  <a:lnTo>
                    <a:pt x="716" y="34"/>
                  </a:lnTo>
                  <a:lnTo>
                    <a:pt x="721" y="37"/>
                  </a:lnTo>
                  <a:lnTo>
                    <a:pt x="726" y="39"/>
                  </a:lnTo>
                  <a:lnTo>
                    <a:pt x="731" y="43"/>
                  </a:lnTo>
                  <a:lnTo>
                    <a:pt x="735" y="47"/>
                  </a:lnTo>
                  <a:lnTo>
                    <a:pt x="738" y="51"/>
                  </a:lnTo>
                  <a:lnTo>
                    <a:pt x="742" y="55"/>
                  </a:lnTo>
                  <a:lnTo>
                    <a:pt x="744" y="61"/>
                  </a:lnTo>
                  <a:lnTo>
                    <a:pt x="748" y="66"/>
                  </a:lnTo>
                  <a:lnTo>
                    <a:pt x="750" y="71"/>
                  </a:lnTo>
                  <a:lnTo>
                    <a:pt x="751" y="78"/>
                  </a:lnTo>
                  <a:lnTo>
                    <a:pt x="752" y="83"/>
                  </a:lnTo>
                  <a:lnTo>
                    <a:pt x="752" y="90"/>
                  </a:lnTo>
                  <a:lnTo>
                    <a:pt x="752" y="361"/>
                  </a:lnTo>
                  <a:lnTo>
                    <a:pt x="752" y="366"/>
                  </a:lnTo>
                  <a:lnTo>
                    <a:pt x="751" y="372"/>
                  </a:lnTo>
                  <a:lnTo>
                    <a:pt x="750" y="379"/>
                  </a:lnTo>
                  <a:lnTo>
                    <a:pt x="748" y="384"/>
                  </a:lnTo>
                  <a:lnTo>
                    <a:pt x="744" y="389"/>
                  </a:lnTo>
                  <a:lnTo>
                    <a:pt x="742" y="394"/>
                  </a:lnTo>
                  <a:lnTo>
                    <a:pt x="738" y="399"/>
                  </a:lnTo>
                  <a:lnTo>
                    <a:pt x="735" y="403"/>
                  </a:lnTo>
                  <a:lnTo>
                    <a:pt x="731" y="407"/>
                  </a:lnTo>
                  <a:lnTo>
                    <a:pt x="726" y="410"/>
                  </a:lnTo>
                  <a:lnTo>
                    <a:pt x="721" y="413"/>
                  </a:lnTo>
                  <a:lnTo>
                    <a:pt x="716" y="415"/>
                  </a:lnTo>
                  <a:lnTo>
                    <a:pt x="710" y="417"/>
                  </a:lnTo>
                  <a:lnTo>
                    <a:pt x="704" y="419"/>
                  </a:lnTo>
                  <a:lnTo>
                    <a:pt x="698" y="421"/>
                  </a:lnTo>
                  <a:lnTo>
                    <a:pt x="692" y="421"/>
                  </a:lnTo>
                  <a:lnTo>
                    <a:pt x="512" y="421"/>
                  </a:lnTo>
                  <a:lnTo>
                    <a:pt x="509" y="421"/>
                  </a:lnTo>
                  <a:lnTo>
                    <a:pt x="506" y="422"/>
                  </a:lnTo>
                  <a:lnTo>
                    <a:pt x="503" y="423"/>
                  </a:lnTo>
                  <a:lnTo>
                    <a:pt x="501" y="425"/>
                  </a:lnTo>
                  <a:lnTo>
                    <a:pt x="499" y="427"/>
                  </a:lnTo>
                  <a:lnTo>
                    <a:pt x="498" y="429"/>
                  </a:lnTo>
                  <a:lnTo>
                    <a:pt x="497" y="432"/>
                  </a:lnTo>
                  <a:lnTo>
                    <a:pt x="497" y="436"/>
                  </a:lnTo>
                  <a:lnTo>
                    <a:pt x="497" y="436"/>
                  </a:lnTo>
                  <a:close/>
                </a:path>
              </a:pathLst>
            </a:custGeom>
            <a:solidFill>
              <a:srgbClr val="2B7C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grpSp>
      <p:sp>
        <p:nvSpPr>
          <p:cNvPr id="503" name="Google Shape;503;p19"/>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504" name="Google Shape;504;p19"/>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05" name="Google Shape;505;p19"/>
          <p:cNvSpPr/>
          <p:nvPr/>
        </p:nvSpPr>
        <p:spPr>
          <a:xfrm>
            <a:off x="327352" y="1300783"/>
            <a:ext cx="8626466" cy="343286"/>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Horas extraordinaria o suplementarias </a:t>
            </a:r>
            <a:endParaRPr b="1" i="0" sz="1600" u="none" cap="none" strike="noStrike">
              <a:solidFill>
                <a:schemeClr val="lt1"/>
              </a:solidFill>
              <a:latin typeface="Arial"/>
              <a:ea typeface="Arial"/>
              <a:cs typeface="Arial"/>
              <a:sym typeface="Arial"/>
            </a:endParaRPr>
          </a:p>
        </p:txBody>
      </p:sp>
      <p:sp>
        <p:nvSpPr>
          <p:cNvPr id="506" name="Google Shape;506;p19"/>
          <p:cNvSpPr/>
          <p:nvPr/>
        </p:nvSpPr>
        <p:spPr>
          <a:xfrm>
            <a:off x="67483" y="376616"/>
            <a:ext cx="4572000" cy="590931"/>
          </a:xfrm>
          <a:prstGeom prst="rect">
            <a:avLst/>
          </a:prstGeom>
          <a:no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1"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Horas extraordinarias o suplementarias</a:t>
            </a:r>
            <a:endParaRPr b="0" i="0" sz="1400" u="none" cap="none" strike="noStrike">
              <a:solidFill>
                <a:srgbClr val="000000"/>
              </a:solidFill>
              <a:latin typeface="Arial"/>
              <a:ea typeface="Arial"/>
              <a:cs typeface="Arial"/>
              <a:sym typeface="Arial"/>
            </a:endParaRPr>
          </a:p>
        </p:txBody>
      </p:sp>
      <p:pic>
        <p:nvPicPr>
          <p:cNvPr id="507" name="Google Shape;507;p19"/>
          <p:cNvPicPr preferRelativeResize="0"/>
          <p:nvPr/>
        </p:nvPicPr>
        <p:blipFill rotWithShape="1">
          <a:blip r:embed="rId4">
            <a:alphaModFix/>
          </a:blip>
          <a:srcRect b="0" l="0" r="0" t="0"/>
          <a:stretch/>
        </p:blipFill>
        <p:spPr>
          <a:xfrm>
            <a:off x="8007201" y="5624939"/>
            <a:ext cx="992914" cy="9048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Image result for utn frba" id="513" name="Google Shape;513;p72"/>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14" name="Google Shape;514;p72"/>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515" name="Google Shape;515;p72"/>
          <p:cNvSpPr/>
          <p:nvPr/>
        </p:nvSpPr>
        <p:spPr>
          <a:xfrm>
            <a:off x="327352" y="1300783"/>
            <a:ext cx="8374688" cy="360378"/>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FÓRMULAS HORAS EXTRAORDINARIA Y NOCTURNAS </a:t>
            </a:r>
            <a:endParaRPr b="1" i="0" sz="1600" u="none" cap="none" strike="noStrike">
              <a:solidFill>
                <a:schemeClr val="lt1"/>
              </a:solidFill>
              <a:latin typeface="Arial"/>
              <a:ea typeface="Arial"/>
              <a:cs typeface="Arial"/>
              <a:sym typeface="Arial"/>
            </a:endParaRPr>
          </a:p>
        </p:txBody>
      </p:sp>
      <p:sp>
        <p:nvSpPr>
          <p:cNvPr id="516" name="Google Shape;516;p72"/>
          <p:cNvSpPr txBox="1"/>
          <p:nvPr/>
        </p:nvSpPr>
        <p:spPr>
          <a:xfrm>
            <a:off x="492036" y="2188970"/>
            <a:ext cx="6837678" cy="369332"/>
          </a:xfrm>
          <a:prstGeom prst="rect">
            <a:avLst/>
          </a:prstGeom>
          <a:solidFill>
            <a:srgbClr val="A2CDED"/>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HORAS EXTRAS AL 50%= VALOR HS * CANT. DE HORAS * 1,5</a:t>
            </a:r>
            <a:endParaRPr b="0" i="0" sz="1400" u="none" cap="none" strike="noStrike">
              <a:solidFill>
                <a:srgbClr val="000000"/>
              </a:solidFill>
              <a:latin typeface="Arial"/>
              <a:ea typeface="Arial"/>
              <a:cs typeface="Arial"/>
              <a:sym typeface="Arial"/>
            </a:endParaRPr>
          </a:p>
        </p:txBody>
      </p:sp>
      <p:sp>
        <p:nvSpPr>
          <p:cNvPr id="517" name="Google Shape;517;p72"/>
          <p:cNvSpPr txBox="1"/>
          <p:nvPr/>
        </p:nvSpPr>
        <p:spPr>
          <a:xfrm>
            <a:off x="506550" y="3628206"/>
            <a:ext cx="6837678" cy="369332"/>
          </a:xfrm>
          <a:prstGeom prst="rect">
            <a:avLst/>
          </a:prstGeom>
          <a:solidFill>
            <a:srgbClr val="A2CDED"/>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HORAS EXTRAS AL 100%= VALOR HS * CANT. DE HORAS * 2</a:t>
            </a:r>
            <a:endParaRPr b="0" i="0" sz="1400" u="none" cap="none" strike="noStrike">
              <a:solidFill>
                <a:srgbClr val="000000"/>
              </a:solidFill>
              <a:latin typeface="Arial"/>
              <a:ea typeface="Arial"/>
              <a:cs typeface="Arial"/>
              <a:sym typeface="Arial"/>
            </a:endParaRPr>
          </a:p>
        </p:txBody>
      </p:sp>
      <p:sp>
        <p:nvSpPr>
          <p:cNvPr id="518" name="Google Shape;518;p72"/>
          <p:cNvSpPr txBox="1"/>
          <p:nvPr/>
        </p:nvSpPr>
        <p:spPr>
          <a:xfrm>
            <a:off x="521064" y="5207820"/>
            <a:ext cx="6837678" cy="369332"/>
          </a:xfrm>
          <a:prstGeom prst="rect">
            <a:avLst/>
          </a:prstGeom>
          <a:solidFill>
            <a:srgbClr val="A2CDED"/>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ADICIONAL HS NOCTURNA= VALOR HS * CANT. DE HORAS * 1,13</a:t>
            </a:r>
            <a:endParaRPr b="0" i="0" sz="1400" u="none" cap="none" strike="noStrike">
              <a:solidFill>
                <a:srgbClr val="000000"/>
              </a:solidFill>
              <a:latin typeface="Arial"/>
              <a:ea typeface="Arial"/>
              <a:cs typeface="Arial"/>
              <a:sym typeface="Arial"/>
            </a:endParaRPr>
          </a:p>
        </p:txBody>
      </p:sp>
      <p:sp>
        <p:nvSpPr>
          <p:cNvPr id="519" name="Google Shape;519;p72"/>
          <p:cNvSpPr txBox="1"/>
          <p:nvPr/>
        </p:nvSpPr>
        <p:spPr>
          <a:xfrm>
            <a:off x="521064" y="2830286"/>
            <a:ext cx="6808650" cy="36933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Twentieth Century"/>
                <a:ea typeface="Twentieth Century"/>
                <a:cs typeface="Twentieth Century"/>
                <a:sym typeface="Twentieth Century"/>
              </a:rPr>
              <a:t>Ejemplo:   </a:t>
            </a:r>
            <a:r>
              <a:rPr b="0" i="0" lang="es-AR" sz="1800" u="none" cap="none" strike="noStrike">
                <a:solidFill>
                  <a:schemeClr val="dk1"/>
                </a:solidFill>
                <a:latin typeface="Twentieth Century"/>
                <a:ea typeface="Twentieth Century"/>
                <a:cs typeface="Twentieth Century"/>
                <a:sym typeface="Twentieth Century"/>
              </a:rPr>
              <a:t>HS EXTRAS AL 50% = $200 * 5 * 1,5 = $1500 </a:t>
            </a:r>
            <a:endParaRPr b="0" i="0" sz="1400" u="none" cap="none" strike="noStrike">
              <a:solidFill>
                <a:srgbClr val="000000"/>
              </a:solidFill>
              <a:latin typeface="Arial"/>
              <a:ea typeface="Arial"/>
              <a:cs typeface="Arial"/>
              <a:sym typeface="Arial"/>
            </a:endParaRPr>
          </a:p>
        </p:txBody>
      </p:sp>
      <p:sp>
        <p:nvSpPr>
          <p:cNvPr id="520" name="Google Shape;520;p72"/>
          <p:cNvSpPr txBox="1"/>
          <p:nvPr/>
        </p:nvSpPr>
        <p:spPr>
          <a:xfrm>
            <a:off x="506550" y="4364465"/>
            <a:ext cx="6808650" cy="36933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Twentieth Century"/>
                <a:ea typeface="Twentieth Century"/>
                <a:cs typeface="Twentieth Century"/>
                <a:sym typeface="Twentieth Century"/>
              </a:rPr>
              <a:t>Ejemplo:   </a:t>
            </a:r>
            <a:r>
              <a:rPr b="0" i="0" lang="es-AR" sz="1800" u="none" cap="none" strike="noStrike">
                <a:solidFill>
                  <a:schemeClr val="dk1"/>
                </a:solidFill>
                <a:latin typeface="Twentieth Century"/>
                <a:ea typeface="Twentieth Century"/>
                <a:cs typeface="Twentieth Century"/>
                <a:sym typeface="Twentieth Century"/>
              </a:rPr>
              <a:t>HS EXTRAS AL 100% = $200 * 5 * 2 = $2000 </a:t>
            </a:r>
            <a:endParaRPr b="0" i="0" sz="1400" u="none" cap="none" strike="noStrike">
              <a:solidFill>
                <a:srgbClr val="000000"/>
              </a:solidFill>
              <a:latin typeface="Arial"/>
              <a:ea typeface="Arial"/>
              <a:cs typeface="Arial"/>
              <a:sym typeface="Arial"/>
            </a:endParaRPr>
          </a:p>
        </p:txBody>
      </p:sp>
      <p:sp>
        <p:nvSpPr>
          <p:cNvPr id="521" name="Google Shape;521;p72"/>
          <p:cNvSpPr txBox="1"/>
          <p:nvPr/>
        </p:nvSpPr>
        <p:spPr>
          <a:xfrm>
            <a:off x="521064" y="5944079"/>
            <a:ext cx="6808650" cy="36933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Twentieth Century"/>
                <a:ea typeface="Twentieth Century"/>
                <a:cs typeface="Twentieth Century"/>
                <a:sym typeface="Twentieth Century"/>
              </a:rPr>
              <a:t>Ejemplo:   </a:t>
            </a:r>
            <a:r>
              <a:rPr b="0" i="0" lang="es-AR" sz="1800" u="none" cap="none" strike="noStrike">
                <a:solidFill>
                  <a:schemeClr val="dk1"/>
                </a:solidFill>
                <a:latin typeface="Twentieth Century"/>
                <a:ea typeface="Twentieth Century"/>
                <a:cs typeface="Twentieth Century"/>
                <a:sym typeface="Twentieth Century"/>
              </a:rPr>
              <a:t>AD.HS NOCTURNA= $200 * 5 * 1,13 = $1130</a:t>
            </a:r>
            <a:endParaRPr b="0" i="0" sz="1400" u="none" cap="none" strike="noStrike">
              <a:solidFill>
                <a:srgbClr val="000000"/>
              </a:solidFill>
              <a:latin typeface="Arial"/>
              <a:ea typeface="Arial"/>
              <a:cs typeface="Arial"/>
              <a:sym typeface="Arial"/>
            </a:endParaRPr>
          </a:p>
        </p:txBody>
      </p:sp>
      <p:sp>
        <p:nvSpPr>
          <p:cNvPr id="522" name="Google Shape;522;p72"/>
          <p:cNvSpPr/>
          <p:nvPr/>
        </p:nvSpPr>
        <p:spPr>
          <a:xfrm>
            <a:off x="67483" y="419037"/>
            <a:ext cx="4572000" cy="590931"/>
          </a:xfrm>
          <a:prstGeom prst="rect">
            <a:avLst/>
          </a:prstGeom>
          <a:noFill/>
          <a:ln>
            <a:noFill/>
          </a:ln>
        </p:spPr>
        <p:txBody>
          <a:bodyPr anchorCtr="0" anchor="t" bIns="45700" lIns="91425" spcFirstLastPara="1" rIns="91425" wrap="square" tIns="45700">
            <a:sp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1"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Horas extraordinarias o suplementarias</a:t>
            </a:r>
            <a:endParaRPr b="0" i="0" sz="1400" u="none" cap="none" strike="noStrike">
              <a:solidFill>
                <a:srgbClr val="000000"/>
              </a:solidFill>
              <a:latin typeface="Arial"/>
              <a:ea typeface="Arial"/>
              <a:cs typeface="Arial"/>
              <a:sym typeface="Arial"/>
            </a:endParaRPr>
          </a:p>
        </p:txBody>
      </p:sp>
      <p:sp>
        <p:nvSpPr>
          <p:cNvPr id="523" name="Google Shape;523;p72"/>
          <p:cNvSpPr txBox="1"/>
          <p:nvPr/>
        </p:nvSpPr>
        <p:spPr>
          <a:xfrm>
            <a:off x="7986469" y="4941740"/>
            <a:ext cx="10900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La reducción de los 8 minutos</a:t>
            </a:r>
            <a:endParaRPr b="0" i="0" sz="1400" u="none" cap="none" strike="noStrike">
              <a:solidFill>
                <a:srgbClr val="000000"/>
              </a:solidFill>
              <a:latin typeface="Arial"/>
              <a:ea typeface="Arial"/>
              <a:cs typeface="Arial"/>
              <a:sym typeface="Arial"/>
            </a:endParaRPr>
          </a:p>
        </p:txBody>
      </p:sp>
      <p:cxnSp>
        <p:nvCxnSpPr>
          <p:cNvPr id="524" name="Google Shape;524;p72"/>
          <p:cNvCxnSpPr/>
          <p:nvPr/>
        </p:nvCxnSpPr>
        <p:spPr>
          <a:xfrm rot="10800000">
            <a:off x="7107238" y="5392486"/>
            <a:ext cx="879231" cy="0"/>
          </a:xfrm>
          <a:prstGeom prst="straightConnector1">
            <a:avLst/>
          </a:prstGeom>
          <a:noFill/>
          <a:ln cap="flat" cmpd="sng" w="22225">
            <a:solidFill>
              <a:srgbClr val="C000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3"/>
          <p:cNvSpPr/>
          <p:nvPr/>
        </p:nvSpPr>
        <p:spPr>
          <a:xfrm>
            <a:off x="1665515" y="1548372"/>
            <a:ext cx="6021644" cy="1548518"/>
          </a:xfrm>
          <a:prstGeom prst="roundRect">
            <a:avLst>
              <a:gd fmla="val 16667" name="adj"/>
            </a:avLst>
          </a:prstGeom>
          <a:solidFill>
            <a:schemeClr val="lt1"/>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AR" sz="2800" u="none" cap="none" strike="noStrike">
                <a:solidFill>
                  <a:srgbClr val="0C161D"/>
                </a:solidFill>
                <a:latin typeface="Twentieth Century"/>
                <a:ea typeface="Twentieth Century"/>
                <a:cs typeface="Twentieth Century"/>
                <a:sym typeface="Twentieth Century"/>
              </a:rPr>
              <a:t>LA JORNADA </a:t>
            </a:r>
            <a:r>
              <a:rPr b="1" lang="es-AR" sz="2800">
                <a:solidFill>
                  <a:srgbClr val="0C161D"/>
                </a:solidFill>
                <a:latin typeface="Twentieth Century"/>
                <a:ea typeface="Twentieth Century"/>
                <a:cs typeface="Twentieth Century"/>
                <a:sym typeface="Twentieth Century"/>
              </a:rPr>
              <a:t>ESTÁ</a:t>
            </a:r>
            <a:r>
              <a:rPr b="1" i="0" lang="es-AR" sz="2800" u="none" cap="none" strike="noStrike">
                <a:solidFill>
                  <a:srgbClr val="0C161D"/>
                </a:solidFill>
                <a:latin typeface="Twentieth Century"/>
                <a:ea typeface="Twentieth Century"/>
                <a:cs typeface="Twentieth Century"/>
                <a:sym typeface="Twentieth Century"/>
              </a:rPr>
              <a:t> RELACIONADA CON EL DESCANSO SEMANAL Y ANUAL</a:t>
            </a:r>
            <a:endParaRPr b="0" i="0" sz="1400" u="none" cap="none" strike="noStrike">
              <a:solidFill>
                <a:srgbClr val="000000"/>
              </a:solidFill>
              <a:latin typeface="Arial"/>
              <a:ea typeface="Arial"/>
              <a:cs typeface="Arial"/>
              <a:sym typeface="Arial"/>
            </a:endParaRPr>
          </a:p>
        </p:txBody>
      </p:sp>
      <p:sp>
        <p:nvSpPr>
          <p:cNvPr id="531" name="Google Shape;531;p73"/>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000000"/>
              </a:buClr>
              <a:buSzPts val="1800"/>
              <a:buFont typeface="Arial"/>
              <a:buNone/>
            </a:pPr>
            <a:r>
              <a:rPr b="1" i="0" lang="es-AR" sz="1800" u="none" cap="none" strike="noStrike">
                <a:solidFill>
                  <a:srgbClr val="932328"/>
                </a:solidFill>
                <a:latin typeface="Arial"/>
                <a:ea typeface="Arial"/>
                <a:cs typeface="Arial"/>
                <a:sym typeface="Arial"/>
              </a:rPr>
              <a:t>Jornada de trabajo y descansos</a:t>
            </a:r>
            <a:endParaRPr b="0" i="0" sz="1800" u="none" cap="none" strike="noStrike">
              <a:solidFill>
                <a:schemeClr val="dk1"/>
              </a:solidFill>
              <a:latin typeface="Twentieth Century"/>
              <a:ea typeface="Twentieth Century"/>
              <a:cs typeface="Twentieth Century"/>
              <a:sym typeface="Twentieth Century"/>
            </a:endParaRPr>
          </a:p>
        </p:txBody>
      </p:sp>
      <p:sp>
        <p:nvSpPr>
          <p:cNvPr id="532" name="Google Shape;532;p73"/>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533" name="Google Shape;533;p73"/>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pic>
        <p:nvPicPr>
          <p:cNvPr id="534" name="Google Shape;534;p73"/>
          <p:cNvPicPr preferRelativeResize="0"/>
          <p:nvPr/>
        </p:nvPicPr>
        <p:blipFill rotWithShape="1">
          <a:blip r:embed="rId4">
            <a:alphaModFix/>
          </a:blip>
          <a:srcRect b="0" l="0" r="0" t="0"/>
          <a:stretch/>
        </p:blipFill>
        <p:spPr>
          <a:xfrm>
            <a:off x="3806710" y="3096889"/>
            <a:ext cx="1548518" cy="1548518"/>
          </a:xfrm>
          <a:prstGeom prst="rect">
            <a:avLst/>
          </a:prstGeom>
          <a:noFill/>
          <a:ln>
            <a:noFill/>
          </a:ln>
        </p:spPr>
      </p:pic>
      <p:sp>
        <p:nvSpPr>
          <p:cNvPr id="535" name="Google Shape;535;p73"/>
          <p:cNvSpPr txBox="1"/>
          <p:nvPr/>
        </p:nvSpPr>
        <p:spPr>
          <a:xfrm>
            <a:off x="297562" y="3761111"/>
            <a:ext cx="3614269" cy="1200329"/>
          </a:xfrm>
          <a:prstGeom prst="rect">
            <a:avLst/>
          </a:prstGeom>
          <a:solidFill>
            <a:srgbClr val="92D05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Twentieth Century"/>
                <a:ea typeface="Twentieth Century"/>
                <a:cs typeface="Twentieth Century"/>
                <a:sym typeface="Twentieth Century"/>
              </a:rPr>
              <a:t>El descanso debe ser periódico, continuo y no debe afectar el salario.</a:t>
            </a:r>
            <a:endParaRPr b="0" i="0" sz="1400" u="none" cap="none" strike="noStrike">
              <a:solidFill>
                <a:srgbClr val="000000"/>
              </a:solidFill>
              <a:latin typeface="Arial"/>
              <a:ea typeface="Arial"/>
              <a:cs typeface="Arial"/>
              <a:sym typeface="Arial"/>
            </a:endParaRPr>
          </a:p>
        </p:txBody>
      </p:sp>
      <p:pic>
        <p:nvPicPr>
          <p:cNvPr id="536" name="Google Shape;536;p73"/>
          <p:cNvPicPr preferRelativeResize="0"/>
          <p:nvPr/>
        </p:nvPicPr>
        <p:blipFill rotWithShape="1">
          <a:blip r:embed="rId5">
            <a:alphaModFix/>
          </a:blip>
          <a:srcRect b="12779" l="15586" r="13722" t="1203"/>
          <a:stretch/>
        </p:blipFill>
        <p:spPr>
          <a:xfrm rot="-322756">
            <a:off x="1415496" y="5172699"/>
            <a:ext cx="1378399" cy="1187269"/>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pic>
        <p:nvPicPr>
          <p:cNvPr id="537" name="Google Shape;537;p73"/>
          <p:cNvPicPr preferRelativeResize="0"/>
          <p:nvPr/>
        </p:nvPicPr>
        <p:blipFill rotWithShape="1">
          <a:blip r:embed="rId6">
            <a:alphaModFix/>
          </a:blip>
          <a:srcRect b="0" l="0" r="0" t="0"/>
          <a:stretch/>
        </p:blipFill>
        <p:spPr>
          <a:xfrm rot="248314">
            <a:off x="5162375" y="5401008"/>
            <a:ext cx="2605638" cy="2027069"/>
          </a:xfrm>
          <a:prstGeom prst="rect">
            <a:avLst/>
          </a:prstGeom>
          <a:noFill/>
          <a:ln>
            <a:noFill/>
          </a:ln>
        </p:spPr>
      </p:pic>
      <p:sp>
        <p:nvSpPr>
          <p:cNvPr id="538" name="Google Shape;538;p73"/>
          <p:cNvSpPr/>
          <p:nvPr/>
        </p:nvSpPr>
        <p:spPr>
          <a:xfrm>
            <a:off x="6053027" y="3429000"/>
            <a:ext cx="3023491" cy="1548518"/>
          </a:xfrm>
          <a:prstGeom prst="flowChartPunchedTape">
            <a:avLst/>
          </a:prstGeom>
          <a:solidFill>
            <a:srgbClr val="1C6294"/>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Twentieth Century"/>
                <a:ea typeface="Twentieth Century"/>
                <a:cs typeface="Twentieth Century"/>
                <a:sym typeface="Twentieth Century"/>
              </a:rPr>
              <a:t>Las vacaciones no son compensable en dinero y deben ser gozadas. </a:t>
            </a:r>
            <a:endParaRPr b="0" i="0" sz="1400" u="none" cap="none" strike="noStrike">
              <a:solidFill>
                <a:srgbClr val="000000"/>
              </a:solidFill>
              <a:latin typeface="Arial"/>
              <a:ea typeface="Arial"/>
              <a:cs typeface="Arial"/>
              <a:sym typeface="Arial"/>
            </a:endParaRPr>
          </a:p>
        </p:txBody>
      </p:sp>
      <p:pic>
        <p:nvPicPr>
          <p:cNvPr id="539" name="Google Shape;539;p73"/>
          <p:cNvPicPr preferRelativeResize="0"/>
          <p:nvPr/>
        </p:nvPicPr>
        <p:blipFill rotWithShape="1">
          <a:blip r:embed="rId7">
            <a:alphaModFix/>
          </a:blip>
          <a:srcRect b="0" l="4936" r="0" t="14728"/>
          <a:stretch/>
        </p:blipFill>
        <p:spPr>
          <a:xfrm>
            <a:off x="7687158" y="4868565"/>
            <a:ext cx="1036891" cy="93009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4"/>
          <p:cNvSpPr/>
          <p:nvPr/>
        </p:nvSpPr>
        <p:spPr>
          <a:xfrm>
            <a:off x="493466" y="1424251"/>
            <a:ext cx="8284774" cy="357414"/>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DESCANSO ANUAL - Vacaciones</a:t>
            </a:r>
            <a:endParaRPr b="1" i="0" sz="1600" u="none" cap="none" strike="noStrike">
              <a:solidFill>
                <a:schemeClr val="lt1"/>
              </a:solidFill>
              <a:latin typeface="Arial"/>
              <a:ea typeface="Arial"/>
              <a:cs typeface="Arial"/>
              <a:sym typeface="Arial"/>
            </a:endParaRPr>
          </a:p>
        </p:txBody>
      </p:sp>
      <p:sp>
        <p:nvSpPr>
          <p:cNvPr id="546" name="Google Shape;546;p74"/>
          <p:cNvSpPr txBox="1"/>
          <p:nvPr/>
        </p:nvSpPr>
        <p:spPr>
          <a:xfrm>
            <a:off x="1038386" y="1993349"/>
            <a:ext cx="7558366"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Calibri"/>
                <a:ea typeface="Calibri"/>
                <a:cs typeface="Calibri"/>
                <a:sym typeface="Calibri"/>
              </a:rPr>
              <a:t>Las vacaciones constituyen un </a:t>
            </a:r>
            <a:r>
              <a:rPr b="1" i="0" lang="es-AR" sz="2000" u="sng" cap="none" strike="noStrike">
                <a:solidFill>
                  <a:schemeClr val="dk1"/>
                </a:solidFill>
                <a:latin typeface="Calibri"/>
                <a:ea typeface="Calibri"/>
                <a:cs typeface="Calibri"/>
                <a:sym typeface="Calibri"/>
              </a:rPr>
              <a:t>periodo de descanso anual remunerado </a:t>
            </a:r>
            <a:r>
              <a:rPr b="0" i="0" lang="es-AR" sz="2000" u="none" cap="none" strike="noStrike">
                <a:solidFill>
                  <a:schemeClr val="dk1"/>
                </a:solidFill>
                <a:latin typeface="Calibri"/>
                <a:ea typeface="Calibri"/>
                <a:cs typeface="Calibri"/>
                <a:sym typeface="Calibri"/>
              </a:rPr>
              <a:t>que debe gozar </a:t>
            </a:r>
            <a:r>
              <a:rPr b="1" i="0" lang="es-AR" sz="2000" u="none" cap="none" strike="noStrike">
                <a:solidFill>
                  <a:schemeClr val="dk1"/>
                </a:solidFill>
                <a:latin typeface="Calibri"/>
                <a:ea typeface="Calibri"/>
                <a:cs typeface="Calibri"/>
                <a:sym typeface="Calibri"/>
              </a:rPr>
              <a:t>el trabajador y al que tiene derecho prestando un mínimo de servicios</a:t>
            </a:r>
            <a:r>
              <a:rPr b="0" i="0" lang="es-AR" sz="2000" u="none" cap="none" strike="noStrike">
                <a:solidFill>
                  <a:schemeClr val="dk1"/>
                </a:solidFill>
                <a:latin typeface="Calibri"/>
                <a:ea typeface="Calibri"/>
                <a:cs typeface="Calibri"/>
                <a:sym typeface="Calibri"/>
              </a:rPr>
              <a:t> y que se calcula en función de su antigüedad.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rgbClr val="FF0000"/>
                </a:solidFill>
                <a:latin typeface="Calibri"/>
                <a:ea typeface="Calibri"/>
                <a:cs typeface="Calibri"/>
                <a:sym typeface="Calibri"/>
              </a:rPr>
              <a:t>Su fin es higiénico, es decir con el objetivo de descansar física y mentalmente. Su regulación legal surge de la Ley de contrato de trabajo.</a:t>
            </a:r>
            <a:endParaRPr b="0" i="0" sz="2000" u="none" cap="none" strike="noStrike">
              <a:solidFill>
                <a:schemeClr val="dk1"/>
              </a:solidFill>
              <a:latin typeface="Calibri"/>
              <a:ea typeface="Calibri"/>
              <a:cs typeface="Calibri"/>
              <a:sym typeface="Calibri"/>
            </a:endParaRPr>
          </a:p>
        </p:txBody>
      </p:sp>
      <p:graphicFrame>
        <p:nvGraphicFramePr>
          <p:cNvPr id="547" name="Google Shape;547;p74"/>
          <p:cNvGraphicFramePr/>
          <p:nvPr/>
        </p:nvGraphicFramePr>
        <p:xfrm>
          <a:off x="1231766" y="4187804"/>
          <a:ext cx="3000000" cy="3000000"/>
        </p:xfrm>
        <a:graphic>
          <a:graphicData uri="http://schemas.openxmlformats.org/drawingml/2006/table">
            <a:tbl>
              <a:tblPr>
                <a:noFill/>
                <a:tableStyleId>{0A72DC69-32E7-48D6-9E1C-079A1CCFBFDC}</a:tableStyleId>
              </a:tblPr>
              <a:tblGrid>
                <a:gridCol w="1608475"/>
                <a:gridCol w="3393375"/>
              </a:tblGrid>
              <a:tr h="238350">
                <a:tc>
                  <a:txBody>
                    <a:bodyPr/>
                    <a:lstStyle/>
                    <a:p>
                      <a:pPr indent="0" lvl="0" marL="0" marR="0" rtl="0" algn="ctr">
                        <a:lnSpc>
                          <a:spcPct val="100000"/>
                        </a:lnSpc>
                        <a:spcBef>
                          <a:spcPts val="0"/>
                        </a:spcBef>
                        <a:spcAft>
                          <a:spcPts val="0"/>
                        </a:spcAft>
                        <a:buClr>
                          <a:srgbClr val="000000"/>
                        </a:buClr>
                        <a:buSzPts val="1800"/>
                        <a:buFont typeface="Arial"/>
                        <a:buNone/>
                      </a:pPr>
                      <a:r>
                        <a:rPr b="1" lang="es-AR" sz="1800" u="sng" cap="none" strike="noStrike">
                          <a:latin typeface="Calibri"/>
                          <a:ea typeface="Calibri"/>
                          <a:cs typeface="Calibri"/>
                          <a:sym typeface="Calibri"/>
                        </a:rPr>
                        <a:t>Vacaciones</a:t>
                      </a:r>
                      <a:endParaRPr b="1" i="0" sz="1800" u="sng" cap="none" strike="noStrike">
                        <a:latin typeface="Calibri"/>
                        <a:ea typeface="Calibri"/>
                        <a:cs typeface="Calibri"/>
                        <a:sym typeface="Calibri"/>
                      </a:endParaRPr>
                    </a:p>
                  </a:txBody>
                  <a:tcPr marT="0" marB="0" marR="0" marL="0" anchor="ctr"/>
                </a:tc>
                <a:tc>
                  <a:txBody>
                    <a:bodyPr/>
                    <a:lstStyle/>
                    <a:p>
                      <a:pPr indent="0" lvl="0" marL="0" marR="0" rtl="0" algn="ctr">
                        <a:lnSpc>
                          <a:spcPct val="100000"/>
                        </a:lnSpc>
                        <a:spcBef>
                          <a:spcPts val="0"/>
                        </a:spcBef>
                        <a:spcAft>
                          <a:spcPts val="0"/>
                        </a:spcAft>
                        <a:buClr>
                          <a:srgbClr val="000000"/>
                        </a:buClr>
                        <a:buSzPts val="1800"/>
                        <a:buFont typeface="Arial"/>
                        <a:buNone/>
                      </a:pPr>
                      <a:r>
                        <a:rPr b="1" lang="es-AR" sz="1800" u="sng" cap="none" strike="noStrike">
                          <a:latin typeface="Calibri"/>
                          <a:ea typeface="Calibri"/>
                          <a:cs typeface="Calibri"/>
                          <a:sym typeface="Calibri"/>
                        </a:rPr>
                        <a:t>Antigüedad</a:t>
                      </a:r>
                      <a:endParaRPr b="1" i="0" sz="1800" u="sng" cap="none" strike="noStrike">
                        <a:solidFill>
                          <a:srgbClr val="FFFFFF"/>
                        </a:solidFill>
                        <a:latin typeface="Calibri"/>
                        <a:ea typeface="Calibri"/>
                        <a:cs typeface="Calibri"/>
                        <a:sym typeface="Calibri"/>
                      </a:endParaRPr>
                    </a:p>
                  </a:txBody>
                  <a:tcPr marT="0" marB="0" marR="0" marL="0" anchor="ctr"/>
                </a:tc>
              </a:tr>
              <a:tr h="354550">
                <a:tc>
                  <a:txBody>
                    <a:bodyPr/>
                    <a:lstStyle/>
                    <a:p>
                      <a:pPr indent="0" lvl="0" marL="0" marR="0" rtl="0" algn="ctr">
                        <a:lnSpc>
                          <a:spcPct val="100000"/>
                        </a:lnSpc>
                        <a:spcBef>
                          <a:spcPts val="0"/>
                        </a:spcBef>
                        <a:spcAft>
                          <a:spcPts val="0"/>
                        </a:spcAft>
                        <a:buClr>
                          <a:srgbClr val="000000"/>
                        </a:buClr>
                        <a:buSzPts val="1400"/>
                        <a:buFont typeface="Arial"/>
                        <a:buNone/>
                      </a:pPr>
                      <a:r>
                        <a:rPr b="1" lang="es-AR" sz="1400" u="none" cap="none" strike="noStrike">
                          <a:latin typeface="Calibri"/>
                          <a:ea typeface="Calibri"/>
                          <a:cs typeface="Calibri"/>
                          <a:sym typeface="Calibri"/>
                        </a:rPr>
                        <a:t>14 días corridos</a:t>
                      </a:r>
                      <a:endParaRPr b="1" i="0" sz="1400" u="none" cap="none" strike="noStrike">
                        <a:latin typeface="Calibri"/>
                        <a:ea typeface="Calibri"/>
                        <a:cs typeface="Calibri"/>
                        <a:sym typeface="Calibri"/>
                      </a:endParaRPr>
                    </a:p>
                  </a:txBody>
                  <a:tcPr marT="0" marB="0" marR="0" marL="0" anchor="ctr"/>
                </a:tc>
                <a:tc>
                  <a:txBody>
                    <a:bodyPr/>
                    <a:lstStyle/>
                    <a:p>
                      <a:pPr indent="0" lvl="0" marL="0" marR="0" rtl="0" algn="l">
                        <a:lnSpc>
                          <a:spcPct val="100000"/>
                        </a:lnSpc>
                        <a:spcBef>
                          <a:spcPts val="0"/>
                        </a:spcBef>
                        <a:spcAft>
                          <a:spcPts val="0"/>
                        </a:spcAft>
                        <a:buClr>
                          <a:srgbClr val="000000"/>
                        </a:buClr>
                        <a:buSzPts val="1400"/>
                        <a:buFont typeface="Arial"/>
                        <a:buNone/>
                      </a:pPr>
                      <a:r>
                        <a:rPr lang="es-AR" sz="1400" u="none" cap="none" strike="noStrike">
                          <a:latin typeface="Calibri"/>
                          <a:ea typeface="Calibri"/>
                          <a:cs typeface="Calibri"/>
                          <a:sym typeface="Calibri"/>
                        </a:rPr>
                        <a:t>Que no exceda de 5 años</a:t>
                      </a:r>
                      <a:endParaRPr b="0" i="0" sz="1400" u="none" cap="none" strike="noStrike">
                        <a:solidFill>
                          <a:srgbClr val="222222"/>
                        </a:solidFill>
                        <a:latin typeface="Calibri"/>
                        <a:ea typeface="Calibri"/>
                        <a:cs typeface="Calibri"/>
                        <a:sym typeface="Calibri"/>
                      </a:endParaRPr>
                    </a:p>
                  </a:txBody>
                  <a:tcPr marT="0" marB="0" marR="0" marL="0" anchor="ctr"/>
                </a:tc>
              </a:tr>
              <a:tr h="527275">
                <a:tc>
                  <a:txBody>
                    <a:bodyPr/>
                    <a:lstStyle/>
                    <a:p>
                      <a:pPr indent="0" lvl="0" marL="0" marR="0" rtl="0" algn="ctr">
                        <a:lnSpc>
                          <a:spcPct val="100000"/>
                        </a:lnSpc>
                        <a:spcBef>
                          <a:spcPts val="0"/>
                        </a:spcBef>
                        <a:spcAft>
                          <a:spcPts val="0"/>
                        </a:spcAft>
                        <a:buClr>
                          <a:srgbClr val="000000"/>
                        </a:buClr>
                        <a:buSzPts val="1400"/>
                        <a:buFont typeface="Arial"/>
                        <a:buNone/>
                      </a:pPr>
                      <a:r>
                        <a:rPr b="1" lang="es-AR" sz="1400" u="none" cap="none" strike="noStrike">
                          <a:latin typeface="Calibri"/>
                          <a:ea typeface="Calibri"/>
                          <a:cs typeface="Calibri"/>
                          <a:sym typeface="Calibri"/>
                        </a:rPr>
                        <a:t>21 días corridos</a:t>
                      </a:r>
                      <a:endParaRPr b="1" i="0" sz="1400" u="none" cap="none" strike="noStrike">
                        <a:latin typeface="Calibri"/>
                        <a:ea typeface="Calibri"/>
                        <a:cs typeface="Calibri"/>
                        <a:sym typeface="Calibri"/>
                      </a:endParaRPr>
                    </a:p>
                  </a:txBody>
                  <a:tcPr marT="0" marB="0" marR="0" marL="0" anchor="ctr"/>
                </a:tc>
                <a:tc>
                  <a:txBody>
                    <a:bodyPr/>
                    <a:lstStyle/>
                    <a:p>
                      <a:pPr indent="0" lvl="0" marL="0" marR="0" rtl="0" algn="l">
                        <a:lnSpc>
                          <a:spcPct val="100000"/>
                        </a:lnSpc>
                        <a:spcBef>
                          <a:spcPts val="0"/>
                        </a:spcBef>
                        <a:spcAft>
                          <a:spcPts val="0"/>
                        </a:spcAft>
                        <a:buClr>
                          <a:srgbClr val="000000"/>
                        </a:buClr>
                        <a:buSzPts val="1400"/>
                        <a:buFont typeface="Arial"/>
                        <a:buNone/>
                      </a:pPr>
                      <a:r>
                        <a:rPr lang="es-AR" sz="1400" u="none" cap="none" strike="noStrike">
                          <a:latin typeface="Calibri"/>
                          <a:ea typeface="Calibri"/>
                          <a:cs typeface="Calibri"/>
                          <a:sym typeface="Calibri"/>
                        </a:rPr>
                        <a:t>Mayor a 5 años y que no exceda los 10 años</a:t>
                      </a:r>
                      <a:endParaRPr b="0" i="0" sz="1400" u="none" cap="none" strike="noStrike">
                        <a:solidFill>
                          <a:srgbClr val="222222"/>
                        </a:solidFill>
                        <a:latin typeface="Calibri"/>
                        <a:ea typeface="Calibri"/>
                        <a:cs typeface="Calibri"/>
                        <a:sym typeface="Calibri"/>
                      </a:endParaRPr>
                    </a:p>
                  </a:txBody>
                  <a:tcPr marT="0" marB="0" marR="0" marL="0" anchor="ctr"/>
                </a:tc>
              </a:tr>
              <a:tr h="700000">
                <a:tc>
                  <a:txBody>
                    <a:bodyPr/>
                    <a:lstStyle/>
                    <a:p>
                      <a:pPr indent="0" lvl="0" marL="0" marR="0" rtl="0" algn="ctr">
                        <a:lnSpc>
                          <a:spcPct val="100000"/>
                        </a:lnSpc>
                        <a:spcBef>
                          <a:spcPts val="0"/>
                        </a:spcBef>
                        <a:spcAft>
                          <a:spcPts val="0"/>
                        </a:spcAft>
                        <a:buClr>
                          <a:srgbClr val="000000"/>
                        </a:buClr>
                        <a:buSzPts val="1400"/>
                        <a:buFont typeface="Arial"/>
                        <a:buNone/>
                      </a:pPr>
                      <a:r>
                        <a:rPr b="1" lang="es-AR" sz="1400" u="none" cap="none" strike="noStrike">
                          <a:latin typeface="Calibri"/>
                          <a:ea typeface="Calibri"/>
                          <a:cs typeface="Calibri"/>
                          <a:sym typeface="Calibri"/>
                        </a:rPr>
                        <a:t>28 días corridos</a:t>
                      </a:r>
                      <a:endParaRPr b="1" i="0" sz="1400" u="none" cap="none" strike="noStrike">
                        <a:latin typeface="Calibri"/>
                        <a:ea typeface="Calibri"/>
                        <a:cs typeface="Calibri"/>
                        <a:sym typeface="Calibri"/>
                      </a:endParaRPr>
                    </a:p>
                  </a:txBody>
                  <a:tcPr marT="0" marB="0" marR="0" marL="0" anchor="ctr"/>
                </a:tc>
                <a:tc>
                  <a:txBody>
                    <a:bodyPr/>
                    <a:lstStyle/>
                    <a:p>
                      <a:pPr indent="0" lvl="0" marL="0" marR="0" rtl="0" algn="l">
                        <a:lnSpc>
                          <a:spcPct val="100000"/>
                        </a:lnSpc>
                        <a:spcBef>
                          <a:spcPts val="0"/>
                        </a:spcBef>
                        <a:spcAft>
                          <a:spcPts val="0"/>
                        </a:spcAft>
                        <a:buClr>
                          <a:srgbClr val="000000"/>
                        </a:buClr>
                        <a:buSzPts val="1400"/>
                        <a:buFont typeface="Arial"/>
                        <a:buNone/>
                      </a:pPr>
                      <a:r>
                        <a:rPr lang="es-AR" sz="1400" u="none" cap="none" strike="noStrike">
                          <a:latin typeface="Calibri"/>
                          <a:ea typeface="Calibri"/>
                          <a:cs typeface="Calibri"/>
                          <a:sym typeface="Calibri"/>
                        </a:rPr>
                        <a:t>Mayor a 10 años y que no exceda los 20 años</a:t>
                      </a:r>
                      <a:endParaRPr b="0" i="0" sz="1400" u="none" cap="none" strike="noStrike">
                        <a:solidFill>
                          <a:srgbClr val="222222"/>
                        </a:solidFill>
                        <a:latin typeface="Calibri"/>
                        <a:ea typeface="Calibri"/>
                        <a:cs typeface="Calibri"/>
                        <a:sym typeface="Calibri"/>
                      </a:endParaRPr>
                    </a:p>
                  </a:txBody>
                  <a:tcPr marT="0" marB="0" marR="0" marL="0" anchor="ctr"/>
                </a:tc>
              </a:tr>
              <a:tr h="354550">
                <a:tc>
                  <a:txBody>
                    <a:bodyPr/>
                    <a:lstStyle/>
                    <a:p>
                      <a:pPr indent="0" lvl="0" marL="0" marR="0" rtl="0" algn="ctr">
                        <a:lnSpc>
                          <a:spcPct val="100000"/>
                        </a:lnSpc>
                        <a:spcBef>
                          <a:spcPts val="0"/>
                        </a:spcBef>
                        <a:spcAft>
                          <a:spcPts val="0"/>
                        </a:spcAft>
                        <a:buClr>
                          <a:srgbClr val="000000"/>
                        </a:buClr>
                        <a:buSzPts val="1400"/>
                        <a:buFont typeface="Arial"/>
                        <a:buNone/>
                      </a:pPr>
                      <a:r>
                        <a:rPr b="1" lang="es-AR" sz="1400" u="none" cap="none" strike="noStrike">
                          <a:latin typeface="Calibri"/>
                          <a:ea typeface="Calibri"/>
                          <a:cs typeface="Calibri"/>
                          <a:sym typeface="Calibri"/>
                        </a:rPr>
                        <a:t>35 días corridos</a:t>
                      </a:r>
                      <a:endParaRPr b="1" i="0" sz="1400" u="none" cap="none" strike="noStrike">
                        <a:latin typeface="Calibri"/>
                        <a:ea typeface="Calibri"/>
                        <a:cs typeface="Calibri"/>
                        <a:sym typeface="Calibri"/>
                      </a:endParaRPr>
                    </a:p>
                  </a:txBody>
                  <a:tcPr marT="0" marB="0" marR="0" marL="0" anchor="ctr"/>
                </a:tc>
                <a:tc>
                  <a:txBody>
                    <a:bodyPr/>
                    <a:lstStyle/>
                    <a:p>
                      <a:pPr indent="0" lvl="0" marL="0" marR="0" rtl="0" algn="l">
                        <a:lnSpc>
                          <a:spcPct val="100000"/>
                        </a:lnSpc>
                        <a:spcBef>
                          <a:spcPts val="0"/>
                        </a:spcBef>
                        <a:spcAft>
                          <a:spcPts val="0"/>
                        </a:spcAft>
                        <a:buClr>
                          <a:srgbClr val="000000"/>
                        </a:buClr>
                        <a:buSzPts val="1400"/>
                        <a:buFont typeface="Arial"/>
                        <a:buNone/>
                      </a:pPr>
                      <a:r>
                        <a:rPr lang="es-AR" sz="1400" u="none" cap="none" strike="noStrike">
                          <a:latin typeface="Calibri"/>
                          <a:ea typeface="Calibri"/>
                          <a:cs typeface="Calibri"/>
                          <a:sym typeface="Calibri"/>
                        </a:rPr>
                        <a:t>Mayor a 20 años</a:t>
                      </a:r>
                      <a:endParaRPr b="0" i="0" sz="1400" u="none" cap="none" strike="noStrike">
                        <a:solidFill>
                          <a:srgbClr val="222222"/>
                        </a:solidFill>
                        <a:latin typeface="Calibri"/>
                        <a:ea typeface="Calibri"/>
                        <a:cs typeface="Calibri"/>
                        <a:sym typeface="Calibri"/>
                      </a:endParaRPr>
                    </a:p>
                  </a:txBody>
                  <a:tcPr marT="0" marB="0" marR="0" marL="0" anchor="ctr"/>
                </a:tc>
              </a:tr>
            </a:tbl>
          </a:graphicData>
        </a:graphic>
      </p:graphicFrame>
      <p:sp>
        <p:nvSpPr>
          <p:cNvPr id="548" name="Google Shape;548;p74"/>
          <p:cNvSpPr txBox="1"/>
          <p:nvPr/>
        </p:nvSpPr>
        <p:spPr>
          <a:xfrm>
            <a:off x="104504" y="15475"/>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Vacaciones </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549" name="Google Shape;549;p74"/>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50" name="Google Shape;550;p74"/>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id="551" name="Google Shape;551;p74"/>
          <p:cNvPicPr preferRelativeResize="0"/>
          <p:nvPr/>
        </p:nvPicPr>
        <p:blipFill rotWithShape="1">
          <a:blip r:embed="rId4">
            <a:alphaModFix/>
          </a:blip>
          <a:srcRect b="0" l="0" r="0" t="0"/>
          <a:stretch/>
        </p:blipFill>
        <p:spPr>
          <a:xfrm>
            <a:off x="5048587" y="3561739"/>
            <a:ext cx="2060077" cy="1731414"/>
          </a:xfrm>
          <a:prstGeom prst="rect">
            <a:avLst/>
          </a:prstGeom>
          <a:noFill/>
          <a:ln>
            <a:noFill/>
          </a:ln>
        </p:spPr>
      </p:pic>
      <p:sp>
        <p:nvSpPr>
          <p:cNvPr id="552" name="Google Shape;552;p74"/>
          <p:cNvSpPr/>
          <p:nvPr/>
        </p:nvSpPr>
        <p:spPr>
          <a:xfrm>
            <a:off x="6976231" y="4415228"/>
            <a:ext cx="1620521" cy="1938992"/>
          </a:xfrm>
          <a:prstGeom prst="horizontalScroll">
            <a:avLst>
              <a:gd fmla="val 12500" name="adj"/>
            </a:avLst>
          </a:prstGeom>
          <a:solidFill>
            <a:schemeClr val="lt1"/>
          </a:solidFill>
          <a:ln cap="flat" cmpd="sng" w="1587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Twentieth Century"/>
                <a:ea typeface="Twentieth Century"/>
                <a:cs typeface="Twentieth Century"/>
                <a:sym typeface="Twentieth Century"/>
              </a:rPr>
              <a:t>Es quien determina la cantidad de días de vacaciones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4"/>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559" name="Google Shape;559;p24"/>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60" name="Google Shape;560;p24"/>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Vacaciones </a:t>
            </a:r>
            <a:endParaRPr b="0" i="0" sz="1800" u="none" cap="none" strike="noStrike">
              <a:solidFill>
                <a:schemeClr val="dk1"/>
              </a:solidFill>
              <a:latin typeface="Twentieth Century"/>
              <a:ea typeface="Twentieth Century"/>
              <a:cs typeface="Twentieth Century"/>
              <a:sym typeface="Twentieth Century"/>
            </a:endParaRPr>
          </a:p>
        </p:txBody>
      </p:sp>
      <p:sp>
        <p:nvSpPr>
          <p:cNvPr id="561" name="Google Shape;561;p24"/>
          <p:cNvSpPr txBox="1"/>
          <p:nvPr/>
        </p:nvSpPr>
        <p:spPr>
          <a:xfrm>
            <a:off x="1474226" y="1491844"/>
            <a:ext cx="7049841" cy="1938992"/>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Las vacaciones se conceden dentro del período comprendido entre el:  </a:t>
            </a:r>
            <a:r>
              <a:rPr b="1" i="0" lang="es-AR" sz="2400" u="none" cap="none" strike="noStrike">
                <a:solidFill>
                  <a:schemeClr val="lt1"/>
                </a:solidFill>
                <a:latin typeface="Twentieth Century"/>
                <a:ea typeface="Twentieth Century"/>
                <a:cs typeface="Twentieth Century"/>
                <a:sym typeface="Twentieth Century"/>
              </a:rPr>
              <a:t>1 de OCTUBRE y el 30 de ABRIL </a:t>
            </a:r>
            <a:r>
              <a:rPr b="0" i="0" lang="es-AR" sz="2400" u="none" cap="none" strike="noStrike">
                <a:solidFill>
                  <a:schemeClr val="lt1"/>
                </a:solidFill>
                <a:latin typeface="Twentieth Century"/>
                <a:ea typeface="Twentieth Century"/>
                <a:cs typeface="Twentieth Century"/>
                <a:sym typeface="Twentieth Century"/>
              </a:rPr>
              <a:t>(salvo que el giro de negocio lo impida). </a:t>
            </a:r>
            <a:endParaRPr b="0"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La comunicación debe ser por escrito y con una anticipación no menor a 45 días.</a:t>
            </a:r>
            <a:endParaRPr b="0" i="0" sz="1400" u="none" cap="none" strike="noStrike">
              <a:solidFill>
                <a:schemeClr val="lt1"/>
              </a:solidFill>
              <a:latin typeface="Arial"/>
              <a:ea typeface="Arial"/>
              <a:cs typeface="Arial"/>
              <a:sym typeface="Arial"/>
            </a:endParaRPr>
          </a:p>
        </p:txBody>
      </p:sp>
      <p:pic>
        <p:nvPicPr>
          <p:cNvPr id="562" name="Google Shape;562;p24"/>
          <p:cNvPicPr preferRelativeResize="0"/>
          <p:nvPr/>
        </p:nvPicPr>
        <p:blipFill rotWithShape="1">
          <a:blip r:embed="rId4">
            <a:alphaModFix/>
          </a:blip>
          <a:srcRect b="0" l="34207" r="32293" t="0"/>
          <a:stretch/>
        </p:blipFill>
        <p:spPr>
          <a:xfrm>
            <a:off x="389346" y="2448634"/>
            <a:ext cx="1084881" cy="2590800"/>
          </a:xfrm>
          <a:prstGeom prst="rect">
            <a:avLst/>
          </a:prstGeom>
          <a:solidFill>
            <a:srgbClr val="FF0000"/>
          </a:solidFill>
          <a:ln>
            <a:noFill/>
          </a:ln>
        </p:spPr>
      </p:pic>
      <p:sp>
        <p:nvSpPr>
          <p:cNvPr id="563" name="Google Shape;563;p24"/>
          <p:cNvSpPr txBox="1"/>
          <p:nvPr/>
        </p:nvSpPr>
        <p:spPr>
          <a:xfrm>
            <a:off x="1474226" y="3744034"/>
            <a:ext cx="7049841" cy="2492990"/>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Cuando el trabajador no llegase a totalizar el tiempo mínimo de trabajo previsto (la mitad de los días hábiles comprendidos en el año), gozará de un período de descanso anual en la proporción de 1 día de descanso por cada 20 efectivamente trabajados (Art 153). </a:t>
            </a:r>
            <a:endParaRPr b="0" i="0" sz="2400" u="none" cap="none" strike="noStrike">
              <a:solidFill>
                <a:schemeClr val="lt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Twentieth Century"/>
              <a:ea typeface="Twentieth Century"/>
              <a:cs typeface="Twentieth Century"/>
              <a:sym typeface="Twentieth Century"/>
            </a:endParaRPr>
          </a:p>
        </p:txBody>
      </p:sp>
      <p:sp>
        <p:nvSpPr>
          <p:cNvPr id="564" name="Google Shape;564;p24"/>
          <p:cNvSpPr txBox="1"/>
          <p:nvPr/>
        </p:nvSpPr>
        <p:spPr>
          <a:xfrm>
            <a:off x="1474225" y="6365516"/>
            <a:ext cx="37161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chemeClr val="dk1"/>
                </a:solidFill>
                <a:latin typeface="Twentieth Century"/>
                <a:ea typeface="Twentieth Century"/>
                <a:cs typeface="Twentieth Century"/>
                <a:sym typeface="Twentieth Century"/>
              </a:rPr>
              <a:t>Aproximadamente</a:t>
            </a:r>
            <a:r>
              <a:rPr b="0" i="0" lang="es-AR" sz="1800" u="none" cap="none" strike="noStrike">
                <a:solidFill>
                  <a:schemeClr val="dk1"/>
                </a:solidFill>
                <a:latin typeface="Twentieth Century"/>
                <a:ea typeface="Twentieth Century"/>
                <a:cs typeface="Twentieth Century"/>
                <a:sym typeface="Twentieth Century"/>
              </a:rPr>
              <a:t> el 30 de Junio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5"/>
          <p:cNvSpPr txBox="1"/>
          <p:nvPr/>
        </p:nvSpPr>
        <p:spPr>
          <a:xfrm>
            <a:off x="362806" y="4397009"/>
            <a:ext cx="8418387" cy="216055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chemeClr val="dk1"/>
              </a:buClr>
              <a:buSzPts val="1800"/>
              <a:buFont typeface="Noto Sans Symbols"/>
              <a:buChar char="❖"/>
            </a:pPr>
            <a:r>
              <a:rPr b="0" i="0" lang="es-AR" sz="1800" u="none" cap="none" strike="noStrike">
                <a:solidFill>
                  <a:schemeClr val="dk1"/>
                </a:solidFill>
                <a:latin typeface="Calibri"/>
                <a:ea typeface="Calibri"/>
                <a:cs typeface="Calibri"/>
                <a:sym typeface="Calibri"/>
              </a:rPr>
              <a:t>Si la remuneración es por día o por hora, se abona por cada día de vacaciones el importe que le hubiera correspondido al trabajador en la jornada anterior a la fecha que comienza sus vacaciones.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0000"/>
              </a:buClr>
              <a:buSzPts val="2000"/>
              <a:buFont typeface="Calibri"/>
              <a:buNone/>
            </a:pPr>
            <a:r>
              <a:rPr b="1" i="0" lang="es-AR" sz="2000" u="none" cap="none" strike="noStrike">
                <a:solidFill>
                  <a:srgbClr val="FF0000"/>
                </a:solidFill>
                <a:latin typeface="Calibri"/>
                <a:ea typeface="Calibri"/>
                <a:cs typeface="Calibri"/>
                <a:sym typeface="Calibri"/>
              </a:rPr>
              <a:t>Los días de vacaciones se deben abonar como anticipo y luego se hace el descuento de los días correspondientes. </a:t>
            </a:r>
            <a:endParaRPr b="0" i="0" sz="2000" u="none" cap="none" strike="noStrike">
              <a:solidFill>
                <a:schemeClr val="dk1"/>
              </a:solidFill>
              <a:latin typeface="Calibri"/>
              <a:ea typeface="Calibri"/>
              <a:cs typeface="Calibri"/>
              <a:sym typeface="Calibri"/>
            </a:endParaRPr>
          </a:p>
        </p:txBody>
      </p:sp>
      <p:sp>
        <p:nvSpPr>
          <p:cNvPr id="571" name="Google Shape;571;p75"/>
          <p:cNvSpPr/>
          <p:nvPr/>
        </p:nvSpPr>
        <p:spPr>
          <a:xfrm>
            <a:off x="357122" y="1397541"/>
            <a:ext cx="8543038" cy="352065"/>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DESCANSO ANUAL- VACACIONES</a:t>
            </a:r>
            <a:endParaRPr b="1" i="0" sz="1600" u="none" cap="none" strike="noStrike">
              <a:solidFill>
                <a:schemeClr val="lt1"/>
              </a:solidFill>
              <a:latin typeface="Arial"/>
              <a:ea typeface="Arial"/>
              <a:cs typeface="Arial"/>
              <a:sym typeface="Arial"/>
            </a:endParaRPr>
          </a:p>
        </p:txBody>
      </p:sp>
      <p:sp>
        <p:nvSpPr>
          <p:cNvPr id="572" name="Google Shape;572;p75"/>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573" name="Google Shape;573;p75"/>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74" name="Google Shape;574;p75"/>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Vacaciones </a:t>
            </a:r>
            <a:endParaRPr b="0" i="0" sz="1800" u="none" cap="none" strike="noStrike">
              <a:solidFill>
                <a:schemeClr val="dk1"/>
              </a:solidFill>
              <a:latin typeface="Twentieth Century"/>
              <a:ea typeface="Twentieth Century"/>
              <a:cs typeface="Twentieth Century"/>
              <a:sym typeface="Twentieth Century"/>
            </a:endParaRPr>
          </a:p>
        </p:txBody>
      </p:sp>
      <p:pic>
        <p:nvPicPr>
          <p:cNvPr id="575" name="Google Shape;575;p75"/>
          <p:cNvPicPr preferRelativeResize="0"/>
          <p:nvPr/>
        </p:nvPicPr>
        <p:blipFill rotWithShape="1">
          <a:blip r:embed="rId4">
            <a:alphaModFix/>
          </a:blip>
          <a:srcRect b="5348" l="9250" r="7387" t="4358"/>
          <a:stretch/>
        </p:blipFill>
        <p:spPr>
          <a:xfrm>
            <a:off x="6865750" y="2229076"/>
            <a:ext cx="1669884" cy="1808709"/>
          </a:xfrm>
          <a:prstGeom prst="rect">
            <a:avLst/>
          </a:prstGeom>
          <a:noFill/>
          <a:ln>
            <a:noFill/>
          </a:ln>
        </p:spPr>
      </p:pic>
      <p:sp>
        <p:nvSpPr>
          <p:cNvPr id="576" name="Google Shape;576;p75"/>
          <p:cNvSpPr txBox="1"/>
          <p:nvPr/>
        </p:nvSpPr>
        <p:spPr>
          <a:xfrm>
            <a:off x="842850" y="2108830"/>
            <a:ext cx="5871460" cy="1938992"/>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Twentieth Century"/>
                <a:ea typeface="Twentieth Century"/>
                <a:cs typeface="Twentieth Century"/>
                <a:sym typeface="Twentieth Century"/>
              </a:rPr>
              <a:t>RETRIBUCIÓN: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Twentieth Century"/>
                <a:ea typeface="Twentieth Century"/>
                <a:cs typeface="Twentieth Century"/>
                <a:sym typeface="Twentieth Century"/>
              </a:rPr>
              <a:t>Si el trabajador percibe un sueldo mensual los días de vacaciones se pagan con un divisor 25 y se descuentan con un divisor 30. La diferencia se llama </a:t>
            </a:r>
            <a:r>
              <a:rPr b="1" i="0" lang="es-AR" sz="2400" u="none" cap="none" strike="noStrike">
                <a:solidFill>
                  <a:schemeClr val="dk1"/>
                </a:solidFill>
                <a:latin typeface="Twentieth Century"/>
                <a:ea typeface="Twentieth Century"/>
                <a:cs typeface="Twentieth Century"/>
                <a:sym typeface="Twentieth Century"/>
              </a:rPr>
              <a:t>PLUS VACACIONAL.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6"/>
          <p:cNvSpPr/>
          <p:nvPr/>
        </p:nvSpPr>
        <p:spPr>
          <a:xfrm>
            <a:off x="357121" y="1445693"/>
            <a:ext cx="8569151" cy="381993"/>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Ejemplos de liquidación por vacaciones</a:t>
            </a:r>
            <a:endParaRPr b="1" i="0" sz="1600" u="none" cap="none" strike="noStrike">
              <a:solidFill>
                <a:schemeClr val="lt1"/>
              </a:solidFill>
              <a:latin typeface="Arial"/>
              <a:ea typeface="Arial"/>
              <a:cs typeface="Arial"/>
              <a:sym typeface="Arial"/>
            </a:endParaRPr>
          </a:p>
        </p:txBody>
      </p:sp>
      <p:sp>
        <p:nvSpPr>
          <p:cNvPr id="582" name="Google Shape;582;p76"/>
          <p:cNvSpPr/>
          <p:nvPr/>
        </p:nvSpPr>
        <p:spPr>
          <a:xfrm>
            <a:off x="2085975" y="5186363"/>
            <a:ext cx="628650" cy="579970"/>
          </a:xfrm>
          <a:prstGeom prst="ellipse">
            <a:avLst/>
          </a:prstGeom>
          <a:solidFill>
            <a:schemeClr val="lt1"/>
          </a:solidFill>
          <a:ln cap="flat"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583" name="Google Shape;583;p76"/>
          <p:cNvSpPr txBox="1"/>
          <p:nvPr/>
        </p:nvSpPr>
        <p:spPr>
          <a:xfrm>
            <a:off x="357122" y="2116104"/>
            <a:ext cx="8675153" cy="38472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Trabajador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Antigüedad: 5 años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Días de vacaciones: 21 días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Sueldo bruto mensual: $45.000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Calibri"/>
                <a:ea typeface="Calibri"/>
                <a:cs typeface="Calibri"/>
                <a:sym typeface="Calibri"/>
              </a:rPr>
              <a:t>A= </a:t>
            </a:r>
            <a:r>
              <a:rPr b="0" i="0" lang="es-AR" sz="1600" u="none" cap="none" strike="noStrike">
                <a:solidFill>
                  <a:schemeClr val="dk1"/>
                </a:solidFill>
                <a:latin typeface="Calibri"/>
                <a:ea typeface="Calibri"/>
                <a:cs typeface="Calibri"/>
                <a:sym typeface="Calibri"/>
              </a:rPr>
              <a:t>$45.000 / 25 * 21 =$37.800 (pago en concepto de vacaciones, al iniciar las vacaciones)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Calibri"/>
                <a:ea typeface="Calibri"/>
                <a:cs typeface="Calibri"/>
                <a:sym typeface="Calibri"/>
              </a:rPr>
              <a:t>B= </a:t>
            </a:r>
            <a:r>
              <a:rPr b="0" i="0" lang="es-AR" sz="1600" u="none" cap="none" strike="noStrike">
                <a:solidFill>
                  <a:schemeClr val="dk1"/>
                </a:solidFill>
                <a:latin typeface="Calibri"/>
                <a:ea typeface="Calibri"/>
                <a:cs typeface="Calibri"/>
                <a:sym typeface="Calibri"/>
              </a:rPr>
              <a:t>$45.000 / 30 * 21= $31.500 (descuento en concepto del pago por vacaciones al regresar de las                    						mismas)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AR" sz="1600" u="sng" cap="none" strike="noStrike">
                <a:solidFill>
                  <a:schemeClr val="dk1"/>
                </a:solidFill>
                <a:latin typeface="Calibri"/>
                <a:ea typeface="Calibri"/>
                <a:cs typeface="Calibri"/>
                <a:sym typeface="Calibri"/>
              </a:rPr>
              <a:t>PLUS VACACIONAL </a:t>
            </a:r>
            <a:r>
              <a:rPr b="0" i="0" lang="es-AR" sz="1600" u="none" cap="none" strike="noStrike">
                <a:solidFill>
                  <a:schemeClr val="dk1"/>
                </a:solidFill>
                <a:latin typeface="Calibri"/>
                <a:ea typeface="Calibri"/>
                <a:cs typeface="Calibri"/>
                <a:sym typeface="Calibri"/>
              </a:rPr>
              <a:t>= </a:t>
            </a:r>
            <a:r>
              <a:rPr b="1" i="0" lang="es-AR" sz="1600" u="none" cap="none" strike="noStrike">
                <a:solidFill>
                  <a:schemeClr val="dk1"/>
                </a:solidFill>
                <a:latin typeface="Calibri"/>
                <a:ea typeface="Calibri"/>
                <a:cs typeface="Calibri"/>
                <a:sym typeface="Calibri"/>
              </a:rPr>
              <a:t>A -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$37.800 - $31.500 = </a:t>
            </a:r>
            <a:r>
              <a:rPr b="1" i="0" lang="es-AR" sz="1600" u="none" cap="none" strike="noStrike">
                <a:solidFill>
                  <a:schemeClr val="dk1"/>
                </a:solidFill>
                <a:latin typeface="Calibri"/>
                <a:ea typeface="Calibri"/>
                <a:cs typeface="Calibri"/>
                <a:sym typeface="Calibri"/>
              </a:rPr>
              <a:t>$6300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584" name="Google Shape;584;p76"/>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85" name="Google Shape;585;p76"/>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586" name="Google Shape;586;p76"/>
          <p:cNvSpPr txBox="1"/>
          <p:nvPr/>
        </p:nvSpPr>
        <p:spPr>
          <a:xfrm>
            <a:off x="3452951" y="2155569"/>
            <a:ext cx="5473322" cy="923330"/>
          </a:xfrm>
          <a:prstGeom prst="rect">
            <a:avLst/>
          </a:prstGeom>
          <a:solidFill>
            <a:schemeClr val="lt1"/>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SUELDO BRUTO     x  días de licencias correspondiente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587" name="Google Shape;587;p76"/>
          <p:cNvCxnSpPr/>
          <p:nvPr/>
        </p:nvCxnSpPr>
        <p:spPr>
          <a:xfrm>
            <a:off x="3570515" y="2500084"/>
            <a:ext cx="1696721" cy="0"/>
          </a:xfrm>
          <a:prstGeom prst="straightConnector1">
            <a:avLst/>
          </a:prstGeom>
          <a:noFill/>
          <a:ln cap="flat" cmpd="sng" w="9525">
            <a:solidFill>
              <a:srgbClr val="FF0000"/>
            </a:solidFill>
            <a:prstDash val="solid"/>
            <a:round/>
            <a:headEnd len="sm" w="sm" type="none"/>
            <a:tailEnd len="sm" w="sm" type="none"/>
          </a:ln>
        </p:spPr>
      </p:cxnSp>
      <p:sp>
        <p:nvSpPr>
          <p:cNvPr id="588" name="Google Shape;588;p7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Vacaciones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7"/>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594" name="Google Shape;594;p77"/>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595" name="Google Shape;595;p77"/>
          <p:cNvSpPr/>
          <p:nvPr/>
        </p:nvSpPr>
        <p:spPr>
          <a:xfrm>
            <a:off x="597877" y="1392294"/>
            <a:ext cx="8337015" cy="456919"/>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Ejemplos de liquidación por vacaciones proporcionales</a:t>
            </a:r>
            <a:endParaRPr b="1" i="0" sz="1600" u="none" cap="none" strike="noStrike">
              <a:solidFill>
                <a:schemeClr val="lt1"/>
              </a:solidFill>
              <a:latin typeface="Arial"/>
              <a:ea typeface="Arial"/>
              <a:cs typeface="Arial"/>
              <a:sym typeface="Arial"/>
            </a:endParaRPr>
          </a:p>
        </p:txBody>
      </p:sp>
      <p:sp>
        <p:nvSpPr>
          <p:cNvPr id="596" name="Google Shape;596;p77"/>
          <p:cNvSpPr txBox="1"/>
          <p:nvPr/>
        </p:nvSpPr>
        <p:spPr>
          <a:xfrm>
            <a:off x="597877" y="2229076"/>
            <a:ext cx="7948246" cy="42165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Trabajador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Antigüedad: 3 años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Días de vacaciones: 14 días (trabajando el año completo, se toman 360 días)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Fecha de renuncia: 15/08/2019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Sueldo bruto mensual: $30.000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0070C0"/>
                </a:solidFill>
                <a:latin typeface="Arial Narrow"/>
                <a:ea typeface="Arial Narrow"/>
                <a:cs typeface="Arial Narrow"/>
                <a:sym typeface="Arial Narrow"/>
              </a:rPr>
              <a:t>1º CALCULO DÍAS QUE CORRESPONDEN DE FORMA PROPORCIONAL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14 / 360  * 226 (días efectivamente trabajados) =  8.78 días de vacaciones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rgbClr val="0070C0"/>
                </a:solidFill>
                <a:latin typeface="Arial Narrow"/>
                <a:ea typeface="Arial Narrow"/>
                <a:cs typeface="Arial Narrow"/>
                <a:sym typeface="Arial Narrow"/>
              </a:rPr>
              <a:t>2º CALCULO IMPORTE A ABONAR  (con fórmula de vacaciones)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s-AR" sz="1400" u="none" cap="none" strike="noStrike">
                <a:solidFill>
                  <a:schemeClr val="dk1"/>
                </a:solidFill>
                <a:latin typeface="Arial Narrow"/>
                <a:ea typeface="Arial Narrow"/>
                <a:cs typeface="Arial Narrow"/>
                <a:sym typeface="Arial Narrow"/>
              </a:rPr>
              <a:t>$</a:t>
            </a:r>
            <a:r>
              <a:rPr b="1" i="0" lang="es-AR" sz="1600" u="none" cap="none" strike="noStrike">
                <a:solidFill>
                  <a:schemeClr val="dk1"/>
                </a:solidFill>
                <a:latin typeface="Arial Narrow"/>
                <a:ea typeface="Arial Narrow"/>
                <a:cs typeface="Arial Narrow"/>
                <a:sym typeface="Arial Narrow"/>
              </a:rPr>
              <a:t>30.000 / 25  *  9 =  $10.800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p:txBody>
      </p:sp>
      <p:sp>
        <p:nvSpPr>
          <p:cNvPr id="597" name="Google Shape;597;p77"/>
          <p:cNvSpPr/>
          <p:nvPr/>
        </p:nvSpPr>
        <p:spPr>
          <a:xfrm>
            <a:off x="2130302" y="5715162"/>
            <a:ext cx="703385" cy="647114"/>
          </a:xfrm>
          <a:prstGeom prst="ellipse">
            <a:avLst/>
          </a:prstGeom>
          <a:no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598" name="Google Shape;598;p77"/>
          <p:cNvCxnSpPr/>
          <p:nvPr/>
        </p:nvCxnSpPr>
        <p:spPr>
          <a:xfrm>
            <a:off x="2852999" y="6038719"/>
            <a:ext cx="1012875" cy="1588"/>
          </a:xfrm>
          <a:prstGeom prst="straightConnector1">
            <a:avLst/>
          </a:prstGeom>
          <a:noFill/>
          <a:ln cap="flat" cmpd="sng" w="9525">
            <a:solidFill>
              <a:schemeClr val="accent1"/>
            </a:solidFill>
            <a:prstDash val="solid"/>
            <a:round/>
            <a:headEnd len="sm" w="sm" type="none"/>
            <a:tailEnd len="med" w="med" type="stealth"/>
          </a:ln>
        </p:spPr>
      </p:cxnSp>
      <p:sp>
        <p:nvSpPr>
          <p:cNvPr id="599" name="Google Shape;599;p77"/>
          <p:cNvSpPr txBox="1"/>
          <p:nvPr/>
        </p:nvSpPr>
        <p:spPr>
          <a:xfrm>
            <a:off x="4089764" y="5766333"/>
            <a:ext cx="2912012" cy="523220"/>
          </a:xfrm>
          <a:prstGeom prst="rect">
            <a:avLst/>
          </a:prstGeom>
          <a:solidFill>
            <a:schemeClr val="accent5"/>
          </a:solidFill>
          <a:ln cap="flat" cmpd="sng" w="15875">
            <a:solidFill>
              <a:srgbClr val="2D633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AR" sz="1400" u="none" cap="none" strike="noStrike">
                <a:solidFill>
                  <a:schemeClr val="lt1"/>
                </a:solidFill>
                <a:latin typeface="Twentieth Century"/>
                <a:ea typeface="Twentieth Century"/>
                <a:cs typeface="Twentieth Century"/>
                <a:sym typeface="Twentieth Century"/>
              </a:rPr>
              <a:t>IMPORTE A ABONAR EN CONCEPTO DE VACACIONES NO GOZADAS</a:t>
            </a:r>
            <a:endParaRPr b="0" i="0" sz="1400" u="none" cap="none" strike="noStrike">
              <a:solidFill>
                <a:schemeClr val="lt1"/>
              </a:solidFill>
              <a:latin typeface="Twentieth Century"/>
              <a:ea typeface="Twentieth Century"/>
              <a:cs typeface="Twentieth Century"/>
              <a:sym typeface="Twentieth Century"/>
            </a:endParaRPr>
          </a:p>
        </p:txBody>
      </p:sp>
      <p:cxnSp>
        <p:nvCxnSpPr>
          <p:cNvPr id="600" name="Google Shape;600;p77"/>
          <p:cNvCxnSpPr/>
          <p:nvPr/>
        </p:nvCxnSpPr>
        <p:spPr>
          <a:xfrm flipH="1" rot="10800000">
            <a:off x="6443004" y="4711624"/>
            <a:ext cx="787790" cy="14067"/>
          </a:xfrm>
          <a:prstGeom prst="straightConnector1">
            <a:avLst/>
          </a:prstGeom>
          <a:noFill/>
          <a:ln cap="flat" cmpd="sng" w="9525">
            <a:solidFill>
              <a:schemeClr val="accent1"/>
            </a:solidFill>
            <a:prstDash val="solid"/>
            <a:round/>
            <a:headEnd len="sm" w="sm" type="none"/>
            <a:tailEnd len="med" w="med" type="stealth"/>
          </a:ln>
        </p:spPr>
      </p:cxnSp>
      <p:sp>
        <p:nvSpPr>
          <p:cNvPr id="601" name="Google Shape;601;p77"/>
          <p:cNvSpPr txBox="1"/>
          <p:nvPr/>
        </p:nvSpPr>
        <p:spPr>
          <a:xfrm>
            <a:off x="7288972" y="4557735"/>
            <a:ext cx="1645920" cy="307777"/>
          </a:xfrm>
          <a:prstGeom prst="rect">
            <a:avLst/>
          </a:prstGeom>
          <a:solidFill>
            <a:schemeClr val="lt1"/>
          </a:solidFill>
          <a:ln cap="flat" cmpd="sng" w="15875">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AR" sz="1400" u="none" cap="none" strike="noStrike">
                <a:solidFill>
                  <a:schemeClr val="dk1"/>
                </a:solidFill>
                <a:latin typeface="Calibri"/>
                <a:ea typeface="Calibri"/>
                <a:cs typeface="Calibri"/>
                <a:sym typeface="Calibri"/>
              </a:rPr>
              <a:t>Redondeo a 9 días</a:t>
            </a:r>
            <a:endParaRPr b="0" i="0" sz="1400" u="none" cap="none" strike="noStrike">
              <a:solidFill>
                <a:schemeClr val="dk1"/>
              </a:solidFill>
              <a:latin typeface="Calibri"/>
              <a:ea typeface="Calibri"/>
              <a:cs typeface="Calibri"/>
              <a:sym typeface="Calibri"/>
            </a:endParaRPr>
          </a:p>
        </p:txBody>
      </p:sp>
      <p:sp>
        <p:nvSpPr>
          <p:cNvPr id="602" name="Google Shape;602;p77"/>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Vacaciones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21"/>
          <p:cNvSpPr/>
          <p:nvPr/>
        </p:nvSpPr>
        <p:spPr>
          <a:xfrm>
            <a:off x="4580969" y="5443594"/>
            <a:ext cx="3238997" cy="422511"/>
          </a:xfrm>
          <a:prstGeom prst="roundRect">
            <a:avLst>
              <a:gd fmla="val 7143" name="adj"/>
            </a:avLst>
          </a:prstGeom>
          <a:solidFill>
            <a:srgbClr val="2644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Calibri"/>
              <a:buNone/>
            </a:pPr>
            <a:r>
              <a:rPr b="0" i="0" lang="es-AR" sz="1400" u="none" cap="none" strike="noStrike">
                <a:solidFill>
                  <a:schemeClr val="lt1"/>
                </a:solidFill>
                <a:latin typeface="Calibri"/>
                <a:ea typeface="Calibri"/>
                <a:cs typeface="Calibri"/>
                <a:sym typeface="Calibri"/>
              </a:rPr>
              <a:t>Mejor remuneración recibida segundo semestre $34.000</a:t>
            </a:r>
            <a:endParaRPr b="0" i="0" sz="1400" u="none" cap="none" strike="noStrike">
              <a:solidFill>
                <a:schemeClr val="lt1"/>
              </a:solidFill>
              <a:latin typeface="Twentieth Century"/>
              <a:ea typeface="Twentieth Century"/>
              <a:cs typeface="Twentieth Century"/>
              <a:sym typeface="Twentieth Century"/>
            </a:endParaRPr>
          </a:p>
        </p:txBody>
      </p:sp>
      <p:sp>
        <p:nvSpPr>
          <p:cNvPr id="609" name="Google Shape;609;p21"/>
          <p:cNvSpPr txBox="1"/>
          <p:nvPr/>
        </p:nvSpPr>
        <p:spPr>
          <a:xfrm>
            <a:off x="443036" y="4032602"/>
            <a:ext cx="9131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Ejemplo: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	</a:t>
            </a:r>
            <a:endParaRPr b="0" i="0" sz="1800" u="none" cap="none" strike="noStrike">
              <a:solidFill>
                <a:schemeClr val="dk1"/>
              </a:solidFill>
              <a:latin typeface="Twentieth Century"/>
              <a:ea typeface="Twentieth Century"/>
              <a:cs typeface="Twentieth Century"/>
              <a:sym typeface="Twentieth Century"/>
            </a:endParaRPr>
          </a:p>
        </p:txBody>
      </p:sp>
      <p:sp>
        <p:nvSpPr>
          <p:cNvPr id="610" name="Google Shape;610;p21"/>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Sueldo Anual Complementario</a:t>
            </a:r>
            <a:endParaRPr b="0" i="0" sz="1800" u="none" cap="none" strike="noStrike">
              <a:solidFill>
                <a:schemeClr val="dk1"/>
              </a:solidFill>
              <a:latin typeface="Arial"/>
              <a:ea typeface="Arial"/>
              <a:cs typeface="Arial"/>
              <a:sym typeface="Arial"/>
            </a:endParaRPr>
          </a:p>
        </p:txBody>
      </p:sp>
      <p:cxnSp>
        <p:nvCxnSpPr>
          <p:cNvPr id="611" name="Google Shape;611;p21"/>
          <p:cNvCxnSpPr/>
          <p:nvPr/>
        </p:nvCxnSpPr>
        <p:spPr>
          <a:xfrm>
            <a:off x="587100" y="5137209"/>
            <a:ext cx="7770095" cy="0"/>
          </a:xfrm>
          <a:prstGeom prst="straightConnector1">
            <a:avLst/>
          </a:prstGeom>
          <a:noFill/>
          <a:ln cap="flat" cmpd="sng" w="19050">
            <a:solidFill>
              <a:schemeClr val="accent5"/>
            </a:solidFill>
            <a:prstDash val="solid"/>
            <a:miter lim="800000"/>
            <a:headEnd len="sm" w="sm" type="none"/>
            <a:tailEnd len="med" w="med" type="stealth"/>
          </a:ln>
        </p:spPr>
      </p:cxnSp>
      <p:cxnSp>
        <p:nvCxnSpPr>
          <p:cNvPr id="612" name="Google Shape;612;p21"/>
          <p:cNvCxnSpPr/>
          <p:nvPr/>
        </p:nvCxnSpPr>
        <p:spPr>
          <a:xfrm rot="5400000">
            <a:off x="954358" y="5153523"/>
            <a:ext cx="396000" cy="0"/>
          </a:xfrm>
          <a:prstGeom prst="straightConnector1">
            <a:avLst/>
          </a:prstGeom>
          <a:noFill/>
          <a:ln cap="flat" cmpd="sng" w="9525">
            <a:solidFill>
              <a:srgbClr val="0070C0"/>
            </a:solidFill>
            <a:prstDash val="solid"/>
            <a:miter lim="800000"/>
            <a:headEnd len="sm" w="sm" type="none"/>
            <a:tailEnd len="sm" w="sm" type="none"/>
          </a:ln>
        </p:spPr>
      </p:cxnSp>
      <p:sp>
        <p:nvSpPr>
          <p:cNvPr id="613" name="Google Shape;613;p21"/>
          <p:cNvSpPr txBox="1"/>
          <p:nvPr/>
        </p:nvSpPr>
        <p:spPr>
          <a:xfrm>
            <a:off x="801414" y="4717334"/>
            <a:ext cx="720626"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Enero</a:t>
            </a:r>
            <a:endParaRPr b="0" i="0" sz="1800" u="none" cap="none" strike="noStrike">
              <a:solidFill>
                <a:schemeClr val="dk1"/>
              </a:solidFill>
              <a:latin typeface="Twentieth Century"/>
              <a:ea typeface="Twentieth Century"/>
              <a:cs typeface="Twentieth Century"/>
              <a:sym typeface="Twentieth Century"/>
            </a:endParaRPr>
          </a:p>
        </p:txBody>
      </p:sp>
      <p:cxnSp>
        <p:nvCxnSpPr>
          <p:cNvPr id="614" name="Google Shape;614;p21"/>
          <p:cNvCxnSpPr/>
          <p:nvPr/>
        </p:nvCxnSpPr>
        <p:spPr>
          <a:xfrm rot="5400000">
            <a:off x="4246752" y="5153523"/>
            <a:ext cx="396000" cy="0"/>
          </a:xfrm>
          <a:prstGeom prst="straightConnector1">
            <a:avLst/>
          </a:prstGeom>
          <a:noFill/>
          <a:ln cap="flat" cmpd="sng" w="9525">
            <a:solidFill>
              <a:srgbClr val="0070C0"/>
            </a:solidFill>
            <a:prstDash val="solid"/>
            <a:miter lim="800000"/>
            <a:headEnd len="sm" w="sm" type="none"/>
            <a:tailEnd len="sm" w="sm" type="none"/>
          </a:ln>
        </p:spPr>
      </p:cxnSp>
      <p:sp>
        <p:nvSpPr>
          <p:cNvPr id="615" name="Google Shape;615;p21"/>
          <p:cNvSpPr txBox="1"/>
          <p:nvPr/>
        </p:nvSpPr>
        <p:spPr>
          <a:xfrm>
            <a:off x="3873248" y="4717334"/>
            <a:ext cx="114300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30 Junio</a:t>
            </a:r>
            <a:endParaRPr b="0" i="0" sz="1800" u="none" cap="none" strike="noStrike">
              <a:solidFill>
                <a:schemeClr val="dk1"/>
              </a:solidFill>
              <a:latin typeface="Twentieth Century"/>
              <a:ea typeface="Twentieth Century"/>
              <a:cs typeface="Twentieth Century"/>
              <a:sym typeface="Twentieth Century"/>
            </a:endParaRPr>
          </a:p>
        </p:txBody>
      </p:sp>
      <p:pic>
        <p:nvPicPr>
          <p:cNvPr id="616" name="Google Shape;616;p21"/>
          <p:cNvPicPr preferRelativeResize="0"/>
          <p:nvPr/>
        </p:nvPicPr>
        <p:blipFill rotWithShape="1">
          <a:blip r:embed="rId3">
            <a:alphaModFix/>
          </a:blip>
          <a:srcRect b="3503" l="0" r="7667" t="2097"/>
          <a:stretch/>
        </p:blipFill>
        <p:spPr>
          <a:xfrm>
            <a:off x="658538" y="4422829"/>
            <a:ext cx="228885" cy="637194"/>
          </a:xfrm>
          <a:prstGeom prst="rect">
            <a:avLst/>
          </a:prstGeom>
          <a:noFill/>
          <a:ln>
            <a:noFill/>
          </a:ln>
        </p:spPr>
      </p:pic>
      <p:sp>
        <p:nvSpPr>
          <p:cNvPr id="617" name="Google Shape;617;p21"/>
          <p:cNvSpPr txBox="1"/>
          <p:nvPr/>
        </p:nvSpPr>
        <p:spPr>
          <a:xfrm>
            <a:off x="7302272" y="4717334"/>
            <a:ext cx="114300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18 Diciembre</a:t>
            </a:r>
            <a:endParaRPr b="0" i="0" sz="1800" u="none" cap="none" strike="noStrike">
              <a:solidFill>
                <a:schemeClr val="dk1"/>
              </a:solidFill>
              <a:latin typeface="Twentieth Century"/>
              <a:ea typeface="Twentieth Century"/>
              <a:cs typeface="Twentieth Century"/>
              <a:sym typeface="Twentieth Century"/>
            </a:endParaRPr>
          </a:p>
        </p:txBody>
      </p:sp>
      <p:cxnSp>
        <p:nvCxnSpPr>
          <p:cNvPr id="618" name="Google Shape;618;p21"/>
          <p:cNvCxnSpPr/>
          <p:nvPr/>
        </p:nvCxnSpPr>
        <p:spPr>
          <a:xfrm rot="5400000">
            <a:off x="7675776" y="5153523"/>
            <a:ext cx="396000" cy="0"/>
          </a:xfrm>
          <a:prstGeom prst="straightConnector1">
            <a:avLst/>
          </a:prstGeom>
          <a:noFill/>
          <a:ln cap="flat" cmpd="sng" w="9525">
            <a:solidFill>
              <a:srgbClr val="0070C0"/>
            </a:solidFill>
            <a:prstDash val="solid"/>
            <a:miter lim="800000"/>
            <a:headEnd len="sm" w="sm" type="none"/>
            <a:tailEnd len="sm" w="sm" type="none"/>
          </a:ln>
        </p:spPr>
      </p:cxnSp>
      <p:sp>
        <p:nvSpPr>
          <p:cNvPr id="619" name="Google Shape;619;p21"/>
          <p:cNvSpPr txBox="1"/>
          <p:nvPr/>
        </p:nvSpPr>
        <p:spPr>
          <a:xfrm>
            <a:off x="3587496" y="4503020"/>
            <a:ext cx="178595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Primera Cuota: $15.000</a:t>
            </a:r>
            <a:endParaRPr b="0" i="0" sz="1800" u="none" cap="none" strike="noStrike">
              <a:solidFill>
                <a:schemeClr val="dk1"/>
              </a:solidFill>
              <a:latin typeface="Twentieth Century"/>
              <a:ea typeface="Twentieth Century"/>
              <a:cs typeface="Twentieth Century"/>
              <a:sym typeface="Twentieth Century"/>
            </a:endParaRPr>
          </a:p>
        </p:txBody>
      </p:sp>
      <p:sp>
        <p:nvSpPr>
          <p:cNvPr id="620" name="Google Shape;620;p21"/>
          <p:cNvSpPr txBox="1"/>
          <p:nvPr/>
        </p:nvSpPr>
        <p:spPr>
          <a:xfrm>
            <a:off x="7016520" y="4503020"/>
            <a:ext cx="178595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s-AR" sz="1200" u="none" cap="none" strike="noStrike">
                <a:solidFill>
                  <a:schemeClr val="dk1"/>
                </a:solidFill>
                <a:latin typeface="Calibri"/>
                <a:ea typeface="Calibri"/>
                <a:cs typeface="Calibri"/>
                <a:sym typeface="Calibri"/>
              </a:rPr>
              <a:t>Segunda Cuota: $17.000</a:t>
            </a:r>
            <a:endParaRPr b="0" i="0" sz="1800" u="none" cap="none" strike="noStrike">
              <a:solidFill>
                <a:schemeClr val="dk1"/>
              </a:solidFill>
              <a:latin typeface="Twentieth Century"/>
              <a:ea typeface="Twentieth Century"/>
              <a:cs typeface="Twentieth Century"/>
              <a:sym typeface="Twentieth Century"/>
            </a:endParaRPr>
          </a:p>
        </p:txBody>
      </p:sp>
      <p:sp>
        <p:nvSpPr>
          <p:cNvPr id="621" name="Google Shape;621;p21"/>
          <p:cNvSpPr/>
          <p:nvPr/>
        </p:nvSpPr>
        <p:spPr>
          <a:xfrm>
            <a:off x="1152358" y="5433272"/>
            <a:ext cx="3238997" cy="422511"/>
          </a:xfrm>
          <a:prstGeom prst="roundRect">
            <a:avLst>
              <a:gd fmla="val 7143" name="adj"/>
            </a:avLst>
          </a:prstGeom>
          <a:solidFill>
            <a:srgbClr val="2644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Calibri"/>
              <a:buNone/>
            </a:pPr>
            <a:r>
              <a:rPr b="0" i="0" lang="es-AR" sz="1400" u="none" cap="none" strike="noStrike">
                <a:solidFill>
                  <a:schemeClr val="lt1"/>
                </a:solidFill>
                <a:latin typeface="Calibri"/>
                <a:ea typeface="Calibri"/>
                <a:cs typeface="Calibri"/>
                <a:sym typeface="Calibri"/>
              </a:rPr>
              <a:t>Mejor remuneración recibida primer semestre $30.000</a:t>
            </a:r>
            <a:endParaRPr b="0" i="0" sz="1400" u="none" cap="none" strike="noStrike">
              <a:solidFill>
                <a:schemeClr val="lt1"/>
              </a:solidFill>
              <a:latin typeface="Twentieth Century"/>
              <a:ea typeface="Twentieth Century"/>
              <a:cs typeface="Twentieth Century"/>
              <a:sym typeface="Twentieth Century"/>
            </a:endParaRPr>
          </a:p>
        </p:txBody>
      </p:sp>
      <p:sp>
        <p:nvSpPr>
          <p:cNvPr id="622" name="Google Shape;622;p21"/>
          <p:cNvSpPr txBox="1"/>
          <p:nvPr/>
        </p:nvSpPr>
        <p:spPr>
          <a:xfrm>
            <a:off x="357122" y="1937952"/>
            <a:ext cx="8418387" cy="1754286"/>
          </a:xfrm>
          <a:prstGeom prst="rect">
            <a:avLst/>
          </a:prstGeom>
          <a:gradFill>
            <a:gsLst>
              <a:gs pos="0">
                <a:srgbClr val="377E4B"/>
              </a:gs>
              <a:gs pos="100000">
                <a:srgbClr val="5BA56C"/>
              </a:gs>
            </a:gsLst>
            <a:path path="circle">
              <a:fillToRect b="50%" l="50%" r="50%" t="50%"/>
            </a:path>
            <a:tileRect/>
          </a:gradFill>
          <a:ln cap="flat" cmpd="sng" w="9525">
            <a:solidFill>
              <a:schemeClr val="accent5"/>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Es la doceava parte del total de las remuneraciones percibidas.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Se abona en </a:t>
            </a:r>
            <a:r>
              <a:rPr b="1" i="0" lang="es-AR" sz="1800" u="none" cap="none" strike="noStrike">
                <a:solidFill>
                  <a:schemeClr val="lt1"/>
                </a:solidFill>
                <a:latin typeface="Calibri"/>
                <a:ea typeface="Calibri"/>
                <a:cs typeface="Calibri"/>
                <a:sym typeface="Calibri"/>
              </a:rPr>
              <a:t>dos cuotas</a:t>
            </a:r>
            <a:r>
              <a:rPr b="0" i="0" lang="es-AR" sz="1800" u="none" cap="none" strike="noStrike">
                <a:solidFill>
                  <a:schemeClr val="lt1"/>
                </a:solidFill>
                <a:latin typeface="Calibri"/>
                <a:ea typeface="Calibri"/>
                <a:cs typeface="Calibri"/>
                <a:sym typeface="Calibri"/>
              </a:rPr>
              <a:t>: La primera de ellas el 30/06 y la segunda 18/12 de cada año. </a:t>
            </a:r>
            <a:endParaRPr b="0" i="0" sz="1800" u="none" cap="none" strike="noStrike">
              <a:solidFill>
                <a:schemeClr val="lt1"/>
              </a:solidFill>
              <a:latin typeface="Twentieth Century"/>
              <a:ea typeface="Twentieth Century"/>
              <a:cs typeface="Twentieth Century"/>
              <a:sym typeface="Twentieth Century"/>
            </a:endParaRPr>
          </a:p>
          <a:p>
            <a:pPr indent="0" lvl="0" marL="0" marR="0" rtl="0" algn="l">
              <a:lnSpc>
                <a:spcPct val="12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Si la estimación realizada a esa fecha del SAC no coincidiera con el salario devengado, se debe recalcular la cuota del SAC.</a:t>
            </a:r>
            <a:endParaRPr b="0" i="0" sz="1800" u="none" cap="none" strike="noStrike">
              <a:solidFill>
                <a:schemeClr val="lt1"/>
              </a:solidFill>
              <a:latin typeface="Twentieth Century"/>
              <a:ea typeface="Twentieth Century"/>
              <a:cs typeface="Twentieth Century"/>
              <a:sym typeface="Twentieth Century"/>
            </a:endParaRPr>
          </a:p>
          <a:p>
            <a:pPr indent="0" lvl="0" marL="0" marR="0" rtl="0" algn="l">
              <a:lnSpc>
                <a:spcPct val="12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Según Ley  27073 – Modifica Art 122</a:t>
            </a:r>
            <a:endParaRPr b="0" i="0" sz="1800" u="none" cap="none" strike="noStrike">
              <a:solidFill>
                <a:schemeClr val="lt1"/>
              </a:solidFill>
              <a:latin typeface="Twentieth Century"/>
              <a:ea typeface="Twentieth Century"/>
              <a:cs typeface="Twentieth Century"/>
              <a:sym typeface="Twentieth Century"/>
            </a:endParaRPr>
          </a:p>
        </p:txBody>
      </p:sp>
      <p:pic>
        <p:nvPicPr>
          <p:cNvPr descr="Image result for utn frba" id="623" name="Google Shape;623;p21"/>
          <p:cNvPicPr preferRelativeResize="0"/>
          <p:nvPr/>
        </p:nvPicPr>
        <p:blipFill rotWithShape="1">
          <a:blip r:embed="rId4">
            <a:alphaModFix/>
          </a:blip>
          <a:srcRect b="0" l="0" r="0" t="0"/>
          <a:stretch/>
        </p:blipFill>
        <p:spPr>
          <a:xfrm>
            <a:off x="6465194" y="64395"/>
            <a:ext cx="2611323" cy="952745"/>
          </a:xfrm>
          <a:prstGeom prst="rect">
            <a:avLst/>
          </a:prstGeom>
          <a:noFill/>
          <a:ln>
            <a:noFill/>
          </a:ln>
        </p:spPr>
      </p:pic>
      <p:sp>
        <p:nvSpPr>
          <p:cNvPr id="624" name="Google Shape;624;p21"/>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625" name="Google Shape;625;p21"/>
          <p:cNvSpPr/>
          <p:nvPr/>
        </p:nvSpPr>
        <p:spPr>
          <a:xfrm>
            <a:off x="327351" y="1300783"/>
            <a:ext cx="8448157" cy="341107"/>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 Sueldo Anual Complementario (SAC) o Aguinaldo</a:t>
            </a:r>
            <a:endParaRPr b="1" i="0" sz="1600" u="none" cap="none" strike="noStrike">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descr="Image result for utn frba" id="630" name="Google Shape;630;p78"/>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631" name="Google Shape;631;p78"/>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632" name="Google Shape;632;p78"/>
          <p:cNvSpPr/>
          <p:nvPr/>
        </p:nvSpPr>
        <p:spPr>
          <a:xfrm>
            <a:off x="357122" y="1445694"/>
            <a:ext cx="8541016" cy="383106"/>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Ejemplos de liquidación de SAC</a:t>
            </a:r>
            <a:endParaRPr b="1" i="0" sz="1600" u="none" cap="none" strike="noStrike">
              <a:solidFill>
                <a:schemeClr val="lt1"/>
              </a:solidFill>
              <a:latin typeface="Arial"/>
              <a:ea typeface="Arial"/>
              <a:cs typeface="Arial"/>
              <a:sym typeface="Arial"/>
            </a:endParaRPr>
          </a:p>
        </p:txBody>
      </p:sp>
      <p:sp>
        <p:nvSpPr>
          <p:cNvPr id="633" name="Google Shape;633;p78"/>
          <p:cNvSpPr txBox="1"/>
          <p:nvPr/>
        </p:nvSpPr>
        <p:spPr>
          <a:xfrm>
            <a:off x="357122" y="2116104"/>
            <a:ext cx="8675153" cy="38164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Trabajador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Antigüedad: 2 años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Sueldos del 1º semestres: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chemeClr val="dk1"/>
                </a:solidFill>
                <a:latin typeface="Arial Narrow"/>
                <a:ea typeface="Arial Narrow"/>
                <a:cs typeface="Arial Narrow"/>
                <a:sym typeface="Arial Narrow"/>
              </a:rPr>
              <a:t>Mejor Sueldo bruto mensual: $44.000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634" name="Google Shape;634;p78"/>
          <p:cNvPicPr preferRelativeResize="0"/>
          <p:nvPr/>
        </p:nvPicPr>
        <p:blipFill rotWithShape="1">
          <a:blip r:embed="rId4">
            <a:alphaModFix/>
          </a:blip>
          <a:srcRect b="0" l="0" r="0" t="0"/>
          <a:stretch/>
        </p:blipFill>
        <p:spPr>
          <a:xfrm>
            <a:off x="568324" y="3045387"/>
            <a:ext cx="1652361" cy="1338622"/>
          </a:xfrm>
          <a:prstGeom prst="rect">
            <a:avLst/>
          </a:prstGeom>
          <a:noFill/>
          <a:ln>
            <a:noFill/>
          </a:ln>
        </p:spPr>
      </p:pic>
      <p:sp>
        <p:nvSpPr>
          <p:cNvPr id="635" name="Google Shape;635;p78"/>
          <p:cNvSpPr txBox="1"/>
          <p:nvPr/>
        </p:nvSpPr>
        <p:spPr>
          <a:xfrm>
            <a:off x="3424816" y="3041834"/>
            <a:ext cx="5473322" cy="1231106"/>
          </a:xfrm>
          <a:prstGeom prst="rect">
            <a:avLst/>
          </a:prstGeom>
          <a:solidFill>
            <a:schemeClr val="lt1"/>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MEJOR SUELDO BRUTO   = </a:t>
            </a:r>
            <a:r>
              <a:rPr b="1" i="0" lang="es-AR" sz="2000" u="none" cap="none" strike="noStrike">
                <a:solidFill>
                  <a:schemeClr val="dk1"/>
                </a:solidFill>
                <a:latin typeface="Twentieth Century"/>
                <a:ea typeface="Twentieth Century"/>
                <a:cs typeface="Twentieth Century"/>
                <a:sym typeface="Twentieth Century"/>
              </a:rPr>
              <a:t>SAC</a:t>
            </a:r>
            <a:r>
              <a:rPr b="0" i="0" lang="es-AR" sz="1800" u="none" cap="none" strike="noStrike">
                <a:solidFill>
                  <a:schemeClr val="dk1"/>
                </a:solidFill>
                <a:latin typeface="Twentieth Century"/>
                <a:ea typeface="Twentieth Century"/>
                <a:cs typeface="Twentieth Century"/>
                <a:sym typeface="Twentieth Century"/>
              </a:rPr>
              <a:t> (completo corresponde 						a 180 días del semestre)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636" name="Google Shape;636;p78"/>
          <p:cNvCxnSpPr/>
          <p:nvPr/>
        </p:nvCxnSpPr>
        <p:spPr>
          <a:xfrm>
            <a:off x="3472934" y="3556000"/>
            <a:ext cx="2351314" cy="0"/>
          </a:xfrm>
          <a:prstGeom prst="straightConnector1">
            <a:avLst/>
          </a:prstGeom>
          <a:noFill/>
          <a:ln cap="flat" cmpd="sng" w="9525">
            <a:solidFill>
              <a:srgbClr val="FF0000"/>
            </a:solidFill>
            <a:prstDash val="solid"/>
            <a:round/>
            <a:headEnd len="sm" w="sm" type="none"/>
            <a:tailEnd len="sm" w="sm" type="none"/>
          </a:ln>
        </p:spPr>
      </p:cxnSp>
      <p:sp>
        <p:nvSpPr>
          <p:cNvPr id="637" name="Google Shape;637;p78"/>
          <p:cNvSpPr txBox="1"/>
          <p:nvPr/>
        </p:nvSpPr>
        <p:spPr>
          <a:xfrm>
            <a:off x="4760192" y="4759803"/>
            <a:ext cx="3055787" cy="1231106"/>
          </a:xfrm>
          <a:prstGeom prst="rect">
            <a:avLst/>
          </a:prstGeom>
          <a:solidFill>
            <a:schemeClr val="lt1"/>
          </a:solidFill>
          <a:ln cap="flat" cmpd="sng" w="1587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$44.000   = </a:t>
            </a:r>
            <a:r>
              <a:rPr b="1" i="0" lang="es-AR" sz="2000" u="none" cap="none" strike="noStrike">
                <a:solidFill>
                  <a:schemeClr val="dk1"/>
                </a:solidFill>
                <a:latin typeface="Twentieth Century"/>
                <a:ea typeface="Twentieth Century"/>
                <a:cs typeface="Twentieth Century"/>
                <a:sym typeface="Twentieth Century"/>
              </a:rPr>
              <a:t>$22.000</a:t>
            </a:r>
            <a:r>
              <a:rPr b="0" i="0" lang="es-AR" sz="18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638" name="Google Shape;638;p78"/>
          <p:cNvCxnSpPr/>
          <p:nvPr/>
        </p:nvCxnSpPr>
        <p:spPr>
          <a:xfrm>
            <a:off x="5026682" y="5240217"/>
            <a:ext cx="1219200" cy="0"/>
          </a:xfrm>
          <a:prstGeom prst="straightConnector1">
            <a:avLst/>
          </a:prstGeom>
          <a:noFill/>
          <a:ln cap="flat" cmpd="sng" w="9525">
            <a:solidFill>
              <a:schemeClr val="accent1"/>
            </a:solidFill>
            <a:prstDash val="solid"/>
            <a:round/>
            <a:headEnd len="sm" w="sm" type="none"/>
            <a:tailEnd len="sm" w="sm" type="none"/>
          </a:ln>
        </p:spPr>
      </p:cxnSp>
      <p:sp>
        <p:nvSpPr>
          <p:cNvPr id="639" name="Google Shape;639;p78"/>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Sueldo Anual Complementario</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9"/>
          <p:cNvSpPr txBox="1"/>
          <p:nvPr/>
        </p:nvSpPr>
        <p:spPr>
          <a:xfrm>
            <a:off x="523279" y="4161134"/>
            <a:ext cx="8359962" cy="2102395"/>
          </a:xfrm>
          <a:prstGeom prst="rect">
            <a:avLst/>
          </a:prstGeom>
          <a:solidFill>
            <a:schemeClr val="lt1"/>
          </a:solidFill>
          <a:ln cap="flat" cmpd="sng" w="1587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45" name="Google Shape;645;p79"/>
          <p:cNvSpPr txBox="1"/>
          <p:nvPr/>
        </p:nvSpPr>
        <p:spPr>
          <a:xfrm>
            <a:off x="541216" y="2828856"/>
            <a:ext cx="8360100" cy="1200600"/>
          </a:xfrm>
          <a:prstGeom prst="rect">
            <a:avLst/>
          </a:prstGeom>
          <a:solidFill>
            <a:schemeClr val="lt1"/>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MEJOR SUELDO %2  *   CANTIDAD DE </a:t>
            </a:r>
            <a:r>
              <a:rPr lang="es-AR" sz="1800">
                <a:solidFill>
                  <a:schemeClr val="dk1"/>
                </a:solidFill>
                <a:latin typeface="Twentieth Century"/>
                <a:ea typeface="Twentieth Century"/>
                <a:cs typeface="Twentieth Century"/>
                <a:sym typeface="Twentieth Century"/>
              </a:rPr>
              <a:t>DÍAS</a:t>
            </a:r>
            <a:r>
              <a:rPr b="0" i="0" lang="es-AR" sz="1800" u="none" cap="none" strike="noStrike">
                <a:solidFill>
                  <a:schemeClr val="dk1"/>
                </a:solidFill>
                <a:latin typeface="Twentieth Century"/>
                <a:ea typeface="Twentieth Century"/>
                <a:cs typeface="Twentieth Century"/>
                <a:sym typeface="Twentieth Century"/>
              </a:rPr>
              <a:t> TRABAJADOS = </a:t>
            </a:r>
            <a:r>
              <a:rPr b="1" i="0" lang="es-AR" sz="1800" u="none" cap="none" strike="noStrike">
                <a:solidFill>
                  <a:schemeClr val="dk1"/>
                </a:solidFill>
                <a:latin typeface="Twentieth Century"/>
                <a:ea typeface="Twentieth Century"/>
                <a:cs typeface="Twentieth Century"/>
                <a:sym typeface="Twentieth Century"/>
              </a:rPr>
              <a:t>SAC PROPORCIONAL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180  </a:t>
            </a:r>
            <a:r>
              <a:rPr b="0" i="0" lang="es-AR" sz="1400" u="none" cap="none" strike="noStrike">
                <a:solidFill>
                  <a:schemeClr val="dk1"/>
                </a:solidFill>
                <a:latin typeface="Twentieth Century"/>
                <a:ea typeface="Twentieth Century"/>
                <a:cs typeface="Twentieth Century"/>
                <a:sym typeface="Twentieth Century"/>
              </a:rPr>
              <a:t>(SEMESTRE COMPLETO)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646" name="Google Shape;646;p79"/>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647" name="Google Shape;647;p79"/>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cxnSp>
        <p:nvCxnSpPr>
          <p:cNvPr id="648" name="Google Shape;648;p79"/>
          <p:cNvCxnSpPr/>
          <p:nvPr/>
        </p:nvCxnSpPr>
        <p:spPr>
          <a:xfrm>
            <a:off x="541216" y="3289266"/>
            <a:ext cx="2225430" cy="0"/>
          </a:xfrm>
          <a:prstGeom prst="straightConnector1">
            <a:avLst/>
          </a:prstGeom>
          <a:noFill/>
          <a:ln cap="flat" cmpd="sng" w="9525">
            <a:solidFill>
              <a:srgbClr val="FF0000"/>
            </a:solidFill>
            <a:prstDash val="solid"/>
            <a:round/>
            <a:headEnd len="sm" w="sm" type="none"/>
            <a:tailEnd len="sm" w="sm" type="none"/>
          </a:ln>
        </p:spPr>
      </p:cxnSp>
      <p:sp>
        <p:nvSpPr>
          <p:cNvPr id="649" name="Google Shape;649;p79"/>
          <p:cNvSpPr txBox="1"/>
          <p:nvPr/>
        </p:nvSpPr>
        <p:spPr>
          <a:xfrm>
            <a:off x="579550" y="4455801"/>
            <a:ext cx="7082972" cy="14157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 $115,27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Twentieth Century"/>
                <a:ea typeface="Twentieth Century"/>
                <a:cs typeface="Twentieth Century"/>
                <a:sym typeface="Twentieth Century"/>
              </a:rPr>
              <a:t>             180</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rPr b="1" i="0" lang="es-AR" sz="1800" u="none" cap="none" strike="noStrike">
                <a:solidFill>
                  <a:schemeClr val="dk1"/>
                </a:solidFill>
                <a:latin typeface="Twentieth Century"/>
                <a:ea typeface="Twentieth Century"/>
                <a:cs typeface="Twentieth Century"/>
                <a:sym typeface="Twentieth Century"/>
              </a:rPr>
              <a:t>SAC PROPORCIONAL </a:t>
            </a:r>
            <a:r>
              <a:rPr b="0" i="0" lang="es-AR" sz="1800" u="none" cap="none" strike="noStrike">
                <a:solidFill>
                  <a:schemeClr val="dk1"/>
                </a:solidFill>
                <a:latin typeface="Twentieth Century"/>
                <a:ea typeface="Twentieth Century"/>
                <a:cs typeface="Twentieth Century"/>
                <a:sym typeface="Twentieth Century"/>
              </a:rPr>
              <a:t>= $115.27 * 120 DÍAS TRABAJADOS = </a:t>
            </a:r>
            <a:r>
              <a:rPr b="1" i="0" lang="es-AR" sz="1800" u="none" cap="none" strike="noStrike">
                <a:solidFill>
                  <a:schemeClr val="dk1"/>
                </a:solidFill>
                <a:latin typeface="Twentieth Century"/>
                <a:ea typeface="Twentieth Century"/>
                <a:cs typeface="Twentieth Century"/>
                <a:sym typeface="Twentieth Century"/>
              </a:rPr>
              <a:t>$13.832</a:t>
            </a:r>
            <a:endParaRPr b="0" i="0" sz="1400" u="none" cap="none" strike="noStrike">
              <a:solidFill>
                <a:srgbClr val="000000"/>
              </a:solidFill>
              <a:latin typeface="Arial"/>
              <a:ea typeface="Arial"/>
              <a:cs typeface="Arial"/>
              <a:sym typeface="Arial"/>
            </a:endParaRPr>
          </a:p>
        </p:txBody>
      </p:sp>
      <p:cxnSp>
        <p:nvCxnSpPr>
          <p:cNvPr id="650" name="Google Shape;650;p79"/>
          <p:cNvCxnSpPr/>
          <p:nvPr/>
        </p:nvCxnSpPr>
        <p:spPr>
          <a:xfrm>
            <a:off x="598659" y="4891983"/>
            <a:ext cx="2467429" cy="0"/>
          </a:xfrm>
          <a:prstGeom prst="straightConnector1">
            <a:avLst/>
          </a:prstGeom>
          <a:noFill/>
          <a:ln cap="flat" cmpd="sng" w="9525">
            <a:solidFill>
              <a:schemeClr val="accent1"/>
            </a:solidFill>
            <a:prstDash val="solid"/>
            <a:round/>
            <a:headEnd len="sm" w="sm" type="none"/>
            <a:tailEnd len="sm" w="sm" type="none"/>
          </a:ln>
        </p:spPr>
      </p:cxnSp>
      <p:sp>
        <p:nvSpPr>
          <p:cNvPr id="651" name="Google Shape;651;p79"/>
          <p:cNvSpPr txBox="1"/>
          <p:nvPr/>
        </p:nvSpPr>
        <p:spPr>
          <a:xfrm>
            <a:off x="260758" y="1664150"/>
            <a:ext cx="8640421"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AR" sz="1800" u="none" cap="none" strike="noStrike">
                <a:solidFill>
                  <a:schemeClr val="dk1"/>
                </a:solidFill>
                <a:latin typeface="Calibri"/>
                <a:ea typeface="Calibri"/>
                <a:cs typeface="Calibri"/>
                <a:sym typeface="Calibri"/>
              </a:rPr>
              <a:t>En el caso que la persona no trabaje todo el semestre, se deberá sacar el </a:t>
            </a:r>
            <a:r>
              <a:rPr b="1" i="0" lang="es-AR" sz="1800" u="none" cap="none" strike="noStrike">
                <a:solidFill>
                  <a:schemeClr val="dk1"/>
                </a:solidFill>
                <a:latin typeface="Calibri"/>
                <a:ea typeface="Calibri"/>
                <a:cs typeface="Calibri"/>
                <a:sym typeface="Calibri"/>
              </a:rPr>
              <a:t>SAC proporcional</a:t>
            </a:r>
            <a:r>
              <a:rPr b="0" i="0" lang="es-AR" sz="1800" u="none" cap="none" strike="noStrike">
                <a:solidFill>
                  <a:schemeClr val="dk1"/>
                </a:solidFill>
                <a:latin typeface="Calibri"/>
                <a:ea typeface="Calibri"/>
                <a:cs typeface="Calibri"/>
                <a:sym typeface="Calibri"/>
              </a:rPr>
              <a:t>, en el ejemplo  anterior para calcular el SAC PROPORCIONAL al 30/04 mejor sueldo bruto fue el de </a:t>
            </a:r>
            <a:r>
              <a:rPr b="1" i="0" lang="es-AR" sz="1800" u="none" cap="none" strike="noStrike">
                <a:solidFill>
                  <a:schemeClr val="dk1"/>
                </a:solidFill>
                <a:latin typeface="Calibri"/>
                <a:ea typeface="Calibri"/>
                <a:cs typeface="Calibri"/>
                <a:sym typeface="Calibri"/>
              </a:rPr>
              <a:t>febrero $41.500</a:t>
            </a:r>
            <a:endParaRPr b="0" i="0" sz="1600" u="none" cap="none" strike="noStrike">
              <a:solidFill>
                <a:srgbClr val="000000"/>
              </a:solidFill>
              <a:latin typeface="Arial"/>
              <a:ea typeface="Arial"/>
              <a:cs typeface="Arial"/>
              <a:sym typeface="Arial"/>
            </a:endParaRPr>
          </a:p>
        </p:txBody>
      </p:sp>
      <p:sp>
        <p:nvSpPr>
          <p:cNvPr id="652" name="Google Shape;652;p79"/>
          <p:cNvSpPr/>
          <p:nvPr/>
        </p:nvSpPr>
        <p:spPr>
          <a:xfrm>
            <a:off x="511865" y="1262813"/>
            <a:ext cx="8371375" cy="361231"/>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Ejemplos de liquidación de SAC proporcional</a:t>
            </a:r>
            <a:endParaRPr b="1" i="0" sz="1600" u="none" cap="none" strike="noStrike">
              <a:solidFill>
                <a:schemeClr val="lt1"/>
              </a:solidFill>
              <a:latin typeface="Arial"/>
              <a:ea typeface="Arial"/>
              <a:cs typeface="Arial"/>
              <a:sym typeface="Arial"/>
            </a:endParaRPr>
          </a:p>
        </p:txBody>
      </p:sp>
      <p:sp>
        <p:nvSpPr>
          <p:cNvPr id="653" name="Google Shape;653;p79"/>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Sueldo Anual Complementario</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descr="Image result for utn frba" id="658" name="Google Shape;658;p80"/>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659" name="Google Shape;659;p80"/>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660" name="Google Shape;660;p80"/>
          <p:cNvSpPr txBox="1"/>
          <p:nvPr/>
        </p:nvSpPr>
        <p:spPr>
          <a:xfrm>
            <a:off x="337624" y="1762120"/>
            <a:ext cx="8412481" cy="46474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Char char="❑"/>
            </a:pPr>
            <a:r>
              <a:rPr b="1" i="0" lang="es-AR" sz="1600" u="none" cap="none" strike="noStrike">
                <a:solidFill>
                  <a:schemeClr val="dk1"/>
                </a:solidFill>
                <a:latin typeface="Calibri"/>
                <a:ea typeface="Calibri"/>
                <a:cs typeface="Calibri"/>
                <a:sym typeface="Calibri"/>
              </a:rPr>
              <a:t>SAC SOBRE VACACIONES NO GOZADAS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Cuando el contrato se extingue por cualquier causa -despido, </a:t>
            </a:r>
            <a:r>
              <a:rPr b="1" i="0" lang="es-AR" sz="1600" u="none" cap="none" strike="noStrike">
                <a:solidFill>
                  <a:schemeClr val="dk1"/>
                </a:solidFill>
                <a:latin typeface="Calibri"/>
                <a:ea typeface="Calibri"/>
                <a:cs typeface="Calibri"/>
                <a:sym typeface="Calibri"/>
              </a:rPr>
              <a:t>renuncia</a:t>
            </a:r>
            <a:r>
              <a:rPr b="0" i="0" lang="es-AR" sz="1600" u="none" cap="none" strike="noStrike">
                <a:solidFill>
                  <a:schemeClr val="dk1"/>
                </a:solidFill>
                <a:latin typeface="Calibri"/>
                <a:ea typeface="Calibri"/>
                <a:cs typeface="Calibri"/>
                <a:sym typeface="Calibri"/>
              </a:rPr>
              <a:t>, abandono, u otros- además de la formalidad de notificar por escrito, se debe liquidar el sueldo del mes, el sueldo anual complementario (</a:t>
            </a:r>
            <a:r>
              <a:rPr b="1" i="0" lang="es-AR" sz="1600" u="none" cap="none" strike="noStrike">
                <a:solidFill>
                  <a:schemeClr val="dk1"/>
                </a:solidFill>
                <a:latin typeface="Calibri"/>
                <a:ea typeface="Calibri"/>
                <a:cs typeface="Calibri"/>
                <a:sym typeface="Calibri"/>
              </a:rPr>
              <a:t>SAC</a:t>
            </a:r>
            <a:r>
              <a:rPr b="0" i="0" lang="es-AR" sz="1600" u="none" cap="none" strike="noStrike">
                <a:solidFill>
                  <a:schemeClr val="dk1"/>
                </a:solidFill>
                <a:latin typeface="Calibri"/>
                <a:ea typeface="Calibri"/>
                <a:cs typeface="Calibri"/>
                <a:sym typeface="Calibri"/>
              </a:rPr>
              <a:t>) proporcional, los días que correspondan por </a:t>
            </a:r>
            <a:r>
              <a:rPr b="1" i="0" lang="es-AR" sz="1600" u="none" cap="none" strike="noStrike">
                <a:solidFill>
                  <a:schemeClr val="dk1"/>
                </a:solidFill>
                <a:latin typeface="Calibri"/>
                <a:ea typeface="Calibri"/>
                <a:cs typeface="Calibri"/>
                <a:sym typeface="Calibri"/>
              </a:rPr>
              <a:t>vacaciones no gozadas</a:t>
            </a:r>
            <a:r>
              <a:rPr b="0" i="0" lang="es-AR" sz="1600" u="none" cap="none" strike="noStrike">
                <a:solidFill>
                  <a:schemeClr val="dk1"/>
                </a:solidFill>
                <a:latin typeface="Calibri"/>
                <a:ea typeface="Calibri"/>
                <a:cs typeface="Calibri"/>
                <a:sym typeface="Calibri"/>
              </a:rPr>
              <a:t>, más el </a:t>
            </a:r>
            <a:r>
              <a:rPr b="1" i="0" lang="es-AR" sz="1600" u="none" cap="none" strike="noStrike">
                <a:solidFill>
                  <a:schemeClr val="dk1"/>
                </a:solidFill>
                <a:latin typeface="Calibri"/>
                <a:ea typeface="Calibri"/>
                <a:cs typeface="Calibri"/>
                <a:sym typeface="Calibri"/>
              </a:rPr>
              <a:t>SAC</a:t>
            </a:r>
            <a:r>
              <a:rPr b="0" i="0" lang="es-AR" sz="1600" u="none" cap="none" strike="noStrike">
                <a:solidFill>
                  <a:schemeClr val="dk1"/>
                </a:solidFill>
                <a:latin typeface="Calibri"/>
                <a:ea typeface="Calibri"/>
                <a:cs typeface="Calibri"/>
                <a:sym typeface="Calibri"/>
              </a:rPr>
              <a:t> de </a:t>
            </a:r>
            <a:r>
              <a:rPr b="1" i="0" lang="es-AR" sz="1600" u="none" cap="none" strike="noStrike">
                <a:solidFill>
                  <a:schemeClr val="dk1"/>
                </a:solidFill>
                <a:latin typeface="Calibri"/>
                <a:ea typeface="Calibri"/>
                <a:cs typeface="Calibri"/>
                <a:sym typeface="Calibri"/>
              </a:rPr>
              <a:t>vacaciones no gozadas.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0070C0"/>
                </a:solidFill>
                <a:latin typeface="Calibri"/>
                <a:ea typeface="Calibri"/>
                <a:cs typeface="Calibri"/>
                <a:sym typeface="Calibri"/>
              </a:rPr>
              <a:t>VACACIONES NO GOZADAS /12 = SAC SOBRE VACACIONES NO GOZADAS</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Char char="❑"/>
            </a:pPr>
            <a:r>
              <a:rPr b="1" i="0" lang="es-AR" sz="1600" u="none" cap="none" strike="noStrike">
                <a:solidFill>
                  <a:schemeClr val="dk1"/>
                </a:solidFill>
                <a:latin typeface="Calibri"/>
                <a:ea typeface="Calibri"/>
                <a:cs typeface="Calibri"/>
                <a:sym typeface="Calibri"/>
              </a:rPr>
              <a:t>SAC PREAVISO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chemeClr val="dk1"/>
                </a:solidFill>
                <a:latin typeface="Calibri"/>
                <a:ea typeface="Calibri"/>
                <a:cs typeface="Calibri"/>
                <a:sym typeface="Calibri"/>
              </a:rPr>
              <a:t>El </a:t>
            </a:r>
            <a:r>
              <a:rPr b="1" i="0" lang="es-AR" sz="1600" u="none" cap="none" strike="noStrike">
                <a:solidFill>
                  <a:schemeClr val="dk1"/>
                </a:solidFill>
                <a:latin typeface="Calibri"/>
                <a:ea typeface="Calibri"/>
                <a:cs typeface="Calibri"/>
                <a:sym typeface="Calibri"/>
              </a:rPr>
              <a:t>SAC sobre preaviso</a:t>
            </a:r>
            <a:r>
              <a:rPr b="0" i="0" lang="es-AR" sz="1600" u="none" cap="none" strike="noStrike">
                <a:solidFill>
                  <a:schemeClr val="dk1"/>
                </a:solidFill>
                <a:latin typeface="Calibri"/>
                <a:ea typeface="Calibri"/>
                <a:cs typeface="Calibri"/>
                <a:sym typeface="Calibri"/>
              </a:rPr>
              <a:t> consiste en </a:t>
            </a:r>
            <a:r>
              <a:rPr b="1" i="0" lang="es-AR" sz="1600" u="none" cap="none" strike="noStrike">
                <a:solidFill>
                  <a:schemeClr val="dk1"/>
                </a:solidFill>
                <a:latin typeface="Calibri"/>
                <a:ea typeface="Calibri"/>
                <a:cs typeface="Calibri"/>
                <a:sym typeface="Calibri"/>
              </a:rPr>
              <a:t>calcular</a:t>
            </a:r>
            <a:r>
              <a:rPr b="0" i="0" lang="es-AR" sz="1600" u="none" cap="none" strike="noStrike">
                <a:solidFill>
                  <a:schemeClr val="dk1"/>
                </a:solidFill>
                <a:latin typeface="Calibri"/>
                <a:ea typeface="Calibri"/>
                <a:cs typeface="Calibri"/>
                <a:sym typeface="Calibri"/>
              </a:rPr>
              <a:t> el Salario Anual Complementario </a:t>
            </a:r>
            <a:r>
              <a:rPr b="1" i="0" lang="es-AR" sz="1600" u="none" cap="none" strike="noStrike">
                <a:solidFill>
                  <a:schemeClr val="dk1"/>
                </a:solidFill>
                <a:latin typeface="Calibri"/>
                <a:ea typeface="Calibri"/>
                <a:cs typeface="Calibri"/>
                <a:sym typeface="Calibri"/>
              </a:rPr>
              <a:t>sobre </a:t>
            </a:r>
            <a:r>
              <a:rPr b="0" i="0" lang="es-AR" sz="1600" u="none" cap="none" strike="noStrike">
                <a:solidFill>
                  <a:schemeClr val="dk1"/>
                </a:solidFill>
                <a:latin typeface="Calibri"/>
                <a:ea typeface="Calibri"/>
                <a:cs typeface="Calibri"/>
                <a:sym typeface="Calibri"/>
              </a:rPr>
              <a:t>el monto de la indemnización anterior y </a:t>
            </a:r>
            <a:r>
              <a:rPr b="1" i="0" lang="es-AR" sz="1600" u="none" cap="none" strike="noStrike">
                <a:solidFill>
                  <a:schemeClr val="dk1"/>
                </a:solidFill>
                <a:latin typeface="Calibri"/>
                <a:ea typeface="Calibri"/>
                <a:cs typeface="Calibri"/>
                <a:sym typeface="Calibri"/>
              </a:rPr>
              <a:t>se calcula</a:t>
            </a:r>
            <a:r>
              <a:rPr b="0" i="0" lang="es-AR" sz="1600" u="none" cap="none" strike="noStrike">
                <a:solidFill>
                  <a:schemeClr val="dk1"/>
                </a:solidFill>
                <a:latin typeface="Calibri"/>
                <a:ea typeface="Calibri"/>
                <a:cs typeface="Calibri"/>
                <a:sym typeface="Calibri"/>
              </a:rPr>
              <a:t> de la siguiente manera: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1" i="0" lang="es-AR" sz="1800" u="none" cap="none" strike="noStrike">
                <a:solidFill>
                  <a:srgbClr val="0070C0"/>
                </a:solidFill>
                <a:latin typeface="Calibri"/>
                <a:ea typeface="Calibri"/>
                <a:cs typeface="Calibri"/>
                <a:sym typeface="Calibri"/>
              </a:rPr>
              <a:t>Indemnización por Falta de Preaviso </a:t>
            </a:r>
            <a:r>
              <a:rPr b="0" i="0" lang="es-AR" sz="1800" u="none" cap="none" strike="noStrike">
                <a:solidFill>
                  <a:srgbClr val="0070C0"/>
                </a:solidFill>
                <a:latin typeface="Calibri"/>
                <a:ea typeface="Calibri"/>
                <a:cs typeface="Calibri"/>
                <a:sym typeface="Calibri"/>
              </a:rPr>
              <a:t>/ 12 = </a:t>
            </a:r>
            <a:r>
              <a:rPr b="1" i="0" lang="es-AR" sz="1800" u="none" cap="none" strike="noStrike">
                <a:solidFill>
                  <a:srgbClr val="0070C0"/>
                </a:solidFill>
                <a:latin typeface="Calibri"/>
                <a:ea typeface="Calibri"/>
                <a:cs typeface="Calibri"/>
                <a:sym typeface="Calibri"/>
              </a:rPr>
              <a:t>SAC sobre Preaviso</a:t>
            </a:r>
            <a:r>
              <a:rPr b="0" i="0" lang="es-AR" sz="1800" u="none" cap="none" strike="noStrike">
                <a:solidFill>
                  <a:srgbClr val="0070C0"/>
                </a:solidFill>
                <a:latin typeface="Calibri"/>
                <a:ea typeface="Calibri"/>
                <a:cs typeface="Calibri"/>
                <a:sym typeface="Calibri"/>
              </a:rPr>
              <a:t>.</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61" name="Google Shape;661;p80"/>
          <p:cNvSpPr/>
          <p:nvPr/>
        </p:nvSpPr>
        <p:spPr>
          <a:xfrm>
            <a:off x="328986" y="1276882"/>
            <a:ext cx="8601653" cy="364992"/>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Conceptos de SAC para liquidaciones finales</a:t>
            </a:r>
            <a:endParaRPr b="1" i="0" sz="1600" u="none" cap="none" strike="noStrike">
              <a:solidFill>
                <a:schemeClr val="lt1"/>
              </a:solidFill>
              <a:latin typeface="Arial"/>
              <a:ea typeface="Arial"/>
              <a:cs typeface="Arial"/>
              <a:sym typeface="Arial"/>
            </a:endParaRPr>
          </a:p>
        </p:txBody>
      </p:sp>
      <p:sp>
        <p:nvSpPr>
          <p:cNvPr id="662" name="Google Shape;662;p80"/>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Sueldo Anual Complementario</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Sueldo Anual Complementario</a:t>
            </a:r>
            <a:endParaRPr b="0" i="0" sz="1800" u="none" cap="none" strike="noStrike">
              <a:solidFill>
                <a:schemeClr val="dk1"/>
              </a:solidFill>
              <a:latin typeface="Arial"/>
              <a:ea typeface="Arial"/>
              <a:cs typeface="Arial"/>
              <a:sym typeface="Arial"/>
            </a:endParaRPr>
          </a:p>
        </p:txBody>
      </p:sp>
      <p:pic>
        <p:nvPicPr>
          <p:cNvPr descr="Image result for utn frba" id="668" name="Google Shape;668;p6"/>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669" name="Google Shape;669;p6"/>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670" name="Google Shape;670;p6"/>
          <p:cNvSpPr txBox="1"/>
          <p:nvPr/>
        </p:nvSpPr>
        <p:spPr>
          <a:xfrm>
            <a:off x="1228169" y="2707273"/>
            <a:ext cx="6705600" cy="2462700"/>
          </a:xfrm>
          <a:prstGeom prst="rect">
            <a:avLst/>
          </a:prstGeom>
          <a:noFill/>
          <a:ln cap="flat" cmpd="sng" w="76200">
            <a:solidFill>
              <a:srgbClr val="FFC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i="0" lang="es-AR" sz="2800" u="none" cap="none" strike="noStrike">
                <a:solidFill>
                  <a:schemeClr val="dk1"/>
                </a:solidFill>
                <a:latin typeface="Arial"/>
                <a:ea typeface="Arial"/>
                <a:cs typeface="Arial"/>
                <a:sym typeface="Arial"/>
              </a:rPr>
              <a:t>PREGUNTA DE </a:t>
            </a:r>
            <a:r>
              <a:rPr lang="es-AR" sz="2800">
                <a:solidFill>
                  <a:schemeClr val="dk1"/>
                </a:solidFill>
              </a:rPr>
              <a:t>REFLEXIÓN</a:t>
            </a:r>
            <a:r>
              <a:rPr b="0" i="0" lang="es-AR" sz="2800" u="none" cap="none" strike="noStrike">
                <a:solidFill>
                  <a:schemeClr val="dk1"/>
                </a:solidFill>
                <a:latin typeface="Arial"/>
                <a:ea typeface="Arial"/>
                <a:cs typeface="Arial"/>
                <a:sym typeface="Arial"/>
              </a:rPr>
              <a:t>: ¿ES UN</a:t>
            </a:r>
            <a:endParaRPr/>
          </a:p>
          <a:p>
            <a:pPr indent="0" lvl="0" marL="0" marR="0" rtl="0" algn="ctr">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i="0" lang="es-AR" sz="2800" u="none" cap="none" strike="noStrike">
                <a:solidFill>
                  <a:schemeClr val="dk1"/>
                </a:solidFill>
                <a:latin typeface="Arial"/>
                <a:ea typeface="Arial"/>
                <a:cs typeface="Arial"/>
                <a:sym typeface="Arial"/>
              </a:rPr>
              <a:t> DERECHO o UNA ESTAFA </a:t>
            </a:r>
            <a:endParaRPr/>
          </a:p>
          <a:p>
            <a:pPr indent="0" lvl="0" marL="0" marR="0" rtl="0" algn="ctr">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i="0" lang="es-AR" sz="2800" u="none" cap="none" strike="noStrike">
                <a:solidFill>
                  <a:schemeClr val="dk1"/>
                </a:solidFill>
                <a:latin typeface="Arial"/>
                <a:ea typeface="Arial"/>
                <a:cs typeface="Arial"/>
                <a:sym typeface="Arial"/>
              </a:rPr>
              <a:t>FINANCIERA?</a:t>
            </a:r>
            <a:endParaRPr b="0" i="0" sz="2800" u="none" cap="none" strike="noStrike">
              <a:solidFill>
                <a:schemeClr val="dk1"/>
              </a:solidFill>
              <a:latin typeface="Arial"/>
              <a:ea typeface="Arial"/>
              <a:cs typeface="Arial"/>
              <a:sym typeface="Arial"/>
            </a:endParaRPr>
          </a:p>
        </p:txBody>
      </p:sp>
      <p:pic>
        <p:nvPicPr>
          <p:cNvPr id="671" name="Google Shape;671;p6"/>
          <p:cNvPicPr preferRelativeResize="0"/>
          <p:nvPr/>
        </p:nvPicPr>
        <p:blipFill rotWithShape="1">
          <a:blip r:embed="rId4">
            <a:alphaModFix/>
          </a:blip>
          <a:srcRect b="0" l="0" r="0" t="0"/>
          <a:stretch/>
        </p:blipFill>
        <p:spPr>
          <a:xfrm>
            <a:off x="7770855" y="5713447"/>
            <a:ext cx="992914" cy="90480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grpSp>
        <p:nvGrpSpPr>
          <p:cNvPr id="677" name="Google Shape;677;p25"/>
          <p:cNvGrpSpPr/>
          <p:nvPr/>
        </p:nvGrpSpPr>
        <p:grpSpPr>
          <a:xfrm>
            <a:off x="259613" y="1814821"/>
            <a:ext cx="8046188" cy="3322721"/>
            <a:chOff x="0" y="100480"/>
            <a:chExt cx="8598929" cy="4206600"/>
          </a:xfrm>
        </p:grpSpPr>
        <p:sp>
          <p:nvSpPr>
            <p:cNvPr id="678" name="Google Shape;678;p25"/>
            <p:cNvSpPr/>
            <p:nvPr/>
          </p:nvSpPr>
          <p:spPr>
            <a:xfrm>
              <a:off x="0" y="380920"/>
              <a:ext cx="8598929" cy="478800"/>
            </a:xfrm>
            <a:prstGeom prst="rect">
              <a:avLst/>
            </a:prstGeom>
            <a:solidFill>
              <a:schemeClr val="lt1">
                <a:alpha val="89019"/>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79" name="Google Shape;679;p25"/>
            <p:cNvSpPr/>
            <p:nvPr/>
          </p:nvSpPr>
          <p:spPr>
            <a:xfrm>
              <a:off x="429946" y="100480"/>
              <a:ext cx="6019250" cy="560880"/>
            </a:xfrm>
            <a:prstGeom prst="roundRect">
              <a:avLst>
                <a:gd fmla="val 16667" name="adj"/>
              </a:avLst>
            </a:prstGeom>
            <a:solidFill>
              <a:srgbClr val="4372C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0" name="Google Shape;680;p25"/>
            <p:cNvSpPr txBox="1"/>
            <p:nvPr/>
          </p:nvSpPr>
          <p:spPr>
            <a:xfrm>
              <a:off x="457326" y="127860"/>
              <a:ext cx="5964490" cy="506120"/>
            </a:xfrm>
            <a:prstGeom prst="rect">
              <a:avLst/>
            </a:prstGeom>
            <a:solidFill>
              <a:srgbClr val="7DC491"/>
            </a:solidFill>
            <a:ln>
              <a:noFill/>
            </a:ln>
          </p:spPr>
          <p:txBody>
            <a:bodyPr anchorCtr="0" anchor="ctr" bIns="0" lIns="227500" spcFirstLastPara="1" rIns="227500" wrap="square" tIns="0">
              <a:noAutofit/>
            </a:bodyPr>
            <a:lstStyle/>
            <a:p>
              <a:pPr indent="0" lvl="0" marL="0" marR="0" rtl="0" algn="l">
                <a:lnSpc>
                  <a:spcPct val="90000"/>
                </a:lnSpc>
                <a:spcBef>
                  <a:spcPts val="0"/>
                </a:spcBef>
                <a:spcAft>
                  <a:spcPts val="0"/>
                </a:spcAft>
                <a:buClr>
                  <a:schemeClr val="dk1"/>
                </a:buClr>
                <a:buSzPts val="1600"/>
                <a:buFont typeface="Calibri"/>
                <a:buNone/>
              </a:pPr>
              <a:r>
                <a:rPr b="1" i="0" lang="es-AR" sz="1600" u="none" cap="none" strike="noStrike">
                  <a:solidFill>
                    <a:schemeClr val="dk1"/>
                  </a:solidFill>
                  <a:latin typeface="Calibri"/>
                  <a:ea typeface="Calibri"/>
                  <a:cs typeface="Calibri"/>
                  <a:sym typeface="Calibri"/>
                </a:rPr>
                <a:t>Nacimiento de hijo/a: 2 días corridos</a:t>
              </a:r>
              <a:endParaRPr b="0" i="0" sz="1800" u="none" cap="none" strike="noStrike">
                <a:solidFill>
                  <a:schemeClr val="dk1"/>
                </a:solidFill>
                <a:latin typeface="Twentieth Century"/>
                <a:ea typeface="Twentieth Century"/>
                <a:cs typeface="Twentieth Century"/>
                <a:sym typeface="Twentieth Century"/>
              </a:endParaRPr>
            </a:p>
          </p:txBody>
        </p:sp>
        <p:sp>
          <p:nvSpPr>
            <p:cNvPr id="681" name="Google Shape;681;p25"/>
            <p:cNvSpPr/>
            <p:nvPr/>
          </p:nvSpPr>
          <p:spPr>
            <a:xfrm>
              <a:off x="0" y="1242760"/>
              <a:ext cx="8598929" cy="478800"/>
            </a:xfrm>
            <a:prstGeom prst="rect">
              <a:avLst/>
            </a:prstGeom>
            <a:solidFill>
              <a:schemeClr val="lt1">
                <a:alpha val="89019"/>
              </a:schemeClr>
            </a:solidFill>
            <a:ln cap="flat" cmpd="sng" w="12700">
              <a:solidFill>
                <a:srgbClr val="43AEBD"/>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2" name="Google Shape;682;p25"/>
            <p:cNvSpPr/>
            <p:nvPr/>
          </p:nvSpPr>
          <p:spPr>
            <a:xfrm>
              <a:off x="429946" y="962320"/>
              <a:ext cx="6019250" cy="560880"/>
            </a:xfrm>
            <a:prstGeom prst="roundRect">
              <a:avLst>
                <a:gd fmla="val 16667" name="adj"/>
              </a:avLst>
            </a:prstGeom>
            <a:solidFill>
              <a:srgbClr val="43AEBD"/>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3" name="Google Shape;683;p25"/>
            <p:cNvSpPr txBox="1"/>
            <p:nvPr/>
          </p:nvSpPr>
          <p:spPr>
            <a:xfrm>
              <a:off x="457326" y="989700"/>
              <a:ext cx="5964490" cy="506120"/>
            </a:xfrm>
            <a:prstGeom prst="rect">
              <a:avLst/>
            </a:prstGeom>
            <a:solidFill>
              <a:srgbClr val="7DC491"/>
            </a:solidFill>
            <a:ln>
              <a:noFill/>
            </a:ln>
          </p:spPr>
          <p:txBody>
            <a:bodyPr anchorCtr="0" anchor="ctr" bIns="0" lIns="227500" spcFirstLastPara="1" rIns="227500" wrap="square" tIns="0">
              <a:noAutofit/>
            </a:bodyPr>
            <a:lstStyle/>
            <a:p>
              <a:pPr indent="0" lvl="0" marL="0" marR="0" rtl="0" algn="l">
                <a:lnSpc>
                  <a:spcPct val="90000"/>
                </a:lnSpc>
                <a:spcBef>
                  <a:spcPts val="0"/>
                </a:spcBef>
                <a:spcAft>
                  <a:spcPts val="0"/>
                </a:spcAft>
                <a:buClr>
                  <a:schemeClr val="dk1"/>
                </a:buClr>
                <a:buSzPts val="1600"/>
                <a:buFont typeface="Calibri"/>
                <a:buNone/>
              </a:pPr>
              <a:r>
                <a:rPr b="1" i="0" lang="es-AR" sz="1600" u="none" cap="none" strike="noStrike">
                  <a:solidFill>
                    <a:schemeClr val="dk1"/>
                  </a:solidFill>
                  <a:latin typeface="Calibri"/>
                  <a:ea typeface="Calibri"/>
                  <a:cs typeface="Calibri"/>
                  <a:sym typeface="Calibri"/>
                </a:rPr>
                <a:t>Examen en enseñanza media universitaria: 2 días corridos – 10 días por año calendario</a:t>
              </a:r>
              <a:endParaRPr b="1" i="0" sz="1800" u="none" cap="none" strike="noStrike">
                <a:solidFill>
                  <a:schemeClr val="dk1"/>
                </a:solidFill>
                <a:latin typeface="Twentieth Century"/>
                <a:ea typeface="Twentieth Century"/>
                <a:cs typeface="Twentieth Century"/>
                <a:sym typeface="Twentieth Century"/>
              </a:endParaRPr>
            </a:p>
          </p:txBody>
        </p:sp>
        <p:sp>
          <p:nvSpPr>
            <p:cNvPr id="684" name="Google Shape;684;p25"/>
            <p:cNvSpPr/>
            <p:nvPr/>
          </p:nvSpPr>
          <p:spPr>
            <a:xfrm>
              <a:off x="0" y="2104600"/>
              <a:ext cx="8598929" cy="478800"/>
            </a:xfrm>
            <a:prstGeom prst="rect">
              <a:avLst/>
            </a:prstGeom>
            <a:solidFill>
              <a:schemeClr val="lt1">
                <a:alpha val="89019"/>
              </a:schemeClr>
            </a:solidFill>
            <a:ln cap="flat" cmpd="sng" w="12700">
              <a:solidFill>
                <a:srgbClr val="44B78C"/>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5" name="Google Shape;685;p25"/>
            <p:cNvSpPr/>
            <p:nvPr/>
          </p:nvSpPr>
          <p:spPr>
            <a:xfrm>
              <a:off x="429946" y="1824160"/>
              <a:ext cx="6019250" cy="560880"/>
            </a:xfrm>
            <a:prstGeom prst="roundRect">
              <a:avLst>
                <a:gd fmla="val 16667" name="adj"/>
              </a:avLst>
            </a:prstGeom>
            <a:solidFill>
              <a:srgbClr val="44B78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6" name="Google Shape;686;p25"/>
            <p:cNvSpPr txBox="1"/>
            <p:nvPr/>
          </p:nvSpPr>
          <p:spPr>
            <a:xfrm>
              <a:off x="457326" y="1851540"/>
              <a:ext cx="5964490" cy="506120"/>
            </a:xfrm>
            <a:prstGeom prst="rect">
              <a:avLst/>
            </a:prstGeom>
            <a:solidFill>
              <a:srgbClr val="7DC491"/>
            </a:solidFill>
            <a:ln>
              <a:noFill/>
            </a:ln>
          </p:spPr>
          <p:txBody>
            <a:bodyPr anchorCtr="0" anchor="ctr" bIns="0" lIns="227500" spcFirstLastPara="1" rIns="227500" wrap="square" tIns="0">
              <a:noAutofit/>
            </a:bodyPr>
            <a:lstStyle/>
            <a:p>
              <a:pPr indent="0" lvl="0" marL="0" marR="0" rtl="0" algn="l">
                <a:lnSpc>
                  <a:spcPct val="90000"/>
                </a:lnSpc>
                <a:spcBef>
                  <a:spcPts val="0"/>
                </a:spcBef>
                <a:spcAft>
                  <a:spcPts val="0"/>
                </a:spcAft>
                <a:buClr>
                  <a:schemeClr val="dk1"/>
                </a:buClr>
                <a:buSzPts val="1600"/>
                <a:buFont typeface="Calibri"/>
                <a:buNone/>
              </a:pPr>
              <a:r>
                <a:rPr b="1" i="0" lang="es-AR" sz="1600" u="none" cap="none" strike="noStrike">
                  <a:solidFill>
                    <a:schemeClr val="dk1"/>
                  </a:solidFill>
                  <a:latin typeface="Calibri"/>
                  <a:ea typeface="Calibri"/>
                  <a:cs typeface="Calibri"/>
                  <a:sym typeface="Calibri"/>
                </a:rPr>
                <a:t>Fallecimiento de hermano/a: 1 día</a:t>
              </a:r>
              <a:endParaRPr b="0" i="0" sz="1800" u="none" cap="none" strike="noStrike">
                <a:solidFill>
                  <a:schemeClr val="dk1"/>
                </a:solidFill>
                <a:latin typeface="Twentieth Century"/>
                <a:ea typeface="Twentieth Century"/>
                <a:cs typeface="Twentieth Century"/>
                <a:sym typeface="Twentieth Century"/>
              </a:endParaRPr>
            </a:p>
          </p:txBody>
        </p:sp>
        <p:sp>
          <p:nvSpPr>
            <p:cNvPr id="687" name="Google Shape;687;p25"/>
            <p:cNvSpPr/>
            <p:nvPr/>
          </p:nvSpPr>
          <p:spPr>
            <a:xfrm>
              <a:off x="0" y="2966440"/>
              <a:ext cx="8598929" cy="478800"/>
            </a:xfrm>
            <a:prstGeom prst="rect">
              <a:avLst/>
            </a:prstGeom>
            <a:solidFill>
              <a:schemeClr val="lt1">
                <a:alpha val="89019"/>
              </a:schemeClr>
            </a:solidFill>
            <a:ln cap="flat" cmpd="sng" w="12700">
              <a:solidFill>
                <a:srgbClr val="45B15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8" name="Google Shape;688;p25"/>
            <p:cNvSpPr/>
            <p:nvPr/>
          </p:nvSpPr>
          <p:spPr>
            <a:xfrm>
              <a:off x="429946" y="2686000"/>
              <a:ext cx="6019250" cy="560880"/>
            </a:xfrm>
            <a:prstGeom prst="roundRect">
              <a:avLst>
                <a:gd fmla="val 16667" name="adj"/>
              </a:avLst>
            </a:prstGeom>
            <a:solidFill>
              <a:srgbClr val="45B150"/>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89" name="Google Shape;689;p25"/>
            <p:cNvSpPr txBox="1"/>
            <p:nvPr/>
          </p:nvSpPr>
          <p:spPr>
            <a:xfrm>
              <a:off x="457326" y="2713380"/>
              <a:ext cx="5964490" cy="506120"/>
            </a:xfrm>
            <a:prstGeom prst="rect">
              <a:avLst/>
            </a:prstGeom>
            <a:solidFill>
              <a:srgbClr val="7DC491"/>
            </a:solidFill>
            <a:ln>
              <a:noFill/>
            </a:ln>
          </p:spPr>
          <p:txBody>
            <a:bodyPr anchorCtr="0" anchor="ctr" bIns="0" lIns="227500" spcFirstLastPara="1" rIns="227500" wrap="square" tIns="0">
              <a:noAutofit/>
            </a:bodyPr>
            <a:lstStyle/>
            <a:p>
              <a:pPr indent="0" lvl="0" marL="0" marR="0" rtl="0" algn="l">
                <a:lnSpc>
                  <a:spcPct val="90000"/>
                </a:lnSpc>
                <a:spcBef>
                  <a:spcPts val="0"/>
                </a:spcBef>
                <a:spcAft>
                  <a:spcPts val="0"/>
                </a:spcAft>
                <a:buClr>
                  <a:schemeClr val="dk1"/>
                </a:buClr>
                <a:buSzPts val="1600"/>
                <a:buFont typeface="Calibri"/>
                <a:buNone/>
              </a:pPr>
              <a:r>
                <a:rPr b="1" i="0" lang="es-AR" sz="1600" u="none" cap="none" strike="noStrike">
                  <a:solidFill>
                    <a:schemeClr val="dk1"/>
                  </a:solidFill>
                  <a:latin typeface="Calibri"/>
                  <a:ea typeface="Calibri"/>
                  <a:cs typeface="Calibri"/>
                  <a:sym typeface="Calibri"/>
                </a:rPr>
                <a:t>Fallecimiento de cónyuge, hijo o padres: 3 días corridos</a:t>
              </a:r>
              <a:endParaRPr b="0" i="0" sz="1800" u="none" cap="none" strike="noStrike">
                <a:solidFill>
                  <a:schemeClr val="dk1"/>
                </a:solidFill>
                <a:latin typeface="Twentieth Century"/>
                <a:ea typeface="Twentieth Century"/>
                <a:cs typeface="Twentieth Century"/>
                <a:sym typeface="Twentieth Century"/>
              </a:endParaRPr>
            </a:p>
          </p:txBody>
        </p:sp>
        <p:sp>
          <p:nvSpPr>
            <p:cNvPr id="690" name="Google Shape;690;p25"/>
            <p:cNvSpPr/>
            <p:nvPr/>
          </p:nvSpPr>
          <p:spPr>
            <a:xfrm>
              <a:off x="0" y="3828280"/>
              <a:ext cx="8598929" cy="478800"/>
            </a:xfrm>
            <a:prstGeom prst="rect">
              <a:avLst/>
            </a:prstGeom>
            <a:solidFill>
              <a:schemeClr val="lt1">
                <a:alpha val="89019"/>
              </a:schemeClr>
            </a:solidFill>
            <a:ln cap="flat" cmpd="sng" w="12700">
              <a:solidFill>
                <a:srgbClr val="6FAA47"/>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91" name="Google Shape;691;p25"/>
            <p:cNvSpPr/>
            <p:nvPr/>
          </p:nvSpPr>
          <p:spPr>
            <a:xfrm>
              <a:off x="429946" y="3547840"/>
              <a:ext cx="6019250" cy="560880"/>
            </a:xfrm>
            <a:prstGeom prst="roundRect">
              <a:avLst>
                <a:gd fmla="val 16667" name="adj"/>
              </a:avLst>
            </a:prstGeom>
            <a:solidFill>
              <a:srgbClr val="6FAA47"/>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92" name="Google Shape;692;p25"/>
            <p:cNvSpPr txBox="1"/>
            <p:nvPr/>
          </p:nvSpPr>
          <p:spPr>
            <a:xfrm>
              <a:off x="457326" y="3575220"/>
              <a:ext cx="5964490" cy="506120"/>
            </a:xfrm>
            <a:prstGeom prst="rect">
              <a:avLst/>
            </a:prstGeom>
            <a:solidFill>
              <a:srgbClr val="7DC491"/>
            </a:solidFill>
            <a:ln>
              <a:noFill/>
            </a:ln>
          </p:spPr>
          <p:txBody>
            <a:bodyPr anchorCtr="0" anchor="ctr" bIns="0" lIns="227500" spcFirstLastPara="1" rIns="227500" wrap="square" tIns="0">
              <a:noAutofit/>
            </a:bodyPr>
            <a:lstStyle/>
            <a:p>
              <a:pPr indent="0" lvl="0" marL="0" marR="0" rtl="0" algn="l">
                <a:lnSpc>
                  <a:spcPct val="90000"/>
                </a:lnSpc>
                <a:spcBef>
                  <a:spcPts val="0"/>
                </a:spcBef>
                <a:spcAft>
                  <a:spcPts val="0"/>
                </a:spcAft>
                <a:buClr>
                  <a:schemeClr val="dk1"/>
                </a:buClr>
                <a:buSzPts val="1600"/>
                <a:buFont typeface="Calibri"/>
                <a:buNone/>
              </a:pPr>
              <a:r>
                <a:rPr b="1" i="0" lang="es-AR" sz="1600" u="none" cap="none" strike="noStrike">
                  <a:solidFill>
                    <a:schemeClr val="dk1"/>
                  </a:solidFill>
                  <a:latin typeface="Calibri"/>
                  <a:ea typeface="Calibri"/>
                  <a:cs typeface="Calibri"/>
                  <a:sym typeface="Calibri"/>
                </a:rPr>
                <a:t>Licencia de Matrimonio: 10 días corridos</a:t>
              </a:r>
              <a:endParaRPr b="0" i="0" sz="1800" u="none" cap="none" strike="noStrike">
                <a:solidFill>
                  <a:schemeClr val="dk1"/>
                </a:solidFill>
                <a:latin typeface="Twentieth Century"/>
                <a:ea typeface="Twentieth Century"/>
                <a:cs typeface="Twentieth Century"/>
                <a:sym typeface="Twentieth Century"/>
              </a:endParaRPr>
            </a:p>
          </p:txBody>
        </p:sp>
      </p:grpSp>
      <p:sp>
        <p:nvSpPr>
          <p:cNvPr id="693" name="Google Shape;693;p25"/>
          <p:cNvSpPr/>
          <p:nvPr/>
        </p:nvSpPr>
        <p:spPr>
          <a:xfrm>
            <a:off x="259613" y="5423059"/>
            <a:ext cx="4556228" cy="1191101"/>
          </a:xfrm>
          <a:prstGeom prst="flowChartAlternateProcess">
            <a:avLst/>
          </a:prstGeom>
          <a:solidFill>
            <a:schemeClr val="accent2"/>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Todas estas licencias deben ser remuneradas de igual manera que los días de vacaciones. </a:t>
            </a:r>
            <a:endParaRPr b="0" i="0" sz="1800" u="none" cap="none" strike="noStrike">
              <a:solidFill>
                <a:schemeClr val="dk1"/>
              </a:solidFill>
              <a:latin typeface="Twentieth Century"/>
              <a:ea typeface="Twentieth Century"/>
              <a:cs typeface="Twentieth Century"/>
              <a:sym typeface="Twentieth Century"/>
            </a:endParaRPr>
          </a:p>
        </p:txBody>
      </p:sp>
      <p:sp>
        <p:nvSpPr>
          <p:cNvPr id="694" name="Google Shape;694;p25"/>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Licencias Especiales</a:t>
            </a:r>
            <a:endParaRPr b="0" i="0" sz="1800" u="none" cap="none" strike="noStrike">
              <a:solidFill>
                <a:schemeClr val="dk1"/>
              </a:solidFill>
              <a:latin typeface="Twentieth Century"/>
              <a:ea typeface="Twentieth Century"/>
              <a:cs typeface="Twentieth Century"/>
              <a:sym typeface="Twentieth Century"/>
            </a:endParaRPr>
          </a:p>
        </p:txBody>
      </p:sp>
      <p:sp>
        <p:nvSpPr>
          <p:cNvPr id="695" name="Google Shape;695;p25"/>
          <p:cNvSpPr/>
          <p:nvPr/>
        </p:nvSpPr>
        <p:spPr>
          <a:xfrm>
            <a:off x="580570" y="1271860"/>
            <a:ext cx="8303817" cy="378196"/>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Licencias Especiales (Art.158 LCT)</a:t>
            </a:r>
            <a:endParaRPr b="1" i="0" sz="1600" u="none" cap="none" strike="noStrike">
              <a:solidFill>
                <a:schemeClr val="lt1"/>
              </a:solidFill>
              <a:latin typeface="Arial"/>
              <a:ea typeface="Arial"/>
              <a:cs typeface="Arial"/>
              <a:sym typeface="Arial"/>
            </a:endParaRPr>
          </a:p>
        </p:txBody>
      </p:sp>
      <p:sp>
        <p:nvSpPr>
          <p:cNvPr id="696" name="Google Shape;696;p25"/>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697" name="Google Shape;697;p25"/>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698" name="Google Shape;698;p25"/>
          <p:cNvSpPr/>
          <p:nvPr/>
        </p:nvSpPr>
        <p:spPr>
          <a:xfrm>
            <a:off x="4984013" y="5459387"/>
            <a:ext cx="3900374" cy="1191101"/>
          </a:xfrm>
          <a:prstGeom prst="flowChartAlternateProcess">
            <a:avLst/>
          </a:prstGeom>
          <a:solidFill>
            <a:srgbClr val="76CEEF"/>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alibri"/>
              <a:buNone/>
            </a:pPr>
            <a:r>
              <a:rPr b="0" i="0" lang="es-AR" sz="1800" u="none" cap="none" strike="noStrike">
                <a:solidFill>
                  <a:schemeClr val="dk1"/>
                </a:solidFill>
                <a:latin typeface="Twentieth Century"/>
                <a:ea typeface="Twentieth Century"/>
                <a:cs typeface="Twentieth Century"/>
                <a:sym typeface="Twentieth Century"/>
              </a:rPr>
              <a:t>LOS CCT, en su mayoría, mejoran esta situación definida por la ley.</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pic>
        <p:nvPicPr>
          <p:cNvPr id="704" name="Google Shape;704;p81"/>
          <p:cNvPicPr preferRelativeResize="0"/>
          <p:nvPr/>
        </p:nvPicPr>
        <p:blipFill rotWithShape="1">
          <a:blip r:embed="rId3">
            <a:alphaModFix/>
          </a:blip>
          <a:srcRect b="0" l="0" r="0" t="0"/>
          <a:stretch/>
        </p:blipFill>
        <p:spPr>
          <a:xfrm rot="-3452152">
            <a:off x="2502682" y="3042576"/>
            <a:ext cx="1384341" cy="1384341"/>
          </a:xfrm>
          <a:prstGeom prst="rect">
            <a:avLst/>
          </a:prstGeom>
          <a:noFill/>
          <a:ln>
            <a:noFill/>
          </a:ln>
        </p:spPr>
      </p:pic>
      <p:sp>
        <p:nvSpPr>
          <p:cNvPr id="705" name="Google Shape;705;p81"/>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706" name="Google Shape;706;p81"/>
          <p:cNvPicPr preferRelativeResize="0"/>
          <p:nvPr/>
        </p:nvPicPr>
        <p:blipFill rotWithShape="1">
          <a:blip r:embed="rId4">
            <a:alphaModFix/>
          </a:blip>
          <a:srcRect b="0" l="0" r="0" t="0"/>
          <a:stretch/>
        </p:blipFill>
        <p:spPr>
          <a:xfrm>
            <a:off x="6465194" y="64395"/>
            <a:ext cx="2611323" cy="952745"/>
          </a:xfrm>
          <a:prstGeom prst="rect">
            <a:avLst/>
          </a:prstGeom>
          <a:noFill/>
          <a:ln>
            <a:noFill/>
          </a:ln>
        </p:spPr>
      </p:pic>
      <p:sp>
        <p:nvSpPr>
          <p:cNvPr id="707" name="Google Shape;707;p81"/>
          <p:cNvSpPr/>
          <p:nvPr/>
        </p:nvSpPr>
        <p:spPr>
          <a:xfrm>
            <a:off x="480681" y="1336866"/>
            <a:ext cx="8403705" cy="363475"/>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Maternidad (Art.177 LCT)</a:t>
            </a:r>
            <a:endParaRPr b="1" i="0" sz="1600" u="none" cap="none" strike="noStrike">
              <a:solidFill>
                <a:schemeClr val="lt1"/>
              </a:solidFill>
              <a:latin typeface="Arial"/>
              <a:ea typeface="Arial"/>
              <a:cs typeface="Arial"/>
              <a:sym typeface="Arial"/>
            </a:endParaRPr>
          </a:p>
        </p:txBody>
      </p:sp>
      <p:sp>
        <p:nvSpPr>
          <p:cNvPr id="708" name="Google Shape;708;p81"/>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Maternidad</a:t>
            </a:r>
            <a:endParaRPr b="0" i="0" sz="1800" u="none" cap="none" strike="noStrike">
              <a:solidFill>
                <a:schemeClr val="dk1"/>
              </a:solidFill>
              <a:latin typeface="Twentieth Century"/>
              <a:ea typeface="Twentieth Century"/>
              <a:cs typeface="Twentieth Century"/>
              <a:sym typeface="Twentieth Century"/>
            </a:endParaRPr>
          </a:p>
        </p:txBody>
      </p:sp>
      <p:pic>
        <p:nvPicPr>
          <p:cNvPr id="709" name="Google Shape;709;p81"/>
          <p:cNvPicPr preferRelativeResize="0"/>
          <p:nvPr/>
        </p:nvPicPr>
        <p:blipFill rotWithShape="1">
          <a:blip r:embed="rId5">
            <a:alphaModFix/>
          </a:blip>
          <a:srcRect b="0" l="0" r="0" t="0"/>
          <a:stretch/>
        </p:blipFill>
        <p:spPr>
          <a:xfrm>
            <a:off x="495946" y="1860043"/>
            <a:ext cx="2486025" cy="1838325"/>
          </a:xfrm>
          <a:prstGeom prst="ellipse">
            <a:avLst/>
          </a:prstGeom>
          <a:noFill/>
          <a:ln>
            <a:noFill/>
          </a:ln>
        </p:spPr>
      </p:pic>
      <p:sp>
        <p:nvSpPr>
          <p:cNvPr id="710" name="Google Shape;710;p81"/>
          <p:cNvSpPr txBox="1"/>
          <p:nvPr/>
        </p:nvSpPr>
        <p:spPr>
          <a:xfrm>
            <a:off x="3286293" y="2096003"/>
            <a:ext cx="5067945" cy="1200329"/>
          </a:xfrm>
          <a:prstGeom prst="rect">
            <a:avLst/>
          </a:prstGeom>
          <a:solidFill>
            <a:srgbClr val="FFC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AR" sz="2400" u="none" cap="none" strike="noStrike">
                <a:solidFill>
                  <a:schemeClr val="dk1"/>
                </a:solidFill>
                <a:latin typeface="Twentieth Century"/>
                <a:ea typeface="Twentieth Century"/>
                <a:cs typeface="Twentieth Century"/>
                <a:sym typeface="Twentieth Century"/>
              </a:rPr>
              <a:t>La ley garantiza a la mujer el derecho a la estabilidad en el empleo durante la gestación, a partir de la concepción.</a:t>
            </a:r>
            <a:endParaRPr b="0" i="0" sz="1400" u="none" cap="none" strike="noStrike">
              <a:solidFill>
                <a:srgbClr val="000000"/>
              </a:solidFill>
              <a:latin typeface="Arial"/>
              <a:ea typeface="Arial"/>
              <a:cs typeface="Arial"/>
              <a:sym typeface="Arial"/>
            </a:endParaRPr>
          </a:p>
        </p:txBody>
      </p:sp>
      <p:sp>
        <p:nvSpPr>
          <p:cNvPr id="711" name="Google Shape;711;p81"/>
          <p:cNvSpPr/>
          <p:nvPr/>
        </p:nvSpPr>
        <p:spPr>
          <a:xfrm>
            <a:off x="104504" y="4582941"/>
            <a:ext cx="5174216" cy="1582909"/>
          </a:xfrm>
          <a:prstGeom prst="roundRect">
            <a:avLst>
              <a:gd fmla="val 16667" name="adj"/>
            </a:avLst>
          </a:prstGeom>
          <a:solidFill>
            <a:schemeClr val="accent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Twentieth Century"/>
                <a:ea typeface="Twentieth Century"/>
                <a:cs typeface="Twentieth Century"/>
                <a:sym typeface="Twentieth Century"/>
              </a:rPr>
              <a:t>La trabajadora tiene la obligación de comunicar fehacientemente su embarazo al empleador (por telegrama o nota firmada por quien recibe) y debe presentar el certificado médico en el que conste la fecha presunta de parto.</a:t>
            </a:r>
            <a:endParaRPr b="0" i="0" sz="1400" u="none" cap="none" strike="noStrike">
              <a:solidFill>
                <a:srgbClr val="000000"/>
              </a:solidFill>
              <a:latin typeface="Arial"/>
              <a:ea typeface="Arial"/>
              <a:cs typeface="Arial"/>
              <a:sym typeface="Arial"/>
            </a:endParaRPr>
          </a:p>
        </p:txBody>
      </p:sp>
      <p:pic>
        <p:nvPicPr>
          <p:cNvPr id="712" name="Google Shape;712;p81"/>
          <p:cNvPicPr preferRelativeResize="0"/>
          <p:nvPr/>
        </p:nvPicPr>
        <p:blipFill rotWithShape="1">
          <a:blip r:embed="rId6">
            <a:alphaModFix/>
          </a:blip>
          <a:srcRect b="0" l="0" r="0" t="0"/>
          <a:stretch/>
        </p:blipFill>
        <p:spPr>
          <a:xfrm>
            <a:off x="5820265" y="3573521"/>
            <a:ext cx="2724150" cy="1676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grpSp>
        <p:nvGrpSpPr>
          <p:cNvPr id="718" name="Google Shape;718;p27"/>
          <p:cNvGrpSpPr/>
          <p:nvPr/>
        </p:nvGrpSpPr>
        <p:grpSpPr>
          <a:xfrm>
            <a:off x="106708" y="1875744"/>
            <a:ext cx="4510668" cy="1506972"/>
            <a:chOff x="2204" y="778464"/>
            <a:chExt cx="4510668" cy="1506972"/>
          </a:xfrm>
        </p:grpSpPr>
        <p:sp>
          <p:nvSpPr>
            <p:cNvPr id="719" name="Google Shape;719;p27"/>
            <p:cNvSpPr/>
            <p:nvPr/>
          </p:nvSpPr>
          <p:spPr>
            <a:xfrm>
              <a:off x="2052508" y="1531950"/>
              <a:ext cx="410060" cy="440815"/>
            </a:xfrm>
            <a:custGeom>
              <a:rect b="b" l="l" r="r" t="t"/>
              <a:pathLst>
                <a:path extrusionOk="0" h="120000" w="120000">
                  <a:moveTo>
                    <a:pt x="0" y="0"/>
                  </a:moveTo>
                  <a:lnTo>
                    <a:pt x="60000" y="0"/>
                  </a:lnTo>
                  <a:lnTo>
                    <a:pt x="60000" y="120000"/>
                  </a:lnTo>
                  <a:lnTo>
                    <a:pt x="120000" y="120000"/>
                  </a:lnTo>
                </a:path>
              </a:pathLst>
            </a:custGeom>
            <a:noFill/>
            <a:ln cap="flat" cmpd="sng" w="12700">
              <a:solidFill>
                <a:srgbClr val="BA6124"/>
              </a:solidFill>
              <a:prstDash val="solid"/>
              <a:miter lim="800000"/>
              <a:headEnd len="sm" w="sm" type="none"/>
              <a:tailEnd len="sm" w="sm" type="none"/>
            </a:ln>
          </p:spPr>
        </p:sp>
        <p:sp>
          <p:nvSpPr>
            <p:cNvPr id="720" name="Google Shape;720;p27"/>
            <p:cNvSpPr/>
            <p:nvPr/>
          </p:nvSpPr>
          <p:spPr>
            <a:xfrm>
              <a:off x="2052508" y="1091135"/>
              <a:ext cx="410060" cy="440815"/>
            </a:xfrm>
            <a:custGeom>
              <a:rect b="b" l="l" r="r" t="t"/>
              <a:pathLst>
                <a:path extrusionOk="0" h="120000" w="120000">
                  <a:moveTo>
                    <a:pt x="0" y="120000"/>
                  </a:moveTo>
                  <a:lnTo>
                    <a:pt x="60000" y="120000"/>
                  </a:lnTo>
                  <a:lnTo>
                    <a:pt x="60000" y="0"/>
                  </a:lnTo>
                  <a:lnTo>
                    <a:pt x="120000" y="0"/>
                  </a:lnTo>
                </a:path>
              </a:pathLst>
            </a:custGeom>
            <a:noFill/>
            <a:ln cap="flat" cmpd="sng" w="12700">
              <a:solidFill>
                <a:srgbClr val="BA6124"/>
              </a:solidFill>
              <a:prstDash val="solid"/>
              <a:miter lim="800000"/>
              <a:headEnd len="sm" w="sm" type="none"/>
              <a:tailEnd len="sm" w="sm" type="none"/>
            </a:ln>
          </p:spPr>
        </p:sp>
        <p:sp>
          <p:nvSpPr>
            <p:cNvPr id="721" name="Google Shape;721;p27"/>
            <p:cNvSpPr/>
            <p:nvPr/>
          </p:nvSpPr>
          <p:spPr>
            <a:xfrm>
              <a:off x="2204" y="1219279"/>
              <a:ext cx="2050303" cy="625342"/>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22" name="Google Shape;722;p27"/>
            <p:cNvSpPr txBox="1"/>
            <p:nvPr/>
          </p:nvSpPr>
          <p:spPr>
            <a:xfrm>
              <a:off x="2204" y="1219279"/>
              <a:ext cx="2050303" cy="625342"/>
            </a:xfrm>
            <a:prstGeom prst="rect">
              <a:avLst/>
            </a:prstGeom>
            <a:solidFill>
              <a:srgbClr val="9966FF"/>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Notificación del Embarazo</a:t>
              </a:r>
              <a:endParaRPr b="0" i="0" sz="1800" u="none" cap="none" strike="noStrike">
                <a:solidFill>
                  <a:schemeClr val="dk1"/>
                </a:solidFill>
                <a:latin typeface="Twentieth Century"/>
                <a:ea typeface="Twentieth Century"/>
                <a:cs typeface="Twentieth Century"/>
                <a:sym typeface="Twentieth Century"/>
              </a:endParaRPr>
            </a:p>
          </p:txBody>
        </p:sp>
        <p:sp>
          <p:nvSpPr>
            <p:cNvPr id="723" name="Google Shape;723;p27"/>
            <p:cNvSpPr/>
            <p:nvPr/>
          </p:nvSpPr>
          <p:spPr>
            <a:xfrm>
              <a:off x="2462569" y="778464"/>
              <a:ext cx="2050303" cy="625342"/>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24" name="Google Shape;724;p27"/>
            <p:cNvSpPr txBox="1"/>
            <p:nvPr/>
          </p:nvSpPr>
          <p:spPr>
            <a:xfrm>
              <a:off x="2462569" y="778464"/>
              <a:ext cx="2050303" cy="625342"/>
            </a:xfrm>
            <a:prstGeom prst="rect">
              <a:avLst/>
            </a:prstGeom>
            <a:solidFill>
              <a:srgbClr val="9966FF"/>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Certificado Médico</a:t>
              </a:r>
              <a:endParaRPr b="0" i="0" sz="1600" u="none" cap="none" strike="noStrike">
                <a:solidFill>
                  <a:schemeClr val="dk1"/>
                </a:solidFill>
                <a:latin typeface="Twentieth Century"/>
                <a:ea typeface="Twentieth Century"/>
                <a:cs typeface="Twentieth Century"/>
                <a:sym typeface="Twentieth Century"/>
              </a:endParaRPr>
            </a:p>
          </p:txBody>
        </p:sp>
        <p:sp>
          <p:nvSpPr>
            <p:cNvPr id="725" name="Google Shape;725;p27"/>
            <p:cNvSpPr/>
            <p:nvPr/>
          </p:nvSpPr>
          <p:spPr>
            <a:xfrm>
              <a:off x="2462569" y="1660094"/>
              <a:ext cx="2050303" cy="625342"/>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26" name="Google Shape;726;p27"/>
            <p:cNvSpPr txBox="1"/>
            <p:nvPr/>
          </p:nvSpPr>
          <p:spPr>
            <a:xfrm>
              <a:off x="2462569" y="1660094"/>
              <a:ext cx="2050303" cy="625342"/>
            </a:xfrm>
            <a:prstGeom prst="rect">
              <a:avLst/>
            </a:prstGeom>
            <a:solidFill>
              <a:srgbClr val="9966FF"/>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Fecha Presunta de Parto</a:t>
              </a:r>
              <a:endParaRPr b="0" i="0" sz="1600" u="none" cap="none" strike="noStrike">
                <a:solidFill>
                  <a:schemeClr val="dk1"/>
                </a:solidFill>
                <a:latin typeface="Twentieth Century"/>
                <a:ea typeface="Twentieth Century"/>
                <a:cs typeface="Twentieth Century"/>
                <a:sym typeface="Twentieth Century"/>
              </a:endParaRPr>
            </a:p>
          </p:txBody>
        </p:sp>
      </p:grpSp>
      <p:sp>
        <p:nvSpPr>
          <p:cNvPr id="727" name="Google Shape;727;p27"/>
          <p:cNvSpPr txBox="1"/>
          <p:nvPr/>
        </p:nvSpPr>
        <p:spPr>
          <a:xfrm>
            <a:off x="4908513" y="3572973"/>
            <a:ext cx="4130556" cy="64633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400"/>
              <a:buFont typeface="Calibri"/>
              <a:buNone/>
            </a:pPr>
            <a:r>
              <a:rPr b="0" i="0" lang="es-AR" sz="1400" u="none" cap="none" strike="noStrike">
                <a:solidFill>
                  <a:schemeClr val="dk1"/>
                </a:solidFill>
                <a:latin typeface="Calibri"/>
                <a:ea typeface="Calibri"/>
                <a:cs typeface="Calibri"/>
                <a:sym typeface="Calibri"/>
              </a:rPr>
              <a:t>7 meses y medio anteriores a la fecha presunta de parto, y 7 meses y medio posteriores a la fecha efectiva del nacimiento.</a:t>
            </a:r>
            <a:endParaRPr b="0" i="0" sz="1800" u="none" cap="none" strike="noStrike">
              <a:solidFill>
                <a:schemeClr val="dk1"/>
              </a:solidFill>
              <a:latin typeface="Twentieth Century"/>
              <a:ea typeface="Twentieth Century"/>
              <a:cs typeface="Twentieth Century"/>
              <a:sym typeface="Twentieth Century"/>
            </a:endParaRPr>
          </a:p>
        </p:txBody>
      </p:sp>
      <p:grpSp>
        <p:nvGrpSpPr>
          <p:cNvPr id="728" name="Google Shape;728;p27"/>
          <p:cNvGrpSpPr/>
          <p:nvPr/>
        </p:nvGrpSpPr>
        <p:grpSpPr>
          <a:xfrm>
            <a:off x="113333" y="3545195"/>
            <a:ext cx="4510668" cy="1506972"/>
            <a:chOff x="2204" y="778464"/>
            <a:chExt cx="4510668" cy="1506972"/>
          </a:xfrm>
        </p:grpSpPr>
        <p:sp>
          <p:nvSpPr>
            <p:cNvPr id="729" name="Google Shape;729;p27"/>
            <p:cNvSpPr/>
            <p:nvPr/>
          </p:nvSpPr>
          <p:spPr>
            <a:xfrm>
              <a:off x="2052508" y="1547290"/>
              <a:ext cx="410060" cy="425475"/>
            </a:xfrm>
            <a:custGeom>
              <a:rect b="b" l="l" r="r" t="t"/>
              <a:pathLst>
                <a:path extrusionOk="0" h="120000" w="120000">
                  <a:moveTo>
                    <a:pt x="0" y="0"/>
                  </a:moveTo>
                  <a:lnTo>
                    <a:pt x="60000" y="0"/>
                  </a:lnTo>
                  <a:lnTo>
                    <a:pt x="60000" y="120000"/>
                  </a:lnTo>
                  <a:lnTo>
                    <a:pt x="120000" y="120000"/>
                  </a:lnTo>
                </a:path>
              </a:pathLst>
            </a:custGeom>
            <a:noFill/>
            <a:ln cap="flat" cmpd="sng" w="12700">
              <a:solidFill>
                <a:srgbClr val="87B76D"/>
              </a:solidFill>
              <a:prstDash val="solid"/>
              <a:miter lim="800000"/>
              <a:headEnd len="sm" w="sm" type="none"/>
              <a:tailEnd len="sm" w="sm" type="none"/>
            </a:ln>
          </p:spPr>
        </p:sp>
        <p:sp>
          <p:nvSpPr>
            <p:cNvPr id="730" name="Google Shape;730;p27"/>
            <p:cNvSpPr/>
            <p:nvPr/>
          </p:nvSpPr>
          <p:spPr>
            <a:xfrm>
              <a:off x="2052508" y="1091135"/>
              <a:ext cx="396467" cy="456155"/>
            </a:xfrm>
            <a:custGeom>
              <a:rect b="b" l="l" r="r" t="t"/>
              <a:pathLst>
                <a:path extrusionOk="0" h="120000" w="120000">
                  <a:moveTo>
                    <a:pt x="0" y="120000"/>
                  </a:moveTo>
                  <a:lnTo>
                    <a:pt x="57943" y="120000"/>
                  </a:lnTo>
                  <a:lnTo>
                    <a:pt x="57943" y="0"/>
                  </a:lnTo>
                  <a:lnTo>
                    <a:pt x="120000" y="0"/>
                  </a:lnTo>
                </a:path>
              </a:pathLst>
            </a:custGeom>
            <a:noFill/>
            <a:ln cap="flat" cmpd="sng" w="12700">
              <a:solidFill>
                <a:srgbClr val="87B76D"/>
              </a:solidFill>
              <a:prstDash val="solid"/>
              <a:miter lim="800000"/>
              <a:headEnd len="sm" w="sm" type="none"/>
              <a:tailEnd len="sm" w="sm" type="none"/>
            </a:ln>
          </p:spPr>
        </p:sp>
        <p:sp>
          <p:nvSpPr>
            <p:cNvPr id="731" name="Google Shape;731;p27"/>
            <p:cNvSpPr/>
            <p:nvPr/>
          </p:nvSpPr>
          <p:spPr>
            <a:xfrm>
              <a:off x="2204" y="1234619"/>
              <a:ext cx="2050303" cy="625342"/>
            </a:xfrm>
            <a:prstGeom prst="rect">
              <a:avLst/>
            </a:prstGeom>
            <a:solidFill>
              <a:srgbClr val="5689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32" name="Google Shape;732;p27"/>
            <p:cNvSpPr txBox="1"/>
            <p:nvPr/>
          </p:nvSpPr>
          <p:spPr>
            <a:xfrm>
              <a:off x="2204" y="1234619"/>
              <a:ext cx="2050303" cy="62534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Protección Frente al Despido</a:t>
              </a:r>
              <a:endParaRPr b="0" i="0" sz="1800" u="none" cap="none" strike="noStrike">
                <a:solidFill>
                  <a:schemeClr val="dk1"/>
                </a:solidFill>
                <a:latin typeface="Twentieth Century"/>
                <a:ea typeface="Twentieth Century"/>
                <a:cs typeface="Twentieth Century"/>
                <a:sym typeface="Twentieth Century"/>
              </a:endParaRPr>
            </a:p>
          </p:txBody>
        </p:sp>
        <p:sp>
          <p:nvSpPr>
            <p:cNvPr id="733" name="Google Shape;733;p27"/>
            <p:cNvSpPr/>
            <p:nvPr/>
          </p:nvSpPr>
          <p:spPr>
            <a:xfrm>
              <a:off x="2448975" y="778464"/>
              <a:ext cx="2050303" cy="625342"/>
            </a:xfrm>
            <a:prstGeom prst="rect">
              <a:avLst/>
            </a:prstGeom>
            <a:solidFill>
              <a:srgbClr val="659C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34" name="Google Shape;734;p27"/>
            <p:cNvSpPr txBox="1"/>
            <p:nvPr/>
          </p:nvSpPr>
          <p:spPr>
            <a:xfrm>
              <a:off x="2448975" y="778464"/>
              <a:ext cx="2050303" cy="62534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15 Meses</a:t>
              </a:r>
              <a:endParaRPr b="0" i="0" sz="1600" u="none" cap="none" strike="noStrike">
                <a:solidFill>
                  <a:schemeClr val="dk1"/>
                </a:solidFill>
                <a:latin typeface="Twentieth Century"/>
                <a:ea typeface="Twentieth Century"/>
                <a:cs typeface="Twentieth Century"/>
                <a:sym typeface="Twentieth Century"/>
              </a:endParaRPr>
            </a:p>
          </p:txBody>
        </p:sp>
        <p:sp>
          <p:nvSpPr>
            <p:cNvPr id="735" name="Google Shape;735;p27"/>
            <p:cNvSpPr/>
            <p:nvPr/>
          </p:nvSpPr>
          <p:spPr>
            <a:xfrm>
              <a:off x="2462569" y="1660094"/>
              <a:ext cx="2050303" cy="625342"/>
            </a:xfrm>
            <a:prstGeom prst="rect">
              <a:avLst/>
            </a:prstGeom>
            <a:solidFill>
              <a:srgbClr val="659C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36" name="Google Shape;736;p27"/>
            <p:cNvSpPr txBox="1"/>
            <p:nvPr/>
          </p:nvSpPr>
          <p:spPr>
            <a:xfrm>
              <a:off x="2462569" y="1660094"/>
              <a:ext cx="2050303" cy="62534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Indemnización Especial</a:t>
              </a:r>
              <a:endParaRPr b="0" i="0" sz="1600" u="none" cap="none" strike="noStrike">
                <a:solidFill>
                  <a:schemeClr val="dk1"/>
                </a:solidFill>
                <a:latin typeface="Twentieth Century"/>
                <a:ea typeface="Twentieth Century"/>
                <a:cs typeface="Twentieth Century"/>
                <a:sym typeface="Twentieth Century"/>
              </a:endParaRPr>
            </a:p>
          </p:txBody>
        </p:sp>
      </p:grpSp>
      <p:grpSp>
        <p:nvGrpSpPr>
          <p:cNvPr id="737" name="Google Shape;737;p27"/>
          <p:cNvGrpSpPr/>
          <p:nvPr/>
        </p:nvGrpSpPr>
        <p:grpSpPr>
          <a:xfrm>
            <a:off x="93454" y="5228543"/>
            <a:ext cx="4512873" cy="1506972"/>
            <a:chOff x="2204" y="778464"/>
            <a:chExt cx="4512873" cy="1506972"/>
          </a:xfrm>
        </p:grpSpPr>
        <p:sp>
          <p:nvSpPr>
            <p:cNvPr id="738" name="Google Shape;738;p27"/>
            <p:cNvSpPr/>
            <p:nvPr/>
          </p:nvSpPr>
          <p:spPr>
            <a:xfrm>
              <a:off x="2052508" y="1531950"/>
              <a:ext cx="412265" cy="440815"/>
            </a:xfrm>
            <a:custGeom>
              <a:rect b="b" l="l" r="r" t="t"/>
              <a:pathLst>
                <a:path extrusionOk="0" h="120000" w="120000">
                  <a:moveTo>
                    <a:pt x="0" y="0"/>
                  </a:moveTo>
                  <a:lnTo>
                    <a:pt x="60321" y="0"/>
                  </a:lnTo>
                  <a:lnTo>
                    <a:pt x="60321" y="120000"/>
                  </a:lnTo>
                  <a:lnTo>
                    <a:pt x="120000" y="120000"/>
                  </a:lnTo>
                </a:path>
              </a:pathLst>
            </a:custGeom>
            <a:noFill/>
            <a:ln cap="flat" cmpd="sng" w="12700">
              <a:solidFill>
                <a:srgbClr val="78A8DA"/>
              </a:solidFill>
              <a:prstDash val="solid"/>
              <a:miter lim="800000"/>
              <a:headEnd len="sm" w="sm" type="none"/>
              <a:tailEnd len="sm" w="sm" type="none"/>
            </a:ln>
          </p:spPr>
        </p:sp>
        <p:sp>
          <p:nvSpPr>
            <p:cNvPr id="739" name="Google Shape;739;p27"/>
            <p:cNvSpPr/>
            <p:nvPr/>
          </p:nvSpPr>
          <p:spPr>
            <a:xfrm>
              <a:off x="2052508" y="1091135"/>
              <a:ext cx="410019" cy="440815"/>
            </a:xfrm>
            <a:custGeom>
              <a:rect b="b" l="l" r="r" t="t"/>
              <a:pathLst>
                <a:path extrusionOk="0" h="120000" w="120000">
                  <a:moveTo>
                    <a:pt x="0" y="120000"/>
                  </a:moveTo>
                  <a:lnTo>
                    <a:pt x="59994" y="120000"/>
                  </a:lnTo>
                  <a:lnTo>
                    <a:pt x="59994" y="0"/>
                  </a:lnTo>
                  <a:lnTo>
                    <a:pt x="120000" y="0"/>
                  </a:lnTo>
                </a:path>
              </a:pathLst>
            </a:custGeom>
            <a:noFill/>
            <a:ln cap="flat" cmpd="sng" w="12700">
              <a:solidFill>
                <a:srgbClr val="78A8DA"/>
              </a:solidFill>
              <a:prstDash val="solid"/>
              <a:miter lim="800000"/>
              <a:headEnd len="sm" w="sm" type="none"/>
              <a:tailEnd len="sm" w="sm" type="none"/>
            </a:ln>
          </p:spPr>
        </p:sp>
        <p:sp>
          <p:nvSpPr>
            <p:cNvPr id="740" name="Google Shape;740;p27"/>
            <p:cNvSpPr/>
            <p:nvPr/>
          </p:nvSpPr>
          <p:spPr>
            <a:xfrm>
              <a:off x="2204" y="1219279"/>
              <a:ext cx="2050303" cy="625342"/>
            </a:xfrm>
            <a:prstGeom prst="rect">
              <a:avLst/>
            </a:prstGeom>
            <a:solidFill>
              <a:srgbClr val="487A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41" name="Google Shape;741;p27"/>
            <p:cNvSpPr txBox="1"/>
            <p:nvPr/>
          </p:nvSpPr>
          <p:spPr>
            <a:xfrm>
              <a:off x="2204" y="1219279"/>
              <a:ext cx="2050303" cy="625342"/>
            </a:xfrm>
            <a:prstGeom prst="rect">
              <a:avLst/>
            </a:prstGeom>
            <a:solidFill>
              <a:srgbClr val="65747C"/>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b="0" i="0" lang="es-AR" sz="1800" u="none" cap="none" strike="noStrike">
                  <a:solidFill>
                    <a:schemeClr val="lt1"/>
                  </a:solidFill>
                  <a:latin typeface="Calibri"/>
                  <a:ea typeface="Calibri"/>
                  <a:cs typeface="Calibri"/>
                  <a:sym typeface="Calibri"/>
                </a:rPr>
                <a:t>Licencias</a:t>
              </a:r>
              <a:endParaRPr b="0" i="0" sz="1800" u="none" cap="none" strike="noStrike">
                <a:solidFill>
                  <a:schemeClr val="dk1"/>
                </a:solidFill>
                <a:latin typeface="Twentieth Century"/>
                <a:ea typeface="Twentieth Century"/>
                <a:cs typeface="Twentieth Century"/>
                <a:sym typeface="Twentieth Century"/>
              </a:endParaRPr>
            </a:p>
          </p:txBody>
        </p:sp>
        <p:sp>
          <p:nvSpPr>
            <p:cNvPr id="742" name="Google Shape;742;p27"/>
            <p:cNvSpPr/>
            <p:nvPr/>
          </p:nvSpPr>
          <p:spPr>
            <a:xfrm>
              <a:off x="2462528" y="778464"/>
              <a:ext cx="2050303" cy="625342"/>
            </a:xfrm>
            <a:prstGeom prst="rect">
              <a:avLst/>
            </a:prstGeom>
            <a:solidFill>
              <a:srgbClr val="528C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43" name="Google Shape;743;p27"/>
            <p:cNvSpPr txBox="1"/>
            <p:nvPr/>
          </p:nvSpPr>
          <p:spPr>
            <a:xfrm>
              <a:off x="2462528" y="778464"/>
              <a:ext cx="2050303" cy="625342"/>
            </a:xfrm>
            <a:prstGeom prst="rect">
              <a:avLst/>
            </a:prstGeom>
            <a:solidFill>
              <a:srgbClr val="65747C"/>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Por Maternidad</a:t>
              </a:r>
              <a:endParaRPr b="0" i="0" sz="1600" u="none" cap="none" strike="noStrike">
                <a:solidFill>
                  <a:schemeClr val="dk1"/>
                </a:solidFill>
                <a:latin typeface="Twentieth Century"/>
                <a:ea typeface="Twentieth Century"/>
                <a:cs typeface="Twentieth Century"/>
                <a:sym typeface="Twentieth Century"/>
              </a:endParaRPr>
            </a:p>
          </p:txBody>
        </p:sp>
        <p:sp>
          <p:nvSpPr>
            <p:cNvPr id="744" name="Google Shape;744;p27"/>
            <p:cNvSpPr/>
            <p:nvPr/>
          </p:nvSpPr>
          <p:spPr>
            <a:xfrm>
              <a:off x="2464774" y="1660094"/>
              <a:ext cx="2050303" cy="625342"/>
            </a:xfrm>
            <a:prstGeom prst="rect">
              <a:avLst/>
            </a:prstGeom>
            <a:solidFill>
              <a:srgbClr val="528C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745" name="Google Shape;745;p27"/>
            <p:cNvSpPr txBox="1"/>
            <p:nvPr/>
          </p:nvSpPr>
          <p:spPr>
            <a:xfrm>
              <a:off x="2464774" y="1660094"/>
              <a:ext cx="2050303" cy="625342"/>
            </a:xfrm>
            <a:prstGeom prst="rect">
              <a:avLst/>
            </a:prstGeom>
            <a:solidFill>
              <a:srgbClr val="65747C"/>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600"/>
                <a:buFont typeface="Calibri"/>
                <a:buNone/>
              </a:pPr>
              <a:r>
                <a:rPr b="0" i="0" lang="es-AR" sz="1600" u="none" cap="none" strike="noStrike">
                  <a:solidFill>
                    <a:schemeClr val="lt1"/>
                  </a:solidFill>
                  <a:latin typeface="Calibri"/>
                  <a:ea typeface="Calibri"/>
                  <a:cs typeface="Calibri"/>
                  <a:sym typeface="Calibri"/>
                </a:rPr>
                <a:t>Opciones posteriores</a:t>
              </a:r>
              <a:endParaRPr b="0" i="0" sz="1600" u="none" cap="none" strike="noStrike">
                <a:solidFill>
                  <a:schemeClr val="lt1"/>
                </a:solidFill>
                <a:latin typeface="Calibri"/>
                <a:ea typeface="Calibri"/>
                <a:cs typeface="Calibri"/>
                <a:sym typeface="Calibri"/>
              </a:endParaRPr>
            </a:p>
          </p:txBody>
        </p:sp>
      </p:grpSp>
      <p:sp>
        <p:nvSpPr>
          <p:cNvPr id="746" name="Google Shape;746;p27"/>
          <p:cNvSpPr/>
          <p:nvPr/>
        </p:nvSpPr>
        <p:spPr>
          <a:xfrm>
            <a:off x="4639567" y="3601118"/>
            <a:ext cx="108405" cy="53008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747" name="Google Shape;747;p27"/>
          <p:cNvSpPr txBox="1"/>
          <p:nvPr/>
        </p:nvSpPr>
        <p:spPr>
          <a:xfrm>
            <a:off x="4888637" y="4548713"/>
            <a:ext cx="4150432" cy="4308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400"/>
              <a:buFont typeface="Calibri"/>
              <a:buNone/>
            </a:pPr>
            <a:r>
              <a:rPr b="0" i="0" lang="es-AR" sz="1400" u="none" cap="none" strike="noStrike">
                <a:solidFill>
                  <a:schemeClr val="dk1"/>
                </a:solidFill>
                <a:latin typeface="Calibri"/>
                <a:ea typeface="Calibri"/>
                <a:cs typeface="Calibri"/>
                <a:sym typeface="Calibri"/>
              </a:rPr>
              <a:t>13 meses de salario además de las indemnizaciones previstas en el Art. 245 LCT</a:t>
            </a:r>
            <a:endParaRPr b="0" i="0" sz="1800" u="none" cap="none" strike="noStrike">
              <a:solidFill>
                <a:schemeClr val="dk1"/>
              </a:solidFill>
              <a:latin typeface="Twentieth Century"/>
              <a:ea typeface="Twentieth Century"/>
              <a:cs typeface="Twentieth Century"/>
              <a:sym typeface="Twentieth Century"/>
            </a:endParaRPr>
          </a:p>
        </p:txBody>
      </p:sp>
      <p:sp>
        <p:nvSpPr>
          <p:cNvPr id="748" name="Google Shape;748;p27"/>
          <p:cNvSpPr/>
          <p:nvPr/>
        </p:nvSpPr>
        <p:spPr>
          <a:xfrm>
            <a:off x="4632943" y="4455887"/>
            <a:ext cx="108405" cy="53008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pic>
        <p:nvPicPr>
          <p:cNvPr id="749" name="Google Shape;749;p27"/>
          <p:cNvPicPr preferRelativeResize="0"/>
          <p:nvPr/>
        </p:nvPicPr>
        <p:blipFill rotWithShape="1">
          <a:blip r:embed="rId3">
            <a:alphaModFix/>
          </a:blip>
          <a:srcRect b="0" l="0" r="0" t="0"/>
          <a:stretch/>
        </p:blipFill>
        <p:spPr>
          <a:xfrm>
            <a:off x="4774929" y="5052250"/>
            <a:ext cx="2417800" cy="942975"/>
          </a:xfrm>
          <a:prstGeom prst="rect">
            <a:avLst/>
          </a:prstGeom>
          <a:noFill/>
          <a:ln>
            <a:noFill/>
          </a:ln>
        </p:spPr>
      </p:pic>
      <p:sp>
        <p:nvSpPr>
          <p:cNvPr id="750" name="Google Shape;750;p27"/>
          <p:cNvSpPr/>
          <p:nvPr/>
        </p:nvSpPr>
        <p:spPr>
          <a:xfrm>
            <a:off x="4639571" y="5274373"/>
            <a:ext cx="108405" cy="53008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751" name="Google Shape;751;p27"/>
          <p:cNvSpPr/>
          <p:nvPr/>
        </p:nvSpPr>
        <p:spPr>
          <a:xfrm>
            <a:off x="4659451" y="6142392"/>
            <a:ext cx="108405" cy="53008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Calibri"/>
              <a:ea typeface="Calibri"/>
              <a:cs typeface="Calibri"/>
              <a:sym typeface="Calibri"/>
            </a:endParaRPr>
          </a:p>
        </p:txBody>
      </p:sp>
      <p:sp>
        <p:nvSpPr>
          <p:cNvPr id="752" name="Google Shape;752;p27"/>
          <p:cNvSpPr txBox="1"/>
          <p:nvPr/>
        </p:nvSpPr>
        <p:spPr>
          <a:xfrm>
            <a:off x="4882010" y="6064380"/>
            <a:ext cx="4261989" cy="64633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400"/>
              <a:buFont typeface="Calibri"/>
              <a:buNone/>
            </a:pPr>
            <a:r>
              <a:rPr b="0" i="0" lang="es-AR" sz="1400" u="none" cap="none" strike="noStrike">
                <a:solidFill>
                  <a:schemeClr val="dk1"/>
                </a:solidFill>
                <a:latin typeface="Calibri"/>
                <a:ea typeface="Calibri"/>
                <a:cs typeface="Calibri"/>
                <a:sym typeface="Calibri"/>
              </a:rPr>
              <a:t>- Reintegrarse a su puesto de trabajo.</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400"/>
              <a:buFont typeface="Calibri"/>
              <a:buNone/>
            </a:pPr>
            <a:r>
              <a:rPr b="0" i="0" lang="es-AR" sz="1400" u="none" cap="none" strike="noStrike">
                <a:solidFill>
                  <a:schemeClr val="dk1"/>
                </a:solidFill>
                <a:latin typeface="Calibri"/>
                <a:ea typeface="Calibri"/>
                <a:cs typeface="Calibri"/>
                <a:sym typeface="Calibri"/>
              </a:rPr>
              <a:t>- Lic. por </a:t>
            </a:r>
            <a:r>
              <a:rPr b="1" i="0" lang="es-AR" sz="1400" u="none" cap="none" strike="noStrike">
                <a:solidFill>
                  <a:schemeClr val="dk1"/>
                </a:solidFill>
                <a:latin typeface="Calibri"/>
                <a:ea typeface="Calibri"/>
                <a:cs typeface="Calibri"/>
                <a:sym typeface="Calibri"/>
              </a:rPr>
              <a:t>EXCEDENCIA (</a:t>
            </a:r>
            <a:r>
              <a:rPr b="0" i="0" lang="es-AR" sz="1400" u="none" cap="none" strike="noStrike">
                <a:solidFill>
                  <a:schemeClr val="dk1"/>
                </a:solidFill>
                <a:latin typeface="Calibri"/>
                <a:ea typeface="Calibri"/>
                <a:cs typeface="Calibri"/>
                <a:sym typeface="Calibri"/>
              </a:rPr>
              <a:t>3 o 6 meses sin goce de haberes.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400"/>
              <a:buFont typeface="Calibri"/>
              <a:buNone/>
            </a:pPr>
            <a:r>
              <a:rPr b="0" i="0" lang="es-AR" sz="1400" u="none" cap="none" strike="noStrike">
                <a:solidFill>
                  <a:schemeClr val="dk1"/>
                </a:solidFill>
                <a:latin typeface="Calibri"/>
                <a:ea typeface="Calibri"/>
                <a:cs typeface="Calibri"/>
                <a:sym typeface="Calibri"/>
              </a:rPr>
              <a:t>- Renunciar (con  un 25% de indemnización).</a:t>
            </a:r>
            <a:endParaRPr b="0" i="0" sz="1400" u="none" cap="none" strike="noStrike">
              <a:solidFill>
                <a:schemeClr val="dk1"/>
              </a:solidFill>
              <a:latin typeface="Calibri"/>
              <a:ea typeface="Calibri"/>
              <a:cs typeface="Calibri"/>
              <a:sym typeface="Calibri"/>
            </a:endParaRPr>
          </a:p>
        </p:txBody>
      </p:sp>
      <p:sp>
        <p:nvSpPr>
          <p:cNvPr id="753" name="Google Shape;753;p27"/>
          <p:cNvSpPr/>
          <p:nvPr/>
        </p:nvSpPr>
        <p:spPr>
          <a:xfrm>
            <a:off x="327352" y="1300783"/>
            <a:ext cx="8572808" cy="412482"/>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Maternidad (Art.177 LCT)</a:t>
            </a:r>
            <a:endParaRPr b="1" i="0" sz="1600" u="none" cap="none" strike="noStrike">
              <a:solidFill>
                <a:schemeClr val="lt1"/>
              </a:solidFill>
              <a:latin typeface="Arial"/>
              <a:ea typeface="Arial"/>
              <a:cs typeface="Arial"/>
              <a:sym typeface="Arial"/>
            </a:endParaRPr>
          </a:p>
        </p:txBody>
      </p:sp>
      <p:pic>
        <p:nvPicPr>
          <p:cNvPr descr="Image result for utn frba" id="754" name="Google Shape;754;p27"/>
          <p:cNvPicPr preferRelativeResize="0"/>
          <p:nvPr/>
        </p:nvPicPr>
        <p:blipFill rotWithShape="1">
          <a:blip r:embed="rId4">
            <a:alphaModFix/>
          </a:blip>
          <a:srcRect b="0" l="0" r="0" t="0"/>
          <a:stretch/>
        </p:blipFill>
        <p:spPr>
          <a:xfrm>
            <a:off x="6465194" y="64395"/>
            <a:ext cx="2611323" cy="952745"/>
          </a:xfrm>
          <a:prstGeom prst="rect">
            <a:avLst/>
          </a:prstGeom>
          <a:noFill/>
          <a:ln>
            <a:noFill/>
          </a:ln>
        </p:spPr>
      </p:pic>
      <p:sp>
        <p:nvSpPr>
          <p:cNvPr id="755" name="Google Shape;755;p27"/>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sp>
        <p:nvSpPr>
          <p:cNvPr id="756" name="Google Shape;756;p27"/>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Maternidad</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26"/>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Enfermedades y accidentes inculpables</a:t>
            </a:r>
            <a:endParaRPr b="1" i="0" sz="1800" u="none" cap="none" strike="noStrike">
              <a:solidFill>
                <a:srgbClr val="932328"/>
              </a:solidFill>
              <a:latin typeface="Arial"/>
              <a:ea typeface="Arial"/>
              <a:cs typeface="Arial"/>
              <a:sym typeface="Arial"/>
            </a:endParaRPr>
          </a:p>
        </p:txBody>
      </p:sp>
      <p:sp>
        <p:nvSpPr>
          <p:cNvPr id="763" name="Google Shape;763;p26"/>
          <p:cNvSpPr/>
          <p:nvPr/>
        </p:nvSpPr>
        <p:spPr>
          <a:xfrm>
            <a:off x="327351" y="1300782"/>
            <a:ext cx="8603289" cy="377297"/>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Enfermedad y accidentes inculpables (Art. 208 a 213 LCT)</a:t>
            </a:r>
            <a:endParaRPr b="1" i="0" sz="1600" u="none" cap="none" strike="noStrike">
              <a:solidFill>
                <a:schemeClr val="lt1"/>
              </a:solidFill>
              <a:latin typeface="Arial"/>
              <a:ea typeface="Arial"/>
              <a:cs typeface="Arial"/>
              <a:sym typeface="Arial"/>
            </a:endParaRPr>
          </a:p>
        </p:txBody>
      </p:sp>
      <p:sp>
        <p:nvSpPr>
          <p:cNvPr id="764" name="Google Shape;764;p26"/>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765" name="Google Shape;765;p26"/>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766" name="Google Shape;766;p26"/>
          <p:cNvSpPr txBox="1"/>
          <p:nvPr/>
        </p:nvSpPr>
        <p:spPr>
          <a:xfrm>
            <a:off x="327353" y="1914146"/>
            <a:ext cx="8603288" cy="1015663"/>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La enfermedad o accidente inculpable debe impedir que este cumpla con su deber contractual, el trabajador no perderá el derecho a percibir su remuneración, durante el período de convalecencia.</a:t>
            </a:r>
            <a:endParaRPr b="0" i="0" sz="1400" u="none" cap="none" strike="noStrike">
              <a:solidFill>
                <a:srgbClr val="000000"/>
              </a:solidFill>
              <a:latin typeface="Arial"/>
              <a:ea typeface="Arial"/>
              <a:cs typeface="Arial"/>
              <a:sym typeface="Arial"/>
            </a:endParaRPr>
          </a:p>
        </p:txBody>
      </p:sp>
      <p:pic>
        <p:nvPicPr>
          <p:cNvPr id="767" name="Google Shape;767;p26"/>
          <p:cNvPicPr preferRelativeResize="0"/>
          <p:nvPr/>
        </p:nvPicPr>
        <p:blipFill rotWithShape="1">
          <a:blip r:embed="rId4">
            <a:alphaModFix/>
          </a:blip>
          <a:srcRect b="0" l="0" r="0" t="0"/>
          <a:stretch/>
        </p:blipFill>
        <p:spPr>
          <a:xfrm rot="-2119914">
            <a:off x="2832054" y="4137204"/>
            <a:ext cx="2255716" cy="2249619"/>
          </a:xfrm>
          <a:prstGeom prst="rect">
            <a:avLst/>
          </a:prstGeom>
          <a:noFill/>
          <a:ln>
            <a:noFill/>
          </a:ln>
        </p:spPr>
      </p:pic>
      <p:sp>
        <p:nvSpPr>
          <p:cNvPr id="768" name="Google Shape;768;p26"/>
          <p:cNvSpPr/>
          <p:nvPr/>
        </p:nvSpPr>
        <p:spPr>
          <a:xfrm>
            <a:off x="327351" y="4143195"/>
            <a:ext cx="2682549" cy="2552775"/>
          </a:xfrm>
          <a:prstGeom prst="flowChartDocument">
            <a:avLst/>
          </a:prstGeom>
          <a:solidFill>
            <a:schemeClr val="accent2"/>
          </a:solidFill>
          <a:ln cap="flat" cmpd="sng" w="15875">
            <a:solidFill>
              <a:srgbClr val="1B5F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AR" sz="2000" u="none" cap="none" strike="noStrike">
                <a:solidFill>
                  <a:schemeClr val="lt1"/>
                </a:solidFill>
                <a:latin typeface="Twentieth Century"/>
                <a:ea typeface="Twentieth Century"/>
                <a:cs typeface="Twentieth Century"/>
                <a:sym typeface="Twentieth Century"/>
              </a:rPr>
              <a:t>Además, si el trabajador tuviera "cargas de familia" estos plazos se duplican, o sea que pasan de 6 y 12 meses respectivamente.</a:t>
            </a:r>
            <a:endParaRPr b="0" i="0" sz="1400" u="none" cap="none" strike="noStrike">
              <a:solidFill>
                <a:srgbClr val="000000"/>
              </a:solidFill>
              <a:latin typeface="Arial"/>
              <a:ea typeface="Arial"/>
              <a:cs typeface="Arial"/>
              <a:sym typeface="Arial"/>
            </a:endParaRPr>
          </a:p>
        </p:txBody>
      </p:sp>
      <p:sp>
        <p:nvSpPr>
          <p:cNvPr id="769" name="Google Shape;769;p26"/>
          <p:cNvSpPr txBox="1"/>
          <p:nvPr/>
        </p:nvSpPr>
        <p:spPr>
          <a:xfrm>
            <a:off x="327350" y="3089675"/>
            <a:ext cx="8603400" cy="952800"/>
          </a:xfrm>
          <a:prstGeom prst="rect">
            <a:avLst/>
          </a:prstGeom>
          <a:solidFill>
            <a:schemeClr val="accent2"/>
          </a:solidFill>
          <a:ln cap="flat" cmpd="sng" w="15875">
            <a:solidFill>
              <a:srgbClr val="1B5F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chemeClr val="lt1"/>
                </a:solidFill>
                <a:latin typeface="Twentieth Century"/>
                <a:ea typeface="Twentieth Century"/>
                <a:cs typeface="Twentieth Century"/>
                <a:sym typeface="Twentieth Century"/>
              </a:rPr>
              <a:t>La licencia paga dependerá de la antigüedad y las cargas de familia</a:t>
            </a:r>
            <a:endParaRPr b="0" i="0" sz="2400" u="none" cap="none" strike="noStrike">
              <a:solidFill>
                <a:schemeClr val="lt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2000"/>
              <a:buFont typeface="Arial"/>
              <a:buNone/>
            </a:pPr>
            <a:r>
              <a:rPr b="0" i="0" lang="es-AR" sz="2000" u="none" cap="none" strike="noStrike">
                <a:solidFill>
                  <a:schemeClr val="lt1"/>
                </a:solidFill>
                <a:latin typeface="Twentieth Century"/>
                <a:ea typeface="Twentieth Century"/>
                <a:cs typeface="Twentieth Century"/>
                <a:sym typeface="Twentieth Century"/>
              </a:rPr>
              <a:t>Ej: Para menos de 5 años sin carga de familia son 3 meses de licencia paga</a:t>
            </a:r>
            <a:endParaRPr b="0" i="0" sz="2000" u="none" cap="none" strike="noStrike">
              <a:solidFill>
                <a:schemeClr val="lt1"/>
              </a:solidFill>
              <a:latin typeface="Twentieth Century"/>
              <a:ea typeface="Twentieth Century"/>
              <a:cs typeface="Twentieth Century"/>
              <a:sym typeface="Twentieth Century"/>
            </a:endParaRPr>
          </a:p>
        </p:txBody>
      </p:sp>
      <p:pic>
        <p:nvPicPr>
          <p:cNvPr id="770" name="Google Shape;770;p26"/>
          <p:cNvPicPr preferRelativeResize="0"/>
          <p:nvPr/>
        </p:nvPicPr>
        <p:blipFill rotWithShape="1">
          <a:blip r:embed="rId5">
            <a:alphaModFix/>
          </a:blip>
          <a:srcRect b="0" l="0" r="0" t="0"/>
          <a:stretch/>
        </p:blipFill>
        <p:spPr>
          <a:xfrm>
            <a:off x="4364716" y="4114646"/>
            <a:ext cx="4699187" cy="24135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2"/>
          <p:cNvSpPr/>
          <p:nvPr/>
        </p:nvSpPr>
        <p:spPr>
          <a:xfrm>
            <a:off x="1043403" y="2108830"/>
            <a:ext cx="7341180" cy="3046948"/>
          </a:xfrm>
          <a:prstGeom prst="rect">
            <a:avLst/>
          </a:prstGeom>
          <a:gradFill>
            <a:gsLst>
              <a:gs pos="0">
                <a:srgbClr val="377E4B"/>
              </a:gs>
              <a:gs pos="100000">
                <a:srgbClr val="5BA56C"/>
              </a:gs>
            </a:gsLst>
            <a:path path="circle">
              <a:fillToRect b="50%" l="50%" r="50%" t="50%"/>
            </a:path>
            <a:tileRect/>
          </a:gradFill>
          <a:ln cap="flat" cmpd="sng" w="9525">
            <a:solidFill>
              <a:schemeClr val="accent5"/>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lt1"/>
              </a:buClr>
              <a:buSzPts val="2400"/>
              <a:buFont typeface="Calibri"/>
              <a:buNone/>
            </a:pPr>
            <a:r>
              <a:rPr b="1" i="0" lang="es-AR" sz="2400" u="none" cap="none" strike="noStrike">
                <a:solidFill>
                  <a:schemeClr val="lt1"/>
                </a:solidFill>
                <a:latin typeface="Calibri"/>
                <a:ea typeface="Calibri"/>
                <a:cs typeface="Calibri"/>
                <a:sym typeface="Calibri"/>
              </a:rPr>
              <a:t>Reserva de puesto: </a:t>
            </a:r>
            <a:r>
              <a:rPr b="0" i="0" lang="es-AR" sz="2400" u="none" cap="none" strike="noStrike">
                <a:solidFill>
                  <a:schemeClr val="lt1"/>
                </a:solidFill>
                <a:latin typeface="Calibri"/>
                <a:ea typeface="Calibri"/>
                <a:cs typeface="Calibri"/>
                <a:sym typeface="Calibri"/>
              </a:rPr>
              <a:t>Cumplido el plazo de licencia remunerada por enfermedad, la ley obliga al empleador a reservar el puesto al trabajador durante el plazo de un año. El inicio del plazo de la conservación del empleo está determinado por la finalización de la licencia paga por enfermedad. El empleador debe conservar el puesto al trabajador, pero no está obligado a pagar la remuneración.</a:t>
            </a:r>
            <a:endParaRPr b="0" i="0" sz="2400" u="none" cap="none" strike="noStrike">
              <a:solidFill>
                <a:schemeClr val="lt1"/>
              </a:solidFill>
              <a:latin typeface="Calibri"/>
              <a:ea typeface="Calibri"/>
              <a:cs typeface="Calibri"/>
              <a:sym typeface="Calibri"/>
            </a:endParaRPr>
          </a:p>
        </p:txBody>
      </p:sp>
      <p:sp>
        <p:nvSpPr>
          <p:cNvPr id="777" name="Google Shape;777;p82"/>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778" name="Google Shape;778;p82"/>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779" name="Google Shape;779;p82"/>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Clr>
                <a:srgbClr val="932328"/>
              </a:buClr>
              <a:buSzPts val="1800"/>
              <a:buFont typeface="Arial"/>
              <a:buNone/>
            </a:pPr>
            <a:r>
              <a:rPr b="1" i="0" lang="es-AR" sz="1800" u="none" cap="none" strike="noStrike">
                <a:solidFill>
                  <a:srgbClr val="932328"/>
                </a:solidFill>
                <a:latin typeface="Arial"/>
                <a:ea typeface="Arial"/>
                <a:cs typeface="Arial"/>
                <a:sym typeface="Arial"/>
              </a:rPr>
              <a:t>Enfermedades y accidentes inculpables</a:t>
            </a:r>
            <a:endParaRPr b="1" i="0" sz="1800" u="none" cap="none" strike="noStrike">
              <a:solidFill>
                <a:srgbClr val="932328"/>
              </a:solidFill>
              <a:latin typeface="Arial"/>
              <a:ea typeface="Arial"/>
              <a:cs typeface="Arial"/>
              <a:sym typeface="Arial"/>
            </a:endParaRPr>
          </a:p>
        </p:txBody>
      </p:sp>
      <p:sp>
        <p:nvSpPr>
          <p:cNvPr id="780" name="Google Shape;780;p82"/>
          <p:cNvSpPr txBox="1"/>
          <p:nvPr/>
        </p:nvSpPr>
        <p:spPr>
          <a:xfrm>
            <a:off x="2662080" y="4975926"/>
            <a:ext cx="4746110" cy="738664"/>
          </a:xfrm>
          <a:prstGeom prst="rect">
            <a:avLst/>
          </a:prstGeom>
          <a:noFill/>
          <a:ln>
            <a:noFill/>
          </a:ln>
        </p:spPr>
        <p:txBody>
          <a:bodyPr anchorCtr="0" anchor="t" bIns="45700" lIns="91425" spcFirstLastPara="1" rIns="91425" wrap="square" tIns="45700">
            <a:spAutoFit/>
          </a:bodyPr>
          <a:lstStyle/>
          <a:p>
            <a:pPr indent="-196850" lvl="0" marL="285750" marR="0" rtl="0" algn="l">
              <a:lnSpc>
                <a:spcPct val="100000"/>
              </a:lnSpc>
              <a:spcBef>
                <a:spcPts val="0"/>
              </a:spcBef>
              <a:spcAft>
                <a:spcPts val="0"/>
              </a:spcAft>
              <a:buClr>
                <a:schemeClr val="dk1"/>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254000" lvl="0" marL="342900" marR="0" rtl="0" algn="l">
              <a:lnSpc>
                <a:spcPct val="100000"/>
              </a:lnSpc>
              <a:spcBef>
                <a:spcPts val="0"/>
              </a:spcBef>
              <a:spcAft>
                <a:spcPts val="0"/>
              </a:spcAft>
              <a:buClr>
                <a:schemeClr val="dk1"/>
              </a:buClr>
              <a:buSzPts val="1400"/>
              <a:buFont typeface="Twentieth Century"/>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4" name="Shape 784"/>
        <p:cNvGrpSpPr/>
        <p:nvPr/>
      </p:nvGrpSpPr>
      <p:grpSpPr>
        <a:xfrm>
          <a:off x="0" y="0"/>
          <a:ext cx="0" cy="0"/>
          <a:chOff x="0" y="0"/>
          <a:chExt cx="0" cy="0"/>
        </a:xfrm>
      </p:grpSpPr>
      <p:sp>
        <p:nvSpPr>
          <p:cNvPr id="785" name="Google Shape;785;p8"/>
          <p:cNvSpPr/>
          <p:nvPr/>
        </p:nvSpPr>
        <p:spPr>
          <a:xfrm>
            <a:off x="197416" y="1302821"/>
            <a:ext cx="8749163" cy="390544"/>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lang="es-AR" sz="1600">
                <a:solidFill>
                  <a:schemeClr val="lt1"/>
                </a:solidFill>
              </a:rPr>
              <a:t>DEFINICIÓN</a:t>
            </a:r>
            <a:endParaRPr b="1" i="0" sz="1600" u="none" cap="none" strike="noStrike">
              <a:solidFill>
                <a:schemeClr val="lt1"/>
              </a:solidFill>
              <a:latin typeface="Arial"/>
              <a:ea typeface="Arial"/>
              <a:cs typeface="Arial"/>
              <a:sym typeface="Arial"/>
            </a:endParaRPr>
          </a:p>
        </p:txBody>
      </p:sp>
      <p:sp>
        <p:nvSpPr>
          <p:cNvPr id="786" name="Google Shape;786;p8"/>
          <p:cNvSpPr txBox="1"/>
          <p:nvPr/>
        </p:nvSpPr>
        <p:spPr>
          <a:xfrm>
            <a:off x="197417" y="1898906"/>
            <a:ext cx="8749165" cy="1323399"/>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Habrá contrato de teletrabajo cuando la realización de actos, ejecución de obras o prestación de servicios, en los términos de los artículos 21 y 22 de esta ley, sea efectuada total o parcialmente en el domicilio de la persona que trabaja, o en lugares distintos al establecimiento o los establecimientos del empleador,</a:t>
            </a:r>
            <a:endParaRPr b="0" i="0" sz="1400" u="none" cap="none" strike="noStrike">
              <a:solidFill>
                <a:srgbClr val="000000"/>
              </a:solidFill>
              <a:latin typeface="Arial"/>
              <a:ea typeface="Arial"/>
              <a:cs typeface="Arial"/>
              <a:sym typeface="Arial"/>
            </a:endParaRPr>
          </a:p>
        </p:txBody>
      </p:sp>
      <p:sp>
        <p:nvSpPr>
          <p:cNvPr id="787" name="Google Shape;787;p8"/>
          <p:cNvSpPr txBox="1"/>
          <p:nvPr/>
        </p:nvSpPr>
        <p:spPr>
          <a:xfrm>
            <a:off x="197416" y="3983825"/>
            <a:ext cx="8749165" cy="400069"/>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La remuneración será idéntica para el trabajador presencial o el teletrabajador.</a:t>
            </a:r>
            <a:endParaRPr b="0" i="0" sz="1400" u="none" cap="none" strike="noStrike">
              <a:solidFill>
                <a:srgbClr val="000000"/>
              </a:solidFill>
              <a:latin typeface="Arial"/>
              <a:ea typeface="Arial"/>
              <a:cs typeface="Arial"/>
              <a:sym typeface="Arial"/>
            </a:endParaRPr>
          </a:p>
        </p:txBody>
      </p:sp>
      <p:sp>
        <p:nvSpPr>
          <p:cNvPr id="788" name="Google Shape;788;p8"/>
          <p:cNvSpPr txBox="1"/>
          <p:nvPr/>
        </p:nvSpPr>
        <p:spPr>
          <a:xfrm>
            <a:off x="197417" y="4589435"/>
            <a:ext cx="8749165" cy="707846"/>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Derecho a la desconexión digital e interrupción por cuidado de personas menores de 13 años.</a:t>
            </a:r>
            <a:endParaRPr b="0" i="0" sz="1400" u="none" cap="none" strike="noStrike">
              <a:solidFill>
                <a:srgbClr val="000000"/>
              </a:solidFill>
              <a:latin typeface="Arial"/>
              <a:ea typeface="Arial"/>
              <a:cs typeface="Arial"/>
              <a:sym typeface="Arial"/>
            </a:endParaRPr>
          </a:p>
        </p:txBody>
      </p:sp>
      <p:sp>
        <p:nvSpPr>
          <p:cNvPr id="789" name="Google Shape;789;p8"/>
          <p:cNvSpPr txBox="1"/>
          <p:nvPr/>
        </p:nvSpPr>
        <p:spPr>
          <a:xfrm>
            <a:off x="197415" y="5480362"/>
            <a:ext cx="8749165" cy="400069"/>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Cambio de régimen voluntario del empleado</a:t>
            </a:r>
            <a:endParaRPr b="0" i="0" sz="1400" u="none" cap="none" strike="noStrike">
              <a:solidFill>
                <a:srgbClr val="000000"/>
              </a:solidFill>
              <a:latin typeface="Arial"/>
              <a:ea typeface="Arial"/>
              <a:cs typeface="Arial"/>
              <a:sym typeface="Arial"/>
            </a:endParaRPr>
          </a:p>
        </p:txBody>
      </p:sp>
      <p:sp>
        <p:nvSpPr>
          <p:cNvPr id="790" name="Google Shape;790;p8"/>
          <p:cNvSpPr txBox="1"/>
          <p:nvPr/>
        </p:nvSpPr>
        <p:spPr>
          <a:xfrm>
            <a:off x="197417" y="6069405"/>
            <a:ext cx="8749165" cy="400069"/>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AR" sz="2000" u="none" cap="none" strike="noStrike">
                <a:solidFill>
                  <a:schemeClr val="dk1"/>
                </a:solidFill>
                <a:latin typeface="Twentieth Century"/>
                <a:ea typeface="Twentieth Century"/>
                <a:cs typeface="Twentieth Century"/>
                <a:sym typeface="Twentieth Century"/>
              </a:rPr>
              <a:t>Compensación de gastos y provisión de elementos de trabajo.</a:t>
            </a:r>
            <a:endParaRPr b="0" i="0" sz="1400" u="none" cap="none" strike="noStrike">
              <a:solidFill>
                <a:srgbClr val="000000"/>
              </a:solidFill>
              <a:latin typeface="Arial"/>
              <a:ea typeface="Arial"/>
              <a:cs typeface="Arial"/>
              <a:sym typeface="Arial"/>
            </a:endParaRPr>
          </a:p>
        </p:txBody>
      </p:sp>
      <p:sp>
        <p:nvSpPr>
          <p:cNvPr id="791" name="Google Shape;791;p8"/>
          <p:cNvSpPr/>
          <p:nvPr/>
        </p:nvSpPr>
        <p:spPr>
          <a:xfrm>
            <a:off x="553" y="1091667"/>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dk1"/>
              </a:buClr>
              <a:buSzPts val="1662"/>
              <a:buFont typeface="Twentieth Century"/>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792" name="Google Shape;792;p8"/>
          <p:cNvPicPr preferRelativeResize="0"/>
          <p:nvPr/>
        </p:nvPicPr>
        <p:blipFill rotWithShape="1">
          <a:blip r:embed="rId3">
            <a:alphaModFix/>
          </a:blip>
          <a:srcRect b="0" l="0" r="0" t="0"/>
          <a:stretch/>
        </p:blipFill>
        <p:spPr>
          <a:xfrm>
            <a:off x="6465194" y="64395"/>
            <a:ext cx="2611323" cy="952745"/>
          </a:xfrm>
          <a:prstGeom prst="rect">
            <a:avLst/>
          </a:prstGeom>
          <a:noFill/>
          <a:ln>
            <a:noFill/>
          </a:ln>
        </p:spPr>
      </p:pic>
      <p:sp>
        <p:nvSpPr>
          <p:cNvPr id="793" name="Google Shape;793;p8"/>
          <p:cNvSpPr txBox="1"/>
          <p:nvPr/>
        </p:nvSpPr>
        <p:spPr>
          <a:xfrm>
            <a:off x="104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Relaciones Industriales</a:t>
            </a:r>
            <a:endParaRPr/>
          </a:p>
          <a:p>
            <a:pPr indent="-714375" lvl="0" marL="714375" marR="0" rtl="0" algn="l">
              <a:lnSpc>
                <a:spcPct val="90000"/>
              </a:lnSpc>
              <a:spcBef>
                <a:spcPts val="0"/>
              </a:spcBef>
              <a:spcAft>
                <a:spcPts val="0"/>
              </a:spcAft>
              <a:buClr>
                <a:srgbClr val="932328"/>
              </a:buClr>
              <a:buSzPts val="600"/>
              <a:buFont typeface="Arial"/>
              <a:buNone/>
            </a:pPr>
            <a:r>
              <a:rPr b="1" i="0" lang="es-AR" sz="1800" u="none" cap="none" strike="noStrike">
                <a:solidFill>
                  <a:srgbClr val="932328"/>
                </a:solidFill>
                <a:latin typeface="Arial"/>
                <a:ea typeface="Arial"/>
                <a:cs typeface="Arial"/>
                <a:sym typeface="Arial"/>
              </a:rPr>
              <a:t>Ley de teletrabajo</a:t>
            </a:r>
            <a:endParaRPr b="0" i="0" sz="1800" u="none" cap="none" strike="noStrike">
              <a:solidFill>
                <a:schemeClr val="dk1"/>
              </a:solidFill>
              <a:latin typeface="Arial"/>
              <a:ea typeface="Arial"/>
              <a:cs typeface="Arial"/>
              <a:sym typeface="Arial"/>
            </a:endParaRPr>
          </a:p>
        </p:txBody>
      </p:sp>
      <p:sp>
        <p:nvSpPr>
          <p:cNvPr id="794" name="Google Shape;794;p8"/>
          <p:cNvSpPr/>
          <p:nvPr/>
        </p:nvSpPr>
        <p:spPr>
          <a:xfrm>
            <a:off x="197417" y="3427846"/>
            <a:ext cx="8749162" cy="400514"/>
          </a:xfrm>
          <a:prstGeom prst="round2SameRect">
            <a:avLst>
              <a:gd fmla="val 16667" name="adj1"/>
              <a:gd fmla="val 0" name="adj2"/>
            </a:avLst>
          </a:prstGeom>
          <a:solidFill>
            <a:srgbClr val="0070C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AR" sz="1600" u="none" cap="none" strike="noStrike">
                <a:solidFill>
                  <a:schemeClr val="lt1"/>
                </a:solidFill>
                <a:latin typeface="Arial"/>
                <a:ea typeface="Arial"/>
                <a:cs typeface="Arial"/>
                <a:sym typeface="Arial"/>
              </a:rPr>
              <a:t>PUNTOS RELEVANTES</a:t>
            </a:r>
            <a:endParaRPr b="1" i="0" sz="16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6"/>
          <p:cNvSpPr txBox="1"/>
          <p:nvPr/>
        </p:nvSpPr>
        <p:spPr>
          <a:xfrm>
            <a:off x="1493520" y="2606040"/>
            <a:ext cx="6111240"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AR" sz="4800" u="none" cap="none" strike="noStrike">
                <a:solidFill>
                  <a:srgbClr val="000000"/>
                </a:solidFill>
                <a:latin typeface="Arial"/>
                <a:ea typeface="Arial"/>
                <a:cs typeface="Arial"/>
                <a:sym typeface="Arial"/>
              </a:rPr>
              <a:t>FIN PRIMERA CLASE</a:t>
            </a:r>
            <a:endParaRPr b="0" i="0" sz="4800" u="none" cap="none" strike="noStrike">
              <a:solidFill>
                <a:srgbClr val="000000"/>
              </a:solidFill>
              <a:latin typeface="Arial"/>
              <a:ea typeface="Arial"/>
              <a:cs typeface="Arial"/>
              <a:sym typeface="Arial"/>
            </a:endParaRPr>
          </a:p>
        </p:txBody>
      </p:sp>
      <p:pic>
        <p:nvPicPr>
          <p:cNvPr descr="Resultado de imagen para utn regional buenos aires ingenieria industrial" id="800" name="Google Shape;800;p16"/>
          <p:cNvPicPr preferRelativeResize="0"/>
          <p:nvPr/>
        </p:nvPicPr>
        <p:blipFill rotWithShape="1">
          <a:blip r:embed="rId3">
            <a:alphaModFix/>
          </a:blip>
          <a:srcRect b="0" l="0" r="0" t="0"/>
          <a:stretch/>
        </p:blipFill>
        <p:spPr>
          <a:xfrm>
            <a:off x="6517680" y="194896"/>
            <a:ext cx="2637692" cy="101111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20"/>
          <p:cNvSpPr/>
          <p:nvPr/>
        </p:nvSpPr>
        <p:spPr>
          <a:xfrm>
            <a:off x="1340803" y="234753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806" name="Google Shape;806;p20">
            <a:hlinkClick action="ppaction://hlinksldjump" r:id="rId3"/>
          </p:cNvPr>
          <p:cNvSpPr/>
          <p:nvPr/>
        </p:nvSpPr>
        <p:spPr>
          <a:xfrm>
            <a:off x="1142976" y="234753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807" name="Google Shape;807;p20"/>
          <p:cNvSpPr/>
          <p:nvPr/>
        </p:nvSpPr>
        <p:spPr>
          <a:xfrm>
            <a:off x="1340803" y="3534504"/>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808" name="Google Shape;808;p20"/>
          <p:cNvSpPr/>
          <p:nvPr/>
        </p:nvSpPr>
        <p:spPr>
          <a:xfrm>
            <a:off x="1142976" y="3534504"/>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809" name="Google Shape;809;p20"/>
          <p:cNvSpPr/>
          <p:nvPr/>
        </p:nvSpPr>
        <p:spPr>
          <a:xfrm>
            <a:off x="1340803" y="4127988"/>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810" name="Google Shape;810;p20">
            <a:hlinkClick action="ppaction://hlinksldjump" r:id="rId4"/>
          </p:cNvPr>
          <p:cNvSpPr/>
          <p:nvPr/>
        </p:nvSpPr>
        <p:spPr>
          <a:xfrm>
            <a:off x="1142976" y="412798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811" name="Google Shape;811;p20"/>
          <p:cNvSpPr txBox="1"/>
          <p:nvPr/>
        </p:nvSpPr>
        <p:spPr>
          <a:xfrm>
            <a:off x="228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Clr>
                <a:srgbClr val="000000"/>
              </a:buClr>
              <a:buSzPts val="1845"/>
              <a:buFont typeface="Arial"/>
              <a:buNone/>
            </a:pPr>
            <a:r>
              <a:rPr b="1" i="0" lang="es-AR"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Clr>
                <a:srgbClr val="000000"/>
              </a:buClr>
              <a:buSzPts val="2954"/>
              <a:buFont typeface="Arial"/>
              <a:buNone/>
            </a:pPr>
            <a:r>
              <a:rPr b="1" i="0" lang="es-AR"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812" name="Google Shape;812;p20"/>
          <p:cNvSpPr/>
          <p:nvPr/>
        </p:nvSpPr>
        <p:spPr>
          <a:xfrm>
            <a:off x="1340803" y="1817780"/>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813" name="Google Shape;813;p20">
            <a:hlinkClick action="ppaction://hlinksldjump" r:id="rId5"/>
          </p:cNvPr>
          <p:cNvSpPr/>
          <p:nvPr/>
        </p:nvSpPr>
        <p:spPr>
          <a:xfrm>
            <a:off x="1142976" y="1784827"/>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pic>
        <p:nvPicPr>
          <p:cNvPr descr="Resultado de imagen para utn regional buenos aires ingenieria industrial" id="814" name="Google Shape;814;p20"/>
          <p:cNvPicPr preferRelativeResize="0"/>
          <p:nvPr/>
        </p:nvPicPr>
        <p:blipFill rotWithShape="1">
          <a:blip r:embed="rId6">
            <a:alphaModFix/>
          </a:blip>
          <a:srcRect b="0" l="0" r="0" t="0"/>
          <a:stretch/>
        </p:blipFill>
        <p:spPr>
          <a:xfrm>
            <a:off x="6517680" y="271096"/>
            <a:ext cx="2637692" cy="1011116"/>
          </a:xfrm>
          <a:prstGeom prst="rect">
            <a:avLst/>
          </a:prstGeom>
          <a:noFill/>
          <a:ln>
            <a:noFill/>
          </a:ln>
        </p:spPr>
      </p:pic>
      <p:sp>
        <p:nvSpPr>
          <p:cNvPr id="815" name="Google Shape;815;p20"/>
          <p:cNvSpPr/>
          <p:nvPr/>
        </p:nvSpPr>
        <p:spPr>
          <a:xfrm>
            <a:off x="343067" y="3600412"/>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lt1"/>
              </a:solidFill>
              <a:latin typeface="Arial"/>
              <a:ea typeface="Arial"/>
              <a:cs typeface="Arial"/>
              <a:sym typeface="Arial"/>
            </a:endParaRPr>
          </a:p>
        </p:txBody>
      </p:sp>
      <p:sp>
        <p:nvSpPr>
          <p:cNvPr id="816" name="Google Shape;816;p20"/>
          <p:cNvSpPr/>
          <p:nvPr/>
        </p:nvSpPr>
        <p:spPr>
          <a:xfrm>
            <a:off x="7149516" y="1795899"/>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817" name="Google Shape;817;p20"/>
          <p:cNvSpPr txBox="1"/>
          <p:nvPr/>
        </p:nvSpPr>
        <p:spPr>
          <a:xfrm>
            <a:off x="7746932" y="2385086"/>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818" name="Google Shape;818;p20"/>
          <p:cNvSpPr/>
          <p:nvPr/>
        </p:nvSpPr>
        <p:spPr>
          <a:xfrm>
            <a:off x="7149516" y="3534504"/>
            <a:ext cx="404290" cy="1673987"/>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819" name="Google Shape;819;p20"/>
          <p:cNvSpPr txBox="1"/>
          <p:nvPr/>
        </p:nvSpPr>
        <p:spPr>
          <a:xfrm>
            <a:off x="7744778" y="393022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2"/>
              <a:buFont typeface="Arial"/>
              <a:buNone/>
            </a:pPr>
            <a:r>
              <a:rPr b="1" i="0" lang="es-AR"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62"/>
              <a:buFont typeface="Arial"/>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820" name="Google Shape;820;p20"/>
          <p:cNvSpPr/>
          <p:nvPr/>
        </p:nvSpPr>
        <p:spPr>
          <a:xfrm>
            <a:off x="1340803"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821" name="Google Shape;821;p20">
            <a:hlinkClick action="ppaction://hlinksldjump" r:id="rId7"/>
          </p:cNvPr>
          <p:cNvSpPr/>
          <p:nvPr/>
        </p:nvSpPr>
        <p:spPr>
          <a:xfrm>
            <a:off x="1142976" y="294101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
        <p:nvSpPr>
          <p:cNvPr id="822" name="Google Shape;822;p20"/>
          <p:cNvSpPr/>
          <p:nvPr/>
        </p:nvSpPr>
        <p:spPr>
          <a:xfrm>
            <a:off x="1326735" y="4721472"/>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Clr>
                <a:srgbClr val="000000"/>
              </a:buClr>
              <a:buSzPts val="1800"/>
              <a:buFont typeface="Arial"/>
              <a:buNone/>
            </a:pPr>
            <a:r>
              <a:rPr b="0" i="0" lang="es-AR"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823" name="Google Shape;823;p20">
            <a:hlinkClick action="ppaction://hlinksldjump" r:id="rId8"/>
          </p:cNvPr>
          <p:cNvSpPr/>
          <p:nvPr/>
        </p:nvSpPr>
        <p:spPr>
          <a:xfrm>
            <a:off x="1128908" y="4721472"/>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Clr>
                <a:srgbClr val="000000"/>
              </a:buClr>
              <a:buSzPts val="1662"/>
              <a:buFont typeface="Arial"/>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2020-05-24T03:57:34Z</dcterms:created>
  <dc:creator>Sabrina Ricardo</dc:creator>
</cp:coreProperties>
</file>