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906000"/>
  <p:notesSz cx="6834175" cy="9979025"/>
  <p:embeddedFontLst>
    <p:embeddedFont>
      <p:font typeface="Roboto"/>
      <p:regular r:id="rId33"/>
      <p:bold r:id="rId34"/>
      <p:italic r:id="rId35"/>
      <p:boldItalic r:id="rId36"/>
    </p:embeddedFont>
    <p:embeddedFont>
      <p:font typeface="Arial Narrow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16">
          <p15:clr>
            <a:srgbClr val="A4A3A4"/>
          </p15:clr>
        </p15:guide>
        <p15:guide id="2" pos="3120">
          <p15:clr>
            <a:srgbClr val="A4A3A4"/>
          </p15:clr>
        </p15:guide>
        <p15:guide id="3" orient="horz" pos="914">
          <p15:clr>
            <a:srgbClr val="A4A3A4"/>
          </p15:clr>
        </p15:guide>
        <p15:guide id="4" orient="horz" pos="2384">
          <p15:clr>
            <a:srgbClr val="A4A3A4"/>
          </p15:clr>
        </p15:guide>
        <p15:guide id="5" orient="horz" pos="2662">
          <p15:clr>
            <a:srgbClr val="A4A3A4"/>
          </p15:clr>
        </p15:guide>
        <p15:guide id="6" orient="horz" pos="3923">
          <p15:clr>
            <a:srgbClr val="A4A3A4"/>
          </p15:clr>
        </p15:guide>
        <p15:guide id="7" pos="2703">
          <p15:clr>
            <a:srgbClr val="A4A3A4"/>
          </p15:clr>
        </p15:guide>
        <p15:guide id="8" pos="5913">
          <p15:clr>
            <a:srgbClr val="A4A3A4"/>
          </p15:clr>
        </p15:guide>
        <p15:guide id="9" pos="2902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gh2kd07AbZBme8SytqB7GMQwuN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16" orient="horz"/>
        <p:guide pos="3120"/>
        <p:guide pos="914" orient="horz"/>
        <p:guide pos="2384" orient="horz"/>
        <p:guide pos="2662" orient="horz"/>
        <p:guide pos="3923" orient="horz"/>
        <p:guide pos="2703"/>
        <p:guide pos="5913"/>
        <p:guide pos="290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Narrow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italic.fntdata"/><Relationship Id="rId12" Type="http://schemas.openxmlformats.org/officeDocument/2006/relationships/slide" Target="slides/slide7.xml"/><Relationship Id="rId34" Type="http://schemas.openxmlformats.org/officeDocument/2006/relationships/font" Target="fonts/Roboto-bold.fntdata"/><Relationship Id="rId15" Type="http://schemas.openxmlformats.org/officeDocument/2006/relationships/slide" Target="slides/slide10.xml"/><Relationship Id="rId37" Type="http://schemas.openxmlformats.org/officeDocument/2006/relationships/font" Target="fonts/ArialNarrow-regular.fntdata"/><Relationship Id="rId14" Type="http://schemas.openxmlformats.org/officeDocument/2006/relationships/slide" Target="slides/slide9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39" Type="http://schemas.openxmlformats.org/officeDocument/2006/relationships/font" Target="fonts/ArialNarrow-italic.fntdata"/><Relationship Id="rId16" Type="http://schemas.openxmlformats.org/officeDocument/2006/relationships/slide" Target="slides/slide11.xml"/><Relationship Id="rId38" Type="http://schemas.openxmlformats.org/officeDocument/2006/relationships/font" Target="fonts/ArialNarrow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6834187" cy="4989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/>
          <p:nvPr>
            <p:ph idx="3" type="sldImg"/>
          </p:nvPr>
        </p:nvSpPr>
        <p:spPr>
          <a:xfrm>
            <a:off x="534987" y="623887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" name="Google Shape;5;n"/>
          <p:cNvSpPr txBox="1"/>
          <p:nvPr>
            <p:ph idx="1" type="body"/>
          </p:nvPr>
        </p:nvSpPr>
        <p:spPr>
          <a:xfrm>
            <a:off x="213545" y="4740037"/>
            <a:ext cx="6407095" cy="46153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1" type="ftr"/>
          </p:nvPr>
        </p:nvSpPr>
        <p:spPr>
          <a:xfrm>
            <a:off x="0" y="9478342"/>
            <a:ext cx="2961480" cy="4989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2" type="sldNum"/>
          </p:nvPr>
        </p:nvSpPr>
        <p:spPr>
          <a:xfrm>
            <a:off x="3871125" y="9478342"/>
            <a:ext cx="2961480" cy="498951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0" lIns="72000" spcFirstLastPara="1" rIns="180000" wrap="square" tIns="36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fld id="{00000000-1234-1234-1234-123412341234}" type="slidenum">
              <a:rPr b="1" i="0" lang="es-A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channel/UCTuM-djxpKPP4MKWYs_SJOA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manpowergroup.com.ar/wps/wcm/connect/manpowergroup/713ec917-88cc-48c6-92c7-c6aac8184a03/Infograf%C3%ADa+Escasez+de+Talento+2024.pdf?MOD=AJPERES&amp;CONVERT_TO=url&amp;CACHEID=ROOTWORKSPACE.Z18_2802IK01OORA70QUFIPQ192H31-713ec917-88cc-48c6-92c7-c6aac8184a03-oQYXytJ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4Nt_Yln6iMA" TargetMode="External"/><Relationship Id="rId3" Type="http://schemas.openxmlformats.org/officeDocument/2006/relationships/hyperlink" Target="https://www.youtube.com/watch?v=t8po1s5tCDw&amp;t=27s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g9yTUZ6I9E8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file/d/1xo3t9l4lwf4VVzFatZAOKkHj1rlHi8iX/view?usp=sharing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213545" y="4740037"/>
            <a:ext cx="6407095" cy="46153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" name="Google Shape;27;p1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213545" y="4740037"/>
            <a:ext cx="6407095" cy="46153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213545" y="4740037"/>
            <a:ext cx="6407100" cy="461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s-AR"/>
              <a:t>Enfoque</a:t>
            </a:r>
            <a:r>
              <a:rPr lang="es-AR"/>
              <a:t>: el alumno como futuro jefe/ responsable de área (cliente interno o “hiring manager”, es decir, quien requiere los servicios de RRHH para la contratación de personal), y la participación que tiene la línea en este subsistema. Alumno como futuro “entrevistador”: qué puede y debe hacer y qué puede y debe solicitarle a RRHH.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213545" y="4740037"/>
            <a:ext cx="6407100" cy="461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Recomiendo, por la duración del video, que le dejen el link a los alumnos en el Aula Virtual, pero no pasarlo durante la clase.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https://www.youtube.com/watch?v=A7dn58TRDQ0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Así es el Proceso de Selección en Unilever. Fuente: Canal “</a:t>
            </a:r>
            <a:r>
              <a:rPr b="0" i="0" lang="es-AR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Unilever Careers Southern Cone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en Youtube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Rescate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explicar que así es un proceso de selección completo, pero el video le habla a un “candidato”; que el alumno no caiga en el error de posicionarse como “candidato” (para eso existe el “Taller de armado de CV y Entrevista”, sino como “entrevistador” o “hiring manager”.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Duración: 5:59´</a:t>
            </a:r>
            <a:endParaRPr/>
          </a:p>
        </p:txBody>
      </p:sp>
      <p:sp>
        <p:nvSpPr>
          <p:cNvPr id="62" name="Google Shape;62;p4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fc9bfeeb6_0_0:notes"/>
          <p:cNvSpPr/>
          <p:nvPr>
            <p:ph idx="2" type="sldImg"/>
          </p:nvPr>
        </p:nvSpPr>
        <p:spPr>
          <a:xfrm>
            <a:off x="534987" y="623887"/>
            <a:ext cx="5764200" cy="399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2fc9bfeeb6_0_0:notes"/>
          <p:cNvSpPr txBox="1"/>
          <p:nvPr>
            <p:ph idx="1" type="body"/>
          </p:nvPr>
        </p:nvSpPr>
        <p:spPr>
          <a:xfrm>
            <a:off x="213545" y="4740037"/>
            <a:ext cx="6407100" cy="46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12fc9bfeeb6_0_0:notes"/>
          <p:cNvSpPr txBox="1"/>
          <p:nvPr>
            <p:ph idx="12" type="sldNum"/>
          </p:nvPr>
        </p:nvSpPr>
        <p:spPr>
          <a:xfrm>
            <a:off x="3871125" y="9478342"/>
            <a:ext cx="2961600" cy="498900"/>
          </a:xfrm>
          <a:prstGeom prst="rect">
            <a:avLst/>
          </a:prstGeom>
        </p:spPr>
        <p:txBody>
          <a:bodyPr anchorCtr="0" anchor="b" bIns="180000" lIns="72000" spcFirstLastPara="1" rIns="18000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2a86bbd699_0_9:notes"/>
          <p:cNvSpPr txBox="1"/>
          <p:nvPr>
            <p:ph idx="1" type="body"/>
          </p:nvPr>
        </p:nvSpPr>
        <p:spPr>
          <a:xfrm>
            <a:off x="213545" y="4740037"/>
            <a:ext cx="6407100" cy="4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Importante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el proceso de selección (extensión y orden) varía según la organización (tamaño, rubro, principalmente).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/>
              <a:t>En el cuadernillo están los 20 pasos a detalle del proceso de selección</a:t>
            </a:r>
            <a:endParaRPr/>
          </a:p>
        </p:txBody>
      </p:sp>
      <p:sp>
        <p:nvSpPr>
          <p:cNvPr id="77" name="Google Shape;77;g12a86bbd699_0_9:notes"/>
          <p:cNvSpPr/>
          <p:nvPr>
            <p:ph idx="2" type="sldImg"/>
          </p:nvPr>
        </p:nvSpPr>
        <p:spPr>
          <a:xfrm>
            <a:off x="534988" y="623888"/>
            <a:ext cx="5764200" cy="399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530196dc04_0_0:notes"/>
          <p:cNvSpPr/>
          <p:nvPr>
            <p:ph idx="2" type="sldImg"/>
          </p:nvPr>
        </p:nvSpPr>
        <p:spPr>
          <a:xfrm>
            <a:off x="534987" y="623887"/>
            <a:ext cx="5764200" cy="399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530196dc04_0_0:notes"/>
          <p:cNvSpPr txBox="1"/>
          <p:nvPr>
            <p:ph idx="1" type="body"/>
          </p:nvPr>
        </p:nvSpPr>
        <p:spPr>
          <a:xfrm>
            <a:off x="213545" y="4740037"/>
            <a:ext cx="6407100" cy="46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AR" sz="1100">
                <a:latin typeface="Calibri"/>
                <a:ea typeface="Calibri"/>
                <a:cs typeface="Calibri"/>
                <a:sym typeface="Calibri"/>
              </a:rPr>
              <a:t>17 Negociación y oferta escrita</a:t>
            </a:r>
            <a:r>
              <a:rPr lang="es-AR" sz="1100">
                <a:latin typeface="Calibri"/>
                <a:ea typeface="Calibri"/>
                <a:cs typeface="Calibri"/>
                <a:sym typeface="Calibri"/>
              </a:rPr>
              <a:t>: puede realizarla el futuro jede o el área de Recursos Humanos. No todas las organizaciones envían una oferta laboral escrita, pero es una buena práctica a utilizar en todos los niveles.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AR" sz="1100">
                <a:latin typeface="Calibri"/>
                <a:ea typeface="Calibri"/>
                <a:cs typeface="Calibri"/>
                <a:sym typeface="Calibri"/>
              </a:rPr>
              <a:t>18 Comunicación a los postulantes fuera del proceso</a:t>
            </a:r>
            <a:r>
              <a:rPr lang="es-AR" sz="1100">
                <a:latin typeface="Calibri"/>
                <a:ea typeface="Calibri"/>
                <a:cs typeface="Calibri"/>
                <a:sym typeface="Calibri"/>
              </a:rPr>
              <a:t>: se sugiere realizar este paso una vez que la persona seleccionada ha ingresado a la organización o está pronta a incorporarse.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AR" sz="1100">
                <a:latin typeface="Calibri"/>
                <a:ea typeface="Calibri"/>
                <a:cs typeface="Calibri"/>
                <a:sym typeface="Calibri"/>
              </a:rPr>
              <a:t>19 Proceso de admisión</a:t>
            </a:r>
            <a:endParaRPr i="1"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AR" sz="1100">
                <a:latin typeface="Calibri"/>
                <a:ea typeface="Calibri"/>
                <a:cs typeface="Calibri"/>
                <a:sym typeface="Calibri"/>
              </a:rPr>
              <a:t>20 Inducción</a:t>
            </a:r>
            <a:endParaRPr/>
          </a:p>
        </p:txBody>
      </p:sp>
      <p:sp>
        <p:nvSpPr>
          <p:cNvPr id="85" name="Google Shape;85;g2530196dc04_0_0:notes"/>
          <p:cNvSpPr txBox="1"/>
          <p:nvPr>
            <p:ph idx="12" type="sldNum"/>
          </p:nvPr>
        </p:nvSpPr>
        <p:spPr>
          <a:xfrm>
            <a:off x="3871125" y="9478342"/>
            <a:ext cx="2961600" cy="498900"/>
          </a:xfrm>
          <a:prstGeom prst="rect">
            <a:avLst/>
          </a:prstGeom>
        </p:spPr>
        <p:txBody>
          <a:bodyPr anchorCtr="0" anchor="b" bIns="180000" lIns="72000" spcFirstLastPara="1" rIns="180000" wrap="square" tIns="36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2a86bbd699_0_101:notes"/>
          <p:cNvSpPr txBox="1"/>
          <p:nvPr>
            <p:ph idx="1" type="body"/>
          </p:nvPr>
        </p:nvSpPr>
        <p:spPr>
          <a:xfrm>
            <a:off x="213545" y="4740037"/>
            <a:ext cx="6407100" cy="4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0" name="Google Shape;90;g12a86bbd699_0_101:notes"/>
          <p:cNvSpPr/>
          <p:nvPr>
            <p:ph idx="2" type="sldImg"/>
          </p:nvPr>
        </p:nvSpPr>
        <p:spPr>
          <a:xfrm>
            <a:off x="534988" y="623888"/>
            <a:ext cx="5764200" cy="399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213545" y="4740037"/>
            <a:ext cx="6407100" cy="461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Planeación de Personal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Trazar un plan de recursos humanos no sólo es saber cuánto personal se va a requerir, también implica diagnosticar en base a los cambios en la organización de una empresa, cómo será su nueva estructura y qué acciones se deben tomar.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/>
              <a:t>Hiring plan: </a:t>
            </a:r>
            <a:r>
              <a:rPr lang="es-AR"/>
              <a:t>Usualmente, se realiza una vez al año (entre SEP y DIC, dependiendo de la empresa), y se revisa a mitad del siguiente año.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/>
              <a:t>En el Hiring Plan se contemplan los puestos actuales en la compañía. Se tienen en cuenta: posiciones, áreas, salarios, etc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Cualquiera de estos factores, da como resultado en los equipos 3 fenómenos: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Expansión de personal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Recambio de personal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Reducción de personal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213545" y="4740037"/>
            <a:ext cx="6407095" cy="46153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/>
              <a:t>En ARG, conviven con efectos contradictorios: el desempleo y la </a:t>
            </a:r>
            <a:r>
              <a:rPr lang="es-AR"/>
              <a:t>escasez</a:t>
            </a:r>
            <a:r>
              <a:rPr lang="es-AR"/>
              <a:t> de talento en perfiles demandados. A esto, se le suma la fuga de talento al exterior.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/>
              <a:t>Infografía completa en materiales complementarios</a:t>
            </a:r>
            <a:br>
              <a:rPr lang="es-AR"/>
            </a:br>
            <a:br>
              <a:rPr lang="es-AR"/>
            </a:br>
            <a:r>
              <a:rPr lang="es-AR" u="sng">
                <a:solidFill>
                  <a:schemeClr val="hlink"/>
                </a:solidFill>
                <a:hlinkClick r:id="rId2"/>
              </a:rPr>
              <a:t>Infografia ManpowerGroup 2024</a:t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71125" y="9478342"/>
            <a:ext cx="2961480" cy="498951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0" lIns="72000" spcFirstLastPara="1" rIns="180000" wrap="square" tIns="36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fld id="{00000000-1234-1234-1234-123412341234}" type="slidenum">
              <a:rPr b="1" i="0" lang="es-A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0dd9d79ab7_0_1:notes"/>
          <p:cNvSpPr/>
          <p:nvPr>
            <p:ph idx="2" type="sldImg"/>
          </p:nvPr>
        </p:nvSpPr>
        <p:spPr>
          <a:xfrm>
            <a:off x="534988" y="623888"/>
            <a:ext cx="5764200" cy="399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20dd9d79ab7_0_1:notes"/>
          <p:cNvSpPr txBox="1"/>
          <p:nvPr>
            <p:ph idx="1" type="body"/>
          </p:nvPr>
        </p:nvSpPr>
        <p:spPr>
          <a:xfrm>
            <a:off x="213545" y="4740037"/>
            <a:ext cx="6407100" cy="4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/>
              <a:t>El 76% de las organizaciones tiene problemas para cubrir puestos de trabajo por falta de talento cualificado</a:t>
            </a:r>
            <a:endParaRPr/>
          </a:p>
        </p:txBody>
      </p:sp>
      <p:sp>
        <p:nvSpPr>
          <p:cNvPr id="163" name="Google Shape;163;g20dd9d79ab7_0_1:notes"/>
          <p:cNvSpPr txBox="1"/>
          <p:nvPr>
            <p:ph idx="12" type="sldNum"/>
          </p:nvPr>
        </p:nvSpPr>
        <p:spPr>
          <a:xfrm>
            <a:off x="3871125" y="9478342"/>
            <a:ext cx="29616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0" lIns="72000" spcFirstLastPara="1" rIns="180000" wrap="square" tIns="36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fld id="{00000000-1234-1234-1234-123412341234}" type="slidenum">
              <a:rPr b="1" i="0" lang="es-A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2a86bbd699_0_122:notes"/>
          <p:cNvSpPr txBox="1"/>
          <p:nvPr>
            <p:ph idx="1" type="body"/>
          </p:nvPr>
        </p:nvSpPr>
        <p:spPr>
          <a:xfrm>
            <a:off x="213545" y="4740037"/>
            <a:ext cx="6407100" cy="4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0" name="Google Shape;170;g12a86bbd699_0_122:notes"/>
          <p:cNvSpPr/>
          <p:nvPr>
            <p:ph idx="2" type="sldImg"/>
          </p:nvPr>
        </p:nvSpPr>
        <p:spPr>
          <a:xfrm>
            <a:off x="534988" y="623888"/>
            <a:ext cx="5764200" cy="399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213545" y="4740037"/>
            <a:ext cx="6407100" cy="461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reclutamiento corresponde atraer de manera selectiva, mediante varias técnicas, candidatos que cumplan requisitos mínimos que el cargo exige.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proceso se inicia a partir de la decisión de la línea mediante una solicitud de personal. La ejecución del proceso es una función de staff.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recibir la solicitud de personal se verifica en la base de datos si hay candidatos adecuados disponibles y caso contrario se inicia el reclutamiento.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213545" y="4740037"/>
            <a:ext cx="6407100" cy="461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Enfoque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Explicar ventajas y desventajas de cada uno.</a:t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:notes"/>
          <p:cNvSpPr txBox="1"/>
          <p:nvPr>
            <p:ph idx="1" type="body"/>
          </p:nvPr>
        </p:nvSpPr>
        <p:spPr>
          <a:xfrm>
            <a:off x="213545" y="4740037"/>
            <a:ext cx="6407100" cy="461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medios varían según el tipo y tamaño de la organización. Si bien hay algunos que no se utilizan tanto (ejemplo: </a:t>
            </a: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diarios, radios, revistas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aún se siguen utilizando para rubros específicos y ciudades/ pueblos. Las </a:t>
            </a: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presentaciones espontáneas 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siguen dando en fábricas y agencias de personal temporal. </a:t>
            </a:r>
            <a:b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Nuevas herramientas: </a:t>
            </a: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chatbots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jobcasts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El primero es un chat que se promociona en determinadas páginas/ redes, que está segmentado por públicos y genera preguntas automáticas que los candidatos responden para lograr un primer “filtro”. Los jobcasts son videos, usualmente realizados por personas de la línea o reclutadores, en los cuales se promociona una vacante específica y se publica en redes sociales.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4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2a86bbd699_0_143:notes"/>
          <p:cNvSpPr txBox="1"/>
          <p:nvPr>
            <p:ph idx="1" type="body"/>
          </p:nvPr>
        </p:nvSpPr>
        <p:spPr>
          <a:xfrm>
            <a:off x="213545" y="4740037"/>
            <a:ext cx="6407100" cy="4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6" name="Google Shape;286;g12a86bbd699_0_143:notes"/>
          <p:cNvSpPr/>
          <p:nvPr>
            <p:ph idx="2" type="sldImg"/>
          </p:nvPr>
        </p:nvSpPr>
        <p:spPr>
          <a:xfrm>
            <a:off x="534988" y="623888"/>
            <a:ext cx="5764200" cy="399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 txBox="1"/>
          <p:nvPr>
            <p:ph idx="1" type="body"/>
          </p:nvPr>
        </p:nvSpPr>
        <p:spPr>
          <a:xfrm>
            <a:off x="213545" y="4740037"/>
            <a:ext cx="6407100" cy="461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“Elección del individuo adecuado para el cargo adecuado”.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el proceso de selección sea eficaz es imprescindible que los gerentes de línea y sus equipos se involucren en el mismo.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6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/>
          <p:nvPr>
            <p:ph idx="1" type="body"/>
          </p:nvPr>
        </p:nvSpPr>
        <p:spPr>
          <a:xfrm>
            <a:off x="213545" y="4740037"/>
            <a:ext cx="6407100" cy="461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s-AR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BASES PARA LA SELECCIÓN DE PERSONAS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punto de partida es la obtención de información sobre el cargo.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Recolección de información acerca del cargo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Descripción y análisis del cargo: Inventario de los aspectos intrínsecos (contenido del cargo) y extrínsecos (requisitos que debe cumplir el aspirante al cargo) del cargo.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Aplicación de la técnica de los incidentes críticos: Inventario de los hechos y comportamientos de los ocupantes del cargo considerado que han producido un mejor o peor desempeño en el trabajo. El jefe lista las características deseables y no deseables en los candidatos.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Requerimiento de personal: Especificación de los requisitos que debe cumplir el aspirante por parte del jefe.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Análisis del cargo en el mercado: Verificar el contenido y requisitos del cargo en empresas semejantes.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Elección de las técnicas de selección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Comúnmente se elige más de una técnica. Las técnicas elegidas deben representar el mejor elemento de predicción para un buen desempeño futuro en el cargo.</a:t>
            </a:r>
            <a:endParaRPr/>
          </a:p>
        </p:txBody>
      </p:sp>
      <p:sp>
        <p:nvSpPr>
          <p:cNvPr id="316" name="Google Shape;316;p17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 txBox="1"/>
          <p:nvPr>
            <p:ph idx="1" type="body"/>
          </p:nvPr>
        </p:nvSpPr>
        <p:spPr>
          <a:xfrm>
            <a:off x="213545" y="4740037"/>
            <a:ext cx="6407100" cy="461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Humanos acompaña, gestiona y administra el </a:t>
            </a: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proceso de comparación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potenciales candidatos, pero la responsabilidad de</a:t>
            </a: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decisión 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candidato/s es de la línea.</a:t>
            </a:r>
            <a:endParaRPr/>
          </a:p>
        </p:txBody>
      </p:sp>
      <p:sp>
        <p:nvSpPr>
          <p:cNvPr id="333" name="Google Shape;333;p19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11c1278acb_0_0:notes"/>
          <p:cNvSpPr txBox="1"/>
          <p:nvPr>
            <p:ph idx="1" type="body"/>
          </p:nvPr>
        </p:nvSpPr>
        <p:spPr>
          <a:xfrm>
            <a:off x="213545" y="4740037"/>
            <a:ext cx="6407100" cy="4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Humanos acompaña, gestiona y administra el </a:t>
            </a: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proceso de comparación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potenciales candidatos, pero la responsabilidad de</a:t>
            </a: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decisión 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candidato/s es de la línea.</a:t>
            </a:r>
            <a:endParaRPr/>
          </a:p>
        </p:txBody>
      </p:sp>
      <p:sp>
        <p:nvSpPr>
          <p:cNvPr id="353" name="Google Shape;353;g211c1278acb_0_0:notes"/>
          <p:cNvSpPr/>
          <p:nvPr>
            <p:ph idx="2" type="sldImg"/>
          </p:nvPr>
        </p:nvSpPr>
        <p:spPr>
          <a:xfrm>
            <a:off x="534988" y="623888"/>
            <a:ext cx="5764200" cy="399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:notes"/>
          <p:cNvSpPr txBox="1"/>
          <p:nvPr>
            <p:ph idx="1" type="body"/>
          </p:nvPr>
        </p:nvSpPr>
        <p:spPr>
          <a:xfrm>
            <a:off x="213545" y="4740037"/>
            <a:ext cx="6407100" cy="461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 diferencia de cada técnica en Material Soporte.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0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2bcf553463_0_0:notes"/>
          <p:cNvSpPr txBox="1"/>
          <p:nvPr>
            <p:ph idx="1" type="body"/>
          </p:nvPr>
        </p:nvSpPr>
        <p:spPr>
          <a:xfrm>
            <a:off x="213545" y="4740037"/>
            <a:ext cx="6407100" cy="4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 diferencia de cada técnica en Material Soporte.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12bcf553463_0_0:notes"/>
          <p:cNvSpPr/>
          <p:nvPr>
            <p:ph idx="2" type="sldImg"/>
          </p:nvPr>
        </p:nvSpPr>
        <p:spPr>
          <a:xfrm>
            <a:off x="534988" y="623888"/>
            <a:ext cx="5764200" cy="399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1:notes"/>
          <p:cNvSpPr txBox="1"/>
          <p:nvPr>
            <p:ph idx="1" type="body"/>
          </p:nvPr>
        </p:nvSpPr>
        <p:spPr>
          <a:xfrm>
            <a:off x="213545" y="4740037"/>
            <a:ext cx="6407100" cy="461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/>
              <a:t>The internship- Google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u="sng">
                <a:solidFill>
                  <a:schemeClr val="hlink"/>
                </a:solidFill>
                <a:hlinkClick r:id="rId2"/>
              </a:rPr>
              <a:t>https://www.youtube.com/watch?v=4Nt_Yln6iMA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u="sng">
                <a:solidFill>
                  <a:schemeClr val="hlink"/>
                </a:solidFill>
                <a:hlinkClick r:id="rId3"/>
              </a:rPr>
              <a:t>https://www.youtube.com/watch?v=t8po1s5tCDw&amp;t=27s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busca de la felicidad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Duración: 3:59´</a:t>
            </a:r>
            <a:endParaRPr/>
          </a:p>
        </p:txBody>
      </p:sp>
      <p:sp>
        <p:nvSpPr>
          <p:cNvPr id="394" name="Google Shape;394;p21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2:notes"/>
          <p:cNvSpPr txBox="1"/>
          <p:nvPr>
            <p:ph idx="1" type="body"/>
          </p:nvPr>
        </p:nvSpPr>
        <p:spPr>
          <a:xfrm>
            <a:off x="213545" y="4740037"/>
            <a:ext cx="6407100" cy="461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AR" u="sng">
                <a:solidFill>
                  <a:schemeClr val="hlink"/>
                </a:solidFill>
                <a:hlinkClick r:id="rId2"/>
              </a:rPr>
              <a:t>https://www.youtube.com/watch?v=g9yTUZ6I9E8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Publicidad Heineken, “El candidato”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Duración: 3:36´</a:t>
            </a:r>
            <a:endParaRPr/>
          </a:p>
        </p:txBody>
      </p:sp>
      <p:sp>
        <p:nvSpPr>
          <p:cNvPr id="401" name="Google Shape;401;p22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:notes"/>
          <p:cNvSpPr txBox="1"/>
          <p:nvPr>
            <p:ph idx="1" type="body"/>
          </p:nvPr>
        </p:nvSpPr>
        <p:spPr>
          <a:xfrm>
            <a:off x="213545" y="4740037"/>
            <a:ext cx="6407100" cy="461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 desarrollo comprende 5 etapas: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Preparación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Determinar objetivos, determinar tipo de entrevista, lectura preliminar del CV, reunir la mayor cantidad posible de información acerca del candidato y del cargo.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Ambiente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Preparar el ambiente físico (confortable, sin ruidos ni interrupciones, libre de la presencia de otras personas) y psicológico (clima ameno y cordial).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Desarrollo de la entrevista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el entrevistador envía estímulos (preguntas) al entrevistado con el fin de estudiar las respuestas y reacciones en el comportamiento para elaborar nuevas preguntas. También se proporciona información al aspirante sobre el cargo y la organización. Aspectos considerados: </a:t>
            </a:r>
            <a:b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Contenido de la entrevista: Conjunto de información que el candidato suministra.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Comportamiento del candidato: Manera cómo reacciona.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Cierre de la entrevista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Proporcionar al candidato información sobre los próximos pasos.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1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Evaluación del candidato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Registrar los detalles y tomar decisiones. Lo recomendable es hacerlo inmediatamente después de realizada la entrevista cuando los detalles están frescos.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3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4:notes"/>
          <p:cNvSpPr txBox="1"/>
          <p:nvPr>
            <p:ph idx="1" type="body"/>
          </p:nvPr>
        </p:nvSpPr>
        <p:spPr>
          <a:xfrm>
            <a:off x="213545" y="4740037"/>
            <a:ext cx="6407100" cy="461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de mejorar el grado de confianza y validez de la entrevista: entrenamiento de los entrevistadores.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4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5:notes"/>
          <p:cNvSpPr txBox="1"/>
          <p:nvPr>
            <p:ph idx="1" type="body"/>
          </p:nvPr>
        </p:nvSpPr>
        <p:spPr>
          <a:xfrm>
            <a:off x="213545" y="4740037"/>
            <a:ext cx="6407100" cy="461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(Link en Drive) </a:t>
            </a:r>
            <a:r>
              <a:rPr b="0" i="0" lang="es-AR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https://drive.google.com/file/d/1xo3t9l4lwf4VVzFatZAOKkHj1rlHi8iX/view?usp=sharing</a:t>
            </a: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“El consultorio de Berto”- Parodia a preguntas de entrevistadores laborales.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Duración: 2:25´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5:notes"/>
          <p:cNvSpPr/>
          <p:nvPr>
            <p:ph idx="2" type="sldImg"/>
          </p:nvPr>
        </p:nvSpPr>
        <p:spPr>
          <a:xfrm>
            <a:off x="534988" y="623888"/>
            <a:ext cx="5764212" cy="3990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-People">
  <p:cSld name="Cover-Peop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/>
          <p:nvPr/>
        </p:nvSpPr>
        <p:spPr>
          <a:xfrm>
            <a:off x="-7943" y="6286500"/>
            <a:ext cx="9907200" cy="17462"/>
          </a:xfrm>
          <a:prstGeom prst="rect">
            <a:avLst/>
          </a:prstGeom>
          <a:gradFill>
            <a:gsLst>
              <a:gs pos="0">
                <a:srgbClr val="E3EDF5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1"/>
          <p:cNvSpPr/>
          <p:nvPr/>
        </p:nvSpPr>
        <p:spPr>
          <a:xfrm>
            <a:off x="-24977" y="1196958"/>
            <a:ext cx="9907200" cy="17462"/>
          </a:xfrm>
          <a:prstGeom prst="rect">
            <a:avLst/>
          </a:prstGeom>
          <a:gradFill>
            <a:gsLst>
              <a:gs pos="0">
                <a:srgbClr val="E3EDF5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iapositiva de título">
  <p:cSld name="2_Diapositiva de título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2"/>
          <p:cNvSpPr/>
          <p:nvPr/>
        </p:nvSpPr>
        <p:spPr>
          <a:xfrm>
            <a:off x="-24977" y="1196958"/>
            <a:ext cx="9907200" cy="17462"/>
          </a:xfrm>
          <a:prstGeom prst="rect">
            <a:avLst/>
          </a:prstGeom>
          <a:gradFill>
            <a:gsLst>
              <a:gs pos="0">
                <a:srgbClr val="E3EDF5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s Info">
  <p:cSld name="Contacts Inf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3"/>
          <p:cNvSpPr txBox="1"/>
          <p:nvPr>
            <p:ph idx="12" type="sldNum"/>
          </p:nvPr>
        </p:nvSpPr>
        <p:spPr>
          <a:xfrm>
            <a:off x="9648000" y="6732000"/>
            <a:ext cx="251999" cy="104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6000" spcFirstLastPara="1" rIns="36000" wrap="square" tIns="0">
            <a:noAutofit/>
          </a:bodyPr>
          <a:lstStyle>
            <a:lvl1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descr="images (1).jpg" id="20" name="Google Shape;20;p33"/>
          <p:cNvSpPr/>
          <p:nvPr/>
        </p:nvSpPr>
        <p:spPr>
          <a:xfrm>
            <a:off x="6357982" y="2571743"/>
            <a:ext cx="3524239" cy="42862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mages (1).jpg" id="21" name="Google Shape;21;p33"/>
          <p:cNvSpPr/>
          <p:nvPr/>
        </p:nvSpPr>
        <p:spPr>
          <a:xfrm>
            <a:off x="0" y="0"/>
            <a:ext cx="2724146" cy="31432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3"/>
          <p:cNvSpPr/>
          <p:nvPr/>
        </p:nvSpPr>
        <p:spPr>
          <a:xfrm flipH="1" rot="10800000">
            <a:off x="3309926" y="1214422"/>
            <a:ext cx="6572296" cy="45718"/>
          </a:xfrm>
          <a:prstGeom prst="rect">
            <a:avLst/>
          </a:prstGeom>
          <a:gradFill>
            <a:gsLst>
              <a:gs pos="0">
                <a:srgbClr val="E3EDF5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3"/>
          <p:cNvSpPr/>
          <p:nvPr/>
        </p:nvSpPr>
        <p:spPr>
          <a:xfrm flipH="1">
            <a:off x="0" y="5715016"/>
            <a:ext cx="5524504" cy="45718"/>
          </a:xfrm>
          <a:prstGeom prst="rect">
            <a:avLst/>
          </a:prstGeom>
          <a:gradFill>
            <a:gsLst>
              <a:gs pos="0">
                <a:srgbClr val="E3EDF5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" showMasterSp="0">
  <p:cSld name="Slid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0"/>
          <p:cNvSpPr txBox="1"/>
          <p:nvPr>
            <p:ph type="title"/>
          </p:nvPr>
        </p:nvSpPr>
        <p:spPr>
          <a:xfrm>
            <a:off x="0" y="0"/>
            <a:ext cx="9906000" cy="1187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 Narrow"/>
              <a:buNone/>
              <a:defRPr b="1" i="0" sz="30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0"/>
          <p:cNvSpPr/>
          <p:nvPr/>
        </p:nvSpPr>
        <p:spPr>
          <a:xfrm>
            <a:off x="-7943" y="6286500"/>
            <a:ext cx="9907200" cy="17462"/>
          </a:xfrm>
          <a:prstGeom prst="rect">
            <a:avLst/>
          </a:prstGeom>
          <a:gradFill>
            <a:gsLst>
              <a:gs pos="0">
                <a:srgbClr val="E3EDF5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0" y="1440000"/>
            <a:ext cx="9906000" cy="4679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urier New"/>
              <a:buChar char="o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Resultado de imagen para utn regional buenos aires ingenieria industrial" id="12" name="Google Shape;12;p3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060820" y="7937"/>
            <a:ext cx="2857500" cy="109537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6.xml"/><Relationship Id="rId4" Type="http://schemas.openxmlformats.org/officeDocument/2006/relationships/hyperlink" Target="http://ppt/slides/slide38.xml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://ppt/slides/slide38.xml" TargetMode="External"/><Relationship Id="rId7" Type="http://schemas.openxmlformats.org/officeDocument/2006/relationships/hyperlink" Target="http://ppt/slides/slide38.xml" TargetMode="External"/><Relationship Id="rId8" Type="http://schemas.openxmlformats.org/officeDocument/2006/relationships/hyperlink" Target="http://ppt/slides/slide38.x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A7dn58TRDQ0" TargetMode="External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26.xml"/><Relationship Id="rId4" Type="http://schemas.openxmlformats.org/officeDocument/2006/relationships/hyperlink" Target="http://ppt/slides/slide38.xml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://ppt/slides/slide38.xml" TargetMode="External"/><Relationship Id="rId7" Type="http://schemas.openxmlformats.org/officeDocument/2006/relationships/hyperlink" Target="http://ppt/slides/slide38.xml" TargetMode="External"/><Relationship Id="rId8" Type="http://schemas.openxmlformats.org/officeDocument/2006/relationships/hyperlink" Target="http://ppt/slides/slide38.x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26.xml"/><Relationship Id="rId4" Type="http://schemas.openxmlformats.org/officeDocument/2006/relationships/hyperlink" Target="http://ppt/slides/slide38.xml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://ppt/slides/slide38.xml" TargetMode="External"/><Relationship Id="rId7" Type="http://schemas.openxmlformats.org/officeDocument/2006/relationships/hyperlink" Target="http://ppt/slides/slide38.xml" TargetMode="External"/><Relationship Id="rId8" Type="http://schemas.openxmlformats.org/officeDocument/2006/relationships/hyperlink" Target="http://ppt/slides/slide38.x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26.xml"/><Relationship Id="rId4" Type="http://schemas.openxmlformats.org/officeDocument/2006/relationships/hyperlink" Target="http://ppt/slides/slide38.xml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://ppt/slides/slide38.xml" TargetMode="External"/><Relationship Id="rId7" Type="http://schemas.openxmlformats.org/officeDocument/2006/relationships/hyperlink" Target="http://ppt/slides/slide38.xml" TargetMode="External"/><Relationship Id="rId8" Type="http://schemas.openxmlformats.org/officeDocument/2006/relationships/hyperlink" Target="http://ppt/slides/slide38.xm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www.youtube.com/watch?v=4Nt_Yln6iMA" TargetMode="External"/><Relationship Id="rId4" Type="http://schemas.openxmlformats.org/officeDocument/2006/relationships/image" Target="../media/image1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www.youtube.com/watch?v=g9yTUZ6I9E8" TargetMode="External"/><Relationship Id="rId4" Type="http://schemas.openxmlformats.org/officeDocument/2006/relationships/image" Target="../media/image1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drive.google.com/file/d/1vf9ioVRrb09GIQJIf3hnzD8vU7ZtmoHT/view" TargetMode="Externa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ttps://encrypted-tbn2.gstatic.com/images?q=tbn:ANd9GcRcyGsKQFbNE159vcUw6iMcDisELRoVKzvai6d3iJrA-_BtH5dgBw" id="29" name="Google Shape;29;p1"/>
          <p:cNvSpPr/>
          <p:nvPr/>
        </p:nvSpPr>
        <p:spPr>
          <a:xfrm>
            <a:off x="155575" y="-144463"/>
            <a:ext cx="304799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2381232" y="3998855"/>
            <a:ext cx="6143667" cy="1861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</a:pPr>
            <a:r>
              <a:rPr b="1" lang="es-AR" sz="1800">
                <a:solidFill>
                  <a:schemeClr val="dk1"/>
                </a:solidFill>
              </a:rPr>
              <a:t>INGENIERÍA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INDUSTRIAL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</a:pPr>
            <a:r>
              <a:rPr b="1" lang="es-AR" sz="1800">
                <a:solidFill>
                  <a:schemeClr val="dk1"/>
                </a:solidFill>
              </a:rPr>
              <a:t>CÁTEDRA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RELACIONES INDUSTRIALES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Reclutamiento</a:t>
            </a:r>
            <a:r>
              <a:rPr b="1" lang="es-AR" sz="1800"/>
              <a:t> y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AR" sz="1800">
                <a:solidFill>
                  <a:schemeClr val="dk1"/>
                </a:solidFill>
              </a:rPr>
              <a:t>Selección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utn regional buenos aires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0255" y="2053176"/>
            <a:ext cx="4524375" cy="162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1467787" y="2862421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5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Reclutamiento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>
            <a:hlinkClick action="ppaction://hlinksldjump" r:id="rId3"/>
          </p:cNvPr>
          <p:cNvSpPr/>
          <p:nvPr/>
        </p:nvSpPr>
        <p:spPr>
          <a:xfrm>
            <a:off x="1253474" y="2862421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467787" y="3505362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5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Selección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>
            <a:hlinkClick r:id="rId4"/>
          </p:cNvPr>
          <p:cNvSpPr/>
          <p:nvPr/>
        </p:nvSpPr>
        <p:spPr>
          <a:xfrm>
            <a:off x="1253474" y="350536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0" y="-23"/>
            <a:ext cx="9906000" cy="1187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Agenda</a:t>
            </a:r>
            <a:endParaRPr b="1" i="0" sz="2800" u="none" cap="none" strike="noStrike">
              <a:solidFill>
                <a:srgbClr val="932328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467787" y="2219478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5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Planeación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>
            <a:hlinkClick/>
          </p:cNvPr>
          <p:cNvSpPr/>
          <p:nvPr/>
        </p:nvSpPr>
        <p:spPr>
          <a:xfrm>
            <a:off x="1253474" y="2219478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452537" y="1647812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5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Presentación y enfoque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>
            <a:hlinkClick/>
          </p:cNvPr>
          <p:cNvSpPr/>
          <p:nvPr/>
        </p:nvSpPr>
        <p:spPr>
          <a:xfrm>
            <a:off x="1238224" y="164781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utn regional buenos aires ingenieria industrial" id="45" name="Google Shape;4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0820" y="7937"/>
            <a:ext cx="2857500" cy="109537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1452547" y="4130202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5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Inducción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>
            <a:hlinkClick r:id="rId6"/>
          </p:cNvPr>
          <p:cNvSpPr/>
          <p:nvPr/>
        </p:nvSpPr>
        <p:spPr>
          <a:xfrm>
            <a:off x="1238234" y="413020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81031" y="1683512"/>
            <a:ext cx="642900" cy="3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BA89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452547" y="4773143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5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Marca Empleadora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>
            <a:hlinkClick r:id="rId7"/>
          </p:cNvPr>
          <p:cNvSpPr/>
          <p:nvPr/>
        </p:nvSpPr>
        <p:spPr>
          <a:xfrm>
            <a:off x="1253474" y="475504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452547" y="5478118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lang="es-AR" sz="1800">
                <a:solidFill>
                  <a:srgbClr val="932328"/>
                </a:solidFill>
              </a:rPr>
              <a:t>Tipos de Contratos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>
            <a:hlinkClick r:id="rId8"/>
          </p:cNvPr>
          <p:cNvSpPr/>
          <p:nvPr/>
        </p:nvSpPr>
        <p:spPr>
          <a:xfrm>
            <a:off x="1253474" y="5460017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/>
          <p:nvPr/>
        </p:nvSpPr>
        <p:spPr>
          <a:xfrm>
            <a:off x="0" y="0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Presentación y Enfoque</a:t>
            </a:r>
            <a:endParaRPr b="1" i="0" sz="2800" u="none" cap="none" strike="noStrike">
              <a:solidFill>
                <a:srgbClr val="932328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4953000" y="2708825"/>
            <a:ext cx="34959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50">
                <a:solidFill>
                  <a:srgbClr val="363636"/>
                </a:solidFill>
                <a:highlight>
                  <a:srgbClr val="FFFFFF"/>
                </a:highlight>
              </a:rPr>
              <a:t>La atracción de talento corresponde a las estrategias y tácticas de una empresa para atraer a los mejores candidatos a una de sus vacantes.</a:t>
            </a:r>
            <a:endParaRPr b="1" sz="1900"/>
          </a:p>
        </p:txBody>
      </p:sp>
      <p:pic>
        <p:nvPicPr>
          <p:cNvPr id="59" name="Google Shape;5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250" y="1600500"/>
            <a:ext cx="3750674" cy="3750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/>
          <p:nvPr/>
        </p:nvSpPr>
        <p:spPr>
          <a:xfrm>
            <a:off x="0" y="0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Presentación y Enfoque</a:t>
            </a:r>
            <a:endParaRPr b="1" i="0" sz="2800" u="none" cap="none" strike="noStrike">
              <a:solidFill>
                <a:srgbClr val="932328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22960" y="553033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31943" y="6311113"/>
            <a:ext cx="42210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n la aventura de buscar el empleo ideal, muchas personas te van a querer dar recomendaciones. Nosotros te recomendamos, ante todo, tranquilidad. &#10;&#10;Mira este video y conoce el &quot;detrás de escena&quot; del Proceso de Selección de Candidatos en Unilever :)&#10;&#10;▶ Hacete Fan de Unilever en Facebook: https://www.facebook.com/UnileverCare...&#10;▶ Seguinos en Twitter: https://twitter.com/UnileverTalent" id="67" name="Google Shape;67;p4" title="Así es el Proceso de Selección en Unileve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4754" y="1305875"/>
            <a:ext cx="6516500" cy="488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g12fc9bfeeb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2800" y="1271325"/>
            <a:ext cx="4603076" cy="495645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12fc9bfeeb6_0_0"/>
          <p:cNvSpPr txBox="1"/>
          <p:nvPr/>
        </p:nvSpPr>
        <p:spPr>
          <a:xfrm>
            <a:off x="0" y="0"/>
            <a:ext cx="5891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93232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932328"/>
                </a:solidFill>
              </a:rPr>
              <a:t>Relaciones industriales</a:t>
            </a:r>
            <a:endParaRPr b="1" sz="2000">
              <a:solidFill>
                <a:srgbClr val="93232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200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Caso Atracción de talentos</a:t>
            </a:r>
            <a:r>
              <a:rPr b="1" lang="es-AR" sz="3200">
                <a:solidFill>
                  <a:srgbClr val="932328"/>
                </a:solidFill>
              </a:rPr>
              <a:t>  </a:t>
            </a:r>
            <a:endParaRPr b="1" sz="2000">
              <a:solidFill>
                <a:srgbClr val="93232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2a86bbd699_0_9"/>
          <p:cNvSpPr txBox="1"/>
          <p:nvPr/>
        </p:nvSpPr>
        <p:spPr>
          <a:xfrm>
            <a:off x="0" y="37090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Presentación y Enfoque</a:t>
            </a:r>
            <a:endParaRPr b="1" i="0" sz="2800" u="none" cap="none" strike="noStrike">
              <a:solidFill>
                <a:srgbClr val="932328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80" name="Google Shape;80;g12a86bbd699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700" y="1601275"/>
            <a:ext cx="4649201" cy="4626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12a86bbd699_0_9"/>
          <p:cNvSpPr/>
          <p:nvPr/>
        </p:nvSpPr>
        <p:spPr>
          <a:xfrm rot="5400000">
            <a:off x="4872907" y="1274137"/>
            <a:ext cx="285900" cy="27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BA89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2530196dc0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9685857" cy="670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2a86bbd699_0_101"/>
          <p:cNvSpPr/>
          <p:nvPr/>
        </p:nvSpPr>
        <p:spPr>
          <a:xfrm>
            <a:off x="1467787" y="2862421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Reclutamiento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12a86bbd699_0_101">
            <a:hlinkClick action="ppaction://hlinksldjump" r:id="rId3"/>
          </p:cNvPr>
          <p:cNvSpPr/>
          <p:nvPr/>
        </p:nvSpPr>
        <p:spPr>
          <a:xfrm>
            <a:off x="1253474" y="2862421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12a86bbd699_0_101"/>
          <p:cNvSpPr/>
          <p:nvPr/>
        </p:nvSpPr>
        <p:spPr>
          <a:xfrm>
            <a:off x="1467787" y="3505362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Selección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12a86bbd699_0_101">
            <a:hlinkClick r:id="rId4"/>
          </p:cNvPr>
          <p:cNvSpPr/>
          <p:nvPr/>
        </p:nvSpPr>
        <p:spPr>
          <a:xfrm>
            <a:off x="1253474" y="350536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2a86bbd699_0_101"/>
          <p:cNvSpPr txBox="1"/>
          <p:nvPr/>
        </p:nvSpPr>
        <p:spPr>
          <a:xfrm>
            <a:off x="0" y="-23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Agenda</a:t>
            </a:r>
            <a:endParaRPr b="1" i="0" sz="2800" u="none" cap="none" strike="noStrike">
              <a:solidFill>
                <a:srgbClr val="932328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g12a86bbd699_0_101"/>
          <p:cNvSpPr/>
          <p:nvPr/>
        </p:nvSpPr>
        <p:spPr>
          <a:xfrm>
            <a:off x="1467787" y="2219478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Planeación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2a86bbd699_0_101">
            <a:hlinkClick/>
          </p:cNvPr>
          <p:cNvSpPr/>
          <p:nvPr/>
        </p:nvSpPr>
        <p:spPr>
          <a:xfrm>
            <a:off x="1253474" y="2219478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12a86bbd699_0_101"/>
          <p:cNvSpPr/>
          <p:nvPr/>
        </p:nvSpPr>
        <p:spPr>
          <a:xfrm>
            <a:off x="1452537" y="1647812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Presentación y enfoque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12a86bbd699_0_101">
            <a:hlinkClick/>
          </p:cNvPr>
          <p:cNvSpPr/>
          <p:nvPr/>
        </p:nvSpPr>
        <p:spPr>
          <a:xfrm>
            <a:off x="1238224" y="164781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utn regional buenos aires ingenieria industrial" id="101" name="Google Shape;101;g12a86bbd699_0_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0820" y="7937"/>
            <a:ext cx="2857500" cy="109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12a86bbd699_0_101"/>
          <p:cNvSpPr/>
          <p:nvPr/>
        </p:nvSpPr>
        <p:spPr>
          <a:xfrm>
            <a:off x="1452547" y="4130202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Inducción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12a86bbd699_0_101">
            <a:hlinkClick r:id="rId6"/>
          </p:cNvPr>
          <p:cNvSpPr/>
          <p:nvPr/>
        </p:nvSpPr>
        <p:spPr>
          <a:xfrm>
            <a:off x="1238234" y="413020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2a86bbd699_0_101"/>
          <p:cNvSpPr/>
          <p:nvPr/>
        </p:nvSpPr>
        <p:spPr>
          <a:xfrm>
            <a:off x="402531" y="2255187"/>
            <a:ext cx="642900" cy="3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BA89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12a86bbd699_0_101"/>
          <p:cNvSpPr/>
          <p:nvPr/>
        </p:nvSpPr>
        <p:spPr>
          <a:xfrm>
            <a:off x="1452547" y="4773143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Marca Empleadora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2a86bbd699_0_101">
            <a:hlinkClick r:id="rId7"/>
          </p:cNvPr>
          <p:cNvSpPr/>
          <p:nvPr/>
        </p:nvSpPr>
        <p:spPr>
          <a:xfrm>
            <a:off x="1253474" y="475504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12a86bbd699_0_101"/>
          <p:cNvSpPr/>
          <p:nvPr/>
        </p:nvSpPr>
        <p:spPr>
          <a:xfrm>
            <a:off x="1452547" y="5478118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lang="es-AR" sz="1800">
                <a:solidFill>
                  <a:srgbClr val="932328"/>
                </a:solidFill>
              </a:rPr>
              <a:t>Tipos de Contratos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12a86bbd699_0_101">
            <a:hlinkClick r:id="rId8"/>
          </p:cNvPr>
          <p:cNvSpPr/>
          <p:nvPr/>
        </p:nvSpPr>
        <p:spPr>
          <a:xfrm>
            <a:off x="1253474" y="5460017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 txBox="1"/>
          <p:nvPr/>
        </p:nvSpPr>
        <p:spPr>
          <a:xfrm>
            <a:off x="0" y="-23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</a:t>
            </a:r>
            <a:r>
              <a:rPr b="1" i="0" lang="es-AR" sz="24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Industriales</a:t>
            </a:r>
            <a:r>
              <a:rPr b="1" i="0" lang="es-AR" sz="24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Planeación de Personal/ </a:t>
            </a:r>
            <a:r>
              <a:rPr b="1" lang="es-AR" sz="3200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“</a:t>
            </a: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H</a:t>
            </a:r>
            <a:r>
              <a:rPr b="1" lang="es-AR" sz="3200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iring Plan”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0"/>
          <p:cNvSpPr txBox="1"/>
          <p:nvPr/>
        </p:nvSpPr>
        <p:spPr>
          <a:xfrm>
            <a:off x="273000" y="1334823"/>
            <a:ext cx="9360000" cy="1281300"/>
          </a:xfrm>
          <a:prstGeom prst="rect">
            <a:avLst/>
          </a:prstGeom>
          <a:solidFill>
            <a:srgbClr val="5ECA94"/>
          </a:solidFill>
          <a:ln>
            <a:noFill/>
          </a:ln>
        </p:spPr>
        <p:txBody>
          <a:bodyPr anchorCtr="0" anchor="ctr" bIns="360000" lIns="360000" spcFirstLastPara="1" rIns="360000" wrap="square" tIns="360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Proceso de decisión respecto de l</a:t>
            </a:r>
            <a:r>
              <a:rPr b="1" lang="es-AR" sz="1800"/>
              <a:t>as personas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necesari</a:t>
            </a:r>
            <a:r>
              <a:rPr b="1" lang="es-AR" sz="1800"/>
              <a:t>a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para conseguir los objetivos organizacionales en un per</a:t>
            </a:r>
            <a:r>
              <a:rPr b="1" lang="es-AR" sz="1800"/>
              <a:t>í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odo determinado.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0"/>
          <p:cNvSpPr/>
          <p:nvPr/>
        </p:nvSpPr>
        <p:spPr>
          <a:xfrm rot="-711214">
            <a:off x="6242514" y="4606575"/>
            <a:ext cx="1463406" cy="62545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"/>
          <p:cNvSpPr/>
          <p:nvPr/>
        </p:nvSpPr>
        <p:spPr>
          <a:xfrm flipH="1" rot="711214">
            <a:off x="4850890" y="4606575"/>
            <a:ext cx="1463406" cy="62545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 rot="-711214">
            <a:off x="3462884" y="4606575"/>
            <a:ext cx="1463406" cy="62545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"/>
          <p:cNvSpPr/>
          <p:nvPr/>
        </p:nvSpPr>
        <p:spPr>
          <a:xfrm flipH="1" rot="711214">
            <a:off x="2063740" y="4606575"/>
            <a:ext cx="1463406" cy="62545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9050" lIns="99050" spcFirstLastPara="1" rIns="99050" wrap="square" tIns="9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0"/>
          <p:cNvGrpSpPr/>
          <p:nvPr/>
        </p:nvGrpSpPr>
        <p:grpSpPr>
          <a:xfrm>
            <a:off x="2570977" y="4667180"/>
            <a:ext cx="1855368" cy="1333234"/>
            <a:chOff x="3021975" y="2541798"/>
            <a:chExt cx="1712700" cy="1230715"/>
          </a:xfrm>
        </p:grpSpPr>
        <p:sp>
          <p:nvSpPr>
            <p:cNvPr id="120" name="Google Shape;120;p10"/>
            <p:cNvSpPr txBox="1"/>
            <p:nvPr/>
          </p:nvSpPr>
          <p:spPr>
            <a:xfrm>
              <a:off x="3529877" y="273558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700"/>
                </a:spcAft>
                <a:buNone/>
              </a:pPr>
              <a:r>
                <a:rPr b="1" lang="es-AR" sz="9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9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" name="Google Shape;121;p10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0"/>
            <p:cNvSpPr/>
            <p:nvPr/>
          </p:nvSpPr>
          <p:spPr>
            <a:xfrm>
              <a:off x="3021975" y="3069013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23" name="Google Shape;123;p10"/>
            <p:cNvSpPr txBox="1"/>
            <p:nvPr/>
          </p:nvSpPr>
          <p:spPr>
            <a:xfrm>
              <a:off x="3066225" y="3106213"/>
              <a:ext cx="1624200" cy="624600"/>
            </a:xfrm>
            <a:prstGeom prst="rect">
              <a:avLst/>
            </a:prstGeom>
            <a:solidFill>
              <a:srgbClr val="96E2BC"/>
            </a:solidFill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700"/>
                </a:spcAft>
                <a:buNone/>
              </a:pPr>
              <a:r>
                <a:rPr lang="es-AR" sz="1050">
                  <a:solidFill>
                    <a:schemeClr val="dk1"/>
                  </a:solidFill>
                </a:rPr>
                <a:t>Posiciones a contratar por incremento en la nómina y/o Rotacón</a:t>
              </a:r>
              <a:endParaRPr sz="1050">
                <a:solidFill>
                  <a:schemeClr val="dk1"/>
                </a:solidFill>
              </a:endParaRPr>
            </a:p>
          </p:txBody>
        </p:sp>
        <p:sp>
          <p:nvSpPr>
            <p:cNvPr id="124" name="Google Shape;124;p10"/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0"/>
          <p:cNvSpPr/>
          <p:nvPr/>
        </p:nvSpPr>
        <p:spPr>
          <a:xfrm rot="-711214">
            <a:off x="683263" y="4606575"/>
            <a:ext cx="1463406" cy="62545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9050" lIns="99050" spcFirstLastPara="1" rIns="99050" wrap="square" tIns="9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0"/>
          <p:cNvGrpSpPr/>
          <p:nvPr/>
        </p:nvGrpSpPr>
        <p:grpSpPr>
          <a:xfrm>
            <a:off x="1176977" y="3257620"/>
            <a:ext cx="1855368" cy="1350608"/>
            <a:chOff x="1637475" y="1219942"/>
            <a:chExt cx="1712700" cy="1246754"/>
          </a:xfrm>
        </p:grpSpPr>
        <p:sp>
          <p:nvSpPr>
            <p:cNvPr id="127" name="Google Shape;127;p10"/>
            <p:cNvSpPr/>
            <p:nvPr/>
          </p:nvSpPr>
          <p:spPr>
            <a:xfrm>
              <a:off x="1637475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28" name="Google Shape;128;p10"/>
            <p:cNvSpPr txBox="1"/>
            <p:nvPr/>
          </p:nvSpPr>
          <p:spPr>
            <a:xfrm>
              <a:off x="2144544" y="1985297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700"/>
                </a:spcAft>
                <a:buNone/>
              </a:pPr>
              <a:r>
                <a:rPr b="1" lang="es-AR" sz="9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9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" name="Google Shape;129;p10"/>
            <p:cNvSpPr/>
            <p:nvPr/>
          </p:nvSpPr>
          <p:spPr>
            <a:xfrm rot="10800000">
              <a:off x="2448800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0"/>
            <p:cNvSpPr txBox="1"/>
            <p:nvPr/>
          </p:nvSpPr>
          <p:spPr>
            <a:xfrm>
              <a:off x="1681725" y="1257142"/>
              <a:ext cx="1624200" cy="624600"/>
            </a:xfrm>
            <a:prstGeom prst="rect">
              <a:avLst/>
            </a:prstGeom>
            <a:solidFill>
              <a:srgbClr val="96E2BC"/>
            </a:solidFill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700"/>
                </a:spcAft>
                <a:buNone/>
              </a:pPr>
              <a:r>
                <a:rPr lang="es-AR" sz="1050">
                  <a:solidFill>
                    <a:schemeClr val="dk1"/>
                  </a:solidFill>
                </a:rPr>
                <a:t>Posiciones actuales y nombre de sus ocupantes</a:t>
              </a:r>
              <a:endParaRPr sz="1050">
                <a:solidFill>
                  <a:schemeClr val="dk1"/>
                </a:solidFill>
              </a:endParaRPr>
            </a:p>
          </p:txBody>
        </p:sp>
        <p:sp>
          <p:nvSpPr>
            <p:cNvPr id="131" name="Google Shape;131;p10"/>
            <p:cNvSpPr/>
            <p:nvPr/>
          </p:nvSpPr>
          <p:spPr>
            <a:xfrm rot="-1789476">
              <a:off x="2410765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0"/>
          <p:cNvSpPr txBox="1"/>
          <p:nvPr/>
        </p:nvSpPr>
        <p:spPr>
          <a:xfrm>
            <a:off x="445000" y="2740150"/>
            <a:ext cx="185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700"/>
              <a:t>Se contemplan:</a:t>
            </a:r>
            <a:endParaRPr b="1" sz="1700"/>
          </a:p>
        </p:txBody>
      </p:sp>
      <p:sp>
        <p:nvSpPr>
          <p:cNvPr id="133" name="Google Shape;133;p10"/>
          <p:cNvSpPr/>
          <p:nvPr/>
        </p:nvSpPr>
        <p:spPr>
          <a:xfrm flipH="1" rot="711214">
            <a:off x="7746490" y="4606575"/>
            <a:ext cx="1463406" cy="62545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10"/>
          <p:cNvGrpSpPr/>
          <p:nvPr/>
        </p:nvGrpSpPr>
        <p:grpSpPr>
          <a:xfrm>
            <a:off x="3920177" y="3257620"/>
            <a:ext cx="1855368" cy="1350608"/>
            <a:chOff x="1637475" y="1219942"/>
            <a:chExt cx="1712700" cy="1246754"/>
          </a:xfrm>
        </p:grpSpPr>
        <p:sp>
          <p:nvSpPr>
            <p:cNvPr id="135" name="Google Shape;135;p10"/>
            <p:cNvSpPr/>
            <p:nvPr/>
          </p:nvSpPr>
          <p:spPr>
            <a:xfrm>
              <a:off x="1637475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36" name="Google Shape;136;p10"/>
            <p:cNvSpPr txBox="1"/>
            <p:nvPr/>
          </p:nvSpPr>
          <p:spPr>
            <a:xfrm>
              <a:off x="2144544" y="1985297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700"/>
                </a:spcAft>
                <a:buNone/>
              </a:pPr>
              <a:r>
                <a:rPr b="1" lang="es-AR" sz="9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9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" name="Google Shape;137;p10"/>
            <p:cNvSpPr/>
            <p:nvPr/>
          </p:nvSpPr>
          <p:spPr>
            <a:xfrm rot="10800000">
              <a:off x="2448800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 txBox="1"/>
            <p:nvPr/>
          </p:nvSpPr>
          <p:spPr>
            <a:xfrm>
              <a:off x="1681725" y="1257142"/>
              <a:ext cx="1624200" cy="624600"/>
            </a:xfrm>
            <a:prstGeom prst="rect">
              <a:avLst/>
            </a:prstGeom>
            <a:solidFill>
              <a:srgbClr val="96E2BC"/>
            </a:solidFill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700"/>
                </a:spcAft>
                <a:buNone/>
              </a:pPr>
              <a:r>
                <a:rPr lang="es-AR" sz="1050">
                  <a:solidFill>
                    <a:schemeClr val="dk1"/>
                  </a:solidFill>
                </a:rPr>
                <a:t>Costo de las posiciones</a:t>
              </a:r>
              <a:endParaRPr sz="1050">
                <a:solidFill>
                  <a:schemeClr val="dk1"/>
                </a:solidFill>
              </a:endParaRPr>
            </a:p>
          </p:txBody>
        </p:sp>
        <p:sp>
          <p:nvSpPr>
            <p:cNvPr id="139" name="Google Shape;139;p10"/>
            <p:cNvSpPr/>
            <p:nvPr/>
          </p:nvSpPr>
          <p:spPr>
            <a:xfrm rot="-1789476">
              <a:off x="2410765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10"/>
          <p:cNvGrpSpPr/>
          <p:nvPr/>
        </p:nvGrpSpPr>
        <p:grpSpPr>
          <a:xfrm>
            <a:off x="5390377" y="4667180"/>
            <a:ext cx="1855368" cy="1333234"/>
            <a:chOff x="3021975" y="2541798"/>
            <a:chExt cx="1712700" cy="1230715"/>
          </a:xfrm>
        </p:grpSpPr>
        <p:sp>
          <p:nvSpPr>
            <p:cNvPr id="141" name="Google Shape;141;p10"/>
            <p:cNvSpPr txBox="1"/>
            <p:nvPr/>
          </p:nvSpPr>
          <p:spPr>
            <a:xfrm>
              <a:off x="3529877" y="273558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700"/>
                </a:spcAft>
                <a:buNone/>
              </a:pPr>
              <a:r>
                <a:rPr b="1" lang="es-AR" sz="9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9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" name="Google Shape;142;p10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0"/>
            <p:cNvSpPr/>
            <p:nvPr/>
          </p:nvSpPr>
          <p:spPr>
            <a:xfrm>
              <a:off x="3021975" y="3069013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44" name="Google Shape;144;p10"/>
            <p:cNvSpPr txBox="1"/>
            <p:nvPr/>
          </p:nvSpPr>
          <p:spPr>
            <a:xfrm>
              <a:off x="3066225" y="3106213"/>
              <a:ext cx="1624200" cy="624600"/>
            </a:xfrm>
            <a:prstGeom prst="rect">
              <a:avLst/>
            </a:prstGeom>
            <a:solidFill>
              <a:srgbClr val="96E2BC"/>
            </a:solidFill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700"/>
                </a:spcAft>
                <a:buNone/>
              </a:pPr>
              <a:r>
                <a:rPr lang="es-AR" sz="1050">
                  <a:solidFill>
                    <a:schemeClr val="dk1"/>
                  </a:solidFill>
                </a:rPr>
                <a:t>Mes de contratación de las posiciones</a:t>
              </a:r>
              <a:endParaRPr sz="1050">
                <a:solidFill>
                  <a:schemeClr val="dk1"/>
                </a:solidFill>
              </a:endParaRPr>
            </a:p>
          </p:txBody>
        </p:sp>
        <p:sp>
          <p:nvSpPr>
            <p:cNvPr id="145" name="Google Shape;145;p10"/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10"/>
          <p:cNvGrpSpPr/>
          <p:nvPr/>
        </p:nvGrpSpPr>
        <p:grpSpPr>
          <a:xfrm>
            <a:off x="6815777" y="3257620"/>
            <a:ext cx="1855368" cy="1350608"/>
            <a:chOff x="1637475" y="1219942"/>
            <a:chExt cx="1712700" cy="1246754"/>
          </a:xfrm>
        </p:grpSpPr>
        <p:sp>
          <p:nvSpPr>
            <p:cNvPr id="147" name="Google Shape;147;p10"/>
            <p:cNvSpPr/>
            <p:nvPr/>
          </p:nvSpPr>
          <p:spPr>
            <a:xfrm>
              <a:off x="1637475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48" name="Google Shape;148;p10"/>
            <p:cNvSpPr txBox="1"/>
            <p:nvPr/>
          </p:nvSpPr>
          <p:spPr>
            <a:xfrm>
              <a:off x="2144544" y="1985297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700"/>
                </a:spcAft>
                <a:buNone/>
              </a:pPr>
              <a:r>
                <a:rPr b="1" lang="es-AR" sz="9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sz="9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" name="Google Shape;149;p10"/>
            <p:cNvSpPr/>
            <p:nvPr/>
          </p:nvSpPr>
          <p:spPr>
            <a:xfrm rot="10800000">
              <a:off x="2448800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0"/>
            <p:cNvSpPr txBox="1"/>
            <p:nvPr/>
          </p:nvSpPr>
          <p:spPr>
            <a:xfrm>
              <a:off x="1681725" y="1257142"/>
              <a:ext cx="1624200" cy="624600"/>
            </a:xfrm>
            <a:prstGeom prst="rect">
              <a:avLst/>
            </a:prstGeom>
            <a:solidFill>
              <a:srgbClr val="96E2BC"/>
            </a:solidFill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7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AR" sz="1050">
                  <a:solidFill>
                    <a:srgbClr val="363636"/>
                  </a:solidFill>
                </a:rPr>
                <a:t>Frecuencia y revisión del plan</a:t>
              </a:r>
              <a:endParaRPr sz="1150">
                <a:solidFill>
                  <a:srgbClr val="363636"/>
                </a:solidFill>
              </a:endParaRPr>
            </a:p>
          </p:txBody>
        </p:sp>
        <p:sp>
          <p:nvSpPr>
            <p:cNvPr id="151" name="Google Shape;151;p10"/>
            <p:cNvSpPr/>
            <p:nvPr/>
          </p:nvSpPr>
          <p:spPr>
            <a:xfrm rot="-1789476">
              <a:off x="2410765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/>
        </p:nvSpPr>
        <p:spPr>
          <a:xfrm>
            <a:off x="182880" y="11394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Escasez de Talento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4953000" y="6477000"/>
            <a:ext cx="46939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Encuesta de Escasez de Talento 20</a:t>
            </a:r>
            <a:r>
              <a:rPr lang="es-AR"/>
              <a:t>24</a:t>
            </a:r>
            <a:r>
              <a:rPr b="0" i="0" lang="es-A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ManpowerGroup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1794"/>
            <a:ext cx="9601203" cy="4852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0dd9d79ab7_0_1"/>
          <p:cNvSpPr txBox="1"/>
          <p:nvPr/>
        </p:nvSpPr>
        <p:spPr>
          <a:xfrm>
            <a:off x="182880" y="11394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Escasez de Talento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20dd9d79ab7_0_1"/>
          <p:cNvSpPr txBox="1"/>
          <p:nvPr/>
        </p:nvSpPr>
        <p:spPr>
          <a:xfrm>
            <a:off x="4953000" y="6477000"/>
            <a:ext cx="469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A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Encuesta de Escasez de Talento 20</a:t>
            </a:r>
            <a:r>
              <a:rPr lang="es-AR"/>
              <a:t>21</a:t>
            </a:r>
            <a:r>
              <a:rPr b="0" i="0" lang="es-A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ManpowerGroup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20dd9d79ab7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613" y="1450987"/>
            <a:ext cx="8716774" cy="4526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2a86bbd699_0_122"/>
          <p:cNvSpPr/>
          <p:nvPr/>
        </p:nvSpPr>
        <p:spPr>
          <a:xfrm>
            <a:off x="1467787" y="2862421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Reclutamiento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12a86bbd699_0_122">
            <a:hlinkClick action="ppaction://hlinksldjump" r:id="rId3"/>
          </p:cNvPr>
          <p:cNvSpPr/>
          <p:nvPr/>
        </p:nvSpPr>
        <p:spPr>
          <a:xfrm>
            <a:off x="1253474" y="2862421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12a86bbd699_0_122"/>
          <p:cNvSpPr/>
          <p:nvPr/>
        </p:nvSpPr>
        <p:spPr>
          <a:xfrm>
            <a:off x="1467787" y="3505362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Selección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12a86bbd699_0_122">
            <a:hlinkClick r:id="rId4"/>
          </p:cNvPr>
          <p:cNvSpPr/>
          <p:nvPr/>
        </p:nvSpPr>
        <p:spPr>
          <a:xfrm>
            <a:off x="1253474" y="350536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12a86bbd699_0_122"/>
          <p:cNvSpPr txBox="1"/>
          <p:nvPr/>
        </p:nvSpPr>
        <p:spPr>
          <a:xfrm>
            <a:off x="0" y="-23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Agenda</a:t>
            </a:r>
            <a:endParaRPr b="1" i="0" sz="2800" u="none" cap="none" strike="noStrike">
              <a:solidFill>
                <a:srgbClr val="932328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7" name="Google Shape;177;g12a86bbd699_0_122"/>
          <p:cNvSpPr/>
          <p:nvPr/>
        </p:nvSpPr>
        <p:spPr>
          <a:xfrm>
            <a:off x="1467787" y="2219478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Planeación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12a86bbd699_0_122">
            <a:hlinkClick/>
          </p:cNvPr>
          <p:cNvSpPr/>
          <p:nvPr/>
        </p:nvSpPr>
        <p:spPr>
          <a:xfrm>
            <a:off x="1253474" y="2219478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12a86bbd699_0_122"/>
          <p:cNvSpPr/>
          <p:nvPr/>
        </p:nvSpPr>
        <p:spPr>
          <a:xfrm>
            <a:off x="1452537" y="1647812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Presentación y enfoque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12a86bbd699_0_122">
            <a:hlinkClick/>
          </p:cNvPr>
          <p:cNvSpPr/>
          <p:nvPr/>
        </p:nvSpPr>
        <p:spPr>
          <a:xfrm>
            <a:off x="1238224" y="164781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utn regional buenos aires ingenieria industrial" id="181" name="Google Shape;181;g12a86bbd699_0_1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0820" y="7937"/>
            <a:ext cx="2857500" cy="109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12a86bbd699_0_122"/>
          <p:cNvSpPr/>
          <p:nvPr/>
        </p:nvSpPr>
        <p:spPr>
          <a:xfrm>
            <a:off x="1452547" y="4130202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Inducción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12a86bbd699_0_122">
            <a:hlinkClick r:id="rId6"/>
          </p:cNvPr>
          <p:cNvSpPr/>
          <p:nvPr/>
        </p:nvSpPr>
        <p:spPr>
          <a:xfrm>
            <a:off x="1238234" y="413020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12a86bbd699_0_122"/>
          <p:cNvSpPr/>
          <p:nvPr/>
        </p:nvSpPr>
        <p:spPr>
          <a:xfrm>
            <a:off x="381031" y="2933837"/>
            <a:ext cx="642900" cy="3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BA89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12a86bbd699_0_122"/>
          <p:cNvSpPr/>
          <p:nvPr/>
        </p:nvSpPr>
        <p:spPr>
          <a:xfrm>
            <a:off x="1452547" y="4773143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Marca Empleadora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12a86bbd699_0_122">
            <a:hlinkClick r:id="rId7"/>
          </p:cNvPr>
          <p:cNvSpPr/>
          <p:nvPr/>
        </p:nvSpPr>
        <p:spPr>
          <a:xfrm>
            <a:off x="1253474" y="475504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12a86bbd699_0_122"/>
          <p:cNvSpPr/>
          <p:nvPr/>
        </p:nvSpPr>
        <p:spPr>
          <a:xfrm>
            <a:off x="1452547" y="5478118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lang="es-AR" sz="1800">
                <a:solidFill>
                  <a:srgbClr val="932328"/>
                </a:solidFill>
              </a:rPr>
              <a:t>Tipos de Contratos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12a86bbd699_0_122">
            <a:hlinkClick r:id="rId8"/>
          </p:cNvPr>
          <p:cNvSpPr/>
          <p:nvPr/>
        </p:nvSpPr>
        <p:spPr>
          <a:xfrm>
            <a:off x="1253474" y="5460017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/>
        </p:nvSpPr>
        <p:spPr>
          <a:xfrm>
            <a:off x="0" y="103766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Reclutamiento</a:t>
            </a:r>
            <a:endParaRPr b="1" i="0" sz="2800" u="none" cap="none" strike="noStrike">
              <a:solidFill>
                <a:srgbClr val="932328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822960" y="553033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228865" y="1454189"/>
            <a:ext cx="9448200" cy="1558500"/>
          </a:xfrm>
          <a:prstGeom prst="rect">
            <a:avLst/>
          </a:prstGeom>
          <a:solidFill>
            <a:srgbClr val="5ECA94"/>
          </a:solidFill>
          <a:ln>
            <a:noFill/>
          </a:ln>
        </p:spPr>
        <p:txBody>
          <a:bodyPr anchorCtr="0" anchor="ctr" bIns="360000" lIns="360000" spcFirstLastPara="1" rIns="360000" wrap="square" tIns="360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Conjunto de técnicas y procedimientos orientados a </a:t>
            </a:r>
            <a:r>
              <a:rPr b="1" i="0" lang="es-AR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atraer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candidatos potencialmente calificados y capaces de ocupar cargos dentro de la organización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4829871" y="3904279"/>
            <a:ext cx="4656300" cy="1227300"/>
          </a:xfrm>
          <a:prstGeom prst="frame">
            <a:avLst>
              <a:gd fmla="val 0" name="adj1"/>
            </a:avLst>
          </a:prstGeom>
          <a:solidFill>
            <a:srgbClr val="D3ECF5"/>
          </a:solidFill>
          <a:ln cap="flat" cmpd="sng" w="69850">
            <a:solidFill>
              <a:srgbClr val="30A6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4954483" y="4130510"/>
            <a:ext cx="4531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A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organización divulga y ofrece al mercado oportunidades de empleo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275" y="3218464"/>
            <a:ext cx="3887660" cy="2915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"/>
          <p:cNvSpPr txBox="1"/>
          <p:nvPr/>
        </p:nvSpPr>
        <p:spPr>
          <a:xfrm>
            <a:off x="0" y="-23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Reclutamiento</a:t>
            </a:r>
            <a:endParaRPr b="1" i="0" sz="2800" u="none" cap="none" strike="noStrike">
              <a:solidFill>
                <a:srgbClr val="932328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822960" y="553033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13"/>
          <p:cNvGrpSpPr/>
          <p:nvPr/>
        </p:nvGrpSpPr>
        <p:grpSpPr>
          <a:xfrm>
            <a:off x="2809110" y="1608392"/>
            <a:ext cx="4636308" cy="4898922"/>
            <a:chOff x="1326922" y="-192534"/>
            <a:chExt cx="4636308" cy="4898922"/>
          </a:xfrm>
        </p:grpSpPr>
        <p:sp>
          <p:nvSpPr>
            <p:cNvPr id="206" name="Google Shape;206;p13"/>
            <p:cNvSpPr/>
            <p:nvPr/>
          </p:nvSpPr>
          <p:spPr>
            <a:xfrm>
              <a:off x="2979238" y="1854328"/>
              <a:ext cx="2558303" cy="2660029"/>
            </a:xfrm>
            <a:custGeom>
              <a:rect b="b" l="l" r="r" t="t"/>
              <a:pathLst>
                <a:path extrusionOk="0" h="120000" w="120000">
                  <a:moveTo>
                    <a:pt x="85177" y="18742"/>
                  </a:moveTo>
                  <a:lnTo>
                    <a:pt x="94696" y="11426"/>
                  </a:lnTo>
                  <a:lnTo>
                    <a:pt x="102219" y="17799"/>
                  </a:lnTo>
                  <a:lnTo>
                    <a:pt x="95875" y="27805"/>
                  </a:lnTo>
                  <a:lnTo>
                    <a:pt x="95875" y="27805"/>
                  </a:lnTo>
                  <a:cubicBezTo>
                    <a:pt x="100207" y="32725"/>
                    <a:pt x="103501" y="38484"/>
                    <a:pt x="105555" y="44732"/>
                  </a:cubicBezTo>
                  <a:lnTo>
                    <a:pt x="117740" y="44827"/>
                  </a:lnTo>
                  <a:lnTo>
                    <a:pt x="119464" y="54699"/>
                  </a:lnTo>
                  <a:lnTo>
                    <a:pt x="107980" y="58617"/>
                  </a:lnTo>
                  <a:lnTo>
                    <a:pt x="107980" y="58617"/>
                  </a:lnTo>
                  <a:cubicBezTo>
                    <a:pt x="108167" y="65198"/>
                    <a:pt x="107023" y="71747"/>
                    <a:pt x="104618" y="77867"/>
                  </a:cubicBezTo>
                  <a:lnTo>
                    <a:pt x="114113" y="85211"/>
                  </a:lnTo>
                  <a:lnTo>
                    <a:pt x="109170" y="93856"/>
                  </a:lnTo>
                  <a:lnTo>
                    <a:pt x="97636" y="90077"/>
                  </a:lnTo>
                  <a:cubicBezTo>
                    <a:pt x="93588" y="95238"/>
                    <a:pt x="88542" y="99513"/>
                    <a:pt x="82804" y="102641"/>
                  </a:cubicBezTo>
                  <a:lnTo>
                    <a:pt x="85110" y="114148"/>
                  </a:lnTo>
                  <a:lnTo>
                    <a:pt x="75940" y="117518"/>
                  </a:lnTo>
                  <a:lnTo>
                    <a:pt x="69681" y="107463"/>
                  </a:lnTo>
                  <a:cubicBezTo>
                    <a:pt x="63294" y="108791"/>
                    <a:pt x="56706" y="108791"/>
                    <a:pt x="50319" y="107463"/>
                  </a:cubicBezTo>
                  <a:lnTo>
                    <a:pt x="44060" y="117518"/>
                  </a:lnTo>
                  <a:lnTo>
                    <a:pt x="34890" y="114148"/>
                  </a:lnTo>
                  <a:lnTo>
                    <a:pt x="37196" y="102641"/>
                  </a:lnTo>
                  <a:cubicBezTo>
                    <a:pt x="31458" y="99513"/>
                    <a:pt x="26412" y="95238"/>
                    <a:pt x="22364" y="90077"/>
                  </a:cubicBezTo>
                  <a:lnTo>
                    <a:pt x="10830" y="93856"/>
                  </a:lnTo>
                  <a:lnTo>
                    <a:pt x="5887" y="85211"/>
                  </a:lnTo>
                  <a:lnTo>
                    <a:pt x="15382" y="77867"/>
                  </a:lnTo>
                  <a:cubicBezTo>
                    <a:pt x="12977" y="71747"/>
                    <a:pt x="11833" y="65198"/>
                    <a:pt x="12020" y="58617"/>
                  </a:cubicBezTo>
                  <a:lnTo>
                    <a:pt x="536" y="54699"/>
                  </a:lnTo>
                  <a:lnTo>
                    <a:pt x="2260" y="44827"/>
                  </a:lnTo>
                  <a:lnTo>
                    <a:pt x="14445" y="44732"/>
                  </a:lnTo>
                  <a:lnTo>
                    <a:pt x="14445" y="44732"/>
                  </a:lnTo>
                  <a:cubicBezTo>
                    <a:pt x="16499" y="38484"/>
                    <a:pt x="19793" y="32725"/>
                    <a:pt x="24125" y="27805"/>
                  </a:cubicBezTo>
                  <a:lnTo>
                    <a:pt x="17781" y="17799"/>
                  </a:lnTo>
                  <a:lnTo>
                    <a:pt x="25304" y="11426"/>
                  </a:lnTo>
                  <a:lnTo>
                    <a:pt x="34823" y="18742"/>
                  </a:lnTo>
                  <a:lnTo>
                    <a:pt x="34823" y="18742"/>
                  </a:lnTo>
                  <a:cubicBezTo>
                    <a:pt x="40375" y="15289"/>
                    <a:pt x="46566" y="13014"/>
                    <a:pt x="53017" y="12057"/>
                  </a:cubicBezTo>
                  <a:lnTo>
                    <a:pt x="55133" y="515"/>
                  </a:lnTo>
                  <a:lnTo>
                    <a:pt x="64867" y="515"/>
                  </a:lnTo>
                  <a:lnTo>
                    <a:pt x="66983" y="12057"/>
                  </a:lnTo>
                  <a:lnTo>
                    <a:pt x="66983" y="12057"/>
                  </a:lnTo>
                  <a:cubicBezTo>
                    <a:pt x="73434" y="13014"/>
                    <a:pt x="79625" y="15289"/>
                    <a:pt x="85177" y="18742"/>
                  </a:cubicBezTo>
                  <a:close/>
                </a:path>
              </a:pathLst>
            </a:custGeom>
            <a:solidFill>
              <a:srgbClr val="E0666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3"/>
            <p:cNvSpPr txBox="1"/>
            <p:nvPr/>
          </p:nvSpPr>
          <p:spPr>
            <a:xfrm>
              <a:off x="3493571" y="2470669"/>
              <a:ext cx="1529637" cy="13803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s-A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Mixto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1589044" y="1314512"/>
              <a:ext cx="1860584" cy="1934567"/>
            </a:xfrm>
            <a:custGeom>
              <a:rect b="b" l="l" r="r" t="t"/>
              <a:pathLst>
                <a:path extrusionOk="0" h="120000" w="120000">
                  <a:moveTo>
                    <a:pt x="89790" y="29908"/>
                  </a:moveTo>
                  <a:lnTo>
                    <a:pt x="107615" y="25179"/>
                  </a:lnTo>
                  <a:lnTo>
                    <a:pt x="114303" y="36954"/>
                  </a:lnTo>
                  <a:lnTo>
                    <a:pt x="100535" y="48825"/>
                  </a:lnTo>
                  <a:cubicBezTo>
                    <a:pt x="102488" y="56143"/>
                    <a:pt x="102488" y="63857"/>
                    <a:pt x="100535" y="71175"/>
                  </a:cubicBezTo>
                  <a:lnTo>
                    <a:pt x="114303" y="83046"/>
                  </a:lnTo>
                  <a:lnTo>
                    <a:pt x="107615" y="94821"/>
                  </a:lnTo>
                  <a:lnTo>
                    <a:pt x="89790" y="90092"/>
                  </a:lnTo>
                  <a:cubicBezTo>
                    <a:pt x="84531" y="95470"/>
                    <a:pt x="77957" y="99328"/>
                    <a:pt x="70746" y="101268"/>
                  </a:cubicBezTo>
                  <a:lnTo>
                    <a:pt x="66514" y="118579"/>
                  </a:lnTo>
                  <a:lnTo>
                    <a:pt x="53486" y="118579"/>
                  </a:lnTo>
                  <a:lnTo>
                    <a:pt x="49254" y="101268"/>
                  </a:lnTo>
                  <a:cubicBezTo>
                    <a:pt x="42043" y="99328"/>
                    <a:pt x="35469" y="95470"/>
                    <a:pt x="30210" y="90092"/>
                  </a:cubicBezTo>
                  <a:lnTo>
                    <a:pt x="12385" y="94821"/>
                  </a:lnTo>
                  <a:lnTo>
                    <a:pt x="5697" y="83046"/>
                  </a:lnTo>
                  <a:lnTo>
                    <a:pt x="19465" y="71175"/>
                  </a:lnTo>
                  <a:lnTo>
                    <a:pt x="19465" y="71175"/>
                  </a:lnTo>
                  <a:cubicBezTo>
                    <a:pt x="17512" y="63857"/>
                    <a:pt x="17512" y="56143"/>
                    <a:pt x="19465" y="48825"/>
                  </a:cubicBezTo>
                  <a:lnTo>
                    <a:pt x="5697" y="36954"/>
                  </a:lnTo>
                  <a:lnTo>
                    <a:pt x="12385" y="25179"/>
                  </a:lnTo>
                  <a:lnTo>
                    <a:pt x="30210" y="29908"/>
                  </a:lnTo>
                  <a:lnTo>
                    <a:pt x="30210" y="29908"/>
                  </a:lnTo>
                  <a:cubicBezTo>
                    <a:pt x="35469" y="24530"/>
                    <a:pt x="42043" y="20672"/>
                    <a:pt x="49254" y="18732"/>
                  </a:cubicBezTo>
                  <a:lnTo>
                    <a:pt x="53486" y="1421"/>
                  </a:lnTo>
                  <a:lnTo>
                    <a:pt x="66514" y="1421"/>
                  </a:lnTo>
                  <a:lnTo>
                    <a:pt x="70746" y="18732"/>
                  </a:lnTo>
                  <a:lnTo>
                    <a:pt x="70746" y="18732"/>
                  </a:lnTo>
                  <a:cubicBezTo>
                    <a:pt x="77957" y="20672"/>
                    <a:pt x="84531" y="24530"/>
                    <a:pt x="89790" y="29908"/>
                  </a:cubicBezTo>
                  <a:close/>
                </a:path>
              </a:pathLst>
            </a:custGeom>
            <a:solidFill>
              <a:srgbClr val="40BEA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3"/>
            <p:cNvSpPr txBox="1"/>
            <p:nvPr/>
          </p:nvSpPr>
          <p:spPr>
            <a:xfrm>
              <a:off x="2057452" y="1796666"/>
              <a:ext cx="923768" cy="9702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s-A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Externo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3"/>
            <p:cNvSpPr/>
            <p:nvPr/>
          </p:nvSpPr>
          <p:spPr>
            <a:xfrm rot="-900000">
              <a:off x="2589693" y="88042"/>
              <a:ext cx="1796460" cy="1922013"/>
            </a:xfrm>
            <a:custGeom>
              <a:rect b="b" l="l" r="r" t="t"/>
              <a:pathLst>
                <a:path extrusionOk="0" h="120000" w="120000">
                  <a:moveTo>
                    <a:pt x="89790" y="29564"/>
                  </a:moveTo>
                  <a:lnTo>
                    <a:pt x="107694" y="25246"/>
                  </a:lnTo>
                  <a:lnTo>
                    <a:pt x="114506" y="37376"/>
                  </a:lnTo>
                  <a:lnTo>
                    <a:pt x="100535" y="48697"/>
                  </a:lnTo>
                  <a:lnTo>
                    <a:pt x="100535" y="48697"/>
                  </a:lnTo>
                  <a:cubicBezTo>
                    <a:pt x="102488" y="56099"/>
                    <a:pt x="102488" y="63901"/>
                    <a:pt x="100535" y="71303"/>
                  </a:cubicBezTo>
                  <a:lnTo>
                    <a:pt x="114506" y="82624"/>
                  </a:lnTo>
                  <a:lnTo>
                    <a:pt x="107694" y="94754"/>
                  </a:lnTo>
                  <a:lnTo>
                    <a:pt x="89790" y="90436"/>
                  </a:lnTo>
                  <a:cubicBezTo>
                    <a:pt x="84531" y="95875"/>
                    <a:pt x="77957" y="99777"/>
                    <a:pt x="70746" y="101739"/>
                  </a:cubicBezTo>
                  <a:lnTo>
                    <a:pt x="66514" y="118563"/>
                  </a:lnTo>
                  <a:lnTo>
                    <a:pt x="53486" y="118563"/>
                  </a:lnTo>
                  <a:lnTo>
                    <a:pt x="49254" y="101739"/>
                  </a:lnTo>
                  <a:lnTo>
                    <a:pt x="49254" y="101739"/>
                  </a:lnTo>
                  <a:cubicBezTo>
                    <a:pt x="42043" y="99777"/>
                    <a:pt x="35469" y="95875"/>
                    <a:pt x="30210" y="90436"/>
                  </a:cubicBezTo>
                  <a:lnTo>
                    <a:pt x="12306" y="94754"/>
                  </a:lnTo>
                  <a:lnTo>
                    <a:pt x="5494" y="82624"/>
                  </a:lnTo>
                  <a:lnTo>
                    <a:pt x="19465" y="71303"/>
                  </a:lnTo>
                  <a:lnTo>
                    <a:pt x="19465" y="71303"/>
                  </a:lnTo>
                  <a:cubicBezTo>
                    <a:pt x="17512" y="63901"/>
                    <a:pt x="17512" y="56099"/>
                    <a:pt x="19465" y="48697"/>
                  </a:cubicBezTo>
                  <a:lnTo>
                    <a:pt x="5494" y="37376"/>
                  </a:lnTo>
                  <a:lnTo>
                    <a:pt x="12306" y="25246"/>
                  </a:lnTo>
                  <a:lnTo>
                    <a:pt x="30210" y="29564"/>
                  </a:lnTo>
                  <a:cubicBezTo>
                    <a:pt x="35469" y="24125"/>
                    <a:pt x="42043" y="20223"/>
                    <a:pt x="49254" y="18261"/>
                  </a:cubicBezTo>
                  <a:lnTo>
                    <a:pt x="53486" y="1437"/>
                  </a:lnTo>
                  <a:lnTo>
                    <a:pt x="66514" y="1437"/>
                  </a:lnTo>
                  <a:lnTo>
                    <a:pt x="70746" y="18261"/>
                  </a:lnTo>
                  <a:lnTo>
                    <a:pt x="70746" y="18261"/>
                  </a:lnTo>
                  <a:cubicBezTo>
                    <a:pt x="77957" y="20223"/>
                    <a:pt x="84531" y="24125"/>
                    <a:pt x="89790" y="29564"/>
                  </a:cubicBezTo>
                  <a:close/>
                </a:path>
              </a:pathLst>
            </a:custGeom>
            <a:solidFill>
              <a:srgbClr val="5EBADA">
                <a:alpha val="68235"/>
              </a:srgbClr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3"/>
            <p:cNvSpPr txBox="1"/>
            <p:nvPr/>
          </p:nvSpPr>
          <p:spPr>
            <a:xfrm>
              <a:off x="2976263" y="517043"/>
              <a:ext cx="1023321" cy="1064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s-A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Interno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2863753" y="1606911"/>
              <a:ext cx="3099477" cy="3099477"/>
            </a:xfrm>
            <a:custGeom>
              <a:rect b="b" l="l" r="r" t="t"/>
              <a:pathLst>
                <a:path extrusionOk="0" h="120000" w="120000">
                  <a:moveTo>
                    <a:pt x="54299" y="4040"/>
                  </a:moveTo>
                  <a:lnTo>
                    <a:pt x="54299" y="4040"/>
                  </a:lnTo>
                  <a:cubicBezTo>
                    <a:pt x="77482" y="1678"/>
                    <a:pt x="99721" y="13855"/>
                    <a:pt x="110219" y="34660"/>
                  </a:cubicBezTo>
                  <a:cubicBezTo>
                    <a:pt x="120717" y="55464"/>
                    <a:pt x="117300" y="80587"/>
                    <a:pt x="101627" y="97832"/>
                  </a:cubicBezTo>
                  <a:lnTo>
                    <a:pt x="104177" y="100567"/>
                  </a:lnTo>
                  <a:lnTo>
                    <a:pt x="96444" y="99081"/>
                  </a:lnTo>
                  <a:lnTo>
                    <a:pt x="95226" y="90968"/>
                  </a:lnTo>
                  <a:lnTo>
                    <a:pt x="97776" y="93702"/>
                  </a:lnTo>
                  <a:cubicBezTo>
                    <a:pt x="111681" y="78116"/>
                    <a:pt x="114586" y="55590"/>
                    <a:pt x="105091" y="36986"/>
                  </a:cubicBezTo>
                  <a:cubicBezTo>
                    <a:pt x="95596" y="18382"/>
                    <a:pt x="75649" y="7519"/>
                    <a:pt x="54869" y="9636"/>
                  </a:cubicBezTo>
                  <a:close/>
                </a:path>
              </a:pathLst>
            </a:custGeom>
            <a:solidFill>
              <a:srgbClr val="FEDA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1326922" y="1010711"/>
              <a:ext cx="2251964" cy="2251964"/>
            </a:xfrm>
            <a:custGeom>
              <a:rect b="b" l="l" r="r" t="t"/>
              <a:pathLst>
                <a:path extrusionOk="0" h="120000" w="120000">
                  <a:moveTo>
                    <a:pt x="38835" y="9410"/>
                  </a:moveTo>
                  <a:lnTo>
                    <a:pt x="41823" y="16553"/>
                  </a:lnTo>
                  <a:lnTo>
                    <a:pt x="41823" y="16553"/>
                  </a:lnTo>
                  <a:cubicBezTo>
                    <a:pt x="23032" y="24414"/>
                    <a:pt x="11425" y="43464"/>
                    <a:pt x="13055" y="63768"/>
                  </a:cubicBezTo>
                  <a:lnTo>
                    <a:pt x="18064" y="62671"/>
                  </a:lnTo>
                  <a:lnTo>
                    <a:pt x="10211" y="70899"/>
                  </a:lnTo>
                  <a:lnTo>
                    <a:pt x="417" y="66534"/>
                  </a:lnTo>
                  <a:lnTo>
                    <a:pt x="5431" y="65437"/>
                  </a:lnTo>
                  <a:lnTo>
                    <a:pt x="5431" y="65437"/>
                  </a:lnTo>
                  <a:cubicBezTo>
                    <a:pt x="3042" y="41449"/>
                    <a:pt x="16596" y="18714"/>
                    <a:pt x="38835" y="9410"/>
                  </a:cubicBezTo>
                  <a:close/>
                </a:path>
              </a:pathLst>
            </a:custGeom>
            <a:solidFill>
              <a:srgbClr val="FEDA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2226058" y="-192534"/>
              <a:ext cx="2428070" cy="2428070"/>
            </a:xfrm>
            <a:custGeom>
              <a:rect b="b" l="l" r="r" t="t"/>
              <a:pathLst>
                <a:path extrusionOk="0" h="120000" w="120000">
                  <a:moveTo>
                    <a:pt x="4986" y="64681"/>
                  </a:moveTo>
                  <a:lnTo>
                    <a:pt x="4986" y="64681"/>
                  </a:lnTo>
                  <a:cubicBezTo>
                    <a:pt x="3682" y="49360"/>
                    <a:pt x="8826" y="34190"/>
                    <a:pt x="19179" y="22822"/>
                  </a:cubicBezTo>
                  <a:lnTo>
                    <a:pt x="16020" y="19256"/>
                  </a:lnTo>
                  <a:lnTo>
                    <a:pt x="25771" y="21357"/>
                  </a:lnTo>
                  <a:lnTo>
                    <a:pt x="27129" y="31797"/>
                  </a:lnTo>
                  <a:lnTo>
                    <a:pt x="23972" y="28233"/>
                  </a:lnTo>
                  <a:lnTo>
                    <a:pt x="23972" y="28233"/>
                  </a:lnTo>
                  <a:cubicBezTo>
                    <a:pt x="15304" y="38065"/>
                    <a:pt x="11029" y="51012"/>
                    <a:pt x="12141" y="64072"/>
                  </a:cubicBezTo>
                  <a:close/>
                </a:path>
              </a:pathLst>
            </a:custGeom>
            <a:solidFill>
              <a:srgbClr val="FEDA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" name="Google Shape;215;p13"/>
          <p:cNvSpPr txBox="1"/>
          <p:nvPr/>
        </p:nvSpPr>
        <p:spPr>
          <a:xfrm>
            <a:off x="1357519" y="1260926"/>
            <a:ext cx="7488000" cy="540000"/>
          </a:xfrm>
          <a:prstGeom prst="rect">
            <a:avLst/>
          </a:prstGeom>
          <a:solidFill>
            <a:srgbClr val="F69A67">
              <a:alpha val="60000"/>
            </a:srgbClr>
          </a:solidFill>
          <a:ln>
            <a:noFill/>
          </a:ln>
        </p:spPr>
        <p:txBody>
          <a:bodyPr anchorCtr="0" anchor="ctr" bIns="360000" lIns="360000" spcFirstLastPara="1" rIns="360000" wrap="square" tIns="360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Tipos de Reclutamiento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"/>
          <p:cNvSpPr txBox="1"/>
          <p:nvPr/>
        </p:nvSpPr>
        <p:spPr>
          <a:xfrm>
            <a:off x="0" y="-56331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</a:t>
            </a:r>
            <a:r>
              <a:rPr b="1" i="0" lang="es-AR" sz="24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Reclutamiento</a:t>
            </a:r>
            <a:endParaRPr b="1" i="0" sz="2800" u="none" cap="none" strike="noStrike">
              <a:solidFill>
                <a:srgbClr val="932328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221" name="Google Shape;221;p14"/>
          <p:cNvGrpSpPr/>
          <p:nvPr/>
        </p:nvGrpSpPr>
        <p:grpSpPr>
          <a:xfrm>
            <a:off x="1461232" y="1856832"/>
            <a:ext cx="7044520" cy="4431265"/>
            <a:chOff x="-2311" y="2514"/>
            <a:chExt cx="7492576" cy="4835514"/>
          </a:xfrm>
        </p:grpSpPr>
        <p:sp>
          <p:nvSpPr>
            <p:cNvPr id="222" name="Google Shape;222;p14"/>
            <p:cNvSpPr/>
            <p:nvPr/>
          </p:nvSpPr>
          <p:spPr>
            <a:xfrm rot="5400000">
              <a:off x="-51599" y="51864"/>
              <a:ext cx="359400" cy="260700"/>
            </a:xfrm>
            <a:prstGeom prst="chevron">
              <a:avLst>
                <a:gd fmla="val 50000" name="adj"/>
              </a:avLst>
            </a:prstGeom>
            <a:solidFill>
              <a:srgbClr val="D349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4"/>
            <p:cNvSpPr txBox="1"/>
            <p:nvPr/>
          </p:nvSpPr>
          <p:spPr>
            <a:xfrm>
              <a:off x="-2265" y="132872"/>
              <a:ext cx="260700" cy="987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25" lIns="4425" spcFirstLastPara="1" rIns="4425" wrap="square" tIns="4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4"/>
            <p:cNvSpPr/>
            <p:nvPr/>
          </p:nvSpPr>
          <p:spPr>
            <a:xfrm rot="5400000">
              <a:off x="3755265" y="-3498785"/>
              <a:ext cx="233700" cy="7236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410"/>
              </a:schemeClr>
            </a:solidFill>
            <a:ln cap="flat" cmpd="sng" w="25400">
              <a:solidFill>
                <a:schemeClr val="lt1">
                  <a:alpha val="6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4"/>
            <p:cNvSpPr txBox="1"/>
            <p:nvPr/>
          </p:nvSpPr>
          <p:spPr>
            <a:xfrm>
              <a:off x="253921" y="13921"/>
              <a:ext cx="7224900" cy="210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425" lIns="128000" spcFirstLastPara="1" rIns="11425" wrap="square" tIns="114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Anuncios en Portales Web, revistas, diarios, radios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4"/>
            <p:cNvSpPr/>
            <p:nvPr/>
          </p:nvSpPr>
          <p:spPr>
            <a:xfrm rot="5400000">
              <a:off x="-56161" y="376086"/>
              <a:ext cx="359400" cy="251700"/>
            </a:xfrm>
            <a:prstGeom prst="chevron">
              <a:avLst>
                <a:gd fmla="val 50000" name="adj"/>
              </a:avLst>
            </a:prstGeom>
            <a:solidFill>
              <a:srgbClr val="D349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4"/>
            <p:cNvSpPr txBox="1"/>
            <p:nvPr/>
          </p:nvSpPr>
          <p:spPr>
            <a:xfrm>
              <a:off x="-2265" y="448063"/>
              <a:ext cx="251700" cy="108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25" lIns="4425" spcFirstLastPara="1" rIns="4425" wrap="square" tIns="4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4"/>
            <p:cNvSpPr/>
            <p:nvPr/>
          </p:nvSpPr>
          <p:spPr>
            <a:xfrm rot="5400000">
              <a:off x="3750734" y="-3179063"/>
              <a:ext cx="233700" cy="7236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FFFFFF">
                <a:alpha val="89410"/>
              </a:srgbClr>
            </a:solidFill>
            <a:ln cap="flat" cmpd="sng" w="25400">
              <a:solidFill>
                <a:schemeClr val="lt1">
                  <a:alpha val="6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4"/>
            <p:cNvSpPr txBox="1"/>
            <p:nvPr/>
          </p:nvSpPr>
          <p:spPr>
            <a:xfrm>
              <a:off x="249390" y="333643"/>
              <a:ext cx="7224900" cy="210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425" lIns="128000" spcFirstLastPara="1" rIns="11425" wrap="square" tIns="114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Redes sociales y profesionales (LinkedIn)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4"/>
            <p:cNvSpPr/>
            <p:nvPr/>
          </p:nvSpPr>
          <p:spPr>
            <a:xfrm rot="5400000">
              <a:off x="-56161" y="695809"/>
              <a:ext cx="359400" cy="251700"/>
            </a:xfrm>
            <a:prstGeom prst="chevron">
              <a:avLst>
                <a:gd fmla="val 50000" name="adj"/>
              </a:avLst>
            </a:prstGeom>
            <a:solidFill>
              <a:srgbClr val="D349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4"/>
            <p:cNvSpPr txBox="1"/>
            <p:nvPr/>
          </p:nvSpPr>
          <p:spPr>
            <a:xfrm>
              <a:off x="-2265" y="767786"/>
              <a:ext cx="251700" cy="108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25" lIns="4425" spcFirstLastPara="1" rIns="4425" wrap="square" tIns="4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4"/>
            <p:cNvSpPr/>
            <p:nvPr/>
          </p:nvSpPr>
          <p:spPr>
            <a:xfrm rot="5400000">
              <a:off x="3750734" y="-2859340"/>
              <a:ext cx="233700" cy="7236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FFFFFF">
                <a:alpha val="89410"/>
              </a:srgbClr>
            </a:solidFill>
            <a:ln cap="flat" cmpd="sng" w="25400">
              <a:solidFill>
                <a:schemeClr val="lt1">
                  <a:alpha val="6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4"/>
            <p:cNvSpPr txBox="1"/>
            <p:nvPr/>
          </p:nvSpPr>
          <p:spPr>
            <a:xfrm>
              <a:off x="249390" y="653366"/>
              <a:ext cx="7224900" cy="210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425" lIns="128000" spcFirstLastPara="1" rIns="11425" wrap="square" tIns="114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“Headhunting”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4"/>
            <p:cNvSpPr/>
            <p:nvPr/>
          </p:nvSpPr>
          <p:spPr>
            <a:xfrm rot="5400000">
              <a:off x="-56161" y="1015531"/>
              <a:ext cx="359400" cy="251700"/>
            </a:xfrm>
            <a:prstGeom prst="chevron">
              <a:avLst>
                <a:gd fmla="val 50000" name="adj"/>
              </a:avLst>
            </a:prstGeom>
            <a:solidFill>
              <a:srgbClr val="D349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4"/>
            <p:cNvSpPr txBox="1"/>
            <p:nvPr/>
          </p:nvSpPr>
          <p:spPr>
            <a:xfrm>
              <a:off x="-2265" y="1087508"/>
              <a:ext cx="251700" cy="108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25" lIns="4425" spcFirstLastPara="1" rIns="4425" wrap="square" tIns="4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4"/>
            <p:cNvSpPr/>
            <p:nvPr/>
          </p:nvSpPr>
          <p:spPr>
            <a:xfrm rot="5400000">
              <a:off x="3750734" y="-2539618"/>
              <a:ext cx="233700" cy="7236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410"/>
              </a:schemeClr>
            </a:solidFill>
            <a:ln cap="flat" cmpd="sng" w="25400">
              <a:solidFill>
                <a:schemeClr val="lt1">
                  <a:alpha val="6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4"/>
            <p:cNvSpPr txBox="1"/>
            <p:nvPr/>
          </p:nvSpPr>
          <p:spPr>
            <a:xfrm>
              <a:off x="249390" y="973088"/>
              <a:ext cx="7224900" cy="210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425" lIns="128000" spcFirstLastPara="1" rIns="11425" wrap="square" tIns="114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Programa de Referidos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4"/>
            <p:cNvSpPr/>
            <p:nvPr/>
          </p:nvSpPr>
          <p:spPr>
            <a:xfrm rot="5400000">
              <a:off x="-56161" y="1335254"/>
              <a:ext cx="359400" cy="251700"/>
            </a:xfrm>
            <a:prstGeom prst="chevron">
              <a:avLst>
                <a:gd fmla="val 50000" name="adj"/>
              </a:avLst>
            </a:prstGeom>
            <a:solidFill>
              <a:srgbClr val="D349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4"/>
            <p:cNvSpPr txBox="1"/>
            <p:nvPr/>
          </p:nvSpPr>
          <p:spPr>
            <a:xfrm>
              <a:off x="-2265" y="1407231"/>
              <a:ext cx="251700" cy="108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25" lIns="4425" spcFirstLastPara="1" rIns="4425" wrap="square" tIns="4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4"/>
            <p:cNvSpPr/>
            <p:nvPr/>
          </p:nvSpPr>
          <p:spPr>
            <a:xfrm rot="5400000">
              <a:off x="3750734" y="-2219896"/>
              <a:ext cx="233700" cy="7236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410"/>
              </a:schemeClr>
            </a:solidFill>
            <a:ln cap="flat" cmpd="sng" w="25400">
              <a:solidFill>
                <a:schemeClr val="lt1">
                  <a:alpha val="6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4"/>
            <p:cNvSpPr txBox="1"/>
            <p:nvPr/>
          </p:nvSpPr>
          <p:spPr>
            <a:xfrm>
              <a:off x="249390" y="1292810"/>
              <a:ext cx="7224900" cy="210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425" lIns="128000" spcFirstLastPara="1" rIns="11425" wrap="square" tIns="114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Archivos/ Bases de datos de candidatos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4"/>
            <p:cNvSpPr/>
            <p:nvPr/>
          </p:nvSpPr>
          <p:spPr>
            <a:xfrm rot="5400000">
              <a:off x="-56161" y="1654976"/>
              <a:ext cx="359400" cy="251700"/>
            </a:xfrm>
            <a:prstGeom prst="chevron">
              <a:avLst>
                <a:gd fmla="val 50000" name="adj"/>
              </a:avLst>
            </a:prstGeom>
            <a:solidFill>
              <a:srgbClr val="D349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4"/>
            <p:cNvSpPr txBox="1"/>
            <p:nvPr/>
          </p:nvSpPr>
          <p:spPr>
            <a:xfrm>
              <a:off x="-2265" y="1726953"/>
              <a:ext cx="251700" cy="108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25" lIns="4425" spcFirstLastPara="1" rIns="4425" wrap="square" tIns="4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4"/>
            <p:cNvSpPr/>
            <p:nvPr/>
          </p:nvSpPr>
          <p:spPr>
            <a:xfrm rot="5400000">
              <a:off x="3750734" y="-1900173"/>
              <a:ext cx="233700" cy="7236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410"/>
              </a:schemeClr>
            </a:solidFill>
            <a:ln cap="flat" cmpd="sng" w="25400">
              <a:solidFill>
                <a:schemeClr val="lt1">
                  <a:alpha val="6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4"/>
            <p:cNvSpPr txBox="1"/>
            <p:nvPr/>
          </p:nvSpPr>
          <p:spPr>
            <a:xfrm>
              <a:off x="249390" y="1612533"/>
              <a:ext cx="7224900" cy="210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425" lIns="128000" spcFirstLastPara="1" rIns="11425" wrap="square" tIns="114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Consultoras de Selección de Personal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4"/>
            <p:cNvSpPr/>
            <p:nvPr/>
          </p:nvSpPr>
          <p:spPr>
            <a:xfrm rot="5400000">
              <a:off x="-56161" y="1974698"/>
              <a:ext cx="359400" cy="251700"/>
            </a:xfrm>
            <a:prstGeom prst="chevron">
              <a:avLst>
                <a:gd fmla="val 50000" name="adj"/>
              </a:avLst>
            </a:prstGeom>
            <a:solidFill>
              <a:srgbClr val="D349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4"/>
            <p:cNvSpPr txBox="1"/>
            <p:nvPr/>
          </p:nvSpPr>
          <p:spPr>
            <a:xfrm>
              <a:off x="-2265" y="2046675"/>
              <a:ext cx="251700" cy="108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25" lIns="4425" spcFirstLastPara="1" rIns="4425" wrap="square" tIns="4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4"/>
            <p:cNvSpPr/>
            <p:nvPr/>
          </p:nvSpPr>
          <p:spPr>
            <a:xfrm rot="5400000">
              <a:off x="3750734" y="-1580451"/>
              <a:ext cx="233700" cy="7236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410"/>
              </a:schemeClr>
            </a:solidFill>
            <a:ln cap="flat" cmpd="sng" w="25400">
              <a:solidFill>
                <a:schemeClr val="lt1">
                  <a:alpha val="6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4"/>
            <p:cNvSpPr txBox="1"/>
            <p:nvPr/>
          </p:nvSpPr>
          <p:spPr>
            <a:xfrm>
              <a:off x="249390" y="1932255"/>
              <a:ext cx="7224900" cy="210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425" lIns="128000" spcFirstLastPara="1" rIns="11425" wrap="square" tIns="114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Universidades e instituciones educativas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4"/>
            <p:cNvSpPr/>
            <p:nvPr/>
          </p:nvSpPr>
          <p:spPr>
            <a:xfrm rot="5400000">
              <a:off x="-56161" y="2294421"/>
              <a:ext cx="359400" cy="251700"/>
            </a:xfrm>
            <a:prstGeom prst="chevron">
              <a:avLst>
                <a:gd fmla="val 50000" name="adj"/>
              </a:avLst>
            </a:prstGeom>
            <a:solidFill>
              <a:srgbClr val="D349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4"/>
            <p:cNvSpPr txBox="1"/>
            <p:nvPr/>
          </p:nvSpPr>
          <p:spPr>
            <a:xfrm>
              <a:off x="-2265" y="2366398"/>
              <a:ext cx="251700" cy="108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25" lIns="4425" spcFirstLastPara="1" rIns="4425" wrap="square" tIns="4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4"/>
            <p:cNvSpPr/>
            <p:nvPr/>
          </p:nvSpPr>
          <p:spPr>
            <a:xfrm rot="5400000">
              <a:off x="3750734" y="-1260728"/>
              <a:ext cx="233700" cy="7236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410"/>
              </a:schemeClr>
            </a:solidFill>
            <a:ln cap="flat" cmpd="sng" w="25400">
              <a:solidFill>
                <a:schemeClr val="lt1">
                  <a:alpha val="6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4"/>
            <p:cNvSpPr txBox="1"/>
            <p:nvPr/>
          </p:nvSpPr>
          <p:spPr>
            <a:xfrm>
              <a:off x="249390" y="2251978"/>
              <a:ext cx="7224900" cy="210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425" lIns="128000" spcFirstLastPara="1" rIns="11425" wrap="square" tIns="114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Cooperación con otras empresas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4"/>
            <p:cNvSpPr/>
            <p:nvPr/>
          </p:nvSpPr>
          <p:spPr>
            <a:xfrm rot="5400000">
              <a:off x="-56161" y="2614143"/>
              <a:ext cx="359400" cy="251700"/>
            </a:xfrm>
            <a:prstGeom prst="chevron">
              <a:avLst>
                <a:gd fmla="val 50000" name="adj"/>
              </a:avLst>
            </a:prstGeom>
            <a:solidFill>
              <a:srgbClr val="D349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4"/>
            <p:cNvSpPr txBox="1"/>
            <p:nvPr/>
          </p:nvSpPr>
          <p:spPr>
            <a:xfrm>
              <a:off x="-2265" y="2686120"/>
              <a:ext cx="251700" cy="108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25" lIns="4425" spcFirstLastPara="1" rIns="4425" wrap="square" tIns="4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4"/>
            <p:cNvSpPr/>
            <p:nvPr/>
          </p:nvSpPr>
          <p:spPr>
            <a:xfrm rot="5400000">
              <a:off x="3750734" y="-941006"/>
              <a:ext cx="233700" cy="7236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410"/>
              </a:schemeClr>
            </a:solidFill>
            <a:ln cap="flat" cmpd="sng" w="25400">
              <a:solidFill>
                <a:schemeClr val="lt1">
                  <a:alpha val="6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4"/>
            <p:cNvSpPr txBox="1"/>
            <p:nvPr/>
          </p:nvSpPr>
          <p:spPr>
            <a:xfrm>
              <a:off x="249390" y="2571700"/>
              <a:ext cx="7224900" cy="210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425" lIns="128000" spcFirstLastPara="1" rIns="11425" wrap="square" tIns="114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Ferias de empleos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4"/>
            <p:cNvSpPr/>
            <p:nvPr/>
          </p:nvSpPr>
          <p:spPr>
            <a:xfrm rot="5400000">
              <a:off x="-56161" y="2933866"/>
              <a:ext cx="359400" cy="251700"/>
            </a:xfrm>
            <a:prstGeom prst="chevron">
              <a:avLst>
                <a:gd fmla="val 50000" name="adj"/>
              </a:avLst>
            </a:prstGeom>
            <a:solidFill>
              <a:srgbClr val="D349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4"/>
            <p:cNvSpPr txBox="1"/>
            <p:nvPr/>
          </p:nvSpPr>
          <p:spPr>
            <a:xfrm>
              <a:off x="-2265" y="3005843"/>
              <a:ext cx="251700" cy="108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25" lIns="4425" spcFirstLastPara="1" rIns="4425" wrap="square" tIns="4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4"/>
            <p:cNvSpPr/>
            <p:nvPr/>
          </p:nvSpPr>
          <p:spPr>
            <a:xfrm rot="5400000">
              <a:off x="3750734" y="-621284"/>
              <a:ext cx="233700" cy="7236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410"/>
              </a:schemeClr>
            </a:solidFill>
            <a:ln cap="flat" cmpd="sng" w="25400">
              <a:solidFill>
                <a:schemeClr val="lt1">
                  <a:alpha val="6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4"/>
            <p:cNvSpPr txBox="1"/>
            <p:nvPr/>
          </p:nvSpPr>
          <p:spPr>
            <a:xfrm>
              <a:off x="249390" y="2891422"/>
              <a:ext cx="7224900" cy="210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425" lIns="128000" spcFirstLastPara="1" rIns="11425" wrap="square" tIns="114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Eventos de networking (Workshops, Meet &amp; Greet, Meet Up)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4"/>
            <p:cNvSpPr/>
            <p:nvPr/>
          </p:nvSpPr>
          <p:spPr>
            <a:xfrm rot="5400000">
              <a:off x="-56161" y="3253588"/>
              <a:ext cx="359400" cy="251700"/>
            </a:xfrm>
            <a:prstGeom prst="chevron">
              <a:avLst>
                <a:gd fmla="val 50000" name="adj"/>
              </a:avLst>
            </a:prstGeom>
            <a:solidFill>
              <a:srgbClr val="D349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4"/>
            <p:cNvSpPr txBox="1"/>
            <p:nvPr/>
          </p:nvSpPr>
          <p:spPr>
            <a:xfrm>
              <a:off x="-2265" y="3325565"/>
              <a:ext cx="251700" cy="108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25" lIns="4425" spcFirstLastPara="1" rIns="4425" wrap="square" tIns="4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4"/>
            <p:cNvSpPr/>
            <p:nvPr/>
          </p:nvSpPr>
          <p:spPr>
            <a:xfrm rot="5400000">
              <a:off x="3750734" y="-301561"/>
              <a:ext cx="233700" cy="7236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410"/>
              </a:schemeClr>
            </a:solidFill>
            <a:ln cap="flat" cmpd="sng" w="25400">
              <a:solidFill>
                <a:schemeClr val="lt1">
                  <a:alpha val="6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4"/>
            <p:cNvSpPr txBox="1"/>
            <p:nvPr/>
          </p:nvSpPr>
          <p:spPr>
            <a:xfrm>
              <a:off x="249390" y="3211145"/>
              <a:ext cx="7224900" cy="210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425" lIns="128000" spcFirstLastPara="1" rIns="11425" wrap="square" tIns="114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Carteles o anuncios en vía pública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4"/>
            <p:cNvSpPr/>
            <p:nvPr/>
          </p:nvSpPr>
          <p:spPr>
            <a:xfrm rot="5400000">
              <a:off x="-56161" y="3573310"/>
              <a:ext cx="359400" cy="251700"/>
            </a:xfrm>
            <a:prstGeom prst="chevron">
              <a:avLst>
                <a:gd fmla="val 50000" name="adj"/>
              </a:avLst>
            </a:prstGeom>
            <a:solidFill>
              <a:srgbClr val="D349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4"/>
            <p:cNvSpPr txBox="1"/>
            <p:nvPr/>
          </p:nvSpPr>
          <p:spPr>
            <a:xfrm>
              <a:off x="-2265" y="3645287"/>
              <a:ext cx="251700" cy="108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25" lIns="4425" spcFirstLastPara="1" rIns="4425" wrap="square" tIns="4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4"/>
            <p:cNvSpPr/>
            <p:nvPr/>
          </p:nvSpPr>
          <p:spPr>
            <a:xfrm rot="5400000">
              <a:off x="3750734" y="18160"/>
              <a:ext cx="233700" cy="7236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89410"/>
              </a:schemeClr>
            </a:solidFill>
            <a:ln cap="flat" cmpd="sng" w="25400">
              <a:solidFill>
                <a:schemeClr val="lt1">
                  <a:alpha val="6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4"/>
            <p:cNvSpPr txBox="1"/>
            <p:nvPr/>
          </p:nvSpPr>
          <p:spPr>
            <a:xfrm>
              <a:off x="249390" y="3530867"/>
              <a:ext cx="7224900" cy="210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425" lIns="128000" spcFirstLastPara="1" rIns="11425" wrap="square" tIns="114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Bolsas de empleo de sindicatos y asociaciones gremiales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4"/>
            <p:cNvSpPr/>
            <p:nvPr/>
          </p:nvSpPr>
          <p:spPr>
            <a:xfrm rot="5400000">
              <a:off x="-56161" y="3893033"/>
              <a:ext cx="359400" cy="251700"/>
            </a:xfrm>
            <a:prstGeom prst="chevron">
              <a:avLst>
                <a:gd fmla="val 50000" name="adj"/>
              </a:avLst>
            </a:prstGeom>
            <a:solidFill>
              <a:srgbClr val="D349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4"/>
            <p:cNvSpPr txBox="1"/>
            <p:nvPr/>
          </p:nvSpPr>
          <p:spPr>
            <a:xfrm>
              <a:off x="-2265" y="3965010"/>
              <a:ext cx="251700" cy="108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25" lIns="4425" spcFirstLastPara="1" rIns="4425" wrap="square" tIns="4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4"/>
            <p:cNvSpPr/>
            <p:nvPr/>
          </p:nvSpPr>
          <p:spPr>
            <a:xfrm rot="5400000">
              <a:off x="3750734" y="337883"/>
              <a:ext cx="233700" cy="7236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FFFFFF">
                <a:alpha val="89410"/>
              </a:srgbClr>
            </a:solidFill>
            <a:ln cap="flat" cmpd="sng" w="25400">
              <a:solidFill>
                <a:schemeClr val="lt1">
                  <a:alpha val="6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4"/>
            <p:cNvSpPr txBox="1"/>
            <p:nvPr/>
          </p:nvSpPr>
          <p:spPr>
            <a:xfrm>
              <a:off x="249390" y="3850590"/>
              <a:ext cx="7224900" cy="210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425" lIns="128000" spcFirstLastPara="1" rIns="11425" wrap="square" tIns="114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Presentaciones espontáneas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4"/>
            <p:cNvSpPr/>
            <p:nvPr/>
          </p:nvSpPr>
          <p:spPr>
            <a:xfrm rot="5400000">
              <a:off x="-56161" y="4212755"/>
              <a:ext cx="359400" cy="251700"/>
            </a:xfrm>
            <a:prstGeom prst="chevron">
              <a:avLst>
                <a:gd fmla="val 50000" name="adj"/>
              </a:avLst>
            </a:prstGeom>
            <a:solidFill>
              <a:srgbClr val="D349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4"/>
            <p:cNvSpPr txBox="1"/>
            <p:nvPr/>
          </p:nvSpPr>
          <p:spPr>
            <a:xfrm>
              <a:off x="-2265" y="4284732"/>
              <a:ext cx="251700" cy="108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25" lIns="4425" spcFirstLastPara="1" rIns="4425" wrap="square" tIns="4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4"/>
            <p:cNvSpPr/>
            <p:nvPr/>
          </p:nvSpPr>
          <p:spPr>
            <a:xfrm rot="5400000">
              <a:off x="3750734" y="657605"/>
              <a:ext cx="233700" cy="7236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FFFFFF">
                <a:alpha val="89410"/>
              </a:srgbClr>
            </a:solidFill>
            <a:ln cap="flat" cmpd="sng" w="25400">
              <a:solidFill>
                <a:schemeClr val="lt1">
                  <a:alpha val="6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4"/>
            <p:cNvSpPr txBox="1"/>
            <p:nvPr/>
          </p:nvSpPr>
          <p:spPr>
            <a:xfrm>
              <a:off x="249390" y="4170312"/>
              <a:ext cx="7224900" cy="210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425" lIns="128000" spcFirstLastPara="1" rIns="11425" wrap="square" tIns="114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Chatbots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4"/>
            <p:cNvSpPr/>
            <p:nvPr/>
          </p:nvSpPr>
          <p:spPr>
            <a:xfrm rot="5400000">
              <a:off x="-56161" y="4532478"/>
              <a:ext cx="359400" cy="251700"/>
            </a:xfrm>
            <a:prstGeom prst="chevron">
              <a:avLst>
                <a:gd fmla="val 50000" name="adj"/>
              </a:avLst>
            </a:prstGeom>
            <a:solidFill>
              <a:srgbClr val="D349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4"/>
            <p:cNvSpPr txBox="1"/>
            <p:nvPr/>
          </p:nvSpPr>
          <p:spPr>
            <a:xfrm>
              <a:off x="-2265" y="4604455"/>
              <a:ext cx="251700" cy="108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25" lIns="4425" spcFirstLastPara="1" rIns="4425" wrap="square" tIns="4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4"/>
            <p:cNvSpPr/>
            <p:nvPr/>
          </p:nvSpPr>
          <p:spPr>
            <a:xfrm rot="5400000">
              <a:off x="3750734" y="977327"/>
              <a:ext cx="233700" cy="7236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FFFFFF">
                <a:alpha val="89410"/>
              </a:srgbClr>
            </a:solidFill>
            <a:ln cap="flat" cmpd="sng" w="25400">
              <a:solidFill>
                <a:schemeClr val="lt1">
                  <a:alpha val="6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4"/>
            <p:cNvSpPr txBox="1"/>
            <p:nvPr/>
          </p:nvSpPr>
          <p:spPr>
            <a:xfrm>
              <a:off x="249390" y="4490034"/>
              <a:ext cx="7224900" cy="210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425" lIns="128000" spcFirstLastPara="1" rIns="11425" wrap="square" tIns="114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Jobcasts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2" name="Google Shape;282;p14"/>
          <p:cNvSpPr/>
          <p:nvPr/>
        </p:nvSpPr>
        <p:spPr>
          <a:xfrm>
            <a:off x="1402850" y="1379609"/>
            <a:ext cx="7164000" cy="307500"/>
          </a:xfrm>
          <a:prstGeom prst="rect">
            <a:avLst/>
          </a:prstGeom>
          <a:solidFill>
            <a:srgbClr val="40BEA6"/>
          </a:solidFill>
          <a:ln cap="flat" cmpd="sng" w="9525">
            <a:solidFill>
              <a:srgbClr val="40B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3" name="Google Shape;283;p14"/>
          <p:cNvSpPr txBox="1"/>
          <p:nvPr/>
        </p:nvSpPr>
        <p:spPr>
          <a:xfrm>
            <a:off x="1718244" y="1298574"/>
            <a:ext cx="653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700">
                <a:solidFill>
                  <a:schemeClr val="lt1"/>
                </a:solidFill>
              </a:rPr>
              <a:t>Tipos de Reclutamiento Externo</a:t>
            </a:r>
            <a:endParaRPr b="1" sz="17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2a86bbd699_0_143"/>
          <p:cNvSpPr/>
          <p:nvPr/>
        </p:nvSpPr>
        <p:spPr>
          <a:xfrm>
            <a:off x="1467787" y="2862421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Reclutamiento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12a86bbd699_0_143">
            <a:hlinkClick action="ppaction://hlinksldjump" r:id="rId3"/>
          </p:cNvPr>
          <p:cNvSpPr/>
          <p:nvPr/>
        </p:nvSpPr>
        <p:spPr>
          <a:xfrm>
            <a:off x="1253474" y="2862421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12a86bbd699_0_143"/>
          <p:cNvSpPr/>
          <p:nvPr/>
        </p:nvSpPr>
        <p:spPr>
          <a:xfrm>
            <a:off x="1467787" y="3505362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Selección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12a86bbd699_0_143">
            <a:hlinkClick r:id="rId4"/>
          </p:cNvPr>
          <p:cNvSpPr/>
          <p:nvPr/>
        </p:nvSpPr>
        <p:spPr>
          <a:xfrm>
            <a:off x="1253474" y="350536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12a86bbd699_0_143"/>
          <p:cNvSpPr txBox="1"/>
          <p:nvPr/>
        </p:nvSpPr>
        <p:spPr>
          <a:xfrm>
            <a:off x="0" y="-23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Agenda</a:t>
            </a:r>
            <a:endParaRPr b="1" i="0" sz="2800" u="none" cap="none" strike="noStrike">
              <a:solidFill>
                <a:srgbClr val="932328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3" name="Google Shape;293;g12a86bbd699_0_143"/>
          <p:cNvSpPr/>
          <p:nvPr/>
        </p:nvSpPr>
        <p:spPr>
          <a:xfrm>
            <a:off x="1467787" y="2219478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Planeación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12a86bbd699_0_143">
            <a:hlinkClick/>
          </p:cNvPr>
          <p:cNvSpPr/>
          <p:nvPr/>
        </p:nvSpPr>
        <p:spPr>
          <a:xfrm>
            <a:off x="1253474" y="2219478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12a86bbd699_0_143"/>
          <p:cNvSpPr/>
          <p:nvPr/>
        </p:nvSpPr>
        <p:spPr>
          <a:xfrm>
            <a:off x="1452537" y="1647812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Presentación y enfoque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12a86bbd699_0_143">
            <a:hlinkClick/>
          </p:cNvPr>
          <p:cNvSpPr/>
          <p:nvPr/>
        </p:nvSpPr>
        <p:spPr>
          <a:xfrm>
            <a:off x="1238224" y="164781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utn regional buenos aires ingenieria industrial" id="297" name="Google Shape;297;g12a86bbd699_0_1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0820" y="7937"/>
            <a:ext cx="2857500" cy="109537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12a86bbd699_0_143"/>
          <p:cNvSpPr/>
          <p:nvPr/>
        </p:nvSpPr>
        <p:spPr>
          <a:xfrm>
            <a:off x="1452547" y="4130202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Inducción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12a86bbd699_0_143">
            <a:hlinkClick r:id="rId6"/>
          </p:cNvPr>
          <p:cNvSpPr/>
          <p:nvPr/>
        </p:nvSpPr>
        <p:spPr>
          <a:xfrm>
            <a:off x="1238234" y="413020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12a86bbd699_0_143"/>
          <p:cNvSpPr/>
          <p:nvPr/>
        </p:nvSpPr>
        <p:spPr>
          <a:xfrm>
            <a:off x="391781" y="3605962"/>
            <a:ext cx="642900" cy="35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BA89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12a86bbd699_0_143"/>
          <p:cNvSpPr/>
          <p:nvPr/>
        </p:nvSpPr>
        <p:spPr>
          <a:xfrm>
            <a:off x="1452547" y="4773143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b="0" i="0" lang="es-AR" sz="18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Marca Empleadora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12a86bbd699_0_143">
            <a:hlinkClick r:id="rId7"/>
          </p:cNvPr>
          <p:cNvSpPr/>
          <p:nvPr/>
        </p:nvSpPr>
        <p:spPr>
          <a:xfrm>
            <a:off x="1253474" y="4755042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12a86bbd699_0_143"/>
          <p:cNvSpPr/>
          <p:nvPr/>
        </p:nvSpPr>
        <p:spPr>
          <a:xfrm>
            <a:off x="1452547" y="5478118"/>
            <a:ext cx="7644000" cy="42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  <a:effectLst>
            <a:outerShdw blurRad="149986" algn="ctr" dir="8460000" dist="250189">
              <a:srgbClr val="000000">
                <a:alpha val="270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450"/>
              <a:buFont typeface="Arial"/>
              <a:buNone/>
            </a:pPr>
            <a:r>
              <a:rPr lang="es-AR" sz="1800">
                <a:solidFill>
                  <a:srgbClr val="932328"/>
                </a:solidFill>
              </a:rPr>
              <a:t>Tipos de Contratos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12a86bbd699_0_143">
            <a:hlinkClick r:id="rId8"/>
          </p:cNvPr>
          <p:cNvSpPr/>
          <p:nvPr/>
        </p:nvSpPr>
        <p:spPr>
          <a:xfrm>
            <a:off x="1253474" y="5460017"/>
            <a:ext cx="571500" cy="4287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44450" algn="ctr" dir="5400000" dist="27939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323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"/>
          <p:cNvSpPr txBox="1"/>
          <p:nvPr/>
        </p:nvSpPr>
        <p:spPr>
          <a:xfrm>
            <a:off x="0" y="0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</a:t>
            </a:r>
            <a:r>
              <a:rPr b="1" i="0" lang="es-AR" sz="24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Selección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412142" y="3051965"/>
            <a:ext cx="5760000" cy="1440000"/>
          </a:xfrm>
          <a:prstGeom prst="rect">
            <a:avLst/>
          </a:prstGeom>
          <a:solidFill>
            <a:srgbClr val="969300">
              <a:alpha val="40000"/>
            </a:srgbClr>
          </a:solidFill>
          <a:ln>
            <a:noFill/>
          </a:ln>
        </p:spPr>
        <p:txBody>
          <a:bodyPr anchorCtr="0" anchor="ctr" bIns="360000" lIns="180000" spcFirstLastPara="1" rIns="180000" wrap="square" tIns="360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Así como el Reclutamiento es una actividad de divulgación y de invitación, la Selección es una actividad de comparación, elección y decisión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822960" y="553033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eet - Collaborative Recruiting - Applicant Tracking System" id="312" name="Google Shape;3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6108" y="1587024"/>
            <a:ext cx="6465818" cy="125543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6"/>
          <p:cNvSpPr txBox="1"/>
          <p:nvPr/>
        </p:nvSpPr>
        <p:spPr>
          <a:xfrm>
            <a:off x="3850417" y="4669731"/>
            <a:ext cx="5760000" cy="1440000"/>
          </a:xfrm>
          <a:prstGeom prst="rect">
            <a:avLst/>
          </a:prstGeom>
          <a:solidFill>
            <a:srgbClr val="5ECA94">
              <a:alpha val="60000"/>
            </a:srgbClr>
          </a:solidFill>
          <a:ln>
            <a:noFill/>
          </a:ln>
        </p:spPr>
        <p:txBody>
          <a:bodyPr anchorCtr="0" anchor="ctr" bIns="360000" lIns="180000" spcFirstLastPara="1" rIns="180000" wrap="square" tIns="360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objetivo del proceso de Selección es escoger entre los candidatos reclutados aquellos que tengan mayores probabilidades de adaptarse al cargo y desempeñarlo bien.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0" y="-23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Selección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" name="Google Shape;319;p17"/>
          <p:cNvGrpSpPr/>
          <p:nvPr/>
        </p:nvGrpSpPr>
        <p:grpSpPr>
          <a:xfrm>
            <a:off x="1580141" y="3045081"/>
            <a:ext cx="6745717" cy="2908180"/>
            <a:chOff x="329258" y="354771"/>
            <a:chExt cx="6745717" cy="2908180"/>
          </a:xfrm>
        </p:grpSpPr>
        <p:sp>
          <p:nvSpPr>
            <p:cNvPr id="320" name="Google Shape;320;p17"/>
            <p:cNvSpPr/>
            <p:nvPr/>
          </p:nvSpPr>
          <p:spPr>
            <a:xfrm>
              <a:off x="5013616" y="778172"/>
              <a:ext cx="2061359" cy="206174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FFEB65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7"/>
            <p:cNvSpPr/>
            <p:nvPr/>
          </p:nvSpPr>
          <p:spPr>
            <a:xfrm>
              <a:off x="5082060" y="846909"/>
              <a:ext cx="1924472" cy="1924267"/>
            </a:xfrm>
            <a:prstGeom prst="ellipse">
              <a:avLst/>
            </a:prstGeom>
            <a:solidFill>
              <a:srgbClr val="40BEA6"/>
            </a:solidFill>
            <a:ln cap="flat" cmpd="sng" w="9525">
              <a:solidFill>
                <a:srgbClr val="FFC000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7"/>
            <p:cNvSpPr txBox="1"/>
            <p:nvPr/>
          </p:nvSpPr>
          <p:spPr>
            <a:xfrm>
              <a:off x="5357176" y="1121856"/>
              <a:ext cx="1374239" cy="13743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00" lIns="20300" spcFirstLastPara="1" rIns="20300" wrap="square" tIns="20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A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Inicio del proceso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7"/>
            <p:cNvSpPr/>
            <p:nvPr/>
          </p:nvSpPr>
          <p:spPr>
            <a:xfrm rot="2700000">
              <a:off x="2885625" y="780664"/>
              <a:ext cx="2056394" cy="2056394"/>
            </a:xfrm>
            <a:prstGeom prst="teardrop">
              <a:avLst>
                <a:gd fmla="val 100000" name="adj"/>
              </a:avLst>
            </a:prstGeom>
            <a:gradFill>
              <a:gsLst>
                <a:gs pos="0">
                  <a:schemeClr val="dk1"/>
                </a:gs>
                <a:gs pos="100000">
                  <a:srgbClr val="FFEB65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7"/>
            <p:cNvSpPr/>
            <p:nvPr/>
          </p:nvSpPr>
          <p:spPr>
            <a:xfrm>
              <a:off x="2951586" y="846909"/>
              <a:ext cx="1924472" cy="1924267"/>
            </a:xfrm>
            <a:prstGeom prst="ellipse">
              <a:avLst/>
            </a:prstGeom>
            <a:solidFill>
              <a:schemeClr val="lt1">
                <a:alpha val="89411"/>
              </a:schemeClr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7"/>
            <p:cNvSpPr txBox="1"/>
            <p:nvPr/>
          </p:nvSpPr>
          <p:spPr>
            <a:xfrm>
              <a:off x="3226702" y="1121856"/>
              <a:ext cx="1374239" cy="13743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00" lIns="20300" spcFirstLastPara="1" rIns="20300" wrap="square" tIns="20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A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Elección de la técnica de Selección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7"/>
            <p:cNvSpPr/>
            <p:nvPr/>
          </p:nvSpPr>
          <p:spPr>
            <a:xfrm rot="2700000">
              <a:off x="755151" y="780664"/>
              <a:ext cx="2056394" cy="2056394"/>
            </a:xfrm>
            <a:prstGeom prst="teardrop">
              <a:avLst>
                <a:gd fmla="val 100000" name="adj"/>
              </a:avLst>
            </a:prstGeom>
            <a:gradFill>
              <a:gsLst>
                <a:gs pos="0">
                  <a:schemeClr val="dk1"/>
                </a:gs>
                <a:gs pos="100000">
                  <a:srgbClr val="FFEB65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7"/>
            <p:cNvSpPr/>
            <p:nvPr/>
          </p:nvSpPr>
          <p:spPr>
            <a:xfrm>
              <a:off x="821112" y="846909"/>
              <a:ext cx="1924472" cy="1924267"/>
            </a:xfrm>
            <a:prstGeom prst="ellipse">
              <a:avLst/>
            </a:prstGeom>
            <a:solidFill>
              <a:srgbClr val="F2F2F2">
                <a:alpha val="86274"/>
              </a:srgbClr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7"/>
            <p:cNvSpPr txBox="1"/>
            <p:nvPr/>
          </p:nvSpPr>
          <p:spPr>
            <a:xfrm>
              <a:off x="1096228" y="1121856"/>
              <a:ext cx="1374239" cy="13743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00" lIns="20300" spcFirstLastPara="1" rIns="20300" wrap="square" tIns="20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A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Relevamiento del perfil solicitado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9" name="Google Shape;3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6717" y="2675236"/>
            <a:ext cx="796230" cy="753764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7"/>
          <p:cNvSpPr txBox="1"/>
          <p:nvPr/>
        </p:nvSpPr>
        <p:spPr>
          <a:xfrm>
            <a:off x="1357082" y="1669143"/>
            <a:ext cx="7488000" cy="540000"/>
          </a:xfrm>
          <a:prstGeom prst="rect">
            <a:avLst/>
          </a:prstGeom>
          <a:solidFill>
            <a:srgbClr val="F69A67">
              <a:alpha val="60000"/>
            </a:srgbClr>
          </a:solidFill>
          <a:ln>
            <a:noFill/>
          </a:ln>
        </p:spPr>
        <p:txBody>
          <a:bodyPr anchorCtr="0" anchor="ctr" bIns="360000" lIns="360000" spcFirstLastPara="1" rIns="360000" wrap="square" tIns="360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Inicio del proceso de Selección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"/>
          <p:cNvSpPr txBox="1"/>
          <p:nvPr/>
        </p:nvSpPr>
        <p:spPr>
          <a:xfrm>
            <a:off x="0" y="-23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Selección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6" name="Google Shape;336;p19"/>
          <p:cNvGrpSpPr/>
          <p:nvPr/>
        </p:nvGrpSpPr>
        <p:grpSpPr>
          <a:xfrm>
            <a:off x="1167706" y="2076850"/>
            <a:ext cx="7864507" cy="2537860"/>
            <a:chOff x="24" y="120699"/>
            <a:chExt cx="7864507" cy="2537860"/>
          </a:xfrm>
        </p:grpSpPr>
        <p:sp>
          <p:nvSpPr>
            <p:cNvPr id="337" name="Google Shape;337;p19"/>
            <p:cNvSpPr/>
            <p:nvPr/>
          </p:nvSpPr>
          <p:spPr>
            <a:xfrm>
              <a:off x="24" y="120699"/>
              <a:ext cx="2581701" cy="1513150"/>
            </a:xfrm>
            <a:prstGeom prst="roundRect">
              <a:avLst>
                <a:gd fmla="val 10000" name="adj"/>
              </a:avLst>
            </a:prstGeom>
            <a:solidFill>
              <a:srgbClr val="30A6D0">
                <a:alpha val="60000"/>
              </a:srgbClr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9"/>
            <p:cNvSpPr txBox="1"/>
            <p:nvPr/>
          </p:nvSpPr>
          <p:spPr>
            <a:xfrm>
              <a:off x="24" y="120699"/>
              <a:ext cx="2581701" cy="1008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184900" spcFirstLastPara="1" rIns="184900" wrap="square" tIns="184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None/>
              </a:pPr>
              <a:r>
                <a:rPr b="1" i="0" lang="es-AR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Proceso de Comparación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253223" y="1383330"/>
              <a:ext cx="3087534" cy="1259998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9"/>
            <p:cNvSpPr txBox="1"/>
            <p:nvPr/>
          </p:nvSpPr>
          <p:spPr>
            <a:xfrm>
              <a:off x="290127" y="1420234"/>
              <a:ext cx="3013726" cy="1186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128000" spcFirstLastPara="1" rIns="128000" wrap="square" tIns="1280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Entre los requisitos del cargo y el perfil de los candidatos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9"/>
            <p:cNvSpPr/>
            <p:nvPr/>
          </p:nvSpPr>
          <p:spPr>
            <a:xfrm rot="31039">
              <a:off x="3036899" y="323819"/>
              <a:ext cx="965048" cy="642769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9"/>
            <p:cNvSpPr txBox="1"/>
            <p:nvPr/>
          </p:nvSpPr>
          <p:spPr>
            <a:xfrm rot="31039">
              <a:off x="3036903" y="451502"/>
              <a:ext cx="772217" cy="385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9"/>
            <p:cNvSpPr/>
            <p:nvPr/>
          </p:nvSpPr>
          <p:spPr>
            <a:xfrm>
              <a:off x="4402498" y="160449"/>
              <a:ext cx="2581701" cy="1513150"/>
            </a:xfrm>
            <a:prstGeom prst="roundRect">
              <a:avLst>
                <a:gd fmla="val 10000" name="adj"/>
              </a:avLst>
            </a:prstGeom>
            <a:solidFill>
              <a:srgbClr val="F69A67">
                <a:alpha val="60000"/>
              </a:srgbClr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9"/>
            <p:cNvSpPr txBox="1"/>
            <p:nvPr/>
          </p:nvSpPr>
          <p:spPr>
            <a:xfrm>
              <a:off x="4402498" y="160449"/>
              <a:ext cx="2581701" cy="1008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184900" spcFirstLastPara="1" rIns="184900" wrap="square" tIns="184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None/>
              </a:pPr>
              <a:r>
                <a:rPr b="1" i="0" lang="es-AR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Proceso</a:t>
              </a:r>
              <a:r>
                <a:rPr b="0" i="0" lang="es-AR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s-AR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</a:t>
              </a:r>
              <a:r>
                <a:rPr b="0" i="0" lang="es-AR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s-AR" sz="2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Decisión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9"/>
            <p:cNvSpPr/>
            <p:nvPr/>
          </p:nvSpPr>
          <p:spPr>
            <a:xfrm>
              <a:off x="4584480" y="1398561"/>
              <a:ext cx="3280051" cy="1259998"/>
            </a:xfrm>
            <a:prstGeom prst="roundRect">
              <a:avLst>
                <a:gd fmla="val 10000" name="adj"/>
              </a:avLst>
            </a:prstGeom>
            <a:solidFill>
              <a:srgbClr val="FFFFFF">
                <a:alpha val="89411"/>
              </a:srgbClr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9"/>
            <p:cNvSpPr txBox="1"/>
            <p:nvPr/>
          </p:nvSpPr>
          <p:spPr>
            <a:xfrm>
              <a:off x="4621384" y="1435465"/>
              <a:ext cx="3206243" cy="1186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128000" spcFirstLastPara="1" rIns="128000" wrap="square" tIns="1280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A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Aceptar o rechazar a los candidatos que cumplen con las características exigidas por el cargo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" name="Google Shape;347;p19"/>
          <p:cNvSpPr/>
          <p:nvPr/>
        </p:nvSpPr>
        <p:spPr>
          <a:xfrm rot="-414400">
            <a:off x="4999072" y="4598595"/>
            <a:ext cx="639233" cy="804799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8" name="Google Shape;348;p19"/>
          <p:cNvGrpSpPr/>
          <p:nvPr/>
        </p:nvGrpSpPr>
        <p:grpSpPr>
          <a:xfrm>
            <a:off x="5833923" y="5066299"/>
            <a:ext cx="2736254" cy="702334"/>
            <a:chOff x="2494221" y="3751105"/>
            <a:chExt cx="3528001" cy="540000"/>
          </a:xfrm>
        </p:grpSpPr>
        <p:sp>
          <p:nvSpPr>
            <p:cNvPr id="349" name="Google Shape;349;p19"/>
            <p:cNvSpPr/>
            <p:nvPr/>
          </p:nvSpPr>
          <p:spPr>
            <a:xfrm>
              <a:off x="2494222" y="3751105"/>
              <a:ext cx="3528000" cy="540000"/>
            </a:xfrm>
            <a:prstGeom prst="roundRect">
              <a:avLst>
                <a:gd fmla="val 10000" name="adj"/>
              </a:avLst>
            </a:prstGeom>
            <a:solidFill>
              <a:srgbClr val="40BEA6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9"/>
            <p:cNvSpPr txBox="1"/>
            <p:nvPr/>
          </p:nvSpPr>
          <p:spPr>
            <a:xfrm>
              <a:off x="2494221" y="3751105"/>
              <a:ext cx="3528000" cy="540000"/>
            </a:xfrm>
            <a:prstGeom prst="rect">
              <a:avLst/>
            </a:prstGeom>
            <a:solidFill>
              <a:srgbClr val="40BEA6"/>
            </a:solidFill>
            <a:ln>
              <a:noFill/>
            </a:ln>
          </p:spPr>
          <p:txBody>
            <a:bodyPr anchorCtr="0" anchor="t" bIns="128000" lIns="128000" spcFirstLastPara="1" rIns="128000" wrap="square" tIns="128000">
              <a:noAutofit/>
            </a:bodyPr>
            <a:lstStyle/>
            <a:p>
              <a:pPr indent="-171450" lvl="1" marL="17145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s-A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s-A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Responsabilidad de la línea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11c1278acb_0_0"/>
          <p:cNvSpPr txBox="1"/>
          <p:nvPr/>
        </p:nvSpPr>
        <p:spPr>
          <a:xfrm>
            <a:off x="0" y="-23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Selección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g211c1278acb_0_0"/>
          <p:cNvPicPr preferRelativeResize="0"/>
          <p:nvPr/>
        </p:nvPicPr>
        <p:blipFill rotWithShape="1">
          <a:blip r:embed="rId3">
            <a:alphaModFix/>
          </a:blip>
          <a:srcRect b="12487" l="0" r="0" t="0"/>
          <a:stretch/>
        </p:blipFill>
        <p:spPr>
          <a:xfrm>
            <a:off x="2347875" y="1340375"/>
            <a:ext cx="5526400" cy="469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"/>
          <p:cNvSpPr txBox="1"/>
          <p:nvPr/>
        </p:nvSpPr>
        <p:spPr>
          <a:xfrm>
            <a:off x="0" y="0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Selección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2" name="Google Shape;362;p20"/>
          <p:cNvGrpSpPr/>
          <p:nvPr/>
        </p:nvGrpSpPr>
        <p:grpSpPr>
          <a:xfrm>
            <a:off x="2667157" y="1462054"/>
            <a:ext cx="6930514" cy="4580935"/>
            <a:chOff x="3470" y="0"/>
            <a:chExt cx="6930514" cy="4580935"/>
          </a:xfrm>
        </p:grpSpPr>
        <p:sp>
          <p:nvSpPr>
            <p:cNvPr id="363" name="Google Shape;363;p20"/>
            <p:cNvSpPr/>
            <p:nvPr/>
          </p:nvSpPr>
          <p:spPr>
            <a:xfrm>
              <a:off x="3470" y="0"/>
              <a:ext cx="3338334" cy="4580935"/>
            </a:xfrm>
            <a:prstGeom prst="roundRect">
              <a:avLst>
                <a:gd fmla="val 10000" name="adj"/>
              </a:avLst>
            </a:prstGeom>
            <a:solidFill>
              <a:srgbClr val="F69A67">
                <a:alpha val="6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0"/>
            <p:cNvSpPr txBox="1"/>
            <p:nvPr/>
          </p:nvSpPr>
          <p:spPr>
            <a:xfrm>
              <a:off x="3470" y="0"/>
              <a:ext cx="3338334" cy="1374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137150" spcFirstLastPara="1" rIns="137150" wrap="square" tIns="13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s-AR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Técnicas Individuales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0"/>
            <p:cNvSpPr/>
            <p:nvPr/>
          </p:nvSpPr>
          <p:spPr>
            <a:xfrm>
              <a:off x="337303" y="1374392"/>
              <a:ext cx="2670667" cy="667344"/>
            </a:xfrm>
            <a:prstGeom prst="roundRect">
              <a:avLst>
                <a:gd fmla="val 10000" name="adj"/>
              </a:avLst>
            </a:prstGeom>
            <a:solidFill>
              <a:srgbClr val="FCDDC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0"/>
            <p:cNvSpPr txBox="1"/>
            <p:nvPr/>
          </p:nvSpPr>
          <p:spPr>
            <a:xfrm>
              <a:off x="356849" y="1393938"/>
              <a:ext cx="2631575" cy="628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375" lIns="43175" spcFirstLastPara="1" rIns="43175" wrap="square" tIns="3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s-AR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Entrevista estructuradas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0"/>
            <p:cNvSpPr/>
            <p:nvPr/>
          </p:nvSpPr>
          <p:spPr>
            <a:xfrm>
              <a:off x="337303" y="2144405"/>
              <a:ext cx="2670667" cy="667344"/>
            </a:xfrm>
            <a:prstGeom prst="roundRect">
              <a:avLst>
                <a:gd fmla="val 10000" name="adj"/>
              </a:avLst>
            </a:prstGeom>
            <a:solidFill>
              <a:srgbClr val="EAA7AA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0"/>
            <p:cNvSpPr txBox="1"/>
            <p:nvPr/>
          </p:nvSpPr>
          <p:spPr>
            <a:xfrm>
              <a:off x="356849" y="2163951"/>
              <a:ext cx="2631575" cy="628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375" lIns="43175" spcFirstLastPara="1" rIns="43175" wrap="square" tIns="3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s-AR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Entrevista semiestructuradas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0"/>
            <p:cNvSpPr/>
            <p:nvPr/>
          </p:nvSpPr>
          <p:spPr>
            <a:xfrm>
              <a:off x="337303" y="2914418"/>
              <a:ext cx="2670667" cy="667344"/>
            </a:xfrm>
            <a:prstGeom prst="roundRect">
              <a:avLst>
                <a:gd fmla="val 10000" name="adj"/>
              </a:avLst>
            </a:prstGeom>
            <a:solidFill>
              <a:srgbClr val="F69A6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0"/>
            <p:cNvSpPr txBox="1"/>
            <p:nvPr/>
          </p:nvSpPr>
          <p:spPr>
            <a:xfrm>
              <a:off x="356849" y="2933964"/>
              <a:ext cx="2631575" cy="628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375" lIns="43175" spcFirstLastPara="1" rIns="43175" wrap="square" tIns="3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s-AR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Entrevista no estructuradas o abiertas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0"/>
            <p:cNvSpPr/>
            <p:nvPr/>
          </p:nvSpPr>
          <p:spPr>
            <a:xfrm>
              <a:off x="337303" y="3684431"/>
              <a:ext cx="2670667" cy="667344"/>
            </a:xfrm>
            <a:prstGeom prst="roundRect">
              <a:avLst>
                <a:gd fmla="val 10000" name="adj"/>
              </a:avLst>
            </a:prstGeom>
            <a:solidFill>
              <a:srgbClr val="DF7D8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0"/>
            <p:cNvSpPr txBox="1"/>
            <p:nvPr/>
          </p:nvSpPr>
          <p:spPr>
            <a:xfrm>
              <a:off x="356849" y="3703977"/>
              <a:ext cx="2631575" cy="628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375" lIns="43175" spcFirstLastPara="1" rIns="43175" wrap="square" tIns="3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s-AR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Entrevista por competencias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0"/>
            <p:cNvSpPr/>
            <p:nvPr/>
          </p:nvSpPr>
          <p:spPr>
            <a:xfrm>
              <a:off x="3595650" y="0"/>
              <a:ext cx="3338334" cy="4580935"/>
            </a:xfrm>
            <a:prstGeom prst="roundRect">
              <a:avLst>
                <a:gd fmla="val 10000" name="adj"/>
              </a:avLst>
            </a:prstGeom>
            <a:solidFill>
              <a:srgbClr val="30A6D0">
                <a:alpha val="5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0"/>
            <p:cNvSpPr txBox="1"/>
            <p:nvPr/>
          </p:nvSpPr>
          <p:spPr>
            <a:xfrm>
              <a:off x="3595650" y="0"/>
              <a:ext cx="3338334" cy="1374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137150" spcFirstLastPara="1" rIns="137150" wrap="square" tIns="13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s-AR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Técnicas Grupales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0"/>
            <p:cNvSpPr/>
            <p:nvPr/>
          </p:nvSpPr>
          <p:spPr>
            <a:xfrm>
              <a:off x="3926013" y="1375622"/>
              <a:ext cx="2670667" cy="1381214"/>
            </a:xfrm>
            <a:prstGeom prst="roundRect">
              <a:avLst>
                <a:gd fmla="val 10000" name="adj"/>
              </a:avLst>
            </a:prstGeom>
            <a:solidFill>
              <a:srgbClr val="C1F1FE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0"/>
            <p:cNvSpPr txBox="1"/>
            <p:nvPr/>
          </p:nvSpPr>
          <p:spPr>
            <a:xfrm>
              <a:off x="3966467" y="1416076"/>
              <a:ext cx="2589759" cy="1300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375" lIns="43175" spcFirstLastPara="1" rIns="43175" wrap="square" tIns="3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s-AR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Entrevista Grupal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0"/>
            <p:cNvSpPr/>
            <p:nvPr/>
          </p:nvSpPr>
          <p:spPr>
            <a:xfrm>
              <a:off x="3926013" y="2969331"/>
              <a:ext cx="2670667" cy="1381214"/>
            </a:xfrm>
            <a:prstGeom prst="roundRect">
              <a:avLst>
                <a:gd fmla="val 10000" name="adj"/>
              </a:avLst>
            </a:prstGeom>
            <a:solidFill>
              <a:srgbClr val="5ECA9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0"/>
            <p:cNvSpPr txBox="1"/>
            <p:nvPr/>
          </p:nvSpPr>
          <p:spPr>
            <a:xfrm>
              <a:off x="3966467" y="3009785"/>
              <a:ext cx="2589759" cy="1300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375" lIns="43175" spcFirstLastPara="1" rIns="43175" wrap="square" tIns="3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1" i="0" lang="es-AR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Assessment Center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9" name="Google Shape;379;p20"/>
          <p:cNvSpPr/>
          <p:nvPr/>
        </p:nvSpPr>
        <p:spPr>
          <a:xfrm>
            <a:off x="611800" y="2249825"/>
            <a:ext cx="1677600" cy="1470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0"/>
          <p:cNvSpPr/>
          <p:nvPr/>
        </p:nvSpPr>
        <p:spPr>
          <a:xfrm>
            <a:off x="611800" y="4089600"/>
            <a:ext cx="1677600" cy="1470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0"/>
          <p:cNvSpPr txBox="1"/>
          <p:nvPr/>
        </p:nvSpPr>
        <p:spPr>
          <a:xfrm>
            <a:off x="720400" y="2677175"/>
            <a:ext cx="146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rgbClr val="FFFFFF"/>
                </a:solidFill>
              </a:rPr>
              <a:t>Técnicas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rgbClr val="FFFFFF"/>
                </a:solidFill>
              </a:rPr>
              <a:t>Presenciales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82" name="Google Shape;382;p20"/>
          <p:cNvSpPr txBox="1"/>
          <p:nvPr/>
        </p:nvSpPr>
        <p:spPr>
          <a:xfrm>
            <a:off x="720400" y="4516950"/>
            <a:ext cx="146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rgbClr val="FFFFFF"/>
                </a:solidFill>
              </a:rPr>
              <a:t>Técnicas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rgbClr val="FFFFFF"/>
                </a:solidFill>
              </a:rPr>
              <a:t>Virtuales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383" name="Google Shape;383;p20"/>
          <p:cNvCxnSpPr>
            <a:endCxn id="379" idx="2"/>
          </p:cNvCxnSpPr>
          <p:nvPr/>
        </p:nvCxnSpPr>
        <p:spPr>
          <a:xfrm flipH="1" rot="10800000">
            <a:off x="157900" y="2984975"/>
            <a:ext cx="453900" cy="883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20"/>
          <p:cNvCxnSpPr>
            <a:endCxn id="380" idx="2"/>
          </p:cNvCxnSpPr>
          <p:nvPr/>
        </p:nvCxnSpPr>
        <p:spPr>
          <a:xfrm>
            <a:off x="167800" y="3868050"/>
            <a:ext cx="444000" cy="95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2bcf553463_0_0"/>
          <p:cNvSpPr txBox="1"/>
          <p:nvPr/>
        </p:nvSpPr>
        <p:spPr>
          <a:xfrm>
            <a:off x="0" y="0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lang="es-AR" sz="3200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¿Qué es una competencia?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12bcf553463_0_0"/>
          <p:cNvSpPr txBox="1"/>
          <p:nvPr/>
        </p:nvSpPr>
        <p:spPr>
          <a:xfrm>
            <a:off x="1753025" y="4774625"/>
            <a:ext cx="6868800" cy="1262100"/>
          </a:xfrm>
          <a:prstGeom prst="rect">
            <a:avLst/>
          </a:prstGeom>
          <a:solidFill>
            <a:srgbClr val="5ECA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>
                <a:solidFill>
                  <a:srgbClr val="363636"/>
                </a:solidFill>
              </a:rPr>
              <a:t>Las </a:t>
            </a:r>
            <a:r>
              <a:rPr b="1" lang="es-AR">
                <a:solidFill>
                  <a:srgbClr val="363636"/>
                </a:solidFill>
              </a:rPr>
              <a:t>competencias </a:t>
            </a:r>
            <a:r>
              <a:rPr lang="es-AR">
                <a:solidFill>
                  <a:srgbClr val="363636"/>
                </a:solidFill>
              </a:rPr>
              <a:t>son conocimientos, habilidades y actitudes que la organización requiere de sus colaboradores para lograr sus objetivos estratégicos.</a:t>
            </a:r>
            <a:endParaRPr>
              <a:solidFill>
                <a:srgbClr val="363636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>
                <a:solidFill>
                  <a:srgbClr val="363636"/>
                </a:solidFill>
              </a:rPr>
              <a:t>Se traducen en comportamientos que hacen eficaz y eficiente a una persona en el modo en que lleva a cabo una tarea, objetivo o rol.</a:t>
            </a:r>
            <a:endParaRPr>
              <a:solidFill>
                <a:srgbClr val="3636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1" name="Google Shape;391;g12bcf55346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200" y="1797600"/>
            <a:ext cx="6362700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1"/>
          <p:cNvSpPr txBox="1"/>
          <p:nvPr/>
        </p:nvSpPr>
        <p:spPr>
          <a:xfrm>
            <a:off x="0" y="-23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Selección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822960" y="553033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l próximo 28 de junio llega a los cines españoles LOS BECARIOS, una comedia escrita por Vince Vaughn que trata de dos amigos cuarentones a los que echan de su trabajo. Convencidos de que se han equivocado en sus carreras deciden presentarse a becarios en una dotcom (Google) y empezar de nuevo. La locura comienza cuando Vaughn y Wilson compiten para conseguir el puesto con listillos jovenzuelos de 22 años. No os perdáis la entrevista de trabajo con Google de este par de novatos digitales" id="398" name="Google Shape;398;p21" title="Los Becarios - Entrevista de trabajo en Google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3504" y="1340374"/>
            <a:ext cx="6516533" cy="488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2"/>
          <p:cNvSpPr txBox="1"/>
          <p:nvPr/>
        </p:nvSpPr>
        <p:spPr>
          <a:xfrm>
            <a:off x="0" y="-23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</a:t>
            </a:r>
            <a:r>
              <a:rPr b="1" i="0" lang="es-AR" sz="24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Industriales</a:t>
            </a:r>
            <a:r>
              <a:rPr b="1" i="0" lang="es-AR" sz="24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Selección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822960" y="553033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a empresa que hace las cosas diferentes, la experiencia de Heineken." id="405" name="Google Shape;405;p22" title="Fabrica de experiencias - Heineken selección de personal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1104" y="1340374"/>
            <a:ext cx="6516533" cy="488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"/>
          <p:cNvSpPr/>
          <p:nvPr/>
        </p:nvSpPr>
        <p:spPr>
          <a:xfrm>
            <a:off x="595670" y="1286489"/>
            <a:ext cx="5703592" cy="756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Etapas de la Entrevista de Selección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3"/>
          <p:cNvSpPr txBox="1"/>
          <p:nvPr/>
        </p:nvSpPr>
        <p:spPr>
          <a:xfrm>
            <a:off x="0" y="-23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Selección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2" name="Google Shape;412;p23"/>
          <p:cNvGrpSpPr/>
          <p:nvPr/>
        </p:nvGrpSpPr>
        <p:grpSpPr>
          <a:xfrm>
            <a:off x="294023" y="2720020"/>
            <a:ext cx="9317953" cy="3410046"/>
            <a:chOff x="3576" y="42135"/>
            <a:chExt cx="9317953" cy="3410046"/>
          </a:xfrm>
        </p:grpSpPr>
        <p:sp>
          <p:nvSpPr>
            <p:cNvPr id="413" name="Google Shape;413;p23"/>
            <p:cNvSpPr/>
            <p:nvPr/>
          </p:nvSpPr>
          <p:spPr>
            <a:xfrm rot="5400000">
              <a:off x="346398" y="1579006"/>
              <a:ext cx="1032632" cy="1718277"/>
            </a:xfrm>
            <a:prstGeom prst="corner">
              <a:avLst>
                <a:gd fmla="val 16120" name="adj1"/>
                <a:gd fmla="val 16110" name="adj2"/>
              </a:avLst>
            </a:prstGeom>
            <a:gradFill>
              <a:gsLst>
                <a:gs pos="0">
                  <a:srgbClr val="DFE9FB"/>
                </a:gs>
                <a:gs pos="100000">
                  <a:srgbClr val="6E9BE7"/>
                </a:gs>
              </a:gsLst>
              <a:lin ang="5400012" scaled="0"/>
            </a:gradFill>
            <a:ln cap="flat" cmpd="sng" w="9525">
              <a:solidFill>
                <a:srgbClr val="90B3C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3"/>
            <p:cNvSpPr/>
            <p:nvPr/>
          </p:nvSpPr>
          <p:spPr>
            <a:xfrm>
              <a:off x="174026" y="2092401"/>
              <a:ext cx="1551270" cy="13597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3"/>
            <p:cNvSpPr txBox="1"/>
            <p:nvPr/>
          </p:nvSpPr>
          <p:spPr>
            <a:xfrm>
              <a:off x="174026" y="2092401"/>
              <a:ext cx="1551270" cy="13597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es-AR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Preparación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3"/>
            <p:cNvSpPr/>
            <p:nvPr/>
          </p:nvSpPr>
          <p:spPr>
            <a:xfrm>
              <a:off x="1432604" y="1452504"/>
              <a:ext cx="292692" cy="292692"/>
            </a:xfrm>
            <a:prstGeom prst="triangle">
              <a:avLst>
                <a:gd fmla="val 100000" name="adj"/>
              </a:avLst>
            </a:prstGeom>
            <a:solidFill>
              <a:srgbClr val="40BEA6"/>
            </a:solidFill>
            <a:ln cap="flat" cmpd="sng" w="9525">
              <a:solidFill>
                <a:srgbClr val="30A6D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3"/>
            <p:cNvSpPr/>
            <p:nvPr/>
          </p:nvSpPr>
          <p:spPr>
            <a:xfrm rot="5400000">
              <a:off x="2245456" y="1109082"/>
              <a:ext cx="1032632" cy="1718277"/>
            </a:xfrm>
            <a:prstGeom prst="corner">
              <a:avLst>
                <a:gd fmla="val 16120" name="adj1"/>
                <a:gd fmla="val 16110" name="adj2"/>
              </a:avLst>
            </a:prstGeom>
            <a:gradFill>
              <a:gsLst>
                <a:gs pos="0">
                  <a:srgbClr val="DFE9FB"/>
                </a:gs>
                <a:gs pos="100000">
                  <a:srgbClr val="6E9BE7"/>
                </a:gs>
              </a:gsLst>
              <a:lin ang="5400012" scaled="0"/>
            </a:gradFill>
            <a:ln cap="flat" cmpd="sng" w="9525">
              <a:solidFill>
                <a:srgbClr val="90B3C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3"/>
            <p:cNvSpPr/>
            <p:nvPr/>
          </p:nvSpPr>
          <p:spPr>
            <a:xfrm>
              <a:off x="2073084" y="1622477"/>
              <a:ext cx="1551270" cy="13597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3"/>
            <p:cNvSpPr txBox="1"/>
            <p:nvPr/>
          </p:nvSpPr>
          <p:spPr>
            <a:xfrm>
              <a:off x="2073084" y="1622477"/>
              <a:ext cx="1551270" cy="13597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es-AR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Ambiente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3"/>
            <p:cNvSpPr/>
            <p:nvPr/>
          </p:nvSpPr>
          <p:spPr>
            <a:xfrm>
              <a:off x="3331662" y="982580"/>
              <a:ext cx="292692" cy="292692"/>
            </a:xfrm>
            <a:prstGeom prst="triangle">
              <a:avLst>
                <a:gd fmla="val 100000" name="adj"/>
              </a:avLst>
            </a:prstGeom>
            <a:solidFill>
              <a:srgbClr val="40BEA6"/>
            </a:solidFill>
            <a:ln cap="flat" cmpd="sng" w="9525">
              <a:solidFill>
                <a:srgbClr val="30A6D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3"/>
            <p:cNvSpPr/>
            <p:nvPr/>
          </p:nvSpPr>
          <p:spPr>
            <a:xfrm rot="5400000">
              <a:off x="4076212" y="639158"/>
              <a:ext cx="1032632" cy="1718277"/>
            </a:xfrm>
            <a:prstGeom prst="corner">
              <a:avLst>
                <a:gd fmla="val 16120" name="adj1"/>
                <a:gd fmla="val 16110" name="adj2"/>
              </a:avLst>
            </a:prstGeom>
            <a:gradFill>
              <a:gsLst>
                <a:gs pos="0">
                  <a:srgbClr val="DFE9FB"/>
                </a:gs>
                <a:gs pos="100000">
                  <a:srgbClr val="6E9BE7"/>
                </a:gs>
              </a:gsLst>
              <a:lin ang="5400012" scaled="0"/>
            </a:gradFill>
            <a:ln cap="flat" cmpd="sng" w="9525">
              <a:solidFill>
                <a:srgbClr val="90B3C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3"/>
            <p:cNvSpPr/>
            <p:nvPr/>
          </p:nvSpPr>
          <p:spPr>
            <a:xfrm>
              <a:off x="3972142" y="1152553"/>
              <a:ext cx="1551270" cy="13597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3"/>
            <p:cNvSpPr txBox="1"/>
            <p:nvPr/>
          </p:nvSpPr>
          <p:spPr>
            <a:xfrm>
              <a:off x="3972142" y="1152553"/>
              <a:ext cx="1551270" cy="13597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es-AR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Desarrollo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3"/>
            <p:cNvSpPr/>
            <p:nvPr/>
          </p:nvSpPr>
          <p:spPr>
            <a:xfrm>
              <a:off x="5230720" y="512657"/>
              <a:ext cx="292692" cy="292692"/>
            </a:xfrm>
            <a:prstGeom prst="triangle">
              <a:avLst>
                <a:gd fmla="val 100000" name="adj"/>
              </a:avLst>
            </a:prstGeom>
            <a:solidFill>
              <a:srgbClr val="40BEA6"/>
            </a:solidFill>
            <a:ln cap="flat" cmpd="sng" w="9525">
              <a:solidFill>
                <a:srgbClr val="30A6D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3"/>
            <p:cNvSpPr/>
            <p:nvPr/>
          </p:nvSpPr>
          <p:spPr>
            <a:xfrm rot="5400000">
              <a:off x="6043572" y="169234"/>
              <a:ext cx="1032632" cy="1718277"/>
            </a:xfrm>
            <a:prstGeom prst="corner">
              <a:avLst>
                <a:gd fmla="val 16120" name="adj1"/>
                <a:gd fmla="val 16110" name="adj2"/>
              </a:avLst>
            </a:prstGeom>
            <a:gradFill>
              <a:gsLst>
                <a:gs pos="0">
                  <a:srgbClr val="DFE9FB"/>
                </a:gs>
                <a:gs pos="100000">
                  <a:srgbClr val="6E9BE7"/>
                </a:gs>
              </a:gsLst>
              <a:lin ang="5400012" scaled="0"/>
            </a:gradFill>
            <a:ln cap="flat" cmpd="sng" w="9525">
              <a:solidFill>
                <a:srgbClr val="90B3C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3"/>
            <p:cNvSpPr/>
            <p:nvPr/>
          </p:nvSpPr>
          <p:spPr>
            <a:xfrm>
              <a:off x="5871200" y="682629"/>
              <a:ext cx="1551270" cy="13597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3"/>
            <p:cNvSpPr txBox="1"/>
            <p:nvPr/>
          </p:nvSpPr>
          <p:spPr>
            <a:xfrm>
              <a:off x="5871200" y="682629"/>
              <a:ext cx="1551270" cy="13597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es-AR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Cierre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3"/>
            <p:cNvSpPr/>
            <p:nvPr/>
          </p:nvSpPr>
          <p:spPr>
            <a:xfrm>
              <a:off x="7129778" y="42733"/>
              <a:ext cx="292692" cy="292692"/>
            </a:xfrm>
            <a:prstGeom prst="triangle">
              <a:avLst>
                <a:gd fmla="val 100000" name="adj"/>
              </a:avLst>
            </a:prstGeom>
            <a:solidFill>
              <a:srgbClr val="40BEA6"/>
            </a:solidFill>
            <a:ln cap="flat" cmpd="sng" w="9525">
              <a:solidFill>
                <a:srgbClr val="30A6D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3"/>
            <p:cNvSpPr/>
            <p:nvPr/>
          </p:nvSpPr>
          <p:spPr>
            <a:xfrm rot="5400000">
              <a:off x="7942630" y="-300688"/>
              <a:ext cx="1032632" cy="1718277"/>
            </a:xfrm>
            <a:prstGeom prst="corner">
              <a:avLst>
                <a:gd fmla="val 16120" name="adj1"/>
                <a:gd fmla="val 16110" name="adj2"/>
              </a:avLst>
            </a:prstGeom>
            <a:gradFill>
              <a:gsLst>
                <a:gs pos="0">
                  <a:srgbClr val="DFE9FB"/>
                </a:gs>
                <a:gs pos="100000">
                  <a:srgbClr val="6E9BE7"/>
                </a:gs>
              </a:gsLst>
              <a:lin ang="5400012" scaled="0"/>
            </a:gradFill>
            <a:ln cap="flat" cmpd="sng" w="9525">
              <a:solidFill>
                <a:srgbClr val="90B3C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3"/>
            <p:cNvSpPr/>
            <p:nvPr/>
          </p:nvSpPr>
          <p:spPr>
            <a:xfrm>
              <a:off x="7770258" y="212705"/>
              <a:ext cx="1551270" cy="13597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3"/>
            <p:cNvSpPr txBox="1"/>
            <p:nvPr/>
          </p:nvSpPr>
          <p:spPr>
            <a:xfrm>
              <a:off x="7770258" y="212705"/>
              <a:ext cx="1551270" cy="13597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es-AR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2" name="Google Shape;432;p23"/>
          <p:cNvSpPr/>
          <p:nvPr/>
        </p:nvSpPr>
        <p:spPr>
          <a:xfrm>
            <a:off x="6965443" y="3148666"/>
            <a:ext cx="1854464" cy="1625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1174250" y="1726973"/>
            <a:ext cx="7509300" cy="4935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3"/>
          <p:cNvSpPr txBox="1"/>
          <p:nvPr/>
        </p:nvSpPr>
        <p:spPr>
          <a:xfrm>
            <a:off x="1504850" y="1719213"/>
            <a:ext cx="6848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s-AR" sz="1900">
                <a:solidFill>
                  <a:schemeClr val="dk1"/>
                </a:solidFill>
              </a:rPr>
              <a:t>Etapas de la entrevista de Selección</a:t>
            </a:r>
            <a:endParaRPr b="1" sz="1900">
              <a:solidFill>
                <a:schemeClr val="dk1"/>
              </a:solidFill>
            </a:endParaRPr>
          </a:p>
        </p:txBody>
      </p:sp>
      <p:pic>
        <p:nvPicPr>
          <p:cNvPr id="435" name="Google Shape;435;p23"/>
          <p:cNvPicPr preferRelativeResize="0"/>
          <p:nvPr/>
        </p:nvPicPr>
        <p:blipFill rotWithShape="1">
          <a:blip r:embed="rId3">
            <a:alphaModFix/>
          </a:blip>
          <a:srcRect b="16178" l="3882" r="2799" t="18767"/>
          <a:stretch/>
        </p:blipFill>
        <p:spPr>
          <a:xfrm>
            <a:off x="6559225" y="4000775"/>
            <a:ext cx="3057925" cy="213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4"/>
          <p:cNvSpPr txBox="1"/>
          <p:nvPr/>
        </p:nvSpPr>
        <p:spPr>
          <a:xfrm>
            <a:off x="0" y="-23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Selección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1" name="Google Shape;441;p24"/>
          <p:cNvGrpSpPr/>
          <p:nvPr/>
        </p:nvGrpSpPr>
        <p:grpSpPr>
          <a:xfrm>
            <a:off x="134763" y="1188493"/>
            <a:ext cx="9636473" cy="4928825"/>
            <a:chOff x="0" y="516"/>
            <a:chExt cx="9636473" cy="4928825"/>
          </a:xfrm>
        </p:grpSpPr>
        <p:sp>
          <p:nvSpPr>
            <p:cNvPr id="442" name="Google Shape;442;p24"/>
            <p:cNvSpPr/>
            <p:nvPr/>
          </p:nvSpPr>
          <p:spPr>
            <a:xfrm>
              <a:off x="0" y="516"/>
              <a:ext cx="9636473" cy="752997"/>
            </a:xfrm>
            <a:prstGeom prst="roundRect">
              <a:avLst>
                <a:gd fmla="val 16667" name="adj"/>
              </a:avLst>
            </a:prstGeom>
            <a:solidFill>
              <a:srgbClr val="F69A67">
                <a:alpha val="89411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4"/>
            <p:cNvSpPr txBox="1"/>
            <p:nvPr/>
          </p:nvSpPr>
          <p:spPr>
            <a:xfrm>
              <a:off x="36758" y="37274"/>
              <a:ext cx="9562957" cy="679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s-AR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Recomendaciones al Entrevistador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4"/>
            <p:cNvSpPr/>
            <p:nvPr/>
          </p:nvSpPr>
          <p:spPr>
            <a:xfrm>
              <a:off x="0" y="755521"/>
              <a:ext cx="9636473" cy="4173820"/>
            </a:xfrm>
            <a:prstGeom prst="rect">
              <a:avLst/>
            </a:prstGeom>
            <a:solidFill>
              <a:srgbClr val="FFE3A4">
                <a:alpha val="5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4"/>
            <p:cNvSpPr txBox="1"/>
            <p:nvPr/>
          </p:nvSpPr>
          <p:spPr>
            <a:xfrm>
              <a:off x="0" y="755521"/>
              <a:ext cx="9636473" cy="4173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05950" spcFirstLastPara="1" rIns="113775" wrap="square" tIns="252000">
              <a:noAutofit/>
            </a:bodyPr>
            <a:lstStyle/>
            <a:p>
              <a:pPr indent="-171450" lvl="1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1" i="0" lang="es-A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Preparar la entrevista (leer el CV, </a:t>
              </a:r>
              <a:r>
                <a:rPr b="0" i="0" lang="es-AR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reunir la mayor cantidad posible de información acerca del candidato y del cargo), establecer objetivos para la entrevista</a:t>
              </a:r>
              <a:endPara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150000"/>
                </a:lnSpc>
                <a:spcBef>
                  <a:spcPts val="32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1" i="0" lang="es-A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Generar un ambiente armonioso que facilite la relajación del entrevistado para lograr conocerlo en profundidad.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150000"/>
                </a:lnSpc>
                <a:spcBef>
                  <a:spcPts val="32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1" i="0" lang="es-A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Examinar sus prejuicios personales y dejarlos de lado.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150000"/>
                </a:lnSpc>
                <a:spcBef>
                  <a:spcPts val="32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1" i="0" lang="es-A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Evitar la formulación de preguntas “capciosas”.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150000"/>
                </a:lnSpc>
                <a:spcBef>
                  <a:spcPts val="32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1" i="0" lang="es-A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Escuchar atentamente al entrevistado y demostrar interés en él.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150000"/>
                </a:lnSpc>
                <a:spcBef>
                  <a:spcPts val="32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1" i="0" lang="es-A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Evitar omitir opiniones personales.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150000"/>
                </a:lnSpc>
                <a:spcBef>
                  <a:spcPts val="32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1" i="0" lang="es-A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Animar al entrevistado a preguntar acerca de la organización y el cargo.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150000"/>
                </a:lnSpc>
                <a:spcBef>
                  <a:spcPts val="32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Char char="•"/>
              </a:pPr>
              <a:r>
                <a:rPr b="1" i="0" lang="es-A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Evitar la tendencia a clasificar globalmente el candidato (bueno, malo, etc.).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46" name="Google Shape;4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19" y="3487365"/>
            <a:ext cx="2362199" cy="1877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5"/>
          <p:cNvSpPr txBox="1"/>
          <p:nvPr/>
        </p:nvSpPr>
        <p:spPr>
          <a:xfrm>
            <a:off x="0" y="-23"/>
            <a:ext cx="9906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252000">
            <a:noAutofit/>
          </a:bodyPr>
          <a:lstStyle/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500"/>
              <a:buFont typeface="Arial"/>
              <a:buNone/>
            </a:pPr>
            <a:r>
              <a:rPr b="1" i="0" lang="es-AR" sz="2000" u="none" cap="none" strike="noStrike">
                <a:solidFill>
                  <a:srgbClr val="932328"/>
                </a:solidFill>
                <a:latin typeface="Arial"/>
                <a:ea typeface="Arial"/>
                <a:cs typeface="Arial"/>
                <a:sym typeface="Arial"/>
              </a:rPr>
              <a:t>Relaciones Industriales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75" lvl="0" marL="714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2328"/>
              </a:buClr>
              <a:buSzPts val="800"/>
              <a:buFont typeface="Arial Narrow"/>
              <a:buNone/>
            </a:pPr>
            <a:r>
              <a:rPr b="1" i="0" lang="es-AR" sz="3200" u="none" cap="none" strike="noStrike">
                <a:solidFill>
                  <a:srgbClr val="932328"/>
                </a:solidFill>
                <a:latin typeface="Arial Narrow"/>
                <a:ea typeface="Arial Narrow"/>
                <a:cs typeface="Arial Narrow"/>
                <a:sym typeface="Arial Narrow"/>
              </a:rPr>
              <a:t>Selección de 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5"/>
          <p:cNvSpPr/>
          <p:nvPr/>
        </p:nvSpPr>
        <p:spPr>
          <a:xfrm>
            <a:off x="822960" y="553033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25" title="Copia de El consultorio de Berto- Preguntas de entrevista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050" y="1396200"/>
            <a:ext cx="6369067" cy="47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late_2010_Presentaciones_Internal">
  <a:themeElements>
    <a:clrScheme name="Capgemini Palette">
      <a:dk1>
        <a:srgbClr val="000000"/>
      </a:dk1>
      <a:lt1>
        <a:srgbClr val="FFFFFF"/>
      </a:lt1>
      <a:dk2>
        <a:srgbClr val="009BCC"/>
      </a:dk2>
      <a:lt2>
        <a:srgbClr val="FFFFFF"/>
      </a:lt2>
      <a:accent1>
        <a:srgbClr val="FFBC1D"/>
      </a:accent1>
      <a:accent2>
        <a:srgbClr val="E65A0F"/>
      </a:accent2>
      <a:accent3>
        <a:srgbClr val="C8C500"/>
      </a:accent3>
      <a:accent4>
        <a:srgbClr val="C42F36"/>
      </a:accent4>
      <a:accent5>
        <a:srgbClr val="B4DFEE"/>
      </a:accent5>
      <a:accent6>
        <a:srgbClr val="E65A0F"/>
      </a:accent6>
      <a:hlink>
        <a:srgbClr val="4D740F"/>
      </a:hlink>
      <a:folHlink>
        <a:srgbClr val="C42F3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Javier Sosa</dc:creator>
</cp:coreProperties>
</file>