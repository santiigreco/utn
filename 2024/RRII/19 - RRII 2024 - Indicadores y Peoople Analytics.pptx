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embeddedFontLst>
    <p:embeddedFont>
      <p:font typeface="Roboto"/>
      <p:regular r:id="rId35"/>
      <p:bold r:id="rId36"/>
      <p:italic r:id="rId37"/>
      <p:boldItalic r:id="rId38"/>
    </p:embeddedFont>
    <p:embeddedFont>
      <p:font typeface="Arial Narrow"/>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08">
          <p15:clr>
            <a:srgbClr val="000000"/>
          </p15:clr>
        </p15:guide>
        <p15:guide id="2" pos="2880">
          <p15:clr>
            <a:srgbClr val="000000"/>
          </p15:clr>
        </p15:guide>
      </p15:sldGuideLst>
    </p:ext>
    <p:ext uri="GoogleSlidesCustomDataVersion2">
      <go:slidesCustomData xmlns:go="http://customooxmlschemas.google.com/" r:id="rId43" roundtripDataSignature="AMtx7mhtFdtE6lRkggnmWHIJLHhonI8V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08"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Narrow-bold.fntdata"/><Relationship Id="rId20" Type="http://schemas.openxmlformats.org/officeDocument/2006/relationships/slide" Target="slides/slide14.xml"/><Relationship Id="rId42" Type="http://schemas.openxmlformats.org/officeDocument/2006/relationships/font" Target="fonts/ArialNarrow-boldItalic.fntdata"/><Relationship Id="rId41" Type="http://schemas.openxmlformats.org/officeDocument/2006/relationships/font" Target="fonts/ArialNarrow-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39" Type="http://schemas.openxmlformats.org/officeDocument/2006/relationships/font" Target="fonts/ArialNarrow-regular.fntdata"/><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3830607cf0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13830607cf0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Disparadores - Escucharon el término </a:t>
            </a:r>
            <a:r>
              <a:rPr lang="es-AR"/>
              <a:t>Rotación</a:t>
            </a:r>
            <a:r>
              <a:rPr lang="es-AR"/>
              <a:t> de Personal?</a:t>
            </a:r>
            <a:endParaRPr/>
          </a:p>
          <a:p>
            <a:pPr indent="0" lvl="0" marL="0" rtl="0" algn="l">
              <a:lnSpc>
                <a:spcPct val="100000"/>
              </a:lnSpc>
              <a:spcBef>
                <a:spcPts val="0"/>
              </a:spcBef>
              <a:spcAft>
                <a:spcPts val="0"/>
              </a:spcAft>
              <a:buSzPts val="1400"/>
              <a:buNone/>
            </a:pPr>
            <a:r>
              <a:rPr lang="es-AR"/>
              <a:t>Es uno de los principales indicadores que se usan en la gestión de RRHH, ahora, es tradicional que estos  números se correspondan con los outputs de otros procesos. Con que temas que vimos a lo largo del año lo relacionas?</a:t>
            </a:r>
            <a:endParaRPr/>
          </a:p>
        </p:txBody>
      </p:sp>
      <p:sp>
        <p:nvSpPr>
          <p:cNvPr id="161" name="Google Shape;161;g13830607cf0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A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rPr lang="es-AR"/>
              <a:t>Chiavenato Describe los sistemas de información de HR haciendo foco en Bases de datos (</a:t>
            </a:r>
            <a:r>
              <a:rPr b="1" lang="es-AR" sz="1200"/>
              <a:t>Sistema de recolección, almacenamiento y acumulación de datos debidamente codificados y disponibles para procesarlos y obtener información. Ejemplos: Datos personales, datos sobre salarios, datos sobre los candidatos).</a:t>
            </a:r>
            <a:endParaRPr/>
          </a:p>
          <a:p>
            <a:pPr indent="0" lvl="0" marL="0" marR="0" rtl="0" algn="l">
              <a:lnSpc>
                <a:spcPct val="100000"/>
              </a:lnSpc>
              <a:spcBef>
                <a:spcPts val="600"/>
              </a:spcBef>
              <a:spcAft>
                <a:spcPts val="0"/>
              </a:spcAft>
              <a:buClr>
                <a:schemeClr val="dk1"/>
              </a:buClr>
              <a:buSzPts val="1200"/>
              <a:buFont typeface="Calibri"/>
              <a:buNone/>
            </a:pPr>
            <a:r>
              <a:rPr lang="es-AR"/>
              <a:t>Se agregan los sistemas de Gestión como soporte informático para la gestión y automatización de los procesos.</a:t>
            </a:r>
            <a:endParaRPr/>
          </a:p>
          <a:p>
            <a:pPr indent="0" lvl="0" marL="0" marR="0" rtl="0" algn="l">
              <a:lnSpc>
                <a:spcPct val="100000"/>
              </a:lnSpc>
              <a:spcBef>
                <a:spcPts val="0"/>
              </a:spcBef>
              <a:spcAft>
                <a:spcPts val="0"/>
              </a:spcAft>
              <a:buClr>
                <a:srgbClr val="222222"/>
              </a:buClr>
              <a:buSzPts val="1200"/>
              <a:buFont typeface="Verdana"/>
              <a:buNone/>
            </a:pPr>
            <a:r>
              <a:rPr b="0" i="0" lang="es-AR">
                <a:solidFill>
                  <a:srgbClr val="222222"/>
                </a:solidFill>
                <a:latin typeface="Verdana"/>
                <a:ea typeface="Verdana"/>
                <a:cs typeface="Verdana"/>
                <a:sym typeface="Verdana"/>
              </a:rPr>
              <a:t>HRIS a veces se usa indistintamente con el término sistema de gestión de recursos humanos (HRMS, por sus siglas en inglés), pero existe una diferencia clave: un HRMS incluye módulos para monitorear y administrar información cualitativa de los empleados, como por ejemplo la Gestión del Desempeño.</a:t>
            </a:r>
            <a:endParaRPr/>
          </a:p>
          <a:p>
            <a:pPr indent="0" lvl="0" marL="0" rtl="0" algn="l">
              <a:lnSpc>
                <a:spcPct val="100000"/>
              </a:lnSpc>
              <a:spcBef>
                <a:spcPts val="0"/>
              </a:spcBef>
              <a:spcAft>
                <a:spcPts val="0"/>
              </a:spcAft>
              <a:buSzPts val="1400"/>
              <a:buNone/>
            </a:pPr>
            <a:r>
              <a:t/>
            </a:r>
            <a:endParaRPr/>
          </a:p>
        </p:txBody>
      </p:sp>
      <p:sp>
        <p:nvSpPr>
          <p:cNvPr id="171" name="Google Shape;1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s-AR">
                <a:solidFill>
                  <a:srgbClr val="222222"/>
                </a:solidFill>
                <a:latin typeface="Verdana"/>
                <a:ea typeface="Verdana"/>
                <a:cs typeface="Verdana"/>
                <a:sym typeface="Verdana"/>
              </a:rPr>
              <a:t>Capacidades de HRIS</a:t>
            </a:r>
            <a:br>
              <a:rPr b="1" i="0" lang="es-AR">
                <a:solidFill>
                  <a:srgbClr val="222222"/>
                </a:solidFill>
                <a:latin typeface="Verdana"/>
                <a:ea typeface="Verdana"/>
                <a:cs typeface="Verdana"/>
                <a:sym typeface="Verdana"/>
              </a:rPr>
            </a:br>
            <a:r>
              <a:rPr b="0" i="0" lang="es-AR">
                <a:solidFill>
                  <a:srgbClr val="222222"/>
                </a:solidFill>
                <a:latin typeface="Verdana"/>
                <a:ea typeface="Verdana"/>
                <a:cs typeface="Verdana"/>
                <a:sym typeface="Verdana"/>
              </a:rPr>
              <a:t>Si bien cada solución HRIS ofrece capacidades y funciones ligeramente diferentes, la mayorías tienen muchas funcionalidades en común:</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Gestión de la información de los empleados: </a:t>
            </a:r>
            <a:r>
              <a:rPr b="0" i="0" lang="es-AR">
                <a:solidFill>
                  <a:srgbClr val="222222"/>
                </a:solidFill>
                <a:latin typeface="Verdana"/>
                <a:ea typeface="Verdana"/>
                <a:cs typeface="Verdana"/>
                <a:sym typeface="Verdana"/>
              </a:rPr>
              <a:t>Datos como nombres, títulos, direcciones y salarios son lo básico. También se incluyen el historial de salarios y puestos, las estructuras de informes, los historiales de evaluación del desempeño y otra información crítica de los empleados.</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Documentos de la empresa:</a:t>
            </a:r>
            <a:r>
              <a:rPr b="0" i="0" lang="es-AR">
                <a:solidFill>
                  <a:srgbClr val="222222"/>
                </a:solidFill>
                <a:latin typeface="Verdana"/>
                <a:ea typeface="Verdana"/>
                <a:cs typeface="Verdana"/>
                <a:sym typeface="Verdana"/>
              </a:rPr>
              <a:t>Esto incluye elementos como manuales de empleados, procedimientos de evacuación de emergencia y pautas de seguridad, por ejemplo.</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Selección/ATS (sistema de seguimiento de solicitantes):</a:t>
            </a:r>
            <a:r>
              <a:rPr b="0" i="0" lang="es-AR">
                <a:solidFill>
                  <a:srgbClr val="222222"/>
                </a:solidFill>
                <a:latin typeface="Verdana"/>
                <a:ea typeface="Verdana"/>
                <a:cs typeface="Verdana"/>
                <a:sym typeface="Verdana"/>
              </a:rPr>
              <a:t>Esto incluye información sobre los solicitantes, roles disponibles, entrevistas, salarios, descripciones de trabajo y similares. A menudo, el HRIS se integrará con otro software de selección y contratación para que los seleccionadores puedan transferir rápida y fácilmente la información del solicitante.</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Administración de beneficios/inscripción abierta:</a:t>
            </a:r>
            <a:r>
              <a:rPr b="0" i="0" lang="es-AR">
                <a:solidFill>
                  <a:srgbClr val="222222"/>
                </a:solidFill>
                <a:latin typeface="Verdana"/>
                <a:ea typeface="Verdana"/>
                <a:cs typeface="Verdana"/>
                <a:sym typeface="Verdana"/>
              </a:rPr>
              <a:t>Un HRIS a menudo incluirá cambios en el estado de la inscripción y actualizaciones de la información personal para la administración de beneficios. En un sistema ideal, puede permitir que los empleados busquen y revisen su propia información, incluido el seguimiento de vacaciones, los beneficiarios y otros datos similares.</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Gestión de ausencias:</a:t>
            </a:r>
            <a:r>
              <a:rPr b="0" i="0" lang="es-AR">
                <a:solidFill>
                  <a:srgbClr val="222222"/>
                </a:solidFill>
                <a:latin typeface="Verdana"/>
                <a:ea typeface="Verdana"/>
                <a:cs typeface="Verdana"/>
                <a:sym typeface="Verdana"/>
              </a:rPr>
              <a:t>En algunos sistemas, esto se incluye en las capacidades de administración de beneficios; en otros, está separado. El manejo de las ausencias incluye tiempo de vacaciones, tiempo de enfermedad y tiempo personal, así como licencias familiares y médicas y beneficios relacionados con el tiempo libre.</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Gestión de la remuneración/nómina:</a:t>
            </a:r>
            <a:r>
              <a:rPr b="0" i="0" lang="es-AR">
                <a:solidFill>
                  <a:srgbClr val="222222"/>
                </a:solidFill>
                <a:latin typeface="Verdana"/>
                <a:ea typeface="Verdana"/>
                <a:cs typeface="Verdana"/>
                <a:sym typeface="Verdana"/>
              </a:rPr>
              <a:t>Esta es una parte crítica de un HRIS, e incluye el historial salarial, cheques de pago, aumentos, bonificaciones, información tributaria y otras funciones financieras y de compensación. El HRIS se integra con otros softwares financieros y sistemas contables de la compañía.</a:t>
            </a:r>
            <a:endParaRPr/>
          </a:p>
          <a:p>
            <a:pPr indent="-76200" lvl="0" marL="0" rtl="0" algn="l">
              <a:lnSpc>
                <a:spcPct val="100000"/>
              </a:lnSpc>
              <a:spcBef>
                <a:spcPts val="0"/>
              </a:spcBef>
              <a:spcAft>
                <a:spcPts val="0"/>
              </a:spcAft>
              <a:buClr>
                <a:srgbClr val="222222"/>
              </a:buClr>
              <a:buSzPts val="1200"/>
              <a:buFont typeface="Calibri"/>
              <a:buAutoNum type="arabicPeriod"/>
            </a:pPr>
            <a:r>
              <a:rPr b="1" i="0" lang="es-AR">
                <a:solidFill>
                  <a:srgbClr val="222222"/>
                </a:solidFill>
                <a:latin typeface="Verdana"/>
                <a:ea typeface="Verdana"/>
                <a:cs typeface="Verdana"/>
                <a:sym typeface="Verdana"/>
              </a:rPr>
              <a:t>Capacitación y desarrollo/gestión del desempeño:</a:t>
            </a:r>
            <a:r>
              <a:rPr b="0" i="0" lang="es-AR">
                <a:solidFill>
                  <a:srgbClr val="222222"/>
                </a:solidFill>
                <a:latin typeface="Verdana"/>
                <a:ea typeface="Verdana"/>
                <a:cs typeface="Verdana"/>
                <a:sym typeface="Verdana"/>
              </a:rPr>
              <a:t>Esta capacidad permite a las organizaciones registrar de manera centralizada los planes de capacitación, aprendizaje y desarrollo del personal, que pueden seguir a los empleados a medida que avanzan dentro de la organización. Los altos directivos pueden ejecutar informes para ver qué roles están desempeñando las personas y qué significa su desempeño en términos de planificación del éxito, así como identificar talentos de alto potencial. Pero también es útil para determinar el bajo rendimiento; quién ha sido degradado, suspendido, puesto en un plan de mejora personal, etc., incluso cuando esos empleados se van. Cuando otra compañía solicita una referencia para uno de sus antiguos empleados, le es fácil el área de recursos humanos informar sobre la idoneidad de un individuo para ser contratado o recontratado. Esto es especialmente crítico en una empresa donde se requieren certificaciones y licencias.</a:t>
            </a:r>
            <a:endParaRPr/>
          </a:p>
          <a:p>
            <a:pPr indent="0" lvl="0" marL="0" rtl="0" algn="l">
              <a:lnSpc>
                <a:spcPct val="100000"/>
              </a:lnSpc>
              <a:spcBef>
                <a:spcPts val="0"/>
              </a:spcBef>
              <a:spcAft>
                <a:spcPts val="0"/>
              </a:spcAft>
              <a:buSzPts val="1400"/>
              <a:buNone/>
            </a:pPr>
            <a:r>
              <a:t/>
            </a:r>
            <a:endParaRPr/>
          </a:p>
        </p:txBody>
      </p:sp>
      <p:sp>
        <p:nvSpPr>
          <p:cNvPr id="192" name="Google Shape;1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AR" sz="1200">
                <a:solidFill>
                  <a:schemeClr val="dk1"/>
                </a:solidFill>
                <a:latin typeface="Arial"/>
                <a:ea typeface="Arial"/>
                <a:cs typeface="Arial"/>
                <a:sym typeface="Arial"/>
              </a:rPr>
              <a:t>Es una metodología de trabajo que nos permite procesar grandes cantidades de datos disponibles en la organización en pos de responder una pregunta de negocio de manera empírica mediante la utilización de modelos predictivos.</a:t>
            </a:r>
            <a:endParaRPr/>
          </a:p>
          <a:p>
            <a:pPr indent="0" lvl="0" marL="0" rtl="0" algn="l">
              <a:lnSpc>
                <a:spcPct val="150000"/>
              </a:lnSpc>
              <a:spcBef>
                <a:spcPts val="600"/>
              </a:spcBef>
              <a:spcAft>
                <a:spcPts val="0"/>
              </a:spcAft>
              <a:buSzPts val="1400"/>
              <a:buNone/>
            </a:pPr>
            <a:r>
              <a:rPr lang="es-AR">
                <a:solidFill>
                  <a:schemeClr val="dk1"/>
                </a:solidFill>
                <a:latin typeface="Arial"/>
                <a:ea typeface="Arial"/>
                <a:cs typeface="Arial"/>
                <a:sym typeface="Arial"/>
              </a:rPr>
              <a:t>El objetivo es entender el vinculo entre lo que hacemos y los resultados del negocio, el impacto de nuestras decisiones cuando gestionamos gente.</a:t>
            </a:r>
            <a:endParaRPr/>
          </a:p>
          <a:p>
            <a:pPr indent="0" lvl="0" marL="0" rtl="0" algn="l">
              <a:lnSpc>
                <a:spcPct val="150000"/>
              </a:lnSpc>
              <a:spcBef>
                <a:spcPts val="1200"/>
              </a:spcBef>
              <a:spcAft>
                <a:spcPts val="0"/>
              </a:spcAft>
              <a:buSzPts val="1400"/>
              <a:buNone/>
            </a:pPr>
            <a:r>
              <a:t/>
            </a:r>
            <a:endParaRPr>
              <a:solidFill>
                <a:schemeClr val="dk1"/>
              </a:solidFill>
              <a:latin typeface="Arial"/>
              <a:ea typeface="Arial"/>
              <a:cs typeface="Arial"/>
              <a:sym typeface="Arial"/>
            </a:endParaRPr>
          </a:p>
          <a:p>
            <a:pPr indent="0" lvl="0" marL="0" rtl="0" algn="l">
              <a:lnSpc>
                <a:spcPct val="100000"/>
              </a:lnSpc>
              <a:spcBef>
                <a:spcPts val="600"/>
              </a:spcBef>
              <a:spcAft>
                <a:spcPts val="0"/>
              </a:spcAft>
              <a:buSzPts val="1400"/>
              <a:buNone/>
            </a:pPr>
            <a:r>
              <a:t/>
            </a:r>
            <a:endParaRPr b="0"/>
          </a:p>
          <a:p>
            <a:pPr indent="0" lvl="0" marL="0" rtl="0" algn="l">
              <a:lnSpc>
                <a:spcPct val="100000"/>
              </a:lnSpc>
              <a:spcBef>
                <a:spcPts val="0"/>
              </a:spcBef>
              <a:spcAft>
                <a:spcPts val="0"/>
              </a:spcAft>
              <a:buSzPts val="1400"/>
              <a:buNone/>
            </a:pPr>
            <a:r>
              <a:t/>
            </a:r>
            <a:endParaRPr/>
          </a:p>
        </p:txBody>
      </p:sp>
      <p:sp>
        <p:nvSpPr>
          <p:cNvPr id="222" name="Google Shape;2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AR" sz="1200">
                <a:solidFill>
                  <a:schemeClr val="dk1"/>
                </a:solidFill>
                <a:latin typeface="Arial"/>
                <a:ea typeface="Arial"/>
                <a:cs typeface="Arial"/>
                <a:sym typeface="Arial"/>
              </a:rPr>
              <a:t>Es una metodología de trabajo que nos permite procesar grandes cantidades de datos disponibles en la organización en pos de responder una pregunta de negocio de manera empírica mediante la utilización de modelos predictivos.</a:t>
            </a:r>
            <a:endParaRPr/>
          </a:p>
          <a:p>
            <a:pPr indent="0" lvl="0" marL="0" rtl="0" algn="l">
              <a:lnSpc>
                <a:spcPct val="150000"/>
              </a:lnSpc>
              <a:spcBef>
                <a:spcPts val="600"/>
              </a:spcBef>
              <a:spcAft>
                <a:spcPts val="0"/>
              </a:spcAft>
              <a:buSzPts val="1400"/>
              <a:buNone/>
            </a:pPr>
            <a:r>
              <a:rPr lang="es-AR">
                <a:solidFill>
                  <a:schemeClr val="dk1"/>
                </a:solidFill>
                <a:latin typeface="Arial"/>
                <a:ea typeface="Arial"/>
                <a:cs typeface="Arial"/>
                <a:sym typeface="Arial"/>
              </a:rPr>
              <a:t>El objetivo es entender el vinculo entre lo que hacemos y los resultados del negocio, el impacto de nuestras decisiones cuando gestionamos gente.</a:t>
            </a:r>
            <a:endParaRPr/>
          </a:p>
          <a:p>
            <a:pPr indent="0" lvl="0" marL="0" rtl="0" algn="l">
              <a:lnSpc>
                <a:spcPct val="150000"/>
              </a:lnSpc>
              <a:spcBef>
                <a:spcPts val="1200"/>
              </a:spcBef>
              <a:spcAft>
                <a:spcPts val="0"/>
              </a:spcAft>
              <a:buSzPts val="1400"/>
              <a:buNone/>
            </a:pPr>
            <a:r>
              <a:t/>
            </a:r>
            <a:endParaRPr>
              <a:solidFill>
                <a:schemeClr val="dk1"/>
              </a:solidFill>
              <a:latin typeface="Arial"/>
              <a:ea typeface="Arial"/>
              <a:cs typeface="Arial"/>
              <a:sym typeface="Arial"/>
            </a:endParaRPr>
          </a:p>
          <a:p>
            <a:pPr indent="0" lvl="0" marL="0" rtl="0" algn="l">
              <a:lnSpc>
                <a:spcPct val="100000"/>
              </a:lnSpc>
              <a:spcBef>
                <a:spcPts val="600"/>
              </a:spcBef>
              <a:spcAft>
                <a:spcPts val="0"/>
              </a:spcAft>
              <a:buSzPts val="1400"/>
              <a:buNone/>
            </a:pPr>
            <a:r>
              <a:t/>
            </a:r>
            <a:endParaRPr b="0"/>
          </a:p>
          <a:p>
            <a:pPr indent="0" lvl="0" marL="0" rtl="0" algn="l">
              <a:lnSpc>
                <a:spcPct val="100000"/>
              </a:lnSpc>
              <a:spcBef>
                <a:spcPts val="0"/>
              </a:spcBef>
              <a:spcAft>
                <a:spcPts val="0"/>
              </a:spcAft>
              <a:buSzPts val="1400"/>
              <a:buNone/>
            </a:pPr>
            <a:r>
              <a:t/>
            </a:r>
            <a:endParaRPr/>
          </a:p>
        </p:txBody>
      </p:sp>
      <p:sp>
        <p:nvSpPr>
          <p:cNvPr id="239" name="Google Shape;23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¿Por qué PA? RRHH pasa de ser </a:t>
            </a:r>
            <a:r>
              <a:rPr b="1" lang="es-AR"/>
              <a:t>soporte</a:t>
            </a:r>
            <a:r>
              <a:rPr lang="es-AR"/>
              <a:t> (proveedor de servicios) del negocio a </a:t>
            </a:r>
            <a:r>
              <a:rPr b="1" lang="es-AR"/>
              <a:t>contribuidor </a:t>
            </a:r>
            <a:r>
              <a:rPr b="0" lang="es-AR"/>
              <a:t>(se evidencia el impacto de las decisiones relacionadas con la Gestión de Personas en el negocio).</a:t>
            </a:r>
            <a:endParaRPr/>
          </a:p>
          <a:p>
            <a:pPr indent="0" lvl="0" marL="0" rtl="0" algn="l">
              <a:lnSpc>
                <a:spcPct val="100000"/>
              </a:lnSpc>
              <a:spcBef>
                <a:spcPts val="0"/>
              </a:spcBef>
              <a:spcAft>
                <a:spcPts val="0"/>
              </a:spcAft>
              <a:buSzPts val="1400"/>
              <a:buNone/>
            </a:pPr>
            <a:r>
              <a:rPr b="0" lang="es-AR"/>
              <a:t>A través de PA se puede vincular la tecnología, la gestión de personas y los resultados de negocio. Y a partir de poder unir estos tres mundos HR puede orientar su generación de valor entendiendo qué es valor para quien lo recibe y observando al colaborador, a los consumidores y a los inversores. </a:t>
            </a:r>
            <a:endParaRPr/>
          </a:p>
          <a:p>
            <a:pPr indent="0" lvl="0" marL="0" rtl="0" algn="l">
              <a:lnSpc>
                <a:spcPct val="100000"/>
              </a:lnSpc>
              <a:spcBef>
                <a:spcPts val="0"/>
              </a:spcBef>
              <a:spcAft>
                <a:spcPts val="0"/>
              </a:spcAft>
              <a:buSzPts val="1400"/>
              <a:buNone/>
            </a:pPr>
            <a:r>
              <a:rPr b="0" lang="es-AR"/>
              <a:t>Para un mejor aprovechamiento de PA es necesario dejar de lado los conocimientos previos y abandonar los paradigmas para que uno pueda generar y validar las hipotesis con sustento empírico.</a:t>
            </a:r>
            <a:endParaRPr/>
          </a:p>
          <a:p>
            <a:pPr indent="0" lvl="0" marL="0" rtl="0" algn="l">
              <a:lnSpc>
                <a:spcPct val="100000"/>
              </a:lnSpc>
              <a:spcBef>
                <a:spcPts val="0"/>
              </a:spcBef>
              <a:spcAft>
                <a:spcPts val="0"/>
              </a:spcAft>
              <a:buSzPts val="1400"/>
              <a:buNone/>
            </a:pPr>
            <a:r>
              <a:t/>
            </a:r>
            <a:endParaRPr/>
          </a:p>
        </p:txBody>
      </p:sp>
      <p:sp>
        <p:nvSpPr>
          <p:cNvPr id="246" name="Google Shape;2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900" lvl="0" marL="342900" rtl="0" algn="l">
              <a:lnSpc>
                <a:spcPct val="107000"/>
              </a:lnSpc>
              <a:spcBef>
                <a:spcPts val="0"/>
              </a:spcBef>
              <a:spcAft>
                <a:spcPts val="0"/>
              </a:spcAft>
              <a:buClr>
                <a:schemeClr val="dk1"/>
              </a:buClr>
              <a:buSzPts val="1800"/>
              <a:buFont typeface="Calibri"/>
              <a:buAutoNum type="arabicPeriod"/>
            </a:pPr>
            <a:r>
              <a:rPr b="1" lang="es-AR" sz="1800">
                <a:latin typeface="Calibri"/>
                <a:ea typeface="Calibri"/>
                <a:cs typeface="Calibri"/>
                <a:sym typeface="Calibri"/>
              </a:rPr>
              <a:t>Descriptive Analytics: </a:t>
            </a:r>
            <a:r>
              <a:rPr lang="es-AR" sz="1800">
                <a:latin typeface="Calibri"/>
                <a:ea typeface="Calibri"/>
                <a:cs typeface="Calibri"/>
                <a:sym typeface="Calibri"/>
              </a:rPr>
              <a:t>En esta fase se revela la situación actual y se descubre la relación entre patrones históricos de los datos. Enfoque de carácter exploratorio.</a:t>
            </a:r>
            <a:br>
              <a:rPr lang="es-AR" sz="1800">
                <a:latin typeface="Calibri"/>
                <a:ea typeface="Calibri"/>
                <a:cs typeface="Calibri"/>
                <a:sym typeface="Calibri"/>
              </a:rPr>
            </a:br>
            <a:r>
              <a:rPr lang="es-AR" sz="1800">
                <a:latin typeface="Calibri"/>
                <a:ea typeface="Calibri"/>
                <a:cs typeface="Calibri"/>
                <a:sym typeface="Calibri"/>
              </a:rPr>
              <a:t>Abarca: Tableros de comando, reportes periódicos, automatización de la información, análisis de valor agregado, informes de compliance, cortes y comparación de segmentos.</a:t>
            </a:r>
            <a:br>
              <a:rPr lang="es-AR" sz="1800">
                <a:latin typeface="Calibri"/>
                <a:ea typeface="Calibri"/>
                <a:cs typeface="Calibri"/>
                <a:sym typeface="Calibri"/>
              </a:rPr>
            </a:br>
            <a:r>
              <a:rPr lang="es-AR" sz="1800">
                <a:latin typeface="Calibri"/>
                <a:ea typeface="Calibri"/>
                <a:cs typeface="Calibri"/>
                <a:sym typeface="Calibri"/>
              </a:rPr>
              <a:t>Ejemplo, clustering de clientes internos con el objetivo de encontrar diversos perfiles de empleados de la empresa en función de propuestas específicas de beneficios. O clustering de empleados según evaluación de competencias para diseñar respuestas de capacitación específicas.</a:t>
            </a:r>
            <a:endParaRPr/>
          </a:p>
          <a:p>
            <a:pPr indent="-342900" lvl="0" marL="342900" rtl="0" algn="l">
              <a:lnSpc>
                <a:spcPct val="107000"/>
              </a:lnSpc>
              <a:spcBef>
                <a:spcPts val="0"/>
              </a:spcBef>
              <a:spcAft>
                <a:spcPts val="0"/>
              </a:spcAft>
              <a:buClr>
                <a:schemeClr val="dk1"/>
              </a:buClr>
              <a:buSzPts val="1800"/>
              <a:buFont typeface="Calibri"/>
              <a:buAutoNum type="arabicPeriod"/>
            </a:pPr>
            <a:r>
              <a:rPr b="1" lang="es-AR" sz="1800">
                <a:latin typeface="Calibri"/>
                <a:ea typeface="Calibri"/>
                <a:cs typeface="Calibri"/>
                <a:sym typeface="Calibri"/>
              </a:rPr>
              <a:t>Predictive Analytics: </a:t>
            </a:r>
            <a:r>
              <a:rPr lang="es-AR" sz="1800">
                <a:latin typeface="Calibri"/>
                <a:ea typeface="Calibri"/>
                <a:cs typeface="Calibri"/>
                <a:sym typeface="Calibri"/>
              </a:rPr>
              <a:t>Está basada en relaciones entre variables para encontrar respuestas a preguntas como, si X o Y cambian, cuánto puede cambiar Z. Esto permite proveer modelos matemáticos para comprender mejor la situación actual, y de ese modo predecir valores futuros que no son solamente una proyección lineal de una tendencia. </a:t>
            </a:r>
            <a:br>
              <a:rPr lang="es-AR" sz="1800">
                <a:latin typeface="Calibri"/>
                <a:ea typeface="Calibri"/>
                <a:cs typeface="Calibri"/>
                <a:sym typeface="Calibri"/>
              </a:rPr>
            </a:br>
            <a:r>
              <a:rPr lang="es-AR" sz="1800">
                <a:latin typeface="Calibri"/>
                <a:ea typeface="Calibri"/>
                <a:cs typeface="Calibri"/>
                <a:sym typeface="Calibri"/>
              </a:rPr>
              <a:t>El objetivo es poder predecir un valor de un atributo (variable target) en base a los valores de otros atributos (variables independientes o explicatorias). Deben poder explicar los datos analizados y ser generalizables a otros conjuntos de datos. Ya no se trata de “Qué ocurre?” sino “¿Por qué ocurre?”.</a:t>
            </a:r>
            <a:br>
              <a:rPr lang="es-AR" sz="1800">
                <a:latin typeface="Calibri"/>
                <a:ea typeface="Calibri"/>
                <a:cs typeface="Calibri"/>
                <a:sym typeface="Calibri"/>
              </a:rPr>
            </a:br>
            <a:r>
              <a:rPr lang="es-AR" sz="1800">
                <a:latin typeface="Calibri"/>
                <a:ea typeface="Calibri"/>
                <a:cs typeface="Calibri"/>
                <a:sym typeface="Calibri"/>
              </a:rPr>
              <a:t>Se asocian fuentes heterogéneas de datos vinculando datos múltiples. Se integran los datos de reclutamiento, selección, desempeño, compensaciones, liderazgo, etc. También se incluyen aspectos financieros en el análisis para mostrar el impacto de HR en el negocio.</a:t>
            </a:r>
            <a:br>
              <a:rPr lang="es-AR" sz="1800">
                <a:latin typeface="Calibri"/>
                <a:ea typeface="Calibri"/>
                <a:cs typeface="Calibri"/>
                <a:sym typeface="Calibri"/>
              </a:rPr>
            </a:br>
            <a:r>
              <a:rPr lang="es-AR" sz="1800">
                <a:latin typeface="Calibri"/>
                <a:ea typeface="Calibri"/>
                <a:cs typeface="Calibri"/>
                <a:sym typeface="Calibri"/>
              </a:rPr>
              <a:t>Ejemplos: Si cambia X (feedback y reconocimiento) cuánto cambia Y (motivación y compromiso). Modelos predictivos del talento, predecir quién va a renunciar, quién tendrá alto desempeño, etc.</a:t>
            </a:r>
            <a:endParaRPr sz="1800">
              <a:latin typeface="Calibri"/>
              <a:ea typeface="Calibri"/>
              <a:cs typeface="Calibri"/>
              <a:sym typeface="Calibri"/>
            </a:endParaRPr>
          </a:p>
          <a:p>
            <a:pPr indent="-342900" lvl="0" marL="342900" rtl="0" algn="l">
              <a:lnSpc>
                <a:spcPct val="107000"/>
              </a:lnSpc>
              <a:spcBef>
                <a:spcPts val="0"/>
              </a:spcBef>
              <a:spcAft>
                <a:spcPts val="0"/>
              </a:spcAft>
              <a:buClr>
                <a:schemeClr val="dk1"/>
              </a:buClr>
              <a:buSzPts val="1800"/>
              <a:buFont typeface="Calibri"/>
              <a:buAutoNum type="arabicPeriod"/>
            </a:pPr>
            <a:r>
              <a:rPr b="1" lang="es-AR" sz="1800">
                <a:latin typeface="Calibri"/>
                <a:ea typeface="Calibri"/>
                <a:cs typeface="Calibri"/>
                <a:sym typeface="Calibri"/>
              </a:rPr>
              <a:t>Prescriptive Analytics: </a:t>
            </a:r>
            <a:r>
              <a:rPr lang="es-AR" sz="1800">
                <a:latin typeface="Calibri"/>
                <a:ea typeface="Calibri"/>
                <a:cs typeface="Calibri"/>
                <a:sym typeface="Calibri"/>
              </a:rPr>
              <a:t>La etapa prescriptiva procura ordenar la toma de decisiones constribuyendo a la generación de variantes que permitan determinar qué inversiones tendrán mayor nivel de retorno (del ROI al ROIP). Por ejemplo: ¿Qué modelo organizacional será el mejor para la post normalidad?, ¿cúales serán las mejores técnicas para los procesos de upskilling y reskilling?</a:t>
            </a:r>
            <a:endParaRPr sz="1800">
              <a:latin typeface="Calibri"/>
              <a:ea typeface="Calibri"/>
              <a:cs typeface="Calibri"/>
              <a:sym typeface="Calibri"/>
            </a:endParaRPr>
          </a:p>
          <a:p>
            <a:pPr indent="0" lvl="0" marL="0" marR="0" rtl="0" algn="l">
              <a:lnSpc>
                <a:spcPct val="100000"/>
              </a:lnSpc>
              <a:spcBef>
                <a:spcPts val="800"/>
              </a:spcBef>
              <a:spcAft>
                <a:spcPts val="0"/>
              </a:spcAft>
              <a:buClr>
                <a:schemeClr val="dk1"/>
              </a:buClr>
              <a:buSzPts val="1800"/>
              <a:buFont typeface="Calibri"/>
              <a:buNone/>
            </a:pPr>
            <a:r>
              <a:t/>
            </a:r>
            <a:endParaRPr sz="18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69" name="Google Shape;2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94" name="Google Shape;2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400"/>
              <a:buFont typeface="Roboto"/>
              <a:buNone/>
            </a:pPr>
            <a:r>
              <a:rPr b="0" i="0" lang="es-AR" sz="2400">
                <a:solidFill>
                  <a:srgbClr val="222222"/>
                </a:solidFill>
                <a:latin typeface="Roboto"/>
                <a:ea typeface="Roboto"/>
                <a:cs typeface="Roboto"/>
                <a:sym typeface="Roboto"/>
              </a:rPr>
              <a:t>KPIs: </a:t>
            </a:r>
            <a:r>
              <a:rPr lang="es-AR" sz="2400">
                <a:latin typeface="Arial"/>
                <a:ea typeface="Arial"/>
                <a:cs typeface="Arial"/>
                <a:sym typeface="Arial"/>
              </a:rPr>
              <a:t>Permiten establecer el grado de cumplimiento de los objetivos de los diversos procesos. </a:t>
            </a:r>
            <a:r>
              <a:rPr b="0" lang="es-AR" sz="2400">
                <a:latin typeface="Arial"/>
                <a:ea typeface="Arial"/>
                <a:cs typeface="Arial"/>
                <a:sym typeface="Arial"/>
              </a:rPr>
              <a:t>Son medidas cuantificables que sirven para evaluar cómo se comporta y se gestiona el talento en una empresa. </a:t>
            </a:r>
            <a:r>
              <a:rPr lang="es-AR" sz="2400">
                <a:solidFill>
                  <a:schemeClr val="dk1"/>
                </a:solidFill>
                <a:latin typeface="Arial"/>
                <a:ea typeface="Arial"/>
                <a:cs typeface="Arial"/>
                <a:sym typeface="Arial"/>
              </a:rPr>
              <a:t>Tendencia a adoptar KPIs de otras compañías.</a:t>
            </a:r>
            <a:endParaRPr b="0" i="0" sz="2400">
              <a:solidFill>
                <a:srgbClr val="222222"/>
              </a:solidFill>
              <a:latin typeface="Roboto"/>
              <a:ea typeface="Roboto"/>
              <a:cs typeface="Roboto"/>
              <a:sym typeface="Roboto"/>
            </a:endParaRPr>
          </a:p>
          <a:p>
            <a:pPr indent="0" lvl="0" marL="0" marR="0" rtl="0" algn="l">
              <a:lnSpc>
                <a:spcPct val="100000"/>
              </a:lnSpc>
              <a:spcBef>
                <a:spcPts val="0"/>
              </a:spcBef>
              <a:spcAft>
                <a:spcPts val="0"/>
              </a:spcAft>
              <a:buClr>
                <a:srgbClr val="222222"/>
              </a:buClr>
              <a:buSzPts val="2400"/>
              <a:buFont typeface="Roboto"/>
              <a:buNone/>
            </a:pPr>
            <a:r>
              <a:rPr b="0" i="0" lang="es-AR" sz="2400">
                <a:solidFill>
                  <a:srgbClr val="222222"/>
                </a:solidFill>
                <a:latin typeface="Roboto"/>
                <a:ea typeface="Roboto"/>
                <a:cs typeface="Roboto"/>
                <a:sym typeface="Roboto"/>
              </a:rPr>
              <a:t>Insight (definition) = Ability to perceive clearly or deeply. A penetrating and often sudden understanding, as of a complex situation or problem.</a:t>
            </a:r>
            <a:endParaRPr/>
          </a:p>
          <a:p>
            <a:pPr indent="0" lvl="0" marL="0" marR="0" rtl="0" algn="l">
              <a:lnSpc>
                <a:spcPct val="100000"/>
              </a:lnSpc>
              <a:spcBef>
                <a:spcPts val="0"/>
              </a:spcBef>
              <a:spcAft>
                <a:spcPts val="0"/>
              </a:spcAft>
              <a:buClr>
                <a:schemeClr val="dk1"/>
              </a:buClr>
              <a:buSzPts val="1600"/>
              <a:buFont typeface="Arial"/>
              <a:buNone/>
            </a:pPr>
            <a:r>
              <a:rPr lang="es-AR" sz="1600">
                <a:solidFill>
                  <a:schemeClr val="dk1"/>
                </a:solidFill>
                <a:latin typeface="Arial"/>
                <a:ea typeface="Arial"/>
                <a:cs typeface="Arial"/>
                <a:sym typeface="Arial"/>
              </a:rPr>
              <a:t>Los insights son el valor </a:t>
            </a:r>
            <a:r>
              <a:rPr lang="es-AR" sz="1600">
                <a:latin typeface="Arial"/>
                <a:ea typeface="Arial"/>
                <a:cs typeface="Arial"/>
                <a:sym typeface="Arial"/>
              </a:rPr>
              <a:t>                                                                                                                   </a:t>
            </a:r>
            <a:endParaRPr/>
          </a:p>
        </p:txBody>
      </p:sp>
      <p:sp>
        <p:nvSpPr>
          <p:cNvPr id="313" name="Google Shape;31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sz="1100">
                <a:latin typeface="Arial"/>
                <a:ea typeface="Arial"/>
                <a:cs typeface="Arial"/>
                <a:sym typeface="Arial"/>
              </a:rPr>
              <a:t>Complementar con ejemplos de: </a:t>
            </a:r>
            <a:r>
              <a:rPr b="1" i="0" lang="es-AR" sz="1100" u="none" strike="noStrike">
                <a:solidFill>
                  <a:srgbClr val="FFFFFF"/>
                </a:solidFill>
                <a:latin typeface="Arial"/>
                <a:ea typeface="Arial"/>
                <a:cs typeface="Arial"/>
                <a:sym typeface="Arial"/>
              </a:rPr>
              <a:t>51 HR Metrics Cheat Sheet</a:t>
            </a:r>
            <a:endParaRPr b="1" i="0" sz="1100" u="none" strike="noStrike">
              <a:solidFill>
                <a:srgbClr val="FFFFFF"/>
              </a:solidFill>
              <a:latin typeface="Arial"/>
              <a:ea typeface="Arial"/>
              <a:cs typeface="Arial"/>
              <a:sym typeface="Arial"/>
            </a:endParaRPr>
          </a:p>
          <a:p>
            <a:pPr indent="0" lvl="0" marL="0" rtl="0" algn="l">
              <a:lnSpc>
                <a:spcPct val="100000"/>
              </a:lnSpc>
              <a:spcBef>
                <a:spcPts val="0"/>
              </a:spcBef>
              <a:spcAft>
                <a:spcPts val="0"/>
              </a:spcAft>
              <a:buSzPts val="1400"/>
              <a:buNone/>
            </a:pPr>
            <a:r>
              <a:rPr b="1" i="0" lang="es-AR" sz="1100" u="none" strike="noStrike">
                <a:solidFill>
                  <a:srgbClr val="FFFFFF"/>
                </a:solidFill>
                <a:latin typeface="Arial"/>
                <a:ea typeface="Arial"/>
                <a:cs typeface="Arial"/>
                <a:sym typeface="Arial"/>
              </a:rPr>
              <a:t>https://www.iso.org/news/ref2357.html</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7000"/>
              </a:lnSpc>
              <a:spcBef>
                <a:spcPts val="0"/>
              </a:spcBef>
              <a:spcAft>
                <a:spcPts val="0"/>
              </a:spcAft>
              <a:buSzPts val="1400"/>
              <a:buNone/>
            </a:pPr>
            <a:r>
              <a:rPr lang="es-AR" sz="1100">
                <a:latin typeface="Arial"/>
                <a:ea typeface="Arial"/>
                <a:cs typeface="Arial"/>
                <a:sym typeface="Arial"/>
              </a:rPr>
              <a:t>Ejemplos de KPIs de Recursos Humanos:</a:t>
            </a:r>
            <a:endParaRPr sz="1100">
              <a:latin typeface="Arial"/>
              <a:ea typeface="Arial"/>
              <a:cs typeface="Arial"/>
              <a:sym typeface="Arial"/>
            </a:endParaRPr>
          </a:p>
          <a:p>
            <a:pPr indent="0" lvl="0" marL="0" rtl="0" algn="l">
              <a:lnSpc>
                <a:spcPct val="107000"/>
              </a:lnSpc>
              <a:spcBef>
                <a:spcPts val="800"/>
              </a:spcBef>
              <a:spcAft>
                <a:spcPts val="0"/>
              </a:spcAft>
              <a:buSzPts val="1400"/>
              <a:buNone/>
            </a:pPr>
            <a:r>
              <a:rPr lang="es-AR" sz="1100">
                <a:latin typeface="Arial"/>
                <a:ea typeface="Arial"/>
                <a:cs typeface="Arial"/>
                <a:sym typeface="Arial"/>
              </a:rPr>
              <a:t>Reclutamiento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Número de candidatos por fuentes o anuncios.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Costos de reclutamiento por fuentes.</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Selección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Tiempo medio de duración en procesos de selección.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Porcentaje de ingresantes que permanecen en su puesto el primer año.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Coste del proceso (Hs. valorizadas del personal encargado de la selección, costo de las publicaciones, etc.).</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Coste de contratación.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Gasto en selección externa.</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Tiempo de permanencia en el puesto.</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Capacitación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Número de empleados capacitados por clases de entrenamiento.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Grados y resultados de entrenamiento.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Costos de entrenamiento por curso o por empleado.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Horas de capacitación por empleado.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Nº de encuestas de satisfacción positivas.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Nº de certificaciones por empleado.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Porcentaje de empleados capacitados para ocupar más de un área.</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Desarrollo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Número de quejas efectuadas con relación a los resultados de la evaluación de desempeño.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Horas hombre destinadas a realizar todas las actividades que requieren las evaluaciones de desempeño (del evaluador y del evaluado).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Promociones: Índice de permanencia en el nuevo puesto.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Grado de satisfacción del personal en su nuevo puesto.</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Compensaciones y Beneficios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Porcentaje de salarios fuera de mercado.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Porcentaje de salarios que no cumplen criterios de Equidad interna.</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Nº de incorporaciones, capacidad de atracción.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Importe de los programas de reconocimiento.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Importe retribución fija sobre la retribución total.</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Importe retribución variable sobre la retribución total.</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Seguridad e Higiene</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Indicador de accidentabilidad laboral: Número de días perdidos / total de trabajadores.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Número de visitas al servicio médico.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Enfermedades, por clase. Días perdidos.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Intensidad y clases de accidentes.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Índice de frecuencia de accidentes: Nro de accidentes / Total de horas trabajadas.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Costos.</a:t>
            </a:r>
            <a:endParaRPr sz="1100">
              <a:latin typeface="Arial"/>
              <a:ea typeface="Arial"/>
              <a:cs typeface="Arial"/>
              <a:sym typeface="Arial"/>
            </a:endParaRPr>
          </a:p>
          <a:p>
            <a:pPr indent="0" lvl="0" marL="0" rtl="0" algn="l">
              <a:lnSpc>
                <a:spcPct val="107000"/>
              </a:lnSpc>
              <a:spcBef>
                <a:spcPts val="200"/>
              </a:spcBef>
              <a:spcAft>
                <a:spcPts val="0"/>
              </a:spcAft>
              <a:buSzPts val="1400"/>
              <a:buNone/>
            </a:pPr>
            <a:r>
              <a:rPr lang="es-AR" sz="1100">
                <a:latin typeface="Arial"/>
                <a:ea typeface="Arial"/>
                <a:cs typeface="Arial"/>
                <a:sym typeface="Arial"/>
              </a:rPr>
              <a:t>Control de Personal</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Total de empleados.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Total de horas de trabajo.</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Cantidad de sanciones verbales efectuadas.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Registros y costos de Rotación.</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Cantidad de demandas legales.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Índice de satisfacción de empleados.</a:t>
            </a:r>
            <a:endParaRPr sz="1100">
              <a:latin typeface="Arial"/>
              <a:ea typeface="Arial"/>
              <a:cs typeface="Arial"/>
              <a:sym typeface="Arial"/>
            </a:endParaRPr>
          </a:p>
          <a:p>
            <a:pPr indent="-298450" lvl="0" marL="342900" rtl="0" algn="l">
              <a:lnSpc>
                <a:spcPct val="107000"/>
              </a:lnSpc>
              <a:spcBef>
                <a:spcPts val="200"/>
              </a:spcBef>
              <a:spcAft>
                <a:spcPts val="0"/>
              </a:spcAft>
              <a:buClr>
                <a:schemeClr val="dk1"/>
              </a:buClr>
              <a:buSzPts val="1100"/>
              <a:buChar char="•"/>
            </a:pPr>
            <a:r>
              <a:rPr lang="es-AR" sz="1100">
                <a:latin typeface="Arial"/>
                <a:ea typeface="Arial"/>
                <a:cs typeface="Arial"/>
                <a:sym typeface="Arial"/>
              </a:rPr>
              <a:t>Ausentismo (Porcentaje de tiempo no trabajado con relación al volumen de actividad esperada o planeada).</a:t>
            </a:r>
            <a:endParaRPr sz="11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323" name="Google Shape;3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i="0" lang="es-AR" sz="1100">
                <a:latin typeface="Arial"/>
                <a:ea typeface="Arial"/>
                <a:cs typeface="Arial"/>
                <a:sym typeface="Arial"/>
              </a:rPr>
              <a:t>OKR, que significa "Objectives and Key Results" en inglés, es un marco de gestión de objetivos utilizado para establecer metas y medir el progreso hacia esas metas en una organización. Fue popularizado por Andy Grove, co-fundador de Intel, y ha sido ampliamente adoptado por empresas como Google, Spotify y muchas otras. Explicar OKR implica comprender sus componentes y cómo se utiliza para impulsar el rendimiento y la alineación en una organización. Aquí tienes una explicación detallada:</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Objetivos (Objectives): Los objetivos son declaraciones claras y concisas que describen lo que una organización o equipo quiere lograr. Deben ser inspiradores, desafiantes y orientados hacia el logro de una visión a largo plazo. Los objetivos deben responder a la pregunta: "¿Qué queremos lograr?".</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Ejemplo de objetivo: "Aumentar la satisfacción del cliente en un 20% durante el próximo trimestre".</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Resultados Clave (Key Results): Los resultados clave son métricas específicas y cuantificables que se utilizan para medir el progreso hacia la consecución de un objetivo. Deben ser realistas y alcanzables. Los resultados clave responden a la pregunta: "¿Cómo sabremos si hemos alcanzado nuestro objetivo?".</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Ejemplo de resultados clave:</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"Reducir el tiempo de respuesta promedio del servicio al cliente a menos de 24 horas".</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"Aumentar el NPS (Net Promoter Score) en al menos 10 puntos".</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"Incrementar la tasa de retención de clientes en un 15%".</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Proceso de Establecimiento y Seguimiento: El proceso de OKR implica definir objetivos y resultados clave de manera colaborativa en toda la organización. Estos se establecen en un período de tiempo determinado, generalmente trimestral o anual. Luego, se realiza un seguimiento regular del progreso y se ajustan los OKR según sea necesario.</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Las reuniones de revisión de OKR son una parte fundamental para mantener a todos en la misma página y adaptar los objetivos según evoluciona la situación.</a:t>
            </a:r>
            <a:endParaRPr sz="1100">
              <a:latin typeface="Arial"/>
              <a:ea typeface="Arial"/>
              <a:cs typeface="Arial"/>
              <a:sym typeface="Arial"/>
            </a:endParaRPr>
          </a:p>
          <a:p>
            <a:pPr indent="-228600" lvl="0" marL="457200" rtl="0" algn="l">
              <a:lnSpc>
                <a:spcPct val="100000"/>
              </a:lnSpc>
              <a:spcBef>
                <a:spcPts val="0"/>
              </a:spcBef>
              <a:spcAft>
                <a:spcPts val="0"/>
              </a:spcAft>
              <a:buSzPts val="1400"/>
              <a:buNone/>
            </a:pPr>
            <a:r>
              <a:rPr i="0" lang="es-AR" sz="1100">
                <a:latin typeface="Arial"/>
                <a:ea typeface="Arial"/>
                <a:cs typeface="Arial"/>
                <a:sym typeface="Arial"/>
              </a:rPr>
              <a:t>Ventajas de utilizar OKR:</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Enfoque en resultados</a:t>
            </a:r>
            <a:r>
              <a:rPr i="0" lang="es-AR" sz="1100">
                <a:latin typeface="Arial"/>
                <a:ea typeface="Arial"/>
                <a:cs typeface="Arial"/>
                <a:sym typeface="Arial"/>
              </a:rPr>
              <a:t>: Los OKR se centran en lo que realmente importa, los resultados medibles.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Alineación</a:t>
            </a:r>
            <a:r>
              <a:rPr i="0" lang="es-AR" sz="1100">
                <a:latin typeface="Arial"/>
                <a:ea typeface="Arial"/>
                <a:cs typeface="Arial"/>
                <a:sym typeface="Arial"/>
              </a:rPr>
              <a:t>: Ayudan a alinear los esfuerzos de todos los miembros del equipo con los objetivos organizacionales.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Transparencia</a:t>
            </a:r>
            <a:r>
              <a:rPr i="0" lang="es-AR" sz="1100">
                <a:latin typeface="Arial"/>
                <a:ea typeface="Arial"/>
                <a:cs typeface="Arial"/>
                <a:sym typeface="Arial"/>
              </a:rPr>
              <a:t>: Hacen que los objetivos y el progreso sean visibles para todos, lo que promueve la rendición de cuentas.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Agilidad</a:t>
            </a:r>
            <a:r>
              <a:rPr i="0" lang="es-AR" sz="1100">
                <a:latin typeface="Arial"/>
                <a:ea typeface="Arial"/>
                <a:cs typeface="Arial"/>
                <a:sym typeface="Arial"/>
              </a:rPr>
              <a:t>: Se pueden ajustar rápidamente a medida que cambian las circunstancias o las prioridades.</a:t>
            </a:r>
            <a:endParaRPr sz="1100">
              <a:latin typeface="Arial"/>
              <a:ea typeface="Arial"/>
              <a:cs typeface="Arial"/>
              <a:sym typeface="Arial"/>
            </a:endParaRPr>
          </a:p>
          <a:p>
            <a:pPr indent="-228600" lvl="0" marL="457200" rtl="0" algn="l">
              <a:lnSpc>
                <a:spcPct val="100000"/>
              </a:lnSpc>
              <a:spcBef>
                <a:spcPts val="0"/>
              </a:spcBef>
              <a:spcAft>
                <a:spcPts val="0"/>
              </a:spcAft>
              <a:buSzPts val="1400"/>
              <a:buNone/>
            </a:pPr>
            <a:r>
              <a:rPr i="0" lang="es-AR" sz="1100">
                <a:latin typeface="Arial"/>
                <a:ea typeface="Arial"/>
                <a:cs typeface="Arial"/>
                <a:sym typeface="Arial"/>
              </a:rPr>
              <a:t>En resumen, OKR es un marco de gestión de objetivos que ayuda a las organizaciones a definir y medir sus objetivos de manera efectiva, promoviendo la alineación y el enfoque en resultados clave.</a:t>
            </a:r>
            <a:endParaRPr sz="1100">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t/>
            </a:r>
            <a:endParaRPr sz="1100">
              <a:latin typeface="Arial"/>
              <a:ea typeface="Arial"/>
              <a:cs typeface="Arial"/>
              <a:sym typeface="Arial"/>
            </a:endParaRPr>
          </a:p>
        </p:txBody>
      </p:sp>
      <p:sp>
        <p:nvSpPr>
          <p:cNvPr id="371" name="Google Shape;37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d3308f7812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2d3308f781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i="0" lang="es-AR" sz="1100">
                <a:latin typeface="Arial"/>
                <a:ea typeface="Arial"/>
                <a:cs typeface="Arial"/>
                <a:sym typeface="Arial"/>
              </a:rPr>
              <a:t>OKR, que significa "Objectives and Key Results" en inglés, es un marco de gestión de objetivos utilizado para establecer metas y medir el progreso hacia esas metas en una organización. Fue popularizado por Andy Grove, co-fundador de Intel, y ha sido ampliamente adoptado por empresas como Google, Spotify y muchas otras. Explicar OKR implica comprender sus componentes y cómo se utiliza para impulsar el rendimiento y la alineación en una organización. Aquí tienes una explicación detallada:</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Objetivos (Objectives): Los objetivos son declaraciones claras y concisas que describen lo que una organización o equipo quiere lograr. Deben ser inspiradores, desafiantes y orientados hacia el logro de una visión a largo plazo. Los objetivos deben responder a la pregunta: "¿Qué queremos lograr?".</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Ejemplo de objetivo: "Aumentar la satisfacción del cliente en un 20% durante el próximo trimestre".</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Resultados Clave (Key Results): Los resultados clave son métricas específicas y cuantificables que se utilizan para medir el progreso hacia la consecución de un objetivo. Deben ser realistas y alcanzables. Los resultados clave responden a la pregunta: "¿Cómo sabremos si hemos alcanzado nuestro objetivo?".</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Ejemplo de resultados clave:</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"Reducir el tiempo de respuesta promedio del servicio al cliente a menos de 24 horas".</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"Aumentar el NPS (Net Promoter Score) en al menos 10 puntos".</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"Incrementar la tasa de retención de clientes en un 15%".</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Proceso de Establecimiento y Seguimiento: El proceso de OKR implica definir objetivos y resultados clave de manera colaborativa en toda la organización. Estos se establecen en un período de tiempo determinado, generalmente trimestral o anual. Luego, se realiza un seguimiento regular del progreso y se ajustan los OKR según sea necesario.</a:t>
            </a:r>
            <a:endParaRPr sz="1100">
              <a:latin typeface="Arial"/>
              <a:ea typeface="Arial"/>
              <a:cs typeface="Arial"/>
              <a:sym typeface="Arial"/>
            </a:endParaRPr>
          </a:p>
          <a:p>
            <a:pPr indent="-279400" lvl="1" marL="742950" rtl="0" algn="l">
              <a:lnSpc>
                <a:spcPct val="100000"/>
              </a:lnSpc>
              <a:spcBef>
                <a:spcPts val="0"/>
              </a:spcBef>
              <a:spcAft>
                <a:spcPts val="0"/>
              </a:spcAft>
              <a:buClr>
                <a:schemeClr val="dk1"/>
              </a:buClr>
              <a:buSzPts val="1300"/>
              <a:buAutoNum type="arabicPeriod"/>
            </a:pPr>
            <a:r>
              <a:rPr i="0" lang="es-AR" sz="1100">
                <a:latin typeface="Arial"/>
                <a:ea typeface="Arial"/>
                <a:cs typeface="Arial"/>
                <a:sym typeface="Arial"/>
              </a:rPr>
              <a:t>Las reuniones de revisión de OKR son una parte fundamental para mantener a todos en la misma página y adaptar los objetivos según evoluciona la situación.</a:t>
            </a:r>
            <a:endParaRPr sz="1100">
              <a:latin typeface="Arial"/>
              <a:ea typeface="Arial"/>
              <a:cs typeface="Arial"/>
              <a:sym typeface="Arial"/>
            </a:endParaRPr>
          </a:p>
          <a:p>
            <a:pPr indent="-228600" lvl="0" marL="457200" rtl="0" algn="l">
              <a:lnSpc>
                <a:spcPct val="100000"/>
              </a:lnSpc>
              <a:spcBef>
                <a:spcPts val="0"/>
              </a:spcBef>
              <a:spcAft>
                <a:spcPts val="0"/>
              </a:spcAft>
              <a:buSzPts val="1400"/>
              <a:buNone/>
            </a:pPr>
            <a:r>
              <a:rPr i="0" lang="es-AR" sz="1100">
                <a:latin typeface="Arial"/>
                <a:ea typeface="Arial"/>
                <a:cs typeface="Arial"/>
                <a:sym typeface="Arial"/>
              </a:rPr>
              <a:t>Ventajas de utilizar OKR:</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Enfoque en resultados</a:t>
            </a:r>
            <a:r>
              <a:rPr i="0" lang="es-AR" sz="1100">
                <a:latin typeface="Arial"/>
                <a:ea typeface="Arial"/>
                <a:cs typeface="Arial"/>
                <a:sym typeface="Arial"/>
              </a:rPr>
              <a:t>: Los OKR se centran en lo que realmente importa, los resultados medibles.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Alineación</a:t>
            </a:r>
            <a:r>
              <a:rPr i="0" lang="es-AR" sz="1100">
                <a:latin typeface="Arial"/>
                <a:ea typeface="Arial"/>
                <a:cs typeface="Arial"/>
                <a:sym typeface="Arial"/>
              </a:rPr>
              <a:t>: Ayudan a alinear los esfuerzos de todos los miembros del equipo con los objetivos organizacionales.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Transparencia</a:t>
            </a:r>
            <a:r>
              <a:rPr i="0" lang="es-AR" sz="1100">
                <a:latin typeface="Arial"/>
                <a:ea typeface="Arial"/>
                <a:cs typeface="Arial"/>
                <a:sym typeface="Arial"/>
              </a:rPr>
              <a:t>: Hacen que los objetivos y el progreso sean visibles para todos, lo que promueve la rendición de cuentas.</a:t>
            </a:r>
            <a:endParaRPr sz="1100">
              <a:latin typeface="Arial"/>
              <a:ea typeface="Arial"/>
              <a:cs typeface="Arial"/>
              <a:sym typeface="Arial"/>
            </a:endParaRPr>
          </a:p>
          <a:p>
            <a:pPr indent="-222250" lvl="0" marL="457200" rtl="0" algn="l">
              <a:lnSpc>
                <a:spcPct val="100000"/>
              </a:lnSpc>
              <a:spcBef>
                <a:spcPts val="0"/>
              </a:spcBef>
              <a:spcAft>
                <a:spcPts val="0"/>
              </a:spcAft>
              <a:buClr>
                <a:schemeClr val="dk1"/>
              </a:buClr>
              <a:buSzPts val="1300"/>
              <a:buFont typeface="Arial"/>
              <a:buChar char="•"/>
            </a:pPr>
            <a:r>
              <a:rPr b="1" i="0" lang="es-AR" sz="1100">
                <a:latin typeface="Arial"/>
                <a:ea typeface="Arial"/>
                <a:cs typeface="Arial"/>
                <a:sym typeface="Arial"/>
              </a:rPr>
              <a:t>Agilidad</a:t>
            </a:r>
            <a:r>
              <a:rPr i="0" lang="es-AR" sz="1100">
                <a:latin typeface="Arial"/>
                <a:ea typeface="Arial"/>
                <a:cs typeface="Arial"/>
                <a:sym typeface="Arial"/>
              </a:rPr>
              <a:t>: Se pueden ajustar rápidamente a medida que cambian las circunstancias o las prioridades.</a:t>
            </a:r>
            <a:endParaRPr sz="1100">
              <a:latin typeface="Arial"/>
              <a:ea typeface="Arial"/>
              <a:cs typeface="Arial"/>
              <a:sym typeface="Arial"/>
            </a:endParaRPr>
          </a:p>
          <a:p>
            <a:pPr indent="-228600" lvl="0" marL="457200" rtl="0" algn="l">
              <a:lnSpc>
                <a:spcPct val="100000"/>
              </a:lnSpc>
              <a:spcBef>
                <a:spcPts val="0"/>
              </a:spcBef>
              <a:spcAft>
                <a:spcPts val="0"/>
              </a:spcAft>
              <a:buSzPts val="1400"/>
              <a:buNone/>
            </a:pPr>
            <a:r>
              <a:rPr i="0" lang="es-AR" sz="1100">
                <a:latin typeface="Arial"/>
                <a:ea typeface="Arial"/>
                <a:cs typeface="Arial"/>
                <a:sym typeface="Arial"/>
              </a:rPr>
              <a:t>En resumen, OKR es un marco de gestión de objetivos que ayuda a las organizaciones a definir y medir sus objetivos de manera efectiva, promoviendo la alineación y el enfoque en resultados clave.</a:t>
            </a:r>
            <a:endParaRPr sz="1100">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t/>
            </a:r>
            <a:endParaRPr sz="1100">
              <a:latin typeface="Arial"/>
              <a:ea typeface="Arial"/>
              <a:cs typeface="Arial"/>
              <a:sym typeface="Arial"/>
            </a:endParaRPr>
          </a:p>
        </p:txBody>
      </p:sp>
      <p:sp>
        <p:nvSpPr>
          <p:cNvPr id="378" name="Google Shape;378;g2d3308f781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t/>
            </a:r>
            <a:endParaRPr>
              <a:solidFill>
                <a:schemeClr val="dk1"/>
              </a:solidFill>
              <a:latin typeface="Arial"/>
              <a:ea typeface="Arial"/>
              <a:cs typeface="Arial"/>
              <a:sym typeface="Arial"/>
            </a:endParaRPr>
          </a:p>
          <a:p>
            <a:pPr indent="0" lvl="0" marL="0" rtl="0" algn="l">
              <a:lnSpc>
                <a:spcPct val="100000"/>
              </a:lnSpc>
              <a:spcBef>
                <a:spcPts val="600"/>
              </a:spcBef>
              <a:spcAft>
                <a:spcPts val="0"/>
              </a:spcAft>
              <a:buSzPts val="1400"/>
              <a:buNone/>
            </a:pPr>
            <a:r>
              <a:rPr b="0" lang="es-AR"/>
              <a:t>En toda organización saludable existe de manera normal un pequeño volumen de entradas y salidas de recursos humanos, lo que ocasiona una rotación</a:t>
            </a:r>
            <a:endParaRPr/>
          </a:p>
          <a:p>
            <a:pPr indent="0" lvl="0" marL="0" rtl="0" algn="l">
              <a:lnSpc>
                <a:spcPct val="100000"/>
              </a:lnSpc>
              <a:spcBef>
                <a:spcPts val="0"/>
              </a:spcBef>
              <a:spcAft>
                <a:spcPts val="0"/>
              </a:spcAft>
              <a:buSzPts val="1400"/>
              <a:buNone/>
            </a:pPr>
            <a:r>
              <a:rPr b="0" lang="es-AR"/>
              <a:t>meramente vegetativa y de simple mantenimiento del sistema. El índice de rotación ideal será aquel que le permita a la organización retener a su personal de buen rendimiento y po</a:t>
            </a:r>
            <a:endParaRPr b="0"/>
          </a:p>
          <a:p>
            <a:pPr indent="0" lvl="0" marL="0" rtl="0" algn="l">
              <a:lnSpc>
                <a:spcPct val="100000"/>
              </a:lnSpc>
              <a:spcBef>
                <a:spcPts val="0"/>
              </a:spcBef>
              <a:spcAft>
                <a:spcPts val="0"/>
              </a:spcAft>
              <a:buSzPts val="1400"/>
              <a:buNone/>
            </a:pPr>
            <a:r>
              <a:rPr b="0" lang="es-AR"/>
              <a:t>tencial y sustituir a las personas que presenten alteraciones de desempeño difíciles de corregir. Así, cada organización tendrá su rotación ideal que le permitirá la potenciación máxima de la calidad de sus recursos sin afectar la cantidad de los disponibles. En estricto sentido, no existe un número que defina el índice ideal de rotación, sino una situación específica para cada organización en función de sus problemas y de la situación externa del mercado. </a:t>
            </a:r>
            <a:r>
              <a:rPr b="0" i="0" lang="es-AR" sz="1200" u="none" cap="none" strike="noStrike">
                <a:solidFill>
                  <a:schemeClr val="dk1"/>
                </a:solidFill>
                <a:latin typeface="Arial"/>
                <a:ea typeface="Arial"/>
                <a:cs typeface="Arial"/>
                <a:sym typeface="Arial"/>
              </a:rPr>
              <a:t>Lo importante es la estabilidad del sistema.</a:t>
            </a:r>
            <a:endParaRPr b="0"/>
          </a:p>
          <a:p>
            <a:pPr indent="0" lvl="0" marL="0" rtl="0" algn="l">
              <a:lnSpc>
                <a:spcPct val="100000"/>
              </a:lnSpc>
              <a:spcBef>
                <a:spcPts val="0"/>
              </a:spcBef>
              <a:spcAft>
                <a:spcPts val="0"/>
              </a:spcAft>
              <a:buSzPts val="1400"/>
              <a:buNone/>
            </a:pPr>
            <a:r>
              <a:rPr b="0" lang="es-AR"/>
              <a:t>La rotación de personal puede estar orientada hacia la inflación del sistema con nuevos recursos (entradas mayores que las salidas) para incentivar las operaciones y ampliar los resultados o hacia el vaciamiento del sistema (salidas mayores que las entradas) para disminuir las operaciones y reducir así los resultados. </a:t>
            </a:r>
            <a:endParaRPr/>
          </a:p>
          <a:p>
            <a:pPr indent="0" lvl="0" marL="0" rtl="0" algn="l">
              <a:lnSpc>
                <a:spcPct val="100000"/>
              </a:lnSpc>
              <a:spcBef>
                <a:spcPts val="0"/>
              </a:spcBef>
              <a:spcAft>
                <a:spcPts val="0"/>
              </a:spcAft>
              <a:buSzPts val="1400"/>
              <a:buNone/>
            </a:pPr>
            <a:r>
              <a:rPr b="0" lang="es-AR"/>
              <a:t>Algunas veces, la rotación puede salirse del control de la organización, cuando las separaciones por iniciativa de los empleados aumentan de volumen. En un mercado de trabajo competitivo y en régimen de oferta intensa suele presentarse un aumento de rotación de personal. </a:t>
            </a:r>
            <a:endParaRPr/>
          </a:p>
          <a:p>
            <a:pPr indent="0" lvl="0" marL="0" rtl="0" algn="l">
              <a:lnSpc>
                <a:spcPct val="100000"/>
              </a:lnSpc>
              <a:spcBef>
                <a:spcPts val="0"/>
              </a:spcBef>
              <a:spcAft>
                <a:spcPts val="0"/>
              </a:spcAft>
              <a:buSzPts val="1400"/>
              <a:buNone/>
            </a:pPr>
            <a:r>
              <a:rPr b="0" lang="es-AR"/>
              <a:t>La rotación de personal no es una causa, sino un efecto, la consecuencia de ciertos fenómenos internos o externos a la organización condicionan la actitud y el comportamiento del personal. La rotación es por lo tanto una variable dependiente (en mayor o menor grado) de esos fenómenos internos y/o externos a la organización. Las causas pueden indagarse en la entrevista de salida.</a:t>
            </a:r>
            <a:endParaRPr/>
          </a:p>
          <a:p>
            <a:pPr indent="0" lvl="0" marL="0" rtl="0" algn="l">
              <a:lnSpc>
                <a:spcPct val="100000"/>
              </a:lnSpc>
              <a:spcBef>
                <a:spcPts val="0"/>
              </a:spcBef>
              <a:spcAft>
                <a:spcPts val="0"/>
              </a:spcAft>
              <a:buSzPts val="1400"/>
              <a:buNone/>
            </a:pPr>
            <a:r>
              <a:rPr b="0" lang="es-AR"/>
              <a:t>Entre los </a:t>
            </a:r>
            <a:r>
              <a:rPr b="1" lang="es-AR"/>
              <a:t>fenómenos externos</a:t>
            </a:r>
            <a:r>
              <a:rPr b="0" lang="es-AR"/>
              <a:t> se pueden citar:</a:t>
            </a:r>
            <a:endParaRPr/>
          </a:p>
          <a:p>
            <a:pPr indent="0" lvl="0" marL="0" rtl="0" algn="l">
              <a:lnSpc>
                <a:spcPct val="100000"/>
              </a:lnSpc>
              <a:spcBef>
                <a:spcPts val="0"/>
              </a:spcBef>
              <a:spcAft>
                <a:spcPts val="0"/>
              </a:spcAft>
              <a:buSzPts val="1400"/>
              <a:buNone/>
            </a:pPr>
            <a:r>
              <a:rPr b="0" lang="es-AR"/>
              <a:t>• Situación de la oferta y de la demanda de recursos humanos en el mercado.</a:t>
            </a:r>
            <a:endParaRPr/>
          </a:p>
          <a:p>
            <a:pPr indent="0" lvl="0" marL="0" rtl="0" algn="l">
              <a:lnSpc>
                <a:spcPct val="100000"/>
              </a:lnSpc>
              <a:spcBef>
                <a:spcPts val="0"/>
              </a:spcBef>
              <a:spcAft>
                <a:spcPts val="0"/>
              </a:spcAft>
              <a:buSzPts val="1400"/>
              <a:buNone/>
            </a:pPr>
            <a:r>
              <a:rPr b="0" lang="es-AR"/>
              <a:t>• Coyuntura económica.</a:t>
            </a:r>
            <a:endParaRPr/>
          </a:p>
          <a:p>
            <a:pPr indent="0" lvl="0" marL="0" rtl="0" algn="l">
              <a:lnSpc>
                <a:spcPct val="100000"/>
              </a:lnSpc>
              <a:spcBef>
                <a:spcPts val="0"/>
              </a:spcBef>
              <a:spcAft>
                <a:spcPts val="0"/>
              </a:spcAft>
              <a:buSzPts val="1400"/>
              <a:buNone/>
            </a:pPr>
            <a:r>
              <a:rPr b="0" lang="es-AR"/>
              <a:t>• Oportunidades de empleo en el mercado de trabajo, etcétera.</a:t>
            </a:r>
            <a:endParaRPr/>
          </a:p>
          <a:p>
            <a:pPr indent="0" lvl="0" marL="0" rtl="0" algn="l">
              <a:lnSpc>
                <a:spcPct val="100000"/>
              </a:lnSpc>
              <a:spcBef>
                <a:spcPts val="0"/>
              </a:spcBef>
              <a:spcAft>
                <a:spcPts val="0"/>
              </a:spcAft>
              <a:buSzPts val="1400"/>
              <a:buNone/>
            </a:pPr>
            <a:r>
              <a:rPr b="0" lang="es-AR"/>
              <a:t>Entre los </a:t>
            </a:r>
            <a:r>
              <a:rPr b="1" lang="es-AR"/>
              <a:t>fenómenos internos</a:t>
            </a:r>
            <a:r>
              <a:rPr b="0" lang="es-AR"/>
              <a:t> que se presentan en la organización, se pueden citar:</a:t>
            </a:r>
            <a:endParaRPr/>
          </a:p>
          <a:p>
            <a:pPr indent="0" lvl="0" marL="0" rtl="0" algn="l">
              <a:lnSpc>
                <a:spcPct val="100000"/>
              </a:lnSpc>
              <a:spcBef>
                <a:spcPts val="0"/>
              </a:spcBef>
              <a:spcAft>
                <a:spcPts val="0"/>
              </a:spcAft>
              <a:buSzPts val="1400"/>
              <a:buNone/>
            </a:pPr>
            <a:r>
              <a:rPr b="0" lang="es-AR"/>
              <a:t>• Política salarial de la organización.</a:t>
            </a:r>
            <a:endParaRPr/>
          </a:p>
          <a:p>
            <a:pPr indent="0" lvl="0" marL="0" rtl="0" algn="l">
              <a:lnSpc>
                <a:spcPct val="100000"/>
              </a:lnSpc>
              <a:spcBef>
                <a:spcPts val="0"/>
              </a:spcBef>
              <a:spcAft>
                <a:spcPts val="0"/>
              </a:spcAft>
              <a:buSzPts val="1400"/>
              <a:buNone/>
            </a:pPr>
            <a:r>
              <a:rPr b="0" lang="es-AR"/>
              <a:t>• Política de prestaciones de la organización.</a:t>
            </a:r>
            <a:endParaRPr/>
          </a:p>
          <a:p>
            <a:pPr indent="0" lvl="0" marL="0" rtl="0" algn="l">
              <a:lnSpc>
                <a:spcPct val="100000"/>
              </a:lnSpc>
              <a:spcBef>
                <a:spcPts val="0"/>
              </a:spcBef>
              <a:spcAft>
                <a:spcPts val="0"/>
              </a:spcAft>
              <a:buSzPts val="1400"/>
              <a:buNone/>
            </a:pPr>
            <a:r>
              <a:rPr b="0" lang="es-AR"/>
              <a:t>• Tipo de supervisión que se ejerce sobre el personal.</a:t>
            </a:r>
            <a:endParaRPr/>
          </a:p>
          <a:p>
            <a:pPr indent="0" lvl="0" marL="0" rtl="0" algn="l">
              <a:lnSpc>
                <a:spcPct val="100000"/>
              </a:lnSpc>
              <a:spcBef>
                <a:spcPts val="0"/>
              </a:spcBef>
              <a:spcAft>
                <a:spcPts val="0"/>
              </a:spcAft>
              <a:buSzPts val="1400"/>
              <a:buNone/>
            </a:pPr>
            <a:r>
              <a:rPr b="0" lang="es-AR"/>
              <a:t>• Oportunidades de crecimiento profesional.</a:t>
            </a:r>
            <a:endParaRPr/>
          </a:p>
          <a:p>
            <a:pPr indent="0" lvl="0" marL="0" rtl="0" algn="l">
              <a:lnSpc>
                <a:spcPct val="100000"/>
              </a:lnSpc>
              <a:spcBef>
                <a:spcPts val="0"/>
              </a:spcBef>
              <a:spcAft>
                <a:spcPts val="0"/>
              </a:spcAft>
              <a:buSzPts val="1400"/>
              <a:buNone/>
            </a:pPr>
            <a:r>
              <a:rPr b="0" lang="es-AR"/>
              <a:t>• Tipo de relaciones humanas dentro de la organización.</a:t>
            </a:r>
            <a:endParaRPr/>
          </a:p>
          <a:p>
            <a:pPr indent="0" lvl="0" marL="0" rtl="0" algn="l">
              <a:lnSpc>
                <a:spcPct val="100000"/>
              </a:lnSpc>
              <a:spcBef>
                <a:spcPts val="0"/>
              </a:spcBef>
              <a:spcAft>
                <a:spcPts val="0"/>
              </a:spcAft>
              <a:buSzPts val="1400"/>
              <a:buNone/>
            </a:pPr>
            <a:r>
              <a:rPr b="0" lang="es-AR"/>
              <a:t>• Condiciones físicas ambientales de trabajo en la organización.</a:t>
            </a:r>
            <a:endParaRPr/>
          </a:p>
          <a:p>
            <a:pPr indent="0" lvl="0" marL="0" rtl="0" algn="l">
              <a:lnSpc>
                <a:spcPct val="100000"/>
              </a:lnSpc>
              <a:spcBef>
                <a:spcPts val="0"/>
              </a:spcBef>
              <a:spcAft>
                <a:spcPts val="0"/>
              </a:spcAft>
              <a:buSzPts val="1400"/>
              <a:buNone/>
            </a:pPr>
            <a:r>
              <a:rPr b="0" lang="es-AR"/>
              <a:t>• Moral del personal de la organización.</a:t>
            </a:r>
            <a:endParaRPr/>
          </a:p>
          <a:p>
            <a:pPr indent="0" lvl="0" marL="0" rtl="0" algn="l">
              <a:lnSpc>
                <a:spcPct val="100000"/>
              </a:lnSpc>
              <a:spcBef>
                <a:spcPts val="0"/>
              </a:spcBef>
              <a:spcAft>
                <a:spcPts val="0"/>
              </a:spcAft>
              <a:buSzPts val="1400"/>
              <a:buNone/>
            </a:pPr>
            <a:r>
              <a:rPr b="0" lang="es-AR"/>
              <a:t>• Cultura organizacional.</a:t>
            </a:r>
            <a:endParaRPr/>
          </a:p>
          <a:p>
            <a:pPr indent="0" lvl="0" marL="0" rtl="0" algn="l">
              <a:lnSpc>
                <a:spcPct val="100000"/>
              </a:lnSpc>
              <a:spcBef>
                <a:spcPts val="0"/>
              </a:spcBef>
              <a:spcAft>
                <a:spcPts val="0"/>
              </a:spcAft>
              <a:buSzPts val="1400"/>
              <a:buNone/>
            </a:pPr>
            <a:r>
              <a:rPr b="0" lang="es-AR"/>
              <a:t>• Política de reclutamiento y selección de recursos humanos.</a:t>
            </a:r>
            <a:endParaRPr/>
          </a:p>
          <a:p>
            <a:pPr indent="0" lvl="0" marL="0" rtl="0" algn="l">
              <a:lnSpc>
                <a:spcPct val="100000"/>
              </a:lnSpc>
              <a:spcBef>
                <a:spcPts val="0"/>
              </a:spcBef>
              <a:spcAft>
                <a:spcPts val="0"/>
              </a:spcAft>
              <a:buSzPts val="1400"/>
              <a:buNone/>
            </a:pPr>
            <a:r>
              <a:rPr b="0" lang="es-AR"/>
              <a:t>• Criterios y programas de capacitación de recursos humanos.</a:t>
            </a:r>
            <a:endParaRPr/>
          </a:p>
          <a:p>
            <a:pPr indent="0" lvl="0" marL="0" rtl="0" algn="l">
              <a:lnSpc>
                <a:spcPct val="100000"/>
              </a:lnSpc>
              <a:spcBef>
                <a:spcPts val="0"/>
              </a:spcBef>
              <a:spcAft>
                <a:spcPts val="0"/>
              </a:spcAft>
              <a:buSzPts val="1400"/>
              <a:buNone/>
            </a:pPr>
            <a:r>
              <a:rPr b="0" lang="es-AR"/>
              <a:t>• Política disciplinaria de la organización.</a:t>
            </a:r>
            <a:endParaRPr/>
          </a:p>
          <a:p>
            <a:pPr indent="0" lvl="0" marL="0" rtl="0" algn="l">
              <a:lnSpc>
                <a:spcPct val="100000"/>
              </a:lnSpc>
              <a:spcBef>
                <a:spcPts val="0"/>
              </a:spcBef>
              <a:spcAft>
                <a:spcPts val="0"/>
              </a:spcAft>
              <a:buSzPts val="1400"/>
              <a:buNone/>
            </a:pPr>
            <a:r>
              <a:rPr b="0" lang="es-AR"/>
              <a:t>• Criterios de evaluación del desempeño.</a:t>
            </a:r>
            <a:endParaRPr/>
          </a:p>
          <a:p>
            <a:pPr indent="0" lvl="0" marL="0" rtl="0" algn="l">
              <a:lnSpc>
                <a:spcPct val="100000"/>
              </a:lnSpc>
              <a:spcBef>
                <a:spcPts val="0"/>
              </a:spcBef>
              <a:spcAft>
                <a:spcPts val="0"/>
              </a:spcAft>
              <a:buSzPts val="1400"/>
              <a:buNone/>
            </a:pPr>
            <a:r>
              <a:rPr b="0" lang="es-AR"/>
              <a:t>• Grado de flexibilidad de las políticas de la organización.</a:t>
            </a:r>
            <a:endParaRPr/>
          </a:p>
          <a:p>
            <a:pPr indent="0" lvl="0" marL="0" rtl="0" algn="l">
              <a:lnSpc>
                <a:spcPct val="100000"/>
              </a:lnSpc>
              <a:spcBef>
                <a:spcPts val="0"/>
              </a:spcBef>
              <a:spcAft>
                <a:spcPts val="0"/>
              </a:spcAft>
              <a:buSzPts val="1400"/>
              <a:buNone/>
            </a:pPr>
            <a:r>
              <a:t/>
            </a:r>
            <a:endParaRPr/>
          </a:p>
        </p:txBody>
      </p:sp>
      <p:sp>
        <p:nvSpPr>
          <p:cNvPr id="409" name="Google Shape;4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s-AR" sz="1200" u="none" cap="none" strike="noStrike">
                <a:solidFill>
                  <a:schemeClr val="dk1"/>
                </a:solidFill>
                <a:latin typeface="Arial"/>
                <a:ea typeface="Arial"/>
                <a:cs typeface="Arial"/>
                <a:sym typeface="Arial"/>
              </a:rPr>
              <a:t>Rotación de recursos humanos: Se expresa mediante la relación porcentual entre las admisiones y los retiros. Y el promedio de trabajadores que pertenecen a la organización en cierto periodo. </a:t>
            </a:r>
            <a:endParaRPr/>
          </a:p>
          <a:p>
            <a:pPr indent="0" lvl="0" marL="0" marR="0" rtl="0" algn="l">
              <a:lnSpc>
                <a:spcPct val="100000"/>
              </a:lnSpc>
              <a:spcBef>
                <a:spcPts val="0"/>
              </a:spcBef>
              <a:spcAft>
                <a:spcPts val="0"/>
              </a:spcAft>
              <a:buClr>
                <a:schemeClr val="dk1"/>
              </a:buClr>
              <a:buSzPts val="1200"/>
              <a:buFont typeface="Calibri"/>
              <a:buNone/>
            </a:pPr>
            <a:r>
              <a:rPr lang="es-AR">
                <a:solidFill>
                  <a:schemeClr val="dk1"/>
                </a:solidFill>
              </a:rPr>
              <a:t>Al analizar las pérdidas de personas no se consideran los ingresos (entradas), sino solamente las separaciones, ya sean por iniciativa de la organización o de los empleados. </a:t>
            </a:r>
            <a:endParaRPr/>
          </a:p>
          <a:p>
            <a:pPr indent="0" lvl="0" marL="0" marR="0" rtl="0" algn="l">
              <a:lnSpc>
                <a:spcPct val="100000"/>
              </a:lnSpc>
              <a:spcBef>
                <a:spcPts val="0"/>
              </a:spcBef>
              <a:spcAft>
                <a:spcPts val="0"/>
              </a:spcAft>
              <a:buClr>
                <a:schemeClr val="dk1"/>
              </a:buClr>
              <a:buSzPts val="1200"/>
              <a:buFont typeface="Calibri"/>
              <a:buNone/>
            </a:pPr>
            <a:r>
              <a:rPr lang="es-AR">
                <a:solidFill>
                  <a:schemeClr val="dk1"/>
                </a:solidFill>
              </a:rPr>
              <a:t>Al analizar las pérdidas de personal para verificar los motivos que llevan a las personas a abandonar la organización, sólo se consideran las separaciones por iniciativa de los empleados, despreciándose las separaciones provocadas por la organización.</a:t>
            </a:r>
            <a:endParaRPr b="1">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chemeClr val="dk1"/>
              </a:solidFil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Rotacion mensual es foto del pasado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Rotacion proyectada prevision a futuro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estacionadlidad</a:t>
            </a:r>
            <a:endParaRPr/>
          </a:p>
          <a:p>
            <a:pPr indent="0" lvl="0" marL="0" rtl="0" algn="l">
              <a:lnSpc>
                <a:spcPct val="100000"/>
              </a:lnSpc>
              <a:spcBef>
                <a:spcPts val="0"/>
              </a:spcBef>
              <a:spcAft>
                <a:spcPts val="0"/>
              </a:spcAft>
              <a:buSzPts val="1400"/>
              <a:buNone/>
            </a:pPr>
            <a:r>
              <a:rPr lang="es-AR"/>
              <a:t>planes de crecimiento</a:t>
            </a:r>
            <a:endParaRPr/>
          </a:p>
          <a:p>
            <a:pPr indent="0" lvl="0" marL="0" rtl="0" algn="l">
              <a:lnSpc>
                <a:spcPct val="100000"/>
              </a:lnSpc>
              <a:spcBef>
                <a:spcPts val="0"/>
              </a:spcBef>
              <a:spcAft>
                <a:spcPts val="0"/>
              </a:spcAft>
              <a:buSzPts val="1400"/>
              <a:buNone/>
            </a:pPr>
            <a:r>
              <a:rPr lang="es-AR"/>
              <a:t>planes de decrecimiento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diferencia de porque salidas involuntaria dispara los numeros, es porque el denominador cambia, es decir la base de calculo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¿Como uso la rotacion en el negocio?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429" name="Google Shape;4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d313c43bd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2d313c43bd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s-AR" sz="1200" u="none" cap="none" strike="noStrike">
                <a:solidFill>
                  <a:schemeClr val="dk1"/>
                </a:solidFill>
                <a:latin typeface="Arial"/>
                <a:ea typeface="Arial"/>
                <a:cs typeface="Arial"/>
                <a:sym typeface="Arial"/>
              </a:rPr>
              <a:t>Rotación de recursos humanos: Se expresa mediante la relación porcentual entre las admisiones y los retiros. Y el promedio de trabajadores que pertenecen a la organización en cierto periodo. </a:t>
            </a:r>
            <a:endParaRPr/>
          </a:p>
          <a:p>
            <a:pPr indent="0" lvl="0" marL="0" marR="0" rtl="0" algn="l">
              <a:lnSpc>
                <a:spcPct val="100000"/>
              </a:lnSpc>
              <a:spcBef>
                <a:spcPts val="0"/>
              </a:spcBef>
              <a:spcAft>
                <a:spcPts val="0"/>
              </a:spcAft>
              <a:buClr>
                <a:schemeClr val="dk1"/>
              </a:buClr>
              <a:buSzPts val="1200"/>
              <a:buFont typeface="Calibri"/>
              <a:buNone/>
            </a:pPr>
            <a:r>
              <a:rPr lang="es-AR">
                <a:solidFill>
                  <a:schemeClr val="dk1"/>
                </a:solidFill>
              </a:rPr>
              <a:t>Al analizar las pérdidas de personas no se consideran los ingresos (entradas), sino solamente las separaciones, ya sean por iniciativa de la organización o de los empleados. </a:t>
            </a:r>
            <a:endParaRPr/>
          </a:p>
          <a:p>
            <a:pPr indent="0" lvl="0" marL="0" marR="0" rtl="0" algn="l">
              <a:lnSpc>
                <a:spcPct val="100000"/>
              </a:lnSpc>
              <a:spcBef>
                <a:spcPts val="0"/>
              </a:spcBef>
              <a:spcAft>
                <a:spcPts val="0"/>
              </a:spcAft>
              <a:buClr>
                <a:schemeClr val="dk1"/>
              </a:buClr>
              <a:buSzPts val="1200"/>
              <a:buFont typeface="Calibri"/>
              <a:buNone/>
            </a:pPr>
            <a:r>
              <a:rPr lang="es-AR">
                <a:solidFill>
                  <a:schemeClr val="dk1"/>
                </a:solidFill>
              </a:rPr>
              <a:t>Al analizar las pérdidas de personal para verificar los motivos que llevan a las personas a abandonar la organización, sólo se consideran las separaciones por iniciativa de los empleados, despreciándose las separaciones provocadas por la organización.</a:t>
            </a:r>
            <a:endParaRPr b="1">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chemeClr val="dk1"/>
              </a:solidFil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Rotacion mensual es foto del pasado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Rotacion proyectada prevision a futuro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estacionadlidad</a:t>
            </a:r>
            <a:endParaRPr/>
          </a:p>
          <a:p>
            <a:pPr indent="0" lvl="0" marL="0" rtl="0" algn="l">
              <a:lnSpc>
                <a:spcPct val="100000"/>
              </a:lnSpc>
              <a:spcBef>
                <a:spcPts val="0"/>
              </a:spcBef>
              <a:spcAft>
                <a:spcPts val="0"/>
              </a:spcAft>
              <a:buSzPts val="1400"/>
              <a:buNone/>
            </a:pPr>
            <a:r>
              <a:rPr lang="es-AR"/>
              <a:t>planes de crecimiento</a:t>
            </a:r>
            <a:endParaRPr/>
          </a:p>
          <a:p>
            <a:pPr indent="0" lvl="0" marL="0" rtl="0" algn="l">
              <a:lnSpc>
                <a:spcPct val="100000"/>
              </a:lnSpc>
              <a:spcBef>
                <a:spcPts val="0"/>
              </a:spcBef>
              <a:spcAft>
                <a:spcPts val="0"/>
              </a:spcAft>
              <a:buSzPts val="1400"/>
              <a:buNone/>
            </a:pPr>
            <a:r>
              <a:rPr lang="es-AR"/>
              <a:t>planes de decrecimiento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diferencia de porque salidas involuntaria dispara los numeros, es porque el denominador cambia, es decir la base de calculo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¿Como uso la rotacion en el negocio?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445" name="Google Shape;445;g2d313c43bd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s-AR" sz="1200" u="none" strike="noStrike">
                <a:solidFill>
                  <a:srgbClr val="000000"/>
                </a:solidFill>
                <a:latin typeface="Arial"/>
                <a:ea typeface="Arial"/>
                <a:cs typeface="Arial"/>
                <a:sym typeface="Arial"/>
              </a:rPr>
              <a:t>Ausentismo presencial</a:t>
            </a:r>
            <a:r>
              <a:rPr b="0" i="0" lang="es-AR" sz="1200" u="none" strike="noStrike">
                <a:solidFill>
                  <a:srgbClr val="000000"/>
                </a:solidFill>
                <a:latin typeface="Arial"/>
                <a:ea typeface="Arial"/>
                <a:cs typeface="Arial"/>
                <a:sym typeface="Arial"/>
              </a:rPr>
              <a:t>: consiste en acudir al puesto de trabajo, pero dedicando parte de la jornada a actividades que no guardan relación con las tareas propias del puesto.</a:t>
            </a:r>
            <a:endParaRPr/>
          </a:p>
          <a:p>
            <a:pPr indent="0" lvl="0" marL="0" marR="0" rtl="0" algn="l">
              <a:lnSpc>
                <a:spcPct val="100000"/>
              </a:lnSpc>
              <a:spcBef>
                <a:spcPts val="0"/>
              </a:spcBef>
              <a:spcAft>
                <a:spcPts val="0"/>
              </a:spcAft>
              <a:buClr>
                <a:srgbClr val="000000"/>
              </a:buClr>
              <a:buSzPts val="1200"/>
              <a:buFont typeface="Arial"/>
              <a:buNone/>
            </a:pPr>
            <a:r>
              <a:rPr b="0" i="0" lang="es-AR" sz="1200" u="none" strike="noStrike">
                <a:solidFill>
                  <a:srgbClr val="000000"/>
                </a:solidFill>
                <a:latin typeface="Arial"/>
                <a:ea typeface="Arial"/>
                <a:cs typeface="Arial"/>
                <a:sym typeface="Arial"/>
              </a:rPr>
              <a:t>Modalidad de trabajo flexible: Los conceptos de </a:t>
            </a:r>
            <a:r>
              <a:rPr b="1" i="0" lang="es-AR" sz="1200" u="none" strike="noStrike">
                <a:solidFill>
                  <a:srgbClr val="000000"/>
                </a:solidFill>
                <a:latin typeface="Arial"/>
                <a:ea typeface="Arial"/>
                <a:cs typeface="Arial"/>
                <a:sym typeface="Arial"/>
              </a:rPr>
              <a:t>Asistencia y de Puesto de Trabajo </a:t>
            </a:r>
            <a:r>
              <a:rPr b="0" i="0" lang="es-AR" sz="1200" u="none" strike="noStrike">
                <a:solidFill>
                  <a:srgbClr val="000000"/>
                </a:solidFill>
                <a:latin typeface="Arial"/>
                <a:ea typeface="Arial"/>
                <a:cs typeface="Arial"/>
                <a:sym typeface="Arial"/>
              </a:rPr>
              <a:t>se ven relativizados. La profundización de las nuevas modalidades de trabajo flexible complejizan el control y seguimiento de la productividad de las horas trabajadas.</a:t>
            </a:r>
            <a:endParaRPr/>
          </a:p>
          <a:p>
            <a:pPr indent="0" lvl="0" marL="0" marR="0" rtl="0" algn="l">
              <a:lnSpc>
                <a:spcPct val="100000"/>
              </a:lnSpc>
              <a:spcBef>
                <a:spcPts val="0"/>
              </a:spcBef>
              <a:spcAft>
                <a:spcPts val="0"/>
              </a:spcAft>
              <a:buClr>
                <a:srgbClr val="000000"/>
              </a:buClr>
              <a:buSzPts val="1200"/>
              <a:buFont typeface="Arial"/>
              <a:buNone/>
            </a:pPr>
            <a:r>
              <a:rPr b="0" i="0" lang="es-AR" sz="1200" u="none" strike="noStrike">
                <a:solidFill>
                  <a:srgbClr val="000000"/>
                </a:solidFill>
                <a:latin typeface="Arial"/>
                <a:ea typeface="Arial"/>
                <a:cs typeface="Arial"/>
                <a:sym typeface="Arial"/>
              </a:rPr>
              <a:t>Un elemento fundamental será contar con un método de monitoreo y medición del ausentismo y la productividad. Este método deberá ser específico para adaptarse a las particularidades de las poblaciones de la organización. Este método deberá contar con una fórmula de calculo, con una frecuencia y responsable definidas, que considere tanto el tiempo no trabajado por enfermedad o accidente, como el no trabajado como consecuencia de razones injustificadas. El cálculo debe considerar tanto los costos directos generados por el ausentista como también los costos indirectos generados por la perdida de productividad.</a:t>
            </a:r>
            <a:endParaRPr/>
          </a:p>
          <a:p>
            <a:pPr indent="0" lvl="0" marL="0" marR="0" rtl="0" algn="l">
              <a:lnSpc>
                <a:spcPct val="100000"/>
              </a:lnSpc>
              <a:spcBef>
                <a:spcPts val="0"/>
              </a:spcBef>
              <a:spcAft>
                <a:spcPts val="0"/>
              </a:spcAft>
              <a:buClr>
                <a:srgbClr val="000000"/>
              </a:buClr>
              <a:buSzPts val="1200"/>
              <a:buFont typeface="Arial"/>
              <a:buNone/>
            </a:pPr>
            <a:r>
              <a:rPr b="0" i="0" lang="es-AR" sz="1200" u="none" strike="noStrike">
                <a:solidFill>
                  <a:srgbClr val="000000"/>
                </a:solidFill>
                <a:latin typeface="Arial"/>
                <a:ea typeface="Arial"/>
                <a:cs typeface="Arial"/>
                <a:sym typeface="Arial"/>
              </a:rPr>
              <a:t>Pasos para el diagnóstico:</a:t>
            </a:r>
            <a:endParaRPr/>
          </a:p>
          <a:p>
            <a:pPr indent="0" lvl="0" marL="0" rtl="0" algn="l">
              <a:lnSpc>
                <a:spcPct val="100000"/>
              </a:lnSpc>
              <a:spcBef>
                <a:spcPts val="0"/>
              </a:spcBef>
              <a:spcAft>
                <a:spcPts val="0"/>
              </a:spcAft>
              <a:buSzPts val="1400"/>
              <a:buNone/>
            </a:pPr>
            <a:r>
              <a:rPr lang="es-AR"/>
              <a:t>•Cálculo del índice de Productividad</a:t>
            </a:r>
            <a:endParaRPr/>
          </a:p>
          <a:p>
            <a:pPr indent="0" lvl="0" marL="0" rtl="0" algn="l">
              <a:lnSpc>
                <a:spcPct val="100000"/>
              </a:lnSpc>
              <a:spcBef>
                <a:spcPts val="0"/>
              </a:spcBef>
              <a:spcAft>
                <a:spcPts val="0"/>
              </a:spcAft>
              <a:buSzPts val="1400"/>
              <a:buNone/>
            </a:pPr>
            <a:r>
              <a:rPr lang="es-AR"/>
              <a:t>• </a:t>
            </a:r>
            <a:r>
              <a:rPr b="1" i="0" lang="es-AR" sz="1800" u="none" strike="noStrike">
                <a:solidFill>
                  <a:srgbClr val="000000"/>
                </a:solidFill>
                <a:latin typeface="Arial"/>
                <a:ea typeface="Arial"/>
                <a:cs typeface="Arial"/>
                <a:sym typeface="Arial"/>
              </a:rPr>
              <a:t>Identificar las causas </a:t>
            </a:r>
            <a:r>
              <a:rPr b="0" i="0" lang="es-AR" sz="1800" u="none" strike="noStrike">
                <a:solidFill>
                  <a:srgbClr val="000000"/>
                </a:solidFill>
                <a:latin typeface="Arial"/>
                <a:ea typeface="Arial"/>
                <a:cs typeface="Arial"/>
                <a:sym typeface="Arial"/>
              </a:rPr>
              <a:t>del ausentismo, y analizar </a:t>
            </a:r>
            <a:r>
              <a:rPr b="1" i="0" lang="es-AR" sz="1800" u="none" strike="noStrike">
                <a:solidFill>
                  <a:srgbClr val="000000"/>
                </a:solidFill>
                <a:latin typeface="Arial"/>
                <a:ea typeface="Arial"/>
                <a:cs typeface="Arial"/>
                <a:sym typeface="Arial"/>
              </a:rPr>
              <a:t>perfiles ausentistas.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rPr lang="es-AR"/>
              <a:t>•Identificación de casos recurrentes / fraudulentos</a:t>
            </a:r>
            <a:endParaRPr/>
          </a:p>
          <a:p>
            <a:pPr indent="0" lvl="0" marL="0" rtl="0" algn="l">
              <a:lnSpc>
                <a:spcPct val="100000"/>
              </a:lnSpc>
              <a:spcBef>
                <a:spcPts val="0"/>
              </a:spcBef>
              <a:spcAft>
                <a:spcPts val="0"/>
              </a:spcAft>
              <a:buSzPts val="1400"/>
              <a:buNone/>
            </a:pPr>
            <a:r>
              <a:rPr lang="es-AR"/>
              <a:t>•Determinación del impacto en resultados</a:t>
            </a:r>
            <a:endParaRPr/>
          </a:p>
          <a:p>
            <a:pPr indent="0" lvl="0" marL="0" rtl="0" algn="l">
              <a:lnSpc>
                <a:spcPct val="100000"/>
              </a:lnSpc>
              <a:spcBef>
                <a:spcPts val="0"/>
              </a:spcBef>
              <a:spcAft>
                <a:spcPts val="0"/>
              </a:spcAft>
              <a:buSzPts val="14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s-AR" sz="1800" u="none" strike="noStrike">
                <a:solidFill>
                  <a:srgbClr val="000000"/>
                </a:solidFill>
                <a:latin typeface="Arial"/>
                <a:ea typeface="Arial"/>
                <a:cs typeface="Arial"/>
                <a:sym typeface="Arial"/>
              </a:rPr>
              <a:t>Diseño del Programa de Prevención (Acciones Indirectas): </a:t>
            </a:r>
            <a:endParaRPr/>
          </a:p>
          <a:p>
            <a:pPr indent="0" lvl="0" marL="0" rtl="0" algn="l">
              <a:lnSpc>
                <a:spcPct val="100000"/>
              </a:lnSpc>
              <a:spcBef>
                <a:spcPts val="0"/>
              </a:spcBef>
              <a:spcAft>
                <a:spcPts val="0"/>
              </a:spcAft>
              <a:buSzPts val="1400"/>
              <a:buNone/>
            </a:pPr>
            <a:r>
              <a:rPr b="1" i="0" lang="es-AR" sz="1800" u="none" strike="noStrike">
                <a:solidFill>
                  <a:srgbClr val="000000"/>
                </a:solidFill>
                <a:latin typeface="Arial"/>
                <a:ea typeface="Arial"/>
                <a:cs typeface="Arial"/>
                <a:sym typeface="Arial"/>
              </a:rPr>
              <a:t>Integración del Equipo de Trabajo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rPr b="1" i="0" lang="es-AR" sz="1800" u="none" strike="noStrike">
                <a:solidFill>
                  <a:srgbClr val="000000"/>
                </a:solidFill>
                <a:latin typeface="Arial"/>
                <a:ea typeface="Arial"/>
                <a:cs typeface="Arial"/>
                <a:sym typeface="Arial"/>
              </a:rPr>
              <a:t>Identificación y análisis de los causales que generan ausentismo </a:t>
            </a:r>
            <a:endParaRPr/>
          </a:p>
          <a:p>
            <a:pPr indent="0" lvl="0" marL="0" rtl="0" algn="l">
              <a:lnSpc>
                <a:spcPct val="100000"/>
              </a:lnSpc>
              <a:spcBef>
                <a:spcPts val="0"/>
              </a:spcBef>
              <a:spcAft>
                <a:spcPts val="0"/>
              </a:spcAft>
              <a:buSzPts val="1400"/>
              <a:buNone/>
            </a:pPr>
            <a:r>
              <a:rPr b="1" i="0" lang="es-AR" sz="1800" u="none" strike="noStrike">
                <a:solidFill>
                  <a:srgbClr val="000000"/>
                </a:solidFill>
                <a:latin typeface="Arial"/>
                <a:ea typeface="Arial"/>
                <a:cs typeface="Arial"/>
                <a:sym typeface="Arial"/>
              </a:rPr>
              <a:t>Revisión de herramientas y reportes periódicos </a:t>
            </a:r>
            <a:endParaRPr b="1"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rPr b="1" i="0" lang="es-AR" sz="1800" u="none" strike="noStrike">
                <a:solidFill>
                  <a:srgbClr val="000000"/>
                </a:solidFill>
                <a:latin typeface="Arial"/>
                <a:ea typeface="Arial"/>
                <a:cs typeface="Arial"/>
                <a:sym typeface="Arial"/>
              </a:rPr>
              <a:t>Revisión de Políticas y Procedimientos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52" name="Google Shape;45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Primero se entrega el pdf Parte A vía whatsapp y se les da 10 minutos para analizarlo en grupo. Se hace una puesta en común y luego se les entrega el pdf Parte B.</a:t>
            </a:r>
            <a:endParaRPr/>
          </a:p>
          <a:p>
            <a:pPr indent="0" lvl="0" marL="0" rtl="0" algn="l">
              <a:lnSpc>
                <a:spcPct val="100000"/>
              </a:lnSpc>
              <a:spcBef>
                <a:spcPts val="0"/>
              </a:spcBef>
              <a:spcAft>
                <a:spcPts val="0"/>
              </a:spcAft>
              <a:buSzPts val="1400"/>
              <a:buNone/>
            </a:pPr>
            <a:r>
              <a:rPr lang="es-AR"/>
              <a:t>Es importante entregar la parte B únicamente luego del rescate de la parte A ya que la clave del rescate tiene que ver con las posibilidades en cada set de información.</a:t>
            </a:r>
            <a:endParaRPr/>
          </a:p>
        </p:txBody>
      </p:sp>
      <p:sp>
        <p:nvSpPr>
          <p:cNvPr id="461" name="Google Shape;4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Insight real de Mc. Donalds Chile. El riesgo de renuncia de los colaboradores desciende cuando la edad del gerente del punto de venta crece. En el mindset de Mc. Donalds antes de este trabajo estaba desarrollar gerentes jovenes porque creían que estos podían relacionarse con mayor fluidez con sus colaboradores porque comparten códigos generacionales. Si bien esto puede ser cierto para algunas cosas en relación a la rotación este análisis demostró lo contrario de lo que la compañía creía. Los gerentes de mayor edad funcionaban como referentes y su edad y trayectoria le daban mayor validez, asumían un rol de contención y orientación y esto se veía reflejado en la baja del riesgo de renuncia.</a:t>
            </a:r>
            <a:endParaRPr/>
          </a:p>
        </p:txBody>
      </p:sp>
      <p:sp>
        <p:nvSpPr>
          <p:cNvPr id="469" name="Google Shape;46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Caso: Banco</a:t>
            </a:r>
            <a:endParaRPr/>
          </a:p>
          <a:p>
            <a:pPr indent="0" lvl="0" marL="0" rtl="0" algn="l">
              <a:lnSpc>
                <a:spcPct val="100000"/>
              </a:lnSpc>
              <a:spcBef>
                <a:spcPts val="0"/>
              </a:spcBef>
              <a:spcAft>
                <a:spcPts val="0"/>
              </a:spcAft>
              <a:buSzPts val="1400"/>
              <a:buNone/>
            </a:pPr>
            <a:r>
              <a:rPr lang="es-AR"/>
              <a:t>Insight sobre retorno de las horas de capacitación, vínculo entre las horas de capacitación y la probabilidad de éxito de un colaborador. Eje vertical: Probabilidad de que una persona reciba una alta calificación en su evaluación de desempeño, eje horizontal: horas de capacitación. Hay tres perfiles que tienen un comportamiento similar: relación positiva entre horas de capacitación y desempeño. En cambio para el ejecutivo de cuenta se da un comportamiento diferente ya que la gran mayoría de las horas de capacitación para estos perfiles tienen que ver con normativas (son capacitaciones obligatorias por ley) y no se vé una correlación con mejor desempeño. </a:t>
            </a:r>
            <a:endParaRPr/>
          </a:p>
        </p:txBody>
      </p:sp>
      <p:sp>
        <p:nvSpPr>
          <p:cNvPr id="477" name="Google Shape;47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Mc Donalds Chile</a:t>
            </a:r>
            <a:endParaRPr/>
          </a:p>
          <a:p>
            <a:pPr indent="0" lvl="0" marL="0" rtl="0" algn="l">
              <a:lnSpc>
                <a:spcPct val="100000"/>
              </a:lnSpc>
              <a:spcBef>
                <a:spcPts val="0"/>
              </a:spcBef>
              <a:spcAft>
                <a:spcPts val="0"/>
              </a:spcAft>
              <a:buSzPts val="1400"/>
              <a:buNone/>
            </a:pPr>
            <a:r>
              <a:rPr lang="es-AR"/>
              <a:t>¿Cuál es la carga horaria más conveniente? En la medida de que se incrementa la cantidad de horas de trabajo en el mes disminuye el riesgo de renuncia de los colaboradores.</a:t>
            </a:r>
            <a:endParaRPr/>
          </a:p>
          <a:p>
            <a:pPr indent="0" lvl="0" marL="0" rtl="0" algn="l">
              <a:lnSpc>
                <a:spcPct val="100000"/>
              </a:lnSpc>
              <a:spcBef>
                <a:spcPts val="0"/>
              </a:spcBef>
              <a:spcAft>
                <a:spcPts val="0"/>
              </a:spcAft>
              <a:buSzPts val="1400"/>
              <a:buNone/>
            </a:pPr>
            <a:r>
              <a:rPr lang="es-AR"/>
              <a:t>La creencia era que por ser un "primer empleo" y que los empleados son mayormente jóvenes que estudian y no quieren trabajar todo el día porque necesitan tiempo para estudiar y se sienten motivados con contratos de pocas horas de trabajo porque le spermite equilibrar su vida laboral y el estudio. Sin embargo los datos muestran que las personas que más renuncian son las que tienen los contratos de menos horas. Justificación: Componente económico y también de vinculación, el nivel de compromiso mutuo. </a:t>
            </a:r>
            <a:endParaRPr/>
          </a:p>
        </p:txBody>
      </p:sp>
      <p:sp>
        <p:nvSpPr>
          <p:cNvPr id="485" name="Google Shape;48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Se suele hacer una lectura de la encuesta focalizando el plan de gestión en las dimensiones que dieron bajas. Pocas veces sabemos si esas dimensiones tienen una relación directa con el negocio o no. Este caso de análisis corresponde a un banco. Mediante este análisis se identificó cuáles eran las dos dimensiones del clima con mayor correlación con el nivel de satisfacción del cliente. Cuánto más alta es la calificación que obtiene una sucursal en la dimensión de trabajo en equipo y en Conducta Proactiva más alto es el NPS. Esto permite vincular una auto-evaluación interna (encuesta de clima) con una evaluación externa por parte del cliente (NPS) de que este aspecto efectivamente afecta el servicio que recibe. Con lo cual la gestión del clima pasa a tener un foco estratégico puesto en que todas las sucursales tengan la mejor calificación posible en Trabajo en Equipo y en Conducta Proactiva.</a:t>
            </a:r>
            <a:endParaRPr/>
          </a:p>
        </p:txBody>
      </p:sp>
      <p:sp>
        <p:nvSpPr>
          <p:cNvPr id="493" name="Google Shape;4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Gráfico de la Derecha: Caso de ejecutivos comerciales de un banco. La curva verde corresponde a perfiles estandar y la curva azul corrsponde a perfiles de éxito. Cada curva muestra la contribución individual al negocio de cada tipo de colaboradores y como se comporta a los largo de 5 años dentro de la compañía. Permitió descubrir que el maximo de productividad de un colaborador estandar suele alcanzarse a los 38 meses de antigüedad y cuando llegamos a ese máximo se produce un quiebre y un decenso en su productividad.</a:t>
            </a:r>
            <a:endParaRPr/>
          </a:p>
          <a:p>
            <a:pPr indent="0" lvl="0" marL="0" rtl="0" algn="l">
              <a:lnSpc>
                <a:spcPct val="100000"/>
              </a:lnSpc>
              <a:spcBef>
                <a:spcPts val="0"/>
              </a:spcBef>
              <a:spcAft>
                <a:spcPts val="0"/>
              </a:spcAft>
              <a:buSzPts val="1400"/>
              <a:buNone/>
            </a:pPr>
            <a:r>
              <a:rPr lang="es-AR"/>
              <a:t>En cambio, los top performers son personas que arrancan desde el principio de la relación laboral con un nivel de venta sostenidamente más elevado, alcanzan su máximo de productividad cerca de los 20 meses y después permanecen con cierta estabilidad en el tiempo en su nivel de productividad.</a:t>
            </a:r>
            <a:endParaRPr/>
          </a:p>
          <a:p>
            <a:pPr indent="0" lvl="0" marL="0" rtl="0" algn="l">
              <a:lnSpc>
                <a:spcPct val="100000"/>
              </a:lnSpc>
              <a:spcBef>
                <a:spcPts val="0"/>
              </a:spcBef>
              <a:spcAft>
                <a:spcPts val="0"/>
              </a:spcAft>
              <a:buSzPts val="1400"/>
              <a:buNone/>
            </a:pPr>
            <a:r>
              <a:rPr lang="es-AR"/>
              <a:t>Ej de acciones: Tener alertas tempranas para detectar potenciales perfiles de éxito para poder retenerlo, identificarlo y potenciarlo. Entender cuándo es momento de ofrecer un cambio de rol a un perfil con desempeño estandar que esté por llegar a su máximo. Cuestionarnos cómo hago para pasar más gente de la línea verde a la línea azul, qué cosas de la compañía potencian este nivel de productividad.</a:t>
            </a:r>
            <a:endParaRPr/>
          </a:p>
          <a:p>
            <a:pPr indent="0" lvl="0" marL="0" rtl="0" algn="l">
              <a:lnSpc>
                <a:spcPct val="100000"/>
              </a:lnSpc>
              <a:spcBef>
                <a:spcPts val="0"/>
              </a:spcBef>
              <a:spcAft>
                <a:spcPts val="0"/>
              </a:spcAft>
              <a:buSzPts val="1400"/>
              <a:buNone/>
            </a:pPr>
            <a:r>
              <a:rPr lang="es-AR"/>
              <a:t>Gráfico de la Izquierda: PA nos permite cuestionar si nuestro modelo de evaluación de desempeño está alineado a los resultados de negocio. El gráfico de arriba es una distribución real de una evaluación de desempeño dentro del banco comparado con los resultados en ventas (gráfico inferior) de las mismas personas que fueron evaluadas. La evaluación de desempeño tiene una distribución normal (en este caso de dió de forma natural, no forzada). G´rafico inferior: El promedio está en los niveles de venta más bajos. Esto permite ver que la estructura de la evaluación de desempeño demuestra un nivel de contribución con una distribución normal cuando en la práctica tengo una distribución de contribución muy diferente. La dispersión de contribución al negocio es muy distante para los que tienen nivel de ventas más alto. La ev. de desempeño asigna una calificación igual o muy similar a alguien que produce dos veces el promedio que a alguien que produce 12 veces el promedio. Existe una oportunidad de distinguir con mayor gradualidad la contribución de los colaboradores que más hacen.</a:t>
            </a:r>
            <a:endParaRPr/>
          </a:p>
        </p:txBody>
      </p:sp>
      <p:sp>
        <p:nvSpPr>
          <p:cNvPr id="501" name="Google Shape;50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5020395158_1_48:notes"/>
          <p:cNvSpPr/>
          <p:nvPr>
            <p:ph idx="2" type="sldImg"/>
          </p:nvPr>
        </p:nvSpPr>
        <p:spPr>
          <a:xfrm>
            <a:off x="759326" y="571682"/>
            <a:ext cx="5339400" cy="365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g15020395158_1_48:notes"/>
          <p:cNvSpPr txBox="1"/>
          <p:nvPr>
            <p:ph idx="1" type="body"/>
          </p:nvPr>
        </p:nvSpPr>
        <p:spPr>
          <a:xfrm>
            <a:off x="214290" y="4343400"/>
            <a:ext cx="6429300" cy="4229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g15020395158_1_48:notes"/>
          <p:cNvSpPr txBox="1"/>
          <p:nvPr>
            <p:ph idx="12" type="sldNum"/>
          </p:nvPr>
        </p:nvSpPr>
        <p:spPr>
          <a:xfrm>
            <a:off x="3884620" y="8685213"/>
            <a:ext cx="2971800" cy="457200"/>
          </a:xfrm>
          <a:prstGeom prst="rect">
            <a:avLst/>
          </a:prstGeom>
          <a:noFill/>
          <a:ln>
            <a:noFill/>
          </a:ln>
        </p:spPr>
        <p:txBody>
          <a:bodyPr anchorCtr="0" anchor="b" bIns="180000" lIns="72000" spcFirstLastPara="1" rIns="180000" wrap="square" tIns="36000">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es-A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showMasterSp="0">
  <p:cSld name="Carátula">
    <p:spTree>
      <p:nvGrpSpPr>
        <p:cNvPr id="15" name="Shape 15"/>
        <p:cNvGrpSpPr/>
        <p:nvPr/>
      </p:nvGrpSpPr>
      <p:grpSpPr>
        <a:xfrm>
          <a:off x="0" y="0"/>
          <a:ext cx="0" cy="0"/>
          <a:chOff x="0" y="0"/>
          <a:chExt cx="0" cy="0"/>
        </a:xfrm>
      </p:grpSpPr>
      <p:sp>
        <p:nvSpPr>
          <p:cNvPr id="16" name="Google Shape;16;p21"/>
          <p:cNvSpPr/>
          <p:nvPr/>
        </p:nvSpPr>
        <p:spPr>
          <a:xfrm>
            <a:off x="-10178" y="6180971"/>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sp>
        <p:nvSpPr>
          <p:cNvPr id="17" name="Google Shape;17;p21"/>
          <p:cNvSpPr/>
          <p:nvPr/>
        </p:nvSpPr>
        <p:spPr>
          <a:xfrm>
            <a:off x="553" y="666660"/>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18" name="Shape 18"/>
        <p:cNvGrpSpPr/>
        <p:nvPr/>
      </p:nvGrpSpPr>
      <p:grpSpPr>
        <a:xfrm>
          <a:off x="0" y="0"/>
          <a:ext cx="0" cy="0"/>
          <a:chOff x="0" y="0"/>
          <a:chExt cx="0" cy="0"/>
        </a:xfrm>
      </p:grpSpPr>
      <p:sp>
        <p:nvSpPr>
          <p:cNvPr id="19" name="Google Shape;19;p22"/>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pic>
        <p:nvPicPr>
          <p:cNvPr descr="Image result for utn frba" id="20" name="Google Shape;20;p22"/>
          <p:cNvPicPr preferRelativeResize="0"/>
          <p:nvPr/>
        </p:nvPicPr>
        <p:blipFill rotWithShape="1">
          <a:blip r:embed="rId2">
            <a:alphaModFix/>
          </a:blip>
          <a:srcRect b="0" l="0" r="0" t="0"/>
          <a:stretch/>
        </p:blipFill>
        <p:spPr>
          <a:xfrm>
            <a:off x="6465194" y="64395"/>
            <a:ext cx="2611323" cy="95274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1" name="Shape 21"/>
        <p:cNvGrpSpPr/>
        <p:nvPr/>
      </p:nvGrpSpPr>
      <p:grpSpPr>
        <a:xfrm>
          <a:off x="0" y="0"/>
          <a:ext cx="0" cy="0"/>
          <a:chOff x="0" y="0"/>
          <a:chExt cx="0" cy="0"/>
        </a:xfrm>
      </p:grpSpPr>
      <p:sp>
        <p:nvSpPr>
          <p:cNvPr id="22" name="Google Shape;22;p23"/>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 name="Shape 27"/>
        <p:cNvGrpSpPr/>
        <p:nvPr/>
      </p:nvGrpSpPr>
      <p:grpSpPr>
        <a:xfrm>
          <a:off x="0" y="0"/>
          <a:ext cx="0" cy="0"/>
          <a:chOff x="0" y="0"/>
          <a:chExt cx="0" cy="0"/>
        </a:xfrm>
      </p:grpSpPr>
      <p:sp>
        <p:nvSpPr>
          <p:cNvPr id="28" name="Google Shape;28;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3" name="Shape 33"/>
        <p:cNvGrpSpPr/>
        <p:nvPr/>
      </p:nvGrpSpPr>
      <p:grpSpPr>
        <a:xfrm>
          <a:off x="0" y="0"/>
          <a:ext cx="0" cy="0"/>
          <a:chOff x="0" y="0"/>
          <a:chExt cx="0" cy="0"/>
        </a:xfrm>
      </p:grpSpPr>
      <p:sp>
        <p:nvSpPr>
          <p:cNvPr id="34" name="Google Shape;34;p25"/>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9" name="Shape 39"/>
        <p:cNvGrpSpPr/>
        <p:nvPr/>
      </p:nvGrpSpPr>
      <p:grpSpPr>
        <a:xfrm>
          <a:off x="0" y="0"/>
          <a:ext cx="0" cy="0"/>
          <a:chOff x="0" y="0"/>
          <a:chExt cx="0" cy="0"/>
        </a:xfrm>
      </p:grpSpPr>
      <p:sp>
        <p:nvSpPr>
          <p:cNvPr id="40" name="Google Shape;40;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6" name="Shape 46"/>
        <p:cNvGrpSpPr/>
        <p:nvPr/>
      </p:nvGrpSpPr>
      <p:grpSpPr>
        <a:xfrm>
          <a:off x="0" y="0"/>
          <a:ext cx="0" cy="0"/>
          <a:chOff x="0" y="0"/>
          <a:chExt cx="0" cy="0"/>
        </a:xfrm>
      </p:grpSpPr>
      <p:sp>
        <p:nvSpPr>
          <p:cNvPr id="47" name="Google Shape;47;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5" name="Shape 55"/>
        <p:cNvGrpSpPr/>
        <p:nvPr/>
      </p:nvGrpSpPr>
      <p:grpSpPr>
        <a:xfrm>
          <a:off x="0" y="0"/>
          <a:ext cx="0" cy="0"/>
          <a:chOff x="0" y="0"/>
          <a:chExt cx="0" cy="0"/>
        </a:xfrm>
      </p:grpSpPr>
      <p:sp>
        <p:nvSpPr>
          <p:cNvPr id="56" name="Google Shape;56;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0" name="Shape 60"/>
        <p:cNvGrpSpPr/>
        <p:nvPr/>
      </p:nvGrpSpPr>
      <p:grpSpPr>
        <a:xfrm>
          <a:off x="0" y="0"/>
          <a:ext cx="0" cy="0"/>
          <a:chOff x="0" y="0"/>
          <a:chExt cx="0" cy="0"/>
        </a:xfrm>
      </p:grpSpPr>
      <p:sp>
        <p:nvSpPr>
          <p:cNvPr id="61" name="Google Shape;61;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4" name="Shape 64"/>
        <p:cNvGrpSpPr/>
        <p:nvPr/>
      </p:nvGrpSpPr>
      <p:grpSpPr>
        <a:xfrm>
          <a:off x="0" y="0"/>
          <a:ext cx="0" cy="0"/>
          <a:chOff x="0" y="0"/>
          <a:chExt cx="0" cy="0"/>
        </a:xfrm>
      </p:grpSpPr>
      <p:sp>
        <p:nvSpPr>
          <p:cNvPr id="65" name="Google Shape;65;p3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3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3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p:nvPr>
            <p:ph idx="2" type="pic"/>
          </p:nvPr>
        </p:nvSpPr>
        <p:spPr>
          <a:xfrm>
            <a:off x="3887391" y="987426"/>
            <a:ext cx="4629150" cy="4873625"/>
          </a:xfrm>
          <a:prstGeom prst="rect">
            <a:avLst/>
          </a:prstGeom>
          <a:noFill/>
          <a:ln>
            <a:noFill/>
          </a:ln>
        </p:spPr>
      </p:sp>
      <p:sp>
        <p:nvSpPr>
          <p:cNvPr id="74" name="Google Shape;74;p3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4" name="Shape 84"/>
        <p:cNvGrpSpPr/>
        <p:nvPr/>
      </p:nvGrpSpPr>
      <p:grpSpPr>
        <a:xfrm>
          <a:off x="0" y="0"/>
          <a:ext cx="0" cy="0"/>
          <a:chOff x="0" y="0"/>
          <a:chExt cx="0" cy="0"/>
        </a:xfrm>
      </p:grpSpPr>
      <p:sp>
        <p:nvSpPr>
          <p:cNvPr id="85" name="Google Shape;85;p33"/>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3"/>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Adicional" showMasterSp="0">
  <p:cSld name="Contenido Adicional">
    <p:bg>
      <p:bgPr>
        <a:gradFill>
          <a:gsLst>
            <a:gs pos="0">
              <a:srgbClr val="FAFAFA"/>
            </a:gs>
            <a:gs pos="16000">
              <a:srgbClr val="FAFAFA"/>
            </a:gs>
            <a:gs pos="46000">
              <a:schemeClr val="lt2"/>
            </a:gs>
            <a:gs pos="83000">
              <a:srgbClr val="D6D6D6"/>
            </a:gs>
            <a:gs pos="100000">
              <a:srgbClr val="E3E3E3"/>
            </a:gs>
          </a:gsLst>
          <a:lin ang="5400000" scaled="0"/>
        </a:gradFill>
      </p:bgPr>
    </p:bg>
    <p:spTree>
      <p:nvGrpSpPr>
        <p:cNvPr id="90" name="Shape 90"/>
        <p:cNvGrpSpPr/>
        <p:nvPr/>
      </p:nvGrpSpPr>
      <p:grpSpPr>
        <a:xfrm>
          <a:off x="0" y="0"/>
          <a:ext cx="0" cy="0"/>
          <a:chOff x="0" y="0"/>
          <a:chExt cx="0" cy="0"/>
        </a:xfrm>
      </p:grpSpPr>
      <p:sp>
        <p:nvSpPr>
          <p:cNvPr id="91" name="Google Shape;91;p34"/>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pic>
        <p:nvPicPr>
          <p:cNvPr descr="Image result for utn frba" id="92" name="Google Shape;92;p34"/>
          <p:cNvPicPr preferRelativeResize="0"/>
          <p:nvPr/>
        </p:nvPicPr>
        <p:blipFill rotWithShape="1">
          <a:blip r:embed="rId2">
            <a:alphaModFix/>
          </a:blip>
          <a:srcRect b="0" l="0" r="0" t="0"/>
          <a:stretch/>
        </p:blipFill>
        <p:spPr>
          <a:xfrm>
            <a:off x="6465194" y="64395"/>
            <a:ext cx="2611323" cy="952745"/>
          </a:xfrm>
          <a:prstGeom prst="rect">
            <a:avLst/>
          </a:prstGeom>
          <a:noFill/>
          <a:ln>
            <a:noFill/>
          </a:ln>
        </p:spPr>
      </p:pic>
      <p:sp>
        <p:nvSpPr>
          <p:cNvPr id="93" name="Google Shape;93;p3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chemeClr val="dk1"/>
              </a:buClr>
              <a:buSzPts val="600"/>
              <a:buFont typeface="Calibri"/>
              <a:buNone/>
            </a:pPr>
            <a:r>
              <a:t/>
            </a:r>
            <a:endParaRPr b="1" i="0" sz="2400" u="none" cap="none" strike="noStrike">
              <a:solidFill>
                <a:srgbClr val="932328"/>
              </a:solidFill>
              <a:latin typeface="Calibri"/>
              <a:ea typeface="Calibri"/>
              <a:cs typeface="Calibri"/>
              <a:sym typeface="Calibri"/>
            </a:endParaRPr>
          </a:p>
          <a:p>
            <a:pPr indent="-714375" lvl="0" marL="714375" marR="0" rtl="0" algn="l">
              <a:lnSpc>
                <a:spcPct val="90000"/>
              </a:lnSpc>
              <a:spcBef>
                <a:spcPts val="0"/>
              </a:spcBef>
              <a:spcAft>
                <a:spcPts val="0"/>
              </a:spcAft>
              <a:buClr>
                <a:srgbClr val="000000"/>
              </a:buClr>
              <a:buSzPts val="2800"/>
              <a:buFont typeface="Arial"/>
              <a:buNone/>
            </a:pPr>
            <a:r>
              <a:rPr b="1" i="0" lang="es-AR" sz="2800" u="none" cap="none" strike="noStrike">
                <a:solidFill>
                  <a:srgbClr val="932328"/>
                </a:solidFill>
                <a:latin typeface="Arial Narrow"/>
                <a:ea typeface="Arial Narrow"/>
                <a:cs typeface="Arial Narrow"/>
                <a:sym typeface="Arial Narrow"/>
              </a:rPr>
              <a:t>Contenido Adicional</a:t>
            </a:r>
            <a:endParaRPr b="0" i="0" sz="1400" u="none" cap="none" strike="noStrike">
              <a:solidFill>
                <a:srgbClr val="000000"/>
              </a:solidFill>
              <a:latin typeface="Arial"/>
              <a:ea typeface="Arial"/>
              <a:cs typeface="Arial"/>
              <a:sym typeface="Arial"/>
            </a:endParaRPr>
          </a:p>
        </p:txBody>
      </p:sp>
      <p:sp>
        <p:nvSpPr>
          <p:cNvPr id="94" name="Google Shape;94;p34"/>
          <p:cNvSpPr txBox="1"/>
          <p:nvPr>
            <p:ph idx="1" type="body"/>
          </p:nvPr>
        </p:nvSpPr>
        <p:spPr>
          <a:xfrm>
            <a:off x="232012" y="1211913"/>
            <a:ext cx="8734567" cy="547549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Text and Images">
  <p:cSld name="2 Columns - Text and Images">
    <p:spTree>
      <p:nvGrpSpPr>
        <p:cNvPr id="95" name="Shape 95"/>
        <p:cNvGrpSpPr/>
        <p:nvPr/>
      </p:nvGrpSpPr>
      <p:grpSpPr>
        <a:xfrm>
          <a:off x="0" y="0"/>
          <a:ext cx="0" cy="0"/>
          <a:chOff x="0" y="0"/>
          <a:chExt cx="0" cy="0"/>
        </a:xfrm>
      </p:grpSpPr>
      <p:sp>
        <p:nvSpPr>
          <p:cNvPr id="96" name="Google Shape;96;p35"/>
          <p:cNvSpPr txBox="1"/>
          <p:nvPr>
            <p:ph idx="1" type="body"/>
          </p:nvPr>
        </p:nvSpPr>
        <p:spPr>
          <a:xfrm>
            <a:off x="4770615" y="4770000"/>
            <a:ext cx="3994960" cy="1566000"/>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215"/>
              </a:spcBef>
              <a:spcAft>
                <a:spcPts val="0"/>
              </a:spcAft>
              <a:buClr>
                <a:schemeClr val="dk1"/>
              </a:buClr>
              <a:buSzPts val="1350"/>
              <a:buChar char="•"/>
              <a:defRPr sz="1350"/>
            </a:lvl1pPr>
            <a:lvl2pPr indent="-304800" lvl="1" marL="914400" algn="l">
              <a:lnSpc>
                <a:spcPct val="90000"/>
              </a:lnSpc>
              <a:spcBef>
                <a:spcPts val="500"/>
              </a:spcBef>
              <a:spcAft>
                <a:spcPts val="0"/>
              </a:spcAft>
              <a:buClr>
                <a:schemeClr val="dk1"/>
              </a:buClr>
              <a:buSzPts val="1200"/>
              <a:buChar char="•"/>
              <a:defRPr sz="1200"/>
            </a:lvl2pPr>
            <a:lvl3pPr indent="-295275" lvl="2" marL="1371600" algn="l">
              <a:lnSpc>
                <a:spcPct val="90000"/>
              </a:lnSpc>
              <a:spcBef>
                <a:spcPts val="500"/>
              </a:spcBef>
              <a:spcAft>
                <a:spcPts val="0"/>
              </a:spcAft>
              <a:buClr>
                <a:schemeClr val="dk1"/>
              </a:buClr>
              <a:buSzPts val="1050"/>
              <a:buChar char="•"/>
              <a:defRPr sz="105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35"/>
          <p:cNvSpPr/>
          <p:nvPr>
            <p:ph idx="2" type="pic"/>
          </p:nvPr>
        </p:nvSpPr>
        <p:spPr>
          <a:xfrm>
            <a:off x="4770615" y="1620000"/>
            <a:ext cx="3994960" cy="2631000"/>
          </a:xfrm>
          <a:prstGeom prst="rect">
            <a:avLst/>
          </a:prstGeom>
          <a:noFill/>
          <a:ln>
            <a:noFill/>
          </a:ln>
        </p:spPr>
      </p:sp>
      <p:sp>
        <p:nvSpPr>
          <p:cNvPr id="98" name="Google Shape;98;p35"/>
          <p:cNvSpPr txBox="1"/>
          <p:nvPr>
            <p:ph idx="3" type="body"/>
          </p:nvPr>
        </p:nvSpPr>
        <p:spPr>
          <a:xfrm>
            <a:off x="377902" y="4770000"/>
            <a:ext cx="3994960" cy="1566000"/>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215"/>
              </a:spcBef>
              <a:spcAft>
                <a:spcPts val="0"/>
              </a:spcAft>
              <a:buClr>
                <a:schemeClr val="dk1"/>
              </a:buClr>
              <a:buSzPts val="1350"/>
              <a:buChar char="•"/>
              <a:defRPr sz="1350"/>
            </a:lvl1pPr>
            <a:lvl2pPr indent="-304800" lvl="1" marL="914400" algn="l">
              <a:lnSpc>
                <a:spcPct val="90000"/>
              </a:lnSpc>
              <a:spcBef>
                <a:spcPts val="500"/>
              </a:spcBef>
              <a:spcAft>
                <a:spcPts val="0"/>
              </a:spcAft>
              <a:buClr>
                <a:schemeClr val="dk1"/>
              </a:buClr>
              <a:buSzPts val="1200"/>
              <a:buChar char="•"/>
              <a:defRPr sz="1200"/>
            </a:lvl2pPr>
            <a:lvl3pPr indent="-295275" lvl="2" marL="1371600" algn="l">
              <a:lnSpc>
                <a:spcPct val="90000"/>
              </a:lnSpc>
              <a:spcBef>
                <a:spcPts val="500"/>
              </a:spcBef>
              <a:spcAft>
                <a:spcPts val="0"/>
              </a:spcAft>
              <a:buClr>
                <a:schemeClr val="dk1"/>
              </a:buClr>
              <a:buSzPts val="1050"/>
              <a:buChar char="•"/>
              <a:defRPr sz="105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35"/>
          <p:cNvSpPr/>
          <p:nvPr>
            <p:ph idx="4" type="pic"/>
          </p:nvPr>
        </p:nvSpPr>
        <p:spPr>
          <a:xfrm>
            <a:off x="377902" y="1620000"/>
            <a:ext cx="3994960" cy="2631000"/>
          </a:xfrm>
          <a:prstGeom prst="rect">
            <a:avLst/>
          </a:prstGeom>
          <a:noFill/>
          <a:ln>
            <a:noFill/>
          </a:ln>
        </p:spPr>
      </p:sp>
      <p:sp>
        <p:nvSpPr>
          <p:cNvPr id="100" name="Google Shape;100;p35"/>
          <p:cNvSpPr txBox="1"/>
          <p:nvPr>
            <p:ph type="title"/>
          </p:nvPr>
        </p:nvSpPr>
        <p:spPr>
          <a:xfrm>
            <a:off x="377902" y="504000"/>
            <a:ext cx="8387673" cy="36933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06" name="Shape 106"/>
        <p:cNvGrpSpPr/>
        <p:nvPr/>
      </p:nvGrpSpPr>
      <p:grpSpPr>
        <a:xfrm>
          <a:off x="0" y="0"/>
          <a:ext cx="0" cy="0"/>
          <a:chOff x="0" y="0"/>
          <a:chExt cx="0" cy="0"/>
        </a:xfrm>
      </p:grpSpPr>
      <p:sp>
        <p:nvSpPr>
          <p:cNvPr id="107" name="Google Shape;107;g15020395158_1_67"/>
          <p:cNvSpPr/>
          <p:nvPr/>
        </p:nvSpPr>
        <p:spPr>
          <a:xfrm>
            <a:off x="-23056" y="1196958"/>
            <a:ext cx="9145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p:cSld name="Cover-People">
    <p:spTree>
      <p:nvGrpSpPr>
        <p:cNvPr id="108" name="Shape 108"/>
        <p:cNvGrpSpPr/>
        <p:nvPr/>
      </p:nvGrpSpPr>
      <p:grpSpPr>
        <a:xfrm>
          <a:off x="0" y="0"/>
          <a:ext cx="0" cy="0"/>
          <a:chOff x="0" y="0"/>
          <a:chExt cx="0" cy="0"/>
        </a:xfrm>
      </p:grpSpPr>
      <p:sp>
        <p:nvSpPr>
          <p:cNvPr id="109" name="Google Shape;109;g15020395158_1_64"/>
          <p:cNvSpPr/>
          <p:nvPr/>
        </p:nvSpPr>
        <p:spPr>
          <a:xfrm>
            <a:off x="-7332" y="6286500"/>
            <a:ext cx="9145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g15020395158_1_64"/>
          <p:cNvSpPr/>
          <p:nvPr/>
        </p:nvSpPr>
        <p:spPr>
          <a:xfrm>
            <a:off x="-23056" y="1196958"/>
            <a:ext cx="9145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g15020395158_1_69"/>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3" name="Google Shape;113;g15020395158_1_69"/>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4" name="Google Shape;114;g15020395158_1_6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AR"/>
              <a:t>‹#›</a:t>
            </a:fld>
            <a:endParaRPr/>
          </a:p>
        </p:txBody>
      </p:sp>
      <p:sp>
        <p:nvSpPr>
          <p:cNvPr id="115" name="Google Shape;115;g15020395158_1_69"/>
          <p:cNvSpPr/>
          <p:nvPr/>
        </p:nvSpPr>
        <p:spPr>
          <a:xfrm>
            <a:off x="-23056" y="1196958"/>
            <a:ext cx="9145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6" name="Shape 116"/>
        <p:cNvGrpSpPr/>
        <p:nvPr/>
      </p:nvGrpSpPr>
      <p:grpSpPr>
        <a:xfrm>
          <a:off x="0" y="0"/>
          <a:ext cx="0" cy="0"/>
          <a:chOff x="0" y="0"/>
          <a:chExt cx="0" cy="0"/>
        </a:xfrm>
      </p:grpSpPr>
      <p:sp>
        <p:nvSpPr>
          <p:cNvPr id="117" name="Google Shape;117;g15020395158_1_74"/>
          <p:cNvSpPr txBox="1"/>
          <p:nvPr>
            <p:ph type="title"/>
          </p:nvPr>
        </p:nvSpPr>
        <p:spPr>
          <a:xfrm>
            <a:off x="0" y="0"/>
            <a:ext cx="9144000" cy="1188000"/>
          </a:xfrm>
          <a:prstGeom prst="rect">
            <a:avLst/>
          </a:prstGeom>
          <a:noFill/>
          <a:ln>
            <a:noFill/>
          </a:ln>
        </p:spPr>
        <p:txBody>
          <a:bodyPr anchorCtr="0" anchor="ctr" bIns="91425" lIns="91425" spcFirstLastPara="1" rIns="91425" wrap="square" tIns="91425">
            <a:noAutofit/>
          </a:bodyPr>
          <a:lstStyle>
            <a:lvl1pPr lvl="0" marR="0" algn="ctr">
              <a:lnSpc>
                <a:spcPct val="90000"/>
              </a:lnSpc>
              <a:spcBef>
                <a:spcPts val="0"/>
              </a:spcBef>
              <a:spcAft>
                <a:spcPts val="0"/>
              </a:spcAft>
              <a:buClr>
                <a:schemeClr val="dk2"/>
              </a:buClr>
              <a:buSzPts val="1400"/>
              <a:buFont typeface="Arial Narrow"/>
              <a:buNone/>
              <a:defRPr b="1" i="0" sz="3000" u="none" cap="none" strike="noStrike">
                <a:solidFill>
                  <a:schemeClr val="dk2"/>
                </a:solidFill>
                <a:latin typeface="Arial Narrow"/>
                <a:ea typeface="Arial Narrow"/>
                <a:cs typeface="Arial Narrow"/>
                <a:sym typeface="Arial Narrow"/>
              </a:defRPr>
            </a:lvl1pPr>
            <a:lvl2pPr lvl="1" algn="l">
              <a:lnSpc>
                <a:spcPct val="100000"/>
              </a:lnSpc>
              <a:spcBef>
                <a:spcPts val="0"/>
              </a:spcBef>
              <a:spcAft>
                <a:spcPts val="0"/>
              </a:spcAft>
              <a:buSzPts val="1400"/>
              <a:buFont typeface="Arial"/>
              <a:buNone/>
              <a:defRPr sz="1800"/>
            </a:lvl2pPr>
            <a:lvl3pPr lvl="2" algn="l">
              <a:lnSpc>
                <a:spcPct val="100000"/>
              </a:lnSpc>
              <a:spcBef>
                <a:spcPts val="0"/>
              </a:spcBef>
              <a:spcAft>
                <a:spcPts val="0"/>
              </a:spcAft>
              <a:buSzPts val="1400"/>
              <a:buFont typeface="Arial"/>
              <a:buNone/>
              <a:defRPr sz="1800"/>
            </a:lvl3pPr>
            <a:lvl4pPr lvl="3" algn="l">
              <a:lnSpc>
                <a:spcPct val="100000"/>
              </a:lnSpc>
              <a:spcBef>
                <a:spcPts val="0"/>
              </a:spcBef>
              <a:spcAft>
                <a:spcPts val="0"/>
              </a:spcAft>
              <a:buSzPts val="1400"/>
              <a:buFont typeface="Arial"/>
              <a:buNone/>
              <a:defRPr sz="1800"/>
            </a:lvl4pPr>
            <a:lvl5pPr lvl="4" algn="l">
              <a:lnSpc>
                <a:spcPct val="100000"/>
              </a:lnSpc>
              <a:spcBef>
                <a:spcPts val="0"/>
              </a:spcBef>
              <a:spcAft>
                <a:spcPts val="0"/>
              </a:spcAft>
              <a:buSzPts val="1400"/>
              <a:buFont typeface="Arial"/>
              <a:buNone/>
              <a:defRPr sz="1800"/>
            </a:lvl5pPr>
            <a:lvl6pPr lvl="5" algn="l">
              <a:lnSpc>
                <a:spcPct val="100000"/>
              </a:lnSpc>
              <a:spcBef>
                <a:spcPts val="0"/>
              </a:spcBef>
              <a:spcAft>
                <a:spcPts val="0"/>
              </a:spcAft>
              <a:buSzPts val="1400"/>
              <a:buFont typeface="Arial"/>
              <a:buNone/>
              <a:defRPr sz="1800"/>
            </a:lvl6pPr>
            <a:lvl7pPr lvl="6" algn="l">
              <a:lnSpc>
                <a:spcPct val="100000"/>
              </a:lnSpc>
              <a:spcBef>
                <a:spcPts val="0"/>
              </a:spcBef>
              <a:spcAft>
                <a:spcPts val="0"/>
              </a:spcAft>
              <a:buSzPts val="1400"/>
              <a:buFont typeface="Arial"/>
              <a:buNone/>
              <a:defRPr sz="1800"/>
            </a:lvl7pPr>
            <a:lvl8pPr lvl="7" algn="l">
              <a:lnSpc>
                <a:spcPct val="100000"/>
              </a:lnSpc>
              <a:spcBef>
                <a:spcPts val="0"/>
              </a:spcBef>
              <a:spcAft>
                <a:spcPts val="0"/>
              </a:spcAft>
              <a:buSzPts val="1400"/>
              <a:buFont typeface="Arial"/>
              <a:buNone/>
              <a:defRPr sz="1800"/>
            </a:lvl8pPr>
            <a:lvl9pPr lvl="8" algn="l">
              <a:lnSpc>
                <a:spcPct val="100000"/>
              </a:lnSpc>
              <a:spcBef>
                <a:spcPts val="0"/>
              </a:spcBef>
              <a:spcAft>
                <a:spcPts val="0"/>
              </a:spcAft>
              <a:buSzPts val="1400"/>
              <a:buFont typeface="Arial"/>
              <a:buNone/>
              <a:defRPr sz="1800"/>
            </a:lvl9pPr>
          </a:lstStyle>
          <a:p/>
        </p:txBody>
      </p:sp>
      <p:sp>
        <p:nvSpPr>
          <p:cNvPr id="118" name="Google Shape;118;g15020395158_1_74"/>
          <p:cNvSpPr txBox="1"/>
          <p:nvPr>
            <p:ph idx="1" type="body"/>
          </p:nvPr>
        </p:nvSpPr>
        <p:spPr>
          <a:xfrm>
            <a:off x="0" y="1440000"/>
            <a:ext cx="9144000" cy="46800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19" name="Google Shape;119;g15020395158_1_74"/>
          <p:cNvSpPr txBox="1"/>
          <p:nvPr>
            <p:ph idx="11" type="ftr"/>
          </p:nvPr>
        </p:nvSpPr>
        <p:spPr>
          <a:xfrm>
            <a:off x="523875" y="6245225"/>
            <a:ext cx="2895600" cy="476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0" name="Google Shape;120;g15020395158_1_74"/>
          <p:cNvSpPr txBox="1"/>
          <p:nvPr>
            <p:ph idx="12" type="sldNum"/>
          </p:nvPr>
        </p:nvSpPr>
        <p:spPr>
          <a:xfrm>
            <a:off x="3708399" y="6265862"/>
            <a:ext cx="2133600" cy="4761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s Info">
  <p:cSld name="Contacts Info">
    <p:spTree>
      <p:nvGrpSpPr>
        <p:cNvPr id="121" name="Shape 121"/>
        <p:cNvGrpSpPr/>
        <p:nvPr/>
      </p:nvGrpSpPr>
      <p:grpSpPr>
        <a:xfrm>
          <a:off x="0" y="0"/>
          <a:ext cx="0" cy="0"/>
          <a:chOff x="0" y="0"/>
          <a:chExt cx="0" cy="0"/>
        </a:xfrm>
      </p:grpSpPr>
      <p:sp>
        <p:nvSpPr>
          <p:cNvPr id="122" name="Google Shape;122;g15020395158_1_79"/>
          <p:cNvSpPr txBox="1"/>
          <p:nvPr>
            <p:ph idx="12" type="sldNum"/>
          </p:nvPr>
        </p:nvSpPr>
        <p:spPr>
          <a:xfrm>
            <a:off x="8905846" y="6732000"/>
            <a:ext cx="232500" cy="104700"/>
          </a:xfrm>
          <a:prstGeom prst="rect">
            <a:avLst/>
          </a:prstGeom>
          <a:noFill/>
          <a:ln>
            <a:noFill/>
          </a:ln>
        </p:spPr>
        <p:txBody>
          <a:bodyPr anchorCtr="0" anchor="ctr" bIns="0" lIns="36000" spcFirstLastPara="1" rIns="36000" wrap="square" tIns="0">
            <a:noAutofit/>
          </a:bodyPr>
          <a:lstStyle>
            <a:lvl1pPr indent="0" lvl="0"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AR"/>
              <a:t>‹#›</a:t>
            </a:fld>
            <a:endParaRPr/>
          </a:p>
        </p:txBody>
      </p:sp>
      <p:sp>
        <p:nvSpPr>
          <p:cNvPr descr="images (1).jpg" id="123" name="Google Shape;123;g15020395158_1_79"/>
          <p:cNvSpPr/>
          <p:nvPr/>
        </p:nvSpPr>
        <p:spPr>
          <a:xfrm>
            <a:off x="5868906" y="2571742"/>
            <a:ext cx="3252900" cy="4286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mages (1).jpg" id="124" name="Google Shape;124;g15020395158_1_79"/>
          <p:cNvSpPr/>
          <p:nvPr/>
        </p:nvSpPr>
        <p:spPr>
          <a:xfrm>
            <a:off x="0" y="0"/>
            <a:ext cx="2514600" cy="3143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15020395158_1_79"/>
          <p:cNvSpPr/>
          <p:nvPr/>
        </p:nvSpPr>
        <p:spPr>
          <a:xfrm flipH="1" rot="10800000">
            <a:off x="3055316" y="1214540"/>
            <a:ext cx="6066900" cy="456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g15020395158_1_79"/>
          <p:cNvSpPr/>
          <p:nvPr/>
        </p:nvSpPr>
        <p:spPr>
          <a:xfrm flipH="1">
            <a:off x="142" y="5715016"/>
            <a:ext cx="5099400" cy="456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g15020395158_1_59"/>
          <p:cNvSpPr txBox="1"/>
          <p:nvPr>
            <p:ph type="title"/>
          </p:nvPr>
        </p:nvSpPr>
        <p:spPr>
          <a:xfrm>
            <a:off x="0" y="0"/>
            <a:ext cx="9144000" cy="1188000"/>
          </a:xfrm>
          <a:prstGeom prst="rect">
            <a:avLst/>
          </a:prstGeom>
          <a:noFill/>
          <a:ln>
            <a:noFill/>
          </a:ln>
        </p:spPr>
        <p:txBody>
          <a:bodyPr anchorCtr="0" anchor="ctr" bIns="91425" lIns="91425" spcFirstLastPara="1" rIns="91425" wrap="square" tIns="91425">
            <a:noAutofit/>
          </a:bodyPr>
          <a:lstStyle>
            <a:lvl1pPr lvl="0" marR="0" rtl="0" algn="ctr">
              <a:lnSpc>
                <a:spcPct val="90000"/>
              </a:lnSpc>
              <a:spcBef>
                <a:spcPts val="0"/>
              </a:spcBef>
              <a:spcAft>
                <a:spcPts val="0"/>
              </a:spcAft>
              <a:buClr>
                <a:schemeClr val="dk2"/>
              </a:buClr>
              <a:buSzPts val="14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g15020395158_1_59"/>
          <p:cNvSpPr/>
          <p:nvPr/>
        </p:nvSpPr>
        <p:spPr>
          <a:xfrm>
            <a:off x="-7332" y="6286500"/>
            <a:ext cx="9145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g15020395158_1_59"/>
          <p:cNvSpPr txBox="1"/>
          <p:nvPr>
            <p:ph idx="1" type="body"/>
          </p:nvPr>
        </p:nvSpPr>
        <p:spPr>
          <a:xfrm>
            <a:off x="0" y="1440000"/>
            <a:ext cx="9144000" cy="46800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Resultado de imagen para utn regional buenos aires ingenieria industrial" id="105" name="Google Shape;105;g15020395158_1_59"/>
          <p:cNvPicPr preferRelativeResize="0"/>
          <p:nvPr/>
        </p:nvPicPr>
        <p:blipFill rotWithShape="1">
          <a:blip r:embed="rId1">
            <a:alphaModFix/>
          </a:blip>
          <a:srcRect b="0" l="0" r="0" t="0"/>
          <a:stretch/>
        </p:blipFill>
        <p:spPr>
          <a:xfrm>
            <a:off x="6517680" y="7937"/>
            <a:ext cx="2637691" cy="10106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 id="2147483668" r:id="rId5"/>
    <p:sldLayoutId id="214748366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1" Type="http://schemas.openxmlformats.org/officeDocument/2006/relationships/hyperlink" Target="http://slide5.xml" TargetMode="External"/><Relationship Id="rId10" Type="http://schemas.openxmlformats.org/officeDocument/2006/relationships/hyperlink" Target="http://slide5.xml" TargetMode="Externa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lide5.xml" TargetMode="External"/><Relationship Id="rId4" Type="http://schemas.openxmlformats.org/officeDocument/2006/relationships/hyperlink" Target="http://slide24.xml" TargetMode="External"/><Relationship Id="rId9" Type="http://schemas.openxmlformats.org/officeDocument/2006/relationships/hyperlink" Target="http://slide38.xml" TargetMode="External"/><Relationship Id="rId5" Type="http://schemas.openxmlformats.org/officeDocument/2006/relationships/hyperlink" Target="http://slide38.xml" TargetMode="External"/><Relationship Id="rId6" Type="http://schemas.openxmlformats.org/officeDocument/2006/relationships/hyperlink" Target="http://slide5.xml" TargetMode="External"/><Relationship Id="rId7" Type="http://schemas.openxmlformats.org/officeDocument/2006/relationships/hyperlink" Target="http://slide5.xml" TargetMode="External"/><Relationship Id="rId8" Type="http://schemas.openxmlformats.org/officeDocument/2006/relationships/hyperlink" Target="http://slide38.x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7.png"/><Relationship Id="rId5" Type="http://schemas.openxmlformats.org/officeDocument/2006/relationships/image" Target="../media/image28.png"/><Relationship Id="rId6"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descr="https://encrypted-tbn2.gstatic.com/images?q=tbn:ANd9GcRcyGsKQFbNE159vcUw6iMcDisELRoVKzvai6d3iJrA-_BtH5dgBw" id="131" name="Google Shape;131;p1"/>
          <p:cNvSpPr/>
          <p:nvPr/>
        </p:nvSpPr>
        <p:spPr>
          <a:xfrm>
            <a:off x="143608" y="130419"/>
            <a:ext cx="281354" cy="281355"/>
          </a:xfrm>
          <a:prstGeom prst="rect">
            <a:avLst/>
          </a:prstGeom>
          <a:noFill/>
          <a:ln>
            <a:noFill/>
          </a:ln>
        </p:spPr>
        <p:txBody>
          <a:bodyPr anchorCtr="0" anchor="t" bIns="42200" lIns="84400" spcFirstLastPara="1" rIns="84400" wrap="square" tIns="42200">
            <a:noAutofit/>
          </a:bodyPr>
          <a:lstStyle/>
          <a:p>
            <a:pPr indent="0" lvl="0" marL="0" marR="0" rtl="0" algn="l">
              <a:lnSpc>
                <a:spcPct val="100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sp>
        <p:nvSpPr>
          <p:cNvPr id="132" name="Google Shape;132;p1"/>
          <p:cNvSpPr txBox="1"/>
          <p:nvPr/>
        </p:nvSpPr>
        <p:spPr>
          <a:xfrm>
            <a:off x="1062546" y="4106707"/>
            <a:ext cx="8535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lang="es-AR" sz="1800">
                <a:solidFill>
                  <a:schemeClr val="dk1"/>
                </a:solidFill>
              </a:rPr>
              <a:t>INGENIERÍA</a:t>
            </a:r>
            <a:r>
              <a:rPr b="1" i="0" lang="es-AR" sz="1800" u="none" cap="none" strike="noStrike">
                <a:solidFill>
                  <a:schemeClr val="dk1"/>
                </a:solidFill>
                <a:latin typeface="Arial"/>
                <a:ea typeface="Arial"/>
                <a:cs typeface="Arial"/>
                <a:sym typeface="Arial"/>
              </a:rPr>
              <a:t> INDUSTRIAL</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lang="es-AR" sz="1800">
                <a:solidFill>
                  <a:schemeClr val="dk1"/>
                </a:solidFill>
              </a:rPr>
              <a:t>CÁTEDRA</a:t>
            </a:r>
            <a:r>
              <a:rPr b="1" i="0" lang="es-AR" sz="1800" u="none" cap="none" strike="noStrike">
                <a:solidFill>
                  <a:schemeClr val="dk1"/>
                </a:solidFill>
                <a:latin typeface="Arial"/>
                <a:ea typeface="Arial"/>
                <a:cs typeface="Arial"/>
                <a:sym typeface="Arial"/>
              </a:rPr>
              <a:t> RELACIONES INDUSTRIALES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Unidad 12 – Sistemas de Gestión de RRHH y People Analytics</a:t>
            </a:r>
            <a:endParaRPr b="1" i="0" sz="1800" u="none" cap="none" strike="noStrike">
              <a:solidFill>
                <a:schemeClr val="dk1"/>
              </a:solidFill>
              <a:latin typeface="Arial"/>
              <a:ea typeface="Arial"/>
              <a:cs typeface="Arial"/>
              <a:sym typeface="Arial"/>
            </a:endParaRPr>
          </a:p>
        </p:txBody>
      </p:sp>
      <p:pic>
        <p:nvPicPr>
          <p:cNvPr descr="Image result for utn frba" id="133" name="Google Shape;133;p1"/>
          <p:cNvPicPr preferRelativeResize="0"/>
          <p:nvPr/>
        </p:nvPicPr>
        <p:blipFill rotWithShape="1">
          <a:blip r:embed="rId3">
            <a:alphaModFix/>
          </a:blip>
          <a:srcRect b="0" l="0" r="0" t="0"/>
          <a:stretch/>
        </p:blipFill>
        <p:spPr>
          <a:xfrm>
            <a:off x="883961" y="1159008"/>
            <a:ext cx="7287172" cy="26587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p:nvPr/>
        </p:nvSpPr>
        <p:spPr>
          <a:xfrm>
            <a:off x="1340803" y="2709776"/>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Definición: People Analytics</a:t>
            </a:r>
            <a:endParaRPr b="0" i="0" sz="1660" u="none" cap="none" strike="noStrike">
              <a:solidFill>
                <a:schemeClr val="dk1"/>
              </a:solidFill>
              <a:latin typeface="Arial"/>
              <a:ea typeface="Arial"/>
              <a:cs typeface="Arial"/>
              <a:sym typeface="Arial"/>
            </a:endParaRPr>
          </a:p>
        </p:txBody>
      </p:sp>
      <p:sp>
        <p:nvSpPr>
          <p:cNvPr id="140" name="Google Shape;140;p2">
            <a:hlinkClick r:id="rId3"/>
          </p:cNvPr>
          <p:cNvSpPr/>
          <p:nvPr/>
        </p:nvSpPr>
        <p:spPr>
          <a:xfrm>
            <a:off x="1142976" y="2709776"/>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1" name="Google Shape;141;p2"/>
          <p:cNvSpPr/>
          <p:nvPr/>
        </p:nvSpPr>
        <p:spPr>
          <a:xfrm>
            <a:off x="1340803" y="3896746"/>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KPIs de Recursos Humanos</a:t>
            </a:r>
            <a:endParaRPr b="0" i="0" sz="1400" u="none" cap="none" strike="noStrike">
              <a:solidFill>
                <a:srgbClr val="000000"/>
              </a:solidFill>
              <a:latin typeface="Arial"/>
              <a:ea typeface="Arial"/>
              <a:cs typeface="Arial"/>
              <a:sym typeface="Arial"/>
            </a:endParaRPr>
          </a:p>
        </p:txBody>
      </p:sp>
      <p:sp>
        <p:nvSpPr>
          <p:cNvPr id="142" name="Google Shape;142;p2">
            <a:hlinkClick r:id="rId4"/>
          </p:cNvPr>
          <p:cNvSpPr/>
          <p:nvPr/>
        </p:nvSpPr>
        <p:spPr>
          <a:xfrm>
            <a:off x="1142976" y="3896746"/>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3" name="Google Shape;143;p2"/>
          <p:cNvSpPr/>
          <p:nvPr/>
        </p:nvSpPr>
        <p:spPr>
          <a:xfrm>
            <a:off x="1340803" y="4490230"/>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Rotación de Personal</a:t>
            </a:r>
            <a:endParaRPr b="0" i="0" sz="1400" u="none" cap="none" strike="noStrike">
              <a:solidFill>
                <a:srgbClr val="000000"/>
              </a:solidFill>
              <a:latin typeface="Arial"/>
              <a:ea typeface="Arial"/>
              <a:cs typeface="Arial"/>
              <a:sym typeface="Arial"/>
            </a:endParaRPr>
          </a:p>
        </p:txBody>
      </p:sp>
      <p:sp>
        <p:nvSpPr>
          <p:cNvPr id="144" name="Google Shape;144;p2">
            <a:hlinkClick r:id="rId5"/>
          </p:cNvPr>
          <p:cNvSpPr/>
          <p:nvPr/>
        </p:nvSpPr>
        <p:spPr>
          <a:xfrm>
            <a:off x="1142976" y="4490230"/>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5" name="Google Shape;145;p2"/>
          <p:cNvSpPr/>
          <p:nvPr/>
        </p:nvSpPr>
        <p:spPr>
          <a:xfrm>
            <a:off x="1340803" y="3303260"/>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KPI vs. INSIGHT</a:t>
            </a:r>
            <a:endParaRPr b="0" i="0" sz="1400" u="none" cap="none" strike="noStrike">
              <a:solidFill>
                <a:srgbClr val="000000"/>
              </a:solidFill>
              <a:latin typeface="Arial"/>
              <a:ea typeface="Arial"/>
              <a:cs typeface="Arial"/>
              <a:sym typeface="Arial"/>
            </a:endParaRPr>
          </a:p>
        </p:txBody>
      </p:sp>
      <p:sp>
        <p:nvSpPr>
          <p:cNvPr id="146" name="Google Shape;146;p2">
            <a:hlinkClick r:id="rId6"/>
          </p:cNvPr>
          <p:cNvSpPr/>
          <p:nvPr/>
        </p:nvSpPr>
        <p:spPr>
          <a:xfrm>
            <a:off x="1142976" y="3303260"/>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7" name="Google Shape;147;p2"/>
          <p:cNvSpPr/>
          <p:nvPr/>
        </p:nvSpPr>
        <p:spPr>
          <a:xfrm>
            <a:off x="1340803" y="2147069"/>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Sistemas de Información y de Gestión de Recursos Humanos </a:t>
            </a:r>
            <a:endParaRPr b="0" i="0" sz="1400" u="none" cap="none" strike="noStrike">
              <a:solidFill>
                <a:srgbClr val="000000"/>
              </a:solidFill>
              <a:latin typeface="Arial"/>
              <a:ea typeface="Arial"/>
              <a:cs typeface="Arial"/>
              <a:sym typeface="Arial"/>
            </a:endParaRPr>
          </a:p>
        </p:txBody>
      </p:sp>
      <p:sp>
        <p:nvSpPr>
          <p:cNvPr id="148" name="Google Shape;148;p2">
            <a:hlinkClick r:id="rId7"/>
          </p:cNvPr>
          <p:cNvSpPr/>
          <p:nvPr/>
        </p:nvSpPr>
        <p:spPr>
          <a:xfrm>
            <a:off x="1142976" y="2147069"/>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49" name="Google Shape;149;p2"/>
          <p:cNvSpPr/>
          <p:nvPr/>
        </p:nvSpPr>
        <p:spPr>
          <a:xfrm>
            <a:off x="1326736" y="5067005"/>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Ausentismo</a:t>
            </a:r>
            <a:endParaRPr b="0" i="0" sz="1400" u="none" cap="none" strike="noStrike">
              <a:solidFill>
                <a:srgbClr val="000000"/>
              </a:solidFill>
              <a:latin typeface="Arial"/>
              <a:ea typeface="Arial"/>
              <a:cs typeface="Arial"/>
              <a:sym typeface="Arial"/>
            </a:endParaRPr>
          </a:p>
        </p:txBody>
      </p:sp>
      <p:sp>
        <p:nvSpPr>
          <p:cNvPr id="150" name="Google Shape;150;p2">
            <a:hlinkClick r:id="rId8"/>
          </p:cNvPr>
          <p:cNvSpPr/>
          <p:nvPr/>
        </p:nvSpPr>
        <p:spPr>
          <a:xfrm>
            <a:off x="1128909" y="5067005"/>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51" name="Google Shape;151;p2"/>
          <p:cNvSpPr/>
          <p:nvPr/>
        </p:nvSpPr>
        <p:spPr>
          <a:xfrm>
            <a:off x="1344226" y="5639128"/>
            <a:ext cx="6609900" cy="395700"/>
          </a:xfrm>
          <a:prstGeom prst="roundRect">
            <a:avLst>
              <a:gd fmla="val 16667" name="adj"/>
            </a:avLst>
          </a:prstGeom>
          <a:solidFill>
            <a:srgbClr val="D5DCFF"/>
          </a:solidFill>
          <a:ln>
            <a:noFill/>
          </a:ln>
          <a:effectLst>
            <a:outerShdw blurRad="149986" algn="ctr" dir="8460000" dist="250189">
              <a:srgbClr val="000000">
                <a:alpha val="26666"/>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Aplicaciones de People Analytics</a:t>
            </a:r>
            <a:endParaRPr b="0" i="0" sz="1660" u="none" cap="none" strike="noStrike">
              <a:solidFill>
                <a:schemeClr val="dk1"/>
              </a:solidFill>
              <a:latin typeface="Arial"/>
              <a:ea typeface="Arial"/>
              <a:cs typeface="Arial"/>
              <a:sym typeface="Arial"/>
            </a:endParaRPr>
          </a:p>
        </p:txBody>
      </p:sp>
      <p:sp>
        <p:nvSpPr>
          <p:cNvPr id="152" name="Google Shape;152;p2">
            <a:hlinkClick r:id="rId9"/>
          </p:cNvPr>
          <p:cNvSpPr/>
          <p:nvPr/>
        </p:nvSpPr>
        <p:spPr>
          <a:xfrm>
            <a:off x="1146399" y="5639128"/>
            <a:ext cx="527400" cy="395700"/>
          </a:xfrm>
          <a:prstGeom prst="ellipse">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53" name="Google Shape;153;p2"/>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Índice</a:t>
            </a:r>
            <a:endParaRPr b="1" i="0" sz="1400" u="none" cap="none" strike="noStrike">
              <a:solidFill>
                <a:srgbClr val="000000"/>
              </a:solidFill>
              <a:latin typeface="Arial"/>
              <a:ea typeface="Arial"/>
              <a:cs typeface="Arial"/>
              <a:sym typeface="Arial"/>
            </a:endParaRPr>
          </a:p>
        </p:txBody>
      </p:sp>
      <p:sp>
        <p:nvSpPr>
          <p:cNvPr id="154" name="Google Shape;154;p2"/>
          <p:cNvSpPr/>
          <p:nvPr/>
        </p:nvSpPr>
        <p:spPr>
          <a:xfrm>
            <a:off x="1340803" y="1613669"/>
            <a:ext cx="6609900" cy="395700"/>
          </a:xfrm>
          <a:prstGeom prst="roundRect">
            <a:avLst>
              <a:gd fmla="val 16667" name="adj"/>
            </a:avLst>
          </a:prstGeom>
          <a:solidFill>
            <a:srgbClr val="D5DCFF"/>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Caso</a:t>
            </a:r>
            <a:endParaRPr b="0" i="0" sz="1400" u="none" cap="none" strike="noStrike">
              <a:solidFill>
                <a:srgbClr val="000000"/>
              </a:solidFill>
              <a:latin typeface="Arial"/>
              <a:ea typeface="Arial"/>
              <a:cs typeface="Arial"/>
              <a:sym typeface="Arial"/>
            </a:endParaRPr>
          </a:p>
        </p:txBody>
      </p:sp>
      <p:sp>
        <p:nvSpPr>
          <p:cNvPr id="155" name="Google Shape;155;p2">
            <a:hlinkClick r:id="rId10"/>
          </p:cNvPr>
          <p:cNvSpPr/>
          <p:nvPr/>
        </p:nvSpPr>
        <p:spPr>
          <a:xfrm>
            <a:off x="1142976" y="1613669"/>
            <a:ext cx="5274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
        <p:nvSpPr>
          <p:cNvPr id="156" name="Google Shape;156;p2"/>
          <p:cNvSpPr/>
          <p:nvPr/>
        </p:nvSpPr>
        <p:spPr>
          <a:xfrm>
            <a:off x="1340803" y="6109469"/>
            <a:ext cx="6609900" cy="395700"/>
          </a:xfrm>
          <a:prstGeom prst="roundRect">
            <a:avLst>
              <a:gd fmla="val 16667" name="adj"/>
            </a:avLst>
          </a:prstGeom>
          <a:solidFill>
            <a:srgbClr val="D5DCFF"/>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95" lvl="0" marL="0" marR="0" rtl="0" algn="l">
              <a:lnSpc>
                <a:spcPct val="100000"/>
              </a:lnSpc>
              <a:spcBef>
                <a:spcPts val="0"/>
              </a:spcBef>
              <a:spcAft>
                <a:spcPts val="0"/>
              </a:spcAft>
              <a:buClr>
                <a:srgbClr val="000000"/>
              </a:buClr>
              <a:buSzPts val="1660"/>
              <a:buFont typeface="Arial"/>
              <a:buNone/>
            </a:pPr>
            <a:r>
              <a:rPr b="0" i="0" lang="es-AR" sz="1660" u="none" cap="none" strike="noStrike">
                <a:solidFill>
                  <a:schemeClr val="dk1"/>
                </a:solidFill>
                <a:latin typeface="Arial"/>
                <a:ea typeface="Arial"/>
                <a:cs typeface="Arial"/>
                <a:sym typeface="Arial"/>
              </a:rPr>
              <a:t>Impactos </a:t>
            </a:r>
            <a:endParaRPr b="0" i="0" sz="1400" u="none" cap="none" strike="noStrike">
              <a:solidFill>
                <a:srgbClr val="000000"/>
              </a:solidFill>
              <a:latin typeface="Arial"/>
              <a:ea typeface="Arial"/>
              <a:cs typeface="Arial"/>
              <a:sym typeface="Arial"/>
            </a:endParaRPr>
          </a:p>
        </p:txBody>
      </p:sp>
      <p:sp>
        <p:nvSpPr>
          <p:cNvPr id="157" name="Google Shape;157;p2">
            <a:hlinkClick r:id="rId11"/>
          </p:cNvPr>
          <p:cNvSpPr/>
          <p:nvPr/>
        </p:nvSpPr>
        <p:spPr>
          <a:xfrm>
            <a:off x="1142976" y="6109469"/>
            <a:ext cx="527400" cy="395700"/>
          </a:xfrm>
          <a:prstGeom prst="ellipse">
            <a:avLst/>
          </a:prstGeom>
          <a:gradFill>
            <a:gsLst>
              <a:gs pos="0">
                <a:srgbClr val="D1D1D1"/>
              </a:gs>
              <a:gs pos="50000">
                <a:srgbClr val="C7C7C7"/>
              </a:gs>
              <a:gs pos="100000">
                <a:srgbClr val="C0C0C0"/>
              </a:gs>
            </a:gsLst>
            <a:lin ang="5400012" scaled="0"/>
          </a:gradFill>
          <a:ln cap="flat" cmpd="sng" w="9525">
            <a:solidFill>
              <a:schemeClr val="accent3"/>
            </a:solidFill>
            <a:prstDash val="solid"/>
            <a:miter lim="800000"/>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chemeClr val="dk1"/>
              </a:buClr>
              <a:buSzPts val="1660"/>
              <a:buFont typeface="Calibri"/>
              <a:buNone/>
            </a:pPr>
            <a:r>
              <a:t/>
            </a:r>
            <a:endParaRPr b="0" i="0" sz="166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13830607cf0_0_4"/>
          <p:cNvSpPr txBox="1"/>
          <p:nvPr/>
        </p:nvSpPr>
        <p:spPr>
          <a:xfrm>
            <a:off x="104504" y="-23"/>
            <a:ext cx="66099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Caso</a:t>
            </a:r>
            <a:endParaRPr b="1" i="0" sz="1400" u="none" cap="none" strike="noStrike">
              <a:solidFill>
                <a:srgbClr val="000000"/>
              </a:solidFill>
              <a:latin typeface="Arial"/>
              <a:ea typeface="Arial"/>
              <a:cs typeface="Arial"/>
              <a:sym typeface="Arial"/>
            </a:endParaRPr>
          </a:p>
        </p:txBody>
      </p:sp>
      <p:pic>
        <p:nvPicPr>
          <p:cNvPr id="164" name="Google Shape;164;g13830607cf0_0_4"/>
          <p:cNvPicPr preferRelativeResize="0"/>
          <p:nvPr/>
        </p:nvPicPr>
        <p:blipFill rotWithShape="1">
          <a:blip r:embed="rId3">
            <a:alphaModFix/>
          </a:blip>
          <a:srcRect b="0" l="0" r="0" t="0"/>
          <a:stretch/>
        </p:blipFill>
        <p:spPr>
          <a:xfrm>
            <a:off x="152400" y="1249777"/>
            <a:ext cx="5041935" cy="5455825"/>
          </a:xfrm>
          <a:prstGeom prst="rect">
            <a:avLst/>
          </a:prstGeom>
          <a:noFill/>
          <a:ln>
            <a:noFill/>
          </a:ln>
        </p:spPr>
      </p:pic>
      <p:sp>
        <p:nvSpPr>
          <p:cNvPr id="165" name="Google Shape;165;g13830607cf0_0_4"/>
          <p:cNvSpPr txBox="1"/>
          <p:nvPr/>
        </p:nvSpPr>
        <p:spPr>
          <a:xfrm>
            <a:off x="5504850" y="1722200"/>
            <a:ext cx="3060000" cy="2955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4371C3"/>
                </a:solidFill>
                <a:latin typeface="Calibri"/>
                <a:ea typeface="Calibri"/>
                <a:cs typeface="Calibri"/>
                <a:sym typeface="Calibri"/>
              </a:rPr>
              <a:t>Más de una vez nos hemos cruzado con infografías como esta….</a:t>
            </a:r>
            <a:endParaRPr b="1" i="0" sz="1800" u="none" cap="none" strike="noStrike">
              <a:solidFill>
                <a:srgbClr val="4371C3"/>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4371C3"/>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4371C3"/>
                </a:solidFill>
                <a:latin typeface="Calibri"/>
                <a:ea typeface="Calibri"/>
                <a:cs typeface="Calibri"/>
                <a:sym typeface="Calibri"/>
              </a:rPr>
              <a:t>Y como llegamos a estas conclusiones es a través de indicadores…</a:t>
            </a:r>
            <a:endParaRPr b="1" i="0" sz="1800" u="none" cap="none" strike="noStrike">
              <a:solidFill>
                <a:srgbClr val="4371C3"/>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4371C3"/>
                </a:solidFill>
                <a:latin typeface="Calibri"/>
                <a:ea typeface="Calibri"/>
                <a:cs typeface="Calibri"/>
                <a:sym typeface="Calibri"/>
              </a:rPr>
              <a:t> En este ejemplo…</a:t>
            </a:r>
            <a:endParaRPr b="1" i="0" sz="1800" u="none" cap="none" strike="noStrike">
              <a:solidFill>
                <a:srgbClr val="4371C3"/>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4371C3"/>
                </a:solidFill>
                <a:latin typeface="Calibri"/>
                <a:ea typeface="Calibri"/>
                <a:cs typeface="Calibri"/>
                <a:sym typeface="Calibri"/>
              </a:rPr>
              <a:t>MOTIVOS de ALTA ROTACION De PERSONAL</a:t>
            </a:r>
            <a:endParaRPr b="1" i="0" sz="1800" u="none" cap="none" strike="noStrike">
              <a:solidFill>
                <a:srgbClr val="4371C3"/>
              </a:solidFill>
              <a:latin typeface="Calibri"/>
              <a:ea typeface="Calibri"/>
              <a:cs typeface="Calibri"/>
              <a:sym typeface="Calibri"/>
            </a:endParaRPr>
          </a:p>
        </p:txBody>
      </p:sp>
      <p:sp>
        <p:nvSpPr>
          <p:cNvPr id="166" name="Google Shape;166;g13830607cf0_0_4"/>
          <p:cNvSpPr txBox="1"/>
          <p:nvPr/>
        </p:nvSpPr>
        <p:spPr>
          <a:xfrm>
            <a:off x="5535600" y="4582250"/>
            <a:ext cx="2998500" cy="1231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s-AR" sz="1700" u="none" cap="none" strike="noStrike">
                <a:solidFill>
                  <a:srgbClr val="000000"/>
                </a:solidFill>
                <a:latin typeface="Calibri"/>
                <a:ea typeface="Calibri"/>
                <a:cs typeface="Calibri"/>
                <a:sym typeface="Calibri"/>
              </a:rPr>
              <a:t>Más allá del número, lo importante son los accionables que tenemos que hacer a partir de los números …</a:t>
            </a:r>
            <a:endParaRPr b="1" i="0" sz="1700" u="none" cap="none" strike="noStrike">
              <a:solidFill>
                <a:srgbClr val="000000"/>
              </a:solidFill>
              <a:latin typeface="Calibri"/>
              <a:ea typeface="Calibri"/>
              <a:cs typeface="Calibri"/>
              <a:sym typeface="Calibri"/>
            </a:endParaRPr>
          </a:p>
        </p:txBody>
      </p:sp>
      <p:sp>
        <p:nvSpPr>
          <p:cNvPr id="167" name="Google Shape;167;g13830607cf0_0_4"/>
          <p:cNvSpPr txBox="1"/>
          <p:nvPr/>
        </p:nvSpPr>
        <p:spPr>
          <a:xfrm>
            <a:off x="1012600" y="3505200"/>
            <a:ext cx="6459300" cy="1385400"/>
          </a:xfrm>
          <a:prstGeom prst="rect">
            <a:avLst/>
          </a:prstGeom>
          <a:solidFill>
            <a:schemeClr val="dk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es-AR" sz="3900" u="none" cap="none" strike="noStrike">
                <a:solidFill>
                  <a:srgbClr val="FF0000"/>
                </a:solidFill>
                <a:latin typeface="Calibri"/>
                <a:ea typeface="Calibri"/>
                <a:cs typeface="Calibri"/>
                <a:sym typeface="Calibri"/>
              </a:rPr>
              <a:t>"Todo lo que se mide se puede gestionar"</a:t>
            </a:r>
            <a:endParaRPr b="1" i="0" sz="36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HRIS y HRMS</a:t>
            </a:r>
            <a:endParaRPr b="1" i="0" sz="1400" u="none" cap="none" strike="noStrike">
              <a:solidFill>
                <a:srgbClr val="000000"/>
              </a:solidFill>
              <a:latin typeface="Arial"/>
              <a:ea typeface="Arial"/>
              <a:cs typeface="Arial"/>
              <a:sym typeface="Arial"/>
            </a:endParaRPr>
          </a:p>
        </p:txBody>
      </p:sp>
      <p:sp>
        <p:nvSpPr>
          <p:cNvPr id="174" name="Google Shape;174;p3"/>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75" name="Google Shape;175;p3"/>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76" name="Google Shape;176;p3"/>
          <p:cNvSpPr/>
          <p:nvPr/>
        </p:nvSpPr>
        <p:spPr>
          <a:xfrm>
            <a:off x="344805" y="1499870"/>
            <a:ext cx="845058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177" name="Google Shape;177;p3"/>
          <p:cNvGrpSpPr/>
          <p:nvPr/>
        </p:nvGrpSpPr>
        <p:grpSpPr>
          <a:xfrm>
            <a:off x="348615" y="1419860"/>
            <a:ext cx="3766185" cy="89535"/>
            <a:chOff x="2777964" y="2773531"/>
            <a:chExt cx="4544181" cy="89539"/>
          </a:xfrm>
        </p:grpSpPr>
        <p:sp>
          <p:nvSpPr>
            <p:cNvPr id="178" name="Google Shape;178;p3"/>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3"/>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3"/>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3"/>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3"/>
          <p:cNvSpPr/>
          <p:nvPr/>
        </p:nvSpPr>
        <p:spPr>
          <a:xfrm>
            <a:off x="738822" y="2674054"/>
            <a:ext cx="7440902" cy="2780248"/>
          </a:xfrm>
          <a:prstGeom prst="rect">
            <a:avLst/>
          </a:prstGeom>
          <a:noFill/>
          <a:ln>
            <a:noFill/>
          </a:ln>
        </p:spPr>
        <p:txBody>
          <a:bodyPr anchorCtr="0" anchor="t" bIns="0" lIns="0" spcFirstLastPara="1" rIns="0" wrap="square" tIns="0">
            <a:spAutoFit/>
          </a:bodyPr>
          <a:lstStyle/>
          <a:p>
            <a:pPr indent="-184150" lvl="2" marL="285750" marR="0" rtl="0" algn="l">
              <a:lnSpc>
                <a:spcPct val="150000"/>
              </a:lnSpc>
              <a:spcBef>
                <a:spcPts val="0"/>
              </a:spcBef>
              <a:spcAft>
                <a:spcPts val="0"/>
              </a:spcAft>
              <a:buClr>
                <a:srgbClr val="F0AB00"/>
              </a:buClr>
              <a:buSzPts val="1600"/>
              <a:buFont typeface="Arial"/>
              <a:buNone/>
            </a:pPr>
            <a:r>
              <a:t/>
            </a:r>
            <a:endParaRPr b="1" i="0" sz="1600" u="none" cap="none" strike="noStrike">
              <a:solidFill>
                <a:schemeClr val="accent1"/>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Objetivos: </a:t>
            </a:r>
            <a:r>
              <a:rPr b="0" i="0" lang="es-AR" sz="1800" u="none" cap="none" strike="noStrike">
                <a:solidFill>
                  <a:schemeClr val="dk1"/>
                </a:solidFill>
                <a:latin typeface="Arial"/>
                <a:ea typeface="Arial"/>
                <a:cs typeface="Arial"/>
                <a:sym typeface="Arial"/>
              </a:rPr>
              <a:t>Recolectar y almacenar datos y automatizar diversos procesos de la gestión de los recursos humanos mediante el uso de un software específico.</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s-AR" sz="1800" u="none" cap="none" strike="noStrike">
                <a:solidFill>
                  <a:schemeClr val="dk1"/>
                </a:solidFill>
                <a:latin typeface="Arial"/>
                <a:ea typeface="Arial"/>
                <a:cs typeface="Arial"/>
                <a:sym typeface="Arial"/>
              </a:rPr>
              <a:t>Ejemplos: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3" name="Google Shape;183;p3"/>
          <p:cNvSpPr/>
          <p:nvPr/>
        </p:nvSpPr>
        <p:spPr>
          <a:xfrm>
            <a:off x="607695" y="365379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84" name="Google Shape;184;p3"/>
          <p:cNvSpPr/>
          <p:nvPr/>
        </p:nvSpPr>
        <p:spPr>
          <a:xfrm>
            <a:off x="721995" y="3850738"/>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85" name="Google Shape;185;p3"/>
          <p:cNvSpPr/>
          <p:nvPr/>
        </p:nvSpPr>
        <p:spPr>
          <a:xfrm>
            <a:off x="728344" y="1777365"/>
            <a:ext cx="7814945" cy="103951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Sistemas de Información y de Gestión de Recursos Humanos (HRIS y HRMS) </a:t>
            </a:r>
            <a:endParaRPr b="0" i="0" sz="1400" u="none" cap="none" strike="noStrike">
              <a:solidFill>
                <a:srgbClr val="000000"/>
              </a:solidFill>
              <a:latin typeface="Arial"/>
              <a:ea typeface="Arial"/>
              <a:cs typeface="Arial"/>
              <a:sym typeface="Arial"/>
            </a:endParaRPr>
          </a:p>
        </p:txBody>
      </p:sp>
      <p:pic>
        <p:nvPicPr>
          <p:cNvPr id="186" name="Google Shape;186;p3"/>
          <p:cNvPicPr preferRelativeResize="0"/>
          <p:nvPr/>
        </p:nvPicPr>
        <p:blipFill rotWithShape="1">
          <a:blip r:embed="rId3">
            <a:alphaModFix/>
          </a:blip>
          <a:srcRect b="0" l="0" r="0" t="0"/>
          <a:stretch/>
        </p:blipFill>
        <p:spPr>
          <a:xfrm>
            <a:off x="690069" y="5410352"/>
            <a:ext cx="2926813" cy="418116"/>
          </a:xfrm>
          <a:prstGeom prst="rect">
            <a:avLst/>
          </a:prstGeom>
          <a:noFill/>
          <a:ln>
            <a:noFill/>
          </a:ln>
        </p:spPr>
      </p:pic>
      <p:pic>
        <p:nvPicPr>
          <p:cNvPr id="187" name="Google Shape;187;p3"/>
          <p:cNvPicPr preferRelativeResize="0"/>
          <p:nvPr/>
        </p:nvPicPr>
        <p:blipFill rotWithShape="1">
          <a:blip r:embed="rId4">
            <a:alphaModFix/>
          </a:blip>
          <a:srcRect b="0" l="0" r="0" t="0"/>
          <a:stretch/>
        </p:blipFill>
        <p:spPr>
          <a:xfrm>
            <a:off x="6175101" y="5082622"/>
            <a:ext cx="1771897" cy="981212"/>
          </a:xfrm>
          <a:prstGeom prst="rect">
            <a:avLst/>
          </a:prstGeom>
          <a:noFill/>
          <a:ln>
            <a:noFill/>
          </a:ln>
        </p:spPr>
      </p:pic>
      <p:pic>
        <p:nvPicPr>
          <p:cNvPr id="188" name="Google Shape;188;p3"/>
          <p:cNvPicPr preferRelativeResize="0"/>
          <p:nvPr/>
        </p:nvPicPr>
        <p:blipFill rotWithShape="1">
          <a:blip r:embed="rId5">
            <a:alphaModFix/>
          </a:blip>
          <a:srcRect b="0" l="0" r="0" t="0"/>
          <a:stretch/>
        </p:blipFill>
        <p:spPr>
          <a:xfrm>
            <a:off x="4010899" y="5177885"/>
            <a:ext cx="1724266" cy="885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HRIS y HRMS</a:t>
            </a:r>
            <a:endParaRPr b="1" i="0" sz="1400" u="none" cap="none" strike="noStrike">
              <a:solidFill>
                <a:srgbClr val="000000"/>
              </a:solidFill>
              <a:latin typeface="Arial"/>
              <a:ea typeface="Arial"/>
              <a:cs typeface="Arial"/>
              <a:sym typeface="Arial"/>
            </a:endParaRPr>
          </a:p>
        </p:txBody>
      </p:sp>
      <p:sp>
        <p:nvSpPr>
          <p:cNvPr id="195" name="Google Shape;195;p4"/>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96" name="Google Shape;196;p4"/>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197" name="Google Shape;197;p4"/>
          <p:cNvSpPr/>
          <p:nvPr/>
        </p:nvSpPr>
        <p:spPr>
          <a:xfrm>
            <a:off x="344805" y="1499870"/>
            <a:ext cx="797179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198" name="Google Shape;198;p4"/>
          <p:cNvGrpSpPr/>
          <p:nvPr/>
        </p:nvGrpSpPr>
        <p:grpSpPr>
          <a:xfrm>
            <a:off x="348615" y="1419860"/>
            <a:ext cx="3766185" cy="89535"/>
            <a:chOff x="2777964" y="2773531"/>
            <a:chExt cx="4544181" cy="89539"/>
          </a:xfrm>
        </p:grpSpPr>
        <p:sp>
          <p:nvSpPr>
            <p:cNvPr id="199" name="Google Shape;199;p4"/>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4"/>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4"/>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4"/>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4"/>
          <p:cNvSpPr/>
          <p:nvPr/>
        </p:nvSpPr>
        <p:spPr>
          <a:xfrm>
            <a:off x="728344" y="1777365"/>
            <a:ext cx="7814945" cy="48551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Áreas de aplicación de los HRIS</a:t>
            </a:r>
            <a:endParaRPr b="0" i="0" sz="1400" u="none" cap="none" strike="noStrike">
              <a:solidFill>
                <a:srgbClr val="000000"/>
              </a:solidFill>
              <a:latin typeface="Arial"/>
              <a:ea typeface="Arial"/>
              <a:cs typeface="Arial"/>
              <a:sym typeface="Arial"/>
            </a:endParaRPr>
          </a:p>
        </p:txBody>
      </p:sp>
      <p:grpSp>
        <p:nvGrpSpPr>
          <p:cNvPr id="204" name="Google Shape;204;p4"/>
          <p:cNvGrpSpPr/>
          <p:nvPr/>
        </p:nvGrpSpPr>
        <p:grpSpPr>
          <a:xfrm>
            <a:off x="721996" y="2560927"/>
            <a:ext cx="6792710" cy="3440520"/>
            <a:chOff x="0" y="30074"/>
            <a:chExt cx="6792710" cy="3440520"/>
          </a:xfrm>
        </p:grpSpPr>
        <p:sp>
          <p:nvSpPr>
            <p:cNvPr id="205" name="Google Shape;205;p4"/>
            <p:cNvSpPr/>
            <p:nvPr/>
          </p:nvSpPr>
          <p:spPr>
            <a:xfrm>
              <a:off x="0" y="30074"/>
              <a:ext cx="6792710" cy="44460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
            <p:cNvSpPr txBox="1"/>
            <p:nvPr/>
          </p:nvSpPr>
          <p:spPr>
            <a:xfrm>
              <a:off x="21704" y="5177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Gestión de la información de los empleados</a:t>
              </a:r>
              <a:endParaRPr b="1" i="0" sz="1900" u="none" cap="none" strike="noStrike">
                <a:solidFill>
                  <a:schemeClr val="lt1"/>
                </a:solidFill>
                <a:latin typeface="Arial"/>
                <a:ea typeface="Arial"/>
                <a:cs typeface="Arial"/>
                <a:sym typeface="Arial"/>
              </a:endParaRPr>
            </a:p>
          </p:txBody>
        </p:sp>
        <p:sp>
          <p:nvSpPr>
            <p:cNvPr id="207" name="Google Shape;207;p4"/>
            <p:cNvSpPr/>
            <p:nvPr/>
          </p:nvSpPr>
          <p:spPr>
            <a:xfrm>
              <a:off x="0" y="529394"/>
              <a:ext cx="6792710" cy="444600"/>
            </a:xfrm>
            <a:prstGeom prst="roundRect">
              <a:avLst>
                <a:gd fmla="val 16667" name="adj"/>
              </a:avLst>
            </a:prstGeom>
            <a:solidFill>
              <a:srgbClr val="439AB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
            <p:cNvSpPr txBox="1"/>
            <p:nvPr/>
          </p:nvSpPr>
          <p:spPr>
            <a:xfrm>
              <a:off x="21704" y="55109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Selección (ATS: Sistema de seguimiento de postulantes)</a:t>
              </a:r>
              <a:endParaRPr b="1" i="0" sz="1900" u="none" cap="none" strike="noStrike">
                <a:solidFill>
                  <a:schemeClr val="lt1"/>
                </a:solidFill>
                <a:latin typeface="Arial"/>
                <a:ea typeface="Arial"/>
                <a:cs typeface="Arial"/>
                <a:sym typeface="Arial"/>
              </a:endParaRPr>
            </a:p>
          </p:txBody>
        </p:sp>
        <p:sp>
          <p:nvSpPr>
            <p:cNvPr id="209" name="Google Shape;209;p4"/>
            <p:cNvSpPr/>
            <p:nvPr/>
          </p:nvSpPr>
          <p:spPr>
            <a:xfrm>
              <a:off x="0" y="1028714"/>
              <a:ext cx="6792710" cy="444600"/>
            </a:xfrm>
            <a:prstGeom prst="roundRect">
              <a:avLst>
                <a:gd fmla="val 16667" name="adj"/>
              </a:avLst>
            </a:prstGeom>
            <a:solidFill>
              <a:srgbClr val="43BCB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
            <p:cNvSpPr txBox="1"/>
            <p:nvPr/>
          </p:nvSpPr>
          <p:spPr>
            <a:xfrm>
              <a:off x="21704" y="105041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Administración de Compensaciones y Beneficios</a:t>
              </a:r>
              <a:endParaRPr b="1" i="0" sz="1900" u="none" cap="none" strike="noStrike">
                <a:solidFill>
                  <a:schemeClr val="lt1"/>
                </a:solidFill>
                <a:latin typeface="Arial"/>
                <a:ea typeface="Arial"/>
                <a:cs typeface="Arial"/>
                <a:sym typeface="Arial"/>
              </a:endParaRPr>
            </a:p>
          </p:txBody>
        </p:sp>
        <p:sp>
          <p:nvSpPr>
            <p:cNvPr id="211" name="Google Shape;211;p4"/>
            <p:cNvSpPr/>
            <p:nvPr/>
          </p:nvSpPr>
          <p:spPr>
            <a:xfrm>
              <a:off x="0" y="1528034"/>
              <a:ext cx="6792710" cy="444600"/>
            </a:xfrm>
            <a:prstGeom prst="roundRect">
              <a:avLst>
                <a:gd fmla="val 16667" name="adj"/>
              </a:avLst>
            </a:prstGeom>
            <a:solidFill>
              <a:srgbClr val="44B78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
            <p:cNvSpPr txBox="1"/>
            <p:nvPr/>
          </p:nvSpPr>
          <p:spPr>
            <a:xfrm>
              <a:off x="21704" y="154973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Gestión de Tiempo y Asistencia</a:t>
              </a:r>
              <a:endParaRPr b="1" i="0" sz="1900" u="none" cap="none" strike="noStrike">
                <a:solidFill>
                  <a:schemeClr val="lt1"/>
                </a:solidFill>
                <a:latin typeface="Arial"/>
                <a:ea typeface="Arial"/>
                <a:cs typeface="Arial"/>
                <a:sym typeface="Arial"/>
              </a:endParaRPr>
            </a:p>
          </p:txBody>
        </p:sp>
        <p:sp>
          <p:nvSpPr>
            <p:cNvPr id="213" name="Google Shape;213;p4"/>
            <p:cNvSpPr/>
            <p:nvPr/>
          </p:nvSpPr>
          <p:spPr>
            <a:xfrm>
              <a:off x="0" y="2027354"/>
              <a:ext cx="6792710" cy="444600"/>
            </a:xfrm>
            <a:prstGeom prst="roundRect">
              <a:avLst>
                <a:gd fmla="val 16667" name="adj"/>
              </a:avLst>
            </a:prstGeom>
            <a:solidFill>
              <a:srgbClr val="45B36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
            <p:cNvSpPr txBox="1"/>
            <p:nvPr/>
          </p:nvSpPr>
          <p:spPr>
            <a:xfrm>
              <a:off x="21704" y="204905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Gestión del Desempeño</a:t>
              </a:r>
              <a:endParaRPr b="1" i="0" sz="1900" u="none" cap="none" strike="noStrike">
                <a:solidFill>
                  <a:schemeClr val="lt1"/>
                </a:solidFill>
                <a:latin typeface="Arial"/>
                <a:ea typeface="Arial"/>
                <a:cs typeface="Arial"/>
                <a:sym typeface="Arial"/>
              </a:endParaRPr>
            </a:p>
          </p:txBody>
        </p:sp>
        <p:sp>
          <p:nvSpPr>
            <p:cNvPr id="215" name="Google Shape;215;p4"/>
            <p:cNvSpPr/>
            <p:nvPr/>
          </p:nvSpPr>
          <p:spPr>
            <a:xfrm>
              <a:off x="0" y="2526674"/>
              <a:ext cx="6792710" cy="444600"/>
            </a:xfrm>
            <a:prstGeom prst="roundRect">
              <a:avLst>
                <a:gd fmla="val 16667" name="adj"/>
              </a:avLst>
            </a:prstGeom>
            <a:solidFill>
              <a:srgbClr val="4CAF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txBox="1"/>
            <p:nvPr/>
          </p:nvSpPr>
          <p:spPr>
            <a:xfrm>
              <a:off x="21704" y="254837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Plataformas de e-learning</a:t>
              </a:r>
              <a:endParaRPr b="1" i="0" sz="1900" u="none" cap="none" strike="noStrike">
                <a:solidFill>
                  <a:schemeClr val="lt1"/>
                </a:solidFill>
                <a:latin typeface="Arial"/>
                <a:ea typeface="Arial"/>
                <a:cs typeface="Arial"/>
                <a:sym typeface="Arial"/>
              </a:endParaRPr>
            </a:p>
          </p:txBody>
        </p:sp>
        <p:sp>
          <p:nvSpPr>
            <p:cNvPr id="217" name="Google Shape;217;p4"/>
            <p:cNvSpPr/>
            <p:nvPr/>
          </p:nvSpPr>
          <p:spPr>
            <a:xfrm>
              <a:off x="0" y="3025994"/>
              <a:ext cx="6792710" cy="444600"/>
            </a:xfrm>
            <a:prstGeom prst="roundRect">
              <a:avLst>
                <a:gd fmla="val 16667" name="adj"/>
              </a:avLst>
            </a:prstGeom>
            <a:solidFill>
              <a:srgbClr val="6FAA47"/>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txBox="1"/>
            <p:nvPr/>
          </p:nvSpPr>
          <p:spPr>
            <a:xfrm>
              <a:off x="21704" y="3047698"/>
              <a:ext cx="6749302"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Arial"/>
                <a:buNone/>
              </a:pPr>
              <a:r>
                <a:rPr b="1" i="0" lang="es-AR" sz="1900" u="none" cap="none" strike="noStrike">
                  <a:solidFill>
                    <a:schemeClr val="lt1"/>
                  </a:solidFill>
                  <a:latin typeface="Arial"/>
                  <a:ea typeface="Arial"/>
                  <a:cs typeface="Arial"/>
                  <a:sym typeface="Arial"/>
                </a:rPr>
                <a:t>Liquidación de Sueldos</a:t>
              </a:r>
              <a:endParaRPr b="1" i="0" sz="1900" u="none" cap="none" strike="noStrike">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5"/>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People Analytics</a:t>
            </a:r>
            <a:endParaRPr b="1" i="0" sz="2400" u="none" cap="none" strike="noStrike">
              <a:solidFill>
                <a:srgbClr val="3A3838"/>
              </a:solidFill>
              <a:latin typeface="Arial"/>
              <a:ea typeface="Arial"/>
              <a:cs typeface="Arial"/>
              <a:sym typeface="Arial"/>
            </a:endParaRPr>
          </a:p>
        </p:txBody>
      </p:sp>
      <p:sp>
        <p:nvSpPr>
          <p:cNvPr id="225" name="Google Shape;225;p5"/>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26" name="Google Shape;226;p5"/>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27" name="Google Shape;227;p5"/>
          <p:cNvSpPr/>
          <p:nvPr/>
        </p:nvSpPr>
        <p:spPr>
          <a:xfrm>
            <a:off x="344805" y="1499870"/>
            <a:ext cx="845058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28" name="Google Shape;228;p5"/>
          <p:cNvGrpSpPr/>
          <p:nvPr/>
        </p:nvGrpSpPr>
        <p:grpSpPr>
          <a:xfrm>
            <a:off x="348615" y="1419860"/>
            <a:ext cx="3766185" cy="89535"/>
            <a:chOff x="2777964" y="2773531"/>
            <a:chExt cx="4544181" cy="89539"/>
          </a:xfrm>
        </p:grpSpPr>
        <p:sp>
          <p:nvSpPr>
            <p:cNvPr id="229" name="Google Shape;229;p5"/>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5"/>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5"/>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5"/>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3" name="Google Shape;233;p5"/>
          <p:cNvSpPr/>
          <p:nvPr/>
        </p:nvSpPr>
        <p:spPr>
          <a:xfrm>
            <a:off x="728344" y="1777365"/>
            <a:ext cx="7814945" cy="48551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People Analytics: ¿Qué es?</a:t>
            </a:r>
            <a:endParaRPr b="0" i="0" sz="1400" u="none" cap="none" strike="noStrike">
              <a:solidFill>
                <a:srgbClr val="000000"/>
              </a:solidFill>
              <a:latin typeface="Arial"/>
              <a:ea typeface="Arial"/>
              <a:cs typeface="Arial"/>
              <a:sym typeface="Arial"/>
            </a:endParaRPr>
          </a:p>
        </p:txBody>
      </p:sp>
      <p:pic>
        <p:nvPicPr>
          <p:cNvPr id="234" name="Google Shape;234;p5"/>
          <p:cNvPicPr preferRelativeResize="0"/>
          <p:nvPr/>
        </p:nvPicPr>
        <p:blipFill rotWithShape="1">
          <a:blip r:embed="rId3">
            <a:alphaModFix/>
          </a:blip>
          <a:srcRect b="0" l="0" r="0" t="0"/>
          <a:stretch/>
        </p:blipFill>
        <p:spPr>
          <a:xfrm>
            <a:off x="4784164" y="4893852"/>
            <a:ext cx="3471516" cy="1570909"/>
          </a:xfrm>
          <a:prstGeom prst="rect">
            <a:avLst/>
          </a:prstGeom>
          <a:noFill/>
          <a:ln>
            <a:noFill/>
          </a:ln>
        </p:spPr>
      </p:pic>
      <p:sp>
        <p:nvSpPr>
          <p:cNvPr id="235" name="Google Shape;235;p5"/>
          <p:cNvSpPr/>
          <p:nvPr/>
        </p:nvSpPr>
        <p:spPr>
          <a:xfrm>
            <a:off x="738822" y="2507802"/>
            <a:ext cx="7814945" cy="3164969"/>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Analytics</a:t>
            </a:r>
            <a:r>
              <a:rPr b="0" i="0" lang="es-AR" sz="1800" u="none" cap="none" strike="noStrike">
                <a:solidFill>
                  <a:schemeClr val="dk1"/>
                </a:solidFill>
                <a:latin typeface="Arial"/>
                <a:ea typeface="Arial"/>
                <a:cs typeface="Arial"/>
                <a:sym typeface="Arial"/>
              </a:rPr>
              <a:t> comprende el descubrimiento y comunicación de patrones significativos en grandes conjuntos de datos.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s-AR" sz="1800" u="none" cap="none" strike="noStrike">
                <a:solidFill>
                  <a:schemeClr val="dk1"/>
                </a:solidFill>
                <a:latin typeface="Arial"/>
                <a:ea typeface="Arial"/>
                <a:cs typeface="Arial"/>
                <a:sym typeface="Arial"/>
              </a:rPr>
              <a:t>Más específicamente, </a:t>
            </a:r>
            <a:r>
              <a:rPr b="1" i="0" lang="es-AR" sz="1800" u="none" cap="none" strike="noStrike">
                <a:solidFill>
                  <a:schemeClr val="dk1"/>
                </a:solidFill>
                <a:latin typeface="Arial"/>
                <a:ea typeface="Arial"/>
                <a:cs typeface="Arial"/>
                <a:sym typeface="Arial"/>
              </a:rPr>
              <a:t>People Analytics </a:t>
            </a:r>
            <a:r>
              <a:rPr b="0" i="0" lang="es-AR" sz="1800" u="none" cap="none" strike="noStrike">
                <a:solidFill>
                  <a:schemeClr val="dk1"/>
                </a:solidFill>
                <a:latin typeface="Arial"/>
                <a:ea typeface="Arial"/>
                <a:cs typeface="Arial"/>
                <a:sym typeface="Arial"/>
              </a:rPr>
              <a:t>es una metodología científica que nos permite hacer uso de los datos disponibles en las organizaciones con el objetivo de resolver un problema de negocio desde la perspectiva de la gestión de personas.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People Analytics</a:t>
            </a:r>
            <a:endParaRPr b="1" i="0" sz="2400" u="none" cap="none" strike="noStrike">
              <a:solidFill>
                <a:srgbClr val="3A3838"/>
              </a:solidFill>
              <a:latin typeface="Arial"/>
              <a:ea typeface="Arial"/>
              <a:cs typeface="Arial"/>
              <a:sym typeface="Arial"/>
            </a:endParaRPr>
          </a:p>
        </p:txBody>
      </p:sp>
      <p:pic>
        <p:nvPicPr>
          <p:cNvPr id="242" name="Google Shape;242;p36"/>
          <p:cNvPicPr preferRelativeResize="0"/>
          <p:nvPr/>
        </p:nvPicPr>
        <p:blipFill rotWithShape="1">
          <a:blip r:embed="rId3">
            <a:alphaModFix/>
          </a:blip>
          <a:srcRect b="0" l="0" r="0" t="0"/>
          <a:stretch/>
        </p:blipFill>
        <p:spPr>
          <a:xfrm>
            <a:off x="685800" y="1814905"/>
            <a:ext cx="7772400" cy="32281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People Analytics</a:t>
            </a:r>
            <a:endParaRPr b="1" i="0" sz="2400" u="none" cap="none" strike="noStrike">
              <a:solidFill>
                <a:srgbClr val="3A3838"/>
              </a:solidFill>
              <a:latin typeface="Arial"/>
              <a:ea typeface="Arial"/>
              <a:cs typeface="Arial"/>
              <a:sym typeface="Arial"/>
            </a:endParaRPr>
          </a:p>
        </p:txBody>
      </p:sp>
      <p:sp>
        <p:nvSpPr>
          <p:cNvPr id="249" name="Google Shape;249;p6"/>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50" name="Google Shape;250;p6"/>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51" name="Google Shape;251;p6"/>
          <p:cNvSpPr/>
          <p:nvPr/>
        </p:nvSpPr>
        <p:spPr>
          <a:xfrm>
            <a:off x="344805" y="1499870"/>
            <a:ext cx="845058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52" name="Google Shape;252;p6"/>
          <p:cNvGrpSpPr/>
          <p:nvPr/>
        </p:nvGrpSpPr>
        <p:grpSpPr>
          <a:xfrm>
            <a:off x="348615" y="1419860"/>
            <a:ext cx="3766185" cy="89535"/>
            <a:chOff x="2777964" y="2773531"/>
            <a:chExt cx="4544181" cy="89539"/>
          </a:xfrm>
        </p:grpSpPr>
        <p:sp>
          <p:nvSpPr>
            <p:cNvPr id="253" name="Google Shape;253;p6"/>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6"/>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6"/>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6"/>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6"/>
          <p:cNvSpPr/>
          <p:nvPr/>
        </p:nvSpPr>
        <p:spPr>
          <a:xfrm>
            <a:off x="728344" y="1777365"/>
            <a:ext cx="7814945" cy="48551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¿Por qué People Analytics?</a:t>
            </a:r>
            <a:endParaRPr b="0" i="0" sz="1400" u="none" cap="none" strike="noStrike">
              <a:solidFill>
                <a:srgbClr val="000000"/>
              </a:solidFill>
              <a:latin typeface="Arial"/>
              <a:ea typeface="Arial"/>
              <a:cs typeface="Arial"/>
              <a:sym typeface="Arial"/>
            </a:endParaRPr>
          </a:p>
        </p:txBody>
      </p:sp>
      <p:grpSp>
        <p:nvGrpSpPr>
          <p:cNvPr id="258" name="Google Shape;258;p6"/>
          <p:cNvGrpSpPr/>
          <p:nvPr/>
        </p:nvGrpSpPr>
        <p:grpSpPr>
          <a:xfrm>
            <a:off x="2404497" y="2315339"/>
            <a:ext cx="4335004" cy="4091606"/>
            <a:chOff x="174264" y="52456"/>
            <a:chExt cx="4335004" cy="4091606"/>
          </a:xfrm>
        </p:grpSpPr>
        <p:sp>
          <p:nvSpPr>
            <p:cNvPr id="259" name="Google Shape;259;p6"/>
            <p:cNvSpPr/>
            <p:nvPr/>
          </p:nvSpPr>
          <p:spPr>
            <a:xfrm>
              <a:off x="1082811" y="52456"/>
              <a:ext cx="2517911" cy="2517911"/>
            </a:xfrm>
            <a:prstGeom prst="ellipse">
              <a:avLst/>
            </a:prstGeom>
            <a:gradFill>
              <a:gsLst>
                <a:gs pos="0">
                  <a:srgbClr val="A6B6DE">
                    <a:alpha val="49019"/>
                  </a:srgbClr>
                </a:gs>
                <a:gs pos="50000">
                  <a:srgbClr val="97AAD8">
                    <a:alpha val="49019"/>
                  </a:srgbClr>
                </a:gs>
                <a:gs pos="100000">
                  <a:srgbClr val="859CD6">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6"/>
            <p:cNvSpPr txBox="1"/>
            <p:nvPr/>
          </p:nvSpPr>
          <p:spPr>
            <a:xfrm>
              <a:off x="1418532" y="493090"/>
              <a:ext cx="1846468" cy="113306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100"/>
                <a:buFont typeface="Calibri"/>
                <a:buNone/>
              </a:pPr>
              <a:r>
                <a:rPr b="1" i="0" lang="es-AR" sz="3100" u="none" cap="none" strike="noStrike">
                  <a:solidFill>
                    <a:schemeClr val="dk1"/>
                  </a:solidFill>
                  <a:latin typeface="Calibri"/>
                  <a:ea typeface="Calibri"/>
                  <a:cs typeface="Calibri"/>
                  <a:sym typeface="Calibri"/>
                </a:rPr>
                <a:t>Tecnología</a:t>
              </a:r>
              <a:endParaRPr b="1" i="0" sz="3100" u="none" cap="none" strike="noStrike">
                <a:solidFill>
                  <a:schemeClr val="dk1"/>
                </a:solidFill>
                <a:latin typeface="Calibri"/>
                <a:ea typeface="Calibri"/>
                <a:cs typeface="Calibri"/>
                <a:sym typeface="Calibri"/>
              </a:endParaRPr>
            </a:p>
          </p:txBody>
        </p:sp>
        <p:sp>
          <p:nvSpPr>
            <p:cNvPr id="261" name="Google Shape;261;p6"/>
            <p:cNvSpPr/>
            <p:nvPr/>
          </p:nvSpPr>
          <p:spPr>
            <a:xfrm>
              <a:off x="1991357" y="1626151"/>
              <a:ext cx="2517911" cy="2517911"/>
            </a:xfrm>
            <a:prstGeom prst="ellipse">
              <a:avLst/>
            </a:prstGeom>
            <a:gradFill>
              <a:gsLst>
                <a:gs pos="0">
                  <a:srgbClr val="A5D8C1">
                    <a:alpha val="49019"/>
                  </a:srgbClr>
                </a:gs>
                <a:gs pos="50000">
                  <a:srgbClr val="97D1B7">
                    <a:alpha val="49019"/>
                  </a:srgbClr>
                </a:gs>
                <a:gs pos="100000">
                  <a:srgbClr val="84CFAE">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6"/>
            <p:cNvSpPr txBox="1"/>
            <p:nvPr/>
          </p:nvSpPr>
          <p:spPr>
            <a:xfrm>
              <a:off x="2761418" y="2276611"/>
              <a:ext cx="1510746" cy="138485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100"/>
                <a:buFont typeface="Calibri"/>
                <a:buNone/>
              </a:pPr>
              <a:r>
                <a:rPr b="1" i="0" lang="es-AR" sz="3100" u="none" cap="none" strike="noStrike">
                  <a:solidFill>
                    <a:schemeClr val="dk1"/>
                  </a:solidFill>
                  <a:latin typeface="Calibri"/>
                  <a:ea typeface="Calibri"/>
                  <a:cs typeface="Calibri"/>
                  <a:sym typeface="Calibri"/>
                </a:rPr>
                <a:t>Negocio</a:t>
              </a:r>
              <a:endParaRPr b="1" i="0" sz="3100" u="none" cap="none" strike="noStrike">
                <a:solidFill>
                  <a:schemeClr val="dk1"/>
                </a:solidFill>
                <a:latin typeface="Calibri"/>
                <a:ea typeface="Calibri"/>
                <a:cs typeface="Calibri"/>
                <a:sym typeface="Calibri"/>
              </a:endParaRPr>
            </a:p>
          </p:txBody>
        </p:sp>
        <p:sp>
          <p:nvSpPr>
            <p:cNvPr id="263" name="Google Shape;263;p6"/>
            <p:cNvSpPr/>
            <p:nvPr/>
          </p:nvSpPr>
          <p:spPr>
            <a:xfrm>
              <a:off x="174264" y="1626151"/>
              <a:ext cx="2517911" cy="2517911"/>
            </a:xfrm>
            <a:prstGeom prst="ellipse">
              <a:avLst/>
            </a:prstGeom>
            <a:gradFill>
              <a:gsLst>
                <a:gs pos="0">
                  <a:srgbClr val="B3D3A4">
                    <a:alpha val="49019"/>
                  </a:srgbClr>
                </a:gs>
                <a:gs pos="50000">
                  <a:srgbClr val="A7CB97">
                    <a:alpha val="49019"/>
                  </a:srgbClr>
                </a:gs>
                <a:gs pos="100000">
                  <a:srgbClr val="9AC684">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6"/>
            <p:cNvSpPr txBox="1"/>
            <p:nvPr/>
          </p:nvSpPr>
          <p:spPr>
            <a:xfrm>
              <a:off x="411368" y="2276611"/>
              <a:ext cx="1510746" cy="138485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100"/>
                <a:buFont typeface="Calibri"/>
                <a:buNone/>
              </a:pPr>
              <a:r>
                <a:rPr b="1" i="0" lang="es-AR" sz="3100" u="none" cap="none" strike="noStrike">
                  <a:solidFill>
                    <a:schemeClr val="dk1"/>
                  </a:solidFill>
                  <a:latin typeface="Calibri"/>
                  <a:ea typeface="Calibri"/>
                  <a:cs typeface="Calibri"/>
                  <a:sym typeface="Calibri"/>
                </a:rPr>
                <a:t>Personas</a:t>
              </a:r>
              <a:endParaRPr b="1" i="0" sz="3100" u="none" cap="none" strike="noStrike">
                <a:solidFill>
                  <a:schemeClr val="dk1"/>
                </a:solidFill>
                <a:latin typeface="Calibri"/>
                <a:ea typeface="Calibri"/>
                <a:cs typeface="Calibri"/>
                <a:sym typeface="Calibri"/>
              </a:endParaRPr>
            </a:p>
          </p:txBody>
        </p:sp>
      </p:grpSp>
      <p:sp>
        <p:nvSpPr>
          <p:cNvPr id="265" name="Google Shape;265;p6"/>
          <p:cNvSpPr/>
          <p:nvPr/>
        </p:nvSpPr>
        <p:spPr>
          <a:xfrm>
            <a:off x="4108828" y="4294237"/>
            <a:ext cx="92634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AR" sz="3600" u="none" cap="none" strike="noStrike">
                <a:solidFill>
                  <a:schemeClr val="accent5"/>
                </a:solidFill>
                <a:latin typeface="Calibri"/>
                <a:ea typeface="Calibri"/>
                <a:cs typeface="Calibri"/>
                <a:sym typeface="Calibri"/>
              </a:rPr>
              <a:t>PA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7"/>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Definición: People Analytics</a:t>
            </a:r>
            <a:endParaRPr b="1" i="0" sz="2400" u="none" cap="none" strike="noStrike">
              <a:solidFill>
                <a:srgbClr val="3A3838"/>
              </a:solidFill>
              <a:latin typeface="Arial"/>
              <a:ea typeface="Arial"/>
              <a:cs typeface="Arial"/>
              <a:sym typeface="Arial"/>
            </a:endParaRPr>
          </a:p>
        </p:txBody>
      </p:sp>
      <p:sp>
        <p:nvSpPr>
          <p:cNvPr id="272" name="Google Shape;272;p7"/>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73" name="Google Shape;273;p7"/>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74" name="Google Shape;274;p7"/>
          <p:cNvSpPr/>
          <p:nvPr/>
        </p:nvSpPr>
        <p:spPr>
          <a:xfrm>
            <a:off x="344805" y="1499870"/>
            <a:ext cx="845058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75" name="Google Shape;275;p7"/>
          <p:cNvGrpSpPr/>
          <p:nvPr/>
        </p:nvGrpSpPr>
        <p:grpSpPr>
          <a:xfrm>
            <a:off x="348615" y="1419860"/>
            <a:ext cx="3766185" cy="89535"/>
            <a:chOff x="2777964" y="2773531"/>
            <a:chExt cx="4544181" cy="89539"/>
          </a:xfrm>
        </p:grpSpPr>
        <p:sp>
          <p:nvSpPr>
            <p:cNvPr id="276" name="Google Shape;276;p7"/>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7"/>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7"/>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7"/>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0" name="Google Shape;280;p7"/>
          <p:cNvSpPr/>
          <p:nvPr/>
        </p:nvSpPr>
        <p:spPr>
          <a:xfrm>
            <a:off x="728344" y="1777365"/>
            <a:ext cx="7814945" cy="48551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People Analytics: Evolución</a:t>
            </a:r>
            <a:endParaRPr b="0" i="0" sz="1400" u="none" cap="none" strike="noStrike">
              <a:solidFill>
                <a:srgbClr val="000000"/>
              </a:solidFill>
              <a:latin typeface="Arial"/>
              <a:ea typeface="Arial"/>
              <a:cs typeface="Arial"/>
              <a:sym typeface="Arial"/>
            </a:endParaRPr>
          </a:p>
        </p:txBody>
      </p:sp>
      <p:grpSp>
        <p:nvGrpSpPr>
          <p:cNvPr id="281" name="Google Shape;281;p7"/>
          <p:cNvGrpSpPr/>
          <p:nvPr/>
        </p:nvGrpSpPr>
        <p:grpSpPr>
          <a:xfrm>
            <a:off x="276149" y="2461451"/>
            <a:ext cx="7628497" cy="3288759"/>
            <a:chOff x="171645" y="401198"/>
            <a:chExt cx="7628497" cy="3288759"/>
          </a:xfrm>
        </p:grpSpPr>
        <p:sp>
          <p:nvSpPr>
            <p:cNvPr id="282" name="Google Shape;282;p7"/>
            <p:cNvSpPr/>
            <p:nvPr/>
          </p:nvSpPr>
          <p:spPr>
            <a:xfrm>
              <a:off x="5469023" y="880008"/>
              <a:ext cx="2331119" cy="2331550"/>
            </a:xfrm>
            <a:prstGeom prst="ellipse">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7"/>
            <p:cNvSpPr/>
            <p:nvPr/>
          </p:nvSpPr>
          <p:spPr>
            <a:xfrm>
              <a:off x="5546424" y="957740"/>
              <a:ext cx="2176318" cy="2176086"/>
            </a:xfrm>
            <a:prstGeom prst="ellipse">
              <a:avLst/>
            </a:prstGeom>
            <a:solidFill>
              <a:schemeClr val="lt1">
                <a:alpha val="89019"/>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7"/>
            <p:cNvSpPr txBox="1"/>
            <p:nvPr/>
          </p:nvSpPr>
          <p:spPr>
            <a:xfrm>
              <a:off x="5857543" y="1268668"/>
              <a:ext cx="1554079" cy="155423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1" i="0" lang="es-AR" sz="2000" u="none" cap="none" strike="noStrike">
                  <a:solidFill>
                    <a:schemeClr val="dk1"/>
                  </a:solidFill>
                  <a:latin typeface="Arial"/>
                  <a:ea typeface="Arial"/>
                  <a:cs typeface="Arial"/>
                  <a:sym typeface="Arial"/>
                </a:rPr>
                <a:t>Prescriptive Analytics</a:t>
              </a:r>
              <a:endParaRPr b="1" i="0" sz="2000" u="none" cap="none" strike="noStrike">
                <a:solidFill>
                  <a:schemeClr val="dk1"/>
                </a:solidFill>
                <a:latin typeface="Arial"/>
                <a:ea typeface="Arial"/>
                <a:cs typeface="Arial"/>
                <a:sym typeface="Arial"/>
              </a:endParaRPr>
            </a:p>
          </p:txBody>
        </p:sp>
        <p:sp>
          <p:nvSpPr>
            <p:cNvPr id="285" name="Google Shape;285;p7"/>
            <p:cNvSpPr/>
            <p:nvPr/>
          </p:nvSpPr>
          <p:spPr>
            <a:xfrm rot="2700000">
              <a:off x="3062552" y="882826"/>
              <a:ext cx="2325504" cy="2325504"/>
            </a:xfrm>
            <a:prstGeom prst="teardrop">
              <a:avLst>
                <a:gd fmla="val 100000" name="adj"/>
              </a:avLst>
            </a:prstGeom>
            <a:solidFill>
              <a:srgbClr val="44B78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7"/>
            <p:cNvSpPr/>
            <p:nvPr/>
          </p:nvSpPr>
          <p:spPr>
            <a:xfrm>
              <a:off x="3137145" y="957740"/>
              <a:ext cx="2176318" cy="2176086"/>
            </a:xfrm>
            <a:prstGeom prst="ellipse">
              <a:avLst/>
            </a:prstGeom>
            <a:solidFill>
              <a:schemeClr val="lt1">
                <a:alpha val="89019"/>
              </a:schemeClr>
            </a:solidFill>
            <a:ln cap="flat" cmpd="sng" w="12700">
              <a:solidFill>
                <a:srgbClr val="44B78C"/>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7"/>
            <p:cNvSpPr txBox="1"/>
            <p:nvPr/>
          </p:nvSpPr>
          <p:spPr>
            <a:xfrm>
              <a:off x="3448264" y="1268668"/>
              <a:ext cx="1554079" cy="155423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1" i="0" lang="es-AR" sz="2000" u="none" cap="none" strike="noStrike">
                  <a:solidFill>
                    <a:schemeClr val="dk1"/>
                  </a:solidFill>
                  <a:latin typeface="Arial"/>
                  <a:ea typeface="Arial"/>
                  <a:cs typeface="Arial"/>
                  <a:sym typeface="Arial"/>
                </a:rPr>
                <a:t>Predictive Analytics</a:t>
              </a:r>
              <a:endParaRPr b="1" i="0" sz="2000" u="none" cap="none" strike="noStrike">
                <a:solidFill>
                  <a:schemeClr val="dk1"/>
                </a:solidFill>
                <a:latin typeface="Arial"/>
                <a:ea typeface="Arial"/>
                <a:cs typeface="Arial"/>
                <a:sym typeface="Arial"/>
              </a:endParaRPr>
            </a:p>
          </p:txBody>
        </p:sp>
        <p:sp>
          <p:nvSpPr>
            <p:cNvPr id="288" name="Google Shape;288;p7"/>
            <p:cNvSpPr/>
            <p:nvPr/>
          </p:nvSpPr>
          <p:spPr>
            <a:xfrm rot="2700000">
              <a:off x="653273" y="882826"/>
              <a:ext cx="2325504" cy="2325504"/>
            </a:xfrm>
            <a:prstGeom prst="teardrop">
              <a:avLst>
                <a:gd fmla="val 100000" name="adj"/>
              </a:avLst>
            </a:prstGeom>
            <a:solidFill>
              <a:srgbClr val="6FAA47"/>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7"/>
            <p:cNvSpPr/>
            <p:nvPr/>
          </p:nvSpPr>
          <p:spPr>
            <a:xfrm>
              <a:off x="727866" y="957740"/>
              <a:ext cx="2176318" cy="2176086"/>
            </a:xfrm>
            <a:prstGeom prst="ellipse">
              <a:avLst/>
            </a:prstGeom>
            <a:solidFill>
              <a:schemeClr val="lt1">
                <a:alpha val="89019"/>
              </a:schemeClr>
            </a:solidFill>
            <a:ln cap="flat" cmpd="sng" w="12700">
              <a:solidFill>
                <a:srgbClr val="6FAA47"/>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7"/>
            <p:cNvSpPr txBox="1"/>
            <p:nvPr/>
          </p:nvSpPr>
          <p:spPr>
            <a:xfrm>
              <a:off x="1038986" y="1268668"/>
              <a:ext cx="1554079" cy="155423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1" i="0" lang="es-AR" sz="2000" u="none" cap="none" strike="noStrike">
                  <a:solidFill>
                    <a:schemeClr val="dk1"/>
                  </a:solidFill>
                  <a:latin typeface="Arial"/>
                  <a:ea typeface="Arial"/>
                  <a:cs typeface="Arial"/>
                  <a:sym typeface="Arial"/>
                </a:rPr>
                <a:t>Descriptive Analytics</a:t>
              </a:r>
              <a:endParaRPr b="1" i="0" sz="2000" u="none" cap="none" strike="noStrike">
                <a:solidFill>
                  <a:schemeClr val="dk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8"/>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97" name="Google Shape;297;p8"/>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298" name="Google Shape;298;p8"/>
          <p:cNvSpPr/>
          <p:nvPr/>
        </p:nvSpPr>
        <p:spPr>
          <a:xfrm>
            <a:off x="400050" y="1460500"/>
            <a:ext cx="3889375"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99" name="Google Shape;299;p8"/>
          <p:cNvGrpSpPr/>
          <p:nvPr/>
        </p:nvGrpSpPr>
        <p:grpSpPr>
          <a:xfrm>
            <a:off x="1066119" y="1735680"/>
            <a:ext cx="2623276" cy="780941"/>
            <a:chOff x="14306" y="5125"/>
            <a:chExt cx="4234" cy="1018"/>
          </a:xfrm>
        </p:grpSpPr>
        <p:cxnSp>
          <p:nvCxnSpPr>
            <p:cNvPr id="300" name="Google Shape;300;p8"/>
            <p:cNvCxnSpPr/>
            <p:nvPr/>
          </p:nvCxnSpPr>
          <p:spPr>
            <a:xfrm>
              <a:off x="14306" y="6143"/>
              <a:ext cx="4234" cy="0"/>
            </a:xfrm>
            <a:prstGeom prst="straightConnector1">
              <a:avLst/>
            </a:prstGeom>
            <a:noFill/>
            <a:ln cap="flat" cmpd="sng" w="19050">
              <a:solidFill>
                <a:srgbClr val="BFBFBF"/>
              </a:solidFill>
              <a:prstDash val="solid"/>
              <a:miter lim="800000"/>
              <a:headEnd len="sm" w="sm" type="none"/>
              <a:tailEnd len="sm" w="sm" type="none"/>
            </a:ln>
          </p:spPr>
        </p:cxnSp>
        <p:sp>
          <p:nvSpPr>
            <p:cNvPr id="301" name="Google Shape;301;p8"/>
            <p:cNvSpPr/>
            <p:nvPr/>
          </p:nvSpPr>
          <p:spPr>
            <a:xfrm>
              <a:off x="14689" y="5125"/>
              <a:ext cx="3189" cy="883"/>
            </a:xfrm>
            <a:prstGeom prst="rect">
              <a:avLst/>
            </a:prstGeom>
            <a:noFill/>
            <a:ln>
              <a:noFill/>
            </a:ln>
          </p:spPr>
          <p:txBody>
            <a:bodyPr anchorCtr="0" anchor="ctr" bIns="0" lIns="0" spcFirstLastPara="1" rIns="0" wrap="square" tIns="0">
              <a:spAutoFit/>
            </a:bodyPr>
            <a:lstStyle/>
            <a:p>
              <a:pPr indent="0" lvl="2" marL="0" marR="0" rtl="0" algn="ctr">
                <a:lnSpc>
                  <a:spcPct val="100000"/>
                </a:lnSpc>
                <a:spcBef>
                  <a:spcPts val="0"/>
                </a:spcBef>
                <a:spcAft>
                  <a:spcPts val="0"/>
                </a:spcAft>
                <a:buClr>
                  <a:srgbClr val="F0AB00"/>
                </a:buClr>
                <a:buSzPts val="4400"/>
                <a:buFont typeface="Arial"/>
                <a:buNone/>
              </a:pPr>
              <a:r>
                <a:rPr b="1" i="0" lang="es-AR" sz="4400" u="none" cap="none" strike="noStrike">
                  <a:solidFill>
                    <a:schemeClr val="accent1"/>
                  </a:solidFill>
                  <a:latin typeface="Arial"/>
                  <a:ea typeface="Arial"/>
                  <a:cs typeface="Arial"/>
                  <a:sym typeface="Arial"/>
                </a:rPr>
                <a:t>KPI</a:t>
              </a:r>
              <a:endParaRPr b="1" i="0" sz="4400" u="none" cap="none" strike="noStrike">
                <a:solidFill>
                  <a:schemeClr val="dk1"/>
                </a:solidFill>
                <a:latin typeface="Arial"/>
                <a:ea typeface="Arial"/>
                <a:cs typeface="Arial"/>
                <a:sym typeface="Arial"/>
              </a:endParaRPr>
            </a:p>
          </p:txBody>
        </p:sp>
      </p:grpSp>
      <p:sp>
        <p:nvSpPr>
          <p:cNvPr id="302" name="Google Shape;302;p8"/>
          <p:cNvSpPr/>
          <p:nvPr/>
        </p:nvSpPr>
        <p:spPr>
          <a:xfrm>
            <a:off x="5196840" y="1499235"/>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303" name="Google Shape;303;p8"/>
          <p:cNvSpPr/>
          <p:nvPr/>
        </p:nvSpPr>
        <p:spPr>
          <a:xfrm>
            <a:off x="4881880" y="1459865"/>
            <a:ext cx="3889375"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304" name="Google Shape;304;p8"/>
          <p:cNvGrpSpPr/>
          <p:nvPr/>
        </p:nvGrpSpPr>
        <p:grpSpPr>
          <a:xfrm>
            <a:off x="5459232" y="1735680"/>
            <a:ext cx="2510156" cy="780941"/>
            <a:chOff x="14306" y="5125"/>
            <a:chExt cx="4234" cy="1018"/>
          </a:xfrm>
        </p:grpSpPr>
        <p:cxnSp>
          <p:nvCxnSpPr>
            <p:cNvPr id="305" name="Google Shape;305;p8"/>
            <p:cNvCxnSpPr/>
            <p:nvPr/>
          </p:nvCxnSpPr>
          <p:spPr>
            <a:xfrm>
              <a:off x="14306" y="6143"/>
              <a:ext cx="4234" cy="0"/>
            </a:xfrm>
            <a:prstGeom prst="straightConnector1">
              <a:avLst/>
            </a:prstGeom>
            <a:noFill/>
            <a:ln cap="flat" cmpd="sng" w="19050">
              <a:solidFill>
                <a:srgbClr val="BFBFBF"/>
              </a:solidFill>
              <a:prstDash val="solid"/>
              <a:miter lim="800000"/>
              <a:headEnd len="sm" w="sm" type="none"/>
              <a:tailEnd len="sm" w="sm" type="none"/>
            </a:ln>
          </p:spPr>
        </p:cxnSp>
        <p:sp>
          <p:nvSpPr>
            <p:cNvPr id="306" name="Google Shape;306;p8"/>
            <p:cNvSpPr/>
            <p:nvPr/>
          </p:nvSpPr>
          <p:spPr>
            <a:xfrm>
              <a:off x="14349" y="5125"/>
              <a:ext cx="4191" cy="883"/>
            </a:xfrm>
            <a:prstGeom prst="rect">
              <a:avLst/>
            </a:prstGeom>
            <a:noFill/>
            <a:ln>
              <a:noFill/>
            </a:ln>
          </p:spPr>
          <p:txBody>
            <a:bodyPr anchorCtr="0" anchor="ctr" bIns="0" lIns="0" spcFirstLastPara="1" rIns="0" wrap="square" tIns="0">
              <a:spAutoFit/>
            </a:bodyPr>
            <a:lstStyle/>
            <a:p>
              <a:pPr indent="0" lvl="2" marL="0" marR="0" rtl="0" algn="ctr">
                <a:lnSpc>
                  <a:spcPct val="100000"/>
                </a:lnSpc>
                <a:spcBef>
                  <a:spcPts val="0"/>
                </a:spcBef>
                <a:spcAft>
                  <a:spcPts val="0"/>
                </a:spcAft>
                <a:buClr>
                  <a:srgbClr val="F0AB00"/>
                </a:buClr>
                <a:buSzPts val="4400"/>
                <a:buFont typeface="Arial"/>
                <a:buNone/>
              </a:pPr>
              <a:r>
                <a:rPr b="1" i="0" lang="es-AR" sz="4400" u="none" cap="none" strike="noStrike">
                  <a:solidFill>
                    <a:srgbClr val="FFC000"/>
                  </a:solidFill>
                  <a:latin typeface="Arial"/>
                  <a:ea typeface="Arial"/>
                  <a:cs typeface="Arial"/>
                  <a:sym typeface="Arial"/>
                </a:rPr>
                <a:t>INSIGHT</a:t>
              </a:r>
              <a:endParaRPr b="0" i="0" sz="1400" u="none" cap="none" strike="noStrike">
                <a:solidFill>
                  <a:srgbClr val="000000"/>
                </a:solidFill>
                <a:latin typeface="Arial"/>
                <a:ea typeface="Arial"/>
                <a:cs typeface="Arial"/>
                <a:sym typeface="Arial"/>
              </a:endParaRPr>
            </a:p>
          </p:txBody>
        </p:sp>
      </p:grpSp>
      <p:sp>
        <p:nvSpPr>
          <p:cNvPr id="307" name="Google Shape;307;p8"/>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KPI vs. INSIGHT</a:t>
            </a:r>
            <a:endParaRPr b="1" i="0" sz="1400" u="none" cap="none" strike="noStrike">
              <a:solidFill>
                <a:srgbClr val="000000"/>
              </a:solidFill>
              <a:latin typeface="Arial"/>
              <a:ea typeface="Arial"/>
              <a:cs typeface="Arial"/>
              <a:sym typeface="Arial"/>
            </a:endParaRPr>
          </a:p>
        </p:txBody>
      </p:sp>
      <p:pic>
        <p:nvPicPr>
          <p:cNvPr descr="Espejos Retrovisores - Engie" id="308" name="Google Shape;308;p8"/>
          <p:cNvPicPr preferRelativeResize="0"/>
          <p:nvPr/>
        </p:nvPicPr>
        <p:blipFill rotWithShape="1">
          <a:blip r:embed="rId3">
            <a:alphaModFix/>
          </a:blip>
          <a:srcRect b="0" l="6977" r="19756" t="0"/>
          <a:stretch/>
        </p:blipFill>
        <p:spPr>
          <a:xfrm>
            <a:off x="848184" y="3035456"/>
            <a:ext cx="3208388" cy="2815137"/>
          </a:xfrm>
          <a:prstGeom prst="rect">
            <a:avLst/>
          </a:prstGeom>
          <a:noFill/>
          <a:ln>
            <a:noFill/>
          </a:ln>
        </p:spPr>
      </p:pic>
      <p:pic>
        <p:nvPicPr>
          <p:cNvPr id="309" name="Google Shape;309;p8"/>
          <p:cNvPicPr preferRelativeResize="0"/>
          <p:nvPr/>
        </p:nvPicPr>
        <p:blipFill rotWithShape="1">
          <a:blip r:embed="rId4">
            <a:alphaModFix/>
          </a:blip>
          <a:srcRect b="8951" l="0" r="0" t="0"/>
          <a:stretch/>
        </p:blipFill>
        <p:spPr>
          <a:xfrm>
            <a:off x="5221922" y="3034822"/>
            <a:ext cx="3209289" cy="28157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9"/>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KPI vs. INSIGHT</a:t>
            </a:r>
            <a:endParaRPr b="1" i="0" sz="1400" u="none" cap="none" strike="noStrike">
              <a:solidFill>
                <a:srgbClr val="000000"/>
              </a:solidFill>
              <a:latin typeface="Arial"/>
              <a:ea typeface="Arial"/>
              <a:cs typeface="Arial"/>
              <a:sym typeface="Arial"/>
            </a:endParaRPr>
          </a:p>
        </p:txBody>
      </p:sp>
      <p:sp>
        <p:nvSpPr>
          <p:cNvPr id="316" name="Google Shape;316;p9"/>
          <p:cNvSpPr/>
          <p:nvPr/>
        </p:nvSpPr>
        <p:spPr>
          <a:xfrm>
            <a:off x="809110" y="4216968"/>
            <a:ext cx="7620001" cy="671580"/>
          </a:xfrm>
          <a:custGeom>
            <a:rect b="b" l="l" r="r" t="t"/>
            <a:pathLst>
              <a:path extrusionOk="0" h="671580" w="6609805">
                <a:moveTo>
                  <a:pt x="0" y="111932"/>
                </a:moveTo>
                <a:cubicBezTo>
                  <a:pt x="0" y="50114"/>
                  <a:pt x="50114" y="0"/>
                  <a:pt x="111932" y="0"/>
                </a:cubicBezTo>
                <a:lnTo>
                  <a:pt x="6497873" y="0"/>
                </a:lnTo>
                <a:cubicBezTo>
                  <a:pt x="6559691" y="0"/>
                  <a:pt x="6609805" y="50114"/>
                  <a:pt x="6609805" y="111932"/>
                </a:cubicBezTo>
                <a:lnTo>
                  <a:pt x="6609805" y="559648"/>
                </a:lnTo>
                <a:cubicBezTo>
                  <a:pt x="6609805" y="621466"/>
                  <a:pt x="6559691" y="671580"/>
                  <a:pt x="6497873" y="671580"/>
                </a:cubicBezTo>
                <a:lnTo>
                  <a:pt x="111932" y="671580"/>
                </a:lnTo>
                <a:cubicBezTo>
                  <a:pt x="50114" y="671580"/>
                  <a:pt x="0" y="621466"/>
                  <a:pt x="0" y="559648"/>
                </a:cubicBezTo>
                <a:lnTo>
                  <a:pt x="0" y="111932"/>
                </a:lnTo>
                <a:close/>
              </a:path>
            </a:pathLst>
          </a:custGeom>
          <a:solidFill>
            <a:schemeClr val="lt1"/>
          </a:solidFill>
          <a:ln cap="flat" cmpd="sng" w="12700">
            <a:solidFill>
              <a:srgbClr val="BFBFBF"/>
            </a:solidFill>
            <a:prstDash val="solid"/>
            <a:miter lim="800000"/>
            <a:headEnd len="sm" w="sm" type="none"/>
            <a:tailEnd len="sm" w="sm" type="none"/>
          </a:ln>
        </p:spPr>
        <p:txBody>
          <a:bodyPr anchorCtr="0" anchor="ctr" bIns="139450" lIns="139450" spcFirstLastPara="1" rIns="139450" wrap="square" tIns="139450">
            <a:noAutofit/>
          </a:bodyPr>
          <a:lstStyle/>
          <a:p>
            <a:pPr indent="0" lvl="2" marL="0" marR="0" rtl="0" algn="ctr">
              <a:lnSpc>
                <a:spcPct val="100000"/>
              </a:lnSpc>
              <a:spcBef>
                <a:spcPts val="0"/>
              </a:spcBef>
              <a:spcAft>
                <a:spcPts val="0"/>
              </a:spcAft>
              <a:buClr>
                <a:srgbClr val="F0AB00"/>
              </a:buClr>
              <a:buSzPts val="4400"/>
              <a:buFont typeface="Arial"/>
              <a:buNone/>
            </a:pPr>
            <a:r>
              <a:rPr b="1" i="0" lang="es-AR" sz="4400" u="none" cap="none" strike="noStrike">
                <a:solidFill>
                  <a:srgbClr val="FFC000"/>
                </a:solidFill>
                <a:latin typeface="Arial"/>
                <a:ea typeface="Arial"/>
                <a:cs typeface="Arial"/>
                <a:sym typeface="Arial"/>
              </a:rPr>
              <a:t>INSIGHT</a:t>
            </a:r>
            <a:endParaRPr b="0" i="0" sz="1400" u="none" cap="none" strike="noStrike">
              <a:solidFill>
                <a:srgbClr val="000000"/>
              </a:solidFill>
              <a:latin typeface="Arial"/>
              <a:ea typeface="Arial"/>
              <a:cs typeface="Arial"/>
              <a:sym typeface="Arial"/>
            </a:endParaRPr>
          </a:p>
        </p:txBody>
      </p:sp>
      <p:sp>
        <p:nvSpPr>
          <p:cNvPr id="317" name="Google Shape;317;p9"/>
          <p:cNvSpPr/>
          <p:nvPr/>
        </p:nvSpPr>
        <p:spPr>
          <a:xfrm>
            <a:off x="809110" y="4722298"/>
            <a:ext cx="7620001" cy="1680840"/>
          </a:xfrm>
          <a:custGeom>
            <a:rect b="b" l="l" r="r" t="t"/>
            <a:pathLst>
              <a:path extrusionOk="0" h="1680840" w="6609805">
                <a:moveTo>
                  <a:pt x="0" y="0"/>
                </a:moveTo>
                <a:lnTo>
                  <a:pt x="6609805" y="0"/>
                </a:lnTo>
                <a:lnTo>
                  <a:pt x="6609805" y="1680840"/>
                </a:lnTo>
                <a:lnTo>
                  <a:pt x="0" y="1680840"/>
                </a:lnTo>
                <a:lnTo>
                  <a:pt x="0" y="0"/>
                </a:lnTo>
                <a:close/>
              </a:path>
            </a:pathLst>
          </a:custGeom>
          <a:noFill/>
          <a:ln>
            <a:noFill/>
          </a:ln>
        </p:spPr>
        <p:txBody>
          <a:bodyPr anchorCtr="0" anchor="t" bIns="22850" lIns="209850" spcFirstLastPara="1" rIns="128000" wrap="square" tIns="22850">
            <a:noAutofit/>
          </a:bodyPr>
          <a:lstStyle/>
          <a:p>
            <a:pPr indent="-57150" lvl="1" marL="171450" marR="0" rtl="0" algn="l">
              <a:lnSpc>
                <a:spcPct val="9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600"/>
              </a:spcBef>
              <a:spcAft>
                <a:spcPts val="0"/>
              </a:spcAft>
              <a:buClr>
                <a:schemeClr val="dk1"/>
              </a:buClr>
              <a:buSzPts val="1800"/>
              <a:buFont typeface="Calibri"/>
              <a:buChar char="•"/>
            </a:pPr>
            <a:r>
              <a:rPr b="0" i="0" lang="es-AR" sz="1800" u="none" cap="none" strike="noStrike">
                <a:solidFill>
                  <a:schemeClr val="dk1"/>
                </a:solidFill>
                <a:latin typeface="Calibri"/>
                <a:ea typeface="Calibri"/>
                <a:cs typeface="Calibri"/>
                <a:sym typeface="Calibri"/>
              </a:rPr>
              <a:t>Es el análisis empírico de por qué el KPI está en el nivel que está, sus causas y el riesgo futuro asociado. Contextualiza el análisis de las causas raíces. </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600"/>
              </a:spcBef>
              <a:spcAft>
                <a:spcPts val="0"/>
              </a:spcAft>
              <a:buClr>
                <a:schemeClr val="dk1"/>
              </a:buClr>
              <a:buSzPts val="1800"/>
              <a:buFont typeface="Calibri"/>
              <a:buChar char="•"/>
            </a:pPr>
            <a:r>
              <a:rPr b="0" i="0" lang="es-AR" sz="1800" u="none" cap="none" strike="noStrike">
                <a:solidFill>
                  <a:schemeClr val="dk1"/>
                </a:solidFill>
                <a:latin typeface="Calibri"/>
                <a:ea typeface="Calibri"/>
                <a:cs typeface="Calibri"/>
                <a:sym typeface="Calibri"/>
              </a:rPr>
              <a:t>Cuantifica el impacto de la gestión actual en el negocio.</a:t>
            </a:r>
            <a:endParaRPr b="0" i="0" sz="1400" u="none" cap="none" strike="noStrike">
              <a:solidFill>
                <a:srgbClr val="000000"/>
              </a:solidFill>
              <a:latin typeface="Arial"/>
              <a:ea typeface="Arial"/>
              <a:cs typeface="Arial"/>
              <a:sym typeface="Arial"/>
            </a:endParaRPr>
          </a:p>
          <a:p>
            <a:pPr indent="-171450" lvl="1" marL="171450" marR="0" rtl="0" algn="l">
              <a:lnSpc>
                <a:spcPct val="90000"/>
              </a:lnSpc>
              <a:spcBef>
                <a:spcPts val="600"/>
              </a:spcBef>
              <a:spcAft>
                <a:spcPts val="0"/>
              </a:spcAft>
              <a:buClr>
                <a:schemeClr val="dk1"/>
              </a:buClr>
              <a:buSzPts val="1800"/>
              <a:buFont typeface="Calibri"/>
              <a:buChar char="•"/>
            </a:pPr>
            <a:r>
              <a:rPr b="0" i="0" lang="es-AR" sz="1800" u="none" cap="none" strike="noStrike">
                <a:solidFill>
                  <a:schemeClr val="dk1"/>
                </a:solidFill>
                <a:latin typeface="Calibri"/>
                <a:ea typeface="Calibri"/>
                <a:cs typeface="Calibri"/>
                <a:sym typeface="Calibri"/>
              </a:rPr>
              <a:t>Son </a:t>
            </a:r>
            <a:r>
              <a:rPr b="1" i="0" lang="es-AR" sz="1800" u="none" cap="none" strike="noStrike">
                <a:solidFill>
                  <a:schemeClr val="dk1"/>
                </a:solidFill>
                <a:latin typeface="Calibri"/>
                <a:ea typeface="Calibri"/>
                <a:cs typeface="Calibri"/>
                <a:sym typeface="Calibri"/>
              </a:rPr>
              <a:t>claves</a:t>
            </a:r>
            <a:r>
              <a:rPr b="0" i="0" lang="es-AR" sz="1800" u="none" cap="none" strike="noStrike">
                <a:solidFill>
                  <a:schemeClr val="dk1"/>
                </a:solidFill>
                <a:latin typeface="Calibri"/>
                <a:ea typeface="Calibri"/>
                <a:cs typeface="Calibri"/>
                <a:sym typeface="Calibri"/>
              </a:rPr>
              <a:t> traducibles en acciones concretas en las que basar la estrategia de negocio. </a:t>
            </a:r>
            <a:endParaRPr b="0" i="0" sz="1800" u="none" cap="none" strike="noStrike">
              <a:solidFill>
                <a:schemeClr val="dk1"/>
              </a:solidFill>
              <a:latin typeface="Calibri"/>
              <a:ea typeface="Calibri"/>
              <a:cs typeface="Calibri"/>
              <a:sym typeface="Calibri"/>
            </a:endParaRPr>
          </a:p>
        </p:txBody>
      </p:sp>
      <p:sp>
        <p:nvSpPr>
          <p:cNvPr id="318" name="Google Shape;318;p9"/>
          <p:cNvSpPr/>
          <p:nvPr/>
        </p:nvSpPr>
        <p:spPr>
          <a:xfrm>
            <a:off x="809110" y="1465380"/>
            <a:ext cx="7620001" cy="671580"/>
          </a:xfrm>
          <a:custGeom>
            <a:rect b="b" l="l" r="r" t="t"/>
            <a:pathLst>
              <a:path extrusionOk="0" h="671580" w="6609805">
                <a:moveTo>
                  <a:pt x="0" y="111932"/>
                </a:moveTo>
                <a:cubicBezTo>
                  <a:pt x="0" y="50114"/>
                  <a:pt x="50114" y="0"/>
                  <a:pt x="111932" y="0"/>
                </a:cubicBezTo>
                <a:lnTo>
                  <a:pt x="6497873" y="0"/>
                </a:lnTo>
                <a:cubicBezTo>
                  <a:pt x="6559691" y="0"/>
                  <a:pt x="6609805" y="50114"/>
                  <a:pt x="6609805" y="111932"/>
                </a:cubicBezTo>
                <a:lnTo>
                  <a:pt x="6609805" y="559648"/>
                </a:lnTo>
                <a:cubicBezTo>
                  <a:pt x="6609805" y="621466"/>
                  <a:pt x="6559691" y="671580"/>
                  <a:pt x="6497873" y="671580"/>
                </a:cubicBezTo>
                <a:lnTo>
                  <a:pt x="111932" y="671580"/>
                </a:lnTo>
                <a:cubicBezTo>
                  <a:pt x="50114" y="671580"/>
                  <a:pt x="0" y="621466"/>
                  <a:pt x="0" y="559648"/>
                </a:cubicBezTo>
                <a:lnTo>
                  <a:pt x="0" y="111932"/>
                </a:lnTo>
                <a:close/>
              </a:path>
            </a:pathLst>
          </a:custGeom>
          <a:solidFill>
            <a:schemeClr val="lt1"/>
          </a:solidFill>
          <a:ln cap="flat" cmpd="sng" w="12700">
            <a:solidFill>
              <a:srgbClr val="BFBFBF"/>
            </a:solidFill>
            <a:prstDash val="solid"/>
            <a:miter lim="800000"/>
            <a:headEnd len="sm" w="sm" type="none"/>
            <a:tailEnd len="sm" w="sm" type="none"/>
          </a:ln>
        </p:spPr>
        <p:txBody>
          <a:bodyPr anchorCtr="0" anchor="ctr" bIns="139450" lIns="139450" spcFirstLastPara="1" rIns="139450" wrap="square" tIns="139450">
            <a:noAutofit/>
          </a:bodyPr>
          <a:lstStyle/>
          <a:p>
            <a:pPr indent="0" lvl="2" marL="0" marR="0" rtl="0" algn="ctr">
              <a:lnSpc>
                <a:spcPct val="100000"/>
              </a:lnSpc>
              <a:spcBef>
                <a:spcPts val="0"/>
              </a:spcBef>
              <a:spcAft>
                <a:spcPts val="0"/>
              </a:spcAft>
              <a:buClr>
                <a:srgbClr val="F0AB00"/>
              </a:buClr>
              <a:buSzPts val="4400"/>
              <a:buFont typeface="Arial"/>
              <a:buNone/>
            </a:pPr>
            <a:r>
              <a:rPr b="1" i="0" lang="es-AR" sz="4400" u="none" cap="none" strike="noStrike">
                <a:solidFill>
                  <a:srgbClr val="5B9BD5"/>
                </a:solidFill>
                <a:latin typeface="Arial"/>
                <a:ea typeface="Arial"/>
                <a:cs typeface="Arial"/>
                <a:sym typeface="Arial"/>
              </a:rPr>
              <a:t>KPI</a:t>
            </a:r>
            <a:endParaRPr b="1" i="0" sz="4400" u="none" cap="none" strike="noStrike">
              <a:solidFill>
                <a:srgbClr val="000000"/>
              </a:solidFill>
              <a:latin typeface="Arial"/>
              <a:ea typeface="Arial"/>
              <a:cs typeface="Arial"/>
              <a:sym typeface="Arial"/>
            </a:endParaRPr>
          </a:p>
        </p:txBody>
      </p:sp>
      <p:sp>
        <p:nvSpPr>
          <p:cNvPr id="319" name="Google Shape;319;p9"/>
          <p:cNvSpPr/>
          <p:nvPr/>
        </p:nvSpPr>
        <p:spPr>
          <a:xfrm>
            <a:off x="809110" y="2003960"/>
            <a:ext cx="7620001" cy="1420020"/>
          </a:xfrm>
          <a:custGeom>
            <a:rect b="b" l="l" r="r" t="t"/>
            <a:pathLst>
              <a:path extrusionOk="0" h="1420020" w="6609805">
                <a:moveTo>
                  <a:pt x="0" y="0"/>
                </a:moveTo>
                <a:lnTo>
                  <a:pt x="6609805" y="0"/>
                </a:lnTo>
                <a:lnTo>
                  <a:pt x="6609805" y="1420020"/>
                </a:lnTo>
                <a:lnTo>
                  <a:pt x="0" y="1420020"/>
                </a:lnTo>
                <a:lnTo>
                  <a:pt x="0" y="0"/>
                </a:lnTo>
                <a:close/>
              </a:path>
            </a:pathLst>
          </a:custGeom>
          <a:noFill/>
          <a:ln>
            <a:noFill/>
          </a:ln>
        </p:spPr>
        <p:txBody>
          <a:bodyPr anchorCtr="0" anchor="t" bIns="22850" lIns="209850" spcFirstLastPara="1" rIns="128000" wrap="square" tIns="22850">
            <a:noAutofit/>
          </a:bodyPr>
          <a:lstStyle/>
          <a:p>
            <a:pPr indent="-57150" lvl="1" marL="171450" marR="0" rtl="0" algn="l">
              <a:lnSpc>
                <a:spcPct val="9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a:p>
            <a:pPr indent="-171450" lvl="1" marL="171450" marR="0" rtl="0" algn="l">
              <a:lnSpc>
                <a:spcPct val="90000"/>
              </a:lnSpc>
              <a:spcBef>
                <a:spcPts val="960"/>
              </a:spcBef>
              <a:spcAft>
                <a:spcPts val="0"/>
              </a:spcAft>
              <a:buClr>
                <a:srgbClr val="000000"/>
              </a:buClr>
              <a:buSzPts val="1800"/>
              <a:buFont typeface="Calibri"/>
              <a:buChar char="•"/>
            </a:pPr>
            <a:r>
              <a:rPr b="1" i="0" lang="es-AR" sz="1800" u="none" cap="none" strike="noStrike">
                <a:solidFill>
                  <a:srgbClr val="000000"/>
                </a:solidFill>
                <a:latin typeface="Calibri"/>
                <a:ea typeface="Calibri"/>
                <a:cs typeface="Calibri"/>
                <a:sym typeface="Calibri"/>
              </a:rPr>
              <a:t>Indicadores de gestión </a:t>
            </a:r>
            <a:r>
              <a:rPr b="0" i="0" lang="es-AR" sz="1800" u="none" cap="none" strike="noStrike">
                <a:solidFill>
                  <a:srgbClr val="000000"/>
                </a:solidFill>
                <a:latin typeface="Calibri"/>
                <a:ea typeface="Calibri"/>
                <a:cs typeface="Calibri"/>
                <a:sym typeface="Calibri"/>
              </a:rPr>
              <a:t>que sirven para monitorear y evaluar el éxito en la gestión en relación a procesos específicos del negocio.</a:t>
            </a:r>
            <a:endParaRPr b="0" i="0" sz="1800" u="none" cap="none" strike="noStrike">
              <a:solidFill>
                <a:srgbClr val="000000"/>
              </a:solidFill>
              <a:latin typeface="Calibri"/>
              <a:ea typeface="Calibri"/>
              <a:cs typeface="Calibri"/>
              <a:sym typeface="Calibri"/>
            </a:endParaRPr>
          </a:p>
          <a:p>
            <a:pPr indent="-171450" lvl="1" marL="171450" marR="0" rtl="0" algn="l">
              <a:lnSpc>
                <a:spcPct val="90000"/>
              </a:lnSpc>
              <a:spcBef>
                <a:spcPts val="600"/>
              </a:spcBef>
              <a:spcAft>
                <a:spcPts val="0"/>
              </a:spcAft>
              <a:buClr>
                <a:srgbClr val="000000"/>
              </a:buClr>
              <a:buSzPts val="1800"/>
              <a:buFont typeface="Calibri"/>
              <a:buChar char="•"/>
            </a:pPr>
            <a:r>
              <a:rPr b="0" i="0" lang="es-AR" sz="1800" u="none" cap="none" strike="noStrike">
                <a:solidFill>
                  <a:srgbClr val="000000"/>
                </a:solidFill>
                <a:latin typeface="Calibri"/>
                <a:ea typeface="Calibri"/>
                <a:cs typeface="Calibri"/>
                <a:sym typeface="Calibri"/>
              </a:rPr>
              <a:t> Es una mirada del pasado del negocio. No es un accionable. </a:t>
            </a:r>
            <a:endParaRPr b="0" i="0" sz="1800" u="none" cap="none" strike="noStrike">
              <a:solidFill>
                <a:srgbClr val="000000"/>
              </a:solidFill>
              <a:latin typeface="Calibri"/>
              <a:ea typeface="Calibri"/>
              <a:cs typeface="Calibri"/>
              <a:sym typeface="Calibri"/>
            </a:endParaRPr>
          </a:p>
          <a:p>
            <a:pPr indent="-171450" lvl="1" marL="171450" marR="0" rtl="0" algn="l">
              <a:lnSpc>
                <a:spcPct val="90000"/>
              </a:lnSpc>
              <a:spcBef>
                <a:spcPts val="600"/>
              </a:spcBef>
              <a:spcAft>
                <a:spcPts val="0"/>
              </a:spcAft>
              <a:buClr>
                <a:srgbClr val="000000"/>
              </a:buClr>
              <a:buSzPts val="1800"/>
              <a:buFont typeface="Calibri"/>
              <a:buChar char="•"/>
            </a:pPr>
            <a:r>
              <a:rPr b="0" i="0" lang="es-AR" sz="1800" u="none" cap="none" strike="noStrike">
                <a:solidFill>
                  <a:srgbClr val="000000"/>
                </a:solidFill>
                <a:latin typeface="Calibri"/>
                <a:ea typeface="Calibri"/>
                <a:cs typeface="Calibri"/>
                <a:sym typeface="Calibri"/>
              </a:rPr>
              <a:t>Deben ser pertinentes, precisos, confiables y económicos o rentables en su medición.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326" name="Google Shape;326;p10"/>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327" name="Google Shape;327;p10"/>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KPIs</a:t>
            </a:r>
            <a:endParaRPr b="1" i="0" sz="2400" u="none" cap="none" strike="noStrike">
              <a:solidFill>
                <a:srgbClr val="3A3838"/>
              </a:solidFill>
              <a:latin typeface="Arial"/>
              <a:ea typeface="Arial"/>
              <a:cs typeface="Arial"/>
              <a:sym typeface="Arial"/>
            </a:endParaRPr>
          </a:p>
        </p:txBody>
      </p:sp>
      <p:grpSp>
        <p:nvGrpSpPr>
          <p:cNvPr id="328" name="Google Shape;328;p10"/>
          <p:cNvGrpSpPr/>
          <p:nvPr/>
        </p:nvGrpSpPr>
        <p:grpSpPr>
          <a:xfrm rot="5400000">
            <a:off x="-248930" y="2833325"/>
            <a:ext cx="4941093" cy="3294062"/>
            <a:chOff x="1524511" y="1781968"/>
            <a:chExt cx="4941093" cy="3294062"/>
          </a:xfrm>
        </p:grpSpPr>
        <p:sp>
          <p:nvSpPr>
            <p:cNvPr id="329" name="Google Shape;329;p10"/>
            <p:cNvSpPr/>
            <p:nvPr/>
          </p:nvSpPr>
          <p:spPr>
            <a:xfrm>
              <a:off x="1524511"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1606862" y="1864320"/>
              <a:ext cx="658812" cy="658812"/>
            </a:xfrm>
            <a:prstGeom prst="pie">
              <a:avLst>
                <a:gd fmla="val 14400000" name="adj1"/>
                <a:gd fmla="val 16200000" name="adj2"/>
              </a:avLst>
            </a:prstGeom>
            <a:solidFill>
              <a:schemeClr val="accent4"/>
            </a:solidFill>
            <a:ln cap="flat" cmpd="sng" w="12700">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rot="-5400000">
              <a:off x="577469"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Rotación</a:t>
              </a:r>
              <a:endParaRPr b="0" i="0" sz="1400" u="none" cap="none" strike="noStrike">
                <a:solidFill>
                  <a:srgbClr val="000000"/>
                </a:solidFill>
                <a:latin typeface="Arial"/>
                <a:ea typeface="Arial"/>
                <a:cs typeface="Arial"/>
                <a:sym typeface="Arial"/>
              </a:endParaRPr>
            </a:p>
          </p:txBody>
        </p:sp>
        <p:sp>
          <p:nvSpPr>
            <p:cNvPr id="332" name="Google Shape;332;p10"/>
            <p:cNvSpPr/>
            <p:nvPr/>
          </p:nvSpPr>
          <p:spPr>
            <a:xfrm>
              <a:off x="2348026"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2430378" y="1864320"/>
              <a:ext cx="658812" cy="658812"/>
            </a:xfrm>
            <a:prstGeom prst="pie">
              <a:avLst>
                <a:gd fmla="val 12600000" name="adj1"/>
                <a:gd fmla="val 16200000" name="adj2"/>
              </a:avLst>
            </a:prstGeom>
            <a:solidFill>
              <a:srgbClr val="A5F20C"/>
            </a:solidFill>
            <a:ln cap="flat" cmpd="sng" w="12700">
              <a:solidFill>
                <a:srgbClr val="A5F20C"/>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rot="-5400000">
              <a:off x="1400984"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Distribución de calificación de desempeño</a:t>
              </a:r>
              <a:endParaRPr b="0" i="0" sz="1700" u="none" cap="none" strike="noStrike">
                <a:solidFill>
                  <a:schemeClr val="dk1"/>
                </a:solidFill>
                <a:latin typeface="Calibri"/>
                <a:ea typeface="Calibri"/>
                <a:cs typeface="Calibri"/>
                <a:sym typeface="Calibri"/>
              </a:endParaRPr>
            </a:p>
          </p:txBody>
        </p:sp>
        <p:sp>
          <p:nvSpPr>
            <p:cNvPr id="335" name="Google Shape;335;p10"/>
            <p:cNvSpPr/>
            <p:nvPr/>
          </p:nvSpPr>
          <p:spPr>
            <a:xfrm>
              <a:off x="3171542"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3253893" y="1864320"/>
              <a:ext cx="658812" cy="658812"/>
            </a:xfrm>
            <a:prstGeom prst="pie">
              <a:avLst>
                <a:gd fmla="val 10800000" name="adj1"/>
                <a:gd fmla="val 16200000" name="adj2"/>
              </a:avLst>
            </a:prstGeom>
            <a:solidFill>
              <a:srgbClr val="2DE71A"/>
            </a:solidFill>
            <a:ln cap="flat" cmpd="sng" w="12700">
              <a:solidFill>
                <a:srgbClr val="2DE71A"/>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rot="-5400000">
              <a:off x="2224499"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Ausentismo</a:t>
              </a:r>
              <a:endParaRPr b="0" i="0" sz="1400" u="none" cap="none" strike="noStrike">
                <a:solidFill>
                  <a:srgbClr val="000000"/>
                </a:solidFill>
                <a:latin typeface="Arial"/>
                <a:ea typeface="Arial"/>
                <a:cs typeface="Arial"/>
                <a:sym typeface="Arial"/>
              </a:endParaRPr>
            </a:p>
          </p:txBody>
        </p:sp>
        <p:sp>
          <p:nvSpPr>
            <p:cNvPr id="338" name="Google Shape;338;p10"/>
            <p:cNvSpPr/>
            <p:nvPr/>
          </p:nvSpPr>
          <p:spPr>
            <a:xfrm>
              <a:off x="3995058"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0"/>
            <p:cNvSpPr/>
            <p:nvPr/>
          </p:nvSpPr>
          <p:spPr>
            <a:xfrm>
              <a:off x="4077409" y="1864320"/>
              <a:ext cx="658812" cy="658812"/>
            </a:xfrm>
            <a:prstGeom prst="pie">
              <a:avLst>
                <a:gd fmla="val 9000000" name="adj1"/>
                <a:gd fmla="val 16200000" name="adj2"/>
              </a:avLst>
            </a:prstGeom>
            <a:solidFill>
              <a:srgbClr val="27DB7E"/>
            </a:solidFill>
            <a:ln cap="flat" cmpd="sng" w="12700">
              <a:solidFill>
                <a:srgbClr val="27DB7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rot="-5400000">
              <a:off x="3048015"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Costo de Nómina</a:t>
              </a:r>
              <a:endParaRPr b="0" i="0" sz="1400" u="none" cap="none" strike="noStrike">
                <a:solidFill>
                  <a:srgbClr val="000000"/>
                </a:solidFill>
                <a:latin typeface="Arial"/>
                <a:ea typeface="Arial"/>
                <a:cs typeface="Arial"/>
                <a:sym typeface="Arial"/>
              </a:endParaRPr>
            </a:p>
          </p:txBody>
        </p:sp>
        <p:sp>
          <p:nvSpPr>
            <p:cNvPr id="341" name="Google Shape;341;p10"/>
            <p:cNvSpPr/>
            <p:nvPr/>
          </p:nvSpPr>
          <p:spPr>
            <a:xfrm>
              <a:off x="4818573"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0"/>
            <p:cNvSpPr/>
            <p:nvPr/>
          </p:nvSpPr>
          <p:spPr>
            <a:xfrm>
              <a:off x="4900925" y="1864320"/>
              <a:ext cx="658812" cy="658812"/>
            </a:xfrm>
            <a:prstGeom prst="pie">
              <a:avLst>
                <a:gd fmla="val 7200000" name="adj1"/>
                <a:gd fmla="val 16200000" name="adj2"/>
              </a:avLst>
            </a:prstGeom>
            <a:solidFill>
              <a:srgbClr val="35C5CF"/>
            </a:solidFill>
            <a:ln cap="flat" cmpd="sng" w="12700">
              <a:solidFill>
                <a:srgbClr val="35C5C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0"/>
            <p:cNvSpPr/>
            <p:nvPr/>
          </p:nvSpPr>
          <p:spPr>
            <a:xfrm rot="-5400000">
              <a:off x="3871530"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Horas Extras Pagadas</a:t>
              </a:r>
              <a:endParaRPr b="0" i="0" sz="1400" u="none" cap="none" strike="noStrike">
                <a:solidFill>
                  <a:srgbClr val="000000"/>
                </a:solidFill>
                <a:latin typeface="Arial"/>
                <a:ea typeface="Arial"/>
                <a:cs typeface="Arial"/>
                <a:sym typeface="Arial"/>
              </a:endParaRPr>
            </a:p>
          </p:txBody>
        </p:sp>
        <p:sp>
          <p:nvSpPr>
            <p:cNvPr id="344" name="Google Shape;344;p10"/>
            <p:cNvSpPr/>
            <p:nvPr/>
          </p:nvSpPr>
          <p:spPr>
            <a:xfrm>
              <a:off x="5642089" y="1781968"/>
              <a:ext cx="823515" cy="823515"/>
            </a:xfrm>
            <a:prstGeom prst="chord">
              <a:avLst>
                <a:gd fmla="val 4800000" name="adj1"/>
                <a:gd fmla="val 16800000" name="adj2"/>
              </a:avLst>
            </a:prstGeom>
            <a:solidFill>
              <a:srgbClr val="FFE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0"/>
            <p:cNvSpPr/>
            <p:nvPr/>
          </p:nvSpPr>
          <p:spPr>
            <a:xfrm>
              <a:off x="5724440" y="1864320"/>
              <a:ext cx="658812" cy="658812"/>
            </a:xfrm>
            <a:prstGeom prst="pie">
              <a:avLst>
                <a:gd fmla="val 5400000" name="adj1"/>
                <a:gd fmla="val 16200000" name="adj2"/>
              </a:avLst>
            </a:prstGeom>
            <a:solidFill>
              <a:srgbClr val="4371C3"/>
            </a:solidFill>
            <a:ln cap="flat" cmpd="sng" w="12700">
              <a:solidFill>
                <a:srgbClr val="4371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0"/>
            <p:cNvSpPr/>
            <p:nvPr/>
          </p:nvSpPr>
          <p:spPr>
            <a:xfrm rot="-5400000">
              <a:off x="4695046" y="36348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Clima / Engagement</a:t>
              </a:r>
              <a:endParaRPr b="0" i="0" sz="1400" u="none" cap="none" strike="noStrike">
                <a:solidFill>
                  <a:srgbClr val="000000"/>
                </a:solidFill>
                <a:latin typeface="Arial"/>
                <a:ea typeface="Arial"/>
                <a:cs typeface="Arial"/>
                <a:sym typeface="Arial"/>
              </a:endParaRPr>
            </a:p>
          </p:txBody>
        </p:sp>
      </p:grpSp>
      <p:grpSp>
        <p:nvGrpSpPr>
          <p:cNvPr id="347" name="Google Shape;347;p10"/>
          <p:cNvGrpSpPr/>
          <p:nvPr/>
        </p:nvGrpSpPr>
        <p:grpSpPr>
          <a:xfrm rot="5400000">
            <a:off x="4222238" y="2844121"/>
            <a:ext cx="4941093" cy="3294062"/>
            <a:chOff x="1676911" y="1934368"/>
            <a:chExt cx="4941093" cy="3294062"/>
          </a:xfrm>
        </p:grpSpPr>
        <p:sp>
          <p:nvSpPr>
            <p:cNvPr id="348" name="Google Shape;348;p10"/>
            <p:cNvSpPr/>
            <p:nvPr/>
          </p:nvSpPr>
          <p:spPr>
            <a:xfrm>
              <a:off x="1676911"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0"/>
            <p:cNvSpPr/>
            <p:nvPr/>
          </p:nvSpPr>
          <p:spPr>
            <a:xfrm>
              <a:off x="1759262" y="2016720"/>
              <a:ext cx="658812" cy="658812"/>
            </a:xfrm>
            <a:prstGeom prst="pie">
              <a:avLst>
                <a:gd fmla="val 14400000" name="adj1"/>
                <a:gd fmla="val 16200000" name="adj2"/>
              </a:avLst>
            </a:prstGeom>
            <a:solidFill>
              <a:schemeClr val="accent2"/>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0"/>
            <p:cNvSpPr/>
            <p:nvPr/>
          </p:nvSpPr>
          <p:spPr>
            <a:xfrm rot="-5400000">
              <a:off x="729869"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Horas de Capacitación</a:t>
              </a:r>
              <a:endParaRPr b="0" i="0" sz="1400" u="none" cap="none" strike="noStrike">
                <a:solidFill>
                  <a:srgbClr val="000000"/>
                </a:solidFill>
                <a:latin typeface="Arial"/>
                <a:ea typeface="Arial"/>
                <a:cs typeface="Arial"/>
                <a:sym typeface="Arial"/>
              </a:endParaRPr>
            </a:p>
          </p:txBody>
        </p:sp>
        <p:sp>
          <p:nvSpPr>
            <p:cNvPr id="351" name="Google Shape;351;p10"/>
            <p:cNvSpPr/>
            <p:nvPr/>
          </p:nvSpPr>
          <p:spPr>
            <a:xfrm>
              <a:off x="2500426"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0"/>
            <p:cNvSpPr/>
            <p:nvPr/>
          </p:nvSpPr>
          <p:spPr>
            <a:xfrm>
              <a:off x="2582778" y="2016720"/>
              <a:ext cx="658812" cy="658812"/>
            </a:xfrm>
            <a:prstGeom prst="pie">
              <a:avLst>
                <a:gd fmla="val 12600000" name="adj1"/>
                <a:gd fmla="val 16200000" name="adj2"/>
              </a:avLst>
            </a:prstGeom>
            <a:solidFill>
              <a:schemeClr val="accent3"/>
            </a:solidFill>
            <a:ln cap="flat" cmpd="sng" w="1270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0"/>
            <p:cNvSpPr/>
            <p:nvPr/>
          </p:nvSpPr>
          <p:spPr>
            <a:xfrm rot="-5400000">
              <a:off x="1553384"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Dotación total</a:t>
              </a:r>
              <a:endParaRPr b="0" i="0" sz="1400" u="none" cap="none" strike="noStrike">
                <a:solidFill>
                  <a:srgbClr val="000000"/>
                </a:solidFill>
                <a:latin typeface="Arial"/>
                <a:ea typeface="Arial"/>
                <a:cs typeface="Arial"/>
                <a:sym typeface="Arial"/>
              </a:endParaRPr>
            </a:p>
          </p:txBody>
        </p:sp>
        <p:sp>
          <p:nvSpPr>
            <p:cNvPr id="354" name="Google Shape;354;p10"/>
            <p:cNvSpPr/>
            <p:nvPr/>
          </p:nvSpPr>
          <p:spPr>
            <a:xfrm>
              <a:off x="3323942"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0"/>
            <p:cNvSpPr/>
            <p:nvPr/>
          </p:nvSpPr>
          <p:spPr>
            <a:xfrm>
              <a:off x="3406293" y="2016720"/>
              <a:ext cx="658812" cy="658812"/>
            </a:xfrm>
            <a:prstGeom prst="pie">
              <a:avLst>
                <a:gd fmla="val 10800000" name="adj1"/>
                <a:gd fmla="val 16200000" name="adj2"/>
              </a:avLst>
            </a:prstGeom>
            <a:solidFill>
              <a:schemeClr val="accent4"/>
            </a:solidFill>
            <a:ln cap="flat" cmpd="sng" w="12700">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0"/>
            <p:cNvSpPr/>
            <p:nvPr/>
          </p:nvSpPr>
          <p:spPr>
            <a:xfrm rot="-5400000">
              <a:off x="2376899"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Productividad por Hora de Empleado</a:t>
              </a:r>
              <a:endParaRPr b="0" i="0" sz="1700" u="none" cap="none" strike="noStrike">
                <a:solidFill>
                  <a:schemeClr val="dk1"/>
                </a:solidFill>
                <a:latin typeface="Calibri"/>
                <a:ea typeface="Calibri"/>
                <a:cs typeface="Calibri"/>
                <a:sym typeface="Calibri"/>
              </a:endParaRPr>
            </a:p>
          </p:txBody>
        </p:sp>
        <p:sp>
          <p:nvSpPr>
            <p:cNvPr id="357" name="Google Shape;357;p10"/>
            <p:cNvSpPr/>
            <p:nvPr/>
          </p:nvSpPr>
          <p:spPr>
            <a:xfrm>
              <a:off x="4147458"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0"/>
            <p:cNvSpPr/>
            <p:nvPr/>
          </p:nvSpPr>
          <p:spPr>
            <a:xfrm>
              <a:off x="4229809" y="2016720"/>
              <a:ext cx="658812" cy="658812"/>
            </a:xfrm>
            <a:prstGeom prst="pie">
              <a:avLst>
                <a:gd fmla="val 9000000" name="adj1"/>
                <a:gd fmla="val 16200000" name="adj2"/>
              </a:avLst>
            </a:prstGeom>
            <a:solidFill>
              <a:srgbClr val="4372C3"/>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0"/>
            <p:cNvSpPr/>
            <p:nvPr/>
          </p:nvSpPr>
          <p:spPr>
            <a:xfrm rot="-5400000">
              <a:off x="3200415"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Índice de frecuencia de accidentes</a:t>
              </a:r>
              <a:endParaRPr b="0" i="0" sz="1700" u="none" cap="none" strike="noStrike">
                <a:solidFill>
                  <a:schemeClr val="dk1"/>
                </a:solidFill>
                <a:latin typeface="Calibri"/>
                <a:ea typeface="Calibri"/>
                <a:cs typeface="Calibri"/>
                <a:sym typeface="Calibri"/>
              </a:endParaRPr>
            </a:p>
          </p:txBody>
        </p:sp>
        <p:sp>
          <p:nvSpPr>
            <p:cNvPr id="360" name="Google Shape;360;p10"/>
            <p:cNvSpPr/>
            <p:nvPr/>
          </p:nvSpPr>
          <p:spPr>
            <a:xfrm>
              <a:off x="4970973"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0"/>
            <p:cNvSpPr/>
            <p:nvPr/>
          </p:nvSpPr>
          <p:spPr>
            <a:xfrm>
              <a:off x="5053325" y="2016720"/>
              <a:ext cx="658812" cy="658812"/>
            </a:xfrm>
            <a:prstGeom prst="pie">
              <a:avLst>
                <a:gd fmla="val 7200000" name="adj1"/>
                <a:gd fmla="val 16200000" name="adj2"/>
              </a:avLst>
            </a:prstGeom>
            <a:solidFill>
              <a:schemeClr val="accent6"/>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0"/>
            <p:cNvSpPr/>
            <p:nvPr/>
          </p:nvSpPr>
          <p:spPr>
            <a:xfrm rot="-5400000">
              <a:off x="4023930"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Porcentaje de salarios fuera de mercado</a:t>
              </a:r>
              <a:endParaRPr b="0" i="0" sz="1700" u="none" cap="none" strike="noStrike">
                <a:solidFill>
                  <a:schemeClr val="dk1"/>
                </a:solidFill>
                <a:latin typeface="Calibri"/>
                <a:ea typeface="Calibri"/>
                <a:cs typeface="Calibri"/>
                <a:sym typeface="Calibri"/>
              </a:endParaRPr>
            </a:p>
          </p:txBody>
        </p:sp>
        <p:sp>
          <p:nvSpPr>
            <p:cNvPr id="363" name="Google Shape;363;p10"/>
            <p:cNvSpPr/>
            <p:nvPr/>
          </p:nvSpPr>
          <p:spPr>
            <a:xfrm>
              <a:off x="5794489" y="1934368"/>
              <a:ext cx="823515" cy="823515"/>
            </a:xfrm>
            <a:prstGeom prst="chord">
              <a:avLst>
                <a:gd fmla="val 4800000" name="adj1"/>
                <a:gd fmla="val 16800000" name="adj2"/>
              </a:avLst>
            </a:prstGeom>
            <a:solidFill>
              <a:srgbClr val="F7D5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0"/>
            <p:cNvSpPr/>
            <p:nvPr/>
          </p:nvSpPr>
          <p:spPr>
            <a:xfrm>
              <a:off x="5876840" y="2016720"/>
              <a:ext cx="658812" cy="658812"/>
            </a:xfrm>
            <a:prstGeom prst="pie">
              <a:avLst>
                <a:gd fmla="val 5400000" name="adj1"/>
                <a:gd fmla="val 16200000" name="adj2"/>
              </a:avLst>
            </a:prstGeom>
            <a:solidFill>
              <a:schemeClr val="accent2"/>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0"/>
            <p:cNvSpPr/>
            <p:nvPr/>
          </p:nvSpPr>
          <p:spPr>
            <a:xfrm rot="-5400000">
              <a:off x="4847446" y="3787278"/>
              <a:ext cx="2388195" cy="494109"/>
            </a:xfrm>
            <a:custGeom>
              <a:rect b="b" l="l" r="r" t="t"/>
              <a:pathLst>
                <a:path extrusionOk="0" h="494109" w="2388195">
                  <a:moveTo>
                    <a:pt x="0" y="0"/>
                  </a:moveTo>
                  <a:lnTo>
                    <a:pt x="2388195" y="0"/>
                  </a:lnTo>
                  <a:lnTo>
                    <a:pt x="2388195" y="494109"/>
                  </a:lnTo>
                  <a:lnTo>
                    <a:pt x="0" y="494109"/>
                  </a:lnTo>
                  <a:lnTo>
                    <a:pt x="0" y="0"/>
                  </a:lnTo>
                  <a:close/>
                </a:path>
              </a:pathLst>
            </a:custGeom>
            <a:noFill/>
            <a:ln>
              <a:noFill/>
            </a:ln>
          </p:spPr>
          <p:txBody>
            <a:bodyPr anchorCtr="0" anchor="b" bIns="0" lIns="0" spcFirstLastPara="1" rIns="0" wrap="square" tIns="0">
              <a:noAutofit/>
            </a:bodyPr>
            <a:lstStyle/>
            <a:p>
              <a:pPr indent="0" lvl="0" marL="0" marR="0" rtl="0" algn="r">
                <a:lnSpc>
                  <a:spcPct val="90000"/>
                </a:lnSpc>
                <a:spcBef>
                  <a:spcPts val="0"/>
                </a:spcBef>
                <a:spcAft>
                  <a:spcPts val="0"/>
                </a:spcAft>
                <a:buClr>
                  <a:schemeClr val="dk1"/>
                </a:buClr>
                <a:buSzPts val="1700"/>
                <a:buFont typeface="Calibri"/>
                <a:buNone/>
              </a:pPr>
              <a:r>
                <a:rPr b="0" i="0" lang="es-AR" sz="1700" u="none" cap="none" strike="noStrike">
                  <a:solidFill>
                    <a:schemeClr val="dk1"/>
                  </a:solidFill>
                  <a:latin typeface="Calibri"/>
                  <a:ea typeface="Calibri"/>
                  <a:cs typeface="Calibri"/>
                  <a:sym typeface="Calibri"/>
                </a:rPr>
                <a:t>Otros</a:t>
              </a:r>
              <a:endParaRPr b="0" i="0" sz="1400" u="none" cap="none" strike="noStrike">
                <a:solidFill>
                  <a:srgbClr val="000000"/>
                </a:solidFill>
                <a:latin typeface="Arial"/>
                <a:ea typeface="Arial"/>
                <a:cs typeface="Arial"/>
                <a:sym typeface="Arial"/>
              </a:endParaRPr>
            </a:p>
          </p:txBody>
        </p:sp>
      </p:grpSp>
      <p:sp>
        <p:nvSpPr>
          <p:cNvPr id="366" name="Google Shape;366;p10"/>
          <p:cNvSpPr/>
          <p:nvPr/>
        </p:nvSpPr>
        <p:spPr>
          <a:xfrm>
            <a:off x="394970" y="1470660"/>
            <a:ext cx="6873240" cy="36893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KPIs en Recursos Humanos</a:t>
            </a:r>
            <a:endParaRPr b="0" i="0" sz="1400" u="none" cap="none" strike="noStrike">
              <a:solidFill>
                <a:srgbClr val="000000"/>
              </a:solidFill>
              <a:latin typeface="Arial"/>
              <a:ea typeface="Arial"/>
              <a:cs typeface="Arial"/>
              <a:sym typeface="Arial"/>
            </a:endParaRPr>
          </a:p>
        </p:txBody>
      </p:sp>
      <p:sp>
        <p:nvSpPr>
          <p:cNvPr id="367" name="Google Shape;367;p10"/>
          <p:cNvSpPr/>
          <p:nvPr/>
        </p:nvSpPr>
        <p:spPr>
          <a:xfrm>
            <a:off x="5276259" y="1197092"/>
            <a:ext cx="3703276" cy="642503"/>
          </a:xfrm>
          <a:custGeom>
            <a:rect b="b" l="l" r="r" t="t"/>
            <a:pathLst>
              <a:path extrusionOk="0" h="120000" w="120000">
                <a:moveTo>
                  <a:pt x="0" y="0"/>
                </a:moveTo>
                <a:lnTo>
                  <a:pt x="120000" y="0"/>
                </a:lnTo>
                <a:lnTo>
                  <a:pt x="120000" y="120000"/>
                </a:lnTo>
                <a:lnTo>
                  <a:pt x="0" y="120000"/>
                </a:lnTo>
                <a:close/>
              </a:path>
              <a:path extrusionOk="0" fill="none" h="120000" w="120000">
                <a:moveTo>
                  <a:pt x="-2945" y="0"/>
                </a:moveTo>
                <a:close/>
              </a:path>
              <a:path extrusionOk="0" fill="none" h="120000" w="120000">
                <a:moveTo>
                  <a:pt x="-2945" y="53634"/>
                </a:moveTo>
                <a:lnTo>
                  <a:pt x="-19192" y="72511"/>
                </a:lnTo>
              </a:path>
            </a:pathLst>
          </a:cu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ISO 30414 (2018): International standard for Human Capital reporting</a:t>
            </a:r>
            <a:endParaRPr b="0"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37"/>
          <p:cNvPicPr preferRelativeResize="0"/>
          <p:nvPr/>
        </p:nvPicPr>
        <p:blipFill rotWithShape="1">
          <a:blip r:embed="rId3">
            <a:alphaModFix/>
          </a:blip>
          <a:srcRect b="0" l="2029" r="0" t="0"/>
          <a:stretch/>
        </p:blipFill>
        <p:spPr>
          <a:xfrm>
            <a:off x="223861" y="1459057"/>
            <a:ext cx="8696277" cy="3939886"/>
          </a:xfrm>
          <a:prstGeom prst="rect">
            <a:avLst/>
          </a:prstGeom>
          <a:noFill/>
          <a:ln>
            <a:noFill/>
          </a:ln>
        </p:spPr>
      </p:pic>
      <p:sp>
        <p:nvSpPr>
          <p:cNvPr id="374" name="Google Shape;374;p37"/>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OKR</a:t>
            </a:r>
            <a:endParaRPr b="1" i="0" sz="2400" u="none" cap="none" strike="noStrike">
              <a:solidFill>
                <a:srgbClr val="3A383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g2d3308f7812_0_0"/>
          <p:cNvPicPr preferRelativeResize="0"/>
          <p:nvPr/>
        </p:nvPicPr>
        <p:blipFill rotWithShape="1">
          <a:blip r:embed="rId3">
            <a:alphaModFix/>
          </a:blip>
          <a:srcRect b="0" l="49606" r="0" t="37803"/>
          <a:stretch/>
        </p:blipFill>
        <p:spPr>
          <a:xfrm>
            <a:off x="2241350" y="1645275"/>
            <a:ext cx="4473048" cy="2450500"/>
          </a:xfrm>
          <a:prstGeom prst="rect">
            <a:avLst/>
          </a:prstGeom>
          <a:noFill/>
          <a:ln>
            <a:noFill/>
          </a:ln>
        </p:spPr>
      </p:pic>
      <p:sp>
        <p:nvSpPr>
          <p:cNvPr id="381" name="Google Shape;381;g2d3308f7812_0_0"/>
          <p:cNvSpPr txBox="1"/>
          <p:nvPr/>
        </p:nvSpPr>
        <p:spPr>
          <a:xfrm>
            <a:off x="104504" y="-23"/>
            <a:ext cx="66099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OKR</a:t>
            </a:r>
            <a:endParaRPr b="1" i="0" sz="2400" u="none" cap="none" strike="noStrike">
              <a:solidFill>
                <a:srgbClr val="3A3838"/>
              </a:solidFill>
              <a:latin typeface="Arial"/>
              <a:ea typeface="Arial"/>
              <a:cs typeface="Arial"/>
              <a:sym typeface="Arial"/>
            </a:endParaRPr>
          </a:p>
        </p:txBody>
      </p:sp>
      <p:cxnSp>
        <p:nvCxnSpPr>
          <p:cNvPr id="382" name="Google Shape;382;g2d3308f7812_0_0"/>
          <p:cNvCxnSpPr>
            <a:stCxn id="383" idx="2"/>
            <a:endCxn id="384" idx="0"/>
          </p:cNvCxnSpPr>
          <p:nvPr/>
        </p:nvCxnSpPr>
        <p:spPr>
          <a:xfrm flipH="1">
            <a:off x="1620825" y="2606350"/>
            <a:ext cx="1197300" cy="1107600"/>
          </a:xfrm>
          <a:prstGeom prst="curvedConnector2">
            <a:avLst/>
          </a:prstGeom>
          <a:noFill/>
          <a:ln cap="flat" cmpd="sng" w="76200">
            <a:solidFill>
              <a:schemeClr val="dk2"/>
            </a:solidFill>
            <a:prstDash val="solid"/>
            <a:round/>
            <a:headEnd len="med" w="med" type="none"/>
            <a:tailEnd len="med" w="med" type="triangle"/>
          </a:ln>
        </p:spPr>
      </p:cxnSp>
      <p:sp>
        <p:nvSpPr>
          <p:cNvPr id="383" name="Google Shape;383;g2d3308f7812_0_0"/>
          <p:cNvSpPr/>
          <p:nvPr/>
        </p:nvSpPr>
        <p:spPr>
          <a:xfrm>
            <a:off x="2818125" y="2003650"/>
            <a:ext cx="1173000" cy="1205400"/>
          </a:xfrm>
          <a:prstGeom prst="ellipse">
            <a:avLst/>
          </a:prstGeom>
          <a:noFill/>
          <a:ln cap="flat" cmpd="sng" w="762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4" name="Google Shape;384;g2d3308f7812_0_0"/>
          <p:cNvSpPr txBox="1"/>
          <p:nvPr/>
        </p:nvSpPr>
        <p:spPr>
          <a:xfrm>
            <a:off x="423525" y="3714075"/>
            <a:ext cx="2394600" cy="8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AR" sz="2800">
                <a:solidFill>
                  <a:schemeClr val="dk1"/>
                </a:solidFill>
                <a:latin typeface="Calibri"/>
                <a:ea typeface="Calibri"/>
                <a:cs typeface="Calibri"/>
                <a:sym typeface="Calibri"/>
              </a:rPr>
              <a:t>Responde al:</a:t>
            </a:r>
            <a:br>
              <a:rPr lang="es-AR" sz="2800">
                <a:solidFill>
                  <a:schemeClr val="dk1"/>
                </a:solidFill>
                <a:latin typeface="Calibri"/>
                <a:ea typeface="Calibri"/>
                <a:cs typeface="Calibri"/>
                <a:sym typeface="Calibri"/>
              </a:rPr>
            </a:br>
            <a:r>
              <a:rPr lang="es-AR" sz="2800">
                <a:solidFill>
                  <a:schemeClr val="dk1"/>
                </a:solidFill>
                <a:latin typeface="Calibri"/>
                <a:ea typeface="Calibri"/>
                <a:cs typeface="Calibri"/>
                <a:sym typeface="Calibri"/>
              </a:rPr>
              <a:t> "Qué quiero lograr?"</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85" name="Google Shape;385;g2d3308f7812_0_0"/>
          <p:cNvSpPr/>
          <p:nvPr/>
        </p:nvSpPr>
        <p:spPr>
          <a:xfrm>
            <a:off x="3991125" y="1725250"/>
            <a:ext cx="2530500" cy="1762200"/>
          </a:xfrm>
          <a:prstGeom prst="ellipse">
            <a:avLst/>
          </a:prstGeom>
          <a:noFill/>
          <a:ln cap="flat" cmpd="sng" w="762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386" name="Google Shape;386;g2d3308f7812_0_0"/>
          <p:cNvCxnSpPr>
            <a:stCxn id="385" idx="6"/>
          </p:cNvCxnSpPr>
          <p:nvPr/>
        </p:nvCxnSpPr>
        <p:spPr>
          <a:xfrm>
            <a:off x="6521625" y="2606350"/>
            <a:ext cx="651300" cy="1492800"/>
          </a:xfrm>
          <a:prstGeom prst="curvedConnector2">
            <a:avLst/>
          </a:prstGeom>
          <a:noFill/>
          <a:ln cap="flat" cmpd="sng" w="76200">
            <a:solidFill>
              <a:schemeClr val="dk2"/>
            </a:solidFill>
            <a:prstDash val="solid"/>
            <a:round/>
            <a:headEnd len="med" w="med" type="none"/>
            <a:tailEnd len="med" w="med" type="triangle"/>
          </a:ln>
        </p:spPr>
      </p:cxnSp>
      <p:sp>
        <p:nvSpPr>
          <p:cNvPr id="387" name="Google Shape;387;g2d3308f7812_0_0"/>
          <p:cNvSpPr txBox="1"/>
          <p:nvPr/>
        </p:nvSpPr>
        <p:spPr>
          <a:xfrm>
            <a:off x="5907900" y="3909500"/>
            <a:ext cx="3236100" cy="8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AR" sz="2800">
                <a:solidFill>
                  <a:schemeClr val="dk1"/>
                </a:solidFill>
                <a:latin typeface="Calibri"/>
                <a:ea typeface="Calibri"/>
                <a:cs typeface="Calibri"/>
                <a:sym typeface="Calibri"/>
              </a:rPr>
              <a:t>Responde al:</a:t>
            </a:r>
            <a:br>
              <a:rPr lang="es-AR" sz="2800">
                <a:solidFill>
                  <a:schemeClr val="dk1"/>
                </a:solidFill>
                <a:latin typeface="Calibri"/>
                <a:ea typeface="Calibri"/>
                <a:cs typeface="Calibri"/>
                <a:sym typeface="Calibri"/>
              </a:rPr>
            </a:br>
            <a:r>
              <a:rPr lang="es-AR" sz="2800">
                <a:solidFill>
                  <a:schemeClr val="dk1"/>
                </a:solidFill>
                <a:latin typeface="Calibri"/>
                <a:ea typeface="Calibri"/>
                <a:cs typeface="Calibri"/>
                <a:sym typeface="Calibri"/>
              </a:rPr>
              <a:t> "</a:t>
            </a:r>
            <a:r>
              <a:rPr lang="es-AR" sz="2800">
                <a:solidFill>
                  <a:schemeClr val="dk1"/>
                </a:solidFill>
                <a:latin typeface="Calibri"/>
                <a:ea typeface="Calibri"/>
                <a:cs typeface="Calibri"/>
                <a:sym typeface="Calibri"/>
              </a:rPr>
              <a:t>Cómo</a:t>
            </a:r>
            <a:r>
              <a:rPr lang="es-AR" sz="2800">
                <a:solidFill>
                  <a:schemeClr val="dk1"/>
                </a:solidFill>
                <a:latin typeface="Calibri"/>
                <a:ea typeface="Calibri"/>
                <a:cs typeface="Calibri"/>
                <a:sym typeface="Calibri"/>
              </a:rPr>
              <a:t> sabemos si alcanzamos el objetivo?"</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8"/>
          <p:cNvPicPr preferRelativeResize="0"/>
          <p:nvPr/>
        </p:nvPicPr>
        <p:blipFill rotWithShape="1">
          <a:blip r:embed="rId3">
            <a:alphaModFix/>
          </a:blip>
          <a:srcRect b="0" l="2153" r="9127" t="0"/>
          <a:stretch/>
        </p:blipFill>
        <p:spPr>
          <a:xfrm>
            <a:off x="104504" y="1097280"/>
            <a:ext cx="8825346" cy="5511627"/>
          </a:xfrm>
          <a:prstGeom prst="rect">
            <a:avLst/>
          </a:prstGeom>
          <a:noFill/>
          <a:ln>
            <a:noFill/>
          </a:ln>
        </p:spPr>
      </p:pic>
      <p:sp>
        <p:nvSpPr>
          <p:cNvPr id="393" name="Google Shape;393;p38"/>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OKR</a:t>
            </a:r>
            <a:endParaRPr b="1" i="0" sz="2400" u="none" cap="none" strike="noStrike">
              <a:solidFill>
                <a:srgbClr val="3A383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OKR</a:t>
            </a:r>
            <a:endParaRPr b="1" i="0" sz="2400" u="none" cap="none" strike="noStrike">
              <a:solidFill>
                <a:srgbClr val="3A3838"/>
              </a:solidFill>
              <a:latin typeface="Arial"/>
              <a:ea typeface="Arial"/>
              <a:cs typeface="Arial"/>
              <a:sym typeface="Arial"/>
            </a:endParaRPr>
          </a:p>
        </p:txBody>
      </p:sp>
      <p:pic>
        <p:nvPicPr>
          <p:cNvPr id="399" name="Google Shape;399;p39"/>
          <p:cNvPicPr preferRelativeResize="0"/>
          <p:nvPr/>
        </p:nvPicPr>
        <p:blipFill rotWithShape="1">
          <a:blip r:embed="rId3">
            <a:alphaModFix/>
          </a:blip>
          <a:srcRect b="13104" l="2500" r="8182" t="3805"/>
          <a:stretch/>
        </p:blipFill>
        <p:spPr>
          <a:xfrm>
            <a:off x="54509" y="1371600"/>
            <a:ext cx="9034981" cy="4724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3" name="Shape 403"/>
        <p:cNvGrpSpPr/>
        <p:nvPr/>
      </p:nvGrpSpPr>
      <p:grpSpPr>
        <a:xfrm>
          <a:off x="0" y="0"/>
          <a:ext cx="0" cy="0"/>
          <a:chOff x="0" y="0"/>
          <a:chExt cx="0" cy="0"/>
        </a:xfrm>
      </p:grpSpPr>
      <p:sp>
        <p:nvSpPr>
          <p:cNvPr id="404" name="Google Shape;404;p40"/>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OKR</a:t>
            </a:r>
            <a:endParaRPr b="1" i="0" sz="2400" u="none" cap="none" strike="noStrike">
              <a:solidFill>
                <a:srgbClr val="3A3838"/>
              </a:solidFill>
              <a:latin typeface="Arial"/>
              <a:ea typeface="Arial"/>
              <a:cs typeface="Arial"/>
              <a:sym typeface="Arial"/>
            </a:endParaRPr>
          </a:p>
        </p:txBody>
      </p:sp>
      <p:pic>
        <p:nvPicPr>
          <p:cNvPr id="405" name="Google Shape;405;p40"/>
          <p:cNvPicPr preferRelativeResize="0"/>
          <p:nvPr/>
        </p:nvPicPr>
        <p:blipFill rotWithShape="1">
          <a:blip r:embed="rId3">
            <a:alphaModFix/>
          </a:blip>
          <a:srcRect b="0" l="0" r="0" t="0"/>
          <a:stretch/>
        </p:blipFill>
        <p:spPr>
          <a:xfrm>
            <a:off x="1964459" y="1536123"/>
            <a:ext cx="6489700" cy="4533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1"/>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Rotación de Personal</a:t>
            </a:r>
            <a:endParaRPr b="1" i="0" sz="1400" u="none" cap="none" strike="noStrike">
              <a:solidFill>
                <a:srgbClr val="000000"/>
              </a:solidFill>
              <a:latin typeface="Arial"/>
              <a:ea typeface="Arial"/>
              <a:cs typeface="Arial"/>
              <a:sym typeface="Arial"/>
            </a:endParaRPr>
          </a:p>
        </p:txBody>
      </p:sp>
      <p:sp>
        <p:nvSpPr>
          <p:cNvPr id="412" name="Google Shape;412;p11"/>
          <p:cNvSpPr/>
          <p:nvPr/>
        </p:nvSpPr>
        <p:spPr>
          <a:xfrm>
            <a:off x="600710" y="1499870"/>
            <a:ext cx="3554095"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413" name="Google Shape;413;p11"/>
          <p:cNvSpPr/>
          <p:nvPr/>
        </p:nvSpPr>
        <p:spPr>
          <a:xfrm>
            <a:off x="715010" y="1499870"/>
            <a:ext cx="3209290" cy="1147445"/>
          </a:xfrm>
          <a:prstGeom prst="roundRect">
            <a:avLst>
              <a:gd fmla="val 18176" name="adj"/>
            </a:avLst>
          </a:prstGeom>
          <a:no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p:txBody>
      </p:sp>
      <p:sp>
        <p:nvSpPr>
          <p:cNvPr id="414" name="Google Shape;414;p11"/>
          <p:cNvSpPr/>
          <p:nvPr/>
        </p:nvSpPr>
        <p:spPr>
          <a:xfrm>
            <a:off x="344805" y="1499870"/>
            <a:ext cx="8450580" cy="5087620"/>
          </a:xfrm>
          <a:prstGeom prst="roundRect">
            <a:avLst>
              <a:gd fmla="val 0" name="adj"/>
            </a:avLst>
          </a:prstGeom>
          <a:solidFill>
            <a:schemeClr val="lt1"/>
          </a:solidFill>
          <a:ln cap="flat" cmpd="sng" w="19050">
            <a:solidFill>
              <a:srgbClr val="BFBFBF"/>
            </a:solidFill>
            <a:prstDash val="solid"/>
            <a:miter lim="800000"/>
            <a:headEnd len="sm" w="sm" type="none"/>
            <a:tailEnd len="sm" w="sm" type="none"/>
          </a:ln>
        </p:spPr>
        <p:txBody>
          <a:bodyPr anchorCtr="0" anchor="t" bIns="45675" lIns="215900" spcFirstLastPara="1" rIns="144125" wrap="square" tIns="1259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415" name="Google Shape;415;p11"/>
          <p:cNvGrpSpPr/>
          <p:nvPr/>
        </p:nvGrpSpPr>
        <p:grpSpPr>
          <a:xfrm>
            <a:off x="348615" y="1419860"/>
            <a:ext cx="3766185" cy="89535"/>
            <a:chOff x="2777964" y="2773531"/>
            <a:chExt cx="4544181" cy="89539"/>
          </a:xfrm>
        </p:grpSpPr>
        <p:sp>
          <p:nvSpPr>
            <p:cNvPr id="416" name="Google Shape;416;p11"/>
            <p:cNvSpPr/>
            <p:nvPr/>
          </p:nvSpPr>
          <p:spPr>
            <a:xfrm>
              <a:off x="2777964" y="2773531"/>
              <a:ext cx="4544181" cy="89539"/>
            </a:xfrm>
            <a:prstGeom prst="rect">
              <a:avLst/>
            </a:prstGeom>
            <a:solidFill>
              <a:schemeClr val="accent4"/>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1"/>
            <p:cNvSpPr/>
            <p:nvPr/>
          </p:nvSpPr>
          <p:spPr>
            <a:xfrm>
              <a:off x="2777964" y="2773531"/>
              <a:ext cx="1136045" cy="89539"/>
            </a:xfrm>
            <a:prstGeom prst="rect">
              <a:avLst/>
            </a:prstGeom>
            <a:solidFill>
              <a:schemeClr val="accent1"/>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11"/>
            <p:cNvSpPr/>
            <p:nvPr/>
          </p:nvSpPr>
          <p:spPr>
            <a:xfrm>
              <a:off x="3914009" y="2773531"/>
              <a:ext cx="1136045" cy="89539"/>
            </a:xfrm>
            <a:prstGeom prst="rect">
              <a:avLst/>
            </a:prstGeom>
            <a:solidFill>
              <a:schemeClr val="accent1">
                <a:alpha val="60000"/>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p11"/>
            <p:cNvSpPr/>
            <p:nvPr/>
          </p:nvSpPr>
          <p:spPr>
            <a:xfrm>
              <a:off x="5050054" y="2773531"/>
              <a:ext cx="1136045" cy="89539"/>
            </a:xfrm>
            <a:prstGeom prst="rect">
              <a:avLst/>
            </a:prstGeom>
            <a:solidFill>
              <a:schemeClr val="accent1">
                <a:alpha val="29019"/>
              </a:schemeClr>
            </a:solidFill>
            <a:ln>
              <a:noFill/>
            </a:ln>
          </p:spPr>
          <p:txBody>
            <a:bodyPr anchorCtr="0" anchor="ctr" bIns="72000" lIns="90000" spcFirstLastPara="1" rIns="90000" wrap="square" tIns="72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0" name="Google Shape;420;p11"/>
          <p:cNvSpPr/>
          <p:nvPr/>
        </p:nvSpPr>
        <p:spPr>
          <a:xfrm>
            <a:off x="728344" y="1777365"/>
            <a:ext cx="7814945" cy="48551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Rotación de Personal (Turnover)</a:t>
            </a:r>
            <a:endParaRPr b="0" i="0" sz="1400" u="none" cap="none" strike="noStrike">
              <a:solidFill>
                <a:srgbClr val="000000"/>
              </a:solidFill>
              <a:latin typeface="Arial"/>
              <a:ea typeface="Arial"/>
              <a:cs typeface="Arial"/>
              <a:sym typeface="Arial"/>
            </a:endParaRPr>
          </a:p>
        </p:txBody>
      </p:sp>
      <p:sp>
        <p:nvSpPr>
          <p:cNvPr id="421" name="Google Shape;421;p11"/>
          <p:cNvSpPr/>
          <p:nvPr/>
        </p:nvSpPr>
        <p:spPr>
          <a:xfrm>
            <a:off x="738822" y="2408052"/>
            <a:ext cx="7690168" cy="161069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0" i="0" lang="es-AR" sz="1800" u="none" cap="none" strike="noStrike">
                <a:solidFill>
                  <a:schemeClr val="dk1"/>
                </a:solidFill>
                <a:latin typeface="Arial"/>
                <a:ea typeface="Arial"/>
                <a:cs typeface="Arial"/>
                <a:sym typeface="Arial"/>
              </a:rPr>
              <a:t>Es la </a:t>
            </a:r>
            <a:r>
              <a:rPr b="1" i="0" lang="es-AR" sz="1800" u="none" cap="none" strike="noStrike">
                <a:solidFill>
                  <a:schemeClr val="dk1"/>
                </a:solidFill>
                <a:latin typeface="Arial"/>
                <a:ea typeface="Arial"/>
                <a:cs typeface="Arial"/>
                <a:sym typeface="Arial"/>
              </a:rPr>
              <a:t>fluctuación</a:t>
            </a:r>
            <a:r>
              <a:rPr b="0" i="0" lang="es-AR" sz="1800" u="none" cap="none" strike="noStrike">
                <a:solidFill>
                  <a:schemeClr val="dk1"/>
                </a:solidFill>
                <a:latin typeface="Arial"/>
                <a:ea typeface="Arial"/>
                <a:cs typeface="Arial"/>
                <a:sym typeface="Arial"/>
              </a:rPr>
              <a:t> de personal entre una organización y su ambiente; en otras palabras, el intercambio de personas entre la organización y el ambiente está definido por el </a:t>
            </a:r>
            <a:r>
              <a:rPr b="1" i="0" lang="es-AR" sz="1800" u="none" cap="none" strike="noStrike">
                <a:solidFill>
                  <a:schemeClr val="dk1"/>
                </a:solidFill>
                <a:latin typeface="Arial"/>
                <a:ea typeface="Arial"/>
                <a:cs typeface="Arial"/>
                <a:sym typeface="Arial"/>
              </a:rPr>
              <a:t>volumen de personas que ingresan y que salen </a:t>
            </a:r>
            <a:r>
              <a:rPr b="0" i="0" lang="es-AR" sz="1800" u="none" cap="none" strike="noStrike">
                <a:solidFill>
                  <a:schemeClr val="dk1"/>
                </a:solidFill>
                <a:latin typeface="Arial"/>
                <a:ea typeface="Arial"/>
                <a:cs typeface="Arial"/>
                <a:sym typeface="Arial"/>
              </a:rPr>
              <a:t>de la organización. Implica costos primarios, secundarios y terciarios. </a:t>
            </a:r>
            <a:endParaRPr b="0" i="0" sz="1400" u="none" cap="none" strike="noStrike">
              <a:solidFill>
                <a:srgbClr val="000000"/>
              </a:solidFill>
              <a:latin typeface="Arial"/>
              <a:ea typeface="Arial"/>
              <a:cs typeface="Arial"/>
              <a:sym typeface="Arial"/>
            </a:endParaRPr>
          </a:p>
        </p:txBody>
      </p:sp>
      <p:pic>
        <p:nvPicPr>
          <p:cNvPr id="422" name="Google Shape;422;p11"/>
          <p:cNvPicPr preferRelativeResize="0"/>
          <p:nvPr/>
        </p:nvPicPr>
        <p:blipFill rotWithShape="1">
          <a:blip r:embed="rId3">
            <a:alphaModFix/>
          </a:blip>
          <a:srcRect b="0" l="0" r="0" t="0"/>
          <a:stretch/>
        </p:blipFill>
        <p:spPr>
          <a:xfrm>
            <a:off x="1143284" y="5255510"/>
            <a:ext cx="1566659" cy="1323388"/>
          </a:xfrm>
          <a:prstGeom prst="rect">
            <a:avLst/>
          </a:prstGeom>
          <a:noFill/>
          <a:ln>
            <a:noFill/>
          </a:ln>
        </p:spPr>
      </p:pic>
      <p:pic>
        <p:nvPicPr>
          <p:cNvPr id="423" name="Google Shape;423;p11"/>
          <p:cNvPicPr preferRelativeResize="0"/>
          <p:nvPr/>
        </p:nvPicPr>
        <p:blipFill rotWithShape="1">
          <a:blip r:embed="rId4">
            <a:alphaModFix/>
          </a:blip>
          <a:srcRect b="0" l="0" r="0" t="0"/>
          <a:stretch/>
        </p:blipFill>
        <p:spPr>
          <a:xfrm>
            <a:off x="6221228" y="4363418"/>
            <a:ext cx="1195216" cy="1219120"/>
          </a:xfrm>
          <a:prstGeom prst="rect">
            <a:avLst/>
          </a:prstGeom>
          <a:noFill/>
          <a:ln>
            <a:noFill/>
          </a:ln>
        </p:spPr>
      </p:pic>
      <p:sp>
        <p:nvSpPr>
          <p:cNvPr id="424" name="Google Shape;424;p11"/>
          <p:cNvSpPr/>
          <p:nvPr/>
        </p:nvSpPr>
        <p:spPr>
          <a:xfrm>
            <a:off x="1871658" y="4514835"/>
            <a:ext cx="2368521" cy="558773"/>
          </a:xfrm>
          <a:prstGeom prst="wedgeRectCallout">
            <a:avLst>
              <a:gd fmla="val -29256" name="adj1"/>
              <a:gd fmla="val 71426" name="adj2"/>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accent1"/>
                </a:solidFill>
                <a:latin typeface="Arial"/>
                <a:ea typeface="Arial"/>
                <a:cs typeface="Arial"/>
                <a:sym typeface="Arial"/>
              </a:rPr>
              <a:t>Causas Internas</a:t>
            </a:r>
            <a:endParaRPr b="1" i="0" sz="1800" u="none" cap="none" strike="noStrike">
              <a:solidFill>
                <a:schemeClr val="accent1"/>
              </a:solidFill>
              <a:latin typeface="Arial"/>
              <a:ea typeface="Arial"/>
              <a:cs typeface="Arial"/>
              <a:sym typeface="Arial"/>
            </a:endParaRPr>
          </a:p>
        </p:txBody>
      </p:sp>
      <p:sp>
        <p:nvSpPr>
          <p:cNvPr id="425" name="Google Shape;425;p11"/>
          <p:cNvSpPr/>
          <p:nvPr/>
        </p:nvSpPr>
        <p:spPr>
          <a:xfrm>
            <a:off x="4450315" y="5724854"/>
            <a:ext cx="2368521" cy="558773"/>
          </a:xfrm>
          <a:prstGeom prst="wedgeRectCallout">
            <a:avLst>
              <a:gd fmla="val 33918" name="adj1"/>
              <a:gd fmla="val -77342" name="adj2"/>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accent1"/>
                </a:solidFill>
                <a:latin typeface="Arial"/>
                <a:ea typeface="Arial"/>
                <a:cs typeface="Arial"/>
                <a:sym typeface="Arial"/>
              </a:rPr>
              <a:t>Causas Externas</a:t>
            </a:r>
            <a:endParaRPr b="1" i="0" sz="1800" u="none" cap="none" strike="noStrike">
              <a:solidFill>
                <a:schemeClr val="accen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2"/>
          <p:cNvSpPr/>
          <p:nvPr/>
        </p:nvSpPr>
        <p:spPr>
          <a:xfrm>
            <a:off x="3794760" y="1403985"/>
            <a:ext cx="5084400" cy="1138800"/>
          </a:xfrm>
          <a:prstGeom prst="rect">
            <a:avLst/>
          </a:prstGeom>
          <a:noFill/>
          <a:ln>
            <a:noFill/>
          </a:ln>
        </p:spPr>
        <p:txBody>
          <a:bodyPr anchorCtr="0" anchor="t" bIns="0" lIns="0" spcFirstLastPara="1" rIns="0" wrap="square" tIns="0">
            <a:spAutoFit/>
          </a:bodyPr>
          <a:lstStyle/>
          <a:p>
            <a:pPr indent="-171450" lvl="2" marL="285750" marR="0" rtl="0" algn="l">
              <a:lnSpc>
                <a:spcPct val="100000"/>
              </a:lnSpc>
              <a:spcBef>
                <a:spcPts val="0"/>
              </a:spcBef>
              <a:spcAft>
                <a:spcPts val="0"/>
              </a:spcAft>
              <a:buClr>
                <a:schemeClr val="accent1"/>
              </a:buClr>
              <a:buSzPts val="1800"/>
              <a:buFont typeface="Arial"/>
              <a:buNone/>
            </a:pPr>
            <a:r>
              <a:t/>
            </a:r>
            <a:endParaRPr b="0" i="0" sz="1800" u="none" cap="none" strike="noStrike">
              <a:solidFill>
                <a:schemeClr val="dk1"/>
              </a:solidFill>
              <a:latin typeface="Arial"/>
              <a:ea typeface="Arial"/>
              <a:cs typeface="Arial"/>
              <a:sym typeface="Arial"/>
            </a:endParaRPr>
          </a:p>
          <a:p>
            <a:pPr indent="-171450" lvl="2" marL="285750" marR="0" rtl="0" algn="l">
              <a:lnSpc>
                <a:spcPct val="100000"/>
              </a:lnSpc>
              <a:spcBef>
                <a:spcPts val="1200"/>
              </a:spcBef>
              <a:spcAft>
                <a:spcPts val="0"/>
              </a:spcAft>
              <a:buClr>
                <a:schemeClr val="accent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0" marR="0" rtl="0" algn="l">
              <a:lnSpc>
                <a:spcPct val="100000"/>
              </a:lnSpc>
              <a:spcBef>
                <a:spcPts val="12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432" name="Google Shape;432;p12"/>
          <p:cNvSpPr/>
          <p:nvPr/>
        </p:nvSpPr>
        <p:spPr>
          <a:xfrm>
            <a:off x="631112" y="1610568"/>
            <a:ext cx="4001400" cy="36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C000"/>
              </a:buClr>
              <a:buSzPts val="2400"/>
              <a:buFont typeface="Arial"/>
              <a:buNone/>
            </a:pPr>
            <a:r>
              <a:rPr b="1" i="0" lang="es-AR" sz="2400" u="none" cap="none" strike="noStrike">
                <a:solidFill>
                  <a:srgbClr val="FFC000"/>
                </a:solidFill>
                <a:latin typeface="Arial"/>
                <a:ea typeface="Arial"/>
                <a:cs typeface="Arial"/>
                <a:sym typeface="Arial"/>
              </a:rPr>
              <a:t>Índice de Rotación Total</a:t>
            </a:r>
            <a:endParaRPr b="0" i="0" sz="1400" u="none" cap="none" strike="noStrike">
              <a:solidFill>
                <a:srgbClr val="000000"/>
              </a:solidFill>
              <a:latin typeface="Arial"/>
              <a:ea typeface="Arial"/>
              <a:cs typeface="Arial"/>
              <a:sym typeface="Arial"/>
            </a:endParaRPr>
          </a:p>
        </p:txBody>
      </p:sp>
      <p:sp>
        <p:nvSpPr>
          <p:cNvPr id="433" name="Google Shape;433;p12"/>
          <p:cNvSpPr/>
          <p:nvPr/>
        </p:nvSpPr>
        <p:spPr>
          <a:xfrm>
            <a:off x="4710507" y="1229097"/>
            <a:ext cx="3624900" cy="1313700"/>
          </a:xfrm>
          <a:prstGeom prst="roundRect">
            <a:avLst>
              <a:gd fmla="val 16667" name="adj"/>
            </a:avLst>
          </a:prstGeom>
          <a:solidFill>
            <a:schemeClr val="lt1"/>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Salidas x 100 /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Promedio de empleados en el periodo considerado</a:t>
            </a:r>
            <a:endParaRPr b="0" i="0" sz="1400" u="none" cap="none" strike="noStrike">
              <a:solidFill>
                <a:srgbClr val="000000"/>
              </a:solidFill>
              <a:latin typeface="Arial"/>
              <a:ea typeface="Arial"/>
              <a:cs typeface="Arial"/>
              <a:sym typeface="Arial"/>
            </a:endParaRPr>
          </a:p>
        </p:txBody>
      </p:sp>
      <p:sp>
        <p:nvSpPr>
          <p:cNvPr id="434" name="Google Shape;434;p12"/>
          <p:cNvSpPr/>
          <p:nvPr/>
        </p:nvSpPr>
        <p:spPr>
          <a:xfrm>
            <a:off x="547987" y="2544203"/>
            <a:ext cx="3624900" cy="13137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Salidas </a:t>
            </a:r>
            <a:r>
              <a:rPr b="1" i="0" lang="es-AR" sz="1800" u="sng" cap="none" strike="noStrike">
                <a:solidFill>
                  <a:schemeClr val="dk1"/>
                </a:solidFill>
                <a:latin typeface="Arial"/>
                <a:ea typeface="Arial"/>
                <a:cs typeface="Arial"/>
                <a:sym typeface="Arial"/>
              </a:rPr>
              <a:t>voluntarias</a:t>
            </a:r>
            <a:r>
              <a:rPr b="1" i="0" lang="es-AR" sz="1800" u="none" cap="none" strike="noStrike">
                <a:solidFill>
                  <a:schemeClr val="dk1"/>
                </a:solidFill>
                <a:latin typeface="Arial"/>
                <a:ea typeface="Arial"/>
                <a:cs typeface="Arial"/>
                <a:sym typeface="Arial"/>
              </a:rPr>
              <a:t> x 100 /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Promedio de empleados en el periodo considerado</a:t>
            </a:r>
            <a:endParaRPr b="0" i="0" sz="1400" u="none" cap="none" strike="noStrike">
              <a:solidFill>
                <a:srgbClr val="000000"/>
              </a:solidFill>
              <a:latin typeface="Arial"/>
              <a:ea typeface="Arial"/>
              <a:cs typeface="Arial"/>
              <a:sym typeface="Arial"/>
            </a:endParaRPr>
          </a:p>
        </p:txBody>
      </p:sp>
      <p:sp>
        <p:nvSpPr>
          <p:cNvPr id="435" name="Google Shape;435;p12"/>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Rotación de Personal</a:t>
            </a:r>
            <a:endParaRPr b="1" i="0" sz="1400" u="none" cap="none" strike="noStrike">
              <a:solidFill>
                <a:srgbClr val="000000"/>
              </a:solidFill>
              <a:latin typeface="Arial"/>
              <a:ea typeface="Arial"/>
              <a:cs typeface="Arial"/>
              <a:sym typeface="Arial"/>
            </a:endParaRPr>
          </a:p>
        </p:txBody>
      </p:sp>
      <p:sp>
        <p:nvSpPr>
          <p:cNvPr id="436" name="Google Shape;436;p12"/>
          <p:cNvSpPr/>
          <p:nvPr/>
        </p:nvSpPr>
        <p:spPr>
          <a:xfrm>
            <a:off x="4416863" y="2979846"/>
            <a:ext cx="4284600" cy="369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5B9BD5"/>
              </a:buClr>
              <a:buSzPts val="2400"/>
              <a:buFont typeface="Arial"/>
              <a:buNone/>
            </a:pPr>
            <a:r>
              <a:rPr b="1" i="0" lang="es-AR" sz="2400" u="none" cap="none" strike="noStrike">
                <a:solidFill>
                  <a:srgbClr val="5B9BD5"/>
                </a:solidFill>
                <a:latin typeface="Arial"/>
                <a:ea typeface="Arial"/>
                <a:cs typeface="Arial"/>
                <a:sym typeface="Arial"/>
              </a:rPr>
              <a:t>Índice de Rotación Voluntaria</a:t>
            </a:r>
            <a:endParaRPr b="0" i="0" sz="1400" u="none" cap="none" strike="noStrike">
              <a:solidFill>
                <a:srgbClr val="000000"/>
              </a:solidFill>
              <a:latin typeface="Arial"/>
              <a:ea typeface="Arial"/>
              <a:cs typeface="Arial"/>
              <a:sym typeface="Arial"/>
            </a:endParaRPr>
          </a:p>
        </p:txBody>
      </p:sp>
      <p:sp>
        <p:nvSpPr>
          <p:cNvPr id="437" name="Google Shape;437;p12"/>
          <p:cNvSpPr/>
          <p:nvPr/>
        </p:nvSpPr>
        <p:spPr>
          <a:xfrm>
            <a:off x="3794760" y="4147185"/>
            <a:ext cx="5084400" cy="1138800"/>
          </a:xfrm>
          <a:prstGeom prst="rect">
            <a:avLst/>
          </a:prstGeom>
          <a:noFill/>
          <a:ln>
            <a:noFill/>
          </a:ln>
        </p:spPr>
        <p:txBody>
          <a:bodyPr anchorCtr="0" anchor="t" bIns="0" lIns="0" spcFirstLastPara="1" rIns="0" wrap="square" tIns="0">
            <a:noAutofit/>
          </a:bodyPr>
          <a:lstStyle/>
          <a:p>
            <a:pPr indent="-171450" lvl="2" marL="285750" marR="0" rtl="0" algn="l">
              <a:lnSpc>
                <a:spcPct val="100000"/>
              </a:lnSpc>
              <a:spcBef>
                <a:spcPts val="0"/>
              </a:spcBef>
              <a:spcAft>
                <a:spcPts val="0"/>
              </a:spcAft>
              <a:buClr>
                <a:schemeClr val="accent1"/>
              </a:buClr>
              <a:buSzPts val="1800"/>
              <a:buFont typeface="Arial"/>
              <a:buNone/>
            </a:pPr>
            <a:r>
              <a:t/>
            </a:r>
            <a:endParaRPr b="0" i="0" sz="1800" u="none" cap="none" strike="noStrike">
              <a:solidFill>
                <a:schemeClr val="dk1"/>
              </a:solidFill>
              <a:latin typeface="Arial"/>
              <a:ea typeface="Arial"/>
              <a:cs typeface="Arial"/>
              <a:sym typeface="Arial"/>
            </a:endParaRPr>
          </a:p>
          <a:p>
            <a:pPr indent="-171450" lvl="2" marL="285750" marR="0" rtl="0" algn="l">
              <a:lnSpc>
                <a:spcPct val="100000"/>
              </a:lnSpc>
              <a:spcBef>
                <a:spcPts val="1200"/>
              </a:spcBef>
              <a:spcAft>
                <a:spcPts val="0"/>
              </a:spcAft>
              <a:buClr>
                <a:schemeClr val="accent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0" marR="0" rtl="0" algn="l">
              <a:lnSpc>
                <a:spcPct val="100000"/>
              </a:lnSpc>
              <a:spcBef>
                <a:spcPts val="12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438" name="Google Shape;438;p12"/>
          <p:cNvSpPr/>
          <p:nvPr/>
        </p:nvSpPr>
        <p:spPr>
          <a:xfrm>
            <a:off x="631099" y="4353785"/>
            <a:ext cx="4206300" cy="93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C000"/>
              </a:buClr>
              <a:buSzPts val="2400"/>
              <a:buFont typeface="Arial"/>
              <a:buNone/>
            </a:pPr>
            <a:r>
              <a:rPr b="1" i="0" lang="es-AR" sz="2400" u="none" cap="none" strike="noStrike">
                <a:solidFill>
                  <a:srgbClr val="45B363"/>
                </a:solidFill>
                <a:latin typeface="Arial"/>
                <a:ea typeface="Arial"/>
                <a:cs typeface="Arial"/>
                <a:sym typeface="Arial"/>
              </a:rPr>
              <a:t>Índice de Rotación </a:t>
            </a:r>
            <a:r>
              <a:rPr b="1" lang="es-AR" sz="2400">
                <a:solidFill>
                  <a:srgbClr val="45B363"/>
                </a:solidFill>
              </a:rPr>
              <a:t>Mensual (Foto del pasado)</a:t>
            </a:r>
            <a:endParaRPr b="1" sz="2400">
              <a:solidFill>
                <a:srgbClr val="45B363"/>
              </a:solidFill>
            </a:endParaRPr>
          </a:p>
          <a:p>
            <a:pPr indent="0" lvl="0" marL="0" marR="0" rtl="0" algn="l">
              <a:lnSpc>
                <a:spcPct val="100000"/>
              </a:lnSpc>
              <a:spcBef>
                <a:spcPts val="0"/>
              </a:spcBef>
              <a:spcAft>
                <a:spcPts val="0"/>
              </a:spcAft>
              <a:buClr>
                <a:srgbClr val="FFC000"/>
              </a:buClr>
              <a:buSzPts val="2400"/>
              <a:buFont typeface="Arial"/>
              <a:buNone/>
            </a:pPr>
            <a:r>
              <a:t/>
            </a:r>
            <a:endParaRPr b="1" sz="2400">
              <a:solidFill>
                <a:srgbClr val="FFC000"/>
              </a:solidFill>
            </a:endParaRPr>
          </a:p>
        </p:txBody>
      </p:sp>
      <p:sp>
        <p:nvSpPr>
          <p:cNvPr id="439" name="Google Shape;439;p12"/>
          <p:cNvSpPr/>
          <p:nvPr/>
        </p:nvSpPr>
        <p:spPr>
          <a:xfrm>
            <a:off x="5015307" y="3972297"/>
            <a:ext cx="3624900" cy="1313700"/>
          </a:xfrm>
          <a:prstGeom prst="roundRect">
            <a:avLst>
              <a:gd fmla="val 16667" name="adj"/>
            </a:avLst>
          </a:prstGeom>
          <a:solidFill>
            <a:schemeClr val="lt1"/>
          </a:solidFill>
          <a:ln cap="flat" cmpd="sng" w="12700">
            <a:solidFill>
              <a:srgbClr val="44B7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Salidas x 100 /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Promedio de empleados en el </a:t>
            </a:r>
            <a:r>
              <a:rPr b="1" lang="es-AR" sz="1800">
                <a:solidFill>
                  <a:schemeClr val="dk1"/>
                </a:solidFill>
              </a:rPr>
              <a:t>mes</a:t>
            </a:r>
            <a:r>
              <a:rPr b="1" i="0" lang="es-AR" sz="1800" u="none" cap="none" strike="noStrike">
                <a:solidFill>
                  <a:schemeClr val="dk1"/>
                </a:solidFill>
                <a:latin typeface="Arial"/>
                <a:ea typeface="Arial"/>
                <a:cs typeface="Arial"/>
                <a:sym typeface="Arial"/>
              </a:rPr>
              <a:t> considerado</a:t>
            </a:r>
            <a:endParaRPr b="0" i="0" sz="1400" u="none" cap="none" strike="noStrike">
              <a:solidFill>
                <a:srgbClr val="000000"/>
              </a:solidFill>
              <a:latin typeface="Arial"/>
              <a:ea typeface="Arial"/>
              <a:cs typeface="Arial"/>
              <a:sym typeface="Arial"/>
            </a:endParaRPr>
          </a:p>
        </p:txBody>
      </p:sp>
      <p:sp>
        <p:nvSpPr>
          <p:cNvPr id="440" name="Google Shape;440;p12"/>
          <p:cNvSpPr/>
          <p:nvPr/>
        </p:nvSpPr>
        <p:spPr>
          <a:xfrm>
            <a:off x="547987" y="5439803"/>
            <a:ext cx="3624900" cy="1313700"/>
          </a:xfrm>
          <a:prstGeom prst="roundRect">
            <a:avLst>
              <a:gd fmla="val 16667" name="adj"/>
            </a:avLst>
          </a:prstGeom>
          <a:solidFill>
            <a:schemeClr val="lt1"/>
          </a:solidFill>
          <a:ln cap="flat" cmpd="sng" w="12700">
            <a:solidFill>
              <a:srgbClr val="99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Salidas </a:t>
            </a:r>
            <a:r>
              <a:rPr b="1" lang="es-AR" sz="1800" u="sng">
                <a:solidFill>
                  <a:schemeClr val="dk1"/>
                </a:solidFill>
              </a:rPr>
              <a:t>proyectadas</a:t>
            </a:r>
            <a:r>
              <a:rPr b="1" i="0" lang="es-AR" sz="1800" u="none" cap="none" strike="noStrike">
                <a:solidFill>
                  <a:schemeClr val="dk1"/>
                </a:solidFill>
                <a:latin typeface="Arial"/>
                <a:ea typeface="Arial"/>
                <a:cs typeface="Arial"/>
                <a:sym typeface="Arial"/>
              </a:rPr>
              <a:t> x 100 /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Arial"/>
                <a:ea typeface="Arial"/>
                <a:cs typeface="Arial"/>
                <a:sym typeface="Arial"/>
              </a:rPr>
              <a:t>Promedio de empleados proyectados en el periodo considerado</a:t>
            </a:r>
            <a:endParaRPr b="0" i="0" sz="1400" u="none" cap="none" strike="noStrike">
              <a:solidFill>
                <a:srgbClr val="000000"/>
              </a:solidFill>
              <a:latin typeface="Arial"/>
              <a:ea typeface="Arial"/>
              <a:cs typeface="Arial"/>
              <a:sym typeface="Arial"/>
            </a:endParaRPr>
          </a:p>
        </p:txBody>
      </p:sp>
      <p:sp>
        <p:nvSpPr>
          <p:cNvPr id="441" name="Google Shape;441;p12"/>
          <p:cNvSpPr/>
          <p:nvPr/>
        </p:nvSpPr>
        <p:spPr>
          <a:xfrm>
            <a:off x="4416950" y="5668775"/>
            <a:ext cx="4462200" cy="113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9BD5"/>
              </a:buClr>
              <a:buSzPts val="2400"/>
              <a:buFont typeface="Arial"/>
              <a:buNone/>
            </a:pPr>
            <a:r>
              <a:rPr b="1" i="0" lang="es-AR" sz="2400" u="none" cap="none" strike="noStrike">
                <a:solidFill>
                  <a:srgbClr val="9900FF"/>
                </a:solidFill>
                <a:latin typeface="Arial"/>
                <a:ea typeface="Arial"/>
                <a:cs typeface="Arial"/>
                <a:sym typeface="Arial"/>
              </a:rPr>
              <a:t>Índice de Rotación </a:t>
            </a:r>
            <a:r>
              <a:rPr b="1" lang="es-AR" sz="2400">
                <a:solidFill>
                  <a:srgbClr val="9900FF"/>
                </a:solidFill>
              </a:rPr>
              <a:t>Proyectada </a:t>
            </a:r>
            <a:endParaRPr b="1" sz="2400">
              <a:solidFill>
                <a:srgbClr val="9900FF"/>
              </a:solidFill>
            </a:endParaRPr>
          </a:p>
          <a:p>
            <a:pPr indent="0" lvl="0" marL="0" marR="0" rtl="0" algn="l">
              <a:lnSpc>
                <a:spcPct val="100000"/>
              </a:lnSpc>
              <a:spcBef>
                <a:spcPts val="0"/>
              </a:spcBef>
              <a:spcAft>
                <a:spcPts val="0"/>
              </a:spcAft>
              <a:buClr>
                <a:srgbClr val="5B9BD5"/>
              </a:buClr>
              <a:buSzPts val="2400"/>
              <a:buFont typeface="Arial"/>
              <a:buNone/>
            </a:pPr>
            <a:r>
              <a:rPr b="1" lang="es-AR" sz="2400">
                <a:solidFill>
                  <a:srgbClr val="9900FF"/>
                </a:solidFill>
              </a:rPr>
              <a:t>(Previsión a futuro)</a:t>
            </a:r>
            <a:endParaRPr b="0" i="0" sz="1400" u="none" cap="none" strike="noStrike">
              <a:solidFill>
                <a:srgbClr val="9900F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2d313c43bd8_0_0"/>
          <p:cNvSpPr txBox="1"/>
          <p:nvPr/>
        </p:nvSpPr>
        <p:spPr>
          <a:xfrm>
            <a:off x="104504" y="-23"/>
            <a:ext cx="66099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Rotación de Personal</a:t>
            </a:r>
            <a:endParaRPr b="1" i="0" sz="1400" u="none" cap="none" strike="noStrike">
              <a:solidFill>
                <a:srgbClr val="000000"/>
              </a:solidFill>
              <a:latin typeface="Arial"/>
              <a:ea typeface="Arial"/>
              <a:cs typeface="Arial"/>
              <a:sym typeface="Arial"/>
            </a:endParaRPr>
          </a:p>
        </p:txBody>
      </p:sp>
      <p:sp>
        <p:nvSpPr>
          <p:cNvPr id="448" name="Google Shape;448;g2d313c43bd8_0_0"/>
          <p:cNvSpPr txBox="1"/>
          <p:nvPr/>
        </p:nvSpPr>
        <p:spPr>
          <a:xfrm>
            <a:off x="297650" y="1271775"/>
            <a:ext cx="85923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2400">
                <a:solidFill>
                  <a:srgbClr val="A61C00"/>
                </a:solidFill>
              </a:rPr>
              <a:t>¿</a:t>
            </a:r>
            <a:r>
              <a:rPr b="1" lang="es-AR" sz="2400">
                <a:solidFill>
                  <a:srgbClr val="A61C00"/>
                </a:solidFill>
              </a:rPr>
              <a:t>Cómo</a:t>
            </a:r>
            <a:r>
              <a:rPr b="1" lang="es-AR" sz="2400">
                <a:solidFill>
                  <a:srgbClr val="A61C00"/>
                </a:solidFill>
              </a:rPr>
              <a:t> uso la rotación en el negocio?</a:t>
            </a:r>
            <a:endParaRPr b="1" sz="2400">
              <a:solidFill>
                <a:srgbClr val="A61C00"/>
              </a:solidFill>
            </a:endParaRPr>
          </a:p>
          <a:p>
            <a:pPr indent="0" lvl="0" marL="0" rtl="0" algn="l">
              <a:spcBef>
                <a:spcPts val="0"/>
              </a:spcBef>
              <a:spcAft>
                <a:spcPts val="0"/>
              </a:spcAft>
              <a:buNone/>
            </a:pPr>
            <a:r>
              <a:t/>
            </a:r>
            <a:endParaRPr b="1" sz="2400">
              <a:solidFill>
                <a:srgbClr val="A61C00"/>
              </a:solidFill>
            </a:endParaRPr>
          </a:p>
          <a:p>
            <a:pPr indent="-381000" lvl="0" marL="457200" rtl="0" algn="l">
              <a:spcBef>
                <a:spcPts val="0"/>
              </a:spcBef>
              <a:spcAft>
                <a:spcPts val="0"/>
              </a:spcAft>
              <a:buClr>
                <a:srgbClr val="A61C00"/>
              </a:buClr>
              <a:buSzPts val="2400"/>
              <a:buChar char="-"/>
            </a:pPr>
            <a:r>
              <a:rPr b="1" lang="es-AR" sz="2400">
                <a:solidFill>
                  <a:srgbClr val="A61C00"/>
                </a:solidFill>
              </a:rPr>
              <a:t>Manejo de la estacionalidad del negocio </a:t>
            </a:r>
            <a:r>
              <a:rPr lang="es-AR" sz="2400">
                <a:solidFill>
                  <a:srgbClr val="A61C00"/>
                </a:solidFill>
              </a:rPr>
              <a:t>(necesidad de mayor </a:t>
            </a:r>
            <a:r>
              <a:rPr lang="es-AR" sz="2400">
                <a:solidFill>
                  <a:srgbClr val="A61C00"/>
                </a:solidFill>
              </a:rPr>
              <a:t>dotación</a:t>
            </a:r>
            <a:r>
              <a:rPr lang="es-AR" sz="2400">
                <a:solidFill>
                  <a:srgbClr val="A61C00"/>
                </a:solidFill>
              </a:rPr>
              <a:t> para la cosecha, o por el verano, etc)</a:t>
            </a:r>
            <a:endParaRPr b="1" sz="2400">
              <a:solidFill>
                <a:srgbClr val="A61C00"/>
              </a:solidFill>
            </a:endParaRPr>
          </a:p>
          <a:p>
            <a:pPr indent="-381000" lvl="0" marL="457200" rtl="0" algn="l">
              <a:spcBef>
                <a:spcPts val="0"/>
              </a:spcBef>
              <a:spcAft>
                <a:spcPts val="0"/>
              </a:spcAft>
              <a:buClr>
                <a:srgbClr val="A61C00"/>
              </a:buClr>
              <a:buSzPts val="2400"/>
              <a:buChar char="-"/>
            </a:pPr>
            <a:r>
              <a:rPr b="1" lang="es-AR" sz="2400">
                <a:solidFill>
                  <a:srgbClr val="A61C00"/>
                </a:solidFill>
              </a:rPr>
              <a:t>Planes de crecimiento</a:t>
            </a:r>
            <a:r>
              <a:rPr lang="es-AR" sz="2400">
                <a:solidFill>
                  <a:srgbClr val="A61C00"/>
                </a:solidFill>
              </a:rPr>
              <a:t> (Apertura de nuevos proyectos o unidades de negocios, etc)</a:t>
            </a:r>
            <a:endParaRPr b="1" sz="2400">
              <a:solidFill>
                <a:srgbClr val="A61C00"/>
              </a:solidFill>
            </a:endParaRPr>
          </a:p>
          <a:p>
            <a:pPr indent="-381000" lvl="0" marL="457200" rtl="0" algn="l">
              <a:spcBef>
                <a:spcPts val="0"/>
              </a:spcBef>
              <a:spcAft>
                <a:spcPts val="0"/>
              </a:spcAft>
              <a:buClr>
                <a:srgbClr val="A61C00"/>
              </a:buClr>
              <a:buSzPts val="2400"/>
              <a:buChar char="-"/>
            </a:pPr>
            <a:r>
              <a:rPr b="1" lang="es-AR" sz="2400">
                <a:solidFill>
                  <a:srgbClr val="A61C00"/>
                </a:solidFill>
              </a:rPr>
              <a:t>Planes de decrecimiento </a:t>
            </a:r>
            <a:r>
              <a:rPr lang="es-AR" sz="2400">
                <a:solidFill>
                  <a:srgbClr val="A61C00"/>
                </a:solidFill>
              </a:rPr>
              <a:t>(Venta o cierre de ciertas unidades de negocio, </a:t>
            </a:r>
            <a:r>
              <a:rPr lang="es-AR" sz="2400">
                <a:solidFill>
                  <a:srgbClr val="A61C00"/>
                </a:solidFill>
              </a:rPr>
              <a:t>finalización</a:t>
            </a:r>
            <a:r>
              <a:rPr lang="es-AR" sz="2400">
                <a:solidFill>
                  <a:srgbClr val="A61C00"/>
                </a:solidFill>
              </a:rPr>
              <a:t> de determinado proyecto, etc)</a:t>
            </a:r>
            <a:endParaRPr sz="2400">
              <a:solidFill>
                <a:srgbClr val="A61C00"/>
              </a:solidFill>
            </a:endParaRPr>
          </a:p>
          <a:p>
            <a:pPr indent="0" lvl="0" marL="0" rtl="0" algn="l">
              <a:spcBef>
                <a:spcPts val="0"/>
              </a:spcBef>
              <a:spcAft>
                <a:spcPts val="0"/>
              </a:spcAft>
              <a:buNone/>
            </a:pPr>
            <a:r>
              <a:t/>
            </a:r>
            <a:endParaRPr b="1" sz="2400">
              <a:solidFill>
                <a:srgbClr val="A61C00"/>
              </a:solidFill>
            </a:endParaRPr>
          </a:p>
          <a:p>
            <a:pPr indent="0" lvl="0" marL="0" rtl="0" algn="l">
              <a:spcBef>
                <a:spcPts val="0"/>
              </a:spcBef>
              <a:spcAft>
                <a:spcPts val="0"/>
              </a:spcAft>
              <a:buNone/>
            </a:pPr>
            <a:r>
              <a:rPr b="1" lang="es-AR" sz="2400">
                <a:solidFill>
                  <a:srgbClr val="A61C00"/>
                </a:solidFill>
              </a:rPr>
              <a:t>¿Porque las salidas involuntarias disparan los indicadores de rotación?</a:t>
            </a:r>
            <a:endParaRPr b="1" sz="2400">
              <a:solidFill>
                <a:srgbClr val="A61C00"/>
              </a:solidFill>
            </a:endParaRPr>
          </a:p>
          <a:p>
            <a:pPr indent="0" lvl="0" marL="0" rtl="0" algn="l">
              <a:spcBef>
                <a:spcPts val="0"/>
              </a:spcBef>
              <a:spcAft>
                <a:spcPts val="0"/>
              </a:spcAft>
              <a:buNone/>
            </a:pPr>
            <a:r>
              <a:t/>
            </a:r>
            <a:endParaRPr b="1" sz="2400">
              <a:solidFill>
                <a:srgbClr val="A61C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3"/>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Ausentismo</a:t>
            </a:r>
            <a:endParaRPr b="1" i="0" sz="1400" u="none" cap="none" strike="noStrike">
              <a:solidFill>
                <a:srgbClr val="000000"/>
              </a:solidFill>
              <a:latin typeface="Arial"/>
              <a:ea typeface="Arial"/>
              <a:cs typeface="Arial"/>
              <a:sym typeface="Arial"/>
            </a:endParaRPr>
          </a:p>
        </p:txBody>
      </p:sp>
      <p:sp>
        <p:nvSpPr>
          <p:cNvPr id="455" name="Google Shape;455;p13"/>
          <p:cNvSpPr txBox="1"/>
          <p:nvPr/>
        </p:nvSpPr>
        <p:spPr>
          <a:xfrm>
            <a:off x="399011" y="1872285"/>
            <a:ext cx="8362604" cy="21185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FFC000"/>
              </a:buClr>
              <a:buSzPts val="1800"/>
              <a:buFont typeface="Noto Sans Symbols"/>
              <a:buChar char="▪"/>
            </a:pPr>
            <a:r>
              <a:rPr b="0" i="0" lang="es-AR" sz="1800" u="none" cap="none" strike="noStrike">
                <a:solidFill>
                  <a:srgbClr val="000000"/>
                </a:solidFill>
                <a:latin typeface="Arial"/>
                <a:ea typeface="Arial"/>
                <a:cs typeface="Arial"/>
                <a:sym typeface="Arial"/>
              </a:rPr>
              <a:t>La OIT define el ausentismo como “</a:t>
            </a:r>
            <a:r>
              <a:rPr b="1" i="0" lang="es-AR" sz="1800" u="none" cap="none" strike="noStrike">
                <a:solidFill>
                  <a:srgbClr val="000000"/>
                </a:solidFill>
                <a:latin typeface="Arial"/>
                <a:ea typeface="Arial"/>
                <a:cs typeface="Arial"/>
                <a:sym typeface="Arial"/>
              </a:rPr>
              <a:t>la no asistencia al trabajo por parte de un empleado que se pensaba que iba a asistir”.</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FFC000"/>
              </a:buClr>
              <a:buSzPts val="1800"/>
              <a:buFont typeface="Noto Sans Symbols"/>
              <a:buChar char="▪"/>
            </a:pPr>
            <a:r>
              <a:rPr b="0" i="0" lang="es-AR" sz="1800" u="none" cap="none" strike="noStrike">
                <a:solidFill>
                  <a:srgbClr val="000000"/>
                </a:solidFill>
                <a:latin typeface="Arial"/>
                <a:ea typeface="Arial"/>
                <a:cs typeface="Arial"/>
                <a:sym typeface="Arial"/>
              </a:rPr>
              <a:t>El ausentismo constituye un </a:t>
            </a:r>
            <a:r>
              <a:rPr b="1" i="0" lang="es-AR" sz="1800" u="none" cap="none" strike="noStrike">
                <a:solidFill>
                  <a:srgbClr val="000000"/>
                </a:solidFill>
                <a:latin typeface="Arial"/>
                <a:ea typeface="Arial"/>
                <a:cs typeface="Arial"/>
                <a:sym typeface="Arial"/>
              </a:rPr>
              <a:t>síntoma</a:t>
            </a:r>
            <a:r>
              <a:rPr b="0" i="0" lang="es-AR" sz="1800" u="none" cap="none" strike="noStrike">
                <a:solidFill>
                  <a:srgbClr val="000000"/>
                </a:solidFill>
                <a:latin typeface="Arial"/>
                <a:ea typeface="Arial"/>
                <a:cs typeface="Arial"/>
                <a:sym typeface="Arial"/>
              </a:rPr>
              <a:t> organizacional. Es clave comprender sus </a:t>
            </a:r>
            <a:r>
              <a:rPr b="1" i="0" lang="es-AR" sz="1800" u="none" cap="none" strike="noStrike">
                <a:solidFill>
                  <a:srgbClr val="000000"/>
                </a:solidFill>
                <a:latin typeface="Arial"/>
                <a:ea typeface="Arial"/>
                <a:cs typeface="Arial"/>
                <a:sym typeface="Arial"/>
              </a:rPr>
              <a:t>causas</a:t>
            </a:r>
            <a:r>
              <a:rPr b="0" i="0" lang="es-AR" sz="1800" u="none" cap="none" strike="noStrike">
                <a:solidFill>
                  <a:srgbClr val="000000"/>
                </a:solidFill>
                <a:latin typeface="Arial"/>
                <a:ea typeface="Arial"/>
                <a:cs typeface="Arial"/>
                <a:sym typeface="Arial"/>
              </a:rPr>
              <a:t> y orientar intervenciones específicas dirigidas a mejorar la calidad de vida y motivación de los empleados.</a:t>
            </a:r>
            <a:endParaRPr b="0" i="0" sz="1800" u="none" cap="none" strike="noStrike">
              <a:solidFill>
                <a:srgbClr val="000000"/>
              </a:solidFill>
              <a:latin typeface="Arial"/>
              <a:ea typeface="Arial"/>
              <a:cs typeface="Arial"/>
              <a:sym typeface="Arial"/>
            </a:endParaRPr>
          </a:p>
        </p:txBody>
      </p:sp>
      <p:pic>
        <p:nvPicPr>
          <p:cNvPr id="456" name="Google Shape;456;p13"/>
          <p:cNvPicPr preferRelativeResize="0"/>
          <p:nvPr/>
        </p:nvPicPr>
        <p:blipFill rotWithShape="1">
          <a:blip r:embed="rId3">
            <a:alphaModFix/>
          </a:blip>
          <a:srcRect b="0" l="0" r="0" t="0"/>
          <a:stretch/>
        </p:blipFill>
        <p:spPr>
          <a:xfrm>
            <a:off x="607833" y="4220364"/>
            <a:ext cx="7944959" cy="2333951"/>
          </a:xfrm>
          <a:prstGeom prst="rect">
            <a:avLst/>
          </a:prstGeom>
          <a:noFill/>
          <a:ln>
            <a:noFill/>
          </a:ln>
        </p:spPr>
      </p:pic>
      <p:sp>
        <p:nvSpPr>
          <p:cNvPr id="457" name="Google Shape;457;p13"/>
          <p:cNvSpPr/>
          <p:nvPr/>
        </p:nvSpPr>
        <p:spPr>
          <a:xfrm>
            <a:off x="394970" y="1470660"/>
            <a:ext cx="6873240" cy="36893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Ausentismo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p14"/>
          <p:cNvPicPr preferRelativeResize="0"/>
          <p:nvPr/>
        </p:nvPicPr>
        <p:blipFill rotWithShape="1">
          <a:blip r:embed="rId3">
            <a:alphaModFix/>
          </a:blip>
          <a:srcRect b="0" l="0" r="0" t="0"/>
          <a:stretch/>
        </p:blipFill>
        <p:spPr>
          <a:xfrm>
            <a:off x="3990776" y="2460567"/>
            <a:ext cx="4774154" cy="4105773"/>
          </a:xfrm>
          <a:prstGeom prst="rect">
            <a:avLst/>
          </a:prstGeom>
          <a:noFill/>
          <a:ln>
            <a:noFill/>
          </a:ln>
        </p:spPr>
      </p:pic>
      <p:sp>
        <p:nvSpPr>
          <p:cNvPr id="464" name="Google Shape;464;p1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Actividad Práctica</a:t>
            </a:r>
            <a:endParaRPr b="1" i="0" sz="2400" u="none" cap="none" strike="noStrike">
              <a:solidFill>
                <a:srgbClr val="3A3838"/>
              </a:solidFill>
              <a:latin typeface="Arial"/>
              <a:ea typeface="Arial"/>
              <a:cs typeface="Arial"/>
              <a:sym typeface="Arial"/>
            </a:endParaRPr>
          </a:p>
        </p:txBody>
      </p:sp>
      <p:sp>
        <p:nvSpPr>
          <p:cNvPr id="465" name="Google Shape;465;p14"/>
          <p:cNvSpPr/>
          <p:nvPr/>
        </p:nvSpPr>
        <p:spPr>
          <a:xfrm>
            <a:off x="629272" y="1718223"/>
            <a:ext cx="4158859" cy="21082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2E75B5"/>
                </a:solidFill>
                <a:latin typeface="Arial"/>
                <a:ea typeface="Arial"/>
                <a:cs typeface="Arial"/>
                <a:sym typeface="Arial"/>
              </a:rPr>
              <a:t>A EJERCITAR!</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s-AR" sz="1800" u="none" cap="none" strike="noStrike">
                <a:solidFill>
                  <a:srgbClr val="000000"/>
                </a:solidFill>
                <a:latin typeface="Arial"/>
                <a:ea typeface="Arial"/>
                <a:cs typeface="Arial"/>
                <a:sym typeface="Arial"/>
              </a:rPr>
              <a:t>El objetivo de esta dinámica es entender cómo tomamos decisiones y el posible impacto de nuestra decisión en la organización.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5"/>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Aplicaciones de People Analytics</a:t>
            </a:r>
            <a:endParaRPr b="1" i="0" sz="2400" u="none" cap="none" strike="noStrike">
              <a:solidFill>
                <a:srgbClr val="3A3838"/>
              </a:solidFill>
              <a:latin typeface="Arial"/>
              <a:ea typeface="Arial"/>
              <a:cs typeface="Arial"/>
              <a:sym typeface="Arial"/>
            </a:endParaRPr>
          </a:p>
        </p:txBody>
      </p:sp>
      <p:sp>
        <p:nvSpPr>
          <p:cNvPr id="472" name="Google Shape;472;p15"/>
          <p:cNvSpPr/>
          <p:nvPr/>
        </p:nvSpPr>
        <p:spPr>
          <a:xfrm>
            <a:off x="394970" y="1470660"/>
            <a:ext cx="874903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Arial"/>
                <a:ea typeface="Arial"/>
                <a:cs typeface="Arial"/>
                <a:sym typeface="Arial"/>
              </a:rPr>
              <a:t>DESARROLLO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¿Cómo gestionaríamos si supiéramos que…?</a:t>
            </a:r>
            <a:endParaRPr b="0" i="0" sz="1400" u="none" cap="none" strike="noStrike">
              <a:solidFill>
                <a:srgbClr val="000000"/>
              </a:solidFill>
              <a:latin typeface="Arial"/>
              <a:ea typeface="Arial"/>
              <a:cs typeface="Arial"/>
              <a:sym typeface="Arial"/>
            </a:endParaRPr>
          </a:p>
        </p:txBody>
      </p:sp>
      <p:pic>
        <p:nvPicPr>
          <p:cNvPr id="473" name="Google Shape;473;p15"/>
          <p:cNvPicPr preferRelativeResize="0"/>
          <p:nvPr/>
        </p:nvPicPr>
        <p:blipFill rotWithShape="1">
          <a:blip r:embed="rId3">
            <a:alphaModFix/>
          </a:blip>
          <a:srcRect b="0" l="0" r="0" t="0"/>
          <a:stretch/>
        </p:blipFill>
        <p:spPr>
          <a:xfrm>
            <a:off x="0" y="2420580"/>
            <a:ext cx="9144000" cy="287409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8" name="Shape 478"/>
        <p:cNvGrpSpPr/>
        <p:nvPr/>
      </p:nvGrpSpPr>
      <p:grpSpPr>
        <a:xfrm>
          <a:off x="0" y="0"/>
          <a:ext cx="0" cy="0"/>
          <a:chOff x="0" y="0"/>
          <a:chExt cx="0" cy="0"/>
        </a:xfrm>
      </p:grpSpPr>
      <p:sp>
        <p:nvSpPr>
          <p:cNvPr id="479" name="Google Shape;479;p1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Aplicaciones de People Analytics</a:t>
            </a:r>
            <a:endParaRPr b="1" i="0" sz="2400" u="none" cap="none" strike="noStrike">
              <a:solidFill>
                <a:srgbClr val="3A3838"/>
              </a:solidFill>
              <a:latin typeface="Arial"/>
              <a:ea typeface="Arial"/>
              <a:cs typeface="Arial"/>
              <a:sym typeface="Arial"/>
            </a:endParaRPr>
          </a:p>
        </p:txBody>
      </p:sp>
      <p:sp>
        <p:nvSpPr>
          <p:cNvPr id="480" name="Google Shape;480;p16"/>
          <p:cNvSpPr/>
          <p:nvPr/>
        </p:nvSpPr>
        <p:spPr>
          <a:xfrm>
            <a:off x="394970" y="1470660"/>
            <a:ext cx="874903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Arial"/>
                <a:ea typeface="Arial"/>
                <a:cs typeface="Arial"/>
                <a:sym typeface="Arial"/>
              </a:rPr>
              <a:t>DESARROLLO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¿Cómo gestionaríamos si supiéramos que…?</a:t>
            </a:r>
            <a:endParaRPr b="0" i="0" sz="1400" u="none" cap="none" strike="noStrike">
              <a:solidFill>
                <a:srgbClr val="000000"/>
              </a:solidFill>
              <a:latin typeface="Arial"/>
              <a:ea typeface="Arial"/>
              <a:cs typeface="Arial"/>
              <a:sym typeface="Arial"/>
            </a:endParaRPr>
          </a:p>
        </p:txBody>
      </p:sp>
      <p:pic>
        <p:nvPicPr>
          <p:cNvPr id="481" name="Google Shape;481;p16"/>
          <p:cNvPicPr preferRelativeResize="0"/>
          <p:nvPr/>
        </p:nvPicPr>
        <p:blipFill rotWithShape="1">
          <a:blip r:embed="rId3">
            <a:alphaModFix/>
          </a:blip>
          <a:srcRect b="0" l="0" r="0" t="0"/>
          <a:stretch/>
        </p:blipFill>
        <p:spPr>
          <a:xfrm>
            <a:off x="550918" y="2508053"/>
            <a:ext cx="9143999" cy="29094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6" name="Shape 486"/>
        <p:cNvGrpSpPr/>
        <p:nvPr/>
      </p:nvGrpSpPr>
      <p:grpSpPr>
        <a:xfrm>
          <a:off x="0" y="0"/>
          <a:ext cx="0" cy="0"/>
          <a:chOff x="0" y="0"/>
          <a:chExt cx="0" cy="0"/>
        </a:xfrm>
      </p:grpSpPr>
      <p:sp>
        <p:nvSpPr>
          <p:cNvPr id="487" name="Google Shape;487;p17"/>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Aplicaciones de People Analytics</a:t>
            </a:r>
            <a:endParaRPr b="1" i="0" sz="2400" u="none" cap="none" strike="noStrike">
              <a:solidFill>
                <a:srgbClr val="3A3838"/>
              </a:solidFill>
              <a:latin typeface="Arial"/>
              <a:ea typeface="Arial"/>
              <a:cs typeface="Arial"/>
              <a:sym typeface="Arial"/>
            </a:endParaRPr>
          </a:p>
        </p:txBody>
      </p:sp>
      <p:sp>
        <p:nvSpPr>
          <p:cNvPr id="488" name="Google Shape;488;p17"/>
          <p:cNvSpPr/>
          <p:nvPr/>
        </p:nvSpPr>
        <p:spPr>
          <a:xfrm>
            <a:off x="394970" y="1470660"/>
            <a:ext cx="874903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Arial"/>
                <a:ea typeface="Arial"/>
                <a:cs typeface="Arial"/>
                <a:sym typeface="Arial"/>
              </a:rPr>
              <a:t>CONTRATACIÓN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¿Cómo gestionaríamos si supiéramos que…?</a:t>
            </a:r>
            <a:endParaRPr b="1" i="0" sz="2400" u="none" cap="none" strike="noStrike">
              <a:solidFill>
                <a:srgbClr val="000000"/>
              </a:solidFill>
              <a:latin typeface="Arial"/>
              <a:ea typeface="Arial"/>
              <a:cs typeface="Arial"/>
              <a:sym typeface="Arial"/>
            </a:endParaRPr>
          </a:p>
        </p:txBody>
      </p:sp>
      <p:pic>
        <p:nvPicPr>
          <p:cNvPr id="489" name="Google Shape;489;p17"/>
          <p:cNvPicPr preferRelativeResize="0"/>
          <p:nvPr/>
        </p:nvPicPr>
        <p:blipFill rotWithShape="1">
          <a:blip r:embed="rId3">
            <a:alphaModFix/>
          </a:blip>
          <a:srcRect b="0" l="0" r="0" t="0"/>
          <a:stretch/>
        </p:blipFill>
        <p:spPr>
          <a:xfrm>
            <a:off x="0" y="2483492"/>
            <a:ext cx="9144000" cy="27975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8"/>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Aplicaciones de People Analytics</a:t>
            </a:r>
            <a:endParaRPr b="1" i="0" sz="2400" u="none" cap="none" strike="noStrike">
              <a:solidFill>
                <a:srgbClr val="3A3838"/>
              </a:solidFill>
              <a:latin typeface="Arial"/>
              <a:ea typeface="Arial"/>
              <a:cs typeface="Arial"/>
              <a:sym typeface="Arial"/>
            </a:endParaRPr>
          </a:p>
        </p:txBody>
      </p:sp>
      <p:sp>
        <p:nvSpPr>
          <p:cNvPr id="496" name="Google Shape;496;p18"/>
          <p:cNvSpPr/>
          <p:nvPr/>
        </p:nvSpPr>
        <p:spPr>
          <a:xfrm>
            <a:off x="394970" y="1470660"/>
            <a:ext cx="874903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Arial"/>
                <a:ea typeface="Arial"/>
                <a:cs typeface="Arial"/>
                <a:sym typeface="Arial"/>
              </a:rPr>
              <a:t>CLIMA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¿Cómo gestionaríamos si supiéramos que…?</a:t>
            </a:r>
            <a:endParaRPr b="0" i="0" sz="1400" u="none" cap="none" strike="noStrike">
              <a:solidFill>
                <a:srgbClr val="000000"/>
              </a:solidFill>
              <a:latin typeface="Arial"/>
              <a:ea typeface="Arial"/>
              <a:cs typeface="Arial"/>
              <a:sym typeface="Arial"/>
            </a:endParaRPr>
          </a:p>
        </p:txBody>
      </p:sp>
      <p:pic>
        <p:nvPicPr>
          <p:cNvPr id="497" name="Google Shape;497;p18"/>
          <p:cNvPicPr preferRelativeResize="0"/>
          <p:nvPr/>
        </p:nvPicPr>
        <p:blipFill rotWithShape="1">
          <a:blip r:embed="rId3">
            <a:alphaModFix/>
          </a:blip>
          <a:srcRect b="0" l="0" r="0" t="0"/>
          <a:stretch/>
        </p:blipFill>
        <p:spPr>
          <a:xfrm>
            <a:off x="9525" y="2209324"/>
            <a:ext cx="9144000" cy="45674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9"/>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000"/>
              <a:buFont typeface="Arial"/>
              <a:buNone/>
            </a:pPr>
            <a:r>
              <a:rPr b="1" i="0" lang="es-AR" sz="2000" u="none" cap="none" strike="noStrike">
                <a:solidFill>
                  <a:srgbClr val="3A3838"/>
                </a:solidFill>
                <a:latin typeface="Arial"/>
                <a:ea typeface="Arial"/>
                <a:cs typeface="Arial"/>
                <a:sym typeface="Arial"/>
              </a:rPr>
              <a:t>Sistemas de Gestión de RRHH y People Analytics</a:t>
            </a:r>
            <a:endParaRPr b="1" i="0" sz="2000" u="none" cap="none" strike="noStrike">
              <a:solidFill>
                <a:srgbClr val="3A3838"/>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3A3838"/>
                </a:solidFill>
                <a:latin typeface="Arial"/>
                <a:ea typeface="Arial"/>
                <a:cs typeface="Arial"/>
                <a:sym typeface="Arial"/>
              </a:rPr>
              <a:t>Aplicaciones de People Analytics</a:t>
            </a:r>
            <a:endParaRPr b="1" i="0" sz="2400" u="none" cap="none" strike="noStrike">
              <a:solidFill>
                <a:srgbClr val="3A3838"/>
              </a:solidFill>
              <a:latin typeface="Arial"/>
              <a:ea typeface="Arial"/>
              <a:cs typeface="Arial"/>
              <a:sym typeface="Arial"/>
            </a:endParaRPr>
          </a:p>
        </p:txBody>
      </p:sp>
      <p:sp>
        <p:nvSpPr>
          <p:cNvPr id="504" name="Google Shape;504;p19"/>
          <p:cNvSpPr/>
          <p:nvPr/>
        </p:nvSpPr>
        <p:spPr>
          <a:xfrm>
            <a:off x="394970" y="1470660"/>
            <a:ext cx="874903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Arial"/>
                <a:ea typeface="Arial"/>
                <a:cs typeface="Arial"/>
                <a:sym typeface="Arial"/>
              </a:rPr>
              <a:t>DESEMPEÑO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000000"/>
                </a:solidFill>
                <a:latin typeface="Arial"/>
                <a:ea typeface="Arial"/>
                <a:cs typeface="Arial"/>
                <a:sym typeface="Arial"/>
              </a:rPr>
              <a:t>¿Cómo gestionaríamos si supiéramos que…?</a:t>
            </a:r>
            <a:endParaRPr b="0" i="0" sz="1400" u="none" cap="none" strike="noStrike">
              <a:solidFill>
                <a:srgbClr val="000000"/>
              </a:solidFill>
              <a:latin typeface="Arial"/>
              <a:ea typeface="Arial"/>
              <a:cs typeface="Arial"/>
              <a:sym typeface="Arial"/>
            </a:endParaRPr>
          </a:p>
        </p:txBody>
      </p:sp>
      <p:pic>
        <p:nvPicPr>
          <p:cNvPr id="505" name="Google Shape;505;p19"/>
          <p:cNvPicPr preferRelativeResize="0"/>
          <p:nvPr/>
        </p:nvPicPr>
        <p:blipFill rotWithShape="1">
          <a:blip r:embed="rId3">
            <a:alphaModFix/>
          </a:blip>
          <a:srcRect b="0" l="0" r="0" t="0"/>
          <a:stretch/>
        </p:blipFill>
        <p:spPr>
          <a:xfrm>
            <a:off x="104489" y="2266309"/>
            <a:ext cx="8802329" cy="459169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g15020395158_1_48"/>
          <p:cNvPicPr preferRelativeResize="0"/>
          <p:nvPr/>
        </p:nvPicPr>
        <p:blipFill rotWithShape="1">
          <a:blip r:embed="rId3">
            <a:alphaModFix/>
          </a:blip>
          <a:srcRect b="0" l="0" r="0" t="0"/>
          <a:stretch/>
        </p:blipFill>
        <p:spPr>
          <a:xfrm>
            <a:off x="115708" y="134500"/>
            <a:ext cx="9028292" cy="3528647"/>
          </a:xfrm>
          <a:prstGeom prst="rect">
            <a:avLst/>
          </a:prstGeom>
          <a:noFill/>
          <a:ln>
            <a:noFill/>
          </a:ln>
        </p:spPr>
      </p:pic>
      <p:pic>
        <p:nvPicPr>
          <p:cNvPr id="512" name="Google Shape;512;g15020395158_1_48"/>
          <p:cNvPicPr preferRelativeResize="0"/>
          <p:nvPr/>
        </p:nvPicPr>
        <p:blipFill rotWithShape="1">
          <a:blip r:embed="rId4">
            <a:alphaModFix/>
          </a:blip>
          <a:srcRect b="0" l="0" r="0" t="0"/>
          <a:stretch/>
        </p:blipFill>
        <p:spPr>
          <a:xfrm>
            <a:off x="2071085" y="2238250"/>
            <a:ext cx="771831" cy="931125"/>
          </a:xfrm>
          <a:prstGeom prst="rect">
            <a:avLst/>
          </a:prstGeom>
          <a:noFill/>
          <a:ln>
            <a:noFill/>
          </a:ln>
        </p:spPr>
      </p:pic>
      <p:pic>
        <p:nvPicPr>
          <p:cNvPr id="513" name="Google Shape;513;g15020395158_1_48"/>
          <p:cNvPicPr preferRelativeResize="0"/>
          <p:nvPr/>
        </p:nvPicPr>
        <p:blipFill rotWithShape="1">
          <a:blip r:embed="rId5">
            <a:alphaModFix/>
          </a:blip>
          <a:srcRect b="0" l="0" r="0" t="0"/>
          <a:stretch/>
        </p:blipFill>
        <p:spPr>
          <a:xfrm>
            <a:off x="5140408" y="2381500"/>
            <a:ext cx="1074346" cy="931125"/>
          </a:xfrm>
          <a:prstGeom prst="rect">
            <a:avLst/>
          </a:prstGeom>
          <a:noFill/>
          <a:ln>
            <a:noFill/>
          </a:ln>
        </p:spPr>
      </p:pic>
      <p:pic>
        <p:nvPicPr>
          <p:cNvPr id="514" name="Google Shape;514;g15020395158_1_48"/>
          <p:cNvPicPr preferRelativeResize="0"/>
          <p:nvPr/>
        </p:nvPicPr>
        <p:blipFill rotWithShape="1">
          <a:blip r:embed="rId6">
            <a:alphaModFix/>
          </a:blip>
          <a:srcRect b="0" l="0" r="0" t="0"/>
          <a:stretch/>
        </p:blipFill>
        <p:spPr>
          <a:xfrm>
            <a:off x="8137108" y="2381500"/>
            <a:ext cx="623908" cy="787875"/>
          </a:xfrm>
          <a:prstGeom prst="rect">
            <a:avLst/>
          </a:prstGeom>
          <a:noFill/>
          <a:ln>
            <a:noFill/>
          </a:ln>
        </p:spPr>
      </p:pic>
      <p:sp>
        <p:nvSpPr>
          <p:cNvPr id="515" name="Google Shape;515;g15020395158_1_48"/>
          <p:cNvSpPr txBox="1"/>
          <p:nvPr/>
        </p:nvSpPr>
        <p:spPr>
          <a:xfrm>
            <a:off x="6297392" y="3169375"/>
            <a:ext cx="2769300" cy="2958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s-AR" sz="1800" u="none" cap="none" strike="noStrike">
                <a:solidFill>
                  <a:schemeClr val="dk1"/>
                </a:solidFill>
                <a:latin typeface="Arial"/>
                <a:ea typeface="Arial"/>
                <a:cs typeface="Arial"/>
                <a:sym typeface="Arial"/>
              </a:rPr>
              <a:t>-</a:t>
            </a:r>
            <a:r>
              <a:rPr b="1" i="0" lang="es-AR" sz="1800" u="none" cap="none" strike="noStrike">
                <a:solidFill>
                  <a:schemeClr val="dk1"/>
                </a:solidFill>
                <a:latin typeface="Calibri"/>
                <a:ea typeface="Calibri"/>
                <a:cs typeface="Calibri"/>
                <a:sym typeface="Calibri"/>
              </a:rPr>
              <a:t>Pymes  vs. Corporativo</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0" i="0" lang="es-AR" sz="1000" u="none" cap="none" strike="noStrike">
                <a:solidFill>
                  <a:schemeClr val="dk1"/>
                </a:solidFill>
                <a:latin typeface="Arial"/>
                <a:ea typeface="Arial"/>
                <a:cs typeface="Arial"/>
                <a:sym typeface="Arial"/>
              </a:rPr>
              <a:t>En todos los tipos de organizaciones  se pueden obtener indicadores, la diferencia esta en la complejidad y el impacto del dato. La veracidada de los datos en las empresas mas pequenas tendra mayores impactos, y mas facilmente se puede hacer el link con las causas, pero tambien se van a ver afectadas las confidencialidad y las perssonas. En empresas corpo, al ser mas la base de calculo se perpcibe como mas confidencial, deben analizase series de datos para determinar las conclusiones.  Lo importante es que si se mide, debe ejecutarse un plan de acción.</a:t>
            </a:r>
            <a:endParaRPr b="0" i="0" sz="500" u="none" cap="none" strike="noStrike">
              <a:solidFill>
                <a:schemeClr val="dk1"/>
              </a:solidFill>
              <a:latin typeface="Arial"/>
              <a:ea typeface="Arial"/>
              <a:cs typeface="Arial"/>
              <a:sym typeface="Arial"/>
            </a:endParaRPr>
          </a:p>
        </p:txBody>
      </p:sp>
      <p:sp>
        <p:nvSpPr>
          <p:cNvPr id="516" name="Google Shape;516;g15020395158_1_48"/>
          <p:cNvSpPr txBox="1"/>
          <p:nvPr/>
        </p:nvSpPr>
        <p:spPr>
          <a:xfrm>
            <a:off x="3528162" y="3169375"/>
            <a:ext cx="2769300" cy="29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De los temas de hoy impactan en los siguientes procesos: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Reclutamiento y Selección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Gestión del talento</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 Gestión del desempeño</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Relaciones Laborales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Compensaciones y Beneficios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Capacitación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Administración de Personal</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Costos Laborales</a:t>
            </a:r>
            <a:endParaRPr b="0" i="0" sz="1600" u="none" cap="none" strike="noStrike">
              <a:solidFill>
                <a:schemeClr val="dk1"/>
              </a:solidFill>
              <a:latin typeface="Calibri"/>
              <a:ea typeface="Calibri"/>
              <a:cs typeface="Calibri"/>
              <a:sym typeface="Calibri"/>
            </a:endParaRPr>
          </a:p>
        </p:txBody>
      </p:sp>
      <p:sp>
        <p:nvSpPr>
          <p:cNvPr id="517" name="Google Shape;517;g15020395158_1_48"/>
          <p:cNvSpPr txBox="1"/>
          <p:nvPr/>
        </p:nvSpPr>
        <p:spPr>
          <a:xfrm>
            <a:off x="347100" y="3312625"/>
            <a:ext cx="2769300" cy="269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La clase de hoy impacta en los todos los temas de personas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ya sea por que lo que se mide son resultados de los comportamientos de las personas en los lugares de trabajo, sino como tambien, son indicadores  para la gestion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2019-05-27T18:56:00Z</dcterms:created>
  <dc:creator>seidorbcn\mtrenchi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