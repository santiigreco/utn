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 id="2147483727" r:id="rId2"/>
    <p:sldMasterId id="2147483744" r:id="rId3"/>
  </p:sldMasterIdLst>
  <p:notesMasterIdLst>
    <p:notesMasterId r:id="rId57"/>
  </p:notesMasterIdLst>
  <p:handoutMasterIdLst>
    <p:handoutMasterId r:id="rId58"/>
  </p:handoutMasterIdLst>
  <p:sldIdLst>
    <p:sldId id="702" r:id="rId4"/>
    <p:sldId id="364" r:id="rId5"/>
    <p:sldId id="688" r:id="rId6"/>
    <p:sldId id="703" r:id="rId7"/>
    <p:sldId id="697" r:id="rId8"/>
    <p:sldId id="473" r:id="rId9"/>
    <p:sldId id="649" r:id="rId10"/>
    <p:sldId id="687" r:id="rId11"/>
    <p:sldId id="714" r:id="rId12"/>
    <p:sldId id="715" r:id="rId13"/>
    <p:sldId id="705" r:id="rId14"/>
    <p:sldId id="690" r:id="rId15"/>
    <p:sldId id="651" r:id="rId16"/>
    <p:sldId id="643" r:id="rId17"/>
    <p:sldId id="652" r:id="rId18"/>
    <p:sldId id="656" r:id="rId19"/>
    <p:sldId id="654" r:id="rId20"/>
    <p:sldId id="694" r:id="rId21"/>
    <p:sldId id="561" r:id="rId22"/>
    <p:sldId id="657" r:id="rId23"/>
    <p:sldId id="706" r:id="rId24"/>
    <p:sldId id="569" r:id="rId25"/>
    <p:sldId id="623" r:id="rId26"/>
    <p:sldId id="680" r:id="rId27"/>
    <p:sldId id="664" r:id="rId28"/>
    <p:sldId id="709" r:id="rId29"/>
    <p:sldId id="665" r:id="rId30"/>
    <p:sldId id="560" r:id="rId31"/>
    <p:sldId id="642" r:id="rId32"/>
    <p:sldId id="641" r:id="rId33"/>
    <p:sldId id="712" r:id="rId34"/>
    <p:sldId id="693" r:id="rId35"/>
    <p:sldId id="707" r:id="rId36"/>
    <p:sldId id="670" r:id="rId37"/>
    <p:sldId id="691" r:id="rId38"/>
    <p:sldId id="672" r:id="rId39"/>
    <p:sldId id="676" r:id="rId40"/>
    <p:sldId id="668" r:id="rId41"/>
    <p:sldId id="671" r:id="rId42"/>
    <p:sldId id="711" r:id="rId43"/>
    <p:sldId id="666" r:id="rId44"/>
    <p:sldId id="567" r:id="rId45"/>
    <p:sldId id="673" r:id="rId46"/>
    <p:sldId id="667" r:id="rId47"/>
    <p:sldId id="549" r:id="rId48"/>
    <p:sldId id="675" r:id="rId49"/>
    <p:sldId id="674" r:id="rId50"/>
    <p:sldId id="679" r:id="rId51"/>
    <p:sldId id="678" r:id="rId52"/>
    <p:sldId id="696" r:id="rId53"/>
    <p:sldId id="630" r:id="rId54"/>
    <p:sldId id="631" r:id="rId55"/>
    <p:sldId id="632" r:id="rId56"/>
  </p:sldIdLst>
  <p:sldSz cx="9906000" cy="6858000" type="A4"/>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5932" userDrawn="1">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CE66"/>
    <a:srgbClr val="0066FF"/>
    <a:srgbClr val="FBFBFB"/>
    <a:srgbClr val="FF0000"/>
    <a:srgbClr val="004062"/>
    <a:srgbClr val="426064"/>
    <a:srgbClr val="E8D9B3"/>
    <a:srgbClr val="3D5B5D"/>
    <a:srgbClr val="DBCBB4"/>
    <a:srgbClr val="CBA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93" autoAdjust="0"/>
    <p:restoredTop sz="84076" autoAdjust="0"/>
  </p:normalViewPr>
  <p:slideViewPr>
    <p:cSldViewPr>
      <p:cViewPr varScale="1">
        <p:scale>
          <a:sx n="55" d="100"/>
          <a:sy n="55" d="100"/>
        </p:scale>
        <p:origin x="1144" y="40"/>
      </p:cViewPr>
      <p:guideLst>
        <p:guide orient="horz" pos="572"/>
        <p:guide pos="5932"/>
      </p:guideLst>
    </p:cSldViewPr>
  </p:slideViewPr>
  <p:notesTextViewPr>
    <p:cViewPr>
      <p:scale>
        <a:sx n="100" d="100"/>
        <a:sy n="100" d="100"/>
      </p:scale>
      <p:origin x="0" y="0"/>
    </p:cViewPr>
  </p:notesTextViewPr>
  <p:sorterViewPr>
    <p:cViewPr>
      <p:scale>
        <a:sx n="70" d="100"/>
        <a:sy n="70" d="100"/>
      </p:scale>
      <p:origin x="0" y="-984"/>
    </p:cViewPr>
  </p:sorterViewPr>
  <p:notesViewPr>
    <p:cSldViewPr>
      <p:cViewPr varScale="1">
        <p:scale>
          <a:sx n="48" d="100"/>
          <a:sy n="48" d="100"/>
        </p:scale>
        <p:origin x="-2970" y="-10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23262A-FD60-4899-901A-A1B20586E87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pt>
    <dgm:pt modelId="{28DD98F3-7990-4093-B5DD-5238E268B985}">
      <dgm:prSet phldrT="[Texto]" custT="1"/>
      <dgm:spPr/>
      <dgm:t>
        <a:bodyPr/>
        <a:lstStyle/>
        <a:p>
          <a:r>
            <a:rPr lang="es-AR" sz="1400" b="1"/>
            <a:t>Derecho Colectivo</a:t>
          </a:r>
        </a:p>
      </dgm:t>
    </dgm:pt>
    <dgm:pt modelId="{B446D399-86BC-42C6-A136-3B8CB0DE28C7}" type="parTrans" cxnId="{37A44735-3F1E-4607-913E-6717999B835F}">
      <dgm:prSet/>
      <dgm:spPr/>
      <dgm:t>
        <a:bodyPr/>
        <a:lstStyle/>
        <a:p>
          <a:endParaRPr lang="es-AR" sz="2400" b="1"/>
        </a:p>
      </dgm:t>
    </dgm:pt>
    <dgm:pt modelId="{CB51000C-C6B2-4ED3-9F4C-1759A5BCFC79}" type="sibTrans" cxnId="{37A44735-3F1E-4607-913E-6717999B835F}">
      <dgm:prSet/>
      <dgm:spPr/>
      <dgm:t>
        <a:bodyPr/>
        <a:lstStyle/>
        <a:p>
          <a:endParaRPr lang="es-AR" sz="2400" b="1"/>
        </a:p>
      </dgm:t>
    </dgm:pt>
    <dgm:pt modelId="{F7234703-A3EA-4E7F-A8AD-B13B0B9C9BFC}">
      <dgm:prSet phldrT="[Texto]" custT="1"/>
      <dgm:spPr/>
      <dgm:t>
        <a:bodyPr/>
        <a:lstStyle/>
        <a:p>
          <a:r>
            <a:rPr lang="es-AR" sz="1400" b="1"/>
            <a:t>Conflicto Sindical</a:t>
          </a:r>
        </a:p>
      </dgm:t>
    </dgm:pt>
    <dgm:pt modelId="{90732EE6-951E-4414-ACCF-EEE40FFBA062}" type="parTrans" cxnId="{3C415EBA-F47F-4C22-860D-362460BA0390}">
      <dgm:prSet/>
      <dgm:spPr/>
      <dgm:t>
        <a:bodyPr/>
        <a:lstStyle/>
        <a:p>
          <a:endParaRPr lang="es-AR" sz="2400" b="1"/>
        </a:p>
      </dgm:t>
    </dgm:pt>
    <dgm:pt modelId="{EABAB810-DE42-414D-BB93-D472B8E83C96}" type="sibTrans" cxnId="{3C415EBA-F47F-4C22-860D-362460BA0390}">
      <dgm:prSet/>
      <dgm:spPr/>
      <dgm:t>
        <a:bodyPr/>
        <a:lstStyle/>
        <a:p>
          <a:endParaRPr lang="es-AR" sz="2400" b="1"/>
        </a:p>
      </dgm:t>
    </dgm:pt>
    <dgm:pt modelId="{689F65F6-41AF-4D56-8639-FB1036EFEE8E}">
      <dgm:prSet phldrT="[Texto]" custT="1"/>
      <dgm:spPr/>
      <dgm:t>
        <a:bodyPr/>
        <a:lstStyle/>
        <a:p>
          <a:r>
            <a:rPr lang="es-AR" sz="1400" b="1"/>
            <a:t>Negociación</a:t>
          </a:r>
        </a:p>
      </dgm:t>
    </dgm:pt>
    <dgm:pt modelId="{8A1DBD4D-1268-4D86-920D-6A13F6F1AA16}" type="parTrans" cxnId="{71D77361-D9A9-4A7B-911D-1EDEA7FD72E0}">
      <dgm:prSet/>
      <dgm:spPr/>
      <dgm:t>
        <a:bodyPr/>
        <a:lstStyle/>
        <a:p>
          <a:endParaRPr lang="es-AR" sz="2400" b="1"/>
        </a:p>
      </dgm:t>
    </dgm:pt>
    <dgm:pt modelId="{2A59B2F0-92B1-4A38-8BAF-730D23E4FB71}" type="sibTrans" cxnId="{71D77361-D9A9-4A7B-911D-1EDEA7FD72E0}">
      <dgm:prSet/>
      <dgm:spPr/>
      <dgm:t>
        <a:bodyPr/>
        <a:lstStyle/>
        <a:p>
          <a:endParaRPr lang="es-AR" sz="2400" b="1"/>
        </a:p>
      </dgm:t>
    </dgm:pt>
    <dgm:pt modelId="{1291D75D-59DD-42AC-A3F1-2B343B89DC04}">
      <dgm:prSet phldrT="[Texto]" custT="1"/>
      <dgm:spPr/>
      <dgm:t>
        <a:bodyPr/>
        <a:lstStyle/>
        <a:p>
          <a:r>
            <a:rPr lang="es-AR" sz="1400" b="1"/>
            <a:t>Asociaciones Sindicales</a:t>
          </a:r>
        </a:p>
      </dgm:t>
    </dgm:pt>
    <dgm:pt modelId="{6429806D-816B-4E17-8385-0F8F26AB6067}" type="parTrans" cxnId="{4157B069-5DF4-4DE4-AE05-4478F6EF3EF0}">
      <dgm:prSet/>
      <dgm:spPr/>
      <dgm:t>
        <a:bodyPr/>
        <a:lstStyle/>
        <a:p>
          <a:endParaRPr lang="es-AR" sz="2400" b="1"/>
        </a:p>
      </dgm:t>
    </dgm:pt>
    <dgm:pt modelId="{C5FF9A8D-1154-4D33-B1CF-7CF19B559F9E}" type="sibTrans" cxnId="{4157B069-5DF4-4DE4-AE05-4478F6EF3EF0}">
      <dgm:prSet/>
      <dgm:spPr/>
      <dgm:t>
        <a:bodyPr/>
        <a:lstStyle/>
        <a:p>
          <a:endParaRPr lang="es-AR" sz="2400" b="1"/>
        </a:p>
      </dgm:t>
    </dgm:pt>
    <dgm:pt modelId="{4E1E1AE8-5273-47C9-9871-EF7C1C0BDC00}">
      <dgm:prSet phldrT="[Texto]" custT="1"/>
      <dgm:spPr/>
      <dgm:t>
        <a:bodyPr/>
        <a:lstStyle/>
        <a:p>
          <a:r>
            <a:rPr lang="es-AR" sz="1400" b="1"/>
            <a:t>Convenios Colectivos de Trabajo</a:t>
          </a:r>
        </a:p>
      </dgm:t>
    </dgm:pt>
    <dgm:pt modelId="{5F865139-832B-4660-8FDB-173534A4538B}" type="parTrans" cxnId="{4DBB0338-C8B4-4537-A1DD-78373AB2EF4E}">
      <dgm:prSet/>
      <dgm:spPr/>
      <dgm:t>
        <a:bodyPr/>
        <a:lstStyle/>
        <a:p>
          <a:endParaRPr lang="es-AR" sz="2400" b="1"/>
        </a:p>
      </dgm:t>
    </dgm:pt>
    <dgm:pt modelId="{CBBAF424-A04C-4277-AB55-9A6395B1869A}" type="sibTrans" cxnId="{4DBB0338-C8B4-4537-A1DD-78373AB2EF4E}">
      <dgm:prSet/>
      <dgm:spPr/>
      <dgm:t>
        <a:bodyPr/>
        <a:lstStyle/>
        <a:p>
          <a:endParaRPr lang="es-AR" sz="2400" b="1"/>
        </a:p>
      </dgm:t>
    </dgm:pt>
    <dgm:pt modelId="{3FDDC8E7-E40C-4307-B4BF-246185079F29}">
      <dgm:prSet phldrT="[Texto]" custT="1"/>
      <dgm:spPr/>
      <dgm:t>
        <a:bodyPr/>
        <a:lstStyle/>
        <a:p>
          <a:r>
            <a:rPr lang="es-AR" sz="1400" b="1"/>
            <a:t>Representantes Gremiales</a:t>
          </a:r>
        </a:p>
      </dgm:t>
    </dgm:pt>
    <dgm:pt modelId="{D8862350-6555-4310-B771-A1FBA7FE89BD}" type="parTrans" cxnId="{31B11E43-521A-444A-AF5D-01C787C73DF4}">
      <dgm:prSet/>
      <dgm:spPr/>
      <dgm:t>
        <a:bodyPr/>
        <a:lstStyle/>
        <a:p>
          <a:endParaRPr lang="es-AR" sz="2400" b="1"/>
        </a:p>
      </dgm:t>
    </dgm:pt>
    <dgm:pt modelId="{D30BAB2B-4B08-4DFD-B9E2-735FC4C3024D}" type="sibTrans" cxnId="{31B11E43-521A-444A-AF5D-01C787C73DF4}">
      <dgm:prSet/>
      <dgm:spPr/>
      <dgm:t>
        <a:bodyPr/>
        <a:lstStyle/>
        <a:p>
          <a:endParaRPr lang="es-AR" sz="2400" b="1"/>
        </a:p>
      </dgm:t>
    </dgm:pt>
    <dgm:pt modelId="{02AFE365-9778-4745-B7E3-9314459B3F33}">
      <dgm:prSet phldrT="[Texto]" custT="1"/>
      <dgm:spPr/>
      <dgm:t>
        <a:bodyPr/>
        <a:lstStyle/>
        <a:p>
          <a:r>
            <a:rPr lang="es-AR" sz="1400" b="1"/>
            <a:t>Mapa Político Gremial</a:t>
          </a:r>
        </a:p>
      </dgm:t>
    </dgm:pt>
    <dgm:pt modelId="{46ED6C4A-88E1-4123-BD7D-949BB188508B}" type="parTrans" cxnId="{1D1D93E3-C5DD-44D5-ABA5-30C44F8BBE07}">
      <dgm:prSet/>
      <dgm:spPr/>
      <dgm:t>
        <a:bodyPr/>
        <a:lstStyle/>
        <a:p>
          <a:endParaRPr lang="es-AR" sz="2400" b="1"/>
        </a:p>
      </dgm:t>
    </dgm:pt>
    <dgm:pt modelId="{80BBB18F-679E-449A-BB88-15E5625A145C}" type="sibTrans" cxnId="{1D1D93E3-C5DD-44D5-ABA5-30C44F8BBE07}">
      <dgm:prSet/>
      <dgm:spPr/>
      <dgm:t>
        <a:bodyPr/>
        <a:lstStyle/>
        <a:p>
          <a:endParaRPr lang="es-AR" sz="2400" b="1"/>
        </a:p>
      </dgm:t>
    </dgm:pt>
    <dgm:pt modelId="{BCDFE08C-F744-441A-A952-E88CDE4F5055}" type="pres">
      <dgm:prSet presAssocID="{4423262A-FD60-4899-901A-A1B20586E87D}" presName="root" presStyleCnt="0">
        <dgm:presLayoutVars>
          <dgm:dir/>
          <dgm:resizeHandles val="exact"/>
        </dgm:presLayoutVars>
      </dgm:prSet>
      <dgm:spPr/>
    </dgm:pt>
    <dgm:pt modelId="{C7F29A01-B14C-46BC-8D2C-47F5D31D0F7E}" type="pres">
      <dgm:prSet presAssocID="{4423262A-FD60-4899-901A-A1B20586E87D}" presName="container" presStyleCnt="0">
        <dgm:presLayoutVars>
          <dgm:dir/>
          <dgm:resizeHandles val="exact"/>
        </dgm:presLayoutVars>
      </dgm:prSet>
      <dgm:spPr/>
    </dgm:pt>
    <dgm:pt modelId="{6D7994BA-7928-4372-AFC8-88754F1D55DC}" type="pres">
      <dgm:prSet presAssocID="{28DD98F3-7990-4093-B5DD-5238E268B985}" presName="compNode" presStyleCnt="0"/>
      <dgm:spPr/>
    </dgm:pt>
    <dgm:pt modelId="{B2B0A043-4427-40E5-8F09-8CFBE6ADABEE}" type="pres">
      <dgm:prSet presAssocID="{28DD98F3-7990-4093-B5DD-5238E268B985}" presName="iconBgRect" presStyleLbl="bgShp" presStyleIdx="0" presStyleCnt="7"/>
      <dgm:spPr/>
    </dgm:pt>
    <dgm:pt modelId="{33EF9F8F-DA66-4C87-A76A-77B1FD282DB4}" type="pres">
      <dgm:prSet presAssocID="{28DD98F3-7990-4093-B5DD-5238E268B98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73572A97-CBBB-45CF-9618-D11EB7D76AB4}" type="pres">
      <dgm:prSet presAssocID="{28DD98F3-7990-4093-B5DD-5238E268B985}" presName="spaceRect" presStyleCnt="0"/>
      <dgm:spPr/>
    </dgm:pt>
    <dgm:pt modelId="{DE92F885-AB1E-4731-B635-504B01123EB6}" type="pres">
      <dgm:prSet presAssocID="{28DD98F3-7990-4093-B5DD-5238E268B985}" presName="textRect" presStyleLbl="revTx" presStyleIdx="0" presStyleCnt="7">
        <dgm:presLayoutVars>
          <dgm:chMax val="1"/>
          <dgm:chPref val="1"/>
        </dgm:presLayoutVars>
      </dgm:prSet>
      <dgm:spPr/>
    </dgm:pt>
    <dgm:pt modelId="{7347F5B4-CB26-4C45-8537-16212356E31C}" type="pres">
      <dgm:prSet presAssocID="{CB51000C-C6B2-4ED3-9F4C-1759A5BCFC79}" presName="sibTrans" presStyleLbl="sibTrans2D1" presStyleIdx="0" presStyleCnt="0"/>
      <dgm:spPr/>
    </dgm:pt>
    <dgm:pt modelId="{FF659695-5070-464D-9532-75B2C9D0DF47}" type="pres">
      <dgm:prSet presAssocID="{1291D75D-59DD-42AC-A3F1-2B343B89DC04}" presName="compNode" presStyleCnt="0"/>
      <dgm:spPr/>
    </dgm:pt>
    <dgm:pt modelId="{9FCB4D91-882E-4F9E-BAA9-A4B9DB02D75B}" type="pres">
      <dgm:prSet presAssocID="{1291D75D-59DD-42AC-A3F1-2B343B89DC04}" presName="iconBgRect" presStyleLbl="bgShp" presStyleIdx="1" presStyleCnt="7"/>
      <dgm:spPr/>
    </dgm:pt>
    <dgm:pt modelId="{20C3314F-E657-4560-BA2E-205C60627887}" type="pres">
      <dgm:prSet presAssocID="{1291D75D-59DD-42AC-A3F1-2B343B89DC04}" presName="iconRect" presStyleLbl="node1" presStyleIdx="1" presStyleCnt="7"/>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4D21322D-A342-43CB-93CA-C79240AE6F91}" type="pres">
      <dgm:prSet presAssocID="{1291D75D-59DD-42AC-A3F1-2B343B89DC04}" presName="spaceRect" presStyleCnt="0"/>
      <dgm:spPr/>
    </dgm:pt>
    <dgm:pt modelId="{9B392583-F46F-4FD5-B90C-1655A3CBA330}" type="pres">
      <dgm:prSet presAssocID="{1291D75D-59DD-42AC-A3F1-2B343B89DC04}" presName="textRect" presStyleLbl="revTx" presStyleIdx="1" presStyleCnt="7">
        <dgm:presLayoutVars>
          <dgm:chMax val="1"/>
          <dgm:chPref val="1"/>
        </dgm:presLayoutVars>
      </dgm:prSet>
      <dgm:spPr/>
    </dgm:pt>
    <dgm:pt modelId="{7D28528D-6266-42D7-A30B-27AE711CA222}" type="pres">
      <dgm:prSet presAssocID="{C5FF9A8D-1154-4D33-B1CF-7CF19B559F9E}" presName="sibTrans" presStyleLbl="sibTrans2D1" presStyleIdx="0" presStyleCnt="0"/>
      <dgm:spPr/>
    </dgm:pt>
    <dgm:pt modelId="{1EA0664F-DD02-4D61-A1A8-5F4DB743AEB8}" type="pres">
      <dgm:prSet presAssocID="{4E1E1AE8-5273-47C9-9871-EF7C1C0BDC00}" presName="compNode" presStyleCnt="0"/>
      <dgm:spPr/>
    </dgm:pt>
    <dgm:pt modelId="{7B204262-B8E8-41AA-8297-87A7DEC4E0F4}" type="pres">
      <dgm:prSet presAssocID="{4E1E1AE8-5273-47C9-9871-EF7C1C0BDC00}" presName="iconBgRect" presStyleLbl="bgShp" presStyleIdx="2" presStyleCnt="7"/>
      <dgm:spPr/>
    </dgm:pt>
    <dgm:pt modelId="{0E1C3147-A947-49F7-9BA9-505F43788A89}" type="pres">
      <dgm:prSet presAssocID="{4E1E1AE8-5273-47C9-9871-EF7C1C0BDC00}" presName="iconRect" presStyleLbl="node1" presStyleIdx="2" presStyleCnt="7"/>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pt>
    <dgm:pt modelId="{7A8CD8A0-2723-4E44-80EB-EA5172201462}" type="pres">
      <dgm:prSet presAssocID="{4E1E1AE8-5273-47C9-9871-EF7C1C0BDC00}" presName="spaceRect" presStyleCnt="0"/>
      <dgm:spPr/>
    </dgm:pt>
    <dgm:pt modelId="{A31A201C-4174-4147-9454-2873293917BB}" type="pres">
      <dgm:prSet presAssocID="{4E1E1AE8-5273-47C9-9871-EF7C1C0BDC00}" presName="textRect" presStyleLbl="revTx" presStyleIdx="2" presStyleCnt="7">
        <dgm:presLayoutVars>
          <dgm:chMax val="1"/>
          <dgm:chPref val="1"/>
        </dgm:presLayoutVars>
      </dgm:prSet>
      <dgm:spPr/>
    </dgm:pt>
    <dgm:pt modelId="{344FD0D0-8151-4B7E-B0A6-EDC3A0A3B841}" type="pres">
      <dgm:prSet presAssocID="{CBBAF424-A04C-4277-AB55-9A6395B1869A}" presName="sibTrans" presStyleLbl="sibTrans2D1" presStyleIdx="0" presStyleCnt="0"/>
      <dgm:spPr/>
    </dgm:pt>
    <dgm:pt modelId="{DF35242B-F945-4C1F-A39A-19BFA4E6BC41}" type="pres">
      <dgm:prSet presAssocID="{3FDDC8E7-E40C-4307-B4BF-246185079F29}" presName="compNode" presStyleCnt="0"/>
      <dgm:spPr/>
    </dgm:pt>
    <dgm:pt modelId="{A53D2F3D-55D8-4243-A136-04078FFD071D}" type="pres">
      <dgm:prSet presAssocID="{3FDDC8E7-E40C-4307-B4BF-246185079F29}" presName="iconBgRect" presStyleLbl="bgShp" presStyleIdx="3" presStyleCnt="7"/>
      <dgm:spPr/>
    </dgm:pt>
    <dgm:pt modelId="{E486D8AF-753C-4A85-AFCA-65A8B9B6CEBE}" type="pres">
      <dgm:prSet presAssocID="{3FDDC8E7-E40C-4307-B4BF-246185079F29}" presName="iconRect" presStyleLbl="node1" presStyleIdx="3" presStyleCnt="7"/>
      <dgm:spPr>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pt>
    <dgm:pt modelId="{123E03C5-473C-4F62-8FE0-5070BC817A14}" type="pres">
      <dgm:prSet presAssocID="{3FDDC8E7-E40C-4307-B4BF-246185079F29}" presName="spaceRect" presStyleCnt="0"/>
      <dgm:spPr/>
    </dgm:pt>
    <dgm:pt modelId="{46F0730A-D1D5-4E2A-B161-48BD26C5B159}" type="pres">
      <dgm:prSet presAssocID="{3FDDC8E7-E40C-4307-B4BF-246185079F29}" presName="textRect" presStyleLbl="revTx" presStyleIdx="3" presStyleCnt="7">
        <dgm:presLayoutVars>
          <dgm:chMax val="1"/>
          <dgm:chPref val="1"/>
        </dgm:presLayoutVars>
      </dgm:prSet>
      <dgm:spPr/>
    </dgm:pt>
    <dgm:pt modelId="{96C56AE1-8CA6-4E2A-AA7D-03F86435480F}" type="pres">
      <dgm:prSet presAssocID="{D30BAB2B-4B08-4DFD-B9E2-735FC4C3024D}" presName="sibTrans" presStyleLbl="sibTrans2D1" presStyleIdx="0" presStyleCnt="0"/>
      <dgm:spPr/>
    </dgm:pt>
    <dgm:pt modelId="{44704F5E-6987-447E-80CD-0E88B9C6A65E}" type="pres">
      <dgm:prSet presAssocID="{02AFE365-9778-4745-B7E3-9314459B3F33}" presName="compNode" presStyleCnt="0"/>
      <dgm:spPr/>
    </dgm:pt>
    <dgm:pt modelId="{747F0D46-CA57-4C41-9AA9-1F8E3DE46D90}" type="pres">
      <dgm:prSet presAssocID="{02AFE365-9778-4745-B7E3-9314459B3F33}" presName="iconBgRect" presStyleLbl="bgShp" presStyleIdx="4" presStyleCnt="7"/>
      <dgm:spPr/>
    </dgm:pt>
    <dgm:pt modelId="{2DF18A2E-4B5E-4944-9B8E-EDA0ADC29A4C}" type="pres">
      <dgm:prSet presAssocID="{02AFE365-9778-4745-B7E3-9314459B3F33}" presName="iconRect" presStyleLbl="node1" presStyleIdx="4" presStyleCnt="7"/>
      <dgm:spPr>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pt>
    <dgm:pt modelId="{4EA114B7-05C4-49A2-BBC7-684D47BA0D5D}" type="pres">
      <dgm:prSet presAssocID="{02AFE365-9778-4745-B7E3-9314459B3F33}" presName="spaceRect" presStyleCnt="0"/>
      <dgm:spPr/>
    </dgm:pt>
    <dgm:pt modelId="{7EA0A9F6-5FC6-40F3-8FC3-1C811B37DD9F}" type="pres">
      <dgm:prSet presAssocID="{02AFE365-9778-4745-B7E3-9314459B3F33}" presName="textRect" presStyleLbl="revTx" presStyleIdx="4" presStyleCnt="7">
        <dgm:presLayoutVars>
          <dgm:chMax val="1"/>
          <dgm:chPref val="1"/>
        </dgm:presLayoutVars>
      </dgm:prSet>
      <dgm:spPr/>
    </dgm:pt>
    <dgm:pt modelId="{3CCD9628-7B98-4B2B-8B44-6D8492D0F020}" type="pres">
      <dgm:prSet presAssocID="{80BBB18F-679E-449A-BB88-15E5625A145C}" presName="sibTrans" presStyleLbl="sibTrans2D1" presStyleIdx="0" presStyleCnt="0"/>
      <dgm:spPr/>
    </dgm:pt>
    <dgm:pt modelId="{D52F6746-41ED-435B-93BB-ABEAC6670F71}" type="pres">
      <dgm:prSet presAssocID="{F7234703-A3EA-4E7F-A8AD-B13B0B9C9BFC}" presName="compNode" presStyleCnt="0"/>
      <dgm:spPr/>
    </dgm:pt>
    <dgm:pt modelId="{B476E009-E789-472A-A0A9-BBBBB75532FE}" type="pres">
      <dgm:prSet presAssocID="{F7234703-A3EA-4E7F-A8AD-B13B0B9C9BFC}" presName="iconBgRect" presStyleLbl="bgShp" presStyleIdx="5" presStyleCnt="7"/>
      <dgm:spPr/>
    </dgm:pt>
    <dgm:pt modelId="{8FC39D4C-3D8D-4105-8DA0-966EC66D04BD}" type="pres">
      <dgm:prSet presAssocID="{F7234703-A3EA-4E7F-A8AD-B13B0B9C9BFC}" presName="iconRect" presStyleLbl="node1" presStyleIdx="5" presStyleCnt="7"/>
      <dgm:spPr>
        <a:blipFill rotWithShape="1">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a:noFill/>
        </a:ln>
      </dgm:spPr>
    </dgm:pt>
    <dgm:pt modelId="{3B4AD75C-3739-4E44-9F5C-8A8310A4B325}" type="pres">
      <dgm:prSet presAssocID="{F7234703-A3EA-4E7F-A8AD-B13B0B9C9BFC}" presName="spaceRect" presStyleCnt="0"/>
      <dgm:spPr/>
    </dgm:pt>
    <dgm:pt modelId="{FEA1A701-8FB2-4C14-BAA2-EC4DCE12AEF7}" type="pres">
      <dgm:prSet presAssocID="{F7234703-A3EA-4E7F-A8AD-B13B0B9C9BFC}" presName="textRect" presStyleLbl="revTx" presStyleIdx="5" presStyleCnt="7">
        <dgm:presLayoutVars>
          <dgm:chMax val="1"/>
          <dgm:chPref val="1"/>
        </dgm:presLayoutVars>
      </dgm:prSet>
      <dgm:spPr/>
    </dgm:pt>
    <dgm:pt modelId="{8205BB80-279D-4AD8-8488-782BD79CC49A}" type="pres">
      <dgm:prSet presAssocID="{EABAB810-DE42-414D-BB93-D472B8E83C96}" presName="sibTrans" presStyleLbl="sibTrans2D1" presStyleIdx="0" presStyleCnt="0"/>
      <dgm:spPr/>
    </dgm:pt>
    <dgm:pt modelId="{13407B9C-72E5-4166-93DD-74D6C6684E31}" type="pres">
      <dgm:prSet presAssocID="{689F65F6-41AF-4D56-8639-FB1036EFEE8E}" presName="compNode" presStyleCnt="0"/>
      <dgm:spPr/>
    </dgm:pt>
    <dgm:pt modelId="{7006A6B6-57DE-422F-8FEA-BAFBB8C66973}" type="pres">
      <dgm:prSet presAssocID="{689F65F6-41AF-4D56-8639-FB1036EFEE8E}" presName="iconBgRect" presStyleLbl="bgShp" presStyleIdx="6" presStyleCnt="7"/>
      <dgm:spPr/>
    </dgm:pt>
    <dgm:pt modelId="{A3F985E8-716D-44FD-9F7C-2D2C6392F4FC}" type="pres">
      <dgm:prSet presAssocID="{689F65F6-41AF-4D56-8639-FB1036EFEE8E}" presName="iconRect" presStyleLbl="node1" presStyleIdx="6" presStyleCnt="7"/>
      <dgm:spPr>
        <a:blipFill rotWithShape="1">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a:noFill/>
        </a:ln>
      </dgm:spPr>
    </dgm:pt>
    <dgm:pt modelId="{7EF93521-EC55-4930-AA42-6BC0E83E4D55}" type="pres">
      <dgm:prSet presAssocID="{689F65F6-41AF-4D56-8639-FB1036EFEE8E}" presName="spaceRect" presStyleCnt="0"/>
      <dgm:spPr/>
    </dgm:pt>
    <dgm:pt modelId="{D1091A18-1C4D-456A-882C-2CB519E1F3E7}" type="pres">
      <dgm:prSet presAssocID="{689F65F6-41AF-4D56-8639-FB1036EFEE8E}" presName="textRect" presStyleLbl="revTx" presStyleIdx="6" presStyleCnt="7">
        <dgm:presLayoutVars>
          <dgm:chMax val="1"/>
          <dgm:chPref val="1"/>
        </dgm:presLayoutVars>
      </dgm:prSet>
      <dgm:spPr/>
    </dgm:pt>
  </dgm:ptLst>
  <dgm:cxnLst>
    <dgm:cxn modelId="{6D6F5417-1CEE-4F2E-999D-2D530107D3D8}" type="presOf" srcId="{4E1E1AE8-5273-47C9-9871-EF7C1C0BDC00}" destId="{A31A201C-4174-4147-9454-2873293917BB}" srcOrd="0" destOrd="0" presId="urn:microsoft.com/office/officeart/2018/2/layout/IconCircleList"/>
    <dgm:cxn modelId="{534F2323-DD90-4485-9227-9E02E3B87BD3}" type="presOf" srcId="{F7234703-A3EA-4E7F-A8AD-B13B0B9C9BFC}" destId="{FEA1A701-8FB2-4C14-BAA2-EC4DCE12AEF7}" srcOrd="0" destOrd="0" presId="urn:microsoft.com/office/officeart/2018/2/layout/IconCircleList"/>
    <dgm:cxn modelId="{37A44735-3F1E-4607-913E-6717999B835F}" srcId="{4423262A-FD60-4899-901A-A1B20586E87D}" destId="{28DD98F3-7990-4093-B5DD-5238E268B985}" srcOrd="0" destOrd="0" parTransId="{B446D399-86BC-42C6-A136-3B8CB0DE28C7}" sibTransId="{CB51000C-C6B2-4ED3-9F4C-1759A5BCFC79}"/>
    <dgm:cxn modelId="{4DBB0338-C8B4-4537-A1DD-78373AB2EF4E}" srcId="{4423262A-FD60-4899-901A-A1B20586E87D}" destId="{4E1E1AE8-5273-47C9-9871-EF7C1C0BDC00}" srcOrd="2" destOrd="0" parTransId="{5F865139-832B-4660-8FDB-173534A4538B}" sibTransId="{CBBAF424-A04C-4277-AB55-9A6395B1869A}"/>
    <dgm:cxn modelId="{97B0D63F-AC26-4DDA-8637-D79DE9E404B0}" type="presOf" srcId="{CB51000C-C6B2-4ED3-9F4C-1759A5BCFC79}" destId="{7347F5B4-CB26-4C45-8537-16212356E31C}" srcOrd="0" destOrd="0" presId="urn:microsoft.com/office/officeart/2018/2/layout/IconCircleList"/>
    <dgm:cxn modelId="{71D77361-D9A9-4A7B-911D-1EDEA7FD72E0}" srcId="{4423262A-FD60-4899-901A-A1B20586E87D}" destId="{689F65F6-41AF-4D56-8639-FB1036EFEE8E}" srcOrd="6" destOrd="0" parTransId="{8A1DBD4D-1268-4D86-920D-6A13F6F1AA16}" sibTransId="{2A59B2F0-92B1-4A38-8BAF-730D23E4FB71}"/>
    <dgm:cxn modelId="{31B11E43-521A-444A-AF5D-01C787C73DF4}" srcId="{4423262A-FD60-4899-901A-A1B20586E87D}" destId="{3FDDC8E7-E40C-4307-B4BF-246185079F29}" srcOrd="3" destOrd="0" parTransId="{D8862350-6555-4310-B771-A1FBA7FE89BD}" sibTransId="{D30BAB2B-4B08-4DFD-B9E2-735FC4C3024D}"/>
    <dgm:cxn modelId="{DDD53F49-3894-4413-AA1D-26B2D4E8BF3F}" type="presOf" srcId="{D30BAB2B-4B08-4DFD-B9E2-735FC4C3024D}" destId="{96C56AE1-8CA6-4E2A-AA7D-03F86435480F}" srcOrd="0" destOrd="0" presId="urn:microsoft.com/office/officeart/2018/2/layout/IconCircleList"/>
    <dgm:cxn modelId="{4157B069-5DF4-4DE4-AE05-4478F6EF3EF0}" srcId="{4423262A-FD60-4899-901A-A1B20586E87D}" destId="{1291D75D-59DD-42AC-A3F1-2B343B89DC04}" srcOrd="1" destOrd="0" parTransId="{6429806D-816B-4E17-8385-0F8F26AB6067}" sibTransId="{C5FF9A8D-1154-4D33-B1CF-7CF19B559F9E}"/>
    <dgm:cxn modelId="{8FD0F869-D119-4860-B8C4-35CF7BC8BD19}" type="presOf" srcId="{3FDDC8E7-E40C-4307-B4BF-246185079F29}" destId="{46F0730A-D1D5-4E2A-B161-48BD26C5B159}" srcOrd="0" destOrd="0" presId="urn:microsoft.com/office/officeart/2018/2/layout/IconCircleList"/>
    <dgm:cxn modelId="{08770858-3043-45FB-9E13-DE6EE30EC42A}" type="presOf" srcId="{02AFE365-9778-4745-B7E3-9314459B3F33}" destId="{7EA0A9F6-5FC6-40F3-8FC3-1C811B37DD9F}" srcOrd="0" destOrd="0" presId="urn:microsoft.com/office/officeart/2018/2/layout/IconCircleList"/>
    <dgm:cxn modelId="{2BC609A9-43B7-4196-9423-FD4EB3FEE031}" type="presOf" srcId="{689F65F6-41AF-4D56-8639-FB1036EFEE8E}" destId="{D1091A18-1C4D-456A-882C-2CB519E1F3E7}" srcOrd="0" destOrd="0" presId="urn:microsoft.com/office/officeart/2018/2/layout/IconCircleList"/>
    <dgm:cxn modelId="{78136CB9-6201-4FBB-A437-A5ECA387FE16}" type="presOf" srcId="{C5FF9A8D-1154-4D33-B1CF-7CF19B559F9E}" destId="{7D28528D-6266-42D7-A30B-27AE711CA222}" srcOrd="0" destOrd="0" presId="urn:microsoft.com/office/officeart/2018/2/layout/IconCircleList"/>
    <dgm:cxn modelId="{3C415EBA-F47F-4C22-860D-362460BA0390}" srcId="{4423262A-FD60-4899-901A-A1B20586E87D}" destId="{F7234703-A3EA-4E7F-A8AD-B13B0B9C9BFC}" srcOrd="5" destOrd="0" parTransId="{90732EE6-951E-4414-ACCF-EEE40FFBA062}" sibTransId="{EABAB810-DE42-414D-BB93-D472B8E83C96}"/>
    <dgm:cxn modelId="{84C764C5-BF19-408E-BCC0-4B5BCFD6E216}" type="presOf" srcId="{28DD98F3-7990-4093-B5DD-5238E268B985}" destId="{DE92F885-AB1E-4731-B635-504B01123EB6}" srcOrd="0" destOrd="0" presId="urn:microsoft.com/office/officeart/2018/2/layout/IconCircleList"/>
    <dgm:cxn modelId="{E368CDD2-5A09-42F7-B460-F307581C9C2C}" type="presOf" srcId="{4423262A-FD60-4899-901A-A1B20586E87D}" destId="{BCDFE08C-F744-441A-A952-E88CDE4F5055}" srcOrd="0" destOrd="0" presId="urn:microsoft.com/office/officeart/2018/2/layout/IconCircleList"/>
    <dgm:cxn modelId="{67EBEAD9-24FC-43B8-AC3F-78B57496AB2F}" type="presOf" srcId="{CBBAF424-A04C-4277-AB55-9A6395B1869A}" destId="{344FD0D0-8151-4B7E-B0A6-EDC3A0A3B841}" srcOrd="0" destOrd="0" presId="urn:microsoft.com/office/officeart/2018/2/layout/IconCircleList"/>
    <dgm:cxn modelId="{3E9FF1E2-925D-45FF-A4F2-0316CB0263ED}" type="presOf" srcId="{80BBB18F-679E-449A-BB88-15E5625A145C}" destId="{3CCD9628-7B98-4B2B-8B44-6D8492D0F020}" srcOrd="0" destOrd="0" presId="urn:microsoft.com/office/officeart/2018/2/layout/IconCircleList"/>
    <dgm:cxn modelId="{1D1D93E3-C5DD-44D5-ABA5-30C44F8BBE07}" srcId="{4423262A-FD60-4899-901A-A1B20586E87D}" destId="{02AFE365-9778-4745-B7E3-9314459B3F33}" srcOrd="4" destOrd="0" parTransId="{46ED6C4A-88E1-4123-BD7D-949BB188508B}" sibTransId="{80BBB18F-679E-449A-BB88-15E5625A145C}"/>
    <dgm:cxn modelId="{E710E4F0-5CCD-4FF2-9D1C-E297B9ECE3A2}" type="presOf" srcId="{EABAB810-DE42-414D-BB93-D472B8E83C96}" destId="{8205BB80-279D-4AD8-8488-782BD79CC49A}" srcOrd="0" destOrd="0" presId="urn:microsoft.com/office/officeart/2018/2/layout/IconCircleList"/>
    <dgm:cxn modelId="{BBA636F4-486B-4F5B-8B2F-61276E63FFFE}" type="presOf" srcId="{1291D75D-59DD-42AC-A3F1-2B343B89DC04}" destId="{9B392583-F46F-4FD5-B90C-1655A3CBA330}" srcOrd="0" destOrd="0" presId="urn:microsoft.com/office/officeart/2018/2/layout/IconCircleList"/>
    <dgm:cxn modelId="{705B5D36-45A6-4B63-8DAB-DFAB26A30BF6}" type="presParOf" srcId="{BCDFE08C-F744-441A-A952-E88CDE4F5055}" destId="{C7F29A01-B14C-46BC-8D2C-47F5D31D0F7E}" srcOrd="0" destOrd="0" presId="urn:microsoft.com/office/officeart/2018/2/layout/IconCircleList"/>
    <dgm:cxn modelId="{FEE7DE7F-1A25-4128-A690-C147DDE36638}" type="presParOf" srcId="{C7F29A01-B14C-46BC-8D2C-47F5D31D0F7E}" destId="{6D7994BA-7928-4372-AFC8-88754F1D55DC}" srcOrd="0" destOrd="0" presId="urn:microsoft.com/office/officeart/2018/2/layout/IconCircleList"/>
    <dgm:cxn modelId="{35F834AD-5A98-43DF-B3C1-761C6408FB48}" type="presParOf" srcId="{6D7994BA-7928-4372-AFC8-88754F1D55DC}" destId="{B2B0A043-4427-40E5-8F09-8CFBE6ADABEE}" srcOrd="0" destOrd="0" presId="urn:microsoft.com/office/officeart/2018/2/layout/IconCircleList"/>
    <dgm:cxn modelId="{49A0931F-BECB-43AD-8F8F-B77EF9118D65}" type="presParOf" srcId="{6D7994BA-7928-4372-AFC8-88754F1D55DC}" destId="{33EF9F8F-DA66-4C87-A76A-77B1FD282DB4}" srcOrd="1" destOrd="0" presId="urn:microsoft.com/office/officeart/2018/2/layout/IconCircleList"/>
    <dgm:cxn modelId="{64D09E19-5B75-4CEE-B334-2F047242D3FB}" type="presParOf" srcId="{6D7994BA-7928-4372-AFC8-88754F1D55DC}" destId="{73572A97-CBBB-45CF-9618-D11EB7D76AB4}" srcOrd="2" destOrd="0" presId="urn:microsoft.com/office/officeart/2018/2/layout/IconCircleList"/>
    <dgm:cxn modelId="{AB4FCDD7-1F85-4D94-BED4-D7414C9F102E}" type="presParOf" srcId="{6D7994BA-7928-4372-AFC8-88754F1D55DC}" destId="{DE92F885-AB1E-4731-B635-504B01123EB6}" srcOrd="3" destOrd="0" presId="urn:microsoft.com/office/officeart/2018/2/layout/IconCircleList"/>
    <dgm:cxn modelId="{F8738635-0267-4621-A752-AC20C09B6A66}" type="presParOf" srcId="{C7F29A01-B14C-46BC-8D2C-47F5D31D0F7E}" destId="{7347F5B4-CB26-4C45-8537-16212356E31C}" srcOrd="1" destOrd="0" presId="urn:microsoft.com/office/officeart/2018/2/layout/IconCircleList"/>
    <dgm:cxn modelId="{1E06770D-80D5-45B6-B5AC-30544F0A5692}" type="presParOf" srcId="{C7F29A01-B14C-46BC-8D2C-47F5D31D0F7E}" destId="{FF659695-5070-464D-9532-75B2C9D0DF47}" srcOrd="2" destOrd="0" presId="urn:microsoft.com/office/officeart/2018/2/layout/IconCircleList"/>
    <dgm:cxn modelId="{29CE31F1-670E-41E5-92B7-76C36DF76A23}" type="presParOf" srcId="{FF659695-5070-464D-9532-75B2C9D0DF47}" destId="{9FCB4D91-882E-4F9E-BAA9-A4B9DB02D75B}" srcOrd="0" destOrd="0" presId="urn:microsoft.com/office/officeart/2018/2/layout/IconCircleList"/>
    <dgm:cxn modelId="{56B068FB-D187-47DC-B56D-12EB7B19A76C}" type="presParOf" srcId="{FF659695-5070-464D-9532-75B2C9D0DF47}" destId="{20C3314F-E657-4560-BA2E-205C60627887}" srcOrd="1" destOrd="0" presId="urn:microsoft.com/office/officeart/2018/2/layout/IconCircleList"/>
    <dgm:cxn modelId="{6EB87084-5012-4D49-AA70-3DD4CA89E4D8}" type="presParOf" srcId="{FF659695-5070-464D-9532-75B2C9D0DF47}" destId="{4D21322D-A342-43CB-93CA-C79240AE6F91}" srcOrd="2" destOrd="0" presId="urn:microsoft.com/office/officeart/2018/2/layout/IconCircleList"/>
    <dgm:cxn modelId="{CF9CE428-28C5-487F-B91F-D6B176438CB1}" type="presParOf" srcId="{FF659695-5070-464D-9532-75B2C9D0DF47}" destId="{9B392583-F46F-4FD5-B90C-1655A3CBA330}" srcOrd="3" destOrd="0" presId="urn:microsoft.com/office/officeart/2018/2/layout/IconCircleList"/>
    <dgm:cxn modelId="{46CEBC05-6E43-410F-954C-F46F6228551D}" type="presParOf" srcId="{C7F29A01-B14C-46BC-8D2C-47F5D31D0F7E}" destId="{7D28528D-6266-42D7-A30B-27AE711CA222}" srcOrd="3" destOrd="0" presId="urn:microsoft.com/office/officeart/2018/2/layout/IconCircleList"/>
    <dgm:cxn modelId="{4F5902EC-25FF-403E-9CA8-09C1785EC15B}" type="presParOf" srcId="{C7F29A01-B14C-46BC-8D2C-47F5D31D0F7E}" destId="{1EA0664F-DD02-4D61-A1A8-5F4DB743AEB8}" srcOrd="4" destOrd="0" presId="urn:microsoft.com/office/officeart/2018/2/layout/IconCircleList"/>
    <dgm:cxn modelId="{93518E8E-55DD-4EF8-8E86-BD9DA9122B0D}" type="presParOf" srcId="{1EA0664F-DD02-4D61-A1A8-5F4DB743AEB8}" destId="{7B204262-B8E8-41AA-8297-87A7DEC4E0F4}" srcOrd="0" destOrd="0" presId="urn:microsoft.com/office/officeart/2018/2/layout/IconCircleList"/>
    <dgm:cxn modelId="{A63B28AF-960E-4972-BB68-22B4B106EFB7}" type="presParOf" srcId="{1EA0664F-DD02-4D61-A1A8-5F4DB743AEB8}" destId="{0E1C3147-A947-49F7-9BA9-505F43788A89}" srcOrd="1" destOrd="0" presId="urn:microsoft.com/office/officeart/2018/2/layout/IconCircleList"/>
    <dgm:cxn modelId="{E4131334-29E0-4351-9212-5ACF4C1FD377}" type="presParOf" srcId="{1EA0664F-DD02-4D61-A1A8-5F4DB743AEB8}" destId="{7A8CD8A0-2723-4E44-80EB-EA5172201462}" srcOrd="2" destOrd="0" presId="urn:microsoft.com/office/officeart/2018/2/layout/IconCircleList"/>
    <dgm:cxn modelId="{43D93409-CAA7-41B5-9122-ED008C177F83}" type="presParOf" srcId="{1EA0664F-DD02-4D61-A1A8-5F4DB743AEB8}" destId="{A31A201C-4174-4147-9454-2873293917BB}" srcOrd="3" destOrd="0" presId="urn:microsoft.com/office/officeart/2018/2/layout/IconCircleList"/>
    <dgm:cxn modelId="{60971796-72E1-4FE4-91CB-E1BE4B087E37}" type="presParOf" srcId="{C7F29A01-B14C-46BC-8D2C-47F5D31D0F7E}" destId="{344FD0D0-8151-4B7E-B0A6-EDC3A0A3B841}" srcOrd="5" destOrd="0" presId="urn:microsoft.com/office/officeart/2018/2/layout/IconCircleList"/>
    <dgm:cxn modelId="{1FCC2DE0-0CBC-4E89-9EA5-EA82A9AC6DB6}" type="presParOf" srcId="{C7F29A01-B14C-46BC-8D2C-47F5D31D0F7E}" destId="{DF35242B-F945-4C1F-A39A-19BFA4E6BC41}" srcOrd="6" destOrd="0" presId="urn:microsoft.com/office/officeart/2018/2/layout/IconCircleList"/>
    <dgm:cxn modelId="{5E4EE560-9629-4563-8974-9658D421D28A}" type="presParOf" srcId="{DF35242B-F945-4C1F-A39A-19BFA4E6BC41}" destId="{A53D2F3D-55D8-4243-A136-04078FFD071D}" srcOrd="0" destOrd="0" presId="urn:microsoft.com/office/officeart/2018/2/layout/IconCircleList"/>
    <dgm:cxn modelId="{03E2DA57-DD04-4403-B0F3-9858944BBFA2}" type="presParOf" srcId="{DF35242B-F945-4C1F-A39A-19BFA4E6BC41}" destId="{E486D8AF-753C-4A85-AFCA-65A8B9B6CEBE}" srcOrd="1" destOrd="0" presId="urn:microsoft.com/office/officeart/2018/2/layout/IconCircleList"/>
    <dgm:cxn modelId="{00B4CE76-DF24-4399-8FD0-D13419456A31}" type="presParOf" srcId="{DF35242B-F945-4C1F-A39A-19BFA4E6BC41}" destId="{123E03C5-473C-4F62-8FE0-5070BC817A14}" srcOrd="2" destOrd="0" presId="urn:microsoft.com/office/officeart/2018/2/layout/IconCircleList"/>
    <dgm:cxn modelId="{F0F7EF8B-17FB-4565-BB0D-091E8D85FDBE}" type="presParOf" srcId="{DF35242B-F945-4C1F-A39A-19BFA4E6BC41}" destId="{46F0730A-D1D5-4E2A-B161-48BD26C5B159}" srcOrd="3" destOrd="0" presId="urn:microsoft.com/office/officeart/2018/2/layout/IconCircleList"/>
    <dgm:cxn modelId="{DC5C700C-F078-4988-BDC5-65ED78B13EED}" type="presParOf" srcId="{C7F29A01-B14C-46BC-8D2C-47F5D31D0F7E}" destId="{96C56AE1-8CA6-4E2A-AA7D-03F86435480F}" srcOrd="7" destOrd="0" presId="urn:microsoft.com/office/officeart/2018/2/layout/IconCircleList"/>
    <dgm:cxn modelId="{EC765989-7E00-4D33-8168-34646B53E8AA}" type="presParOf" srcId="{C7F29A01-B14C-46BC-8D2C-47F5D31D0F7E}" destId="{44704F5E-6987-447E-80CD-0E88B9C6A65E}" srcOrd="8" destOrd="0" presId="urn:microsoft.com/office/officeart/2018/2/layout/IconCircleList"/>
    <dgm:cxn modelId="{B140FCCB-4DFB-41AE-8F4F-DC22DE6E7BEB}" type="presParOf" srcId="{44704F5E-6987-447E-80CD-0E88B9C6A65E}" destId="{747F0D46-CA57-4C41-9AA9-1F8E3DE46D90}" srcOrd="0" destOrd="0" presId="urn:microsoft.com/office/officeart/2018/2/layout/IconCircleList"/>
    <dgm:cxn modelId="{5BC2B75A-691A-4234-9056-DBAABB7983AD}" type="presParOf" srcId="{44704F5E-6987-447E-80CD-0E88B9C6A65E}" destId="{2DF18A2E-4B5E-4944-9B8E-EDA0ADC29A4C}" srcOrd="1" destOrd="0" presId="urn:microsoft.com/office/officeart/2018/2/layout/IconCircleList"/>
    <dgm:cxn modelId="{E9904DE2-31B3-4F82-A2BB-D95DC72DA8CF}" type="presParOf" srcId="{44704F5E-6987-447E-80CD-0E88B9C6A65E}" destId="{4EA114B7-05C4-49A2-BBC7-684D47BA0D5D}" srcOrd="2" destOrd="0" presId="urn:microsoft.com/office/officeart/2018/2/layout/IconCircleList"/>
    <dgm:cxn modelId="{FC2EF57D-9B0D-4415-9CA7-B2E816FC2A9F}" type="presParOf" srcId="{44704F5E-6987-447E-80CD-0E88B9C6A65E}" destId="{7EA0A9F6-5FC6-40F3-8FC3-1C811B37DD9F}" srcOrd="3" destOrd="0" presId="urn:microsoft.com/office/officeart/2018/2/layout/IconCircleList"/>
    <dgm:cxn modelId="{DC16EBD0-235C-4CC6-86CB-55AB6AE556AD}" type="presParOf" srcId="{C7F29A01-B14C-46BC-8D2C-47F5D31D0F7E}" destId="{3CCD9628-7B98-4B2B-8B44-6D8492D0F020}" srcOrd="9" destOrd="0" presId="urn:microsoft.com/office/officeart/2018/2/layout/IconCircleList"/>
    <dgm:cxn modelId="{E89645B7-B1CF-413F-90BB-88BF9877CCC3}" type="presParOf" srcId="{C7F29A01-B14C-46BC-8D2C-47F5D31D0F7E}" destId="{D52F6746-41ED-435B-93BB-ABEAC6670F71}" srcOrd="10" destOrd="0" presId="urn:microsoft.com/office/officeart/2018/2/layout/IconCircleList"/>
    <dgm:cxn modelId="{AB1659CF-253E-4BAE-9762-465D60B5EF50}" type="presParOf" srcId="{D52F6746-41ED-435B-93BB-ABEAC6670F71}" destId="{B476E009-E789-472A-A0A9-BBBBB75532FE}" srcOrd="0" destOrd="0" presId="urn:microsoft.com/office/officeart/2018/2/layout/IconCircleList"/>
    <dgm:cxn modelId="{F7D1BFB2-F1F1-441C-91A9-5068AFFEE6E6}" type="presParOf" srcId="{D52F6746-41ED-435B-93BB-ABEAC6670F71}" destId="{8FC39D4C-3D8D-4105-8DA0-966EC66D04BD}" srcOrd="1" destOrd="0" presId="urn:microsoft.com/office/officeart/2018/2/layout/IconCircleList"/>
    <dgm:cxn modelId="{456238C7-1125-46BA-87D3-16ADB278FFB0}" type="presParOf" srcId="{D52F6746-41ED-435B-93BB-ABEAC6670F71}" destId="{3B4AD75C-3739-4E44-9F5C-8A8310A4B325}" srcOrd="2" destOrd="0" presId="urn:microsoft.com/office/officeart/2018/2/layout/IconCircleList"/>
    <dgm:cxn modelId="{2F1E87D1-99DA-4739-96F7-8DA357F9E412}" type="presParOf" srcId="{D52F6746-41ED-435B-93BB-ABEAC6670F71}" destId="{FEA1A701-8FB2-4C14-BAA2-EC4DCE12AEF7}" srcOrd="3" destOrd="0" presId="urn:microsoft.com/office/officeart/2018/2/layout/IconCircleList"/>
    <dgm:cxn modelId="{81128407-E2F0-4F57-9044-E5EC7BAD41EA}" type="presParOf" srcId="{C7F29A01-B14C-46BC-8D2C-47F5D31D0F7E}" destId="{8205BB80-279D-4AD8-8488-782BD79CC49A}" srcOrd="11" destOrd="0" presId="urn:microsoft.com/office/officeart/2018/2/layout/IconCircleList"/>
    <dgm:cxn modelId="{847C0FB3-CACA-48C1-A0C9-4F24271EB3FE}" type="presParOf" srcId="{C7F29A01-B14C-46BC-8D2C-47F5D31D0F7E}" destId="{13407B9C-72E5-4166-93DD-74D6C6684E31}" srcOrd="12" destOrd="0" presId="urn:microsoft.com/office/officeart/2018/2/layout/IconCircleList"/>
    <dgm:cxn modelId="{1DC7F454-0C6D-4302-931A-202E292B9439}" type="presParOf" srcId="{13407B9C-72E5-4166-93DD-74D6C6684E31}" destId="{7006A6B6-57DE-422F-8FEA-BAFBB8C66973}" srcOrd="0" destOrd="0" presId="urn:microsoft.com/office/officeart/2018/2/layout/IconCircleList"/>
    <dgm:cxn modelId="{3045E442-B1D6-4CFF-A93F-869FFF8AF38E}" type="presParOf" srcId="{13407B9C-72E5-4166-93DD-74D6C6684E31}" destId="{A3F985E8-716D-44FD-9F7C-2D2C6392F4FC}" srcOrd="1" destOrd="0" presId="urn:microsoft.com/office/officeart/2018/2/layout/IconCircleList"/>
    <dgm:cxn modelId="{0B9CFDB8-247A-4778-8878-E1F3EC33DD48}" type="presParOf" srcId="{13407B9C-72E5-4166-93DD-74D6C6684E31}" destId="{7EF93521-EC55-4930-AA42-6BC0E83E4D55}" srcOrd="2" destOrd="0" presId="urn:microsoft.com/office/officeart/2018/2/layout/IconCircleList"/>
    <dgm:cxn modelId="{4E01799B-C39E-40CD-8380-A59344AE8B25}" type="presParOf" srcId="{13407B9C-72E5-4166-93DD-74D6C6684E31}" destId="{D1091A18-1C4D-456A-882C-2CB519E1F3E7}"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A190E1-6551-4F9C-95A8-0286DF910BD6}" type="doc">
      <dgm:prSet loTypeId="urn:microsoft.com/office/officeart/2005/8/layout/venn1" loCatId="relationship" qsTypeId="urn:microsoft.com/office/officeart/2005/8/quickstyle/simple2" qsCatId="simple" csTypeId="urn:microsoft.com/office/officeart/2005/8/colors/colorful2" csCatId="colorful" phldr="1"/>
      <dgm:spPr/>
      <dgm:t>
        <a:bodyPr/>
        <a:lstStyle/>
        <a:p>
          <a:endParaRPr lang="es-AR"/>
        </a:p>
      </dgm:t>
    </dgm:pt>
    <dgm:pt modelId="{19B0799E-B900-4C8B-BD33-10BCF29DFDFB}">
      <dgm:prSet phldrT="[Texto]"/>
      <dgm:spPr/>
      <dgm:t>
        <a:bodyPr/>
        <a:lstStyle/>
        <a:p>
          <a:pPr algn="ctr"/>
          <a:r>
            <a:rPr lang="es-ES" dirty="0">
              <a:latin typeface="Gill Sans Nova" panose="020B0602020104020203" pitchFamily="34" charset="0"/>
            </a:rPr>
            <a:t>Cámaras empresariales / empleador</a:t>
          </a:r>
          <a:endParaRPr lang="es-AR" dirty="0">
            <a:latin typeface="Gill Sans Nova" panose="020B0602020104020203" pitchFamily="34" charset="0"/>
          </a:endParaRPr>
        </a:p>
      </dgm:t>
    </dgm:pt>
    <dgm:pt modelId="{2A34E2E6-E599-4F35-93D9-EC8BE59820B5}" type="parTrans" cxnId="{1A50F623-2DE8-43B4-8A26-DB2513C0B4BA}">
      <dgm:prSet/>
      <dgm:spPr/>
      <dgm:t>
        <a:bodyPr/>
        <a:lstStyle/>
        <a:p>
          <a:pPr algn="ctr"/>
          <a:endParaRPr lang="es-AR">
            <a:latin typeface="Gill Sans Nova" panose="020B0602020104020203" pitchFamily="34" charset="0"/>
          </a:endParaRPr>
        </a:p>
      </dgm:t>
    </dgm:pt>
    <dgm:pt modelId="{69A66D48-E213-4246-B785-6D7051E677A9}" type="sibTrans" cxnId="{1A50F623-2DE8-43B4-8A26-DB2513C0B4BA}">
      <dgm:prSet/>
      <dgm:spPr/>
      <dgm:t>
        <a:bodyPr/>
        <a:lstStyle/>
        <a:p>
          <a:pPr algn="ctr"/>
          <a:endParaRPr lang="es-AR">
            <a:latin typeface="Gill Sans Nova" panose="020B0602020104020203" pitchFamily="34" charset="0"/>
          </a:endParaRPr>
        </a:p>
      </dgm:t>
    </dgm:pt>
    <dgm:pt modelId="{08989853-BBF7-4935-8677-14CA961880FB}">
      <dgm:prSet phldrT="[Texto]"/>
      <dgm:spPr/>
      <dgm:t>
        <a:bodyPr/>
        <a:lstStyle/>
        <a:p>
          <a:pPr algn="ctr"/>
          <a:r>
            <a:rPr lang="es-ES" dirty="0">
              <a:latin typeface="Gill Sans Nova" panose="020B0602020104020203" pitchFamily="34" charset="0"/>
            </a:rPr>
            <a:t>Sindicatos</a:t>
          </a:r>
          <a:endParaRPr lang="es-AR" dirty="0">
            <a:latin typeface="Gill Sans Nova" panose="020B0602020104020203" pitchFamily="34" charset="0"/>
          </a:endParaRPr>
        </a:p>
      </dgm:t>
    </dgm:pt>
    <dgm:pt modelId="{541B2A78-891B-4A66-919B-41CEFD9F26FD}" type="parTrans" cxnId="{31CE9A19-D258-49BD-AE9F-EE7C9954129C}">
      <dgm:prSet/>
      <dgm:spPr/>
      <dgm:t>
        <a:bodyPr/>
        <a:lstStyle/>
        <a:p>
          <a:endParaRPr lang="es-AR">
            <a:latin typeface="Gill Sans Nova" panose="020B0602020104020203" pitchFamily="34" charset="0"/>
          </a:endParaRPr>
        </a:p>
      </dgm:t>
    </dgm:pt>
    <dgm:pt modelId="{3FACD865-C7EA-4DA7-9451-5FEC6F702FB9}" type="sibTrans" cxnId="{31CE9A19-D258-49BD-AE9F-EE7C9954129C}">
      <dgm:prSet/>
      <dgm:spPr/>
      <dgm:t>
        <a:bodyPr/>
        <a:lstStyle/>
        <a:p>
          <a:endParaRPr lang="es-AR">
            <a:latin typeface="Gill Sans Nova" panose="020B0602020104020203" pitchFamily="34" charset="0"/>
          </a:endParaRPr>
        </a:p>
      </dgm:t>
    </dgm:pt>
    <dgm:pt modelId="{68624843-F9CD-470D-B0FF-930831D15CFD}">
      <dgm:prSet phldrT="[Texto]"/>
      <dgm:spPr/>
      <dgm:t>
        <a:bodyPr/>
        <a:lstStyle/>
        <a:p>
          <a:pPr algn="ctr"/>
          <a:r>
            <a:rPr lang="es-ES" dirty="0">
              <a:latin typeface="Gill Sans Nova" panose="020B0602020104020203" pitchFamily="34" charset="0"/>
            </a:rPr>
            <a:t>Ministerio de Trabajo</a:t>
          </a:r>
          <a:endParaRPr lang="es-AR" dirty="0">
            <a:latin typeface="Gill Sans Nova" panose="020B0602020104020203" pitchFamily="34" charset="0"/>
          </a:endParaRPr>
        </a:p>
      </dgm:t>
    </dgm:pt>
    <dgm:pt modelId="{76939B87-CF49-44A9-8E61-B7A1A835AEFF}" type="sibTrans" cxnId="{C3509D7A-6097-4D32-BC56-E5FC08A3BC74}">
      <dgm:prSet/>
      <dgm:spPr/>
      <dgm:t>
        <a:bodyPr/>
        <a:lstStyle/>
        <a:p>
          <a:pPr algn="ctr"/>
          <a:endParaRPr lang="es-AR">
            <a:latin typeface="Gill Sans Nova" panose="020B0602020104020203" pitchFamily="34" charset="0"/>
          </a:endParaRPr>
        </a:p>
      </dgm:t>
    </dgm:pt>
    <dgm:pt modelId="{2E8E6ECC-291C-461C-A3AE-C534D4B9314C}" type="parTrans" cxnId="{C3509D7A-6097-4D32-BC56-E5FC08A3BC74}">
      <dgm:prSet/>
      <dgm:spPr/>
      <dgm:t>
        <a:bodyPr/>
        <a:lstStyle/>
        <a:p>
          <a:pPr algn="ctr"/>
          <a:endParaRPr lang="es-AR">
            <a:latin typeface="Gill Sans Nova" panose="020B0602020104020203" pitchFamily="34" charset="0"/>
          </a:endParaRPr>
        </a:p>
      </dgm:t>
    </dgm:pt>
    <dgm:pt modelId="{7DFE102E-B67F-415F-BC85-233E8929FD16}" type="pres">
      <dgm:prSet presAssocID="{D9A190E1-6551-4F9C-95A8-0286DF910BD6}" presName="compositeShape" presStyleCnt="0">
        <dgm:presLayoutVars>
          <dgm:chMax val="7"/>
          <dgm:dir/>
          <dgm:resizeHandles val="exact"/>
        </dgm:presLayoutVars>
      </dgm:prSet>
      <dgm:spPr/>
    </dgm:pt>
    <dgm:pt modelId="{4301BD9A-F3D6-4E10-A749-29889E7F8A56}" type="pres">
      <dgm:prSet presAssocID="{19B0799E-B900-4C8B-BD33-10BCF29DFDFB}" presName="circ1" presStyleLbl="vennNode1" presStyleIdx="0" presStyleCnt="3"/>
      <dgm:spPr/>
    </dgm:pt>
    <dgm:pt modelId="{AA91BECB-66EC-4E55-AD61-444777499BAF}" type="pres">
      <dgm:prSet presAssocID="{19B0799E-B900-4C8B-BD33-10BCF29DFDFB}" presName="circ1Tx" presStyleLbl="revTx" presStyleIdx="0" presStyleCnt="0">
        <dgm:presLayoutVars>
          <dgm:chMax val="0"/>
          <dgm:chPref val="0"/>
          <dgm:bulletEnabled val="1"/>
        </dgm:presLayoutVars>
      </dgm:prSet>
      <dgm:spPr/>
    </dgm:pt>
    <dgm:pt modelId="{EE8C979A-059B-4936-8483-08FA6F38F52D}" type="pres">
      <dgm:prSet presAssocID="{68624843-F9CD-470D-B0FF-930831D15CFD}" presName="circ2" presStyleLbl="vennNode1" presStyleIdx="1" presStyleCnt="3"/>
      <dgm:spPr/>
    </dgm:pt>
    <dgm:pt modelId="{F529997E-AA3A-4240-89FA-F6F2AD491046}" type="pres">
      <dgm:prSet presAssocID="{68624843-F9CD-470D-B0FF-930831D15CFD}" presName="circ2Tx" presStyleLbl="revTx" presStyleIdx="0" presStyleCnt="0">
        <dgm:presLayoutVars>
          <dgm:chMax val="0"/>
          <dgm:chPref val="0"/>
          <dgm:bulletEnabled val="1"/>
        </dgm:presLayoutVars>
      </dgm:prSet>
      <dgm:spPr/>
    </dgm:pt>
    <dgm:pt modelId="{419C11C8-64BF-42C8-A83A-E088E0509669}" type="pres">
      <dgm:prSet presAssocID="{08989853-BBF7-4935-8677-14CA961880FB}" presName="circ3" presStyleLbl="vennNode1" presStyleIdx="2" presStyleCnt="3"/>
      <dgm:spPr/>
    </dgm:pt>
    <dgm:pt modelId="{FB11E518-F107-4CD4-89F4-7F6A6DE45A22}" type="pres">
      <dgm:prSet presAssocID="{08989853-BBF7-4935-8677-14CA961880FB}" presName="circ3Tx" presStyleLbl="revTx" presStyleIdx="0" presStyleCnt="0">
        <dgm:presLayoutVars>
          <dgm:chMax val="0"/>
          <dgm:chPref val="0"/>
          <dgm:bulletEnabled val="1"/>
        </dgm:presLayoutVars>
      </dgm:prSet>
      <dgm:spPr/>
    </dgm:pt>
  </dgm:ptLst>
  <dgm:cxnLst>
    <dgm:cxn modelId="{BDADB701-8013-4CD4-973A-11FDA7EDB4A6}" type="presOf" srcId="{68624843-F9CD-470D-B0FF-930831D15CFD}" destId="{F529997E-AA3A-4240-89FA-F6F2AD491046}" srcOrd="1" destOrd="0" presId="urn:microsoft.com/office/officeart/2005/8/layout/venn1"/>
    <dgm:cxn modelId="{31CE9A19-D258-49BD-AE9F-EE7C9954129C}" srcId="{D9A190E1-6551-4F9C-95A8-0286DF910BD6}" destId="{08989853-BBF7-4935-8677-14CA961880FB}" srcOrd="2" destOrd="0" parTransId="{541B2A78-891B-4A66-919B-41CEFD9F26FD}" sibTransId="{3FACD865-C7EA-4DA7-9451-5FEC6F702FB9}"/>
    <dgm:cxn modelId="{1A50F623-2DE8-43B4-8A26-DB2513C0B4BA}" srcId="{D9A190E1-6551-4F9C-95A8-0286DF910BD6}" destId="{19B0799E-B900-4C8B-BD33-10BCF29DFDFB}" srcOrd="0" destOrd="0" parTransId="{2A34E2E6-E599-4F35-93D9-EC8BE59820B5}" sibTransId="{69A66D48-E213-4246-B785-6D7051E677A9}"/>
    <dgm:cxn modelId="{C3509D7A-6097-4D32-BC56-E5FC08A3BC74}" srcId="{D9A190E1-6551-4F9C-95A8-0286DF910BD6}" destId="{68624843-F9CD-470D-B0FF-930831D15CFD}" srcOrd="1" destOrd="0" parTransId="{2E8E6ECC-291C-461C-A3AE-C534D4B9314C}" sibTransId="{76939B87-CF49-44A9-8E61-B7A1A835AEFF}"/>
    <dgm:cxn modelId="{CC498896-BD53-48E0-B4BE-1DE0541199F1}" type="presOf" srcId="{19B0799E-B900-4C8B-BD33-10BCF29DFDFB}" destId="{AA91BECB-66EC-4E55-AD61-444777499BAF}" srcOrd="1" destOrd="0" presId="urn:microsoft.com/office/officeart/2005/8/layout/venn1"/>
    <dgm:cxn modelId="{1D395898-6BE9-41A8-9C87-F409ACDB5D12}" type="presOf" srcId="{08989853-BBF7-4935-8677-14CA961880FB}" destId="{FB11E518-F107-4CD4-89F4-7F6A6DE45A22}" srcOrd="1" destOrd="0" presId="urn:microsoft.com/office/officeart/2005/8/layout/venn1"/>
    <dgm:cxn modelId="{A4359ABD-FBCD-4F01-B1EA-837ECF600452}" type="presOf" srcId="{D9A190E1-6551-4F9C-95A8-0286DF910BD6}" destId="{7DFE102E-B67F-415F-BC85-233E8929FD16}" srcOrd="0" destOrd="0" presId="urn:microsoft.com/office/officeart/2005/8/layout/venn1"/>
    <dgm:cxn modelId="{9E1D0BC8-0043-44FE-A874-2C1033E47CDA}" type="presOf" srcId="{68624843-F9CD-470D-B0FF-930831D15CFD}" destId="{EE8C979A-059B-4936-8483-08FA6F38F52D}" srcOrd="0" destOrd="0" presId="urn:microsoft.com/office/officeart/2005/8/layout/venn1"/>
    <dgm:cxn modelId="{14A14CD4-80F1-474E-B5F1-5FF5E47E5DB2}" type="presOf" srcId="{19B0799E-B900-4C8B-BD33-10BCF29DFDFB}" destId="{4301BD9A-F3D6-4E10-A749-29889E7F8A56}" srcOrd="0" destOrd="0" presId="urn:microsoft.com/office/officeart/2005/8/layout/venn1"/>
    <dgm:cxn modelId="{A4AE68FA-4D75-4424-BBC6-B72E9F81A237}" type="presOf" srcId="{08989853-BBF7-4935-8677-14CA961880FB}" destId="{419C11C8-64BF-42C8-A83A-E088E0509669}" srcOrd="0" destOrd="0" presId="urn:microsoft.com/office/officeart/2005/8/layout/venn1"/>
    <dgm:cxn modelId="{F5B231A7-EADF-448B-9007-94E76608746A}" type="presParOf" srcId="{7DFE102E-B67F-415F-BC85-233E8929FD16}" destId="{4301BD9A-F3D6-4E10-A749-29889E7F8A56}" srcOrd="0" destOrd="0" presId="urn:microsoft.com/office/officeart/2005/8/layout/venn1"/>
    <dgm:cxn modelId="{A8288D9A-D314-4776-BAC8-01D91232F1F0}" type="presParOf" srcId="{7DFE102E-B67F-415F-BC85-233E8929FD16}" destId="{AA91BECB-66EC-4E55-AD61-444777499BAF}" srcOrd="1" destOrd="0" presId="urn:microsoft.com/office/officeart/2005/8/layout/venn1"/>
    <dgm:cxn modelId="{D48A64AB-C78E-4C43-A6C9-5BC85BD4DEE5}" type="presParOf" srcId="{7DFE102E-B67F-415F-BC85-233E8929FD16}" destId="{EE8C979A-059B-4936-8483-08FA6F38F52D}" srcOrd="2" destOrd="0" presId="urn:microsoft.com/office/officeart/2005/8/layout/venn1"/>
    <dgm:cxn modelId="{7C0FDE2A-B9B5-4AA9-8CB1-47FEBFC0DCEA}" type="presParOf" srcId="{7DFE102E-B67F-415F-BC85-233E8929FD16}" destId="{F529997E-AA3A-4240-89FA-F6F2AD491046}" srcOrd="3" destOrd="0" presId="urn:microsoft.com/office/officeart/2005/8/layout/venn1"/>
    <dgm:cxn modelId="{8E7D129B-2C5E-4229-8921-546D5E4750D0}" type="presParOf" srcId="{7DFE102E-B67F-415F-BC85-233E8929FD16}" destId="{419C11C8-64BF-42C8-A83A-E088E0509669}" srcOrd="4" destOrd="0" presId="urn:microsoft.com/office/officeart/2005/8/layout/venn1"/>
    <dgm:cxn modelId="{0D2F41BA-163E-49B6-9F97-492227EF6961}" type="presParOf" srcId="{7DFE102E-B67F-415F-BC85-233E8929FD16}" destId="{FB11E518-F107-4CD4-89F4-7F6A6DE45A22}"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71CAC1-8CCA-439F-8943-7C296D287A8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AR"/>
        </a:p>
      </dgm:t>
    </dgm:pt>
    <dgm:pt modelId="{D74E4CB4-156D-4DCD-97BC-E1E8981C7E1A}">
      <dgm:prSet phldrT="[Texto]">
        <dgm:style>
          <a:lnRef idx="1">
            <a:schemeClr val="accent3"/>
          </a:lnRef>
          <a:fillRef idx="2">
            <a:schemeClr val="accent3"/>
          </a:fillRef>
          <a:effectRef idx="1">
            <a:schemeClr val="accent3"/>
          </a:effectRef>
          <a:fontRef idx="minor">
            <a:schemeClr val="dk1"/>
          </a:fontRef>
        </dgm:style>
      </dgm:prSet>
      <dgm:spPr>
        <a:solidFill>
          <a:srgbClr val="002060"/>
        </a:solidFill>
      </dgm:spPr>
      <dgm:t>
        <a:bodyPr/>
        <a:lstStyle/>
        <a:p>
          <a:r>
            <a:rPr lang="es-ES" dirty="0">
              <a:solidFill>
                <a:schemeClr val="bg1"/>
              </a:solidFill>
            </a:rPr>
            <a:t>Asociación sindical</a:t>
          </a:r>
          <a:endParaRPr lang="es-AR" dirty="0">
            <a:solidFill>
              <a:schemeClr val="bg1"/>
            </a:solidFill>
          </a:endParaRPr>
        </a:p>
      </dgm:t>
    </dgm:pt>
    <dgm:pt modelId="{6EC1AA58-BC16-4D90-91D6-138B4E594D39}" type="parTrans" cxnId="{911C7829-48CB-4519-B4B7-641BAE91E11E}">
      <dgm:prSet/>
      <dgm:spPr/>
      <dgm:t>
        <a:bodyPr/>
        <a:lstStyle/>
        <a:p>
          <a:endParaRPr lang="es-AR"/>
        </a:p>
      </dgm:t>
    </dgm:pt>
    <dgm:pt modelId="{EF214D2A-89DB-4951-8D11-2969DFFE3825}" type="sibTrans" cxnId="{911C7829-48CB-4519-B4B7-641BAE91E11E}">
      <dgm:prSet/>
      <dgm:spPr/>
      <dgm:t>
        <a:bodyPr/>
        <a:lstStyle/>
        <a:p>
          <a:endParaRPr lang="es-AR"/>
        </a:p>
      </dgm:t>
    </dgm:pt>
    <dgm:pt modelId="{432028B2-CD62-44B6-BFCC-13C2CB8A6F4E}">
      <dgm:prSet phldrT="[Texto]">
        <dgm:style>
          <a:lnRef idx="1">
            <a:schemeClr val="accent3"/>
          </a:lnRef>
          <a:fillRef idx="2">
            <a:schemeClr val="accent3"/>
          </a:fillRef>
          <a:effectRef idx="1">
            <a:schemeClr val="accent3"/>
          </a:effectRef>
          <a:fontRef idx="minor">
            <a:schemeClr val="dk1"/>
          </a:fontRef>
        </dgm:style>
      </dgm:prSet>
      <dgm:spPr>
        <a:solidFill>
          <a:srgbClr val="00B050"/>
        </a:solidFill>
      </dgm:spPr>
      <dgm:t>
        <a:bodyPr/>
        <a:lstStyle/>
        <a:p>
          <a:r>
            <a:rPr lang="es-ES" dirty="0">
              <a:solidFill>
                <a:schemeClr val="bg1"/>
              </a:solidFill>
            </a:rPr>
            <a:t>Con personería gremial</a:t>
          </a:r>
          <a:endParaRPr lang="es-AR" dirty="0">
            <a:solidFill>
              <a:schemeClr val="bg1"/>
            </a:solidFill>
          </a:endParaRPr>
        </a:p>
      </dgm:t>
    </dgm:pt>
    <dgm:pt modelId="{280A9310-26E9-49C3-B7B9-7BBEAC724B29}" type="parTrans" cxnId="{F4472C14-4AE2-4534-B404-096437166A6F}">
      <dgm:prSet/>
      <dgm:spPr/>
      <dgm:t>
        <a:bodyPr/>
        <a:lstStyle/>
        <a:p>
          <a:endParaRPr lang="es-AR"/>
        </a:p>
      </dgm:t>
    </dgm:pt>
    <dgm:pt modelId="{C57FD77E-79E1-47D8-B9C8-C6122CBCFC51}" type="sibTrans" cxnId="{F4472C14-4AE2-4534-B404-096437166A6F}">
      <dgm:prSet/>
      <dgm:spPr/>
      <dgm:t>
        <a:bodyPr/>
        <a:lstStyle/>
        <a:p>
          <a:endParaRPr lang="es-AR"/>
        </a:p>
      </dgm:t>
    </dgm:pt>
    <dgm:pt modelId="{F7C8C971-1317-4EA7-A95E-2AB6E2BCC0A2}">
      <dgm:prSet/>
      <dgm:spPr>
        <a:solidFill>
          <a:srgbClr val="FF0000"/>
        </a:solidFill>
      </dgm:spPr>
      <dgm:t>
        <a:bodyPr/>
        <a:lstStyle/>
        <a:p>
          <a:r>
            <a:rPr lang="es-MX" dirty="0"/>
            <a:t>Sin inscripción</a:t>
          </a:r>
          <a:endParaRPr lang="es-AR" dirty="0"/>
        </a:p>
      </dgm:t>
    </dgm:pt>
    <dgm:pt modelId="{E17C15DF-607D-433A-8089-E6FB50FB1695}" type="parTrans" cxnId="{2F4AFD02-E7B6-4CCD-92DA-8CBAED09BC38}">
      <dgm:prSet/>
      <dgm:spPr/>
      <dgm:t>
        <a:bodyPr/>
        <a:lstStyle/>
        <a:p>
          <a:endParaRPr lang="es-AR"/>
        </a:p>
      </dgm:t>
    </dgm:pt>
    <dgm:pt modelId="{62E45767-71C5-47AC-B22E-25460C55C6EC}" type="sibTrans" cxnId="{2F4AFD02-E7B6-4CCD-92DA-8CBAED09BC38}">
      <dgm:prSet/>
      <dgm:spPr/>
      <dgm:t>
        <a:bodyPr/>
        <a:lstStyle/>
        <a:p>
          <a:endParaRPr lang="es-AR"/>
        </a:p>
      </dgm:t>
    </dgm:pt>
    <dgm:pt modelId="{A2F98DCA-D4D4-4A5D-A1E8-FAF80F2AE370}">
      <dgm:prSet phldrT="[Texto]">
        <dgm:style>
          <a:lnRef idx="1">
            <a:schemeClr val="accent3"/>
          </a:lnRef>
          <a:fillRef idx="2">
            <a:schemeClr val="accent3"/>
          </a:fillRef>
          <a:effectRef idx="1">
            <a:schemeClr val="accent3"/>
          </a:effectRef>
          <a:fontRef idx="minor">
            <a:schemeClr val="dk1"/>
          </a:fontRef>
        </dgm:style>
      </dgm:prSet>
      <dgm:spPr>
        <a:solidFill>
          <a:srgbClr val="FFFF00"/>
        </a:solidFill>
      </dgm:spPr>
      <dgm:t>
        <a:bodyPr/>
        <a:lstStyle/>
        <a:p>
          <a:r>
            <a:rPr lang="es-ES"/>
            <a:t>Simplemente inscriptos</a:t>
          </a:r>
          <a:endParaRPr lang="es-AR" dirty="0"/>
        </a:p>
      </dgm:t>
    </dgm:pt>
    <dgm:pt modelId="{36143D1C-D7C2-4CC4-B03C-3DEF52453109}" type="parTrans" cxnId="{534805ED-023D-4B4C-9801-5BA2A645A166}">
      <dgm:prSet/>
      <dgm:spPr/>
      <dgm:t>
        <a:bodyPr/>
        <a:lstStyle/>
        <a:p>
          <a:endParaRPr lang="es-AR"/>
        </a:p>
      </dgm:t>
    </dgm:pt>
    <dgm:pt modelId="{B6320165-60E7-420D-83EB-C40DC5167539}" type="sibTrans" cxnId="{534805ED-023D-4B4C-9801-5BA2A645A166}">
      <dgm:prSet/>
      <dgm:spPr/>
      <dgm:t>
        <a:bodyPr/>
        <a:lstStyle/>
        <a:p>
          <a:endParaRPr lang="es-AR"/>
        </a:p>
      </dgm:t>
    </dgm:pt>
    <dgm:pt modelId="{6783315E-4135-47E2-A957-C6952DC4B7EC}" type="pres">
      <dgm:prSet presAssocID="{8471CAC1-8CCA-439F-8943-7C296D287A8C}" presName="diagram" presStyleCnt="0">
        <dgm:presLayoutVars>
          <dgm:chPref val="1"/>
          <dgm:dir/>
          <dgm:animOne val="branch"/>
          <dgm:animLvl val="lvl"/>
          <dgm:resizeHandles val="exact"/>
        </dgm:presLayoutVars>
      </dgm:prSet>
      <dgm:spPr/>
    </dgm:pt>
    <dgm:pt modelId="{3A2B9E95-3799-4EF8-98A8-F81D549CDAD3}" type="pres">
      <dgm:prSet presAssocID="{D74E4CB4-156D-4DCD-97BC-E1E8981C7E1A}" presName="root1" presStyleCnt="0"/>
      <dgm:spPr/>
    </dgm:pt>
    <dgm:pt modelId="{E31038BA-8BD0-4BC9-A166-DEEC733F790C}" type="pres">
      <dgm:prSet presAssocID="{D74E4CB4-156D-4DCD-97BC-E1E8981C7E1A}" presName="LevelOneTextNode" presStyleLbl="node0" presStyleIdx="0" presStyleCnt="1" custLinFactNeighborX="-222" custLinFactNeighborY="-1004">
        <dgm:presLayoutVars>
          <dgm:chPref val="3"/>
        </dgm:presLayoutVars>
      </dgm:prSet>
      <dgm:spPr/>
    </dgm:pt>
    <dgm:pt modelId="{B7A47D69-F7BB-443E-93C9-2FAE951EB11A}" type="pres">
      <dgm:prSet presAssocID="{D74E4CB4-156D-4DCD-97BC-E1E8981C7E1A}" presName="level2hierChild" presStyleCnt="0"/>
      <dgm:spPr/>
    </dgm:pt>
    <dgm:pt modelId="{B6AA8E84-366F-40C2-8156-9AC893AFB102}" type="pres">
      <dgm:prSet presAssocID="{E17C15DF-607D-433A-8089-E6FB50FB1695}" presName="conn2-1" presStyleLbl="parChTrans1D2" presStyleIdx="0" presStyleCnt="3"/>
      <dgm:spPr/>
    </dgm:pt>
    <dgm:pt modelId="{58A58CA6-7F75-4445-8D44-FD09C6BE5E05}" type="pres">
      <dgm:prSet presAssocID="{E17C15DF-607D-433A-8089-E6FB50FB1695}" presName="connTx" presStyleLbl="parChTrans1D2" presStyleIdx="0" presStyleCnt="3"/>
      <dgm:spPr/>
    </dgm:pt>
    <dgm:pt modelId="{71388EC0-21C5-48E2-BCB2-F81C91174BAD}" type="pres">
      <dgm:prSet presAssocID="{F7C8C971-1317-4EA7-A95E-2AB6E2BCC0A2}" presName="root2" presStyleCnt="0"/>
      <dgm:spPr/>
    </dgm:pt>
    <dgm:pt modelId="{226E325F-1AAD-4B33-86F0-2305AADEADD1}" type="pres">
      <dgm:prSet presAssocID="{F7C8C971-1317-4EA7-A95E-2AB6E2BCC0A2}" presName="LevelTwoTextNode" presStyleLbl="node2" presStyleIdx="0" presStyleCnt="3" custLinFactNeighborX="-3921" custLinFactNeighborY="-23641">
        <dgm:presLayoutVars>
          <dgm:chPref val="3"/>
        </dgm:presLayoutVars>
      </dgm:prSet>
      <dgm:spPr/>
    </dgm:pt>
    <dgm:pt modelId="{BC0936F1-6C5A-4136-A570-0CA9D9742A73}" type="pres">
      <dgm:prSet presAssocID="{F7C8C971-1317-4EA7-A95E-2AB6E2BCC0A2}" presName="level3hierChild" presStyleCnt="0"/>
      <dgm:spPr/>
    </dgm:pt>
    <dgm:pt modelId="{ECB99B1B-0655-456D-B94B-308182479EE8}" type="pres">
      <dgm:prSet presAssocID="{36143D1C-D7C2-4CC4-B03C-3DEF52453109}" presName="conn2-1" presStyleLbl="parChTrans1D2" presStyleIdx="1" presStyleCnt="3"/>
      <dgm:spPr/>
    </dgm:pt>
    <dgm:pt modelId="{4236078E-D2A8-4B4D-B6AD-71C624DC3973}" type="pres">
      <dgm:prSet presAssocID="{36143D1C-D7C2-4CC4-B03C-3DEF52453109}" presName="connTx" presStyleLbl="parChTrans1D2" presStyleIdx="1" presStyleCnt="3"/>
      <dgm:spPr/>
    </dgm:pt>
    <dgm:pt modelId="{86AFB6F4-EA5D-4209-A53A-2D26DF971DE4}" type="pres">
      <dgm:prSet presAssocID="{A2F98DCA-D4D4-4A5D-A1E8-FAF80F2AE370}" presName="root2" presStyleCnt="0"/>
      <dgm:spPr/>
    </dgm:pt>
    <dgm:pt modelId="{B7E7AD64-74F1-473A-9C61-4EC1836B01D9}" type="pres">
      <dgm:prSet presAssocID="{A2F98DCA-D4D4-4A5D-A1E8-FAF80F2AE370}" presName="LevelTwoTextNode" presStyleLbl="node2" presStyleIdx="1" presStyleCnt="3" custLinFactNeighborX="-3921" custLinFactNeighborY="-1004">
        <dgm:presLayoutVars>
          <dgm:chPref val="3"/>
        </dgm:presLayoutVars>
      </dgm:prSet>
      <dgm:spPr/>
    </dgm:pt>
    <dgm:pt modelId="{C677A6EB-155B-48F3-B9E5-5D980A4E74D7}" type="pres">
      <dgm:prSet presAssocID="{A2F98DCA-D4D4-4A5D-A1E8-FAF80F2AE370}" presName="level3hierChild" presStyleCnt="0"/>
      <dgm:spPr/>
    </dgm:pt>
    <dgm:pt modelId="{4F9966DF-B2C4-43DB-B8C1-0DEB7FB73569}" type="pres">
      <dgm:prSet presAssocID="{280A9310-26E9-49C3-B7B9-7BBEAC724B29}" presName="conn2-1" presStyleLbl="parChTrans1D2" presStyleIdx="2" presStyleCnt="3"/>
      <dgm:spPr/>
    </dgm:pt>
    <dgm:pt modelId="{A515824D-8F4C-4C7B-8871-A44B0A6FAF3B}" type="pres">
      <dgm:prSet presAssocID="{280A9310-26E9-49C3-B7B9-7BBEAC724B29}" presName="connTx" presStyleLbl="parChTrans1D2" presStyleIdx="2" presStyleCnt="3"/>
      <dgm:spPr/>
    </dgm:pt>
    <dgm:pt modelId="{33407A15-9279-4122-AB82-4D6ADF037E9C}" type="pres">
      <dgm:prSet presAssocID="{432028B2-CD62-44B6-BFCC-13C2CB8A6F4E}" presName="root2" presStyleCnt="0"/>
      <dgm:spPr/>
    </dgm:pt>
    <dgm:pt modelId="{AAC3D395-B688-406A-95F1-199B424AB11C}" type="pres">
      <dgm:prSet presAssocID="{432028B2-CD62-44B6-BFCC-13C2CB8A6F4E}" presName="LevelTwoTextNode" presStyleLbl="node2" presStyleIdx="2" presStyleCnt="3" custLinFactNeighborX="-4976" custLinFactNeighborY="58521">
        <dgm:presLayoutVars>
          <dgm:chPref val="3"/>
        </dgm:presLayoutVars>
      </dgm:prSet>
      <dgm:spPr/>
    </dgm:pt>
    <dgm:pt modelId="{4139F203-D28E-4C8A-A2B8-6BBF3EE84DC1}" type="pres">
      <dgm:prSet presAssocID="{432028B2-CD62-44B6-BFCC-13C2CB8A6F4E}" presName="level3hierChild" presStyleCnt="0"/>
      <dgm:spPr/>
    </dgm:pt>
  </dgm:ptLst>
  <dgm:cxnLst>
    <dgm:cxn modelId="{2F4AFD02-E7B6-4CCD-92DA-8CBAED09BC38}" srcId="{D74E4CB4-156D-4DCD-97BC-E1E8981C7E1A}" destId="{F7C8C971-1317-4EA7-A95E-2AB6E2BCC0A2}" srcOrd="0" destOrd="0" parTransId="{E17C15DF-607D-433A-8089-E6FB50FB1695}" sibTransId="{62E45767-71C5-47AC-B22E-25460C55C6EC}"/>
    <dgm:cxn modelId="{E38F340D-902B-4479-B150-258049F4F87F}" type="presOf" srcId="{280A9310-26E9-49C3-B7B9-7BBEAC724B29}" destId="{4F9966DF-B2C4-43DB-B8C1-0DEB7FB73569}" srcOrd="0" destOrd="0" presId="urn:microsoft.com/office/officeart/2005/8/layout/hierarchy2"/>
    <dgm:cxn modelId="{F4472C14-4AE2-4534-B404-096437166A6F}" srcId="{D74E4CB4-156D-4DCD-97BC-E1E8981C7E1A}" destId="{432028B2-CD62-44B6-BFCC-13C2CB8A6F4E}" srcOrd="2" destOrd="0" parTransId="{280A9310-26E9-49C3-B7B9-7BBEAC724B29}" sibTransId="{C57FD77E-79E1-47D8-B9C8-C6122CBCFC51}"/>
    <dgm:cxn modelId="{911C7829-48CB-4519-B4B7-641BAE91E11E}" srcId="{8471CAC1-8CCA-439F-8943-7C296D287A8C}" destId="{D74E4CB4-156D-4DCD-97BC-E1E8981C7E1A}" srcOrd="0" destOrd="0" parTransId="{6EC1AA58-BC16-4D90-91D6-138B4E594D39}" sibTransId="{EF214D2A-89DB-4951-8D11-2969DFFE3825}"/>
    <dgm:cxn modelId="{4FC50A38-3CF6-40A4-8577-7B4AE10C10E7}" type="presOf" srcId="{280A9310-26E9-49C3-B7B9-7BBEAC724B29}" destId="{A515824D-8F4C-4C7B-8871-A44B0A6FAF3B}" srcOrd="1" destOrd="0" presId="urn:microsoft.com/office/officeart/2005/8/layout/hierarchy2"/>
    <dgm:cxn modelId="{8079FF39-23D2-44DC-8627-C1CE6C5EF68C}" type="presOf" srcId="{36143D1C-D7C2-4CC4-B03C-3DEF52453109}" destId="{ECB99B1B-0655-456D-B94B-308182479EE8}" srcOrd="0" destOrd="0" presId="urn:microsoft.com/office/officeart/2005/8/layout/hierarchy2"/>
    <dgm:cxn modelId="{B8D5D470-C20B-4188-95C3-83EEDA2F5A58}" type="presOf" srcId="{432028B2-CD62-44B6-BFCC-13C2CB8A6F4E}" destId="{AAC3D395-B688-406A-95F1-199B424AB11C}" srcOrd="0" destOrd="0" presId="urn:microsoft.com/office/officeart/2005/8/layout/hierarchy2"/>
    <dgm:cxn modelId="{C1266A75-E042-47E9-9E5D-954AFD58C434}" type="presOf" srcId="{A2F98DCA-D4D4-4A5D-A1E8-FAF80F2AE370}" destId="{B7E7AD64-74F1-473A-9C61-4EC1836B01D9}" srcOrd="0" destOrd="0" presId="urn:microsoft.com/office/officeart/2005/8/layout/hierarchy2"/>
    <dgm:cxn modelId="{4CE3308A-B0D2-4A3F-9474-0EBE9216CBE8}" type="presOf" srcId="{36143D1C-D7C2-4CC4-B03C-3DEF52453109}" destId="{4236078E-D2A8-4B4D-B6AD-71C624DC3973}" srcOrd="1" destOrd="0" presId="urn:microsoft.com/office/officeart/2005/8/layout/hierarchy2"/>
    <dgm:cxn modelId="{571643A9-CA07-438B-B818-0039E5995A3B}" type="presOf" srcId="{E17C15DF-607D-433A-8089-E6FB50FB1695}" destId="{58A58CA6-7F75-4445-8D44-FD09C6BE5E05}" srcOrd="1" destOrd="0" presId="urn:microsoft.com/office/officeart/2005/8/layout/hierarchy2"/>
    <dgm:cxn modelId="{5F2240D6-D042-48B8-B7FF-1B12861F1EC4}" type="presOf" srcId="{E17C15DF-607D-433A-8089-E6FB50FB1695}" destId="{B6AA8E84-366F-40C2-8156-9AC893AFB102}" srcOrd="0" destOrd="0" presId="urn:microsoft.com/office/officeart/2005/8/layout/hierarchy2"/>
    <dgm:cxn modelId="{15928ED6-7DD4-4C9C-BEB1-91DABFD2FC0E}" type="presOf" srcId="{F7C8C971-1317-4EA7-A95E-2AB6E2BCC0A2}" destId="{226E325F-1AAD-4B33-86F0-2305AADEADD1}" srcOrd="0" destOrd="0" presId="urn:microsoft.com/office/officeart/2005/8/layout/hierarchy2"/>
    <dgm:cxn modelId="{D23678DF-410D-40CE-8868-87477247E513}" type="presOf" srcId="{8471CAC1-8CCA-439F-8943-7C296D287A8C}" destId="{6783315E-4135-47E2-A957-C6952DC4B7EC}" srcOrd="0" destOrd="0" presId="urn:microsoft.com/office/officeart/2005/8/layout/hierarchy2"/>
    <dgm:cxn modelId="{7216DAE2-A71D-4335-956D-0D9C851716A4}" type="presOf" srcId="{D74E4CB4-156D-4DCD-97BC-E1E8981C7E1A}" destId="{E31038BA-8BD0-4BC9-A166-DEEC733F790C}" srcOrd="0" destOrd="0" presId="urn:microsoft.com/office/officeart/2005/8/layout/hierarchy2"/>
    <dgm:cxn modelId="{534805ED-023D-4B4C-9801-5BA2A645A166}" srcId="{D74E4CB4-156D-4DCD-97BC-E1E8981C7E1A}" destId="{A2F98DCA-D4D4-4A5D-A1E8-FAF80F2AE370}" srcOrd="1" destOrd="0" parTransId="{36143D1C-D7C2-4CC4-B03C-3DEF52453109}" sibTransId="{B6320165-60E7-420D-83EB-C40DC5167539}"/>
    <dgm:cxn modelId="{5785C1E7-A47D-4EE0-8D38-644698A928AF}" type="presParOf" srcId="{6783315E-4135-47E2-A957-C6952DC4B7EC}" destId="{3A2B9E95-3799-4EF8-98A8-F81D549CDAD3}" srcOrd="0" destOrd="0" presId="urn:microsoft.com/office/officeart/2005/8/layout/hierarchy2"/>
    <dgm:cxn modelId="{36F73EE3-1994-42A4-B26A-239F76CA8115}" type="presParOf" srcId="{3A2B9E95-3799-4EF8-98A8-F81D549CDAD3}" destId="{E31038BA-8BD0-4BC9-A166-DEEC733F790C}" srcOrd="0" destOrd="0" presId="urn:microsoft.com/office/officeart/2005/8/layout/hierarchy2"/>
    <dgm:cxn modelId="{C3D7BA89-1367-43F9-B62A-1707B3A88E68}" type="presParOf" srcId="{3A2B9E95-3799-4EF8-98A8-F81D549CDAD3}" destId="{B7A47D69-F7BB-443E-93C9-2FAE951EB11A}" srcOrd="1" destOrd="0" presId="urn:microsoft.com/office/officeart/2005/8/layout/hierarchy2"/>
    <dgm:cxn modelId="{49E6D359-9773-4F9A-9A38-7F0002E075B1}" type="presParOf" srcId="{B7A47D69-F7BB-443E-93C9-2FAE951EB11A}" destId="{B6AA8E84-366F-40C2-8156-9AC893AFB102}" srcOrd="0" destOrd="0" presId="urn:microsoft.com/office/officeart/2005/8/layout/hierarchy2"/>
    <dgm:cxn modelId="{2A04A109-FB28-4A0D-A36B-4E9269D7A14A}" type="presParOf" srcId="{B6AA8E84-366F-40C2-8156-9AC893AFB102}" destId="{58A58CA6-7F75-4445-8D44-FD09C6BE5E05}" srcOrd="0" destOrd="0" presId="urn:microsoft.com/office/officeart/2005/8/layout/hierarchy2"/>
    <dgm:cxn modelId="{1221F919-9B84-4B05-8AE7-0D75120B64F3}" type="presParOf" srcId="{B7A47D69-F7BB-443E-93C9-2FAE951EB11A}" destId="{71388EC0-21C5-48E2-BCB2-F81C91174BAD}" srcOrd="1" destOrd="0" presId="urn:microsoft.com/office/officeart/2005/8/layout/hierarchy2"/>
    <dgm:cxn modelId="{BF8B78CF-D63E-439D-9337-2F891A332EC8}" type="presParOf" srcId="{71388EC0-21C5-48E2-BCB2-F81C91174BAD}" destId="{226E325F-1AAD-4B33-86F0-2305AADEADD1}" srcOrd="0" destOrd="0" presId="urn:microsoft.com/office/officeart/2005/8/layout/hierarchy2"/>
    <dgm:cxn modelId="{51F50F72-7FE0-4323-AC4C-F262A8C845F8}" type="presParOf" srcId="{71388EC0-21C5-48E2-BCB2-F81C91174BAD}" destId="{BC0936F1-6C5A-4136-A570-0CA9D9742A73}" srcOrd="1" destOrd="0" presId="urn:microsoft.com/office/officeart/2005/8/layout/hierarchy2"/>
    <dgm:cxn modelId="{373D6088-2E75-4C00-B61D-3C0E3B89CD27}" type="presParOf" srcId="{B7A47D69-F7BB-443E-93C9-2FAE951EB11A}" destId="{ECB99B1B-0655-456D-B94B-308182479EE8}" srcOrd="2" destOrd="0" presId="urn:microsoft.com/office/officeart/2005/8/layout/hierarchy2"/>
    <dgm:cxn modelId="{D29C58F6-DF5B-4AF3-869B-1581D684765E}" type="presParOf" srcId="{ECB99B1B-0655-456D-B94B-308182479EE8}" destId="{4236078E-D2A8-4B4D-B6AD-71C624DC3973}" srcOrd="0" destOrd="0" presId="urn:microsoft.com/office/officeart/2005/8/layout/hierarchy2"/>
    <dgm:cxn modelId="{8B27A646-371E-4473-BD49-65CE9356E321}" type="presParOf" srcId="{B7A47D69-F7BB-443E-93C9-2FAE951EB11A}" destId="{86AFB6F4-EA5D-4209-A53A-2D26DF971DE4}" srcOrd="3" destOrd="0" presId="urn:microsoft.com/office/officeart/2005/8/layout/hierarchy2"/>
    <dgm:cxn modelId="{40BCDAB1-EE2F-4884-9811-4D4DF30C457B}" type="presParOf" srcId="{86AFB6F4-EA5D-4209-A53A-2D26DF971DE4}" destId="{B7E7AD64-74F1-473A-9C61-4EC1836B01D9}" srcOrd="0" destOrd="0" presId="urn:microsoft.com/office/officeart/2005/8/layout/hierarchy2"/>
    <dgm:cxn modelId="{7B243DC1-5CCF-426E-A9A1-C6B901AE2E78}" type="presParOf" srcId="{86AFB6F4-EA5D-4209-A53A-2D26DF971DE4}" destId="{C677A6EB-155B-48F3-B9E5-5D980A4E74D7}" srcOrd="1" destOrd="0" presId="urn:microsoft.com/office/officeart/2005/8/layout/hierarchy2"/>
    <dgm:cxn modelId="{6D926C64-7DF3-4BA0-9609-7EC47C5F59D6}" type="presParOf" srcId="{B7A47D69-F7BB-443E-93C9-2FAE951EB11A}" destId="{4F9966DF-B2C4-43DB-B8C1-0DEB7FB73569}" srcOrd="4" destOrd="0" presId="urn:microsoft.com/office/officeart/2005/8/layout/hierarchy2"/>
    <dgm:cxn modelId="{775DB37E-7706-4347-8711-07C3DE4467D1}" type="presParOf" srcId="{4F9966DF-B2C4-43DB-B8C1-0DEB7FB73569}" destId="{A515824D-8F4C-4C7B-8871-A44B0A6FAF3B}" srcOrd="0" destOrd="0" presId="urn:microsoft.com/office/officeart/2005/8/layout/hierarchy2"/>
    <dgm:cxn modelId="{F7F4C052-F91A-4946-8FBB-DD97EF003096}" type="presParOf" srcId="{B7A47D69-F7BB-443E-93C9-2FAE951EB11A}" destId="{33407A15-9279-4122-AB82-4D6ADF037E9C}" srcOrd="5" destOrd="0" presId="urn:microsoft.com/office/officeart/2005/8/layout/hierarchy2"/>
    <dgm:cxn modelId="{66093242-6405-4091-B3BD-6A5968F7EB2A}" type="presParOf" srcId="{33407A15-9279-4122-AB82-4D6ADF037E9C}" destId="{AAC3D395-B688-406A-95F1-199B424AB11C}" srcOrd="0" destOrd="0" presId="urn:microsoft.com/office/officeart/2005/8/layout/hierarchy2"/>
    <dgm:cxn modelId="{B9F2DEE3-9883-4983-AB3C-B43DAD3BF599}" type="presParOf" srcId="{33407A15-9279-4122-AB82-4D6ADF037E9C}" destId="{4139F203-D28E-4C8A-A2B8-6BBF3EE84DC1}"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71CAC1-8CCA-439F-8943-7C296D287A8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AR"/>
        </a:p>
      </dgm:t>
    </dgm:pt>
    <dgm:pt modelId="{D74E4CB4-156D-4DCD-97BC-E1E8981C7E1A}">
      <dgm:prSet phldrT="[Texto]">
        <dgm:style>
          <a:lnRef idx="1">
            <a:schemeClr val="accent3"/>
          </a:lnRef>
          <a:fillRef idx="2">
            <a:schemeClr val="accent3"/>
          </a:fillRef>
          <a:effectRef idx="1">
            <a:schemeClr val="accent3"/>
          </a:effectRef>
          <a:fontRef idx="minor">
            <a:schemeClr val="dk1"/>
          </a:fontRef>
        </dgm:style>
      </dgm:prSet>
      <dgm:spPr>
        <a:solidFill>
          <a:srgbClr val="002060"/>
        </a:solidFill>
      </dgm:spPr>
      <dgm:t>
        <a:bodyPr/>
        <a:lstStyle/>
        <a:p>
          <a:r>
            <a:rPr lang="es-ES" dirty="0">
              <a:solidFill>
                <a:schemeClr val="bg1"/>
              </a:solidFill>
            </a:rPr>
            <a:t>Asociación sindical</a:t>
          </a:r>
          <a:endParaRPr lang="es-AR" dirty="0">
            <a:solidFill>
              <a:schemeClr val="bg1"/>
            </a:solidFill>
          </a:endParaRPr>
        </a:p>
      </dgm:t>
    </dgm:pt>
    <dgm:pt modelId="{6EC1AA58-BC16-4D90-91D6-138B4E594D39}" type="parTrans" cxnId="{911C7829-48CB-4519-B4B7-641BAE91E11E}">
      <dgm:prSet/>
      <dgm:spPr/>
      <dgm:t>
        <a:bodyPr/>
        <a:lstStyle/>
        <a:p>
          <a:endParaRPr lang="es-AR"/>
        </a:p>
      </dgm:t>
    </dgm:pt>
    <dgm:pt modelId="{EF214D2A-89DB-4951-8D11-2969DFFE3825}" type="sibTrans" cxnId="{911C7829-48CB-4519-B4B7-641BAE91E11E}">
      <dgm:prSet/>
      <dgm:spPr/>
      <dgm:t>
        <a:bodyPr/>
        <a:lstStyle/>
        <a:p>
          <a:endParaRPr lang="es-AR"/>
        </a:p>
      </dgm:t>
    </dgm:pt>
    <dgm:pt modelId="{432028B2-CD62-44B6-BFCC-13C2CB8A6F4E}">
      <dgm:prSet phldrT="[Texto]">
        <dgm:style>
          <a:lnRef idx="1">
            <a:schemeClr val="accent3"/>
          </a:lnRef>
          <a:fillRef idx="2">
            <a:schemeClr val="accent3"/>
          </a:fillRef>
          <a:effectRef idx="1">
            <a:schemeClr val="accent3"/>
          </a:effectRef>
          <a:fontRef idx="minor">
            <a:schemeClr val="dk1"/>
          </a:fontRef>
        </dgm:style>
      </dgm:prSet>
      <dgm:spPr>
        <a:solidFill>
          <a:srgbClr val="00B050"/>
        </a:solidFill>
      </dgm:spPr>
      <dgm:t>
        <a:bodyPr/>
        <a:lstStyle/>
        <a:p>
          <a:r>
            <a:rPr lang="es-ES" dirty="0">
              <a:solidFill>
                <a:schemeClr val="bg1"/>
              </a:solidFill>
            </a:rPr>
            <a:t>Con personería gremial</a:t>
          </a:r>
          <a:endParaRPr lang="es-AR" dirty="0">
            <a:solidFill>
              <a:schemeClr val="bg1"/>
            </a:solidFill>
          </a:endParaRPr>
        </a:p>
      </dgm:t>
    </dgm:pt>
    <dgm:pt modelId="{280A9310-26E9-49C3-B7B9-7BBEAC724B29}" type="parTrans" cxnId="{F4472C14-4AE2-4534-B404-096437166A6F}">
      <dgm:prSet/>
      <dgm:spPr/>
      <dgm:t>
        <a:bodyPr/>
        <a:lstStyle/>
        <a:p>
          <a:endParaRPr lang="es-AR"/>
        </a:p>
      </dgm:t>
    </dgm:pt>
    <dgm:pt modelId="{C57FD77E-79E1-47D8-B9C8-C6122CBCFC51}" type="sibTrans" cxnId="{F4472C14-4AE2-4534-B404-096437166A6F}">
      <dgm:prSet/>
      <dgm:spPr/>
      <dgm:t>
        <a:bodyPr/>
        <a:lstStyle/>
        <a:p>
          <a:endParaRPr lang="es-AR"/>
        </a:p>
      </dgm:t>
    </dgm:pt>
    <dgm:pt modelId="{391F42B9-B39E-4240-923D-12466886A466}">
      <dgm:prSet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1">
            <a:lumMod val="60000"/>
            <a:lumOff val="40000"/>
          </a:schemeClr>
        </a:solidFill>
      </dgm:spPr>
      <dgm:t>
        <a:bodyPr/>
        <a:lstStyle/>
        <a:p>
          <a:r>
            <a:rPr lang="es-ES" sz="1600" u="sng" dirty="0"/>
            <a:t>Derechos exclusivos</a:t>
          </a:r>
          <a:endParaRPr lang="es-AR" sz="1600" u="sng" dirty="0"/>
        </a:p>
      </dgm:t>
    </dgm:pt>
    <dgm:pt modelId="{8A170BCE-2767-4756-954C-21E7E2E7D6B1}" type="parTrans" cxnId="{86A9836A-3609-41CC-994B-11ADFCD0216A}">
      <dgm:prSet/>
      <dgm:spPr/>
      <dgm:t>
        <a:bodyPr/>
        <a:lstStyle/>
        <a:p>
          <a:endParaRPr lang="es-AR"/>
        </a:p>
      </dgm:t>
    </dgm:pt>
    <dgm:pt modelId="{A22B755B-45F0-429A-9E34-1A5BE8CC28D0}" type="sibTrans" cxnId="{86A9836A-3609-41CC-994B-11ADFCD0216A}">
      <dgm:prSet/>
      <dgm:spPr/>
      <dgm:t>
        <a:bodyPr/>
        <a:lstStyle/>
        <a:p>
          <a:endParaRPr lang="es-AR"/>
        </a:p>
      </dgm:t>
    </dgm:pt>
    <dgm:pt modelId="{9D100B0A-F516-4AB8-86E4-6CEEA730ED8B}">
      <dgm:prSet custT="1">
        <dgm:style>
          <a:lnRef idx="1">
            <a:schemeClr val="accent2"/>
          </a:lnRef>
          <a:fillRef idx="3">
            <a:schemeClr val="accent2"/>
          </a:fillRef>
          <a:effectRef idx="2">
            <a:schemeClr val="accent2"/>
          </a:effectRef>
          <a:fontRef idx="minor">
            <a:schemeClr val="lt1"/>
          </a:fontRef>
        </dgm:style>
      </dgm:prSet>
      <dgm:spPr/>
      <dgm:t>
        <a:bodyPr/>
        <a:lstStyle/>
        <a:p>
          <a:r>
            <a:rPr lang="es-ES" sz="1600" dirty="0"/>
            <a:t>Concretar CCT</a:t>
          </a:r>
          <a:endParaRPr lang="es-AR" sz="1600" dirty="0"/>
        </a:p>
      </dgm:t>
    </dgm:pt>
    <dgm:pt modelId="{8949DDB2-D522-4B93-A909-C264E4A15F4D}" type="parTrans" cxnId="{3E6FE0DB-7A59-4BEA-80EB-BAA2B05FCE51}">
      <dgm:prSet/>
      <dgm:spPr/>
      <dgm:t>
        <a:bodyPr/>
        <a:lstStyle/>
        <a:p>
          <a:endParaRPr lang="es-AR"/>
        </a:p>
      </dgm:t>
    </dgm:pt>
    <dgm:pt modelId="{7FF660B1-27E0-450A-ACEA-0F163C794E45}" type="sibTrans" cxnId="{3E6FE0DB-7A59-4BEA-80EB-BAA2B05FCE51}">
      <dgm:prSet/>
      <dgm:spPr/>
      <dgm:t>
        <a:bodyPr/>
        <a:lstStyle/>
        <a:p>
          <a:endParaRPr lang="es-AR"/>
        </a:p>
      </dgm:t>
    </dgm:pt>
    <dgm:pt modelId="{C5A891C4-C5B1-4823-A6E8-B9DCEEEFA1F6}">
      <dgm:prSet custT="1">
        <dgm:style>
          <a:lnRef idx="1">
            <a:schemeClr val="accent2"/>
          </a:lnRef>
          <a:fillRef idx="3">
            <a:schemeClr val="accent2"/>
          </a:fillRef>
          <a:effectRef idx="2">
            <a:schemeClr val="accent2"/>
          </a:effectRef>
          <a:fontRef idx="minor">
            <a:schemeClr val="lt1"/>
          </a:fontRef>
        </dgm:style>
      </dgm:prSet>
      <dgm:spPr/>
      <dgm:t>
        <a:bodyPr/>
        <a:lstStyle/>
        <a:p>
          <a:r>
            <a:rPr lang="es-ES" sz="1600" dirty="0"/>
            <a:t>Derecho a la HUELGA</a:t>
          </a:r>
          <a:endParaRPr lang="es-AR" sz="1600" dirty="0"/>
        </a:p>
      </dgm:t>
    </dgm:pt>
    <dgm:pt modelId="{B0E42C1F-4D67-414C-B654-A09D5E3D3E7D}" type="parTrans" cxnId="{E0ACB98B-4457-4C6C-A993-F6D290E80493}">
      <dgm:prSet/>
      <dgm:spPr/>
      <dgm:t>
        <a:bodyPr/>
        <a:lstStyle/>
        <a:p>
          <a:endParaRPr lang="es-AR"/>
        </a:p>
      </dgm:t>
    </dgm:pt>
    <dgm:pt modelId="{ABDCCF9F-8011-47A2-AE6E-88C51A4774C3}" type="sibTrans" cxnId="{E0ACB98B-4457-4C6C-A993-F6D290E80493}">
      <dgm:prSet/>
      <dgm:spPr/>
      <dgm:t>
        <a:bodyPr/>
        <a:lstStyle/>
        <a:p>
          <a:endParaRPr lang="es-AR"/>
        </a:p>
      </dgm:t>
    </dgm:pt>
    <dgm:pt modelId="{319B71E0-0382-461F-8B29-2C0E1108482C}">
      <dgm:prSet custT="1">
        <dgm:style>
          <a:lnRef idx="1">
            <a:schemeClr val="accent2"/>
          </a:lnRef>
          <a:fillRef idx="3">
            <a:schemeClr val="accent2"/>
          </a:fillRef>
          <a:effectRef idx="2">
            <a:schemeClr val="accent2"/>
          </a:effectRef>
          <a:fontRef idx="minor">
            <a:schemeClr val="lt1"/>
          </a:fontRef>
        </dgm:style>
      </dgm:prSet>
      <dgm:spPr/>
      <dgm:t>
        <a:bodyPr/>
        <a:lstStyle/>
        <a:p>
          <a:r>
            <a:rPr lang="es-ES" sz="1600" dirty="0"/>
            <a:t>Administrar Obra sociales</a:t>
          </a:r>
          <a:endParaRPr lang="es-AR" sz="1600" dirty="0"/>
        </a:p>
      </dgm:t>
    </dgm:pt>
    <dgm:pt modelId="{3ADD3CD8-359A-4D1D-8287-E2B9CA4CB7DB}" type="parTrans" cxnId="{19836AEF-DAB2-44CD-8CE1-5814F4C45018}">
      <dgm:prSet/>
      <dgm:spPr/>
      <dgm:t>
        <a:bodyPr/>
        <a:lstStyle/>
        <a:p>
          <a:endParaRPr lang="es-AR"/>
        </a:p>
      </dgm:t>
    </dgm:pt>
    <dgm:pt modelId="{0AC87165-0404-4F87-A704-524D3E7F9D6D}" type="sibTrans" cxnId="{19836AEF-DAB2-44CD-8CE1-5814F4C45018}">
      <dgm:prSet/>
      <dgm:spPr/>
      <dgm:t>
        <a:bodyPr/>
        <a:lstStyle/>
        <a:p>
          <a:endParaRPr lang="es-AR"/>
        </a:p>
      </dgm:t>
    </dgm:pt>
    <dgm:pt modelId="{903039F1-5ABE-458C-8F54-BFFA3054870B}">
      <dgm:prSet custT="1"/>
      <dgm:spPr>
        <a:solidFill>
          <a:schemeClr val="accent2"/>
        </a:solidFill>
      </dgm:spPr>
      <dgm:t>
        <a:bodyPr/>
        <a:lstStyle/>
        <a:p>
          <a:r>
            <a:rPr lang="es-ES" sz="1600" dirty="0"/>
            <a:t>Recurrir a la conciliación y el arbitraje</a:t>
          </a:r>
          <a:endParaRPr lang="es-AR" sz="1600" dirty="0"/>
        </a:p>
      </dgm:t>
    </dgm:pt>
    <dgm:pt modelId="{B77D9A70-2242-4C40-B699-B461AE7454B1}" type="parTrans" cxnId="{09EC134A-7246-4A1B-8017-406C8F13CDDF}">
      <dgm:prSet/>
      <dgm:spPr/>
      <dgm:t>
        <a:bodyPr/>
        <a:lstStyle/>
        <a:p>
          <a:endParaRPr lang="es-AR"/>
        </a:p>
      </dgm:t>
    </dgm:pt>
    <dgm:pt modelId="{813BBFA7-DB87-45F1-AD5C-4A881A15BECC}" type="sibTrans" cxnId="{09EC134A-7246-4A1B-8017-406C8F13CDDF}">
      <dgm:prSet/>
      <dgm:spPr/>
      <dgm:t>
        <a:bodyPr/>
        <a:lstStyle/>
        <a:p>
          <a:endParaRPr lang="es-AR"/>
        </a:p>
      </dgm:t>
    </dgm:pt>
    <dgm:pt modelId="{F7C8C971-1317-4EA7-A95E-2AB6E2BCC0A2}">
      <dgm:prSet/>
      <dgm:spPr>
        <a:solidFill>
          <a:srgbClr val="FF0000"/>
        </a:solidFill>
      </dgm:spPr>
      <dgm:t>
        <a:bodyPr/>
        <a:lstStyle/>
        <a:p>
          <a:r>
            <a:rPr lang="es-MX" dirty="0"/>
            <a:t>Sin inscripción</a:t>
          </a:r>
          <a:endParaRPr lang="es-AR" dirty="0"/>
        </a:p>
      </dgm:t>
    </dgm:pt>
    <dgm:pt modelId="{E17C15DF-607D-433A-8089-E6FB50FB1695}" type="parTrans" cxnId="{2F4AFD02-E7B6-4CCD-92DA-8CBAED09BC38}">
      <dgm:prSet/>
      <dgm:spPr/>
      <dgm:t>
        <a:bodyPr/>
        <a:lstStyle/>
        <a:p>
          <a:endParaRPr lang="es-AR"/>
        </a:p>
      </dgm:t>
    </dgm:pt>
    <dgm:pt modelId="{62E45767-71C5-47AC-B22E-25460C55C6EC}" type="sibTrans" cxnId="{2F4AFD02-E7B6-4CCD-92DA-8CBAED09BC38}">
      <dgm:prSet/>
      <dgm:spPr/>
      <dgm:t>
        <a:bodyPr/>
        <a:lstStyle/>
        <a:p>
          <a:endParaRPr lang="es-AR"/>
        </a:p>
      </dgm:t>
    </dgm:pt>
    <dgm:pt modelId="{A2F98DCA-D4D4-4A5D-A1E8-FAF80F2AE370}">
      <dgm:prSet phldrT="[Texto]">
        <dgm:style>
          <a:lnRef idx="1">
            <a:schemeClr val="accent3"/>
          </a:lnRef>
          <a:fillRef idx="2">
            <a:schemeClr val="accent3"/>
          </a:fillRef>
          <a:effectRef idx="1">
            <a:schemeClr val="accent3"/>
          </a:effectRef>
          <a:fontRef idx="minor">
            <a:schemeClr val="dk1"/>
          </a:fontRef>
        </dgm:style>
      </dgm:prSet>
      <dgm:spPr>
        <a:solidFill>
          <a:srgbClr val="FFFF00"/>
        </a:solidFill>
      </dgm:spPr>
      <dgm:t>
        <a:bodyPr/>
        <a:lstStyle/>
        <a:p>
          <a:r>
            <a:rPr lang="es-ES"/>
            <a:t>Simplemente inscriptos</a:t>
          </a:r>
          <a:endParaRPr lang="es-AR" dirty="0"/>
        </a:p>
      </dgm:t>
    </dgm:pt>
    <dgm:pt modelId="{36143D1C-D7C2-4CC4-B03C-3DEF52453109}" type="parTrans" cxnId="{534805ED-023D-4B4C-9801-5BA2A645A166}">
      <dgm:prSet/>
      <dgm:spPr/>
      <dgm:t>
        <a:bodyPr/>
        <a:lstStyle/>
        <a:p>
          <a:endParaRPr lang="es-AR"/>
        </a:p>
      </dgm:t>
    </dgm:pt>
    <dgm:pt modelId="{B6320165-60E7-420D-83EB-C40DC5167539}" type="sibTrans" cxnId="{534805ED-023D-4B4C-9801-5BA2A645A166}">
      <dgm:prSet/>
      <dgm:spPr/>
      <dgm:t>
        <a:bodyPr/>
        <a:lstStyle/>
        <a:p>
          <a:endParaRPr lang="es-AR"/>
        </a:p>
      </dgm:t>
    </dgm:pt>
    <dgm:pt modelId="{6783315E-4135-47E2-A957-C6952DC4B7EC}" type="pres">
      <dgm:prSet presAssocID="{8471CAC1-8CCA-439F-8943-7C296D287A8C}" presName="diagram" presStyleCnt="0">
        <dgm:presLayoutVars>
          <dgm:chPref val="1"/>
          <dgm:dir/>
          <dgm:animOne val="branch"/>
          <dgm:animLvl val="lvl"/>
          <dgm:resizeHandles val="exact"/>
        </dgm:presLayoutVars>
      </dgm:prSet>
      <dgm:spPr/>
    </dgm:pt>
    <dgm:pt modelId="{3A2B9E95-3799-4EF8-98A8-F81D549CDAD3}" type="pres">
      <dgm:prSet presAssocID="{D74E4CB4-156D-4DCD-97BC-E1E8981C7E1A}" presName="root1" presStyleCnt="0"/>
      <dgm:spPr/>
    </dgm:pt>
    <dgm:pt modelId="{E31038BA-8BD0-4BC9-A166-DEEC733F790C}" type="pres">
      <dgm:prSet presAssocID="{D74E4CB4-156D-4DCD-97BC-E1E8981C7E1A}" presName="LevelOneTextNode" presStyleLbl="node0" presStyleIdx="0" presStyleCnt="1" custLinFactNeighborX="-222" custLinFactNeighborY="17876">
        <dgm:presLayoutVars>
          <dgm:chPref val="3"/>
        </dgm:presLayoutVars>
      </dgm:prSet>
      <dgm:spPr/>
    </dgm:pt>
    <dgm:pt modelId="{B7A47D69-F7BB-443E-93C9-2FAE951EB11A}" type="pres">
      <dgm:prSet presAssocID="{D74E4CB4-156D-4DCD-97BC-E1E8981C7E1A}" presName="level2hierChild" presStyleCnt="0"/>
      <dgm:spPr/>
    </dgm:pt>
    <dgm:pt modelId="{B6AA8E84-366F-40C2-8156-9AC893AFB102}" type="pres">
      <dgm:prSet presAssocID="{E17C15DF-607D-433A-8089-E6FB50FB1695}" presName="conn2-1" presStyleLbl="parChTrans1D2" presStyleIdx="0" presStyleCnt="3"/>
      <dgm:spPr/>
    </dgm:pt>
    <dgm:pt modelId="{58A58CA6-7F75-4445-8D44-FD09C6BE5E05}" type="pres">
      <dgm:prSet presAssocID="{E17C15DF-607D-433A-8089-E6FB50FB1695}" presName="connTx" presStyleLbl="parChTrans1D2" presStyleIdx="0" presStyleCnt="3"/>
      <dgm:spPr/>
    </dgm:pt>
    <dgm:pt modelId="{71388EC0-21C5-48E2-BCB2-F81C91174BAD}" type="pres">
      <dgm:prSet presAssocID="{F7C8C971-1317-4EA7-A95E-2AB6E2BCC0A2}" presName="root2" presStyleCnt="0"/>
      <dgm:spPr/>
    </dgm:pt>
    <dgm:pt modelId="{226E325F-1AAD-4B33-86F0-2305AADEADD1}" type="pres">
      <dgm:prSet presAssocID="{F7C8C971-1317-4EA7-A95E-2AB6E2BCC0A2}" presName="LevelTwoTextNode" presStyleLbl="node2" presStyleIdx="0" presStyleCnt="3" custLinFactNeighborX="-3921" custLinFactNeighborY="-23641">
        <dgm:presLayoutVars>
          <dgm:chPref val="3"/>
        </dgm:presLayoutVars>
      </dgm:prSet>
      <dgm:spPr/>
    </dgm:pt>
    <dgm:pt modelId="{BC0936F1-6C5A-4136-A570-0CA9D9742A73}" type="pres">
      <dgm:prSet presAssocID="{F7C8C971-1317-4EA7-A95E-2AB6E2BCC0A2}" presName="level3hierChild" presStyleCnt="0"/>
      <dgm:spPr/>
    </dgm:pt>
    <dgm:pt modelId="{ECB99B1B-0655-456D-B94B-308182479EE8}" type="pres">
      <dgm:prSet presAssocID="{36143D1C-D7C2-4CC4-B03C-3DEF52453109}" presName="conn2-1" presStyleLbl="parChTrans1D2" presStyleIdx="1" presStyleCnt="3"/>
      <dgm:spPr/>
    </dgm:pt>
    <dgm:pt modelId="{4236078E-D2A8-4B4D-B6AD-71C624DC3973}" type="pres">
      <dgm:prSet presAssocID="{36143D1C-D7C2-4CC4-B03C-3DEF52453109}" presName="connTx" presStyleLbl="parChTrans1D2" presStyleIdx="1" presStyleCnt="3"/>
      <dgm:spPr/>
    </dgm:pt>
    <dgm:pt modelId="{86AFB6F4-EA5D-4209-A53A-2D26DF971DE4}" type="pres">
      <dgm:prSet presAssocID="{A2F98DCA-D4D4-4A5D-A1E8-FAF80F2AE370}" presName="root2" presStyleCnt="0"/>
      <dgm:spPr/>
    </dgm:pt>
    <dgm:pt modelId="{B7E7AD64-74F1-473A-9C61-4EC1836B01D9}" type="pres">
      <dgm:prSet presAssocID="{A2F98DCA-D4D4-4A5D-A1E8-FAF80F2AE370}" presName="LevelTwoTextNode" presStyleLbl="node2" presStyleIdx="1" presStyleCnt="3" custLinFactNeighborX="-3921" custLinFactNeighborY="17876">
        <dgm:presLayoutVars>
          <dgm:chPref val="3"/>
        </dgm:presLayoutVars>
      </dgm:prSet>
      <dgm:spPr/>
    </dgm:pt>
    <dgm:pt modelId="{C677A6EB-155B-48F3-B9E5-5D980A4E74D7}" type="pres">
      <dgm:prSet presAssocID="{A2F98DCA-D4D4-4A5D-A1E8-FAF80F2AE370}" presName="level3hierChild" presStyleCnt="0"/>
      <dgm:spPr/>
    </dgm:pt>
    <dgm:pt modelId="{4F9966DF-B2C4-43DB-B8C1-0DEB7FB73569}" type="pres">
      <dgm:prSet presAssocID="{280A9310-26E9-49C3-B7B9-7BBEAC724B29}" presName="conn2-1" presStyleLbl="parChTrans1D2" presStyleIdx="2" presStyleCnt="3"/>
      <dgm:spPr/>
    </dgm:pt>
    <dgm:pt modelId="{A515824D-8F4C-4C7B-8871-A44B0A6FAF3B}" type="pres">
      <dgm:prSet presAssocID="{280A9310-26E9-49C3-B7B9-7BBEAC724B29}" presName="connTx" presStyleLbl="parChTrans1D2" presStyleIdx="2" presStyleCnt="3"/>
      <dgm:spPr/>
    </dgm:pt>
    <dgm:pt modelId="{33407A15-9279-4122-AB82-4D6ADF037E9C}" type="pres">
      <dgm:prSet presAssocID="{432028B2-CD62-44B6-BFCC-13C2CB8A6F4E}" presName="root2" presStyleCnt="0"/>
      <dgm:spPr/>
    </dgm:pt>
    <dgm:pt modelId="{AAC3D395-B688-406A-95F1-199B424AB11C}" type="pres">
      <dgm:prSet presAssocID="{432028B2-CD62-44B6-BFCC-13C2CB8A6F4E}" presName="LevelTwoTextNode" presStyleLbl="node2" presStyleIdx="2" presStyleCnt="3" custScaleX="104971" custLinFactNeighborX="-4976" custLinFactNeighborY="58521">
        <dgm:presLayoutVars>
          <dgm:chPref val="3"/>
        </dgm:presLayoutVars>
      </dgm:prSet>
      <dgm:spPr/>
    </dgm:pt>
    <dgm:pt modelId="{4139F203-D28E-4C8A-A2B8-6BBF3EE84DC1}" type="pres">
      <dgm:prSet presAssocID="{432028B2-CD62-44B6-BFCC-13C2CB8A6F4E}" presName="level3hierChild" presStyleCnt="0"/>
      <dgm:spPr/>
    </dgm:pt>
    <dgm:pt modelId="{9C621163-7872-4B0B-8AEC-318245C4C9F3}" type="pres">
      <dgm:prSet presAssocID="{8A170BCE-2767-4756-954C-21E7E2E7D6B1}" presName="conn2-1" presStyleLbl="parChTrans1D3" presStyleIdx="0" presStyleCnt="1"/>
      <dgm:spPr/>
    </dgm:pt>
    <dgm:pt modelId="{C2954C7F-E4D4-4C41-B9BB-FAD3914763F7}" type="pres">
      <dgm:prSet presAssocID="{8A170BCE-2767-4756-954C-21E7E2E7D6B1}" presName="connTx" presStyleLbl="parChTrans1D3" presStyleIdx="0" presStyleCnt="1"/>
      <dgm:spPr/>
    </dgm:pt>
    <dgm:pt modelId="{63BC9EFE-A473-4E0B-9FEB-65468F4A867F}" type="pres">
      <dgm:prSet presAssocID="{391F42B9-B39E-4240-923D-12466886A466}" presName="root2" presStyleCnt="0"/>
      <dgm:spPr/>
    </dgm:pt>
    <dgm:pt modelId="{A8E56738-3AA6-4735-8BCF-A523B94B8E57}" type="pres">
      <dgm:prSet presAssocID="{391F42B9-B39E-4240-923D-12466886A466}" presName="LevelTwoTextNode" presStyleLbl="node3" presStyleIdx="0" presStyleCnt="1" custLinFactNeighborX="-8658" custLinFactNeighborY="59393">
        <dgm:presLayoutVars>
          <dgm:chPref val="3"/>
        </dgm:presLayoutVars>
      </dgm:prSet>
      <dgm:spPr/>
    </dgm:pt>
    <dgm:pt modelId="{CB2DCC3A-68DD-403F-A671-DC4DE27D682F}" type="pres">
      <dgm:prSet presAssocID="{391F42B9-B39E-4240-923D-12466886A466}" presName="level3hierChild" presStyleCnt="0"/>
      <dgm:spPr/>
    </dgm:pt>
    <dgm:pt modelId="{C367B7FA-E962-4253-8332-8A9F928D34C5}" type="pres">
      <dgm:prSet presAssocID="{8949DDB2-D522-4B93-A909-C264E4A15F4D}" presName="conn2-1" presStyleLbl="parChTrans1D4" presStyleIdx="0" presStyleCnt="4"/>
      <dgm:spPr/>
    </dgm:pt>
    <dgm:pt modelId="{D13D040C-B3E9-41E9-8CF3-E1905B386E0F}" type="pres">
      <dgm:prSet presAssocID="{8949DDB2-D522-4B93-A909-C264E4A15F4D}" presName="connTx" presStyleLbl="parChTrans1D4" presStyleIdx="0" presStyleCnt="4"/>
      <dgm:spPr/>
    </dgm:pt>
    <dgm:pt modelId="{881C4091-9D2E-4E26-90BD-B224C535E58D}" type="pres">
      <dgm:prSet presAssocID="{9D100B0A-F516-4AB8-86E4-6CEEA730ED8B}" presName="root2" presStyleCnt="0"/>
      <dgm:spPr/>
    </dgm:pt>
    <dgm:pt modelId="{265A35C9-2556-441B-B301-DD1F62E16C1E}" type="pres">
      <dgm:prSet presAssocID="{9D100B0A-F516-4AB8-86E4-6CEEA730ED8B}" presName="LevelTwoTextNode" presStyleLbl="node4" presStyleIdx="0" presStyleCnt="4" custLinFactNeighborX="-2241" custLinFactNeighborY="25376">
        <dgm:presLayoutVars>
          <dgm:chPref val="3"/>
        </dgm:presLayoutVars>
      </dgm:prSet>
      <dgm:spPr/>
    </dgm:pt>
    <dgm:pt modelId="{1F36B146-4A1B-4367-A338-2D79F84DD590}" type="pres">
      <dgm:prSet presAssocID="{9D100B0A-F516-4AB8-86E4-6CEEA730ED8B}" presName="level3hierChild" presStyleCnt="0"/>
      <dgm:spPr/>
    </dgm:pt>
    <dgm:pt modelId="{1ACB1EBB-47A9-473B-A58E-B2A51955271A}" type="pres">
      <dgm:prSet presAssocID="{B0E42C1F-4D67-414C-B654-A09D5E3D3E7D}" presName="conn2-1" presStyleLbl="parChTrans1D4" presStyleIdx="1" presStyleCnt="4"/>
      <dgm:spPr/>
    </dgm:pt>
    <dgm:pt modelId="{F79DB61B-AA2D-4B9A-97F3-54186212B58B}" type="pres">
      <dgm:prSet presAssocID="{B0E42C1F-4D67-414C-B654-A09D5E3D3E7D}" presName="connTx" presStyleLbl="parChTrans1D4" presStyleIdx="1" presStyleCnt="4"/>
      <dgm:spPr/>
    </dgm:pt>
    <dgm:pt modelId="{98200A44-8E28-4D6A-9949-56A5AB4E3424}" type="pres">
      <dgm:prSet presAssocID="{C5A891C4-C5B1-4823-A6E8-B9DCEEEFA1F6}" presName="root2" presStyleCnt="0"/>
      <dgm:spPr/>
    </dgm:pt>
    <dgm:pt modelId="{38D7073B-8B28-4382-A87A-C0E82969AB52}" type="pres">
      <dgm:prSet presAssocID="{C5A891C4-C5B1-4823-A6E8-B9DCEEEFA1F6}" presName="LevelTwoTextNode" presStyleLbl="node4" presStyleIdx="1" presStyleCnt="4" custLinFactNeighborX="-2241" custLinFactNeighborY="34286">
        <dgm:presLayoutVars>
          <dgm:chPref val="3"/>
        </dgm:presLayoutVars>
      </dgm:prSet>
      <dgm:spPr/>
    </dgm:pt>
    <dgm:pt modelId="{4F16A00E-5920-4D3F-A271-0100CBAEA9A1}" type="pres">
      <dgm:prSet presAssocID="{C5A891C4-C5B1-4823-A6E8-B9DCEEEFA1F6}" presName="level3hierChild" presStyleCnt="0"/>
      <dgm:spPr/>
    </dgm:pt>
    <dgm:pt modelId="{FFC7766D-4514-4F21-87DC-24D12C347DE5}" type="pres">
      <dgm:prSet presAssocID="{3ADD3CD8-359A-4D1D-8287-E2B9CA4CB7DB}" presName="conn2-1" presStyleLbl="parChTrans1D4" presStyleIdx="2" presStyleCnt="4"/>
      <dgm:spPr/>
    </dgm:pt>
    <dgm:pt modelId="{98F17471-5FC3-4A0A-8C5E-15E849E2D6C0}" type="pres">
      <dgm:prSet presAssocID="{3ADD3CD8-359A-4D1D-8287-E2B9CA4CB7DB}" presName="connTx" presStyleLbl="parChTrans1D4" presStyleIdx="2" presStyleCnt="4"/>
      <dgm:spPr/>
    </dgm:pt>
    <dgm:pt modelId="{01B2DC1B-549C-4C1B-AB97-236F5379D6A0}" type="pres">
      <dgm:prSet presAssocID="{319B71E0-0382-461F-8B29-2C0E1108482C}" presName="root2" presStyleCnt="0"/>
      <dgm:spPr/>
    </dgm:pt>
    <dgm:pt modelId="{1A9C19A1-BE7F-4D13-8E16-2EDDEBF52006}" type="pres">
      <dgm:prSet presAssocID="{319B71E0-0382-461F-8B29-2C0E1108482C}" presName="LevelTwoTextNode" presStyleLbl="node4" presStyleIdx="2" presStyleCnt="4" custLinFactNeighborX="-2241" custLinFactNeighborY="33476">
        <dgm:presLayoutVars>
          <dgm:chPref val="3"/>
        </dgm:presLayoutVars>
      </dgm:prSet>
      <dgm:spPr/>
    </dgm:pt>
    <dgm:pt modelId="{BDC649AB-89A6-46F1-A8A0-8079057D3BAF}" type="pres">
      <dgm:prSet presAssocID="{319B71E0-0382-461F-8B29-2C0E1108482C}" presName="level3hierChild" presStyleCnt="0"/>
      <dgm:spPr/>
    </dgm:pt>
    <dgm:pt modelId="{3712FD65-C7C5-46C2-8670-F7DF38672797}" type="pres">
      <dgm:prSet presAssocID="{B77D9A70-2242-4C40-B699-B461AE7454B1}" presName="conn2-1" presStyleLbl="parChTrans1D4" presStyleIdx="3" presStyleCnt="4"/>
      <dgm:spPr/>
    </dgm:pt>
    <dgm:pt modelId="{7F1E7B61-72FA-4687-A40E-36789C59BE20}" type="pres">
      <dgm:prSet presAssocID="{B77D9A70-2242-4C40-B699-B461AE7454B1}" presName="connTx" presStyleLbl="parChTrans1D4" presStyleIdx="3" presStyleCnt="4"/>
      <dgm:spPr/>
    </dgm:pt>
    <dgm:pt modelId="{AF6C51F6-B545-44C3-B1CA-6D00CB9DAC19}" type="pres">
      <dgm:prSet presAssocID="{903039F1-5ABE-458C-8F54-BFFA3054870B}" presName="root2" presStyleCnt="0"/>
      <dgm:spPr/>
    </dgm:pt>
    <dgm:pt modelId="{CC63976A-5063-467D-852E-79463D850591}" type="pres">
      <dgm:prSet presAssocID="{903039F1-5ABE-458C-8F54-BFFA3054870B}" presName="LevelTwoTextNode" presStyleLbl="node4" presStyleIdx="3" presStyleCnt="4" custLinFactNeighborX="-2241" custLinFactNeighborY="43846">
        <dgm:presLayoutVars>
          <dgm:chPref val="3"/>
        </dgm:presLayoutVars>
      </dgm:prSet>
      <dgm:spPr/>
    </dgm:pt>
    <dgm:pt modelId="{86487566-EDAD-4825-AD59-EB7AE8DC7B54}" type="pres">
      <dgm:prSet presAssocID="{903039F1-5ABE-458C-8F54-BFFA3054870B}" presName="level3hierChild" presStyleCnt="0"/>
      <dgm:spPr/>
    </dgm:pt>
  </dgm:ptLst>
  <dgm:cxnLst>
    <dgm:cxn modelId="{2F4AFD02-E7B6-4CCD-92DA-8CBAED09BC38}" srcId="{D74E4CB4-156D-4DCD-97BC-E1E8981C7E1A}" destId="{F7C8C971-1317-4EA7-A95E-2AB6E2BCC0A2}" srcOrd="0" destOrd="0" parTransId="{E17C15DF-607D-433A-8089-E6FB50FB1695}" sibTransId="{62E45767-71C5-47AC-B22E-25460C55C6EC}"/>
    <dgm:cxn modelId="{E38F340D-902B-4479-B150-258049F4F87F}" type="presOf" srcId="{280A9310-26E9-49C3-B7B9-7BBEAC724B29}" destId="{4F9966DF-B2C4-43DB-B8C1-0DEB7FB73569}" srcOrd="0" destOrd="0" presId="urn:microsoft.com/office/officeart/2005/8/layout/hierarchy2"/>
    <dgm:cxn modelId="{F4472C14-4AE2-4534-B404-096437166A6F}" srcId="{D74E4CB4-156D-4DCD-97BC-E1E8981C7E1A}" destId="{432028B2-CD62-44B6-BFCC-13C2CB8A6F4E}" srcOrd="2" destOrd="0" parTransId="{280A9310-26E9-49C3-B7B9-7BBEAC724B29}" sibTransId="{C57FD77E-79E1-47D8-B9C8-C6122CBCFC51}"/>
    <dgm:cxn modelId="{911C7829-48CB-4519-B4B7-641BAE91E11E}" srcId="{8471CAC1-8CCA-439F-8943-7C296D287A8C}" destId="{D74E4CB4-156D-4DCD-97BC-E1E8981C7E1A}" srcOrd="0" destOrd="0" parTransId="{6EC1AA58-BC16-4D90-91D6-138B4E594D39}" sibTransId="{EF214D2A-89DB-4951-8D11-2969DFFE3825}"/>
    <dgm:cxn modelId="{D1A50635-8ED6-43F7-B075-0384B0D5DC7A}" type="presOf" srcId="{8949DDB2-D522-4B93-A909-C264E4A15F4D}" destId="{D13D040C-B3E9-41E9-8CF3-E1905B386E0F}" srcOrd="1" destOrd="0" presId="urn:microsoft.com/office/officeart/2005/8/layout/hierarchy2"/>
    <dgm:cxn modelId="{63E8B136-B514-49DF-A387-4D55DEEC7E39}" type="presOf" srcId="{319B71E0-0382-461F-8B29-2C0E1108482C}" destId="{1A9C19A1-BE7F-4D13-8E16-2EDDEBF52006}" srcOrd="0" destOrd="0" presId="urn:microsoft.com/office/officeart/2005/8/layout/hierarchy2"/>
    <dgm:cxn modelId="{4FC50A38-3CF6-40A4-8577-7B4AE10C10E7}" type="presOf" srcId="{280A9310-26E9-49C3-B7B9-7BBEAC724B29}" destId="{A515824D-8F4C-4C7B-8871-A44B0A6FAF3B}" srcOrd="1" destOrd="0" presId="urn:microsoft.com/office/officeart/2005/8/layout/hierarchy2"/>
    <dgm:cxn modelId="{8079FF39-23D2-44DC-8627-C1CE6C5EF68C}" type="presOf" srcId="{36143D1C-D7C2-4CC4-B03C-3DEF52453109}" destId="{ECB99B1B-0655-456D-B94B-308182479EE8}" srcOrd="0" destOrd="0" presId="urn:microsoft.com/office/officeart/2005/8/layout/hierarchy2"/>
    <dgm:cxn modelId="{373AEE68-8B7C-47E3-B3A8-61741686815E}" type="presOf" srcId="{9D100B0A-F516-4AB8-86E4-6CEEA730ED8B}" destId="{265A35C9-2556-441B-B301-DD1F62E16C1E}" srcOrd="0" destOrd="0" presId="urn:microsoft.com/office/officeart/2005/8/layout/hierarchy2"/>
    <dgm:cxn modelId="{E39B5E69-8EF4-4D7F-AE38-89FC1C03BDC3}" type="presOf" srcId="{B0E42C1F-4D67-414C-B654-A09D5E3D3E7D}" destId="{1ACB1EBB-47A9-473B-A58E-B2A51955271A}" srcOrd="0" destOrd="0" presId="urn:microsoft.com/office/officeart/2005/8/layout/hierarchy2"/>
    <dgm:cxn modelId="{9C524F69-057C-4F25-B2B7-7642426DA215}" type="presOf" srcId="{8A170BCE-2767-4756-954C-21E7E2E7D6B1}" destId="{C2954C7F-E4D4-4C41-B9BB-FAD3914763F7}" srcOrd="1" destOrd="0" presId="urn:microsoft.com/office/officeart/2005/8/layout/hierarchy2"/>
    <dgm:cxn modelId="{09EC134A-7246-4A1B-8017-406C8F13CDDF}" srcId="{391F42B9-B39E-4240-923D-12466886A466}" destId="{903039F1-5ABE-458C-8F54-BFFA3054870B}" srcOrd="3" destOrd="0" parTransId="{B77D9A70-2242-4C40-B699-B461AE7454B1}" sibTransId="{813BBFA7-DB87-45F1-AD5C-4A881A15BECC}"/>
    <dgm:cxn modelId="{86A9836A-3609-41CC-994B-11ADFCD0216A}" srcId="{432028B2-CD62-44B6-BFCC-13C2CB8A6F4E}" destId="{391F42B9-B39E-4240-923D-12466886A466}" srcOrd="0" destOrd="0" parTransId="{8A170BCE-2767-4756-954C-21E7E2E7D6B1}" sibTransId="{A22B755B-45F0-429A-9E34-1A5BE8CC28D0}"/>
    <dgm:cxn modelId="{B8D5D470-C20B-4188-95C3-83EEDA2F5A58}" type="presOf" srcId="{432028B2-CD62-44B6-BFCC-13C2CB8A6F4E}" destId="{AAC3D395-B688-406A-95F1-199B424AB11C}" srcOrd="0" destOrd="0" presId="urn:microsoft.com/office/officeart/2005/8/layout/hierarchy2"/>
    <dgm:cxn modelId="{B864CD54-F8AE-40D1-9481-6991A6BADFC8}" type="presOf" srcId="{3ADD3CD8-359A-4D1D-8287-E2B9CA4CB7DB}" destId="{FFC7766D-4514-4F21-87DC-24D12C347DE5}" srcOrd="0" destOrd="0" presId="urn:microsoft.com/office/officeart/2005/8/layout/hierarchy2"/>
    <dgm:cxn modelId="{C1266A75-E042-47E9-9E5D-954AFD58C434}" type="presOf" srcId="{A2F98DCA-D4D4-4A5D-A1E8-FAF80F2AE370}" destId="{B7E7AD64-74F1-473A-9C61-4EC1836B01D9}" srcOrd="0" destOrd="0" presId="urn:microsoft.com/office/officeart/2005/8/layout/hierarchy2"/>
    <dgm:cxn modelId="{745F4D58-8DC0-4D72-93ED-E6D124CAF39A}" type="presOf" srcId="{B77D9A70-2242-4C40-B699-B461AE7454B1}" destId="{7F1E7B61-72FA-4687-A40E-36789C59BE20}" srcOrd="1" destOrd="0" presId="urn:microsoft.com/office/officeart/2005/8/layout/hierarchy2"/>
    <dgm:cxn modelId="{4CE3308A-B0D2-4A3F-9474-0EBE9216CBE8}" type="presOf" srcId="{36143D1C-D7C2-4CC4-B03C-3DEF52453109}" destId="{4236078E-D2A8-4B4D-B6AD-71C624DC3973}" srcOrd="1" destOrd="0" presId="urn:microsoft.com/office/officeart/2005/8/layout/hierarchy2"/>
    <dgm:cxn modelId="{A4E9558B-3893-4388-AADF-D6A0C5DCD9A5}" type="presOf" srcId="{903039F1-5ABE-458C-8F54-BFFA3054870B}" destId="{CC63976A-5063-467D-852E-79463D850591}" srcOrd="0" destOrd="0" presId="urn:microsoft.com/office/officeart/2005/8/layout/hierarchy2"/>
    <dgm:cxn modelId="{E0ACB98B-4457-4C6C-A993-F6D290E80493}" srcId="{391F42B9-B39E-4240-923D-12466886A466}" destId="{C5A891C4-C5B1-4823-A6E8-B9DCEEEFA1F6}" srcOrd="1" destOrd="0" parTransId="{B0E42C1F-4D67-414C-B654-A09D5E3D3E7D}" sibTransId="{ABDCCF9F-8011-47A2-AE6E-88C51A4774C3}"/>
    <dgm:cxn modelId="{E8C5BB9A-FD1B-4B17-950F-1D9B95743E56}" type="presOf" srcId="{B0E42C1F-4D67-414C-B654-A09D5E3D3E7D}" destId="{F79DB61B-AA2D-4B9A-97F3-54186212B58B}" srcOrd="1" destOrd="0" presId="urn:microsoft.com/office/officeart/2005/8/layout/hierarchy2"/>
    <dgm:cxn modelId="{2080B89F-64A3-4FE0-8D1C-75FA9F38016B}" type="presOf" srcId="{C5A891C4-C5B1-4823-A6E8-B9DCEEEFA1F6}" destId="{38D7073B-8B28-4382-A87A-C0E82969AB52}" srcOrd="0" destOrd="0" presId="urn:microsoft.com/office/officeart/2005/8/layout/hierarchy2"/>
    <dgm:cxn modelId="{C2B043A6-15B3-406D-95F6-2A580C98D630}" type="presOf" srcId="{B77D9A70-2242-4C40-B699-B461AE7454B1}" destId="{3712FD65-C7C5-46C2-8670-F7DF38672797}" srcOrd="0" destOrd="0" presId="urn:microsoft.com/office/officeart/2005/8/layout/hierarchy2"/>
    <dgm:cxn modelId="{571643A9-CA07-438B-B818-0039E5995A3B}" type="presOf" srcId="{E17C15DF-607D-433A-8089-E6FB50FB1695}" destId="{58A58CA6-7F75-4445-8D44-FD09C6BE5E05}" srcOrd="1" destOrd="0" presId="urn:microsoft.com/office/officeart/2005/8/layout/hierarchy2"/>
    <dgm:cxn modelId="{FC6518B4-2E5F-425B-8064-3EA06376A265}" type="presOf" srcId="{3ADD3CD8-359A-4D1D-8287-E2B9CA4CB7DB}" destId="{98F17471-5FC3-4A0A-8C5E-15E849E2D6C0}" srcOrd="1" destOrd="0" presId="urn:microsoft.com/office/officeart/2005/8/layout/hierarchy2"/>
    <dgm:cxn modelId="{319018BC-9F3E-4F63-8903-C532F9F61A63}" type="presOf" srcId="{8949DDB2-D522-4B93-A909-C264E4A15F4D}" destId="{C367B7FA-E962-4253-8332-8A9F928D34C5}" srcOrd="0" destOrd="0" presId="urn:microsoft.com/office/officeart/2005/8/layout/hierarchy2"/>
    <dgm:cxn modelId="{5F2240D6-D042-48B8-B7FF-1B12861F1EC4}" type="presOf" srcId="{E17C15DF-607D-433A-8089-E6FB50FB1695}" destId="{B6AA8E84-366F-40C2-8156-9AC893AFB102}" srcOrd="0" destOrd="0" presId="urn:microsoft.com/office/officeart/2005/8/layout/hierarchy2"/>
    <dgm:cxn modelId="{15928ED6-7DD4-4C9C-BEB1-91DABFD2FC0E}" type="presOf" srcId="{F7C8C971-1317-4EA7-A95E-2AB6E2BCC0A2}" destId="{226E325F-1AAD-4B33-86F0-2305AADEADD1}" srcOrd="0" destOrd="0" presId="urn:microsoft.com/office/officeart/2005/8/layout/hierarchy2"/>
    <dgm:cxn modelId="{3E6FE0DB-7A59-4BEA-80EB-BAA2B05FCE51}" srcId="{391F42B9-B39E-4240-923D-12466886A466}" destId="{9D100B0A-F516-4AB8-86E4-6CEEA730ED8B}" srcOrd="0" destOrd="0" parTransId="{8949DDB2-D522-4B93-A909-C264E4A15F4D}" sibTransId="{7FF660B1-27E0-450A-ACEA-0F163C794E45}"/>
    <dgm:cxn modelId="{D23678DF-410D-40CE-8868-87477247E513}" type="presOf" srcId="{8471CAC1-8CCA-439F-8943-7C296D287A8C}" destId="{6783315E-4135-47E2-A957-C6952DC4B7EC}" srcOrd="0" destOrd="0" presId="urn:microsoft.com/office/officeart/2005/8/layout/hierarchy2"/>
    <dgm:cxn modelId="{586440E1-6509-402A-970E-D39BE78AA191}" type="presOf" srcId="{391F42B9-B39E-4240-923D-12466886A466}" destId="{A8E56738-3AA6-4735-8BCF-A523B94B8E57}" srcOrd="0" destOrd="0" presId="urn:microsoft.com/office/officeart/2005/8/layout/hierarchy2"/>
    <dgm:cxn modelId="{7216DAE2-A71D-4335-956D-0D9C851716A4}" type="presOf" srcId="{D74E4CB4-156D-4DCD-97BC-E1E8981C7E1A}" destId="{E31038BA-8BD0-4BC9-A166-DEEC733F790C}" srcOrd="0" destOrd="0" presId="urn:microsoft.com/office/officeart/2005/8/layout/hierarchy2"/>
    <dgm:cxn modelId="{534805ED-023D-4B4C-9801-5BA2A645A166}" srcId="{D74E4CB4-156D-4DCD-97BC-E1E8981C7E1A}" destId="{A2F98DCA-D4D4-4A5D-A1E8-FAF80F2AE370}" srcOrd="1" destOrd="0" parTransId="{36143D1C-D7C2-4CC4-B03C-3DEF52453109}" sibTransId="{B6320165-60E7-420D-83EB-C40DC5167539}"/>
    <dgm:cxn modelId="{19836AEF-DAB2-44CD-8CE1-5814F4C45018}" srcId="{391F42B9-B39E-4240-923D-12466886A466}" destId="{319B71E0-0382-461F-8B29-2C0E1108482C}" srcOrd="2" destOrd="0" parTransId="{3ADD3CD8-359A-4D1D-8287-E2B9CA4CB7DB}" sibTransId="{0AC87165-0404-4F87-A704-524D3E7F9D6D}"/>
    <dgm:cxn modelId="{C04CDBF5-E0C1-41D1-B43D-51741BDE1B9D}" type="presOf" srcId="{8A170BCE-2767-4756-954C-21E7E2E7D6B1}" destId="{9C621163-7872-4B0B-8AEC-318245C4C9F3}" srcOrd="0" destOrd="0" presId="urn:microsoft.com/office/officeart/2005/8/layout/hierarchy2"/>
    <dgm:cxn modelId="{5785C1E7-A47D-4EE0-8D38-644698A928AF}" type="presParOf" srcId="{6783315E-4135-47E2-A957-C6952DC4B7EC}" destId="{3A2B9E95-3799-4EF8-98A8-F81D549CDAD3}" srcOrd="0" destOrd="0" presId="urn:microsoft.com/office/officeart/2005/8/layout/hierarchy2"/>
    <dgm:cxn modelId="{36F73EE3-1994-42A4-B26A-239F76CA8115}" type="presParOf" srcId="{3A2B9E95-3799-4EF8-98A8-F81D549CDAD3}" destId="{E31038BA-8BD0-4BC9-A166-DEEC733F790C}" srcOrd="0" destOrd="0" presId="urn:microsoft.com/office/officeart/2005/8/layout/hierarchy2"/>
    <dgm:cxn modelId="{C3D7BA89-1367-43F9-B62A-1707B3A88E68}" type="presParOf" srcId="{3A2B9E95-3799-4EF8-98A8-F81D549CDAD3}" destId="{B7A47D69-F7BB-443E-93C9-2FAE951EB11A}" srcOrd="1" destOrd="0" presId="urn:microsoft.com/office/officeart/2005/8/layout/hierarchy2"/>
    <dgm:cxn modelId="{49E6D359-9773-4F9A-9A38-7F0002E075B1}" type="presParOf" srcId="{B7A47D69-F7BB-443E-93C9-2FAE951EB11A}" destId="{B6AA8E84-366F-40C2-8156-9AC893AFB102}" srcOrd="0" destOrd="0" presId="urn:microsoft.com/office/officeart/2005/8/layout/hierarchy2"/>
    <dgm:cxn modelId="{2A04A109-FB28-4A0D-A36B-4E9269D7A14A}" type="presParOf" srcId="{B6AA8E84-366F-40C2-8156-9AC893AFB102}" destId="{58A58CA6-7F75-4445-8D44-FD09C6BE5E05}" srcOrd="0" destOrd="0" presId="urn:microsoft.com/office/officeart/2005/8/layout/hierarchy2"/>
    <dgm:cxn modelId="{1221F919-9B84-4B05-8AE7-0D75120B64F3}" type="presParOf" srcId="{B7A47D69-F7BB-443E-93C9-2FAE951EB11A}" destId="{71388EC0-21C5-48E2-BCB2-F81C91174BAD}" srcOrd="1" destOrd="0" presId="urn:microsoft.com/office/officeart/2005/8/layout/hierarchy2"/>
    <dgm:cxn modelId="{BF8B78CF-D63E-439D-9337-2F891A332EC8}" type="presParOf" srcId="{71388EC0-21C5-48E2-BCB2-F81C91174BAD}" destId="{226E325F-1AAD-4B33-86F0-2305AADEADD1}" srcOrd="0" destOrd="0" presId="urn:microsoft.com/office/officeart/2005/8/layout/hierarchy2"/>
    <dgm:cxn modelId="{51F50F72-7FE0-4323-AC4C-F262A8C845F8}" type="presParOf" srcId="{71388EC0-21C5-48E2-BCB2-F81C91174BAD}" destId="{BC0936F1-6C5A-4136-A570-0CA9D9742A73}" srcOrd="1" destOrd="0" presId="urn:microsoft.com/office/officeart/2005/8/layout/hierarchy2"/>
    <dgm:cxn modelId="{373D6088-2E75-4C00-B61D-3C0E3B89CD27}" type="presParOf" srcId="{B7A47D69-F7BB-443E-93C9-2FAE951EB11A}" destId="{ECB99B1B-0655-456D-B94B-308182479EE8}" srcOrd="2" destOrd="0" presId="urn:microsoft.com/office/officeart/2005/8/layout/hierarchy2"/>
    <dgm:cxn modelId="{D29C58F6-DF5B-4AF3-869B-1581D684765E}" type="presParOf" srcId="{ECB99B1B-0655-456D-B94B-308182479EE8}" destId="{4236078E-D2A8-4B4D-B6AD-71C624DC3973}" srcOrd="0" destOrd="0" presId="urn:microsoft.com/office/officeart/2005/8/layout/hierarchy2"/>
    <dgm:cxn modelId="{8B27A646-371E-4473-BD49-65CE9356E321}" type="presParOf" srcId="{B7A47D69-F7BB-443E-93C9-2FAE951EB11A}" destId="{86AFB6F4-EA5D-4209-A53A-2D26DF971DE4}" srcOrd="3" destOrd="0" presId="urn:microsoft.com/office/officeart/2005/8/layout/hierarchy2"/>
    <dgm:cxn modelId="{40BCDAB1-EE2F-4884-9811-4D4DF30C457B}" type="presParOf" srcId="{86AFB6F4-EA5D-4209-A53A-2D26DF971DE4}" destId="{B7E7AD64-74F1-473A-9C61-4EC1836B01D9}" srcOrd="0" destOrd="0" presId="urn:microsoft.com/office/officeart/2005/8/layout/hierarchy2"/>
    <dgm:cxn modelId="{7B243DC1-5CCF-426E-A9A1-C6B901AE2E78}" type="presParOf" srcId="{86AFB6F4-EA5D-4209-A53A-2D26DF971DE4}" destId="{C677A6EB-155B-48F3-B9E5-5D980A4E74D7}" srcOrd="1" destOrd="0" presId="urn:microsoft.com/office/officeart/2005/8/layout/hierarchy2"/>
    <dgm:cxn modelId="{6D926C64-7DF3-4BA0-9609-7EC47C5F59D6}" type="presParOf" srcId="{B7A47D69-F7BB-443E-93C9-2FAE951EB11A}" destId="{4F9966DF-B2C4-43DB-B8C1-0DEB7FB73569}" srcOrd="4" destOrd="0" presId="urn:microsoft.com/office/officeart/2005/8/layout/hierarchy2"/>
    <dgm:cxn modelId="{775DB37E-7706-4347-8711-07C3DE4467D1}" type="presParOf" srcId="{4F9966DF-B2C4-43DB-B8C1-0DEB7FB73569}" destId="{A515824D-8F4C-4C7B-8871-A44B0A6FAF3B}" srcOrd="0" destOrd="0" presId="urn:microsoft.com/office/officeart/2005/8/layout/hierarchy2"/>
    <dgm:cxn modelId="{F7F4C052-F91A-4946-8FBB-DD97EF003096}" type="presParOf" srcId="{B7A47D69-F7BB-443E-93C9-2FAE951EB11A}" destId="{33407A15-9279-4122-AB82-4D6ADF037E9C}" srcOrd="5" destOrd="0" presId="urn:microsoft.com/office/officeart/2005/8/layout/hierarchy2"/>
    <dgm:cxn modelId="{66093242-6405-4091-B3BD-6A5968F7EB2A}" type="presParOf" srcId="{33407A15-9279-4122-AB82-4D6ADF037E9C}" destId="{AAC3D395-B688-406A-95F1-199B424AB11C}" srcOrd="0" destOrd="0" presId="urn:microsoft.com/office/officeart/2005/8/layout/hierarchy2"/>
    <dgm:cxn modelId="{B9F2DEE3-9883-4983-AB3C-B43DAD3BF599}" type="presParOf" srcId="{33407A15-9279-4122-AB82-4D6ADF037E9C}" destId="{4139F203-D28E-4C8A-A2B8-6BBF3EE84DC1}" srcOrd="1" destOrd="0" presId="urn:microsoft.com/office/officeart/2005/8/layout/hierarchy2"/>
    <dgm:cxn modelId="{A5AC1F19-9E58-4A7A-8A0E-F4C35294ED73}" type="presParOf" srcId="{4139F203-D28E-4C8A-A2B8-6BBF3EE84DC1}" destId="{9C621163-7872-4B0B-8AEC-318245C4C9F3}" srcOrd="0" destOrd="0" presId="urn:microsoft.com/office/officeart/2005/8/layout/hierarchy2"/>
    <dgm:cxn modelId="{A1A8D045-857F-4A63-9B6A-2E122EA701A5}" type="presParOf" srcId="{9C621163-7872-4B0B-8AEC-318245C4C9F3}" destId="{C2954C7F-E4D4-4C41-B9BB-FAD3914763F7}" srcOrd="0" destOrd="0" presId="urn:microsoft.com/office/officeart/2005/8/layout/hierarchy2"/>
    <dgm:cxn modelId="{75348E87-F57C-47AB-8DCD-447B6B94E42A}" type="presParOf" srcId="{4139F203-D28E-4C8A-A2B8-6BBF3EE84DC1}" destId="{63BC9EFE-A473-4E0B-9FEB-65468F4A867F}" srcOrd="1" destOrd="0" presId="urn:microsoft.com/office/officeart/2005/8/layout/hierarchy2"/>
    <dgm:cxn modelId="{BC2E7641-2971-4D0B-A839-6B0FA2FD0EB7}" type="presParOf" srcId="{63BC9EFE-A473-4E0B-9FEB-65468F4A867F}" destId="{A8E56738-3AA6-4735-8BCF-A523B94B8E57}" srcOrd="0" destOrd="0" presId="urn:microsoft.com/office/officeart/2005/8/layout/hierarchy2"/>
    <dgm:cxn modelId="{3DAF0169-CF27-4BD3-A1C4-3E3FE87F944C}" type="presParOf" srcId="{63BC9EFE-A473-4E0B-9FEB-65468F4A867F}" destId="{CB2DCC3A-68DD-403F-A671-DC4DE27D682F}" srcOrd="1" destOrd="0" presId="urn:microsoft.com/office/officeart/2005/8/layout/hierarchy2"/>
    <dgm:cxn modelId="{B632C198-8070-456E-80EF-9915DAE1B19D}" type="presParOf" srcId="{CB2DCC3A-68DD-403F-A671-DC4DE27D682F}" destId="{C367B7FA-E962-4253-8332-8A9F928D34C5}" srcOrd="0" destOrd="0" presId="urn:microsoft.com/office/officeart/2005/8/layout/hierarchy2"/>
    <dgm:cxn modelId="{BB15569B-F5D7-49D4-9936-B48A237790C3}" type="presParOf" srcId="{C367B7FA-E962-4253-8332-8A9F928D34C5}" destId="{D13D040C-B3E9-41E9-8CF3-E1905B386E0F}" srcOrd="0" destOrd="0" presId="urn:microsoft.com/office/officeart/2005/8/layout/hierarchy2"/>
    <dgm:cxn modelId="{65C6BE0A-71A6-4919-BE89-75CBC003A672}" type="presParOf" srcId="{CB2DCC3A-68DD-403F-A671-DC4DE27D682F}" destId="{881C4091-9D2E-4E26-90BD-B224C535E58D}" srcOrd="1" destOrd="0" presId="urn:microsoft.com/office/officeart/2005/8/layout/hierarchy2"/>
    <dgm:cxn modelId="{71D8B251-BD71-44DA-B8F2-611A862B7737}" type="presParOf" srcId="{881C4091-9D2E-4E26-90BD-B224C535E58D}" destId="{265A35C9-2556-441B-B301-DD1F62E16C1E}" srcOrd="0" destOrd="0" presId="urn:microsoft.com/office/officeart/2005/8/layout/hierarchy2"/>
    <dgm:cxn modelId="{0B46D72D-9F73-43F0-89D7-3F9732D19B73}" type="presParOf" srcId="{881C4091-9D2E-4E26-90BD-B224C535E58D}" destId="{1F36B146-4A1B-4367-A338-2D79F84DD590}" srcOrd="1" destOrd="0" presId="urn:microsoft.com/office/officeart/2005/8/layout/hierarchy2"/>
    <dgm:cxn modelId="{3DF15A58-372E-4A8A-A2AF-92680C53B2D7}" type="presParOf" srcId="{CB2DCC3A-68DD-403F-A671-DC4DE27D682F}" destId="{1ACB1EBB-47A9-473B-A58E-B2A51955271A}" srcOrd="2" destOrd="0" presId="urn:microsoft.com/office/officeart/2005/8/layout/hierarchy2"/>
    <dgm:cxn modelId="{071815C9-5BA0-4415-9994-E2625FB9D23A}" type="presParOf" srcId="{1ACB1EBB-47A9-473B-A58E-B2A51955271A}" destId="{F79DB61B-AA2D-4B9A-97F3-54186212B58B}" srcOrd="0" destOrd="0" presId="urn:microsoft.com/office/officeart/2005/8/layout/hierarchy2"/>
    <dgm:cxn modelId="{18903550-D146-4922-BD07-12581B31AFBC}" type="presParOf" srcId="{CB2DCC3A-68DD-403F-A671-DC4DE27D682F}" destId="{98200A44-8E28-4D6A-9949-56A5AB4E3424}" srcOrd="3" destOrd="0" presId="urn:microsoft.com/office/officeart/2005/8/layout/hierarchy2"/>
    <dgm:cxn modelId="{39C59034-592D-45E3-87FC-6842DF5C52DB}" type="presParOf" srcId="{98200A44-8E28-4D6A-9949-56A5AB4E3424}" destId="{38D7073B-8B28-4382-A87A-C0E82969AB52}" srcOrd="0" destOrd="0" presId="urn:microsoft.com/office/officeart/2005/8/layout/hierarchy2"/>
    <dgm:cxn modelId="{50E1765C-55DD-4594-BA1D-9ABCB06BEC5D}" type="presParOf" srcId="{98200A44-8E28-4D6A-9949-56A5AB4E3424}" destId="{4F16A00E-5920-4D3F-A271-0100CBAEA9A1}" srcOrd="1" destOrd="0" presId="urn:microsoft.com/office/officeart/2005/8/layout/hierarchy2"/>
    <dgm:cxn modelId="{28C39170-48C2-4C90-8F48-5B79BEA41741}" type="presParOf" srcId="{CB2DCC3A-68DD-403F-A671-DC4DE27D682F}" destId="{FFC7766D-4514-4F21-87DC-24D12C347DE5}" srcOrd="4" destOrd="0" presId="urn:microsoft.com/office/officeart/2005/8/layout/hierarchy2"/>
    <dgm:cxn modelId="{31F0D6E9-A468-49AD-B38A-2BF07D98541D}" type="presParOf" srcId="{FFC7766D-4514-4F21-87DC-24D12C347DE5}" destId="{98F17471-5FC3-4A0A-8C5E-15E849E2D6C0}" srcOrd="0" destOrd="0" presId="urn:microsoft.com/office/officeart/2005/8/layout/hierarchy2"/>
    <dgm:cxn modelId="{7370C68B-72C1-470F-89A8-FB43FBA72A53}" type="presParOf" srcId="{CB2DCC3A-68DD-403F-A671-DC4DE27D682F}" destId="{01B2DC1B-549C-4C1B-AB97-236F5379D6A0}" srcOrd="5" destOrd="0" presId="urn:microsoft.com/office/officeart/2005/8/layout/hierarchy2"/>
    <dgm:cxn modelId="{5C627AE9-DD88-4D0F-98CF-D75C06863D3F}" type="presParOf" srcId="{01B2DC1B-549C-4C1B-AB97-236F5379D6A0}" destId="{1A9C19A1-BE7F-4D13-8E16-2EDDEBF52006}" srcOrd="0" destOrd="0" presId="urn:microsoft.com/office/officeart/2005/8/layout/hierarchy2"/>
    <dgm:cxn modelId="{9BA3F0A1-1ABC-470E-A459-846809F3BD0C}" type="presParOf" srcId="{01B2DC1B-549C-4C1B-AB97-236F5379D6A0}" destId="{BDC649AB-89A6-46F1-A8A0-8079057D3BAF}" srcOrd="1" destOrd="0" presId="urn:microsoft.com/office/officeart/2005/8/layout/hierarchy2"/>
    <dgm:cxn modelId="{8A84B48A-422B-43E4-8EB6-5E6EBF0A517C}" type="presParOf" srcId="{CB2DCC3A-68DD-403F-A671-DC4DE27D682F}" destId="{3712FD65-C7C5-46C2-8670-F7DF38672797}" srcOrd="6" destOrd="0" presId="urn:microsoft.com/office/officeart/2005/8/layout/hierarchy2"/>
    <dgm:cxn modelId="{419C3A1F-72BB-485C-8C32-D588D4F3703C}" type="presParOf" srcId="{3712FD65-C7C5-46C2-8670-F7DF38672797}" destId="{7F1E7B61-72FA-4687-A40E-36789C59BE20}" srcOrd="0" destOrd="0" presId="urn:microsoft.com/office/officeart/2005/8/layout/hierarchy2"/>
    <dgm:cxn modelId="{FF316319-ACD9-4F52-9F64-276DC835F9BF}" type="presParOf" srcId="{CB2DCC3A-68DD-403F-A671-DC4DE27D682F}" destId="{AF6C51F6-B545-44C3-B1CA-6D00CB9DAC19}" srcOrd="7" destOrd="0" presId="urn:microsoft.com/office/officeart/2005/8/layout/hierarchy2"/>
    <dgm:cxn modelId="{417A51F5-3839-417F-9C14-B618B6E944A3}" type="presParOf" srcId="{AF6C51F6-B545-44C3-B1CA-6D00CB9DAC19}" destId="{CC63976A-5063-467D-852E-79463D850591}" srcOrd="0" destOrd="0" presId="urn:microsoft.com/office/officeart/2005/8/layout/hierarchy2"/>
    <dgm:cxn modelId="{791C3F5F-43DA-4C9E-AA99-BF3801F2C88C}" type="presParOf" srcId="{AF6C51F6-B545-44C3-B1CA-6D00CB9DAC19}" destId="{86487566-EDAD-4825-AD59-EB7AE8DC7B54}"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1353B5-45B9-4562-9371-37438FE991E1}" type="doc">
      <dgm:prSet loTypeId="urn:microsoft.com/office/officeart/2005/8/layout/hProcess7#1" loCatId="list" qsTypeId="urn:microsoft.com/office/officeart/2005/8/quickstyle/simple2" qsCatId="simple" csTypeId="urn:microsoft.com/office/officeart/2005/8/colors/colorful1" csCatId="colorful" phldr="1"/>
      <dgm:spPr/>
      <dgm:t>
        <a:bodyPr/>
        <a:lstStyle/>
        <a:p>
          <a:endParaRPr lang="es-AR"/>
        </a:p>
      </dgm:t>
    </dgm:pt>
    <dgm:pt modelId="{6913E7DF-BAC4-4E18-96EA-CDB8046EE261}">
      <dgm:prSet phldrT="[Texto]"/>
      <dgm:spPr/>
      <dgm:t>
        <a:bodyPr/>
        <a:lstStyle/>
        <a:p>
          <a:r>
            <a:rPr lang="es-ES" dirty="0"/>
            <a:t>CCT</a:t>
          </a:r>
          <a:endParaRPr lang="es-AR" dirty="0"/>
        </a:p>
      </dgm:t>
    </dgm:pt>
    <dgm:pt modelId="{68F9BDB3-F3DB-4B54-A5FE-3E4CD0D77B28}" type="parTrans" cxnId="{0AEA4180-DC04-47B0-8B2A-03E6D11DD610}">
      <dgm:prSet/>
      <dgm:spPr/>
      <dgm:t>
        <a:bodyPr/>
        <a:lstStyle/>
        <a:p>
          <a:endParaRPr lang="es-AR"/>
        </a:p>
      </dgm:t>
    </dgm:pt>
    <dgm:pt modelId="{F2662EF7-56C3-48B5-B7EE-0C70826AF24D}" type="sibTrans" cxnId="{0AEA4180-DC04-47B0-8B2A-03E6D11DD610}">
      <dgm:prSet/>
      <dgm:spPr/>
      <dgm:t>
        <a:bodyPr/>
        <a:lstStyle/>
        <a:p>
          <a:endParaRPr lang="es-AR"/>
        </a:p>
      </dgm:t>
    </dgm:pt>
    <dgm:pt modelId="{C297101B-83EB-418F-AA24-5A9086C3EFF7}">
      <dgm:prSet phldrT="[Texto]"/>
      <dgm:spPr/>
      <dgm:t>
        <a:bodyPr/>
        <a:lstStyle/>
        <a:p>
          <a:r>
            <a:rPr lang="es-ES" dirty="0"/>
            <a:t>Comercio</a:t>
          </a:r>
          <a:endParaRPr lang="es-AR" dirty="0"/>
        </a:p>
      </dgm:t>
    </dgm:pt>
    <dgm:pt modelId="{FE566926-6603-4C6E-B270-189BFC58F158}" type="parTrans" cxnId="{2B7C0B5A-67C4-4D71-93AD-3063AA28159B}">
      <dgm:prSet/>
      <dgm:spPr/>
      <dgm:t>
        <a:bodyPr/>
        <a:lstStyle/>
        <a:p>
          <a:endParaRPr lang="es-AR"/>
        </a:p>
      </dgm:t>
    </dgm:pt>
    <dgm:pt modelId="{56389DA5-95FD-4EA4-9591-2CCF1882CE32}" type="sibTrans" cxnId="{2B7C0B5A-67C4-4D71-93AD-3063AA28159B}">
      <dgm:prSet/>
      <dgm:spPr/>
      <dgm:t>
        <a:bodyPr/>
        <a:lstStyle/>
        <a:p>
          <a:endParaRPr lang="es-AR"/>
        </a:p>
      </dgm:t>
    </dgm:pt>
    <dgm:pt modelId="{22F2A711-E873-41A1-9328-576573C593E3}">
      <dgm:prSet phldrT="[Texto]"/>
      <dgm:spPr/>
      <dgm:t>
        <a:bodyPr/>
        <a:lstStyle/>
        <a:p>
          <a:r>
            <a:rPr lang="es-ES" dirty="0"/>
            <a:t>CCT</a:t>
          </a:r>
          <a:endParaRPr lang="es-AR" dirty="0"/>
        </a:p>
      </dgm:t>
    </dgm:pt>
    <dgm:pt modelId="{3B6967D7-9053-489E-91DE-AB6DA65DB0E1}" type="parTrans" cxnId="{B7B6055F-222D-4C6F-B92F-AE5F3112809C}">
      <dgm:prSet/>
      <dgm:spPr/>
      <dgm:t>
        <a:bodyPr/>
        <a:lstStyle/>
        <a:p>
          <a:endParaRPr lang="es-AR"/>
        </a:p>
      </dgm:t>
    </dgm:pt>
    <dgm:pt modelId="{E26C8110-A944-4BC2-A39C-4803AC8D9400}" type="sibTrans" cxnId="{B7B6055F-222D-4C6F-B92F-AE5F3112809C}">
      <dgm:prSet/>
      <dgm:spPr/>
      <dgm:t>
        <a:bodyPr/>
        <a:lstStyle/>
        <a:p>
          <a:endParaRPr lang="es-AR"/>
        </a:p>
      </dgm:t>
    </dgm:pt>
    <dgm:pt modelId="{1D8EB84B-0F91-4A5F-B254-A78F3CBBBF67}">
      <dgm:prSet phldrT="[Texto]"/>
      <dgm:spPr/>
      <dgm:t>
        <a:bodyPr/>
        <a:lstStyle/>
        <a:p>
          <a:r>
            <a:rPr lang="es-ES" dirty="0"/>
            <a:t>Sanidad</a:t>
          </a:r>
          <a:endParaRPr lang="es-AR" dirty="0"/>
        </a:p>
      </dgm:t>
    </dgm:pt>
    <dgm:pt modelId="{B7DAAB7A-79F6-43F6-8C8D-46003E23B994}" type="parTrans" cxnId="{E1DC9268-077F-48C3-8D4D-E8C2CEA2E50F}">
      <dgm:prSet/>
      <dgm:spPr/>
      <dgm:t>
        <a:bodyPr/>
        <a:lstStyle/>
        <a:p>
          <a:endParaRPr lang="es-AR"/>
        </a:p>
      </dgm:t>
    </dgm:pt>
    <dgm:pt modelId="{152DD7A6-5FBE-491B-B524-04BE41AF117D}" type="sibTrans" cxnId="{E1DC9268-077F-48C3-8D4D-E8C2CEA2E50F}">
      <dgm:prSet/>
      <dgm:spPr/>
      <dgm:t>
        <a:bodyPr/>
        <a:lstStyle/>
        <a:p>
          <a:endParaRPr lang="es-AR"/>
        </a:p>
      </dgm:t>
    </dgm:pt>
    <dgm:pt modelId="{473430D9-3367-480C-9232-425970699057}">
      <dgm:prSet phldrT="[Texto]"/>
      <dgm:spPr/>
      <dgm:t>
        <a:bodyPr/>
        <a:lstStyle/>
        <a:p>
          <a:r>
            <a:rPr lang="es-ES" dirty="0"/>
            <a:t>CCT</a:t>
          </a:r>
          <a:endParaRPr lang="es-AR" dirty="0"/>
        </a:p>
      </dgm:t>
    </dgm:pt>
    <dgm:pt modelId="{C1678C43-4D36-4DAE-A2E8-0DB2BDE1A76B}" type="parTrans" cxnId="{0650C72A-BB03-44B2-8094-ECD5EB64C3BB}">
      <dgm:prSet/>
      <dgm:spPr/>
      <dgm:t>
        <a:bodyPr/>
        <a:lstStyle/>
        <a:p>
          <a:endParaRPr lang="es-AR"/>
        </a:p>
      </dgm:t>
    </dgm:pt>
    <dgm:pt modelId="{9FCA5916-1B6B-40D3-880B-37B608025385}" type="sibTrans" cxnId="{0650C72A-BB03-44B2-8094-ECD5EB64C3BB}">
      <dgm:prSet/>
      <dgm:spPr/>
      <dgm:t>
        <a:bodyPr/>
        <a:lstStyle/>
        <a:p>
          <a:endParaRPr lang="es-AR"/>
        </a:p>
      </dgm:t>
    </dgm:pt>
    <dgm:pt modelId="{B6CAE28E-E008-4B73-9397-0A184C15DF8F}">
      <dgm:prSet phldrT="[Texto]"/>
      <dgm:spPr/>
      <dgm:t>
        <a:bodyPr/>
        <a:lstStyle/>
        <a:p>
          <a:r>
            <a:rPr lang="es-ES" dirty="0"/>
            <a:t>Metalúrgicos</a:t>
          </a:r>
          <a:endParaRPr lang="es-AR" dirty="0"/>
        </a:p>
      </dgm:t>
    </dgm:pt>
    <dgm:pt modelId="{1DD67BE4-38BF-4391-8747-E95D777A3B25}" type="parTrans" cxnId="{34B3C06D-0FFE-49C0-9E50-B436C8078B0A}">
      <dgm:prSet/>
      <dgm:spPr/>
      <dgm:t>
        <a:bodyPr/>
        <a:lstStyle/>
        <a:p>
          <a:endParaRPr lang="es-AR"/>
        </a:p>
      </dgm:t>
    </dgm:pt>
    <dgm:pt modelId="{CE40F5A2-1B68-4D32-A2E7-EC250BFE8947}" type="sibTrans" cxnId="{34B3C06D-0FFE-49C0-9E50-B436C8078B0A}">
      <dgm:prSet/>
      <dgm:spPr/>
      <dgm:t>
        <a:bodyPr/>
        <a:lstStyle/>
        <a:p>
          <a:endParaRPr lang="es-AR"/>
        </a:p>
      </dgm:t>
    </dgm:pt>
    <dgm:pt modelId="{F6ECD2BD-A73A-49E6-A4AA-943FC5A4B5AF}" type="pres">
      <dgm:prSet presAssocID="{521353B5-45B9-4562-9371-37438FE991E1}" presName="Name0" presStyleCnt="0">
        <dgm:presLayoutVars>
          <dgm:dir/>
          <dgm:animLvl val="lvl"/>
          <dgm:resizeHandles val="exact"/>
        </dgm:presLayoutVars>
      </dgm:prSet>
      <dgm:spPr/>
    </dgm:pt>
    <dgm:pt modelId="{3257AA3C-1AB6-4AD8-B35C-21D3DCEFE526}" type="pres">
      <dgm:prSet presAssocID="{6913E7DF-BAC4-4E18-96EA-CDB8046EE261}" presName="compositeNode" presStyleCnt="0">
        <dgm:presLayoutVars>
          <dgm:bulletEnabled val="1"/>
        </dgm:presLayoutVars>
      </dgm:prSet>
      <dgm:spPr/>
    </dgm:pt>
    <dgm:pt modelId="{0E3B88D0-814A-4C7D-B2B3-459B6DBD8AFB}" type="pres">
      <dgm:prSet presAssocID="{6913E7DF-BAC4-4E18-96EA-CDB8046EE261}" presName="bgRect" presStyleLbl="node1" presStyleIdx="0" presStyleCnt="3" custScaleY="56234"/>
      <dgm:spPr/>
    </dgm:pt>
    <dgm:pt modelId="{A27A79A6-A69E-49EF-BE8B-D60585087257}" type="pres">
      <dgm:prSet presAssocID="{6913E7DF-BAC4-4E18-96EA-CDB8046EE261}" presName="parentNode" presStyleLbl="node1" presStyleIdx="0" presStyleCnt="3">
        <dgm:presLayoutVars>
          <dgm:chMax val="0"/>
          <dgm:bulletEnabled val="1"/>
        </dgm:presLayoutVars>
      </dgm:prSet>
      <dgm:spPr/>
    </dgm:pt>
    <dgm:pt modelId="{20691066-E077-4A0B-A813-BA47552DD5EC}" type="pres">
      <dgm:prSet presAssocID="{6913E7DF-BAC4-4E18-96EA-CDB8046EE261}" presName="childNode" presStyleLbl="node1" presStyleIdx="0" presStyleCnt="3">
        <dgm:presLayoutVars>
          <dgm:bulletEnabled val="1"/>
        </dgm:presLayoutVars>
      </dgm:prSet>
      <dgm:spPr/>
    </dgm:pt>
    <dgm:pt modelId="{49030F74-7640-4C46-A053-6A14F9B737C3}" type="pres">
      <dgm:prSet presAssocID="{F2662EF7-56C3-48B5-B7EE-0C70826AF24D}" presName="hSp" presStyleCnt="0"/>
      <dgm:spPr/>
    </dgm:pt>
    <dgm:pt modelId="{479FC5B3-EB7E-480C-9B09-E04CC68C3200}" type="pres">
      <dgm:prSet presAssocID="{F2662EF7-56C3-48B5-B7EE-0C70826AF24D}" presName="vProcSp" presStyleCnt="0"/>
      <dgm:spPr/>
    </dgm:pt>
    <dgm:pt modelId="{01268819-1030-4D52-93F2-04CE4EC37028}" type="pres">
      <dgm:prSet presAssocID="{F2662EF7-56C3-48B5-B7EE-0C70826AF24D}" presName="vSp1" presStyleCnt="0"/>
      <dgm:spPr/>
    </dgm:pt>
    <dgm:pt modelId="{824B31E8-2B31-4F7A-BED4-6752940BB853}" type="pres">
      <dgm:prSet presAssocID="{F2662EF7-56C3-48B5-B7EE-0C70826AF24D}" presName="simulatedConn" presStyleLbl="solidFgAcc1" presStyleIdx="0" presStyleCnt="2" custLinFactY="-151185" custLinFactNeighborY="-200000"/>
      <dgm:spPr/>
    </dgm:pt>
    <dgm:pt modelId="{2B5C99B4-2E3E-4557-9F56-851EB851BD3A}" type="pres">
      <dgm:prSet presAssocID="{F2662EF7-56C3-48B5-B7EE-0C70826AF24D}" presName="vSp2" presStyleCnt="0"/>
      <dgm:spPr/>
    </dgm:pt>
    <dgm:pt modelId="{3F358626-59BA-40EC-A2B6-30CAB4B0ED15}" type="pres">
      <dgm:prSet presAssocID="{F2662EF7-56C3-48B5-B7EE-0C70826AF24D}" presName="sibTrans" presStyleCnt="0"/>
      <dgm:spPr/>
    </dgm:pt>
    <dgm:pt modelId="{2E82928E-98BF-40C4-BD4B-61A1C0385BB8}" type="pres">
      <dgm:prSet presAssocID="{22F2A711-E873-41A1-9328-576573C593E3}" presName="compositeNode" presStyleCnt="0">
        <dgm:presLayoutVars>
          <dgm:bulletEnabled val="1"/>
        </dgm:presLayoutVars>
      </dgm:prSet>
      <dgm:spPr/>
    </dgm:pt>
    <dgm:pt modelId="{D36017A0-9FE1-4800-B109-E44E6F748D0A}" type="pres">
      <dgm:prSet presAssocID="{22F2A711-E873-41A1-9328-576573C593E3}" presName="bgRect" presStyleLbl="node1" presStyleIdx="1" presStyleCnt="3" custScaleY="56234"/>
      <dgm:spPr/>
    </dgm:pt>
    <dgm:pt modelId="{95D94DB9-EDC1-4112-9AAB-79524621D1B0}" type="pres">
      <dgm:prSet presAssocID="{22F2A711-E873-41A1-9328-576573C593E3}" presName="parentNode" presStyleLbl="node1" presStyleIdx="1" presStyleCnt="3">
        <dgm:presLayoutVars>
          <dgm:chMax val="0"/>
          <dgm:bulletEnabled val="1"/>
        </dgm:presLayoutVars>
      </dgm:prSet>
      <dgm:spPr/>
    </dgm:pt>
    <dgm:pt modelId="{54BA9685-4633-4545-9870-4B24FCAD7FB7}" type="pres">
      <dgm:prSet presAssocID="{22F2A711-E873-41A1-9328-576573C593E3}" presName="childNode" presStyleLbl="node1" presStyleIdx="1" presStyleCnt="3">
        <dgm:presLayoutVars>
          <dgm:bulletEnabled val="1"/>
        </dgm:presLayoutVars>
      </dgm:prSet>
      <dgm:spPr/>
    </dgm:pt>
    <dgm:pt modelId="{E01AEAA8-9046-42A5-AE7B-103DB30DC1AE}" type="pres">
      <dgm:prSet presAssocID="{E26C8110-A944-4BC2-A39C-4803AC8D9400}" presName="hSp" presStyleCnt="0"/>
      <dgm:spPr/>
    </dgm:pt>
    <dgm:pt modelId="{4EBA7C3A-ACFE-4C56-8E6D-B144F4A1C777}" type="pres">
      <dgm:prSet presAssocID="{E26C8110-A944-4BC2-A39C-4803AC8D9400}" presName="vProcSp" presStyleCnt="0"/>
      <dgm:spPr/>
    </dgm:pt>
    <dgm:pt modelId="{40E97364-7958-4670-A42A-6041578B24A2}" type="pres">
      <dgm:prSet presAssocID="{E26C8110-A944-4BC2-A39C-4803AC8D9400}" presName="vSp1" presStyleCnt="0"/>
      <dgm:spPr/>
    </dgm:pt>
    <dgm:pt modelId="{B936DDCD-71AA-4F43-B9EE-054675367D65}" type="pres">
      <dgm:prSet presAssocID="{E26C8110-A944-4BC2-A39C-4803AC8D9400}" presName="simulatedConn" presStyleLbl="solidFgAcc1" presStyleIdx="1" presStyleCnt="2" custLinFactY="-151185" custLinFactNeighborY="-200000"/>
      <dgm:spPr/>
    </dgm:pt>
    <dgm:pt modelId="{B12CEE68-EC25-4E8D-99F0-DBB21654239D}" type="pres">
      <dgm:prSet presAssocID="{E26C8110-A944-4BC2-A39C-4803AC8D9400}" presName="vSp2" presStyleCnt="0"/>
      <dgm:spPr/>
    </dgm:pt>
    <dgm:pt modelId="{54E844FE-AB3E-482F-8B63-B9C319E2681D}" type="pres">
      <dgm:prSet presAssocID="{E26C8110-A944-4BC2-A39C-4803AC8D9400}" presName="sibTrans" presStyleCnt="0"/>
      <dgm:spPr/>
    </dgm:pt>
    <dgm:pt modelId="{3AD764C7-02A0-4B02-A22F-B5503002B3F2}" type="pres">
      <dgm:prSet presAssocID="{473430D9-3367-480C-9232-425970699057}" presName="compositeNode" presStyleCnt="0">
        <dgm:presLayoutVars>
          <dgm:bulletEnabled val="1"/>
        </dgm:presLayoutVars>
      </dgm:prSet>
      <dgm:spPr/>
    </dgm:pt>
    <dgm:pt modelId="{DE2429CF-7B73-416C-B0E8-C173B240CFDE}" type="pres">
      <dgm:prSet presAssocID="{473430D9-3367-480C-9232-425970699057}" presName="bgRect" presStyleLbl="node1" presStyleIdx="2" presStyleCnt="3" custScaleY="56234" custLinFactNeighborY="-2452"/>
      <dgm:spPr/>
    </dgm:pt>
    <dgm:pt modelId="{D9B3CDB6-F508-4624-9690-3C0B1D207FC0}" type="pres">
      <dgm:prSet presAssocID="{473430D9-3367-480C-9232-425970699057}" presName="parentNode" presStyleLbl="node1" presStyleIdx="2" presStyleCnt="3">
        <dgm:presLayoutVars>
          <dgm:chMax val="0"/>
          <dgm:bulletEnabled val="1"/>
        </dgm:presLayoutVars>
      </dgm:prSet>
      <dgm:spPr/>
    </dgm:pt>
    <dgm:pt modelId="{7B57B6B7-9FFC-4EC0-8E0B-25DD5D076AE4}" type="pres">
      <dgm:prSet presAssocID="{473430D9-3367-480C-9232-425970699057}" presName="childNode" presStyleLbl="node1" presStyleIdx="2" presStyleCnt="3">
        <dgm:presLayoutVars>
          <dgm:bulletEnabled val="1"/>
        </dgm:presLayoutVars>
      </dgm:prSet>
      <dgm:spPr/>
    </dgm:pt>
  </dgm:ptLst>
  <dgm:cxnLst>
    <dgm:cxn modelId="{9341C702-23D1-462F-A8A3-B00F0538847E}" type="presOf" srcId="{473430D9-3367-480C-9232-425970699057}" destId="{D9B3CDB6-F508-4624-9690-3C0B1D207FC0}" srcOrd="1" destOrd="0" presId="urn:microsoft.com/office/officeart/2005/8/layout/hProcess7#1"/>
    <dgm:cxn modelId="{11E8C70A-9CCD-4E33-925E-9004C241B42B}" type="presOf" srcId="{521353B5-45B9-4562-9371-37438FE991E1}" destId="{F6ECD2BD-A73A-49E6-A4AA-943FC5A4B5AF}" srcOrd="0" destOrd="0" presId="urn:microsoft.com/office/officeart/2005/8/layout/hProcess7#1"/>
    <dgm:cxn modelId="{54E8F813-4807-4A42-BC66-4EA8B3D553B6}" type="presOf" srcId="{C297101B-83EB-418F-AA24-5A9086C3EFF7}" destId="{20691066-E077-4A0B-A813-BA47552DD5EC}" srcOrd="0" destOrd="0" presId="urn:microsoft.com/office/officeart/2005/8/layout/hProcess7#1"/>
    <dgm:cxn modelId="{6FAA491C-B095-45AB-92DC-039A0D7C917B}" type="presOf" srcId="{6913E7DF-BAC4-4E18-96EA-CDB8046EE261}" destId="{0E3B88D0-814A-4C7D-B2B3-459B6DBD8AFB}" srcOrd="0" destOrd="0" presId="urn:microsoft.com/office/officeart/2005/8/layout/hProcess7#1"/>
    <dgm:cxn modelId="{0650C72A-BB03-44B2-8094-ECD5EB64C3BB}" srcId="{521353B5-45B9-4562-9371-37438FE991E1}" destId="{473430D9-3367-480C-9232-425970699057}" srcOrd="2" destOrd="0" parTransId="{C1678C43-4D36-4DAE-A2E8-0DB2BDE1A76B}" sibTransId="{9FCA5916-1B6B-40D3-880B-37B608025385}"/>
    <dgm:cxn modelId="{7EA2AF2E-78D3-4F5E-8BDA-C7B8D60A8612}" type="presOf" srcId="{473430D9-3367-480C-9232-425970699057}" destId="{DE2429CF-7B73-416C-B0E8-C173B240CFDE}" srcOrd="0" destOrd="0" presId="urn:microsoft.com/office/officeart/2005/8/layout/hProcess7#1"/>
    <dgm:cxn modelId="{D304205B-AE26-49E0-9CE5-1082D8A2C902}" type="presOf" srcId="{22F2A711-E873-41A1-9328-576573C593E3}" destId="{D36017A0-9FE1-4800-B109-E44E6F748D0A}" srcOrd="0" destOrd="0" presId="urn:microsoft.com/office/officeart/2005/8/layout/hProcess7#1"/>
    <dgm:cxn modelId="{B7B6055F-222D-4C6F-B92F-AE5F3112809C}" srcId="{521353B5-45B9-4562-9371-37438FE991E1}" destId="{22F2A711-E873-41A1-9328-576573C593E3}" srcOrd="1" destOrd="0" parTransId="{3B6967D7-9053-489E-91DE-AB6DA65DB0E1}" sibTransId="{E26C8110-A944-4BC2-A39C-4803AC8D9400}"/>
    <dgm:cxn modelId="{BE6BAD66-71F7-4ACB-B83B-2ADC2BF27033}" type="presOf" srcId="{B6CAE28E-E008-4B73-9397-0A184C15DF8F}" destId="{7B57B6B7-9FFC-4EC0-8E0B-25DD5D076AE4}" srcOrd="0" destOrd="0" presId="urn:microsoft.com/office/officeart/2005/8/layout/hProcess7#1"/>
    <dgm:cxn modelId="{E1DC9268-077F-48C3-8D4D-E8C2CEA2E50F}" srcId="{22F2A711-E873-41A1-9328-576573C593E3}" destId="{1D8EB84B-0F91-4A5F-B254-A78F3CBBBF67}" srcOrd="0" destOrd="0" parTransId="{B7DAAB7A-79F6-43F6-8C8D-46003E23B994}" sibTransId="{152DD7A6-5FBE-491B-B524-04BE41AF117D}"/>
    <dgm:cxn modelId="{34B3C06D-0FFE-49C0-9E50-B436C8078B0A}" srcId="{473430D9-3367-480C-9232-425970699057}" destId="{B6CAE28E-E008-4B73-9397-0A184C15DF8F}" srcOrd="0" destOrd="0" parTransId="{1DD67BE4-38BF-4391-8747-E95D777A3B25}" sibTransId="{CE40F5A2-1B68-4D32-A2E7-EC250BFE8947}"/>
    <dgm:cxn modelId="{2B7C0B5A-67C4-4D71-93AD-3063AA28159B}" srcId="{6913E7DF-BAC4-4E18-96EA-CDB8046EE261}" destId="{C297101B-83EB-418F-AA24-5A9086C3EFF7}" srcOrd="0" destOrd="0" parTransId="{FE566926-6603-4C6E-B270-189BFC58F158}" sibTransId="{56389DA5-95FD-4EA4-9591-2CCF1882CE32}"/>
    <dgm:cxn modelId="{A5CA2F7D-C343-4945-AC7C-2A03F2DC4AD6}" type="presOf" srcId="{1D8EB84B-0F91-4A5F-B254-A78F3CBBBF67}" destId="{54BA9685-4633-4545-9870-4B24FCAD7FB7}" srcOrd="0" destOrd="0" presId="urn:microsoft.com/office/officeart/2005/8/layout/hProcess7#1"/>
    <dgm:cxn modelId="{0AEA4180-DC04-47B0-8B2A-03E6D11DD610}" srcId="{521353B5-45B9-4562-9371-37438FE991E1}" destId="{6913E7DF-BAC4-4E18-96EA-CDB8046EE261}" srcOrd="0" destOrd="0" parTransId="{68F9BDB3-F3DB-4B54-A5FE-3E4CD0D77B28}" sibTransId="{F2662EF7-56C3-48B5-B7EE-0C70826AF24D}"/>
    <dgm:cxn modelId="{B8874EED-2FFD-4D68-8A43-BF061965C55C}" type="presOf" srcId="{22F2A711-E873-41A1-9328-576573C593E3}" destId="{95D94DB9-EDC1-4112-9AAB-79524621D1B0}" srcOrd="1" destOrd="0" presId="urn:microsoft.com/office/officeart/2005/8/layout/hProcess7#1"/>
    <dgm:cxn modelId="{6A658FEE-8348-4BE0-82D7-B5E21C8F5DB5}" type="presOf" srcId="{6913E7DF-BAC4-4E18-96EA-CDB8046EE261}" destId="{A27A79A6-A69E-49EF-BE8B-D60585087257}" srcOrd="1" destOrd="0" presId="urn:microsoft.com/office/officeart/2005/8/layout/hProcess7#1"/>
    <dgm:cxn modelId="{7149F5EB-4A4B-437E-AA21-3CCCFF7DEFEF}" type="presParOf" srcId="{F6ECD2BD-A73A-49E6-A4AA-943FC5A4B5AF}" destId="{3257AA3C-1AB6-4AD8-B35C-21D3DCEFE526}" srcOrd="0" destOrd="0" presId="urn:microsoft.com/office/officeart/2005/8/layout/hProcess7#1"/>
    <dgm:cxn modelId="{FA939D4B-CD29-428E-81B4-8E85CD9BB8C4}" type="presParOf" srcId="{3257AA3C-1AB6-4AD8-B35C-21D3DCEFE526}" destId="{0E3B88D0-814A-4C7D-B2B3-459B6DBD8AFB}" srcOrd="0" destOrd="0" presId="urn:microsoft.com/office/officeart/2005/8/layout/hProcess7#1"/>
    <dgm:cxn modelId="{471A4EB0-69F6-4037-9BE6-E0CC97971546}" type="presParOf" srcId="{3257AA3C-1AB6-4AD8-B35C-21D3DCEFE526}" destId="{A27A79A6-A69E-49EF-BE8B-D60585087257}" srcOrd="1" destOrd="0" presId="urn:microsoft.com/office/officeart/2005/8/layout/hProcess7#1"/>
    <dgm:cxn modelId="{F4F97CF9-482A-4FC9-90CD-16005B52E8B5}" type="presParOf" srcId="{3257AA3C-1AB6-4AD8-B35C-21D3DCEFE526}" destId="{20691066-E077-4A0B-A813-BA47552DD5EC}" srcOrd="2" destOrd="0" presId="urn:microsoft.com/office/officeart/2005/8/layout/hProcess7#1"/>
    <dgm:cxn modelId="{A7CD824F-1968-43C1-B179-B85C5EABC0BA}" type="presParOf" srcId="{F6ECD2BD-A73A-49E6-A4AA-943FC5A4B5AF}" destId="{49030F74-7640-4C46-A053-6A14F9B737C3}" srcOrd="1" destOrd="0" presId="urn:microsoft.com/office/officeart/2005/8/layout/hProcess7#1"/>
    <dgm:cxn modelId="{154CEDBF-8D05-445C-B43A-33A743A0A920}" type="presParOf" srcId="{F6ECD2BD-A73A-49E6-A4AA-943FC5A4B5AF}" destId="{479FC5B3-EB7E-480C-9B09-E04CC68C3200}" srcOrd="2" destOrd="0" presId="urn:microsoft.com/office/officeart/2005/8/layout/hProcess7#1"/>
    <dgm:cxn modelId="{8B3EC43D-4E78-4B35-A7CC-CC8AC292F3B5}" type="presParOf" srcId="{479FC5B3-EB7E-480C-9B09-E04CC68C3200}" destId="{01268819-1030-4D52-93F2-04CE4EC37028}" srcOrd="0" destOrd="0" presId="urn:microsoft.com/office/officeart/2005/8/layout/hProcess7#1"/>
    <dgm:cxn modelId="{AAA351FC-BBE9-472D-BE41-5E1E2D67D59D}" type="presParOf" srcId="{479FC5B3-EB7E-480C-9B09-E04CC68C3200}" destId="{824B31E8-2B31-4F7A-BED4-6752940BB853}" srcOrd="1" destOrd="0" presId="urn:microsoft.com/office/officeart/2005/8/layout/hProcess7#1"/>
    <dgm:cxn modelId="{28115648-59EA-4063-919F-AFE837589D12}" type="presParOf" srcId="{479FC5B3-EB7E-480C-9B09-E04CC68C3200}" destId="{2B5C99B4-2E3E-4557-9F56-851EB851BD3A}" srcOrd="2" destOrd="0" presId="urn:microsoft.com/office/officeart/2005/8/layout/hProcess7#1"/>
    <dgm:cxn modelId="{C10B0904-AC5A-4927-8640-5CB33B5E90A7}" type="presParOf" srcId="{F6ECD2BD-A73A-49E6-A4AA-943FC5A4B5AF}" destId="{3F358626-59BA-40EC-A2B6-30CAB4B0ED15}" srcOrd="3" destOrd="0" presId="urn:microsoft.com/office/officeart/2005/8/layout/hProcess7#1"/>
    <dgm:cxn modelId="{7A796737-621B-4952-B043-905BCF1806B6}" type="presParOf" srcId="{F6ECD2BD-A73A-49E6-A4AA-943FC5A4B5AF}" destId="{2E82928E-98BF-40C4-BD4B-61A1C0385BB8}" srcOrd="4" destOrd="0" presId="urn:microsoft.com/office/officeart/2005/8/layout/hProcess7#1"/>
    <dgm:cxn modelId="{E9C10CEE-9E32-4092-8492-77B68F0D74E3}" type="presParOf" srcId="{2E82928E-98BF-40C4-BD4B-61A1C0385BB8}" destId="{D36017A0-9FE1-4800-B109-E44E6F748D0A}" srcOrd="0" destOrd="0" presId="urn:microsoft.com/office/officeart/2005/8/layout/hProcess7#1"/>
    <dgm:cxn modelId="{964D98A8-A293-4764-9455-DB9326D31D80}" type="presParOf" srcId="{2E82928E-98BF-40C4-BD4B-61A1C0385BB8}" destId="{95D94DB9-EDC1-4112-9AAB-79524621D1B0}" srcOrd="1" destOrd="0" presId="urn:microsoft.com/office/officeart/2005/8/layout/hProcess7#1"/>
    <dgm:cxn modelId="{2BC56AF1-D214-43A5-BED9-4050761E0CA6}" type="presParOf" srcId="{2E82928E-98BF-40C4-BD4B-61A1C0385BB8}" destId="{54BA9685-4633-4545-9870-4B24FCAD7FB7}" srcOrd="2" destOrd="0" presId="urn:microsoft.com/office/officeart/2005/8/layout/hProcess7#1"/>
    <dgm:cxn modelId="{245659A6-0AD2-44C5-AC47-BA3F4AEBFBC1}" type="presParOf" srcId="{F6ECD2BD-A73A-49E6-A4AA-943FC5A4B5AF}" destId="{E01AEAA8-9046-42A5-AE7B-103DB30DC1AE}" srcOrd="5" destOrd="0" presId="urn:microsoft.com/office/officeart/2005/8/layout/hProcess7#1"/>
    <dgm:cxn modelId="{98E2D803-6825-4197-8F6C-5CBF12865E0A}" type="presParOf" srcId="{F6ECD2BD-A73A-49E6-A4AA-943FC5A4B5AF}" destId="{4EBA7C3A-ACFE-4C56-8E6D-B144F4A1C777}" srcOrd="6" destOrd="0" presId="urn:microsoft.com/office/officeart/2005/8/layout/hProcess7#1"/>
    <dgm:cxn modelId="{EC61F13A-4D47-4337-A859-7D81B667080A}" type="presParOf" srcId="{4EBA7C3A-ACFE-4C56-8E6D-B144F4A1C777}" destId="{40E97364-7958-4670-A42A-6041578B24A2}" srcOrd="0" destOrd="0" presId="urn:microsoft.com/office/officeart/2005/8/layout/hProcess7#1"/>
    <dgm:cxn modelId="{29212472-54B2-4999-884E-AB737B50AB5C}" type="presParOf" srcId="{4EBA7C3A-ACFE-4C56-8E6D-B144F4A1C777}" destId="{B936DDCD-71AA-4F43-B9EE-054675367D65}" srcOrd="1" destOrd="0" presId="urn:microsoft.com/office/officeart/2005/8/layout/hProcess7#1"/>
    <dgm:cxn modelId="{91A45C95-264B-4D32-876C-471E2DE04E8B}" type="presParOf" srcId="{4EBA7C3A-ACFE-4C56-8E6D-B144F4A1C777}" destId="{B12CEE68-EC25-4E8D-99F0-DBB21654239D}" srcOrd="2" destOrd="0" presId="urn:microsoft.com/office/officeart/2005/8/layout/hProcess7#1"/>
    <dgm:cxn modelId="{168E69D1-4F47-4EE8-8A87-65AB5404B3A8}" type="presParOf" srcId="{F6ECD2BD-A73A-49E6-A4AA-943FC5A4B5AF}" destId="{54E844FE-AB3E-482F-8B63-B9C319E2681D}" srcOrd="7" destOrd="0" presId="urn:microsoft.com/office/officeart/2005/8/layout/hProcess7#1"/>
    <dgm:cxn modelId="{6481D939-A05A-4F0F-89D0-53063A9DF38C}" type="presParOf" srcId="{F6ECD2BD-A73A-49E6-A4AA-943FC5A4B5AF}" destId="{3AD764C7-02A0-4B02-A22F-B5503002B3F2}" srcOrd="8" destOrd="0" presId="urn:microsoft.com/office/officeart/2005/8/layout/hProcess7#1"/>
    <dgm:cxn modelId="{259B854D-5287-4683-B289-D4C5EA11E7A2}" type="presParOf" srcId="{3AD764C7-02A0-4B02-A22F-B5503002B3F2}" destId="{DE2429CF-7B73-416C-B0E8-C173B240CFDE}" srcOrd="0" destOrd="0" presId="urn:microsoft.com/office/officeart/2005/8/layout/hProcess7#1"/>
    <dgm:cxn modelId="{256A5AEC-796A-4924-AB8A-D0ED90931EF2}" type="presParOf" srcId="{3AD764C7-02A0-4B02-A22F-B5503002B3F2}" destId="{D9B3CDB6-F508-4624-9690-3C0B1D207FC0}" srcOrd="1" destOrd="0" presId="urn:microsoft.com/office/officeart/2005/8/layout/hProcess7#1"/>
    <dgm:cxn modelId="{038FD024-D634-4200-90BC-503A026EFC7B}" type="presParOf" srcId="{3AD764C7-02A0-4B02-A22F-B5503002B3F2}" destId="{7B57B6B7-9FFC-4EC0-8E0B-25DD5D076AE4}" srcOrd="2" destOrd="0" presId="urn:microsoft.com/office/officeart/2005/8/layout/hProcess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77A40E-662B-4223-9829-E93A5427645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AR"/>
        </a:p>
      </dgm:t>
    </dgm:pt>
    <dgm:pt modelId="{C738FFE3-764F-4ADB-B757-4C0A190DC2B0}">
      <dgm:prSet phldrT="[Texto]"/>
      <dgm:spPr/>
      <dgm:t>
        <a:bodyPr/>
        <a:lstStyle/>
        <a:p>
          <a:r>
            <a:rPr lang="es-ES" dirty="0"/>
            <a:t>Individuales y colectivos</a:t>
          </a:r>
          <a:endParaRPr lang="es-AR" dirty="0"/>
        </a:p>
      </dgm:t>
    </dgm:pt>
    <dgm:pt modelId="{39CC6282-F83C-410B-8A96-C8DE436300D4}" type="parTrans" cxnId="{6CC71752-11F5-470C-9C9A-15FC8441F82E}">
      <dgm:prSet/>
      <dgm:spPr/>
      <dgm:t>
        <a:bodyPr/>
        <a:lstStyle/>
        <a:p>
          <a:endParaRPr lang="es-AR"/>
        </a:p>
      </dgm:t>
    </dgm:pt>
    <dgm:pt modelId="{36202F3B-853B-4FAA-9636-C289AF4F9992}" type="sibTrans" cxnId="{6CC71752-11F5-470C-9C9A-15FC8441F82E}">
      <dgm:prSet/>
      <dgm:spPr/>
      <dgm:t>
        <a:bodyPr/>
        <a:lstStyle/>
        <a:p>
          <a:endParaRPr lang="es-AR"/>
        </a:p>
      </dgm:t>
    </dgm:pt>
    <dgm:pt modelId="{879E7FF8-1BEF-4B44-A393-D9B9D7D66481}">
      <dgm:prSet phldrT="[Texto]"/>
      <dgm:spPr/>
      <dgm:t>
        <a:bodyPr/>
        <a:lstStyle/>
        <a:p>
          <a:r>
            <a:rPr lang="es-ES" dirty="0"/>
            <a:t>De derecho y de interés</a:t>
          </a:r>
          <a:endParaRPr lang="es-AR" dirty="0"/>
        </a:p>
      </dgm:t>
    </dgm:pt>
    <dgm:pt modelId="{8141E9AD-3AAB-4BFD-9C90-CDE2863F34F0}" type="parTrans" cxnId="{F5A9890D-2604-498D-A97A-EB0012FADCEB}">
      <dgm:prSet/>
      <dgm:spPr/>
      <dgm:t>
        <a:bodyPr/>
        <a:lstStyle/>
        <a:p>
          <a:endParaRPr lang="es-AR"/>
        </a:p>
      </dgm:t>
    </dgm:pt>
    <dgm:pt modelId="{78132E93-3C42-48E1-9BFB-F4A4D1418CB5}" type="sibTrans" cxnId="{F5A9890D-2604-498D-A97A-EB0012FADCEB}">
      <dgm:prSet/>
      <dgm:spPr/>
      <dgm:t>
        <a:bodyPr/>
        <a:lstStyle/>
        <a:p>
          <a:endParaRPr lang="es-AR"/>
        </a:p>
      </dgm:t>
    </dgm:pt>
    <dgm:pt modelId="{D5E738CF-D430-41B2-98AF-8887679AB8CC}">
      <dgm:prSet phldrT="[Texto]"/>
      <dgm:spPr/>
      <dgm:t>
        <a:bodyPr/>
        <a:lstStyle/>
        <a:p>
          <a:r>
            <a:rPr lang="es-ES" dirty="0"/>
            <a:t>Laborales y extra laborales</a:t>
          </a:r>
          <a:endParaRPr lang="es-AR" dirty="0"/>
        </a:p>
      </dgm:t>
    </dgm:pt>
    <dgm:pt modelId="{AEFC67E1-EFC6-495C-9C8D-034E4753B9B1}" type="parTrans" cxnId="{F2EDF7B4-AEE1-4019-AC91-2533F6C4F949}">
      <dgm:prSet/>
      <dgm:spPr/>
      <dgm:t>
        <a:bodyPr/>
        <a:lstStyle/>
        <a:p>
          <a:endParaRPr lang="es-AR"/>
        </a:p>
      </dgm:t>
    </dgm:pt>
    <dgm:pt modelId="{A35D0DEE-20CB-49AB-AAC9-416C6EC715C9}" type="sibTrans" cxnId="{F2EDF7B4-AEE1-4019-AC91-2533F6C4F949}">
      <dgm:prSet/>
      <dgm:spPr/>
      <dgm:t>
        <a:bodyPr/>
        <a:lstStyle/>
        <a:p>
          <a:endParaRPr lang="es-AR"/>
        </a:p>
      </dgm:t>
    </dgm:pt>
    <dgm:pt modelId="{0C2B0FDC-B913-48C0-85EB-35C5CB42A6D8}" type="pres">
      <dgm:prSet presAssocID="{F277A40E-662B-4223-9829-E93A5427645A}" presName="linear" presStyleCnt="0">
        <dgm:presLayoutVars>
          <dgm:dir/>
          <dgm:animLvl val="lvl"/>
          <dgm:resizeHandles val="exact"/>
        </dgm:presLayoutVars>
      </dgm:prSet>
      <dgm:spPr/>
    </dgm:pt>
    <dgm:pt modelId="{556C034E-80E2-4997-8600-2C9A5686B99F}" type="pres">
      <dgm:prSet presAssocID="{C738FFE3-764F-4ADB-B757-4C0A190DC2B0}" presName="parentLin" presStyleCnt="0"/>
      <dgm:spPr/>
    </dgm:pt>
    <dgm:pt modelId="{51B3A673-8480-4EF8-B2A2-6ADE73F41C69}" type="pres">
      <dgm:prSet presAssocID="{C738FFE3-764F-4ADB-B757-4C0A190DC2B0}" presName="parentLeftMargin" presStyleLbl="node1" presStyleIdx="0" presStyleCnt="3"/>
      <dgm:spPr/>
    </dgm:pt>
    <dgm:pt modelId="{5ED7E6C8-E88C-4F8E-9180-BAE50BE6FEBE}" type="pres">
      <dgm:prSet presAssocID="{C738FFE3-764F-4ADB-B757-4C0A190DC2B0}" presName="parentText" presStyleLbl="node1" presStyleIdx="0" presStyleCnt="3">
        <dgm:presLayoutVars>
          <dgm:chMax val="0"/>
          <dgm:bulletEnabled val="1"/>
        </dgm:presLayoutVars>
      </dgm:prSet>
      <dgm:spPr/>
    </dgm:pt>
    <dgm:pt modelId="{7A1885C8-45C6-4589-B370-5F199D69021D}" type="pres">
      <dgm:prSet presAssocID="{C738FFE3-764F-4ADB-B757-4C0A190DC2B0}" presName="negativeSpace" presStyleCnt="0"/>
      <dgm:spPr/>
    </dgm:pt>
    <dgm:pt modelId="{F918A42F-E189-4CFA-87EC-E966280A475C}" type="pres">
      <dgm:prSet presAssocID="{C738FFE3-764F-4ADB-B757-4C0A190DC2B0}" presName="childText" presStyleLbl="conFgAcc1" presStyleIdx="0" presStyleCnt="3">
        <dgm:presLayoutVars>
          <dgm:bulletEnabled val="1"/>
        </dgm:presLayoutVars>
      </dgm:prSet>
      <dgm:spPr/>
    </dgm:pt>
    <dgm:pt modelId="{FDA8F0D4-CC2F-432F-A959-4C1C6FB9D464}" type="pres">
      <dgm:prSet presAssocID="{36202F3B-853B-4FAA-9636-C289AF4F9992}" presName="spaceBetweenRectangles" presStyleCnt="0"/>
      <dgm:spPr/>
    </dgm:pt>
    <dgm:pt modelId="{C9DD0D79-BF43-454F-8377-921914948201}" type="pres">
      <dgm:prSet presAssocID="{879E7FF8-1BEF-4B44-A393-D9B9D7D66481}" presName="parentLin" presStyleCnt="0"/>
      <dgm:spPr/>
    </dgm:pt>
    <dgm:pt modelId="{B26F619C-994A-490D-8B6B-4062FF1101C5}" type="pres">
      <dgm:prSet presAssocID="{879E7FF8-1BEF-4B44-A393-D9B9D7D66481}" presName="parentLeftMargin" presStyleLbl="node1" presStyleIdx="0" presStyleCnt="3"/>
      <dgm:spPr/>
    </dgm:pt>
    <dgm:pt modelId="{B6935B25-507E-4A9A-853F-611B3DC4FF04}" type="pres">
      <dgm:prSet presAssocID="{879E7FF8-1BEF-4B44-A393-D9B9D7D66481}" presName="parentText" presStyleLbl="node1" presStyleIdx="1" presStyleCnt="3">
        <dgm:presLayoutVars>
          <dgm:chMax val="0"/>
          <dgm:bulletEnabled val="1"/>
        </dgm:presLayoutVars>
      </dgm:prSet>
      <dgm:spPr/>
    </dgm:pt>
    <dgm:pt modelId="{7D0077D9-AAA4-4C44-9261-EFD654C5C923}" type="pres">
      <dgm:prSet presAssocID="{879E7FF8-1BEF-4B44-A393-D9B9D7D66481}" presName="negativeSpace" presStyleCnt="0"/>
      <dgm:spPr/>
    </dgm:pt>
    <dgm:pt modelId="{E76CF557-9A35-4A06-81B4-0F10F4F81344}" type="pres">
      <dgm:prSet presAssocID="{879E7FF8-1BEF-4B44-A393-D9B9D7D66481}" presName="childText" presStyleLbl="conFgAcc1" presStyleIdx="1" presStyleCnt="3">
        <dgm:presLayoutVars>
          <dgm:bulletEnabled val="1"/>
        </dgm:presLayoutVars>
      </dgm:prSet>
      <dgm:spPr/>
    </dgm:pt>
    <dgm:pt modelId="{92879D91-3012-4A1D-AF21-0E36E5CD972B}" type="pres">
      <dgm:prSet presAssocID="{78132E93-3C42-48E1-9BFB-F4A4D1418CB5}" presName="spaceBetweenRectangles" presStyleCnt="0"/>
      <dgm:spPr/>
    </dgm:pt>
    <dgm:pt modelId="{190EA941-EE36-4407-B099-F12DFBB0FD26}" type="pres">
      <dgm:prSet presAssocID="{D5E738CF-D430-41B2-98AF-8887679AB8CC}" presName="parentLin" presStyleCnt="0"/>
      <dgm:spPr/>
    </dgm:pt>
    <dgm:pt modelId="{48ADDDA3-A0DB-446A-9CD6-293F14E8CE41}" type="pres">
      <dgm:prSet presAssocID="{D5E738CF-D430-41B2-98AF-8887679AB8CC}" presName="parentLeftMargin" presStyleLbl="node1" presStyleIdx="1" presStyleCnt="3"/>
      <dgm:spPr/>
    </dgm:pt>
    <dgm:pt modelId="{05604782-675D-47A5-AFD1-6D007FC7FF9E}" type="pres">
      <dgm:prSet presAssocID="{D5E738CF-D430-41B2-98AF-8887679AB8CC}" presName="parentText" presStyleLbl="node1" presStyleIdx="2" presStyleCnt="3">
        <dgm:presLayoutVars>
          <dgm:chMax val="0"/>
          <dgm:bulletEnabled val="1"/>
        </dgm:presLayoutVars>
      </dgm:prSet>
      <dgm:spPr/>
    </dgm:pt>
    <dgm:pt modelId="{3B0BA19D-F833-4B4F-BB0B-315B08768668}" type="pres">
      <dgm:prSet presAssocID="{D5E738CF-D430-41B2-98AF-8887679AB8CC}" presName="negativeSpace" presStyleCnt="0"/>
      <dgm:spPr/>
    </dgm:pt>
    <dgm:pt modelId="{D3C42570-A478-44A9-BBDB-8394965CD925}" type="pres">
      <dgm:prSet presAssocID="{D5E738CF-D430-41B2-98AF-8887679AB8CC}" presName="childText" presStyleLbl="conFgAcc1" presStyleIdx="2" presStyleCnt="3">
        <dgm:presLayoutVars>
          <dgm:bulletEnabled val="1"/>
        </dgm:presLayoutVars>
      </dgm:prSet>
      <dgm:spPr/>
    </dgm:pt>
  </dgm:ptLst>
  <dgm:cxnLst>
    <dgm:cxn modelId="{F5A9890D-2604-498D-A97A-EB0012FADCEB}" srcId="{F277A40E-662B-4223-9829-E93A5427645A}" destId="{879E7FF8-1BEF-4B44-A393-D9B9D7D66481}" srcOrd="1" destOrd="0" parTransId="{8141E9AD-3AAB-4BFD-9C90-CDE2863F34F0}" sibTransId="{78132E93-3C42-48E1-9BFB-F4A4D1418CB5}"/>
    <dgm:cxn modelId="{E87A5422-F390-4112-B0B7-B01AEAE8FFEB}" type="presOf" srcId="{879E7FF8-1BEF-4B44-A393-D9B9D7D66481}" destId="{B6935B25-507E-4A9A-853F-611B3DC4FF04}" srcOrd="1" destOrd="0" presId="urn:microsoft.com/office/officeart/2005/8/layout/list1"/>
    <dgm:cxn modelId="{8CBD2E38-F33E-4989-9A4B-97FF4180B8EA}" type="presOf" srcId="{C738FFE3-764F-4ADB-B757-4C0A190DC2B0}" destId="{51B3A673-8480-4EF8-B2A2-6ADE73F41C69}" srcOrd="0" destOrd="0" presId="urn:microsoft.com/office/officeart/2005/8/layout/list1"/>
    <dgm:cxn modelId="{C0F1C438-27DE-4D9F-94AC-F7B40CFD91D5}" type="presOf" srcId="{D5E738CF-D430-41B2-98AF-8887679AB8CC}" destId="{48ADDDA3-A0DB-446A-9CD6-293F14E8CE41}" srcOrd="0" destOrd="0" presId="urn:microsoft.com/office/officeart/2005/8/layout/list1"/>
    <dgm:cxn modelId="{79DAF36E-E6F4-4578-870B-D59A85D55382}" type="presOf" srcId="{F277A40E-662B-4223-9829-E93A5427645A}" destId="{0C2B0FDC-B913-48C0-85EB-35C5CB42A6D8}" srcOrd="0" destOrd="0" presId="urn:microsoft.com/office/officeart/2005/8/layout/list1"/>
    <dgm:cxn modelId="{6CC71752-11F5-470C-9C9A-15FC8441F82E}" srcId="{F277A40E-662B-4223-9829-E93A5427645A}" destId="{C738FFE3-764F-4ADB-B757-4C0A190DC2B0}" srcOrd="0" destOrd="0" parTransId="{39CC6282-F83C-410B-8A96-C8DE436300D4}" sibTransId="{36202F3B-853B-4FAA-9636-C289AF4F9992}"/>
    <dgm:cxn modelId="{A2BB2E73-643F-4DB6-B39C-B8F136F22D42}" type="presOf" srcId="{D5E738CF-D430-41B2-98AF-8887679AB8CC}" destId="{05604782-675D-47A5-AFD1-6D007FC7FF9E}" srcOrd="1" destOrd="0" presId="urn:microsoft.com/office/officeart/2005/8/layout/list1"/>
    <dgm:cxn modelId="{F2EDF7B4-AEE1-4019-AC91-2533F6C4F949}" srcId="{F277A40E-662B-4223-9829-E93A5427645A}" destId="{D5E738CF-D430-41B2-98AF-8887679AB8CC}" srcOrd="2" destOrd="0" parTransId="{AEFC67E1-EFC6-495C-9C8D-034E4753B9B1}" sibTransId="{A35D0DEE-20CB-49AB-AAC9-416C6EC715C9}"/>
    <dgm:cxn modelId="{922BFEC6-9A2D-4661-9033-C9F335EBD983}" type="presOf" srcId="{879E7FF8-1BEF-4B44-A393-D9B9D7D66481}" destId="{B26F619C-994A-490D-8B6B-4062FF1101C5}" srcOrd="0" destOrd="0" presId="urn:microsoft.com/office/officeart/2005/8/layout/list1"/>
    <dgm:cxn modelId="{6058D6ED-CBEC-41F7-AA8D-F44E6850EF2C}" type="presOf" srcId="{C738FFE3-764F-4ADB-B757-4C0A190DC2B0}" destId="{5ED7E6C8-E88C-4F8E-9180-BAE50BE6FEBE}" srcOrd="1" destOrd="0" presId="urn:microsoft.com/office/officeart/2005/8/layout/list1"/>
    <dgm:cxn modelId="{D1683A82-63D1-475B-B71B-C6248418370E}" type="presParOf" srcId="{0C2B0FDC-B913-48C0-85EB-35C5CB42A6D8}" destId="{556C034E-80E2-4997-8600-2C9A5686B99F}" srcOrd="0" destOrd="0" presId="urn:microsoft.com/office/officeart/2005/8/layout/list1"/>
    <dgm:cxn modelId="{0F65116C-418D-468E-801D-DE0955F09457}" type="presParOf" srcId="{556C034E-80E2-4997-8600-2C9A5686B99F}" destId="{51B3A673-8480-4EF8-B2A2-6ADE73F41C69}" srcOrd="0" destOrd="0" presId="urn:microsoft.com/office/officeart/2005/8/layout/list1"/>
    <dgm:cxn modelId="{376E175F-74C2-4EFE-A19B-3F7D98DF0F5F}" type="presParOf" srcId="{556C034E-80E2-4997-8600-2C9A5686B99F}" destId="{5ED7E6C8-E88C-4F8E-9180-BAE50BE6FEBE}" srcOrd="1" destOrd="0" presId="urn:microsoft.com/office/officeart/2005/8/layout/list1"/>
    <dgm:cxn modelId="{F73EC1AE-E1A9-423B-91A1-E3B26E4D2532}" type="presParOf" srcId="{0C2B0FDC-B913-48C0-85EB-35C5CB42A6D8}" destId="{7A1885C8-45C6-4589-B370-5F199D69021D}" srcOrd="1" destOrd="0" presId="urn:microsoft.com/office/officeart/2005/8/layout/list1"/>
    <dgm:cxn modelId="{D8AEDBCE-3A5A-459D-A7DD-DD55B3D99DD5}" type="presParOf" srcId="{0C2B0FDC-B913-48C0-85EB-35C5CB42A6D8}" destId="{F918A42F-E189-4CFA-87EC-E966280A475C}" srcOrd="2" destOrd="0" presId="urn:microsoft.com/office/officeart/2005/8/layout/list1"/>
    <dgm:cxn modelId="{1E50AD22-7687-4C35-BAEE-6712E25CFC2F}" type="presParOf" srcId="{0C2B0FDC-B913-48C0-85EB-35C5CB42A6D8}" destId="{FDA8F0D4-CC2F-432F-A959-4C1C6FB9D464}" srcOrd="3" destOrd="0" presId="urn:microsoft.com/office/officeart/2005/8/layout/list1"/>
    <dgm:cxn modelId="{F2BDEA2A-4903-422C-ADE7-175EE0A1876F}" type="presParOf" srcId="{0C2B0FDC-B913-48C0-85EB-35C5CB42A6D8}" destId="{C9DD0D79-BF43-454F-8377-921914948201}" srcOrd="4" destOrd="0" presId="urn:microsoft.com/office/officeart/2005/8/layout/list1"/>
    <dgm:cxn modelId="{B199DB48-7A5A-4048-B498-22A6C542307F}" type="presParOf" srcId="{C9DD0D79-BF43-454F-8377-921914948201}" destId="{B26F619C-994A-490D-8B6B-4062FF1101C5}" srcOrd="0" destOrd="0" presId="urn:microsoft.com/office/officeart/2005/8/layout/list1"/>
    <dgm:cxn modelId="{D2CF58E7-1BA2-4653-B339-5D5E57AAA0AA}" type="presParOf" srcId="{C9DD0D79-BF43-454F-8377-921914948201}" destId="{B6935B25-507E-4A9A-853F-611B3DC4FF04}" srcOrd="1" destOrd="0" presId="urn:microsoft.com/office/officeart/2005/8/layout/list1"/>
    <dgm:cxn modelId="{112753C0-77C7-4E93-BAB4-E3CBBB0A6EDF}" type="presParOf" srcId="{0C2B0FDC-B913-48C0-85EB-35C5CB42A6D8}" destId="{7D0077D9-AAA4-4C44-9261-EFD654C5C923}" srcOrd="5" destOrd="0" presId="urn:microsoft.com/office/officeart/2005/8/layout/list1"/>
    <dgm:cxn modelId="{FCD31239-E836-46E0-A31C-36CBB1C623B9}" type="presParOf" srcId="{0C2B0FDC-B913-48C0-85EB-35C5CB42A6D8}" destId="{E76CF557-9A35-4A06-81B4-0F10F4F81344}" srcOrd="6" destOrd="0" presId="urn:microsoft.com/office/officeart/2005/8/layout/list1"/>
    <dgm:cxn modelId="{F12E9E15-BBD1-4D97-80F3-E4F8881FA459}" type="presParOf" srcId="{0C2B0FDC-B913-48C0-85EB-35C5CB42A6D8}" destId="{92879D91-3012-4A1D-AF21-0E36E5CD972B}" srcOrd="7" destOrd="0" presId="urn:microsoft.com/office/officeart/2005/8/layout/list1"/>
    <dgm:cxn modelId="{3182CDED-E963-41BD-9B8D-80A39D2398F0}" type="presParOf" srcId="{0C2B0FDC-B913-48C0-85EB-35C5CB42A6D8}" destId="{190EA941-EE36-4407-B099-F12DFBB0FD26}" srcOrd="8" destOrd="0" presId="urn:microsoft.com/office/officeart/2005/8/layout/list1"/>
    <dgm:cxn modelId="{D56CE81D-5B8D-40DD-B5CE-A807F4495142}" type="presParOf" srcId="{190EA941-EE36-4407-B099-F12DFBB0FD26}" destId="{48ADDDA3-A0DB-446A-9CD6-293F14E8CE41}" srcOrd="0" destOrd="0" presId="urn:microsoft.com/office/officeart/2005/8/layout/list1"/>
    <dgm:cxn modelId="{994900CC-4B87-4BFD-9005-7033CA3CC615}" type="presParOf" srcId="{190EA941-EE36-4407-B099-F12DFBB0FD26}" destId="{05604782-675D-47A5-AFD1-6D007FC7FF9E}" srcOrd="1" destOrd="0" presId="urn:microsoft.com/office/officeart/2005/8/layout/list1"/>
    <dgm:cxn modelId="{5B342E0C-2880-490E-86CD-0D6021E75848}" type="presParOf" srcId="{0C2B0FDC-B913-48C0-85EB-35C5CB42A6D8}" destId="{3B0BA19D-F833-4B4F-BB0B-315B08768668}" srcOrd="9" destOrd="0" presId="urn:microsoft.com/office/officeart/2005/8/layout/list1"/>
    <dgm:cxn modelId="{A02D592F-F3EE-4BC5-A1EE-F60B4B01B5F9}" type="presParOf" srcId="{0C2B0FDC-B913-48C0-85EB-35C5CB42A6D8}" destId="{D3C42570-A478-44A9-BBDB-8394965CD925}"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152F69-12B1-444C-8323-5A5E4454948C}" type="doc">
      <dgm:prSet loTypeId="urn:microsoft.com/office/officeart/2005/8/layout/hList6" loCatId="list" qsTypeId="urn:microsoft.com/office/officeart/2005/8/quickstyle/simple2" qsCatId="simple" csTypeId="urn:microsoft.com/office/officeart/2005/8/colors/colorful2" csCatId="colorful" phldr="1"/>
      <dgm:spPr/>
      <dgm:t>
        <a:bodyPr/>
        <a:lstStyle/>
        <a:p>
          <a:endParaRPr lang="es-AR"/>
        </a:p>
      </dgm:t>
    </dgm:pt>
    <dgm:pt modelId="{652CB3C3-8AD1-4E10-830E-AA1FBA145438}">
      <dgm:prSet phldrT="[Texto]"/>
      <dgm:spPr>
        <a:solidFill>
          <a:schemeClr val="accent2">
            <a:lumMod val="50000"/>
          </a:schemeClr>
        </a:solidFill>
      </dgm:spPr>
      <dgm:t>
        <a:bodyPr/>
        <a:lstStyle/>
        <a:p>
          <a:r>
            <a:rPr lang="es-ES" b="1"/>
            <a:t>CONCEPTO</a:t>
          </a:r>
          <a:endParaRPr lang="es-AR" b="1" dirty="0"/>
        </a:p>
      </dgm:t>
    </dgm:pt>
    <dgm:pt modelId="{38E1E63B-98F8-4758-8143-4759BCDD3941}" type="parTrans" cxnId="{D911C3F6-400C-44DE-9706-821E1134FEF0}">
      <dgm:prSet/>
      <dgm:spPr/>
      <dgm:t>
        <a:bodyPr/>
        <a:lstStyle/>
        <a:p>
          <a:endParaRPr lang="es-AR"/>
        </a:p>
      </dgm:t>
    </dgm:pt>
    <dgm:pt modelId="{9EE4E858-2FAF-4AD4-A4BF-D7710B5978F4}" type="sibTrans" cxnId="{D911C3F6-400C-44DE-9706-821E1134FEF0}">
      <dgm:prSet/>
      <dgm:spPr/>
      <dgm:t>
        <a:bodyPr/>
        <a:lstStyle/>
        <a:p>
          <a:endParaRPr lang="es-AR"/>
        </a:p>
      </dgm:t>
    </dgm:pt>
    <dgm:pt modelId="{49AE7591-9799-4B5D-AD7A-08EEF1FD038B}">
      <dgm:prSet phldrT="[Texto]" custT="1"/>
      <dgm:spPr>
        <a:solidFill>
          <a:schemeClr val="accent2">
            <a:lumMod val="50000"/>
          </a:schemeClr>
        </a:solidFill>
      </dgm:spPr>
      <dgm:t>
        <a:bodyPr/>
        <a:lstStyle/>
        <a:p>
          <a:r>
            <a:rPr lang="es-ES" sz="2400" dirty="0"/>
            <a:t>Proceso de mutua comunicación entre las partes</a:t>
          </a:r>
          <a:endParaRPr lang="es-AR" sz="2400" dirty="0"/>
        </a:p>
      </dgm:t>
    </dgm:pt>
    <dgm:pt modelId="{4E4A62F5-7E42-4E05-8A33-12A29AB5F9C9}" type="parTrans" cxnId="{3E58F7B8-5AB8-4718-AE26-D7C299782806}">
      <dgm:prSet/>
      <dgm:spPr/>
      <dgm:t>
        <a:bodyPr/>
        <a:lstStyle/>
        <a:p>
          <a:endParaRPr lang="es-AR"/>
        </a:p>
      </dgm:t>
    </dgm:pt>
    <dgm:pt modelId="{9082A441-9EF6-43CA-B584-5B974802EEEF}" type="sibTrans" cxnId="{3E58F7B8-5AB8-4718-AE26-D7C299782806}">
      <dgm:prSet/>
      <dgm:spPr/>
      <dgm:t>
        <a:bodyPr/>
        <a:lstStyle/>
        <a:p>
          <a:endParaRPr lang="es-AR"/>
        </a:p>
      </dgm:t>
    </dgm:pt>
    <dgm:pt modelId="{A89B3694-BFE7-48B8-B3DE-679FCDCE4697}">
      <dgm:prSet phldrT="[Texto]"/>
      <dgm:spPr>
        <a:solidFill>
          <a:srgbClr val="67CE66"/>
        </a:solidFill>
      </dgm:spPr>
      <dgm:t>
        <a:bodyPr/>
        <a:lstStyle/>
        <a:p>
          <a:r>
            <a:rPr lang="es-ES" b="1"/>
            <a:t>MOTIVO</a:t>
          </a:r>
          <a:endParaRPr lang="es-AR" b="1" dirty="0"/>
        </a:p>
      </dgm:t>
    </dgm:pt>
    <dgm:pt modelId="{EC741F6F-2D57-4544-8276-6D6EC3D9F03F}" type="parTrans" cxnId="{7093D706-6AF5-4A73-8B35-BB1AD2BF0E87}">
      <dgm:prSet/>
      <dgm:spPr/>
      <dgm:t>
        <a:bodyPr/>
        <a:lstStyle/>
        <a:p>
          <a:endParaRPr lang="es-AR"/>
        </a:p>
      </dgm:t>
    </dgm:pt>
    <dgm:pt modelId="{0BEE4086-1929-4C91-93FA-1D00FBDD12A7}" type="sibTrans" cxnId="{7093D706-6AF5-4A73-8B35-BB1AD2BF0E87}">
      <dgm:prSet/>
      <dgm:spPr/>
      <dgm:t>
        <a:bodyPr/>
        <a:lstStyle/>
        <a:p>
          <a:endParaRPr lang="es-AR"/>
        </a:p>
      </dgm:t>
    </dgm:pt>
    <dgm:pt modelId="{3CC2D822-CC4E-43B0-B745-B2419708A4B3}">
      <dgm:prSet phldrT="[Texto]" custT="1"/>
      <dgm:spPr>
        <a:solidFill>
          <a:srgbClr val="67CE66"/>
        </a:solidFill>
      </dgm:spPr>
      <dgm:t>
        <a:bodyPr/>
        <a:lstStyle/>
        <a:p>
          <a:r>
            <a:rPr lang="es-ES" sz="2400" dirty="0"/>
            <a:t>Intereses compartidos</a:t>
          </a:r>
          <a:endParaRPr lang="es-AR" sz="2400" dirty="0"/>
        </a:p>
      </dgm:t>
    </dgm:pt>
    <dgm:pt modelId="{91F3F8D2-51DB-4437-A88A-225F42610458}" type="parTrans" cxnId="{5FF5BA89-61DF-4FFA-B561-CB3280077B87}">
      <dgm:prSet/>
      <dgm:spPr/>
      <dgm:t>
        <a:bodyPr/>
        <a:lstStyle/>
        <a:p>
          <a:endParaRPr lang="es-AR"/>
        </a:p>
      </dgm:t>
    </dgm:pt>
    <dgm:pt modelId="{7D1FE511-AAA0-4EFC-82B4-9160F4FE43A7}" type="sibTrans" cxnId="{5FF5BA89-61DF-4FFA-B561-CB3280077B87}">
      <dgm:prSet/>
      <dgm:spPr/>
      <dgm:t>
        <a:bodyPr/>
        <a:lstStyle/>
        <a:p>
          <a:endParaRPr lang="es-AR"/>
        </a:p>
      </dgm:t>
    </dgm:pt>
    <dgm:pt modelId="{BAB40CAF-F641-48BE-A0D0-086B4EB351DC}">
      <dgm:prSet phldrT="[Texto]" custT="1"/>
      <dgm:spPr>
        <a:solidFill>
          <a:srgbClr val="67CE66"/>
        </a:solidFill>
      </dgm:spPr>
      <dgm:t>
        <a:bodyPr/>
        <a:lstStyle/>
        <a:p>
          <a:r>
            <a:rPr lang="es-ES" sz="2400" dirty="0"/>
            <a:t>Intereses opuestos</a:t>
          </a:r>
          <a:endParaRPr lang="es-AR" sz="2400" dirty="0"/>
        </a:p>
      </dgm:t>
    </dgm:pt>
    <dgm:pt modelId="{DE77BF42-41CE-479C-A00C-F2FD15C667D4}" type="parTrans" cxnId="{C7219E06-E762-472A-9937-69F038FD718D}">
      <dgm:prSet/>
      <dgm:spPr/>
      <dgm:t>
        <a:bodyPr/>
        <a:lstStyle/>
        <a:p>
          <a:endParaRPr lang="es-AR"/>
        </a:p>
      </dgm:t>
    </dgm:pt>
    <dgm:pt modelId="{4708CDFA-8727-4C08-91A0-C5AC88CA8B68}" type="sibTrans" cxnId="{C7219E06-E762-472A-9937-69F038FD718D}">
      <dgm:prSet/>
      <dgm:spPr/>
      <dgm:t>
        <a:bodyPr/>
        <a:lstStyle/>
        <a:p>
          <a:endParaRPr lang="es-AR"/>
        </a:p>
      </dgm:t>
    </dgm:pt>
    <dgm:pt modelId="{E3CF9DDD-2063-48C4-AFA7-DD40BFFB0EA5}">
      <dgm:prSet phldrT="[Texto]"/>
      <dgm:spPr>
        <a:solidFill>
          <a:schemeClr val="accent3">
            <a:lumMod val="75000"/>
          </a:schemeClr>
        </a:solidFill>
      </dgm:spPr>
      <dgm:t>
        <a:bodyPr/>
        <a:lstStyle/>
        <a:p>
          <a:r>
            <a:rPr lang="es-ES" b="1" dirty="0"/>
            <a:t>FINALIDAD</a:t>
          </a:r>
          <a:endParaRPr lang="es-AR" b="1" dirty="0"/>
        </a:p>
      </dgm:t>
    </dgm:pt>
    <dgm:pt modelId="{10DE8EE3-6481-43EB-B3F5-6A8CCBB29214}" type="parTrans" cxnId="{576CF601-502B-4AB0-96A8-E3EA0D43E147}">
      <dgm:prSet/>
      <dgm:spPr/>
      <dgm:t>
        <a:bodyPr/>
        <a:lstStyle/>
        <a:p>
          <a:endParaRPr lang="es-AR"/>
        </a:p>
      </dgm:t>
    </dgm:pt>
    <dgm:pt modelId="{4128B53A-F471-42CE-A511-D7FD9E3533F6}" type="sibTrans" cxnId="{576CF601-502B-4AB0-96A8-E3EA0D43E147}">
      <dgm:prSet/>
      <dgm:spPr/>
      <dgm:t>
        <a:bodyPr/>
        <a:lstStyle/>
        <a:p>
          <a:endParaRPr lang="es-AR"/>
        </a:p>
      </dgm:t>
    </dgm:pt>
    <dgm:pt modelId="{170DDE92-F7AC-4728-A3A4-67342763FB1B}">
      <dgm:prSet phldrT="[Texto]" custT="1"/>
      <dgm:spPr>
        <a:solidFill>
          <a:schemeClr val="accent3">
            <a:lumMod val="75000"/>
          </a:schemeClr>
        </a:solidFill>
      </dgm:spPr>
      <dgm:t>
        <a:bodyPr/>
        <a:lstStyle/>
        <a:p>
          <a:r>
            <a:rPr lang="es-ES" sz="2400" dirty="0"/>
            <a:t>Lograr un acuerdo</a:t>
          </a:r>
          <a:endParaRPr lang="es-AR" sz="2400" dirty="0"/>
        </a:p>
      </dgm:t>
    </dgm:pt>
    <dgm:pt modelId="{C2F40062-C648-4B3B-B6A0-17E3815CA4C8}" type="parTrans" cxnId="{37940196-D86E-4190-8A39-3B85942C36F8}">
      <dgm:prSet/>
      <dgm:spPr/>
      <dgm:t>
        <a:bodyPr/>
        <a:lstStyle/>
        <a:p>
          <a:endParaRPr lang="es-AR"/>
        </a:p>
      </dgm:t>
    </dgm:pt>
    <dgm:pt modelId="{50B24EA8-8936-4AAA-9EE3-F7ABC245723E}" type="sibTrans" cxnId="{37940196-D86E-4190-8A39-3B85942C36F8}">
      <dgm:prSet/>
      <dgm:spPr/>
      <dgm:t>
        <a:bodyPr/>
        <a:lstStyle/>
        <a:p>
          <a:endParaRPr lang="es-AR"/>
        </a:p>
      </dgm:t>
    </dgm:pt>
    <dgm:pt modelId="{D26E3CD6-929B-4268-A1B2-63EBEFF0DF24}" type="pres">
      <dgm:prSet presAssocID="{80152F69-12B1-444C-8323-5A5E4454948C}" presName="Name0" presStyleCnt="0">
        <dgm:presLayoutVars>
          <dgm:dir/>
          <dgm:resizeHandles val="exact"/>
        </dgm:presLayoutVars>
      </dgm:prSet>
      <dgm:spPr/>
    </dgm:pt>
    <dgm:pt modelId="{C46E3CDB-61EF-413E-83B2-1D6862B63D41}" type="pres">
      <dgm:prSet presAssocID="{652CB3C3-8AD1-4E10-830E-AA1FBA145438}" presName="node" presStyleLbl="node1" presStyleIdx="0" presStyleCnt="3">
        <dgm:presLayoutVars>
          <dgm:bulletEnabled val="1"/>
        </dgm:presLayoutVars>
      </dgm:prSet>
      <dgm:spPr/>
    </dgm:pt>
    <dgm:pt modelId="{B2C315D9-A890-4951-931C-E6106530D70D}" type="pres">
      <dgm:prSet presAssocID="{9EE4E858-2FAF-4AD4-A4BF-D7710B5978F4}" presName="sibTrans" presStyleCnt="0"/>
      <dgm:spPr/>
    </dgm:pt>
    <dgm:pt modelId="{3F8F4B50-F741-4FAC-8E15-858521EC45AB}" type="pres">
      <dgm:prSet presAssocID="{A89B3694-BFE7-48B8-B3DE-679FCDCE4697}" presName="node" presStyleLbl="node1" presStyleIdx="1" presStyleCnt="3">
        <dgm:presLayoutVars>
          <dgm:bulletEnabled val="1"/>
        </dgm:presLayoutVars>
      </dgm:prSet>
      <dgm:spPr/>
    </dgm:pt>
    <dgm:pt modelId="{38F69F78-CABF-400F-8FE4-26DCEF204E62}" type="pres">
      <dgm:prSet presAssocID="{0BEE4086-1929-4C91-93FA-1D00FBDD12A7}" presName="sibTrans" presStyleCnt="0"/>
      <dgm:spPr/>
    </dgm:pt>
    <dgm:pt modelId="{1AA5B0E3-FA11-4B3A-A28B-F299E37EB36E}" type="pres">
      <dgm:prSet presAssocID="{E3CF9DDD-2063-48C4-AFA7-DD40BFFB0EA5}" presName="node" presStyleLbl="node1" presStyleIdx="2" presStyleCnt="3">
        <dgm:presLayoutVars>
          <dgm:bulletEnabled val="1"/>
        </dgm:presLayoutVars>
      </dgm:prSet>
      <dgm:spPr/>
    </dgm:pt>
  </dgm:ptLst>
  <dgm:cxnLst>
    <dgm:cxn modelId="{576CF601-502B-4AB0-96A8-E3EA0D43E147}" srcId="{80152F69-12B1-444C-8323-5A5E4454948C}" destId="{E3CF9DDD-2063-48C4-AFA7-DD40BFFB0EA5}" srcOrd="2" destOrd="0" parTransId="{10DE8EE3-6481-43EB-B3F5-6A8CCBB29214}" sibTransId="{4128B53A-F471-42CE-A511-D7FD9E3533F6}"/>
    <dgm:cxn modelId="{C7219E06-E762-472A-9937-69F038FD718D}" srcId="{A89B3694-BFE7-48B8-B3DE-679FCDCE4697}" destId="{BAB40CAF-F641-48BE-A0D0-086B4EB351DC}" srcOrd="1" destOrd="0" parTransId="{DE77BF42-41CE-479C-A00C-F2FD15C667D4}" sibTransId="{4708CDFA-8727-4C08-91A0-C5AC88CA8B68}"/>
    <dgm:cxn modelId="{7093D706-6AF5-4A73-8B35-BB1AD2BF0E87}" srcId="{80152F69-12B1-444C-8323-5A5E4454948C}" destId="{A89B3694-BFE7-48B8-B3DE-679FCDCE4697}" srcOrd="1" destOrd="0" parTransId="{EC741F6F-2D57-4544-8276-6D6EC3D9F03F}" sibTransId="{0BEE4086-1929-4C91-93FA-1D00FBDD12A7}"/>
    <dgm:cxn modelId="{FCEDEB3F-6976-4443-8EDD-9825D3ADBF93}" type="presOf" srcId="{49AE7591-9799-4B5D-AD7A-08EEF1FD038B}" destId="{C46E3CDB-61EF-413E-83B2-1D6862B63D41}" srcOrd="0" destOrd="1" presId="urn:microsoft.com/office/officeart/2005/8/layout/hList6"/>
    <dgm:cxn modelId="{B6AB0C68-DF09-4921-89E1-259C990497A7}" type="presOf" srcId="{E3CF9DDD-2063-48C4-AFA7-DD40BFFB0EA5}" destId="{1AA5B0E3-FA11-4B3A-A28B-F299E37EB36E}" srcOrd="0" destOrd="0" presId="urn:microsoft.com/office/officeart/2005/8/layout/hList6"/>
    <dgm:cxn modelId="{24FF3E6D-770A-47AA-AF53-9D7D876D7A6C}" type="presOf" srcId="{3CC2D822-CC4E-43B0-B745-B2419708A4B3}" destId="{3F8F4B50-F741-4FAC-8E15-858521EC45AB}" srcOrd="0" destOrd="1" presId="urn:microsoft.com/office/officeart/2005/8/layout/hList6"/>
    <dgm:cxn modelId="{13A09555-3D0A-45C7-B158-70C57AC4EA06}" type="presOf" srcId="{170DDE92-F7AC-4728-A3A4-67342763FB1B}" destId="{1AA5B0E3-FA11-4B3A-A28B-F299E37EB36E}" srcOrd="0" destOrd="1" presId="urn:microsoft.com/office/officeart/2005/8/layout/hList6"/>
    <dgm:cxn modelId="{995EF776-E12C-4B0A-BD77-2AA0DAA381C0}" type="presOf" srcId="{652CB3C3-8AD1-4E10-830E-AA1FBA145438}" destId="{C46E3CDB-61EF-413E-83B2-1D6862B63D41}" srcOrd="0" destOrd="0" presId="urn:microsoft.com/office/officeart/2005/8/layout/hList6"/>
    <dgm:cxn modelId="{24D6527F-015C-4580-8C14-9D8E5254B02C}" type="presOf" srcId="{A89B3694-BFE7-48B8-B3DE-679FCDCE4697}" destId="{3F8F4B50-F741-4FAC-8E15-858521EC45AB}" srcOrd="0" destOrd="0" presId="urn:microsoft.com/office/officeart/2005/8/layout/hList6"/>
    <dgm:cxn modelId="{5FF5BA89-61DF-4FFA-B561-CB3280077B87}" srcId="{A89B3694-BFE7-48B8-B3DE-679FCDCE4697}" destId="{3CC2D822-CC4E-43B0-B745-B2419708A4B3}" srcOrd="0" destOrd="0" parTransId="{91F3F8D2-51DB-4437-A88A-225F42610458}" sibTransId="{7D1FE511-AAA0-4EFC-82B4-9160F4FE43A7}"/>
    <dgm:cxn modelId="{37940196-D86E-4190-8A39-3B85942C36F8}" srcId="{E3CF9DDD-2063-48C4-AFA7-DD40BFFB0EA5}" destId="{170DDE92-F7AC-4728-A3A4-67342763FB1B}" srcOrd="0" destOrd="0" parTransId="{C2F40062-C648-4B3B-B6A0-17E3815CA4C8}" sibTransId="{50B24EA8-8936-4AAA-9EE3-F7ABC245723E}"/>
    <dgm:cxn modelId="{054C35A0-F09F-4B3C-9110-2364DBEB5597}" type="presOf" srcId="{80152F69-12B1-444C-8323-5A5E4454948C}" destId="{D26E3CD6-929B-4268-A1B2-63EBEFF0DF24}" srcOrd="0" destOrd="0" presId="urn:microsoft.com/office/officeart/2005/8/layout/hList6"/>
    <dgm:cxn modelId="{3E58F7B8-5AB8-4718-AE26-D7C299782806}" srcId="{652CB3C3-8AD1-4E10-830E-AA1FBA145438}" destId="{49AE7591-9799-4B5D-AD7A-08EEF1FD038B}" srcOrd="0" destOrd="0" parTransId="{4E4A62F5-7E42-4E05-8A33-12A29AB5F9C9}" sibTransId="{9082A441-9EF6-43CA-B584-5B974802EEEF}"/>
    <dgm:cxn modelId="{7DE251D5-233D-4D25-B895-0F02C6B12DEC}" type="presOf" srcId="{BAB40CAF-F641-48BE-A0D0-086B4EB351DC}" destId="{3F8F4B50-F741-4FAC-8E15-858521EC45AB}" srcOrd="0" destOrd="2" presId="urn:microsoft.com/office/officeart/2005/8/layout/hList6"/>
    <dgm:cxn modelId="{D911C3F6-400C-44DE-9706-821E1134FEF0}" srcId="{80152F69-12B1-444C-8323-5A5E4454948C}" destId="{652CB3C3-8AD1-4E10-830E-AA1FBA145438}" srcOrd="0" destOrd="0" parTransId="{38E1E63B-98F8-4758-8143-4759BCDD3941}" sibTransId="{9EE4E858-2FAF-4AD4-A4BF-D7710B5978F4}"/>
    <dgm:cxn modelId="{8F369C57-372E-4654-BFB4-0760BFAC84C6}" type="presParOf" srcId="{D26E3CD6-929B-4268-A1B2-63EBEFF0DF24}" destId="{C46E3CDB-61EF-413E-83B2-1D6862B63D41}" srcOrd="0" destOrd="0" presId="urn:microsoft.com/office/officeart/2005/8/layout/hList6"/>
    <dgm:cxn modelId="{7D9E3532-663A-4639-8D35-1889C43C292C}" type="presParOf" srcId="{D26E3CD6-929B-4268-A1B2-63EBEFF0DF24}" destId="{B2C315D9-A890-4951-931C-E6106530D70D}" srcOrd="1" destOrd="0" presId="urn:microsoft.com/office/officeart/2005/8/layout/hList6"/>
    <dgm:cxn modelId="{B4BC1904-C593-4C71-A2F5-C99C63C6AEE3}" type="presParOf" srcId="{D26E3CD6-929B-4268-A1B2-63EBEFF0DF24}" destId="{3F8F4B50-F741-4FAC-8E15-858521EC45AB}" srcOrd="2" destOrd="0" presId="urn:microsoft.com/office/officeart/2005/8/layout/hList6"/>
    <dgm:cxn modelId="{2B28DB46-14D0-4EE9-86E2-DC574135F35B}" type="presParOf" srcId="{D26E3CD6-929B-4268-A1B2-63EBEFF0DF24}" destId="{38F69F78-CABF-400F-8FE4-26DCEF204E62}" srcOrd="3" destOrd="0" presId="urn:microsoft.com/office/officeart/2005/8/layout/hList6"/>
    <dgm:cxn modelId="{2F5757A8-183A-4AB5-BE7C-D943E5A587AC}" type="presParOf" srcId="{D26E3CD6-929B-4268-A1B2-63EBEFF0DF24}" destId="{1AA5B0E3-FA11-4B3A-A28B-F299E37EB36E}"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80940AF-A0F9-432B-AE71-EFB75D787FE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s-AR"/>
        </a:p>
      </dgm:t>
    </dgm:pt>
    <dgm:pt modelId="{AF068DF3-EAB3-4BF6-B3C8-EEFEDFA6CA1E}">
      <dgm:prSet phldrT="[Texto]" custT="1"/>
      <dgm:spPr>
        <a:solidFill>
          <a:schemeClr val="bg2">
            <a:lumMod val="50000"/>
          </a:schemeClr>
        </a:solidFill>
      </dgm:spPr>
      <dgm:t>
        <a:bodyPr/>
        <a:lstStyle/>
        <a:p>
          <a:r>
            <a:rPr lang="es-ES" sz="2000" b="1" dirty="0"/>
            <a:t>NEGOCIACIÓN</a:t>
          </a:r>
          <a:endParaRPr lang="es-AR" sz="2000" b="1" dirty="0"/>
        </a:p>
      </dgm:t>
    </dgm:pt>
    <dgm:pt modelId="{C9D9C6DF-F6F8-4E60-BB89-F0631E4DC1C5}" type="parTrans" cxnId="{C677C90D-BDE6-49EE-A350-AA59667A6FE7}">
      <dgm:prSet/>
      <dgm:spPr/>
      <dgm:t>
        <a:bodyPr/>
        <a:lstStyle/>
        <a:p>
          <a:endParaRPr lang="es-AR"/>
        </a:p>
      </dgm:t>
    </dgm:pt>
    <dgm:pt modelId="{7A41EBB3-0425-451B-9F68-A4BC4DA20B21}" type="sibTrans" cxnId="{C677C90D-BDE6-49EE-A350-AA59667A6FE7}">
      <dgm:prSet/>
      <dgm:spPr/>
      <dgm:t>
        <a:bodyPr/>
        <a:lstStyle/>
        <a:p>
          <a:endParaRPr lang="es-AR"/>
        </a:p>
      </dgm:t>
    </dgm:pt>
    <dgm:pt modelId="{9291FDA3-49FA-47BA-80D4-F7A4929F5047}">
      <dgm:prSet phldrT="[Texto]" custT="1"/>
      <dgm:spPr>
        <a:ln>
          <a:solidFill>
            <a:schemeClr val="bg2">
              <a:lumMod val="75000"/>
            </a:schemeClr>
          </a:solidFill>
        </a:ln>
      </dgm:spPr>
      <dgm:t>
        <a:bodyPr/>
        <a:lstStyle/>
        <a:p>
          <a:pPr>
            <a:buNone/>
          </a:pPr>
          <a:r>
            <a:rPr kumimoji="0" lang="es-MX" sz="1600" b="0" i="0" u="none" strike="noStrike" cap="none" spc="0" normalizeH="0" baseline="0" noProof="0" dirty="0">
              <a:ln/>
              <a:uLnTx/>
              <a:uFillTx/>
              <a:latin typeface="+mn-lt"/>
            </a:rPr>
            <a:t>Intervienen solamente las </a:t>
          </a:r>
          <a:r>
            <a:rPr kumimoji="0" lang="es-MX" sz="1600" b="1" i="0" u="none" strike="noStrike" cap="none" spc="0" normalizeH="0" baseline="0" noProof="0" dirty="0">
              <a:ln/>
              <a:uLnTx/>
              <a:uFillTx/>
              <a:latin typeface="+mn-lt"/>
            </a:rPr>
            <a:t>dos partes en conflicto</a:t>
          </a:r>
          <a:r>
            <a:rPr kumimoji="0" lang="es-MX" sz="1600" b="0" i="0" u="none" strike="noStrike" cap="none" spc="0" normalizeH="0" baseline="0" noProof="0" dirty="0">
              <a:ln/>
              <a:uLnTx/>
              <a:uFillTx/>
              <a:latin typeface="+mn-lt"/>
            </a:rPr>
            <a:t>: Empleador / Trabajador.</a:t>
          </a:r>
          <a:endParaRPr lang="es-AR" sz="1600" dirty="0">
            <a:latin typeface="+mn-lt"/>
          </a:endParaRPr>
        </a:p>
      </dgm:t>
    </dgm:pt>
    <dgm:pt modelId="{10541C0C-18B4-4032-A95D-0A6564AB1FEC}" type="parTrans" cxnId="{32D80DDD-01B9-4FFB-BCF7-F9FC330859C2}">
      <dgm:prSet/>
      <dgm:spPr/>
      <dgm:t>
        <a:bodyPr/>
        <a:lstStyle/>
        <a:p>
          <a:endParaRPr lang="es-AR"/>
        </a:p>
      </dgm:t>
    </dgm:pt>
    <dgm:pt modelId="{9398C7D3-F777-4425-B31E-48640744C421}" type="sibTrans" cxnId="{32D80DDD-01B9-4FFB-BCF7-F9FC330859C2}">
      <dgm:prSet/>
      <dgm:spPr/>
      <dgm:t>
        <a:bodyPr/>
        <a:lstStyle/>
        <a:p>
          <a:endParaRPr lang="es-AR"/>
        </a:p>
      </dgm:t>
    </dgm:pt>
    <dgm:pt modelId="{24712A32-B0B6-4C43-827C-6F8C7E1A7AE3}">
      <dgm:prSet phldrT="[Texto]" custT="1"/>
      <dgm:spPr>
        <a:solidFill>
          <a:schemeClr val="accent4">
            <a:lumMod val="75000"/>
          </a:schemeClr>
        </a:solidFill>
      </dgm:spPr>
      <dgm:t>
        <a:bodyPr/>
        <a:lstStyle/>
        <a:p>
          <a:r>
            <a:rPr lang="es-ES" sz="2000" b="1" dirty="0"/>
            <a:t>MEDICIACIÓN CONCILIACIÓN</a:t>
          </a:r>
          <a:endParaRPr lang="es-AR" sz="2000" b="1" dirty="0"/>
        </a:p>
      </dgm:t>
    </dgm:pt>
    <dgm:pt modelId="{F4096085-AA4D-4B38-B5E7-69ECE162B039}" type="parTrans" cxnId="{54BFA37D-82C8-4A46-ABCB-64D81CAA0410}">
      <dgm:prSet/>
      <dgm:spPr/>
      <dgm:t>
        <a:bodyPr/>
        <a:lstStyle/>
        <a:p>
          <a:endParaRPr lang="es-AR"/>
        </a:p>
      </dgm:t>
    </dgm:pt>
    <dgm:pt modelId="{BAB35ADD-EF82-407E-8108-61937CA8C4FD}" type="sibTrans" cxnId="{54BFA37D-82C8-4A46-ABCB-64D81CAA0410}">
      <dgm:prSet/>
      <dgm:spPr/>
      <dgm:t>
        <a:bodyPr/>
        <a:lstStyle/>
        <a:p>
          <a:endParaRPr lang="es-AR"/>
        </a:p>
      </dgm:t>
    </dgm:pt>
    <dgm:pt modelId="{A14D8B4C-5857-442E-A5CC-CA0B0AE76F85}">
      <dgm:prSet phldrT="[Texto]" custT="1"/>
      <dgm:spPr>
        <a:ln>
          <a:solidFill>
            <a:schemeClr val="accent4">
              <a:lumMod val="60000"/>
              <a:lumOff val="40000"/>
            </a:schemeClr>
          </a:solidFill>
        </a:ln>
      </dgm:spPr>
      <dgm:t>
        <a:bodyPr/>
        <a:lstStyle/>
        <a:p>
          <a:pPr marL="0" indent="0">
            <a:buNone/>
          </a:pPr>
          <a:r>
            <a:rPr kumimoji="0" lang="es-MX" sz="1600" b="0" i="0" u="none" strike="noStrike" cap="none" spc="0" normalizeH="0" baseline="0" noProof="0" dirty="0">
              <a:ln/>
              <a:uLnTx/>
              <a:uFillTx/>
              <a:latin typeface="+mn-lt"/>
            </a:rPr>
            <a:t>- Es el </a:t>
          </a:r>
          <a:r>
            <a:rPr kumimoji="0" lang="es-MX" sz="1600" b="1" i="0" u="none" strike="noStrike" cap="none" spc="0" normalizeH="0" baseline="0" noProof="0" dirty="0">
              <a:ln/>
              <a:uLnTx/>
              <a:uFillTx/>
              <a:latin typeface="+mn-lt"/>
            </a:rPr>
            <a:t>MTSS quien propone formulas conciliatorias.</a:t>
          </a:r>
          <a:endParaRPr lang="es-AR" sz="1600" dirty="0">
            <a:latin typeface="+mn-lt"/>
          </a:endParaRPr>
        </a:p>
      </dgm:t>
    </dgm:pt>
    <dgm:pt modelId="{EE4F2E2C-6BC4-483D-863D-9DAE3A98C7B7}" type="parTrans" cxnId="{71587693-3CC1-48B2-B858-35890FA495C3}">
      <dgm:prSet/>
      <dgm:spPr/>
      <dgm:t>
        <a:bodyPr/>
        <a:lstStyle/>
        <a:p>
          <a:endParaRPr lang="es-AR"/>
        </a:p>
      </dgm:t>
    </dgm:pt>
    <dgm:pt modelId="{9AC55B1E-D547-461B-84ED-1C474D5DAA5F}" type="sibTrans" cxnId="{71587693-3CC1-48B2-B858-35890FA495C3}">
      <dgm:prSet/>
      <dgm:spPr/>
      <dgm:t>
        <a:bodyPr/>
        <a:lstStyle/>
        <a:p>
          <a:endParaRPr lang="es-AR"/>
        </a:p>
      </dgm:t>
    </dgm:pt>
    <dgm:pt modelId="{E776E349-7AFC-47F7-9126-8982E2BBD1D8}">
      <dgm:prSet phldrT="[Texto]" custT="1"/>
      <dgm:spPr>
        <a:solidFill>
          <a:schemeClr val="accent4">
            <a:lumMod val="75000"/>
          </a:schemeClr>
        </a:solidFill>
      </dgm:spPr>
      <dgm:t>
        <a:bodyPr/>
        <a:lstStyle/>
        <a:p>
          <a:r>
            <a:rPr lang="es-ES" sz="2000" b="1"/>
            <a:t>ARBITRAJE OBLIGATORIO</a:t>
          </a:r>
          <a:endParaRPr lang="es-AR" sz="2000" b="1" dirty="0"/>
        </a:p>
      </dgm:t>
    </dgm:pt>
    <dgm:pt modelId="{BAC0662D-DE6E-46FC-9603-4E1EC174BD31}" type="parTrans" cxnId="{AA157671-A8A1-47AB-B8CB-7D619CF10020}">
      <dgm:prSet/>
      <dgm:spPr/>
      <dgm:t>
        <a:bodyPr/>
        <a:lstStyle/>
        <a:p>
          <a:endParaRPr lang="es-AR"/>
        </a:p>
      </dgm:t>
    </dgm:pt>
    <dgm:pt modelId="{F7BFA222-8A9D-44CB-8971-FC983542B352}" type="sibTrans" cxnId="{AA157671-A8A1-47AB-B8CB-7D619CF10020}">
      <dgm:prSet/>
      <dgm:spPr/>
      <dgm:t>
        <a:bodyPr/>
        <a:lstStyle/>
        <a:p>
          <a:endParaRPr lang="es-AR"/>
        </a:p>
      </dgm:t>
    </dgm:pt>
    <dgm:pt modelId="{4B0611C1-691F-4E62-993F-632A809515EA}">
      <dgm:prSet phldrT="[Texto]" custT="1"/>
      <dgm:spPr>
        <a:ln>
          <a:solidFill>
            <a:schemeClr val="accent4">
              <a:lumMod val="60000"/>
              <a:lumOff val="40000"/>
            </a:schemeClr>
          </a:solidFill>
        </a:ln>
      </dgm:spPr>
      <dgm:t>
        <a:bodyPr/>
        <a:lstStyle/>
        <a:p>
          <a:pPr marL="0" indent="0">
            <a:buNone/>
          </a:pPr>
          <a:r>
            <a:rPr lang="es-AR" sz="1600" b="0" i="0" dirty="0"/>
            <a:t>-</a:t>
          </a:r>
          <a:r>
            <a:rPr lang="es-AR" sz="1600" b="1" i="0" dirty="0"/>
            <a:t> Un arbitro designado evalúa las posiciones de las partes y las pruebas ofrecidas.</a:t>
          </a:r>
          <a:r>
            <a:rPr lang="es-AR" sz="1600" b="0" i="0" dirty="0"/>
            <a:t> </a:t>
          </a:r>
          <a:endParaRPr lang="es-AR" sz="1600" dirty="0"/>
        </a:p>
      </dgm:t>
    </dgm:pt>
    <dgm:pt modelId="{FC789D25-5FBA-4165-9D26-D4025E0745D6}" type="parTrans" cxnId="{601C3FCB-9930-4473-8EBF-A55CD5F05A3A}">
      <dgm:prSet/>
      <dgm:spPr/>
      <dgm:t>
        <a:bodyPr/>
        <a:lstStyle/>
        <a:p>
          <a:endParaRPr lang="es-AR"/>
        </a:p>
      </dgm:t>
    </dgm:pt>
    <dgm:pt modelId="{64A2CAD2-BD6C-4143-BD12-CC9666B31F03}" type="sibTrans" cxnId="{601C3FCB-9930-4473-8EBF-A55CD5F05A3A}">
      <dgm:prSet/>
      <dgm:spPr/>
      <dgm:t>
        <a:bodyPr/>
        <a:lstStyle/>
        <a:p>
          <a:endParaRPr lang="es-AR"/>
        </a:p>
      </dgm:t>
    </dgm:pt>
    <dgm:pt modelId="{7D99439A-C853-4F93-B759-6B3BE98BF785}">
      <dgm:prSet phldrT="[Texto]" custT="1"/>
      <dgm:spPr>
        <a:ln>
          <a:solidFill>
            <a:schemeClr val="accent4">
              <a:lumMod val="60000"/>
              <a:lumOff val="40000"/>
            </a:schemeClr>
          </a:solidFill>
        </a:ln>
      </dgm:spPr>
      <dgm:t>
        <a:bodyPr/>
        <a:lstStyle/>
        <a:p>
          <a:pPr marL="0" indent="0">
            <a:buNone/>
          </a:pPr>
          <a:r>
            <a:rPr lang="es-AR" sz="1600" b="0" i="0" dirty="0"/>
            <a:t>- El fallo arbitral da por terminado el conflicto y es recurrible ante la justicia en determinados casos.</a:t>
          </a:r>
          <a:endParaRPr lang="es-AR" sz="1600" dirty="0"/>
        </a:p>
      </dgm:t>
    </dgm:pt>
    <dgm:pt modelId="{7FD79A8A-7298-41ED-9915-48AB41AEAD09}" type="parTrans" cxnId="{2A6AE7E8-DB33-4C4A-81BA-950E9A11FC84}">
      <dgm:prSet/>
      <dgm:spPr/>
      <dgm:t>
        <a:bodyPr/>
        <a:lstStyle/>
        <a:p>
          <a:endParaRPr lang="es-AR"/>
        </a:p>
      </dgm:t>
    </dgm:pt>
    <dgm:pt modelId="{2B7870AE-D365-4659-8667-BC26689FF68B}" type="sibTrans" cxnId="{2A6AE7E8-DB33-4C4A-81BA-950E9A11FC84}">
      <dgm:prSet/>
      <dgm:spPr/>
      <dgm:t>
        <a:bodyPr/>
        <a:lstStyle/>
        <a:p>
          <a:endParaRPr lang="es-AR"/>
        </a:p>
      </dgm:t>
    </dgm:pt>
    <dgm:pt modelId="{7F1A926B-9C81-4D67-936D-2076BE72724D}">
      <dgm:prSet phldrT="[Texto]" custT="1"/>
      <dgm:spPr>
        <a:ln>
          <a:solidFill>
            <a:schemeClr val="accent4">
              <a:lumMod val="60000"/>
              <a:lumOff val="40000"/>
            </a:schemeClr>
          </a:solidFill>
        </a:ln>
      </dgm:spPr>
      <dgm:t>
        <a:bodyPr/>
        <a:lstStyle/>
        <a:p>
          <a:pPr marL="0" indent="0">
            <a:buNone/>
          </a:pPr>
          <a:r>
            <a:rPr lang="es-US" sz="1600" dirty="0">
              <a:latin typeface="+mn-lt"/>
            </a:rPr>
            <a:t>- Instrumento jurídico previsto en la Ley </a:t>
          </a:r>
          <a:r>
            <a:rPr lang="es-US" sz="1600" dirty="0" err="1">
              <a:latin typeface="+mn-lt"/>
            </a:rPr>
            <a:t>Nº</a:t>
          </a:r>
          <a:r>
            <a:rPr lang="es-US" sz="1600" dirty="0">
              <a:latin typeface="+mn-lt"/>
            </a:rPr>
            <a:t> 24.635 para generar una </a:t>
          </a:r>
          <a:br>
            <a:rPr lang="es-US" sz="1600" dirty="0">
              <a:latin typeface="+mn-lt"/>
            </a:rPr>
          </a:br>
          <a:r>
            <a:rPr lang="es-US" sz="1600" dirty="0">
              <a:latin typeface="+mn-lt"/>
            </a:rPr>
            <a:t>instancia de conciliación entre los trabajadores y el empleador en conflicto.</a:t>
          </a:r>
          <a:endParaRPr lang="es-AR" sz="1600" dirty="0">
            <a:latin typeface="+mn-lt"/>
          </a:endParaRPr>
        </a:p>
      </dgm:t>
    </dgm:pt>
    <dgm:pt modelId="{A89DEE38-55EA-43C8-B0FB-C75A11529800}" type="parTrans" cxnId="{9C5F9713-AD34-47B2-BC36-8569833760EE}">
      <dgm:prSet/>
      <dgm:spPr/>
      <dgm:t>
        <a:bodyPr/>
        <a:lstStyle/>
        <a:p>
          <a:endParaRPr lang="es-AR"/>
        </a:p>
      </dgm:t>
    </dgm:pt>
    <dgm:pt modelId="{8D54BB84-AE7B-411D-AA2B-5381559EC31E}" type="sibTrans" cxnId="{9C5F9713-AD34-47B2-BC36-8569833760EE}">
      <dgm:prSet/>
      <dgm:spPr/>
      <dgm:t>
        <a:bodyPr/>
        <a:lstStyle/>
        <a:p>
          <a:endParaRPr lang="es-AR"/>
        </a:p>
      </dgm:t>
    </dgm:pt>
    <dgm:pt modelId="{DE664EB7-5B80-4086-A0C1-4BF093AA898D}">
      <dgm:prSet phldrT="[Texto]" custT="1"/>
      <dgm:spPr>
        <a:ln>
          <a:solidFill>
            <a:schemeClr val="accent4">
              <a:lumMod val="60000"/>
              <a:lumOff val="40000"/>
            </a:schemeClr>
          </a:solidFill>
        </a:ln>
      </dgm:spPr>
      <dgm:t>
        <a:bodyPr/>
        <a:lstStyle/>
        <a:p>
          <a:pPr marL="0" indent="0">
            <a:buNone/>
          </a:pPr>
          <a:r>
            <a:rPr lang="es-US" sz="1600" dirty="0">
              <a:latin typeface="+mn-lt"/>
            </a:rPr>
            <a:t>- Mientras negocian, </a:t>
          </a:r>
          <a:r>
            <a:rPr lang="es-US" sz="1600" b="1" dirty="0">
              <a:latin typeface="+mn-lt"/>
            </a:rPr>
            <a:t>los protestantes deben abandonar la huelga.</a:t>
          </a:r>
          <a:endParaRPr lang="es-AR" sz="1600" dirty="0">
            <a:latin typeface="+mn-lt"/>
          </a:endParaRPr>
        </a:p>
      </dgm:t>
    </dgm:pt>
    <dgm:pt modelId="{975B1DD6-E8B6-4867-BF6C-910D404EA63F}" type="parTrans" cxnId="{D5F4F5C9-47B4-4F1A-AFE9-205C4DC2FA5E}">
      <dgm:prSet/>
      <dgm:spPr/>
      <dgm:t>
        <a:bodyPr/>
        <a:lstStyle/>
        <a:p>
          <a:endParaRPr lang="es-AR"/>
        </a:p>
      </dgm:t>
    </dgm:pt>
    <dgm:pt modelId="{2CC8DCEA-66AE-4018-9765-E016DAAF404F}" type="sibTrans" cxnId="{D5F4F5C9-47B4-4F1A-AFE9-205C4DC2FA5E}">
      <dgm:prSet/>
      <dgm:spPr/>
      <dgm:t>
        <a:bodyPr/>
        <a:lstStyle/>
        <a:p>
          <a:endParaRPr lang="es-AR"/>
        </a:p>
      </dgm:t>
    </dgm:pt>
    <dgm:pt modelId="{F16E6682-33E0-4BC1-8E0F-FF2A8B31EC12}" type="pres">
      <dgm:prSet presAssocID="{980940AF-A0F9-432B-AE71-EFB75D787FE7}" presName="linear" presStyleCnt="0">
        <dgm:presLayoutVars>
          <dgm:dir/>
          <dgm:animLvl val="lvl"/>
          <dgm:resizeHandles val="exact"/>
        </dgm:presLayoutVars>
      </dgm:prSet>
      <dgm:spPr/>
    </dgm:pt>
    <dgm:pt modelId="{E360FA90-3E03-4A0C-81C9-401B70682C8F}" type="pres">
      <dgm:prSet presAssocID="{AF068DF3-EAB3-4BF6-B3C8-EEFEDFA6CA1E}" presName="parentLin" presStyleCnt="0"/>
      <dgm:spPr/>
    </dgm:pt>
    <dgm:pt modelId="{9EE11C74-8FA7-45DD-AD9C-AFD5CB07E241}" type="pres">
      <dgm:prSet presAssocID="{AF068DF3-EAB3-4BF6-B3C8-EEFEDFA6CA1E}" presName="parentLeftMargin" presStyleLbl="node1" presStyleIdx="0" presStyleCnt="3"/>
      <dgm:spPr/>
    </dgm:pt>
    <dgm:pt modelId="{D4C1CAFE-FBCC-4F51-83EC-05D2B9A1077A}" type="pres">
      <dgm:prSet presAssocID="{AF068DF3-EAB3-4BF6-B3C8-EEFEDFA6CA1E}" presName="parentText" presStyleLbl="node1" presStyleIdx="0" presStyleCnt="3">
        <dgm:presLayoutVars>
          <dgm:chMax val="0"/>
          <dgm:bulletEnabled val="1"/>
        </dgm:presLayoutVars>
      </dgm:prSet>
      <dgm:spPr/>
    </dgm:pt>
    <dgm:pt modelId="{C6AB1B5D-18A0-4ECF-AEF4-9A6DD40821DA}" type="pres">
      <dgm:prSet presAssocID="{AF068DF3-EAB3-4BF6-B3C8-EEFEDFA6CA1E}" presName="negativeSpace" presStyleCnt="0"/>
      <dgm:spPr/>
    </dgm:pt>
    <dgm:pt modelId="{F15BBAED-A5E6-4C5D-B9AC-A8B5632D2619}" type="pres">
      <dgm:prSet presAssocID="{AF068DF3-EAB3-4BF6-B3C8-EEFEDFA6CA1E}" presName="childText" presStyleLbl="conFgAcc1" presStyleIdx="0" presStyleCnt="3" custLinFactNeighborY="16700">
        <dgm:presLayoutVars>
          <dgm:bulletEnabled val="1"/>
        </dgm:presLayoutVars>
      </dgm:prSet>
      <dgm:spPr/>
    </dgm:pt>
    <dgm:pt modelId="{BD3C795B-F68B-45C0-BC86-4768193B019B}" type="pres">
      <dgm:prSet presAssocID="{7A41EBB3-0425-451B-9F68-A4BC4DA20B21}" presName="spaceBetweenRectangles" presStyleCnt="0"/>
      <dgm:spPr/>
    </dgm:pt>
    <dgm:pt modelId="{0C9B0C50-31B1-4924-A6AD-CC3C71CB6FD6}" type="pres">
      <dgm:prSet presAssocID="{24712A32-B0B6-4C43-827C-6F8C7E1A7AE3}" presName="parentLin" presStyleCnt="0"/>
      <dgm:spPr/>
    </dgm:pt>
    <dgm:pt modelId="{E0413EF2-A90D-4B28-A18B-CDCCC216215D}" type="pres">
      <dgm:prSet presAssocID="{24712A32-B0B6-4C43-827C-6F8C7E1A7AE3}" presName="parentLeftMargin" presStyleLbl="node1" presStyleIdx="0" presStyleCnt="3"/>
      <dgm:spPr/>
    </dgm:pt>
    <dgm:pt modelId="{DF29CB10-D6B1-4928-BA9F-9679E3271C1C}" type="pres">
      <dgm:prSet presAssocID="{24712A32-B0B6-4C43-827C-6F8C7E1A7AE3}" presName="parentText" presStyleLbl="node1" presStyleIdx="1" presStyleCnt="3">
        <dgm:presLayoutVars>
          <dgm:chMax val="0"/>
          <dgm:bulletEnabled val="1"/>
        </dgm:presLayoutVars>
      </dgm:prSet>
      <dgm:spPr/>
    </dgm:pt>
    <dgm:pt modelId="{3A23D8FA-7572-4B3F-BFB7-46FB6105ADD9}" type="pres">
      <dgm:prSet presAssocID="{24712A32-B0B6-4C43-827C-6F8C7E1A7AE3}" presName="negativeSpace" presStyleCnt="0"/>
      <dgm:spPr/>
    </dgm:pt>
    <dgm:pt modelId="{3177A3BE-952B-4A83-8074-79BC05C9C7A3}" type="pres">
      <dgm:prSet presAssocID="{24712A32-B0B6-4C43-827C-6F8C7E1A7AE3}" presName="childText" presStyleLbl="conFgAcc1" presStyleIdx="1" presStyleCnt="3">
        <dgm:presLayoutVars>
          <dgm:bulletEnabled val="1"/>
        </dgm:presLayoutVars>
      </dgm:prSet>
      <dgm:spPr/>
    </dgm:pt>
    <dgm:pt modelId="{DB4364CF-90A2-4C47-B26E-E9CBC2C1F0E2}" type="pres">
      <dgm:prSet presAssocID="{BAB35ADD-EF82-407E-8108-61937CA8C4FD}" presName="spaceBetweenRectangles" presStyleCnt="0"/>
      <dgm:spPr/>
    </dgm:pt>
    <dgm:pt modelId="{6A8891C7-13B5-4A72-9024-10F61036B602}" type="pres">
      <dgm:prSet presAssocID="{E776E349-7AFC-47F7-9126-8982E2BBD1D8}" presName="parentLin" presStyleCnt="0"/>
      <dgm:spPr/>
    </dgm:pt>
    <dgm:pt modelId="{0EBAA222-800B-4E7D-AF25-3A7AE44C865D}" type="pres">
      <dgm:prSet presAssocID="{E776E349-7AFC-47F7-9126-8982E2BBD1D8}" presName="parentLeftMargin" presStyleLbl="node1" presStyleIdx="1" presStyleCnt="3"/>
      <dgm:spPr/>
    </dgm:pt>
    <dgm:pt modelId="{5FD8E8C4-48A8-47CE-A49D-DFCA05043D7C}" type="pres">
      <dgm:prSet presAssocID="{E776E349-7AFC-47F7-9126-8982E2BBD1D8}" presName="parentText" presStyleLbl="node1" presStyleIdx="2" presStyleCnt="3">
        <dgm:presLayoutVars>
          <dgm:chMax val="0"/>
          <dgm:bulletEnabled val="1"/>
        </dgm:presLayoutVars>
      </dgm:prSet>
      <dgm:spPr/>
    </dgm:pt>
    <dgm:pt modelId="{FA0E797C-EF26-4A65-925B-F09C502873C9}" type="pres">
      <dgm:prSet presAssocID="{E776E349-7AFC-47F7-9126-8982E2BBD1D8}" presName="negativeSpace" presStyleCnt="0"/>
      <dgm:spPr/>
    </dgm:pt>
    <dgm:pt modelId="{61F673F6-CFFB-452E-A106-7F603FE83A51}" type="pres">
      <dgm:prSet presAssocID="{E776E349-7AFC-47F7-9126-8982E2BBD1D8}" presName="childText" presStyleLbl="conFgAcc1" presStyleIdx="2" presStyleCnt="3">
        <dgm:presLayoutVars>
          <dgm:bulletEnabled val="1"/>
        </dgm:presLayoutVars>
      </dgm:prSet>
      <dgm:spPr/>
    </dgm:pt>
  </dgm:ptLst>
  <dgm:cxnLst>
    <dgm:cxn modelId="{DA2F2004-5C40-4C1F-A220-87B24C1328C6}" type="presOf" srcId="{AF068DF3-EAB3-4BF6-B3C8-EEFEDFA6CA1E}" destId="{D4C1CAFE-FBCC-4F51-83EC-05D2B9A1077A}" srcOrd="1" destOrd="0" presId="urn:microsoft.com/office/officeart/2005/8/layout/list1"/>
    <dgm:cxn modelId="{CDEEE606-62AC-47D8-ACE9-849E04BA6FFB}" type="presOf" srcId="{980940AF-A0F9-432B-AE71-EFB75D787FE7}" destId="{F16E6682-33E0-4BC1-8E0F-FF2A8B31EC12}" srcOrd="0" destOrd="0" presId="urn:microsoft.com/office/officeart/2005/8/layout/list1"/>
    <dgm:cxn modelId="{C677C90D-BDE6-49EE-A350-AA59667A6FE7}" srcId="{980940AF-A0F9-432B-AE71-EFB75D787FE7}" destId="{AF068DF3-EAB3-4BF6-B3C8-EEFEDFA6CA1E}" srcOrd="0" destOrd="0" parTransId="{C9D9C6DF-F6F8-4E60-BB89-F0631E4DC1C5}" sibTransId="{7A41EBB3-0425-451B-9F68-A4BC4DA20B21}"/>
    <dgm:cxn modelId="{9C5F9713-AD34-47B2-BC36-8569833760EE}" srcId="{24712A32-B0B6-4C43-827C-6F8C7E1A7AE3}" destId="{7F1A926B-9C81-4D67-936D-2076BE72724D}" srcOrd="1" destOrd="0" parTransId="{A89DEE38-55EA-43C8-B0FB-C75A11529800}" sibTransId="{8D54BB84-AE7B-411D-AA2B-5381559EC31E}"/>
    <dgm:cxn modelId="{89DEE923-0AFB-4989-881E-FFD0BF1762E1}" type="presOf" srcId="{E776E349-7AFC-47F7-9126-8982E2BBD1D8}" destId="{5FD8E8C4-48A8-47CE-A49D-DFCA05043D7C}" srcOrd="1" destOrd="0" presId="urn:microsoft.com/office/officeart/2005/8/layout/list1"/>
    <dgm:cxn modelId="{3EDFA828-F583-4D69-9E9E-F2F5CC4F22B8}" type="presOf" srcId="{E776E349-7AFC-47F7-9126-8982E2BBD1D8}" destId="{0EBAA222-800B-4E7D-AF25-3A7AE44C865D}" srcOrd="0" destOrd="0" presId="urn:microsoft.com/office/officeart/2005/8/layout/list1"/>
    <dgm:cxn modelId="{E579A742-638C-4887-9AE8-E54EF29AF940}" type="presOf" srcId="{DE664EB7-5B80-4086-A0C1-4BF093AA898D}" destId="{3177A3BE-952B-4A83-8074-79BC05C9C7A3}" srcOrd="0" destOrd="2" presId="urn:microsoft.com/office/officeart/2005/8/layout/list1"/>
    <dgm:cxn modelId="{56DD8667-2B30-43F1-BCE5-DE1850439105}" type="presOf" srcId="{9291FDA3-49FA-47BA-80D4-F7A4929F5047}" destId="{F15BBAED-A5E6-4C5D-B9AC-A8B5632D2619}" srcOrd="0" destOrd="0" presId="urn:microsoft.com/office/officeart/2005/8/layout/list1"/>
    <dgm:cxn modelId="{5A86C86A-53FB-4DDF-8765-5B4E0AAB19B7}" type="presOf" srcId="{7F1A926B-9C81-4D67-936D-2076BE72724D}" destId="{3177A3BE-952B-4A83-8074-79BC05C9C7A3}" srcOrd="0" destOrd="1" presId="urn:microsoft.com/office/officeart/2005/8/layout/list1"/>
    <dgm:cxn modelId="{AA157671-A8A1-47AB-B8CB-7D619CF10020}" srcId="{980940AF-A0F9-432B-AE71-EFB75D787FE7}" destId="{E776E349-7AFC-47F7-9126-8982E2BBD1D8}" srcOrd="2" destOrd="0" parTransId="{BAC0662D-DE6E-46FC-9603-4E1EC174BD31}" sibTransId="{F7BFA222-8A9D-44CB-8971-FC983542B352}"/>
    <dgm:cxn modelId="{54BFA37D-82C8-4A46-ABCB-64D81CAA0410}" srcId="{980940AF-A0F9-432B-AE71-EFB75D787FE7}" destId="{24712A32-B0B6-4C43-827C-6F8C7E1A7AE3}" srcOrd="1" destOrd="0" parTransId="{F4096085-AA4D-4B38-B5E7-69ECE162B039}" sibTransId="{BAB35ADD-EF82-407E-8108-61937CA8C4FD}"/>
    <dgm:cxn modelId="{9A64ED88-33D3-4AE8-8F87-E052487C9F3E}" type="presOf" srcId="{AF068DF3-EAB3-4BF6-B3C8-EEFEDFA6CA1E}" destId="{9EE11C74-8FA7-45DD-AD9C-AFD5CB07E241}" srcOrd="0" destOrd="0" presId="urn:microsoft.com/office/officeart/2005/8/layout/list1"/>
    <dgm:cxn modelId="{71587693-3CC1-48B2-B858-35890FA495C3}" srcId="{24712A32-B0B6-4C43-827C-6F8C7E1A7AE3}" destId="{A14D8B4C-5857-442E-A5CC-CA0B0AE76F85}" srcOrd="0" destOrd="0" parTransId="{EE4F2E2C-6BC4-483D-863D-9DAE3A98C7B7}" sibTransId="{9AC55B1E-D547-461B-84ED-1C474D5DAA5F}"/>
    <dgm:cxn modelId="{B0D031A2-EDEB-4C96-BA8E-64D2E34AC520}" type="presOf" srcId="{24712A32-B0B6-4C43-827C-6F8C7E1A7AE3}" destId="{E0413EF2-A90D-4B28-A18B-CDCCC216215D}" srcOrd="0" destOrd="0" presId="urn:microsoft.com/office/officeart/2005/8/layout/list1"/>
    <dgm:cxn modelId="{E07C9AC6-0435-49E6-BB22-B7ED052C589B}" type="presOf" srcId="{4B0611C1-691F-4E62-993F-632A809515EA}" destId="{61F673F6-CFFB-452E-A106-7F603FE83A51}" srcOrd="0" destOrd="0" presId="urn:microsoft.com/office/officeart/2005/8/layout/list1"/>
    <dgm:cxn modelId="{D5F4F5C9-47B4-4F1A-AFE9-205C4DC2FA5E}" srcId="{24712A32-B0B6-4C43-827C-6F8C7E1A7AE3}" destId="{DE664EB7-5B80-4086-A0C1-4BF093AA898D}" srcOrd="2" destOrd="0" parTransId="{975B1DD6-E8B6-4867-BF6C-910D404EA63F}" sibTransId="{2CC8DCEA-66AE-4018-9765-E016DAAF404F}"/>
    <dgm:cxn modelId="{601C3FCB-9930-4473-8EBF-A55CD5F05A3A}" srcId="{E776E349-7AFC-47F7-9126-8982E2BBD1D8}" destId="{4B0611C1-691F-4E62-993F-632A809515EA}" srcOrd="0" destOrd="0" parTransId="{FC789D25-5FBA-4165-9D26-D4025E0745D6}" sibTransId="{64A2CAD2-BD6C-4143-BD12-CC9666B31F03}"/>
    <dgm:cxn modelId="{87528ED0-DFD9-4194-AF1E-C3EC1E40546E}" type="presOf" srcId="{7D99439A-C853-4F93-B759-6B3BE98BF785}" destId="{61F673F6-CFFB-452E-A106-7F603FE83A51}" srcOrd="0" destOrd="1" presId="urn:microsoft.com/office/officeart/2005/8/layout/list1"/>
    <dgm:cxn modelId="{32D80DDD-01B9-4FFB-BCF7-F9FC330859C2}" srcId="{AF068DF3-EAB3-4BF6-B3C8-EEFEDFA6CA1E}" destId="{9291FDA3-49FA-47BA-80D4-F7A4929F5047}" srcOrd="0" destOrd="0" parTransId="{10541C0C-18B4-4032-A95D-0A6564AB1FEC}" sibTransId="{9398C7D3-F777-4425-B31E-48640744C421}"/>
    <dgm:cxn modelId="{2A6AE7E8-DB33-4C4A-81BA-950E9A11FC84}" srcId="{E776E349-7AFC-47F7-9126-8982E2BBD1D8}" destId="{7D99439A-C853-4F93-B759-6B3BE98BF785}" srcOrd="1" destOrd="0" parTransId="{7FD79A8A-7298-41ED-9915-48AB41AEAD09}" sibTransId="{2B7870AE-D365-4659-8667-BC26689FF68B}"/>
    <dgm:cxn modelId="{ECA92AEE-47BA-4125-ABCF-0C34E9D86815}" type="presOf" srcId="{24712A32-B0B6-4C43-827C-6F8C7E1A7AE3}" destId="{DF29CB10-D6B1-4928-BA9F-9679E3271C1C}" srcOrd="1" destOrd="0" presId="urn:microsoft.com/office/officeart/2005/8/layout/list1"/>
    <dgm:cxn modelId="{79F6A8F4-6EF4-4F6D-9672-DEBBEEADD50C}" type="presOf" srcId="{A14D8B4C-5857-442E-A5CC-CA0B0AE76F85}" destId="{3177A3BE-952B-4A83-8074-79BC05C9C7A3}" srcOrd="0" destOrd="0" presId="urn:microsoft.com/office/officeart/2005/8/layout/list1"/>
    <dgm:cxn modelId="{82C24EF3-91A2-44F9-B08D-6B685A324FA8}" type="presParOf" srcId="{F16E6682-33E0-4BC1-8E0F-FF2A8B31EC12}" destId="{E360FA90-3E03-4A0C-81C9-401B70682C8F}" srcOrd="0" destOrd="0" presId="urn:microsoft.com/office/officeart/2005/8/layout/list1"/>
    <dgm:cxn modelId="{AFF9902E-C184-4A82-9155-BB3923F445EC}" type="presParOf" srcId="{E360FA90-3E03-4A0C-81C9-401B70682C8F}" destId="{9EE11C74-8FA7-45DD-AD9C-AFD5CB07E241}" srcOrd="0" destOrd="0" presId="urn:microsoft.com/office/officeart/2005/8/layout/list1"/>
    <dgm:cxn modelId="{B1B05B53-DFAB-4D7B-83E0-1D054A3B38F8}" type="presParOf" srcId="{E360FA90-3E03-4A0C-81C9-401B70682C8F}" destId="{D4C1CAFE-FBCC-4F51-83EC-05D2B9A1077A}" srcOrd="1" destOrd="0" presId="urn:microsoft.com/office/officeart/2005/8/layout/list1"/>
    <dgm:cxn modelId="{A7F62A8C-D4EB-46D7-A861-F5B7A2E6C4D4}" type="presParOf" srcId="{F16E6682-33E0-4BC1-8E0F-FF2A8B31EC12}" destId="{C6AB1B5D-18A0-4ECF-AEF4-9A6DD40821DA}" srcOrd="1" destOrd="0" presId="urn:microsoft.com/office/officeart/2005/8/layout/list1"/>
    <dgm:cxn modelId="{5C19A296-BEDB-416C-BED0-FB69EB554478}" type="presParOf" srcId="{F16E6682-33E0-4BC1-8E0F-FF2A8B31EC12}" destId="{F15BBAED-A5E6-4C5D-B9AC-A8B5632D2619}" srcOrd="2" destOrd="0" presId="urn:microsoft.com/office/officeart/2005/8/layout/list1"/>
    <dgm:cxn modelId="{27038F94-6B33-4D80-BC83-F82665673F4A}" type="presParOf" srcId="{F16E6682-33E0-4BC1-8E0F-FF2A8B31EC12}" destId="{BD3C795B-F68B-45C0-BC86-4768193B019B}" srcOrd="3" destOrd="0" presId="urn:microsoft.com/office/officeart/2005/8/layout/list1"/>
    <dgm:cxn modelId="{FDE80EE8-7508-461A-8F87-78B592D2D053}" type="presParOf" srcId="{F16E6682-33E0-4BC1-8E0F-FF2A8B31EC12}" destId="{0C9B0C50-31B1-4924-A6AD-CC3C71CB6FD6}" srcOrd="4" destOrd="0" presId="urn:microsoft.com/office/officeart/2005/8/layout/list1"/>
    <dgm:cxn modelId="{1976D5B9-0C52-4D86-96E7-C12114363C04}" type="presParOf" srcId="{0C9B0C50-31B1-4924-A6AD-CC3C71CB6FD6}" destId="{E0413EF2-A90D-4B28-A18B-CDCCC216215D}" srcOrd="0" destOrd="0" presId="urn:microsoft.com/office/officeart/2005/8/layout/list1"/>
    <dgm:cxn modelId="{B720230B-F7B2-42F6-AC6D-19928EACB712}" type="presParOf" srcId="{0C9B0C50-31B1-4924-A6AD-CC3C71CB6FD6}" destId="{DF29CB10-D6B1-4928-BA9F-9679E3271C1C}" srcOrd="1" destOrd="0" presId="urn:microsoft.com/office/officeart/2005/8/layout/list1"/>
    <dgm:cxn modelId="{B035E66B-829E-4254-8B54-510B4A515622}" type="presParOf" srcId="{F16E6682-33E0-4BC1-8E0F-FF2A8B31EC12}" destId="{3A23D8FA-7572-4B3F-BFB7-46FB6105ADD9}" srcOrd="5" destOrd="0" presId="urn:microsoft.com/office/officeart/2005/8/layout/list1"/>
    <dgm:cxn modelId="{C7ECEABB-85E9-455F-8199-9CEE48A21FF3}" type="presParOf" srcId="{F16E6682-33E0-4BC1-8E0F-FF2A8B31EC12}" destId="{3177A3BE-952B-4A83-8074-79BC05C9C7A3}" srcOrd="6" destOrd="0" presId="urn:microsoft.com/office/officeart/2005/8/layout/list1"/>
    <dgm:cxn modelId="{8BB13AA5-2CBA-47FE-AD63-76CC50A52D03}" type="presParOf" srcId="{F16E6682-33E0-4BC1-8E0F-FF2A8B31EC12}" destId="{DB4364CF-90A2-4C47-B26E-E9CBC2C1F0E2}" srcOrd="7" destOrd="0" presId="urn:microsoft.com/office/officeart/2005/8/layout/list1"/>
    <dgm:cxn modelId="{C8544719-2CEF-4396-A17A-AB4E19A0B7BE}" type="presParOf" srcId="{F16E6682-33E0-4BC1-8E0F-FF2A8B31EC12}" destId="{6A8891C7-13B5-4A72-9024-10F61036B602}" srcOrd="8" destOrd="0" presId="urn:microsoft.com/office/officeart/2005/8/layout/list1"/>
    <dgm:cxn modelId="{19DEBB7A-0F12-406C-86FF-B2162A4C7320}" type="presParOf" srcId="{6A8891C7-13B5-4A72-9024-10F61036B602}" destId="{0EBAA222-800B-4E7D-AF25-3A7AE44C865D}" srcOrd="0" destOrd="0" presId="urn:microsoft.com/office/officeart/2005/8/layout/list1"/>
    <dgm:cxn modelId="{AFB49E2C-AF7F-4003-8DF6-CEB15C92A839}" type="presParOf" srcId="{6A8891C7-13B5-4A72-9024-10F61036B602}" destId="{5FD8E8C4-48A8-47CE-A49D-DFCA05043D7C}" srcOrd="1" destOrd="0" presId="urn:microsoft.com/office/officeart/2005/8/layout/list1"/>
    <dgm:cxn modelId="{FAE6D7F0-C992-4F2B-9556-D188E9E24E8F}" type="presParOf" srcId="{F16E6682-33E0-4BC1-8E0F-FF2A8B31EC12}" destId="{FA0E797C-EF26-4A65-925B-F09C502873C9}" srcOrd="9" destOrd="0" presId="urn:microsoft.com/office/officeart/2005/8/layout/list1"/>
    <dgm:cxn modelId="{BA5DDF12-09C6-4C87-8B84-C9B153FBD8C0}" type="presParOf" srcId="{F16E6682-33E0-4BC1-8E0F-FF2A8B31EC12}" destId="{61F673F6-CFFB-452E-A106-7F603FE83A5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40F8160-6317-4DA7-AB8E-B329786C1FB6}" type="doc">
      <dgm:prSet loTypeId="urn:microsoft.com/office/officeart/2005/8/layout/vList5" loCatId="list" qsTypeId="urn:microsoft.com/office/officeart/2005/8/quickstyle/simple4" qsCatId="simple" csTypeId="urn:microsoft.com/office/officeart/2005/8/colors/colorful2" csCatId="colorful" phldr="1"/>
      <dgm:spPr/>
      <dgm:t>
        <a:bodyPr/>
        <a:lstStyle/>
        <a:p>
          <a:endParaRPr lang="es-AR"/>
        </a:p>
      </dgm:t>
    </dgm:pt>
    <dgm:pt modelId="{EDA00F5C-839C-486A-9DED-59DFC7122B13}">
      <dgm:prSet phldrT="[Texto]"/>
      <dgm:spPr/>
      <dgm:t>
        <a:bodyPr/>
        <a:lstStyle/>
        <a:p>
          <a:r>
            <a:rPr lang="es-ES" dirty="0"/>
            <a:t>PERSONAS</a:t>
          </a:r>
          <a:endParaRPr lang="es-AR" dirty="0"/>
        </a:p>
      </dgm:t>
    </dgm:pt>
    <dgm:pt modelId="{B7ACF866-5FB7-4EBE-ABD1-B1C2C7809936}" type="parTrans" cxnId="{A99080C1-A93E-411E-8F4C-C91314589C4C}">
      <dgm:prSet/>
      <dgm:spPr/>
      <dgm:t>
        <a:bodyPr/>
        <a:lstStyle/>
        <a:p>
          <a:endParaRPr lang="es-AR"/>
        </a:p>
      </dgm:t>
    </dgm:pt>
    <dgm:pt modelId="{E0FEF048-819F-49AC-B1E1-7F56EBB664BD}" type="sibTrans" cxnId="{A99080C1-A93E-411E-8F4C-C91314589C4C}">
      <dgm:prSet/>
      <dgm:spPr/>
      <dgm:t>
        <a:bodyPr/>
        <a:lstStyle/>
        <a:p>
          <a:endParaRPr lang="es-AR"/>
        </a:p>
      </dgm:t>
    </dgm:pt>
    <dgm:pt modelId="{421D84D7-BBB1-454A-9ED5-D43A3BA700F5}">
      <dgm:prSet phldrT="[Texto]" custT="1"/>
      <dgm:spPr/>
      <dgm:t>
        <a:bodyPr/>
        <a:lstStyle/>
        <a:p>
          <a:r>
            <a:rPr lang="es-ES" sz="2000" dirty="0"/>
            <a:t>Separar las personas del problema</a:t>
          </a:r>
          <a:endParaRPr lang="es-AR" sz="2000" dirty="0"/>
        </a:p>
      </dgm:t>
    </dgm:pt>
    <dgm:pt modelId="{8310CE61-D959-4708-B14E-433CB17A80C6}" type="parTrans" cxnId="{4087A7FC-4841-4AC7-A0FB-EEAB42045669}">
      <dgm:prSet/>
      <dgm:spPr/>
      <dgm:t>
        <a:bodyPr/>
        <a:lstStyle/>
        <a:p>
          <a:endParaRPr lang="es-AR"/>
        </a:p>
      </dgm:t>
    </dgm:pt>
    <dgm:pt modelId="{2D46A87F-FBD4-4B66-8DBF-F8FED052B863}" type="sibTrans" cxnId="{4087A7FC-4841-4AC7-A0FB-EEAB42045669}">
      <dgm:prSet/>
      <dgm:spPr/>
      <dgm:t>
        <a:bodyPr/>
        <a:lstStyle/>
        <a:p>
          <a:endParaRPr lang="es-AR"/>
        </a:p>
      </dgm:t>
    </dgm:pt>
    <dgm:pt modelId="{E2615BA4-03D8-4F89-8408-8CDF2FDAEE48}">
      <dgm:prSet phldrT="[Texto]"/>
      <dgm:spPr/>
      <dgm:t>
        <a:bodyPr/>
        <a:lstStyle/>
        <a:p>
          <a:r>
            <a:rPr lang="es-ES" dirty="0"/>
            <a:t>INTERESES</a:t>
          </a:r>
          <a:endParaRPr lang="es-AR" dirty="0"/>
        </a:p>
      </dgm:t>
    </dgm:pt>
    <dgm:pt modelId="{17975813-2FD0-43FA-80AE-B2476EC29579}" type="parTrans" cxnId="{9D598C62-EBC8-4C06-B65A-AE0185382BB1}">
      <dgm:prSet/>
      <dgm:spPr/>
      <dgm:t>
        <a:bodyPr/>
        <a:lstStyle/>
        <a:p>
          <a:endParaRPr lang="es-AR"/>
        </a:p>
      </dgm:t>
    </dgm:pt>
    <dgm:pt modelId="{F3F38EBF-9A54-4F5E-9706-9ADC8A6D1AA0}" type="sibTrans" cxnId="{9D598C62-EBC8-4C06-B65A-AE0185382BB1}">
      <dgm:prSet/>
      <dgm:spPr/>
      <dgm:t>
        <a:bodyPr/>
        <a:lstStyle/>
        <a:p>
          <a:endParaRPr lang="es-AR"/>
        </a:p>
      </dgm:t>
    </dgm:pt>
    <dgm:pt modelId="{E52CC3FB-D887-4D5C-90B2-2E03E6D9D8D5}">
      <dgm:prSet phldrT="[Texto]"/>
      <dgm:spPr/>
      <dgm:t>
        <a:bodyPr/>
        <a:lstStyle/>
        <a:p>
          <a:r>
            <a:rPr lang="es-ES" dirty="0"/>
            <a:t>OPCIONES</a:t>
          </a:r>
          <a:endParaRPr lang="es-AR" dirty="0"/>
        </a:p>
      </dgm:t>
    </dgm:pt>
    <dgm:pt modelId="{B8360DD6-B20C-45C4-ABA8-814D28D70B2B}" type="parTrans" cxnId="{7004F65A-05A4-4894-B64E-130BE3D01C61}">
      <dgm:prSet/>
      <dgm:spPr/>
      <dgm:t>
        <a:bodyPr/>
        <a:lstStyle/>
        <a:p>
          <a:endParaRPr lang="es-AR"/>
        </a:p>
      </dgm:t>
    </dgm:pt>
    <dgm:pt modelId="{0C2C655D-DAF7-44CE-8142-7668FFDAF218}" type="sibTrans" cxnId="{7004F65A-05A4-4894-B64E-130BE3D01C61}">
      <dgm:prSet/>
      <dgm:spPr/>
      <dgm:t>
        <a:bodyPr/>
        <a:lstStyle/>
        <a:p>
          <a:endParaRPr lang="es-AR"/>
        </a:p>
      </dgm:t>
    </dgm:pt>
    <dgm:pt modelId="{04123097-1102-42CE-8114-86D4273E30AD}">
      <dgm:prSet phldrT="[Texto]" custT="1"/>
      <dgm:spPr/>
      <dgm:t>
        <a:bodyPr/>
        <a:lstStyle/>
        <a:p>
          <a:r>
            <a:rPr lang="es-ES" sz="2000" dirty="0"/>
            <a:t>Generar varias posibilidades antes de decidir o actuar</a:t>
          </a:r>
          <a:endParaRPr lang="es-AR" sz="2000" dirty="0"/>
        </a:p>
      </dgm:t>
    </dgm:pt>
    <dgm:pt modelId="{3A91834E-A09F-4FEF-B7B1-F9EC5BEE5C87}" type="parTrans" cxnId="{921390E4-3184-4280-9F6E-277CD6298C43}">
      <dgm:prSet/>
      <dgm:spPr/>
      <dgm:t>
        <a:bodyPr/>
        <a:lstStyle/>
        <a:p>
          <a:endParaRPr lang="es-AR"/>
        </a:p>
      </dgm:t>
    </dgm:pt>
    <dgm:pt modelId="{5CEFA000-0131-46D1-A377-7F907522A5C9}" type="sibTrans" cxnId="{921390E4-3184-4280-9F6E-277CD6298C43}">
      <dgm:prSet/>
      <dgm:spPr/>
      <dgm:t>
        <a:bodyPr/>
        <a:lstStyle/>
        <a:p>
          <a:endParaRPr lang="es-AR"/>
        </a:p>
      </dgm:t>
    </dgm:pt>
    <dgm:pt modelId="{9AB80C12-8827-164B-9885-D25157CE60CB}">
      <dgm:prSet phldrT="[Texto]"/>
      <dgm:spPr/>
      <dgm:t>
        <a:bodyPr/>
        <a:lstStyle/>
        <a:p>
          <a:r>
            <a:rPr lang="es-AR" dirty="0"/>
            <a:t>Concentrarse en los intereses no en las posiciones</a:t>
          </a:r>
        </a:p>
      </dgm:t>
    </dgm:pt>
    <dgm:pt modelId="{509CDE37-AEEB-9947-94A3-D08ADF515716}" type="parTrans" cxnId="{BD33D5B3-2490-4440-A212-91D4D61B4D20}">
      <dgm:prSet/>
      <dgm:spPr/>
      <dgm:t>
        <a:bodyPr/>
        <a:lstStyle/>
        <a:p>
          <a:endParaRPr lang="en-US"/>
        </a:p>
      </dgm:t>
    </dgm:pt>
    <dgm:pt modelId="{15C983F3-44ED-F64E-86BE-0A1B94B45DE0}" type="sibTrans" cxnId="{BD33D5B3-2490-4440-A212-91D4D61B4D20}">
      <dgm:prSet/>
      <dgm:spPr/>
      <dgm:t>
        <a:bodyPr/>
        <a:lstStyle/>
        <a:p>
          <a:endParaRPr lang="en-US"/>
        </a:p>
      </dgm:t>
    </dgm:pt>
    <dgm:pt modelId="{2C620FD7-93B1-924C-A7EF-2097035B539D}">
      <dgm:prSet phldrT="[Texto]" custT="1"/>
      <dgm:spPr/>
      <dgm:t>
        <a:bodyPr/>
        <a:lstStyle/>
        <a:p>
          <a:r>
            <a:rPr lang="es-AR" sz="4000" dirty="0"/>
            <a:t>CRITERIOS</a:t>
          </a:r>
        </a:p>
      </dgm:t>
    </dgm:pt>
    <dgm:pt modelId="{A0AB96E0-66F7-5748-9FE9-6A1D7844B1A9}" type="parTrans" cxnId="{A27F3E2C-2CC1-D249-96E0-8A07466ED17F}">
      <dgm:prSet/>
      <dgm:spPr/>
      <dgm:t>
        <a:bodyPr/>
        <a:lstStyle/>
        <a:p>
          <a:endParaRPr lang="en-US"/>
        </a:p>
      </dgm:t>
    </dgm:pt>
    <dgm:pt modelId="{858319D3-98A4-F240-A391-A535A30E75DA}" type="sibTrans" cxnId="{A27F3E2C-2CC1-D249-96E0-8A07466ED17F}">
      <dgm:prSet/>
      <dgm:spPr/>
      <dgm:t>
        <a:bodyPr/>
        <a:lstStyle/>
        <a:p>
          <a:endParaRPr lang="en-US"/>
        </a:p>
      </dgm:t>
    </dgm:pt>
    <dgm:pt modelId="{4CC3D8E5-F1DD-7E43-9A47-E5F7FB6E3C74}">
      <dgm:prSet phldrT="[Texto]" custT="1"/>
      <dgm:spPr/>
      <dgm:t>
        <a:bodyPr/>
        <a:lstStyle/>
        <a:p>
          <a:r>
            <a:rPr lang="es-AR" sz="2000" dirty="0"/>
            <a:t>Insistir en que el resultados e base en algun criterio objetivo</a:t>
          </a:r>
        </a:p>
      </dgm:t>
    </dgm:pt>
    <dgm:pt modelId="{81C917C9-1B61-5D42-BF69-CC1EB0BBA6B4}" type="parTrans" cxnId="{AACC96CD-B9D2-2944-B987-7ACF2F9F850B}">
      <dgm:prSet/>
      <dgm:spPr/>
      <dgm:t>
        <a:bodyPr/>
        <a:lstStyle/>
        <a:p>
          <a:endParaRPr lang="en-US"/>
        </a:p>
      </dgm:t>
    </dgm:pt>
    <dgm:pt modelId="{EA6978E5-158E-A549-B719-B1621A5F45DC}" type="sibTrans" cxnId="{AACC96CD-B9D2-2944-B987-7ACF2F9F850B}">
      <dgm:prSet/>
      <dgm:spPr/>
      <dgm:t>
        <a:bodyPr/>
        <a:lstStyle/>
        <a:p>
          <a:endParaRPr lang="en-US"/>
        </a:p>
      </dgm:t>
    </dgm:pt>
    <dgm:pt modelId="{94F5A52C-B4D8-41E1-B4E3-0199833FD253}" type="pres">
      <dgm:prSet presAssocID="{940F8160-6317-4DA7-AB8E-B329786C1FB6}" presName="Name0" presStyleCnt="0">
        <dgm:presLayoutVars>
          <dgm:dir/>
          <dgm:animLvl val="lvl"/>
          <dgm:resizeHandles val="exact"/>
        </dgm:presLayoutVars>
      </dgm:prSet>
      <dgm:spPr/>
    </dgm:pt>
    <dgm:pt modelId="{B36DD1B9-BD03-495D-B853-84ED014D9CBC}" type="pres">
      <dgm:prSet presAssocID="{EDA00F5C-839C-486A-9DED-59DFC7122B13}" presName="linNode" presStyleCnt="0"/>
      <dgm:spPr/>
    </dgm:pt>
    <dgm:pt modelId="{118F09CE-C8E2-445D-A498-2B764927F18C}" type="pres">
      <dgm:prSet presAssocID="{EDA00F5C-839C-486A-9DED-59DFC7122B13}" presName="parentText" presStyleLbl="node1" presStyleIdx="0" presStyleCnt="4">
        <dgm:presLayoutVars>
          <dgm:chMax val="1"/>
          <dgm:bulletEnabled val="1"/>
        </dgm:presLayoutVars>
      </dgm:prSet>
      <dgm:spPr/>
    </dgm:pt>
    <dgm:pt modelId="{BF5B3487-8715-42DB-BEC1-200140D73D87}" type="pres">
      <dgm:prSet presAssocID="{EDA00F5C-839C-486A-9DED-59DFC7122B13}" presName="descendantText" presStyleLbl="alignAccFollowNode1" presStyleIdx="0" presStyleCnt="4" custLinFactNeighborX="10804" custLinFactNeighborY="-4070">
        <dgm:presLayoutVars>
          <dgm:bulletEnabled val="1"/>
        </dgm:presLayoutVars>
      </dgm:prSet>
      <dgm:spPr/>
    </dgm:pt>
    <dgm:pt modelId="{F0EFEB7F-3275-49B4-8FAA-6A814393BA4C}" type="pres">
      <dgm:prSet presAssocID="{E0FEF048-819F-49AC-B1E1-7F56EBB664BD}" presName="sp" presStyleCnt="0"/>
      <dgm:spPr/>
    </dgm:pt>
    <dgm:pt modelId="{F72208E8-1E6D-4BE7-96E0-71DCB0E7A9FF}" type="pres">
      <dgm:prSet presAssocID="{E2615BA4-03D8-4F89-8408-8CDF2FDAEE48}" presName="linNode" presStyleCnt="0"/>
      <dgm:spPr/>
    </dgm:pt>
    <dgm:pt modelId="{D8570598-A1DB-40B4-8B98-565644BC439E}" type="pres">
      <dgm:prSet presAssocID="{E2615BA4-03D8-4F89-8408-8CDF2FDAEE48}" presName="parentText" presStyleLbl="node1" presStyleIdx="1" presStyleCnt="4">
        <dgm:presLayoutVars>
          <dgm:chMax val="1"/>
          <dgm:bulletEnabled val="1"/>
        </dgm:presLayoutVars>
      </dgm:prSet>
      <dgm:spPr/>
    </dgm:pt>
    <dgm:pt modelId="{1D89C408-CB5B-0D4C-84AA-07034F6EF8B6}" type="pres">
      <dgm:prSet presAssocID="{E2615BA4-03D8-4F89-8408-8CDF2FDAEE48}" presName="descendantText" presStyleLbl="alignAccFollowNode1" presStyleIdx="1" presStyleCnt="4">
        <dgm:presLayoutVars>
          <dgm:bulletEnabled val="1"/>
        </dgm:presLayoutVars>
      </dgm:prSet>
      <dgm:spPr/>
    </dgm:pt>
    <dgm:pt modelId="{7421C67D-83DC-4F89-A588-ADD7FD17B4E3}" type="pres">
      <dgm:prSet presAssocID="{F3F38EBF-9A54-4F5E-9706-9ADC8A6D1AA0}" presName="sp" presStyleCnt="0"/>
      <dgm:spPr/>
    </dgm:pt>
    <dgm:pt modelId="{E0A857DF-634A-4AD2-B9E3-38E2D0B14DAE}" type="pres">
      <dgm:prSet presAssocID="{E52CC3FB-D887-4D5C-90B2-2E03E6D9D8D5}" presName="linNode" presStyleCnt="0"/>
      <dgm:spPr/>
    </dgm:pt>
    <dgm:pt modelId="{C12B46EF-32E2-43C5-A456-0163C50FE528}" type="pres">
      <dgm:prSet presAssocID="{E52CC3FB-D887-4D5C-90B2-2E03E6D9D8D5}" presName="parentText" presStyleLbl="node1" presStyleIdx="2" presStyleCnt="4">
        <dgm:presLayoutVars>
          <dgm:chMax val="1"/>
          <dgm:bulletEnabled val="1"/>
        </dgm:presLayoutVars>
      </dgm:prSet>
      <dgm:spPr/>
    </dgm:pt>
    <dgm:pt modelId="{885781B1-9D48-428F-8327-467C56AACD85}" type="pres">
      <dgm:prSet presAssocID="{E52CC3FB-D887-4D5C-90B2-2E03E6D9D8D5}" presName="descendantText" presStyleLbl="alignAccFollowNode1" presStyleIdx="2" presStyleCnt="4" custLinFactNeighborX="5836" custLinFactNeighborY="569">
        <dgm:presLayoutVars>
          <dgm:bulletEnabled val="1"/>
        </dgm:presLayoutVars>
      </dgm:prSet>
      <dgm:spPr/>
    </dgm:pt>
    <dgm:pt modelId="{D467D089-CF42-6B49-B243-4BA1B1456879}" type="pres">
      <dgm:prSet presAssocID="{0C2C655D-DAF7-44CE-8142-7668FFDAF218}" presName="sp" presStyleCnt="0"/>
      <dgm:spPr/>
    </dgm:pt>
    <dgm:pt modelId="{97D35CDE-CEB6-A146-A013-DEDA869F3165}" type="pres">
      <dgm:prSet presAssocID="{2C620FD7-93B1-924C-A7EF-2097035B539D}" presName="linNode" presStyleCnt="0"/>
      <dgm:spPr/>
    </dgm:pt>
    <dgm:pt modelId="{A143F7AF-AE08-F148-BDB7-D246BDC89822}" type="pres">
      <dgm:prSet presAssocID="{2C620FD7-93B1-924C-A7EF-2097035B539D}" presName="parentText" presStyleLbl="node1" presStyleIdx="3" presStyleCnt="4">
        <dgm:presLayoutVars>
          <dgm:chMax val="1"/>
          <dgm:bulletEnabled val="1"/>
        </dgm:presLayoutVars>
      </dgm:prSet>
      <dgm:spPr/>
    </dgm:pt>
    <dgm:pt modelId="{629FAAA9-E82B-AB46-A7B1-0E7D2E59CBF2}" type="pres">
      <dgm:prSet presAssocID="{2C620FD7-93B1-924C-A7EF-2097035B539D}" presName="descendantText" presStyleLbl="alignAccFollowNode1" presStyleIdx="3" presStyleCnt="4">
        <dgm:presLayoutVars>
          <dgm:bulletEnabled val="1"/>
        </dgm:presLayoutVars>
      </dgm:prSet>
      <dgm:spPr/>
    </dgm:pt>
  </dgm:ptLst>
  <dgm:cxnLst>
    <dgm:cxn modelId="{D1F7B815-7286-4C75-9082-2B3E3A563269}" type="presOf" srcId="{04123097-1102-42CE-8114-86D4273E30AD}" destId="{885781B1-9D48-428F-8327-467C56AACD85}" srcOrd="0" destOrd="0" presId="urn:microsoft.com/office/officeart/2005/8/layout/vList5"/>
    <dgm:cxn modelId="{A27F3E2C-2CC1-D249-96E0-8A07466ED17F}" srcId="{940F8160-6317-4DA7-AB8E-B329786C1FB6}" destId="{2C620FD7-93B1-924C-A7EF-2097035B539D}" srcOrd="3" destOrd="0" parTransId="{A0AB96E0-66F7-5748-9FE9-6A1D7844B1A9}" sibTransId="{858319D3-98A4-F240-A391-A535A30E75DA}"/>
    <dgm:cxn modelId="{9C0E3A33-B2E9-438A-A18E-0D8E9538EE05}" type="presOf" srcId="{EDA00F5C-839C-486A-9DED-59DFC7122B13}" destId="{118F09CE-C8E2-445D-A498-2B764927F18C}" srcOrd="0" destOrd="0" presId="urn:microsoft.com/office/officeart/2005/8/layout/vList5"/>
    <dgm:cxn modelId="{9D598C62-EBC8-4C06-B65A-AE0185382BB1}" srcId="{940F8160-6317-4DA7-AB8E-B329786C1FB6}" destId="{E2615BA4-03D8-4F89-8408-8CDF2FDAEE48}" srcOrd="1" destOrd="0" parTransId="{17975813-2FD0-43FA-80AE-B2476EC29579}" sibTransId="{F3F38EBF-9A54-4F5E-9706-9ADC8A6D1AA0}"/>
    <dgm:cxn modelId="{F758CF62-DC73-CA43-8802-FD4376455634}" type="presOf" srcId="{4CC3D8E5-F1DD-7E43-9A47-E5F7FB6E3C74}" destId="{629FAAA9-E82B-AB46-A7B1-0E7D2E59CBF2}" srcOrd="0" destOrd="0" presId="urn:microsoft.com/office/officeart/2005/8/layout/vList5"/>
    <dgm:cxn modelId="{E3A6A369-B883-4EDA-9514-8EA7AB0AA116}" type="presOf" srcId="{E52CC3FB-D887-4D5C-90B2-2E03E6D9D8D5}" destId="{C12B46EF-32E2-43C5-A456-0163C50FE528}" srcOrd="0" destOrd="0" presId="urn:microsoft.com/office/officeart/2005/8/layout/vList5"/>
    <dgm:cxn modelId="{8F9E3E59-41C6-854B-AA6E-80C1FCA544D5}" type="presOf" srcId="{2C620FD7-93B1-924C-A7EF-2097035B539D}" destId="{A143F7AF-AE08-F148-BDB7-D246BDC89822}" srcOrd="0" destOrd="0" presId="urn:microsoft.com/office/officeart/2005/8/layout/vList5"/>
    <dgm:cxn modelId="{8CE2147A-D789-E04D-B1BF-7CB64AB254F9}" type="presOf" srcId="{9AB80C12-8827-164B-9885-D25157CE60CB}" destId="{1D89C408-CB5B-0D4C-84AA-07034F6EF8B6}" srcOrd="0" destOrd="0" presId="urn:microsoft.com/office/officeart/2005/8/layout/vList5"/>
    <dgm:cxn modelId="{7004F65A-05A4-4894-B64E-130BE3D01C61}" srcId="{940F8160-6317-4DA7-AB8E-B329786C1FB6}" destId="{E52CC3FB-D887-4D5C-90B2-2E03E6D9D8D5}" srcOrd="2" destOrd="0" parTransId="{B8360DD6-B20C-45C4-ABA8-814D28D70B2B}" sibTransId="{0C2C655D-DAF7-44CE-8142-7668FFDAF218}"/>
    <dgm:cxn modelId="{77D7B2AC-4A6C-4CA9-9EE0-0D87763003AB}" type="presOf" srcId="{421D84D7-BBB1-454A-9ED5-D43A3BA700F5}" destId="{BF5B3487-8715-42DB-BEC1-200140D73D87}" srcOrd="0" destOrd="0" presId="urn:microsoft.com/office/officeart/2005/8/layout/vList5"/>
    <dgm:cxn modelId="{BD33D5B3-2490-4440-A212-91D4D61B4D20}" srcId="{E2615BA4-03D8-4F89-8408-8CDF2FDAEE48}" destId="{9AB80C12-8827-164B-9885-D25157CE60CB}" srcOrd="0" destOrd="0" parTransId="{509CDE37-AEEB-9947-94A3-D08ADF515716}" sibTransId="{15C983F3-44ED-F64E-86BE-0A1B94B45DE0}"/>
    <dgm:cxn modelId="{A99080C1-A93E-411E-8F4C-C91314589C4C}" srcId="{940F8160-6317-4DA7-AB8E-B329786C1FB6}" destId="{EDA00F5C-839C-486A-9DED-59DFC7122B13}" srcOrd="0" destOrd="0" parTransId="{B7ACF866-5FB7-4EBE-ABD1-B1C2C7809936}" sibTransId="{E0FEF048-819F-49AC-B1E1-7F56EBB664BD}"/>
    <dgm:cxn modelId="{AACC96CD-B9D2-2944-B987-7ACF2F9F850B}" srcId="{2C620FD7-93B1-924C-A7EF-2097035B539D}" destId="{4CC3D8E5-F1DD-7E43-9A47-E5F7FB6E3C74}" srcOrd="0" destOrd="0" parTransId="{81C917C9-1B61-5D42-BF69-CC1EB0BBA6B4}" sibTransId="{EA6978E5-158E-A549-B719-B1621A5F45DC}"/>
    <dgm:cxn modelId="{921390E4-3184-4280-9F6E-277CD6298C43}" srcId="{E52CC3FB-D887-4D5C-90B2-2E03E6D9D8D5}" destId="{04123097-1102-42CE-8114-86D4273E30AD}" srcOrd="0" destOrd="0" parTransId="{3A91834E-A09F-4FEF-B7B1-F9EC5BEE5C87}" sibTransId="{5CEFA000-0131-46D1-A377-7F907522A5C9}"/>
    <dgm:cxn modelId="{E39E12F1-3B0C-4E0D-8505-919AA4937227}" type="presOf" srcId="{E2615BA4-03D8-4F89-8408-8CDF2FDAEE48}" destId="{D8570598-A1DB-40B4-8B98-565644BC439E}" srcOrd="0" destOrd="0" presId="urn:microsoft.com/office/officeart/2005/8/layout/vList5"/>
    <dgm:cxn modelId="{C86A28F6-FF6D-4B70-9570-03C46C6B54E9}" type="presOf" srcId="{940F8160-6317-4DA7-AB8E-B329786C1FB6}" destId="{94F5A52C-B4D8-41E1-B4E3-0199833FD253}" srcOrd="0" destOrd="0" presId="urn:microsoft.com/office/officeart/2005/8/layout/vList5"/>
    <dgm:cxn modelId="{4087A7FC-4841-4AC7-A0FB-EEAB42045669}" srcId="{EDA00F5C-839C-486A-9DED-59DFC7122B13}" destId="{421D84D7-BBB1-454A-9ED5-D43A3BA700F5}" srcOrd="0" destOrd="0" parTransId="{8310CE61-D959-4708-B14E-433CB17A80C6}" sibTransId="{2D46A87F-FBD4-4B66-8DBF-F8FED052B863}"/>
    <dgm:cxn modelId="{73028AC8-32E4-4D5A-8EFC-BCFDAEAB72E6}" type="presParOf" srcId="{94F5A52C-B4D8-41E1-B4E3-0199833FD253}" destId="{B36DD1B9-BD03-495D-B853-84ED014D9CBC}" srcOrd="0" destOrd="0" presId="urn:microsoft.com/office/officeart/2005/8/layout/vList5"/>
    <dgm:cxn modelId="{52751373-2DE3-485B-A2C9-3F066CD52A79}" type="presParOf" srcId="{B36DD1B9-BD03-495D-B853-84ED014D9CBC}" destId="{118F09CE-C8E2-445D-A498-2B764927F18C}" srcOrd="0" destOrd="0" presId="urn:microsoft.com/office/officeart/2005/8/layout/vList5"/>
    <dgm:cxn modelId="{D1537D7B-0270-429D-A75E-C828955CA53A}" type="presParOf" srcId="{B36DD1B9-BD03-495D-B853-84ED014D9CBC}" destId="{BF5B3487-8715-42DB-BEC1-200140D73D87}" srcOrd="1" destOrd="0" presId="urn:microsoft.com/office/officeart/2005/8/layout/vList5"/>
    <dgm:cxn modelId="{A502D376-31C6-4ACB-82B4-1AE54DB91044}" type="presParOf" srcId="{94F5A52C-B4D8-41E1-B4E3-0199833FD253}" destId="{F0EFEB7F-3275-49B4-8FAA-6A814393BA4C}" srcOrd="1" destOrd="0" presId="urn:microsoft.com/office/officeart/2005/8/layout/vList5"/>
    <dgm:cxn modelId="{71C059AD-6AC5-43EF-B4D9-21DBB8DDEE71}" type="presParOf" srcId="{94F5A52C-B4D8-41E1-B4E3-0199833FD253}" destId="{F72208E8-1E6D-4BE7-96E0-71DCB0E7A9FF}" srcOrd="2" destOrd="0" presId="urn:microsoft.com/office/officeart/2005/8/layout/vList5"/>
    <dgm:cxn modelId="{1811E4B1-BB3E-464B-BB2C-76F4B74255FF}" type="presParOf" srcId="{F72208E8-1E6D-4BE7-96E0-71DCB0E7A9FF}" destId="{D8570598-A1DB-40B4-8B98-565644BC439E}" srcOrd="0" destOrd="0" presId="urn:microsoft.com/office/officeart/2005/8/layout/vList5"/>
    <dgm:cxn modelId="{9487A9BA-3343-654A-8601-DD1FF01A83AD}" type="presParOf" srcId="{F72208E8-1E6D-4BE7-96E0-71DCB0E7A9FF}" destId="{1D89C408-CB5B-0D4C-84AA-07034F6EF8B6}" srcOrd="1" destOrd="0" presId="urn:microsoft.com/office/officeart/2005/8/layout/vList5"/>
    <dgm:cxn modelId="{0D985A34-4ADC-4FA8-8733-425AD4419B2A}" type="presParOf" srcId="{94F5A52C-B4D8-41E1-B4E3-0199833FD253}" destId="{7421C67D-83DC-4F89-A588-ADD7FD17B4E3}" srcOrd="3" destOrd="0" presId="urn:microsoft.com/office/officeart/2005/8/layout/vList5"/>
    <dgm:cxn modelId="{5C26BFE3-B40B-4B02-B881-B52614E0F856}" type="presParOf" srcId="{94F5A52C-B4D8-41E1-B4E3-0199833FD253}" destId="{E0A857DF-634A-4AD2-B9E3-38E2D0B14DAE}" srcOrd="4" destOrd="0" presId="urn:microsoft.com/office/officeart/2005/8/layout/vList5"/>
    <dgm:cxn modelId="{CA9EA197-1DCC-44F6-AB74-870D735960C1}" type="presParOf" srcId="{E0A857DF-634A-4AD2-B9E3-38E2D0B14DAE}" destId="{C12B46EF-32E2-43C5-A456-0163C50FE528}" srcOrd="0" destOrd="0" presId="urn:microsoft.com/office/officeart/2005/8/layout/vList5"/>
    <dgm:cxn modelId="{DA8AD982-F36C-4E3D-AD45-389286C843F3}" type="presParOf" srcId="{E0A857DF-634A-4AD2-B9E3-38E2D0B14DAE}" destId="{885781B1-9D48-428F-8327-467C56AACD85}" srcOrd="1" destOrd="0" presId="urn:microsoft.com/office/officeart/2005/8/layout/vList5"/>
    <dgm:cxn modelId="{55A143C2-9590-774C-99F0-150E66C67868}" type="presParOf" srcId="{94F5A52C-B4D8-41E1-B4E3-0199833FD253}" destId="{D467D089-CF42-6B49-B243-4BA1B1456879}" srcOrd="5" destOrd="0" presId="urn:microsoft.com/office/officeart/2005/8/layout/vList5"/>
    <dgm:cxn modelId="{0CD43DFC-3DBA-B348-83F4-78D25D047976}" type="presParOf" srcId="{94F5A52C-B4D8-41E1-B4E3-0199833FD253}" destId="{97D35CDE-CEB6-A146-A013-DEDA869F3165}" srcOrd="6" destOrd="0" presId="urn:microsoft.com/office/officeart/2005/8/layout/vList5"/>
    <dgm:cxn modelId="{7399CD71-3FBB-464C-9BC6-348A69581D0D}" type="presParOf" srcId="{97D35CDE-CEB6-A146-A013-DEDA869F3165}" destId="{A143F7AF-AE08-F148-BDB7-D246BDC89822}" srcOrd="0" destOrd="0" presId="urn:microsoft.com/office/officeart/2005/8/layout/vList5"/>
    <dgm:cxn modelId="{1837EFDA-673E-C24A-B903-6FF2AF36AF44}" type="presParOf" srcId="{97D35CDE-CEB6-A146-A013-DEDA869F3165}" destId="{629FAAA9-E82B-AB46-A7B1-0E7D2E59CBF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0A043-4427-40E5-8F09-8CFBE6ADABEE}">
      <dsp:nvSpPr>
        <dsp:cNvPr id="0" name=""/>
        <dsp:cNvSpPr/>
      </dsp:nvSpPr>
      <dsp:spPr>
        <a:xfrm>
          <a:off x="1031" y="340597"/>
          <a:ext cx="438243" cy="43824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EF9F8F-DA66-4C87-A76A-77B1FD282DB4}">
      <dsp:nvSpPr>
        <dsp:cNvPr id="0" name=""/>
        <dsp:cNvSpPr/>
      </dsp:nvSpPr>
      <dsp:spPr>
        <a:xfrm>
          <a:off x="93062" y="432629"/>
          <a:ext cx="254181" cy="2541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92F885-AB1E-4731-B635-504B01123EB6}">
      <dsp:nvSpPr>
        <dsp:cNvPr id="0" name=""/>
        <dsp:cNvSpPr/>
      </dsp:nvSpPr>
      <dsp:spPr>
        <a:xfrm>
          <a:off x="533184" y="340597"/>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Derecho Colectivo</a:t>
          </a:r>
        </a:p>
      </dsp:txBody>
      <dsp:txXfrm>
        <a:off x="533184" y="340597"/>
        <a:ext cx="1033003" cy="438243"/>
      </dsp:txXfrm>
    </dsp:sp>
    <dsp:sp modelId="{9FCB4D91-882E-4F9E-BAA9-A4B9DB02D75B}">
      <dsp:nvSpPr>
        <dsp:cNvPr id="0" name=""/>
        <dsp:cNvSpPr/>
      </dsp:nvSpPr>
      <dsp:spPr>
        <a:xfrm>
          <a:off x="1746180" y="340597"/>
          <a:ext cx="438243" cy="43824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C3314F-E657-4560-BA2E-205C60627887}">
      <dsp:nvSpPr>
        <dsp:cNvPr id="0" name=""/>
        <dsp:cNvSpPr/>
      </dsp:nvSpPr>
      <dsp:spPr>
        <a:xfrm>
          <a:off x="1838211" y="432629"/>
          <a:ext cx="254181" cy="254181"/>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392583-F46F-4FD5-B90C-1655A3CBA330}">
      <dsp:nvSpPr>
        <dsp:cNvPr id="0" name=""/>
        <dsp:cNvSpPr/>
      </dsp:nvSpPr>
      <dsp:spPr>
        <a:xfrm>
          <a:off x="2278333" y="340597"/>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Asociaciones Sindicales</a:t>
          </a:r>
        </a:p>
      </dsp:txBody>
      <dsp:txXfrm>
        <a:off x="2278333" y="340597"/>
        <a:ext cx="1033003" cy="438243"/>
      </dsp:txXfrm>
    </dsp:sp>
    <dsp:sp modelId="{7B204262-B8E8-41AA-8297-87A7DEC4E0F4}">
      <dsp:nvSpPr>
        <dsp:cNvPr id="0" name=""/>
        <dsp:cNvSpPr/>
      </dsp:nvSpPr>
      <dsp:spPr>
        <a:xfrm>
          <a:off x="1031" y="1254454"/>
          <a:ext cx="438243" cy="43824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C3147-A947-49F7-9BA9-505F43788A89}">
      <dsp:nvSpPr>
        <dsp:cNvPr id="0" name=""/>
        <dsp:cNvSpPr/>
      </dsp:nvSpPr>
      <dsp:spPr>
        <a:xfrm>
          <a:off x="93062" y="1346485"/>
          <a:ext cx="254181" cy="254181"/>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1A201C-4174-4147-9454-2873293917BB}">
      <dsp:nvSpPr>
        <dsp:cNvPr id="0" name=""/>
        <dsp:cNvSpPr/>
      </dsp:nvSpPr>
      <dsp:spPr>
        <a:xfrm>
          <a:off x="533184" y="1254454"/>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Convenios Colectivos de Trabajo</a:t>
          </a:r>
        </a:p>
      </dsp:txBody>
      <dsp:txXfrm>
        <a:off x="533184" y="1254454"/>
        <a:ext cx="1033003" cy="438243"/>
      </dsp:txXfrm>
    </dsp:sp>
    <dsp:sp modelId="{A53D2F3D-55D8-4243-A136-04078FFD071D}">
      <dsp:nvSpPr>
        <dsp:cNvPr id="0" name=""/>
        <dsp:cNvSpPr/>
      </dsp:nvSpPr>
      <dsp:spPr>
        <a:xfrm>
          <a:off x="1746180" y="1254454"/>
          <a:ext cx="438243" cy="43824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86D8AF-753C-4A85-AFCA-65A8B9B6CEBE}">
      <dsp:nvSpPr>
        <dsp:cNvPr id="0" name=""/>
        <dsp:cNvSpPr/>
      </dsp:nvSpPr>
      <dsp:spPr>
        <a:xfrm>
          <a:off x="1838211" y="1346485"/>
          <a:ext cx="254181" cy="254181"/>
        </a:xfrm>
        <a:prstGeom prst="rect">
          <a:avLst/>
        </a:prstGeom>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F0730A-D1D5-4E2A-B161-48BD26C5B159}">
      <dsp:nvSpPr>
        <dsp:cNvPr id="0" name=""/>
        <dsp:cNvSpPr/>
      </dsp:nvSpPr>
      <dsp:spPr>
        <a:xfrm>
          <a:off x="2278333" y="1254454"/>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Representantes Gremiales</a:t>
          </a:r>
        </a:p>
      </dsp:txBody>
      <dsp:txXfrm>
        <a:off x="2278333" y="1254454"/>
        <a:ext cx="1033003" cy="438243"/>
      </dsp:txXfrm>
    </dsp:sp>
    <dsp:sp modelId="{747F0D46-CA57-4C41-9AA9-1F8E3DE46D90}">
      <dsp:nvSpPr>
        <dsp:cNvPr id="0" name=""/>
        <dsp:cNvSpPr/>
      </dsp:nvSpPr>
      <dsp:spPr>
        <a:xfrm>
          <a:off x="1031" y="2168311"/>
          <a:ext cx="438243" cy="43824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F18A2E-4B5E-4944-9B8E-EDA0ADC29A4C}">
      <dsp:nvSpPr>
        <dsp:cNvPr id="0" name=""/>
        <dsp:cNvSpPr/>
      </dsp:nvSpPr>
      <dsp:spPr>
        <a:xfrm>
          <a:off x="93062" y="2260342"/>
          <a:ext cx="254181" cy="254181"/>
        </a:xfrm>
        <a:prstGeom prst="rect">
          <a:avLst/>
        </a:prstGeom>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A0A9F6-5FC6-40F3-8FC3-1C811B37DD9F}">
      <dsp:nvSpPr>
        <dsp:cNvPr id="0" name=""/>
        <dsp:cNvSpPr/>
      </dsp:nvSpPr>
      <dsp:spPr>
        <a:xfrm>
          <a:off x="533184" y="2168311"/>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Mapa Político Gremial</a:t>
          </a:r>
        </a:p>
      </dsp:txBody>
      <dsp:txXfrm>
        <a:off x="533184" y="2168311"/>
        <a:ext cx="1033003" cy="438243"/>
      </dsp:txXfrm>
    </dsp:sp>
    <dsp:sp modelId="{B476E009-E789-472A-A0A9-BBBBB75532FE}">
      <dsp:nvSpPr>
        <dsp:cNvPr id="0" name=""/>
        <dsp:cNvSpPr/>
      </dsp:nvSpPr>
      <dsp:spPr>
        <a:xfrm>
          <a:off x="1746180" y="2168311"/>
          <a:ext cx="438243" cy="43824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C39D4C-3D8D-4105-8DA0-966EC66D04BD}">
      <dsp:nvSpPr>
        <dsp:cNvPr id="0" name=""/>
        <dsp:cNvSpPr/>
      </dsp:nvSpPr>
      <dsp:spPr>
        <a:xfrm>
          <a:off x="1838211" y="2260342"/>
          <a:ext cx="254181" cy="254181"/>
        </a:xfrm>
        <a:prstGeom prst="rect">
          <a:avLst/>
        </a:prstGeom>
        <a:blipFill rotWithShape="1">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A1A701-8FB2-4C14-BAA2-EC4DCE12AEF7}">
      <dsp:nvSpPr>
        <dsp:cNvPr id="0" name=""/>
        <dsp:cNvSpPr/>
      </dsp:nvSpPr>
      <dsp:spPr>
        <a:xfrm>
          <a:off x="2278333" y="2168311"/>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Conflicto Sindical</a:t>
          </a:r>
        </a:p>
      </dsp:txBody>
      <dsp:txXfrm>
        <a:off x="2278333" y="2168311"/>
        <a:ext cx="1033003" cy="438243"/>
      </dsp:txXfrm>
    </dsp:sp>
    <dsp:sp modelId="{7006A6B6-57DE-422F-8FEA-BAFBB8C66973}">
      <dsp:nvSpPr>
        <dsp:cNvPr id="0" name=""/>
        <dsp:cNvSpPr/>
      </dsp:nvSpPr>
      <dsp:spPr>
        <a:xfrm>
          <a:off x="1031" y="3082168"/>
          <a:ext cx="438243" cy="43824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F985E8-716D-44FD-9F7C-2D2C6392F4FC}">
      <dsp:nvSpPr>
        <dsp:cNvPr id="0" name=""/>
        <dsp:cNvSpPr/>
      </dsp:nvSpPr>
      <dsp:spPr>
        <a:xfrm>
          <a:off x="93062" y="3174199"/>
          <a:ext cx="254181" cy="254181"/>
        </a:xfrm>
        <a:prstGeom prst="rect">
          <a:avLst/>
        </a:prstGeom>
        <a:blipFill rotWithShape="1">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091A18-1C4D-456A-882C-2CB519E1F3E7}">
      <dsp:nvSpPr>
        <dsp:cNvPr id="0" name=""/>
        <dsp:cNvSpPr/>
      </dsp:nvSpPr>
      <dsp:spPr>
        <a:xfrm>
          <a:off x="533184" y="3082168"/>
          <a:ext cx="1033003" cy="438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s-AR" sz="1400" b="1" kern="1200"/>
            <a:t>Negociación</a:t>
          </a:r>
        </a:p>
      </dsp:txBody>
      <dsp:txXfrm>
        <a:off x="533184" y="3082168"/>
        <a:ext cx="1033003" cy="438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1BD9A-F3D6-4E10-A749-29889E7F8A56}">
      <dsp:nvSpPr>
        <dsp:cNvPr id="0" name=""/>
        <dsp:cNvSpPr/>
      </dsp:nvSpPr>
      <dsp:spPr>
        <a:xfrm>
          <a:off x="2625517" y="48756"/>
          <a:ext cx="2340332" cy="2340332"/>
        </a:xfrm>
        <a:prstGeom prst="ellipse">
          <a:avLst/>
        </a:prstGeom>
        <a:solidFill>
          <a:schemeClr val="accent2">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s-ES" sz="2300" kern="1200" dirty="0">
              <a:latin typeface="Gill Sans Nova" panose="020B0602020104020203" pitchFamily="34" charset="0"/>
            </a:rPr>
            <a:t>Cámaras empresariales / empleador</a:t>
          </a:r>
          <a:endParaRPr lang="es-AR" sz="2300" kern="1200" dirty="0">
            <a:latin typeface="Gill Sans Nova" panose="020B0602020104020203" pitchFamily="34" charset="0"/>
          </a:endParaRPr>
        </a:p>
      </dsp:txBody>
      <dsp:txXfrm>
        <a:off x="2937562" y="458315"/>
        <a:ext cx="1716243" cy="1053149"/>
      </dsp:txXfrm>
    </dsp:sp>
    <dsp:sp modelId="{EE8C979A-059B-4936-8483-08FA6F38F52D}">
      <dsp:nvSpPr>
        <dsp:cNvPr id="0" name=""/>
        <dsp:cNvSpPr/>
      </dsp:nvSpPr>
      <dsp:spPr>
        <a:xfrm>
          <a:off x="3469987" y="1511464"/>
          <a:ext cx="2340332" cy="2340332"/>
        </a:xfrm>
        <a:prstGeom prst="ellipse">
          <a:avLst/>
        </a:prstGeom>
        <a:solidFill>
          <a:schemeClr val="accent2">
            <a:alpha val="50000"/>
            <a:hueOff val="-4271745"/>
            <a:satOff val="12481"/>
            <a:lumOff val="-2353"/>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s-ES" sz="2300" kern="1200" dirty="0">
              <a:latin typeface="Gill Sans Nova" panose="020B0602020104020203" pitchFamily="34" charset="0"/>
            </a:rPr>
            <a:t>Ministerio de Trabajo</a:t>
          </a:r>
          <a:endParaRPr lang="es-AR" sz="2300" kern="1200" dirty="0">
            <a:latin typeface="Gill Sans Nova" panose="020B0602020104020203" pitchFamily="34" charset="0"/>
          </a:endParaRPr>
        </a:p>
      </dsp:txBody>
      <dsp:txXfrm>
        <a:off x="4185739" y="2116050"/>
        <a:ext cx="1404199" cy="1287182"/>
      </dsp:txXfrm>
    </dsp:sp>
    <dsp:sp modelId="{419C11C8-64BF-42C8-A83A-E088E0509669}">
      <dsp:nvSpPr>
        <dsp:cNvPr id="0" name=""/>
        <dsp:cNvSpPr/>
      </dsp:nvSpPr>
      <dsp:spPr>
        <a:xfrm>
          <a:off x="1781047" y="1511464"/>
          <a:ext cx="2340332" cy="2340332"/>
        </a:xfrm>
        <a:prstGeom prst="ellipse">
          <a:avLst/>
        </a:prstGeom>
        <a:solidFill>
          <a:schemeClr val="accent2">
            <a:alpha val="50000"/>
            <a:hueOff val="-8543491"/>
            <a:satOff val="24962"/>
            <a:lumOff val="-4706"/>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s-ES" sz="2300" kern="1200" dirty="0">
              <a:latin typeface="Gill Sans Nova" panose="020B0602020104020203" pitchFamily="34" charset="0"/>
            </a:rPr>
            <a:t>Sindicatos</a:t>
          </a:r>
          <a:endParaRPr lang="es-AR" sz="2300" kern="1200" dirty="0">
            <a:latin typeface="Gill Sans Nova" panose="020B0602020104020203" pitchFamily="34" charset="0"/>
          </a:endParaRPr>
        </a:p>
      </dsp:txBody>
      <dsp:txXfrm>
        <a:off x="2001429" y="2116050"/>
        <a:ext cx="1404199" cy="12871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038BA-8BD0-4BC9-A166-DEEC733F790C}">
      <dsp:nvSpPr>
        <dsp:cNvPr id="0" name=""/>
        <dsp:cNvSpPr/>
      </dsp:nvSpPr>
      <dsp:spPr>
        <a:xfrm>
          <a:off x="896299" y="1728194"/>
          <a:ext cx="3027743" cy="1513871"/>
        </a:xfrm>
        <a:prstGeom prst="roundRect">
          <a:avLst>
            <a:gd name="adj" fmla="val 10000"/>
          </a:avLst>
        </a:prstGeom>
        <a:solidFill>
          <a:srgbClr val="00206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s-ES" sz="3600" kern="1200" dirty="0">
              <a:solidFill>
                <a:schemeClr val="bg1"/>
              </a:solidFill>
            </a:rPr>
            <a:t>Asociación sindical</a:t>
          </a:r>
          <a:endParaRPr lang="es-AR" sz="3600" kern="1200" dirty="0">
            <a:solidFill>
              <a:schemeClr val="bg1"/>
            </a:solidFill>
          </a:endParaRPr>
        </a:p>
      </dsp:txBody>
      <dsp:txXfrm>
        <a:off x="940639" y="1772534"/>
        <a:ext cx="2939063" cy="1425191"/>
      </dsp:txXfrm>
    </dsp:sp>
    <dsp:sp modelId="{B6AA8E84-366F-40C2-8156-9AC893AFB102}">
      <dsp:nvSpPr>
        <dsp:cNvPr id="0" name=""/>
        <dsp:cNvSpPr/>
      </dsp:nvSpPr>
      <dsp:spPr>
        <a:xfrm rot="18147338">
          <a:off x="3449547" y="1593787"/>
          <a:ext cx="2048091" cy="54492"/>
        </a:xfrm>
        <a:custGeom>
          <a:avLst/>
          <a:gdLst/>
          <a:ahLst/>
          <a:cxnLst/>
          <a:rect l="0" t="0" r="0" b="0"/>
          <a:pathLst>
            <a:path>
              <a:moveTo>
                <a:pt x="0" y="27246"/>
              </a:moveTo>
              <a:lnTo>
                <a:pt x="2048091"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AR" sz="700" kern="1200"/>
        </a:p>
      </dsp:txBody>
      <dsp:txXfrm>
        <a:off x="4422390" y="1569830"/>
        <a:ext cx="102404" cy="102404"/>
      </dsp:txXfrm>
    </dsp:sp>
    <dsp:sp modelId="{226E325F-1AAD-4B33-86F0-2305AADEADD1}">
      <dsp:nvSpPr>
        <dsp:cNvPr id="0" name=""/>
        <dsp:cNvSpPr/>
      </dsp:nvSpPr>
      <dsp:spPr>
        <a:xfrm>
          <a:off x="5023143" y="0"/>
          <a:ext cx="3027743" cy="1513871"/>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s-MX" sz="3600" kern="1200" dirty="0"/>
            <a:t>Sin inscripción</a:t>
          </a:r>
          <a:endParaRPr lang="es-AR" sz="3600" kern="1200" dirty="0"/>
        </a:p>
      </dsp:txBody>
      <dsp:txXfrm>
        <a:off x="5067483" y="44340"/>
        <a:ext cx="2939063" cy="1425191"/>
      </dsp:txXfrm>
    </dsp:sp>
    <dsp:sp modelId="{ECB99B1B-0655-456D-B94B-308182479EE8}">
      <dsp:nvSpPr>
        <dsp:cNvPr id="0" name=""/>
        <dsp:cNvSpPr/>
      </dsp:nvSpPr>
      <dsp:spPr>
        <a:xfrm>
          <a:off x="3924042" y="2457884"/>
          <a:ext cx="1099101" cy="54492"/>
        </a:xfrm>
        <a:custGeom>
          <a:avLst/>
          <a:gdLst/>
          <a:ahLst/>
          <a:cxnLst/>
          <a:rect l="0" t="0" r="0" b="0"/>
          <a:pathLst>
            <a:path>
              <a:moveTo>
                <a:pt x="0" y="27246"/>
              </a:moveTo>
              <a:lnTo>
                <a:pt x="1099101"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4446115" y="2457653"/>
        <a:ext cx="54955" cy="54955"/>
      </dsp:txXfrm>
    </dsp:sp>
    <dsp:sp modelId="{B7E7AD64-74F1-473A-9C61-4EC1836B01D9}">
      <dsp:nvSpPr>
        <dsp:cNvPr id="0" name=""/>
        <dsp:cNvSpPr/>
      </dsp:nvSpPr>
      <dsp:spPr>
        <a:xfrm>
          <a:off x="5023143" y="1728194"/>
          <a:ext cx="3027743" cy="1513871"/>
        </a:xfrm>
        <a:prstGeom prst="roundRect">
          <a:avLst>
            <a:gd name="adj" fmla="val 10000"/>
          </a:avLst>
        </a:prstGeom>
        <a:solidFill>
          <a:srgbClr val="FFFF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s-ES" sz="3600" kern="1200"/>
            <a:t>Simplemente inscriptos</a:t>
          </a:r>
          <a:endParaRPr lang="es-AR" sz="3600" kern="1200" dirty="0"/>
        </a:p>
      </dsp:txBody>
      <dsp:txXfrm>
        <a:off x="5067483" y="1772534"/>
        <a:ext cx="2939063" cy="1425191"/>
      </dsp:txXfrm>
    </dsp:sp>
    <dsp:sp modelId="{4F9966DF-B2C4-43DB-B8C1-0DEB7FB73569}">
      <dsp:nvSpPr>
        <dsp:cNvPr id="0" name=""/>
        <dsp:cNvSpPr/>
      </dsp:nvSpPr>
      <dsp:spPr>
        <a:xfrm rot="3524975">
          <a:off x="3429094" y="3337181"/>
          <a:ext cx="2057055" cy="54492"/>
        </a:xfrm>
        <a:custGeom>
          <a:avLst/>
          <a:gdLst/>
          <a:ahLst/>
          <a:cxnLst/>
          <a:rect l="0" t="0" r="0" b="0"/>
          <a:pathLst>
            <a:path>
              <a:moveTo>
                <a:pt x="0" y="27246"/>
              </a:moveTo>
              <a:lnTo>
                <a:pt x="2057055"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AR" sz="700" kern="1200"/>
        </a:p>
      </dsp:txBody>
      <dsp:txXfrm>
        <a:off x="4406195" y="3313001"/>
        <a:ext cx="102852" cy="102852"/>
      </dsp:txXfrm>
    </dsp:sp>
    <dsp:sp modelId="{AAC3D395-B688-406A-95F1-199B424AB11C}">
      <dsp:nvSpPr>
        <dsp:cNvPr id="0" name=""/>
        <dsp:cNvSpPr/>
      </dsp:nvSpPr>
      <dsp:spPr>
        <a:xfrm>
          <a:off x="4991201" y="3486788"/>
          <a:ext cx="3027743" cy="1513871"/>
        </a:xfrm>
        <a:prstGeom prst="roundRect">
          <a:avLst>
            <a:gd name="adj" fmla="val 10000"/>
          </a:avLst>
        </a:prstGeom>
        <a:solidFill>
          <a:srgbClr val="00B05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s-ES" sz="3600" kern="1200" dirty="0">
              <a:solidFill>
                <a:schemeClr val="bg1"/>
              </a:solidFill>
            </a:rPr>
            <a:t>Con personería gremial</a:t>
          </a:r>
          <a:endParaRPr lang="es-AR" sz="3600" kern="1200" dirty="0">
            <a:solidFill>
              <a:schemeClr val="bg1"/>
            </a:solidFill>
          </a:endParaRPr>
        </a:p>
      </dsp:txBody>
      <dsp:txXfrm>
        <a:off x="5035541" y="3531128"/>
        <a:ext cx="2939063" cy="14251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038BA-8BD0-4BC9-A166-DEEC733F790C}">
      <dsp:nvSpPr>
        <dsp:cNvPr id="0" name=""/>
        <dsp:cNvSpPr/>
      </dsp:nvSpPr>
      <dsp:spPr>
        <a:xfrm>
          <a:off x="1188" y="1478583"/>
          <a:ext cx="1726302" cy="863151"/>
        </a:xfrm>
        <a:prstGeom prst="roundRect">
          <a:avLst>
            <a:gd name="adj" fmla="val 10000"/>
          </a:avLst>
        </a:prstGeom>
        <a:solidFill>
          <a:srgbClr val="00206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bg1"/>
              </a:solidFill>
            </a:rPr>
            <a:t>Asociación sindical</a:t>
          </a:r>
          <a:endParaRPr lang="es-AR" sz="2100" kern="1200" dirty="0">
            <a:solidFill>
              <a:schemeClr val="bg1"/>
            </a:solidFill>
          </a:endParaRPr>
        </a:p>
      </dsp:txBody>
      <dsp:txXfrm>
        <a:off x="26469" y="1503864"/>
        <a:ext cx="1675740" cy="812589"/>
      </dsp:txXfrm>
    </dsp:sp>
    <dsp:sp modelId="{B6AA8E84-366F-40C2-8156-9AC893AFB102}">
      <dsp:nvSpPr>
        <dsp:cNvPr id="0" name=""/>
        <dsp:cNvSpPr/>
      </dsp:nvSpPr>
      <dsp:spPr>
        <a:xfrm rot="17693082">
          <a:off x="1296200" y="1219135"/>
          <a:ext cx="1489245" cy="31069"/>
        </a:xfrm>
        <a:custGeom>
          <a:avLst/>
          <a:gdLst/>
          <a:ahLst/>
          <a:cxnLst/>
          <a:rect l="0" t="0" r="0" b="0"/>
          <a:pathLst>
            <a:path>
              <a:moveTo>
                <a:pt x="0" y="15534"/>
              </a:moveTo>
              <a:lnTo>
                <a:pt x="1489245" y="155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003591" y="1197438"/>
        <a:ext cx="74462" cy="74462"/>
      </dsp:txXfrm>
    </dsp:sp>
    <dsp:sp modelId="{226E325F-1AAD-4B33-86F0-2305AADEADD1}">
      <dsp:nvSpPr>
        <dsp:cNvPr id="0" name=""/>
        <dsp:cNvSpPr/>
      </dsp:nvSpPr>
      <dsp:spPr>
        <a:xfrm>
          <a:off x="2354154" y="127605"/>
          <a:ext cx="1726302" cy="863151"/>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Sin inscripción</a:t>
          </a:r>
          <a:endParaRPr lang="es-AR" sz="2100" kern="1200" dirty="0"/>
        </a:p>
      </dsp:txBody>
      <dsp:txXfrm>
        <a:off x="2379435" y="152886"/>
        <a:ext cx="1675740" cy="812589"/>
      </dsp:txXfrm>
    </dsp:sp>
    <dsp:sp modelId="{ECB99B1B-0655-456D-B94B-308182479EE8}">
      <dsp:nvSpPr>
        <dsp:cNvPr id="0" name=""/>
        <dsp:cNvSpPr/>
      </dsp:nvSpPr>
      <dsp:spPr>
        <a:xfrm>
          <a:off x="1727490" y="1894624"/>
          <a:ext cx="626664" cy="31069"/>
        </a:xfrm>
        <a:custGeom>
          <a:avLst/>
          <a:gdLst/>
          <a:ahLst/>
          <a:cxnLst/>
          <a:rect l="0" t="0" r="0" b="0"/>
          <a:pathLst>
            <a:path>
              <a:moveTo>
                <a:pt x="0" y="15534"/>
              </a:moveTo>
              <a:lnTo>
                <a:pt x="626664" y="155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025155" y="1894492"/>
        <a:ext cx="31333" cy="31333"/>
      </dsp:txXfrm>
    </dsp:sp>
    <dsp:sp modelId="{B7E7AD64-74F1-473A-9C61-4EC1836B01D9}">
      <dsp:nvSpPr>
        <dsp:cNvPr id="0" name=""/>
        <dsp:cNvSpPr/>
      </dsp:nvSpPr>
      <dsp:spPr>
        <a:xfrm>
          <a:off x="2354154" y="1478583"/>
          <a:ext cx="1726302" cy="863151"/>
        </a:xfrm>
        <a:prstGeom prst="roundRect">
          <a:avLst>
            <a:gd name="adj" fmla="val 10000"/>
          </a:avLst>
        </a:prstGeom>
        <a:solidFill>
          <a:srgbClr val="FFFF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ES" sz="2100" kern="1200"/>
            <a:t>Simplemente inscriptos</a:t>
          </a:r>
          <a:endParaRPr lang="es-AR" sz="2100" kern="1200" dirty="0"/>
        </a:p>
      </dsp:txBody>
      <dsp:txXfrm>
        <a:off x="2379435" y="1503864"/>
        <a:ext cx="1675740" cy="812589"/>
      </dsp:txXfrm>
    </dsp:sp>
    <dsp:sp modelId="{4F9966DF-B2C4-43DB-B8C1-0DEB7FB73569}">
      <dsp:nvSpPr>
        <dsp:cNvPr id="0" name=""/>
        <dsp:cNvSpPr/>
      </dsp:nvSpPr>
      <dsp:spPr>
        <a:xfrm rot="3938047">
          <a:off x="1294309" y="2566350"/>
          <a:ext cx="1474813" cy="31069"/>
        </a:xfrm>
        <a:custGeom>
          <a:avLst/>
          <a:gdLst/>
          <a:ahLst/>
          <a:cxnLst/>
          <a:rect l="0" t="0" r="0" b="0"/>
          <a:pathLst>
            <a:path>
              <a:moveTo>
                <a:pt x="0" y="15534"/>
              </a:moveTo>
              <a:lnTo>
                <a:pt x="1474813" y="155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1994845" y="2545014"/>
        <a:ext cx="73740" cy="73740"/>
      </dsp:txXfrm>
    </dsp:sp>
    <dsp:sp modelId="{AAC3D395-B688-406A-95F1-199B424AB11C}">
      <dsp:nvSpPr>
        <dsp:cNvPr id="0" name=""/>
        <dsp:cNvSpPr/>
      </dsp:nvSpPr>
      <dsp:spPr>
        <a:xfrm>
          <a:off x="2335942" y="2822035"/>
          <a:ext cx="1812116" cy="863151"/>
        </a:xfrm>
        <a:prstGeom prst="roundRect">
          <a:avLst>
            <a:gd name="adj" fmla="val 10000"/>
          </a:avLst>
        </a:prstGeom>
        <a:solidFill>
          <a:srgbClr val="00B05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bg1"/>
              </a:solidFill>
            </a:rPr>
            <a:t>Con personería gremial</a:t>
          </a:r>
          <a:endParaRPr lang="es-AR" sz="2100" kern="1200" dirty="0">
            <a:solidFill>
              <a:schemeClr val="bg1"/>
            </a:solidFill>
          </a:endParaRPr>
        </a:p>
      </dsp:txBody>
      <dsp:txXfrm>
        <a:off x="2361223" y="2847316"/>
        <a:ext cx="1761554" cy="812589"/>
      </dsp:txXfrm>
    </dsp:sp>
    <dsp:sp modelId="{9C621163-7872-4B0B-8AEC-318245C4C9F3}">
      <dsp:nvSpPr>
        <dsp:cNvPr id="0" name=""/>
        <dsp:cNvSpPr/>
      </dsp:nvSpPr>
      <dsp:spPr>
        <a:xfrm rot="41268">
          <a:off x="4148036" y="3241839"/>
          <a:ext cx="627003" cy="31069"/>
        </a:xfrm>
        <a:custGeom>
          <a:avLst/>
          <a:gdLst/>
          <a:ahLst/>
          <a:cxnLst/>
          <a:rect l="0" t="0" r="0" b="0"/>
          <a:pathLst>
            <a:path>
              <a:moveTo>
                <a:pt x="0" y="15534"/>
              </a:moveTo>
              <a:lnTo>
                <a:pt x="627003" y="155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4445863" y="3241698"/>
        <a:ext cx="31350" cy="31350"/>
      </dsp:txXfrm>
    </dsp:sp>
    <dsp:sp modelId="{A8E56738-3AA6-4735-8BCF-A523B94B8E57}">
      <dsp:nvSpPr>
        <dsp:cNvPr id="0" name=""/>
        <dsp:cNvSpPr/>
      </dsp:nvSpPr>
      <dsp:spPr>
        <a:xfrm>
          <a:off x="4775017" y="2829561"/>
          <a:ext cx="1726302" cy="863151"/>
        </a:xfrm>
        <a:prstGeom prst="roundRect">
          <a:avLst>
            <a:gd name="adj" fmla="val 10000"/>
          </a:avLst>
        </a:prstGeom>
        <a:solidFill>
          <a:schemeClr val="accent1">
            <a:lumMod val="60000"/>
            <a:lumOff val="40000"/>
          </a:schemeClr>
        </a:solidFill>
        <a:ln w="2540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u="sng" kern="1200" dirty="0"/>
            <a:t>Derechos exclusivos</a:t>
          </a:r>
          <a:endParaRPr lang="es-AR" sz="1600" u="sng" kern="1200" dirty="0"/>
        </a:p>
      </dsp:txBody>
      <dsp:txXfrm>
        <a:off x="4800298" y="2854842"/>
        <a:ext cx="1675740" cy="812589"/>
      </dsp:txXfrm>
    </dsp:sp>
    <dsp:sp modelId="{C367B7FA-E962-4253-8332-8A9F928D34C5}">
      <dsp:nvSpPr>
        <dsp:cNvPr id="0" name=""/>
        <dsp:cNvSpPr/>
      </dsp:nvSpPr>
      <dsp:spPr>
        <a:xfrm rot="17652299">
          <a:off x="5924781" y="2354325"/>
          <a:ext cx="1954373" cy="31069"/>
        </a:xfrm>
        <a:custGeom>
          <a:avLst/>
          <a:gdLst/>
          <a:ahLst/>
          <a:cxnLst/>
          <a:rect l="0" t="0" r="0" b="0"/>
          <a:pathLst>
            <a:path>
              <a:moveTo>
                <a:pt x="0" y="15534"/>
              </a:moveTo>
              <a:lnTo>
                <a:pt x="1954373" y="155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AR" sz="700" kern="1200"/>
        </a:p>
      </dsp:txBody>
      <dsp:txXfrm>
        <a:off x="6853108" y="2321001"/>
        <a:ext cx="97718" cy="97718"/>
      </dsp:txXfrm>
    </dsp:sp>
    <dsp:sp modelId="{265A35C9-2556-441B-B301-DD1F62E16C1E}">
      <dsp:nvSpPr>
        <dsp:cNvPr id="0" name=""/>
        <dsp:cNvSpPr/>
      </dsp:nvSpPr>
      <dsp:spPr>
        <a:xfrm>
          <a:off x="7302617" y="1047008"/>
          <a:ext cx="1726302" cy="863151"/>
        </a:xfrm>
        <a:prstGeom prst="roundRect">
          <a:avLst>
            <a:gd name="adj" fmla="val 10000"/>
          </a:avLst>
        </a:prstGeom>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cap="flat" cmpd="sng" algn="ctr">
          <a:solidFill>
            <a:schemeClr val="accent2">
              <a:shade val="95000"/>
              <a:satMod val="105000"/>
            </a:schemeClr>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Concretar CCT</a:t>
          </a:r>
          <a:endParaRPr lang="es-AR" sz="1600" kern="1200" dirty="0"/>
        </a:p>
      </dsp:txBody>
      <dsp:txXfrm>
        <a:off x="7327898" y="1072289"/>
        <a:ext cx="1675740" cy="812589"/>
      </dsp:txXfrm>
    </dsp:sp>
    <dsp:sp modelId="{1ACB1EBB-47A9-473B-A58E-B2A51955271A}">
      <dsp:nvSpPr>
        <dsp:cNvPr id="0" name=""/>
        <dsp:cNvSpPr/>
      </dsp:nvSpPr>
      <dsp:spPr>
        <a:xfrm rot="19100170">
          <a:off x="6365666" y="2889090"/>
          <a:ext cx="1072604" cy="31069"/>
        </a:xfrm>
        <a:custGeom>
          <a:avLst/>
          <a:gdLst/>
          <a:ahLst/>
          <a:cxnLst/>
          <a:rect l="0" t="0" r="0" b="0"/>
          <a:pathLst>
            <a:path>
              <a:moveTo>
                <a:pt x="0" y="15534"/>
              </a:moveTo>
              <a:lnTo>
                <a:pt x="1072604" y="155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6875153" y="2877810"/>
        <a:ext cx="53630" cy="53630"/>
      </dsp:txXfrm>
    </dsp:sp>
    <dsp:sp modelId="{38D7073B-8B28-4382-A87A-C0E82969AB52}">
      <dsp:nvSpPr>
        <dsp:cNvPr id="0" name=""/>
        <dsp:cNvSpPr/>
      </dsp:nvSpPr>
      <dsp:spPr>
        <a:xfrm>
          <a:off x="7302617" y="2116538"/>
          <a:ext cx="1726302" cy="863151"/>
        </a:xfrm>
        <a:prstGeom prst="roundRect">
          <a:avLst>
            <a:gd name="adj" fmla="val 10000"/>
          </a:avLst>
        </a:prstGeom>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cap="flat" cmpd="sng" algn="ctr">
          <a:solidFill>
            <a:schemeClr val="accent2">
              <a:shade val="95000"/>
              <a:satMod val="105000"/>
            </a:schemeClr>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Derecho a la HUELGA</a:t>
          </a:r>
          <a:endParaRPr lang="es-AR" sz="1600" kern="1200" dirty="0"/>
        </a:p>
      </dsp:txBody>
      <dsp:txXfrm>
        <a:off x="7327898" y="2141819"/>
        <a:ext cx="1675740" cy="812589"/>
      </dsp:txXfrm>
    </dsp:sp>
    <dsp:sp modelId="{FFC7766D-4514-4F21-87DC-24D12C347DE5}">
      <dsp:nvSpPr>
        <dsp:cNvPr id="0" name=""/>
        <dsp:cNvSpPr/>
      </dsp:nvSpPr>
      <dsp:spPr>
        <a:xfrm rot="1127327">
          <a:off x="6478768" y="3381907"/>
          <a:ext cx="846400" cy="31069"/>
        </a:xfrm>
        <a:custGeom>
          <a:avLst/>
          <a:gdLst/>
          <a:ahLst/>
          <a:cxnLst/>
          <a:rect l="0" t="0" r="0" b="0"/>
          <a:pathLst>
            <a:path>
              <a:moveTo>
                <a:pt x="0" y="15534"/>
              </a:moveTo>
              <a:lnTo>
                <a:pt x="846400" y="155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6880808" y="3376281"/>
        <a:ext cx="42320" cy="42320"/>
      </dsp:txXfrm>
    </dsp:sp>
    <dsp:sp modelId="{1A9C19A1-BE7F-4D13-8E16-2EDDEBF52006}">
      <dsp:nvSpPr>
        <dsp:cNvPr id="0" name=""/>
        <dsp:cNvSpPr/>
      </dsp:nvSpPr>
      <dsp:spPr>
        <a:xfrm>
          <a:off x="7302617" y="3102170"/>
          <a:ext cx="1726302" cy="863151"/>
        </a:xfrm>
        <a:prstGeom prst="roundRect">
          <a:avLst>
            <a:gd name="adj" fmla="val 10000"/>
          </a:avLst>
        </a:prstGeom>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cap="flat" cmpd="sng" algn="ctr">
          <a:solidFill>
            <a:schemeClr val="accent2">
              <a:shade val="95000"/>
              <a:satMod val="105000"/>
            </a:schemeClr>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Administrar Obra sociales</a:t>
          </a:r>
          <a:endParaRPr lang="es-AR" sz="1600" kern="1200" dirty="0"/>
        </a:p>
      </dsp:txBody>
      <dsp:txXfrm>
        <a:off x="7327898" y="3127451"/>
        <a:ext cx="1675740" cy="812589"/>
      </dsp:txXfrm>
    </dsp:sp>
    <dsp:sp modelId="{3712FD65-C7C5-46C2-8670-F7DF38672797}">
      <dsp:nvSpPr>
        <dsp:cNvPr id="0" name=""/>
        <dsp:cNvSpPr/>
      </dsp:nvSpPr>
      <dsp:spPr>
        <a:xfrm rot="3510408">
          <a:off x="6135025" y="3899576"/>
          <a:ext cx="1533885" cy="31069"/>
        </a:xfrm>
        <a:custGeom>
          <a:avLst/>
          <a:gdLst/>
          <a:ahLst/>
          <a:cxnLst/>
          <a:rect l="0" t="0" r="0" b="0"/>
          <a:pathLst>
            <a:path>
              <a:moveTo>
                <a:pt x="0" y="15534"/>
              </a:moveTo>
              <a:lnTo>
                <a:pt x="1533885" y="155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6863621" y="3876763"/>
        <a:ext cx="76694" cy="76694"/>
      </dsp:txXfrm>
    </dsp:sp>
    <dsp:sp modelId="{CC63976A-5063-467D-852E-79463D850591}">
      <dsp:nvSpPr>
        <dsp:cNvPr id="0" name=""/>
        <dsp:cNvSpPr/>
      </dsp:nvSpPr>
      <dsp:spPr>
        <a:xfrm>
          <a:off x="7302617" y="4137508"/>
          <a:ext cx="1726302" cy="863151"/>
        </a:xfrm>
        <a:prstGeom prst="roundRect">
          <a:avLst>
            <a:gd name="adj" fmla="val 1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Recurrir a la conciliación y el arbitraje</a:t>
          </a:r>
          <a:endParaRPr lang="es-AR" sz="1600" kern="1200" dirty="0"/>
        </a:p>
      </dsp:txBody>
      <dsp:txXfrm>
        <a:off x="7327898" y="4162789"/>
        <a:ext cx="1675740" cy="812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3B88D0-814A-4C7D-B2B3-459B6DBD8AFB}">
      <dsp:nvSpPr>
        <dsp:cNvPr id="0" name=""/>
        <dsp:cNvSpPr/>
      </dsp:nvSpPr>
      <dsp:spPr>
        <a:xfrm>
          <a:off x="618" y="644"/>
          <a:ext cx="2663553" cy="1665935"/>
        </a:xfrm>
        <a:prstGeom prst="roundRect">
          <a:avLst>
            <a:gd name="adj" fmla="val 5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02870" rIns="133350" bIns="0" numCol="1" spcCol="1270" anchor="t" anchorCtr="0">
          <a:noAutofit/>
        </a:bodyPr>
        <a:lstStyle/>
        <a:p>
          <a:pPr marL="0" lvl="0" indent="0" algn="r" defTabSz="1333500">
            <a:lnSpc>
              <a:spcPct val="90000"/>
            </a:lnSpc>
            <a:spcBef>
              <a:spcPct val="0"/>
            </a:spcBef>
            <a:spcAft>
              <a:spcPct val="35000"/>
            </a:spcAft>
            <a:buNone/>
          </a:pPr>
          <a:r>
            <a:rPr lang="es-ES" sz="3000" kern="1200" dirty="0"/>
            <a:t>CCT</a:t>
          </a:r>
          <a:endParaRPr lang="es-AR" sz="3000" kern="1200" dirty="0"/>
        </a:p>
      </dsp:txBody>
      <dsp:txXfrm rot="16200000">
        <a:off x="-416059" y="417322"/>
        <a:ext cx="1366066" cy="532710"/>
      </dsp:txXfrm>
    </dsp:sp>
    <dsp:sp modelId="{20691066-E077-4A0B-A813-BA47552DD5EC}">
      <dsp:nvSpPr>
        <dsp:cNvPr id="0" name=""/>
        <dsp:cNvSpPr/>
      </dsp:nvSpPr>
      <dsp:spPr>
        <a:xfrm>
          <a:off x="533329" y="644"/>
          <a:ext cx="1984347" cy="1665935"/>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99441" rIns="0" bIns="0" numCol="1" spcCol="1270" anchor="t" anchorCtr="0">
          <a:noAutofit/>
        </a:bodyPr>
        <a:lstStyle/>
        <a:p>
          <a:pPr marL="0" lvl="0" indent="0" algn="l" defTabSz="1289050">
            <a:lnSpc>
              <a:spcPct val="90000"/>
            </a:lnSpc>
            <a:spcBef>
              <a:spcPct val="0"/>
            </a:spcBef>
            <a:spcAft>
              <a:spcPct val="35000"/>
            </a:spcAft>
            <a:buNone/>
          </a:pPr>
          <a:r>
            <a:rPr lang="es-ES" sz="2900" kern="1200" dirty="0"/>
            <a:t>Comercio</a:t>
          </a:r>
          <a:endParaRPr lang="es-AR" sz="2900" kern="1200" dirty="0"/>
        </a:p>
      </dsp:txBody>
      <dsp:txXfrm>
        <a:off x="533329" y="644"/>
        <a:ext cx="1984347" cy="1665935"/>
      </dsp:txXfrm>
    </dsp:sp>
    <dsp:sp modelId="{D36017A0-9FE1-4800-B109-E44E6F748D0A}">
      <dsp:nvSpPr>
        <dsp:cNvPr id="0" name=""/>
        <dsp:cNvSpPr/>
      </dsp:nvSpPr>
      <dsp:spPr>
        <a:xfrm>
          <a:off x="2757397" y="644"/>
          <a:ext cx="2663553" cy="1665935"/>
        </a:xfrm>
        <a:prstGeom prst="roundRect">
          <a:avLst>
            <a:gd name="adj" fmla="val 5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02870" rIns="133350" bIns="0" numCol="1" spcCol="1270" anchor="t" anchorCtr="0">
          <a:noAutofit/>
        </a:bodyPr>
        <a:lstStyle/>
        <a:p>
          <a:pPr marL="0" lvl="0" indent="0" algn="r" defTabSz="1333500">
            <a:lnSpc>
              <a:spcPct val="90000"/>
            </a:lnSpc>
            <a:spcBef>
              <a:spcPct val="0"/>
            </a:spcBef>
            <a:spcAft>
              <a:spcPct val="35000"/>
            </a:spcAft>
            <a:buNone/>
          </a:pPr>
          <a:r>
            <a:rPr lang="es-ES" sz="3000" kern="1200" dirty="0"/>
            <a:t>CCT</a:t>
          </a:r>
          <a:endParaRPr lang="es-AR" sz="3000" kern="1200" dirty="0"/>
        </a:p>
      </dsp:txBody>
      <dsp:txXfrm rot="16200000">
        <a:off x="2340719" y="417322"/>
        <a:ext cx="1366066" cy="532710"/>
      </dsp:txXfrm>
    </dsp:sp>
    <dsp:sp modelId="{824B31E8-2B31-4F7A-BED4-6752940BB853}">
      <dsp:nvSpPr>
        <dsp:cNvPr id="0" name=""/>
        <dsp:cNvSpPr/>
      </dsp:nvSpPr>
      <dsp:spPr>
        <a:xfrm rot="5400000">
          <a:off x="2552978" y="1276325"/>
          <a:ext cx="435473" cy="399533"/>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BA9685-4633-4545-9870-4B24FCAD7FB7}">
      <dsp:nvSpPr>
        <dsp:cNvPr id="0" name=""/>
        <dsp:cNvSpPr/>
      </dsp:nvSpPr>
      <dsp:spPr>
        <a:xfrm>
          <a:off x="3290107" y="644"/>
          <a:ext cx="1984347" cy="1665935"/>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99441" rIns="0" bIns="0" numCol="1" spcCol="1270" anchor="t" anchorCtr="0">
          <a:noAutofit/>
        </a:bodyPr>
        <a:lstStyle/>
        <a:p>
          <a:pPr marL="0" lvl="0" indent="0" algn="l" defTabSz="1289050">
            <a:lnSpc>
              <a:spcPct val="90000"/>
            </a:lnSpc>
            <a:spcBef>
              <a:spcPct val="0"/>
            </a:spcBef>
            <a:spcAft>
              <a:spcPct val="35000"/>
            </a:spcAft>
            <a:buNone/>
          </a:pPr>
          <a:r>
            <a:rPr lang="es-ES" sz="2900" kern="1200" dirty="0"/>
            <a:t>Sanidad</a:t>
          </a:r>
          <a:endParaRPr lang="es-AR" sz="2900" kern="1200" dirty="0"/>
        </a:p>
      </dsp:txBody>
      <dsp:txXfrm>
        <a:off x="3290107" y="644"/>
        <a:ext cx="1984347" cy="1665935"/>
      </dsp:txXfrm>
    </dsp:sp>
    <dsp:sp modelId="{DE2429CF-7B73-416C-B0E8-C173B240CFDE}">
      <dsp:nvSpPr>
        <dsp:cNvPr id="0" name=""/>
        <dsp:cNvSpPr/>
      </dsp:nvSpPr>
      <dsp:spPr>
        <a:xfrm>
          <a:off x="5514175" y="0"/>
          <a:ext cx="2663553" cy="1665935"/>
        </a:xfrm>
        <a:prstGeom prst="roundRect">
          <a:avLst>
            <a:gd name="adj" fmla="val 5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102870" rIns="133350" bIns="0" numCol="1" spcCol="1270" anchor="t" anchorCtr="0">
          <a:noAutofit/>
        </a:bodyPr>
        <a:lstStyle/>
        <a:p>
          <a:pPr marL="0" lvl="0" indent="0" algn="r" defTabSz="1333500">
            <a:lnSpc>
              <a:spcPct val="90000"/>
            </a:lnSpc>
            <a:spcBef>
              <a:spcPct val="0"/>
            </a:spcBef>
            <a:spcAft>
              <a:spcPct val="35000"/>
            </a:spcAft>
            <a:buNone/>
          </a:pPr>
          <a:r>
            <a:rPr lang="es-ES" sz="3000" kern="1200" dirty="0"/>
            <a:t>CCT</a:t>
          </a:r>
          <a:endParaRPr lang="es-AR" sz="3000" kern="1200" dirty="0"/>
        </a:p>
      </dsp:txBody>
      <dsp:txXfrm rot="16200000">
        <a:off x="5097497" y="416677"/>
        <a:ext cx="1366066" cy="532710"/>
      </dsp:txXfrm>
    </dsp:sp>
    <dsp:sp modelId="{B936DDCD-71AA-4F43-B9EE-054675367D65}">
      <dsp:nvSpPr>
        <dsp:cNvPr id="0" name=""/>
        <dsp:cNvSpPr/>
      </dsp:nvSpPr>
      <dsp:spPr>
        <a:xfrm rot="5400000">
          <a:off x="5309756" y="1276325"/>
          <a:ext cx="435473" cy="399533"/>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57B6B7-9FFC-4EC0-8E0B-25DD5D076AE4}">
      <dsp:nvSpPr>
        <dsp:cNvPr id="0" name=""/>
        <dsp:cNvSpPr/>
      </dsp:nvSpPr>
      <dsp:spPr>
        <a:xfrm>
          <a:off x="6046886" y="0"/>
          <a:ext cx="1984347" cy="1665935"/>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99441" rIns="0" bIns="0" numCol="1" spcCol="1270" anchor="t" anchorCtr="0">
          <a:noAutofit/>
        </a:bodyPr>
        <a:lstStyle/>
        <a:p>
          <a:pPr marL="0" lvl="0" indent="0" algn="l" defTabSz="1289050">
            <a:lnSpc>
              <a:spcPct val="90000"/>
            </a:lnSpc>
            <a:spcBef>
              <a:spcPct val="0"/>
            </a:spcBef>
            <a:spcAft>
              <a:spcPct val="35000"/>
            </a:spcAft>
            <a:buNone/>
          </a:pPr>
          <a:r>
            <a:rPr lang="es-ES" sz="2900" kern="1200" dirty="0"/>
            <a:t>Metalúrgicos</a:t>
          </a:r>
          <a:endParaRPr lang="es-AR" sz="2900" kern="1200" dirty="0"/>
        </a:p>
      </dsp:txBody>
      <dsp:txXfrm>
        <a:off x="6046886" y="0"/>
        <a:ext cx="1984347" cy="16659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8A42F-E189-4CFA-87EC-E966280A475C}">
      <dsp:nvSpPr>
        <dsp:cNvPr id="0" name=""/>
        <dsp:cNvSpPr/>
      </dsp:nvSpPr>
      <dsp:spPr>
        <a:xfrm>
          <a:off x="0" y="339099"/>
          <a:ext cx="4857784"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7E6C8-E88C-4F8E-9180-BAE50BE6FEBE}">
      <dsp:nvSpPr>
        <dsp:cNvPr id="0" name=""/>
        <dsp:cNvSpPr/>
      </dsp:nvSpPr>
      <dsp:spPr>
        <a:xfrm>
          <a:off x="242889" y="43899"/>
          <a:ext cx="3400448"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529" tIns="0" rIns="128529" bIns="0" numCol="1" spcCol="1270" anchor="ctr" anchorCtr="0">
          <a:noAutofit/>
        </a:bodyPr>
        <a:lstStyle/>
        <a:p>
          <a:pPr marL="0" lvl="0" indent="0" algn="l" defTabSz="889000">
            <a:lnSpc>
              <a:spcPct val="90000"/>
            </a:lnSpc>
            <a:spcBef>
              <a:spcPct val="0"/>
            </a:spcBef>
            <a:spcAft>
              <a:spcPct val="35000"/>
            </a:spcAft>
            <a:buNone/>
          </a:pPr>
          <a:r>
            <a:rPr lang="es-ES" sz="2000" kern="1200" dirty="0"/>
            <a:t>Individuales y colectivos</a:t>
          </a:r>
          <a:endParaRPr lang="es-AR" sz="2000" kern="1200" dirty="0"/>
        </a:p>
      </dsp:txBody>
      <dsp:txXfrm>
        <a:off x="271710" y="72720"/>
        <a:ext cx="3342806" cy="532758"/>
      </dsp:txXfrm>
    </dsp:sp>
    <dsp:sp modelId="{E76CF557-9A35-4A06-81B4-0F10F4F81344}">
      <dsp:nvSpPr>
        <dsp:cNvPr id="0" name=""/>
        <dsp:cNvSpPr/>
      </dsp:nvSpPr>
      <dsp:spPr>
        <a:xfrm>
          <a:off x="0" y="1246299"/>
          <a:ext cx="4857784"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935B25-507E-4A9A-853F-611B3DC4FF04}">
      <dsp:nvSpPr>
        <dsp:cNvPr id="0" name=""/>
        <dsp:cNvSpPr/>
      </dsp:nvSpPr>
      <dsp:spPr>
        <a:xfrm>
          <a:off x="242889" y="951099"/>
          <a:ext cx="3400448"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529" tIns="0" rIns="128529" bIns="0" numCol="1" spcCol="1270" anchor="ctr" anchorCtr="0">
          <a:noAutofit/>
        </a:bodyPr>
        <a:lstStyle/>
        <a:p>
          <a:pPr marL="0" lvl="0" indent="0" algn="l" defTabSz="889000">
            <a:lnSpc>
              <a:spcPct val="90000"/>
            </a:lnSpc>
            <a:spcBef>
              <a:spcPct val="0"/>
            </a:spcBef>
            <a:spcAft>
              <a:spcPct val="35000"/>
            </a:spcAft>
            <a:buNone/>
          </a:pPr>
          <a:r>
            <a:rPr lang="es-ES" sz="2000" kern="1200" dirty="0"/>
            <a:t>De derecho y de interés</a:t>
          </a:r>
          <a:endParaRPr lang="es-AR" sz="2000" kern="1200" dirty="0"/>
        </a:p>
      </dsp:txBody>
      <dsp:txXfrm>
        <a:off x="271710" y="979920"/>
        <a:ext cx="3342806" cy="532758"/>
      </dsp:txXfrm>
    </dsp:sp>
    <dsp:sp modelId="{D3C42570-A478-44A9-BBDB-8394965CD925}">
      <dsp:nvSpPr>
        <dsp:cNvPr id="0" name=""/>
        <dsp:cNvSpPr/>
      </dsp:nvSpPr>
      <dsp:spPr>
        <a:xfrm>
          <a:off x="0" y="2153499"/>
          <a:ext cx="4857784"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604782-675D-47A5-AFD1-6D007FC7FF9E}">
      <dsp:nvSpPr>
        <dsp:cNvPr id="0" name=""/>
        <dsp:cNvSpPr/>
      </dsp:nvSpPr>
      <dsp:spPr>
        <a:xfrm>
          <a:off x="242889" y="1858299"/>
          <a:ext cx="3400448"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529" tIns="0" rIns="128529" bIns="0" numCol="1" spcCol="1270" anchor="ctr" anchorCtr="0">
          <a:noAutofit/>
        </a:bodyPr>
        <a:lstStyle/>
        <a:p>
          <a:pPr marL="0" lvl="0" indent="0" algn="l" defTabSz="889000">
            <a:lnSpc>
              <a:spcPct val="90000"/>
            </a:lnSpc>
            <a:spcBef>
              <a:spcPct val="0"/>
            </a:spcBef>
            <a:spcAft>
              <a:spcPct val="35000"/>
            </a:spcAft>
            <a:buNone/>
          </a:pPr>
          <a:r>
            <a:rPr lang="es-ES" sz="2000" kern="1200" dirty="0"/>
            <a:t>Laborales y extra laborales</a:t>
          </a:r>
          <a:endParaRPr lang="es-AR" sz="2000" kern="1200" dirty="0"/>
        </a:p>
      </dsp:txBody>
      <dsp:txXfrm>
        <a:off x="271710" y="1887120"/>
        <a:ext cx="3342806" cy="5327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E3CDB-61EF-413E-83B2-1D6862B63D41}">
      <dsp:nvSpPr>
        <dsp:cNvPr id="0" name=""/>
        <dsp:cNvSpPr/>
      </dsp:nvSpPr>
      <dsp:spPr>
        <a:xfrm rot="16200000">
          <a:off x="-730233" y="731209"/>
          <a:ext cx="4000423" cy="2538003"/>
        </a:xfrm>
        <a:prstGeom prst="flowChartManualOperation">
          <a:avLst/>
        </a:prstGeom>
        <a:solidFill>
          <a:schemeClr val="accent2">
            <a:lumMod val="5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t" anchorCtr="0">
          <a:noAutofit/>
        </a:bodyPr>
        <a:lstStyle/>
        <a:p>
          <a:pPr marL="0" lvl="0" indent="0" algn="l" defTabSz="1600200">
            <a:lnSpc>
              <a:spcPct val="90000"/>
            </a:lnSpc>
            <a:spcBef>
              <a:spcPct val="0"/>
            </a:spcBef>
            <a:spcAft>
              <a:spcPct val="35000"/>
            </a:spcAft>
            <a:buNone/>
          </a:pPr>
          <a:r>
            <a:rPr lang="es-ES" sz="3600" b="1" kern="1200"/>
            <a:t>CONCEPTO</a:t>
          </a:r>
          <a:endParaRPr lang="es-AR" sz="3600" b="1" kern="1200" dirty="0"/>
        </a:p>
        <a:p>
          <a:pPr marL="228600" lvl="1" indent="-228600" algn="l" defTabSz="1066800">
            <a:lnSpc>
              <a:spcPct val="90000"/>
            </a:lnSpc>
            <a:spcBef>
              <a:spcPct val="0"/>
            </a:spcBef>
            <a:spcAft>
              <a:spcPct val="15000"/>
            </a:spcAft>
            <a:buChar char="•"/>
          </a:pPr>
          <a:r>
            <a:rPr lang="es-ES" sz="2400" kern="1200" dirty="0"/>
            <a:t>Proceso de mutua comunicación entre las partes</a:t>
          </a:r>
          <a:endParaRPr lang="es-AR" sz="2400" kern="1200" dirty="0"/>
        </a:p>
      </dsp:txBody>
      <dsp:txXfrm rot="5400000">
        <a:off x="977" y="800084"/>
        <a:ext cx="2538003" cy="2400253"/>
      </dsp:txXfrm>
    </dsp:sp>
    <dsp:sp modelId="{3F8F4B50-F741-4FAC-8E15-858521EC45AB}">
      <dsp:nvSpPr>
        <dsp:cNvPr id="0" name=""/>
        <dsp:cNvSpPr/>
      </dsp:nvSpPr>
      <dsp:spPr>
        <a:xfrm rot="16200000">
          <a:off x="1998119" y="731209"/>
          <a:ext cx="4000423" cy="2538003"/>
        </a:xfrm>
        <a:prstGeom prst="flowChartManualOperation">
          <a:avLst/>
        </a:prstGeom>
        <a:solidFill>
          <a:srgbClr val="67CE66"/>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t" anchorCtr="0">
          <a:noAutofit/>
        </a:bodyPr>
        <a:lstStyle/>
        <a:p>
          <a:pPr marL="0" lvl="0" indent="0" algn="l" defTabSz="1600200">
            <a:lnSpc>
              <a:spcPct val="90000"/>
            </a:lnSpc>
            <a:spcBef>
              <a:spcPct val="0"/>
            </a:spcBef>
            <a:spcAft>
              <a:spcPct val="35000"/>
            </a:spcAft>
            <a:buNone/>
          </a:pPr>
          <a:r>
            <a:rPr lang="es-ES" sz="3600" b="1" kern="1200"/>
            <a:t>MOTIVO</a:t>
          </a:r>
          <a:endParaRPr lang="es-AR" sz="3600" b="1" kern="1200" dirty="0"/>
        </a:p>
        <a:p>
          <a:pPr marL="228600" lvl="1" indent="-228600" algn="l" defTabSz="1066800">
            <a:lnSpc>
              <a:spcPct val="90000"/>
            </a:lnSpc>
            <a:spcBef>
              <a:spcPct val="0"/>
            </a:spcBef>
            <a:spcAft>
              <a:spcPct val="15000"/>
            </a:spcAft>
            <a:buChar char="•"/>
          </a:pPr>
          <a:r>
            <a:rPr lang="es-ES" sz="2400" kern="1200" dirty="0"/>
            <a:t>Intereses compartidos</a:t>
          </a:r>
          <a:endParaRPr lang="es-AR" sz="2400" kern="1200" dirty="0"/>
        </a:p>
        <a:p>
          <a:pPr marL="228600" lvl="1" indent="-228600" algn="l" defTabSz="1066800">
            <a:lnSpc>
              <a:spcPct val="90000"/>
            </a:lnSpc>
            <a:spcBef>
              <a:spcPct val="0"/>
            </a:spcBef>
            <a:spcAft>
              <a:spcPct val="15000"/>
            </a:spcAft>
            <a:buChar char="•"/>
          </a:pPr>
          <a:r>
            <a:rPr lang="es-ES" sz="2400" kern="1200" dirty="0"/>
            <a:t>Intereses opuestos</a:t>
          </a:r>
          <a:endParaRPr lang="es-AR" sz="2400" kern="1200" dirty="0"/>
        </a:p>
      </dsp:txBody>
      <dsp:txXfrm rot="5400000">
        <a:off x="2729329" y="800084"/>
        <a:ext cx="2538003" cy="2400253"/>
      </dsp:txXfrm>
    </dsp:sp>
    <dsp:sp modelId="{1AA5B0E3-FA11-4B3A-A28B-F299E37EB36E}">
      <dsp:nvSpPr>
        <dsp:cNvPr id="0" name=""/>
        <dsp:cNvSpPr/>
      </dsp:nvSpPr>
      <dsp:spPr>
        <a:xfrm rot="16200000">
          <a:off x="4726472" y="731209"/>
          <a:ext cx="4000423" cy="2538003"/>
        </a:xfrm>
        <a:prstGeom prst="flowChartManualOperation">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t" anchorCtr="0">
          <a:noAutofit/>
        </a:bodyPr>
        <a:lstStyle/>
        <a:p>
          <a:pPr marL="0" lvl="0" indent="0" algn="l" defTabSz="1600200">
            <a:lnSpc>
              <a:spcPct val="90000"/>
            </a:lnSpc>
            <a:spcBef>
              <a:spcPct val="0"/>
            </a:spcBef>
            <a:spcAft>
              <a:spcPct val="35000"/>
            </a:spcAft>
            <a:buNone/>
          </a:pPr>
          <a:r>
            <a:rPr lang="es-ES" sz="3600" b="1" kern="1200" dirty="0"/>
            <a:t>FINALIDAD</a:t>
          </a:r>
          <a:endParaRPr lang="es-AR" sz="3600" b="1" kern="1200" dirty="0"/>
        </a:p>
        <a:p>
          <a:pPr marL="228600" lvl="1" indent="-228600" algn="l" defTabSz="1066800">
            <a:lnSpc>
              <a:spcPct val="90000"/>
            </a:lnSpc>
            <a:spcBef>
              <a:spcPct val="0"/>
            </a:spcBef>
            <a:spcAft>
              <a:spcPct val="15000"/>
            </a:spcAft>
            <a:buChar char="•"/>
          </a:pPr>
          <a:r>
            <a:rPr lang="es-ES" sz="2400" kern="1200" dirty="0"/>
            <a:t>Lograr un acuerdo</a:t>
          </a:r>
          <a:endParaRPr lang="es-AR" sz="2400" kern="1200" dirty="0"/>
        </a:p>
      </dsp:txBody>
      <dsp:txXfrm rot="5400000">
        <a:off x="5457682" y="800084"/>
        <a:ext cx="2538003" cy="240025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5BBAED-A5E6-4C5D-B9AC-A8B5632D2619}">
      <dsp:nvSpPr>
        <dsp:cNvPr id="0" name=""/>
        <dsp:cNvSpPr/>
      </dsp:nvSpPr>
      <dsp:spPr>
        <a:xfrm>
          <a:off x="0" y="332503"/>
          <a:ext cx="8496944" cy="777262"/>
        </a:xfrm>
        <a:prstGeom prst="rect">
          <a:avLst/>
        </a:prstGeom>
        <a:solidFill>
          <a:schemeClr val="lt1">
            <a:alpha val="90000"/>
            <a:hueOff val="0"/>
            <a:satOff val="0"/>
            <a:lumOff val="0"/>
            <a:alphaOff val="0"/>
          </a:schemeClr>
        </a:solidFill>
        <a:ln w="25400" cap="flat"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9457" tIns="437388" rIns="659457" bIns="113792" numCol="1" spcCol="1270" anchor="t" anchorCtr="0">
          <a:noAutofit/>
        </a:bodyPr>
        <a:lstStyle/>
        <a:p>
          <a:pPr marL="171450" lvl="1" indent="-171450" algn="l" defTabSz="711200">
            <a:lnSpc>
              <a:spcPct val="90000"/>
            </a:lnSpc>
            <a:spcBef>
              <a:spcPct val="0"/>
            </a:spcBef>
            <a:spcAft>
              <a:spcPct val="15000"/>
            </a:spcAft>
            <a:buNone/>
          </a:pPr>
          <a:r>
            <a:rPr kumimoji="0" lang="es-MX" sz="1600" b="0" i="0" u="none" strike="noStrike" kern="1200" cap="none" spc="0" normalizeH="0" baseline="0" noProof="0" dirty="0">
              <a:ln/>
              <a:uLnTx/>
              <a:uFillTx/>
              <a:latin typeface="+mn-lt"/>
            </a:rPr>
            <a:t>Intervienen solamente las </a:t>
          </a:r>
          <a:r>
            <a:rPr kumimoji="0" lang="es-MX" sz="1600" b="1" i="0" u="none" strike="noStrike" kern="1200" cap="none" spc="0" normalizeH="0" baseline="0" noProof="0" dirty="0">
              <a:ln/>
              <a:uLnTx/>
              <a:uFillTx/>
              <a:latin typeface="+mn-lt"/>
            </a:rPr>
            <a:t>dos partes en conflicto</a:t>
          </a:r>
          <a:r>
            <a:rPr kumimoji="0" lang="es-MX" sz="1600" b="0" i="0" u="none" strike="noStrike" kern="1200" cap="none" spc="0" normalizeH="0" baseline="0" noProof="0" dirty="0">
              <a:ln/>
              <a:uLnTx/>
              <a:uFillTx/>
              <a:latin typeface="+mn-lt"/>
            </a:rPr>
            <a:t>: Empleador / Trabajador.</a:t>
          </a:r>
          <a:endParaRPr lang="es-AR" sz="1600" kern="1200" dirty="0">
            <a:latin typeface="+mn-lt"/>
          </a:endParaRPr>
        </a:p>
      </dsp:txBody>
      <dsp:txXfrm>
        <a:off x="0" y="332503"/>
        <a:ext cx="8496944" cy="777262"/>
      </dsp:txXfrm>
    </dsp:sp>
    <dsp:sp modelId="{D4C1CAFE-FBCC-4F51-83EC-05D2B9A1077A}">
      <dsp:nvSpPr>
        <dsp:cNvPr id="0" name=""/>
        <dsp:cNvSpPr/>
      </dsp:nvSpPr>
      <dsp:spPr>
        <a:xfrm>
          <a:off x="424847" y="3605"/>
          <a:ext cx="5947860" cy="619920"/>
        </a:xfrm>
        <a:prstGeom prst="roundRect">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815" tIns="0" rIns="224815" bIns="0" numCol="1" spcCol="1270" anchor="ctr" anchorCtr="0">
          <a:noAutofit/>
        </a:bodyPr>
        <a:lstStyle/>
        <a:p>
          <a:pPr marL="0" lvl="0" indent="0" algn="l" defTabSz="889000">
            <a:lnSpc>
              <a:spcPct val="90000"/>
            </a:lnSpc>
            <a:spcBef>
              <a:spcPct val="0"/>
            </a:spcBef>
            <a:spcAft>
              <a:spcPct val="35000"/>
            </a:spcAft>
            <a:buNone/>
          </a:pPr>
          <a:r>
            <a:rPr lang="es-ES" sz="2000" b="1" kern="1200" dirty="0"/>
            <a:t>NEGOCIACIÓN</a:t>
          </a:r>
          <a:endParaRPr lang="es-AR" sz="2000" b="1" kern="1200" dirty="0"/>
        </a:p>
      </dsp:txBody>
      <dsp:txXfrm>
        <a:off x="455109" y="33867"/>
        <a:ext cx="5887336" cy="559396"/>
      </dsp:txXfrm>
    </dsp:sp>
    <dsp:sp modelId="{3177A3BE-952B-4A83-8074-79BC05C9C7A3}">
      <dsp:nvSpPr>
        <dsp:cNvPr id="0" name=""/>
        <dsp:cNvSpPr/>
      </dsp:nvSpPr>
      <dsp:spPr>
        <a:xfrm>
          <a:off x="0" y="1514187"/>
          <a:ext cx="8496944" cy="1521449"/>
        </a:xfrm>
        <a:prstGeom prst="rect">
          <a:avLst/>
        </a:prstGeom>
        <a:solidFill>
          <a:schemeClr val="lt1">
            <a:alpha val="90000"/>
            <a:hueOff val="0"/>
            <a:satOff val="0"/>
            <a:lumOff val="0"/>
            <a:alphaOff val="0"/>
          </a:schemeClr>
        </a:solidFill>
        <a:ln w="25400" cap="flat" cmpd="sng" algn="ctr">
          <a:solidFill>
            <a:schemeClr val="accent4">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9457" tIns="437388" rIns="659457" bIns="113792" numCol="1" spcCol="1270" anchor="t" anchorCtr="0">
          <a:noAutofit/>
        </a:bodyPr>
        <a:lstStyle/>
        <a:p>
          <a:pPr marL="0" lvl="1" indent="0" algn="l" defTabSz="711200">
            <a:lnSpc>
              <a:spcPct val="90000"/>
            </a:lnSpc>
            <a:spcBef>
              <a:spcPct val="0"/>
            </a:spcBef>
            <a:spcAft>
              <a:spcPct val="15000"/>
            </a:spcAft>
            <a:buNone/>
          </a:pPr>
          <a:r>
            <a:rPr kumimoji="0" lang="es-MX" sz="1600" b="0" i="0" u="none" strike="noStrike" kern="1200" cap="none" spc="0" normalizeH="0" baseline="0" noProof="0" dirty="0">
              <a:ln/>
              <a:uLnTx/>
              <a:uFillTx/>
              <a:latin typeface="+mn-lt"/>
            </a:rPr>
            <a:t>- Es el </a:t>
          </a:r>
          <a:r>
            <a:rPr kumimoji="0" lang="es-MX" sz="1600" b="1" i="0" u="none" strike="noStrike" kern="1200" cap="none" spc="0" normalizeH="0" baseline="0" noProof="0" dirty="0">
              <a:ln/>
              <a:uLnTx/>
              <a:uFillTx/>
              <a:latin typeface="+mn-lt"/>
            </a:rPr>
            <a:t>MTSS quien propone formulas conciliatorias.</a:t>
          </a:r>
          <a:endParaRPr lang="es-AR" sz="1600" kern="1200" dirty="0">
            <a:latin typeface="+mn-lt"/>
          </a:endParaRPr>
        </a:p>
        <a:p>
          <a:pPr marL="0" lvl="1" indent="0" algn="l" defTabSz="711200">
            <a:lnSpc>
              <a:spcPct val="90000"/>
            </a:lnSpc>
            <a:spcBef>
              <a:spcPct val="0"/>
            </a:spcBef>
            <a:spcAft>
              <a:spcPct val="15000"/>
            </a:spcAft>
            <a:buNone/>
          </a:pPr>
          <a:r>
            <a:rPr lang="es-US" sz="1600" kern="1200" dirty="0">
              <a:latin typeface="+mn-lt"/>
            </a:rPr>
            <a:t>- Instrumento jurídico previsto en la Ley </a:t>
          </a:r>
          <a:r>
            <a:rPr lang="es-US" sz="1600" kern="1200" dirty="0" err="1">
              <a:latin typeface="+mn-lt"/>
            </a:rPr>
            <a:t>Nº</a:t>
          </a:r>
          <a:r>
            <a:rPr lang="es-US" sz="1600" kern="1200" dirty="0">
              <a:latin typeface="+mn-lt"/>
            </a:rPr>
            <a:t> 24.635 para generar una </a:t>
          </a:r>
          <a:br>
            <a:rPr lang="es-US" sz="1600" kern="1200" dirty="0">
              <a:latin typeface="+mn-lt"/>
            </a:rPr>
          </a:br>
          <a:r>
            <a:rPr lang="es-US" sz="1600" kern="1200" dirty="0">
              <a:latin typeface="+mn-lt"/>
            </a:rPr>
            <a:t>instancia de conciliación entre los trabajadores y el empleador en conflicto.</a:t>
          </a:r>
          <a:endParaRPr lang="es-AR" sz="1600" kern="1200" dirty="0">
            <a:latin typeface="+mn-lt"/>
          </a:endParaRPr>
        </a:p>
        <a:p>
          <a:pPr marL="0" lvl="1" indent="0" algn="l" defTabSz="711200">
            <a:lnSpc>
              <a:spcPct val="90000"/>
            </a:lnSpc>
            <a:spcBef>
              <a:spcPct val="0"/>
            </a:spcBef>
            <a:spcAft>
              <a:spcPct val="15000"/>
            </a:spcAft>
            <a:buNone/>
          </a:pPr>
          <a:r>
            <a:rPr lang="es-US" sz="1600" kern="1200" dirty="0">
              <a:latin typeface="+mn-lt"/>
            </a:rPr>
            <a:t>- Mientras negocian, </a:t>
          </a:r>
          <a:r>
            <a:rPr lang="es-US" sz="1600" b="1" kern="1200" dirty="0">
              <a:latin typeface="+mn-lt"/>
            </a:rPr>
            <a:t>los protestantes deben abandonar la huelga.</a:t>
          </a:r>
          <a:endParaRPr lang="es-AR" sz="1600" kern="1200" dirty="0">
            <a:latin typeface="+mn-lt"/>
          </a:endParaRPr>
        </a:p>
      </dsp:txBody>
      <dsp:txXfrm>
        <a:off x="0" y="1514187"/>
        <a:ext cx="8496944" cy="1521449"/>
      </dsp:txXfrm>
    </dsp:sp>
    <dsp:sp modelId="{DF29CB10-D6B1-4928-BA9F-9679E3271C1C}">
      <dsp:nvSpPr>
        <dsp:cNvPr id="0" name=""/>
        <dsp:cNvSpPr/>
      </dsp:nvSpPr>
      <dsp:spPr>
        <a:xfrm>
          <a:off x="424847" y="1204227"/>
          <a:ext cx="5947860" cy="619920"/>
        </a:xfrm>
        <a:prstGeom prst="round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815" tIns="0" rIns="224815" bIns="0" numCol="1" spcCol="1270" anchor="ctr" anchorCtr="0">
          <a:noAutofit/>
        </a:bodyPr>
        <a:lstStyle/>
        <a:p>
          <a:pPr marL="0" lvl="0" indent="0" algn="l" defTabSz="889000">
            <a:lnSpc>
              <a:spcPct val="90000"/>
            </a:lnSpc>
            <a:spcBef>
              <a:spcPct val="0"/>
            </a:spcBef>
            <a:spcAft>
              <a:spcPct val="35000"/>
            </a:spcAft>
            <a:buNone/>
          </a:pPr>
          <a:r>
            <a:rPr lang="es-ES" sz="2000" b="1" kern="1200" dirty="0"/>
            <a:t>MEDICIACIÓN CONCILIACIÓN</a:t>
          </a:r>
          <a:endParaRPr lang="es-AR" sz="2000" b="1" kern="1200" dirty="0"/>
        </a:p>
      </dsp:txBody>
      <dsp:txXfrm>
        <a:off x="455109" y="1234489"/>
        <a:ext cx="5887336" cy="559396"/>
      </dsp:txXfrm>
    </dsp:sp>
    <dsp:sp modelId="{61F673F6-CFFB-452E-A106-7F603FE83A51}">
      <dsp:nvSpPr>
        <dsp:cNvPr id="0" name=""/>
        <dsp:cNvSpPr/>
      </dsp:nvSpPr>
      <dsp:spPr>
        <a:xfrm>
          <a:off x="0" y="3458997"/>
          <a:ext cx="8496944" cy="1289925"/>
        </a:xfrm>
        <a:prstGeom prst="rect">
          <a:avLst/>
        </a:prstGeom>
        <a:solidFill>
          <a:schemeClr val="lt1">
            <a:alpha val="90000"/>
            <a:hueOff val="0"/>
            <a:satOff val="0"/>
            <a:lumOff val="0"/>
            <a:alphaOff val="0"/>
          </a:schemeClr>
        </a:solidFill>
        <a:ln w="25400" cap="flat" cmpd="sng" algn="ctr">
          <a:solidFill>
            <a:schemeClr val="accent4">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9457" tIns="437388" rIns="659457" bIns="113792" numCol="1" spcCol="1270" anchor="t" anchorCtr="0">
          <a:noAutofit/>
        </a:bodyPr>
        <a:lstStyle/>
        <a:p>
          <a:pPr marL="0" lvl="1" indent="0" algn="l" defTabSz="711200">
            <a:lnSpc>
              <a:spcPct val="90000"/>
            </a:lnSpc>
            <a:spcBef>
              <a:spcPct val="0"/>
            </a:spcBef>
            <a:spcAft>
              <a:spcPct val="15000"/>
            </a:spcAft>
            <a:buNone/>
          </a:pPr>
          <a:r>
            <a:rPr lang="es-AR" sz="1600" b="0" i="0" kern="1200" dirty="0"/>
            <a:t>-</a:t>
          </a:r>
          <a:r>
            <a:rPr lang="es-AR" sz="1600" b="1" i="0" kern="1200" dirty="0"/>
            <a:t> Un arbitro designado evalúa las posiciones de las partes y las pruebas ofrecidas.</a:t>
          </a:r>
          <a:r>
            <a:rPr lang="es-AR" sz="1600" b="0" i="0" kern="1200" dirty="0"/>
            <a:t> </a:t>
          </a:r>
          <a:endParaRPr lang="es-AR" sz="1600" kern="1200" dirty="0"/>
        </a:p>
        <a:p>
          <a:pPr marL="0" lvl="1" indent="0" algn="l" defTabSz="711200">
            <a:lnSpc>
              <a:spcPct val="90000"/>
            </a:lnSpc>
            <a:spcBef>
              <a:spcPct val="0"/>
            </a:spcBef>
            <a:spcAft>
              <a:spcPct val="15000"/>
            </a:spcAft>
            <a:buNone/>
          </a:pPr>
          <a:r>
            <a:rPr lang="es-AR" sz="1600" b="0" i="0" kern="1200" dirty="0"/>
            <a:t>- El fallo arbitral da por terminado el conflicto y es recurrible ante la justicia en determinados casos.</a:t>
          </a:r>
          <a:endParaRPr lang="es-AR" sz="1600" kern="1200" dirty="0"/>
        </a:p>
      </dsp:txBody>
      <dsp:txXfrm>
        <a:off x="0" y="3458997"/>
        <a:ext cx="8496944" cy="1289925"/>
      </dsp:txXfrm>
    </dsp:sp>
    <dsp:sp modelId="{5FD8E8C4-48A8-47CE-A49D-DFCA05043D7C}">
      <dsp:nvSpPr>
        <dsp:cNvPr id="0" name=""/>
        <dsp:cNvSpPr/>
      </dsp:nvSpPr>
      <dsp:spPr>
        <a:xfrm>
          <a:off x="424847" y="3149037"/>
          <a:ext cx="5947860" cy="619920"/>
        </a:xfrm>
        <a:prstGeom prst="round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815" tIns="0" rIns="224815" bIns="0" numCol="1" spcCol="1270" anchor="ctr" anchorCtr="0">
          <a:noAutofit/>
        </a:bodyPr>
        <a:lstStyle/>
        <a:p>
          <a:pPr marL="0" lvl="0" indent="0" algn="l" defTabSz="889000">
            <a:lnSpc>
              <a:spcPct val="90000"/>
            </a:lnSpc>
            <a:spcBef>
              <a:spcPct val="0"/>
            </a:spcBef>
            <a:spcAft>
              <a:spcPct val="35000"/>
            </a:spcAft>
            <a:buNone/>
          </a:pPr>
          <a:r>
            <a:rPr lang="es-ES" sz="2000" b="1" kern="1200"/>
            <a:t>ARBITRAJE OBLIGATORIO</a:t>
          </a:r>
          <a:endParaRPr lang="es-AR" sz="2000" b="1" kern="1200" dirty="0"/>
        </a:p>
      </dsp:txBody>
      <dsp:txXfrm>
        <a:off x="455109" y="3179299"/>
        <a:ext cx="5887336" cy="5593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B3487-8715-42DB-BEC1-200140D73D87}">
      <dsp:nvSpPr>
        <dsp:cNvPr id="0" name=""/>
        <dsp:cNvSpPr/>
      </dsp:nvSpPr>
      <dsp:spPr>
        <a:xfrm rot="5400000">
          <a:off x="5992098" y="-2575841"/>
          <a:ext cx="693872" cy="5966150"/>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06680" rIns="213360" bIns="106680" numCol="1" spcCol="1270" anchor="ctr" anchorCtr="0">
          <a:noAutofit/>
        </a:bodyPr>
        <a:lstStyle/>
        <a:p>
          <a:pPr marL="228600" lvl="1" indent="-228600" algn="l" defTabSz="889000">
            <a:lnSpc>
              <a:spcPct val="90000"/>
            </a:lnSpc>
            <a:spcBef>
              <a:spcPct val="0"/>
            </a:spcBef>
            <a:spcAft>
              <a:spcPct val="15000"/>
            </a:spcAft>
            <a:buChar char="•"/>
          </a:pPr>
          <a:r>
            <a:rPr lang="es-ES" sz="2000" kern="1200" dirty="0"/>
            <a:t>Separar las personas del problema</a:t>
          </a:r>
          <a:endParaRPr lang="es-AR" sz="2000" kern="1200" dirty="0"/>
        </a:p>
      </dsp:txBody>
      <dsp:txXfrm rot="-5400000">
        <a:off x="3355959" y="94170"/>
        <a:ext cx="5932278" cy="626128"/>
      </dsp:txXfrm>
    </dsp:sp>
    <dsp:sp modelId="{118F09CE-C8E2-445D-A498-2B764927F18C}">
      <dsp:nvSpPr>
        <dsp:cNvPr id="0" name=""/>
        <dsp:cNvSpPr/>
      </dsp:nvSpPr>
      <dsp:spPr>
        <a:xfrm>
          <a:off x="0" y="1803"/>
          <a:ext cx="3355959" cy="86734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s-ES" sz="4400" kern="1200" dirty="0"/>
            <a:t>PERSONAS</a:t>
          </a:r>
          <a:endParaRPr lang="es-AR" sz="4400" kern="1200" dirty="0"/>
        </a:p>
      </dsp:txBody>
      <dsp:txXfrm>
        <a:off x="42340" y="44143"/>
        <a:ext cx="3271279" cy="782661"/>
      </dsp:txXfrm>
    </dsp:sp>
    <dsp:sp modelId="{1D89C408-CB5B-0D4C-84AA-07034F6EF8B6}">
      <dsp:nvSpPr>
        <dsp:cNvPr id="0" name=""/>
        <dsp:cNvSpPr/>
      </dsp:nvSpPr>
      <dsp:spPr>
        <a:xfrm rot="5400000">
          <a:off x="5992098" y="-1636893"/>
          <a:ext cx="693872" cy="5966150"/>
        </a:xfrm>
        <a:prstGeom prst="round2SameRect">
          <a:avLst/>
        </a:prstGeom>
        <a:solidFill>
          <a:schemeClr val="accent2">
            <a:tint val="40000"/>
            <a:alpha val="90000"/>
            <a:hueOff val="-2859478"/>
            <a:satOff val="7212"/>
            <a:lumOff val="-256"/>
            <a:alphaOff val="0"/>
          </a:schemeClr>
        </a:solidFill>
        <a:ln w="9525" cap="flat" cmpd="sng" algn="ctr">
          <a:solidFill>
            <a:schemeClr val="accent2">
              <a:tint val="40000"/>
              <a:alpha val="90000"/>
              <a:hueOff val="-2859478"/>
              <a:satOff val="7212"/>
              <a:lumOff val="-25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s-AR" sz="2100" kern="1200" dirty="0"/>
            <a:t>Concentrarse en los intereses no en las posiciones</a:t>
          </a:r>
        </a:p>
      </dsp:txBody>
      <dsp:txXfrm rot="-5400000">
        <a:off x="3355959" y="1033118"/>
        <a:ext cx="5932278" cy="626128"/>
      </dsp:txXfrm>
    </dsp:sp>
    <dsp:sp modelId="{D8570598-A1DB-40B4-8B98-565644BC439E}">
      <dsp:nvSpPr>
        <dsp:cNvPr id="0" name=""/>
        <dsp:cNvSpPr/>
      </dsp:nvSpPr>
      <dsp:spPr>
        <a:xfrm>
          <a:off x="0" y="912511"/>
          <a:ext cx="3355959" cy="867341"/>
        </a:xfrm>
        <a:prstGeom prst="roundRect">
          <a:avLst/>
        </a:prstGeom>
        <a:gradFill rotWithShape="0">
          <a:gsLst>
            <a:gs pos="0">
              <a:schemeClr val="accent2">
                <a:hueOff val="-2847830"/>
                <a:satOff val="8321"/>
                <a:lumOff val="-1569"/>
                <a:alphaOff val="0"/>
                <a:shade val="51000"/>
                <a:satMod val="130000"/>
              </a:schemeClr>
            </a:gs>
            <a:gs pos="80000">
              <a:schemeClr val="accent2">
                <a:hueOff val="-2847830"/>
                <a:satOff val="8321"/>
                <a:lumOff val="-1569"/>
                <a:alphaOff val="0"/>
                <a:shade val="93000"/>
                <a:satMod val="130000"/>
              </a:schemeClr>
            </a:gs>
            <a:gs pos="100000">
              <a:schemeClr val="accent2">
                <a:hueOff val="-2847830"/>
                <a:satOff val="8321"/>
                <a:lumOff val="-156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s-ES" sz="4400" kern="1200" dirty="0"/>
            <a:t>INTERESES</a:t>
          </a:r>
          <a:endParaRPr lang="es-AR" sz="4400" kern="1200" dirty="0"/>
        </a:p>
      </dsp:txBody>
      <dsp:txXfrm>
        <a:off x="42340" y="954851"/>
        <a:ext cx="3271279" cy="782661"/>
      </dsp:txXfrm>
    </dsp:sp>
    <dsp:sp modelId="{885781B1-9D48-428F-8327-467C56AACD85}">
      <dsp:nvSpPr>
        <dsp:cNvPr id="0" name=""/>
        <dsp:cNvSpPr/>
      </dsp:nvSpPr>
      <dsp:spPr>
        <a:xfrm rot="5400000">
          <a:off x="5992098" y="-722237"/>
          <a:ext cx="693872" cy="5966150"/>
        </a:xfrm>
        <a:prstGeom prst="round2SameRect">
          <a:avLst/>
        </a:prstGeom>
        <a:solidFill>
          <a:schemeClr val="accent2">
            <a:tint val="40000"/>
            <a:alpha val="90000"/>
            <a:hueOff val="-5718955"/>
            <a:satOff val="14424"/>
            <a:lumOff val="-511"/>
            <a:alphaOff val="0"/>
          </a:schemeClr>
        </a:solidFill>
        <a:ln w="9525" cap="flat" cmpd="sng" algn="ctr">
          <a:solidFill>
            <a:schemeClr val="accent2">
              <a:tint val="40000"/>
              <a:alpha val="90000"/>
              <a:hueOff val="-5718955"/>
              <a:satOff val="14424"/>
              <a:lumOff val="-51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889000">
            <a:lnSpc>
              <a:spcPct val="90000"/>
            </a:lnSpc>
            <a:spcBef>
              <a:spcPct val="0"/>
            </a:spcBef>
            <a:spcAft>
              <a:spcPct val="15000"/>
            </a:spcAft>
            <a:buChar char="•"/>
          </a:pPr>
          <a:r>
            <a:rPr lang="es-ES" sz="2000" kern="1200" dirty="0"/>
            <a:t>Generar varias posibilidades antes de decidir o actuar</a:t>
          </a:r>
          <a:endParaRPr lang="es-AR" sz="2000" kern="1200" dirty="0"/>
        </a:p>
      </dsp:txBody>
      <dsp:txXfrm rot="-5400000">
        <a:off x="3355959" y="1947774"/>
        <a:ext cx="5932278" cy="626128"/>
      </dsp:txXfrm>
    </dsp:sp>
    <dsp:sp modelId="{C12B46EF-32E2-43C5-A456-0163C50FE528}">
      <dsp:nvSpPr>
        <dsp:cNvPr id="0" name=""/>
        <dsp:cNvSpPr/>
      </dsp:nvSpPr>
      <dsp:spPr>
        <a:xfrm>
          <a:off x="0" y="1823219"/>
          <a:ext cx="3355959" cy="867341"/>
        </a:xfrm>
        <a:prstGeom prst="roundRect">
          <a:avLst/>
        </a:prstGeom>
        <a:gradFill rotWithShape="0">
          <a:gsLst>
            <a:gs pos="0">
              <a:schemeClr val="accent2">
                <a:hueOff val="-5695660"/>
                <a:satOff val="16641"/>
                <a:lumOff val="-3137"/>
                <a:alphaOff val="0"/>
                <a:shade val="51000"/>
                <a:satMod val="130000"/>
              </a:schemeClr>
            </a:gs>
            <a:gs pos="80000">
              <a:schemeClr val="accent2">
                <a:hueOff val="-5695660"/>
                <a:satOff val="16641"/>
                <a:lumOff val="-3137"/>
                <a:alphaOff val="0"/>
                <a:shade val="93000"/>
                <a:satMod val="130000"/>
              </a:schemeClr>
            </a:gs>
            <a:gs pos="100000">
              <a:schemeClr val="accent2">
                <a:hueOff val="-5695660"/>
                <a:satOff val="16641"/>
                <a:lumOff val="-3137"/>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s-ES" sz="4400" kern="1200" dirty="0"/>
            <a:t>OPCIONES</a:t>
          </a:r>
          <a:endParaRPr lang="es-AR" sz="4400" kern="1200" dirty="0"/>
        </a:p>
      </dsp:txBody>
      <dsp:txXfrm>
        <a:off x="42340" y="1865559"/>
        <a:ext cx="3271279" cy="782661"/>
      </dsp:txXfrm>
    </dsp:sp>
    <dsp:sp modelId="{629FAAA9-E82B-AB46-A7B1-0E7D2E59CBF2}">
      <dsp:nvSpPr>
        <dsp:cNvPr id="0" name=""/>
        <dsp:cNvSpPr/>
      </dsp:nvSpPr>
      <dsp:spPr>
        <a:xfrm rot="5400000">
          <a:off x="5992098" y="184522"/>
          <a:ext cx="693872" cy="5966150"/>
        </a:xfrm>
        <a:prstGeom prst="round2SameRect">
          <a:avLst/>
        </a:prstGeom>
        <a:solidFill>
          <a:schemeClr val="accent2">
            <a:tint val="40000"/>
            <a:alpha val="90000"/>
            <a:hueOff val="-8578433"/>
            <a:satOff val="21636"/>
            <a:lumOff val="-767"/>
            <a:alphaOff val="0"/>
          </a:schemeClr>
        </a:solidFill>
        <a:ln w="9525" cap="flat" cmpd="sng" algn="ctr">
          <a:solidFill>
            <a:schemeClr val="accent2">
              <a:tint val="40000"/>
              <a:alpha val="90000"/>
              <a:hueOff val="-8578433"/>
              <a:satOff val="21636"/>
              <a:lumOff val="-76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889000">
            <a:lnSpc>
              <a:spcPct val="90000"/>
            </a:lnSpc>
            <a:spcBef>
              <a:spcPct val="0"/>
            </a:spcBef>
            <a:spcAft>
              <a:spcPct val="15000"/>
            </a:spcAft>
            <a:buChar char="•"/>
          </a:pPr>
          <a:r>
            <a:rPr lang="es-AR" sz="2000" kern="1200" dirty="0"/>
            <a:t>Insistir en que el resultados e base en algun criterio objetivo</a:t>
          </a:r>
        </a:p>
      </dsp:txBody>
      <dsp:txXfrm rot="-5400000">
        <a:off x="3355959" y="2854533"/>
        <a:ext cx="5932278" cy="626128"/>
      </dsp:txXfrm>
    </dsp:sp>
    <dsp:sp modelId="{A143F7AF-AE08-F148-BDB7-D246BDC89822}">
      <dsp:nvSpPr>
        <dsp:cNvPr id="0" name=""/>
        <dsp:cNvSpPr/>
      </dsp:nvSpPr>
      <dsp:spPr>
        <a:xfrm>
          <a:off x="0" y="2733927"/>
          <a:ext cx="3355959" cy="867341"/>
        </a:xfrm>
        <a:prstGeom prst="roundRect">
          <a:avLst/>
        </a:prstGeom>
        <a:gradFill rotWithShape="0">
          <a:gsLst>
            <a:gs pos="0">
              <a:schemeClr val="accent2">
                <a:hueOff val="-8543491"/>
                <a:satOff val="24962"/>
                <a:lumOff val="-4706"/>
                <a:alphaOff val="0"/>
                <a:shade val="51000"/>
                <a:satMod val="130000"/>
              </a:schemeClr>
            </a:gs>
            <a:gs pos="80000">
              <a:schemeClr val="accent2">
                <a:hueOff val="-8543491"/>
                <a:satOff val="24962"/>
                <a:lumOff val="-4706"/>
                <a:alphaOff val="0"/>
                <a:shade val="93000"/>
                <a:satMod val="130000"/>
              </a:schemeClr>
            </a:gs>
            <a:gs pos="100000">
              <a:schemeClr val="accent2">
                <a:hueOff val="-8543491"/>
                <a:satOff val="24962"/>
                <a:lumOff val="-470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s-AR" sz="4000" kern="1200" dirty="0"/>
            <a:t>CRITERIOS</a:t>
          </a:r>
        </a:p>
      </dsp:txBody>
      <dsp:txXfrm>
        <a:off x="42340" y="2776267"/>
        <a:ext cx="3271279" cy="78266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7053263" cy="465455"/>
          </a:xfrm>
          <a:prstGeom prst="rect">
            <a:avLst/>
          </a:prstGeom>
        </p:spPr>
        <p:txBody>
          <a:bodyPr vert="horz" lIns="72000" tIns="180000" rIns="288000" bIns="36000" rtlCol="0"/>
          <a:lstStyle>
            <a:lvl1pPr algn="l">
              <a:defRPr sz="1200"/>
            </a:lvl1pPr>
          </a:lstStyle>
          <a:p>
            <a:pPr algn="r"/>
            <a:endParaRPr lang="en-US" sz="1400" b="1" dirty="0"/>
          </a:p>
        </p:txBody>
      </p:sp>
      <p:sp>
        <p:nvSpPr>
          <p:cNvPr id="4" name="Espace réservé du pied de page 3"/>
          <p:cNvSpPr>
            <a:spLocks noGrp="1"/>
          </p:cNvSpPr>
          <p:nvPr>
            <p:ph type="ftr" sz="quarter" idx="2"/>
          </p:nvPr>
        </p:nvSpPr>
        <p:spPr>
          <a:xfrm>
            <a:off x="1" y="8842030"/>
            <a:ext cx="3056413" cy="465455"/>
          </a:xfrm>
          <a:prstGeom prst="rect">
            <a:avLst/>
          </a:prstGeom>
        </p:spPr>
        <p:txBody>
          <a:bodyPr vert="horz" lIns="180000" tIns="36000" rIns="72000" bIns="180000" rtlCol="0" anchor="b"/>
          <a:lstStyle>
            <a:lvl1pPr algn="l">
              <a:defRPr sz="1200"/>
            </a:lvl1pPr>
          </a:lstStyle>
          <a:p>
            <a:r>
              <a:rPr lang="en-US" sz="800"/>
              <a:t>© 2010 Capgemini. All rights reserved.</a:t>
            </a:r>
          </a:p>
        </p:txBody>
      </p:sp>
      <p:sp>
        <p:nvSpPr>
          <p:cNvPr id="5" name="Espace réservé du numéro de diapositive 4"/>
          <p:cNvSpPr>
            <a:spLocks noGrp="1"/>
          </p:cNvSpPr>
          <p:nvPr>
            <p:ph type="sldNum" sz="quarter" idx="3"/>
          </p:nvPr>
        </p:nvSpPr>
        <p:spPr>
          <a:xfrm>
            <a:off x="3995218" y="8842030"/>
            <a:ext cx="3056413" cy="465455"/>
          </a:xfrm>
          <a:prstGeom prst="rect">
            <a:avLst/>
          </a:prstGeom>
        </p:spPr>
        <p:txBody>
          <a:bodyPr vert="horz" lIns="72000" tIns="36000" rIns="180000" bIns="180000" rtlCol="0" anchor="b"/>
          <a:lstStyle>
            <a:lvl1pPr algn="r">
              <a:defRPr sz="1200"/>
            </a:lvl1pPr>
          </a:lstStyle>
          <a:p>
            <a:fld id="{31BBAEFF-FCA4-4EA1-946D-1EE330CB54A8}" type="slidenum">
              <a:rPr lang="en-US" sz="800" b="1" smtClean="0"/>
              <a:pPr/>
              <a:t>‹Nº›</a:t>
            </a:fld>
            <a:endParaRPr lang="en-US" sz="800" b="1"/>
          </a:p>
        </p:txBody>
      </p:sp>
    </p:spTree>
    <p:extLst>
      <p:ext uri="{BB962C8B-B14F-4D97-AF65-F5344CB8AC3E}">
        <p14:creationId xmlns:p14="http://schemas.microsoft.com/office/powerpoint/2010/main" val="186821993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7053263" cy="465455"/>
          </a:xfrm>
          <a:prstGeom prst="rect">
            <a:avLst/>
          </a:prstGeom>
        </p:spPr>
        <p:txBody>
          <a:bodyPr vert="horz" lIns="72000" tIns="180000" rIns="288000" bIns="36000" rtlCol="0"/>
          <a:lstStyle>
            <a:lvl1pPr algn="r">
              <a:defRPr sz="1400" b="1"/>
            </a:lvl1pPr>
          </a:lstStyle>
          <a:p>
            <a:endParaRPr lang="en-US" dirty="0"/>
          </a:p>
        </p:txBody>
      </p:sp>
      <p:sp>
        <p:nvSpPr>
          <p:cNvPr id="4" name="Espace réservé de l'image des diapositives 3"/>
          <p:cNvSpPr>
            <a:spLocks noGrp="1" noRot="1" noChangeAspect="1"/>
          </p:cNvSpPr>
          <p:nvPr>
            <p:ph type="sldImg" idx="2"/>
          </p:nvPr>
        </p:nvSpPr>
        <p:spPr>
          <a:xfrm>
            <a:off x="838200" y="582613"/>
            <a:ext cx="5376863"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220392" y="4421822"/>
            <a:ext cx="6612480" cy="430548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pied de page 5"/>
          <p:cNvSpPr>
            <a:spLocks noGrp="1"/>
          </p:cNvSpPr>
          <p:nvPr>
            <p:ph type="ftr" sz="quarter" idx="4"/>
          </p:nvPr>
        </p:nvSpPr>
        <p:spPr>
          <a:xfrm>
            <a:off x="1" y="8842030"/>
            <a:ext cx="3056413" cy="465455"/>
          </a:xfrm>
          <a:prstGeom prst="rect">
            <a:avLst/>
          </a:prstGeom>
        </p:spPr>
        <p:txBody>
          <a:bodyPr vert="horz" lIns="180000" tIns="36000" rIns="72000" bIns="180000" rtlCol="0" anchor="b"/>
          <a:lstStyle>
            <a:lvl1pPr algn="l">
              <a:defRPr sz="800"/>
            </a:lvl1pPr>
          </a:lstStyle>
          <a:p>
            <a:r>
              <a:rPr lang="en-US"/>
              <a:t>© 2010 Capgemini. All rights reserved.</a:t>
            </a:r>
          </a:p>
        </p:txBody>
      </p:sp>
      <p:sp>
        <p:nvSpPr>
          <p:cNvPr id="7" name="Espace réservé du numéro de diapositive 6"/>
          <p:cNvSpPr>
            <a:spLocks noGrp="1"/>
          </p:cNvSpPr>
          <p:nvPr>
            <p:ph type="sldNum" sz="quarter" idx="5"/>
          </p:nvPr>
        </p:nvSpPr>
        <p:spPr>
          <a:xfrm>
            <a:off x="3995218" y="8842030"/>
            <a:ext cx="3056413" cy="465455"/>
          </a:xfrm>
          <a:prstGeom prst="rect">
            <a:avLst/>
          </a:prstGeom>
        </p:spPr>
        <p:txBody>
          <a:bodyPr vert="horz" lIns="72000" tIns="36000" rIns="180000" bIns="180000" rtlCol="0" anchor="b"/>
          <a:lstStyle>
            <a:lvl1pPr algn="r">
              <a:defRPr sz="800" b="1"/>
            </a:lvl1pPr>
          </a:lstStyle>
          <a:p>
            <a:fld id="{CBC04D6F-FB7D-4867-9F14-E50918222406}" type="slidenum">
              <a:rPr lang="en-US" smtClean="0"/>
              <a:pPr/>
              <a:t>‹Nº›</a:t>
            </a:fld>
            <a:endParaRPr lang="en-US"/>
          </a:p>
        </p:txBody>
      </p:sp>
    </p:spTree>
    <p:extLst>
      <p:ext uri="{BB962C8B-B14F-4D97-AF65-F5344CB8AC3E}">
        <p14:creationId xmlns:p14="http://schemas.microsoft.com/office/powerpoint/2010/main" val="93203834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180975" indent="0" algn="l" defTabSz="914400" rtl="0" eaLnBrk="1" latinLnBrk="0" hangingPunct="1">
      <a:defRPr sz="1200" kern="1200">
        <a:solidFill>
          <a:schemeClr val="tx1"/>
        </a:solidFill>
        <a:latin typeface="+mn-lt"/>
        <a:ea typeface="+mn-ea"/>
        <a:cs typeface="+mn-cs"/>
      </a:defRPr>
    </a:lvl2pPr>
    <a:lvl3pPr marL="360363" indent="0" algn="l" defTabSz="914400" rtl="0" eaLnBrk="1" latinLnBrk="0" hangingPunct="1">
      <a:defRPr sz="1200" kern="1200">
        <a:solidFill>
          <a:schemeClr val="tx1"/>
        </a:solidFill>
        <a:latin typeface="+mn-lt"/>
        <a:ea typeface="+mn-ea"/>
        <a:cs typeface="+mn-cs"/>
      </a:defRPr>
    </a:lvl3pPr>
    <a:lvl4pPr marL="541338" indent="0" algn="l" defTabSz="914400" rtl="0" eaLnBrk="1" latinLnBrk="0" hangingPunct="1">
      <a:defRPr sz="1200" kern="1200">
        <a:solidFill>
          <a:schemeClr val="tx1"/>
        </a:solidFill>
        <a:latin typeface="+mn-lt"/>
        <a:ea typeface="+mn-ea"/>
        <a:cs typeface="+mn-cs"/>
      </a:defRPr>
    </a:lvl4pPr>
    <a:lvl5pPr marL="722313"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6aq5xzbC2jk"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10" name="Google Shape;110;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628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endParaRPr lang="es-AR" dirty="0"/>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4</a:t>
            </a:fld>
            <a:endParaRPr lang="en-US"/>
          </a:p>
        </p:txBody>
      </p:sp>
    </p:spTree>
    <p:extLst>
      <p:ext uri="{BB962C8B-B14F-4D97-AF65-F5344CB8AC3E}">
        <p14:creationId xmlns:p14="http://schemas.microsoft.com/office/powerpoint/2010/main" val="104451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6</a:t>
            </a:fld>
            <a:endParaRPr lang="en-US"/>
          </a:p>
        </p:txBody>
      </p:sp>
    </p:spTree>
    <p:extLst>
      <p:ext uri="{BB962C8B-B14F-4D97-AF65-F5344CB8AC3E}">
        <p14:creationId xmlns:p14="http://schemas.microsoft.com/office/powerpoint/2010/main" val="3769335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r>
              <a:rPr lang="es-AR" b="0" i="0" dirty="0">
                <a:solidFill>
                  <a:srgbClr val="333333"/>
                </a:solidFill>
                <a:effectLst/>
                <a:latin typeface="Arial" panose="020B0604020202020204" pitchFamily="34" charset="0"/>
              </a:rPr>
              <a:t>Esta ley dispone que todos trabajadores tienen derecho a constituir libremente y sin necesidad de autorización previa asociaciones sindicales, a afiliarse, no afiliarse o desafiliarse, a reunirse y desarrollar actividades sindicales, elegir libremente a sus representantes, ser elegidos y postular candidatos. Sus diversos títulos tratan de las materias siguientes: de la tutela de la libertad sindical, de la afiliación y desafiliación, de los estatutos, de la dirección y administración, de las asambleas o congresos, de la inscripción de las asociaciones, de los derechos y obligaciones de las asociaciones sindicales, de las federaciones y confederaciones, del patrimonio de las asociaciones sindicales, de la representación sindical en la empresa, de la tutela sindical, de las prácticas desleales. Deroga la ley de facto 22105, de 15 nov. 1979 de asociaciones gremiales de trabajadores.</a:t>
            </a:r>
            <a:endParaRPr lang="es-AR" dirty="0"/>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11</a:t>
            </a:fld>
            <a:endParaRPr lang="en-US"/>
          </a:p>
        </p:txBody>
      </p:sp>
    </p:spTree>
    <p:extLst>
      <p:ext uri="{BB962C8B-B14F-4D97-AF65-F5344CB8AC3E}">
        <p14:creationId xmlns:p14="http://schemas.microsoft.com/office/powerpoint/2010/main" val="732224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r>
              <a:rPr lang="es-AR" b="0" i="0" dirty="0">
                <a:solidFill>
                  <a:srgbClr val="333333"/>
                </a:solidFill>
                <a:effectLst/>
                <a:latin typeface="Arial" panose="020B0604020202020204" pitchFamily="34" charset="0"/>
              </a:rPr>
              <a:t>Esta ley dispone que todos trabajadores tienen derecho a constituir libremente y sin necesidad de autorización previa asociaciones sindicales, a afiliarse, no afiliarse o desafiliarse, a reunirse y desarrollar actividades sindicales, elegir libremente a sus representantes, ser elegidos y postular candidatos. Sus diversos títulos tratan de las materias siguientes: de la tutela de la libertad sindical, de la afiliación y desafiliación, de los estatutos, de la dirección y administración, de las asambleas o congresos, de la inscripción de las asociaciones, de los derechos y obligaciones de las asociaciones sindicales, de las federaciones y confederaciones, del patrimonio de las asociaciones sindicales, de la representación sindical en la empresa, de la tutela sindical, de las prácticas desleales. Deroga la ley de facto 22105, de 15 nov. 1979 de asociaciones gremiales de trabajadores.</a:t>
            </a:r>
            <a:endParaRPr lang="es-AR" dirty="0"/>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12</a:t>
            </a:fld>
            <a:endParaRPr lang="en-US"/>
          </a:p>
        </p:txBody>
      </p:sp>
    </p:spTree>
    <p:extLst>
      <p:ext uri="{BB962C8B-B14F-4D97-AF65-F5344CB8AC3E}">
        <p14:creationId xmlns:p14="http://schemas.microsoft.com/office/powerpoint/2010/main" val="3965088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AR"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13</a:t>
            </a:fld>
            <a:endParaRPr lang="en-US"/>
          </a:p>
        </p:txBody>
      </p:sp>
    </p:spTree>
    <p:extLst>
      <p:ext uri="{BB962C8B-B14F-4D97-AF65-F5344CB8AC3E}">
        <p14:creationId xmlns:p14="http://schemas.microsoft.com/office/powerpoint/2010/main" val="289459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14</a:t>
            </a:fld>
            <a:endParaRPr lang="en-US"/>
          </a:p>
        </p:txBody>
      </p:sp>
    </p:spTree>
    <p:extLst>
      <p:ext uri="{BB962C8B-B14F-4D97-AF65-F5344CB8AC3E}">
        <p14:creationId xmlns:p14="http://schemas.microsoft.com/office/powerpoint/2010/main" val="3153595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18</a:t>
            </a:fld>
            <a:endParaRPr lang="en-US"/>
          </a:p>
        </p:txBody>
      </p:sp>
    </p:spTree>
    <p:extLst>
      <p:ext uri="{BB962C8B-B14F-4D97-AF65-F5344CB8AC3E}">
        <p14:creationId xmlns:p14="http://schemas.microsoft.com/office/powerpoint/2010/main" val="1303088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pPr marL="342900" indent="-342900" algn="just" eaLnBrk="0" hangingPunct="0">
              <a:spcBef>
                <a:spcPct val="20000"/>
              </a:spcBef>
              <a:buFont typeface="Arial" charset="0"/>
              <a:buNone/>
              <a:defRPr/>
            </a:pPr>
            <a:r>
              <a:rPr lang="es-ES" sz="1400" b="1" i="1" u="sng" dirty="0">
                <a:solidFill>
                  <a:srgbClr val="C00000"/>
                </a:solidFill>
                <a:latin typeface="Bookman Old Style" pitchFamily="18" charset="0"/>
                <a:cs typeface="+mn-cs"/>
              </a:rPr>
              <a:t>ALCANCE PERSONAL DEL CCT:</a:t>
            </a:r>
          </a:p>
          <a:p>
            <a:pPr marL="342900" indent="-342900" algn="just" eaLnBrk="0" hangingPunct="0">
              <a:spcBef>
                <a:spcPct val="20000"/>
              </a:spcBef>
              <a:buFont typeface="Wingdings 3" pitchFamily="18" charset="2"/>
              <a:buNone/>
              <a:defRPr/>
            </a:pPr>
            <a:endParaRPr lang="es-ES" sz="1200" dirty="0">
              <a:latin typeface="Bookman Old Style" pitchFamily="18" charset="0"/>
              <a:cs typeface="+mn-cs"/>
            </a:endParaRPr>
          </a:p>
          <a:p>
            <a:pPr marL="457200" indent="-457200" algn="just" eaLnBrk="0" hangingPunct="0">
              <a:spcBef>
                <a:spcPct val="20000"/>
              </a:spcBef>
              <a:buFont typeface="+mj-lt"/>
              <a:buAutoNum type="arabicPeriod"/>
              <a:defRPr/>
            </a:pPr>
            <a:r>
              <a:rPr lang="es-ES" sz="1200" dirty="0">
                <a:latin typeface="Bookman Old Style" pitchFamily="18" charset="0"/>
                <a:cs typeface="+mn-cs"/>
              </a:rPr>
              <a:t>Categorías laborales.</a:t>
            </a:r>
          </a:p>
          <a:p>
            <a:pPr marL="457200" indent="-457200" algn="just" eaLnBrk="0" hangingPunct="0">
              <a:spcBef>
                <a:spcPct val="20000"/>
              </a:spcBef>
              <a:buFont typeface="+mj-lt"/>
              <a:buAutoNum type="arabicPeriod"/>
              <a:defRPr/>
            </a:pPr>
            <a:r>
              <a:rPr lang="es-ES" sz="1200" dirty="0">
                <a:latin typeface="Bookman Old Style" pitchFamily="18" charset="0"/>
                <a:cs typeface="+mn-cs"/>
              </a:rPr>
              <a:t>Personal excluido.</a:t>
            </a:r>
          </a:p>
          <a:p>
            <a:pPr marL="457200" indent="-457200" algn="just" eaLnBrk="0" hangingPunct="0">
              <a:spcBef>
                <a:spcPct val="20000"/>
              </a:spcBef>
              <a:buFont typeface="+mj-lt"/>
              <a:buAutoNum type="arabicPeriod"/>
              <a:defRPr/>
            </a:pPr>
            <a:r>
              <a:rPr lang="es-ES" sz="1200" dirty="0">
                <a:latin typeface="Bookman Old Style" pitchFamily="18" charset="0"/>
                <a:cs typeface="+mn-cs"/>
              </a:rPr>
              <a:t>Personal no mencionado.</a:t>
            </a:r>
          </a:p>
          <a:p>
            <a:pPr marL="457200" indent="-457200" algn="just" eaLnBrk="0" hangingPunct="0">
              <a:spcBef>
                <a:spcPct val="20000"/>
              </a:spcBef>
              <a:buFont typeface="+mj-lt"/>
              <a:buAutoNum type="arabicPeriod"/>
              <a:defRPr/>
            </a:pPr>
            <a:r>
              <a:rPr lang="es-ES" sz="1200" dirty="0">
                <a:latin typeface="Bookman Old Style" pitchFamily="18" charset="0"/>
                <a:cs typeface="+mn-cs"/>
              </a:rPr>
              <a:t>Caso de Polifuncionalidad.</a:t>
            </a:r>
          </a:p>
          <a:p>
            <a:pPr marL="457200" indent="-457200" algn="just" eaLnBrk="0" hangingPunct="0">
              <a:spcBef>
                <a:spcPct val="20000"/>
              </a:spcBef>
              <a:buFont typeface="+mj-lt"/>
              <a:buAutoNum type="arabicPeriod"/>
              <a:defRPr/>
            </a:pPr>
            <a:r>
              <a:rPr lang="es-ES" sz="1200" dirty="0">
                <a:latin typeface="Bookman Old Style" pitchFamily="18" charset="0"/>
                <a:cs typeface="+mn-cs"/>
              </a:rPr>
              <a:t>Personal con funciones jerárquicas. CCT para personal jerárquico</a:t>
            </a:r>
            <a:endParaRPr lang="en-US" dirty="0"/>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19</a:t>
            </a:fld>
            <a:endParaRPr lang="en-US"/>
          </a:p>
        </p:txBody>
      </p:sp>
    </p:spTree>
    <p:extLst>
      <p:ext uri="{BB962C8B-B14F-4D97-AF65-F5344CB8AC3E}">
        <p14:creationId xmlns:p14="http://schemas.microsoft.com/office/powerpoint/2010/main" val="2461837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22</a:t>
            </a:fld>
            <a:endParaRPr lang="en-US"/>
          </a:p>
        </p:txBody>
      </p:sp>
    </p:spTree>
    <p:extLst>
      <p:ext uri="{BB962C8B-B14F-4D97-AF65-F5344CB8AC3E}">
        <p14:creationId xmlns:p14="http://schemas.microsoft.com/office/powerpoint/2010/main" val="2491345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23</a:t>
            </a:fld>
            <a:endParaRPr lang="en-US"/>
          </a:p>
        </p:txBody>
      </p:sp>
    </p:spTree>
    <p:extLst>
      <p:ext uri="{BB962C8B-B14F-4D97-AF65-F5344CB8AC3E}">
        <p14:creationId xmlns:p14="http://schemas.microsoft.com/office/powerpoint/2010/main" val="2806835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pPr marL="342900" indent="-342900" algn="just">
              <a:lnSpc>
                <a:spcPct val="80000"/>
              </a:lnSpc>
              <a:spcBef>
                <a:spcPct val="20000"/>
              </a:spcBef>
              <a:buFont typeface="Wingdings" pitchFamily="2" charset="2"/>
              <a:buNone/>
              <a:defRPr/>
            </a:pPr>
            <a:r>
              <a:rPr lang="en-US" dirty="0">
                <a:hlinkClick r:id="rId3"/>
              </a:rPr>
              <a:t>https://www.youtube.com/watch?v=6aq5xzbC2jk</a:t>
            </a:r>
            <a:endParaRPr lang="es-ES_tradnl" sz="1200" b="1" i="1" u="sng" dirty="0">
              <a:latin typeface="Bookman Old Style" pitchFamily="18" charset="0"/>
              <a:cs typeface="+mn-cs"/>
            </a:endParaRPr>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28</a:t>
            </a:fld>
            <a:endParaRPr lang="en-US"/>
          </a:p>
        </p:txBody>
      </p:sp>
    </p:spTree>
    <p:extLst>
      <p:ext uri="{BB962C8B-B14F-4D97-AF65-F5344CB8AC3E}">
        <p14:creationId xmlns:p14="http://schemas.microsoft.com/office/powerpoint/2010/main" val="2609571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29</a:t>
            </a:fld>
            <a:endParaRPr lang="en-US"/>
          </a:p>
        </p:txBody>
      </p:sp>
    </p:spTree>
    <p:extLst>
      <p:ext uri="{BB962C8B-B14F-4D97-AF65-F5344CB8AC3E}">
        <p14:creationId xmlns:p14="http://schemas.microsoft.com/office/powerpoint/2010/main" val="1608761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30</a:t>
            </a:fld>
            <a:endParaRPr lang="en-US"/>
          </a:p>
        </p:txBody>
      </p:sp>
    </p:spTree>
    <p:extLst>
      <p:ext uri="{BB962C8B-B14F-4D97-AF65-F5344CB8AC3E}">
        <p14:creationId xmlns:p14="http://schemas.microsoft.com/office/powerpoint/2010/main" val="2501696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endParaRPr lang="es-AR" dirty="0"/>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33</a:t>
            </a:fld>
            <a:endParaRPr lang="en-US"/>
          </a:p>
        </p:txBody>
      </p:sp>
    </p:spTree>
    <p:extLst>
      <p:ext uri="{BB962C8B-B14F-4D97-AF65-F5344CB8AC3E}">
        <p14:creationId xmlns:p14="http://schemas.microsoft.com/office/powerpoint/2010/main" val="3549358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normAutofit fontScale="32500" lnSpcReduction="20000"/>
          </a:bodyPr>
          <a:lstStyle/>
          <a:p>
            <a:r>
              <a:rPr lang="en-US" sz="4400" dirty="0"/>
              <a:t>Con </a:t>
            </a:r>
            <a:r>
              <a:rPr lang="en-US" sz="4400" dirty="0" err="1"/>
              <a:t>respecto</a:t>
            </a:r>
            <a:r>
              <a:rPr lang="en-US" sz="4400" dirty="0"/>
              <a:t> a la </a:t>
            </a:r>
            <a:r>
              <a:rPr lang="en-US" sz="4400" dirty="0" err="1"/>
              <a:t>diferencia</a:t>
            </a:r>
            <a:r>
              <a:rPr lang="en-US" sz="4400" dirty="0"/>
              <a:t> entre </a:t>
            </a:r>
            <a:r>
              <a:rPr lang="en-US" sz="4400" dirty="0" err="1"/>
              <a:t>encuadramiento</a:t>
            </a:r>
            <a:r>
              <a:rPr lang="en-US" sz="4400" dirty="0"/>
              <a:t> </a:t>
            </a:r>
            <a:r>
              <a:rPr lang="en-US" sz="4400" dirty="0" err="1"/>
              <a:t>sindical</a:t>
            </a:r>
            <a:r>
              <a:rPr lang="en-US" sz="4400" dirty="0"/>
              <a:t> y </a:t>
            </a:r>
            <a:r>
              <a:rPr lang="en-US" sz="4400" dirty="0" err="1"/>
              <a:t>convenicional</a:t>
            </a:r>
            <a:r>
              <a:rPr lang="en-US" sz="4400" dirty="0"/>
              <a:t> </a:t>
            </a:r>
            <a:r>
              <a:rPr lang="en-US" sz="4400" dirty="0" err="1"/>
              <a:t>puede</a:t>
            </a:r>
            <a:r>
              <a:rPr lang="en-US" sz="4400" dirty="0"/>
              <a:t> ser </a:t>
            </a:r>
            <a:r>
              <a:rPr lang="en-US" sz="4400" dirty="0" err="1"/>
              <a:t>confusa</a:t>
            </a:r>
            <a:r>
              <a:rPr lang="en-US" sz="4400" dirty="0"/>
              <a:t> </a:t>
            </a:r>
            <a:r>
              <a:rPr lang="en-US" sz="4400" dirty="0" err="1"/>
              <a:t>porque</a:t>
            </a:r>
            <a:r>
              <a:rPr lang="en-US" sz="4400" dirty="0"/>
              <a:t> </a:t>
            </a:r>
            <a:r>
              <a:rPr lang="en-US" sz="4400" dirty="0" err="1"/>
              <a:t>si</a:t>
            </a:r>
            <a:r>
              <a:rPr lang="en-US" sz="4400" dirty="0"/>
              <a:t> bien son </a:t>
            </a:r>
            <a:r>
              <a:rPr lang="en-US" sz="4400" dirty="0" err="1"/>
              <a:t>conflictos</a:t>
            </a:r>
            <a:r>
              <a:rPr lang="en-US" sz="4400" dirty="0"/>
              <a:t> de </a:t>
            </a:r>
            <a:r>
              <a:rPr lang="en-US" sz="4400" dirty="0" err="1"/>
              <a:t>naturaleza</a:t>
            </a:r>
            <a:r>
              <a:rPr lang="en-US" sz="4400" dirty="0"/>
              <a:t> y </a:t>
            </a:r>
            <a:r>
              <a:rPr lang="en-US" sz="4400" dirty="0" err="1"/>
              <a:t>resolución</a:t>
            </a:r>
            <a:r>
              <a:rPr lang="en-US" sz="4400" dirty="0"/>
              <a:t> </a:t>
            </a:r>
            <a:r>
              <a:rPr lang="en-US" sz="4400" dirty="0" err="1"/>
              <a:t>diferente</a:t>
            </a:r>
            <a:r>
              <a:rPr lang="en-US" sz="4400" dirty="0"/>
              <a:t> </a:t>
            </a:r>
            <a:r>
              <a:rPr lang="en-US" sz="4400" dirty="0" err="1"/>
              <a:t>tienen</a:t>
            </a:r>
            <a:r>
              <a:rPr lang="en-US" sz="4400" dirty="0"/>
              <a:t> puntos de </a:t>
            </a:r>
            <a:r>
              <a:rPr lang="en-US" sz="4400" dirty="0" err="1"/>
              <a:t>contacto</a:t>
            </a:r>
            <a:r>
              <a:rPr lang="en-US" sz="4400" dirty="0"/>
              <a:t> y </a:t>
            </a:r>
            <a:r>
              <a:rPr lang="en-US" sz="4400" dirty="0" err="1"/>
              <a:t>están</a:t>
            </a:r>
            <a:r>
              <a:rPr lang="en-US" sz="4400" dirty="0"/>
              <a:t> </a:t>
            </a:r>
            <a:r>
              <a:rPr lang="en-US" sz="4400" dirty="0" err="1"/>
              <a:t>relacionados</a:t>
            </a:r>
            <a:r>
              <a:rPr lang="en-US" sz="4400" dirty="0"/>
              <a:t>:</a:t>
            </a:r>
          </a:p>
          <a:p>
            <a:endParaRPr lang="en-US" sz="4400" dirty="0"/>
          </a:p>
          <a:p>
            <a:r>
              <a:rPr lang="en-US" sz="4400" dirty="0"/>
              <a:t> El </a:t>
            </a:r>
            <a:r>
              <a:rPr lang="en-US" sz="4400" dirty="0" err="1"/>
              <a:t>conflicto</a:t>
            </a:r>
            <a:r>
              <a:rPr lang="en-US" sz="4400" dirty="0"/>
              <a:t> </a:t>
            </a:r>
            <a:r>
              <a:rPr lang="en-US" sz="4400" b="1" dirty="0" err="1"/>
              <a:t>intersindical</a:t>
            </a:r>
            <a:r>
              <a:rPr lang="en-US" sz="4400" b="1" dirty="0"/>
              <a:t> de </a:t>
            </a:r>
            <a:r>
              <a:rPr lang="en-US" sz="4400" b="1" dirty="0" err="1"/>
              <a:t>encuadramiento</a:t>
            </a:r>
            <a:r>
              <a:rPr lang="en-US" sz="4400" b="1" dirty="0"/>
              <a:t> </a:t>
            </a:r>
            <a:r>
              <a:rPr lang="en-US" sz="4400" dirty="0"/>
              <a:t>es </a:t>
            </a:r>
            <a:r>
              <a:rPr lang="en-US" sz="4400" dirty="0" err="1"/>
              <a:t>cuando</a:t>
            </a:r>
            <a:r>
              <a:rPr lang="en-US" sz="4400" dirty="0"/>
              <a:t> dos </a:t>
            </a:r>
            <a:r>
              <a:rPr lang="en-US" sz="4400" dirty="0" err="1"/>
              <a:t>sindicatos</a:t>
            </a:r>
            <a:r>
              <a:rPr lang="en-US" sz="4400" dirty="0"/>
              <a:t> con </a:t>
            </a:r>
            <a:r>
              <a:rPr lang="en-US" sz="4400" dirty="0" err="1"/>
              <a:t>personería</a:t>
            </a:r>
            <a:r>
              <a:rPr lang="en-US" sz="4400" dirty="0"/>
              <a:t> gremial </a:t>
            </a:r>
            <a:r>
              <a:rPr lang="en-US" sz="4400" dirty="0" err="1"/>
              <a:t>preexistentes</a:t>
            </a:r>
            <a:r>
              <a:rPr lang="en-US" sz="4400" dirty="0"/>
              <a:t> se </a:t>
            </a:r>
            <a:r>
              <a:rPr lang="en-US" sz="4400" dirty="0" err="1"/>
              <a:t>disputan</a:t>
            </a:r>
            <a:r>
              <a:rPr lang="en-US" sz="4400" dirty="0"/>
              <a:t> entre </a:t>
            </a:r>
            <a:r>
              <a:rPr lang="en-US" sz="4400" dirty="0" err="1"/>
              <a:t>sí</a:t>
            </a:r>
            <a:r>
              <a:rPr lang="en-US" sz="4400" dirty="0"/>
              <a:t> la </a:t>
            </a:r>
            <a:r>
              <a:rPr lang="en-US" sz="4400" dirty="0" err="1"/>
              <a:t>representación</a:t>
            </a:r>
            <a:r>
              <a:rPr lang="en-US" sz="4400" dirty="0"/>
              <a:t> del </a:t>
            </a:r>
            <a:r>
              <a:rPr lang="en-US" sz="4400" dirty="0" err="1"/>
              <a:t>mismo</a:t>
            </a:r>
            <a:r>
              <a:rPr lang="en-US" sz="4400" dirty="0"/>
              <a:t> </a:t>
            </a:r>
            <a:r>
              <a:rPr lang="en-US" sz="4400" dirty="0" err="1"/>
              <a:t>grupo</a:t>
            </a:r>
            <a:r>
              <a:rPr lang="en-US" sz="4400" dirty="0"/>
              <a:t> de </a:t>
            </a:r>
            <a:r>
              <a:rPr lang="en-US" sz="4400" dirty="0" err="1"/>
              <a:t>trabajadores</a:t>
            </a:r>
            <a:r>
              <a:rPr lang="en-US" sz="4400" dirty="0"/>
              <a:t>. Los </a:t>
            </a:r>
            <a:r>
              <a:rPr lang="en-US" sz="4400" dirty="0" err="1"/>
              <a:t>actores</a:t>
            </a:r>
            <a:r>
              <a:rPr lang="en-US" sz="4400" dirty="0"/>
              <a:t> del </a:t>
            </a:r>
            <a:r>
              <a:rPr lang="en-US" sz="4400" dirty="0" err="1"/>
              <a:t>conflicto</a:t>
            </a:r>
            <a:r>
              <a:rPr lang="en-US" sz="4400" dirty="0"/>
              <a:t> son dos </a:t>
            </a:r>
            <a:r>
              <a:rPr lang="en-US" sz="4400" dirty="0" err="1"/>
              <a:t>sindicatos</a:t>
            </a:r>
            <a:r>
              <a:rPr lang="en-US" sz="4400" dirty="0"/>
              <a:t> y </a:t>
            </a:r>
            <a:r>
              <a:rPr lang="en-US" sz="4400" dirty="0" err="1"/>
              <a:t>empleados</a:t>
            </a:r>
            <a:r>
              <a:rPr lang="en-US" sz="4400" dirty="0"/>
              <a:t> y </a:t>
            </a:r>
            <a:r>
              <a:rPr lang="en-US" sz="4400" dirty="0" err="1"/>
              <a:t>empleadores</a:t>
            </a:r>
            <a:r>
              <a:rPr lang="en-US" sz="4400" dirty="0"/>
              <a:t> no </a:t>
            </a:r>
            <a:r>
              <a:rPr lang="en-US" sz="4400" dirty="0" err="1"/>
              <a:t>tienen</a:t>
            </a:r>
            <a:r>
              <a:rPr lang="en-US" sz="4400" dirty="0"/>
              <a:t> </a:t>
            </a:r>
            <a:r>
              <a:rPr lang="en-US" sz="4400" dirty="0" err="1"/>
              <a:t>injerencia</a:t>
            </a:r>
            <a:r>
              <a:rPr lang="en-US" sz="4400" dirty="0"/>
              <a:t>. Por </a:t>
            </a:r>
            <a:r>
              <a:rPr lang="en-US" sz="4400" dirty="0" err="1"/>
              <a:t>ejemplo</a:t>
            </a:r>
            <a:r>
              <a:rPr lang="en-US" sz="4400" dirty="0"/>
              <a:t>, </a:t>
            </a:r>
            <a:r>
              <a:rPr lang="en-US" sz="4400" dirty="0" err="1"/>
              <a:t>comercio</a:t>
            </a:r>
            <a:r>
              <a:rPr lang="en-US" sz="4400" dirty="0"/>
              <a:t> </a:t>
            </a:r>
            <a:r>
              <a:rPr lang="en-US" sz="4400" dirty="0" err="1"/>
              <a:t>en</a:t>
            </a:r>
            <a:r>
              <a:rPr lang="en-US" sz="4400" dirty="0"/>
              <a:t> </a:t>
            </a:r>
            <a:r>
              <a:rPr lang="en-US" sz="4400" dirty="0" err="1"/>
              <a:t>disputa</a:t>
            </a:r>
            <a:r>
              <a:rPr lang="en-US" sz="4400" dirty="0"/>
              <a:t> con </a:t>
            </a:r>
            <a:r>
              <a:rPr lang="en-US" sz="4400" dirty="0" err="1"/>
              <a:t>camioneros</a:t>
            </a:r>
            <a:r>
              <a:rPr lang="en-US" sz="4400" dirty="0"/>
              <a:t> por </a:t>
            </a:r>
            <a:r>
              <a:rPr lang="en-US" sz="4400" dirty="0" err="1"/>
              <a:t>trabajadores</a:t>
            </a:r>
            <a:r>
              <a:rPr lang="en-US" sz="4400" dirty="0"/>
              <a:t> de una </a:t>
            </a:r>
            <a:r>
              <a:rPr lang="en-US" sz="4400" dirty="0" err="1"/>
              <a:t>distribuidora</a:t>
            </a:r>
            <a:r>
              <a:rPr lang="en-US" sz="4400" dirty="0"/>
              <a:t> </a:t>
            </a:r>
            <a:r>
              <a:rPr lang="en-US" sz="4400" dirty="0" err="1"/>
              <a:t>comercial</a:t>
            </a:r>
            <a:r>
              <a:rPr lang="en-US" sz="4400" dirty="0"/>
              <a:t>.  Lo </a:t>
            </a:r>
            <a:r>
              <a:rPr lang="en-US" sz="4400" dirty="0" err="1"/>
              <a:t>resuelve</a:t>
            </a:r>
            <a:r>
              <a:rPr lang="en-US" sz="4400" dirty="0"/>
              <a:t> el </a:t>
            </a:r>
            <a:r>
              <a:rPr lang="en-US" sz="4400" dirty="0" err="1"/>
              <a:t>Ministerio</a:t>
            </a:r>
            <a:r>
              <a:rPr lang="en-US" sz="4400" dirty="0"/>
              <a:t> de </a:t>
            </a:r>
            <a:r>
              <a:rPr lang="en-US" sz="4400" dirty="0" err="1"/>
              <a:t>trabajo</a:t>
            </a:r>
            <a:r>
              <a:rPr lang="en-US" sz="4400" dirty="0"/>
              <a:t>, es </a:t>
            </a:r>
            <a:r>
              <a:rPr lang="en-US" sz="4400" dirty="0" err="1"/>
              <a:t>decir</a:t>
            </a:r>
            <a:r>
              <a:rPr lang="en-US" sz="4400" dirty="0"/>
              <a:t>, por </a:t>
            </a:r>
            <a:r>
              <a:rPr lang="en-US" sz="4400" dirty="0" err="1"/>
              <a:t>vía</a:t>
            </a:r>
            <a:r>
              <a:rPr lang="en-US" sz="4400" dirty="0"/>
              <a:t> </a:t>
            </a:r>
            <a:r>
              <a:rPr lang="en-US" sz="4400" dirty="0" err="1"/>
              <a:t>administrativa</a:t>
            </a:r>
            <a:r>
              <a:rPr lang="en-US" sz="4400" dirty="0"/>
              <a:t>.</a:t>
            </a:r>
          </a:p>
          <a:p>
            <a:endParaRPr lang="en-US" sz="4400" dirty="0"/>
          </a:p>
          <a:p>
            <a:r>
              <a:rPr lang="en-US" sz="4400" dirty="0"/>
              <a:t>El </a:t>
            </a:r>
            <a:r>
              <a:rPr lang="en-US" sz="4400" b="1" dirty="0" err="1"/>
              <a:t>encuadramiento</a:t>
            </a:r>
            <a:r>
              <a:rPr lang="en-US" sz="4400" b="1" dirty="0"/>
              <a:t> </a:t>
            </a:r>
            <a:r>
              <a:rPr lang="en-US" sz="4400" b="1" dirty="0" err="1"/>
              <a:t>convencional</a:t>
            </a:r>
            <a:r>
              <a:rPr lang="en-US" sz="4400" b="1" dirty="0"/>
              <a:t> </a:t>
            </a:r>
            <a:r>
              <a:rPr lang="en-US" sz="4400" dirty="0" err="1"/>
              <a:t>busca</a:t>
            </a:r>
            <a:r>
              <a:rPr lang="en-US" sz="4400" dirty="0"/>
              <a:t> </a:t>
            </a:r>
            <a:r>
              <a:rPr lang="en-US" sz="4400" dirty="0" err="1"/>
              <a:t>determinar</a:t>
            </a:r>
            <a:r>
              <a:rPr lang="en-US" sz="4400" dirty="0"/>
              <a:t> que </a:t>
            </a:r>
            <a:r>
              <a:rPr lang="en-US" sz="4400" dirty="0" err="1"/>
              <a:t>convenio</a:t>
            </a:r>
            <a:r>
              <a:rPr lang="en-US" sz="4400" dirty="0"/>
              <a:t> </a:t>
            </a:r>
            <a:r>
              <a:rPr lang="en-US" sz="4400" dirty="0" err="1"/>
              <a:t>colectivo</a:t>
            </a:r>
            <a:r>
              <a:rPr lang="en-US" sz="4400" dirty="0"/>
              <a:t> de </a:t>
            </a:r>
            <a:r>
              <a:rPr lang="en-US" sz="4400" dirty="0" err="1"/>
              <a:t>trabajo</a:t>
            </a:r>
            <a:r>
              <a:rPr lang="en-US" sz="4400" dirty="0"/>
              <a:t> debe </a:t>
            </a:r>
            <a:r>
              <a:rPr lang="en-US" sz="4400" dirty="0" err="1"/>
              <a:t>aplicar</a:t>
            </a:r>
            <a:r>
              <a:rPr lang="en-US" sz="4400" dirty="0"/>
              <a:t> a un </a:t>
            </a:r>
            <a:r>
              <a:rPr lang="en-US" sz="4400" dirty="0" err="1"/>
              <a:t>grupo</a:t>
            </a:r>
            <a:r>
              <a:rPr lang="en-US" sz="4400" dirty="0"/>
              <a:t> de </a:t>
            </a:r>
            <a:r>
              <a:rPr lang="en-US" sz="4400" dirty="0" err="1"/>
              <a:t>trabajadores</a:t>
            </a:r>
            <a:r>
              <a:rPr lang="en-US" sz="4400" dirty="0"/>
              <a:t>. Se </a:t>
            </a:r>
            <a:r>
              <a:rPr lang="en-US" sz="4400" dirty="0" err="1"/>
              <a:t>resuelve</a:t>
            </a:r>
            <a:r>
              <a:rPr lang="en-US" sz="4400" dirty="0"/>
              <a:t> por </a:t>
            </a:r>
            <a:r>
              <a:rPr lang="en-US" sz="4400" dirty="0" err="1"/>
              <a:t>vía</a:t>
            </a:r>
            <a:r>
              <a:rPr lang="en-US" sz="4400" dirty="0"/>
              <a:t> judicial. </a:t>
            </a:r>
            <a:r>
              <a:rPr lang="en-US" sz="4400" dirty="0" err="1"/>
              <a:t>En</a:t>
            </a:r>
            <a:r>
              <a:rPr lang="en-US" sz="4400" dirty="0"/>
              <a:t> principio no </a:t>
            </a:r>
            <a:r>
              <a:rPr lang="en-US" sz="4400" dirty="0" err="1"/>
              <a:t>debería</a:t>
            </a:r>
            <a:r>
              <a:rPr lang="en-US" sz="4400" dirty="0"/>
              <a:t> </a:t>
            </a:r>
            <a:r>
              <a:rPr lang="en-US" sz="4400" dirty="0" err="1"/>
              <a:t>darse</a:t>
            </a:r>
            <a:r>
              <a:rPr lang="en-US" sz="4400" dirty="0"/>
              <a:t> </a:t>
            </a:r>
            <a:r>
              <a:rPr lang="en-US" sz="4400" dirty="0" err="1"/>
              <a:t>si</a:t>
            </a:r>
            <a:r>
              <a:rPr lang="en-US" sz="4400" dirty="0"/>
              <a:t> </a:t>
            </a:r>
            <a:r>
              <a:rPr lang="en-US" sz="4400" dirty="0" err="1"/>
              <a:t>está</a:t>
            </a:r>
            <a:r>
              <a:rPr lang="en-US" sz="4400" dirty="0"/>
              <a:t> claro el </a:t>
            </a:r>
            <a:r>
              <a:rPr lang="en-US" sz="4400" dirty="0" err="1"/>
              <a:t>ámbito</a:t>
            </a:r>
            <a:r>
              <a:rPr lang="en-US" sz="4400" dirty="0"/>
              <a:t> de </a:t>
            </a:r>
            <a:r>
              <a:rPr lang="en-US" sz="4400" dirty="0" err="1"/>
              <a:t>actuación</a:t>
            </a:r>
            <a:r>
              <a:rPr lang="en-US" sz="4400" dirty="0"/>
              <a:t> de los </a:t>
            </a:r>
            <a:r>
              <a:rPr lang="en-US" sz="4400" dirty="0" err="1"/>
              <a:t>sindicatos</a:t>
            </a:r>
            <a:r>
              <a:rPr lang="en-US" sz="4400" dirty="0"/>
              <a:t> con </a:t>
            </a:r>
            <a:r>
              <a:rPr lang="en-US" sz="4400" dirty="0" err="1"/>
              <a:t>personería</a:t>
            </a:r>
            <a:r>
              <a:rPr lang="en-US" sz="4400" dirty="0"/>
              <a:t> gremial (</a:t>
            </a:r>
            <a:r>
              <a:rPr lang="en-US" sz="4400" dirty="0" err="1"/>
              <a:t>este</a:t>
            </a:r>
            <a:r>
              <a:rPr lang="en-US" sz="4400" dirty="0"/>
              <a:t> es el punto de </a:t>
            </a:r>
            <a:r>
              <a:rPr lang="en-US" sz="4400" dirty="0" err="1"/>
              <a:t>contacto</a:t>
            </a:r>
            <a:r>
              <a:rPr lang="en-US" sz="4400" dirty="0"/>
              <a:t> con el </a:t>
            </a:r>
            <a:r>
              <a:rPr lang="en-US" sz="4400" dirty="0" err="1"/>
              <a:t>encuadramiento</a:t>
            </a:r>
            <a:r>
              <a:rPr lang="en-US" sz="4400" dirty="0"/>
              <a:t> </a:t>
            </a:r>
            <a:r>
              <a:rPr lang="en-US" sz="4400" dirty="0" err="1"/>
              <a:t>sindical</a:t>
            </a:r>
            <a:r>
              <a:rPr lang="en-US" sz="4400" dirty="0"/>
              <a:t>) </a:t>
            </a:r>
            <a:r>
              <a:rPr lang="en-US" sz="4400" dirty="0" err="1"/>
              <a:t>ya</a:t>
            </a:r>
            <a:r>
              <a:rPr lang="en-US" sz="4400" dirty="0"/>
              <a:t> que son </a:t>
            </a:r>
            <a:r>
              <a:rPr lang="en-US" sz="4400" dirty="0" err="1"/>
              <a:t>estos</a:t>
            </a:r>
            <a:r>
              <a:rPr lang="en-US" sz="4400" dirty="0"/>
              <a:t> </a:t>
            </a:r>
            <a:r>
              <a:rPr lang="en-US" sz="4400" dirty="0" err="1"/>
              <a:t>quienes</a:t>
            </a:r>
            <a:r>
              <a:rPr lang="en-US" sz="4400" dirty="0"/>
              <a:t> </a:t>
            </a:r>
            <a:r>
              <a:rPr lang="en-US" sz="4400" dirty="0" err="1"/>
              <a:t>acuerdan</a:t>
            </a:r>
            <a:r>
              <a:rPr lang="en-US" sz="4400" dirty="0"/>
              <a:t> los </a:t>
            </a:r>
            <a:r>
              <a:rPr lang="en-US" sz="4400" dirty="0" err="1"/>
              <a:t>convenios</a:t>
            </a:r>
            <a:r>
              <a:rPr lang="en-US" sz="4400" dirty="0"/>
              <a:t> </a:t>
            </a:r>
            <a:r>
              <a:rPr lang="en-US" sz="4400" dirty="0" err="1"/>
              <a:t>colectivos</a:t>
            </a:r>
            <a:r>
              <a:rPr lang="en-US" sz="4400" dirty="0"/>
              <a:t>. Pero </a:t>
            </a:r>
            <a:r>
              <a:rPr lang="en-US" sz="4400" dirty="0" err="1"/>
              <a:t>aún</a:t>
            </a:r>
            <a:r>
              <a:rPr lang="en-US" sz="4400" dirty="0"/>
              <a:t> </a:t>
            </a:r>
            <a:r>
              <a:rPr lang="en-US" sz="4400" dirty="0" err="1"/>
              <a:t>así</a:t>
            </a:r>
            <a:r>
              <a:rPr lang="en-US" sz="4400" dirty="0"/>
              <a:t> </a:t>
            </a:r>
            <a:r>
              <a:rPr lang="en-US" sz="4400" dirty="0" err="1"/>
              <a:t>puede</a:t>
            </a:r>
            <a:r>
              <a:rPr lang="en-US" sz="4400" dirty="0"/>
              <a:t> </a:t>
            </a:r>
            <a:r>
              <a:rPr lang="en-US" sz="4400" dirty="0" err="1"/>
              <a:t>llegar</a:t>
            </a:r>
            <a:r>
              <a:rPr lang="en-US" sz="4400" dirty="0"/>
              <a:t> a </a:t>
            </a:r>
            <a:r>
              <a:rPr lang="en-US" sz="4400" dirty="0" err="1"/>
              <a:t>darse</a:t>
            </a:r>
            <a:r>
              <a:rPr lang="en-US" sz="4400" dirty="0"/>
              <a:t> </a:t>
            </a:r>
            <a:r>
              <a:rPr lang="en-US" sz="4400" dirty="0" err="1"/>
              <a:t>cuando</a:t>
            </a:r>
            <a:r>
              <a:rPr lang="en-US" sz="4400" dirty="0"/>
              <a:t> se </a:t>
            </a:r>
            <a:r>
              <a:rPr lang="en-US" sz="4400" dirty="0" err="1"/>
              <a:t>superponen</a:t>
            </a:r>
            <a:r>
              <a:rPr lang="en-US" sz="4400" dirty="0"/>
              <a:t> </a:t>
            </a:r>
            <a:r>
              <a:rPr lang="en-US" sz="4400" dirty="0" err="1"/>
              <a:t>convenios</a:t>
            </a:r>
            <a:r>
              <a:rPr lang="en-US" sz="4400" dirty="0"/>
              <a:t> de </a:t>
            </a:r>
            <a:r>
              <a:rPr lang="en-US" sz="4400" dirty="0" err="1"/>
              <a:t>actividad</a:t>
            </a:r>
            <a:r>
              <a:rPr lang="en-US" sz="4400" dirty="0"/>
              <a:t> con </a:t>
            </a:r>
            <a:r>
              <a:rPr lang="en-US" sz="4400" dirty="0" err="1"/>
              <a:t>convenios</a:t>
            </a:r>
            <a:r>
              <a:rPr lang="en-US" sz="4400" dirty="0"/>
              <a:t> de </a:t>
            </a:r>
            <a:r>
              <a:rPr lang="en-US" sz="4400" dirty="0" err="1"/>
              <a:t>oficio</a:t>
            </a:r>
            <a:r>
              <a:rPr lang="en-US" sz="4400" dirty="0"/>
              <a:t>, o por </a:t>
            </a:r>
            <a:r>
              <a:rPr lang="en-US" sz="4400" dirty="0" err="1"/>
              <a:t>nuevas</a:t>
            </a:r>
            <a:r>
              <a:rPr lang="en-US" sz="4400" dirty="0"/>
              <a:t> </a:t>
            </a:r>
            <a:r>
              <a:rPr lang="en-US" sz="4400" dirty="0" err="1"/>
              <a:t>tareas</a:t>
            </a:r>
            <a:r>
              <a:rPr lang="en-US" sz="4400" dirty="0"/>
              <a:t> y </a:t>
            </a:r>
            <a:r>
              <a:rPr lang="en-US" sz="4400" dirty="0" err="1"/>
              <a:t>funciones</a:t>
            </a:r>
            <a:r>
              <a:rPr lang="en-US" sz="4400" dirty="0"/>
              <a:t> que no </a:t>
            </a:r>
            <a:r>
              <a:rPr lang="en-US" sz="4400" dirty="0" err="1"/>
              <a:t>están</a:t>
            </a:r>
            <a:r>
              <a:rPr lang="en-US" sz="4400" dirty="0"/>
              <a:t> </a:t>
            </a:r>
            <a:r>
              <a:rPr lang="en-US" sz="4400" dirty="0" err="1"/>
              <a:t>definidas</a:t>
            </a:r>
            <a:r>
              <a:rPr lang="en-US" sz="4400" dirty="0"/>
              <a:t> </a:t>
            </a:r>
            <a:r>
              <a:rPr lang="en-US" sz="4400" dirty="0" err="1"/>
              <a:t>en</a:t>
            </a:r>
            <a:r>
              <a:rPr lang="en-US" sz="4400" dirty="0"/>
              <a:t> los </a:t>
            </a:r>
            <a:r>
              <a:rPr lang="en-US" sz="4400" dirty="0" err="1"/>
              <a:t>convenios</a:t>
            </a:r>
            <a:r>
              <a:rPr lang="en-US" sz="4400" dirty="0"/>
              <a:t>, y los </a:t>
            </a:r>
            <a:r>
              <a:rPr lang="en-US" sz="4400" dirty="0" err="1"/>
              <a:t>empleados</a:t>
            </a:r>
            <a:r>
              <a:rPr lang="en-US" sz="4400" dirty="0"/>
              <a:t> </a:t>
            </a:r>
            <a:r>
              <a:rPr lang="en-US" sz="4400" dirty="0" err="1"/>
              <a:t>reclamen</a:t>
            </a:r>
            <a:r>
              <a:rPr lang="en-US" sz="4400" dirty="0"/>
              <a:t> que </a:t>
            </a:r>
            <a:r>
              <a:rPr lang="en-US" sz="4400" dirty="0" err="1"/>
              <a:t>su</a:t>
            </a:r>
            <a:r>
              <a:rPr lang="en-US" sz="4400" dirty="0"/>
              <a:t> </a:t>
            </a:r>
            <a:r>
              <a:rPr lang="en-US" sz="4400" dirty="0" err="1"/>
              <a:t>empleador</a:t>
            </a:r>
            <a:r>
              <a:rPr lang="en-US" sz="4400" dirty="0"/>
              <a:t> les </a:t>
            </a:r>
            <a:r>
              <a:rPr lang="en-US" sz="4400" dirty="0" err="1"/>
              <a:t>reconozca</a:t>
            </a:r>
            <a:r>
              <a:rPr lang="en-US" sz="4400" dirty="0"/>
              <a:t> los derechos de un </a:t>
            </a:r>
            <a:r>
              <a:rPr lang="en-US" sz="4400" dirty="0" err="1"/>
              <a:t>convenio</a:t>
            </a:r>
            <a:r>
              <a:rPr lang="en-US" sz="4400" dirty="0"/>
              <a:t> </a:t>
            </a:r>
            <a:r>
              <a:rPr lang="en-US" sz="4400" dirty="0" err="1"/>
              <a:t>diferente</a:t>
            </a:r>
            <a:r>
              <a:rPr lang="en-US" sz="4400" dirty="0"/>
              <a:t> al que les </a:t>
            </a:r>
            <a:r>
              <a:rPr lang="en-US" sz="4400" dirty="0" err="1"/>
              <a:t>está</a:t>
            </a:r>
            <a:r>
              <a:rPr lang="en-US" sz="4400" dirty="0"/>
              <a:t> </a:t>
            </a:r>
            <a:r>
              <a:rPr lang="en-US" sz="4400" dirty="0" err="1"/>
              <a:t>siendo</a:t>
            </a:r>
            <a:r>
              <a:rPr lang="en-US" sz="4400" dirty="0"/>
              <a:t> </a:t>
            </a:r>
            <a:r>
              <a:rPr lang="en-US" sz="4400" dirty="0" err="1"/>
              <a:t>aplicado</a:t>
            </a:r>
            <a:r>
              <a:rPr lang="en-US" sz="4400" dirty="0"/>
              <a:t>.</a:t>
            </a:r>
            <a:endParaRPr lang="en-AR" sz="4400"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34</a:t>
            </a:fld>
            <a:endParaRPr lang="en-US"/>
          </a:p>
        </p:txBody>
      </p:sp>
    </p:spTree>
    <p:extLst>
      <p:ext uri="{BB962C8B-B14F-4D97-AF65-F5344CB8AC3E}">
        <p14:creationId xmlns:p14="http://schemas.microsoft.com/office/powerpoint/2010/main" val="51256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normAutofit fontScale="32500" lnSpcReduction="20000"/>
          </a:bodyPr>
          <a:lstStyle/>
          <a:p>
            <a:r>
              <a:rPr lang="en-US" sz="4400" dirty="0"/>
              <a:t>Con </a:t>
            </a:r>
            <a:r>
              <a:rPr lang="en-US" sz="4400" dirty="0" err="1"/>
              <a:t>respecto</a:t>
            </a:r>
            <a:r>
              <a:rPr lang="en-US" sz="4400" dirty="0"/>
              <a:t> a la </a:t>
            </a:r>
            <a:r>
              <a:rPr lang="en-US" sz="4400" dirty="0" err="1"/>
              <a:t>diferencia</a:t>
            </a:r>
            <a:r>
              <a:rPr lang="en-US" sz="4400" dirty="0"/>
              <a:t> entre </a:t>
            </a:r>
            <a:r>
              <a:rPr lang="en-US" sz="4400" dirty="0" err="1"/>
              <a:t>encuadramiento</a:t>
            </a:r>
            <a:r>
              <a:rPr lang="en-US" sz="4400" dirty="0"/>
              <a:t> </a:t>
            </a:r>
            <a:r>
              <a:rPr lang="en-US" sz="4400" dirty="0" err="1"/>
              <a:t>sindical</a:t>
            </a:r>
            <a:r>
              <a:rPr lang="en-US" sz="4400" dirty="0"/>
              <a:t> y </a:t>
            </a:r>
            <a:r>
              <a:rPr lang="en-US" sz="4400" dirty="0" err="1"/>
              <a:t>convenicional</a:t>
            </a:r>
            <a:r>
              <a:rPr lang="en-US" sz="4400" dirty="0"/>
              <a:t> </a:t>
            </a:r>
            <a:r>
              <a:rPr lang="en-US" sz="4400" dirty="0" err="1"/>
              <a:t>puede</a:t>
            </a:r>
            <a:r>
              <a:rPr lang="en-US" sz="4400" dirty="0"/>
              <a:t> ser </a:t>
            </a:r>
            <a:r>
              <a:rPr lang="en-US" sz="4400" dirty="0" err="1"/>
              <a:t>confusa</a:t>
            </a:r>
            <a:r>
              <a:rPr lang="en-US" sz="4400" dirty="0"/>
              <a:t> </a:t>
            </a:r>
            <a:r>
              <a:rPr lang="en-US" sz="4400" dirty="0" err="1"/>
              <a:t>porque</a:t>
            </a:r>
            <a:r>
              <a:rPr lang="en-US" sz="4400" dirty="0"/>
              <a:t> </a:t>
            </a:r>
            <a:r>
              <a:rPr lang="en-US" sz="4400" dirty="0" err="1"/>
              <a:t>si</a:t>
            </a:r>
            <a:r>
              <a:rPr lang="en-US" sz="4400" dirty="0"/>
              <a:t> bien son </a:t>
            </a:r>
            <a:r>
              <a:rPr lang="en-US" sz="4400" dirty="0" err="1"/>
              <a:t>conflictos</a:t>
            </a:r>
            <a:r>
              <a:rPr lang="en-US" sz="4400" dirty="0"/>
              <a:t> de </a:t>
            </a:r>
            <a:r>
              <a:rPr lang="en-US" sz="4400" dirty="0" err="1"/>
              <a:t>naturaleza</a:t>
            </a:r>
            <a:r>
              <a:rPr lang="en-US" sz="4400" dirty="0"/>
              <a:t> y </a:t>
            </a:r>
            <a:r>
              <a:rPr lang="en-US" sz="4400" dirty="0" err="1"/>
              <a:t>resolución</a:t>
            </a:r>
            <a:r>
              <a:rPr lang="en-US" sz="4400" dirty="0"/>
              <a:t> </a:t>
            </a:r>
            <a:r>
              <a:rPr lang="en-US" sz="4400" dirty="0" err="1"/>
              <a:t>diferente</a:t>
            </a:r>
            <a:r>
              <a:rPr lang="en-US" sz="4400" dirty="0"/>
              <a:t> </a:t>
            </a:r>
            <a:r>
              <a:rPr lang="en-US" sz="4400" dirty="0" err="1"/>
              <a:t>tienen</a:t>
            </a:r>
            <a:r>
              <a:rPr lang="en-US" sz="4400" dirty="0"/>
              <a:t> puntos de </a:t>
            </a:r>
            <a:r>
              <a:rPr lang="en-US" sz="4400" dirty="0" err="1"/>
              <a:t>contacto</a:t>
            </a:r>
            <a:r>
              <a:rPr lang="en-US" sz="4400" dirty="0"/>
              <a:t> y </a:t>
            </a:r>
            <a:r>
              <a:rPr lang="en-US" sz="4400" dirty="0" err="1"/>
              <a:t>están</a:t>
            </a:r>
            <a:r>
              <a:rPr lang="en-US" sz="4400" dirty="0"/>
              <a:t> </a:t>
            </a:r>
            <a:r>
              <a:rPr lang="en-US" sz="4400" dirty="0" err="1"/>
              <a:t>relacionados</a:t>
            </a:r>
            <a:r>
              <a:rPr lang="en-US" sz="4400" dirty="0"/>
              <a:t>:</a:t>
            </a:r>
          </a:p>
          <a:p>
            <a:endParaRPr lang="en-US" sz="4400" dirty="0"/>
          </a:p>
          <a:p>
            <a:r>
              <a:rPr lang="en-US" sz="4400" dirty="0"/>
              <a:t> El </a:t>
            </a:r>
            <a:r>
              <a:rPr lang="en-US" sz="4400" dirty="0" err="1"/>
              <a:t>conflicto</a:t>
            </a:r>
            <a:r>
              <a:rPr lang="en-US" sz="4400" dirty="0"/>
              <a:t> </a:t>
            </a:r>
            <a:r>
              <a:rPr lang="en-US" sz="4400" b="1" dirty="0" err="1"/>
              <a:t>intersindical</a:t>
            </a:r>
            <a:r>
              <a:rPr lang="en-US" sz="4400" b="1" dirty="0"/>
              <a:t> de </a:t>
            </a:r>
            <a:r>
              <a:rPr lang="en-US" sz="4400" b="1" dirty="0" err="1"/>
              <a:t>encuadramiento</a:t>
            </a:r>
            <a:r>
              <a:rPr lang="en-US" sz="4400" b="1" dirty="0"/>
              <a:t> </a:t>
            </a:r>
            <a:r>
              <a:rPr lang="en-US" sz="4400" dirty="0"/>
              <a:t>es </a:t>
            </a:r>
            <a:r>
              <a:rPr lang="en-US" sz="4400" dirty="0" err="1"/>
              <a:t>cuando</a:t>
            </a:r>
            <a:r>
              <a:rPr lang="en-US" sz="4400" dirty="0"/>
              <a:t> dos </a:t>
            </a:r>
            <a:r>
              <a:rPr lang="en-US" sz="4400" dirty="0" err="1"/>
              <a:t>sindicatos</a:t>
            </a:r>
            <a:r>
              <a:rPr lang="en-US" sz="4400" dirty="0"/>
              <a:t> con </a:t>
            </a:r>
            <a:r>
              <a:rPr lang="en-US" sz="4400" dirty="0" err="1"/>
              <a:t>personería</a:t>
            </a:r>
            <a:r>
              <a:rPr lang="en-US" sz="4400" dirty="0"/>
              <a:t> gremial </a:t>
            </a:r>
            <a:r>
              <a:rPr lang="en-US" sz="4400" dirty="0" err="1"/>
              <a:t>preexistentes</a:t>
            </a:r>
            <a:r>
              <a:rPr lang="en-US" sz="4400" dirty="0"/>
              <a:t> se </a:t>
            </a:r>
            <a:r>
              <a:rPr lang="en-US" sz="4400" dirty="0" err="1"/>
              <a:t>disputan</a:t>
            </a:r>
            <a:r>
              <a:rPr lang="en-US" sz="4400" dirty="0"/>
              <a:t> entre </a:t>
            </a:r>
            <a:r>
              <a:rPr lang="en-US" sz="4400" dirty="0" err="1"/>
              <a:t>sí</a:t>
            </a:r>
            <a:r>
              <a:rPr lang="en-US" sz="4400" dirty="0"/>
              <a:t> la </a:t>
            </a:r>
            <a:r>
              <a:rPr lang="en-US" sz="4400" dirty="0" err="1"/>
              <a:t>representación</a:t>
            </a:r>
            <a:r>
              <a:rPr lang="en-US" sz="4400" dirty="0"/>
              <a:t> del </a:t>
            </a:r>
            <a:r>
              <a:rPr lang="en-US" sz="4400" dirty="0" err="1"/>
              <a:t>mismo</a:t>
            </a:r>
            <a:r>
              <a:rPr lang="en-US" sz="4400" dirty="0"/>
              <a:t> </a:t>
            </a:r>
            <a:r>
              <a:rPr lang="en-US" sz="4400" dirty="0" err="1"/>
              <a:t>grupo</a:t>
            </a:r>
            <a:r>
              <a:rPr lang="en-US" sz="4400" dirty="0"/>
              <a:t> de </a:t>
            </a:r>
            <a:r>
              <a:rPr lang="en-US" sz="4400" dirty="0" err="1"/>
              <a:t>trabajadores</a:t>
            </a:r>
            <a:r>
              <a:rPr lang="en-US" sz="4400" dirty="0"/>
              <a:t>. Los </a:t>
            </a:r>
            <a:r>
              <a:rPr lang="en-US" sz="4400" dirty="0" err="1"/>
              <a:t>actores</a:t>
            </a:r>
            <a:r>
              <a:rPr lang="en-US" sz="4400" dirty="0"/>
              <a:t> del </a:t>
            </a:r>
            <a:r>
              <a:rPr lang="en-US" sz="4400" dirty="0" err="1"/>
              <a:t>conflicto</a:t>
            </a:r>
            <a:r>
              <a:rPr lang="en-US" sz="4400" dirty="0"/>
              <a:t> son dos </a:t>
            </a:r>
            <a:r>
              <a:rPr lang="en-US" sz="4400" dirty="0" err="1"/>
              <a:t>sindicatos</a:t>
            </a:r>
            <a:r>
              <a:rPr lang="en-US" sz="4400" dirty="0"/>
              <a:t> y </a:t>
            </a:r>
            <a:r>
              <a:rPr lang="en-US" sz="4400" dirty="0" err="1"/>
              <a:t>empleados</a:t>
            </a:r>
            <a:r>
              <a:rPr lang="en-US" sz="4400" dirty="0"/>
              <a:t> y </a:t>
            </a:r>
            <a:r>
              <a:rPr lang="en-US" sz="4400" dirty="0" err="1"/>
              <a:t>empleadores</a:t>
            </a:r>
            <a:r>
              <a:rPr lang="en-US" sz="4400" dirty="0"/>
              <a:t> no </a:t>
            </a:r>
            <a:r>
              <a:rPr lang="en-US" sz="4400" dirty="0" err="1"/>
              <a:t>tienen</a:t>
            </a:r>
            <a:r>
              <a:rPr lang="en-US" sz="4400" dirty="0"/>
              <a:t> </a:t>
            </a:r>
            <a:r>
              <a:rPr lang="en-US" sz="4400" dirty="0" err="1"/>
              <a:t>injerencia</a:t>
            </a:r>
            <a:r>
              <a:rPr lang="en-US" sz="4400" dirty="0"/>
              <a:t>. Por </a:t>
            </a:r>
            <a:r>
              <a:rPr lang="en-US" sz="4400" dirty="0" err="1"/>
              <a:t>ejemplo</a:t>
            </a:r>
            <a:r>
              <a:rPr lang="en-US" sz="4400" dirty="0"/>
              <a:t>, </a:t>
            </a:r>
            <a:r>
              <a:rPr lang="en-US" sz="4400" dirty="0" err="1"/>
              <a:t>comercio</a:t>
            </a:r>
            <a:r>
              <a:rPr lang="en-US" sz="4400" dirty="0"/>
              <a:t> </a:t>
            </a:r>
            <a:r>
              <a:rPr lang="en-US" sz="4400" dirty="0" err="1"/>
              <a:t>en</a:t>
            </a:r>
            <a:r>
              <a:rPr lang="en-US" sz="4400" dirty="0"/>
              <a:t> </a:t>
            </a:r>
            <a:r>
              <a:rPr lang="en-US" sz="4400" dirty="0" err="1"/>
              <a:t>disputa</a:t>
            </a:r>
            <a:r>
              <a:rPr lang="en-US" sz="4400" dirty="0"/>
              <a:t> con </a:t>
            </a:r>
            <a:r>
              <a:rPr lang="en-US" sz="4400" dirty="0" err="1"/>
              <a:t>camioneros</a:t>
            </a:r>
            <a:r>
              <a:rPr lang="en-US" sz="4400" dirty="0"/>
              <a:t> por </a:t>
            </a:r>
            <a:r>
              <a:rPr lang="en-US" sz="4400" dirty="0" err="1"/>
              <a:t>trabajadores</a:t>
            </a:r>
            <a:r>
              <a:rPr lang="en-US" sz="4400" dirty="0"/>
              <a:t> de una </a:t>
            </a:r>
            <a:r>
              <a:rPr lang="en-US" sz="4400" dirty="0" err="1"/>
              <a:t>distribuidora</a:t>
            </a:r>
            <a:r>
              <a:rPr lang="en-US" sz="4400" dirty="0"/>
              <a:t> </a:t>
            </a:r>
            <a:r>
              <a:rPr lang="en-US" sz="4400" dirty="0" err="1"/>
              <a:t>comercial</a:t>
            </a:r>
            <a:r>
              <a:rPr lang="en-US" sz="4400" dirty="0"/>
              <a:t>.  Lo </a:t>
            </a:r>
            <a:r>
              <a:rPr lang="en-US" sz="4400" dirty="0" err="1"/>
              <a:t>resuelve</a:t>
            </a:r>
            <a:r>
              <a:rPr lang="en-US" sz="4400" dirty="0"/>
              <a:t> el </a:t>
            </a:r>
            <a:r>
              <a:rPr lang="en-US" sz="4400" dirty="0" err="1"/>
              <a:t>Ministerio</a:t>
            </a:r>
            <a:r>
              <a:rPr lang="en-US" sz="4400" dirty="0"/>
              <a:t> de </a:t>
            </a:r>
            <a:r>
              <a:rPr lang="en-US" sz="4400" dirty="0" err="1"/>
              <a:t>trabajo</a:t>
            </a:r>
            <a:r>
              <a:rPr lang="en-US" sz="4400" dirty="0"/>
              <a:t>, es </a:t>
            </a:r>
            <a:r>
              <a:rPr lang="en-US" sz="4400" dirty="0" err="1"/>
              <a:t>decir</a:t>
            </a:r>
            <a:r>
              <a:rPr lang="en-US" sz="4400" dirty="0"/>
              <a:t>, por </a:t>
            </a:r>
            <a:r>
              <a:rPr lang="en-US" sz="4400" dirty="0" err="1"/>
              <a:t>vía</a:t>
            </a:r>
            <a:r>
              <a:rPr lang="en-US" sz="4400" dirty="0"/>
              <a:t> </a:t>
            </a:r>
            <a:r>
              <a:rPr lang="en-US" sz="4400" dirty="0" err="1"/>
              <a:t>administrativa</a:t>
            </a:r>
            <a:r>
              <a:rPr lang="en-US" sz="4400" dirty="0"/>
              <a:t>.</a:t>
            </a:r>
          </a:p>
          <a:p>
            <a:endParaRPr lang="en-US" sz="4400" dirty="0"/>
          </a:p>
          <a:p>
            <a:r>
              <a:rPr lang="en-US" sz="4400" dirty="0"/>
              <a:t>El </a:t>
            </a:r>
            <a:r>
              <a:rPr lang="en-US" sz="4400" b="1" dirty="0" err="1"/>
              <a:t>encuadramiento</a:t>
            </a:r>
            <a:r>
              <a:rPr lang="en-US" sz="4400" b="1" dirty="0"/>
              <a:t> </a:t>
            </a:r>
            <a:r>
              <a:rPr lang="en-US" sz="4400" b="1" dirty="0" err="1"/>
              <a:t>convencional</a:t>
            </a:r>
            <a:r>
              <a:rPr lang="en-US" sz="4400" b="1" dirty="0"/>
              <a:t> </a:t>
            </a:r>
            <a:r>
              <a:rPr lang="en-US" sz="4400" dirty="0" err="1"/>
              <a:t>busca</a:t>
            </a:r>
            <a:r>
              <a:rPr lang="en-US" sz="4400" dirty="0"/>
              <a:t> </a:t>
            </a:r>
            <a:r>
              <a:rPr lang="en-US" sz="4400" dirty="0" err="1"/>
              <a:t>determinar</a:t>
            </a:r>
            <a:r>
              <a:rPr lang="en-US" sz="4400" dirty="0"/>
              <a:t> que </a:t>
            </a:r>
            <a:r>
              <a:rPr lang="en-US" sz="4400" dirty="0" err="1"/>
              <a:t>convenio</a:t>
            </a:r>
            <a:r>
              <a:rPr lang="en-US" sz="4400" dirty="0"/>
              <a:t> </a:t>
            </a:r>
            <a:r>
              <a:rPr lang="en-US" sz="4400" dirty="0" err="1"/>
              <a:t>colectivo</a:t>
            </a:r>
            <a:r>
              <a:rPr lang="en-US" sz="4400" dirty="0"/>
              <a:t> de </a:t>
            </a:r>
            <a:r>
              <a:rPr lang="en-US" sz="4400" dirty="0" err="1"/>
              <a:t>trabajo</a:t>
            </a:r>
            <a:r>
              <a:rPr lang="en-US" sz="4400" dirty="0"/>
              <a:t> debe </a:t>
            </a:r>
            <a:r>
              <a:rPr lang="en-US" sz="4400" dirty="0" err="1"/>
              <a:t>aplicar</a:t>
            </a:r>
            <a:r>
              <a:rPr lang="en-US" sz="4400" dirty="0"/>
              <a:t> a un </a:t>
            </a:r>
            <a:r>
              <a:rPr lang="en-US" sz="4400" dirty="0" err="1"/>
              <a:t>grupo</a:t>
            </a:r>
            <a:r>
              <a:rPr lang="en-US" sz="4400" dirty="0"/>
              <a:t> de </a:t>
            </a:r>
            <a:r>
              <a:rPr lang="en-US" sz="4400" dirty="0" err="1"/>
              <a:t>trabajadores</a:t>
            </a:r>
            <a:r>
              <a:rPr lang="en-US" sz="4400" dirty="0"/>
              <a:t>. Se </a:t>
            </a:r>
            <a:r>
              <a:rPr lang="en-US" sz="4400" dirty="0" err="1"/>
              <a:t>resuelve</a:t>
            </a:r>
            <a:r>
              <a:rPr lang="en-US" sz="4400" dirty="0"/>
              <a:t> por </a:t>
            </a:r>
            <a:r>
              <a:rPr lang="en-US" sz="4400" dirty="0" err="1"/>
              <a:t>vía</a:t>
            </a:r>
            <a:r>
              <a:rPr lang="en-US" sz="4400" dirty="0"/>
              <a:t> judicial. </a:t>
            </a:r>
            <a:r>
              <a:rPr lang="en-US" sz="4400" dirty="0" err="1"/>
              <a:t>En</a:t>
            </a:r>
            <a:r>
              <a:rPr lang="en-US" sz="4400" dirty="0"/>
              <a:t> principio no </a:t>
            </a:r>
            <a:r>
              <a:rPr lang="en-US" sz="4400" dirty="0" err="1"/>
              <a:t>debería</a:t>
            </a:r>
            <a:r>
              <a:rPr lang="en-US" sz="4400" dirty="0"/>
              <a:t> </a:t>
            </a:r>
            <a:r>
              <a:rPr lang="en-US" sz="4400" dirty="0" err="1"/>
              <a:t>darse</a:t>
            </a:r>
            <a:r>
              <a:rPr lang="en-US" sz="4400" dirty="0"/>
              <a:t> </a:t>
            </a:r>
            <a:r>
              <a:rPr lang="en-US" sz="4400" dirty="0" err="1"/>
              <a:t>si</a:t>
            </a:r>
            <a:r>
              <a:rPr lang="en-US" sz="4400" dirty="0"/>
              <a:t> </a:t>
            </a:r>
            <a:r>
              <a:rPr lang="en-US" sz="4400" dirty="0" err="1"/>
              <a:t>está</a:t>
            </a:r>
            <a:r>
              <a:rPr lang="en-US" sz="4400" dirty="0"/>
              <a:t> claro el </a:t>
            </a:r>
            <a:r>
              <a:rPr lang="en-US" sz="4400" dirty="0" err="1"/>
              <a:t>ámbito</a:t>
            </a:r>
            <a:r>
              <a:rPr lang="en-US" sz="4400" dirty="0"/>
              <a:t> de </a:t>
            </a:r>
            <a:r>
              <a:rPr lang="en-US" sz="4400" dirty="0" err="1"/>
              <a:t>actuación</a:t>
            </a:r>
            <a:r>
              <a:rPr lang="en-US" sz="4400" dirty="0"/>
              <a:t> de los </a:t>
            </a:r>
            <a:r>
              <a:rPr lang="en-US" sz="4400" dirty="0" err="1"/>
              <a:t>sindicatos</a:t>
            </a:r>
            <a:r>
              <a:rPr lang="en-US" sz="4400" dirty="0"/>
              <a:t> con </a:t>
            </a:r>
            <a:r>
              <a:rPr lang="en-US" sz="4400" dirty="0" err="1"/>
              <a:t>personería</a:t>
            </a:r>
            <a:r>
              <a:rPr lang="en-US" sz="4400" dirty="0"/>
              <a:t> gremial (</a:t>
            </a:r>
            <a:r>
              <a:rPr lang="en-US" sz="4400" dirty="0" err="1"/>
              <a:t>este</a:t>
            </a:r>
            <a:r>
              <a:rPr lang="en-US" sz="4400" dirty="0"/>
              <a:t> es el punto de </a:t>
            </a:r>
            <a:r>
              <a:rPr lang="en-US" sz="4400" dirty="0" err="1"/>
              <a:t>contacto</a:t>
            </a:r>
            <a:r>
              <a:rPr lang="en-US" sz="4400" dirty="0"/>
              <a:t> con el </a:t>
            </a:r>
            <a:r>
              <a:rPr lang="en-US" sz="4400" dirty="0" err="1"/>
              <a:t>encuadramiento</a:t>
            </a:r>
            <a:r>
              <a:rPr lang="en-US" sz="4400" dirty="0"/>
              <a:t> </a:t>
            </a:r>
            <a:r>
              <a:rPr lang="en-US" sz="4400" dirty="0" err="1"/>
              <a:t>sindical</a:t>
            </a:r>
            <a:r>
              <a:rPr lang="en-US" sz="4400" dirty="0"/>
              <a:t>) </a:t>
            </a:r>
            <a:r>
              <a:rPr lang="en-US" sz="4400" dirty="0" err="1"/>
              <a:t>ya</a:t>
            </a:r>
            <a:r>
              <a:rPr lang="en-US" sz="4400" dirty="0"/>
              <a:t> que son </a:t>
            </a:r>
            <a:r>
              <a:rPr lang="en-US" sz="4400" dirty="0" err="1"/>
              <a:t>estos</a:t>
            </a:r>
            <a:r>
              <a:rPr lang="en-US" sz="4400" dirty="0"/>
              <a:t> </a:t>
            </a:r>
            <a:r>
              <a:rPr lang="en-US" sz="4400" dirty="0" err="1"/>
              <a:t>quienes</a:t>
            </a:r>
            <a:r>
              <a:rPr lang="en-US" sz="4400" dirty="0"/>
              <a:t> </a:t>
            </a:r>
            <a:r>
              <a:rPr lang="en-US" sz="4400" dirty="0" err="1"/>
              <a:t>acuerdan</a:t>
            </a:r>
            <a:r>
              <a:rPr lang="en-US" sz="4400" dirty="0"/>
              <a:t> los </a:t>
            </a:r>
            <a:r>
              <a:rPr lang="en-US" sz="4400" dirty="0" err="1"/>
              <a:t>convenios</a:t>
            </a:r>
            <a:r>
              <a:rPr lang="en-US" sz="4400" dirty="0"/>
              <a:t> </a:t>
            </a:r>
            <a:r>
              <a:rPr lang="en-US" sz="4400" dirty="0" err="1"/>
              <a:t>colectivos</a:t>
            </a:r>
            <a:r>
              <a:rPr lang="en-US" sz="4400" dirty="0"/>
              <a:t>. Pero </a:t>
            </a:r>
            <a:r>
              <a:rPr lang="en-US" sz="4400" dirty="0" err="1"/>
              <a:t>aún</a:t>
            </a:r>
            <a:r>
              <a:rPr lang="en-US" sz="4400" dirty="0"/>
              <a:t> </a:t>
            </a:r>
            <a:r>
              <a:rPr lang="en-US" sz="4400" dirty="0" err="1"/>
              <a:t>así</a:t>
            </a:r>
            <a:r>
              <a:rPr lang="en-US" sz="4400" dirty="0"/>
              <a:t> </a:t>
            </a:r>
            <a:r>
              <a:rPr lang="en-US" sz="4400" dirty="0" err="1"/>
              <a:t>puede</a:t>
            </a:r>
            <a:r>
              <a:rPr lang="en-US" sz="4400" dirty="0"/>
              <a:t> </a:t>
            </a:r>
            <a:r>
              <a:rPr lang="en-US" sz="4400" dirty="0" err="1"/>
              <a:t>llegar</a:t>
            </a:r>
            <a:r>
              <a:rPr lang="en-US" sz="4400" dirty="0"/>
              <a:t> a </a:t>
            </a:r>
            <a:r>
              <a:rPr lang="en-US" sz="4400" dirty="0" err="1"/>
              <a:t>darse</a:t>
            </a:r>
            <a:r>
              <a:rPr lang="en-US" sz="4400" dirty="0"/>
              <a:t> </a:t>
            </a:r>
            <a:r>
              <a:rPr lang="en-US" sz="4400" dirty="0" err="1"/>
              <a:t>cuando</a:t>
            </a:r>
            <a:r>
              <a:rPr lang="en-US" sz="4400" dirty="0"/>
              <a:t> se </a:t>
            </a:r>
            <a:r>
              <a:rPr lang="en-US" sz="4400" dirty="0" err="1"/>
              <a:t>superponen</a:t>
            </a:r>
            <a:r>
              <a:rPr lang="en-US" sz="4400" dirty="0"/>
              <a:t> </a:t>
            </a:r>
            <a:r>
              <a:rPr lang="en-US" sz="4400" dirty="0" err="1"/>
              <a:t>convenios</a:t>
            </a:r>
            <a:r>
              <a:rPr lang="en-US" sz="4400" dirty="0"/>
              <a:t> de </a:t>
            </a:r>
            <a:r>
              <a:rPr lang="en-US" sz="4400" dirty="0" err="1"/>
              <a:t>actividad</a:t>
            </a:r>
            <a:r>
              <a:rPr lang="en-US" sz="4400" dirty="0"/>
              <a:t> con </a:t>
            </a:r>
            <a:r>
              <a:rPr lang="en-US" sz="4400" dirty="0" err="1"/>
              <a:t>convenios</a:t>
            </a:r>
            <a:r>
              <a:rPr lang="en-US" sz="4400" dirty="0"/>
              <a:t> de </a:t>
            </a:r>
            <a:r>
              <a:rPr lang="en-US" sz="4400" dirty="0" err="1"/>
              <a:t>oficio</a:t>
            </a:r>
            <a:r>
              <a:rPr lang="en-US" sz="4400" dirty="0"/>
              <a:t>, o por </a:t>
            </a:r>
            <a:r>
              <a:rPr lang="en-US" sz="4400" dirty="0" err="1"/>
              <a:t>nuevas</a:t>
            </a:r>
            <a:r>
              <a:rPr lang="en-US" sz="4400" dirty="0"/>
              <a:t> </a:t>
            </a:r>
            <a:r>
              <a:rPr lang="en-US" sz="4400" dirty="0" err="1"/>
              <a:t>tareas</a:t>
            </a:r>
            <a:r>
              <a:rPr lang="en-US" sz="4400" dirty="0"/>
              <a:t> y </a:t>
            </a:r>
            <a:r>
              <a:rPr lang="en-US" sz="4400" dirty="0" err="1"/>
              <a:t>funciones</a:t>
            </a:r>
            <a:r>
              <a:rPr lang="en-US" sz="4400" dirty="0"/>
              <a:t> que no </a:t>
            </a:r>
            <a:r>
              <a:rPr lang="en-US" sz="4400" dirty="0" err="1"/>
              <a:t>están</a:t>
            </a:r>
            <a:r>
              <a:rPr lang="en-US" sz="4400" dirty="0"/>
              <a:t> </a:t>
            </a:r>
            <a:r>
              <a:rPr lang="en-US" sz="4400" dirty="0" err="1"/>
              <a:t>definidas</a:t>
            </a:r>
            <a:r>
              <a:rPr lang="en-US" sz="4400" dirty="0"/>
              <a:t> </a:t>
            </a:r>
            <a:r>
              <a:rPr lang="en-US" sz="4400" dirty="0" err="1"/>
              <a:t>en</a:t>
            </a:r>
            <a:r>
              <a:rPr lang="en-US" sz="4400" dirty="0"/>
              <a:t> los </a:t>
            </a:r>
            <a:r>
              <a:rPr lang="en-US" sz="4400" dirty="0" err="1"/>
              <a:t>convenios</a:t>
            </a:r>
            <a:r>
              <a:rPr lang="en-US" sz="4400" dirty="0"/>
              <a:t>, y los </a:t>
            </a:r>
            <a:r>
              <a:rPr lang="en-US" sz="4400" dirty="0" err="1"/>
              <a:t>empleados</a:t>
            </a:r>
            <a:r>
              <a:rPr lang="en-US" sz="4400" dirty="0"/>
              <a:t> </a:t>
            </a:r>
            <a:r>
              <a:rPr lang="en-US" sz="4400" dirty="0" err="1"/>
              <a:t>reclamen</a:t>
            </a:r>
            <a:r>
              <a:rPr lang="en-US" sz="4400" dirty="0"/>
              <a:t> que </a:t>
            </a:r>
            <a:r>
              <a:rPr lang="en-US" sz="4400" dirty="0" err="1"/>
              <a:t>su</a:t>
            </a:r>
            <a:r>
              <a:rPr lang="en-US" sz="4400" dirty="0"/>
              <a:t> </a:t>
            </a:r>
            <a:r>
              <a:rPr lang="en-US" sz="4400" dirty="0" err="1"/>
              <a:t>empleador</a:t>
            </a:r>
            <a:r>
              <a:rPr lang="en-US" sz="4400" dirty="0"/>
              <a:t> les </a:t>
            </a:r>
            <a:r>
              <a:rPr lang="en-US" sz="4400" dirty="0" err="1"/>
              <a:t>reconozca</a:t>
            </a:r>
            <a:r>
              <a:rPr lang="en-US" sz="4400" dirty="0"/>
              <a:t> los derechos de un </a:t>
            </a:r>
            <a:r>
              <a:rPr lang="en-US" sz="4400" dirty="0" err="1"/>
              <a:t>convenio</a:t>
            </a:r>
            <a:r>
              <a:rPr lang="en-US" sz="4400" dirty="0"/>
              <a:t> </a:t>
            </a:r>
            <a:r>
              <a:rPr lang="en-US" sz="4400" dirty="0" err="1"/>
              <a:t>diferente</a:t>
            </a:r>
            <a:r>
              <a:rPr lang="en-US" sz="4400" dirty="0"/>
              <a:t> al que les </a:t>
            </a:r>
            <a:r>
              <a:rPr lang="en-US" sz="4400" dirty="0" err="1"/>
              <a:t>está</a:t>
            </a:r>
            <a:r>
              <a:rPr lang="en-US" sz="4400" dirty="0"/>
              <a:t> </a:t>
            </a:r>
            <a:r>
              <a:rPr lang="en-US" sz="4400" dirty="0" err="1"/>
              <a:t>siendo</a:t>
            </a:r>
            <a:r>
              <a:rPr lang="en-US" sz="4400" dirty="0"/>
              <a:t> </a:t>
            </a:r>
            <a:r>
              <a:rPr lang="en-US" sz="4400" dirty="0" err="1"/>
              <a:t>aplicado</a:t>
            </a:r>
            <a:r>
              <a:rPr lang="en-US" sz="4400" dirty="0"/>
              <a:t>.</a:t>
            </a:r>
            <a:endParaRPr lang="en-AR" sz="4400"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35</a:t>
            </a:fld>
            <a:endParaRPr lang="en-US"/>
          </a:p>
        </p:txBody>
      </p:sp>
    </p:spTree>
    <p:extLst>
      <p:ext uri="{BB962C8B-B14F-4D97-AF65-F5344CB8AC3E}">
        <p14:creationId xmlns:p14="http://schemas.microsoft.com/office/powerpoint/2010/main" val="32180050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r>
              <a:rPr lang="es-AR" dirty="0"/>
              <a:t>Video ladrilleros</a:t>
            </a:r>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36</a:t>
            </a:fld>
            <a:endParaRPr lang="en-US"/>
          </a:p>
        </p:txBody>
      </p:sp>
    </p:spTree>
    <p:extLst>
      <p:ext uri="{BB962C8B-B14F-4D97-AF65-F5344CB8AC3E}">
        <p14:creationId xmlns:p14="http://schemas.microsoft.com/office/powerpoint/2010/main" val="1273868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AR"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38</a:t>
            </a:fld>
            <a:endParaRPr lang="en-US"/>
          </a:p>
        </p:txBody>
      </p:sp>
    </p:spTree>
    <p:extLst>
      <p:ext uri="{BB962C8B-B14F-4D97-AF65-F5344CB8AC3E}">
        <p14:creationId xmlns:p14="http://schemas.microsoft.com/office/powerpoint/2010/main" val="390188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AR"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39</a:t>
            </a:fld>
            <a:endParaRPr lang="en-US"/>
          </a:p>
        </p:txBody>
      </p:sp>
    </p:spTree>
    <p:extLst>
      <p:ext uri="{BB962C8B-B14F-4D97-AF65-F5344CB8AC3E}">
        <p14:creationId xmlns:p14="http://schemas.microsoft.com/office/powerpoint/2010/main" val="1577584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42</a:t>
            </a:fld>
            <a:endParaRPr lang="en-US"/>
          </a:p>
        </p:txBody>
      </p:sp>
    </p:spTree>
    <p:extLst>
      <p:ext uri="{BB962C8B-B14F-4D97-AF65-F5344CB8AC3E}">
        <p14:creationId xmlns:p14="http://schemas.microsoft.com/office/powerpoint/2010/main" val="1475153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r>
              <a:rPr lang="es-ES" sz="1200" dirty="0"/>
              <a:t>Hacer las negociaciones más eficientes para todas las partes. Esto es  la </a:t>
            </a:r>
            <a:r>
              <a:rPr lang="es-ES" sz="1200" b="1" u="sng" dirty="0"/>
              <a:t>negociación inteligente</a:t>
            </a:r>
            <a:r>
              <a:rPr lang="es-ES" sz="1200" dirty="0"/>
              <a:t>.</a:t>
            </a:r>
          </a:p>
          <a:p>
            <a:r>
              <a:rPr lang="es-ES" sz="1200" b="1" u="sng" dirty="0"/>
              <a:t>El buen negociador debe reconocer que:</a:t>
            </a:r>
          </a:p>
          <a:p>
            <a:pPr marL="342900" indent="-342900">
              <a:buFont typeface="+mj-lt"/>
              <a:buAutoNum type="alphaLcParenR"/>
            </a:pPr>
            <a:r>
              <a:rPr lang="es-ES" sz="1200" dirty="0"/>
              <a:t>La negociación se hace con personas con quienes tenemos una relación de interdependencia</a:t>
            </a:r>
          </a:p>
          <a:p>
            <a:pPr marL="342900" indent="-342900">
              <a:buFont typeface="+mj-lt"/>
              <a:buAutoNum type="alphaLcParenR"/>
            </a:pPr>
            <a:r>
              <a:rPr lang="es-ES" sz="1200" dirty="0"/>
              <a:t>La negociación es realmente un proceso en el cual se trata de influir al otro</a:t>
            </a:r>
          </a:p>
          <a:p>
            <a:pPr marL="342900" indent="-342900">
              <a:buFont typeface="+mj-lt"/>
              <a:buAutoNum type="alphaLcParenR"/>
            </a:pPr>
            <a:r>
              <a:rPr lang="es-ES" sz="1200" dirty="0"/>
              <a:t>Queremos que el otro tome una decisión especifica que nos conviene</a:t>
            </a:r>
          </a:p>
          <a:p>
            <a:pPr marL="342900" indent="-342900">
              <a:buFont typeface="+mj-lt"/>
              <a:buAutoNum type="alphaLcParenR"/>
            </a:pPr>
            <a:r>
              <a:rPr lang="es-ES" sz="1200" dirty="0"/>
              <a:t>Debemos analizar las situaciones  que ayudan a que el otro tome tal decisión, así como las que la obstaculizan</a:t>
            </a:r>
          </a:p>
          <a:p>
            <a:pPr marL="342900" indent="-342900">
              <a:buFont typeface="+mj-lt"/>
              <a:buAutoNum type="alphaLcParenR"/>
            </a:pPr>
            <a:r>
              <a:rPr lang="es-ES" sz="1200" dirty="0"/>
              <a:t>Debemos tener en mente la ganancia mutua y el largo plazo.</a:t>
            </a:r>
            <a:endParaRPr lang="en-AR"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44</a:t>
            </a:fld>
            <a:endParaRPr lang="en-US"/>
          </a:p>
        </p:txBody>
      </p:sp>
    </p:spTree>
    <p:extLst>
      <p:ext uri="{BB962C8B-B14F-4D97-AF65-F5344CB8AC3E}">
        <p14:creationId xmlns:p14="http://schemas.microsoft.com/office/powerpoint/2010/main" val="129313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t>© 2010 Capgemini. All rights reserved.</a:t>
            </a:r>
          </a:p>
        </p:txBody>
      </p:sp>
      <p:sp>
        <p:nvSpPr>
          <p:cNvPr id="5" name="Slide Number Placeholder 4"/>
          <p:cNvSpPr>
            <a:spLocks noGrp="1"/>
          </p:cNvSpPr>
          <p:nvPr>
            <p:ph type="sldNum" sz="quarter" idx="11"/>
          </p:nvPr>
        </p:nvSpPr>
        <p:spPr/>
        <p:txBody>
          <a:bodyPr/>
          <a:lstStyle/>
          <a:p>
            <a:fld id="{CBC04D6F-FB7D-4867-9F14-E50918222406}" type="slidenum">
              <a:rPr lang="en-US" smtClean="0"/>
              <a:pPr/>
              <a:t>45</a:t>
            </a:fld>
            <a:endParaRPr lang="en-US"/>
          </a:p>
        </p:txBody>
      </p:sp>
    </p:spTree>
    <p:extLst>
      <p:ext uri="{BB962C8B-B14F-4D97-AF65-F5344CB8AC3E}">
        <p14:creationId xmlns:p14="http://schemas.microsoft.com/office/powerpoint/2010/main" val="2620046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838200" y="582613"/>
            <a:ext cx="5376863" cy="3722687"/>
          </a:xfrm>
        </p:spPr>
      </p:sp>
      <p:sp>
        <p:nvSpPr>
          <p:cNvPr id="3" name="Marcador de notas 2"/>
          <p:cNvSpPr>
            <a:spLocks noGrp="1"/>
          </p:cNvSpPr>
          <p:nvPr>
            <p:ph type="body" idx="1"/>
          </p:nvPr>
        </p:nvSpPr>
        <p:spPr/>
        <p:txBody>
          <a:bodyPr/>
          <a:lstStyle/>
          <a:p>
            <a:r>
              <a:rPr lang="es-AR" dirty="0"/>
              <a:t>https://www.youtube.com/watch?v=ep-nqKR39V4&amp;t=6s</a:t>
            </a:r>
          </a:p>
          <a:p>
            <a:endParaRPr lang="es-AR" dirty="0"/>
          </a:p>
        </p:txBody>
      </p:sp>
      <p:sp>
        <p:nvSpPr>
          <p:cNvPr id="4" name="Marcador de pie de página 3"/>
          <p:cNvSpPr>
            <a:spLocks noGrp="1"/>
          </p:cNvSpPr>
          <p:nvPr>
            <p:ph type="ftr" sz="quarter" idx="4"/>
          </p:nvPr>
        </p:nvSpPr>
        <p:spPr/>
        <p:txBody>
          <a:bodyPr/>
          <a:lstStyle/>
          <a:p>
            <a:r>
              <a:rPr lang="en-US"/>
              <a:t>© 2010 Capgemini. All rights reserved.</a:t>
            </a:r>
          </a:p>
        </p:txBody>
      </p:sp>
      <p:sp>
        <p:nvSpPr>
          <p:cNvPr id="5" name="Marcador de número de diapositiva 4"/>
          <p:cNvSpPr>
            <a:spLocks noGrp="1"/>
          </p:cNvSpPr>
          <p:nvPr>
            <p:ph type="sldNum" sz="quarter" idx="5"/>
          </p:nvPr>
        </p:nvSpPr>
        <p:spPr/>
        <p:txBody>
          <a:bodyPr/>
          <a:lstStyle/>
          <a:p>
            <a:fld id="{CBC04D6F-FB7D-4867-9F14-E50918222406}" type="slidenum">
              <a:rPr lang="en-US" smtClean="0"/>
              <a:pPr/>
              <a:t>46</a:t>
            </a:fld>
            <a:endParaRPr lang="en-US"/>
          </a:p>
        </p:txBody>
      </p:sp>
    </p:spTree>
    <p:extLst>
      <p:ext uri="{BB962C8B-B14F-4D97-AF65-F5344CB8AC3E}">
        <p14:creationId xmlns:p14="http://schemas.microsoft.com/office/powerpoint/2010/main" val="3412428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38200" y="582613"/>
            <a:ext cx="5376863" cy="3722687"/>
          </a:xfrm>
        </p:spPr>
      </p:sp>
      <p:sp>
        <p:nvSpPr>
          <p:cNvPr id="3" name="Notes Placeholder 2"/>
          <p:cNvSpPr>
            <a:spLocks noGrp="1"/>
          </p:cNvSpPr>
          <p:nvPr>
            <p:ph type="body" idx="1"/>
          </p:nvPr>
        </p:nvSpPr>
        <p:spPr/>
        <p:txBody>
          <a:bodyPr>
            <a:normAutofit fontScale="92500" lnSpcReduction="20000"/>
          </a:bodyPr>
          <a:lstStyle/>
          <a:p>
            <a:r>
              <a:rPr lang="es-ES" b="1" u="sng" dirty="0"/>
              <a:t>Alternativas: </a:t>
            </a:r>
            <a:r>
              <a:rPr lang="es-ES" dirty="0"/>
              <a:t>Una alternativa es una posibilidad que tiene el negociador de efectuar un acuerdo diferente al que se está planeando realizar en la mesa de negociación.</a:t>
            </a:r>
            <a:r>
              <a:rPr lang="es-AR" dirty="0"/>
              <a:t> Cuando un sindicato está negociando los salarios con la empresa, la realización de </a:t>
            </a:r>
            <a:r>
              <a:rPr lang="es-AR" b="1" dirty="0"/>
              <a:t>un paro de actividades es una alternativa al acuerdo</a:t>
            </a:r>
            <a:r>
              <a:rPr lang="es-AR" dirty="0"/>
              <a:t>.</a:t>
            </a:r>
          </a:p>
          <a:p>
            <a:r>
              <a:rPr lang="es-ES" dirty="0"/>
              <a:t>Si se tiene más alternativas se tendrá generalmente más poder de negociación.</a:t>
            </a:r>
          </a:p>
          <a:p>
            <a:endParaRPr lang="es-ES" dirty="0"/>
          </a:p>
          <a:p>
            <a:r>
              <a:rPr lang="es-ES" b="1" u="sng" dirty="0"/>
              <a:t>Intereses: </a:t>
            </a:r>
            <a:r>
              <a:rPr lang="es-ES" dirty="0"/>
              <a:t>La fase de exploración de intereses es quizás la fase más importante de una negociación.  Deberá preguntarse, por qué están los negociadores en la mesa, qué es lo que necesitan para quedar satisfechos, qué los motiva etc.</a:t>
            </a:r>
          </a:p>
          <a:p>
            <a:endParaRPr lang="es-ES" dirty="0"/>
          </a:p>
          <a:p>
            <a:r>
              <a:rPr lang="es-ES" b="1" u="sng" dirty="0"/>
              <a:t>Opciones: </a:t>
            </a:r>
            <a:r>
              <a:rPr lang="es-ES" dirty="0"/>
              <a:t>Se deberán </a:t>
            </a:r>
            <a:r>
              <a:rPr lang="es-ES" b="1" dirty="0"/>
              <a:t>generar opciones de acuerdo </a:t>
            </a:r>
            <a:r>
              <a:rPr lang="es-ES" dirty="0"/>
              <a:t>en las cuales se encuentre un </a:t>
            </a:r>
            <a:r>
              <a:rPr lang="es-ES" u="sng" dirty="0"/>
              <a:t>beneficio mutuo para las partes</a:t>
            </a:r>
            <a:r>
              <a:rPr lang="es-ES" dirty="0"/>
              <a:t>.  Es importante la participación de todas las partes en la generación de soluciones. </a:t>
            </a:r>
            <a:r>
              <a:rPr lang="es-ES" i="1" dirty="0"/>
              <a:t>“…nadie trabaja motivado en la solución de un problema cuando no tuvo ninguna participación en el diseño de tal solución</a:t>
            </a:r>
            <a:r>
              <a:rPr lang="es-ES" dirty="0"/>
              <a:t>”.</a:t>
            </a:r>
          </a:p>
          <a:p>
            <a:endParaRPr lang="es-ES" dirty="0"/>
          </a:p>
          <a:p>
            <a:r>
              <a:rPr lang="es-ES" b="1" u="sng" dirty="0"/>
              <a:t>Criterios: </a:t>
            </a:r>
            <a:r>
              <a:rPr lang="es-ES" dirty="0"/>
              <a:t>Las soluciones que se platean y los procedimientos a utilizar deben ser legítimos. Generalmente analizado por personas externas a la negociación. Ante un reclamo salarial establecer el porcentaje, la modalidad de pago etc. debe ser analizado dentro del marco de ley.</a:t>
            </a:r>
          </a:p>
          <a:p>
            <a:endParaRPr lang="es-ES" b="1" u="sng" dirty="0"/>
          </a:p>
          <a:p>
            <a:r>
              <a:rPr lang="es-ES" b="1" u="sng" dirty="0"/>
              <a:t>Compromiso: </a:t>
            </a:r>
            <a:r>
              <a:rPr lang="es-ES" dirty="0"/>
              <a:t>Una vez evaluadas y aceptadas las opciones pasarán a formar parte del acuerdo, debe </a:t>
            </a:r>
            <a:r>
              <a:rPr lang="es-ES" b="1" dirty="0"/>
              <a:t>crearse un compromiso </a:t>
            </a:r>
            <a:r>
              <a:rPr lang="es-ES" dirty="0"/>
              <a:t>mutuo para su cumplimiento. Si acorde dar un aumento salarial el mes próximo no puedo no cumplir con el pago ya que rompería el acuerdo.</a:t>
            </a:r>
          </a:p>
          <a:p>
            <a:endParaRPr lang="es-ES" dirty="0"/>
          </a:p>
          <a:p>
            <a:r>
              <a:rPr lang="es-ES" b="1" u="sng" dirty="0"/>
              <a:t>Comunicación: </a:t>
            </a:r>
            <a:r>
              <a:rPr lang="es-ES" dirty="0"/>
              <a:t> Para lograr una buena NEGOCIACIÓN es necesario una buena COMUNICACIÓN. No basta con creer que nos comunicamos bien., es necesario verificar la real calidad de comunicación.</a:t>
            </a:r>
          </a:p>
          <a:p>
            <a:r>
              <a:rPr lang="es-ES" dirty="0"/>
              <a:t>Finalizado el acuerdo es importante que trasmitamos a todos los involucrados la resolución del conflicto de manera clara y sencilla. Informar a los trabajadores el aumento salarial que se otorgará, cómo y cuando lo cobrarán etc. Hará que todos cuenten con la información precisa sin distorsiones.</a:t>
            </a:r>
          </a:p>
          <a:p>
            <a:endParaRPr lang="es-ES" dirty="0"/>
          </a:p>
          <a:p>
            <a:r>
              <a:rPr lang="es-ES" b="1" u="sng" dirty="0"/>
              <a:t>Relación: </a:t>
            </a:r>
            <a:r>
              <a:rPr lang="es-ES" dirty="0"/>
              <a:t>Está en constante riesgo durante toda la negociación. El negociador debe tener esto claro y mantener una buena relación con las partes negociadoras. Manteniendo una relación a largo plazo</a:t>
            </a:r>
            <a:endParaRPr lang="en-AR" dirty="0"/>
          </a:p>
        </p:txBody>
      </p:sp>
      <p:sp>
        <p:nvSpPr>
          <p:cNvPr id="4" name="Footer Placeholder 3"/>
          <p:cNvSpPr>
            <a:spLocks noGrp="1"/>
          </p:cNvSpPr>
          <p:nvPr>
            <p:ph type="ftr" sz="quarter" idx="4"/>
          </p:nvPr>
        </p:nvSpPr>
        <p:spPr/>
        <p:txBody>
          <a:bodyPr/>
          <a:lstStyle/>
          <a:p>
            <a:r>
              <a:rPr lang="en-US"/>
              <a:t>© 2010 Capgemini. All rights reserved.</a:t>
            </a:r>
          </a:p>
        </p:txBody>
      </p:sp>
      <p:sp>
        <p:nvSpPr>
          <p:cNvPr id="5" name="Slide Number Placeholder 4"/>
          <p:cNvSpPr>
            <a:spLocks noGrp="1"/>
          </p:cNvSpPr>
          <p:nvPr>
            <p:ph type="sldNum" sz="quarter" idx="5"/>
          </p:nvPr>
        </p:nvSpPr>
        <p:spPr/>
        <p:txBody>
          <a:bodyPr/>
          <a:lstStyle/>
          <a:p>
            <a:fld id="{CBC04D6F-FB7D-4867-9F14-E50918222406}" type="slidenum">
              <a:rPr lang="en-US" smtClean="0"/>
              <a:pPr/>
              <a:t>47</a:t>
            </a:fld>
            <a:endParaRPr lang="en-US"/>
          </a:p>
        </p:txBody>
      </p:sp>
    </p:spTree>
    <p:extLst>
      <p:ext uri="{BB962C8B-B14F-4D97-AF65-F5344CB8AC3E}">
        <p14:creationId xmlns:p14="http://schemas.microsoft.com/office/powerpoint/2010/main" val="1066024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38"/>
            <a:ext cx="84201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13"/>
            <a:ext cx="84201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536576"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5448301"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872973" y="273063"/>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51"/>
            <a:ext cx="2414588"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536579" y="274651"/>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95CB1A9-4471-4C51-A550-2202B95AD651}" type="slidenum">
              <a:rPr lang="es-AR" smtClean="0"/>
              <a:pPr/>
              <a:t>‹Nº›</a:t>
            </a:fld>
            <a:endParaRPr lang="es-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People">
    <p:spTree>
      <p:nvGrpSpPr>
        <p:cNvPr id="1" name=""/>
        <p:cNvGrpSpPr/>
        <p:nvPr/>
      </p:nvGrpSpPr>
      <p:grpSpPr>
        <a:xfrm>
          <a:off x="0" y="0"/>
          <a:ext cx="0" cy="0"/>
          <a:chOff x="0" y="0"/>
          <a:chExt cx="0" cy="0"/>
        </a:xfrm>
      </p:grpSpPr>
      <p:sp>
        <p:nvSpPr>
          <p:cNvPr id="11" name="Rectangle 26"/>
          <p:cNvSpPr>
            <a:spLocks noChangeArrowheads="1"/>
          </p:cNvSpPr>
          <p:nvPr userDrawn="1"/>
        </p:nvSpPr>
        <p:spPr bwMode="auto">
          <a:xfrm>
            <a:off x="-7943" y="6286506"/>
            <a:ext cx="9907200" cy="17463"/>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
        <p:nvSpPr>
          <p:cNvPr id="12" name="Rectangle 26"/>
          <p:cNvSpPr>
            <a:spLocks noChangeArrowheads="1"/>
          </p:cNvSpPr>
          <p:nvPr userDrawn="1"/>
        </p:nvSpPr>
        <p:spPr bwMode="auto">
          <a:xfrm>
            <a:off x="-24977" y="1196965"/>
            <a:ext cx="9907200" cy="17463"/>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sp>
        <p:nvSpPr>
          <p:cNvPr id="4" name="Rectangle 26"/>
          <p:cNvSpPr>
            <a:spLocks noChangeArrowheads="1"/>
          </p:cNvSpPr>
          <p:nvPr userDrawn="1"/>
        </p:nvSpPr>
        <p:spPr bwMode="auto">
          <a:xfrm>
            <a:off x="-24977" y="1196965"/>
            <a:ext cx="9907200" cy="17463"/>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acts Info">
    <p:spTree>
      <p:nvGrpSpPr>
        <p:cNvPr id="1" name=""/>
        <p:cNvGrpSpPr/>
        <p:nvPr/>
      </p:nvGrpSpPr>
      <p:grpSpPr>
        <a:xfrm>
          <a:off x="0" y="0"/>
          <a:ext cx="0" cy="0"/>
          <a:chOff x="0" y="0"/>
          <a:chExt cx="0" cy="0"/>
        </a:xfrm>
      </p:grpSpPr>
      <p:sp>
        <p:nvSpPr>
          <p:cNvPr id="13" name="Rectangle 19"/>
          <p:cNvSpPr>
            <a:spLocks noGrp="1" noChangeArrowheads="1"/>
          </p:cNvSpPr>
          <p:nvPr>
            <p:ph type="sldNum" sz="quarter" idx="4"/>
          </p:nvPr>
        </p:nvSpPr>
        <p:spPr bwMode="auto">
          <a:xfrm>
            <a:off x="9649367" y="6732001"/>
            <a:ext cx="250637" cy="104644"/>
          </a:xfrm>
          <a:prstGeom prst="rect">
            <a:avLst/>
          </a:prstGeom>
          <a:noFill/>
          <a:ln w="9525">
            <a:noFill/>
            <a:miter lim="800000"/>
            <a:headEnd/>
            <a:tailEnd/>
          </a:ln>
          <a:effectLst/>
        </p:spPr>
        <p:txBody>
          <a:bodyPr vert="horz" wrap="none" lIns="36000" tIns="0" rIns="36000" bIns="0" numCol="1" anchor="ctr" anchorCtr="0" compatLnSpc="1">
            <a:prstTxWarp prst="textNoShape">
              <a:avLst/>
            </a:prstTxWarp>
            <a:spAutoFit/>
          </a:bodyPr>
          <a:lstStyle>
            <a:lvl1pPr algn="r" eaLnBrk="0" hangingPunct="0">
              <a:lnSpc>
                <a:spcPct val="85000"/>
              </a:lnSpc>
              <a:defRPr sz="800" b="0">
                <a:solidFill>
                  <a:srgbClr val="000000"/>
                </a:solidFill>
                <a:latin typeface="Arial" charset="0"/>
                <a:cs typeface="Arial" charset="0"/>
              </a:defRPr>
            </a:lvl1pPr>
          </a:lstStyle>
          <a:p>
            <a:pPr>
              <a:defRPr/>
            </a:pPr>
            <a:fld id="{9D48B0A8-A3BB-4090-A486-05597CC74740}" type="slidenum">
              <a:rPr lang="en-US" noProof="0"/>
              <a:pPr>
                <a:defRPr/>
              </a:pPr>
              <a:t>‹Nº›</a:t>
            </a:fld>
            <a:endParaRPr lang="en-US" noProof="0" dirty="0"/>
          </a:p>
        </p:txBody>
      </p:sp>
      <p:pic>
        <p:nvPicPr>
          <p:cNvPr id="14" name="Picture 13" descr="images (1).jpg"/>
          <p:cNvPicPr>
            <a:picLocks noChangeAspect="1"/>
          </p:cNvPicPr>
          <p:nvPr userDrawn="1"/>
        </p:nvPicPr>
        <p:blipFill>
          <a:blip r:embed="rId2"/>
          <a:srcRect t="47743" r="60369" b="19890"/>
          <a:stretch>
            <a:fillRect/>
          </a:stretch>
        </p:blipFill>
        <p:spPr>
          <a:xfrm>
            <a:off x="6357982" y="2571750"/>
            <a:ext cx="3524240" cy="4286255"/>
          </a:xfrm>
          <a:prstGeom prst="rect">
            <a:avLst/>
          </a:prstGeom>
        </p:spPr>
      </p:pic>
      <p:pic>
        <p:nvPicPr>
          <p:cNvPr id="69" name="Picture 68" descr="images (1).jpg"/>
          <p:cNvPicPr>
            <a:picLocks noChangeAspect="1"/>
          </p:cNvPicPr>
          <p:nvPr userDrawn="1"/>
        </p:nvPicPr>
        <p:blipFill>
          <a:blip r:embed="rId2">
            <a:grayscl/>
          </a:blip>
          <a:srcRect l="58790" r="-1000" b="67294"/>
          <a:stretch>
            <a:fillRect/>
          </a:stretch>
        </p:blipFill>
        <p:spPr>
          <a:xfrm>
            <a:off x="0" y="0"/>
            <a:ext cx="2724146" cy="3143248"/>
          </a:xfrm>
          <a:prstGeom prst="rect">
            <a:avLst/>
          </a:prstGeom>
        </p:spPr>
      </p:pic>
      <p:sp>
        <p:nvSpPr>
          <p:cNvPr id="73" name="Rectangle 26"/>
          <p:cNvSpPr>
            <a:spLocks noChangeArrowheads="1"/>
          </p:cNvSpPr>
          <p:nvPr userDrawn="1"/>
        </p:nvSpPr>
        <p:spPr bwMode="auto">
          <a:xfrm flipV="1">
            <a:off x="3309926" y="1214428"/>
            <a:ext cx="6572296" cy="45719"/>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
        <p:nvSpPr>
          <p:cNvPr id="74" name="Rectangle 26"/>
          <p:cNvSpPr>
            <a:spLocks noChangeArrowheads="1"/>
          </p:cNvSpPr>
          <p:nvPr userDrawn="1"/>
        </p:nvSpPr>
        <p:spPr bwMode="auto">
          <a:xfrm flipH="1">
            <a:off x="0" y="5715022"/>
            <a:ext cx="5524504" cy="45719"/>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Carátula">
    <p:spTree>
      <p:nvGrpSpPr>
        <p:cNvPr id="1" name=""/>
        <p:cNvGrpSpPr/>
        <p:nvPr/>
      </p:nvGrpSpPr>
      <p:grpSpPr>
        <a:xfrm>
          <a:off x="0" y="0"/>
          <a:ext cx="0" cy="0"/>
          <a:chOff x="0" y="0"/>
          <a:chExt cx="0" cy="0"/>
        </a:xfrm>
      </p:grpSpPr>
      <p:sp>
        <p:nvSpPr>
          <p:cNvPr id="11" name="Rectangle 26"/>
          <p:cNvSpPr>
            <a:spLocks noChangeArrowheads="1"/>
          </p:cNvSpPr>
          <p:nvPr userDrawn="1"/>
        </p:nvSpPr>
        <p:spPr bwMode="auto">
          <a:xfrm>
            <a:off x="-11026" y="6180974"/>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algn="ctr" eaLnBrk="0" hangingPunct="0">
              <a:lnSpc>
                <a:spcPct val="85000"/>
              </a:lnSpc>
              <a:defRPr/>
            </a:pPr>
            <a:endParaRPr lang="en-US" sz="1660" noProof="0"/>
          </a:p>
        </p:txBody>
      </p:sp>
      <p:sp>
        <p:nvSpPr>
          <p:cNvPr id="4" name="Rectangle 26"/>
          <p:cNvSpPr>
            <a:spLocks noChangeArrowheads="1"/>
          </p:cNvSpPr>
          <p:nvPr userDrawn="1"/>
        </p:nvSpPr>
        <p:spPr bwMode="auto">
          <a:xfrm>
            <a:off x="600" y="666663"/>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algn="ctr" eaLnBrk="0" hangingPunct="0">
              <a:lnSpc>
                <a:spcPct val="85000"/>
              </a:lnSpc>
              <a:defRPr/>
            </a:pPr>
            <a:endParaRPr lang="en-US" sz="1660" noProof="0"/>
          </a:p>
        </p:txBody>
      </p:sp>
    </p:spTree>
    <p:extLst>
      <p:ext uri="{BB962C8B-B14F-4D97-AF65-F5344CB8AC3E}">
        <p14:creationId xmlns:p14="http://schemas.microsoft.com/office/powerpoint/2010/main" val="339622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11"/>
          </p:nvPr>
        </p:nvSpPr>
        <p:spPr/>
        <p:txBody>
          <a:bodyPr/>
          <a:lstStyle/>
          <a:p>
            <a:endParaRPr lang="es-AR">
              <a:solidFill>
                <a:prstClr val="black">
                  <a:tint val="75000"/>
                </a:prstClr>
              </a:solidFill>
            </a:endParaRPr>
          </a:p>
        </p:txBody>
      </p:sp>
      <p:sp>
        <p:nvSpPr>
          <p:cNvPr id="6" name="Slide Number Placeholder 5"/>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630254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11"/>
          </p:nvPr>
        </p:nvSpPr>
        <p:spPr/>
        <p:txBody>
          <a:bodyPr/>
          <a:lstStyle/>
          <a:p>
            <a:endParaRPr lang="es-AR">
              <a:solidFill>
                <a:prstClr val="black">
                  <a:tint val="75000"/>
                </a:prstClr>
              </a:solidFill>
            </a:endParaRPr>
          </a:p>
        </p:txBody>
      </p:sp>
      <p:sp>
        <p:nvSpPr>
          <p:cNvPr id="6" name="Slide Number Placeholder 5"/>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3285170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5880" y="1709742"/>
            <a:ext cx="8543925"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880" y="4589467"/>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11"/>
          </p:nvPr>
        </p:nvSpPr>
        <p:spPr/>
        <p:txBody>
          <a:bodyPr/>
          <a:lstStyle/>
          <a:p>
            <a:endParaRPr lang="es-AR">
              <a:solidFill>
                <a:prstClr val="black">
                  <a:tint val="75000"/>
                </a:prstClr>
              </a:solidFill>
            </a:endParaRPr>
          </a:p>
        </p:txBody>
      </p:sp>
      <p:sp>
        <p:nvSpPr>
          <p:cNvPr id="6" name="Slide Number Placeholder 5"/>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25420316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6" name="Footer Placeholder 5"/>
          <p:cNvSpPr>
            <a:spLocks noGrp="1"/>
          </p:cNvSpPr>
          <p:nvPr>
            <p:ph type="ftr" sz="quarter" idx="11"/>
          </p:nvPr>
        </p:nvSpPr>
        <p:spPr/>
        <p:txBody>
          <a:bodyPr/>
          <a:lstStyle/>
          <a:p>
            <a:endParaRPr lang="es-AR">
              <a:solidFill>
                <a:prstClr val="black">
                  <a:tint val="75000"/>
                </a:prstClr>
              </a:solidFill>
            </a:endParaRPr>
          </a:p>
        </p:txBody>
      </p:sp>
      <p:sp>
        <p:nvSpPr>
          <p:cNvPr id="7" name="Slide Number Placeholder 6"/>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28827048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82329" y="365129"/>
            <a:ext cx="8543925"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2330"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82330" y="2505075"/>
            <a:ext cx="4190702"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014913" y="2505075"/>
            <a:ext cx="4211340"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8" name="Footer Placeholder 7"/>
          <p:cNvSpPr>
            <a:spLocks noGrp="1"/>
          </p:cNvSpPr>
          <p:nvPr>
            <p:ph type="ftr" sz="quarter" idx="11"/>
          </p:nvPr>
        </p:nvSpPr>
        <p:spPr/>
        <p:txBody>
          <a:bodyPr/>
          <a:lstStyle/>
          <a:p>
            <a:endParaRPr lang="es-AR">
              <a:solidFill>
                <a:prstClr val="black">
                  <a:tint val="75000"/>
                </a:prstClr>
              </a:solidFill>
            </a:endParaRPr>
          </a:p>
        </p:txBody>
      </p:sp>
      <p:sp>
        <p:nvSpPr>
          <p:cNvPr id="9" name="Slide Number Placeholder 8"/>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1159859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4" name="Footer Placeholder 3"/>
          <p:cNvSpPr>
            <a:spLocks noGrp="1"/>
          </p:cNvSpPr>
          <p:nvPr>
            <p:ph type="ftr" sz="quarter" idx="11"/>
          </p:nvPr>
        </p:nvSpPr>
        <p:spPr/>
        <p:txBody>
          <a:bodyPr/>
          <a:lstStyle/>
          <a:p>
            <a:endParaRPr lang="es-AR">
              <a:solidFill>
                <a:prstClr val="black">
                  <a:tint val="75000"/>
                </a:prstClr>
              </a:solidFill>
            </a:endParaRPr>
          </a:p>
        </p:txBody>
      </p:sp>
      <p:sp>
        <p:nvSpPr>
          <p:cNvPr id="5" name="Slide Number Placeholder 4"/>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37915953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3" name="Footer Placeholder 2"/>
          <p:cNvSpPr>
            <a:spLocks noGrp="1"/>
          </p:cNvSpPr>
          <p:nvPr>
            <p:ph type="ftr" sz="quarter" idx="11"/>
          </p:nvPr>
        </p:nvSpPr>
        <p:spPr/>
        <p:txBody>
          <a:bodyPr/>
          <a:lstStyle/>
          <a:p>
            <a:endParaRPr lang="es-AR">
              <a:solidFill>
                <a:prstClr val="black">
                  <a:tint val="75000"/>
                </a:prstClr>
              </a:solidFill>
            </a:endParaRPr>
          </a:p>
        </p:txBody>
      </p:sp>
      <p:sp>
        <p:nvSpPr>
          <p:cNvPr id="4" name="Slide Number Placeholder 3"/>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3350942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2329" y="457200"/>
            <a:ext cx="3194943"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211341" y="987429"/>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2329"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6" name="Footer Placeholder 5"/>
          <p:cNvSpPr>
            <a:spLocks noGrp="1"/>
          </p:cNvSpPr>
          <p:nvPr>
            <p:ph type="ftr" sz="quarter" idx="11"/>
          </p:nvPr>
        </p:nvSpPr>
        <p:spPr/>
        <p:txBody>
          <a:bodyPr/>
          <a:lstStyle/>
          <a:p>
            <a:endParaRPr lang="es-AR">
              <a:solidFill>
                <a:prstClr val="black">
                  <a:tint val="75000"/>
                </a:prstClr>
              </a:solidFill>
            </a:endParaRPr>
          </a:p>
        </p:txBody>
      </p:sp>
      <p:sp>
        <p:nvSpPr>
          <p:cNvPr id="7" name="Slide Number Placeholder 6"/>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41351246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2329" y="457200"/>
            <a:ext cx="3194943"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211341" y="987429"/>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2329"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6" name="Footer Placeholder 5"/>
          <p:cNvSpPr>
            <a:spLocks noGrp="1"/>
          </p:cNvSpPr>
          <p:nvPr>
            <p:ph type="ftr" sz="quarter" idx="11"/>
          </p:nvPr>
        </p:nvSpPr>
        <p:spPr/>
        <p:txBody>
          <a:bodyPr/>
          <a:lstStyle/>
          <a:p>
            <a:endParaRPr lang="es-AR">
              <a:solidFill>
                <a:prstClr val="black">
                  <a:tint val="75000"/>
                </a:prstClr>
              </a:solidFill>
            </a:endParaRPr>
          </a:p>
        </p:txBody>
      </p:sp>
      <p:sp>
        <p:nvSpPr>
          <p:cNvPr id="7" name="Slide Number Placeholder 6"/>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352729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11"/>
          </p:nvPr>
        </p:nvSpPr>
        <p:spPr/>
        <p:txBody>
          <a:bodyPr/>
          <a:lstStyle/>
          <a:p>
            <a:endParaRPr lang="es-AR">
              <a:solidFill>
                <a:prstClr val="black">
                  <a:tint val="75000"/>
                </a:prstClr>
              </a:solidFill>
            </a:endParaRPr>
          </a:p>
        </p:txBody>
      </p:sp>
      <p:sp>
        <p:nvSpPr>
          <p:cNvPr id="6" name="Slide Number Placeholder 5"/>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29319389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11"/>
          </p:nvPr>
        </p:nvSpPr>
        <p:spPr/>
        <p:txBody>
          <a:bodyPr/>
          <a:lstStyle/>
          <a:p>
            <a:endParaRPr lang="es-AR">
              <a:solidFill>
                <a:prstClr val="black">
                  <a:tint val="75000"/>
                </a:prstClr>
              </a:solidFill>
            </a:endParaRPr>
          </a:p>
        </p:txBody>
      </p:sp>
      <p:sp>
        <p:nvSpPr>
          <p:cNvPr id="6" name="Slide Number Placeholder 5"/>
          <p:cNvSpPr>
            <a:spLocks noGrp="1"/>
          </p:cNvSpPr>
          <p:nvPr>
            <p:ph type="sldNum" sz="quarter" idx="12"/>
          </p:nvPr>
        </p:nvSpPr>
        <p:spPr/>
        <p:txBody>
          <a:body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1688533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Carátula">
    <p:spTree>
      <p:nvGrpSpPr>
        <p:cNvPr id="1" name=""/>
        <p:cNvGrpSpPr/>
        <p:nvPr/>
      </p:nvGrpSpPr>
      <p:grpSpPr>
        <a:xfrm>
          <a:off x="0" y="0"/>
          <a:ext cx="0" cy="0"/>
          <a:chOff x="0" y="0"/>
          <a:chExt cx="0" cy="0"/>
        </a:xfrm>
      </p:grpSpPr>
      <p:sp>
        <p:nvSpPr>
          <p:cNvPr id="11" name="Rectangle 26"/>
          <p:cNvSpPr>
            <a:spLocks noChangeArrowheads="1"/>
          </p:cNvSpPr>
          <p:nvPr userDrawn="1"/>
        </p:nvSpPr>
        <p:spPr bwMode="auto">
          <a:xfrm>
            <a:off x="-11026" y="6180974"/>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marL="0" marR="0" lvl="0" indent="0" algn="ctr" defTabSz="914400" rtl="0" eaLnBrk="0" fontAlgn="auto" latinLnBrk="0" hangingPunct="0">
              <a:lnSpc>
                <a:spcPct val="85000"/>
              </a:lnSpc>
              <a:spcBef>
                <a:spcPts val="0"/>
              </a:spcBef>
              <a:spcAft>
                <a:spcPts val="0"/>
              </a:spcAft>
              <a:buClrTx/>
              <a:buSzTx/>
              <a:buFontTx/>
              <a:buNone/>
              <a:tabLst/>
              <a:defRPr/>
            </a:pPr>
            <a:endParaRPr kumimoji="0" lang="en-US" sz="1660" b="0" i="0" u="none" strike="noStrike" kern="1200" cap="none" spc="0" normalizeH="0" baseline="0" noProof="0">
              <a:ln>
                <a:noFill/>
              </a:ln>
              <a:solidFill>
                <a:prstClr val="black"/>
              </a:solidFill>
              <a:effectLst/>
              <a:uLnTx/>
              <a:uFillTx/>
              <a:latin typeface="Calibri"/>
              <a:ea typeface="+mn-ea"/>
              <a:cs typeface="+mn-cs"/>
            </a:endParaRPr>
          </a:p>
        </p:txBody>
      </p:sp>
      <p:sp>
        <p:nvSpPr>
          <p:cNvPr id="4" name="Rectangle 26"/>
          <p:cNvSpPr>
            <a:spLocks noChangeArrowheads="1"/>
          </p:cNvSpPr>
          <p:nvPr userDrawn="1"/>
        </p:nvSpPr>
        <p:spPr bwMode="auto">
          <a:xfrm>
            <a:off x="600" y="666663"/>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marL="0" marR="0" lvl="0" indent="0" algn="ctr" defTabSz="914400" rtl="0" eaLnBrk="0" fontAlgn="auto" latinLnBrk="0" hangingPunct="0">
              <a:lnSpc>
                <a:spcPct val="85000"/>
              </a:lnSpc>
              <a:spcBef>
                <a:spcPts val="0"/>
              </a:spcBef>
              <a:spcAft>
                <a:spcPts val="0"/>
              </a:spcAft>
              <a:buClrTx/>
              <a:buSzTx/>
              <a:buFontTx/>
              <a:buNone/>
              <a:tabLst/>
              <a:defRPr/>
            </a:pPr>
            <a:endParaRPr kumimoji="0" lang="en-US" sz="166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6916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lide">
    <p:spTree>
      <p:nvGrpSpPr>
        <p:cNvPr id="1" name=""/>
        <p:cNvGrpSpPr/>
        <p:nvPr/>
      </p:nvGrpSpPr>
      <p:grpSpPr>
        <a:xfrm>
          <a:off x="0" y="0"/>
          <a:ext cx="0" cy="0"/>
          <a:chOff x="0" y="0"/>
          <a:chExt cx="0" cy="0"/>
        </a:xfrm>
      </p:grpSpPr>
      <p:sp>
        <p:nvSpPr>
          <p:cNvPr id="4" name="Rectangle 26"/>
          <p:cNvSpPr>
            <a:spLocks noChangeArrowheads="1"/>
          </p:cNvSpPr>
          <p:nvPr userDrawn="1"/>
        </p:nvSpPr>
        <p:spPr bwMode="auto">
          <a:xfrm>
            <a:off x="600" y="1091670"/>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marL="0" marR="0" lvl="0" indent="0" algn="ctr" defTabSz="914400" rtl="0" eaLnBrk="0" fontAlgn="auto" latinLnBrk="0" hangingPunct="0">
              <a:lnSpc>
                <a:spcPct val="85000"/>
              </a:lnSpc>
              <a:spcBef>
                <a:spcPts val="0"/>
              </a:spcBef>
              <a:spcAft>
                <a:spcPts val="0"/>
              </a:spcAft>
              <a:buClrTx/>
              <a:buSzTx/>
              <a:buFontTx/>
              <a:buNone/>
              <a:tabLst/>
              <a:defRPr/>
            </a:pPr>
            <a:endParaRPr kumimoji="0" lang="en-US" sz="166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6" descr="Image result for utn frb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03961" y="64398"/>
            <a:ext cx="2828933" cy="952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9860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ido Adicional">
    <p:bg>
      <p:bgPr>
        <a:gradFill flip="none" rotWithShape="1">
          <a:gsLst>
            <a:gs pos="16000">
              <a:schemeClr val="accent3">
                <a:lumMod val="5000"/>
                <a:lumOff val="95000"/>
              </a:schemeClr>
            </a:gs>
            <a:gs pos="46000">
              <a:schemeClr val="bg2"/>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4" name="Rectangle 26"/>
          <p:cNvSpPr>
            <a:spLocks noChangeArrowheads="1"/>
          </p:cNvSpPr>
          <p:nvPr userDrawn="1"/>
        </p:nvSpPr>
        <p:spPr bwMode="auto">
          <a:xfrm>
            <a:off x="600" y="1091670"/>
            <a:ext cx="9924236" cy="45719"/>
          </a:xfrm>
          <a:prstGeom prst="rect">
            <a:avLst/>
          </a:prstGeom>
          <a:gradFill rotWithShape="1">
            <a:gsLst>
              <a:gs pos="0">
                <a:schemeClr val="tx2">
                  <a:gamma/>
                  <a:tint val="22353"/>
                  <a:invGamma/>
                </a:schemeClr>
              </a:gs>
              <a:gs pos="100000">
                <a:schemeClr val="tx2"/>
              </a:gs>
            </a:gsLst>
            <a:lin ang="0" scaled="1"/>
          </a:gradFill>
          <a:ln w="9525" algn="ctr">
            <a:noFill/>
            <a:miter lim="800000"/>
          </a:ln>
          <a:effectLst/>
        </p:spPr>
        <p:txBody>
          <a:bodyPr wrap="none" anchor="ctr"/>
          <a:lstStyle/>
          <a:p>
            <a:pPr marL="0" marR="0" lvl="0" indent="0" algn="ctr" defTabSz="914400" rtl="0" eaLnBrk="0" fontAlgn="auto" latinLnBrk="0" hangingPunct="0">
              <a:lnSpc>
                <a:spcPct val="85000"/>
              </a:lnSpc>
              <a:spcBef>
                <a:spcPts val="0"/>
              </a:spcBef>
              <a:spcAft>
                <a:spcPts val="0"/>
              </a:spcAft>
              <a:buClrTx/>
              <a:buSzTx/>
              <a:buFontTx/>
              <a:buNone/>
              <a:tabLst/>
              <a:defRPr/>
            </a:pPr>
            <a:endParaRPr kumimoji="0" lang="en-US" sz="166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6" descr="Image result for utn frb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03961" y="64398"/>
            <a:ext cx="2828933" cy="952745"/>
          </a:xfrm>
          <a:prstGeom prst="rect">
            <a:avLst/>
          </a:prstGeom>
          <a:noFill/>
          <a:extLst>
            <a:ext uri="{909E8E84-426E-40DD-AFC4-6F175D3DCCD1}">
              <a14:hiddenFill xmlns:a14="http://schemas.microsoft.com/office/drawing/2010/main">
                <a:solidFill>
                  <a:srgbClr val="FFFFFF"/>
                </a:solidFill>
              </a14:hiddenFill>
            </a:ext>
          </a:extLst>
        </p:spPr>
      </p:pic>
      <p:sp>
        <p:nvSpPr>
          <p:cNvPr id="6" name="Shape 52"/>
          <p:cNvSpPr txBox="1"/>
          <p:nvPr userDrawn="1"/>
        </p:nvSpPr>
        <p:spPr>
          <a:xfrm>
            <a:off x="113214" y="-23"/>
            <a:ext cx="7160623" cy="1097303"/>
          </a:xfrm>
          <a:prstGeom prst="rect">
            <a:avLst/>
          </a:prstGeom>
          <a:noFill/>
          <a:ln>
            <a:noFill/>
          </a:ln>
        </p:spPr>
        <p:txBody>
          <a:bodyPr lIns="72000" tIns="252000" rIns="72000" bIns="36000" anchor="ctr" anchorCtr="0">
            <a:noAutofit/>
          </a:bodyPr>
          <a:lstStyle/>
          <a:p>
            <a:pPr marL="714375" marR="0" lvl="0" indent="-714375" algn="l" defTabSz="914400" rtl="0" eaLnBrk="1" fontAlgn="auto" latinLnBrk="0" hangingPunct="1">
              <a:lnSpc>
                <a:spcPct val="90000"/>
              </a:lnSpc>
              <a:spcBef>
                <a:spcPts val="0"/>
              </a:spcBef>
              <a:spcAft>
                <a:spcPts val="0"/>
              </a:spcAft>
              <a:buClrTx/>
              <a:buSzPct val="25000"/>
              <a:buFontTx/>
              <a:buNone/>
              <a:tabLst/>
              <a:defRPr/>
            </a:pPr>
            <a:endParaRPr kumimoji="0" lang="es-AR" sz="2400" b="1" i="0" u="none" strike="noStrike" kern="1200" cap="none" spc="0" normalizeH="0" baseline="0" noProof="0" dirty="0">
              <a:ln>
                <a:noFill/>
              </a:ln>
              <a:solidFill>
                <a:srgbClr val="932328"/>
              </a:solidFill>
              <a:effectLst/>
              <a:uLnTx/>
              <a:uFillTx/>
              <a:latin typeface="Calibri"/>
              <a:ea typeface="+mn-ea"/>
              <a:cs typeface="+mn-cs"/>
            </a:endParaRPr>
          </a:p>
          <a:p>
            <a:pPr marL="714375" marR="0" lvl="0" indent="-714375" algn="l" defTabSz="914400" rtl="0" eaLnBrk="1" fontAlgn="auto" latinLnBrk="0" hangingPunct="1">
              <a:lnSpc>
                <a:spcPct val="90000"/>
              </a:lnSpc>
              <a:spcBef>
                <a:spcPts val="0"/>
              </a:spcBef>
              <a:spcAft>
                <a:spcPts val="0"/>
              </a:spcAft>
              <a:buClrTx/>
              <a:buSzPct val="25000"/>
              <a:buFontTx/>
              <a:buNone/>
              <a:tabLst/>
              <a:defRPr/>
            </a:pPr>
            <a:r>
              <a:rPr kumimoji="0" lang="es-AR" sz="2800" b="1" i="0" u="none" strike="noStrike" kern="1200" cap="none" spc="0" normalizeH="0" baseline="0" noProof="0" dirty="0">
                <a:ln>
                  <a:noFill/>
                </a:ln>
                <a:solidFill>
                  <a:srgbClr val="932328"/>
                </a:solidFill>
                <a:effectLst/>
                <a:uLnTx/>
                <a:uFillTx/>
                <a:latin typeface="Arial Narrow" panose="020B0606020202030204"/>
                <a:ea typeface="Arial Narrow" panose="020B0606020202030204"/>
                <a:cs typeface="Arial Narrow" panose="020B0606020202030204"/>
                <a:sym typeface="Arial Narrow" panose="020B0606020202030204"/>
              </a:rPr>
              <a:t>Contenido Adicional</a:t>
            </a:r>
          </a:p>
        </p:txBody>
      </p:sp>
      <p:sp>
        <p:nvSpPr>
          <p:cNvPr id="10" name="Content Placeholder 2"/>
          <p:cNvSpPr>
            <a:spLocks noGrp="1"/>
          </p:cNvSpPr>
          <p:nvPr>
            <p:ph idx="1"/>
          </p:nvPr>
        </p:nvSpPr>
        <p:spPr>
          <a:xfrm>
            <a:off x="251347" y="1211913"/>
            <a:ext cx="9462448" cy="547549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25636884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5168167" y="4770000"/>
            <a:ext cx="4327873" cy="1566000"/>
          </a:xfrm>
        </p:spPr>
        <p:txBody>
          <a:bodyPr/>
          <a:lstStyle>
            <a:lvl1pPr>
              <a:spcBef>
                <a:spcPct val="9000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5168167" y="1620000"/>
            <a:ext cx="4327873" cy="2631000"/>
          </a:xfrm>
          <a:noFill/>
        </p:spPr>
        <p:txBody>
          <a:bodyPr vert="horz" lIns="0" tIns="180000" rIns="0" bIns="0" rtlCol="0" anchor="t" anchorCtr="0">
            <a:noAutofit/>
          </a:bodyPr>
          <a:lstStyle>
            <a:lvl1pPr marL="0" indent="0" algn="ctr" defTabSz="1088390" rtl="0" eaLnBrk="1" latinLnBrk="0" hangingPunct="1">
              <a:spcBef>
                <a:spcPts val="1445"/>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p>
        </p:txBody>
      </p:sp>
      <p:sp>
        <p:nvSpPr>
          <p:cNvPr id="3" name="Text placeholder 1"/>
          <p:cNvSpPr>
            <a:spLocks noGrp="1"/>
          </p:cNvSpPr>
          <p:nvPr>
            <p:ph type="body" sz="quarter" idx="10" hasCustomPrompt="1"/>
          </p:nvPr>
        </p:nvSpPr>
        <p:spPr>
          <a:xfrm>
            <a:off x="409395" y="4770000"/>
            <a:ext cx="4327873" cy="1566000"/>
          </a:xfrm>
        </p:spPr>
        <p:txBody>
          <a:bodyPr/>
          <a:lstStyle>
            <a:lvl1pPr>
              <a:spcBef>
                <a:spcPct val="90000"/>
              </a:spcBef>
              <a:defRPr sz="1350"/>
            </a:lvl1pPr>
            <a:lvl2pPr>
              <a:defRPr sz="1200"/>
            </a:lvl2pPr>
            <a:lvl3pPr>
              <a:defRPr sz="105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409395" y="1620000"/>
            <a:ext cx="4327873" cy="2631000"/>
          </a:xfrm>
          <a:noFill/>
        </p:spPr>
        <p:txBody>
          <a:bodyPr vert="horz" lIns="0" tIns="180000" rIns="0" bIns="0" rtlCol="0" anchor="t" anchorCtr="0">
            <a:noAutofit/>
          </a:bodyPr>
          <a:lstStyle>
            <a:lvl1pPr marL="0" indent="0" algn="ctr" defTabSz="1088390" rtl="0" eaLnBrk="1" latinLnBrk="0" hangingPunct="1">
              <a:spcBef>
                <a:spcPts val="1445"/>
              </a:spcBef>
              <a:buClr>
                <a:schemeClr val="accent1"/>
              </a:buClr>
              <a:buSzPct val="80000"/>
              <a:buFontTx/>
              <a:buNone/>
              <a:defRPr lang="de-DE" sz="1200" b="0" kern="1200" dirty="0">
                <a:solidFill>
                  <a:schemeClr val="tx1"/>
                </a:solidFill>
                <a:latin typeface="+mn-lt"/>
                <a:ea typeface="+mn-ea"/>
                <a:cs typeface="+mn-cs"/>
              </a:defRPr>
            </a:lvl1pPr>
          </a:lstStyle>
          <a:p>
            <a:r>
              <a:rPr lang="en-US" dirty="0"/>
              <a:t>Click icon to add image or pictogram</a:t>
            </a:r>
          </a:p>
        </p:txBody>
      </p:sp>
      <p:sp>
        <p:nvSpPr>
          <p:cNvPr id="2" name="Title"/>
          <p:cNvSpPr>
            <a:spLocks noGrp="1"/>
          </p:cNvSpPr>
          <p:nvPr>
            <p:ph type="title" hasCustomPrompt="1"/>
          </p:nvPr>
        </p:nvSpPr>
        <p:spPr>
          <a:xfrm>
            <a:off x="409394" y="504000"/>
            <a:ext cx="908664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3538710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sp>
        <p:nvSpPr>
          <p:cNvPr id="4" name="Rectangle 26"/>
          <p:cNvSpPr>
            <a:spLocks noChangeArrowheads="1"/>
          </p:cNvSpPr>
          <p:nvPr userDrawn="1"/>
        </p:nvSpPr>
        <p:spPr bwMode="auto">
          <a:xfrm>
            <a:off x="-24977" y="1196965"/>
            <a:ext cx="9907200" cy="17463"/>
          </a:xfrm>
          <a:prstGeom prst="rect">
            <a:avLst/>
          </a:prstGeom>
          <a:gradFill rotWithShape="1">
            <a:gsLst>
              <a:gs pos="0">
                <a:schemeClr val="tx2">
                  <a:gamma/>
                  <a:tint val="22353"/>
                  <a:invGamma/>
                </a:schemeClr>
              </a:gs>
              <a:gs pos="100000">
                <a:schemeClr val="tx2"/>
              </a:gs>
            </a:gsLst>
            <a:lin ang="0" scaled="1"/>
          </a:gradFill>
          <a:ln w="9525" algn="ctr">
            <a:noFill/>
            <a:miter lim="800000"/>
            <a:headEnd/>
            <a:tailEnd/>
          </a:ln>
          <a:effectLst/>
        </p:spPr>
        <p:txBody>
          <a:bodyPr wrap="none" anchor="ctr"/>
          <a:lstStyle/>
          <a:p>
            <a:pPr algn="ctr" eaLnBrk="0" hangingPunct="0">
              <a:lnSpc>
                <a:spcPct val="85000"/>
              </a:lnSpc>
              <a:defRPr/>
            </a:pPr>
            <a:endParaRPr lang="en-US" sz="1800" noProof="0"/>
          </a:p>
        </p:txBody>
      </p:sp>
    </p:spTree>
    <p:extLst>
      <p:ext uri="{BB962C8B-B14F-4D97-AF65-F5344CB8AC3E}">
        <p14:creationId xmlns:p14="http://schemas.microsoft.com/office/powerpoint/2010/main" val="1086651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Cover-People">
    <p:spTree>
      <p:nvGrpSpPr>
        <p:cNvPr id="1" name="Shape 13"/>
        <p:cNvGrpSpPr/>
        <p:nvPr/>
      </p:nvGrpSpPr>
      <p:grpSpPr>
        <a:xfrm>
          <a:off x="0" y="0"/>
          <a:ext cx="0" cy="0"/>
          <a:chOff x="0" y="0"/>
          <a:chExt cx="0" cy="0"/>
        </a:xfrm>
      </p:grpSpPr>
      <p:sp>
        <p:nvSpPr>
          <p:cNvPr id="14" name="Shape 14"/>
          <p:cNvSpPr/>
          <p:nvPr/>
        </p:nvSpPr>
        <p:spPr>
          <a:xfrm>
            <a:off x="-7943" y="6286500"/>
            <a:ext cx="9907200" cy="17462"/>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 name="Shape 15"/>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7869625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_Diapositiva de título">
    <p:spTree>
      <p:nvGrpSpPr>
        <p:cNvPr id="1" name="Shape 16"/>
        <p:cNvGrpSpPr/>
        <p:nvPr/>
      </p:nvGrpSpPr>
      <p:grpSpPr>
        <a:xfrm>
          <a:off x="0" y="0"/>
          <a:ext cx="0" cy="0"/>
          <a:chOff x="0" y="0"/>
          <a:chExt cx="0" cy="0"/>
        </a:xfrm>
      </p:grpSpPr>
      <p:sp>
        <p:nvSpPr>
          <p:cNvPr id="17" name="Shape 17"/>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4827134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Contacts Info">
    <p:spTree>
      <p:nvGrpSpPr>
        <p:cNvPr id="1" name="Shape 18"/>
        <p:cNvGrpSpPr/>
        <p:nvPr/>
      </p:nvGrpSpPr>
      <p:grpSpPr>
        <a:xfrm>
          <a:off x="0" y="0"/>
          <a:ext cx="0" cy="0"/>
          <a:chOff x="0" y="0"/>
          <a:chExt cx="0" cy="0"/>
        </a:xfrm>
      </p:grpSpPr>
      <p:sp>
        <p:nvSpPr>
          <p:cNvPr id="19" name="Shape 19"/>
          <p:cNvSpPr txBox="1">
            <a:spLocks noGrp="1"/>
          </p:cNvSpPr>
          <p:nvPr>
            <p:ph type="sldNum" idx="12"/>
          </p:nvPr>
        </p:nvSpPr>
        <p:spPr>
          <a:xfrm>
            <a:off x="9648001" y="6732000"/>
            <a:ext cx="251999" cy="104774"/>
          </a:xfrm>
          <a:prstGeom prst="rect">
            <a:avLst/>
          </a:prstGeom>
          <a:noFill/>
          <a:ln>
            <a:noFill/>
          </a:ln>
        </p:spPr>
        <p:txBody>
          <a:bodyPr lIns="36000" tIns="0" rIns="36000" bIns="0" anchor="ctr" anchorCtr="0">
            <a:noAutofit/>
          </a:bodyPr>
          <a:lstStyle/>
          <a:p>
            <a:pPr algn="r">
              <a:lnSpc>
                <a:spcPct val="85000"/>
              </a:lnSpc>
              <a:buSzPct val="25000"/>
            </a:pPr>
            <a:fld id="{00000000-1234-1234-1234-123412341234}" type="slidenum">
              <a:rPr lang="es-AR" sz="800" smtClean="0">
                <a:solidFill>
                  <a:srgbClr val="000000"/>
                </a:solidFill>
                <a:ea typeface="Arial" panose="020B0604020202020204"/>
                <a:cs typeface="Arial" panose="020B0604020202020204"/>
                <a:sym typeface="Arial" panose="020B0604020202020204"/>
              </a:rPr>
              <a:pPr algn="r">
                <a:lnSpc>
                  <a:spcPct val="85000"/>
                </a:lnSpc>
                <a:buSzPct val="25000"/>
              </a:pPr>
              <a:t>‹Nº›</a:t>
            </a:fld>
            <a:endParaRPr lang="es-AR" sz="800">
              <a:solidFill>
                <a:srgbClr val="000000"/>
              </a:solidFill>
              <a:ea typeface="Arial" panose="020B0604020202020204"/>
              <a:cs typeface="Arial" panose="020B0604020202020204"/>
              <a:sym typeface="Arial" panose="020B0604020202020204"/>
            </a:endParaRPr>
          </a:p>
        </p:txBody>
      </p:sp>
      <p:pic>
        <p:nvPicPr>
          <p:cNvPr id="20" name="Shape 20" descr="images (1).jpg"/>
          <p:cNvPicPr preferRelativeResize="0"/>
          <p:nvPr/>
        </p:nvPicPr>
        <p:blipFill>
          <a:blip/>
        </p:blipFill>
        <p:spPr>
          <a:xfrm>
            <a:off x="6357983" y="2571745"/>
            <a:ext cx="3524239" cy="4286255"/>
          </a:xfrm>
          <a:prstGeom prst="rect">
            <a:avLst/>
          </a:prstGeom>
          <a:solidFill>
            <a:srgbClr val="FFFFFF"/>
          </a:solidFill>
          <a:ln>
            <a:noFill/>
          </a:ln>
        </p:spPr>
      </p:pic>
      <p:pic>
        <p:nvPicPr>
          <p:cNvPr id="21" name="Shape 21" descr="images (1).jpg"/>
          <p:cNvPicPr preferRelativeResize="0"/>
          <p:nvPr/>
        </p:nvPicPr>
        <p:blipFill>
          <a:blip/>
        </p:blipFill>
        <p:spPr>
          <a:xfrm>
            <a:off x="0" y="2"/>
            <a:ext cx="2724146" cy="3143247"/>
          </a:xfrm>
          <a:prstGeom prst="rect">
            <a:avLst/>
          </a:prstGeom>
          <a:solidFill>
            <a:srgbClr val="FFFFFF"/>
          </a:solidFill>
          <a:ln>
            <a:noFill/>
          </a:ln>
        </p:spPr>
      </p:pic>
      <p:sp>
        <p:nvSpPr>
          <p:cNvPr id="22" name="Shape 22"/>
          <p:cNvSpPr/>
          <p:nvPr/>
        </p:nvSpPr>
        <p:spPr>
          <a:xfrm rot="10800000" flipH="1">
            <a:off x="3309926" y="1214422"/>
            <a:ext cx="6572296" cy="45718"/>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23" name="Shape 23"/>
          <p:cNvSpPr/>
          <p:nvPr/>
        </p:nvSpPr>
        <p:spPr>
          <a:xfrm flipH="1">
            <a:off x="0" y="5715016"/>
            <a:ext cx="5524504" cy="45718"/>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336680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5" Type="http://schemas.openxmlformats.org/officeDocument/2006/relationships/image" Target="../media/image4.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95300" y="1600206"/>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95300" y="635636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530F3-7EFE-4112-9D74-948C86366DFD}" type="datetimeFigureOut">
              <a:rPr lang="es-AR" smtClean="0"/>
              <a:pPr/>
              <a:t>3/9/2024</a:t>
            </a:fld>
            <a:endParaRPr lang="es-AR"/>
          </a:p>
        </p:txBody>
      </p:sp>
      <p:sp>
        <p:nvSpPr>
          <p:cNvPr id="5" name="4 Marcador de pie de página"/>
          <p:cNvSpPr>
            <a:spLocks noGrp="1"/>
          </p:cNvSpPr>
          <p:nvPr>
            <p:ph type="ftr" sz="quarter" idx="3"/>
          </p:nvPr>
        </p:nvSpPr>
        <p:spPr>
          <a:xfrm>
            <a:off x="3384550" y="635636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7099300" y="6356363"/>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5CB1A9-4471-4C51-A550-2202B95AD651}" type="slidenum">
              <a:rPr lang="es-AR" smtClean="0"/>
              <a:pPr/>
              <a:t>‹Nº›</a:t>
            </a:fld>
            <a:endParaRPr lang="es-AR"/>
          </a:p>
        </p:txBody>
      </p:sp>
      <p:pic>
        <p:nvPicPr>
          <p:cNvPr id="7" name="Picture 9" descr="images.jpg"/>
          <p:cNvPicPr>
            <a:picLocks noChangeAspect="1"/>
          </p:cNvPicPr>
          <p:nvPr userDrawn="1"/>
        </p:nvPicPr>
        <p:blipFill>
          <a:blip r:embed="rId17"/>
          <a:stretch>
            <a:fillRect/>
          </a:stretch>
        </p:blipFill>
        <p:spPr>
          <a:xfrm>
            <a:off x="6667512" y="1"/>
            <a:ext cx="3238489" cy="1165856"/>
          </a:xfrm>
          <a:prstGeom prst="rect">
            <a:avLst/>
          </a:prstGeom>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668" r:id="rId14"/>
    <p:sldLayoutId id="2147483725" r:id="rId15"/>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9"/>
            <a:ext cx="8543925"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81038" y="6356354"/>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E9E19-E626-487A-81CB-26BA7B8E2B87}" type="datetimeFigureOut">
              <a:rPr lang="es-AR" smtClean="0">
                <a:solidFill>
                  <a:prstClr val="black">
                    <a:tint val="75000"/>
                  </a:prstClr>
                </a:solidFill>
              </a:rPr>
              <a:pPr/>
              <a:t>3/9/2024</a:t>
            </a:fld>
            <a:endParaRPr lang="es-AR">
              <a:solidFill>
                <a:prstClr val="black">
                  <a:tint val="75000"/>
                </a:prstClr>
              </a:solidFill>
            </a:endParaRPr>
          </a:p>
        </p:txBody>
      </p:sp>
      <p:sp>
        <p:nvSpPr>
          <p:cNvPr id="5" name="Footer Placeholder 4"/>
          <p:cNvSpPr>
            <a:spLocks noGrp="1"/>
          </p:cNvSpPr>
          <p:nvPr>
            <p:ph type="ftr" sz="quarter" idx="3"/>
          </p:nvPr>
        </p:nvSpPr>
        <p:spPr>
          <a:xfrm>
            <a:off x="3281363" y="6356354"/>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solidFill>
                <a:prstClr val="black">
                  <a:tint val="75000"/>
                </a:prstClr>
              </a:solidFill>
            </a:endParaRPr>
          </a:p>
        </p:txBody>
      </p:sp>
      <p:sp>
        <p:nvSpPr>
          <p:cNvPr id="6" name="Slide Number Placeholder 5"/>
          <p:cNvSpPr>
            <a:spLocks noGrp="1"/>
          </p:cNvSpPr>
          <p:nvPr>
            <p:ph type="sldNum" sz="quarter" idx="4"/>
          </p:nvPr>
        </p:nvSpPr>
        <p:spPr>
          <a:xfrm>
            <a:off x="6996113" y="6356354"/>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879BB-B8DD-49CD-ADA8-F441CC14F524}" type="slidenum">
              <a:rPr lang="es-AR" smtClean="0">
                <a:solidFill>
                  <a:prstClr val="black">
                    <a:tint val="75000"/>
                  </a:prstClr>
                </a:solidFill>
              </a:rPr>
              <a:pPr/>
              <a:t>‹Nº›</a:t>
            </a:fld>
            <a:endParaRPr lang="es-AR">
              <a:solidFill>
                <a:prstClr val="black">
                  <a:tint val="75000"/>
                </a:prstClr>
              </a:solidFill>
            </a:endParaRPr>
          </a:p>
        </p:txBody>
      </p:sp>
    </p:spTree>
    <p:extLst>
      <p:ext uri="{BB962C8B-B14F-4D97-AF65-F5344CB8AC3E}">
        <p14:creationId xmlns:p14="http://schemas.microsoft.com/office/powerpoint/2010/main" val="276594877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0" y="2"/>
            <a:ext cx="9906000" cy="1187999"/>
          </a:xfrm>
          <a:prstGeom prst="rect">
            <a:avLst/>
          </a:prstGeom>
          <a:noFill/>
          <a:ln>
            <a:noFill/>
          </a:ln>
        </p:spPr>
        <p:txBody>
          <a:bodyPr lIns="91425" tIns="91425" rIns="91425" bIns="91425" anchor="ctr" anchorCtr="0"/>
          <a:lstStyle>
            <a:lvl1pPr marL="714375" marR="0" lvl="0" indent="-714375" algn="ctr" rtl="0">
              <a:lnSpc>
                <a:spcPct val="90000"/>
              </a:lnSpc>
              <a:spcBef>
                <a:spcPts val="0"/>
              </a:spcBef>
              <a:spcAft>
                <a:spcPts val="0"/>
              </a:spcAft>
              <a:buClr>
                <a:schemeClr val="dk2"/>
              </a:buClr>
              <a:buFont typeface="Arial Narrow" panose="020B0606020202030204"/>
              <a:buNone/>
              <a:defRPr sz="3000" b="1" i="0" u="none" strike="noStrike" cap="none">
                <a:solidFill>
                  <a:schemeClr val="dk2"/>
                </a:solidFill>
                <a:latin typeface="Arial Narrow" panose="020B0606020202030204"/>
                <a:ea typeface="Arial Narrow" panose="020B0606020202030204"/>
                <a:cs typeface="Arial Narrow" panose="020B0606020202030204"/>
                <a:sym typeface="Arial Narrow" panose="020B06060202020302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0" name="Shape 10"/>
          <p:cNvSpPr/>
          <p:nvPr/>
        </p:nvSpPr>
        <p:spPr>
          <a:xfrm>
            <a:off x="-7943" y="6286500"/>
            <a:ext cx="9907200" cy="17462"/>
          </a:xfrm>
          <a:prstGeom prst="rect">
            <a:avLst/>
          </a:prstGeom>
          <a:gradFill>
            <a:gsLst>
              <a:gs pos="0">
                <a:srgbClr val="E3EDF5"/>
              </a:gs>
              <a:gs pos="100000">
                <a:schemeClr val="dk2"/>
              </a:gs>
            </a:gsLst>
            <a:lin ang="0" scaled="0"/>
          </a:gradFill>
          <a:ln>
            <a:noFill/>
          </a:ln>
        </p:spPr>
        <p:txBody>
          <a:bodyPr lIns="91425" tIns="45700" rIns="91425" bIns="45700" anchor="ctr" anchorCtr="0">
            <a:noAutofit/>
          </a:bodyPr>
          <a:lstStyle/>
          <a:p>
            <a:pPr marL="0" marR="0" lvl="0" indent="0" algn="ctr" rtl="0">
              <a:lnSpc>
                <a:spcPct val="85000"/>
              </a:lnSpc>
              <a:spcBef>
                <a:spcPts val="0"/>
              </a:spcBef>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 name="Shape 11"/>
          <p:cNvSpPr txBox="1">
            <a:spLocks noGrp="1"/>
          </p:cNvSpPr>
          <p:nvPr>
            <p:ph type="body" idx="1"/>
          </p:nvPr>
        </p:nvSpPr>
        <p:spPr>
          <a:xfrm>
            <a:off x="0" y="1440002"/>
            <a:ext cx="9906000" cy="4679999"/>
          </a:xfrm>
          <a:prstGeom prst="rect">
            <a:avLst/>
          </a:prstGeom>
          <a:noFill/>
          <a:ln>
            <a:noFill/>
          </a:ln>
        </p:spPr>
        <p:txBody>
          <a:bodyPr lIns="91425" tIns="91425" rIns="91425" bIns="91425" anchor="t" anchorCtr="0"/>
          <a:lstStyle>
            <a:lvl1pPr marL="269875" marR="0" lvl="0" indent="-117475" algn="l" rtl="0">
              <a:spcBef>
                <a:spcPts val="480"/>
              </a:spcBef>
              <a:spcAft>
                <a:spcPts val="0"/>
              </a:spcAft>
              <a:buClr>
                <a:schemeClr val="dk2"/>
              </a:buClr>
              <a:buSzPct val="100000"/>
              <a:buFont typeface="Noto Sans Symbols"/>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539750" marR="0" lvl="1" indent="-44450" algn="l" rtl="0">
              <a:spcBef>
                <a:spcPts val="400"/>
              </a:spcBef>
              <a:spcAft>
                <a:spcPts val="0"/>
              </a:spcAft>
              <a:buClr>
                <a:schemeClr val="accent2"/>
              </a:buClr>
              <a:buSzPct val="100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717550" marR="0" lvl="2" indent="-69850" algn="l" rtl="0">
              <a:spcBef>
                <a:spcPts val="360"/>
              </a:spcBef>
              <a:spcAft>
                <a:spcPts val="0"/>
              </a:spcAft>
              <a:buClr>
                <a:schemeClr val="accent1"/>
              </a:buClr>
              <a:buSzPct val="100000"/>
              <a:buFont typeface="Courier New" panose="02070309020205020404"/>
              <a:buChar char="o"/>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987425" marR="0" lvl="3" indent="-85725" algn="l" rtl="0">
              <a:spcBef>
                <a:spcPts val="320"/>
              </a:spcBef>
              <a:spcAft>
                <a:spcPts val="0"/>
              </a:spcAft>
              <a:buClr>
                <a:schemeClr val="accent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257300" marR="0" lvl="4" indent="-88900" algn="l" rtl="0">
              <a:spcBef>
                <a:spcPts val="280"/>
              </a:spcBef>
              <a:spcAft>
                <a:spcPts val="0"/>
              </a:spcAft>
              <a:buClr>
                <a:schemeClr val="dk1"/>
              </a:buClr>
              <a:buSzPct val="1000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514600" marR="0" lvl="5" indent="-101600" algn="l" rtl="0">
              <a:spcBef>
                <a:spcPts val="400"/>
              </a:spcBef>
              <a:buClr>
                <a:schemeClr val="dk1"/>
              </a:buClr>
              <a:buSzPct val="100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971800" marR="0" lvl="6" indent="-101600" algn="l" rtl="0">
              <a:spcBef>
                <a:spcPts val="400"/>
              </a:spcBef>
              <a:buClr>
                <a:schemeClr val="dk1"/>
              </a:buClr>
              <a:buSzPct val="100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429000" marR="0" lvl="7" indent="-101600" algn="l" rtl="0">
              <a:spcBef>
                <a:spcPts val="400"/>
              </a:spcBef>
              <a:buClr>
                <a:schemeClr val="dk1"/>
              </a:buClr>
              <a:buSzPct val="100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886200" marR="0" lvl="8" indent="-101600" algn="l" rtl="0">
              <a:spcBef>
                <a:spcPts val="400"/>
              </a:spcBef>
              <a:buClr>
                <a:schemeClr val="dk1"/>
              </a:buClr>
              <a:buSzPct val="100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pic>
        <p:nvPicPr>
          <p:cNvPr id="6" name="Picture 6" descr="Resultado de imagen para utn regional buenos aires ingenieria industrial"/>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060820" y="7937"/>
            <a:ext cx="2857500" cy="1095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439529"/>
      </p:ext>
    </p:extLst>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25.png"/><Relationship Id="rId4" Type="http://schemas.openxmlformats.org/officeDocument/2006/relationships/diagramData" Target="../diagrams/data1.xml"/><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2.xml"/><Relationship Id="rId7" Type="http://schemas.openxmlformats.org/officeDocument/2006/relationships/image" Target="../media/image27.png"/><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jpeg"/></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4.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36.jpeg"/><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3.sv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3.sv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9.png"/><Relationship Id="rId1" Type="http://schemas.openxmlformats.org/officeDocument/2006/relationships/slideLayout" Target="../slideLayouts/slideLayout13.xml"/><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5.sv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diagramLayout" Target="../diagrams/layout5.xml"/><Relationship Id="rId7" Type="http://schemas.openxmlformats.org/officeDocument/2006/relationships/image" Target="../media/image14.png"/><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7.sv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4.tiff"/><Relationship Id="rId1" Type="http://schemas.openxmlformats.org/officeDocument/2006/relationships/slideLayout" Target="../slideLayouts/slideLayout13.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48.tiff"/><Relationship Id="rId7" Type="http://schemas.openxmlformats.org/officeDocument/2006/relationships/image" Target="../media/image19.svg"/><Relationship Id="rId2" Type="http://schemas.openxmlformats.org/officeDocument/2006/relationships/image" Target="../media/image47.tiff"/><Relationship Id="rId1" Type="http://schemas.openxmlformats.org/officeDocument/2006/relationships/slideLayout" Target="../slideLayouts/slideLayout13.xml"/><Relationship Id="rId6" Type="http://schemas.openxmlformats.org/officeDocument/2006/relationships/image" Target="../media/image18.png"/><Relationship Id="rId5" Type="http://schemas.microsoft.com/office/2007/relationships/hdphoto" Target="../media/hdphoto1.wdp"/><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hyperlink" Target="https://es.wikipedia.org/wiki/UPCN" TargetMode="External"/><Relationship Id="rId13" Type="http://schemas.openxmlformats.org/officeDocument/2006/relationships/hyperlink" Target="https://es.wikipedia.org/wiki/Uni%C3%B3n_Obrera_Metal%C3%BArgica" TargetMode="External"/><Relationship Id="rId18" Type="http://schemas.openxmlformats.org/officeDocument/2006/relationships/hyperlink" Target="https://es.wikipedia.org/wiki/Ram%C3%B3n_Ayala" TargetMode="External"/><Relationship Id="rId26" Type="http://schemas.openxmlformats.org/officeDocument/2006/relationships/hyperlink" Target="https://es.wikipedia.org/wiki/Roberto_Fern%C3%A1ndez" TargetMode="External"/><Relationship Id="rId3" Type="http://schemas.openxmlformats.org/officeDocument/2006/relationships/hyperlink" Target="https://es.wikipedia.org/wiki/FAECYS" TargetMode="External"/><Relationship Id="rId21" Type="http://schemas.openxmlformats.org/officeDocument/2006/relationships/hyperlink" Target="https://es.wikipedia.org/wiki/Federaci%C3%B3n_Argentina_de_Trabajadores_de_Luz_y_Fuerza" TargetMode="External"/><Relationship Id="rId7" Type="http://schemas.openxmlformats.org/officeDocument/2006/relationships/hyperlink" Target="https://es.wikipedia.org/wiki/Gerardo_Mart%C3%ADnez" TargetMode="External"/><Relationship Id="rId12" Type="http://schemas.openxmlformats.org/officeDocument/2006/relationships/hyperlink" Target="https://es.wikipedia.org/w/index.php?title=Carlos_West_Ocampo&amp;action=edit&amp;redlink=1" TargetMode="External"/><Relationship Id="rId17" Type="http://schemas.openxmlformats.org/officeDocument/2006/relationships/hyperlink" Target="https://es.wikipedia.org/wiki/UATRE" TargetMode="External"/><Relationship Id="rId25" Type="http://schemas.openxmlformats.org/officeDocument/2006/relationships/hyperlink" Target="https://es.wikipedia.org/wiki/Uni%C3%B3n_Tranviarios_Automotor" TargetMode="External"/><Relationship Id="rId2" Type="http://schemas.openxmlformats.org/officeDocument/2006/relationships/notesSlide" Target="../notesSlides/notesSlide13.xml"/><Relationship Id="rId16" Type="http://schemas.openxmlformats.org/officeDocument/2006/relationships/hyperlink" Target="https://es.wikipedia.org/wiki/Luis_Barrionuevo" TargetMode="External"/><Relationship Id="rId20" Type="http://schemas.openxmlformats.org/officeDocument/2006/relationships/hyperlink" Target="https://es.wikipedia.org/w/index.php?title=Ricardo_Alberto_Pignanelli&amp;action=edit&amp;redlink=1" TargetMode="External"/><Relationship Id="rId29" Type="http://schemas.openxmlformats.org/officeDocument/2006/relationships/hyperlink" Target="https://es.wikipedia.org/wiki/Confederaci%C3%B3n_de_Educadores_Argentinos" TargetMode="External"/><Relationship Id="rId1" Type="http://schemas.openxmlformats.org/officeDocument/2006/relationships/slideLayout" Target="../slideLayouts/slideLayout13.xml"/><Relationship Id="rId6" Type="http://schemas.openxmlformats.org/officeDocument/2006/relationships/hyperlink" Target="https://es.wikipedia.org/wiki/UOCRA" TargetMode="External"/><Relationship Id="rId11" Type="http://schemas.openxmlformats.org/officeDocument/2006/relationships/hyperlink" Target="https://es.wikipedia.org/w/index.php?title=FATSA&amp;action=edit&amp;redlink=1" TargetMode="External"/><Relationship Id="rId24" Type="http://schemas.openxmlformats.org/officeDocument/2006/relationships/hyperlink" Target="https://es.wikipedia.org/w/index.php?title=Pablo_Moyano&amp;action=edit&amp;redlink=1" TargetMode="External"/><Relationship Id="rId32" Type="http://schemas.openxmlformats.org/officeDocument/2006/relationships/image" Target="../media/image19.svg"/><Relationship Id="rId5" Type="http://schemas.openxmlformats.org/officeDocument/2006/relationships/hyperlink" Target="https://es.wikipedia.org/w/index.php?title=Armando_Cavalieri&amp;action=edit&amp;redlink=1" TargetMode="External"/><Relationship Id="rId15" Type="http://schemas.openxmlformats.org/officeDocument/2006/relationships/hyperlink" Target="https://es.wikipedia.org/w/index.php?title=UTGRHA&amp;action=edit&amp;redlink=1" TargetMode="External"/><Relationship Id="rId23" Type="http://schemas.openxmlformats.org/officeDocument/2006/relationships/hyperlink" Target="https://es.wikipedia.org/w/index.php?title=FNTC&amp;action=edit&amp;redlink=1" TargetMode="External"/><Relationship Id="rId28" Type="http://schemas.openxmlformats.org/officeDocument/2006/relationships/hyperlink" Target="https://es.wikipedia.org/w/index.php?title=Sergio_Omar_Palazzo&amp;action=edit&amp;redlink=1" TargetMode="External"/><Relationship Id="rId10" Type="http://schemas.openxmlformats.org/officeDocument/2006/relationships/hyperlink" Target="https://es.wikipedia.org/w/index.php?title=Luis_Bernab%C3%A9_Moran&amp;action=edit&amp;redlink=1" TargetMode="External"/><Relationship Id="rId19" Type="http://schemas.openxmlformats.org/officeDocument/2006/relationships/hyperlink" Target="https://es.wikipedia.org/wiki/SMATA" TargetMode="External"/><Relationship Id="rId31" Type="http://schemas.openxmlformats.org/officeDocument/2006/relationships/image" Target="../media/image18.png"/><Relationship Id="rId4" Type="http://schemas.openxmlformats.org/officeDocument/2006/relationships/hyperlink" Target="https://es.wikipedia.org/wiki/Confederaci%C3%B3n_General_del_Trabajo_de_la_Rep%C3%BAblica_Argentina" TargetMode="External"/><Relationship Id="rId9" Type="http://schemas.openxmlformats.org/officeDocument/2006/relationships/hyperlink" Target="https://es.wikipedia.org/wiki/Andr%C3%A9s_Rodr%C3%ADguez" TargetMode="External"/><Relationship Id="rId14" Type="http://schemas.openxmlformats.org/officeDocument/2006/relationships/hyperlink" Target="https://es.wikipedia.org/wiki/Antonio_Cal%C3%B3" TargetMode="External"/><Relationship Id="rId22" Type="http://schemas.openxmlformats.org/officeDocument/2006/relationships/hyperlink" Target="https://es.wikipedia.org/w/index.php?title=Guillermo_Moser&amp;action=edit&amp;redlink=1" TargetMode="External"/><Relationship Id="rId27" Type="http://schemas.openxmlformats.org/officeDocument/2006/relationships/hyperlink" Target="https://es.wikipedia.org/wiki/Asociaci%C3%B3n_Bancaria" TargetMode="External"/><Relationship Id="rId30" Type="http://schemas.openxmlformats.org/officeDocument/2006/relationships/hyperlink" Target="https://es.wikipedia.org/w/index.php?title=Fabi%C3%A1n_Felman&amp;action=edit&amp;redlink=1"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52.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63.png"/><Relationship Id="rId7" Type="http://schemas.openxmlformats.org/officeDocument/2006/relationships/diagramColors" Target="../diagrams/colors6.xm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diagramQuickStyle" Target="../diagrams/quickStyle6.xml"/><Relationship Id="rId5" Type="http://schemas.openxmlformats.org/officeDocument/2006/relationships/diagramLayout" Target="../diagrams/layout6.xml"/><Relationship Id="rId10" Type="http://schemas.openxmlformats.org/officeDocument/2006/relationships/image" Target="../media/image21.svg"/><Relationship Id="rId4" Type="http://schemas.openxmlformats.org/officeDocument/2006/relationships/diagramData" Target="../diagrams/data6.xml"/><Relationship Id="rId9"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1.svg"/></Relationships>
</file>

<file path=ppt/slides/_rels/slide36.xml.rels><?xml version="1.0" encoding="UTF-8" standalone="yes"?>
<Relationships xmlns="http://schemas.openxmlformats.org/package/2006/relationships"><Relationship Id="rId3" Type="http://schemas.openxmlformats.org/officeDocument/2006/relationships/hyperlink" Target="../UTN%20-%20RRHH%202021/RRLL%202021/video1.mp4"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64.jpe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5.png"/><Relationship Id="rId1" Type="http://schemas.openxmlformats.org/officeDocument/2006/relationships/slideLayout" Target="../slideLayouts/slideLayout13.xml"/><Relationship Id="rId4" Type="http://schemas.openxmlformats.org/officeDocument/2006/relationships/image" Target="../media/image21.svg"/></Relationships>
</file>

<file path=ppt/slides/_rels/slide38.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image" Target="../media/image66.png"/><Relationship Id="rId7" Type="http://schemas.openxmlformats.org/officeDocument/2006/relationships/image" Target="../media/image68.jpe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21.svg"/><Relationship Id="rId11" Type="http://schemas.openxmlformats.org/officeDocument/2006/relationships/image" Target="../media/image72.jpeg"/><Relationship Id="rId5" Type="http://schemas.openxmlformats.org/officeDocument/2006/relationships/image" Target="../media/image20.png"/><Relationship Id="rId10" Type="http://schemas.openxmlformats.org/officeDocument/2006/relationships/image" Target="../media/image71.jpeg"/><Relationship Id="rId4" Type="http://schemas.openxmlformats.org/officeDocument/2006/relationships/image" Target="../media/image67.svg"/><Relationship Id="rId9" Type="http://schemas.openxmlformats.org/officeDocument/2006/relationships/image" Target="../media/image70.jpeg"/></Relationships>
</file>

<file path=ppt/slides/_rels/slide39.xml.rels><?xml version="1.0" encoding="UTF-8" standalone="yes"?>
<Relationships xmlns="http://schemas.openxmlformats.org/package/2006/relationships"><Relationship Id="rId3" Type="http://schemas.openxmlformats.org/officeDocument/2006/relationships/image" Target="../media/image73.tiff"/><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1.sv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Layout" Target="../diagrams/layout7.xml"/><Relationship Id="rId7" Type="http://schemas.openxmlformats.org/officeDocument/2006/relationships/image" Target="../media/image75.png"/><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23.svg"/></Relationships>
</file>

<file path=ppt/slides/_rels/slide4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8.xml"/><Relationship Id="rId11" Type="http://schemas.openxmlformats.org/officeDocument/2006/relationships/image" Target="../media/image77.png"/><Relationship Id="rId5" Type="http://schemas.openxmlformats.org/officeDocument/2006/relationships/diagramQuickStyle" Target="../diagrams/quickStyle8.xml"/><Relationship Id="rId10" Type="http://schemas.openxmlformats.org/officeDocument/2006/relationships/image" Target="../media/image76.jpeg"/><Relationship Id="rId4" Type="http://schemas.openxmlformats.org/officeDocument/2006/relationships/diagramLayout" Target="../diagrams/layout8.xml"/><Relationship Id="rId9" Type="http://schemas.openxmlformats.org/officeDocument/2006/relationships/image" Target="../media/image23.svg"/></Relationships>
</file>

<file path=ppt/slides/_rels/slide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4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 Id="rId9" Type="http://schemas.openxmlformats.org/officeDocument/2006/relationships/image" Target="../media/image23.svg"/></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23.svg"/></Relationships>
</file>

<file path=ppt/slides/_rels/slide4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79.jpe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64.jpeg"/><Relationship Id="rId5" Type="http://schemas.openxmlformats.org/officeDocument/2006/relationships/hyperlink" Target="https://www.youtube.com/watch?v=ep-nqKR39V4&amp;t=6s" TargetMode="External"/><Relationship Id="rId4" Type="http://schemas.openxmlformats.org/officeDocument/2006/relationships/image" Target="../media/image80.tif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
            <a:ext cx="9905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2" name="Rectangle 4111">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4" name="Rectangle 41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786" y="0"/>
            <a:ext cx="9125793"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Tribuna Abierta. La primera huelga general en Argentina">
            <a:extLst>
              <a:ext uri="{FF2B5EF4-FFF2-40B4-BE49-F238E27FC236}">
                <a16:creationId xmlns:a16="http://schemas.microsoft.com/office/drawing/2014/main" id="{089166F0-1FFC-AD28-5787-27D66EFA17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22" r="-2" b="13160"/>
          <a:stretch/>
        </p:blipFill>
        <p:spPr bwMode="auto">
          <a:xfrm>
            <a:off x="779354" y="364144"/>
            <a:ext cx="8425336" cy="3867993"/>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15">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113739" y="5665420"/>
            <a:ext cx="1463040" cy="371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597CBCCC-3DD6-EB08-3856-5B07EF788638}"/>
              </a:ext>
            </a:extLst>
          </p:cNvPr>
          <p:cNvSpPr txBox="1"/>
          <p:nvPr/>
        </p:nvSpPr>
        <p:spPr>
          <a:xfrm>
            <a:off x="4194709" y="4883546"/>
            <a:ext cx="5351868" cy="1556907"/>
          </a:xfrm>
          <a:prstGeom prst="rect">
            <a:avLst/>
          </a:prstGeom>
        </p:spPr>
        <p:txBody>
          <a:bodyPr vert="horz" lIns="91440" tIns="45720" rIns="91440" bIns="45720" rtlCol="0" anchor="ctr">
            <a:normAutofit/>
          </a:bodyPr>
          <a:lstStyle/>
          <a:p>
            <a:pPr indent="-228600">
              <a:lnSpc>
                <a:spcPct val="150000"/>
              </a:lnSpc>
              <a:spcAft>
                <a:spcPts val="600"/>
              </a:spcAft>
              <a:buFont typeface="Arial" panose="020B0604020202020204" pitchFamily="34" charset="0"/>
              <a:buChar char="•"/>
            </a:pPr>
            <a:r>
              <a:rPr lang="en-US" sz="1600" b="1" dirty="0">
                <a:latin typeface="Tahoma" panose="020B0604030504040204" pitchFamily="34" charset="0"/>
                <a:ea typeface="Tahoma" panose="020B0604030504040204" pitchFamily="34" charset="0"/>
                <a:cs typeface="Tahoma" panose="020B0604030504040204" pitchFamily="34" charset="0"/>
              </a:rPr>
              <a:t>INGENIERIA INDUSTRIAL</a:t>
            </a:r>
          </a:p>
          <a:p>
            <a:pPr indent="-228600">
              <a:lnSpc>
                <a:spcPct val="150000"/>
              </a:lnSpc>
              <a:spcAft>
                <a:spcPts val="600"/>
              </a:spcAft>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CATEDRA RELACIONES INDUSTRIALES 2023</a:t>
            </a:r>
          </a:p>
          <a:p>
            <a:pPr indent="-228600">
              <a:lnSpc>
                <a:spcPct val="150000"/>
              </a:lnSpc>
              <a:spcAft>
                <a:spcPts val="600"/>
              </a:spcAft>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Clase</a:t>
            </a:r>
            <a:r>
              <a:rPr lang="en-US" sz="1600" dirty="0">
                <a:latin typeface="Tahoma" panose="020B0604030504040204" pitchFamily="34" charset="0"/>
                <a:ea typeface="Tahoma" panose="020B0604030504040204" pitchFamily="34" charset="0"/>
                <a:cs typeface="Tahoma" panose="020B0604030504040204" pitchFamily="34" charset="0"/>
              </a:rPr>
              <a:t> 19</a:t>
            </a:r>
            <a:r>
              <a:rPr lang="en-US" sz="1600" i="1" dirty="0">
                <a:latin typeface="Tahoma" panose="020B0604030504040204" pitchFamily="34" charset="0"/>
                <a:ea typeface="Tahoma" panose="020B0604030504040204" pitchFamily="34" charset="0"/>
                <a:cs typeface="Tahoma" panose="020B0604030504040204" pitchFamily="34" charset="0"/>
              </a:rPr>
              <a:t>: </a:t>
            </a:r>
            <a:r>
              <a:rPr lang="en-US" sz="1600" i="1" dirty="0" err="1">
                <a:latin typeface="Tahoma" panose="020B0604030504040204" pitchFamily="34" charset="0"/>
                <a:ea typeface="Tahoma" panose="020B0604030504040204" pitchFamily="34" charset="0"/>
                <a:cs typeface="Tahoma" panose="020B0604030504040204" pitchFamily="34" charset="0"/>
              </a:rPr>
              <a:t>Relaciones</a:t>
            </a:r>
            <a:r>
              <a:rPr lang="en-US" sz="1600" i="1" dirty="0">
                <a:latin typeface="Tahoma" panose="020B0604030504040204" pitchFamily="34" charset="0"/>
                <a:ea typeface="Tahoma" panose="020B0604030504040204" pitchFamily="34" charset="0"/>
                <a:cs typeface="Tahoma" panose="020B0604030504040204" pitchFamily="34" charset="0"/>
              </a:rPr>
              <a:t> </a:t>
            </a:r>
            <a:r>
              <a:rPr lang="en-US" sz="1600" i="1" dirty="0" err="1">
                <a:latin typeface="Tahoma" panose="020B0604030504040204" pitchFamily="34" charset="0"/>
                <a:ea typeface="Tahoma" panose="020B0604030504040204" pitchFamily="34" charset="0"/>
                <a:cs typeface="Tahoma" panose="020B0604030504040204" pitchFamily="34" charset="0"/>
              </a:rPr>
              <a:t>Laborales</a:t>
            </a:r>
            <a:endParaRPr lang="en-US" sz="1600" i="1"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6" descr="Image result for utn frba">
            <a:extLst>
              <a:ext uri="{FF2B5EF4-FFF2-40B4-BE49-F238E27FC236}">
                <a16:creationId xmlns:a16="http://schemas.microsoft.com/office/drawing/2014/main" id="{1D6E64F9-6749-64B2-EA97-6FD36EF828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56" y="5013176"/>
            <a:ext cx="3744416" cy="1366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743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30" name="Google Shape;130;p2"/>
          <p:cNvSpPr txBox="1"/>
          <p:nvPr/>
        </p:nvSpPr>
        <p:spPr>
          <a:xfrm>
            <a:off x="485504" y="-23"/>
            <a:ext cx="6609806" cy="1097303"/>
          </a:xfrm>
          <a:prstGeom prst="rect">
            <a:avLst/>
          </a:prstGeom>
          <a:noFill/>
          <a:ln>
            <a:noFill/>
          </a:ln>
        </p:spPr>
        <p:txBody>
          <a:bodyPr spcFirstLastPara="1" wrap="square" lIns="72000" tIns="252000" rIns="72000" bIns="36000" anchor="ctr" anchorCtr="0">
            <a:noAutofit/>
          </a:bodyPr>
          <a:lstStyle/>
          <a:p>
            <a:pPr marL="580444" indent="-580444">
              <a:lnSpc>
                <a:spcPct val="90000"/>
              </a:lnSpc>
              <a:buClr>
                <a:srgbClr val="000000"/>
              </a:buClr>
              <a:buSzPts val="600"/>
              <a:defRPr/>
            </a:pPr>
            <a:r>
              <a:rPr lang="es-AR" sz="2800" b="1" kern="0" dirty="0">
                <a:solidFill>
                  <a:srgbClr val="932328"/>
                </a:solidFill>
                <a:latin typeface="Tahoma" panose="020B0604030504040204" pitchFamily="34" charset="0"/>
                <a:ea typeface="Tahoma" panose="020B0604030504040204" pitchFamily="34" charset="0"/>
                <a:cs typeface="Tahoma" panose="020B0604030504040204" pitchFamily="34" charset="0"/>
                <a:sym typeface="Arial"/>
              </a:rPr>
              <a:t>Relaciones Industriales 2024</a:t>
            </a:r>
          </a:p>
        </p:txBody>
      </p:sp>
      <p:graphicFrame>
        <p:nvGraphicFramePr>
          <p:cNvPr id="2" name="Marcador de contenido 3">
            <a:extLst>
              <a:ext uri="{FF2B5EF4-FFF2-40B4-BE49-F238E27FC236}">
                <a16:creationId xmlns:a16="http://schemas.microsoft.com/office/drawing/2014/main" id="{D3875E59-97AB-F13A-FB01-032EA081EA27}"/>
              </a:ext>
            </a:extLst>
          </p:cNvPr>
          <p:cNvGraphicFramePr>
            <a:graphicFrameLocks/>
          </p:cNvGraphicFramePr>
          <p:nvPr>
            <p:extLst>
              <p:ext uri="{D42A27DB-BD31-4B8C-83A1-F6EECF244321}">
                <p14:modId xmlns:p14="http://schemas.microsoft.com/office/powerpoint/2010/main" val="2811979400"/>
              </p:ext>
            </p:extLst>
          </p:nvPr>
        </p:nvGraphicFramePr>
        <p:xfrm>
          <a:off x="188794" y="1340768"/>
          <a:ext cx="4548181" cy="4642871"/>
        </p:xfrm>
        <a:graphic>
          <a:graphicData uri="http://schemas.openxmlformats.org/drawingml/2006/table">
            <a:tbl>
              <a:tblPr/>
              <a:tblGrid>
                <a:gridCol w="4548181">
                  <a:extLst>
                    <a:ext uri="{9D8B030D-6E8A-4147-A177-3AD203B41FA5}">
                      <a16:colId xmlns:a16="http://schemas.microsoft.com/office/drawing/2014/main" val="1250056540"/>
                    </a:ext>
                  </a:extLst>
                </a:gridCol>
              </a:tblGrid>
              <a:tr h="33019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solidFill>
                            <a:schemeClr val="tx1"/>
                          </a:solidFill>
                          <a:effectLst/>
                          <a:latin typeface="Calibri" panose="020F0502020204030204" pitchFamily="34" charset="0"/>
                          <a:cs typeface="Calibri" panose="020F0502020204030204" pitchFamily="34" charset="0"/>
                        </a:rPr>
                        <a:t>Las Organizaciones y Rol de RRHH</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mpd="sng">
                      <a:solidFill>
                        <a:srgbClr val="FFC000"/>
                      </a:solidFill>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85804914"/>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Motivación, </a:t>
                      </a:r>
                      <a:r>
                        <a:rPr lang="es-AR" sz="2000" b="0" u="none" strike="noStrike" dirty="0" err="1">
                          <a:solidFill>
                            <a:schemeClr val="tx1"/>
                          </a:solidFill>
                          <a:effectLst/>
                          <a:latin typeface="Calibri" panose="020F0502020204030204" pitchFamily="34" charset="0"/>
                          <a:cs typeface="Calibri" panose="020F0502020204030204" pitchFamily="34" charset="0"/>
                        </a:rPr>
                        <a:t>Engagement</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36962628"/>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Comunicación y Coaching</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49318553"/>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marR="0" algn="l" rtl="0" fontAlgn="ctr">
                        <a:lnSpc>
                          <a:spcPct val="100000"/>
                        </a:lnSpc>
                        <a:spcBef>
                          <a:spcPts val="0"/>
                        </a:spcBef>
                        <a:spcAft>
                          <a:spcPts val="0"/>
                        </a:spcAft>
                        <a:buClr>
                          <a:srgbClr val="000000"/>
                        </a:buClr>
                        <a:buFont typeface="Arial"/>
                      </a:pPr>
                      <a:r>
                        <a:rPr lang="es-AR" sz="20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Liderazgo</a:t>
                      </a: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394642"/>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Cultura Organizacional y Clima Organizacional</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45418261"/>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Cambio y Neurociencias</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6165890"/>
                  </a:ext>
                </a:extLst>
              </a:tr>
              <a:tr h="31389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marL="0" marR="0" lvl="0" indent="0" algn="l" defTabSz="914400" rtl="0" eaLnBrk="1" fontAlgn="b" latinLnBrk="0" hangingPunct="1">
                        <a:lnSpc>
                          <a:spcPct val="100000"/>
                        </a:lnSpc>
                        <a:spcBef>
                          <a:spcPts val="0"/>
                        </a:spcBef>
                        <a:spcAft>
                          <a:spcPts val="0"/>
                        </a:spcAft>
                        <a:buClr>
                          <a:srgbClr val="000000"/>
                        </a:buClr>
                        <a:buSzTx/>
                        <a:buFont typeface="Arial"/>
                        <a:buNone/>
                        <a:tabLst/>
                        <a:defRPr/>
                      </a:pPr>
                      <a:r>
                        <a:rPr lang="es-AR" sz="2000" u="none" strike="noStrike" dirty="0">
                          <a:solidFill>
                            <a:schemeClr val="tx1"/>
                          </a:solidFill>
                          <a:effectLst/>
                          <a:latin typeface="Calibri" panose="020F0502020204030204" pitchFamily="34" charset="0"/>
                          <a:cs typeface="Calibri" panose="020F0502020204030204" pitchFamily="34" charset="0"/>
                        </a:rPr>
                        <a:t>Reclutamiento y Selección (Parte 1)</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b">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85201914"/>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s-AR" sz="2000" u="none" strike="noStrike" dirty="0">
                          <a:solidFill>
                            <a:schemeClr val="tx1"/>
                          </a:solidFill>
                          <a:effectLst/>
                          <a:latin typeface="Calibri" panose="020F0502020204030204" pitchFamily="34" charset="0"/>
                          <a:cs typeface="Calibri" panose="020F0502020204030204" pitchFamily="34" charset="0"/>
                        </a:rPr>
                        <a:t>Diseño de las Estructuras Organizacionales</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393102"/>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s-AR" sz="2000" b="0" u="none" strike="noStrike" dirty="0">
                          <a:solidFill>
                            <a:schemeClr val="tx1"/>
                          </a:solidFill>
                          <a:effectLst/>
                          <a:latin typeface="Calibri" panose="020F0502020204030204" pitchFamily="34" charset="0"/>
                          <a:cs typeface="Calibri" panose="020F0502020204030204" pitchFamily="34" charset="0"/>
                        </a:rPr>
                        <a:t>Compensaciones y beneficios</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60540752"/>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Legislación Laboral (Contratación)</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078280480"/>
                  </a:ext>
                </a:extLst>
              </a:tr>
              <a:tr h="466863">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Legislación Laboral (Fuentes y Principios, Jornada Laboral, Licencias)</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188217999"/>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Primer Parcial</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ED7D31">
                        <a:lumMod val="75000"/>
                      </a:srgbClr>
                    </a:solidFill>
                  </a:tcPr>
                </a:tc>
                <a:extLst>
                  <a:ext uri="{0D108BD9-81ED-4DB2-BD59-A6C34878D82A}">
                    <a16:rowId xmlns:a16="http://schemas.microsoft.com/office/drawing/2014/main" val="1427578434"/>
                  </a:ext>
                </a:extLst>
              </a:tr>
              <a:tr h="2352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u="none" strike="noStrike" dirty="0">
                          <a:solidFill>
                            <a:schemeClr val="tx1"/>
                          </a:solidFill>
                          <a:effectLst/>
                          <a:latin typeface="Calibri" panose="020F0502020204030204" pitchFamily="34" charset="0"/>
                          <a:cs typeface="Calibri" panose="020F0502020204030204" pitchFamily="34" charset="0"/>
                        </a:rPr>
                        <a:t>Legislación Laboral (Cierre Contratos)</a:t>
                      </a:r>
                      <a:endParaRPr lang="es-AR" sz="2000" b="0" i="0" u="none" strike="noStrike" dirty="0">
                        <a:solidFill>
                          <a:schemeClr val="tx1"/>
                        </a:solidFill>
                        <a:effectLst/>
                        <a:latin typeface="Calibri" panose="020F0502020204030204" pitchFamily="34" charset="0"/>
                        <a:cs typeface="Calibri" panose="020F050202020403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078076370"/>
                  </a:ext>
                </a:extLst>
              </a:tr>
            </a:tbl>
          </a:graphicData>
        </a:graphic>
      </p:graphicFrame>
      <p:graphicFrame>
        <p:nvGraphicFramePr>
          <p:cNvPr id="3" name="Tabla 2">
            <a:extLst>
              <a:ext uri="{FF2B5EF4-FFF2-40B4-BE49-F238E27FC236}">
                <a16:creationId xmlns:a16="http://schemas.microsoft.com/office/drawing/2014/main" id="{C7D13946-AA0F-A291-61AC-1843CB841D31}"/>
              </a:ext>
            </a:extLst>
          </p:cNvPr>
          <p:cNvGraphicFramePr>
            <a:graphicFrameLocks noGrp="1"/>
          </p:cNvGraphicFramePr>
          <p:nvPr>
            <p:extLst>
              <p:ext uri="{D42A27DB-BD31-4B8C-83A1-F6EECF244321}">
                <p14:modId xmlns:p14="http://schemas.microsoft.com/office/powerpoint/2010/main" val="2060140498"/>
              </p:ext>
            </p:extLst>
          </p:nvPr>
        </p:nvGraphicFramePr>
        <p:xfrm>
          <a:off x="5169025" y="1628800"/>
          <a:ext cx="4548181" cy="4002084"/>
        </p:xfrm>
        <a:graphic>
          <a:graphicData uri="http://schemas.openxmlformats.org/drawingml/2006/table">
            <a:tbl>
              <a:tblPr/>
              <a:tblGrid>
                <a:gridCol w="4548181">
                  <a:extLst>
                    <a:ext uri="{9D8B030D-6E8A-4147-A177-3AD203B41FA5}">
                      <a16:colId xmlns:a16="http://schemas.microsoft.com/office/drawing/2014/main" val="943426973"/>
                    </a:ext>
                  </a:extLst>
                </a:gridCol>
              </a:tblGrid>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Desarrollo - Gestión del Desempeño</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75490583"/>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0" i="0" u="none" strike="noStrike" cap="none" dirty="0">
                          <a:solidFill>
                            <a:schemeClr val="dk1"/>
                          </a:solidFill>
                          <a:effectLst/>
                          <a:latin typeface="Calibri" panose="020F0502020204030204"/>
                          <a:ea typeface="+mn-ea"/>
                          <a:cs typeface="+mn-cs"/>
                          <a:sym typeface="Arial"/>
                        </a:rPr>
                        <a:t>Desarrollo - Gestión del Talento</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83417782"/>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Taller CV y LKD</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57435393"/>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Capacitación</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87013451"/>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b="1" u="none" strike="noStrike" dirty="0">
                          <a:solidFill>
                            <a:schemeClr val="bg1"/>
                          </a:solidFill>
                          <a:effectLst/>
                        </a:rPr>
                        <a:t>Relaciones Laborales</a:t>
                      </a:r>
                      <a:endParaRPr lang="es-AR" sz="2000" b="1" i="0" u="none" strike="noStrike" dirty="0">
                        <a:solidFill>
                          <a:schemeClr val="bg1"/>
                        </a:solidFill>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431151371"/>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Indicadores RR.HH</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1435850478"/>
                  </a:ext>
                </a:extLst>
              </a:tr>
              <a:tr h="48620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b"/>
                      <a:r>
                        <a:rPr lang="es-AR" sz="2000" u="none" strike="noStrike" dirty="0">
                          <a:effectLst/>
                        </a:rPr>
                        <a:t>El rol de RRHH en las organizaciones - Ingenieros y RRHH-</a:t>
                      </a:r>
                      <a:endParaRPr lang="es-AR" sz="2000" b="0" i="0" u="none" strike="noStrike" dirty="0">
                        <a:effectLst/>
                        <a:latin typeface="Arial" panose="020B0604020202020204" pitchFamily="34" charset="0"/>
                      </a:endParaRPr>
                    </a:p>
                  </a:txBody>
                  <a:tcPr marL="3307" marR="3307" marT="3307" marB="0" anchor="b">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3970430493"/>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b"/>
                      <a:r>
                        <a:rPr lang="es-AR" sz="2000" u="none" strike="noStrike" dirty="0">
                          <a:effectLst/>
                        </a:rPr>
                        <a:t>Dudas 2do parcial</a:t>
                      </a:r>
                      <a:endParaRPr lang="es-AR" sz="2000" b="1" i="0" u="none" strike="noStrike" dirty="0">
                        <a:effectLst/>
                        <a:latin typeface="Arial" panose="020B0604020202020204" pitchFamily="34" charset="0"/>
                      </a:endParaRPr>
                    </a:p>
                  </a:txBody>
                  <a:tcPr marL="3307" marR="3307" marT="3307" marB="0" anchor="b">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1247383485"/>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solidFill>
                            <a:schemeClr val="bg1"/>
                          </a:solidFill>
                          <a:effectLst/>
                        </a:rPr>
                        <a:t>Segundo Parcial</a:t>
                      </a:r>
                      <a:endParaRPr lang="es-AR" sz="2000" b="0" i="0" u="none" strike="noStrike" dirty="0">
                        <a:solidFill>
                          <a:schemeClr val="bg1"/>
                        </a:solidFill>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ED7D31">
                        <a:lumMod val="75000"/>
                      </a:srgbClr>
                    </a:solidFill>
                  </a:tcPr>
                </a:tc>
                <a:extLst>
                  <a:ext uri="{0D108BD9-81ED-4DB2-BD59-A6C34878D82A}">
                    <a16:rowId xmlns:a16="http://schemas.microsoft.com/office/drawing/2014/main" val="3101124630"/>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Clase Buffer</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2040309771"/>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1er Recuperatorio 1er Parcial</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3739436489"/>
                  </a:ext>
                </a:extLst>
              </a:tr>
              <a:tr h="26692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pPr algn="l" fontAlgn="ctr"/>
                      <a:r>
                        <a:rPr lang="es-AR" sz="2000" u="none" strike="noStrike" dirty="0">
                          <a:effectLst/>
                        </a:rPr>
                        <a:t>1er Recuperatorio 2do Parcial</a:t>
                      </a:r>
                      <a:endParaRPr lang="es-AR" sz="2000" b="0" i="0" u="none" strike="noStrike" dirty="0">
                        <a:effectLst/>
                        <a:latin typeface="Arial" panose="020B0604020202020204" pitchFamily="34" charset="0"/>
                      </a:endParaRPr>
                    </a:p>
                  </a:txBody>
                  <a:tcPr marL="3307" marR="3307" marT="3307" marB="0" anchor="ctr">
                    <a:lnL w="12700" cmpd="sng">
                      <a:solidFill>
                        <a:srgbClr val="FFC000"/>
                      </a:solidFill>
                    </a:lnL>
                    <a:lnR w="12700" cmpd="sng">
                      <a:solidFill>
                        <a:srgbClr val="FFC000"/>
                      </a:solidFill>
                    </a:lnR>
                    <a:lnT w="12700" cap="flat" cmpd="sng" algn="ctr">
                      <a:solidFill>
                        <a:srgbClr val="FFC000"/>
                      </a:solidFill>
                      <a:prstDash val="solid"/>
                      <a:round/>
                      <a:headEnd type="none" w="med" len="med"/>
                      <a:tailEnd type="none" w="med" len="med"/>
                    </a:lnT>
                    <a:lnB w="12700" cmpd="sng">
                      <a:solidFill>
                        <a:srgbClr val="FFC000"/>
                      </a:solidFill>
                    </a:lnB>
                    <a:lnTlToBr w="12700" cmpd="sng">
                      <a:noFill/>
                      <a:prstDash val="solid"/>
                    </a:lnTlToBr>
                    <a:lnBlToTr w="12700" cmpd="sng">
                      <a:noFill/>
                      <a:prstDash val="solid"/>
                    </a:lnBlToTr>
                    <a:solidFill>
                      <a:srgbClr val="FFC000">
                        <a:tint val="20000"/>
                      </a:srgbClr>
                    </a:solidFill>
                  </a:tcPr>
                </a:tc>
                <a:extLst>
                  <a:ext uri="{0D108BD9-81ED-4DB2-BD59-A6C34878D82A}">
                    <a16:rowId xmlns:a16="http://schemas.microsoft.com/office/drawing/2014/main" val="4062703129"/>
                  </a:ext>
                </a:extLst>
              </a:tr>
            </a:tbl>
          </a:graphicData>
        </a:graphic>
      </p:graphicFrame>
      <p:sp>
        <p:nvSpPr>
          <p:cNvPr id="4" name="Flecha: a la derecha 3">
            <a:extLst>
              <a:ext uri="{FF2B5EF4-FFF2-40B4-BE49-F238E27FC236}">
                <a16:creationId xmlns:a16="http://schemas.microsoft.com/office/drawing/2014/main" id="{F3CB4686-16D0-CC51-3360-FAB32BC5CF62}"/>
              </a:ext>
            </a:extLst>
          </p:cNvPr>
          <p:cNvSpPr/>
          <p:nvPr/>
        </p:nvSpPr>
        <p:spPr>
          <a:xfrm flipH="1">
            <a:off x="8193360" y="2708920"/>
            <a:ext cx="731520" cy="548640"/>
          </a:xfrm>
          <a:prstGeom prst="rightArrow">
            <a:avLst/>
          </a:prstGeom>
          <a:solidFill>
            <a:srgbClr val="FFFF00"/>
          </a:solidFill>
          <a:ln>
            <a:solidFill>
              <a:schemeClr val="tx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345699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DE28257-5119-4913-BEBB-E7F1248C62D1}"/>
              </a:ext>
            </a:extLst>
          </p:cNvPr>
          <p:cNvPicPr>
            <a:picLocks noChangeAspect="1"/>
          </p:cNvPicPr>
          <p:nvPr/>
        </p:nvPicPr>
        <p:blipFill rotWithShape="1">
          <a:blip r:embed="rId2"/>
          <a:srcRect b="11239"/>
          <a:stretch/>
        </p:blipFill>
        <p:spPr>
          <a:xfrm>
            <a:off x="391105" y="1362108"/>
            <a:ext cx="4953429" cy="3043853"/>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8FB919D5-2FCF-4D1B-87E1-1654FA59A6F9}"/>
              </a:ext>
            </a:extLst>
          </p:cNvPr>
          <p:cNvPicPr>
            <a:picLocks noChangeAspect="1"/>
          </p:cNvPicPr>
          <p:nvPr/>
        </p:nvPicPr>
        <p:blipFill rotWithShape="1">
          <a:blip r:embed="rId3"/>
          <a:srcRect b="4232"/>
          <a:stretch/>
        </p:blipFill>
        <p:spPr>
          <a:xfrm>
            <a:off x="4824109" y="3529215"/>
            <a:ext cx="4953429" cy="3284163"/>
          </a:xfrm>
          <a:prstGeom prst="rect">
            <a:avLst/>
          </a:prstGeom>
        </p:spPr>
      </p:pic>
      <p:sp>
        <p:nvSpPr>
          <p:cNvPr id="5" name="Rectángulo: esquinas redondeadas 4">
            <a:extLst>
              <a:ext uri="{FF2B5EF4-FFF2-40B4-BE49-F238E27FC236}">
                <a16:creationId xmlns:a16="http://schemas.microsoft.com/office/drawing/2014/main" id="{B64EA494-333B-4DBB-AF75-EF2D76B0A350}"/>
              </a:ext>
            </a:extLst>
          </p:cNvPr>
          <p:cNvSpPr/>
          <p:nvPr/>
        </p:nvSpPr>
        <p:spPr>
          <a:xfrm>
            <a:off x="796722" y="843370"/>
            <a:ext cx="8312556" cy="780100"/>
          </a:xfrm>
          <a:prstGeom prst="roundRect">
            <a:avLst/>
          </a:prstGeom>
          <a:solidFill>
            <a:srgbClr val="FFFF00">
              <a:alpha val="43000"/>
            </a:srgbClr>
          </a:solidFill>
          <a:ln w="76200" cap="flat" cmpd="sng" algn="ctr">
            <a:solidFill>
              <a:srgbClr val="FF0000"/>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s-AR" sz="2800" spc="600" dirty="0">
                <a:solidFill>
                  <a:srgbClr val="FF0000"/>
                </a:solidFill>
                <a:latin typeface="Comic Sans MS" panose="030F0702030302020204" pitchFamily="66" charset="0"/>
                <a:cs typeface="Times New Roman" panose="02020603050405020304" pitchFamily="18" charset="0"/>
              </a:rPr>
              <a:t>UNIDAD 1</a:t>
            </a:r>
          </a:p>
        </p:txBody>
      </p:sp>
      <p:sp>
        <p:nvSpPr>
          <p:cNvPr id="9" name="Shape 52">
            <a:extLst>
              <a:ext uri="{FF2B5EF4-FFF2-40B4-BE49-F238E27FC236}">
                <a16:creationId xmlns:a16="http://schemas.microsoft.com/office/drawing/2014/main" id="{CA358298-09A3-4E5E-9CA4-6CAB1D13782B}"/>
              </a:ext>
            </a:extLst>
          </p:cNvPr>
          <p:cNvSpPr txBox="1"/>
          <p:nvPr/>
        </p:nvSpPr>
        <p:spPr>
          <a:xfrm>
            <a:off x="56456" y="44626"/>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36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Relaciones Laborales</a:t>
            </a:r>
          </a:p>
          <a:p>
            <a:pPr marL="714375" indent="-714375">
              <a:lnSpc>
                <a:spcPct val="90000"/>
              </a:lnSpc>
              <a:buSzPct val="25000"/>
            </a:pPr>
            <a:endParaRPr lang="es-AR" sz="24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endParaRPr>
          </a:p>
        </p:txBody>
      </p:sp>
      <p:pic>
        <p:nvPicPr>
          <p:cNvPr id="13" name="Imagen 12">
            <a:extLst>
              <a:ext uri="{FF2B5EF4-FFF2-40B4-BE49-F238E27FC236}">
                <a16:creationId xmlns:a16="http://schemas.microsoft.com/office/drawing/2014/main" id="{728F0F89-064D-4D65-A12E-302134F07AEE}"/>
              </a:ext>
            </a:extLst>
          </p:cNvPr>
          <p:cNvPicPr>
            <a:picLocks noChangeAspect="1"/>
          </p:cNvPicPr>
          <p:nvPr/>
        </p:nvPicPr>
        <p:blipFill rotWithShape="1">
          <a:blip r:embed="rId2">
            <a:grayscl/>
          </a:blip>
          <a:srcRect b="11239"/>
          <a:stretch/>
        </p:blipFill>
        <p:spPr>
          <a:xfrm>
            <a:off x="391105" y="1351161"/>
            <a:ext cx="4953429" cy="3043853"/>
          </a:xfrm>
          <a:prstGeom prst="rect">
            <a:avLst/>
          </a:prstGeom>
          <a:ln>
            <a:noFill/>
          </a:ln>
          <a:effectLst>
            <a:outerShdw blurRad="292100" dist="139700" dir="2700000" algn="tl" rotWithShape="0">
              <a:srgbClr val="333333">
                <a:alpha val="65000"/>
              </a:srgbClr>
            </a:outerShdw>
          </a:effectLst>
        </p:spPr>
      </p:pic>
      <p:pic>
        <p:nvPicPr>
          <p:cNvPr id="14" name="Imagen 13">
            <a:extLst>
              <a:ext uri="{FF2B5EF4-FFF2-40B4-BE49-F238E27FC236}">
                <a16:creationId xmlns:a16="http://schemas.microsoft.com/office/drawing/2014/main" id="{FC7ABC12-2427-46C1-8885-4AB78289D599}"/>
              </a:ext>
            </a:extLst>
          </p:cNvPr>
          <p:cNvPicPr>
            <a:picLocks noChangeAspect="1"/>
          </p:cNvPicPr>
          <p:nvPr/>
        </p:nvPicPr>
        <p:blipFill rotWithShape="1">
          <a:blip r:embed="rId3">
            <a:grayscl/>
          </a:blip>
          <a:srcRect b="4232"/>
          <a:stretch/>
        </p:blipFill>
        <p:spPr>
          <a:xfrm>
            <a:off x="4824109" y="3518268"/>
            <a:ext cx="4953429" cy="3284163"/>
          </a:xfrm>
          <a:prstGeom prst="rect">
            <a:avLst/>
          </a:prstGeom>
        </p:spPr>
      </p:pic>
      <p:sp>
        <p:nvSpPr>
          <p:cNvPr id="10" name="Rectángulo 9">
            <a:extLst>
              <a:ext uri="{FF2B5EF4-FFF2-40B4-BE49-F238E27FC236}">
                <a16:creationId xmlns:a16="http://schemas.microsoft.com/office/drawing/2014/main" id="{B9192019-AC19-4544-BCE5-6B81FE5C6764}"/>
              </a:ext>
            </a:extLst>
          </p:cNvPr>
          <p:cNvSpPr/>
          <p:nvPr/>
        </p:nvSpPr>
        <p:spPr>
          <a:xfrm>
            <a:off x="3361361" y="2422216"/>
            <a:ext cx="1879673" cy="36000"/>
          </a:xfrm>
          <a:prstGeom prst="rect">
            <a:avLst/>
          </a:prstGeom>
          <a:solidFill>
            <a:srgbClr val="FF0000"/>
          </a:solidFill>
          <a:ln>
            <a:solidFill>
              <a:srgbClr val="FF0000"/>
            </a:soli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s-AR"/>
          </a:p>
        </p:txBody>
      </p:sp>
      <p:sp>
        <p:nvSpPr>
          <p:cNvPr id="11" name="Rectángulo 10">
            <a:extLst>
              <a:ext uri="{FF2B5EF4-FFF2-40B4-BE49-F238E27FC236}">
                <a16:creationId xmlns:a16="http://schemas.microsoft.com/office/drawing/2014/main" id="{7D8B66E2-5877-4405-81AD-3B6136255656}"/>
              </a:ext>
            </a:extLst>
          </p:cNvPr>
          <p:cNvSpPr/>
          <p:nvPr/>
        </p:nvSpPr>
        <p:spPr>
          <a:xfrm>
            <a:off x="992559" y="2652138"/>
            <a:ext cx="3780000" cy="36000"/>
          </a:xfrm>
          <a:prstGeom prst="rect">
            <a:avLst/>
          </a:prstGeom>
          <a:solidFill>
            <a:srgbClr val="FF0000"/>
          </a:solidFill>
          <a:ln>
            <a:solidFill>
              <a:srgbClr val="FF0000"/>
            </a:soli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s-AR"/>
          </a:p>
        </p:txBody>
      </p:sp>
      <p:sp>
        <p:nvSpPr>
          <p:cNvPr id="12" name="Flecha: a la derecha 11">
            <a:extLst>
              <a:ext uri="{FF2B5EF4-FFF2-40B4-BE49-F238E27FC236}">
                <a16:creationId xmlns:a16="http://schemas.microsoft.com/office/drawing/2014/main" id="{D266F5F1-73F3-494C-B35E-78260384A34B}"/>
              </a:ext>
            </a:extLst>
          </p:cNvPr>
          <p:cNvSpPr/>
          <p:nvPr/>
        </p:nvSpPr>
        <p:spPr>
          <a:xfrm>
            <a:off x="4135542" y="5013176"/>
            <a:ext cx="817458" cy="1001454"/>
          </a:xfrm>
          <a:prstGeom prst="rightArrow">
            <a:avLst/>
          </a:prstGeom>
          <a:solidFill>
            <a:srgbClr val="00B05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7125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2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95" name="Rectangle 7194">
            <a:extLst>
              <a:ext uri="{FF2B5EF4-FFF2-40B4-BE49-F238E27FC236}">
                <a16:creationId xmlns:a16="http://schemas.microsoft.com/office/drawing/2014/main" id="{50E4C519-FBE9-4ABE-A8F9-C2CBE3269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Brasil | Sindicato aciona Justiça contra demissões nas empresas de TI em SP  | DPL News">
            <a:extLst>
              <a:ext uri="{FF2B5EF4-FFF2-40B4-BE49-F238E27FC236}">
                <a16:creationId xmlns:a16="http://schemas.microsoft.com/office/drawing/2014/main" id="{CED2E305-633B-7BCC-A9CF-9FDA273CCC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45" r="23174" b="-1"/>
          <a:stretch/>
        </p:blipFill>
        <p:spPr bwMode="auto">
          <a:xfrm>
            <a:off x="2637080" y="-1"/>
            <a:ext cx="7268920" cy="6858000"/>
          </a:xfrm>
          <a:custGeom>
            <a:avLst/>
            <a:gdLst/>
            <a:ahLst/>
            <a:cxnLst/>
            <a:rect l="l" t="t" r="r" b="b"/>
            <a:pathLst>
              <a:path w="8946363" h="6858000">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7197" name="Freeform: Shape 7196">
            <a:extLst>
              <a:ext uri="{FF2B5EF4-FFF2-40B4-BE49-F238E27FC236}">
                <a16:creationId xmlns:a16="http://schemas.microsoft.com/office/drawing/2014/main" id="{80EC29FB-299E-49F3-8C7B-01199632A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620233" cy="6858000"/>
          </a:xfrm>
          <a:custGeom>
            <a:avLst/>
            <a:gdLst>
              <a:gd name="connsiteX0" fmla="*/ 0 w 4455672"/>
              <a:gd name="connsiteY0" fmla="*/ 0 h 6858000"/>
              <a:gd name="connsiteX1" fmla="*/ 3245636 w 4455672"/>
              <a:gd name="connsiteY1" fmla="*/ 0 h 6858000"/>
              <a:gd name="connsiteX2" fmla="*/ 3305677 w 4455672"/>
              <a:gd name="connsiteY2" fmla="*/ 69272 h 6858000"/>
              <a:gd name="connsiteX3" fmla="*/ 4455672 w 4455672"/>
              <a:gd name="connsiteY3" fmla="*/ 3429001 h 6858000"/>
              <a:gd name="connsiteX4" fmla="*/ 3305677 w 4455672"/>
              <a:gd name="connsiteY4" fmla="*/ 6788731 h 6858000"/>
              <a:gd name="connsiteX5" fmla="*/ 3245638 w 4455672"/>
              <a:gd name="connsiteY5" fmla="*/ 6858000 h 6858000"/>
              <a:gd name="connsiteX6" fmla="*/ 0 w 445567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2" h="6858000">
                <a:moveTo>
                  <a:pt x="0" y="0"/>
                </a:moveTo>
                <a:lnTo>
                  <a:pt x="3245636" y="0"/>
                </a:lnTo>
                <a:lnTo>
                  <a:pt x="3305677" y="69272"/>
                </a:lnTo>
                <a:cubicBezTo>
                  <a:pt x="4016203" y="929101"/>
                  <a:pt x="4455672" y="2116945"/>
                  <a:pt x="4455672" y="3429001"/>
                </a:cubicBezTo>
                <a:cubicBezTo>
                  <a:pt x="4455672" y="4741057"/>
                  <a:pt x="4016203" y="5928901"/>
                  <a:pt x="3305677" y="6788731"/>
                </a:cubicBezTo>
                <a:lnTo>
                  <a:pt x="3245638"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latin typeface="Calibri" panose="020F0502020204030204"/>
            </a:endParaRPr>
          </a:p>
        </p:txBody>
      </p:sp>
      <p:sp useBgFill="1">
        <p:nvSpPr>
          <p:cNvPr id="7199" name="Freeform: Shape 7198">
            <a:extLst>
              <a:ext uri="{FF2B5EF4-FFF2-40B4-BE49-F238E27FC236}">
                <a16:creationId xmlns:a16="http://schemas.microsoft.com/office/drawing/2014/main" id="{C29A2522-B27A-45C5-897B-79A1407D1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2804" cy="6858000"/>
          </a:xfrm>
          <a:custGeom>
            <a:avLst/>
            <a:gdLst>
              <a:gd name="connsiteX0" fmla="*/ 0 w 4446528"/>
              <a:gd name="connsiteY0" fmla="*/ 0 h 6858000"/>
              <a:gd name="connsiteX1" fmla="*/ 3236492 w 4446528"/>
              <a:gd name="connsiteY1" fmla="*/ 0 h 6858000"/>
              <a:gd name="connsiteX2" fmla="*/ 3296533 w 4446528"/>
              <a:gd name="connsiteY2" fmla="*/ 69272 h 6858000"/>
              <a:gd name="connsiteX3" fmla="*/ 4446528 w 4446528"/>
              <a:gd name="connsiteY3" fmla="*/ 3429001 h 6858000"/>
              <a:gd name="connsiteX4" fmla="*/ 3296533 w 4446528"/>
              <a:gd name="connsiteY4" fmla="*/ 6788731 h 6858000"/>
              <a:gd name="connsiteX5" fmla="*/ 3236494 w 4446528"/>
              <a:gd name="connsiteY5" fmla="*/ 6858000 h 6858000"/>
              <a:gd name="connsiteX6" fmla="*/ 0 w 44465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8" h="6858000">
                <a:moveTo>
                  <a:pt x="0" y="0"/>
                </a:moveTo>
                <a:lnTo>
                  <a:pt x="3236492" y="0"/>
                </a:lnTo>
                <a:lnTo>
                  <a:pt x="3296533" y="69272"/>
                </a:lnTo>
                <a:cubicBezTo>
                  <a:pt x="4007059" y="929101"/>
                  <a:pt x="4446528" y="2116945"/>
                  <a:pt x="4446528" y="3429001"/>
                </a:cubicBezTo>
                <a:cubicBezTo>
                  <a:pt x="4446528" y="4741057"/>
                  <a:pt x="4007059" y="5928901"/>
                  <a:pt x="3296533" y="6788731"/>
                </a:cubicBezTo>
                <a:lnTo>
                  <a:pt x="323649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latin typeface="Calibri" panose="020F0502020204030204"/>
            </a:endParaRPr>
          </a:p>
        </p:txBody>
      </p:sp>
      <p:sp>
        <p:nvSpPr>
          <p:cNvPr id="2" name="Título 1">
            <a:extLst>
              <a:ext uri="{FF2B5EF4-FFF2-40B4-BE49-F238E27FC236}">
                <a16:creationId xmlns:a16="http://schemas.microsoft.com/office/drawing/2014/main" id="{EB3B921D-893E-075A-894B-4A911D70188A}"/>
              </a:ext>
            </a:extLst>
          </p:cNvPr>
          <p:cNvSpPr>
            <a:spLocks noGrp="1"/>
          </p:cNvSpPr>
          <p:nvPr>
            <p:ph type="title"/>
          </p:nvPr>
        </p:nvSpPr>
        <p:spPr>
          <a:xfrm>
            <a:off x="301513" y="1161288"/>
            <a:ext cx="2793492" cy="1239012"/>
          </a:xfrm>
        </p:spPr>
        <p:txBody>
          <a:bodyPr vert="horz" lIns="91440" tIns="45720" rIns="91440" bIns="45720" rtlCol="0" anchor="ctr">
            <a:normAutofit/>
          </a:bodyPr>
          <a:lstStyle/>
          <a:p>
            <a:r>
              <a:rPr lang="en-US" sz="3200" b="1" dirty="0"/>
              <a:t>Agenda</a:t>
            </a:r>
          </a:p>
        </p:txBody>
      </p:sp>
      <p:sp>
        <p:nvSpPr>
          <p:cNvPr id="7201" name="Rectangle 7200">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420963"/>
            <a:ext cx="104013"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203" name="Rectangle 720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524" y="2443480"/>
            <a:ext cx="2748915"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 name="Diagrama 2">
            <a:extLst>
              <a:ext uri="{FF2B5EF4-FFF2-40B4-BE49-F238E27FC236}">
                <a16:creationId xmlns:a16="http://schemas.microsoft.com/office/drawing/2014/main" id="{C3504E82-1012-20A2-DBCF-F6239B43779B}"/>
              </a:ext>
            </a:extLst>
          </p:cNvPr>
          <p:cNvGraphicFramePr/>
          <p:nvPr>
            <p:extLst>
              <p:ext uri="{D42A27DB-BD31-4B8C-83A1-F6EECF244321}">
                <p14:modId xmlns:p14="http://schemas.microsoft.com/office/powerpoint/2010/main" val="3953324406"/>
              </p:ext>
            </p:extLst>
          </p:nvPr>
        </p:nvGraphicFramePr>
        <p:xfrm>
          <a:off x="128464" y="2718054"/>
          <a:ext cx="3312368" cy="38610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Imagen 5">
            <a:extLst>
              <a:ext uri="{FF2B5EF4-FFF2-40B4-BE49-F238E27FC236}">
                <a16:creationId xmlns:a16="http://schemas.microsoft.com/office/drawing/2014/main" id="{EBF0CD92-C3D9-6E9D-F5B7-8696972EED74}"/>
              </a:ext>
            </a:extLst>
          </p:cNvPr>
          <p:cNvPicPr>
            <a:picLocks noChangeAspect="1"/>
          </p:cNvPicPr>
          <p:nvPr/>
        </p:nvPicPr>
        <p:blipFill>
          <a:blip r:embed="rId9"/>
          <a:stretch>
            <a:fillRect/>
          </a:stretch>
        </p:blipFill>
        <p:spPr>
          <a:xfrm>
            <a:off x="3485688" y="1102031"/>
            <a:ext cx="6291848" cy="2700928"/>
          </a:xfrm>
          <a:prstGeom prst="rect">
            <a:avLst/>
          </a:prstGeom>
        </p:spPr>
      </p:pic>
      <p:pic>
        <p:nvPicPr>
          <p:cNvPr id="7" name="Imagen 6">
            <a:extLst>
              <a:ext uri="{FF2B5EF4-FFF2-40B4-BE49-F238E27FC236}">
                <a16:creationId xmlns:a16="http://schemas.microsoft.com/office/drawing/2014/main" id="{0C71A126-53F9-6FEE-91BF-338753433335}"/>
              </a:ext>
            </a:extLst>
          </p:cNvPr>
          <p:cNvPicPr>
            <a:picLocks noChangeAspect="1"/>
          </p:cNvPicPr>
          <p:nvPr/>
        </p:nvPicPr>
        <p:blipFill>
          <a:blip r:embed="rId10"/>
          <a:stretch>
            <a:fillRect/>
          </a:stretch>
        </p:blipFill>
        <p:spPr>
          <a:xfrm>
            <a:off x="-16484" y="1301884"/>
            <a:ext cx="9922485" cy="4254233"/>
          </a:xfrm>
          <a:prstGeom prst="rect">
            <a:avLst/>
          </a:prstGeom>
        </p:spPr>
      </p:pic>
    </p:spTree>
    <p:extLst>
      <p:ext uri="{BB962C8B-B14F-4D97-AF65-F5344CB8AC3E}">
        <p14:creationId xmlns:p14="http://schemas.microsoft.com/office/powerpoint/2010/main" val="136518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35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La importancia del calentamiento previo - Diario El Sol. Mendoza, Argentina.">
            <a:extLst>
              <a:ext uri="{FF2B5EF4-FFF2-40B4-BE49-F238E27FC236}">
                <a16:creationId xmlns:a16="http://schemas.microsoft.com/office/drawing/2014/main" id="{7A5AF98E-3BFD-AC44-C749-F7B3739739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692"/>
          <a:stretch/>
        </p:blipFill>
        <p:spPr bwMode="auto">
          <a:xfrm flipH="1">
            <a:off x="-2475" y="10"/>
            <a:ext cx="9905998" cy="6857990"/>
          </a:xfrm>
          <a:prstGeom prst="rect">
            <a:avLst/>
          </a:prstGeom>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07602"/>
            <a:ext cx="9905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0C62623A-92AF-CE86-190E-B1E1CFEA770C}"/>
              </a:ext>
            </a:extLst>
          </p:cNvPr>
          <p:cNvSpPr txBox="1"/>
          <p:nvPr/>
        </p:nvSpPr>
        <p:spPr>
          <a:xfrm>
            <a:off x="20910" y="3212976"/>
            <a:ext cx="8172450" cy="3574778"/>
          </a:xfrm>
          <a:prstGeom prst="rect">
            <a:avLst/>
          </a:prstGeom>
          <a:noFill/>
          <a:ln>
            <a:noFill/>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vert="horz" lIns="91440" tIns="45720" rIns="91440" bIns="45720" rtlCol="0" anchor="b">
            <a:normAutofit/>
          </a:bodyPr>
          <a:lstStyle/>
          <a:p>
            <a:pPr>
              <a:lnSpc>
                <a:spcPct val="90000"/>
              </a:lnSpc>
              <a:spcBef>
                <a:spcPct val="0"/>
              </a:spcBef>
              <a:spcAft>
                <a:spcPts val="600"/>
              </a:spcAft>
            </a:pPr>
            <a:r>
              <a:rPr lang="en-US" sz="4700" b="1" dirty="0">
                <a:solidFill>
                  <a:schemeClr val="bg1"/>
                </a:solidFill>
                <a:effectLst>
                  <a:outerShdw blurRad="38100" dist="38100" dir="2700000" algn="tl">
                    <a:srgbClr val="000000">
                      <a:alpha val="43137"/>
                    </a:srgbClr>
                  </a:outerShdw>
                </a:effectLst>
                <a:latin typeface="+mj-lt"/>
                <a:ea typeface="+mj-ea"/>
                <a:cs typeface="+mj-cs"/>
              </a:rPr>
              <a:t>ANTES DE EMPEZAR</a:t>
            </a:r>
          </a:p>
        </p:txBody>
      </p:sp>
    </p:spTree>
    <p:extLst>
      <p:ext uri="{BB962C8B-B14F-4D97-AF65-F5344CB8AC3E}">
        <p14:creationId xmlns:p14="http://schemas.microsoft.com/office/powerpoint/2010/main" val="7887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CuadroTexto"/>
          <p:cNvSpPr txBox="1"/>
          <p:nvPr/>
        </p:nvSpPr>
        <p:spPr>
          <a:xfrm>
            <a:off x="380968" y="1901733"/>
            <a:ext cx="9144064" cy="2031325"/>
          </a:xfrm>
          <a:prstGeom prst="rect">
            <a:avLst/>
          </a:prstGeom>
          <a:gradFill>
            <a:gsLst>
              <a:gs pos="0">
                <a:schemeClr val="accent2">
                  <a:tint val="50000"/>
                  <a:satMod val="300000"/>
                </a:schemeClr>
              </a:gs>
              <a:gs pos="56000">
                <a:schemeClr val="accent2">
                  <a:tint val="15000"/>
                  <a:satMod val="350000"/>
                </a:schemeClr>
              </a:gs>
            </a:gsLst>
          </a:gra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AR" dirty="0"/>
              <a:t>Una </a:t>
            </a:r>
            <a:r>
              <a:rPr lang="es-AR" b="1" dirty="0"/>
              <a:t>relación laboral</a:t>
            </a:r>
            <a:r>
              <a:rPr lang="es-AR" dirty="0"/>
              <a:t> es aquella </a:t>
            </a:r>
            <a:r>
              <a:rPr lang="es-AR" b="1" dirty="0"/>
              <a:t>relación</a:t>
            </a:r>
            <a:r>
              <a:rPr lang="es-AR" dirty="0"/>
              <a:t> contractual entre una empresa o persona llamada empleador y una persona llamada trabajador o empleado, </a:t>
            </a:r>
            <a:r>
              <a:rPr lang="es-AR" b="1" dirty="0"/>
              <a:t>relación </a:t>
            </a:r>
            <a:r>
              <a:rPr lang="es-AR" b="1" dirty="0">
                <a:solidFill>
                  <a:schemeClr val="tx1"/>
                </a:solidFill>
              </a:rPr>
              <a:t>mediante la cual el trabajador pone a disposición del empleador su capacidad física e intelectual para desarrollar una actividad determinada, a  cambio de una remuneración</a:t>
            </a:r>
            <a:r>
              <a:rPr lang="es-AR" b="1" dirty="0">
                <a:solidFill>
                  <a:srgbClr val="FF0000"/>
                </a:solidFill>
              </a:rPr>
              <a:t>.</a:t>
            </a:r>
          </a:p>
          <a:p>
            <a:pPr algn="ctr"/>
            <a:endParaRPr lang="es-ES" dirty="0">
              <a:solidFill>
                <a:srgbClr val="C00000"/>
              </a:solidFill>
            </a:endParaRPr>
          </a:p>
          <a:p>
            <a:pPr algn="ctr"/>
            <a:r>
              <a:rPr lang="es-ES" dirty="0">
                <a:solidFill>
                  <a:srgbClr val="C00000"/>
                </a:solidFill>
              </a:rPr>
              <a:t>Cuando nos referimos al trabajador como individuo hablaremos de “Derecho individual” cuando nos referimos a un </a:t>
            </a:r>
            <a:r>
              <a:rPr lang="es-ES" b="1" dirty="0">
                <a:solidFill>
                  <a:srgbClr val="C00000"/>
                </a:solidFill>
              </a:rPr>
              <a:t>conjunto de trabajadores será </a:t>
            </a:r>
            <a:r>
              <a:rPr lang="es-ES" b="1" u="sng" dirty="0">
                <a:solidFill>
                  <a:srgbClr val="C00000"/>
                </a:solidFill>
              </a:rPr>
              <a:t>“Derecho Colectivo”. </a:t>
            </a:r>
          </a:p>
        </p:txBody>
      </p:sp>
      <p:sp>
        <p:nvSpPr>
          <p:cNvPr id="13" name="Rounded Rectangle 7"/>
          <p:cNvSpPr/>
          <p:nvPr/>
        </p:nvSpPr>
        <p:spPr>
          <a:xfrm>
            <a:off x="380968" y="1357298"/>
            <a:ext cx="9072626" cy="432000"/>
          </a:xfrm>
          <a:prstGeom prst="roundRect">
            <a:avLst/>
          </a:prstGeom>
          <a:solidFill>
            <a:srgbClr val="0070C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b="1" dirty="0">
                <a:solidFill>
                  <a:schemeClr val="bg1"/>
                </a:solidFill>
                <a:latin typeface="+mj-lt"/>
              </a:rPr>
              <a:t>DERECHO LABORAL - Repaso</a:t>
            </a:r>
          </a:p>
        </p:txBody>
      </p:sp>
      <p:sp>
        <p:nvSpPr>
          <p:cNvPr id="5" name="Shape 52"/>
          <p:cNvSpPr txBox="1"/>
          <p:nvPr/>
        </p:nvSpPr>
        <p:spPr>
          <a:xfrm>
            <a:off x="56456" y="44626"/>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36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endPar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sp>
        <p:nvSpPr>
          <p:cNvPr id="6" name="Rounded Rectangle 7">
            <a:extLst>
              <a:ext uri="{FF2B5EF4-FFF2-40B4-BE49-F238E27FC236}">
                <a16:creationId xmlns:a16="http://schemas.microsoft.com/office/drawing/2014/main" id="{A046424F-1A1D-4BBB-B64C-F47C29E0D5C9}"/>
              </a:ext>
            </a:extLst>
          </p:cNvPr>
          <p:cNvSpPr/>
          <p:nvPr/>
        </p:nvSpPr>
        <p:spPr>
          <a:xfrm>
            <a:off x="380968" y="4437112"/>
            <a:ext cx="9072626" cy="432000"/>
          </a:xfrm>
          <a:prstGeom prst="roundRect">
            <a:avLst/>
          </a:prstGeom>
          <a:solidFill>
            <a:srgbClr val="00B05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b="1" dirty="0">
                <a:solidFill>
                  <a:schemeClr val="bg1"/>
                </a:solidFill>
                <a:latin typeface="+mj-lt"/>
              </a:rPr>
              <a:t>DERECHO COLECTIVO - Definición</a:t>
            </a:r>
          </a:p>
        </p:txBody>
      </p:sp>
      <p:sp>
        <p:nvSpPr>
          <p:cNvPr id="7" name="6 CuadroTexto">
            <a:extLst>
              <a:ext uri="{FF2B5EF4-FFF2-40B4-BE49-F238E27FC236}">
                <a16:creationId xmlns:a16="http://schemas.microsoft.com/office/drawing/2014/main" id="{09407C73-1EAD-4998-966B-DCBAAD27C9D2}"/>
              </a:ext>
            </a:extLst>
          </p:cNvPr>
          <p:cNvSpPr txBox="1"/>
          <p:nvPr/>
        </p:nvSpPr>
        <p:spPr>
          <a:xfrm>
            <a:off x="380968" y="4925488"/>
            <a:ext cx="9144064" cy="1723549"/>
          </a:xfrm>
          <a:prstGeom prst="rect">
            <a:avLst/>
          </a:prstGeom>
          <a:gradFill>
            <a:gsLst>
              <a:gs pos="0">
                <a:srgbClr val="92D050"/>
              </a:gs>
              <a:gs pos="78000">
                <a:schemeClr val="accent3">
                  <a:lumMod val="20000"/>
                  <a:lumOff val="80000"/>
                </a:schemeClr>
              </a:gs>
            </a:gsLst>
          </a:gradFill>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AR" sz="2000" b="1" dirty="0"/>
              <a:t>Conjunto de normas jurídicas que regulan las relaciones entre patronos y trabajadores no de modo individual, sino en atención a los intereses comunes a todos ellos o a los grupos profesionales.</a:t>
            </a:r>
          </a:p>
          <a:p>
            <a:pPr algn="ctr"/>
            <a:endParaRPr lang="es-AR" sz="1200" i="1" dirty="0"/>
          </a:p>
          <a:p>
            <a:pPr algn="ctr"/>
            <a:r>
              <a:rPr lang="es-AR" sz="1050" i="1" dirty="0"/>
              <a:t>(</a:t>
            </a:r>
            <a:r>
              <a:rPr lang="es-AR" sz="1600" i="1" dirty="0"/>
              <a:t>OSSORIO, Manuel, Diccionario De Ciencias Jurídicas, Políticas Y Sociales, </a:t>
            </a:r>
          </a:p>
          <a:p>
            <a:pPr algn="ctr"/>
            <a:r>
              <a:rPr lang="es-AR" sz="1600" i="1" dirty="0"/>
              <a:t>Buenos Aires: Heliasta, 24va, 1997, pagina 317)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extLst>
              <p:ext uri="{D42A27DB-BD31-4B8C-83A1-F6EECF244321}">
                <p14:modId xmlns:p14="http://schemas.microsoft.com/office/powerpoint/2010/main" val="3093795896"/>
              </p:ext>
            </p:extLst>
          </p:nvPr>
        </p:nvGraphicFramePr>
        <p:xfrm>
          <a:off x="869284" y="1904710"/>
          <a:ext cx="7591368" cy="3900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3 CuadroTexto"/>
          <p:cNvSpPr txBox="1"/>
          <p:nvPr/>
        </p:nvSpPr>
        <p:spPr>
          <a:xfrm>
            <a:off x="202375" y="6023031"/>
            <a:ext cx="9179783" cy="646331"/>
          </a:xfrm>
          <a:prstGeom prst="rect">
            <a:avLst/>
          </a:prstGeom>
          <a:solidFill>
            <a:schemeClr val="accent4"/>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AR" dirty="0">
                <a:latin typeface="Tahoma" panose="020B0604030504040204" pitchFamily="34" charset="0"/>
                <a:ea typeface="Tahoma" panose="020B0604030504040204" pitchFamily="34" charset="0"/>
                <a:cs typeface="Tahoma" panose="020B0604030504040204" pitchFamily="34" charset="0"/>
              </a:rPr>
              <a:t>El </a:t>
            </a:r>
            <a:r>
              <a:rPr lang="es-AR" b="1" dirty="0">
                <a:latin typeface="Tahoma" panose="020B0604030504040204" pitchFamily="34" charset="0"/>
                <a:ea typeface="Tahoma" panose="020B0604030504040204" pitchFamily="34" charset="0"/>
                <a:cs typeface="Tahoma" panose="020B0604030504040204" pitchFamily="34" charset="0"/>
              </a:rPr>
              <a:t>Estado</a:t>
            </a:r>
            <a:r>
              <a:rPr lang="es-AR" dirty="0">
                <a:latin typeface="Tahoma" panose="020B0604030504040204" pitchFamily="34" charset="0"/>
                <a:ea typeface="Tahoma" panose="020B0604030504040204" pitchFamily="34" charset="0"/>
                <a:cs typeface="Tahoma" panose="020B0604030504040204" pitchFamily="34" charset="0"/>
              </a:rPr>
              <a:t> asume esencialmente el </a:t>
            </a:r>
            <a:r>
              <a:rPr lang="es-AR" b="1" dirty="0">
                <a:latin typeface="Tahoma" panose="020B0604030504040204" pitchFamily="34" charset="0"/>
                <a:ea typeface="Tahoma" panose="020B0604030504040204" pitchFamily="34" charset="0"/>
                <a:cs typeface="Tahoma" panose="020B0604030504040204" pitchFamily="34" charset="0"/>
              </a:rPr>
              <a:t>papel de control </a:t>
            </a:r>
            <a:r>
              <a:rPr lang="es-AR" dirty="0">
                <a:latin typeface="Tahoma" panose="020B0604030504040204" pitchFamily="34" charset="0"/>
                <a:ea typeface="Tahoma" panose="020B0604030504040204" pitchFamily="34" charset="0"/>
                <a:cs typeface="Tahoma" panose="020B0604030504040204" pitchFamily="34" charset="0"/>
              </a:rPr>
              <a:t>como autoridad administrativa </a:t>
            </a:r>
          </a:p>
          <a:p>
            <a:pPr algn="ctr"/>
            <a:r>
              <a:rPr lang="es-AR" dirty="0">
                <a:latin typeface="Tahoma" panose="020B0604030504040204" pitchFamily="34" charset="0"/>
                <a:ea typeface="Tahoma" panose="020B0604030504040204" pitchFamily="34" charset="0"/>
                <a:cs typeface="Tahoma" panose="020B0604030504040204" pitchFamily="34" charset="0"/>
              </a:rPr>
              <a:t>(Ministerio de Trabajo).</a:t>
            </a:r>
          </a:p>
        </p:txBody>
      </p:sp>
      <p:sp>
        <p:nvSpPr>
          <p:cNvPr id="7" name="Rounded Rectangle 7"/>
          <p:cNvSpPr/>
          <p:nvPr/>
        </p:nvSpPr>
        <p:spPr>
          <a:xfrm>
            <a:off x="309530" y="1357298"/>
            <a:ext cx="9072626" cy="324000"/>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sz="2000" b="1" dirty="0">
                <a:solidFill>
                  <a:schemeClr val="tx1"/>
                </a:solidFill>
                <a:latin typeface="+mj-lt"/>
              </a:rPr>
              <a:t>Los Actores:</a:t>
            </a:r>
          </a:p>
        </p:txBody>
      </p:sp>
      <p:pic>
        <p:nvPicPr>
          <p:cNvPr id="2" name="Imagen 1">
            <a:extLst>
              <a:ext uri="{FF2B5EF4-FFF2-40B4-BE49-F238E27FC236}">
                <a16:creationId xmlns:a16="http://schemas.microsoft.com/office/drawing/2014/main" id="{C92942AC-1105-41B7-9468-A8BB18D68C0E}"/>
              </a:ext>
            </a:extLst>
          </p:cNvPr>
          <p:cNvPicPr>
            <a:picLocks noChangeAspect="1"/>
          </p:cNvPicPr>
          <p:nvPr/>
        </p:nvPicPr>
        <p:blipFill>
          <a:blip r:embed="rId7"/>
          <a:stretch>
            <a:fillRect/>
          </a:stretch>
        </p:blipFill>
        <p:spPr>
          <a:xfrm>
            <a:off x="4362331" y="3617690"/>
            <a:ext cx="720080" cy="651632"/>
          </a:xfrm>
          <a:prstGeom prst="rect">
            <a:avLst/>
          </a:prstGeom>
          <a:scene3d>
            <a:camera prst="orthographicFront"/>
            <a:lightRig rig="threePt" dir="t"/>
          </a:scene3d>
          <a:sp3d>
            <a:bevelT/>
          </a:sp3d>
        </p:spPr>
      </p:pic>
      <p:sp>
        <p:nvSpPr>
          <p:cNvPr id="9" name="Shape 52">
            <a:extLst>
              <a:ext uri="{FF2B5EF4-FFF2-40B4-BE49-F238E27FC236}">
                <a16:creationId xmlns:a16="http://schemas.microsoft.com/office/drawing/2014/main" id="{DDB50C6A-4F28-4AE7-BC14-A32E0C40FF72}"/>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lvl="0"/>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rPr>
              <a:t>       Derecho Colectivo</a:t>
            </a:r>
          </a:p>
        </p:txBody>
      </p:sp>
      <p:grpSp>
        <p:nvGrpSpPr>
          <p:cNvPr id="14" name="Grupo 13">
            <a:extLst>
              <a:ext uri="{FF2B5EF4-FFF2-40B4-BE49-F238E27FC236}">
                <a16:creationId xmlns:a16="http://schemas.microsoft.com/office/drawing/2014/main" id="{D7BDCAFB-08F8-42A2-6869-8FFC931B8F91}"/>
              </a:ext>
            </a:extLst>
          </p:cNvPr>
          <p:cNvGrpSpPr/>
          <p:nvPr/>
        </p:nvGrpSpPr>
        <p:grpSpPr>
          <a:xfrm>
            <a:off x="90410" y="698737"/>
            <a:ext cx="438243" cy="438243"/>
            <a:chOff x="4733878" y="3209878"/>
            <a:chExt cx="438243" cy="438243"/>
          </a:xfrm>
        </p:grpSpPr>
        <p:sp>
          <p:nvSpPr>
            <p:cNvPr id="12" name="Elipse 11">
              <a:extLst>
                <a:ext uri="{FF2B5EF4-FFF2-40B4-BE49-F238E27FC236}">
                  <a16:creationId xmlns:a16="http://schemas.microsoft.com/office/drawing/2014/main" id="{621D83F5-17F6-4593-8B6A-8D458C034E54}"/>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13" name="Rectángulo 12" descr="Scales of Justice">
              <a:extLst>
                <a:ext uri="{FF2B5EF4-FFF2-40B4-BE49-F238E27FC236}">
                  <a16:creationId xmlns:a16="http://schemas.microsoft.com/office/drawing/2014/main" id="{98A139C0-DF9B-7A44-18B1-E999697E635D}"/>
                </a:ext>
              </a:extLst>
            </p:cNvPr>
            <p:cNvSpPr/>
            <p:nvPr/>
          </p:nvSpPr>
          <p:spPr>
            <a:xfrm>
              <a:off x="4825909" y="3301909"/>
              <a:ext cx="254181" cy="254181"/>
            </a:xfrm>
            <a:prstGeom prst="rect">
              <a:avLst/>
            </a:prstGeom>
            <a: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descr="DT aclara afiliación a sindicato en proceso de negociación colectiva -  Transtecnia">
            <a:extLst>
              <a:ext uri="{FF2B5EF4-FFF2-40B4-BE49-F238E27FC236}">
                <a16:creationId xmlns:a16="http://schemas.microsoft.com/office/drawing/2014/main" id="{B8FBFD62-99C8-5C7D-0E5A-4808391CF1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4" y="1305384"/>
            <a:ext cx="9946957" cy="558000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352652F7-CCB8-4D42-AB3B-2BBB09F47FC4}"/>
              </a:ext>
            </a:extLst>
          </p:cNvPr>
          <p:cNvPicPr>
            <a:picLocks noChangeAspect="1"/>
          </p:cNvPicPr>
          <p:nvPr/>
        </p:nvPicPr>
        <p:blipFill>
          <a:blip r:embed="rId3"/>
          <a:stretch>
            <a:fillRect/>
          </a:stretch>
        </p:blipFill>
        <p:spPr>
          <a:xfrm>
            <a:off x="126364" y="264810"/>
            <a:ext cx="4327212" cy="872926"/>
          </a:xfrm>
          <a:prstGeom prst="rect">
            <a:avLst/>
          </a:prstGeom>
        </p:spPr>
      </p:pic>
      <p:pic>
        <p:nvPicPr>
          <p:cNvPr id="2" name="Picture 6" descr="Image result for utn frba">
            <a:extLst>
              <a:ext uri="{FF2B5EF4-FFF2-40B4-BE49-F238E27FC236}">
                <a16:creationId xmlns:a16="http://schemas.microsoft.com/office/drawing/2014/main" id="{962675FE-FBD1-B731-563E-B9771D913D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69956" y="188642"/>
            <a:ext cx="2638150" cy="96253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C348C8FD-4DAB-9559-D0F2-E580E81C63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892" y="4437112"/>
            <a:ext cx="1764000" cy="176400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351F8456-B79F-4EAE-94A2-C1816EDD2437}"/>
              </a:ext>
            </a:extLst>
          </p:cNvPr>
          <p:cNvSpPr txBox="1"/>
          <p:nvPr/>
        </p:nvSpPr>
        <p:spPr>
          <a:xfrm>
            <a:off x="106892" y="6122518"/>
            <a:ext cx="1764000" cy="646331"/>
          </a:xfrm>
          <a:prstGeom prst="rect">
            <a:avLst/>
          </a:prstGeom>
          <a:solidFill>
            <a:srgbClr val="C00000"/>
          </a:solidFill>
          <a:ln/>
        </p:spPr>
        <p:style>
          <a:lnRef idx="3">
            <a:schemeClr val="lt1"/>
          </a:lnRef>
          <a:fillRef idx="1">
            <a:schemeClr val="accent3"/>
          </a:fillRef>
          <a:effectRef idx="1">
            <a:schemeClr val="accent3"/>
          </a:effectRef>
          <a:fontRef idx="minor">
            <a:schemeClr val="lt1"/>
          </a:fontRef>
        </p:style>
        <p:txBody>
          <a:bodyPr wrap="square">
            <a:spAutoFit/>
          </a:bodyPr>
          <a:lstStyle/>
          <a:p>
            <a:pPr algn="ctr"/>
            <a:r>
              <a:rPr lang="es-AR" b="1" dirty="0">
                <a:latin typeface="MentiText"/>
              </a:rPr>
              <a:t>Código</a:t>
            </a:r>
          </a:p>
          <a:p>
            <a:pPr algn="ctr"/>
            <a:r>
              <a:rPr lang="es-AR" b="1" dirty="0">
                <a:latin typeface="MentiText"/>
              </a:rPr>
              <a:t>17 91 08 2</a:t>
            </a:r>
            <a:endParaRPr lang="es-AR" dirty="0"/>
          </a:p>
        </p:txBody>
      </p:sp>
      <p:sp>
        <p:nvSpPr>
          <p:cNvPr id="3" name="Rectángulo: esquinas redondeadas 2">
            <a:extLst>
              <a:ext uri="{FF2B5EF4-FFF2-40B4-BE49-F238E27FC236}">
                <a16:creationId xmlns:a16="http://schemas.microsoft.com/office/drawing/2014/main" id="{4CFD5D1D-9735-72A8-5513-2F1610EDCAC5}"/>
              </a:ext>
            </a:extLst>
          </p:cNvPr>
          <p:cNvSpPr/>
          <p:nvPr/>
        </p:nvSpPr>
        <p:spPr>
          <a:xfrm>
            <a:off x="1712640" y="2924944"/>
            <a:ext cx="6048672" cy="1584176"/>
          </a:xfrm>
          <a:prstGeom prst="roundRect">
            <a:avLst/>
          </a:prstGeom>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sz="8000" dirty="0">
                <a:solidFill>
                  <a:schemeClr val="tx1"/>
                </a:solidFill>
              </a:rPr>
              <a:t>EN VIVO</a:t>
            </a:r>
          </a:p>
        </p:txBody>
      </p:sp>
    </p:spTree>
    <p:extLst>
      <p:ext uri="{BB962C8B-B14F-4D97-AF65-F5344CB8AC3E}">
        <p14:creationId xmlns:p14="http://schemas.microsoft.com/office/powerpoint/2010/main" val="47705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17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6A15A88-001A-4EEF-8984-D87E6435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3">
            <a:extLst>
              <a:ext uri="{FF2B5EF4-FFF2-40B4-BE49-F238E27FC236}">
                <a16:creationId xmlns:a16="http://schemas.microsoft.com/office/drawing/2014/main" id="{EEEC69E3-FE48-9750-3E0E-59025526F7D2}"/>
              </a:ext>
            </a:extLst>
          </p:cNvPr>
          <p:cNvSpPr>
            <a:spLocks noGrp="1"/>
          </p:cNvSpPr>
          <p:nvPr>
            <p:ph type="title"/>
          </p:nvPr>
        </p:nvSpPr>
        <p:spPr>
          <a:xfrm>
            <a:off x="4016896" y="1367675"/>
            <a:ext cx="5472607" cy="2665509"/>
          </a:xfrm>
        </p:spPr>
        <p:txBody>
          <a:bodyPr vert="horz" lIns="91440" tIns="45720" rIns="91440" bIns="45720" rtlCol="0" anchor="b">
            <a:noAutofit/>
          </a:bodyPr>
          <a:lstStyle/>
          <a:p>
            <a:pPr algn="r">
              <a:lnSpc>
                <a:spcPct val="150000"/>
              </a:lnSpc>
            </a:pPr>
            <a:r>
              <a:rPr lang="en-US" sz="6000" dirty="0">
                <a:solidFill>
                  <a:schemeClr val="bg1"/>
                </a:solidFill>
              </a:rPr>
              <a:t>¿</a:t>
            </a:r>
            <a:r>
              <a:rPr lang="en-US" sz="6000" dirty="0" err="1">
                <a:solidFill>
                  <a:schemeClr val="bg1"/>
                </a:solidFill>
              </a:rPr>
              <a:t>Qué</a:t>
            </a:r>
            <a:r>
              <a:rPr lang="en-US" sz="6000" dirty="0">
                <a:solidFill>
                  <a:schemeClr val="bg1"/>
                </a:solidFill>
              </a:rPr>
              <a:t> </a:t>
            </a:r>
            <a:r>
              <a:rPr lang="en-US" sz="6000" dirty="0" err="1">
                <a:solidFill>
                  <a:schemeClr val="bg1"/>
                </a:solidFill>
              </a:rPr>
              <a:t>nos</a:t>
            </a:r>
            <a:r>
              <a:rPr lang="en-US" sz="6000" dirty="0">
                <a:solidFill>
                  <a:schemeClr val="bg1"/>
                </a:solidFill>
              </a:rPr>
              <a:t> </a:t>
            </a:r>
            <a:r>
              <a:rPr lang="en-US" sz="6000" dirty="0" err="1">
                <a:solidFill>
                  <a:schemeClr val="bg1"/>
                </a:solidFill>
              </a:rPr>
              <a:t>sugiere</a:t>
            </a:r>
            <a:r>
              <a:rPr lang="en-US" sz="6000" dirty="0">
                <a:solidFill>
                  <a:schemeClr val="bg1"/>
                </a:solidFill>
              </a:rPr>
              <a:t> la palabra </a:t>
            </a:r>
            <a:r>
              <a:rPr lang="en-US" sz="6000" b="1" dirty="0">
                <a:solidFill>
                  <a:schemeClr val="accent2"/>
                </a:solidFill>
              </a:rPr>
              <a:t>SINDICATO</a:t>
            </a:r>
            <a:r>
              <a:rPr lang="en-US" sz="6000" dirty="0">
                <a:solidFill>
                  <a:schemeClr val="bg1"/>
                </a:solidFill>
              </a:rPr>
              <a:t>?</a:t>
            </a:r>
          </a:p>
        </p:txBody>
      </p:sp>
      <p:pic>
        <p:nvPicPr>
          <p:cNvPr id="5" name="Imagen 4" descr="Interfaz de usuario gráfica, Aplicación&#10;&#10;Descripción generada automáticamente">
            <a:extLst>
              <a:ext uri="{FF2B5EF4-FFF2-40B4-BE49-F238E27FC236}">
                <a16:creationId xmlns:a16="http://schemas.microsoft.com/office/drawing/2014/main" id="{B503A63A-B522-13BB-3241-58D02D03A4CA}"/>
              </a:ext>
            </a:extLst>
          </p:cNvPr>
          <p:cNvPicPr>
            <a:picLocks noChangeAspect="1"/>
          </p:cNvPicPr>
          <p:nvPr/>
        </p:nvPicPr>
        <p:blipFill>
          <a:blip r:embed="rId2">
            <a:extLst>
              <a:ext uri="{28A0092B-C50C-407E-A947-70E740481C1C}">
                <a14:useLocalDpi xmlns:a14="http://schemas.microsoft.com/office/drawing/2010/main" val="0"/>
              </a:ext>
            </a:extLst>
          </a:blip>
          <a:srcRect r="1963"/>
          <a:stretch/>
        </p:blipFill>
        <p:spPr>
          <a:xfrm>
            <a:off x="20" y="10"/>
            <a:ext cx="3697846" cy="6857990"/>
          </a:xfrm>
          <a:custGeom>
            <a:avLst/>
            <a:gdLst/>
            <a:ahLst/>
            <a:cxnLst/>
            <a:rect l="l" t="t" r="r" b="b"/>
            <a:pathLst>
              <a:path w="4551219" h="6858000">
                <a:moveTo>
                  <a:pt x="4194211" y="6564619"/>
                </a:moveTo>
                <a:lnTo>
                  <a:pt x="4194211" y="6564620"/>
                </a:lnTo>
                <a:cubicBezTo>
                  <a:pt x="4204498" y="6575478"/>
                  <a:pt x="4210595" y="6582146"/>
                  <a:pt x="4216690" y="6588625"/>
                </a:cubicBezTo>
                <a:lnTo>
                  <a:pt x="4233312" y="6625224"/>
                </a:lnTo>
                <a:lnTo>
                  <a:pt x="4226218" y="6662539"/>
                </a:lnTo>
                <a:lnTo>
                  <a:pt x="4226217" y="6662540"/>
                </a:lnTo>
                <a:lnTo>
                  <a:pt x="4226216" y="6662543"/>
                </a:lnTo>
                <a:lnTo>
                  <a:pt x="4214767" y="6683026"/>
                </a:lnTo>
                <a:lnTo>
                  <a:pt x="4211619" y="6702975"/>
                </a:lnTo>
                <a:lnTo>
                  <a:pt x="4211619" y="6702976"/>
                </a:lnTo>
                <a:cubicBezTo>
                  <a:pt x="4212024" y="6716168"/>
                  <a:pt x="4217168" y="6729218"/>
                  <a:pt x="4225455" y="6742552"/>
                </a:cubicBezTo>
                <a:lnTo>
                  <a:pt x="4225456" y="6742554"/>
                </a:lnTo>
                <a:lnTo>
                  <a:pt x="4244933" y="6812061"/>
                </a:lnTo>
                <a:lnTo>
                  <a:pt x="4244933" y="6812063"/>
                </a:lnTo>
                <a:lnTo>
                  <a:pt x="4244933" y="6812062"/>
                </a:lnTo>
                <a:lnTo>
                  <a:pt x="4244933" y="6812061"/>
                </a:lnTo>
                <a:lnTo>
                  <a:pt x="4240159" y="6776799"/>
                </a:lnTo>
                <a:lnTo>
                  <a:pt x="4225456" y="6742554"/>
                </a:lnTo>
                <a:lnTo>
                  <a:pt x="4225455" y="6742551"/>
                </a:lnTo>
                <a:lnTo>
                  <a:pt x="4211619" y="6702975"/>
                </a:lnTo>
                <a:lnTo>
                  <a:pt x="4226216" y="6662543"/>
                </a:lnTo>
                <a:lnTo>
                  <a:pt x="4226217" y="6662541"/>
                </a:lnTo>
                <a:lnTo>
                  <a:pt x="4226218" y="6662539"/>
                </a:lnTo>
                <a:lnTo>
                  <a:pt x="4233301" y="6645551"/>
                </a:lnTo>
                <a:lnTo>
                  <a:pt x="4233312" y="6625224"/>
                </a:lnTo>
                <a:lnTo>
                  <a:pt x="4233312" y="6625223"/>
                </a:lnTo>
                <a:cubicBezTo>
                  <a:pt x="4231216" y="6611340"/>
                  <a:pt x="4225168" y="6597577"/>
                  <a:pt x="4216690" y="6588624"/>
                </a:cubicBezTo>
                <a:close/>
                <a:moveTo>
                  <a:pt x="4274532" y="6438980"/>
                </a:moveTo>
                <a:lnTo>
                  <a:pt x="4254602" y="6463839"/>
                </a:lnTo>
                <a:lnTo>
                  <a:pt x="4254600" y="6463848"/>
                </a:lnTo>
                <a:lnTo>
                  <a:pt x="4240803" y="6513011"/>
                </a:lnTo>
                <a:lnTo>
                  <a:pt x="4221998" y="6546193"/>
                </a:lnTo>
                <a:lnTo>
                  <a:pt x="4221998" y="6546194"/>
                </a:lnTo>
                <a:lnTo>
                  <a:pt x="4238336" y="6521803"/>
                </a:lnTo>
                <a:lnTo>
                  <a:pt x="4240803" y="6513011"/>
                </a:lnTo>
                <a:lnTo>
                  <a:pt x="4243614" y="6508051"/>
                </a:lnTo>
                <a:lnTo>
                  <a:pt x="4254600" y="6463848"/>
                </a:lnTo>
                <a:lnTo>
                  <a:pt x="4254602" y="6463840"/>
                </a:lnTo>
                <a:cubicBezTo>
                  <a:pt x="4257553" y="6451649"/>
                  <a:pt x="4265030" y="6444076"/>
                  <a:pt x="4274532" y="6438980"/>
                </a:cubicBezTo>
                <a:close/>
                <a:moveTo>
                  <a:pt x="4360506" y="6365203"/>
                </a:moveTo>
                <a:lnTo>
                  <a:pt x="4359224" y="6387909"/>
                </a:lnTo>
                <a:lnTo>
                  <a:pt x="4357461" y="6391548"/>
                </a:lnTo>
                <a:lnTo>
                  <a:pt x="4349806" y="6407331"/>
                </a:lnTo>
                <a:lnTo>
                  <a:pt x="4349806" y="6407332"/>
                </a:lnTo>
                <a:lnTo>
                  <a:pt x="4357461" y="6391548"/>
                </a:lnTo>
                <a:lnTo>
                  <a:pt x="4359225" y="6387909"/>
                </a:lnTo>
                <a:close/>
                <a:moveTo>
                  <a:pt x="4121437" y="4221390"/>
                </a:moveTo>
                <a:lnTo>
                  <a:pt x="4121437" y="4221391"/>
                </a:lnTo>
                <a:cubicBezTo>
                  <a:pt x="4122199" y="4232060"/>
                  <a:pt x="4122389" y="4243872"/>
                  <a:pt x="4127153" y="4253014"/>
                </a:cubicBezTo>
                <a:cubicBezTo>
                  <a:pt x="4139346" y="4277401"/>
                  <a:pt x="4154966" y="4300070"/>
                  <a:pt x="4166969" y="4324645"/>
                </a:cubicBezTo>
                <a:lnTo>
                  <a:pt x="4175923" y="4363890"/>
                </a:lnTo>
                <a:lnTo>
                  <a:pt x="4175161" y="4482003"/>
                </a:lnTo>
                <a:cubicBezTo>
                  <a:pt x="4172493" y="4546775"/>
                  <a:pt x="4171921" y="4612499"/>
                  <a:pt x="4115151" y="4659173"/>
                </a:cubicBezTo>
                <a:cubicBezTo>
                  <a:pt x="4110579" y="4662985"/>
                  <a:pt x="4107911" y="4671175"/>
                  <a:pt x="4107149" y="4677654"/>
                </a:cubicBezTo>
                <a:cubicBezTo>
                  <a:pt x="4103530" y="4707563"/>
                  <a:pt x="4103148" y="4738234"/>
                  <a:pt x="4097242" y="4767763"/>
                </a:cubicBezTo>
                <a:cubicBezTo>
                  <a:pt x="4094861" y="4779574"/>
                  <a:pt x="4094052" y="4790386"/>
                  <a:pt x="4095933" y="4800482"/>
                </a:cubicBezTo>
                <a:lnTo>
                  <a:pt x="4095933" y="4800483"/>
                </a:lnTo>
                <a:cubicBezTo>
                  <a:pt x="4097814" y="4810580"/>
                  <a:pt x="4102387" y="4819963"/>
                  <a:pt x="4110769" y="4828916"/>
                </a:cubicBezTo>
                <a:lnTo>
                  <a:pt x="4132950" y="4863342"/>
                </a:lnTo>
                <a:lnTo>
                  <a:pt x="4140479" y="4889274"/>
                </a:lnTo>
                <a:lnTo>
                  <a:pt x="4138774" y="4912167"/>
                </a:lnTo>
                <a:cubicBezTo>
                  <a:pt x="4137059" y="4919977"/>
                  <a:pt x="4136702" y="4927121"/>
                  <a:pt x="4137372" y="4933803"/>
                </a:cubicBezTo>
                <a:lnTo>
                  <a:pt x="4137372" y="4933804"/>
                </a:lnTo>
                <a:lnTo>
                  <a:pt x="4142131" y="4952672"/>
                </a:lnTo>
                <a:lnTo>
                  <a:pt x="4144924" y="4957453"/>
                </a:lnTo>
                <a:lnTo>
                  <a:pt x="4146202" y="4961455"/>
                </a:lnTo>
                <a:cubicBezTo>
                  <a:pt x="4150713" y="4970096"/>
                  <a:pt x="4156419" y="4978393"/>
                  <a:pt x="4162206" y="4987037"/>
                </a:cubicBezTo>
                <a:cubicBezTo>
                  <a:pt x="4173445" y="5003801"/>
                  <a:pt x="4187543" y="5022852"/>
                  <a:pt x="4188685" y="5041521"/>
                </a:cubicBezTo>
                <a:cubicBezTo>
                  <a:pt x="4189304" y="5052095"/>
                  <a:pt x="4192222" y="5062299"/>
                  <a:pt x="4195901" y="5072375"/>
                </a:cubicBezTo>
                <a:lnTo>
                  <a:pt x="4201805" y="5087442"/>
                </a:lnTo>
                <a:lnTo>
                  <a:pt x="4214832" y="5133219"/>
                </a:lnTo>
                <a:lnTo>
                  <a:pt x="4214833" y="5133224"/>
                </a:lnTo>
                <a:lnTo>
                  <a:pt x="4208118" y="5166112"/>
                </a:lnTo>
                <a:lnTo>
                  <a:pt x="4208118" y="5166113"/>
                </a:lnTo>
                <a:cubicBezTo>
                  <a:pt x="4207356" y="5167637"/>
                  <a:pt x="4207928" y="5169780"/>
                  <a:pt x="4208809" y="5172090"/>
                </a:cubicBezTo>
                <a:lnTo>
                  <a:pt x="4211356" y="5179067"/>
                </a:lnTo>
                <a:cubicBezTo>
                  <a:pt x="4214976" y="5196594"/>
                  <a:pt x="4215024" y="5213597"/>
                  <a:pt x="4211190" y="5229433"/>
                </a:cubicBezTo>
                <a:lnTo>
                  <a:pt x="4200644" y="5248928"/>
                </a:lnTo>
                <a:lnTo>
                  <a:pt x="4187733" y="5272795"/>
                </a:lnTo>
                <a:cubicBezTo>
                  <a:pt x="4176088" y="5285440"/>
                  <a:pt x="4168382" y="5298594"/>
                  <a:pt x="4163830" y="5312287"/>
                </a:cubicBezTo>
                <a:lnTo>
                  <a:pt x="4162774" y="5321350"/>
                </a:lnTo>
                <a:lnTo>
                  <a:pt x="4160300" y="5326162"/>
                </a:lnTo>
                <a:lnTo>
                  <a:pt x="4158854" y="5355013"/>
                </a:lnTo>
                <a:lnTo>
                  <a:pt x="4158854" y="5355014"/>
                </a:lnTo>
                <a:cubicBezTo>
                  <a:pt x="4159503" y="5364882"/>
                  <a:pt x="4161206" y="5375002"/>
                  <a:pt x="4163730" y="5385384"/>
                </a:cubicBezTo>
                <a:cubicBezTo>
                  <a:pt x="4166969" y="5398721"/>
                  <a:pt x="4169255" y="5412057"/>
                  <a:pt x="4171921" y="5425582"/>
                </a:cubicBezTo>
                <a:cubicBezTo>
                  <a:pt x="4175731" y="5443870"/>
                  <a:pt x="4179733" y="5462351"/>
                  <a:pt x="4183543" y="5480637"/>
                </a:cubicBezTo>
                <a:lnTo>
                  <a:pt x="4188067" y="5507667"/>
                </a:lnTo>
                <a:lnTo>
                  <a:pt x="4177448" y="5531691"/>
                </a:lnTo>
                <a:lnTo>
                  <a:pt x="4177447" y="5531692"/>
                </a:lnTo>
                <a:cubicBezTo>
                  <a:pt x="4170398" y="5537599"/>
                  <a:pt x="4167206" y="5542648"/>
                  <a:pt x="4167302" y="5547577"/>
                </a:cubicBezTo>
                <a:lnTo>
                  <a:pt x="4167302" y="5547578"/>
                </a:lnTo>
                <a:cubicBezTo>
                  <a:pt x="4167397" y="5552507"/>
                  <a:pt x="4170779" y="5557317"/>
                  <a:pt x="4176875" y="5562746"/>
                </a:cubicBezTo>
                <a:cubicBezTo>
                  <a:pt x="4219548" y="5600467"/>
                  <a:pt x="4246219" y="5646189"/>
                  <a:pt x="4248123" y="5704483"/>
                </a:cubicBezTo>
                <a:cubicBezTo>
                  <a:pt x="4248505" y="5716485"/>
                  <a:pt x="4251171" y="5728678"/>
                  <a:pt x="4254029" y="5740488"/>
                </a:cubicBezTo>
                <a:cubicBezTo>
                  <a:pt x="4255744" y="5747728"/>
                  <a:pt x="4257650" y="5756493"/>
                  <a:pt x="4262794" y="5760873"/>
                </a:cubicBezTo>
                <a:cubicBezTo>
                  <a:pt x="4302037" y="5794974"/>
                  <a:pt x="4329280" y="5837457"/>
                  <a:pt x="4351189" y="5883751"/>
                </a:cubicBezTo>
                <a:lnTo>
                  <a:pt x="4351191" y="5883755"/>
                </a:lnTo>
                <a:lnTo>
                  <a:pt x="4369094" y="5935945"/>
                </a:lnTo>
                <a:lnTo>
                  <a:pt x="4369096" y="5935949"/>
                </a:lnTo>
                <a:lnTo>
                  <a:pt x="4365476" y="5993289"/>
                </a:lnTo>
                <a:lnTo>
                  <a:pt x="4365475" y="5993290"/>
                </a:lnTo>
                <a:cubicBezTo>
                  <a:pt x="4364334" y="6004530"/>
                  <a:pt x="4364524" y="6017484"/>
                  <a:pt x="4358999" y="6026439"/>
                </a:cubicBezTo>
                <a:cubicBezTo>
                  <a:pt x="4341662" y="6054824"/>
                  <a:pt x="4322994" y="6082257"/>
                  <a:pt x="4302799" y="6108737"/>
                </a:cubicBezTo>
                <a:cubicBezTo>
                  <a:pt x="4294131" y="6120073"/>
                  <a:pt x="4289178" y="6126883"/>
                  <a:pt x="4289107" y="6133313"/>
                </a:cubicBezTo>
                <a:lnTo>
                  <a:pt x="4289107" y="6133314"/>
                </a:lnTo>
                <a:lnTo>
                  <a:pt x="4292807" y="6143189"/>
                </a:lnTo>
                <a:lnTo>
                  <a:pt x="4304703" y="6155599"/>
                </a:lnTo>
                <a:lnTo>
                  <a:pt x="4304706" y="6155602"/>
                </a:lnTo>
                <a:cubicBezTo>
                  <a:pt x="4326994" y="6175797"/>
                  <a:pt x="4338614" y="6200944"/>
                  <a:pt x="4343376" y="6228756"/>
                </a:cubicBezTo>
                <a:lnTo>
                  <a:pt x="4360713" y="6361539"/>
                </a:lnTo>
                <a:lnTo>
                  <a:pt x="4360713" y="6361538"/>
                </a:lnTo>
                <a:cubicBezTo>
                  <a:pt x="4357093" y="6317150"/>
                  <a:pt x="4350808" y="6272763"/>
                  <a:pt x="4343376" y="6228755"/>
                </a:cubicBezTo>
                <a:cubicBezTo>
                  <a:pt x="4338614" y="6200943"/>
                  <a:pt x="4326994" y="6175796"/>
                  <a:pt x="4304706" y="6155601"/>
                </a:cubicBezTo>
                <a:lnTo>
                  <a:pt x="4304703" y="6155599"/>
                </a:lnTo>
                <a:lnTo>
                  <a:pt x="4289107" y="6133314"/>
                </a:lnTo>
                <a:lnTo>
                  <a:pt x="4302799" y="6108738"/>
                </a:lnTo>
                <a:cubicBezTo>
                  <a:pt x="4322994" y="6082258"/>
                  <a:pt x="4341662" y="6054825"/>
                  <a:pt x="4358999" y="6026440"/>
                </a:cubicBezTo>
                <a:cubicBezTo>
                  <a:pt x="4364524" y="6017485"/>
                  <a:pt x="4364334" y="6004531"/>
                  <a:pt x="4365475" y="5993291"/>
                </a:cubicBezTo>
                <a:lnTo>
                  <a:pt x="4365476" y="5993289"/>
                </a:lnTo>
                <a:lnTo>
                  <a:pt x="4368929" y="5964476"/>
                </a:lnTo>
                <a:lnTo>
                  <a:pt x="4369096" y="5935949"/>
                </a:lnTo>
                <a:lnTo>
                  <a:pt x="4369096" y="5935948"/>
                </a:lnTo>
                <a:lnTo>
                  <a:pt x="4369094" y="5935945"/>
                </a:lnTo>
                <a:lnTo>
                  <a:pt x="4362214" y="5909350"/>
                </a:lnTo>
                <a:lnTo>
                  <a:pt x="4351191" y="5883755"/>
                </a:lnTo>
                <a:lnTo>
                  <a:pt x="4351189" y="5883750"/>
                </a:lnTo>
                <a:cubicBezTo>
                  <a:pt x="4329280" y="5837456"/>
                  <a:pt x="4302037" y="5794973"/>
                  <a:pt x="4262794" y="5760872"/>
                </a:cubicBezTo>
                <a:cubicBezTo>
                  <a:pt x="4257650" y="5756492"/>
                  <a:pt x="4255744" y="5747727"/>
                  <a:pt x="4254029" y="5740487"/>
                </a:cubicBezTo>
                <a:cubicBezTo>
                  <a:pt x="4251171" y="5728677"/>
                  <a:pt x="4248505" y="5716484"/>
                  <a:pt x="4248123" y="5704482"/>
                </a:cubicBezTo>
                <a:cubicBezTo>
                  <a:pt x="4246219" y="5646188"/>
                  <a:pt x="4219548" y="5600466"/>
                  <a:pt x="4176875" y="5562745"/>
                </a:cubicBezTo>
                <a:lnTo>
                  <a:pt x="4167302" y="5547577"/>
                </a:lnTo>
                <a:lnTo>
                  <a:pt x="4177447" y="5531693"/>
                </a:lnTo>
                <a:lnTo>
                  <a:pt x="4177448" y="5531691"/>
                </a:lnTo>
                <a:lnTo>
                  <a:pt x="4185847" y="5520421"/>
                </a:lnTo>
                <a:lnTo>
                  <a:pt x="4188067" y="5507667"/>
                </a:lnTo>
                <a:lnTo>
                  <a:pt x="4188067" y="5507666"/>
                </a:lnTo>
                <a:cubicBezTo>
                  <a:pt x="4188020" y="5498831"/>
                  <a:pt x="4185448" y="5489496"/>
                  <a:pt x="4183543" y="5480636"/>
                </a:cubicBezTo>
                <a:cubicBezTo>
                  <a:pt x="4179733" y="5462350"/>
                  <a:pt x="4175731" y="5443869"/>
                  <a:pt x="4171921" y="5425581"/>
                </a:cubicBezTo>
                <a:cubicBezTo>
                  <a:pt x="4169255" y="5412056"/>
                  <a:pt x="4166969" y="5398720"/>
                  <a:pt x="4163730" y="5385383"/>
                </a:cubicBezTo>
                <a:lnTo>
                  <a:pt x="4158854" y="5355013"/>
                </a:lnTo>
                <a:lnTo>
                  <a:pt x="4162774" y="5321350"/>
                </a:lnTo>
                <a:lnTo>
                  <a:pt x="4187733" y="5272796"/>
                </a:lnTo>
                <a:lnTo>
                  <a:pt x="4200644" y="5248928"/>
                </a:lnTo>
                <a:lnTo>
                  <a:pt x="4211191" y="5229432"/>
                </a:lnTo>
                <a:lnTo>
                  <a:pt x="4211356" y="5179067"/>
                </a:lnTo>
                <a:lnTo>
                  <a:pt x="4211356" y="5179066"/>
                </a:lnTo>
                <a:cubicBezTo>
                  <a:pt x="4210880" y="5176875"/>
                  <a:pt x="4209690" y="5174399"/>
                  <a:pt x="4208809" y="5172089"/>
                </a:cubicBezTo>
                <a:lnTo>
                  <a:pt x="4208118" y="5166113"/>
                </a:lnTo>
                <a:lnTo>
                  <a:pt x="4214833" y="5133224"/>
                </a:lnTo>
                <a:lnTo>
                  <a:pt x="4214833" y="5133223"/>
                </a:lnTo>
                <a:lnTo>
                  <a:pt x="4214832" y="5133219"/>
                </a:lnTo>
                <a:lnTo>
                  <a:pt x="4207690" y="5102460"/>
                </a:lnTo>
                <a:lnTo>
                  <a:pt x="4201805" y="5087442"/>
                </a:lnTo>
                <a:lnTo>
                  <a:pt x="4201799" y="5087422"/>
                </a:lnTo>
                <a:cubicBezTo>
                  <a:pt x="4195713" y="5072410"/>
                  <a:pt x="4189614" y="5057380"/>
                  <a:pt x="4188685" y="5041520"/>
                </a:cubicBezTo>
                <a:cubicBezTo>
                  <a:pt x="4187543" y="5022851"/>
                  <a:pt x="4173445" y="5003800"/>
                  <a:pt x="4162206" y="4987036"/>
                </a:cubicBezTo>
                <a:lnTo>
                  <a:pt x="4144924" y="4957453"/>
                </a:lnTo>
                <a:lnTo>
                  <a:pt x="4137372" y="4933804"/>
                </a:lnTo>
                <a:lnTo>
                  <a:pt x="4138774" y="4912168"/>
                </a:lnTo>
                <a:cubicBezTo>
                  <a:pt x="4140536" y="4904357"/>
                  <a:pt x="4141048" y="4896713"/>
                  <a:pt x="4140479" y="4889275"/>
                </a:cubicBezTo>
                <a:lnTo>
                  <a:pt x="4140479" y="4889274"/>
                </a:lnTo>
                <a:lnTo>
                  <a:pt x="4135701" y="4867613"/>
                </a:lnTo>
                <a:lnTo>
                  <a:pt x="4132950" y="4863342"/>
                </a:lnTo>
                <a:lnTo>
                  <a:pt x="4131200" y="4857316"/>
                </a:lnTo>
                <a:cubicBezTo>
                  <a:pt x="4126057" y="4847213"/>
                  <a:pt x="4119056" y="4837702"/>
                  <a:pt x="4110769" y="4828915"/>
                </a:cubicBezTo>
                <a:lnTo>
                  <a:pt x="4095933" y="4800482"/>
                </a:lnTo>
                <a:lnTo>
                  <a:pt x="4097242" y="4767764"/>
                </a:lnTo>
                <a:cubicBezTo>
                  <a:pt x="4103148" y="4738235"/>
                  <a:pt x="4103530" y="4707564"/>
                  <a:pt x="4107149" y="4677655"/>
                </a:cubicBezTo>
                <a:cubicBezTo>
                  <a:pt x="4107911" y="4671176"/>
                  <a:pt x="4110579" y="4662986"/>
                  <a:pt x="4115151" y="4659174"/>
                </a:cubicBezTo>
                <a:cubicBezTo>
                  <a:pt x="4171921" y="4612500"/>
                  <a:pt x="4172493" y="4546776"/>
                  <a:pt x="4175161" y="4482004"/>
                </a:cubicBezTo>
                <a:cubicBezTo>
                  <a:pt x="4176875" y="4442761"/>
                  <a:pt x="4176875" y="4403325"/>
                  <a:pt x="4175923" y="4363890"/>
                </a:cubicBezTo>
                <a:lnTo>
                  <a:pt x="4175923" y="4363889"/>
                </a:lnTo>
                <a:cubicBezTo>
                  <a:pt x="4175731" y="4350553"/>
                  <a:pt x="4172683" y="4336456"/>
                  <a:pt x="4166969" y="4324644"/>
                </a:cubicBezTo>
                <a:cubicBezTo>
                  <a:pt x="4154966" y="4300069"/>
                  <a:pt x="4139346" y="4277400"/>
                  <a:pt x="4127153" y="4253013"/>
                </a:cubicBezTo>
                <a:close/>
                <a:moveTo>
                  <a:pt x="4190328" y="2836171"/>
                </a:moveTo>
                <a:lnTo>
                  <a:pt x="4181637" y="2848792"/>
                </a:lnTo>
                <a:cubicBezTo>
                  <a:pt x="4176637" y="2865009"/>
                  <a:pt x="4170779" y="2881306"/>
                  <a:pt x="4166033" y="2897784"/>
                </a:cubicBezTo>
                <a:lnTo>
                  <a:pt x="4165004" y="2903549"/>
                </a:lnTo>
                <a:lnTo>
                  <a:pt x="4161730" y="2914327"/>
                </a:lnTo>
                <a:lnTo>
                  <a:pt x="4157099" y="2947858"/>
                </a:lnTo>
                <a:lnTo>
                  <a:pt x="4157098" y="2947861"/>
                </a:lnTo>
                <a:lnTo>
                  <a:pt x="4157098" y="2947862"/>
                </a:lnTo>
                <a:cubicBezTo>
                  <a:pt x="4156729" y="2959156"/>
                  <a:pt x="4157729" y="2970575"/>
                  <a:pt x="4160682" y="2982148"/>
                </a:cubicBezTo>
                <a:lnTo>
                  <a:pt x="4172375" y="3077401"/>
                </a:lnTo>
                <a:lnTo>
                  <a:pt x="4159920" y="3172653"/>
                </a:lnTo>
                <a:cubicBezTo>
                  <a:pt x="4134011" y="3276479"/>
                  <a:pt x="4106579" y="3380304"/>
                  <a:pt x="4112293" y="3489466"/>
                </a:cubicBezTo>
                <a:cubicBezTo>
                  <a:pt x="4113245" y="3507562"/>
                  <a:pt x="4101624" y="3529089"/>
                  <a:pt x="4090194" y="3544712"/>
                </a:cubicBezTo>
                <a:cubicBezTo>
                  <a:pt x="4079336" y="3559667"/>
                  <a:pt x="4073477" y="3566811"/>
                  <a:pt x="4072572" y="3574407"/>
                </a:cubicBezTo>
                <a:lnTo>
                  <a:pt x="4072572" y="3574408"/>
                </a:lnTo>
                <a:cubicBezTo>
                  <a:pt x="4071667" y="3582004"/>
                  <a:pt x="4075716" y="3590053"/>
                  <a:pt x="4084670" y="3606817"/>
                </a:cubicBezTo>
                <a:cubicBezTo>
                  <a:pt x="4089052" y="3614819"/>
                  <a:pt x="4091718" y="3624725"/>
                  <a:pt x="4098196" y="3630632"/>
                </a:cubicBezTo>
                <a:lnTo>
                  <a:pt x="4115925" y="3654415"/>
                </a:lnTo>
                <a:lnTo>
                  <a:pt x="4118836" y="3665923"/>
                </a:lnTo>
                <a:lnTo>
                  <a:pt x="4122437" y="3680163"/>
                </a:lnTo>
                <a:lnTo>
                  <a:pt x="4118389" y="3734836"/>
                </a:lnTo>
                <a:lnTo>
                  <a:pt x="4118389" y="3734837"/>
                </a:lnTo>
                <a:cubicBezTo>
                  <a:pt x="4117437" y="3741315"/>
                  <a:pt x="4116103" y="3749125"/>
                  <a:pt x="4118771" y="3754652"/>
                </a:cubicBezTo>
                <a:lnTo>
                  <a:pt x="4125128" y="3789775"/>
                </a:lnTo>
                <a:lnTo>
                  <a:pt x="4110197" y="3822471"/>
                </a:lnTo>
                <a:cubicBezTo>
                  <a:pt x="4103149" y="3831901"/>
                  <a:pt x="4097529" y="3842045"/>
                  <a:pt x="4095862" y="3852618"/>
                </a:cubicBezTo>
                <a:lnTo>
                  <a:pt x="4095862" y="3852619"/>
                </a:lnTo>
                <a:lnTo>
                  <a:pt x="4096642" y="3868763"/>
                </a:lnTo>
                <a:lnTo>
                  <a:pt x="4105245" y="3885336"/>
                </a:lnTo>
                <a:lnTo>
                  <a:pt x="4105245" y="3885338"/>
                </a:lnTo>
                <a:cubicBezTo>
                  <a:pt x="4114961" y="3897721"/>
                  <a:pt x="4122367" y="3910318"/>
                  <a:pt x="4127626" y="3923124"/>
                </a:cubicBezTo>
                <a:lnTo>
                  <a:pt x="4137130" y="3962159"/>
                </a:lnTo>
                <a:lnTo>
                  <a:pt x="4121438" y="4043837"/>
                </a:lnTo>
                <a:lnTo>
                  <a:pt x="4121437" y="4043838"/>
                </a:lnTo>
                <a:cubicBezTo>
                  <a:pt x="4112674" y="4063841"/>
                  <a:pt x="4107292" y="4083701"/>
                  <a:pt x="4106316" y="4103824"/>
                </a:cubicBezTo>
                <a:lnTo>
                  <a:pt x="4106316" y="4103825"/>
                </a:lnTo>
                <a:lnTo>
                  <a:pt x="4108283" y="4134255"/>
                </a:lnTo>
                <a:lnTo>
                  <a:pt x="4117627" y="4165381"/>
                </a:lnTo>
                <a:lnTo>
                  <a:pt x="4117627" y="4165383"/>
                </a:lnTo>
                <a:lnTo>
                  <a:pt x="4121532" y="4192387"/>
                </a:lnTo>
                <a:lnTo>
                  <a:pt x="4121532" y="4192386"/>
                </a:lnTo>
                <a:cubicBezTo>
                  <a:pt x="4121628" y="4182766"/>
                  <a:pt x="4121056" y="4173479"/>
                  <a:pt x="4117627" y="4165382"/>
                </a:cubicBezTo>
                <a:lnTo>
                  <a:pt x="4117627" y="4165381"/>
                </a:lnTo>
                <a:lnTo>
                  <a:pt x="4106316" y="4103825"/>
                </a:lnTo>
                <a:lnTo>
                  <a:pt x="4121437" y="4043839"/>
                </a:lnTo>
                <a:lnTo>
                  <a:pt x="4121438" y="4043837"/>
                </a:lnTo>
                <a:lnTo>
                  <a:pt x="4134740" y="4002409"/>
                </a:lnTo>
                <a:lnTo>
                  <a:pt x="4137130" y="3962159"/>
                </a:lnTo>
                <a:lnTo>
                  <a:pt x="4137130" y="3962158"/>
                </a:lnTo>
                <a:cubicBezTo>
                  <a:pt x="4134868" y="3935726"/>
                  <a:pt x="4124677" y="3910103"/>
                  <a:pt x="4105245" y="3885337"/>
                </a:cubicBezTo>
                <a:lnTo>
                  <a:pt x="4105245" y="3885336"/>
                </a:lnTo>
                <a:lnTo>
                  <a:pt x="4095862" y="3852619"/>
                </a:lnTo>
                <a:lnTo>
                  <a:pt x="4110197" y="3822472"/>
                </a:lnTo>
                <a:cubicBezTo>
                  <a:pt x="4118389" y="3811613"/>
                  <a:pt x="4123533" y="3800896"/>
                  <a:pt x="4125128" y="3789776"/>
                </a:cubicBezTo>
                <a:lnTo>
                  <a:pt x="4125128" y="3789775"/>
                </a:lnTo>
                <a:cubicBezTo>
                  <a:pt x="4126724" y="3778654"/>
                  <a:pt x="4124771" y="3767129"/>
                  <a:pt x="4118771" y="3754651"/>
                </a:cubicBezTo>
                <a:lnTo>
                  <a:pt x="4118389" y="3734837"/>
                </a:lnTo>
                <a:lnTo>
                  <a:pt x="4122437" y="3680163"/>
                </a:lnTo>
                <a:lnTo>
                  <a:pt x="4122437" y="3680162"/>
                </a:lnTo>
                <a:lnTo>
                  <a:pt x="4118836" y="3665923"/>
                </a:lnTo>
                <a:lnTo>
                  <a:pt x="4115925" y="3654415"/>
                </a:lnTo>
                <a:lnTo>
                  <a:pt x="4115925" y="3654415"/>
                </a:lnTo>
                <a:lnTo>
                  <a:pt x="4115925" y="3654415"/>
                </a:lnTo>
                <a:cubicBezTo>
                  <a:pt x="4112115" y="3646122"/>
                  <a:pt x="4106436" y="3638156"/>
                  <a:pt x="4098196" y="3630631"/>
                </a:cubicBezTo>
                <a:cubicBezTo>
                  <a:pt x="4091718" y="3624724"/>
                  <a:pt x="4089052" y="3614818"/>
                  <a:pt x="4084670" y="3606816"/>
                </a:cubicBezTo>
                <a:cubicBezTo>
                  <a:pt x="4080193" y="3598434"/>
                  <a:pt x="4076942" y="3592231"/>
                  <a:pt x="4074924" y="3587173"/>
                </a:cubicBezTo>
                <a:lnTo>
                  <a:pt x="4072572" y="3574407"/>
                </a:lnTo>
                <a:lnTo>
                  <a:pt x="4077651" y="3562320"/>
                </a:lnTo>
                <a:cubicBezTo>
                  <a:pt x="4080586" y="3557715"/>
                  <a:pt x="4084765" y="3552190"/>
                  <a:pt x="4090194" y="3544713"/>
                </a:cubicBezTo>
                <a:cubicBezTo>
                  <a:pt x="4101624" y="3529090"/>
                  <a:pt x="4113245" y="3507563"/>
                  <a:pt x="4112293" y="3489467"/>
                </a:cubicBezTo>
                <a:cubicBezTo>
                  <a:pt x="4106579" y="3380305"/>
                  <a:pt x="4134011" y="3276480"/>
                  <a:pt x="4159920" y="3172654"/>
                </a:cubicBezTo>
                <a:cubicBezTo>
                  <a:pt x="4167922" y="3140649"/>
                  <a:pt x="4172160" y="3109025"/>
                  <a:pt x="4172375" y="3077401"/>
                </a:cubicBezTo>
                <a:lnTo>
                  <a:pt x="4172375" y="3077400"/>
                </a:lnTo>
                <a:cubicBezTo>
                  <a:pt x="4172589" y="3045776"/>
                  <a:pt x="4168779" y="3014152"/>
                  <a:pt x="4160682" y="2982147"/>
                </a:cubicBezTo>
                <a:lnTo>
                  <a:pt x="4157098" y="2947862"/>
                </a:lnTo>
                <a:lnTo>
                  <a:pt x="4157099" y="2947858"/>
                </a:lnTo>
                <a:lnTo>
                  <a:pt x="4165004" y="2903549"/>
                </a:lnTo>
                <a:lnTo>
                  <a:pt x="4181637" y="2848793"/>
                </a:lnTo>
                <a:cubicBezTo>
                  <a:pt x="4182970" y="2844316"/>
                  <a:pt x="4186256" y="2839982"/>
                  <a:pt x="4190328" y="2836172"/>
                </a:cubicBezTo>
                <a:close/>
                <a:moveTo>
                  <a:pt x="3705842" y="1508457"/>
                </a:moveTo>
                <a:lnTo>
                  <a:pt x="3677748" y="1596213"/>
                </a:lnTo>
                <a:cubicBezTo>
                  <a:pt x="3675271" y="1604978"/>
                  <a:pt x="3676796" y="1615836"/>
                  <a:pt x="3679653" y="1624980"/>
                </a:cubicBezTo>
                <a:cubicBezTo>
                  <a:pt x="3689369" y="1656223"/>
                  <a:pt x="3713754" y="1676036"/>
                  <a:pt x="3736234" y="1697753"/>
                </a:cubicBezTo>
                <a:cubicBezTo>
                  <a:pt x="3746141" y="1707279"/>
                  <a:pt x="3753189" y="1720423"/>
                  <a:pt x="3758903" y="1733188"/>
                </a:cubicBezTo>
                <a:cubicBezTo>
                  <a:pt x="3773574" y="1766335"/>
                  <a:pt x="3786718" y="1800246"/>
                  <a:pt x="3800624" y="1833775"/>
                </a:cubicBezTo>
                <a:cubicBezTo>
                  <a:pt x="3801958" y="1837013"/>
                  <a:pt x="3805387" y="1839679"/>
                  <a:pt x="3808245" y="1842158"/>
                </a:cubicBezTo>
                <a:cubicBezTo>
                  <a:pt x="3838346" y="1866922"/>
                  <a:pt x="3868635" y="1891497"/>
                  <a:pt x="3898736" y="1916454"/>
                </a:cubicBezTo>
                <a:cubicBezTo>
                  <a:pt x="3904450" y="1921216"/>
                  <a:pt x="3908642" y="1928076"/>
                  <a:pt x="3914166" y="1933219"/>
                </a:cubicBezTo>
                <a:cubicBezTo>
                  <a:pt x="3921786" y="1940459"/>
                  <a:pt x="3929027" y="1949603"/>
                  <a:pt x="3938171" y="1953413"/>
                </a:cubicBezTo>
                <a:cubicBezTo>
                  <a:pt x="3966936" y="1965224"/>
                  <a:pt x="3979320" y="1987894"/>
                  <a:pt x="3984654" y="2016469"/>
                </a:cubicBezTo>
                <a:cubicBezTo>
                  <a:pt x="3989607" y="2042570"/>
                  <a:pt x="3993799" y="2068669"/>
                  <a:pt x="3999513" y="2094578"/>
                </a:cubicBezTo>
                <a:cubicBezTo>
                  <a:pt x="4006371" y="2126201"/>
                  <a:pt x="4013801" y="2157636"/>
                  <a:pt x="4022184" y="2188879"/>
                </a:cubicBezTo>
                <a:cubicBezTo>
                  <a:pt x="4025804" y="2202404"/>
                  <a:pt x="4029994" y="2216692"/>
                  <a:pt x="4037424" y="2228314"/>
                </a:cubicBezTo>
                <a:cubicBezTo>
                  <a:pt x="4057999" y="2260890"/>
                  <a:pt x="4071905" y="2295753"/>
                  <a:pt x="4066381" y="2334044"/>
                </a:cubicBezTo>
                <a:cubicBezTo>
                  <a:pt x="4061999" y="2364715"/>
                  <a:pt x="4073239" y="2390434"/>
                  <a:pt x="4090766" y="2409485"/>
                </a:cubicBezTo>
                <a:cubicBezTo>
                  <a:pt x="4098720" y="2418154"/>
                  <a:pt x="4104233" y="2426976"/>
                  <a:pt x="4107867" y="2435912"/>
                </a:cubicBezTo>
                <a:lnTo>
                  <a:pt x="4113698" y="2463017"/>
                </a:lnTo>
                <a:lnTo>
                  <a:pt x="4105056" y="2518262"/>
                </a:lnTo>
                <a:lnTo>
                  <a:pt x="4105055" y="2518263"/>
                </a:lnTo>
                <a:cubicBezTo>
                  <a:pt x="4102388" y="2527789"/>
                  <a:pt x="4101244" y="2536456"/>
                  <a:pt x="4101411" y="2545005"/>
                </a:cubicBezTo>
                <a:lnTo>
                  <a:pt x="4101411" y="2545006"/>
                </a:lnTo>
                <a:cubicBezTo>
                  <a:pt x="4101577" y="2553555"/>
                  <a:pt x="4103054" y="2561985"/>
                  <a:pt x="4105625" y="2571034"/>
                </a:cubicBezTo>
                <a:cubicBezTo>
                  <a:pt x="4117627" y="2612945"/>
                  <a:pt x="4150204" y="2640950"/>
                  <a:pt x="4178779" y="2668001"/>
                </a:cubicBezTo>
                <a:cubicBezTo>
                  <a:pt x="4203164" y="2691054"/>
                  <a:pt x="4216880" y="2716963"/>
                  <a:pt x="4227170" y="2745348"/>
                </a:cubicBezTo>
                <a:lnTo>
                  <a:pt x="4227170" y="2745351"/>
                </a:lnTo>
                <a:lnTo>
                  <a:pt x="4233090" y="2778005"/>
                </a:lnTo>
                <a:lnTo>
                  <a:pt x="4232670" y="2785439"/>
                </a:lnTo>
                <a:lnTo>
                  <a:pt x="4222591" y="2811779"/>
                </a:lnTo>
                <a:lnTo>
                  <a:pt x="4222587" y="2811786"/>
                </a:lnTo>
                <a:lnTo>
                  <a:pt x="4222588" y="2811786"/>
                </a:lnTo>
                <a:lnTo>
                  <a:pt x="4222591" y="2811779"/>
                </a:lnTo>
                <a:lnTo>
                  <a:pt x="4232241" y="2793022"/>
                </a:lnTo>
                <a:lnTo>
                  <a:pt x="4232670" y="2785439"/>
                </a:lnTo>
                <a:lnTo>
                  <a:pt x="4233870" y="2782304"/>
                </a:lnTo>
                <a:lnTo>
                  <a:pt x="4233090" y="2778005"/>
                </a:lnTo>
                <a:lnTo>
                  <a:pt x="4233500" y="2770757"/>
                </a:lnTo>
                <a:lnTo>
                  <a:pt x="4227170" y="2745351"/>
                </a:lnTo>
                <a:lnTo>
                  <a:pt x="4227170" y="2745347"/>
                </a:lnTo>
                <a:cubicBezTo>
                  <a:pt x="4216880" y="2716962"/>
                  <a:pt x="4203164" y="2691053"/>
                  <a:pt x="4178779" y="2668000"/>
                </a:cubicBezTo>
                <a:cubicBezTo>
                  <a:pt x="4150204" y="2640949"/>
                  <a:pt x="4117627" y="2612944"/>
                  <a:pt x="4105625" y="2571033"/>
                </a:cubicBezTo>
                <a:lnTo>
                  <a:pt x="4101411" y="2545006"/>
                </a:lnTo>
                <a:lnTo>
                  <a:pt x="4105055" y="2518264"/>
                </a:lnTo>
                <a:lnTo>
                  <a:pt x="4105056" y="2518262"/>
                </a:lnTo>
                <a:lnTo>
                  <a:pt x="4111636" y="2490550"/>
                </a:lnTo>
                <a:lnTo>
                  <a:pt x="4113698" y="2463017"/>
                </a:lnTo>
                <a:lnTo>
                  <a:pt x="4113698" y="2463016"/>
                </a:lnTo>
                <a:cubicBezTo>
                  <a:pt x="4112817" y="2444776"/>
                  <a:pt x="4106674" y="2426821"/>
                  <a:pt x="4090766" y="2409484"/>
                </a:cubicBezTo>
                <a:cubicBezTo>
                  <a:pt x="4073239" y="2390433"/>
                  <a:pt x="4061999" y="2364714"/>
                  <a:pt x="4066381" y="2334043"/>
                </a:cubicBezTo>
                <a:cubicBezTo>
                  <a:pt x="4071905" y="2295752"/>
                  <a:pt x="4057999" y="2260889"/>
                  <a:pt x="4037424" y="2228313"/>
                </a:cubicBezTo>
                <a:cubicBezTo>
                  <a:pt x="4029994" y="2216691"/>
                  <a:pt x="4025804" y="2202403"/>
                  <a:pt x="4022184" y="2188878"/>
                </a:cubicBezTo>
                <a:cubicBezTo>
                  <a:pt x="4013801" y="2157635"/>
                  <a:pt x="4006371" y="2126200"/>
                  <a:pt x="3999513" y="2094577"/>
                </a:cubicBezTo>
                <a:cubicBezTo>
                  <a:pt x="3993799" y="2068668"/>
                  <a:pt x="3989607" y="2042569"/>
                  <a:pt x="3984654" y="2016468"/>
                </a:cubicBezTo>
                <a:cubicBezTo>
                  <a:pt x="3979320" y="1987893"/>
                  <a:pt x="3966936" y="1965223"/>
                  <a:pt x="3938171" y="1953412"/>
                </a:cubicBezTo>
                <a:cubicBezTo>
                  <a:pt x="3929027" y="1949602"/>
                  <a:pt x="3921786" y="1940458"/>
                  <a:pt x="3914166" y="1933218"/>
                </a:cubicBezTo>
                <a:cubicBezTo>
                  <a:pt x="3908642" y="1928075"/>
                  <a:pt x="3904450" y="1921215"/>
                  <a:pt x="3898736" y="1916453"/>
                </a:cubicBezTo>
                <a:cubicBezTo>
                  <a:pt x="3868635" y="1891496"/>
                  <a:pt x="3838346" y="1866921"/>
                  <a:pt x="3808245" y="1842157"/>
                </a:cubicBezTo>
                <a:cubicBezTo>
                  <a:pt x="3805387" y="1839678"/>
                  <a:pt x="3801958" y="1837012"/>
                  <a:pt x="3800624" y="1833774"/>
                </a:cubicBezTo>
                <a:cubicBezTo>
                  <a:pt x="3786718" y="1800245"/>
                  <a:pt x="3773575" y="1766334"/>
                  <a:pt x="3758903" y="1733187"/>
                </a:cubicBezTo>
                <a:cubicBezTo>
                  <a:pt x="3753189" y="1720422"/>
                  <a:pt x="3746141" y="1707278"/>
                  <a:pt x="3736235" y="1697752"/>
                </a:cubicBezTo>
                <a:cubicBezTo>
                  <a:pt x="3713755" y="1676035"/>
                  <a:pt x="3689369" y="1656222"/>
                  <a:pt x="3679653" y="1624979"/>
                </a:cubicBezTo>
                <a:cubicBezTo>
                  <a:pt x="3676797" y="1615835"/>
                  <a:pt x="3675272" y="1604977"/>
                  <a:pt x="3677749" y="1596212"/>
                </a:cubicBezTo>
                <a:close/>
                <a:moveTo>
                  <a:pt x="3724447" y="1459072"/>
                </a:moveTo>
                <a:lnTo>
                  <a:pt x="3724446" y="1459073"/>
                </a:lnTo>
                <a:lnTo>
                  <a:pt x="3715229" y="1481571"/>
                </a:lnTo>
                <a:close/>
                <a:moveTo>
                  <a:pt x="3743640" y="1268757"/>
                </a:moveTo>
                <a:cubicBezTo>
                  <a:pt x="3744092" y="1275401"/>
                  <a:pt x="3745664" y="1281688"/>
                  <a:pt x="3748807" y="1286069"/>
                </a:cubicBezTo>
                <a:cubicBezTo>
                  <a:pt x="3763380" y="1306929"/>
                  <a:pt x="3769620" y="1328552"/>
                  <a:pt x="3771144" y="1350627"/>
                </a:cubicBezTo>
                <a:lnTo>
                  <a:pt x="3765550" y="1413839"/>
                </a:lnTo>
                <a:lnTo>
                  <a:pt x="3771145" y="1350626"/>
                </a:lnTo>
                <a:cubicBezTo>
                  <a:pt x="3769620" y="1328551"/>
                  <a:pt x="3763381" y="1306929"/>
                  <a:pt x="3748807" y="1286068"/>
                </a:cubicBezTo>
                <a:close/>
                <a:moveTo>
                  <a:pt x="3685369" y="773034"/>
                </a:moveTo>
                <a:lnTo>
                  <a:pt x="3685369" y="773035"/>
                </a:lnTo>
                <a:cubicBezTo>
                  <a:pt x="3687655" y="800276"/>
                  <a:pt x="3690893" y="827329"/>
                  <a:pt x="3693369" y="854379"/>
                </a:cubicBezTo>
                <a:cubicBezTo>
                  <a:pt x="3695655" y="878956"/>
                  <a:pt x="3696417" y="903722"/>
                  <a:pt x="3724422" y="915343"/>
                </a:cubicBezTo>
                <a:cubicBezTo>
                  <a:pt x="3728804" y="917059"/>
                  <a:pt x="3732042" y="922773"/>
                  <a:pt x="3734900" y="927155"/>
                </a:cubicBezTo>
                <a:cubicBezTo>
                  <a:pt x="3778908" y="994785"/>
                  <a:pt x="3777764" y="1030980"/>
                  <a:pt x="3731280" y="1097087"/>
                </a:cubicBezTo>
                <a:cubicBezTo>
                  <a:pt x="3726518" y="1103945"/>
                  <a:pt x="3723088" y="1118613"/>
                  <a:pt x="3726898" y="1123185"/>
                </a:cubicBezTo>
                <a:cubicBezTo>
                  <a:pt x="3742710" y="1142617"/>
                  <a:pt x="3749759" y="1162953"/>
                  <a:pt x="3751617" y="1184028"/>
                </a:cubicBezTo>
                <a:cubicBezTo>
                  <a:pt x="3749759" y="1162953"/>
                  <a:pt x="3742711" y="1142616"/>
                  <a:pt x="3726899" y="1123184"/>
                </a:cubicBezTo>
                <a:cubicBezTo>
                  <a:pt x="3723089" y="1118612"/>
                  <a:pt x="3726519" y="1103944"/>
                  <a:pt x="3731281" y="1097086"/>
                </a:cubicBezTo>
                <a:cubicBezTo>
                  <a:pt x="3777765" y="1030979"/>
                  <a:pt x="3778909" y="994784"/>
                  <a:pt x="3734901" y="927154"/>
                </a:cubicBezTo>
                <a:cubicBezTo>
                  <a:pt x="3732043" y="922772"/>
                  <a:pt x="3728805" y="917058"/>
                  <a:pt x="3724423" y="915342"/>
                </a:cubicBezTo>
                <a:cubicBezTo>
                  <a:pt x="3696417" y="903721"/>
                  <a:pt x="3695655" y="878955"/>
                  <a:pt x="3693369" y="854378"/>
                </a:cubicBezTo>
                <a:close/>
                <a:moveTo>
                  <a:pt x="3740770" y="517850"/>
                </a:moveTo>
                <a:lnTo>
                  <a:pt x="3731852" y="556047"/>
                </a:lnTo>
                <a:cubicBezTo>
                  <a:pt x="3729756" y="564048"/>
                  <a:pt x="3724232" y="572622"/>
                  <a:pt x="3725374" y="580050"/>
                </a:cubicBezTo>
                <a:cubicBezTo>
                  <a:pt x="3728708" y="601578"/>
                  <a:pt x="3726279" y="622200"/>
                  <a:pt x="3721993" y="642537"/>
                </a:cubicBezTo>
                <a:lnTo>
                  <a:pt x="3709470" y="694927"/>
                </a:lnTo>
                <a:lnTo>
                  <a:pt x="3721994" y="642536"/>
                </a:lnTo>
                <a:cubicBezTo>
                  <a:pt x="3726280" y="622200"/>
                  <a:pt x="3728709" y="601577"/>
                  <a:pt x="3725375" y="580049"/>
                </a:cubicBezTo>
                <a:cubicBezTo>
                  <a:pt x="3724233" y="572621"/>
                  <a:pt x="3729757" y="564047"/>
                  <a:pt x="3731853" y="556046"/>
                </a:cubicBezTo>
                <a:close/>
                <a:moveTo>
                  <a:pt x="3754065" y="298168"/>
                </a:moveTo>
                <a:lnTo>
                  <a:pt x="3739283" y="313532"/>
                </a:lnTo>
                <a:lnTo>
                  <a:pt x="3739283" y="313532"/>
                </a:lnTo>
                <a:lnTo>
                  <a:pt x="3739282" y="313533"/>
                </a:lnTo>
                <a:cubicBezTo>
                  <a:pt x="3735090" y="316389"/>
                  <a:pt x="3737376" y="330298"/>
                  <a:pt x="3738710" y="338870"/>
                </a:cubicBezTo>
                <a:lnTo>
                  <a:pt x="3738716" y="338898"/>
                </a:lnTo>
                <a:lnTo>
                  <a:pt x="3748617" y="395639"/>
                </a:lnTo>
                <a:lnTo>
                  <a:pt x="3744807" y="367327"/>
                </a:lnTo>
                <a:lnTo>
                  <a:pt x="3738716" y="338898"/>
                </a:lnTo>
                <a:lnTo>
                  <a:pt x="3738711" y="338869"/>
                </a:lnTo>
                <a:cubicBezTo>
                  <a:pt x="3738044" y="334583"/>
                  <a:pt x="3737139" y="328963"/>
                  <a:pt x="3736925" y="324057"/>
                </a:cubicBezTo>
                <a:lnTo>
                  <a:pt x="3739283" y="313532"/>
                </a:lnTo>
                <a:close/>
                <a:moveTo>
                  <a:pt x="3761610" y="281567"/>
                </a:moveTo>
                <a:lnTo>
                  <a:pt x="3756715" y="295414"/>
                </a:lnTo>
                <a:lnTo>
                  <a:pt x="3756716" y="295414"/>
                </a:lnTo>
                <a:close/>
                <a:moveTo>
                  <a:pt x="3748290" y="24485"/>
                </a:moveTo>
                <a:lnTo>
                  <a:pt x="3746027" y="74128"/>
                </a:lnTo>
                <a:cubicBezTo>
                  <a:pt x="3746950" y="91491"/>
                  <a:pt x="3749260" y="108702"/>
                  <a:pt x="3751951" y="125860"/>
                </a:cubicBezTo>
                <a:lnTo>
                  <a:pt x="3756346" y="153386"/>
                </a:lnTo>
                <a:lnTo>
                  <a:pt x="3764619" y="228943"/>
                </a:lnTo>
                <a:lnTo>
                  <a:pt x="3760160" y="177270"/>
                </a:lnTo>
                <a:lnTo>
                  <a:pt x="3756346" y="153386"/>
                </a:lnTo>
                <a:lnTo>
                  <a:pt x="3756147" y="151568"/>
                </a:lnTo>
                <a:cubicBezTo>
                  <a:pt x="3751917" y="125875"/>
                  <a:pt x="3747412" y="100173"/>
                  <a:pt x="3746028" y="74128"/>
                </a:cubicBezTo>
                <a:close/>
                <a:moveTo>
                  <a:pt x="3745709" y="0"/>
                </a:moveTo>
                <a:lnTo>
                  <a:pt x="3748427" y="21485"/>
                </a:lnTo>
                <a:lnTo>
                  <a:pt x="3745709" y="0"/>
                </a:lnTo>
                <a:lnTo>
                  <a:pt x="4209817" y="0"/>
                </a:lnTo>
                <a:lnTo>
                  <a:pt x="4208690" y="2816"/>
                </a:lnTo>
                <a:cubicBezTo>
                  <a:pt x="4200308" y="21485"/>
                  <a:pt x="4197640" y="43011"/>
                  <a:pt x="4194592" y="63586"/>
                </a:cubicBezTo>
                <a:cubicBezTo>
                  <a:pt x="4189067" y="101307"/>
                  <a:pt x="4185637" y="139218"/>
                  <a:pt x="4180685" y="176938"/>
                </a:cubicBezTo>
                <a:cubicBezTo>
                  <a:pt x="4179541" y="184940"/>
                  <a:pt x="4177447" y="194084"/>
                  <a:pt x="4172683" y="200181"/>
                </a:cubicBezTo>
                <a:cubicBezTo>
                  <a:pt x="4140678" y="241900"/>
                  <a:pt x="4131725" y="292578"/>
                  <a:pt x="4134771" y="340773"/>
                </a:cubicBezTo>
                <a:cubicBezTo>
                  <a:pt x="4137060" y="378685"/>
                  <a:pt x="4138774" y="415834"/>
                  <a:pt x="4135536" y="453363"/>
                </a:cubicBezTo>
                <a:cubicBezTo>
                  <a:pt x="4135344" y="456221"/>
                  <a:pt x="4135726" y="460031"/>
                  <a:pt x="4137250" y="462125"/>
                </a:cubicBezTo>
                <a:cubicBezTo>
                  <a:pt x="4147346" y="475080"/>
                  <a:pt x="4148108" y="488606"/>
                  <a:pt x="4149822" y="505181"/>
                </a:cubicBezTo>
                <a:cubicBezTo>
                  <a:pt x="4152300" y="528614"/>
                  <a:pt x="4150584" y="550140"/>
                  <a:pt x="4146394" y="571859"/>
                </a:cubicBezTo>
                <a:cubicBezTo>
                  <a:pt x="4143346" y="587671"/>
                  <a:pt x="4137060" y="603672"/>
                  <a:pt x="4129057" y="617771"/>
                </a:cubicBezTo>
                <a:cubicBezTo>
                  <a:pt x="4117817" y="637391"/>
                  <a:pt x="4113437" y="656254"/>
                  <a:pt x="4128295" y="674922"/>
                </a:cubicBezTo>
                <a:cubicBezTo>
                  <a:pt x="4144108" y="695115"/>
                  <a:pt x="4138584" y="717976"/>
                  <a:pt x="4139154" y="740267"/>
                </a:cubicBezTo>
                <a:cubicBezTo>
                  <a:pt x="4139346" y="749981"/>
                  <a:pt x="4138964" y="760269"/>
                  <a:pt x="4141440" y="769604"/>
                </a:cubicBezTo>
                <a:cubicBezTo>
                  <a:pt x="4148490" y="796654"/>
                  <a:pt x="4159158" y="822755"/>
                  <a:pt x="4163920" y="850188"/>
                </a:cubicBezTo>
                <a:cubicBezTo>
                  <a:pt x="4166587" y="865429"/>
                  <a:pt x="4161824" y="882383"/>
                  <a:pt x="4158396" y="898197"/>
                </a:cubicBezTo>
                <a:cubicBezTo>
                  <a:pt x="4154776" y="914199"/>
                  <a:pt x="4149252" y="930010"/>
                  <a:pt x="4143536" y="945443"/>
                </a:cubicBezTo>
                <a:cubicBezTo>
                  <a:pt x="4139726" y="955919"/>
                  <a:pt x="4136106" y="967349"/>
                  <a:pt x="4129247" y="975732"/>
                </a:cubicBezTo>
                <a:cubicBezTo>
                  <a:pt x="4113627" y="994784"/>
                  <a:pt x="4110959" y="1014405"/>
                  <a:pt x="4119151" y="1036886"/>
                </a:cubicBezTo>
                <a:cubicBezTo>
                  <a:pt x="4120485" y="1040314"/>
                  <a:pt x="4120485" y="1044314"/>
                  <a:pt x="4120675" y="1048124"/>
                </a:cubicBezTo>
                <a:cubicBezTo>
                  <a:pt x="4124675" y="1109090"/>
                  <a:pt x="4127153" y="1170050"/>
                  <a:pt x="4133249" y="1230632"/>
                </a:cubicBezTo>
                <a:cubicBezTo>
                  <a:pt x="4135726" y="1255205"/>
                  <a:pt x="4146584" y="1278828"/>
                  <a:pt x="4153442" y="1303023"/>
                </a:cubicBezTo>
                <a:cubicBezTo>
                  <a:pt x="4154776" y="1307977"/>
                  <a:pt x="4156872" y="1313503"/>
                  <a:pt x="4155918" y="1318455"/>
                </a:cubicBezTo>
                <a:cubicBezTo>
                  <a:pt x="4146394" y="1372367"/>
                  <a:pt x="4160300" y="1422853"/>
                  <a:pt x="4178589" y="1472574"/>
                </a:cubicBezTo>
                <a:cubicBezTo>
                  <a:pt x="4180495" y="1477716"/>
                  <a:pt x="4179923" y="1484003"/>
                  <a:pt x="4179541" y="1489719"/>
                </a:cubicBezTo>
                <a:cubicBezTo>
                  <a:pt x="4178209" y="1505723"/>
                  <a:pt x="4171541" y="1523058"/>
                  <a:pt x="4175541" y="1537536"/>
                </a:cubicBezTo>
                <a:cubicBezTo>
                  <a:pt x="4186591" y="1576018"/>
                  <a:pt x="4199926" y="1614119"/>
                  <a:pt x="4216690" y="1650316"/>
                </a:cubicBezTo>
                <a:cubicBezTo>
                  <a:pt x="4233645" y="1687085"/>
                  <a:pt x="4247933" y="1721184"/>
                  <a:pt x="4230789" y="1763286"/>
                </a:cubicBezTo>
                <a:cubicBezTo>
                  <a:pt x="4223548" y="1781193"/>
                  <a:pt x="4228693" y="1804815"/>
                  <a:pt x="4230597" y="1825392"/>
                </a:cubicBezTo>
                <a:cubicBezTo>
                  <a:pt x="4232121" y="1840440"/>
                  <a:pt x="4240696" y="1854919"/>
                  <a:pt x="4240696" y="1869779"/>
                </a:cubicBezTo>
                <a:cubicBezTo>
                  <a:pt x="4240696" y="1909407"/>
                  <a:pt x="4250791" y="1944648"/>
                  <a:pt x="4271366" y="1978939"/>
                </a:cubicBezTo>
                <a:cubicBezTo>
                  <a:pt x="4279367" y="1992278"/>
                  <a:pt x="4274032" y="2013042"/>
                  <a:pt x="4276128" y="2030377"/>
                </a:cubicBezTo>
                <a:cubicBezTo>
                  <a:pt x="4278604" y="2048667"/>
                  <a:pt x="4280890" y="2067524"/>
                  <a:pt x="4286418" y="2085053"/>
                </a:cubicBezTo>
                <a:cubicBezTo>
                  <a:pt x="4300895" y="2130392"/>
                  <a:pt x="4317278" y="2175162"/>
                  <a:pt x="4332518" y="2220311"/>
                </a:cubicBezTo>
                <a:cubicBezTo>
                  <a:pt x="4345093" y="2257458"/>
                  <a:pt x="4335186" y="2294038"/>
                  <a:pt x="4329853" y="2330805"/>
                </a:cubicBezTo>
                <a:cubicBezTo>
                  <a:pt x="4326422" y="2353858"/>
                  <a:pt x="4318230" y="2375382"/>
                  <a:pt x="4330422" y="2401291"/>
                </a:cubicBezTo>
                <a:cubicBezTo>
                  <a:pt x="4342044" y="2426058"/>
                  <a:pt x="4339377" y="2457491"/>
                  <a:pt x="4345663" y="2485306"/>
                </a:cubicBezTo>
                <a:cubicBezTo>
                  <a:pt x="4350997" y="2508741"/>
                  <a:pt x="4359572" y="2531408"/>
                  <a:pt x="4367953" y="2554078"/>
                </a:cubicBezTo>
                <a:cubicBezTo>
                  <a:pt x="4379384" y="2584941"/>
                  <a:pt x="4391384" y="2615420"/>
                  <a:pt x="4385670" y="2649142"/>
                </a:cubicBezTo>
                <a:cubicBezTo>
                  <a:pt x="4379192" y="2687435"/>
                  <a:pt x="4403577" y="2713722"/>
                  <a:pt x="4419771" y="2743825"/>
                </a:cubicBezTo>
                <a:cubicBezTo>
                  <a:pt x="4430819" y="2764589"/>
                  <a:pt x="4439012" y="2787258"/>
                  <a:pt x="4445870" y="2809929"/>
                </a:cubicBezTo>
                <a:cubicBezTo>
                  <a:pt x="4454824" y="2840218"/>
                  <a:pt x="4460158" y="2871461"/>
                  <a:pt x="4468921" y="2901942"/>
                </a:cubicBezTo>
                <a:cubicBezTo>
                  <a:pt x="4482065" y="2948046"/>
                  <a:pt x="4492353" y="2994721"/>
                  <a:pt x="4485113" y="3042727"/>
                </a:cubicBezTo>
                <a:cubicBezTo>
                  <a:pt x="4481875" y="3064826"/>
                  <a:pt x="4482065" y="3085402"/>
                  <a:pt x="4486829" y="3107499"/>
                </a:cubicBezTo>
                <a:cubicBezTo>
                  <a:pt x="4494639" y="3143694"/>
                  <a:pt x="4495592" y="3180843"/>
                  <a:pt x="4524738" y="3209992"/>
                </a:cubicBezTo>
                <a:cubicBezTo>
                  <a:pt x="4535027" y="3220279"/>
                  <a:pt x="4537693" y="3238757"/>
                  <a:pt x="4543028" y="3253808"/>
                </a:cubicBezTo>
                <a:cubicBezTo>
                  <a:pt x="4549315" y="3271144"/>
                  <a:pt x="4546075" y="3283907"/>
                  <a:pt x="4527787" y="3293243"/>
                </a:cubicBezTo>
                <a:cubicBezTo>
                  <a:pt x="4519596" y="3297433"/>
                  <a:pt x="4511594" y="3309436"/>
                  <a:pt x="4510260" y="3318770"/>
                </a:cubicBezTo>
                <a:cubicBezTo>
                  <a:pt x="4506260" y="3346775"/>
                  <a:pt x="4512166" y="3372494"/>
                  <a:pt x="4525122" y="3399545"/>
                </a:cubicBezTo>
                <a:cubicBezTo>
                  <a:pt x="4537313" y="3424882"/>
                  <a:pt x="4535979" y="3456507"/>
                  <a:pt x="4540741" y="3485274"/>
                </a:cubicBezTo>
                <a:cubicBezTo>
                  <a:pt x="4544171" y="3505656"/>
                  <a:pt x="4551219" y="3526041"/>
                  <a:pt x="4551219" y="3546616"/>
                </a:cubicBezTo>
                <a:cubicBezTo>
                  <a:pt x="4551219" y="3572145"/>
                  <a:pt x="4545123" y="3597481"/>
                  <a:pt x="4542837" y="3623200"/>
                </a:cubicBezTo>
                <a:cubicBezTo>
                  <a:pt x="4540933" y="3643203"/>
                  <a:pt x="4541695" y="3663588"/>
                  <a:pt x="4539409" y="3683590"/>
                </a:cubicBezTo>
                <a:cubicBezTo>
                  <a:pt x="4537693" y="3699975"/>
                  <a:pt x="4533313" y="3716167"/>
                  <a:pt x="4529694" y="3732360"/>
                </a:cubicBezTo>
                <a:cubicBezTo>
                  <a:pt x="4528359" y="3738266"/>
                  <a:pt x="4523214" y="3744172"/>
                  <a:pt x="4523976" y="3749505"/>
                </a:cubicBezTo>
                <a:cubicBezTo>
                  <a:pt x="4532169" y="3802466"/>
                  <a:pt x="4495592" y="3840568"/>
                  <a:pt x="4479399" y="3885337"/>
                </a:cubicBezTo>
                <a:cubicBezTo>
                  <a:pt x="4462252" y="3932393"/>
                  <a:pt x="4435964" y="3977924"/>
                  <a:pt x="4443774" y="4030502"/>
                </a:cubicBezTo>
                <a:cubicBezTo>
                  <a:pt x="4448536" y="4062317"/>
                  <a:pt x="4459586" y="4092988"/>
                  <a:pt x="4466255" y="4124613"/>
                </a:cubicBezTo>
                <a:cubicBezTo>
                  <a:pt x="4468541" y="4135853"/>
                  <a:pt x="4468159" y="4148426"/>
                  <a:pt x="4465873" y="4159666"/>
                </a:cubicBezTo>
                <a:cubicBezTo>
                  <a:pt x="4455394" y="4213960"/>
                  <a:pt x="4453871" y="4267492"/>
                  <a:pt x="4471017" y="4320836"/>
                </a:cubicBezTo>
                <a:cubicBezTo>
                  <a:pt x="4473875" y="4329978"/>
                  <a:pt x="4476541" y="4339694"/>
                  <a:pt x="4476541" y="4349221"/>
                </a:cubicBezTo>
                <a:cubicBezTo>
                  <a:pt x="4476541" y="4401418"/>
                  <a:pt x="4472541" y="4452664"/>
                  <a:pt x="4453871" y="4502578"/>
                </a:cubicBezTo>
                <a:cubicBezTo>
                  <a:pt x="4447584" y="4519342"/>
                  <a:pt x="4451584" y="4539727"/>
                  <a:pt x="4450060" y="4558206"/>
                </a:cubicBezTo>
                <a:cubicBezTo>
                  <a:pt x="4448728" y="4575350"/>
                  <a:pt x="4448156" y="4592877"/>
                  <a:pt x="4443774" y="4609451"/>
                </a:cubicBezTo>
                <a:cubicBezTo>
                  <a:pt x="4437298" y="4633646"/>
                  <a:pt x="4436536" y="4656125"/>
                  <a:pt x="4442250" y="4681082"/>
                </a:cubicBezTo>
                <a:cubicBezTo>
                  <a:pt x="4447584" y="4704894"/>
                  <a:pt x="4444919" y="4730613"/>
                  <a:pt x="4445108" y="4755380"/>
                </a:cubicBezTo>
                <a:cubicBezTo>
                  <a:pt x="4445298" y="4783003"/>
                  <a:pt x="4445488" y="4810626"/>
                  <a:pt x="4444537" y="4838249"/>
                </a:cubicBezTo>
                <a:cubicBezTo>
                  <a:pt x="4444156" y="4849299"/>
                  <a:pt x="4436536" y="4861872"/>
                  <a:pt x="4439584" y="4871018"/>
                </a:cubicBezTo>
                <a:cubicBezTo>
                  <a:pt x="4449870" y="4900545"/>
                  <a:pt x="4437488" y="4930074"/>
                  <a:pt x="4443012" y="4959601"/>
                </a:cubicBezTo>
                <a:cubicBezTo>
                  <a:pt x="4445870" y="4974081"/>
                  <a:pt x="4438060" y="4990464"/>
                  <a:pt x="4437298" y="5006085"/>
                </a:cubicBezTo>
                <a:cubicBezTo>
                  <a:pt x="4435964" y="5031613"/>
                  <a:pt x="4436536" y="5057140"/>
                  <a:pt x="4436154" y="5082669"/>
                </a:cubicBezTo>
                <a:cubicBezTo>
                  <a:pt x="4435964" y="5091051"/>
                  <a:pt x="4435203" y="5099244"/>
                  <a:pt x="4434819" y="5107626"/>
                </a:cubicBezTo>
                <a:cubicBezTo>
                  <a:pt x="4434439" y="5115056"/>
                  <a:pt x="4432725" y="5122866"/>
                  <a:pt x="4434057" y="5129915"/>
                </a:cubicBezTo>
                <a:cubicBezTo>
                  <a:pt x="4438822" y="5155444"/>
                  <a:pt x="4446632" y="5180590"/>
                  <a:pt x="4449680" y="5206307"/>
                </a:cubicBezTo>
                <a:cubicBezTo>
                  <a:pt x="4452346" y="5228596"/>
                  <a:pt x="4448728" y="5251649"/>
                  <a:pt x="4450632" y="5274128"/>
                </a:cubicBezTo>
                <a:cubicBezTo>
                  <a:pt x="4453871" y="5313753"/>
                  <a:pt x="4459586" y="5353378"/>
                  <a:pt x="4463207" y="5393004"/>
                </a:cubicBezTo>
                <a:cubicBezTo>
                  <a:pt x="4463968" y="5401578"/>
                  <a:pt x="4459204" y="5410530"/>
                  <a:pt x="4458824" y="5419294"/>
                </a:cubicBezTo>
                <a:cubicBezTo>
                  <a:pt x="4457872" y="5446727"/>
                  <a:pt x="4457680" y="5474160"/>
                  <a:pt x="4457110" y="5501593"/>
                </a:cubicBezTo>
                <a:cubicBezTo>
                  <a:pt x="4456918" y="5517214"/>
                  <a:pt x="4457490" y="5533026"/>
                  <a:pt x="4455776" y="5548459"/>
                </a:cubicBezTo>
                <a:cubicBezTo>
                  <a:pt x="4453490" y="5568841"/>
                  <a:pt x="4450060" y="5587320"/>
                  <a:pt x="4464920" y="5606371"/>
                </a:cubicBezTo>
                <a:cubicBezTo>
                  <a:pt x="4487972" y="5635710"/>
                  <a:pt x="4479018" y="5673049"/>
                  <a:pt x="4484351" y="5706958"/>
                </a:cubicBezTo>
                <a:cubicBezTo>
                  <a:pt x="4485685" y="5715722"/>
                  <a:pt x="4485875" y="5724677"/>
                  <a:pt x="4487399" y="5733439"/>
                </a:cubicBezTo>
                <a:cubicBezTo>
                  <a:pt x="4490257" y="5749633"/>
                  <a:pt x="4493495" y="5765634"/>
                  <a:pt x="4496736" y="5781829"/>
                </a:cubicBezTo>
                <a:cubicBezTo>
                  <a:pt x="4497306" y="5784685"/>
                  <a:pt x="4497498" y="5787923"/>
                  <a:pt x="4498450" y="5790591"/>
                </a:cubicBezTo>
                <a:cubicBezTo>
                  <a:pt x="4506450" y="5815168"/>
                  <a:pt x="4515594" y="5839360"/>
                  <a:pt x="4522072" y="5864317"/>
                </a:cubicBezTo>
                <a:cubicBezTo>
                  <a:pt x="4525311" y="5876510"/>
                  <a:pt x="4525693" y="5890036"/>
                  <a:pt x="4523976" y="5902609"/>
                </a:cubicBezTo>
                <a:cubicBezTo>
                  <a:pt x="4519024" y="5939376"/>
                  <a:pt x="4516928" y="5975763"/>
                  <a:pt x="4524168" y="6012722"/>
                </a:cubicBezTo>
                <a:cubicBezTo>
                  <a:pt x="4527025" y="6027391"/>
                  <a:pt x="4522263" y="6043775"/>
                  <a:pt x="4520548" y="6059396"/>
                </a:cubicBezTo>
                <a:cubicBezTo>
                  <a:pt x="4515976" y="6096735"/>
                  <a:pt x="4511022" y="6134074"/>
                  <a:pt x="4506642" y="6171604"/>
                </a:cubicBezTo>
                <a:cubicBezTo>
                  <a:pt x="4503975" y="6195036"/>
                  <a:pt x="4502450" y="6218659"/>
                  <a:pt x="4499785" y="6242092"/>
                </a:cubicBezTo>
                <a:cubicBezTo>
                  <a:pt x="4496544" y="6269143"/>
                  <a:pt x="4491591" y="6296004"/>
                  <a:pt x="4488923" y="6323057"/>
                </a:cubicBezTo>
                <a:cubicBezTo>
                  <a:pt x="4485875" y="6353918"/>
                  <a:pt x="4485305" y="6384971"/>
                  <a:pt x="4482065" y="6415832"/>
                </a:cubicBezTo>
                <a:cubicBezTo>
                  <a:pt x="4475779" y="6472224"/>
                  <a:pt x="4468349" y="6528423"/>
                  <a:pt x="4461300" y="6584811"/>
                </a:cubicBezTo>
                <a:cubicBezTo>
                  <a:pt x="4454442" y="6639487"/>
                  <a:pt x="4448346" y="6694163"/>
                  <a:pt x="4439775" y="6748457"/>
                </a:cubicBezTo>
                <a:cubicBezTo>
                  <a:pt x="4436154" y="6771318"/>
                  <a:pt x="4426247" y="6793034"/>
                  <a:pt x="4420723" y="6815515"/>
                </a:cubicBezTo>
                <a:lnTo>
                  <a:pt x="4411023" y="6858000"/>
                </a:lnTo>
                <a:lnTo>
                  <a:pt x="4238770" y="6858000"/>
                </a:lnTo>
                <a:lnTo>
                  <a:pt x="0" y="6858000"/>
                </a:lnTo>
                <a:lnTo>
                  <a:pt x="0" y="1"/>
                </a:lnTo>
                <a:close/>
              </a:path>
            </a:pathLst>
          </a:custGeom>
        </p:spPr>
      </p:pic>
      <p:grpSp>
        <p:nvGrpSpPr>
          <p:cNvPr id="23" name="Group 22">
            <a:extLst>
              <a:ext uri="{FF2B5EF4-FFF2-40B4-BE49-F238E27FC236}">
                <a16:creationId xmlns:a16="http://schemas.microsoft.com/office/drawing/2014/main" id="{A7900967-84CA-47B4-9F1C-E787BAC149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04043" y="-1"/>
            <a:ext cx="718446" cy="6858001"/>
            <a:chOff x="3697284" y="-1"/>
            <a:chExt cx="884241" cy="6858001"/>
          </a:xfrm>
          <a:effectLst>
            <a:outerShdw blurRad="381000" dist="152400" algn="l" rotWithShape="0">
              <a:prstClr val="black">
                <a:alpha val="10000"/>
              </a:prstClr>
            </a:outerShdw>
          </a:effectLst>
        </p:grpSpPr>
        <p:sp>
          <p:nvSpPr>
            <p:cNvPr id="24" name="Freeform: Shape 23">
              <a:extLst>
                <a:ext uri="{FF2B5EF4-FFF2-40B4-BE49-F238E27FC236}">
                  <a16:creationId xmlns:a16="http://schemas.microsoft.com/office/drawing/2014/main" id="{CAB3C749-6482-440B-9386-94091006D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3C5C6B36-2238-4BBF-87F8-B1B3F5DD5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7479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0">
            <a:extLst>
              <a:ext uri="{FF2B5EF4-FFF2-40B4-BE49-F238E27FC236}">
                <a16:creationId xmlns:a16="http://schemas.microsoft.com/office/drawing/2014/main" id="{D776D29F-0A2C-4F75-8582-7C7DFCBD1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ítulo 6">
            <a:extLst>
              <a:ext uri="{FF2B5EF4-FFF2-40B4-BE49-F238E27FC236}">
                <a16:creationId xmlns:a16="http://schemas.microsoft.com/office/drawing/2014/main" id="{2FA0EC3D-EAA8-BA6A-4760-D7463B68E405}"/>
              </a:ext>
            </a:extLst>
          </p:cNvPr>
          <p:cNvSpPr>
            <a:spLocks noGrp="1"/>
          </p:cNvSpPr>
          <p:nvPr>
            <p:ph type="title"/>
          </p:nvPr>
        </p:nvSpPr>
        <p:spPr>
          <a:xfrm>
            <a:off x="200472" y="1174821"/>
            <a:ext cx="4035375" cy="2858363"/>
          </a:xfrm>
        </p:spPr>
        <p:txBody>
          <a:bodyPr vert="horz" lIns="91440" tIns="45720" rIns="91440" bIns="45720" rtlCol="0" anchor="b">
            <a:normAutofit fontScale="90000"/>
          </a:bodyPr>
          <a:lstStyle/>
          <a:p>
            <a:pPr>
              <a:lnSpc>
                <a:spcPct val="150000"/>
              </a:lnSpc>
            </a:pPr>
            <a:r>
              <a:rPr lang="en-US" sz="6000" dirty="0">
                <a:solidFill>
                  <a:schemeClr val="bg1"/>
                </a:solidFill>
              </a:rPr>
              <a:t>¿</a:t>
            </a:r>
            <a:r>
              <a:rPr lang="en-US" sz="6000" dirty="0" err="1">
                <a:solidFill>
                  <a:schemeClr val="bg1"/>
                </a:solidFill>
              </a:rPr>
              <a:t>Qué</a:t>
            </a:r>
            <a:r>
              <a:rPr lang="en-US" sz="6000" dirty="0">
                <a:solidFill>
                  <a:schemeClr val="bg1"/>
                </a:solidFill>
              </a:rPr>
              <a:t> </a:t>
            </a:r>
            <a:r>
              <a:rPr lang="en-US" sz="6000" dirty="0" err="1">
                <a:solidFill>
                  <a:schemeClr val="bg1"/>
                </a:solidFill>
              </a:rPr>
              <a:t>pensamos</a:t>
            </a:r>
            <a:r>
              <a:rPr lang="en-US" sz="6000" dirty="0">
                <a:solidFill>
                  <a:schemeClr val="bg1"/>
                </a:solidFill>
              </a:rPr>
              <a:t> de </a:t>
            </a:r>
            <a:r>
              <a:rPr lang="en-US" sz="6000" b="1" dirty="0">
                <a:solidFill>
                  <a:schemeClr val="accent2"/>
                </a:solidFill>
              </a:rPr>
              <a:t>HUELGA</a:t>
            </a:r>
            <a:r>
              <a:rPr lang="en-US" sz="6000" dirty="0">
                <a:solidFill>
                  <a:schemeClr val="bg1"/>
                </a:solidFill>
              </a:rPr>
              <a:t>?</a:t>
            </a:r>
          </a:p>
        </p:txBody>
      </p:sp>
      <p:pic>
        <p:nvPicPr>
          <p:cNvPr id="6" name="Imagen 5" descr="Una multitud de gente en la calle&#10;&#10;Descripción generada automáticamente">
            <a:extLst>
              <a:ext uri="{FF2B5EF4-FFF2-40B4-BE49-F238E27FC236}">
                <a16:creationId xmlns:a16="http://schemas.microsoft.com/office/drawing/2014/main" id="{D1AD96FF-FDF9-252E-49CD-FC9C60B1C182}"/>
              </a:ext>
            </a:extLst>
          </p:cNvPr>
          <p:cNvPicPr>
            <a:picLocks noChangeAspect="1"/>
          </p:cNvPicPr>
          <p:nvPr/>
        </p:nvPicPr>
        <p:blipFill>
          <a:blip r:embed="rId2">
            <a:extLst>
              <a:ext uri="{28A0092B-C50C-407E-A947-70E740481C1C}">
                <a14:useLocalDpi xmlns:a14="http://schemas.microsoft.com/office/drawing/2010/main" val="0"/>
              </a:ext>
            </a:extLst>
          </a:blip>
          <a:srcRect t="25641" r="-2" b="5312"/>
          <a:stretch/>
        </p:blipFill>
        <p:spPr>
          <a:xfrm>
            <a:off x="4616905" y="3"/>
            <a:ext cx="5289097"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effectLst>
            <a:outerShdw blurRad="381000" dist="152400" dir="10800000" algn="r" rotWithShape="0">
              <a:prstClr val="black">
                <a:alpha val="10000"/>
              </a:prstClr>
            </a:outerShdw>
          </a:effectLst>
        </p:spPr>
      </p:pic>
      <p:sp>
        <p:nvSpPr>
          <p:cNvPr id="28" name="Freeform: Shape 22">
            <a:extLst>
              <a:ext uri="{FF2B5EF4-FFF2-40B4-BE49-F238E27FC236}">
                <a16:creationId xmlns:a16="http://schemas.microsoft.com/office/drawing/2014/main" id="{C4D41903-2C9D-4F9E-AA1F-6161F8A6F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02917" y="3073377"/>
            <a:ext cx="6857455" cy="71070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4">
            <a:extLst>
              <a:ext uri="{FF2B5EF4-FFF2-40B4-BE49-F238E27FC236}">
                <a16:creationId xmlns:a16="http://schemas.microsoft.com/office/drawing/2014/main" id="{9E4574B5-C90E-412D-BAB0-B9F483290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02918" y="3073377"/>
            <a:ext cx="6857455" cy="71070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15962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464" y="1604787"/>
            <a:ext cx="9501254" cy="1968231"/>
          </a:xfrm>
          <a:prstGeom prst="rect">
            <a:avLst/>
          </a:prstGeom>
          <a:noFill/>
        </p:spPr>
        <p:txBody>
          <a:bodyPr wrap="square" rtlCol="0">
            <a:spAutoFit/>
          </a:bodyPr>
          <a:lstStyle/>
          <a:p>
            <a:endParaRPr lang="es-AR" sz="2000" dirty="0">
              <a:latin typeface="+mj-lt"/>
            </a:endParaRPr>
          </a:p>
          <a:p>
            <a:pPr>
              <a:lnSpc>
                <a:spcPct val="130000"/>
              </a:lnSpc>
            </a:pPr>
            <a:r>
              <a:rPr lang="es-AR" sz="2000" dirty="0"/>
              <a:t>Origen en el término griego</a:t>
            </a:r>
            <a:r>
              <a:rPr lang="es-AR" sz="2000" b="1" dirty="0"/>
              <a:t> </a:t>
            </a:r>
            <a:r>
              <a:rPr lang="es-AR" sz="2000" b="1" i="1" dirty="0" err="1"/>
              <a:t>συνδικος</a:t>
            </a:r>
            <a:r>
              <a:rPr lang="es-AR" sz="2000" b="1" i="1" dirty="0"/>
              <a:t> </a:t>
            </a:r>
            <a:r>
              <a:rPr lang="es-AR" sz="2000" b="1" dirty="0"/>
              <a:t>(</a:t>
            </a:r>
            <a:r>
              <a:rPr lang="es-AR" sz="2000" b="1" i="1" dirty="0" err="1"/>
              <a:t>syndikos</a:t>
            </a:r>
            <a:r>
              <a:rPr lang="es-AR" sz="2000" b="1" dirty="0"/>
              <a:t>)</a:t>
            </a:r>
            <a:r>
              <a:rPr lang="es-AR" sz="2000" dirty="0"/>
              <a:t> </a:t>
            </a:r>
            <a:r>
              <a:rPr lang="es-AR" sz="2000" b="1" dirty="0">
                <a:solidFill>
                  <a:srgbClr val="0070C0"/>
                </a:solidFill>
              </a:rPr>
              <a:t>=</a:t>
            </a:r>
            <a:r>
              <a:rPr lang="es-AR" sz="2000" dirty="0"/>
              <a:t> </a:t>
            </a:r>
          </a:p>
          <a:p>
            <a:pPr marL="533400">
              <a:lnSpc>
                <a:spcPct val="130000"/>
              </a:lnSpc>
            </a:pPr>
            <a:r>
              <a:rPr lang="es-AR" sz="2000" i="1" dirty="0"/>
              <a:t>    </a:t>
            </a:r>
            <a:r>
              <a:rPr lang="es-AR" sz="2000" b="1" i="1" dirty="0" err="1">
                <a:solidFill>
                  <a:srgbClr val="C00000"/>
                </a:solidFill>
              </a:rPr>
              <a:t>Syn</a:t>
            </a:r>
            <a:r>
              <a:rPr lang="es-AR" sz="2000" i="1" dirty="0"/>
              <a:t>     </a:t>
            </a:r>
            <a:r>
              <a:rPr lang="es-AR" sz="2000" b="1" dirty="0">
                <a:solidFill>
                  <a:srgbClr val="0070C0"/>
                </a:solidFill>
              </a:rPr>
              <a:t>+</a:t>
            </a:r>
            <a:r>
              <a:rPr lang="es-AR" sz="2000" b="1" i="1" dirty="0">
                <a:solidFill>
                  <a:srgbClr val="0070C0"/>
                </a:solidFill>
              </a:rPr>
              <a:t>    </a:t>
            </a:r>
            <a:r>
              <a:rPr lang="es-AR" sz="2000" i="1" dirty="0"/>
              <a:t>	       </a:t>
            </a:r>
            <a:r>
              <a:rPr lang="es-AR" sz="2000" b="1" i="1" dirty="0" err="1">
                <a:solidFill>
                  <a:srgbClr val="C00000"/>
                </a:solidFill>
              </a:rPr>
              <a:t>dikein</a:t>
            </a:r>
            <a:r>
              <a:rPr lang="es-AR" sz="2000" i="1" dirty="0"/>
              <a:t> 	     </a:t>
            </a:r>
            <a:r>
              <a:rPr lang="es-AR" sz="2000" b="1" dirty="0">
                <a:solidFill>
                  <a:srgbClr val="0070C0"/>
                </a:solidFill>
              </a:rPr>
              <a:t>+</a:t>
            </a:r>
            <a:r>
              <a:rPr lang="es-AR" sz="2000" i="1" dirty="0"/>
              <a:t>	 </a:t>
            </a:r>
            <a:r>
              <a:rPr lang="es-AR" sz="2000" b="1" i="1" dirty="0" err="1">
                <a:solidFill>
                  <a:srgbClr val="C00000"/>
                </a:solidFill>
              </a:rPr>
              <a:t>ico</a:t>
            </a:r>
            <a:r>
              <a:rPr lang="es-AR" sz="2000" b="1" i="1" dirty="0">
                <a:solidFill>
                  <a:srgbClr val="C00000"/>
                </a:solidFill>
              </a:rPr>
              <a:t>	</a:t>
            </a:r>
            <a:r>
              <a:rPr lang="es-AR" sz="2000" b="1" i="1" dirty="0">
                <a:solidFill>
                  <a:srgbClr val="0070C0"/>
                </a:solidFill>
              </a:rPr>
              <a:t>=</a:t>
            </a:r>
            <a:endParaRPr lang="es-AR" sz="2000" b="1" dirty="0">
              <a:solidFill>
                <a:srgbClr val="0070C0"/>
              </a:solidFill>
            </a:endParaRPr>
          </a:p>
          <a:p>
            <a:pPr marL="533400">
              <a:lnSpc>
                <a:spcPct val="130000"/>
              </a:lnSpc>
            </a:pPr>
            <a:r>
              <a:rPr lang="es-AR" sz="2000" dirty="0"/>
              <a:t>[</a:t>
            </a:r>
            <a:r>
              <a:rPr lang="es-AR" sz="2000" b="1" dirty="0">
                <a:solidFill>
                  <a:srgbClr val="C00000"/>
                </a:solidFill>
              </a:rPr>
              <a:t>'con</a:t>
            </a:r>
            <a:r>
              <a:rPr lang="es-AR" sz="2000" dirty="0"/>
              <a:t>’]    </a:t>
            </a:r>
            <a:r>
              <a:rPr lang="es-AR" sz="2000" b="1" dirty="0">
                <a:solidFill>
                  <a:srgbClr val="0070C0"/>
                </a:solidFill>
              </a:rPr>
              <a:t>+</a:t>
            </a:r>
            <a:r>
              <a:rPr lang="es-AR" sz="2000" dirty="0"/>
              <a:t> [verbo </a:t>
            </a:r>
            <a:r>
              <a:rPr lang="es-AR" sz="2000" b="1" dirty="0">
                <a:solidFill>
                  <a:srgbClr val="C00000"/>
                </a:solidFill>
              </a:rPr>
              <a:t>'hacer justicia</a:t>
            </a:r>
            <a:r>
              <a:rPr lang="es-AR" sz="2000" dirty="0"/>
              <a:t>’]</a:t>
            </a:r>
            <a:r>
              <a:rPr lang="es-AR" sz="2000" b="1" dirty="0">
                <a:solidFill>
                  <a:srgbClr val="0070C0"/>
                </a:solidFill>
              </a:rPr>
              <a:t> + </a:t>
            </a:r>
            <a:r>
              <a:rPr lang="es-AR" sz="2000" dirty="0"/>
              <a:t>[sufijo </a:t>
            </a:r>
            <a:r>
              <a:rPr lang="es-AR" sz="2000" b="1" dirty="0">
                <a:solidFill>
                  <a:srgbClr val="C00000"/>
                </a:solidFill>
              </a:rPr>
              <a:t>'relativo a</a:t>
            </a:r>
            <a:r>
              <a:rPr lang="es-AR" sz="2000" dirty="0"/>
              <a:t>’] </a:t>
            </a:r>
            <a:r>
              <a:rPr lang="es-AR" sz="2000" b="1" dirty="0">
                <a:solidFill>
                  <a:srgbClr val="0070C0"/>
                </a:solidFill>
              </a:rPr>
              <a:t>= </a:t>
            </a:r>
          </a:p>
          <a:p>
            <a:pPr marL="533400">
              <a:lnSpc>
                <a:spcPct val="130000"/>
              </a:lnSpc>
            </a:pPr>
            <a:r>
              <a:rPr lang="es-AR" sz="2000" b="1" dirty="0">
                <a:solidFill>
                  <a:srgbClr val="C00000"/>
                </a:solidFill>
              </a:rPr>
              <a:t>      RELATIVO AL QUE HACE JUSTICIA CON OTR@S</a:t>
            </a:r>
            <a:endParaRPr lang="es-AR" sz="2000" b="1" dirty="0">
              <a:solidFill>
                <a:srgbClr val="C00000"/>
              </a:solidFill>
              <a:latin typeface="+mj-lt"/>
            </a:endParaRPr>
          </a:p>
        </p:txBody>
      </p:sp>
      <p:pic>
        <p:nvPicPr>
          <p:cNvPr id="2" name="Picture 1">
            <a:extLst>
              <a:ext uri="{FF2B5EF4-FFF2-40B4-BE49-F238E27FC236}">
                <a16:creationId xmlns:a16="http://schemas.microsoft.com/office/drawing/2014/main" id="{53E4D328-A761-9945-9FE8-BBAD5EDD19C8}"/>
              </a:ext>
            </a:extLst>
          </p:cNvPr>
          <p:cNvPicPr>
            <a:picLocks noChangeAspect="1"/>
          </p:cNvPicPr>
          <p:nvPr/>
        </p:nvPicPr>
        <p:blipFill>
          <a:blip r:embed="rId3"/>
          <a:stretch>
            <a:fillRect/>
          </a:stretch>
        </p:blipFill>
        <p:spPr>
          <a:xfrm>
            <a:off x="7294064" y="1916832"/>
            <a:ext cx="2383670" cy="1255400"/>
          </a:xfrm>
          <a:prstGeom prst="rect">
            <a:avLst/>
          </a:prstGeom>
        </p:spPr>
      </p:pic>
      <p:sp>
        <p:nvSpPr>
          <p:cNvPr id="9" name="Shape 52"/>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Derecho Colectivo</a:t>
            </a:r>
          </a:p>
        </p:txBody>
      </p:sp>
      <p:sp>
        <p:nvSpPr>
          <p:cNvPr id="10" name="Rounded Rectangle 7">
            <a:extLst>
              <a:ext uri="{FF2B5EF4-FFF2-40B4-BE49-F238E27FC236}">
                <a16:creationId xmlns:a16="http://schemas.microsoft.com/office/drawing/2014/main" id="{416EA0CF-697E-4D39-A842-13F5D1BDD325}"/>
              </a:ext>
            </a:extLst>
          </p:cNvPr>
          <p:cNvSpPr/>
          <p:nvPr/>
        </p:nvSpPr>
        <p:spPr>
          <a:xfrm>
            <a:off x="48794" y="1343048"/>
            <a:ext cx="9072626" cy="432000"/>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Sindicato</a:t>
            </a:r>
            <a:endParaRPr lang="es-AR" b="1" dirty="0">
              <a:solidFill>
                <a:schemeClr val="tx1"/>
              </a:solidFill>
              <a:latin typeface="+mj-lt"/>
            </a:endParaRPr>
          </a:p>
        </p:txBody>
      </p:sp>
      <p:sp>
        <p:nvSpPr>
          <p:cNvPr id="12" name="2 CuadroTexto">
            <a:extLst>
              <a:ext uri="{FF2B5EF4-FFF2-40B4-BE49-F238E27FC236}">
                <a16:creationId xmlns:a16="http://schemas.microsoft.com/office/drawing/2014/main" id="{6D5CD5F5-2AB7-4BEC-81FB-DEB3B7231D69}"/>
              </a:ext>
            </a:extLst>
          </p:cNvPr>
          <p:cNvSpPr txBox="1"/>
          <p:nvPr/>
        </p:nvSpPr>
        <p:spPr>
          <a:xfrm>
            <a:off x="4524754" y="3825384"/>
            <a:ext cx="5396798" cy="3060000"/>
          </a:xfrm>
          <a:prstGeom prst="rect">
            <a:avLst/>
          </a:prstGeom>
          <a:solidFill>
            <a:srgbClr val="E8D9B3"/>
          </a:solidFill>
          <a:ln>
            <a:noFill/>
          </a:ln>
          <a:effectLst>
            <a:outerShdw blurRad="40000" dist="20000" dir="54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AR" sz="2000" b="1" dirty="0">
                <a:solidFill>
                  <a:srgbClr val="3D5B5D"/>
                </a:solidFill>
                <a:latin typeface="Calibri" panose="020F0502020204030204" pitchFamily="34" charset="0"/>
              </a:rPr>
              <a:t>ART 14 BIS  - 3º PARRAFO</a:t>
            </a:r>
          </a:p>
          <a:p>
            <a:pPr marL="266700" algn="just"/>
            <a:r>
              <a:rPr lang="es-AR" sz="2000" b="1" i="1" dirty="0">
                <a:solidFill>
                  <a:srgbClr val="3D5B5D"/>
                </a:solidFill>
                <a:latin typeface="Calibri" panose="020F0502020204030204" pitchFamily="34" charset="0"/>
              </a:rPr>
              <a:t>Queda garantizado a los gremios</a:t>
            </a:r>
            <a:r>
              <a:rPr lang="es-AR" sz="2000" dirty="0">
                <a:solidFill>
                  <a:srgbClr val="3D5B5D"/>
                </a:solidFill>
                <a:latin typeface="Calibri" panose="020F0502020204030204" pitchFamily="34" charset="0"/>
              </a:rPr>
              <a:t> </a:t>
            </a:r>
          </a:p>
          <a:p>
            <a:pPr marL="533400" indent="-342900" algn="just">
              <a:buFont typeface="Arial" panose="020B0604020202020204" pitchFamily="34" charset="0"/>
              <a:buChar char="•"/>
            </a:pPr>
            <a:r>
              <a:rPr lang="es-AR" sz="2000" dirty="0">
                <a:solidFill>
                  <a:srgbClr val="3D5B5D"/>
                </a:solidFill>
                <a:latin typeface="Calibri" panose="020F0502020204030204" pitchFamily="34" charset="0"/>
              </a:rPr>
              <a:t>concertar </a:t>
            </a:r>
            <a:r>
              <a:rPr lang="es-AR" sz="2000" b="1" i="1" dirty="0">
                <a:solidFill>
                  <a:srgbClr val="C00000"/>
                </a:solidFill>
                <a:latin typeface="Calibri" panose="020F0502020204030204" pitchFamily="34" charset="0"/>
              </a:rPr>
              <a:t>convenios colectivos </a:t>
            </a:r>
            <a:r>
              <a:rPr lang="es-AR" sz="2000" dirty="0">
                <a:solidFill>
                  <a:srgbClr val="3D5B5D"/>
                </a:solidFill>
                <a:latin typeface="Calibri" panose="020F0502020204030204" pitchFamily="34" charset="0"/>
              </a:rPr>
              <a:t>de trabajo;</a:t>
            </a:r>
          </a:p>
          <a:p>
            <a:pPr marL="533400" indent="-342900" algn="just">
              <a:buFont typeface="Arial" panose="020B0604020202020204" pitchFamily="34" charset="0"/>
              <a:buChar char="•"/>
            </a:pPr>
            <a:r>
              <a:rPr lang="es-AR" sz="2000" dirty="0">
                <a:solidFill>
                  <a:srgbClr val="3D5B5D"/>
                </a:solidFill>
                <a:latin typeface="Calibri" panose="020F0502020204030204" pitchFamily="34" charset="0"/>
              </a:rPr>
              <a:t>recurrir a la </a:t>
            </a:r>
            <a:r>
              <a:rPr lang="es-AR" sz="2000" b="1" i="1" dirty="0">
                <a:solidFill>
                  <a:srgbClr val="C00000"/>
                </a:solidFill>
                <a:latin typeface="Calibri" panose="020F0502020204030204" pitchFamily="34" charset="0"/>
              </a:rPr>
              <a:t>conciliación</a:t>
            </a:r>
            <a:r>
              <a:rPr lang="es-AR" sz="2000" dirty="0">
                <a:solidFill>
                  <a:srgbClr val="3D5B5D"/>
                </a:solidFill>
                <a:latin typeface="Calibri" panose="020F0502020204030204" pitchFamily="34" charset="0"/>
              </a:rPr>
              <a:t> y al arbitraje;</a:t>
            </a:r>
          </a:p>
          <a:p>
            <a:pPr marL="533400" indent="-342900" algn="just">
              <a:buFont typeface="Arial" panose="020B0604020202020204" pitchFamily="34" charset="0"/>
              <a:buChar char="•"/>
            </a:pPr>
            <a:r>
              <a:rPr lang="es-AR" sz="2000" dirty="0">
                <a:solidFill>
                  <a:srgbClr val="3D5B5D"/>
                </a:solidFill>
                <a:latin typeface="Calibri" panose="020F0502020204030204" pitchFamily="34" charset="0"/>
              </a:rPr>
              <a:t>el derecho de </a:t>
            </a:r>
            <a:r>
              <a:rPr lang="es-AR" sz="2000" b="1" i="1" dirty="0">
                <a:solidFill>
                  <a:srgbClr val="C00000"/>
                </a:solidFill>
                <a:latin typeface="Calibri" panose="020F0502020204030204" pitchFamily="34" charset="0"/>
              </a:rPr>
              <a:t>huelga</a:t>
            </a:r>
            <a:r>
              <a:rPr lang="es-AR" sz="2000" dirty="0">
                <a:solidFill>
                  <a:srgbClr val="3D5B5D"/>
                </a:solidFill>
                <a:latin typeface="Calibri" panose="020F0502020204030204" pitchFamily="34" charset="0"/>
              </a:rPr>
              <a:t>. </a:t>
            </a:r>
          </a:p>
          <a:p>
            <a:pPr marL="533400" indent="-342900" algn="just">
              <a:buFont typeface="Arial" panose="020B0604020202020204" pitchFamily="34" charset="0"/>
              <a:buChar char="•"/>
            </a:pPr>
            <a:r>
              <a:rPr lang="es-AR" sz="2000" dirty="0">
                <a:solidFill>
                  <a:srgbClr val="3D5B5D"/>
                </a:solidFill>
                <a:latin typeface="Calibri" panose="020F0502020204030204" pitchFamily="34" charset="0"/>
              </a:rPr>
              <a:t>Los </a:t>
            </a:r>
            <a:r>
              <a:rPr lang="es-AR" sz="2000" b="1" i="1" dirty="0">
                <a:solidFill>
                  <a:srgbClr val="C00000"/>
                </a:solidFill>
                <a:latin typeface="Calibri" panose="020F0502020204030204" pitchFamily="34" charset="0"/>
              </a:rPr>
              <a:t>representantes gremiales </a:t>
            </a:r>
            <a:r>
              <a:rPr lang="es-AR" sz="2000" dirty="0">
                <a:solidFill>
                  <a:srgbClr val="3D5B5D"/>
                </a:solidFill>
                <a:latin typeface="Calibri" panose="020F0502020204030204" pitchFamily="34" charset="0"/>
              </a:rPr>
              <a:t>gozarán de las garantías necesarias para el cumplimiento de su gestión sindical y las relacionadas con la estabilidad de su empleo. </a:t>
            </a:r>
          </a:p>
        </p:txBody>
      </p:sp>
      <p:grpSp>
        <p:nvGrpSpPr>
          <p:cNvPr id="3" name="Grupo 2">
            <a:extLst>
              <a:ext uri="{FF2B5EF4-FFF2-40B4-BE49-F238E27FC236}">
                <a16:creationId xmlns:a16="http://schemas.microsoft.com/office/drawing/2014/main" id="{8959356D-1953-5BCA-4492-367036A84248}"/>
              </a:ext>
            </a:extLst>
          </p:cNvPr>
          <p:cNvGrpSpPr/>
          <p:nvPr/>
        </p:nvGrpSpPr>
        <p:grpSpPr>
          <a:xfrm>
            <a:off x="90410" y="698737"/>
            <a:ext cx="438243" cy="438243"/>
            <a:chOff x="4733878" y="3209878"/>
            <a:chExt cx="438243" cy="438243"/>
          </a:xfrm>
        </p:grpSpPr>
        <p:sp>
          <p:nvSpPr>
            <p:cNvPr id="4" name="Elipse 3">
              <a:extLst>
                <a:ext uri="{FF2B5EF4-FFF2-40B4-BE49-F238E27FC236}">
                  <a16:creationId xmlns:a16="http://schemas.microsoft.com/office/drawing/2014/main" id="{77BF78EB-EDE0-3A75-353A-E29087633167}"/>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6" name="Rectángulo 5" descr="Scales of Justice">
              <a:extLst>
                <a:ext uri="{FF2B5EF4-FFF2-40B4-BE49-F238E27FC236}">
                  <a16:creationId xmlns:a16="http://schemas.microsoft.com/office/drawing/2014/main" id="{A3F38B11-9257-CC79-05D1-F92BBDD9F6F6}"/>
                </a:ext>
              </a:extLst>
            </p:cNvPr>
            <p:cNvSpPr/>
            <p:nvPr/>
          </p:nvSpPr>
          <p:spPr>
            <a:xfrm>
              <a:off x="4825909" y="3301909"/>
              <a:ext cx="254181" cy="254181"/>
            </a:xfrm>
            <a:prstGeom prst="rect">
              <a:avLst/>
            </a:prstGeom>
            <a: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sp>
      </p:grpSp>
      <p:pic>
        <p:nvPicPr>
          <p:cNvPr id="2052" name="Picture 4" descr="La Constitución nacional, la coparticipación federal y las elecciones –  InfoRegión">
            <a:extLst>
              <a:ext uri="{FF2B5EF4-FFF2-40B4-BE49-F238E27FC236}">
                <a16:creationId xmlns:a16="http://schemas.microsoft.com/office/drawing/2014/main" id="{01552E00-0846-4882-9A4D-90715CE4E7F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11264"/>
          <a:stretch/>
        </p:blipFill>
        <p:spPr bwMode="auto">
          <a:xfrm>
            <a:off x="-231575" y="3825384"/>
            <a:ext cx="4824515" cy="3060000"/>
          </a:xfrm>
          <a:prstGeom prst="rect">
            <a:avLst/>
          </a:prstGeom>
          <a:solidFill>
            <a:srgbClr val="426064"/>
          </a:solidFill>
          <a:effectLst/>
        </p:spPr>
      </p:pic>
    </p:spTree>
    <p:extLst>
      <p:ext uri="{BB962C8B-B14F-4D97-AF65-F5344CB8AC3E}">
        <p14:creationId xmlns:p14="http://schemas.microsoft.com/office/powerpoint/2010/main" val="74724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wipe(left)">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 calcmode="lin" valueType="num">
                                      <p:cBhvr additive="base">
                                        <p:cTn id="12"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464" y="1340768"/>
            <a:ext cx="9738550" cy="4862870"/>
          </a:xfrm>
          <a:prstGeom prst="rect">
            <a:avLst/>
          </a:prstGeom>
          <a:noFill/>
        </p:spPr>
        <p:txBody>
          <a:bodyPr wrap="square" rtlCol="0">
            <a:spAutoFit/>
          </a:bodyPr>
          <a:lstStyle/>
          <a:p>
            <a:r>
              <a:rPr lang="es-AR" sz="2000" b="1" dirty="0">
                <a:latin typeface="+mj-lt"/>
              </a:rPr>
              <a:t>Grupos de personas que tienen un fin lícito, obtener la justicia para su sector, </a:t>
            </a:r>
            <a:r>
              <a:rPr lang="es-AR" sz="2000" dirty="0">
                <a:latin typeface="+mj-lt"/>
              </a:rPr>
              <a:t>que son los trabajadores, y que obtienen reconocimiento del Estado para ello, en el marco de la libertad sindical garantizada en los estados democráticos.</a:t>
            </a:r>
            <a:r>
              <a:rPr lang="es-AR" sz="2000" dirty="0"/>
              <a:t> </a:t>
            </a:r>
          </a:p>
          <a:p>
            <a:endParaRPr lang="es-AR" sz="1600" dirty="0"/>
          </a:p>
          <a:p>
            <a:endParaRPr lang="es-AR" sz="1600" dirty="0"/>
          </a:p>
          <a:p>
            <a:endParaRPr lang="es-AR" sz="1600" dirty="0"/>
          </a:p>
          <a:p>
            <a:r>
              <a:rPr lang="es-AR" dirty="0"/>
              <a:t>Establece que constituir asociaciones sindicales autónomas y democráticas, es un derecho de los trabajadores como también afiliarse o desafiliarse a ellas. </a:t>
            </a:r>
            <a:r>
              <a:rPr lang="es-ES" dirty="0">
                <a:latin typeface="+mj-lt"/>
              </a:rPr>
              <a:t>La constitución, el desarrollo, las elecciones sindicales </a:t>
            </a:r>
            <a:r>
              <a:rPr lang="es-ES" dirty="0" err="1">
                <a:latin typeface="+mj-lt"/>
              </a:rPr>
              <a:t>etc</a:t>
            </a:r>
            <a:r>
              <a:rPr lang="es-ES" dirty="0">
                <a:latin typeface="+mj-lt"/>
              </a:rPr>
              <a:t> ,</a:t>
            </a:r>
            <a:r>
              <a:rPr lang="es-ES" b="1" dirty="0">
                <a:latin typeface="+mj-lt"/>
              </a:rPr>
              <a:t> todo lo referido a lo sindical esta reglado por esta ley.</a:t>
            </a:r>
          </a:p>
          <a:p>
            <a:endParaRPr lang="es-ES" sz="1600" dirty="0">
              <a:latin typeface="+mj-lt"/>
            </a:endParaRPr>
          </a:p>
          <a:p>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El Estado otorga a la entidad gremial representativa de los trabajadores </a:t>
            </a:r>
            <a:b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a:t>
            </a:r>
            <a:r>
              <a:rPr lang="es-ES" b="1" u="sng" dirty="0">
                <a:solidFill>
                  <a:srgbClr val="FF0000"/>
                </a:solidFill>
                <a:latin typeface="Tahoma" panose="020B0604030504040204" pitchFamily="34" charset="0"/>
                <a:ea typeface="Tahoma" panose="020B0604030504040204" pitchFamily="34" charset="0"/>
                <a:cs typeface="Tahoma" panose="020B0604030504040204" pitchFamily="34" charset="0"/>
              </a:rPr>
              <a:t>la personería gremial</a:t>
            </a: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 que es lo que le va a dar los atributos para:</a:t>
            </a:r>
          </a:p>
          <a:p>
            <a:pPr marL="285750" indent="-285750">
              <a:buFont typeface="Arial" panose="020B0604020202020204" pitchFamily="34" charset="0"/>
              <a:buChar char="•"/>
            </a:pP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celebrar CCT, </a:t>
            </a:r>
          </a:p>
          <a:p>
            <a:pPr marL="285750" indent="-285750">
              <a:buFont typeface="Arial" panose="020B0604020202020204" pitchFamily="34" charset="0"/>
              <a:buChar char="•"/>
            </a:pP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recurrir a la huelga, </a:t>
            </a:r>
          </a:p>
          <a:p>
            <a:pPr marL="285750" indent="-285750">
              <a:buFont typeface="Arial" panose="020B0604020202020204" pitchFamily="34" charset="0"/>
              <a:buChar char="•"/>
            </a:pP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manejo de fondos sindicales , </a:t>
            </a:r>
          </a:p>
          <a:p>
            <a:pPr marL="285750" indent="-285750">
              <a:buFont typeface="Arial" panose="020B0604020202020204" pitchFamily="34" charset="0"/>
              <a:buChar char="•"/>
            </a:pP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administración de obra sociales sindicales </a:t>
            </a:r>
          </a:p>
          <a:p>
            <a:pPr marL="285750" indent="-285750">
              <a:buFont typeface="Arial" panose="020B0604020202020204" pitchFamily="34" charset="0"/>
              <a:buChar char="•"/>
            </a:pPr>
            <a:r>
              <a:rPr lang="es-ES" dirty="0">
                <a:solidFill>
                  <a:srgbClr val="FF0000"/>
                </a:solidFill>
                <a:latin typeface="Tahoma" panose="020B0604030504040204" pitchFamily="34" charset="0"/>
                <a:ea typeface="Tahoma" panose="020B0604030504040204" pitchFamily="34" charset="0"/>
                <a:cs typeface="Tahoma" panose="020B0604030504040204" pitchFamily="34" charset="0"/>
              </a:rPr>
              <a:t>etc.</a:t>
            </a:r>
            <a:endParaRPr lang="es-AR"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0" name="Rounded Rectangle 7">
            <a:extLst>
              <a:ext uri="{FF2B5EF4-FFF2-40B4-BE49-F238E27FC236}">
                <a16:creationId xmlns:a16="http://schemas.microsoft.com/office/drawing/2014/main" id="{416EA0CF-697E-4D39-A842-13F5D1BDD325}"/>
              </a:ext>
            </a:extLst>
          </p:cNvPr>
          <p:cNvSpPr/>
          <p:nvPr/>
        </p:nvSpPr>
        <p:spPr>
          <a:xfrm>
            <a:off x="128464" y="2564904"/>
            <a:ext cx="9072626" cy="360000"/>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Ley 23.551 (1988)</a:t>
            </a:r>
            <a:endParaRPr lang="es-AR" b="1" dirty="0">
              <a:solidFill>
                <a:schemeClr val="tx1"/>
              </a:solidFill>
              <a:latin typeface="+mj-lt"/>
            </a:endParaRPr>
          </a:p>
        </p:txBody>
      </p:sp>
      <p:pic>
        <p:nvPicPr>
          <p:cNvPr id="3074" name="Picture 2" descr="11.127 imagens de Spoiler Imagens, fotos stock e vetores | Shutterstock">
            <a:extLst>
              <a:ext uri="{FF2B5EF4-FFF2-40B4-BE49-F238E27FC236}">
                <a16:creationId xmlns:a16="http://schemas.microsoft.com/office/drawing/2014/main" id="{C9DA1258-5ECE-4216-AFB7-9C7A2B34A067}"/>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4901"/>
          <a:stretch/>
        </p:blipFill>
        <p:spPr bwMode="auto">
          <a:xfrm rot="20801828">
            <a:off x="6425846" y="3995969"/>
            <a:ext cx="3572633" cy="1952482"/>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8C800B81-45EA-47D9-AE1A-B6842ACD4077}"/>
              </a:ext>
            </a:extLst>
          </p:cNvPr>
          <p:cNvSpPr txBox="1"/>
          <p:nvPr/>
        </p:nvSpPr>
        <p:spPr>
          <a:xfrm>
            <a:off x="128846" y="6167047"/>
            <a:ext cx="9576682" cy="646331"/>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s-ES" dirty="0">
                <a:solidFill>
                  <a:schemeClr val="bg1"/>
                </a:solidFill>
                <a:latin typeface="+mj-lt"/>
              </a:rPr>
              <a:t>EL ESTADO SÓLO PODRÁ IMPLEMENTAR REGLAS PARA QUE ESTOS SE RIJAN PERO NO PODRÁ INTERVENIR EN LOS </a:t>
            </a:r>
            <a:r>
              <a:rPr lang="es-ES" b="1" dirty="0">
                <a:solidFill>
                  <a:schemeClr val="bg1"/>
                </a:solidFill>
                <a:latin typeface="+mj-lt"/>
              </a:rPr>
              <a:t>SINDICATOS</a:t>
            </a:r>
            <a:r>
              <a:rPr lang="es-ES" dirty="0">
                <a:solidFill>
                  <a:schemeClr val="bg1"/>
                </a:solidFill>
                <a:latin typeface="+mj-lt"/>
              </a:rPr>
              <a:t> PORQUE ESTOS SON </a:t>
            </a:r>
            <a:r>
              <a:rPr lang="es-ES" b="1" dirty="0">
                <a:solidFill>
                  <a:schemeClr val="bg1"/>
                </a:solidFill>
                <a:latin typeface="+mj-lt"/>
              </a:rPr>
              <a:t>AUTÓNOMOS</a:t>
            </a:r>
            <a:r>
              <a:rPr lang="es-ES" dirty="0">
                <a:solidFill>
                  <a:schemeClr val="bg1"/>
                </a:solidFill>
                <a:latin typeface="+mj-lt"/>
              </a:rPr>
              <a:t>.</a:t>
            </a:r>
            <a:endParaRPr lang="es-AR" dirty="0">
              <a:solidFill>
                <a:schemeClr val="bg1"/>
              </a:solidFill>
              <a:latin typeface="+mj-lt"/>
            </a:endParaRPr>
          </a:p>
        </p:txBody>
      </p:sp>
      <p:sp>
        <p:nvSpPr>
          <p:cNvPr id="12" name="Shape 52">
            <a:extLst>
              <a:ext uri="{FF2B5EF4-FFF2-40B4-BE49-F238E27FC236}">
                <a16:creationId xmlns:a16="http://schemas.microsoft.com/office/drawing/2014/main" id="{DA81385D-1735-47CA-92E2-C362FBFC3422}"/>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a:t>
            </a:r>
          </a:p>
        </p:txBody>
      </p:sp>
      <p:grpSp>
        <p:nvGrpSpPr>
          <p:cNvPr id="13" name="Grupo 12">
            <a:extLst>
              <a:ext uri="{FF2B5EF4-FFF2-40B4-BE49-F238E27FC236}">
                <a16:creationId xmlns:a16="http://schemas.microsoft.com/office/drawing/2014/main" id="{0937A6A4-C0AF-E0AF-BB11-2F481283F8B5}"/>
              </a:ext>
            </a:extLst>
          </p:cNvPr>
          <p:cNvGrpSpPr/>
          <p:nvPr/>
        </p:nvGrpSpPr>
        <p:grpSpPr>
          <a:xfrm>
            <a:off x="128466" y="672778"/>
            <a:ext cx="438243" cy="438243"/>
            <a:chOff x="4733878" y="3209878"/>
            <a:chExt cx="438243" cy="438243"/>
          </a:xfrm>
        </p:grpSpPr>
        <p:sp>
          <p:nvSpPr>
            <p:cNvPr id="8" name="Elipse 7">
              <a:extLst>
                <a:ext uri="{FF2B5EF4-FFF2-40B4-BE49-F238E27FC236}">
                  <a16:creationId xmlns:a16="http://schemas.microsoft.com/office/drawing/2014/main" id="{D89B91A5-7B94-850E-C8B3-A03106607B02}"/>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9" name="Rectángulo 8">
              <a:extLst>
                <a:ext uri="{FF2B5EF4-FFF2-40B4-BE49-F238E27FC236}">
                  <a16:creationId xmlns:a16="http://schemas.microsoft.com/office/drawing/2014/main" id="{8896BE94-A9F9-4B8F-3A5C-AB63DF69C4A6}"/>
                </a:ext>
              </a:extLst>
            </p:cNvPr>
            <p:cNvSpPr/>
            <p:nvPr/>
          </p:nvSpPr>
          <p:spPr>
            <a:xfrm>
              <a:off x="4825909" y="3301910"/>
              <a:ext cx="254181" cy="254181"/>
            </a:xfrm>
            <a:prstGeom prst="rect">
              <a:avLst/>
            </a:prstGeom>
            <a: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372119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wipe(up)">
                                      <p:cBhvr>
                                        <p:cTn id="13" dur="500"/>
                                        <p:tgtEl>
                                          <p:spTgt spid="5">
                                            <p:txEl>
                                              <p:pRg st="6" end="6"/>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wipe(up)">
                                      <p:cBhvr>
                                        <p:cTn id="16" dur="500"/>
                                        <p:tgtEl>
                                          <p:spTgt spid="5">
                                            <p:txEl>
                                              <p:pRg st="7" end="7"/>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wipe(up)">
                                      <p:cBhvr>
                                        <p:cTn id="19" dur="500"/>
                                        <p:tgtEl>
                                          <p:spTgt spid="5">
                                            <p:txEl>
                                              <p:pRg st="8" end="8"/>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5">
                                            <p:txEl>
                                              <p:pRg st="9" end="9"/>
                                            </p:txEl>
                                          </p:spTgt>
                                        </p:tgtEl>
                                        <p:attrNameLst>
                                          <p:attrName>style.visibility</p:attrName>
                                        </p:attrNameLst>
                                      </p:cBhvr>
                                      <p:to>
                                        <p:strVal val="visible"/>
                                      </p:to>
                                    </p:set>
                                    <p:animEffect transition="in" filter="wipe(up)">
                                      <p:cBhvr>
                                        <p:cTn id="22" dur="500"/>
                                        <p:tgtEl>
                                          <p:spTgt spid="5">
                                            <p:txEl>
                                              <p:pRg st="9" end="9"/>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animEffect transition="in" filter="wipe(up)">
                                      <p:cBhvr>
                                        <p:cTn id="25" dur="500"/>
                                        <p:tgtEl>
                                          <p:spTgt spid="5">
                                            <p:txEl>
                                              <p:pRg st="10" end="10"/>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5">
                                            <p:txEl>
                                              <p:pRg st="11" end="11"/>
                                            </p:txEl>
                                          </p:spTgt>
                                        </p:tgtEl>
                                        <p:attrNameLst>
                                          <p:attrName>style.visibility</p:attrName>
                                        </p:attrNameLst>
                                      </p:cBhvr>
                                      <p:to>
                                        <p:strVal val="visible"/>
                                      </p:to>
                                    </p:set>
                                    <p:animEffect transition="in" filter="wipe(up)">
                                      <p:cBhvr>
                                        <p:cTn id="28" dur="500"/>
                                        <p:tgtEl>
                                          <p:spTgt spid="5">
                                            <p:txEl>
                                              <p:pRg st="11" end="1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3074"/>
                                        </p:tgtEl>
                                        <p:attrNameLst>
                                          <p:attrName>style.visibility</p:attrName>
                                        </p:attrNameLst>
                                      </p:cBhvr>
                                      <p:to>
                                        <p:strVal val="visible"/>
                                      </p:to>
                                    </p:set>
                                    <p:anim calcmode="lin" valueType="num">
                                      <p:cBhvr>
                                        <p:cTn id="33" dur="500" fill="hold"/>
                                        <p:tgtEl>
                                          <p:spTgt spid="3074"/>
                                        </p:tgtEl>
                                        <p:attrNameLst>
                                          <p:attrName>ppt_w</p:attrName>
                                        </p:attrNameLst>
                                      </p:cBhvr>
                                      <p:tavLst>
                                        <p:tav tm="0">
                                          <p:val>
                                            <p:fltVal val="0"/>
                                          </p:val>
                                        </p:tav>
                                        <p:tav tm="100000">
                                          <p:val>
                                            <p:strVal val="#ppt_w"/>
                                          </p:val>
                                        </p:tav>
                                      </p:tavLst>
                                    </p:anim>
                                    <p:anim calcmode="lin" valueType="num">
                                      <p:cBhvr>
                                        <p:cTn id="34" dur="500" fill="hold"/>
                                        <p:tgtEl>
                                          <p:spTgt spid="3074"/>
                                        </p:tgtEl>
                                        <p:attrNameLst>
                                          <p:attrName>ppt_h</p:attrName>
                                        </p:attrNameLst>
                                      </p:cBhvr>
                                      <p:tavLst>
                                        <p:tav tm="0">
                                          <p:val>
                                            <p:fltVal val="0"/>
                                          </p:val>
                                        </p:tav>
                                        <p:tav tm="100000">
                                          <p:val>
                                            <p:strVal val="#ppt_h"/>
                                          </p:val>
                                        </p:tav>
                                      </p:tavLst>
                                    </p:anim>
                                    <p:animEffect transition="in" filter="fade">
                                      <p:cBhvr>
                                        <p:cTn id="35"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3"/>
          <a:srcRect l="30930" t="50391" r="28990" b="12109"/>
          <a:stretch/>
        </p:blipFill>
        <p:spPr bwMode="auto">
          <a:xfrm>
            <a:off x="-26671" y="1340768"/>
            <a:ext cx="4333325" cy="4320480"/>
          </a:xfrm>
          <a:prstGeom prst="rect">
            <a:avLst/>
          </a:prstGeom>
          <a:noFill/>
          <a:ln w="9525">
            <a:noFill/>
            <a:miter lim="800000"/>
            <a:headEnd/>
            <a:tailEnd/>
          </a:ln>
          <a:effectLst/>
        </p:spPr>
      </p:pic>
      <p:sp>
        <p:nvSpPr>
          <p:cNvPr id="4" name="3 CuadroTexto"/>
          <p:cNvSpPr txBox="1"/>
          <p:nvPr/>
        </p:nvSpPr>
        <p:spPr>
          <a:xfrm>
            <a:off x="4253702" y="4554955"/>
            <a:ext cx="5544000" cy="737381"/>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marL="457200" indent="-457200">
              <a:lnSpc>
                <a:spcPct val="80000"/>
              </a:lnSpc>
              <a:spcBef>
                <a:spcPct val="20000"/>
              </a:spcBef>
              <a:defRPr/>
            </a:pPr>
            <a:r>
              <a:rPr lang="es-AR" sz="1600" b="1" i="1" u="sng" dirty="0">
                <a:solidFill>
                  <a:schemeClr val="tx1"/>
                </a:solidFill>
              </a:rPr>
              <a:t>Sindicatos de 1º grado</a:t>
            </a:r>
            <a:r>
              <a:rPr lang="es-AR" sz="1600" i="1" dirty="0">
                <a:solidFill>
                  <a:schemeClr val="tx1"/>
                </a:solidFill>
              </a:rPr>
              <a:t>: </a:t>
            </a:r>
          </a:p>
          <a:p>
            <a:pPr>
              <a:lnSpc>
                <a:spcPct val="80000"/>
              </a:lnSpc>
              <a:spcBef>
                <a:spcPct val="20000"/>
              </a:spcBef>
              <a:defRPr/>
            </a:pPr>
            <a:r>
              <a:rPr lang="es-AR" sz="1600" dirty="0">
                <a:solidFill>
                  <a:schemeClr val="tx1"/>
                </a:solidFill>
              </a:rPr>
              <a:t>Están formados por trabajadores afiliados directamente. Estos Sindicatos podrán agruparse en Federaciones.</a:t>
            </a:r>
          </a:p>
        </p:txBody>
      </p:sp>
      <p:sp>
        <p:nvSpPr>
          <p:cNvPr id="6" name="5 Flecha curvada hacia la derecha"/>
          <p:cNvSpPr/>
          <p:nvPr/>
        </p:nvSpPr>
        <p:spPr>
          <a:xfrm rot="10800000">
            <a:off x="2881298" y="3857628"/>
            <a:ext cx="642942" cy="857256"/>
          </a:xfrm>
          <a:prstGeom prst="curved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7" name="6 Flecha curvada hacia la derecha"/>
          <p:cNvSpPr/>
          <p:nvPr/>
        </p:nvSpPr>
        <p:spPr>
          <a:xfrm rot="10800000">
            <a:off x="3238488" y="2500306"/>
            <a:ext cx="642942" cy="857256"/>
          </a:xfrm>
          <a:prstGeom prst="curved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8" name="7 CuadroTexto"/>
          <p:cNvSpPr txBox="1"/>
          <p:nvPr/>
        </p:nvSpPr>
        <p:spPr>
          <a:xfrm>
            <a:off x="666720" y="5857892"/>
            <a:ext cx="3429024" cy="738664"/>
          </a:xfrm>
          <a:prstGeom prst="rect">
            <a:avLst/>
          </a:prstGeom>
          <a:solidFill>
            <a:srgbClr val="FFFF00"/>
          </a:solidFill>
          <a:ln>
            <a:solidFill>
              <a:srgbClr val="FF0000"/>
            </a:solidFill>
          </a:ln>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sz="1400" dirty="0">
                <a:solidFill>
                  <a:schemeClr val="tx1"/>
                </a:solidFill>
                <a:latin typeface="Tahoma" panose="020B0604030504040204" pitchFamily="34" charset="0"/>
                <a:ea typeface="Tahoma" panose="020B0604030504040204" pitchFamily="34" charset="0"/>
                <a:cs typeface="Tahoma" panose="020B0604030504040204" pitchFamily="34" charset="0"/>
              </a:rPr>
              <a:t>Los trabajadores se organizan formando Sindicatos grandes, para ser más fuertes y tener poder de negociación</a:t>
            </a:r>
            <a:endParaRPr lang="es-AR"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9" name="8 CuadroTexto"/>
          <p:cNvSpPr txBox="1"/>
          <p:nvPr/>
        </p:nvSpPr>
        <p:spPr>
          <a:xfrm>
            <a:off x="4953000" y="5929332"/>
            <a:ext cx="4357718" cy="584775"/>
          </a:xfrm>
          <a:prstGeom prst="rect">
            <a:avLst/>
          </a:prstGeom>
          <a:ln>
            <a:noFill/>
          </a:ln>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sz="1600" b="1" dirty="0">
                <a:latin typeface="Arial Narrow" pitchFamily="34" charset="0"/>
              </a:rPr>
              <a:t>Siempre prima la LIBERTAD SINDICAL y el derecho a: afiliarse, desafiliarse o no afiliarse</a:t>
            </a:r>
            <a:endParaRPr lang="es-AR" sz="1600" b="1" dirty="0">
              <a:latin typeface="Arial Narrow" pitchFamily="34" charset="0"/>
            </a:endParaRPr>
          </a:p>
        </p:txBody>
      </p:sp>
      <p:sp>
        <p:nvSpPr>
          <p:cNvPr id="11" name="Shape 52">
            <a:extLst>
              <a:ext uri="{FF2B5EF4-FFF2-40B4-BE49-F238E27FC236}">
                <a16:creationId xmlns:a16="http://schemas.microsoft.com/office/drawing/2014/main" id="{B3987F41-2545-4F67-8808-0BBB75E24DB9}"/>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Grados (o tipos)</a:t>
            </a:r>
          </a:p>
        </p:txBody>
      </p:sp>
      <p:sp>
        <p:nvSpPr>
          <p:cNvPr id="5" name="Rectángulo 4">
            <a:extLst>
              <a:ext uri="{FF2B5EF4-FFF2-40B4-BE49-F238E27FC236}">
                <a16:creationId xmlns:a16="http://schemas.microsoft.com/office/drawing/2014/main" id="{275629AF-8DAC-4BD2-B393-4CFAD9F53B98}"/>
              </a:ext>
            </a:extLst>
          </p:cNvPr>
          <p:cNvSpPr/>
          <p:nvPr/>
        </p:nvSpPr>
        <p:spPr>
          <a:xfrm>
            <a:off x="4253702" y="2853072"/>
            <a:ext cx="5544000" cy="1224000"/>
          </a:xfrm>
          <a:prstGeom prst="rect">
            <a:avLst/>
          </a:prstGeom>
          <a:solidFill>
            <a:srgbClr val="67CE66"/>
          </a:solidFill>
        </p:spPr>
        <p:style>
          <a:lnRef idx="3">
            <a:schemeClr val="lt1"/>
          </a:lnRef>
          <a:fillRef idx="1">
            <a:schemeClr val="accent1"/>
          </a:fillRef>
          <a:effectRef idx="1">
            <a:schemeClr val="accent1"/>
          </a:effectRef>
          <a:fontRef idx="minor">
            <a:schemeClr val="lt1"/>
          </a:fontRef>
        </p:style>
        <p:txBody>
          <a:bodyPr rtlCol="0" anchor="ctr"/>
          <a:lstStyle/>
          <a:p>
            <a:pPr>
              <a:lnSpc>
                <a:spcPct val="80000"/>
              </a:lnSpc>
              <a:spcBef>
                <a:spcPct val="20000"/>
              </a:spcBef>
              <a:defRPr/>
            </a:pPr>
            <a:r>
              <a:rPr lang="es-ES" sz="1600" b="1" i="1" u="sng" dirty="0">
                <a:solidFill>
                  <a:schemeClr val="tx1"/>
                </a:solidFill>
              </a:rPr>
              <a:t>2° Federaciones</a:t>
            </a:r>
            <a:r>
              <a:rPr lang="es-ES" sz="1600" i="1" u="sng" dirty="0">
                <a:solidFill>
                  <a:schemeClr val="tx1"/>
                </a:solidFill>
              </a:rPr>
              <a:t>:</a:t>
            </a:r>
            <a:r>
              <a:rPr lang="es-ES" sz="1600" i="1" dirty="0">
                <a:solidFill>
                  <a:schemeClr val="tx1"/>
                </a:solidFill>
              </a:rPr>
              <a:t> </a:t>
            </a:r>
            <a:r>
              <a:rPr lang="es-ES_tradnl" sz="1600" dirty="0">
                <a:solidFill>
                  <a:schemeClr val="tx1"/>
                </a:solidFill>
              </a:rPr>
              <a:t>Son los que agrupan a varios Sindicatos con personería gremial. Tiene facultades para intervenir en todo lo que tenga jurisdicción los sindicatos que representan, pero también pueden asumir la representación en aquellas zonas o empresas de no haya sindicatos.</a:t>
            </a:r>
          </a:p>
        </p:txBody>
      </p:sp>
      <p:sp>
        <p:nvSpPr>
          <p:cNvPr id="12" name="Rectángulo 11">
            <a:extLst>
              <a:ext uri="{FF2B5EF4-FFF2-40B4-BE49-F238E27FC236}">
                <a16:creationId xmlns:a16="http://schemas.microsoft.com/office/drawing/2014/main" id="{39B16486-2D7C-4C76-BAFF-7A5436425D53}"/>
              </a:ext>
            </a:extLst>
          </p:cNvPr>
          <p:cNvSpPr/>
          <p:nvPr/>
        </p:nvSpPr>
        <p:spPr>
          <a:xfrm>
            <a:off x="4253702" y="1449837"/>
            <a:ext cx="5544000" cy="1224000"/>
          </a:xfrm>
          <a:prstGeom prst="rect">
            <a:avLst/>
          </a:prstGeom>
          <a:solidFill>
            <a:srgbClr val="004062"/>
          </a:solidFill>
        </p:spPr>
        <p:style>
          <a:lnRef idx="3">
            <a:schemeClr val="lt1"/>
          </a:lnRef>
          <a:fillRef idx="1">
            <a:schemeClr val="accent1"/>
          </a:fillRef>
          <a:effectRef idx="1">
            <a:schemeClr val="accent1"/>
          </a:effectRef>
          <a:fontRef idx="minor">
            <a:schemeClr val="lt1"/>
          </a:fontRef>
        </p:style>
        <p:txBody>
          <a:bodyPr rtlCol="0" anchor="ctr"/>
          <a:lstStyle/>
          <a:p>
            <a:pPr>
              <a:lnSpc>
                <a:spcPct val="80000"/>
              </a:lnSpc>
              <a:spcBef>
                <a:spcPct val="20000"/>
              </a:spcBef>
              <a:defRPr/>
            </a:pPr>
            <a:r>
              <a:rPr lang="es-ES_tradnl" sz="1600" b="1" i="1" u="sng" dirty="0">
                <a:solidFill>
                  <a:schemeClr val="bg1"/>
                </a:solidFill>
              </a:rPr>
              <a:t>3° Confederaciones:</a:t>
            </a:r>
            <a:r>
              <a:rPr lang="es-ES_tradnl" sz="1600" dirty="0">
                <a:solidFill>
                  <a:schemeClr val="bg1"/>
                </a:solidFill>
              </a:rPr>
              <a:t> Son los que agrupan a las Federaciones o Sindicatos con Personería Gremial, y hoy en la Argentina está: (a) La Confederación General del Trabajo (CGT) y (b) La Central de  Trabajadores Argentinos (CTA).-</a:t>
            </a:r>
          </a:p>
        </p:txBody>
      </p:sp>
      <p:sp>
        <p:nvSpPr>
          <p:cNvPr id="13" name="CuadroTexto 12">
            <a:extLst>
              <a:ext uri="{FF2B5EF4-FFF2-40B4-BE49-F238E27FC236}">
                <a16:creationId xmlns:a16="http://schemas.microsoft.com/office/drawing/2014/main" id="{BC6BA201-E8A5-4E48-85DF-49053DF70462}"/>
              </a:ext>
            </a:extLst>
          </p:cNvPr>
          <p:cNvSpPr txBox="1"/>
          <p:nvPr/>
        </p:nvSpPr>
        <p:spPr>
          <a:xfrm rot="16200000">
            <a:off x="-1195039" y="3234297"/>
            <a:ext cx="2759410" cy="369332"/>
          </a:xfrm>
          <a:prstGeom prst="rect">
            <a:avLst/>
          </a:prstGeom>
          <a:noFill/>
        </p:spPr>
        <p:txBody>
          <a:bodyPr wrap="none" rtlCol="0">
            <a:spAutoFit/>
          </a:bodyPr>
          <a:lstStyle/>
          <a:p>
            <a:r>
              <a:rPr lang="es-AR" dirty="0">
                <a:solidFill>
                  <a:srgbClr val="0070C0"/>
                </a:solidFill>
              </a:rPr>
              <a:t>Cantidad de Representados</a:t>
            </a:r>
          </a:p>
        </p:txBody>
      </p:sp>
      <p:cxnSp>
        <p:nvCxnSpPr>
          <p:cNvPr id="15" name="Conector recto de flecha 14">
            <a:extLst>
              <a:ext uri="{FF2B5EF4-FFF2-40B4-BE49-F238E27FC236}">
                <a16:creationId xmlns:a16="http://schemas.microsoft.com/office/drawing/2014/main" id="{15F870D1-7B38-4CAE-AD72-374F6B58A7FB}"/>
              </a:ext>
            </a:extLst>
          </p:cNvPr>
          <p:cNvCxnSpPr/>
          <p:nvPr/>
        </p:nvCxnSpPr>
        <p:spPr>
          <a:xfrm flipV="1">
            <a:off x="56456" y="1700808"/>
            <a:ext cx="0" cy="3456384"/>
          </a:xfrm>
          <a:prstGeom prst="straightConnector1">
            <a:avLst/>
          </a:prstGeom>
          <a:ln>
            <a:solidFill>
              <a:srgbClr val="0070C0"/>
            </a:solidFill>
            <a:tailEnd type="triangle"/>
          </a:ln>
        </p:spPr>
        <p:style>
          <a:lnRef idx="3">
            <a:schemeClr val="accent2"/>
          </a:lnRef>
          <a:fillRef idx="0">
            <a:schemeClr val="accent2"/>
          </a:fillRef>
          <a:effectRef idx="2">
            <a:schemeClr val="accent2"/>
          </a:effectRef>
          <a:fontRef idx="minor">
            <a:schemeClr val="tx1"/>
          </a:fontRef>
        </p:style>
      </p:cxnSp>
      <p:grpSp>
        <p:nvGrpSpPr>
          <p:cNvPr id="3" name="Grupo 2">
            <a:extLst>
              <a:ext uri="{FF2B5EF4-FFF2-40B4-BE49-F238E27FC236}">
                <a16:creationId xmlns:a16="http://schemas.microsoft.com/office/drawing/2014/main" id="{2C046DC9-7011-3167-3D44-07AA00668E5A}"/>
              </a:ext>
            </a:extLst>
          </p:cNvPr>
          <p:cNvGrpSpPr/>
          <p:nvPr/>
        </p:nvGrpSpPr>
        <p:grpSpPr>
          <a:xfrm>
            <a:off x="128466" y="672778"/>
            <a:ext cx="438243" cy="438243"/>
            <a:chOff x="4733878" y="3209878"/>
            <a:chExt cx="438243" cy="438243"/>
          </a:xfrm>
        </p:grpSpPr>
        <p:sp>
          <p:nvSpPr>
            <p:cNvPr id="10" name="Elipse 9">
              <a:extLst>
                <a:ext uri="{FF2B5EF4-FFF2-40B4-BE49-F238E27FC236}">
                  <a16:creationId xmlns:a16="http://schemas.microsoft.com/office/drawing/2014/main" id="{7A28BAE5-57E7-8611-3DD5-6D63FD46C9EA}"/>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14" name="Rectángulo 13">
              <a:extLst>
                <a:ext uri="{FF2B5EF4-FFF2-40B4-BE49-F238E27FC236}">
                  <a16:creationId xmlns:a16="http://schemas.microsoft.com/office/drawing/2014/main" id="{7C13EF75-907A-DABB-4BEF-FE287054BF4B}"/>
                </a:ext>
              </a:extLst>
            </p:cNvPr>
            <p:cNvSpPr/>
            <p:nvPr/>
          </p:nvSpPr>
          <p:spPr>
            <a:xfrm>
              <a:off x="4825909" y="3301910"/>
              <a:ext cx="254181" cy="254181"/>
            </a:xfrm>
            <a:prstGeom prst="rect">
              <a:avLst/>
            </a:prstGeom>
            <a: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5"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7 Diagrama"/>
          <p:cNvGraphicFramePr/>
          <p:nvPr>
            <p:extLst>
              <p:ext uri="{D42A27DB-BD31-4B8C-83A1-F6EECF244321}">
                <p14:modId xmlns:p14="http://schemas.microsoft.com/office/powerpoint/2010/main" val="3041838410"/>
              </p:ext>
            </p:extLst>
          </p:nvPr>
        </p:nvGraphicFramePr>
        <p:xfrm>
          <a:off x="416878" y="1340768"/>
          <a:ext cx="9072626" cy="5000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hape 52">
            <a:extLst>
              <a:ext uri="{FF2B5EF4-FFF2-40B4-BE49-F238E27FC236}">
                <a16:creationId xmlns:a16="http://schemas.microsoft.com/office/drawing/2014/main" id="{95459791-5E03-4F50-AC0B-68283AEC9FC4}"/>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Clases (o Estado)</a:t>
            </a:r>
            <a:endPar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grpSp>
        <p:nvGrpSpPr>
          <p:cNvPr id="2" name="Grupo 1">
            <a:extLst>
              <a:ext uri="{FF2B5EF4-FFF2-40B4-BE49-F238E27FC236}">
                <a16:creationId xmlns:a16="http://schemas.microsoft.com/office/drawing/2014/main" id="{08470005-B71A-3C7E-5CFE-BA735CC5F66B}"/>
              </a:ext>
            </a:extLst>
          </p:cNvPr>
          <p:cNvGrpSpPr/>
          <p:nvPr/>
        </p:nvGrpSpPr>
        <p:grpSpPr>
          <a:xfrm>
            <a:off x="128466" y="672778"/>
            <a:ext cx="438243" cy="438243"/>
            <a:chOff x="4733878" y="3209878"/>
            <a:chExt cx="438243" cy="438243"/>
          </a:xfrm>
        </p:grpSpPr>
        <p:sp>
          <p:nvSpPr>
            <p:cNvPr id="3" name="Elipse 2">
              <a:extLst>
                <a:ext uri="{FF2B5EF4-FFF2-40B4-BE49-F238E27FC236}">
                  <a16:creationId xmlns:a16="http://schemas.microsoft.com/office/drawing/2014/main" id="{B1325849-BD64-2A23-57B3-35357974646B}"/>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4" name="Rectángulo 3">
              <a:extLst>
                <a:ext uri="{FF2B5EF4-FFF2-40B4-BE49-F238E27FC236}">
                  <a16:creationId xmlns:a16="http://schemas.microsoft.com/office/drawing/2014/main" id="{A3B31AC3-566A-CA1F-467B-02FF48285AF4}"/>
                </a:ext>
              </a:extLst>
            </p:cNvPr>
            <p:cNvSpPr/>
            <p:nvPr/>
          </p:nvSpPr>
          <p:spPr>
            <a:xfrm>
              <a:off x="4825909" y="3301910"/>
              <a:ext cx="254181" cy="254181"/>
            </a:xfrm>
            <a:prstGeom prst="rect">
              <a:avLst/>
            </a:prstGeom>
            <a: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2258579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p:nvPr/>
        </p:nvSpPr>
        <p:spPr>
          <a:xfrm>
            <a:off x="238092" y="2207766"/>
            <a:ext cx="9433048" cy="1077218"/>
          </a:xfrm>
          <a:prstGeom prst="rect">
            <a:avLst/>
          </a:prstGeom>
        </p:spPr>
        <p:txBody>
          <a:bodyPr wrap="square">
            <a:spAutoFit/>
          </a:bodyPr>
          <a:lstStyle/>
          <a:p>
            <a:pPr fontAlgn="base"/>
            <a:r>
              <a:rPr lang="es-AR" sz="1600" dirty="0"/>
              <a:t>Las </a:t>
            </a:r>
            <a:r>
              <a:rPr lang="es-AR" sz="1600" b="1" dirty="0"/>
              <a:t>asociaciones gremiales simplemente inscriptas no poseen representación colectiva de sus afiliados, salvo cuando </a:t>
            </a:r>
            <a:r>
              <a:rPr lang="es-AR" sz="1600" b="1" u="sng" dirty="0"/>
              <a:t>no exista </a:t>
            </a:r>
            <a:r>
              <a:rPr lang="es-AR" sz="1600" b="1" dirty="0"/>
              <a:t>un sindicato con personería gremial</a:t>
            </a:r>
            <a:r>
              <a:rPr lang="es-AR" sz="1600" dirty="0"/>
              <a:t>. En estos casos, su objetivo será en el futuro llegar a tener la personería si acredita ser la entidad más representativa.</a:t>
            </a:r>
          </a:p>
          <a:p>
            <a:pPr fontAlgn="base"/>
            <a:endParaRPr lang="es-AR" sz="1600" dirty="0"/>
          </a:p>
        </p:txBody>
      </p:sp>
      <p:sp>
        <p:nvSpPr>
          <p:cNvPr id="3" name="Rounded Rectangle 7"/>
          <p:cNvSpPr/>
          <p:nvPr/>
        </p:nvSpPr>
        <p:spPr>
          <a:xfrm>
            <a:off x="235152" y="1397046"/>
            <a:ext cx="9072626" cy="504000"/>
          </a:xfrm>
          <a:prstGeom prst="roundRect">
            <a:avLst/>
          </a:prstGeom>
          <a:solidFill>
            <a:srgbClr val="FFFF00"/>
          </a:solidFill>
          <a:ln/>
        </p:spPr>
        <p:style>
          <a:lnRef idx="0">
            <a:schemeClr val="accent4"/>
          </a:lnRef>
          <a:fillRef idx="3">
            <a:schemeClr val="accent4"/>
          </a:fillRef>
          <a:effectRef idx="3">
            <a:schemeClr val="accent4"/>
          </a:effectRef>
          <a:fontRef idx="minor">
            <a:schemeClr val="lt1"/>
          </a:fontRef>
        </p:style>
        <p:txBody>
          <a:bodyPr rtlCol="0" anchor="ctr"/>
          <a:lstStyle/>
          <a:p>
            <a:r>
              <a:rPr lang="es-ES" b="1" dirty="0">
                <a:solidFill>
                  <a:schemeClr val="tx1"/>
                </a:solidFill>
                <a:latin typeface="+mj-lt"/>
              </a:rPr>
              <a:t>Sindicatos simplemente inscriptos</a:t>
            </a:r>
            <a:endParaRPr lang="es-AR" b="1" dirty="0">
              <a:solidFill>
                <a:schemeClr val="tx1"/>
              </a:solidFill>
              <a:latin typeface="+mj-lt"/>
            </a:endParaRPr>
          </a:p>
        </p:txBody>
      </p:sp>
      <p:pic>
        <p:nvPicPr>
          <p:cNvPr id="5" name="Picture 2">
            <a:extLst>
              <a:ext uri="{FF2B5EF4-FFF2-40B4-BE49-F238E27FC236}">
                <a16:creationId xmlns:a16="http://schemas.microsoft.com/office/drawing/2014/main" id="{E62505DF-DFF1-49F0-9EA7-41DE76C215E6}"/>
              </a:ext>
            </a:extLst>
          </p:cNvPr>
          <p:cNvPicPr>
            <a:picLocks noChangeAspect="1" noChangeArrowheads="1"/>
          </p:cNvPicPr>
          <p:nvPr/>
        </p:nvPicPr>
        <p:blipFill rotWithShape="1">
          <a:blip r:embed="rId2"/>
          <a:srcRect t="7812" r="1709" b="40299"/>
          <a:stretch/>
        </p:blipFill>
        <p:spPr bwMode="auto">
          <a:xfrm>
            <a:off x="5234838" y="3880907"/>
            <a:ext cx="4476884" cy="170833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427AC7FB-B72F-1849-81DE-6FB9EC0A2408}"/>
              </a:ext>
            </a:extLst>
          </p:cNvPr>
          <p:cNvSpPr txBox="1"/>
          <p:nvPr/>
        </p:nvSpPr>
        <p:spPr>
          <a:xfrm>
            <a:off x="235152" y="3806260"/>
            <a:ext cx="4881494" cy="2862322"/>
          </a:xfrm>
          <a:prstGeom prst="rect">
            <a:avLst/>
          </a:prstGeom>
          <a:noFill/>
        </p:spPr>
        <p:txBody>
          <a:bodyPr wrap="square" rtlCol="0">
            <a:spAutoFit/>
          </a:bodyPr>
          <a:lstStyle/>
          <a:p>
            <a:pPr marL="285750" indent="-285750">
              <a:buFont typeface="Arial" panose="020B0604020202020204" pitchFamily="34" charset="0"/>
              <a:buChar char="•"/>
            </a:pPr>
            <a:r>
              <a:rPr lang="es-AR" dirty="0"/>
              <a:t>Con autorización expresa pueden peticionar o </a:t>
            </a:r>
            <a:r>
              <a:rPr lang="es-AR" b="1" dirty="0"/>
              <a:t>representar e</a:t>
            </a:r>
            <a:r>
              <a:rPr lang="es-AR" dirty="0"/>
              <a:t>n forma individual a sus afilados. </a:t>
            </a:r>
          </a:p>
          <a:p>
            <a:pPr marL="285750" indent="-285750">
              <a:buFont typeface="Arial" panose="020B0604020202020204" pitchFamily="34" charset="0"/>
              <a:buChar char="•"/>
            </a:pPr>
            <a:r>
              <a:rPr lang="es-AR" b="1" dirty="0"/>
              <a:t>No son agentes de </a:t>
            </a:r>
            <a:r>
              <a:rPr lang="es-AR" dirty="0"/>
              <a:t>retención pudiendo formar cooperativas y mutuales, imponer cotizaciones a sus afiliados, </a:t>
            </a:r>
          </a:p>
          <a:p>
            <a:pPr marL="285750" indent="-285750">
              <a:buFont typeface="Arial" panose="020B0604020202020204" pitchFamily="34" charset="0"/>
              <a:buChar char="•"/>
            </a:pPr>
            <a:r>
              <a:rPr lang="es-AR" b="1" dirty="0"/>
              <a:t>realizar asambleas </a:t>
            </a:r>
            <a:r>
              <a:rPr lang="es-AR" dirty="0"/>
              <a:t>y reuniones,</a:t>
            </a:r>
          </a:p>
          <a:p>
            <a:pPr marL="285750" indent="-285750">
              <a:buFont typeface="Arial" panose="020B0604020202020204" pitchFamily="34" charset="0"/>
              <a:buChar char="•"/>
            </a:pPr>
            <a:r>
              <a:rPr lang="es-AR" dirty="0"/>
              <a:t> promover </a:t>
            </a:r>
            <a:r>
              <a:rPr lang="es-AR" b="1" dirty="0"/>
              <a:t>la formación de sus trabajadores</a:t>
            </a:r>
            <a:r>
              <a:rPr lang="es-AR" dirty="0"/>
              <a:t>, </a:t>
            </a:r>
          </a:p>
          <a:p>
            <a:pPr marL="285750" indent="-285750">
              <a:buFont typeface="Arial" panose="020B0604020202020204" pitchFamily="34" charset="0"/>
              <a:buChar char="•"/>
            </a:pPr>
            <a:r>
              <a:rPr lang="es-AR" dirty="0"/>
              <a:t> contribuir a </a:t>
            </a:r>
            <a:r>
              <a:rPr lang="es-AR" b="1" dirty="0"/>
              <a:t>perfeccionar las normas laborales</a:t>
            </a:r>
            <a:r>
              <a:rPr lang="es-AR" dirty="0"/>
              <a:t>, previsionales o de seguridad social.</a:t>
            </a:r>
            <a:endParaRPr lang="es-ES_tradnl" dirty="0">
              <a:latin typeface="Arial "/>
            </a:endParaRPr>
          </a:p>
          <a:p>
            <a:pPr marL="285750" indent="-285750">
              <a:buFont typeface="Arial" panose="020B0604020202020204" pitchFamily="34" charset="0"/>
              <a:buChar char="•"/>
            </a:pPr>
            <a:endParaRPr lang="en-AR" dirty="0"/>
          </a:p>
        </p:txBody>
      </p:sp>
      <p:sp>
        <p:nvSpPr>
          <p:cNvPr id="8" name="TextBox 7">
            <a:extLst>
              <a:ext uri="{FF2B5EF4-FFF2-40B4-BE49-F238E27FC236}">
                <a16:creationId xmlns:a16="http://schemas.microsoft.com/office/drawing/2014/main" id="{C716CB79-498C-7148-95A7-BF1CE4DB9EA5}"/>
              </a:ext>
            </a:extLst>
          </p:cNvPr>
          <p:cNvSpPr txBox="1"/>
          <p:nvPr/>
        </p:nvSpPr>
        <p:spPr>
          <a:xfrm>
            <a:off x="309530" y="3426387"/>
            <a:ext cx="3744416" cy="369332"/>
          </a:xfrm>
          <a:prstGeom prst="rect">
            <a:avLst/>
          </a:prstGeom>
          <a:noFill/>
        </p:spPr>
        <p:txBody>
          <a:bodyPr wrap="square" rtlCol="0">
            <a:spAutoFit/>
          </a:bodyPr>
          <a:lstStyle/>
          <a:p>
            <a:r>
              <a:rPr lang="en-AR" b="1" dirty="0">
                <a:solidFill>
                  <a:srgbClr val="C00000"/>
                </a:solidFill>
              </a:rPr>
              <a:t>Qué pueden hacer?</a:t>
            </a:r>
          </a:p>
        </p:txBody>
      </p:sp>
      <p:sp>
        <p:nvSpPr>
          <p:cNvPr id="10" name="Shape 52">
            <a:extLst>
              <a:ext uri="{FF2B5EF4-FFF2-40B4-BE49-F238E27FC236}">
                <a16:creationId xmlns:a16="http://schemas.microsoft.com/office/drawing/2014/main" id="{38B140A8-240E-4915-BB03-79089AA7216A}"/>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Clases</a:t>
            </a:r>
            <a:endPar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sp>
        <p:nvSpPr>
          <p:cNvPr id="11" name="Rectángulo: esquinas redondeadas 10">
            <a:extLst>
              <a:ext uri="{FF2B5EF4-FFF2-40B4-BE49-F238E27FC236}">
                <a16:creationId xmlns:a16="http://schemas.microsoft.com/office/drawing/2014/main" id="{9FC2022F-0CCB-4CDF-8E67-04B9E10E1F32}"/>
              </a:ext>
            </a:extLst>
          </p:cNvPr>
          <p:cNvSpPr/>
          <p:nvPr/>
        </p:nvSpPr>
        <p:spPr>
          <a:xfrm>
            <a:off x="8212728" y="4725144"/>
            <a:ext cx="844728" cy="1005950"/>
          </a:xfrm>
          <a:prstGeom prst="roundRect">
            <a:avLst/>
          </a:prstGeom>
          <a:noFill/>
          <a:ln w="38100">
            <a:solidFill>
              <a:srgbClr val="FF0000"/>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s-AR"/>
          </a:p>
        </p:txBody>
      </p:sp>
      <p:grpSp>
        <p:nvGrpSpPr>
          <p:cNvPr id="4" name="Grupo 3">
            <a:extLst>
              <a:ext uri="{FF2B5EF4-FFF2-40B4-BE49-F238E27FC236}">
                <a16:creationId xmlns:a16="http://schemas.microsoft.com/office/drawing/2014/main" id="{66C15F73-DD71-AC3C-EF07-49257A074E85}"/>
              </a:ext>
            </a:extLst>
          </p:cNvPr>
          <p:cNvGrpSpPr/>
          <p:nvPr/>
        </p:nvGrpSpPr>
        <p:grpSpPr>
          <a:xfrm>
            <a:off x="128466" y="672778"/>
            <a:ext cx="438243" cy="438243"/>
            <a:chOff x="4733878" y="3209878"/>
            <a:chExt cx="438243" cy="438243"/>
          </a:xfrm>
        </p:grpSpPr>
        <p:sp>
          <p:nvSpPr>
            <p:cNvPr id="6" name="Elipse 5">
              <a:extLst>
                <a:ext uri="{FF2B5EF4-FFF2-40B4-BE49-F238E27FC236}">
                  <a16:creationId xmlns:a16="http://schemas.microsoft.com/office/drawing/2014/main" id="{57D23556-4939-D469-456B-55D65679FE8E}"/>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9" name="Rectángulo 8">
              <a:extLst>
                <a:ext uri="{FF2B5EF4-FFF2-40B4-BE49-F238E27FC236}">
                  <a16:creationId xmlns:a16="http://schemas.microsoft.com/office/drawing/2014/main" id="{AE143D09-5014-127E-35B0-894AFD66E71B}"/>
                </a:ext>
              </a:extLst>
            </p:cNvPr>
            <p:cNvSpPr/>
            <p:nvPr/>
          </p:nvSpPr>
          <p:spPr>
            <a:xfrm>
              <a:off x="4825909" y="3301910"/>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7"/>
          <p:cNvSpPr/>
          <p:nvPr/>
        </p:nvSpPr>
        <p:spPr>
          <a:xfrm>
            <a:off x="309530" y="1340766"/>
            <a:ext cx="9072626" cy="504000"/>
          </a:xfrm>
          <a:prstGeom prst="roundRect">
            <a:avLst/>
          </a:prstGeom>
          <a:solidFill>
            <a:srgbClr val="00B050"/>
          </a:solidFill>
          <a:ln/>
        </p:spPr>
        <p:style>
          <a:lnRef idx="0">
            <a:schemeClr val="accent3"/>
          </a:lnRef>
          <a:fillRef idx="3">
            <a:schemeClr val="accent3"/>
          </a:fillRef>
          <a:effectRef idx="3">
            <a:schemeClr val="accent3"/>
          </a:effectRef>
          <a:fontRef idx="minor">
            <a:schemeClr val="lt1"/>
          </a:fontRef>
        </p:style>
        <p:txBody>
          <a:bodyPr rtlCol="0" anchor="ctr"/>
          <a:lstStyle/>
          <a:p>
            <a:r>
              <a:rPr lang="es-ES" b="1" dirty="0">
                <a:solidFill>
                  <a:schemeClr val="bg1"/>
                </a:solidFill>
                <a:latin typeface="+mj-lt"/>
              </a:rPr>
              <a:t>Sindicatos  con personería gremial</a:t>
            </a:r>
            <a:endParaRPr lang="es-AR" b="1" dirty="0">
              <a:solidFill>
                <a:schemeClr val="bg1"/>
              </a:solidFill>
              <a:latin typeface="+mj-lt"/>
            </a:endParaRPr>
          </a:p>
        </p:txBody>
      </p:sp>
      <p:sp>
        <p:nvSpPr>
          <p:cNvPr id="5" name="4 CuadroTexto"/>
          <p:cNvSpPr txBox="1"/>
          <p:nvPr/>
        </p:nvSpPr>
        <p:spPr>
          <a:xfrm>
            <a:off x="166654" y="1916834"/>
            <a:ext cx="9358378" cy="150810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s-ES" sz="2000" b="1" dirty="0">
                <a:solidFill>
                  <a:srgbClr val="002060"/>
                </a:solidFill>
              </a:rPr>
              <a:t>¿Qué es la personería gremial?</a:t>
            </a:r>
          </a:p>
          <a:p>
            <a:pPr algn="just"/>
            <a:r>
              <a:rPr lang="es-ES" dirty="0">
                <a:solidFill>
                  <a:srgbClr val="FF0000"/>
                </a:solidFill>
              </a:rPr>
              <a:t>Es un ATRIBUTO de </a:t>
            </a:r>
            <a:r>
              <a:rPr lang="es-ES" i="1" dirty="0">
                <a:solidFill>
                  <a:srgbClr val="FF0000"/>
                </a:solidFill>
              </a:rPr>
              <a:t>reconocimiento y habilitación  funcional </a:t>
            </a:r>
            <a:r>
              <a:rPr lang="es-ES" dirty="0">
                <a:solidFill>
                  <a:srgbClr val="FF0000"/>
                </a:solidFill>
              </a:rPr>
              <a:t> fijado por el Estado</a:t>
            </a:r>
            <a:r>
              <a:rPr lang="es-ES" dirty="0">
                <a:solidFill>
                  <a:srgbClr val="002060"/>
                </a:solidFill>
              </a:rPr>
              <a:t> y otorgado a aquella entidad gremial que pretenda ejercer la representación de los trabajadores en un ámbito  territorial y personal  previamente establecido, que acredite poseer la mayor cantidad de afiliados cotizantes y cumplimente los restantes recaudos legales para su otorgamientos.</a:t>
            </a:r>
            <a:endParaRPr lang="es-AR" sz="2000" b="1" dirty="0">
              <a:solidFill>
                <a:srgbClr val="002060"/>
              </a:solidFill>
            </a:endParaRPr>
          </a:p>
        </p:txBody>
      </p:sp>
      <p:sp>
        <p:nvSpPr>
          <p:cNvPr id="6" name="5 CuadroTexto"/>
          <p:cNvSpPr txBox="1"/>
          <p:nvPr/>
        </p:nvSpPr>
        <p:spPr>
          <a:xfrm>
            <a:off x="166654" y="3786192"/>
            <a:ext cx="9358378" cy="3028521"/>
          </a:xfrm>
          <a:prstGeom prst="rect">
            <a:avLst/>
          </a:prstGeom>
          <a:noFill/>
        </p:spPr>
        <p:txBody>
          <a:bodyPr wrap="square" rtlCol="0">
            <a:spAutoFit/>
          </a:bodyPr>
          <a:lstStyle/>
          <a:p>
            <a:pPr algn="just">
              <a:lnSpc>
                <a:spcPct val="80000"/>
              </a:lnSpc>
              <a:spcBef>
                <a:spcPct val="20000"/>
              </a:spcBef>
              <a:defRPr/>
            </a:pPr>
            <a:r>
              <a:rPr lang="es-ES_tradnl" b="1" i="1" u="sng" dirty="0">
                <a:cs typeface="Arial" pitchFamily="34" charset="0"/>
              </a:rPr>
              <a:t>Requisitos para obtener personería gremial:</a:t>
            </a:r>
          </a:p>
          <a:p>
            <a:pPr marL="457200" indent="-457200" algn="just">
              <a:lnSpc>
                <a:spcPct val="80000"/>
              </a:lnSpc>
              <a:spcBef>
                <a:spcPct val="20000"/>
              </a:spcBef>
              <a:buFont typeface="Arial" pitchFamily="34" charset="0"/>
              <a:buChar char="•"/>
              <a:defRPr/>
            </a:pPr>
            <a:endParaRPr lang="es-ES" dirty="0">
              <a:cs typeface="Arial" pitchFamily="34" charset="0"/>
            </a:endParaRPr>
          </a:p>
          <a:p>
            <a:pPr algn="just">
              <a:lnSpc>
                <a:spcPct val="80000"/>
              </a:lnSpc>
              <a:spcBef>
                <a:spcPct val="20000"/>
              </a:spcBef>
              <a:defRPr/>
            </a:pPr>
            <a:r>
              <a:rPr lang="es-ES" dirty="0">
                <a:cs typeface="Arial" pitchFamily="34" charset="0"/>
              </a:rPr>
              <a:t>La asociación que en su ámbito territorial y personal de actuación sea la más representativa, obtendrá personería gremial siempre que cumpla con los siguientes requisitos:</a:t>
            </a:r>
          </a:p>
          <a:p>
            <a:pPr marL="342900" indent="-342900">
              <a:lnSpc>
                <a:spcPct val="80000"/>
              </a:lnSpc>
              <a:spcBef>
                <a:spcPct val="20000"/>
              </a:spcBef>
              <a:buFont typeface="Arial" pitchFamily="34" charset="0"/>
              <a:buChar char="•"/>
              <a:defRPr/>
            </a:pPr>
            <a:endParaRPr lang="es-ES" dirty="0">
              <a:cs typeface="Arial" pitchFamily="34" charset="0"/>
            </a:endParaRPr>
          </a:p>
          <a:p>
            <a:pPr marL="623887" indent="-514350">
              <a:buFont typeface="+mj-lt"/>
              <a:buAutoNum type="alphaLcParenR"/>
              <a:defRPr/>
            </a:pPr>
            <a:r>
              <a:rPr lang="es-ES" dirty="0">
                <a:cs typeface="Arial" pitchFamily="34" charset="0"/>
              </a:rPr>
              <a:t>Haya actuado con un período </a:t>
            </a:r>
            <a:r>
              <a:rPr lang="es-ES" b="1" dirty="0">
                <a:cs typeface="Arial" pitchFamily="34" charset="0"/>
              </a:rPr>
              <a:t>no inferior a 6 meses.</a:t>
            </a:r>
            <a:endParaRPr lang="es-ES" dirty="0">
              <a:cs typeface="Arial" pitchFamily="34" charset="0"/>
            </a:endParaRPr>
          </a:p>
          <a:p>
            <a:pPr marL="623887" indent="-514350">
              <a:buFont typeface="+mj-lt"/>
              <a:buAutoNum type="alphaLcParenR"/>
              <a:defRPr/>
            </a:pPr>
            <a:r>
              <a:rPr lang="es-ES" dirty="0">
                <a:cs typeface="Arial" pitchFamily="34" charset="0"/>
              </a:rPr>
              <a:t>Afilie a </a:t>
            </a:r>
            <a:r>
              <a:rPr lang="es-ES" b="1" dirty="0">
                <a:cs typeface="Arial" pitchFamily="34" charset="0"/>
              </a:rPr>
              <a:t>más del 20% de los trabajadores </a:t>
            </a:r>
            <a:r>
              <a:rPr lang="es-ES" dirty="0">
                <a:cs typeface="Arial" pitchFamily="34" charset="0"/>
              </a:rPr>
              <a:t>cotizantes </a:t>
            </a:r>
            <a:br>
              <a:rPr lang="es-ES" dirty="0">
                <a:cs typeface="Arial" pitchFamily="34" charset="0"/>
              </a:rPr>
            </a:br>
            <a:r>
              <a:rPr lang="es-ES" dirty="0">
                <a:cs typeface="Arial" pitchFamily="34" charset="0"/>
              </a:rPr>
              <a:t>que representará durante los 6 meses anteriores.</a:t>
            </a:r>
          </a:p>
          <a:p>
            <a:pPr marL="623887" indent="-514350">
              <a:buFont typeface="+mj-lt"/>
              <a:buAutoNum type="alphaLcParenR"/>
              <a:defRPr/>
            </a:pPr>
            <a:r>
              <a:rPr lang="es-ES" dirty="0">
                <a:cs typeface="Arial" pitchFamily="34" charset="0"/>
              </a:rPr>
              <a:t>El </a:t>
            </a:r>
            <a:r>
              <a:rPr lang="es-ES" b="1" dirty="0">
                <a:cs typeface="Arial" pitchFamily="34" charset="0"/>
              </a:rPr>
              <a:t>Ministerio de Trabajo al otorgar </a:t>
            </a:r>
            <a:br>
              <a:rPr lang="es-ES" b="1" dirty="0">
                <a:cs typeface="Arial" pitchFamily="34" charset="0"/>
              </a:rPr>
            </a:br>
            <a:r>
              <a:rPr lang="es-ES" b="1" dirty="0">
                <a:cs typeface="Arial" pitchFamily="34" charset="0"/>
              </a:rPr>
              <a:t>personería gremial </a:t>
            </a:r>
            <a:r>
              <a:rPr lang="es-ES" dirty="0">
                <a:cs typeface="Arial" pitchFamily="34" charset="0"/>
              </a:rPr>
              <a:t>debe precisar el ámbito de </a:t>
            </a:r>
            <a:br>
              <a:rPr lang="es-ES" dirty="0">
                <a:cs typeface="Arial" pitchFamily="34" charset="0"/>
              </a:rPr>
            </a:br>
            <a:r>
              <a:rPr lang="es-ES" dirty="0">
                <a:cs typeface="Arial" pitchFamily="34" charset="0"/>
              </a:rPr>
              <a:t>representación personal y territorial.</a:t>
            </a:r>
          </a:p>
        </p:txBody>
      </p:sp>
      <p:sp>
        <p:nvSpPr>
          <p:cNvPr id="7" name="TextBox 6">
            <a:extLst>
              <a:ext uri="{FF2B5EF4-FFF2-40B4-BE49-F238E27FC236}">
                <a16:creationId xmlns:a16="http://schemas.microsoft.com/office/drawing/2014/main" id="{4BD8BF01-923F-2C44-AB7B-8D9572D23D34}"/>
              </a:ext>
            </a:extLst>
          </p:cNvPr>
          <p:cNvSpPr txBox="1"/>
          <p:nvPr/>
        </p:nvSpPr>
        <p:spPr>
          <a:xfrm>
            <a:off x="6573532" y="5082509"/>
            <a:ext cx="3168000" cy="369332"/>
          </a:xfrm>
          <a:prstGeom prst="rect">
            <a:avLst/>
          </a:prstGeom>
          <a:solidFill>
            <a:srgbClr val="C00000"/>
          </a:solidFill>
        </p:spPr>
        <p:style>
          <a:lnRef idx="3">
            <a:schemeClr val="lt1"/>
          </a:lnRef>
          <a:fillRef idx="1">
            <a:schemeClr val="accent2"/>
          </a:fillRef>
          <a:effectRef idx="1">
            <a:schemeClr val="accent2"/>
          </a:effectRef>
          <a:fontRef idx="minor">
            <a:schemeClr val="lt1"/>
          </a:fontRef>
        </p:style>
        <p:txBody>
          <a:bodyPr wrap="square" rtlCol="0">
            <a:spAutoFit/>
          </a:bodyPr>
          <a:lstStyle/>
          <a:p>
            <a:r>
              <a:rPr lang="en-AR" b="1" dirty="0">
                <a:solidFill>
                  <a:schemeClr val="bg1"/>
                </a:solidFill>
                <a:latin typeface="Tahoma" panose="020B0604030504040204" pitchFamily="34" charset="0"/>
                <a:ea typeface="Tahoma" panose="020B0604030504040204" pitchFamily="34" charset="0"/>
                <a:cs typeface="Tahoma" panose="020B0604030504040204" pitchFamily="34" charset="0"/>
              </a:rPr>
              <a:t>Qué pueden hacer?</a:t>
            </a:r>
          </a:p>
        </p:txBody>
      </p:sp>
      <p:sp>
        <p:nvSpPr>
          <p:cNvPr id="4" name="TextBox 3">
            <a:extLst>
              <a:ext uri="{FF2B5EF4-FFF2-40B4-BE49-F238E27FC236}">
                <a16:creationId xmlns:a16="http://schemas.microsoft.com/office/drawing/2014/main" id="{0FA5F6B1-4583-864D-A0DF-8D1C1821DB90}"/>
              </a:ext>
            </a:extLst>
          </p:cNvPr>
          <p:cNvSpPr txBox="1"/>
          <p:nvPr/>
        </p:nvSpPr>
        <p:spPr>
          <a:xfrm>
            <a:off x="6609536" y="5541041"/>
            <a:ext cx="3168000" cy="1200329"/>
          </a:xfrm>
          <a:prstGeom prst="rect">
            <a:avLst/>
          </a:prstGeom>
          <a:noFill/>
        </p:spPr>
        <p:txBody>
          <a:bodyPr wrap="square" rtlCol="0">
            <a:spAutoFit/>
          </a:bodyPr>
          <a:lstStyle/>
          <a:p>
            <a:pPr marL="285750" indent="-285750">
              <a:buFont typeface="Wingdings" pitchFamily="2" charset="2"/>
              <a:buChar char="ü"/>
            </a:pPr>
            <a:r>
              <a:rPr lang="en-AR" dirty="0">
                <a:solidFill>
                  <a:srgbClr val="FF0000"/>
                </a:solidFill>
                <a:latin typeface="Tahoma" panose="020B0604030504040204" pitchFamily="34" charset="0"/>
                <a:ea typeface="Tahoma" panose="020B0604030504040204" pitchFamily="34" charset="0"/>
                <a:cs typeface="Tahoma" panose="020B0604030504040204" pitchFamily="34" charset="0"/>
              </a:rPr>
              <a:t>Firmar CCT</a:t>
            </a:r>
          </a:p>
          <a:p>
            <a:pPr marL="285750" indent="-285750">
              <a:buFont typeface="Wingdings" pitchFamily="2" charset="2"/>
              <a:buChar char="ü"/>
            </a:pPr>
            <a:r>
              <a:rPr lang="en-AR" dirty="0">
                <a:solidFill>
                  <a:srgbClr val="FF0000"/>
                </a:solidFill>
                <a:latin typeface="Tahoma" panose="020B0604030504040204" pitchFamily="34" charset="0"/>
                <a:ea typeface="Tahoma" panose="020B0604030504040204" pitchFamily="34" charset="0"/>
                <a:cs typeface="Tahoma" panose="020B0604030504040204" pitchFamily="34" charset="0"/>
              </a:rPr>
              <a:t>Derecho a la huega</a:t>
            </a:r>
          </a:p>
          <a:p>
            <a:pPr marL="285750" indent="-285750">
              <a:buFont typeface="Wingdings" pitchFamily="2" charset="2"/>
              <a:buChar char="ü"/>
            </a:pPr>
            <a:r>
              <a:rPr lang="en-AR" dirty="0">
                <a:solidFill>
                  <a:srgbClr val="FF0000"/>
                </a:solidFill>
                <a:latin typeface="Tahoma" panose="020B0604030504040204" pitchFamily="34" charset="0"/>
                <a:ea typeface="Tahoma" panose="020B0604030504040204" pitchFamily="34" charset="0"/>
                <a:cs typeface="Tahoma" panose="020B0604030504040204" pitchFamily="34" charset="0"/>
              </a:rPr>
              <a:t>Administración de las obras sociales</a:t>
            </a:r>
          </a:p>
        </p:txBody>
      </p:sp>
      <p:sp>
        <p:nvSpPr>
          <p:cNvPr id="9" name="Shape 52">
            <a:extLst>
              <a:ext uri="{FF2B5EF4-FFF2-40B4-BE49-F238E27FC236}">
                <a16:creationId xmlns:a16="http://schemas.microsoft.com/office/drawing/2014/main" id="{4844137E-3B7A-413D-A556-46FA9215E9C7}"/>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Clases</a:t>
            </a:r>
            <a:endPar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grpSp>
        <p:nvGrpSpPr>
          <p:cNvPr id="2" name="Grupo 1">
            <a:extLst>
              <a:ext uri="{FF2B5EF4-FFF2-40B4-BE49-F238E27FC236}">
                <a16:creationId xmlns:a16="http://schemas.microsoft.com/office/drawing/2014/main" id="{18B11649-5E10-44D2-3AE4-79AF4F8B2747}"/>
              </a:ext>
            </a:extLst>
          </p:cNvPr>
          <p:cNvGrpSpPr/>
          <p:nvPr/>
        </p:nvGrpSpPr>
        <p:grpSpPr>
          <a:xfrm>
            <a:off x="128466" y="672778"/>
            <a:ext cx="438243" cy="438243"/>
            <a:chOff x="4733878" y="3209878"/>
            <a:chExt cx="438243" cy="438243"/>
          </a:xfrm>
        </p:grpSpPr>
        <p:sp>
          <p:nvSpPr>
            <p:cNvPr id="8" name="Elipse 7">
              <a:extLst>
                <a:ext uri="{FF2B5EF4-FFF2-40B4-BE49-F238E27FC236}">
                  <a16:creationId xmlns:a16="http://schemas.microsoft.com/office/drawing/2014/main" id="{42B9CB31-F49F-542A-1C06-81F96AC2EA80}"/>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10" name="Rectángulo 9">
              <a:extLst>
                <a:ext uri="{FF2B5EF4-FFF2-40B4-BE49-F238E27FC236}">
                  <a16:creationId xmlns:a16="http://schemas.microsoft.com/office/drawing/2014/main" id="{A1A3F73B-84D3-BF2A-0796-3A53236A46C4}"/>
                </a:ext>
              </a:extLst>
            </p:cNvPr>
            <p:cNvSpPr/>
            <p:nvPr/>
          </p:nvSpPr>
          <p:spPr>
            <a:xfrm>
              <a:off x="4825909" y="3301910"/>
              <a:ext cx="254181" cy="254181"/>
            </a:xfrm>
            <a:prstGeom prst="rect">
              <a:avLst/>
            </a:prstGeom>
            <a: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srcRect t="7812" r="1660" b="18523"/>
          <a:stretch/>
        </p:blipFill>
        <p:spPr bwMode="auto">
          <a:xfrm>
            <a:off x="920552" y="1986562"/>
            <a:ext cx="8328236" cy="4678869"/>
          </a:xfrm>
          <a:prstGeom prst="rect">
            <a:avLst/>
          </a:prstGeom>
          <a:ln>
            <a:noFill/>
          </a:ln>
          <a:effectLst>
            <a:outerShdw blurRad="292100" dist="139700" dir="2700000" algn="tl" rotWithShape="0">
              <a:srgbClr val="333333">
                <a:alpha val="65000"/>
              </a:srgbClr>
            </a:outerShdw>
          </a:effectLst>
        </p:spPr>
      </p:pic>
      <p:sp>
        <p:nvSpPr>
          <p:cNvPr id="7" name="Rounded Rectangle 7"/>
          <p:cNvSpPr/>
          <p:nvPr/>
        </p:nvSpPr>
        <p:spPr>
          <a:xfrm>
            <a:off x="309530" y="1340768"/>
            <a:ext cx="9072626" cy="504000"/>
          </a:xfrm>
          <a:prstGeom prst="roundRect">
            <a:avLst/>
          </a:prstGeom>
          <a:solidFill>
            <a:srgbClr val="00B050"/>
          </a:solidFill>
          <a:ln/>
        </p:spPr>
        <p:style>
          <a:lnRef idx="0">
            <a:schemeClr val="accent3"/>
          </a:lnRef>
          <a:fillRef idx="3">
            <a:schemeClr val="accent3"/>
          </a:fillRef>
          <a:effectRef idx="3">
            <a:schemeClr val="accent3"/>
          </a:effectRef>
          <a:fontRef idx="minor">
            <a:schemeClr val="lt1"/>
          </a:fontRef>
        </p:style>
        <p:txBody>
          <a:bodyPr rtlCol="0" anchor="ctr"/>
          <a:lstStyle/>
          <a:p>
            <a:r>
              <a:rPr lang="es-ES" b="1" dirty="0">
                <a:solidFill>
                  <a:schemeClr val="bg1"/>
                </a:solidFill>
                <a:latin typeface="+mj-lt"/>
              </a:rPr>
              <a:t>Sindicatos  con personería gremial</a:t>
            </a:r>
            <a:endParaRPr lang="es-AR" b="1" dirty="0">
              <a:solidFill>
                <a:schemeClr val="bg1"/>
              </a:solidFill>
              <a:latin typeface="+mj-lt"/>
            </a:endParaRPr>
          </a:p>
        </p:txBody>
      </p:sp>
      <p:sp>
        <p:nvSpPr>
          <p:cNvPr id="9" name="Shape 52">
            <a:extLst>
              <a:ext uri="{FF2B5EF4-FFF2-40B4-BE49-F238E27FC236}">
                <a16:creationId xmlns:a16="http://schemas.microsoft.com/office/drawing/2014/main" id="{8122E3E6-467C-43C9-872D-4EA3CAF4EC6D}"/>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Clases</a:t>
            </a:r>
            <a:endPar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sp>
        <p:nvSpPr>
          <p:cNvPr id="2" name="Rectángulo: esquinas redondeadas 1">
            <a:extLst>
              <a:ext uri="{FF2B5EF4-FFF2-40B4-BE49-F238E27FC236}">
                <a16:creationId xmlns:a16="http://schemas.microsoft.com/office/drawing/2014/main" id="{B4107BB5-509F-4ED5-9251-1DDF4155A748}"/>
              </a:ext>
            </a:extLst>
          </p:cNvPr>
          <p:cNvSpPr/>
          <p:nvPr/>
        </p:nvSpPr>
        <p:spPr>
          <a:xfrm>
            <a:off x="6666262" y="3789042"/>
            <a:ext cx="1095050" cy="2876389"/>
          </a:xfrm>
          <a:prstGeom prst="roundRect">
            <a:avLst/>
          </a:prstGeom>
          <a:noFill/>
          <a:ln w="38100">
            <a:solidFill>
              <a:srgbClr val="FF0000"/>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s-AR"/>
          </a:p>
        </p:txBody>
      </p:sp>
      <p:grpSp>
        <p:nvGrpSpPr>
          <p:cNvPr id="3" name="Grupo 2">
            <a:extLst>
              <a:ext uri="{FF2B5EF4-FFF2-40B4-BE49-F238E27FC236}">
                <a16:creationId xmlns:a16="http://schemas.microsoft.com/office/drawing/2014/main" id="{F16B3DFF-D63A-90A7-6372-FBD5EBEBD66B}"/>
              </a:ext>
            </a:extLst>
          </p:cNvPr>
          <p:cNvGrpSpPr/>
          <p:nvPr/>
        </p:nvGrpSpPr>
        <p:grpSpPr>
          <a:xfrm>
            <a:off x="128466" y="672778"/>
            <a:ext cx="438243" cy="438243"/>
            <a:chOff x="4733878" y="3209878"/>
            <a:chExt cx="438243" cy="438243"/>
          </a:xfrm>
        </p:grpSpPr>
        <p:sp>
          <p:nvSpPr>
            <p:cNvPr id="4" name="Elipse 3">
              <a:extLst>
                <a:ext uri="{FF2B5EF4-FFF2-40B4-BE49-F238E27FC236}">
                  <a16:creationId xmlns:a16="http://schemas.microsoft.com/office/drawing/2014/main" id="{7FBEBE29-9BF7-0E8E-E827-441FC4AFF4BE}"/>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5" name="Rectángulo 4">
              <a:extLst>
                <a:ext uri="{FF2B5EF4-FFF2-40B4-BE49-F238E27FC236}">
                  <a16:creationId xmlns:a16="http://schemas.microsoft.com/office/drawing/2014/main" id="{6C34947D-D6A4-32E8-620C-9DF3449B1231}"/>
                </a:ext>
              </a:extLst>
            </p:cNvPr>
            <p:cNvSpPr/>
            <p:nvPr/>
          </p:nvSpPr>
          <p:spPr>
            <a:xfrm>
              <a:off x="4825909" y="3301910"/>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7 Diagrama"/>
          <p:cNvGraphicFramePr/>
          <p:nvPr>
            <p:extLst>
              <p:ext uri="{D42A27DB-BD31-4B8C-83A1-F6EECF244321}">
                <p14:modId xmlns:p14="http://schemas.microsoft.com/office/powerpoint/2010/main" val="774990952"/>
              </p:ext>
            </p:extLst>
          </p:nvPr>
        </p:nvGraphicFramePr>
        <p:xfrm>
          <a:off x="416878" y="1340768"/>
          <a:ext cx="9072626" cy="5000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hape 52">
            <a:extLst>
              <a:ext uri="{FF2B5EF4-FFF2-40B4-BE49-F238E27FC236}">
                <a16:creationId xmlns:a16="http://schemas.microsoft.com/office/drawing/2014/main" id="{95459791-5E03-4F50-AC0B-68283AEC9FC4}"/>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 – </a:t>
            </a:r>
            <a:r>
              <a:rPr lang="es-AR"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Clases</a:t>
            </a:r>
            <a:endPar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endParaRPr>
          </a:p>
        </p:txBody>
      </p:sp>
      <p:sp>
        <p:nvSpPr>
          <p:cNvPr id="2" name="Rectángulo 1">
            <a:extLst>
              <a:ext uri="{FF2B5EF4-FFF2-40B4-BE49-F238E27FC236}">
                <a16:creationId xmlns:a16="http://schemas.microsoft.com/office/drawing/2014/main" id="{DE557739-C7D2-4482-88DF-C7D90B29019C}"/>
              </a:ext>
            </a:extLst>
          </p:cNvPr>
          <p:cNvSpPr/>
          <p:nvPr/>
        </p:nvSpPr>
        <p:spPr>
          <a:xfrm>
            <a:off x="4552125" y="1340768"/>
            <a:ext cx="4968170" cy="52565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nvGrpSpPr>
          <p:cNvPr id="3" name="Grupo 2">
            <a:extLst>
              <a:ext uri="{FF2B5EF4-FFF2-40B4-BE49-F238E27FC236}">
                <a16:creationId xmlns:a16="http://schemas.microsoft.com/office/drawing/2014/main" id="{083C52FD-DDAF-F625-8A9E-970EF86A2A74}"/>
              </a:ext>
            </a:extLst>
          </p:cNvPr>
          <p:cNvGrpSpPr/>
          <p:nvPr/>
        </p:nvGrpSpPr>
        <p:grpSpPr>
          <a:xfrm>
            <a:off x="128466" y="672778"/>
            <a:ext cx="438243" cy="438243"/>
            <a:chOff x="4733878" y="3209878"/>
            <a:chExt cx="438243" cy="438243"/>
          </a:xfrm>
        </p:grpSpPr>
        <p:sp>
          <p:nvSpPr>
            <p:cNvPr id="4" name="Elipse 3">
              <a:extLst>
                <a:ext uri="{FF2B5EF4-FFF2-40B4-BE49-F238E27FC236}">
                  <a16:creationId xmlns:a16="http://schemas.microsoft.com/office/drawing/2014/main" id="{B675B1B3-2BEA-57AC-92B0-FBDB03410414}"/>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6" name="Rectángulo 5">
              <a:extLst>
                <a:ext uri="{FF2B5EF4-FFF2-40B4-BE49-F238E27FC236}">
                  <a16:creationId xmlns:a16="http://schemas.microsoft.com/office/drawing/2014/main" id="{4B6B3902-314F-B882-0D33-41DF4DC900BD}"/>
                </a:ext>
              </a:extLst>
            </p:cNvPr>
            <p:cNvSpPr/>
            <p:nvPr/>
          </p:nvSpPr>
          <p:spPr>
            <a:xfrm>
              <a:off x="4825909" y="3301910"/>
              <a:ext cx="254181" cy="254181"/>
            </a:xfrm>
            <a:prstGeom prst="rect">
              <a:avLst/>
            </a:prstGeom>
            <a: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151548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09530" y="2000242"/>
            <a:ext cx="9215502" cy="203132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s-ES" b="1" dirty="0"/>
              <a:t>Es un tipo peculiar de contrato celebrado entre un sindicato y varias empresas de una industria. </a:t>
            </a:r>
          </a:p>
          <a:p>
            <a:endParaRPr lang="es-ES" b="1" dirty="0"/>
          </a:p>
          <a:p>
            <a:r>
              <a:rPr lang="es-ES" dirty="0"/>
              <a:t>El CCT puede regular </a:t>
            </a:r>
            <a:r>
              <a:rPr lang="es-ES" b="1" dirty="0"/>
              <a:t>todos los aspectos de la relación laboral </a:t>
            </a:r>
            <a:r>
              <a:rPr lang="es-ES" dirty="0"/>
              <a:t>(salarios, jornada, descansos, vacaciones, licencias, condiciones de trabajo, capacitación profesional, régimen de despidos, definición de las categorías profesionales), así como determinar </a:t>
            </a:r>
            <a:r>
              <a:rPr lang="es-ES" b="1" dirty="0"/>
              <a:t>reglas para la relación entre los sindicatos y los empleadores </a:t>
            </a:r>
            <a:r>
              <a:rPr lang="es-ES" dirty="0"/>
              <a:t>(representantes en los lugares de trabajo, información y consulta, cartelera sindical, licencias y permisos para los dirigentes sindicales, etc.).</a:t>
            </a:r>
          </a:p>
        </p:txBody>
      </p:sp>
      <p:sp>
        <p:nvSpPr>
          <p:cNvPr id="10" name="TextBox 9"/>
          <p:cNvSpPr txBox="1"/>
          <p:nvPr/>
        </p:nvSpPr>
        <p:spPr>
          <a:xfrm>
            <a:off x="460375" y="4552674"/>
            <a:ext cx="8985250" cy="984885"/>
          </a:xfrm>
          <a:prstGeom prst="rect">
            <a:avLst/>
          </a:prstGeom>
          <a:noFill/>
          <a:ln w="38100">
            <a:solidFill>
              <a:srgbClr val="FF0000"/>
            </a:solidFill>
          </a:ln>
        </p:spPr>
        <p:txBody>
          <a:bodyPr wrap="square" rtlCol="0">
            <a:spAutoFit/>
          </a:bodyPr>
          <a:lstStyle/>
          <a:p>
            <a:pPr algn="ctr"/>
            <a:r>
              <a:rPr lang="es-ES" b="1" dirty="0">
                <a:latin typeface="Arial" pitchFamily="34" charset="0"/>
                <a:cs typeface="Arial" pitchFamily="34" charset="0"/>
              </a:rPr>
              <a:t>Este tipo de contrato de trabajo se aplica a todos los trabajadores del ámbito (empresa o actividad) alcanzado, </a:t>
            </a:r>
            <a:r>
              <a:rPr lang="es-ES" sz="2000" b="1" dirty="0">
                <a:latin typeface="Arial" pitchFamily="34" charset="0"/>
                <a:cs typeface="Arial" pitchFamily="34" charset="0"/>
              </a:rPr>
              <a:t>AUNQUE NO ESTÉN AFILIADOS AL SINDICATO FIRMANTE.</a:t>
            </a:r>
            <a:endParaRPr lang="es-ES" b="1" dirty="0">
              <a:latin typeface="Arial" pitchFamily="34" charset="0"/>
              <a:cs typeface="Arial" pitchFamily="34" charset="0"/>
            </a:endParaRPr>
          </a:p>
        </p:txBody>
      </p:sp>
      <p:sp>
        <p:nvSpPr>
          <p:cNvPr id="2" name="TextBox 1"/>
          <p:cNvSpPr txBox="1"/>
          <p:nvPr/>
        </p:nvSpPr>
        <p:spPr>
          <a:xfrm>
            <a:off x="1064568" y="5373216"/>
            <a:ext cx="1512168" cy="369332"/>
          </a:xfrm>
          <a:prstGeom prst="rect">
            <a:avLst/>
          </a:prstGeom>
          <a:noFill/>
        </p:spPr>
        <p:txBody>
          <a:bodyPr wrap="square" rtlCol="0">
            <a:spAutoFit/>
          </a:bodyPr>
          <a:lstStyle/>
          <a:p>
            <a:endParaRPr lang="en-US" dirty="0"/>
          </a:p>
        </p:txBody>
      </p:sp>
      <p:sp>
        <p:nvSpPr>
          <p:cNvPr id="8" name="TextBox 7"/>
          <p:cNvSpPr txBox="1"/>
          <p:nvPr/>
        </p:nvSpPr>
        <p:spPr>
          <a:xfrm>
            <a:off x="1495586" y="5838365"/>
            <a:ext cx="8065926" cy="830997"/>
          </a:xfrm>
          <a:prstGeom prst="rect">
            <a:avLst/>
          </a:prstGeom>
          <a:noFill/>
        </p:spPr>
        <p:txBody>
          <a:bodyPr wrap="none" rtlCol="0">
            <a:spAutoFit/>
          </a:bodyPr>
          <a:lstStyle/>
          <a:p>
            <a:r>
              <a:rPr lang="es-ES" sz="2400" i="1" dirty="0">
                <a:solidFill>
                  <a:srgbClr val="FF0000"/>
                </a:solidFill>
              </a:rPr>
              <a:t>Solo los sindicatos con </a:t>
            </a:r>
            <a:r>
              <a:rPr lang="es-ES" sz="2400" b="1" i="1" dirty="0">
                <a:solidFill>
                  <a:srgbClr val="FF0000"/>
                </a:solidFill>
              </a:rPr>
              <a:t>personería gremial </a:t>
            </a:r>
            <a:r>
              <a:rPr lang="es-ES" sz="2400" i="1" dirty="0">
                <a:solidFill>
                  <a:srgbClr val="FF0000"/>
                </a:solidFill>
              </a:rPr>
              <a:t>pueden celebrar CCT</a:t>
            </a:r>
          </a:p>
          <a:p>
            <a:r>
              <a:rPr lang="es-ES" sz="2400" i="1" dirty="0">
                <a:solidFill>
                  <a:srgbClr val="FF0000"/>
                </a:solidFill>
              </a:rPr>
              <a:t>Estos deben ser HOMOLOGADOS por el Ministerio de Trabajo</a:t>
            </a:r>
            <a:endParaRPr lang="en-US" sz="2400" i="1" dirty="0">
              <a:solidFill>
                <a:srgbClr val="FF0000"/>
              </a:solidFill>
            </a:endParaRPr>
          </a:p>
        </p:txBody>
      </p:sp>
      <p:sp>
        <p:nvSpPr>
          <p:cNvPr id="3" name="AutoShape 2" descr="Resultado de imagen para tips 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536" y="5857892"/>
            <a:ext cx="702990" cy="70299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ounded Rectangle 7"/>
          <p:cNvSpPr/>
          <p:nvPr/>
        </p:nvSpPr>
        <p:spPr>
          <a:xfrm>
            <a:off x="309530" y="1340104"/>
            <a:ext cx="9107520" cy="432000"/>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Convenio Colectivo de Trabajo (CCT)</a:t>
            </a:r>
            <a:endParaRPr lang="es-AR" b="1" dirty="0">
              <a:solidFill>
                <a:schemeClr val="tx1"/>
              </a:solidFill>
              <a:latin typeface="+mj-lt"/>
            </a:endParaRPr>
          </a:p>
        </p:txBody>
      </p:sp>
      <p:sp>
        <p:nvSpPr>
          <p:cNvPr id="12" name="Shape 52">
            <a:extLst>
              <a:ext uri="{FF2B5EF4-FFF2-40B4-BE49-F238E27FC236}">
                <a16:creationId xmlns:a16="http://schemas.microsoft.com/office/drawing/2014/main" id="{DD8F8F5A-A17D-49ED-AF55-BC638318EDCD}"/>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Convenio Colectivo de Trabajo (CCT)</a:t>
            </a:r>
          </a:p>
        </p:txBody>
      </p:sp>
      <p:grpSp>
        <p:nvGrpSpPr>
          <p:cNvPr id="17" name="Grupo 16">
            <a:extLst>
              <a:ext uri="{FF2B5EF4-FFF2-40B4-BE49-F238E27FC236}">
                <a16:creationId xmlns:a16="http://schemas.microsoft.com/office/drawing/2014/main" id="{A16E2704-BCC8-81E1-287A-9DEAE57C0F48}"/>
              </a:ext>
            </a:extLst>
          </p:cNvPr>
          <p:cNvGrpSpPr/>
          <p:nvPr/>
        </p:nvGrpSpPr>
        <p:grpSpPr>
          <a:xfrm>
            <a:off x="122271" y="673727"/>
            <a:ext cx="438243" cy="438243"/>
            <a:chOff x="4733878" y="3209878"/>
            <a:chExt cx="438243" cy="438243"/>
          </a:xfrm>
        </p:grpSpPr>
        <p:sp>
          <p:nvSpPr>
            <p:cNvPr id="18" name="Elipse 17">
              <a:extLst>
                <a:ext uri="{FF2B5EF4-FFF2-40B4-BE49-F238E27FC236}">
                  <a16:creationId xmlns:a16="http://schemas.microsoft.com/office/drawing/2014/main" id="{BC3CD89F-EF58-EE50-C13C-DE3E4E3D9CE9}"/>
                </a:ext>
              </a:extLst>
            </p:cNvPr>
            <p:cNvSpPr/>
            <p:nvPr/>
          </p:nvSpPr>
          <p:spPr>
            <a:xfrm>
              <a:off x="4733878" y="3209878"/>
              <a:ext cx="438243" cy="438243"/>
            </a:xfrm>
            <a:prstGeom prst="ellipse">
              <a:avLst/>
            </a:prstGeom>
            <a:solidFill>
              <a:srgbClr val="FFC000">
                <a:hueOff val="0"/>
                <a:satOff val="0"/>
                <a:lumOff val="0"/>
                <a:alphaOff val="0"/>
              </a:srgbClr>
            </a:solidFill>
            <a:ln>
              <a:noFill/>
            </a:ln>
            <a:effectLst/>
          </p:spPr>
        </p:sp>
        <p:sp>
          <p:nvSpPr>
            <p:cNvPr id="19" name="Rectángulo 18">
              <a:extLst>
                <a:ext uri="{FF2B5EF4-FFF2-40B4-BE49-F238E27FC236}">
                  <a16:creationId xmlns:a16="http://schemas.microsoft.com/office/drawing/2014/main" id="{5BA86355-0226-2546-4513-EED772EB4CBE}"/>
                </a:ext>
              </a:extLst>
            </p:cNvPr>
            <p:cNvSpPr/>
            <p:nvPr/>
          </p:nvSpPr>
          <p:spPr>
            <a:xfrm>
              <a:off x="4825909" y="3301909"/>
              <a:ext cx="254181" cy="254181"/>
            </a:xfrm>
            <a:prstGeom prst="rect">
              <a:avLst/>
            </a:prstGeom>
            <a: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83569" y="1339023"/>
            <a:ext cx="9621961" cy="3662541"/>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s-AR" sz="2000" b="1" u="sng" dirty="0"/>
              <a:t>Es una norma jurídica y fuente de Derecho Laboral</a:t>
            </a:r>
            <a:r>
              <a:rPr lang="es-AR" sz="2000" dirty="0"/>
              <a:t>, que </a:t>
            </a:r>
            <a:r>
              <a:rPr lang="es-AR" sz="2000" b="1" dirty="0"/>
              <a:t>regula</a:t>
            </a:r>
            <a:r>
              <a:rPr lang="es-AR" sz="2000" dirty="0"/>
              <a:t> una serie de condiciones de trabajo aplicables para un determinado ámbito territorial y sector profesional, que </a:t>
            </a:r>
            <a:r>
              <a:rPr lang="es-AR" sz="2000" b="1" dirty="0"/>
              <a:t>son acordadas entre los trabajadores y la empresa. </a:t>
            </a:r>
            <a:br>
              <a:rPr lang="es-AR" sz="2000" b="1" dirty="0"/>
            </a:br>
            <a:endParaRPr lang="es-AR" sz="900" b="1" dirty="0"/>
          </a:p>
          <a:p>
            <a:pPr marL="342900" indent="-342900">
              <a:spcBef>
                <a:spcPts val="600"/>
              </a:spcBef>
              <a:buFont typeface="Arial" panose="020B0604020202020204" pitchFamily="34" charset="0"/>
              <a:buChar char="•"/>
            </a:pPr>
            <a:r>
              <a:rPr lang="es-AR" sz="2000" dirty="0"/>
              <a:t>Es de </a:t>
            </a:r>
            <a:r>
              <a:rPr lang="es-AR" sz="2000" b="1" dirty="0"/>
              <a:t>obligado cumplimiento </a:t>
            </a:r>
            <a:r>
              <a:rPr lang="es-AR" sz="2000" dirty="0"/>
              <a:t>y vincula a ambas partes, hasta el extremo de que el contrato de trabajo no puede establecer condiciones contrarias a las reguladas en el Convenio, aunque sea un pacto entre empresario y trabajador. </a:t>
            </a:r>
          </a:p>
          <a:p>
            <a:pPr marL="342900" indent="-342900">
              <a:spcBef>
                <a:spcPts val="600"/>
              </a:spcBef>
              <a:buFont typeface="Arial" panose="020B0604020202020204" pitchFamily="34" charset="0"/>
              <a:buChar char="•"/>
            </a:pPr>
            <a:endParaRPr lang="es-AR" sz="900" dirty="0"/>
          </a:p>
          <a:p>
            <a:pPr marL="342900" indent="-342900">
              <a:spcBef>
                <a:spcPts val="600"/>
              </a:spcBef>
              <a:buFont typeface="Arial" panose="020B0604020202020204" pitchFamily="34" charset="0"/>
              <a:buChar char="•"/>
            </a:pPr>
            <a:r>
              <a:rPr lang="es-AR" sz="2000" dirty="0"/>
              <a:t>Los contenidos de los </a:t>
            </a:r>
            <a:r>
              <a:rPr lang="es-AR" sz="2000" b="1" dirty="0"/>
              <a:t>Convenios Colectivos</a:t>
            </a:r>
            <a:r>
              <a:rPr lang="es-AR" sz="2000" dirty="0"/>
              <a:t> no son una regulación homogénea y </a:t>
            </a:r>
            <a:r>
              <a:rPr lang="es-AR" sz="2000" b="1" dirty="0"/>
              <a:t>pueden variar según al sector al que se refiera. </a:t>
            </a:r>
          </a:p>
          <a:p>
            <a:pPr marL="342900" indent="-342900">
              <a:spcBef>
                <a:spcPts val="600"/>
              </a:spcBef>
              <a:buFont typeface="Arial" panose="020B0604020202020204" pitchFamily="34" charset="0"/>
              <a:buChar char="•"/>
            </a:pPr>
            <a:endParaRPr lang="es-AR" sz="900" b="1" dirty="0"/>
          </a:p>
          <a:p>
            <a:pPr marL="342900" indent="-342900">
              <a:spcBef>
                <a:spcPts val="600"/>
              </a:spcBef>
              <a:buFont typeface="Arial" panose="020B0604020202020204" pitchFamily="34" charset="0"/>
              <a:buChar char="•"/>
            </a:pPr>
            <a:r>
              <a:rPr lang="es-AR" sz="2000" dirty="0"/>
              <a:t>Todas lo que establezca el CCT debe </a:t>
            </a:r>
            <a:r>
              <a:rPr lang="es-AR" sz="2000" b="1" dirty="0"/>
              <a:t>superar a la LCT </a:t>
            </a:r>
            <a:r>
              <a:rPr lang="es-AR" sz="2000" dirty="0"/>
              <a:t>o mínimo  respetar ese “piso”. </a:t>
            </a:r>
            <a:r>
              <a:rPr lang="es-AR" sz="2000" dirty="0" err="1"/>
              <a:t>Ej</a:t>
            </a:r>
            <a:r>
              <a:rPr lang="es-AR" sz="2000" dirty="0"/>
              <a:t>:</a:t>
            </a:r>
          </a:p>
        </p:txBody>
      </p:sp>
      <p:graphicFrame>
        <p:nvGraphicFramePr>
          <p:cNvPr id="4" name="3 Diagrama"/>
          <p:cNvGraphicFramePr/>
          <p:nvPr>
            <p:extLst>
              <p:ext uri="{D42A27DB-BD31-4B8C-83A1-F6EECF244321}">
                <p14:modId xmlns:p14="http://schemas.microsoft.com/office/powerpoint/2010/main" val="3772548939"/>
              </p:ext>
            </p:extLst>
          </p:nvPr>
        </p:nvGraphicFramePr>
        <p:xfrm>
          <a:off x="951116" y="5085184"/>
          <a:ext cx="8178348" cy="2962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CuadroTexto"/>
          <p:cNvSpPr txBox="1"/>
          <p:nvPr/>
        </p:nvSpPr>
        <p:spPr>
          <a:xfrm>
            <a:off x="1568624" y="5805264"/>
            <a:ext cx="1714512" cy="830997"/>
          </a:xfrm>
          <a:prstGeom prst="rect">
            <a:avLst/>
          </a:prstGeom>
          <a:noFill/>
        </p:spPr>
        <p:txBody>
          <a:bodyPr wrap="square" rtlCol="0">
            <a:spAutoFit/>
          </a:bodyPr>
          <a:lstStyle/>
          <a:p>
            <a:r>
              <a:rPr lang="es-ES" sz="1600" dirty="0"/>
              <a:t>Establece licencia por cuidado de familiar directo</a:t>
            </a:r>
            <a:endParaRPr lang="es-AR" sz="1600" dirty="0"/>
          </a:p>
        </p:txBody>
      </p:sp>
      <p:sp>
        <p:nvSpPr>
          <p:cNvPr id="6" name="5 CuadroTexto"/>
          <p:cNvSpPr txBox="1"/>
          <p:nvPr/>
        </p:nvSpPr>
        <p:spPr>
          <a:xfrm>
            <a:off x="4160912" y="5664150"/>
            <a:ext cx="2088232" cy="1077218"/>
          </a:xfrm>
          <a:prstGeom prst="rect">
            <a:avLst/>
          </a:prstGeom>
          <a:noFill/>
        </p:spPr>
        <p:txBody>
          <a:bodyPr wrap="square" rtlCol="0">
            <a:spAutoFit/>
          </a:bodyPr>
          <a:lstStyle/>
          <a:p>
            <a:r>
              <a:rPr lang="es-ES" sz="1600" dirty="0"/>
              <a:t>Establece que los días de vacaciones son hábiles y no corridos como dice la ley</a:t>
            </a:r>
            <a:endParaRPr lang="es-AR" sz="1600" dirty="0"/>
          </a:p>
        </p:txBody>
      </p:sp>
      <p:sp>
        <p:nvSpPr>
          <p:cNvPr id="7" name="6 CuadroTexto"/>
          <p:cNvSpPr txBox="1"/>
          <p:nvPr/>
        </p:nvSpPr>
        <p:spPr>
          <a:xfrm>
            <a:off x="6940890" y="5661248"/>
            <a:ext cx="2116566" cy="830997"/>
          </a:xfrm>
          <a:prstGeom prst="rect">
            <a:avLst/>
          </a:prstGeom>
          <a:noFill/>
        </p:spPr>
        <p:txBody>
          <a:bodyPr wrap="square" rtlCol="0">
            <a:spAutoFit/>
          </a:bodyPr>
          <a:lstStyle/>
          <a:p>
            <a:r>
              <a:rPr lang="es-ES" sz="1600" dirty="0"/>
              <a:t>Establece licencia por fallecimiento de suegros y abuelos</a:t>
            </a:r>
            <a:endParaRPr lang="es-AR" sz="1600" dirty="0"/>
          </a:p>
        </p:txBody>
      </p:sp>
      <p:sp>
        <p:nvSpPr>
          <p:cNvPr id="4098" name="AutoShape 2" descr="100 Ejemplos de Sinónimos (explicado)"/>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4100" name="AutoShape 4" descr="100 Ejemplos de Palabras Graves (explicado)"/>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11" name="Shape 52">
            <a:extLst>
              <a:ext uri="{FF2B5EF4-FFF2-40B4-BE49-F238E27FC236}">
                <a16:creationId xmlns:a16="http://schemas.microsoft.com/office/drawing/2014/main" id="{229BA34E-DE0A-4298-8FB2-90B0F3A0ABE6}"/>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Convenio Colectivo de Trabajo (CCT)</a:t>
            </a:r>
          </a:p>
        </p:txBody>
      </p:sp>
      <p:grpSp>
        <p:nvGrpSpPr>
          <p:cNvPr id="10" name="Grupo 9">
            <a:extLst>
              <a:ext uri="{FF2B5EF4-FFF2-40B4-BE49-F238E27FC236}">
                <a16:creationId xmlns:a16="http://schemas.microsoft.com/office/drawing/2014/main" id="{8DB368C7-23AA-3F1A-A91E-C93EEA924236}"/>
              </a:ext>
            </a:extLst>
          </p:cNvPr>
          <p:cNvGrpSpPr/>
          <p:nvPr/>
        </p:nvGrpSpPr>
        <p:grpSpPr>
          <a:xfrm>
            <a:off x="122271" y="673727"/>
            <a:ext cx="438243" cy="438243"/>
            <a:chOff x="4733878" y="3209878"/>
            <a:chExt cx="438243" cy="438243"/>
          </a:xfrm>
        </p:grpSpPr>
        <p:sp>
          <p:nvSpPr>
            <p:cNvPr id="12" name="Elipse 11">
              <a:extLst>
                <a:ext uri="{FF2B5EF4-FFF2-40B4-BE49-F238E27FC236}">
                  <a16:creationId xmlns:a16="http://schemas.microsoft.com/office/drawing/2014/main" id="{2E0915E1-7E1C-063C-917C-951ADCE9C5D8}"/>
                </a:ext>
              </a:extLst>
            </p:cNvPr>
            <p:cNvSpPr/>
            <p:nvPr/>
          </p:nvSpPr>
          <p:spPr>
            <a:xfrm>
              <a:off x="4733878" y="3209878"/>
              <a:ext cx="438243" cy="438243"/>
            </a:xfrm>
            <a:prstGeom prst="ellipse">
              <a:avLst/>
            </a:prstGeom>
            <a:solidFill>
              <a:srgbClr val="FFC000">
                <a:hueOff val="0"/>
                <a:satOff val="0"/>
                <a:lumOff val="0"/>
                <a:alphaOff val="0"/>
              </a:srgbClr>
            </a:solidFill>
            <a:ln>
              <a:noFill/>
            </a:ln>
            <a:effectLst/>
          </p:spPr>
        </p:sp>
        <p:sp>
          <p:nvSpPr>
            <p:cNvPr id="13" name="Rectángulo 12">
              <a:extLst>
                <a:ext uri="{FF2B5EF4-FFF2-40B4-BE49-F238E27FC236}">
                  <a16:creationId xmlns:a16="http://schemas.microsoft.com/office/drawing/2014/main" id="{929F9880-6451-A04A-31A8-01564711FC75}"/>
                </a:ext>
              </a:extLst>
            </p:cNvPr>
            <p:cNvSpPr/>
            <p:nvPr/>
          </p:nvSpPr>
          <p:spPr>
            <a:xfrm>
              <a:off x="4825909" y="3301909"/>
              <a:ext cx="254181" cy="254181"/>
            </a:xfrm>
            <a:prstGeom prst="rect">
              <a:avLst/>
            </a:prstGeom>
            <a:blipFill rotWithShape="1">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arn(inVertical)">
                                      <p:cBhvr>
                                        <p:cTn id="23" dur="500"/>
                                        <p:tgtEl>
                                          <p:spTgt spid="5"/>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arn(inVertical)">
                                      <p:cBhvr>
                                        <p:cTn id="26" dur="500"/>
                                        <p:tgtEl>
                                          <p:spTgt spid="6"/>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arn(inVertical)">
                                      <p:cBhvr>
                                        <p:cTn id="29" dur="500"/>
                                        <p:tgtEl>
                                          <p:spTgt spid="7"/>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16" name="Rectangle 297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8" name="Rectangle 297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905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20" name="Rectangle 2971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604695"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22" name="Rectangle 2972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906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CD65B08-BAD6-D5FD-E5D8-BAEAB26483D3}"/>
              </a:ext>
            </a:extLst>
          </p:cNvPr>
          <p:cNvSpPr>
            <a:spLocks noGrp="1"/>
          </p:cNvSpPr>
          <p:nvPr>
            <p:ph type="ctrTitle"/>
          </p:nvPr>
        </p:nvSpPr>
        <p:spPr>
          <a:xfrm>
            <a:off x="187110" y="166060"/>
            <a:ext cx="6206050" cy="1323156"/>
          </a:xfrm>
        </p:spPr>
        <p:txBody>
          <a:bodyPr anchor="ctr">
            <a:normAutofit/>
          </a:bodyPr>
          <a:lstStyle/>
          <a:p>
            <a:pPr algn="l"/>
            <a:r>
              <a:rPr lang="es-AR" sz="4400" b="1" dirty="0">
                <a:solidFill>
                  <a:srgbClr val="FFFFFF"/>
                </a:solidFill>
                <a:effectLst>
                  <a:outerShdw blurRad="38100" dist="38100" dir="2700000" algn="tl">
                    <a:srgbClr val="000000">
                      <a:alpha val="43137"/>
                    </a:srgbClr>
                  </a:outerShdw>
                </a:effectLst>
              </a:rPr>
              <a:t>Representantes Gremiales</a:t>
            </a:r>
          </a:p>
        </p:txBody>
      </p:sp>
      <p:pic>
        <p:nvPicPr>
          <p:cNvPr id="29698" name="Picture 2">
            <a:extLst>
              <a:ext uri="{FF2B5EF4-FFF2-40B4-BE49-F238E27FC236}">
                <a16:creationId xmlns:a16="http://schemas.microsoft.com/office/drawing/2014/main" id="{0613B4C6-E67C-4545-E720-93E7447AA3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 b="-709"/>
          <a:stretch/>
        </p:blipFill>
        <p:spPr bwMode="auto">
          <a:xfrm>
            <a:off x="-663624" y="1556792"/>
            <a:ext cx="11403484" cy="5368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698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28491" y="3192313"/>
            <a:ext cx="9088561" cy="3416320"/>
          </a:xfrm>
          <a:prstGeom prst="rect">
            <a:avLst/>
          </a:prstGeom>
          <a:noFill/>
        </p:spPr>
        <p:txBody>
          <a:bodyPr wrap="square" rtlCol="0">
            <a:spAutoFit/>
          </a:bodyPr>
          <a:lstStyle/>
          <a:p>
            <a:pPr lvl="0"/>
            <a:r>
              <a:rPr lang="es-AR" dirty="0"/>
              <a:t>Las e</a:t>
            </a:r>
            <a:r>
              <a:rPr lang="es-AR" b="1" dirty="0"/>
              <a:t>lecciones</a:t>
            </a:r>
            <a:r>
              <a:rPr lang="es-AR" dirty="0"/>
              <a:t> han de ser convocadas por la asociación sindical . Los candidatos se postulan y el Sindicato notifica por carta documento  quienes son los postulados. A partir de esa comunicación, inicia la tutela sindical.</a:t>
            </a:r>
          </a:p>
          <a:p>
            <a:pPr lvl="0"/>
            <a:endParaRPr lang="es-AR" dirty="0"/>
          </a:p>
          <a:p>
            <a:pPr lvl="0"/>
            <a:r>
              <a:rPr lang="es-AR" b="1" dirty="0"/>
              <a:t>La duración de las funciones del delegado </a:t>
            </a:r>
            <a:r>
              <a:rPr lang="es-AR" dirty="0"/>
              <a:t>no puede exceder de 2 años, pero puede ser reelecto por sucesivos períodos.</a:t>
            </a:r>
          </a:p>
          <a:p>
            <a:endParaRPr lang="es-AR" dirty="0"/>
          </a:p>
          <a:p>
            <a:r>
              <a:rPr lang="es-AR" dirty="0"/>
              <a:t>La ley establece, como mínimo, la siguiente relación:</a:t>
            </a:r>
          </a:p>
          <a:p>
            <a:pPr marL="742950" lvl="1" indent="-285750">
              <a:buFont typeface="Wingdings" pitchFamily="2" charset="2"/>
              <a:buChar char="ü"/>
            </a:pPr>
            <a:r>
              <a:rPr lang="es-AR" dirty="0"/>
              <a:t>  De 10 a 50 trabajadores: 1 delegado.-</a:t>
            </a:r>
          </a:p>
          <a:p>
            <a:pPr marL="742950" lvl="1" indent="-285750">
              <a:buFont typeface="Wingdings" pitchFamily="2" charset="2"/>
              <a:buChar char="ü"/>
            </a:pPr>
            <a:r>
              <a:rPr lang="es-AR" dirty="0"/>
              <a:t>  De 51 a 100 trabajadores: 2 delegados.-</a:t>
            </a:r>
          </a:p>
          <a:p>
            <a:pPr marL="742950" lvl="1" indent="-285750">
              <a:buFont typeface="Wingdings" pitchFamily="2" charset="2"/>
              <a:buChar char="ü"/>
            </a:pPr>
            <a:r>
              <a:rPr lang="es-AR" dirty="0"/>
              <a:t>  De 101 en adelante: 1 delegado mas por cada 100 trabajadores.</a:t>
            </a:r>
          </a:p>
          <a:p>
            <a:pPr marL="742950" lvl="1" indent="-285750">
              <a:buFont typeface="Wingdings" pitchFamily="2" charset="2"/>
              <a:buChar char="ü"/>
            </a:pPr>
            <a:r>
              <a:rPr lang="es-AR" dirty="0"/>
              <a:t>Las comisiones internas son conformadas a partir de 3 delegados.</a:t>
            </a:r>
          </a:p>
        </p:txBody>
      </p:sp>
      <p:sp>
        <p:nvSpPr>
          <p:cNvPr id="3" name="TextBox 2"/>
          <p:cNvSpPr txBox="1"/>
          <p:nvPr/>
        </p:nvSpPr>
        <p:spPr>
          <a:xfrm>
            <a:off x="11073682" y="3717032"/>
            <a:ext cx="184731" cy="369332"/>
          </a:xfrm>
          <a:prstGeom prst="rect">
            <a:avLst/>
          </a:prstGeom>
          <a:noFill/>
        </p:spPr>
        <p:txBody>
          <a:bodyPr wrap="none" rtlCol="0">
            <a:spAutoFit/>
          </a:bodyPr>
          <a:lstStyle/>
          <a:p>
            <a:endParaRPr lang="en-US" dirty="0"/>
          </a:p>
        </p:txBody>
      </p:sp>
      <p:sp>
        <p:nvSpPr>
          <p:cNvPr id="5" name="TextBox 4"/>
          <p:cNvSpPr txBox="1"/>
          <p:nvPr/>
        </p:nvSpPr>
        <p:spPr>
          <a:xfrm>
            <a:off x="10137578" y="4437112"/>
            <a:ext cx="184731" cy="369332"/>
          </a:xfrm>
          <a:prstGeom prst="rect">
            <a:avLst/>
          </a:prstGeom>
          <a:noFill/>
        </p:spPr>
        <p:txBody>
          <a:bodyPr wrap="none" rtlCol="0">
            <a:spAutoFit/>
          </a:bodyPr>
          <a:lstStyle/>
          <a:p>
            <a:endParaRPr lang="en-US" dirty="0"/>
          </a:p>
        </p:txBody>
      </p:sp>
      <p:sp>
        <p:nvSpPr>
          <p:cNvPr id="12" name="Rounded Rectangle 7"/>
          <p:cNvSpPr/>
          <p:nvPr/>
        </p:nvSpPr>
        <p:spPr>
          <a:xfrm>
            <a:off x="380968" y="1357296"/>
            <a:ext cx="9001188" cy="432000"/>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Delegados</a:t>
            </a:r>
            <a:endParaRPr lang="es-AR" b="1" dirty="0">
              <a:solidFill>
                <a:schemeClr val="tx1"/>
              </a:solidFill>
              <a:latin typeface="+mj-lt"/>
            </a:endParaRPr>
          </a:p>
        </p:txBody>
      </p:sp>
      <p:sp>
        <p:nvSpPr>
          <p:cNvPr id="13" name="12 CuadroTexto"/>
          <p:cNvSpPr txBox="1"/>
          <p:nvPr/>
        </p:nvSpPr>
        <p:spPr>
          <a:xfrm>
            <a:off x="328491" y="1844826"/>
            <a:ext cx="9196543"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ES" dirty="0"/>
              <a:t>El delegado es el </a:t>
            </a:r>
            <a:r>
              <a:rPr lang="es-ES" b="1" dirty="0"/>
              <a:t>representante del sindicato ante los empresarios y los trabajadores </a:t>
            </a:r>
            <a:r>
              <a:rPr lang="es-ES" dirty="0"/>
              <a:t>y es vocero, a su vez, de éstos ante la organización sindical. </a:t>
            </a:r>
          </a:p>
          <a:p>
            <a:r>
              <a:rPr lang="es-ES" dirty="0"/>
              <a:t>Su representación debe proceder, fundamentalmente, de la voluntad libre y organizadamente expresada de los trabajadores que ha de representar, lo que se manifiesta </a:t>
            </a:r>
            <a:r>
              <a:rPr lang="es-ES" b="1" dirty="0"/>
              <a:t>en elecciones</a:t>
            </a:r>
            <a:r>
              <a:rPr lang="es-ES" dirty="0"/>
              <a:t>.</a:t>
            </a:r>
          </a:p>
        </p:txBody>
      </p:sp>
      <p:sp>
        <p:nvSpPr>
          <p:cNvPr id="2" name="TextBox 1">
            <a:extLst>
              <a:ext uri="{FF2B5EF4-FFF2-40B4-BE49-F238E27FC236}">
                <a16:creationId xmlns:a16="http://schemas.microsoft.com/office/drawing/2014/main" id="{6A83BF83-DB49-AB44-8539-A04E45A66F25}"/>
              </a:ext>
            </a:extLst>
          </p:cNvPr>
          <p:cNvSpPr txBox="1"/>
          <p:nvPr/>
        </p:nvSpPr>
        <p:spPr>
          <a:xfrm>
            <a:off x="7761312" y="5445226"/>
            <a:ext cx="2088232" cy="1200329"/>
          </a:xfrm>
          <a:prstGeom prst="rect">
            <a:avLst/>
          </a:prstGeom>
          <a:noFill/>
        </p:spPr>
        <p:txBody>
          <a:bodyPr wrap="square" rtlCol="0">
            <a:spAutoFit/>
          </a:bodyPr>
          <a:lstStyle/>
          <a:p>
            <a:r>
              <a:rPr lang="es-ES" b="1" dirty="0">
                <a:solidFill>
                  <a:srgbClr val="0070C0"/>
                </a:solidFill>
              </a:rPr>
              <a:t>Estas cantidades puede variar según el CCT.</a:t>
            </a:r>
            <a:endParaRPr lang="es-AR" dirty="0">
              <a:solidFill>
                <a:srgbClr val="0070C0"/>
              </a:solidFill>
            </a:endParaRPr>
          </a:p>
          <a:p>
            <a:endParaRPr lang="en-AR" dirty="0">
              <a:solidFill>
                <a:srgbClr val="0070C0"/>
              </a:solidFill>
            </a:endParaRPr>
          </a:p>
        </p:txBody>
      </p:sp>
      <p:sp>
        <p:nvSpPr>
          <p:cNvPr id="4" name="Right Bracket 3">
            <a:extLst>
              <a:ext uri="{FF2B5EF4-FFF2-40B4-BE49-F238E27FC236}">
                <a16:creationId xmlns:a16="http://schemas.microsoft.com/office/drawing/2014/main" id="{921253AE-8B44-CA4D-B9E3-0D92CC510342}"/>
              </a:ext>
            </a:extLst>
          </p:cNvPr>
          <p:cNvSpPr/>
          <p:nvPr/>
        </p:nvSpPr>
        <p:spPr>
          <a:xfrm>
            <a:off x="7359901" y="5373216"/>
            <a:ext cx="249142" cy="1196284"/>
          </a:xfrm>
          <a:prstGeom prst="rightBracket">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R"/>
          </a:p>
        </p:txBody>
      </p:sp>
      <p:sp>
        <p:nvSpPr>
          <p:cNvPr id="11" name="Shape 52">
            <a:extLst>
              <a:ext uri="{FF2B5EF4-FFF2-40B4-BE49-F238E27FC236}">
                <a16:creationId xmlns:a16="http://schemas.microsoft.com/office/drawing/2014/main" id="{DFCCF8EA-7B6F-444B-9649-72E7DD5B37B7}"/>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Representantes Gremiales</a:t>
            </a:r>
          </a:p>
        </p:txBody>
      </p:sp>
      <p:grpSp>
        <p:nvGrpSpPr>
          <p:cNvPr id="16" name="Grupo 15">
            <a:extLst>
              <a:ext uri="{FF2B5EF4-FFF2-40B4-BE49-F238E27FC236}">
                <a16:creationId xmlns:a16="http://schemas.microsoft.com/office/drawing/2014/main" id="{2C46AD82-8805-0BA7-5786-E5DAEC837FCC}"/>
              </a:ext>
            </a:extLst>
          </p:cNvPr>
          <p:cNvGrpSpPr/>
          <p:nvPr/>
        </p:nvGrpSpPr>
        <p:grpSpPr>
          <a:xfrm>
            <a:off x="128466" y="659451"/>
            <a:ext cx="438243" cy="438243"/>
            <a:chOff x="4733878" y="3209878"/>
            <a:chExt cx="438243" cy="438243"/>
          </a:xfrm>
        </p:grpSpPr>
        <p:sp>
          <p:nvSpPr>
            <p:cNvPr id="17" name="Elipse 16">
              <a:extLst>
                <a:ext uri="{FF2B5EF4-FFF2-40B4-BE49-F238E27FC236}">
                  <a16:creationId xmlns:a16="http://schemas.microsoft.com/office/drawing/2014/main" id="{FFABD415-D453-9932-1ACE-B38E0800F3B0}"/>
                </a:ext>
              </a:extLst>
            </p:cNvPr>
            <p:cNvSpPr/>
            <p:nvPr/>
          </p:nvSpPr>
          <p:spPr>
            <a:xfrm>
              <a:off x="4733878" y="3209878"/>
              <a:ext cx="438243" cy="438243"/>
            </a:xfrm>
            <a:prstGeom prst="ellipse">
              <a:avLst/>
            </a:prstGeom>
            <a:solidFill>
              <a:srgbClr val="4472C4">
                <a:hueOff val="0"/>
                <a:satOff val="0"/>
                <a:lumOff val="0"/>
                <a:alphaOff val="0"/>
              </a:srgbClr>
            </a:solidFill>
            <a:ln>
              <a:noFill/>
            </a:ln>
            <a:effectLst/>
          </p:spPr>
        </p:sp>
        <p:sp>
          <p:nvSpPr>
            <p:cNvPr id="18" name="Rectángulo 17">
              <a:extLst>
                <a:ext uri="{FF2B5EF4-FFF2-40B4-BE49-F238E27FC236}">
                  <a16:creationId xmlns:a16="http://schemas.microsoft.com/office/drawing/2014/main" id="{CD7F3712-18EF-BA16-D5C4-283CFA08912A}"/>
                </a:ext>
              </a:extLst>
            </p:cNvPr>
            <p:cNvSpPr/>
            <p:nvPr/>
          </p:nvSpPr>
          <p:spPr>
            <a:xfrm>
              <a:off x="4825909" y="3301909"/>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309530" y="1844826"/>
            <a:ext cx="9286940" cy="830997"/>
          </a:xfrm>
          <a:prstGeom prst="rect">
            <a:avLst/>
          </a:prstGeom>
          <a:noFill/>
          <a:ln>
            <a:noFill/>
          </a:ln>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AR" sz="1600" dirty="0">
                <a:solidFill>
                  <a:schemeClr val="tx1"/>
                </a:solidFill>
              </a:rPr>
              <a:t>La </a:t>
            </a:r>
            <a:r>
              <a:rPr lang="es-AR" sz="1600" b="1" dirty="0">
                <a:solidFill>
                  <a:srgbClr val="0070C0"/>
                </a:solidFill>
              </a:rPr>
              <a:t>tutela sindical</a:t>
            </a:r>
            <a:r>
              <a:rPr lang="es-AR" sz="1600" dirty="0">
                <a:solidFill>
                  <a:srgbClr val="0070C0"/>
                </a:solidFill>
              </a:rPr>
              <a:t> </a:t>
            </a:r>
            <a:r>
              <a:rPr lang="es-AR" sz="1600" dirty="0">
                <a:solidFill>
                  <a:schemeClr val="tx1"/>
                </a:solidFill>
              </a:rPr>
              <a:t>es una institución que tiene como finalidad </a:t>
            </a:r>
            <a:r>
              <a:rPr lang="es-AR" sz="1600" b="1" dirty="0">
                <a:solidFill>
                  <a:srgbClr val="0070C0"/>
                </a:solidFill>
              </a:rPr>
              <a:t>la protección de los representantes gremiales en el desempeño de sus funciones</a:t>
            </a:r>
            <a:r>
              <a:rPr lang="es-AR" sz="1600" dirty="0">
                <a:solidFill>
                  <a:schemeClr val="tx1"/>
                </a:solidFill>
              </a:rPr>
              <a:t>, esta institución tiene su recepción normativa tanto en la Constitución Nacional en su </a:t>
            </a:r>
            <a:r>
              <a:rPr lang="es-AR" sz="1600" b="1" dirty="0">
                <a:solidFill>
                  <a:srgbClr val="0070C0"/>
                </a:solidFill>
              </a:rPr>
              <a:t>Artículo Nº14 </a:t>
            </a:r>
            <a:r>
              <a:rPr lang="es-AR" sz="1600" dirty="0">
                <a:solidFill>
                  <a:schemeClr val="tx1"/>
                </a:solidFill>
              </a:rPr>
              <a:t>bis, como en la Ley de Asociaciones </a:t>
            </a:r>
            <a:r>
              <a:rPr lang="es-AR" sz="1600" b="1" dirty="0">
                <a:solidFill>
                  <a:schemeClr val="tx1"/>
                </a:solidFill>
              </a:rPr>
              <a:t>Sindicales</a:t>
            </a:r>
            <a:r>
              <a:rPr lang="es-AR" sz="1600" dirty="0">
                <a:solidFill>
                  <a:schemeClr val="tx1"/>
                </a:solidFill>
              </a:rPr>
              <a:t> Nº 23.551.</a:t>
            </a:r>
          </a:p>
        </p:txBody>
      </p:sp>
      <p:sp>
        <p:nvSpPr>
          <p:cNvPr id="11" name="Rounded Rectangle 7"/>
          <p:cNvSpPr/>
          <p:nvPr/>
        </p:nvSpPr>
        <p:spPr>
          <a:xfrm>
            <a:off x="309530" y="1337853"/>
            <a:ext cx="8819934" cy="333276"/>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Tutela sindical</a:t>
            </a:r>
            <a:endParaRPr lang="es-AR" b="1" dirty="0">
              <a:solidFill>
                <a:schemeClr val="tx1"/>
              </a:solidFill>
              <a:latin typeface="+mj-lt"/>
            </a:endParaRPr>
          </a:p>
        </p:txBody>
      </p:sp>
      <p:sp>
        <p:nvSpPr>
          <p:cNvPr id="2" name="TextBox 1">
            <a:extLst>
              <a:ext uri="{FF2B5EF4-FFF2-40B4-BE49-F238E27FC236}">
                <a16:creationId xmlns:a16="http://schemas.microsoft.com/office/drawing/2014/main" id="{6B659979-FA89-9244-8A7F-B050823CB093}"/>
              </a:ext>
            </a:extLst>
          </p:cNvPr>
          <p:cNvSpPr txBox="1"/>
          <p:nvPr/>
        </p:nvSpPr>
        <p:spPr>
          <a:xfrm>
            <a:off x="309530" y="2849516"/>
            <a:ext cx="9286940" cy="1862048"/>
          </a:xfrm>
          <a:prstGeom prst="rect">
            <a:avLst/>
          </a:prstGeom>
          <a:solidFill>
            <a:schemeClr val="accent4">
              <a:alpha val="54000"/>
            </a:schemeClr>
          </a:solidFill>
        </p:spPr>
        <p:txBody>
          <a:bodyPr wrap="square" rtlCol="0">
            <a:spAutoFit/>
          </a:bodyPr>
          <a:lstStyle/>
          <a:p>
            <a:r>
              <a:rPr lang="es-MX" sz="1500" b="1" dirty="0"/>
              <a:t>PROTECCIÓN</a:t>
            </a:r>
          </a:p>
          <a:p>
            <a:pPr marL="285750" indent="-285750">
              <a:buFont typeface="Wingdings" pitchFamily="2" charset="2"/>
              <a:buChar char="ü"/>
            </a:pPr>
            <a:r>
              <a:rPr lang="es-AR" sz="1500" dirty="0"/>
              <a:t>A partir de la notificación </a:t>
            </a:r>
            <a:r>
              <a:rPr lang="es-AR" sz="1500" b="1" dirty="0"/>
              <a:t>postulación al cargo de delegado</a:t>
            </a:r>
            <a:r>
              <a:rPr lang="es-AR" sz="1500" dirty="0"/>
              <a:t>, el trabajador no podrá ser suspendido ni despedido sin justa causa, ni modificadas sus condiciones de trabajo, por el término de seis (6) meses. En caso de ser electo mientras dure su mandato y un año posterior a su finalización.</a:t>
            </a:r>
          </a:p>
          <a:p>
            <a:pPr marL="285750" indent="-285750">
              <a:buFont typeface="Wingdings" pitchFamily="2" charset="2"/>
              <a:buChar char="ü"/>
            </a:pPr>
            <a:endParaRPr lang="es-AR" sz="1000" dirty="0"/>
          </a:p>
          <a:p>
            <a:pPr marL="285750" indent="-285750">
              <a:buFont typeface="Wingdings" pitchFamily="2" charset="2"/>
              <a:buChar char="ü"/>
            </a:pPr>
            <a:r>
              <a:rPr lang="es-AR" sz="1500" dirty="0"/>
              <a:t>Si son </a:t>
            </a:r>
            <a:r>
              <a:rPr lang="es-AR" sz="1500" b="1" dirty="0"/>
              <a:t>electos</a:t>
            </a:r>
            <a:r>
              <a:rPr lang="es-AR" sz="1500" dirty="0"/>
              <a:t>, en funciones fuera de la organización, tendrán derecho de gozar de licencia automática sin goce de haberes, a la reserva del puesto y ser reincorporado al finalizar el ejercicio de sus funciones, no pudiendo ser despedidos durante el término de un (1) año a partir de la cesación de sus mandatos</a:t>
            </a:r>
            <a:endParaRPr lang="es-ES" sz="1500" dirty="0"/>
          </a:p>
        </p:txBody>
      </p:sp>
      <p:pic>
        <p:nvPicPr>
          <p:cNvPr id="3" name="Imagen 2">
            <a:extLst>
              <a:ext uri="{FF2B5EF4-FFF2-40B4-BE49-F238E27FC236}">
                <a16:creationId xmlns:a16="http://schemas.microsoft.com/office/drawing/2014/main" id="{C680146F-3224-4576-AE78-2419FC7F1A54}"/>
              </a:ext>
            </a:extLst>
          </p:cNvPr>
          <p:cNvPicPr>
            <a:picLocks noChangeAspect="1"/>
          </p:cNvPicPr>
          <p:nvPr/>
        </p:nvPicPr>
        <p:blipFill>
          <a:blip r:embed="rId3">
            <a:duotone>
              <a:schemeClr val="accent2">
                <a:shade val="45000"/>
                <a:satMod val="135000"/>
              </a:schemeClr>
              <a:prstClr val="white"/>
            </a:duotone>
          </a:blip>
          <a:stretch>
            <a:fillRect/>
          </a:stretch>
        </p:blipFill>
        <p:spPr>
          <a:xfrm>
            <a:off x="2218237" y="5959153"/>
            <a:ext cx="432048" cy="431230"/>
          </a:xfrm>
          <a:prstGeom prst="rect">
            <a:avLst/>
          </a:prstGeom>
        </p:spPr>
      </p:pic>
      <p:pic>
        <p:nvPicPr>
          <p:cNvPr id="9" name="Imagen 8">
            <a:extLst>
              <a:ext uri="{FF2B5EF4-FFF2-40B4-BE49-F238E27FC236}">
                <a16:creationId xmlns:a16="http://schemas.microsoft.com/office/drawing/2014/main" id="{BA0914EA-84A1-4CF7-BBFF-D9FFDEE74A12}"/>
              </a:ext>
            </a:extLst>
          </p:cNvPr>
          <p:cNvPicPr>
            <a:picLocks noChangeAspect="1"/>
          </p:cNvPicPr>
          <p:nvPr/>
        </p:nvPicPr>
        <p:blipFill>
          <a:blip r:embed="rId3">
            <a:duotone>
              <a:schemeClr val="accent5">
                <a:shade val="45000"/>
                <a:satMod val="135000"/>
              </a:schemeClr>
              <a:prstClr val="white"/>
            </a:duotone>
          </a:blip>
          <a:stretch>
            <a:fillRect/>
          </a:stretch>
        </p:blipFill>
        <p:spPr>
          <a:xfrm>
            <a:off x="2216696" y="4982632"/>
            <a:ext cx="432048" cy="431230"/>
          </a:xfrm>
          <a:prstGeom prst="rect">
            <a:avLst/>
          </a:prstGeom>
        </p:spPr>
      </p:pic>
      <p:sp>
        <p:nvSpPr>
          <p:cNvPr id="4" name="CuadroTexto 3">
            <a:extLst>
              <a:ext uri="{FF2B5EF4-FFF2-40B4-BE49-F238E27FC236}">
                <a16:creationId xmlns:a16="http://schemas.microsoft.com/office/drawing/2014/main" id="{92A6402A-1B37-4453-B207-7E33EBA81C92}"/>
              </a:ext>
            </a:extLst>
          </p:cNvPr>
          <p:cNvSpPr txBox="1"/>
          <p:nvPr/>
        </p:nvSpPr>
        <p:spPr>
          <a:xfrm>
            <a:off x="86112" y="5499839"/>
            <a:ext cx="1425390" cy="400110"/>
          </a:xfrm>
          <a:prstGeom prst="rect">
            <a:avLst/>
          </a:prstGeom>
          <a:solidFill>
            <a:schemeClr val="accent3"/>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AR" sz="1000" dirty="0">
                <a:latin typeface="Verdana" panose="020B0604030504040204" pitchFamily="34" charset="0"/>
                <a:ea typeface="Verdana" panose="020B0604030504040204" pitchFamily="34" charset="0"/>
                <a:cs typeface="Tahoma" panose="020B0604030504040204" pitchFamily="34" charset="0"/>
              </a:rPr>
              <a:t>Sindicato Convoca</a:t>
            </a:r>
          </a:p>
          <a:p>
            <a:pPr algn="ctr"/>
            <a:r>
              <a:rPr lang="es-AR" sz="1000" dirty="0">
                <a:latin typeface="Verdana" panose="020B0604030504040204" pitchFamily="34" charset="0"/>
                <a:ea typeface="Verdana" panose="020B0604030504040204" pitchFamily="34" charset="0"/>
                <a:cs typeface="Tahoma" panose="020B0604030504040204" pitchFamily="34" charset="0"/>
              </a:rPr>
              <a:t>a Elecciones</a:t>
            </a:r>
          </a:p>
        </p:txBody>
      </p:sp>
      <p:sp>
        <p:nvSpPr>
          <p:cNvPr id="10" name="CuadroTexto 9">
            <a:extLst>
              <a:ext uri="{FF2B5EF4-FFF2-40B4-BE49-F238E27FC236}">
                <a16:creationId xmlns:a16="http://schemas.microsoft.com/office/drawing/2014/main" id="{A7275C23-5F4A-4174-99DA-A2EB82CE385B}"/>
              </a:ext>
            </a:extLst>
          </p:cNvPr>
          <p:cNvSpPr txBox="1"/>
          <p:nvPr/>
        </p:nvSpPr>
        <p:spPr>
          <a:xfrm>
            <a:off x="1959298" y="5499839"/>
            <a:ext cx="1010212" cy="400110"/>
          </a:xfrm>
          <a:prstGeom prst="rect">
            <a:avLst/>
          </a:prstGeom>
          <a:solidFill>
            <a:schemeClr val="accent3"/>
          </a:solidFill>
        </p:spPr>
        <p:style>
          <a:lnRef idx="1">
            <a:schemeClr val="accent3"/>
          </a:lnRef>
          <a:fillRef idx="2">
            <a:schemeClr val="accent3"/>
          </a:fillRef>
          <a:effectRef idx="1">
            <a:schemeClr val="accent3"/>
          </a:effectRef>
          <a:fontRef idx="minor">
            <a:schemeClr val="dk1"/>
          </a:fontRef>
        </p:style>
        <p:txBody>
          <a:bodyPr wrap="none" rtlCol="0">
            <a:spAutoFit/>
          </a:bodyPr>
          <a:lstStyle/>
          <a:p>
            <a:pPr algn="ctr"/>
            <a:r>
              <a:rPr lang="es-AR" sz="1000" dirty="0">
                <a:latin typeface="Verdana" panose="020B0604030504040204" pitchFamily="34" charset="0"/>
                <a:ea typeface="Verdana" panose="020B0604030504040204" pitchFamily="34" charset="0"/>
                <a:cs typeface="Tahoma" panose="020B0604030504040204" pitchFamily="34" charset="0"/>
              </a:rPr>
              <a:t>Presentación</a:t>
            </a:r>
          </a:p>
          <a:p>
            <a:pPr algn="ctr"/>
            <a:r>
              <a:rPr lang="es-AR" sz="1000" dirty="0">
                <a:latin typeface="Verdana" panose="020B0604030504040204" pitchFamily="34" charset="0"/>
                <a:ea typeface="Verdana" panose="020B0604030504040204" pitchFamily="34" charset="0"/>
                <a:cs typeface="Tahoma" panose="020B0604030504040204" pitchFamily="34" charset="0"/>
              </a:rPr>
              <a:t>de Listas</a:t>
            </a:r>
          </a:p>
        </p:txBody>
      </p:sp>
      <p:sp>
        <p:nvSpPr>
          <p:cNvPr id="12" name="CuadroTexto 11">
            <a:extLst>
              <a:ext uri="{FF2B5EF4-FFF2-40B4-BE49-F238E27FC236}">
                <a16:creationId xmlns:a16="http://schemas.microsoft.com/office/drawing/2014/main" id="{B740118C-D257-4D96-9B56-67E37A013857}"/>
              </a:ext>
            </a:extLst>
          </p:cNvPr>
          <p:cNvSpPr txBox="1"/>
          <p:nvPr/>
        </p:nvSpPr>
        <p:spPr>
          <a:xfrm>
            <a:off x="3576926" y="5584479"/>
            <a:ext cx="853118" cy="246221"/>
          </a:xfrm>
          <a:prstGeom prst="rect">
            <a:avLst/>
          </a:prstGeom>
          <a:solidFill>
            <a:schemeClr val="accent3"/>
          </a:solidFill>
        </p:spPr>
        <p:style>
          <a:lnRef idx="1">
            <a:schemeClr val="accent3"/>
          </a:lnRef>
          <a:fillRef idx="2">
            <a:schemeClr val="accent3"/>
          </a:fillRef>
          <a:effectRef idx="1">
            <a:schemeClr val="accent3"/>
          </a:effectRef>
          <a:fontRef idx="minor">
            <a:schemeClr val="dk1"/>
          </a:fontRef>
        </p:style>
        <p:txBody>
          <a:bodyPr wrap="none" rtlCol="0">
            <a:spAutoFit/>
          </a:bodyPr>
          <a:lstStyle/>
          <a:p>
            <a:pPr algn="ctr"/>
            <a:r>
              <a:rPr lang="es-AR" sz="1000" dirty="0">
                <a:latin typeface="Verdana" panose="020B0604030504040204" pitchFamily="34" charset="0"/>
                <a:ea typeface="Verdana" panose="020B0604030504040204" pitchFamily="34" charset="0"/>
                <a:cs typeface="Tahoma" panose="020B0604030504040204" pitchFamily="34" charset="0"/>
              </a:rPr>
              <a:t>Elecciones</a:t>
            </a:r>
          </a:p>
        </p:txBody>
      </p:sp>
      <p:sp>
        <p:nvSpPr>
          <p:cNvPr id="14" name="CuadroTexto 13">
            <a:extLst>
              <a:ext uri="{FF2B5EF4-FFF2-40B4-BE49-F238E27FC236}">
                <a16:creationId xmlns:a16="http://schemas.microsoft.com/office/drawing/2014/main" id="{91BBE228-FE2C-4C2A-85FF-AB96AFFCA67F}"/>
              </a:ext>
            </a:extLst>
          </p:cNvPr>
          <p:cNvSpPr txBox="1"/>
          <p:nvPr/>
        </p:nvSpPr>
        <p:spPr>
          <a:xfrm>
            <a:off x="5169026" y="5126785"/>
            <a:ext cx="585417" cy="246221"/>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wrap="none" rtlCol="0">
            <a:spAutoFit/>
          </a:bodyPr>
          <a:lstStyle/>
          <a:p>
            <a:pPr algn="ctr"/>
            <a:r>
              <a:rPr lang="es-AR" sz="1000" dirty="0">
                <a:latin typeface="Verdana" panose="020B0604030504040204" pitchFamily="34" charset="0"/>
                <a:ea typeface="Verdana" panose="020B0604030504040204" pitchFamily="34" charset="0"/>
                <a:cs typeface="Tahoma" panose="020B0604030504040204" pitchFamily="34" charset="0"/>
              </a:rPr>
              <a:t>Pierde</a:t>
            </a:r>
          </a:p>
        </p:txBody>
      </p:sp>
      <p:sp>
        <p:nvSpPr>
          <p:cNvPr id="15" name="CuadroTexto 14">
            <a:extLst>
              <a:ext uri="{FF2B5EF4-FFF2-40B4-BE49-F238E27FC236}">
                <a16:creationId xmlns:a16="http://schemas.microsoft.com/office/drawing/2014/main" id="{6FD079D4-EC20-4453-AFEA-EB2C307915DC}"/>
              </a:ext>
            </a:extLst>
          </p:cNvPr>
          <p:cNvSpPr txBox="1"/>
          <p:nvPr/>
        </p:nvSpPr>
        <p:spPr>
          <a:xfrm>
            <a:off x="6537176" y="5846728"/>
            <a:ext cx="1260280" cy="253916"/>
          </a:xfrm>
          <a:prstGeom prst="rect">
            <a:avLst/>
          </a:prstGeom>
          <a:noFill/>
        </p:spPr>
        <p:txBody>
          <a:bodyPr wrap="none" rtlCol="0">
            <a:spAutoFit/>
          </a:bodyPr>
          <a:lstStyle/>
          <a:p>
            <a:pPr algn="ctr"/>
            <a:r>
              <a:rPr lang="es-AR" sz="1000" dirty="0">
                <a:solidFill>
                  <a:srgbClr val="FF0000"/>
                </a:solidFill>
                <a:latin typeface="Verdana" panose="020B0604030504040204" pitchFamily="34" charset="0"/>
                <a:ea typeface="Verdana" panose="020B0604030504040204" pitchFamily="34" charset="0"/>
                <a:cs typeface="Tahoma" panose="020B0604030504040204" pitchFamily="34" charset="0"/>
              </a:rPr>
              <a:t>Mandato 2 años</a:t>
            </a:r>
          </a:p>
        </p:txBody>
      </p:sp>
      <p:sp>
        <p:nvSpPr>
          <p:cNvPr id="16" name="CuadroTexto 15">
            <a:extLst>
              <a:ext uri="{FF2B5EF4-FFF2-40B4-BE49-F238E27FC236}">
                <a16:creationId xmlns:a16="http://schemas.microsoft.com/office/drawing/2014/main" id="{B6A71E90-B481-40B6-8474-876FC88C6053}"/>
              </a:ext>
            </a:extLst>
          </p:cNvPr>
          <p:cNvSpPr txBox="1"/>
          <p:nvPr/>
        </p:nvSpPr>
        <p:spPr>
          <a:xfrm>
            <a:off x="8521096" y="5888541"/>
            <a:ext cx="862736" cy="246221"/>
          </a:xfrm>
          <a:prstGeom prst="rect">
            <a:avLst/>
          </a:prstGeom>
          <a:noFill/>
        </p:spPr>
        <p:txBody>
          <a:bodyPr wrap="none" rtlCol="0">
            <a:spAutoFit/>
          </a:bodyPr>
          <a:lstStyle/>
          <a:p>
            <a:pPr algn="ctr"/>
            <a:r>
              <a:rPr lang="es-AR" sz="1000" dirty="0">
                <a:solidFill>
                  <a:srgbClr val="FF0000"/>
                </a:solidFill>
                <a:latin typeface="Verdana" panose="020B0604030504040204" pitchFamily="34" charset="0"/>
                <a:ea typeface="Verdana" panose="020B0604030504040204" pitchFamily="34" charset="0"/>
                <a:cs typeface="Tahoma" panose="020B0604030504040204" pitchFamily="34" charset="0"/>
              </a:rPr>
              <a:t>1 año más</a:t>
            </a:r>
          </a:p>
        </p:txBody>
      </p:sp>
      <p:cxnSp>
        <p:nvCxnSpPr>
          <p:cNvPr id="6" name="Conector recto 5">
            <a:extLst>
              <a:ext uri="{FF2B5EF4-FFF2-40B4-BE49-F238E27FC236}">
                <a16:creationId xmlns:a16="http://schemas.microsoft.com/office/drawing/2014/main" id="{906129AA-6CCD-4B1A-9066-BB44639F9A77}"/>
              </a:ext>
            </a:extLst>
          </p:cNvPr>
          <p:cNvCxnSpPr>
            <a:cxnSpLocks/>
            <a:stCxn id="4" idx="3"/>
            <a:endCxn id="10" idx="1"/>
          </p:cNvCxnSpPr>
          <p:nvPr/>
        </p:nvCxnSpPr>
        <p:spPr>
          <a:xfrm flipV="1">
            <a:off x="1511502" y="5699894"/>
            <a:ext cx="447796" cy="7694"/>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BAD4364C-92F3-4DD5-9412-AAAD39A99FC5}"/>
              </a:ext>
            </a:extLst>
          </p:cNvPr>
          <p:cNvCxnSpPr>
            <a:cxnSpLocks/>
            <a:stCxn id="10" idx="3"/>
            <a:endCxn id="12" idx="1"/>
          </p:cNvCxnSpPr>
          <p:nvPr/>
        </p:nvCxnSpPr>
        <p:spPr>
          <a:xfrm>
            <a:off x="2969510" y="5699894"/>
            <a:ext cx="607416" cy="7694"/>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7EE8B596-A99A-4B6A-BC7E-EEDA4BDEA5E2}"/>
              </a:ext>
            </a:extLst>
          </p:cNvPr>
          <p:cNvCxnSpPr>
            <a:cxnSpLocks/>
            <a:stCxn id="12" idx="3"/>
            <a:endCxn id="14" idx="1"/>
          </p:cNvCxnSpPr>
          <p:nvPr/>
        </p:nvCxnSpPr>
        <p:spPr>
          <a:xfrm flipV="1">
            <a:off x="4430044" y="5249894"/>
            <a:ext cx="738980" cy="457694"/>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F98541E1-8547-4481-8A99-E6D8235BC904}"/>
              </a:ext>
            </a:extLst>
          </p:cNvPr>
          <p:cNvSpPr txBox="1"/>
          <p:nvPr/>
        </p:nvSpPr>
        <p:spPr>
          <a:xfrm>
            <a:off x="6250303" y="5123560"/>
            <a:ext cx="724878" cy="246221"/>
          </a:xfrm>
          <a:prstGeom prst="rect">
            <a:avLst/>
          </a:prstGeom>
          <a:noFill/>
        </p:spPr>
        <p:txBody>
          <a:bodyPr wrap="none" rtlCol="0">
            <a:spAutoFit/>
          </a:bodyPr>
          <a:lstStyle/>
          <a:p>
            <a:pPr algn="ctr"/>
            <a:r>
              <a:rPr lang="es-AR" sz="1000" dirty="0">
                <a:solidFill>
                  <a:srgbClr val="FF0000"/>
                </a:solidFill>
                <a:latin typeface="Verdana" panose="020B0604030504040204" pitchFamily="34" charset="0"/>
                <a:ea typeface="Verdana" panose="020B0604030504040204" pitchFamily="34" charset="0"/>
                <a:cs typeface="Tahoma" panose="020B0604030504040204" pitchFamily="34" charset="0"/>
              </a:rPr>
              <a:t>6 meses</a:t>
            </a:r>
          </a:p>
        </p:txBody>
      </p:sp>
      <p:sp>
        <p:nvSpPr>
          <p:cNvPr id="25" name="CuadroTexto 24">
            <a:extLst>
              <a:ext uri="{FF2B5EF4-FFF2-40B4-BE49-F238E27FC236}">
                <a16:creationId xmlns:a16="http://schemas.microsoft.com/office/drawing/2014/main" id="{AD649397-075C-423C-9729-B3653E75255F}"/>
              </a:ext>
            </a:extLst>
          </p:cNvPr>
          <p:cNvSpPr txBox="1"/>
          <p:nvPr/>
        </p:nvSpPr>
        <p:spPr>
          <a:xfrm>
            <a:off x="5225394" y="5888541"/>
            <a:ext cx="519694" cy="246221"/>
          </a:xfrm>
          <a:prstGeom prst="rect">
            <a:avLst/>
          </a:prstGeom>
          <a:solidFill>
            <a:srgbClr val="00B050"/>
          </a:solidFill>
        </p:spPr>
        <p:style>
          <a:lnRef idx="3">
            <a:schemeClr val="lt1"/>
          </a:lnRef>
          <a:fillRef idx="1">
            <a:schemeClr val="accent3"/>
          </a:fillRef>
          <a:effectRef idx="1">
            <a:schemeClr val="accent3"/>
          </a:effectRef>
          <a:fontRef idx="minor">
            <a:schemeClr val="lt1"/>
          </a:fontRef>
        </p:style>
        <p:txBody>
          <a:bodyPr wrap="none" rtlCol="0">
            <a:spAutoFit/>
          </a:bodyPr>
          <a:lstStyle/>
          <a:p>
            <a:pPr algn="ctr"/>
            <a:r>
              <a:rPr lang="es-AR" sz="1000" dirty="0">
                <a:latin typeface="Verdana" panose="020B0604030504040204" pitchFamily="34" charset="0"/>
                <a:ea typeface="Verdana" panose="020B0604030504040204" pitchFamily="34" charset="0"/>
                <a:cs typeface="Tahoma" panose="020B0604030504040204" pitchFamily="34" charset="0"/>
              </a:rPr>
              <a:t>Gana</a:t>
            </a:r>
          </a:p>
        </p:txBody>
      </p:sp>
      <p:cxnSp>
        <p:nvCxnSpPr>
          <p:cNvPr id="27" name="Conector recto 26">
            <a:extLst>
              <a:ext uri="{FF2B5EF4-FFF2-40B4-BE49-F238E27FC236}">
                <a16:creationId xmlns:a16="http://schemas.microsoft.com/office/drawing/2014/main" id="{6705FC60-1EBB-48F2-B559-F718227F5E99}"/>
              </a:ext>
            </a:extLst>
          </p:cNvPr>
          <p:cNvCxnSpPr>
            <a:cxnSpLocks/>
            <a:stCxn id="12" idx="3"/>
            <a:endCxn id="25" idx="1"/>
          </p:cNvCxnSpPr>
          <p:nvPr/>
        </p:nvCxnSpPr>
        <p:spPr>
          <a:xfrm>
            <a:off x="4430044" y="5707588"/>
            <a:ext cx="795350" cy="304062"/>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pic>
        <p:nvPicPr>
          <p:cNvPr id="31" name="Imagen 30">
            <a:extLst>
              <a:ext uri="{FF2B5EF4-FFF2-40B4-BE49-F238E27FC236}">
                <a16:creationId xmlns:a16="http://schemas.microsoft.com/office/drawing/2014/main" id="{D96696DE-C15D-4F91-B83E-9D17FC491DF2}"/>
              </a:ext>
            </a:extLst>
          </p:cNvPr>
          <p:cNvPicPr>
            <a:picLocks noChangeAspect="1"/>
          </p:cNvPicPr>
          <p:nvPr/>
        </p:nvPicPr>
        <p:blipFill>
          <a:blip r:embed="rId3">
            <a:duotone>
              <a:schemeClr val="accent5">
                <a:shade val="45000"/>
                <a:satMod val="135000"/>
              </a:schemeClr>
              <a:prstClr val="white"/>
            </a:duotone>
          </a:blip>
          <a:stretch>
            <a:fillRect/>
          </a:stretch>
        </p:blipFill>
        <p:spPr>
          <a:xfrm>
            <a:off x="5845634" y="5054640"/>
            <a:ext cx="432048" cy="431230"/>
          </a:xfrm>
          <a:prstGeom prst="rect">
            <a:avLst/>
          </a:prstGeom>
        </p:spPr>
      </p:pic>
      <p:pic>
        <p:nvPicPr>
          <p:cNvPr id="32" name="Imagen 31">
            <a:extLst>
              <a:ext uri="{FF2B5EF4-FFF2-40B4-BE49-F238E27FC236}">
                <a16:creationId xmlns:a16="http://schemas.microsoft.com/office/drawing/2014/main" id="{B429D045-4477-4C3F-A217-028D57663D40}"/>
              </a:ext>
            </a:extLst>
          </p:cNvPr>
          <p:cNvPicPr>
            <a:picLocks noChangeAspect="1"/>
          </p:cNvPicPr>
          <p:nvPr/>
        </p:nvPicPr>
        <p:blipFill>
          <a:blip r:embed="rId3">
            <a:duotone>
              <a:schemeClr val="accent2">
                <a:shade val="45000"/>
                <a:satMod val="135000"/>
              </a:schemeClr>
              <a:prstClr val="white"/>
            </a:duotone>
          </a:blip>
          <a:stretch>
            <a:fillRect/>
          </a:stretch>
        </p:blipFill>
        <p:spPr>
          <a:xfrm>
            <a:off x="5889104" y="5775538"/>
            <a:ext cx="432048" cy="431230"/>
          </a:xfrm>
          <a:prstGeom prst="rect">
            <a:avLst/>
          </a:prstGeom>
        </p:spPr>
      </p:pic>
      <p:sp>
        <p:nvSpPr>
          <p:cNvPr id="33" name="CuadroTexto 32">
            <a:extLst>
              <a:ext uri="{FF2B5EF4-FFF2-40B4-BE49-F238E27FC236}">
                <a16:creationId xmlns:a16="http://schemas.microsoft.com/office/drawing/2014/main" id="{27B797AE-2996-47DC-B46C-CBB5C086E0DC}"/>
              </a:ext>
            </a:extLst>
          </p:cNvPr>
          <p:cNvSpPr txBox="1"/>
          <p:nvPr/>
        </p:nvSpPr>
        <p:spPr>
          <a:xfrm>
            <a:off x="8049344" y="5862117"/>
            <a:ext cx="300082" cy="261610"/>
          </a:xfrm>
          <a:prstGeom prst="rect">
            <a:avLst/>
          </a:prstGeom>
          <a:noFill/>
        </p:spPr>
        <p:txBody>
          <a:bodyPr wrap="none" rtlCol="0">
            <a:spAutoFit/>
          </a:bodyPr>
          <a:lstStyle/>
          <a:p>
            <a:pPr algn="ctr"/>
            <a:r>
              <a:rPr lang="es-AR" sz="1100" dirty="0">
                <a:solidFill>
                  <a:srgbClr val="FF0000"/>
                </a:solidFill>
                <a:latin typeface="Verdana" panose="020B0604030504040204" pitchFamily="34" charset="0"/>
                <a:ea typeface="Verdana" panose="020B0604030504040204" pitchFamily="34" charset="0"/>
                <a:cs typeface="Tahoma" panose="020B0604030504040204" pitchFamily="34" charset="0"/>
              </a:rPr>
              <a:t>+</a:t>
            </a:r>
          </a:p>
        </p:txBody>
      </p:sp>
      <p:sp>
        <p:nvSpPr>
          <p:cNvPr id="34" name="CuadroTexto 33">
            <a:extLst>
              <a:ext uri="{FF2B5EF4-FFF2-40B4-BE49-F238E27FC236}">
                <a16:creationId xmlns:a16="http://schemas.microsoft.com/office/drawing/2014/main" id="{EBF51189-5821-49A5-A022-F7282E883DC7}"/>
              </a:ext>
            </a:extLst>
          </p:cNvPr>
          <p:cNvSpPr txBox="1"/>
          <p:nvPr/>
        </p:nvSpPr>
        <p:spPr>
          <a:xfrm>
            <a:off x="309530" y="6456908"/>
            <a:ext cx="1245854"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 de enero de 2022</a:t>
            </a:r>
          </a:p>
        </p:txBody>
      </p:sp>
      <p:sp>
        <p:nvSpPr>
          <p:cNvPr id="35" name="CuadroTexto 34">
            <a:extLst>
              <a:ext uri="{FF2B5EF4-FFF2-40B4-BE49-F238E27FC236}">
                <a16:creationId xmlns:a16="http://schemas.microsoft.com/office/drawing/2014/main" id="{0E2DDBB7-2197-4C3A-93CC-14E615844C77}"/>
              </a:ext>
            </a:extLst>
          </p:cNvPr>
          <p:cNvSpPr txBox="1"/>
          <p:nvPr/>
        </p:nvSpPr>
        <p:spPr>
          <a:xfrm>
            <a:off x="1784648" y="6456908"/>
            <a:ext cx="1313180"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15 de enero de 2022</a:t>
            </a:r>
          </a:p>
        </p:txBody>
      </p:sp>
      <p:sp>
        <p:nvSpPr>
          <p:cNvPr id="36" name="CuadroTexto 35">
            <a:extLst>
              <a:ext uri="{FF2B5EF4-FFF2-40B4-BE49-F238E27FC236}">
                <a16:creationId xmlns:a16="http://schemas.microsoft.com/office/drawing/2014/main" id="{E8A3E3C0-F6F5-49CD-A795-416DB7A34FB2}"/>
              </a:ext>
            </a:extLst>
          </p:cNvPr>
          <p:cNvSpPr txBox="1"/>
          <p:nvPr/>
        </p:nvSpPr>
        <p:spPr>
          <a:xfrm>
            <a:off x="3440832" y="6456908"/>
            <a:ext cx="1350050"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 de febrero de 2022</a:t>
            </a:r>
          </a:p>
        </p:txBody>
      </p:sp>
      <p:sp>
        <p:nvSpPr>
          <p:cNvPr id="37" name="CuadroTexto 36">
            <a:extLst>
              <a:ext uri="{FF2B5EF4-FFF2-40B4-BE49-F238E27FC236}">
                <a16:creationId xmlns:a16="http://schemas.microsoft.com/office/drawing/2014/main" id="{BD7D233F-5F34-4CD6-A02F-1A49653B9962}"/>
              </a:ext>
            </a:extLst>
          </p:cNvPr>
          <p:cNvSpPr txBox="1"/>
          <p:nvPr/>
        </p:nvSpPr>
        <p:spPr>
          <a:xfrm>
            <a:off x="6925660" y="5131252"/>
            <a:ext cx="1292341"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 de agosto de 2022</a:t>
            </a:r>
          </a:p>
        </p:txBody>
      </p:sp>
      <p:sp>
        <p:nvSpPr>
          <p:cNvPr id="38" name="CuadroTexto 37">
            <a:extLst>
              <a:ext uri="{FF2B5EF4-FFF2-40B4-BE49-F238E27FC236}">
                <a16:creationId xmlns:a16="http://schemas.microsoft.com/office/drawing/2014/main" id="{C863A83F-6DC9-468C-BE81-65B1C8965BD9}"/>
              </a:ext>
            </a:extLst>
          </p:cNvPr>
          <p:cNvSpPr txBox="1"/>
          <p:nvPr/>
        </p:nvSpPr>
        <p:spPr>
          <a:xfrm>
            <a:off x="6465168" y="6456908"/>
            <a:ext cx="1350050"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 de febrero de 2024</a:t>
            </a:r>
          </a:p>
        </p:txBody>
      </p:sp>
      <p:sp>
        <p:nvSpPr>
          <p:cNvPr id="39" name="CuadroTexto 38">
            <a:extLst>
              <a:ext uri="{FF2B5EF4-FFF2-40B4-BE49-F238E27FC236}">
                <a16:creationId xmlns:a16="http://schemas.microsoft.com/office/drawing/2014/main" id="{3A8A1EFC-B4BE-428B-B129-2A44BE3E82BA}"/>
              </a:ext>
            </a:extLst>
          </p:cNvPr>
          <p:cNvSpPr txBox="1"/>
          <p:nvPr/>
        </p:nvSpPr>
        <p:spPr>
          <a:xfrm>
            <a:off x="8303889" y="6444272"/>
            <a:ext cx="1350050" cy="253916"/>
          </a:xfrm>
          <a:prstGeom prst="rect">
            <a:avLst/>
          </a:prstGeom>
          <a:noFill/>
        </p:spPr>
        <p:txBody>
          <a:bodyPr wrap="none" rtlCol="0">
            <a:spAutoFit/>
          </a:bodyPr>
          <a:lstStyle/>
          <a:p>
            <a:r>
              <a:rPr lang="es-AR" sz="1050" b="1" dirty="0">
                <a:solidFill>
                  <a:srgbClr val="00B050"/>
                </a:solidFill>
                <a:latin typeface="Times New Roman" panose="02020603050405020304" pitchFamily="18" charset="0"/>
                <a:cs typeface="Times New Roman" panose="02020603050405020304" pitchFamily="18" charset="0"/>
              </a:rPr>
              <a:t>1 de febrero de 2025</a:t>
            </a:r>
          </a:p>
        </p:txBody>
      </p:sp>
      <p:sp>
        <p:nvSpPr>
          <p:cNvPr id="41" name="CuadroTexto 40">
            <a:extLst>
              <a:ext uri="{FF2B5EF4-FFF2-40B4-BE49-F238E27FC236}">
                <a16:creationId xmlns:a16="http://schemas.microsoft.com/office/drawing/2014/main" id="{18C2C3DC-8715-4E0E-BC32-9DAF4F957F3E}"/>
              </a:ext>
            </a:extLst>
          </p:cNvPr>
          <p:cNvSpPr txBox="1"/>
          <p:nvPr/>
        </p:nvSpPr>
        <p:spPr>
          <a:xfrm>
            <a:off x="2828304" y="4869162"/>
            <a:ext cx="1422185" cy="246221"/>
          </a:xfrm>
          <a:prstGeom prst="rect">
            <a:avLst/>
          </a:prstGeom>
          <a:noFill/>
        </p:spPr>
        <p:txBody>
          <a:bodyPr wrap="none" rtlCol="0">
            <a:spAutoFit/>
          </a:bodyPr>
          <a:lstStyle/>
          <a:p>
            <a:pPr algn="ctr"/>
            <a:r>
              <a:rPr lang="es-AR" sz="1000" b="1" dirty="0" err="1">
                <a:solidFill>
                  <a:srgbClr val="0066FF"/>
                </a:solidFill>
                <a:latin typeface="Verdana" panose="020B0604030504040204" pitchFamily="34" charset="0"/>
                <a:ea typeface="Verdana" panose="020B0604030504040204" pitchFamily="34" charset="0"/>
                <a:cs typeface="Tahoma" panose="020B0604030504040204" pitchFamily="34" charset="0"/>
              </a:rPr>
              <a:t>Aca</a:t>
            </a:r>
            <a:r>
              <a:rPr lang="es-AR" sz="1000" b="1" dirty="0">
                <a:solidFill>
                  <a:srgbClr val="0066FF"/>
                </a:solidFill>
                <a:latin typeface="Verdana" panose="020B0604030504040204" pitchFamily="34" charset="0"/>
                <a:ea typeface="Verdana" panose="020B0604030504040204" pitchFamily="34" charset="0"/>
                <a:cs typeface="Tahoma" panose="020B0604030504040204" pitchFamily="34" charset="0"/>
              </a:rPr>
              <a:t> ya hay tutela</a:t>
            </a:r>
          </a:p>
        </p:txBody>
      </p:sp>
      <p:cxnSp>
        <p:nvCxnSpPr>
          <p:cNvPr id="43" name="Conector recto de flecha 42">
            <a:extLst>
              <a:ext uri="{FF2B5EF4-FFF2-40B4-BE49-F238E27FC236}">
                <a16:creationId xmlns:a16="http://schemas.microsoft.com/office/drawing/2014/main" id="{425F7C9D-5B44-47F8-ADE6-BA0F2629C546}"/>
              </a:ext>
            </a:extLst>
          </p:cNvPr>
          <p:cNvCxnSpPr>
            <a:stCxn id="41" idx="2"/>
            <a:endCxn id="10" idx="0"/>
          </p:cNvCxnSpPr>
          <p:nvPr/>
        </p:nvCxnSpPr>
        <p:spPr>
          <a:xfrm flipH="1">
            <a:off x="2464406" y="5115381"/>
            <a:ext cx="1074991" cy="384458"/>
          </a:xfrm>
          <a:prstGeom prst="straightConnector1">
            <a:avLst/>
          </a:prstGeom>
          <a:ln w="38100">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40" name="Shape 52">
            <a:extLst>
              <a:ext uri="{FF2B5EF4-FFF2-40B4-BE49-F238E27FC236}">
                <a16:creationId xmlns:a16="http://schemas.microsoft.com/office/drawing/2014/main" id="{579D29BC-0558-44FF-8066-2EE70CB16BEC}"/>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Representantes Gremiales</a:t>
            </a:r>
          </a:p>
        </p:txBody>
      </p:sp>
      <p:grpSp>
        <p:nvGrpSpPr>
          <p:cNvPr id="18" name="Grupo 17">
            <a:extLst>
              <a:ext uri="{FF2B5EF4-FFF2-40B4-BE49-F238E27FC236}">
                <a16:creationId xmlns:a16="http://schemas.microsoft.com/office/drawing/2014/main" id="{4F24D27C-6110-56DD-748D-28D6834D2095}"/>
              </a:ext>
            </a:extLst>
          </p:cNvPr>
          <p:cNvGrpSpPr/>
          <p:nvPr/>
        </p:nvGrpSpPr>
        <p:grpSpPr>
          <a:xfrm>
            <a:off x="128466" y="659451"/>
            <a:ext cx="438243" cy="438243"/>
            <a:chOff x="4733878" y="3209878"/>
            <a:chExt cx="438243" cy="438243"/>
          </a:xfrm>
        </p:grpSpPr>
        <p:sp>
          <p:nvSpPr>
            <p:cNvPr id="19" name="Elipse 18">
              <a:extLst>
                <a:ext uri="{FF2B5EF4-FFF2-40B4-BE49-F238E27FC236}">
                  <a16:creationId xmlns:a16="http://schemas.microsoft.com/office/drawing/2014/main" id="{3BE5460A-5F22-342F-9357-D6B0D989E202}"/>
                </a:ext>
              </a:extLst>
            </p:cNvPr>
            <p:cNvSpPr/>
            <p:nvPr/>
          </p:nvSpPr>
          <p:spPr>
            <a:xfrm>
              <a:off x="4733878" y="3209878"/>
              <a:ext cx="438243" cy="438243"/>
            </a:xfrm>
            <a:prstGeom prst="ellipse">
              <a:avLst/>
            </a:prstGeom>
            <a:solidFill>
              <a:srgbClr val="4472C4">
                <a:hueOff val="0"/>
                <a:satOff val="0"/>
                <a:lumOff val="0"/>
                <a:alphaOff val="0"/>
              </a:srgbClr>
            </a:solidFill>
            <a:ln>
              <a:noFill/>
            </a:ln>
            <a:effectLst/>
          </p:spPr>
        </p:sp>
        <p:sp>
          <p:nvSpPr>
            <p:cNvPr id="20" name="Rectángulo 19">
              <a:extLst>
                <a:ext uri="{FF2B5EF4-FFF2-40B4-BE49-F238E27FC236}">
                  <a16:creationId xmlns:a16="http://schemas.microsoft.com/office/drawing/2014/main" id="{5CC29227-EDA2-6E49-F35F-66C88220C87E}"/>
                </a:ext>
              </a:extLst>
            </p:cNvPr>
            <p:cNvSpPr/>
            <p:nvPr/>
          </p:nvSpPr>
          <p:spPr>
            <a:xfrm>
              <a:off x="4825909" y="3301909"/>
              <a:ext cx="254181" cy="254181"/>
            </a:xfrm>
            <a:prstGeom prst="rect">
              <a:avLst/>
            </a:prstGeom>
            <a: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4"/>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8"/>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0" grpId="0" animBg="1"/>
      <p:bldP spid="12" grpId="0" animBg="1"/>
      <p:bldP spid="14" grpId="0" animBg="1"/>
      <p:bldP spid="15" grpId="0"/>
      <p:bldP spid="16" grpId="0"/>
      <p:bldP spid="24" grpId="0"/>
      <p:bldP spid="25" grpId="0" animBg="1"/>
      <p:bldP spid="33" grpId="0"/>
      <p:bldP spid="34" grpId="0"/>
      <p:bldP spid="35" grpId="0"/>
      <p:bldP spid="36" grpId="0"/>
      <p:bldP spid="37" grpId="0"/>
      <p:bldP spid="38" grpId="0"/>
      <p:bldP spid="39" grpId="0"/>
      <p:bldP spid="4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7">
            <a:extLst>
              <a:ext uri="{FF2B5EF4-FFF2-40B4-BE49-F238E27FC236}">
                <a16:creationId xmlns:a16="http://schemas.microsoft.com/office/drawing/2014/main" id="{A44F7246-71DF-914D-8B6F-0C080B4D65D0}"/>
              </a:ext>
            </a:extLst>
          </p:cNvPr>
          <p:cNvSpPr/>
          <p:nvPr/>
        </p:nvSpPr>
        <p:spPr>
          <a:xfrm>
            <a:off x="309530" y="1337853"/>
            <a:ext cx="8819934" cy="333276"/>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Tutela sindical</a:t>
            </a:r>
            <a:endParaRPr lang="es-AR" b="1" dirty="0">
              <a:solidFill>
                <a:schemeClr val="tx1"/>
              </a:solidFill>
              <a:latin typeface="+mj-lt"/>
            </a:endParaRPr>
          </a:p>
        </p:txBody>
      </p:sp>
      <p:sp>
        <p:nvSpPr>
          <p:cNvPr id="5" name="TextBox 4">
            <a:extLst>
              <a:ext uri="{FF2B5EF4-FFF2-40B4-BE49-F238E27FC236}">
                <a16:creationId xmlns:a16="http://schemas.microsoft.com/office/drawing/2014/main" id="{8D0C727E-1FEC-6940-9DB1-4D0A3F549558}"/>
              </a:ext>
            </a:extLst>
          </p:cNvPr>
          <p:cNvSpPr txBox="1"/>
          <p:nvPr/>
        </p:nvSpPr>
        <p:spPr>
          <a:xfrm>
            <a:off x="2974259" y="2618580"/>
            <a:ext cx="6552281" cy="2554545"/>
          </a:xfrm>
          <a:prstGeom prst="rect">
            <a:avLst/>
          </a:prstGeom>
          <a:solidFill>
            <a:schemeClr val="accent3"/>
          </a:solidFill>
        </p:spPr>
        <p:txBody>
          <a:bodyPr wrap="square" rtlCol="0">
            <a:spAutoFit/>
          </a:bodyPr>
          <a:lstStyle/>
          <a:p>
            <a:r>
              <a:rPr lang="es-AR" sz="2000" b="1" dirty="0"/>
              <a:t>DERECHOS</a:t>
            </a:r>
            <a:endParaRPr lang="es-MX" sz="2000" b="1" dirty="0"/>
          </a:p>
          <a:p>
            <a:pPr marL="285750" indent="-285750">
              <a:buFont typeface="Wingdings" pitchFamily="2" charset="2"/>
              <a:buChar char="ü"/>
            </a:pPr>
            <a:r>
              <a:rPr lang="es-MX" sz="2000" dirty="0"/>
              <a:t> Los delegados tienen derecho a </a:t>
            </a:r>
            <a:r>
              <a:rPr lang="es-MX" sz="2000" b="1" dirty="0"/>
              <a:t>verificar la aplicación </a:t>
            </a:r>
            <a:r>
              <a:rPr lang="es-MX" sz="2000" dirty="0"/>
              <a:t>de las normas legales o convencionales.</a:t>
            </a:r>
            <a:endParaRPr lang="en-US" sz="2000" dirty="0"/>
          </a:p>
          <a:p>
            <a:pPr marL="285750" indent="-285750">
              <a:buFont typeface="Wingdings" pitchFamily="2" charset="2"/>
              <a:buChar char="ü"/>
            </a:pPr>
            <a:r>
              <a:rPr lang="es-MX" sz="2000" b="1" dirty="0"/>
              <a:t> Reunirse </a:t>
            </a:r>
            <a:r>
              <a:rPr lang="es-MX" sz="2000" dirty="0"/>
              <a:t>periódicamente  con el </a:t>
            </a:r>
            <a:r>
              <a:rPr lang="es-MX" sz="2000" b="1" dirty="0"/>
              <a:t>empleador</a:t>
            </a:r>
            <a:r>
              <a:rPr lang="es-MX" sz="2000" dirty="0"/>
              <a:t> o su representante ( con poder especial)</a:t>
            </a:r>
            <a:endParaRPr lang="en-US" sz="2000" dirty="0"/>
          </a:p>
          <a:p>
            <a:pPr marL="285750" indent="-285750">
              <a:buFont typeface="Wingdings" pitchFamily="2" charset="2"/>
              <a:buChar char="ü"/>
            </a:pPr>
            <a:r>
              <a:rPr lang="es-MX" sz="2000" b="1" dirty="0"/>
              <a:t> Presentar </a:t>
            </a:r>
            <a:r>
              <a:rPr lang="es-MX" sz="2000" dirty="0"/>
              <a:t>ante el empleador o sus representantes los </a:t>
            </a:r>
            <a:r>
              <a:rPr lang="es-MX" sz="2000" b="1" dirty="0"/>
              <a:t>reclamos </a:t>
            </a:r>
            <a:r>
              <a:rPr lang="es-MX" sz="2000" dirty="0"/>
              <a:t>de los trabajadores previa autorización de la Asociación. Sindical respectiva.</a:t>
            </a:r>
            <a:endParaRPr lang="en-US" sz="2000" dirty="0"/>
          </a:p>
        </p:txBody>
      </p:sp>
      <p:pic>
        <p:nvPicPr>
          <p:cNvPr id="6" name="Picture 5">
            <a:extLst>
              <a:ext uri="{FF2B5EF4-FFF2-40B4-BE49-F238E27FC236}">
                <a16:creationId xmlns:a16="http://schemas.microsoft.com/office/drawing/2014/main" id="{7918D121-8E2A-094D-BFAA-205FE64A2D24}"/>
              </a:ext>
            </a:extLst>
          </p:cNvPr>
          <p:cNvPicPr>
            <a:picLocks noChangeAspect="1"/>
          </p:cNvPicPr>
          <p:nvPr/>
        </p:nvPicPr>
        <p:blipFill>
          <a:blip r:embed="rId2"/>
          <a:stretch>
            <a:fillRect/>
          </a:stretch>
        </p:blipFill>
        <p:spPr>
          <a:xfrm>
            <a:off x="361406" y="2636912"/>
            <a:ext cx="2503362" cy="2503362"/>
          </a:xfrm>
          <a:prstGeom prst="rect">
            <a:avLst/>
          </a:prstGeom>
        </p:spPr>
      </p:pic>
      <p:sp>
        <p:nvSpPr>
          <p:cNvPr id="8" name="Shape 52">
            <a:extLst>
              <a:ext uri="{FF2B5EF4-FFF2-40B4-BE49-F238E27FC236}">
                <a16:creationId xmlns:a16="http://schemas.microsoft.com/office/drawing/2014/main" id="{CA015348-78AB-45C0-B63F-D7F3A0F0E26B}"/>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Representantes Gremiales</a:t>
            </a:r>
          </a:p>
        </p:txBody>
      </p:sp>
      <p:grpSp>
        <p:nvGrpSpPr>
          <p:cNvPr id="2" name="Grupo 1">
            <a:extLst>
              <a:ext uri="{FF2B5EF4-FFF2-40B4-BE49-F238E27FC236}">
                <a16:creationId xmlns:a16="http://schemas.microsoft.com/office/drawing/2014/main" id="{1A72102A-477E-3684-AB96-803CE6E8C747}"/>
              </a:ext>
            </a:extLst>
          </p:cNvPr>
          <p:cNvGrpSpPr/>
          <p:nvPr/>
        </p:nvGrpSpPr>
        <p:grpSpPr>
          <a:xfrm>
            <a:off x="128466" y="659451"/>
            <a:ext cx="438243" cy="438243"/>
            <a:chOff x="4733878" y="3209878"/>
            <a:chExt cx="438243" cy="438243"/>
          </a:xfrm>
        </p:grpSpPr>
        <p:sp>
          <p:nvSpPr>
            <p:cNvPr id="3" name="Elipse 2">
              <a:extLst>
                <a:ext uri="{FF2B5EF4-FFF2-40B4-BE49-F238E27FC236}">
                  <a16:creationId xmlns:a16="http://schemas.microsoft.com/office/drawing/2014/main" id="{109FCA72-96AB-D52B-6125-499DD959B55D}"/>
                </a:ext>
              </a:extLst>
            </p:cNvPr>
            <p:cNvSpPr/>
            <p:nvPr/>
          </p:nvSpPr>
          <p:spPr>
            <a:xfrm>
              <a:off x="4733878" y="3209878"/>
              <a:ext cx="438243" cy="438243"/>
            </a:xfrm>
            <a:prstGeom prst="ellipse">
              <a:avLst/>
            </a:prstGeom>
            <a:solidFill>
              <a:srgbClr val="4472C4">
                <a:hueOff val="0"/>
                <a:satOff val="0"/>
                <a:lumOff val="0"/>
                <a:alphaOff val="0"/>
              </a:srgbClr>
            </a:solidFill>
            <a:ln>
              <a:noFill/>
            </a:ln>
            <a:effectLst/>
          </p:spPr>
        </p:sp>
        <p:sp>
          <p:nvSpPr>
            <p:cNvPr id="7" name="Rectángulo 6">
              <a:extLst>
                <a:ext uri="{FF2B5EF4-FFF2-40B4-BE49-F238E27FC236}">
                  <a16:creationId xmlns:a16="http://schemas.microsoft.com/office/drawing/2014/main" id="{38F1B8D9-7C3C-EAFB-B791-248915CE7EE3}"/>
                </a:ext>
              </a:extLst>
            </p:cNvPr>
            <p:cNvSpPr/>
            <p:nvPr/>
          </p:nvSpPr>
          <p:spPr>
            <a:xfrm>
              <a:off x="4825909" y="3301909"/>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2695527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CuadroTexto"/>
          <p:cNvSpPr txBox="1"/>
          <p:nvPr/>
        </p:nvSpPr>
        <p:spPr>
          <a:xfrm>
            <a:off x="380968" y="1571612"/>
            <a:ext cx="9072626" cy="5016758"/>
          </a:xfrm>
          <a:prstGeom prst="rect">
            <a:avLst/>
          </a:prstGeom>
          <a:noFill/>
        </p:spPr>
        <p:txBody>
          <a:bodyPr wrap="square" rtlCol="0">
            <a:spAutoFit/>
          </a:bodyPr>
          <a:lstStyle/>
          <a:p>
            <a:r>
              <a:rPr lang="es-AR" sz="1600" dirty="0"/>
              <a:t>El 27 de septiembre de 1930, a poco de iniciado el gobierno golpista del general José Félix </a:t>
            </a:r>
            <a:r>
              <a:rPr lang="es-AR" sz="1600" dirty="0" err="1"/>
              <a:t>Uriburu</a:t>
            </a:r>
            <a:r>
              <a:rPr lang="es-AR" sz="1600" dirty="0"/>
              <a:t>, dirigentes anarquistas, comunistas, independientes, sindicalistas y socialistas dieron nacimiento a la Confederación General del Trabajo de la República Argentina, la CGT, como una entidad plural que integrase en forma unitaria las distintas agrupaciones sindicales existentes. </a:t>
            </a:r>
          </a:p>
          <a:p>
            <a:r>
              <a:rPr lang="es-AR" sz="1600" dirty="0"/>
              <a:t>Hasta 1945 tuvo una mayoría socialista lo que cambió a partir de 1945, con la llegada de Perón. La conducción paso a ser mayoritariamente Peronista. </a:t>
            </a:r>
          </a:p>
          <a:p>
            <a:endParaRPr lang="es-AR" sz="1600" dirty="0"/>
          </a:p>
          <a:p>
            <a:r>
              <a:rPr lang="es-AR" sz="1600" dirty="0"/>
              <a:t>En la actualidad se encuentra fraccionada desde hace varios años, cosa que ya sucediera en otras oportunidades cuando algunas conducciones pactaran con los gobiernos de turno y otros sectores de mantuviesen firmes en la defensa de los trabajadores y lucharan sin concesiones por los derechos de ellos.  La CGT tiene una conducción formal con dos secretarios generales, Carlos Acuña y Héctor </a:t>
            </a:r>
            <a:r>
              <a:rPr lang="es-AR" sz="1600" dirty="0" err="1"/>
              <a:t>Daer</a:t>
            </a:r>
            <a:r>
              <a:rPr lang="es-AR" sz="1600" dirty="0"/>
              <a:t>, pero también varios de los sindicatos más importantes, como el de los bancarios encabezados por Sergio Palazzo, los judiciales, gráficos entre otros. Sin embargo otros  considerados más combativos, se nuclean en la Central de Trabajadores de la Argentina, la CTA, que también se encuentra partida en dos fracciones. </a:t>
            </a:r>
          </a:p>
          <a:p>
            <a:endParaRPr lang="es-AR" sz="1600" dirty="0"/>
          </a:p>
          <a:p>
            <a:r>
              <a:rPr lang="es-AR" sz="1600" dirty="0"/>
              <a:t>Los sindicatos también tienen vinculaciones con los de otros países. En el caso de la CGT se encuentra adherida a la Confederación Sindical Internacional, a la Confederación Sindical de las Américas y a la Coordinadora de Centrales Sindicales del Cono Sur cuyos ámbitos son, respectivamente, mundial, americano y mercosuriano.</a:t>
            </a:r>
          </a:p>
          <a:p>
            <a:endParaRPr lang="es-AR" sz="1600" dirty="0"/>
          </a:p>
        </p:txBody>
      </p:sp>
      <p:sp>
        <p:nvSpPr>
          <p:cNvPr id="4" name="Shape 52"/>
          <p:cNvSpPr txBox="1"/>
          <p:nvPr/>
        </p:nvSpPr>
        <p:spPr>
          <a:xfrm>
            <a:off x="485504" y="-23"/>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0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Relaciones Laborales</a:t>
            </a:r>
          </a:p>
          <a:p>
            <a:pPr marL="714375" indent="-714375">
              <a:lnSpc>
                <a:spcPct val="90000"/>
              </a:lnSpc>
              <a:buSzPct val="25000"/>
            </a:pPr>
            <a:r>
              <a:rPr lang="es-AR" sz="24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Historia del Derecho Colectivo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90352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 y="2458"/>
            <a:ext cx="9903523"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descr="Declaración de sindicalistas a 40 años de la histórica marcha de la CGT  contra la dictadura | “Paz, pan y trabajo. Que la deuda no la paguen los de  abajo” | Página|12">
            <a:extLst>
              <a:ext uri="{FF2B5EF4-FFF2-40B4-BE49-F238E27FC236}">
                <a16:creationId xmlns:a16="http://schemas.microsoft.com/office/drawing/2014/main" id="{61CC151B-F27E-2480-2312-940579160FC4}"/>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l="16694" r="16562"/>
          <a:stretch/>
        </p:blipFill>
        <p:spPr bwMode="auto">
          <a:xfrm>
            <a:off x="-138" y="10"/>
            <a:ext cx="686588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C2BC69AF-2EEC-8FFD-10B9-401BE6D67DDF}"/>
              </a:ext>
            </a:extLst>
          </p:cNvPr>
          <p:cNvSpPr>
            <a:spLocks noGrp="1"/>
          </p:cNvSpPr>
          <p:nvPr>
            <p:ph type="title"/>
          </p:nvPr>
        </p:nvSpPr>
        <p:spPr>
          <a:xfrm>
            <a:off x="-15551" y="4941168"/>
            <a:ext cx="8894679" cy="773492"/>
          </a:xfrm>
          <a:solidFill>
            <a:schemeClr val="accent2">
              <a:lumMod val="75000"/>
            </a:schemeClr>
          </a:solidFill>
        </p:spPr>
        <p:txBody>
          <a:bodyPr vert="horz" lIns="91440" tIns="45720" rIns="91440" bIns="45720" rtlCol="0" anchor="b">
            <a:normAutofit/>
          </a:bodyPr>
          <a:lstStyle/>
          <a:p>
            <a:r>
              <a:rPr lang="en-US" sz="4000" b="1" dirty="0">
                <a:solidFill>
                  <a:srgbClr val="FFFFFF"/>
                </a:solidFill>
              </a:rPr>
              <a:t>Mapa gremial </a:t>
            </a:r>
            <a:r>
              <a:rPr lang="en-US" sz="4000" b="1" dirty="0" err="1">
                <a:solidFill>
                  <a:srgbClr val="FFFFFF"/>
                </a:solidFill>
              </a:rPr>
              <a:t>argentino</a:t>
            </a:r>
            <a:endParaRPr lang="en-US" sz="4000" b="1" dirty="0">
              <a:solidFill>
                <a:srgbClr val="FFFFFF"/>
              </a:solidFill>
            </a:endParaRPr>
          </a:p>
        </p:txBody>
      </p:sp>
      <p:pic>
        <p:nvPicPr>
          <p:cNvPr id="3" name="Picture 4" descr="Mapa tridimensional da argentina. 3d cartazes para a parede ...">
            <a:extLst>
              <a:ext uri="{FF2B5EF4-FFF2-40B4-BE49-F238E27FC236}">
                <a16:creationId xmlns:a16="http://schemas.microsoft.com/office/drawing/2014/main" id="{1625BA34-9649-CEEF-7AF0-0A46DD1D33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1" r="7034"/>
          <a:stretch/>
        </p:blipFill>
        <p:spPr bwMode="auto">
          <a:xfrm>
            <a:off x="5241032" y="-2458"/>
            <a:ext cx="4662353"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5" name="Rectángulo: esquinas redondeadas 4">
            <a:extLst>
              <a:ext uri="{FF2B5EF4-FFF2-40B4-BE49-F238E27FC236}">
                <a16:creationId xmlns:a16="http://schemas.microsoft.com/office/drawing/2014/main" id="{33FACF8F-37B4-A678-E811-023E4EEEEF41}"/>
              </a:ext>
            </a:extLst>
          </p:cNvPr>
          <p:cNvSpPr/>
          <p:nvPr/>
        </p:nvSpPr>
        <p:spPr>
          <a:xfrm>
            <a:off x="8625410" y="6309320"/>
            <a:ext cx="1277977" cy="546222"/>
          </a:xfrm>
          <a:prstGeom prst="roundRect">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CuadroTexto 6">
            <a:extLst>
              <a:ext uri="{FF2B5EF4-FFF2-40B4-BE49-F238E27FC236}">
                <a16:creationId xmlns:a16="http://schemas.microsoft.com/office/drawing/2014/main" id="{04AA6BD1-7F04-6A63-4C4B-D8A221BBB1CC}"/>
              </a:ext>
            </a:extLst>
          </p:cNvPr>
          <p:cNvSpPr txBox="1"/>
          <p:nvPr/>
        </p:nvSpPr>
        <p:spPr>
          <a:xfrm>
            <a:off x="7329266" y="4976589"/>
            <a:ext cx="2574121" cy="1754326"/>
          </a:xfrm>
          <a:prstGeom prst="rect">
            <a:avLst/>
          </a:prstGeom>
          <a:noFill/>
        </p:spPr>
        <p:txBody>
          <a:bodyPr wrap="square">
            <a:spAutoFit/>
          </a:bodyPr>
          <a:lstStyle/>
          <a:p>
            <a:pPr algn="r"/>
            <a:r>
              <a:rPr lang="es-AR" sz="2800" b="1" dirty="0">
                <a:solidFill>
                  <a:srgbClr val="FF0000"/>
                </a:solidFill>
                <a:latin typeface="+mj-lt"/>
              </a:rPr>
              <a:t>3.419</a:t>
            </a:r>
          </a:p>
          <a:p>
            <a:pPr algn="r"/>
            <a:r>
              <a:rPr lang="es-AR" sz="1600" b="1" dirty="0" err="1">
                <a:solidFill>
                  <a:srgbClr val="FF0000"/>
                </a:solidFill>
                <a:latin typeface="+mj-lt"/>
              </a:rPr>
              <a:t>O</a:t>
            </a:r>
            <a:r>
              <a:rPr lang="es-AR" sz="1600" dirty="0" err="1">
                <a:solidFill>
                  <a:srgbClr val="FF0000"/>
                </a:solidFill>
                <a:latin typeface="+mj-lt"/>
              </a:rPr>
              <a:t>rg</a:t>
            </a:r>
            <a:r>
              <a:rPr lang="es-AR" sz="1600" dirty="0">
                <a:solidFill>
                  <a:srgbClr val="FF0000"/>
                </a:solidFill>
                <a:latin typeface="+mj-lt"/>
              </a:rPr>
              <a:t> </a:t>
            </a:r>
            <a:r>
              <a:rPr lang="es-AR" sz="1600" b="1" dirty="0">
                <a:solidFill>
                  <a:srgbClr val="FF0000"/>
                </a:solidFill>
                <a:latin typeface="+mj-lt"/>
              </a:rPr>
              <a:t>S</a:t>
            </a:r>
            <a:r>
              <a:rPr lang="es-AR" sz="1600" dirty="0">
                <a:solidFill>
                  <a:srgbClr val="FF0000"/>
                </a:solidFill>
                <a:latin typeface="+mj-lt"/>
              </a:rPr>
              <a:t>indicales</a:t>
            </a:r>
          </a:p>
          <a:p>
            <a:pPr algn="r"/>
            <a:endParaRPr lang="es-AR" sz="1600" dirty="0">
              <a:solidFill>
                <a:srgbClr val="FF0000"/>
              </a:solidFill>
              <a:latin typeface="+mj-lt"/>
            </a:endParaRPr>
          </a:p>
          <a:p>
            <a:pPr algn="r"/>
            <a:r>
              <a:rPr lang="es-AR" sz="1600" dirty="0">
                <a:latin typeface="+mj-lt"/>
              </a:rPr>
              <a:t>3.290 </a:t>
            </a:r>
            <a:r>
              <a:rPr lang="es-AR" sz="1600" b="1" dirty="0">
                <a:latin typeface="+mj-lt"/>
              </a:rPr>
              <a:t>S</a:t>
            </a:r>
            <a:r>
              <a:rPr lang="es-AR" sz="1600" dirty="0">
                <a:latin typeface="+mj-lt"/>
              </a:rPr>
              <a:t>indicatos</a:t>
            </a:r>
          </a:p>
          <a:p>
            <a:pPr algn="r"/>
            <a:r>
              <a:rPr lang="es-AR" sz="1600" dirty="0">
                <a:latin typeface="+mj-lt"/>
              </a:rPr>
              <a:t>110 </a:t>
            </a:r>
            <a:r>
              <a:rPr lang="es-AR" sz="1600" b="1" dirty="0">
                <a:latin typeface="+mj-lt"/>
              </a:rPr>
              <a:t>F</a:t>
            </a:r>
            <a:r>
              <a:rPr lang="es-AR" sz="1600" dirty="0">
                <a:latin typeface="+mj-lt"/>
              </a:rPr>
              <a:t>ederaciones</a:t>
            </a:r>
          </a:p>
          <a:p>
            <a:pPr algn="r"/>
            <a:r>
              <a:rPr lang="es-AR" sz="1600" dirty="0">
                <a:latin typeface="+mj-lt"/>
              </a:rPr>
              <a:t>19 </a:t>
            </a:r>
            <a:r>
              <a:rPr lang="es-AR" sz="1600" b="1" dirty="0">
                <a:latin typeface="+mj-lt"/>
              </a:rPr>
              <a:t>C</a:t>
            </a:r>
            <a:r>
              <a:rPr lang="es-AR" sz="1600" dirty="0">
                <a:latin typeface="+mj-lt"/>
              </a:rPr>
              <a:t>onfederaciones</a:t>
            </a:r>
          </a:p>
        </p:txBody>
      </p:sp>
    </p:spTree>
    <p:extLst>
      <p:ext uri="{BB962C8B-B14F-4D97-AF65-F5344CB8AC3E}">
        <p14:creationId xmlns:p14="http://schemas.microsoft.com/office/powerpoint/2010/main" val="169686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09530" y="1357298"/>
            <a:ext cx="9215502" cy="1569660"/>
          </a:xfrm>
          <a:prstGeom prst="rect">
            <a:avLst/>
          </a:prstGeom>
          <a:noFill/>
        </p:spPr>
        <p:txBody>
          <a:bodyPr wrap="square" rtlCol="0">
            <a:spAutoFit/>
          </a:bodyPr>
          <a:lstStyle/>
          <a:p>
            <a:r>
              <a:rPr lang="es-AR" sz="1600" dirty="0"/>
              <a:t>La CGT, numéricamente la más importante con alrededor de 2,5 millones de afiliados y con unos 30.000 delegados, tiene su sede central histórica en la calle Azopardo 826 de la Ciudad Autónoma de Buenos Aires, inaugurada por Perón el 18 de octubre de 1950, y agrupa tanto a uniones, sindicatos con jurisdicción en todo el territorio nacional, como a federaciones, conformadas por diversas organizaciones de carácter local en todo el ámbito del país.</a:t>
            </a:r>
          </a:p>
          <a:p>
            <a:endParaRPr lang="es-AR" sz="1600" dirty="0"/>
          </a:p>
        </p:txBody>
      </p:sp>
      <p:sp>
        <p:nvSpPr>
          <p:cNvPr id="3" name="Rounded Rectangle 7"/>
          <p:cNvSpPr/>
          <p:nvPr/>
        </p:nvSpPr>
        <p:spPr>
          <a:xfrm>
            <a:off x="595282" y="3000372"/>
            <a:ext cx="4000528" cy="285752"/>
          </a:xfrm>
          <a:prstGeom prst="roundRect">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Central General de Trabajadores (CGT)</a:t>
            </a:r>
          </a:p>
        </p:txBody>
      </p:sp>
      <p:sp>
        <p:nvSpPr>
          <p:cNvPr id="4" name="3 CuadroTexto"/>
          <p:cNvSpPr txBox="1"/>
          <p:nvPr/>
        </p:nvSpPr>
        <p:spPr>
          <a:xfrm>
            <a:off x="809596" y="3714754"/>
            <a:ext cx="3571900" cy="255454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AR" sz="1600" dirty="0"/>
              <a:t>La Confederación General del Trabajo de la República Argentina (</a:t>
            </a:r>
            <a:r>
              <a:rPr lang="es-AR" sz="1600" b="1" dirty="0"/>
              <a:t>CGT</a:t>
            </a:r>
            <a:r>
              <a:rPr lang="es-AR" sz="1600" dirty="0"/>
              <a:t>) es la central sindical histórica de Argentina. Fundada en 1930 como consecuencia de un acuerdo entre socialistas, sindicalistas revolucionarios, comunistas e independientes para generar una central sindical unitaria y plural. </a:t>
            </a:r>
            <a:r>
              <a:rPr lang="es-AR" sz="1600" b="1" dirty="0"/>
              <a:t>Liderada por Juan Carlos Schmid, Carlos Acuña y Héctor Dáer.</a:t>
            </a:r>
            <a:endParaRPr lang="es-AR" b="1" dirty="0"/>
          </a:p>
        </p:txBody>
      </p:sp>
      <p:sp>
        <p:nvSpPr>
          <p:cNvPr id="5" name="Rounded Rectangle 7"/>
          <p:cNvSpPr/>
          <p:nvPr/>
        </p:nvSpPr>
        <p:spPr>
          <a:xfrm>
            <a:off x="4810124" y="3000372"/>
            <a:ext cx="4643470" cy="285752"/>
          </a:xfrm>
          <a:prstGeom prst="roundRect">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Central de Trabajadores de la Argentina (CTA)</a:t>
            </a:r>
          </a:p>
        </p:txBody>
      </p:sp>
      <p:sp>
        <p:nvSpPr>
          <p:cNvPr id="6" name="5 CuadroTexto"/>
          <p:cNvSpPr txBox="1"/>
          <p:nvPr/>
        </p:nvSpPr>
        <p:spPr>
          <a:xfrm>
            <a:off x="5381628" y="3714752"/>
            <a:ext cx="3643338" cy="181588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AR" sz="1600" dirty="0"/>
              <a:t>La Central de Trabajadores de la Argentina (</a:t>
            </a:r>
            <a:r>
              <a:rPr lang="es-AR" sz="1600" b="1" dirty="0"/>
              <a:t>CTA</a:t>
            </a:r>
            <a:r>
              <a:rPr lang="es-AR" sz="1600" dirty="0"/>
              <a:t>) </a:t>
            </a:r>
            <a:r>
              <a:rPr lang="es-AR" sz="1600" b="1" dirty="0"/>
              <a:t>nació</a:t>
            </a:r>
            <a:r>
              <a:rPr lang="es-AR" sz="1600" dirty="0"/>
              <a:t> en oposición al gobierno menemista en 1992, transformándose en una nueva central obrera, con el objetivo de luchar por una sociedad sin excluidos. </a:t>
            </a:r>
            <a:r>
              <a:rPr lang="es-AR" sz="1600" b="1" dirty="0"/>
              <a:t>Hugo Yasky, líder histórico de la CTA.</a:t>
            </a:r>
          </a:p>
        </p:txBody>
      </p:sp>
      <p:pic>
        <p:nvPicPr>
          <p:cNvPr id="8" name="Picture 7">
            <a:extLst>
              <a:ext uri="{FF2B5EF4-FFF2-40B4-BE49-F238E27FC236}">
                <a16:creationId xmlns:a16="http://schemas.microsoft.com/office/drawing/2014/main" id="{028B4C23-4402-DE45-A632-A2BA21AC9309}"/>
              </a:ext>
            </a:extLst>
          </p:cNvPr>
          <p:cNvPicPr>
            <a:picLocks noChangeAspect="1"/>
          </p:cNvPicPr>
          <p:nvPr/>
        </p:nvPicPr>
        <p:blipFill>
          <a:blip r:embed="rId2"/>
          <a:stretch>
            <a:fillRect/>
          </a:stretch>
        </p:blipFill>
        <p:spPr>
          <a:xfrm>
            <a:off x="233532" y="3286124"/>
            <a:ext cx="576064" cy="576064"/>
          </a:xfrm>
          <a:prstGeom prst="ellipse">
            <a:avLst/>
          </a:prstGeom>
        </p:spPr>
      </p:pic>
      <p:pic>
        <p:nvPicPr>
          <p:cNvPr id="9" name="Picture 8">
            <a:extLst>
              <a:ext uri="{FF2B5EF4-FFF2-40B4-BE49-F238E27FC236}">
                <a16:creationId xmlns:a16="http://schemas.microsoft.com/office/drawing/2014/main" id="{A04DD4BD-CFE4-E944-A433-7E3E243AF98A}"/>
              </a:ext>
            </a:extLst>
          </p:cNvPr>
          <p:cNvPicPr>
            <a:picLocks noChangeAspect="1"/>
          </p:cNvPicPr>
          <p:nvPr/>
        </p:nvPicPr>
        <p:blipFill>
          <a:blip r:embed="rId3"/>
          <a:stretch>
            <a:fillRect/>
          </a:stretch>
        </p:blipFill>
        <p:spPr>
          <a:xfrm>
            <a:off x="4525861" y="3284984"/>
            <a:ext cx="1104900" cy="355600"/>
          </a:xfrm>
          <a:prstGeom prst="rect">
            <a:avLst/>
          </a:prstGeom>
        </p:spPr>
      </p:pic>
      <p:sp>
        <p:nvSpPr>
          <p:cNvPr id="11" name="Shape 52">
            <a:extLst>
              <a:ext uri="{FF2B5EF4-FFF2-40B4-BE49-F238E27FC236}">
                <a16:creationId xmlns:a16="http://schemas.microsoft.com/office/drawing/2014/main" id="{41AD0D52-B414-410E-A21C-EF8B7753C062}"/>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Mapa Político Gremial</a:t>
            </a:r>
          </a:p>
        </p:txBody>
      </p:sp>
      <p:pic>
        <p:nvPicPr>
          <p:cNvPr id="12" name="Imagen 11">
            <a:extLst>
              <a:ext uri="{FF2B5EF4-FFF2-40B4-BE49-F238E27FC236}">
                <a16:creationId xmlns:a16="http://schemas.microsoft.com/office/drawing/2014/main" id="{61A0D832-9AA8-44BA-BE79-90DB349D39FB}"/>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495018" y="2276872"/>
            <a:ext cx="8915964" cy="2304256"/>
          </a:xfrm>
          <a:prstGeom prst="rect">
            <a:avLst/>
          </a:prstGeom>
          <a:ln w="88900" cap="sq" cmpd="thickThin">
            <a:solidFill>
              <a:srgbClr val="000000"/>
            </a:solidFill>
            <a:prstDash val="solid"/>
            <a:miter lim="800000"/>
          </a:ln>
          <a:effectLst>
            <a:innerShdw blurRad="76200">
              <a:srgbClr val="000000"/>
            </a:innerShdw>
          </a:effectLst>
        </p:spPr>
      </p:pic>
      <p:grpSp>
        <p:nvGrpSpPr>
          <p:cNvPr id="7" name="Grupo 6">
            <a:extLst>
              <a:ext uri="{FF2B5EF4-FFF2-40B4-BE49-F238E27FC236}">
                <a16:creationId xmlns:a16="http://schemas.microsoft.com/office/drawing/2014/main" id="{5DF834EA-D3A2-3980-DFBC-920666CF958C}"/>
              </a:ext>
            </a:extLst>
          </p:cNvPr>
          <p:cNvGrpSpPr/>
          <p:nvPr/>
        </p:nvGrpSpPr>
        <p:grpSpPr>
          <a:xfrm>
            <a:off x="128466" y="686503"/>
            <a:ext cx="438243" cy="438243"/>
            <a:chOff x="4733878" y="3209878"/>
            <a:chExt cx="438243" cy="438243"/>
          </a:xfrm>
        </p:grpSpPr>
        <p:sp>
          <p:nvSpPr>
            <p:cNvPr id="10" name="Elipse 9">
              <a:extLst>
                <a:ext uri="{FF2B5EF4-FFF2-40B4-BE49-F238E27FC236}">
                  <a16:creationId xmlns:a16="http://schemas.microsoft.com/office/drawing/2014/main" id="{46042880-CD5F-1A19-0EB0-B1743B4351A2}"/>
                </a:ext>
              </a:extLst>
            </p:cNvPr>
            <p:cNvSpPr/>
            <p:nvPr/>
          </p:nvSpPr>
          <p:spPr>
            <a:xfrm>
              <a:off x="4733878" y="3209878"/>
              <a:ext cx="438243" cy="438243"/>
            </a:xfrm>
            <a:prstGeom prst="ellipse">
              <a:avLst/>
            </a:prstGeom>
            <a:solidFill>
              <a:srgbClr val="70AD47">
                <a:hueOff val="0"/>
                <a:satOff val="0"/>
                <a:lumOff val="0"/>
                <a:alphaOff val="0"/>
              </a:srgbClr>
            </a:solidFill>
            <a:ln>
              <a:noFill/>
            </a:ln>
            <a:effectLst/>
          </p:spPr>
        </p:sp>
        <p:sp>
          <p:nvSpPr>
            <p:cNvPr id="13" name="Rectángulo 12">
              <a:extLst>
                <a:ext uri="{FF2B5EF4-FFF2-40B4-BE49-F238E27FC236}">
                  <a16:creationId xmlns:a16="http://schemas.microsoft.com/office/drawing/2014/main" id="{741FC896-F22D-848B-1735-F2010B3DD601}"/>
                </a:ext>
              </a:extLst>
            </p:cNvPr>
            <p:cNvSpPr/>
            <p:nvPr/>
          </p:nvSpPr>
          <p:spPr>
            <a:xfrm>
              <a:off x="4825909" y="3301909"/>
              <a:ext cx="254181" cy="254181"/>
            </a:xfrm>
            <a:prstGeom prst="rect">
              <a:avLst/>
            </a:prstGeom>
            <a: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5392295" y="2396410"/>
            <a:ext cx="4314348" cy="3785652"/>
          </a:xfrm>
          <a:prstGeom prst="rect">
            <a:avLst/>
          </a:prstGeom>
          <a:noFill/>
          <a:ln>
            <a:noFill/>
          </a:ln>
        </p:spPr>
        <p:style>
          <a:lnRef idx="0">
            <a:scrgbClr r="0" g="0" b="0"/>
          </a:lnRef>
          <a:fillRef idx="0">
            <a:scrgbClr r="0" g="0" b="0"/>
          </a:fillRef>
          <a:effectRef idx="0">
            <a:scrgbClr r="0" g="0" b="0"/>
          </a:effectRef>
          <a:fontRef idx="minor">
            <a:schemeClr val="accent2"/>
          </a:fontRef>
        </p:style>
        <p:txBody>
          <a:bodyPr wrap="square" rtlCol="0">
            <a:spAutoFit/>
          </a:bodyPr>
          <a:lstStyle/>
          <a:p>
            <a:pPr algn="just"/>
            <a:r>
              <a:rPr lang="es-ES" sz="2400" dirty="0">
                <a:solidFill>
                  <a:schemeClr val="tx1"/>
                </a:solidFill>
                <a:latin typeface="+mj-lt"/>
              </a:rPr>
              <a:t>Lo que define que sindicatos pueden representar a los trabajadores de determinada empresa, </a:t>
            </a:r>
            <a:r>
              <a:rPr lang="es-ES" sz="2400" b="1" dirty="0">
                <a:solidFill>
                  <a:srgbClr val="0066FF"/>
                </a:solidFill>
                <a:latin typeface="+mj-lt"/>
              </a:rPr>
              <a:t>es la actividad de la compañía y la tarea que realizan las personas</a:t>
            </a:r>
            <a:r>
              <a:rPr lang="es-ES" sz="2400" dirty="0">
                <a:solidFill>
                  <a:schemeClr val="tx1"/>
                </a:solidFill>
                <a:latin typeface="+mj-lt"/>
              </a:rPr>
              <a:t>, ya que en una misma empresa pueden convivir más de un sindicato. </a:t>
            </a:r>
          </a:p>
          <a:p>
            <a:pPr algn="just"/>
            <a:r>
              <a:rPr lang="es-ES" sz="2400" dirty="0">
                <a:solidFill>
                  <a:schemeClr val="tx1"/>
                </a:solidFill>
                <a:latin typeface="+mj-lt"/>
              </a:rPr>
              <a:t>Ejemplo en los Hipermercados: Comercio + Camioneros </a:t>
            </a:r>
          </a:p>
        </p:txBody>
      </p:sp>
      <p:pic>
        <p:nvPicPr>
          <p:cNvPr id="4" name="Imagen 3">
            <a:extLst>
              <a:ext uri="{FF2B5EF4-FFF2-40B4-BE49-F238E27FC236}">
                <a16:creationId xmlns:a16="http://schemas.microsoft.com/office/drawing/2014/main" id="{E1BCCAF9-83FF-4C01-962E-1B37442C3A70}"/>
              </a:ext>
            </a:extLst>
          </p:cNvPr>
          <p:cNvPicPr>
            <a:picLocks noChangeAspect="1"/>
          </p:cNvPicPr>
          <p:nvPr/>
        </p:nvPicPr>
        <p:blipFill rotWithShape="1">
          <a:blip r:embed="rId3"/>
          <a:srcRect b="40786"/>
          <a:stretch/>
        </p:blipFill>
        <p:spPr>
          <a:xfrm>
            <a:off x="11848" y="2564904"/>
            <a:ext cx="5029384" cy="2776730"/>
          </a:xfrm>
          <a:prstGeom prst="rect">
            <a:avLst/>
          </a:prstGeom>
        </p:spPr>
      </p:pic>
      <p:sp>
        <p:nvSpPr>
          <p:cNvPr id="10" name="CuadroTexto 9">
            <a:extLst>
              <a:ext uri="{FF2B5EF4-FFF2-40B4-BE49-F238E27FC236}">
                <a16:creationId xmlns:a16="http://schemas.microsoft.com/office/drawing/2014/main" id="{98B9E1D8-390F-4E83-9AF9-BAFA72EACEAE}"/>
              </a:ext>
            </a:extLst>
          </p:cNvPr>
          <p:cNvSpPr txBox="1"/>
          <p:nvPr/>
        </p:nvSpPr>
        <p:spPr>
          <a:xfrm>
            <a:off x="100080" y="5354634"/>
            <a:ext cx="4852920" cy="830997"/>
          </a:xfrm>
          <a:prstGeom prst="rect">
            <a:avLst/>
          </a:prstGeom>
          <a:solidFill>
            <a:srgbClr val="C00000"/>
          </a:solidFill>
          <a:ln w="38100">
            <a:solidFill>
              <a:schemeClr val="bg1"/>
            </a:solidFill>
          </a:ln>
        </p:spPr>
        <p:txBody>
          <a:bodyPr wrap="square">
            <a:spAutoFit/>
          </a:bodyPr>
          <a:lstStyle/>
          <a:p>
            <a:r>
              <a:rPr lang="es-AR" sz="1600" i="1" dirty="0">
                <a:solidFill>
                  <a:schemeClr val="bg1"/>
                </a:solidFill>
                <a:latin typeface="Libre Franklin" pitchFamily="2" charset="0"/>
              </a:rPr>
              <a:t>Claudio Moroni autorizó la inscripción de nueve gremios más, y algunos popes sindicales, como Hugo Moyano, ya salieron al cruce.</a:t>
            </a:r>
            <a:endParaRPr lang="es-AR" sz="1600" i="1" dirty="0">
              <a:solidFill>
                <a:schemeClr val="bg1"/>
              </a:solidFill>
            </a:endParaRPr>
          </a:p>
        </p:txBody>
      </p:sp>
      <p:pic>
        <p:nvPicPr>
          <p:cNvPr id="11" name="Imagen 10">
            <a:extLst>
              <a:ext uri="{FF2B5EF4-FFF2-40B4-BE49-F238E27FC236}">
                <a16:creationId xmlns:a16="http://schemas.microsoft.com/office/drawing/2014/main" id="{20FFD7CD-666A-4C81-A389-565C484505E2}"/>
              </a:ext>
            </a:extLst>
          </p:cNvPr>
          <p:cNvPicPr>
            <a:picLocks noChangeAspect="1"/>
          </p:cNvPicPr>
          <p:nvPr/>
        </p:nvPicPr>
        <p:blipFill>
          <a:blip r:embed="rId4"/>
          <a:stretch>
            <a:fillRect/>
          </a:stretch>
        </p:blipFill>
        <p:spPr>
          <a:xfrm>
            <a:off x="200473" y="2132856"/>
            <a:ext cx="968938" cy="39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Rounded Rectangle 7">
            <a:extLst>
              <a:ext uri="{FF2B5EF4-FFF2-40B4-BE49-F238E27FC236}">
                <a16:creationId xmlns:a16="http://schemas.microsoft.com/office/drawing/2014/main" id="{FAF3BA14-3588-42F3-AD08-F60F4F2B444B}"/>
              </a:ext>
            </a:extLst>
          </p:cNvPr>
          <p:cNvSpPr/>
          <p:nvPr/>
        </p:nvSpPr>
        <p:spPr>
          <a:xfrm>
            <a:off x="200854" y="1340768"/>
            <a:ext cx="9072626" cy="551502"/>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r>
              <a:rPr lang="es-ES" b="1" dirty="0">
                <a:latin typeface="Arial" charset="0"/>
              </a:rPr>
              <a:t>¿Qué sindicato me corresponde?</a:t>
            </a:r>
          </a:p>
        </p:txBody>
      </p:sp>
      <p:sp>
        <p:nvSpPr>
          <p:cNvPr id="16" name="Shape 52">
            <a:extLst>
              <a:ext uri="{FF2B5EF4-FFF2-40B4-BE49-F238E27FC236}">
                <a16:creationId xmlns:a16="http://schemas.microsoft.com/office/drawing/2014/main" id="{9A1F1095-9793-4F6F-BC40-6109AC347F0E}"/>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Asociaciones Sindicales</a:t>
            </a:r>
          </a:p>
        </p:txBody>
      </p:sp>
      <p:grpSp>
        <p:nvGrpSpPr>
          <p:cNvPr id="2" name="Grupo 1">
            <a:extLst>
              <a:ext uri="{FF2B5EF4-FFF2-40B4-BE49-F238E27FC236}">
                <a16:creationId xmlns:a16="http://schemas.microsoft.com/office/drawing/2014/main" id="{FBE044C5-83A6-BC28-A4AC-E3E04A946D20}"/>
              </a:ext>
            </a:extLst>
          </p:cNvPr>
          <p:cNvGrpSpPr/>
          <p:nvPr/>
        </p:nvGrpSpPr>
        <p:grpSpPr>
          <a:xfrm>
            <a:off x="128466" y="672778"/>
            <a:ext cx="438243" cy="438243"/>
            <a:chOff x="4733878" y="3209878"/>
            <a:chExt cx="438243" cy="438243"/>
          </a:xfrm>
        </p:grpSpPr>
        <p:sp>
          <p:nvSpPr>
            <p:cNvPr id="3" name="Elipse 2">
              <a:extLst>
                <a:ext uri="{FF2B5EF4-FFF2-40B4-BE49-F238E27FC236}">
                  <a16:creationId xmlns:a16="http://schemas.microsoft.com/office/drawing/2014/main" id="{EA4EB3C5-5659-BBE0-B2DA-E51FAA67DC1D}"/>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6" name="Rectángulo 5">
              <a:extLst>
                <a:ext uri="{FF2B5EF4-FFF2-40B4-BE49-F238E27FC236}">
                  <a16:creationId xmlns:a16="http://schemas.microsoft.com/office/drawing/2014/main" id="{AC2C323C-D2E5-E368-C919-0B47D5A8257D}"/>
                </a:ext>
              </a:extLst>
            </p:cNvPr>
            <p:cNvSpPr/>
            <p:nvPr/>
          </p:nvSpPr>
          <p:spPr>
            <a:xfrm>
              <a:off x="4825909" y="3301910"/>
              <a:ext cx="254181" cy="254181"/>
            </a:xfrm>
            <a:prstGeom prst="rect">
              <a:avLst/>
            </a:prstGeom>
            <a: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88044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Rectangle 7"/>
          <p:cNvSpPr/>
          <p:nvPr/>
        </p:nvSpPr>
        <p:spPr>
          <a:xfrm>
            <a:off x="5819868" y="1556798"/>
            <a:ext cx="1653412" cy="17171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299346053"/>
              </p:ext>
            </p:extLst>
          </p:nvPr>
        </p:nvGraphicFramePr>
        <p:xfrm>
          <a:off x="1208584" y="1824664"/>
          <a:ext cx="6945132" cy="4866208"/>
        </p:xfrm>
        <a:graphic>
          <a:graphicData uri="http://schemas.openxmlformats.org/drawingml/2006/table">
            <a:tbl>
              <a:tblPr/>
              <a:tblGrid>
                <a:gridCol w="2315044">
                  <a:extLst>
                    <a:ext uri="{9D8B030D-6E8A-4147-A177-3AD203B41FA5}">
                      <a16:colId xmlns:a16="http://schemas.microsoft.com/office/drawing/2014/main" val="20000"/>
                    </a:ext>
                  </a:extLst>
                </a:gridCol>
                <a:gridCol w="2315044">
                  <a:extLst>
                    <a:ext uri="{9D8B030D-6E8A-4147-A177-3AD203B41FA5}">
                      <a16:colId xmlns:a16="http://schemas.microsoft.com/office/drawing/2014/main" val="20001"/>
                    </a:ext>
                  </a:extLst>
                </a:gridCol>
                <a:gridCol w="2315044">
                  <a:extLst>
                    <a:ext uri="{9D8B030D-6E8A-4147-A177-3AD203B41FA5}">
                      <a16:colId xmlns:a16="http://schemas.microsoft.com/office/drawing/2014/main" val="20002"/>
                    </a:ext>
                  </a:extLst>
                </a:gridCol>
              </a:tblGrid>
              <a:tr h="162278">
                <a:tc gridSpan="3">
                  <a:txBody>
                    <a:bodyPr/>
                    <a:lstStyle/>
                    <a:p>
                      <a:pPr algn="ctr"/>
                      <a:r>
                        <a:rPr lang="en-US" sz="1800" b="1" dirty="0">
                          <a:solidFill>
                            <a:schemeClr val="tx1"/>
                          </a:solidFill>
                          <a:effectLst/>
                        </a:rPr>
                        <a:t>Principales sindicatos de la CGT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6436">
                <a:tc>
                  <a:txBody>
                    <a:bodyPr/>
                    <a:lstStyle/>
                    <a:p>
                      <a:pPr algn="ctr"/>
                      <a:r>
                        <a:rPr lang="en-US" sz="1300">
                          <a:effectLst/>
                        </a:rPr>
                        <a:t>Sindicato</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CCCCFF"/>
                    </a:solidFill>
                  </a:tcPr>
                </a:tc>
                <a:tc>
                  <a:txBody>
                    <a:bodyPr/>
                    <a:lstStyle/>
                    <a:p>
                      <a:pPr algn="ctr"/>
                      <a:r>
                        <a:rPr lang="en-US" sz="1300" dirty="0">
                          <a:effectLst/>
                        </a:rPr>
                        <a:t>Afiliados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CCCCFF"/>
                    </a:solidFill>
                  </a:tcPr>
                </a:tc>
                <a:tc>
                  <a:txBody>
                    <a:bodyPr/>
                    <a:lstStyle/>
                    <a:p>
                      <a:pPr algn="ctr"/>
                      <a:r>
                        <a:rPr lang="en-US" sz="1300">
                          <a:effectLst/>
                        </a:rPr>
                        <a:t>Secretario General</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CCCCFF"/>
                    </a:solidFill>
                  </a:tcPr>
                </a:tc>
                <a:extLst>
                  <a:ext uri="{0D108BD9-81ED-4DB2-BD59-A6C34878D82A}">
                    <a16:rowId xmlns:a16="http://schemas.microsoft.com/office/drawing/2014/main" val="10001"/>
                  </a:ext>
                </a:extLst>
              </a:tr>
              <a:tr h="256436">
                <a:tc>
                  <a:txBody>
                    <a:bodyPr/>
                    <a:lstStyle/>
                    <a:p>
                      <a:r>
                        <a:rPr lang="en-US" sz="1300" u="none" strike="noStrike">
                          <a:solidFill>
                            <a:srgbClr val="0B0080"/>
                          </a:solidFill>
                          <a:effectLst/>
                          <a:hlinkClick r:id="rId3" tooltip="FAECYS"/>
                        </a:rPr>
                        <a:t>FAECYS</a:t>
                      </a:r>
                      <a:r>
                        <a:rPr lang="en-US" sz="1300">
                          <a:effectLst/>
                        </a:rPr>
                        <a:t> (Comercio)</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432.000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5" tooltip="Armando Cavalieri (aún no redactado)"/>
                        </a:rPr>
                        <a:t>Armando Cavalieri</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256436">
                <a:tc>
                  <a:txBody>
                    <a:bodyPr/>
                    <a:lstStyle/>
                    <a:p>
                      <a:r>
                        <a:rPr lang="en-US" sz="1300" u="none" strike="noStrike">
                          <a:solidFill>
                            <a:srgbClr val="0B0080"/>
                          </a:solidFill>
                          <a:effectLst/>
                          <a:hlinkClick r:id="rId6" tooltip="UOCRA"/>
                        </a:rPr>
                        <a:t>UOCRA</a:t>
                      </a:r>
                      <a:r>
                        <a:rPr lang="en-US" sz="1300">
                          <a:effectLst/>
                        </a:rPr>
                        <a:t> (Construcción)</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221.000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7" tooltip="Gerardo Martínez"/>
                        </a:rPr>
                        <a:t>Gerardo Martínez</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3"/>
                  </a:ext>
                </a:extLst>
              </a:tr>
              <a:tr h="256436">
                <a:tc>
                  <a:txBody>
                    <a:bodyPr/>
                    <a:lstStyle/>
                    <a:p>
                      <a:r>
                        <a:rPr lang="en-US" sz="1300" u="none" strike="noStrike">
                          <a:solidFill>
                            <a:srgbClr val="0B0080"/>
                          </a:solidFill>
                          <a:effectLst/>
                          <a:hlinkClick r:id="rId8" tooltip="UPCN"/>
                        </a:rPr>
                        <a:t>UPCN</a:t>
                      </a:r>
                      <a:r>
                        <a:rPr lang="en-US" sz="1300">
                          <a:effectLst/>
                        </a:rPr>
                        <a:t> (Estatales)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219.000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9" tooltip="Andrés Rodríguez"/>
                        </a:rPr>
                        <a:t>Andrés Rodríguez</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256436">
                <a:tc>
                  <a:txBody>
                    <a:bodyPr/>
                    <a:lstStyle/>
                    <a:p>
                      <a:r>
                        <a:rPr lang="en-US" sz="1300">
                          <a:effectLst/>
                        </a:rPr>
                        <a:t>FTIA (Alimentación)</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dirty="0">
                          <a:effectLst/>
                        </a:rPr>
                        <a:t>189.000</a:t>
                      </a:r>
                      <a:r>
                        <a:rPr lang="en-US" sz="1300" b="0" i="0" u="none" strike="noStrike" baseline="30000" dirty="0">
                          <a:solidFill>
                            <a:srgbClr val="0B0080"/>
                          </a:solidFill>
                          <a:effectLst/>
                          <a:hlinkClick r:id="rId4"/>
                        </a:rPr>
                        <a:t>5</a:t>
                      </a:r>
                      <a:r>
                        <a:rPr lang="en-US" sz="1300" dirty="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10" tooltip="Luis Bernabé Moran (aún no redactado)"/>
                        </a:rPr>
                        <a:t>Luis Bernabé Moran</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5"/>
                  </a:ext>
                </a:extLst>
              </a:tr>
              <a:tr h="256436">
                <a:tc>
                  <a:txBody>
                    <a:bodyPr/>
                    <a:lstStyle/>
                    <a:p>
                      <a:r>
                        <a:rPr lang="en-US" sz="1300" u="none" strike="noStrike">
                          <a:solidFill>
                            <a:srgbClr val="A55858"/>
                          </a:solidFill>
                          <a:effectLst/>
                          <a:hlinkClick r:id="rId11" tooltip="FATSA (aún no redactado)"/>
                        </a:rPr>
                        <a:t>FATSA</a:t>
                      </a:r>
                      <a:r>
                        <a:rPr lang="en-US" sz="1300">
                          <a:effectLst/>
                        </a:rPr>
                        <a:t> (Sanidad)</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187.000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12" tooltip="Carlos West Ocampo (aún no redactado)"/>
                        </a:rPr>
                        <a:t>Carlos West Ocampo</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256436">
                <a:tc>
                  <a:txBody>
                    <a:bodyPr/>
                    <a:lstStyle/>
                    <a:p>
                      <a:r>
                        <a:rPr lang="en-US" sz="1300" u="none" strike="noStrike">
                          <a:solidFill>
                            <a:srgbClr val="0B0080"/>
                          </a:solidFill>
                          <a:effectLst/>
                          <a:hlinkClick r:id="rId13" tooltip="Unión Obrera Metalúrgica"/>
                        </a:rPr>
                        <a:t>UOM</a:t>
                      </a:r>
                      <a:r>
                        <a:rPr lang="en-US" sz="1300">
                          <a:effectLst/>
                        </a:rPr>
                        <a:t> (Metalúrgicos)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170.000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14" tooltip="Antonio Caló"/>
                        </a:rPr>
                        <a:t>Antonio Caló</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7"/>
                  </a:ext>
                </a:extLst>
              </a:tr>
              <a:tr h="448762">
                <a:tc>
                  <a:txBody>
                    <a:bodyPr/>
                    <a:lstStyle/>
                    <a:p>
                      <a:r>
                        <a:rPr lang="en-US" sz="1300" u="none" strike="noStrike">
                          <a:solidFill>
                            <a:srgbClr val="A55858"/>
                          </a:solidFill>
                          <a:effectLst/>
                          <a:hlinkClick r:id="rId15" tooltip="UTGRHA (aún no redactado)"/>
                        </a:rPr>
                        <a:t>UTGRHA</a:t>
                      </a:r>
                      <a:r>
                        <a:rPr lang="en-US" sz="1300">
                          <a:effectLst/>
                        </a:rPr>
                        <a:t> (Hoteles y gastronómicos)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dirty="0">
                          <a:effectLst/>
                        </a:rPr>
                        <a:t>162.000</a:t>
                      </a:r>
                      <a:r>
                        <a:rPr lang="en-US" sz="1300" b="0" i="0" u="none" strike="noStrike" baseline="30000" dirty="0">
                          <a:solidFill>
                            <a:srgbClr val="0B0080"/>
                          </a:solidFill>
                          <a:effectLst/>
                          <a:hlinkClick r:id="rId4"/>
                        </a:rPr>
                        <a:t>5</a:t>
                      </a:r>
                      <a:r>
                        <a:rPr lang="en-US" sz="1300" dirty="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16" tooltip="Luis Barrionuevo"/>
                        </a:rPr>
                        <a:t>Luis Barrionuevo</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8"/>
                  </a:ext>
                </a:extLst>
              </a:tr>
              <a:tr h="256436">
                <a:tc>
                  <a:txBody>
                    <a:bodyPr/>
                    <a:lstStyle/>
                    <a:p>
                      <a:r>
                        <a:rPr lang="en-US" sz="1300" u="none" strike="noStrike">
                          <a:solidFill>
                            <a:srgbClr val="0B0080"/>
                          </a:solidFill>
                          <a:effectLst/>
                          <a:hlinkClick r:id="rId17" tooltip="UATRE"/>
                        </a:rPr>
                        <a:t>UATRE</a:t>
                      </a:r>
                      <a:r>
                        <a:rPr lang="en-US" sz="1300">
                          <a:effectLst/>
                        </a:rPr>
                        <a:t> (Rurales)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117.000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18" tooltip="Ramón Ayala"/>
                        </a:rPr>
                        <a:t>Ramón Ayala</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9"/>
                  </a:ext>
                </a:extLst>
              </a:tr>
              <a:tr h="256436">
                <a:tc>
                  <a:txBody>
                    <a:bodyPr/>
                    <a:lstStyle/>
                    <a:p>
                      <a:r>
                        <a:rPr lang="en-US" sz="1300" u="none" strike="noStrike">
                          <a:solidFill>
                            <a:srgbClr val="0B0080"/>
                          </a:solidFill>
                          <a:effectLst/>
                          <a:hlinkClick r:id="rId19" tooltip="SMATA"/>
                        </a:rPr>
                        <a:t>SMATA</a:t>
                      </a:r>
                      <a:r>
                        <a:rPr lang="en-US" sz="1300">
                          <a:effectLst/>
                        </a:rPr>
                        <a:t> (Mecánicos)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89.000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20" tooltip="Ricardo Alberto Pignanelli (aún no redactado)"/>
                        </a:rPr>
                        <a:t>Ricardo Alberto Pignanelli</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0"/>
                  </a:ext>
                </a:extLst>
              </a:tr>
              <a:tr h="256436">
                <a:tc>
                  <a:txBody>
                    <a:bodyPr/>
                    <a:lstStyle/>
                    <a:p>
                      <a:r>
                        <a:rPr lang="en-US" sz="1300" u="none" strike="noStrike">
                          <a:solidFill>
                            <a:srgbClr val="0B0080"/>
                          </a:solidFill>
                          <a:effectLst/>
                          <a:hlinkClick r:id="rId21" tooltip="Federación Argentina de Trabajadores de Luz y Fuerza"/>
                        </a:rPr>
                        <a:t>Luz y Fuerza</a:t>
                      </a:r>
                      <a:r>
                        <a:rPr lang="en-US" sz="1300">
                          <a:effectLst/>
                        </a:rPr>
                        <a:t> (Energía)</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75.000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22" tooltip="Guillermo Moser (aún no redactado)"/>
                        </a:rPr>
                        <a:t>Guillermo Moser</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1"/>
                  </a:ext>
                </a:extLst>
              </a:tr>
              <a:tr h="256436">
                <a:tc>
                  <a:txBody>
                    <a:bodyPr/>
                    <a:lstStyle/>
                    <a:p>
                      <a:r>
                        <a:rPr lang="en-US" sz="1300" u="none" strike="noStrike">
                          <a:solidFill>
                            <a:srgbClr val="A55858"/>
                          </a:solidFill>
                          <a:effectLst/>
                          <a:hlinkClick r:id="rId23" tooltip="FNTC (aún no redactado)"/>
                        </a:rPr>
                        <a:t>FNTC</a:t>
                      </a:r>
                      <a:r>
                        <a:rPr lang="en-US" sz="1300">
                          <a:effectLst/>
                        </a:rPr>
                        <a:t> (Camioneros)</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73.000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24" tooltip="Pablo Moyano (aún no redactado)"/>
                        </a:rPr>
                        <a:t>Pablo Moyano</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2"/>
                  </a:ext>
                </a:extLst>
              </a:tr>
              <a:tr h="641089">
                <a:tc>
                  <a:txBody>
                    <a:bodyPr/>
                    <a:lstStyle/>
                    <a:p>
                      <a:r>
                        <a:rPr lang="en-US" sz="1300" u="none" strike="noStrike">
                          <a:solidFill>
                            <a:srgbClr val="0B0080"/>
                          </a:solidFill>
                          <a:effectLst/>
                          <a:hlinkClick r:id="rId25" tooltip="Unión Tranviarios Automotor"/>
                        </a:rPr>
                        <a:t>Unión Tranviarios Automotor</a:t>
                      </a:r>
                      <a:r>
                        <a:rPr lang="en-US" sz="1300">
                          <a:effectLst/>
                        </a:rPr>
                        <a:t> (Transporte colectivo urbano)</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56.000</a:t>
                      </a:r>
                      <a:r>
                        <a:rPr lang="en-US" sz="1300" b="0" i="0" u="none" strike="noStrike" baseline="30000">
                          <a:solidFill>
                            <a:srgbClr val="0B0080"/>
                          </a:solidFill>
                          <a:effectLst/>
                          <a:hlinkClick r:id="rId4"/>
                        </a:rPr>
                        <a:t>5</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0B0080"/>
                          </a:solidFill>
                          <a:effectLst/>
                          <a:hlinkClick r:id="rId26" tooltip="Roberto Fernández"/>
                        </a:rPr>
                        <a:t>Roberto Fernández</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3"/>
                  </a:ext>
                </a:extLst>
              </a:tr>
              <a:tr h="256436">
                <a:tc>
                  <a:txBody>
                    <a:bodyPr/>
                    <a:lstStyle/>
                    <a:p>
                      <a:r>
                        <a:rPr lang="en-US" sz="1300" u="none" strike="noStrike">
                          <a:solidFill>
                            <a:srgbClr val="0B0080"/>
                          </a:solidFill>
                          <a:effectLst/>
                          <a:hlinkClick r:id="rId27" tooltip="Asociación Bancaria"/>
                        </a:rPr>
                        <a:t>Asociación Bancaria</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56.000</a:t>
                      </a:r>
                      <a:r>
                        <a:rPr lang="en-US" sz="1300" b="0" i="0" u="none" strike="noStrike" baseline="30000">
                          <a:solidFill>
                            <a:srgbClr val="0B0080"/>
                          </a:solidFill>
                          <a:effectLst/>
                          <a:hlinkClick r:id="rId4"/>
                        </a:rPr>
                        <a:t>6</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a:solidFill>
                            <a:srgbClr val="A55858"/>
                          </a:solidFill>
                          <a:effectLst/>
                          <a:hlinkClick r:id="rId28" tooltip="Sergio Omar Palazzo (aún no redactado)"/>
                        </a:rPr>
                        <a:t>Sergio Omar Palazzo</a:t>
                      </a:r>
                      <a:endParaRPr lang="en-US" sz="130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4"/>
                  </a:ext>
                </a:extLst>
              </a:tr>
              <a:tr h="256436">
                <a:tc>
                  <a:txBody>
                    <a:bodyPr/>
                    <a:lstStyle/>
                    <a:p>
                      <a:r>
                        <a:rPr lang="en-US" sz="1300" u="none" strike="noStrike" dirty="0">
                          <a:solidFill>
                            <a:srgbClr val="0B0080"/>
                          </a:solidFill>
                          <a:effectLst/>
                          <a:hlinkClick r:id="rId29" tooltip="Confederación de Educadores Argentinos"/>
                        </a:rPr>
                        <a:t>CEA</a:t>
                      </a:r>
                      <a:r>
                        <a:rPr lang="en-US" sz="1300" dirty="0">
                          <a:effectLst/>
                        </a:rPr>
                        <a:t> (</a:t>
                      </a:r>
                      <a:r>
                        <a:rPr lang="en-US" sz="1300" dirty="0" err="1">
                          <a:effectLst/>
                        </a:rPr>
                        <a:t>Docentes</a:t>
                      </a:r>
                      <a:r>
                        <a:rPr lang="en-US" sz="1300" dirty="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a:effectLst/>
                        </a:rPr>
                        <a:t>55.000</a:t>
                      </a:r>
                      <a:r>
                        <a:rPr lang="en-US" sz="1300" b="0" i="0" u="none" strike="noStrike" baseline="30000">
                          <a:solidFill>
                            <a:srgbClr val="0B0080"/>
                          </a:solidFill>
                          <a:effectLst/>
                          <a:hlinkClick r:id="rId4"/>
                        </a:rPr>
                        <a:t>7</a:t>
                      </a:r>
                      <a:r>
                        <a:rPr lang="en-US" sz="1300">
                          <a:effectLst/>
                        </a:rPr>
                        <a:t>​</a:t>
                      </a: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300" u="none" strike="noStrike" dirty="0" err="1">
                          <a:solidFill>
                            <a:srgbClr val="A55858"/>
                          </a:solidFill>
                          <a:effectLst/>
                          <a:hlinkClick r:id="rId30" tooltip="Fabián Felman (aún no redactado)"/>
                        </a:rPr>
                        <a:t>Fabián</a:t>
                      </a:r>
                      <a:r>
                        <a:rPr lang="en-US" sz="1300" u="none" strike="noStrike" dirty="0">
                          <a:solidFill>
                            <a:srgbClr val="A55858"/>
                          </a:solidFill>
                          <a:effectLst/>
                          <a:hlinkClick r:id="rId30" tooltip="Fabián Felman (aún no redactado)"/>
                        </a:rPr>
                        <a:t> </a:t>
                      </a:r>
                      <a:r>
                        <a:rPr lang="en-US" sz="1300" u="none" strike="noStrike" dirty="0" err="1">
                          <a:solidFill>
                            <a:srgbClr val="A55858"/>
                          </a:solidFill>
                          <a:effectLst/>
                          <a:hlinkClick r:id="rId30" tooltip="Fabián Felman (aún no redactado)"/>
                        </a:rPr>
                        <a:t>Felman</a:t>
                      </a:r>
                      <a:endParaRPr lang="en-US" sz="1300" dirty="0">
                        <a:effectLst/>
                      </a:endParaRPr>
                    </a:p>
                  </a:txBody>
                  <a:tcPr marL="64109" marR="64109" marT="32054" marB="32054"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5"/>
                  </a:ext>
                </a:extLst>
              </a:tr>
            </a:tbl>
          </a:graphicData>
        </a:graphic>
      </p:graphicFrame>
      <p:sp>
        <p:nvSpPr>
          <p:cNvPr id="13" name="Rounded Rectangle 7"/>
          <p:cNvSpPr/>
          <p:nvPr/>
        </p:nvSpPr>
        <p:spPr>
          <a:xfrm>
            <a:off x="380968" y="1357298"/>
            <a:ext cx="9072626" cy="285752"/>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b="1" dirty="0">
                <a:solidFill>
                  <a:schemeClr val="tx1"/>
                </a:solidFill>
                <a:latin typeface="+mj-lt"/>
              </a:rPr>
              <a:t>Mapa político gremial Argentina 2019</a:t>
            </a:r>
          </a:p>
        </p:txBody>
      </p:sp>
      <p:sp>
        <p:nvSpPr>
          <p:cNvPr id="11" name="Shape 52">
            <a:extLst>
              <a:ext uri="{FF2B5EF4-FFF2-40B4-BE49-F238E27FC236}">
                <a16:creationId xmlns:a16="http://schemas.microsoft.com/office/drawing/2014/main" id="{35E2E633-5ED6-46D0-8AFD-57869DA89291}"/>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Mapa Político Gremial</a:t>
            </a:r>
          </a:p>
        </p:txBody>
      </p:sp>
      <p:grpSp>
        <p:nvGrpSpPr>
          <p:cNvPr id="2" name="Grupo 1">
            <a:extLst>
              <a:ext uri="{FF2B5EF4-FFF2-40B4-BE49-F238E27FC236}">
                <a16:creationId xmlns:a16="http://schemas.microsoft.com/office/drawing/2014/main" id="{F78BF3AE-9CB1-447D-EC3B-0DE325AC8B89}"/>
              </a:ext>
            </a:extLst>
          </p:cNvPr>
          <p:cNvGrpSpPr/>
          <p:nvPr/>
        </p:nvGrpSpPr>
        <p:grpSpPr>
          <a:xfrm>
            <a:off x="128466" y="686503"/>
            <a:ext cx="438243" cy="438243"/>
            <a:chOff x="4733878" y="3209878"/>
            <a:chExt cx="438243" cy="438243"/>
          </a:xfrm>
        </p:grpSpPr>
        <p:sp>
          <p:nvSpPr>
            <p:cNvPr id="3" name="Elipse 2">
              <a:extLst>
                <a:ext uri="{FF2B5EF4-FFF2-40B4-BE49-F238E27FC236}">
                  <a16:creationId xmlns:a16="http://schemas.microsoft.com/office/drawing/2014/main" id="{DA95AC23-7D37-7B74-C920-2BEDBA5AEF34}"/>
                </a:ext>
              </a:extLst>
            </p:cNvPr>
            <p:cNvSpPr/>
            <p:nvPr/>
          </p:nvSpPr>
          <p:spPr>
            <a:xfrm>
              <a:off x="4733878" y="3209878"/>
              <a:ext cx="438243" cy="438243"/>
            </a:xfrm>
            <a:prstGeom prst="ellipse">
              <a:avLst/>
            </a:prstGeom>
            <a:solidFill>
              <a:srgbClr val="70AD47">
                <a:hueOff val="0"/>
                <a:satOff val="0"/>
                <a:lumOff val="0"/>
                <a:alphaOff val="0"/>
              </a:srgbClr>
            </a:solidFill>
            <a:ln>
              <a:noFill/>
            </a:ln>
            <a:effectLst/>
          </p:spPr>
        </p:sp>
        <p:sp>
          <p:nvSpPr>
            <p:cNvPr id="4" name="Rectángulo 3">
              <a:extLst>
                <a:ext uri="{FF2B5EF4-FFF2-40B4-BE49-F238E27FC236}">
                  <a16:creationId xmlns:a16="http://schemas.microsoft.com/office/drawing/2014/main" id="{2B2E2A73-3F11-9A68-29EE-91D48E057582}"/>
                </a:ext>
              </a:extLst>
            </p:cNvPr>
            <p:cNvSpPr/>
            <p:nvPr/>
          </p:nvSpPr>
          <p:spPr>
            <a:xfrm>
              <a:off x="4825909" y="3301909"/>
              <a:ext cx="254181" cy="254181"/>
            </a:xfrm>
            <a:prstGeom prst="rect">
              <a:avLst/>
            </a:prstGeom>
            <a:blipFill rotWithShape="1">
              <a:blip r:embed="rId31" cstate="print">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2779244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AutoShape 4" descr="https://assets.iprofesional.com/assets/jpg/2018/10/468288.jpg?1.2.14"/>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s-AR"/>
          </a:p>
        </p:txBody>
      </p:sp>
      <p:pic>
        <p:nvPicPr>
          <p:cNvPr id="51205" name="Picture 5"/>
          <p:cNvPicPr>
            <a:picLocks noChangeAspect="1" noChangeArrowheads="1"/>
          </p:cNvPicPr>
          <p:nvPr/>
        </p:nvPicPr>
        <p:blipFill>
          <a:blip r:embed="rId3"/>
          <a:srcRect l="22168" t="22461" r="21988" b="27734"/>
          <a:stretch>
            <a:fillRect/>
          </a:stretch>
        </p:blipFill>
        <p:spPr bwMode="auto">
          <a:xfrm>
            <a:off x="1136576" y="1627099"/>
            <a:ext cx="7215238" cy="4826239"/>
          </a:xfrm>
          <a:prstGeom prst="rect">
            <a:avLst/>
          </a:prstGeom>
          <a:ln>
            <a:noFill/>
          </a:ln>
          <a:effectLst>
            <a:outerShdw blurRad="292100" dist="139700" dir="2700000" algn="tl" rotWithShape="0">
              <a:srgbClr val="333333">
                <a:alpha val="65000"/>
              </a:srgbClr>
            </a:outerShdw>
          </a:effectLst>
        </p:spPr>
      </p:pic>
      <p:sp>
        <p:nvSpPr>
          <p:cNvPr id="9" name="8 CuadroTexto"/>
          <p:cNvSpPr txBox="1"/>
          <p:nvPr/>
        </p:nvSpPr>
        <p:spPr>
          <a:xfrm>
            <a:off x="168243" y="4007424"/>
            <a:ext cx="2857520" cy="160043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AR" sz="1400" b="1" dirty="0"/>
              <a:t>Argentina</a:t>
            </a:r>
            <a:r>
              <a:rPr lang="es-AR" sz="1400" dirty="0"/>
              <a:t> es el segundo país de Sudamérica con mayor tasa de sindicalización y se encuentra dentro de los primeros diez países de todo el mundo, según un informe elaborado por la Universidad Nacional de San Martín. </a:t>
            </a:r>
          </a:p>
        </p:txBody>
      </p:sp>
      <p:pic>
        <p:nvPicPr>
          <p:cNvPr id="3" name="Graphic 2" descr="Line arrow Clockwise curve">
            <a:extLst>
              <a:ext uri="{FF2B5EF4-FFF2-40B4-BE49-F238E27FC236}">
                <a16:creationId xmlns:a16="http://schemas.microsoft.com/office/drawing/2014/main" id="{8B799297-70F3-4A48-A4BD-2ED7200D7B4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283214" flipH="1">
            <a:off x="522182" y="3000058"/>
            <a:ext cx="1088382" cy="914400"/>
          </a:xfrm>
          <a:prstGeom prst="rect">
            <a:avLst/>
          </a:prstGeom>
        </p:spPr>
      </p:pic>
      <p:sp>
        <p:nvSpPr>
          <p:cNvPr id="8" name="Rounded Rectangle 7"/>
          <p:cNvSpPr/>
          <p:nvPr/>
        </p:nvSpPr>
        <p:spPr>
          <a:xfrm>
            <a:off x="380968" y="1357298"/>
            <a:ext cx="9072626" cy="285752"/>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b="1" dirty="0">
                <a:solidFill>
                  <a:schemeClr val="tx1"/>
                </a:solidFill>
                <a:latin typeface="+mj-lt"/>
              </a:rPr>
              <a:t>Sindicalización en Sudamérica</a:t>
            </a:r>
          </a:p>
        </p:txBody>
      </p:sp>
      <p:sp>
        <p:nvSpPr>
          <p:cNvPr id="10" name="Shape 52">
            <a:extLst>
              <a:ext uri="{FF2B5EF4-FFF2-40B4-BE49-F238E27FC236}">
                <a16:creationId xmlns:a16="http://schemas.microsoft.com/office/drawing/2014/main" id="{36872A04-CA90-407C-B6E7-EF17CE0580F8}"/>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Mapa Político Gremial</a:t>
            </a:r>
          </a:p>
        </p:txBody>
      </p:sp>
      <p:pic>
        <p:nvPicPr>
          <p:cNvPr id="11" name="Imagen 10">
            <a:extLst>
              <a:ext uri="{FF2B5EF4-FFF2-40B4-BE49-F238E27FC236}">
                <a16:creationId xmlns:a16="http://schemas.microsoft.com/office/drawing/2014/main" id="{7754EE2D-FED4-4521-B191-36FCB4B68229}"/>
              </a:ext>
            </a:extLst>
          </p:cNvPr>
          <p:cNvPicPr>
            <a:picLocks noChangeAspect="1"/>
          </p:cNvPicPr>
          <p:nvPr/>
        </p:nvPicPr>
        <p:blipFill>
          <a:blip r:embed="rId6"/>
          <a:stretch>
            <a:fillRect/>
          </a:stretch>
        </p:blipFill>
        <p:spPr>
          <a:xfrm>
            <a:off x="2874128" y="1836651"/>
            <a:ext cx="6428137" cy="4675009"/>
          </a:xfrm>
          <a:prstGeom prst="rect">
            <a:avLst/>
          </a:prstGeom>
        </p:spPr>
      </p:pic>
      <p:grpSp>
        <p:nvGrpSpPr>
          <p:cNvPr id="2" name="Grupo 1">
            <a:extLst>
              <a:ext uri="{FF2B5EF4-FFF2-40B4-BE49-F238E27FC236}">
                <a16:creationId xmlns:a16="http://schemas.microsoft.com/office/drawing/2014/main" id="{E7CA9DA8-432F-0B9A-7C77-ACEFBA97D640}"/>
              </a:ext>
            </a:extLst>
          </p:cNvPr>
          <p:cNvGrpSpPr/>
          <p:nvPr/>
        </p:nvGrpSpPr>
        <p:grpSpPr>
          <a:xfrm>
            <a:off x="128466" y="686503"/>
            <a:ext cx="438243" cy="438243"/>
            <a:chOff x="4733878" y="3209878"/>
            <a:chExt cx="438243" cy="438243"/>
          </a:xfrm>
        </p:grpSpPr>
        <p:sp>
          <p:nvSpPr>
            <p:cNvPr id="4" name="Elipse 3">
              <a:extLst>
                <a:ext uri="{FF2B5EF4-FFF2-40B4-BE49-F238E27FC236}">
                  <a16:creationId xmlns:a16="http://schemas.microsoft.com/office/drawing/2014/main" id="{1ED3DF56-2E61-2824-8449-855E145F1C2C}"/>
                </a:ext>
              </a:extLst>
            </p:cNvPr>
            <p:cNvSpPr/>
            <p:nvPr/>
          </p:nvSpPr>
          <p:spPr>
            <a:xfrm>
              <a:off x="4733878" y="3209878"/>
              <a:ext cx="438243" cy="438243"/>
            </a:xfrm>
            <a:prstGeom prst="ellipse">
              <a:avLst/>
            </a:prstGeom>
            <a:solidFill>
              <a:srgbClr val="70AD47">
                <a:hueOff val="0"/>
                <a:satOff val="0"/>
                <a:lumOff val="0"/>
                <a:alphaOff val="0"/>
              </a:srgbClr>
            </a:solidFill>
            <a:ln>
              <a:noFill/>
            </a:ln>
            <a:effectLst/>
          </p:spPr>
        </p:sp>
        <p:sp>
          <p:nvSpPr>
            <p:cNvPr id="5" name="Rectángulo 4">
              <a:extLst>
                <a:ext uri="{FF2B5EF4-FFF2-40B4-BE49-F238E27FC236}">
                  <a16:creationId xmlns:a16="http://schemas.microsoft.com/office/drawing/2014/main" id="{90C9722B-111F-C383-F244-9FA371558F27}"/>
                </a:ext>
              </a:extLst>
            </p:cNvPr>
            <p:cNvSpPr/>
            <p:nvPr/>
          </p:nvSpPr>
          <p:spPr>
            <a:xfrm>
              <a:off x="4825909" y="3301909"/>
              <a:ext cx="254181" cy="254181"/>
            </a:xfrm>
            <a:prstGeom prst="rect">
              <a:avLst/>
            </a:prstGeom>
            <a:blipFill rotWithShape="1">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p:spPr>
        </p:sp>
      </p:grpSp>
    </p:spTree>
    <p:extLst>
      <p:ext uri="{BB962C8B-B14F-4D97-AF65-F5344CB8AC3E}">
        <p14:creationId xmlns:p14="http://schemas.microsoft.com/office/powerpoint/2010/main" val="149929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lbum del Mundial 2022 Panini ¿Cómo y dónde Comprarlo?">
            <a:extLst>
              <a:ext uri="{FF2B5EF4-FFF2-40B4-BE49-F238E27FC236}">
                <a16:creationId xmlns:a16="http://schemas.microsoft.com/office/drawing/2014/main" id="{3E432A8D-9400-AB15-620D-89104C3BA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592" y="-51040"/>
            <a:ext cx="11161240" cy="693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0011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FEA242A-595B-4AB7-B066-E70148911BEE}"/>
              </a:ext>
            </a:extLst>
          </p:cNvPr>
          <p:cNvPicPr>
            <a:picLocks noChangeAspect="1"/>
          </p:cNvPicPr>
          <p:nvPr/>
        </p:nvPicPr>
        <p:blipFill rotWithShape="1">
          <a:blip r:embed="rId2"/>
          <a:srcRect b="19062"/>
          <a:stretch/>
        </p:blipFill>
        <p:spPr>
          <a:xfrm>
            <a:off x="285452" y="1035934"/>
            <a:ext cx="6570600" cy="1961018"/>
          </a:xfrm>
          <a:prstGeom prst="rect">
            <a:avLst/>
          </a:prstGeom>
        </p:spPr>
      </p:pic>
      <p:pic>
        <p:nvPicPr>
          <p:cNvPr id="5" name="Imagen 4">
            <a:extLst>
              <a:ext uri="{FF2B5EF4-FFF2-40B4-BE49-F238E27FC236}">
                <a16:creationId xmlns:a16="http://schemas.microsoft.com/office/drawing/2014/main" id="{6D8CEAE7-46D8-4682-BC68-62C6800B3065}"/>
              </a:ext>
            </a:extLst>
          </p:cNvPr>
          <p:cNvPicPr>
            <a:picLocks noChangeAspect="1"/>
          </p:cNvPicPr>
          <p:nvPr/>
        </p:nvPicPr>
        <p:blipFill rotWithShape="1">
          <a:blip r:embed="rId3"/>
          <a:srcRect r="67123" b="17369"/>
          <a:stretch/>
        </p:blipFill>
        <p:spPr>
          <a:xfrm>
            <a:off x="7014424" y="1035934"/>
            <a:ext cx="2160240" cy="1961018"/>
          </a:xfrm>
          <a:prstGeom prst="rect">
            <a:avLst/>
          </a:prstGeom>
        </p:spPr>
      </p:pic>
      <p:pic>
        <p:nvPicPr>
          <p:cNvPr id="7" name="Imagen 6">
            <a:extLst>
              <a:ext uri="{FF2B5EF4-FFF2-40B4-BE49-F238E27FC236}">
                <a16:creationId xmlns:a16="http://schemas.microsoft.com/office/drawing/2014/main" id="{B79AAD66-B34C-45A2-80D2-A4260D570411}"/>
              </a:ext>
            </a:extLst>
          </p:cNvPr>
          <p:cNvPicPr>
            <a:picLocks noChangeAspect="1"/>
          </p:cNvPicPr>
          <p:nvPr/>
        </p:nvPicPr>
        <p:blipFill rotWithShape="1">
          <a:blip r:embed="rId4"/>
          <a:srcRect b="19294"/>
          <a:stretch/>
        </p:blipFill>
        <p:spPr>
          <a:xfrm>
            <a:off x="326876" y="5007906"/>
            <a:ext cx="6570600" cy="1805470"/>
          </a:xfrm>
          <a:prstGeom prst="rect">
            <a:avLst/>
          </a:prstGeom>
        </p:spPr>
      </p:pic>
      <p:pic>
        <p:nvPicPr>
          <p:cNvPr id="9" name="Imagen 8">
            <a:extLst>
              <a:ext uri="{FF2B5EF4-FFF2-40B4-BE49-F238E27FC236}">
                <a16:creationId xmlns:a16="http://schemas.microsoft.com/office/drawing/2014/main" id="{CE0B9E84-BEA2-4FC2-ACD8-A733E342841E}"/>
              </a:ext>
            </a:extLst>
          </p:cNvPr>
          <p:cNvPicPr>
            <a:picLocks noChangeAspect="1"/>
          </p:cNvPicPr>
          <p:nvPr/>
        </p:nvPicPr>
        <p:blipFill rotWithShape="1">
          <a:blip r:embed="rId5"/>
          <a:srcRect b="15321"/>
          <a:stretch/>
        </p:blipFill>
        <p:spPr>
          <a:xfrm>
            <a:off x="286116" y="3032219"/>
            <a:ext cx="6570600" cy="1961018"/>
          </a:xfrm>
          <a:prstGeom prst="rect">
            <a:avLst/>
          </a:prstGeom>
        </p:spPr>
      </p:pic>
      <p:pic>
        <p:nvPicPr>
          <p:cNvPr id="10" name="Imagen 9">
            <a:extLst>
              <a:ext uri="{FF2B5EF4-FFF2-40B4-BE49-F238E27FC236}">
                <a16:creationId xmlns:a16="http://schemas.microsoft.com/office/drawing/2014/main" id="{04C34E3A-5763-48F9-BFBD-7DCE204CEA3E}"/>
              </a:ext>
            </a:extLst>
          </p:cNvPr>
          <p:cNvPicPr>
            <a:picLocks noChangeAspect="1"/>
          </p:cNvPicPr>
          <p:nvPr/>
        </p:nvPicPr>
        <p:blipFill rotWithShape="1">
          <a:blip r:embed="rId3"/>
          <a:srcRect l="33149" r="33149" b="15689"/>
          <a:stretch/>
        </p:blipFill>
        <p:spPr>
          <a:xfrm>
            <a:off x="6987356" y="3012283"/>
            <a:ext cx="2214376" cy="2000895"/>
          </a:xfrm>
          <a:prstGeom prst="rect">
            <a:avLst/>
          </a:prstGeom>
        </p:spPr>
      </p:pic>
      <p:pic>
        <p:nvPicPr>
          <p:cNvPr id="11" name="Imagen 10">
            <a:extLst>
              <a:ext uri="{FF2B5EF4-FFF2-40B4-BE49-F238E27FC236}">
                <a16:creationId xmlns:a16="http://schemas.microsoft.com/office/drawing/2014/main" id="{D0419DF8-48C8-4032-9138-E51B7BE1C9C8}"/>
              </a:ext>
            </a:extLst>
          </p:cNvPr>
          <p:cNvPicPr>
            <a:picLocks noChangeAspect="1"/>
          </p:cNvPicPr>
          <p:nvPr/>
        </p:nvPicPr>
        <p:blipFill rotWithShape="1">
          <a:blip r:embed="rId3"/>
          <a:srcRect l="66850" b="18580"/>
          <a:stretch/>
        </p:blipFill>
        <p:spPr>
          <a:xfrm>
            <a:off x="7095368" y="4953111"/>
            <a:ext cx="2178112" cy="1932275"/>
          </a:xfrm>
          <a:prstGeom prst="rect">
            <a:avLst/>
          </a:prstGeom>
        </p:spPr>
      </p:pic>
      <p:sp>
        <p:nvSpPr>
          <p:cNvPr id="12" name="CuadroTexto 11">
            <a:extLst>
              <a:ext uri="{FF2B5EF4-FFF2-40B4-BE49-F238E27FC236}">
                <a16:creationId xmlns:a16="http://schemas.microsoft.com/office/drawing/2014/main" id="{E99D7499-320E-48E9-8631-0C869C832779}"/>
              </a:ext>
            </a:extLst>
          </p:cNvPr>
          <p:cNvSpPr txBox="1"/>
          <p:nvPr/>
        </p:nvSpPr>
        <p:spPr>
          <a:xfrm rot="18945320">
            <a:off x="-193443" y="1387767"/>
            <a:ext cx="1604863" cy="307777"/>
          </a:xfrm>
          <a:prstGeom prst="rect">
            <a:avLst/>
          </a:prstGeom>
          <a:noFill/>
        </p:spPr>
        <p:txBody>
          <a:bodyPr wrap="none" rtlCol="0">
            <a:spAutoFit/>
          </a:bodyPr>
          <a:lstStyle/>
          <a:p>
            <a:r>
              <a:rPr lang="es-AR" sz="1400" b="1" dirty="0">
                <a:solidFill>
                  <a:srgbClr val="0070C0"/>
                </a:solidFill>
                <a:highlight>
                  <a:srgbClr val="FFFF00"/>
                </a:highlight>
              </a:rPr>
              <a:t>29 años en el cargo</a:t>
            </a:r>
          </a:p>
        </p:txBody>
      </p:sp>
      <p:sp>
        <p:nvSpPr>
          <p:cNvPr id="14" name="CuadroTexto 13">
            <a:extLst>
              <a:ext uri="{FF2B5EF4-FFF2-40B4-BE49-F238E27FC236}">
                <a16:creationId xmlns:a16="http://schemas.microsoft.com/office/drawing/2014/main" id="{49EC7B59-CA48-4F15-AD3B-F33578BAE98A}"/>
              </a:ext>
            </a:extLst>
          </p:cNvPr>
          <p:cNvSpPr txBox="1"/>
          <p:nvPr/>
        </p:nvSpPr>
        <p:spPr>
          <a:xfrm rot="19523418">
            <a:off x="2061907" y="1270577"/>
            <a:ext cx="1604863" cy="307777"/>
          </a:xfrm>
          <a:prstGeom prst="rect">
            <a:avLst/>
          </a:prstGeom>
          <a:noFill/>
        </p:spPr>
        <p:txBody>
          <a:bodyPr wrap="none" rtlCol="0">
            <a:spAutoFit/>
          </a:bodyPr>
          <a:lstStyle/>
          <a:p>
            <a:r>
              <a:rPr lang="es-AR" sz="1400" b="1" dirty="0">
                <a:solidFill>
                  <a:srgbClr val="0070C0"/>
                </a:solidFill>
                <a:highlight>
                  <a:srgbClr val="FFFF00"/>
                </a:highlight>
              </a:rPr>
              <a:t>30 años en el cargo</a:t>
            </a:r>
          </a:p>
        </p:txBody>
      </p:sp>
      <p:sp>
        <p:nvSpPr>
          <p:cNvPr id="15" name="CuadroTexto 14">
            <a:extLst>
              <a:ext uri="{FF2B5EF4-FFF2-40B4-BE49-F238E27FC236}">
                <a16:creationId xmlns:a16="http://schemas.microsoft.com/office/drawing/2014/main" id="{85E863AA-6EB4-4ABC-BEEF-E1A0C04B8890}"/>
              </a:ext>
            </a:extLst>
          </p:cNvPr>
          <p:cNvSpPr txBox="1"/>
          <p:nvPr/>
        </p:nvSpPr>
        <p:spPr>
          <a:xfrm rot="19690383">
            <a:off x="4469183" y="1126461"/>
            <a:ext cx="1604863" cy="307777"/>
          </a:xfrm>
          <a:prstGeom prst="rect">
            <a:avLst/>
          </a:prstGeom>
          <a:noFill/>
        </p:spPr>
        <p:txBody>
          <a:bodyPr wrap="none" rtlCol="0">
            <a:spAutoFit/>
          </a:bodyPr>
          <a:lstStyle/>
          <a:p>
            <a:r>
              <a:rPr lang="es-AR" sz="1400" b="1" dirty="0">
                <a:solidFill>
                  <a:srgbClr val="0070C0"/>
                </a:solidFill>
                <a:highlight>
                  <a:srgbClr val="FFFF00"/>
                </a:highlight>
              </a:rPr>
              <a:t>12 años en el cargo</a:t>
            </a:r>
          </a:p>
        </p:txBody>
      </p:sp>
      <p:sp>
        <p:nvSpPr>
          <p:cNvPr id="16" name="CuadroTexto 15">
            <a:extLst>
              <a:ext uri="{FF2B5EF4-FFF2-40B4-BE49-F238E27FC236}">
                <a16:creationId xmlns:a16="http://schemas.microsoft.com/office/drawing/2014/main" id="{CF51C5C5-F83F-41FF-81D2-319CEB228347}"/>
              </a:ext>
            </a:extLst>
          </p:cNvPr>
          <p:cNvSpPr txBox="1"/>
          <p:nvPr/>
        </p:nvSpPr>
        <p:spPr>
          <a:xfrm rot="19606846">
            <a:off x="6578375" y="1204912"/>
            <a:ext cx="1604863" cy="307777"/>
          </a:xfrm>
          <a:prstGeom prst="rect">
            <a:avLst/>
          </a:prstGeom>
          <a:noFill/>
        </p:spPr>
        <p:txBody>
          <a:bodyPr wrap="none" rtlCol="0">
            <a:spAutoFit/>
          </a:bodyPr>
          <a:lstStyle/>
          <a:p>
            <a:r>
              <a:rPr lang="es-AR" sz="1400" b="1" dirty="0">
                <a:solidFill>
                  <a:srgbClr val="0070C0"/>
                </a:solidFill>
                <a:highlight>
                  <a:srgbClr val="FFFF00"/>
                </a:highlight>
              </a:rPr>
              <a:t>25 años en el cargo</a:t>
            </a:r>
          </a:p>
        </p:txBody>
      </p:sp>
      <p:sp>
        <p:nvSpPr>
          <p:cNvPr id="17" name="CuadroTexto 16">
            <a:extLst>
              <a:ext uri="{FF2B5EF4-FFF2-40B4-BE49-F238E27FC236}">
                <a16:creationId xmlns:a16="http://schemas.microsoft.com/office/drawing/2014/main" id="{133F41C5-4310-4659-842A-D4DDA91A3D6E}"/>
              </a:ext>
            </a:extLst>
          </p:cNvPr>
          <p:cNvSpPr txBox="1"/>
          <p:nvPr/>
        </p:nvSpPr>
        <p:spPr>
          <a:xfrm rot="19861087">
            <a:off x="-25921" y="3181424"/>
            <a:ext cx="1604863" cy="307777"/>
          </a:xfrm>
          <a:prstGeom prst="rect">
            <a:avLst/>
          </a:prstGeom>
          <a:noFill/>
        </p:spPr>
        <p:txBody>
          <a:bodyPr wrap="none" rtlCol="0">
            <a:spAutoFit/>
          </a:bodyPr>
          <a:lstStyle/>
          <a:p>
            <a:r>
              <a:rPr lang="es-AR" sz="1400" b="1" dirty="0">
                <a:solidFill>
                  <a:srgbClr val="0070C0"/>
                </a:solidFill>
                <a:highlight>
                  <a:srgbClr val="FFFF00"/>
                </a:highlight>
              </a:rPr>
              <a:t>23 años en el cargo</a:t>
            </a:r>
          </a:p>
        </p:txBody>
      </p:sp>
      <p:sp>
        <p:nvSpPr>
          <p:cNvPr id="18" name="CuadroTexto 17">
            <a:extLst>
              <a:ext uri="{FF2B5EF4-FFF2-40B4-BE49-F238E27FC236}">
                <a16:creationId xmlns:a16="http://schemas.microsoft.com/office/drawing/2014/main" id="{5C9C8D93-D736-4432-9953-69085D5D0DE5}"/>
              </a:ext>
            </a:extLst>
          </p:cNvPr>
          <p:cNvSpPr txBox="1"/>
          <p:nvPr/>
        </p:nvSpPr>
        <p:spPr>
          <a:xfrm rot="19454257">
            <a:off x="2133837" y="3323030"/>
            <a:ext cx="1604863" cy="307777"/>
          </a:xfrm>
          <a:prstGeom prst="rect">
            <a:avLst/>
          </a:prstGeom>
          <a:noFill/>
        </p:spPr>
        <p:txBody>
          <a:bodyPr wrap="none" rtlCol="0">
            <a:spAutoFit/>
          </a:bodyPr>
          <a:lstStyle/>
          <a:p>
            <a:r>
              <a:rPr lang="es-AR" sz="1400" b="1" dirty="0">
                <a:solidFill>
                  <a:srgbClr val="0070C0"/>
                </a:solidFill>
                <a:highlight>
                  <a:srgbClr val="FFFF00"/>
                </a:highlight>
              </a:rPr>
              <a:t>11 años en el cargo</a:t>
            </a:r>
          </a:p>
        </p:txBody>
      </p:sp>
      <p:sp>
        <p:nvSpPr>
          <p:cNvPr id="19" name="CuadroTexto 18">
            <a:extLst>
              <a:ext uri="{FF2B5EF4-FFF2-40B4-BE49-F238E27FC236}">
                <a16:creationId xmlns:a16="http://schemas.microsoft.com/office/drawing/2014/main" id="{0EDDB871-78A3-411E-BF1A-87137D55529E}"/>
              </a:ext>
            </a:extLst>
          </p:cNvPr>
          <p:cNvSpPr txBox="1"/>
          <p:nvPr/>
        </p:nvSpPr>
        <p:spPr>
          <a:xfrm rot="19754862">
            <a:off x="4523134" y="3248390"/>
            <a:ext cx="1513491" cy="307777"/>
          </a:xfrm>
          <a:prstGeom prst="rect">
            <a:avLst/>
          </a:prstGeom>
          <a:noFill/>
        </p:spPr>
        <p:txBody>
          <a:bodyPr wrap="none" rtlCol="0">
            <a:spAutoFit/>
          </a:bodyPr>
          <a:lstStyle/>
          <a:p>
            <a:r>
              <a:rPr lang="es-AR" sz="1400" b="1" dirty="0">
                <a:solidFill>
                  <a:srgbClr val="0070C0"/>
                </a:solidFill>
                <a:highlight>
                  <a:srgbClr val="FFFF00"/>
                </a:highlight>
              </a:rPr>
              <a:t>9 años en el cargo</a:t>
            </a:r>
          </a:p>
        </p:txBody>
      </p:sp>
      <p:sp>
        <p:nvSpPr>
          <p:cNvPr id="20" name="CuadroTexto 19">
            <a:extLst>
              <a:ext uri="{FF2B5EF4-FFF2-40B4-BE49-F238E27FC236}">
                <a16:creationId xmlns:a16="http://schemas.microsoft.com/office/drawing/2014/main" id="{BBA7BE10-24F5-4783-B063-9C9FA96293F3}"/>
              </a:ext>
            </a:extLst>
          </p:cNvPr>
          <p:cNvSpPr txBox="1"/>
          <p:nvPr/>
        </p:nvSpPr>
        <p:spPr>
          <a:xfrm rot="19139952">
            <a:off x="6578375" y="3358727"/>
            <a:ext cx="1604863" cy="307777"/>
          </a:xfrm>
          <a:prstGeom prst="rect">
            <a:avLst/>
          </a:prstGeom>
          <a:noFill/>
        </p:spPr>
        <p:txBody>
          <a:bodyPr wrap="none" rtlCol="0">
            <a:spAutoFit/>
          </a:bodyPr>
          <a:lstStyle/>
          <a:p>
            <a:r>
              <a:rPr lang="es-AR" sz="1400" b="1" dirty="0">
                <a:solidFill>
                  <a:srgbClr val="0070C0"/>
                </a:solidFill>
                <a:highlight>
                  <a:srgbClr val="FFFF00"/>
                </a:highlight>
              </a:rPr>
              <a:t>26 años en el cargo</a:t>
            </a:r>
          </a:p>
        </p:txBody>
      </p:sp>
      <p:sp>
        <p:nvSpPr>
          <p:cNvPr id="21" name="CuadroTexto 20">
            <a:extLst>
              <a:ext uri="{FF2B5EF4-FFF2-40B4-BE49-F238E27FC236}">
                <a16:creationId xmlns:a16="http://schemas.microsoft.com/office/drawing/2014/main" id="{F18A427B-A84C-4022-A2CC-EF856A4916BD}"/>
              </a:ext>
            </a:extLst>
          </p:cNvPr>
          <p:cNvSpPr txBox="1"/>
          <p:nvPr/>
        </p:nvSpPr>
        <p:spPr>
          <a:xfrm rot="20139360">
            <a:off x="-81131" y="5101534"/>
            <a:ext cx="1604863" cy="307777"/>
          </a:xfrm>
          <a:prstGeom prst="rect">
            <a:avLst/>
          </a:prstGeom>
          <a:noFill/>
        </p:spPr>
        <p:txBody>
          <a:bodyPr wrap="none" rtlCol="0">
            <a:spAutoFit/>
          </a:bodyPr>
          <a:lstStyle/>
          <a:p>
            <a:r>
              <a:rPr lang="es-AR" sz="1400" b="1" dirty="0">
                <a:solidFill>
                  <a:srgbClr val="0070C0"/>
                </a:solidFill>
                <a:highlight>
                  <a:srgbClr val="FFFF00"/>
                </a:highlight>
              </a:rPr>
              <a:t>34 años en el cargo</a:t>
            </a:r>
          </a:p>
        </p:txBody>
      </p:sp>
      <p:sp>
        <p:nvSpPr>
          <p:cNvPr id="22" name="CuadroTexto 21">
            <a:extLst>
              <a:ext uri="{FF2B5EF4-FFF2-40B4-BE49-F238E27FC236}">
                <a16:creationId xmlns:a16="http://schemas.microsoft.com/office/drawing/2014/main" id="{9228AA58-6EC3-4939-A5EA-223222FC6D9B}"/>
              </a:ext>
            </a:extLst>
          </p:cNvPr>
          <p:cNvSpPr txBox="1"/>
          <p:nvPr/>
        </p:nvSpPr>
        <p:spPr>
          <a:xfrm rot="19617134">
            <a:off x="2370829" y="5190166"/>
            <a:ext cx="1604863" cy="307777"/>
          </a:xfrm>
          <a:prstGeom prst="rect">
            <a:avLst/>
          </a:prstGeom>
          <a:noFill/>
        </p:spPr>
        <p:txBody>
          <a:bodyPr wrap="none" rtlCol="0">
            <a:spAutoFit/>
          </a:bodyPr>
          <a:lstStyle/>
          <a:p>
            <a:r>
              <a:rPr lang="es-AR" sz="1400" b="1" dirty="0">
                <a:solidFill>
                  <a:srgbClr val="0070C0"/>
                </a:solidFill>
                <a:highlight>
                  <a:srgbClr val="FFFF00"/>
                </a:highlight>
              </a:rPr>
              <a:t>16 años en el cargo</a:t>
            </a:r>
          </a:p>
        </p:txBody>
      </p:sp>
      <p:sp>
        <p:nvSpPr>
          <p:cNvPr id="23" name="CuadroTexto 22">
            <a:extLst>
              <a:ext uri="{FF2B5EF4-FFF2-40B4-BE49-F238E27FC236}">
                <a16:creationId xmlns:a16="http://schemas.microsoft.com/office/drawing/2014/main" id="{691F953D-4C24-4645-84BC-04AE81CE86C2}"/>
              </a:ext>
            </a:extLst>
          </p:cNvPr>
          <p:cNvSpPr txBox="1"/>
          <p:nvPr/>
        </p:nvSpPr>
        <p:spPr>
          <a:xfrm rot="19686552">
            <a:off x="4549980" y="5210774"/>
            <a:ext cx="1604863" cy="307777"/>
          </a:xfrm>
          <a:prstGeom prst="rect">
            <a:avLst/>
          </a:prstGeom>
          <a:noFill/>
        </p:spPr>
        <p:txBody>
          <a:bodyPr wrap="none" rtlCol="0">
            <a:spAutoFit/>
          </a:bodyPr>
          <a:lstStyle/>
          <a:p>
            <a:r>
              <a:rPr lang="es-AR" sz="1400" b="1" dirty="0">
                <a:solidFill>
                  <a:srgbClr val="0070C0"/>
                </a:solidFill>
                <a:highlight>
                  <a:srgbClr val="FFFF00"/>
                </a:highlight>
              </a:rPr>
              <a:t>10 años en el cargo</a:t>
            </a:r>
          </a:p>
        </p:txBody>
      </p:sp>
      <p:sp>
        <p:nvSpPr>
          <p:cNvPr id="24" name="CuadroTexto 23">
            <a:extLst>
              <a:ext uri="{FF2B5EF4-FFF2-40B4-BE49-F238E27FC236}">
                <a16:creationId xmlns:a16="http://schemas.microsoft.com/office/drawing/2014/main" id="{F5579CF0-1DE9-4BCA-B393-9541E043D698}"/>
              </a:ext>
            </a:extLst>
          </p:cNvPr>
          <p:cNvSpPr txBox="1"/>
          <p:nvPr/>
        </p:nvSpPr>
        <p:spPr>
          <a:xfrm rot="19716778">
            <a:off x="6636007" y="5141124"/>
            <a:ext cx="1604863" cy="307777"/>
          </a:xfrm>
          <a:prstGeom prst="rect">
            <a:avLst/>
          </a:prstGeom>
          <a:noFill/>
        </p:spPr>
        <p:txBody>
          <a:bodyPr wrap="none" rtlCol="0">
            <a:spAutoFit/>
          </a:bodyPr>
          <a:lstStyle/>
          <a:p>
            <a:r>
              <a:rPr lang="es-AR" sz="1400" b="1" dirty="0">
                <a:solidFill>
                  <a:srgbClr val="0070C0"/>
                </a:solidFill>
                <a:highlight>
                  <a:srgbClr val="FFFF00"/>
                </a:highlight>
              </a:rPr>
              <a:t>31 años en el cargo</a:t>
            </a:r>
          </a:p>
        </p:txBody>
      </p:sp>
      <p:sp>
        <p:nvSpPr>
          <p:cNvPr id="25" name="Shape 52">
            <a:extLst>
              <a:ext uri="{FF2B5EF4-FFF2-40B4-BE49-F238E27FC236}">
                <a16:creationId xmlns:a16="http://schemas.microsoft.com/office/drawing/2014/main" id="{9DD3906B-B858-4BEE-9A2C-376BFE1F1E82}"/>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Mapa Político Gremial</a:t>
            </a:r>
          </a:p>
        </p:txBody>
      </p:sp>
      <p:pic>
        <p:nvPicPr>
          <p:cNvPr id="6" name="Imagen 5">
            <a:extLst>
              <a:ext uri="{FF2B5EF4-FFF2-40B4-BE49-F238E27FC236}">
                <a16:creationId xmlns:a16="http://schemas.microsoft.com/office/drawing/2014/main" id="{8A975A7F-8F00-2910-6935-366D9A6BB24D}"/>
              </a:ext>
            </a:extLst>
          </p:cNvPr>
          <p:cNvPicPr>
            <a:picLocks noChangeAspect="1"/>
          </p:cNvPicPr>
          <p:nvPr/>
        </p:nvPicPr>
        <p:blipFill>
          <a:blip r:embed="rId6"/>
          <a:stretch>
            <a:fillRect/>
          </a:stretch>
        </p:blipFill>
        <p:spPr>
          <a:xfrm>
            <a:off x="1551052" y="332656"/>
            <a:ext cx="7230569" cy="627493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69727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Effect transition="in" filter="fade">
                                      <p:cBhvr>
                                        <p:cTn id="24" dur="500"/>
                                        <p:tgtEl>
                                          <p:spTgt spid="1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500" fill="hold"/>
                                        <p:tgtEl>
                                          <p:spTgt spid="21"/>
                                        </p:tgtEl>
                                        <p:attrNameLst>
                                          <p:attrName>ppt_w</p:attrName>
                                        </p:attrNameLst>
                                      </p:cBhvr>
                                      <p:tavLst>
                                        <p:tav tm="0">
                                          <p:val>
                                            <p:fltVal val="0"/>
                                          </p:val>
                                        </p:tav>
                                        <p:tav tm="100000">
                                          <p:val>
                                            <p:strVal val="#ppt_w"/>
                                          </p:val>
                                        </p:tav>
                                      </p:tavLst>
                                    </p:anim>
                                    <p:anim calcmode="lin" valueType="num">
                                      <p:cBhvr>
                                        <p:cTn id="38" dur="500" fill="hold"/>
                                        <p:tgtEl>
                                          <p:spTgt spid="21"/>
                                        </p:tgtEl>
                                        <p:attrNameLst>
                                          <p:attrName>ppt_h</p:attrName>
                                        </p:attrNameLst>
                                      </p:cBhvr>
                                      <p:tavLst>
                                        <p:tav tm="0">
                                          <p:val>
                                            <p:fltVal val="0"/>
                                          </p:val>
                                        </p:tav>
                                        <p:tav tm="100000">
                                          <p:val>
                                            <p:strVal val="#ppt_h"/>
                                          </p:val>
                                        </p:tav>
                                      </p:tavLst>
                                    </p:anim>
                                    <p:animEffect transition="in" filter="fade">
                                      <p:cBhvr>
                                        <p:cTn id="39" dur="500"/>
                                        <p:tgtEl>
                                          <p:spTgt spid="2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p:cTn id="42" dur="500" fill="hold"/>
                                        <p:tgtEl>
                                          <p:spTgt spid="22"/>
                                        </p:tgtEl>
                                        <p:attrNameLst>
                                          <p:attrName>ppt_w</p:attrName>
                                        </p:attrNameLst>
                                      </p:cBhvr>
                                      <p:tavLst>
                                        <p:tav tm="0">
                                          <p:val>
                                            <p:fltVal val="0"/>
                                          </p:val>
                                        </p:tav>
                                        <p:tav tm="100000">
                                          <p:val>
                                            <p:strVal val="#ppt_w"/>
                                          </p:val>
                                        </p:tav>
                                      </p:tavLst>
                                    </p:anim>
                                    <p:anim calcmode="lin" valueType="num">
                                      <p:cBhvr>
                                        <p:cTn id="43" dur="500" fill="hold"/>
                                        <p:tgtEl>
                                          <p:spTgt spid="22"/>
                                        </p:tgtEl>
                                        <p:attrNameLst>
                                          <p:attrName>ppt_h</p:attrName>
                                        </p:attrNameLst>
                                      </p:cBhvr>
                                      <p:tavLst>
                                        <p:tav tm="0">
                                          <p:val>
                                            <p:fltVal val="0"/>
                                          </p:val>
                                        </p:tav>
                                        <p:tav tm="100000">
                                          <p:val>
                                            <p:strVal val="#ppt_h"/>
                                          </p:val>
                                        </p:tav>
                                      </p:tavLst>
                                    </p:anim>
                                    <p:animEffect transition="in" filter="fade">
                                      <p:cBhvr>
                                        <p:cTn id="44" dur="500"/>
                                        <p:tgtEl>
                                          <p:spTgt spid="2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p:cTn id="52" dur="500" fill="hold"/>
                                        <p:tgtEl>
                                          <p:spTgt spid="24"/>
                                        </p:tgtEl>
                                        <p:attrNameLst>
                                          <p:attrName>ppt_w</p:attrName>
                                        </p:attrNameLst>
                                      </p:cBhvr>
                                      <p:tavLst>
                                        <p:tav tm="0">
                                          <p:val>
                                            <p:fltVal val="0"/>
                                          </p:val>
                                        </p:tav>
                                        <p:tav tm="100000">
                                          <p:val>
                                            <p:strVal val="#ppt_w"/>
                                          </p:val>
                                        </p:tav>
                                      </p:tavLst>
                                    </p:anim>
                                    <p:anim calcmode="lin" valueType="num">
                                      <p:cBhvr>
                                        <p:cTn id="53" dur="500" fill="hold"/>
                                        <p:tgtEl>
                                          <p:spTgt spid="24"/>
                                        </p:tgtEl>
                                        <p:attrNameLst>
                                          <p:attrName>ppt_h</p:attrName>
                                        </p:attrNameLst>
                                      </p:cBhvr>
                                      <p:tavLst>
                                        <p:tav tm="0">
                                          <p:val>
                                            <p:fltVal val="0"/>
                                          </p:val>
                                        </p:tav>
                                        <p:tav tm="100000">
                                          <p:val>
                                            <p:strVal val="#ppt_h"/>
                                          </p:val>
                                        </p:tav>
                                      </p:tavLst>
                                    </p:anim>
                                    <p:animEffect transition="in" filter="fade">
                                      <p:cBhvr>
                                        <p:cTn id="54" dur="500"/>
                                        <p:tgtEl>
                                          <p:spTgt spid="2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fltVal val="0"/>
                                          </p:val>
                                        </p:tav>
                                        <p:tav tm="100000">
                                          <p:val>
                                            <p:strVal val="#ppt_h"/>
                                          </p:val>
                                        </p:tav>
                                      </p:tavLst>
                                    </p:anim>
                                    <p:animEffect transition="in" filter="fade">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fade">
                                      <p:cBhvr>
                                        <p:cTn id="69" dur="1000"/>
                                        <p:tgtEl>
                                          <p:spTgt spid="6"/>
                                        </p:tgtEl>
                                      </p:cBhvr>
                                    </p:animEffect>
                                    <p:anim calcmode="lin" valueType="num">
                                      <p:cBhvr>
                                        <p:cTn id="70" dur="1000" fill="hold"/>
                                        <p:tgtEl>
                                          <p:spTgt spid="6"/>
                                        </p:tgtEl>
                                        <p:attrNameLst>
                                          <p:attrName>ppt_x</p:attrName>
                                        </p:attrNameLst>
                                      </p:cBhvr>
                                      <p:tavLst>
                                        <p:tav tm="0">
                                          <p:val>
                                            <p:strVal val="#ppt_x"/>
                                          </p:val>
                                        </p:tav>
                                        <p:tav tm="100000">
                                          <p:val>
                                            <p:strVal val="#ppt_x"/>
                                          </p:val>
                                        </p:tav>
                                      </p:tavLst>
                                    </p:anim>
                                    <p:anim calcmode="lin" valueType="num">
                                      <p:cBhvr>
                                        <p:cTn id="7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7" grpId="0"/>
      <p:bldP spid="18" grpId="0"/>
      <p:bldP spid="19" grpId="0"/>
      <p:bldP spid="20" grpId="0"/>
      <p:bldP spid="21" grpId="0"/>
      <p:bldP spid="22" grpId="0"/>
      <p:bldP spid="23"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56865" y="-381511"/>
            <a:ext cx="4592270" cy="9906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n 3">
            <a:extLst>
              <a:ext uri="{FF2B5EF4-FFF2-40B4-BE49-F238E27FC236}">
                <a16:creationId xmlns:a16="http://schemas.microsoft.com/office/drawing/2014/main" id="{5F7DE9BF-3246-2350-EC6A-4D7EF5424D86}"/>
              </a:ext>
            </a:extLst>
          </p:cNvPr>
          <p:cNvPicPr>
            <a:picLocks noChangeAspect="1"/>
          </p:cNvPicPr>
          <p:nvPr/>
        </p:nvPicPr>
        <p:blipFill rotWithShape="1">
          <a:blip r:embed="rId3">
            <a:extLst>
              <a:ext uri="{28A0092B-C50C-407E-A947-70E740481C1C}">
                <a14:useLocalDpi xmlns:a14="http://schemas.microsoft.com/office/drawing/2010/main" val="0"/>
              </a:ext>
            </a:extLst>
          </a:blip>
          <a:srcRect t="9750" r="2" b="2"/>
          <a:stretch/>
        </p:blipFill>
        <p:spPr>
          <a:xfrm>
            <a:off x="-336215" y="-11430"/>
            <a:ext cx="12205997" cy="6696000"/>
          </a:xfrm>
          <a:prstGeom prst="rect">
            <a:avLst/>
          </a:prstGeom>
          <a:ln>
            <a:noFill/>
          </a:ln>
          <a:effectLst/>
        </p:spPr>
      </p:pic>
      <p:sp>
        <p:nvSpPr>
          <p:cNvPr id="12" name="Rectangle: Rounded Corners 11">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5575039"/>
            <a:ext cx="7951041"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141B9EA2-3E0B-0E93-E427-7F37F8B7B13E}"/>
              </a:ext>
            </a:extLst>
          </p:cNvPr>
          <p:cNvSpPr/>
          <p:nvPr/>
        </p:nvSpPr>
        <p:spPr>
          <a:xfrm>
            <a:off x="128466" y="5410920"/>
            <a:ext cx="7376331" cy="970408"/>
          </a:xfrm>
          <a:prstGeom prst="rect">
            <a:avLst/>
          </a:prstGeom>
          <a:noFill/>
          <a:ln>
            <a:noFill/>
          </a:ln>
        </p:spPr>
        <p:style>
          <a:lnRef idx="3">
            <a:schemeClr val="lt1"/>
          </a:lnRef>
          <a:fillRef idx="1">
            <a:schemeClr val="dk1"/>
          </a:fillRef>
          <a:effectRef idx="1">
            <a:schemeClr val="dk1"/>
          </a:effectRef>
          <a:fontRef idx="minor">
            <a:schemeClr val="lt1"/>
          </a:fontRef>
        </p:style>
        <p:txBody>
          <a:bodyPr vert="horz" lIns="91440" tIns="45720" rIns="91440" bIns="45720" rtlCol="0" anchor="b">
            <a:normAutofit/>
          </a:bodyPr>
          <a:lstStyle/>
          <a:p>
            <a:pPr marL="571500" indent="-571500">
              <a:lnSpc>
                <a:spcPct val="90000"/>
              </a:lnSpc>
              <a:spcBef>
                <a:spcPct val="0"/>
              </a:spcBef>
              <a:spcAft>
                <a:spcPts val="600"/>
              </a:spcAft>
            </a:pPr>
            <a:r>
              <a:rPr lang="en-US" sz="5400" b="1" dirty="0" err="1">
                <a:ln w="0"/>
                <a:solidFill>
                  <a:schemeClr val="bg1"/>
                </a:solidFill>
                <a:latin typeface="+mj-lt"/>
                <a:ea typeface="+mj-ea"/>
                <a:cs typeface="+mj-cs"/>
              </a:rPr>
              <a:t>Conflicto</a:t>
            </a:r>
            <a:r>
              <a:rPr lang="en-US" sz="5400" b="1" dirty="0">
                <a:ln w="0"/>
                <a:solidFill>
                  <a:schemeClr val="bg1"/>
                </a:solidFill>
                <a:latin typeface="+mj-lt"/>
                <a:ea typeface="+mj-ea"/>
                <a:cs typeface="+mj-cs"/>
              </a:rPr>
              <a:t> </a:t>
            </a:r>
            <a:r>
              <a:rPr lang="en-US" sz="4000" b="1" dirty="0">
                <a:ln w="0"/>
                <a:solidFill>
                  <a:schemeClr val="bg1"/>
                </a:solidFill>
                <a:latin typeface="+mj-lt"/>
                <a:ea typeface="+mj-ea"/>
                <a:cs typeface="+mj-cs"/>
              </a:rPr>
              <a:t>&amp; </a:t>
            </a:r>
            <a:r>
              <a:rPr lang="en-US" sz="4000" b="1" dirty="0" err="1">
                <a:ln w="0"/>
                <a:solidFill>
                  <a:schemeClr val="bg1"/>
                </a:solidFill>
                <a:latin typeface="+mj-lt"/>
                <a:ea typeface="+mj-ea"/>
                <a:cs typeface="+mj-cs"/>
              </a:rPr>
              <a:t>Negociación</a:t>
            </a:r>
            <a:endParaRPr lang="en-US" sz="4000" b="1" dirty="0">
              <a:ln w="0"/>
              <a:solidFill>
                <a:schemeClr val="bg1"/>
              </a:solidFill>
              <a:latin typeface="+mj-lt"/>
              <a:ea typeface="+mj-ea"/>
              <a:cs typeface="+mj-cs"/>
            </a:endParaRPr>
          </a:p>
        </p:txBody>
      </p:sp>
    </p:spTree>
    <p:extLst>
      <p:ext uri="{BB962C8B-B14F-4D97-AF65-F5344CB8AC3E}">
        <p14:creationId xmlns:p14="http://schemas.microsoft.com/office/powerpoint/2010/main" val="305201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04F936D-0C8A-4307-8B29-A60A3F17AF83}"/>
              </a:ext>
            </a:extLst>
          </p:cNvPr>
          <p:cNvSpPr txBox="1">
            <a:spLocks noChangeArrowheads="1"/>
          </p:cNvSpPr>
          <p:nvPr/>
        </p:nvSpPr>
        <p:spPr>
          <a:xfrm>
            <a:off x="666720" y="2209994"/>
            <a:ext cx="8572560" cy="642942"/>
          </a:xfrm>
          <a:prstGeom prst="rect">
            <a:avLst/>
          </a:prstGeom>
          <a:ln>
            <a:noFill/>
          </a:ln>
        </p:spPr>
        <p:style>
          <a:lnRef idx="3">
            <a:schemeClr val="lt1"/>
          </a:lnRef>
          <a:fillRef idx="1">
            <a:schemeClr val="accent4"/>
          </a:fillRef>
          <a:effectRef idx="1">
            <a:schemeClr val="accent4"/>
          </a:effectRef>
          <a:fontRef idx="minor">
            <a:schemeClr val="lt1"/>
          </a:fontRef>
        </p:style>
        <p:txBody>
          <a:bodyPr vert="horz" lIns="91440" tIns="45720" rIns="91440" bIns="45720" rtlCol="0">
            <a:normAutofit/>
          </a:bodyPr>
          <a:lstStyle/>
          <a:p>
            <a:pPr marL="269875" lvl="1" algn="just">
              <a:spcBef>
                <a:spcPct val="20000"/>
              </a:spcBef>
              <a:defRPr/>
            </a:pPr>
            <a:r>
              <a:rPr lang="es-MX" sz="1600" dirty="0">
                <a:solidFill>
                  <a:schemeClr val="tx1"/>
                </a:solidFill>
              </a:rPr>
              <a:t>Choque que separa a </a:t>
            </a:r>
            <a:r>
              <a:rPr lang="es-MX" sz="1600" b="1" dirty="0">
                <a:solidFill>
                  <a:schemeClr val="tx1"/>
                </a:solidFill>
              </a:rPr>
              <a:t>dos personas o grupos, que mantienen diferencias de criterios en cuanto a determinadas cuestiones</a:t>
            </a:r>
            <a:r>
              <a:rPr lang="es-MX" sz="1600" dirty="0">
                <a:solidFill>
                  <a:schemeClr val="tx1"/>
                </a:solidFill>
              </a:rPr>
              <a:t> o entre lo que es y lo que se desea que sea. </a:t>
            </a:r>
          </a:p>
        </p:txBody>
      </p:sp>
      <p:sp>
        <p:nvSpPr>
          <p:cNvPr id="7" name="Rounded Rectangle 7">
            <a:extLst>
              <a:ext uri="{FF2B5EF4-FFF2-40B4-BE49-F238E27FC236}">
                <a16:creationId xmlns:a16="http://schemas.microsoft.com/office/drawing/2014/main" id="{42BBA240-080C-49C4-9178-69B8D99EF442}"/>
              </a:ext>
            </a:extLst>
          </p:cNvPr>
          <p:cNvSpPr/>
          <p:nvPr/>
        </p:nvSpPr>
        <p:spPr>
          <a:xfrm>
            <a:off x="309530" y="1344758"/>
            <a:ext cx="9107520" cy="500066"/>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Conflicto</a:t>
            </a:r>
            <a:endParaRPr lang="es-AR" b="1" dirty="0">
              <a:solidFill>
                <a:schemeClr val="tx1"/>
              </a:solidFill>
              <a:latin typeface="+mj-lt"/>
            </a:endParaRPr>
          </a:p>
        </p:txBody>
      </p:sp>
      <p:pic>
        <p:nvPicPr>
          <p:cNvPr id="8" name="Picture 11">
            <a:extLst>
              <a:ext uri="{FF2B5EF4-FFF2-40B4-BE49-F238E27FC236}">
                <a16:creationId xmlns:a16="http://schemas.microsoft.com/office/drawing/2014/main" id="{F8A7E710-9BD8-438F-A531-2FF58FC971A8}"/>
              </a:ext>
            </a:extLst>
          </p:cNvPr>
          <p:cNvPicPr>
            <a:picLocks noChangeAspect="1" noChangeArrowheads="1"/>
          </p:cNvPicPr>
          <p:nvPr/>
        </p:nvPicPr>
        <p:blipFill>
          <a:blip r:embed="rId3"/>
          <a:srcRect l="35871" t="28320" r="31735" b="64844"/>
          <a:stretch>
            <a:fillRect/>
          </a:stretch>
        </p:blipFill>
        <p:spPr bwMode="auto">
          <a:xfrm>
            <a:off x="17512" y="6331294"/>
            <a:ext cx="4214842" cy="500066"/>
          </a:xfrm>
          <a:prstGeom prst="rect">
            <a:avLst/>
          </a:prstGeom>
          <a:noFill/>
          <a:ln w="9525">
            <a:noFill/>
            <a:miter lim="800000"/>
            <a:headEnd/>
            <a:tailEnd/>
          </a:ln>
          <a:effectLst/>
        </p:spPr>
      </p:pic>
      <p:sp>
        <p:nvSpPr>
          <p:cNvPr id="9" name="5 CuadroTexto">
            <a:extLst>
              <a:ext uri="{FF2B5EF4-FFF2-40B4-BE49-F238E27FC236}">
                <a16:creationId xmlns:a16="http://schemas.microsoft.com/office/drawing/2014/main" id="{273C3AC1-7B5B-4C2E-BE6F-5249EE2FF897}"/>
              </a:ext>
            </a:extLst>
          </p:cNvPr>
          <p:cNvSpPr txBox="1"/>
          <p:nvPr/>
        </p:nvSpPr>
        <p:spPr>
          <a:xfrm>
            <a:off x="2738422" y="3059668"/>
            <a:ext cx="5357850" cy="369332"/>
          </a:xfrm>
          <a:prstGeom prst="rect">
            <a:avLst/>
          </a:prstGeom>
          <a:ln>
            <a:noFill/>
          </a:ln>
        </p:spPr>
        <p:style>
          <a:lnRef idx="3">
            <a:schemeClr val="lt1"/>
          </a:lnRef>
          <a:fillRef idx="1">
            <a:schemeClr val="accent4"/>
          </a:fillRef>
          <a:effectRef idx="1">
            <a:schemeClr val="accent4"/>
          </a:effectRef>
          <a:fontRef idx="minor">
            <a:schemeClr val="lt1"/>
          </a:fontRef>
        </p:style>
        <p:txBody>
          <a:bodyPr vert="horz" lIns="91440" tIns="45720" rIns="91440" bIns="45720" rtlCol="0">
            <a:normAutofit/>
          </a:bodyPr>
          <a:lstStyle>
            <a:defPPr>
              <a:defRPr lang="en-US"/>
            </a:defPPr>
            <a:lvl1pPr>
              <a:defRPr>
                <a:solidFill>
                  <a:schemeClr val="lt1"/>
                </a:solidFill>
              </a:defRPr>
            </a:lvl1pPr>
            <a:lvl2pPr marL="269875" marR="0" lvl="1" indent="0" algn="just" fontAlgn="auto">
              <a:lnSpc>
                <a:spcPct val="100000"/>
              </a:lnSpc>
              <a:spcBef>
                <a:spcPct val="20000"/>
              </a:spcBef>
              <a:spcAft>
                <a:spcPts val="0"/>
              </a:spcAft>
              <a:buClrTx/>
              <a:buSzTx/>
              <a:buFontTx/>
              <a:buNone/>
              <a:tabLst/>
              <a:defRPr kumimoji="0" sz="1600" b="0" i="0" u="none" strike="noStrike" cap="none" spc="0" normalizeH="0" baseline="0">
                <a:ln>
                  <a:noFill/>
                </a:ln>
                <a:solidFill>
                  <a:schemeClr val="tx1"/>
                </a:solidFill>
                <a:effectLst/>
                <a:uLnTx/>
                <a:uFillTx/>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s-ES" b="1" dirty="0">
                <a:solidFill>
                  <a:schemeClr val="tx1"/>
                </a:solidFill>
              </a:rPr>
              <a:t>TIPOS DE CONFLICTOS GREMIALES</a:t>
            </a:r>
            <a:endParaRPr lang="es-AR" b="1" dirty="0">
              <a:solidFill>
                <a:schemeClr val="tx1"/>
              </a:solidFill>
            </a:endParaRPr>
          </a:p>
        </p:txBody>
      </p:sp>
      <p:graphicFrame>
        <p:nvGraphicFramePr>
          <p:cNvPr id="10" name="6 Diagrama">
            <a:extLst>
              <a:ext uri="{FF2B5EF4-FFF2-40B4-BE49-F238E27FC236}">
                <a16:creationId xmlns:a16="http://schemas.microsoft.com/office/drawing/2014/main" id="{045F50D1-1C54-4724-BD39-91ED2D31445F}"/>
              </a:ext>
            </a:extLst>
          </p:cNvPr>
          <p:cNvGraphicFramePr/>
          <p:nvPr/>
        </p:nvGraphicFramePr>
        <p:xfrm>
          <a:off x="2738422" y="3714754"/>
          <a:ext cx="4857784" cy="2701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Shape 52">
            <a:extLst>
              <a:ext uri="{FF2B5EF4-FFF2-40B4-BE49-F238E27FC236}">
                <a16:creationId xmlns:a16="http://schemas.microsoft.com/office/drawing/2014/main" id="{FACCCEAE-545C-4202-B834-D19EB15B3D46}"/>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grpSp>
        <p:nvGrpSpPr>
          <p:cNvPr id="5" name="Grupo 4">
            <a:extLst>
              <a:ext uri="{FF2B5EF4-FFF2-40B4-BE49-F238E27FC236}">
                <a16:creationId xmlns:a16="http://schemas.microsoft.com/office/drawing/2014/main" id="{C003C2E4-9B98-BB45-86D9-5756B47393C6}"/>
              </a:ext>
            </a:extLst>
          </p:cNvPr>
          <p:cNvGrpSpPr/>
          <p:nvPr/>
        </p:nvGrpSpPr>
        <p:grpSpPr>
          <a:xfrm>
            <a:off x="56458" y="657758"/>
            <a:ext cx="438243" cy="438243"/>
            <a:chOff x="4733878" y="3209878"/>
            <a:chExt cx="438243" cy="438243"/>
          </a:xfrm>
        </p:grpSpPr>
        <p:sp>
          <p:nvSpPr>
            <p:cNvPr id="12" name="Elipse 11">
              <a:extLst>
                <a:ext uri="{FF2B5EF4-FFF2-40B4-BE49-F238E27FC236}">
                  <a16:creationId xmlns:a16="http://schemas.microsoft.com/office/drawing/2014/main" id="{89BED4DD-6BE1-906F-2FE9-ABD920D714C1}"/>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13" name="Rectángulo 12">
              <a:extLst>
                <a:ext uri="{FF2B5EF4-FFF2-40B4-BE49-F238E27FC236}">
                  <a16:creationId xmlns:a16="http://schemas.microsoft.com/office/drawing/2014/main" id="{F979A7B7-A0EF-51D3-D616-6726E28B2EB9}"/>
                </a:ext>
              </a:extLst>
            </p:cNvPr>
            <p:cNvSpPr/>
            <p:nvPr/>
          </p:nvSpPr>
          <p:spPr>
            <a:xfrm>
              <a:off x="4825909" y="3301909"/>
              <a:ext cx="254181" cy="254181"/>
            </a:xfrm>
            <a:prstGeom prst="rect">
              <a:avLst/>
            </a:prstGeom>
            <a:blipFill rotWithShape="1">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p:spPr>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3"/>
          <p:cNvSpPr/>
          <p:nvPr/>
        </p:nvSpPr>
        <p:spPr>
          <a:xfrm>
            <a:off x="56456" y="1772818"/>
            <a:ext cx="9849544" cy="4939814"/>
          </a:xfrm>
          <a:prstGeom prst="rect">
            <a:avLst/>
          </a:prstGeom>
        </p:spPr>
        <p:txBody>
          <a:bodyPr wrap="square">
            <a:spAutoFit/>
          </a:bodyPr>
          <a:lstStyle/>
          <a:p>
            <a:pPr algn="ctr"/>
            <a:r>
              <a:rPr lang="es-MX" sz="2000" b="1" dirty="0"/>
              <a:t>Encuadramiento Sindical</a:t>
            </a:r>
            <a:endParaRPr lang="es-MX" sz="2000" dirty="0"/>
          </a:p>
          <a:p>
            <a:pPr algn="ctr"/>
            <a:r>
              <a:rPr lang="es-MX" dirty="0"/>
              <a:t>Esta situación revela cuando cada una de las distintas asociaciones de trabajadores entiende que le corresponde la representación de los trabajadores pertenecientes a una actividad o un establecimiento </a:t>
            </a:r>
          </a:p>
          <a:p>
            <a:endParaRPr lang="en-US" sz="1100" dirty="0"/>
          </a:p>
          <a:p>
            <a:endParaRPr lang="en-US" sz="1100" dirty="0"/>
          </a:p>
          <a:p>
            <a:pPr>
              <a:buFont typeface="Wingdings" pitchFamily="2" charset="2"/>
              <a:buChar char="§"/>
            </a:pPr>
            <a:r>
              <a:rPr lang="en-US" sz="1600" dirty="0">
                <a:solidFill>
                  <a:srgbClr val="0070C0"/>
                </a:solidFill>
              </a:rPr>
              <a:t> </a:t>
            </a:r>
            <a:r>
              <a:rPr lang="en-US" sz="1700" b="1" dirty="0">
                <a:solidFill>
                  <a:srgbClr val="0070C0"/>
                </a:solidFill>
              </a:rPr>
              <a:t>C</a:t>
            </a:r>
            <a:r>
              <a:rPr lang="es-MX" sz="1700" b="1" dirty="0">
                <a:solidFill>
                  <a:srgbClr val="0070C0"/>
                </a:solidFill>
              </a:rPr>
              <a:t>onflicto inter sindical de encuadramiento</a:t>
            </a:r>
            <a:r>
              <a:rPr lang="es-MX" sz="1700" dirty="0"/>
              <a:t>: Dos asociaciones profesionales con personería gremial pretenden poseer la representación del personal de una o varias empresas. </a:t>
            </a:r>
            <a:r>
              <a:rPr lang="en-US" sz="1700" dirty="0"/>
              <a:t>Los </a:t>
            </a:r>
            <a:r>
              <a:rPr lang="en-US" sz="1700" dirty="0" err="1"/>
              <a:t>actores</a:t>
            </a:r>
            <a:r>
              <a:rPr lang="en-US" sz="1700" dirty="0"/>
              <a:t> del </a:t>
            </a:r>
            <a:r>
              <a:rPr lang="en-US" sz="1700" dirty="0" err="1"/>
              <a:t>conflicto</a:t>
            </a:r>
            <a:r>
              <a:rPr lang="en-US" sz="1700" dirty="0"/>
              <a:t> son dos </a:t>
            </a:r>
            <a:r>
              <a:rPr lang="en-US" sz="1700" dirty="0" err="1"/>
              <a:t>sindicatos</a:t>
            </a:r>
            <a:r>
              <a:rPr lang="en-US" sz="1700" dirty="0"/>
              <a:t> y </a:t>
            </a:r>
            <a:r>
              <a:rPr lang="en-US" sz="1700" dirty="0" err="1"/>
              <a:t>empleados</a:t>
            </a:r>
            <a:r>
              <a:rPr lang="en-US" sz="1700" dirty="0"/>
              <a:t> y </a:t>
            </a:r>
            <a:r>
              <a:rPr lang="en-US" sz="1700" dirty="0" err="1"/>
              <a:t>empleadores</a:t>
            </a:r>
            <a:r>
              <a:rPr lang="en-US" sz="1700" dirty="0"/>
              <a:t> no </a:t>
            </a:r>
            <a:r>
              <a:rPr lang="en-US" sz="1700" dirty="0" err="1"/>
              <a:t>tienen</a:t>
            </a:r>
            <a:r>
              <a:rPr lang="en-US" sz="1700" dirty="0"/>
              <a:t> </a:t>
            </a:r>
            <a:r>
              <a:rPr lang="en-US" sz="1700" dirty="0" err="1"/>
              <a:t>injerencia</a:t>
            </a:r>
            <a:r>
              <a:rPr lang="en-US" sz="1700" dirty="0"/>
              <a:t>. </a:t>
            </a:r>
            <a:r>
              <a:rPr lang="en-US" sz="1700" i="1" dirty="0"/>
              <a:t>Por </a:t>
            </a:r>
            <a:r>
              <a:rPr lang="en-US" sz="1700" i="1" dirty="0" err="1"/>
              <a:t>ejemplo</a:t>
            </a:r>
            <a:r>
              <a:rPr lang="en-US" sz="1700" i="1" dirty="0"/>
              <a:t>, </a:t>
            </a:r>
            <a:r>
              <a:rPr lang="en-US" sz="1700" i="1" dirty="0" err="1"/>
              <a:t>comercio</a:t>
            </a:r>
            <a:r>
              <a:rPr lang="en-US" sz="1700" i="1" dirty="0"/>
              <a:t> </a:t>
            </a:r>
            <a:r>
              <a:rPr lang="en-US" sz="1700" i="1" dirty="0" err="1"/>
              <a:t>en</a:t>
            </a:r>
            <a:r>
              <a:rPr lang="en-US" sz="1700" i="1" dirty="0"/>
              <a:t> </a:t>
            </a:r>
            <a:r>
              <a:rPr lang="en-US" sz="1700" i="1" dirty="0" err="1"/>
              <a:t>disputa</a:t>
            </a:r>
            <a:r>
              <a:rPr lang="en-US" sz="1700" i="1" dirty="0"/>
              <a:t> con </a:t>
            </a:r>
            <a:r>
              <a:rPr lang="en-US" sz="1700" i="1" dirty="0" err="1"/>
              <a:t>camioneros</a:t>
            </a:r>
            <a:r>
              <a:rPr lang="en-US" sz="1700" i="1" dirty="0"/>
              <a:t> por </a:t>
            </a:r>
            <a:r>
              <a:rPr lang="en-US" sz="1700" i="1" dirty="0" err="1"/>
              <a:t>trabajadores</a:t>
            </a:r>
            <a:r>
              <a:rPr lang="en-US" sz="1700" i="1" dirty="0"/>
              <a:t> de una </a:t>
            </a:r>
            <a:r>
              <a:rPr lang="en-US" sz="1700" i="1" dirty="0" err="1"/>
              <a:t>distribuidora</a:t>
            </a:r>
            <a:r>
              <a:rPr lang="en-US" sz="1700" i="1" dirty="0"/>
              <a:t> </a:t>
            </a:r>
            <a:r>
              <a:rPr lang="en-US" sz="1700" i="1" dirty="0" err="1"/>
              <a:t>comercial</a:t>
            </a:r>
            <a:r>
              <a:rPr lang="en-US" sz="1700" i="1" dirty="0"/>
              <a:t>.  </a:t>
            </a:r>
            <a:r>
              <a:rPr lang="en-US" sz="1700" dirty="0"/>
              <a:t>Lo </a:t>
            </a:r>
            <a:r>
              <a:rPr lang="en-US" sz="1700" dirty="0" err="1"/>
              <a:t>resuelve</a:t>
            </a:r>
            <a:r>
              <a:rPr lang="en-US" sz="1700" dirty="0"/>
              <a:t> el </a:t>
            </a:r>
            <a:r>
              <a:rPr lang="en-US" sz="1700" dirty="0" err="1"/>
              <a:t>Ministerio</a:t>
            </a:r>
            <a:r>
              <a:rPr lang="en-US" sz="1700" dirty="0"/>
              <a:t> de </a:t>
            </a:r>
            <a:r>
              <a:rPr lang="en-US" sz="1700" dirty="0" err="1"/>
              <a:t>trabajo</a:t>
            </a:r>
            <a:r>
              <a:rPr lang="en-US" sz="1700" dirty="0"/>
              <a:t>, es </a:t>
            </a:r>
            <a:r>
              <a:rPr lang="en-US" sz="1700" dirty="0" err="1"/>
              <a:t>decir</a:t>
            </a:r>
            <a:r>
              <a:rPr lang="en-US" sz="1700" dirty="0"/>
              <a:t>, por </a:t>
            </a:r>
            <a:r>
              <a:rPr lang="en-US" sz="1700" dirty="0" err="1"/>
              <a:t>vía</a:t>
            </a:r>
            <a:r>
              <a:rPr lang="en-US" sz="1700" dirty="0"/>
              <a:t> </a:t>
            </a:r>
            <a:r>
              <a:rPr lang="en-US" sz="1700" dirty="0" err="1"/>
              <a:t>administrativa</a:t>
            </a:r>
            <a:endParaRPr lang="en-US" sz="1700" dirty="0"/>
          </a:p>
          <a:p>
            <a:pPr>
              <a:buFont typeface="Wingdings" pitchFamily="2" charset="2"/>
              <a:buChar char="§"/>
            </a:pPr>
            <a:endParaRPr lang="en-US" sz="1700" b="1" dirty="0"/>
          </a:p>
          <a:p>
            <a:pPr>
              <a:buFont typeface="Wingdings" pitchFamily="2" charset="2"/>
              <a:buChar char="§"/>
            </a:pPr>
            <a:r>
              <a:rPr lang="en-US" sz="1700" b="1" dirty="0">
                <a:solidFill>
                  <a:srgbClr val="0070C0"/>
                </a:solidFill>
              </a:rPr>
              <a:t> El </a:t>
            </a:r>
            <a:r>
              <a:rPr lang="en-US" sz="1700" b="1" dirty="0" err="1">
                <a:solidFill>
                  <a:srgbClr val="0070C0"/>
                </a:solidFill>
              </a:rPr>
              <a:t>encuadramiento</a:t>
            </a:r>
            <a:r>
              <a:rPr lang="en-US" sz="1700" b="1" dirty="0">
                <a:solidFill>
                  <a:srgbClr val="0070C0"/>
                </a:solidFill>
              </a:rPr>
              <a:t> </a:t>
            </a:r>
            <a:r>
              <a:rPr lang="en-US" sz="1700" b="1" dirty="0" err="1">
                <a:solidFill>
                  <a:srgbClr val="0070C0"/>
                </a:solidFill>
              </a:rPr>
              <a:t>convencional</a:t>
            </a:r>
            <a:r>
              <a:rPr lang="en-US" sz="1700" b="1" dirty="0"/>
              <a:t>:</a:t>
            </a:r>
            <a:r>
              <a:rPr lang="en-US" sz="1700" dirty="0"/>
              <a:t> </a:t>
            </a:r>
            <a:r>
              <a:rPr lang="en-US" sz="1700" dirty="0" err="1"/>
              <a:t>busca</a:t>
            </a:r>
            <a:r>
              <a:rPr lang="en-US" sz="1700" dirty="0"/>
              <a:t> </a:t>
            </a:r>
            <a:r>
              <a:rPr lang="en-US" sz="1700" dirty="0" err="1"/>
              <a:t>determinar</a:t>
            </a:r>
            <a:r>
              <a:rPr lang="en-US" sz="1700" dirty="0"/>
              <a:t> que </a:t>
            </a:r>
            <a:r>
              <a:rPr lang="en-US" sz="1700" b="1" dirty="0" err="1"/>
              <a:t>convenio</a:t>
            </a:r>
            <a:r>
              <a:rPr lang="en-US" sz="1700" b="1" dirty="0"/>
              <a:t> </a:t>
            </a:r>
            <a:r>
              <a:rPr lang="en-US" sz="1700" b="1" dirty="0" err="1"/>
              <a:t>colectivo</a:t>
            </a:r>
            <a:r>
              <a:rPr lang="en-US" sz="1700" b="1" dirty="0"/>
              <a:t> de </a:t>
            </a:r>
            <a:r>
              <a:rPr lang="en-US" sz="1700" b="1" dirty="0" err="1"/>
              <a:t>trabajo</a:t>
            </a:r>
            <a:r>
              <a:rPr lang="en-US" sz="1700" b="1" dirty="0"/>
              <a:t> debe </a:t>
            </a:r>
            <a:r>
              <a:rPr lang="en-US" sz="1700" b="1" dirty="0" err="1"/>
              <a:t>aplicar</a:t>
            </a:r>
            <a:r>
              <a:rPr lang="en-US" sz="1700" b="1" dirty="0"/>
              <a:t> a un </a:t>
            </a:r>
            <a:r>
              <a:rPr lang="en-US" sz="1700" b="1" dirty="0" err="1"/>
              <a:t>grupo</a:t>
            </a:r>
            <a:r>
              <a:rPr lang="en-US" sz="1700" b="1" dirty="0"/>
              <a:t> de </a:t>
            </a:r>
            <a:r>
              <a:rPr lang="en-US" sz="1700" b="1" dirty="0" err="1"/>
              <a:t>trabajadore</a:t>
            </a:r>
            <a:r>
              <a:rPr lang="en-US" sz="1700" dirty="0" err="1"/>
              <a:t>s</a:t>
            </a:r>
            <a:r>
              <a:rPr lang="en-US" sz="1700" dirty="0"/>
              <a:t>. Se </a:t>
            </a:r>
            <a:r>
              <a:rPr lang="en-US" sz="1700" dirty="0" err="1"/>
              <a:t>resuelve</a:t>
            </a:r>
            <a:r>
              <a:rPr lang="en-US" sz="1700" dirty="0"/>
              <a:t> por </a:t>
            </a:r>
            <a:r>
              <a:rPr lang="en-US" sz="1700" dirty="0" err="1"/>
              <a:t>vía</a:t>
            </a:r>
            <a:r>
              <a:rPr lang="en-US" sz="1700" dirty="0"/>
              <a:t> judicial. </a:t>
            </a:r>
            <a:r>
              <a:rPr lang="en-US" sz="1700" dirty="0" err="1"/>
              <a:t>En</a:t>
            </a:r>
            <a:r>
              <a:rPr lang="en-US" sz="1700" dirty="0"/>
              <a:t> principio no </a:t>
            </a:r>
            <a:r>
              <a:rPr lang="en-US" sz="1700" dirty="0" err="1"/>
              <a:t>debería</a:t>
            </a:r>
            <a:r>
              <a:rPr lang="en-US" sz="1700" dirty="0"/>
              <a:t> </a:t>
            </a:r>
            <a:r>
              <a:rPr lang="en-US" sz="1700" dirty="0" err="1"/>
              <a:t>darse</a:t>
            </a:r>
            <a:r>
              <a:rPr lang="en-US" sz="1700" dirty="0"/>
              <a:t> </a:t>
            </a:r>
            <a:r>
              <a:rPr lang="en-US" sz="1700" dirty="0" err="1"/>
              <a:t>si</a:t>
            </a:r>
            <a:r>
              <a:rPr lang="en-US" sz="1700" dirty="0"/>
              <a:t> </a:t>
            </a:r>
            <a:r>
              <a:rPr lang="en-US" sz="1700" dirty="0" err="1"/>
              <a:t>está</a:t>
            </a:r>
            <a:r>
              <a:rPr lang="en-US" sz="1700" dirty="0"/>
              <a:t> claro el </a:t>
            </a:r>
            <a:r>
              <a:rPr lang="en-US" sz="1700" dirty="0" err="1"/>
              <a:t>ámbito</a:t>
            </a:r>
            <a:r>
              <a:rPr lang="en-US" sz="1700" dirty="0"/>
              <a:t> de </a:t>
            </a:r>
            <a:r>
              <a:rPr lang="en-US" sz="1700" dirty="0" err="1"/>
              <a:t>actuación</a:t>
            </a:r>
            <a:r>
              <a:rPr lang="en-US" sz="1700" dirty="0"/>
              <a:t> de los </a:t>
            </a:r>
            <a:r>
              <a:rPr lang="en-US" sz="1700" dirty="0" err="1"/>
              <a:t>sindicatos</a:t>
            </a:r>
            <a:r>
              <a:rPr lang="en-US" sz="1700" dirty="0"/>
              <a:t> con </a:t>
            </a:r>
            <a:r>
              <a:rPr lang="en-US" sz="1700" dirty="0" err="1"/>
              <a:t>personería</a:t>
            </a:r>
            <a:r>
              <a:rPr lang="en-US" sz="1700" dirty="0"/>
              <a:t> gremial (</a:t>
            </a:r>
            <a:r>
              <a:rPr lang="en-US" sz="1700" dirty="0" err="1"/>
              <a:t>este</a:t>
            </a:r>
            <a:r>
              <a:rPr lang="en-US" sz="1700" dirty="0"/>
              <a:t> es el punto de </a:t>
            </a:r>
            <a:r>
              <a:rPr lang="en-US" sz="1700" dirty="0" err="1"/>
              <a:t>contacto</a:t>
            </a:r>
            <a:r>
              <a:rPr lang="en-US" sz="1700" dirty="0"/>
              <a:t> con el </a:t>
            </a:r>
            <a:r>
              <a:rPr lang="en-US" sz="1700" dirty="0" err="1"/>
              <a:t>encuadramiento</a:t>
            </a:r>
            <a:r>
              <a:rPr lang="en-US" sz="1700" dirty="0"/>
              <a:t> </a:t>
            </a:r>
            <a:r>
              <a:rPr lang="en-US" sz="1700" dirty="0" err="1"/>
              <a:t>sindical</a:t>
            </a:r>
            <a:r>
              <a:rPr lang="en-US" sz="1700" dirty="0"/>
              <a:t>) </a:t>
            </a:r>
            <a:r>
              <a:rPr lang="en-US" sz="1700" dirty="0" err="1"/>
              <a:t>ya</a:t>
            </a:r>
            <a:r>
              <a:rPr lang="en-US" sz="1700" dirty="0"/>
              <a:t> que son </a:t>
            </a:r>
            <a:r>
              <a:rPr lang="en-US" sz="1700" dirty="0" err="1"/>
              <a:t>estos</a:t>
            </a:r>
            <a:r>
              <a:rPr lang="en-US" sz="1700" dirty="0"/>
              <a:t> </a:t>
            </a:r>
            <a:r>
              <a:rPr lang="en-US" sz="1700" dirty="0" err="1"/>
              <a:t>quienes</a:t>
            </a:r>
            <a:r>
              <a:rPr lang="en-US" sz="1700" dirty="0"/>
              <a:t> </a:t>
            </a:r>
            <a:r>
              <a:rPr lang="en-US" sz="1700" dirty="0" err="1"/>
              <a:t>acuerdan</a:t>
            </a:r>
            <a:r>
              <a:rPr lang="en-US" sz="1700" dirty="0"/>
              <a:t> los </a:t>
            </a:r>
            <a:r>
              <a:rPr lang="en-US" sz="1700" dirty="0" err="1"/>
              <a:t>convenios</a:t>
            </a:r>
            <a:r>
              <a:rPr lang="en-US" sz="1700" dirty="0"/>
              <a:t> </a:t>
            </a:r>
            <a:r>
              <a:rPr lang="en-US" sz="1700" dirty="0" err="1"/>
              <a:t>colectivos</a:t>
            </a:r>
            <a:r>
              <a:rPr lang="en-US" sz="1700" dirty="0"/>
              <a:t>. Pero </a:t>
            </a:r>
            <a:r>
              <a:rPr lang="en-US" sz="1700" dirty="0" err="1"/>
              <a:t>aún</a:t>
            </a:r>
            <a:r>
              <a:rPr lang="en-US" sz="1700" dirty="0"/>
              <a:t> </a:t>
            </a:r>
            <a:r>
              <a:rPr lang="en-US" sz="1700" dirty="0" err="1"/>
              <a:t>así</a:t>
            </a:r>
            <a:r>
              <a:rPr lang="en-US" sz="1700" dirty="0"/>
              <a:t> </a:t>
            </a:r>
            <a:r>
              <a:rPr lang="en-US" sz="1700" dirty="0" err="1"/>
              <a:t>puede</a:t>
            </a:r>
            <a:r>
              <a:rPr lang="en-US" sz="1700" dirty="0"/>
              <a:t> </a:t>
            </a:r>
            <a:r>
              <a:rPr lang="en-US" sz="1700" dirty="0" err="1"/>
              <a:t>llegar</a:t>
            </a:r>
            <a:r>
              <a:rPr lang="en-US" sz="1700" dirty="0"/>
              <a:t> a </a:t>
            </a:r>
            <a:r>
              <a:rPr lang="en-US" sz="1700" dirty="0" err="1"/>
              <a:t>darse</a:t>
            </a:r>
            <a:r>
              <a:rPr lang="en-US" sz="1700" dirty="0"/>
              <a:t> </a:t>
            </a:r>
            <a:r>
              <a:rPr lang="en-US" sz="1700" dirty="0" err="1"/>
              <a:t>cuando</a:t>
            </a:r>
            <a:r>
              <a:rPr lang="en-US" sz="1700" dirty="0"/>
              <a:t> se </a:t>
            </a:r>
            <a:r>
              <a:rPr lang="en-US" sz="1700" dirty="0" err="1"/>
              <a:t>superponen</a:t>
            </a:r>
            <a:r>
              <a:rPr lang="en-US" sz="1700" dirty="0"/>
              <a:t> </a:t>
            </a:r>
            <a:r>
              <a:rPr lang="en-US" sz="1700" dirty="0" err="1"/>
              <a:t>convenios</a:t>
            </a:r>
            <a:r>
              <a:rPr lang="en-US" sz="1700" dirty="0"/>
              <a:t> de </a:t>
            </a:r>
            <a:r>
              <a:rPr lang="en-US" sz="1700" dirty="0" err="1"/>
              <a:t>actividad</a:t>
            </a:r>
            <a:r>
              <a:rPr lang="en-US" sz="1700" dirty="0"/>
              <a:t> con </a:t>
            </a:r>
            <a:r>
              <a:rPr lang="en-US" sz="1700" dirty="0" err="1"/>
              <a:t>convenios</a:t>
            </a:r>
            <a:r>
              <a:rPr lang="en-US" sz="1700" dirty="0"/>
              <a:t> de </a:t>
            </a:r>
            <a:r>
              <a:rPr lang="en-US" sz="1700" dirty="0" err="1"/>
              <a:t>oficio</a:t>
            </a:r>
            <a:r>
              <a:rPr lang="en-US" sz="1700" dirty="0"/>
              <a:t>, o por </a:t>
            </a:r>
            <a:r>
              <a:rPr lang="en-US" sz="1700" dirty="0" err="1"/>
              <a:t>nuevas</a:t>
            </a:r>
            <a:r>
              <a:rPr lang="en-US" sz="1700" dirty="0"/>
              <a:t> </a:t>
            </a:r>
            <a:r>
              <a:rPr lang="en-US" sz="1700" dirty="0" err="1"/>
              <a:t>tareas</a:t>
            </a:r>
            <a:r>
              <a:rPr lang="en-US" sz="1700" dirty="0"/>
              <a:t> y </a:t>
            </a:r>
            <a:r>
              <a:rPr lang="en-US" sz="1700" dirty="0" err="1"/>
              <a:t>funciones</a:t>
            </a:r>
            <a:r>
              <a:rPr lang="en-US" sz="1700" dirty="0"/>
              <a:t> que no </a:t>
            </a:r>
            <a:r>
              <a:rPr lang="en-US" sz="1700" dirty="0" err="1"/>
              <a:t>están</a:t>
            </a:r>
            <a:r>
              <a:rPr lang="en-US" sz="1700" dirty="0"/>
              <a:t> </a:t>
            </a:r>
            <a:r>
              <a:rPr lang="en-US" sz="1700" dirty="0" err="1"/>
              <a:t>definidas</a:t>
            </a:r>
            <a:r>
              <a:rPr lang="en-US" sz="1700" dirty="0"/>
              <a:t> </a:t>
            </a:r>
            <a:r>
              <a:rPr lang="en-US" sz="1700" dirty="0" err="1"/>
              <a:t>en</a:t>
            </a:r>
            <a:r>
              <a:rPr lang="en-US" sz="1700" dirty="0"/>
              <a:t> los </a:t>
            </a:r>
            <a:r>
              <a:rPr lang="en-US" sz="1700" dirty="0" err="1"/>
              <a:t>convenios</a:t>
            </a:r>
            <a:r>
              <a:rPr lang="en-US" sz="1700" dirty="0"/>
              <a:t>, y los </a:t>
            </a:r>
            <a:r>
              <a:rPr lang="en-US" sz="1700" dirty="0" err="1"/>
              <a:t>empleados</a:t>
            </a:r>
            <a:r>
              <a:rPr lang="en-US" sz="1700" dirty="0"/>
              <a:t> </a:t>
            </a:r>
            <a:r>
              <a:rPr lang="en-US" sz="1700" dirty="0" err="1"/>
              <a:t>reclamen</a:t>
            </a:r>
            <a:r>
              <a:rPr lang="en-US" sz="1700" dirty="0"/>
              <a:t> que </a:t>
            </a:r>
            <a:r>
              <a:rPr lang="en-US" sz="1700" dirty="0" err="1"/>
              <a:t>su</a:t>
            </a:r>
            <a:r>
              <a:rPr lang="en-US" sz="1700" dirty="0"/>
              <a:t> </a:t>
            </a:r>
            <a:r>
              <a:rPr lang="en-US" sz="1700" dirty="0" err="1"/>
              <a:t>empleador</a:t>
            </a:r>
            <a:r>
              <a:rPr lang="en-US" sz="1700" dirty="0"/>
              <a:t> les </a:t>
            </a:r>
            <a:r>
              <a:rPr lang="en-US" sz="1700" dirty="0" err="1"/>
              <a:t>reconozca</a:t>
            </a:r>
            <a:r>
              <a:rPr lang="en-US" sz="1700" dirty="0"/>
              <a:t> los derechos de un </a:t>
            </a:r>
            <a:r>
              <a:rPr lang="en-US" sz="1700" dirty="0" err="1"/>
              <a:t>convenio</a:t>
            </a:r>
            <a:r>
              <a:rPr lang="en-US" sz="1700" dirty="0"/>
              <a:t> </a:t>
            </a:r>
            <a:r>
              <a:rPr lang="en-US" sz="1700" dirty="0" err="1"/>
              <a:t>diferente</a:t>
            </a:r>
            <a:r>
              <a:rPr lang="en-US" sz="1700" dirty="0"/>
              <a:t> al que les </a:t>
            </a:r>
            <a:r>
              <a:rPr lang="en-US" sz="1700" dirty="0" err="1"/>
              <a:t>está</a:t>
            </a:r>
            <a:r>
              <a:rPr lang="en-US" sz="1700" dirty="0"/>
              <a:t> </a:t>
            </a:r>
            <a:r>
              <a:rPr lang="en-US" sz="1700" dirty="0" err="1"/>
              <a:t>siendo</a:t>
            </a:r>
            <a:r>
              <a:rPr lang="en-US" sz="1700" dirty="0"/>
              <a:t> </a:t>
            </a:r>
            <a:r>
              <a:rPr lang="en-US" sz="1700" dirty="0" err="1"/>
              <a:t>aplicado</a:t>
            </a:r>
            <a:r>
              <a:rPr lang="en-US" sz="1700" dirty="0"/>
              <a:t>.</a:t>
            </a:r>
            <a:endParaRPr lang="en-AR" sz="1700" dirty="0"/>
          </a:p>
          <a:p>
            <a:endParaRPr lang="es-AR" sz="1600" dirty="0"/>
          </a:p>
        </p:txBody>
      </p:sp>
      <p:sp>
        <p:nvSpPr>
          <p:cNvPr id="3" name="Rounded Rectangle 7"/>
          <p:cNvSpPr/>
          <p:nvPr/>
        </p:nvSpPr>
        <p:spPr>
          <a:xfrm>
            <a:off x="272480" y="1265263"/>
            <a:ext cx="9001188" cy="363539"/>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Conflictos sindicales típicos</a:t>
            </a:r>
            <a:endParaRPr lang="es-AR" b="1" dirty="0">
              <a:solidFill>
                <a:schemeClr val="tx1"/>
              </a:solidFill>
              <a:latin typeface="+mj-lt"/>
            </a:endParaRPr>
          </a:p>
        </p:txBody>
      </p:sp>
      <p:sp>
        <p:nvSpPr>
          <p:cNvPr id="6" name="Shape 52">
            <a:extLst>
              <a:ext uri="{FF2B5EF4-FFF2-40B4-BE49-F238E27FC236}">
                <a16:creationId xmlns:a16="http://schemas.microsoft.com/office/drawing/2014/main" id="{929CB8F0-346D-48BC-8F7C-C5EBE484D7B7}"/>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grpSp>
        <p:nvGrpSpPr>
          <p:cNvPr id="4" name="Grupo 3">
            <a:extLst>
              <a:ext uri="{FF2B5EF4-FFF2-40B4-BE49-F238E27FC236}">
                <a16:creationId xmlns:a16="http://schemas.microsoft.com/office/drawing/2014/main" id="{476F0017-098C-4381-E847-379EDBA5E533}"/>
              </a:ext>
            </a:extLst>
          </p:cNvPr>
          <p:cNvGrpSpPr/>
          <p:nvPr/>
        </p:nvGrpSpPr>
        <p:grpSpPr>
          <a:xfrm>
            <a:off x="56458" y="657758"/>
            <a:ext cx="438243" cy="438243"/>
            <a:chOff x="4733878" y="3209878"/>
            <a:chExt cx="438243" cy="438243"/>
          </a:xfrm>
        </p:grpSpPr>
        <p:sp>
          <p:nvSpPr>
            <p:cNvPr id="5" name="Elipse 4">
              <a:extLst>
                <a:ext uri="{FF2B5EF4-FFF2-40B4-BE49-F238E27FC236}">
                  <a16:creationId xmlns:a16="http://schemas.microsoft.com/office/drawing/2014/main" id="{69BC767C-FC2D-EED9-0C18-513520BD4BEE}"/>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7" name="Rectángulo 6">
              <a:extLst>
                <a:ext uri="{FF2B5EF4-FFF2-40B4-BE49-F238E27FC236}">
                  <a16:creationId xmlns:a16="http://schemas.microsoft.com/office/drawing/2014/main" id="{1322A7CD-2796-14CD-D4DE-7A6F7B03521E}"/>
                </a:ext>
              </a:extLst>
            </p:cNvPr>
            <p:cNvSpPr/>
            <p:nvPr/>
          </p:nvSpPr>
          <p:spPr>
            <a:xfrm>
              <a:off x="4825909" y="3301909"/>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
        <p:nvSpPr>
          <p:cNvPr id="8" name="Rectángulo 7">
            <a:extLst>
              <a:ext uri="{FF2B5EF4-FFF2-40B4-BE49-F238E27FC236}">
                <a16:creationId xmlns:a16="http://schemas.microsoft.com/office/drawing/2014/main" id="{8F92F31A-B180-CD3B-95DB-3DFB9E145CD4}"/>
              </a:ext>
            </a:extLst>
          </p:cNvPr>
          <p:cNvSpPr/>
          <p:nvPr/>
        </p:nvSpPr>
        <p:spPr>
          <a:xfrm>
            <a:off x="124039" y="2924944"/>
            <a:ext cx="9657922" cy="1512168"/>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A2F63F7D-51F3-7B4E-6FA0-D0991BCA92F1}"/>
              </a:ext>
            </a:extLst>
          </p:cNvPr>
          <p:cNvSpPr/>
          <p:nvPr/>
        </p:nvSpPr>
        <p:spPr>
          <a:xfrm>
            <a:off x="120240" y="4581128"/>
            <a:ext cx="9657922" cy="1880592"/>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365781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8"/>
                                        </p:tgtEl>
                                        <p:attrNameLst>
                                          <p:attrName>ppt_w</p:attrName>
                                        </p:attrNameLst>
                                      </p:cBhvr>
                                      <p:tavLst>
                                        <p:tav tm="0">
                                          <p:val>
                                            <p:strVal val="ppt_w"/>
                                          </p:val>
                                        </p:tav>
                                        <p:tav tm="100000">
                                          <p:val>
                                            <p:fltVal val="0"/>
                                          </p:val>
                                        </p:tav>
                                      </p:tavLst>
                                    </p:anim>
                                    <p:anim calcmode="lin" valueType="num">
                                      <p:cBhvr>
                                        <p:cTn id="7" dur="500"/>
                                        <p:tgtEl>
                                          <p:spTgt spid="8"/>
                                        </p:tgtEl>
                                        <p:attrNameLst>
                                          <p:attrName>ppt_h</p:attrName>
                                        </p:attrNameLst>
                                      </p:cBhvr>
                                      <p:tavLst>
                                        <p:tav tm="0">
                                          <p:val>
                                            <p:strVal val="ppt_h"/>
                                          </p:val>
                                        </p:tav>
                                        <p:tav tm="100000">
                                          <p:val>
                                            <p:fltVal val="0"/>
                                          </p:val>
                                        </p:tav>
                                      </p:tavLst>
                                    </p:anim>
                                    <p:animEffect transition="out" filter="fade">
                                      <p:cBhvr>
                                        <p:cTn id="8" dur="500"/>
                                        <p:tgtEl>
                                          <p:spTgt spid="8"/>
                                        </p:tgtEl>
                                      </p:cBhvr>
                                    </p:animEffect>
                                    <p:set>
                                      <p:cBhvr>
                                        <p:cTn id="9" dur="1" fill="hold">
                                          <p:stCondLst>
                                            <p:cond delay="499"/>
                                          </p:stCondLst>
                                        </p:cTn>
                                        <p:tgtEl>
                                          <p:spTgt spid="8"/>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53" presetClass="exit" presetSubtype="32" fill="hold" grpId="0" nodeType="clickEffect">
                                  <p:stCondLst>
                                    <p:cond delay="0"/>
                                  </p:stCondLst>
                                  <p:childTnLst>
                                    <p:anim calcmode="lin" valueType="num">
                                      <p:cBhvr>
                                        <p:cTn id="13" dur="500"/>
                                        <p:tgtEl>
                                          <p:spTgt spid="9"/>
                                        </p:tgtEl>
                                        <p:attrNameLst>
                                          <p:attrName>ppt_w</p:attrName>
                                        </p:attrNameLst>
                                      </p:cBhvr>
                                      <p:tavLst>
                                        <p:tav tm="0">
                                          <p:val>
                                            <p:strVal val="ppt_w"/>
                                          </p:val>
                                        </p:tav>
                                        <p:tav tm="100000">
                                          <p:val>
                                            <p:fltVal val="0"/>
                                          </p:val>
                                        </p:tav>
                                      </p:tavLst>
                                    </p:anim>
                                    <p:anim calcmode="lin" valueType="num">
                                      <p:cBhvr>
                                        <p:cTn id="14" dur="500"/>
                                        <p:tgtEl>
                                          <p:spTgt spid="9"/>
                                        </p:tgtEl>
                                        <p:attrNameLst>
                                          <p:attrName>ppt_h</p:attrName>
                                        </p:attrNameLst>
                                      </p:cBhvr>
                                      <p:tavLst>
                                        <p:tav tm="0">
                                          <p:val>
                                            <p:strVal val="ppt_h"/>
                                          </p:val>
                                        </p:tav>
                                        <p:tav tm="100000">
                                          <p:val>
                                            <p:fltVal val="0"/>
                                          </p:val>
                                        </p:tav>
                                      </p:tavLst>
                                    </p:anim>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1857364"/>
            <a:ext cx="9667908" cy="3357586"/>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269875" indent="-269875" algn="just" defTabSz="714375" fontAlgn="base">
              <a:spcBef>
                <a:spcPct val="20000"/>
              </a:spcBef>
              <a:spcAft>
                <a:spcPct val="0"/>
              </a:spcAft>
              <a:buClr>
                <a:schemeClr val="tx2"/>
              </a:buClr>
              <a:buFont typeface="Wingdings" pitchFamily="2" charset="2"/>
              <a:buChar char="§"/>
              <a:defRPr/>
            </a:pPr>
            <a:r>
              <a:rPr lang="es-MX" sz="1600" b="1" dirty="0"/>
              <a:t>Huelga:</a:t>
            </a:r>
            <a:r>
              <a:rPr lang="es-MX" sz="1600" dirty="0"/>
              <a:t> Es un derecho que la Constitución  (Art. 14 bis) concede a los gremios, y consiste en la abstención colectiva y concertada de la prestación laboral, con carácter temporal y con </a:t>
            </a:r>
            <a:r>
              <a:rPr lang="es-MX" sz="1600" b="1" dirty="0"/>
              <a:t>abandono del lugar de tareas</a:t>
            </a:r>
            <a:r>
              <a:rPr lang="es-MX" sz="1600" dirty="0"/>
              <a:t>, como forma de presión sobre el empleador, con el propósito de conseguir un beneficio mediante la sanción de una disposición o la reforma de una vigente , o el cumplimiento de una en vigor.</a:t>
            </a:r>
            <a:endParaRPr lang="en-US" sz="1600" dirty="0"/>
          </a:p>
          <a:p>
            <a:pPr marL="269875" indent="-269875" algn="just" defTabSz="714375" fontAlgn="base">
              <a:spcBef>
                <a:spcPct val="20000"/>
              </a:spcBef>
              <a:spcAft>
                <a:spcPct val="0"/>
              </a:spcAft>
              <a:buClr>
                <a:schemeClr val="tx2"/>
              </a:buClr>
              <a:buFont typeface="Wingdings" pitchFamily="2" charset="2"/>
              <a:buChar char="§"/>
              <a:defRPr/>
            </a:pPr>
            <a:r>
              <a:rPr lang="es-MX" sz="1600" b="1" dirty="0"/>
              <a:t>Paro:</a:t>
            </a:r>
            <a:r>
              <a:rPr lang="es-MX" sz="1600" dirty="0"/>
              <a:t> Interrupción de las tareas por tiempo determinado. Abstención de la tarea, con </a:t>
            </a:r>
            <a:r>
              <a:rPr lang="es-MX" sz="1600" b="1" dirty="0"/>
              <a:t>permanencia en el lugar </a:t>
            </a:r>
            <a:r>
              <a:rPr lang="es-MX" sz="1600" dirty="0"/>
              <a:t>de trabajo.</a:t>
            </a:r>
          </a:p>
          <a:p>
            <a:pPr marL="269875" indent="-269875" algn="just" defTabSz="714375" fontAlgn="base">
              <a:spcBef>
                <a:spcPct val="20000"/>
              </a:spcBef>
              <a:spcAft>
                <a:spcPct val="0"/>
              </a:spcAft>
              <a:buClr>
                <a:schemeClr val="tx2"/>
              </a:buClr>
              <a:buFont typeface="Wingdings" pitchFamily="2" charset="2"/>
              <a:buChar char="§"/>
              <a:defRPr/>
            </a:pPr>
            <a:r>
              <a:rPr lang="es-MX" sz="1600" b="1" dirty="0"/>
              <a:t>Paros Rotativos:</a:t>
            </a:r>
            <a:r>
              <a:rPr lang="es-MX" sz="1600" dirty="0"/>
              <a:t> Se interrumpe la prestación laboral en forma discontinua</a:t>
            </a:r>
            <a:r>
              <a:rPr lang="es-ES" sz="1600" dirty="0"/>
              <a:t>.</a:t>
            </a:r>
          </a:p>
          <a:p>
            <a:pPr marL="269875" indent="-269875" algn="just" defTabSz="714375" fontAlgn="base">
              <a:spcBef>
                <a:spcPct val="20000"/>
              </a:spcBef>
              <a:spcAft>
                <a:spcPct val="0"/>
              </a:spcAft>
              <a:buClr>
                <a:schemeClr val="tx2"/>
              </a:buClr>
              <a:buFont typeface="Wingdings" pitchFamily="2" charset="2"/>
              <a:buChar char="§"/>
              <a:defRPr/>
            </a:pPr>
            <a:r>
              <a:rPr lang="es-MX" sz="1600" b="1" dirty="0"/>
              <a:t>Trabajo a Reglamento:</a:t>
            </a:r>
            <a:r>
              <a:rPr lang="es-MX" sz="1600" dirty="0"/>
              <a:t> Cumplimiento estricto del reglamento de trabajo. Se disminuye el ritmo de las tareas.</a:t>
            </a:r>
          </a:p>
          <a:p>
            <a:pPr marL="269875" indent="-269875" algn="just" defTabSz="714375" fontAlgn="base">
              <a:spcBef>
                <a:spcPct val="20000"/>
              </a:spcBef>
              <a:spcAft>
                <a:spcPct val="0"/>
              </a:spcAft>
              <a:buClr>
                <a:schemeClr val="tx2"/>
              </a:buClr>
              <a:buFont typeface="Wingdings" pitchFamily="2" charset="2"/>
              <a:buChar char="§"/>
              <a:defRPr/>
            </a:pPr>
            <a:r>
              <a:rPr lang="es-MX" sz="1600" b="1" dirty="0"/>
              <a:t>Quite de Colaboración:</a:t>
            </a:r>
            <a:r>
              <a:rPr lang="es-MX" sz="1600" dirty="0"/>
              <a:t> Limita el cumplimiento a lo establecido en las descripciones de tareas.</a:t>
            </a:r>
          </a:p>
          <a:p>
            <a:pPr marL="269875" indent="-269875" algn="just" defTabSz="714375" fontAlgn="base">
              <a:spcBef>
                <a:spcPct val="20000"/>
              </a:spcBef>
              <a:spcAft>
                <a:spcPct val="0"/>
              </a:spcAft>
              <a:buClr>
                <a:schemeClr val="tx2"/>
              </a:buClr>
              <a:buFont typeface="Wingdings" pitchFamily="2" charset="2"/>
              <a:buChar char="§"/>
              <a:defRPr/>
            </a:pPr>
            <a:r>
              <a:rPr lang="es-ES" sz="1600" b="1" dirty="0">
                <a:solidFill>
                  <a:srgbClr val="FF0000"/>
                </a:solidFill>
              </a:rPr>
              <a:t>Sabotaje:</a:t>
            </a:r>
            <a:r>
              <a:rPr lang="es-ES" sz="1600" dirty="0">
                <a:solidFill>
                  <a:srgbClr val="FF0000"/>
                </a:solidFill>
              </a:rPr>
              <a:t> Depredación de Máquinas, Edificios, Etc. Constituye un ilícito grave. Configura un delito penal.</a:t>
            </a:r>
          </a:p>
          <a:p>
            <a:pPr marL="269875" indent="-269875" algn="just" defTabSz="714375" fontAlgn="base">
              <a:spcBef>
                <a:spcPct val="20000"/>
              </a:spcBef>
              <a:spcAft>
                <a:spcPct val="0"/>
              </a:spcAft>
              <a:buClr>
                <a:schemeClr val="tx2"/>
              </a:buClr>
              <a:buFont typeface="Wingdings" pitchFamily="2" charset="2"/>
              <a:buChar char="§"/>
              <a:defRPr/>
            </a:pPr>
            <a:r>
              <a:rPr lang="es-ES" sz="1600" b="1" dirty="0">
                <a:solidFill>
                  <a:srgbClr val="FF0000"/>
                </a:solidFill>
              </a:rPr>
              <a:t>Piquete:</a:t>
            </a:r>
            <a:r>
              <a:rPr lang="es-ES" sz="1600" dirty="0">
                <a:solidFill>
                  <a:srgbClr val="FF0000"/>
                </a:solidFill>
              </a:rPr>
              <a:t> Es un medio de presión. Cuando es pacífico y no viola otras disposiciones, es lícito.</a:t>
            </a:r>
            <a:endParaRPr lang="es-ES" sz="1400" dirty="0">
              <a:solidFill>
                <a:srgbClr val="FF0000"/>
              </a:solidFill>
              <a:latin typeface="Arial" charset="0"/>
            </a:endParaRPr>
          </a:p>
        </p:txBody>
      </p:sp>
      <p:sp>
        <p:nvSpPr>
          <p:cNvPr id="4" name="Rounded Rectangle 7"/>
          <p:cNvSpPr/>
          <p:nvPr/>
        </p:nvSpPr>
        <p:spPr>
          <a:xfrm>
            <a:off x="523844" y="1357298"/>
            <a:ext cx="8893206" cy="285752"/>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Recursos de acción directa de los trabajadores</a:t>
            </a:r>
            <a:endParaRPr lang="es-AR" b="1" dirty="0">
              <a:solidFill>
                <a:schemeClr val="tx1"/>
              </a:solidFill>
              <a:latin typeface="+mj-lt"/>
            </a:endParaRPr>
          </a:p>
        </p:txBody>
      </p:sp>
      <p:sp>
        <p:nvSpPr>
          <p:cNvPr id="6" name="Rectangle 3"/>
          <p:cNvSpPr txBox="1">
            <a:spLocks noChangeArrowheads="1"/>
          </p:cNvSpPr>
          <p:nvPr/>
        </p:nvSpPr>
        <p:spPr>
          <a:xfrm>
            <a:off x="0" y="5823797"/>
            <a:ext cx="9667908" cy="917573"/>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269875" indent="-269875" algn="just" defTabSz="714375" fontAlgn="base">
              <a:lnSpc>
                <a:spcPct val="90000"/>
              </a:lnSpc>
              <a:spcBef>
                <a:spcPct val="20000"/>
              </a:spcBef>
              <a:spcAft>
                <a:spcPct val="0"/>
              </a:spcAft>
              <a:buClr>
                <a:schemeClr val="tx2"/>
              </a:buClr>
              <a:buFont typeface="Wingdings" pitchFamily="2" charset="2"/>
              <a:buChar char="§"/>
              <a:defRPr/>
            </a:pPr>
            <a:r>
              <a:rPr lang="es-AR" sz="1600" dirty="0"/>
              <a:t>Su interrupción total o parcial ponen en peligro la vida, la salud, la libertad o la seguridad de parte de la población o de las personas en particular.</a:t>
            </a:r>
          </a:p>
          <a:p>
            <a:pPr marL="269875" indent="-269875" algn="just" defTabSz="714375" fontAlgn="base">
              <a:lnSpc>
                <a:spcPct val="90000"/>
              </a:lnSpc>
              <a:spcBef>
                <a:spcPct val="20000"/>
              </a:spcBef>
              <a:spcAft>
                <a:spcPct val="0"/>
              </a:spcAft>
              <a:buClr>
                <a:schemeClr val="tx2"/>
              </a:buClr>
              <a:buFont typeface="Wingdings" pitchFamily="2" charset="2"/>
              <a:buChar char="§"/>
              <a:defRPr/>
            </a:pPr>
            <a:r>
              <a:rPr lang="es-AR" sz="1600" dirty="0"/>
              <a:t>Servicios Sanitarios y Hospitalarios. Transporte. Agua Potable, Energía Eléctrica, Gas, Etc.</a:t>
            </a:r>
          </a:p>
          <a:p>
            <a:pPr marL="269875" indent="-269875" algn="just" defTabSz="714375" fontAlgn="base">
              <a:lnSpc>
                <a:spcPct val="90000"/>
              </a:lnSpc>
              <a:spcBef>
                <a:spcPct val="20000"/>
              </a:spcBef>
              <a:spcAft>
                <a:spcPct val="0"/>
              </a:spcAft>
              <a:buClr>
                <a:schemeClr val="tx2"/>
              </a:buClr>
              <a:buFont typeface="Wingdings" pitchFamily="2" charset="2"/>
              <a:buChar char="§"/>
              <a:defRPr/>
            </a:pPr>
            <a:r>
              <a:rPr lang="es-AR" sz="1600" b="1" dirty="0"/>
              <a:t>Se deben asegurar las prestaciones mínimas de los servicios durante el conflicto.</a:t>
            </a:r>
          </a:p>
        </p:txBody>
      </p:sp>
      <p:sp>
        <p:nvSpPr>
          <p:cNvPr id="8" name="Rounded Rectangle 7"/>
          <p:cNvSpPr/>
          <p:nvPr/>
        </p:nvSpPr>
        <p:spPr>
          <a:xfrm>
            <a:off x="128464" y="5447504"/>
            <a:ext cx="8103246" cy="285752"/>
          </a:xfrm>
          <a:prstGeom prst="roundRect">
            <a:avLst/>
          </a:prstGeom>
          <a:solidFill>
            <a:schemeClr val="accent1">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bg1"/>
                </a:solidFill>
                <a:latin typeface="+mj-lt"/>
              </a:rPr>
              <a:t>Conflictos en los servicios esenciales Dto.2184/90</a:t>
            </a:r>
            <a:endParaRPr lang="es-AR" b="1" dirty="0">
              <a:solidFill>
                <a:schemeClr val="bg1"/>
              </a:solidFill>
              <a:latin typeface="+mj-lt"/>
            </a:endParaRPr>
          </a:p>
        </p:txBody>
      </p:sp>
      <p:sp>
        <p:nvSpPr>
          <p:cNvPr id="9" name="Shape 52">
            <a:extLst>
              <a:ext uri="{FF2B5EF4-FFF2-40B4-BE49-F238E27FC236}">
                <a16:creationId xmlns:a16="http://schemas.microsoft.com/office/drawing/2014/main" id="{F0C989A4-4749-4507-8662-BDC209EFE34C}"/>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pic>
        <p:nvPicPr>
          <p:cNvPr id="10" name="Picture 2" descr="Crear y editar videos – Entramar – Tecnología Educativa Digital">
            <a:hlinkClick r:id="rId3" action="ppaction://hlinkfile"/>
            <a:extLst>
              <a:ext uri="{FF2B5EF4-FFF2-40B4-BE49-F238E27FC236}">
                <a16:creationId xmlns:a16="http://schemas.microsoft.com/office/drawing/2014/main" id="{C5E6D5F7-53B9-4FDB-A4E3-EDBFBCE4D24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17774" y="4581128"/>
            <a:ext cx="1104718" cy="90872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600CB2A3-DB26-038F-1557-7511565648CC}"/>
              </a:ext>
            </a:extLst>
          </p:cNvPr>
          <p:cNvGrpSpPr/>
          <p:nvPr/>
        </p:nvGrpSpPr>
        <p:grpSpPr>
          <a:xfrm>
            <a:off x="56458" y="657758"/>
            <a:ext cx="438243" cy="438243"/>
            <a:chOff x="4733878" y="3209878"/>
            <a:chExt cx="438243" cy="438243"/>
          </a:xfrm>
        </p:grpSpPr>
        <p:sp>
          <p:nvSpPr>
            <p:cNvPr id="5" name="Elipse 4">
              <a:extLst>
                <a:ext uri="{FF2B5EF4-FFF2-40B4-BE49-F238E27FC236}">
                  <a16:creationId xmlns:a16="http://schemas.microsoft.com/office/drawing/2014/main" id="{6442B44E-B06F-DBD9-78CB-5E1F312057A4}"/>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7" name="Rectángulo 6">
              <a:extLst>
                <a:ext uri="{FF2B5EF4-FFF2-40B4-BE49-F238E27FC236}">
                  <a16:creationId xmlns:a16="http://schemas.microsoft.com/office/drawing/2014/main" id="{56ACAA69-00E6-7983-B926-FFF67C6312F0}"/>
                </a:ext>
              </a:extLst>
            </p:cNvPr>
            <p:cNvSpPr/>
            <p:nvPr/>
          </p:nvSpPr>
          <p:spPr>
            <a:xfrm>
              <a:off x="4825909" y="3301909"/>
              <a:ext cx="254181" cy="254181"/>
            </a:xfrm>
            <a:prstGeom prst="rect">
              <a:avLst/>
            </a:prstGeom>
            <a: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7"/>
          <p:cNvSpPr/>
          <p:nvPr/>
        </p:nvSpPr>
        <p:spPr>
          <a:xfrm>
            <a:off x="523844" y="1357300"/>
            <a:ext cx="8893206" cy="271477"/>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La ilegalidad de la huelga</a:t>
            </a:r>
            <a:endParaRPr lang="es-AR" b="1" dirty="0">
              <a:solidFill>
                <a:schemeClr val="tx1"/>
              </a:solidFill>
              <a:latin typeface="+mj-lt"/>
            </a:endParaRPr>
          </a:p>
        </p:txBody>
      </p:sp>
      <p:sp>
        <p:nvSpPr>
          <p:cNvPr id="4" name="Rectangle 3"/>
          <p:cNvSpPr txBox="1">
            <a:spLocks noChangeArrowheads="1"/>
          </p:cNvSpPr>
          <p:nvPr/>
        </p:nvSpPr>
        <p:spPr>
          <a:xfrm>
            <a:off x="309530" y="2000240"/>
            <a:ext cx="9286940" cy="4669120"/>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lvl="0"/>
            <a:r>
              <a:rPr lang="es-MX" sz="1600" dirty="0"/>
              <a:t>La huelga puede ser </a:t>
            </a:r>
            <a:r>
              <a:rPr lang="es-MX" sz="1600" b="1" dirty="0">
                <a:solidFill>
                  <a:srgbClr val="FF0000"/>
                </a:solidFill>
              </a:rPr>
              <a:t>calificada de ilegal</a:t>
            </a:r>
            <a:r>
              <a:rPr lang="es-MX" sz="1600" dirty="0">
                <a:solidFill>
                  <a:srgbClr val="FF0000"/>
                </a:solidFill>
              </a:rPr>
              <a:t> </a:t>
            </a:r>
            <a:r>
              <a:rPr lang="es-MX" sz="1600" dirty="0"/>
              <a:t>por el Ministerio de Trabajo o por la Justicia.</a:t>
            </a:r>
            <a:endParaRPr lang="en-US" sz="1600" dirty="0"/>
          </a:p>
          <a:p>
            <a:pPr lvl="0"/>
            <a:r>
              <a:rPr lang="es-MX" sz="1600" dirty="0"/>
              <a:t>Se puede declarar ilegal si:</a:t>
            </a:r>
          </a:p>
          <a:p>
            <a:pPr lvl="0"/>
            <a:endParaRPr lang="en-US" sz="1600" dirty="0"/>
          </a:p>
          <a:p>
            <a:pPr marL="742950" lvl="1" indent="-285750">
              <a:buFont typeface="Arial" pitchFamily="34" charset="0"/>
              <a:buChar char="•"/>
            </a:pPr>
            <a:r>
              <a:rPr lang="es-MX" sz="1600" dirty="0"/>
              <a:t> </a:t>
            </a:r>
            <a:r>
              <a:rPr lang="es-MX" sz="1600" b="1" dirty="0"/>
              <a:t>No se agotaron los procedimientos de conciliación</a:t>
            </a:r>
            <a:r>
              <a:rPr lang="es-MX" sz="1600" dirty="0"/>
              <a:t>, establecidos en las normas vigentes o en  los CCT</a:t>
            </a:r>
            <a:endParaRPr lang="en-US" sz="1600" dirty="0"/>
          </a:p>
          <a:p>
            <a:pPr marL="742950" lvl="1" indent="-285750">
              <a:buFont typeface="Arial" pitchFamily="34" charset="0"/>
              <a:buChar char="•"/>
            </a:pPr>
            <a:r>
              <a:rPr lang="es-MX" sz="1600" dirty="0"/>
              <a:t> </a:t>
            </a:r>
            <a:r>
              <a:rPr lang="es-MX" sz="1600" b="1" dirty="0"/>
              <a:t>Su objeto no corresponde a una causa de carácter laboral</a:t>
            </a:r>
            <a:endParaRPr lang="en-US" sz="1600" b="1" dirty="0"/>
          </a:p>
          <a:p>
            <a:pPr marL="742950" lvl="1" indent="-285750">
              <a:buFont typeface="Arial" pitchFamily="34" charset="0"/>
              <a:buChar char="•"/>
            </a:pPr>
            <a:r>
              <a:rPr lang="es-MX" sz="1600" b="1" dirty="0"/>
              <a:t> No ha sido decidida por una asociación con personería gremial</a:t>
            </a:r>
            <a:endParaRPr lang="en-US" sz="1600" b="1" dirty="0"/>
          </a:p>
          <a:p>
            <a:pPr marL="742950" lvl="1" indent="-285750">
              <a:buFont typeface="Arial" pitchFamily="34" charset="0"/>
              <a:buChar char="•"/>
            </a:pPr>
            <a:r>
              <a:rPr lang="es-MX" sz="1600" dirty="0"/>
              <a:t> En su ejercicio se ha producido </a:t>
            </a:r>
            <a:r>
              <a:rPr lang="es-MX" sz="1600" b="1" dirty="0"/>
              <a:t>la toma del establecimiento o acciones de violencia sobre los bienes de la empresa.</a:t>
            </a:r>
            <a:endParaRPr lang="en-US" sz="1600" b="1" dirty="0"/>
          </a:p>
          <a:p>
            <a:pPr marL="269875" indent="-269875" defTabSz="714375" fontAlgn="base">
              <a:spcBef>
                <a:spcPct val="20000"/>
              </a:spcBef>
              <a:spcAft>
                <a:spcPct val="0"/>
              </a:spcAft>
              <a:buClr>
                <a:schemeClr val="tx2"/>
              </a:buClr>
              <a:defRPr/>
            </a:pPr>
            <a:endParaRPr lang="es-MX" sz="1600" b="1" dirty="0"/>
          </a:p>
          <a:p>
            <a:pPr marL="2868613" indent="-269875" defTabSz="714375" fontAlgn="base">
              <a:spcBef>
                <a:spcPct val="20000"/>
              </a:spcBef>
              <a:spcAft>
                <a:spcPct val="0"/>
              </a:spcAft>
              <a:buClr>
                <a:schemeClr val="tx2"/>
              </a:buClr>
              <a:defRPr/>
            </a:pPr>
            <a:r>
              <a:rPr lang="es-MX" sz="1600" b="1" dirty="0">
                <a:solidFill>
                  <a:srgbClr val="FF0000"/>
                </a:solidFill>
              </a:rPr>
              <a:t>CONSECUENCIAS  DE LA ILEGALIDAD DE  HUELGA</a:t>
            </a:r>
          </a:p>
          <a:p>
            <a:pPr marL="2868613" indent="-269875" defTabSz="714375" fontAlgn="base">
              <a:spcBef>
                <a:spcPct val="20000"/>
              </a:spcBef>
              <a:spcAft>
                <a:spcPct val="0"/>
              </a:spcAft>
              <a:buClr>
                <a:schemeClr val="tx2"/>
              </a:buClr>
              <a:buFont typeface="Arial" pitchFamily="34" charset="0"/>
              <a:buChar char="•"/>
              <a:defRPr/>
            </a:pPr>
            <a:r>
              <a:rPr lang="es-MX" sz="1600" dirty="0"/>
              <a:t>Cada trabajador que participe de una huelga ilegal, puede ser intimado  por el empleador a dejar sin efecto la medida y retomar el trabajo bajo apercibimiento de considerar su actitud grave injuria. </a:t>
            </a:r>
          </a:p>
          <a:p>
            <a:pPr marL="2868613" indent="-269875" defTabSz="714375" fontAlgn="base">
              <a:spcBef>
                <a:spcPct val="20000"/>
              </a:spcBef>
              <a:spcAft>
                <a:spcPct val="0"/>
              </a:spcAft>
              <a:buClr>
                <a:schemeClr val="tx2"/>
              </a:buClr>
              <a:buFont typeface="Arial" pitchFamily="34" charset="0"/>
              <a:buChar char="•"/>
              <a:defRPr/>
            </a:pPr>
            <a:r>
              <a:rPr lang="es-MX" sz="1600" dirty="0"/>
              <a:t>Cuando se declara ilegal la medida, por la autoridad laboral, la asociación sindical puede ser pasible de sanciones por el Ministerio de Trabajo ( suspensión y hasta cancelación de personaría gremial).</a:t>
            </a:r>
          </a:p>
        </p:txBody>
      </p:sp>
      <p:sp>
        <p:nvSpPr>
          <p:cNvPr id="6" name="Shape 52">
            <a:extLst>
              <a:ext uri="{FF2B5EF4-FFF2-40B4-BE49-F238E27FC236}">
                <a16:creationId xmlns:a16="http://schemas.microsoft.com/office/drawing/2014/main" id="{B925CE5E-1413-4FC9-8A8E-F261160578AB}"/>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pic>
        <p:nvPicPr>
          <p:cNvPr id="7" name="Imagen 6">
            <a:extLst>
              <a:ext uri="{FF2B5EF4-FFF2-40B4-BE49-F238E27FC236}">
                <a16:creationId xmlns:a16="http://schemas.microsoft.com/office/drawing/2014/main" id="{CF0FC9E3-A236-48C8-9CB6-F7D654E8404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4617034"/>
            <a:ext cx="3069816" cy="2240966"/>
          </a:xfrm>
          <a:prstGeom prst="rect">
            <a:avLst/>
          </a:prstGeom>
        </p:spPr>
      </p:pic>
      <p:grpSp>
        <p:nvGrpSpPr>
          <p:cNvPr id="2" name="Grupo 1">
            <a:extLst>
              <a:ext uri="{FF2B5EF4-FFF2-40B4-BE49-F238E27FC236}">
                <a16:creationId xmlns:a16="http://schemas.microsoft.com/office/drawing/2014/main" id="{BC22E97E-C54F-F009-2C2D-1FC2EAA4A120}"/>
              </a:ext>
            </a:extLst>
          </p:cNvPr>
          <p:cNvGrpSpPr/>
          <p:nvPr/>
        </p:nvGrpSpPr>
        <p:grpSpPr>
          <a:xfrm>
            <a:off x="56458" y="657758"/>
            <a:ext cx="438243" cy="438243"/>
            <a:chOff x="4733878" y="3209878"/>
            <a:chExt cx="438243" cy="438243"/>
          </a:xfrm>
        </p:grpSpPr>
        <p:sp>
          <p:nvSpPr>
            <p:cNvPr id="5" name="Elipse 4">
              <a:extLst>
                <a:ext uri="{FF2B5EF4-FFF2-40B4-BE49-F238E27FC236}">
                  <a16:creationId xmlns:a16="http://schemas.microsoft.com/office/drawing/2014/main" id="{9B867EDF-E6D5-8C43-75DF-39434AAB4220}"/>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8" name="Rectángulo 7">
              <a:extLst>
                <a:ext uri="{FF2B5EF4-FFF2-40B4-BE49-F238E27FC236}">
                  <a16:creationId xmlns:a16="http://schemas.microsoft.com/office/drawing/2014/main" id="{D5AAF023-87AA-3821-E786-EF17FD499D06}"/>
                </a:ext>
              </a:extLst>
            </p:cNvPr>
            <p:cNvSpPr/>
            <p:nvPr/>
          </p:nvSpPr>
          <p:spPr>
            <a:xfrm>
              <a:off x="4825909" y="3301909"/>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barn(inVertical)">
                                      <p:cBhvr>
                                        <p:cTn id="7" dur="500"/>
                                        <p:tgtEl>
                                          <p:spTgt spid="4">
                                            <p:txEl>
                                              <p:pRg st="8" end="8"/>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9" end="9"/>
                                            </p:txEl>
                                          </p:spTgt>
                                        </p:tgtEl>
                                        <p:attrNameLst>
                                          <p:attrName>style.visibility</p:attrName>
                                        </p:attrNameLst>
                                      </p:cBhvr>
                                      <p:to>
                                        <p:strVal val="visible"/>
                                      </p:to>
                                    </p:set>
                                    <p:animEffect transition="in" filter="barn(inVertical)">
                                      <p:cBhvr>
                                        <p:cTn id="10" dur="500"/>
                                        <p:tgtEl>
                                          <p:spTgt spid="4">
                                            <p:txEl>
                                              <p:pRg st="9" end="9"/>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animEffect transition="in" filter="barn(inVertical)">
                                      <p:cBhvr>
                                        <p:cTn id="13"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alpha val="52000"/>
          </a:schemeClr>
        </a:solidFill>
        <a:effectLst/>
      </p:bgPr>
    </p:bg>
    <p:spTree>
      <p:nvGrpSpPr>
        <p:cNvPr id="1" name=""/>
        <p:cNvGrpSpPr/>
        <p:nvPr/>
      </p:nvGrpSpPr>
      <p:grpSpPr>
        <a:xfrm>
          <a:off x="0" y="0"/>
          <a:ext cx="0" cy="0"/>
          <a:chOff x="0" y="0"/>
          <a:chExt cx="0" cy="0"/>
        </a:xfrm>
      </p:grpSpPr>
      <p:sp>
        <p:nvSpPr>
          <p:cNvPr id="9" name="8 CuadroTexto"/>
          <p:cNvSpPr txBox="1"/>
          <p:nvPr/>
        </p:nvSpPr>
        <p:spPr>
          <a:xfrm>
            <a:off x="3008784" y="2492896"/>
            <a:ext cx="5022890" cy="3046988"/>
          </a:xfrm>
          <a:prstGeom prst="rect">
            <a:avLst/>
          </a:prstGeom>
          <a:noFill/>
        </p:spPr>
        <p:txBody>
          <a:bodyPr wrap="square" rtlCol="0">
            <a:spAutoFit/>
          </a:bodyPr>
          <a:lstStyle/>
          <a:p>
            <a:pPr marL="533400" indent="-533400">
              <a:buClr>
                <a:srgbClr val="0070C0"/>
              </a:buClr>
              <a:buFont typeface="Wingdings" panose="05000000000000000000" pitchFamily="2" charset="2"/>
              <a:buChar char=""/>
            </a:pPr>
            <a:r>
              <a:rPr lang="es-ES" sz="2400" dirty="0"/>
              <a:t>El reclamo (verbal o escrito)</a:t>
            </a:r>
          </a:p>
          <a:p>
            <a:pPr marL="533400" indent="-533400">
              <a:buClr>
                <a:srgbClr val="0070C0"/>
              </a:buClr>
              <a:buFont typeface="Wingdings" panose="05000000000000000000" pitchFamily="2" charset="2"/>
              <a:buChar char=""/>
            </a:pPr>
            <a:r>
              <a:rPr lang="es-ES" sz="2400" dirty="0"/>
              <a:t>Inspecciones</a:t>
            </a:r>
          </a:p>
          <a:p>
            <a:pPr marL="533400" indent="-533400">
              <a:buClr>
                <a:srgbClr val="0070C0"/>
              </a:buClr>
              <a:buFont typeface="Wingdings" panose="05000000000000000000" pitchFamily="2" charset="2"/>
              <a:buChar char=""/>
            </a:pPr>
            <a:r>
              <a:rPr lang="es-ES" sz="2400" dirty="0"/>
              <a:t>Citaciones</a:t>
            </a:r>
          </a:p>
          <a:p>
            <a:pPr marL="533400" indent="-533400">
              <a:buClr>
                <a:srgbClr val="0070C0"/>
              </a:buClr>
              <a:buFont typeface="Wingdings" panose="05000000000000000000" pitchFamily="2" charset="2"/>
              <a:buChar char=""/>
            </a:pPr>
            <a:r>
              <a:rPr lang="es-ES" sz="2400" dirty="0"/>
              <a:t>Denuncias</a:t>
            </a:r>
          </a:p>
          <a:p>
            <a:pPr marL="533400" indent="-533400">
              <a:buClr>
                <a:srgbClr val="0070C0"/>
              </a:buClr>
              <a:buFont typeface="Wingdings" panose="05000000000000000000" pitchFamily="2" charset="2"/>
              <a:buChar char=""/>
            </a:pPr>
            <a:r>
              <a:rPr lang="es-ES" sz="2400" dirty="0"/>
              <a:t>Paro (parcial o total)</a:t>
            </a:r>
          </a:p>
          <a:p>
            <a:pPr marL="533400" indent="-533400">
              <a:buClr>
                <a:srgbClr val="0070C0"/>
              </a:buClr>
              <a:buFont typeface="Wingdings" panose="05000000000000000000" pitchFamily="2" charset="2"/>
              <a:buChar char=""/>
            </a:pPr>
            <a:r>
              <a:rPr lang="es-ES" sz="2400" dirty="0"/>
              <a:t>Huelga</a:t>
            </a:r>
          </a:p>
          <a:p>
            <a:pPr marL="533400" indent="-533400">
              <a:buClr>
                <a:srgbClr val="0070C0"/>
              </a:buClr>
              <a:buFont typeface="Wingdings" panose="05000000000000000000" pitchFamily="2" charset="2"/>
              <a:buChar char=""/>
            </a:pPr>
            <a:r>
              <a:rPr lang="es-ES" sz="2400" dirty="0"/>
              <a:t>Ocupación</a:t>
            </a:r>
          </a:p>
          <a:p>
            <a:pPr marL="533400" indent="-533400">
              <a:buClr>
                <a:srgbClr val="0070C0"/>
              </a:buClr>
              <a:buFont typeface="Wingdings" panose="05000000000000000000" pitchFamily="2" charset="2"/>
              <a:buChar char=""/>
            </a:pPr>
            <a:r>
              <a:rPr lang="es-ES" sz="2400" dirty="0"/>
              <a:t>Sabotaje</a:t>
            </a:r>
            <a:endParaRPr lang="es-AR" sz="2400" dirty="0"/>
          </a:p>
        </p:txBody>
      </p:sp>
      <p:sp>
        <p:nvSpPr>
          <p:cNvPr id="12" name="11 CuadroTexto"/>
          <p:cNvSpPr txBox="1"/>
          <p:nvPr/>
        </p:nvSpPr>
        <p:spPr>
          <a:xfrm>
            <a:off x="-15552" y="5949080"/>
            <a:ext cx="9921552" cy="923330"/>
          </a:xfrm>
          <a:prstGeom prst="rect">
            <a:avLst/>
          </a:prstGeom>
          <a:solidFill>
            <a:schemeClr val="accent4"/>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pPr marL="990600"/>
            <a:r>
              <a:rPr lang="es-ES" b="1" dirty="0"/>
              <a:t>IMPORTANTE!</a:t>
            </a:r>
          </a:p>
          <a:p>
            <a:pPr marL="990600"/>
            <a:r>
              <a:rPr lang="es-ES" dirty="0"/>
              <a:t>Determinar el conflicto y los actores es el primer paso importante, dado que es la obligación de los encargados de las relaciones gremiales </a:t>
            </a:r>
            <a:r>
              <a:rPr lang="es-ES" b="1" dirty="0"/>
              <a:t>EVITAR la escalada conflictiva.</a:t>
            </a:r>
            <a:endParaRPr lang="es-AR" b="1" dirty="0"/>
          </a:p>
        </p:txBody>
      </p:sp>
      <p:pic>
        <p:nvPicPr>
          <p:cNvPr id="3" name="Graphic 2" descr="Lightbulb and gear">
            <a:extLst>
              <a:ext uri="{FF2B5EF4-FFF2-40B4-BE49-F238E27FC236}">
                <a16:creationId xmlns:a16="http://schemas.microsoft.com/office/drawing/2014/main" id="{4063B602-62F0-7645-8CEB-E1FAE31F0E7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51" y="5923880"/>
            <a:ext cx="914400" cy="914400"/>
          </a:xfrm>
          <a:prstGeom prst="rect">
            <a:avLst/>
          </a:prstGeom>
        </p:spPr>
      </p:pic>
      <p:sp>
        <p:nvSpPr>
          <p:cNvPr id="11" name="Rounded Rectangle 7">
            <a:extLst>
              <a:ext uri="{FF2B5EF4-FFF2-40B4-BE49-F238E27FC236}">
                <a16:creationId xmlns:a16="http://schemas.microsoft.com/office/drawing/2014/main" id="{D540946D-47BC-D24C-B2B7-1FE98B8EFF4F}"/>
              </a:ext>
            </a:extLst>
          </p:cNvPr>
          <p:cNvSpPr/>
          <p:nvPr/>
        </p:nvSpPr>
        <p:spPr>
          <a:xfrm>
            <a:off x="273843" y="3224697"/>
            <a:ext cx="1726831" cy="1312982"/>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2000" b="1" dirty="0">
                <a:solidFill>
                  <a:schemeClr val="bg1"/>
                </a:solidFill>
                <a:latin typeface="+mj-lt"/>
              </a:rPr>
              <a:t>Formas de Reclamo Sindical</a:t>
            </a:r>
            <a:endParaRPr lang="es-AR" sz="2000" b="1" dirty="0">
              <a:solidFill>
                <a:schemeClr val="bg1"/>
              </a:solidFill>
              <a:latin typeface="+mj-lt"/>
            </a:endParaRPr>
          </a:p>
        </p:txBody>
      </p:sp>
      <p:sp>
        <p:nvSpPr>
          <p:cNvPr id="15" name="Shape 52">
            <a:extLst>
              <a:ext uri="{FF2B5EF4-FFF2-40B4-BE49-F238E27FC236}">
                <a16:creationId xmlns:a16="http://schemas.microsoft.com/office/drawing/2014/main" id="{A26C1350-BDFC-421F-A474-07D24D49E2FF}"/>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grpSp>
        <p:nvGrpSpPr>
          <p:cNvPr id="2" name="Grupo 1">
            <a:extLst>
              <a:ext uri="{FF2B5EF4-FFF2-40B4-BE49-F238E27FC236}">
                <a16:creationId xmlns:a16="http://schemas.microsoft.com/office/drawing/2014/main" id="{362B0196-686D-4987-70EB-6BE9D769A512}"/>
              </a:ext>
            </a:extLst>
          </p:cNvPr>
          <p:cNvGrpSpPr/>
          <p:nvPr/>
        </p:nvGrpSpPr>
        <p:grpSpPr>
          <a:xfrm>
            <a:off x="56458" y="657758"/>
            <a:ext cx="438243" cy="438243"/>
            <a:chOff x="4733878" y="3209878"/>
            <a:chExt cx="438243" cy="438243"/>
          </a:xfrm>
        </p:grpSpPr>
        <p:sp>
          <p:nvSpPr>
            <p:cNvPr id="4" name="Elipse 3">
              <a:extLst>
                <a:ext uri="{FF2B5EF4-FFF2-40B4-BE49-F238E27FC236}">
                  <a16:creationId xmlns:a16="http://schemas.microsoft.com/office/drawing/2014/main" id="{4C1B5D9E-6527-0EAF-4A34-CC1E01721EA3}"/>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5" name="Rectángulo 4">
              <a:extLst>
                <a:ext uri="{FF2B5EF4-FFF2-40B4-BE49-F238E27FC236}">
                  <a16:creationId xmlns:a16="http://schemas.microsoft.com/office/drawing/2014/main" id="{4182E302-3652-8A1C-B0ED-64454D70E31D}"/>
                </a:ext>
              </a:extLst>
            </p:cNvPr>
            <p:cNvSpPr/>
            <p:nvPr/>
          </p:nvSpPr>
          <p:spPr>
            <a:xfrm>
              <a:off x="4825909" y="3301909"/>
              <a:ext cx="254181" cy="254181"/>
            </a:xfrm>
            <a:prstGeom prst="rect">
              <a:avLst/>
            </a:prstGeom>
            <a: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p:spPr>
        </p:sp>
      </p:grpSp>
      <p:pic>
        <p:nvPicPr>
          <p:cNvPr id="16386" name="Picture 2" descr="Preparan lanzamiento de Mesa Sindical Luján - [Noticias de Luján] -  Bisemanario El Civismo">
            <a:extLst>
              <a:ext uri="{FF2B5EF4-FFF2-40B4-BE49-F238E27FC236}">
                <a16:creationId xmlns:a16="http://schemas.microsoft.com/office/drawing/2014/main" id="{552A5AD0-B263-64DB-615B-ADC5FAE1C78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552" y="1240322"/>
            <a:ext cx="209448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Argentina: Los sindicatos paralizan de nuevo Buenos Aires | EL PAÍS  Argentina">
            <a:extLst>
              <a:ext uri="{FF2B5EF4-FFF2-40B4-BE49-F238E27FC236}">
                <a16:creationId xmlns:a16="http://schemas.microsoft.com/office/drawing/2014/main" id="{9F9AA478-5958-B1C8-CCF4-59E1482F54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0153" y="1240322"/>
            <a:ext cx="192858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6392" name="Picture 8" descr="Análisis jurídico de la sentencia de la Corte Suprema sobre el derecho de  huelga - Infobae">
            <a:extLst>
              <a:ext uri="{FF2B5EF4-FFF2-40B4-BE49-F238E27FC236}">
                <a16:creationId xmlns:a16="http://schemas.microsoft.com/office/drawing/2014/main" id="{4FCFBAF6-A249-8ED9-150A-59BD447C861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009958" y="1240322"/>
            <a:ext cx="192162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6394" name="Picture 10" descr="Paraguay: policía reprime protesta sindical y deja 30 heridos | Noticias |  teleSUR">
            <a:extLst>
              <a:ext uri="{FF2B5EF4-FFF2-40B4-BE49-F238E27FC236}">
                <a16:creationId xmlns:a16="http://schemas.microsoft.com/office/drawing/2014/main" id="{9A82B531-9958-5BFA-CED6-7D80498E1A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32803" y="1240322"/>
            <a:ext cx="19713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6396" name="Picture 12" descr="Los sindicatos de transporte paralizan de nuevo Argentina a pocos meses de  las elecciones | Argentina | EL MUNDO">
            <a:extLst>
              <a:ext uri="{FF2B5EF4-FFF2-40B4-BE49-F238E27FC236}">
                <a16:creationId xmlns:a16="http://schemas.microsoft.com/office/drawing/2014/main" id="{AF8C0787-85BD-CCEA-C6C2-E73A1371620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05328" y="1240322"/>
            <a:ext cx="2217420" cy="1080000"/>
          </a:xfrm>
          <a:prstGeom prst="rect">
            <a:avLst/>
          </a:prstGeom>
          <a:noFill/>
          <a:extLst>
            <a:ext uri="{909E8E84-426E-40DD-AFC4-6F175D3DCCD1}">
              <a14:hiddenFill xmlns:a14="http://schemas.microsoft.com/office/drawing/2010/main">
                <a:solidFill>
                  <a:srgbClr val="FFFFFF"/>
                </a:solidFill>
              </a14:hiddenFill>
            </a:ext>
          </a:extLst>
        </p:spPr>
      </p:pic>
      <p:sp>
        <p:nvSpPr>
          <p:cNvPr id="6" name="Flecha: hacia abajo 5">
            <a:extLst>
              <a:ext uri="{FF2B5EF4-FFF2-40B4-BE49-F238E27FC236}">
                <a16:creationId xmlns:a16="http://schemas.microsoft.com/office/drawing/2014/main" id="{E9BC04BC-A00C-2B49-259F-2DF291AADEE3}"/>
              </a:ext>
            </a:extLst>
          </p:cNvPr>
          <p:cNvSpPr/>
          <p:nvPr/>
        </p:nvSpPr>
        <p:spPr>
          <a:xfrm>
            <a:off x="7617296" y="2492896"/>
            <a:ext cx="1226986" cy="3312368"/>
          </a:xfrm>
          <a:prstGeom prst="downArrow">
            <a:avLst/>
          </a:prstGeom>
          <a:gradFill>
            <a:gsLst>
              <a:gs pos="61000">
                <a:srgbClr val="FFFF00"/>
              </a:gs>
              <a:gs pos="18000">
                <a:srgbClr val="FF0000"/>
              </a:gs>
              <a:gs pos="100000">
                <a:srgbClr val="00B050"/>
              </a:gs>
            </a:gsLst>
            <a:lin ang="162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CuadroTexto 12">
            <a:extLst>
              <a:ext uri="{FF2B5EF4-FFF2-40B4-BE49-F238E27FC236}">
                <a16:creationId xmlns:a16="http://schemas.microsoft.com/office/drawing/2014/main" id="{27ED3EB4-3EF1-4D49-FFAC-37E35ED8420F}"/>
              </a:ext>
            </a:extLst>
          </p:cNvPr>
          <p:cNvSpPr txBox="1"/>
          <p:nvPr/>
        </p:nvSpPr>
        <p:spPr>
          <a:xfrm rot="16200000">
            <a:off x="7482865" y="3635442"/>
            <a:ext cx="2808311" cy="523220"/>
          </a:xfrm>
          <a:prstGeom prst="rect">
            <a:avLst/>
          </a:prstGeom>
          <a:noFill/>
        </p:spPr>
        <p:txBody>
          <a:bodyPr wrap="square">
            <a:spAutoFit/>
          </a:bodyPr>
          <a:lstStyle/>
          <a:p>
            <a:pPr algn="ctr"/>
            <a:r>
              <a:rPr lang="es-ES" sz="1400" dirty="0">
                <a:latin typeface="Century Gothic" pitchFamily="34" charset="0"/>
              </a:rPr>
              <a:t>El orden es de menor índice de litigiosidad a mayor</a:t>
            </a:r>
            <a:endParaRPr lang="es-AR" sz="1400" dirty="0">
              <a:latin typeface="Century Gothic"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831388" y="1937750"/>
            <a:ext cx="5572164" cy="369332"/>
          </a:xfrm>
          <a:prstGeom prst="rect">
            <a:avLst/>
          </a:prstGeom>
          <a:noFill/>
        </p:spPr>
        <p:txBody>
          <a:bodyPr wrap="square" rtlCol="0">
            <a:spAutoFit/>
          </a:bodyPr>
          <a:lstStyle/>
          <a:p>
            <a:r>
              <a:rPr lang="es-ES" dirty="0"/>
              <a:t>Demostrar </a:t>
            </a:r>
            <a:r>
              <a:rPr lang="es-ES" b="1" u="sng" dirty="0"/>
              <a:t>comprender </a:t>
            </a:r>
            <a:r>
              <a:rPr lang="es-ES" dirty="0"/>
              <a:t>lo explicado por la contraparte</a:t>
            </a:r>
            <a:endParaRPr lang="es-AR" dirty="0"/>
          </a:p>
        </p:txBody>
      </p:sp>
      <p:sp>
        <p:nvSpPr>
          <p:cNvPr id="6" name="5 Flecha abajo"/>
          <p:cNvSpPr/>
          <p:nvPr/>
        </p:nvSpPr>
        <p:spPr>
          <a:xfrm>
            <a:off x="4119114" y="2509254"/>
            <a:ext cx="928694" cy="500066"/>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6 CuadroTexto"/>
          <p:cNvSpPr txBox="1"/>
          <p:nvPr/>
        </p:nvSpPr>
        <p:spPr>
          <a:xfrm>
            <a:off x="1831388" y="3152196"/>
            <a:ext cx="5857916" cy="369332"/>
          </a:xfrm>
          <a:prstGeom prst="rect">
            <a:avLst/>
          </a:prstGeom>
          <a:noFill/>
        </p:spPr>
        <p:txBody>
          <a:bodyPr wrap="square" rtlCol="0">
            <a:spAutoFit/>
          </a:bodyPr>
          <a:lstStyle/>
          <a:p>
            <a:r>
              <a:rPr lang="es-ES" dirty="0"/>
              <a:t>Demostrar </a:t>
            </a:r>
            <a:r>
              <a:rPr lang="es-ES" b="1" u="sng" dirty="0"/>
              <a:t>entender </a:t>
            </a:r>
            <a:r>
              <a:rPr lang="es-ES" dirty="0"/>
              <a:t>cuales son sus intereses y prioridades</a:t>
            </a:r>
            <a:endParaRPr lang="es-AR" dirty="0"/>
          </a:p>
        </p:txBody>
      </p:sp>
      <p:sp>
        <p:nvSpPr>
          <p:cNvPr id="8" name="7 CuadroTexto"/>
          <p:cNvSpPr txBox="1"/>
          <p:nvPr/>
        </p:nvSpPr>
        <p:spPr>
          <a:xfrm>
            <a:off x="680454" y="2031703"/>
            <a:ext cx="606576" cy="3125489"/>
          </a:xfrm>
          <a:prstGeom prst="rect">
            <a:avLst/>
          </a:prstGeom>
          <a:solidFill>
            <a:srgbClr val="FFC000"/>
          </a:solidFill>
        </p:spPr>
        <p:style>
          <a:lnRef idx="1">
            <a:schemeClr val="accent3"/>
          </a:lnRef>
          <a:fillRef idx="3">
            <a:schemeClr val="accent3"/>
          </a:fillRef>
          <a:effectRef idx="2">
            <a:schemeClr val="accent3"/>
          </a:effectRef>
          <a:fontRef idx="minor">
            <a:schemeClr val="lt1"/>
          </a:fontRef>
        </p:style>
        <p:txBody>
          <a:bodyPr vert="wordArtVert" wrap="square" rtlCol="0">
            <a:spAutoFit/>
          </a:bodyPr>
          <a:lstStyle/>
          <a:p>
            <a:pPr algn="ctr"/>
            <a:r>
              <a:rPr lang="es-ES" sz="2000" dirty="0">
                <a:solidFill>
                  <a:schemeClr val="tx1"/>
                </a:solidFill>
                <a:latin typeface="Arial Black" pitchFamily="34" charset="0"/>
              </a:rPr>
              <a:t>EMPATIA</a:t>
            </a:r>
            <a:endParaRPr lang="es-AR" sz="2000" dirty="0">
              <a:solidFill>
                <a:schemeClr val="tx1"/>
              </a:solidFill>
              <a:latin typeface="Arial Black" pitchFamily="34" charset="0"/>
            </a:endParaRPr>
          </a:p>
        </p:txBody>
      </p:sp>
      <p:sp>
        <p:nvSpPr>
          <p:cNvPr id="9" name="8 Flecha abajo"/>
          <p:cNvSpPr/>
          <p:nvPr/>
        </p:nvSpPr>
        <p:spPr>
          <a:xfrm>
            <a:off x="4119114" y="3652262"/>
            <a:ext cx="928694" cy="500066"/>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9 CuadroTexto"/>
          <p:cNvSpPr txBox="1"/>
          <p:nvPr/>
        </p:nvSpPr>
        <p:spPr>
          <a:xfrm>
            <a:off x="1712640" y="4438080"/>
            <a:ext cx="5857916" cy="369332"/>
          </a:xfrm>
          <a:prstGeom prst="rect">
            <a:avLst/>
          </a:prstGeom>
          <a:noFill/>
        </p:spPr>
        <p:txBody>
          <a:bodyPr wrap="square" rtlCol="0">
            <a:spAutoFit/>
          </a:bodyPr>
          <a:lstStyle/>
          <a:p>
            <a:r>
              <a:rPr lang="es-ES" dirty="0"/>
              <a:t>Demostrar al otro nuestra predisposición a escuchar </a:t>
            </a:r>
            <a:endParaRPr lang="es-AR" dirty="0"/>
          </a:p>
        </p:txBody>
      </p:sp>
      <p:sp>
        <p:nvSpPr>
          <p:cNvPr id="11" name="10 Flecha abajo"/>
          <p:cNvSpPr/>
          <p:nvPr/>
        </p:nvSpPr>
        <p:spPr>
          <a:xfrm>
            <a:off x="4119114" y="4938146"/>
            <a:ext cx="928694" cy="500066"/>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11 CuadroTexto"/>
          <p:cNvSpPr txBox="1"/>
          <p:nvPr/>
        </p:nvSpPr>
        <p:spPr>
          <a:xfrm>
            <a:off x="560514" y="5840149"/>
            <a:ext cx="6374635" cy="461665"/>
          </a:xfrm>
          <a:prstGeom prst="rect">
            <a:avLst/>
          </a:prstGeom>
          <a:noFill/>
        </p:spPr>
        <p:txBody>
          <a:bodyPr wrap="square" rtlCol="0">
            <a:spAutoFit/>
          </a:bodyPr>
          <a:lstStyle/>
          <a:p>
            <a:pPr algn="ctr"/>
            <a:r>
              <a:rPr lang="es-ES" sz="2400" b="1" dirty="0">
                <a:solidFill>
                  <a:srgbClr val="C00000"/>
                </a:solidFill>
              </a:rPr>
              <a:t>Comunicar con claridad nuestro punto de vista</a:t>
            </a:r>
            <a:endParaRPr lang="es-AR" sz="2400" b="1" dirty="0">
              <a:solidFill>
                <a:srgbClr val="C00000"/>
              </a:solidFill>
            </a:endParaRPr>
          </a:p>
        </p:txBody>
      </p:sp>
      <p:sp>
        <p:nvSpPr>
          <p:cNvPr id="14" name="Rounded Rectangle 7">
            <a:extLst>
              <a:ext uri="{FF2B5EF4-FFF2-40B4-BE49-F238E27FC236}">
                <a16:creationId xmlns:a16="http://schemas.microsoft.com/office/drawing/2014/main" id="{90F70370-F93B-364D-B29B-70C83E45E6EF}"/>
              </a:ext>
            </a:extLst>
          </p:cNvPr>
          <p:cNvSpPr/>
          <p:nvPr/>
        </p:nvSpPr>
        <p:spPr>
          <a:xfrm>
            <a:off x="94940" y="1357300"/>
            <a:ext cx="9258722" cy="271477"/>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Qué hacer frente al reclamo sindical</a:t>
            </a:r>
            <a:endParaRPr lang="es-AR" b="1" dirty="0">
              <a:solidFill>
                <a:schemeClr val="tx1"/>
              </a:solidFill>
              <a:latin typeface="+mj-lt"/>
            </a:endParaRPr>
          </a:p>
        </p:txBody>
      </p:sp>
      <p:pic>
        <p:nvPicPr>
          <p:cNvPr id="4" name="Picture 3">
            <a:extLst>
              <a:ext uri="{FF2B5EF4-FFF2-40B4-BE49-F238E27FC236}">
                <a16:creationId xmlns:a16="http://schemas.microsoft.com/office/drawing/2014/main" id="{C6CDFC93-75DF-CE4D-862C-1212991B88B7}"/>
              </a:ext>
            </a:extLst>
          </p:cNvPr>
          <p:cNvPicPr>
            <a:picLocks noChangeAspect="1"/>
          </p:cNvPicPr>
          <p:nvPr/>
        </p:nvPicPr>
        <p:blipFill>
          <a:blip r:embed="rId3"/>
          <a:stretch>
            <a:fillRect/>
          </a:stretch>
        </p:blipFill>
        <p:spPr>
          <a:xfrm>
            <a:off x="6665838" y="3830505"/>
            <a:ext cx="3240163" cy="2988011"/>
          </a:xfrm>
          <a:prstGeom prst="rect">
            <a:avLst/>
          </a:prstGeom>
        </p:spPr>
      </p:pic>
      <p:sp>
        <p:nvSpPr>
          <p:cNvPr id="15" name="Rectangle 14">
            <a:extLst>
              <a:ext uri="{FF2B5EF4-FFF2-40B4-BE49-F238E27FC236}">
                <a16:creationId xmlns:a16="http://schemas.microsoft.com/office/drawing/2014/main" id="{2162150B-4866-8148-8C1C-6DA364E13E6A}"/>
              </a:ext>
            </a:extLst>
          </p:cNvPr>
          <p:cNvSpPr/>
          <p:nvPr/>
        </p:nvSpPr>
        <p:spPr>
          <a:xfrm>
            <a:off x="7683410" y="4365106"/>
            <a:ext cx="1734086" cy="954107"/>
          </a:xfrm>
          <a:prstGeom prst="rect">
            <a:avLst/>
          </a:prstGeom>
        </p:spPr>
        <p:txBody>
          <a:bodyPr wrap="square">
            <a:spAutoFit/>
          </a:bodyPr>
          <a:lstStyle/>
          <a:p>
            <a:pPr algn="ctr"/>
            <a:r>
              <a:rPr lang="es-ES" sz="1400" b="1" i="1" dirty="0">
                <a:solidFill>
                  <a:srgbClr val="0070C0"/>
                </a:solidFill>
              </a:rPr>
              <a:t>Evite tener preconceptos y dar las cosas por sentadas</a:t>
            </a:r>
            <a:endParaRPr lang="es-AR" sz="1400" b="1" i="1" dirty="0">
              <a:solidFill>
                <a:srgbClr val="0070C0"/>
              </a:solidFill>
            </a:endParaRPr>
          </a:p>
        </p:txBody>
      </p:sp>
      <p:sp>
        <p:nvSpPr>
          <p:cNvPr id="2" name="Rectángulo 1">
            <a:extLst>
              <a:ext uri="{FF2B5EF4-FFF2-40B4-BE49-F238E27FC236}">
                <a16:creationId xmlns:a16="http://schemas.microsoft.com/office/drawing/2014/main" id="{AACD55BE-6834-415F-84F7-92F9C04DA9D8}"/>
              </a:ext>
            </a:extLst>
          </p:cNvPr>
          <p:cNvSpPr/>
          <p:nvPr/>
        </p:nvSpPr>
        <p:spPr>
          <a:xfrm>
            <a:off x="1831388" y="1969384"/>
            <a:ext cx="1105388" cy="360040"/>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Rectángulo 16">
            <a:extLst>
              <a:ext uri="{FF2B5EF4-FFF2-40B4-BE49-F238E27FC236}">
                <a16:creationId xmlns:a16="http://schemas.microsoft.com/office/drawing/2014/main" id="{3D95FEA0-E060-4A68-B1DD-80055B31AADC}"/>
              </a:ext>
            </a:extLst>
          </p:cNvPr>
          <p:cNvSpPr/>
          <p:nvPr/>
        </p:nvSpPr>
        <p:spPr>
          <a:xfrm>
            <a:off x="1831388" y="3161488"/>
            <a:ext cx="1105388" cy="360040"/>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Rectángulo 17">
            <a:extLst>
              <a:ext uri="{FF2B5EF4-FFF2-40B4-BE49-F238E27FC236}">
                <a16:creationId xmlns:a16="http://schemas.microsoft.com/office/drawing/2014/main" id="{8594E6A1-66B0-425A-B4D4-F2BA5D01EE7A}"/>
              </a:ext>
            </a:extLst>
          </p:cNvPr>
          <p:cNvSpPr/>
          <p:nvPr/>
        </p:nvSpPr>
        <p:spPr>
          <a:xfrm>
            <a:off x="1786014" y="4430163"/>
            <a:ext cx="1105388" cy="360040"/>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Shape 52">
            <a:extLst>
              <a:ext uri="{FF2B5EF4-FFF2-40B4-BE49-F238E27FC236}">
                <a16:creationId xmlns:a16="http://schemas.microsoft.com/office/drawing/2014/main" id="{F9FB9D60-A6E8-446A-A7A2-DA9009153415}"/>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Conflictos Gremiales</a:t>
            </a:r>
          </a:p>
        </p:txBody>
      </p:sp>
      <p:grpSp>
        <p:nvGrpSpPr>
          <p:cNvPr id="3" name="Grupo 2">
            <a:extLst>
              <a:ext uri="{FF2B5EF4-FFF2-40B4-BE49-F238E27FC236}">
                <a16:creationId xmlns:a16="http://schemas.microsoft.com/office/drawing/2014/main" id="{85BF713D-7F3E-5CB8-45E9-77F69FCAAC8E}"/>
              </a:ext>
            </a:extLst>
          </p:cNvPr>
          <p:cNvGrpSpPr/>
          <p:nvPr/>
        </p:nvGrpSpPr>
        <p:grpSpPr>
          <a:xfrm>
            <a:off x="56458" y="657758"/>
            <a:ext cx="438243" cy="438243"/>
            <a:chOff x="4733878" y="3209878"/>
            <a:chExt cx="438243" cy="438243"/>
          </a:xfrm>
        </p:grpSpPr>
        <p:sp>
          <p:nvSpPr>
            <p:cNvPr id="13" name="Elipse 12">
              <a:extLst>
                <a:ext uri="{FF2B5EF4-FFF2-40B4-BE49-F238E27FC236}">
                  <a16:creationId xmlns:a16="http://schemas.microsoft.com/office/drawing/2014/main" id="{CA2AA7AE-BC0B-8D3B-49B5-6129BA82FE89}"/>
                </a:ext>
              </a:extLst>
            </p:cNvPr>
            <p:cNvSpPr/>
            <p:nvPr/>
          </p:nvSpPr>
          <p:spPr>
            <a:xfrm>
              <a:off x="4733878" y="3209878"/>
              <a:ext cx="438243" cy="438243"/>
            </a:xfrm>
            <a:prstGeom prst="ellipse">
              <a:avLst/>
            </a:prstGeom>
            <a:solidFill>
              <a:srgbClr val="ED7D31">
                <a:hueOff val="0"/>
                <a:satOff val="0"/>
                <a:lumOff val="0"/>
                <a:alphaOff val="0"/>
              </a:srgbClr>
            </a:solidFill>
            <a:ln>
              <a:noFill/>
            </a:ln>
            <a:effectLst/>
          </p:spPr>
        </p:sp>
        <p:sp>
          <p:nvSpPr>
            <p:cNvPr id="16" name="Rectángulo 15">
              <a:extLst>
                <a:ext uri="{FF2B5EF4-FFF2-40B4-BE49-F238E27FC236}">
                  <a16:creationId xmlns:a16="http://schemas.microsoft.com/office/drawing/2014/main" id="{B2300FA1-03DF-6209-2EAB-2258AC61F60A}"/>
                </a:ext>
              </a:extLst>
            </p:cNvPr>
            <p:cNvSpPr/>
            <p:nvPr/>
          </p:nvSpPr>
          <p:spPr>
            <a:xfrm>
              <a:off x="4825909" y="3301909"/>
              <a:ext cx="254181" cy="254181"/>
            </a:xfrm>
            <a:prstGeom prst="rect">
              <a:avLst/>
            </a:prstGeom>
            <a: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29CA81C0-3FF8-7E5A-C6F8-11369A0DC4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52" y="0"/>
            <a:ext cx="10295228" cy="68580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6AA07034-85ED-F2D2-EB14-F9370A60C245}"/>
              </a:ext>
            </a:extLst>
          </p:cNvPr>
          <p:cNvSpPr>
            <a:spLocks noGrp="1"/>
          </p:cNvSpPr>
          <p:nvPr>
            <p:ph type="title"/>
          </p:nvPr>
        </p:nvSpPr>
        <p:spPr/>
        <p:txBody>
          <a:bodyPr/>
          <a:lstStyle/>
          <a:p>
            <a:r>
              <a:rPr lang="es-AR" b="1" dirty="0"/>
              <a:t>Negociación</a:t>
            </a:r>
          </a:p>
        </p:txBody>
      </p:sp>
    </p:spTree>
    <p:extLst>
      <p:ext uri="{BB962C8B-B14F-4D97-AF65-F5344CB8AC3E}">
        <p14:creationId xmlns:p14="http://schemas.microsoft.com/office/powerpoint/2010/main" val="2578665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Diagrama"/>
          <p:cNvGraphicFramePr/>
          <p:nvPr>
            <p:extLst>
              <p:ext uri="{D42A27DB-BD31-4B8C-83A1-F6EECF244321}">
                <p14:modId xmlns:p14="http://schemas.microsoft.com/office/powerpoint/2010/main" val="4263524345"/>
              </p:ext>
            </p:extLst>
          </p:nvPr>
        </p:nvGraphicFramePr>
        <p:xfrm>
          <a:off x="772762" y="2132858"/>
          <a:ext cx="7996662" cy="40004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2">
            <a:extLst>
              <a:ext uri="{FF2B5EF4-FFF2-40B4-BE49-F238E27FC236}">
                <a16:creationId xmlns:a16="http://schemas.microsoft.com/office/drawing/2014/main" id="{435666FB-5210-4298-942F-FD0773DC2E90}"/>
              </a:ext>
            </a:extLst>
          </p:cNvPr>
          <p:cNvPicPr>
            <a:picLocks noChangeAspect="1" noChangeArrowheads="1"/>
          </p:cNvPicPr>
          <p:nvPr/>
        </p:nvPicPr>
        <p:blipFill>
          <a:blip r:embed="rId7">
            <a:clrChange>
              <a:clrFrom>
                <a:srgbClr val="F9F8F6"/>
              </a:clrFrom>
              <a:clrTo>
                <a:srgbClr val="F9F8F6">
                  <a:alpha val="0"/>
                </a:srgbClr>
              </a:clrTo>
            </a:clrChange>
            <a:extLst>
              <a:ext uri="{28A0092B-C50C-407E-A947-70E740481C1C}">
                <a14:useLocalDpi xmlns:a14="http://schemas.microsoft.com/office/drawing/2010/main"/>
              </a:ext>
            </a:extLst>
          </a:blip>
          <a:srcRect/>
          <a:stretch>
            <a:fillRect/>
          </a:stretch>
        </p:blipFill>
        <p:spPr bwMode="auto">
          <a:xfrm>
            <a:off x="8121354" y="1236533"/>
            <a:ext cx="1773447" cy="1328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Shape 52">
            <a:extLst>
              <a:ext uri="{FF2B5EF4-FFF2-40B4-BE49-F238E27FC236}">
                <a16:creationId xmlns:a16="http://schemas.microsoft.com/office/drawing/2014/main" id="{AC15AA0C-B3B5-4024-8FFD-EFC50D18312E}"/>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grpSp>
        <p:nvGrpSpPr>
          <p:cNvPr id="2" name="Grupo 1">
            <a:extLst>
              <a:ext uri="{FF2B5EF4-FFF2-40B4-BE49-F238E27FC236}">
                <a16:creationId xmlns:a16="http://schemas.microsoft.com/office/drawing/2014/main" id="{01A3D66A-E26A-F050-8BF1-90E7CDAEA9E3}"/>
              </a:ext>
            </a:extLst>
          </p:cNvPr>
          <p:cNvGrpSpPr/>
          <p:nvPr/>
        </p:nvGrpSpPr>
        <p:grpSpPr>
          <a:xfrm>
            <a:off x="56458" y="674114"/>
            <a:ext cx="438243" cy="438243"/>
            <a:chOff x="4733878" y="3209878"/>
            <a:chExt cx="438243" cy="438243"/>
          </a:xfrm>
        </p:grpSpPr>
        <p:sp>
          <p:nvSpPr>
            <p:cNvPr id="3" name="Elipse 2">
              <a:extLst>
                <a:ext uri="{FF2B5EF4-FFF2-40B4-BE49-F238E27FC236}">
                  <a16:creationId xmlns:a16="http://schemas.microsoft.com/office/drawing/2014/main" id="{3A053DF1-B3AF-7CAA-5F97-D165F8C71AFE}"/>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4" name="Rectángulo 3">
              <a:extLst>
                <a:ext uri="{FF2B5EF4-FFF2-40B4-BE49-F238E27FC236}">
                  <a16:creationId xmlns:a16="http://schemas.microsoft.com/office/drawing/2014/main" id="{93F5687D-D5E5-D259-CBCB-9B2F08A9C7CF}"/>
                </a:ext>
              </a:extLst>
            </p:cNvPr>
            <p:cNvSpPr/>
            <p:nvPr/>
          </p:nvSpPr>
          <p:spPr>
            <a:xfrm>
              <a:off x="4825909" y="3301909"/>
              <a:ext cx="254181" cy="254181"/>
            </a:xfrm>
            <a:prstGeom prst="rect">
              <a:avLst/>
            </a:prstGeom>
            <a: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p:spPr>
        </p:sp>
      </p:grpSp>
      <p:sp>
        <p:nvSpPr>
          <p:cNvPr id="6" name="2 CuadroTexto">
            <a:extLst>
              <a:ext uri="{FF2B5EF4-FFF2-40B4-BE49-F238E27FC236}">
                <a16:creationId xmlns:a16="http://schemas.microsoft.com/office/drawing/2014/main" id="{35564233-2E8C-6A1C-B0D6-0CCC06D3605B}"/>
              </a:ext>
            </a:extLst>
          </p:cNvPr>
          <p:cNvSpPr txBox="1"/>
          <p:nvPr/>
        </p:nvSpPr>
        <p:spPr>
          <a:xfrm>
            <a:off x="56456" y="6033482"/>
            <a:ext cx="9721080" cy="707886"/>
          </a:xfrm>
          <a:prstGeom prst="rect">
            <a:avLst/>
          </a:prstGeom>
          <a:solidFill>
            <a:schemeClr val="accent4">
              <a:lumMod val="7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 sz="2000" b="1" dirty="0"/>
              <a:t>Hay una condición que es indispensable, para que haya negociación y es que debe existir “Conflicto”.</a:t>
            </a:r>
            <a:endParaRPr lang="es-AR" sz="20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28464" y="1403484"/>
            <a:ext cx="6929486" cy="369332"/>
          </a:xfrm>
          <a:prstGeom prst="rect">
            <a:avLst/>
          </a:prstGeom>
          <a:noFill/>
        </p:spPr>
        <p:txBody>
          <a:bodyPr wrap="square" rtlCol="0">
            <a:spAutoFit/>
          </a:bodyPr>
          <a:lstStyle/>
          <a:p>
            <a:r>
              <a:rPr lang="es-ES" b="1" dirty="0"/>
              <a:t>En el mundo laboral tenemos 3 instancias para la negociación:  </a:t>
            </a:r>
            <a:endParaRPr lang="es-AR" b="1" dirty="0"/>
          </a:p>
        </p:txBody>
      </p:sp>
      <p:graphicFrame>
        <p:nvGraphicFramePr>
          <p:cNvPr id="9" name="8 Diagrama"/>
          <p:cNvGraphicFramePr/>
          <p:nvPr>
            <p:extLst>
              <p:ext uri="{D42A27DB-BD31-4B8C-83A1-F6EECF244321}">
                <p14:modId xmlns:p14="http://schemas.microsoft.com/office/powerpoint/2010/main" val="1869439032"/>
              </p:ext>
            </p:extLst>
          </p:nvPr>
        </p:nvGraphicFramePr>
        <p:xfrm>
          <a:off x="56456" y="2060848"/>
          <a:ext cx="8496944"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52">
            <a:extLst>
              <a:ext uri="{FF2B5EF4-FFF2-40B4-BE49-F238E27FC236}">
                <a16:creationId xmlns:a16="http://schemas.microsoft.com/office/drawing/2014/main" id="{D44FF7BD-61EA-4758-8D77-2C3A73C9BF4D}"/>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grpSp>
        <p:nvGrpSpPr>
          <p:cNvPr id="5" name="Grupo 4">
            <a:extLst>
              <a:ext uri="{FF2B5EF4-FFF2-40B4-BE49-F238E27FC236}">
                <a16:creationId xmlns:a16="http://schemas.microsoft.com/office/drawing/2014/main" id="{EFBC2E3F-EC28-7596-9A6C-0AFE57DBE050}"/>
              </a:ext>
            </a:extLst>
          </p:cNvPr>
          <p:cNvGrpSpPr/>
          <p:nvPr/>
        </p:nvGrpSpPr>
        <p:grpSpPr>
          <a:xfrm>
            <a:off x="56458" y="674114"/>
            <a:ext cx="438243" cy="438243"/>
            <a:chOff x="4733878" y="3209878"/>
            <a:chExt cx="438243" cy="438243"/>
          </a:xfrm>
        </p:grpSpPr>
        <p:sp>
          <p:nvSpPr>
            <p:cNvPr id="7" name="Elipse 6">
              <a:extLst>
                <a:ext uri="{FF2B5EF4-FFF2-40B4-BE49-F238E27FC236}">
                  <a16:creationId xmlns:a16="http://schemas.microsoft.com/office/drawing/2014/main" id="{E7FB5F06-D910-497D-92F9-7CE0E9C89903}"/>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10" name="Rectángulo 9">
              <a:extLst>
                <a:ext uri="{FF2B5EF4-FFF2-40B4-BE49-F238E27FC236}">
                  <a16:creationId xmlns:a16="http://schemas.microsoft.com/office/drawing/2014/main" id="{51107A7E-8AF9-E773-536F-E5774FC30B5F}"/>
                </a:ext>
              </a:extLst>
            </p:cNvPr>
            <p:cNvSpPr/>
            <p:nvPr/>
          </p:nvSpPr>
          <p:spPr>
            <a:xfrm>
              <a:off x="4825909" y="3301909"/>
              <a:ext cx="254181" cy="254181"/>
            </a:xfrm>
            <a:prstGeom prst="rect">
              <a:avLst/>
            </a:prstGeom>
            <a: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p:spPr>
        </p:sp>
      </p:grpSp>
      <p:pic>
        <p:nvPicPr>
          <p:cNvPr id="12" name="Picture 4" descr="Por apatía y desinformación, 30% de trabajadores no participa en sindicatos">
            <a:extLst>
              <a:ext uri="{FF2B5EF4-FFF2-40B4-BE49-F238E27FC236}">
                <a16:creationId xmlns:a16="http://schemas.microsoft.com/office/drawing/2014/main" id="{B6656DFB-4CDF-A3CF-3E0B-E4473851ADA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10485" y="1876726"/>
            <a:ext cx="1908000" cy="1431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6E6C8C2C-2BFF-784C-AA62-0D7B505B0432}"/>
              </a:ext>
            </a:extLst>
          </p:cNvPr>
          <p:cNvPicPr>
            <a:picLocks noChangeAspect="1"/>
          </p:cNvPicPr>
          <p:nvPr/>
        </p:nvPicPr>
        <p:blipFill>
          <a:blip r:embed="rId11"/>
          <a:stretch>
            <a:fillRect/>
          </a:stretch>
        </p:blipFill>
        <p:spPr>
          <a:xfrm>
            <a:off x="7905328" y="4569511"/>
            <a:ext cx="1908000" cy="1349327"/>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432259" y="1268762"/>
            <a:ext cx="9041482" cy="954107"/>
          </a:xfrm>
          <a:prstGeom prst="rect">
            <a:avLst/>
          </a:prstGeom>
          <a:solidFill>
            <a:srgbClr val="004062"/>
          </a:solidFill>
          <a:ln/>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 sz="2800" b="1" i="1" dirty="0">
                <a:latin typeface="Bodoni MT" panose="02070603080606020203" pitchFamily="18" charset="0"/>
              </a:rPr>
              <a:t>“capacidad demostrada para tender puentes de diálogo y de acuerdo con la otra parte”.</a:t>
            </a:r>
            <a:endParaRPr lang="es-AR" sz="2800" b="1" i="1" dirty="0">
              <a:latin typeface="Bodoni MT" panose="02070603080606020203" pitchFamily="18" charset="0"/>
            </a:endParaRPr>
          </a:p>
        </p:txBody>
      </p:sp>
      <p:sp>
        <p:nvSpPr>
          <p:cNvPr id="6" name="5 CuadroTexto"/>
          <p:cNvSpPr txBox="1"/>
          <p:nvPr/>
        </p:nvSpPr>
        <p:spPr>
          <a:xfrm>
            <a:off x="128464" y="3433914"/>
            <a:ext cx="2344296" cy="1015663"/>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2000" b="1" dirty="0"/>
              <a:t>Se requiere de una suma integrada de habilidades</a:t>
            </a:r>
            <a:endParaRPr lang="es-AR" sz="2000" b="1" dirty="0"/>
          </a:p>
        </p:txBody>
      </p:sp>
      <p:sp>
        <p:nvSpPr>
          <p:cNvPr id="10" name="9 CuadroTexto"/>
          <p:cNvSpPr txBox="1"/>
          <p:nvPr/>
        </p:nvSpPr>
        <p:spPr>
          <a:xfrm>
            <a:off x="2457076" y="2818359"/>
            <a:ext cx="2960693" cy="3539430"/>
          </a:xfrm>
          <a:prstGeom prst="rect">
            <a:avLst/>
          </a:prstGeom>
          <a:noFill/>
        </p:spPr>
        <p:txBody>
          <a:bodyPr wrap="square" rtlCol="0">
            <a:spAutoFit/>
          </a:bodyPr>
          <a:lstStyle/>
          <a:p>
            <a:pPr marL="285750" indent="-285750">
              <a:buFont typeface="Courier New" panose="02070309020205020404" pitchFamily="49" charset="0"/>
              <a:buChar char="o"/>
            </a:pPr>
            <a:r>
              <a:rPr lang="es-ES" sz="2800" dirty="0">
                <a:latin typeface="Arial Narrow" pitchFamily="34" charset="0"/>
              </a:rPr>
              <a:t>Asertividad</a:t>
            </a:r>
          </a:p>
          <a:p>
            <a:pPr marL="285750" indent="-285750">
              <a:buFont typeface="Courier New" panose="02070309020205020404" pitchFamily="49" charset="0"/>
              <a:buChar char="o"/>
            </a:pPr>
            <a:r>
              <a:rPr lang="es-ES" sz="2800" dirty="0">
                <a:latin typeface="Arial Narrow" pitchFamily="34" charset="0"/>
              </a:rPr>
              <a:t>Inteligencia emocional</a:t>
            </a:r>
          </a:p>
          <a:p>
            <a:pPr marL="285750" indent="-285750">
              <a:buFont typeface="Courier New" panose="02070309020205020404" pitchFamily="49" charset="0"/>
              <a:buChar char="o"/>
            </a:pPr>
            <a:r>
              <a:rPr lang="es-ES" sz="2800" dirty="0">
                <a:latin typeface="Arial Narrow" pitchFamily="34" charset="0"/>
              </a:rPr>
              <a:t>Escucha activa</a:t>
            </a:r>
          </a:p>
          <a:p>
            <a:pPr marL="285750" indent="-285750">
              <a:buFont typeface="Courier New" panose="02070309020205020404" pitchFamily="49" charset="0"/>
              <a:buChar char="o"/>
            </a:pPr>
            <a:r>
              <a:rPr lang="es-ES" sz="2800" dirty="0">
                <a:latin typeface="Arial Narrow" pitchFamily="34" charset="0"/>
              </a:rPr>
              <a:t>Creatividad</a:t>
            </a:r>
          </a:p>
          <a:p>
            <a:pPr marL="285750" indent="-285750">
              <a:buFont typeface="Courier New" panose="02070309020205020404" pitchFamily="49" charset="0"/>
              <a:buChar char="o"/>
            </a:pPr>
            <a:r>
              <a:rPr lang="es-ES" sz="2800" dirty="0">
                <a:latin typeface="Arial Narrow" pitchFamily="34" charset="0"/>
              </a:rPr>
              <a:t>Empatía</a:t>
            </a:r>
          </a:p>
          <a:p>
            <a:pPr marL="285750" indent="-285750">
              <a:buFont typeface="Courier New" panose="02070309020205020404" pitchFamily="49" charset="0"/>
              <a:buChar char="o"/>
            </a:pPr>
            <a:r>
              <a:rPr lang="es-ES" sz="2800" dirty="0">
                <a:latin typeface="Arial Narrow" pitchFamily="34" charset="0"/>
              </a:rPr>
              <a:t>Preparación</a:t>
            </a:r>
          </a:p>
          <a:p>
            <a:pPr marL="285750" indent="-285750">
              <a:buFont typeface="Courier New" panose="02070309020205020404" pitchFamily="49" charset="0"/>
              <a:buChar char="o"/>
            </a:pPr>
            <a:r>
              <a:rPr lang="es-ES" sz="2800" dirty="0">
                <a:latin typeface="Arial Narrow" pitchFamily="34" charset="0"/>
              </a:rPr>
              <a:t>Interculturalidad</a:t>
            </a:r>
          </a:p>
        </p:txBody>
      </p:sp>
      <p:sp>
        <p:nvSpPr>
          <p:cNvPr id="80898" name="AutoShape 2" descr="Técnicas para afrontar con éxito una negociación desigual"/>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7" name="Left Bracket 6">
            <a:extLst>
              <a:ext uri="{FF2B5EF4-FFF2-40B4-BE49-F238E27FC236}">
                <a16:creationId xmlns:a16="http://schemas.microsoft.com/office/drawing/2014/main" id="{A76A606B-AA6B-8C41-8339-D08499BFE061}"/>
              </a:ext>
            </a:extLst>
          </p:cNvPr>
          <p:cNvSpPr/>
          <p:nvPr/>
        </p:nvSpPr>
        <p:spPr>
          <a:xfrm>
            <a:off x="2360714" y="2708921"/>
            <a:ext cx="167495" cy="3648869"/>
          </a:xfrm>
          <a:prstGeom prst="leftBracket">
            <a:avLst/>
          </a:prstGeom>
          <a:ln>
            <a:solidFill>
              <a:srgbClr val="0070C0"/>
            </a:solidFill>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AR">
              <a:solidFill>
                <a:srgbClr val="0070C0"/>
              </a:solidFill>
            </a:endParaRPr>
          </a:p>
        </p:txBody>
      </p:sp>
      <p:sp>
        <p:nvSpPr>
          <p:cNvPr id="14" name="Shape 52">
            <a:extLst>
              <a:ext uri="{FF2B5EF4-FFF2-40B4-BE49-F238E27FC236}">
                <a16:creationId xmlns:a16="http://schemas.microsoft.com/office/drawing/2014/main" id="{13C5EB55-1187-463F-ADE9-162D2C3E16C7}"/>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grpSp>
        <p:nvGrpSpPr>
          <p:cNvPr id="2" name="Grupo 1">
            <a:extLst>
              <a:ext uri="{FF2B5EF4-FFF2-40B4-BE49-F238E27FC236}">
                <a16:creationId xmlns:a16="http://schemas.microsoft.com/office/drawing/2014/main" id="{1728580C-64A8-BFC7-F60F-D1593DF49B5C}"/>
              </a:ext>
            </a:extLst>
          </p:cNvPr>
          <p:cNvGrpSpPr/>
          <p:nvPr/>
        </p:nvGrpSpPr>
        <p:grpSpPr>
          <a:xfrm>
            <a:off x="56458" y="674114"/>
            <a:ext cx="438243" cy="438243"/>
            <a:chOff x="4733878" y="3209878"/>
            <a:chExt cx="438243" cy="438243"/>
          </a:xfrm>
        </p:grpSpPr>
        <p:sp>
          <p:nvSpPr>
            <p:cNvPr id="8" name="Elipse 7">
              <a:extLst>
                <a:ext uri="{FF2B5EF4-FFF2-40B4-BE49-F238E27FC236}">
                  <a16:creationId xmlns:a16="http://schemas.microsoft.com/office/drawing/2014/main" id="{6E9E6F61-4AC6-9D4A-638F-0B27CCDB5383}"/>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9" name="Rectángulo 8">
              <a:extLst>
                <a:ext uri="{FF2B5EF4-FFF2-40B4-BE49-F238E27FC236}">
                  <a16:creationId xmlns:a16="http://schemas.microsoft.com/office/drawing/2014/main" id="{9BB1C84E-94D1-6F53-A9B7-D24F23535FE5}"/>
                </a:ext>
              </a:extLst>
            </p:cNvPr>
            <p:cNvSpPr/>
            <p:nvPr/>
          </p:nvSpPr>
          <p:spPr>
            <a:xfrm>
              <a:off x="4825909" y="3301909"/>
              <a:ext cx="254181" cy="254181"/>
            </a:xfrm>
            <a:prstGeom prst="rect">
              <a:avLst/>
            </a:prstGeom>
            <a: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p:spPr>
        </p:sp>
      </p:grpSp>
      <p:pic>
        <p:nvPicPr>
          <p:cNvPr id="12" name="Imagen 11">
            <a:extLst>
              <a:ext uri="{FF2B5EF4-FFF2-40B4-BE49-F238E27FC236}">
                <a16:creationId xmlns:a16="http://schemas.microsoft.com/office/drawing/2014/main" id="{ECA09688-04BF-D1DA-6567-7829FFFD45CE}"/>
              </a:ext>
            </a:extLst>
          </p:cNvPr>
          <p:cNvPicPr>
            <a:picLocks noChangeAspect="1"/>
          </p:cNvPicPr>
          <p:nvPr/>
        </p:nvPicPr>
        <p:blipFill>
          <a:blip r:embed="rId4"/>
          <a:stretch>
            <a:fillRect/>
          </a:stretch>
        </p:blipFill>
        <p:spPr>
          <a:xfrm>
            <a:off x="5385050" y="2478108"/>
            <a:ext cx="4400445" cy="3879681"/>
          </a:xfrm>
          <a:custGeom>
            <a:avLst/>
            <a:gdLst>
              <a:gd name="connsiteX0" fmla="*/ 0 w 4400445"/>
              <a:gd name="connsiteY0" fmla="*/ 0 h 3879681"/>
              <a:gd name="connsiteX1" fmla="*/ 672639 w 4400445"/>
              <a:gd name="connsiteY1" fmla="*/ 0 h 3879681"/>
              <a:gd name="connsiteX2" fmla="*/ 1389283 w 4400445"/>
              <a:gd name="connsiteY2" fmla="*/ 0 h 3879681"/>
              <a:gd name="connsiteX3" fmla="*/ 2105927 w 4400445"/>
              <a:gd name="connsiteY3" fmla="*/ 0 h 3879681"/>
              <a:gd name="connsiteX4" fmla="*/ 2734562 w 4400445"/>
              <a:gd name="connsiteY4" fmla="*/ 0 h 3879681"/>
              <a:gd name="connsiteX5" fmla="*/ 3319193 w 4400445"/>
              <a:gd name="connsiteY5" fmla="*/ 0 h 3879681"/>
              <a:gd name="connsiteX6" fmla="*/ 3815814 w 4400445"/>
              <a:gd name="connsiteY6" fmla="*/ 0 h 3879681"/>
              <a:gd name="connsiteX7" fmla="*/ 4400445 w 4400445"/>
              <a:gd name="connsiteY7" fmla="*/ 0 h 3879681"/>
              <a:gd name="connsiteX8" fmla="*/ 4400445 w 4400445"/>
              <a:gd name="connsiteY8" fmla="*/ 724207 h 3879681"/>
              <a:gd name="connsiteX9" fmla="*/ 4400445 w 4400445"/>
              <a:gd name="connsiteY9" fmla="*/ 1448414 h 3879681"/>
              <a:gd name="connsiteX10" fmla="*/ 4400445 w 4400445"/>
              <a:gd name="connsiteY10" fmla="*/ 2095028 h 3879681"/>
              <a:gd name="connsiteX11" fmla="*/ 4400445 w 4400445"/>
              <a:gd name="connsiteY11" fmla="*/ 2664048 h 3879681"/>
              <a:gd name="connsiteX12" fmla="*/ 4400445 w 4400445"/>
              <a:gd name="connsiteY12" fmla="*/ 3310661 h 3879681"/>
              <a:gd name="connsiteX13" fmla="*/ 4400445 w 4400445"/>
              <a:gd name="connsiteY13" fmla="*/ 3879681 h 3879681"/>
              <a:gd name="connsiteX14" fmla="*/ 3815814 w 4400445"/>
              <a:gd name="connsiteY14" fmla="*/ 3879681 h 3879681"/>
              <a:gd name="connsiteX15" fmla="*/ 3275188 w 4400445"/>
              <a:gd name="connsiteY15" fmla="*/ 3879681 h 3879681"/>
              <a:gd name="connsiteX16" fmla="*/ 2734562 w 4400445"/>
              <a:gd name="connsiteY16" fmla="*/ 3879681 h 3879681"/>
              <a:gd name="connsiteX17" fmla="*/ 2149932 w 4400445"/>
              <a:gd name="connsiteY17" fmla="*/ 3879681 h 3879681"/>
              <a:gd name="connsiteX18" fmla="*/ 1521297 w 4400445"/>
              <a:gd name="connsiteY18" fmla="*/ 3879681 h 3879681"/>
              <a:gd name="connsiteX19" fmla="*/ 804653 w 4400445"/>
              <a:gd name="connsiteY19" fmla="*/ 3879681 h 3879681"/>
              <a:gd name="connsiteX20" fmla="*/ 0 w 4400445"/>
              <a:gd name="connsiteY20" fmla="*/ 3879681 h 3879681"/>
              <a:gd name="connsiteX21" fmla="*/ 0 w 4400445"/>
              <a:gd name="connsiteY21" fmla="*/ 3233068 h 3879681"/>
              <a:gd name="connsiteX22" fmla="*/ 0 w 4400445"/>
              <a:gd name="connsiteY22" fmla="*/ 2508860 h 3879681"/>
              <a:gd name="connsiteX23" fmla="*/ 0 w 4400445"/>
              <a:gd name="connsiteY23" fmla="*/ 1978637 h 3879681"/>
              <a:gd name="connsiteX24" fmla="*/ 0 w 4400445"/>
              <a:gd name="connsiteY24" fmla="*/ 1254430 h 3879681"/>
              <a:gd name="connsiteX25" fmla="*/ 0 w 4400445"/>
              <a:gd name="connsiteY25" fmla="*/ 724207 h 3879681"/>
              <a:gd name="connsiteX26" fmla="*/ 0 w 4400445"/>
              <a:gd name="connsiteY26" fmla="*/ 0 h 387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00445" h="3879681" fill="none" extrusionOk="0">
                <a:moveTo>
                  <a:pt x="0" y="0"/>
                </a:moveTo>
                <a:cubicBezTo>
                  <a:pt x="307684" y="31483"/>
                  <a:pt x="440529" y="23730"/>
                  <a:pt x="672639" y="0"/>
                </a:cubicBezTo>
                <a:cubicBezTo>
                  <a:pt x="904749" y="-23730"/>
                  <a:pt x="1210534" y="-31911"/>
                  <a:pt x="1389283" y="0"/>
                </a:cubicBezTo>
                <a:cubicBezTo>
                  <a:pt x="1568032" y="31911"/>
                  <a:pt x="1836385" y="22754"/>
                  <a:pt x="2105927" y="0"/>
                </a:cubicBezTo>
                <a:cubicBezTo>
                  <a:pt x="2375469" y="-22754"/>
                  <a:pt x="2486068" y="5840"/>
                  <a:pt x="2734562" y="0"/>
                </a:cubicBezTo>
                <a:cubicBezTo>
                  <a:pt x="2983057" y="-5840"/>
                  <a:pt x="3200285" y="7998"/>
                  <a:pt x="3319193" y="0"/>
                </a:cubicBezTo>
                <a:cubicBezTo>
                  <a:pt x="3438101" y="-7998"/>
                  <a:pt x="3684271" y="-21907"/>
                  <a:pt x="3815814" y="0"/>
                </a:cubicBezTo>
                <a:cubicBezTo>
                  <a:pt x="3947357" y="21907"/>
                  <a:pt x="4198908" y="-25855"/>
                  <a:pt x="4400445" y="0"/>
                </a:cubicBezTo>
                <a:cubicBezTo>
                  <a:pt x="4384121" y="221364"/>
                  <a:pt x="4419042" y="495831"/>
                  <a:pt x="4400445" y="724207"/>
                </a:cubicBezTo>
                <a:cubicBezTo>
                  <a:pt x="4381848" y="952583"/>
                  <a:pt x="4409229" y="1175484"/>
                  <a:pt x="4400445" y="1448414"/>
                </a:cubicBezTo>
                <a:cubicBezTo>
                  <a:pt x="4391661" y="1721344"/>
                  <a:pt x="4399228" y="1774466"/>
                  <a:pt x="4400445" y="2095028"/>
                </a:cubicBezTo>
                <a:cubicBezTo>
                  <a:pt x="4401662" y="2415590"/>
                  <a:pt x="4379396" y="2509109"/>
                  <a:pt x="4400445" y="2664048"/>
                </a:cubicBezTo>
                <a:cubicBezTo>
                  <a:pt x="4421494" y="2818987"/>
                  <a:pt x="4391316" y="3053153"/>
                  <a:pt x="4400445" y="3310661"/>
                </a:cubicBezTo>
                <a:cubicBezTo>
                  <a:pt x="4409574" y="3568169"/>
                  <a:pt x="4417824" y="3662940"/>
                  <a:pt x="4400445" y="3879681"/>
                </a:cubicBezTo>
                <a:cubicBezTo>
                  <a:pt x="4161243" y="3861515"/>
                  <a:pt x="4052045" y="3864540"/>
                  <a:pt x="3815814" y="3879681"/>
                </a:cubicBezTo>
                <a:cubicBezTo>
                  <a:pt x="3579583" y="3894822"/>
                  <a:pt x="3501383" y="3906601"/>
                  <a:pt x="3275188" y="3879681"/>
                </a:cubicBezTo>
                <a:cubicBezTo>
                  <a:pt x="3048993" y="3852761"/>
                  <a:pt x="2882239" y="3896860"/>
                  <a:pt x="2734562" y="3879681"/>
                </a:cubicBezTo>
                <a:cubicBezTo>
                  <a:pt x="2586885" y="3862502"/>
                  <a:pt x="2300439" y="3857387"/>
                  <a:pt x="2149932" y="3879681"/>
                </a:cubicBezTo>
                <a:cubicBezTo>
                  <a:pt x="1999425" y="3901976"/>
                  <a:pt x="1738971" y="3861616"/>
                  <a:pt x="1521297" y="3879681"/>
                </a:cubicBezTo>
                <a:cubicBezTo>
                  <a:pt x="1303624" y="3897746"/>
                  <a:pt x="987159" y="3865478"/>
                  <a:pt x="804653" y="3879681"/>
                </a:cubicBezTo>
                <a:cubicBezTo>
                  <a:pt x="622147" y="3893884"/>
                  <a:pt x="316952" y="3864268"/>
                  <a:pt x="0" y="3879681"/>
                </a:cubicBezTo>
                <a:cubicBezTo>
                  <a:pt x="-14030" y="3725886"/>
                  <a:pt x="30659" y="3408077"/>
                  <a:pt x="0" y="3233068"/>
                </a:cubicBezTo>
                <a:cubicBezTo>
                  <a:pt x="-30659" y="3058059"/>
                  <a:pt x="27086" y="2796422"/>
                  <a:pt x="0" y="2508860"/>
                </a:cubicBezTo>
                <a:cubicBezTo>
                  <a:pt x="-27086" y="2221298"/>
                  <a:pt x="-1821" y="2098620"/>
                  <a:pt x="0" y="1978637"/>
                </a:cubicBezTo>
                <a:cubicBezTo>
                  <a:pt x="1821" y="1858654"/>
                  <a:pt x="3035" y="1494397"/>
                  <a:pt x="0" y="1254430"/>
                </a:cubicBezTo>
                <a:cubicBezTo>
                  <a:pt x="-3035" y="1014463"/>
                  <a:pt x="-10942" y="911810"/>
                  <a:pt x="0" y="724207"/>
                </a:cubicBezTo>
                <a:cubicBezTo>
                  <a:pt x="10942" y="536604"/>
                  <a:pt x="12579" y="342982"/>
                  <a:pt x="0" y="0"/>
                </a:cubicBezTo>
                <a:close/>
              </a:path>
              <a:path w="4400445" h="3879681" stroke="0" extrusionOk="0">
                <a:moveTo>
                  <a:pt x="0" y="0"/>
                </a:moveTo>
                <a:cubicBezTo>
                  <a:pt x="232433" y="11986"/>
                  <a:pt x="399699" y="-23691"/>
                  <a:pt x="540626" y="0"/>
                </a:cubicBezTo>
                <a:cubicBezTo>
                  <a:pt x="681553" y="23691"/>
                  <a:pt x="894981" y="20202"/>
                  <a:pt x="1037248" y="0"/>
                </a:cubicBezTo>
                <a:cubicBezTo>
                  <a:pt x="1179515" y="-20202"/>
                  <a:pt x="1423295" y="-22858"/>
                  <a:pt x="1577874" y="0"/>
                </a:cubicBezTo>
                <a:cubicBezTo>
                  <a:pt x="1732453" y="22858"/>
                  <a:pt x="2034239" y="-22238"/>
                  <a:pt x="2206509" y="0"/>
                </a:cubicBezTo>
                <a:cubicBezTo>
                  <a:pt x="2378779" y="22238"/>
                  <a:pt x="2697352" y="-21217"/>
                  <a:pt x="2923153" y="0"/>
                </a:cubicBezTo>
                <a:cubicBezTo>
                  <a:pt x="3148954" y="21217"/>
                  <a:pt x="3368165" y="10909"/>
                  <a:pt x="3639797" y="0"/>
                </a:cubicBezTo>
                <a:cubicBezTo>
                  <a:pt x="3911429" y="-10909"/>
                  <a:pt x="4180609" y="-33891"/>
                  <a:pt x="4400445" y="0"/>
                </a:cubicBezTo>
                <a:cubicBezTo>
                  <a:pt x="4367361" y="142131"/>
                  <a:pt x="4392878" y="519707"/>
                  <a:pt x="4400445" y="685410"/>
                </a:cubicBezTo>
                <a:cubicBezTo>
                  <a:pt x="4408013" y="851113"/>
                  <a:pt x="4389104" y="1140340"/>
                  <a:pt x="4400445" y="1370821"/>
                </a:cubicBezTo>
                <a:cubicBezTo>
                  <a:pt x="4411786" y="1601302"/>
                  <a:pt x="4366083" y="1919443"/>
                  <a:pt x="4400445" y="2095028"/>
                </a:cubicBezTo>
                <a:cubicBezTo>
                  <a:pt x="4434807" y="2270613"/>
                  <a:pt x="4386204" y="2550121"/>
                  <a:pt x="4400445" y="2664048"/>
                </a:cubicBezTo>
                <a:cubicBezTo>
                  <a:pt x="4414686" y="2777975"/>
                  <a:pt x="4404834" y="2966211"/>
                  <a:pt x="4400445" y="3233068"/>
                </a:cubicBezTo>
                <a:cubicBezTo>
                  <a:pt x="4396056" y="3499925"/>
                  <a:pt x="4398276" y="3619072"/>
                  <a:pt x="4400445" y="3879681"/>
                </a:cubicBezTo>
                <a:cubicBezTo>
                  <a:pt x="4128908" y="3858100"/>
                  <a:pt x="3835372" y="3886351"/>
                  <a:pt x="3683801" y="3879681"/>
                </a:cubicBezTo>
                <a:cubicBezTo>
                  <a:pt x="3532230" y="3873011"/>
                  <a:pt x="3389049" y="3852764"/>
                  <a:pt x="3143175" y="3879681"/>
                </a:cubicBezTo>
                <a:cubicBezTo>
                  <a:pt x="2897301" y="3906598"/>
                  <a:pt x="2731221" y="3855255"/>
                  <a:pt x="2514540" y="3879681"/>
                </a:cubicBezTo>
                <a:cubicBezTo>
                  <a:pt x="2297859" y="3904107"/>
                  <a:pt x="2059256" y="3899713"/>
                  <a:pt x="1885905" y="3879681"/>
                </a:cubicBezTo>
                <a:cubicBezTo>
                  <a:pt x="1712554" y="3859649"/>
                  <a:pt x="1492813" y="3905761"/>
                  <a:pt x="1257270" y="3879681"/>
                </a:cubicBezTo>
                <a:cubicBezTo>
                  <a:pt x="1021727" y="3853601"/>
                  <a:pt x="948219" y="3864478"/>
                  <a:pt x="760648" y="3879681"/>
                </a:cubicBezTo>
                <a:cubicBezTo>
                  <a:pt x="573077" y="3894884"/>
                  <a:pt x="195608" y="3860355"/>
                  <a:pt x="0" y="3879681"/>
                </a:cubicBezTo>
                <a:cubicBezTo>
                  <a:pt x="-21714" y="3675703"/>
                  <a:pt x="2180" y="3570244"/>
                  <a:pt x="0" y="3271864"/>
                </a:cubicBezTo>
                <a:cubicBezTo>
                  <a:pt x="-2180" y="2973484"/>
                  <a:pt x="10119" y="2883939"/>
                  <a:pt x="0" y="2625251"/>
                </a:cubicBezTo>
                <a:cubicBezTo>
                  <a:pt x="-10119" y="2366563"/>
                  <a:pt x="31562" y="2184673"/>
                  <a:pt x="0" y="1978637"/>
                </a:cubicBezTo>
                <a:cubicBezTo>
                  <a:pt x="-31562" y="1772601"/>
                  <a:pt x="-32160" y="1575697"/>
                  <a:pt x="0" y="1293227"/>
                </a:cubicBezTo>
                <a:cubicBezTo>
                  <a:pt x="32160" y="1010757"/>
                  <a:pt x="25089" y="924612"/>
                  <a:pt x="0" y="763004"/>
                </a:cubicBezTo>
                <a:cubicBezTo>
                  <a:pt x="-25089" y="601396"/>
                  <a:pt x="34445" y="357346"/>
                  <a:pt x="0" y="0"/>
                </a:cubicBezTo>
                <a:close/>
              </a:path>
            </a:pathLst>
          </a:custGeom>
          <a:ln w="57150">
            <a:solidFill>
              <a:srgbClr val="FF0000"/>
            </a:solidFill>
            <a:extLst>
              <a:ext uri="{C807C97D-BFC1-408E-A445-0C87EB9F89A2}">
                <ask:lineSketchStyleProps xmlns:ask="http://schemas.microsoft.com/office/drawing/2018/sketchyshapes" sd="1253169802">
                  <a:prstGeom prst="rect">
                    <a:avLst/>
                  </a:prstGeom>
                  <ask:type>
                    <ask:lineSketchFreehand/>
                  </ask:type>
                </ask:lineSketchStyleProps>
              </a:ext>
            </a:extLst>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2684035919"/>
              </p:ext>
            </p:extLst>
          </p:nvPr>
        </p:nvGraphicFramePr>
        <p:xfrm>
          <a:off x="94940" y="3066288"/>
          <a:ext cx="9322110" cy="3603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19 CuadroTexto"/>
          <p:cNvSpPr txBox="1"/>
          <p:nvPr/>
        </p:nvSpPr>
        <p:spPr>
          <a:xfrm rot="5400000">
            <a:off x="1603681" y="439721"/>
            <a:ext cx="553998" cy="3552352"/>
          </a:xfrm>
          <a:prstGeom prst="rect">
            <a:avLst/>
          </a:prstGeom>
          <a:solidFill>
            <a:srgbClr val="FFC000"/>
          </a:solidFill>
        </p:spPr>
        <p:style>
          <a:lnRef idx="1">
            <a:schemeClr val="accent2"/>
          </a:lnRef>
          <a:fillRef idx="2">
            <a:schemeClr val="accent2"/>
          </a:fillRef>
          <a:effectRef idx="1">
            <a:schemeClr val="accent2"/>
          </a:effectRef>
          <a:fontRef idx="minor">
            <a:schemeClr val="dk1"/>
          </a:fontRef>
        </p:style>
        <p:txBody>
          <a:bodyPr vert="vert270" wrap="square" rtlCol="0">
            <a:spAutoFit/>
          </a:bodyPr>
          <a:lstStyle/>
          <a:p>
            <a:pPr algn="ctr"/>
            <a:r>
              <a:rPr lang="es-ES" sz="2400" b="1" dirty="0">
                <a:latin typeface="Tahoma" panose="020B0604030504040204" pitchFamily="34" charset="0"/>
                <a:ea typeface="Tahoma" panose="020B0604030504040204" pitchFamily="34" charset="0"/>
                <a:cs typeface="Tahoma" panose="020B0604030504040204" pitchFamily="34" charset="0"/>
              </a:rPr>
              <a:t>MÉTODO HARVARD</a:t>
            </a:r>
            <a:endParaRPr lang="es-AR" sz="2400" b="1" dirty="0">
              <a:latin typeface="Tahoma" panose="020B0604030504040204" pitchFamily="34" charset="0"/>
              <a:ea typeface="Tahoma" panose="020B0604030504040204" pitchFamily="34" charset="0"/>
              <a:cs typeface="Tahoma" panose="020B0604030504040204" pitchFamily="34" charset="0"/>
            </a:endParaRPr>
          </a:p>
        </p:txBody>
      </p:sp>
      <p:sp>
        <p:nvSpPr>
          <p:cNvPr id="21" name="Rounded Rectangle 7">
            <a:extLst>
              <a:ext uri="{FF2B5EF4-FFF2-40B4-BE49-F238E27FC236}">
                <a16:creationId xmlns:a16="http://schemas.microsoft.com/office/drawing/2014/main" id="{DE953D4E-CA00-404A-8855-65AAC8D11541}"/>
              </a:ext>
            </a:extLst>
          </p:cNvPr>
          <p:cNvSpPr/>
          <p:nvPr/>
        </p:nvSpPr>
        <p:spPr>
          <a:xfrm>
            <a:off x="94940" y="1357300"/>
            <a:ext cx="9258722" cy="271477"/>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Principios de la Negociación</a:t>
            </a:r>
            <a:endParaRPr lang="es-AR" b="1" dirty="0">
              <a:solidFill>
                <a:schemeClr val="tx1"/>
              </a:solidFill>
              <a:latin typeface="+mj-lt"/>
            </a:endParaRPr>
          </a:p>
        </p:txBody>
      </p:sp>
      <p:sp>
        <p:nvSpPr>
          <p:cNvPr id="2" name="TextBox 1">
            <a:extLst>
              <a:ext uri="{FF2B5EF4-FFF2-40B4-BE49-F238E27FC236}">
                <a16:creationId xmlns:a16="http://schemas.microsoft.com/office/drawing/2014/main" id="{02F44748-FE62-C344-89FD-43B5C26EEB9E}"/>
              </a:ext>
            </a:extLst>
          </p:cNvPr>
          <p:cNvSpPr txBox="1"/>
          <p:nvPr/>
        </p:nvSpPr>
        <p:spPr>
          <a:xfrm>
            <a:off x="3962156" y="1783646"/>
            <a:ext cx="5599356" cy="1200329"/>
          </a:xfrm>
          <a:prstGeom prst="rect">
            <a:avLst/>
          </a:prstGeom>
          <a:noFill/>
        </p:spPr>
        <p:txBody>
          <a:bodyPr wrap="square" rtlCol="0">
            <a:spAutoFit/>
          </a:bodyPr>
          <a:lstStyle/>
          <a:p>
            <a:r>
              <a:rPr lang="es-ES" i="1" dirty="0"/>
              <a:t>El método Harvard pretende mostrar una nueva forma de resolver los conflictos, apartándose de la teoría que para que alguien gane en una negociación alguien debe perder.</a:t>
            </a:r>
          </a:p>
          <a:p>
            <a:endParaRPr lang="en-AR" i="1" dirty="0"/>
          </a:p>
        </p:txBody>
      </p:sp>
      <p:sp>
        <p:nvSpPr>
          <p:cNvPr id="8" name="Shape 52">
            <a:extLst>
              <a:ext uri="{FF2B5EF4-FFF2-40B4-BE49-F238E27FC236}">
                <a16:creationId xmlns:a16="http://schemas.microsoft.com/office/drawing/2014/main" id="{3B427ED7-9083-482B-A745-0585D6DA1E79}"/>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grpSp>
        <p:nvGrpSpPr>
          <p:cNvPr id="7" name="Grupo 6">
            <a:extLst>
              <a:ext uri="{FF2B5EF4-FFF2-40B4-BE49-F238E27FC236}">
                <a16:creationId xmlns:a16="http://schemas.microsoft.com/office/drawing/2014/main" id="{5D8BA5A4-0F41-FCAD-EF5B-602E1ADCA992}"/>
              </a:ext>
            </a:extLst>
          </p:cNvPr>
          <p:cNvGrpSpPr/>
          <p:nvPr/>
        </p:nvGrpSpPr>
        <p:grpSpPr>
          <a:xfrm>
            <a:off x="56458" y="674114"/>
            <a:ext cx="438243" cy="438243"/>
            <a:chOff x="4733878" y="3209878"/>
            <a:chExt cx="438243" cy="438243"/>
          </a:xfrm>
        </p:grpSpPr>
        <p:sp>
          <p:nvSpPr>
            <p:cNvPr id="9" name="Elipse 8">
              <a:extLst>
                <a:ext uri="{FF2B5EF4-FFF2-40B4-BE49-F238E27FC236}">
                  <a16:creationId xmlns:a16="http://schemas.microsoft.com/office/drawing/2014/main" id="{40A4E3C8-C290-26BD-317D-C223BA52FBDB}"/>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10" name="Rectángulo 9">
              <a:extLst>
                <a:ext uri="{FF2B5EF4-FFF2-40B4-BE49-F238E27FC236}">
                  <a16:creationId xmlns:a16="http://schemas.microsoft.com/office/drawing/2014/main" id="{F09232E0-D1DC-1B14-A0DF-C0A405615AF2}"/>
                </a:ext>
              </a:extLst>
            </p:cNvPr>
            <p:cNvSpPr/>
            <p:nvPr/>
          </p:nvSpPr>
          <p:spPr>
            <a:xfrm>
              <a:off x="4825909" y="3301909"/>
              <a:ext cx="254181" cy="254181"/>
            </a:xfrm>
            <a:prstGeom prst="rect">
              <a:avLst/>
            </a:prstGeom>
            <a: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p:spPr>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12 CuadroTexto"/>
          <p:cNvSpPr txBox="1"/>
          <p:nvPr/>
        </p:nvSpPr>
        <p:spPr>
          <a:xfrm>
            <a:off x="344488" y="1285862"/>
            <a:ext cx="9361040" cy="2800767"/>
          </a:xfrm>
          <a:prstGeom prst="rect">
            <a:avLst/>
          </a:prstGeom>
          <a:noFill/>
          <a:ln>
            <a:solidFill>
              <a:srgbClr val="00B050"/>
            </a:solidFill>
          </a:ln>
        </p:spPr>
        <p:txBody>
          <a:bodyPr wrap="square" rtlCol="0">
            <a:spAutoFit/>
          </a:bodyPr>
          <a:lstStyle/>
          <a:p>
            <a:r>
              <a:rPr lang="es-ES" sz="1600" dirty="0"/>
              <a:t>El método Harvard pretende mostrar una nueva forma de resolver los conflictos, apartándose de la teoría que para que alguien gane en una negociación alguien debe perder.</a:t>
            </a:r>
          </a:p>
          <a:p>
            <a:endParaRPr lang="es-ES" sz="1600" dirty="0"/>
          </a:p>
          <a:p>
            <a:r>
              <a:rPr lang="es-ES" sz="1600" dirty="0"/>
              <a:t>Hacer las negociaciones más eficientes para todas las partes. Esto es  </a:t>
            </a:r>
            <a:r>
              <a:rPr lang="es-ES" sz="1600" dirty="0">
                <a:solidFill>
                  <a:srgbClr val="00B050"/>
                </a:solidFill>
              </a:rPr>
              <a:t>la </a:t>
            </a:r>
            <a:r>
              <a:rPr lang="es-ES" sz="1600" b="1" u="sng" dirty="0">
                <a:solidFill>
                  <a:srgbClr val="00B050"/>
                </a:solidFill>
              </a:rPr>
              <a:t>negociación inteligente</a:t>
            </a:r>
            <a:r>
              <a:rPr lang="es-ES" sz="1600" dirty="0"/>
              <a:t>.</a:t>
            </a:r>
          </a:p>
          <a:p>
            <a:r>
              <a:rPr lang="es-ES" sz="1600" b="1" u="sng" dirty="0"/>
              <a:t>El buen negociador debe reconocer que:</a:t>
            </a:r>
          </a:p>
          <a:p>
            <a:pPr marL="342900" indent="-342900">
              <a:buFont typeface="+mj-lt"/>
              <a:buAutoNum type="alphaLcParenR"/>
            </a:pPr>
            <a:r>
              <a:rPr lang="es-ES" sz="1600" dirty="0"/>
              <a:t>La negociación se hace con personas con quienes tenemos una relación de interdependencia</a:t>
            </a:r>
          </a:p>
          <a:p>
            <a:pPr marL="342900" indent="-342900">
              <a:buFont typeface="+mj-lt"/>
              <a:buAutoNum type="alphaLcParenR"/>
            </a:pPr>
            <a:r>
              <a:rPr lang="es-ES" sz="1600" dirty="0"/>
              <a:t>La negociación es realmente un proceso en el cual se trata de influir al otro</a:t>
            </a:r>
          </a:p>
          <a:p>
            <a:pPr marL="342900" indent="-342900">
              <a:buFont typeface="+mj-lt"/>
              <a:buAutoNum type="alphaLcParenR"/>
            </a:pPr>
            <a:r>
              <a:rPr lang="es-ES" sz="1600" dirty="0"/>
              <a:t>Queremos que el otro tome una decisión especifica que nos conviene</a:t>
            </a:r>
          </a:p>
          <a:p>
            <a:pPr marL="342900" indent="-342900">
              <a:buFont typeface="+mj-lt"/>
              <a:buAutoNum type="alphaLcParenR"/>
            </a:pPr>
            <a:r>
              <a:rPr lang="es-ES" sz="1600" dirty="0"/>
              <a:t>Debemos analizar las situaciones  que ayudan a que el otro tome tal decisión, así como las que la obstaculizan</a:t>
            </a:r>
          </a:p>
          <a:p>
            <a:pPr marL="342900" indent="-342900">
              <a:buFont typeface="+mj-lt"/>
              <a:buAutoNum type="alphaLcParenR"/>
            </a:pPr>
            <a:r>
              <a:rPr lang="es-ES" sz="1600" dirty="0"/>
              <a:t>Debemos tener en mente la ganancia mutua y el largo plazo.</a:t>
            </a:r>
            <a:endParaRPr lang="es-AR" dirty="0"/>
          </a:p>
        </p:txBody>
      </p:sp>
      <p:sp>
        <p:nvSpPr>
          <p:cNvPr id="16" name="15 CuadroTexto"/>
          <p:cNvSpPr txBox="1"/>
          <p:nvPr/>
        </p:nvSpPr>
        <p:spPr>
          <a:xfrm>
            <a:off x="344488" y="4214820"/>
            <a:ext cx="9361040" cy="2554545"/>
          </a:xfrm>
          <a:prstGeom prst="rect">
            <a:avLst/>
          </a:prstGeom>
          <a:noFill/>
          <a:ln>
            <a:solidFill>
              <a:srgbClr val="FF0000"/>
            </a:solidFill>
          </a:ln>
        </p:spPr>
        <p:txBody>
          <a:bodyPr wrap="square" numCol="1" rtlCol="0">
            <a:spAutoFit/>
          </a:bodyPr>
          <a:lstStyle/>
          <a:p>
            <a:pPr marL="342900" indent="-342900"/>
            <a:r>
              <a:rPr lang="es-ES" sz="1600" dirty="0"/>
              <a:t>En contraposición a la negociación inteligente tenemos </a:t>
            </a:r>
            <a:r>
              <a:rPr lang="es-ES" sz="1600" dirty="0">
                <a:solidFill>
                  <a:srgbClr val="FF0000"/>
                </a:solidFill>
              </a:rPr>
              <a:t>la “</a:t>
            </a:r>
            <a:r>
              <a:rPr lang="es-ES" sz="1600" b="1" i="1" dirty="0">
                <a:solidFill>
                  <a:srgbClr val="FF0000"/>
                </a:solidFill>
              </a:rPr>
              <a:t>negociación por posiciones</a:t>
            </a:r>
            <a:r>
              <a:rPr lang="es-ES" sz="1600" dirty="0">
                <a:solidFill>
                  <a:srgbClr val="FF0000"/>
                </a:solidFill>
              </a:rPr>
              <a:t>”. </a:t>
            </a:r>
          </a:p>
          <a:p>
            <a:pPr marL="342900" indent="-342900"/>
            <a:r>
              <a:rPr lang="es-ES" sz="1600" dirty="0"/>
              <a:t>ES muy común ver este estilo de negociación en reuniones entre empleadores y representantes sindicales</a:t>
            </a:r>
          </a:p>
          <a:p>
            <a:pPr marL="342900" indent="-342900"/>
            <a:r>
              <a:rPr lang="es-ES" sz="1600" dirty="0"/>
              <a:t>Cuando se negocia por posiciones en términos generales se podría describir el proceso de la  siguiente forma:</a:t>
            </a:r>
          </a:p>
          <a:p>
            <a:pPr marL="342900" indent="-342900">
              <a:buFont typeface="+mj-lt"/>
              <a:buAutoNum type="alphaLcParenR"/>
            </a:pPr>
            <a:r>
              <a:rPr lang="es-ES" sz="1600" dirty="0"/>
              <a:t>Los negociadores </a:t>
            </a:r>
            <a:r>
              <a:rPr lang="es-ES" sz="1600" b="1" dirty="0"/>
              <a:t>asumen una posición </a:t>
            </a:r>
            <a:r>
              <a:rPr lang="es-ES" sz="1600" dirty="0"/>
              <a:t>acerca de alguno de los asuntos en discusión</a:t>
            </a:r>
          </a:p>
          <a:p>
            <a:pPr marL="342900" indent="-342900">
              <a:buFont typeface="+mj-lt"/>
              <a:buAutoNum type="alphaLcParenR"/>
            </a:pPr>
            <a:r>
              <a:rPr lang="es-ES" sz="1600" dirty="0"/>
              <a:t> la cual </a:t>
            </a:r>
            <a:r>
              <a:rPr lang="es-ES" sz="1600" b="1" dirty="0"/>
              <a:t>defienden con  intensidad </a:t>
            </a:r>
            <a:r>
              <a:rPr lang="es-ES" sz="1600" dirty="0"/>
              <a:t>y </a:t>
            </a:r>
            <a:r>
              <a:rPr lang="es-ES" sz="1600" b="1" dirty="0"/>
              <a:t>fervor creciente</a:t>
            </a:r>
          </a:p>
          <a:p>
            <a:pPr marL="342900" indent="-342900">
              <a:buFont typeface="+mj-lt"/>
              <a:buAutoNum type="alphaLcParenR"/>
            </a:pPr>
            <a:r>
              <a:rPr lang="es-ES" sz="1600" b="1" dirty="0"/>
              <a:t>Los negociadores atacan </a:t>
            </a:r>
            <a:r>
              <a:rPr lang="es-ES" sz="1600" dirty="0"/>
              <a:t>a la contraparte, entrando así en una</a:t>
            </a:r>
          </a:p>
          <a:p>
            <a:pPr marL="342900" indent="-342900">
              <a:buFont typeface="+mj-lt"/>
              <a:buAutoNum type="alphaLcParenR"/>
            </a:pPr>
            <a:r>
              <a:rPr lang="es-ES" sz="1600" b="1" dirty="0"/>
              <a:t>Lucha de ideas y lucha personal</a:t>
            </a:r>
          </a:p>
          <a:p>
            <a:pPr marL="342900" indent="-342900">
              <a:buFont typeface="+mj-lt"/>
              <a:buAutoNum type="alphaLcParenR"/>
            </a:pPr>
            <a:r>
              <a:rPr lang="es-ES" sz="1600" dirty="0"/>
              <a:t>Lo que importa es </a:t>
            </a:r>
            <a:r>
              <a:rPr lang="es-ES" sz="1600" b="1" dirty="0"/>
              <a:t>derrotar al otro.</a:t>
            </a:r>
          </a:p>
          <a:p>
            <a:pPr marL="342900" indent="-342900"/>
            <a:r>
              <a:rPr lang="es-ES" sz="1600" dirty="0"/>
              <a:t>Por este afán , no sólo no se gana, sino que </a:t>
            </a:r>
            <a:r>
              <a:rPr lang="es-ES" sz="1600" b="1" dirty="0"/>
              <a:t>todos pierden</a:t>
            </a:r>
            <a:r>
              <a:rPr lang="es-ES" sz="1600" dirty="0"/>
              <a:t> . Se desenfocan del objetivo y se convierte en un debate.</a:t>
            </a:r>
            <a:endParaRPr lang="es-AR" sz="1600" dirty="0"/>
          </a:p>
        </p:txBody>
      </p:sp>
      <p:sp>
        <p:nvSpPr>
          <p:cNvPr id="6" name="Shape 52">
            <a:extLst>
              <a:ext uri="{FF2B5EF4-FFF2-40B4-BE49-F238E27FC236}">
                <a16:creationId xmlns:a16="http://schemas.microsoft.com/office/drawing/2014/main" id="{19B3723F-A81D-4A5E-9479-7B30C673B9FB}"/>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grpSp>
        <p:nvGrpSpPr>
          <p:cNvPr id="2" name="Grupo 1">
            <a:extLst>
              <a:ext uri="{FF2B5EF4-FFF2-40B4-BE49-F238E27FC236}">
                <a16:creationId xmlns:a16="http://schemas.microsoft.com/office/drawing/2014/main" id="{612183D1-3848-1FF3-D053-B71277B5C141}"/>
              </a:ext>
            </a:extLst>
          </p:cNvPr>
          <p:cNvGrpSpPr/>
          <p:nvPr/>
        </p:nvGrpSpPr>
        <p:grpSpPr>
          <a:xfrm>
            <a:off x="56458" y="674114"/>
            <a:ext cx="438243" cy="438243"/>
            <a:chOff x="4733878" y="3209878"/>
            <a:chExt cx="438243" cy="438243"/>
          </a:xfrm>
        </p:grpSpPr>
        <p:sp>
          <p:nvSpPr>
            <p:cNvPr id="3" name="Elipse 2">
              <a:extLst>
                <a:ext uri="{FF2B5EF4-FFF2-40B4-BE49-F238E27FC236}">
                  <a16:creationId xmlns:a16="http://schemas.microsoft.com/office/drawing/2014/main" id="{067C97BE-3642-1B57-F30B-7344B35CF400}"/>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4" name="Rectángulo 3">
              <a:extLst>
                <a:ext uri="{FF2B5EF4-FFF2-40B4-BE49-F238E27FC236}">
                  <a16:creationId xmlns:a16="http://schemas.microsoft.com/office/drawing/2014/main" id="{C13CEF75-B846-8CF0-2A43-0E2EA0679AFF}"/>
                </a:ext>
              </a:extLst>
            </p:cNvPr>
            <p:cNvSpPr/>
            <p:nvPr/>
          </p:nvSpPr>
          <p:spPr>
            <a:xfrm>
              <a:off x="4825909" y="3301909"/>
              <a:ext cx="254181" cy="254181"/>
            </a:xfrm>
            <a:prstGeom prst="rect">
              <a:avLst/>
            </a:prstGeom>
            <a: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p:spPr>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El CUENTO DE LA NARANJA. | Blog de Seminario de Integración II">
            <a:extLst>
              <a:ext uri="{FF2B5EF4-FFF2-40B4-BE49-F238E27FC236}">
                <a16:creationId xmlns:a16="http://schemas.microsoft.com/office/drawing/2014/main" id="{7DCBCF94-6089-4493-8D61-B631F503033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r="8137"/>
          <a:stretch/>
        </p:blipFill>
        <p:spPr bwMode="auto">
          <a:xfrm>
            <a:off x="4304930" y="3573016"/>
            <a:ext cx="5566003" cy="3234736"/>
          </a:xfrm>
          <a:prstGeom prst="rect">
            <a:avLst/>
          </a:prstGeom>
          <a:noFill/>
          <a:extLst>
            <a:ext uri="{909E8E84-426E-40DD-AFC4-6F175D3DCCD1}">
              <a14:hiddenFill xmlns:a14="http://schemas.microsoft.com/office/drawing/2010/main">
                <a:solidFill>
                  <a:srgbClr val="FFFFFF"/>
                </a:solidFill>
              </a14:hiddenFill>
            </a:ext>
          </a:extLst>
        </p:spPr>
      </p:pic>
      <p:sp>
        <p:nvSpPr>
          <p:cNvPr id="2" name="1 CuadroTexto"/>
          <p:cNvSpPr txBox="1"/>
          <p:nvPr/>
        </p:nvSpPr>
        <p:spPr>
          <a:xfrm>
            <a:off x="259426" y="1888795"/>
            <a:ext cx="8929750" cy="1877437"/>
          </a:xfrm>
          <a:prstGeom prst="rect">
            <a:avLst/>
          </a:prstGeom>
          <a:noFill/>
        </p:spPr>
        <p:txBody>
          <a:bodyPr wrap="square" rtlCol="0">
            <a:spAutoFit/>
          </a:bodyPr>
          <a:lstStyle/>
          <a:p>
            <a:pPr fontAlgn="base"/>
            <a:r>
              <a:rPr lang="es-AR" sz="1600" i="1" dirty="0"/>
              <a:t>El </a:t>
            </a:r>
            <a:r>
              <a:rPr lang="es-AR" sz="1600" b="1" i="1" dirty="0"/>
              <a:t>método de negociación de Harvard o </a:t>
            </a:r>
            <a:r>
              <a:rPr lang="es-AR" b="1" i="1" u="sng" dirty="0"/>
              <a:t>NEGOCIACIÓN INTEGRATIVA</a:t>
            </a:r>
            <a:r>
              <a:rPr lang="es-AR" b="1" i="1" dirty="0"/>
              <a:t> </a:t>
            </a:r>
            <a:r>
              <a:rPr lang="es-AR" sz="1600" i="1" dirty="0"/>
              <a:t>es uno de los más utilizados en las organizaciones de todo el mundo debido a su simplicidad y utilidad. </a:t>
            </a:r>
          </a:p>
          <a:p>
            <a:pPr fontAlgn="base"/>
            <a:endParaRPr lang="es-AR" sz="1600" dirty="0"/>
          </a:p>
          <a:p>
            <a:pPr fontAlgn="base"/>
            <a:r>
              <a:rPr lang="es-AR" sz="1600" dirty="0"/>
              <a:t>El método fue </a:t>
            </a:r>
            <a:r>
              <a:rPr lang="es-AR" sz="1600" b="1" dirty="0"/>
              <a:t>desarrollado a finales de los años setenta</a:t>
            </a:r>
            <a:r>
              <a:rPr lang="es-AR" sz="1600" dirty="0"/>
              <a:t> por los profesores Roger Fisher, William Ury y Bruce Patton, y su principal objetivo es </a:t>
            </a:r>
            <a:r>
              <a:rPr lang="es-AR" sz="1600" b="1" dirty="0"/>
              <a:t>alcanzar la negociación eficiente</a:t>
            </a:r>
            <a:r>
              <a:rPr lang="es-AR" sz="1600" dirty="0"/>
              <a:t> a través de un proceso que se concentra en identificar y satisfacer intereses, aunque no sean compartidos de forma inicial.</a:t>
            </a:r>
          </a:p>
          <a:p>
            <a:pPr fontAlgn="base"/>
            <a:r>
              <a:rPr lang="es-AR" i="1" dirty="0"/>
              <a:t> </a:t>
            </a:r>
            <a:endParaRPr lang="es-AR" dirty="0"/>
          </a:p>
        </p:txBody>
      </p:sp>
      <p:sp>
        <p:nvSpPr>
          <p:cNvPr id="4" name="3 CuadroTexto"/>
          <p:cNvSpPr txBox="1"/>
          <p:nvPr/>
        </p:nvSpPr>
        <p:spPr>
          <a:xfrm>
            <a:off x="848546" y="3650648"/>
            <a:ext cx="2428457" cy="707886"/>
          </a:xfrm>
          <a:prstGeom prst="rect">
            <a:avLst/>
          </a:prstGeom>
          <a:solidFill>
            <a:srgbClr val="FFC000"/>
          </a:solid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s-ES" sz="2000" b="1" dirty="0">
                <a:solidFill>
                  <a:schemeClr val="bg1"/>
                </a:solidFill>
              </a:rPr>
              <a:t>7 ELEMENTOS DE LA NEGOCIACIÓN</a:t>
            </a:r>
            <a:endParaRPr lang="es-AR" sz="2000" b="1" dirty="0">
              <a:solidFill>
                <a:schemeClr val="bg1"/>
              </a:solidFill>
            </a:endParaRPr>
          </a:p>
        </p:txBody>
      </p:sp>
      <p:sp>
        <p:nvSpPr>
          <p:cNvPr id="6" name="5 CuadroTexto"/>
          <p:cNvSpPr txBox="1"/>
          <p:nvPr/>
        </p:nvSpPr>
        <p:spPr>
          <a:xfrm>
            <a:off x="4520954" y="3732624"/>
            <a:ext cx="3703833" cy="2957733"/>
          </a:xfrm>
          <a:prstGeom prst="rect">
            <a:avLst/>
          </a:prstGeom>
          <a:noFill/>
        </p:spPr>
        <p:txBody>
          <a:bodyPr wrap="square" rtlCol="0">
            <a:spAutoFit/>
          </a:bodyPr>
          <a:lstStyle/>
          <a:p>
            <a:pPr marL="285750" indent="-285750">
              <a:lnSpc>
                <a:spcPct val="150000"/>
              </a:lnSpc>
              <a:buFont typeface="Wingdings" pitchFamily="2" charset="2"/>
              <a:buChar char="ü"/>
            </a:pPr>
            <a:r>
              <a:rPr lang="es-ES" dirty="0">
                <a:latin typeface="Arial Black" pitchFamily="34" charset="0"/>
              </a:rPr>
              <a:t>ALTERNATIVAS</a:t>
            </a:r>
          </a:p>
          <a:p>
            <a:pPr marL="285750" indent="-285750">
              <a:lnSpc>
                <a:spcPct val="150000"/>
              </a:lnSpc>
              <a:buFont typeface="Wingdings" pitchFamily="2" charset="2"/>
              <a:buChar char="ü"/>
            </a:pPr>
            <a:r>
              <a:rPr lang="es-ES" dirty="0">
                <a:latin typeface="Arial Black" pitchFamily="34" charset="0"/>
              </a:rPr>
              <a:t>INTERESES</a:t>
            </a:r>
          </a:p>
          <a:p>
            <a:pPr marL="285750" indent="-285750">
              <a:lnSpc>
                <a:spcPct val="150000"/>
              </a:lnSpc>
              <a:buFont typeface="Wingdings" pitchFamily="2" charset="2"/>
              <a:buChar char="ü"/>
            </a:pPr>
            <a:r>
              <a:rPr lang="es-ES" dirty="0">
                <a:latin typeface="Arial Black" pitchFamily="34" charset="0"/>
              </a:rPr>
              <a:t>OPCIONES</a:t>
            </a:r>
          </a:p>
          <a:p>
            <a:pPr marL="285750" indent="-285750">
              <a:lnSpc>
                <a:spcPct val="150000"/>
              </a:lnSpc>
              <a:buFont typeface="Wingdings" pitchFamily="2" charset="2"/>
              <a:buChar char="ü"/>
            </a:pPr>
            <a:r>
              <a:rPr lang="es-ES" dirty="0">
                <a:latin typeface="Arial Black" pitchFamily="34" charset="0"/>
              </a:rPr>
              <a:t>CRITERIOS</a:t>
            </a:r>
          </a:p>
          <a:p>
            <a:pPr marL="285750" indent="-285750">
              <a:lnSpc>
                <a:spcPct val="150000"/>
              </a:lnSpc>
              <a:buFont typeface="Wingdings" pitchFamily="2" charset="2"/>
              <a:buChar char="ü"/>
            </a:pPr>
            <a:r>
              <a:rPr lang="es-ES" dirty="0">
                <a:latin typeface="Arial Black" pitchFamily="34" charset="0"/>
              </a:rPr>
              <a:t>COMPROMISO</a:t>
            </a:r>
          </a:p>
          <a:p>
            <a:pPr marL="285750" indent="-285750">
              <a:lnSpc>
                <a:spcPct val="150000"/>
              </a:lnSpc>
              <a:buFont typeface="Wingdings" pitchFamily="2" charset="2"/>
              <a:buChar char="ü"/>
            </a:pPr>
            <a:r>
              <a:rPr lang="es-ES" dirty="0">
                <a:latin typeface="Arial Black" pitchFamily="34" charset="0"/>
              </a:rPr>
              <a:t>COMUNICACIÓN</a:t>
            </a:r>
          </a:p>
          <a:p>
            <a:pPr marL="285750" indent="-285750">
              <a:lnSpc>
                <a:spcPct val="150000"/>
              </a:lnSpc>
              <a:buFont typeface="Wingdings" pitchFamily="2" charset="2"/>
              <a:buChar char="ü"/>
            </a:pPr>
            <a:r>
              <a:rPr lang="es-ES" dirty="0">
                <a:latin typeface="Arial Black" pitchFamily="34" charset="0"/>
              </a:rPr>
              <a:t>RELACIÓN</a:t>
            </a:r>
            <a:endParaRPr lang="es-AR" dirty="0">
              <a:latin typeface="Arial Black" pitchFamily="34" charset="0"/>
            </a:endParaRPr>
          </a:p>
        </p:txBody>
      </p:sp>
      <p:sp>
        <p:nvSpPr>
          <p:cNvPr id="7" name="Rounded Rectangle 7">
            <a:extLst>
              <a:ext uri="{FF2B5EF4-FFF2-40B4-BE49-F238E27FC236}">
                <a16:creationId xmlns:a16="http://schemas.microsoft.com/office/drawing/2014/main" id="{1EF843C8-B62F-E44A-B297-A562D361DBA4}"/>
              </a:ext>
            </a:extLst>
          </p:cNvPr>
          <p:cNvSpPr/>
          <p:nvPr/>
        </p:nvSpPr>
        <p:spPr>
          <a:xfrm>
            <a:off x="94940" y="1357300"/>
            <a:ext cx="9258722" cy="271477"/>
          </a:xfrm>
          <a:prstGeom prst="roundRect">
            <a:avLst/>
          </a:prstGeom>
          <a:solidFill>
            <a:srgbClr val="66CC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latin typeface="+mj-lt"/>
              </a:rPr>
              <a:t>Principios de la Negociación</a:t>
            </a:r>
            <a:endParaRPr lang="es-AR" b="1" dirty="0">
              <a:solidFill>
                <a:schemeClr val="tx1"/>
              </a:solidFill>
              <a:latin typeface="+mj-lt"/>
            </a:endParaRPr>
          </a:p>
        </p:txBody>
      </p:sp>
      <p:pic>
        <p:nvPicPr>
          <p:cNvPr id="8" name="Picture 7">
            <a:extLst>
              <a:ext uri="{FF2B5EF4-FFF2-40B4-BE49-F238E27FC236}">
                <a16:creationId xmlns:a16="http://schemas.microsoft.com/office/drawing/2014/main" id="{A3C3B324-C3BB-F648-A1AE-CAA3A03CBB2F}"/>
              </a:ext>
            </a:extLst>
          </p:cNvPr>
          <p:cNvPicPr>
            <a:picLocks noChangeAspect="1"/>
          </p:cNvPicPr>
          <p:nvPr/>
        </p:nvPicPr>
        <p:blipFill>
          <a:blip r:embed="rId4"/>
          <a:stretch>
            <a:fillRect/>
          </a:stretch>
        </p:blipFill>
        <p:spPr>
          <a:xfrm>
            <a:off x="364701" y="4573979"/>
            <a:ext cx="3534276" cy="1846659"/>
          </a:xfrm>
          <a:prstGeom prst="rect">
            <a:avLst/>
          </a:prstGeom>
        </p:spPr>
      </p:pic>
      <p:sp>
        <p:nvSpPr>
          <p:cNvPr id="10" name="Shape 52">
            <a:extLst>
              <a:ext uri="{FF2B5EF4-FFF2-40B4-BE49-F238E27FC236}">
                <a16:creationId xmlns:a16="http://schemas.microsoft.com/office/drawing/2014/main" id="{971A9329-F44C-4D48-922F-E152356F0AD0}"/>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	Negociación</a:t>
            </a:r>
          </a:p>
        </p:txBody>
      </p:sp>
      <p:pic>
        <p:nvPicPr>
          <p:cNvPr id="11" name="Picture 2" descr="Crear y editar videos – Entramar – Tecnología Educativa Digital">
            <a:hlinkClick r:id="rId5"/>
            <a:extLst>
              <a:ext uri="{FF2B5EF4-FFF2-40B4-BE49-F238E27FC236}">
                <a16:creationId xmlns:a16="http://schemas.microsoft.com/office/drawing/2014/main" id="{DD541BE2-133C-42A7-9A6C-4A717CE428D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10053" y="5781635"/>
            <a:ext cx="1104718" cy="90872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404277EF-2709-2696-0BAD-09FB2A04FC26}"/>
              </a:ext>
            </a:extLst>
          </p:cNvPr>
          <p:cNvGrpSpPr/>
          <p:nvPr/>
        </p:nvGrpSpPr>
        <p:grpSpPr>
          <a:xfrm>
            <a:off x="56458" y="674114"/>
            <a:ext cx="438243" cy="438243"/>
            <a:chOff x="4733878" y="3209878"/>
            <a:chExt cx="438243" cy="438243"/>
          </a:xfrm>
        </p:grpSpPr>
        <p:sp>
          <p:nvSpPr>
            <p:cNvPr id="5" name="Elipse 4">
              <a:extLst>
                <a:ext uri="{FF2B5EF4-FFF2-40B4-BE49-F238E27FC236}">
                  <a16:creationId xmlns:a16="http://schemas.microsoft.com/office/drawing/2014/main" id="{18DC78DB-7AE5-B894-E420-4F23201A88DF}"/>
                </a:ext>
              </a:extLst>
            </p:cNvPr>
            <p:cNvSpPr/>
            <p:nvPr/>
          </p:nvSpPr>
          <p:spPr>
            <a:xfrm>
              <a:off x="4733878" y="3209878"/>
              <a:ext cx="438243" cy="438243"/>
            </a:xfrm>
            <a:prstGeom prst="ellipse">
              <a:avLst/>
            </a:prstGeom>
            <a:solidFill>
              <a:srgbClr val="A5A5A5">
                <a:hueOff val="0"/>
                <a:satOff val="0"/>
                <a:lumOff val="0"/>
                <a:alphaOff val="0"/>
              </a:srgbClr>
            </a:solidFill>
            <a:ln>
              <a:noFill/>
            </a:ln>
            <a:effectLst/>
          </p:spPr>
        </p:sp>
        <p:sp>
          <p:nvSpPr>
            <p:cNvPr id="9" name="Rectángulo 8">
              <a:extLst>
                <a:ext uri="{FF2B5EF4-FFF2-40B4-BE49-F238E27FC236}">
                  <a16:creationId xmlns:a16="http://schemas.microsoft.com/office/drawing/2014/main" id="{A91A972B-25D5-FE84-6C4A-5663F5A717F3}"/>
                </a:ext>
              </a:extLst>
            </p:cNvPr>
            <p:cNvSpPr/>
            <p:nvPr/>
          </p:nvSpPr>
          <p:spPr>
            <a:xfrm>
              <a:off x="4825909" y="3301909"/>
              <a:ext cx="254181" cy="254181"/>
            </a:xfrm>
            <a:prstGeom prst="rect">
              <a:avLst/>
            </a:prstGeom>
            <a:blipFill rotWithShape="1">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0244"/>
                                        </p:tgtEl>
                                        <p:attrNameLst>
                                          <p:attrName>style.visibility</p:attrName>
                                        </p:attrNameLst>
                                      </p:cBhvr>
                                      <p:to>
                                        <p:strVal val="visible"/>
                                      </p:to>
                                    </p:set>
                                    <p:animEffect transition="in" filter="fade">
                                      <p:cBhvr>
                                        <p:cTn id="10"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3 CuadroTexto"/>
          <p:cNvSpPr txBox="1"/>
          <p:nvPr/>
        </p:nvSpPr>
        <p:spPr>
          <a:xfrm>
            <a:off x="0" y="1285862"/>
            <a:ext cx="9906000" cy="5078313"/>
          </a:xfrm>
          <a:prstGeom prst="rect">
            <a:avLst/>
          </a:prstGeom>
          <a:noFill/>
        </p:spPr>
        <p:txBody>
          <a:bodyPr wrap="square" rtlCol="0">
            <a:spAutoFit/>
          </a:bodyPr>
          <a:lstStyle/>
          <a:p>
            <a:r>
              <a:rPr lang="es-ES" b="1" u="sng" dirty="0"/>
              <a:t>Alternativas: </a:t>
            </a:r>
            <a:r>
              <a:rPr lang="es-ES" dirty="0"/>
              <a:t>Una alternativa es una posibilidad que tiene el negociador de efectuar un acuerdo diferente al que se está planeando realizar en la mesa de negociación.</a:t>
            </a:r>
            <a:r>
              <a:rPr lang="es-AR" dirty="0"/>
              <a:t> Cuando un sindicato está negociando los salarios con la empresa, la realización de </a:t>
            </a:r>
            <a:r>
              <a:rPr lang="es-AR" b="1" dirty="0"/>
              <a:t>un paro de actividades es una alternativa al acuerdo</a:t>
            </a:r>
            <a:r>
              <a:rPr lang="es-AR" dirty="0"/>
              <a:t>.</a:t>
            </a:r>
          </a:p>
          <a:p>
            <a:r>
              <a:rPr lang="es-ES" dirty="0"/>
              <a:t>Si se tiene más alternativas se tendrá generalmente más poder de negociación.</a:t>
            </a:r>
          </a:p>
          <a:p>
            <a:endParaRPr lang="es-ES" dirty="0"/>
          </a:p>
          <a:p>
            <a:r>
              <a:rPr lang="es-ES" b="1" u="sng" dirty="0"/>
              <a:t>Intereses: </a:t>
            </a:r>
            <a:r>
              <a:rPr lang="es-ES" dirty="0"/>
              <a:t>La fase de exploración de intereses es quizás la fase más importante de una negociación.  Deberá preguntarse, por qué están los negociadores en la mesa, qué es lo que necesitan para quedar satisfechos, qué los motiva etc.</a:t>
            </a:r>
          </a:p>
          <a:p>
            <a:endParaRPr lang="es-ES" dirty="0"/>
          </a:p>
          <a:p>
            <a:r>
              <a:rPr lang="es-ES" b="1" u="sng" dirty="0"/>
              <a:t>Opciones: </a:t>
            </a:r>
            <a:r>
              <a:rPr lang="es-ES" dirty="0"/>
              <a:t>Se deberán </a:t>
            </a:r>
            <a:r>
              <a:rPr lang="es-ES" b="1" dirty="0"/>
              <a:t>generar opciones de acuerdo </a:t>
            </a:r>
            <a:r>
              <a:rPr lang="es-ES" dirty="0"/>
              <a:t>en las cuales se encuentre un </a:t>
            </a:r>
            <a:r>
              <a:rPr lang="es-ES" u="sng" dirty="0"/>
              <a:t>beneficio mutuo para las partes</a:t>
            </a:r>
            <a:r>
              <a:rPr lang="es-ES" dirty="0"/>
              <a:t>.  Es importante la participación de todas las partes en la generación de soluciones. </a:t>
            </a:r>
            <a:r>
              <a:rPr lang="es-ES" i="1" dirty="0"/>
              <a:t>“…nadie trabaja motivado en la solución de un problema cuando no tuvo ninguna participación en el diseño de tal solución</a:t>
            </a:r>
            <a:r>
              <a:rPr lang="es-ES" dirty="0"/>
              <a:t>”.</a:t>
            </a:r>
          </a:p>
          <a:p>
            <a:endParaRPr lang="es-ES" dirty="0"/>
          </a:p>
          <a:p>
            <a:r>
              <a:rPr lang="es-ES" b="1" u="sng" dirty="0"/>
              <a:t>Criterios: </a:t>
            </a:r>
            <a:r>
              <a:rPr lang="es-ES" dirty="0"/>
              <a:t>Las soluciones que se platean y los procedimientos a utilizar deben ser legítimos. Generalmente analizado por personas externas a la negociación. Ante un reclamo salarial establecer el porcentaje, la modalidad de pago etc. debe ser analizado dentro del marco de ley.</a:t>
            </a:r>
          </a:p>
        </p:txBody>
      </p:sp>
      <p:sp>
        <p:nvSpPr>
          <p:cNvPr id="6" name="Shape 52">
            <a:extLst>
              <a:ext uri="{FF2B5EF4-FFF2-40B4-BE49-F238E27FC236}">
                <a16:creationId xmlns:a16="http://schemas.microsoft.com/office/drawing/2014/main" id="{827BB23F-EE69-4C0D-8299-ED28664B900A}"/>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Negociación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3 CuadroTexto"/>
          <p:cNvSpPr txBox="1"/>
          <p:nvPr/>
        </p:nvSpPr>
        <p:spPr>
          <a:xfrm>
            <a:off x="0" y="1285862"/>
            <a:ext cx="9906000" cy="3693319"/>
          </a:xfrm>
          <a:prstGeom prst="rect">
            <a:avLst/>
          </a:prstGeom>
          <a:noFill/>
        </p:spPr>
        <p:txBody>
          <a:bodyPr wrap="square" rtlCol="0">
            <a:spAutoFit/>
          </a:bodyPr>
          <a:lstStyle/>
          <a:p>
            <a:endParaRPr lang="es-ES" b="1" u="sng" dirty="0"/>
          </a:p>
          <a:p>
            <a:r>
              <a:rPr lang="es-ES" b="1" u="sng" dirty="0"/>
              <a:t>Compromiso: </a:t>
            </a:r>
            <a:r>
              <a:rPr lang="es-ES" dirty="0"/>
              <a:t>Una vez evaluadas y aceptadas las opciones pasarán a formar parte del acuerdo, debe </a:t>
            </a:r>
            <a:r>
              <a:rPr lang="es-ES" b="1" dirty="0"/>
              <a:t>crearse un compromiso </a:t>
            </a:r>
            <a:r>
              <a:rPr lang="es-ES" dirty="0"/>
              <a:t>mutuo para su cumplimiento. Si acorde dar un aumento salarial el mes próximo no puedo no cumplir con el pago ya que rompería el acuerdo.</a:t>
            </a:r>
          </a:p>
          <a:p>
            <a:endParaRPr lang="es-ES" dirty="0"/>
          </a:p>
          <a:p>
            <a:r>
              <a:rPr lang="es-ES" b="1" u="sng" dirty="0"/>
              <a:t>Comunicación: </a:t>
            </a:r>
            <a:r>
              <a:rPr lang="es-ES" dirty="0"/>
              <a:t> Para lograr una buena NEGOCIACIÓN es necesario una buena COMUNICACIÓN. No basta con creer que nos comunicamos bien., es necesario verificar la real calidad de comunicación.</a:t>
            </a:r>
          </a:p>
          <a:p>
            <a:r>
              <a:rPr lang="es-ES" dirty="0"/>
              <a:t>Finalizado el acuerdo es importante que trasmitamos a todos los involucrados la resolución del conflicto de manera clara y sencilla. Informar a los trabajadores el aumento salarial que se otorgará, cómo y cuando lo cobrarán etc. Hará que todos cuenten con la información precisa sin distorsiones.</a:t>
            </a:r>
          </a:p>
          <a:p>
            <a:endParaRPr lang="es-ES" dirty="0"/>
          </a:p>
          <a:p>
            <a:r>
              <a:rPr lang="es-ES" b="1" u="sng" dirty="0"/>
              <a:t>Relación: </a:t>
            </a:r>
            <a:r>
              <a:rPr lang="es-ES" dirty="0"/>
              <a:t>Está en constante riesgo durante toda la negociación. El negociador debe tener esto claro y mantener una buena relación con las partes negociadoras. Manteniendo una relación a largo plazo.</a:t>
            </a:r>
          </a:p>
        </p:txBody>
      </p:sp>
      <p:sp>
        <p:nvSpPr>
          <p:cNvPr id="6" name="Shape 52">
            <a:extLst>
              <a:ext uri="{FF2B5EF4-FFF2-40B4-BE49-F238E27FC236}">
                <a16:creationId xmlns:a16="http://schemas.microsoft.com/office/drawing/2014/main" id="{CA657399-7E81-45A6-A8D1-6B25D2F9AE2B}"/>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Negociación</a:t>
            </a:r>
          </a:p>
        </p:txBody>
      </p:sp>
    </p:spTree>
    <p:extLst>
      <p:ext uri="{BB962C8B-B14F-4D97-AF65-F5344CB8AC3E}">
        <p14:creationId xmlns:p14="http://schemas.microsoft.com/office/powerpoint/2010/main" val="23812503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A6879500-9336-4D1C-8BDF-98EA537A4D9D}"/>
              </a:ext>
            </a:extLst>
          </p:cNvPr>
          <p:cNvPicPr>
            <a:picLocks noChangeAspect="1" noChangeArrowheads="1"/>
          </p:cNvPicPr>
          <p:nvPr/>
        </p:nvPicPr>
        <p:blipFill rotWithShape="1">
          <a:blip r:embed="rId2">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20940" t="19414" r="21522" b="3298"/>
          <a:stretch/>
        </p:blipFill>
        <p:spPr bwMode="auto">
          <a:xfrm>
            <a:off x="3728866" y="2348880"/>
            <a:ext cx="6322375" cy="4464496"/>
          </a:xfrm>
          <a:prstGeom prst="rect">
            <a:avLst/>
          </a:prstGeom>
          <a:ln>
            <a:noFill/>
          </a:ln>
          <a:effectLst>
            <a:softEdge rad="112500"/>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hape 52">
            <a:extLst>
              <a:ext uri="{FF2B5EF4-FFF2-40B4-BE49-F238E27FC236}">
                <a16:creationId xmlns:a16="http://schemas.microsoft.com/office/drawing/2014/main" id="{47F2C580-B675-43ED-ACD5-2B0C894932F9}"/>
              </a:ext>
            </a:extLst>
          </p:cNvPr>
          <p:cNvSpPr txBox="1"/>
          <p:nvPr/>
        </p:nvSpPr>
        <p:spPr>
          <a:xfrm>
            <a:off x="56456" y="188640"/>
            <a:ext cx="6609806" cy="836632"/>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400" b="1" dirty="0">
                <a:solidFill>
                  <a:srgbClr val="E7E6E6">
                    <a:lumMod val="25000"/>
                  </a:srgbClr>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RELACIONES LABORALES</a:t>
            </a:r>
          </a:p>
          <a:p>
            <a:pPr marL="714375" indent="-714375">
              <a:lnSpc>
                <a:spcPct val="90000"/>
              </a:lnSpc>
              <a:buSzPct val="25000"/>
            </a:pPr>
            <a:r>
              <a:rPr lang="es-AR" sz="2400" dirty="0">
                <a:solidFill>
                  <a:srgbClr val="0070C0"/>
                </a:solidFill>
                <a:latin typeface="Tahoma" panose="020B0604030504040204" pitchFamily="34" charset="0"/>
                <a:ea typeface="Tahoma" panose="020B0604030504040204" pitchFamily="34" charset="0"/>
                <a:cs typeface="Tahoma" panose="020B0604030504040204" pitchFamily="34" charset="0"/>
                <a:sym typeface="Arial Narrow" panose="020B0606020202030204"/>
              </a:rPr>
              <a:t>Cierre &amp; Resumen</a:t>
            </a:r>
          </a:p>
        </p:txBody>
      </p:sp>
      <p:pic>
        <p:nvPicPr>
          <p:cNvPr id="11" name="Imagen 10">
            <a:extLst>
              <a:ext uri="{FF2B5EF4-FFF2-40B4-BE49-F238E27FC236}">
                <a16:creationId xmlns:a16="http://schemas.microsoft.com/office/drawing/2014/main" id="{78578B53-5485-4E58-96D9-271831C896A6}"/>
              </a:ext>
            </a:extLst>
          </p:cNvPr>
          <p:cNvPicPr>
            <a:picLocks noChangeAspect="1"/>
          </p:cNvPicPr>
          <p:nvPr/>
        </p:nvPicPr>
        <p:blipFill>
          <a:blip r:embed="rId3"/>
          <a:stretch>
            <a:fillRect/>
          </a:stretch>
        </p:blipFill>
        <p:spPr>
          <a:xfrm>
            <a:off x="-15551" y="1268762"/>
            <a:ext cx="4335981" cy="3833047"/>
          </a:xfrm>
          <a:prstGeom prst="rect">
            <a:avLst/>
          </a:prstGeom>
        </p:spPr>
      </p:pic>
    </p:spTree>
    <p:extLst>
      <p:ext uri="{BB962C8B-B14F-4D97-AF65-F5344CB8AC3E}">
        <p14:creationId xmlns:p14="http://schemas.microsoft.com/office/powerpoint/2010/main" val="359315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https://encrypted-tbn2.gstatic.com/images?q=tbn:ANd9GcRcyGsKQFbNE159vcUw6iMcDisELRoVKzvai6d3iJrA-_BtH5dgBw"/>
          <p:cNvSpPr>
            <a:spLocks noChangeAspect="1" noChangeArrowheads="1"/>
          </p:cNvSpPr>
          <p:nvPr/>
        </p:nvSpPr>
        <p:spPr bwMode="auto">
          <a:xfrm>
            <a:off x="524608" y="130422"/>
            <a:ext cx="281354" cy="281355"/>
          </a:xfrm>
          <a:prstGeom prst="rect">
            <a:avLst/>
          </a:prstGeom>
          <a:noFill/>
        </p:spPr>
        <p:txBody>
          <a:bodyPr vert="horz" wrap="square" lIns="84406" tIns="42203" rIns="84406" bIns="42203" numCol="1" anchor="t" anchorCtr="0" compatLnSpc="1"/>
          <a:lstStyle/>
          <a:p>
            <a:endParaRPr lang="es-AR" sz="1660"/>
          </a:p>
        </p:txBody>
      </p:sp>
      <p:pic>
        <p:nvPicPr>
          <p:cNvPr id="9" name="Picture 6" descr="Image result for utn frba"/>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2929" y="1268760"/>
            <a:ext cx="11052297"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33762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80968" y="1500174"/>
            <a:ext cx="9072626" cy="285752"/>
          </a:xfrm>
          <a:prstGeom prst="roundRect">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58775"/>
            <a:r>
              <a:rPr lang="es-AR" sz="1400" dirty="0">
                <a:solidFill>
                  <a:schemeClr val="bg2"/>
                </a:solidFill>
              </a:rPr>
              <a:t>CASO 1</a:t>
            </a:r>
          </a:p>
        </p:txBody>
      </p:sp>
      <p:sp>
        <p:nvSpPr>
          <p:cNvPr id="3" name="Oval 2"/>
          <p:cNvSpPr/>
          <p:nvPr/>
        </p:nvSpPr>
        <p:spPr>
          <a:xfrm>
            <a:off x="238092" y="1464594"/>
            <a:ext cx="428628" cy="357190"/>
          </a:xfrm>
          <a:prstGeom prst="ellipse">
            <a:avLst/>
          </a:prstGeom>
          <a:solidFill>
            <a:schemeClr val="accent5">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es-AR"/>
          </a:p>
        </p:txBody>
      </p:sp>
      <p:sp>
        <p:nvSpPr>
          <p:cNvPr id="5" name="TextBox 4"/>
          <p:cNvSpPr txBox="1"/>
          <p:nvPr/>
        </p:nvSpPr>
        <p:spPr>
          <a:xfrm>
            <a:off x="1" y="2000240"/>
            <a:ext cx="9667909" cy="400110"/>
          </a:xfrm>
          <a:prstGeom prst="rect">
            <a:avLst/>
          </a:prstGeom>
          <a:noFill/>
        </p:spPr>
        <p:txBody>
          <a:bodyPr wrap="square" rtlCol="0">
            <a:spAutoFit/>
          </a:bodyPr>
          <a:lstStyle/>
          <a:p>
            <a:pPr algn="ctr"/>
            <a:r>
              <a:rPr lang="es-AR" sz="2000" b="1" dirty="0">
                <a:solidFill>
                  <a:srgbClr val="FF0000"/>
                </a:solidFill>
              </a:rPr>
              <a:t>CAMBIO DE GREMIO por RE ENCUADRAMIENTO</a:t>
            </a:r>
          </a:p>
        </p:txBody>
      </p:sp>
      <p:sp>
        <p:nvSpPr>
          <p:cNvPr id="7" name="TextBox 6"/>
          <p:cNvSpPr txBox="1"/>
          <p:nvPr/>
        </p:nvSpPr>
        <p:spPr>
          <a:xfrm>
            <a:off x="0" y="2500306"/>
            <a:ext cx="9906000" cy="4093428"/>
          </a:xfrm>
          <a:prstGeom prst="rect">
            <a:avLst/>
          </a:prstGeom>
          <a:noFill/>
        </p:spPr>
        <p:txBody>
          <a:bodyPr wrap="square" rtlCol="0">
            <a:spAutoFit/>
          </a:bodyPr>
          <a:lstStyle/>
          <a:p>
            <a:r>
              <a:rPr lang="es-AR" sz="2000" b="1" u="sng" dirty="0"/>
              <a:t>Contexto</a:t>
            </a:r>
            <a:r>
              <a:rPr lang="es-AR" sz="2000" dirty="0"/>
              <a:t>:</a:t>
            </a:r>
          </a:p>
          <a:p>
            <a:r>
              <a:rPr lang="es-AR" sz="2000" dirty="0"/>
              <a:t>La compañía se dedica a comercializar productos mayoristas para pastelería (chocolates, harinas, preparados, </a:t>
            </a:r>
            <a:r>
              <a:rPr lang="es-AR" sz="2000" dirty="0" err="1"/>
              <a:t>etc</a:t>
            </a:r>
            <a:r>
              <a:rPr lang="es-AR" sz="2000" dirty="0"/>
              <a:t>). Por la definición de negocio, la actividad se encuadra dentro del rubro de alimentación, por lo tanto, sus empleados pertenecen a ese sindicato. El sindicato tiene un 65% de afiliados y hay varios delegados.</a:t>
            </a:r>
          </a:p>
          <a:p>
            <a:endParaRPr lang="es-AR" sz="2000" dirty="0"/>
          </a:p>
          <a:p>
            <a:r>
              <a:rPr lang="es-AR" sz="2000" b="1" u="sng" dirty="0"/>
              <a:t>Situación</a:t>
            </a:r>
            <a:r>
              <a:rPr lang="es-AR" sz="2000" dirty="0"/>
              <a:t>:</a:t>
            </a:r>
          </a:p>
          <a:p>
            <a:r>
              <a:rPr lang="es-AR" sz="2000" dirty="0"/>
              <a:t>El gerente de logística, que tiene 10 personas no jerárquicas en su equipo, fue abordado al ingreso a la compañía  por un representante del sindicato de camioneros para notificarle que ese grupo pertenece al sindicato al sindicato que el representa y que si la empresa no los encuadra bajo su convenio inmediatamente, bloquearan la planta desde el día siguiente. Al día siguiente, a las 12 del medio día, dos camiones y una parrilla con un asado bloqueaban la puerta de acceso de los camiones a la planta.</a:t>
            </a:r>
          </a:p>
        </p:txBody>
      </p:sp>
      <p:sp>
        <p:nvSpPr>
          <p:cNvPr id="6" name="Shape 52"/>
          <p:cNvSpPr txBox="1"/>
          <p:nvPr/>
        </p:nvSpPr>
        <p:spPr>
          <a:xfrm>
            <a:off x="485504" y="-23"/>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0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Relaciones Laborales</a:t>
            </a:r>
          </a:p>
          <a:p>
            <a:pPr marL="714375" indent="-714375">
              <a:lnSpc>
                <a:spcPct val="90000"/>
              </a:lnSpc>
              <a:buSzPct val="25000"/>
            </a:pPr>
            <a:r>
              <a:rPr lang="es-AR" sz="24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Caso de Análisis</a:t>
            </a:r>
          </a:p>
        </p:txBody>
      </p:sp>
    </p:spTree>
    <p:extLst>
      <p:ext uri="{BB962C8B-B14F-4D97-AF65-F5344CB8AC3E}">
        <p14:creationId xmlns:p14="http://schemas.microsoft.com/office/powerpoint/2010/main" val="1605395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80968" y="1500174"/>
            <a:ext cx="9072626" cy="285752"/>
          </a:xfrm>
          <a:prstGeom prst="roundRect">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58775"/>
            <a:r>
              <a:rPr lang="es-AR" sz="1400" dirty="0">
                <a:solidFill>
                  <a:schemeClr val="bg2"/>
                </a:solidFill>
              </a:rPr>
              <a:t>CASO  2</a:t>
            </a:r>
          </a:p>
        </p:txBody>
      </p:sp>
      <p:sp>
        <p:nvSpPr>
          <p:cNvPr id="3" name="Oval 2"/>
          <p:cNvSpPr/>
          <p:nvPr/>
        </p:nvSpPr>
        <p:spPr>
          <a:xfrm>
            <a:off x="238092" y="1464594"/>
            <a:ext cx="428628" cy="357190"/>
          </a:xfrm>
          <a:prstGeom prst="ellipse">
            <a:avLst/>
          </a:prstGeom>
          <a:solidFill>
            <a:schemeClr val="accent5">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es-AR"/>
          </a:p>
        </p:txBody>
      </p:sp>
      <p:sp>
        <p:nvSpPr>
          <p:cNvPr id="6" name="TextBox 5"/>
          <p:cNvSpPr txBox="1"/>
          <p:nvPr/>
        </p:nvSpPr>
        <p:spPr>
          <a:xfrm>
            <a:off x="1" y="1928802"/>
            <a:ext cx="9906001" cy="369332"/>
          </a:xfrm>
          <a:prstGeom prst="rect">
            <a:avLst/>
          </a:prstGeom>
          <a:noFill/>
        </p:spPr>
        <p:txBody>
          <a:bodyPr wrap="square" rtlCol="0">
            <a:spAutoFit/>
          </a:bodyPr>
          <a:lstStyle/>
          <a:p>
            <a:pPr algn="ctr"/>
            <a:r>
              <a:rPr lang="es-AR" b="1" dirty="0">
                <a:solidFill>
                  <a:srgbClr val="FF0000"/>
                </a:solidFill>
              </a:rPr>
              <a:t>NUEVO ADICIONAL o HUELGA</a:t>
            </a:r>
          </a:p>
        </p:txBody>
      </p:sp>
      <p:sp>
        <p:nvSpPr>
          <p:cNvPr id="7" name="TextBox 6"/>
          <p:cNvSpPr txBox="1"/>
          <p:nvPr/>
        </p:nvSpPr>
        <p:spPr>
          <a:xfrm>
            <a:off x="0" y="2254647"/>
            <a:ext cx="9906000" cy="4801314"/>
          </a:xfrm>
          <a:prstGeom prst="rect">
            <a:avLst/>
          </a:prstGeom>
          <a:noFill/>
        </p:spPr>
        <p:txBody>
          <a:bodyPr wrap="square" rtlCol="0">
            <a:spAutoFit/>
          </a:bodyPr>
          <a:lstStyle/>
          <a:p>
            <a:r>
              <a:rPr lang="es-AR" b="1" u="sng" dirty="0"/>
              <a:t>Contexto</a:t>
            </a:r>
            <a:r>
              <a:rPr lang="es-AR" dirty="0"/>
              <a:t>:</a:t>
            </a:r>
          </a:p>
          <a:p>
            <a:r>
              <a:rPr lang="es-AR" dirty="0"/>
              <a:t>La compañía se dedica a transportar fluidos líquidos de diverso tipo. Básicamente es un intermediario que aporta valor gestionando la logística del transporte entre productores de líquidos y sus clientes, lo que en el fondo termina siendo un negocio de volumen. Mientras mas viajes realicen los camiones, mas ingresos tendrá. Cada camión deja en promedio, una margen bruto de aproximadamente  AR$150.000</a:t>
            </a:r>
          </a:p>
          <a:p>
            <a:r>
              <a:rPr lang="es-AR" dirty="0"/>
              <a:t>El cliente ALPHA, que trabaja con la empresa desde hace 15 años y que representa el 20% del volumen total transportado hizo una modificación en su planta que requiere que el conductor del camión conecte una manguera de 8” al camión, hecho que antes no sucedía ya que el proceso lo realizaba un operador del cliente.</a:t>
            </a:r>
          </a:p>
          <a:p>
            <a:r>
              <a:rPr lang="es-AR" b="1" u="sng" dirty="0"/>
              <a:t>Situación</a:t>
            </a:r>
            <a:r>
              <a:rPr lang="es-AR" dirty="0"/>
              <a:t>:</a:t>
            </a:r>
          </a:p>
          <a:p>
            <a:r>
              <a:rPr lang="es-AR" dirty="0"/>
              <a:t>El gerente de operaciones es abordado la semana pasada por el delegado de la empresa y el secretario del gremio de la seccional de la zona, diciendo que ha habido un  incremento de trabajo para los compañeros que trabajan para ALPHA y que exigen un pago adicional de AR$15000 mensuales por dicha tarea. Como no ha habido respuesta, pasados los 5 días, los empleados decidieron no cumplir la nueva tarea, hecho que ha ocasionado un malestar con el cliente.  En la primera reunión del socio Director de la compañía junto al gerente de operaciones y la delegación gremial, no hubo acuerdo y es inminente una huelga.   </a:t>
            </a:r>
          </a:p>
        </p:txBody>
      </p:sp>
      <p:sp>
        <p:nvSpPr>
          <p:cNvPr id="8" name="Shape 52"/>
          <p:cNvSpPr txBox="1"/>
          <p:nvPr/>
        </p:nvSpPr>
        <p:spPr>
          <a:xfrm>
            <a:off x="485504" y="-23"/>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0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Relaciones Laborales</a:t>
            </a:r>
          </a:p>
          <a:p>
            <a:pPr marL="714375" indent="-714375">
              <a:lnSpc>
                <a:spcPct val="90000"/>
              </a:lnSpc>
              <a:buSzPct val="25000"/>
            </a:pPr>
            <a:r>
              <a:rPr lang="es-AR" sz="24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Caso de Análisis</a:t>
            </a:r>
          </a:p>
        </p:txBody>
      </p:sp>
    </p:spTree>
    <p:extLst>
      <p:ext uri="{BB962C8B-B14F-4D97-AF65-F5344CB8AC3E}">
        <p14:creationId xmlns:p14="http://schemas.microsoft.com/office/powerpoint/2010/main" val="31291874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80968" y="1500174"/>
            <a:ext cx="9072626" cy="285752"/>
          </a:xfrm>
          <a:prstGeom prst="roundRect">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58775"/>
            <a:r>
              <a:rPr lang="es-AR" sz="1400" dirty="0">
                <a:solidFill>
                  <a:schemeClr val="bg2"/>
                </a:solidFill>
              </a:rPr>
              <a:t>CASO 3</a:t>
            </a:r>
          </a:p>
        </p:txBody>
      </p:sp>
      <p:sp>
        <p:nvSpPr>
          <p:cNvPr id="3" name="Oval 2"/>
          <p:cNvSpPr/>
          <p:nvPr/>
        </p:nvSpPr>
        <p:spPr>
          <a:xfrm>
            <a:off x="238092" y="1464594"/>
            <a:ext cx="428628" cy="357190"/>
          </a:xfrm>
          <a:prstGeom prst="ellipse">
            <a:avLst/>
          </a:prstGeom>
          <a:solidFill>
            <a:schemeClr val="accent5">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es-AR"/>
          </a:p>
        </p:txBody>
      </p:sp>
      <p:sp>
        <p:nvSpPr>
          <p:cNvPr id="5" name="TextBox 4"/>
          <p:cNvSpPr txBox="1"/>
          <p:nvPr/>
        </p:nvSpPr>
        <p:spPr>
          <a:xfrm>
            <a:off x="238094" y="1835532"/>
            <a:ext cx="9667909" cy="369332"/>
          </a:xfrm>
          <a:prstGeom prst="rect">
            <a:avLst/>
          </a:prstGeom>
          <a:noFill/>
        </p:spPr>
        <p:txBody>
          <a:bodyPr wrap="square" rtlCol="0">
            <a:spAutoFit/>
          </a:bodyPr>
          <a:lstStyle/>
          <a:p>
            <a:pPr algn="ctr"/>
            <a:r>
              <a:rPr lang="es-AR" b="1" dirty="0">
                <a:solidFill>
                  <a:srgbClr val="FF0000"/>
                </a:solidFill>
              </a:rPr>
              <a:t>CIERRE LINEA DE PRODUCCION / APERTURA OTRA NUEVA</a:t>
            </a:r>
          </a:p>
        </p:txBody>
      </p:sp>
      <p:sp>
        <p:nvSpPr>
          <p:cNvPr id="7" name="TextBox 6"/>
          <p:cNvSpPr txBox="1"/>
          <p:nvPr/>
        </p:nvSpPr>
        <p:spPr>
          <a:xfrm>
            <a:off x="0" y="1960381"/>
            <a:ext cx="9906000" cy="4708981"/>
          </a:xfrm>
          <a:prstGeom prst="rect">
            <a:avLst/>
          </a:prstGeom>
          <a:noFill/>
        </p:spPr>
        <p:txBody>
          <a:bodyPr wrap="square" rtlCol="0">
            <a:spAutoFit/>
          </a:bodyPr>
          <a:lstStyle/>
          <a:p>
            <a:r>
              <a:rPr lang="es-AR" sz="2000" b="1" u="sng" dirty="0"/>
              <a:t>Contexto</a:t>
            </a:r>
            <a:r>
              <a:rPr lang="es-AR" sz="2000" dirty="0"/>
              <a:t>:</a:t>
            </a:r>
          </a:p>
          <a:p>
            <a:r>
              <a:rPr lang="es-AR" sz="2000" dirty="0"/>
              <a:t>La compañía se dedica a producir productos metalmecánicos. Tiene 10 líneas de producción y cada una genera en promedio un margen bruto de $50.000. El CFO y el Director de operaciones presentan al directorio una propuesta de eliminar una línea de producción viaja y reemplazarla por otra nueva que generaría el doble de margen. La inversión para montar la misma es de AR$ 2.000.000. Sin embargo, la parte mas complicada para el director de operaciones es que los operarios que hoy trabajan en ella (3 en total) no podrían hacerlo en la nueva ya que requiere conocimientos de PLC+CNC y estas personas no tienen capacidades para aprenderlo. </a:t>
            </a:r>
          </a:p>
          <a:p>
            <a:endParaRPr lang="es-AR" sz="2000" dirty="0"/>
          </a:p>
          <a:p>
            <a:r>
              <a:rPr lang="es-AR" sz="2000" b="1" u="sng" dirty="0"/>
              <a:t>Perfiles de los operarios: </a:t>
            </a:r>
          </a:p>
          <a:p>
            <a:pPr>
              <a:buFont typeface="Arial" pitchFamily="34" charset="0"/>
              <a:buChar char="•"/>
            </a:pPr>
            <a:r>
              <a:rPr lang="es-AR" sz="2000" dirty="0"/>
              <a:t> Nivel de estudios: secundario incompleto</a:t>
            </a:r>
          </a:p>
          <a:p>
            <a:pPr>
              <a:buFont typeface="Arial" pitchFamily="34" charset="0"/>
              <a:buChar char="•"/>
            </a:pPr>
            <a:r>
              <a:rPr lang="es-AR" sz="2000" dirty="0"/>
              <a:t> edad: 59, 60, 57.</a:t>
            </a:r>
          </a:p>
          <a:p>
            <a:pPr>
              <a:buFont typeface="Arial" pitchFamily="34" charset="0"/>
              <a:buChar char="•"/>
            </a:pPr>
            <a:r>
              <a:rPr lang="es-AR" sz="2000" dirty="0"/>
              <a:t>Antigüedad en la empresa: 20, 18, 11 años</a:t>
            </a:r>
          </a:p>
          <a:p>
            <a:pPr>
              <a:buFont typeface="Arial" pitchFamily="34" charset="0"/>
              <a:buChar char="•"/>
            </a:pPr>
            <a:r>
              <a:rPr lang="es-AR" sz="2000" dirty="0"/>
              <a:t> Salario de convenio:  </a:t>
            </a:r>
          </a:p>
        </p:txBody>
      </p:sp>
      <p:sp>
        <p:nvSpPr>
          <p:cNvPr id="6" name="Shape 52"/>
          <p:cNvSpPr txBox="1"/>
          <p:nvPr/>
        </p:nvSpPr>
        <p:spPr>
          <a:xfrm>
            <a:off x="485504" y="-23"/>
            <a:ext cx="6609806" cy="1097303"/>
          </a:xfrm>
          <a:prstGeom prst="rect">
            <a:avLst/>
          </a:prstGeom>
          <a:noFill/>
          <a:ln>
            <a:noFill/>
          </a:ln>
        </p:spPr>
        <p:txBody>
          <a:bodyPr lIns="72000" tIns="252000" rIns="72000" bIns="36000" anchor="ctr" anchorCtr="0">
            <a:noAutofit/>
          </a:bodyPr>
          <a:lstStyle/>
          <a:p>
            <a:pPr marL="714375" indent="-714375">
              <a:lnSpc>
                <a:spcPct val="90000"/>
              </a:lnSpc>
              <a:buSzPct val="25000"/>
            </a:pPr>
            <a:r>
              <a:rPr lang="es-AR" sz="20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Relaciones Laborales</a:t>
            </a:r>
          </a:p>
          <a:p>
            <a:pPr marL="714375" indent="-714375">
              <a:lnSpc>
                <a:spcPct val="90000"/>
              </a:lnSpc>
              <a:buSzPct val="25000"/>
            </a:pPr>
            <a:r>
              <a:rPr lang="es-AR" sz="2400" dirty="0">
                <a:solidFill>
                  <a:srgbClr val="E7E6E6">
                    <a:lumMod val="25000"/>
                  </a:srgbClr>
                </a:solidFill>
                <a:latin typeface="Arial" panose="020B0604020202020204" pitchFamily="34" charset="0"/>
                <a:ea typeface="Arial Narrow" panose="020B0606020202030204"/>
                <a:cs typeface="Arial" panose="020B0604020202020204" pitchFamily="34" charset="0"/>
                <a:sym typeface="Arial Narrow" panose="020B0606020202030204"/>
              </a:rPr>
              <a:t>Caso de Análisis</a:t>
            </a:r>
          </a:p>
        </p:txBody>
      </p:sp>
    </p:spTree>
    <p:extLst>
      <p:ext uri="{BB962C8B-B14F-4D97-AF65-F5344CB8AC3E}">
        <p14:creationId xmlns:p14="http://schemas.microsoft.com/office/powerpoint/2010/main" val="1053877579"/>
      </p:ext>
    </p:extLst>
  </p:cSld>
  <p:clrMapOvr>
    <a:masterClrMapping/>
  </p:clrMapOvr>
</p:sld>
</file>

<file path=ppt/theme/theme1.xml><?xml version="1.0" encoding="utf-8"?>
<a:theme xmlns:a="http://schemas.openxmlformats.org/drawingml/2006/main" name="Tema de Office">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pgemini">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pgemini">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13015</TotalTime>
  <Words>6700</Words>
  <Application>Microsoft Office PowerPoint</Application>
  <PresentationFormat>A4 (210 x 297 mm)</PresentationFormat>
  <Paragraphs>613</Paragraphs>
  <Slides>53</Slides>
  <Notes>25</Notes>
  <HiddenSlides>4</HiddenSlides>
  <MMClips>0</MMClips>
  <ScaleCrop>false</ScaleCrop>
  <HeadingPairs>
    <vt:vector size="6" baseType="variant">
      <vt:variant>
        <vt:lpstr>Fuentes usadas</vt:lpstr>
      </vt:variant>
      <vt:variant>
        <vt:i4>20</vt:i4>
      </vt:variant>
      <vt:variant>
        <vt:lpstr>Tema</vt:lpstr>
      </vt:variant>
      <vt:variant>
        <vt:i4>3</vt:i4>
      </vt:variant>
      <vt:variant>
        <vt:lpstr>Títulos de diapositiva</vt:lpstr>
      </vt:variant>
      <vt:variant>
        <vt:i4>53</vt:i4>
      </vt:variant>
    </vt:vector>
  </HeadingPairs>
  <TitlesOfParts>
    <vt:vector size="76" baseType="lpstr">
      <vt:lpstr>Arial</vt:lpstr>
      <vt:lpstr>Arial </vt:lpstr>
      <vt:lpstr>Arial Black</vt:lpstr>
      <vt:lpstr>Arial Narrow</vt:lpstr>
      <vt:lpstr>Bodoni MT</vt:lpstr>
      <vt:lpstr>Bookman Old Style</vt:lpstr>
      <vt:lpstr>Calibri</vt:lpstr>
      <vt:lpstr>Calibri Light</vt:lpstr>
      <vt:lpstr>Century Gothic</vt:lpstr>
      <vt:lpstr>Comic Sans MS</vt:lpstr>
      <vt:lpstr>Courier New</vt:lpstr>
      <vt:lpstr>Gill Sans Nova</vt:lpstr>
      <vt:lpstr>Libre Franklin</vt:lpstr>
      <vt:lpstr>MentiText</vt:lpstr>
      <vt:lpstr>Noto Sans Symbols</vt:lpstr>
      <vt:lpstr>Tahoma</vt:lpstr>
      <vt:lpstr>Times New Roman</vt:lpstr>
      <vt:lpstr>Verdana</vt:lpstr>
      <vt:lpstr>Wingdings</vt:lpstr>
      <vt:lpstr>Wingdings 3</vt:lpstr>
      <vt:lpstr>Tema de Office</vt:lpstr>
      <vt:lpstr>1_Tema de Office</vt:lpstr>
      <vt:lpstr>Template_2010_Presentaciones_Internal</vt:lpstr>
      <vt:lpstr>Presentación de PowerPoint</vt:lpstr>
      <vt:lpstr>Presentación de PowerPoint</vt:lpstr>
      <vt:lpstr>Presentación de PowerPoint</vt:lpstr>
      <vt:lpstr>Agenda</vt:lpstr>
      <vt:lpstr>Presentación de PowerPoint</vt:lpstr>
      <vt:lpstr>Presentación de PowerPoint</vt:lpstr>
      <vt:lpstr>Presentación de PowerPoint</vt:lpstr>
      <vt:lpstr>Presentación de PowerPoint</vt:lpstr>
      <vt:lpstr>¿Qué nos sugiere la palabra SINDICATO?</vt:lpstr>
      <vt:lpstr>¿Qué pensamos de HUELGA?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Representantes Gremiales</vt:lpstr>
      <vt:lpstr>Presentación de PowerPoint</vt:lpstr>
      <vt:lpstr>Presentación de PowerPoint</vt:lpstr>
      <vt:lpstr>Presentación de PowerPoint</vt:lpstr>
      <vt:lpstr>Presentación de PowerPoint</vt:lpstr>
      <vt:lpstr>Mapa gremial argentino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Negociación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Chiara Vieyra, Juan Cruz</dc:creator>
  <cp:lastModifiedBy>Chiara Vieyra, Juan Cruz</cp:lastModifiedBy>
  <cp:revision>75</cp:revision>
  <dcterms:created xsi:type="dcterms:W3CDTF">2021-09-10T16:49:14Z</dcterms:created>
  <dcterms:modified xsi:type="dcterms:W3CDTF">2024-09-04T17:39:09Z</dcterms:modified>
</cp:coreProperties>
</file>